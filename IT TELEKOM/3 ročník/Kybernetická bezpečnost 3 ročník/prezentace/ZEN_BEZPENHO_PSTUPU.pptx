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2" r:id="rId7"/>
    <p:sldId id="258" r:id="rId8"/>
    <p:sldId id="266" r:id="rId9"/>
    <p:sldId id="265" r:id="rId10"/>
    <p:sldId id="259" r:id="rId11"/>
    <p:sldId id="260" r:id="rId12"/>
    <p:sldId id="261" r:id="rId13"/>
    <p:sldId id="264" r:id="rId14"/>
    <p:sldId id="263" r:id="rId15"/>
    <p:sldId id="267" r:id="rId1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EF2B27-5C3D-4B08-94EB-FB8B0A8D6002}" v="1" dt="2024-04-03T18:01:07.1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AB16DC-D641-1858-4A3A-81EA125827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52E990B-145A-2471-6FA0-83AD9FCADE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4DF302C-8667-8C93-CE2E-EECF97F1E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72B4F-7B96-4859-80CC-1247999A8E9D}" type="datetimeFigureOut">
              <a:rPr lang="cs-CZ" smtClean="0"/>
              <a:t>04.04.2024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076260F-88BD-84CF-589F-76A87BAFF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27B7AF7-4B7A-FC49-D86D-9B116566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B7575-EC70-4219-A320-379B2183AE7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86266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F9C70B7-8D72-2E76-758F-3518AD8D7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0057AF3-D4FD-437E-8211-932B0107B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7D8E0F0-8961-EF10-DD76-A03D8E8F2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72B4F-7B96-4859-80CC-1247999A8E9D}" type="datetimeFigureOut">
              <a:rPr lang="cs-CZ" smtClean="0"/>
              <a:t>04.04.2024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34D4DCF-D4A0-9DEB-1EC5-E02636DA8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A4FA2D2-1C2C-7A13-A482-1C739EE9B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B7575-EC70-4219-A320-379B2183AE7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67753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AC6BE3D-F7B6-A924-16C4-F11FB4ABD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4B351D1-6F0E-BC5E-34A9-52EF9D2D7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B0A2641-4DB2-0D5F-19BD-2A771D529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72B4F-7B96-4859-80CC-1247999A8E9D}" type="datetimeFigureOut">
              <a:rPr lang="cs-CZ" smtClean="0"/>
              <a:t>04.04.2024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3B3796D-4D26-13CF-EC43-BD50225D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75BF34A-7047-4EE5-04F2-E0080BAB2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B7575-EC70-4219-A320-379B2183AE7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48471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DC1AD6A-5B43-3F07-837E-7645E86E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97D7837-C5DD-DC46-50E7-EB5F6AFF64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3735317-3418-D203-AB15-5D643D8CE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AFF2B8C-A122-367E-9659-DFA5F3FFF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72B4F-7B96-4859-80CC-1247999A8E9D}" type="datetimeFigureOut">
              <a:rPr lang="cs-CZ" smtClean="0"/>
              <a:t>04.04.2024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A4E6584-2388-6FF5-FA6C-C0B15C808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F05B138-EEBB-2D5B-C4FF-7710BCE7D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B7575-EC70-4219-A320-379B2183AE7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39597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0CDF7ED-733A-6281-073A-A9B51258E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7E4098E-8008-04F8-2082-7A67CA25E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8193129C-B551-C5A5-0D36-FD2983954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6BC5B8D0-9C16-C1D7-FDDB-BA44F10FF4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86735746-9AF1-96DE-6825-274F16AB9B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9F18318E-F2E6-9925-8B5A-42F45F02A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72B4F-7B96-4859-80CC-1247999A8E9D}" type="datetimeFigureOut">
              <a:rPr lang="cs-CZ" smtClean="0"/>
              <a:t>04.04.2024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3503985D-F27D-5149-96AF-FE161D622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D4182DEF-04D2-DE15-21FD-A16596615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B7575-EC70-4219-A320-379B2183AE7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1905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8C491B0-CC92-A672-B07F-0CBCC5DC5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26DA9B3F-D62B-5A74-F0A6-CDE0CD0E2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72B4F-7B96-4859-80CC-1247999A8E9D}" type="datetimeFigureOut">
              <a:rPr lang="cs-CZ" smtClean="0"/>
              <a:t>04.04.2024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56A3CE1-3F4F-79C0-189A-635EF8DA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FAF16314-CCD9-28CE-042A-6343C22D5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B7575-EC70-4219-A320-379B2183AE7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26841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25727F2A-6203-6B65-EAE1-EAD25BC83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72B4F-7B96-4859-80CC-1247999A8E9D}" type="datetimeFigureOut">
              <a:rPr lang="cs-CZ" smtClean="0"/>
              <a:t>04.04.2024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206C7DF6-1B1F-9DD7-DB0A-92A078F80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CD75BBE-5054-06B9-C592-B4D801D48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B7575-EC70-4219-A320-379B2183AE7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1931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E29B3C6-A860-6FD2-25A1-8C9A8A364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18EED6A-B654-47B6-755A-D5F19F524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5EB77D4-BDF7-041B-A852-8E9A6A62FC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7A4B7C2-4C01-9712-B865-3D23CABDA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72B4F-7B96-4859-80CC-1247999A8E9D}" type="datetimeFigureOut">
              <a:rPr lang="cs-CZ" smtClean="0"/>
              <a:t>04.04.2024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B4D026B-E02A-45F8-9B92-948D53298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2AA5080-7094-5914-A3AE-76EA558A7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B7575-EC70-4219-A320-379B2183AE7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1050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42B3249-717F-2656-2006-967BF31FE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61A08231-6180-BBD9-6C76-66015638D4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1492B51-3F74-252B-0B1D-DDC0325B4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040AD5A-04D4-0648-3BBF-2C3680646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72B4F-7B96-4859-80CC-1247999A8E9D}" type="datetimeFigureOut">
              <a:rPr lang="cs-CZ" smtClean="0"/>
              <a:t>04.04.2024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A5F6F9D-1D58-C734-3B6F-C171D5878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A95F096-EBD5-6D97-9FCB-5753A5AE6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B7575-EC70-4219-A320-379B2183AE7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2980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2A43D38-04A1-28A3-DBB6-F64D6DB08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9AB304B3-B50C-1AED-AD89-6D7EE6E60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B853179-9FC9-47DD-5805-28325B187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72B4F-7B96-4859-80CC-1247999A8E9D}" type="datetimeFigureOut">
              <a:rPr lang="cs-CZ" smtClean="0"/>
              <a:t>04.04.2024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4CCA2C2-9BAC-40CA-C381-E19A1EEC7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8EF4E85-36FA-2BB1-750C-72FCEB883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B7575-EC70-4219-A320-379B2183AE7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61675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3CFDE064-082C-FB88-7171-B820830912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9ACB7A87-1741-67C2-F3BD-CFF361692A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4B79E47-C1BD-FCC0-FA8B-1224CC9EC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72B4F-7B96-4859-80CC-1247999A8E9D}" type="datetimeFigureOut">
              <a:rPr lang="cs-CZ" smtClean="0"/>
              <a:t>04.04.2024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4A1E53E-A87D-6CE6-6576-BFD8F7419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994B4E2-9F65-8389-198D-224686FAD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B7575-EC70-4219-A320-379B2183AE7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4642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A31A7C43-54ED-BAC5-98D5-3E5FF7A0D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3FA57B3-811E-4A2B-05E4-C48D6714C4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19F48C8-17C2-0D92-189F-FB5EAE0CA2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72B4F-7B96-4859-80CC-1247999A8E9D}" type="datetimeFigureOut">
              <a:rPr lang="cs-CZ" smtClean="0"/>
              <a:t>04.04.2024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32B8F33-13AB-3311-FDA5-3B5E1DE848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30A6744-AECF-1C6A-5234-E2A6120FAD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FB7575-EC70-4219-A320-379B2183AE7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49642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" name="Rectangle 1035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Vaporwave Nostalgia | Devpost">
            <a:extLst>
              <a:ext uri="{FF2B5EF4-FFF2-40B4-BE49-F238E27FC236}">
                <a16:creationId xmlns:a16="http://schemas.microsoft.com/office/drawing/2014/main" id="{078A8B7C-A8B3-E6BA-F6C3-674D52C09C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3047" y="10"/>
            <a:ext cx="1219199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9" name="Rectangle 1037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88D735A-B04D-37C4-0116-EE5A1344BF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cs-CZ" sz="5200" b="1" i="0" cap="all">
                <a:solidFill>
                  <a:srgbClr val="FFFFFF"/>
                </a:solidFill>
                <a:effectLst/>
                <a:latin typeface="Titillium Web" panose="020F0502020204030204" pitchFamily="2" charset="-18"/>
              </a:rPr>
              <a:t>ŘÍZENÍ BEZPEČNÉHO PŘÍSTUPU</a:t>
            </a:r>
            <a:br>
              <a:rPr lang="cs-CZ" sz="5200" b="1" i="0" cap="all">
                <a:solidFill>
                  <a:srgbClr val="FFFFFF"/>
                </a:solidFill>
                <a:effectLst/>
                <a:latin typeface="Titillium Web" panose="020F0502020204030204" pitchFamily="2" charset="-18"/>
              </a:rPr>
            </a:br>
            <a:endParaRPr lang="cs-CZ" sz="5200">
              <a:solidFill>
                <a:srgbClr val="FFFFFF"/>
              </a:solidFill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AD4BA1A-CD08-E54A-9B8B-C5244C354D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cs-CZ" b="0" i="0">
                <a:solidFill>
                  <a:srgbClr val="FFFFFF"/>
                </a:solidFill>
                <a:effectLst/>
                <a:latin typeface="Titillium Web" panose="00000500000000000000" pitchFamily="2" charset="-18"/>
              </a:rPr>
              <a:t>Ochrana proti neoprávněným přístupům infrastruktury.</a:t>
            </a:r>
            <a:endParaRPr lang="cs-CZ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1288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A1ED06-4733-4020-9C60-81D4D8014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CA3509-3AF9-45FE-93ED-57BB5D5E8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Nejlepší postupy zabezpečení infrastruktury: Nejlepší kontrolní seznam pro  bezpečnou síť">
            <a:extLst>
              <a:ext uri="{FF2B5EF4-FFF2-40B4-BE49-F238E27FC236}">
                <a16:creationId xmlns:a16="http://schemas.microsoft.com/office/drawing/2014/main" id="{360A8AB0-216B-0227-2BF9-6515853B1C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77"/>
          <a:stretch/>
        </p:blipFill>
        <p:spPr bwMode="auto">
          <a:xfrm>
            <a:off x="-151699" y="0"/>
            <a:ext cx="1247526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36DEDC54-553C-898F-CD81-F8F2ABF0E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5195"/>
            <a:ext cx="10165218" cy="2806506"/>
          </a:xfrm>
        </p:spPr>
        <p:txBody>
          <a:bodyPr anchor="b">
            <a:normAutofit/>
          </a:bodyPr>
          <a:lstStyle/>
          <a:p>
            <a:r>
              <a:rPr lang="cs-CZ" sz="4000" b="1" i="0">
                <a:solidFill>
                  <a:srgbClr val="FFFFFF"/>
                </a:solidFill>
                <a:effectLst/>
                <a:latin typeface="Söhne"/>
              </a:rPr>
              <a:t>Definice řízení přístupu</a:t>
            </a:r>
            <a:endParaRPr lang="cs-CZ" sz="4000" dirty="0">
              <a:solidFill>
                <a:srgbClr val="FFFFFF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821DA00-DBA1-005F-7C5B-CB2142D93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26300"/>
            <a:ext cx="10165218" cy="258845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sz="2000" b="0" i="0">
                <a:solidFill>
                  <a:srgbClr val="FFFFFF"/>
                </a:solidFill>
                <a:effectLst/>
                <a:latin typeface="Söhne"/>
              </a:rPr>
              <a:t>Definice: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2000" b="0" i="0">
                <a:solidFill>
                  <a:srgbClr val="FFFFFF"/>
                </a:solidFill>
                <a:effectLst/>
                <a:latin typeface="Söhne"/>
              </a:rPr>
              <a:t>Řízení přístupu je proces, který umožňuje nebo omezuje práva uživatelů k prostředkům v síti.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0" i="0">
                <a:solidFill>
                  <a:srgbClr val="FFFFFF"/>
                </a:solidFill>
                <a:effectLst/>
                <a:latin typeface="Söhne"/>
              </a:rPr>
              <a:t>Klíčové pojmy: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2000" b="0" i="0">
                <a:solidFill>
                  <a:srgbClr val="FFFFFF"/>
                </a:solidFill>
                <a:effectLst/>
                <a:latin typeface="Söhne"/>
              </a:rPr>
              <a:t>Identita, oprávnění, autentizace.</a:t>
            </a:r>
          </a:p>
          <a:p>
            <a:endParaRPr lang="cs-CZ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7542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Rectangle 7174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BF065A4-69A5-31B3-814B-02F931242E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E17C7AF2-9584-7D05-4E31-99AD5A939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 b="1" i="0">
                <a:solidFill>
                  <a:srgbClr val="FFFFFF"/>
                </a:solidFill>
                <a:effectLst/>
                <a:latin typeface="Söhne"/>
              </a:rPr>
              <a:t>Metody řízení přístupu</a:t>
            </a:r>
            <a:endParaRPr lang="cs-CZ">
              <a:solidFill>
                <a:srgbClr val="FFFFFF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C923B9D-8361-563F-61DB-A97F4B0C0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b="0" i="0">
                <a:solidFill>
                  <a:srgbClr val="FFFFFF"/>
                </a:solidFill>
                <a:effectLst/>
                <a:latin typeface="Söhne"/>
              </a:rPr>
              <a:t>Firewally: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b="0" i="0">
                <a:solidFill>
                  <a:srgbClr val="FFFFFF"/>
                </a:solidFill>
                <a:effectLst/>
                <a:latin typeface="Söhne"/>
              </a:rPr>
              <a:t>Filtruje a monitoruje provoz mezi síťmi.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b="0" i="0">
                <a:solidFill>
                  <a:srgbClr val="FFFFFF"/>
                </a:solidFill>
                <a:effectLst/>
                <a:latin typeface="Söhne"/>
              </a:rPr>
              <a:t>VPN (Virtual Private Network):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b="0" i="0">
                <a:solidFill>
                  <a:srgbClr val="FFFFFF"/>
                </a:solidFill>
                <a:effectLst/>
                <a:latin typeface="Söhne"/>
              </a:rPr>
              <a:t>Zabezpečuje šifrovanou komunikaci a vzdálený přístup.</a:t>
            </a:r>
          </a:p>
          <a:p>
            <a:endParaRPr lang="cs-CZ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6659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6" name="Rectangle 308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FD477A9-4EBE-2333-021C-D76B94A32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cs-CZ" sz="5400" b="1" i="0">
                <a:effectLst/>
                <a:latin typeface="Söhne"/>
              </a:rPr>
              <a:t>Důvody pro řízení přístupu</a:t>
            </a:r>
            <a:endParaRPr lang="cs-CZ" sz="5400"/>
          </a:p>
        </p:txBody>
      </p:sp>
      <p:sp>
        <p:nvSpPr>
          <p:cNvPr id="308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D5330D5-904B-C245-4A84-7894E9AE4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sz="1900" b="0" i="0" dirty="0">
                <a:effectLst/>
                <a:latin typeface="Söhne"/>
              </a:rPr>
              <a:t>Bezpečnost: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1900" b="0" i="0" dirty="0">
                <a:effectLst/>
                <a:latin typeface="Söhne"/>
              </a:rPr>
              <a:t>Ochrana před neoprávněným přístupem.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1900" b="0" i="0" dirty="0">
                <a:effectLst/>
                <a:latin typeface="Söhne"/>
              </a:rPr>
              <a:t>Ochrana dat: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1900" b="0" i="0" dirty="0">
                <a:effectLst/>
                <a:latin typeface="Söhne"/>
              </a:rPr>
              <a:t>Zabraňuje neoprávněnému sdílení nebo úniku citlivých informací.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1900" b="0" i="0" dirty="0">
                <a:effectLst/>
                <a:latin typeface="Söhne"/>
              </a:rPr>
              <a:t>Správa sítě: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1900" b="0" i="0" dirty="0">
                <a:effectLst/>
                <a:latin typeface="Söhne"/>
              </a:rPr>
              <a:t>Zajišťuje efektivní správu a optimalizaci síťových prostředků.</a:t>
            </a:r>
          </a:p>
          <a:p>
            <a:endParaRPr lang="cs-CZ" sz="1900" dirty="0"/>
          </a:p>
        </p:txBody>
      </p:sp>
      <p:pic>
        <p:nvPicPr>
          <p:cNvPr id="3076" name="Picture 4" descr="What is frutiger aero, the aesthetic taking over from Y2K? | Dazed">
            <a:extLst>
              <a:ext uri="{FF2B5EF4-FFF2-40B4-BE49-F238E27FC236}">
                <a16:creationId xmlns:a16="http://schemas.microsoft.com/office/drawing/2014/main" id="{A0492155-E857-9CD5-D210-92DCBD61D2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73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9602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7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E8AA4B17-FC64-8129-EE66-424ACC1035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59"/>
          <a:stretch/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B3C90423-C59E-E314-B0D6-D9F5031C1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941832"/>
            <a:ext cx="10506456" cy="2057400"/>
          </a:xfrm>
        </p:spPr>
        <p:txBody>
          <a:bodyPr anchor="b">
            <a:normAutofit/>
          </a:bodyPr>
          <a:lstStyle/>
          <a:p>
            <a:r>
              <a:rPr lang="cs-CZ" sz="5000" b="1" i="0">
                <a:solidFill>
                  <a:schemeClr val="bg1"/>
                </a:solidFill>
                <a:effectLst/>
                <a:latin typeface="Söhne"/>
              </a:rPr>
              <a:t>Výhody řízení přístupu</a:t>
            </a:r>
            <a:endParaRPr lang="cs-CZ" sz="5000">
              <a:solidFill>
                <a:schemeClr val="bg1"/>
              </a:solidFill>
            </a:endParaRPr>
          </a:p>
        </p:txBody>
      </p:sp>
      <p:sp>
        <p:nvSpPr>
          <p:cNvPr id="10249" name="Rectangle 1024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251" name="Rectangle 1025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077DFDC-5C48-47CA-C070-2483F5F56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502152"/>
            <a:ext cx="10506456" cy="267004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sz="2000" b="0" i="0">
                <a:solidFill>
                  <a:schemeClr val="bg1"/>
                </a:solidFill>
                <a:effectLst/>
                <a:latin typeface="Söhne"/>
              </a:rPr>
              <a:t>Bezpečnostní výhody: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2000" b="0" i="0">
                <a:solidFill>
                  <a:schemeClr val="bg1"/>
                </a:solidFill>
                <a:effectLst/>
                <a:latin typeface="Söhne"/>
              </a:rPr>
              <a:t>Ochrana před hrozbami.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0" i="0">
                <a:solidFill>
                  <a:schemeClr val="bg1"/>
                </a:solidFill>
                <a:effectLst/>
                <a:latin typeface="Söhne"/>
              </a:rPr>
              <a:t>Operační výhody: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2000" b="0" i="0">
                <a:solidFill>
                  <a:schemeClr val="bg1"/>
                </a:solidFill>
                <a:effectLst/>
                <a:latin typeface="Söhne"/>
              </a:rPr>
              <a:t>Efektivní správa sítě a zdrojů.</a:t>
            </a:r>
          </a:p>
          <a:p>
            <a:endParaRPr lang="cs-CZ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9646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1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38D2139A-938C-78FB-7E54-B27242AC69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1" y="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02534292-CABD-2982-8A52-774BB46A8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941832"/>
            <a:ext cx="10506456" cy="2057400"/>
          </a:xfrm>
        </p:spPr>
        <p:txBody>
          <a:bodyPr anchor="b">
            <a:normAutofit/>
          </a:bodyPr>
          <a:lstStyle/>
          <a:p>
            <a:r>
              <a:rPr lang="cs-CZ" sz="5000" b="1" i="0" dirty="0">
                <a:solidFill>
                  <a:schemeClr val="bg1"/>
                </a:solidFill>
                <a:effectLst/>
                <a:latin typeface="Söhne"/>
              </a:rPr>
              <a:t>Nástroje pro řízení přístupu</a:t>
            </a:r>
            <a:endParaRPr lang="cs-CZ" sz="5000" dirty="0">
              <a:solidFill>
                <a:schemeClr val="bg1"/>
              </a:solidFill>
            </a:endParaRPr>
          </a:p>
        </p:txBody>
      </p:sp>
      <p:sp>
        <p:nvSpPr>
          <p:cNvPr id="11273" name="Rectangle 1127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275" name="Rectangle 1127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1223922-397A-1F7D-ADDD-BFE7EBF83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502152"/>
            <a:ext cx="10506456" cy="267004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sz="2000" b="0" i="0" dirty="0" err="1">
                <a:solidFill>
                  <a:schemeClr val="bg1"/>
                </a:solidFill>
                <a:effectLst/>
                <a:latin typeface="Söhne"/>
              </a:rPr>
              <a:t>Endpoint</a:t>
            </a:r>
            <a:r>
              <a:rPr lang="cs-CZ" sz="2000" b="0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cs-CZ" sz="2000" b="0" i="0" dirty="0" err="1">
                <a:solidFill>
                  <a:schemeClr val="bg1"/>
                </a:solidFill>
                <a:effectLst/>
                <a:latin typeface="Söhne"/>
              </a:rPr>
              <a:t>Security</a:t>
            </a:r>
            <a:r>
              <a:rPr lang="cs-CZ" sz="2000" b="0" i="0" dirty="0">
                <a:solidFill>
                  <a:schemeClr val="bg1"/>
                </a:solidFill>
                <a:effectLst/>
                <a:latin typeface="Söhne"/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2000" b="0" i="0" dirty="0">
                <a:solidFill>
                  <a:schemeClr val="bg1"/>
                </a:solidFill>
                <a:effectLst/>
                <a:latin typeface="Söhne"/>
              </a:rPr>
              <a:t>Ochrana zařízení připojených k síti.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0" i="0" dirty="0">
                <a:solidFill>
                  <a:schemeClr val="bg1"/>
                </a:solidFill>
                <a:effectLst/>
                <a:latin typeface="Söhne"/>
              </a:rPr>
              <a:t>SIEM (</a:t>
            </a:r>
            <a:r>
              <a:rPr lang="cs-CZ" sz="2000" b="0" i="0" dirty="0" err="1">
                <a:solidFill>
                  <a:schemeClr val="bg1"/>
                </a:solidFill>
                <a:effectLst/>
                <a:latin typeface="Söhne"/>
              </a:rPr>
              <a:t>Security</a:t>
            </a:r>
            <a:r>
              <a:rPr lang="cs-CZ" sz="2000" b="0" i="0" dirty="0">
                <a:solidFill>
                  <a:schemeClr val="bg1"/>
                </a:solidFill>
                <a:effectLst/>
                <a:latin typeface="Söhne"/>
              </a:rPr>
              <a:t> </a:t>
            </a:r>
            <a:r>
              <a:rPr lang="cs-CZ" sz="2000" b="0" i="0" dirty="0" err="1">
                <a:solidFill>
                  <a:schemeClr val="bg1"/>
                </a:solidFill>
                <a:effectLst/>
                <a:latin typeface="Söhne"/>
              </a:rPr>
              <a:t>Information</a:t>
            </a:r>
            <a:r>
              <a:rPr lang="cs-CZ" sz="2000" b="0" i="0" dirty="0">
                <a:solidFill>
                  <a:schemeClr val="bg1"/>
                </a:solidFill>
                <a:effectLst/>
                <a:latin typeface="Söhne"/>
              </a:rPr>
              <a:t> and Event Management):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2000" b="0" i="0" dirty="0">
                <a:solidFill>
                  <a:schemeClr val="bg1"/>
                </a:solidFill>
                <a:effectLst/>
                <a:latin typeface="Söhne"/>
              </a:rPr>
              <a:t>Sledování a reakce na bezpečnostní incidenty.</a:t>
            </a:r>
          </a:p>
          <a:p>
            <a:endParaRPr lang="cs-CZ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04640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0" name="Rectangle 4109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serial experiments lain computer | Workbench, Electronics lab, Electronic  workbench">
            <a:extLst>
              <a:ext uri="{FF2B5EF4-FFF2-40B4-BE49-F238E27FC236}">
                <a16:creationId xmlns:a16="http://schemas.microsoft.com/office/drawing/2014/main" id="{E36FA59D-B520-9EEA-5C9F-784990356B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91" r="13808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2" name="Rectangle 4111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254F0AB-61AF-41EE-EA2D-73F521A7C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cs-CZ" sz="2800" b="1" i="0">
                <a:solidFill>
                  <a:schemeClr val="bg1"/>
                </a:solidFill>
                <a:effectLst/>
                <a:latin typeface="Söhne"/>
              </a:rPr>
              <a:t>Význam autentizace</a:t>
            </a:r>
            <a:endParaRPr lang="cs-CZ" sz="2800">
              <a:solidFill>
                <a:schemeClr val="bg1"/>
              </a:solidFill>
            </a:endParaRPr>
          </a:p>
        </p:txBody>
      </p:sp>
      <p:sp>
        <p:nvSpPr>
          <p:cNvPr id="4114" name="Rectangle 4113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116" name="Rectangle 4115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1803D20-2317-8ED3-44E3-8C2045FB7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sz="1700" b="0" i="0">
                <a:solidFill>
                  <a:schemeClr val="bg1"/>
                </a:solidFill>
                <a:effectLst/>
                <a:latin typeface="Söhne"/>
              </a:rPr>
              <a:t>Definice autentizace: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1700" b="0" i="0">
                <a:solidFill>
                  <a:schemeClr val="bg1"/>
                </a:solidFill>
                <a:effectLst/>
                <a:latin typeface="Söhne"/>
              </a:rPr>
              <a:t>Proces ověřování identity uživatele.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1700" b="0" i="0">
                <a:solidFill>
                  <a:schemeClr val="bg1"/>
                </a:solidFill>
                <a:effectLst/>
                <a:latin typeface="Söhne"/>
              </a:rPr>
              <a:t>Metody autentizace: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1700" b="0" i="0">
                <a:solidFill>
                  <a:schemeClr val="bg1"/>
                </a:solidFill>
                <a:effectLst/>
                <a:latin typeface="Söhne"/>
              </a:rPr>
              <a:t>Hesla, biometrie, dvoufaktorová autentizace.</a:t>
            </a:r>
          </a:p>
        </p:txBody>
      </p:sp>
    </p:spTree>
    <p:extLst>
      <p:ext uri="{BB962C8B-B14F-4D97-AF65-F5344CB8AC3E}">
        <p14:creationId xmlns:p14="http://schemas.microsoft.com/office/powerpoint/2010/main" val="540180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0" name="Rectangle 512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454A9AE-D39E-1797-A6A1-CF53F3EDE3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80" r="1" b="7848"/>
          <a:stretch/>
        </p:blipFill>
        <p:spPr bwMode="auto">
          <a:xfrm>
            <a:off x="1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9" name="Rectangle 512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7142B03-B5A4-AE95-6C50-2A169E800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cs-CZ" sz="4000" b="1" i="0">
                <a:effectLst/>
                <a:latin typeface="Söhne"/>
              </a:rPr>
              <a:t>Význam oprávnění</a:t>
            </a:r>
            <a:endParaRPr lang="cs-CZ" sz="400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67650AF-7B3A-0729-8924-30ABBCA34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sz="2000" b="0" i="0">
                <a:effectLst/>
                <a:latin typeface="Söhne"/>
              </a:rPr>
              <a:t>Definice oprávnění: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2000" b="0" i="0">
                <a:effectLst/>
                <a:latin typeface="Söhne"/>
              </a:rPr>
              <a:t>Stanovení práv a privilegií pro jednotlivé uživatele nebo skupiny.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0" i="0">
                <a:effectLst/>
                <a:latin typeface="Söhne"/>
              </a:rPr>
              <a:t>Politiky oprávnění: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2000" b="0" i="0">
                <a:effectLst/>
                <a:latin typeface="Söhne"/>
              </a:rPr>
              <a:t>Centralizovaná správa práv.</a:t>
            </a:r>
          </a:p>
        </p:txBody>
      </p:sp>
    </p:spTree>
    <p:extLst>
      <p:ext uri="{BB962C8B-B14F-4D97-AF65-F5344CB8AC3E}">
        <p14:creationId xmlns:p14="http://schemas.microsoft.com/office/powerpoint/2010/main" val="3719975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4" name="Rectangle 615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9A5AA5A-BE84-A349-7502-AB1846444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cs-CZ" sz="5400" b="1" i="0">
                <a:effectLst/>
                <a:latin typeface="Söhne"/>
              </a:rPr>
              <a:t>Význam auditování</a:t>
            </a:r>
            <a:endParaRPr lang="cs-CZ" sz="5400"/>
          </a:p>
        </p:txBody>
      </p:sp>
      <p:sp>
        <p:nvSpPr>
          <p:cNvPr id="615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4E33184-53E3-AC40-DEF2-6FF1C5DC5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sz="2200" b="0" i="0">
                <a:effectLst/>
                <a:latin typeface="Söhne"/>
              </a:rPr>
              <a:t>Definice auditování: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2200" b="0" i="0">
                <a:effectLst/>
                <a:latin typeface="Söhne"/>
              </a:rPr>
              <a:t>Sledování a záznam aktivit uživatelů pro analýzu bezpečnostních incidentů.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200" b="0" i="0">
                <a:effectLst/>
                <a:latin typeface="Söhne"/>
              </a:rPr>
              <a:t>Výhody auditování: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2200" b="0" i="0">
                <a:effectLst/>
                <a:latin typeface="Söhne"/>
              </a:rPr>
              <a:t>Identifikace neoprávněných aktivit.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73C5DF6-A80A-DA1F-68D1-591D1B3698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01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5664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7" name="Rectangle 9222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26A7B15-29CE-CD18-B0EA-D4BFBBDB1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cs-CZ" sz="5400" b="1" i="0">
                <a:effectLst/>
                <a:latin typeface="Söhne"/>
              </a:rPr>
              <a:t>Implementace řízení přístupu</a:t>
            </a:r>
            <a:endParaRPr lang="cs-CZ" sz="5400"/>
          </a:p>
        </p:txBody>
      </p:sp>
      <p:sp>
        <p:nvSpPr>
          <p:cNvPr id="922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399C07A-8E95-82DB-A3C3-243AF5C4D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sz="2200" b="0" i="0">
                <a:effectLst/>
                <a:latin typeface="Söhne"/>
              </a:rPr>
              <a:t>Nastavení firewally: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2200" b="0" i="0">
                <a:effectLst/>
                <a:latin typeface="Söhne"/>
              </a:rPr>
              <a:t>Filtrace provozu a ochrana sítě.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200" b="0" i="0">
                <a:effectLst/>
                <a:latin typeface="Söhne"/>
              </a:rPr>
              <a:t>Implementace VPN: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2200" b="0" i="0">
                <a:effectLst/>
                <a:latin typeface="Söhne"/>
              </a:rPr>
              <a:t>Zabezpečený přístup k síti z venku.</a:t>
            </a:r>
          </a:p>
          <a:p>
            <a:endParaRPr lang="cs-CZ" sz="220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03DDA744-BDC3-9B78-ADE0-61021DAA8B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39" r="6641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9467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4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C40BF7E4-E0C7-09F5-800D-A83845E023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6DF6C11-37DA-4CEB-24FF-36FFAB4A9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941832"/>
            <a:ext cx="10506456" cy="2057400"/>
          </a:xfrm>
        </p:spPr>
        <p:txBody>
          <a:bodyPr anchor="b">
            <a:normAutofit/>
          </a:bodyPr>
          <a:lstStyle/>
          <a:p>
            <a:r>
              <a:rPr lang="cs-CZ" sz="5000" b="1" i="0">
                <a:solidFill>
                  <a:schemeClr val="bg1"/>
                </a:solidFill>
                <a:effectLst/>
                <a:latin typeface="Söhne"/>
              </a:rPr>
              <a:t>Technologie IAM</a:t>
            </a:r>
            <a:endParaRPr lang="cs-CZ" sz="5000">
              <a:solidFill>
                <a:schemeClr val="bg1"/>
              </a:solidFill>
            </a:endParaRPr>
          </a:p>
        </p:txBody>
      </p:sp>
      <p:sp>
        <p:nvSpPr>
          <p:cNvPr id="8205" name="Rectangle 820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203" name="Rectangle 820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A31D1CA-D803-3D80-3F2E-F813179C0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502152"/>
            <a:ext cx="10506456" cy="267004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sz="2000" b="0" i="0">
                <a:solidFill>
                  <a:schemeClr val="bg1"/>
                </a:solidFill>
                <a:effectLst/>
                <a:latin typeface="Söhne"/>
              </a:rPr>
              <a:t>IAM (Identity and Access Management):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2000" b="0" i="0">
                <a:solidFill>
                  <a:schemeClr val="bg1"/>
                </a:solidFill>
                <a:effectLst/>
                <a:latin typeface="Söhne"/>
              </a:rPr>
              <a:t>Centralizovaná správa identit a oprávnění.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0" i="0">
                <a:solidFill>
                  <a:schemeClr val="bg1"/>
                </a:solidFill>
                <a:effectLst/>
                <a:latin typeface="Söhne"/>
              </a:rPr>
              <a:t>SSO (Single Sign-On):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cs-CZ" sz="2000" b="0" i="0">
                <a:solidFill>
                  <a:schemeClr val="bg1"/>
                </a:solidFill>
                <a:effectLst/>
                <a:latin typeface="Söhne"/>
              </a:rPr>
              <a:t>Jedno přihlášení pro přístup k různým systémům.</a:t>
            </a:r>
          </a:p>
          <a:p>
            <a:endParaRPr lang="cs-CZ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7923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1" name="Rectangle 12294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C4BFB7A3-FACC-56F6-6995-1BD97B34B2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587F9EF9-3AC4-B30C-562C-260D4153E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rgbClr val="FFFFFF"/>
                </a:solidFill>
              </a:rPr>
              <a:t>Zdroje: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B1ACC59-A42D-54F4-C694-0CF2B7A47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cs-CZ" dirty="0" err="1">
                <a:solidFill>
                  <a:srgbClr val="FFFFFF"/>
                </a:solidFill>
              </a:rPr>
              <a:t>ChatGPT</a:t>
            </a:r>
            <a:endParaRPr lang="cs-CZ" dirty="0">
              <a:solidFill>
                <a:srgbClr val="FFFFFF"/>
              </a:solidFill>
            </a:endParaRPr>
          </a:p>
          <a:p>
            <a:r>
              <a:rPr lang="cs-CZ" dirty="0">
                <a:solidFill>
                  <a:srgbClr val="FFFFFF"/>
                </a:solidFill>
              </a:rPr>
              <a:t>Wikipedie</a:t>
            </a:r>
          </a:p>
          <a:p>
            <a:r>
              <a:rPr lang="cs-CZ" dirty="0" err="1">
                <a:solidFill>
                  <a:srgbClr val="FFFFFF"/>
                </a:solidFill>
              </a:rPr>
              <a:t>DeepL</a:t>
            </a:r>
            <a:endParaRPr lang="cs-CZ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3468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D70CFF3BF4F0843966F1CDFEDDF6A6B" ma:contentTypeVersion="16" ma:contentTypeDescription="Vytvoří nový dokument" ma:contentTypeScope="" ma:versionID="2e0acf34e7483d6e32af2b6ced077e57">
  <xsd:schema xmlns:xsd="http://www.w3.org/2001/XMLSchema" xmlns:xs="http://www.w3.org/2001/XMLSchema" xmlns:p="http://schemas.microsoft.com/office/2006/metadata/properties" xmlns:ns3="f9e534a9-5d4a-41a0-bbd3-257a481bfa53" xmlns:ns4="b37e3d86-4ca2-427b-bd6b-563863381f62" targetNamespace="http://schemas.microsoft.com/office/2006/metadata/properties" ma:root="true" ma:fieldsID="074c93f81fe351b9425754d582f4a9d9" ns3:_="" ns4:_="">
    <xsd:import namespace="f9e534a9-5d4a-41a0-bbd3-257a481bfa53"/>
    <xsd:import namespace="b37e3d86-4ca2-427b-bd6b-563863381f6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SearchProperties" minOccurs="0"/>
                <xsd:element ref="ns3:MediaLengthInSeconds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e534a9-5d4a-41a0-bbd3-257a481bfa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7e3d86-4ca2-427b-bd6b-563863381f6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9e534a9-5d4a-41a0-bbd3-257a481bfa53" xsi:nil="true"/>
  </documentManagement>
</p:properties>
</file>

<file path=customXml/itemProps1.xml><?xml version="1.0" encoding="utf-8"?>
<ds:datastoreItem xmlns:ds="http://schemas.openxmlformats.org/officeDocument/2006/customXml" ds:itemID="{32AC6AEE-8788-44C6-8DD2-50754C41A2B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e534a9-5d4a-41a0-bbd3-257a481bfa53"/>
    <ds:schemaRef ds:uri="b37e3d86-4ca2-427b-bd6b-563863381f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583DD41-B017-4E73-BADA-3B08B8443E8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28BAFF-AE5E-4520-9DED-07FC2E3711BA}">
  <ds:schemaRefs>
    <ds:schemaRef ds:uri="http://schemas.microsoft.com/office/2006/metadata/properties"/>
    <ds:schemaRef ds:uri="http://purl.org/dc/dcmitype/"/>
    <ds:schemaRef ds:uri="http://purl.org/dc/terms/"/>
    <ds:schemaRef ds:uri="f9e534a9-5d4a-41a0-bbd3-257a481bfa53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b37e3d86-4ca2-427b-bd6b-563863381f6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264</Words>
  <Application>Microsoft Office PowerPoint</Application>
  <PresentationFormat>Širokoúhlá obrazovka</PresentationFormat>
  <Paragraphs>58</Paragraphs>
  <Slides>12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Söhne</vt:lpstr>
      <vt:lpstr>Titillium Web</vt:lpstr>
      <vt:lpstr>Motiv Office</vt:lpstr>
      <vt:lpstr>ŘÍZENÍ BEZPEČNÉHO PŘÍSTUPU </vt:lpstr>
      <vt:lpstr>Definice řízení přístupu</vt:lpstr>
      <vt:lpstr>Metody řízení přístupu</vt:lpstr>
      <vt:lpstr>Důvody pro řízení přístupu</vt:lpstr>
      <vt:lpstr>Výhody řízení přístupu</vt:lpstr>
      <vt:lpstr>Nástroje pro řízení přístupu</vt:lpstr>
      <vt:lpstr>Význam autentizace</vt:lpstr>
      <vt:lpstr>Význam oprávnění</vt:lpstr>
      <vt:lpstr>Význam auditování</vt:lpstr>
      <vt:lpstr>Implementace řízení přístupu</vt:lpstr>
      <vt:lpstr>Technologie IAM</vt:lpstr>
      <vt:lpstr>Zdroje: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