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60" r:id="rId1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4E019-74F8-47A2-B781-29FC17B22717}" v="241" dt="2024-03-03T18:58:05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9T13:14:54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0 7985,'0'0'1004,"-89"56"-192,58-40-312,-5 0-196,5-4-204,-23 12-412,32-12-108,-22 8-1488,-1-16-1049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9T13:14:5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6713,'0'0'2156,"9"24"-2184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9T13:14:55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6813,'0'23'475,"0"-18"736,-3 1-1200,-6 18-44,7-18-60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9T13:14:54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0 7985,'0'0'1004,"-89"56"-192,58-40-312,-5 0-196,5-4-204,-23 12-412,32-12-108,-22 8-1488,-1-16-1049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9T13:14:5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6713,'0'0'2156,"9"24"-2184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9T13:14:55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6813,'0'23'475,"0"-18"736,-3 1-1200,-6 18-44,7-18-60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C4F9-5EE7-47B7-B965-368EB53A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181099"/>
            <a:ext cx="6864724" cy="3581399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4A1F1-374F-4FC8-89F7-83065EA4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075227"/>
            <a:ext cx="6864724" cy="86837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CB5F-AE9B-4C02-B16F-C462CAFC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B1CC-830B-4695-B174-D9E9100A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D43F-E516-4123-A6D8-DB72C3C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39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1FA8-039D-4BAF-8AAB-7B6616AFE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9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96BE-9AF9-4E97-9204-5B672D79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62200"/>
            <a:ext cx="7696200" cy="24003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DF98A-E8AE-4443-9A8C-CB35DEB2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067300"/>
            <a:ext cx="7696200" cy="876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7114B-35CB-40C5-BCC8-C5039524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A324-982E-42C4-8002-5F236877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1596-9353-4C1A-972E-6522F2B4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7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0BC9-7469-437A-B92B-0A2627E4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D887-595C-4649-AF8E-E78307000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825625"/>
            <a:ext cx="4991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FE29C-ED37-4DD9-949F-002434261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029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AA34-8CC0-4E5B-8396-0AC75633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F7398-73FE-4D27-AFF9-91BEBFED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00880-10EE-4115-8BBB-13DDF270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9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C9B-D20D-43FA-BA18-D50F86A9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699"/>
            <a:ext cx="10625229" cy="11506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F00A-F4EE-40FC-9325-373840422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863" y="1879599"/>
            <a:ext cx="5157787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5DD90-A306-4A8B-A54C-8033B7F7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863" y="2560955"/>
            <a:ext cx="5157787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0E0AA-F8F8-4862-B27B-50FAF2F34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412" y="1879599"/>
            <a:ext cx="5183188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EBDD6-EDA1-4CE7-9DDC-9D977E12D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412" y="2560955"/>
            <a:ext cx="5183188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44487-D350-4434-A5C7-A96942FF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9DC43-E591-42BF-82EE-E4887E4B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CD421-2D00-41DD-A393-4739E389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9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A8B-0FAF-431C-9657-9003FA03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BA2A1-331D-40F8-867B-CE150113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995C1-5121-47B6-AC6D-F60C0FF6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E022-9B54-431C-80D5-5D8F2AFC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7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5B6E5-6347-41F6-85FC-3BF3652D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A93F6-45F8-4453-B5DC-B2F3D5D0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64E1-213B-4AF0-80D7-8101EFD5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9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0B5D-E76D-4797-AD77-15625D67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4D8D-C9CF-43B2-905D-2368B17A5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188" y="914400"/>
            <a:ext cx="5737412" cy="50291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4BF0C-D14C-46D7-ACDD-1885DDD88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79"/>
            <a:ext cx="4119654" cy="3246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D7D8D-72E7-4ABD-BB87-80BB4900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9C1CE-C8CE-4364-A021-ADC2D647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6FA33-09EF-495A-853E-63750CA3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1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023E-952E-40DF-A101-74D22789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E98DD-BF5D-4CCA-8C66-F2A6CE11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86400" y="914400"/>
            <a:ext cx="5791200" cy="50291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C22A6-F2C2-4A88-BEE5-2D6CEB52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80"/>
            <a:ext cx="4119654" cy="31715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1F755-C7AF-4C50-8CA8-828612A7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E175-E818-477C-A3F6-7DD65C12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B8E3-DB91-440B-818F-71E4248B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9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C0AF-44D0-4830-AF13-49B8522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B4D8C-6045-47B3-9A0C-F2215A904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A9F1-F398-416A-A8C0-0A36D838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F801-C9FB-4A34-8386-BA9FBACC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05176-F6E9-4997-8355-74F2A456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01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BC807-13E1-4F3F-83FA-FD9BD24F3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86520" y="647699"/>
            <a:ext cx="229108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E2EAA-155E-482E-A2B8-547653B2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2371" y="647699"/>
            <a:ext cx="8120789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4BDC-BDD0-417D-AF7C-516EE556D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63EC-23F9-4202-80F3-F8E55088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8402D-7367-485B-AEA6-5AB2B820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EB7D6-B8CB-49E3-874F-2255BEE8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EEAC5-A8AB-4FE8-A270-D70F7DED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506C-52BF-4C05-AD31-7C08B8015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4630-6C67-4A40-A499-CB025B243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4E14B-0EE8-4015-809C-DD36B5459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6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kern="1200" cap="all" spc="300" baseline="0">
          <a:solidFill>
            <a:srgbClr val="FFFFFF"/>
          </a:solidFill>
          <a:highlight>
            <a:srgbClr val="0000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customXml" Target="../ink/ink5.xml"/><Relationship Id="rId10" Type="http://schemas.microsoft.com/office/2007/relationships/hdphoto" Target="../media/hdphoto1.wdp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.openai.com/" TargetMode="External"/><Relationship Id="rId13" Type="http://schemas.openxmlformats.org/officeDocument/2006/relationships/hyperlink" Target="https://csirtsnetwork.eu/" TargetMode="External"/><Relationship Id="rId18" Type="http://schemas.openxmlformats.org/officeDocument/2006/relationships/hyperlink" Target="https://www.nksc.lt/veikla.html" TargetMode="External"/><Relationship Id="rId3" Type="http://schemas.openxmlformats.org/officeDocument/2006/relationships/hyperlink" Target="https://makeagif.com/gif/wannacry-wcry-ransomware-wcry-extension-60ZTfd" TargetMode="External"/><Relationship Id="rId7" Type="http://schemas.openxmlformats.org/officeDocument/2006/relationships/hyperlink" Target="https://support.ptc.com/help/windchill/ptc_perf_adv/en/index.html#page/performance_advisor/data_not_available.htm" TargetMode="External"/><Relationship Id="rId12" Type="http://schemas.openxmlformats.org/officeDocument/2006/relationships/hyperlink" Target="https://www.techtarget.com/whatis/definition/Computer-Security-Incident-Response-Team-CSIRT" TargetMode="External"/><Relationship Id="rId17" Type="http://schemas.openxmlformats.org/officeDocument/2006/relationships/hyperlink" Target="https://www.cfcs.dk/en/" TargetMode="External"/><Relationship Id="rId2" Type="http://schemas.openxmlformats.org/officeDocument/2006/relationships/hyperlink" Target="https://giphy.com/gifs/cyberwar-5YcpdtrcwIARW" TargetMode="External"/><Relationship Id="rId16" Type="http://schemas.openxmlformats.org/officeDocument/2006/relationships/hyperlink" Target="https://ico.org.uk/for-organisations/the-guide-to-nis/the-role-of-the-national-cyber-security-centre-ncsc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witter.com/SimonGrundy/status/1543666650905514001" TargetMode="External"/><Relationship Id="rId11" Type="http://schemas.openxmlformats.org/officeDocument/2006/relationships/hyperlink" Target="http://www.ucebnice.cekuj.net/pos/07.html" TargetMode="External"/><Relationship Id="rId5" Type="http://schemas.openxmlformats.org/officeDocument/2006/relationships/hyperlink" Target="https://en.wikipedia.org/wiki/Windows_XP" TargetMode="External"/><Relationship Id="rId15" Type="http://schemas.openxmlformats.org/officeDocument/2006/relationships/hyperlink" Target="https://www.google.com/url?sa=i&amp;url=https%3A%2F%2Ftwitter.com%2Fcert_lt&amp;psig=AOvVaw0fwSCikDxRJY5VPfsffvAo&amp;ust=1709575652881000&amp;source=images&amp;cd=vfe&amp;opi=89978449&amp;ved=0CBIQjRxqFwoTCPj0z97X2IQDFQAAAAAdAAAAABAD" TargetMode="External"/><Relationship Id="rId10" Type="http://schemas.openxmlformats.org/officeDocument/2006/relationships/hyperlink" Target="https://cert.europa.eu/about-us" TargetMode="External"/><Relationship Id="rId4" Type="http://schemas.openxmlformats.org/officeDocument/2006/relationships/hyperlink" Target="https://www.quora.com/How-do-I-understand-if-there-is-a-hardware-problem-on-any-computer" TargetMode="External"/><Relationship Id="rId9" Type="http://schemas.openxmlformats.org/officeDocument/2006/relationships/hyperlink" Target="https://cs.wikipedia.org/wiki/CERT" TargetMode="External"/><Relationship Id="rId14" Type="http://schemas.openxmlformats.org/officeDocument/2006/relationships/hyperlink" Target="https://www.paloaltonetworks.com/cyberpedia/soc-roles-and-responsibiliti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3B1410-D187-427C-B738-BA6AEEF75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592BE-0BDB-F99E-9323-6F7C0C0FC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92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F1335F-97CE-4842-9A57-2B6A3F459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34605" y="-299394"/>
            <a:ext cx="6858000" cy="745678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89000">
                <a:srgbClr val="000000">
                  <a:alpha val="58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8CF57-EAA1-B455-75CB-E84D05163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2800" y="914400"/>
            <a:ext cx="4381500" cy="3848100"/>
          </a:xfrm>
        </p:spPr>
        <p:txBody>
          <a:bodyPr>
            <a:normAutofit/>
          </a:bodyPr>
          <a:lstStyle/>
          <a:p>
            <a:pPr algn="r"/>
            <a:r>
              <a:rPr lang="cs-CZ" dirty="0"/>
              <a:t>CERT, CSIRT </a:t>
            </a:r>
            <a:br>
              <a:rPr lang="cs-CZ" dirty="0"/>
            </a:br>
            <a:r>
              <a:rPr lang="en-US" dirty="0"/>
              <a:t>&amp;</a:t>
            </a:r>
            <a:br>
              <a:rPr lang="cs-CZ" dirty="0"/>
            </a:br>
            <a:r>
              <a:rPr lang="cs-CZ" dirty="0"/>
              <a:t> zabezpečovací týmy</a:t>
            </a:r>
          </a:p>
        </p:txBody>
      </p:sp>
    </p:spTree>
    <p:extLst>
      <p:ext uri="{BB962C8B-B14F-4D97-AF65-F5344CB8AC3E}">
        <p14:creationId xmlns:p14="http://schemas.microsoft.com/office/powerpoint/2010/main" val="1183635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CA79E-2861-C446-E3D3-1E4299C51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to jsou zabezpečovací týmy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B6E0-75B5-973D-313A-FD544813F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Jsou to skupiny, které řeší organizaci při incidentů nebo napomáhají řešení situací po incidentu</a:t>
            </a:r>
          </a:p>
          <a:p>
            <a:pPr lvl="1"/>
            <a:r>
              <a:rPr lang="cs-CZ" b="1" dirty="0"/>
              <a:t>Incidenty</a:t>
            </a:r>
            <a:r>
              <a:rPr lang="cs-CZ" dirty="0"/>
              <a:t> mohou být kybernetické útoky, pokusy o neoprávněný přístup, uník dat...</a:t>
            </a:r>
          </a:p>
          <a:p>
            <a:r>
              <a:rPr lang="cs-CZ" dirty="0"/>
              <a:t>Skupin je mnoho, mohou mezi sebou navzájem spolupracovat, aby dotvořili celkový obraz kybernetické bezpečnosti</a:t>
            </a:r>
          </a:p>
          <a:p>
            <a:r>
              <a:rPr lang="cs-CZ" dirty="0"/>
              <a:t>Každá skupina se zameřuje na něco jiného, ale soustředí se na společné téma </a:t>
            </a:r>
            <a:r>
              <a:rPr lang="cs-CZ" b="1" dirty="0"/>
              <a:t>Kybernetickou Bezpečnost</a:t>
            </a:r>
          </a:p>
          <a:p>
            <a:r>
              <a:rPr lang="cs-CZ" dirty="0"/>
              <a:t>Skupiny mohou být národní, mezinárodní, soukromé nebo vlastní</a:t>
            </a:r>
          </a:p>
          <a:p>
            <a:pPr lvl="1"/>
            <a:r>
              <a:rPr lang="cs-CZ" b="1" dirty="0"/>
              <a:t>Vlastní</a:t>
            </a:r>
            <a:r>
              <a:rPr lang="cs-CZ" dirty="0"/>
              <a:t> jsou týmy, které má firma interně, stárá se výhradně o bezpečný provoz organizace </a:t>
            </a:r>
          </a:p>
        </p:txBody>
      </p:sp>
    </p:spTree>
    <p:extLst>
      <p:ext uri="{BB962C8B-B14F-4D97-AF65-F5344CB8AC3E}">
        <p14:creationId xmlns:p14="http://schemas.microsoft.com/office/powerpoint/2010/main" val="353386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2B54-87EE-A027-114C-1441EE26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Financování týmů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442DE-A394-95B5-EA21-64F6222A749F}"/>
              </a:ext>
            </a:extLst>
          </p:cNvPr>
          <p:cNvSpPr txBox="1"/>
          <p:nvPr/>
        </p:nvSpPr>
        <p:spPr>
          <a:xfrm>
            <a:off x="1037849" y="2364432"/>
            <a:ext cx="2608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Vládní agentůry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CCD6B-EBC8-E3B7-7D60-DA5665856048}"/>
              </a:ext>
            </a:extLst>
          </p:cNvPr>
          <p:cNvSpPr txBox="1"/>
          <p:nvPr/>
        </p:nvSpPr>
        <p:spPr>
          <a:xfrm>
            <a:off x="4414261" y="2364432"/>
            <a:ext cx="4100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Mezinárnodní organizace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054D0-0045-3C71-2A47-B98842BEE30B}"/>
              </a:ext>
            </a:extLst>
          </p:cNvPr>
          <p:cNvSpPr txBox="1"/>
          <p:nvPr/>
        </p:nvSpPr>
        <p:spPr>
          <a:xfrm>
            <a:off x="9531449" y="2364432"/>
            <a:ext cx="1250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Vlastní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4036F9-EDE7-141D-A3C2-13A769B93A9F}"/>
              </a:ext>
            </a:extLst>
          </p:cNvPr>
          <p:cNvCxnSpPr/>
          <p:nvPr/>
        </p:nvCxnSpPr>
        <p:spPr>
          <a:xfrm>
            <a:off x="4114800" y="2184390"/>
            <a:ext cx="0" cy="4368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421C08-78EC-F549-05B1-6387DC5FE1FF}"/>
              </a:ext>
            </a:extLst>
          </p:cNvPr>
          <p:cNvCxnSpPr/>
          <p:nvPr/>
        </p:nvCxnSpPr>
        <p:spPr>
          <a:xfrm>
            <a:off x="8605520" y="2184390"/>
            <a:ext cx="0" cy="43688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8FB192-3218-D324-BEBC-AF2D39F15F51}"/>
              </a:ext>
            </a:extLst>
          </p:cNvPr>
          <p:cNvSpPr txBox="1"/>
          <p:nvPr/>
        </p:nvSpPr>
        <p:spPr>
          <a:xfrm>
            <a:off x="1079827" y="3051041"/>
            <a:ext cx="22669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Finance pocházi přímo od státu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Jsou spravovány pod státem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Spravují státní instituce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Financuje se z veřejného rozpočtu, grantů a dotací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AB7485-1724-EE48-D41F-743EFF17906F}"/>
              </a:ext>
            </a:extLst>
          </p:cNvPr>
          <p:cNvSpPr txBox="1"/>
          <p:nvPr/>
        </p:nvSpPr>
        <p:spPr>
          <a:xfrm>
            <a:off x="4558838" y="3051041"/>
            <a:ext cx="37903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Jsou financovány ze společného fondu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Na fond mohou přispívat státy a organizace společně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Tyto týmy operují mezinárodně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Vytváří směrnice, které pak přebírají vládní týmy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Spolupracují s organizacemi jako jsou OSN, EU, ITU(Mezinární Telekomunikační Unie)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DE5D73-7902-2EB7-E941-C7CD440FBE3B}"/>
              </a:ext>
            </a:extLst>
          </p:cNvPr>
          <p:cNvSpPr txBox="1"/>
          <p:nvPr/>
        </p:nvSpPr>
        <p:spPr>
          <a:xfrm>
            <a:off x="8884562" y="2952870"/>
            <a:ext cx="23937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Soukromé firmy mohou mít vlastní  nebo externí bezpečnostní týmy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Bankovnictví nebo energetika, jsou velmi žádané v rámci zabezpečení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Tyto týmy se zaměřují primárně na vlastní </a:t>
            </a:r>
            <a:r>
              <a:rPr lang="en-US" dirty="0"/>
              <a:t>“</a:t>
            </a:r>
            <a:r>
              <a:rPr lang="cs-CZ" dirty="0"/>
              <a:t>území</a:t>
            </a:r>
            <a:r>
              <a:rPr lang="en-US" dirty="0"/>
              <a:t>”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992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CCB8-85CC-FB40-08B6-76323885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incidenty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A3EA3-2980-7696-A32B-BEF7D5254D4F}"/>
              </a:ext>
            </a:extLst>
          </p:cNvPr>
          <p:cNvSpPr txBox="1"/>
          <p:nvPr/>
        </p:nvSpPr>
        <p:spPr>
          <a:xfrm>
            <a:off x="652371" y="1910080"/>
            <a:ext cx="3172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Kybernetické útoky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3D067-77E6-C734-CFDA-FAFA4FF788EF}"/>
              </a:ext>
            </a:extLst>
          </p:cNvPr>
          <p:cNvSpPr txBox="1"/>
          <p:nvPr/>
        </p:nvSpPr>
        <p:spPr>
          <a:xfrm>
            <a:off x="792481" y="2672080"/>
            <a:ext cx="49377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¨Kybernetický útok je úmyslné nebo neoprávněné jednání, které je zaměřeno na poškození, destrukci, nebo neoprávněný přístup k informačním systémům, datům, sítím, nebo počítačovým zařízením.¨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Nejčastější metody jsou malware, ransomeware, phishing, DDOS, XSS </a:t>
            </a:r>
          </a:p>
        </p:txBody>
      </p:sp>
      <p:pic>
        <p:nvPicPr>
          <p:cNvPr id="2050" name="Picture 2" descr="Ddos-attack GIFs - Get the best GIF on GIPHY">
            <a:extLst>
              <a:ext uri="{FF2B5EF4-FFF2-40B4-BE49-F238E27FC236}">
                <a16:creationId xmlns:a16="http://schemas.microsoft.com/office/drawing/2014/main" id="{801E4D34-2E35-7321-92A4-D56640614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620" y="375920"/>
            <a:ext cx="4694301" cy="264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22E539-2A24-868C-7CCA-81A6908EBED7}"/>
              </a:ext>
            </a:extLst>
          </p:cNvPr>
          <p:cNvSpPr txBox="1"/>
          <p:nvPr/>
        </p:nvSpPr>
        <p:spPr>
          <a:xfrm flipH="1">
            <a:off x="7350759" y="3089354"/>
            <a:ext cx="1513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DDOS</a:t>
            </a:r>
          </a:p>
        </p:txBody>
      </p:sp>
      <p:pic>
        <p:nvPicPr>
          <p:cNvPr id="2052" name="Picture 4" descr="WannaCry, wcry ransomware wcry extension on Make a GIF">
            <a:extLst>
              <a:ext uri="{FF2B5EF4-FFF2-40B4-BE49-F238E27FC236}">
                <a16:creationId xmlns:a16="http://schemas.microsoft.com/office/drawing/2014/main" id="{7F0158ED-50EC-5136-701E-0E5DE3BB3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761" y="3670799"/>
            <a:ext cx="4571999" cy="25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A6E83A-C4F5-9475-E214-4147D67A2209}"/>
              </a:ext>
            </a:extLst>
          </p:cNvPr>
          <p:cNvSpPr txBox="1"/>
          <p:nvPr/>
        </p:nvSpPr>
        <p:spPr>
          <a:xfrm flipH="1">
            <a:off x="7391399" y="6273066"/>
            <a:ext cx="340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Ransomeware - WannaCry</a:t>
            </a:r>
          </a:p>
        </p:txBody>
      </p:sp>
    </p:spTree>
    <p:extLst>
      <p:ext uri="{BB962C8B-B14F-4D97-AF65-F5344CB8AC3E}">
        <p14:creationId xmlns:p14="http://schemas.microsoft.com/office/powerpoint/2010/main" val="13879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CCB8-85CC-FB40-08B6-76323885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incidenty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A3EA3-2980-7696-A32B-BEF7D5254D4F}"/>
              </a:ext>
            </a:extLst>
          </p:cNvPr>
          <p:cNvSpPr txBox="1"/>
          <p:nvPr/>
        </p:nvSpPr>
        <p:spPr>
          <a:xfrm>
            <a:off x="652371" y="1910080"/>
            <a:ext cx="2954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Technické selhání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3D067-77E6-C734-CFDA-FAFA4FF788EF}"/>
              </a:ext>
            </a:extLst>
          </p:cNvPr>
          <p:cNvSpPr txBox="1"/>
          <p:nvPr/>
        </p:nvSpPr>
        <p:spPr>
          <a:xfrm>
            <a:off x="792481" y="2672080"/>
            <a:ext cx="49377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Jsou to chyby hardwaru nebo softwaru, které kompromitují zabezpečení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Jsou to třeba nesprávná konfigurace(slabé heslo...), neaktuálnost systému, slabé autentizační mechanismy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/>
              <a:t>Také se řadí selhaní fyzických obranných mechanismů (IPS, IDS)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2E539-2A24-868C-7CCA-81A6908EBED7}"/>
              </a:ext>
            </a:extLst>
          </p:cNvPr>
          <p:cNvSpPr txBox="1"/>
          <p:nvPr/>
        </p:nvSpPr>
        <p:spPr>
          <a:xfrm flipH="1">
            <a:off x="7050149" y="3073323"/>
            <a:ext cx="230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Hardwarové selhání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F0158ED-50EC-5136-701E-0E5DE3BB3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39055" y="3670799"/>
            <a:ext cx="3417411" cy="25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A6E83A-C4F5-9475-E214-4147D67A2209}"/>
              </a:ext>
            </a:extLst>
          </p:cNvPr>
          <p:cNvSpPr txBox="1"/>
          <p:nvPr/>
        </p:nvSpPr>
        <p:spPr>
          <a:xfrm flipH="1">
            <a:off x="7391399" y="6273066"/>
            <a:ext cx="340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Neaktuálnost systému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07D3073-C411-8070-B13F-E28912AC5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241" y="395910"/>
            <a:ext cx="4567429" cy="264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071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CCB8-85CC-FB40-08B6-76323885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incidenty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A3EA3-2980-7696-A32B-BEF7D5254D4F}"/>
              </a:ext>
            </a:extLst>
          </p:cNvPr>
          <p:cNvSpPr txBox="1"/>
          <p:nvPr/>
        </p:nvSpPr>
        <p:spPr>
          <a:xfrm>
            <a:off x="7045677" y="1591536"/>
            <a:ext cx="3304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Ztráta nebo únik dat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3D067-77E6-C734-CFDA-FAFA4FF788EF}"/>
              </a:ext>
            </a:extLst>
          </p:cNvPr>
          <p:cNvSpPr txBox="1"/>
          <p:nvPr/>
        </p:nvSpPr>
        <p:spPr>
          <a:xfrm>
            <a:off x="7185787" y="2353536"/>
            <a:ext cx="49377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Je to incident, kdy se citlivé informace, dostanou do neoprávněných rukou, nebo ztrátě důležitých dat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Může to být úmyslně, tedy data byla získána pomocí pomoci někoho zevnitř, popřípadě data byla získána zvenku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Nebo neúmyslně, špatné nakonfigurování nebo neopatrnost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2E539-2A24-868C-7CCA-81A6908EBED7}"/>
              </a:ext>
            </a:extLst>
          </p:cNvPr>
          <p:cNvSpPr txBox="1"/>
          <p:nvPr/>
        </p:nvSpPr>
        <p:spPr>
          <a:xfrm flipH="1">
            <a:off x="3702402" y="3115547"/>
            <a:ext cx="3150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Lidský faktor - SellaField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F0158ED-50EC-5136-701E-0E5DE3BB3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70875" y="4246362"/>
            <a:ext cx="4429365" cy="2214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A6E83A-C4F5-9475-E214-4147D67A2209}"/>
              </a:ext>
            </a:extLst>
          </p:cNvPr>
          <p:cNvSpPr txBox="1"/>
          <p:nvPr/>
        </p:nvSpPr>
        <p:spPr>
          <a:xfrm flipH="1">
            <a:off x="4069078" y="6488668"/>
            <a:ext cx="340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Ztráta dat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07D3073-C411-8070-B13F-E28912AC5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7139" y="2108727"/>
            <a:ext cx="3525263" cy="264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378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CCB8-85CC-FB40-08B6-76323885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incidenty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A3EA3-2980-7696-A32B-BEF7D5254D4F}"/>
              </a:ext>
            </a:extLst>
          </p:cNvPr>
          <p:cNvSpPr txBox="1"/>
          <p:nvPr/>
        </p:nvSpPr>
        <p:spPr>
          <a:xfrm>
            <a:off x="652371" y="1910080"/>
            <a:ext cx="3860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Chyby nebo nedostatky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3D067-77E6-C734-CFDA-FAFA4FF788EF}"/>
              </a:ext>
            </a:extLst>
          </p:cNvPr>
          <p:cNvSpPr txBox="1"/>
          <p:nvPr/>
        </p:nvSpPr>
        <p:spPr>
          <a:xfrm>
            <a:off x="792481" y="2672080"/>
            <a:ext cx="4937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Většinou zapříčeněno lidkým faktorem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Jako neopatrnost, nedoškolení, nevědomost bezpečnosti online prostředí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Také to může být špatně nakonfigurováná síť, firewall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Nezálohování systému, a body obnov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414A5-FB52-5F55-7C44-21F2A73C957B}"/>
              </a:ext>
            </a:extLst>
          </p:cNvPr>
          <p:cNvSpPr txBox="1"/>
          <p:nvPr/>
        </p:nvSpPr>
        <p:spPr>
          <a:xfrm>
            <a:off x="6096000" y="1910080"/>
            <a:ext cx="338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Fyzické zabezpečení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251EC-89B1-DEB6-7126-A56F069BF213}"/>
              </a:ext>
            </a:extLst>
          </p:cNvPr>
          <p:cNvSpPr txBox="1"/>
          <p:nvPr/>
        </p:nvSpPr>
        <p:spPr>
          <a:xfrm>
            <a:off x="5811520" y="2672080"/>
            <a:ext cx="53847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Událost, kdy je narušené zabezpečení fyzicky, v reálném světě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Krádež či poškození zařízení (Osobní počítače, Servery...)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Lez předejít pomocí zabezpečovacího systému (kamerový systém, dedikovaná místnost pro server)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Přírodní katastrofy (požár, povodeň,)</a:t>
            </a:r>
          </a:p>
        </p:txBody>
      </p:sp>
    </p:spTree>
    <p:extLst>
      <p:ext uri="{BB962C8B-B14F-4D97-AF65-F5344CB8AC3E}">
        <p14:creationId xmlns:p14="http://schemas.microsoft.com/office/powerpoint/2010/main" val="3861972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CF27-3ACF-A555-5479-14F3EEE8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DFC80-9051-1B5D-5B9A-289A45A5A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71" y="1983740"/>
            <a:ext cx="10620855" cy="4114800"/>
          </a:xfrm>
        </p:spPr>
        <p:txBody>
          <a:bodyPr>
            <a:noAutofit/>
          </a:bodyPr>
          <a:lstStyle/>
          <a:p>
            <a:r>
              <a:rPr lang="cs-CZ" b="1" dirty="0"/>
              <a:t>C</a:t>
            </a:r>
            <a:r>
              <a:rPr lang="cs-CZ" dirty="0"/>
              <a:t>omputer </a:t>
            </a:r>
            <a:r>
              <a:rPr lang="cs-CZ" b="1" dirty="0"/>
              <a:t>E</a:t>
            </a:r>
            <a:r>
              <a:rPr lang="cs-CZ" dirty="0"/>
              <a:t>mergency </a:t>
            </a:r>
            <a:r>
              <a:rPr lang="cs-CZ" b="1" dirty="0"/>
              <a:t>R</a:t>
            </a:r>
            <a:r>
              <a:rPr lang="cs-CZ" dirty="0"/>
              <a:t>esponse </a:t>
            </a:r>
            <a:r>
              <a:rPr lang="cs-CZ" b="1" dirty="0"/>
              <a:t>T</a:t>
            </a:r>
            <a:r>
              <a:rPr lang="cs-CZ" dirty="0"/>
              <a:t>eam</a:t>
            </a:r>
          </a:p>
          <a:p>
            <a:r>
              <a:rPr lang="cs-CZ" dirty="0"/>
              <a:t>Vznik 1988, po rozšíření Morrisovu červu</a:t>
            </a:r>
          </a:p>
          <a:p>
            <a:pPr lvl="1"/>
            <a:r>
              <a:rPr lang="cs-CZ" sz="2000" dirty="0"/>
              <a:t>Jeden z prvních červů, 6 000 PC infikovaných</a:t>
            </a:r>
          </a:p>
          <a:p>
            <a:r>
              <a:rPr lang="cs-CZ" dirty="0"/>
              <a:t>Poskytuje podporu, kteří se dostali do problému v rámci kyernetické bezpečnosti</a:t>
            </a:r>
          </a:p>
          <a:p>
            <a:pPr lvl="1"/>
            <a:r>
              <a:rPr lang="cs-CZ" sz="2000" dirty="0"/>
              <a:t>Konzultace</a:t>
            </a:r>
          </a:p>
          <a:p>
            <a:pPr lvl="1"/>
            <a:r>
              <a:rPr lang="cs-CZ" sz="2000" dirty="0"/>
              <a:t>Podpora</a:t>
            </a:r>
          </a:p>
          <a:p>
            <a:pPr lvl="1"/>
            <a:r>
              <a:rPr lang="cs-CZ" sz="2000" dirty="0"/>
              <a:t>Řešení po kybernetickém útoku</a:t>
            </a:r>
          </a:p>
          <a:p>
            <a:r>
              <a:rPr lang="cs-CZ" dirty="0"/>
              <a:t>Ročně vydávájí hlášení o kybernetických hrozbách</a:t>
            </a:r>
          </a:p>
          <a:p>
            <a:r>
              <a:rPr lang="cs-CZ" dirty="0"/>
              <a:t>Na webových stránkách mají rady na kybernetickou bezpečnost</a:t>
            </a:r>
          </a:p>
          <a:p>
            <a:r>
              <a:rPr lang="cs-CZ" dirty="0"/>
              <a:t>Funguje Vladně(GovCERT.cz) a Evropsky (cert.evropa.eu) </a:t>
            </a:r>
          </a:p>
        </p:txBody>
      </p:sp>
    </p:spTree>
    <p:extLst>
      <p:ext uri="{BB962C8B-B14F-4D97-AF65-F5344CB8AC3E}">
        <p14:creationId xmlns:p14="http://schemas.microsoft.com/office/powerpoint/2010/main" val="447974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CF27-3ACF-A555-5479-14F3EEE8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CERT - EU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DFC80-9051-1B5D-5B9A-289A45A5A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71" y="2095500"/>
            <a:ext cx="6723789" cy="4114800"/>
          </a:xfrm>
        </p:spPr>
        <p:txBody>
          <a:bodyPr>
            <a:normAutofit/>
          </a:bodyPr>
          <a:lstStyle/>
          <a:p>
            <a:pPr lvl="1"/>
            <a:r>
              <a:rPr lang="cs-CZ" sz="2000" dirty="0"/>
              <a:t>Financována Evropskou Unií</a:t>
            </a:r>
          </a:p>
          <a:p>
            <a:pPr lvl="1"/>
            <a:r>
              <a:rPr lang="cs-CZ" sz="2000" dirty="0"/>
              <a:t>Evropské odnoží od roku 2011</a:t>
            </a:r>
          </a:p>
          <a:p>
            <a:pPr lvl="1"/>
            <a:r>
              <a:rPr lang="cs-CZ" sz="2000" dirty="0"/>
              <a:t>Pomáhá všem Evropským institucím a Evropským státům</a:t>
            </a:r>
          </a:p>
          <a:p>
            <a:pPr lvl="1"/>
            <a:r>
              <a:rPr lang="cs-CZ" dirty="0"/>
              <a:t>Pořádá schůzky o bezpečnosti na internetu (Cyber Europe, Locked Shields)</a:t>
            </a:r>
          </a:p>
          <a:p>
            <a:pPr lvl="1"/>
            <a:r>
              <a:rPr lang="cs-CZ" dirty="0"/>
              <a:t>Členem Skupin Csirt Network, EGC, FIRST a dalších</a:t>
            </a:r>
          </a:p>
          <a:p>
            <a:pPr lvl="1"/>
            <a:r>
              <a:rPr lang="cs-CZ" dirty="0"/>
              <a:t>Kooperuje s ENISA s NATO</a:t>
            </a:r>
          </a:p>
          <a:p>
            <a:pPr lvl="1"/>
            <a:r>
              <a:rPr lang="cs-CZ" dirty="0"/>
              <a:t>Dělí se na několik skupin</a:t>
            </a:r>
          </a:p>
          <a:p>
            <a:pPr lvl="2"/>
            <a:r>
              <a:rPr lang="cs-CZ" dirty="0"/>
              <a:t>Offensive Security, Cyber Threat Intelligence, atd...</a:t>
            </a:r>
          </a:p>
          <a:p>
            <a:pPr lvl="2"/>
            <a:endParaRPr lang="cs-CZ" dirty="0"/>
          </a:p>
          <a:p>
            <a:pPr lvl="1"/>
            <a:endParaRPr lang="cs-CZ" dirty="0"/>
          </a:p>
        </p:txBody>
      </p:sp>
      <p:pic>
        <p:nvPicPr>
          <p:cNvPr id="1028" name="Picture 4" descr="Abschluss und Zertifizierungen auf Basis des CEFR">
            <a:extLst>
              <a:ext uri="{FF2B5EF4-FFF2-40B4-BE49-F238E27FC236}">
                <a16:creationId xmlns:a16="http://schemas.microsoft.com/office/drawing/2014/main" id="{F5D507FD-6525-114F-839F-0AE82051C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479" y="537453"/>
            <a:ext cx="38671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821972-15E6-A54C-04C6-CCB927C4DE66}"/>
              </a:ext>
            </a:extLst>
          </p:cNvPr>
          <p:cNvSpPr txBox="1"/>
          <p:nvPr/>
        </p:nvSpPr>
        <p:spPr>
          <a:xfrm>
            <a:off x="1127760" y="6488668"/>
            <a:ext cx="3817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>
                <a:solidFill>
                  <a:schemeClr val="bg1">
                    <a:lumMod val="75000"/>
                  </a:schemeClr>
                </a:solidFill>
              </a:rPr>
              <a:t>EGC =European Government CERTs </a:t>
            </a:r>
          </a:p>
        </p:txBody>
      </p:sp>
    </p:spTree>
    <p:extLst>
      <p:ext uri="{BB962C8B-B14F-4D97-AF65-F5344CB8AC3E}">
        <p14:creationId xmlns:p14="http://schemas.microsoft.com/office/powerpoint/2010/main" val="2898348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573A4-222E-10DA-5C66-589575EB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SIRTs Network">
            <a:extLst>
              <a:ext uri="{FF2B5EF4-FFF2-40B4-BE49-F238E27FC236}">
                <a16:creationId xmlns:a16="http://schemas.microsoft.com/office/drawing/2014/main" id="{BAC82423-5550-F0E3-5647-618F38A0C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843" y="-158957"/>
            <a:ext cx="4301426" cy="240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FF1B1B-DEB6-062A-EA6F-A2DE6995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348227"/>
            <a:ext cx="10625229" cy="1147053"/>
          </a:xfrm>
        </p:spPr>
        <p:txBody>
          <a:bodyPr/>
          <a:lstStyle/>
          <a:p>
            <a:r>
              <a:rPr lang="cs-CZ" dirty="0"/>
              <a:t>CSirt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832D0-3B92-4D87-3AD1-11C9A22B8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71" y="2874139"/>
            <a:ext cx="6723789" cy="4114800"/>
          </a:xfrm>
        </p:spPr>
        <p:txBody>
          <a:bodyPr>
            <a:normAutofit/>
          </a:bodyPr>
          <a:lstStyle/>
          <a:p>
            <a:pPr lvl="2"/>
            <a:endParaRPr lang="cs-CZ" dirty="0"/>
          </a:p>
          <a:p>
            <a:pPr lvl="1"/>
            <a:endParaRPr lang="cs-CZ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2D74D03-009C-3045-6840-798DAFD80DBC}"/>
              </a:ext>
            </a:extLst>
          </p:cNvPr>
          <p:cNvGrpSpPr/>
          <p:nvPr/>
        </p:nvGrpSpPr>
        <p:grpSpPr>
          <a:xfrm>
            <a:off x="1869960" y="1176680"/>
            <a:ext cx="126720" cy="57960"/>
            <a:chOff x="1869960" y="1176680"/>
            <a:chExt cx="126720" cy="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7A7444-C564-89A4-AEA1-0A4AA571BE51}"/>
                    </a:ext>
                  </a:extLst>
                </p14:cNvPr>
                <p14:cNvContentPartPr/>
                <p14:nvPr/>
              </p14:nvContentPartPr>
              <p14:xfrm>
                <a:off x="1869960" y="1176680"/>
                <a:ext cx="126720" cy="57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7A7444-C564-89A4-AEA1-0A4AA571BE5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63840" y="1170560"/>
                  <a:ext cx="138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43E4A5-90BE-F1C0-927B-4C498723564D}"/>
                    </a:ext>
                  </a:extLst>
                </p14:cNvPr>
                <p14:cNvContentPartPr/>
                <p14:nvPr/>
              </p14:nvContentPartPr>
              <p14:xfrm>
                <a:off x="1959600" y="1214120"/>
                <a:ext cx="3600" cy="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43E4A5-90BE-F1C0-927B-4C498723564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53480" y="1208000"/>
                  <a:ext cx="1584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995C65F-DFE7-8AD2-2D6A-6AC98C81AF70}"/>
                  </a:ext>
                </a:extLst>
              </p14:cNvPr>
              <p14:cNvContentPartPr/>
              <p14:nvPr/>
            </p14:nvContentPartPr>
            <p14:xfrm>
              <a:off x="1934040" y="1471880"/>
              <a:ext cx="5040" cy="23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995C65F-DFE7-8AD2-2D6A-6AC98C81AF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27920" y="1465760"/>
                <a:ext cx="17280" cy="356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7F1735-3460-240B-7AD9-195AC701D135}"/>
              </a:ext>
            </a:extLst>
          </p:cNvPr>
          <p:cNvSpPr txBox="1">
            <a:spLocks/>
          </p:cNvSpPr>
          <p:nvPr/>
        </p:nvSpPr>
        <p:spPr>
          <a:xfrm>
            <a:off x="652371" y="2601979"/>
            <a:ext cx="531206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cs-CZ" sz="2000" b="1" dirty="0"/>
              <a:t>C</a:t>
            </a:r>
            <a:r>
              <a:rPr lang="cs-CZ" sz="2000" dirty="0"/>
              <a:t>omputer </a:t>
            </a:r>
            <a:r>
              <a:rPr lang="cs-CZ" sz="2000" b="1" dirty="0"/>
              <a:t>Security I</a:t>
            </a:r>
            <a:r>
              <a:rPr lang="cs-CZ" sz="2000" dirty="0"/>
              <a:t>ncident </a:t>
            </a:r>
            <a:r>
              <a:rPr lang="cs-CZ" sz="2000" b="1" dirty="0"/>
              <a:t>R</a:t>
            </a:r>
            <a:r>
              <a:rPr lang="cs-CZ" sz="2000" dirty="0"/>
              <a:t>esponse </a:t>
            </a:r>
            <a:r>
              <a:rPr lang="cs-CZ" sz="2000" b="1" dirty="0"/>
              <a:t>T</a:t>
            </a:r>
            <a:r>
              <a:rPr lang="cs-CZ" sz="2000" dirty="0"/>
              <a:t>eam</a:t>
            </a:r>
            <a:r>
              <a:rPr lang="cs-CZ" sz="2000" b="1" dirty="0"/>
              <a:t> (CSIRT)</a:t>
            </a:r>
          </a:p>
          <a:p>
            <a:pPr lvl="1"/>
            <a:r>
              <a:rPr lang="cs-CZ" sz="2000" dirty="0"/>
              <a:t>Operuje na podobném principu jako CERT (prevence a detekce kybernetických hrozeb)</a:t>
            </a:r>
          </a:p>
          <a:p>
            <a:pPr lvl="1"/>
            <a:r>
              <a:rPr lang="cs-CZ" sz="2000" dirty="0"/>
              <a:t>Zaměřuje se na</a:t>
            </a:r>
            <a:r>
              <a:rPr lang="cs-CZ" sz="2000" b="1" dirty="0"/>
              <a:t> jinou </a:t>
            </a:r>
            <a:r>
              <a:rPr lang="cs-CZ" sz="2000" dirty="0"/>
              <a:t>oblast než CERT</a:t>
            </a:r>
          </a:p>
          <a:p>
            <a:pPr lvl="1"/>
            <a:r>
              <a:rPr lang="cs-CZ" sz="2000" b="1" dirty="0"/>
              <a:t>CSIRT FRAMEWORK </a:t>
            </a:r>
            <a:r>
              <a:rPr lang="cs-CZ" sz="2000" dirty="0"/>
              <a:t>– dokumentace o tom jak zařídit CERT a správa kybernetického centra</a:t>
            </a:r>
          </a:p>
          <a:p>
            <a:pPr lvl="1"/>
            <a:r>
              <a:rPr lang="cs-CZ" sz="2000" dirty="0"/>
              <a:t>Tým je rozdělený na několik kategorií</a:t>
            </a:r>
          </a:p>
          <a:p>
            <a:pPr lvl="1"/>
            <a:endParaRPr lang="cs-CZ" sz="2000" dirty="0"/>
          </a:p>
          <a:p>
            <a:pPr lvl="1"/>
            <a:endParaRPr lang="cs-CZ" sz="2000" dirty="0"/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586528-F759-D925-BBFF-E59346FEE330}"/>
              </a:ext>
            </a:extLst>
          </p:cNvPr>
          <p:cNvSpPr txBox="1"/>
          <p:nvPr/>
        </p:nvSpPr>
        <p:spPr>
          <a:xfrm>
            <a:off x="6693226" y="2242672"/>
            <a:ext cx="458673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  <a:highlight>
                  <a:srgbClr val="000000"/>
                </a:highlight>
              </a:rPr>
              <a:t>SLUŽBY: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Propagace týmu – aby napadený subjekt vědel na koho se obrátit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Analyzování incidentu – pochpení co se stalo a jak k incidentu přistupovat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Podpora – pomoc při výskytu incidentu a podpora napadenému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Aktualizace plánu na kyberneticou obranu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/>
              <a:t>Audit(úprava) dokumentů spojených s kyberneticou bezpečností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9040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070D-A2BD-3F6C-0023-7C4F097A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SIRTs Network">
            <a:extLst>
              <a:ext uri="{FF2B5EF4-FFF2-40B4-BE49-F238E27FC236}">
                <a16:creationId xmlns:a16="http://schemas.microsoft.com/office/drawing/2014/main" id="{E5CA2809-38E7-3D8F-D06C-CD4F2304E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022" y="4845"/>
            <a:ext cx="4301426" cy="240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B88E37-1174-5B36-0EA2-A1ED743E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348227"/>
            <a:ext cx="10625229" cy="1147053"/>
          </a:xfrm>
        </p:spPr>
        <p:txBody>
          <a:bodyPr/>
          <a:lstStyle/>
          <a:p>
            <a:r>
              <a:rPr lang="cs-CZ" dirty="0"/>
              <a:t>CSirt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82B5-C81A-E8D5-CCDB-60750B05A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71" y="2874139"/>
            <a:ext cx="6723789" cy="4114800"/>
          </a:xfrm>
        </p:spPr>
        <p:txBody>
          <a:bodyPr>
            <a:normAutofit/>
          </a:bodyPr>
          <a:lstStyle/>
          <a:p>
            <a:pPr lvl="2"/>
            <a:endParaRPr lang="cs-CZ" dirty="0"/>
          </a:p>
          <a:p>
            <a:pPr lvl="1"/>
            <a:endParaRPr lang="cs-CZ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C39C31A-6B40-1009-A755-4D9D210FE56A}"/>
              </a:ext>
            </a:extLst>
          </p:cNvPr>
          <p:cNvGrpSpPr/>
          <p:nvPr/>
        </p:nvGrpSpPr>
        <p:grpSpPr>
          <a:xfrm>
            <a:off x="1869960" y="1176680"/>
            <a:ext cx="126720" cy="57960"/>
            <a:chOff x="1869960" y="1176680"/>
            <a:chExt cx="126720" cy="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9C230D6-6F82-B6A9-635F-C467C77A3EA7}"/>
                    </a:ext>
                  </a:extLst>
                </p14:cNvPr>
                <p14:cNvContentPartPr/>
                <p14:nvPr/>
              </p14:nvContentPartPr>
              <p14:xfrm>
                <a:off x="1869960" y="1176680"/>
                <a:ext cx="126720" cy="57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9C230D6-6F82-B6A9-635F-C467C77A3EA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63857" y="1170560"/>
                  <a:ext cx="138925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9BBDD22-98EA-1D98-7432-3E72195D670A}"/>
                    </a:ext>
                  </a:extLst>
                </p14:cNvPr>
                <p14:cNvContentPartPr/>
                <p14:nvPr/>
              </p14:nvContentPartPr>
              <p14:xfrm>
                <a:off x="1959600" y="1214120"/>
                <a:ext cx="3600" cy="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9BBDD22-98EA-1D98-7432-3E72195D670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53480" y="1208000"/>
                  <a:ext cx="1584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6C09439-DD04-EF16-C77E-2399C88291FD}"/>
                  </a:ext>
                </a:extLst>
              </p14:cNvPr>
              <p14:cNvContentPartPr/>
              <p14:nvPr/>
            </p14:nvContentPartPr>
            <p14:xfrm>
              <a:off x="1934040" y="1471880"/>
              <a:ext cx="5040" cy="23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6C09439-DD04-EF16-C77E-2399C88291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28328" y="1465760"/>
                <a:ext cx="16464" cy="356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652DDA-B5E2-EF66-92A7-2003AF67FA96}"/>
              </a:ext>
            </a:extLst>
          </p:cNvPr>
          <p:cNvSpPr txBox="1">
            <a:spLocks/>
          </p:cNvSpPr>
          <p:nvPr/>
        </p:nvSpPr>
        <p:spPr>
          <a:xfrm>
            <a:off x="540227" y="1877360"/>
            <a:ext cx="4949048" cy="49806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cs-CZ" sz="2600" dirty="0">
                <a:solidFill>
                  <a:schemeClr val="bg1"/>
                </a:solidFill>
                <a:highlight>
                  <a:srgbClr val="000000"/>
                </a:highlight>
              </a:rPr>
              <a:t>Kategorie:</a:t>
            </a:r>
          </a:p>
          <a:p>
            <a:pPr lvl="1"/>
            <a:r>
              <a:rPr lang="cs-CZ" sz="2000" b="1" dirty="0"/>
              <a:t>Centralizovaná</a:t>
            </a:r>
            <a:r>
              <a:rPr lang="cs-CZ" sz="2000" dirty="0"/>
              <a:t> – CISRT sídlí na jednom místě, vhodné pro malé organizace</a:t>
            </a:r>
          </a:p>
          <a:p>
            <a:pPr lvl="1"/>
            <a:r>
              <a:rPr lang="cs-CZ" sz="2000" b="1" dirty="0"/>
              <a:t>Distribuované</a:t>
            </a:r>
            <a:r>
              <a:rPr lang="cs-CZ" sz="2000" dirty="0"/>
              <a:t> – několik samostaných týmu pracující společně</a:t>
            </a:r>
          </a:p>
          <a:p>
            <a:pPr lvl="1"/>
            <a:r>
              <a:rPr lang="cs-CZ" sz="2000" b="1" dirty="0"/>
              <a:t>Koordinované</a:t>
            </a:r>
            <a:r>
              <a:rPr lang="cs-CZ" sz="2000" dirty="0"/>
              <a:t> – stejné jako distribuované, ale je ústřední místo, kde koordinuje ostatní týmy</a:t>
            </a:r>
          </a:p>
          <a:p>
            <a:pPr lvl="1"/>
            <a:r>
              <a:rPr lang="cs-CZ" sz="2000" b="1" dirty="0"/>
              <a:t>Hybridní</a:t>
            </a:r>
            <a:r>
              <a:rPr lang="cs-CZ" sz="2000" dirty="0"/>
              <a:t> – kombinace prvních dvou, tým může povolat experty, kteří nemusí nutně pracovat pro tým, při výskytu incidentu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pic>
        <p:nvPicPr>
          <p:cNvPr id="2050" name="Picture 2" descr="централизация скачать бесплатно - Компьютер значок значки дизайна скачать  клипарт - централизация">
            <a:extLst>
              <a:ext uri="{FF2B5EF4-FFF2-40B4-BE49-F238E27FC236}">
                <a16:creationId xmlns:a16="http://schemas.microsoft.com/office/drawing/2014/main" id="{2D399287-F4E4-034E-31A9-BAC5649B3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154" b="90000" l="9231" r="91154">
                        <a14:foregroundMark x1="17692" y1="7692" x2="17692" y2="7692"/>
                        <a14:foregroundMark x1="23077" y1="4231" x2="23077" y2="4231"/>
                        <a14:foregroundMark x1="72308" y1="3846" x2="72308" y2="3846"/>
                        <a14:foregroundMark x1="24231" y1="1538" x2="24231" y2="1538"/>
                        <a14:foregroundMark x1="9615" y1="51923" x2="9615" y2="51923"/>
                        <a14:foregroundMark x1="91154" y1="46538" x2="91154" y2="46538"/>
                        <a14:backgroundMark x1="16923" y1="8077" x2="16923" y2="7692"/>
                        <a14:backgroundMark x1="22308" y1="0" x2="24615" y2="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048" y="1483580"/>
            <a:ext cx="1571862" cy="157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stribuované systémy">
            <a:extLst>
              <a:ext uri="{FF2B5EF4-FFF2-40B4-BE49-F238E27FC236}">
                <a16:creationId xmlns:a16="http://schemas.microsoft.com/office/drawing/2014/main" id="{27A3B7F3-F4F8-10E2-2252-9D91E14CC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95" y="2907308"/>
            <a:ext cx="2333646" cy="114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BBBAFF1-3644-582B-6573-38DD33D20D22}"/>
              </a:ext>
            </a:extLst>
          </p:cNvPr>
          <p:cNvGrpSpPr/>
          <p:nvPr/>
        </p:nvGrpSpPr>
        <p:grpSpPr>
          <a:xfrm>
            <a:off x="5265895" y="3768197"/>
            <a:ext cx="4118661" cy="1338689"/>
            <a:chOff x="5410000" y="4179779"/>
            <a:chExt cx="4118661" cy="1338689"/>
          </a:xfrm>
        </p:grpSpPr>
        <p:pic>
          <p:nvPicPr>
            <p:cNvPr id="10" name="Picture 4" descr="Distribuované systémy">
              <a:extLst>
                <a:ext uri="{FF2B5EF4-FFF2-40B4-BE49-F238E27FC236}">
                  <a16:creationId xmlns:a16="http://schemas.microsoft.com/office/drawing/2014/main" id="{FD60D582-001D-863D-AEA5-A2D000057B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482"/>
            <a:stretch/>
          </p:blipFill>
          <p:spPr bwMode="auto">
            <a:xfrm flipH="1">
              <a:off x="7660256" y="4179779"/>
              <a:ext cx="1868405" cy="1235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Distribuované systémy">
              <a:extLst>
                <a:ext uri="{FF2B5EF4-FFF2-40B4-BE49-F238E27FC236}">
                  <a16:creationId xmlns:a16="http://schemas.microsoft.com/office/drawing/2014/main" id="{59606912-22D8-1FE9-7B1A-C13A0B825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000" y="4370314"/>
              <a:ext cx="2333646" cy="1148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2" descr="централизация скачать бесплатно - Компьютер значок значки дизайна скачать  клипарт - централизация">
            <a:extLst>
              <a:ext uri="{FF2B5EF4-FFF2-40B4-BE49-F238E27FC236}">
                <a16:creationId xmlns:a16="http://schemas.microsoft.com/office/drawing/2014/main" id="{668360CD-34A5-0D08-CBB1-1C402FB77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154" b="90000" l="9231" r="91154">
                        <a14:foregroundMark x1="17692" y1="7692" x2="17692" y2="7692"/>
                        <a14:foregroundMark x1="23077" y1="4231" x2="23077" y2="4231"/>
                        <a14:foregroundMark x1="72308" y1="3846" x2="72308" y2="3846"/>
                        <a14:foregroundMark x1="24231" y1="1538" x2="24231" y2="1538"/>
                        <a14:foregroundMark x1="9615" y1="51923" x2="9615" y2="51923"/>
                        <a14:foregroundMark x1="91154" y1="46538" x2="91154" y2="46538"/>
                        <a14:backgroundMark x1="16923" y1="8077" x2="16923" y2="7692"/>
                        <a14:backgroundMark x1="22308" y1="0" x2="24615" y2="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275" y="5573377"/>
            <a:ext cx="1571862" cy="157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Distribuované systémy">
            <a:extLst>
              <a:ext uri="{FF2B5EF4-FFF2-40B4-BE49-F238E27FC236}">
                <a16:creationId xmlns:a16="http://schemas.microsoft.com/office/drawing/2014/main" id="{64464EF7-6D87-3A51-27F9-C4FD5E15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544" y="5529588"/>
            <a:ext cx="2333646" cy="114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818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9F1E851-CD33-4DE3-B862-1D439E2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E1667-F7CF-691B-4206-C8A6008E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93" y="258617"/>
            <a:ext cx="4787709" cy="1447801"/>
          </a:xfrm>
        </p:spPr>
        <p:txBody>
          <a:bodyPr anchor="b">
            <a:normAutofit/>
          </a:bodyPr>
          <a:lstStyle/>
          <a:p>
            <a:r>
              <a:rPr lang="cs-CZ" dirty="0"/>
              <a:t>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F38A0-EB2F-E38C-0E14-C8497297A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048366"/>
            <a:ext cx="5088082" cy="446768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cs-CZ" b="1" dirty="0"/>
              <a:t>S</a:t>
            </a:r>
            <a:r>
              <a:rPr lang="cs-CZ" dirty="0"/>
              <a:t>ecurity </a:t>
            </a:r>
            <a:r>
              <a:rPr lang="cs-CZ" b="1" dirty="0"/>
              <a:t>O</a:t>
            </a:r>
            <a:r>
              <a:rPr lang="cs-CZ" dirty="0"/>
              <a:t>peration </a:t>
            </a:r>
            <a:r>
              <a:rPr lang="cs-CZ" b="1" dirty="0"/>
              <a:t>C</a:t>
            </a:r>
            <a:r>
              <a:rPr lang="cs-CZ" dirty="0"/>
              <a:t>enter (SOC)</a:t>
            </a:r>
          </a:p>
          <a:p>
            <a:pPr>
              <a:lnSpc>
                <a:spcPct val="110000"/>
              </a:lnSpc>
            </a:pPr>
            <a:r>
              <a:rPr lang="cs-CZ" dirty="0"/>
              <a:t>Operuje podobně jako CSIRT a CERT, ale zaměřujese na jinou oblast kybernetické bezpečnosti</a:t>
            </a:r>
          </a:p>
          <a:p>
            <a:pPr>
              <a:lnSpc>
                <a:spcPct val="110000"/>
              </a:lnSpc>
            </a:pPr>
            <a:r>
              <a:rPr lang="cs-CZ" dirty="0"/>
              <a:t>Hlídá a monitoruje podezřelou aktivitu</a:t>
            </a:r>
          </a:p>
          <a:p>
            <a:pPr>
              <a:lnSpc>
                <a:spcPct val="110000"/>
              </a:lnSpc>
            </a:pPr>
            <a:r>
              <a:rPr lang="cs-CZ" dirty="0"/>
              <a:t>SOC je tým, který se snaží o zvýšení bezpečnosti organizace a svésprávu (najimání nových expertů)</a:t>
            </a:r>
          </a:p>
          <a:p>
            <a:pPr>
              <a:lnSpc>
                <a:spcPct val="110000"/>
              </a:lnSpc>
            </a:pPr>
            <a:r>
              <a:rPr lang="cs-CZ" dirty="0"/>
              <a:t>Může spolupracovat s CERT nebo CSIRT</a:t>
            </a:r>
          </a:p>
          <a:p>
            <a:pPr>
              <a:lnSpc>
                <a:spcPct val="110000"/>
              </a:lnSpc>
            </a:pPr>
            <a:r>
              <a:rPr lang="cs-CZ" dirty="0"/>
              <a:t>Vyskytuje se hlavně ve firemách nebo oraginzacích</a:t>
            </a:r>
          </a:p>
          <a:p>
            <a:pPr>
              <a:lnSpc>
                <a:spcPct val="110000"/>
              </a:lnSpc>
            </a:pPr>
            <a:r>
              <a:rPr lang="cs-CZ" dirty="0"/>
              <a:t>Zaměstnanci se řadí do rolí (Tier1, Tier2...)</a:t>
            </a:r>
          </a:p>
          <a:p>
            <a:pPr>
              <a:lnSpc>
                <a:spcPct val="110000"/>
              </a:lnSpc>
            </a:pPr>
            <a:endParaRPr lang="cs-CZ" sz="1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2939039-3F23-0714-E080-670C5C756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5122" y="2520177"/>
            <a:ext cx="6603325" cy="3714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408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A5603-3172-C8B0-D237-17E60ADE0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Ostatní týmy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5BC75-93FB-1F37-0ACE-1E0942180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71" y="2837372"/>
            <a:ext cx="4506225" cy="3848100"/>
          </a:xfrm>
        </p:spPr>
        <p:txBody>
          <a:bodyPr/>
          <a:lstStyle/>
          <a:p>
            <a:pPr marL="0" indent="0">
              <a:buNone/>
            </a:pPr>
            <a:r>
              <a:rPr lang="cs-CZ" sz="2800" b="1" dirty="0">
                <a:solidFill>
                  <a:schemeClr val="bg1"/>
                </a:solidFill>
                <a:highlight>
                  <a:srgbClr val="000000"/>
                </a:highlight>
              </a:rPr>
              <a:t>NCSC:</a:t>
            </a:r>
          </a:p>
          <a:p>
            <a:r>
              <a:rPr lang="cs-CZ" b="1" dirty="0"/>
              <a:t>N</a:t>
            </a:r>
            <a:r>
              <a:rPr lang="cs-CZ" dirty="0"/>
              <a:t>ational </a:t>
            </a:r>
            <a:r>
              <a:rPr lang="cs-CZ" b="1" dirty="0"/>
              <a:t>C</a:t>
            </a:r>
            <a:r>
              <a:rPr lang="cs-CZ" dirty="0"/>
              <a:t>yber </a:t>
            </a:r>
            <a:r>
              <a:rPr lang="cs-CZ" b="1" dirty="0"/>
              <a:t>S</a:t>
            </a:r>
            <a:r>
              <a:rPr lang="cs-CZ" dirty="0"/>
              <a:t>ecurity </a:t>
            </a:r>
            <a:r>
              <a:rPr lang="cs-CZ" b="1" dirty="0"/>
              <a:t>C</a:t>
            </a:r>
            <a:r>
              <a:rPr lang="cs-CZ" dirty="0"/>
              <a:t>enter (NCSC)</a:t>
            </a:r>
          </a:p>
          <a:p>
            <a:r>
              <a:rPr lang="cs-CZ" dirty="0"/>
              <a:t>Je méně rozšířená než CSIRT, ale operuje na podobný způsob</a:t>
            </a:r>
          </a:p>
          <a:p>
            <a:r>
              <a:rPr lang="cs-CZ" dirty="0"/>
              <a:t>Používá se třeba v UK, Finsku, Maďarsku a Nizozemsku</a:t>
            </a:r>
          </a:p>
          <a:p>
            <a:r>
              <a:rPr lang="cs-CZ" dirty="0"/>
              <a:t>Tým je hlavně určen pro státní účely</a:t>
            </a:r>
          </a:p>
          <a:p>
            <a:endParaRPr lang="cs-CZ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CFA49E-EC5D-A38F-9916-C552D6671F9F}"/>
              </a:ext>
            </a:extLst>
          </p:cNvPr>
          <p:cNvSpPr txBox="1">
            <a:spLocks/>
          </p:cNvSpPr>
          <p:nvPr/>
        </p:nvSpPr>
        <p:spPr>
          <a:xfrm>
            <a:off x="6096000" y="841076"/>
            <a:ext cx="4506225" cy="2764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b="1" dirty="0">
                <a:solidFill>
                  <a:schemeClr val="bg1"/>
                </a:solidFill>
                <a:highlight>
                  <a:srgbClr val="000000"/>
                </a:highlight>
              </a:rPr>
              <a:t>CFCS:</a:t>
            </a:r>
          </a:p>
          <a:p>
            <a:r>
              <a:rPr lang="cs-CZ" b="1" dirty="0"/>
              <a:t>C</a:t>
            </a:r>
            <a:r>
              <a:rPr lang="cs-CZ" dirty="0"/>
              <a:t>entre </a:t>
            </a:r>
            <a:r>
              <a:rPr lang="cs-CZ" b="1" dirty="0"/>
              <a:t>F</a:t>
            </a:r>
            <a:r>
              <a:rPr lang="cs-CZ" dirty="0"/>
              <a:t>or </a:t>
            </a:r>
            <a:r>
              <a:rPr lang="cs-CZ" b="1" dirty="0"/>
              <a:t>C</a:t>
            </a:r>
            <a:r>
              <a:rPr lang="cs-CZ" dirty="0"/>
              <a:t>yber </a:t>
            </a:r>
            <a:r>
              <a:rPr lang="cs-CZ" b="1" dirty="0"/>
              <a:t>S</a:t>
            </a:r>
            <a:r>
              <a:rPr lang="cs-CZ" dirty="0"/>
              <a:t>ecurity (NCSC)</a:t>
            </a:r>
          </a:p>
          <a:p>
            <a:r>
              <a:rPr lang="cs-CZ" dirty="0"/>
              <a:t>Sídlí v Dánsku a také je pod státem řízena</a:t>
            </a:r>
          </a:p>
          <a:p>
            <a:r>
              <a:rPr lang="cs-CZ" dirty="0"/>
              <a:t>Zaměřuje se na lodní dopravu</a:t>
            </a:r>
          </a:p>
          <a:p>
            <a:endParaRPr lang="cs-CZ" dirty="0"/>
          </a:p>
        </p:txBody>
      </p:sp>
      <p:pic>
        <p:nvPicPr>
          <p:cNvPr id="4102" name="Picture 6" descr="Centre for Cyber Security">
            <a:extLst>
              <a:ext uri="{FF2B5EF4-FFF2-40B4-BE49-F238E27FC236}">
                <a16:creationId xmlns:a16="http://schemas.microsoft.com/office/drawing/2014/main" id="{772A3A15-A95C-B97C-8396-62B1B1B097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7150"/>
          <a:stretch/>
        </p:blipFill>
        <p:spPr bwMode="auto">
          <a:xfrm>
            <a:off x="7272877" y="410294"/>
            <a:ext cx="2656127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Bolster your Cyber Security says the NCSC – Circle 2 Success">
            <a:extLst>
              <a:ext uri="{FF2B5EF4-FFF2-40B4-BE49-F238E27FC236}">
                <a16:creationId xmlns:a16="http://schemas.microsoft.com/office/drawing/2014/main" id="{150917FF-9044-6914-D072-681A90A27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147" y="2525031"/>
            <a:ext cx="2658733" cy="90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AE2F27-F32F-FDEB-70C2-FF76FCCC7525}"/>
              </a:ext>
            </a:extLst>
          </p:cNvPr>
          <p:cNvSpPr txBox="1">
            <a:spLocks/>
          </p:cNvSpPr>
          <p:nvPr/>
        </p:nvSpPr>
        <p:spPr>
          <a:xfrm>
            <a:off x="6265653" y="3787717"/>
            <a:ext cx="4506225" cy="27647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2800" b="1" dirty="0">
                <a:solidFill>
                  <a:schemeClr val="bg1"/>
                </a:solidFill>
                <a:highlight>
                  <a:srgbClr val="000000"/>
                </a:highlight>
              </a:rPr>
              <a:t>NKSC:</a:t>
            </a:r>
          </a:p>
          <a:p>
            <a:r>
              <a:rPr lang="cs-CZ" b="1" dirty="0"/>
              <a:t>N</a:t>
            </a:r>
            <a:r>
              <a:rPr lang="cs-CZ" dirty="0"/>
              <a:t>ational </a:t>
            </a:r>
            <a:r>
              <a:rPr lang="cs-CZ" b="1" dirty="0"/>
              <a:t>K</a:t>
            </a:r>
            <a:r>
              <a:rPr lang="cs-CZ" dirty="0"/>
              <a:t>yber </a:t>
            </a:r>
            <a:r>
              <a:rPr lang="cs-CZ" b="1" dirty="0"/>
              <a:t>S</a:t>
            </a:r>
            <a:r>
              <a:rPr lang="cs-CZ" dirty="0"/>
              <a:t>ecurity </a:t>
            </a:r>
            <a:r>
              <a:rPr lang="cs-CZ" b="1" dirty="0"/>
              <a:t>C</a:t>
            </a:r>
            <a:r>
              <a:rPr lang="cs-CZ" dirty="0"/>
              <a:t>entre (NKSC)</a:t>
            </a:r>
          </a:p>
          <a:p>
            <a:r>
              <a:rPr lang="cs-CZ" dirty="0"/>
              <a:t>Litevská hlavní síla v kybernetické bezpečnosti</a:t>
            </a:r>
          </a:p>
          <a:p>
            <a:r>
              <a:rPr lang="cs-CZ" dirty="0"/>
              <a:t>Spadá pod vládní </a:t>
            </a:r>
            <a:r>
              <a:rPr lang="cs-CZ" b="1" dirty="0"/>
              <a:t>NCSC</a:t>
            </a:r>
          </a:p>
          <a:p>
            <a:r>
              <a:rPr lang="cs-CZ" dirty="0"/>
              <a:t>Vydává statistyky hrozeb  </a:t>
            </a:r>
          </a:p>
          <a:p>
            <a:endParaRPr lang="cs-CZ" dirty="0"/>
          </a:p>
        </p:txBody>
      </p:sp>
      <p:pic>
        <p:nvPicPr>
          <p:cNvPr id="4106" name="Picture 10" descr="NCSC LT (@cert_lt) / X">
            <a:extLst>
              <a:ext uri="{FF2B5EF4-FFF2-40B4-BE49-F238E27FC236}">
                <a16:creationId xmlns:a16="http://schemas.microsoft.com/office/drawing/2014/main" id="{FF34C04D-C1CB-69CB-A0CB-1ABD61E3F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315" y="3605842"/>
            <a:ext cx="729022" cy="72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603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636F2-02FB-EB19-32EF-F3CB33433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Rozdíly mezi CERT, CSIRT, SOC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D22E8-E23E-3C2E-D920-847BA91DE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72" y="2095500"/>
            <a:ext cx="6339556" cy="3848100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Všechny týmy se zaměřují na stejnou problematiku, ale věnují se jiné části problematiky</a:t>
            </a:r>
          </a:p>
          <a:p>
            <a:r>
              <a:rPr lang="cs-CZ" dirty="0"/>
              <a:t>Názvy se někdy používají jako synonyma</a:t>
            </a:r>
          </a:p>
          <a:p>
            <a:r>
              <a:rPr lang="cs-CZ" b="1" dirty="0"/>
              <a:t>SOC</a:t>
            </a:r>
            <a:r>
              <a:rPr lang="cs-CZ" dirty="0"/>
              <a:t> se zaměřuje na ochranu koncových zařizení</a:t>
            </a:r>
          </a:p>
          <a:p>
            <a:r>
              <a:rPr lang="cs-CZ" b="1" dirty="0"/>
              <a:t>CERT a CSIRT </a:t>
            </a:r>
            <a:r>
              <a:rPr lang="cs-CZ" dirty="0"/>
              <a:t>se zaměřují na získání většího poruzumění o incidentech, vydávání dokumentací, spolupráce mezi týmy</a:t>
            </a:r>
          </a:p>
          <a:p>
            <a:r>
              <a:rPr lang="cs-CZ" b="1" dirty="0"/>
              <a:t>CERT</a:t>
            </a:r>
            <a:r>
              <a:rPr lang="cs-CZ" dirty="0"/>
              <a:t> se odlišuje od </a:t>
            </a:r>
            <a:r>
              <a:rPr lang="cs-CZ" b="1" dirty="0"/>
              <a:t>CSIRT</a:t>
            </a:r>
            <a:r>
              <a:rPr lang="cs-CZ" dirty="0"/>
              <a:t> tím, že CERT má ochrannou známku od Carnegie Mellon University, skupina odborníku získá tuto značku až po ověření universitou, ale to není podmínkou</a:t>
            </a:r>
          </a:p>
        </p:txBody>
      </p:sp>
      <p:pic>
        <p:nvPicPr>
          <p:cNvPr id="5122" name="Picture 2" descr="Image comparing CSIRT, CERT and SOC">
            <a:extLst>
              <a:ext uri="{FF2B5EF4-FFF2-40B4-BE49-F238E27FC236}">
                <a16:creationId xmlns:a16="http://schemas.microsoft.com/office/drawing/2014/main" id="{1DC26F98-7633-FE1A-E7E9-EF040FCF2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9" b="6559"/>
          <a:stretch/>
        </p:blipFill>
        <p:spPr bwMode="auto">
          <a:xfrm>
            <a:off x="7471618" y="2466109"/>
            <a:ext cx="4415582" cy="329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44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25D3-7501-DF4C-33F2-69CE09AE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11571-072E-FD1C-E572-35573D91E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71" y="2095499"/>
            <a:ext cx="11336429" cy="4486455"/>
          </a:xfrm>
        </p:spPr>
        <p:txBody>
          <a:bodyPr>
            <a:normAutofit fontScale="40000" lnSpcReduction="20000"/>
          </a:bodyPr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MAKUCH, Ben.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giphy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22.1.2024].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"/>
              </a:rPr>
              <a:t>https://giphy.com/gifs/cyberwar-5YcpdtrcwIARW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KIKE21.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MakeaGif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22.1.2024].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https://makeagif.com/gif/wannacry-wcry-ransomware-wcry-extension-60ZTfd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COMET.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Quora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22.1.2024].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https://www.quora.com/How-do-I-understand-if-there-is-a-hardware-problem-on-any-computer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RAUL654.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Wikipedia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22.1.2024].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https://en.wikipedia.org/wiki/Windows_XP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SIMON GRUNDY.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X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22.1.2024].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https://twitter.com/SimonGrundy/status/1543666650905514001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ptc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22.1.2024].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https://support.ptc.com/help/windchill/ptc_perf_adv/en/index.html#page/performance_advisor/data_not_available.htm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</a:t>
            </a: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https://chat.openai.com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M., Vlastimil.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Wikipedia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29.1.2024].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https://cs.wikipedia.org/wiki/CERT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About us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30.1.2024].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https://cert.europa.eu/about-us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Cekuj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3.3.2024].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1"/>
              </a:rPr>
              <a:t>http://www.ucebnice.cekuj.net/pos/07.html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nl-NL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DONEGAN, Katie. </a:t>
            </a:r>
            <a:r>
              <a:rPr lang="nl-NL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TechTarget</a:t>
            </a:r>
            <a:r>
              <a:rPr lang="nl-NL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3.3.2024]. Dostupný na WWW: </a:t>
            </a:r>
            <a:r>
              <a:rPr lang="nl-NL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2"/>
              </a:rPr>
              <a:t>https://www.techtarget.com/whatis/definition/Computer-Security-Incident-Response-Team-CSIRT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CSIRT NETWORK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3.3.2024].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3"/>
              </a:rPr>
              <a:t>https://csirtsnetwork.eu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PALOALTO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3.3.2024].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4"/>
              </a:rPr>
              <a:t>https://www.paloaltonetworks.com/cyberpedia/soc-roles-and-responsibilities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X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3.3.2024]. Dostupný na WWW: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5"/>
              </a:rPr>
              <a:t>https://www.google.com/url?sa=i&amp;url=https%3A%2F%2Ftwitter.com%2Fcert_lt&amp;psig=AOvVaw0fwSCikDxRJY5VPfsffvAo&amp;ust=1709575652881000&amp;source=images&amp;cd=vfe&amp;opi=89978449&amp;ved=0CBIQjRxqFwoTCPj0z97X2IQDFQAAAAAdAAAAABAD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ICO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3.3.2024].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6"/>
              </a:rPr>
              <a:t>https://ico.org.uk/for-organisations/the-guide-to-nis/the-role-of-the-national-cyber-security-centre-ncsc/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CFCS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3.3.2024].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7"/>
              </a:rPr>
              <a:t>https://www.cfcs.dk/en/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NKCS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3.3.2024].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8"/>
              </a:rPr>
              <a:t>https://www.nksc.lt/veikla.html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73610232"/>
      </p:ext>
    </p:extLst>
  </p:cSld>
  <p:clrMapOvr>
    <a:masterClrMapping/>
  </p:clrMapOvr>
</p:sld>
</file>

<file path=ppt/theme/theme1.xml><?xml version="1.0" encoding="utf-8"?>
<a:theme xmlns:a="http://schemas.openxmlformats.org/drawingml/2006/main" name="CitationVTI">
  <a:themeElements>
    <a:clrScheme name="AnalogousFromDarkSeedLeftStep">
      <a:dk1>
        <a:srgbClr val="000000"/>
      </a:dk1>
      <a:lt1>
        <a:srgbClr val="FFFFFF"/>
      </a:lt1>
      <a:dk2>
        <a:srgbClr val="311C21"/>
      </a:dk2>
      <a:lt2>
        <a:srgbClr val="F0F3F3"/>
      </a:lt2>
      <a:accent1>
        <a:srgbClr val="DE4C32"/>
      </a:accent1>
      <a:accent2>
        <a:srgbClr val="CC204D"/>
      </a:accent2>
      <a:accent3>
        <a:srgbClr val="DE32A7"/>
      </a:accent3>
      <a:accent4>
        <a:srgbClr val="BC20CC"/>
      </a:accent4>
      <a:accent5>
        <a:srgbClr val="8532DE"/>
      </a:accent5>
      <a:accent6>
        <a:srgbClr val="4237D2"/>
      </a:accent6>
      <a:hlink>
        <a:srgbClr val="923FBF"/>
      </a:hlink>
      <a:folHlink>
        <a:srgbClr val="7F7F7F"/>
      </a:folHlink>
    </a:clrScheme>
    <a:fontScheme name="Grandview">
      <a:majorFont>
        <a:latin typeface="Grandview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ationVTI" id="{4899D957-8B31-4AB5-A19D-CB0353FFB667}" vid="{430294D6-2412-4BD3-B567-F0976EA4931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5" ma:contentTypeDescription="Vytvoří nový dokument" ma:contentTypeScope="" ma:versionID="f379f4fd90eb27ba448eca6c6a672d96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0f8f7346f6248bda9632f19c27f7b52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967C772A-B465-4438-AD92-C7E7E25FC3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3CCE24-9514-4C07-8C6F-9135582DE1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E46E968-2618-420D-9191-252F2366501F}">
  <ds:schemaRefs>
    <ds:schemaRef ds:uri="8716bbdc-2b9e-4b6c-9f5d-91220b825f80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5f220dc0-27a6-4f79-8ef7-91d1414d0c8a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1444</Words>
  <Application>Microsoft Office PowerPoint</Application>
  <PresentationFormat>Širokoúhlá obrazovka</PresentationFormat>
  <Paragraphs>146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9" baseType="lpstr">
      <vt:lpstr>Arial</vt:lpstr>
      <vt:lpstr>Grandview</vt:lpstr>
      <vt:lpstr>Grandview Display</vt:lpstr>
      <vt:lpstr>CitationVTI</vt:lpstr>
      <vt:lpstr>CERT, CSIRT  &amp;  zabezpečovací týmy</vt:lpstr>
      <vt:lpstr>Co to jsou zabezpečovací týmy</vt:lpstr>
      <vt:lpstr>Financování týmů</vt:lpstr>
      <vt:lpstr>incidenty</vt:lpstr>
      <vt:lpstr>incidenty</vt:lpstr>
      <vt:lpstr>incidenty</vt:lpstr>
      <vt:lpstr>incidenty</vt:lpstr>
      <vt:lpstr>CERT</vt:lpstr>
      <vt:lpstr>CERT - EU</vt:lpstr>
      <vt:lpstr>CSirt</vt:lpstr>
      <vt:lpstr>CSirt</vt:lpstr>
      <vt:lpstr>SOC</vt:lpstr>
      <vt:lpstr>Ostatní týmy</vt:lpstr>
      <vt:lpstr>Rozdíly mezi CERT, CSIRT, SOC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