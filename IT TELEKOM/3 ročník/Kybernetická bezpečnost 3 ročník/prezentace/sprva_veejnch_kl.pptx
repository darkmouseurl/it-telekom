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sldIdLst>
    <p:sldId id="256" r:id="rId5"/>
    <p:sldId id="261" r:id="rId6"/>
    <p:sldId id="260" r:id="rId7"/>
    <p:sldId id="257" r:id="rId8"/>
    <p:sldId id="271" r:id="rId9"/>
    <p:sldId id="258" r:id="rId10"/>
    <p:sldId id="262" r:id="rId11"/>
    <p:sldId id="259" r:id="rId12"/>
    <p:sldId id="272" r:id="rId13"/>
    <p:sldId id="263" r:id="rId14"/>
    <p:sldId id="264" r:id="rId15"/>
    <p:sldId id="265" r:id="rId16"/>
    <p:sldId id="267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20B77-2ACB-D5C5-7AD1-776A229DB508}" v="1" dt="2024-03-22T10:46:05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RASZYK" userId="S::jakub.raszyk@teleinformatika.eu::77228fa8-acd4-4343-a1b9-3979ae8739fd" providerId="AD" clId="Web-{0E5A44E7-1F05-2A4C-8ADA-4F5A1B8EB6A0}"/>
    <pc:docChg chg="addSld delSld">
      <pc:chgData name="Jakub RASZYK" userId="S::jakub.raszyk@teleinformatika.eu::77228fa8-acd4-4343-a1b9-3979ae8739fd" providerId="AD" clId="Web-{0E5A44E7-1F05-2A4C-8ADA-4F5A1B8EB6A0}" dt="2024-03-07T10:13:58.765" v="1"/>
      <pc:docMkLst>
        <pc:docMk/>
      </pc:docMkLst>
      <pc:sldChg chg="new del">
        <pc:chgData name="Jakub RASZYK" userId="S::jakub.raszyk@teleinformatika.eu::77228fa8-acd4-4343-a1b9-3979ae8739fd" providerId="AD" clId="Web-{0E5A44E7-1F05-2A4C-8ADA-4F5A1B8EB6A0}" dt="2024-03-07T10:13:58.765" v="1"/>
        <pc:sldMkLst>
          <pc:docMk/>
          <pc:sldMk cId="1763788276" sldId="274"/>
        </pc:sldMkLst>
      </pc:sldChg>
    </pc:docChg>
  </pc:docChgLst>
  <pc:docChgLst>
    <pc:chgData name="Adam MATUŠEK" userId="S::adam.matusek@teleinformatika.eu::9ebaaa67-45be-46c4-a06c-84f6cefeca6a" providerId="AD" clId="Web-{25420B77-2ACB-D5C5-7AD1-776A229DB508}"/>
    <pc:docChg chg="modSld">
      <pc:chgData name="Adam MATUŠEK" userId="S::adam.matusek@teleinformatika.eu::9ebaaa67-45be-46c4-a06c-84f6cefeca6a" providerId="AD" clId="Web-{25420B77-2ACB-D5C5-7AD1-776A229DB508}" dt="2024-03-22T10:46:05.210" v="0" actId="1076"/>
      <pc:docMkLst>
        <pc:docMk/>
      </pc:docMkLst>
      <pc:sldChg chg="modSp">
        <pc:chgData name="Adam MATUŠEK" userId="S::adam.matusek@teleinformatika.eu::9ebaaa67-45be-46c4-a06c-84f6cefeca6a" providerId="AD" clId="Web-{25420B77-2ACB-D5C5-7AD1-776A229DB508}" dt="2024-03-22T10:46:05.210" v="0" actId="1076"/>
        <pc:sldMkLst>
          <pc:docMk/>
          <pc:sldMk cId="4087010693" sldId="262"/>
        </pc:sldMkLst>
        <pc:picChg chg="mod">
          <ac:chgData name="Adam MATUŠEK" userId="S::adam.matusek@teleinformatika.eu::9ebaaa67-45be-46c4-a06c-84f6cefeca6a" providerId="AD" clId="Web-{25420B77-2ACB-D5C5-7AD1-776A229DB508}" dt="2024-03-22T10:46:05.210" v="0" actId="1076"/>
          <ac:picMkLst>
            <pc:docMk/>
            <pc:sldMk cId="4087010693" sldId="262"/>
            <ac:picMk id="5" creationId="{62E54085-650C-292E-8EEA-C1E438C66FD3}"/>
          </ac:picMkLst>
        </pc:picChg>
      </pc:sldChg>
    </pc:docChg>
  </pc:docChgLst>
  <pc:docChgLst>
    <pc:chgData name="Jakub RASZYK" userId="S::jakub.raszyk@teleinformatika.eu::77228fa8-acd4-4343-a1b9-3979ae8739fd" providerId="AD" clId="Web-{02C4E82C-F5BB-1A98-C60B-D03540736949}"/>
    <pc:docChg chg="modSld">
      <pc:chgData name="Jakub RASZYK" userId="S::jakub.raszyk@teleinformatika.eu::77228fa8-acd4-4343-a1b9-3979ae8739fd" providerId="AD" clId="Web-{02C4E82C-F5BB-1A98-C60B-D03540736949}" dt="2024-03-17T11:09:35.533" v="10" actId="20577"/>
      <pc:docMkLst>
        <pc:docMk/>
      </pc:docMkLst>
      <pc:sldChg chg="modSp">
        <pc:chgData name="Jakub RASZYK" userId="S::jakub.raszyk@teleinformatika.eu::77228fa8-acd4-4343-a1b9-3979ae8739fd" providerId="AD" clId="Web-{02C4E82C-F5BB-1A98-C60B-D03540736949}" dt="2024-03-17T11:09:35.533" v="10" actId="20577"/>
        <pc:sldMkLst>
          <pc:docMk/>
          <pc:sldMk cId="2269239401" sldId="271"/>
        </pc:sldMkLst>
        <pc:spChg chg="mod">
          <ac:chgData name="Jakub RASZYK" userId="S::jakub.raszyk@teleinformatika.eu::77228fa8-acd4-4343-a1b9-3979ae8739fd" providerId="AD" clId="Web-{02C4E82C-F5BB-1A98-C60B-D03540736949}" dt="2024-03-17T11:08:59.766" v="5" actId="1076"/>
          <ac:spMkLst>
            <pc:docMk/>
            <pc:sldMk cId="2269239401" sldId="271"/>
            <ac:spMk id="2" creationId="{9AD5D809-3A4E-4554-CE06-1417E3001239}"/>
          </ac:spMkLst>
        </pc:spChg>
        <pc:spChg chg="mod">
          <ac:chgData name="Jakub RASZYK" userId="S::jakub.raszyk@teleinformatika.eu::77228fa8-acd4-4343-a1b9-3979ae8739fd" providerId="AD" clId="Web-{02C4E82C-F5BB-1A98-C60B-D03540736949}" dt="2024-03-17T11:09:35.533" v="10" actId="20577"/>
          <ac:spMkLst>
            <pc:docMk/>
            <pc:sldMk cId="2269239401" sldId="271"/>
            <ac:spMk id="108" creationId="{7C57A5A0-317A-F787-7B3D-69AEDD47CBAD}"/>
          </ac:spMkLst>
        </pc:spChg>
        <pc:picChg chg="mod">
          <ac:chgData name="Jakub RASZYK" userId="S::jakub.raszyk@teleinformatika.eu::77228fa8-acd4-4343-a1b9-3979ae8739fd" providerId="AD" clId="Web-{02C4E82C-F5BB-1A98-C60B-D03540736949}" dt="2024-03-17T11:08:57.110" v="4" actId="1076"/>
          <ac:picMkLst>
            <pc:docMk/>
            <pc:sldMk cId="2269239401" sldId="271"/>
            <ac:picMk id="100" creationId="{9BF9AE56-5B6D-2D4D-7094-9A7C5C400A4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060E-6E06-47A8-9C66-888A72643B2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8362E-7CF6-497B-B7B2-1E67E3477E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2481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060E-6E06-47A8-9C66-888A72643B2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8362E-7CF6-497B-B7B2-1E67E3477E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422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060E-6E06-47A8-9C66-888A72643B2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8362E-7CF6-497B-B7B2-1E67E3477E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705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060E-6E06-47A8-9C66-888A72643B2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8362E-7CF6-497B-B7B2-1E67E3477E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79815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060E-6E06-47A8-9C66-888A72643B2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8362E-7CF6-497B-B7B2-1E67E3477E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202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060E-6E06-47A8-9C66-888A72643B2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8362E-7CF6-497B-B7B2-1E67E3477E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7438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060E-6E06-47A8-9C66-888A72643B2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8362E-7CF6-497B-B7B2-1E67E3477E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9916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060E-6E06-47A8-9C66-888A72643B2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8362E-7CF6-497B-B7B2-1E67E3477E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213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060E-6E06-47A8-9C66-888A72643B2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8362E-7CF6-497B-B7B2-1E67E3477E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546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060E-6E06-47A8-9C66-888A72643B2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8362E-7CF6-497B-B7B2-1E67E3477E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905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060E-6E06-47A8-9C66-888A72643B2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8362E-7CF6-497B-B7B2-1E67E3477E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1428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7060E-6E06-47A8-9C66-888A72643B2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8362E-7CF6-497B-B7B2-1E67E3477E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83745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epai.org/" TargetMode="External"/><Relationship Id="rId5" Type="http://schemas.openxmlformats.org/officeDocument/2006/relationships/hyperlink" Target="https://www.systemonline.cz/it-security/asymetricka-kryptografie-v-praxi.htm" TargetMode="External"/><Relationship Id="rId4" Type="http://schemas.openxmlformats.org/officeDocument/2006/relationships/hyperlink" Target="https://www.karlin.mff.cuni.cz/~kadlcak/lessons/pozn/PKI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 descr="Obsah obrázku snímek obrazovky, osoba, kapuce&#10;&#10;Popis byl vytvořen automaticky">
            <a:extLst>
              <a:ext uri="{FF2B5EF4-FFF2-40B4-BE49-F238E27FC236}">
                <a16:creationId xmlns:a16="http://schemas.microsoft.com/office/drawing/2014/main" id="{75A4A074-7E09-E228-A724-DBF9525E4F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17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B12F4AFC-1E12-6A2C-519E-462FA7390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cs-CZ" b="1" i="0" dirty="0">
                <a:effectLst/>
                <a:latin typeface="Constantia"/>
                <a:cs typeface="Aharoni"/>
              </a:rPr>
              <a:t>Správa a distribuce veřejných klíčů </a:t>
            </a:r>
            <a:endParaRPr lang="cs-CZ" b="1" dirty="0">
              <a:latin typeface="Constantia"/>
              <a:cs typeface="Aharoni"/>
            </a:endParaRPr>
          </a:p>
        </p:txBody>
      </p:sp>
    </p:spTree>
    <p:extLst>
      <p:ext uri="{BB962C8B-B14F-4D97-AF65-F5344CB8AC3E}">
        <p14:creationId xmlns:p14="http://schemas.microsoft.com/office/powerpoint/2010/main" val="3926342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Obsah obrázku pokrývka hlavy, klobouk, fedora, osoba&#10;&#10;Popis se vygeneroval automaticky.">
            <a:extLst>
              <a:ext uri="{FF2B5EF4-FFF2-40B4-BE49-F238E27FC236}">
                <a16:creationId xmlns:a16="http://schemas.microsoft.com/office/drawing/2014/main" id="{07A589FC-C5CE-4AF5-A480-8DE606201A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-73446" y="-1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87AEFCF4-4AD3-B3D5-591D-03F5B98A9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>
            <a:normAutofit/>
          </a:bodyPr>
          <a:lstStyle/>
          <a:p>
            <a:pPr algn="r"/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</a:rPr>
              <a:t>Co tento pojem znamená?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BCB5C51-DB8E-03FD-AB5A-A90123488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41" y="1065862"/>
            <a:ext cx="3860002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cs-CZ" sz="2000" b="0" i="0" dirty="0">
              <a:solidFill>
                <a:srgbClr val="FFFFFF"/>
              </a:solidFill>
              <a:effectLst/>
              <a:latin typeface="Constantia" panose="02030602050306030303" pitchFamily="18" charset="0"/>
            </a:endParaRPr>
          </a:p>
          <a:p>
            <a:r>
              <a:rPr lang="cs-CZ" sz="2000" b="0" i="0" dirty="0">
                <a:solidFill>
                  <a:srgbClr val="FFFFFF"/>
                </a:solidFill>
                <a:effectLst/>
                <a:latin typeface="Constantia"/>
              </a:rPr>
              <a:t>Správa a distribuce veřejných</a:t>
            </a:r>
            <a:r>
              <a:rPr lang="cs-CZ" sz="2000" dirty="0">
                <a:solidFill>
                  <a:srgbClr val="FFFFFF"/>
                </a:solidFill>
                <a:latin typeface="Constantia"/>
              </a:rPr>
              <a:t> </a:t>
            </a:r>
            <a:r>
              <a:rPr lang="cs-CZ" sz="2000" b="0" i="0" dirty="0">
                <a:solidFill>
                  <a:srgbClr val="FFFFFF"/>
                </a:solidFill>
                <a:effectLst/>
                <a:latin typeface="Constantia"/>
              </a:rPr>
              <a:t>klíčů</a:t>
            </a:r>
            <a:r>
              <a:rPr lang="cs-CZ" sz="2000" dirty="0">
                <a:solidFill>
                  <a:srgbClr val="FFFFFF"/>
                </a:solidFill>
                <a:latin typeface="Constantia"/>
              </a:rPr>
              <a:t> </a:t>
            </a:r>
            <a:r>
              <a:rPr lang="cs-CZ" sz="2000" b="0" i="0" dirty="0">
                <a:solidFill>
                  <a:srgbClr val="FFFFFF"/>
                </a:solidFill>
                <a:effectLst/>
                <a:latin typeface="Constantia"/>
              </a:rPr>
              <a:t>zajišťuje bezpečnou komunikaci a</a:t>
            </a:r>
            <a:r>
              <a:rPr lang="cs-CZ" sz="2000" dirty="0">
                <a:solidFill>
                  <a:srgbClr val="FFFFFF"/>
                </a:solidFill>
                <a:latin typeface="Constantia"/>
              </a:rPr>
              <a:t> </a:t>
            </a:r>
            <a:r>
              <a:rPr lang="cs-CZ" sz="2000" b="0" i="0" dirty="0">
                <a:solidFill>
                  <a:srgbClr val="FFFFFF"/>
                </a:solidFill>
                <a:effectLst/>
                <a:latin typeface="Constantia"/>
              </a:rPr>
              <a:t>šifrování dat prostřednictvím generování</a:t>
            </a:r>
            <a:endParaRPr lang="cs-CZ" sz="2000" dirty="0">
              <a:solidFill>
                <a:srgbClr val="FFFFFF"/>
              </a:solidFill>
              <a:latin typeface="Constantia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cs-CZ" sz="2000" b="0" i="0" dirty="0">
              <a:solidFill>
                <a:srgbClr val="FFFFFF"/>
              </a:solidFill>
              <a:effectLst/>
              <a:latin typeface="Constantia" panose="02030602050306030303" pitchFamily="18" charset="0"/>
            </a:endParaRPr>
          </a:p>
          <a:p>
            <a:pPr marL="0" indent="0">
              <a:buNone/>
            </a:pPr>
            <a:endParaRPr lang="cs-CZ" sz="2000" dirty="0">
              <a:solidFill>
                <a:srgbClr val="FFFFFF"/>
              </a:solidFill>
              <a:latin typeface="Constantia" panose="02030602050306030303" pitchFamily="18" charset="0"/>
            </a:endParaRPr>
          </a:p>
          <a:p>
            <a:r>
              <a:rPr lang="cs-CZ" sz="2000" dirty="0">
                <a:solidFill>
                  <a:srgbClr val="FFFFFF"/>
                </a:solidFill>
                <a:latin typeface="Constantia"/>
              </a:rPr>
              <a:t>U</a:t>
            </a:r>
            <a:r>
              <a:rPr lang="cs-CZ" sz="2000" b="0" i="0" dirty="0">
                <a:solidFill>
                  <a:srgbClr val="FFFFFF"/>
                </a:solidFill>
                <a:effectLst/>
                <a:latin typeface="Constantia"/>
              </a:rPr>
              <a:t>chovávání a správy klíčů </a:t>
            </a:r>
            <a:r>
              <a:rPr lang="cs-CZ" sz="2000" dirty="0">
                <a:solidFill>
                  <a:srgbClr val="FFFFFF"/>
                </a:solidFill>
                <a:latin typeface="Constantia"/>
              </a:rPr>
              <a:t>pro šifrování </a:t>
            </a:r>
            <a:r>
              <a:rPr lang="cs-CZ" sz="2000" b="0" i="0" dirty="0">
                <a:solidFill>
                  <a:srgbClr val="FFFFFF"/>
                </a:solidFill>
                <a:effectLst/>
                <a:latin typeface="Constantia"/>
              </a:rPr>
              <a:t>zpráv mezi </a:t>
            </a:r>
            <a:r>
              <a:rPr lang="cs-CZ" sz="2000" dirty="0">
                <a:solidFill>
                  <a:srgbClr val="FFFFFF"/>
                </a:solidFill>
                <a:latin typeface="Constantia"/>
              </a:rPr>
              <a:t>uživateli. Cílem</a:t>
            </a:r>
            <a:r>
              <a:rPr lang="cs-CZ" sz="2000" b="0" i="0" dirty="0">
                <a:solidFill>
                  <a:srgbClr val="FFFFFF"/>
                </a:solidFill>
                <a:effectLst/>
                <a:latin typeface="Constantia"/>
              </a:rPr>
              <a:t> je chránit</a:t>
            </a:r>
            <a:r>
              <a:rPr lang="cs-CZ" sz="2000" dirty="0">
                <a:solidFill>
                  <a:srgbClr val="FFFFFF"/>
                </a:solidFill>
                <a:latin typeface="Constantia"/>
              </a:rPr>
              <a:t> </a:t>
            </a:r>
            <a:r>
              <a:rPr lang="cs-CZ" sz="2000" b="0" i="0" dirty="0">
                <a:solidFill>
                  <a:srgbClr val="FFFFFF"/>
                </a:solidFill>
                <a:effectLst/>
                <a:latin typeface="Constantia"/>
              </a:rPr>
              <a:t>data před útoky a</a:t>
            </a:r>
            <a:r>
              <a:rPr lang="cs-CZ" sz="2000" dirty="0">
                <a:solidFill>
                  <a:srgbClr val="FFFFFF"/>
                </a:solidFill>
                <a:latin typeface="Constantia"/>
              </a:rPr>
              <a:t> </a:t>
            </a:r>
            <a:r>
              <a:rPr lang="cs-CZ" sz="2000" b="0" i="0" dirty="0">
                <a:solidFill>
                  <a:srgbClr val="FFFFFF"/>
                </a:solidFill>
                <a:effectLst/>
                <a:latin typeface="Constantia"/>
              </a:rPr>
              <a:t>neoprávněným přístupem.</a:t>
            </a:r>
            <a:endParaRPr lang="cs-CZ" sz="20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004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Zástupný symbol obrázku 5" descr="Obsah obrázku text, osoba, světlo&#10;&#10;Popis byl vytvořen automaticky">
            <a:extLst>
              <a:ext uri="{FF2B5EF4-FFF2-40B4-BE49-F238E27FC236}">
                <a16:creationId xmlns:a16="http://schemas.microsoft.com/office/drawing/2014/main" id="{EFDC8856-747D-27A8-5B0A-F197C2E513C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1A348964-DA7D-2279-427F-3C41E4784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98" y="1065862"/>
            <a:ext cx="6576256" cy="472627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r"/>
            <a:r>
              <a:rPr lang="en-US" sz="6200" dirty="0">
                <a:ln w="22225">
                  <a:solidFill>
                    <a:srgbClr val="FFFFFF"/>
                  </a:solidFill>
                </a:ln>
                <a:latin typeface="Constantia"/>
              </a:rPr>
              <a:t> </a:t>
            </a:r>
            <a:r>
              <a:rPr lang="en-US" sz="8900" dirty="0">
                <a:ln w="22225">
                  <a:solidFill>
                    <a:srgbClr val="FFFFFF"/>
                  </a:solidFill>
                </a:ln>
                <a:latin typeface="Constantia"/>
              </a:rPr>
              <a:t>Jak </a:t>
            </a:r>
            <a:r>
              <a:rPr lang="en-US" sz="8900" err="1">
                <a:ln w="22225">
                  <a:solidFill>
                    <a:srgbClr val="FFFFFF"/>
                  </a:solidFill>
                </a:ln>
                <a:latin typeface="Constantia"/>
              </a:rPr>
              <a:t>spravovat</a:t>
            </a:r>
            <a:r>
              <a:rPr lang="en-US" sz="8900" dirty="0">
                <a:ln w="22225">
                  <a:solidFill>
                    <a:srgbClr val="FFFFFF"/>
                  </a:solidFill>
                </a:ln>
                <a:latin typeface="Constantia"/>
              </a:rPr>
              <a:t> a </a:t>
            </a:r>
            <a:r>
              <a:rPr lang="en-US" sz="8900" err="1">
                <a:ln w="22225">
                  <a:solidFill>
                    <a:srgbClr val="FFFFFF"/>
                  </a:solidFill>
                </a:ln>
                <a:latin typeface="Constantia"/>
              </a:rPr>
              <a:t>distribuovat</a:t>
            </a:r>
            <a:r>
              <a:rPr lang="en-US" sz="8900" dirty="0">
                <a:ln w="22225">
                  <a:solidFill>
                    <a:srgbClr val="FFFFFF"/>
                  </a:solidFill>
                </a:ln>
                <a:latin typeface="Constantia"/>
              </a:rPr>
              <a:t> </a:t>
            </a:r>
            <a:r>
              <a:rPr lang="en-US" sz="8900" err="1">
                <a:ln w="22225">
                  <a:solidFill>
                    <a:srgbClr val="FFFFFF"/>
                  </a:solidFill>
                </a:ln>
                <a:latin typeface="Constantia"/>
              </a:rPr>
              <a:t>veřejné</a:t>
            </a:r>
            <a:r>
              <a:rPr lang="en-US" sz="8900" dirty="0">
                <a:ln w="22225">
                  <a:solidFill>
                    <a:srgbClr val="FFFFFF"/>
                  </a:solidFill>
                </a:ln>
                <a:latin typeface="Constantia"/>
              </a:rPr>
              <a:t> </a:t>
            </a:r>
            <a:r>
              <a:rPr lang="en-US" sz="8900" err="1">
                <a:ln w="22225">
                  <a:solidFill>
                    <a:srgbClr val="FFFFFF"/>
                  </a:solidFill>
                </a:ln>
                <a:latin typeface="Constantia"/>
              </a:rPr>
              <a:t>klíče</a:t>
            </a:r>
            <a:r>
              <a:rPr lang="en-US" sz="8900" dirty="0">
                <a:ln w="22225">
                  <a:solidFill>
                    <a:srgbClr val="FFFFFF"/>
                  </a:solidFill>
                </a:ln>
                <a:latin typeface="Constantia"/>
              </a:rPr>
              <a:t>?</a:t>
            </a:r>
            <a:endParaRPr lang="en-US" sz="8900" dirty="0" err="1">
              <a:ln w="22225">
                <a:solidFill>
                  <a:srgbClr val="FFFFFF"/>
                </a:solidFill>
              </a:ln>
              <a:latin typeface="Constantia"/>
              <a:ea typeface="Calibri Light"/>
              <a:cs typeface="Calibri Ligh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BFB76A8-AF3E-1EA5-34CC-BDB0B8CAC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34641" y="1065862"/>
            <a:ext cx="3860002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2000" b="1" err="1">
                <a:solidFill>
                  <a:srgbClr val="FFFFFF"/>
                </a:solidFill>
                <a:latin typeface="Constantia"/>
              </a:rPr>
              <a:t>Certifikační</a:t>
            </a:r>
            <a:r>
              <a:rPr lang="en-US" sz="2000" b="1" dirty="0">
                <a:solidFill>
                  <a:srgbClr val="FFFFFF"/>
                </a:solidFill>
                <a:latin typeface="Constantia"/>
              </a:rPr>
              <a:t> </a:t>
            </a:r>
            <a:r>
              <a:rPr lang="en-US" sz="2000" b="1" err="1">
                <a:solidFill>
                  <a:srgbClr val="FFFFFF"/>
                </a:solidFill>
                <a:latin typeface="Constantia"/>
              </a:rPr>
              <a:t>autorita</a:t>
            </a:r>
            <a:endParaRPr lang="en-US" sz="2000" b="1">
              <a:solidFill>
                <a:srgbClr val="FFFFFF"/>
              </a:solidFill>
              <a:latin typeface="Constantia"/>
            </a:endParaRPr>
          </a:p>
          <a:p>
            <a:pPr marL="457200" indent="-22860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FFFFFF"/>
              </a:solidFill>
              <a:latin typeface="Constantia"/>
            </a:endParaRPr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Constantia"/>
              </a:rPr>
              <a:t>Web of Trust</a:t>
            </a:r>
          </a:p>
          <a:p>
            <a:pPr marL="457200" indent="-228600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FFFFFF"/>
              </a:solidFill>
              <a:effectLst/>
              <a:latin typeface="Constantia"/>
            </a:endParaRPr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2000" b="1" i="0" err="1">
                <a:solidFill>
                  <a:srgbClr val="FFFFFF"/>
                </a:solidFill>
                <a:effectLst/>
                <a:latin typeface="Constantia"/>
              </a:rPr>
              <a:t>Ruční</a:t>
            </a:r>
            <a:r>
              <a:rPr lang="en-US" sz="2000" b="1" i="0" dirty="0">
                <a:solidFill>
                  <a:srgbClr val="FFFFFF"/>
                </a:solidFill>
                <a:effectLst/>
                <a:latin typeface="Constantia"/>
              </a:rPr>
              <a:t> </a:t>
            </a:r>
            <a:r>
              <a:rPr lang="en-US" sz="2000" b="1" i="0" err="1">
                <a:solidFill>
                  <a:srgbClr val="FFFFFF"/>
                </a:solidFill>
                <a:effectLst/>
                <a:latin typeface="Constantia"/>
              </a:rPr>
              <a:t>výměna</a:t>
            </a:r>
            <a:r>
              <a:rPr lang="en-US" sz="2000" b="1" i="0" dirty="0">
                <a:solidFill>
                  <a:srgbClr val="FFFFFF"/>
                </a:solidFill>
                <a:effectLst/>
                <a:latin typeface="Constantia"/>
              </a:rPr>
              <a:t> </a:t>
            </a:r>
            <a:r>
              <a:rPr lang="en-US" sz="2000" b="1" i="0" err="1">
                <a:solidFill>
                  <a:srgbClr val="FFFFFF"/>
                </a:solidFill>
                <a:effectLst/>
                <a:latin typeface="Constantia"/>
              </a:rPr>
              <a:t>klíčů</a:t>
            </a:r>
            <a:endParaRPr lang="en-US" sz="2000" b="1">
              <a:solidFill>
                <a:srgbClr val="FFFFFF"/>
              </a:solidFill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257449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83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text, Grafika, snímek obrazovky, grafický design&#10;&#10;Popis se vygeneroval automaticky.">
            <a:extLst>
              <a:ext uri="{FF2B5EF4-FFF2-40B4-BE49-F238E27FC236}">
                <a16:creationId xmlns:a16="http://schemas.microsoft.com/office/drawing/2014/main" id="{C1F7D626-A388-7C99-0C78-EF981E8979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62000"/>
                    </a14:imgEffect>
                    <a14:imgEffect>
                      <a14:brightnessContrast bright="-48000" contrast="-4000"/>
                    </a14:imgEffect>
                  </a14:imgLayer>
                </a14:imgProps>
              </a:ext>
            </a:extLst>
          </a:blip>
          <a:srcRect t="8399" b="7331"/>
          <a:stretch/>
        </p:blipFill>
        <p:spPr>
          <a:xfrm>
            <a:off x="20" y="10"/>
            <a:ext cx="12021534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28D0F43-A153-4051-FE33-1CF491F5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57" y="2834740"/>
            <a:ext cx="10515600" cy="1325563"/>
          </a:xfrm>
          <a:ln>
            <a:noFill/>
          </a:ln>
        </p:spPr>
        <p:txBody>
          <a:bodyPr>
            <a:noAutofit/>
          </a:bodyPr>
          <a:lstStyle/>
          <a:p>
            <a:r>
              <a:rPr lang="cs-CZ" sz="8000" dirty="0">
                <a:solidFill>
                  <a:srgbClr val="FFFFFF"/>
                </a:solidFill>
                <a:latin typeface="Constantia"/>
              </a:rPr>
              <a:t>Certifikační </a:t>
            </a:r>
            <a:br>
              <a:rPr lang="cs-CZ" sz="8000" dirty="0">
                <a:solidFill>
                  <a:srgbClr val="FFFFFF"/>
                </a:solidFill>
                <a:latin typeface="Constantia"/>
              </a:rPr>
            </a:br>
            <a:r>
              <a:rPr lang="cs-CZ" sz="8000" dirty="0">
                <a:solidFill>
                  <a:srgbClr val="FFFFFF"/>
                </a:solidFill>
                <a:latin typeface="Constantia"/>
              </a:rPr>
              <a:t> autorita</a:t>
            </a:r>
          </a:p>
        </p:txBody>
      </p:sp>
      <p:sp>
        <p:nvSpPr>
          <p:cNvPr id="179" name="Zástupný obsah 178">
            <a:extLst>
              <a:ext uri="{FF2B5EF4-FFF2-40B4-BE49-F238E27FC236}">
                <a16:creationId xmlns:a16="http://schemas.microsoft.com/office/drawing/2014/main" id="{AC5C2A0D-3F82-59BC-3170-B08427E38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2040" y="1659527"/>
            <a:ext cx="496126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spcBef>
                <a:spcPts val="0"/>
              </a:spcBef>
              <a:spcAft>
                <a:spcPts val="600"/>
              </a:spcAft>
            </a:pPr>
            <a:r>
              <a:rPr lang="cs-CZ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Používá se při vydávání digitálních certifikátů</a:t>
            </a:r>
            <a:endParaRPr lang="en-US" sz="2000">
              <a:solidFill>
                <a:srgbClr val="FFFFFF"/>
              </a:solidFill>
              <a:latin typeface="Constantia"/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cs-CZ" sz="2000" dirty="0">
              <a:solidFill>
                <a:srgbClr val="FFFFFF"/>
              </a:solidFill>
              <a:latin typeface="Constantia"/>
              <a:ea typeface="Calibri"/>
              <a:cs typeface="Calibri"/>
            </a:endParaRPr>
          </a:p>
          <a:p>
            <a:pPr marL="342900" indent="-342900">
              <a:spcBef>
                <a:spcPts val="0"/>
              </a:spcBef>
              <a:spcAft>
                <a:spcPts val="600"/>
              </a:spcAft>
            </a:pPr>
            <a:r>
              <a:rPr lang="cs-CZ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Certifikační autority jsou důvěryhodné organizace, které ověřují totožnost uživatele a vydávají certifikáty obsahující veřejný klíč</a:t>
            </a:r>
            <a:endParaRPr lang="en-US" sz="2000">
              <a:solidFill>
                <a:srgbClr val="FFFFFF"/>
              </a:solidFill>
              <a:latin typeface="Constantia"/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cs-CZ" sz="2000" dirty="0">
              <a:solidFill>
                <a:srgbClr val="FFFFFF"/>
              </a:solidFill>
              <a:latin typeface="Constantia"/>
              <a:ea typeface="Calibri"/>
              <a:cs typeface="Calibri"/>
            </a:endParaRPr>
          </a:p>
          <a:p>
            <a:pPr marL="342900" indent="-342900">
              <a:spcBef>
                <a:spcPts val="0"/>
              </a:spcBef>
              <a:spcAft>
                <a:spcPts val="600"/>
              </a:spcAft>
            </a:pPr>
            <a:r>
              <a:rPr lang="cs-CZ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Uživatelé mohou poté ověřit pravost veřejného klíče pomocí certifikátu, 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cs-CZ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   který je podepsán CA</a:t>
            </a:r>
          </a:p>
        </p:txBody>
      </p:sp>
      <p:cxnSp>
        <p:nvCxnSpPr>
          <p:cNvPr id="180" name="Přímá spojnice se šipkou 179">
            <a:extLst>
              <a:ext uri="{FF2B5EF4-FFF2-40B4-BE49-F238E27FC236}">
                <a16:creationId xmlns:a16="http://schemas.microsoft.com/office/drawing/2014/main" id="{50920210-4CCE-AFD4-0F2C-C5A82E16C19B}"/>
              </a:ext>
            </a:extLst>
          </p:cNvPr>
          <p:cNvCxnSpPr/>
          <p:nvPr/>
        </p:nvCxnSpPr>
        <p:spPr>
          <a:xfrm>
            <a:off x="6228952" y="1945662"/>
            <a:ext cx="16525" cy="275972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433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40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" name="Obrázek 99" descr="Obsah obrázku snímek obrazovky, světlo, Neon&#10;&#10;Popis se vygeneroval automaticky.">
            <a:extLst>
              <a:ext uri="{FF2B5EF4-FFF2-40B4-BE49-F238E27FC236}">
                <a16:creationId xmlns:a16="http://schemas.microsoft.com/office/drawing/2014/main" id="{9BF9AE56-5B6D-2D4D-7094-9A7C5C400A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b="15730"/>
          <a:stretch/>
        </p:blipFill>
        <p:spPr>
          <a:xfrm>
            <a:off x="-73192" y="56030"/>
            <a:ext cx="12191980" cy="6857999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9AD5D809-3A4E-4554-CE06-1417E3001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65009"/>
            <a:ext cx="6052955" cy="4726276"/>
          </a:xfrm>
        </p:spPr>
        <p:txBody>
          <a:bodyPr>
            <a:normAutofit/>
          </a:bodyPr>
          <a:lstStyle/>
          <a:p>
            <a:pPr algn="r"/>
            <a:r>
              <a:rPr lang="cs-CZ" sz="8000" baseline="0" dirty="0">
                <a:ln w="22225">
                  <a:solidFill>
                    <a:srgbClr val="FFFFFF"/>
                  </a:solidFill>
                </a:ln>
                <a:latin typeface="Constantia"/>
              </a:rPr>
              <a:t>Postup certifikační autority</a:t>
            </a:r>
            <a:r>
              <a:rPr lang="cs-CZ" sz="8000" baseline="0" dirty="0">
                <a:ln w="22225">
                  <a:solidFill>
                    <a:srgbClr val="FFFFFF"/>
                  </a:solidFill>
                </a:ln>
                <a:noFill/>
                <a:latin typeface="Constantia"/>
              </a:rPr>
              <a:t> </a:t>
            </a:r>
            <a:r>
              <a:rPr lang="cs-CZ" sz="8000" dirty="0">
                <a:ln w="22225">
                  <a:solidFill>
                    <a:srgbClr val="FFFFFF"/>
                  </a:solidFill>
                </a:ln>
                <a:noFill/>
                <a:latin typeface="Constantia"/>
                <a:ea typeface="Constantia"/>
                <a:cs typeface="Constantia"/>
              </a:rPr>
              <a:t>​</a:t>
            </a:r>
            <a:endParaRPr lang="cs-CZ" sz="8000" dirty="0">
              <a:ln w="22225">
                <a:solidFill>
                  <a:srgbClr val="FFFFFF"/>
                </a:solidFill>
              </a:ln>
              <a:noFill/>
            </a:endParaRPr>
          </a:p>
        </p:txBody>
      </p:sp>
      <p:cxnSp>
        <p:nvCxnSpPr>
          <p:cNvPr id="146" name="Straight Connector 142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Zástupný obsah 107">
            <a:extLst>
              <a:ext uri="{FF2B5EF4-FFF2-40B4-BE49-F238E27FC236}">
                <a16:creationId xmlns:a16="http://schemas.microsoft.com/office/drawing/2014/main" id="{7C57A5A0-317A-F787-7B3D-69AEDD47C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9168" y="642433"/>
            <a:ext cx="4416313" cy="39255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tantia"/>
                <a:ea typeface="Calibri"/>
                <a:cs typeface="Calibri"/>
              </a:rPr>
              <a:t>Žádost o certifikát</a:t>
            </a:r>
            <a:r>
              <a:rPr lang="cs-CZ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: Uživatel požádá o vydání digitálního certifikátu.  </a:t>
            </a:r>
            <a:endParaRPr lang="cs-CZ" dirty="0"/>
          </a:p>
          <a:p>
            <a:r>
              <a:rPr lang="cs-CZ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tantia"/>
                <a:ea typeface="Calibri"/>
                <a:cs typeface="Calibri"/>
              </a:rPr>
              <a:t>Ověřování totožnosti</a:t>
            </a:r>
            <a:r>
              <a:rPr lang="cs-CZ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: Certifikační autorita ověří pravost žadatele.  </a:t>
            </a:r>
            <a:endParaRPr lang="cs-CZ"/>
          </a:p>
          <a:p>
            <a:r>
              <a:rPr lang="cs-CZ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tantia"/>
                <a:ea typeface="Calibri"/>
                <a:cs typeface="Calibri"/>
              </a:rPr>
              <a:t>Vydání certifikátu</a:t>
            </a:r>
            <a:r>
              <a:rPr lang="cs-CZ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: Certifikační autorita vydá digitální certifikát s veřejným klíčem.  </a:t>
            </a:r>
          </a:p>
          <a:p>
            <a:r>
              <a:rPr lang="cs-CZ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tantia"/>
                <a:ea typeface="Calibri"/>
                <a:cs typeface="Calibri"/>
              </a:rPr>
              <a:t>Zveřejnění certifikátu</a:t>
            </a:r>
            <a:r>
              <a:rPr lang="cs-CZ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: Certifikační autorita zveřejní certifikát v veřejném registru pro ověření jeho pravosti.  </a:t>
            </a:r>
          </a:p>
          <a:p>
            <a:r>
              <a:rPr lang="cs-CZ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tantia"/>
                <a:ea typeface="Calibri"/>
                <a:cs typeface="Calibri"/>
              </a:rPr>
              <a:t>Ověření certifikátu</a:t>
            </a:r>
            <a:r>
              <a:rPr lang="cs-CZ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: Uživatelé mohou ověřit pravost certifikátu pomocí veřejného registru.  </a:t>
            </a:r>
          </a:p>
          <a:p>
            <a:r>
              <a:rPr lang="cs-CZ" sz="2000" dirty="0">
                <a:latin typeface="Constantia"/>
                <a:ea typeface="Calibri"/>
                <a:cs typeface="Calibri"/>
              </a:rPr>
              <a:t>Tímto procesem je zajištěna důvěryhodnost a bezpečnost komunikace pomocí veřejných klíčů vydávaných certifikační autoritou.</a:t>
            </a:r>
            <a:endParaRPr lang="cs-CZ" sz="2000" dirty="0"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226923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Obrázek 5" descr="Obsah obrázku Barevnost, kruh, snímek obrazovky, Grafika&#10;&#10;Popis se vygeneroval automaticky.">
            <a:extLst>
              <a:ext uri="{FF2B5EF4-FFF2-40B4-BE49-F238E27FC236}">
                <a16:creationId xmlns:a16="http://schemas.microsoft.com/office/drawing/2014/main" id="{FBC15505-F9B6-F46A-F978-046F12775B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8032" b="7698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solidFill>
            <a:srgbClr val="000000">
              <a:shade val="95000"/>
            </a:srgbClr>
          </a:solidFill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64F91E88-C6BF-B3B5-0DF4-BF3EA1D2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dirty="0">
                <a:ln w="22225">
                  <a:solidFill>
                    <a:srgbClr val="FFFFFF"/>
                  </a:solidFill>
                </a:ln>
                <a:latin typeface="Constantia"/>
              </a:rPr>
              <a:t>Web of </a:t>
            </a:r>
            <a:br>
              <a:rPr lang="en-US" sz="8000" dirty="0">
                <a:ln w="22225">
                  <a:solidFill>
                    <a:srgbClr val="FFFFFF"/>
                  </a:solidFill>
                </a:ln>
                <a:latin typeface="Constantia"/>
              </a:rPr>
            </a:br>
            <a:r>
              <a:rPr lang="en-US" sz="8000" dirty="0">
                <a:ln w="22225">
                  <a:solidFill>
                    <a:srgbClr val="FFFFFF"/>
                  </a:solidFill>
                </a:ln>
                <a:latin typeface="Constantia"/>
              </a:rPr>
              <a:t>Trust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ovéPole 4">
            <a:extLst>
              <a:ext uri="{FF2B5EF4-FFF2-40B4-BE49-F238E27FC236}">
                <a16:creationId xmlns:a16="http://schemas.microsoft.com/office/drawing/2014/main" id="{E95DFD2D-22C6-0F1F-8C0B-176F9A353212}"/>
              </a:ext>
            </a:extLst>
          </p:cNvPr>
          <p:cNvSpPr txBox="1"/>
          <p:nvPr/>
        </p:nvSpPr>
        <p:spPr>
          <a:xfrm>
            <a:off x="7382241" y="1065862"/>
            <a:ext cx="4733762" cy="50717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defTabSz="914400">
              <a:buFont typeface="Arial"/>
              <a:buChar char="•"/>
            </a:pPr>
            <a:r>
              <a:rPr lang="en-US" sz="2000" err="1">
                <a:latin typeface="Constantia"/>
                <a:ea typeface="Calibri"/>
                <a:cs typeface="Calibri"/>
              </a:rPr>
              <a:t>Decentralizovaný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r>
              <a:rPr lang="en-US" sz="2000" err="1">
                <a:latin typeface="Constantia"/>
                <a:ea typeface="Calibri"/>
                <a:cs typeface="Calibri"/>
              </a:rPr>
              <a:t>systém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r>
              <a:rPr lang="en-US" sz="2000" err="1">
                <a:latin typeface="Constantia"/>
                <a:ea typeface="Calibri"/>
                <a:cs typeface="Calibri"/>
              </a:rPr>
              <a:t>umožňuje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endParaRPr lang="cs-CZ">
              <a:latin typeface="Constantia"/>
              <a:ea typeface="Calibri" panose="020F0502020204030204"/>
              <a:cs typeface="Calibri" panose="020F0502020204030204"/>
            </a:endParaRPr>
          </a:p>
          <a:p>
            <a:pPr defTabSz="914400"/>
            <a:r>
              <a:rPr lang="en-US" sz="2000" dirty="0">
                <a:latin typeface="Constantia"/>
                <a:ea typeface="Calibri"/>
                <a:cs typeface="Calibri"/>
              </a:rPr>
              <a:t>      </a:t>
            </a:r>
            <a:r>
              <a:rPr lang="en-US" sz="2000" err="1">
                <a:latin typeface="Constantia"/>
                <a:ea typeface="Calibri"/>
                <a:cs typeface="Calibri"/>
              </a:rPr>
              <a:t>uživatelům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r>
              <a:rPr lang="en-US" sz="2000" err="1">
                <a:latin typeface="Constantia"/>
                <a:ea typeface="Calibri"/>
                <a:cs typeface="Calibri"/>
              </a:rPr>
              <a:t>udělovat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r>
              <a:rPr lang="en-US" sz="2000" err="1">
                <a:latin typeface="Constantia"/>
                <a:ea typeface="Calibri"/>
                <a:cs typeface="Calibri"/>
              </a:rPr>
              <a:t>důvěru</a:t>
            </a:r>
            <a:r>
              <a:rPr lang="en-US" sz="2000" dirty="0">
                <a:latin typeface="Constantia"/>
                <a:ea typeface="Calibri"/>
                <a:cs typeface="Calibri"/>
              </a:rPr>
              <a:t> a </a:t>
            </a:r>
            <a:endParaRPr lang="en-US">
              <a:latin typeface="Constantia"/>
              <a:ea typeface="Calibri"/>
              <a:cs typeface="Calibri"/>
            </a:endParaRPr>
          </a:p>
          <a:p>
            <a:pPr defTabSz="914400"/>
            <a:r>
              <a:rPr lang="en-US" sz="2000" dirty="0">
                <a:latin typeface="Constantia"/>
                <a:ea typeface="Calibri"/>
                <a:cs typeface="Calibri"/>
              </a:rPr>
              <a:t>   </a:t>
            </a:r>
            <a:r>
              <a:rPr lang="en-US" sz="2000" err="1">
                <a:latin typeface="Constantia"/>
                <a:ea typeface="Calibri"/>
                <a:cs typeface="Calibri"/>
              </a:rPr>
              <a:t>ověřovat</a:t>
            </a:r>
            <a:r>
              <a:rPr lang="en-US" sz="2000" dirty="0">
                <a:latin typeface="Constantia"/>
                <a:ea typeface="Calibri"/>
                <a:cs typeface="Calibri"/>
              </a:rPr>
              <a:t> identity </a:t>
            </a:r>
            <a:r>
              <a:rPr lang="en-US" sz="2000" err="1">
                <a:latin typeface="Constantia"/>
                <a:ea typeface="Calibri"/>
                <a:cs typeface="Calibri"/>
              </a:rPr>
              <a:t>ostatních</a:t>
            </a:r>
            <a:endParaRPr lang="en-US" sz="2000">
              <a:latin typeface="Constantia"/>
              <a:ea typeface="Calibri"/>
              <a:cs typeface="Calibri"/>
            </a:endParaRPr>
          </a:p>
          <a:p>
            <a:pPr defTabSz="914400">
              <a:buFont typeface="Arial" panose="020B0604020202020204" pitchFamily="34" charset="0"/>
              <a:buChar char="•"/>
            </a:pPr>
            <a:endParaRPr lang="en-US" sz="2000" dirty="0">
              <a:latin typeface="Constantia"/>
              <a:ea typeface="Calibri"/>
              <a:cs typeface="Calibri"/>
            </a:endParaRPr>
          </a:p>
          <a:p>
            <a:pPr marL="342900" indent="-342900" defTabSz="914400">
              <a:buFont typeface="Arial"/>
              <a:buChar char="•"/>
            </a:pPr>
            <a:r>
              <a:rPr lang="en-US" sz="2000" err="1">
                <a:latin typeface="Constantia"/>
                <a:ea typeface="Calibri"/>
                <a:cs typeface="Calibri"/>
              </a:rPr>
              <a:t>Využívá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r>
              <a:rPr lang="en-US" sz="2000" err="1">
                <a:latin typeface="Constantia"/>
                <a:ea typeface="Calibri"/>
                <a:cs typeface="Calibri"/>
              </a:rPr>
              <a:t>sdílených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r>
              <a:rPr lang="en-US" sz="2000" err="1">
                <a:latin typeface="Constantia"/>
                <a:ea typeface="Calibri"/>
                <a:cs typeface="Calibri"/>
              </a:rPr>
              <a:t>klíčů</a:t>
            </a:r>
            <a:r>
              <a:rPr lang="en-US" sz="2000" dirty="0">
                <a:latin typeface="Constantia"/>
                <a:ea typeface="Calibri"/>
                <a:cs typeface="Calibri"/>
              </a:rPr>
              <a:t>, </a:t>
            </a:r>
            <a:r>
              <a:rPr lang="en-US" sz="2000" err="1">
                <a:latin typeface="Constantia"/>
                <a:ea typeface="Calibri"/>
                <a:cs typeface="Calibri"/>
              </a:rPr>
              <a:t>certifikátů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endParaRPr lang="en-US">
              <a:latin typeface="Constantia"/>
              <a:ea typeface="Calibri"/>
              <a:cs typeface="Calibri"/>
            </a:endParaRPr>
          </a:p>
          <a:p>
            <a:pPr defTabSz="914400"/>
            <a:r>
              <a:rPr lang="en-US" sz="2000" dirty="0">
                <a:latin typeface="Constantia"/>
                <a:ea typeface="Calibri"/>
                <a:cs typeface="Calibri"/>
              </a:rPr>
              <a:t>    </a:t>
            </a:r>
            <a:r>
              <a:rPr lang="en-US" sz="2000" err="1">
                <a:latin typeface="Constantia"/>
                <a:ea typeface="Calibri"/>
                <a:cs typeface="Calibri"/>
              </a:rPr>
              <a:t>nebo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r>
              <a:rPr lang="en-US" sz="2000" err="1">
                <a:latin typeface="Constantia"/>
                <a:ea typeface="Calibri"/>
                <a:cs typeface="Calibri"/>
              </a:rPr>
              <a:t>potvrzení</a:t>
            </a:r>
            <a:r>
              <a:rPr lang="en-US" sz="2000" dirty="0">
                <a:latin typeface="Constantia"/>
                <a:ea typeface="Calibri"/>
                <a:cs typeface="Calibri"/>
              </a:rPr>
              <a:t> identity</a:t>
            </a:r>
            <a:endParaRPr lang="en-US">
              <a:latin typeface="Constantia"/>
              <a:ea typeface="Calibri"/>
              <a:cs typeface="Calibri"/>
            </a:endParaRPr>
          </a:p>
          <a:p>
            <a:pPr defTabSz="914400">
              <a:buFont typeface="Arial" panose="020B0604020202020204" pitchFamily="34" charset="0"/>
              <a:buChar char="•"/>
            </a:pPr>
            <a:endParaRPr lang="en-US" sz="2000" dirty="0">
              <a:latin typeface="Constantia"/>
              <a:ea typeface="Calibri"/>
              <a:cs typeface="Calibri"/>
            </a:endParaRPr>
          </a:p>
          <a:p>
            <a:pPr marL="342900" indent="-342900" defTabSz="914400">
              <a:buFont typeface="Arial"/>
              <a:buChar char="•"/>
            </a:pPr>
            <a:r>
              <a:rPr lang="en-US" sz="2000" err="1">
                <a:latin typeface="Constantia"/>
                <a:ea typeface="Calibri"/>
                <a:cs typeface="Calibri"/>
              </a:rPr>
              <a:t>Tím</a:t>
            </a:r>
            <a:r>
              <a:rPr lang="en-US" sz="2000" dirty="0">
                <a:latin typeface="Constantia"/>
                <a:ea typeface="Calibri"/>
                <a:cs typeface="Calibri"/>
              </a:rPr>
              <a:t> se </a:t>
            </a:r>
            <a:r>
              <a:rPr lang="en-US" sz="2000" err="1">
                <a:latin typeface="Constantia"/>
                <a:ea typeface="Calibri"/>
                <a:cs typeface="Calibri"/>
              </a:rPr>
              <a:t>vytváří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r>
              <a:rPr lang="en-US" sz="2000" err="1">
                <a:latin typeface="Constantia"/>
                <a:ea typeface="Calibri"/>
                <a:cs typeface="Calibri"/>
              </a:rPr>
              <a:t>síť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r>
              <a:rPr lang="en-US" sz="2000" err="1">
                <a:latin typeface="Constantia"/>
                <a:ea typeface="Calibri"/>
                <a:cs typeface="Calibri"/>
              </a:rPr>
              <a:t>vzájemné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r>
              <a:rPr lang="en-US" sz="2000" err="1">
                <a:latin typeface="Constantia"/>
                <a:ea typeface="Calibri"/>
                <a:cs typeface="Calibri"/>
              </a:rPr>
              <a:t>důvěry</a:t>
            </a:r>
            <a:r>
              <a:rPr lang="en-US" sz="2000" dirty="0">
                <a:latin typeface="Constantia"/>
                <a:ea typeface="Calibri"/>
                <a:cs typeface="Calibri"/>
              </a:rPr>
              <a:t>, </a:t>
            </a:r>
          </a:p>
          <a:p>
            <a:pPr defTabSz="914400"/>
            <a:r>
              <a:rPr lang="en-US" sz="2000" dirty="0">
                <a:latin typeface="Constantia"/>
                <a:ea typeface="Calibri"/>
                <a:cs typeface="Calibri"/>
              </a:rPr>
              <a:t>      </a:t>
            </a:r>
            <a:r>
              <a:rPr lang="en-US" sz="2000" err="1">
                <a:latin typeface="Constantia"/>
                <a:ea typeface="Calibri"/>
                <a:cs typeface="Calibri"/>
              </a:rPr>
              <a:t>která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r>
              <a:rPr lang="en-US" sz="2000" err="1">
                <a:latin typeface="Constantia"/>
                <a:ea typeface="Calibri"/>
                <a:cs typeface="Calibri"/>
              </a:rPr>
              <a:t>zlepšuje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r>
              <a:rPr lang="en-US" sz="2000" err="1">
                <a:latin typeface="Constantia"/>
                <a:ea typeface="Calibri"/>
                <a:cs typeface="Calibri"/>
              </a:rPr>
              <a:t>bezpečnost</a:t>
            </a:r>
            <a:r>
              <a:rPr lang="en-US" sz="2000" dirty="0">
                <a:latin typeface="Constantia"/>
                <a:ea typeface="Calibri"/>
                <a:cs typeface="Calibri"/>
              </a:rPr>
              <a:t> a </a:t>
            </a:r>
          </a:p>
          <a:p>
            <a:pPr defTabSz="914400"/>
            <a:r>
              <a:rPr lang="en-US" sz="2000" dirty="0">
                <a:latin typeface="Constantia"/>
                <a:ea typeface="Calibri"/>
                <a:cs typeface="Calibri"/>
              </a:rPr>
              <a:t>      </a:t>
            </a:r>
            <a:r>
              <a:rPr lang="en-US" sz="2000" err="1">
                <a:latin typeface="Constantia"/>
                <a:ea typeface="Calibri"/>
                <a:cs typeface="Calibri"/>
              </a:rPr>
              <a:t>autenticitu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r>
              <a:rPr lang="en-US" sz="2000" err="1">
                <a:latin typeface="Constantia"/>
                <a:ea typeface="Calibri"/>
                <a:cs typeface="Calibri"/>
              </a:rPr>
              <a:t>komunikace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r>
              <a:rPr lang="en-US" sz="2000" err="1">
                <a:latin typeface="Constantia"/>
                <a:ea typeface="Calibri"/>
                <a:cs typeface="Calibri"/>
              </a:rPr>
              <a:t>na</a:t>
            </a:r>
            <a:r>
              <a:rPr lang="en-US" sz="2000" dirty="0">
                <a:latin typeface="Constantia"/>
                <a:ea typeface="Calibri"/>
                <a:cs typeface="Calibri"/>
              </a:rPr>
              <a:t> </a:t>
            </a:r>
            <a:r>
              <a:rPr lang="en-US" sz="2000" err="1">
                <a:latin typeface="Constantia"/>
                <a:ea typeface="Calibri"/>
                <a:cs typeface="Calibri"/>
              </a:rPr>
              <a:t>internetu</a:t>
            </a:r>
            <a:endParaRPr lang="en-US" sz="2000">
              <a:latin typeface="Constantia"/>
              <a:ea typeface="Calibri"/>
              <a:cs typeface="Calibri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780163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počítač, oblečení, osoba, elektronika&#10;&#10;Popis se vygeneroval automaticky.">
            <a:extLst>
              <a:ext uri="{FF2B5EF4-FFF2-40B4-BE49-F238E27FC236}">
                <a16:creationId xmlns:a16="http://schemas.microsoft.com/office/drawing/2014/main" id="{62E54085-650C-292E-8EEA-C1E438C66F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20" y="28756"/>
            <a:ext cx="12191980" cy="6857999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138808A7-964A-781A-F08F-3968F6E08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39" y="1553542"/>
            <a:ext cx="6825115" cy="4726276"/>
          </a:xfrm>
        </p:spPr>
        <p:txBody>
          <a:bodyPr>
            <a:normAutofit/>
          </a:bodyPr>
          <a:lstStyle/>
          <a:p>
            <a:pPr algn="r"/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</a:rPr>
              <a:t>Postup </a:t>
            </a:r>
            <a:b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</a:rPr>
            </a:br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</a:rPr>
              <a:t>Web </a:t>
            </a:r>
            <a:r>
              <a:rPr lang="cs-CZ" sz="8000" dirty="0" err="1">
                <a:ln w="22225">
                  <a:solidFill>
                    <a:srgbClr val="FFFFFF"/>
                  </a:solidFill>
                </a:ln>
                <a:latin typeface="Constantia"/>
              </a:rPr>
              <a:t>Of</a:t>
            </a:r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</a:rPr>
              <a:t> </a:t>
            </a:r>
            <a:b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</a:rPr>
            </a:br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</a:rPr>
              <a:t>Trust </a:t>
            </a:r>
            <a:b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</a:rPr>
            </a:br>
            <a:endParaRPr lang="cs-CZ" sz="8000" dirty="0">
              <a:ln w="22225">
                <a:solidFill>
                  <a:srgbClr val="FFFFFF"/>
                </a:solidFill>
              </a:ln>
              <a:latin typeface="Constantia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77E7DB-3476-7A65-3DAC-2276F1A41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41" y="1065862"/>
            <a:ext cx="3860002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-CZ" sz="2000" baseline="0">
                <a:solidFill>
                  <a:srgbClr val="FFFFFF"/>
                </a:solidFill>
                <a:latin typeface="Constantia"/>
                <a:ea typeface="Arial"/>
                <a:cs typeface="Arial"/>
              </a:rPr>
              <a:t>Vytvoření veřejného klíče</a:t>
            </a:r>
            <a:r>
              <a:rPr lang="en-US" sz="2000">
                <a:solidFill>
                  <a:srgbClr val="FFFFFF"/>
                </a:solidFill>
                <a:latin typeface="Constantia"/>
                <a:ea typeface="Arial"/>
                <a:cs typeface="Arial"/>
              </a:rPr>
              <a:t>​</a:t>
            </a:r>
            <a:endParaRPr lang="cs-CZ" sz="2000">
              <a:solidFill>
                <a:srgbClr val="FFFFFF"/>
              </a:solidFill>
              <a:latin typeface="Constantia"/>
              <a:ea typeface="Calibri"/>
              <a:cs typeface="Calibri"/>
            </a:endParaRPr>
          </a:p>
          <a:p>
            <a:pPr lvl="0" rtl="0"/>
            <a:r>
              <a:rPr lang="cs-CZ" sz="2000" baseline="0">
                <a:solidFill>
                  <a:srgbClr val="FFFFFF"/>
                </a:solidFill>
                <a:latin typeface="Constantia"/>
                <a:ea typeface="Arial"/>
                <a:cs typeface="Arial"/>
              </a:rPr>
              <a:t>Sdílení veřejného klíče s ostatními uživateli</a:t>
            </a:r>
            <a:r>
              <a:rPr lang="en-US" sz="2000">
                <a:solidFill>
                  <a:srgbClr val="FFFFFF"/>
                </a:solidFill>
                <a:latin typeface="Constantia"/>
                <a:ea typeface="Arial"/>
                <a:cs typeface="Arial"/>
              </a:rPr>
              <a:t>​</a:t>
            </a:r>
          </a:p>
          <a:p>
            <a:pPr lvl="0" rtl="0"/>
            <a:r>
              <a:rPr lang="cs-CZ" sz="2000" baseline="0">
                <a:solidFill>
                  <a:srgbClr val="FFFFFF"/>
                </a:solidFill>
                <a:latin typeface="Constantia"/>
                <a:ea typeface="Arial"/>
                <a:cs typeface="Arial"/>
              </a:rPr>
              <a:t>Ověření veřejných klíčů uživatelů</a:t>
            </a:r>
            <a:r>
              <a:rPr lang="en-US" sz="2000">
                <a:solidFill>
                  <a:srgbClr val="FFFFFF"/>
                </a:solidFill>
                <a:latin typeface="Constantia"/>
                <a:ea typeface="Arial"/>
                <a:cs typeface="Arial"/>
              </a:rPr>
              <a:t>​</a:t>
            </a:r>
          </a:p>
          <a:p>
            <a:pPr lvl="0" rtl="0"/>
            <a:r>
              <a:rPr lang="cs-CZ" sz="2000" baseline="0">
                <a:solidFill>
                  <a:srgbClr val="FFFFFF"/>
                </a:solidFill>
                <a:latin typeface="Constantia"/>
                <a:ea typeface="Arial"/>
                <a:cs typeface="Arial"/>
              </a:rPr>
              <a:t>Vytváření a distribuce certifikátů důvěry</a:t>
            </a:r>
            <a:r>
              <a:rPr lang="en-US" sz="2000">
                <a:solidFill>
                  <a:srgbClr val="FFFFFF"/>
                </a:solidFill>
                <a:latin typeface="Constantia"/>
                <a:ea typeface="Arial"/>
                <a:cs typeface="Arial"/>
              </a:rPr>
              <a:t>​</a:t>
            </a:r>
          </a:p>
          <a:p>
            <a:pPr lvl="0" rtl="0"/>
            <a:r>
              <a:rPr lang="cs-CZ" sz="2000" baseline="0">
                <a:solidFill>
                  <a:srgbClr val="FFFFFF"/>
                </a:solidFill>
                <a:latin typeface="Constantia"/>
                <a:ea typeface="Arial"/>
                <a:cs typeface="Arial"/>
              </a:rPr>
              <a:t>Aktualizace a udržování důvěry mezi uživateli</a:t>
            </a:r>
            <a:endParaRPr lang="cs-CZ" sz="2000">
              <a:solidFill>
                <a:srgbClr val="FFFFFF"/>
              </a:solidFill>
              <a:latin typeface="Constantia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8701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Zástupný obsah 3" descr="Obsah obrázku osoba, Elektricky modrá, Kobaltová modř, modrá&#10;&#10;Popis se vygeneroval automaticky.">
            <a:extLst>
              <a:ext uri="{FF2B5EF4-FFF2-40B4-BE49-F238E27FC236}">
                <a16:creationId xmlns:a16="http://schemas.microsoft.com/office/drawing/2014/main" id="{AEE30D55-6EF8-CC12-7E9B-9A51BDE7BE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2597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73A242D-DA46-0D23-E6D9-06937B35E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>
            <a:normAutofit/>
          </a:bodyPr>
          <a:lstStyle/>
          <a:p>
            <a:pPr algn="r"/>
            <a:r>
              <a:rPr lang="cs-CZ" sz="8000" b="0" i="0" dirty="0">
                <a:ln w="22225">
                  <a:solidFill>
                    <a:srgbClr val="FFFFFF"/>
                  </a:solidFill>
                </a:ln>
                <a:effectLst/>
                <a:latin typeface="Constantia"/>
              </a:rPr>
              <a:t>Ruční </a:t>
            </a:r>
            <a:b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</a:rPr>
            </a:br>
            <a:r>
              <a:rPr lang="cs-CZ" sz="8000" b="0" i="0" dirty="0">
                <a:ln w="22225">
                  <a:solidFill>
                    <a:srgbClr val="FFFFFF"/>
                  </a:solidFill>
                </a:ln>
                <a:effectLst/>
                <a:latin typeface="Constantia"/>
              </a:rPr>
              <a:t>výměna </a:t>
            </a:r>
            <a:b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</a:rPr>
            </a:br>
            <a:r>
              <a:rPr lang="cs-CZ" sz="8000" b="0" i="0" dirty="0">
                <a:ln w="22225">
                  <a:solidFill>
                    <a:srgbClr val="FFFFFF"/>
                  </a:solidFill>
                </a:ln>
                <a:effectLst/>
                <a:latin typeface="Constantia"/>
              </a:rPr>
              <a:t>klíčů</a:t>
            </a:r>
            <a:endParaRPr lang="cs-CZ" sz="8000" dirty="0">
              <a:ln w="22225">
                <a:solidFill>
                  <a:srgbClr val="FFFFFF"/>
                </a:solidFill>
              </a:ln>
              <a:latin typeface="Constantia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EE616BA-971B-057A-3018-A595A2B88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41" y="1065862"/>
            <a:ext cx="4012402" cy="5894676"/>
          </a:xfrm>
        </p:spPr>
        <p:txBody>
          <a:bodyPr anchor="ctr">
            <a:normAutofit/>
          </a:bodyPr>
          <a:lstStyle/>
          <a:p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Bezpečná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metoda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pro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výměnu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veřejných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klíčů</a:t>
            </a:r>
            <a:endParaRPr lang="en-US" sz="2000">
              <a:latin typeface="Constantia"/>
              <a:ea typeface="Calibri" panose="020F0502020204030204"/>
              <a:cs typeface="Calibri" panose="020F0502020204030204"/>
            </a:endParaRPr>
          </a:p>
          <a:p>
            <a:r>
              <a:rPr lang="en-US" sz="2000" dirty="0" err="1">
                <a:latin typeface="Constantia"/>
                <a:ea typeface="Calibri" panose="020F0502020204030204"/>
                <a:cs typeface="Calibri" panose="020F0502020204030204"/>
              </a:rPr>
              <a:t>Vyžaduje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latin typeface="Constantia"/>
                <a:ea typeface="Calibri" panose="020F0502020204030204"/>
                <a:cs typeface="Calibri" panose="020F0502020204030204"/>
              </a:rPr>
              <a:t>osobní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latin typeface="Constantia"/>
                <a:ea typeface="Calibri" panose="020F0502020204030204"/>
                <a:cs typeface="Calibri" panose="020F0502020204030204"/>
              </a:rPr>
              <a:t>setkání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a </a:t>
            </a:r>
            <a:r>
              <a:rPr lang="en-US" sz="2000" dirty="0" err="1">
                <a:latin typeface="Constantia"/>
                <a:ea typeface="Calibri" panose="020F0502020204030204"/>
                <a:cs typeface="Calibri" panose="020F0502020204030204"/>
              </a:rPr>
              <a:t>ověření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identity</a:t>
            </a:r>
            <a:endParaRPr lang="en-US" dirty="0">
              <a:latin typeface="Constantia"/>
            </a:endParaRPr>
          </a:p>
          <a:p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Vhodná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alternativa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v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případech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,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kdy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nelze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použít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digitální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certifikáty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nebo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automatizované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mechanismy</a:t>
            </a:r>
            <a:endParaRPr lang="en-US" err="1">
              <a:latin typeface="Constantia"/>
            </a:endParaRPr>
          </a:p>
          <a:p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Poskytuje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větší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kontrolu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nad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procesem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výměny</a:t>
            </a:r>
            <a:r>
              <a:rPr lang="en-US" sz="2000" dirty="0">
                <a:latin typeface="Constantia"/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latin typeface="Constantia"/>
                <a:ea typeface="Calibri" panose="020F0502020204030204"/>
                <a:cs typeface="Calibri" panose="020F0502020204030204"/>
              </a:rPr>
              <a:t>klíčů</a:t>
            </a:r>
            <a:endParaRPr lang="en-US" err="1">
              <a:latin typeface="Constantia"/>
            </a:endParaRPr>
          </a:p>
          <a:p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endParaRPr lang="en-US" sz="20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929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Obsah obrázku elektronika, interiér, počítačový monitor, oblečení&#10;&#10;Popis se vygeneroval automaticky.">
            <a:extLst>
              <a:ext uri="{FF2B5EF4-FFF2-40B4-BE49-F238E27FC236}">
                <a16:creationId xmlns:a16="http://schemas.microsoft.com/office/drawing/2014/main" id="{89B617ED-B481-8F70-D371-E59143A414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2717" b="1301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3E386AD4-D29F-A28E-5C63-5948C990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Calibri Light"/>
                <a:cs typeface="Calibri Light"/>
              </a:rPr>
              <a:t>Postup </a:t>
            </a:r>
            <a:b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Calibri Light"/>
                <a:cs typeface="Calibri Light"/>
              </a:rPr>
            </a:br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Calibri Light"/>
                <a:cs typeface="Calibri Light"/>
              </a:rPr>
              <a:t>ruční</a:t>
            </a:r>
            <a:b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Calibri Light"/>
                <a:cs typeface="Calibri Light"/>
              </a:rPr>
            </a:br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Calibri Light"/>
                <a:cs typeface="Calibri Light"/>
              </a:rPr>
              <a:t>výměny </a:t>
            </a:r>
            <a:b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Calibri Light"/>
                <a:cs typeface="Calibri Light"/>
              </a:rPr>
            </a:br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Calibri Light"/>
                <a:cs typeface="Calibri Light"/>
              </a:rPr>
              <a:t>klíčů</a:t>
            </a:r>
            <a:endParaRPr lang="cs-CZ" sz="8000" dirty="0">
              <a:ln w="22225">
                <a:solidFill>
                  <a:srgbClr val="FFFFFF"/>
                </a:solidFill>
              </a:ln>
              <a:latin typeface="Constantia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222ABFD-6CEB-30F2-18CE-0E2AEE432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41" y="1065862"/>
            <a:ext cx="3860002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z="2000" dirty="0">
                <a:solidFill>
                  <a:srgbClr val="FFFFFF"/>
                </a:solidFill>
                <a:latin typeface="Constantia"/>
                <a:ea typeface="+mn-lt"/>
                <a:cs typeface="+mn-lt"/>
              </a:rPr>
              <a:t>Výměna klíčů je proces, při kterém dvě strany ručně sdílí šifrovací klíče pro bezpečnou komunikaci</a:t>
            </a:r>
          </a:p>
          <a:p>
            <a:r>
              <a:rPr lang="cs-CZ" sz="2000" dirty="0">
                <a:solidFill>
                  <a:srgbClr val="FFFFFF"/>
                </a:solidFill>
                <a:latin typeface="Constantia"/>
                <a:ea typeface="+mn-lt"/>
                <a:cs typeface="+mn-lt"/>
              </a:rPr>
              <a:t>Tento postup je důležitý pro zajištění důvěrnosti a integritu dat přenášených mezi stranami</a:t>
            </a:r>
            <a:endParaRPr lang="cs-CZ" sz="2000">
              <a:solidFill>
                <a:srgbClr val="FFFFFF"/>
              </a:solidFill>
              <a:latin typeface="Constantia"/>
            </a:endParaRPr>
          </a:p>
          <a:p>
            <a:r>
              <a:rPr lang="cs-CZ" sz="2000" dirty="0">
                <a:solidFill>
                  <a:srgbClr val="FFFFFF"/>
                </a:solidFill>
                <a:latin typeface="Constantia"/>
                <a:ea typeface="+mn-lt"/>
                <a:cs typeface="+mn-lt"/>
              </a:rPr>
              <a:t>Klíče jsou obvykle ručně předány a sdíleny mezi autorizovanými uživateli</a:t>
            </a:r>
            <a:endParaRPr lang="cs-CZ" sz="2000">
              <a:solidFill>
                <a:srgbClr val="FFFFFF"/>
              </a:solidFill>
              <a:latin typeface="Constantia"/>
            </a:endParaRPr>
          </a:p>
          <a:p>
            <a:r>
              <a:rPr lang="cs-CZ" sz="2000" dirty="0">
                <a:solidFill>
                  <a:srgbClr val="FFFFFF"/>
                </a:solidFill>
                <a:latin typeface="Constantia"/>
                <a:ea typeface="+mn-lt"/>
                <a:cs typeface="+mn-lt"/>
              </a:rPr>
              <a:t>Tímto způsobem se minimalizuje riziko úniku či zneužití klíčů a zvyšuje se bezpečnost komunikace</a:t>
            </a:r>
            <a:endParaRPr lang="cs-CZ" sz="2000">
              <a:solidFill>
                <a:srgbClr val="FFFFFF"/>
              </a:solidFill>
              <a:latin typeface="Constantia"/>
            </a:endParaRPr>
          </a:p>
          <a:p>
            <a:endParaRPr lang="cs-CZ" sz="200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920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Obsah obrázku osoba, snímek obrazovky&#10;&#10;Popis se vygeneroval automaticky.">
            <a:extLst>
              <a:ext uri="{FF2B5EF4-FFF2-40B4-BE49-F238E27FC236}">
                <a16:creationId xmlns:a16="http://schemas.microsoft.com/office/drawing/2014/main" id="{B6CE5B7E-8C72-9368-8C30-59CD1E0596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314" b="10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BDA07303-5A8D-FF31-2BBF-70D19443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>
            <a:normAutofit/>
          </a:bodyPr>
          <a:lstStyle/>
          <a:p>
            <a:pPr algn="r"/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Calibri Light"/>
                <a:cs typeface="Calibri Light"/>
              </a:rPr>
              <a:t>Útoky </a:t>
            </a:r>
            <a:b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Calibri Light"/>
                <a:cs typeface="Calibri Light"/>
              </a:rPr>
            </a:br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Calibri Light"/>
                <a:cs typeface="Calibri Light"/>
              </a:rPr>
              <a:t>na </a:t>
            </a:r>
            <a:b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Calibri Light"/>
                <a:cs typeface="Calibri Light"/>
              </a:rPr>
            </a:br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Calibri Light"/>
                <a:cs typeface="Calibri Light"/>
              </a:rPr>
              <a:t>klíče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499D10E-59C6-CD00-C1A9-1A979FAE0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0321" y="1004902"/>
            <a:ext cx="4804882" cy="532571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sz="2000" err="1">
                <a:solidFill>
                  <a:schemeClr val="accent1">
                    <a:lumMod val="40000"/>
                    <a:lumOff val="60000"/>
                  </a:schemeClr>
                </a:solidFill>
                <a:latin typeface="Constantia"/>
                <a:ea typeface="Calibri"/>
                <a:cs typeface="Calibri"/>
              </a:rPr>
              <a:t>Brute</a:t>
            </a:r>
            <a:r>
              <a:rPr lang="cs-CZ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cs-CZ" sz="2000" err="1">
                <a:solidFill>
                  <a:schemeClr val="accent1">
                    <a:lumMod val="40000"/>
                    <a:lumOff val="60000"/>
                  </a:schemeClr>
                </a:solidFill>
                <a:latin typeface="Constantia"/>
                <a:ea typeface="Calibri"/>
                <a:cs typeface="Calibri"/>
              </a:rPr>
              <a:t>force</a:t>
            </a:r>
            <a:r>
              <a:rPr lang="cs-CZ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tantia"/>
                <a:ea typeface="Calibri"/>
                <a:cs typeface="Calibri"/>
              </a:rPr>
              <a:t> útok</a:t>
            </a:r>
            <a:r>
              <a:rPr lang="cs-CZ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: Útočník zkouší všechny možné kombinace klíčů, dokud nenajde správný</a:t>
            </a:r>
            <a:endParaRPr lang="cs-CZ" sz="2000">
              <a:latin typeface="Constantia"/>
              <a:ea typeface="Calibri" panose="020F0502020204030204"/>
              <a:cs typeface="Calibri" panose="020F0502020204030204"/>
            </a:endParaRPr>
          </a:p>
          <a:p>
            <a:endParaRPr lang="cs-CZ" sz="2000" dirty="0">
              <a:solidFill>
                <a:srgbClr val="FFFFFF"/>
              </a:solidFill>
              <a:latin typeface="Constantia"/>
              <a:ea typeface="Calibri"/>
              <a:cs typeface="Calibri"/>
            </a:endParaRPr>
          </a:p>
          <a:p>
            <a:r>
              <a:rPr lang="cs-CZ" sz="2000" err="1">
                <a:solidFill>
                  <a:schemeClr val="accent1">
                    <a:lumMod val="40000"/>
                    <a:lumOff val="60000"/>
                  </a:schemeClr>
                </a:solidFill>
                <a:latin typeface="Constantia"/>
                <a:ea typeface="Calibri"/>
                <a:cs typeface="Calibri"/>
              </a:rPr>
              <a:t>Dictionary</a:t>
            </a:r>
            <a:r>
              <a:rPr lang="cs-CZ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tantia"/>
                <a:ea typeface="Calibri"/>
                <a:cs typeface="Calibri"/>
              </a:rPr>
              <a:t> útok</a:t>
            </a:r>
            <a:r>
              <a:rPr lang="cs-CZ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: Útočník používá různé kandidátní klíče nebo hesla ze slovníku</a:t>
            </a:r>
          </a:p>
          <a:p>
            <a:endParaRPr lang="cs-CZ" sz="2000" dirty="0">
              <a:solidFill>
                <a:srgbClr val="FFFFFF"/>
              </a:solidFill>
              <a:latin typeface="Constantia"/>
              <a:ea typeface="Calibri"/>
              <a:cs typeface="Calibri"/>
            </a:endParaRPr>
          </a:p>
          <a:p>
            <a:r>
              <a:rPr lang="cs-CZ" sz="2000" err="1">
                <a:solidFill>
                  <a:schemeClr val="accent1">
                    <a:lumMod val="40000"/>
                    <a:lumOff val="60000"/>
                  </a:schemeClr>
                </a:solidFill>
                <a:latin typeface="Constantia"/>
                <a:ea typeface="Calibri"/>
                <a:cs typeface="Calibri"/>
              </a:rPr>
              <a:t>Rainbow</a:t>
            </a:r>
            <a:r>
              <a:rPr lang="cs-CZ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tantia"/>
                <a:ea typeface="Calibri"/>
                <a:cs typeface="Calibri"/>
              </a:rPr>
              <a:t> table útok</a:t>
            </a:r>
            <a:r>
              <a:rPr lang="cs-CZ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: Útočník využívá předpřipravených tabulek pro rychlé získání hesla k danému </a:t>
            </a:r>
            <a:r>
              <a:rPr lang="cs-CZ" sz="200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hashi</a:t>
            </a:r>
            <a:endParaRPr lang="cs-CZ" sz="2000">
              <a:solidFill>
                <a:srgbClr val="FFFFFF"/>
              </a:solidFill>
              <a:latin typeface="Constantia"/>
              <a:ea typeface="Calibri"/>
              <a:cs typeface="Calibri"/>
            </a:endParaRPr>
          </a:p>
          <a:p>
            <a:endParaRPr lang="cs-CZ" sz="2000" dirty="0">
              <a:solidFill>
                <a:srgbClr val="FFFFFF"/>
              </a:solidFill>
              <a:latin typeface="Constantia"/>
              <a:ea typeface="Calibri"/>
              <a:cs typeface="Calibri"/>
            </a:endParaRPr>
          </a:p>
          <a:p>
            <a:r>
              <a:rPr lang="cs-CZ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tantia"/>
                <a:ea typeface="Calibri"/>
                <a:cs typeface="Calibri"/>
              </a:rPr>
              <a:t>Špionáž</a:t>
            </a:r>
            <a:r>
              <a:rPr lang="cs-CZ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: Útočník sleduje uživatele a snaží se zjistit nebo získat jejich klíč</a:t>
            </a:r>
          </a:p>
          <a:p>
            <a:endParaRPr lang="cs-CZ" sz="2000" dirty="0">
              <a:solidFill>
                <a:srgbClr val="FFFFFF"/>
              </a:solidFill>
              <a:latin typeface="Constantia"/>
              <a:ea typeface="Calibri"/>
              <a:cs typeface="Calibri"/>
            </a:endParaRPr>
          </a:p>
          <a:p>
            <a:r>
              <a:rPr lang="cs-CZ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tantia"/>
                <a:ea typeface="Calibri"/>
                <a:cs typeface="Calibri"/>
              </a:rPr>
              <a:t>Socio-inženýrství</a:t>
            </a:r>
            <a:r>
              <a:rPr lang="cs-CZ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: Útočník se pokouší získat klíč pomocí manipulace nebo dezinformace uživatele</a:t>
            </a:r>
            <a:endParaRPr lang="cs-CZ" sz="2000" dirty="0">
              <a:solidFill>
                <a:srgbClr val="FFFFFF"/>
              </a:solidFill>
              <a:latin typeface="Constantia"/>
            </a:endParaRPr>
          </a:p>
          <a:p>
            <a:endParaRPr lang="cs-CZ" sz="170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1552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3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Zástupný obsah 3" descr="Obsah obrázku Digitální kompozice, snímek obrazovky, PC hra, Akční adventura&#10;&#10;Popis se vygeneroval automaticky.">
            <a:extLst>
              <a:ext uri="{FF2B5EF4-FFF2-40B4-BE49-F238E27FC236}">
                <a16:creationId xmlns:a16="http://schemas.microsoft.com/office/drawing/2014/main" id="{98F5B1E2-9C46-DE8A-CBCC-D39E8B8240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35000"/>
          </a:blip>
          <a:srcRect b="442"/>
          <a:stretch/>
        </p:blipFill>
        <p:spPr>
          <a:xfrm>
            <a:off x="0" y="-183"/>
            <a:ext cx="12192000" cy="6905674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BED2AB5-E217-BDED-092B-705BCC5FC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dirty="0" err="1">
                <a:ln w="22225">
                  <a:solidFill>
                    <a:srgbClr val="FFFFFF"/>
                  </a:solidFill>
                </a:ln>
                <a:latin typeface="Constantia"/>
              </a:rPr>
              <a:t>Veřejný</a:t>
            </a:r>
            <a:r>
              <a:rPr lang="en-US" sz="8000" dirty="0">
                <a:ln w="22225">
                  <a:solidFill>
                    <a:srgbClr val="FFFFFF"/>
                  </a:solidFill>
                </a:ln>
                <a:latin typeface="Constantia"/>
              </a:rPr>
              <a:t> a</a:t>
            </a:r>
            <a:br>
              <a:rPr lang="en-US" sz="8000" dirty="0">
                <a:ln w="22225">
                  <a:solidFill>
                    <a:srgbClr val="FFFFFF"/>
                  </a:solidFill>
                </a:ln>
                <a:latin typeface="Constantia"/>
              </a:rPr>
            </a:br>
            <a:r>
              <a:rPr lang="en-US" sz="8000" dirty="0" err="1">
                <a:ln w="22225">
                  <a:solidFill>
                    <a:srgbClr val="FFFFFF"/>
                  </a:solidFill>
                </a:ln>
                <a:latin typeface="Constantia"/>
              </a:rPr>
              <a:t>soukromý</a:t>
            </a:r>
            <a:r>
              <a:rPr lang="en-US" sz="8000" dirty="0">
                <a:ln w="22225">
                  <a:solidFill>
                    <a:srgbClr val="FFFFFF"/>
                  </a:solidFill>
                </a:ln>
                <a:latin typeface="Constantia"/>
              </a:rPr>
              <a:t> </a:t>
            </a:r>
            <a:r>
              <a:rPr lang="en-US" sz="8000" dirty="0" err="1">
                <a:ln w="22225">
                  <a:solidFill>
                    <a:srgbClr val="FFFFFF"/>
                  </a:solidFill>
                </a:ln>
                <a:latin typeface="Constantia"/>
              </a:rPr>
              <a:t>klíč</a:t>
            </a:r>
            <a:endParaRPr lang="en-US" sz="8000" dirty="0" err="1">
              <a:ln w="22225">
                <a:solidFill>
                  <a:srgbClr val="FFFFFF"/>
                </a:solidFill>
              </a:ln>
              <a:latin typeface="Constantia"/>
              <a:ea typeface="Calibri Light"/>
              <a:cs typeface="Calibri Light"/>
            </a:endParaRPr>
          </a:p>
        </p:txBody>
      </p:sp>
      <p:cxnSp>
        <p:nvCxnSpPr>
          <p:cNvPr id="29" name="Straight Connector 25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ovéPole 6">
            <a:extLst>
              <a:ext uri="{FF2B5EF4-FFF2-40B4-BE49-F238E27FC236}">
                <a16:creationId xmlns:a16="http://schemas.microsoft.com/office/drawing/2014/main" id="{03EEA174-5CED-626B-61AC-FEE82FAB0AE9}"/>
              </a:ext>
            </a:extLst>
          </p:cNvPr>
          <p:cNvSpPr txBox="1"/>
          <p:nvPr/>
        </p:nvSpPr>
        <p:spPr>
          <a:xfrm>
            <a:off x="7534641" y="1065862"/>
            <a:ext cx="4246082" cy="472627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Constantia"/>
              </a:rPr>
              <a:t>Veřejný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</a:rPr>
              <a:t>klíč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 je </a:t>
            </a:r>
            <a:r>
              <a:rPr lang="en-US" sz="2000" dirty="0" err="1">
                <a:solidFill>
                  <a:srgbClr val="FFFFFF"/>
                </a:solidFill>
                <a:latin typeface="Constantia"/>
              </a:rPr>
              <a:t>distribuován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 </a:t>
            </a:r>
            <a:r>
              <a:rPr lang="en-US" sz="2000" dirty="0" err="1">
                <a:solidFill>
                  <a:srgbClr val="FFFFFF"/>
                </a:solidFill>
                <a:latin typeface="Constantia"/>
              </a:rPr>
              <a:t>způsobem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Constantia"/>
              </a:rPr>
              <a:t>který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 ho </a:t>
            </a:r>
            <a:r>
              <a:rPr lang="en-US" sz="2000" dirty="0" err="1">
                <a:solidFill>
                  <a:srgbClr val="FFFFFF"/>
                </a:solidFill>
                <a:latin typeface="Constantia"/>
              </a:rPr>
              <a:t>činí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 </a:t>
            </a:r>
            <a:r>
              <a:rPr lang="en-US" sz="2000" dirty="0" err="1">
                <a:solidFill>
                  <a:srgbClr val="FFFFFF"/>
                </a:solidFill>
                <a:latin typeface="Constantia"/>
              </a:rPr>
              <a:t>veřejně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</a:rPr>
              <a:t>dostupný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 pro </a:t>
            </a:r>
            <a:r>
              <a:rPr lang="en-US" sz="2000" dirty="0" err="1">
                <a:solidFill>
                  <a:srgbClr val="FFFFFF"/>
                </a:solidFill>
                <a:latin typeface="Constantia"/>
              </a:rPr>
              <a:t>komunikaci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 a </a:t>
            </a:r>
            <a:r>
              <a:rPr lang="en-US" sz="2000" dirty="0" err="1">
                <a:solidFill>
                  <a:srgbClr val="FFFFFF"/>
                </a:solidFill>
                <a:latin typeface="Constantia"/>
              </a:rPr>
              <a:t>šifrování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</a:rPr>
              <a:t>dat</a:t>
            </a:r>
            <a:endParaRPr lang="en-US" sz="2000" dirty="0">
              <a:solidFill>
                <a:srgbClr val="FFFFFF"/>
              </a:solidFill>
              <a:latin typeface="Constantia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  <a:latin typeface="Constantia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>
                <a:solidFill>
                  <a:srgbClr val="FFFFFF"/>
                </a:solidFill>
                <a:latin typeface="Constantia"/>
              </a:rPr>
              <a:t>Soukromý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onstantia"/>
              </a:rPr>
              <a:t>klíč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onstantia"/>
              </a:rPr>
              <a:t>zůstává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 </a:t>
            </a:r>
            <a:r>
              <a:rPr lang="en-US" sz="2000" err="1">
                <a:solidFill>
                  <a:srgbClr val="FFFFFF"/>
                </a:solidFill>
                <a:latin typeface="Constantia"/>
              </a:rPr>
              <a:t>výhradním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onstantia"/>
              </a:rPr>
              <a:t>vlastnictvím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 </a:t>
            </a:r>
            <a:r>
              <a:rPr lang="en-US" sz="2000" err="1">
                <a:solidFill>
                  <a:srgbClr val="FFFFFF"/>
                </a:solidFill>
                <a:latin typeface="Constantia"/>
              </a:rPr>
              <a:t>uživatele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 a </a:t>
            </a:r>
            <a:r>
              <a:rPr lang="en-US" sz="2000" err="1">
                <a:solidFill>
                  <a:srgbClr val="FFFFFF"/>
                </a:solidFill>
                <a:latin typeface="Constantia"/>
              </a:rPr>
              <a:t>slouží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 k </a:t>
            </a:r>
            <a:r>
              <a:rPr lang="en-US" sz="2000" err="1">
                <a:solidFill>
                  <a:srgbClr val="FFFFFF"/>
                </a:solidFill>
                <a:latin typeface="Constantia"/>
              </a:rPr>
              <a:t>dešifrování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onstantia"/>
              </a:rPr>
              <a:t>dat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, </a:t>
            </a:r>
            <a:r>
              <a:rPr lang="en-US" sz="2000" err="1">
                <a:solidFill>
                  <a:srgbClr val="FFFFFF"/>
                </a:solidFill>
                <a:latin typeface="Constantia"/>
              </a:rPr>
              <a:t>která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onstantia"/>
              </a:rPr>
              <a:t>byla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 </a:t>
            </a:r>
            <a:r>
              <a:rPr lang="en-US" sz="2000" err="1">
                <a:solidFill>
                  <a:srgbClr val="FFFFFF"/>
                </a:solidFill>
                <a:latin typeface="Constantia"/>
              </a:rPr>
              <a:t>zašifrována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onstantia"/>
              </a:rPr>
              <a:t>veřejným</a:t>
            </a:r>
            <a:r>
              <a:rPr lang="en-US" sz="2000" dirty="0">
                <a:solidFill>
                  <a:srgbClr val="FFFFFF"/>
                </a:solidFill>
                <a:latin typeface="Constantia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onstantia"/>
              </a:rPr>
              <a:t>klíčem</a:t>
            </a:r>
            <a:endParaRPr lang="en-US" sz="2000">
              <a:solidFill>
                <a:srgbClr val="FFFFFF"/>
              </a:solidFill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706562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Obsah obrázku snímek obrazovky, koncert, osoba&#10;&#10;Popis se vygeneroval automaticky.">
            <a:extLst>
              <a:ext uri="{FF2B5EF4-FFF2-40B4-BE49-F238E27FC236}">
                <a16:creationId xmlns:a16="http://schemas.microsoft.com/office/drawing/2014/main" id="{72730737-A0C7-CD9D-D8FC-82EE8F43C8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1000"/>
                    </a14:imgEffect>
                  </a14:imgLayer>
                </a14:imgProps>
              </a:ext>
            </a:extLst>
          </a:blip>
          <a:srcRect b="127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09DDE586-1B4D-7755-6F42-9593EEB4A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+mj-lt"/>
                <a:cs typeface="+mj-lt"/>
              </a:rPr>
              <a:t>Ověření </a:t>
            </a:r>
            <a:b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+mj-lt"/>
                <a:cs typeface="+mj-lt"/>
              </a:rPr>
            </a:br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+mj-lt"/>
                <a:cs typeface="+mj-lt"/>
              </a:rPr>
              <a:t>pravosti </a:t>
            </a:r>
            <a:b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+mj-lt"/>
                <a:cs typeface="+mj-lt"/>
              </a:rPr>
            </a:br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+mj-lt"/>
                <a:cs typeface="+mj-lt"/>
              </a:rPr>
              <a:t>klíčů</a:t>
            </a:r>
            <a:endParaRPr lang="cs-CZ" sz="8000" dirty="0">
              <a:ln w="22225">
                <a:solidFill>
                  <a:srgbClr val="FFFFFF"/>
                </a:solidFill>
              </a:ln>
              <a:latin typeface="Constantia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CFACEDE-D881-76C1-31F2-DCD2E0881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4001" y="1584022"/>
            <a:ext cx="3860002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z="2000" dirty="0">
                <a:solidFill>
                  <a:srgbClr val="FFFFFF"/>
                </a:solidFill>
                <a:latin typeface="Constantia"/>
                <a:ea typeface="+mn-lt"/>
                <a:cs typeface="+mn-lt"/>
              </a:rPr>
              <a:t>Ověření pravosti veřejného klíče se obvykle provádí pomocí digitálního certifikátu, který potvrzuje identitu vlastníka veřejného klíče a zaručuje jeho pravost.</a:t>
            </a:r>
            <a:endParaRPr lang="cs-CZ" sz="2000" dirty="0">
              <a:solidFill>
                <a:srgbClr val="FFFFFF"/>
              </a:solidFill>
              <a:latin typeface="Constantia"/>
              <a:ea typeface="Calibri" panose="020F0502020204030204"/>
              <a:cs typeface="Calibri" panose="020F0502020204030204"/>
            </a:endParaRPr>
          </a:p>
          <a:p>
            <a:endParaRPr lang="cs-CZ" sz="2000" dirty="0">
              <a:solidFill>
                <a:srgbClr val="FFFFFF"/>
              </a:solidFill>
              <a:latin typeface="Constantia"/>
              <a:ea typeface="+mn-lt"/>
              <a:cs typeface="+mn-lt"/>
            </a:endParaRPr>
          </a:p>
          <a:p>
            <a:pPr marL="0" indent="0">
              <a:buNone/>
            </a:pPr>
            <a:endParaRPr lang="cs-CZ" sz="2000" dirty="0">
              <a:solidFill>
                <a:srgbClr val="FFFFFF"/>
              </a:solidFill>
              <a:latin typeface="Constantia"/>
              <a:ea typeface="Calibri" panose="020F0502020204030204"/>
              <a:cs typeface="Calibri" panose="020F0502020204030204"/>
            </a:endParaRPr>
          </a:p>
          <a:p>
            <a:r>
              <a:rPr lang="cs-CZ" sz="2000" dirty="0">
                <a:solidFill>
                  <a:srgbClr val="FFFFFF"/>
                </a:solidFill>
                <a:latin typeface="Constantia"/>
                <a:ea typeface="+mn-lt"/>
                <a:cs typeface="+mn-lt"/>
              </a:rPr>
              <a:t>Soukromý klíč by měl být uchováván v bezpečném úložišti a chráněn heslem nebo biometrickým prvkem pro ochranu před zneužitím.</a:t>
            </a:r>
            <a:endParaRPr lang="cs-CZ" sz="2000">
              <a:solidFill>
                <a:srgbClr val="FFFFFF"/>
              </a:solidFill>
              <a:latin typeface="Constantia"/>
            </a:endParaRPr>
          </a:p>
          <a:p>
            <a:endParaRPr lang="cs-CZ" sz="2000">
              <a:solidFill>
                <a:srgbClr val="FFFFFF"/>
              </a:solidFill>
              <a:latin typeface="Constantia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cs-CZ" sz="200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97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Zástupný obsah 3" descr="Obsah obrázku světlo, osoba, ruka&#10;&#10;Popis se vygeneroval automaticky.">
            <a:extLst>
              <a:ext uri="{FF2B5EF4-FFF2-40B4-BE49-F238E27FC236}">
                <a16:creationId xmlns:a16="http://schemas.microsoft.com/office/drawing/2014/main" id="{ADBAF99E-49BC-F9F7-143F-ABA4DF9651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l="18418" r="869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E1777CE4-13B2-EB0F-0253-77068D6F5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</a:rPr>
              <a:t>Správa a </a:t>
            </a:r>
            <a:b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+mj-lt"/>
                <a:cs typeface="+mj-lt"/>
              </a:rPr>
            </a:br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+mj-lt"/>
                <a:cs typeface="+mj-lt"/>
              </a:rPr>
              <a:t>zabezpečení</a:t>
            </a:r>
            <a:b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+mj-lt"/>
                <a:cs typeface="+mj-lt"/>
              </a:rPr>
            </a:br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+mj-lt"/>
                <a:cs typeface="+mj-lt"/>
              </a:rPr>
              <a:t>klíčů</a:t>
            </a:r>
            <a:r>
              <a:rPr lang="cs-CZ" sz="8000" dirty="0">
                <a:ln w="22225">
                  <a:solidFill>
                    <a:srgbClr val="FFFFFF"/>
                  </a:solidFill>
                </a:ln>
                <a:noFill/>
                <a:latin typeface="Constantia"/>
              </a:rPr>
              <a:t> 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2A6663-1333-0B21-DE6D-279D618C8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41" y="1065862"/>
            <a:ext cx="3860002" cy="4726276"/>
          </a:xfrm>
        </p:spPr>
        <p:txBody>
          <a:bodyPr anchor="ctr">
            <a:normAutofit/>
          </a:bodyPr>
          <a:lstStyle/>
          <a:p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Veřejné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klíče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slouží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k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šifrování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dat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a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ověřování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identit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v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digitální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komunikaci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.</a:t>
            </a:r>
          </a:p>
          <a:p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Správa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veřejných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klíčů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zahrnuje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jejich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ověření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pomocí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digitálního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certifikátu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a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bezpečné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uchování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.</a:t>
            </a:r>
            <a:endParaRPr lang="en-US" sz="2000" dirty="0">
              <a:latin typeface="Constantia"/>
            </a:endParaRPr>
          </a:p>
          <a:p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Pravidelná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aktualizace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a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rotace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veřejných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klíčů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zvyšuje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jejich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bezpečnost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a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ochranu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dat.</a:t>
            </a:r>
            <a:endParaRPr lang="en-US" sz="2000" dirty="0">
              <a:latin typeface="Constantia"/>
            </a:endParaRPr>
          </a:p>
          <a:p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Používání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bezpečných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a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důvěryhodných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kanálů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k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výměně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veřejných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klíčů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minimalizuje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riziko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narušení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šifrování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komunikace</a:t>
            </a:r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</a:rPr>
              <a:t>.</a:t>
            </a:r>
            <a:endParaRPr lang="en-US" dirty="0">
              <a:latin typeface="Constantia"/>
            </a:endParaRPr>
          </a:p>
          <a:p>
            <a:endParaRPr lang="en-US" sz="20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078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Zástupný obsah 3" descr="Obsah obrázku koncert, hudba&#10;&#10;Popis se vygeneroval automaticky.">
            <a:extLst>
              <a:ext uri="{FF2B5EF4-FFF2-40B4-BE49-F238E27FC236}">
                <a16:creationId xmlns:a16="http://schemas.microsoft.com/office/drawing/2014/main" id="{7D39B0A5-22FB-7588-2637-D414519A82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2000"/>
                    </a14:imgEffect>
                  </a14:imgLayer>
                </a14:imgProps>
              </a:ext>
            </a:extLst>
          </a:blip>
          <a:srcRect l="133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EA421638-FCC5-7FD7-4A91-A230A8D11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>
            <a:normAutofit/>
          </a:bodyPr>
          <a:lstStyle/>
          <a:p>
            <a:pPr algn="r"/>
            <a:r>
              <a:rPr lang="cs-CZ" sz="8000" dirty="0">
                <a:ln w="22225">
                  <a:solidFill>
                    <a:srgbClr val="FFFFFF"/>
                  </a:solidFill>
                </a:ln>
                <a:latin typeface="Constantia"/>
                <a:ea typeface="Calibri Light"/>
                <a:cs typeface="Calibri Light"/>
              </a:rPr>
              <a:t>Zdroje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8251A0-58B5-A89D-1FD1-01105C756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41" y="1065862"/>
            <a:ext cx="3860002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  <a:hlinkClick r:id="rId4"/>
              </a:rPr>
              <a:t>Univerzita Karlova</a:t>
            </a:r>
            <a:endParaRPr lang="en-US" sz="2000" dirty="0">
              <a:solidFill>
                <a:srgbClr val="FFFFFF"/>
              </a:solidFill>
              <a:latin typeface="Constantia"/>
              <a:ea typeface="Calibri"/>
              <a:cs typeface="Calibri"/>
            </a:endParaRPr>
          </a:p>
          <a:p>
            <a:endParaRPr lang="en-US" sz="2000" dirty="0">
              <a:solidFill>
                <a:srgbClr val="FFFFFF"/>
              </a:solidFill>
              <a:latin typeface="Constantia"/>
              <a:ea typeface="Calibri"/>
              <a:cs typeface="Calibri"/>
            </a:endParaRPr>
          </a:p>
          <a:p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  <a:hlinkClick r:id="rId5"/>
              </a:rPr>
              <a:t>System Online</a:t>
            </a:r>
            <a:endParaRPr lang="en-US" sz="2000" dirty="0">
              <a:solidFill>
                <a:srgbClr val="FFFFFF"/>
              </a:solidFill>
              <a:latin typeface="Constantia"/>
              <a:ea typeface="Calibri"/>
              <a:cs typeface="Calibri"/>
            </a:endParaRPr>
          </a:p>
          <a:p>
            <a:endParaRPr lang="en-US" sz="2000" dirty="0">
              <a:solidFill>
                <a:srgbClr val="FFFFFF"/>
              </a:solidFill>
              <a:latin typeface="Constantia"/>
              <a:ea typeface="Calibri"/>
              <a:cs typeface="Calibri"/>
            </a:endParaRPr>
          </a:p>
          <a:p>
            <a:r>
              <a:rPr lang="en-US" sz="2000" dirty="0">
                <a:solidFill>
                  <a:srgbClr val="FFFFFF"/>
                </a:solidFill>
                <a:latin typeface="Constantia"/>
                <a:ea typeface="Calibri"/>
                <a:cs typeface="Calibri"/>
                <a:hlinkClick r:id="rId6"/>
              </a:rPr>
              <a:t>DeepAI</a:t>
            </a:r>
            <a:endParaRPr lang="en-US" sz="2000" dirty="0">
              <a:solidFill>
                <a:srgbClr val="FFFFFF"/>
              </a:solidFill>
              <a:latin typeface="Constantia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0442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D70CFF3BF4F0843966F1CDFEDDF6A6B" ma:contentTypeVersion="18" ma:contentTypeDescription="Vytvoří nový dokument" ma:contentTypeScope="" ma:versionID="5c440171860d892edc8ee4048660cb01">
  <xsd:schema xmlns:xsd="http://www.w3.org/2001/XMLSchema" xmlns:xs="http://www.w3.org/2001/XMLSchema" xmlns:p="http://schemas.microsoft.com/office/2006/metadata/properties" xmlns:ns3="f9e534a9-5d4a-41a0-bbd3-257a481bfa53" xmlns:ns4="b37e3d86-4ca2-427b-bd6b-563863381f62" targetNamespace="http://schemas.microsoft.com/office/2006/metadata/properties" ma:root="true" ma:fieldsID="9457163b70613548b6a58b0b7c7c01f6" ns3:_="" ns4:_="">
    <xsd:import namespace="f9e534a9-5d4a-41a0-bbd3-257a481bfa53"/>
    <xsd:import namespace="b37e3d86-4ca2-427b-bd6b-563863381f6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e534a9-5d4a-41a0-bbd3-257a481bfa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e3d86-4ca2-427b-bd6b-563863381f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e534a9-5d4a-41a0-bbd3-257a481bfa53" xsi:nil="true"/>
  </documentManagement>
</p:properties>
</file>

<file path=customXml/itemProps1.xml><?xml version="1.0" encoding="utf-8"?>
<ds:datastoreItem xmlns:ds="http://schemas.openxmlformats.org/officeDocument/2006/customXml" ds:itemID="{752D5E98-99B7-4836-83E1-E7F50A9077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e534a9-5d4a-41a0-bbd3-257a481bfa53"/>
    <ds:schemaRef ds:uri="b37e3d86-4ca2-427b-bd6b-563863381f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B771917-A2F4-456F-89F4-08745334A9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35BECC-116F-4F41-82E9-AB6CAF6BFC99}">
  <ds:schemaRefs>
    <ds:schemaRef ds:uri="http://purl.org/dc/terms/"/>
    <ds:schemaRef ds:uri="http://www.w3.org/XML/1998/namespace"/>
    <ds:schemaRef ds:uri="b37e3d86-4ca2-427b-bd6b-563863381f62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9e534a9-5d4a-41a0-bbd3-257a481bfa5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127</TotalTime>
  <Words>574</Words>
  <Application>Microsoft Office PowerPoint</Application>
  <PresentationFormat>Širokoúhlá obrazovka</PresentationFormat>
  <Paragraphs>84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Constantia</vt:lpstr>
      <vt:lpstr>Motiv Office</vt:lpstr>
      <vt:lpstr>Správa a distribuce veřejných klíčů </vt:lpstr>
      <vt:lpstr>Co tento pojem znamená?</vt:lpstr>
      <vt:lpstr> Jak spravovat a distribuovat veřejné klíče?</vt:lpstr>
      <vt:lpstr>Certifikační   autorita</vt:lpstr>
      <vt:lpstr>Postup certifikační autority ​</vt:lpstr>
      <vt:lpstr>Web of  Trust</vt:lpstr>
      <vt:lpstr>Postup  Web Of  Trust  </vt:lpstr>
      <vt:lpstr>Ruční  výměna  klíčů</vt:lpstr>
      <vt:lpstr>Postup  ruční výměny  klíčů</vt:lpstr>
      <vt:lpstr>Útoky  na  klíče</vt:lpstr>
      <vt:lpstr>Veřejný a soukromý klíč</vt:lpstr>
      <vt:lpstr>Ověření  pravosti  klíčů</vt:lpstr>
      <vt:lpstr>Správa a  zabezpečení klíčů 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