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7" r:id="rId12"/>
    <p:sldId id="266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9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#1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1C7BDD0-7ECA-4666-9A71-47695968498F}" type="doc">
      <dgm:prSet loTypeId="urn:microsoft.com/office/officeart/2005/8/layout/hierarchy1" loCatId="hierarchy" qsTypeId="urn:microsoft.com/office/officeart/2005/8/quickstyle/simple4#1" qsCatId="simple" csTypeId="urn:microsoft.com/office/officeart/2005/8/colors/accent1_2#1" csCatId="accent1"/>
      <dgm:spPr/>
      <dgm:t>
        <a:bodyPr/>
        <a:lstStyle/>
        <a:p>
          <a:endParaRPr lang="en-US"/>
        </a:p>
      </dgm:t>
    </dgm:pt>
    <dgm:pt modelId="{9EB39FF7-2F32-4400-8174-48451BEFA940}">
      <dgm:prSet/>
      <dgm:spPr/>
      <dgm:t>
        <a:bodyPr/>
        <a:lstStyle/>
        <a:p>
          <a:r>
            <a:rPr lang="cs-CZ"/>
            <a:t>Správné nastavení oprávnění </a:t>
          </a:r>
          <a:endParaRPr lang="en-US"/>
        </a:p>
      </dgm:t>
    </dgm:pt>
    <dgm:pt modelId="{AC22AE35-0484-48D2-B34A-1F90DFC0312B}" type="parTrans" cxnId="{34D90242-0BC6-4383-BB7A-80B31633CA67}">
      <dgm:prSet/>
      <dgm:spPr/>
      <dgm:t>
        <a:bodyPr/>
        <a:lstStyle/>
        <a:p>
          <a:endParaRPr lang="en-US"/>
        </a:p>
      </dgm:t>
    </dgm:pt>
    <dgm:pt modelId="{5D93E941-0547-4F4B-8AFF-0E3E0F009320}" type="sibTrans" cxnId="{34D90242-0BC6-4383-BB7A-80B31633CA67}">
      <dgm:prSet/>
      <dgm:spPr/>
      <dgm:t>
        <a:bodyPr/>
        <a:lstStyle/>
        <a:p>
          <a:endParaRPr lang="en-US"/>
        </a:p>
      </dgm:t>
    </dgm:pt>
    <dgm:pt modelId="{D53EC95A-ABCA-45BC-82BC-9AD8FEAFF0F3}">
      <dgm:prSet/>
      <dgm:spPr/>
      <dgm:t>
        <a:bodyPr/>
        <a:lstStyle/>
        <a:p>
          <a:r>
            <a:rPr lang="cs-CZ"/>
            <a:t>Analýza Chování Kódu</a:t>
          </a:r>
          <a:endParaRPr lang="en-US"/>
        </a:p>
      </dgm:t>
    </dgm:pt>
    <dgm:pt modelId="{5E33CCAD-D8A3-42EB-A748-6E82B19AA8D5}" type="parTrans" cxnId="{1AA028DD-7E71-4D8D-8262-0E1D47F54EA9}">
      <dgm:prSet/>
      <dgm:spPr/>
      <dgm:t>
        <a:bodyPr/>
        <a:lstStyle/>
        <a:p>
          <a:endParaRPr lang="en-US"/>
        </a:p>
      </dgm:t>
    </dgm:pt>
    <dgm:pt modelId="{E3B1F448-0418-46EB-9C13-3DFD487A50C7}" type="sibTrans" cxnId="{1AA028DD-7E71-4D8D-8262-0E1D47F54EA9}">
      <dgm:prSet/>
      <dgm:spPr/>
      <dgm:t>
        <a:bodyPr/>
        <a:lstStyle/>
        <a:p>
          <a:endParaRPr lang="en-US"/>
        </a:p>
      </dgm:t>
    </dgm:pt>
    <dgm:pt modelId="{3054AA61-26E6-40C4-85AB-C5D64E479ACC}">
      <dgm:prSet/>
      <dgm:spPr/>
      <dgm:t>
        <a:bodyPr/>
        <a:lstStyle/>
        <a:p>
          <a:r>
            <a:rPr lang="cs-CZ"/>
            <a:t>Udržování veškerého softwaru aktualizovaného</a:t>
          </a:r>
          <a:endParaRPr lang="en-US"/>
        </a:p>
      </dgm:t>
    </dgm:pt>
    <dgm:pt modelId="{2842BF46-902D-4B4F-9465-E95B5EA042AD}" type="parTrans" cxnId="{D38F5000-2D2F-4241-8F8B-C1C93018A86B}">
      <dgm:prSet/>
      <dgm:spPr/>
      <dgm:t>
        <a:bodyPr/>
        <a:lstStyle/>
        <a:p>
          <a:endParaRPr lang="en-US"/>
        </a:p>
      </dgm:t>
    </dgm:pt>
    <dgm:pt modelId="{B4A18A4F-A951-467F-ABEE-B76A4F588660}" type="sibTrans" cxnId="{D38F5000-2D2F-4241-8F8B-C1C93018A86B}">
      <dgm:prSet/>
      <dgm:spPr/>
      <dgm:t>
        <a:bodyPr/>
        <a:lstStyle/>
        <a:p>
          <a:endParaRPr lang="en-US"/>
        </a:p>
      </dgm:t>
    </dgm:pt>
    <dgm:pt modelId="{4FAADC86-7F48-48AB-BDDC-A809DABCF519}" type="pres">
      <dgm:prSet presAssocID="{21C7BDD0-7ECA-4666-9A71-47695968498F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640949D2-CE08-4A97-8EBB-39823E143472}" type="pres">
      <dgm:prSet presAssocID="{9EB39FF7-2F32-4400-8174-48451BEFA940}" presName="hierRoot1" presStyleCnt="0"/>
      <dgm:spPr/>
    </dgm:pt>
    <dgm:pt modelId="{414D6F94-5407-445F-A500-4AD8CF52CE43}" type="pres">
      <dgm:prSet presAssocID="{9EB39FF7-2F32-4400-8174-48451BEFA940}" presName="composite" presStyleCnt="0"/>
      <dgm:spPr/>
    </dgm:pt>
    <dgm:pt modelId="{54590C30-4DD2-4F7E-A0A8-DD157DB99BEA}" type="pres">
      <dgm:prSet presAssocID="{9EB39FF7-2F32-4400-8174-48451BEFA940}" presName="background" presStyleLbl="node0" presStyleIdx="0" presStyleCnt="3"/>
      <dgm:spPr/>
    </dgm:pt>
    <dgm:pt modelId="{13CA6EC5-44E0-487E-97BA-6DD0B96A606C}" type="pres">
      <dgm:prSet presAssocID="{9EB39FF7-2F32-4400-8174-48451BEFA940}" presName="text" presStyleLbl="fgAcc0" presStyleIdx="0" presStyleCnt="3">
        <dgm:presLayoutVars>
          <dgm:chPref val="3"/>
        </dgm:presLayoutVars>
      </dgm:prSet>
      <dgm:spPr/>
    </dgm:pt>
    <dgm:pt modelId="{36318A5A-9A11-4213-AFDC-10519FA3A561}" type="pres">
      <dgm:prSet presAssocID="{9EB39FF7-2F32-4400-8174-48451BEFA940}" presName="hierChild2" presStyleCnt="0"/>
      <dgm:spPr/>
    </dgm:pt>
    <dgm:pt modelId="{27505286-5D5E-4A59-89DC-E76869A63C59}" type="pres">
      <dgm:prSet presAssocID="{D53EC95A-ABCA-45BC-82BC-9AD8FEAFF0F3}" presName="hierRoot1" presStyleCnt="0"/>
      <dgm:spPr/>
    </dgm:pt>
    <dgm:pt modelId="{F5720C8E-C92B-40E7-941D-CDAF07E9F4A5}" type="pres">
      <dgm:prSet presAssocID="{D53EC95A-ABCA-45BC-82BC-9AD8FEAFF0F3}" presName="composite" presStyleCnt="0"/>
      <dgm:spPr/>
    </dgm:pt>
    <dgm:pt modelId="{4CFBA12B-3D0F-4BBD-BE51-249AF8253E20}" type="pres">
      <dgm:prSet presAssocID="{D53EC95A-ABCA-45BC-82BC-9AD8FEAFF0F3}" presName="background" presStyleLbl="node0" presStyleIdx="1" presStyleCnt="3"/>
      <dgm:spPr/>
    </dgm:pt>
    <dgm:pt modelId="{95689679-70EA-4FBC-AF19-8C83F6CD3BB5}" type="pres">
      <dgm:prSet presAssocID="{D53EC95A-ABCA-45BC-82BC-9AD8FEAFF0F3}" presName="text" presStyleLbl="fgAcc0" presStyleIdx="1" presStyleCnt="3">
        <dgm:presLayoutVars>
          <dgm:chPref val="3"/>
        </dgm:presLayoutVars>
      </dgm:prSet>
      <dgm:spPr/>
    </dgm:pt>
    <dgm:pt modelId="{D0384C73-DFD0-460B-A899-D08E496434D1}" type="pres">
      <dgm:prSet presAssocID="{D53EC95A-ABCA-45BC-82BC-9AD8FEAFF0F3}" presName="hierChild2" presStyleCnt="0"/>
      <dgm:spPr/>
    </dgm:pt>
    <dgm:pt modelId="{BCB26952-C479-4551-AF6E-594E5541CDCC}" type="pres">
      <dgm:prSet presAssocID="{3054AA61-26E6-40C4-85AB-C5D64E479ACC}" presName="hierRoot1" presStyleCnt="0"/>
      <dgm:spPr/>
    </dgm:pt>
    <dgm:pt modelId="{1E5741FF-DA81-47A4-91F8-ADD6321E21D3}" type="pres">
      <dgm:prSet presAssocID="{3054AA61-26E6-40C4-85AB-C5D64E479ACC}" presName="composite" presStyleCnt="0"/>
      <dgm:spPr/>
    </dgm:pt>
    <dgm:pt modelId="{E36C3DFA-6358-46E1-A391-64841481DEFD}" type="pres">
      <dgm:prSet presAssocID="{3054AA61-26E6-40C4-85AB-C5D64E479ACC}" presName="background" presStyleLbl="node0" presStyleIdx="2" presStyleCnt="3"/>
      <dgm:spPr/>
    </dgm:pt>
    <dgm:pt modelId="{64CB7B64-88AF-43D0-BCB1-B5B804151EE4}" type="pres">
      <dgm:prSet presAssocID="{3054AA61-26E6-40C4-85AB-C5D64E479ACC}" presName="text" presStyleLbl="fgAcc0" presStyleIdx="2" presStyleCnt="3">
        <dgm:presLayoutVars>
          <dgm:chPref val="3"/>
        </dgm:presLayoutVars>
      </dgm:prSet>
      <dgm:spPr/>
    </dgm:pt>
    <dgm:pt modelId="{54614B43-0915-4646-8EBE-8A3AA87C17D1}" type="pres">
      <dgm:prSet presAssocID="{3054AA61-26E6-40C4-85AB-C5D64E479ACC}" presName="hierChild2" presStyleCnt="0"/>
      <dgm:spPr/>
    </dgm:pt>
  </dgm:ptLst>
  <dgm:cxnLst>
    <dgm:cxn modelId="{D38F5000-2D2F-4241-8F8B-C1C93018A86B}" srcId="{21C7BDD0-7ECA-4666-9A71-47695968498F}" destId="{3054AA61-26E6-40C4-85AB-C5D64E479ACC}" srcOrd="2" destOrd="0" parTransId="{2842BF46-902D-4B4F-9465-E95B5EA042AD}" sibTransId="{B4A18A4F-A951-467F-ABEE-B76A4F588660}"/>
    <dgm:cxn modelId="{42F9780A-CB91-4C1C-A3B3-C187B1C6B297}" type="presOf" srcId="{D53EC95A-ABCA-45BC-82BC-9AD8FEAFF0F3}" destId="{95689679-70EA-4FBC-AF19-8C83F6CD3BB5}" srcOrd="0" destOrd="0" presId="urn:microsoft.com/office/officeart/2005/8/layout/hierarchy1"/>
    <dgm:cxn modelId="{34D90242-0BC6-4383-BB7A-80B31633CA67}" srcId="{21C7BDD0-7ECA-4666-9A71-47695968498F}" destId="{9EB39FF7-2F32-4400-8174-48451BEFA940}" srcOrd="0" destOrd="0" parTransId="{AC22AE35-0484-48D2-B34A-1F90DFC0312B}" sibTransId="{5D93E941-0547-4F4B-8AFF-0E3E0F009320}"/>
    <dgm:cxn modelId="{6A685444-48C2-4AEB-8686-3C5D5B901508}" type="presOf" srcId="{21C7BDD0-7ECA-4666-9A71-47695968498F}" destId="{4FAADC86-7F48-48AB-BDDC-A809DABCF519}" srcOrd="0" destOrd="0" presId="urn:microsoft.com/office/officeart/2005/8/layout/hierarchy1"/>
    <dgm:cxn modelId="{AB84977A-F336-4D06-9223-E10E409A34A4}" type="presOf" srcId="{9EB39FF7-2F32-4400-8174-48451BEFA940}" destId="{13CA6EC5-44E0-487E-97BA-6DD0B96A606C}" srcOrd="0" destOrd="0" presId="urn:microsoft.com/office/officeart/2005/8/layout/hierarchy1"/>
    <dgm:cxn modelId="{3F9F4D9C-201F-4AA6-9D35-FAF3449EAA4C}" type="presOf" srcId="{3054AA61-26E6-40C4-85AB-C5D64E479ACC}" destId="{64CB7B64-88AF-43D0-BCB1-B5B804151EE4}" srcOrd="0" destOrd="0" presId="urn:microsoft.com/office/officeart/2005/8/layout/hierarchy1"/>
    <dgm:cxn modelId="{1AA028DD-7E71-4D8D-8262-0E1D47F54EA9}" srcId="{21C7BDD0-7ECA-4666-9A71-47695968498F}" destId="{D53EC95A-ABCA-45BC-82BC-9AD8FEAFF0F3}" srcOrd="1" destOrd="0" parTransId="{5E33CCAD-D8A3-42EB-A748-6E82B19AA8D5}" sibTransId="{E3B1F448-0418-46EB-9C13-3DFD487A50C7}"/>
    <dgm:cxn modelId="{82DAA231-1AB7-41EB-ACA2-3E0B4409DA11}" type="presParOf" srcId="{4FAADC86-7F48-48AB-BDDC-A809DABCF519}" destId="{640949D2-CE08-4A97-8EBB-39823E143472}" srcOrd="0" destOrd="0" presId="urn:microsoft.com/office/officeart/2005/8/layout/hierarchy1"/>
    <dgm:cxn modelId="{7ED79C43-0D83-4EEE-AB01-0896E95A223B}" type="presParOf" srcId="{640949D2-CE08-4A97-8EBB-39823E143472}" destId="{414D6F94-5407-445F-A500-4AD8CF52CE43}" srcOrd="0" destOrd="0" presId="urn:microsoft.com/office/officeart/2005/8/layout/hierarchy1"/>
    <dgm:cxn modelId="{DE5E63A0-57CC-4D19-BCD1-C4D99A1F4DC4}" type="presParOf" srcId="{414D6F94-5407-445F-A500-4AD8CF52CE43}" destId="{54590C30-4DD2-4F7E-A0A8-DD157DB99BEA}" srcOrd="0" destOrd="0" presId="urn:microsoft.com/office/officeart/2005/8/layout/hierarchy1"/>
    <dgm:cxn modelId="{6AB4674D-E254-4D0B-912F-1B9A5FE29C48}" type="presParOf" srcId="{414D6F94-5407-445F-A500-4AD8CF52CE43}" destId="{13CA6EC5-44E0-487E-97BA-6DD0B96A606C}" srcOrd="1" destOrd="0" presId="urn:microsoft.com/office/officeart/2005/8/layout/hierarchy1"/>
    <dgm:cxn modelId="{C599AA1A-8371-4F9C-BDB4-D3013F1A0EF5}" type="presParOf" srcId="{640949D2-CE08-4A97-8EBB-39823E143472}" destId="{36318A5A-9A11-4213-AFDC-10519FA3A561}" srcOrd="1" destOrd="0" presId="urn:microsoft.com/office/officeart/2005/8/layout/hierarchy1"/>
    <dgm:cxn modelId="{ED890353-2810-40D0-A003-5FBF6A209015}" type="presParOf" srcId="{4FAADC86-7F48-48AB-BDDC-A809DABCF519}" destId="{27505286-5D5E-4A59-89DC-E76869A63C59}" srcOrd="1" destOrd="0" presId="urn:microsoft.com/office/officeart/2005/8/layout/hierarchy1"/>
    <dgm:cxn modelId="{8738469D-E59A-4311-BD3C-64AF025BB9AC}" type="presParOf" srcId="{27505286-5D5E-4A59-89DC-E76869A63C59}" destId="{F5720C8E-C92B-40E7-941D-CDAF07E9F4A5}" srcOrd="0" destOrd="0" presId="urn:microsoft.com/office/officeart/2005/8/layout/hierarchy1"/>
    <dgm:cxn modelId="{67625F94-97D1-4CFD-86ED-17DBDFC39E20}" type="presParOf" srcId="{F5720C8E-C92B-40E7-941D-CDAF07E9F4A5}" destId="{4CFBA12B-3D0F-4BBD-BE51-249AF8253E20}" srcOrd="0" destOrd="0" presId="urn:microsoft.com/office/officeart/2005/8/layout/hierarchy1"/>
    <dgm:cxn modelId="{87AE6C0E-EFDE-4AB5-B9BD-A7EF7EC4041F}" type="presParOf" srcId="{F5720C8E-C92B-40E7-941D-CDAF07E9F4A5}" destId="{95689679-70EA-4FBC-AF19-8C83F6CD3BB5}" srcOrd="1" destOrd="0" presId="urn:microsoft.com/office/officeart/2005/8/layout/hierarchy1"/>
    <dgm:cxn modelId="{60CEEF52-5621-4FCE-9DCC-E84C4D005B5D}" type="presParOf" srcId="{27505286-5D5E-4A59-89DC-E76869A63C59}" destId="{D0384C73-DFD0-460B-A899-D08E496434D1}" srcOrd="1" destOrd="0" presId="urn:microsoft.com/office/officeart/2005/8/layout/hierarchy1"/>
    <dgm:cxn modelId="{426AA292-17D4-4EEC-8F89-1039EDDC5328}" type="presParOf" srcId="{4FAADC86-7F48-48AB-BDDC-A809DABCF519}" destId="{BCB26952-C479-4551-AF6E-594E5541CDCC}" srcOrd="2" destOrd="0" presId="urn:microsoft.com/office/officeart/2005/8/layout/hierarchy1"/>
    <dgm:cxn modelId="{77429B93-69E5-430B-B1B1-32D7EFFB161A}" type="presParOf" srcId="{BCB26952-C479-4551-AF6E-594E5541CDCC}" destId="{1E5741FF-DA81-47A4-91F8-ADD6321E21D3}" srcOrd="0" destOrd="0" presId="urn:microsoft.com/office/officeart/2005/8/layout/hierarchy1"/>
    <dgm:cxn modelId="{22938684-D0E3-4EAC-9216-0020BD0DC82E}" type="presParOf" srcId="{1E5741FF-DA81-47A4-91F8-ADD6321E21D3}" destId="{E36C3DFA-6358-46E1-A391-64841481DEFD}" srcOrd="0" destOrd="0" presId="urn:microsoft.com/office/officeart/2005/8/layout/hierarchy1"/>
    <dgm:cxn modelId="{A708040D-66D9-461A-BEB3-C86CBC0227BC}" type="presParOf" srcId="{1E5741FF-DA81-47A4-91F8-ADD6321E21D3}" destId="{64CB7B64-88AF-43D0-BCB1-B5B804151EE4}" srcOrd="1" destOrd="0" presId="urn:microsoft.com/office/officeart/2005/8/layout/hierarchy1"/>
    <dgm:cxn modelId="{757C1813-7455-4CDA-A45E-1A5CF426B96D}" type="presParOf" srcId="{BCB26952-C479-4551-AF6E-594E5541CDCC}" destId="{54614B43-0915-4646-8EBE-8A3AA87C17D1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4590C30-4DD2-4F7E-A0A8-DD157DB99BEA}">
      <dsp:nvSpPr>
        <dsp:cNvPr id="0" name=""/>
        <dsp:cNvSpPr/>
      </dsp:nvSpPr>
      <dsp:spPr>
        <a:xfrm>
          <a:off x="0" y="638187"/>
          <a:ext cx="3043237" cy="1932455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6000"/>
                <a:satMod val="100000"/>
                <a:lumMod val="104000"/>
              </a:schemeClr>
            </a:gs>
            <a:gs pos="78000">
              <a:schemeClr val="accent1">
                <a:hueOff val="0"/>
                <a:satOff val="0"/>
                <a:lumOff val="0"/>
                <a:alphaOff val="0"/>
                <a:shade val="100000"/>
                <a:satMod val="110000"/>
                <a:lumMod val="100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>
            <a:rot lat="0" lon="0" rev="0"/>
          </a:camera>
          <a:lightRig rig="threePt" dir="t"/>
        </a:scene3d>
        <a:sp3d>
          <a:bevelT w="25400" h="12700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13CA6EC5-44E0-487E-97BA-6DD0B96A606C}">
      <dsp:nvSpPr>
        <dsp:cNvPr id="0" name=""/>
        <dsp:cNvSpPr/>
      </dsp:nvSpPr>
      <dsp:spPr>
        <a:xfrm>
          <a:off x="338137" y="959418"/>
          <a:ext cx="3043237" cy="193245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2600" kern="1200"/>
            <a:t>Správné nastavení oprávnění </a:t>
          </a:r>
          <a:endParaRPr lang="en-US" sz="2600" kern="1200"/>
        </a:p>
      </dsp:txBody>
      <dsp:txXfrm>
        <a:off x="394737" y="1016018"/>
        <a:ext cx="2930037" cy="1819255"/>
      </dsp:txXfrm>
    </dsp:sp>
    <dsp:sp modelId="{4CFBA12B-3D0F-4BBD-BE51-249AF8253E20}">
      <dsp:nvSpPr>
        <dsp:cNvPr id="0" name=""/>
        <dsp:cNvSpPr/>
      </dsp:nvSpPr>
      <dsp:spPr>
        <a:xfrm>
          <a:off x="3719512" y="638187"/>
          <a:ext cx="3043237" cy="1932455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6000"/>
                <a:satMod val="100000"/>
                <a:lumMod val="104000"/>
              </a:schemeClr>
            </a:gs>
            <a:gs pos="78000">
              <a:schemeClr val="accent1">
                <a:hueOff val="0"/>
                <a:satOff val="0"/>
                <a:lumOff val="0"/>
                <a:alphaOff val="0"/>
                <a:shade val="100000"/>
                <a:satMod val="110000"/>
                <a:lumMod val="100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>
            <a:rot lat="0" lon="0" rev="0"/>
          </a:camera>
          <a:lightRig rig="threePt" dir="t"/>
        </a:scene3d>
        <a:sp3d>
          <a:bevelT w="25400" h="12700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95689679-70EA-4FBC-AF19-8C83F6CD3BB5}">
      <dsp:nvSpPr>
        <dsp:cNvPr id="0" name=""/>
        <dsp:cNvSpPr/>
      </dsp:nvSpPr>
      <dsp:spPr>
        <a:xfrm>
          <a:off x="4057650" y="959418"/>
          <a:ext cx="3043237" cy="193245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2600" kern="1200"/>
            <a:t>Analýza Chování Kódu</a:t>
          </a:r>
          <a:endParaRPr lang="en-US" sz="2600" kern="1200"/>
        </a:p>
      </dsp:txBody>
      <dsp:txXfrm>
        <a:off x="4114250" y="1016018"/>
        <a:ext cx="2930037" cy="1819255"/>
      </dsp:txXfrm>
    </dsp:sp>
    <dsp:sp modelId="{E36C3DFA-6358-46E1-A391-64841481DEFD}">
      <dsp:nvSpPr>
        <dsp:cNvPr id="0" name=""/>
        <dsp:cNvSpPr/>
      </dsp:nvSpPr>
      <dsp:spPr>
        <a:xfrm>
          <a:off x="7439025" y="638187"/>
          <a:ext cx="3043237" cy="1932455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6000"/>
                <a:satMod val="100000"/>
                <a:lumMod val="104000"/>
              </a:schemeClr>
            </a:gs>
            <a:gs pos="78000">
              <a:schemeClr val="accent1">
                <a:hueOff val="0"/>
                <a:satOff val="0"/>
                <a:lumOff val="0"/>
                <a:alphaOff val="0"/>
                <a:shade val="100000"/>
                <a:satMod val="110000"/>
                <a:lumMod val="100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>
            <a:rot lat="0" lon="0" rev="0"/>
          </a:camera>
          <a:lightRig rig="threePt" dir="t"/>
        </a:scene3d>
        <a:sp3d>
          <a:bevelT w="25400" h="12700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64CB7B64-88AF-43D0-BCB1-B5B804151EE4}">
      <dsp:nvSpPr>
        <dsp:cNvPr id="0" name=""/>
        <dsp:cNvSpPr/>
      </dsp:nvSpPr>
      <dsp:spPr>
        <a:xfrm>
          <a:off x="7777162" y="959418"/>
          <a:ext cx="3043237" cy="193245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2600" kern="1200"/>
            <a:t>Udržování veškerého softwaru aktualizovaného</a:t>
          </a:r>
          <a:endParaRPr lang="en-US" sz="2600" kern="1200"/>
        </a:p>
      </dsp:txBody>
      <dsp:txXfrm>
        <a:off x="7833762" y="1016018"/>
        <a:ext cx="2930037" cy="181925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#1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1803405"/>
            <a:ext cx="9448800" cy="1825096"/>
          </a:xfrm>
        </p:spPr>
        <p:txBody>
          <a:bodyPr anchor="b">
            <a:normAutofit/>
          </a:bodyPr>
          <a:lstStyle>
            <a:lvl1pPr algn="l">
              <a:defRPr sz="6000"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632201"/>
            <a:ext cx="9448800" cy="685800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cs-CZ"/>
              <a:t>Kliknutím můžete upravit styl předlohy.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09561" y="4314328"/>
            <a:ext cx="2910840" cy="374642"/>
          </a:xfrm>
        </p:spPr>
        <p:txBody>
          <a:bodyPr/>
          <a:lstStyle/>
          <a:p>
            <a:fld id="{2971DD6D-1F40-4021-ABF8-75B591EBEE84}" type="datetimeFigureOut">
              <a:rPr lang="cs-CZ" smtClean="0"/>
              <a:t>28.08.2026</a:t>
            </a:fld>
            <a:endParaRPr lang="cs-C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371600" y="4323845"/>
            <a:ext cx="6400800" cy="365125"/>
          </a:xfrm>
        </p:spPr>
        <p:txBody>
          <a:bodyPr/>
          <a:lstStyle/>
          <a:p>
            <a:endParaRPr lang="cs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77200" y="1430866"/>
            <a:ext cx="2743200" cy="365125"/>
          </a:xfrm>
        </p:spPr>
        <p:txBody>
          <a:bodyPr/>
          <a:lstStyle/>
          <a:p>
            <a:fld id="{A0CE017B-11E5-42E1-A5F1-E18E282E1C14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8430356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71DD6D-1F40-4021-ABF8-75B591EBEE84}" type="datetimeFigureOut">
              <a:rPr lang="cs-CZ" smtClean="0"/>
              <a:t>28.08.2026</a:t>
            </a:fld>
            <a:endParaRPr lang="cs-C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CE017B-11E5-42E1-A5F1-E18E282E1C14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5228645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Záhlaví oddí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3"/>
            <a:ext cx="10820399" cy="2801935"/>
          </a:xfrm>
        </p:spPr>
        <p:txBody>
          <a:bodyPr anchor="b">
            <a:normAutofit/>
          </a:bodyPr>
          <a:lstStyle>
            <a:lvl1pPr algn="r">
              <a:defRPr sz="4000"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467" y="3641725"/>
            <a:ext cx="10490200" cy="955675"/>
          </a:xfrm>
        </p:spPr>
        <p:txBody>
          <a:bodyPr>
            <a:normAutofit/>
          </a:bodyPr>
          <a:lstStyle>
            <a:lvl1pPr marL="0" indent="0" algn="r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2971DD6D-1F40-4021-ABF8-75B591EBEE84}" type="datetimeFigureOut">
              <a:rPr lang="cs-CZ" smtClean="0"/>
              <a:t>28.08.2026</a:t>
            </a:fld>
            <a:endParaRPr lang="cs-C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1"/>
            <a:ext cx="6991492" cy="364065"/>
          </a:xfrm>
        </p:spPr>
        <p:txBody>
          <a:bodyPr/>
          <a:lstStyle/>
          <a:p>
            <a:endParaRPr lang="cs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A0CE017B-11E5-42E1-A5F1-E18E282E1C14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0408847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2194559"/>
            <a:ext cx="5334000" cy="4024125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194559"/>
            <a:ext cx="5334000" cy="4024125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71DD6D-1F40-4021-ABF8-75B591EBEE84}" type="datetimeFigureOut">
              <a:rPr lang="cs-CZ" smtClean="0"/>
              <a:t>28.08.2026</a:t>
            </a:fld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CE017B-11E5-42E1-A5F1-E18E282E1C14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1299768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án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600" cy="1295400"/>
          </a:xfrm>
        </p:spPr>
        <p:txBody>
          <a:bodyPr/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9" y="2183802"/>
            <a:ext cx="5079991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0" y="3132666"/>
            <a:ext cx="5311775" cy="3086019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0" y="2183802"/>
            <a:ext cx="5105400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132666"/>
            <a:ext cx="5334000" cy="3086019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71DD6D-1F40-4021-ABF8-75B591EBEE84}" type="datetimeFigureOut">
              <a:rPr lang="cs-CZ" smtClean="0"/>
              <a:t>28.08.2026</a:t>
            </a:fld>
            <a:endParaRPr lang="cs-CZ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CE017B-11E5-42E1-A5F1-E18E282E1C14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188617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Jenom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71DD6D-1F40-4021-ABF8-75B591EBEE84}" type="datetimeFigureOut">
              <a:rPr lang="cs-CZ" smtClean="0"/>
              <a:t>28.08.2026</a:t>
            </a:fld>
            <a:endParaRPr lang="cs-CZ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CE017B-11E5-42E1-A5F1-E18E282E1C14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3829186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71DD6D-1F40-4021-ABF8-75B591EBEE84}" type="datetimeFigureOut">
              <a:rPr lang="cs-CZ" smtClean="0"/>
              <a:t>28.08.2026</a:t>
            </a:fld>
            <a:endParaRPr lang="cs-CZ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CE017B-11E5-42E1-A5F1-E18E282E1C14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5691873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411480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95582" y="746759"/>
            <a:ext cx="6510618" cy="5471925"/>
          </a:xfrm>
        </p:spPr>
        <p:txBody>
          <a:bodyPr anchor="ctr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411480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71DD6D-1F40-4021-ABF8-75B591EBEE84}" type="datetimeFigureOut">
              <a:rPr lang="cs-CZ" smtClean="0"/>
              <a:t>28.08.2026</a:t>
            </a:fld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CE017B-11E5-42E1-A5F1-E18E282E1C14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9838556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ek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687324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861238" y="751241"/>
            <a:ext cx="3644962" cy="5467443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cs-CZ"/>
              <a:t>Kliknutím na ikonu přidáte obrázek.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687324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71DD6D-1F40-4021-ABF8-75B591EBEE84}" type="datetimeFigureOut">
              <a:rPr lang="cs-CZ" smtClean="0"/>
              <a:t>28.08.2026</a:t>
            </a:fld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CE017B-11E5-42E1-A5F1-E18E282E1C14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86514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atický obrázek s popis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77" y="4697360"/>
            <a:ext cx="10822034" cy="81935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1727" y="941439"/>
            <a:ext cx="10821840" cy="3478161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cs-CZ"/>
              <a:t>Kliknutím na ikonu přidáte obrázek.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516715"/>
            <a:ext cx="10820400" cy="701969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71DD6D-1F40-4021-ABF8-75B591EBEE84}" type="datetimeFigureOut">
              <a:rPr lang="cs-CZ" smtClean="0"/>
              <a:t>28.08.2026</a:t>
            </a:fld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CE017B-11E5-42E1-A5F1-E18E282E1C14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603871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ázev a popis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2"/>
            <a:ext cx="10820400" cy="2802467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9133"/>
            <a:ext cx="10130516" cy="99906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2971DD6D-1F40-4021-ABF8-75B591EBEE84}" type="datetimeFigureOut">
              <a:rPr lang="cs-CZ" smtClean="0"/>
              <a:t>28.08.2026</a:t>
            </a:fld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A0CE017B-11E5-42E1-A5F1-E18E282E1C14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83723108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itace s popis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67" y="753533"/>
            <a:ext cx="10151533" cy="2604495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303865" y="3365556"/>
            <a:ext cx="9592736" cy="4444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959862"/>
            <a:ext cx="10151533" cy="679871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2971DD6D-1F40-4021-ABF8-75B591EBEE84}" type="datetimeFigureOut">
              <a:rPr lang="cs-CZ" smtClean="0"/>
              <a:t>28.08.2026</a:t>
            </a:fld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A0CE017B-11E5-42E1-A5F1-E18E282E1C14}" type="slidenum">
              <a:rPr lang="cs-CZ" smtClean="0"/>
              <a:t>‹#›</a:t>
            </a:fld>
            <a:endParaRPr lang="cs-CZ"/>
          </a:p>
        </p:txBody>
      </p:sp>
      <p:sp>
        <p:nvSpPr>
          <p:cNvPr id="9" name="TextBox 8"/>
          <p:cNvSpPr txBox="1"/>
          <p:nvPr/>
        </p:nvSpPr>
        <p:spPr>
          <a:xfrm>
            <a:off x="476250" y="93345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84230" y="270129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63065481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Jmenovk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95" y="1124701"/>
            <a:ext cx="10146186" cy="251183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8315"/>
            <a:ext cx="10144654" cy="99988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78883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2971DD6D-1F40-4021-ABF8-75B591EBEE84}" type="datetimeFigureOut">
              <a:rPr lang="cs-CZ" smtClean="0"/>
              <a:t>28.08.2026</a:t>
            </a:fld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8883"/>
            <a:ext cx="6991492" cy="365125"/>
          </a:xfrm>
        </p:spPr>
        <p:txBody>
          <a:bodyPr/>
          <a:lstStyle/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A0CE017B-11E5-42E1-A5F1-E18E282E1C14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48700308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sloup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2895600" y="761999"/>
            <a:ext cx="8610599" cy="1303867"/>
          </a:xfrm>
        </p:spPr>
        <p:txBody>
          <a:bodyPr/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800" y="2202080"/>
            <a:ext cx="3456432" cy="61732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799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68800" y="2201333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366858" y="2904067"/>
            <a:ext cx="3456432" cy="331461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51800" y="2192866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8051801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71DD6D-1F40-4021-ABF8-75B591EBEE84}" type="datetimeFigureOut">
              <a:rPr lang="cs-CZ" smtClean="0"/>
              <a:t>28.08.2026</a:t>
            </a:fld>
            <a:endParaRPr lang="cs-CZ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CE017B-11E5-42E1-A5F1-E18E282E1C14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0499932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sloupce s obrázk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599" cy="1295400"/>
          </a:xfrm>
        </p:spPr>
        <p:txBody>
          <a:bodyPr/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8618" y="4191000"/>
            <a:ext cx="3451582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8618" y="2362200"/>
            <a:ext cx="3451582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cs-CZ"/>
              <a:t>Kliknutím na ikonu přidáte obrázek.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8618" y="4873764"/>
            <a:ext cx="3451582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74263" y="4191000"/>
            <a:ext cx="3448935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374263" y="2362200"/>
            <a:ext cx="3448936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cs-CZ"/>
              <a:t>Kliknutím na ikonu přidáte obrázek.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374264" y="4873763"/>
            <a:ext cx="344893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49731" y="4191000"/>
            <a:ext cx="3456469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49855" y="2362200"/>
            <a:ext cx="3447878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cs-CZ"/>
              <a:t>Kliknutím na ikonu přidáte obrázek.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8049731" y="4873761"/>
            <a:ext cx="345244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71DD6D-1F40-4021-ABF8-75B591EBEE84}" type="datetimeFigureOut">
              <a:rPr lang="cs-CZ" smtClean="0"/>
              <a:t>28.08.2026</a:t>
            </a:fld>
            <a:endParaRPr lang="cs-CZ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CE017B-11E5-42E1-A5F1-E18E282E1C14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04714584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s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2194559"/>
            <a:ext cx="10820400" cy="4024125"/>
          </a:xfrm>
        </p:spPr>
        <p:txBody>
          <a:bodyPr vert="eaVer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71DD6D-1F40-4021-ABF8-75B591EBEE84}" type="datetimeFigureOut">
              <a:rPr lang="cs-CZ" smtClean="0"/>
              <a:t>28.08.2026</a:t>
            </a:fld>
            <a:endParaRPr lang="cs-C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CE017B-11E5-42E1-A5F1-E18E282E1C14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99057214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S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48800" y="745066"/>
            <a:ext cx="2057400" cy="3903133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24466" y="745067"/>
            <a:ext cx="8204201" cy="3903133"/>
          </a:xfrm>
        </p:spPr>
        <p:txBody>
          <a:bodyPr vert="eaVer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79941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2971DD6D-1F40-4021-ABF8-75B591EBEE84}" type="datetimeFigureOut">
              <a:rPr lang="cs-CZ" smtClean="0"/>
              <a:t>28.08.2026</a:t>
            </a:fld>
            <a:endParaRPr lang="cs-C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0"/>
            <a:ext cx="6991492" cy="365125"/>
          </a:xfrm>
        </p:spPr>
        <p:txBody>
          <a:bodyPr/>
          <a:lstStyle/>
          <a:p>
            <a:endParaRPr lang="cs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A0CE017B-11E5-42E1-A5F1-E18E282E1C14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1625904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TOP.pn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4414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95600" y="764373"/>
            <a:ext cx="8610600" cy="12930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194560"/>
            <a:ext cx="10820400" cy="4024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95360" y="6356350"/>
            <a:ext cx="29108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971DD6D-1F40-4021-ABF8-75B591EBEE84}" type="datetimeFigureOut">
              <a:rPr lang="cs-CZ" smtClean="0"/>
              <a:t>28.08.2026</a:t>
            </a:fld>
            <a:endParaRPr lang="cs-C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355845"/>
            <a:ext cx="7772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cs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3000" y="3810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0CE017B-11E5-42E1-A5F1-E18E282E1C14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3362321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40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AFBF3165-6234-D2B4-AF04-56C29A561AF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cs-CZ" dirty="0"/>
              <a:t>Zranitelnosti </a:t>
            </a:r>
          </a:p>
        </p:txBody>
      </p:sp>
    </p:spTree>
    <p:extLst>
      <p:ext uri="{BB962C8B-B14F-4D97-AF65-F5344CB8AC3E}">
        <p14:creationId xmlns:p14="http://schemas.microsoft.com/office/powerpoint/2010/main" val="35257282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704D386C-0898-D188-CEB0-AED2C4811F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95600" y="764373"/>
            <a:ext cx="8610600" cy="1293028"/>
          </a:xfrm>
        </p:spPr>
        <p:txBody>
          <a:bodyPr>
            <a:normAutofit/>
          </a:bodyPr>
          <a:lstStyle/>
          <a:p>
            <a:r>
              <a:rPr lang="cs-CZ" dirty="0"/>
              <a:t>Definice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4A40226A-8770-8BC8-810C-E52564C437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3" y="2194560"/>
            <a:ext cx="5816600" cy="4024125"/>
          </a:xfrm>
        </p:spPr>
        <p:txBody>
          <a:bodyPr>
            <a:normAutofit/>
          </a:bodyPr>
          <a:lstStyle/>
          <a:p>
            <a:r>
              <a:rPr lang="cs-CZ" dirty="0"/>
              <a:t>Jedná se o označení programátorské chyby která představuje bezpečnostní riziko pro uživatele určitého softwaru nebo hardwaru.</a:t>
            </a:r>
          </a:p>
          <a:p>
            <a:r>
              <a:rPr lang="cs-CZ" dirty="0"/>
              <a:t>Její možné využití je označováno jako exploit.</a:t>
            </a:r>
          </a:p>
          <a:p>
            <a:r>
              <a:rPr lang="cs-CZ" dirty="0"/>
              <a:t>Využitím této chyby může útočník získat přístup k zařízení oběti nebo jiný prospěch ( např.: Spuštění škodlivého kódu)</a:t>
            </a:r>
          </a:p>
        </p:txBody>
      </p:sp>
      <p:pic>
        <p:nvPicPr>
          <p:cNvPr id="1028" name="Picture 4" descr="Postřehy z bezpečnosti: trojský kůň s vůní cibule - Root.cz">
            <a:extLst>
              <a:ext uri="{FF2B5EF4-FFF2-40B4-BE49-F238E27FC236}">
                <a16:creationId xmlns:a16="http://schemas.microsoft.com/office/drawing/2014/main" id="{74F1A00C-4C8D-A62D-EFDE-A00992D6538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45" r="24597" b="2"/>
          <a:stretch/>
        </p:blipFill>
        <p:spPr bwMode="auto">
          <a:xfrm>
            <a:off x="6985000" y="2194560"/>
            <a:ext cx="4521200" cy="34109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078744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BBEF570B-4B43-9486-06A8-050D72D3CD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95600" y="764373"/>
            <a:ext cx="8610600" cy="1293028"/>
          </a:xfrm>
        </p:spPr>
        <p:txBody>
          <a:bodyPr>
            <a:normAutofit/>
          </a:bodyPr>
          <a:lstStyle/>
          <a:p>
            <a:r>
              <a:rPr lang="cs-CZ" dirty="0"/>
              <a:t>Prevence rizik</a:t>
            </a:r>
          </a:p>
        </p:txBody>
      </p:sp>
      <p:graphicFrame>
        <p:nvGraphicFramePr>
          <p:cNvPr id="5" name="Zástupný obsah 2">
            <a:extLst>
              <a:ext uri="{FF2B5EF4-FFF2-40B4-BE49-F238E27FC236}">
                <a16:creationId xmlns:a16="http://schemas.microsoft.com/office/drawing/2014/main" id="{EE151DEA-FD37-8E1A-A9B1-5E14C820E59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17918763"/>
              </p:ext>
            </p:extLst>
          </p:nvPr>
        </p:nvGraphicFramePr>
        <p:xfrm>
          <a:off x="685800" y="2441051"/>
          <a:ext cx="10820400" cy="353006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0681270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DAF2AB85-AF41-4E4D-DC95-E9029D8908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Příklady Zranitelností 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E9F1AE19-A88A-80BF-377A-1565D0B0E7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 err="1"/>
              <a:t>FireBase</a:t>
            </a:r>
            <a:r>
              <a:rPr lang="cs-CZ" dirty="0"/>
              <a:t> – v březnu roku 2024 se objevila v Databázovém systému </a:t>
            </a:r>
            <a:r>
              <a:rPr lang="cs-CZ" dirty="0" err="1"/>
              <a:t>Firebase</a:t>
            </a:r>
            <a:r>
              <a:rPr lang="cs-CZ" dirty="0"/>
              <a:t> chyba v nastavení umožňující stažení a pozměnění dat</a:t>
            </a:r>
          </a:p>
          <a:p>
            <a:r>
              <a:rPr lang="cs-CZ" dirty="0"/>
              <a:t>Windows DNS server – zasláním speciálně </a:t>
            </a:r>
            <a:r>
              <a:rPr lang="cs-CZ" dirty="0" err="1"/>
              <a:t>upravné</a:t>
            </a:r>
            <a:r>
              <a:rPr lang="cs-CZ" dirty="0"/>
              <a:t> odpovědi může dojít ke spuštění kódu s vysokou úrovní oprávnění </a:t>
            </a:r>
          </a:p>
          <a:p>
            <a:endParaRPr lang="cs-CZ" dirty="0"/>
          </a:p>
          <a:p>
            <a:endParaRPr lang="cs-CZ" dirty="0"/>
          </a:p>
        </p:txBody>
      </p:sp>
      <p:pic>
        <p:nvPicPr>
          <p:cNvPr id="1028" name="Picture 4" descr="Firebase | Google's Mobile and Web App Development Platform">
            <a:extLst>
              <a:ext uri="{FF2B5EF4-FFF2-40B4-BE49-F238E27FC236}">
                <a16:creationId xmlns:a16="http://schemas.microsoft.com/office/drawing/2014/main" id="{E79E7D77-FCEB-A54B-0FFD-A2C3F462C2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73333" y="3530600"/>
            <a:ext cx="5080000" cy="254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716807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3EECD85-5E47-8AF0-51FE-E478FCB234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Sociální inženýrství 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993E0CB2-8DB1-6A67-BB83-EB6E9DEF0C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/>
              <a:t>Je manipulace lidí k provedení nějakého kroku nebo předání nějaké informace</a:t>
            </a:r>
          </a:p>
          <a:p>
            <a:r>
              <a:rPr lang="cs-CZ" dirty="0"/>
              <a:t>Typickými příklady je </a:t>
            </a:r>
            <a:r>
              <a:rPr lang="cs-CZ" dirty="0" err="1"/>
              <a:t>Phishing,Vishing</a:t>
            </a:r>
            <a:r>
              <a:rPr lang="cs-CZ" dirty="0"/>
              <a:t> který má v uživateli vyvolat strach o své prostředky a ve stresu jej donutit k chybě v úsudku </a:t>
            </a:r>
          </a:p>
        </p:txBody>
      </p:sp>
      <p:pic>
        <p:nvPicPr>
          <p:cNvPr id="2050" name="Picture 2" descr="Co je sociální inženýrství a proč je to hrozba v roce 2024?">
            <a:extLst>
              <a:ext uri="{FF2B5EF4-FFF2-40B4-BE49-F238E27FC236}">
                <a16:creationId xmlns:a16="http://schemas.microsoft.com/office/drawing/2014/main" id="{30FFD782-DA00-F160-C5EA-996F6AEC1A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37350" y="3550056"/>
            <a:ext cx="5014383" cy="30486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839625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4ADF7EEE-44B9-D117-E780-9033D35CA0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Insider </a:t>
            </a:r>
            <a:r>
              <a:rPr lang="cs-CZ" dirty="0" err="1"/>
              <a:t>threats</a:t>
            </a:r>
            <a:endParaRPr lang="cs-CZ" dirty="0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9DF19C27-EDFB-93FA-842C-A13C106F0C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/>
              <a:t>Jedná se o typ útoku který pochází zevnitř kdy se jeden ze zaměstnanců firmy nechá najmout útočníkem a „vpustí“ jej do systémů firmy</a:t>
            </a:r>
          </a:p>
          <a:p>
            <a:r>
              <a:rPr lang="cs-CZ" dirty="0"/>
              <a:t>V poslední době se tento typ útoku rozšířil a </a:t>
            </a:r>
            <a:r>
              <a:rPr lang="cs-CZ" dirty="0" err="1"/>
              <a:t>Darkweb</a:t>
            </a:r>
            <a:r>
              <a:rPr lang="cs-CZ" dirty="0"/>
              <a:t> je plný lidí hledajících „krysy“ a lidí nabízejících své </a:t>
            </a:r>
            <a:r>
              <a:rPr lang="cs-CZ" dirty="0" err="1"/>
              <a:t>skužby</a:t>
            </a:r>
            <a:r>
              <a:rPr lang="cs-CZ" dirty="0"/>
              <a:t> jako Insider</a:t>
            </a:r>
          </a:p>
          <a:p>
            <a:endParaRPr lang="cs-CZ" dirty="0"/>
          </a:p>
        </p:txBody>
      </p:sp>
      <p:pic>
        <p:nvPicPr>
          <p:cNvPr id="3074" name="Picture 2" descr="What is Insider Threat In Cyber Security | Sangfor Glossary">
            <a:extLst>
              <a:ext uri="{FF2B5EF4-FFF2-40B4-BE49-F238E27FC236}">
                <a16:creationId xmlns:a16="http://schemas.microsoft.com/office/drawing/2014/main" id="{12BD4C3C-CB58-6829-7CDE-48D03AA959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67600" y="3623860"/>
            <a:ext cx="4504267" cy="23534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504958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9C305620-0393-A365-E3F6-1E93DD2258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 err="1"/>
              <a:t>Zero</a:t>
            </a:r>
            <a:r>
              <a:rPr lang="cs-CZ" dirty="0"/>
              <a:t> </a:t>
            </a:r>
            <a:r>
              <a:rPr lang="cs-CZ" dirty="0" err="1"/>
              <a:t>day</a:t>
            </a:r>
            <a:r>
              <a:rPr lang="cs-CZ" dirty="0"/>
              <a:t> Zranitelnosti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74DBD33B-6EB8-1482-015D-EDD9634608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 err="1"/>
              <a:t>Zero</a:t>
            </a:r>
            <a:r>
              <a:rPr lang="cs-CZ" dirty="0"/>
              <a:t> </a:t>
            </a:r>
            <a:r>
              <a:rPr lang="cs-CZ" dirty="0" err="1"/>
              <a:t>day</a:t>
            </a:r>
            <a:r>
              <a:rPr lang="cs-CZ" dirty="0"/>
              <a:t> zranitelnost ještě nebyla objevena/Opravena a ví o ní pouze určité procento lidí kteří ji využívají ke svému prospěchu</a:t>
            </a:r>
          </a:p>
          <a:p>
            <a:r>
              <a:rPr lang="cs-CZ" dirty="0"/>
              <a:t>Nevýhoda těchto zranitelností je to že mohou postihnout spoustu uživatelů a nemusí se na to přijít, Proto je Důležité Udržovat své operační systémy/Antivirové softwary aktualizované</a:t>
            </a:r>
          </a:p>
          <a:p>
            <a:endParaRPr lang="cs-CZ" dirty="0"/>
          </a:p>
        </p:txBody>
      </p:sp>
      <p:pic>
        <p:nvPicPr>
          <p:cNvPr id="4098" name="Picture 2" descr="Odpověď společnosti Bitdefender na chyby zabezpečení serveru Microsoft  Exchange a doporučení">
            <a:extLst>
              <a:ext uri="{FF2B5EF4-FFF2-40B4-BE49-F238E27FC236}">
                <a16:creationId xmlns:a16="http://schemas.microsoft.com/office/drawing/2014/main" id="{4670A2A7-CBD0-93E2-2D7C-BEBE0CA47E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05501" y="3972028"/>
            <a:ext cx="5482167" cy="21215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297188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34EED4E9-A63D-5982-CB10-0CC8733A99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Distribuované útoky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345450BB-134B-A8BB-16E5-113F6487E0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/>
              <a:t>Jedná se o útoky typu DDOS kdy na Službu začne přistupovat velké množství „uživatelů“(</a:t>
            </a:r>
            <a:r>
              <a:rPr lang="cs-CZ" dirty="0" err="1"/>
              <a:t>botů</a:t>
            </a:r>
            <a:r>
              <a:rPr lang="cs-CZ" dirty="0"/>
              <a:t>) a Služba se zahltí a nebude schopna zpracovávat požadavky legitimních uživatelů </a:t>
            </a:r>
          </a:p>
          <a:p>
            <a:r>
              <a:rPr lang="cs-CZ" dirty="0"/>
              <a:t>Spousta Služeb nabízí </a:t>
            </a:r>
            <a:r>
              <a:rPr lang="cs-CZ" dirty="0" err="1"/>
              <a:t>AntiDDOS</a:t>
            </a:r>
            <a:r>
              <a:rPr lang="cs-CZ" dirty="0"/>
              <a:t> ochranu která je schopná odfiltrovat Základní typy útoků </a:t>
            </a:r>
          </a:p>
          <a:p>
            <a:r>
              <a:rPr lang="cs-CZ" dirty="0"/>
              <a:t>Tyto útoky pochází většinou z </a:t>
            </a:r>
            <a:r>
              <a:rPr lang="cs-CZ" dirty="0" err="1"/>
              <a:t>Botnetů</a:t>
            </a:r>
            <a:r>
              <a:rPr lang="cs-CZ" dirty="0"/>
              <a:t> a nelze je spojit s konkrétním uživatelem </a:t>
            </a:r>
          </a:p>
        </p:txBody>
      </p:sp>
      <p:pic>
        <p:nvPicPr>
          <p:cNvPr id="5126" name="Picture 6" descr="What is a distributed denial-of-service (DDoS) attack? | Cloudflare">
            <a:extLst>
              <a:ext uri="{FF2B5EF4-FFF2-40B4-BE49-F238E27FC236}">
                <a16:creationId xmlns:a16="http://schemas.microsoft.com/office/drawing/2014/main" id="{E6270A97-3582-BD90-EBA4-025AC24E50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39000" y="4410534"/>
            <a:ext cx="4174068" cy="20875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517248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F84E7579-BF44-6083-9682-E3453FA68F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Nedostatečné Šifrování 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F4C7EB2D-E49A-457F-B9B9-08A03A37A6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/>
              <a:t>Při nedostatečném šifrování může dojít k útokům typu man in </a:t>
            </a:r>
            <a:r>
              <a:rPr lang="cs-CZ" dirty="0" err="1"/>
              <a:t>the</a:t>
            </a:r>
            <a:r>
              <a:rPr lang="cs-CZ" dirty="0"/>
              <a:t> </a:t>
            </a:r>
            <a:r>
              <a:rPr lang="cs-CZ" dirty="0" err="1"/>
              <a:t>middle</a:t>
            </a:r>
            <a:endParaRPr lang="cs-CZ" dirty="0"/>
          </a:p>
          <a:p>
            <a:r>
              <a:rPr lang="cs-CZ" dirty="0"/>
              <a:t>Důvodem nedostatečného šifrování může být použití Nevhodného Šifrovacího protokolu nebo jeho nastavení, Dalším důvodem může být nešifrování</a:t>
            </a:r>
          </a:p>
          <a:p>
            <a:r>
              <a:rPr lang="cs-CZ" dirty="0"/>
              <a:t>Díky této Chybě může být ohrožena Důvěryhodnost Posílaných dat, nebo můžou být ukradena</a:t>
            </a:r>
          </a:p>
        </p:txBody>
      </p:sp>
      <p:sp>
        <p:nvSpPr>
          <p:cNvPr id="4" name="AutoShape 2" descr="Man in the Middle Attack: A Havoc to Network Security - Threatcop">
            <a:extLst>
              <a:ext uri="{FF2B5EF4-FFF2-40B4-BE49-F238E27FC236}">
                <a16:creationId xmlns:a16="http://schemas.microsoft.com/office/drawing/2014/main" id="{7422E628-653A-AA3C-B65E-EABD5738971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cs-CZ"/>
          </a:p>
        </p:txBody>
      </p:sp>
      <p:sp>
        <p:nvSpPr>
          <p:cNvPr id="5" name="AutoShape 4" descr="Man in the Middle Attack: A Havoc to Network Security - Threatcop">
            <a:extLst>
              <a:ext uri="{FF2B5EF4-FFF2-40B4-BE49-F238E27FC236}">
                <a16:creationId xmlns:a16="http://schemas.microsoft.com/office/drawing/2014/main" id="{F8530BDB-B6A7-6380-5C88-25A0F5F8AFC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cs-CZ"/>
          </a:p>
        </p:txBody>
      </p:sp>
      <p:pic>
        <p:nvPicPr>
          <p:cNvPr id="6150" name="Picture 6" descr="What Is a Man-in-the-Middle Attack (MitM)? - Definition from IoTAgenda">
            <a:extLst>
              <a:ext uri="{FF2B5EF4-FFF2-40B4-BE49-F238E27FC236}">
                <a16:creationId xmlns:a16="http://schemas.microsoft.com/office/drawing/2014/main" id="{1BCE43B9-D515-87DE-4B51-F0C9F1C430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61930" y="4104746"/>
            <a:ext cx="2657475" cy="2390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10844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0733E375-E111-AB81-85B4-A3F637F212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Špatná autentizace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C40A24FB-056E-6A8D-1683-8EDE781B93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/>
              <a:t>Nedostatečnou Autentizací může dojít k prolomení firemních systémů a odcizení nebo pozměnění dat</a:t>
            </a:r>
          </a:p>
          <a:p>
            <a:r>
              <a:rPr lang="cs-CZ" dirty="0"/>
              <a:t>Mezi tyto problémy se řadí: nevyužívání 2FA, Požívání stejného hesla všude a jeho Neměnnost, nedostatečná Kvalita hesla, špatné nastavení oprávnění v systému, nerušení Účtů zaměstnanců kteří již nejsou zaměstnáni </a:t>
            </a:r>
          </a:p>
          <a:p>
            <a:endParaRPr lang="cs-CZ" dirty="0"/>
          </a:p>
          <a:p>
            <a:pPr marL="0" indent="0">
              <a:buNone/>
            </a:pPr>
            <a:r>
              <a:rPr lang="cs-CZ" dirty="0"/>
              <a:t> 	</a:t>
            </a:r>
          </a:p>
        </p:txBody>
      </p:sp>
      <p:pic>
        <p:nvPicPr>
          <p:cNvPr id="7172" name="Picture 4" descr="Google 2FA - Strathmore University Information Technology">
            <a:extLst>
              <a:ext uri="{FF2B5EF4-FFF2-40B4-BE49-F238E27FC236}">
                <a16:creationId xmlns:a16="http://schemas.microsoft.com/office/drawing/2014/main" id="{980BF859-6FE4-A3FB-CFE7-26372BE3BA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29966" y="3989864"/>
            <a:ext cx="4093633" cy="26035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4070130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7A3BF116-3821-6987-6BF1-7BD13048BE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Chyby operačního systému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B6DE586E-A161-DB8D-8023-CDB2E7B7B7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/>
              <a:t>Chyby operačního systému se objevují nejčastěji u Windows a MacOS u Linuxu e neobjevují příliš často (nebo se o nich nepíše) </a:t>
            </a:r>
          </a:p>
          <a:p>
            <a:r>
              <a:rPr lang="cs-CZ" dirty="0"/>
              <a:t>Tyto chyby nejčastěji otevírají </a:t>
            </a:r>
            <a:r>
              <a:rPr lang="cs-CZ" dirty="0" err="1"/>
              <a:t>backdoor</a:t>
            </a:r>
            <a:r>
              <a:rPr lang="cs-CZ" dirty="0"/>
              <a:t> potencionálním útočníkům a umožňují vzdálený přístup do zařízení a </a:t>
            </a:r>
            <a:r>
              <a:rPr lang="cs-CZ"/>
              <a:t>spuštění škodlivého kódu </a:t>
            </a:r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345916735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D401ADCB-D5FB-4F4E-BCDA-4811006103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zdroje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DF8494F8-C786-FADD-AA18-839552F315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/>
              <a:t>Wikipedie</a:t>
            </a:r>
          </a:p>
          <a:p>
            <a:r>
              <a:rPr lang="cs-CZ" dirty="0" err="1"/>
              <a:t>ChatGPT</a:t>
            </a:r>
            <a:endParaRPr lang="cs-CZ" dirty="0"/>
          </a:p>
          <a:p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2185016582"/>
      </p:ext>
    </p:extLst>
  </p:cSld>
  <p:clrMapOvr>
    <a:masterClrMapping/>
  </p:clrMapOvr>
</p:sld>
</file>

<file path=ppt/theme/theme1.xml><?xml version="1.0" encoding="utf-8"?>
<a:theme xmlns:a="http://schemas.openxmlformats.org/drawingml/2006/main" name="Kondenzační stopa">
  <a:themeElements>
    <a:clrScheme name="Kondenzační stopa">
      <a:dk1>
        <a:sysClr val="windowText" lastClr="000000"/>
      </a:dk1>
      <a:lt1>
        <a:sysClr val="window" lastClr="FFFFFF"/>
      </a:lt1>
      <a:dk2>
        <a:srgbClr val="454545"/>
      </a:dk2>
      <a:lt2>
        <a:srgbClr val="DADADA"/>
      </a:lt2>
      <a:accent1>
        <a:srgbClr val="DF2E28"/>
      </a:accent1>
      <a:accent2>
        <a:srgbClr val="FE801A"/>
      </a:accent2>
      <a:accent3>
        <a:srgbClr val="E9BF35"/>
      </a:accent3>
      <a:accent4>
        <a:srgbClr val="81BB42"/>
      </a:accent4>
      <a:accent5>
        <a:srgbClr val="32C7A9"/>
      </a:accent5>
      <a:accent6>
        <a:srgbClr val="4A9BDC"/>
      </a:accent6>
      <a:hlink>
        <a:srgbClr val="F0532B"/>
      </a:hlink>
      <a:folHlink>
        <a:srgbClr val="F38B53"/>
      </a:folHlink>
    </a:clrScheme>
    <a:fontScheme name="Kondenzační stopa">
      <a:maj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Kondenzační stopa">
      <a:fillStyleLst>
        <a:solidFill>
          <a:schemeClr val="phClr"/>
        </a:solidFill>
        <a:gradFill rotWithShape="1">
          <a:gsLst>
            <a:gs pos="0">
              <a:schemeClr val="phClr">
                <a:tint val="69000"/>
                <a:alpha val="100000"/>
                <a:satMod val="109000"/>
                <a:lumMod val="110000"/>
              </a:schemeClr>
            </a:gs>
            <a:gs pos="52000">
              <a:schemeClr val="phClr">
                <a:tint val="74000"/>
                <a:satMod val="100000"/>
                <a:lumMod val="104000"/>
              </a:schemeClr>
            </a:gs>
            <a:gs pos="100000">
              <a:schemeClr val="phClr">
                <a:tint val="78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00000"/>
                <a:lumMod val="104000"/>
              </a:schemeClr>
            </a:gs>
            <a:gs pos="78000">
              <a:schemeClr val="phClr">
                <a:shade val="100000"/>
                <a:satMod val="11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threePt" dir="t"/>
          </a:scene3d>
          <a:sp3d>
            <a:bevelT w="25400" h="12700"/>
          </a:sp3d>
        </a:effectStyle>
        <a:effectStyle>
          <a:effectLst>
            <a:outerShdw blurRad="57150" dist="19050" dir="5400000" algn="ctr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>
            <a:bevelT w="508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por Trail" id="{4FDF2955-7D9C-493C-B9F9-C205151B46CD}" vid="{8F31A783-2159-4870-BC29-2BA7D038EA4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TM04033937[[fn=Kondenzační stopa]]</Template>
  <TotalTime>100</TotalTime>
  <Words>438</Words>
  <Application>Microsoft Office PowerPoint</Application>
  <PresentationFormat>Širokoúhlá obrazovka</PresentationFormat>
  <Paragraphs>40</Paragraphs>
  <Slides>12</Slides>
  <Notes>0</Notes>
  <HiddenSlides>0</HiddenSlides>
  <MMClips>0</MMClips>
  <ScaleCrop>false</ScaleCrop>
  <HeadingPairs>
    <vt:vector size="6" baseType="variant">
      <vt:variant>
        <vt:lpstr>Použitá písma</vt:lpstr>
      </vt:variant>
      <vt:variant>
        <vt:i4>2</vt:i4>
      </vt:variant>
      <vt:variant>
        <vt:lpstr>Motiv</vt:lpstr>
      </vt:variant>
      <vt:variant>
        <vt:i4>1</vt:i4>
      </vt:variant>
      <vt:variant>
        <vt:lpstr>Nadpisy snímků</vt:lpstr>
      </vt:variant>
      <vt:variant>
        <vt:i4>12</vt:i4>
      </vt:variant>
    </vt:vector>
  </HeadingPairs>
  <TitlesOfParts>
    <vt:vector size="15" baseType="lpstr">
      <vt:lpstr>Arial</vt:lpstr>
      <vt:lpstr>Century Gothic</vt:lpstr>
      <vt:lpstr>Kondenzační stopa</vt:lpstr>
      <vt:lpstr>Zranitelnosti </vt:lpstr>
      <vt:lpstr>Definice</vt:lpstr>
      <vt:lpstr>Prevence rizik</vt:lpstr>
      <vt:lpstr>Příklady Zranitelností </vt:lpstr>
      <vt:lpstr>Sociální inženýrství </vt:lpstr>
      <vt:lpstr>Insider threats</vt:lpstr>
      <vt:lpstr>Zero day Zranitelnosti</vt:lpstr>
      <vt:lpstr>Distribuované útoky</vt:lpstr>
      <vt:lpstr>Nedostatečné Šifrování </vt:lpstr>
      <vt:lpstr>Špatná autentizace</vt:lpstr>
      <vt:lpstr>Chyby operačního systému</vt:lpstr>
      <vt:lpstr>zdroje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