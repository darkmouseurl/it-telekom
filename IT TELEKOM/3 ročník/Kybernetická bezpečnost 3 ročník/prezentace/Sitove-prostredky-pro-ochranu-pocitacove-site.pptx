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ří VÁCLAVÍK" userId="57f21ca3-eb08-4cbd-8001-b7d264336364" providerId="ADAL" clId="{114E0213-066B-3E45-BBAC-C8381440771E}"/>
    <pc:docChg chg="modSld">
      <pc:chgData name="Jiří VÁCLAVÍK" userId="57f21ca3-eb08-4cbd-8001-b7d264336364" providerId="ADAL" clId="{114E0213-066B-3E45-BBAC-C8381440771E}" dt="2024-03-27T13:41:14.587" v="31" actId="1076"/>
      <pc:docMkLst>
        <pc:docMk/>
      </pc:docMkLst>
      <pc:sldChg chg="modSp">
        <pc:chgData name="Jiří VÁCLAVÍK" userId="57f21ca3-eb08-4cbd-8001-b7d264336364" providerId="ADAL" clId="{114E0213-066B-3E45-BBAC-C8381440771E}" dt="2024-03-27T13:41:14.587" v="31" actId="1076"/>
        <pc:sldMkLst>
          <pc:docMk/>
          <pc:sldMk cId="0" sldId="256"/>
        </pc:sldMkLst>
        <pc:spChg chg="mod">
          <ac:chgData name="Jiří VÁCLAVÍK" userId="57f21ca3-eb08-4cbd-8001-b7d264336364" providerId="ADAL" clId="{114E0213-066B-3E45-BBAC-C8381440771E}" dt="2024-03-27T13:41:14.587" v="31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Jiří VÁCLAVÍK" userId="57f21ca3-eb08-4cbd-8001-b7d264336364" providerId="ADAL" clId="{114E0213-066B-3E45-BBAC-C8381440771E}" dt="2024-03-27T13:40:52.646" v="25" actId="20577"/>
          <ac:spMkLst>
            <pc:docMk/>
            <pc:sldMk cId="0" sldId="256"/>
            <ac:spMk id="9" creationId="{00000000-0000-0000-0000-000000000000}"/>
          </ac:spMkLst>
        </pc:spChg>
        <pc:picChg chg="mod">
          <ac:chgData name="Jiří VÁCLAVÍK" userId="57f21ca3-eb08-4cbd-8001-b7d264336364" providerId="ADAL" clId="{114E0213-066B-3E45-BBAC-C8381440771E}" dt="2024-03-27T13:40:01.104" v="2" actId="1076"/>
          <ac:picMkLst>
            <pc:docMk/>
            <pc:sldMk cId="0" sldId="256"/>
            <ac:picMk id="8" creationId="{00000000-0000-0000-0000-000000000000}"/>
          </ac:picMkLst>
        </pc:picChg>
      </pc:sldChg>
    </pc:docChg>
  </pc:docChgLst>
  <pc:docChgLst>
    <pc:chgData name="Jiří VÁCLAVÍK" userId="S::jiri.vaclavik.2@teleinformatika.eu::57f21ca3-eb08-4cbd-8001-b7d264336364" providerId="AD" clId="Web-{EEAF9B85-9816-E740-1E1B-57475CECF3D1}"/>
    <pc:docChg chg="mod">
      <pc:chgData name="Jiří VÁCLAVÍK" userId="S::jiri.vaclavik.2@teleinformatika.eu::57f21ca3-eb08-4cbd-8001-b7d264336364" providerId="AD" clId="Web-{EEAF9B85-9816-E740-1E1B-57475CECF3D1}" dt="2025-03-17T13:26:04.796" v="0" actId="33475"/>
      <pc:docMkLst>
        <pc:docMk/>
      </pc:docMkLst>
    </pc:docChg>
  </pc:docChgLst>
  <pc:docChgLst>
    <pc:chgData clId="Web-{4EB59D1F-6C32-04A0-E381-B5D563EAFC2A}"/>
    <pc:docChg chg="modSld">
      <pc:chgData name="" userId="" providerId="" clId="Web-{4EB59D1F-6C32-04A0-E381-B5D563EAFC2A}" dt="2024-04-03T12:06:32.926" v="7" actId="20577"/>
      <pc:docMkLst>
        <pc:docMk/>
      </pc:docMkLst>
      <pc:sldChg chg="modSp">
        <pc:chgData name="" userId="" providerId="" clId="Web-{4EB59D1F-6C32-04A0-E381-B5D563EAFC2A}" dt="2024-04-03T12:06:31.722" v="2" actId="20577"/>
        <pc:sldMkLst>
          <pc:docMk/>
          <pc:sldMk cId="0" sldId="256"/>
        </pc:sldMkLst>
        <pc:spChg chg="mod">
          <ac:chgData name="" userId="" providerId="" clId="Web-{4EB59D1F-6C32-04A0-E381-B5D563EAFC2A}" dt="2024-04-03T12:06:31.676" v="0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" userId="" providerId="" clId="Web-{4EB59D1F-6C32-04A0-E381-B5D563EAFC2A}" dt="2024-04-03T12:06:31.707" v="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" userId="" providerId="" clId="Web-{4EB59D1F-6C32-04A0-E381-B5D563EAFC2A}" dt="2024-04-03T12:06:31.722" v="2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">
        <pc:chgData name="" userId="" providerId="" clId="Web-{4EB59D1F-6C32-04A0-E381-B5D563EAFC2A}" dt="2024-04-03T12:06:32.926" v="7" actId="20577"/>
        <pc:sldMkLst>
          <pc:docMk/>
          <pc:sldMk cId="0" sldId="257"/>
        </pc:sldMkLst>
        <pc:spChg chg="mod">
          <ac:chgData name="" userId="" providerId="" clId="Web-{4EB59D1F-6C32-04A0-E381-B5D563EAFC2A}" dt="2024-04-03T12:06:32.863" v="3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" userId="" providerId="" clId="Web-{4EB59D1F-6C32-04A0-E381-B5D563EAFC2A}" dt="2024-04-03T12:06:32.879" v="4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" userId="" providerId="" clId="Web-{4EB59D1F-6C32-04A0-E381-B5D563EAFC2A}" dt="2024-04-03T12:06:32.894" v="5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" userId="" providerId="" clId="Web-{4EB59D1F-6C32-04A0-E381-B5D563EAFC2A}" dt="2024-04-03T12:06:32.910" v="6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" userId="" providerId="" clId="Web-{4EB59D1F-6C32-04A0-E381-B5D563EAFC2A}" dt="2024-04-03T12:06:32.926" v="7" actId="20577"/>
          <ac:spMkLst>
            <pc:docMk/>
            <pc:sldMk cId="0" sldId="257"/>
            <ac:spMk id="8" creationId="{00000000-0000-0000-0000-000000000000}"/>
          </ac:spMkLst>
        </pc:spChg>
      </pc:sldChg>
    </pc:docChg>
  </pc:docChgLst>
  <pc:docChgLst>
    <pc:chgData name="Filip Lauterbach" userId="S::lauterbach@teleinformatika.eu::2601b6f1-7fe8-441e-b715-b77adb6cc671" providerId="AD" clId="Web-{4EB59D1F-6C32-04A0-E381-B5D563EAFC2A}"/>
    <pc:docChg chg="modSld">
      <pc:chgData name="Filip Lauterbach" userId="S::lauterbach@teleinformatika.eu::2601b6f1-7fe8-441e-b715-b77adb6cc671" providerId="AD" clId="Web-{4EB59D1F-6C32-04A0-E381-B5D563EAFC2A}" dt="2024-04-03T12:06:45.894" v="55" actId="20577"/>
      <pc:docMkLst>
        <pc:docMk/>
      </pc:docMkLst>
      <pc:sldChg chg="modSp">
        <pc:chgData name="Filip Lauterbach" userId="S::lauterbach@teleinformatika.eu::2601b6f1-7fe8-441e-b715-b77adb6cc671" providerId="AD" clId="Web-{4EB59D1F-6C32-04A0-E381-B5D563EAFC2A}" dt="2024-04-03T12:06:36.644" v="9" actId="20577"/>
        <pc:sldMkLst>
          <pc:docMk/>
          <pc:sldMk cId="0" sldId="258"/>
        </pc:sldMkLst>
        <pc:spChg chg="mod">
          <ac:chgData name="Filip Lauterbach" userId="S::lauterbach@teleinformatika.eu::2601b6f1-7fe8-441e-b715-b77adb6cc671" providerId="AD" clId="Web-{4EB59D1F-6C32-04A0-E381-B5D563EAFC2A}" dt="2024-04-03T12:06:36.457" v="0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6.488" v="1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6.504" v="2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6.519" v="3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6.551" v="4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6.566" v="5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6.582" v="6" actId="2057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6.613" v="7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6.629" v="8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6.644" v="9" actId="20577"/>
          <ac:spMkLst>
            <pc:docMk/>
            <pc:sldMk cId="0" sldId="258"/>
            <ac:spMk id="17" creationId="{00000000-0000-0000-0000-000000000000}"/>
          </ac:spMkLst>
        </pc:spChg>
      </pc:sldChg>
      <pc:sldChg chg="modSp">
        <pc:chgData name="Filip Lauterbach" userId="S::lauterbach@teleinformatika.eu::2601b6f1-7fe8-441e-b715-b77adb6cc671" providerId="AD" clId="Web-{4EB59D1F-6C32-04A0-E381-B5D563EAFC2A}" dt="2024-04-03T12:06:37.410" v="16" actId="20577"/>
        <pc:sldMkLst>
          <pc:docMk/>
          <pc:sldMk cId="0" sldId="259"/>
        </pc:sldMkLst>
        <pc:spChg chg="mod">
          <ac:chgData name="Filip Lauterbach" userId="S::lauterbach@teleinformatika.eu::2601b6f1-7fe8-441e-b715-b77adb6cc671" providerId="AD" clId="Web-{4EB59D1F-6C32-04A0-E381-B5D563EAFC2A}" dt="2024-04-03T12:06:37.347" v="10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7.363" v="11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7.379" v="12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7.379" v="13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7.394" v="14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7.394" v="15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7.410" v="16" actId="20577"/>
          <ac:spMkLst>
            <pc:docMk/>
            <pc:sldMk cId="0" sldId="259"/>
            <ac:spMk id="10" creationId="{00000000-0000-0000-0000-000000000000}"/>
          </ac:spMkLst>
        </pc:spChg>
      </pc:sldChg>
      <pc:sldChg chg="modSp">
        <pc:chgData name="Filip Lauterbach" userId="S::lauterbach@teleinformatika.eu::2601b6f1-7fe8-441e-b715-b77adb6cc671" providerId="AD" clId="Web-{4EB59D1F-6C32-04A0-E381-B5D563EAFC2A}" dt="2024-04-03T12:06:38.597" v="23" actId="20577"/>
        <pc:sldMkLst>
          <pc:docMk/>
          <pc:sldMk cId="0" sldId="260"/>
        </pc:sldMkLst>
        <pc:spChg chg="mod">
          <ac:chgData name="Filip Lauterbach" userId="S::lauterbach@teleinformatika.eu::2601b6f1-7fe8-441e-b715-b77adb6cc671" providerId="AD" clId="Web-{4EB59D1F-6C32-04A0-E381-B5D563EAFC2A}" dt="2024-04-03T12:06:38.394" v="17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8.410" v="18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8.426" v="19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8.504" v="20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8.519" v="21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8.582" v="22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8.597" v="23" actId="20577"/>
          <ac:spMkLst>
            <pc:docMk/>
            <pc:sldMk cId="0" sldId="260"/>
            <ac:spMk id="13" creationId="{00000000-0000-0000-0000-000000000000}"/>
          </ac:spMkLst>
        </pc:spChg>
      </pc:sldChg>
      <pc:sldChg chg="modSp">
        <pc:chgData name="Filip Lauterbach" userId="S::lauterbach@teleinformatika.eu::2601b6f1-7fe8-441e-b715-b77adb6cc671" providerId="AD" clId="Web-{4EB59D1F-6C32-04A0-E381-B5D563EAFC2A}" dt="2024-04-03T12:06:39.738" v="28" actId="20577"/>
        <pc:sldMkLst>
          <pc:docMk/>
          <pc:sldMk cId="0" sldId="261"/>
        </pc:sldMkLst>
        <pc:spChg chg="mod">
          <ac:chgData name="Filip Lauterbach" userId="S::lauterbach@teleinformatika.eu::2601b6f1-7fe8-441e-b715-b77adb6cc671" providerId="AD" clId="Web-{4EB59D1F-6C32-04A0-E381-B5D563EAFC2A}" dt="2024-04-03T12:06:39.551" v="24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9.629" v="25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9.644" v="26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9.738" v="27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39.738" v="28" actId="20577"/>
          <ac:spMkLst>
            <pc:docMk/>
            <pc:sldMk cId="0" sldId="261"/>
            <ac:spMk id="11" creationId="{00000000-0000-0000-0000-000000000000}"/>
          </ac:spMkLst>
        </pc:spChg>
      </pc:sldChg>
      <pc:sldChg chg="modSp">
        <pc:chgData name="Filip Lauterbach" userId="S::lauterbach@teleinformatika.eu::2601b6f1-7fe8-441e-b715-b77adb6cc671" providerId="AD" clId="Web-{4EB59D1F-6C32-04A0-E381-B5D563EAFC2A}" dt="2024-04-03T12:06:41.410" v="35" actId="20577"/>
        <pc:sldMkLst>
          <pc:docMk/>
          <pc:sldMk cId="0" sldId="262"/>
        </pc:sldMkLst>
        <pc:spChg chg="mod">
          <ac:chgData name="Filip Lauterbach" userId="S::lauterbach@teleinformatika.eu::2601b6f1-7fe8-441e-b715-b77adb6cc671" providerId="AD" clId="Web-{4EB59D1F-6C32-04A0-E381-B5D563EAFC2A}" dt="2024-04-03T12:06:41.332" v="29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1.347" v="30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1.347" v="31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1.363" v="32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1.379" v="33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1.394" v="34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1.410" v="35" actId="20577"/>
          <ac:spMkLst>
            <pc:docMk/>
            <pc:sldMk cId="0" sldId="262"/>
            <ac:spMk id="15" creationId="{00000000-0000-0000-0000-000000000000}"/>
          </ac:spMkLst>
        </pc:spChg>
      </pc:sldChg>
      <pc:sldChg chg="modSp">
        <pc:chgData name="Filip Lauterbach" userId="S::lauterbach@teleinformatika.eu::2601b6f1-7fe8-441e-b715-b77adb6cc671" providerId="AD" clId="Web-{4EB59D1F-6C32-04A0-E381-B5D563EAFC2A}" dt="2024-04-03T12:06:42.457" v="40" actId="20577"/>
        <pc:sldMkLst>
          <pc:docMk/>
          <pc:sldMk cId="0" sldId="263"/>
        </pc:sldMkLst>
        <pc:spChg chg="mod">
          <ac:chgData name="Filip Lauterbach" userId="S::lauterbach@teleinformatika.eu::2601b6f1-7fe8-441e-b715-b77adb6cc671" providerId="AD" clId="Web-{4EB59D1F-6C32-04A0-E381-B5D563EAFC2A}" dt="2024-04-03T12:06:42.410" v="36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2.426" v="37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2.441" v="38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2.441" v="39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2.457" v="40" actId="20577"/>
          <ac:spMkLst>
            <pc:docMk/>
            <pc:sldMk cId="0" sldId="263"/>
            <ac:spMk id="11" creationId="{00000000-0000-0000-0000-000000000000}"/>
          </ac:spMkLst>
        </pc:spChg>
      </pc:sldChg>
      <pc:sldChg chg="modSp">
        <pc:chgData name="Filip Lauterbach" userId="S::lauterbach@teleinformatika.eu::2601b6f1-7fe8-441e-b715-b77adb6cc671" providerId="AD" clId="Web-{4EB59D1F-6C32-04A0-E381-B5D563EAFC2A}" dt="2024-04-03T12:06:43.535" v="50" actId="20577"/>
        <pc:sldMkLst>
          <pc:docMk/>
          <pc:sldMk cId="0" sldId="264"/>
        </pc:sldMkLst>
        <pc:spChg chg="mod">
          <ac:chgData name="Filip Lauterbach" userId="S::lauterbach@teleinformatika.eu::2601b6f1-7fe8-441e-b715-b77adb6cc671" providerId="AD" clId="Web-{4EB59D1F-6C32-04A0-E381-B5D563EAFC2A}" dt="2024-04-03T12:06:43.379" v="41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3.394" v="42" actId="2057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3.410" v="43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3.426" v="44" actId="2057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3.441" v="45" actId="2057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3.457" v="46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3.488" v="47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3.504" v="48" actId="2057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3.519" v="49" actId="20577"/>
          <ac:spMkLst>
            <pc:docMk/>
            <pc:sldMk cId="0" sldId="264"/>
            <ac:spMk id="21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3.535" v="50" actId="20577"/>
          <ac:spMkLst>
            <pc:docMk/>
            <pc:sldMk cId="0" sldId="264"/>
            <ac:spMk id="22" creationId="{00000000-0000-0000-0000-000000000000}"/>
          </ac:spMkLst>
        </pc:spChg>
      </pc:sldChg>
      <pc:sldChg chg="modSp">
        <pc:chgData name="Filip Lauterbach" userId="S::lauterbach@teleinformatika.eu::2601b6f1-7fe8-441e-b715-b77adb6cc671" providerId="AD" clId="Web-{4EB59D1F-6C32-04A0-E381-B5D563EAFC2A}" dt="2024-04-03T12:06:45.894" v="55" actId="20577"/>
        <pc:sldMkLst>
          <pc:docMk/>
          <pc:sldMk cId="0" sldId="265"/>
        </pc:sldMkLst>
        <pc:spChg chg="mod">
          <ac:chgData name="Filip Lauterbach" userId="S::lauterbach@teleinformatika.eu::2601b6f1-7fe8-441e-b715-b77adb6cc671" providerId="AD" clId="Web-{4EB59D1F-6C32-04A0-E381-B5D563EAFC2A}" dt="2024-04-03T12:06:45.847" v="51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5.863" v="52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5.863" v="53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5.879" v="5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Filip Lauterbach" userId="S::lauterbach@teleinformatika.eu::2601b6f1-7fe8-441e-b715-b77adb6cc671" providerId="AD" clId="Web-{4EB59D1F-6C32-04A0-E381-B5D563EAFC2A}" dt="2024-04-03T12:06:45.894" v="55" actId="20577"/>
          <ac:spMkLst>
            <pc:docMk/>
            <pc:sldMk cId="0" sldId="265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2B69E-3D0F-8940-A597-47408DCA8AB7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21ACE-9439-554A-98CE-74F5ED2CB36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32012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amma.ap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amma.ap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amma.app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amma.app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19599" y="1668185"/>
            <a:ext cx="7477601" cy="24995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97145"/>
              </a:lnSpc>
              <a:buNone/>
            </a:pPr>
            <a:r>
              <a:rPr lang="en-US" sz="5249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Síťové prostředky pro ochranu počítačové sítě</a:t>
            </a:r>
            <a:endParaRPr lang="en-US" sz="5249" dirty="0">
              <a:cs typeface="Calibri" panose="020F0502020204030204"/>
            </a:endParaRPr>
          </a:p>
        </p:txBody>
      </p:sp>
      <p:sp>
        <p:nvSpPr>
          <p:cNvPr id="6" name="Text 2"/>
          <p:cNvSpPr/>
          <p:nvPr/>
        </p:nvSpPr>
        <p:spPr>
          <a:xfrm>
            <a:off x="6319599" y="4501039"/>
            <a:ext cx="7477601" cy="142160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Síťové prostředky pro ochranu počítačové sítě jsou nezbytné pro zajištění bezpečnosti dat a zařízení v síti. Zahrnují firewall, antivirový software, šifrování datového provozu, IDS, IPS, VPN, bezpečnostní politiku, školení zaměstnanců v oblasti kybernetické bezpečnosti a zálohování a obnovu dat.</a:t>
            </a:r>
            <a:endParaRPr lang="en-US" sz="1750" dirty="0">
              <a:cs typeface="Calibri" panose="020F0502020204030204"/>
            </a:endParaRPr>
          </a:p>
        </p:txBody>
      </p:sp>
      <p:pic>
        <p:nvPicPr>
          <p:cNvPr id="10" name="Image 3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2037993" y="2043113"/>
            <a:ext cx="4443889" cy="694373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6408"/>
              </a:lnSpc>
              <a:buNone/>
            </a:pPr>
            <a:r>
              <a:rPr lang="en-US" sz="4374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Firewall</a:t>
            </a:r>
            <a:endParaRPr lang="en-US" sz="4374" dirty="0">
              <a:cs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2037993" y="3070741"/>
            <a:ext cx="2221944" cy="34718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8691"/>
              </a:lnSpc>
              <a:buNone/>
            </a:pPr>
            <a:r>
              <a:rPr lang="en-US" sz="2187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Popis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037993" y="3751183"/>
            <a:ext cx="10554414" cy="7108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Firewall je základním prvkem síťové bezpečnosti, který kontroluje a filtruje datový provoz mezi sítí a vnějším prostředím, chrání před neoprávněným přístupem a potenciálními hrozbami.</a:t>
            </a:r>
            <a:endParaRPr lang="en-US" sz="1750" dirty="0">
              <a:cs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2037993" y="4795242"/>
            <a:ext cx="2221944" cy="34718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8691"/>
              </a:lnSpc>
              <a:buNone/>
            </a:pPr>
            <a:r>
              <a:rPr lang="en-US" sz="2187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Funkce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2037993" y="5475684"/>
            <a:ext cx="10554414" cy="7108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Může blokovat nebezpečné webové stránky, chránit před malwarem a sledovat sítě pro detekci a prevenci útoků.</a:t>
            </a:r>
            <a:endParaRPr lang="en-US" sz="1750" dirty="0">
              <a:cs typeface="Calibri" panose="020F0502020204030204"/>
            </a:endParaRPr>
          </a:p>
        </p:txBody>
      </p:sp>
      <p:pic>
        <p:nvPicPr>
          <p:cNvPr id="9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7774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37993" y="3562469"/>
            <a:ext cx="5311140" cy="694373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6408"/>
              </a:lnSpc>
              <a:buNone/>
            </a:pPr>
            <a:r>
              <a:rPr lang="en-US" sz="4374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Antivirový software</a:t>
            </a:r>
            <a:endParaRPr lang="en-US" sz="4374" dirty="0">
              <a:cs typeface="Calibri" panose="020F0502020204030204"/>
            </a:endParaRPr>
          </a:p>
        </p:txBody>
      </p:sp>
      <p:sp>
        <p:nvSpPr>
          <p:cNvPr id="6" name="Shape 2"/>
          <p:cNvSpPr/>
          <p:nvPr/>
        </p:nvSpPr>
        <p:spPr>
          <a:xfrm>
            <a:off x="2037993" y="476369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3C136D"/>
          </a:solidFill>
          <a:ln w="13811">
            <a:solidFill>
              <a:srgbClr val="552C8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3"/>
          <p:cNvSpPr/>
          <p:nvPr/>
        </p:nvSpPr>
        <p:spPr>
          <a:xfrm>
            <a:off x="2226945" y="4805362"/>
            <a:ext cx="121920" cy="416481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ct val="197175"/>
              </a:lnSpc>
              <a:buNone/>
            </a:pPr>
            <a:r>
              <a:rPr lang="en-US" sz="2624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24" dirty="0">
              <a:cs typeface="Calibri" panose="020F0502020204030204"/>
            </a:endParaRPr>
          </a:p>
        </p:txBody>
      </p:sp>
      <p:sp>
        <p:nvSpPr>
          <p:cNvPr id="8" name="Text 4"/>
          <p:cNvSpPr/>
          <p:nvPr/>
        </p:nvSpPr>
        <p:spPr>
          <a:xfrm>
            <a:off x="2760107" y="4840010"/>
            <a:ext cx="2647950" cy="6943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98691"/>
              </a:lnSpc>
              <a:buNone/>
            </a:pPr>
            <a:r>
              <a:rPr lang="en-US" sz="218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Detekce a Odstranění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9" name="Text 5"/>
          <p:cNvSpPr/>
          <p:nvPr/>
        </p:nvSpPr>
        <p:spPr>
          <a:xfrm>
            <a:off x="2760107" y="5667613"/>
            <a:ext cx="2647950" cy="142160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Antivirový software monitoruje a odstraňuje škodlivý software, včetně virů, červů a spywaru.</a:t>
            </a:r>
            <a:endParaRPr lang="en-US" sz="1750" dirty="0">
              <a:cs typeface="Calibri" panose="020F0502020204030204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630228" y="476369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3C136D"/>
          </a:solidFill>
          <a:ln w="13811">
            <a:solidFill>
              <a:srgbClr val="552C8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7"/>
          <p:cNvSpPr/>
          <p:nvPr/>
        </p:nvSpPr>
        <p:spPr>
          <a:xfrm>
            <a:off x="5784890" y="4805362"/>
            <a:ext cx="190500" cy="416481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ct val="197175"/>
              </a:lnSpc>
              <a:buNone/>
            </a:pPr>
            <a:r>
              <a:rPr lang="en-US" sz="2624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24" dirty="0">
              <a:cs typeface="Calibri" panose="020F0502020204030204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352342" y="4840010"/>
            <a:ext cx="2647950" cy="6943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98691"/>
              </a:lnSpc>
              <a:buNone/>
            </a:pPr>
            <a:r>
              <a:rPr lang="en-US" sz="218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Automatické Aktualizace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352342" y="5667613"/>
            <a:ext cx="2647950" cy="17770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Pravidelné automatické aktualizace detekčních a eradikačních algoritmů jsou důležité pro udržení bezpečnosti.</a:t>
            </a:r>
            <a:endParaRPr lang="en-US" sz="1750" dirty="0">
              <a:cs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222462" y="4763691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3C136D"/>
          </a:solidFill>
          <a:ln w="13811">
            <a:solidFill>
              <a:srgbClr val="552C8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1"/>
          <p:cNvSpPr/>
          <p:nvPr/>
        </p:nvSpPr>
        <p:spPr>
          <a:xfrm>
            <a:off x="9377124" y="4805362"/>
            <a:ext cx="190500" cy="416481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ct val="197175"/>
              </a:lnSpc>
              <a:buNone/>
            </a:pPr>
            <a:r>
              <a:rPr lang="en-US" sz="2624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24" dirty="0">
              <a:cs typeface="Calibri" panose="020F050202020403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944576" y="4840010"/>
            <a:ext cx="2647950" cy="6943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98691"/>
              </a:lnSpc>
              <a:buNone/>
            </a:pPr>
            <a:r>
              <a:rPr lang="en-US" sz="218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Skenování v Reálném Čase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9944576" y="5667613"/>
            <a:ext cx="2647950" cy="142160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Provádí průběžné skenování souborů a aplikací v reálném čase k detekci možných hrozeb.</a:t>
            </a:r>
            <a:endParaRPr lang="en-US" sz="1750" dirty="0">
              <a:cs typeface="Calibri" panose="020F0502020204030204"/>
            </a:endParaRPr>
          </a:p>
        </p:txBody>
      </p:sp>
      <p:pic>
        <p:nvPicPr>
          <p:cNvPr id="18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2037993" y="2255520"/>
            <a:ext cx="7528560" cy="694373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6408"/>
              </a:lnSpc>
              <a:buNone/>
            </a:pPr>
            <a:r>
              <a:rPr lang="en-US" sz="4374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Šifrování datového provozu</a:t>
            </a:r>
            <a:endParaRPr lang="en-US" sz="4374" dirty="0">
              <a:cs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2037993" y="3505319"/>
            <a:ext cx="5110520" cy="999887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ct val="156707"/>
              </a:lnSpc>
              <a:buNone/>
            </a:pPr>
            <a:r>
              <a:rPr lang="en-US" sz="7873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256-bit</a:t>
            </a:r>
            <a:endParaRPr lang="en-US" sz="7873" dirty="0">
              <a:cs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3482221" y="4782860"/>
            <a:ext cx="2221944" cy="34718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ct val="198691"/>
              </a:lnSpc>
              <a:buNone/>
            </a:pPr>
            <a:r>
              <a:rPr lang="en-US" sz="218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Bitová Šifra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2037993" y="5263277"/>
            <a:ext cx="5110520" cy="7108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Šifrování na úrovni 256 bitů poskytuje vysokou úroveň bezpečnosti a ochrany datové komunikace.</a:t>
            </a:r>
            <a:endParaRPr lang="en-US" sz="1750" dirty="0">
              <a:cs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81768" y="3505319"/>
            <a:ext cx="5110639" cy="999887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ct val="156707"/>
              </a:lnSpc>
              <a:buNone/>
            </a:pPr>
            <a:r>
              <a:rPr lang="en-US" sz="7873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TLS 1.3</a:t>
            </a:r>
            <a:endParaRPr lang="en-US" sz="7873" dirty="0">
              <a:cs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8926116" y="4782860"/>
            <a:ext cx="2221944" cy="34718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ct val="198691"/>
              </a:lnSpc>
              <a:buNone/>
            </a:pPr>
            <a:r>
              <a:rPr lang="en-US" sz="218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Protokol TLS 1.3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81768" y="5263277"/>
            <a:ext cx="5110639" cy="7108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Nový standard poskytuje vylepšenou ochranu při šifrování datové komunikace.</a:t>
            </a:r>
            <a:endParaRPr lang="en-US" sz="1750" dirty="0">
              <a:cs typeface="Calibri" panose="020F0502020204030204"/>
            </a:endParaRPr>
          </a:p>
        </p:txBody>
      </p:sp>
      <p:pic>
        <p:nvPicPr>
          <p:cNvPr id="11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7774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37993" y="4091464"/>
            <a:ext cx="8953500" cy="694373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6408"/>
              </a:lnSpc>
              <a:buNone/>
            </a:pPr>
            <a:r>
              <a:rPr lang="en-US" sz="4374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Intrusion detection system (IDS)</a:t>
            </a:r>
            <a:endParaRPr lang="en-US" sz="4374" dirty="0">
              <a:cs typeface="Calibri" panose="020F0502020204030204"/>
            </a:endParaRPr>
          </a:p>
        </p:txBody>
      </p:sp>
      <p:sp>
        <p:nvSpPr>
          <p:cNvPr id="6" name="Shape 2"/>
          <p:cNvSpPr/>
          <p:nvPr/>
        </p:nvSpPr>
        <p:spPr>
          <a:xfrm>
            <a:off x="2037993" y="5292685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3C136D"/>
          </a:solidFill>
          <a:ln w="13811">
            <a:solidFill>
              <a:srgbClr val="552C8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3"/>
          <p:cNvSpPr/>
          <p:nvPr/>
        </p:nvSpPr>
        <p:spPr>
          <a:xfrm>
            <a:off x="2226945" y="5334357"/>
            <a:ext cx="121920" cy="416481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ct val="197175"/>
              </a:lnSpc>
              <a:buNone/>
            </a:pPr>
            <a:r>
              <a:rPr lang="en-US" sz="2624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24" dirty="0">
              <a:cs typeface="Calibri" panose="020F0502020204030204"/>
            </a:endParaRPr>
          </a:p>
        </p:txBody>
      </p:sp>
      <p:sp>
        <p:nvSpPr>
          <p:cNvPr id="8" name="Text 4"/>
          <p:cNvSpPr/>
          <p:nvPr/>
        </p:nvSpPr>
        <p:spPr>
          <a:xfrm>
            <a:off x="2760107" y="5369004"/>
            <a:ext cx="2491740" cy="34718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8691"/>
              </a:lnSpc>
              <a:buNone/>
            </a:pPr>
            <a:r>
              <a:rPr lang="en-US" sz="218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Detekce Anomálií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9" name="Text 5"/>
          <p:cNvSpPr/>
          <p:nvPr/>
        </p:nvSpPr>
        <p:spPr>
          <a:xfrm>
            <a:off x="2760107" y="5849422"/>
            <a:ext cx="4444008" cy="10662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IDS monitoruje síťový provoz a identifikuje neobvyklé vzory, které mohou naznačovat útoky nebo neoprávněný přístup.</a:t>
            </a:r>
            <a:endParaRPr lang="en-US" sz="1750" dirty="0">
              <a:cs typeface="Calibri" panose="020F0502020204030204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7426285" y="5292685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3C136D"/>
          </a:solidFill>
          <a:ln w="13811">
            <a:solidFill>
              <a:srgbClr val="552C8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7"/>
          <p:cNvSpPr/>
          <p:nvPr/>
        </p:nvSpPr>
        <p:spPr>
          <a:xfrm>
            <a:off x="7580948" y="5334357"/>
            <a:ext cx="190500" cy="416481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ct val="197175"/>
              </a:lnSpc>
              <a:buNone/>
            </a:pPr>
            <a:r>
              <a:rPr lang="en-US" sz="2624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24" dirty="0">
              <a:cs typeface="Calibri" panose="020F0502020204030204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148399" y="5369004"/>
            <a:ext cx="2522220" cy="34718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8691"/>
              </a:lnSpc>
              <a:buNone/>
            </a:pPr>
            <a:r>
              <a:rPr lang="en-US" sz="218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Reakce na Hrozby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148399" y="5849422"/>
            <a:ext cx="4444008" cy="10662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 detekci potenciálních hrozeb může IDS spustit varování a přijmout opatření k izolaci nebo blokování útočníků.</a:t>
            </a:r>
            <a:endParaRPr lang="en-US" sz="1750" dirty="0">
              <a:cs typeface="Calibri" panose="020F0502020204030204"/>
            </a:endParaRPr>
          </a:p>
        </p:txBody>
      </p:sp>
      <p:pic>
        <p:nvPicPr>
          <p:cNvPr id="14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2037993" y="2539127"/>
            <a:ext cx="9235440" cy="694373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6408"/>
              </a:lnSpc>
              <a:buNone/>
            </a:pPr>
            <a:r>
              <a:rPr lang="en-US" sz="4374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Intrusion prevention system (IPS)</a:t>
            </a:r>
            <a:endParaRPr lang="en-US" sz="4374" dirty="0">
              <a:cs typeface="Calibri" panose="020F0502020204030204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037993" y="3677841"/>
            <a:ext cx="10554414" cy="2012633"/>
          </a:xfrm>
          <a:prstGeom prst="roundRect">
            <a:avLst>
              <a:gd name="adj" fmla="val 4968"/>
            </a:avLst>
          </a:prstGeom>
          <a:noFill/>
          <a:ln w="13811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>
            <a:off x="2051804" y="3691652"/>
            <a:ext cx="10526792" cy="9925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2273975" y="3832503"/>
            <a:ext cx="4815245" cy="35540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Prevence Útoků</a:t>
            </a:r>
            <a:endParaRPr lang="en-US" sz="1750" dirty="0">
              <a:cs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41181" y="3832503"/>
            <a:ext cx="4815245" cy="7108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IPS může aktivně reagovat na odhalené hrozby a bránit se proti nim, minimalizujíc škody v síti.</a:t>
            </a:r>
            <a:endParaRPr lang="en-US" sz="1750" dirty="0">
              <a:cs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051804" y="4684157"/>
            <a:ext cx="10526792" cy="9925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7"/>
          <p:cNvSpPr/>
          <p:nvPr/>
        </p:nvSpPr>
        <p:spPr>
          <a:xfrm>
            <a:off x="2273975" y="4825008"/>
            <a:ext cx="4815245" cy="355402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Transparentní Operace</a:t>
            </a:r>
            <a:endParaRPr lang="en-US" sz="1750" dirty="0">
              <a:cs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541181" y="4825008"/>
            <a:ext cx="4815245" cy="7108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Je schopen provádět prevenci bez přerušení a změně provozu sítě.</a:t>
            </a:r>
            <a:endParaRPr lang="en-US" sz="1750" dirty="0">
              <a:cs typeface="Calibri" panose="020F0502020204030204"/>
            </a:endParaRPr>
          </a:p>
        </p:txBody>
      </p:sp>
      <p:pic>
        <p:nvPicPr>
          <p:cNvPr id="12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8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2"/>
          <p:cNvSpPr/>
          <p:nvPr/>
        </p:nvSpPr>
        <p:spPr>
          <a:xfrm>
            <a:off x="2037993" y="1750219"/>
            <a:ext cx="8176260" cy="694373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6408"/>
              </a:lnSpc>
              <a:buNone/>
            </a:pPr>
            <a:r>
              <a:rPr lang="en-US" sz="4374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VPN (Virtual Private Network)</a:t>
            </a:r>
            <a:endParaRPr lang="en-US" sz="4374" dirty="0">
              <a:cs typeface="Calibri" panose="020F0502020204030204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7993" y="2777847"/>
            <a:ext cx="3518059" cy="8886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0163" y="3999786"/>
            <a:ext cx="2221944" cy="34718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l">
              <a:lnSpc>
                <a:spcPct val="198691"/>
              </a:lnSpc>
              <a:buNone/>
            </a:pPr>
            <a:r>
              <a:rPr lang="en-US" sz="218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Šifrovaný Kanál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9" name="Text 4"/>
          <p:cNvSpPr/>
          <p:nvPr/>
        </p:nvSpPr>
        <p:spPr>
          <a:xfrm>
            <a:off x="2260163" y="4480203"/>
            <a:ext cx="3073718" cy="17770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Vytváří šifrovaný kanál pro bezpečný přenos dat mezi vzdálenými zařízeními jako ochranu před odposloucháváním.</a:t>
            </a:r>
            <a:endParaRPr lang="en-US" sz="1750" dirty="0">
              <a:cs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6052" y="2777847"/>
            <a:ext cx="3518178" cy="8886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78222" y="3999786"/>
            <a:ext cx="2221944" cy="34718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l">
              <a:lnSpc>
                <a:spcPct val="198691"/>
              </a:lnSpc>
              <a:buNone/>
            </a:pPr>
            <a:r>
              <a:rPr lang="en-US" sz="218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Maskování IP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12" name="Text 6"/>
          <p:cNvSpPr/>
          <p:nvPr/>
        </p:nvSpPr>
        <p:spPr>
          <a:xfrm>
            <a:off x="5778222" y="4480203"/>
            <a:ext cx="3073837" cy="142160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Skrytím reálné IP adresy umožňuje VPN uživatelům anonymní a bezpečné procházení internetem.</a:t>
            </a:r>
            <a:endParaRPr lang="en-US" sz="1750" dirty="0">
              <a:cs typeface="Calibri" panose="020F0502020204030204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4229" y="2777847"/>
            <a:ext cx="3518178" cy="88868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96400" y="3999786"/>
            <a:ext cx="3073837" cy="6943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98691"/>
              </a:lnSpc>
              <a:buNone/>
            </a:pPr>
            <a:r>
              <a:rPr lang="en-US" sz="218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Přístup k Omezenému Obsahu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15" name="Text 8"/>
          <p:cNvSpPr/>
          <p:nvPr/>
        </p:nvSpPr>
        <p:spPr>
          <a:xfrm>
            <a:off x="9296400" y="4827389"/>
            <a:ext cx="3073837" cy="10662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VPN umožňuje obcházení geografických omezení a blokací obsahu.</a:t>
            </a:r>
            <a:endParaRPr lang="en-US" sz="1750" dirty="0">
              <a:cs typeface="Calibri" panose="020F0502020204030204"/>
            </a:endParaRPr>
          </a:p>
        </p:txBody>
      </p:sp>
      <p:pic>
        <p:nvPicPr>
          <p:cNvPr id="16" name="Image 5" descr="preencoded.png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90799" y="2591633"/>
            <a:ext cx="6019800" cy="694373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6408"/>
              </a:lnSpc>
              <a:buNone/>
            </a:pPr>
            <a:r>
              <a:rPr lang="en-US" sz="4374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Bezpečnostní politika</a:t>
            </a:r>
            <a:endParaRPr lang="en-US" sz="4374" dirty="0">
              <a:cs typeface="Calibri" panose="020F0502020204030204"/>
            </a:endParaRPr>
          </a:p>
        </p:txBody>
      </p:sp>
      <p:sp>
        <p:nvSpPr>
          <p:cNvPr id="6" name="Shape 2"/>
          <p:cNvSpPr/>
          <p:nvPr/>
        </p:nvSpPr>
        <p:spPr>
          <a:xfrm>
            <a:off x="4490799" y="3619262"/>
            <a:ext cx="4542115" cy="2018586"/>
          </a:xfrm>
          <a:prstGeom prst="roundRect">
            <a:avLst>
              <a:gd name="adj" fmla="val 4953"/>
            </a:avLst>
          </a:prstGeom>
          <a:solidFill>
            <a:srgbClr val="3C136D"/>
          </a:solidFill>
          <a:ln w="13811">
            <a:solidFill>
              <a:srgbClr val="552C8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3"/>
          <p:cNvSpPr/>
          <p:nvPr/>
        </p:nvSpPr>
        <p:spPr>
          <a:xfrm>
            <a:off x="4726781" y="3855244"/>
            <a:ext cx="2331720" cy="34718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8691"/>
              </a:lnSpc>
              <a:buNone/>
            </a:pPr>
            <a:r>
              <a:rPr lang="en-US" sz="218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Přístupová Práva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8" name="Text 4"/>
          <p:cNvSpPr/>
          <p:nvPr/>
        </p:nvSpPr>
        <p:spPr>
          <a:xfrm>
            <a:off x="4726781" y="4335661"/>
            <a:ext cx="4070152" cy="10662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Definice oprávnění a omezení přístupu zaměstnanců k citlivým datům a systémům.</a:t>
            </a:r>
            <a:endParaRPr lang="en-US" sz="1750" dirty="0">
              <a:cs typeface="Calibri" panose="020F0502020204030204"/>
            </a:endParaRPr>
          </a:p>
        </p:txBody>
      </p:sp>
      <p:sp>
        <p:nvSpPr>
          <p:cNvPr id="9" name="Shape 5"/>
          <p:cNvSpPr/>
          <p:nvPr/>
        </p:nvSpPr>
        <p:spPr>
          <a:xfrm>
            <a:off x="9255085" y="3619262"/>
            <a:ext cx="4542115" cy="2018586"/>
          </a:xfrm>
          <a:prstGeom prst="roundRect">
            <a:avLst>
              <a:gd name="adj" fmla="val 4953"/>
            </a:avLst>
          </a:prstGeom>
          <a:solidFill>
            <a:srgbClr val="3C136D"/>
          </a:solidFill>
          <a:ln w="13811">
            <a:solidFill>
              <a:srgbClr val="552C8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6"/>
          <p:cNvSpPr/>
          <p:nvPr/>
        </p:nvSpPr>
        <p:spPr>
          <a:xfrm>
            <a:off x="9491067" y="3855244"/>
            <a:ext cx="2781300" cy="347186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8691"/>
              </a:lnSpc>
              <a:buNone/>
            </a:pPr>
            <a:r>
              <a:rPr lang="en-US" sz="218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Pravidla a Směrnice</a:t>
            </a:r>
            <a:endParaRPr lang="en-US" sz="2187" dirty="0">
              <a:cs typeface="Calibri" panose="020F0502020204030204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491067" y="4335661"/>
            <a:ext cx="4070152" cy="10662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4991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Specifikace bezpečnostních pravidel a postupů pro zacházení s daty a přístup k síťovým zdrojům.</a:t>
            </a:r>
            <a:endParaRPr lang="en-US" sz="1750" dirty="0">
              <a:cs typeface="Calibri" panose="020F0502020204030204"/>
            </a:endParaRPr>
          </a:p>
        </p:txBody>
      </p:sp>
      <p:pic>
        <p:nvPicPr>
          <p:cNvPr id="12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80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2"/>
          <p:cNvSpPr/>
          <p:nvPr/>
        </p:nvSpPr>
        <p:spPr>
          <a:xfrm>
            <a:off x="2081570" y="607576"/>
            <a:ext cx="10467142" cy="13770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97020"/>
              </a:lnSpc>
              <a:buNone/>
            </a:pPr>
            <a:r>
              <a:rPr lang="en-US" sz="4338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Školení zaměstnanců v oblasti kybernetické bezpečnosti</a:t>
            </a:r>
            <a:endParaRPr lang="en-US" sz="4338" dirty="0">
              <a:cs typeface="Calibri" panose="020F0502020204030204"/>
            </a:endParaRPr>
          </a:p>
        </p:txBody>
      </p:sp>
      <p:sp>
        <p:nvSpPr>
          <p:cNvPr id="7" name="Shape 3"/>
          <p:cNvSpPr/>
          <p:nvPr/>
        </p:nvSpPr>
        <p:spPr>
          <a:xfrm>
            <a:off x="2390061" y="2315170"/>
            <a:ext cx="44053" cy="5306854"/>
          </a:xfrm>
          <a:prstGeom prst="roundRect">
            <a:avLst>
              <a:gd name="adj" fmla="val 225099"/>
            </a:avLst>
          </a:prstGeom>
          <a:solidFill>
            <a:srgbClr val="552C8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8" name="Shape 4"/>
          <p:cNvSpPr/>
          <p:nvPr/>
        </p:nvSpPr>
        <p:spPr>
          <a:xfrm>
            <a:off x="2659975" y="2713077"/>
            <a:ext cx="771168" cy="44053"/>
          </a:xfrm>
          <a:prstGeom prst="roundRect">
            <a:avLst>
              <a:gd name="adj" fmla="val 225099"/>
            </a:avLst>
          </a:prstGeom>
          <a:solidFill>
            <a:srgbClr val="552C8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Shape 5"/>
          <p:cNvSpPr/>
          <p:nvPr/>
        </p:nvSpPr>
        <p:spPr>
          <a:xfrm>
            <a:off x="2164199" y="2487335"/>
            <a:ext cx="495776" cy="495776"/>
          </a:xfrm>
          <a:prstGeom prst="roundRect">
            <a:avLst>
              <a:gd name="adj" fmla="val 20002"/>
            </a:avLst>
          </a:prstGeom>
          <a:solidFill>
            <a:srgbClr val="3C136D"/>
          </a:solidFill>
          <a:ln w="13692">
            <a:solidFill>
              <a:srgbClr val="552C8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6"/>
          <p:cNvSpPr/>
          <p:nvPr/>
        </p:nvSpPr>
        <p:spPr>
          <a:xfrm>
            <a:off x="2351127" y="2528649"/>
            <a:ext cx="121920" cy="413147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ct val="195492"/>
              </a:lnSpc>
              <a:buNone/>
            </a:pPr>
            <a:r>
              <a:rPr lang="en-US" sz="2603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603" dirty="0">
              <a:cs typeface="Calibri" panose="020F0502020204030204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624024" y="2535436"/>
            <a:ext cx="2203609" cy="34432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l">
              <a:lnSpc>
                <a:spcPct val="197020"/>
              </a:lnSpc>
              <a:buNone/>
            </a:pPr>
            <a:r>
              <a:rPr lang="en-US" sz="2169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Výuka ohrožení</a:t>
            </a:r>
            <a:endParaRPr lang="en-US" sz="2169" dirty="0">
              <a:cs typeface="Calibri" panose="020F0502020204030204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624024" y="3011924"/>
            <a:ext cx="8924687" cy="7050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255147"/>
              </a:lnSpc>
              <a:buNone/>
            </a:pPr>
            <a:r>
              <a:rPr lang="en-US" sz="173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Zaměstnanci jsou seznámeni s různými formami kybernetických hrozeb a útoků, jako jsou phishing, ransomware a sociální inženýrství.</a:t>
            </a:r>
            <a:endParaRPr lang="en-US" sz="1735" dirty="0">
              <a:cs typeface="Calibri" panose="020F0502020204030204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2659975" y="4555450"/>
            <a:ext cx="771168" cy="44053"/>
          </a:xfrm>
          <a:prstGeom prst="roundRect">
            <a:avLst>
              <a:gd name="adj" fmla="val 225099"/>
            </a:avLst>
          </a:prstGeom>
          <a:solidFill>
            <a:srgbClr val="552C8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Shape 10"/>
          <p:cNvSpPr/>
          <p:nvPr/>
        </p:nvSpPr>
        <p:spPr>
          <a:xfrm>
            <a:off x="2164199" y="4329708"/>
            <a:ext cx="495776" cy="495776"/>
          </a:xfrm>
          <a:prstGeom prst="roundRect">
            <a:avLst>
              <a:gd name="adj" fmla="val 20002"/>
            </a:avLst>
          </a:prstGeom>
          <a:solidFill>
            <a:srgbClr val="3C136D"/>
          </a:solidFill>
          <a:ln w="13692">
            <a:solidFill>
              <a:srgbClr val="552C8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1"/>
          <p:cNvSpPr/>
          <p:nvPr/>
        </p:nvSpPr>
        <p:spPr>
          <a:xfrm>
            <a:off x="2316837" y="4371023"/>
            <a:ext cx="190500" cy="413147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ct val="195492"/>
              </a:lnSpc>
              <a:buNone/>
            </a:pPr>
            <a:r>
              <a:rPr lang="en-US" sz="2603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603" dirty="0">
              <a:cs typeface="Calibri" panose="020F050202020403020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624024" y="4377809"/>
            <a:ext cx="2354580" cy="34432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l">
              <a:lnSpc>
                <a:spcPct val="197020"/>
              </a:lnSpc>
              <a:buNone/>
            </a:pPr>
            <a:r>
              <a:rPr lang="en-US" sz="2169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Testování Ochran</a:t>
            </a:r>
            <a:endParaRPr lang="en-US" sz="2169" dirty="0">
              <a:cs typeface="Calibri" panose="020F0502020204030204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624024" y="4854297"/>
            <a:ext cx="8924687" cy="7050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255147"/>
              </a:lnSpc>
              <a:buNone/>
            </a:pPr>
            <a:r>
              <a:rPr lang="en-US" sz="173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Pokročilé scénáře simulovaných útoků pomáhají zaměstnancům identifikovat možné slabé body v systémech a procesech.</a:t>
            </a:r>
            <a:endParaRPr lang="en-US" sz="1735" dirty="0">
              <a:cs typeface="Calibri" panose="020F0502020204030204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2659975" y="6397823"/>
            <a:ext cx="771168" cy="44053"/>
          </a:xfrm>
          <a:prstGeom prst="roundRect">
            <a:avLst>
              <a:gd name="adj" fmla="val 225099"/>
            </a:avLst>
          </a:prstGeom>
          <a:solidFill>
            <a:srgbClr val="552C86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Shape 15"/>
          <p:cNvSpPr/>
          <p:nvPr/>
        </p:nvSpPr>
        <p:spPr>
          <a:xfrm>
            <a:off x="2164199" y="6172081"/>
            <a:ext cx="495776" cy="495776"/>
          </a:xfrm>
          <a:prstGeom prst="roundRect">
            <a:avLst>
              <a:gd name="adj" fmla="val 20002"/>
            </a:avLst>
          </a:prstGeom>
          <a:solidFill>
            <a:srgbClr val="3C136D"/>
          </a:solidFill>
          <a:ln w="13692">
            <a:solidFill>
              <a:srgbClr val="552C8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6"/>
          <p:cNvSpPr/>
          <p:nvPr/>
        </p:nvSpPr>
        <p:spPr>
          <a:xfrm>
            <a:off x="2320647" y="6213396"/>
            <a:ext cx="182880" cy="413147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ctr">
              <a:lnSpc>
                <a:spcPct val="195492"/>
              </a:lnSpc>
              <a:buNone/>
            </a:pPr>
            <a:r>
              <a:rPr lang="en-US" sz="2603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603" dirty="0">
              <a:cs typeface="Calibri" panose="020F0502020204030204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3624024" y="6220182"/>
            <a:ext cx="3352800" cy="344329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 algn="l">
              <a:lnSpc>
                <a:spcPct val="197020"/>
              </a:lnSpc>
              <a:buNone/>
            </a:pPr>
            <a:r>
              <a:rPr lang="en-US" sz="2169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Odhadovaná Zajímavost</a:t>
            </a:r>
            <a:endParaRPr lang="en-US" sz="2169" dirty="0">
              <a:cs typeface="Calibri" panose="020F0502020204030204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624024" y="6696670"/>
            <a:ext cx="8924687" cy="7050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255147"/>
              </a:lnSpc>
              <a:buNone/>
            </a:pPr>
            <a:r>
              <a:rPr lang="en-US" sz="173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Závěrečný test posuzuje efektivitu vnitřních bezpečnostních protokolů a reakce zaměstnanců na různé hrozby.</a:t>
            </a:r>
            <a:endParaRPr lang="en-US" sz="1735" dirty="0">
              <a:cs typeface="Calibri" panose="020F0502020204030204"/>
            </a:endParaRPr>
          </a:p>
        </p:txBody>
      </p:sp>
      <p:pic>
        <p:nvPicPr>
          <p:cNvPr id="23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4" name="Text 1"/>
          <p:cNvSpPr/>
          <p:nvPr/>
        </p:nvSpPr>
        <p:spPr>
          <a:xfrm>
            <a:off x="2799040" y="524113"/>
            <a:ext cx="5814060" cy="594241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7592"/>
              </a:lnSpc>
              <a:buNone/>
            </a:pPr>
            <a:r>
              <a:rPr lang="en-US" sz="3743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Zálohování a obnova dat</a:t>
            </a:r>
            <a:endParaRPr lang="en-US" sz="3743" dirty="0">
              <a:cs typeface="Calibri" panose="020F0502020204030204"/>
            </a:endParaRPr>
          </a:p>
        </p:txBody>
      </p:sp>
      <p:sp>
        <p:nvSpPr>
          <p:cNvPr id="5" name="Text 2"/>
          <p:cNvSpPr/>
          <p:nvPr/>
        </p:nvSpPr>
        <p:spPr>
          <a:xfrm>
            <a:off x="2799040" y="1593652"/>
            <a:ext cx="2103120" cy="297061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7635"/>
              </a:lnSpc>
              <a:buNone/>
            </a:pPr>
            <a:r>
              <a:rPr lang="en-US" sz="1872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Pravidelné Zálohy</a:t>
            </a:r>
            <a:endParaRPr lang="en-US" sz="1872" dirty="0">
              <a:cs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2799040" y="2080855"/>
            <a:ext cx="4284226" cy="9126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58189"/>
              </a:lnSpc>
              <a:buNone/>
            </a:pPr>
            <a:r>
              <a:rPr lang="en-US" sz="1497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Zajišťuje pravidelné zálohování důležitých dat, aby bylo možné obnovit poškozené nebo ztracené soubory v případě havárie nebo útoku.</a:t>
            </a:r>
            <a:endParaRPr lang="en-US" sz="1497" dirty="0">
              <a:cs typeface="Calibri" panose="020F0502020204030204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040" y="3207306"/>
            <a:ext cx="4284226" cy="42842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54754" y="1593652"/>
            <a:ext cx="2286000" cy="297061"/>
          </a:xfrm>
          <a:prstGeom prst="rect">
            <a:avLst/>
          </a:prstGeom>
          <a:noFill/>
          <a:ln/>
        </p:spPr>
        <p:txBody>
          <a:bodyPr wrap="none" lIns="91440" tIns="45720" rIns="91440" bIns="45720" rtlCol="0" anchor="t"/>
          <a:lstStyle/>
          <a:p>
            <a:pPr marL="0" indent="0">
              <a:lnSpc>
                <a:spcPct val="197635"/>
              </a:lnSpc>
              <a:buNone/>
            </a:pPr>
            <a:r>
              <a:rPr lang="en-US" sz="1872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Katastrofické Plány</a:t>
            </a:r>
            <a:endParaRPr lang="en-US" sz="1872" dirty="0">
              <a:cs typeface="Calibri" panose="020F0502020204030204"/>
            </a:endParaRPr>
          </a:p>
        </p:txBody>
      </p:sp>
      <p:sp>
        <p:nvSpPr>
          <p:cNvPr id="9" name="Text 5"/>
          <p:cNvSpPr/>
          <p:nvPr/>
        </p:nvSpPr>
        <p:spPr>
          <a:xfrm>
            <a:off x="7554754" y="2080855"/>
            <a:ext cx="4284226" cy="9126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258189"/>
              </a:lnSpc>
              <a:buNone/>
            </a:pPr>
            <a:r>
              <a:rPr lang="en-US" sz="1497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Vytváří plány pro obnovu dat a provozu v případě katastrofických událostí, jako jsou přírodní katastrofy nebo počítačové útoky.</a:t>
            </a:r>
            <a:endParaRPr lang="en-US" sz="1497" dirty="0">
              <a:cs typeface="Calibri" panose="020F0502020204030204"/>
            </a:endParaRPr>
          </a:p>
        </p:txBody>
      </p:sp>
      <p:pic>
        <p:nvPicPr>
          <p:cNvPr id="10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</Words>
  <Application>Microsoft Office PowerPoint</Application>
  <PresentationFormat>Vlastní</PresentationFormat>
  <Paragraphs>73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Heebo</vt:lpstr>
      <vt:lpstr>Montserrat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