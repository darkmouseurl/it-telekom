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60" r:id="rId6"/>
    <p:sldId id="261" r:id="rId7"/>
    <p:sldId id="264" r:id="rId8"/>
    <p:sldId id="277" r:id="rId9"/>
    <p:sldId id="265" r:id="rId10"/>
    <p:sldId id="266" r:id="rId11"/>
    <p:sldId id="267" r:id="rId12"/>
    <p:sldId id="27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DUDEK" userId="45439ac4-c027-4225-a34c-65e2ab5b28c4" providerId="ADAL" clId="{377D5D07-D593-494F-B34E-447E1735769B}"/>
    <pc:docChg chg="undo custSel delSld modSld sldOrd">
      <pc:chgData name="Jakub DUDEK" userId="45439ac4-c027-4225-a34c-65e2ab5b28c4" providerId="ADAL" clId="{377D5D07-D593-494F-B34E-447E1735769B}" dt="2024-03-20T08:41:16.138" v="3" actId="2696"/>
      <pc:docMkLst>
        <pc:docMk/>
      </pc:docMkLst>
      <pc:sldChg chg="addSp delSp del ord">
        <pc:chgData name="Jakub DUDEK" userId="45439ac4-c027-4225-a34c-65e2ab5b28c4" providerId="ADAL" clId="{377D5D07-D593-494F-B34E-447E1735769B}" dt="2024-03-20T08:41:16.138" v="3" actId="2696"/>
        <pc:sldMkLst>
          <pc:docMk/>
          <pc:sldMk cId="322310717" sldId="262"/>
        </pc:sldMkLst>
        <pc:picChg chg="add del">
          <ac:chgData name="Jakub DUDEK" userId="45439ac4-c027-4225-a34c-65e2ab5b28c4" providerId="ADAL" clId="{377D5D07-D593-494F-B34E-447E1735769B}" dt="2024-03-20T08:39:32.905" v="1" actId="478"/>
          <ac:picMkLst>
            <pc:docMk/>
            <pc:sldMk cId="322310717" sldId="262"/>
            <ac:picMk id="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F69F-0C9E-40FB-A13F-526F30284E8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DF211-EBE6-4C6F-98F6-6C6C7B7B45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6984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F69F-0C9E-40FB-A13F-526F30284E8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DF211-EBE6-4C6F-98F6-6C6C7B7B45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93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F69F-0C9E-40FB-A13F-526F30284E8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DF211-EBE6-4C6F-98F6-6C6C7B7B45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37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F69F-0C9E-40FB-A13F-526F30284E8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DF211-EBE6-4C6F-98F6-6C6C7B7B45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911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F69F-0C9E-40FB-A13F-526F30284E8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DF211-EBE6-4C6F-98F6-6C6C7B7B45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871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F69F-0C9E-40FB-A13F-526F30284E8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DF211-EBE6-4C6F-98F6-6C6C7B7B45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1371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F69F-0C9E-40FB-A13F-526F30284E8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DF211-EBE6-4C6F-98F6-6C6C7B7B45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260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F69F-0C9E-40FB-A13F-526F30284E8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DF211-EBE6-4C6F-98F6-6C6C7B7B45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3870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F69F-0C9E-40FB-A13F-526F30284E8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DF211-EBE6-4C6F-98F6-6C6C7B7B45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284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F69F-0C9E-40FB-A13F-526F30284E8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DF211-EBE6-4C6F-98F6-6C6C7B7B45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2376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F69F-0C9E-40FB-A13F-526F30284E8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DF211-EBE6-4C6F-98F6-6C6C7B7B45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561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DF69F-0C9E-40FB-A13F-526F30284E8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DF211-EBE6-4C6F-98F6-6C6C7B7B45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1630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theses.cz/id/lx5xki/downloadPraceContent_adipIdno_1253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755576" y="119675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Arial Black" panose="020B0A04020102020204" pitchFamily="34" charset="0"/>
              </a:rPr>
              <a:t>Bezpečnost informačních systémů,</a:t>
            </a:r>
            <a:br>
              <a:rPr lang="cs-CZ" dirty="0">
                <a:latin typeface="Arial Black" panose="020B0A04020102020204" pitchFamily="34" charset="0"/>
              </a:rPr>
            </a:br>
            <a:r>
              <a:rPr lang="cs-CZ" dirty="0">
                <a:latin typeface="Arial Black" panose="020B0A04020102020204" pitchFamily="34" charset="0"/>
              </a:rPr>
              <a:t>ochrana dat a prevence hrozeb</a:t>
            </a:r>
          </a:p>
        </p:txBody>
      </p:sp>
    </p:spTree>
    <p:extLst>
      <p:ext uri="{BB962C8B-B14F-4D97-AF65-F5344CB8AC3E}">
        <p14:creationId xmlns:p14="http://schemas.microsoft.com/office/powerpoint/2010/main" val="2696591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Identifikace aktiv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b="1" dirty="0"/>
              <a:t>Aktivum</a:t>
            </a:r>
            <a:r>
              <a:rPr lang="cs-CZ" sz="2000" dirty="0"/>
              <a:t> </a:t>
            </a:r>
            <a:r>
              <a:rPr lang="cs-CZ" sz="1800" dirty="0"/>
              <a:t>- </a:t>
            </a:r>
            <a:r>
              <a:rPr lang="cs-CZ" sz="2000" dirty="0"/>
              <a:t>cokoliv, co je důležité pro správné fungování systémů</a:t>
            </a:r>
          </a:p>
          <a:p>
            <a:pPr marL="0" indent="0">
              <a:buNone/>
            </a:pPr>
            <a:r>
              <a:rPr lang="cs-CZ" sz="1600" dirty="0"/>
              <a:t>                           - data, software, hardware, sítě, uživatelské účty, procesy</a:t>
            </a:r>
          </a:p>
          <a:p>
            <a:pPr marL="0" indent="0">
              <a:buNone/>
            </a:pPr>
            <a:endParaRPr lang="cs-CZ" sz="1600" dirty="0"/>
          </a:p>
          <a:p>
            <a:r>
              <a:rPr lang="cs-CZ" sz="2000" b="1" dirty="0"/>
              <a:t>Správná identifikace </a:t>
            </a:r>
            <a:r>
              <a:rPr lang="cs-CZ" sz="2000" dirty="0"/>
              <a:t>aktiv je klíčovým prvkem při hodnocení jejich hodnoty a rizik v informačních systémech</a:t>
            </a:r>
          </a:p>
          <a:p>
            <a:pPr marL="0" indent="0">
              <a:buNone/>
            </a:pPr>
            <a:endParaRPr lang="cs-CZ" sz="2000" dirty="0"/>
          </a:p>
          <a:p>
            <a:r>
              <a:rPr lang="cs-CZ" sz="2000" dirty="0"/>
              <a:t>Identifikace zahrnuje identifikaci všech prvků, bez správné identifikace je obtížné určit, jaká opatření je třeba přijmout k jejich ochraně a jaký je jejich potenciální dopad</a:t>
            </a:r>
          </a:p>
        </p:txBody>
      </p:sp>
    </p:spTree>
    <p:extLst>
      <p:ext uri="{BB962C8B-B14F-4D97-AF65-F5344CB8AC3E}">
        <p14:creationId xmlns:p14="http://schemas.microsoft.com/office/powerpoint/2010/main" val="1036179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dirty="0"/>
              <a:t>Důležitost správné identifikace aktiv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b="1" dirty="0"/>
              <a:t>Hodnocení hodnoty aktiv</a:t>
            </a:r>
            <a:r>
              <a:rPr lang="cs-CZ" sz="2000" dirty="0"/>
              <a:t>: </a:t>
            </a:r>
            <a:r>
              <a:rPr lang="cs-CZ" sz="1800" dirty="0"/>
              <a:t>umožňuje přesně určit, jaká aktiva má, jakou 				       hodnotu mají pro provoz, umožňuje prioritizovat 			       ochranu těchto aktiv na základě jejich důležitosti</a:t>
            </a:r>
          </a:p>
          <a:p>
            <a:pPr marL="0" indent="0">
              <a:buNone/>
            </a:pPr>
            <a:endParaRPr lang="cs-CZ" sz="1800" dirty="0"/>
          </a:p>
          <a:p>
            <a:r>
              <a:rPr lang="cs-CZ" sz="1800" b="1" dirty="0"/>
              <a:t>Hodnocení rizik</a:t>
            </a:r>
            <a:r>
              <a:rPr lang="cs-CZ" sz="1800" dirty="0"/>
              <a:t>: umožňuje identifikovat potenciální hrozby a zranitelnosti</a:t>
            </a:r>
          </a:p>
          <a:p>
            <a:pPr marL="0" indent="0">
              <a:buNone/>
            </a:pPr>
            <a:endParaRPr lang="cs-CZ" sz="1800" dirty="0"/>
          </a:p>
          <a:p>
            <a:pPr marL="0" indent="0">
              <a:buNone/>
            </a:pPr>
            <a:endParaRPr lang="cs-CZ" sz="1800" dirty="0"/>
          </a:p>
          <a:p>
            <a:r>
              <a:rPr lang="cs-CZ" sz="1800" b="1" dirty="0"/>
              <a:t>Plánování ochranných opatření</a:t>
            </a:r>
            <a:r>
              <a:rPr lang="cs-CZ" sz="1800" dirty="0"/>
              <a:t>: identifikace poskytuje základ pro plánování a 			            implementaci bezp. opatření, která mají chránit			           ty nejcennější a nejdůležitější prvky informačního 			           systému</a:t>
            </a:r>
          </a:p>
          <a:p>
            <a:endParaRPr lang="cs-CZ" sz="1800" dirty="0"/>
          </a:p>
        </p:txBody>
      </p:sp>
    </p:spTree>
    <p:extLst>
      <p:ext uri="{BB962C8B-B14F-4D97-AF65-F5344CB8AC3E}">
        <p14:creationId xmlns:p14="http://schemas.microsoft.com/office/powerpoint/2010/main" val="317203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143000"/>
          </a:xfrm>
        </p:spPr>
        <p:txBody>
          <a:bodyPr/>
          <a:lstStyle/>
          <a:p>
            <a:r>
              <a:rPr lang="cs-CZ" b="1" dirty="0"/>
              <a:t>Obecný postup analýzy rizik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525963"/>
          </a:xfrm>
        </p:spPr>
        <p:txBody>
          <a:bodyPr>
            <a:noAutofit/>
          </a:bodyPr>
          <a:lstStyle/>
          <a:p>
            <a:r>
              <a:rPr lang="cs-CZ" sz="2000" b="1" dirty="0"/>
              <a:t>Stanovení hranice </a:t>
            </a:r>
            <a:r>
              <a:rPr lang="cs-CZ" sz="2000" dirty="0"/>
              <a:t>analýzy rizik, do které spadají veškerá aktiva, se kterými 	se bude pracovat</a:t>
            </a:r>
          </a:p>
          <a:p>
            <a:endParaRPr lang="cs-CZ" sz="2000" dirty="0"/>
          </a:p>
          <a:p>
            <a:r>
              <a:rPr lang="cs-CZ" sz="2000" b="1" dirty="0"/>
              <a:t>Identifikace a stanovení hodnoty aktiv</a:t>
            </a:r>
            <a:r>
              <a:rPr lang="cs-CZ" sz="2000" dirty="0"/>
              <a:t> spočívá v soupisu všech aktiv 	ležících uvnitř hranice analýzy rizik, následně se aktivům přiřadí 	hodnota, která se odvíjí od jejich pořizovací ceny</a:t>
            </a:r>
          </a:p>
          <a:p>
            <a:endParaRPr lang="cs-CZ" sz="2000" dirty="0"/>
          </a:p>
          <a:p>
            <a:r>
              <a:rPr lang="cs-CZ" sz="2000" b="1" dirty="0"/>
              <a:t>Identifikace hrozeb</a:t>
            </a:r>
            <a:r>
              <a:rPr lang="cs-CZ" sz="2000" dirty="0"/>
              <a:t> je nalezení případných hrozeb, které mohou ohrozit 	aktiva. Pro jejich nalezení je potřeba tzv. seznam hrozeb.</a:t>
            </a:r>
          </a:p>
          <a:p>
            <a:endParaRPr lang="cs-CZ" sz="2000" dirty="0"/>
          </a:p>
          <a:p>
            <a:r>
              <a:rPr lang="cs-CZ" sz="2000" b="1" dirty="0"/>
              <a:t>Analýza zranitelností </a:t>
            </a:r>
            <a:r>
              <a:rPr lang="cs-CZ" sz="2000" dirty="0"/>
              <a:t>slouží k určení úrovně hrozeb u jednotlivých aktiv 	(nebezpečnost, motivace, přístup…) a úroveň zranitelnosti (citlivost, 	kritičnost)</a:t>
            </a:r>
          </a:p>
          <a:p>
            <a:endParaRPr lang="cs-CZ" sz="2000" dirty="0"/>
          </a:p>
          <a:p>
            <a:r>
              <a:rPr lang="cs-CZ" sz="2000" b="1" dirty="0"/>
              <a:t>Návrh protiopatření</a:t>
            </a:r>
            <a:r>
              <a:rPr lang="cs-CZ" sz="2000" dirty="0"/>
              <a:t> a vyhodnocení konkrétních závěrů</a:t>
            </a:r>
            <a:endParaRPr lang="cs-CZ" sz="2000" b="1" dirty="0"/>
          </a:p>
        </p:txBody>
      </p:sp>
    </p:spTree>
    <p:extLst>
      <p:ext uri="{BB962C8B-B14F-4D97-AF65-F5344CB8AC3E}">
        <p14:creationId xmlns:p14="http://schemas.microsoft.com/office/powerpoint/2010/main" val="4089610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dirty="0"/>
              <a:t>Metody a techniky pro hodnocení hodnoty aktiv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85000" lnSpcReduction="10000"/>
          </a:bodyPr>
          <a:lstStyle/>
          <a:p>
            <a:r>
              <a:rPr lang="cs-CZ" sz="2000" b="1" dirty="0"/>
              <a:t>Finanční analýza</a:t>
            </a:r>
            <a:r>
              <a:rPr lang="cs-CZ" sz="2000" dirty="0"/>
              <a:t>: zaměřuje se na kvantifikaci hodnoty aktiv pomocí finančních 	ukazatelů, např. náklady na pořízení, současná tržní hodnoty. Může zahrnovat 	metody jako </a:t>
            </a:r>
            <a:r>
              <a:rPr lang="cs-CZ" sz="2000" b="1" dirty="0"/>
              <a:t>Return on Investment </a:t>
            </a:r>
            <a:r>
              <a:rPr lang="cs-CZ" sz="2000" dirty="0"/>
              <a:t>(</a:t>
            </a:r>
            <a:r>
              <a:rPr lang="cs-CZ" sz="2000" b="1" dirty="0"/>
              <a:t>ROI</a:t>
            </a:r>
            <a:r>
              <a:rPr lang="cs-CZ" sz="2000" dirty="0"/>
              <a:t>), </a:t>
            </a:r>
            <a:r>
              <a:rPr lang="cs-CZ" sz="2000" b="1" dirty="0"/>
              <a:t>Net Present Value </a:t>
            </a:r>
            <a:r>
              <a:rPr lang="cs-CZ" sz="2000" dirty="0"/>
              <a:t>(</a:t>
            </a:r>
            <a:r>
              <a:rPr lang="cs-CZ" sz="2000" b="1" dirty="0"/>
              <a:t>NPV</a:t>
            </a:r>
            <a:r>
              <a:rPr lang="cs-CZ" sz="2000" dirty="0"/>
              <a:t>) 		nebo </a:t>
            </a:r>
            <a:r>
              <a:rPr lang="cs-CZ" sz="2000" b="1" dirty="0"/>
              <a:t>Cost-benefit</a:t>
            </a:r>
            <a:r>
              <a:rPr lang="cs-CZ" sz="2000" dirty="0"/>
              <a:t> analýzu</a:t>
            </a:r>
          </a:p>
          <a:p>
            <a:endParaRPr lang="cs-CZ" sz="2000" dirty="0"/>
          </a:p>
          <a:p>
            <a:r>
              <a:rPr lang="cs-CZ" sz="2000" b="1" dirty="0"/>
              <a:t>Kritická analýza</a:t>
            </a:r>
            <a:r>
              <a:rPr lang="cs-CZ" sz="2000" dirty="0"/>
              <a:t>: identifikuje aktiva, která jsou klíčová pro dosahování 	strategických cílů organizace, zahrnuje hodnocení vlivu každého 		aktiva na procesy, služby a fungování organizace jako celku</a:t>
            </a:r>
          </a:p>
          <a:p>
            <a:endParaRPr lang="cs-CZ" sz="2000" dirty="0"/>
          </a:p>
          <a:p>
            <a:r>
              <a:rPr lang="cs-CZ" sz="2000" b="1" dirty="0"/>
              <a:t>SWOT analýza</a:t>
            </a:r>
            <a:r>
              <a:rPr lang="cs-CZ" sz="2000" dirty="0"/>
              <a:t>: poskytuje přehled o silných stránkách (</a:t>
            </a:r>
            <a:r>
              <a:rPr lang="cs-CZ" sz="2000" b="1" dirty="0"/>
              <a:t>Strenghts</a:t>
            </a:r>
            <a:r>
              <a:rPr lang="cs-CZ" sz="2000" dirty="0"/>
              <a:t>), slabých 	stránkách (</a:t>
            </a:r>
            <a:r>
              <a:rPr lang="cs-CZ" sz="2000" b="1" dirty="0"/>
              <a:t>Weaknesses</a:t>
            </a:r>
            <a:r>
              <a:rPr lang="cs-CZ" sz="2000" dirty="0"/>
              <a:t>), příležitostech (</a:t>
            </a:r>
            <a:r>
              <a:rPr lang="cs-CZ" sz="2000" b="1" dirty="0"/>
              <a:t>Oppurtunities</a:t>
            </a:r>
            <a:r>
              <a:rPr lang="cs-CZ" sz="2000" dirty="0"/>
              <a:t>) a hrozbách 	(</a:t>
            </a:r>
            <a:r>
              <a:rPr lang="cs-CZ" sz="2000" b="1" dirty="0"/>
              <a:t>Threats</a:t>
            </a:r>
            <a:r>
              <a:rPr lang="cs-CZ" sz="2000" dirty="0"/>
              <a:t>) spojených s každým aktivem</a:t>
            </a:r>
          </a:p>
          <a:p>
            <a:endParaRPr lang="cs-CZ" sz="2000" dirty="0"/>
          </a:p>
          <a:p>
            <a:pPr marL="0" indent="0">
              <a:buNone/>
            </a:pPr>
            <a:endParaRPr lang="cs-CZ" sz="2000" dirty="0"/>
          </a:p>
          <a:p>
            <a:r>
              <a:rPr lang="cs-CZ" sz="2000" b="1" dirty="0"/>
              <a:t>Return on Investment</a:t>
            </a:r>
            <a:r>
              <a:rPr lang="cs-CZ" sz="2000" dirty="0"/>
              <a:t>: poměr mezi ziskem a náklady na investici, 				                            </a:t>
            </a:r>
            <a:r>
              <a:rPr lang="cs-CZ" sz="2000" b="1" dirty="0"/>
              <a:t>vyšší ROI = větší zisk</a:t>
            </a:r>
          </a:p>
          <a:p>
            <a:r>
              <a:rPr lang="cs-CZ" sz="2000" b="1" dirty="0"/>
              <a:t>Net Present Value</a:t>
            </a:r>
            <a:r>
              <a:rPr lang="cs-CZ" sz="2000" dirty="0"/>
              <a:t>: metrika, hodnotí současnou hodnotu budoucích příjmů nebo 		     výdajů. Pokud je </a:t>
            </a:r>
            <a:r>
              <a:rPr lang="cs-CZ" sz="2000" b="1" dirty="0"/>
              <a:t>NPV kladné</a:t>
            </a:r>
            <a:r>
              <a:rPr lang="cs-CZ" sz="2000" dirty="0"/>
              <a:t>, investice by měla být </a:t>
            </a:r>
            <a:r>
              <a:rPr lang="cs-CZ" sz="2000" b="1" dirty="0"/>
              <a:t>přijata</a:t>
            </a:r>
            <a:r>
              <a:rPr lang="cs-CZ" sz="2000" dirty="0"/>
              <a:t>. Naopak, 		     </a:t>
            </a:r>
            <a:r>
              <a:rPr lang="cs-CZ" sz="2000" b="1" dirty="0"/>
              <a:t>negativní NPV </a:t>
            </a:r>
            <a:r>
              <a:rPr lang="cs-CZ" sz="2000" dirty="0"/>
              <a:t>signalizuje, že investice by měla být </a:t>
            </a:r>
            <a:r>
              <a:rPr lang="cs-CZ" sz="2000" b="1" dirty="0"/>
              <a:t>opomenuta</a:t>
            </a:r>
          </a:p>
        </p:txBody>
      </p:sp>
    </p:spTree>
    <p:extLst>
      <p:ext uri="{BB962C8B-B14F-4D97-AF65-F5344CB8AC3E}">
        <p14:creationId xmlns:p14="http://schemas.microsoft.com/office/powerpoint/2010/main" val="554826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Identifikace hrozeb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/>
              <a:t>Hrozbou je chápáno </a:t>
            </a:r>
            <a:r>
              <a:rPr lang="cs-CZ" sz="2000" b="1" dirty="0"/>
              <a:t>cokoliv, co má potenciál způsobit poškození, ztrátu nebo neoprávněný přístup</a:t>
            </a:r>
            <a:r>
              <a:rPr lang="cs-CZ" sz="2000" dirty="0"/>
              <a:t> k informacím či zdrojům systému</a:t>
            </a:r>
          </a:p>
          <a:p>
            <a:endParaRPr lang="cs-CZ" sz="2000" dirty="0"/>
          </a:p>
          <a:p>
            <a:r>
              <a:rPr lang="cs-CZ" sz="2000" dirty="0"/>
              <a:t>Tyto hrozby mohou přicházet jak z </a:t>
            </a:r>
            <a:r>
              <a:rPr lang="cs-CZ" sz="2000" b="1" dirty="0"/>
              <a:t>interních zdrojů </a:t>
            </a:r>
            <a:r>
              <a:rPr lang="cs-CZ" sz="2000" dirty="0"/>
              <a:t>(např. neopatrné chování zaměstnanců), tak i z </a:t>
            </a:r>
            <a:r>
              <a:rPr lang="cs-CZ" sz="2000" b="1" dirty="0"/>
              <a:t>externích</a:t>
            </a:r>
            <a:r>
              <a:rPr lang="cs-CZ" sz="2000" dirty="0"/>
              <a:t> (např. kybernetické útoky)</a:t>
            </a:r>
          </a:p>
          <a:p>
            <a:endParaRPr lang="cs-CZ" sz="2000" dirty="0"/>
          </a:p>
          <a:p>
            <a:r>
              <a:rPr lang="cs-CZ" sz="2000" b="1" dirty="0"/>
              <a:t>Identifikace hrozeb </a:t>
            </a:r>
            <a:r>
              <a:rPr lang="cs-CZ" sz="2000" dirty="0"/>
              <a:t>je klíčová pro úspěšné zajištění bezpečnosti informačních systémů, neboť umožňuje předvídat potenciální rizika</a:t>
            </a:r>
          </a:p>
        </p:txBody>
      </p:sp>
    </p:spTree>
    <p:extLst>
      <p:ext uri="{BB962C8B-B14F-4D97-AF65-F5344CB8AC3E}">
        <p14:creationId xmlns:p14="http://schemas.microsoft.com/office/powerpoint/2010/main" val="35665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23581"/>
            <a:ext cx="8229600" cy="1143000"/>
          </a:xfrm>
        </p:spPr>
        <p:txBody>
          <a:bodyPr>
            <a:normAutofit/>
          </a:bodyPr>
          <a:lstStyle/>
          <a:p>
            <a:r>
              <a:rPr lang="cs-CZ" b="1" dirty="0"/>
              <a:t>Hodnocení zranitelnosti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400600"/>
          </a:xfrm>
        </p:spPr>
        <p:txBody>
          <a:bodyPr>
            <a:normAutofit/>
          </a:bodyPr>
          <a:lstStyle/>
          <a:p>
            <a:r>
              <a:rPr lang="cs-CZ" sz="2000" b="1" dirty="0"/>
              <a:t>Identifikace zranitelných míst</a:t>
            </a:r>
            <a:r>
              <a:rPr lang="cs-CZ" sz="2000" dirty="0"/>
              <a:t>  </a:t>
            </a:r>
          </a:p>
          <a:p>
            <a:pPr lvl="1"/>
            <a:r>
              <a:rPr lang="cs-CZ" sz="1600" dirty="0"/>
              <a:t>analýza infrastruktury, aplikací a procesů</a:t>
            </a:r>
          </a:p>
          <a:p>
            <a:pPr lvl="1"/>
            <a:r>
              <a:rPr lang="cs-CZ" sz="1600" dirty="0"/>
              <a:t>Zhodnocení softwarových i hardwarových komponent, včetně operačního systému, databází, firewallů atd.</a:t>
            </a:r>
          </a:p>
          <a:p>
            <a:r>
              <a:rPr lang="cs-CZ" sz="2000" b="1" dirty="0"/>
              <a:t>Zjištění pravděpodobnosti a dopadu</a:t>
            </a:r>
          </a:p>
          <a:p>
            <a:pPr lvl="1"/>
            <a:r>
              <a:rPr lang="cs-CZ" sz="1600" dirty="0"/>
              <a:t>Posouzení pravděpodobnosti a dopadu využití zranitelnosti útočníkem a jejího dopadu</a:t>
            </a:r>
          </a:p>
          <a:p>
            <a:pPr lvl="1"/>
            <a:r>
              <a:rPr lang="cs-CZ" sz="1600" dirty="0"/>
              <a:t>Stanovení priority opravy na základě kombinace pravděpodobnosti a potencionálního dopadu.</a:t>
            </a:r>
            <a:endParaRPr lang="cs-CZ" sz="1600" b="1" dirty="0"/>
          </a:p>
          <a:p>
            <a:r>
              <a:rPr lang="cs-CZ" sz="2000" b="1" dirty="0"/>
              <a:t>Penetrace testy</a:t>
            </a:r>
          </a:p>
          <a:p>
            <a:pPr lvl="1"/>
            <a:r>
              <a:rPr lang="cs-CZ" sz="1600" dirty="0"/>
              <a:t>Provádění penetračních testů k aktivnímu ověření zranitelnosti v praxi</a:t>
            </a:r>
          </a:p>
          <a:p>
            <a:pPr lvl="1"/>
            <a:r>
              <a:rPr lang="cs-CZ" sz="1600" dirty="0"/>
              <a:t>Simulace útočníka s cílem proniknout do systému a zneužít identifikované slabiny</a:t>
            </a:r>
          </a:p>
        </p:txBody>
      </p:sp>
    </p:spTree>
    <p:extLst>
      <p:ext uri="{BB962C8B-B14F-4D97-AF65-F5344CB8AC3E}">
        <p14:creationId xmlns:p14="http://schemas.microsoft.com/office/powerpoint/2010/main" val="1486214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1800" b="1" dirty="0"/>
              <a:t>Skenování zranitelnosti</a:t>
            </a:r>
          </a:p>
          <a:p>
            <a:pPr lvl="1"/>
            <a:r>
              <a:rPr lang="cs-CZ" sz="1400" dirty="0"/>
              <a:t>Automatické skenování sítě a aplikací za účelem detekce známých zranitelností</a:t>
            </a:r>
          </a:p>
          <a:p>
            <a:pPr lvl="1"/>
            <a:r>
              <a:rPr lang="cs-CZ" sz="1400" dirty="0"/>
              <a:t>Vyhodnocení výsledků skenování a následná oprava nedostatků</a:t>
            </a:r>
          </a:p>
          <a:p>
            <a:r>
              <a:rPr lang="cs-CZ" sz="1800" b="1" dirty="0"/>
              <a:t>Vyhodnocení dodržení bezpečnostních standardů</a:t>
            </a:r>
          </a:p>
          <a:p>
            <a:pPr lvl="1"/>
            <a:r>
              <a:rPr lang="cs-CZ" sz="1400" dirty="0"/>
              <a:t>Kontrola dodržování příslušných bezpečnostních standardů a pravidel</a:t>
            </a:r>
          </a:p>
          <a:p>
            <a:pPr lvl="1"/>
            <a:r>
              <a:rPr lang="cs-CZ" sz="1400" dirty="0"/>
              <a:t>Porovnání aktuálního stavu s požadavky bezpečnostních standardů a identifikace odchylek</a:t>
            </a:r>
          </a:p>
          <a:p>
            <a:r>
              <a:rPr lang="cs-CZ" sz="1800" b="1" dirty="0"/>
              <a:t>Pravidelné aktualizace a opravy</a:t>
            </a:r>
            <a:endParaRPr lang="cs-CZ" sz="1400" b="1" dirty="0"/>
          </a:p>
          <a:p>
            <a:pPr lvl="1"/>
            <a:r>
              <a:rPr lang="cs-CZ" sz="1400" dirty="0"/>
              <a:t>Průběžné aktualizace softwarových a hardwarových komponent s cílem odstranění známých zranitelností</a:t>
            </a:r>
          </a:p>
          <a:p>
            <a:pPr lvl="1"/>
            <a:r>
              <a:rPr lang="cs-CZ" sz="1400" dirty="0"/>
              <a:t>Implementace bezpečnostních záplat a oprav na základě doporučení výrobců a bezpečnostních expertů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78907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cs-CZ" b="1" dirty="0"/>
              <a:t>Analýza možných rizik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/>
          <a:lstStyle/>
          <a:p>
            <a:r>
              <a:rPr lang="cs-CZ" sz="2000" b="1" dirty="0"/>
              <a:t>Identifikace potenciálních hrozeb</a:t>
            </a:r>
          </a:p>
          <a:p>
            <a:pPr lvl="1"/>
            <a:r>
              <a:rPr lang="cs-CZ" sz="1600" dirty="0"/>
              <a:t>Analýza různých typů hrozeb, včetně kybernetických útoků, přírodních katastrof a lidských chyb</a:t>
            </a:r>
          </a:p>
          <a:p>
            <a:pPr lvl="1"/>
            <a:r>
              <a:rPr lang="cs-CZ" sz="1600" dirty="0"/>
              <a:t>Sledování předchozích incidentů a trendů v oblasti kybernetické bezpečnosti</a:t>
            </a:r>
          </a:p>
          <a:p>
            <a:r>
              <a:rPr lang="cs-CZ" sz="2000" b="1" dirty="0"/>
              <a:t>Hodnocení dopadu a pravděpodobnosti</a:t>
            </a:r>
          </a:p>
          <a:p>
            <a:pPr lvl="1"/>
            <a:r>
              <a:rPr lang="cs-CZ" sz="1600" dirty="0"/>
              <a:t>Stanovení potenciálního dopadu hrozeb, včetně finančních ztrát, poškození reputace a přerušení provozu</a:t>
            </a:r>
          </a:p>
          <a:p>
            <a:pPr lvl="1"/>
            <a:r>
              <a:rPr lang="cs-CZ" sz="1600" dirty="0"/>
              <a:t>Posouzení pravděpodobnosti výskytu jednotlivých hrozeb na základě historických dat, aktuálních trendů a znalosti o kybernetickém prostředí.</a:t>
            </a:r>
          </a:p>
          <a:p>
            <a:r>
              <a:rPr lang="cs-CZ" sz="2000" b="1" dirty="0"/>
              <a:t>Hierarchizace rizik</a:t>
            </a:r>
          </a:p>
          <a:p>
            <a:pPr lvl="1"/>
            <a:r>
              <a:rPr lang="cs-CZ" sz="1600" dirty="0"/>
              <a:t>Vybrání klíčových hrozeb s největším potenciálem škody</a:t>
            </a:r>
          </a:p>
          <a:p>
            <a:pPr lvl="1"/>
            <a:r>
              <a:rPr lang="cs-CZ" sz="1600" dirty="0"/>
              <a:t>Stanovení priorit podle závažnosti a pravděpodobnosti výskytu, aby bylo možné určit oblasti vyžadující největší pozornost</a:t>
            </a:r>
          </a:p>
          <a:p>
            <a:r>
              <a:rPr lang="cs-CZ" sz="2000" b="1" dirty="0"/>
              <a:t>Plánování bezpečnostních opatření</a:t>
            </a:r>
          </a:p>
          <a:p>
            <a:pPr lvl="1"/>
            <a:r>
              <a:rPr lang="cs-CZ" sz="1600" dirty="0"/>
              <a:t>Vytvoření plánu pro implementaci opatření ke snížení rizik na základě identifikovaných hrozeb a zranitelností</a:t>
            </a:r>
          </a:p>
          <a:p>
            <a:pPr lvl="1"/>
            <a:r>
              <a:rPr lang="cs-CZ" sz="1600" dirty="0"/>
              <a:t>Zajištění, že navržená opatření jsou účinná a přizpůsobená konkrétním potřebám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62386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cs-CZ" b="1" dirty="0"/>
              <a:t>Výběr ochranných opatření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616624"/>
          </a:xfrm>
        </p:spPr>
        <p:txBody>
          <a:bodyPr>
            <a:normAutofit/>
          </a:bodyPr>
          <a:lstStyle/>
          <a:p>
            <a:r>
              <a:rPr lang="cs-CZ" sz="2000" b="1" dirty="0"/>
              <a:t>Posouzení efektivity</a:t>
            </a:r>
          </a:p>
          <a:p>
            <a:pPr lvl="1"/>
            <a:r>
              <a:rPr lang="cs-CZ" sz="1600" dirty="0"/>
              <a:t>Zhodnocení různých možností ochranných opatření a jejich schopnosti snížit identifikovaná rizika</a:t>
            </a:r>
          </a:p>
          <a:p>
            <a:pPr lvl="1"/>
            <a:r>
              <a:rPr lang="cs-CZ" sz="1600" dirty="0"/>
              <a:t>Analyzování nákladů a přínosu jednotlivých opatření pro optimalizaci investic do kybernetické bezpečnosti</a:t>
            </a:r>
          </a:p>
          <a:p>
            <a:r>
              <a:rPr lang="cs-CZ" sz="2000" b="1" dirty="0"/>
              <a:t>Zohlednění unikátních potřeb organizace</a:t>
            </a:r>
          </a:p>
          <a:p>
            <a:pPr lvl="1"/>
            <a:r>
              <a:rPr lang="cs-CZ" sz="1600" dirty="0"/>
              <a:t>Vybírání opatření, která nejlépe odpovídají specifickým potřebám a charakteristikám organizace</a:t>
            </a:r>
          </a:p>
          <a:p>
            <a:pPr lvl="1"/>
            <a:r>
              <a:rPr lang="cs-CZ" sz="1600" dirty="0"/>
              <a:t>Zohlednění omezení, jako jsou finanční prostředky, personální kapacity a podnikatelské cíle</a:t>
            </a:r>
          </a:p>
          <a:p>
            <a:r>
              <a:rPr lang="cs-CZ" sz="2000" b="1" dirty="0"/>
              <a:t>Implementace komplexních řešení</a:t>
            </a:r>
          </a:p>
          <a:p>
            <a:pPr lvl="1"/>
            <a:r>
              <a:rPr lang="cs-CZ" sz="1600" dirty="0"/>
              <a:t>Volba integrovaných bezpečnostních opatření, která pokrývají širokou škálu hrozeb a zranitelností</a:t>
            </a:r>
          </a:p>
          <a:p>
            <a:pPr lvl="1"/>
            <a:r>
              <a:rPr lang="cs-CZ" sz="1600" dirty="0"/>
              <a:t>Zajištění, že navržená opatření pracují společně a doplňují se navzájem pro zvýšení účinnosti ochrany</a:t>
            </a:r>
          </a:p>
          <a:p>
            <a:r>
              <a:rPr lang="cs-CZ" sz="2000" b="1" dirty="0"/>
              <a:t>Zapojení relevantních zainteresovaných stran</a:t>
            </a:r>
          </a:p>
          <a:p>
            <a:pPr lvl="1"/>
            <a:r>
              <a:rPr lang="cs-CZ" sz="1600" dirty="0"/>
              <a:t>Zapojení zainteresovaných stran, jako jsou vedoucí pracovníci, IT oddělení a zaměstnanci, do procesu rozhodování o bezpečnostních opatřeních</a:t>
            </a:r>
          </a:p>
          <a:p>
            <a:endParaRPr lang="cs-CZ" sz="2000" b="1" dirty="0"/>
          </a:p>
        </p:txBody>
      </p:sp>
    </p:spTree>
    <p:extLst>
      <p:ext uri="{BB962C8B-B14F-4D97-AF65-F5344CB8AC3E}">
        <p14:creationId xmlns:p14="http://schemas.microsoft.com/office/powerpoint/2010/main" val="2874644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922114"/>
          </a:xfrm>
        </p:spPr>
        <p:txBody>
          <a:bodyPr>
            <a:normAutofit fontScale="90000"/>
          </a:bodyPr>
          <a:lstStyle/>
          <a:p>
            <a:r>
              <a:rPr lang="cs-CZ" sz="3900" b="1" dirty="0"/>
              <a:t>Implementace kontrolních mechanismů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544616"/>
          </a:xfrm>
        </p:spPr>
        <p:txBody>
          <a:bodyPr>
            <a:normAutofit/>
          </a:bodyPr>
          <a:lstStyle/>
          <a:p>
            <a:r>
              <a:rPr lang="cs-CZ" sz="2000" b="1" dirty="0"/>
              <a:t>Nasazení bezpečnostních nástrojů</a:t>
            </a:r>
          </a:p>
          <a:p>
            <a:pPr lvl="1"/>
            <a:r>
              <a:rPr lang="cs-CZ" sz="1600" dirty="0"/>
              <a:t>Instalace a konfigurace bezpečnostních softwarů, jako jsou antivirové programy, firewall, detekční a prevenční systémy (IDS/IPS), šifrovací nástroje atd.</a:t>
            </a:r>
          </a:p>
          <a:p>
            <a:r>
              <a:rPr lang="cs-CZ" sz="2000" b="1" dirty="0"/>
              <a:t>Konfigurace oprávnění a přístupových práv</a:t>
            </a:r>
          </a:p>
          <a:p>
            <a:pPr lvl="1"/>
            <a:r>
              <a:rPr lang="cs-CZ" sz="1600" dirty="0"/>
              <a:t>Nastavení oprávnění uživatelů a rolí v systému a aplikacích pro omezení přístupu pouze pro nezbytné funkce a data</a:t>
            </a:r>
          </a:p>
          <a:p>
            <a:r>
              <a:rPr lang="cs-CZ" sz="2000" b="1" dirty="0"/>
              <a:t>Šifrování a zabezpečení přenosu dat</a:t>
            </a:r>
          </a:p>
          <a:p>
            <a:pPr lvl="1"/>
            <a:r>
              <a:rPr lang="cs-CZ" sz="1600" dirty="0"/>
              <a:t>Implementace šifrování dat při jejich přenosu přes veřejné nebo nezabezpečené sítě, například pomocí SSL/TLS protokolu pro zabezpečení komunikace webových aplikací</a:t>
            </a:r>
          </a:p>
          <a:p>
            <a:r>
              <a:rPr lang="cs-CZ" sz="2000" b="1" dirty="0"/>
              <a:t>Zabezpečení hardwaru a síťové infrastruktury</a:t>
            </a:r>
          </a:p>
          <a:p>
            <a:pPr lvl="1"/>
            <a:r>
              <a:rPr lang="cs-CZ" sz="1600" dirty="0"/>
              <a:t>Fyzická zabezpečení serverovny a zařízení, jako jsou servery, směrovače, přepínače, a další komponenty síťové infrastruktury</a:t>
            </a:r>
            <a:endParaRPr lang="cs-CZ" sz="1600" b="1" dirty="0"/>
          </a:p>
        </p:txBody>
      </p:sp>
    </p:spTree>
    <p:extLst>
      <p:ext uri="{BB962C8B-B14F-4D97-AF65-F5344CB8AC3E}">
        <p14:creationId xmlns:p14="http://schemas.microsoft.com/office/powerpoint/2010/main" val="222747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568952" cy="1143000"/>
          </a:xfrm>
        </p:spPr>
        <p:txBody>
          <a:bodyPr>
            <a:normAutofit fontScale="90000"/>
          </a:bodyPr>
          <a:lstStyle/>
          <a:p>
            <a:r>
              <a:rPr lang="cs-CZ" b="1" dirty="0"/>
              <a:t>Implementace kontrolních mechanismů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000" b="1" dirty="0"/>
              <a:t>Zavedení bezpečnostních politik a postupů</a:t>
            </a:r>
          </a:p>
          <a:p>
            <a:pPr lvl="1"/>
            <a:r>
              <a:rPr lang="cs-CZ" sz="1600" dirty="0"/>
              <a:t>Definice a distribuce bezpečnostních politik a postupů pro správu hesel, zálohování dat, přístupu k systému, řešení incidentů atd.</a:t>
            </a:r>
            <a:endParaRPr lang="cs-CZ" sz="1600" b="1" dirty="0"/>
          </a:p>
          <a:p>
            <a:r>
              <a:rPr lang="cs-CZ" sz="2000" b="1" dirty="0"/>
              <a:t>Průběžné školení a osvěta zaměstnanců</a:t>
            </a:r>
          </a:p>
          <a:p>
            <a:pPr lvl="1"/>
            <a:r>
              <a:rPr lang="cs-CZ" sz="1600" dirty="0"/>
              <a:t>Poskytování pravidelného školení zaměstnancům o bezpečnostních hrozbách, politikách a postupech pro bezpečné používání informačních systémů</a:t>
            </a:r>
          </a:p>
          <a:p>
            <a:r>
              <a:rPr lang="cs-CZ" sz="2000" b="1" dirty="0"/>
              <a:t>Implementace monitorovacích nástrojů a systémů</a:t>
            </a:r>
          </a:p>
          <a:p>
            <a:pPr lvl="1"/>
            <a:r>
              <a:rPr lang="cs-CZ" sz="1600" dirty="0"/>
              <a:t>Nasazení nástrojů pro průběžné monitorování a sledování aktivit v systému, včetně sledování přístupů uživatelů, detekce anomálií a varování před potenciálními hrozbami</a:t>
            </a:r>
            <a:endParaRPr lang="cs-CZ" sz="1600" b="1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63712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91264" cy="1143000"/>
          </a:xfrm>
        </p:spPr>
        <p:txBody>
          <a:bodyPr>
            <a:normAutofit fontScale="90000"/>
          </a:bodyPr>
          <a:lstStyle/>
          <a:p>
            <a:r>
              <a:rPr lang="cs-CZ" b="1" dirty="0"/>
              <a:t>Monitorování bezpečnostních událostí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b="1" dirty="0"/>
              <a:t>Sběr dat a logování událostí</a:t>
            </a:r>
          </a:p>
          <a:p>
            <a:pPr lvl="1"/>
            <a:r>
              <a:rPr lang="cs-CZ" sz="1600" dirty="0"/>
              <a:t>Nasazení nástrojů pro sběr a ukládání logů událostí z různých zdrojů, včetně operačních systémů, aplikací, síťových zařízení a bezpečnostních nástrojů</a:t>
            </a:r>
          </a:p>
          <a:p>
            <a:r>
              <a:rPr lang="cs-CZ" sz="2000" b="1" dirty="0"/>
              <a:t>Analýza logů a detekce anomálií</a:t>
            </a:r>
          </a:p>
          <a:p>
            <a:pPr lvl="1"/>
            <a:r>
              <a:rPr lang="cs-CZ" sz="1600" dirty="0"/>
              <a:t>Pravidelná analýza logů událostí za účelem identifikace podezřelých aktivit a anomálií, které by mohly naznačovat bezpečnostní incidenty</a:t>
            </a:r>
          </a:p>
          <a:p>
            <a:r>
              <a:rPr lang="cs-CZ" sz="2000" b="1" dirty="0"/>
              <a:t>Varování a upozornění</a:t>
            </a:r>
          </a:p>
          <a:p>
            <a:pPr lvl="1"/>
            <a:r>
              <a:rPr lang="cs-CZ" sz="1600" dirty="0"/>
              <a:t>Konfigurace nástrojů pro automatické generování varování a upozornění na podezřelé události a aktivity, které vyžadují okamžitou pozornost</a:t>
            </a:r>
            <a:endParaRPr lang="cs-CZ" sz="1600" b="1" dirty="0"/>
          </a:p>
          <a:p>
            <a:r>
              <a:rPr lang="cs-CZ" sz="2000" b="1" dirty="0"/>
              <a:t>Reakce na bezpečnostní incidenty</a:t>
            </a:r>
          </a:p>
          <a:p>
            <a:pPr lvl="1"/>
            <a:r>
              <a:rPr lang="cs-CZ" sz="1200" dirty="0"/>
              <a:t>Vytvoření postupů a procesů pro rychlou reakci na identifikované bezpečnostní incidenty, včetně izolace a odstranění hrozeb a obnovení normálního provozu</a:t>
            </a:r>
            <a:endParaRPr lang="cs-CZ" sz="1200" b="1" dirty="0"/>
          </a:p>
          <a:p>
            <a:pPr marL="0" indent="0">
              <a:buNone/>
            </a:pPr>
            <a:endParaRPr lang="cs-CZ" sz="1600" b="1" dirty="0"/>
          </a:p>
        </p:txBody>
      </p:sp>
    </p:spTree>
    <p:extLst>
      <p:ext uri="{BB962C8B-B14F-4D97-AF65-F5344CB8AC3E}">
        <p14:creationId xmlns:p14="http://schemas.microsoft.com/office/powerpoint/2010/main" val="664947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91264" cy="1143000"/>
          </a:xfrm>
        </p:spPr>
        <p:txBody>
          <a:bodyPr>
            <a:normAutofit fontScale="90000"/>
          </a:bodyPr>
          <a:lstStyle/>
          <a:p>
            <a:r>
              <a:rPr lang="cs-CZ" b="1" dirty="0"/>
              <a:t>Monitorování bezpečnostních událostí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000" b="1" dirty="0"/>
              <a:t>Incidentní správa a vyšetřování</a:t>
            </a:r>
          </a:p>
          <a:p>
            <a:pPr lvl="1"/>
            <a:r>
              <a:rPr lang="cs-CZ" sz="1400" dirty="0"/>
              <a:t>Dokumentace a vyšetřování všech identifikovaných bezpečnostních incidentů s cílem určit jejich příčiny, dopady a způsoby prevence v budoucnu</a:t>
            </a:r>
            <a:endParaRPr lang="cs-CZ" sz="1600" b="1" dirty="0"/>
          </a:p>
          <a:p>
            <a:r>
              <a:rPr lang="cs-CZ" sz="2000" b="1" dirty="0"/>
              <a:t>Pravidelná revize a aktualizace postupů</a:t>
            </a:r>
          </a:p>
          <a:p>
            <a:pPr lvl="1"/>
            <a:r>
              <a:rPr lang="cs-CZ" sz="1600" dirty="0"/>
              <a:t>Průběžné revize a aktualizace postupů monitorování a reakce na bezpečnostní události na základě zkušeností z předchozích incidentů a nových hrozeb</a:t>
            </a:r>
          </a:p>
          <a:p>
            <a:r>
              <a:rPr lang="cs-CZ" sz="2000" b="1" dirty="0"/>
              <a:t>Spolupráce a sdílení informací</a:t>
            </a:r>
          </a:p>
          <a:p>
            <a:pPr lvl="1"/>
            <a:r>
              <a:rPr lang="cs-CZ" sz="1400" dirty="0"/>
              <a:t>Spolupráce se zainteresovanými stranami a sdílení informací o bezpečnostních hrozbách a událostech s cílem zlepšit celkovou bezpečnostní situaci</a:t>
            </a:r>
            <a:r>
              <a:rPr lang="cs-CZ" sz="1600" b="1" dirty="0"/>
              <a:t>	</a:t>
            </a:r>
          </a:p>
          <a:p>
            <a:r>
              <a:rPr lang="cs-CZ" sz="2000" b="1" dirty="0"/>
              <a:t>Školení a osvěta</a:t>
            </a:r>
          </a:p>
          <a:p>
            <a:pPr lvl="1"/>
            <a:r>
              <a:rPr lang="cs-CZ" sz="1400" dirty="0"/>
              <a:t>Poskytování pravidelného školení zaměstnancům o monitorování bezpečnostních událostí a správné reakci na identifikované hrozby a incidenty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93238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Reakce na incidenty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b="1" dirty="0"/>
              <a:t>Identifikace a klasifikace incidentů</a:t>
            </a:r>
          </a:p>
          <a:p>
            <a:pPr lvl="1"/>
            <a:r>
              <a:rPr lang="cs-CZ" sz="1600" dirty="0"/>
              <a:t>Okamžitá identifikace bezpečnostních incidentů a jejich klasifikace podle závažnosti a dopadu na provoz organizace</a:t>
            </a:r>
            <a:endParaRPr lang="cs-CZ" sz="1600" b="1" dirty="0"/>
          </a:p>
          <a:p>
            <a:r>
              <a:rPr lang="cs-CZ" sz="2000" b="1" dirty="0"/>
              <a:t>Odhad dopadu a rozsahu</a:t>
            </a:r>
          </a:p>
          <a:p>
            <a:pPr lvl="1"/>
            <a:r>
              <a:rPr lang="cs-CZ" sz="1600" dirty="0"/>
              <a:t>Zhodnocení dopadu incidentu na provoz informačních systémů a určení rozsahu postižených systémů a dat</a:t>
            </a:r>
            <a:endParaRPr lang="cs-CZ" sz="1600" b="1" dirty="0"/>
          </a:p>
          <a:p>
            <a:r>
              <a:rPr lang="cs-CZ" sz="2000" b="1" dirty="0"/>
              <a:t>Izolace a odstranění hrozeb</a:t>
            </a:r>
          </a:p>
          <a:p>
            <a:pPr lvl="1"/>
            <a:r>
              <a:rPr lang="cs-CZ" sz="1600" dirty="0"/>
              <a:t>Rychlá izolace a odstranění zjištěných hrozeb a škodlivého softwaru z postižených systémů s cílem minimalizovat škody a obnovit normální provoz</a:t>
            </a:r>
            <a:endParaRPr lang="cs-CZ" sz="1600" b="1" dirty="0"/>
          </a:p>
          <a:p>
            <a:r>
              <a:rPr lang="cs-CZ" sz="2000" b="1" dirty="0"/>
              <a:t>Obnova dat a systémů</a:t>
            </a:r>
          </a:p>
          <a:p>
            <a:pPr lvl="1"/>
            <a:r>
              <a:rPr lang="cs-CZ" sz="1600" dirty="0"/>
              <a:t>Obnovení poškozených dat a systémů z záložních kopií a jejich opětovné nasazení do provozu po odstranění bezpečnostního incidentu</a:t>
            </a:r>
            <a:endParaRPr lang="cs-CZ" sz="1600" b="1" dirty="0"/>
          </a:p>
          <a:p>
            <a:pPr marL="0" indent="0">
              <a:buNone/>
            </a:pPr>
            <a:endParaRPr lang="cs-CZ" sz="1600" b="1" dirty="0"/>
          </a:p>
        </p:txBody>
      </p:sp>
    </p:spTree>
    <p:extLst>
      <p:ext uri="{BB962C8B-B14F-4D97-AF65-F5344CB8AC3E}">
        <p14:creationId xmlns:p14="http://schemas.microsoft.com/office/powerpoint/2010/main" val="470757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Reakce na incidenty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000" b="1" dirty="0"/>
              <a:t>Informování zainteresovaných stran</a:t>
            </a:r>
          </a:p>
          <a:p>
            <a:pPr lvl="1"/>
            <a:r>
              <a:rPr lang="cs-CZ" sz="1600" dirty="0"/>
              <a:t>Informování zainteresovaných stran, včetně vedení organizace, zaměstnanců a případně i regulátorů o proběhlém bezpečnostním incidentu a podniknutých opatřeních</a:t>
            </a:r>
            <a:endParaRPr lang="cs-CZ" sz="1600" b="1" dirty="0"/>
          </a:p>
          <a:p>
            <a:r>
              <a:rPr lang="cs-CZ" sz="2000" b="1" dirty="0"/>
              <a:t>Vyšetřování incidentů</a:t>
            </a:r>
          </a:p>
          <a:p>
            <a:pPr lvl="1"/>
            <a:r>
              <a:rPr lang="cs-CZ" sz="1600" dirty="0"/>
              <a:t>Podrobné vyšetření příčin a okolností bezpečnostního incidentu s cílem identifikovat slabiny v bezpečnostních opatřeních a přijmout opatření k jejich zlepšení</a:t>
            </a:r>
            <a:endParaRPr lang="cs-CZ" sz="1600" b="1" dirty="0"/>
          </a:p>
          <a:p>
            <a:r>
              <a:rPr lang="cs-CZ" sz="2000" b="1" dirty="0"/>
              <a:t>Pravidelné cvičení a testování</a:t>
            </a:r>
          </a:p>
          <a:p>
            <a:pPr lvl="1"/>
            <a:r>
              <a:rPr lang="cs-CZ" sz="1400" dirty="0"/>
              <a:t>Pravidelné provádění cvičení a simulací bezpečnostních incidentů pro zlepšení schopnosti organizace rychle a efektivně reagovat na reálné hrozby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23829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Pravidelné revize a aktualizace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b="1" dirty="0"/>
              <a:t>Průběžná revize bezpečnostních opatření</a:t>
            </a:r>
          </a:p>
          <a:p>
            <a:pPr lvl="1"/>
            <a:r>
              <a:rPr lang="cs-CZ" sz="1600" dirty="0"/>
              <a:t>Pravidelná a systematická kontrola a aktualizace bezpečnostních opatření a postupů v souladu s aktuálními hrozbami a technologickým vývojem</a:t>
            </a:r>
          </a:p>
          <a:p>
            <a:pPr lvl="1"/>
            <a:r>
              <a:rPr lang="cs-CZ" sz="1600" dirty="0"/>
              <a:t>Implementace pružných systémů, které umožňují rychlou reakci na nové hrozby a zranitelnosti</a:t>
            </a:r>
            <a:endParaRPr lang="cs-CZ" sz="1600" b="1" dirty="0"/>
          </a:p>
          <a:p>
            <a:r>
              <a:rPr lang="cs-CZ" sz="2000" b="1" dirty="0"/>
              <a:t>Audit bezpečnostních politik</a:t>
            </a:r>
          </a:p>
          <a:p>
            <a:pPr lvl="1"/>
            <a:r>
              <a:rPr lang="cs-CZ" sz="1600" dirty="0"/>
              <a:t>Pravidelné provádění auditů a revizí bezpečnostních politik a postupů s cílem ověřit jejich účinnost a soulad s předpisy a standardy</a:t>
            </a:r>
          </a:p>
          <a:p>
            <a:pPr lvl="1"/>
            <a:r>
              <a:rPr lang="cs-CZ" sz="1600" dirty="0"/>
              <a:t>Sledování doporučení od auditorských agentur a implementace jejich doporučení pro zlepšení bezpečnostních politik</a:t>
            </a:r>
            <a:endParaRPr lang="cs-CZ" sz="1600" b="1" dirty="0"/>
          </a:p>
          <a:p>
            <a:r>
              <a:rPr lang="cs-CZ" sz="2000" b="1" dirty="0"/>
              <a:t>Analýza trendů a incidentů</a:t>
            </a:r>
          </a:p>
          <a:p>
            <a:pPr lvl="1"/>
            <a:r>
              <a:rPr lang="cs-CZ" sz="1600" dirty="0"/>
              <a:t>Sledování a analýza trendů a historie bezpečnostních incidentů a událostí s cílem identifikovat opakující se vzory a zlepšit preventivní opatření</a:t>
            </a:r>
          </a:p>
          <a:p>
            <a:pPr lvl="1"/>
            <a:r>
              <a:rPr lang="cs-CZ" sz="1600" dirty="0"/>
              <a:t>Vytváření statistik a reportů o bezpečnostních událostech a jejich příčinách pro lepší pochopení a reakci na aktuální hrozby</a:t>
            </a:r>
            <a:endParaRPr lang="cs-CZ" sz="1600" b="1" dirty="0"/>
          </a:p>
        </p:txBody>
      </p:sp>
    </p:spTree>
    <p:extLst>
      <p:ext uri="{BB962C8B-B14F-4D97-AF65-F5344CB8AC3E}">
        <p14:creationId xmlns:p14="http://schemas.microsoft.com/office/powerpoint/2010/main" val="349651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936104"/>
          </a:xfrm>
        </p:spPr>
        <p:txBody>
          <a:bodyPr/>
          <a:lstStyle/>
          <a:p>
            <a:r>
              <a:rPr lang="cs-CZ" b="1" dirty="0"/>
              <a:t>Pravidelné revize a aktualizace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616624"/>
          </a:xfrm>
        </p:spPr>
        <p:txBody>
          <a:bodyPr>
            <a:normAutofit lnSpcReduction="10000"/>
          </a:bodyPr>
          <a:lstStyle/>
          <a:p>
            <a:r>
              <a:rPr lang="cs-CZ" sz="2000" b="1" dirty="0"/>
              <a:t>Aktualizace softwaru a hardwaru</a:t>
            </a:r>
          </a:p>
          <a:p>
            <a:pPr lvl="1"/>
            <a:r>
              <a:rPr lang="cs-CZ" sz="1600" dirty="0"/>
              <a:t>Pravidelná aktualizace softwaru a hardwaru v informačních systémech s cílem odstranit známé bezpečnostní chyby a zranitelnosti</a:t>
            </a:r>
          </a:p>
          <a:p>
            <a:pPr lvl="1"/>
            <a:r>
              <a:rPr lang="cs-CZ" sz="1600" dirty="0"/>
              <a:t>Automatické nasazení aktualizací a patchů pro minimalizaci času mezi zjištěním chyby a jejím odstraněním</a:t>
            </a:r>
            <a:endParaRPr lang="cs-CZ" sz="1600" b="1" dirty="0"/>
          </a:p>
          <a:p>
            <a:r>
              <a:rPr lang="cs-CZ" sz="2000" b="1" dirty="0"/>
              <a:t>Školení a osvěta zaměstnanců</a:t>
            </a:r>
          </a:p>
          <a:p>
            <a:pPr lvl="1"/>
            <a:r>
              <a:rPr lang="cs-CZ" sz="1600" dirty="0"/>
              <a:t>Průběžné školení zaměstnanců v oblasti bezpečnosti informačních systémů a pravidelná osvěta o aktuálních hrozbách a postupech pro jejich eliminaci</a:t>
            </a:r>
          </a:p>
          <a:p>
            <a:pPr lvl="1"/>
            <a:r>
              <a:rPr lang="cs-CZ" sz="1600" dirty="0"/>
              <a:t>Organizace simulovaných cvičení na reakci na bezpečnostní incidenty pro zvýšení povědomí a schopnosti zaměstnanců</a:t>
            </a:r>
            <a:endParaRPr lang="cs-CZ" sz="1600" b="1" dirty="0"/>
          </a:p>
          <a:p>
            <a:r>
              <a:rPr lang="cs-CZ" sz="2000" b="1" dirty="0"/>
              <a:t>Externí audit a certifikace</a:t>
            </a:r>
          </a:p>
          <a:p>
            <a:pPr lvl="1"/>
            <a:r>
              <a:rPr lang="cs-CZ" sz="1600" dirty="0"/>
              <a:t>Pravidelné provádění externích auditů a certifikací bezpečnostního systému organizace s cílem ověřit jeho úroveň a splnění standardů a předpisů</a:t>
            </a:r>
          </a:p>
          <a:p>
            <a:pPr lvl="1"/>
            <a:r>
              <a:rPr lang="cs-CZ" sz="1600" dirty="0"/>
              <a:t>Spolupráce s certifikačními agenturami a bezpečnostními expertními organizacemi pro získání nejnovějších poznatků a osvědčených postupů</a:t>
            </a:r>
            <a:endParaRPr lang="cs-CZ" sz="1600" b="1" dirty="0"/>
          </a:p>
          <a:p>
            <a:r>
              <a:rPr lang="cs-CZ" sz="2000" b="1" dirty="0"/>
              <a:t>Zlepšení procesů</a:t>
            </a:r>
          </a:p>
          <a:p>
            <a:pPr lvl="1"/>
            <a:r>
              <a:rPr lang="cs-CZ" sz="1600" dirty="0"/>
              <a:t>Identifikace oblastí pro zlepšení a optimalizaci procesů v rámci bezpečnostního řízení na základě zkušeností z předchozích revizí a incidentů</a:t>
            </a:r>
          </a:p>
          <a:p>
            <a:pPr lvl="1"/>
            <a:r>
              <a:rPr lang="cs-CZ" sz="1600" dirty="0"/>
              <a:t>Zavádění metodik a nástrojů pro sledování a řízení bezpečnostních procesů a snížení jejich nákladů a složitosti</a:t>
            </a:r>
            <a:endParaRPr lang="cs-CZ" sz="1600" b="1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09100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Školení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b="1" dirty="0"/>
              <a:t>Cíle školení</a:t>
            </a:r>
          </a:p>
          <a:p>
            <a:pPr lvl="1"/>
            <a:r>
              <a:rPr lang="cs-CZ" sz="1600" dirty="0"/>
              <a:t>Zlepšení povědomí zaměstnanců o současných hrozbách a rizicích</a:t>
            </a:r>
          </a:p>
          <a:p>
            <a:pPr lvl="1"/>
            <a:r>
              <a:rPr lang="cs-CZ" sz="1600" dirty="0"/>
              <a:t>Zvýšení schopnosti zaměstnanců rozpoznat a reagovat na potenciální bezpečnostní incidenty</a:t>
            </a:r>
            <a:endParaRPr lang="cs-CZ" sz="1600" b="1" dirty="0"/>
          </a:p>
          <a:p>
            <a:r>
              <a:rPr lang="cs-CZ" sz="2000" b="1" dirty="0"/>
              <a:t>Témata školení</a:t>
            </a:r>
          </a:p>
          <a:p>
            <a:pPr lvl="1"/>
            <a:r>
              <a:rPr lang="cs-CZ" sz="1600" dirty="0"/>
              <a:t>Identifikace různých druhů hrozeb a zranitelností informačních systémů</a:t>
            </a:r>
          </a:p>
          <a:p>
            <a:pPr lvl="1"/>
            <a:r>
              <a:rPr lang="cs-CZ" sz="1600" dirty="0"/>
              <a:t>Bezpečnostní postupy pro zacházení s citlivými daty a osobními informacemi</a:t>
            </a:r>
          </a:p>
          <a:p>
            <a:pPr lvl="1"/>
            <a:r>
              <a:rPr lang="cs-CZ" sz="1600" dirty="0"/>
              <a:t>Techniky ochrany před phishingem, ransomwarem a jinými formami malware</a:t>
            </a:r>
          </a:p>
          <a:p>
            <a:pPr lvl="1"/>
            <a:r>
              <a:rPr lang="cs-CZ" sz="1600" dirty="0"/>
              <a:t>Pravidla pro silná hesla a autentizační metody pro přístup k informačním systémům</a:t>
            </a:r>
            <a:endParaRPr lang="cs-CZ" sz="1600" b="1" dirty="0"/>
          </a:p>
          <a:p>
            <a:r>
              <a:rPr lang="cs-CZ" sz="2000" b="1" dirty="0"/>
              <a:t>Formáty školení</a:t>
            </a:r>
          </a:p>
          <a:p>
            <a:pPr lvl="1"/>
            <a:r>
              <a:rPr lang="cs-CZ" sz="1600" dirty="0"/>
              <a:t>Interaktivní workshopy a simulační cvičení umožňující praktickou zkušenost s bezpečnostními situacemi</a:t>
            </a:r>
          </a:p>
          <a:p>
            <a:pPr lvl="1"/>
            <a:r>
              <a:rPr lang="cs-CZ" sz="1600" dirty="0"/>
              <a:t>Online kurzy a e-</a:t>
            </a:r>
            <a:r>
              <a:rPr lang="cs-CZ" sz="1600" dirty="0" err="1"/>
              <a:t>learningové</a:t>
            </a:r>
            <a:r>
              <a:rPr lang="cs-CZ" sz="1600" dirty="0"/>
              <a:t> moduly, které umožňují zaměstnancům absolvovat školení podle svého vlastního tempa</a:t>
            </a:r>
          </a:p>
          <a:p>
            <a:pPr lvl="1"/>
            <a:r>
              <a:rPr lang="cs-CZ" sz="1600" dirty="0"/>
              <a:t>Prezentace a workshopy vedené školiteli s možností diskuse a dotazů</a:t>
            </a:r>
            <a:endParaRPr lang="cs-CZ" sz="1600" b="1" dirty="0"/>
          </a:p>
          <a:p>
            <a:endParaRPr lang="cs-CZ" sz="2000" b="1" dirty="0"/>
          </a:p>
        </p:txBody>
      </p:sp>
    </p:spTree>
    <p:extLst>
      <p:ext uri="{BB962C8B-B14F-4D97-AF65-F5344CB8AC3E}">
        <p14:creationId xmlns:p14="http://schemas.microsoft.com/office/powerpoint/2010/main" val="3616302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Školení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13176"/>
          </a:xfrm>
        </p:spPr>
        <p:txBody>
          <a:bodyPr/>
          <a:lstStyle/>
          <a:p>
            <a:r>
              <a:rPr lang="cs-CZ" sz="2000" b="1" dirty="0"/>
              <a:t>Časový plán a frekvence</a:t>
            </a:r>
          </a:p>
          <a:p>
            <a:pPr lvl="1"/>
            <a:r>
              <a:rPr lang="cs-CZ" sz="1600" dirty="0"/>
              <a:t>Pravidelná školení v souladu s pracovními povinnostmi zaměstnanců</a:t>
            </a:r>
          </a:p>
          <a:p>
            <a:pPr lvl="1"/>
            <a:r>
              <a:rPr lang="cs-CZ" sz="1600" dirty="0"/>
              <a:t>Důkladná příprava na školení a oznámení o termínech s dostatečným předstihem</a:t>
            </a:r>
            <a:endParaRPr lang="cs-CZ" sz="1600" b="1" dirty="0"/>
          </a:p>
          <a:p>
            <a:r>
              <a:rPr lang="cs-CZ" sz="2000" b="1" dirty="0"/>
              <a:t>Měření účinnosti</a:t>
            </a:r>
          </a:p>
          <a:p>
            <a:pPr lvl="1"/>
            <a:r>
              <a:rPr lang="cs-CZ" sz="1600" dirty="0"/>
              <a:t>Testy znalostí a hodnocení úspěšnosti absolvovaného školení</a:t>
            </a:r>
          </a:p>
          <a:p>
            <a:pPr lvl="1"/>
            <a:r>
              <a:rPr lang="cs-CZ" sz="1600" dirty="0"/>
              <a:t>Sledování poklesu počtu bezpečnostních incidentů a zlepšení schopnosti zaměstnanců reagovat na hrozby</a:t>
            </a:r>
            <a:endParaRPr lang="cs-CZ" sz="1600" b="1" dirty="0"/>
          </a:p>
          <a:p>
            <a:r>
              <a:rPr lang="cs-CZ" sz="2000" b="1" dirty="0"/>
              <a:t>Kontinuální vzdělávání</a:t>
            </a:r>
          </a:p>
          <a:p>
            <a:pPr lvl="1"/>
            <a:r>
              <a:rPr lang="cs-CZ" sz="1600" dirty="0"/>
              <a:t>Průběžné aktualizace školení o nových hrozbách a technologiích</a:t>
            </a:r>
          </a:p>
          <a:p>
            <a:pPr lvl="1"/>
            <a:r>
              <a:rPr lang="cs-CZ" sz="1600" dirty="0"/>
              <a:t>Podpora zaměstnanců v rozvoji jejich odborných znalostí a dovedností v oblasti bezpečnosti informačních systémů</a:t>
            </a:r>
            <a:endParaRPr lang="cs-CZ" sz="1600" b="1" dirty="0"/>
          </a:p>
          <a:p>
            <a:r>
              <a:rPr lang="cs-CZ" sz="2000" b="1" dirty="0"/>
              <a:t>Zodpovědnost za školení</a:t>
            </a:r>
          </a:p>
          <a:p>
            <a:pPr lvl="1"/>
            <a:r>
              <a:rPr lang="cs-CZ" sz="1600" dirty="0"/>
              <a:t>Jmenování zodpovědného jedince nebo týmu pro organizaci a koordinaci školení</a:t>
            </a:r>
          </a:p>
          <a:p>
            <a:pPr lvl="1"/>
            <a:r>
              <a:rPr lang="cs-CZ" sz="1600" dirty="0"/>
              <a:t>Pravidelné hodnocení a aktualizace obsahu školení podle potřeb a zkušeností zaměstnanců</a:t>
            </a:r>
            <a:endParaRPr lang="cs-CZ" sz="1600" b="1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79753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 informací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>
                <a:hlinkClick r:id="rId2"/>
              </a:rPr>
              <a:t>https://theses.cz/id/lx5xki/downloadPraceContent_adipIdno_12530</a:t>
            </a:r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51568151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1897</Words>
  <Application>Microsoft Office PowerPoint</Application>
  <PresentationFormat>Předvádění na obrazovce (4:3)</PresentationFormat>
  <Paragraphs>186</Paragraphs>
  <Slides>21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21</vt:i4>
      </vt:variant>
    </vt:vector>
  </HeadingPairs>
  <TitlesOfParts>
    <vt:vector size="25" baseType="lpstr">
      <vt:lpstr>Arial</vt:lpstr>
      <vt:lpstr>Arial Black</vt:lpstr>
      <vt:lpstr>Calibri</vt:lpstr>
      <vt:lpstr>Motiv systému Office</vt:lpstr>
      <vt:lpstr>Bezpečnost informačních systémů, ochrana dat a prevence hrozeb</vt:lpstr>
      <vt:lpstr>Identifikace aktiv</vt:lpstr>
      <vt:lpstr>Důležitost správné identifikace aktiv</vt:lpstr>
      <vt:lpstr>Obecný postup analýzy rizik </vt:lpstr>
      <vt:lpstr>Metody a techniky pro hodnocení hodnoty aktiv</vt:lpstr>
      <vt:lpstr>Identifikace hrozeb</vt:lpstr>
      <vt:lpstr>Hodnocení zranitelnosti</vt:lpstr>
      <vt:lpstr>Prezentace aplikace PowerPoint</vt:lpstr>
      <vt:lpstr>Analýza možných rizik</vt:lpstr>
      <vt:lpstr>Výběr ochranných opatření</vt:lpstr>
      <vt:lpstr>Implementace kontrolních mechanismů</vt:lpstr>
      <vt:lpstr>Implementace kontrolních mechanismů</vt:lpstr>
      <vt:lpstr>Monitorování bezpečnostních událostí</vt:lpstr>
      <vt:lpstr>Monitorování bezpečnostních událostí</vt:lpstr>
      <vt:lpstr>Reakce na incidenty</vt:lpstr>
      <vt:lpstr>Reakce na incidenty</vt:lpstr>
      <vt:lpstr>Pravidelné revize a aktualizace</vt:lpstr>
      <vt:lpstr>Pravidelné revize a aktualizace</vt:lpstr>
      <vt:lpstr>Školení</vt:lpstr>
      <vt:lpstr>Školení</vt:lpstr>
      <vt:lpstr>Zdroj informací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