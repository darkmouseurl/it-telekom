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42DB-970C-2D3F-5737-4DAD98723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6EBBD-F530-011A-33DE-B97628E00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12D40-EB56-4961-AB86-66904F41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2971E-66BF-33C5-AA93-D92DF94A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05492-2D20-EC2F-3EB2-A3891816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02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0829-5165-457D-D795-2B225930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D5BBF-073C-8FC8-96B1-58C1BDBD2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91AA8-5EDC-C286-FC8A-B323A833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0A22-1D4A-3EB6-ABEF-5CC209F9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96F63-4E2E-B414-7BCE-BE459610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26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400A-B164-4AFA-F2FA-231A71404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E1665-3E39-D089-36B3-51A9E22C1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A3C5E-A76B-5284-D2C4-94A87C83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A565E-7809-F642-2124-30B74720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B92DF-1536-53A7-D985-6DF64938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65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7824-1666-7AB6-F8A1-5516658B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C01F-E6D2-B941-9443-4339CA87A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53999-85A1-0D86-FF2D-18EF49CC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3C94D-27B7-FEC8-D8BF-F9DF5C66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6E209-5770-DBA3-87B8-696FACA7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0D44D-E75B-1FC7-AE3D-E88F7D9A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4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0EE1-7D4B-2B34-5702-1FC6291F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92FC9-19F6-14BC-2E24-03B2003DF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CA628-F7EB-C170-EF67-B857AEF32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8C33D-E383-D9B7-0384-03E6D8A1B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D5914-17A4-4F21-3C06-A2D0BB16B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6453D-70F7-42D8-9B26-0A9E7189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325C2-71F0-5C21-63FE-D2DFFE9F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43AD1B-37ED-7513-061F-8DF4C283A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642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F612-56CD-BE40-9B18-DBDFE368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BE8F0-6983-A26D-5364-B4EF3E8C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1659B-6E5C-F7C0-E79C-CCF45C20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F71AB-D626-01F5-CB04-87D9344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68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7A1DF7-B5F1-3292-2652-0D3CC1FC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9B63C3-6CC3-C160-FC91-04CB0DE9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D09D9-4444-CDBA-3607-D7AE872C4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582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AEC6-C0BE-7874-B82F-9BE3B7EA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7767B-5482-8730-1D73-53AB36456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65D3E-8B50-AD57-F71C-72BE9F977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23CBA-FF17-5872-5E98-A4DA0F4F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F624A-CAAE-1B2C-AFCA-7A34C0C3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EBEC6-0E04-853F-553E-04F328EC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16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3AC5-17EC-4A20-12A0-491C51D2B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1EC66-FBB2-8C00-880B-AEFDF8988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95226-FFC3-228F-50C4-ACB41321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3CFD1-D712-4A5F-A0EA-7055996E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DB11D-5033-37A4-A498-6D4193C3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9C2BE-26EB-E0F8-80B1-44F84453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47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5752D-0544-ABD8-1BBF-C7C3F46F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214CD-67B7-5BF1-B1EA-30A1A1A4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92323-6B1E-3208-428E-3DC0E03E8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2DB8-1206-F9E2-1CF8-F912B0C2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C65DC-DFCC-4D84-A878-08B3267C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98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C7EAE-4660-1B93-5681-83F5A732E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0D656-FCE1-3CDE-273F-62DD5B57C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D840C-7711-75FC-163B-6600E0151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6C12A-7351-5273-BE87-15AC49B41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00BBE-3D1D-1799-A27B-E56F6529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63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6226F-FF83-9559-F78C-0D1DFEF4E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E7C59-B156-8443-D716-5B6C70570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FFFE9-08ED-5DDF-F565-B45BC06DE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D4C46-9BA9-4BB5-AAE4-33401CC821AF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78D-3305-3748-9F11-45653C131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EA543-67AE-CBBD-A7A8-10DEC7D67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0A152-937D-4D13-8D45-E6EE45AC6B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68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2419-95BD-B632-9626-EC80DFD477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err="1"/>
              <a:t>Metody</a:t>
            </a:r>
            <a:r>
              <a:rPr lang="en-GB" b="1" dirty="0"/>
              <a:t> </a:t>
            </a:r>
            <a:r>
              <a:rPr lang="en-GB" b="1" dirty="0" err="1"/>
              <a:t>obrany</a:t>
            </a:r>
            <a:r>
              <a:rPr lang="en-GB" b="1" dirty="0"/>
              <a:t> </a:t>
            </a:r>
            <a:r>
              <a:rPr lang="en-GB" b="1" dirty="0" err="1"/>
              <a:t>proti</a:t>
            </a:r>
            <a:r>
              <a:rPr lang="en-GB" b="1" dirty="0"/>
              <a:t> </a:t>
            </a:r>
            <a:r>
              <a:rPr lang="en-GB" b="1" dirty="0" err="1"/>
              <a:t>kybernetickým</a:t>
            </a:r>
            <a:r>
              <a:rPr lang="en-GB" b="1" dirty="0"/>
              <a:t> </a:t>
            </a:r>
            <a:r>
              <a:rPr lang="en-GB" b="1" dirty="0" err="1"/>
              <a:t>útokům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246240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7A6E-214D-DF1D-914C-93F5EF2FB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Základy</a:t>
            </a:r>
            <a:r>
              <a:rPr lang="en-GB" b="1" dirty="0"/>
              <a:t> </a:t>
            </a:r>
            <a:r>
              <a:rPr lang="en-GB" b="1" dirty="0" err="1"/>
              <a:t>kybernetické</a:t>
            </a:r>
            <a:r>
              <a:rPr lang="en-GB" b="1" dirty="0"/>
              <a:t> </a:t>
            </a:r>
            <a:r>
              <a:rPr lang="en-GB" b="1" dirty="0" err="1"/>
              <a:t>bezpečnosti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E5B03-DA7A-D6F4-59B0-C377B5FC0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GB" dirty="0"/>
              <a:t>Firewall</a:t>
            </a:r>
          </a:p>
          <a:p>
            <a:pPr lvl="1"/>
            <a:r>
              <a:rPr lang="en-GB" dirty="0" err="1"/>
              <a:t>Antivirový</a:t>
            </a:r>
            <a:r>
              <a:rPr lang="en-GB" dirty="0"/>
              <a:t> program</a:t>
            </a:r>
          </a:p>
          <a:p>
            <a:pPr lvl="1"/>
            <a:r>
              <a:rPr lang="en-GB" dirty="0" err="1"/>
              <a:t>Aktualizace</a:t>
            </a:r>
            <a:r>
              <a:rPr lang="en-GB" dirty="0"/>
              <a:t> a </a:t>
            </a:r>
            <a:r>
              <a:rPr lang="en-GB" dirty="0" err="1"/>
              <a:t>záplaty</a:t>
            </a:r>
            <a:endParaRPr lang="en-GB" dirty="0"/>
          </a:p>
          <a:p>
            <a:pPr lvl="1"/>
            <a:r>
              <a:rPr lang="en-GB" dirty="0" err="1"/>
              <a:t>Typy</a:t>
            </a:r>
            <a:r>
              <a:rPr lang="en-GB" dirty="0"/>
              <a:t> </a:t>
            </a:r>
            <a:r>
              <a:rPr lang="en-GB" dirty="0" err="1"/>
              <a:t>šifrování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pPr lvl="1"/>
            <a:r>
              <a:rPr lang="en-GB" dirty="0" err="1"/>
              <a:t>Přístupová</a:t>
            </a:r>
            <a:r>
              <a:rPr lang="en-GB" dirty="0"/>
              <a:t> </a:t>
            </a:r>
            <a:r>
              <a:rPr lang="en-GB" dirty="0" err="1"/>
              <a:t>kontrola</a:t>
            </a:r>
            <a:endParaRPr lang="en-GB" dirty="0"/>
          </a:p>
          <a:p>
            <a:pPr lvl="1"/>
            <a:r>
              <a:rPr lang="en-GB" dirty="0" err="1"/>
              <a:t>Zálohování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pPr lvl="1"/>
            <a:r>
              <a:rPr lang="en-GB" dirty="0" err="1"/>
              <a:t>Bezpečnostní</a:t>
            </a:r>
            <a:r>
              <a:rPr lang="en-GB" dirty="0"/>
              <a:t> </a:t>
            </a:r>
            <a:r>
              <a:rPr lang="en-GB" dirty="0" err="1"/>
              <a:t>školení</a:t>
            </a:r>
            <a:r>
              <a:rPr lang="en-GB" dirty="0"/>
              <a:t> a </a:t>
            </a:r>
            <a:r>
              <a:rPr lang="en-GB" dirty="0" err="1"/>
              <a:t>osvěta</a:t>
            </a:r>
            <a:endParaRPr lang="en-GB" dirty="0"/>
          </a:p>
          <a:p>
            <a:pPr lvl="1"/>
            <a:r>
              <a:rPr lang="en-GB" dirty="0" err="1"/>
              <a:t>Segmentace</a:t>
            </a:r>
            <a:r>
              <a:rPr lang="en-GB" dirty="0"/>
              <a:t> </a:t>
            </a:r>
            <a:r>
              <a:rPr lang="en-GB" dirty="0" err="1"/>
              <a:t>sítě</a:t>
            </a:r>
            <a:endParaRPr lang="en-GB" dirty="0"/>
          </a:p>
          <a:p>
            <a:pPr lvl="1"/>
            <a:r>
              <a:rPr lang="en-GB" dirty="0" err="1"/>
              <a:t>Incidentní</a:t>
            </a:r>
            <a:r>
              <a:rPr lang="en-GB" dirty="0"/>
              <a:t> </a:t>
            </a:r>
            <a:r>
              <a:rPr lang="en-GB" dirty="0" err="1"/>
              <a:t>reakce</a:t>
            </a:r>
            <a:r>
              <a:rPr lang="en-GB" dirty="0"/>
              <a:t> a </a:t>
            </a:r>
            <a:r>
              <a:rPr lang="en-GB" dirty="0" err="1"/>
              <a:t>plán</a:t>
            </a:r>
            <a:r>
              <a:rPr lang="en-GB" dirty="0"/>
              <a:t> </a:t>
            </a:r>
            <a:r>
              <a:rPr lang="en-GB" dirty="0" err="1"/>
              <a:t>obnovy</a:t>
            </a:r>
            <a:endParaRPr lang="en-GB" dirty="0"/>
          </a:p>
          <a:p>
            <a:pPr lvl="1"/>
            <a:r>
              <a:rPr lang="en-GB" dirty="0"/>
              <a:t>Cloud Security</a:t>
            </a:r>
          </a:p>
          <a:p>
            <a:pPr lvl="1"/>
            <a:r>
              <a:rPr lang="en-GB" dirty="0" err="1"/>
              <a:t>Vytváření</a:t>
            </a:r>
            <a:r>
              <a:rPr lang="en-GB" dirty="0"/>
              <a:t> </a:t>
            </a:r>
            <a:r>
              <a:rPr lang="en-GB" dirty="0" err="1"/>
              <a:t>silných</a:t>
            </a:r>
            <a:r>
              <a:rPr lang="en-GB" dirty="0"/>
              <a:t> </a:t>
            </a:r>
            <a:r>
              <a:rPr lang="en-GB" dirty="0" err="1"/>
              <a:t>hesel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1830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66E7-E9AA-759B-BD92-82939538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Firewally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EAD23-303B-8E1D-F692-2248B6DE6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Co je to firewall?</a:t>
            </a:r>
          </a:p>
          <a:p>
            <a:pPr lvl="1"/>
            <a:r>
              <a:rPr lang="en-GB" dirty="0"/>
              <a:t>Firewall je </a:t>
            </a:r>
            <a:r>
              <a:rPr lang="en-GB" dirty="0" err="1"/>
              <a:t>bezpečnostní</a:t>
            </a:r>
            <a:r>
              <a:rPr lang="en-GB" dirty="0"/>
              <a:t> </a:t>
            </a:r>
            <a:r>
              <a:rPr lang="en-GB" dirty="0" err="1"/>
              <a:t>systém</a:t>
            </a:r>
            <a:r>
              <a:rPr lang="en-GB" dirty="0"/>
              <a:t>, </a:t>
            </a:r>
            <a:r>
              <a:rPr lang="en-GB" dirty="0" err="1"/>
              <a:t>který</a:t>
            </a:r>
            <a:r>
              <a:rPr lang="en-GB" dirty="0"/>
              <a:t> </a:t>
            </a:r>
            <a:r>
              <a:rPr lang="en-GB" dirty="0" err="1"/>
              <a:t>monitoruje</a:t>
            </a:r>
            <a:r>
              <a:rPr lang="en-GB" dirty="0"/>
              <a:t> a </a:t>
            </a:r>
            <a:r>
              <a:rPr lang="en-GB" dirty="0" err="1"/>
              <a:t>reguluje</a:t>
            </a:r>
            <a:r>
              <a:rPr lang="en-GB" dirty="0"/>
              <a:t> </a:t>
            </a:r>
            <a:r>
              <a:rPr lang="en-GB" dirty="0" err="1"/>
              <a:t>síťový</a:t>
            </a:r>
            <a:r>
              <a:rPr lang="en-GB" dirty="0"/>
              <a:t> </a:t>
            </a:r>
            <a:r>
              <a:rPr lang="en-GB" dirty="0" err="1"/>
              <a:t>provoz</a:t>
            </a:r>
            <a:r>
              <a:rPr lang="en-GB" dirty="0"/>
              <a:t>, </a:t>
            </a:r>
            <a:r>
              <a:rPr lang="en-GB" dirty="0" err="1"/>
              <a:t>chrání</a:t>
            </a:r>
            <a:r>
              <a:rPr lang="en-GB" dirty="0"/>
              <a:t> </a:t>
            </a:r>
            <a:r>
              <a:rPr lang="en-GB" dirty="0" err="1"/>
              <a:t>síťové</a:t>
            </a:r>
            <a:r>
              <a:rPr lang="en-GB" dirty="0"/>
              <a:t> </a:t>
            </a:r>
            <a:r>
              <a:rPr lang="en-GB" dirty="0" err="1"/>
              <a:t>prostředí</a:t>
            </a:r>
            <a:r>
              <a:rPr lang="en-GB" dirty="0"/>
              <a:t> </a:t>
            </a:r>
            <a:r>
              <a:rPr lang="en-GB" dirty="0" err="1"/>
              <a:t>před</a:t>
            </a:r>
            <a:r>
              <a:rPr lang="en-GB" dirty="0"/>
              <a:t> </a:t>
            </a:r>
            <a:r>
              <a:rPr lang="en-GB" dirty="0" err="1"/>
              <a:t>neoprávněným</a:t>
            </a:r>
            <a:r>
              <a:rPr lang="en-GB" dirty="0"/>
              <a:t> </a:t>
            </a:r>
            <a:r>
              <a:rPr lang="en-GB" dirty="0" err="1"/>
              <a:t>přístupem</a:t>
            </a:r>
            <a:r>
              <a:rPr lang="en-GB" dirty="0"/>
              <a:t> a </a:t>
            </a:r>
            <a:r>
              <a:rPr lang="en-GB" dirty="0" err="1"/>
              <a:t>škodlivým</a:t>
            </a:r>
            <a:r>
              <a:rPr lang="en-GB" dirty="0"/>
              <a:t> </a:t>
            </a:r>
            <a:r>
              <a:rPr lang="en-GB" dirty="0" err="1"/>
              <a:t>softwarem</a:t>
            </a:r>
            <a:r>
              <a:rPr lang="en-GB" dirty="0"/>
              <a:t>.</a:t>
            </a:r>
          </a:p>
          <a:p>
            <a:r>
              <a:rPr lang="en-GB" dirty="0" err="1"/>
              <a:t>Funkce</a:t>
            </a:r>
            <a:r>
              <a:rPr lang="en-GB" dirty="0"/>
              <a:t> firewall</a:t>
            </a:r>
          </a:p>
          <a:p>
            <a:pPr lvl="1"/>
            <a:r>
              <a:rPr lang="en-GB" dirty="0" err="1"/>
              <a:t>Filtraci</a:t>
            </a:r>
            <a:r>
              <a:rPr lang="en-GB" dirty="0"/>
              <a:t> </a:t>
            </a:r>
            <a:r>
              <a:rPr lang="en-GB" dirty="0" err="1"/>
              <a:t>síťového</a:t>
            </a:r>
            <a:r>
              <a:rPr lang="en-GB" dirty="0"/>
              <a:t> </a:t>
            </a:r>
            <a:r>
              <a:rPr lang="en-GB" dirty="0" err="1"/>
              <a:t>provozu</a:t>
            </a:r>
            <a:endParaRPr lang="en-GB" dirty="0"/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před</a:t>
            </a:r>
            <a:r>
              <a:rPr lang="en-GB" dirty="0"/>
              <a:t> </a:t>
            </a:r>
            <a:r>
              <a:rPr lang="en-GB" dirty="0" err="1"/>
              <a:t>neoprávněným</a:t>
            </a:r>
            <a:r>
              <a:rPr lang="en-GB" dirty="0"/>
              <a:t> </a:t>
            </a:r>
            <a:r>
              <a:rPr lang="en-GB" dirty="0" err="1"/>
              <a:t>přístupem</a:t>
            </a:r>
            <a:endParaRPr lang="en-GB" dirty="0"/>
          </a:p>
          <a:p>
            <a:pPr lvl="1"/>
            <a:r>
              <a:rPr lang="en-GB" dirty="0" err="1"/>
              <a:t>Monitorování</a:t>
            </a:r>
            <a:r>
              <a:rPr lang="en-GB" dirty="0"/>
              <a:t> </a:t>
            </a:r>
            <a:r>
              <a:rPr lang="en-GB" dirty="0" err="1"/>
              <a:t>síťové</a:t>
            </a:r>
            <a:r>
              <a:rPr lang="en-GB" dirty="0"/>
              <a:t> activity</a:t>
            </a:r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před</a:t>
            </a:r>
            <a:r>
              <a:rPr lang="en-GB" dirty="0"/>
              <a:t> </a:t>
            </a:r>
            <a:r>
              <a:rPr lang="en-GB" dirty="0" err="1"/>
              <a:t>škodlivým</a:t>
            </a:r>
            <a:r>
              <a:rPr lang="en-GB" dirty="0"/>
              <a:t> </a:t>
            </a:r>
            <a:r>
              <a:rPr lang="en-GB" dirty="0" err="1"/>
              <a:t>softwarem</a:t>
            </a:r>
            <a:endParaRPr lang="en-GB" dirty="0"/>
          </a:p>
          <a:p>
            <a:r>
              <a:rPr lang="en-GB" dirty="0" err="1"/>
              <a:t>Různé</a:t>
            </a:r>
            <a:r>
              <a:rPr lang="en-GB" dirty="0"/>
              <a:t> </a:t>
            </a:r>
            <a:r>
              <a:rPr lang="en-GB" dirty="0" err="1"/>
              <a:t>typy</a:t>
            </a:r>
            <a:r>
              <a:rPr lang="en-GB" dirty="0"/>
              <a:t> </a:t>
            </a:r>
            <a:r>
              <a:rPr lang="en-GB" dirty="0" err="1"/>
              <a:t>firewalů</a:t>
            </a:r>
            <a:endParaRPr lang="en-GB" dirty="0"/>
          </a:p>
          <a:p>
            <a:pPr lvl="1"/>
            <a:r>
              <a:rPr lang="en-GB" dirty="0" err="1"/>
              <a:t>Síťový</a:t>
            </a:r>
            <a:r>
              <a:rPr lang="en-GB" dirty="0"/>
              <a:t> firewall</a:t>
            </a:r>
          </a:p>
          <a:p>
            <a:pPr lvl="1"/>
            <a:r>
              <a:rPr lang="en-GB" dirty="0" err="1"/>
              <a:t>Hostitelský</a:t>
            </a:r>
            <a:r>
              <a:rPr lang="en-GB" dirty="0"/>
              <a:t> firewall</a:t>
            </a:r>
          </a:p>
          <a:p>
            <a:pPr lvl="1"/>
            <a:r>
              <a:rPr lang="en-GB" dirty="0" err="1"/>
              <a:t>Aplikační</a:t>
            </a:r>
            <a:r>
              <a:rPr lang="en-GB" dirty="0"/>
              <a:t> firewall</a:t>
            </a:r>
          </a:p>
          <a:p>
            <a:pPr lvl="1"/>
            <a:r>
              <a:rPr lang="en-GB" dirty="0"/>
              <a:t>Proxy firewall</a:t>
            </a:r>
          </a:p>
          <a:p>
            <a:pPr lvl="1"/>
            <a:r>
              <a:rPr lang="en-GB" dirty="0" err="1"/>
              <a:t>Stavový</a:t>
            </a:r>
            <a:r>
              <a:rPr lang="en-GB" dirty="0"/>
              <a:t> firewall</a:t>
            </a:r>
          </a:p>
        </p:txBody>
      </p:sp>
    </p:spTree>
    <p:extLst>
      <p:ext uri="{BB962C8B-B14F-4D97-AF65-F5344CB8AC3E}">
        <p14:creationId xmlns:p14="http://schemas.microsoft.com/office/powerpoint/2010/main" val="481462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50A4-905C-ACEC-ABD2-AB6E5384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Antivirové</a:t>
            </a:r>
            <a:r>
              <a:rPr lang="en-GB" b="1" dirty="0"/>
              <a:t> </a:t>
            </a:r>
            <a:r>
              <a:rPr lang="en-GB" b="1" dirty="0" err="1"/>
              <a:t>programy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8B59-9675-3E5F-C56D-3F077835D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/>
              <a:t>Důležitost</a:t>
            </a:r>
            <a:r>
              <a:rPr lang="en-GB" dirty="0"/>
              <a:t> </a:t>
            </a:r>
            <a:r>
              <a:rPr lang="en-GB" dirty="0" err="1"/>
              <a:t>antivirových</a:t>
            </a:r>
            <a:r>
              <a:rPr lang="en-GB" dirty="0"/>
              <a:t> </a:t>
            </a:r>
            <a:r>
              <a:rPr lang="en-GB" dirty="0" err="1"/>
              <a:t>programů</a:t>
            </a:r>
            <a:endParaRPr lang="en-GB" dirty="0"/>
          </a:p>
          <a:p>
            <a:pPr lvl="1"/>
            <a:r>
              <a:rPr lang="en-GB" dirty="0" err="1"/>
              <a:t>Antivirové</a:t>
            </a:r>
            <a:r>
              <a:rPr lang="en-GB" dirty="0"/>
              <a:t> </a:t>
            </a:r>
            <a:r>
              <a:rPr lang="en-GB" dirty="0" err="1"/>
              <a:t>programy</a:t>
            </a:r>
            <a:r>
              <a:rPr lang="en-GB" dirty="0"/>
              <a:t> </a:t>
            </a:r>
            <a:r>
              <a:rPr lang="en-GB" dirty="0" err="1"/>
              <a:t>mají</a:t>
            </a:r>
            <a:r>
              <a:rPr lang="en-GB" dirty="0"/>
              <a:t> </a:t>
            </a:r>
            <a:r>
              <a:rPr lang="en-GB" dirty="0" err="1"/>
              <a:t>klíčový</a:t>
            </a:r>
            <a:r>
              <a:rPr lang="en-GB" dirty="0"/>
              <a:t> </a:t>
            </a:r>
            <a:r>
              <a:rPr lang="en-GB" dirty="0" err="1"/>
              <a:t>význam</a:t>
            </a:r>
            <a:r>
              <a:rPr lang="en-GB" dirty="0"/>
              <a:t> v </a:t>
            </a:r>
            <a:r>
              <a:rPr lang="en-GB" dirty="0" err="1"/>
              <a:t>ochraně</a:t>
            </a:r>
            <a:r>
              <a:rPr lang="en-GB" dirty="0"/>
              <a:t> </a:t>
            </a:r>
            <a:r>
              <a:rPr lang="en-GB" dirty="0" err="1"/>
              <a:t>počítačů</a:t>
            </a:r>
            <a:r>
              <a:rPr lang="en-GB" dirty="0"/>
              <a:t> a </a:t>
            </a:r>
            <a:r>
              <a:rPr lang="en-GB" dirty="0" err="1"/>
              <a:t>sítí</a:t>
            </a:r>
            <a:r>
              <a:rPr lang="en-GB" dirty="0"/>
              <a:t> </a:t>
            </a:r>
            <a:r>
              <a:rPr lang="en-GB" dirty="0" err="1"/>
              <a:t>před</a:t>
            </a:r>
            <a:r>
              <a:rPr lang="en-GB" dirty="0"/>
              <a:t> </a:t>
            </a:r>
            <a:r>
              <a:rPr lang="en-GB" dirty="0" err="1"/>
              <a:t>různými</a:t>
            </a:r>
            <a:r>
              <a:rPr lang="en-GB" dirty="0"/>
              <a:t> </a:t>
            </a:r>
            <a:r>
              <a:rPr lang="en-GB" dirty="0" err="1"/>
              <a:t>druhy</a:t>
            </a:r>
            <a:r>
              <a:rPr lang="en-GB" dirty="0"/>
              <a:t> </a:t>
            </a:r>
            <a:r>
              <a:rPr lang="en-GB" dirty="0" err="1"/>
              <a:t>škodlivého</a:t>
            </a:r>
            <a:r>
              <a:rPr lang="en-GB" dirty="0"/>
              <a:t> </a:t>
            </a:r>
            <a:r>
              <a:rPr lang="en-GB" dirty="0" err="1"/>
              <a:t>softwaru</a:t>
            </a:r>
            <a:r>
              <a:rPr lang="en-GB" dirty="0"/>
              <a:t>, </a:t>
            </a:r>
            <a:r>
              <a:rPr lang="en-GB" dirty="0" err="1"/>
              <a:t>včetně</a:t>
            </a:r>
            <a:r>
              <a:rPr lang="en-GB" dirty="0"/>
              <a:t> </a:t>
            </a:r>
            <a:r>
              <a:rPr lang="en-GB" dirty="0" err="1"/>
              <a:t>virů</a:t>
            </a:r>
            <a:r>
              <a:rPr lang="en-GB" dirty="0"/>
              <a:t>, </a:t>
            </a:r>
            <a:r>
              <a:rPr lang="en-GB" dirty="0" err="1"/>
              <a:t>červů</a:t>
            </a:r>
            <a:r>
              <a:rPr lang="en-GB" dirty="0"/>
              <a:t>, </a:t>
            </a:r>
            <a:r>
              <a:rPr lang="en-GB" dirty="0" err="1"/>
              <a:t>trojských</a:t>
            </a:r>
            <a:r>
              <a:rPr lang="en-GB" dirty="0"/>
              <a:t> </a:t>
            </a:r>
            <a:r>
              <a:rPr lang="en-GB" dirty="0" err="1"/>
              <a:t>koní</a:t>
            </a:r>
            <a:r>
              <a:rPr lang="en-GB" dirty="0"/>
              <a:t>, </a:t>
            </a:r>
            <a:r>
              <a:rPr lang="en-GB" dirty="0" err="1"/>
              <a:t>ransomwaru</a:t>
            </a:r>
            <a:r>
              <a:rPr lang="en-GB" dirty="0"/>
              <a:t> a </a:t>
            </a:r>
            <a:r>
              <a:rPr lang="en-GB" dirty="0" err="1"/>
              <a:t>spywaru</a:t>
            </a:r>
            <a:endParaRPr lang="en-GB" dirty="0"/>
          </a:p>
          <a:p>
            <a:r>
              <a:rPr lang="en-GB" dirty="0" err="1"/>
              <a:t>Funkce</a:t>
            </a:r>
            <a:r>
              <a:rPr lang="en-GB" dirty="0"/>
              <a:t> </a:t>
            </a:r>
            <a:r>
              <a:rPr lang="en-GB" dirty="0" err="1"/>
              <a:t>antivirových</a:t>
            </a:r>
            <a:r>
              <a:rPr lang="en-GB" dirty="0"/>
              <a:t> </a:t>
            </a:r>
            <a:r>
              <a:rPr lang="en-GB" dirty="0" err="1"/>
              <a:t>programů</a:t>
            </a:r>
            <a:endParaRPr lang="en-GB" dirty="0"/>
          </a:p>
          <a:p>
            <a:pPr lvl="1"/>
            <a:r>
              <a:rPr lang="en-GB" dirty="0" err="1"/>
              <a:t>Skenování</a:t>
            </a:r>
            <a:r>
              <a:rPr lang="en-GB" dirty="0"/>
              <a:t> </a:t>
            </a:r>
            <a:r>
              <a:rPr lang="en-GB" dirty="0" err="1"/>
              <a:t>systému</a:t>
            </a:r>
            <a:endParaRPr lang="en-GB" dirty="0"/>
          </a:p>
          <a:p>
            <a:pPr lvl="1"/>
            <a:r>
              <a:rPr lang="en-GB" dirty="0" err="1"/>
              <a:t>Detekce</a:t>
            </a:r>
            <a:r>
              <a:rPr lang="en-GB" dirty="0"/>
              <a:t> a </a:t>
            </a:r>
            <a:r>
              <a:rPr lang="en-GB" dirty="0" err="1"/>
              <a:t>odstranění</a:t>
            </a:r>
            <a:r>
              <a:rPr lang="en-GB" dirty="0"/>
              <a:t> </a:t>
            </a:r>
            <a:r>
              <a:rPr lang="en-GB" dirty="0" err="1"/>
              <a:t>škodlivého</a:t>
            </a:r>
            <a:r>
              <a:rPr lang="en-GB" dirty="0"/>
              <a:t> software</a:t>
            </a:r>
          </a:p>
          <a:p>
            <a:pPr lvl="1"/>
            <a:r>
              <a:rPr lang="en-GB" dirty="0" err="1"/>
              <a:t>Automatické</a:t>
            </a:r>
            <a:r>
              <a:rPr lang="en-GB" dirty="0"/>
              <a:t> </a:t>
            </a:r>
            <a:r>
              <a:rPr lang="en-GB" dirty="0" err="1"/>
              <a:t>aktualizace</a:t>
            </a:r>
            <a:endParaRPr lang="en-GB" dirty="0"/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prohlížeče</a:t>
            </a:r>
            <a:endParaRPr lang="en-GB" dirty="0"/>
          </a:p>
          <a:p>
            <a:r>
              <a:rPr lang="en-GB" dirty="0" err="1"/>
              <a:t>Pravidelné</a:t>
            </a:r>
            <a:r>
              <a:rPr lang="en-GB" dirty="0"/>
              <a:t> </a:t>
            </a:r>
            <a:r>
              <a:rPr lang="en-GB" dirty="0" err="1"/>
              <a:t>aktualizace</a:t>
            </a:r>
            <a:r>
              <a:rPr lang="en-GB" dirty="0"/>
              <a:t> a </a:t>
            </a:r>
            <a:r>
              <a:rPr lang="en-GB" dirty="0" err="1"/>
              <a:t>skenování</a:t>
            </a:r>
            <a:endParaRPr lang="en-GB" dirty="0"/>
          </a:p>
          <a:p>
            <a:pPr lvl="1"/>
            <a:r>
              <a:rPr lang="en-GB" dirty="0" err="1"/>
              <a:t>Aktualizace</a:t>
            </a:r>
            <a:r>
              <a:rPr lang="en-GB" dirty="0"/>
              <a:t> </a:t>
            </a:r>
            <a:r>
              <a:rPr lang="en-GB" dirty="0" err="1"/>
              <a:t>databází</a:t>
            </a:r>
            <a:r>
              <a:rPr lang="en-GB" dirty="0"/>
              <a:t> </a:t>
            </a:r>
            <a:r>
              <a:rPr lang="en-GB" dirty="0" err="1"/>
              <a:t>detekce</a:t>
            </a:r>
            <a:endParaRPr lang="en-GB" dirty="0"/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proti</a:t>
            </a:r>
            <a:r>
              <a:rPr lang="en-GB" dirty="0"/>
              <a:t> </a:t>
            </a:r>
            <a:r>
              <a:rPr lang="en-GB" dirty="0" err="1"/>
              <a:t>skryté</a:t>
            </a:r>
            <a:r>
              <a:rPr lang="en-GB" dirty="0"/>
              <a:t> </a:t>
            </a:r>
            <a:r>
              <a:rPr lang="en-GB" dirty="0" err="1"/>
              <a:t>infekci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4891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84A7-EA8B-9576-D891-74973341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Aktualizace</a:t>
            </a:r>
            <a:r>
              <a:rPr lang="en-GB" b="1" dirty="0"/>
              <a:t> a </a:t>
            </a:r>
            <a:r>
              <a:rPr lang="en-GB" b="1" dirty="0" err="1"/>
              <a:t>záplaty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44AAB-8449-A8AA-2C78-42BEBFE24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Význam</a:t>
            </a:r>
            <a:r>
              <a:rPr lang="en-GB" dirty="0"/>
              <a:t> </a:t>
            </a:r>
            <a:r>
              <a:rPr lang="en-GB" dirty="0" err="1"/>
              <a:t>pravidelných</a:t>
            </a:r>
            <a:r>
              <a:rPr lang="en-GB" dirty="0"/>
              <a:t> </a:t>
            </a:r>
            <a:r>
              <a:rPr lang="en-GB" dirty="0" err="1"/>
              <a:t>aktualizací</a:t>
            </a:r>
            <a:endParaRPr lang="en-GB" dirty="0"/>
          </a:p>
          <a:p>
            <a:pPr lvl="1"/>
            <a:r>
              <a:rPr lang="en-GB" dirty="0" err="1"/>
              <a:t>Zajištění</a:t>
            </a:r>
            <a:r>
              <a:rPr lang="en-GB" dirty="0"/>
              <a:t> </a:t>
            </a:r>
            <a:r>
              <a:rPr lang="en-GB" dirty="0" err="1"/>
              <a:t>bezpečnosti</a:t>
            </a:r>
            <a:endParaRPr lang="en-GB" dirty="0"/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proti</a:t>
            </a:r>
            <a:r>
              <a:rPr lang="en-GB" dirty="0"/>
              <a:t> malware</a:t>
            </a:r>
          </a:p>
          <a:p>
            <a:pPr lvl="1"/>
            <a:r>
              <a:rPr lang="en-GB" dirty="0" err="1"/>
              <a:t>Optimalizace</a:t>
            </a:r>
            <a:r>
              <a:rPr lang="en-GB" dirty="0"/>
              <a:t> </a:t>
            </a:r>
            <a:r>
              <a:rPr lang="en-GB" dirty="0" err="1"/>
              <a:t>výkonu</a:t>
            </a:r>
            <a:endParaRPr lang="en-GB" dirty="0"/>
          </a:p>
          <a:p>
            <a:pPr lvl="1"/>
            <a:r>
              <a:rPr lang="pt-BR" dirty="0"/>
              <a:t>Kompatibilita s novým hardwarem a softwarem</a:t>
            </a:r>
            <a:endParaRPr lang="en-GB" dirty="0"/>
          </a:p>
          <a:p>
            <a:r>
              <a:rPr lang="en-GB" dirty="0" err="1"/>
              <a:t>Implementace</a:t>
            </a:r>
            <a:r>
              <a:rPr lang="en-GB" dirty="0"/>
              <a:t> </a:t>
            </a:r>
            <a:r>
              <a:rPr lang="en-GB" dirty="0" err="1"/>
              <a:t>správy</a:t>
            </a:r>
            <a:r>
              <a:rPr lang="en-GB" dirty="0"/>
              <a:t> </a:t>
            </a:r>
            <a:r>
              <a:rPr lang="en-GB" dirty="0" err="1"/>
              <a:t>záplat</a:t>
            </a:r>
            <a:endParaRPr lang="en-GB" dirty="0"/>
          </a:p>
          <a:p>
            <a:pPr lvl="1"/>
            <a:r>
              <a:rPr lang="en-GB" dirty="0" err="1"/>
              <a:t>Prioritizace</a:t>
            </a:r>
            <a:r>
              <a:rPr lang="en-GB" dirty="0"/>
              <a:t> </a:t>
            </a:r>
            <a:r>
              <a:rPr lang="en-GB" dirty="0" err="1"/>
              <a:t>záplat</a:t>
            </a:r>
            <a:endParaRPr lang="en-GB" dirty="0"/>
          </a:p>
          <a:p>
            <a:pPr lvl="1"/>
            <a:r>
              <a:rPr lang="en-GB" dirty="0" err="1"/>
              <a:t>Testování</a:t>
            </a:r>
            <a:r>
              <a:rPr lang="en-GB" dirty="0"/>
              <a:t> </a:t>
            </a:r>
            <a:r>
              <a:rPr lang="en-GB" dirty="0" err="1"/>
              <a:t>záplat</a:t>
            </a:r>
            <a:endParaRPr lang="en-GB" dirty="0"/>
          </a:p>
          <a:p>
            <a:pPr lvl="1"/>
            <a:r>
              <a:rPr lang="en-GB" dirty="0" err="1"/>
              <a:t>Monitorování</a:t>
            </a:r>
            <a:r>
              <a:rPr lang="en-GB" dirty="0"/>
              <a:t> </a:t>
            </a:r>
            <a:r>
              <a:rPr lang="en-GB" dirty="0" err="1"/>
              <a:t>systému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8841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FDBD-F26A-8276-AE9A-D80D2B6B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Šifrování</a:t>
            </a:r>
            <a:r>
              <a:rPr lang="en-GB" b="1" dirty="0"/>
              <a:t> </a:t>
            </a:r>
            <a:r>
              <a:rPr lang="en-GB" b="1" dirty="0" err="1"/>
              <a:t>dat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F5A10-34F1-0E31-AF97-3578B6492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 je to </a:t>
            </a:r>
            <a:r>
              <a:rPr lang="en-GB" dirty="0" err="1"/>
              <a:t>šifrování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?</a:t>
            </a:r>
          </a:p>
          <a:p>
            <a:pPr lvl="1"/>
            <a:r>
              <a:rPr lang="en-GB" dirty="0" err="1"/>
              <a:t>Šifrování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 je </a:t>
            </a:r>
            <a:r>
              <a:rPr lang="en-GB" dirty="0" err="1"/>
              <a:t>proces</a:t>
            </a:r>
            <a:r>
              <a:rPr lang="en-GB" dirty="0"/>
              <a:t> </a:t>
            </a:r>
            <a:r>
              <a:rPr lang="en-GB" dirty="0" err="1"/>
              <a:t>přeměny</a:t>
            </a:r>
            <a:r>
              <a:rPr lang="en-GB" dirty="0"/>
              <a:t> </a:t>
            </a:r>
            <a:r>
              <a:rPr lang="en-GB" dirty="0" err="1"/>
              <a:t>původního</a:t>
            </a:r>
            <a:r>
              <a:rPr lang="en-GB" dirty="0"/>
              <a:t> </a:t>
            </a:r>
            <a:r>
              <a:rPr lang="en-GB" dirty="0" err="1"/>
              <a:t>čitelného</a:t>
            </a:r>
            <a:r>
              <a:rPr lang="en-GB" dirty="0"/>
              <a:t> </a:t>
            </a:r>
            <a:r>
              <a:rPr lang="en-GB" dirty="0" err="1"/>
              <a:t>textu</a:t>
            </a:r>
            <a:r>
              <a:rPr lang="en-GB" dirty="0"/>
              <a:t> (</a:t>
            </a:r>
            <a:r>
              <a:rPr lang="en-GB" dirty="0" err="1"/>
              <a:t>či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)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nečitelnou</a:t>
            </a:r>
            <a:r>
              <a:rPr lang="en-GB" dirty="0"/>
              <a:t> </a:t>
            </a:r>
            <a:r>
              <a:rPr lang="en-GB" dirty="0" err="1"/>
              <a:t>podobu</a:t>
            </a:r>
            <a:endParaRPr lang="en-GB" dirty="0"/>
          </a:p>
          <a:p>
            <a:pPr lvl="1"/>
            <a:r>
              <a:rPr lang="en-GB" dirty="0" err="1"/>
              <a:t>Cílem</a:t>
            </a:r>
            <a:r>
              <a:rPr lang="en-GB" dirty="0"/>
              <a:t> </a:t>
            </a:r>
            <a:r>
              <a:rPr lang="en-GB" dirty="0" err="1"/>
              <a:t>šifrování</a:t>
            </a:r>
            <a:r>
              <a:rPr lang="en-GB" dirty="0"/>
              <a:t> je </a:t>
            </a:r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citlivých</a:t>
            </a:r>
            <a:r>
              <a:rPr lang="en-GB" dirty="0"/>
              <a:t> </a:t>
            </a:r>
            <a:r>
              <a:rPr lang="en-GB" dirty="0" err="1"/>
              <a:t>informací</a:t>
            </a:r>
            <a:r>
              <a:rPr lang="en-GB" dirty="0"/>
              <a:t> </a:t>
            </a:r>
            <a:r>
              <a:rPr lang="en-GB" dirty="0" err="1"/>
              <a:t>před</a:t>
            </a:r>
            <a:r>
              <a:rPr lang="en-GB" dirty="0"/>
              <a:t> </a:t>
            </a:r>
            <a:r>
              <a:rPr lang="en-GB" dirty="0" err="1"/>
              <a:t>neoprávněným</a:t>
            </a:r>
            <a:r>
              <a:rPr lang="en-GB" dirty="0"/>
              <a:t> </a:t>
            </a:r>
            <a:r>
              <a:rPr lang="en-GB" dirty="0" err="1"/>
              <a:t>přístupem</a:t>
            </a:r>
            <a:endParaRPr lang="en-GB" dirty="0"/>
          </a:p>
          <a:p>
            <a:pPr lvl="1"/>
            <a:r>
              <a:rPr lang="en-GB" dirty="0" err="1"/>
              <a:t>Mohou</a:t>
            </a:r>
            <a:r>
              <a:rPr lang="en-GB" dirty="0"/>
              <a:t> </a:t>
            </a:r>
            <a:r>
              <a:rPr lang="en-GB" dirty="0" err="1"/>
              <a:t>být</a:t>
            </a:r>
            <a:r>
              <a:rPr lang="en-GB" dirty="0"/>
              <a:t> </a:t>
            </a:r>
            <a:r>
              <a:rPr lang="en-GB" dirty="0" err="1"/>
              <a:t>dešifrována</a:t>
            </a:r>
            <a:r>
              <a:rPr lang="en-GB" dirty="0"/>
              <a:t> </a:t>
            </a:r>
            <a:r>
              <a:rPr lang="en-GB" dirty="0" err="1"/>
              <a:t>zpět</a:t>
            </a:r>
            <a:r>
              <a:rPr lang="en-GB" dirty="0"/>
              <a:t> do </a:t>
            </a:r>
            <a:r>
              <a:rPr lang="en-GB" dirty="0" err="1"/>
              <a:t>původní</a:t>
            </a:r>
            <a:r>
              <a:rPr lang="en-GB" dirty="0"/>
              <a:t> </a:t>
            </a:r>
            <a:r>
              <a:rPr lang="en-GB" dirty="0" err="1"/>
              <a:t>podoby</a:t>
            </a:r>
            <a:r>
              <a:rPr lang="en-GB" dirty="0"/>
              <a:t> </a:t>
            </a:r>
            <a:r>
              <a:rPr lang="en-GB" dirty="0" err="1"/>
              <a:t>pouze</a:t>
            </a:r>
            <a:r>
              <a:rPr lang="en-GB" dirty="0"/>
              <a:t> s </a:t>
            </a:r>
            <a:r>
              <a:rPr lang="en-GB" dirty="0" err="1"/>
              <a:t>použitím</a:t>
            </a:r>
            <a:r>
              <a:rPr lang="en-GB" dirty="0"/>
              <a:t> </a:t>
            </a:r>
            <a:r>
              <a:rPr lang="en-GB" dirty="0" err="1"/>
              <a:t>správného</a:t>
            </a:r>
            <a:r>
              <a:rPr lang="en-GB" dirty="0"/>
              <a:t> </a:t>
            </a:r>
            <a:r>
              <a:rPr lang="en-GB" dirty="0" err="1"/>
              <a:t>klíče</a:t>
            </a:r>
            <a:endParaRPr lang="en-GB" dirty="0"/>
          </a:p>
          <a:p>
            <a:r>
              <a:rPr lang="en-GB" dirty="0" err="1"/>
              <a:t>Důležitost</a:t>
            </a:r>
            <a:r>
              <a:rPr lang="en-GB" dirty="0"/>
              <a:t> </a:t>
            </a:r>
            <a:r>
              <a:rPr lang="en-GB" dirty="0" err="1"/>
              <a:t>šifrování</a:t>
            </a:r>
            <a:r>
              <a:rPr lang="en-GB" dirty="0"/>
              <a:t> pro </a:t>
            </a:r>
            <a:r>
              <a:rPr lang="en-GB" dirty="0" err="1"/>
              <a:t>ochranu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důvěrnosti</a:t>
            </a:r>
            <a:endParaRPr lang="en-GB" dirty="0"/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před</a:t>
            </a:r>
            <a:r>
              <a:rPr lang="en-GB" dirty="0"/>
              <a:t> </a:t>
            </a:r>
            <a:r>
              <a:rPr lang="en-GB" dirty="0" err="1"/>
              <a:t>únikem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pPr lvl="1"/>
            <a:r>
              <a:rPr lang="en-GB" dirty="0" err="1"/>
              <a:t>Bezpečná</a:t>
            </a:r>
            <a:r>
              <a:rPr lang="en-GB" dirty="0"/>
              <a:t> </a:t>
            </a:r>
            <a:r>
              <a:rPr lang="en-GB" dirty="0" err="1"/>
              <a:t>komunikace</a:t>
            </a:r>
            <a:endParaRPr lang="en-GB" dirty="0"/>
          </a:p>
          <a:p>
            <a:r>
              <a:rPr lang="en-GB" dirty="0" err="1"/>
              <a:t>Typy</a:t>
            </a:r>
            <a:r>
              <a:rPr lang="en-GB" dirty="0"/>
              <a:t> </a:t>
            </a:r>
            <a:r>
              <a:rPr lang="en-GB" dirty="0" err="1"/>
              <a:t>šifrovacích</a:t>
            </a:r>
            <a:r>
              <a:rPr lang="en-GB" dirty="0"/>
              <a:t> </a:t>
            </a:r>
            <a:r>
              <a:rPr lang="en-GB" dirty="0" err="1"/>
              <a:t>algoritmů</a:t>
            </a:r>
            <a:endParaRPr lang="en-GB" dirty="0"/>
          </a:p>
          <a:p>
            <a:pPr lvl="1"/>
            <a:r>
              <a:rPr lang="en-GB" dirty="0" err="1"/>
              <a:t>Symetrické</a:t>
            </a:r>
            <a:r>
              <a:rPr lang="en-GB" dirty="0"/>
              <a:t> </a:t>
            </a:r>
            <a:r>
              <a:rPr lang="en-GB" dirty="0" err="1"/>
              <a:t>šifry</a:t>
            </a:r>
            <a:endParaRPr lang="en-GB" dirty="0"/>
          </a:p>
          <a:p>
            <a:pPr lvl="1"/>
            <a:r>
              <a:rPr lang="en-GB" dirty="0" err="1"/>
              <a:t>Asymetrické</a:t>
            </a:r>
            <a:r>
              <a:rPr lang="en-GB" dirty="0"/>
              <a:t> </a:t>
            </a:r>
            <a:r>
              <a:rPr lang="en-GB" dirty="0" err="1"/>
              <a:t>šífry</a:t>
            </a:r>
            <a:endParaRPr lang="en-GB" dirty="0"/>
          </a:p>
          <a:p>
            <a:pPr lvl="1"/>
            <a:r>
              <a:rPr lang="en-GB" dirty="0" err="1"/>
              <a:t>Hashovací</a:t>
            </a:r>
            <a:r>
              <a:rPr lang="en-GB" dirty="0"/>
              <a:t> </a:t>
            </a:r>
            <a:r>
              <a:rPr lang="en-GB" dirty="0" err="1"/>
              <a:t>funkce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4567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4E52-4C51-C4F3-0950-22EB5376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Přístupová</a:t>
            </a:r>
            <a:r>
              <a:rPr lang="en-GB" b="1" dirty="0"/>
              <a:t> </a:t>
            </a:r>
            <a:r>
              <a:rPr lang="en-GB" b="1" dirty="0" err="1"/>
              <a:t>kontrola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37D6-C56F-773C-FCA3-442D6A230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Omezení</a:t>
            </a:r>
            <a:r>
              <a:rPr lang="en-GB" dirty="0"/>
              <a:t> </a:t>
            </a:r>
            <a:r>
              <a:rPr lang="en-GB" dirty="0" err="1"/>
              <a:t>přístupu</a:t>
            </a:r>
            <a:r>
              <a:rPr lang="en-GB" dirty="0"/>
              <a:t> k </a:t>
            </a:r>
            <a:r>
              <a:rPr lang="en-GB" dirty="0" err="1"/>
              <a:t>citlivým</a:t>
            </a:r>
            <a:r>
              <a:rPr lang="en-GB" dirty="0"/>
              <a:t> datum</a:t>
            </a:r>
          </a:p>
          <a:p>
            <a:pPr lvl="1"/>
            <a:r>
              <a:rPr lang="en-GB" dirty="0" err="1"/>
              <a:t>Použití</a:t>
            </a:r>
            <a:r>
              <a:rPr lang="en-GB" dirty="0"/>
              <a:t> </a:t>
            </a:r>
            <a:r>
              <a:rPr lang="en-GB" dirty="0" err="1"/>
              <a:t>autentizace</a:t>
            </a:r>
            <a:endParaRPr lang="en-GB" dirty="0"/>
          </a:p>
          <a:p>
            <a:pPr lvl="1"/>
            <a:r>
              <a:rPr lang="en-GB" dirty="0" err="1"/>
              <a:t>Segmentace</a:t>
            </a:r>
            <a:r>
              <a:rPr lang="en-GB" dirty="0"/>
              <a:t> </a:t>
            </a:r>
            <a:r>
              <a:rPr lang="en-GB" dirty="0" err="1"/>
              <a:t>sítě</a:t>
            </a:r>
            <a:endParaRPr lang="en-GB" dirty="0"/>
          </a:p>
          <a:p>
            <a:pPr lvl="1"/>
            <a:r>
              <a:rPr lang="en-GB" dirty="0" err="1"/>
              <a:t>Šifrování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r>
              <a:rPr lang="en-GB" dirty="0" err="1"/>
              <a:t>Implementace</a:t>
            </a:r>
            <a:r>
              <a:rPr lang="en-GB" dirty="0"/>
              <a:t> </a:t>
            </a:r>
            <a:r>
              <a:rPr lang="en-GB" dirty="0" err="1"/>
              <a:t>identifikace</a:t>
            </a:r>
            <a:r>
              <a:rPr lang="en-GB" dirty="0"/>
              <a:t> a </a:t>
            </a:r>
            <a:r>
              <a:rPr lang="en-GB" dirty="0" err="1"/>
              <a:t>ověřování</a:t>
            </a:r>
            <a:endParaRPr lang="en-GB" dirty="0"/>
          </a:p>
          <a:p>
            <a:pPr lvl="1"/>
            <a:r>
              <a:rPr lang="en-GB" dirty="0" err="1"/>
              <a:t>Implementace</a:t>
            </a:r>
            <a:r>
              <a:rPr lang="en-GB" dirty="0"/>
              <a:t> </a:t>
            </a:r>
            <a:r>
              <a:rPr lang="en-GB" dirty="0" err="1"/>
              <a:t>silných</a:t>
            </a:r>
            <a:r>
              <a:rPr lang="en-GB" dirty="0"/>
              <a:t> </a:t>
            </a:r>
            <a:r>
              <a:rPr lang="en-GB" dirty="0" err="1"/>
              <a:t>hesel</a:t>
            </a:r>
            <a:endParaRPr lang="en-GB" dirty="0"/>
          </a:p>
          <a:p>
            <a:pPr lvl="1"/>
            <a:r>
              <a:rPr lang="en-GB" dirty="0" err="1"/>
              <a:t>Použití</a:t>
            </a:r>
            <a:r>
              <a:rPr lang="en-GB" dirty="0"/>
              <a:t> </a:t>
            </a:r>
            <a:r>
              <a:rPr lang="en-GB" dirty="0" err="1"/>
              <a:t>vícefaktorové</a:t>
            </a:r>
            <a:r>
              <a:rPr lang="en-GB" dirty="0"/>
              <a:t> </a:t>
            </a:r>
            <a:r>
              <a:rPr lang="en-GB" dirty="0" err="1"/>
              <a:t>autentizace</a:t>
            </a:r>
            <a:endParaRPr lang="en-GB" dirty="0"/>
          </a:p>
          <a:p>
            <a:pPr lvl="1"/>
            <a:r>
              <a:rPr lang="en-GB" dirty="0" err="1"/>
              <a:t>Pravidelná</a:t>
            </a:r>
            <a:r>
              <a:rPr lang="en-GB" dirty="0"/>
              <a:t> </a:t>
            </a:r>
            <a:r>
              <a:rPr lang="en-GB" dirty="0" err="1"/>
              <a:t>aktualizace</a:t>
            </a:r>
            <a:r>
              <a:rPr lang="en-GB" dirty="0"/>
              <a:t> a </a:t>
            </a:r>
            <a:r>
              <a:rPr lang="en-GB" dirty="0" err="1"/>
              <a:t>revize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597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9338-6AF4-CB28-BD49-A8E4478E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Zálohování</a:t>
            </a:r>
            <a:r>
              <a:rPr lang="en-GB" b="1" dirty="0"/>
              <a:t> </a:t>
            </a:r>
            <a:r>
              <a:rPr lang="en-GB" b="1" dirty="0" err="1"/>
              <a:t>dat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05993-9052-5B42-F253-D896DE347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/>
              <a:t>Význam</a:t>
            </a:r>
            <a:r>
              <a:rPr lang="en-GB" dirty="0"/>
              <a:t> </a:t>
            </a:r>
            <a:r>
              <a:rPr lang="en-GB" dirty="0" err="1"/>
              <a:t>pravidelného</a:t>
            </a:r>
            <a:r>
              <a:rPr lang="en-GB" dirty="0"/>
              <a:t> </a:t>
            </a:r>
            <a:r>
              <a:rPr lang="en-GB" dirty="0" err="1"/>
              <a:t>zálohování</a:t>
            </a:r>
            <a:endParaRPr lang="en-GB" dirty="0"/>
          </a:p>
          <a:p>
            <a:pPr lvl="1"/>
            <a:r>
              <a:rPr lang="en-GB" dirty="0" err="1"/>
              <a:t>Obnova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 po </a:t>
            </a:r>
            <a:r>
              <a:rPr lang="en-GB" dirty="0" err="1"/>
              <a:t>havárii</a:t>
            </a:r>
            <a:endParaRPr lang="en-GB" dirty="0"/>
          </a:p>
          <a:p>
            <a:pPr lvl="1"/>
            <a:r>
              <a:rPr lang="en-GB" dirty="0" err="1"/>
              <a:t>Prevence</a:t>
            </a:r>
            <a:r>
              <a:rPr lang="en-GB" dirty="0"/>
              <a:t> </a:t>
            </a:r>
            <a:r>
              <a:rPr lang="en-GB" dirty="0" err="1"/>
              <a:t>datových</a:t>
            </a:r>
            <a:r>
              <a:rPr lang="en-GB" dirty="0"/>
              <a:t> </a:t>
            </a:r>
            <a:r>
              <a:rPr lang="en-GB" dirty="0" err="1"/>
              <a:t>ztrát</a:t>
            </a:r>
            <a:endParaRPr lang="en-GB" dirty="0"/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proti</a:t>
            </a:r>
            <a:r>
              <a:rPr lang="en-GB" dirty="0"/>
              <a:t> </a:t>
            </a:r>
            <a:r>
              <a:rPr lang="en-GB" dirty="0" err="1"/>
              <a:t>chybám</a:t>
            </a:r>
            <a:r>
              <a:rPr lang="en-GB" dirty="0"/>
              <a:t> </a:t>
            </a:r>
            <a:r>
              <a:rPr lang="en-GB" dirty="0" err="1"/>
              <a:t>uživatelů</a:t>
            </a:r>
            <a:endParaRPr lang="en-GB" dirty="0"/>
          </a:p>
          <a:p>
            <a:r>
              <a:rPr lang="en-GB" dirty="0" err="1"/>
              <a:t>Různé</a:t>
            </a:r>
            <a:r>
              <a:rPr lang="en-GB" dirty="0"/>
              <a:t> </a:t>
            </a:r>
            <a:r>
              <a:rPr lang="en-GB" dirty="0" err="1"/>
              <a:t>metody</a:t>
            </a:r>
            <a:r>
              <a:rPr lang="en-GB" dirty="0"/>
              <a:t> </a:t>
            </a:r>
            <a:r>
              <a:rPr lang="en-GB" dirty="0" err="1"/>
              <a:t>zálohování</a:t>
            </a:r>
            <a:endParaRPr lang="en-GB" dirty="0"/>
          </a:p>
          <a:p>
            <a:pPr lvl="1"/>
            <a:r>
              <a:rPr lang="en-GB" dirty="0" err="1"/>
              <a:t>Úplné</a:t>
            </a:r>
            <a:r>
              <a:rPr lang="en-GB" dirty="0"/>
              <a:t> </a:t>
            </a:r>
            <a:r>
              <a:rPr lang="en-GB" dirty="0" err="1"/>
              <a:t>zálohování</a:t>
            </a:r>
            <a:r>
              <a:rPr lang="en-GB" dirty="0"/>
              <a:t> (Full Backup)</a:t>
            </a:r>
          </a:p>
          <a:p>
            <a:pPr lvl="1"/>
            <a:r>
              <a:rPr lang="en-GB" dirty="0" err="1"/>
              <a:t>Inkrementální</a:t>
            </a:r>
            <a:r>
              <a:rPr lang="en-GB" dirty="0"/>
              <a:t> </a:t>
            </a:r>
            <a:r>
              <a:rPr lang="en-GB" dirty="0" err="1"/>
              <a:t>zálohování</a:t>
            </a:r>
            <a:r>
              <a:rPr lang="en-GB" dirty="0"/>
              <a:t> (Incremental Backup)</a:t>
            </a:r>
          </a:p>
          <a:p>
            <a:pPr lvl="1"/>
            <a:r>
              <a:rPr lang="en-GB" dirty="0" err="1"/>
              <a:t>Zálohování</a:t>
            </a:r>
            <a:r>
              <a:rPr lang="en-GB" dirty="0"/>
              <a:t> do </a:t>
            </a:r>
            <a:r>
              <a:rPr lang="en-GB" dirty="0" err="1"/>
              <a:t>cloudu</a:t>
            </a:r>
            <a:endParaRPr lang="en-GB" dirty="0"/>
          </a:p>
          <a:p>
            <a:r>
              <a:rPr lang="en-GB" dirty="0" err="1"/>
              <a:t>Zásady</a:t>
            </a:r>
            <a:r>
              <a:rPr lang="en-GB" dirty="0"/>
              <a:t> pro </a:t>
            </a:r>
            <a:r>
              <a:rPr lang="en-GB" dirty="0" err="1"/>
              <a:t>bezpečné</a:t>
            </a:r>
            <a:r>
              <a:rPr lang="en-GB" dirty="0"/>
              <a:t> </a:t>
            </a:r>
            <a:r>
              <a:rPr lang="en-GB" dirty="0" err="1"/>
              <a:t>ukládání</a:t>
            </a:r>
            <a:r>
              <a:rPr lang="en-GB" dirty="0"/>
              <a:t> </a:t>
            </a:r>
            <a:r>
              <a:rPr lang="en-GB" dirty="0" err="1"/>
              <a:t>záloh</a:t>
            </a:r>
            <a:endParaRPr lang="en-GB" dirty="0"/>
          </a:p>
          <a:p>
            <a:pPr lvl="1"/>
            <a:r>
              <a:rPr lang="en-GB" dirty="0" err="1"/>
              <a:t>Šifrování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pPr lvl="1"/>
            <a:r>
              <a:rPr lang="en-GB" dirty="0" err="1"/>
              <a:t>Dvojí</a:t>
            </a:r>
            <a:r>
              <a:rPr lang="en-GB" dirty="0"/>
              <a:t> </a:t>
            </a:r>
            <a:r>
              <a:rPr lang="en-GB" dirty="0" err="1"/>
              <a:t>ověření</a:t>
            </a:r>
            <a:r>
              <a:rPr lang="en-GB" dirty="0"/>
              <a:t> </a:t>
            </a:r>
            <a:r>
              <a:rPr lang="en-GB" dirty="0" err="1"/>
              <a:t>přístupu</a:t>
            </a:r>
            <a:endParaRPr lang="en-GB" dirty="0"/>
          </a:p>
          <a:p>
            <a:pPr lvl="1"/>
            <a:r>
              <a:rPr lang="en-GB" dirty="0" err="1"/>
              <a:t>Fyzická</a:t>
            </a:r>
            <a:r>
              <a:rPr lang="en-GB" dirty="0"/>
              <a:t> </a:t>
            </a:r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úložiště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6447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EE11-401A-AB7B-9744-58556C0F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Bezpečnostní</a:t>
            </a:r>
            <a:r>
              <a:rPr lang="en-GB" b="1" dirty="0"/>
              <a:t> </a:t>
            </a:r>
            <a:r>
              <a:rPr lang="en-GB" b="1" dirty="0" err="1"/>
              <a:t>školení</a:t>
            </a:r>
            <a:r>
              <a:rPr lang="en-GB" b="1" dirty="0"/>
              <a:t> a </a:t>
            </a:r>
            <a:r>
              <a:rPr lang="en-GB" b="1" dirty="0" err="1"/>
              <a:t>osvěta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F46B0-5F48-83FB-1295-A04ACE849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Význam</a:t>
            </a:r>
            <a:r>
              <a:rPr lang="en-GB" dirty="0"/>
              <a:t> </a:t>
            </a:r>
            <a:r>
              <a:rPr lang="en-GB" dirty="0" err="1"/>
              <a:t>osvěty</a:t>
            </a:r>
            <a:r>
              <a:rPr lang="en-GB" dirty="0"/>
              <a:t> </a:t>
            </a:r>
            <a:r>
              <a:rPr lang="en-GB" dirty="0" err="1"/>
              <a:t>zaměstnanců</a:t>
            </a:r>
            <a:endParaRPr lang="en-GB" dirty="0"/>
          </a:p>
          <a:p>
            <a:pPr lvl="1"/>
            <a:r>
              <a:rPr lang="en-GB" dirty="0" err="1"/>
              <a:t>Osvěta</a:t>
            </a:r>
            <a:r>
              <a:rPr lang="en-GB" dirty="0"/>
              <a:t> </a:t>
            </a:r>
            <a:r>
              <a:rPr lang="en-GB" dirty="0" err="1"/>
              <a:t>zaměstnanců</a:t>
            </a:r>
            <a:r>
              <a:rPr lang="en-GB" dirty="0"/>
              <a:t> o </a:t>
            </a:r>
            <a:r>
              <a:rPr lang="en-GB" dirty="0" err="1"/>
              <a:t>bezpečnostních</a:t>
            </a:r>
            <a:r>
              <a:rPr lang="en-GB" dirty="0"/>
              <a:t> </a:t>
            </a:r>
            <a:r>
              <a:rPr lang="en-GB" dirty="0" err="1"/>
              <a:t>otázkách</a:t>
            </a:r>
            <a:r>
              <a:rPr lang="en-GB" dirty="0"/>
              <a:t> je </a:t>
            </a:r>
            <a:r>
              <a:rPr lang="en-GB" dirty="0" err="1"/>
              <a:t>klíčová</a:t>
            </a:r>
            <a:r>
              <a:rPr lang="en-GB" dirty="0"/>
              <a:t> pro </a:t>
            </a:r>
            <a:r>
              <a:rPr lang="en-GB" dirty="0" err="1"/>
              <a:t>ochranu</a:t>
            </a:r>
            <a:r>
              <a:rPr lang="en-GB" dirty="0"/>
              <a:t> </a:t>
            </a:r>
            <a:r>
              <a:rPr lang="en-GB" dirty="0" err="1"/>
              <a:t>firemních</a:t>
            </a:r>
            <a:r>
              <a:rPr lang="en-GB" dirty="0"/>
              <a:t> </a:t>
            </a:r>
            <a:r>
              <a:rPr lang="en-GB" dirty="0" err="1"/>
              <a:t>aktiv</a:t>
            </a:r>
            <a:r>
              <a:rPr lang="en-GB" dirty="0"/>
              <a:t> a </a:t>
            </a:r>
            <a:r>
              <a:rPr lang="en-GB" dirty="0" err="1"/>
              <a:t>citlivých</a:t>
            </a:r>
            <a:r>
              <a:rPr lang="en-GB" dirty="0"/>
              <a:t> </a:t>
            </a:r>
            <a:r>
              <a:rPr lang="en-GB" dirty="0" err="1"/>
              <a:t>informací</a:t>
            </a:r>
            <a:endParaRPr lang="en-GB" dirty="0"/>
          </a:p>
          <a:p>
            <a:r>
              <a:rPr lang="en-GB" dirty="0" err="1"/>
              <a:t>Identifikace</a:t>
            </a:r>
            <a:r>
              <a:rPr lang="en-GB" dirty="0"/>
              <a:t> </a:t>
            </a:r>
            <a:r>
              <a:rPr lang="en-GB" dirty="0" err="1"/>
              <a:t>rizik</a:t>
            </a:r>
            <a:r>
              <a:rPr lang="en-GB" dirty="0"/>
              <a:t> a </a:t>
            </a:r>
            <a:r>
              <a:rPr lang="en-GB" dirty="0" err="1"/>
              <a:t>bezpečnostních</a:t>
            </a:r>
            <a:r>
              <a:rPr lang="en-GB" dirty="0"/>
              <a:t> </a:t>
            </a:r>
            <a:r>
              <a:rPr lang="en-GB" dirty="0" err="1"/>
              <a:t>hrozeb</a:t>
            </a:r>
            <a:endParaRPr lang="en-GB" dirty="0"/>
          </a:p>
          <a:p>
            <a:pPr lvl="1"/>
            <a:r>
              <a:rPr lang="en-GB" dirty="0" err="1"/>
              <a:t>Prevence</a:t>
            </a:r>
            <a:r>
              <a:rPr lang="en-GB" dirty="0"/>
              <a:t> </a:t>
            </a:r>
            <a:r>
              <a:rPr lang="en-GB" dirty="0" err="1"/>
              <a:t>kybernetických</a:t>
            </a:r>
            <a:r>
              <a:rPr lang="en-GB" dirty="0"/>
              <a:t> </a:t>
            </a:r>
            <a:r>
              <a:rPr lang="en-GB" dirty="0" err="1"/>
              <a:t>útoků</a:t>
            </a:r>
            <a:endParaRPr lang="en-GB" dirty="0"/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citlivých</a:t>
            </a:r>
            <a:r>
              <a:rPr lang="en-GB" dirty="0"/>
              <a:t> </a:t>
            </a:r>
            <a:r>
              <a:rPr lang="en-GB" dirty="0" err="1"/>
              <a:t>informací</a:t>
            </a:r>
            <a:endParaRPr lang="en-GB" dirty="0"/>
          </a:p>
          <a:p>
            <a:pPr lvl="1"/>
            <a:r>
              <a:rPr lang="en-GB" dirty="0" err="1"/>
              <a:t>Zlepšení</a:t>
            </a:r>
            <a:r>
              <a:rPr lang="en-GB" dirty="0"/>
              <a:t> </a:t>
            </a:r>
            <a:r>
              <a:rPr lang="en-GB" dirty="0" err="1"/>
              <a:t>vědomostí</a:t>
            </a:r>
            <a:r>
              <a:rPr lang="en-GB" dirty="0"/>
              <a:t> a </a:t>
            </a:r>
            <a:r>
              <a:rPr lang="en-GB" dirty="0" err="1"/>
              <a:t>dovedností</a:t>
            </a:r>
            <a:endParaRPr lang="en-GB" dirty="0"/>
          </a:p>
          <a:p>
            <a:pPr lvl="1"/>
            <a:r>
              <a:rPr lang="en-GB" dirty="0" err="1"/>
              <a:t>Snížení</a:t>
            </a:r>
            <a:r>
              <a:rPr lang="en-GB" dirty="0"/>
              <a:t> </a:t>
            </a:r>
            <a:r>
              <a:rPr lang="en-GB" dirty="0" err="1"/>
              <a:t>chyb</a:t>
            </a:r>
            <a:r>
              <a:rPr lang="en-GB" dirty="0"/>
              <a:t> </a:t>
            </a:r>
            <a:r>
              <a:rPr lang="en-GB" dirty="0" err="1"/>
              <a:t>lidského</a:t>
            </a:r>
            <a:r>
              <a:rPr lang="en-GB" dirty="0"/>
              <a:t> </a:t>
            </a:r>
            <a:r>
              <a:rPr lang="en-GB" dirty="0" err="1"/>
              <a:t>faktoru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4739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B985-E2CF-391F-CD31-93907BF5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Segmentace</a:t>
            </a:r>
            <a:r>
              <a:rPr lang="en-GB" b="1" dirty="0"/>
              <a:t> </a:t>
            </a:r>
            <a:r>
              <a:rPr lang="en-GB" b="1" dirty="0" err="1"/>
              <a:t>sítě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F35C6-5014-B638-828D-F44F88FED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 je to </a:t>
            </a:r>
            <a:r>
              <a:rPr lang="en-GB" dirty="0" err="1"/>
              <a:t>segmentace</a:t>
            </a:r>
            <a:r>
              <a:rPr lang="en-GB" dirty="0"/>
              <a:t> </a:t>
            </a:r>
            <a:r>
              <a:rPr lang="en-GB" dirty="0" err="1"/>
              <a:t>sítě</a:t>
            </a:r>
            <a:r>
              <a:rPr lang="en-GB" dirty="0"/>
              <a:t>?</a:t>
            </a:r>
          </a:p>
          <a:p>
            <a:pPr lvl="1"/>
            <a:r>
              <a:rPr lang="en-GB" dirty="0" err="1"/>
              <a:t>Segmentace</a:t>
            </a:r>
            <a:r>
              <a:rPr lang="en-GB" dirty="0"/>
              <a:t> </a:t>
            </a:r>
            <a:r>
              <a:rPr lang="en-GB" dirty="0" err="1"/>
              <a:t>sítě</a:t>
            </a:r>
            <a:r>
              <a:rPr lang="en-GB" dirty="0"/>
              <a:t> je </a:t>
            </a:r>
            <a:r>
              <a:rPr lang="en-GB" dirty="0" err="1"/>
              <a:t>bezpečnostní</a:t>
            </a:r>
            <a:r>
              <a:rPr lang="en-GB" dirty="0"/>
              <a:t> </a:t>
            </a:r>
            <a:r>
              <a:rPr lang="en-GB" dirty="0" err="1"/>
              <a:t>strategie</a:t>
            </a:r>
            <a:r>
              <a:rPr lang="en-GB" dirty="0"/>
              <a:t>, </a:t>
            </a:r>
            <a:r>
              <a:rPr lang="en-GB" dirty="0" err="1"/>
              <a:t>která</a:t>
            </a:r>
            <a:r>
              <a:rPr lang="en-GB" dirty="0"/>
              <a:t> </a:t>
            </a:r>
            <a:r>
              <a:rPr lang="en-GB" dirty="0" err="1"/>
              <a:t>rozděluje</a:t>
            </a:r>
            <a:r>
              <a:rPr lang="en-GB" dirty="0"/>
              <a:t> </a:t>
            </a:r>
            <a:r>
              <a:rPr lang="en-GB" dirty="0" err="1"/>
              <a:t>síťové</a:t>
            </a:r>
            <a:r>
              <a:rPr lang="en-GB" dirty="0"/>
              <a:t> </a:t>
            </a:r>
            <a:r>
              <a:rPr lang="en-GB" dirty="0" err="1"/>
              <a:t>prostředí</a:t>
            </a:r>
            <a:r>
              <a:rPr lang="en-GB" dirty="0"/>
              <a:t> do </a:t>
            </a:r>
            <a:r>
              <a:rPr lang="en-GB" dirty="0" err="1"/>
              <a:t>menších</a:t>
            </a:r>
            <a:r>
              <a:rPr lang="en-GB" dirty="0"/>
              <a:t> </a:t>
            </a:r>
            <a:r>
              <a:rPr lang="en-GB" dirty="0" err="1"/>
              <a:t>částí</a:t>
            </a:r>
            <a:r>
              <a:rPr lang="en-GB" dirty="0"/>
              <a:t> </a:t>
            </a:r>
            <a:r>
              <a:rPr lang="en-GB" dirty="0" err="1"/>
              <a:t>nebo</a:t>
            </a:r>
            <a:r>
              <a:rPr lang="en-GB" dirty="0"/>
              <a:t> segment</a:t>
            </a:r>
          </a:p>
          <a:p>
            <a:pPr lvl="1"/>
            <a:r>
              <a:rPr lang="en-GB" dirty="0" err="1"/>
              <a:t>Cílem</a:t>
            </a:r>
            <a:r>
              <a:rPr lang="en-GB" dirty="0"/>
              <a:t> </a:t>
            </a:r>
            <a:r>
              <a:rPr lang="en-GB" dirty="0" err="1"/>
              <a:t>segmentace</a:t>
            </a:r>
            <a:r>
              <a:rPr lang="en-GB" dirty="0"/>
              <a:t> </a:t>
            </a:r>
            <a:r>
              <a:rPr lang="en-GB" dirty="0" err="1"/>
              <a:t>sítě</a:t>
            </a:r>
            <a:r>
              <a:rPr lang="en-GB" dirty="0"/>
              <a:t> je </a:t>
            </a:r>
            <a:r>
              <a:rPr lang="en-GB" dirty="0" err="1"/>
              <a:t>izolovat</a:t>
            </a:r>
            <a:r>
              <a:rPr lang="en-GB" dirty="0"/>
              <a:t> </a:t>
            </a:r>
            <a:r>
              <a:rPr lang="en-GB" dirty="0" err="1"/>
              <a:t>různé</a:t>
            </a:r>
            <a:r>
              <a:rPr lang="en-GB" dirty="0"/>
              <a:t> </a:t>
            </a:r>
            <a:r>
              <a:rPr lang="en-GB" dirty="0" err="1"/>
              <a:t>části</a:t>
            </a:r>
            <a:r>
              <a:rPr lang="en-GB" dirty="0"/>
              <a:t> </a:t>
            </a:r>
            <a:r>
              <a:rPr lang="en-GB" dirty="0" err="1"/>
              <a:t>sítě</a:t>
            </a:r>
            <a:r>
              <a:rPr lang="en-GB" dirty="0"/>
              <a:t> od </a:t>
            </a:r>
            <a:r>
              <a:rPr lang="en-GB" dirty="0" err="1"/>
              <a:t>sebe</a:t>
            </a:r>
            <a:r>
              <a:rPr lang="en-GB" dirty="0"/>
              <a:t>, </a:t>
            </a:r>
            <a:r>
              <a:rPr lang="en-GB" dirty="0" err="1"/>
              <a:t>což</a:t>
            </a:r>
            <a:r>
              <a:rPr lang="en-GB" dirty="0"/>
              <a:t> </a:t>
            </a:r>
            <a:r>
              <a:rPr lang="en-GB" dirty="0" err="1"/>
              <a:t>pomáhá</a:t>
            </a:r>
            <a:r>
              <a:rPr lang="en-GB" dirty="0"/>
              <a:t> </a:t>
            </a:r>
            <a:r>
              <a:rPr lang="en-GB" dirty="0" err="1"/>
              <a:t>minimalizovat</a:t>
            </a:r>
            <a:r>
              <a:rPr lang="en-GB" dirty="0"/>
              <a:t> </a:t>
            </a:r>
            <a:r>
              <a:rPr lang="en-GB" dirty="0" err="1"/>
              <a:t>riziko</a:t>
            </a:r>
            <a:r>
              <a:rPr lang="en-GB" dirty="0"/>
              <a:t> </a:t>
            </a:r>
            <a:r>
              <a:rPr lang="en-GB" dirty="0" err="1"/>
              <a:t>šíření</a:t>
            </a:r>
            <a:r>
              <a:rPr lang="en-GB" dirty="0"/>
              <a:t> </a:t>
            </a:r>
            <a:r>
              <a:rPr lang="en-GB" dirty="0" err="1"/>
              <a:t>útoků</a:t>
            </a:r>
            <a:endParaRPr lang="en-GB" dirty="0"/>
          </a:p>
          <a:p>
            <a:r>
              <a:rPr lang="en-GB" dirty="0" err="1"/>
              <a:t>Výhody</a:t>
            </a:r>
            <a:r>
              <a:rPr lang="en-GB" dirty="0"/>
              <a:t> </a:t>
            </a:r>
            <a:r>
              <a:rPr lang="en-GB" dirty="0" err="1"/>
              <a:t>segmentace</a:t>
            </a:r>
            <a:r>
              <a:rPr lang="en-GB" dirty="0"/>
              <a:t> </a:t>
            </a:r>
            <a:r>
              <a:rPr lang="en-GB" dirty="0" err="1"/>
              <a:t>sítě</a:t>
            </a:r>
            <a:r>
              <a:rPr lang="en-GB" dirty="0"/>
              <a:t> pro </a:t>
            </a:r>
            <a:r>
              <a:rPr lang="en-GB" dirty="0" err="1"/>
              <a:t>bezpečnost</a:t>
            </a:r>
            <a:endParaRPr lang="en-GB" dirty="0"/>
          </a:p>
          <a:p>
            <a:pPr lvl="1"/>
            <a:r>
              <a:rPr lang="en-GB" dirty="0" err="1"/>
              <a:t>Omezení</a:t>
            </a:r>
            <a:r>
              <a:rPr lang="en-GB" dirty="0"/>
              <a:t> </a:t>
            </a:r>
            <a:r>
              <a:rPr lang="en-GB" dirty="0" err="1"/>
              <a:t>šíření</a:t>
            </a:r>
            <a:r>
              <a:rPr lang="en-GB" dirty="0"/>
              <a:t> </a:t>
            </a:r>
            <a:r>
              <a:rPr lang="en-GB" dirty="0" err="1"/>
              <a:t>útoků</a:t>
            </a:r>
            <a:endParaRPr lang="en-GB" dirty="0"/>
          </a:p>
          <a:p>
            <a:pPr lvl="1"/>
            <a:r>
              <a:rPr lang="en-GB" dirty="0" err="1"/>
              <a:t>Zvýšená</a:t>
            </a:r>
            <a:r>
              <a:rPr lang="en-GB" dirty="0"/>
              <a:t> </a:t>
            </a:r>
            <a:r>
              <a:rPr lang="en-GB" dirty="0" err="1"/>
              <a:t>kontrola</a:t>
            </a:r>
            <a:r>
              <a:rPr lang="en-GB" dirty="0"/>
              <a:t> </a:t>
            </a:r>
            <a:r>
              <a:rPr lang="en-GB" dirty="0" err="1"/>
              <a:t>nad</a:t>
            </a:r>
            <a:r>
              <a:rPr lang="en-GB" dirty="0"/>
              <a:t> </a:t>
            </a:r>
            <a:r>
              <a:rPr lang="en-GB" dirty="0" err="1"/>
              <a:t>komunikací</a:t>
            </a:r>
            <a:endParaRPr lang="en-GB" dirty="0"/>
          </a:p>
          <a:p>
            <a:pPr lvl="1"/>
            <a:r>
              <a:rPr lang="en-GB" dirty="0" err="1"/>
              <a:t>Zlepšení</a:t>
            </a:r>
            <a:r>
              <a:rPr lang="en-GB" dirty="0"/>
              <a:t> </a:t>
            </a:r>
            <a:r>
              <a:rPr lang="en-GB" dirty="0" err="1"/>
              <a:t>detekce</a:t>
            </a:r>
            <a:r>
              <a:rPr lang="en-GB" dirty="0"/>
              <a:t> a </a:t>
            </a:r>
            <a:r>
              <a:rPr lang="en-GB" dirty="0" err="1"/>
              <a:t>reakce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incident</a:t>
            </a:r>
          </a:p>
        </p:txBody>
      </p:sp>
    </p:spTree>
    <p:extLst>
      <p:ext uri="{BB962C8B-B14F-4D97-AF65-F5344CB8AC3E}">
        <p14:creationId xmlns:p14="http://schemas.microsoft.com/office/powerpoint/2010/main" val="2041838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F7B2-8424-F9AE-19A9-BB2B3C10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Incidentní</a:t>
            </a:r>
            <a:r>
              <a:rPr lang="en-GB" b="1" dirty="0"/>
              <a:t> </a:t>
            </a:r>
            <a:r>
              <a:rPr lang="en-GB" b="1" dirty="0" err="1"/>
              <a:t>reakce</a:t>
            </a:r>
            <a:r>
              <a:rPr lang="en-GB" b="1" dirty="0"/>
              <a:t> a </a:t>
            </a:r>
            <a:r>
              <a:rPr lang="en-GB" b="1" dirty="0" err="1"/>
              <a:t>plán</a:t>
            </a:r>
            <a:r>
              <a:rPr lang="en-GB" b="1" dirty="0"/>
              <a:t> </a:t>
            </a:r>
            <a:r>
              <a:rPr lang="en-GB" b="1" dirty="0" err="1"/>
              <a:t>obnovy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5AB01-B675-0F56-7359-1420F911F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Příprava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kybernetické</a:t>
            </a:r>
            <a:r>
              <a:rPr lang="en-GB" dirty="0"/>
              <a:t> incident</a:t>
            </a:r>
          </a:p>
          <a:p>
            <a:pPr lvl="1"/>
            <a:r>
              <a:rPr lang="en-GB" dirty="0" err="1"/>
              <a:t>Vytvoření</a:t>
            </a:r>
            <a:r>
              <a:rPr lang="en-GB" dirty="0"/>
              <a:t> </a:t>
            </a:r>
            <a:r>
              <a:rPr lang="en-GB" dirty="0" err="1"/>
              <a:t>bezpečnostního</a:t>
            </a:r>
            <a:r>
              <a:rPr lang="en-GB" dirty="0"/>
              <a:t> </a:t>
            </a:r>
            <a:r>
              <a:rPr lang="en-GB" dirty="0" err="1"/>
              <a:t>plánu</a:t>
            </a:r>
            <a:endParaRPr lang="en-GB" dirty="0"/>
          </a:p>
          <a:p>
            <a:pPr lvl="1"/>
            <a:r>
              <a:rPr lang="en-GB" dirty="0" err="1"/>
              <a:t>Identifikace</a:t>
            </a:r>
            <a:r>
              <a:rPr lang="en-GB" dirty="0"/>
              <a:t> </a:t>
            </a:r>
            <a:r>
              <a:rPr lang="en-GB" dirty="0" err="1"/>
              <a:t>klíčových</a:t>
            </a:r>
            <a:r>
              <a:rPr lang="en-GB" dirty="0"/>
              <a:t> </a:t>
            </a:r>
            <a:r>
              <a:rPr lang="en-GB" dirty="0" err="1"/>
              <a:t>zdrojů</a:t>
            </a:r>
            <a:r>
              <a:rPr lang="en-GB" dirty="0"/>
              <a:t> a </a:t>
            </a:r>
            <a:r>
              <a:rPr lang="en-GB" dirty="0" err="1"/>
              <a:t>dat</a:t>
            </a:r>
            <a:endParaRPr lang="en-GB" dirty="0"/>
          </a:p>
          <a:p>
            <a:pPr lvl="1"/>
            <a:r>
              <a:rPr lang="en-GB" dirty="0" err="1"/>
              <a:t>Vytvoření</a:t>
            </a:r>
            <a:r>
              <a:rPr lang="en-GB" dirty="0"/>
              <a:t> </a:t>
            </a:r>
            <a:r>
              <a:rPr lang="en-GB" dirty="0" err="1"/>
              <a:t>týmu</a:t>
            </a:r>
            <a:r>
              <a:rPr lang="en-GB" dirty="0"/>
              <a:t> pro </a:t>
            </a:r>
            <a:r>
              <a:rPr lang="en-GB" dirty="0" err="1"/>
              <a:t>reakci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incident</a:t>
            </a:r>
          </a:p>
          <a:p>
            <a:pPr lvl="1"/>
            <a:r>
              <a:rPr lang="en-GB" dirty="0" err="1"/>
              <a:t>Implementace</a:t>
            </a:r>
            <a:r>
              <a:rPr lang="en-GB" dirty="0"/>
              <a:t> </a:t>
            </a:r>
            <a:r>
              <a:rPr lang="en-GB" dirty="0" err="1"/>
              <a:t>monitorování</a:t>
            </a:r>
            <a:r>
              <a:rPr lang="en-GB" dirty="0"/>
              <a:t> a </a:t>
            </a:r>
            <a:r>
              <a:rPr lang="en-GB" dirty="0" err="1"/>
              <a:t>detekce</a:t>
            </a:r>
            <a:endParaRPr lang="en-GB" dirty="0"/>
          </a:p>
          <a:p>
            <a:pPr lvl="1"/>
            <a:r>
              <a:rPr lang="en-GB" dirty="0" err="1"/>
              <a:t>Pravidelná</a:t>
            </a:r>
            <a:r>
              <a:rPr lang="en-GB" dirty="0"/>
              <a:t> </a:t>
            </a:r>
            <a:r>
              <a:rPr lang="en-GB" dirty="0" err="1"/>
              <a:t>školení</a:t>
            </a:r>
            <a:r>
              <a:rPr lang="en-GB" dirty="0"/>
              <a:t> </a:t>
            </a:r>
            <a:r>
              <a:rPr lang="en-GB" dirty="0" err="1"/>
              <a:t>zaměstnanců</a:t>
            </a:r>
            <a:endParaRPr lang="en-GB" dirty="0"/>
          </a:p>
          <a:p>
            <a:r>
              <a:rPr lang="en-GB" dirty="0" err="1"/>
              <a:t>Plán</a:t>
            </a:r>
            <a:r>
              <a:rPr lang="en-GB" dirty="0"/>
              <a:t> </a:t>
            </a:r>
            <a:r>
              <a:rPr lang="en-GB" dirty="0" err="1"/>
              <a:t>obnovy</a:t>
            </a:r>
            <a:r>
              <a:rPr lang="en-GB" dirty="0"/>
              <a:t> po </a:t>
            </a:r>
            <a:r>
              <a:rPr lang="en-GB" dirty="0" err="1"/>
              <a:t>útoku</a:t>
            </a:r>
            <a:r>
              <a:rPr lang="en-GB" dirty="0"/>
              <a:t> (DRP)</a:t>
            </a:r>
          </a:p>
          <a:p>
            <a:pPr lvl="1"/>
            <a:r>
              <a:rPr lang="en-GB" dirty="0" err="1"/>
              <a:t>Analýza</a:t>
            </a:r>
            <a:r>
              <a:rPr lang="en-GB" dirty="0"/>
              <a:t> </a:t>
            </a:r>
            <a:r>
              <a:rPr lang="en-GB" dirty="0" err="1"/>
              <a:t>rizik</a:t>
            </a:r>
            <a:r>
              <a:rPr lang="en-GB" dirty="0"/>
              <a:t> a </a:t>
            </a:r>
            <a:r>
              <a:rPr lang="en-GB" dirty="0" err="1"/>
              <a:t>kritických</a:t>
            </a:r>
            <a:r>
              <a:rPr lang="en-GB" dirty="0"/>
              <a:t> </a:t>
            </a:r>
            <a:r>
              <a:rPr lang="en-GB" dirty="0" err="1"/>
              <a:t>systémů</a:t>
            </a:r>
            <a:endParaRPr lang="en-GB" dirty="0"/>
          </a:p>
          <a:p>
            <a:pPr lvl="1"/>
            <a:r>
              <a:rPr lang="en-GB" dirty="0" err="1"/>
              <a:t>Zálohování</a:t>
            </a:r>
            <a:r>
              <a:rPr lang="en-GB" dirty="0"/>
              <a:t> a </a:t>
            </a:r>
            <a:r>
              <a:rPr lang="en-GB" dirty="0" err="1"/>
              <a:t>obnova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pPr lvl="1"/>
            <a:r>
              <a:rPr lang="en-GB" dirty="0" err="1"/>
              <a:t>Pravidelné</a:t>
            </a:r>
            <a:r>
              <a:rPr lang="en-GB" dirty="0"/>
              <a:t> </a:t>
            </a:r>
            <a:r>
              <a:rPr lang="en-GB" dirty="0" err="1"/>
              <a:t>aktualizace</a:t>
            </a:r>
            <a:r>
              <a:rPr lang="en-GB" dirty="0"/>
              <a:t> a </a:t>
            </a:r>
            <a:r>
              <a:rPr lang="en-GB" dirty="0" err="1"/>
              <a:t>revize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8809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66A6-5DE0-F9C5-2304-5E108474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Cloud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32A1C-D8AC-C6E1-74DA-B0EF4B70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Bezpečnostní</a:t>
            </a:r>
            <a:r>
              <a:rPr lang="en-GB" dirty="0"/>
              <a:t> </a:t>
            </a:r>
            <a:r>
              <a:rPr lang="en-GB" dirty="0" err="1"/>
              <a:t>aspekty</a:t>
            </a:r>
            <a:r>
              <a:rPr lang="en-GB" dirty="0"/>
              <a:t> v </a:t>
            </a:r>
            <a:r>
              <a:rPr lang="en-GB" dirty="0" err="1"/>
              <a:t>cloudovém</a:t>
            </a:r>
            <a:r>
              <a:rPr lang="en-GB" dirty="0"/>
              <a:t> </a:t>
            </a:r>
            <a:r>
              <a:rPr lang="en-GB" dirty="0" err="1"/>
              <a:t>prostředí</a:t>
            </a:r>
            <a:endParaRPr lang="en-GB" dirty="0"/>
          </a:p>
          <a:p>
            <a:pPr lvl="1"/>
            <a:r>
              <a:rPr lang="en-GB" dirty="0" err="1"/>
              <a:t>Datová</a:t>
            </a:r>
            <a:r>
              <a:rPr lang="en-GB" dirty="0"/>
              <a:t> </a:t>
            </a:r>
            <a:r>
              <a:rPr lang="en-GB" dirty="0" err="1"/>
              <a:t>bezpečnost</a:t>
            </a:r>
            <a:endParaRPr lang="en-GB" dirty="0"/>
          </a:p>
          <a:p>
            <a:pPr lvl="1"/>
            <a:r>
              <a:rPr lang="en-GB" dirty="0" err="1"/>
              <a:t>Síťová</a:t>
            </a:r>
            <a:r>
              <a:rPr lang="en-GB" dirty="0"/>
              <a:t> </a:t>
            </a:r>
            <a:r>
              <a:rPr lang="en-GB" dirty="0" err="1"/>
              <a:t>bezpečnost</a:t>
            </a:r>
            <a:endParaRPr lang="en-GB" dirty="0"/>
          </a:p>
          <a:p>
            <a:r>
              <a:rPr lang="en-GB" dirty="0" err="1"/>
              <a:t>Implementace</a:t>
            </a:r>
            <a:r>
              <a:rPr lang="en-GB" dirty="0"/>
              <a:t> cloud security </a:t>
            </a:r>
            <a:r>
              <a:rPr lang="en-GB" dirty="0" err="1"/>
              <a:t>řešení</a:t>
            </a:r>
            <a:endParaRPr lang="en-GB" dirty="0"/>
          </a:p>
          <a:p>
            <a:pPr lvl="1"/>
            <a:r>
              <a:rPr lang="en-GB" dirty="0" err="1"/>
              <a:t>Výběr</a:t>
            </a:r>
            <a:r>
              <a:rPr lang="en-GB" dirty="0"/>
              <a:t> </a:t>
            </a:r>
            <a:r>
              <a:rPr lang="en-GB" dirty="0" err="1"/>
              <a:t>správného</a:t>
            </a:r>
            <a:r>
              <a:rPr lang="en-GB" dirty="0"/>
              <a:t> </a:t>
            </a:r>
            <a:r>
              <a:rPr lang="en-GB" dirty="0" err="1"/>
              <a:t>poskytovatele</a:t>
            </a:r>
            <a:r>
              <a:rPr lang="en-GB" dirty="0"/>
              <a:t> </a:t>
            </a:r>
            <a:r>
              <a:rPr lang="en-GB" dirty="0" err="1"/>
              <a:t>cloudových</a:t>
            </a:r>
            <a:r>
              <a:rPr lang="en-GB" dirty="0"/>
              <a:t> </a:t>
            </a:r>
            <a:r>
              <a:rPr lang="en-GB" dirty="0" err="1"/>
              <a:t>služeb</a:t>
            </a:r>
            <a:endParaRPr lang="en-GB" dirty="0"/>
          </a:p>
          <a:p>
            <a:pPr lvl="1"/>
            <a:r>
              <a:rPr lang="en-GB" dirty="0" err="1"/>
              <a:t>Šifrování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pPr lvl="1"/>
            <a:r>
              <a:rPr lang="en-GB" dirty="0"/>
              <a:t>Firewall a </a:t>
            </a:r>
            <a:r>
              <a:rPr lang="en-GB" dirty="0" err="1"/>
              <a:t>síťová</a:t>
            </a:r>
            <a:r>
              <a:rPr lang="en-GB" dirty="0"/>
              <a:t> </a:t>
            </a:r>
            <a:r>
              <a:rPr lang="en-GB" dirty="0" err="1"/>
              <a:t>ochrana</a:t>
            </a:r>
            <a:endParaRPr lang="en-GB" dirty="0"/>
          </a:p>
          <a:p>
            <a:pPr lvl="1"/>
            <a:r>
              <a:rPr lang="en-GB" dirty="0" err="1"/>
              <a:t>Plán</a:t>
            </a:r>
            <a:r>
              <a:rPr lang="en-GB" dirty="0"/>
              <a:t> </a:t>
            </a:r>
            <a:r>
              <a:rPr lang="en-GB" dirty="0" err="1"/>
              <a:t>reakce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incidenty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9026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6243-52D8-0926-75F2-AB7424C3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Vytváření</a:t>
            </a:r>
            <a:r>
              <a:rPr lang="en-GB" b="1" dirty="0"/>
              <a:t> </a:t>
            </a:r>
            <a:r>
              <a:rPr lang="en-GB" b="1" dirty="0" err="1"/>
              <a:t>silných</a:t>
            </a:r>
            <a:r>
              <a:rPr lang="en-GB" b="1" dirty="0"/>
              <a:t> </a:t>
            </a:r>
            <a:r>
              <a:rPr lang="en-GB" b="1" dirty="0" err="1"/>
              <a:t>hesel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F0D4D-9039-B7D3-D421-9DC8A1BB3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Principy</a:t>
            </a:r>
            <a:r>
              <a:rPr lang="en-GB" dirty="0"/>
              <a:t> </a:t>
            </a:r>
            <a:r>
              <a:rPr lang="en-GB" dirty="0" err="1"/>
              <a:t>silných</a:t>
            </a:r>
            <a:r>
              <a:rPr lang="en-GB" dirty="0"/>
              <a:t> </a:t>
            </a:r>
            <a:r>
              <a:rPr lang="en-GB" dirty="0" err="1"/>
              <a:t>hesel</a:t>
            </a:r>
            <a:endParaRPr lang="en-GB" dirty="0"/>
          </a:p>
          <a:p>
            <a:pPr lvl="1"/>
            <a:r>
              <a:rPr lang="en-GB" dirty="0"/>
              <a:t>Pro </a:t>
            </a:r>
            <a:r>
              <a:rPr lang="en-GB" dirty="0" err="1"/>
              <a:t>ochranu</a:t>
            </a:r>
            <a:r>
              <a:rPr lang="en-GB" dirty="0"/>
              <a:t> </a:t>
            </a:r>
            <a:r>
              <a:rPr lang="en-GB" dirty="0" err="1"/>
              <a:t>před</a:t>
            </a:r>
            <a:r>
              <a:rPr lang="en-GB" dirty="0"/>
              <a:t> </a:t>
            </a:r>
            <a:r>
              <a:rPr lang="en-GB" dirty="0" err="1"/>
              <a:t>neoprávněným</a:t>
            </a:r>
            <a:r>
              <a:rPr lang="en-GB" dirty="0"/>
              <a:t> </a:t>
            </a:r>
            <a:r>
              <a:rPr lang="en-GB" dirty="0" err="1"/>
              <a:t>přístupem</a:t>
            </a:r>
            <a:endParaRPr lang="en-GB" dirty="0"/>
          </a:p>
          <a:p>
            <a:r>
              <a:rPr lang="en-GB" dirty="0" err="1"/>
              <a:t>Důležitost</a:t>
            </a:r>
            <a:r>
              <a:rPr lang="en-GB" dirty="0"/>
              <a:t> </a:t>
            </a:r>
            <a:r>
              <a:rPr lang="en-GB" dirty="0" err="1"/>
              <a:t>unikátních</a:t>
            </a:r>
            <a:r>
              <a:rPr lang="en-GB" dirty="0"/>
              <a:t> a </a:t>
            </a:r>
            <a:r>
              <a:rPr lang="en-GB" dirty="0" err="1"/>
              <a:t>složitých</a:t>
            </a:r>
            <a:r>
              <a:rPr lang="en-GB" dirty="0"/>
              <a:t> </a:t>
            </a:r>
            <a:r>
              <a:rPr lang="en-GB" dirty="0" err="1"/>
              <a:t>hesel</a:t>
            </a:r>
            <a:endParaRPr lang="en-GB" dirty="0"/>
          </a:p>
          <a:p>
            <a:pPr lvl="1"/>
            <a:r>
              <a:rPr lang="en-GB" dirty="0" err="1"/>
              <a:t>Prevence</a:t>
            </a:r>
            <a:r>
              <a:rPr lang="en-GB" dirty="0"/>
              <a:t> </a:t>
            </a:r>
            <a:r>
              <a:rPr lang="en-GB" dirty="0" err="1"/>
              <a:t>útoků</a:t>
            </a:r>
            <a:r>
              <a:rPr lang="en-GB" dirty="0"/>
              <a:t> </a:t>
            </a:r>
            <a:r>
              <a:rPr lang="en-GB" dirty="0" err="1"/>
              <a:t>hrubou</a:t>
            </a:r>
            <a:r>
              <a:rPr lang="en-GB" dirty="0"/>
              <a:t> </a:t>
            </a:r>
            <a:r>
              <a:rPr lang="en-GB" dirty="0" err="1"/>
              <a:t>silou</a:t>
            </a:r>
            <a:endParaRPr lang="en-GB" dirty="0"/>
          </a:p>
          <a:p>
            <a:pPr lvl="1"/>
            <a:r>
              <a:rPr lang="en-GB" dirty="0" err="1"/>
              <a:t>Ochrana</a:t>
            </a:r>
            <a:r>
              <a:rPr lang="en-GB" dirty="0"/>
              <a:t> </a:t>
            </a:r>
            <a:r>
              <a:rPr lang="en-GB" dirty="0" err="1"/>
              <a:t>proti</a:t>
            </a:r>
            <a:r>
              <a:rPr lang="en-GB" dirty="0"/>
              <a:t> </a:t>
            </a:r>
            <a:r>
              <a:rPr lang="en-GB" dirty="0" err="1"/>
              <a:t>odhadům</a:t>
            </a:r>
            <a:endParaRPr lang="en-GB" dirty="0"/>
          </a:p>
          <a:p>
            <a:pPr lvl="1"/>
            <a:r>
              <a:rPr lang="en-GB" dirty="0" err="1"/>
              <a:t>Minimalizace</a:t>
            </a:r>
            <a:r>
              <a:rPr lang="en-GB" dirty="0"/>
              <a:t> </a:t>
            </a:r>
            <a:r>
              <a:rPr lang="en-GB" dirty="0" err="1"/>
              <a:t>rizika</a:t>
            </a:r>
            <a:r>
              <a:rPr lang="en-GB" dirty="0"/>
              <a:t> </a:t>
            </a:r>
            <a:r>
              <a:rPr lang="en-GB" dirty="0" err="1"/>
              <a:t>sdílení</a:t>
            </a:r>
            <a:r>
              <a:rPr lang="en-GB" dirty="0"/>
              <a:t> </a:t>
            </a:r>
            <a:r>
              <a:rPr lang="en-GB" dirty="0" err="1"/>
              <a:t>hesel</a:t>
            </a:r>
            <a:endParaRPr lang="en-GB" dirty="0"/>
          </a:p>
          <a:p>
            <a:r>
              <a:rPr lang="en-GB" dirty="0" err="1"/>
              <a:t>Implementace</a:t>
            </a:r>
            <a:r>
              <a:rPr lang="en-GB" dirty="0"/>
              <a:t> </a:t>
            </a:r>
            <a:r>
              <a:rPr lang="en-GB" dirty="0" err="1"/>
              <a:t>dvoufaktorové</a:t>
            </a:r>
            <a:r>
              <a:rPr lang="en-GB" dirty="0"/>
              <a:t> </a:t>
            </a:r>
            <a:r>
              <a:rPr lang="en-GB" dirty="0" err="1"/>
              <a:t>autentizace</a:t>
            </a:r>
            <a:endParaRPr lang="en-GB" dirty="0"/>
          </a:p>
          <a:p>
            <a:pPr lvl="1"/>
            <a:r>
              <a:rPr lang="en-GB" dirty="0" err="1"/>
              <a:t>Heselné</a:t>
            </a:r>
            <a:r>
              <a:rPr lang="en-GB" dirty="0"/>
              <a:t> </a:t>
            </a:r>
            <a:r>
              <a:rPr lang="en-GB" dirty="0" err="1"/>
              <a:t>kódy</a:t>
            </a:r>
            <a:r>
              <a:rPr lang="en-GB" dirty="0"/>
              <a:t> </a:t>
            </a:r>
            <a:r>
              <a:rPr lang="en-GB" dirty="0" err="1"/>
              <a:t>zaslané</a:t>
            </a:r>
            <a:r>
              <a:rPr lang="en-GB" dirty="0"/>
              <a:t> SMS</a:t>
            </a:r>
          </a:p>
          <a:p>
            <a:pPr lvl="1"/>
            <a:r>
              <a:rPr lang="en-GB" dirty="0" err="1"/>
              <a:t>Aplikace</a:t>
            </a:r>
            <a:r>
              <a:rPr lang="en-GB" dirty="0"/>
              <a:t> pro </a:t>
            </a:r>
            <a:r>
              <a:rPr lang="en-GB" dirty="0" err="1"/>
              <a:t>generování</a:t>
            </a:r>
            <a:r>
              <a:rPr lang="en-GB" dirty="0"/>
              <a:t> </a:t>
            </a:r>
            <a:r>
              <a:rPr lang="en-GB" dirty="0" err="1"/>
              <a:t>kódů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677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7A6E-214D-DF1D-914C-93F5EF2FB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Zdroje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E5B03-DA7A-D6F4-59B0-C377B5FC0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GB" dirty="0"/>
              <a:t>Wikipedia</a:t>
            </a:r>
          </a:p>
          <a:p>
            <a:pPr lvl="1"/>
            <a:r>
              <a:rPr lang="en-GB" dirty="0"/>
              <a:t>ChatGPT</a:t>
            </a:r>
          </a:p>
        </p:txBody>
      </p:sp>
    </p:spTree>
    <p:extLst>
      <p:ext uri="{BB962C8B-B14F-4D97-AF65-F5344CB8AC3E}">
        <p14:creationId xmlns:p14="http://schemas.microsoft.com/office/powerpoint/2010/main" val="4001751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538</Words>
  <Application>Microsoft Office PowerPoint</Application>
  <PresentationFormat>Širokoúhlá obrazovka</PresentationFormat>
  <Paragraphs>132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Metody obrany proti kybernetickým útokům</vt:lpstr>
      <vt:lpstr>Základy kybernetické bezpečnosti</vt:lpstr>
      <vt:lpstr>Firewally</vt:lpstr>
      <vt:lpstr>Antivirové programy</vt:lpstr>
      <vt:lpstr>Aktualizace a záplaty</vt:lpstr>
      <vt:lpstr>Šifrování dat</vt:lpstr>
      <vt:lpstr>Přístupová kontrola</vt:lpstr>
      <vt:lpstr>Zálohování dat</vt:lpstr>
      <vt:lpstr>Bezpečnostní školení a osvěta</vt:lpstr>
      <vt:lpstr>Segmentace sítě</vt:lpstr>
      <vt:lpstr>Incidentní reakce a plán obnovy</vt:lpstr>
      <vt:lpstr>Cloud Security</vt:lpstr>
      <vt:lpstr>Vytváření silných hesel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