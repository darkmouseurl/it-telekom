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A786A5-0AC3-35E8-F6A6-CB0E70B16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1258729-BC4E-F63B-B570-88C2A1F43E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BBCE7FF-72E2-61CA-7BB4-367354BE1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01A6A-FE60-4440-B60E-C188DF281E31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14101BF-9422-69E3-F3DB-AEFC0CA00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1B629ED-8FD5-B575-9FFA-E4597A22A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DBE39-4483-407A-8299-E13A14CFF9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34003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BD20D6-9E0F-14F0-F592-BFE563520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2601345-C68F-121C-BADE-5EF6344FE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F309BDA-A752-EBB9-B542-554C8EDE9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01A6A-FE60-4440-B60E-C188DF281E31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0FD9F2E-43B4-214C-B5FB-E28E806B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A6043DE-7A1F-04AE-9F33-CF9838689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DBE39-4483-407A-8299-E13A14CFF9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01526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38B5B9-35BA-F911-EC94-50CB634D1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94A6915-284F-81F7-875A-14325EDCE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36599B9-D210-485C-16E7-899ADB1B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01A6A-FE60-4440-B60E-C188DF281E31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F2C9F02-8E11-8B4D-F3E3-AA2926012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741DB73-38F1-18FA-7FDB-9122C01AE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DBE39-4483-407A-8299-E13A14CFF9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4026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8F56D1-0D85-DA46-CF16-2DB2E3B8C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8EE74DF-8C1A-4780-226B-6468413532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8EFD1E77-5A93-117D-65B1-FE23174CB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B84FE40-8919-769C-A240-01444C07C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01A6A-FE60-4440-B60E-C188DF281E31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361D167-C3AD-26C4-4694-8F248C6C3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01AA454-93E7-E79C-9047-FEFD3FEE3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DBE39-4483-407A-8299-E13A14CFF9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75159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3995C90-7641-B08B-31D9-C94BFDC8F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65C7BAF-F5D7-01C0-BDBC-C7204FB11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ABDB251-DA7E-D31B-ECF5-941FAAEBC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FB8088D7-8476-F309-CFC8-64DD849347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EE138EC2-5F2E-31E6-C5CF-B1E0536A78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E058942F-E065-0EE7-DC28-935615C68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01A6A-FE60-4440-B60E-C188DF281E31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DE7235E-B0B2-E399-3B4B-2F2780C3E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DB1D8121-AA61-CC37-512B-407F78A9B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DBE39-4483-407A-8299-E13A14CFF9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11891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F134B7F-64C0-C535-550D-EB273D68B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6888879C-793D-601A-5BED-2120C36E8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01A6A-FE60-4440-B60E-C188DF281E31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E8BA074-F614-0D3B-3C3A-7FE4B2A05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0B24321-52BF-28DB-5913-7001665DA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DBE39-4483-407A-8299-E13A14CFF9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8073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D572BF13-2102-5F0A-376B-513597379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01A6A-FE60-4440-B60E-C188DF281E31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EEC5657B-F4A0-8775-D968-8A90E89F0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7FFEC11-C9E8-AD65-CAE8-6499BF2E8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DBE39-4483-407A-8299-E13A14CFF9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734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AB3612-80C3-4EFB-2348-9716E974C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0E7ED2C-33A0-88EF-BCFA-3483C3048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6F0EDE0-DE65-D6C3-E70D-010E2286A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9C0DA07-F513-3917-395A-0AA1FB42D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01A6A-FE60-4440-B60E-C188DF281E31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85CA74F-1F42-8BC0-CD00-32231B8F7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103A913-5676-859E-3BDE-76C977E0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DBE39-4483-407A-8299-E13A14CFF9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77857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043479-7182-E940-522E-828E3F454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D0B9B44F-415C-5DF1-9258-EAA1273E04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AF07381F-9A5B-028E-03C6-8728E81D3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1030E4D-C1D6-52BC-AD49-B278E63AF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01A6A-FE60-4440-B60E-C188DF281E31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0CF6DBE-6D15-7B63-6F5D-1E5BF8B75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313646A-4AE0-D15F-6C22-A0EDC94A2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DBE39-4483-407A-8299-E13A14CFF9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92362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D9B0B3C-61A9-6E0A-C137-8EA38C087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9E76AA4-95A7-91A5-3917-949239086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08208EC-B16E-7CA7-F6AF-3281C8A02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01A6A-FE60-4440-B60E-C188DF281E31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EA2F708-92A1-5ABD-5AA2-9D9EDBEA0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4997483-0B07-DAA1-2CC7-90BFEBFCE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DBE39-4483-407A-8299-E13A14CFF9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51073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EECE79F3-696D-7614-8D8B-7F6E7427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D71676DC-1F54-8AD7-5CD6-9DB5FB971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74A21C0-8B85-0AAE-1399-1E81EA143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01A6A-FE60-4440-B60E-C188DF281E31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BF49A88-FEC4-00D8-64A0-A1584625E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7F2348D-ECF6-B281-94E4-D4E303795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DBE39-4483-407A-8299-E13A14CFF9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32393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4F485FC-D53B-A523-C35F-4B683217A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FE95530-B57A-F6E0-15F9-452539ECA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F0539D7-162B-FB65-3F93-E35270F028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01A6A-FE60-4440-B60E-C188DF281E31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62514E8-8B77-B5D0-CD7D-5AE641D35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69F2574-FC2B-66B8-49E9-243B77E87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DBE39-4483-407A-8299-E13A14CFF9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3998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cs.wikipedia.org/wiki/COBIT" TargetMode="External"/><Relationship Id="rId3" Type="http://schemas.openxmlformats.org/officeDocument/2006/relationships/hyperlink" Target="https://en.wikipedia.org/wiki/ISO/IEC_27002" TargetMode="External"/><Relationship Id="rId7" Type="http://schemas.openxmlformats.org/officeDocument/2006/relationships/hyperlink" Target="https://en.wikipedia.org/wiki/IEC_62443EIC" TargetMode="External"/><Relationship Id="rId2" Type="http://schemas.openxmlformats.org/officeDocument/2006/relationships/hyperlink" Target="Mezin&#225;rodn&#237;%20standardy%20v%20oblasti%20kybernetick&#233;%20bezpe&#269;nosti.pptx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Payment_Card_Industry_Data_Security_Standard" TargetMode="External"/><Relationship Id="rId5" Type="http://schemas.openxmlformats.org/officeDocument/2006/relationships/hyperlink" Target="https://cs.wikipedia.org/wiki/Obecn%C3%A9_na%C5%99%C3%ADzen%C3%AD_o_ochran%C4%9B_osobn%C3%ADch_%C3%BAdaj%C5%AF" TargetMode="External"/><Relationship Id="rId10" Type="http://schemas.openxmlformats.org/officeDocument/2006/relationships/hyperlink" Target="https://cs.wikipedia.org/wiki/Information_Technology_Infrastructure_Library" TargetMode="External"/><Relationship Id="rId4" Type="http://schemas.openxmlformats.org/officeDocument/2006/relationships/hyperlink" Target="https://cs.wikipedia.org/wiki/N%C3%A1rodn%C3%AD_institut_standard%C5%AF_a_technologie" TargetMode="External"/><Relationship Id="rId9" Type="http://schemas.openxmlformats.org/officeDocument/2006/relationships/hyperlink" Target="https://en.wikipedia.org/wiki/Cloud_Security_Alliance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7D6D22F-FC8D-0EA6-9DD5-99E3246AB5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cs-CZ" sz="6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Mezinárodní standardy v oblasti kybernetické bezpečnosti </a:t>
            </a:r>
            <a:endParaRPr lang="cs-CZ" sz="6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039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E80FB5B-246C-B685-C6AF-43E835736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sz="5400" dirty="0">
                <a:latin typeface="Arial" panose="020B0604020202020204" pitchFamily="34" charset="0"/>
                <a:cs typeface="Arial" panose="020B0604020202020204" pitchFamily="34" charset="0"/>
              </a:rPr>
              <a:t>Co jsou to standard</a:t>
            </a:r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y kb</a:t>
            </a:r>
            <a:endParaRPr lang="cs-CZ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CAF4CE5-D053-4398-3005-7818FB891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cs-CZ" sz="2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digitální bezpečnostní techniky vyvinuté k zabránění nebo zmírnění</a:t>
            </a:r>
            <a:r>
              <a:rPr lang="en-US" sz="2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kybernetick</a:t>
            </a:r>
            <a:r>
              <a:rPr lang="cs-CZ" sz="22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ých</a:t>
            </a:r>
            <a:r>
              <a:rPr lang="cs-CZ" sz="2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útok</a:t>
            </a:r>
            <a:r>
              <a:rPr lang="cs-CZ" sz="2200" dirty="0">
                <a:latin typeface="Arial" panose="020B0604020202020204" pitchFamily="34" charset="0"/>
                <a:cs typeface="Arial" panose="020B0604020202020204" pitchFamily="34" charset="0"/>
              </a:rPr>
              <a:t>ů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Tyto příručky obsahují obecné obrysy, jakož i specifické techniky pro implementování</a:t>
            </a:r>
            <a:r>
              <a:rPr lang="en-US" sz="2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kb</a:t>
            </a:r>
            <a:endParaRPr lang="cs-CZ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222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4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78E0C82-F4B7-FC27-5291-3AA45AEE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cs-CZ" sz="5400" dirty="0">
                <a:latin typeface="Arial" panose="020B0604020202020204" pitchFamily="34" charset="0"/>
                <a:cs typeface="Arial" panose="020B0604020202020204" pitchFamily="34" charset="0"/>
              </a:rPr>
              <a:t>Mezinárodní standardy</a:t>
            </a: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C500A3A-A251-18D6-7B04-56DF94CF7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pt-BR" sz="19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ISO 27001</a:t>
            </a:r>
            <a:endParaRPr lang="cs-CZ" sz="19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9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ISO 27002</a:t>
            </a:r>
          </a:p>
          <a:p>
            <a:r>
              <a:rPr lang="cs-CZ" sz="1900" dirty="0">
                <a:latin typeface="Arial" panose="020B0604020202020204" pitchFamily="34" charset="0"/>
                <a:cs typeface="Arial" panose="020B0604020202020204" pitchFamily="34" charset="0"/>
              </a:rPr>
              <a:t>NIST </a:t>
            </a:r>
            <a:r>
              <a:rPr lang="cs-CZ" sz="1900" dirty="0" err="1">
                <a:latin typeface="Arial" panose="020B0604020202020204" pitchFamily="34" charset="0"/>
                <a:cs typeface="Arial" panose="020B0604020202020204" pitchFamily="34" charset="0"/>
              </a:rPr>
              <a:t>CyberSecurity</a:t>
            </a:r>
            <a:r>
              <a:rPr lang="cs-CZ" sz="1900" dirty="0">
                <a:latin typeface="Arial" panose="020B0604020202020204" pitchFamily="34" charset="0"/>
                <a:cs typeface="Arial" panose="020B0604020202020204" pitchFamily="34" charset="0"/>
              </a:rPr>
              <a:t> framework</a:t>
            </a:r>
          </a:p>
          <a:p>
            <a:r>
              <a:rPr lang="cs-CZ" sz="1900" dirty="0">
                <a:latin typeface="Arial" panose="020B0604020202020204" pitchFamily="34" charset="0"/>
                <a:cs typeface="Arial" panose="020B0604020202020204" pitchFamily="34" charset="0"/>
              </a:rPr>
              <a:t>GDPR</a:t>
            </a:r>
          </a:p>
          <a:p>
            <a:r>
              <a:rPr lang="cs-CZ" sz="1900" dirty="0">
                <a:latin typeface="Arial" panose="020B0604020202020204" pitchFamily="34" charset="0"/>
                <a:cs typeface="Arial" panose="020B0604020202020204" pitchFamily="34" charset="0"/>
              </a:rPr>
              <a:t>PCI DSS</a:t>
            </a:r>
          </a:p>
          <a:p>
            <a:r>
              <a:rPr lang="cs-CZ" sz="1900" dirty="0">
                <a:latin typeface="Arial" panose="020B0604020202020204" pitchFamily="34" charset="0"/>
                <a:cs typeface="Arial" panose="020B0604020202020204" pitchFamily="34" charset="0"/>
              </a:rPr>
              <a:t>IEC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62443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COBIT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CSA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ITIL</a:t>
            </a:r>
          </a:p>
          <a:p>
            <a:endParaRPr lang="cs-CZ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8CE36E3-153A-622F-C7DB-B7C2D865C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94430" y="329183"/>
            <a:ext cx="3353035" cy="342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derstanding ISO 27002 Asset Management Control Clause: A Beginner's Guide  | by Jason Zhang | Medium">
            <a:extLst>
              <a:ext uri="{FF2B5EF4-FFF2-40B4-BE49-F238E27FC236}">
                <a16:creationId xmlns:a16="http://schemas.microsoft.com/office/drawing/2014/main" id="{10B2E1E6-B715-531F-D79F-A221B3203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80922" y="4079193"/>
            <a:ext cx="2161763" cy="217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6575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39BF87B-3E95-1DCD-9A92-CE9CD5D0A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ISO 27001</a:t>
            </a:r>
            <a:endParaRPr lang="cs-CZ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5807824-0DF1-DB19-619D-63F31D3EA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 lnSpcReduction="10000"/>
          </a:bodyPr>
          <a:lstStyle/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mezinárodně platný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standard</a:t>
            </a: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, který definuje požadavky na </a:t>
            </a:r>
            <a:r>
              <a:rPr lang="cs-CZ" dirty="0" err="1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management </a:t>
            </a: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bezpečnosti informací, především pak řízení bezpečnosti důvěry informací pro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zam</a:t>
            </a:r>
            <a:r>
              <a:rPr lang="cs-CZ" dirty="0" err="1">
                <a:latin typeface="Arial" panose="020B0604020202020204" pitchFamily="34" charset="0"/>
                <a:cs typeface="Arial" panose="020B0604020202020204" pitchFamily="34" charset="0"/>
              </a:rPr>
              <a:t>ěstnance</a:t>
            </a: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procesy</a:t>
            </a: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IT </a:t>
            </a: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systémy a strategii firmy.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830E332-ACBC-94EB-9B2A-956FECD96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02167" y="640080"/>
            <a:ext cx="5452729" cy="557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9769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6951275-E489-F5F0-189C-ABF57FB71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cs-CZ" sz="5400" dirty="0">
                <a:latin typeface="Arial" panose="020B0604020202020204" pitchFamily="34" charset="0"/>
                <a:cs typeface="Arial" panose="020B0604020202020204" pitchFamily="34" charset="0"/>
              </a:rPr>
              <a:t>ISO </a:t>
            </a:r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27002</a:t>
            </a:r>
            <a:endParaRPr lang="cs-CZ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FB774A4-9455-2290-EB2B-DEDE0C125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cs-CZ" sz="2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mezinárodní standard </a:t>
            </a:r>
            <a:endParaRPr lang="en-US" sz="22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je sada 114 „osvědčených postupů“ určených k použití všemi osobami odpovědnými za zřízení nebo udržování </a:t>
            </a:r>
            <a:r>
              <a:rPr lang="en-US" sz="2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syst</a:t>
            </a:r>
            <a:r>
              <a:rPr lang="cs-CZ" sz="22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ému</a:t>
            </a:r>
            <a:r>
              <a:rPr lang="cs-CZ" sz="2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řízení bezpečnosti informací pro informační bezpečnost</a:t>
            </a:r>
            <a:endParaRPr lang="cs-CZ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6" descr="Understanding ISO 27002 Asset Management Control Clause: A Beginner's Guide  | by Jason Zhang | Medium">
            <a:extLst>
              <a:ext uri="{FF2B5EF4-FFF2-40B4-BE49-F238E27FC236}">
                <a16:creationId xmlns:a16="http://schemas.microsoft.com/office/drawing/2014/main" id="{E61C55F6-EF10-00F3-89F9-95AEB00F5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681197"/>
            <a:ext cx="5458968" cy="5495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6461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F9BDEC2-1C26-655A-8840-3ED1E308C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cs-CZ" sz="4200" dirty="0">
                <a:latin typeface="Arial" panose="020B0604020202020204" pitchFamily="34" charset="0"/>
                <a:cs typeface="Arial" panose="020B0604020202020204" pitchFamily="34" charset="0"/>
              </a:rPr>
              <a:t>NIST </a:t>
            </a:r>
            <a:r>
              <a:rPr lang="cs-CZ" sz="4200" dirty="0" err="1">
                <a:latin typeface="Arial" panose="020B0604020202020204" pitchFamily="34" charset="0"/>
                <a:cs typeface="Arial" panose="020B0604020202020204" pitchFamily="34" charset="0"/>
              </a:rPr>
              <a:t>Cybersecurity</a:t>
            </a:r>
            <a:r>
              <a:rPr lang="cs-CZ" sz="4200" dirty="0">
                <a:latin typeface="Arial" panose="020B0604020202020204" pitchFamily="34" charset="0"/>
                <a:cs typeface="Arial" panose="020B0604020202020204" pitchFamily="34" charset="0"/>
              </a:rPr>
              <a:t> Framework		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CE30E04-3D41-18D7-E66C-36D42D5F8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465320" cy="3320668"/>
          </a:xfrm>
        </p:spPr>
        <p:txBody>
          <a:bodyPr>
            <a:normAutofit fontScale="92500"/>
          </a:bodyPr>
          <a:lstStyle/>
          <a:p>
            <a:r>
              <a:rPr lang="cs-CZ" sz="3200" dirty="0">
                <a:latin typeface="Arial" panose="020B0604020202020204" pitchFamily="34" charset="0"/>
                <a:cs typeface="Arial" panose="020B0604020202020204" pitchFamily="34" charset="0"/>
              </a:rPr>
              <a:t>Sada pokynů pro zmírnění kybernetických nebezpečí</a:t>
            </a:r>
          </a:p>
          <a:p>
            <a:r>
              <a:rPr lang="cs-CZ" sz="3200" dirty="0">
                <a:latin typeface="Arial" panose="020B0604020202020204" pitchFamily="34" charset="0"/>
                <a:cs typeface="Arial" panose="020B0604020202020204" pitchFamily="34" charset="0"/>
              </a:rPr>
              <a:t>Vydáno NIST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(National Institute of Standards and technology)</a:t>
            </a:r>
          </a:p>
          <a:p>
            <a:endParaRPr lang="cs-CZ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Obrázek 4" descr="Obsah obrázku text, kruh, logo, Písmo&#10;&#10;Popis byl vytvořen automaticky">
            <a:extLst>
              <a:ext uri="{FF2B5EF4-FFF2-40B4-BE49-F238E27FC236}">
                <a16:creationId xmlns:a16="http://schemas.microsoft.com/office/drawing/2014/main" id="{C8B49027-8EF1-358A-40C9-03F434B8CB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66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9628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F535BA0-8B53-6CB5-8246-62799BAE1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GDPR</a:t>
            </a:r>
            <a:endParaRPr lang="cs-CZ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A9ECA8C-7744-719F-E65F-BFB4DCDA0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Autofit/>
          </a:bodyPr>
          <a:lstStyle/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General Data </a:t>
            </a:r>
            <a:r>
              <a:rPr lang="cs-CZ" dirty="0" err="1">
                <a:latin typeface="Arial" panose="020B0604020202020204" pitchFamily="34" charset="0"/>
                <a:cs typeface="Arial" panose="020B0604020202020204" pitchFamily="34" charset="0"/>
              </a:rPr>
              <a:t>Protection</a:t>
            </a: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dirty="0" err="1">
                <a:latin typeface="Arial" panose="020B0604020202020204" pitchFamily="34" charset="0"/>
                <a:cs typeface="Arial" panose="020B0604020202020204" pitchFamily="34" charset="0"/>
              </a:rPr>
              <a:t>Regulation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Obecné nařízení o ochraně osobních údajů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Nařízení EU, jehož cílem je zvýšení ochrany osobních dat občanů</a:t>
            </a:r>
          </a:p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Vydáno 27. Dubna 2016</a:t>
            </a:r>
          </a:p>
        </p:txBody>
      </p:sp>
      <p:pic>
        <p:nvPicPr>
          <p:cNvPr id="7" name="Graphic 6" descr="Zabezpečený notebook">
            <a:extLst>
              <a:ext uri="{FF2B5EF4-FFF2-40B4-BE49-F238E27FC236}">
                <a16:creationId xmlns:a16="http://schemas.microsoft.com/office/drawing/2014/main" id="{1221739A-08FF-E45E-3E56-E9A5985147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584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FF08133-1EB4-5EE8-305A-9BBF0E4F6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cs-CZ" sz="5400" dirty="0">
                <a:latin typeface="Arial" panose="020B0604020202020204" pitchFamily="34" charset="0"/>
                <a:cs typeface="Arial" panose="020B0604020202020204" pitchFamily="34" charset="0"/>
              </a:rPr>
              <a:t>PCI DSS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4CE3E1A-C79C-6682-3B33-D450E3C16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Payment Card Industry Data Security Standard</a:t>
            </a:r>
            <a:endParaRPr lang="cs-CZ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3200" dirty="0">
                <a:latin typeface="Arial" panose="020B0604020202020204" pitchFamily="34" charset="0"/>
                <a:cs typeface="Arial" panose="020B0604020202020204" pitchFamily="34" charset="0"/>
              </a:rPr>
              <a:t>Soubor mezinárodních bezpečnostních norem, jejichž cílem je zamezit únikům citlivých dat o držiteli platebních karet</a:t>
            </a:r>
          </a:p>
          <a:p>
            <a:pPr marL="0" indent="0">
              <a:buNone/>
            </a:pPr>
            <a:endParaRPr lang="cs-CZ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phic 6" descr="Credit card">
            <a:extLst>
              <a:ext uri="{FF2B5EF4-FFF2-40B4-BE49-F238E27FC236}">
                <a16:creationId xmlns:a16="http://schemas.microsoft.com/office/drawing/2014/main" id="{57E86E83-F2EE-B67B-E857-6F9A09A577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480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596EB30-97CD-8BE2-A0B8-7C58413C7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cs-CZ" sz="5400" dirty="0">
                <a:latin typeface="Arial" panose="020B0604020202020204" pitchFamily="34" charset="0"/>
                <a:cs typeface="Arial" panose="020B0604020202020204" pitchFamily="34" charset="0"/>
              </a:rPr>
              <a:t>IEC 62443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BA968A-4574-769A-A401-A18E0BC4C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Mezin</a:t>
            </a:r>
            <a:r>
              <a:rPr lang="cs-CZ" sz="2200" dirty="0" err="1">
                <a:latin typeface="Arial" panose="020B0604020202020204" pitchFamily="34" charset="0"/>
                <a:cs typeface="Arial" panose="020B0604020202020204" pitchFamily="34" charset="0"/>
              </a:rPr>
              <a:t>árodní</a:t>
            </a:r>
            <a:r>
              <a:rPr lang="cs-CZ" sz="2200" dirty="0">
                <a:latin typeface="Arial" panose="020B0604020202020204" pitchFamily="34" charset="0"/>
                <a:cs typeface="Arial" panose="020B0604020202020204" pitchFamily="34" charset="0"/>
              </a:rPr>
              <a:t> série standardů které řeší kybernetickou bezpečnost pro:</a:t>
            </a:r>
          </a:p>
          <a:p>
            <a:pPr lvl="1"/>
            <a:r>
              <a:rPr lang="cs-CZ" sz="2200" dirty="0">
                <a:latin typeface="Arial" panose="020B0604020202020204" pitchFamily="34" charset="0"/>
                <a:cs typeface="Arial" panose="020B0604020202020204" pitchFamily="34" charset="0"/>
              </a:rPr>
              <a:t>Operační technologie</a:t>
            </a:r>
          </a:p>
          <a:p>
            <a:pPr lvl="1"/>
            <a:r>
              <a:rPr lang="cs-CZ" sz="2200" dirty="0">
                <a:latin typeface="Arial" panose="020B0604020202020204" pitchFamily="34" charset="0"/>
                <a:cs typeface="Arial" panose="020B0604020202020204" pitchFamily="34" charset="0"/>
              </a:rPr>
              <a:t>Automatizace</a:t>
            </a:r>
          </a:p>
          <a:p>
            <a:pPr lvl="1"/>
            <a:r>
              <a:rPr lang="cs-CZ" sz="2200" dirty="0">
                <a:latin typeface="Arial" panose="020B0604020202020204" pitchFamily="34" charset="0"/>
                <a:cs typeface="Arial" panose="020B0604020202020204" pitchFamily="34" charset="0"/>
              </a:rPr>
              <a:t>Kontrolní systémy</a:t>
            </a:r>
          </a:p>
        </p:txBody>
      </p:sp>
    </p:spTree>
    <p:extLst>
      <p:ext uri="{BB962C8B-B14F-4D97-AF65-F5344CB8AC3E}">
        <p14:creationId xmlns:p14="http://schemas.microsoft.com/office/powerpoint/2010/main" val="1110907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6B11962-71E3-2AB5-DAF6-8BBB64AE0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cs-CZ" sz="4000" dirty="0">
                <a:latin typeface="Arial" panose="020B0604020202020204" pitchFamily="34" charset="0"/>
                <a:cs typeface="Arial" panose="020B0604020202020204" pitchFamily="34" charset="0"/>
              </a:rPr>
              <a:t>COBIT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(Control Objectives for information and related Technologies)</a:t>
            </a:r>
            <a:endParaRPr lang="cs-CZ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900EED3-311C-3AF4-C1F2-ABBCFC5B5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Framework pro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vytvo</a:t>
            </a:r>
            <a:r>
              <a:rPr lang="cs-CZ" sz="2200" dirty="0" err="1">
                <a:latin typeface="Arial" panose="020B0604020202020204" pitchFamily="34" charset="0"/>
                <a:cs typeface="Arial" panose="020B0604020202020204" pitchFamily="34" charset="0"/>
              </a:rPr>
              <a:t>řený</a:t>
            </a:r>
            <a:r>
              <a:rPr lang="cs-CZ" sz="2200" dirty="0">
                <a:latin typeface="Arial" panose="020B0604020202020204" pitchFamily="34" charset="0"/>
                <a:cs typeface="Arial" panose="020B0604020202020204" pitchFamily="34" charset="0"/>
              </a:rPr>
              <a:t> asociací ISACA pro správu a řízení informatiky</a:t>
            </a:r>
          </a:p>
          <a:p>
            <a:r>
              <a:rPr lang="cs-CZ" sz="2200" dirty="0">
                <a:latin typeface="Arial" panose="020B0604020202020204" pitchFamily="34" charset="0"/>
                <a:cs typeface="Arial" panose="020B0604020202020204" pitchFamily="34" charset="0"/>
              </a:rPr>
              <a:t>Jedná se o soubor praktik, které by měly dosáhnout strategických cílů organizace díky efektivnímu využití dostupných informací a minimalizací IT rizik</a:t>
            </a:r>
          </a:p>
        </p:txBody>
      </p:sp>
    </p:spTree>
    <p:extLst>
      <p:ext uri="{BB962C8B-B14F-4D97-AF65-F5344CB8AC3E}">
        <p14:creationId xmlns:p14="http://schemas.microsoft.com/office/powerpoint/2010/main" val="3979838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DC7A7D9-9E19-2627-775C-015DE5286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cs-CZ" sz="5400" dirty="0">
                <a:latin typeface="Arial" panose="020B0604020202020204" pitchFamily="34" charset="0"/>
                <a:cs typeface="Arial" panose="020B0604020202020204" pitchFamily="34" charset="0"/>
              </a:rPr>
              <a:t>CSA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97A343E-0270-0398-C317-8AE49686B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cs-CZ" sz="2200" dirty="0">
                <a:latin typeface="Arial" panose="020B0604020202020204" pitchFamily="34" charset="0"/>
                <a:cs typeface="Arial" panose="020B0604020202020204" pitchFamily="34" charset="0"/>
              </a:rPr>
              <a:t>Cloud </a:t>
            </a:r>
            <a:r>
              <a:rPr lang="cs-CZ" sz="2200" dirty="0" err="1">
                <a:latin typeface="Arial" panose="020B0604020202020204" pitchFamily="34" charset="0"/>
                <a:cs typeface="Arial" panose="020B0604020202020204" pitchFamily="34" charset="0"/>
              </a:rPr>
              <a:t>security</a:t>
            </a:r>
            <a:r>
              <a:rPr lang="cs-CZ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200" dirty="0" err="1">
                <a:latin typeface="Arial" panose="020B0604020202020204" pitchFamily="34" charset="0"/>
                <a:cs typeface="Arial" panose="020B0604020202020204" pitchFamily="34" charset="0"/>
              </a:rPr>
              <a:t>alliance</a:t>
            </a:r>
            <a:endParaRPr lang="cs-CZ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200" dirty="0">
                <a:latin typeface="Arial" panose="020B0604020202020204" pitchFamily="34" charset="0"/>
                <a:cs typeface="Arial" panose="020B0604020202020204" pitchFamily="34" charset="0"/>
              </a:rPr>
              <a:t>Non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-for-profit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organizace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s mis</a:t>
            </a:r>
            <a:r>
              <a:rPr lang="cs-CZ" sz="2200" dirty="0">
                <a:latin typeface="Arial" panose="020B0604020202020204" pitchFamily="34" charset="0"/>
                <a:cs typeface="Arial" panose="020B0604020202020204" pitchFamily="34" charset="0"/>
              </a:rPr>
              <a:t>í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cs-CZ" sz="2200" dirty="0">
                <a:latin typeface="Arial" panose="020B0604020202020204" pitchFamily="34" charset="0"/>
                <a:cs typeface="Arial" panose="020B0604020202020204" pitchFamily="34" charset="0"/>
              </a:rPr>
              <a:t>šíření použití nejlepších praktik pro poskytování bezpečnosti v cloud </a:t>
            </a:r>
            <a:r>
              <a:rPr lang="cs-CZ" sz="2200" dirty="0" err="1">
                <a:latin typeface="Arial" panose="020B0604020202020204" pitchFamily="34" charset="0"/>
                <a:cs typeface="Arial" panose="020B0604020202020204" pitchFamily="34" charset="0"/>
              </a:rPr>
              <a:t>computingu</a:t>
            </a:r>
            <a:endParaRPr lang="cs-CZ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772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8D223F4-DCB1-C34B-08CA-5C080E798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cs-CZ" sz="5400" dirty="0">
                <a:latin typeface="Arial" panose="020B0604020202020204" pitchFamily="34" charset="0"/>
                <a:cs typeface="Arial" panose="020B0604020202020204" pitchFamily="34" charset="0"/>
              </a:rPr>
              <a:t>ITIL	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7A9093-67A5-032C-5760-B08E33BFA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cs-CZ" sz="2200" dirty="0" err="1"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lang="cs-CZ" sz="2200" dirty="0">
                <a:latin typeface="Arial" panose="020B0604020202020204" pitchFamily="34" charset="0"/>
                <a:cs typeface="Arial" panose="020B0604020202020204" pitchFamily="34" charset="0"/>
              </a:rPr>
              <a:t> Technology </a:t>
            </a:r>
            <a:r>
              <a:rPr lang="cs-CZ" sz="2200" dirty="0" err="1">
                <a:latin typeface="Arial" panose="020B0604020202020204" pitchFamily="34" charset="0"/>
                <a:cs typeface="Arial" panose="020B0604020202020204" pitchFamily="34" charset="0"/>
              </a:rPr>
              <a:t>Infrastructure</a:t>
            </a:r>
            <a:r>
              <a:rPr lang="cs-CZ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200" dirty="0" err="1">
                <a:latin typeface="Arial" panose="020B0604020202020204" pitchFamily="34" charset="0"/>
                <a:cs typeface="Arial" panose="020B0604020202020204" pitchFamily="34" charset="0"/>
              </a:rPr>
              <a:t>Library</a:t>
            </a:r>
            <a:endParaRPr lang="cs-CZ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200" dirty="0">
                <a:latin typeface="Arial" panose="020B0604020202020204" pitchFamily="34" charset="0"/>
                <a:cs typeface="Arial" panose="020B0604020202020204" pitchFamily="34" charset="0"/>
              </a:rPr>
              <a:t>Soubor praxí prověřených konceptů a postupů</a:t>
            </a:r>
          </a:p>
          <a:p>
            <a:r>
              <a:rPr lang="cs-CZ" sz="2200" dirty="0">
                <a:latin typeface="Arial" panose="020B0604020202020204" pitchFamily="34" charset="0"/>
                <a:cs typeface="Arial" panose="020B0604020202020204" pitchFamily="34" charset="0"/>
              </a:rPr>
              <a:t>Umožňuje lépe plánovat, využívat a zkvalitňovat využití IT</a:t>
            </a:r>
          </a:p>
        </p:txBody>
      </p:sp>
    </p:spTree>
    <p:extLst>
      <p:ext uri="{BB962C8B-B14F-4D97-AF65-F5344CB8AC3E}">
        <p14:creationId xmlns:p14="http://schemas.microsoft.com/office/powerpoint/2010/main" val="3018393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17D0062-AA66-1319-1409-4755B6C94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Zdroje:</a:t>
            </a: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C31C018-6054-A6A4-8DD2-3B015A681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635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 action="ppaction://hlinkpres?slideindex=1&amp;slidetitle="/>
              </a:rPr>
              <a:t>ISO </a:t>
            </a: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  <a:hlinkClick r:id="rId2" action="ppaction://hlinkpres?slideindex=1&amp;slidetitle="/>
              </a:rPr>
              <a:t>27001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ISO </a:t>
            </a: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27002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NIST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GDPR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PCI DSS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IEC 62443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COBIT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CSA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ITIL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350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5D61ECB6-F855-2621-D452-959C91A4F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cs-CZ" sz="6600" dirty="0">
                <a:latin typeface="Arial" panose="020B0604020202020204" pitchFamily="34" charset="0"/>
                <a:cs typeface="Arial" panose="020B0604020202020204" pitchFamily="34" charset="0"/>
              </a:rPr>
              <a:t>Děkuji za pozornost</a:t>
            </a: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A5F5C10E-B878-D53D-4462-C307AB4F1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Jakub Třos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951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312</Words>
  <Application>Microsoft Office PowerPoint</Application>
  <PresentationFormat>Širokoúhlá obrazovka</PresentationFormat>
  <Paragraphs>56</Paragraphs>
  <Slides>14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Motiv Office</vt:lpstr>
      <vt:lpstr>Mezinárodní standardy v oblasti kybernetické bezpečnosti </vt:lpstr>
      <vt:lpstr>Co jsou to standardy kb</vt:lpstr>
      <vt:lpstr>Mezinárodní standardy</vt:lpstr>
      <vt:lpstr>ISO 27001</vt:lpstr>
      <vt:lpstr>ISO 27002</vt:lpstr>
      <vt:lpstr>NIST Cybersecurity Framework  </vt:lpstr>
      <vt:lpstr>GDPR</vt:lpstr>
      <vt:lpstr>PCI DSS</vt:lpstr>
      <vt:lpstr>IEC 62443</vt:lpstr>
      <vt:lpstr>COBIT(Control Objectives for information and related Technologies)</vt:lpstr>
      <vt:lpstr>CSA</vt:lpstr>
      <vt:lpstr>ITIL </vt:lpstr>
      <vt:lpstr>Zdroje: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