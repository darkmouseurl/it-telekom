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DELINČÁK" userId="dae9ad4c-11e4-4b0e-8525-04ed9bf58fb5" providerId="ADAL" clId="{511519EE-EA15-4A18-B6FA-592EBE8F03FF}"/>
    <pc:docChg chg="undo custSel modSld">
      <pc:chgData name="Jakub DELINČÁK" userId="dae9ad4c-11e4-4b0e-8525-04ed9bf58fb5" providerId="ADAL" clId="{511519EE-EA15-4A18-B6FA-592EBE8F03FF}" dt="2024-03-05T20:52:18.727" v="12" actId="26606"/>
      <pc:docMkLst>
        <pc:docMk/>
      </pc:docMkLst>
      <pc:sldChg chg="modSp mod">
        <pc:chgData name="Jakub DELINČÁK" userId="dae9ad4c-11e4-4b0e-8525-04ed9bf58fb5" providerId="ADAL" clId="{511519EE-EA15-4A18-B6FA-592EBE8F03FF}" dt="2024-03-05T20:51:33.030" v="11" actId="20577"/>
        <pc:sldMkLst>
          <pc:docMk/>
          <pc:sldMk cId="3606049974" sldId="264"/>
        </pc:sldMkLst>
        <pc:spChg chg="mod">
          <ac:chgData name="Jakub DELINČÁK" userId="dae9ad4c-11e4-4b0e-8525-04ed9bf58fb5" providerId="ADAL" clId="{511519EE-EA15-4A18-B6FA-592EBE8F03FF}" dt="2024-03-05T20:51:33.030" v="11" actId="20577"/>
          <ac:spMkLst>
            <pc:docMk/>
            <pc:sldMk cId="3606049974" sldId="264"/>
            <ac:spMk id="3" creationId="{D0AB5843-42DC-ADB1-7B3E-859AB37DCEBD}"/>
          </ac:spMkLst>
        </pc:spChg>
      </pc:sldChg>
      <pc:sldChg chg="modSp mod">
        <pc:chgData name="Jakub DELINČÁK" userId="dae9ad4c-11e4-4b0e-8525-04ed9bf58fb5" providerId="ADAL" clId="{511519EE-EA15-4A18-B6FA-592EBE8F03FF}" dt="2024-03-05T20:50:49.622" v="9" actId="27636"/>
        <pc:sldMkLst>
          <pc:docMk/>
          <pc:sldMk cId="4063908688" sldId="269"/>
        </pc:sldMkLst>
        <pc:spChg chg="mod">
          <ac:chgData name="Jakub DELINČÁK" userId="dae9ad4c-11e4-4b0e-8525-04ed9bf58fb5" providerId="ADAL" clId="{511519EE-EA15-4A18-B6FA-592EBE8F03FF}" dt="2024-03-05T20:50:49.622" v="9" actId="27636"/>
          <ac:spMkLst>
            <pc:docMk/>
            <pc:sldMk cId="4063908688" sldId="269"/>
            <ac:spMk id="3" creationId="{FA965025-FBD6-5B72-24E1-1F7B3CE09CDC}"/>
          </ac:spMkLst>
        </pc:spChg>
      </pc:sldChg>
      <pc:sldChg chg="addSp delSp modSp mod setBg">
        <pc:chgData name="Jakub DELINČÁK" userId="dae9ad4c-11e4-4b0e-8525-04ed9bf58fb5" providerId="ADAL" clId="{511519EE-EA15-4A18-B6FA-592EBE8F03FF}" dt="2024-03-05T20:52:18.727" v="12" actId="26606"/>
        <pc:sldMkLst>
          <pc:docMk/>
          <pc:sldMk cId="70675395" sldId="270"/>
        </pc:sldMkLst>
        <pc:spChg chg="mod">
          <ac:chgData name="Jakub DELINČÁK" userId="dae9ad4c-11e4-4b0e-8525-04ed9bf58fb5" providerId="ADAL" clId="{511519EE-EA15-4A18-B6FA-592EBE8F03FF}" dt="2024-03-05T20:52:18.727" v="12" actId="26606"/>
          <ac:spMkLst>
            <pc:docMk/>
            <pc:sldMk cId="70675395" sldId="270"/>
            <ac:spMk id="2" creationId="{03C5C33E-6002-9FCD-8D6F-F88125498DCD}"/>
          </ac:spMkLst>
        </pc:spChg>
        <pc:spChg chg="del">
          <ac:chgData name="Jakub DELINČÁK" userId="dae9ad4c-11e4-4b0e-8525-04ed9bf58fb5" providerId="ADAL" clId="{511519EE-EA15-4A18-B6FA-592EBE8F03FF}" dt="2024-03-05T20:49:58.434" v="4" actId="26606"/>
          <ac:spMkLst>
            <pc:docMk/>
            <pc:sldMk cId="70675395" sldId="270"/>
            <ac:spMk id="7" creationId="{FFD48BC7-DC40-47DE-87EE-9F4B6ECB9ABB}"/>
          </ac:spMkLst>
        </pc:spChg>
        <pc:spChg chg="add">
          <ac:chgData name="Jakub DELINČÁK" userId="dae9ad4c-11e4-4b0e-8525-04ed9bf58fb5" providerId="ADAL" clId="{511519EE-EA15-4A18-B6FA-592EBE8F03FF}" dt="2024-03-05T20:52:18.727" v="12" actId="26606"/>
          <ac:spMkLst>
            <pc:docMk/>
            <pc:sldMk cId="70675395" sldId="270"/>
            <ac:spMk id="8" creationId="{C1DD1A8A-57D5-4A81-AD04-532B043C5611}"/>
          </ac:spMkLst>
        </pc:spChg>
        <pc:spChg chg="del">
          <ac:chgData name="Jakub DELINČÁK" userId="dae9ad4c-11e4-4b0e-8525-04ed9bf58fb5" providerId="ADAL" clId="{511519EE-EA15-4A18-B6FA-592EBE8F03FF}" dt="2024-03-05T20:49:58.434" v="4" actId="26606"/>
          <ac:spMkLst>
            <pc:docMk/>
            <pc:sldMk cId="70675395" sldId="270"/>
            <ac:spMk id="9" creationId="{E502BBC7-2C76-46F3-BC24-5985BC13DB88}"/>
          </ac:spMkLst>
        </pc:spChg>
        <pc:spChg chg="add">
          <ac:chgData name="Jakub DELINČÁK" userId="dae9ad4c-11e4-4b0e-8525-04ed9bf58fb5" providerId="ADAL" clId="{511519EE-EA15-4A18-B6FA-592EBE8F03FF}" dt="2024-03-05T20:52:18.727" v="12" actId="26606"/>
          <ac:spMkLst>
            <pc:docMk/>
            <pc:sldMk cId="70675395" sldId="270"/>
            <ac:spMk id="10" creationId="{007891EC-4501-44ED-A8C8-B11B6DB767AB}"/>
          </ac:spMkLst>
        </pc:spChg>
        <pc:spChg chg="del">
          <ac:chgData name="Jakub DELINČÁK" userId="dae9ad4c-11e4-4b0e-8525-04ed9bf58fb5" providerId="ADAL" clId="{511519EE-EA15-4A18-B6FA-592EBE8F03FF}" dt="2024-03-05T20:49:58.434" v="4" actId="26606"/>
          <ac:spMkLst>
            <pc:docMk/>
            <pc:sldMk cId="70675395" sldId="270"/>
            <ac:spMk id="11" creationId="{C7F28D52-2A5F-4D23-81AE-7CB8B591C7AF}"/>
          </ac:spMkLst>
        </pc:spChg>
        <pc:spChg chg="del">
          <ac:chgData name="Jakub DELINČÁK" userId="dae9ad4c-11e4-4b0e-8525-04ed9bf58fb5" providerId="ADAL" clId="{511519EE-EA15-4A18-B6FA-592EBE8F03FF}" dt="2024-03-05T20:49:58.434" v="4" actId="26606"/>
          <ac:spMkLst>
            <pc:docMk/>
            <pc:sldMk cId="70675395" sldId="270"/>
            <ac:spMk id="13" creationId="{3629484E-3792-4B3D-89AD-7C8A1ED0E0D4}"/>
          </ac:spMkLst>
        </pc:spChg>
        <pc:picChg chg="add">
          <ac:chgData name="Jakub DELINČÁK" userId="dae9ad4c-11e4-4b0e-8525-04ed9bf58fb5" providerId="ADAL" clId="{511519EE-EA15-4A18-B6FA-592EBE8F03FF}" dt="2024-03-05T20:52:18.727" v="12" actId="26606"/>
          <ac:picMkLst>
            <pc:docMk/>
            <pc:sldMk cId="70675395" sldId="270"/>
            <ac:picMk id="4" creationId="{EEBB31DD-EB00-A931-4946-FA8DF3A3B4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6EA6D3-F986-4A4E-1D8A-E362964DA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42571EE-2560-DE73-A888-7D51ED93B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C21DFFF-AA15-CCBD-1682-6B8D04D7B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8B9231C-8DB2-BD2E-DEC2-FBDF635D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50BDBC-7BF7-2688-9667-63EF36AA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394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0C8B0F-43E8-0405-1881-5D5971952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0E92E9-1B67-D5DA-CA4E-0896DE96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630215D-08B2-4BDA-06B9-E47ECF4B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7F93202-E89F-4E33-2B38-46EC1BA5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27B592D-2C1A-2FB5-9FFE-7BF4CB25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011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BAEBA3-0C38-AFD1-881F-1B72F9DF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2C6DF7B-CD59-1E85-56C3-E69B153D4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FE7F05-880B-1E50-9C48-09ABB00C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0375B65-9D0D-8BCC-426A-B138F06C2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022401C-A4C1-0142-E2CD-61E38069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227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5D60EC-C157-B0F9-C8A0-B0FBA5AB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35534B-251C-FCDD-D638-FA46C2A80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23B75BA-5AE9-81CA-F160-2722CFC2C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EED7A70-1E50-987F-FC6E-885A75B7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FA2EE4E-C11A-82F4-8C67-6556180AA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D254535-A211-D3F5-7AE9-B418F67D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583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9B84B4-5D14-FFF7-FDCC-4EBC47620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C1DD8EC-1B02-E0AA-94ED-5203D6D5E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F7106DE-726A-2B51-5CE9-CF8F617BA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B281A01-11F6-5EEF-F7F7-3570F5147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D85BE66-4A6A-AF9B-F349-CBE20158E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7A9DC03-17AC-03A4-AC44-8ECE000C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9748BAA-7233-2A86-51C5-C44EB346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7BB6C9C-EEAC-EFB0-2C5C-BE09BC33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783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868455-5096-9785-7D4B-0EDC00D2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EE7920-1E60-ED0F-5F65-A8E6F7F7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42B5CBF-30A5-BCCC-B06C-7B7CCD40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BE28940-DB5D-DC19-EFE0-12AC83AC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799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F0EA945-09BD-1A29-E20E-6A67BD9E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7FF22E5-ED91-6E82-2F45-A6370217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C2C917C-134C-5E70-4F9C-432BC0A4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435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8F552C-1490-73D8-CD56-53DD7B223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B683BE-E647-AEFE-D3BC-21C722CE2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F586205-CCFF-1B85-A044-F0CA31F05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D8F715F-3691-3A56-E603-06AA7D36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597C723-F072-35E1-3B06-74E1CD09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74D4E-7FE3-7E2A-CFE1-AC1D18F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455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EC7A9C-F6B1-0527-CAE5-CA3BBF4B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E0C9FCA-5192-F5C5-1823-86449F349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61AB4D1-D903-367E-8602-C4A121EF5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ACA1DDC-C14C-E13C-C0C7-8CF22EDAB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CDC3F5A-3B11-2F2A-89E9-8EDCBF04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B8B3C69-75A7-3859-4C1F-9516FA9F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350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6F2CB5-0021-AF87-F296-B4614725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FB7F1F6-7614-7E98-CB64-9EE9A339B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A7DEB6E-B17B-B1E7-9AF8-EADAB75B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97E237E-4555-9325-4655-555B4531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6860FC1-81CB-7D7F-F326-F4C553CC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6111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B072625-2A8B-6296-2EEA-9627D2C19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A889308-E097-CC0D-3C79-737D2EC40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0E22E8D-CD89-010A-1067-A4D2F01F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642BCF7-54C1-55F3-DC47-42B98512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2654376-CFCF-C2B8-7610-A759BF16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424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5D25F99-916C-0786-BBAE-19D7143A8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7BDC7C6-181E-233C-5BCF-D5B8B3417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B659C7-78E1-24E8-EC2D-07246086B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C18E4-A27B-45A6-8B66-1495F7B194C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946189B-48F8-481E-DE48-2E6EA89B8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6FEF8DF-D62A-6FE5-0F73-AD5AA4CDC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E1225-DA04-4AA5-8973-466353F45D2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617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lektronický podpis - jedna z novinek, kterou 1. ledna přinesl zákon o  znalcích - Legislativa - Advokátní deník">
            <a:extLst>
              <a:ext uri="{FF2B5EF4-FFF2-40B4-BE49-F238E27FC236}">
                <a16:creationId xmlns:a16="http://schemas.microsoft.com/office/drawing/2014/main" id="{137C185A-92F1-51AD-095A-D6983AD94A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" b="14151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CC36AF6-D25E-7E53-5A01-98D0884A7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Certifikáty pro elektronický podpis</a:t>
            </a:r>
          </a:p>
        </p:txBody>
      </p:sp>
    </p:spTree>
    <p:extLst>
      <p:ext uri="{BB962C8B-B14F-4D97-AF65-F5344CB8AC3E}">
        <p14:creationId xmlns:p14="http://schemas.microsoft.com/office/powerpoint/2010/main" val="3354120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6" name="Rectangle 3080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8312400-4836-2459-E929-EC2F2C6A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cs-CZ" sz="4000"/>
              <a:t>Definice elektronického podpisu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965025-FBD6-5B72-24E1-1F7B3CE09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 lnSpcReduction="10000"/>
          </a:bodyPr>
          <a:lstStyle/>
          <a:p>
            <a:r>
              <a:rPr lang="cs-CZ" sz="1100" b="0" i="0" u="none" strike="noStrike" dirty="0">
                <a:effectLst/>
              </a:rPr>
              <a:t>Elektronický podpis</a:t>
            </a:r>
            <a:r>
              <a:rPr lang="cs-CZ" sz="1100" b="0" i="0" dirty="0">
                <a:effectLst/>
              </a:rPr>
              <a:t> je digitální forma fyzického podpisu, která je vytvořena, ověřena a uložena elektronicky.</a:t>
            </a:r>
          </a:p>
          <a:p>
            <a:r>
              <a:rPr lang="cs-CZ" sz="1100" b="0" i="0" u="none" strike="noStrike" dirty="0">
                <a:effectLst/>
              </a:rPr>
              <a:t>Elektronický podpis</a:t>
            </a:r>
            <a:r>
              <a:rPr lang="cs-CZ" sz="1100" b="0" i="0" dirty="0">
                <a:effectLst/>
              </a:rPr>
              <a:t> se používá k potvrzení autenticity a integrity elektronických dokumentů nebo elektronických transakcí.</a:t>
            </a:r>
          </a:p>
          <a:p>
            <a:r>
              <a:rPr lang="cs-CZ" sz="1100" dirty="0"/>
              <a:t>Z</a:t>
            </a:r>
            <a:r>
              <a:rPr lang="cs-CZ" sz="1100" b="0" i="0" dirty="0">
                <a:effectLst/>
              </a:rPr>
              <a:t>ákladní definice elektronického podpisu:</a:t>
            </a:r>
          </a:p>
          <a:p>
            <a:pPr marL="627063">
              <a:buFont typeface="+mj-lt"/>
              <a:buAutoNum type="arabicPeriod"/>
            </a:pPr>
            <a:r>
              <a:rPr lang="cs-CZ" sz="1100" b="0" i="0" u="none" strike="noStrike" dirty="0">
                <a:effectLst/>
              </a:rPr>
              <a:t>Elektronický podpis</a:t>
            </a:r>
            <a:r>
              <a:rPr lang="cs-CZ" sz="1100" b="0" i="0" dirty="0">
                <a:effectLst/>
              </a:rPr>
              <a:t>: </a:t>
            </a:r>
            <a:r>
              <a:rPr lang="cs-CZ" sz="1100" b="0" i="0" u="none" strike="noStrike" dirty="0">
                <a:effectLst/>
              </a:rPr>
              <a:t>Elektronický podpis</a:t>
            </a:r>
            <a:r>
              <a:rPr lang="cs-CZ" sz="1100" b="0" i="0" dirty="0">
                <a:effectLst/>
              </a:rPr>
              <a:t> je digitální záznam, který může být použit k identifikaci jednotlivce, který ho vytvořil, a k potvrzení, že dokument nebyl změněn od okamžiku podpisu.</a:t>
            </a:r>
          </a:p>
          <a:p>
            <a:pPr marL="627063">
              <a:buFont typeface="+mj-lt"/>
              <a:buAutoNum type="arabicPeriod"/>
            </a:pPr>
            <a:r>
              <a:rPr lang="cs-CZ" sz="1100" b="0" i="0" dirty="0">
                <a:effectLst/>
              </a:rPr>
              <a:t>Digitální podpis: Digitální podpis je specifický typ elektronického podpisu, který je vytvořen pomocí kryptografických technik a klíčů. Tento digitální podpis je spojen s konkrétním dokumentem a umožňuje ověření autenticity a integrity dokumentu.</a:t>
            </a:r>
          </a:p>
          <a:p>
            <a:pPr marL="627063">
              <a:buFont typeface="+mj-lt"/>
              <a:buAutoNum type="arabicPeriod"/>
            </a:pPr>
            <a:r>
              <a:rPr lang="cs-CZ" sz="1100" b="0" i="0" dirty="0">
                <a:effectLst/>
              </a:rPr>
              <a:t>Autentizace: </a:t>
            </a:r>
            <a:r>
              <a:rPr lang="cs-CZ" sz="1100" b="0" i="0" u="none" strike="noStrike" dirty="0">
                <a:effectLst/>
              </a:rPr>
              <a:t>Elektronický podpis</a:t>
            </a:r>
            <a:r>
              <a:rPr lang="cs-CZ" sz="1100" b="0" i="0" dirty="0">
                <a:effectLst/>
              </a:rPr>
              <a:t> slouží k ověření identity osoby, která dokument podepsala, a k zajištění, že dokument nebyl po podepsání změněn.</a:t>
            </a:r>
          </a:p>
          <a:p>
            <a:pPr marL="627063">
              <a:buFont typeface="+mj-lt"/>
              <a:buAutoNum type="arabicPeriod"/>
            </a:pPr>
            <a:r>
              <a:rPr lang="cs-CZ" sz="1100" b="0" i="0" dirty="0">
                <a:effectLst/>
              </a:rPr>
              <a:t>Integrity: </a:t>
            </a:r>
            <a:r>
              <a:rPr lang="cs-CZ" sz="1100" b="0" i="0" u="none" strike="noStrike" dirty="0">
                <a:effectLst/>
              </a:rPr>
              <a:t>Elektronický podpis</a:t>
            </a:r>
            <a:r>
              <a:rPr lang="cs-CZ" sz="1100" b="0" i="0" dirty="0">
                <a:effectLst/>
              </a:rPr>
              <a:t> také slouží k potvrzení integrity dokumentu, což znamená, že dokument nebyl po podepsání nijak změněn.</a:t>
            </a:r>
          </a:p>
          <a:p>
            <a:r>
              <a:rPr lang="cs-CZ" sz="1100" b="0" i="0" dirty="0">
                <a:effectLst/>
              </a:rPr>
              <a:t>Elektronický podpis je důležitým nástrojem pro zajištění autenticity a integrity elektronických dokumentů a transakcí.</a:t>
            </a:r>
          </a:p>
          <a:p>
            <a:endParaRPr lang="cs-CZ" sz="1100" dirty="0"/>
          </a:p>
        </p:txBody>
      </p:sp>
      <p:pic>
        <p:nvPicPr>
          <p:cNvPr id="3074" name="Picture 2" descr="Jak přidat svůj elektronický podpis do dokumentů">
            <a:extLst>
              <a:ext uri="{FF2B5EF4-FFF2-40B4-BE49-F238E27FC236}">
                <a16:creationId xmlns:a16="http://schemas.microsoft.com/office/drawing/2014/main" id="{22E36FA0-6AFD-1BB5-F388-75606FC40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3650" y="2863814"/>
            <a:ext cx="5178206" cy="272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90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BEB8A1-B404-643D-6886-5F44DC99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cs-CZ" sz="3200" dirty="0"/>
              <a:t>Certifikát elektronického podpisu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3FED1F-FAD2-4DA5-972A-693E929F7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cs-CZ" sz="2000" dirty="0"/>
              <a:t>Certifikát elektronického podpisu je digitální dokument, který slouží k ověření identity osoby nebo organizace při vytváření elektronického podpisu. Tento certifikát obsahuje informace o vlastníkovi, jako je jméno, e-mailová adresa a platnost certifikátu.</a:t>
            </a:r>
          </a:p>
        </p:txBody>
      </p:sp>
      <p:pic>
        <p:nvPicPr>
          <p:cNvPr id="2050" name="Picture 2" descr="Co je elektronický podpis a k čemu slouží [INFO] | Companies.cz">
            <a:extLst>
              <a:ext uri="{FF2B5EF4-FFF2-40B4-BE49-F238E27FC236}">
                <a16:creationId xmlns:a16="http://schemas.microsoft.com/office/drawing/2014/main" id="{8E64EC1E-135F-1774-199B-84F09F74B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334628"/>
            <a:ext cx="6389346" cy="419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056" name="Rectangle 205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7" name="Rectangle 205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3808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Freeform: Shape 410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85B3B5-1C44-69D9-6D71-5E4B1643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/>
              <a:t>Typy certifikátů pro elektronický podpis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331D58-7BDF-C6D9-D37F-871B44FD1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>
                <a:effectLst/>
              </a:rPr>
              <a:t>Certifikát pro fyzickou osobu</a:t>
            </a:r>
            <a:endParaRPr lang="cs-CZ" sz="2000" b="1"/>
          </a:p>
          <a:p>
            <a:pPr>
              <a:buFont typeface="Arial" panose="020B0604020202020204" pitchFamily="34" charset="0"/>
              <a:buChar char="•"/>
            </a:pPr>
            <a:r>
              <a:rPr lang="cs-CZ" sz="2000">
                <a:effectLst/>
              </a:rPr>
              <a:t>Tento certifikát je určen pro jednotlivce, kteří chtějí podepisovat dokumenty elektronicky.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>
                <a:effectLst/>
              </a:rPr>
              <a:t>Poskytuje právní jistotu a důvěryhodnost elektronického podpisu.</a:t>
            </a:r>
          </a:p>
        </p:txBody>
      </p:sp>
      <p:pic>
        <p:nvPicPr>
          <p:cNvPr id="4098" name="Picture 2" descr="Druhy elektronických podpisů | Signi">
            <a:extLst>
              <a:ext uri="{FF2B5EF4-FFF2-40B4-BE49-F238E27FC236}">
                <a16:creationId xmlns:a16="http://schemas.microsoft.com/office/drawing/2014/main" id="{D8A4EF3D-835A-693E-DC62-75ECF949F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537707"/>
            <a:ext cx="4788505" cy="305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Freeform: Shape 410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674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606E89B-EDCA-32F2-34D8-8FCF5F5CA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dirty="0"/>
              <a:t>Typy certifikátů pro elektronický podpis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E22F2A-B651-9306-ABD6-E1A0B8273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>
                <a:effectLst/>
              </a:rPr>
              <a:t>Certifikát pro právnickou osobu</a:t>
            </a:r>
            <a:endParaRPr lang="cs-CZ" sz="2000" b="1"/>
          </a:p>
          <a:p>
            <a:pPr>
              <a:buFont typeface="Arial" panose="020B0604020202020204" pitchFamily="34" charset="0"/>
              <a:buChar char="•"/>
            </a:pPr>
            <a:r>
              <a:rPr lang="cs-CZ" sz="2000">
                <a:effectLst/>
              </a:rPr>
              <a:t>Tento certifikát je určen pro firmy a organizace, které chtějí podepisovat dokumenty elektronicky.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>
                <a:effectLst/>
              </a:rPr>
              <a:t>Poskytuje právní jistotu a důvěryhodnost elektronického podpisu.</a:t>
            </a:r>
          </a:p>
        </p:txBody>
      </p:sp>
      <p:pic>
        <p:nvPicPr>
          <p:cNvPr id="5122" name="Picture 2" descr="Druhy elektronických podpisů | Signi">
            <a:extLst>
              <a:ext uri="{FF2B5EF4-FFF2-40B4-BE49-F238E27FC236}">
                <a16:creationId xmlns:a16="http://schemas.microsoft.com/office/drawing/2014/main" id="{11AAE776-0D38-B82C-D193-2B4BA74CE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537707"/>
            <a:ext cx="4788505" cy="305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06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2C6109-5011-A458-E118-C570BE12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 získání certifikátu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5099D2-761E-55A6-CF5B-FC25ADAF4484}"/>
              </a:ext>
            </a:extLst>
          </p:cNvPr>
          <p:cNvSpPr>
            <a:spLocks/>
          </p:cNvSpPr>
          <p:nvPr/>
        </p:nvSpPr>
        <p:spPr>
          <a:xfrm>
            <a:off x="1398903" y="1828800"/>
            <a:ext cx="4629022" cy="3887301"/>
          </a:xfrm>
          <a:prstGeom prst="rect">
            <a:avLst/>
          </a:prstGeom>
        </p:spPr>
        <p:txBody>
          <a:bodyPr/>
          <a:lstStyle/>
          <a:p>
            <a:pPr defTabSz="813816">
              <a:spcAft>
                <a:spcPts val="600"/>
              </a:spcAft>
            </a:pPr>
            <a:r>
              <a:rPr lang="cs-CZ" sz="1602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Vyplnění žádosti</a:t>
            </a:r>
          </a:p>
          <a:p>
            <a:pPr defTabSz="813816">
              <a:spcAft>
                <a:spcPts val="600"/>
              </a:spcAft>
            </a:pPr>
            <a:r>
              <a:rPr lang="cs-CZ" sz="160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Vyplňte žádost o certifikát a přiložte potřebné dokumenty, jako je například kopie občanského průkazu nebo živnostenského listu.</a:t>
            </a:r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FD7AB52-8986-26ED-A964-9C5797403B5B}"/>
              </a:ext>
            </a:extLst>
          </p:cNvPr>
          <p:cNvSpPr>
            <a:spLocks/>
          </p:cNvSpPr>
          <p:nvPr/>
        </p:nvSpPr>
        <p:spPr>
          <a:xfrm>
            <a:off x="6164075" y="1828800"/>
            <a:ext cx="4629022" cy="3887301"/>
          </a:xfrm>
          <a:prstGeom prst="rect">
            <a:avLst/>
          </a:prstGeom>
        </p:spPr>
        <p:txBody>
          <a:bodyPr/>
          <a:lstStyle/>
          <a:p>
            <a:pPr defTabSz="813816">
              <a:spcAft>
                <a:spcPts val="600"/>
              </a:spcAft>
            </a:pPr>
            <a:r>
              <a:rPr lang="cs-CZ" sz="1602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Ověření totožnosti</a:t>
            </a:r>
          </a:p>
          <a:p>
            <a:pPr defTabSz="813816">
              <a:spcAft>
                <a:spcPts val="600"/>
              </a:spcAft>
            </a:pPr>
            <a:r>
              <a:rPr lang="cs-CZ" sz="160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Proveďte ověření totožnosti u autorizovaného zástupce certifikační autority. Obvykle se jedná o osobní návštěvu na pobočce.</a:t>
            </a:r>
            <a:endParaRPr lang="cs-CZ"/>
          </a:p>
        </p:txBody>
      </p:sp>
      <p:pic>
        <p:nvPicPr>
          <p:cNvPr id="7" name="Picture 2" descr="Certifikační autorita v praxi - ppt stáhnout">
            <a:extLst>
              <a:ext uri="{FF2B5EF4-FFF2-40B4-BE49-F238E27FC236}">
                <a16:creationId xmlns:a16="http://schemas.microsoft.com/office/drawing/2014/main" id="{658B2AD2-B5B0-FCAA-450D-D43E71059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689" y="3648173"/>
            <a:ext cx="3377561" cy="253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896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9" name="Rectangle 717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1E8F70C-1C45-D77B-C017-96AA83DB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 získání certifikátu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13AFF3-78ED-444D-9228-77E5E711FC23}"/>
              </a:ext>
            </a:extLst>
          </p:cNvPr>
          <p:cNvSpPr>
            <a:spLocks/>
          </p:cNvSpPr>
          <p:nvPr/>
        </p:nvSpPr>
        <p:spPr>
          <a:xfrm>
            <a:off x="1398904" y="1828800"/>
            <a:ext cx="4629022" cy="3887301"/>
          </a:xfrm>
          <a:prstGeom prst="rect">
            <a:avLst/>
          </a:prstGeom>
        </p:spPr>
        <p:txBody>
          <a:bodyPr/>
          <a:lstStyle/>
          <a:p>
            <a:pPr defTabSz="813816">
              <a:spcAft>
                <a:spcPts val="600"/>
              </a:spcAft>
            </a:pPr>
            <a:r>
              <a:rPr lang="cs-CZ" sz="1602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Platba</a:t>
            </a:r>
          </a:p>
          <a:p>
            <a:pPr defTabSz="813816">
              <a:spcAft>
                <a:spcPts val="600"/>
              </a:spcAft>
            </a:pPr>
            <a:r>
              <a:rPr lang="cs-CZ" sz="160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Splatíte poplatek za vydání certifikátu. Cena se liší podle typu certifikátu a délky platnosti.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862E5A5-2FCF-7ED1-76EE-291C88CC5D9B}"/>
              </a:ext>
            </a:extLst>
          </p:cNvPr>
          <p:cNvSpPr>
            <a:spLocks/>
          </p:cNvSpPr>
          <p:nvPr/>
        </p:nvSpPr>
        <p:spPr>
          <a:xfrm>
            <a:off x="6164074" y="1828800"/>
            <a:ext cx="4629022" cy="3887301"/>
          </a:xfrm>
          <a:prstGeom prst="rect">
            <a:avLst/>
          </a:prstGeom>
        </p:spPr>
        <p:txBody>
          <a:bodyPr/>
          <a:lstStyle/>
          <a:p>
            <a:pPr defTabSz="813816">
              <a:spcAft>
                <a:spcPts val="600"/>
              </a:spcAft>
            </a:pPr>
            <a:r>
              <a:rPr lang="cs-CZ" sz="1602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Vydání certifikátu</a:t>
            </a:r>
          </a:p>
          <a:p>
            <a:pPr defTabSz="813816">
              <a:spcAft>
                <a:spcPts val="600"/>
              </a:spcAft>
            </a:pPr>
            <a:r>
              <a:rPr lang="cs-CZ" sz="160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 úspěšném ověření a úhradě poplatku obdržíte certifikát ve formě elektronického souboru nebo na </a:t>
            </a:r>
            <a:r>
              <a:rPr lang="cs-CZ" sz="1602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</a:t>
            </a:r>
            <a:r>
              <a:rPr lang="cs-CZ" sz="160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kartě.</a:t>
            </a:r>
            <a:endParaRPr lang="cs-CZ"/>
          </a:p>
        </p:txBody>
      </p:sp>
      <p:pic>
        <p:nvPicPr>
          <p:cNvPr id="7170" name="Picture 2" descr="Certifikační autorita v praxi - ppt stáhnout">
            <a:extLst>
              <a:ext uri="{FF2B5EF4-FFF2-40B4-BE49-F238E27FC236}">
                <a16:creationId xmlns:a16="http://schemas.microsoft.com/office/drawing/2014/main" id="{70EEA6D1-FD1B-33A8-5B64-FC060CDE8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690" y="3410015"/>
            <a:ext cx="3695106" cy="277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264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8207" name="Rectangle 820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D2B3A10-C73E-3756-1DDE-E8AD715D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cs-CZ" sz="4000"/>
              <a:t>Bezpečnost certifikátů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D4704E-AF5F-A005-39BB-BB057331C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cs-CZ" sz="2000" b="1">
                <a:effectLst/>
              </a:rPr>
              <a:t>Důvěryhodnost</a:t>
            </a:r>
            <a:endParaRPr lang="cs-CZ" sz="2000" b="1"/>
          </a:p>
          <a:p>
            <a:r>
              <a:rPr lang="cs-CZ" sz="2000">
                <a:effectLst/>
              </a:rPr>
              <a:t>Naše certifikáty jsou zabezpečeny proti neoprávněnému použití a jsou důvěryhodným prostředkem pro elektronický podpis.</a:t>
            </a:r>
            <a:endParaRPr lang="cs-CZ" sz="2000"/>
          </a:p>
        </p:txBody>
      </p:sp>
      <p:pic>
        <p:nvPicPr>
          <p:cNvPr id="8201" name="Picture 8200" descr="Visací zámek na základní desce počítače">
            <a:extLst>
              <a:ext uri="{FF2B5EF4-FFF2-40B4-BE49-F238E27FC236}">
                <a16:creationId xmlns:a16="http://schemas.microsoft.com/office/drawing/2014/main" id="{97AB215B-FD31-0978-3348-9D17C95C9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23" r="31976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13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9231" name="Rectangle 923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9C04AE-365B-E9A6-E946-6260FA93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cs-CZ" sz="4000"/>
              <a:t>Bezpečnost certifikátů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86CE70-742F-48F9-9A49-E9B90626B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cs-CZ" sz="2000" b="1">
                <a:effectLst/>
              </a:rPr>
              <a:t>Šifrování dat</a:t>
            </a:r>
            <a:endParaRPr lang="cs-CZ" sz="2000" b="1"/>
          </a:p>
          <a:p>
            <a:r>
              <a:rPr lang="cs-CZ" sz="2000">
                <a:effectLst/>
              </a:rPr>
              <a:t>Certifikáty zajišťují šifrování dat při přenosu, což chrání vaše citlivé informace před neoprávněným přístupem.</a:t>
            </a:r>
            <a:endParaRPr lang="cs-CZ" sz="2000"/>
          </a:p>
        </p:txBody>
      </p:sp>
      <p:pic>
        <p:nvPicPr>
          <p:cNvPr id="9225" name="Picture 9224" descr="Průhledná Padlock">
            <a:extLst>
              <a:ext uri="{FF2B5EF4-FFF2-40B4-BE49-F238E27FC236}">
                <a16:creationId xmlns:a16="http://schemas.microsoft.com/office/drawing/2014/main" id="{AA923E84-ECC6-71EA-DCA8-7361452F0F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30" r="33784" b="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63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E427E9C-92B6-1C41-26D1-7DB1F3E5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cs-CZ" sz="4000"/>
              <a:t>Revokace certifikátu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AB5843-42DC-ADB1-7B3E-859AB37DC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cs-CZ" sz="2000" b="1" dirty="0">
                <a:effectLst/>
              </a:rPr>
              <a:t>Co je revokace certifikátu?</a:t>
            </a:r>
            <a:endParaRPr lang="cs-CZ" sz="2000" b="1" dirty="0"/>
          </a:p>
          <a:p>
            <a:r>
              <a:rPr lang="cs-CZ" sz="2000" dirty="0">
                <a:effectLst/>
              </a:rPr>
              <a:t>Revokace certifikátu je proces, kterým se zruší platnost certifikátu, čímž se zamezí jeho dalšímu používání.</a:t>
            </a:r>
          </a:p>
          <a:p>
            <a:r>
              <a:rPr lang="cs-CZ" sz="2000" dirty="0">
                <a:effectLst/>
              </a:rPr>
              <a:t>Revokace může být provedena z různých důvodů, například ztrátou důvěryhodnosti certifikátu, kompromitací soukromého klíče nebo změnou vlastnictví certifikátu.</a:t>
            </a:r>
            <a:endParaRPr lang="cs-CZ" sz="2000" dirty="0"/>
          </a:p>
        </p:txBody>
      </p:sp>
      <p:pic>
        <p:nvPicPr>
          <p:cNvPr id="5" name="Picture 4" descr="Detailní záběr klávesnice kalkulačky">
            <a:extLst>
              <a:ext uri="{FF2B5EF4-FFF2-40B4-BE49-F238E27FC236}">
                <a16:creationId xmlns:a16="http://schemas.microsoft.com/office/drawing/2014/main" id="{E2F9F18B-5567-F08F-92A6-7BAAC9F22D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05" r="23840" b="-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49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Freeform: Shape 1024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498C07D-9DD0-995E-9372-05E576BE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dirty="0"/>
              <a:t>Revokace certifikátu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795D18-8F0C-776F-92F6-54146BD05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>
                <a:effectLst/>
              </a:rPr>
              <a:t>Proces revokace</a:t>
            </a:r>
            <a:endParaRPr lang="cs-CZ" sz="2000" b="1"/>
          </a:p>
          <a:p>
            <a:r>
              <a:rPr lang="cs-CZ" sz="2000">
                <a:effectLst/>
              </a:rPr>
              <a:t>Revokace certifikátu obvykle probíhá prostřednictvím certifikační autority (CA).</a:t>
            </a:r>
          </a:p>
          <a:p>
            <a:r>
              <a:rPr lang="cs-CZ" sz="2000">
                <a:effectLst/>
              </a:rPr>
              <a:t>Vlastník certifikátu nebo jeho autorizovaný správce požádá CA o revokaci certifikátu.</a:t>
            </a:r>
          </a:p>
          <a:p>
            <a:r>
              <a:rPr lang="cs-CZ" sz="2000">
                <a:effectLst/>
              </a:rPr>
              <a:t>CA poté provede ověření žádosti a provede revokaci certifikátu.</a:t>
            </a:r>
          </a:p>
          <a:p>
            <a:r>
              <a:rPr lang="cs-CZ" sz="2000">
                <a:effectLst/>
              </a:rPr>
              <a:t>Revokace je zpravidla zaznamenána v seznamu zrušených certifikátů (CRL) nebo v certifikačním revokačním seznamu (OCSP).</a:t>
            </a:r>
            <a:endParaRPr lang="cs-CZ" sz="2000"/>
          </a:p>
        </p:txBody>
      </p:sp>
      <p:pic>
        <p:nvPicPr>
          <p:cNvPr id="10242" name="Picture 2" descr="Česká pošta a Software602 představuje eIDAS Solutions pro nejlepší služby  elektronického podpisu na trhu | e15.cz">
            <a:extLst>
              <a:ext uri="{FF2B5EF4-FFF2-40B4-BE49-F238E27FC236}">
                <a16:creationId xmlns:a16="http://schemas.microsoft.com/office/drawing/2014/main" id="{F4096A3B-FD1C-F993-87D2-C8C4F2F89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626320"/>
            <a:ext cx="4788505" cy="287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1" name="Freeform: Shape 1025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61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3" name="Freeform: Shape 1127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F71797-C38A-C89C-5DC8-D4B9CE04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dirty="0"/>
              <a:t>Použití elektronického podpisu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2C28E9-4E0B-98B6-C57A-47297177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>
                <a:effectLst/>
              </a:rPr>
              <a:t>Elektronický podpis je digitální způsob, jak potvrdit a ověřit autenticitu elektronického dokumentu.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>
                <a:effectLst/>
              </a:rPr>
              <a:t>Používá se k nahrazení tradičního podpisu a zajišťuje, že dokument nebyl pozměněn po jeho podpisu.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>
                <a:effectLst/>
              </a:rPr>
              <a:t>Elektronický podpis je šifrován a obsahuje digitální certifikát, který slouží k ověření totožnosti osoby, která dokument podepsala.</a:t>
            </a:r>
          </a:p>
        </p:txBody>
      </p:sp>
      <p:pic>
        <p:nvPicPr>
          <p:cNvPr id="11266" name="Picture 2" descr="Pět let jednotného evropského elektronického podpisu v ČR | eGOVERNMENT  NETWORK NEWS">
            <a:extLst>
              <a:ext uri="{FF2B5EF4-FFF2-40B4-BE49-F238E27FC236}">
                <a16:creationId xmlns:a16="http://schemas.microsoft.com/office/drawing/2014/main" id="{730452EA-78B1-92C8-4A22-DE6E0B33D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692424"/>
            <a:ext cx="4788505" cy="27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5" name="Freeform: Shape 1127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1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Freeform: Shape 1229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0042C9D-DE7D-2239-89F7-D0549852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dirty="0"/>
              <a:t>Standardy a formáty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8576F8-1929-1A27-E1B1-0364536D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>
                <a:effectLst/>
              </a:rPr>
              <a:t>X.509</a:t>
            </a:r>
            <a:endParaRPr lang="cs-CZ" sz="2000" b="1"/>
          </a:p>
          <a:p>
            <a:r>
              <a:rPr lang="cs-CZ" sz="2000">
                <a:effectLst/>
              </a:rPr>
              <a:t>Standard X.509 je nejpoužívanějším standardem pro certifikáty pro elektronický podpis.</a:t>
            </a:r>
          </a:p>
          <a:p>
            <a:r>
              <a:rPr lang="cs-CZ" sz="2000">
                <a:effectLst/>
              </a:rPr>
              <a:t>Definuje formát certifikátu a pravidla pro jeho vydávání a ověřování.</a:t>
            </a:r>
            <a:endParaRPr lang="cs-CZ" sz="2000"/>
          </a:p>
        </p:txBody>
      </p:sp>
      <p:pic>
        <p:nvPicPr>
          <p:cNvPr id="12290" name="Picture 2" descr="Jak na digitální kontinuitu (12): Proč mají elektronické podpisy různé  profily, formáty a úrovně? - Lupa.cz">
            <a:extLst>
              <a:ext uri="{FF2B5EF4-FFF2-40B4-BE49-F238E27FC236}">
                <a16:creationId xmlns:a16="http://schemas.microsoft.com/office/drawing/2014/main" id="{AAB065AA-462E-C571-D055-A9C14FD8D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722090"/>
            <a:ext cx="4788505" cy="268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9" name="Freeform: Shape 1229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58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1" name="Freeform: Shape 1332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960797C-1483-A406-638F-302D689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dirty="0"/>
              <a:t>Standardy a formáty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FB7A0E-0E68-EC31-6CCB-8EAB4B02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>
                <a:effectLst/>
              </a:rPr>
              <a:t>PKCS#12</a:t>
            </a:r>
            <a:endParaRPr lang="cs-CZ" sz="2000" b="1"/>
          </a:p>
          <a:p>
            <a:r>
              <a:rPr lang="cs-CZ" sz="2000">
                <a:effectLst/>
              </a:rPr>
              <a:t>Formát PKCS#12 je používán pro ukládání a přenášení certifikátů a soukromých klíčů.</a:t>
            </a:r>
          </a:p>
          <a:p>
            <a:r>
              <a:rPr lang="cs-CZ" sz="2000">
                <a:effectLst/>
              </a:rPr>
              <a:t>Je často používán pro vytváření digitálního podpisu a šifrování dat.</a:t>
            </a:r>
            <a:endParaRPr lang="cs-CZ" sz="2000"/>
          </a:p>
        </p:txBody>
      </p:sp>
      <p:pic>
        <p:nvPicPr>
          <p:cNvPr id="13314" name="Picture 2" descr="Bezpečnost v praxi - Elektronický podpis">
            <a:extLst>
              <a:ext uri="{FF2B5EF4-FFF2-40B4-BE49-F238E27FC236}">
                <a16:creationId xmlns:a16="http://schemas.microsoft.com/office/drawing/2014/main" id="{80AD6EEB-1A64-1917-7E5D-CF565D83D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469605"/>
            <a:ext cx="4788505" cy="318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3" name="Freeform: Shape 1332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89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BB31DD-EB00-A931-4946-FA8DF3A3B4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15" b="126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3C5C33E-6002-9FCD-8D6F-F8812549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Děkuji za pozornost!</a:t>
            </a:r>
          </a:p>
        </p:txBody>
      </p:sp>
    </p:spTree>
    <p:extLst>
      <p:ext uri="{BB962C8B-B14F-4D97-AF65-F5344CB8AC3E}">
        <p14:creationId xmlns:p14="http://schemas.microsoft.com/office/powerpoint/2010/main" val="70675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627</Words>
  <Application>Microsoft Office PowerPoint</Application>
  <PresentationFormat>Širokoúhlá obrazovka</PresentationFormat>
  <Paragraphs>59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Motiv Office</vt:lpstr>
      <vt:lpstr>Certifikáty pro elektronický podpis</vt:lpstr>
      <vt:lpstr>Definice elektronického podpisu</vt:lpstr>
      <vt:lpstr>Certifikát elektronického podpisu</vt:lpstr>
      <vt:lpstr>Typy certifikátů pro elektronický podpis</vt:lpstr>
      <vt:lpstr>Typy certifikátů pro elektronický podpis</vt:lpstr>
      <vt:lpstr>Proces získání certifikátu</vt:lpstr>
      <vt:lpstr>Proces získání certifikátu</vt:lpstr>
      <vt:lpstr>Bezpečnost certifikátů</vt:lpstr>
      <vt:lpstr>Bezpečnost certifikátů</vt:lpstr>
      <vt:lpstr>Revokace certifikátu</vt:lpstr>
      <vt:lpstr>Revokace certifikátu</vt:lpstr>
      <vt:lpstr>Použití elektronického podpisu</vt:lpstr>
      <vt:lpstr>Standardy a formáty</vt:lpstr>
      <vt:lpstr>Standardy a formáty</vt:lpstr>
      <vt:lpstr>Děkuji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