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ří VÁCLAVÍK" userId="S::jiri.vaclavik.2@teleinformatika.eu::57f21ca3-eb08-4cbd-8001-b7d264336364" providerId="AD" clId="Web-{E79D0844-E936-E379-DF04-F5B7F198BF5D}"/>
    <pc:docChg chg="mod">
      <pc:chgData name="Jiří VÁCLAVÍK" userId="S::jiri.vaclavik.2@teleinformatika.eu::57f21ca3-eb08-4cbd-8001-b7d264336364" providerId="AD" clId="Web-{E79D0844-E936-E379-DF04-F5B7F198BF5D}" dt="2025-03-17T13:26:28.886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22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0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71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8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5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7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84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19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9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17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74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Slide Background">
            <a:extLst>
              <a:ext uri="{FF2B5EF4-FFF2-40B4-BE49-F238E27FC236}">
                <a16:creationId xmlns:a16="http://schemas.microsoft.com/office/drawing/2014/main" id="{922E0291-99C8-40F9-ADAB-32589A3B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Zelený zámek ve 3D elektronickém systému">
            <a:extLst>
              <a:ext uri="{FF2B5EF4-FFF2-40B4-BE49-F238E27FC236}">
                <a16:creationId xmlns:a16="http://schemas.microsoft.com/office/drawing/2014/main" id="{910FCEA6-B5C8-170E-B30B-87B86AF929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-1" b="283"/>
          <a:stretch/>
        </p:blipFill>
        <p:spPr>
          <a:xfrm>
            <a:off x="20" y="2"/>
            <a:ext cx="12191979" cy="685799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5830D2-F2AE-4DD8-B586-89B097791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BD91BA2-BAA0-31E0-E029-E118926F9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9" y="871314"/>
            <a:ext cx="4755046" cy="2508616"/>
          </a:xfrm>
        </p:spPr>
        <p:txBody>
          <a:bodyPr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Zabezpečení koncových stanic</a:t>
            </a: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A8F735B-89DD-459E-BB4B-B9E1603DE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2375" y="0"/>
            <a:ext cx="1051560" cy="6858000"/>
          </a:xfrm>
          <a:prstGeom prst="rect">
            <a:avLst/>
          </a:prstGeom>
          <a:ln>
            <a:noFill/>
          </a:ln>
          <a:effectLst>
            <a:outerShdw blurRad="190500" dist="76200" dir="570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FF45CC-4046-4B20-8A54-5D613033F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47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24B05B4-3705-6950-CA07-79C38E68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108993"/>
            <a:ext cx="4230482" cy="2010284"/>
          </a:xfrm>
        </p:spPr>
        <p:txBody>
          <a:bodyPr anchor="b">
            <a:normAutofit/>
          </a:bodyPr>
          <a:lstStyle/>
          <a:p>
            <a:r>
              <a:rPr lang="cs-CZ" dirty="0"/>
              <a:t>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9F34DB-9DDA-ED44-449C-CFE2ADD0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3566161"/>
            <a:ext cx="4230482" cy="2551176"/>
          </a:xfrm>
        </p:spPr>
        <p:txBody>
          <a:bodyPr anchor="ctr">
            <a:normAutofit/>
          </a:bodyPr>
          <a:lstStyle/>
          <a:p>
            <a:r>
              <a:rPr lang="cs-CZ" sz="2000"/>
              <a:t>Téma dnešní prezentace je zabezpečení koncových stanic v oblasti kybernetické bezpečnosti.</a:t>
            </a:r>
          </a:p>
          <a:p>
            <a:r>
              <a:rPr lang="cs-CZ" sz="2000"/>
              <a:t>Koncové stanice jsou klíčovými body v sítí a jejich správně zabezpečení je nezbytné pro ochranu celého systému.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32004" y="0"/>
            <a:ext cx="6559995" cy="6858000"/>
          </a:xfrm>
          <a:prstGeom prst="rect">
            <a:avLst/>
          </a:prstGeom>
          <a:ln>
            <a:noFill/>
          </a:ln>
          <a:effectLst>
            <a:outerShdw blurRad="381000" dist="317500" dir="852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počítač, interiér, snímek obrazovky, osoba&#10;&#10;Popis byl vytvořen automaticky">
            <a:extLst>
              <a:ext uri="{FF2B5EF4-FFF2-40B4-BE49-F238E27FC236}">
                <a16:creationId xmlns:a16="http://schemas.microsoft.com/office/drawing/2014/main" id="{C4C750B6-B4E1-0501-E877-D193C0374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003" y="0"/>
            <a:ext cx="6559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3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0E4DE-F577-85D0-0179-7E591D6851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05" r="46849"/>
          <a:stretch/>
        </p:blipFill>
        <p:spPr>
          <a:xfrm>
            <a:off x="20" y="-2"/>
            <a:ext cx="484584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4750" y="-2"/>
            <a:ext cx="7347249" cy="3239337"/>
          </a:xfrm>
          <a:prstGeom prst="rect">
            <a:avLst/>
          </a:prstGeom>
          <a:ln>
            <a:noFill/>
          </a:ln>
          <a:effectLst>
            <a:outerShdw blurRad="139700" dist="88900" dir="5460000" sx="97000" sy="97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E4EA8B9-1EAB-0FDC-06EF-0912F128F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52" y="858982"/>
            <a:ext cx="4369757" cy="2129878"/>
          </a:xfrm>
        </p:spPr>
        <p:txBody>
          <a:bodyPr>
            <a:normAutofit/>
          </a:bodyPr>
          <a:lstStyle/>
          <a:p>
            <a:r>
              <a:rPr lang="cs-CZ" dirty="0"/>
              <a:t>Co jsou to koncové stanice?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D146AF-4EC4-1A54-09A5-C292DE1A2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552" y="3467499"/>
            <a:ext cx="5012796" cy="25444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500"/>
              <a:t>Koncové stanice jsou zařízení, která připojujeme do sítě, jako jsou počítače, notebooky, chytré telefony, tablety atd…</a:t>
            </a:r>
          </a:p>
          <a:p>
            <a:pPr>
              <a:lnSpc>
                <a:spcPct val="100000"/>
              </a:lnSpc>
            </a:pPr>
            <a:r>
              <a:rPr lang="cs-CZ" sz="1500"/>
              <a:t>Jsou to vstupní body, kterými uživatelé přistupují k síti a provádějí různé úkony.</a:t>
            </a:r>
          </a:p>
          <a:p>
            <a:pPr>
              <a:lnSpc>
                <a:spcPct val="100000"/>
              </a:lnSpc>
            </a:pPr>
            <a:r>
              <a:rPr lang="cs-CZ" sz="1500" b="0" i="0">
                <a:effectLst/>
                <a:latin typeface="Söhne"/>
              </a:rPr>
              <a:t>Z hlediska kybernetické bezpečnosti představují koncové stanice zranitelné body, které mohou být cílem různých druhů útoků, jako jsou malware, </a:t>
            </a:r>
            <a:r>
              <a:rPr lang="cs-CZ" sz="1500" b="0" i="0" err="1">
                <a:effectLst/>
                <a:latin typeface="Söhne"/>
              </a:rPr>
              <a:t>phishing</a:t>
            </a:r>
            <a:r>
              <a:rPr lang="cs-CZ" sz="1500" b="0" i="0">
                <a:effectLst/>
                <a:latin typeface="Söhne"/>
              </a:rPr>
              <a:t>, ransomware a další.</a:t>
            </a:r>
            <a:endParaRPr lang="cs-CZ" sz="15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305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1102E982-8BE3-4FBA-ADFD-82E7D10B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nt">
            <a:extLst>
              <a:ext uri="{FF2B5EF4-FFF2-40B4-BE49-F238E27FC236}">
                <a16:creationId xmlns:a16="http://schemas.microsoft.com/office/drawing/2014/main" id="{7F843252-B159-4DA1-BE13-6EC3EF21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3390300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0F8BF6B-2D23-0D14-4B01-A6B477E1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4697303" cy="2185826"/>
          </a:xfrm>
        </p:spPr>
        <p:txBody>
          <a:bodyPr>
            <a:normAutofit/>
          </a:bodyPr>
          <a:lstStyle/>
          <a:p>
            <a:r>
              <a:rPr lang="cs-CZ" dirty="0"/>
              <a:t>Hrozby pro koncové stanice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5F8A6F67-590E-CAB8-E573-AAB4AC05B2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4" b="253"/>
          <a:stretch/>
        </p:blipFill>
        <p:spPr>
          <a:xfrm>
            <a:off x="6096010" y="10"/>
            <a:ext cx="6096003" cy="3398589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6185AC-28A4-7441-66BC-8EA7F2C8F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807" y="3814549"/>
            <a:ext cx="4575676" cy="2425530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700"/>
              <a:t>Koncové stanice jsou často cílem útoku kybernetických hrozeb.</a:t>
            </a:r>
          </a:p>
          <a:p>
            <a:pPr>
              <a:lnSpc>
                <a:spcPct val="100000"/>
              </a:lnSpc>
            </a:pPr>
            <a:r>
              <a:rPr lang="cs-CZ" sz="1700"/>
              <a:t>Hrozby zahrnují malware, ransomware, </a:t>
            </a:r>
            <a:r>
              <a:rPr lang="cs-CZ" sz="1700" err="1"/>
              <a:t>phishing</a:t>
            </a:r>
            <a:r>
              <a:rPr lang="cs-CZ" sz="1700"/>
              <a:t>, útoky pomocí sociálního inženýrství a mnoho dalších.</a:t>
            </a:r>
          </a:p>
          <a:p>
            <a:pPr>
              <a:lnSpc>
                <a:spcPct val="100000"/>
              </a:lnSpc>
            </a:pPr>
            <a:r>
              <a:rPr lang="cs-CZ" sz="1700" b="0" i="0">
                <a:effectLst/>
                <a:latin typeface="Söhne"/>
              </a:rPr>
              <a:t>Únik dat: Neopatrné zacházení s citlivými informacemi může vést k jejich úniku až na internet.</a:t>
            </a:r>
            <a:endParaRPr lang="cs-CZ" sz="1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kov, zámek&#10;&#10;Popis byl vytvořen automaticky">
            <a:extLst>
              <a:ext uri="{FF2B5EF4-FFF2-40B4-BE49-F238E27FC236}">
                <a16:creationId xmlns:a16="http://schemas.microsoft.com/office/drawing/2014/main" id="{8384FD57-AC7A-CDA7-0728-A59D8493E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8"/>
            <a:ext cx="6095985" cy="342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1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3A2152B-F8B3-F70C-BB3E-90B98634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582" y="858983"/>
            <a:ext cx="3968783" cy="2021378"/>
          </a:xfrm>
        </p:spPr>
        <p:txBody>
          <a:bodyPr>
            <a:normAutofit/>
          </a:bodyPr>
          <a:lstStyle/>
          <a:p>
            <a:r>
              <a:rPr lang="cs-CZ" sz="4800"/>
              <a:t>Důležitost zabezpečení</a:t>
            </a:r>
          </a:p>
        </p:txBody>
      </p:sp>
      <p:pic>
        <p:nvPicPr>
          <p:cNvPr id="5" name="Picture 4" descr="Visací zámek na základní desce počítače">
            <a:extLst>
              <a:ext uri="{FF2B5EF4-FFF2-40B4-BE49-F238E27FC236}">
                <a16:creationId xmlns:a16="http://schemas.microsoft.com/office/drawing/2014/main" id="{4AD9C59E-4A2A-977F-FC84-F210D44662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99" r="30652" b="-2"/>
          <a:stretch/>
        </p:blipFill>
        <p:spPr>
          <a:xfrm>
            <a:off x="-1" y="-2"/>
            <a:ext cx="6374929" cy="6858002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841DDD-F091-E5DB-05E7-73CAE235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582" y="3282696"/>
            <a:ext cx="3968783" cy="2957383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cs-CZ" dirty="0"/>
              <a:t>Bezpečnost koncových stanic je klíčová pro ochranu dat, soukromí uživatelů a integrity sítě.</a:t>
            </a:r>
            <a:endParaRPr lang="cs-CZ"/>
          </a:p>
          <a:p>
            <a:pPr>
              <a:lnSpc>
                <a:spcPct val="100000"/>
              </a:lnSpc>
            </a:pPr>
            <a:r>
              <a:rPr lang="cs-CZ" dirty="0"/>
              <a:t>Nehájení koncových stanic může vést k úniku citlivých informací, narušení sítě a vydírání pomocí ransomware.</a:t>
            </a:r>
            <a:endParaRPr lang="cs-CZ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4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07657A-F023-A1B5-AE56-392DDEF2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Zabezpečení pomocí antivirového softwaru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C98A4D-33B1-BEC5-879A-A572E0421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Antivirus je základním prvkem zabezpečení koncových stanic.</a:t>
            </a:r>
          </a:p>
          <a:p>
            <a:r>
              <a:rPr lang="cs-CZ" dirty="0"/>
              <a:t>Detekuje a blokuje škodlivý software, včetně virů, trojských koní a spywaru.</a:t>
            </a:r>
          </a:p>
        </p:txBody>
      </p:sp>
      <p:pic>
        <p:nvPicPr>
          <p:cNvPr id="5" name="Obrázek 4" descr="Obsah obrázku symbol, Grafika, logo, klipart&#10;&#10;Popis byl vytvořen automaticky">
            <a:extLst>
              <a:ext uri="{FF2B5EF4-FFF2-40B4-BE49-F238E27FC236}">
                <a16:creationId xmlns:a16="http://schemas.microsoft.com/office/drawing/2014/main" id="{BB1A3DF8-73BF-09D9-9D46-FCD6FC424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202" y="4130704"/>
            <a:ext cx="2266950" cy="2019300"/>
          </a:xfrm>
          <a:prstGeom prst="rect">
            <a:avLst/>
          </a:prstGeom>
        </p:spPr>
      </p:pic>
      <p:pic>
        <p:nvPicPr>
          <p:cNvPr id="7" name="Obrázek 6" descr="Obsah obrázku Barevnost, grafický design, Grafika, design&#10;&#10;Popis byl vytvořen automaticky">
            <a:extLst>
              <a:ext uri="{FF2B5EF4-FFF2-40B4-BE49-F238E27FC236}">
                <a16:creationId xmlns:a16="http://schemas.microsoft.com/office/drawing/2014/main" id="{57061514-DEEA-9031-F205-7BC9B903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825" y="4068791"/>
            <a:ext cx="2143125" cy="2143125"/>
          </a:xfrm>
          <a:prstGeom prst="rect">
            <a:avLst/>
          </a:prstGeom>
        </p:spPr>
      </p:pic>
      <p:pic>
        <p:nvPicPr>
          <p:cNvPr id="9" name="Obrázek 8" descr="Obsah obrázku klipart, Grafika, kreativita, design&#10;&#10;Popis byl vytvořen automaticky">
            <a:extLst>
              <a:ext uri="{FF2B5EF4-FFF2-40B4-BE49-F238E27FC236}">
                <a16:creationId xmlns:a16="http://schemas.microsoft.com/office/drawing/2014/main" id="{B5EC9A74-9C3D-72E7-ECCC-419A3D3AAE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623" y="4068791"/>
            <a:ext cx="2133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2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0EE3437F-F2CE-4810-A229-E10FF18D4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Modrý a oranžový přechod se šipkami">
            <a:extLst>
              <a:ext uri="{FF2B5EF4-FFF2-40B4-BE49-F238E27FC236}">
                <a16:creationId xmlns:a16="http://schemas.microsoft.com/office/drawing/2014/main" id="{97E672B7-1BEE-ACE9-871A-BE2AE37CD0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50" b="12550"/>
          <a:stretch/>
        </p:blipFill>
        <p:spPr>
          <a:xfrm>
            <a:off x="20" y="10"/>
            <a:ext cx="6095979" cy="3108949"/>
          </a:xfrm>
          <a:prstGeom prst="rect">
            <a:avLst/>
          </a:prstGeom>
        </p:spPr>
      </p:pic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A031F918-6C2A-4C3F-8785-651FF6135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  <a:effectLst>
            <a:outerShdw blurRad="635000" dist="254000" dir="72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086FD51-1014-C164-3500-4FE451E3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6829" y="184557"/>
            <a:ext cx="4359601" cy="2330809"/>
          </a:xfrm>
        </p:spPr>
        <p:txBody>
          <a:bodyPr anchor="b">
            <a:normAutofit/>
          </a:bodyPr>
          <a:lstStyle/>
          <a:p>
            <a:r>
              <a:rPr lang="cs-CZ" dirty="0"/>
              <a:t>Aktualizace softwaru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9C4786-245C-A207-07C1-EB0BB75CC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3497056"/>
            <a:ext cx="4480293" cy="2561717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700"/>
              <a:t>Pravidelně aktualizace softwaru jsou klíčové pro zabezpečení koncových stanic.</a:t>
            </a:r>
          </a:p>
          <a:p>
            <a:pPr>
              <a:lnSpc>
                <a:spcPct val="100000"/>
              </a:lnSpc>
            </a:pPr>
            <a:r>
              <a:rPr lang="cs-CZ" sz="1700"/>
              <a:t>Aktualizace opravují zranitelnost chyby v softwaru, které by mohly být zneužity útočníky.</a:t>
            </a:r>
          </a:p>
          <a:p>
            <a:pPr>
              <a:lnSpc>
                <a:spcPct val="100000"/>
              </a:lnSpc>
            </a:pPr>
            <a:r>
              <a:rPr lang="cs-CZ" sz="1700" b="0" i="0">
                <a:effectLst/>
                <a:latin typeface="Söhne"/>
              </a:rPr>
              <a:t>Týká se to operačního systému, aplikací, prohlížečů a dalších komponentů systému.</a:t>
            </a:r>
            <a:endParaRPr lang="cs-CZ" sz="1700"/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text, snímek obrazovky, Písmo, logo&#10;&#10;Popis byl vytvořen automaticky">
            <a:extLst>
              <a:ext uri="{FF2B5EF4-FFF2-40B4-BE49-F238E27FC236}">
                <a16:creationId xmlns:a16="http://schemas.microsoft.com/office/drawing/2014/main" id="{8557D54C-A841-809E-6578-5914CA5FD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592" y="3898277"/>
            <a:ext cx="6051408" cy="295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1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1102E982-8BE3-4FBA-ADFD-82E7D10B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nt">
            <a:extLst>
              <a:ext uri="{FF2B5EF4-FFF2-40B4-BE49-F238E27FC236}">
                <a16:creationId xmlns:a16="http://schemas.microsoft.com/office/drawing/2014/main" id="{7F843252-B159-4DA1-BE13-6EC3EF21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3390300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6ED178-F3D4-729B-27DF-1B74FCFD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4697303" cy="2185826"/>
          </a:xfrm>
        </p:spPr>
        <p:txBody>
          <a:bodyPr>
            <a:normAutofit/>
          </a:bodyPr>
          <a:lstStyle/>
          <a:p>
            <a:r>
              <a:rPr lang="cs-CZ" dirty="0"/>
              <a:t>Firewall</a:t>
            </a:r>
          </a:p>
        </p:txBody>
      </p:sp>
      <p:pic>
        <p:nvPicPr>
          <p:cNvPr id="20" name="Picture 4" descr="Koule tvořená sítí a uzly">
            <a:extLst>
              <a:ext uri="{FF2B5EF4-FFF2-40B4-BE49-F238E27FC236}">
                <a16:creationId xmlns:a16="http://schemas.microsoft.com/office/drawing/2014/main" id="{38694AD5-59C4-3B77-6FAB-792EF7D3F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10" b="22655"/>
          <a:stretch/>
        </p:blipFill>
        <p:spPr>
          <a:xfrm>
            <a:off x="6096010" y="10"/>
            <a:ext cx="6096003" cy="3398589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E4E24A-3088-C0C5-BC9C-472612881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807" y="3814549"/>
            <a:ext cx="4575676" cy="2425530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900"/>
              <a:t>Firewall brání koncové stanici blokováním neautorizovaného přístupu do sítě.</a:t>
            </a:r>
          </a:p>
          <a:p>
            <a:pPr>
              <a:lnSpc>
                <a:spcPct val="100000"/>
              </a:lnSpc>
            </a:pPr>
            <a:r>
              <a:rPr lang="cs-CZ" sz="1900"/>
              <a:t>Udržuje škodlivý provoz mimo koncovou stanici a síť.</a:t>
            </a:r>
          </a:p>
          <a:p>
            <a:pPr>
              <a:lnSpc>
                <a:spcPct val="100000"/>
              </a:lnSpc>
            </a:pPr>
            <a:r>
              <a:rPr lang="cs-CZ" sz="1900" b="0" i="0">
                <a:effectLst/>
                <a:latin typeface="Söhne"/>
              </a:rPr>
              <a:t>Moderní firewally nabízejí pokročilé funkce, jako je hluboká inspekce provozu a detekce útoků.</a:t>
            </a:r>
            <a:endParaRPr lang="cs-CZ" sz="19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snímek obrazovky, Barevnost, čtverec, diagram&#10;&#10;Popis byl vytvořen automaticky">
            <a:extLst>
              <a:ext uri="{FF2B5EF4-FFF2-40B4-BE49-F238E27FC236}">
                <a16:creationId xmlns:a16="http://schemas.microsoft.com/office/drawing/2014/main" id="{3CD62D9B-566B-D595-E8C6-2F3639165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29" y="3406888"/>
            <a:ext cx="5746856" cy="331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1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">
            <a:extLst>
              <a:ext uri="{FF2B5EF4-FFF2-40B4-BE49-F238E27FC236}">
                <a16:creationId xmlns:a16="http://schemas.microsoft.com/office/drawing/2014/main" id="{F8CBAF66-CE7A-4053-85C7-79E25B630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7" name="tint">
            <a:extLst>
              <a:ext uri="{FF2B5EF4-FFF2-40B4-BE49-F238E27FC236}">
                <a16:creationId xmlns:a16="http://schemas.microsoft.com/office/drawing/2014/main" id="{09B2A6B6-935D-4EF8-8248-E2FE4E918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3390300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B186AA-C2C6-A72F-6509-8E56F710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4697303" cy="2017536"/>
          </a:xfrm>
        </p:spPr>
        <p:txBody>
          <a:bodyPr>
            <a:normAutofit/>
          </a:bodyPr>
          <a:lstStyle/>
          <a:p>
            <a:r>
              <a:rPr lang="cs-CZ" dirty="0"/>
              <a:t>Šifrování dat</a:t>
            </a: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00D05C5-0B88-4CCD-B886-684DC52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8296"/>
            <a:ext cx="6096001" cy="3390301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2887E1-27AB-EDB8-6ECA-F527DDB72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05" r="46849"/>
          <a:stretch/>
        </p:blipFill>
        <p:spPr>
          <a:xfrm>
            <a:off x="8275678" y="418761"/>
            <a:ext cx="2067948" cy="256772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A8316A-A57C-AC7E-3C8E-95B463CAD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807" y="3814549"/>
            <a:ext cx="4575676" cy="2425530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700"/>
              <a:t>Šifrování dat chrání citlivé informace uložené na koncových stanicích.</a:t>
            </a:r>
          </a:p>
          <a:p>
            <a:pPr>
              <a:lnSpc>
                <a:spcPct val="100000"/>
              </a:lnSpc>
            </a:pPr>
            <a:r>
              <a:rPr lang="cs-CZ" sz="1700"/>
              <a:t>Zabraňuje útočníkům v přístupu k datům i v případě, že se jim podaří získat fyzický přístup k zařízení.</a:t>
            </a:r>
          </a:p>
          <a:p>
            <a:pPr>
              <a:lnSpc>
                <a:spcPct val="100000"/>
              </a:lnSpc>
            </a:pPr>
            <a:r>
              <a:rPr lang="cs-CZ" sz="1700" b="0" i="0">
                <a:effectLst/>
                <a:latin typeface="Söhne"/>
              </a:rPr>
              <a:t>Týká se to jak dat v klidu (uložených na disku), tak dat v pohybu (přenášených po síti).</a:t>
            </a:r>
            <a:endParaRPr lang="cs-CZ" sz="17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text, diagram, snímek obrazovky, Písmo&#10;&#10;Popis byl vytvořen automaticky">
            <a:extLst>
              <a:ext uri="{FF2B5EF4-FFF2-40B4-BE49-F238E27FC236}">
                <a16:creationId xmlns:a16="http://schemas.microsoft.com/office/drawing/2014/main" id="{F0EDCF3F-4374-E6D6-ACA5-72793E60C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78" y="3873272"/>
            <a:ext cx="4980078" cy="242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4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"/>
            <a:ext cx="12192000" cy="2806021"/>
          </a:xfrm>
          <a:prstGeom prst="rect">
            <a:avLst/>
          </a:prstGeom>
          <a:ln>
            <a:noFill/>
          </a:ln>
          <a:effectLst>
            <a:outerShdw blurRad="317500" dist="190500" dir="774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FB5BDCC-70AE-3A1F-48C6-BECB96AC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082" y="342305"/>
            <a:ext cx="4889190" cy="2121408"/>
          </a:xfrm>
        </p:spPr>
        <p:txBody>
          <a:bodyPr anchor="ctr">
            <a:normAutofit/>
          </a:bodyPr>
          <a:lstStyle/>
          <a:p>
            <a:r>
              <a:rPr lang="cs-CZ" sz="3600" dirty="0"/>
              <a:t>Silná autentizace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D4DB27-AA83-9A5B-02AA-D4B0C1C8D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7939" y="2925912"/>
            <a:ext cx="4492286" cy="393208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2000" dirty="0"/>
              <a:t>Použití silné autentizace, jako jsou dvoufázové nebo </a:t>
            </a:r>
            <a:r>
              <a:rPr lang="cs-CZ" sz="2000" dirty="0" err="1"/>
              <a:t>multifaktorové</a:t>
            </a:r>
            <a:r>
              <a:rPr lang="cs-CZ" sz="2000" dirty="0"/>
              <a:t> autentizační metody, zvyšuje bezpečnost koncových stanic.</a:t>
            </a:r>
          </a:p>
          <a:p>
            <a:pPr>
              <a:lnSpc>
                <a:spcPct val="100000"/>
              </a:lnSpc>
            </a:pPr>
            <a:r>
              <a:rPr lang="cs-CZ" sz="2000" dirty="0"/>
              <a:t>Snižuje riziko úspěšných útoků na hesla.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499B2F-6D89-41AB-B19D-C0493939F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98588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snímek obrazovky, text, osoba, design&#10;&#10;Popis byl vytvořen automaticky">
            <a:extLst>
              <a:ext uri="{FF2B5EF4-FFF2-40B4-BE49-F238E27FC236}">
                <a16:creationId xmlns:a16="http://schemas.microsoft.com/office/drawing/2014/main" id="{13D91B0C-AA9D-EB03-C2F6-28DC957C9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806019"/>
            <a:ext cx="7616168" cy="405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7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1102E982-8BE3-4FBA-ADFD-82E7D10B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nt">
            <a:extLst>
              <a:ext uri="{FF2B5EF4-FFF2-40B4-BE49-F238E27FC236}">
                <a16:creationId xmlns:a16="http://schemas.microsoft.com/office/drawing/2014/main" id="{7F843252-B159-4DA1-BE13-6EC3EF21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4F2A6A32-9ADF-4DD4-AEA5-0D1FF0F8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8" y="0"/>
            <a:ext cx="6096001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82F361B-984A-43B6-AFE8-1F1439428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3390300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CC92CB-8F91-8869-AEE0-74F73F27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4697303" cy="2185826"/>
          </a:xfrm>
        </p:spPr>
        <p:txBody>
          <a:bodyPr>
            <a:normAutofit/>
          </a:bodyPr>
          <a:lstStyle/>
          <a:p>
            <a:r>
              <a:rPr lang="cs-CZ" dirty="0"/>
              <a:t>Zálohování dat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452CD7-23B1-22E4-1AF7-AF9607E00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807" y="3814549"/>
            <a:ext cx="4575676" cy="2425530"/>
          </a:xfrm>
        </p:spPr>
        <p:txBody>
          <a:bodyPr anchor="b">
            <a:normAutofit/>
          </a:bodyPr>
          <a:lstStyle/>
          <a:p>
            <a:r>
              <a:rPr lang="cs-CZ" b="0" i="0">
                <a:effectLst/>
                <a:latin typeface="Söhne"/>
              </a:rPr>
              <a:t>Pravidelné zálohování dat je důležité pro obnovu po útoku nebo havárii.</a:t>
            </a:r>
          </a:p>
          <a:p>
            <a:r>
              <a:rPr lang="cs-CZ" b="0" i="0">
                <a:effectLst/>
                <a:latin typeface="Söhne"/>
              </a:rPr>
              <a:t>Zabraňuje trvalé ztrátě dat a minimalizuje vliv incidentů na provoz.</a:t>
            </a:r>
            <a:endParaRPr lang="cs-CZ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 descr="Obsah obrázku počítač, computer, snímek obrazovky, design&#10;&#10;Popis byl vytvořen automaticky">
            <a:extLst>
              <a:ext uri="{FF2B5EF4-FFF2-40B4-BE49-F238E27FC236}">
                <a16:creationId xmlns:a16="http://schemas.microsoft.com/office/drawing/2014/main" id="{2D2440D8-480A-10F1-3591-D763E6537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35" y="3362004"/>
            <a:ext cx="4592033" cy="3524292"/>
          </a:xfrm>
          <a:prstGeom prst="rect">
            <a:avLst/>
          </a:prstGeom>
        </p:spPr>
      </p:pic>
      <p:pic>
        <p:nvPicPr>
          <p:cNvPr id="8" name="Obrázek 7" descr="Obsah obrázku text, snímek obrazovky, osoba, auto&#10;&#10;Popis byl vytvořen automaticky">
            <a:extLst>
              <a:ext uri="{FF2B5EF4-FFF2-40B4-BE49-F238E27FC236}">
                <a16:creationId xmlns:a16="http://schemas.microsoft.com/office/drawing/2014/main" id="{3531B87F-8777-7774-0E72-670E0BAAD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8299"/>
            <a:ext cx="6096001" cy="335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4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ůhledná Padlock">
            <a:extLst>
              <a:ext uri="{FF2B5EF4-FFF2-40B4-BE49-F238E27FC236}">
                <a16:creationId xmlns:a16="http://schemas.microsoft.com/office/drawing/2014/main" id="{5EE15403-928D-BEC7-3496-1559A1428A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33" r="39786" b="2"/>
          <a:stretch/>
        </p:blipFill>
        <p:spPr>
          <a:xfrm>
            <a:off x="20" y="-2"/>
            <a:ext cx="484584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4750" y="-2"/>
            <a:ext cx="7347249" cy="3239337"/>
          </a:xfrm>
          <a:prstGeom prst="rect">
            <a:avLst/>
          </a:prstGeom>
          <a:ln>
            <a:noFill/>
          </a:ln>
          <a:effectLst>
            <a:outerShdw blurRad="139700" dist="88900" dir="5460000" sx="97000" sy="97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275702-6C35-1A8E-4069-3F50CFD1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52" y="858982"/>
            <a:ext cx="4369757" cy="2129878"/>
          </a:xfrm>
        </p:spPr>
        <p:txBody>
          <a:bodyPr>
            <a:normAutofit/>
          </a:bodyPr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F46309-4C1F-8794-003F-87B5B7D5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552" y="3467499"/>
            <a:ext cx="5012796" cy="25444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b="0" i="0">
                <a:effectLst/>
                <a:latin typeface="Söhne"/>
              </a:rPr>
              <a:t>Zabezpečení koncových stanic je zásadní pro kybernetickou bezpečnost.</a:t>
            </a:r>
          </a:p>
          <a:p>
            <a:pPr>
              <a:lnSpc>
                <a:spcPct val="100000"/>
              </a:lnSpc>
            </a:pPr>
            <a:r>
              <a:rPr lang="cs-CZ" b="0" i="0">
                <a:effectLst/>
                <a:latin typeface="Söhne"/>
              </a:rPr>
              <a:t>Použití komplexního přístupu a pravidelná aktualizace zabezpečení jsou klíčové pro ochranu sítě a dat.</a:t>
            </a:r>
          </a:p>
          <a:p>
            <a:pPr>
              <a:lnSpc>
                <a:spcPct val="100000"/>
              </a:lnSpc>
            </a:pPr>
            <a:r>
              <a:rPr lang="cs-CZ" b="0" i="0">
                <a:effectLst/>
                <a:latin typeface="Söhne"/>
              </a:rPr>
              <a:t>Děkuji za pozornost!</a:t>
            </a:r>
          </a:p>
          <a:p>
            <a:pPr>
              <a:lnSpc>
                <a:spcPct val="100000"/>
              </a:lnSpc>
            </a:pPr>
            <a:endParaRPr lang="cs-CZ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133205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AnalogousFromDarkSeedLeftStep">
      <a:dk1>
        <a:srgbClr val="000000"/>
      </a:dk1>
      <a:lt1>
        <a:srgbClr val="FFFFFF"/>
      </a:lt1>
      <a:dk2>
        <a:srgbClr val="1B2B30"/>
      </a:dk2>
      <a:lt2>
        <a:srgbClr val="F0F3F2"/>
      </a:lt2>
      <a:accent1>
        <a:srgbClr val="C34D80"/>
      </a:accent1>
      <a:accent2>
        <a:srgbClr val="B13B9F"/>
      </a:accent2>
      <a:accent3>
        <a:srgbClr val="A44DC3"/>
      </a:accent3>
      <a:accent4>
        <a:srgbClr val="6641B4"/>
      </a:accent4>
      <a:accent5>
        <a:srgbClr val="4D58C3"/>
      </a:accent5>
      <a:accent6>
        <a:srgbClr val="3B78B1"/>
      </a:accent6>
      <a:hlink>
        <a:srgbClr val="483FBF"/>
      </a:hlink>
      <a:folHlink>
        <a:srgbClr val="7F7F7F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419</Words>
  <Application>Microsoft Office PowerPoint</Application>
  <PresentationFormat>Širokoúhlá obrazovka</PresentationFormat>
  <Paragraphs>40</Paragraphs>
  <Slides>12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Bierstadt</vt:lpstr>
      <vt:lpstr>Söhne</vt:lpstr>
      <vt:lpstr>BevelVTI</vt:lpstr>
      <vt:lpstr>Zabezpečení koncových stanic</vt:lpstr>
      <vt:lpstr>Úvod</vt:lpstr>
      <vt:lpstr>Co jsou to koncové stanice?</vt:lpstr>
      <vt:lpstr>Hrozby pro koncové stanice</vt:lpstr>
      <vt:lpstr>Důležitost zabezpečení</vt:lpstr>
      <vt:lpstr>Zabezpečení pomocí antivirového softwaru</vt:lpstr>
      <vt:lpstr>Aktualizace softwaru</vt:lpstr>
      <vt:lpstr>Firewall</vt:lpstr>
      <vt:lpstr>Šifrování dat</vt:lpstr>
      <vt:lpstr>Silná autentizace</vt:lpstr>
      <vt:lpstr>Zálohování dat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