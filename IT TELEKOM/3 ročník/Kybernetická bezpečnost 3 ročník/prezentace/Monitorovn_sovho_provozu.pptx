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2958F-449A-427A-BA7D-CD5166DA745F}" v="3" dt="2024-11-24T13:14:25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7D66-922E-49C6-B9AD-542E000B137F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39BBA-E1A9-463C-AA23-0DDBA30BC88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3931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b="1" i="1" u="sng" dirty="0"/>
              <a:t>Přečíst před Nadpisem:  </a:t>
            </a:r>
            <a:r>
              <a:rPr lang="cs-CZ" dirty="0"/>
              <a:t>„Monitorování síťového provozu je klíčovou součástí správy IT infrastruktury, protože umožňuje včas odhalit problémy, zajistit bezpečnost a optimalizovat výkon. 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39BBA-E1A9-463C-AA23-0DDBA30BC88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6389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1" i="1" u="sng"/>
              <a:t> Log </a:t>
            </a:r>
            <a:r>
              <a:rPr lang="cs-CZ" b="1" i="1" u="sng" dirty="0" err="1"/>
              <a:t>mangmement</a:t>
            </a:r>
            <a:r>
              <a:rPr lang="cs-CZ" b="1" i="1" u="sng" dirty="0"/>
              <a:t>- </a:t>
            </a:r>
            <a:r>
              <a:rPr lang="cs-CZ" b="1" dirty="0"/>
              <a:t>Příklady konkrétních logů</a:t>
            </a:r>
            <a:r>
              <a:rPr lang="cs-CZ" dirty="0"/>
              <a:t>: „Logy mohou obsahovat například informace o přihlášení uživatele, změnách konfigurace, výpadcích nebo bezpečnostních událostech. Například: záznam v logu serveru může ukazovat, že došlo k pokusu o přístup k zabezpečené oblasti bez oprávnění. Další ukázka jak se dá využít log. V případě výpadku síťového zařízení mohou logy odhalit příčinu problému – například výpadek napájení nebo chybu konfigurace. “</a:t>
            </a:r>
          </a:p>
          <a:p>
            <a:endParaRPr lang="cs-CZ" b="1" i="1" u="sng" dirty="0"/>
          </a:p>
          <a:p>
            <a:r>
              <a:rPr lang="cs-CZ" b="1" i="1" u="sng" dirty="0"/>
              <a:t>Bezpečnostnímu monitorování: </a:t>
            </a:r>
            <a:r>
              <a:rPr lang="cs-CZ" b="1" i="1" u="sng" dirty="0" err="1"/>
              <a:t>Po</a:t>
            </a:r>
            <a:r>
              <a:rPr lang="cs-CZ" dirty="0" err="1"/>
              <a:t>„Například</a:t>
            </a:r>
            <a:r>
              <a:rPr lang="cs-CZ" dirty="0"/>
              <a:t> detekci </a:t>
            </a:r>
            <a:r>
              <a:rPr lang="cs-CZ" dirty="0" err="1"/>
              <a:t>DDoS</a:t>
            </a:r>
            <a:r>
              <a:rPr lang="cs-CZ" dirty="0"/>
              <a:t> útoků, malware komunikace nebo neoprávněného přístupu. Jednoduše řečeno bezpečností monitoring se používá k zjištění podezřelých aktivit, jako je například vysoký počet neúspěšných přihlášení do systému.“</a:t>
            </a:r>
          </a:p>
          <a:p>
            <a:r>
              <a:rPr lang="cs-CZ" b="1" i="1" u="sng" dirty="0"/>
              <a:t>Provoznímu monitorování: Po </a:t>
            </a:r>
            <a:r>
              <a:rPr lang="cs-CZ" dirty="0"/>
              <a:t>„Což znamená že sleduje stav hardwaru, jako je vytížení CPU, kapacita paměti nebo datová propustnost, což pomáhá předcházet toho přetížení nebo selhání.“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39BBA-E1A9-463C-AA23-0DDBA30BC88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2964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1" i="1" u="sng" dirty="0" err="1"/>
              <a:t>Warning</a:t>
            </a:r>
            <a:r>
              <a:rPr lang="cs-CZ" b="1" i="1" u="sng" dirty="0"/>
              <a:t>: Po </a:t>
            </a:r>
            <a:r>
              <a:rPr lang="cs-CZ" dirty="0"/>
              <a:t>Například varování o plné diskové kapacitě serveru.</a:t>
            </a:r>
            <a:endParaRPr lang="cs-CZ" b="0" i="0" u="none" dirty="0"/>
          </a:p>
          <a:p>
            <a:r>
              <a:rPr lang="cs-CZ" b="1" i="1" u="sng" dirty="0" err="1"/>
              <a:t>Alert</a:t>
            </a:r>
            <a:r>
              <a:rPr lang="cs-CZ" b="1" i="1" u="sng" dirty="0"/>
              <a:t>: Po </a:t>
            </a:r>
            <a:r>
              <a:rPr lang="cs-CZ" b="0" i="0" u="none" dirty="0"/>
              <a:t>Upozornění třeba na</a:t>
            </a:r>
            <a:r>
              <a:rPr lang="cs-CZ" dirty="0"/>
              <a:t> podezřelou aktivitu, například více pokusů o přihlášení k serveru během krátkého časového intervalu.</a:t>
            </a:r>
          </a:p>
          <a:p>
            <a:r>
              <a:rPr lang="cs-CZ" b="1" i="1" u="sng" dirty="0" err="1"/>
              <a:t>Error</a:t>
            </a:r>
            <a:r>
              <a:rPr lang="cs-CZ" b="1" i="1" u="sng" dirty="0"/>
              <a:t>: Po</a:t>
            </a:r>
            <a:r>
              <a:rPr lang="cs-CZ" b="0" i="0" u="none" dirty="0">
                <a:effectLst/>
              </a:rPr>
              <a:t>  </a:t>
            </a:r>
            <a:r>
              <a:rPr lang="cs-CZ" dirty="0"/>
              <a:t>Například výpadek síťového připojení nebo selhání zařízení.</a:t>
            </a:r>
            <a:endParaRPr lang="cs-CZ" b="0" i="0" u="none" dirty="0">
              <a:effectLst/>
            </a:endParaRPr>
          </a:p>
          <a:p>
            <a:r>
              <a:rPr lang="cs-CZ" b="1" i="1" u="sng" dirty="0" err="1">
                <a:effectLst/>
              </a:rPr>
              <a:t>Critical</a:t>
            </a:r>
            <a:r>
              <a:rPr lang="cs-CZ" b="1" i="1" u="sng" dirty="0">
                <a:effectLst/>
              </a:rPr>
              <a:t>: Po</a:t>
            </a:r>
            <a:r>
              <a:rPr lang="cs-CZ" b="0" i="0" u="none" dirty="0">
                <a:effectLst/>
              </a:rPr>
              <a:t> </a:t>
            </a:r>
            <a:r>
              <a:rPr lang="cs-CZ" dirty="0"/>
              <a:t>Například selhání hlavního směrovače (routeru) v síti, což vyžaduje okamžitou reakci.</a:t>
            </a:r>
            <a:endParaRPr lang="cs-CZ" b="1" i="1" u="sng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39BBA-E1A9-463C-AA23-0DDBA30BC88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3074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39BBA-E1A9-463C-AA23-0DDBA30BC88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2862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1" i="1" u="sng" dirty="0"/>
              <a:t>Behaviorální analýza: Po </a:t>
            </a:r>
            <a:r>
              <a:rPr lang="cs-CZ" dirty="0"/>
              <a:t>„</a:t>
            </a:r>
            <a:r>
              <a:rPr lang="cs-CZ" b="0" i="0" u="none" dirty="0"/>
              <a:t>M</a:t>
            </a:r>
            <a:r>
              <a:rPr lang="cs-CZ" dirty="0"/>
              <a:t>ůže například odhalit neobvyklé zvýšení síťového provozu v nočních hodinách, což může být znakem probíhajícího kybernetického útoku. “</a:t>
            </a:r>
          </a:p>
          <a:p>
            <a:r>
              <a:rPr lang="cs-CZ" b="1" i="1" u="sng" dirty="0"/>
              <a:t>Statistika odchylek: Po</a:t>
            </a:r>
            <a:r>
              <a:rPr lang="cs-CZ" b="0" i="0" u="none" dirty="0"/>
              <a:t> </a:t>
            </a:r>
            <a:r>
              <a:rPr lang="cs-CZ" dirty="0"/>
              <a:t>„Například, pokud běžná velikost paketu na serveru bývá kolem 512 bajtů a najednou začnou přicházet pakety o velikosti 64 bajtů ve velkém množství, může to být příznakem útoku typu ping </a:t>
            </a:r>
            <a:r>
              <a:rPr lang="cs-CZ" dirty="0" err="1"/>
              <a:t>flood</a:t>
            </a:r>
            <a:r>
              <a:rPr lang="cs-CZ" dirty="0"/>
              <a:t>.“</a:t>
            </a:r>
            <a:endParaRPr lang="cs-CZ" b="1" i="1" u="sng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39BBA-E1A9-463C-AA23-0DDBA30BC88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4456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1" i="1" u="sng" dirty="0"/>
              <a:t>Před:  </a:t>
            </a:r>
            <a:r>
              <a:rPr lang="cs-CZ" b="1" dirty="0"/>
              <a:t>Shrnutí a propojení: </a:t>
            </a:r>
            <a:r>
              <a:rPr lang="cs-CZ" dirty="0"/>
              <a:t>„Monitorování síťového provozu není jen technický proces, ale strategický nástroj pro zajištění bezpečnosti, stability a efektivity IT infrastruktury. Schopnost rychle reagovat na anomálie je dnes klíčová, zejména s rostoucím počtem kybernetických útoků.“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39BBA-E1A9-463C-AA23-0DDBA30BC88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541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6E86EF-0C47-366F-0FC0-29F765B24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A7BD280-C683-092D-0BB3-F65EBD293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395AF93-BF02-C45D-1251-36FBB251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58DBEF4-B767-5DB2-CB2D-FACAA3CD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AC1C876-E2F1-7184-6DF3-9D98AAC70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407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AB688C-CE87-6B1E-ADAC-E08FD07B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E53206-EC2C-8885-5542-72868F95A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1F3AB4E-83AA-A60C-1CB5-8298B070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256A756-0CFD-0736-8DEA-792314E5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E7C0337-1884-AC5F-491F-A09F9A09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99702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FCA91C-0D2A-A9A3-B74A-6E1AFC8B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E17070-9DBB-CA08-71F2-D4F6947CD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4C47C12-C95C-69B5-5D40-BB905FA1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20FF3F8-96F5-6CA3-13A3-CD5B6D914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87C4926-A2E8-5E85-AE6D-96126BCC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643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037FA7-9624-2A5E-1EB6-5169C730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D2FB2B-78D8-15CF-1628-CB287914B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CC32EFE-4D5B-AC19-1CF0-0B4DD81D1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33C45B4-27A2-CFA8-AFBF-29E59BF31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A1746B0-794A-C673-3506-E0F36BEA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6ABB10-73A9-F3D4-AEA7-574AFA2D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8069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6C6BA3-928A-9EC6-4ED9-D357E73D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51F8F01-B6F6-4C91-E8A4-6FFBCC681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947023B-ED7C-AC15-ADFC-65CD88857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665BE7A-EE58-E633-18A0-68E596CCF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5537B59-7992-728D-0587-E7D93D389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5A8101F-67A6-3197-325A-13A84F9A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BC320EA-79B3-455E-3085-D652B987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5750328-9B12-7DC6-CDB6-DAEAE082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376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412637-6D41-E3D8-9791-130EFE63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B91F6C8-9246-E730-78DD-C59B7825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CCB31CA-7D2C-D102-E908-D79D40ED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1114A49-F9B9-3415-958A-890E2D05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344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386CFA5-D0CB-2314-CB35-793A8D5E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7346EC8-C646-4F16-EBAC-0A2D8AF8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F41A8EE-714B-9F15-469A-E1B011A7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65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EB5C12-9C05-AD32-C815-767DAED41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B67257-5758-299E-0C54-C02DE1B76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9F07E8-0544-B5FC-8099-2761D365C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44AE7DF-D571-358D-645F-6F3441A6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135698D-BA79-876B-3AFE-6BA3A5A3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E2867CD-82F6-C87A-013E-A4CB42261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95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0A8013-41E8-5F09-B5F3-B211D10AF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4C08758-D57B-A7B2-7685-9BFA09BA7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D8A02C6-9A14-4CFF-4411-C6149B668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A8A3E97-B934-5A70-462F-CF39FB627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80B3B94-A810-4175-466E-80924B90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F61FDD7-A223-A6B3-C4D5-A5BC6C46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69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41B2EA-FF0A-1FB0-A077-FECCE6D5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EE7F843-1385-9BF8-9DEA-8898E3E29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6C76936-7D45-1500-5557-66ECEF01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2B63BD4-EA09-9996-0B4F-5AEACCD0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883E5B2-B055-8B7F-4BE9-7C925E16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4228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1E7016C-228A-E222-8810-D69AE0A464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8BF35E6-F61C-AF6D-DA91-DBC0D076B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751892-8C5D-2081-5021-88FBB612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83FE256-D48B-03DE-3887-D89F77B51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D98BF37-4B37-7AC6-7D04-9BDA917A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511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DF1A208-7DA7-297F-7E29-433E5953E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A22D799-5F13-E131-4EC0-4C83F4F62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1E34AF3-ADA1-F070-B55E-3D156D133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24717-F4E1-47B7-8089-AE09C75E4C14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27E0F72-2E73-F616-00AB-609536594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2CB0E21-165C-595C-7AF8-9C8D22D8B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E0C92-4198-4DBD-85DC-1F59B170F6F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5733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2AE2E2FB-0D0C-97B4-7131-D877C71E2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cs-CZ" sz="6100" dirty="0">
                <a:solidFill>
                  <a:schemeClr val="bg1"/>
                </a:solidFill>
              </a:rPr>
              <a:t>8. MONITOROVÁNÍ SÍŤOVÉHO PROVOZU</a:t>
            </a:r>
          </a:p>
        </p:txBody>
      </p:sp>
    </p:spTree>
    <p:extLst>
      <p:ext uri="{BB962C8B-B14F-4D97-AF65-F5344CB8AC3E}">
        <p14:creationId xmlns:p14="http://schemas.microsoft.com/office/powerpoint/2010/main" val="2130524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3E2925-9D2F-4436-8D47-E7C1C5703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273C612-17FC-CFE2-6107-0865D5C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43581"/>
            <a:ext cx="10518776" cy="2308324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algn="ctr"/>
            <a:r>
              <a:rPr lang="en-US" sz="6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Základní</a:t>
            </a:r>
            <a:r>
              <a:rPr lang="en-US" sz="6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principy</a:t>
            </a:r>
            <a:r>
              <a:rPr lang="en-US" sz="6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monitorování</a:t>
            </a:r>
            <a:r>
              <a:rPr lang="en-US" sz="6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síťového</a:t>
            </a:r>
            <a:r>
              <a:rPr lang="en-US" sz="6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provozu</a:t>
            </a:r>
            <a:endParaRPr lang="en-US" sz="61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A188E4-F255-43D0-92CC-3CF3D7701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637211" cy="1649863"/>
            <a:chOff x="1" y="1"/>
            <a:chExt cx="9637211" cy="1649863"/>
          </a:xfr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71FCDE-112A-4324-B49A-CA94CBA7E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56EED7-40A9-4EAF-B230-108CC384E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bg1">
                <a:alpha val="14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EABE02-705D-4B3A-B7DF-634641E1D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739305" cy="1775939"/>
            <a:chOff x="1" y="1"/>
            <a:chExt cx="9739305" cy="177593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8C4F13C-93EF-478B-A270-CF799F866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000297-B3F2-4605-9C3B-D7655D682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9388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6B9143-CEC1-095C-5828-D0ADE4448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963561"/>
            <a:ext cx="8959892" cy="4652968"/>
          </a:xfrm>
        </p:spPr>
        <p:txBody>
          <a:bodyPr anchor="t">
            <a:normAutofit lnSpcReduction="10000"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Pomocí monitorování síťového provozu získáváme </a:t>
            </a:r>
            <a:r>
              <a:rPr lang="cs-CZ" sz="2000" b="1" dirty="0">
                <a:solidFill>
                  <a:schemeClr val="bg1"/>
                </a:solidFill>
              </a:rPr>
              <a:t>přehled</a:t>
            </a:r>
            <a:r>
              <a:rPr lang="cs-CZ" sz="2000" dirty="0">
                <a:solidFill>
                  <a:schemeClr val="bg1"/>
                </a:solidFill>
              </a:rPr>
              <a:t> o </a:t>
            </a:r>
            <a:r>
              <a:rPr lang="cs-CZ" sz="2000" b="1" dirty="0">
                <a:solidFill>
                  <a:schemeClr val="bg1"/>
                </a:solidFill>
              </a:rPr>
              <a:t>datových tocích </a:t>
            </a:r>
            <a:r>
              <a:rPr lang="cs-CZ" sz="2000" dirty="0">
                <a:solidFill>
                  <a:schemeClr val="bg1"/>
                </a:solidFill>
              </a:rPr>
              <a:t>v infrastruktuře.</a:t>
            </a:r>
          </a:p>
          <a:p>
            <a:r>
              <a:rPr lang="cs-CZ" sz="2000" dirty="0">
                <a:solidFill>
                  <a:schemeClr val="bg1"/>
                </a:solidFill>
              </a:rPr>
              <a:t>Na základě těchto informací jsme schopni </a:t>
            </a:r>
            <a:r>
              <a:rPr lang="cs-CZ" sz="2000" b="1" dirty="0">
                <a:solidFill>
                  <a:schemeClr val="bg1"/>
                </a:solidFill>
              </a:rPr>
              <a:t>detekovat anomálie </a:t>
            </a:r>
            <a:r>
              <a:rPr lang="cs-CZ" sz="2000" dirty="0">
                <a:solidFill>
                  <a:schemeClr val="bg1"/>
                </a:solidFill>
              </a:rPr>
              <a:t>/ bezpečností </a:t>
            </a:r>
            <a:r>
              <a:rPr lang="cs-CZ" sz="2000" b="1" dirty="0">
                <a:solidFill>
                  <a:schemeClr val="bg1"/>
                </a:solidFill>
              </a:rPr>
              <a:t>incidenty</a:t>
            </a:r>
            <a:r>
              <a:rPr lang="cs-CZ" sz="2000" dirty="0">
                <a:solidFill>
                  <a:schemeClr val="bg1"/>
                </a:solidFill>
              </a:rPr>
              <a:t>.</a:t>
            </a:r>
          </a:p>
          <a:p>
            <a:r>
              <a:rPr lang="cs-CZ" sz="2000" b="1" dirty="0">
                <a:solidFill>
                  <a:schemeClr val="bg1"/>
                </a:solidFill>
              </a:rPr>
              <a:t>Logy neboli výpisy monitorování </a:t>
            </a:r>
            <a:r>
              <a:rPr lang="cs-CZ" sz="2000" dirty="0">
                <a:solidFill>
                  <a:schemeClr val="bg1"/>
                </a:solidFill>
              </a:rPr>
              <a:t>– jsou to zdroje informací o monitoringu, záznamy o nějaké činnosti.</a:t>
            </a:r>
          </a:p>
          <a:p>
            <a:r>
              <a:rPr lang="cs-CZ" sz="2000" b="1" dirty="0">
                <a:solidFill>
                  <a:schemeClr val="bg1"/>
                </a:solidFill>
              </a:rPr>
              <a:t>Funkce Log managementu </a:t>
            </a:r>
            <a:r>
              <a:rPr lang="cs-CZ" sz="2000" dirty="0">
                <a:solidFill>
                  <a:schemeClr val="bg1"/>
                </a:solidFill>
              </a:rPr>
              <a:t>– každé zařízení </a:t>
            </a:r>
            <a:r>
              <a:rPr lang="cs-CZ" sz="2000" b="1" dirty="0">
                <a:solidFill>
                  <a:schemeClr val="bg1"/>
                </a:solidFill>
              </a:rPr>
              <a:t>generuje</a:t>
            </a:r>
            <a:r>
              <a:rPr lang="cs-CZ" sz="2000" dirty="0">
                <a:solidFill>
                  <a:schemeClr val="bg1"/>
                </a:solidFill>
              </a:rPr>
              <a:t> a </a:t>
            </a:r>
            <a:r>
              <a:rPr lang="cs-CZ" sz="2000" b="1" dirty="0">
                <a:solidFill>
                  <a:schemeClr val="bg1"/>
                </a:solidFill>
              </a:rPr>
              <a:t>ukládá log</a:t>
            </a:r>
            <a:r>
              <a:rPr lang="cs-CZ" sz="2000" dirty="0">
                <a:solidFill>
                  <a:schemeClr val="bg1"/>
                </a:solidFill>
              </a:rPr>
              <a:t>, pokud chceme s logem pracovat musíme se k zařízení připojit. </a:t>
            </a:r>
          </a:p>
          <a:p>
            <a:r>
              <a:rPr lang="cs-CZ" sz="2000" dirty="0">
                <a:solidFill>
                  <a:schemeClr val="bg1"/>
                </a:solidFill>
              </a:rPr>
              <a:t>Aplikace pro log management a monitoring síťového provozu = </a:t>
            </a:r>
            <a:r>
              <a:rPr lang="cs-CZ" sz="2000" b="1" dirty="0">
                <a:solidFill>
                  <a:schemeClr val="bg1"/>
                </a:solidFill>
              </a:rPr>
              <a:t>Elisa, </a:t>
            </a:r>
            <a:r>
              <a:rPr lang="cs-CZ" sz="2000" b="1" dirty="0" err="1">
                <a:solidFill>
                  <a:schemeClr val="bg1"/>
                </a:solidFill>
              </a:rPr>
              <a:t>GreyLog</a:t>
            </a:r>
            <a:r>
              <a:rPr lang="cs-CZ" sz="2000" b="1" dirty="0">
                <a:solidFill>
                  <a:schemeClr val="bg1"/>
                </a:solidFill>
              </a:rPr>
              <a:t> </a:t>
            </a:r>
            <a:r>
              <a:rPr lang="cs-CZ" sz="2000" dirty="0">
                <a:solidFill>
                  <a:schemeClr val="bg1"/>
                </a:solidFill>
              </a:rPr>
              <a:t>= zajišťují </a:t>
            </a:r>
            <a:r>
              <a:rPr lang="cs-CZ" sz="2000" dirty="0" err="1">
                <a:solidFill>
                  <a:schemeClr val="bg1"/>
                </a:solidFill>
              </a:rPr>
              <a:t>agregraci</a:t>
            </a:r>
            <a:r>
              <a:rPr lang="cs-CZ" sz="2000" dirty="0">
                <a:solidFill>
                  <a:schemeClr val="bg1"/>
                </a:solidFill>
              </a:rPr>
              <a:t> dat ze všech zdrojů.</a:t>
            </a:r>
          </a:p>
          <a:p>
            <a:pPr marL="0" indent="0">
              <a:buNone/>
            </a:pPr>
            <a:r>
              <a:rPr lang="cs-CZ" sz="2000" b="1" u="sng" dirty="0">
                <a:solidFill>
                  <a:schemeClr val="bg1"/>
                </a:solidFill>
              </a:rPr>
              <a:t>Máme dva typy monitorování síťového provozu</a:t>
            </a:r>
          </a:p>
          <a:p>
            <a:pPr marL="0" indent="0">
              <a:buNone/>
            </a:pPr>
            <a:r>
              <a:rPr lang="cs-CZ" sz="2000" b="1" dirty="0">
                <a:solidFill>
                  <a:schemeClr val="bg1"/>
                </a:solidFill>
              </a:rPr>
              <a:t>a) Bezpečností monitoring </a:t>
            </a:r>
            <a:r>
              <a:rPr lang="cs-CZ" sz="2000" dirty="0">
                <a:solidFill>
                  <a:schemeClr val="bg1"/>
                </a:solidFill>
              </a:rPr>
              <a:t>= samotná </a:t>
            </a:r>
            <a:r>
              <a:rPr lang="cs-CZ" sz="2000" b="1" dirty="0">
                <a:solidFill>
                  <a:schemeClr val="bg1"/>
                </a:solidFill>
              </a:rPr>
              <a:t>detekce anomálií </a:t>
            </a:r>
            <a:r>
              <a:rPr lang="cs-CZ" sz="2000" dirty="0">
                <a:solidFill>
                  <a:schemeClr val="bg1"/>
                </a:solidFill>
              </a:rPr>
              <a:t>/ bezpečnostních </a:t>
            </a:r>
            <a:r>
              <a:rPr lang="cs-CZ" sz="2000" b="1" dirty="0">
                <a:solidFill>
                  <a:schemeClr val="bg1"/>
                </a:solidFill>
              </a:rPr>
              <a:t>incidentů</a:t>
            </a:r>
            <a:r>
              <a:rPr lang="cs-CZ" sz="20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cs-CZ" sz="2000" b="1" dirty="0">
                <a:solidFill>
                  <a:schemeClr val="bg1"/>
                </a:solidFill>
              </a:rPr>
              <a:t>b) Provozní monitoring </a:t>
            </a:r>
            <a:r>
              <a:rPr lang="cs-CZ" sz="2000" dirty="0">
                <a:solidFill>
                  <a:schemeClr val="bg1"/>
                </a:solidFill>
              </a:rPr>
              <a:t>= </a:t>
            </a:r>
            <a:r>
              <a:rPr lang="cs-CZ" sz="2000" b="1" dirty="0">
                <a:solidFill>
                  <a:schemeClr val="bg1"/>
                </a:solidFill>
              </a:rPr>
              <a:t>kontrolování </a:t>
            </a:r>
            <a:r>
              <a:rPr lang="cs-CZ" sz="2000" dirty="0">
                <a:solidFill>
                  <a:schemeClr val="bg1"/>
                </a:solidFill>
              </a:rPr>
              <a:t>stavu </a:t>
            </a:r>
            <a:r>
              <a:rPr lang="cs-CZ" sz="2000" b="1" dirty="0">
                <a:solidFill>
                  <a:schemeClr val="bg1"/>
                </a:solidFill>
              </a:rPr>
              <a:t>přetíženosti </a:t>
            </a:r>
            <a:r>
              <a:rPr lang="cs-CZ" sz="2000" dirty="0">
                <a:solidFill>
                  <a:schemeClr val="bg1"/>
                </a:solidFill>
              </a:rPr>
              <a:t>serverů.</a:t>
            </a:r>
          </a:p>
          <a:p>
            <a:pPr marL="0" indent="0">
              <a:buNone/>
            </a:pPr>
            <a:endParaRPr lang="cs-CZ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3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FC16F6-1A85-D782-1FDA-5EDA07B2A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261138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cs-CZ" sz="3200" b="1">
                <a:solidFill>
                  <a:schemeClr val="bg1">
                    <a:alpha val="60000"/>
                  </a:schemeClr>
                </a:solidFill>
              </a:rPr>
              <a:t>Úrovně logu (4)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DDBE6C-484A-3037-AF05-9DA47EFD2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anchor="t">
            <a:normAutofit/>
          </a:bodyPr>
          <a:lstStyle/>
          <a:p>
            <a:r>
              <a:rPr lang="cs-CZ" sz="2000" b="1" dirty="0" err="1">
                <a:solidFill>
                  <a:schemeClr val="bg1"/>
                </a:solidFill>
              </a:rPr>
              <a:t>Warning</a:t>
            </a:r>
            <a:r>
              <a:rPr lang="cs-CZ" sz="2000" dirty="0">
                <a:solidFill>
                  <a:schemeClr val="bg1"/>
                </a:solidFill>
              </a:rPr>
              <a:t> = určitý typ varování.</a:t>
            </a:r>
          </a:p>
          <a:p>
            <a:r>
              <a:rPr lang="cs-CZ" sz="2000" b="1" dirty="0" err="1">
                <a:solidFill>
                  <a:schemeClr val="bg1"/>
                </a:solidFill>
              </a:rPr>
              <a:t>Alert</a:t>
            </a:r>
            <a:r>
              <a:rPr lang="cs-CZ" sz="2000" dirty="0">
                <a:solidFill>
                  <a:schemeClr val="bg1"/>
                </a:solidFill>
              </a:rPr>
              <a:t> = určitý typ upozornění.</a:t>
            </a:r>
          </a:p>
          <a:p>
            <a:r>
              <a:rPr lang="cs-CZ" sz="2000" b="1" dirty="0" err="1">
                <a:solidFill>
                  <a:schemeClr val="bg1"/>
                </a:solidFill>
              </a:rPr>
              <a:t>Error</a:t>
            </a:r>
            <a:r>
              <a:rPr lang="cs-CZ" sz="2000" dirty="0">
                <a:solidFill>
                  <a:schemeClr val="bg1"/>
                </a:solidFill>
              </a:rPr>
              <a:t> = určitý typ chyby.</a:t>
            </a:r>
          </a:p>
          <a:p>
            <a:r>
              <a:rPr lang="cs-CZ" sz="2000" b="1" dirty="0" err="1">
                <a:solidFill>
                  <a:schemeClr val="bg1"/>
                </a:solidFill>
              </a:rPr>
              <a:t>Critical</a:t>
            </a:r>
            <a:r>
              <a:rPr lang="cs-CZ" sz="2000" dirty="0">
                <a:solidFill>
                  <a:schemeClr val="bg1"/>
                </a:solidFill>
              </a:rPr>
              <a:t> = nejvyšší úroveň, jedná se určitý typ kritické chyby.</a:t>
            </a:r>
          </a:p>
        </p:txBody>
      </p:sp>
    </p:spTree>
    <p:extLst>
      <p:ext uri="{BB962C8B-B14F-4D97-AF65-F5344CB8AC3E}">
        <p14:creationId xmlns:p14="http://schemas.microsoft.com/office/powerpoint/2010/main" val="546638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7A4680A-E739-B26A-7A54-8DAC0AE3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261138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cs-CZ" sz="3200" b="1">
                <a:solidFill>
                  <a:schemeClr val="bg1">
                    <a:alpha val="60000"/>
                  </a:schemeClr>
                </a:solidFill>
              </a:rPr>
              <a:t>Zdroje</a:t>
            </a:r>
            <a:endParaRPr lang="cs-CZ" sz="320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42646E-AB6F-34C1-65D4-C04C0210D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anchor="t">
            <a:normAutofit/>
          </a:bodyPr>
          <a:lstStyle/>
          <a:p>
            <a:r>
              <a:rPr lang="cs-CZ" sz="2000" b="1" dirty="0">
                <a:solidFill>
                  <a:schemeClr val="bg1"/>
                </a:solidFill>
              </a:rPr>
              <a:t>infrastruktura</a:t>
            </a:r>
            <a:r>
              <a:rPr lang="cs-CZ" sz="2000" dirty="0">
                <a:solidFill>
                  <a:schemeClr val="bg1"/>
                </a:solidFill>
              </a:rPr>
              <a:t> (switch, router), </a:t>
            </a:r>
            <a:r>
              <a:rPr lang="cs-CZ" sz="2000" b="1" dirty="0">
                <a:solidFill>
                  <a:schemeClr val="bg1"/>
                </a:solidFill>
              </a:rPr>
              <a:t>aplikace</a:t>
            </a:r>
            <a:r>
              <a:rPr lang="cs-CZ" sz="2000" dirty="0">
                <a:solidFill>
                  <a:schemeClr val="bg1"/>
                </a:solidFill>
              </a:rPr>
              <a:t> (web server), </a:t>
            </a:r>
            <a:r>
              <a:rPr lang="cs-CZ" sz="2000" b="1" dirty="0" err="1">
                <a:solidFill>
                  <a:schemeClr val="bg1"/>
                </a:solidFill>
              </a:rPr>
              <a:t>flow</a:t>
            </a:r>
            <a:r>
              <a:rPr lang="cs-CZ" sz="2000" dirty="0">
                <a:solidFill>
                  <a:schemeClr val="bg1"/>
                </a:solidFill>
              </a:rPr>
              <a:t> (síťová analýza provozu - důležité)</a:t>
            </a:r>
          </a:p>
          <a:p>
            <a:r>
              <a:rPr lang="cs-CZ" sz="2000" b="1" dirty="0">
                <a:solidFill>
                  <a:schemeClr val="bg1"/>
                </a:solidFill>
              </a:rPr>
              <a:t>Napojení</a:t>
            </a:r>
            <a:r>
              <a:rPr lang="cs-CZ" sz="2000" dirty="0">
                <a:solidFill>
                  <a:schemeClr val="bg1"/>
                </a:solidFill>
              </a:rPr>
              <a:t> na </a:t>
            </a:r>
            <a:r>
              <a:rPr lang="cs-CZ" sz="2000" b="1" dirty="0">
                <a:solidFill>
                  <a:schemeClr val="bg1"/>
                </a:solidFill>
              </a:rPr>
              <a:t>SIEM</a:t>
            </a:r>
            <a:r>
              <a:rPr lang="cs-CZ" sz="2000" dirty="0">
                <a:solidFill>
                  <a:schemeClr val="bg1"/>
                </a:solidFill>
              </a:rPr>
              <a:t> systém (</a:t>
            </a:r>
            <a:r>
              <a:rPr lang="cs-CZ" sz="2000" dirty="0" err="1">
                <a:solidFill>
                  <a:schemeClr val="bg1"/>
                </a:solidFill>
              </a:rPr>
              <a:t>Security</a:t>
            </a:r>
            <a:r>
              <a:rPr lang="cs-CZ" sz="2000" dirty="0">
                <a:solidFill>
                  <a:schemeClr val="bg1"/>
                </a:solidFill>
              </a:rPr>
              <a:t> </a:t>
            </a:r>
            <a:r>
              <a:rPr lang="cs-CZ" sz="2000" dirty="0" err="1">
                <a:solidFill>
                  <a:schemeClr val="bg1"/>
                </a:solidFill>
              </a:rPr>
              <a:t>Information</a:t>
            </a:r>
            <a:r>
              <a:rPr lang="cs-CZ" sz="2000" dirty="0">
                <a:solidFill>
                  <a:schemeClr val="bg1"/>
                </a:solidFill>
              </a:rPr>
              <a:t> and Event Management) – spojí oddělené informace z firewallu, serveru, routerů a </a:t>
            </a:r>
            <a:r>
              <a:rPr lang="cs-CZ" sz="2000" dirty="0" err="1">
                <a:solidFill>
                  <a:schemeClr val="bg1"/>
                </a:solidFill>
              </a:rPr>
              <a:t>switchů</a:t>
            </a:r>
            <a:r>
              <a:rPr lang="cs-CZ" sz="2000" dirty="0">
                <a:solidFill>
                  <a:schemeClr val="bg1"/>
                </a:solidFill>
              </a:rPr>
              <a:t> a síťových prvků = </a:t>
            </a:r>
            <a:r>
              <a:rPr lang="cs-CZ" sz="2000" b="1" dirty="0">
                <a:solidFill>
                  <a:schemeClr val="bg1"/>
                </a:solidFill>
              </a:rPr>
              <a:t>poskytne detailní přehled.</a:t>
            </a:r>
          </a:p>
          <a:p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148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3E2925-9D2F-4436-8D47-E7C1C5703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25FA043-3874-AF10-68D0-E53D25A98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43581"/>
            <a:ext cx="10518776" cy="2308324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algn="ctr"/>
            <a:r>
              <a:rPr lang="en-US" sz="7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protokol</a:t>
            </a:r>
            <a:r>
              <a:rPr lang="en-US" sz="7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SNMP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A188E4-F255-43D0-92CC-3CF3D7701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637211" cy="1649863"/>
            <a:chOff x="1" y="1"/>
            <a:chExt cx="9637211" cy="1649863"/>
          </a:xfr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71FCDE-112A-4324-B49A-CA94CBA7E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56EED7-40A9-4EAF-B230-108CC384E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bg1">
                <a:alpha val="14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EABE02-705D-4B3A-B7DF-634641E1D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739305" cy="1775939"/>
            <a:chOff x="1" y="1"/>
            <a:chExt cx="9739305" cy="177593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8C4F13C-93EF-478B-A270-CF799F866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000297-B3F2-4605-9C3B-D7655D682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877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2547953-3988-1ABF-E831-959B7C2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261138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cs-CZ" sz="3200" b="1">
                <a:solidFill>
                  <a:schemeClr val="bg1">
                    <a:alpha val="60000"/>
                  </a:schemeClr>
                </a:solidFill>
              </a:rPr>
              <a:t>SNMP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BBAD0B-BBE8-9FCD-6C44-D70CFAE33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anchor="t">
            <a:normAutofit/>
          </a:bodyPr>
          <a:lstStyle/>
          <a:p>
            <a:r>
              <a:rPr lang="cs-CZ" sz="1700" b="1">
                <a:solidFill>
                  <a:schemeClr val="bg1"/>
                </a:solidFill>
              </a:rPr>
              <a:t>Simple Network Management Protocol </a:t>
            </a:r>
            <a:r>
              <a:rPr lang="cs-CZ" sz="1700">
                <a:solidFill>
                  <a:schemeClr val="bg1"/>
                </a:solidFill>
              </a:rPr>
              <a:t>je </a:t>
            </a:r>
            <a:r>
              <a:rPr lang="cs-CZ" sz="1700" b="1">
                <a:solidFill>
                  <a:schemeClr val="bg1"/>
                </a:solidFill>
              </a:rPr>
              <a:t>jednoduchý, široce rozšířený</a:t>
            </a:r>
            <a:r>
              <a:rPr lang="cs-CZ" sz="1700">
                <a:solidFill>
                  <a:schemeClr val="bg1"/>
                </a:solidFill>
              </a:rPr>
              <a:t> a </a:t>
            </a:r>
            <a:r>
              <a:rPr lang="cs-CZ" sz="1700" b="1">
                <a:solidFill>
                  <a:schemeClr val="bg1"/>
                </a:solidFill>
              </a:rPr>
              <a:t>užitečný protokol</a:t>
            </a:r>
            <a:r>
              <a:rPr lang="cs-CZ" sz="1700">
                <a:solidFill>
                  <a:schemeClr val="bg1"/>
                </a:solidFill>
              </a:rPr>
              <a:t>.</a:t>
            </a:r>
          </a:p>
          <a:p>
            <a:r>
              <a:rPr lang="cs-CZ" sz="1700">
                <a:solidFill>
                  <a:schemeClr val="bg1"/>
                </a:solidFill>
              </a:rPr>
              <a:t>Slouží k </a:t>
            </a:r>
            <a:r>
              <a:rPr lang="cs-CZ" sz="1700" b="1">
                <a:solidFill>
                  <a:schemeClr val="bg1"/>
                </a:solidFill>
              </a:rPr>
              <a:t>získávání</a:t>
            </a:r>
            <a:r>
              <a:rPr lang="cs-CZ" sz="1700">
                <a:solidFill>
                  <a:schemeClr val="bg1"/>
                </a:solidFill>
              </a:rPr>
              <a:t> nebo ke </a:t>
            </a:r>
            <a:r>
              <a:rPr lang="cs-CZ" sz="1700" b="1">
                <a:solidFill>
                  <a:schemeClr val="bg1"/>
                </a:solidFill>
              </a:rPr>
              <a:t>vzdálené konfiguraci zařízení </a:t>
            </a:r>
            <a:r>
              <a:rPr lang="cs-CZ" sz="1700">
                <a:solidFill>
                  <a:schemeClr val="bg1"/>
                </a:solidFill>
              </a:rPr>
              <a:t>a </a:t>
            </a:r>
            <a:r>
              <a:rPr lang="cs-CZ" sz="1700" b="1">
                <a:solidFill>
                  <a:schemeClr val="bg1"/>
                </a:solidFill>
              </a:rPr>
              <a:t>hodnot</a:t>
            </a:r>
            <a:r>
              <a:rPr lang="cs-CZ" sz="1700">
                <a:solidFill>
                  <a:schemeClr val="bg1"/>
                </a:solidFill>
              </a:rPr>
              <a:t>.</a:t>
            </a:r>
          </a:p>
          <a:p>
            <a:r>
              <a:rPr lang="cs-CZ" sz="1700">
                <a:solidFill>
                  <a:schemeClr val="bg1"/>
                </a:solidFill>
              </a:rPr>
              <a:t> </a:t>
            </a:r>
            <a:r>
              <a:rPr lang="cs-CZ" sz="1700" b="1">
                <a:solidFill>
                  <a:schemeClr val="bg1"/>
                </a:solidFill>
              </a:rPr>
              <a:t>Podporu SNMP</a:t>
            </a:r>
            <a:r>
              <a:rPr lang="cs-CZ" sz="1700">
                <a:solidFill>
                  <a:schemeClr val="bg1"/>
                </a:solidFill>
              </a:rPr>
              <a:t> má velká řada zařízení:</a:t>
            </a:r>
          </a:p>
          <a:p>
            <a:pPr lvl="1"/>
            <a:r>
              <a:rPr lang="cs-CZ" sz="1700">
                <a:solidFill>
                  <a:schemeClr val="bg1"/>
                </a:solidFill>
              </a:rPr>
              <a:t>například </a:t>
            </a:r>
            <a:r>
              <a:rPr lang="cs-CZ" sz="1700" b="1">
                <a:solidFill>
                  <a:schemeClr val="bg1"/>
                </a:solidFill>
              </a:rPr>
              <a:t>aktivní síťové prvky, tiskárny, AP </a:t>
            </a:r>
            <a:r>
              <a:rPr lang="cs-CZ" sz="1700">
                <a:solidFill>
                  <a:schemeClr val="bg1"/>
                </a:solidFill>
              </a:rPr>
              <a:t>nebo pomocí </a:t>
            </a:r>
            <a:r>
              <a:rPr lang="cs-CZ" sz="1700" b="1">
                <a:solidFill>
                  <a:schemeClr val="bg1"/>
                </a:solidFill>
              </a:rPr>
              <a:t>softwaru</a:t>
            </a:r>
            <a:r>
              <a:rPr lang="cs-CZ" sz="1700">
                <a:solidFill>
                  <a:schemeClr val="bg1"/>
                </a:solidFill>
              </a:rPr>
              <a:t> a ovladačů ji mohou získat </a:t>
            </a:r>
            <a:r>
              <a:rPr lang="cs-CZ" sz="1700" b="1">
                <a:solidFill>
                  <a:schemeClr val="bg1"/>
                </a:solidFill>
              </a:rPr>
              <a:t>PC</a:t>
            </a:r>
            <a:r>
              <a:rPr lang="cs-CZ" sz="1700">
                <a:solidFill>
                  <a:schemeClr val="bg1"/>
                </a:solidFill>
              </a:rPr>
              <a:t> a </a:t>
            </a:r>
            <a:r>
              <a:rPr lang="cs-CZ" sz="1700" b="1">
                <a:solidFill>
                  <a:schemeClr val="bg1"/>
                </a:solidFill>
              </a:rPr>
              <a:t>servery</a:t>
            </a:r>
            <a:r>
              <a:rPr lang="cs-CZ" sz="1700">
                <a:solidFill>
                  <a:schemeClr val="bg1"/>
                </a:solidFill>
              </a:rPr>
              <a:t>.</a:t>
            </a:r>
          </a:p>
          <a:p>
            <a:r>
              <a:rPr lang="cs-CZ" sz="1700">
                <a:solidFill>
                  <a:schemeClr val="bg1"/>
                </a:solidFill>
              </a:rPr>
              <a:t>Hodnoty můžeme získávat v pravidelném intervalu a ty pak jednoduše ukládat do databáze spolu s časem a následně </a:t>
            </a:r>
            <a:r>
              <a:rPr lang="cs-CZ" sz="1700" b="1">
                <a:solidFill>
                  <a:schemeClr val="bg1"/>
                </a:solidFill>
              </a:rPr>
              <a:t>vykreslit</a:t>
            </a:r>
            <a:r>
              <a:rPr lang="cs-CZ" sz="1700">
                <a:solidFill>
                  <a:schemeClr val="bg1"/>
                </a:solidFill>
              </a:rPr>
              <a:t> </a:t>
            </a:r>
            <a:r>
              <a:rPr lang="cs-CZ" sz="1700" b="1">
                <a:solidFill>
                  <a:schemeClr val="bg1"/>
                </a:solidFill>
              </a:rPr>
              <a:t>do grafu</a:t>
            </a:r>
            <a:r>
              <a:rPr lang="cs-CZ" sz="1700">
                <a:solidFill>
                  <a:schemeClr val="bg1"/>
                </a:solidFill>
              </a:rPr>
              <a:t>.</a:t>
            </a:r>
          </a:p>
          <a:p>
            <a:r>
              <a:rPr lang="cs-CZ" sz="1700">
                <a:solidFill>
                  <a:schemeClr val="bg1"/>
                </a:solidFill>
              </a:rPr>
              <a:t> Přehledně tak můžeme zobrazit třeba </a:t>
            </a:r>
            <a:r>
              <a:rPr lang="cs-CZ" sz="1700" b="1">
                <a:solidFill>
                  <a:schemeClr val="bg1"/>
                </a:solidFill>
              </a:rPr>
              <a:t>vytížení procesoru</a:t>
            </a:r>
            <a:r>
              <a:rPr lang="cs-CZ" sz="1700">
                <a:solidFill>
                  <a:schemeClr val="bg1"/>
                </a:solidFill>
              </a:rPr>
              <a:t>, </a:t>
            </a:r>
            <a:r>
              <a:rPr lang="cs-CZ" sz="1700" b="1">
                <a:solidFill>
                  <a:schemeClr val="bg1"/>
                </a:solidFill>
              </a:rPr>
              <a:t>průběh teploty</a:t>
            </a:r>
            <a:r>
              <a:rPr lang="cs-CZ" sz="1700">
                <a:solidFill>
                  <a:schemeClr val="bg1"/>
                </a:solidFill>
              </a:rPr>
              <a:t>, nebo </a:t>
            </a:r>
            <a:r>
              <a:rPr lang="cs-CZ" sz="1700" b="1">
                <a:solidFill>
                  <a:schemeClr val="bg1"/>
                </a:solidFill>
              </a:rPr>
              <a:t>datový tok </a:t>
            </a:r>
            <a:r>
              <a:rPr lang="cs-CZ" sz="1700">
                <a:solidFill>
                  <a:schemeClr val="bg1"/>
                </a:solidFill>
              </a:rPr>
              <a:t>na portu přepínače.</a:t>
            </a:r>
          </a:p>
        </p:txBody>
      </p:sp>
    </p:spTree>
    <p:extLst>
      <p:ext uri="{BB962C8B-B14F-4D97-AF65-F5344CB8AC3E}">
        <p14:creationId xmlns:p14="http://schemas.microsoft.com/office/powerpoint/2010/main" val="223146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3160659-B614-3A38-56C3-E65C1BC8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261138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cs-CZ" sz="3200" b="1" dirty="0">
                <a:solidFill>
                  <a:schemeClr val="bg1">
                    <a:alpha val="60000"/>
                  </a:schemeClr>
                </a:solidFill>
              </a:rPr>
              <a:t>Jak SNMP funguje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CC12E00-0F2B-A6B6-8A17-E6009B2E4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anchor="t">
            <a:normAutofit/>
          </a:bodyPr>
          <a:lstStyle/>
          <a:p>
            <a:r>
              <a:rPr lang="cs-CZ" sz="1300" dirty="0">
                <a:solidFill>
                  <a:schemeClr val="bg1"/>
                </a:solidFill>
              </a:rPr>
              <a:t>Protokol SNMP vyžaduje pro komunikaci </a:t>
            </a:r>
            <a:r>
              <a:rPr lang="cs-CZ" sz="1300" b="1" dirty="0">
                <a:solidFill>
                  <a:schemeClr val="bg1"/>
                </a:solidFill>
              </a:rPr>
              <a:t>dvě strany</a:t>
            </a:r>
            <a:r>
              <a:rPr lang="cs-CZ" sz="1300" dirty="0">
                <a:solidFill>
                  <a:schemeClr val="bg1"/>
                </a:solidFill>
              </a:rPr>
              <a:t>. Jednou entitou je </a:t>
            </a:r>
            <a:r>
              <a:rPr lang="cs-CZ" sz="1300" b="1" dirty="0">
                <a:solidFill>
                  <a:schemeClr val="bg1"/>
                </a:solidFill>
              </a:rPr>
              <a:t>správce (manager) </a:t>
            </a:r>
            <a:r>
              <a:rPr lang="cs-CZ" sz="1300" dirty="0">
                <a:solidFill>
                  <a:schemeClr val="bg1"/>
                </a:solidFill>
              </a:rPr>
              <a:t>a druhou </a:t>
            </a:r>
            <a:r>
              <a:rPr lang="cs-CZ" sz="1300" b="1" dirty="0">
                <a:solidFill>
                  <a:schemeClr val="bg1"/>
                </a:solidFill>
              </a:rPr>
              <a:t>agent</a:t>
            </a:r>
            <a:r>
              <a:rPr lang="cs-CZ" sz="1300" dirty="0">
                <a:solidFill>
                  <a:schemeClr val="bg1"/>
                </a:solidFill>
              </a:rPr>
              <a:t>. </a:t>
            </a:r>
          </a:p>
          <a:p>
            <a:r>
              <a:rPr lang="cs-CZ" sz="1300" dirty="0">
                <a:solidFill>
                  <a:schemeClr val="bg1"/>
                </a:solidFill>
              </a:rPr>
              <a:t>SNMP pracuje ve </a:t>
            </a:r>
            <a:r>
              <a:rPr lang="cs-CZ" sz="1300" b="1" dirty="0">
                <a:solidFill>
                  <a:schemeClr val="bg1"/>
                </a:solidFill>
              </a:rPr>
              <a:t>dvou režimech činnosti</a:t>
            </a:r>
            <a:r>
              <a:rPr lang="cs-CZ" sz="1300" dirty="0">
                <a:solidFill>
                  <a:schemeClr val="bg1"/>
                </a:solidFill>
              </a:rPr>
              <a:t>: Správce posílá </a:t>
            </a:r>
            <a:r>
              <a:rPr lang="cs-CZ" sz="1300" b="1" dirty="0">
                <a:solidFill>
                  <a:schemeClr val="bg1"/>
                </a:solidFill>
              </a:rPr>
              <a:t>dotazy agentovi </a:t>
            </a:r>
            <a:r>
              <a:rPr lang="cs-CZ" sz="1300" dirty="0">
                <a:solidFill>
                  <a:schemeClr val="bg1"/>
                </a:solidFill>
              </a:rPr>
              <a:t>a </a:t>
            </a:r>
            <a:r>
              <a:rPr lang="cs-CZ" sz="1300" b="1" dirty="0">
                <a:solidFill>
                  <a:schemeClr val="bg1"/>
                </a:solidFill>
              </a:rPr>
              <a:t>přijímá odpovědi</a:t>
            </a:r>
            <a:r>
              <a:rPr lang="cs-CZ" sz="1300" dirty="0">
                <a:solidFill>
                  <a:schemeClr val="bg1"/>
                </a:solidFill>
              </a:rPr>
              <a:t>.</a:t>
            </a:r>
          </a:p>
          <a:p>
            <a:r>
              <a:rPr lang="cs-CZ" sz="1300" dirty="0">
                <a:solidFill>
                  <a:schemeClr val="bg1"/>
                </a:solidFill>
              </a:rPr>
              <a:t>Hodnoty tedy může získávat i více správců a mohou se ptát kdykoliv. </a:t>
            </a:r>
          </a:p>
          <a:p>
            <a:r>
              <a:rPr lang="cs-CZ" sz="1300" dirty="0">
                <a:solidFill>
                  <a:schemeClr val="bg1"/>
                </a:solidFill>
              </a:rPr>
              <a:t>Agent zasílá oznámení na adresu správce v nějakých definovaných situacích odesílá agent jednomu správci hodnoty. </a:t>
            </a:r>
          </a:p>
          <a:p>
            <a:r>
              <a:rPr lang="cs-CZ" sz="1300" dirty="0">
                <a:solidFill>
                  <a:schemeClr val="bg1"/>
                </a:solidFill>
              </a:rPr>
              <a:t>V </a:t>
            </a:r>
            <a:r>
              <a:rPr lang="cs-CZ" sz="1300" b="1" dirty="0">
                <a:solidFill>
                  <a:schemeClr val="bg1"/>
                </a:solidFill>
              </a:rPr>
              <a:t>SNMPv3</a:t>
            </a:r>
            <a:r>
              <a:rPr lang="cs-CZ" sz="1300" dirty="0">
                <a:solidFill>
                  <a:schemeClr val="bg1"/>
                </a:solidFill>
              </a:rPr>
              <a:t> je možno využít </a:t>
            </a:r>
            <a:r>
              <a:rPr lang="cs-CZ" sz="1300" b="1" dirty="0">
                <a:solidFill>
                  <a:schemeClr val="bg1"/>
                </a:solidFill>
              </a:rPr>
              <a:t>autentizaci</a:t>
            </a:r>
            <a:r>
              <a:rPr lang="cs-CZ" sz="1300" dirty="0">
                <a:solidFill>
                  <a:schemeClr val="bg1"/>
                </a:solidFill>
              </a:rPr>
              <a:t> pomocí jména a hesla a šifrování. Existují 3 verze tohoto protokolu </a:t>
            </a:r>
          </a:p>
          <a:p>
            <a:r>
              <a:rPr lang="cs-CZ" sz="1300" dirty="0">
                <a:solidFill>
                  <a:schemeClr val="bg1"/>
                </a:solidFill>
              </a:rPr>
              <a:t>SNMPv1 - v dnešní době nejméně používaný, vyskytuje se zde </a:t>
            </a:r>
            <a:r>
              <a:rPr lang="cs-CZ" sz="1300" b="1" dirty="0">
                <a:solidFill>
                  <a:schemeClr val="bg1"/>
                </a:solidFill>
              </a:rPr>
              <a:t>bezpečností riziko</a:t>
            </a:r>
            <a:r>
              <a:rPr lang="cs-CZ" sz="1300" dirty="0">
                <a:solidFill>
                  <a:schemeClr val="bg1"/>
                </a:solidFill>
              </a:rPr>
              <a:t>, protože má </a:t>
            </a:r>
            <a:r>
              <a:rPr lang="cs-CZ" sz="1300" b="1" dirty="0">
                <a:solidFill>
                  <a:schemeClr val="bg1"/>
                </a:solidFill>
              </a:rPr>
              <a:t>sdílený klíč</a:t>
            </a:r>
            <a:r>
              <a:rPr lang="cs-CZ" sz="1300" dirty="0">
                <a:solidFill>
                  <a:schemeClr val="bg1"/>
                </a:solidFill>
              </a:rPr>
              <a:t>.</a:t>
            </a:r>
          </a:p>
          <a:p>
            <a:r>
              <a:rPr lang="cs-CZ" sz="1300" dirty="0">
                <a:solidFill>
                  <a:schemeClr val="bg1"/>
                </a:solidFill>
              </a:rPr>
              <a:t>SNMPv2 - nejvíce používaná verze tohoto protokolu, umožňuje více zařízení a práci s chybovými hláškami.</a:t>
            </a:r>
          </a:p>
          <a:p>
            <a:r>
              <a:rPr lang="cs-CZ" sz="1300" dirty="0">
                <a:solidFill>
                  <a:schemeClr val="bg1"/>
                </a:solidFill>
              </a:rPr>
              <a:t>SNMPv3 - přináší vylepšení v oblasti bezpečnosti, což je zásadní v prostředí, kde jsou data přenášena přes veřejné sítě.</a:t>
            </a:r>
          </a:p>
          <a:p>
            <a:r>
              <a:rPr lang="cs-CZ" sz="1300" b="1" dirty="0" err="1">
                <a:solidFill>
                  <a:schemeClr val="bg1"/>
                </a:solidFill>
              </a:rPr>
              <a:t>Get</a:t>
            </a:r>
            <a:r>
              <a:rPr lang="cs-CZ" sz="1300" b="1" dirty="0">
                <a:solidFill>
                  <a:schemeClr val="bg1"/>
                </a:solidFill>
              </a:rPr>
              <a:t> akce </a:t>
            </a:r>
            <a:r>
              <a:rPr lang="cs-CZ" sz="1300" dirty="0">
                <a:solidFill>
                  <a:schemeClr val="bg1"/>
                </a:solidFill>
              </a:rPr>
              <a:t>= </a:t>
            </a:r>
            <a:r>
              <a:rPr lang="cs-CZ" sz="1300" b="1" dirty="0">
                <a:solidFill>
                  <a:schemeClr val="bg1"/>
                </a:solidFill>
              </a:rPr>
              <a:t>získat informace </a:t>
            </a:r>
            <a:r>
              <a:rPr lang="cs-CZ" sz="1300" dirty="0">
                <a:solidFill>
                  <a:schemeClr val="bg1"/>
                </a:solidFill>
              </a:rPr>
              <a:t>o stavu, </a:t>
            </a:r>
            <a:r>
              <a:rPr lang="cs-CZ" sz="1300" b="1" dirty="0">
                <a:solidFill>
                  <a:schemeClr val="bg1"/>
                </a:solidFill>
              </a:rPr>
              <a:t>set akce </a:t>
            </a:r>
            <a:r>
              <a:rPr lang="cs-CZ" sz="1300" dirty="0">
                <a:solidFill>
                  <a:schemeClr val="bg1"/>
                </a:solidFill>
              </a:rPr>
              <a:t>=</a:t>
            </a:r>
            <a:r>
              <a:rPr lang="cs-CZ" sz="1300" b="1" dirty="0">
                <a:solidFill>
                  <a:schemeClr val="bg1"/>
                </a:solidFill>
              </a:rPr>
              <a:t> </a:t>
            </a:r>
            <a:r>
              <a:rPr lang="cs-CZ" sz="1300" dirty="0">
                <a:solidFill>
                  <a:schemeClr val="bg1"/>
                </a:solidFill>
              </a:rPr>
              <a:t>změnit </a:t>
            </a:r>
            <a:r>
              <a:rPr lang="cs-CZ" sz="1300" b="1" dirty="0">
                <a:solidFill>
                  <a:schemeClr val="bg1"/>
                </a:solidFill>
              </a:rPr>
              <a:t>konfiguraci</a:t>
            </a:r>
          </a:p>
        </p:txBody>
      </p:sp>
    </p:spTree>
    <p:extLst>
      <p:ext uri="{BB962C8B-B14F-4D97-AF65-F5344CB8AC3E}">
        <p14:creationId xmlns:p14="http://schemas.microsoft.com/office/powerpoint/2010/main" val="3524750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3E2925-9D2F-4436-8D47-E7C1C5703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E59500-168E-939D-941A-DE3970C7C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43581"/>
            <a:ext cx="10518776" cy="2308324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algn="ctr"/>
            <a:r>
              <a:rPr lang="en-US" sz="6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Monitoring </a:t>
            </a:r>
            <a:r>
              <a:rPr lang="en-US" sz="6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síťového</a:t>
            </a:r>
            <a:r>
              <a:rPr lang="en-US" sz="6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provozu</a:t>
            </a:r>
            <a:r>
              <a:rPr lang="en-US" sz="6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pomocí</a:t>
            </a:r>
            <a:r>
              <a:rPr lang="en-US" sz="6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IP </a:t>
            </a:r>
            <a:r>
              <a:rPr lang="en-US" sz="6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toků</a:t>
            </a:r>
            <a:r>
              <a:rPr lang="en-US" sz="6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NetFlow, IPFIX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A188E4-F255-43D0-92CC-3CF3D7701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637211" cy="1649863"/>
            <a:chOff x="1" y="1"/>
            <a:chExt cx="9637211" cy="1649863"/>
          </a:xfr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71FCDE-112A-4324-B49A-CA94CBA7E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56EED7-40A9-4EAF-B230-108CC384E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bg1">
                <a:alpha val="14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EABE02-705D-4B3A-B7DF-634641E1D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739305" cy="1775939"/>
            <a:chOff x="1" y="1"/>
            <a:chExt cx="9739305" cy="177593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8C4F13C-93EF-478B-A270-CF799F866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000297-B3F2-4605-9C3B-D7655D682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7420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97727F4-4AEA-FE73-797C-79CC39D76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261138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cs-CZ" sz="3200" b="1">
                <a:solidFill>
                  <a:schemeClr val="bg1">
                    <a:alpha val="60000"/>
                  </a:schemeClr>
                </a:solidFill>
              </a:rPr>
              <a:t>NetFlow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9666DF-9CF9-02B9-A002-2B4B4EB8D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anchor="t">
            <a:norm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verze </a:t>
            </a:r>
            <a:r>
              <a:rPr lang="cs-CZ" sz="2000" b="1" dirty="0">
                <a:solidFill>
                  <a:schemeClr val="bg1"/>
                </a:solidFill>
              </a:rPr>
              <a:t>5 a 9 </a:t>
            </a:r>
            <a:r>
              <a:rPr lang="cs-CZ" sz="2000" dirty="0">
                <a:solidFill>
                  <a:schemeClr val="bg1"/>
                </a:solidFill>
              </a:rPr>
              <a:t>= vznik jako protokol od </a:t>
            </a:r>
            <a:r>
              <a:rPr lang="cs-CZ" sz="2000" b="1" dirty="0">
                <a:solidFill>
                  <a:schemeClr val="bg1"/>
                </a:solidFill>
              </a:rPr>
              <a:t>CISCO</a:t>
            </a:r>
            <a:r>
              <a:rPr lang="cs-CZ" sz="2000" dirty="0">
                <a:solidFill>
                  <a:schemeClr val="bg1"/>
                </a:solidFill>
              </a:rPr>
              <a:t>, umožňuje popsat informaci pomocí </a:t>
            </a:r>
            <a:r>
              <a:rPr lang="cs-CZ" sz="2000" b="1" dirty="0">
                <a:solidFill>
                  <a:schemeClr val="bg1"/>
                </a:solidFill>
              </a:rPr>
              <a:t>source </a:t>
            </a:r>
            <a:r>
              <a:rPr lang="cs-CZ" sz="2000" b="1" dirty="0" err="1">
                <a:solidFill>
                  <a:schemeClr val="bg1"/>
                </a:solidFill>
              </a:rPr>
              <a:t>socket</a:t>
            </a:r>
            <a:r>
              <a:rPr lang="cs-CZ" sz="2000" b="1" dirty="0">
                <a:solidFill>
                  <a:schemeClr val="bg1"/>
                </a:solidFill>
              </a:rPr>
              <a:t> </a:t>
            </a:r>
            <a:r>
              <a:rPr lang="cs-CZ" sz="2000" dirty="0">
                <a:solidFill>
                  <a:schemeClr val="bg1"/>
                </a:solidFill>
              </a:rPr>
              <a:t>a </a:t>
            </a:r>
            <a:r>
              <a:rPr lang="cs-CZ" sz="2000" b="1" dirty="0" err="1">
                <a:solidFill>
                  <a:schemeClr val="bg1"/>
                </a:solidFill>
              </a:rPr>
              <a:t>destination</a:t>
            </a:r>
            <a:r>
              <a:rPr lang="cs-CZ" sz="2000" b="1" dirty="0">
                <a:solidFill>
                  <a:schemeClr val="bg1"/>
                </a:solidFill>
              </a:rPr>
              <a:t> </a:t>
            </a:r>
            <a:r>
              <a:rPr lang="cs-CZ" sz="2000" b="1" dirty="0" err="1">
                <a:solidFill>
                  <a:schemeClr val="bg1"/>
                </a:solidFill>
              </a:rPr>
              <a:t>socket</a:t>
            </a:r>
            <a:r>
              <a:rPr lang="cs-CZ" sz="2000" dirty="0">
                <a:solidFill>
                  <a:schemeClr val="bg1"/>
                </a:solidFill>
              </a:rPr>
              <a:t>, umožňuje </a:t>
            </a:r>
            <a:r>
              <a:rPr lang="cs-CZ" sz="2000" b="1" dirty="0">
                <a:solidFill>
                  <a:schemeClr val="bg1"/>
                </a:solidFill>
              </a:rPr>
              <a:t>agregaci paketů</a:t>
            </a:r>
            <a:r>
              <a:rPr lang="cs-CZ" sz="2000" dirty="0">
                <a:solidFill>
                  <a:schemeClr val="bg1"/>
                </a:solidFill>
              </a:rPr>
              <a:t>, nepřenáší informaci o každém paketu zvlášť.</a:t>
            </a:r>
          </a:p>
          <a:p>
            <a:r>
              <a:rPr lang="cs-CZ" sz="2000" b="1" u="sng" dirty="0">
                <a:solidFill>
                  <a:schemeClr val="bg1"/>
                </a:solidFill>
              </a:rPr>
              <a:t>Skládá se ze 3 částí </a:t>
            </a:r>
          </a:p>
          <a:p>
            <a:pPr lvl="1"/>
            <a:r>
              <a:rPr lang="cs-CZ" sz="2000" b="1" dirty="0" err="1">
                <a:solidFill>
                  <a:schemeClr val="bg1"/>
                </a:solidFill>
              </a:rPr>
              <a:t>Flow</a:t>
            </a:r>
            <a:r>
              <a:rPr lang="cs-CZ" sz="2000" b="1" dirty="0">
                <a:solidFill>
                  <a:schemeClr val="bg1"/>
                </a:solidFill>
              </a:rPr>
              <a:t> </a:t>
            </a:r>
            <a:r>
              <a:rPr lang="cs-CZ" sz="2000" b="1" dirty="0" err="1">
                <a:solidFill>
                  <a:schemeClr val="bg1"/>
                </a:solidFill>
              </a:rPr>
              <a:t>exporter</a:t>
            </a:r>
            <a:r>
              <a:rPr lang="cs-CZ" sz="2000" b="1" dirty="0">
                <a:solidFill>
                  <a:schemeClr val="bg1"/>
                </a:solidFill>
              </a:rPr>
              <a:t> </a:t>
            </a:r>
            <a:r>
              <a:rPr lang="cs-CZ" sz="2000" dirty="0">
                <a:solidFill>
                  <a:schemeClr val="bg1"/>
                </a:solidFill>
              </a:rPr>
              <a:t>= </a:t>
            </a:r>
            <a:r>
              <a:rPr lang="cs-CZ" sz="2000" b="1" dirty="0">
                <a:solidFill>
                  <a:schemeClr val="bg1"/>
                </a:solidFill>
              </a:rPr>
              <a:t>agreguje pakety </a:t>
            </a:r>
            <a:r>
              <a:rPr lang="cs-CZ" sz="2000" dirty="0">
                <a:solidFill>
                  <a:schemeClr val="bg1"/>
                </a:solidFill>
              </a:rPr>
              <a:t>do toků, většinou </a:t>
            </a:r>
            <a:r>
              <a:rPr lang="cs-CZ" sz="2000" b="1" dirty="0">
                <a:solidFill>
                  <a:schemeClr val="bg1"/>
                </a:solidFill>
              </a:rPr>
              <a:t>router</a:t>
            </a:r>
            <a:r>
              <a:rPr lang="cs-CZ" sz="2000" dirty="0">
                <a:solidFill>
                  <a:schemeClr val="bg1"/>
                </a:solidFill>
              </a:rPr>
              <a:t> nebo kódový </a:t>
            </a:r>
            <a:r>
              <a:rPr lang="cs-CZ" sz="2000" b="1" dirty="0">
                <a:solidFill>
                  <a:schemeClr val="bg1"/>
                </a:solidFill>
              </a:rPr>
              <a:t>switch</a:t>
            </a:r>
            <a:r>
              <a:rPr lang="cs-CZ" sz="2000" dirty="0">
                <a:solidFill>
                  <a:schemeClr val="bg1"/>
                </a:solidFill>
              </a:rPr>
              <a:t>, potřebujeme určitý hardware.</a:t>
            </a:r>
          </a:p>
          <a:p>
            <a:pPr lvl="1"/>
            <a:r>
              <a:rPr lang="cs-CZ" sz="2000" b="1" dirty="0" err="1">
                <a:solidFill>
                  <a:schemeClr val="bg1"/>
                </a:solidFill>
              </a:rPr>
              <a:t>Flow</a:t>
            </a:r>
            <a:r>
              <a:rPr lang="cs-CZ" sz="2000" b="1" dirty="0">
                <a:solidFill>
                  <a:schemeClr val="bg1"/>
                </a:solidFill>
              </a:rPr>
              <a:t> </a:t>
            </a:r>
            <a:r>
              <a:rPr lang="cs-CZ" sz="2000" b="1" dirty="0" err="1">
                <a:solidFill>
                  <a:schemeClr val="bg1"/>
                </a:solidFill>
              </a:rPr>
              <a:t>collector</a:t>
            </a:r>
            <a:r>
              <a:rPr lang="cs-CZ" sz="2000" b="1" dirty="0">
                <a:solidFill>
                  <a:schemeClr val="bg1"/>
                </a:solidFill>
              </a:rPr>
              <a:t> </a:t>
            </a:r>
            <a:r>
              <a:rPr lang="cs-CZ" sz="2000" dirty="0">
                <a:solidFill>
                  <a:schemeClr val="bg1"/>
                </a:solidFill>
              </a:rPr>
              <a:t>= </a:t>
            </a:r>
            <a:r>
              <a:rPr lang="cs-CZ" sz="2000" b="1" dirty="0">
                <a:solidFill>
                  <a:schemeClr val="bg1"/>
                </a:solidFill>
              </a:rPr>
              <a:t>server</a:t>
            </a:r>
            <a:r>
              <a:rPr lang="cs-CZ" sz="2000" dirty="0">
                <a:solidFill>
                  <a:schemeClr val="bg1"/>
                </a:solidFill>
              </a:rPr>
              <a:t>, který sbírá informace do </a:t>
            </a:r>
            <a:r>
              <a:rPr lang="cs-CZ" sz="2000" b="1" dirty="0">
                <a:solidFill>
                  <a:schemeClr val="bg1"/>
                </a:solidFill>
              </a:rPr>
              <a:t>databáze</a:t>
            </a:r>
            <a:r>
              <a:rPr lang="cs-CZ" sz="2000" dirty="0">
                <a:solidFill>
                  <a:schemeClr val="bg1"/>
                </a:solidFill>
              </a:rPr>
              <a:t>, ukládá informace z exportérů.</a:t>
            </a:r>
          </a:p>
          <a:p>
            <a:pPr lvl="1"/>
            <a:r>
              <a:rPr lang="cs-CZ" sz="2000" b="1" dirty="0">
                <a:solidFill>
                  <a:schemeClr val="bg1"/>
                </a:solidFill>
              </a:rPr>
              <a:t>Aplikační analýza </a:t>
            </a:r>
            <a:r>
              <a:rPr lang="cs-CZ" sz="2000" dirty="0">
                <a:solidFill>
                  <a:schemeClr val="bg1"/>
                </a:solidFill>
              </a:rPr>
              <a:t>= uživatel co posílá dotazy na </a:t>
            </a:r>
            <a:r>
              <a:rPr lang="cs-CZ" sz="2000" dirty="0" err="1">
                <a:solidFill>
                  <a:schemeClr val="bg1"/>
                </a:solidFill>
              </a:rPr>
              <a:t>collector</a:t>
            </a:r>
            <a:r>
              <a:rPr lang="cs-CZ" sz="2000" dirty="0">
                <a:solidFill>
                  <a:schemeClr val="bg1"/>
                </a:solidFill>
              </a:rPr>
              <a:t>, </a:t>
            </a:r>
            <a:r>
              <a:rPr lang="cs-CZ" sz="2000" b="1" dirty="0">
                <a:solidFill>
                  <a:schemeClr val="bg1"/>
                </a:solidFill>
              </a:rPr>
              <a:t>webová konzole</a:t>
            </a:r>
            <a:r>
              <a:rPr lang="cs-CZ" sz="2000" dirty="0">
                <a:solidFill>
                  <a:schemeClr val="bg1"/>
                </a:solidFill>
              </a:rPr>
              <a:t>, požadavek na zobrazení.</a:t>
            </a:r>
          </a:p>
        </p:txBody>
      </p:sp>
    </p:spTree>
    <p:extLst>
      <p:ext uri="{BB962C8B-B14F-4D97-AF65-F5344CB8AC3E}">
        <p14:creationId xmlns:p14="http://schemas.microsoft.com/office/powerpoint/2010/main" val="3265103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C757142-BF13-CE97-776F-6A75AFA4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261138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cs-CZ" sz="3200" b="1">
                <a:solidFill>
                  <a:schemeClr val="bg1">
                    <a:alpha val="60000"/>
                  </a:schemeClr>
                </a:solidFill>
              </a:rPr>
              <a:t>IPFIX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76DC36-E715-C2DC-723B-5107FD322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anchor="t">
            <a:norm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Používá se v moderních systémech k </a:t>
            </a:r>
            <a:r>
              <a:rPr lang="cs-CZ" sz="2000" b="1" dirty="0">
                <a:solidFill>
                  <a:schemeClr val="bg1"/>
                </a:solidFill>
              </a:rPr>
              <a:t>monitorování provozu</a:t>
            </a:r>
            <a:r>
              <a:rPr lang="cs-CZ" sz="2000" dirty="0">
                <a:solidFill>
                  <a:schemeClr val="bg1"/>
                </a:solidFill>
              </a:rPr>
              <a:t> v </a:t>
            </a:r>
            <a:r>
              <a:rPr lang="cs-CZ" sz="2000" b="1" dirty="0">
                <a:solidFill>
                  <a:schemeClr val="bg1"/>
                </a:solidFill>
              </a:rPr>
              <a:t>hybridních sítích</a:t>
            </a:r>
            <a:r>
              <a:rPr lang="cs-CZ" sz="2000" dirty="0">
                <a:solidFill>
                  <a:schemeClr val="bg1"/>
                </a:solidFill>
              </a:rPr>
              <a:t>, kde jsou připojeny </a:t>
            </a:r>
            <a:r>
              <a:rPr lang="cs-CZ" sz="2000" b="1" dirty="0">
                <a:solidFill>
                  <a:schemeClr val="bg1"/>
                </a:solidFill>
              </a:rPr>
              <a:t>cloudové služby</a:t>
            </a:r>
            <a:r>
              <a:rPr lang="cs-CZ" sz="2000" dirty="0">
                <a:solidFill>
                  <a:schemeClr val="bg1"/>
                </a:solidFill>
              </a:rPr>
              <a:t>.</a:t>
            </a:r>
          </a:p>
          <a:p>
            <a:r>
              <a:rPr lang="cs-CZ" sz="2000" dirty="0">
                <a:solidFill>
                  <a:schemeClr val="bg1"/>
                </a:solidFill>
              </a:rPr>
              <a:t>Je to </a:t>
            </a:r>
            <a:r>
              <a:rPr lang="cs-CZ" sz="2000" b="1" dirty="0">
                <a:solidFill>
                  <a:schemeClr val="bg1"/>
                </a:solidFill>
              </a:rPr>
              <a:t>otevřený standard</a:t>
            </a:r>
            <a:r>
              <a:rPr lang="cs-CZ" sz="2000" dirty="0">
                <a:solidFill>
                  <a:schemeClr val="bg1"/>
                </a:solidFill>
              </a:rPr>
              <a:t>, NETFLOWv10 má podobný princip a je novější.</a:t>
            </a:r>
          </a:p>
        </p:txBody>
      </p:sp>
    </p:spTree>
    <p:extLst>
      <p:ext uri="{BB962C8B-B14F-4D97-AF65-F5344CB8AC3E}">
        <p14:creationId xmlns:p14="http://schemas.microsoft.com/office/powerpoint/2010/main" val="312975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3E2925-9D2F-4436-8D47-E7C1C5703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D44331B-0F41-2068-52E4-13661053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43581"/>
            <a:ext cx="10518776" cy="2308324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algn="ctr"/>
            <a:r>
              <a:rPr lang="en-US" sz="7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Detekce</a:t>
            </a:r>
            <a:r>
              <a:rPr lang="en-US" sz="7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7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anomálií</a:t>
            </a:r>
            <a:r>
              <a:rPr lang="en-US" sz="7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v </a:t>
            </a:r>
            <a:r>
              <a:rPr lang="en-US" sz="7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síťovém</a:t>
            </a:r>
            <a:r>
              <a:rPr lang="en-US" sz="7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7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provozu</a:t>
            </a:r>
            <a:endParaRPr lang="en-US" sz="7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A188E4-F255-43D0-92CC-3CF3D7701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637211" cy="1649863"/>
            <a:chOff x="1" y="1"/>
            <a:chExt cx="9637211" cy="1649863"/>
          </a:xfr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71FCDE-112A-4324-B49A-CA94CBA7E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56EED7-40A9-4EAF-B230-108CC384E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bg1">
                <a:alpha val="14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EABE02-705D-4B3A-B7DF-634641E1D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739305" cy="1775939"/>
            <a:chOff x="1" y="1"/>
            <a:chExt cx="9739305" cy="177593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8C4F13C-93EF-478B-A270-CF799F866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000297-B3F2-4605-9C3B-D7655D682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0557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85F6B1-8DD2-0095-B036-1C5F89AEA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388" y="977152"/>
            <a:ext cx="9150558" cy="4885765"/>
          </a:xfrm>
        </p:spPr>
        <p:txBody>
          <a:bodyPr anchor="t">
            <a:normAutofit/>
          </a:bodyPr>
          <a:lstStyle/>
          <a:p>
            <a:r>
              <a:rPr lang="cs-CZ" sz="2000" b="1" dirty="0">
                <a:solidFill>
                  <a:schemeClr val="bg1"/>
                </a:solidFill>
              </a:rPr>
              <a:t>Detekujeme zvláštní chování v provozu</a:t>
            </a:r>
            <a:r>
              <a:rPr lang="cs-CZ" sz="2000" dirty="0">
                <a:solidFill>
                  <a:schemeClr val="bg1"/>
                </a:solidFill>
              </a:rPr>
              <a:t>.</a:t>
            </a:r>
          </a:p>
          <a:p>
            <a:r>
              <a:rPr lang="cs-CZ" sz="2000" b="1" dirty="0">
                <a:solidFill>
                  <a:schemeClr val="bg1"/>
                </a:solidFill>
              </a:rPr>
              <a:t>Potřebujeme monitoring </a:t>
            </a:r>
            <a:r>
              <a:rPr lang="cs-CZ" sz="2000" dirty="0">
                <a:solidFill>
                  <a:schemeClr val="bg1"/>
                </a:solidFill>
              </a:rPr>
              <a:t>a až poté jsme schopní </a:t>
            </a:r>
            <a:r>
              <a:rPr lang="cs-CZ" sz="2000" b="1" dirty="0">
                <a:solidFill>
                  <a:schemeClr val="bg1"/>
                </a:solidFill>
              </a:rPr>
              <a:t>provádět detekci</a:t>
            </a:r>
            <a:r>
              <a:rPr lang="cs-CZ" sz="2000" dirty="0">
                <a:solidFill>
                  <a:schemeClr val="bg1"/>
                </a:solidFill>
              </a:rPr>
              <a:t>.</a:t>
            </a:r>
            <a:endParaRPr lang="cs-CZ" sz="2000" b="1" dirty="0">
              <a:solidFill>
                <a:schemeClr val="bg1"/>
              </a:solidFill>
            </a:endParaRPr>
          </a:p>
          <a:p>
            <a:r>
              <a:rPr lang="cs-CZ" sz="2000" b="1" dirty="0">
                <a:solidFill>
                  <a:schemeClr val="bg1"/>
                </a:solidFill>
              </a:rPr>
              <a:t>Behaviorální analýza</a:t>
            </a:r>
            <a:r>
              <a:rPr lang="cs-CZ" sz="2000" dirty="0">
                <a:solidFill>
                  <a:schemeClr val="bg1"/>
                </a:solidFill>
              </a:rPr>
              <a:t> je analýza </a:t>
            </a:r>
            <a:r>
              <a:rPr lang="cs-CZ" sz="2000" b="1" dirty="0">
                <a:solidFill>
                  <a:schemeClr val="bg1"/>
                </a:solidFill>
              </a:rPr>
              <a:t>chování síťového </a:t>
            </a:r>
            <a:r>
              <a:rPr lang="cs-CZ" sz="2000" dirty="0">
                <a:solidFill>
                  <a:schemeClr val="bg1"/>
                </a:solidFill>
              </a:rPr>
              <a:t>provozu.</a:t>
            </a:r>
          </a:p>
          <a:p>
            <a:r>
              <a:rPr lang="cs-CZ" sz="2000" b="1" dirty="0">
                <a:solidFill>
                  <a:schemeClr val="bg1"/>
                </a:solidFill>
              </a:rPr>
              <a:t>Statistika odchylek </a:t>
            </a:r>
            <a:r>
              <a:rPr lang="cs-CZ" sz="2000" dirty="0">
                <a:solidFill>
                  <a:schemeClr val="bg1"/>
                </a:solidFill>
              </a:rPr>
              <a:t>v provozu, běžné velikosti paketu a časové okamžiky.</a:t>
            </a:r>
          </a:p>
          <a:p>
            <a:r>
              <a:rPr lang="cs-CZ" sz="2000" dirty="0">
                <a:solidFill>
                  <a:schemeClr val="bg1"/>
                </a:solidFill>
              </a:rPr>
              <a:t>Slouží k tomu systémy jako je </a:t>
            </a:r>
            <a:r>
              <a:rPr lang="cs-CZ" sz="2000" b="1" dirty="0">
                <a:solidFill>
                  <a:schemeClr val="bg1"/>
                </a:solidFill>
              </a:rPr>
              <a:t>SIEM</a:t>
            </a:r>
            <a:r>
              <a:rPr lang="cs-CZ" sz="2000" dirty="0">
                <a:solidFill>
                  <a:schemeClr val="bg1"/>
                </a:solidFill>
              </a:rPr>
              <a:t>.</a:t>
            </a:r>
          </a:p>
          <a:p>
            <a:r>
              <a:rPr lang="cs-CZ" sz="2000" b="1" dirty="0">
                <a:solidFill>
                  <a:schemeClr val="bg1"/>
                </a:solidFill>
              </a:rPr>
              <a:t>Stačí porozumět provozu</a:t>
            </a:r>
            <a:r>
              <a:rPr lang="cs-CZ" sz="2000" dirty="0">
                <a:solidFill>
                  <a:schemeClr val="bg1"/>
                </a:solidFill>
              </a:rPr>
              <a:t>, nepotřebujeme porozumět samostatným anomáliím v síťovém provozu</a:t>
            </a:r>
          </a:p>
        </p:txBody>
      </p:sp>
    </p:spTree>
    <p:extLst>
      <p:ext uri="{BB962C8B-B14F-4D97-AF65-F5344CB8AC3E}">
        <p14:creationId xmlns:p14="http://schemas.microsoft.com/office/powerpoint/2010/main" val="1838488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6F39BFD1-FCA4-1A03-9E91-DADF80A57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Děkujeme</a:t>
            </a:r>
            <a:r>
              <a:rPr lang="en-US" sz="5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za </a:t>
            </a:r>
            <a:r>
              <a:rPr lang="en-US" sz="5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pozornost</a:t>
            </a:r>
            <a:br>
              <a:rPr lang="en-US" sz="5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Dudek, </a:t>
            </a:r>
            <a:r>
              <a:rPr lang="en-US" sz="5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Tekeli</a:t>
            </a:r>
            <a:r>
              <a:rPr lang="en-US" sz="5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5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Slíva</a:t>
            </a:r>
            <a:endParaRPr lang="en-US" sz="5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9490457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1002</Words>
  <Application>Microsoft Office PowerPoint</Application>
  <PresentationFormat>Širokoúhlá obrazovka</PresentationFormat>
  <Paragraphs>72</Paragraphs>
  <Slides>14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Motiv Office</vt:lpstr>
      <vt:lpstr>8. MONITOROVÁNÍ SÍŤOVÉHO PROVOZU</vt:lpstr>
      <vt:lpstr>Základní principy monitorování síťového provozu</vt:lpstr>
      <vt:lpstr>Prezentace aplikace PowerPoint</vt:lpstr>
      <vt:lpstr>Úrovně logu (4)</vt:lpstr>
      <vt:lpstr>Zdroje</vt:lpstr>
      <vt:lpstr>protokol SNMP</vt:lpstr>
      <vt:lpstr>SNMP</vt:lpstr>
      <vt:lpstr>Jak SNMP funguje</vt:lpstr>
      <vt:lpstr>Monitoring síťového provozu pomocí IP toků: NetFlow, IPFIX</vt:lpstr>
      <vt:lpstr>NetFlow</vt:lpstr>
      <vt:lpstr>IPFIX</vt:lpstr>
      <vt:lpstr>Detekce anomálií v síťovém provozu</vt:lpstr>
      <vt:lpstr>Prezentace aplikace PowerPoint</vt:lpstr>
      <vt:lpstr>Děkujeme za pozornost Dudek, Tekeli, Slíva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