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6" r:id="rId9"/>
    <p:sldId id="268" r:id="rId10"/>
    <p:sldId id="269" r:id="rId11"/>
    <p:sldId id="270" r:id="rId12"/>
    <p:sldId id="271" r:id="rId13"/>
    <p:sldId id="260" r:id="rId14"/>
    <p:sldId id="261" r:id="rId15"/>
    <p:sldId id="262" r:id="rId16"/>
    <p:sldId id="263" r:id="rId17"/>
    <p:sldId id="264" r:id="rId18"/>
    <p:sldId id="272" r:id="rId19"/>
    <p:sldId id="265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4F588-5CE7-4AF6-8778-95D97E805D05}" v="9" dt="2024-02-21T12:36:33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17C31F-21F4-6C14-FF5B-5FEF851F6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7DCBD51-30D4-876E-76EF-F8C17644A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38100A-7601-B696-DBB8-703DE0C3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8A0C93D-7A97-2C24-4820-390A9708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6CD633-FEFA-0DFF-7670-A6B79748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20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4A5E1E-64AB-F7CF-BC7D-2B63C4AF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9B8929-4D5C-6D5C-0110-FA1489238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339E80F-2A79-0D4B-A84D-D8319132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8EE968-E229-B978-24B5-9307250C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0F22CE7-7255-3EF1-EB8B-2E7AEF72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377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D15390-16BA-6AE6-FD1C-36B4890B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AC89AE6-0244-6AC7-6245-5D288CC0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80CC64-7A7F-3513-4BAE-3C9AE1F5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FC003A-1432-FD11-B4AA-25456ED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71C507-7B30-DFF9-B57A-B4D77436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9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4E8500-9476-438C-18F0-F55932AA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C1D984-8760-9666-3ACE-A4E4DA76E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D3308A-9F37-91FB-A7A4-A8FCC91D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5EBBD20-E8CA-8149-129E-82FE6B9E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6A96882-CF9D-7CF8-3ACC-8E2F60DD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CF7E7F-EC64-2BCB-5BB1-DC38355D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732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087D05-85DF-9FF0-A81C-F333EA7B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742C880-D50E-7C4B-59D6-7232DA0F5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35FFEEB-9B02-2C5D-97D9-A1CAAE22C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5FCCC8F-889F-296A-8232-4B935409A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88CC3FB-64CA-540A-736F-2E02C42D3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4C382B9-4555-5D2B-AD13-7D10D5BB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A670E0D-68E2-5823-64C6-61ED4730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F5E445-EA8E-D5B2-216A-CAAADA3E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485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5F97B3-F3FD-649C-5026-B07DF461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0D39E3B-8F94-B40D-9CF5-474BC7F5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280D079-F619-1098-7EBE-E33A1240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EC8E2A4-8E61-C12E-D5EF-07BD529F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277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8894FF5-3564-D4B5-4220-2C30FF2D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9717A71-D9BD-FFFB-DB98-4E828F0A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7CB1E3E-2637-706C-7479-0B50E649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389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BD9250-1366-F395-2A8B-E17E062F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8A055C-6845-C17B-7C19-ACFB44C1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523CE23-CE8E-F172-2E34-ED518BEBA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567346-A2C1-6488-0634-03BFBB75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FEB4D71-3ECF-D9E6-BF1B-970C7754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350EAF0-434E-560D-BC28-108EFD7E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228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7A5BE7-C995-7C26-2968-C9C0CAF5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7ACEC7A-52D0-A7CF-BCD6-749AA8A59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2CD6DA6-14EB-B40D-D40C-8EEA6D93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E011AC2-A198-8C83-5060-5E96BEC1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B706C7E-D570-8093-77AC-4382BC2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495E570-4E05-148E-5AC7-CEA15D48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762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A7C6C5-1E2F-5E96-947E-834CD9ED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C8ADE0F-C7EE-C042-3851-F2C8B774D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6DF07D1-9134-0CDE-EE85-3B9294AF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AE080B7-B8B7-6902-8FD5-D9510DAF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66F6CF-66D0-FB97-05CE-B387F1B9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896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DAA5815-D3C3-D476-8DA1-0E07C8801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063FA0C-107A-8259-8E1B-ACEFA8DD7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161BD8-01DC-5CB3-3F17-32D64BB7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D34494-943E-F523-0D91-F13F1AA7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2BDCAB4-F1A4-18C4-F008-1F758A79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817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05F0081-7768-8F3F-F836-6E24F042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02835EA-4852-0734-BC5F-2EE801EDC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A98153-F169-85B8-E4E5-5AE826BE8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7D776-7766-478B-9781-C832C136D210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744E3F-25C6-2521-6692-49ADEAAD4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739C5B-E166-419C-02F7-891615695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3B238-A0FF-45DE-AA70-49D57FDA9D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6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Ransomware" TargetMode="External"/><Relationship Id="rId3" Type="http://schemas.openxmlformats.org/officeDocument/2006/relationships/hyperlink" Target="https://www.eset.com/cz/spam/" TargetMode="External"/><Relationship Id="rId7" Type="http://schemas.openxmlformats.org/officeDocument/2006/relationships/hyperlink" Target="https://cs.wikipedia.org/wiki/Spyware" TargetMode="External"/><Relationship Id="rId12" Type="http://schemas.openxmlformats.org/officeDocument/2006/relationships/hyperlink" Target="https://wikisofia.cz/wiki/Computer_hacking" TargetMode="External"/><Relationship Id="rId2" Type="http://schemas.openxmlformats.org/officeDocument/2006/relationships/hyperlink" Target="https://cs.wikipedia.org/wiki/Kybernetick%C3%BD_%C3%BAto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Trojsk%C3%BD_k%C5%AF%C5%88_(program)" TargetMode="External"/><Relationship Id="rId11" Type="http://schemas.openxmlformats.org/officeDocument/2006/relationships/hyperlink" Target="https://cs.wikipedia.org/wiki/Cracking" TargetMode="External"/><Relationship Id="rId5" Type="http://schemas.openxmlformats.org/officeDocument/2006/relationships/hyperlink" Target="https://cs.wikipedia.org/wiki/Malware" TargetMode="External"/><Relationship Id="rId10" Type="http://schemas.openxmlformats.org/officeDocument/2006/relationships/hyperlink" Target="https://cs.wikipedia.org/wiki/Denial_of_service" TargetMode="External"/><Relationship Id="rId4" Type="http://schemas.openxmlformats.org/officeDocument/2006/relationships/hyperlink" Target="https://cs.wikipedia.org/wiki/Botnet" TargetMode="External"/><Relationship Id="rId9" Type="http://schemas.openxmlformats.org/officeDocument/2006/relationships/hyperlink" Target="https://cs.wikipedia.org/wiki/Adw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55D927-BA84-053F-28B8-50CED8A11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cs-CZ" sz="7200"/>
              <a:t>Základní typy kybernetických  útoků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880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35820E1-7D58-CD22-557A-E8B6B13F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58" y="1158753"/>
            <a:ext cx="6268770" cy="1536192"/>
          </a:xfrm>
        </p:spPr>
        <p:txBody>
          <a:bodyPr anchor="b">
            <a:normAutofit/>
          </a:bodyPr>
          <a:lstStyle/>
          <a:p>
            <a:r>
              <a:rPr lang="cs-CZ" sz="5200" dirty="0"/>
              <a:t>Co to jsou kybernetické útoky</a:t>
            </a:r>
          </a:p>
        </p:txBody>
      </p:sp>
      <p:sp>
        <p:nvSpPr>
          <p:cNvPr id="15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F3D8FB-4366-A1FF-937E-E262605D3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58" y="3355848"/>
            <a:ext cx="6268770" cy="2825496"/>
          </a:xfrm>
        </p:spPr>
        <p:txBody>
          <a:bodyPr>
            <a:normAutofit/>
          </a:bodyPr>
          <a:lstStyle/>
          <a:p>
            <a:r>
              <a:rPr lang="cs-CZ" sz="2000" dirty="0"/>
              <a:t>Kybernetický útok je jakékoli působení útočníka v kyberprostoru, většina útoků je zaviněna lidskou chybou</a:t>
            </a:r>
          </a:p>
          <a:p>
            <a:r>
              <a:rPr lang="cs-CZ" sz="2000" dirty="0"/>
              <a:t>Útoky mohou dělat jedinci nebo skupiny lidí, většinou za účelem odcizení osobních údajů napadených osob nebo zatížení konkurenčních stránek.</a:t>
            </a:r>
          </a:p>
          <a:p>
            <a:r>
              <a:rPr lang="cs-CZ" sz="2000" dirty="0"/>
              <a:t>Útoky nemusí být pouze v počítači ,některé útoky mohou být i fyzické, např. odcizení nebo zničení počítačů a dalších důležitých zařízení.    </a:t>
            </a:r>
          </a:p>
        </p:txBody>
      </p:sp>
      <p:pic>
        <p:nvPicPr>
          <p:cNvPr id="16" name="Picture 4" descr="Visací zámek na základní desce počítače">
            <a:extLst>
              <a:ext uri="{FF2B5EF4-FFF2-40B4-BE49-F238E27FC236}">
                <a16:creationId xmlns:a16="http://schemas.microsoft.com/office/drawing/2014/main" id="{DDAAA36A-1840-8DC3-B323-636B45AE6E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84" r="39738" b="-1"/>
          <a:stretch/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6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A8DEAC-E1E6-42D4-470D-A65329E87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/>
              <a:t>Spam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D52447-101C-9E81-86E2-8A2FC8B21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4966973" cy="3235047"/>
          </a:xfrm>
        </p:spPr>
        <p:txBody>
          <a:bodyPr anchor="t">
            <a:normAutofit/>
          </a:bodyPr>
          <a:lstStyle/>
          <a:p>
            <a:r>
              <a:rPr lang="cs-CZ" sz="1700" dirty="0"/>
              <a:t>Spa</a:t>
            </a:r>
            <a:r>
              <a:rPr lang="cs-CZ" sz="1700" b="0" i="0" dirty="0">
                <a:effectLst/>
              </a:rPr>
              <a:t>m je jakákoliv forma nevyžádané hromadné digitální komunikace. Jde o nevyžádaná reklamní sdělení ve formě e-mailů, SMS nebo zpráv v komunikačních aplikacích, na sociálních sítích.</a:t>
            </a:r>
          </a:p>
          <a:p>
            <a:r>
              <a:rPr lang="cs-CZ" sz="1700" dirty="0"/>
              <a:t>K automatizovanému odesílání spamu se využívají </a:t>
            </a:r>
            <a:r>
              <a:rPr lang="cs-CZ" sz="1700" dirty="0" err="1"/>
              <a:t>spamboti</a:t>
            </a:r>
            <a:r>
              <a:rPr lang="cs-CZ" sz="1700" dirty="0"/>
              <a:t> , kteří podle vlastního algoritmu určí, komu a v jaké podobě poslat spamovou zprávu/e-mail</a:t>
            </a:r>
          </a:p>
          <a:p>
            <a:r>
              <a:rPr lang="cs-CZ" sz="1700" dirty="0"/>
              <a:t>Rozesílání spamu je v mnoha zemích zakázané, bohužel jeho šíření nelze úplně zastavit. Poslat spam je totiž levné a jednoduché. </a:t>
            </a:r>
            <a:r>
              <a:rPr lang="cs-CZ" sz="1700" b="0" i="0" dirty="0">
                <a:effectLst/>
              </a:rPr>
              <a:t> </a:t>
            </a:r>
            <a:endParaRPr lang="cs-CZ" sz="1700" dirty="0"/>
          </a:p>
        </p:txBody>
      </p:sp>
      <p:pic>
        <p:nvPicPr>
          <p:cNvPr id="5" name="Obrázek 4" descr="Obsah obrázku text, snímek obrazovky, software, displej">
            <a:extLst>
              <a:ext uri="{FF2B5EF4-FFF2-40B4-BE49-F238E27FC236}">
                <a16:creationId xmlns:a16="http://schemas.microsoft.com/office/drawing/2014/main" id="{9265BC7E-9994-2743-8D3C-8C70A918E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08" y="2246084"/>
            <a:ext cx="6026530" cy="33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7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93CDD3-76A0-8C4D-E50B-A9E6C8B5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/>
              <a:t>Botnet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8C87B1-8922-1934-5B46-7041CE1C1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cs-CZ" sz="2200"/>
              <a:t>Botnet je v informatice označení pro softwarové agenty nebo pro internetové roboty, kteří fungují autonomně nebo automaticky.</a:t>
            </a:r>
          </a:p>
          <a:p>
            <a:r>
              <a:rPr lang="cs-CZ" sz="2200"/>
              <a:t>V současné době je termín nejvíce spojován s malwarem, kdy botnet označuje síť počítačů infikovaných speciálním softwarem, který je řízen z jednoho centra. </a:t>
            </a:r>
          </a:p>
        </p:txBody>
      </p:sp>
      <p:pic>
        <p:nvPicPr>
          <p:cNvPr id="7" name="Obrázek 6" descr="Obsah obrázku text, snímek obrazovky, diagram, design">
            <a:extLst>
              <a:ext uri="{FF2B5EF4-FFF2-40B4-BE49-F238E27FC236}">
                <a16:creationId xmlns:a16="http://schemas.microsoft.com/office/drawing/2014/main" id="{52937212-8F09-47E1-C58D-8C3ED5C3C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181" y="1457789"/>
            <a:ext cx="6468987" cy="388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5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7A7E37-3E6E-9098-38B3-E52BDAC6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/>
              <a:t>Malware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3795FE-59E9-CC12-8305-C5CD51FAD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cs-CZ" sz="1900"/>
              <a:t>Malware je označení pro škodlivé programy,</a:t>
            </a:r>
            <a:r>
              <a:rPr lang="cs-CZ" sz="1900" b="0" i="0">
                <a:effectLst/>
              </a:rPr>
              <a:t> které v počítači provádějí činnost, se kterou uživatel nesouhlasí nebo by s ní nesouhlasil, kdyby o ní věděl.</a:t>
            </a:r>
          </a:p>
          <a:p>
            <a:r>
              <a:rPr lang="cs-CZ" sz="1900" b="0" i="0">
                <a:effectLst/>
              </a:rPr>
              <a:t>Malware byl a je vytvářen z různých důvodů. Zpočátku některé vznikly jako experiment nebo žert a většinou bez záměru způsobit nějakou škodu.</a:t>
            </a:r>
          </a:p>
          <a:p>
            <a:r>
              <a:rPr lang="cs-CZ" sz="1900" b="0" i="0">
                <a:effectLst/>
              </a:rPr>
              <a:t>S postupem času se však malware stal nástrojem na vydělávání peněz</a:t>
            </a:r>
            <a:endParaRPr lang="cs-CZ" sz="1900"/>
          </a:p>
        </p:txBody>
      </p:sp>
      <p:pic>
        <p:nvPicPr>
          <p:cNvPr id="5" name="Obrázek 4" descr="Obsah obrázku počítač, computer, Mezerník, Výstupní zařízení">
            <a:extLst>
              <a:ext uri="{FF2B5EF4-FFF2-40B4-BE49-F238E27FC236}">
                <a16:creationId xmlns:a16="http://schemas.microsoft.com/office/drawing/2014/main" id="{E2BF858F-08FF-F881-D53C-9580A78FA2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5" r="16442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3610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BEFA10-5A3E-3F3F-5001-995038BE7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972" y="1043092"/>
            <a:ext cx="4683321" cy="2148841"/>
          </a:xfrm>
        </p:spPr>
        <p:txBody>
          <a:bodyPr anchor="t">
            <a:normAutofit/>
          </a:bodyPr>
          <a:lstStyle/>
          <a:p>
            <a:r>
              <a:rPr lang="cs-CZ" dirty="0"/>
              <a:t>Trojský kůň</a:t>
            </a:r>
          </a:p>
        </p:txBody>
      </p:sp>
      <p:pic>
        <p:nvPicPr>
          <p:cNvPr id="5" name="Obrázek 4" descr="Obsah obrázku text, ilustrace, design&#10;&#10;Popis byl vytvořen automaticky">
            <a:extLst>
              <a:ext uri="{FF2B5EF4-FFF2-40B4-BE49-F238E27FC236}">
                <a16:creationId xmlns:a16="http://schemas.microsoft.com/office/drawing/2014/main" id="{A8E7093C-50D3-7ECD-28A6-33EE31A0C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" r="863" b="-4"/>
          <a:stretch/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15AE97-C259-A7AC-3590-FD4BDE179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r>
              <a:rPr lang="cs-CZ" sz="2000" i="0">
                <a:effectLst/>
              </a:rPr>
              <a:t>Trojský kůň je uživateli skrytá část </a:t>
            </a:r>
            <a:r>
              <a:rPr lang="cs-CZ" sz="2000"/>
              <a:t>programu</a:t>
            </a:r>
            <a:r>
              <a:rPr lang="cs-CZ" sz="2000" i="0">
                <a:effectLst/>
              </a:rPr>
              <a:t> nebo </a:t>
            </a:r>
            <a:r>
              <a:rPr lang="cs-CZ" sz="2000"/>
              <a:t>aplikace</a:t>
            </a:r>
            <a:r>
              <a:rPr lang="cs-CZ" sz="2000" i="0">
                <a:effectLst/>
              </a:rPr>
              <a:t> s funkcí, se kterou vlastník počítače nesouhlasí.</a:t>
            </a:r>
          </a:p>
          <a:p>
            <a:r>
              <a:rPr lang="cs-CZ" sz="2000" b="0" i="0">
                <a:effectLst/>
              </a:rPr>
              <a:t>Trojský kůň může být samostatný program, který se tváří užitečně – například hra, spořič obrazovky nebo nějaký jednoduchý nástroj.</a:t>
            </a:r>
            <a:endParaRPr lang="cs-CZ" sz="2000" b="0"/>
          </a:p>
          <a:p>
            <a:r>
              <a:rPr lang="cs-CZ" sz="2000" b="0" i="0">
                <a:effectLst/>
              </a:rPr>
              <a:t>Někdy se trojský kůň vydává za program k odstraňování </a:t>
            </a:r>
            <a:r>
              <a:rPr lang="cs-CZ" sz="2000"/>
              <a:t>malware</a:t>
            </a:r>
            <a:r>
              <a:rPr lang="cs-CZ" sz="2000" b="0" i="0">
                <a:effectLst/>
              </a:rPr>
              <a:t> (dokonce jako takový může fungovat a odstraňovat konkurenční malware). Tato funkčnost slouží ale pouze jako maskování záškodnické činnosti, kterou v sobě trojský kůň ukrývá.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92508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11F2666-68EA-A4AD-63DF-CAB97533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cs-CZ" sz="5400"/>
              <a:t>Adware</a:t>
            </a:r>
          </a:p>
        </p:txBody>
      </p:sp>
      <p:pic>
        <p:nvPicPr>
          <p:cNvPr id="7" name="Obrázek 6" descr="Obsah obrázku text, displej, počítačový monitor, Zobrazovací zařízení">
            <a:extLst>
              <a:ext uri="{FF2B5EF4-FFF2-40B4-BE49-F238E27FC236}">
                <a16:creationId xmlns:a16="http://schemas.microsoft.com/office/drawing/2014/main" id="{51DC3D69-8169-CCE9-AA5A-D5F6BDFBD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600246"/>
            <a:ext cx="5458968" cy="3657508"/>
          </a:xfrm>
          <a:prstGeom prst="rect">
            <a:avLst/>
          </a:prstGeom>
        </p:spPr>
      </p:pic>
      <p:sp>
        <p:nvSpPr>
          <p:cNvPr id="2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B5B397-318D-F2C1-37C1-131C7860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2000" i="0">
                <a:effectLst/>
              </a:rPr>
              <a:t>Adware</a:t>
            </a:r>
            <a:r>
              <a:rPr lang="cs-CZ" sz="2000" b="0" i="0">
                <a:effectLst/>
              </a:rPr>
              <a:t> je označení pro produkty znepříjemňující práci nějakou reklamní aplikací. Ty mohou mít různou úroveň agresivity - od běžných </a:t>
            </a:r>
            <a:r>
              <a:rPr lang="cs-CZ" sz="2000"/>
              <a:t>bannerů</a:t>
            </a:r>
            <a:r>
              <a:rPr lang="cs-CZ" sz="2000" b="0" i="0">
                <a:effectLst/>
              </a:rPr>
              <a:t> až po neustále vyskakující pop-up okna nebo ikony v oznamovací oblasti.</a:t>
            </a:r>
          </a:p>
          <a:p>
            <a:r>
              <a:rPr lang="cs-CZ" sz="2000" b="0" i="0">
                <a:effectLst/>
              </a:rPr>
              <a:t>Většinou ale nejsou přímo nebezpečné jako </a:t>
            </a:r>
            <a:r>
              <a:rPr lang="cs-CZ" sz="2000"/>
              <a:t>spyware</a:t>
            </a:r>
            <a:r>
              <a:rPr lang="cs-CZ" sz="2000" b="0" i="0">
                <a:effectLst/>
              </a:rPr>
              <a:t> a jsou spojeny s nějakým programem, který je </a:t>
            </a:r>
            <a:r>
              <a:rPr lang="cs-CZ" sz="2000"/>
              <a:t>freeware</a:t>
            </a:r>
            <a:r>
              <a:rPr lang="cs-CZ" sz="2000" b="0" i="0">
                <a:effectLst/>
              </a:rPr>
              <a:t> To se dělá z důvodu toho, že díky těmto reklamám mohou vývojáři financovat dál svůj program.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2266193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08C694-EFD6-7BD1-2F1F-4C7CCE96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cs-CZ" sz="3600" b="1" dirty="0"/>
              <a:t>Spyware</a:t>
            </a:r>
          </a:p>
        </p:txBody>
      </p:sp>
      <p:pic>
        <p:nvPicPr>
          <p:cNvPr id="5" name="Obrázek 4" descr="Obsah obrázku umění&#10;&#10;Popis byl vytvořen automaticky">
            <a:extLst>
              <a:ext uri="{FF2B5EF4-FFF2-40B4-BE49-F238E27FC236}">
                <a16:creationId xmlns:a16="http://schemas.microsoft.com/office/drawing/2014/main" id="{43F16FB4-ADCF-AC06-5BDB-5BC8FCEA2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20" b="29373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F94E52-06BE-6D16-CD9F-D475B0BF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cs-CZ" sz="1800" i="0">
                <a:effectLst/>
              </a:rPr>
              <a:t>Spyware je </a:t>
            </a:r>
            <a:r>
              <a:rPr lang="cs-CZ" sz="1800"/>
              <a:t>program</a:t>
            </a:r>
            <a:r>
              <a:rPr lang="cs-CZ" sz="1800" i="0">
                <a:effectLst/>
              </a:rPr>
              <a:t>, který využívá </a:t>
            </a:r>
            <a:r>
              <a:rPr lang="cs-CZ" sz="1800"/>
              <a:t>internet</a:t>
            </a:r>
            <a:r>
              <a:rPr lang="cs-CZ" sz="1800" i="0">
                <a:effectLst/>
              </a:rPr>
              <a:t> k odesílání dat z </a:t>
            </a:r>
            <a:r>
              <a:rPr lang="cs-CZ" sz="1800"/>
              <a:t>počítače </a:t>
            </a:r>
            <a:r>
              <a:rPr lang="cs-CZ" sz="1800" i="0">
                <a:effectLst/>
              </a:rPr>
              <a:t>či jiného zařízení bez vědomí jeho uživatele.</a:t>
            </a:r>
          </a:p>
          <a:p>
            <a:r>
              <a:rPr lang="cs-CZ" sz="1800" i="0">
                <a:effectLst/>
              </a:rPr>
              <a:t>Spyware se často šíří jako součást </a:t>
            </a:r>
            <a:r>
              <a:rPr lang="cs-CZ" sz="1800"/>
              <a:t>shareware</a:t>
            </a:r>
            <a:r>
              <a:rPr lang="cs-CZ" sz="1800" i="0">
                <a:effectLst/>
              </a:rPr>
              <a:t>, a to jako </a:t>
            </a:r>
            <a:r>
              <a:rPr lang="cs-CZ" sz="1800"/>
              <a:t>adware</a:t>
            </a:r>
            <a:r>
              <a:rPr lang="cs-CZ" sz="1800" i="0">
                <a:effectLst/>
              </a:rPr>
              <a:t> nebo bez vědomí uživatelů (ale s vědomím autorů programu). Jakmile si takový program nainstalujete a spustíte, nainstaluje se do systému také spyware.</a:t>
            </a:r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294528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D86887F-59B0-1368-35EE-71ADB75B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 b="1" dirty="0"/>
              <a:t>Nejčastější příznaky výskytu spywaru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808922-BEB5-0749-83B3-0E38499A9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200" i="0">
                <a:effectLst/>
              </a:rPr>
              <a:t>Nežádoucí domovská stránka (Přesměrování na jinou webovou stránku)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i="0">
                <a:effectLst/>
              </a:rPr>
              <a:t>Pomalý start počítače a dlouhé nabíhání internetu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i="0">
                <a:effectLst/>
              </a:rPr>
              <a:t>Při surfování na internetu ve zvýšené míře vyskakují reklamy - </a:t>
            </a:r>
            <a:r>
              <a:rPr lang="cs-CZ" sz="2200"/>
              <a:t>Pop-up</a:t>
            </a:r>
            <a:r>
              <a:rPr lang="cs-CZ" sz="2200" i="0">
                <a:effectLst/>
              </a:rPr>
              <a:t> okna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i="0">
                <a:effectLst/>
              </a:rPr>
              <a:t>Přesměrování telefonní linky - u vytáčeného připojení - </a:t>
            </a:r>
            <a:r>
              <a:rPr lang="cs-CZ" sz="2200"/>
              <a:t>Dialery</a:t>
            </a:r>
            <a:endParaRPr lang="cs-CZ" sz="2200" i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200" i="0">
                <a:effectLst/>
              </a:rPr>
              <a:t>Padající MS Windows (Častý restart, chyby, apod.)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i="0">
                <a:effectLst/>
              </a:rPr>
              <a:t>Nové ikony na ploše, které se záhadně objevují</a:t>
            </a:r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228129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computer, počítač, text, snímek obrazovky&#10;&#10;Popis byl vytvořen automaticky">
            <a:extLst>
              <a:ext uri="{FF2B5EF4-FFF2-40B4-BE49-F238E27FC236}">
                <a16:creationId xmlns:a16="http://schemas.microsoft.com/office/drawing/2014/main" id="{067382BC-EB30-CD52-ED0A-2C46C65F23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2" r="834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DE5BD99-7C7F-38B6-D16A-A2092A1D5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cs-CZ" sz="4000" b="1" dirty="0"/>
              <a:t>Ransomware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AC396E-81E6-6FD8-0675-0B49F28BC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cs-CZ" sz="1900" b="0" i="0">
                <a:effectLst/>
              </a:rPr>
              <a:t>Jedná se o druh škodlivého softwaru, jehož účelem je zašifrovat, zakázat nebo výrazně omezit přístup k datům, zařízením nebo celým systémům oběti, a to do té doby, dokud nebude zaplaceno požadované výkupné.</a:t>
            </a:r>
          </a:p>
          <a:p>
            <a:r>
              <a:rPr lang="cs-CZ" sz="1900" b="0" i="0">
                <a:effectLst/>
              </a:rPr>
              <a:t>Některé formy ransomware šifrují soubory na pevném disku,jiné jen zamknou systém a výhrůžnou zprávou se snaží donutit uživatele k zaplacení.</a:t>
            </a:r>
            <a:endParaRPr lang="cs-CZ" sz="1900"/>
          </a:p>
        </p:txBody>
      </p:sp>
    </p:spTree>
    <p:extLst>
      <p:ext uri="{BB962C8B-B14F-4D97-AF65-F5344CB8AC3E}">
        <p14:creationId xmlns:p14="http://schemas.microsoft.com/office/powerpoint/2010/main" val="4090779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1FB4C6-B3D9-8330-B9D1-A144866B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 b="1" dirty="0" err="1"/>
              <a:t>Phishing</a:t>
            </a:r>
            <a:endParaRPr lang="cs-CZ" sz="5400" b="1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1BA774-CAB7-C1B5-503D-FDEBA2339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cs-CZ" sz="1700"/>
              <a:t>Podvodná</a:t>
            </a:r>
            <a:r>
              <a:rPr lang="cs-CZ" sz="1700" i="0">
                <a:effectLst/>
              </a:rPr>
              <a:t> technika používaná na </a:t>
            </a:r>
            <a:r>
              <a:rPr lang="cs-CZ" sz="1700"/>
              <a:t>Internetu</a:t>
            </a:r>
            <a:r>
              <a:rPr lang="cs-CZ" sz="1700" i="0">
                <a:effectLst/>
              </a:rPr>
              <a:t> k získávání citlivých údajů v </a:t>
            </a:r>
            <a:r>
              <a:rPr lang="cs-CZ" sz="1700"/>
              <a:t>elektronické komunikaci</a:t>
            </a:r>
            <a:r>
              <a:rPr lang="cs-CZ" sz="1700" i="0">
                <a:effectLst/>
              </a:rPr>
              <a:t>. </a:t>
            </a:r>
          </a:p>
          <a:p>
            <a:r>
              <a:rPr lang="cs-CZ" sz="1700" i="0">
                <a:effectLst/>
              </a:rPr>
              <a:t>K nalákání důvěřivé veřejnosti komunikace předstírá, že pochází z populárních sociálních sítí, aukčních webů, on-line platebních portálů, úřadů státní správy nebo od IT administrátorů.</a:t>
            </a:r>
          </a:p>
          <a:p>
            <a:r>
              <a:rPr lang="cs-CZ" sz="1700" b="0" i="0">
                <a:effectLst/>
              </a:rPr>
              <a:t>Principem phishingu je typicky rozesílání </a:t>
            </a:r>
            <a:r>
              <a:rPr lang="cs-CZ" sz="1700"/>
              <a:t>e-mailových</a:t>
            </a:r>
            <a:r>
              <a:rPr lang="cs-CZ" sz="1700" b="0" i="0">
                <a:effectLst/>
              </a:rPr>
              <a:t> zpráv, které často vyzývají adresáta k zadání osobních údajů na falešnou stránku, jejíž podoba je takřka identická s tou oficiální.</a:t>
            </a:r>
            <a:endParaRPr lang="cs-CZ" sz="1700"/>
          </a:p>
        </p:txBody>
      </p:sp>
      <p:pic>
        <p:nvPicPr>
          <p:cNvPr id="5" name="Obrázek 4" descr="Obsah obrázku text, oblečení, Lidská tvář, osoba&#10;&#10;Popis byl vytvořen automaticky">
            <a:extLst>
              <a:ext uri="{FF2B5EF4-FFF2-40B4-BE49-F238E27FC236}">
                <a16:creationId xmlns:a16="http://schemas.microsoft.com/office/drawing/2014/main" id="{5AC4CDB3-95E4-4467-3ACE-65504AA91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38833"/>
            <a:ext cx="5458968" cy="378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0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, počítač, Osobní počítač, interiér&#10;&#10;Popis byl vytvořen automaticky">
            <a:extLst>
              <a:ext uri="{FF2B5EF4-FFF2-40B4-BE49-F238E27FC236}">
                <a16:creationId xmlns:a16="http://schemas.microsoft.com/office/drawing/2014/main" id="{599FC741-97AF-C33C-271E-A4F8C5CCDB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" r="4285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3E29833-D444-2ECA-69E4-194DF8FC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cs-CZ" sz="4000" b="1" dirty="0" err="1"/>
              <a:t>Hacking</a:t>
            </a:r>
            <a:endParaRPr lang="cs-CZ" sz="4000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057D55-A354-A10B-25CA-6FB3F37A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cs-CZ" sz="1700" dirty="0">
                <a:latin typeface="Roboto" panose="020F0502020204030204" pitchFamily="2" charset="0"/>
              </a:rPr>
              <a:t>N</a:t>
            </a:r>
            <a:r>
              <a:rPr lang="cs-CZ" sz="1700" b="0" i="0" dirty="0">
                <a:effectLst/>
                <a:latin typeface="Roboto" panose="020F0502020204030204" pitchFamily="2" charset="0"/>
              </a:rPr>
              <a:t>estandardní použití aplikace nebo počítačového systému, kdy se jedná o ilegální průnik pomocí prolomení bezpečnostní ochrany.</a:t>
            </a:r>
          </a:p>
          <a:p>
            <a:r>
              <a:rPr lang="cs-CZ" sz="1700" b="0" i="0" dirty="0">
                <a:effectLst/>
                <a:latin typeface="Roboto" panose="02000000000000000000" pitchFamily="2" charset="0"/>
              </a:rPr>
              <a:t>Hackeři násilně vnikají do počítačových systémů, snaží se dešifrovat kódy nebo ochranu obejdou. Někteří proto, aby kradli a prodali obchodní tajemství, jiní čistě ze zvědavosti a někteří pak z politických důvodů, nebo aby ničili.</a:t>
            </a:r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3677133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6D9AC4-DAB7-D16F-EFE1-C8DEBD68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cs-CZ" sz="3600"/>
              <a:t>Cracking</a:t>
            </a:r>
          </a:p>
        </p:txBody>
      </p:sp>
      <p:pic>
        <p:nvPicPr>
          <p:cNvPr id="5" name="Obrázek 4" descr="Obsah obrázku Grafika, klipart, grafický design, snímek obrazovky">
            <a:extLst>
              <a:ext uri="{FF2B5EF4-FFF2-40B4-BE49-F238E27FC236}">
                <a16:creationId xmlns:a16="http://schemas.microsoft.com/office/drawing/2014/main" id="{5E025044-CA4C-06F8-2E31-3CB208E47C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75" b="15687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58BC86-B28C-B0EE-A740-18D313C47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cs-CZ" sz="1800" b="1" i="0">
                <a:effectLst/>
              </a:rPr>
              <a:t>Cracking</a:t>
            </a:r>
            <a:r>
              <a:rPr lang="cs-CZ" sz="1800" b="0" i="0">
                <a:effectLst/>
              </a:rPr>
              <a:t> je metoda odstraňování ochranných prvků licencovaného</a:t>
            </a:r>
            <a:r>
              <a:rPr lang="cs-CZ" sz="1800"/>
              <a:t> softwaru</a:t>
            </a:r>
            <a:r>
              <a:rPr lang="cs-CZ" sz="1800" b="0" i="0" u="none" strike="noStrike">
                <a:effectLst/>
              </a:rPr>
              <a:t> </a:t>
            </a:r>
            <a:r>
              <a:rPr lang="cs-CZ" sz="1800" b="0" i="0">
                <a:effectLst/>
              </a:rPr>
              <a:t>s pomocí postupů, při kterých </a:t>
            </a:r>
            <a:r>
              <a:rPr lang="cs-CZ" sz="1800"/>
              <a:t>cracker</a:t>
            </a:r>
            <a:r>
              <a:rPr lang="cs-CZ" sz="1800" b="0" i="0">
                <a:effectLst/>
              </a:rPr>
              <a:t> zkoumá a většinou upravuje programový kód ve strojovém tvaru bez znalosti </a:t>
            </a:r>
            <a:r>
              <a:rPr lang="cs-CZ" sz="1800"/>
              <a:t>zdrojového kódu</a:t>
            </a:r>
            <a:r>
              <a:rPr lang="cs-CZ" sz="1800" b="0" i="0">
                <a:effectLst/>
              </a:rPr>
              <a:t> </a:t>
            </a:r>
            <a:r>
              <a:rPr lang="cs-CZ" sz="1800"/>
              <a:t>počítačového programu</a:t>
            </a:r>
            <a:r>
              <a:rPr lang="cs-CZ" sz="1800" b="0" i="0">
                <a:effectLst/>
              </a:rPr>
              <a:t>.</a:t>
            </a:r>
          </a:p>
          <a:p>
            <a:r>
              <a:rPr lang="cs-CZ" sz="1800" b="0" i="0">
                <a:effectLst/>
              </a:rPr>
              <a:t>Osoba odstraňující tyto prvky se nazývá cracker a programátoři se snaží maximálně mu zamezit nejrůznějšími technikami, například šifrováním nebo automodifikačním kódem.</a:t>
            </a:r>
            <a:br>
              <a:rPr lang="cs-CZ" sz="1800"/>
            </a:br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2475671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AE600A1-53A7-CF0C-DEB1-5A5126EE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cs-CZ" sz="5400"/>
              <a:t>DoS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25ED0E-6592-6DC1-E128-97CE426EA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cs-CZ" sz="1700" b="1" i="0" u="sng">
                <a:effectLst/>
                <a:latin typeface="Arial" panose="020B0604020202020204" pitchFamily="34" charset="0"/>
              </a:rPr>
              <a:t>Denial-of-service</a:t>
            </a:r>
            <a:r>
              <a:rPr lang="cs-CZ" sz="1700" b="0" i="0" u="sng">
                <a:effectLst/>
                <a:latin typeface="Arial" panose="020B0604020202020204" pitchFamily="34" charset="0"/>
              </a:rPr>
              <a:t> </a:t>
            </a:r>
            <a:r>
              <a:rPr lang="cs-CZ" sz="1700" b="1" i="0" u="sng">
                <a:effectLst/>
                <a:latin typeface="Arial" panose="020B0604020202020204" pitchFamily="34" charset="0"/>
              </a:rPr>
              <a:t>(DoS)</a:t>
            </a:r>
            <a:r>
              <a:rPr lang="cs-CZ" sz="1700" b="0" i="0" u="sng">
                <a:effectLst/>
                <a:latin typeface="Arial" panose="020B0604020202020204" pitchFamily="34" charset="0"/>
              </a:rPr>
              <a:t> </a:t>
            </a:r>
            <a:r>
              <a:rPr lang="cs-CZ" sz="1700" b="0" i="0">
                <a:effectLst/>
                <a:latin typeface="Arial" panose="020B0604020202020204" pitchFamily="34" charset="0"/>
              </a:rPr>
              <a:t>je typ útoku na internetové služby nebo stránky, jehož cílem je cílovou službu znefunkčnit a znepřístupnit ostatním uživatelům.</a:t>
            </a:r>
          </a:p>
          <a:p>
            <a:r>
              <a:rPr lang="cs-CZ" sz="1700" b="0" i="0">
                <a:effectLst/>
                <a:latin typeface="Arial" panose="020B0604020202020204" pitchFamily="34" charset="0"/>
              </a:rPr>
              <a:t>může k tomu dojít zahlcením obrovským množstvím požadavků či využitím nějaké </a:t>
            </a:r>
            <a:r>
              <a:rPr lang="cs-CZ" sz="1700">
                <a:latin typeface="Arial" panose="020B0604020202020204" pitchFamily="34" charset="0"/>
              </a:rPr>
              <a:t>chyby</a:t>
            </a:r>
            <a:r>
              <a:rPr lang="cs-CZ" sz="1700" b="0" i="0">
                <a:effectLst/>
                <a:latin typeface="Arial" panose="020B0604020202020204" pitchFamily="34" charset="0"/>
              </a:rPr>
              <a:t>, která sice útočníkovi neumožní službu ovládnout, ale umožní ji znefunkčnit. </a:t>
            </a:r>
            <a:endParaRPr lang="cs-CZ" sz="1700"/>
          </a:p>
        </p:txBody>
      </p:sp>
      <p:pic>
        <p:nvPicPr>
          <p:cNvPr id="5" name="Obrázek 4" descr="Obsah obrázku text, snímek obrazovky, Písmo, řada/pruh&#10;&#10;Popis byl vytvořen automaticky">
            <a:extLst>
              <a:ext uri="{FF2B5EF4-FFF2-40B4-BE49-F238E27FC236}">
                <a16:creationId xmlns:a16="http://schemas.microsoft.com/office/drawing/2014/main" id="{1868CC9C-A9C4-BD77-1677-8AB2E2612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24883"/>
            <a:ext cx="6903720" cy="460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7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8B5B963-87B9-4632-1666-C04C9628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cs-CZ" sz="5400"/>
              <a:t>DDOS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CA1806-D0B7-F0B1-F889-F79ECD6BD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880679" cy="3410712"/>
          </a:xfrm>
        </p:spPr>
        <p:txBody>
          <a:bodyPr anchor="t">
            <a:noAutofit/>
          </a:bodyPr>
          <a:lstStyle/>
          <a:p>
            <a:r>
              <a:rPr lang="cs-CZ" sz="2200" b="0" i="0" dirty="0">
                <a:effectLst/>
              </a:rPr>
              <a:t>forma kybernetického útoku, při kterém se útočníci snaží narušit nebo poškodit webovou stránku, síť nebo jinou online službu tím, že ji přetíží velkým množstvím falešných nebo nevyžádaných požadavků, dokud nedojde k poklesu výkonu, omezení nebo výpadku služby.</a:t>
            </a:r>
            <a:endParaRPr lang="cs-CZ" sz="2200" dirty="0"/>
          </a:p>
        </p:txBody>
      </p:sp>
      <p:pic>
        <p:nvPicPr>
          <p:cNvPr id="5" name="Obrázek 4" descr="Obsah obrázku snímek obrazovky, diagram, text, design&#10;&#10;Popis byl vytvořen automaticky">
            <a:extLst>
              <a:ext uri="{FF2B5EF4-FFF2-40B4-BE49-F238E27FC236}">
                <a16:creationId xmlns:a16="http://schemas.microsoft.com/office/drawing/2014/main" id="{8C8F71C5-AA7C-A977-C325-92F853C27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737588"/>
            <a:ext cx="6903720" cy="338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65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CD10DA-AA55-FB08-49B6-6BEA2A32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69AE5D-C84D-9373-36F5-D5E8FD25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7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cs-CZ" dirty="0">
                <a:hlinkClick r:id="rId2"/>
              </a:rPr>
              <a:t>https://cs.wikipedia.org/wiki/Kybernetick%C3%BD_%C3%BAtok</a:t>
            </a:r>
            <a:endParaRPr lang="cs-CZ" dirty="0"/>
          </a:p>
          <a:p>
            <a:r>
              <a:rPr lang="cs-CZ" dirty="0">
                <a:hlinkClick r:id="rId3"/>
              </a:rPr>
              <a:t>https://www.eset.com/cz/spam/</a:t>
            </a:r>
            <a:endParaRPr lang="cs-CZ" dirty="0"/>
          </a:p>
          <a:p>
            <a:r>
              <a:rPr lang="cs-CZ" dirty="0">
                <a:hlinkClick r:id="rId4"/>
              </a:rPr>
              <a:t>https://cs.wikipedia.org/wiki/Botnet</a:t>
            </a:r>
            <a:endParaRPr lang="cs-CZ" dirty="0"/>
          </a:p>
          <a:p>
            <a:r>
              <a:rPr lang="cs-CZ" dirty="0">
                <a:hlinkClick r:id="rId5"/>
              </a:rPr>
              <a:t>https://cs.wikipedia.org/wiki/Malware</a:t>
            </a:r>
            <a:endParaRPr lang="cs-CZ" dirty="0"/>
          </a:p>
          <a:p>
            <a:r>
              <a:rPr lang="cs-CZ" dirty="0">
                <a:hlinkClick r:id="rId6"/>
              </a:rPr>
              <a:t>https://cs.wikipedia.org/wiki/Trojsk%C3%BD_k%C5%AF%C5%88_(program)</a:t>
            </a:r>
            <a:endParaRPr lang="cs-CZ" dirty="0"/>
          </a:p>
          <a:p>
            <a:r>
              <a:rPr lang="cs-CZ" dirty="0">
                <a:hlinkClick r:id="rId7"/>
              </a:rPr>
              <a:t>https://cs.wikipedia.org/wiki/Spyware</a:t>
            </a:r>
            <a:endParaRPr lang="cs-CZ" dirty="0"/>
          </a:p>
          <a:p>
            <a:r>
              <a:rPr lang="cs-CZ" dirty="0">
                <a:hlinkClick r:id="rId8"/>
              </a:rPr>
              <a:t>https://cs.wikipedia.org/wiki/Ransomware</a:t>
            </a:r>
            <a:endParaRPr lang="cs-CZ" dirty="0"/>
          </a:p>
          <a:p>
            <a:r>
              <a:rPr lang="cs-CZ" dirty="0">
                <a:hlinkClick r:id="rId9"/>
              </a:rPr>
              <a:t>https://cs.wikipedia.org/wiki/Adware</a:t>
            </a:r>
            <a:endParaRPr lang="cs-CZ" dirty="0"/>
          </a:p>
          <a:p>
            <a:r>
              <a:rPr lang="cs-CZ" dirty="0">
                <a:hlinkClick r:id="rId10"/>
              </a:rPr>
              <a:t>https://cs.wikipedia.org/wiki/Denial_of_service</a:t>
            </a:r>
            <a:endParaRPr lang="cs-CZ" dirty="0"/>
          </a:p>
          <a:p>
            <a:r>
              <a:rPr lang="cs-CZ" dirty="0">
                <a:hlinkClick r:id="rId11"/>
              </a:rPr>
              <a:t>https://cs.wikipedia.org/wiki/Cracking</a:t>
            </a:r>
            <a:endParaRPr lang="cs-CZ" dirty="0"/>
          </a:p>
          <a:p>
            <a:r>
              <a:rPr lang="cs-CZ" dirty="0">
                <a:hlinkClick r:id="rId12"/>
              </a:rPr>
              <a:t>https://wikisofia.cz/wiki/Computer_hacking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9120325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5" ma:contentTypeDescription="Vytvoří nový dokument" ma:contentTypeScope="" ma:versionID="de8c0225ad5317157d32a3f631c6e93d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958f1101faf7a4b7c3d921af8bd006ea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E6CDB2-1403-44D4-B6EF-4F5391986F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3D90BF-F36A-4DC1-AAEB-9B49705E7885}">
  <ds:schemaRefs>
    <ds:schemaRef ds:uri="http://schemas.microsoft.com/office/2006/metadata/properties"/>
    <ds:schemaRef ds:uri="http://www.w3.org/2000/xmlns/"/>
    <ds:schemaRef ds:uri="5f220dc0-27a6-4f79-8ef7-91d1414d0c8a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57513C-D4BB-4503-867F-A920BA11821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f220dc0-27a6-4f79-8ef7-91d1414d0c8a"/>
    <ds:schemaRef ds:uri="8716bbdc-2b9e-4b6c-9f5d-91220b825f8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1020</Words>
  <Application>Microsoft Office PowerPoint</Application>
  <PresentationFormat>Širokoúhlá obrazovka</PresentationFormat>
  <Paragraphs>65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Roboto</vt:lpstr>
      <vt:lpstr>Motiv Office</vt:lpstr>
      <vt:lpstr>Základní typy kybernetických  útoků</vt:lpstr>
      <vt:lpstr>Co to jsou kybernetické útoky</vt:lpstr>
      <vt:lpstr>Spam</vt:lpstr>
      <vt:lpstr>Botnet</vt:lpstr>
      <vt:lpstr>Malware</vt:lpstr>
      <vt:lpstr>Trojský kůň</vt:lpstr>
      <vt:lpstr>Adware</vt:lpstr>
      <vt:lpstr>Spyware</vt:lpstr>
      <vt:lpstr>Nejčastější příznaky výskytu spywaru</vt:lpstr>
      <vt:lpstr>Ransomware</vt:lpstr>
      <vt:lpstr>Phishing</vt:lpstr>
      <vt:lpstr>Hacking</vt:lpstr>
      <vt:lpstr>Cracking</vt:lpstr>
      <vt:lpstr>DoS</vt:lpstr>
      <vt:lpstr>DDOS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