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53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7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52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84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8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2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8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3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7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0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0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3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Osobn%C3%AD_%C3%BAdaj" TargetMode="External"/><Relationship Id="rId2" Type="http://schemas.openxmlformats.org/officeDocument/2006/relationships/hyperlink" Target="https://commission.europa.eu/law/law-topic/data-protection/reform/what-personal-data_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Digit%C3%A1ln%C3%AD_certifik%C3%A1t" TargetMode="External"/><Relationship Id="rId5" Type="http://schemas.openxmlformats.org/officeDocument/2006/relationships/hyperlink" Target="https://frs.gov.cz/spravni-rizeni/biometrie/" TargetMode="External"/><Relationship Id="rId4" Type="http://schemas.openxmlformats.org/officeDocument/2006/relationships/hyperlink" Target="https://cs.wikipedia.org/wiki/Biometri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8B39A7-5BF4-341C-12CB-5518793A2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7BF33-99C1-D0D8-878D-679E840B05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3" r="3875"/>
          <a:stretch/>
        </p:blipFill>
        <p:spPr>
          <a:xfrm>
            <a:off x="4157001" y="-1"/>
            <a:ext cx="8035000" cy="6858001"/>
          </a:xfrm>
          <a:custGeom>
            <a:avLst/>
            <a:gdLst/>
            <a:ahLst/>
            <a:cxnLst/>
            <a:rect l="l" t="t" r="r" b="b"/>
            <a:pathLst>
              <a:path w="8035000" h="6858001">
                <a:moveTo>
                  <a:pt x="0" y="0"/>
                </a:moveTo>
                <a:lnTo>
                  <a:pt x="8035000" y="0"/>
                </a:lnTo>
                <a:lnTo>
                  <a:pt x="8035000" y="6858001"/>
                </a:lnTo>
                <a:lnTo>
                  <a:pt x="137897" y="6858001"/>
                </a:lnTo>
                <a:lnTo>
                  <a:pt x="274509" y="6844229"/>
                </a:lnTo>
                <a:cubicBezTo>
                  <a:pt x="583423" y="6781017"/>
                  <a:pt x="815799" y="6507690"/>
                  <a:pt x="815799" y="6180089"/>
                </a:cubicBezTo>
                <a:lnTo>
                  <a:pt x="815799" y="677915"/>
                </a:lnTo>
                <a:cubicBezTo>
                  <a:pt x="815799" y="303514"/>
                  <a:pt x="512287" y="2"/>
                  <a:pt x="137886" y="2"/>
                </a:cubicBezTo>
                <a:lnTo>
                  <a:pt x="0" y="2"/>
                </a:lnTo>
                <a:close/>
              </a:path>
            </a:pathLst>
          </a:cu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EE99EB9-0282-005E-7D74-36FAD08FD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2" y="752136"/>
            <a:ext cx="3944703" cy="3553163"/>
          </a:xfrm>
        </p:spPr>
        <p:txBody>
          <a:bodyPr anchor="t">
            <a:normAutofit fontScale="90000"/>
          </a:bodyPr>
          <a:lstStyle/>
          <a:p>
            <a:r>
              <a:rPr lang="cs-CZ" sz="4800"/>
              <a:t>Digitální identita a digitální stopa, digitální podpis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B59B575-D7B7-603D-5695-1652BA776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52" y="4762123"/>
            <a:ext cx="3698627" cy="1257678"/>
          </a:xfrm>
        </p:spPr>
        <p:txBody>
          <a:bodyPr anchor="b">
            <a:normAutofit/>
          </a:bodyPr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201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6D94F-37F4-004A-F61E-7DDA76D2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Obecné </a:t>
            </a:r>
            <a:r>
              <a:rPr lang="cs-CZ" err="1"/>
              <a:t>info</a:t>
            </a:r>
            <a:r>
              <a:rPr lang="cs-CZ"/>
              <a:t> – Digitální Identita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B2C23DE-3FB0-EE8E-2540-357F55D8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/>
              <a:t>Odkazuje na informace a data identifikující jednotlivce nebo entity v Digitálním prostoru</a:t>
            </a:r>
          </a:p>
          <a:p>
            <a:r>
              <a:rPr lang="cs-CZ"/>
              <a:t>Zahrnuje různé prvky </a:t>
            </a:r>
          </a:p>
          <a:p>
            <a:r>
              <a:rPr lang="cs-CZ" sz="2800" b="1"/>
              <a:t>-uživatelská jména</a:t>
            </a:r>
          </a:p>
          <a:p>
            <a:r>
              <a:rPr lang="cs-CZ" sz="2800" b="1"/>
              <a:t>-hesla</a:t>
            </a:r>
          </a:p>
          <a:p>
            <a:r>
              <a:rPr lang="cs-CZ" sz="2800" b="1"/>
              <a:t>-osobní údaje</a:t>
            </a:r>
          </a:p>
          <a:p>
            <a:r>
              <a:rPr lang="cs-CZ" sz="2800" b="1"/>
              <a:t>-biometrické údaje  </a:t>
            </a:r>
          </a:p>
          <a:p>
            <a:r>
              <a:rPr lang="cs-CZ" sz="2800" b="1"/>
              <a:t>-digitální certifikáty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625A713-1C8C-FF6C-4C08-F24DD7537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ADF3FEC-8AF3-5887-0255-C0F59720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09387C5-8409-A8FE-4838-CF091AFE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1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FA01F6-CF38-06C0-FD98-1D390FFC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666731"/>
          </a:xfrm>
        </p:spPr>
        <p:txBody>
          <a:bodyPr>
            <a:normAutofit fontScale="90000"/>
          </a:bodyPr>
          <a:lstStyle/>
          <a:p>
            <a:r>
              <a:rPr lang="cs-CZ" b="1" i="0">
                <a:effectLst/>
                <a:latin typeface="Söhne"/>
              </a:rPr>
              <a:t>Uživatelská jména a hesla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020190-7DBB-2FCF-014A-35C46617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1525712"/>
            <a:ext cx="9956747" cy="3870181"/>
          </a:xfrm>
        </p:spPr>
        <p:txBody>
          <a:bodyPr>
            <a:noAutofit/>
          </a:bodyPr>
          <a:lstStyle/>
          <a:p>
            <a:pPr>
              <a:buAutoNum type="arabicPeriod"/>
            </a:pPr>
            <a:r>
              <a:rPr lang="cs-CZ" sz="1600" b="1"/>
              <a:t>Klasické metody autentizace</a:t>
            </a:r>
            <a:r>
              <a:rPr lang="cs-CZ" sz="1600"/>
              <a:t>: Používání uživatelských jmen a hesel.2. </a:t>
            </a:r>
          </a:p>
          <a:p>
            <a:pPr>
              <a:buAutoNum type="arabicPeriod"/>
            </a:pPr>
            <a:r>
              <a:rPr lang="cs-CZ" sz="1600" b="1"/>
              <a:t>Heslo</a:t>
            </a:r>
            <a:r>
              <a:rPr lang="cs-CZ" sz="1600"/>
              <a:t>: Řetězec znaků sloužící k autentizaci uživatele.</a:t>
            </a:r>
          </a:p>
          <a:p>
            <a:pPr marL="0" indent="0">
              <a:buNone/>
            </a:pPr>
            <a:r>
              <a:rPr lang="cs-CZ" sz="1600"/>
              <a:t>3. </a:t>
            </a:r>
            <a:r>
              <a:rPr lang="cs-CZ" sz="1600" b="1" err="1"/>
              <a:t>Hashování</a:t>
            </a:r>
            <a:r>
              <a:rPr lang="cs-CZ" sz="1600"/>
              <a:t> </a:t>
            </a:r>
            <a:r>
              <a:rPr lang="cs-CZ" sz="1600" b="1"/>
              <a:t>hesel</a:t>
            </a:r>
            <a:r>
              <a:rPr lang="cs-CZ" sz="1600"/>
              <a:t>: Hesla se </a:t>
            </a:r>
            <a:r>
              <a:rPr lang="cs-CZ" sz="1600" err="1"/>
              <a:t>hashují</a:t>
            </a:r>
            <a:r>
              <a:rPr lang="cs-CZ" sz="1600"/>
              <a:t> do </a:t>
            </a:r>
            <a:r>
              <a:rPr lang="cs-CZ" sz="1600" err="1"/>
              <a:t>nahodných</a:t>
            </a:r>
            <a:r>
              <a:rPr lang="cs-CZ" sz="1600"/>
              <a:t> řetězců, což zvyšuje bezpečnost.   - Příklad: Heslo "ahoj" se </a:t>
            </a:r>
            <a:r>
              <a:rPr lang="cs-CZ" sz="1600" err="1"/>
              <a:t>zahashuje</a:t>
            </a:r>
            <a:r>
              <a:rPr lang="cs-CZ" sz="1600"/>
              <a:t> na "4d5as4das56d18gs515a4d8a4", což ztěžuje odhalení hesla.</a:t>
            </a:r>
          </a:p>
          <a:p>
            <a:pPr marL="0" indent="0">
              <a:buNone/>
            </a:pPr>
            <a:r>
              <a:rPr lang="cs-CZ" sz="1600"/>
              <a:t>4. </a:t>
            </a:r>
            <a:r>
              <a:rPr lang="cs-CZ" sz="1600" b="1"/>
              <a:t>Výhody</a:t>
            </a:r>
            <a:r>
              <a:rPr lang="cs-CZ" sz="1600"/>
              <a:t> </a:t>
            </a:r>
            <a:r>
              <a:rPr lang="cs-CZ" sz="1600" b="1" err="1"/>
              <a:t>hashování</a:t>
            </a:r>
            <a:r>
              <a:rPr lang="cs-CZ" sz="1600"/>
              <a:t>:   - Bezpečnost: Zabraňuje přímočarému odhalení hesel.   - Integrity dat: Slouží k ověření integrity dat.   - Důležitost silných hesel: Posiluje bezpečnost, vyžaduje silná hesla.</a:t>
            </a:r>
          </a:p>
          <a:p>
            <a:pPr marL="0" indent="0">
              <a:buNone/>
            </a:pPr>
            <a:r>
              <a:rPr lang="cs-CZ" sz="1600"/>
              <a:t>5. </a:t>
            </a:r>
            <a:r>
              <a:rPr lang="cs-CZ" sz="1600" b="1"/>
              <a:t>Další bezpečnostní opatření: </a:t>
            </a:r>
            <a:r>
              <a:rPr lang="cs-CZ" sz="1600"/>
              <a:t>Použití soli (salt) před </a:t>
            </a:r>
            <a:r>
              <a:rPr lang="cs-CZ" sz="1600" err="1"/>
              <a:t>hashováním</a:t>
            </a:r>
            <a:r>
              <a:rPr lang="cs-CZ" sz="1600"/>
              <a:t> hesel, což ztěžuje prolomení hesel útoky hrubou silou a </a:t>
            </a:r>
            <a:r>
              <a:rPr lang="cs-CZ" sz="1600" err="1"/>
              <a:t>předpočítanými</a:t>
            </a:r>
            <a:r>
              <a:rPr lang="cs-CZ" sz="1600"/>
              <a:t> tabulkami. Salt zajišťuje jedinečnost </a:t>
            </a:r>
            <a:r>
              <a:rPr lang="cs-CZ" sz="1600" err="1"/>
              <a:t>hashů</a:t>
            </a:r>
            <a:r>
              <a:rPr lang="cs-CZ" sz="1600"/>
              <a:t> a zvyšuje bezpečnost ukládání hesel v databázích.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8FCA9EE-780E-A110-D201-AC2F8502A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D3E7F20-082D-01D3-96A3-21D9F7439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377560C-1285-B8B6-CDA6-DFBD3D5D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78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F453942-34F8-C838-8F10-AA7AEDD5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anchor="t">
            <a:normAutofit/>
          </a:bodyPr>
          <a:lstStyle/>
          <a:p>
            <a:r>
              <a:rPr lang="cs-CZ" b="1" i="0" dirty="0">
                <a:effectLst/>
                <a:latin typeface="Söhne"/>
              </a:rPr>
              <a:t>Biometrie</a:t>
            </a:r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F48BE48-D1D2-20EF-9411-E19D3DC901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8/28/2026</a:t>
            </a:fld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C410799-447A-8694-DE28-0E489F77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19" y="1623528"/>
            <a:ext cx="3993175" cy="4501428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1200" b="1" dirty="0"/>
              <a:t>Biometrie je způsob identifikace na základě biologických charakteristik, jako jsou otisky prstů či rozpoznání obličeje.</a:t>
            </a:r>
          </a:p>
          <a:p>
            <a:pPr>
              <a:lnSpc>
                <a:spcPct val="110000"/>
              </a:lnSpc>
            </a:pPr>
            <a:endParaRPr lang="cs-CZ" sz="1200" b="1" dirty="0"/>
          </a:p>
          <a:p>
            <a:pPr>
              <a:lnSpc>
                <a:spcPct val="110000"/>
              </a:lnSpc>
            </a:pPr>
            <a:r>
              <a:rPr lang="cs-CZ" sz="1200" b="1" dirty="0"/>
              <a:t>K ochraně biometrických údajů je nezbytné používat šifrované systémy a pevně kontrolovat přístup k nim.</a:t>
            </a:r>
          </a:p>
          <a:p>
            <a:pPr>
              <a:lnSpc>
                <a:spcPct val="110000"/>
              </a:lnSpc>
            </a:pPr>
            <a:endParaRPr lang="cs-CZ" sz="1200" b="1" dirty="0"/>
          </a:p>
          <a:p>
            <a:pPr>
              <a:lnSpc>
                <a:spcPct val="110000"/>
              </a:lnSpc>
            </a:pPr>
            <a:r>
              <a:rPr lang="cs-CZ" sz="1200" b="1" dirty="0"/>
              <a:t>Důležité je kombinovat biometrii s dalšími faktory při autentizaci, například s hesly.</a:t>
            </a:r>
          </a:p>
          <a:p>
            <a:pPr>
              <a:lnSpc>
                <a:spcPct val="110000"/>
              </a:lnSpc>
            </a:pPr>
            <a:endParaRPr lang="cs-CZ" sz="1200" b="1" dirty="0"/>
          </a:p>
          <a:p>
            <a:pPr>
              <a:lnSpc>
                <a:spcPct val="110000"/>
              </a:lnSpc>
            </a:pPr>
            <a:r>
              <a:rPr lang="cs-CZ" sz="1200" b="1" dirty="0"/>
              <a:t>Dodržování zákonů a respektování práv jednotlivců na ochranu soukromí je klíčové.</a:t>
            </a:r>
          </a:p>
          <a:p>
            <a:pPr>
              <a:lnSpc>
                <a:spcPct val="110000"/>
              </a:lnSpc>
            </a:pPr>
            <a:endParaRPr lang="cs-CZ" sz="1200" b="1" dirty="0"/>
          </a:p>
          <a:p>
            <a:pPr>
              <a:lnSpc>
                <a:spcPct val="110000"/>
              </a:lnSpc>
            </a:pPr>
            <a:r>
              <a:rPr lang="cs-CZ" sz="1200" b="1" dirty="0"/>
              <a:t>Pravidelně aktualizovat a testovat bezpečnostní opatření související s biometrií.</a:t>
            </a:r>
          </a:p>
        </p:txBody>
      </p:sp>
      <p:pic>
        <p:nvPicPr>
          <p:cNvPr id="3074" name="Picture 2" descr="Věčné digitální stopy aneb internet nezapomíná - INTERNETEM BEZPEČNĚ">
            <a:extLst>
              <a:ext uri="{FF2B5EF4-FFF2-40B4-BE49-F238E27FC236}">
                <a16:creationId xmlns:a16="http://schemas.microsoft.com/office/drawing/2014/main" id="{ABAF6F85-350C-AD78-D183-34661787BF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36" r="24066"/>
          <a:stretch/>
        </p:blipFill>
        <p:spPr bwMode="auto"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105166-01BD-7D7B-1365-3F76470F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BF8CAD-8268-7F65-BDCA-0627F4CD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70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77B9E1-EFAF-2670-3D48-2CBBA272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318221"/>
          </a:xfrm>
        </p:spPr>
        <p:txBody>
          <a:bodyPr>
            <a:normAutofit fontScale="90000"/>
          </a:bodyPr>
          <a:lstStyle/>
          <a:p>
            <a:r>
              <a:rPr lang="cs-CZ" b="1" i="0" dirty="0">
                <a:effectLst/>
                <a:latin typeface="Söhne"/>
              </a:rPr>
              <a:t>Digitální Certifikáty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787F679-5166-42F8-CE69-754EE4D58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7703" y="1177202"/>
            <a:ext cx="5737719" cy="46641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400" b="1" err="1"/>
              <a:t>Důležnost</a:t>
            </a:r>
            <a:r>
              <a:rPr lang="cs-CZ" sz="1400" b="1"/>
              <a:t> digitálních certifikátů:</a:t>
            </a:r>
          </a:p>
          <a:p>
            <a:pPr marL="0" indent="0">
              <a:buNone/>
            </a:pPr>
            <a:r>
              <a:rPr lang="cs-CZ" sz="1400" b="1"/>
              <a:t>1. Zajištění důvěry</a:t>
            </a:r>
            <a:r>
              <a:rPr lang="cs-CZ" sz="1400"/>
              <a:t>: Potvrzují identity komunikujících stran a tím zvyšují bezpečnost digitálních transakcí a komunikace.</a:t>
            </a:r>
          </a:p>
          <a:p>
            <a:pPr marL="0" indent="0">
              <a:buNone/>
            </a:pPr>
            <a:r>
              <a:rPr lang="cs-CZ" sz="1400" b="1"/>
              <a:t>2. Ochrana šifrování:</a:t>
            </a:r>
            <a:r>
              <a:rPr lang="cs-CZ" sz="1400"/>
              <a:t> Veřejné klíče v certifikátech šifrují data, což chrání je před neoprávněným přístupem a úpravami.</a:t>
            </a:r>
          </a:p>
          <a:p>
            <a:pPr marL="0" indent="0">
              <a:buNone/>
            </a:pPr>
            <a:r>
              <a:rPr lang="cs-CZ" sz="1400" b="1"/>
              <a:t>3. Proces vydání:</a:t>
            </a:r>
            <a:r>
              <a:rPr lang="cs-CZ" sz="1400"/>
              <a:t> Certifikační autority ověřují identity a vydávají certifikáty, což posiluje důvěryhodnost digitálních identit.</a:t>
            </a:r>
          </a:p>
          <a:p>
            <a:pPr marL="0" indent="0">
              <a:buNone/>
            </a:pPr>
            <a:r>
              <a:rPr lang="cs-CZ" sz="1400" b="1"/>
              <a:t>4. Revokace</a:t>
            </a:r>
            <a:r>
              <a:rPr lang="cs-CZ" sz="1400"/>
              <a:t>: Možnost odvolání certifikátu v případě potřeby, například při ztrátě klíče nebo podezření na zneužití.</a:t>
            </a:r>
          </a:p>
          <a:p>
            <a:pPr marL="0" indent="0">
              <a:buNone/>
            </a:pPr>
            <a:r>
              <a:rPr lang="cs-CZ" sz="1400" b="1"/>
              <a:t>5. Role v kryptografii:</a:t>
            </a:r>
            <a:r>
              <a:rPr lang="cs-CZ" sz="1400"/>
              <a:t> Certifikáty umožňují bezpečné používání klíčů pro šifrování a digitální podpisy, což je klíčové pro zachování integrity a autenticity digitálních dat.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C5413C-EDFA-1E5F-10B7-B561B50D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4682906-E588-0D39-A235-E7A16BFF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BD649F-F791-52F9-D971-C030F0A4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5</a:t>
            </a:fld>
            <a:endParaRPr lang="en-US"/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FB5096E1-3746-9B3F-C7F2-77D194FA5FAA}"/>
              </a:ext>
            </a:extLst>
          </p:cNvPr>
          <p:cNvSpPr txBox="1"/>
          <p:nvPr/>
        </p:nvSpPr>
        <p:spPr>
          <a:xfrm>
            <a:off x="308387" y="1177202"/>
            <a:ext cx="56486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/>
              <a:t>Co jsou digitální certifikáty?</a:t>
            </a:r>
          </a:p>
          <a:p>
            <a:r>
              <a:rPr lang="cs-CZ" dirty="0"/>
              <a:t>Digitální certifikáty jsou elektronické dokumenty obsahující informace o identitě subjektu a jeho veřejný klíč. Jsou vydávány certifikační autoritou (CA) k zajištění důvěry v digitální komunikaci.</a:t>
            </a:r>
          </a:p>
          <a:p>
            <a:endParaRPr lang="cs-CZ" dirty="0"/>
          </a:p>
          <a:p>
            <a:r>
              <a:rPr lang="cs-CZ" b="1" dirty="0"/>
              <a:t>Struktura digitálního certifikátu:</a:t>
            </a:r>
          </a:p>
          <a:p>
            <a:r>
              <a:rPr lang="cs-CZ" b="1" dirty="0"/>
              <a:t> </a:t>
            </a:r>
            <a:r>
              <a:rPr lang="cs-CZ" dirty="0"/>
              <a:t>Veřejný klíč: Součást certifikátu, která je sdílena s ostatními pro šifrování a ověření digitálních podpisů</a:t>
            </a:r>
          </a:p>
          <a:p>
            <a:endParaRPr lang="cs-CZ" dirty="0"/>
          </a:p>
          <a:p>
            <a:endParaRPr lang="cs-CZ" dirty="0"/>
          </a:p>
          <a:p>
            <a:r>
              <a:rPr lang="cs-CZ" b="1" dirty="0"/>
              <a:t> Identifikační informace: </a:t>
            </a:r>
            <a:r>
              <a:rPr lang="cs-CZ" dirty="0"/>
              <a:t>Jméno subjektu, číslo certifikátu, platnost atd.</a:t>
            </a:r>
          </a:p>
          <a:p>
            <a:r>
              <a:rPr lang="cs-CZ" dirty="0"/>
              <a:t>Digitální podpis certifikační autority: Slouží k ověření pravosti certifikátu.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8747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60D95E-DAC1-9DCF-2E34-85C53782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335598"/>
          </a:xfrm>
        </p:spPr>
        <p:txBody>
          <a:bodyPr>
            <a:normAutofit fontScale="90000"/>
          </a:bodyPr>
          <a:lstStyle/>
          <a:p>
            <a:r>
              <a:rPr lang="cs-CZ"/>
              <a:t> </a:t>
            </a:r>
            <a:r>
              <a:rPr lang="cs-CZ" err="1"/>
              <a:t>Dvoufaktorová</a:t>
            </a:r>
            <a:r>
              <a:rPr lang="cs-CZ"/>
              <a:t> Autentizace (2FA) nebo </a:t>
            </a:r>
            <a:r>
              <a:rPr lang="cs-CZ" err="1"/>
              <a:t>Multifaktorová</a:t>
            </a:r>
            <a:r>
              <a:rPr lang="cs-CZ"/>
              <a:t> Autentizace (MFA) - Další Podrobnosti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843C23-D98F-43E0-E6F7-C34F0476E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6" y="1912029"/>
            <a:ext cx="4957880" cy="4521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cs-CZ" sz="1200"/>
          </a:p>
          <a:p>
            <a:pPr marL="0" indent="0">
              <a:buNone/>
            </a:pPr>
            <a:r>
              <a:rPr lang="cs-CZ" sz="1200" b="1" err="1"/>
              <a:t>Dvoufaktorová</a:t>
            </a:r>
            <a:r>
              <a:rPr lang="cs-CZ" sz="1200" b="1"/>
              <a:t> autentizace (2FA):</a:t>
            </a:r>
          </a:p>
          <a:p>
            <a:endParaRPr lang="cs-CZ" sz="1200"/>
          </a:p>
          <a:p>
            <a:r>
              <a:rPr lang="cs-CZ" sz="1200"/>
              <a:t>2FA je metoda autentizace, která vyžaduje od uživatele předložení dvou různých prvků ke získání přístupu.</a:t>
            </a:r>
          </a:p>
          <a:p>
            <a:r>
              <a:rPr lang="cs-CZ" sz="1200"/>
              <a:t>Kombinuje něco, co uživatel ví (např. heslo), s něčím, co uživatel má (např. kód z mobilního zařízení).</a:t>
            </a:r>
          </a:p>
          <a:p>
            <a:r>
              <a:rPr lang="cs-CZ" sz="1200" b="1"/>
              <a:t>Různé druhy 2FA:</a:t>
            </a:r>
            <a:endParaRPr lang="cs-CZ" sz="1200"/>
          </a:p>
          <a:p>
            <a:r>
              <a:rPr lang="cs-CZ" sz="1200"/>
              <a:t>Klávesnice: Uživatel zadává heslo a poté generovaný kód z klávesnice.</a:t>
            </a:r>
          </a:p>
          <a:p>
            <a:r>
              <a:rPr lang="cs-CZ" sz="1200"/>
              <a:t>Mobilní aplikace: Používání mobilních aplikací k generování kódů, například Google </a:t>
            </a:r>
            <a:r>
              <a:rPr lang="cs-CZ" sz="1200" err="1"/>
              <a:t>Authenticator</a:t>
            </a:r>
            <a:r>
              <a:rPr lang="cs-CZ" sz="1200"/>
              <a:t> nebo </a:t>
            </a:r>
            <a:r>
              <a:rPr lang="cs-CZ" sz="1200" err="1"/>
              <a:t>Authy</a:t>
            </a:r>
            <a:r>
              <a:rPr lang="cs-CZ" sz="1200"/>
              <a:t>.</a:t>
            </a:r>
          </a:p>
          <a:p>
            <a:r>
              <a:rPr lang="cs-CZ" sz="1200"/>
              <a:t>SMS kódy: Odesílání kódu na uživatelův mobilní telefon prostřednictvím SMS.</a:t>
            </a:r>
          </a:p>
          <a:p>
            <a:r>
              <a:rPr lang="cs-CZ" sz="1200" b="1"/>
              <a:t>Přínosy </a:t>
            </a:r>
            <a:r>
              <a:rPr lang="cs-CZ" sz="1200" b="1" err="1"/>
              <a:t>Dvoufaktorové</a:t>
            </a:r>
            <a:r>
              <a:rPr lang="cs-CZ" sz="1200" b="1"/>
              <a:t> Autentizace:</a:t>
            </a:r>
            <a:endParaRPr lang="cs-CZ" sz="1200"/>
          </a:p>
          <a:p>
            <a:r>
              <a:rPr lang="cs-CZ" sz="1200"/>
              <a:t>Vyšší bezpečnost: Úroveň bezpečnosti se zvyšuje, protože útočník potřebuje získat nejen heslo, ale také další autentizační faktor.</a:t>
            </a:r>
          </a:p>
          <a:p>
            <a:r>
              <a:rPr lang="cs-CZ" sz="1200"/>
              <a:t>Prevence hrubé síly: I když by heslo bylo získáno, bez druhého faktoru nemá útočník plný přístup.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DDF105-5F17-92A5-88F0-881B50AD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3A6D498-9EBC-A5CA-F926-E1F458AB2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9ADCF61-8E03-E619-D1A1-ED24509B2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6</a:t>
            </a:fld>
            <a:endParaRPr lang="en-US"/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1200E244-740D-AAB5-886F-B5B49103DE26}"/>
              </a:ext>
            </a:extLst>
          </p:cNvPr>
          <p:cNvSpPr txBox="1">
            <a:spLocks/>
          </p:cNvSpPr>
          <p:nvPr/>
        </p:nvSpPr>
        <p:spPr>
          <a:xfrm>
            <a:off x="5684720" y="2710915"/>
            <a:ext cx="4957880" cy="4521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/>
              <a:t>Implementační Aspekty:</a:t>
            </a:r>
            <a:endParaRPr lang="cs-CZ"/>
          </a:p>
          <a:p>
            <a:r>
              <a:rPr lang="cs-CZ"/>
              <a:t>Kombinace faktorů: Faktory mohou být kombinovány různými způsoby, jako je kombinace biometrie a hesla nebo fyzického zařízení a PIN kód.</a:t>
            </a:r>
          </a:p>
          <a:p>
            <a:r>
              <a:rPr lang="cs-CZ"/>
              <a:t>Oznamování: Uživatelé jsou informováni o pokusu o přihlášení z neznámého zařízení nebo lokality.</a:t>
            </a:r>
          </a:p>
          <a:p>
            <a:r>
              <a:rPr lang="cs-CZ" b="1"/>
              <a:t>Omezení a Zájmy:</a:t>
            </a:r>
          </a:p>
          <a:p>
            <a:r>
              <a:rPr lang="cs-CZ"/>
              <a:t>Ztráta přístroje: Ztráta zařízení s 2FA kódem může představovat riziko.</a:t>
            </a:r>
          </a:p>
          <a:p>
            <a:r>
              <a:rPr lang="cs-CZ"/>
              <a:t>Uživatelská pohodlí: Někteří uživatelé mohou považovat 2FA za nepraktické, a proto je důležité zajistit uživatelsky přívětivý proces.</a:t>
            </a:r>
          </a:p>
          <a:p>
            <a:r>
              <a:rPr lang="cs-CZ" b="1"/>
              <a:t>MFA ve firemním prostředí:</a:t>
            </a:r>
          </a:p>
          <a:p>
            <a:r>
              <a:rPr lang="cs-CZ"/>
              <a:t>Standardní praxe: V firemním prostředí je 2FA často minimálním požadavkem pro přístup k citlivým informacím nebo systémům.</a:t>
            </a:r>
          </a:p>
          <a:p>
            <a:r>
              <a:rPr lang="cs-CZ"/>
              <a:t>Správa přístupových práv: </a:t>
            </a:r>
            <a:r>
              <a:rPr lang="cs-CZ" err="1"/>
              <a:t>Dvoufaktorová</a:t>
            </a:r>
            <a:r>
              <a:rPr lang="cs-CZ"/>
              <a:t> autentizace podporuje efektivní správu přístupových práv a zvyšuje bezpečnost firemní sítě.</a:t>
            </a:r>
          </a:p>
        </p:txBody>
      </p:sp>
    </p:spTree>
    <p:extLst>
      <p:ext uri="{BB962C8B-B14F-4D97-AF65-F5344CB8AC3E}">
        <p14:creationId xmlns:p14="http://schemas.microsoft.com/office/powerpoint/2010/main" val="339096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3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6806DF-7EA6-8016-AE00-EF6FE9A56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anchor="t">
            <a:normAutofit/>
          </a:bodyPr>
          <a:lstStyle/>
          <a:p>
            <a:r>
              <a:rPr lang="cs-CZ" sz="4100"/>
              <a:t>Definice osobních údajů 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053B58A-B039-824A-748F-6472CEBE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8/28/2026</a:t>
            </a:fld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C39664-0575-6F0E-21C9-4ECE1190E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19" y="2569464"/>
            <a:ext cx="3993175" cy="3555491"/>
          </a:xfrm>
        </p:spPr>
        <p:txBody>
          <a:bodyPr anchor="b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endParaRPr lang="cs-CZ" sz="900"/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Prevence krádeže identity je klíčová, protože útočníci mohou zneužít osobní údaje.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Standardní informace, jako jméno, adresa, datum narození a číslo občanského průkazu, jsou ohroženy.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Citlivé informace, jako zdravotní údaje nebo informace o rasové či etnické příslušnosti, jsou zvláště ohrožené.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Zpracování osobních údajů zahrnuje sběr, zpracování a uchování údajů.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Důležité je mít zásady ochrany údajů a používat šifrování přenášených údajů.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Bezpečnost úložišť osobních údajů je klíčová.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Bezpečnostní opatření, jako jsou firewally a antiviry, jsou nezbytná.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900"/>
              <a:t>- Pravidelné </a:t>
            </a:r>
            <a:r>
              <a:rPr lang="cs-CZ" sz="900" err="1"/>
              <a:t>auditace</a:t>
            </a:r>
            <a:r>
              <a:rPr lang="cs-CZ" sz="900"/>
              <a:t> jsou důležité pro ověření dodržování zásad ochrany údajů.</a:t>
            </a:r>
          </a:p>
          <a:p>
            <a:pPr marL="0" indent="0">
              <a:lnSpc>
                <a:spcPct val="110000"/>
              </a:lnSpc>
              <a:buNone/>
            </a:pPr>
            <a:endParaRPr lang="cs-CZ" sz="900"/>
          </a:p>
        </p:txBody>
      </p:sp>
      <p:pic>
        <p:nvPicPr>
          <p:cNvPr id="2056" name="Picture 8" descr="Začernit rodné číslo nestačí, osobní údaje je lepší šifrovat | Hospodářské  noviny (HN.cz)">
            <a:extLst>
              <a:ext uri="{FF2B5EF4-FFF2-40B4-BE49-F238E27FC236}">
                <a16:creationId xmlns:a16="http://schemas.microsoft.com/office/drawing/2014/main" id="{27B1ECC0-B1A4-28CF-C1D8-9F022A8697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5" r="20236"/>
          <a:stretch/>
        </p:blipFill>
        <p:spPr bwMode="auto"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42B02E-3B07-84C4-284E-AE4E0C4D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20525E2-ACD5-8392-512B-CBDD8436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90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72F91C9-475C-969E-EE8B-0FD546D06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anchor="t">
            <a:normAutofit/>
          </a:bodyPr>
          <a:lstStyle/>
          <a:p>
            <a:r>
              <a:rPr lang="cs-CZ" dirty="0"/>
              <a:t>Digitální stopa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0231754-0540-0D21-DA5E-2AA053410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8/28/2026</a:t>
            </a:fld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9BBB253-CB12-49E5-1818-3FE5834C6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19" y="2569464"/>
            <a:ext cx="3993175" cy="3555491"/>
          </a:xfrm>
        </p:spPr>
        <p:txBody>
          <a:bodyPr anchor="b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cs-CZ" sz="1000" b="1" dirty="0"/>
              <a:t>Co je Digitální Stopa? </a:t>
            </a:r>
            <a:r>
              <a:rPr lang="cs-CZ" sz="1000" dirty="0"/>
              <a:t>–Sled digitálních informací zanechaných na internetu.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cs-CZ" sz="1000" dirty="0"/>
              <a:t>
</a:t>
            </a:r>
            <a:r>
              <a:rPr lang="cs-CZ" sz="1000" b="1" dirty="0"/>
              <a:t>Důležitost Digitální Stopy </a:t>
            </a:r>
            <a:r>
              <a:rPr lang="cs-CZ" sz="1000" dirty="0"/>
              <a:t>– Odráží naše preference a chování, což firmy využívají k cílené reklamě a personalizovaným službám.
</a:t>
            </a:r>
            <a:r>
              <a:rPr lang="cs-CZ" sz="1000" b="1" dirty="0"/>
              <a:t>Součásti Digitální Stopy</a:t>
            </a:r>
            <a:r>
              <a:rPr lang="cs-CZ" sz="1000" dirty="0"/>
              <a:t> – Zahrnuje sociální média, vyhledávání na internetu, online nákupy a internetovou komunikaci.
</a:t>
            </a:r>
            <a:r>
              <a:rPr lang="cs-CZ" sz="1000" b="1" dirty="0"/>
              <a:t>Bezpečnost a soukromí</a:t>
            </a:r>
            <a:r>
              <a:rPr lang="cs-CZ" sz="1000" dirty="0"/>
              <a:t> – Důležité je chránit svou Digitální Stopu před zneužitím a ochránit své osobní údaje online.
</a:t>
            </a:r>
            <a:r>
              <a:rPr lang="cs-CZ" sz="1000" b="1" dirty="0"/>
              <a:t>Správa Digitální Stopy</a:t>
            </a:r>
            <a:r>
              <a:rPr lang="cs-CZ" sz="1000" dirty="0"/>
              <a:t> – Uživatelé mohou nastavit soukromí na sociálních médiích a používat bezpečnostní nástroje jako VPN.
</a:t>
            </a:r>
          </a:p>
        </p:txBody>
      </p:sp>
      <p:pic>
        <p:nvPicPr>
          <p:cNvPr id="1026" name="Picture 2" descr="Ochrana soukromí: jak sledovat svou digitální stopu - 1.díl - Computerworld">
            <a:extLst>
              <a:ext uri="{FF2B5EF4-FFF2-40B4-BE49-F238E27FC236}">
                <a16:creationId xmlns:a16="http://schemas.microsoft.com/office/drawing/2014/main" id="{1B1ECF70-60D8-9927-A168-32DEF581FC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59" r="20581"/>
          <a:stretch/>
        </p:blipFill>
        <p:spPr bwMode="auto"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C5407E4-DA08-D33D-0B40-0A9CADBD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BD0D0E7-4A77-479E-CF91-55BBAD95C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69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116CF3-5B8D-0240-1759-170220AD1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Digitální Podpis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4BB586-49B3-3EF2-D23A-4C482968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624" y="1919828"/>
            <a:ext cx="9956747" cy="387018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cs-CZ"/>
              <a:t>
</a:t>
            </a:r>
            <a:r>
              <a:rPr lang="cs-CZ" b="1"/>
              <a:t>Co je digitální podpis?</a:t>
            </a:r>
            <a:r>
              <a:rPr lang="cs-CZ"/>
              <a:t> – Elektronický záznam k ověření identity dokumentů.
</a:t>
            </a:r>
            <a:r>
              <a:rPr lang="cs-CZ" b="1"/>
              <a:t>Důležitost digitálního podpisu</a:t>
            </a:r>
            <a:r>
              <a:rPr lang="cs-CZ"/>
              <a:t> – Poskytuje bezpečnost a platnost elektronických dokumentů.
</a:t>
            </a:r>
          </a:p>
          <a:p>
            <a:pPr marL="0" indent="0">
              <a:buNone/>
            </a:pPr>
            <a:r>
              <a:rPr lang="cs-CZ" b="1"/>
              <a:t>Součásti digitálního podpisu</a:t>
            </a:r>
            <a:r>
              <a:rPr lang="cs-CZ"/>
              <a:t> – Elektronická identita a ověřovací procesy.
</a:t>
            </a:r>
          </a:p>
          <a:p>
            <a:pPr marL="0" indent="0">
              <a:buNone/>
            </a:pPr>
            <a:r>
              <a:rPr lang="cs-CZ" b="1"/>
              <a:t>Bezpečnost a soukromí</a:t>
            </a:r>
            <a:r>
              <a:rPr lang="cs-CZ"/>
              <a:t> – Klíčové pro zachování integrity a ochranu osobních údajů.
</a:t>
            </a:r>
            <a:r>
              <a:rPr lang="cs-CZ" b="1"/>
              <a:t>Jak získat digitální podpis</a:t>
            </a:r>
            <a:r>
              <a:rPr lang="cs-CZ"/>
              <a:t> – Získává se od certifikačních autorit prostřednictvím ověření totožnosti.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E29D51-FC38-7336-89BC-757DD375C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D455A91-40FB-B0B7-6A59-F2913858C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946A2FF-3977-C39C-DAEC-3437DCCD9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919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CBB9BE-9F3B-7028-9F8F-F6C3EEA68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7707E5-2A85-DFCE-A9D2-F30DF5A6F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ChatGPT</a:t>
            </a:r>
            <a:endParaRPr lang="cs-CZ" dirty="0"/>
          </a:p>
          <a:p>
            <a:r>
              <a:rPr lang="cs-CZ" dirty="0">
                <a:hlinkClick r:id="rId2"/>
              </a:rPr>
              <a:t>https://commission.europa.eu/law/law-topic/data-protection/reform/what-personal-data_cs</a:t>
            </a:r>
            <a:endParaRPr lang="cs-CZ" dirty="0"/>
          </a:p>
          <a:p>
            <a:r>
              <a:rPr lang="cs-CZ" dirty="0">
                <a:hlinkClick r:id="rId3"/>
              </a:rPr>
              <a:t>https://cs.wikipedia.org/wiki/Osobn%C3%AD_%C3%BAdaj</a:t>
            </a:r>
            <a:endParaRPr lang="cs-CZ" dirty="0"/>
          </a:p>
          <a:p>
            <a:r>
              <a:rPr lang="cs-CZ" dirty="0">
                <a:hlinkClick r:id="rId4"/>
              </a:rPr>
              <a:t>https://cs.wikipedia.org/wiki/Biometrie</a:t>
            </a:r>
            <a:endParaRPr lang="cs-CZ" dirty="0"/>
          </a:p>
          <a:p>
            <a:r>
              <a:rPr lang="cs-CZ" dirty="0">
                <a:hlinkClick r:id="rId5"/>
              </a:rPr>
              <a:t>https://frs.gov.cz/spravni-rizeni/biometrie/</a:t>
            </a:r>
            <a:endParaRPr lang="cs-CZ" dirty="0"/>
          </a:p>
          <a:p>
            <a:r>
              <a:rPr lang="cs-CZ" dirty="0">
                <a:hlinkClick r:id="rId6"/>
              </a:rPr>
              <a:t>https://cs.wikipedia.org/wiki/Digit%C3%A1ln%C3%AD_certifik%C3%A1t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879AA13-DE72-FD33-6B16-C90C1E1B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1DF50CF-B35F-B54A-F0C3-A8B0B8FF6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682E9B-E3D5-0688-8007-08D0D13B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03811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6" ma:contentTypeDescription="Vytvoří nový dokument" ma:contentTypeScope="" ma:versionID="12b9f35166265e47264680e9fd281af8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287860d31b5505441dae8321e9b493b9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3D539C53-E909-48E8-9B70-CF0A7766BA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133A8C-14D9-4FCC-9252-FB22D79B8BEE}">
  <ds:schemaRefs>
    <ds:schemaRef ds:uri="b37e3d86-4ca2-427b-bd6b-563863381f62"/>
    <ds:schemaRef ds:uri="f9e534a9-5d4a-41a0-bbd3-257a481bfa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C3CD97-2588-4F8C-983E-904BC0BDD6F1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http://www.w3.org/XML/1998/namespace"/>
    <ds:schemaRef ds:uri="f9e534a9-5d4a-41a0-bbd3-257a481bfa53"/>
    <ds:schemaRef ds:uri="http://schemas.microsoft.com/office/infopath/2007/PartnerControls"/>
    <ds:schemaRef ds:uri="http://schemas.openxmlformats.org/package/2006/metadata/core-properties"/>
    <ds:schemaRef ds:uri="b37e3d86-4ca2-427b-bd6b-563863381f6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</Words>
  <Application>Microsoft Office PowerPoint</Application>
  <PresentationFormat>Širokoúhlá obrazovka</PresentationFormat>
  <Paragraphs>114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Neue Haas Grotesk Text Pro</vt:lpstr>
      <vt:lpstr>Söhne</vt:lpstr>
      <vt:lpstr>DylanVTI</vt:lpstr>
      <vt:lpstr>Digitální identita a digitální stopa, digitální podpis </vt:lpstr>
      <vt:lpstr>Obecné info – Digitální Identita</vt:lpstr>
      <vt:lpstr>Uživatelská jména a hesla</vt:lpstr>
      <vt:lpstr>Biometrie</vt:lpstr>
      <vt:lpstr>Digitální Certifikáty</vt:lpstr>
      <vt:lpstr> Dvoufaktorová Autentizace (2FA) nebo Multifaktorová Autentizace (MFA) - Další Podrobnosti</vt:lpstr>
      <vt:lpstr>Definice osobních údajů </vt:lpstr>
      <vt:lpstr>Digitální stopa</vt:lpstr>
      <vt:lpstr>Digitální Podpis 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