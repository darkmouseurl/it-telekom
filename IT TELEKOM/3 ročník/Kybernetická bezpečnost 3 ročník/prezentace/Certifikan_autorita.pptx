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56" r:id="rId5"/>
    <p:sldId id="264" r:id="rId6"/>
    <p:sldId id="258" r:id="rId7"/>
    <p:sldId id="262" r:id="rId8"/>
    <p:sldId id="260" r:id="rId9"/>
    <p:sldId id="259" r:id="rId10"/>
    <p:sldId id="265" r:id="rId11"/>
    <p:sldId id="266" r:id="rId12"/>
    <p:sldId id="263" r:id="rId13"/>
    <p:sldId id="261" r:id="rId14"/>
    <p:sldId id="267" r:id="rId15"/>
  </p:sldIdLst>
  <p:sldSz cx="12192000" cy="6858000"/>
  <p:notesSz cx="6858000" cy="9144000"/>
  <p:defaultTextStyle>
    <a:defPPr rtl="0">
      <a:defRPr lang="cs-cz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408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CircleLabelList" loCatId="icon" qsTypeId="urn:microsoft.com/office/officeart/2005/8/quickstyle/simple1#1" qsCatId="simple" csTypeId="urn:microsoft.com/office/officeart/2018/5/colors/Iconchunking_neutralicon_accent2_2" csCatId="accent2" phldr="1"/>
      <dgm:spPr/>
      <dgm:t>
        <a:bodyPr rtlCol="0"/>
        <a:lstStyle/>
        <a:p>
          <a:pPr rtl="0"/>
          <a:endParaRPr lang="en-US"/>
        </a:p>
      </dgm:t>
    </dgm:pt>
    <dgm:pt modelId="{40FC4FFE-8987-4A26-B7F4-8A516F18ADAE}">
      <dgm:prSet/>
      <dgm:spPr/>
      <dgm:t>
        <a:bodyPr rtlCol="0"/>
        <a:lstStyle/>
        <a:p>
          <a:pPr rtl="0">
            <a:lnSpc>
              <a:spcPct val="100000"/>
            </a:lnSpc>
            <a:defRPr cap="all"/>
          </a:pPr>
          <a:r>
            <a:rPr lang="cs-CZ" noProof="0" dirty="0"/>
            <a:t>Certifikáty potvrzují identitu uživatele, serveru nebo dokumentu</a:t>
          </a:r>
        </a:p>
      </dgm:t>
    </dgm:pt>
    <dgm:pt modelId="{CAD7EF86-FB23-41F6-BF42-040B36DEFDB1}" type="parTrans" cxnId="{C7AD8469-3C68-4AF9-AB82-79B0043AA120}">
      <dgm:prSet/>
      <dgm:spPr/>
      <dgm:t>
        <a:bodyPr rtlCol="0"/>
        <a:lstStyle/>
        <a:p>
          <a:pPr rtl="0"/>
          <a:endParaRPr lang="cs-CZ" noProof="0" dirty="0"/>
        </a:p>
      </dgm:t>
    </dgm:pt>
    <dgm:pt modelId="{5B62599A-5C9B-48E7-896E-EA782AC60C8B}" type="sibTrans" cxnId="{C7AD8469-3C68-4AF9-AB82-79B0043AA120}">
      <dgm:prSet/>
      <dgm:spPr/>
      <dgm:t>
        <a:bodyPr rtlCol="0"/>
        <a:lstStyle/>
        <a:p>
          <a:pPr rtl="0"/>
          <a:endParaRPr lang="cs-CZ" noProof="0" dirty="0"/>
        </a:p>
      </dgm:t>
    </dgm:pt>
    <dgm:pt modelId="{49225C73-1633-42F1-AB3B-7CB183E5F8B8}">
      <dgm:prSet/>
      <dgm:spPr/>
      <dgm:t>
        <a:bodyPr rtlCol="0"/>
        <a:lstStyle/>
        <a:p>
          <a:pPr rtl="0">
            <a:lnSpc>
              <a:spcPct val="100000"/>
            </a:lnSpc>
            <a:defRPr cap="all"/>
          </a:pPr>
          <a:r>
            <a:rPr lang="cs-CZ" noProof="0" dirty="0"/>
            <a:t>Chrání citlivé informace před neoprávněným přístupem zachovává informace</a:t>
          </a:r>
        </a:p>
      </dgm:t>
    </dgm:pt>
    <dgm:pt modelId="{1A0E2090-1D4F-438A-8766-B6030CE01ADD}" type="parTrans" cxnId="{A9154303-8225-4248-91DC-1B0156A35F07}">
      <dgm:prSet/>
      <dgm:spPr/>
      <dgm:t>
        <a:bodyPr rtlCol="0"/>
        <a:lstStyle/>
        <a:p>
          <a:pPr rtl="0"/>
          <a:endParaRPr lang="cs-CZ" noProof="0" dirty="0"/>
        </a:p>
      </dgm:t>
    </dgm:pt>
    <dgm:pt modelId="{9646853A-8964-4519-A5B1-0B7D18B2983D}" type="sibTrans" cxnId="{A9154303-8225-4248-91DC-1B0156A35F07}">
      <dgm:prSet/>
      <dgm:spPr/>
      <dgm:t>
        <a:bodyPr rtlCol="0"/>
        <a:lstStyle/>
        <a:p>
          <a:pPr rtl="0"/>
          <a:endParaRPr lang="cs-CZ" noProof="0" dirty="0"/>
        </a:p>
      </dgm:t>
    </dgm:pt>
    <dgm:pt modelId="{1C383F32-22E8-4F62-A3E0-BDC3D5F48992}">
      <dgm:prSet/>
      <dgm:spPr/>
      <dgm:t>
        <a:bodyPr rtlCol="0"/>
        <a:lstStyle/>
        <a:p>
          <a:pPr rtl="0">
            <a:lnSpc>
              <a:spcPct val="100000"/>
            </a:lnSpc>
            <a:defRPr cap="all"/>
          </a:pPr>
          <a:r>
            <a:rPr lang="cs-CZ" noProof="0" dirty="0"/>
            <a:t>Jsou klíčové pro elektronické obchodování a digitální podpisy</a:t>
          </a:r>
        </a:p>
      </dgm:t>
    </dgm:pt>
    <dgm:pt modelId="{A7920A2F-3244-4159-AF04-6A1D38B7B317}" type="parTrans" cxnId="{C4CCE57E-E871-46D6-BAD5-880252C95D22}">
      <dgm:prSet/>
      <dgm:spPr/>
      <dgm:t>
        <a:bodyPr rtlCol="0"/>
        <a:lstStyle/>
        <a:p>
          <a:pPr rtl="0"/>
          <a:endParaRPr lang="cs-CZ" noProof="0" dirty="0"/>
        </a:p>
      </dgm:t>
    </dgm:pt>
    <dgm:pt modelId="{8500F72A-2C6D-4FDF-9C1D-CA691380EB0B}" type="sibTrans" cxnId="{C4CCE57E-E871-46D6-BAD5-880252C95D22}">
      <dgm:prSet/>
      <dgm:spPr/>
      <dgm:t>
        <a:bodyPr rtlCol="0"/>
        <a:lstStyle/>
        <a:p>
          <a:pPr rtl="0"/>
          <a:endParaRPr lang="cs-CZ" noProof="0" dirty="0"/>
        </a:p>
      </dgm:t>
    </dgm:pt>
    <dgm:pt modelId="{50B3CE7C-E10B-4E23-BD93-03664997C932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DE9CE479-E4AE-4283-AEF1-10C1535B4324}" type="pres">
      <dgm:prSet presAssocID="{40FC4FFE-8987-4A26-B7F4-8A516F18ADAE}" presName="compNode" presStyleCnt="0"/>
      <dgm:spPr/>
    </dgm:pt>
    <dgm:pt modelId="{B59FCF02-CAD2-4D6F-9542-AD86711168CA}" type="pres">
      <dgm:prSet presAssocID="{40FC4FFE-8987-4A26-B7F4-8A516F18ADAE}" presName="iconBgRect" presStyleLbl="bgShp" presStyleIdx="0" presStyleCnt="3"/>
      <dgm:spPr>
        <a:solidFill>
          <a:schemeClr val="accent1"/>
        </a:solidFill>
      </dgm:spPr>
    </dgm:pt>
    <dgm:pt modelId="{7C175B98-93F4-4D7C-BB95-1514AB879CD5}" type="pres">
      <dgm:prSet presAssocID="{40FC4FFE-8987-4A26-B7F4-8A516F18ADAE}" presName="iconRect" presStyleLbl="node1" presStyleIdx="0" presStyleCnt="3" custLinFactNeighborY="-15179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677A3090-5F01-43FD-9FA6-C0420AD80FD6}" type="pres">
      <dgm:prSet presAssocID="{40FC4FFE-8987-4A26-B7F4-8A516F18ADAE}" presName="spaceRect" presStyleCnt="0"/>
      <dgm:spPr/>
    </dgm:pt>
    <dgm:pt modelId="{127117FB-F8A7-4A20-A8A7-EC686DDC76D0}" type="pres">
      <dgm:prSet presAssocID="{40FC4FFE-8987-4A26-B7F4-8A516F18ADAE}" presName="textRect" presStyleLbl="revTx" presStyleIdx="0" presStyleCnt="3">
        <dgm:presLayoutVars>
          <dgm:chMax val="1"/>
          <dgm:chPref val="1"/>
        </dgm:presLayoutVars>
      </dgm:prSet>
      <dgm:spPr/>
    </dgm:pt>
    <dgm:pt modelId="{FD1EED9C-83D3-41AD-A09B-D3B36354168F}" type="pres">
      <dgm:prSet presAssocID="{5B62599A-5C9B-48E7-896E-EA782AC60C8B}" presName="sibTrans" presStyleCnt="0"/>
      <dgm:spPr/>
    </dgm:pt>
    <dgm:pt modelId="{C998AB0A-577D-44AA-A068-F634DDE7BD47}" type="pres">
      <dgm:prSet presAssocID="{49225C73-1633-42F1-AB3B-7CB183E5F8B8}" presName="compNode" presStyleCnt="0"/>
      <dgm:spPr/>
    </dgm:pt>
    <dgm:pt modelId="{BCD8CDD9-0C56-4401-ADB1-8B48DAB2C96F}" type="pres">
      <dgm:prSet presAssocID="{49225C73-1633-42F1-AB3B-7CB183E5F8B8}" presName="iconBgRect" presStyleLbl="bgShp" presStyleIdx="1" presStyleCnt="3"/>
      <dgm:spPr>
        <a:solidFill>
          <a:schemeClr val="accent1"/>
        </a:solidFill>
      </dgm:spPr>
    </dgm:pt>
    <dgm:pt modelId="{DB4CA7C4-FCA1-4127-B20A-2A5C031A3CF4}" type="pres">
      <dgm:prSet presAssocID="{49225C73-1633-42F1-AB3B-7CB183E5F8B8}" presName="iconRect" presStyleLbl="node1" presStyleIdx="1" presStyleCnt="3" custLinFactNeighborY="-24580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9B0C8FBF-0BDD-48A5-967E-F3FE71659F6A}" type="pres">
      <dgm:prSet presAssocID="{49225C73-1633-42F1-AB3B-7CB183E5F8B8}" presName="spaceRect" presStyleCnt="0"/>
      <dgm:spPr/>
    </dgm:pt>
    <dgm:pt modelId="{7E6FE37A-5DB0-4899-9FCB-0CE39BC185F8}" type="pres">
      <dgm:prSet presAssocID="{49225C73-1633-42F1-AB3B-7CB183E5F8B8}" presName="textRect" presStyleLbl="revTx" presStyleIdx="1" presStyleCnt="3">
        <dgm:presLayoutVars>
          <dgm:chMax val="1"/>
          <dgm:chPref val="1"/>
        </dgm:presLayoutVars>
      </dgm:prSet>
      <dgm:spPr/>
    </dgm:pt>
    <dgm:pt modelId="{5A266296-0042-402F-92EF-D59AB148E92E}" type="pres">
      <dgm:prSet presAssocID="{9646853A-8964-4519-A5B1-0B7D18B2983D}" presName="sibTrans" presStyleCnt="0"/>
      <dgm:spPr/>
    </dgm:pt>
    <dgm:pt modelId="{ECFA770B-DE2C-4683-A038-58D0FE44BC27}" type="pres">
      <dgm:prSet presAssocID="{1C383F32-22E8-4F62-A3E0-BDC3D5F48992}" presName="compNode" presStyleCnt="0"/>
      <dgm:spPr/>
    </dgm:pt>
    <dgm:pt modelId="{FF93E135-77D6-48A0-8871-9BC93D705D06}" type="pres">
      <dgm:prSet presAssocID="{1C383F32-22E8-4F62-A3E0-BDC3D5F48992}" presName="iconBgRect" presStyleLbl="bgShp" presStyleIdx="2" presStyleCnt="3" custLinFactNeighborX="2903"/>
      <dgm:spPr>
        <a:solidFill>
          <a:schemeClr val="accent1"/>
        </a:solidFill>
      </dgm:spPr>
    </dgm:pt>
    <dgm:pt modelId="{39509775-983E-4110-B989-EE2CD6514BE0}" type="pres">
      <dgm:prSet presAssocID="{1C383F32-22E8-4F62-A3E0-BDC3D5F48992}" presName="iconRect" presStyleLbl="node1" presStyleIdx="2" presStyleCnt="3" custScaleX="133478" custScaleY="133478" custLinFactNeighborX="3418" custLinFactNeighborY="-2446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493B43B2-705C-4AE5-8A77-D8DEEDA1B5CF}" type="pres">
      <dgm:prSet presAssocID="{1C383F32-22E8-4F62-A3E0-BDC3D5F48992}" presName="spaceRect" presStyleCnt="0"/>
      <dgm:spPr/>
    </dgm:pt>
    <dgm:pt modelId="{1AEDC777-00B3-41D7-9AE1-23D741E941C3}" type="pres">
      <dgm:prSet presAssocID="{1C383F32-22E8-4F62-A3E0-BDC3D5F489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7A710F69-5154-4855-ACF5-BC7C1BF85A80}" type="presOf" srcId="{49225C73-1633-42F1-AB3B-7CB183E5F8B8}" destId="{7E6FE37A-5DB0-4899-9FCB-0CE39BC185F8}" srcOrd="0" destOrd="0" presId="urn:microsoft.com/office/officeart/2018/5/layout/IconCircleLabel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676D3A6A-6EA7-4483-BB12-0BD4A7D7AF9D}" type="presOf" srcId="{01A66772-F185-4D58-B8BB-E9370D7A7A2B}" destId="{50B3CE7C-E10B-4E23-BD93-03664997C932}" srcOrd="0" destOrd="0" presId="urn:microsoft.com/office/officeart/2018/5/layout/IconCircleLabelList"/>
    <dgm:cxn modelId="{1496FC70-DB8B-48D4-98DE-DD2856E389EE}" type="presOf" srcId="{1C383F32-22E8-4F62-A3E0-BDC3D5F48992}" destId="{1AEDC777-00B3-41D7-9AE1-23D741E941C3}" srcOrd="0" destOrd="0" presId="urn:microsoft.com/office/officeart/2018/5/layout/IconCircleLabelList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355227E3-55E0-4343-BC8D-FC0EB1694F48}" type="presOf" srcId="{40FC4FFE-8987-4A26-B7F4-8A516F18ADAE}" destId="{127117FB-F8A7-4A20-A8A7-EC686DDC76D0}" srcOrd="0" destOrd="0" presId="urn:microsoft.com/office/officeart/2018/5/layout/IconCircleLabelList"/>
    <dgm:cxn modelId="{555498CB-3ED1-404E-A25F-EB243EFC5FB1}" type="presParOf" srcId="{50B3CE7C-E10B-4E23-BD93-03664997C932}" destId="{DE9CE479-E4AE-4283-AEF1-10C1535B4324}" srcOrd="0" destOrd="0" presId="urn:microsoft.com/office/officeart/2018/5/layout/IconCircleLabelList"/>
    <dgm:cxn modelId="{11F12D49-CD08-4D50-BD13-3ECBC3A476A4}" type="presParOf" srcId="{DE9CE479-E4AE-4283-AEF1-10C1535B4324}" destId="{B59FCF02-CAD2-4D6F-9542-AD86711168CA}" srcOrd="0" destOrd="0" presId="urn:microsoft.com/office/officeart/2018/5/layout/IconCircleLabelList"/>
    <dgm:cxn modelId="{F443A659-540B-487B-97F9-49219CF60D6B}" type="presParOf" srcId="{DE9CE479-E4AE-4283-AEF1-10C1535B4324}" destId="{7C175B98-93F4-4D7C-BB95-1514AB879CD5}" srcOrd="1" destOrd="0" presId="urn:microsoft.com/office/officeart/2018/5/layout/IconCircleLabelList"/>
    <dgm:cxn modelId="{A503D7AB-7D64-4163-93B5-1CEEDAE81823}" type="presParOf" srcId="{DE9CE479-E4AE-4283-AEF1-10C1535B4324}" destId="{677A3090-5F01-43FD-9FA6-C0420AD80FD6}" srcOrd="2" destOrd="0" presId="urn:microsoft.com/office/officeart/2018/5/layout/IconCircleLabelList"/>
    <dgm:cxn modelId="{780188ED-7DCE-45BB-B6AF-91BE48969612}" type="presParOf" srcId="{DE9CE479-E4AE-4283-AEF1-10C1535B4324}" destId="{127117FB-F8A7-4A20-A8A7-EC686DDC76D0}" srcOrd="3" destOrd="0" presId="urn:microsoft.com/office/officeart/2018/5/layout/IconCircleLabelList"/>
    <dgm:cxn modelId="{155719F8-A89B-4E96-BC49-C48BC717F480}" type="presParOf" srcId="{50B3CE7C-E10B-4E23-BD93-03664997C932}" destId="{FD1EED9C-83D3-41AD-A09B-D3B36354168F}" srcOrd="1" destOrd="0" presId="urn:microsoft.com/office/officeart/2018/5/layout/IconCircleLabelList"/>
    <dgm:cxn modelId="{2772E199-56B0-4310-A55E-67D00CA3E59E}" type="presParOf" srcId="{50B3CE7C-E10B-4E23-BD93-03664997C932}" destId="{C998AB0A-577D-44AA-A068-F634DDE7BD47}" srcOrd="2" destOrd="0" presId="urn:microsoft.com/office/officeart/2018/5/layout/IconCircleLabelList"/>
    <dgm:cxn modelId="{4E351D18-D97F-4B92-A608-2E9600B91C28}" type="presParOf" srcId="{C998AB0A-577D-44AA-A068-F634DDE7BD47}" destId="{BCD8CDD9-0C56-4401-ADB1-8B48DAB2C96F}" srcOrd="0" destOrd="0" presId="urn:microsoft.com/office/officeart/2018/5/layout/IconCircleLabelList"/>
    <dgm:cxn modelId="{B3DC724C-4569-4E9D-BD5A-49E4CD991FD0}" type="presParOf" srcId="{C998AB0A-577D-44AA-A068-F634DDE7BD47}" destId="{DB4CA7C4-FCA1-4127-B20A-2A5C031A3CF4}" srcOrd="1" destOrd="0" presId="urn:microsoft.com/office/officeart/2018/5/layout/IconCircleLabelList"/>
    <dgm:cxn modelId="{AD1AB552-CCE0-4911-BB9E-5D4A60B21F4F}" type="presParOf" srcId="{C998AB0A-577D-44AA-A068-F634DDE7BD47}" destId="{9B0C8FBF-0BDD-48A5-967E-F3FE71659F6A}" srcOrd="2" destOrd="0" presId="urn:microsoft.com/office/officeart/2018/5/layout/IconCircleLabelList"/>
    <dgm:cxn modelId="{8558F796-2D01-40FE-A21A-7530EEBC3BC3}" type="presParOf" srcId="{C998AB0A-577D-44AA-A068-F634DDE7BD47}" destId="{7E6FE37A-5DB0-4899-9FCB-0CE39BC185F8}" srcOrd="3" destOrd="0" presId="urn:microsoft.com/office/officeart/2018/5/layout/IconCircleLabelList"/>
    <dgm:cxn modelId="{1532E2BE-82E9-40A4-A6F7-40B60FC879AE}" type="presParOf" srcId="{50B3CE7C-E10B-4E23-BD93-03664997C932}" destId="{5A266296-0042-402F-92EF-D59AB148E92E}" srcOrd="3" destOrd="0" presId="urn:microsoft.com/office/officeart/2018/5/layout/IconCircleLabelList"/>
    <dgm:cxn modelId="{3A7F4DB9-1469-4F58-B633-24B7EEE084D1}" type="presParOf" srcId="{50B3CE7C-E10B-4E23-BD93-03664997C932}" destId="{ECFA770B-DE2C-4683-A038-58D0FE44BC27}" srcOrd="4" destOrd="0" presId="urn:microsoft.com/office/officeart/2018/5/layout/IconCircleLabelList"/>
    <dgm:cxn modelId="{91311827-CDAC-4BA8-B4A3-117AFD1CEE2D}" type="presParOf" srcId="{ECFA770B-DE2C-4683-A038-58D0FE44BC27}" destId="{FF93E135-77D6-48A0-8871-9BC93D705D06}" srcOrd="0" destOrd="0" presId="urn:microsoft.com/office/officeart/2018/5/layout/IconCircleLabelList"/>
    <dgm:cxn modelId="{83B7CA40-11B7-4507-8422-A40F02D469B2}" type="presParOf" srcId="{ECFA770B-DE2C-4683-A038-58D0FE44BC27}" destId="{39509775-983E-4110-B989-EE2CD6514BE0}" srcOrd="1" destOrd="0" presId="urn:microsoft.com/office/officeart/2018/5/layout/IconCircleLabelList"/>
    <dgm:cxn modelId="{A44BB251-01EB-4DEF-A28C-6D495183E4DC}" type="presParOf" srcId="{ECFA770B-DE2C-4683-A038-58D0FE44BC27}" destId="{493B43B2-705C-4AE5-8A77-D8DEEDA1B5CF}" srcOrd="2" destOrd="0" presId="urn:microsoft.com/office/officeart/2018/5/layout/IconCircleLabelList"/>
    <dgm:cxn modelId="{1EFA52DF-3C80-4DAA-BED6-AFE2F81796B2}" type="presParOf" srcId="{ECFA770B-DE2C-4683-A038-58D0FE44BC27}" destId="{1AEDC777-00B3-41D7-9AE1-23D741E941C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9FCF02-CAD2-4D6F-9542-AD86711168CA}">
      <dsp:nvSpPr>
        <dsp:cNvPr id="0" name=""/>
        <dsp:cNvSpPr/>
      </dsp:nvSpPr>
      <dsp:spPr>
        <a:xfrm>
          <a:off x="614381" y="503862"/>
          <a:ext cx="1749937" cy="1749937"/>
        </a:xfrm>
        <a:prstGeom prst="ellipse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175B98-93F4-4D7C-BB95-1514AB879CD5}">
      <dsp:nvSpPr>
        <dsp:cNvPr id="0" name=""/>
        <dsp:cNvSpPr/>
      </dsp:nvSpPr>
      <dsp:spPr>
        <a:xfrm>
          <a:off x="987318" y="724393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117FB-F8A7-4A20-A8A7-EC686DDC76D0}">
      <dsp:nvSpPr>
        <dsp:cNvPr id="0" name=""/>
        <dsp:cNvSpPr/>
      </dsp:nvSpPr>
      <dsp:spPr>
        <a:xfrm>
          <a:off x="54974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600" kern="1200" noProof="0" dirty="0"/>
            <a:t>Certifikáty potvrzují identitu uživatele, serveru nebo dokumentu</a:t>
          </a:r>
        </a:p>
      </dsp:txBody>
      <dsp:txXfrm>
        <a:off x="54974" y="2798862"/>
        <a:ext cx="2868750" cy="720000"/>
      </dsp:txXfrm>
    </dsp:sp>
    <dsp:sp modelId="{BCD8CDD9-0C56-4401-ADB1-8B48DAB2C96F}">
      <dsp:nvSpPr>
        <dsp:cNvPr id="0" name=""/>
        <dsp:cNvSpPr/>
      </dsp:nvSpPr>
      <dsp:spPr>
        <a:xfrm>
          <a:off x="3985162" y="503862"/>
          <a:ext cx="1749937" cy="1749937"/>
        </a:xfrm>
        <a:prstGeom prst="ellipse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4CA7C4-FCA1-4127-B20A-2A5C031A3CF4}">
      <dsp:nvSpPr>
        <dsp:cNvPr id="0" name=""/>
        <dsp:cNvSpPr/>
      </dsp:nvSpPr>
      <dsp:spPr>
        <a:xfrm>
          <a:off x="4358099" y="630001"/>
          <a:ext cx="1004062" cy="1004062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6FE37A-5DB0-4899-9FCB-0CE39BC185F8}">
      <dsp:nvSpPr>
        <dsp:cNvPr id="0" name=""/>
        <dsp:cNvSpPr/>
      </dsp:nvSpPr>
      <dsp:spPr>
        <a:xfrm>
          <a:off x="3425756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600" kern="1200" noProof="0" dirty="0"/>
            <a:t>Chrání citlivé informace před neoprávněným přístupem zachovává informace</a:t>
          </a:r>
        </a:p>
      </dsp:txBody>
      <dsp:txXfrm>
        <a:off x="3425756" y="2798862"/>
        <a:ext cx="2868750" cy="720000"/>
      </dsp:txXfrm>
    </dsp:sp>
    <dsp:sp modelId="{FF93E135-77D6-48A0-8871-9BC93D705D06}">
      <dsp:nvSpPr>
        <dsp:cNvPr id="0" name=""/>
        <dsp:cNvSpPr/>
      </dsp:nvSpPr>
      <dsp:spPr>
        <a:xfrm>
          <a:off x="7406744" y="503862"/>
          <a:ext cx="1749937" cy="1749937"/>
        </a:xfrm>
        <a:prstGeom prst="ellipse">
          <a:avLst/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509775-983E-4110-B989-EE2CD6514BE0}">
      <dsp:nvSpPr>
        <dsp:cNvPr id="0" name=""/>
        <dsp:cNvSpPr/>
      </dsp:nvSpPr>
      <dsp:spPr>
        <a:xfrm>
          <a:off x="7595129" y="463136"/>
          <a:ext cx="1340202" cy="13402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EDC777-00B3-41D7-9AE1-23D741E941C3}">
      <dsp:nvSpPr>
        <dsp:cNvPr id="0" name=""/>
        <dsp:cNvSpPr/>
      </dsp:nvSpPr>
      <dsp:spPr>
        <a:xfrm>
          <a:off x="6796537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7112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600" kern="1200" noProof="0" dirty="0"/>
            <a:t>Jsou klíčové pro elektronické obchodování a digitální podpisy</a:t>
          </a:r>
        </a:p>
      </dsp:txBody>
      <dsp:txXfrm>
        <a:off x="6796537" y="2798862"/>
        <a:ext cx="286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kona pro kruhový seznam s popiskem"/>
  <dgm:desc val="Umožňuje zobrazení nesekvenčních nebo seskupených bloků informací doprovázených souvisejícími vizuály. Nejvíce se hodí pro ikony nebo malé obrázky s krátkými textovými titulky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F0B3252-6EA7-42D9-AAED-91EEC2B6A311}" type="datetime1">
              <a:rPr lang="cs-CZ" smtClean="0"/>
              <a:t>28.08.2026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cs-CZ" noProof="0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56DA2-773A-4AC1-B40B-F640A44E51E8}" type="datetime1">
              <a:rPr lang="cs-CZ" smtClean="0"/>
              <a:pPr/>
              <a:t>28.08.2026</a:t>
            </a:fld>
            <a:endParaRPr lang="cs-CZ" dirty="0"/>
          </a:p>
        </p:txBody>
      </p:sp>
      <p:sp>
        <p:nvSpPr>
          <p:cNvPr id="4" name="Zástupný symbol obrázku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cs-CZ" noProof="0" dirty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cs-CZ" noProof="0" dirty="0"/>
              <a:t>Kliknutím můžete upravit styly předlohy textu.</a:t>
            </a:r>
          </a:p>
          <a:p>
            <a:pPr lvl="1" rtl="0"/>
            <a:r>
              <a:rPr lang="cs-CZ" noProof="0" dirty="0"/>
              <a:t>Druhá úroveň</a:t>
            </a:r>
          </a:p>
          <a:p>
            <a:pPr lvl="2" rtl="0"/>
            <a:r>
              <a:rPr lang="cs-CZ" noProof="0" dirty="0"/>
              <a:t>Třetí úroveň</a:t>
            </a:r>
          </a:p>
          <a:p>
            <a:pPr lvl="3" rtl="0"/>
            <a:r>
              <a:rPr lang="cs-CZ" noProof="0" dirty="0"/>
              <a:t>Čtvrtá úroveň</a:t>
            </a:r>
          </a:p>
          <a:p>
            <a:pPr lvl="4" rtl="0"/>
            <a:r>
              <a:rPr lang="cs-CZ" noProof="0" dirty="0"/>
              <a:t>Pátá úroveň</a:t>
            </a:r>
          </a:p>
        </p:txBody>
      </p:sp>
      <p:sp>
        <p:nvSpPr>
          <p:cNvPr id="6" name="Zástupné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cs-CZ" noProof="0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cs-CZ" noProof="0" smtClean="0"/>
              <a:t>‹#›</a:t>
            </a:fld>
            <a:endParaRPr lang="cs-CZ" noProof="0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ázku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cs-CZ" smtClean="0"/>
              <a:t>1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élník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11" name="Ová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cs-CZ" noProof="0"/>
              <a:t>Kliknutím lze upravit styl.</a:t>
            </a:r>
            <a:endParaRPr lang="cs-CZ" noProof="0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cs-CZ" noProof="0"/>
              <a:t>Kliknutím můžete upravit styl předlohy.</a:t>
            </a:r>
            <a:endParaRPr lang="cs-CZ" noProof="0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76A5465A-B1FE-4D10-8E2E-12E4FACE545D}" type="datetime1">
              <a:rPr lang="cs-CZ" noProof="0" smtClean="0"/>
              <a:t>28.08.2026</a:t>
            </a:fld>
            <a:endParaRPr lang="cs-CZ" noProof="0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cs-CZ" noProof="0" smtClean="0"/>
              <a:t>‹#›</a:t>
            </a:fld>
            <a:endParaRPr lang="cs-CZ" noProof="0" dirty="0"/>
          </a:p>
        </p:txBody>
      </p:sp>
      <p:cxnSp>
        <p:nvCxnSpPr>
          <p:cNvPr id="8" name="Přímá spojnice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s-CZ" noProof="0"/>
              <a:t>Kliknutím lze upravit styl.</a:t>
            </a:r>
            <a:endParaRPr lang="cs-CZ" noProof="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cs-CZ" noProof="0"/>
              <a:t>Po kliknutí můžete upravovat styly textu v předloze.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  <a:endParaRPr lang="cs-CZ" noProof="0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F15E39-0F2C-4647-8FCF-1995B7F4DF78}" type="datetime1">
              <a:rPr lang="cs-CZ" noProof="0" smtClean="0"/>
              <a:t>28.08.2026</a:t>
            </a:fld>
            <a:endParaRPr lang="cs-CZ" noProof="0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cs-CZ" noProof="0" smtClean="0"/>
              <a:t>‹#›</a:t>
            </a:fld>
            <a:endParaRPr lang="cs-CZ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á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cs-CZ" noProof="0"/>
              <a:t>Kliknutím lze upravit styl.</a:t>
            </a:r>
            <a:endParaRPr lang="cs-CZ" noProof="0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 noProof="0"/>
              <a:t>Po kliknutí můžete upravovat styly textu v předloze.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CF4F870-D27D-4401-B8A5-C167A93E7830}" type="datetime1">
              <a:rPr lang="cs-CZ" noProof="0" smtClean="0"/>
              <a:t>28.08.2026</a:t>
            </a:fld>
            <a:endParaRPr lang="cs-CZ" noProof="0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cs-CZ" noProof="0" smtClean="0"/>
              <a:t>‹#›</a:t>
            </a:fld>
            <a:endParaRPr lang="cs-CZ" noProof="0" dirty="0"/>
          </a:p>
        </p:txBody>
      </p:sp>
      <p:cxnSp>
        <p:nvCxnSpPr>
          <p:cNvPr id="8" name="Přímá spojnice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cs-CZ" noProof="0"/>
              <a:t>Kliknutím lze upravit styl.</a:t>
            </a:r>
            <a:endParaRPr lang="cs-CZ" noProof="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cs-CZ" noProof="0"/>
              <a:t>Po kliknutí můžete upravovat styly textu v předloze.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  <a:endParaRPr lang="cs-CZ" noProof="0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cs-CZ" noProof="0"/>
              <a:t>Po kliknutí můžete upravovat styly textu v předloze.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  <a:endParaRPr lang="cs-CZ" noProof="0" dirty="0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C6095B8-11EA-421F-966B-547B4D37D5D6}" type="datetime1">
              <a:rPr lang="cs-CZ" noProof="0" smtClean="0"/>
              <a:t>28.08.2026</a:t>
            </a:fld>
            <a:endParaRPr lang="cs-CZ" noProof="0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cs-CZ" noProof="0" smtClean="0"/>
              <a:t>‹#›</a:t>
            </a:fld>
            <a:endParaRPr lang="cs-CZ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adpis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s-CZ" noProof="0"/>
              <a:t>Kliknutím lze upravit styl.</a:t>
            </a:r>
            <a:endParaRPr lang="cs-CZ" noProof="0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cs-CZ" noProof="0"/>
              <a:t>Po kliknutí můžete upravovat styly textu v předloze.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cs-CZ" noProof="0"/>
              <a:t>Po kliknutí můžete upravovat styly textu v předloze.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  <a:endParaRPr lang="cs-CZ" noProof="0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cs-CZ" noProof="0"/>
              <a:t>Po kliknutí můžete upravovat styly textu v předloze.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cs-CZ" noProof="0"/>
              <a:t>Po kliknutí můžete upravovat styly textu v předloze.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  <a:endParaRPr lang="cs-CZ" noProof="0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F9CDA79-6A59-4F5C-A3CA-461E93A0DD6D}" type="datetime1">
              <a:rPr lang="cs-CZ" noProof="0" smtClean="0"/>
              <a:t>28.08.2026</a:t>
            </a:fld>
            <a:endParaRPr lang="cs-CZ" noProof="0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 dirty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cs-CZ" noProof="0" smtClean="0"/>
              <a:t>‹#›</a:t>
            </a:fld>
            <a:endParaRPr lang="cs-CZ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s-CZ" noProof="0"/>
              <a:t>Kliknutím lze upravit styl.</a:t>
            </a:r>
            <a:endParaRPr lang="cs-CZ" noProof="0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BC0E99-7BD9-4672-8B9D-3878EA795850}" type="datetime1">
              <a:rPr lang="cs-CZ" noProof="0" smtClean="0"/>
              <a:t>28.08.2026</a:t>
            </a:fld>
            <a:endParaRPr lang="cs-CZ" noProof="0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cs-CZ" noProof="0" smtClean="0"/>
              <a:t>‹#›</a:t>
            </a:fld>
            <a:endParaRPr lang="cs-CZ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D04737-7DBC-4D71-B9AA-0363B2374C14}" type="datetime1">
              <a:rPr lang="cs-CZ" noProof="0" smtClean="0"/>
              <a:t>28.08.2026</a:t>
            </a:fld>
            <a:endParaRPr lang="cs-CZ" noProof="0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cs-CZ" noProof="0" smtClean="0"/>
              <a:t>‹#›</a:t>
            </a:fld>
            <a:endParaRPr lang="cs-CZ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cs-CZ" noProof="0"/>
              <a:t>Kliknutím lze upravit styl.</a:t>
            </a:r>
            <a:endParaRPr lang="cs-CZ" noProof="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cs-CZ" noProof="0"/>
              <a:t>Po kliknutí můžete upravovat styly textu v předloze.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  <a:endParaRPr lang="cs-CZ" noProof="0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cs-CZ" noProof="0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91818ED-32CB-4648-A2D5-90F68C18BE5E}" type="datetime1">
              <a:rPr lang="cs-CZ" noProof="0" smtClean="0"/>
              <a:t>28.08.2026</a:t>
            </a:fld>
            <a:endParaRPr lang="cs-CZ" noProof="0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cs-CZ" noProof="0" smtClean="0"/>
              <a:t>‹#›</a:t>
            </a:fld>
            <a:endParaRPr lang="cs-CZ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cs-CZ" noProof="0"/>
              <a:t>Kliknutím lze upravit styl.</a:t>
            </a:r>
            <a:endParaRPr lang="cs-CZ" noProof="0" dirty="0"/>
          </a:p>
        </p:txBody>
      </p:sp>
      <p:sp>
        <p:nvSpPr>
          <p:cNvPr id="3" name="Zástupný symbol obrázku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cs-CZ" noProof="0"/>
              <a:t>Kliknutím na ikonu přidáte obrázek.</a:t>
            </a:r>
            <a:endParaRPr lang="cs-CZ" noProof="0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cs-CZ" noProof="0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9A9F4C-2151-427E-9DCB-D88B37F434F6}" type="datetime1">
              <a:rPr lang="cs-CZ" noProof="0" smtClean="0"/>
              <a:t>28.08.2026</a:t>
            </a:fld>
            <a:endParaRPr lang="cs-CZ" noProof="0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cs-CZ" noProof="0" smtClean="0"/>
              <a:t>‹#›</a:t>
            </a:fld>
            <a:endParaRPr lang="cs-CZ" noProof="0" dirty="0"/>
          </a:p>
        </p:txBody>
      </p:sp>
      <p:cxnSp>
        <p:nvCxnSpPr>
          <p:cNvPr id="8" name="Přímá spojnice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cs-CZ" noProof="0"/>
              <a:t>Kliknutím lze upravit styl.</a:t>
            </a:r>
            <a:endParaRPr lang="cs-CZ" noProof="0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cs-CZ" noProof="0"/>
              <a:t>Po kliknutí můžete upravovat styly textu v předloze.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  <a:endParaRPr lang="cs-CZ" noProof="0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A0F179-20D5-40DE-8D2A-5A21AA776BBA}" type="datetime1">
              <a:rPr lang="cs-CZ" noProof="0" smtClean="0"/>
              <a:t>28.08.2026</a:t>
            </a:fld>
            <a:endParaRPr lang="cs-CZ" noProof="0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cs-CZ" noProof="0" smtClean="0"/>
              <a:t>‹#›</a:t>
            </a:fld>
            <a:endParaRPr lang="cs-CZ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cs-CZ" noProof="0"/>
              <a:t>Kliknutím lze upravit styl.</a:t>
            </a:r>
            <a:endParaRPr lang="cs-CZ" noProof="0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cs-CZ" noProof="0"/>
              <a:t>Po kliknutí můžete upravovat styly textu v předloze.</a:t>
            </a:r>
          </a:p>
          <a:p>
            <a:pPr lvl="1" rtl="0"/>
            <a:r>
              <a:rPr lang="cs-CZ" noProof="0"/>
              <a:t>Druhá úroveň</a:t>
            </a:r>
          </a:p>
          <a:p>
            <a:pPr lvl="2" rtl="0"/>
            <a:r>
              <a:rPr lang="cs-CZ" noProof="0"/>
              <a:t>Třetí úroveň</a:t>
            </a:r>
          </a:p>
          <a:p>
            <a:pPr lvl="3" rtl="0"/>
            <a:r>
              <a:rPr lang="cs-CZ" noProof="0"/>
              <a:t>Čtvrtá úroveň</a:t>
            </a:r>
          </a:p>
          <a:p>
            <a:pPr lvl="4" rtl="0"/>
            <a:r>
              <a:rPr lang="cs-CZ" noProof="0"/>
              <a:t>Pátá úroveň</a:t>
            </a:r>
            <a:endParaRPr lang="cs-CZ" noProof="0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D82126-8CE3-413A-B2FB-F3B45F4EABB9}" type="datetime1">
              <a:rPr lang="cs-CZ" noProof="0" smtClean="0"/>
              <a:t>28.08.2026</a:t>
            </a:fld>
            <a:endParaRPr lang="cs-CZ" noProof="0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cs-CZ" noProof="0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cs-CZ" noProof="0" smtClean="0"/>
              <a:t>‹#›</a:t>
            </a:fld>
            <a:endParaRPr lang="cs-CZ" noProof="0" dirty="0"/>
          </a:p>
        </p:txBody>
      </p:sp>
      <p:cxnSp>
        <p:nvCxnSpPr>
          <p:cNvPr id="7" name="Přímá spojnice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cs-CZ" noProof="0" dirty="0"/>
              <a:t>Kliknutím můžete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cs-CZ" noProof="0" dirty="0"/>
              <a:t>Kliknutím můžete upravit styly předlohy textu.</a:t>
            </a:r>
          </a:p>
          <a:p>
            <a:pPr lvl="1" rtl="0"/>
            <a:r>
              <a:rPr lang="cs-CZ" noProof="0" dirty="0"/>
              <a:t>Druhá úroveň</a:t>
            </a:r>
          </a:p>
          <a:p>
            <a:pPr lvl="2" rtl="0"/>
            <a:r>
              <a:rPr lang="cs-CZ" noProof="0" dirty="0"/>
              <a:t>Třetí úroveň</a:t>
            </a:r>
          </a:p>
          <a:p>
            <a:pPr lvl="3" rtl="0"/>
            <a:r>
              <a:rPr lang="cs-CZ" noProof="0" dirty="0"/>
              <a:t>Čtvrtá úroveň</a:t>
            </a:r>
          </a:p>
          <a:p>
            <a:pPr lvl="4" rtl="0"/>
            <a:r>
              <a:rPr lang="cs-CZ" noProof="0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71650906-2103-4445-A61B-40C230A96C5C}" type="datetime1">
              <a:rPr lang="cs-CZ" noProof="0" smtClean="0"/>
              <a:t>28.08.2026</a:t>
            </a:fld>
            <a:endParaRPr lang="cs-CZ" noProof="0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endParaRPr lang="cs-CZ" noProof="0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cs-CZ" noProof="0" smtClean="0"/>
              <a:pPr rtl="0"/>
              <a:t>‹#›</a:t>
            </a:fld>
            <a:endParaRPr lang="cs-CZ" noProof="0" dirty="0"/>
          </a:p>
        </p:txBody>
      </p:sp>
      <p:cxnSp>
        <p:nvCxnSpPr>
          <p:cNvPr id="7" name="Přímá spojnice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cs.wikipedia.org/wiki/Certifika%C4%8Dn%C3%AD_autorita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délník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Obdélník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cs-CZ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rtlCol="0" anchor="b">
            <a:normAutofit/>
          </a:bodyPr>
          <a:lstStyle/>
          <a:p>
            <a:pPr algn="l"/>
            <a:r>
              <a:rPr lang="cs-CZ" dirty="0">
                <a:solidFill>
                  <a:srgbClr val="FFFFFF"/>
                </a:solidFill>
              </a:rPr>
              <a:t>Certifikační autorita</a:t>
            </a:r>
          </a:p>
        </p:txBody>
      </p:sp>
      <p:cxnSp>
        <p:nvCxnSpPr>
          <p:cNvPr id="23" name="Přímá spojnice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52DD415-9A56-BD07-BC94-78E710789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anchor="ctr">
            <a:normAutofit/>
          </a:bodyPr>
          <a:lstStyle/>
          <a:p>
            <a:r>
              <a:rPr lang="cs-CZ" dirty="0"/>
              <a:t>Historie a vývoj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8840B4B-0DE0-A912-8F27-777B3F5D2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4127" y="2257506"/>
            <a:ext cx="4699339" cy="3762294"/>
          </a:xfrm>
        </p:spPr>
        <p:txBody>
          <a:bodyPr>
            <a:normAutofit/>
          </a:bodyPr>
          <a:lstStyle/>
          <a:p>
            <a:r>
              <a:rPr lang="cs-CZ" sz="2400" dirty="0"/>
              <a:t>- </a:t>
            </a:r>
            <a:r>
              <a:rPr lang="cs-CZ" sz="2400" dirty="0" err="1"/>
              <a:t>Předkomputační</a:t>
            </a:r>
            <a:r>
              <a:rPr lang="cs-CZ" sz="2400" dirty="0"/>
              <a:t> období</a:t>
            </a:r>
          </a:p>
          <a:p>
            <a:r>
              <a:rPr lang="cs-CZ" sz="2400" dirty="0"/>
              <a:t>- První digitální podpisy (V 70. a 80. letech 20. století)</a:t>
            </a:r>
          </a:p>
          <a:p>
            <a:r>
              <a:rPr lang="cs-CZ" sz="2400" dirty="0"/>
              <a:t>- Zrod certifikačních autorit</a:t>
            </a:r>
          </a:p>
          <a:p>
            <a:r>
              <a:rPr lang="cs-CZ" sz="2400" dirty="0"/>
              <a:t>- Standardy a protokoly</a:t>
            </a:r>
          </a:p>
          <a:p>
            <a:r>
              <a:rPr lang="cs-CZ" sz="2400" dirty="0"/>
              <a:t>- Růst veřejných certifikačních autorit</a:t>
            </a:r>
          </a:p>
          <a:p>
            <a:r>
              <a:rPr lang="cs-CZ" sz="2400" dirty="0"/>
              <a:t>- Problémy a inovace</a:t>
            </a:r>
            <a:endParaRPr lang="en-US" sz="2400" dirty="0"/>
          </a:p>
        </p:txBody>
      </p:sp>
      <p:pic>
        <p:nvPicPr>
          <p:cNvPr id="6" name="Zástupný obsah 5" descr="Obsah obrázku design&#10;&#10;Popis byl vytvořen automaticky s nízkou mírou spolehlivosti">
            <a:extLst>
              <a:ext uri="{FF2B5EF4-FFF2-40B4-BE49-F238E27FC236}">
                <a16:creationId xmlns:a16="http://schemas.microsoft.com/office/drawing/2014/main" id="{0B5747EB-0735-B9EE-4B6F-CB7E39A0E5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043037"/>
            <a:ext cx="5373926" cy="5373926"/>
          </a:xfrm>
        </p:spPr>
      </p:pic>
      <p:cxnSp>
        <p:nvCxnSpPr>
          <p:cNvPr id="9" name="Přímá spojnice se šipkou 8">
            <a:extLst>
              <a:ext uri="{FF2B5EF4-FFF2-40B4-BE49-F238E27FC236}">
                <a16:creationId xmlns:a16="http://schemas.microsoft.com/office/drawing/2014/main" id="{88550730-F898-D5D9-21C6-A0FB4157AA28}"/>
              </a:ext>
            </a:extLst>
          </p:cNvPr>
          <p:cNvCxnSpPr/>
          <p:nvPr/>
        </p:nvCxnSpPr>
        <p:spPr>
          <a:xfrm>
            <a:off x="685800" y="2370667"/>
            <a:ext cx="0" cy="3175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6477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52DD415-9A56-BD07-BC94-78E710789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anchor="ctr">
            <a:normAutofit/>
          </a:bodyPr>
          <a:lstStyle/>
          <a:p>
            <a:r>
              <a:rPr lang="cs-CZ" dirty="0"/>
              <a:t>Co to je?</a:t>
            </a:r>
            <a:endParaRPr lang="en-US" dirty="0"/>
          </a:p>
        </p:txBody>
      </p:sp>
      <p:pic>
        <p:nvPicPr>
          <p:cNvPr id="5" name="Zástupný obsah 4" descr="Obsah obrázku text, Písmo, snímek obrazovky, logo&#10;&#10;Popis byl vytvořen automaticky">
            <a:extLst>
              <a:ext uri="{FF2B5EF4-FFF2-40B4-BE49-F238E27FC236}">
                <a16:creationId xmlns:a16="http://schemas.microsoft.com/office/drawing/2014/main" id="{82A81B00-7F74-4062-3910-B82614F130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61856" y="822325"/>
            <a:ext cx="5184775" cy="5184775"/>
          </a:xfrm>
          <a:noFill/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8840B4B-0DE0-A912-8F27-777B3F5D2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>
            <a:normAutofit/>
          </a:bodyPr>
          <a:lstStyle/>
          <a:p>
            <a:r>
              <a:rPr lang="cs-CZ" sz="2400" dirty="0"/>
              <a:t>Je to důvěryhodná organizace, která vytváří a vydává digitální certifikáty. Tyto certifikáty slouží k ověření identity jednotlivců, serverů nebo elektronických dokumentů v kybernetickém prostředí.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39988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52DD415-9A56-BD07-BC94-78E710789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71509"/>
            <a:ext cx="5071872" cy="1737360"/>
          </a:xfrm>
        </p:spPr>
        <p:txBody>
          <a:bodyPr anchor="ctr">
            <a:normAutofit/>
          </a:bodyPr>
          <a:lstStyle/>
          <a:p>
            <a:r>
              <a:rPr lang="cs-CZ" dirty="0"/>
              <a:t>Jaké jsou typy?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8840B4B-0DE0-A912-8F27-777B3F5D2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4128" y="1980730"/>
            <a:ext cx="4538472" cy="4405761"/>
          </a:xfrm>
        </p:spPr>
        <p:txBody>
          <a:bodyPr>
            <a:normAutofit lnSpcReduction="10000"/>
          </a:bodyPr>
          <a:lstStyle/>
          <a:p>
            <a:r>
              <a:rPr lang="cs-CZ" sz="2400" b="1" dirty="0"/>
              <a:t>Veřejné certifikační autority (CA):</a:t>
            </a:r>
          </a:p>
          <a:p>
            <a:r>
              <a:rPr lang="cs-CZ" sz="1800" dirty="0"/>
              <a:t>- Organizace, které poskytují certifikáty pro veřejné použití (např. Let</a:t>
            </a:r>
            <a:r>
              <a:rPr lang="en-US" sz="1800" dirty="0"/>
              <a:t>’</a:t>
            </a:r>
            <a:r>
              <a:rPr lang="cs-CZ" sz="1800" dirty="0"/>
              <a:t>s </a:t>
            </a:r>
            <a:r>
              <a:rPr lang="cs-CZ" sz="1800" dirty="0" err="1"/>
              <a:t>Encrypt</a:t>
            </a:r>
            <a:r>
              <a:rPr lang="cs-CZ" sz="1800" dirty="0"/>
              <a:t>).</a:t>
            </a:r>
          </a:p>
          <a:p>
            <a:r>
              <a:rPr lang="cs-CZ" sz="2400" b="1" dirty="0"/>
              <a:t>Firemní certifikační autority:</a:t>
            </a:r>
          </a:p>
          <a:p>
            <a:r>
              <a:rPr lang="cs-CZ" sz="1800" dirty="0"/>
              <a:t>- Slouží pro interní potřeby firem a organizací.</a:t>
            </a:r>
          </a:p>
          <a:p>
            <a:r>
              <a:rPr lang="cs-CZ" sz="2400" b="1" dirty="0" err="1"/>
              <a:t>Samopodepsané</a:t>
            </a:r>
            <a:r>
              <a:rPr lang="cs-CZ" sz="2400" dirty="0"/>
              <a:t> </a:t>
            </a:r>
            <a:r>
              <a:rPr lang="cs-CZ" sz="2400" b="1" dirty="0"/>
              <a:t>certifikáty:</a:t>
            </a:r>
          </a:p>
          <a:p>
            <a:r>
              <a:rPr lang="cs-CZ" sz="1800" dirty="0"/>
              <a:t>- Může být vytvořen každý sám pro sebe. Nemají externí </a:t>
            </a:r>
            <a:r>
              <a:rPr lang="cs-CZ" sz="1800" dirty="0" err="1"/>
              <a:t>důveryhodnost</a:t>
            </a:r>
            <a:r>
              <a:rPr lang="cs-CZ" sz="1800" dirty="0"/>
              <a:t>.</a:t>
            </a:r>
          </a:p>
          <a:p>
            <a:r>
              <a:rPr lang="cs-CZ" sz="2400" b="1" dirty="0"/>
              <a:t>Hierarchie certifikačních autorit:</a:t>
            </a:r>
          </a:p>
          <a:p>
            <a:r>
              <a:rPr lang="cs-CZ" sz="1800" dirty="0"/>
              <a:t>- Může existovat hierarchie, kde jedna CA vydá certifikát pro další CA.</a:t>
            </a:r>
          </a:p>
        </p:txBody>
      </p:sp>
      <p:pic>
        <p:nvPicPr>
          <p:cNvPr id="6" name="Zástupný obsah 5" descr="Obsah obrázku text, snímek obrazovky, logo, Značka&#10;&#10;Popis byl vytvořen automaticky">
            <a:extLst>
              <a:ext uri="{FF2B5EF4-FFF2-40B4-BE49-F238E27FC236}">
                <a16:creationId xmlns:a16="http://schemas.microsoft.com/office/drawing/2014/main" id="{FE5CCA82-06E2-FEF2-BE1A-00EC11E916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94400" y="1512262"/>
            <a:ext cx="5678488" cy="4541404"/>
          </a:xfrm>
        </p:spPr>
      </p:pic>
    </p:spTree>
    <p:extLst>
      <p:ext uri="{BB962C8B-B14F-4D97-AF65-F5344CB8AC3E}">
        <p14:creationId xmlns:p14="http://schemas.microsoft.com/office/powerpoint/2010/main" val="1642341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adpis 1">
            <a:extLst>
              <a:ext uri="{FF2B5EF4-FFF2-40B4-BE49-F238E27FC236}">
                <a16:creationId xmlns:a16="http://schemas.microsoft.com/office/drawing/2014/main" id="{C3B1C10A-0A35-FE26-E93E-89E52547B10F}"/>
              </a:ext>
            </a:extLst>
          </p:cNvPr>
          <p:cNvSpPr txBox="1">
            <a:spLocks/>
          </p:cNvSpPr>
          <p:nvPr/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Proč to používat?</a:t>
            </a:r>
          </a:p>
        </p:txBody>
      </p:sp>
      <p:graphicFrame>
        <p:nvGraphicFramePr>
          <p:cNvPr id="11" name="Zástupný symbol pro obsah 2" descr="Zástupný symbol obrázku SmartArt">
            <a:extLst>
              <a:ext uri="{FF2B5EF4-FFF2-40B4-BE49-F238E27FC236}">
                <a16:creationId xmlns:a16="http://schemas.microsoft.com/office/drawing/2014/main" id="{18725DEB-A138-99AA-4CA5-DDD6B22730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3822529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TextovéPole 12">
            <a:extLst>
              <a:ext uri="{FF2B5EF4-FFF2-40B4-BE49-F238E27FC236}">
                <a16:creationId xmlns:a16="http://schemas.microsoft.com/office/drawing/2014/main" id="{12193A5E-7096-BA16-541F-26C871561EC8}"/>
              </a:ext>
            </a:extLst>
          </p:cNvPr>
          <p:cNvSpPr txBox="1"/>
          <p:nvPr/>
        </p:nvSpPr>
        <p:spPr>
          <a:xfrm>
            <a:off x="1778001" y="3920065"/>
            <a:ext cx="17187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600" dirty="0"/>
              <a:t>Ověření identity</a:t>
            </a: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D45BEF54-04FB-A960-363E-FA77CECDDD9E}"/>
              </a:ext>
            </a:extLst>
          </p:cNvPr>
          <p:cNvSpPr txBox="1"/>
          <p:nvPr/>
        </p:nvSpPr>
        <p:spPr>
          <a:xfrm>
            <a:off x="5287434" y="3920065"/>
            <a:ext cx="13250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600" dirty="0"/>
              <a:t>Zabezpečení</a:t>
            </a:r>
          </a:p>
        </p:txBody>
      </p:sp>
      <p:sp>
        <p:nvSpPr>
          <p:cNvPr id="15" name="TextovéPole 14">
            <a:extLst>
              <a:ext uri="{FF2B5EF4-FFF2-40B4-BE49-F238E27FC236}">
                <a16:creationId xmlns:a16="http://schemas.microsoft.com/office/drawing/2014/main" id="{ECE56950-E4E1-8663-F8B9-16381E509129}"/>
              </a:ext>
            </a:extLst>
          </p:cNvPr>
          <p:cNvSpPr txBox="1"/>
          <p:nvPr/>
        </p:nvSpPr>
        <p:spPr>
          <a:xfrm>
            <a:off x="8475136" y="3857208"/>
            <a:ext cx="17187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600" dirty="0"/>
              <a:t>Podpora transakcí</a:t>
            </a:r>
          </a:p>
        </p:txBody>
      </p:sp>
    </p:spTree>
    <p:extLst>
      <p:ext uri="{BB962C8B-B14F-4D97-AF65-F5344CB8AC3E}">
        <p14:creationId xmlns:p14="http://schemas.microsoft.com/office/powerpoint/2010/main" val="271500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52DD415-9A56-BD07-BC94-78E710789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anchor="ctr">
            <a:normAutofit/>
          </a:bodyPr>
          <a:lstStyle/>
          <a:p>
            <a:r>
              <a:rPr lang="cs-CZ" dirty="0"/>
              <a:t>Co poskytuje?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8840B4B-0DE0-A912-8F27-777B3F5D2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>
            <a:normAutofit/>
          </a:bodyPr>
          <a:lstStyle/>
          <a:p>
            <a:r>
              <a:rPr lang="cs-CZ" sz="2400"/>
              <a:t>Poskytuje digitální podpisy, které potvrzují autentičnost a integritu digitálních informací, což je klíčové pro bezpečnou komunikaci na internetu a v digitálním prostředí obecně.</a:t>
            </a:r>
            <a:endParaRPr lang="en-US" sz="2400" dirty="0"/>
          </a:p>
        </p:txBody>
      </p:sp>
      <p:pic>
        <p:nvPicPr>
          <p:cNvPr id="6" name="Zástupný obsah 5">
            <a:extLst>
              <a:ext uri="{FF2B5EF4-FFF2-40B4-BE49-F238E27FC236}">
                <a16:creationId xmlns:a16="http://schemas.microsoft.com/office/drawing/2014/main" id="{365BC9A3-EB09-E8AA-484F-5C9AA078A4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5000" y="1205357"/>
            <a:ext cx="5678488" cy="4418711"/>
          </a:xfrm>
        </p:spPr>
      </p:pic>
    </p:spTree>
    <p:extLst>
      <p:ext uri="{BB962C8B-B14F-4D97-AF65-F5344CB8AC3E}">
        <p14:creationId xmlns:p14="http://schemas.microsoft.com/office/powerpoint/2010/main" val="1677180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52DD415-9A56-BD07-BC94-78E710789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71509"/>
            <a:ext cx="5071872" cy="1737360"/>
          </a:xfrm>
        </p:spPr>
        <p:txBody>
          <a:bodyPr anchor="ctr">
            <a:normAutofit/>
          </a:bodyPr>
          <a:lstStyle/>
          <a:p>
            <a:r>
              <a:rPr lang="cs-CZ" dirty="0"/>
              <a:t>Proces získání certifikátu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8840B4B-0DE0-A912-8F27-777B3F5D2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>
            <a:normAutofit/>
          </a:bodyPr>
          <a:lstStyle/>
          <a:p>
            <a:r>
              <a:rPr lang="cs-CZ" sz="2400" dirty="0"/>
              <a:t>- Žádost o certifikát</a:t>
            </a:r>
          </a:p>
          <a:p>
            <a:r>
              <a:rPr lang="cs-CZ" sz="2400" dirty="0"/>
              <a:t>- </a:t>
            </a:r>
            <a:r>
              <a:rPr lang="cs-CZ" sz="2400" dirty="0" err="1"/>
              <a:t>Oveření</a:t>
            </a:r>
            <a:r>
              <a:rPr lang="cs-CZ" sz="2400" dirty="0"/>
              <a:t> identity</a:t>
            </a:r>
          </a:p>
          <a:p>
            <a:r>
              <a:rPr lang="cs-CZ" sz="2400" dirty="0"/>
              <a:t>- Vytvoření certifikátu</a:t>
            </a:r>
          </a:p>
          <a:p>
            <a:r>
              <a:rPr lang="cs-CZ" sz="2400" dirty="0"/>
              <a:t>- Digitální podpis</a:t>
            </a:r>
          </a:p>
          <a:p>
            <a:r>
              <a:rPr lang="cs-CZ" sz="2400" dirty="0"/>
              <a:t>- Vydání certifikátu</a:t>
            </a:r>
          </a:p>
          <a:p>
            <a:r>
              <a:rPr lang="cs-CZ" sz="2400" dirty="0"/>
              <a:t>- Aktualizace a zrušení</a:t>
            </a:r>
          </a:p>
          <a:p>
            <a:r>
              <a:rPr lang="cs-CZ" sz="2400" dirty="0"/>
              <a:t>- Veřejné publikování</a:t>
            </a:r>
            <a:endParaRPr lang="en-US" sz="2400" dirty="0"/>
          </a:p>
        </p:txBody>
      </p:sp>
      <p:pic>
        <p:nvPicPr>
          <p:cNvPr id="6" name="Zástupný obsah 5" descr="Obsah obrázku kruh, snímek obrazovky, logo, Grafika&#10;&#10;Popis byl vytvořen automaticky">
            <a:extLst>
              <a:ext uri="{FF2B5EF4-FFF2-40B4-BE49-F238E27FC236}">
                <a16:creationId xmlns:a16="http://schemas.microsoft.com/office/drawing/2014/main" id="{10C0FED5-DEF4-FDFD-84B6-0392D44BA2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11119" y="1271587"/>
            <a:ext cx="4286250" cy="4286250"/>
          </a:xfrm>
        </p:spPr>
      </p:pic>
      <p:cxnSp>
        <p:nvCxnSpPr>
          <p:cNvPr id="9" name="Přímá spojnice se šipkou 8">
            <a:extLst>
              <a:ext uri="{FF2B5EF4-FFF2-40B4-BE49-F238E27FC236}">
                <a16:creationId xmlns:a16="http://schemas.microsoft.com/office/drawing/2014/main" id="{7CB46EE4-89A5-D280-6A5F-90BD51FF4878}"/>
              </a:ext>
            </a:extLst>
          </p:cNvPr>
          <p:cNvCxnSpPr/>
          <p:nvPr/>
        </p:nvCxnSpPr>
        <p:spPr>
          <a:xfrm>
            <a:off x="635000" y="2413000"/>
            <a:ext cx="0" cy="3225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346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52DD415-9A56-BD07-BC94-78E710789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anchor="ctr">
            <a:normAutofit/>
          </a:bodyPr>
          <a:lstStyle/>
          <a:p>
            <a:r>
              <a:rPr lang="cs-CZ" dirty="0"/>
              <a:t>Důležitost šifrování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8840B4B-0DE0-A912-8F27-777B3F5D2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>
            <a:normAutofit/>
          </a:bodyPr>
          <a:lstStyle/>
          <a:p>
            <a:r>
              <a:rPr lang="cs-CZ" sz="2400" dirty="0"/>
              <a:t>- Ochrana citlivých dat</a:t>
            </a:r>
          </a:p>
          <a:p>
            <a:r>
              <a:rPr lang="cs-CZ" sz="2400" dirty="0"/>
              <a:t>- Zabezpečení komunikace</a:t>
            </a:r>
          </a:p>
          <a:p>
            <a:r>
              <a:rPr lang="cs-CZ" sz="2400" dirty="0"/>
              <a:t>- Důvěryhodný digitální podpis</a:t>
            </a:r>
          </a:p>
          <a:p>
            <a:r>
              <a:rPr lang="cs-CZ" sz="2400" dirty="0"/>
              <a:t>- Prevence falešných certifikátů</a:t>
            </a:r>
          </a:p>
          <a:p>
            <a:r>
              <a:rPr lang="cs-CZ" sz="2400" dirty="0"/>
              <a:t>- Zákazníkova důvěra</a:t>
            </a:r>
          </a:p>
          <a:p>
            <a:r>
              <a:rPr lang="cs-CZ" sz="2400" dirty="0"/>
              <a:t>- Dodržování regulací a standardů</a:t>
            </a:r>
            <a:endParaRPr lang="en-US" sz="2400" dirty="0"/>
          </a:p>
        </p:txBody>
      </p:sp>
      <p:pic>
        <p:nvPicPr>
          <p:cNvPr id="6" name="Zástupný obsah 5">
            <a:extLst>
              <a:ext uri="{FF2B5EF4-FFF2-40B4-BE49-F238E27FC236}">
                <a16:creationId xmlns:a16="http://schemas.microsoft.com/office/drawing/2014/main" id="{5D4C0C7E-0A52-B818-4F0B-BCCEF5EC38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453" r="24406"/>
          <a:stretch/>
        </p:blipFill>
        <p:spPr>
          <a:xfrm>
            <a:off x="6355420" y="1853269"/>
            <a:ext cx="4677529" cy="3810931"/>
          </a:xfrm>
        </p:spPr>
      </p:pic>
    </p:spTree>
    <p:extLst>
      <p:ext uri="{BB962C8B-B14F-4D97-AF65-F5344CB8AC3E}">
        <p14:creationId xmlns:p14="http://schemas.microsoft.com/office/powerpoint/2010/main" val="2423938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52DD415-9A56-BD07-BC94-78E710789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anchor="ctr">
            <a:normAutofit/>
          </a:bodyPr>
          <a:lstStyle/>
          <a:p>
            <a:r>
              <a:rPr lang="cs-CZ" dirty="0"/>
              <a:t>Bezpečnostní hrozby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8840B4B-0DE0-A912-8F27-777B3F5D2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>
            <a:normAutofit/>
          </a:bodyPr>
          <a:lstStyle/>
          <a:p>
            <a:r>
              <a:rPr lang="cs-CZ" sz="2400" dirty="0"/>
              <a:t>- Útoky na infrastrukturu CA</a:t>
            </a:r>
          </a:p>
          <a:p>
            <a:r>
              <a:rPr lang="cs-CZ" sz="2400" dirty="0"/>
              <a:t>- Falešné certifikáty</a:t>
            </a:r>
          </a:p>
          <a:p>
            <a:r>
              <a:rPr lang="cs-CZ" sz="2400" dirty="0"/>
              <a:t>- Kompromitace klíčů</a:t>
            </a:r>
          </a:p>
          <a:p>
            <a:r>
              <a:rPr lang="cs-CZ" sz="2400" dirty="0"/>
              <a:t>- </a:t>
            </a:r>
            <a:r>
              <a:rPr lang="cs-CZ" sz="2400" dirty="0" err="1"/>
              <a:t>Phishing</a:t>
            </a:r>
            <a:r>
              <a:rPr lang="cs-CZ" sz="2400" dirty="0"/>
              <a:t> a sociální inženýrství</a:t>
            </a:r>
          </a:p>
          <a:p>
            <a:r>
              <a:rPr lang="cs-CZ" sz="2400" dirty="0"/>
              <a:t>- Odmítnutí služby (</a:t>
            </a:r>
            <a:r>
              <a:rPr lang="cs-CZ" sz="2400" dirty="0" err="1"/>
              <a:t>DoS</a:t>
            </a:r>
            <a:r>
              <a:rPr lang="cs-CZ" sz="2400" dirty="0"/>
              <a:t>) útoky</a:t>
            </a:r>
          </a:p>
          <a:p>
            <a:r>
              <a:rPr lang="cs-CZ" sz="2400" dirty="0"/>
              <a:t>- Nesprávné používání certifikátů</a:t>
            </a:r>
            <a:endParaRPr lang="en-US" sz="2400" dirty="0"/>
          </a:p>
        </p:txBody>
      </p:sp>
      <p:pic>
        <p:nvPicPr>
          <p:cNvPr id="11" name="Zástupný obsah 10" descr="Obsah obrázku kresba, ilustrace, umění, skica&#10;&#10;Popis byl vytvořen automaticky">
            <a:extLst>
              <a:ext uri="{FF2B5EF4-FFF2-40B4-BE49-F238E27FC236}">
                <a16:creationId xmlns:a16="http://schemas.microsoft.com/office/drawing/2014/main" id="{17F78BF0-389D-4EE1-970E-814A3DD1F7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43065" y="822325"/>
            <a:ext cx="3222358" cy="5184775"/>
          </a:xfrm>
        </p:spPr>
      </p:pic>
    </p:spTree>
    <p:extLst>
      <p:ext uri="{BB962C8B-B14F-4D97-AF65-F5344CB8AC3E}">
        <p14:creationId xmlns:p14="http://schemas.microsoft.com/office/powerpoint/2010/main" val="3449368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52DD415-9A56-BD07-BC94-78E710789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71509"/>
            <a:ext cx="5071872" cy="1737360"/>
          </a:xfrm>
        </p:spPr>
        <p:txBody>
          <a:bodyPr anchor="ctr">
            <a:normAutofit/>
          </a:bodyPr>
          <a:lstStyle/>
          <a:p>
            <a:r>
              <a:rPr lang="cs-CZ" dirty="0"/>
              <a:t>Zneplatnění certifikátu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8840B4B-0DE0-A912-8F27-777B3F5D2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>
            <a:normAutofit/>
          </a:bodyPr>
          <a:lstStyle/>
          <a:p>
            <a:r>
              <a:rPr lang="cs-CZ" sz="2400" dirty="0"/>
              <a:t>Digitální certifikát lze zneplatnit před ukončením jeho deklarované platnosti pomocí seznamu zneplatněných certifikátů.</a:t>
            </a:r>
          </a:p>
          <a:p>
            <a:r>
              <a:rPr lang="cs-CZ" sz="2400" dirty="0"/>
              <a:t>- Při změně údajů uvedených v certifikátu</a:t>
            </a:r>
          </a:p>
          <a:p>
            <a:r>
              <a:rPr lang="cs-CZ" sz="2400" dirty="0"/>
              <a:t>- Při ohrožení soukromého klíče</a:t>
            </a:r>
            <a:endParaRPr lang="en-US" sz="2400" dirty="0"/>
          </a:p>
        </p:txBody>
      </p:sp>
      <p:pic>
        <p:nvPicPr>
          <p:cNvPr id="5" name="Zástupný obsah 4" descr="Obsah obrázku text, kalendář, Zboží, křížovky&#10;&#10;Popis byl vytvořen automaticky">
            <a:extLst>
              <a:ext uri="{FF2B5EF4-FFF2-40B4-BE49-F238E27FC236}">
                <a16:creationId xmlns:a16="http://schemas.microsoft.com/office/drawing/2014/main" id="{120E999B-7847-5747-2D15-E3DFA98833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5000" y="2282774"/>
            <a:ext cx="5678488" cy="3195208"/>
          </a:xfrm>
        </p:spPr>
      </p:pic>
    </p:spTree>
    <p:extLst>
      <p:ext uri="{BB962C8B-B14F-4D97-AF65-F5344CB8AC3E}">
        <p14:creationId xmlns:p14="http://schemas.microsoft.com/office/powerpoint/2010/main" val="4213873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752DD415-9A56-BD07-BC94-78E710789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anchor="ctr">
            <a:normAutofit/>
          </a:bodyPr>
          <a:lstStyle/>
          <a:p>
            <a:r>
              <a:rPr lang="cs-CZ" dirty="0"/>
              <a:t>Zdroje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8840B4B-0DE0-A912-8F27-777B3F5D2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>
            <a:normAutofit/>
          </a:bodyPr>
          <a:lstStyle/>
          <a:p>
            <a:r>
              <a:rPr lang="cs-CZ" sz="2400" dirty="0"/>
              <a:t>- </a:t>
            </a:r>
            <a:r>
              <a:rPr lang="cs-CZ" sz="2400" dirty="0">
                <a:hlinkClick r:id="rId2"/>
              </a:rPr>
              <a:t>Wiki</a:t>
            </a:r>
            <a:endParaRPr lang="cs-CZ" sz="2400" dirty="0"/>
          </a:p>
          <a:p>
            <a:r>
              <a:rPr lang="cs-CZ" sz="2400" dirty="0"/>
              <a:t>- Google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170508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á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4403_TF22378848.potx" id="{88F210FF-C011-4EFE-AA85-1D02D2B94E9C}" vid="{290BA762-FB75-486E-97D2-52521D19DF9B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Návrh Integrál</Template>
  <TotalTime>46</TotalTime>
  <Words>323</Words>
  <Application>Microsoft Office PowerPoint</Application>
  <PresentationFormat>Širokoúhlá obrazovka</PresentationFormat>
  <Paragraphs>58</Paragraphs>
  <Slides>11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6" baseType="lpstr">
      <vt:lpstr>Calibri</vt:lpstr>
      <vt:lpstr>Tw Cen MT</vt:lpstr>
      <vt:lpstr>Tw Cen MT Condensed</vt:lpstr>
      <vt:lpstr>Wingdings 3</vt:lpstr>
      <vt:lpstr>Integrál</vt:lpstr>
      <vt:lpstr>Certifikační autorita</vt:lpstr>
      <vt:lpstr>Historie a vývoj</vt:lpstr>
      <vt:lpstr>Co to je?</vt:lpstr>
      <vt:lpstr>Jaké jsou typy?</vt:lpstr>
      <vt:lpstr>Prezentace aplikace PowerPoint</vt:lpstr>
      <vt:lpstr>Co poskytuje?</vt:lpstr>
      <vt:lpstr>Proces získání certifikátu</vt:lpstr>
      <vt:lpstr>Důležitost šifrování</vt:lpstr>
      <vt:lpstr>Bezpečnostní hrozby</vt:lpstr>
      <vt:lpstr>Zneplatnění certifikátu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