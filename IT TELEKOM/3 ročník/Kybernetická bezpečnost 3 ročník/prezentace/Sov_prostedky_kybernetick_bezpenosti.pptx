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6" r:id="rId4"/>
    <p:sldId id="267" r:id="rId5"/>
    <p:sldId id="258" r:id="rId6"/>
    <p:sldId id="262" r:id="rId7"/>
    <p:sldId id="263" r:id="rId8"/>
    <p:sldId id="259" r:id="rId9"/>
    <p:sldId id="261" r:id="rId10"/>
    <p:sldId id="260" r:id="rId11"/>
    <p:sldId id="265" r:id="rId12"/>
    <p:sldId id="268" r:id="rId1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564755-613B-C13B-2CD4-51C8CEDEFB5E}" v="14" dt="2024-12-12T09:03:46.872"/>
    <p1510:client id="{0C49F598-1B94-1B30-CAA2-0BFCF6413F1C}" v="33" dt="2024-12-12T17:58:48.495"/>
    <p1510:client id="{1CE1A233-0CB3-EAD0-F91A-7ACFEB3B82DB}" v="2" dt="2024-12-12T15:07:56.984"/>
    <p1510:client id="{2BCEFA94-A96A-B7AE-9E3A-96D27391EE3E}" v="584" dt="2024-12-12T17:13:11.306"/>
    <p1510:client id="{389165E8-D436-4F43-31F4-6B668B76A262}" v="7" dt="2024-12-12T15:17:45.685"/>
    <p1510:client id="{61D231EA-9DEC-2F92-C02B-3F5E3349447D}" v="54" dt="2024-12-12T17:03:47.654"/>
    <p1510:client id="{72AB7253-4365-4D1A-9F7F-78AEA377263A}" v="64" dt="2024-12-12T18:03:36.141"/>
    <p1510:client id="{72BF0650-C088-911D-883E-050C3621FA71}" v="211" dt="2024-12-12T09:02:30.456"/>
    <p1510:client id="{7B95DE64-BA6A-4155-D0C1-C62DDE519C0A}" v="36" dt="2024-12-12T19:23:01.669"/>
    <p1510:client id="{9A758525-9E84-E895-BFA8-DFBA9F57E8DE}" v="20" dt="2024-12-12T17:41:12.025"/>
    <p1510:client id="{B68B6B55-4492-4257-37CB-39199DAC7DD7}" v="526" dt="2024-12-12T15:06:37.964"/>
    <p1510:client id="{BAEBB801-D75E-C32D-E65E-2BF842D68DAE}" v="177" dt="2024-12-12T18:56:05.878"/>
    <p1510:client id="{C041C60A-4D9F-0863-9592-E8CCAFCA9D41}" v="27" dt="2024-12-12T09:04:45.358"/>
    <p1510:client id="{D8993B84-285B-8DBE-DFF4-F13DE429C41C}" v="5" dt="2024-12-12T21:12:12.352"/>
    <p1510:client id="{EB21547D-0091-2829-0D15-1E7987D898C3}" v="5" dt="2024-12-12T19:10:49.7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C4CEDB-8D52-4CC1-872C-5B9620A5298E}" type="doc">
      <dgm:prSet loTypeId="urn:microsoft.com/office/officeart/2018/2/layout/IconVerticalSolidList" loCatId="icon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3830BABC-0840-446C-855F-4F3E8E0B1E6E}">
      <dgm:prSet/>
      <dgm:spPr/>
      <dgm:t>
        <a:bodyPr/>
        <a:lstStyle/>
        <a:p>
          <a:pPr>
            <a:lnSpc>
              <a:spcPct val="100000"/>
            </a:lnSpc>
          </a:pPr>
          <a:r>
            <a:rPr lang="cs-CZ" b="1"/>
            <a:t>DDoS útok (Distributed of Service)</a:t>
          </a:r>
          <a:r>
            <a:rPr lang="cs-CZ"/>
            <a:t> - Spočívá v zahlcení cílového serveru nebo sítě obrovským množstvím požadavků, které přicházejí z mnoha různých zdrojů. Cílem je přetížit síť a znemožnit legitimním uživatelům přístup ke službám.</a:t>
          </a:r>
          <a:endParaRPr lang="en-US"/>
        </a:p>
      </dgm:t>
    </dgm:pt>
    <dgm:pt modelId="{891B6353-E01C-41A8-81DD-B5D2F58D6F6E}" type="parTrans" cxnId="{3E147990-B0FC-422D-BD18-B2619BE3345E}">
      <dgm:prSet/>
      <dgm:spPr/>
      <dgm:t>
        <a:bodyPr/>
        <a:lstStyle/>
        <a:p>
          <a:endParaRPr lang="en-US"/>
        </a:p>
      </dgm:t>
    </dgm:pt>
    <dgm:pt modelId="{1285F163-2210-4C69-AFB7-99D599B7B6CC}" type="sibTrans" cxnId="{3E147990-B0FC-422D-BD18-B2619BE3345E}">
      <dgm:prSet/>
      <dgm:spPr/>
      <dgm:t>
        <a:bodyPr/>
        <a:lstStyle/>
        <a:p>
          <a:endParaRPr lang="en-US"/>
        </a:p>
      </dgm:t>
    </dgm:pt>
    <dgm:pt modelId="{36373354-0BE0-4698-B730-758E89E7B3E1}">
      <dgm:prSet/>
      <dgm:spPr/>
      <dgm:t>
        <a:bodyPr/>
        <a:lstStyle/>
        <a:p>
          <a:pPr>
            <a:lnSpc>
              <a:spcPct val="100000"/>
            </a:lnSpc>
          </a:pPr>
          <a:r>
            <a:rPr lang="cs-CZ" b="1"/>
            <a:t>Příklad:</a:t>
          </a:r>
          <a:r>
            <a:rPr lang="cs-CZ"/>
            <a:t> Útok na webovou stránku, která se stane nedostupnou kvůli přetížení.</a:t>
          </a:r>
          <a:endParaRPr lang="en-US"/>
        </a:p>
      </dgm:t>
    </dgm:pt>
    <dgm:pt modelId="{7DDDB32F-4D6E-436E-874F-BE16CFCC286C}" type="parTrans" cxnId="{8BAD0909-F0DD-42CA-8C08-840DA153BF5D}">
      <dgm:prSet/>
      <dgm:spPr/>
      <dgm:t>
        <a:bodyPr/>
        <a:lstStyle/>
        <a:p>
          <a:endParaRPr lang="en-US"/>
        </a:p>
      </dgm:t>
    </dgm:pt>
    <dgm:pt modelId="{58FB1786-86FA-4FB0-BAF9-A008678EF0A5}" type="sibTrans" cxnId="{8BAD0909-F0DD-42CA-8C08-840DA153BF5D}">
      <dgm:prSet/>
      <dgm:spPr/>
      <dgm:t>
        <a:bodyPr/>
        <a:lstStyle/>
        <a:p>
          <a:endParaRPr lang="en-US"/>
        </a:p>
      </dgm:t>
    </dgm:pt>
    <dgm:pt modelId="{78A5A20E-632A-4C66-96EC-A2BA3B74FB7A}">
      <dgm:prSet/>
      <dgm:spPr/>
      <dgm:t>
        <a:bodyPr/>
        <a:lstStyle/>
        <a:p>
          <a:pPr>
            <a:lnSpc>
              <a:spcPct val="100000"/>
            </a:lnSpc>
          </a:pPr>
          <a:r>
            <a:rPr lang="cs-CZ" b="1"/>
            <a:t>Prevence: </a:t>
          </a:r>
          <a:r>
            <a:rPr lang="cs-CZ"/>
            <a:t>Použití anti-DDoS systémů, filtrování IP adres a monitorování provozu.</a:t>
          </a:r>
          <a:endParaRPr lang="en-US"/>
        </a:p>
      </dgm:t>
    </dgm:pt>
    <dgm:pt modelId="{42A5FBD4-91EC-40CE-AAA3-4626219E5E6A}" type="parTrans" cxnId="{E98ECD37-4ED6-4BBE-96CB-F7D2A905EAAF}">
      <dgm:prSet/>
      <dgm:spPr/>
      <dgm:t>
        <a:bodyPr/>
        <a:lstStyle/>
        <a:p>
          <a:endParaRPr lang="en-US"/>
        </a:p>
      </dgm:t>
    </dgm:pt>
    <dgm:pt modelId="{C75D68AB-4694-42E2-B71F-A9B2A111183C}" type="sibTrans" cxnId="{E98ECD37-4ED6-4BBE-96CB-F7D2A905EAAF}">
      <dgm:prSet/>
      <dgm:spPr/>
      <dgm:t>
        <a:bodyPr/>
        <a:lstStyle/>
        <a:p>
          <a:endParaRPr lang="en-US"/>
        </a:p>
      </dgm:t>
    </dgm:pt>
    <dgm:pt modelId="{A37EBFA9-3094-42BC-B231-2E5A9F83DFDC}">
      <dgm:prSet/>
      <dgm:spPr/>
      <dgm:t>
        <a:bodyPr/>
        <a:lstStyle/>
        <a:p>
          <a:pPr>
            <a:lnSpc>
              <a:spcPct val="100000"/>
            </a:lnSpc>
          </a:pPr>
          <a:r>
            <a:rPr lang="cs-CZ" b="1"/>
            <a:t>Phishing </a:t>
          </a:r>
          <a:r>
            <a:rPr lang="cs-CZ"/>
            <a:t>– je technika sociálního inženýrství, při které útočníci oklamou uživatele, aby prozradili citlivé informace, jako jsou hesla nebo finanční údaje. Nejčastěji se provádí prostřednictvím falešných e-mailů nebo webových stránek.</a:t>
          </a:r>
          <a:endParaRPr lang="en-US"/>
        </a:p>
      </dgm:t>
    </dgm:pt>
    <dgm:pt modelId="{BA1526A5-ABB2-4367-8863-F808135EDCE2}" type="parTrans" cxnId="{E124A7F1-AC98-443E-A3FD-55726F547D0B}">
      <dgm:prSet/>
      <dgm:spPr/>
      <dgm:t>
        <a:bodyPr/>
        <a:lstStyle/>
        <a:p>
          <a:endParaRPr lang="en-US"/>
        </a:p>
      </dgm:t>
    </dgm:pt>
    <dgm:pt modelId="{C07ABFBD-264D-4011-93C5-9A7DFD8EA83E}" type="sibTrans" cxnId="{E124A7F1-AC98-443E-A3FD-55726F547D0B}">
      <dgm:prSet/>
      <dgm:spPr/>
      <dgm:t>
        <a:bodyPr/>
        <a:lstStyle/>
        <a:p>
          <a:endParaRPr lang="en-US"/>
        </a:p>
      </dgm:t>
    </dgm:pt>
    <dgm:pt modelId="{B891EFDA-C5C4-4A1C-AC46-B7FE19AA4CCB}">
      <dgm:prSet/>
      <dgm:spPr/>
      <dgm:t>
        <a:bodyPr/>
        <a:lstStyle/>
        <a:p>
          <a:pPr>
            <a:lnSpc>
              <a:spcPct val="100000"/>
            </a:lnSpc>
          </a:pPr>
          <a:r>
            <a:rPr lang="cs-CZ" b="1"/>
            <a:t>Příklad:</a:t>
          </a:r>
          <a:r>
            <a:rPr lang="cs-CZ"/>
            <a:t> E-mail vydávající se za banku, který žádá uživatele o přihlášení k účtu přes podvržený odkaz.</a:t>
          </a:r>
          <a:endParaRPr lang="en-US"/>
        </a:p>
      </dgm:t>
    </dgm:pt>
    <dgm:pt modelId="{58B9E51A-C68B-4505-9E67-A5582D7A451A}" type="parTrans" cxnId="{619C05A9-835A-4C07-9FE3-30D4E36933BA}">
      <dgm:prSet/>
      <dgm:spPr/>
      <dgm:t>
        <a:bodyPr/>
        <a:lstStyle/>
        <a:p>
          <a:endParaRPr lang="en-US"/>
        </a:p>
      </dgm:t>
    </dgm:pt>
    <dgm:pt modelId="{277CE217-FB8C-4B30-A8A0-3D1FC944EC2B}" type="sibTrans" cxnId="{619C05A9-835A-4C07-9FE3-30D4E36933BA}">
      <dgm:prSet/>
      <dgm:spPr/>
      <dgm:t>
        <a:bodyPr/>
        <a:lstStyle/>
        <a:p>
          <a:endParaRPr lang="en-US"/>
        </a:p>
      </dgm:t>
    </dgm:pt>
    <dgm:pt modelId="{E424E38A-81E0-48BC-9C1E-519476B43556}">
      <dgm:prSet/>
      <dgm:spPr/>
      <dgm:t>
        <a:bodyPr/>
        <a:lstStyle/>
        <a:p>
          <a:pPr>
            <a:lnSpc>
              <a:spcPct val="100000"/>
            </a:lnSpc>
          </a:pPr>
          <a:r>
            <a:rPr lang="cs-CZ" b="1"/>
            <a:t>Prevence:</a:t>
          </a:r>
          <a:r>
            <a:rPr lang="cs-CZ"/>
            <a:t> Vzdělávání uživatelů, nasazení antiphishingových nástrojů a ověřování legitimity komunikace.</a:t>
          </a:r>
          <a:endParaRPr lang="en-US"/>
        </a:p>
      </dgm:t>
    </dgm:pt>
    <dgm:pt modelId="{B93164BD-20D9-4D3B-B520-2F0C4F139AB7}" type="parTrans" cxnId="{8817CEF0-283E-4C26-B8E2-B06CE8D5692C}">
      <dgm:prSet/>
      <dgm:spPr/>
      <dgm:t>
        <a:bodyPr/>
        <a:lstStyle/>
        <a:p>
          <a:endParaRPr lang="en-US"/>
        </a:p>
      </dgm:t>
    </dgm:pt>
    <dgm:pt modelId="{CF12CFF9-C535-4C95-BF70-15B5DD2C983C}" type="sibTrans" cxnId="{8817CEF0-283E-4C26-B8E2-B06CE8D5692C}">
      <dgm:prSet/>
      <dgm:spPr/>
      <dgm:t>
        <a:bodyPr/>
        <a:lstStyle/>
        <a:p>
          <a:endParaRPr lang="en-US"/>
        </a:p>
      </dgm:t>
    </dgm:pt>
    <dgm:pt modelId="{1DD7BBAD-A3B4-4C04-B2DC-B57F48C4443B}" type="pres">
      <dgm:prSet presAssocID="{02C4CEDB-8D52-4CC1-872C-5B9620A5298E}" presName="root" presStyleCnt="0">
        <dgm:presLayoutVars>
          <dgm:dir/>
          <dgm:resizeHandles val="exact"/>
        </dgm:presLayoutVars>
      </dgm:prSet>
      <dgm:spPr/>
    </dgm:pt>
    <dgm:pt modelId="{C7DE3CD4-360B-4FD1-A219-E23654215290}" type="pres">
      <dgm:prSet presAssocID="{3830BABC-0840-446C-855F-4F3E8E0B1E6E}" presName="compNode" presStyleCnt="0"/>
      <dgm:spPr/>
    </dgm:pt>
    <dgm:pt modelId="{283184CE-5307-4D21-88E0-FEF6CCB03803}" type="pres">
      <dgm:prSet presAssocID="{3830BABC-0840-446C-855F-4F3E8E0B1E6E}" presName="bgRect" presStyleLbl="bgShp" presStyleIdx="0" presStyleCnt="2"/>
      <dgm:spPr/>
    </dgm:pt>
    <dgm:pt modelId="{E0EC19B7-DFE4-4089-B1A4-54CF33B27043}" type="pres">
      <dgm:prSet presAssocID="{3830BABC-0840-446C-855F-4F3E8E0B1E6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1233D661-BA98-424C-AB0D-9FBE697B4232}" type="pres">
      <dgm:prSet presAssocID="{3830BABC-0840-446C-855F-4F3E8E0B1E6E}" presName="spaceRect" presStyleCnt="0"/>
      <dgm:spPr/>
    </dgm:pt>
    <dgm:pt modelId="{B11767DC-C685-4522-8A88-DA584E3143E7}" type="pres">
      <dgm:prSet presAssocID="{3830BABC-0840-446C-855F-4F3E8E0B1E6E}" presName="parTx" presStyleLbl="revTx" presStyleIdx="0" presStyleCnt="4">
        <dgm:presLayoutVars>
          <dgm:chMax val="0"/>
          <dgm:chPref val="0"/>
        </dgm:presLayoutVars>
      </dgm:prSet>
      <dgm:spPr/>
    </dgm:pt>
    <dgm:pt modelId="{27F4C016-951A-4B85-AE4A-1A1E04DA6578}" type="pres">
      <dgm:prSet presAssocID="{3830BABC-0840-446C-855F-4F3E8E0B1E6E}" presName="desTx" presStyleLbl="revTx" presStyleIdx="1" presStyleCnt="4">
        <dgm:presLayoutVars/>
      </dgm:prSet>
      <dgm:spPr/>
    </dgm:pt>
    <dgm:pt modelId="{39AAACCC-E767-4DA5-9334-86C8CC5B9811}" type="pres">
      <dgm:prSet presAssocID="{1285F163-2210-4C69-AFB7-99D599B7B6CC}" presName="sibTrans" presStyleCnt="0"/>
      <dgm:spPr/>
    </dgm:pt>
    <dgm:pt modelId="{BF1FA3CA-07F9-4131-A87B-7BB4B7B5BD25}" type="pres">
      <dgm:prSet presAssocID="{A37EBFA9-3094-42BC-B231-2E5A9F83DFDC}" presName="compNode" presStyleCnt="0"/>
      <dgm:spPr/>
    </dgm:pt>
    <dgm:pt modelId="{683737E5-7A70-4712-BA01-3C5C7196D152}" type="pres">
      <dgm:prSet presAssocID="{A37EBFA9-3094-42BC-B231-2E5A9F83DFDC}" presName="bgRect" presStyleLbl="bgShp" presStyleIdx="1" presStyleCnt="2"/>
      <dgm:spPr/>
    </dgm:pt>
    <dgm:pt modelId="{F0DBE640-6E1A-42E2-AB99-2382506DC326}" type="pres">
      <dgm:prSet presAssocID="{A37EBFA9-3094-42BC-B231-2E5A9F83DFDC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átor"/>
        </a:ext>
      </dgm:extLst>
    </dgm:pt>
    <dgm:pt modelId="{79DE7017-D6BE-4305-B81D-3028C80B19D7}" type="pres">
      <dgm:prSet presAssocID="{A37EBFA9-3094-42BC-B231-2E5A9F83DFDC}" presName="spaceRect" presStyleCnt="0"/>
      <dgm:spPr/>
    </dgm:pt>
    <dgm:pt modelId="{7E529F35-E355-4CF3-9DD8-E34EFC54AF3E}" type="pres">
      <dgm:prSet presAssocID="{A37EBFA9-3094-42BC-B231-2E5A9F83DFDC}" presName="parTx" presStyleLbl="revTx" presStyleIdx="2" presStyleCnt="4">
        <dgm:presLayoutVars>
          <dgm:chMax val="0"/>
          <dgm:chPref val="0"/>
        </dgm:presLayoutVars>
      </dgm:prSet>
      <dgm:spPr/>
    </dgm:pt>
    <dgm:pt modelId="{325B2751-B00D-456B-9E51-4E1D41EB6A91}" type="pres">
      <dgm:prSet presAssocID="{A37EBFA9-3094-42BC-B231-2E5A9F83DFDC}" presName="desTx" presStyleLbl="revTx" presStyleIdx="3" presStyleCnt="4">
        <dgm:presLayoutVars/>
      </dgm:prSet>
      <dgm:spPr/>
    </dgm:pt>
  </dgm:ptLst>
  <dgm:cxnLst>
    <dgm:cxn modelId="{8BAD0909-F0DD-42CA-8C08-840DA153BF5D}" srcId="{3830BABC-0840-446C-855F-4F3E8E0B1E6E}" destId="{36373354-0BE0-4698-B730-758E89E7B3E1}" srcOrd="0" destOrd="0" parTransId="{7DDDB32F-4D6E-436E-874F-BE16CFCC286C}" sibTransId="{58FB1786-86FA-4FB0-BAF9-A008678EF0A5}"/>
    <dgm:cxn modelId="{5E534A22-5184-4C23-83AA-7E7E70E697DA}" type="presOf" srcId="{E424E38A-81E0-48BC-9C1E-519476B43556}" destId="{325B2751-B00D-456B-9E51-4E1D41EB6A91}" srcOrd="0" destOrd="1" presId="urn:microsoft.com/office/officeart/2018/2/layout/IconVerticalSolidList"/>
    <dgm:cxn modelId="{5330BC35-115F-41EC-9344-FDF696F8E59D}" type="presOf" srcId="{A37EBFA9-3094-42BC-B231-2E5A9F83DFDC}" destId="{7E529F35-E355-4CF3-9DD8-E34EFC54AF3E}" srcOrd="0" destOrd="0" presId="urn:microsoft.com/office/officeart/2018/2/layout/IconVerticalSolidList"/>
    <dgm:cxn modelId="{E98ECD37-4ED6-4BBE-96CB-F7D2A905EAAF}" srcId="{3830BABC-0840-446C-855F-4F3E8E0B1E6E}" destId="{78A5A20E-632A-4C66-96EC-A2BA3B74FB7A}" srcOrd="1" destOrd="0" parTransId="{42A5FBD4-91EC-40CE-AAA3-4626219E5E6A}" sibTransId="{C75D68AB-4694-42E2-B71F-A9B2A111183C}"/>
    <dgm:cxn modelId="{AFA80F4A-D35E-40D1-8EC6-22B54D49C71D}" type="presOf" srcId="{B891EFDA-C5C4-4A1C-AC46-B7FE19AA4CCB}" destId="{325B2751-B00D-456B-9E51-4E1D41EB6A91}" srcOrd="0" destOrd="0" presId="urn:microsoft.com/office/officeart/2018/2/layout/IconVerticalSolidList"/>
    <dgm:cxn modelId="{3E147990-B0FC-422D-BD18-B2619BE3345E}" srcId="{02C4CEDB-8D52-4CC1-872C-5B9620A5298E}" destId="{3830BABC-0840-446C-855F-4F3E8E0B1E6E}" srcOrd="0" destOrd="0" parTransId="{891B6353-E01C-41A8-81DD-B5D2F58D6F6E}" sibTransId="{1285F163-2210-4C69-AFB7-99D599B7B6CC}"/>
    <dgm:cxn modelId="{1E2C3EA4-6E98-45FF-B47B-7BEB83C874E6}" type="presOf" srcId="{78A5A20E-632A-4C66-96EC-A2BA3B74FB7A}" destId="{27F4C016-951A-4B85-AE4A-1A1E04DA6578}" srcOrd="0" destOrd="1" presId="urn:microsoft.com/office/officeart/2018/2/layout/IconVerticalSolidList"/>
    <dgm:cxn modelId="{619C05A9-835A-4C07-9FE3-30D4E36933BA}" srcId="{A37EBFA9-3094-42BC-B231-2E5A9F83DFDC}" destId="{B891EFDA-C5C4-4A1C-AC46-B7FE19AA4CCB}" srcOrd="0" destOrd="0" parTransId="{58B9E51A-C68B-4505-9E67-A5582D7A451A}" sibTransId="{277CE217-FB8C-4B30-A8A0-3D1FC944EC2B}"/>
    <dgm:cxn modelId="{2070DEB0-C752-4551-80D8-9FDD11DA8194}" type="presOf" srcId="{02C4CEDB-8D52-4CC1-872C-5B9620A5298E}" destId="{1DD7BBAD-A3B4-4C04-B2DC-B57F48C4443B}" srcOrd="0" destOrd="0" presId="urn:microsoft.com/office/officeart/2018/2/layout/IconVerticalSolidList"/>
    <dgm:cxn modelId="{193AA4E2-7879-4479-A065-2026D993BED0}" type="presOf" srcId="{36373354-0BE0-4698-B730-758E89E7B3E1}" destId="{27F4C016-951A-4B85-AE4A-1A1E04DA6578}" srcOrd="0" destOrd="0" presId="urn:microsoft.com/office/officeart/2018/2/layout/IconVerticalSolidList"/>
    <dgm:cxn modelId="{8817CEF0-283E-4C26-B8E2-B06CE8D5692C}" srcId="{A37EBFA9-3094-42BC-B231-2E5A9F83DFDC}" destId="{E424E38A-81E0-48BC-9C1E-519476B43556}" srcOrd="1" destOrd="0" parTransId="{B93164BD-20D9-4D3B-B520-2F0C4F139AB7}" sibTransId="{CF12CFF9-C535-4C95-BF70-15B5DD2C983C}"/>
    <dgm:cxn modelId="{E124A7F1-AC98-443E-A3FD-55726F547D0B}" srcId="{02C4CEDB-8D52-4CC1-872C-5B9620A5298E}" destId="{A37EBFA9-3094-42BC-B231-2E5A9F83DFDC}" srcOrd="1" destOrd="0" parTransId="{BA1526A5-ABB2-4367-8863-F808135EDCE2}" sibTransId="{C07ABFBD-264D-4011-93C5-9A7DFD8EA83E}"/>
    <dgm:cxn modelId="{C3453FFE-6DE4-4D0E-857C-37ED0C43EFA5}" type="presOf" srcId="{3830BABC-0840-446C-855F-4F3E8E0B1E6E}" destId="{B11767DC-C685-4522-8A88-DA584E3143E7}" srcOrd="0" destOrd="0" presId="urn:microsoft.com/office/officeart/2018/2/layout/IconVerticalSolidList"/>
    <dgm:cxn modelId="{FBC03B97-35F3-48C8-8663-61B361B036F0}" type="presParOf" srcId="{1DD7BBAD-A3B4-4C04-B2DC-B57F48C4443B}" destId="{C7DE3CD4-360B-4FD1-A219-E23654215290}" srcOrd="0" destOrd="0" presId="urn:microsoft.com/office/officeart/2018/2/layout/IconVerticalSolidList"/>
    <dgm:cxn modelId="{4C72E08D-E883-4AD2-9DE2-20F81B340303}" type="presParOf" srcId="{C7DE3CD4-360B-4FD1-A219-E23654215290}" destId="{283184CE-5307-4D21-88E0-FEF6CCB03803}" srcOrd="0" destOrd="0" presId="urn:microsoft.com/office/officeart/2018/2/layout/IconVerticalSolidList"/>
    <dgm:cxn modelId="{04521B39-DBD4-48C5-B5B9-1B63264E28FC}" type="presParOf" srcId="{C7DE3CD4-360B-4FD1-A219-E23654215290}" destId="{E0EC19B7-DFE4-4089-B1A4-54CF33B27043}" srcOrd="1" destOrd="0" presId="urn:microsoft.com/office/officeart/2018/2/layout/IconVerticalSolidList"/>
    <dgm:cxn modelId="{896B7C0C-241B-4B06-A9E9-2A0F4AC4745A}" type="presParOf" srcId="{C7DE3CD4-360B-4FD1-A219-E23654215290}" destId="{1233D661-BA98-424C-AB0D-9FBE697B4232}" srcOrd="2" destOrd="0" presId="urn:microsoft.com/office/officeart/2018/2/layout/IconVerticalSolidList"/>
    <dgm:cxn modelId="{05821352-5EB3-40AC-B974-7FBC820ED6A5}" type="presParOf" srcId="{C7DE3CD4-360B-4FD1-A219-E23654215290}" destId="{B11767DC-C685-4522-8A88-DA584E3143E7}" srcOrd="3" destOrd="0" presId="urn:microsoft.com/office/officeart/2018/2/layout/IconVerticalSolidList"/>
    <dgm:cxn modelId="{D41667D6-9F79-4206-B246-B0438D4739E3}" type="presParOf" srcId="{C7DE3CD4-360B-4FD1-A219-E23654215290}" destId="{27F4C016-951A-4B85-AE4A-1A1E04DA6578}" srcOrd="4" destOrd="0" presId="urn:microsoft.com/office/officeart/2018/2/layout/IconVerticalSolidList"/>
    <dgm:cxn modelId="{D1C7558B-3B7F-4C2C-A431-BA7FEE6DB338}" type="presParOf" srcId="{1DD7BBAD-A3B4-4C04-B2DC-B57F48C4443B}" destId="{39AAACCC-E767-4DA5-9334-86C8CC5B9811}" srcOrd="1" destOrd="0" presId="urn:microsoft.com/office/officeart/2018/2/layout/IconVerticalSolidList"/>
    <dgm:cxn modelId="{F936E941-5AAE-451E-9642-FA24A93D443E}" type="presParOf" srcId="{1DD7BBAD-A3B4-4C04-B2DC-B57F48C4443B}" destId="{BF1FA3CA-07F9-4131-A87B-7BB4B7B5BD25}" srcOrd="2" destOrd="0" presId="urn:microsoft.com/office/officeart/2018/2/layout/IconVerticalSolidList"/>
    <dgm:cxn modelId="{A4EBB824-715C-4829-ACE0-7BFC66572EF5}" type="presParOf" srcId="{BF1FA3CA-07F9-4131-A87B-7BB4B7B5BD25}" destId="{683737E5-7A70-4712-BA01-3C5C7196D152}" srcOrd="0" destOrd="0" presId="urn:microsoft.com/office/officeart/2018/2/layout/IconVerticalSolidList"/>
    <dgm:cxn modelId="{2A056934-33B4-4D12-A987-EB17CBD708CC}" type="presParOf" srcId="{BF1FA3CA-07F9-4131-A87B-7BB4B7B5BD25}" destId="{F0DBE640-6E1A-42E2-AB99-2382506DC326}" srcOrd="1" destOrd="0" presId="urn:microsoft.com/office/officeart/2018/2/layout/IconVerticalSolidList"/>
    <dgm:cxn modelId="{F3D92EFE-6FE4-4A3B-8670-5A0603FF8FCE}" type="presParOf" srcId="{BF1FA3CA-07F9-4131-A87B-7BB4B7B5BD25}" destId="{79DE7017-D6BE-4305-B81D-3028C80B19D7}" srcOrd="2" destOrd="0" presId="urn:microsoft.com/office/officeart/2018/2/layout/IconVerticalSolidList"/>
    <dgm:cxn modelId="{59778D8A-5744-48CE-9644-32B0AE0ADD0A}" type="presParOf" srcId="{BF1FA3CA-07F9-4131-A87B-7BB4B7B5BD25}" destId="{7E529F35-E355-4CF3-9DD8-E34EFC54AF3E}" srcOrd="3" destOrd="0" presId="urn:microsoft.com/office/officeart/2018/2/layout/IconVerticalSolidList"/>
    <dgm:cxn modelId="{AF73E58F-DB6F-44E4-970E-76F5F9DBAFFB}" type="presParOf" srcId="{BF1FA3CA-07F9-4131-A87B-7BB4B7B5BD25}" destId="{325B2751-B00D-456B-9E51-4E1D41EB6A91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C4CEDB-8D52-4CC1-872C-5B9620A5298E}" type="doc">
      <dgm:prSet loTypeId="urn:microsoft.com/office/officeart/2018/2/layout/IconVerticalSolidList" loCatId="icon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3830BABC-0840-446C-855F-4F3E8E0B1E6E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cs-CZ" b="1">
              <a:solidFill>
                <a:srgbClr val="000000"/>
              </a:solidFill>
              <a:latin typeface="Aptos"/>
            </a:rPr>
            <a:t>Man-in-the-middle útok (MITM)</a:t>
          </a:r>
          <a:r>
            <a:rPr lang="cs-CZ">
              <a:solidFill>
                <a:srgbClr val="000000"/>
              </a:solidFill>
              <a:latin typeface="Aptos"/>
            </a:rPr>
            <a:t> Při MITM útoku se útočník umístí mezi dvě komunikující strany, aby zachytil, upravil nebo odposlouchával přenášená data. Tento útok často probíhá na nezabezpečených Wi-Fi sítích.</a:t>
          </a:r>
          <a:endParaRPr lang="en-US">
            <a:solidFill>
              <a:srgbClr val="000000"/>
            </a:solidFill>
            <a:latin typeface="Aptos"/>
          </a:endParaRPr>
        </a:p>
      </dgm:t>
    </dgm:pt>
    <dgm:pt modelId="{891B6353-E01C-41A8-81DD-B5D2F58D6F6E}" type="parTrans" cxnId="{3E147990-B0FC-422D-BD18-B2619BE3345E}">
      <dgm:prSet/>
      <dgm:spPr/>
      <dgm:t>
        <a:bodyPr/>
        <a:lstStyle/>
        <a:p>
          <a:endParaRPr lang="en-US"/>
        </a:p>
      </dgm:t>
    </dgm:pt>
    <dgm:pt modelId="{1285F163-2210-4C69-AFB7-99D599B7B6CC}" type="sibTrans" cxnId="{3E147990-B0FC-422D-BD18-B2619BE3345E}">
      <dgm:prSet/>
      <dgm:spPr/>
      <dgm:t>
        <a:bodyPr/>
        <a:lstStyle/>
        <a:p>
          <a:endParaRPr lang="en-US"/>
        </a:p>
      </dgm:t>
    </dgm:pt>
    <dgm:pt modelId="{36373354-0BE0-4698-B730-758E89E7B3E1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cs-CZ" b="1">
              <a:solidFill>
                <a:srgbClr val="000000"/>
              </a:solidFill>
              <a:latin typeface="Aptos"/>
            </a:rPr>
            <a:t>Příklad:</a:t>
          </a:r>
          <a:r>
            <a:rPr lang="cs-CZ">
              <a:solidFill>
                <a:srgbClr val="000000"/>
              </a:solidFill>
              <a:latin typeface="Aptos"/>
            </a:rPr>
            <a:t> Útočník odposlouchávající online transakci mezi </a:t>
          </a:r>
          <a:r>
            <a:rPr lang="cs-CZ" b="0">
              <a:solidFill>
                <a:srgbClr val="000000"/>
              </a:solidFill>
              <a:latin typeface="Aptos"/>
            </a:rPr>
            <a:t>uživatelem a </a:t>
          </a:r>
          <a:r>
            <a:rPr lang="cs-CZ">
              <a:solidFill>
                <a:srgbClr val="000000"/>
              </a:solidFill>
              <a:latin typeface="Aptos"/>
            </a:rPr>
            <a:t>bankou.</a:t>
          </a:r>
        </a:p>
      </dgm:t>
    </dgm:pt>
    <dgm:pt modelId="{7DDDB32F-4D6E-436E-874F-BE16CFCC286C}" type="parTrans" cxnId="{8BAD0909-F0DD-42CA-8C08-840DA153BF5D}">
      <dgm:prSet/>
      <dgm:spPr/>
      <dgm:t>
        <a:bodyPr/>
        <a:lstStyle/>
        <a:p>
          <a:endParaRPr lang="en-US"/>
        </a:p>
      </dgm:t>
    </dgm:pt>
    <dgm:pt modelId="{58FB1786-86FA-4FB0-BAF9-A008678EF0A5}" type="sibTrans" cxnId="{8BAD0909-F0DD-42CA-8C08-840DA153BF5D}">
      <dgm:prSet/>
      <dgm:spPr/>
      <dgm:t>
        <a:bodyPr/>
        <a:lstStyle/>
        <a:p>
          <a:endParaRPr lang="en-US"/>
        </a:p>
      </dgm:t>
    </dgm:pt>
    <dgm:pt modelId="{78A5A20E-632A-4C66-96EC-A2BA3B74FB7A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cs-CZ" b="1">
              <a:solidFill>
                <a:srgbClr val="000000"/>
              </a:solidFill>
              <a:latin typeface="Aptos"/>
            </a:rPr>
            <a:t>Prevence: </a:t>
          </a:r>
          <a:r>
            <a:rPr lang="cs-CZ">
              <a:solidFill>
                <a:srgbClr val="000000"/>
              </a:solidFill>
              <a:latin typeface="Aptos"/>
            </a:rPr>
            <a:t>Používání šifrovaných protokolů (např. HTTPS) a VPN.</a:t>
          </a:r>
          <a:endParaRPr lang="en-US">
            <a:solidFill>
              <a:srgbClr val="000000"/>
            </a:solidFill>
            <a:latin typeface="Aptos"/>
          </a:endParaRPr>
        </a:p>
      </dgm:t>
    </dgm:pt>
    <dgm:pt modelId="{42A5FBD4-91EC-40CE-AAA3-4626219E5E6A}" type="parTrans" cxnId="{E98ECD37-4ED6-4BBE-96CB-F7D2A905EAAF}">
      <dgm:prSet/>
      <dgm:spPr/>
      <dgm:t>
        <a:bodyPr/>
        <a:lstStyle/>
        <a:p>
          <a:endParaRPr lang="en-US"/>
        </a:p>
      </dgm:t>
    </dgm:pt>
    <dgm:pt modelId="{C75D68AB-4694-42E2-B71F-A9B2A111183C}" type="sibTrans" cxnId="{E98ECD37-4ED6-4BBE-96CB-F7D2A905EAAF}">
      <dgm:prSet/>
      <dgm:spPr/>
      <dgm:t>
        <a:bodyPr/>
        <a:lstStyle/>
        <a:p>
          <a:endParaRPr lang="en-US"/>
        </a:p>
      </dgm:t>
    </dgm:pt>
    <dgm:pt modelId="{A37EBFA9-3094-42BC-B231-2E5A9F83DFDC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cs-CZ" b="1">
              <a:solidFill>
                <a:srgbClr val="000000"/>
              </a:solidFill>
              <a:latin typeface="Aptos"/>
            </a:rPr>
            <a:t>SQL injekce</a:t>
          </a:r>
          <a:r>
            <a:rPr lang="cs-CZ">
              <a:solidFill>
                <a:srgbClr val="000000"/>
              </a:solidFill>
              <a:latin typeface="Aptos"/>
            </a:rPr>
            <a:t> SQL injekce je technika útoku na databáze, při které útočník vloží škodlivý SQL kód do vstupního pole webové aplikace. Cílem je získat přístup k datům nebo je manipulovat.</a:t>
          </a:r>
        </a:p>
      </dgm:t>
    </dgm:pt>
    <dgm:pt modelId="{BA1526A5-ABB2-4367-8863-F808135EDCE2}" type="parTrans" cxnId="{E124A7F1-AC98-443E-A3FD-55726F547D0B}">
      <dgm:prSet/>
      <dgm:spPr/>
      <dgm:t>
        <a:bodyPr/>
        <a:lstStyle/>
        <a:p>
          <a:endParaRPr lang="en-US"/>
        </a:p>
      </dgm:t>
    </dgm:pt>
    <dgm:pt modelId="{C07ABFBD-264D-4011-93C5-9A7DFD8EA83E}" type="sibTrans" cxnId="{E124A7F1-AC98-443E-A3FD-55726F547D0B}">
      <dgm:prSet/>
      <dgm:spPr/>
      <dgm:t>
        <a:bodyPr/>
        <a:lstStyle/>
        <a:p>
          <a:endParaRPr lang="en-US"/>
        </a:p>
      </dgm:t>
    </dgm:pt>
    <dgm:pt modelId="{B891EFDA-C5C4-4A1C-AC46-B7FE19AA4CCB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cs-CZ" b="1">
              <a:solidFill>
                <a:srgbClr val="000000"/>
              </a:solidFill>
              <a:latin typeface="Aptos"/>
            </a:rPr>
            <a:t>Příklad:</a:t>
          </a:r>
          <a:r>
            <a:rPr lang="cs-CZ">
              <a:solidFill>
                <a:srgbClr val="000000"/>
              </a:solidFill>
              <a:latin typeface="Aptos"/>
            </a:rPr>
            <a:t> Útočník získá seznam uživatelských hesel díky zranitelnosti v přihlašovacím formuláři</a:t>
          </a:r>
          <a:endParaRPr lang="en-US">
            <a:solidFill>
              <a:srgbClr val="000000"/>
            </a:solidFill>
            <a:latin typeface="Aptos"/>
          </a:endParaRPr>
        </a:p>
      </dgm:t>
    </dgm:pt>
    <dgm:pt modelId="{58B9E51A-C68B-4505-9E67-A5582D7A451A}" type="parTrans" cxnId="{619C05A9-835A-4C07-9FE3-30D4E36933BA}">
      <dgm:prSet/>
      <dgm:spPr/>
      <dgm:t>
        <a:bodyPr/>
        <a:lstStyle/>
        <a:p>
          <a:endParaRPr lang="en-US"/>
        </a:p>
      </dgm:t>
    </dgm:pt>
    <dgm:pt modelId="{277CE217-FB8C-4B30-A8A0-3D1FC944EC2B}" type="sibTrans" cxnId="{619C05A9-835A-4C07-9FE3-30D4E36933BA}">
      <dgm:prSet/>
      <dgm:spPr/>
      <dgm:t>
        <a:bodyPr/>
        <a:lstStyle/>
        <a:p>
          <a:endParaRPr lang="en-US"/>
        </a:p>
      </dgm:t>
    </dgm:pt>
    <dgm:pt modelId="{E424E38A-81E0-48BC-9C1E-519476B43556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cs-CZ" b="1">
              <a:solidFill>
                <a:srgbClr val="000000"/>
              </a:solidFill>
              <a:latin typeface="Aptos"/>
            </a:rPr>
            <a:t>Prevence:</a:t>
          </a:r>
          <a:r>
            <a:rPr lang="cs-CZ">
              <a:solidFill>
                <a:srgbClr val="000000"/>
              </a:solidFill>
              <a:latin typeface="Aptos"/>
            </a:rPr>
            <a:t> Validace vstupů, používání připravených dotazů (</a:t>
          </a:r>
          <a:r>
            <a:rPr lang="cs-CZ" err="1">
              <a:solidFill>
                <a:srgbClr val="000000"/>
              </a:solidFill>
              <a:latin typeface="Aptos"/>
            </a:rPr>
            <a:t>prepared</a:t>
          </a:r>
          <a:r>
            <a:rPr lang="cs-CZ">
              <a:solidFill>
                <a:srgbClr val="000000"/>
              </a:solidFill>
              <a:latin typeface="Aptos"/>
            </a:rPr>
            <a:t> </a:t>
          </a:r>
          <a:r>
            <a:rPr lang="cs-CZ" err="1">
              <a:solidFill>
                <a:srgbClr val="000000"/>
              </a:solidFill>
              <a:latin typeface="Aptos"/>
            </a:rPr>
            <a:t>statements</a:t>
          </a:r>
          <a:r>
            <a:rPr lang="cs-CZ">
              <a:solidFill>
                <a:srgbClr val="000000"/>
              </a:solidFill>
              <a:latin typeface="Aptos"/>
            </a:rPr>
            <a:t>) a pravidelné testování zranitelností.</a:t>
          </a:r>
          <a:endParaRPr lang="en-US">
            <a:solidFill>
              <a:srgbClr val="000000"/>
            </a:solidFill>
            <a:latin typeface="Aptos"/>
          </a:endParaRPr>
        </a:p>
      </dgm:t>
    </dgm:pt>
    <dgm:pt modelId="{B93164BD-20D9-4D3B-B520-2F0C4F139AB7}" type="parTrans" cxnId="{8817CEF0-283E-4C26-B8E2-B06CE8D5692C}">
      <dgm:prSet/>
      <dgm:spPr/>
      <dgm:t>
        <a:bodyPr/>
        <a:lstStyle/>
        <a:p>
          <a:endParaRPr lang="en-US"/>
        </a:p>
      </dgm:t>
    </dgm:pt>
    <dgm:pt modelId="{CF12CFF9-C535-4C95-BF70-15B5DD2C983C}" type="sibTrans" cxnId="{8817CEF0-283E-4C26-B8E2-B06CE8D5692C}">
      <dgm:prSet/>
      <dgm:spPr/>
      <dgm:t>
        <a:bodyPr/>
        <a:lstStyle/>
        <a:p>
          <a:endParaRPr lang="en-US"/>
        </a:p>
      </dgm:t>
    </dgm:pt>
    <dgm:pt modelId="{1DD7BBAD-A3B4-4C04-B2DC-B57F48C4443B}" type="pres">
      <dgm:prSet presAssocID="{02C4CEDB-8D52-4CC1-872C-5B9620A5298E}" presName="root" presStyleCnt="0">
        <dgm:presLayoutVars>
          <dgm:dir/>
          <dgm:resizeHandles val="exact"/>
        </dgm:presLayoutVars>
      </dgm:prSet>
      <dgm:spPr/>
    </dgm:pt>
    <dgm:pt modelId="{C7DE3CD4-360B-4FD1-A219-E23654215290}" type="pres">
      <dgm:prSet presAssocID="{3830BABC-0840-446C-855F-4F3E8E0B1E6E}" presName="compNode" presStyleCnt="0"/>
      <dgm:spPr/>
    </dgm:pt>
    <dgm:pt modelId="{283184CE-5307-4D21-88E0-FEF6CCB03803}" type="pres">
      <dgm:prSet presAssocID="{3830BABC-0840-446C-855F-4F3E8E0B1E6E}" presName="bgRect" presStyleLbl="bgShp" presStyleIdx="0" presStyleCnt="2"/>
      <dgm:spPr/>
    </dgm:pt>
    <dgm:pt modelId="{E0EC19B7-DFE4-4089-B1A4-54CF33B27043}" type="pres">
      <dgm:prSet presAssocID="{3830BABC-0840-446C-855F-4F3E8E0B1E6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1233D661-BA98-424C-AB0D-9FBE697B4232}" type="pres">
      <dgm:prSet presAssocID="{3830BABC-0840-446C-855F-4F3E8E0B1E6E}" presName="spaceRect" presStyleCnt="0"/>
      <dgm:spPr/>
    </dgm:pt>
    <dgm:pt modelId="{B11767DC-C685-4522-8A88-DA584E3143E7}" type="pres">
      <dgm:prSet presAssocID="{3830BABC-0840-446C-855F-4F3E8E0B1E6E}" presName="parTx" presStyleLbl="revTx" presStyleIdx="0" presStyleCnt="4">
        <dgm:presLayoutVars>
          <dgm:chMax val="0"/>
          <dgm:chPref val="0"/>
        </dgm:presLayoutVars>
      </dgm:prSet>
      <dgm:spPr/>
    </dgm:pt>
    <dgm:pt modelId="{27F4C016-951A-4B85-AE4A-1A1E04DA6578}" type="pres">
      <dgm:prSet presAssocID="{3830BABC-0840-446C-855F-4F3E8E0B1E6E}" presName="desTx" presStyleLbl="revTx" presStyleIdx="1" presStyleCnt="4">
        <dgm:presLayoutVars/>
      </dgm:prSet>
      <dgm:spPr/>
    </dgm:pt>
    <dgm:pt modelId="{39AAACCC-E767-4DA5-9334-86C8CC5B9811}" type="pres">
      <dgm:prSet presAssocID="{1285F163-2210-4C69-AFB7-99D599B7B6CC}" presName="sibTrans" presStyleCnt="0"/>
      <dgm:spPr/>
    </dgm:pt>
    <dgm:pt modelId="{BF1FA3CA-07F9-4131-A87B-7BB4B7B5BD25}" type="pres">
      <dgm:prSet presAssocID="{A37EBFA9-3094-42BC-B231-2E5A9F83DFDC}" presName="compNode" presStyleCnt="0"/>
      <dgm:spPr/>
    </dgm:pt>
    <dgm:pt modelId="{683737E5-7A70-4712-BA01-3C5C7196D152}" type="pres">
      <dgm:prSet presAssocID="{A37EBFA9-3094-42BC-B231-2E5A9F83DFDC}" presName="bgRect" presStyleLbl="bgShp" presStyleIdx="1" presStyleCnt="2"/>
      <dgm:spPr/>
    </dgm:pt>
    <dgm:pt modelId="{F0DBE640-6E1A-42E2-AB99-2382506DC326}" type="pres">
      <dgm:prSet presAssocID="{A37EBFA9-3094-42BC-B231-2E5A9F83DFDC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átor"/>
        </a:ext>
      </dgm:extLst>
    </dgm:pt>
    <dgm:pt modelId="{79DE7017-D6BE-4305-B81D-3028C80B19D7}" type="pres">
      <dgm:prSet presAssocID="{A37EBFA9-3094-42BC-B231-2E5A9F83DFDC}" presName="spaceRect" presStyleCnt="0"/>
      <dgm:spPr/>
    </dgm:pt>
    <dgm:pt modelId="{7E529F35-E355-4CF3-9DD8-E34EFC54AF3E}" type="pres">
      <dgm:prSet presAssocID="{A37EBFA9-3094-42BC-B231-2E5A9F83DFDC}" presName="parTx" presStyleLbl="revTx" presStyleIdx="2" presStyleCnt="4">
        <dgm:presLayoutVars>
          <dgm:chMax val="0"/>
          <dgm:chPref val="0"/>
        </dgm:presLayoutVars>
      </dgm:prSet>
      <dgm:spPr/>
    </dgm:pt>
    <dgm:pt modelId="{1350ED24-653F-4095-90A3-08193DDD42F5}" type="pres">
      <dgm:prSet presAssocID="{A37EBFA9-3094-42BC-B231-2E5A9F83DFDC}" presName="desTx" presStyleLbl="revTx" presStyleIdx="3" presStyleCnt="4">
        <dgm:presLayoutVars/>
      </dgm:prSet>
      <dgm:spPr/>
    </dgm:pt>
  </dgm:ptLst>
  <dgm:cxnLst>
    <dgm:cxn modelId="{044A0A02-04F6-4E80-B90F-6689B4F7D8A6}" type="presOf" srcId="{3830BABC-0840-446C-855F-4F3E8E0B1E6E}" destId="{B11767DC-C685-4522-8A88-DA584E3143E7}" srcOrd="0" destOrd="0" presId="urn:microsoft.com/office/officeart/2018/2/layout/IconVerticalSolidList"/>
    <dgm:cxn modelId="{6B81AD03-B1FE-4C54-8BAB-3968E8927594}" type="presOf" srcId="{36373354-0BE0-4698-B730-758E89E7B3E1}" destId="{27F4C016-951A-4B85-AE4A-1A1E04DA6578}" srcOrd="0" destOrd="0" presId="urn:microsoft.com/office/officeart/2018/2/layout/IconVerticalSolidList"/>
    <dgm:cxn modelId="{8BAD0909-F0DD-42CA-8C08-840DA153BF5D}" srcId="{3830BABC-0840-446C-855F-4F3E8E0B1E6E}" destId="{36373354-0BE0-4698-B730-758E89E7B3E1}" srcOrd="0" destOrd="0" parTransId="{7DDDB32F-4D6E-436E-874F-BE16CFCC286C}" sibTransId="{58FB1786-86FA-4FB0-BAF9-A008678EF0A5}"/>
    <dgm:cxn modelId="{E98ECD37-4ED6-4BBE-96CB-F7D2A905EAAF}" srcId="{3830BABC-0840-446C-855F-4F3E8E0B1E6E}" destId="{78A5A20E-632A-4C66-96EC-A2BA3B74FB7A}" srcOrd="1" destOrd="0" parTransId="{42A5FBD4-91EC-40CE-AAA3-4626219E5E6A}" sibTransId="{C75D68AB-4694-42E2-B71F-A9B2A111183C}"/>
    <dgm:cxn modelId="{3E147990-B0FC-422D-BD18-B2619BE3345E}" srcId="{02C4CEDB-8D52-4CC1-872C-5B9620A5298E}" destId="{3830BABC-0840-446C-855F-4F3E8E0B1E6E}" srcOrd="0" destOrd="0" parTransId="{891B6353-E01C-41A8-81DD-B5D2F58D6F6E}" sibTransId="{1285F163-2210-4C69-AFB7-99D599B7B6CC}"/>
    <dgm:cxn modelId="{55E55C94-07F5-4195-BB04-9C82A3A5AFB8}" type="presOf" srcId="{E424E38A-81E0-48BC-9C1E-519476B43556}" destId="{1350ED24-653F-4095-90A3-08193DDD42F5}" srcOrd="0" destOrd="1" presId="urn:microsoft.com/office/officeart/2018/2/layout/IconVerticalSolidList"/>
    <dgm:cxn modelId="{A627A5A1-392C-43BA-8D5C-D216415C263A}" type="presOf" srcId="{A37EBFA9-3094-42BC-B231-2E5A9F83DFDC}" destId="{7E529F35-E355-4CF3-9DD8-E34EFC54AF3E}" srcOrd="0" destOrd="0" presId="urn:microsoft.com/office/officeart/2018/2/layout/IconVerticalSolidList"/>
    <dgm:cxn modelId="{619C05A9-835A-4C07-9FE3-30D4E36933BA}" srcId="{A37EBFA9-3094-42BC-B231-2E5A9F83DFDC}" destId="{B891EFDA-C5C4-4A1C-AC46-B7FE19AA4CCB}" srcOrd="0" destOrd="0" parTransId="{58B9E51A-C68B-4505-9E67-A5582D7A451A}" sibTransId="{277CE217-FB8C-4B30-A8A0-3D1FC944EC2B}"/>
    <dgm:cxn modelId="{2070DEB0-C752-4551-80D8-9FDD11DA8194}" type="presOf" srcId="{02C4CEDB-8D52-4CC1-872C-5B9620A5298E}" destId="{1DD7BBAD-A3B4-4C04-B2DC-B57F48C4443B}" srcOrd="0" destOrd="0" presId="urn:microsoft.com/office/officeart/2018/2/layout/IconVerticalSolidList"/>
    <dgm:cxn modelId="{8817CEF0-283E-4C26-B8E2-B06CE8D5692C}" srcId="{A37EBFA9-3094-42BC-B231-2E5A9F83DFDC}" destId="{E424E38A-81E0-48BC-9C1E-519476B43556}" srcOrd="1" destOrd="0" parTransId="{B93164BD-20D9-4D3B-B520-2F0C4F139AB7}" sibTransId="{CF12CFF9-C535-4C95-BF70-15B5DD2C983C}"/>
    <dgm:cxn modelId="{E124A7F1-AC98-443E-A3FD-55726F547D0B}" srcId="{02C4CEDB-8D52-4CC1-872C-5B9620A5298E}" destId="{A37EBFA9-3094-42BC-B231-2E5A9F83DFDC}" srcOrd="1" destOrd="0" parTransId="{BA1526A5-ABB2-4367-8863-F808135EDCE2}" sibTransId="{C07ABFBD-264D-4011-93C5-9A7DFD8EA83E}"/>
    <dgm:cxn modelId="{8D9272F4-5476-403F-9614-874B19D30038}" type="presOf" srcId="{B891EFDA-C5C4-4A1C-AC46-B7FE19AA4CCB}" destId="{1350ED24-653F-4095-90A3-08193DDD42F5}" srcOrd="0" destOrd="0" presId="urn:microsoft.com/office/officeart/2018/2/layout/IconVerticalSolidList"/>
    <dgm:cxn modelId="{B06529FF-EA70-48F8-BF89-9ADD1B5986B1}" type="presOf" srcId="{78A5A20E-632A-4C66-96EC-A2BA3B74FB7A}" destId="{27F4C016-951A-4B85-AE4A-1A1E04DA6578}" srcOrd="0" destOrd="1" presId="urn:microsoft.com/office/officeart/2018/2/layout/IconVerticalSolidList"/>
    <dgm:cxn modelId="{F5587189-E6BB-423D-9495-DD9ED99C5C65}" type="presParOf" srcId="{1DD7BBAD-A3B4-4C04-B2DC-B57F48C4443B}" destId="{C7DE3CD4-360B-4FD1-A219-E23654215290}" srcOrd="0" destOrd="0" presId="urn:microsoft.com/office/officeart/2018/2/layout/IconVerticalSolidList"/>
    <dgm:cxn modelId="{B2B3B34A-4EB6-43D7-A453-260FE7202B55}" type="presParOf" srcId="{C7DE3CD4-360B-4FD1-A219-E23654215290}" destId="{283184CE-5307-4D21-88E0-FEF6CCB03803}" srcOrd="0" destOrd="0" presId="urn:microsoft.com/office/officeart/2018/2/layout/IconVerticalSolidList"/>
    <dgm:cxn modelId="{CD9F220F-13B5-451C-ABC2-CEB8C29A4DF7}" type="presParOf" srcId="{C7DE3CD4-360B-4FD1-A219-E23654215290}" destId="{E0EC19B7-DFE4-4089-B1A4-54CF33B27043}" srcOrd="1" destOrd="0" presId="urn:microsoft.com/office/officeart/2018/2/layout/IconVerticalSolidList"/>
    <dgm:cxn modelId="{B1747D88-4EFF-4D26-8B9C-A66AD33B64FB}" type="presParOf" srcId="{C7DE3CD4-360B-4FD1-A219-E23654215290}" destId="{1233D661-BA98-424C-AB0D-9FBE697B4232}" srcOrd="2" destOrd="0" presId="urn:microsoft.com/office/officeart/2018/2/layout/IconVerticalSolidList"/>
    <dgm:cxn modelId="{22A56C52-C0EA-4EA0-91F2-492972B88E44}" type="presParOf" srcId="{C7DE3CD4-360B-4FD1-A219-E23654215290}" destId="{B11767DC-C685-4522-8A88-DA584E3143E7}" srcOrd="3" destOrd="0" presId="urn:microsoft.com/office/officeart/2018/2/layout/IconVerticalSolidList"/>
    <dgm:cxn modelId="{DEAA64B5-7774-40C7-B912-53DF90FD4BB2}" type="presParOf" srcId="{C7DE3CD4-360B-4FD1-A219-E23654215290}" destId="{27F4C016-951A-4B85-AE4A-1A1E04DA6578}" srcOrd="4" destOrd="0" presId="urn:microsoft.com/office/officeart/2018/2/layout/IconVerticalSolidList"/>
    <dgm:cxn modelId="{FEF5905C-CD0B-4288-84D8-CDF94063C7E7}" type="presParOf" srcId="{1DD7BBAD-A3B4-4C04-B2DC-B57F48C4443B}" destId="{39AAACCC-E767-4DA5-9334-86C8CC5B9811}" srcOrd="1" destOrd="0" presId="urn:microsoft.com/office/officeart/2018/2/layout/IconVerticalSolidList"/>
    <dgm:cxn modelId="{3146DBDD-D641-4A02-855A-869C66C9AA4D}" type="presParOf" srcId="{1DD7BBAD-A3B4-4C04-B2DC-B57F48C4443B}" destId="{BF1FA3CA-07F9-4131-A87B-7BB4B7B5BD25}" srcOrd="2" destOrd="0" presId="urn:microsoft.com/office/officeart/2018/2/layout/IconVerticalSolidList"/>
    <dgm:cxn modelId="{E2E8DFAC-5BC7-4DAA-B609-1B1622468927}" type="presParOf" srcId="{BF1FA3CA-07F9-4131-A87B-7BB4B7B5BD25}" destId="{683737E5-7A70-4712-BA01-3C5C7196D152}" srcOrd="0" destOrd="0" presId="urn:microsoft.com/office/officeart/2018/2/layout/IconVerticalSolidList"/>
    <dgm:cxn modelId="{C4C3B7ED-6C0D-4D59-B072-0C10C680129B}" type="presParOf" srcId="{BF1FA3CA-07F9-4131-A87B-7BB4B7B5BD25}" destId="{F0DBE640-6E1A-42E2-AB99-2382506DC326}" srcOrd="1" destOrd="0" presId="urn:microsoft.com/office/officeart/2018/2/layout/IconVerticalSolidList"/>
    <dgm:cxn modelId="{5B3ACC21-952D-403B-A7AD-279EB37468A6}" type="presParOf" srcId="{BF1FA3CA-07F9-4131-A87B-7BB4B7B5BD25}" destId="{79DE7017-D6BE-4305-B81D-3028C80B19D7}" srcOrd="2" destOrd="0" presId="urn:microsoft.com/office/officeart/2018/2/layout/IconVerticalSolidList"/>
    <dgm:cxn modelId="{9553D2FC-AEEA-4170-86B4-BE88D46B35C6}" type="presParOf" srcId="{BF1FA3CA-07F9-4131-A87B-7BB4B7B5BD25}" destId="{7E529F35-E355-4CF3-9DD8-E34EFC54AF3E}" srcOrd="3" destOrd="0" presId="urn:microsoft.com/office/officeart/2018/2/layout/IconVerticalSolidList"/>
    <dgm:cxn modelId="{2754ED1E-8335-497B-849F-CEC48571B684}" type="presParOf" srcId="{BF1FA3CA-07F9-4131-A87B-7BB4B7B5BD25}" destId="{1350ED24-653F-4095-90A3-08193DDD42F5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3184CE-5307-4D21-88E0-FEF6CCB03803}">
      <dsp:nvSpPr>
        <dsp:cNvPr id="0" name=""/>
        <dsp:cNvSpPr/>
      </dsp:nvSpPr>
      <dsp:spPr>
        <a:xfrm>
          <a:off x="0" y="381873"/>
          <a:ext cx="10267950" cy="128039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EC19B7-DFE4-4089-B1A4-54CF33B27043}">
      <dsp:nvSpPr>
        <dsp:cNvPr id="0" name=""/>
        <dsp:cNvSpPr/>
      </dsp:nvSpPr>
      <dsp:spPr>
        <a:xfrm>
          <a:off x="387320" y="669962"/>
          <a:ext cx="704218" cy="704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1767DC-C685-4522-8A88-DA584E3143E7}">
      <dsp:nvSpPr>
        <dsp:cNvPr id="0" name=""/>
        <dsp:cNvSpPr/>
      </dsp:nvSpPr>
      <dsp:spPr>
        <a:xfrm>
          <a:off x="1478859" y="381873"/>
          <a:ext cx="4620577" cy="1280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509" tIns="135509" rIns="135509" bIns="13550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/>
            <a:t>DDoS útok (Distributed of Service)</a:t>
          </a:r>
          <a:r>
            <a:rPr lang="cs-CZ" sz="1400" kern="1200"/>
            <a:t> - Spočívá v zahlcení cílového serveru nebo sítě obrovským množstvím požadavků, které přicházejí z mnoha různých zdrojů. Cílem je přetížit síť a znemožnit legitimním uživatelům přístup ke službám.</a:t>
          </a:r>
          <a:endParaRPr lang="en-US" sz="1400" kern="1200"/>
        </a:p>
      </dsp:txBody>
      <dsp:txXfrm>
        <a:off x="1478859" y="381873"/>
        <a:ext cx="4620577" cy="1280398"/>
      </dsp:txXfrm>
    </dsp:sp>
    <dsp:sp modelId="{27F4C016-951A-4B85-AE4A-1A1E04DA6578}">
      <dsp:nvSpPr>
        <dsp:cNvPr id="0" name=""/>
        <dsp:cNvSpPr/>
      </dsp:nvSpPr>
      <dsp:spPr>
        <a:xfrm>
          <a:off x="6099437" y="381873"/>
          <a:ext cx="4168512" cy="1280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509" tIns="135509" rIns="135509" bIns="135509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100" b="1" kern="1200"/>
            <a:t>Příklad:</a:t>
          </a:r>
          <a:r>
            <a:rPr lang="cs-CZ" sz="1100" kern="1200"/>
            <a:t> Útok na webovou stránku, která se stane nedostupnou kvůli přetížení.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100" b="1" kern="1200"/>
            <a:t>Prevence: </a:t>
          </a:r>
          <a:r>
            <a:rPr lang="cs-CZ" sz="1100" kern="1200"/>
            <a:t>Použití anti-DDoS systémů, filtrování IP adres a monitorování provozu.</a:t>
          </a:r>
          <a:endParaRPr lang="en-US" sz="1100" kern="1200"/>
        </a:p>
      </dsp:txBody>
      <dsp:txXfrm>
        <a:off x="6099437" y="381873"/>
        <a:ext cx="4168512" cy="1280398"/>
      </dsp:txXfrm>
    </dsp:sp>
    <dsp:sp modelId="{683737E5-7A70-4712-BA01-3C5C7196D152}">
      <dsp:nvSpPr>
        <dsp:cNvPr id="0" name=""/>
        <dsp:cNvSpPr/>
      </dsp:nvSpPr>
      <dsp:spPr>
        <a:xfrm>
          <a:off x="0" y="1931828"/>
          <a:ext cx="10267950" cy="128039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DBE640-6E1A-42E2-AB99-2382506DC326}">
      <dsp:nvSpPr>
        <dsp:cNvPr id="0" name=""/>
        <dsp:cNvSpPr/>
      </dsp:nvSpPr>
      <dsp:spPr>
        <a:xfrm>
          <a:off x="387320" y="2219918"/>
          <a:ext cx="704218" cy="704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529F35-E355-4CF3-9DD8-E34EFC54AF3E}">
      <dsp:nvSpPr>
        <dsp:cNvPr id="0" name=""/>
        <dsp:cNvSpPr/>
      </dsp:nvSpPr>
      <dsp:spPr>
        <a:xfrm>
          <a:off x="1478859" y="1931828"/>
          <a:ext cx="4620577" cy="1280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509" tIns="135509" rIns="135509" bIns="13550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/>
            <a:t>Phishing </a:t>
          </a:r>
          <a:r>
            <a:rPr lang="cs-CZ" sz="1400" kern="1200"/>
            <a:t>– je technika sociálního inženýrství, při které útočníci oklamou uživatele, aby prozradili citlivé informace, jako jsou hesla nebo finanční údaje. Nejčastěji se provádí prostřednictvím falešných e-mailů nebo webových stránek.</a:t>
          </a:r>
          <a:endParaRPr lang="en-US" sz="1400" kern="1200"/>
        </a:p>
      </dsp:txBody>
      <dsp:txXfrm>
        <a:off x="1478859" y="1931828"/>
        <a:ext cx="4620577" cy="1280398"/>
      </dsp:txXfrm>
    </dsp:sp>
    <dsp:sp modelId="{325B2751-B00D-456B-9E51-4E1D41EB6A91}">
      <dsp:nvSpPr>
        <dsp:cNvPr id="0" name=""/>
        <dsp:cNvSpPr/>
      </dsp:nvSpPr>
      <dsp:spPr>
        <a:xfrm>
          <a:off x="6099437" y="1931828"/>
          <a:ext cx="4168512" cy="1280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509" tIns="135509" rIns="135509" bIns="135509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100" b="1" kern="1200"/>
            <a:t>Příklad:</a:t>
          </a:r>
          <a:r>
            <a:rPr lang="cs-CZ" sz="1100" kern="1200"/>
            <a:t> E-mail vydávající se za banku, který žádá uživatele o přihlášení k účtu přes podvržený odkaz.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100" b="1" kern="1200"/>
            <a:t>Prevence:</a:t>
          </a:r>
          <a:r>
            <a:rPr lang="cs-CZ" sz="1100" kern="1200"/>
            <a:t> Vzdělávání uživatelů, nasazení antiphishingových nástrojů a ověřování legitimity komunikace.</a:t>
          </a:r>
          <a:endParaRPr lang="en-US" sz="1100" kern="1200"/>
        </a:p>
      </dsp:txBody>
      <dsp:txXfrm>
        <a:off x="6099437" y="1931828"/>
        <a:ext cx="4168512" cy="12803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3184CE-5307-4D21-88E0-FEF6CCB03803}">
      <dsp:nvSpPr>
        <dsp:cNvPr id="0" name=""/>
        <dsp:cNvSpPr/>
      </dsp:nvSpPr>
      <dsp:spPr>
        <a:xfrm>
          <a:off x="0" y="280789"/>
          <a:ext cx="10267950" cy="13814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EC19B7-DFE4-4089-B1A4-54CF33B27043}">
      <dsp:nvSpPr>
        <dsp:cNvPr id="0" name=""/>
        <dsp:cNvSpPr/>
      </dsp:nvSpPr>
      <dsp:spPr>
        <a:xfrm>
          <a:off x="417898" y="591622"/>
          <a:ext cx="759815" cy="759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1767DC-C685-4522-8A88-DA584E3143E7}">
      <dsp:nvSpPr>
        <dsp:cNvPr id="0" name=""/>
        <dsp:cNvSpPr/>
      </dsp:nvSpPr>
      <dsp:spPr>
        <a:xfrm>
          <a:off x="1595611" y="280789"/>
          <a:ext cx="4620577" cy="1381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207" tIns="146207" rIns="146207" bIns="146207" numCol="1" spcCol="1270" anchor="ctr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>
              <a:solidFill>
                <a:srgbClr val="000000"/>
              </a:solidFill>
              <a:latin typeface="Aptos"/>
            </a:rPr>
            <a:t>Man-in-the-middle útok (MITM)</a:t>
          </a:r>
          <a:r>
            <a:rPr lang="cs-CZ" sz="1400" kern="1200">
              <a:solidFill>
                <a:srgbClr val="000000"/>
              </a:solidFill>
              <a:latin typeface="Aptos"/>
            </a:rPr>
            <a:t> Při MITM útoku se útočník umístí mezi dvě komunikující strany, aby zachytil, upravil nebo odposlouchával přenášená data. Tento útok často probíhá na nezabezpečených Wi-Fi sítích.</a:t>
          </a:r>
          <a:endParaRPr lang="en-US" sz="1400" kern="1200">
            <a:solidFill>
              <a:srgbClr val="000000"/>
            </a:solidFill>
            <a:latin typeface="Aptos"/>
          </a:endParaRPr>
        </a:p>
      </dsp:txBody>
      <dsp:txXfrm>
        <a:off x="1595611" y="280789"/>
        <a:ext cx="4620577" cy="1381482"/>
      </dsp:txXfrm>
    </dsp:sp>
    <dsp:sp modelId="{27F4C016-951A-4B85-AE4A-1A1E04DA6578}">
      <dsp:nvSpPr>
        <dsp:cNvPr id="0" name=""/>
        <dsp:cNvSpPr/>
      </dsp:nvSpPr>
      <dsp:spPr>
        <a:xfrm>
          <a:off x="6216189" y="280789"/>
          <a:ext cx="4051760" cy="1381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207" tIns="146207" rIns="146207" bIns="14620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100" b="1" kern="1200">
              <a:solidFill>
                <a:srgbClr val="000000"/>
              </a:solidFill>
              <a:latin typeface="Aptos"/>
            </a:rPr>
            <a:t>Příklad:</a:t>
          </a:r>
          <a:r>
            <a:rPr lang="cs-CZ" sz="1100" kern="1200">
              <a:solidFill>
                <a:srgbClr val="000000"/>
              </a:solidFill>
              <a:latin typeface="Aptos"/>
            </a:rPr>
            <a:t> Útočník odposlouchávající online transakci mezi </a:t>
          </a:r>
          <a:r>
            <a:rPr lang="cs-CZ" sz="1100" b="0" kern="1200">
              <a:solidFill>
                <a:srgbClr val="000000"/>
              </a:solidFill>
              <a:latin typeface="Aptos"/>
            </a:rPr>
            <a:t>uživatelem a </a:t>
          </a:r>
          <a:r>
            <a:rPr lang="cs-CZ" sz="1100" kern="1200">
              <a:solidFill>
                <a:srgbClr val="000000"/>
              </a:solidFill>
              <a:latin typeface="Aptos"/>
            </a:rPr>
            <a:t>bankou.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100" b="1" kern="1200">
              <a:solidFill>
                <a:srgbClr val="000000"/>
              </a:solidFill>
              <a:latin typeface="Aptos"/>
            </a:rPr>
            <a:t>Prevence: </a:t>
          </a:r>
          <a:r>
            <a:rPr lang="cs-CZ" sz="1100" kern="1200">
              <a:solidFill>
                <a:srgbClr val="000000"/>
              </a:solidFill>
              <a:latin typeface="Aptos"/>
            </a:rPr>
            <a:t>Používání šifrovaných protokolů (např. HTTPS) a VPN.</a:t>
          </a:r>
          <a:endParaRPr lang="en-US" sz="1100" kern="1200">
            <a:solidFill>
              <a:srgbClr val="000000"/>
            </a:solidFill>
            <a:latin typeface="Aptos"/>
          </a:endParaRPr>
        </a:p>
      </dsp:txBody>
      <dsp:txXfrm>
        <a:off x="6216189" y="280789"/>
        <a:ext cx="4051760" cy="1381482"/>
      </dsp:txXfrm>
    </dsp:sp>
    <dsp:sp modelId="{683737E5-7A70-4712-BA01-3C5C7196D152}">
      <dsp:nvSpPr>
        <dsp:cNvPr id="0" name=""/>
        <dsp:cNvSpPr/>
      </dsp:nvSpPr>
      <dsp:spPr>
        <a:xfrm>
          <a:off x="0" y="1931828"/>
          <a:ext cx="10267950" cy="13814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DBE640-6E1A-42E2-AB99-2382506DC326}">
      <dsp:nvSpPr>
        <dsp:cNvPr id="0" name=""/>
        <dsp:cNvSpPr/>
      </dsp:nvSpPr>
      <dsp:spPr>
        <a:xfrm>
          <a:off x="417898" y="2242662"/>
          <a:ext cx="759815" cy="759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529F35-E355-4CF3-9DD8-E34EFC54AF3E}">
      <dsp:nvSpPr>
        <dsp:cNvPr id="0" name=""/>
        <dsp:cNvSpPr/>
      </dsp:nvSpPr>
      <dsp:spPr>
        <a:xfrm>
          <a:off x="1595611" y="1931828"/>
          <a:ext cx="4620577" cy="1381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207" tIns="146207" rIns="146207" bIns="14620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>
              <a:solidFill>
                <a:srgbClr val="000000"/>
              </a:solidFill>
              <a:latin typeface="Aptos"/>
            </a:rPr>
            <a:t>SQL injekce</a:t>
          </a:r>
          <a:r>
            <a:rPr lang="cs-CZ" sz="1400" kern="1200">
              <a:solidFill>
                <a:srgbClr val="000000"/>
              </a:solidFill>
              <a:latin typeface="Aptos"/>
            </a:rPr>
            <a:t> SQL injekce je technika útoku na databáze, při které útočník vloží škodlivý SQL kód do vstupního pole webové aplikace. Cílem je získat přístup k datům nebo je manipulovat.</a:t>
          </a:r>
        </a:p>
      </dsp:txBody>
      <dsp:txXfrm>
        <a:off x="1595611" y="1931828"/>
        <a:ext cx="4620577" cy="1381482"/>
      </dsp:txXfrm>
    </dsp:sp>
    <dsp:sp modelId="{1350ED24-653F-4095-90A3-08193DDD42F5}">
      <dsp:nvSpPr>
        <dsp:cNvPr id="0" name=""/>
        <dsp:cNvSpPr/>
      </dsp:nvSpPr>
      <dsp:spPr>
        <a:xfrm>
          <a:off x="6216189" y="1931828"/>
          <a:ext cx="4051760" cy="1381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207" tIns="146207" rIns="146207" bIns="146207" numCol="1" spcCol="1270" anchor="ctr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100" b="1" kern="1200">
              <a:solidFill>
                <a:srgbClr val="000000"/>
              </a:solidFill>
              <a:latin typeface="Aptos"/>
            </a:rPr>
            <a:t>Příklad:</a:t>
          </a:r>
          <a:r>
            <a:rPr lang="cs-CZ" sz="1100" kern="1200">
              <a:solidFill>
                <a:srgbClr val="000000"/>
              </a:solidFill>
              <a:latin typeface="Aptos"/>
            </a:rPr>
            <a:t> Útočník získá seznam uživatelských hesel díky zranitelnosti v přihlašovacím formuláři</a:t>
          </a:r>
          <a:endParaRPr lang="en-US" sz="1100" kern="1200">
            <a:solidFill>
              <a:srgbClr val="000000"/>
            </a:solidFill>
            <a:latin typeface="Aptos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100" b="1" kern="1200">
              <a:solidFill>
                <a:srgbClr val="000000"/>
              </a:solidFill>
              <a:latin typeface="Aptos"/>
            </a:rPr>
            <a:t>Prevence:</a:t>
          </a:r>
          <a:r>
            <a:rPr lang="cs-CZ" sz="1100" kern="1200">
              <a:solidFill>
                <a:srgbClr val="000000"/>
              </a:solidFill>
              <a:latin typeface="Aptos"/>
            </a:rPr>
            <a:t> Validace vstupů, používání připravených dotazů (</a:t>
          </a:r>
          <a:r>
            <a:rPr lang="cs-CZ" sz="1100" kern="1200" err="1">
              <a:solidFill>
                <a:srgbClr val="000000"/>
              </a:solidFill>
              <a:latin typeface="Aptos"/>
            </a:rPr>
            <a:t>prepared</a:t>
          </a:r>
          <a:r>
            <a:rPr lang="cs-CZ" sz="1100" kern="1200">
              <a:solidFill>
                <a:srgbClr val="000000"/>
              </a:solidFill>
              <a:latin typeface="Aptos"/>
            </a:rPr>
            <a:t> </a:t>
          </a:r>
          <a:r>
            <a:rPr lang="cs-CZ" sz="1100" kern="1200" err="1">
              <a:solidFill>
                <a:srgbClr val="000000"/>
              </a:solidFill>
              <a:latin typeface="Aptos"/>
            </a:rPr>
            <a:t>statements</a:t>
          </a:r>
          <a:r>
            <a:rPr lang="cs-CZ" sz="1100" kern="1200">
              <a:solidFill>
                <a:srgbClr val="000000"/>
              </a:solidFill>
              <a:latin typeface="Aptos"/>
            </a:rPr>
            <a:t>) a pravidelné testování zranitelností.</a:t>
          </a:r>
          <a:endParaRPr lang="en-US" sz="1100" kern="1200">
            <a:solidFill>
              <a:srgbClr val="000000"/>
            </a:solidFill>
            <a:latin typeface="Aptos"/>
          </a:endParaRPr>
        </a:p>
      </dsp:txBody>
      <dsp:txXfrm>
        <a:off x="6216189" y="1931828"/>
        <a:ext cx="4051760" cy="1381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8/28/2026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597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193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8/28/2026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6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8/28/2026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73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8/28/2026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92836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8/28/2026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342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61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8/28/2026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227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8/28/2026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797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62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23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8/28/2026</a:t>
            </a:fld>
            <a:endParaRPr lang="en-US" spc="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46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/>
              <a:t>Síťové prostředky kybernetické bezpečnosti</a:t>
            </a: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C3E344-AEEF-1F64-1560-BEAA69D1F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876382" cy="1700784"/>
          </a:xfrm>
        </p:spPr>
        <p:txBody>
          <a:bodyPr>
            <a:normAutofit fontScale="90000"/>
          </a:bodyPr>
          <a:lstStyle/>
          <a:p>
            <a:r>
              <a:rPr lang="cs-CZ"/>
              <a:t>Struktura a služby poskytované počítačovou sítí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65519C2-D3D3-7CAB-8A69-10382B99B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14" y="2635979"/>
            <a:ext cx="11397242" cy="3989060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cs-CZ" b="1">
                <a:ea typeface="+mn-lt"/>
                <a:cs typeface="+mn-lt"/>
              </a:rPr>
              <a:t>Co je počítačová síť?</a:t>
            </a:r>
            <a:endParaRPr lang="cs-CZ"/>
          </a:p>
          <a:p>
            <a:r>
              <a:rPr lang="cs-CZ" sz="2100">
                <a:ea typeface="+mn-lt"/>
                <a:cs typeface="+mn-lt"/>
              </a:rPr>
              <a:t>Propojení zařízení pro sdílení dat a zdrojů (např. internet).</a:t>
            </a:r>
            <a:endParaRPr lang="cs-CZ" sz="2100"/>
          </a:p>
          <a:p>
            <a:r>
              <a:rPr lang="cs-CZ" b="1">
                <a:ea typeface="+mn-lt"/>
                <a:cs typeface="+mn-lt"/>
              </a:rPr>
              <a:t>Typy sítí:</a:t>
            </a:r>
            <a:endParaRPr lang="cs-CZ"/>
          </a:p>
          <a:p>
            <a:r>
              <a:rPr lang="cs-CZ" sz="1600" b="1">
                <a:ea typeface="+mn-lt"/>
                <a:cs typeface="+mn-lt"/>
              </a:rPr>
              <a:t>LAN:</a:t>
            </a:r>
            <a:r>
              <a:rPr lang="cs-CZ" sz="1600">
                <a:ea typeface="+mn-lt"/>
                <a:cs typeface="+mn-lt"/>
              </a:rPr>
              <a:t> Místní sítě (kanceláře).</a:t>
            </a:r>
            <a:endParaRPr lang="cs-CZ" sz="1600"/>
          </a:p>
          <a:p>
            <a:r>
              <a:rPr lang="cs-CZ" sz="1600" b="1">
                <a:ea typeface="+mn-lt"/>
                <a:cs typeface="+mn-lt"/>
              </a:rPr>
              <a:t>WAN:</a:t>
            </a:r>
            <a:r>
              <a:rPr lang="cs-CZ" sz="1600">
                <a:ea typeface="+mn-lt"/>
                <a:cs typeface="+mn-lt"/>
              </a:rPr>
              <a:t> Široká oblast (internet).</a:t>
            </a:r>
            <a:endParaRPr lang="cs-CZ" sz="1600"/>
          </a:p>
          <a:p>
            <a:r>
              <a:rPr lang="cs-CZ" sz="1600" b="1">
                <a:ea typeface="+mn-lt"/>
                <a:cs typeface="+mn-lt"/>
              </a:rPr>
              <a:t>VPN:</a:t>
            </a:r>
            <a:r>
              <a:rPr lang="cs-CZ" sz="1600">
                <a:ea typeface="+mn-lt"/>
                <a:cs typeface="+mn-lt"/>
              </a:rPr>
              <a:t> Bezpečné virtuální připojení.</a:t>
            </a:r>
            <a:endParaRPr lang="cs-CZ" sz="1600"/>
          </a:p>
          <a:p>
            <a:r>
              <a:rPr lang="cs-CZ" b="1">
                <a:ea typeface="+mn-lt"/>
                <a:cs typeface="+mn-lt"/>
              </a:rPr>
              <a:t>Základní komponenty:</a:t>
            </a:r>
            <a:endParaRPr lang="cs-CZ"/>
          </a:p>
          <a:p>
            <a:r>
              <a:rPr lang="cs-CZ" sz="1600" b="1">
                <a:ea typeface="+mn-lt"/>
                <a:cs typeface="+mn-lt"/>
              </a:rPr>
              <a:t>Klienty a servery:</a:t>
            </a:r>
            <a:r>
              <a:rPr lang="cs-CZ" sz="1600">
                <a:ea typeface="+mn-lt"/>
                <a:cs typeface="+mn-lt"/>
              </a:rPr>
              <a:t> Klient žádá, server poskytuje služby.</a:t>
            </a:r>
            <a:endParaRPr lang="cs-CZ" sz="1600"/>
          </a:p>
          <a:p>
            <a:r>
              <a:rPr lang="cs-CZ" sz="1600" b="1">
                <a:ea typeface="+mn-lt"/>
                <a:cs typeface="+mn-lt"/>
              </a:rPr>
              <a:t>Síťová zařízení:</a:t>
            </a:r>
            <a:r>
              <a:rPr lang="cs-CZ" sz="1600">
                <a:ea typeface="+mn-lt"/>
                <a:cs typeface="+mn-lt"/>
              </a:rPr>
              <a:t> Routery, switche, přístupové body.</a:t>
            </a:r>
            <a:endParaRPr lang="cs-CZ" sz="1600"/>
          </a:p>
          <a:p>
            <a:r>
              <a:rPr lang="cs-CZ" sz="1600" b="1">
                <a:ea typeface="+mn-lt"/>
                <a:cs typeface="+mn-lt"/>
              </a:rPr>
              <a:t>Protokoly:</a:t>
            </a:r>
            <a:r>
              <a:rPr lang="cs-CZ" sz="1600">
                <a:ea typeface="+mn-lt"/>
                <a:cs typeface="+mn-lt"/>
              </a:rPr>
              <a:t> TCP/IP, HTTP, FTP.</a:t>
            </a:r>
            <a:endParaRPr lang="cs-CZ" sz="1600"/>
          </a:p>
          <a:p>
            <a:r>
              <a:rPr lang="cs-CZ" sz="1600" b="1">
                <a:ea typeface="+mn-lt"/>
                <a:cs typeface="+mn-lt"/>
              </a:rPr>
              <a:t>Přenosové médium:</a:t>
            </a:r>
            <a:r>
              <a:rPr lang="cs-CZ" sz="1600">
                <a:ea typeface="+mn-lt"/>
                <a:cs typeface="+mn-lt"/>
              </a:rPr>
              <a:t> Kabelové (optika) a bezdrátové (Wi-Fi).</a:t>
            </a:r>
            <a:endParaRPr lang="cs-CZ" sz="1600"/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10152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6DC9BD-F1F0-A454-FC7E-CC4EE660F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Služby poskytované počítačovou sítí</a:t>
            </a:r>
            <a:endParaRPr lang="en-DE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0E6B50-8832-80A9-3EDE-89F00C6C1B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0327" y="2497350"/>
            <a:ext cx="6204199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Sdílení</a:t>
            </a:r>
            <a:r>
              <a:rPr kumimoji="0" lang="en-DE" altLang="en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DE" altLang="en-DE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</a:t>
            </a:r>
            <a:r>
              <a:rPr kumimoji="0" lang="en-DE" altLang="en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DE" altLang="en-DE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zdrojů</a:t>
            </a:r>
            <a:r>
              <a:rPr kumimoji="0" lang="en-DE" altLang="en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DE" altLang="en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Sdílení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DE" altLang="en-DE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souborů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DE" altLang="en-DE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tiskáren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DE" altLang="en-DE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diskových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DE" altLang="en-DE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úložišť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cs-CZ" altLang="en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DE" altLang="en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Komunikace</a:t>
            </a:r>
            <a:r>
              <a:rPr kumimoji="0" lang="en-DE" altLang="en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DE" altLang="en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E-mail, VoIP (</a:t>
            </a:r>
            <a:r>
              <a:rPr kumimoji="0" lang="en-DE" altLang="en-DE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např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Skype), </a:t>
            </a:r>
            <a:r>
              <a:rPr kumimoji="0" lang="en-DE" altLang="en-DE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videokonference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DE" altLang="en-DE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např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Zoom).</a:t>
            </a:r>
            <a:endParaRPr kumimoji="0" lang="cs-CZ" altLang="en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DE" altLang="en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Přístup</a:t>
            </a:r>
            <a:r>
              <a:rPr kumimoji="0" lang="en-DE" altLang="en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 </a:t>
            </a:r>
            <a:r>
              <a:rPr kumimoji="0" lang="en-DE" altLang="en-DE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internetu</a:t>
            </a:r>
            <a:r>
              <a:rPr kumimoji="0" lang="en-DE" altLang="en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DE" altLang="en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Prohlížení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DE" altLang="en-DE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webových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DE" altLang="en-DE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stránek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online </a:t>
            </a:r>
            <a:r>
              <a:rPr kumimoji="0" lang="en-DE" altLang="en-DE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služby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cs-CZ" altLang="en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DE" altLang="en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Správa</a:t>
            </a:r>
            <a:r>
              <a:rPr kumimoji="0" lang="en-DE" altLang="en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DE" altLang="en-DE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podnikových</a:t>
            </a:r>
            <a:r>
              <a:rPr kumimoji="0" lang="en-DE" altLang="en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DE" altLang="en-DE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systémů</a:t>
            </a:r>
            <a:r>
              <a:rPr kumimoji="0" lang="en-DE" altLang="en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DE" altLang="en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Centrální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DE" altLang="en-DE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správa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DE" altLang="en-DE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DE" altLang="en-DE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aplikací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cs-CZ" altLang="en-D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DE" altLang="en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Cloudové</a:t>
            </a:r>
            <a:r>
              <a:rPr kumimoji="0" lang="en-DE" altLang="en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DE" altLang="en-DE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služby</a:t>
            </a:r>
            <a:r>
              <a:rPr kumimoji="0" lang="en-DE" altLang="en-DE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DE" altLang="en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Úložiště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(Google Drive, Dropbox), </a:t>
            </a:r>
            <a:r>
              <a:rPr kumimoji="0" lang="en-DE" altLang="en-DE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výpočetní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DE" altLang="en-DE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výkon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(AWS, Azure).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altLang="en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860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7E8B69-87FA-07FF-2558-C10A49F59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Význam bezpečnosti v počítačových sítích</a:t>
            </a:r>
            <a:endParaRPr lang="en-DE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45EDA7-27EA-1F62-8B4E-8B88337845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7080" y="2871048"/>
            <a:ext cx="7109559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Ochrana</a:t>
            </a:r>
            <a:r>
              <a:rPr kumimoji="0" lang="en-DE" altLang="en-DE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DE" altLang="en-DE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</a:t>
            </a:r>
            <a:r>
              <a:rPr kumimoji="0" lang="en-DE" altLang="en-DE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DE" altLang="en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Šifrování</a:t>
            </a:r>
            <a:r>
              <a:rPr kumimoji="0" lang="en-DE" altLang="en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DE" altLang="en-DE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autentizace</a:t>
            </a:r>
            <a:r>
              <a:rPr kumimoji="0" lang="en-DE" altLang="en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DE" altLang="en-DE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antivirové</a:t>
            </a:r>
            <a:r>
              <a:rPr kumimoji="0" lang="en-DE" altLang="en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DE" altLang="en-DE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systémy</a:t>
            </a:r>
            <a:r>
              <a:rPr kumimoji="0" lang="en-DE" altLang="en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cs-CZ" altLang="en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DE" altLang="en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Řízení</a:t>
            </a:r>
            <a:r>
              <a:rPr kumimoji="0" lang="en-DE" altLang="en-DE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DE" altLang="en-DE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přístupu</a:t>
            </a:r>
            <a:r>
              <a:rPr kumimoji="0" lang="en-DE" altLang="en-DE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DE" altLang="en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Firewall, VPN, </a:t>
            </a:r>
            <a:r>
              <a:rPr kumimoji="0" lang="en-DE" altLang="en-DE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řízení</a:t>
            </a:r>
            <a:r>
              <a:rPr kumimoji="0" lang="en-DE" altLang="en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DE" altLang="en-DE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oprávnění</a:t>
            </a:r>
            <a:r>
              <a:rPr kumimoji="0" lang="en-DE" altLang="en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cs-CZ" altLang="en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DE" altLang="en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Prevence</a:t>
            </a:r>
            <a:r>
              <a:rPr kumimoji="0" lang="en-DE" altLang="en-DE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DE" altLang="en-DE" sz="24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kyberútoků</a:t>
            </a:r>
            <a:r>
              <a:rPr kumimoji="0" lang="en-DE" altLang="en-DE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DE" altLang="en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Detekce</a:t>
            </a:r>
            <a:r>
              <a:rPr kumimoji="0" lang="en-DE" altLang="en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DE" altLang="en-DE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narušení</a:t>
            </a:r>
            <a:r>
              <a:rPr kumimoji="0" lang="en-DE" altLang="en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DE" altLang="en-DE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pravidelné</a:t>
            </a:r>
            <a:r>
              <a:rPr kumimoji="0" lang="en-DE" altLang="en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DE" altLang="en-DE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aktualizace</a:t>
            </a:r>
            <a:r>
              <a:rPr kumimoji="0" lang="en-DE" altLang="en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DE" altLang="en-DE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softwaru</a:t>
            </a:r>
            <a:r>
              <a:rPr kumimoji="0" lang="en-DE" altLang="en-DE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altLang="en-DE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364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B8E2B4-DBDF-66F7-5B21-BA67DFAD4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741" y="633046"/>
            <a:ext cx="10920374" cy="1314996"/>
          </a:xfrm>
        </p:spPr>
        <p:txBody>
          <a:bodyPr anchor="b">
            <a:normAutofit fontScale="90000"/>
          </a:bodyPr>
          <a:lstStyle/>
          <a:p>
            <a:r>
              <a:rPr lang="cs-CZ">
                <a:solidFill>
                  <a:schemeClr val="bg1"/>
                </a:solidFill>
              </a:rPr>
              <a:t>Fyzické zabezpečení počítačové sítě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377D85C-8C70-A203-EAB9-14FD55F74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55" y="2270421"/>
            <a:ext cx="7341868" cy="371651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z="1800" b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Co je fyzické zabezpečení?</a:t>
            </a:r>
            <a:endParaRPr lang="cs-CZ" sz="18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Ochrana hardwaru, sítí a dat před fyzickým narušením.</a:t>
            </a:r>
            <a:endParaRPr lang="cs-CZ" sz="16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sz="1800" b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Cíle fyzického zabezpečení:</a:t>
            </a:r>
            <a:endParaRPr lang="cs-CZ" sz="18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Prevence neoprávněného přístupu.</a:t>
            </a:r>
            <a:endParaRPr lang="cs-CZ" sz="16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Ochrana zařízení před poškozením nebo krádeží.</a:t>
            </a:r>
            <a:endParaRPr lang="cs-CZ" sz="16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sz="1800" b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Hrozby: </a:t>
            </a:r>
            <a:r>
              <a:rPr lang="cs-CZ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Krádež zařízení. Sabotáž. Přírodní katastrofy (požáry, povodně).</a:t>
            </a:r>
            <a:endParaRPr lang="cs-CZ" sz="16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sz="1800" b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Proč je důležité?</a:t>
            </a:r>
          </a:p>
          <a:p>
            <a:r>
              <a:rPr lang="cs-CZ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Bez fyzické ochrany může být ohrožena i nejlépe chráněná síť.</a:t>
            </a:r>
            <a:endParaRPr lang="cs-CZ" sz="16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sz="1800" b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Role fyzické ochrany:</a:t>
            </a:r>
          </a:p>
          <a:p>
            <a:r>
              <a:rPr lang="cs-CZ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Základní vrstva v celkovém zabezpečení IT.</a:t>
            </a:r>
            <a:endParaRPr lang="cs-CZ" sz="16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cs-CZ" sz="1300">
              <a:solidFill>
                <a:schemeClr val="bg1"/>
              </a:solidFill>
            </a:endParaRPr>
          </a:p>
        </p:txBody>
      </p:sp>
      <p:pic>
        <p:nvPicPr>
          <p:cNvPr id="5" name="Obrázek 4" descr="Fyzická bezpečnost IT infrastruktury - Datalevel">
            <a:extLst>
              <a:ext uri="{FF2B5EF4-FFF2-40B4-BE49-F238E27FC236}">
                <a16:creationId xmlns:a16="http://schemas.microsoft.com/office/drawing/2014/main" id="{CEB52F89-F9E8-ED7A-0915-B6587F10A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890" y="2483084"/>
            <a:ext cx="3658056" cy="373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958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FBA42E-E703-DE94-09EC-8CCDB6E1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1854" y="633046"/>
            <a:ext cx="4834021" cy="1314996"/>
          </a:xfrm>
        </p:spPr>
        <p:txBody>
          <a:bodyPr anchor="b">
            <a:normAutofit/>
          </a:bodyPr>
          <a:lstStyle/>
          <a:p>
            <a:r>
              <a:rPr lang="cs-CZ" sz="3400" b="1">
                <a:solidFill>
                  <a:schemeClr val="bg1"/>
                </a:solidFill>
                <a:latin typeface="Aptos"/>
              </a:rPr>
              <a:t>Hlavní metody fyzického zabezpečení</a:t>
            </a:r>
            <a:endParaRPr lang="cs-CZ" sz="3400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49B607-4DBD-F2A4-BA0F-0D2952961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728" y="1942472"/>
            <a:ext cx="6300147" cy="403481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cs-CZ" sz="1600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sz="1800" b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Omezení přístupu:</a:t>
            </a:r>
            <a:endParaRPr lang="cs-CZ" sz="18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cs-CZ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Použití zámků, přístupových karet nebo biometrických čteček.</a:t>
            </a:r>
            <a:endParaRPr lang="cs-CZ" sz="16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sz="1800" b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Monitorování:</a:t>
            </a:r>
            <a:endParaRPr lang="cs-CZ" sz="18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cs-CZ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Kamerové systémy, pohybové senzory, alarmy.</a:t>
            </a:r>
            <a:endParaRPr lang="cs-CZ" sz="16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sz="1800" b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Zálohování napájení:</a:t>
            </a:r>
            <a:endParaRPr lang="cs-CZ" sz="18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cs-CZ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Záložní generátory, UPS (nepřerušitelné zdroje napájení).</a:t>
            </a:r>
            <a:endParaRPr lang="cs-CZ" sz="16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sz="1800" b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Protipožární ochrana:</a:t>
            </a:r>
            <a:endParaRPr lang="cs-CZ" sz="18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cs-CZ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Kouřové detektory, hasicí systémy.</a:t>
            </a:r>
            <a:endParaRPr lang="cs-CZ" sz="16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sz="1800" b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Bezpečná lokalizace:</a:t>
            </a:r>
            <a:endParaRPr lang="cs-CZ" sz="18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cs-CZ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Umístění zařízení v chráněných prostorách, například v serverovnách.</a:t>
            </a:r>
            <a:endParaRPr lang="cs-CZ" sz="16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cs-CZ" sz="16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cs-CZ" sz="1600">
              <a:solidFill>
                <a:schemeClr val="bg1"/>
              </a:solidFill>
            </a:endParaRPr>
          </a:p>
        </p:txBody>
      </p:sp>
      <p:pic>
        <p:nvPicPr>
          <p:cNvPr id="4" name="Obrázek 3" descr="Kybernetická bezpečnost průmyslových počítačů v automatizaci: Ochrana  kritických systémů - ElektroPrůmysl.cz">
            <a:extLst>
              <a:ext uri="{FF2B5EF4-FFF2-40B4-BE49-F238E27FC236}">
                <a16:creationId xmlns:a16="http://schemas.microsoft.com/office/drawing/2014/main" id="{AC25D5F9-E5C5-DDFC-9D60-6247FAA40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473" y="2829349"/>
            <a:ext cx="4072815" cy="24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241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FFD1842-C95F-750F-3639-5D5E6B7AE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310" y="459426"/>
            <a:ext cx="6261565" cy="1488616"/>
          </a:xfrm>
        </p:spPr>
        <p:txBody>
          <a:bodyPr anchor="b">
            <a:normAutofit/>
          </a:bodyPr>
          <a:lstStyle/>
          <a:p>
            <a:r>
              <a:rPr lang="cs-CZ" sz="3400" b="1">
                <a:solidFill>
                  <a:schemeClr val="bg1"/>
                </a:solidFill>
                <a:latin typeface="Aptos"/>
                <a:ea typeface="+mj-lt"/>
                <a:cs typeface="+mj-lt"/>
              </a:rPr>
              <a:t>Další důležité aspekty fyzického zabezpečení</a:t>
            </a:r>
            <a:endParaRPr lang="cs-CZ" sz="3400" b="1">
              <a:solidFill>
                <a:schemeClr val="bg1"/>
              </a:solidFill>
              <a:latin typeface="Apto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6A7D6E2-AFDF-5B6A-BEA4-A0CD439C9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46" y="2376522"/>
            <a:ext cx="6338729" cy="408304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cs-CZ" sz="1800" b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Školení personálu:</a:t>
            </a:r>
            <a:endParaRPr lang="cs-CZ" sz="18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Zaměstnanci by měli rozumět zásadám fyzického zabezpečení.</a:t>
            </a:r>
            <a:endParaRPr lang="cs-CZ" sz="16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sz="1800" b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Kontrola přístupu:</a:t>
            </a:r>
            <a:endParaRPr lang="cs-CZ" sz="18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Evidence, kdo a kdy vstoupil do zabezpečených prostor.</a:t>
            </a:r>
            <a:endParaRPr lang="cs-CZ" sz="16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sz="1800" b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Údržba a testování:</a:t>
            </a:r>
            <a:endParaRPr lang="cs-CZ" sz="18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Pravidelná kontrola zabezpečovacích systémů, jako jsou kamery a alarmy.</a:t>
            </a:r>
            <a:endParaRPr lang="cs-CZ" sz="16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sz="1800" b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Integrace s kybernetickým zabezpečením:</a:t>
            </a:r>
            <a:endParaRPr lang="cs-CZ" sz="18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Propojení fyzické ochrany s IT systémy, například pomocí </a:t>
            </a:r>
            <a:r>
              <a:rPr lang="cs-CZ" sz="1600" err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IoT</a:t>
            </a:r>
            <a:r>
              <a:rPr lang="cs-CZ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.</a:t>
            </a:r>
            <a:endParaRPr lang="cs-CZ" sz="16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sz="1800" b="1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Plán reakce na incidenty:</a:t>
            </a:r>
            <a:endParaRPr lang="cs-CZ" sz="18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sz="160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Postupy pro rychlou reakci při narušení zabezpečení.</a:t>
            </a:r>
            <a:endParaRPr lang="cs-CZ" sz="16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cs-CZ" sz="13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Obrázek 3" descr="Ochrana proti kopírování: Zabezpečte své dokumenty jako profík! »  CopyHome.cz">
            <a:extLst>
              <a:ext uri="{FF2B5EF4-FFF2-40B4-BE49-F238E27FC236}">
                <a16:creationId xmlns:a16="http://schemas.microsoft.com/office/drawing/2014/main" id="{5474C373-095E-64F3-27FF-0C7BD2864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473" y="1200223"/>
            <a:ext cx="4072815" cy="407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1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AC281F-CD9F-FDB7-B201-F8E9CBF91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/>
              <a:t>Proxy server – definice a význam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E6794D2-DEAA-2871-E018-FBA28DDA8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922" y="2471878"/>
            <a:ext cx="10515600" cy="43030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/>
              <a:t>Funguje jako Prostředník mezi Klientem a serverem, překládá klientské požadavky a posílá odpověď zpět klientovi </a:t>
            </a:r>
          </a:p>
          <a:p>
            <a:r>
              <a:rPr lang="cs-CZ" sz="2000"/>
              <a:t>Z pohledu serveru vystupuje jako Samostatný Klient</a:t>
            </a:r>
          </a:p>
          <a:p>
            <a:r>
              <a:rPr lang="cs-CZ" sz="2000"/>
              <a:t>Jeho Úkolem je Oddělit Lokální Síť od internetu </a:t>
            </a:r>
          </a:p>
          <a:p>
            <a:r>
              <a:rPr lang="cs-CZ" sz="2000"/>
              <a:t>Má tři druhy</a:t>
            </a:r>
          </a:p>
          <a:p>
            <a:r>
              <a:rPr lang="cs-CZ" sz="2000" err="1"/>
              <a:t>Gateway</a:t>
            </a:r>
            <a:r>
              <a:rPr lang="cs-CZ" sz="2000"/>
              <a:t>/</a:t>
            </a:r>
            <a:r>
              <a:rPr lang="cs-CZ" sz="2000" err="1"/>
              <a:t>Tunneling</a:t>
            </a:r>
            <a:r>
              <a:rPr lang="cs-CZ" sz="2000"/>
              <a:t> Proxy - Prochází žádosti a odpovědi neupravuje</a:t>
            </a:r>
          </a:p>
          <a:p>
            <a:r>
              <a:rPr lang="cs-CZ" sz="2000"/>
              <a:t>Forward Proxy - Slouží ke Směrování Požadavků Vůči konkrétním Službám </a:t>
            </a:r>
          </a:p>
          <a:p>
            <a:r>
              <a:rPr lang="cs-CZ" sz="2000"/>
              <a:t>Reverzní Proxy – Přesměrovává Požadavky na Několik dalších serverů</a:t>
            </a:r>
          </a:p>
          <a:p>
            <a:endParaRPr lang="cs-CZ" sz="2000"/>
          </a:p>
          <a:p>
            <a:endParaRPr lang="cs-CZ"/>
          </a:p>
          <a:p>
            <a:endParaRPr lang="cs-CZ"/>
          </a:p>
        </p:txBody>
      </p:sp>
      <p:pic>
        <p:nvPicPr>
          <p:cNvPr id="4" name="Obrázek 3" descr="What is a Proxy Server? Definition, Uses &amp; More | Fortinet">
            <a:extLst>
              <a:ext uri="{FF2B5EF4-FFF2-40B4-BE49-F238E27FC236}">
                <a16:creationId xmlns:a16="http://schemas.microsoft.com/office/drawing/2014/main" id="{C2BB1472-6ED9-0531-8B55-DEE50AF24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084" y="2974503"/>
            <a:ext cx="2743200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888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D3E8F7-A86D-740F-30A3-86E9D632E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000"/>
              <a:t>Využití Proxy z Pohledu Kybernetické Bezpečnosti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6BFB537-4D68-38E1-3044-568DF3DC3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753" y="2346613"/>
            <a:ext cx="10268712" cy="3593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b="1"/>
              <a:t>Filtrování</a:t>
            </a:r>
            <a:r>
              <a:rPr lang="cs-CZ" sz="2000"/>
              <a:t> - Umožňuje Kontrolovat  a řídit obsah, Umožňují také logování Síťového Provozu Konkrétního Uživatele. Lze Implementovat i různé Antivirové Programy</a:t>
            </a:r>
          </a:p>
          <a:p>
            <a:r>
              <a:rPr lang="cs-CZ" sz="2000"/>
              <a:t>Příklady Využití: školní Sítě, Firemní Sítě</a:t>
            </a:r>
          </a:p>
          <a:p>
            <a:r>
              <a:rPr lang="cs-CZ" sz="2000" b="1"/>
              <a:t>DNS</a:t>
            </a:r>
            <a:r>
              <a:rPr lang="cs-CZ" sz="2000"/>
              <a:t> - Sbírá DNS dotazy a předává je Dalším DNS serverům v Internetu</a:t>
            </a:r>
          </a:p>
          <a:p>
            <a:r>
              <a:rPr lang="cs-CZ" sz="2000"/>
              <a:t>Využití: Lokální Sítě</a:t>
            </a:r>
          </a:p>
          <a:p>
            <a:r>
              <a:rPr lang="cs-CZ" sz="2000" b="1"/>
              <a:t>Obcházení cenzury a filtrace </a:t>
            </a:r>
            <a:r>
              <a:rPr lang="cs-CZ" sz="2000"/>
              <a:t>–</a:t>
            </a:r>
            <a:r>
              <a:rPr lang="cs-CZ" sz="2000" b="1"/>
              <a:t> </a:t>
            </a:r>
            <a:r>
              <a:rPr lang="cs-CZ" sz="2000"/>
              <a:t>Klient se skrz Proxy dokáže dostat k obsahu který je v jeho zemi nedostupný </a:t>
            </a:r>
          </a:p>
          <a:p>
            <a:r>
              <a:rPr lang="cs-CZ" sz="2000" b="1"/>
              <a:t>Zabezpečení </a:t>
            </a:r>
            <a:r>
              <a:rPr lang="cs-CZ" sz="2000"/>
              <a:t>- Proxy Může také Požadavky Prohledávat kvůli přítomnosti škodlivých Kódu, nebo je Např Šifrovat a Dešifrovat</a:t>
            </a:r>
          </a:p>
          <a:p>
            <a:r>
              <a:rPr lang="cs-CZ" sz="2000" b="1"/>
              <a:t>Brány do Privátních sítí </a:t>
            </a:r>
            <a:r>
              <a:rPr lang="cs-CZ" sz="2000"/>
              <a:t>- Proxy se chová jako Switch a Umožňuje přístup k Službám bez nutnosti přiřazení IP adresy na Klientovi </a:t>
            </a:r>
          </a:p>
          <a:p>
            <a:endParaRPr lang="cs-CZ" sz="2000"/>
          </a:p>
          <a:p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4223122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4164DF-EF89-2C9D-6DBA-E537C30EB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86" y="317814"/>
            <a:ext cx="11638382" cy="1700784"/>
          </a:xfrm>
        </p:spPr>
        <p:txBody>
          <a:bodyPr>
            <a:normAutofit fontScale="90000"/>
          </a:bodyPr>
          <a:lstStyle/>
          <a:p>
            <a:r>
              <a:rPr lang="cs-CZ"/>
              <a:t>Základní typy útoků na počítačovou síť a jejich služby </a:t>
            </a:r>
          </a:p>
        </p:txBody>
      </p:sp>
      <p:graphicFrame>
        <p:nvGraphicFramePr>
          <p:cNvPr id="10" name="Zástupný obsah 2">
            <a:extLst>
              <a:ext uri="{FF2B5EF4-FFF2-40B4-BE49-F238E27FC236}">
                <a16:creationId xmlns:a16="http://schemas.microsoft.com/office/drawing/2014/main" id="{0F819307-B118-7916-DDDD-44F7E228020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60438" y="2587625"/>
          <a:ext cx="102679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6021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4164DF-EF89-2C9D-6DBA-E537C30EB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5" y="317814"/>
            <a:ext cx="11078938" cy="1700784"/>
          </a:xfrm>
        </p:spPr>
        <p:txBody>
          <a:bodyPr>
            <a:normAutofit fontScale="90000"/>
          </a:bodyPr>
          <a:lstStyle/>
          <a:p>
            <a:r>
              <a:rPr lang="cs-CZ"/>
              <a:t>Základní typy útoků na počítačovou síť a jejich služby </a:t>
            </a:r>
          </a:p>
        </p:txBody>
      </p:sp>
      <p:graphicFrame>
        <p:nvGraphicFramePr>
          <p:cNvPr id="10" name="Zástupný obsah 2">
            <a:extLst>
              <a:ext uri="{FF2B5EF4-FFF2-40B4-BE49-F238E27FC236}">
                <a16:creationId xmlns:a16="http://schemas.microsoft.com/office/drawing/2014/main" id="{0F819307-B118-7916-DDDD-44F7E22802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788419"/>
              </p:ext>
            </p:extLst>
          </p:nvPr>
        </p:nvGraphicFramePr>
        <p:xfrm>
          <a:off x="960438" y="2587625"/>
          <a:ext cx="102679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3205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59FACF-AF9E-4957-98DA-303497D7F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Děkujeme za pozornost</a:t>
            </a:r>
          </a:p>
        </p:txBody>
      </p:sp>
      <p:pic>
        <p:nvPicPr>
          <p:cNvPr id="4" name="Zástupný obsah 3" descr="Obsah obrázku text, Lidská tvář, úsměv, osoba&#10;&#10;Popis se vygeneroval automaticky.">
            <a:extLst>
              <a:ext uri="{FF2B5EF4-FFF2-40B4-BE49-F238E27FC236}">
                <a16:creationId xmlns:a16="http://schemas.microsoft.com/office/drawing/2014/main" id="{82A2E516-82E6-87F3-4C47-D6FB4805D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1276" y="2524300"/>
            <a:ext cx="2002971" cy="3623733"/>
          </a:xfrm>
        </p:spPr>
      </p:pic>
      <p:pic>
        <p:nvPicPr>
          <p:cNvPr id="5" name="Obrázek 4" descr="Obsah obrázku osoba, Lidská tvář, interiér, úsměv&#10;&#10;Popis se vygeneroval automaticky.">
            <a:extLst>
              <a:ext uri="{FF2B5EF4-FFF2-40B4-BE49-F238E27FC236}">
                <a16:creationId xmlns:a16="http://schemas.microsoft.com/office/drawing/2014/main" id="{5FB3EEAC-3427-5888-C60D-8AD2DD6B5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091" y="2528427"/>
            <a:ext cx="2799803" cy="3610926"/>
          </a:xfrm>
          <a:prstGeom prst="rect">
            <a:avLst/>
          </a:prstGeom>
        </p:spPr>
      </p:pic>
      <p:pic>
        <p:nvPicPr>
          <p:cNvPr id="6" name="Obrázek 5" descr="Obsah obrázku osoba, Selfie, Lidská tvář, oblečení&#10;&#10;Popis se vygeneroval automaticky.">
            <a:extLst>
              <a:ext uri="{FF2B5EF4-FFF2-40B4-BE49-F238E27FC236}">
                <a16:creationId xmlns:a16="http://schemas.microsoft.com/office/drawing/2014/main" id="{EC20D9F6-F0A9-637A-FA38-14C00BCAB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5173" y="2526908"/>
            <a:ext cx="3227862" cy="3615171"/>
          </a:xfrm>
          <a:prstGeom prst="rect">
            <a:avLst/>
          </a:prstGeom>
        </p:spPr>
      </p:pic>
      <p:pic>
        <p:nvPicPr>
          <p:cNvPr id="7" name="Obrázek 6" descr="Obsah obrázku Lidská tvář, osoba, brýle, Módní doplňky&#10;&#10;Popis se vygeneroval automaticky.">
            <a:extLst>
              <a:ext uri="{FF2B5EF4-FFF2-40B4-BE49-F238E27FC236}">
                <a16:creationId xmlns:a16="http://schemas.microsoft.com/office/drawing/2014/main" id="{FEADF6F3-35D4-9B35-63D1-13D2EB82C0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6837" y="2524496"/>
            <a:ext cx="2316249" cy="361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232222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VTI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JuxtaposeVTI">
      <a:majorFont>
        <a:latin typeface="Franklin Gothic Demi Cond" panose="020B0706030402020204"/>
        <a:ea typeface=""/>
        <a:cs typeface=""/>
      </a:majorFont>
      <a:minorFont>
        <a:latin typeface="Franklin Gothic Medium" panose="020B0603020102020204"/>
        <a:ea typeface=""/>
        <a:cs typeface=""/>
      </a:minorFont>
    </a:fontScheme>
    <a:fmtScheme name="Juxtapo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B0236716-CA63-41C1-B6AD-997AE15F064B}" vid="{0E0AE8FC-D493-434E-BDCC-ED5FFB2DAE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TM03457503[[fn=Citáty]]</Template>
  <TotalTime>0</TotalTime>
  <Words>863</Words>
  <Application>Microsoft Office PowerPoint</Application>
  <PresentationFormat>Širokoúhlá obrazovka</PresentationFormat>
  <Paragraphs>103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8" baseType="lpstr">
      <vt:lpstr>Aptos</vt:lpstr>
      <vt:lpstr>Arial</vt:lpstr>
      <vt:lpstr>Franklin Gothic Demi Cond</vt:lpstr>
      <vt:lpstr>Franklin Gothic Medium</vt:lpstr>
      <vt:lpstr>Wingdings</vt:lpstr>
      <vt:lpstr>JuxtaposeVTI</vt:lpstr>
      <vt:lpstr>Síťové prostředky kybernetické bezpečnosti</vt:lpstr>
      <vt:lpstr>Struktura a služby poskytované počítačovou sítí</vt:lpstr>
      <vt:lpstr>Služby poskytované počítačovou sítí</vt:lpstr>
      <vt:lpstr>Význam bezpečnosti v počítačových sítích</vt:lpstr>
      <vt:lpstr>Fyzické zabezpečení počítačové sítě</vt:lpstr>
      <vt:lpstr>Hlavní metody fyzického zabezpečení</vt:lpstr>
      <vt:lpstr>Další důležité aspekty fyzického zabezpečení</vt:lpstr>
      <vt:lpstr>Proxy server – definice a význam </vt:lpstr>
      <vt:lpstr>Využití Proxy z Pohledu Kybernetické Bezpečnosti</vt:lpstr>
      <vt:lpstr>Základní typy útoků na počítačovou síť a jejich služby </vt:lpstr>
      <vt:lpstr>Základní typy útoků na počítačovou síť a jejich služby </vt:lpstr>
      <vt:lpstr>Děkujeme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