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3" r:id="rId6"/>
    <p:sldId id="264" r:id="rId7"/>
    <p:sldId id="258" r:id="rId8"/>
    <p:sldId id="260" r:id="rId9"/>
    <p:sldId id="261" r:id="rId10"/>
    <p:sldId id="262" r:id="rId11"/>
    <p:sldId id="265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D6D5A51-8432-BDB3-A786-8466B428B8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A3687EF-3835-9DA0-7335-77C504D29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EDAD0AD-8EF2-3159-DDBE-972D357A3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1BA1771-5E61-B061-3C87-3AEB5ACED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2D5CF6C-73EA-CA89-0B21-E751EE9AA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9229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5DE9597-256A-B577-C9A1-180D9EBF1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62D2C2D-75D8-DEBA-1789-0321C7727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2669BAF-048D-FAD5-9721-3EEA16305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D0976BB-B29C-254C-34D7-1366B0C1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9651419-7AEB-0D93-C046-E6FB8148D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0889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99D984-E0CF-5F5D-2298-3EA5184A8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8548EEA-435C-69BE-7AB6-5AF5C5141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5D5BF7F-60E6-C502-CEFE-23FD5196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94E7103-7003-6ACC-E9AF-D9EE772BE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6B5325D-5C9A-DF6A-74CF-48EFD449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798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55E4891-B3CA-2AC3-2CA0-7FFA8A3AA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033DBED-F88D-233A-5B21-A9E98D5B78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9A744EC-D6D9-E406-A7D5-63ED0CF83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6AA5C7A-1B95-AAF2-6D31-BBC3AA736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653BFC6-F5F2-A6C6-B2DE-B465CDA2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2798E83C-46B3-5CA7-C5E5-210C8A365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07895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17E8C1-30A6-CF79-4FBD-762378F3D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AF05C91B-6BB2-4764-1EEA-43E513F0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A1B17E0-8D00-5EAD-78B3-D48702052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A86E47E-66A7-6303-B917-05EF33809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D0847DF-55AC-82D7-E6FA-CF541C14C1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0800B47C-CA89-FA6B-A9A7-C86C6893A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58267562-FE05-0EBE-27CE-76F8C6ADF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4B3AACA-0088-AE70-EDA2-80CA6B4BA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0773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52B8C6-FD15-BE20-C02E-2E26A7DA4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2765B8C-B82B-719E-937A-694071FEE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53206DF8-4AF7-B1C3-FA69-D104EBF8C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F12743A-64FF-F637-CDD5-D2DCD983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63361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E4689FB-25EF-FD68-E73A-A89188CB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5398AA9-98FA-7CF6-F3AF-CF79E2AED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C912713-A9EB-16E1-199D-FF6F9AF4A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308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E9300C7-B92F-3B6A-9B2E-0E5B5688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AC13173-8D93-CF2B-CAB8-A7785F6B6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C7612627-8B7E-DAD4-693E-83E9529FC9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2E2C31A-5FEB-0616-98CC-DE9996FDE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F0919263-315F-A3AD-6D61-A7809F3DB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26689BA-8090-10B1-6D1C-BDFF03A5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46404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9A086F-ACB7-1674-2530-B04A9F989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D17DCCC4-1DF3-7935-584D-F23B8657CB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23AFCEB-FE8D-465F-B59F-F362E33D09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D81B09C0-947B-1319-B69F-8BDA84AA5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25248340-A9C5-0EE5-0A8F-D521BCB0C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9F2684C-DA0C-7A8F-718B-7F580CA9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2521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72D6FA-86BF-E050-9F8C-CE16D06B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F69E7AB-6B25-036B-10F7-06C0AA30D3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31DF6BF-EFD7-6003-FA1C-2389CA1E5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4AD59B95-AEFD-1CCF-E994-336CD1CEC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8A9DD0B-A4EA-C166-F58B-D6C50CEF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1387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C20A3D47-5F12-EF49-227D-2B3839122D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34010A9-0CC8-5EAD-9764-849E72E25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4A9C42-A9D9-E7C7-7DAB-8BD11B27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9226350-7869-8BBA-1CA4-806DEACE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AC7259-3EFF-5AAA-CAFB-508EA4DB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65766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FA818D8-D393-1390-CD31-9989550F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E1B6ED8-41B5-5244-F797-D1A1741C0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DB8F1A1-2CCA-BB32-684C-53A0094CE0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B1C658-2469-4D4C-BE2C-078FE24A3A92}" type="datetimeFigureOut">
              <a:rPr lang="cs-CZ" smtClean="0"/>
              <a:t>28.08.2026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BB42358-8D2F-7936-F1CF-A848C3F83B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B925DC6-3457-BC60-B8F2-F2228FB0D4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627A4D-F367-4BD5-883E-A27B931F42A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6806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4" descr="Visací zámek na základní desce počítače">
            <a:extLst>
              <a:ext uri="{FF2B5EF4-FFF2-40B4-BE49-F238E27FC236}">
                <a16:creationId xmlns:a16="http://schemas.microsoft.com/office/drawing/2014/main" id="{CB035663-B61D-A013-FDCB-A7AF3D23E2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573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E8CF061F-5618-FA20-80A5-4A22F38892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Zabezpečení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C584524-16CE-829B-9DE9-1751DF8C78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cs-CZ" sz="2000" b="0" i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Práva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, hesla apod., </a:t>
            </a:r>
            <a:r>
              <a:rPr lang="cs-CZ" sz="2000" b="0" i="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antivirov</a:t>
            </a:r>
            <a:r>
              <a:rPr lang="cs-CZ" sz="2000" b="0" i="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ý program, firewall, aktualizace, certifikáty, přístup aplikací k zařízením, šifrování</a:t>
            </a:r>
            <a:endParaRPr lang="cs-CZ" sz="2000" dirty="0">
              <a:solidFill>
                <a:srgbClr val="FFFFFF"/>
              </a:solidFill>
            </a:endParaRPr>
          </a:p>
          <a:p>
            <a:endParaRPr lang="cs-CZ" sz="2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5973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70D2D90-8B0C-5B50-425B-3379FB7D6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cs-CZ" sz="3800">
                <a:solidFill>
                  <a:schemeClr val="bg1"/>
                </a:solidFill>
              </a:rPr>
              <a:t>Práva, hesla a jejich význam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A62D92-7554-4647-BAEC-86D6377D3F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endParaRPr lang="cs-CZ" sz="1100">
              <a:solidFill>
                <a:schemeClr val="bg1"/>
              </a:solidFill>
            </a:endParaRPr>
          </a:p>
          <a:p>
            <a:r>
              <a:rPr lang="cs-CZ" sz="1100">
                <a:solidFill>
                  <a:schemeClr val="bg1"/>
                </a:solidFill>
              </a:rPr>
              <a:t>Práva a hesla jsou základními prvky zabezpečení informačních systémů. Práva určují, kdo má přístup k určitým částem systému a jaké operace může provádět. Jedná se o mechanismus, který zajišťuje správnou úroveň oprávnění pro uživatele a chrání data před neoprávněným přístupem.</a:t>
            </a:r>
          </a:p>
          <a:p>
            <a:endParaRPr lang="cs-CZ" sz="1100">
              <a:solidFill>
                <a:schemeClr val="bg1"/>
              </a:solidFill>
            </a:endParaRPr>
          </a:p>
          <a:p>
            <a:r>
              <a:rPr lang="cs-CZ" sz="1100">
                <a:solidFill>
                  <a:schemeClr val="bg1"/>
                </a:solidFill>
              </a:rPr>
              <a:t>Hesla jsou pak klíčové pro ověření identity uživatele a zajištění bezpečného přístupu k informačnímu systému. Silná hesla by měla být dlouhá, obsahovat kombinaci malých a velkých písmen, číslic a speciálních znaků. Důležité je i pravidelně měnit hesla a nedělit je s ostatními.</a:t>
            </a:r>
          </a:p>
          <a:p>
            <a:endParaRPr lang="cs-CZ" sz="1100">
              <a:solidFill>
                <a:schemeClr val="bg1"/>
              </a:solidFill>
            </a:endParaRPr>
          </a:p>
          <a:p>
            <a:r>
              <a:rPr lang="cs-CZ" sz="1100">
                <a:solidFill>
                  <a:schemeClr val="bg1"/>
                </a:solidFill>
              </a:rPr>
              <a:t>Správné nastavení práv a používání silných hesel je klíčové pro zabezpečení informačního systému a ochranu dat a informací před neoprávněným přístupem.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ek 4" descr="Obsah obrázku interiér, osoba, Lidská tvář, computer&#10;&#10;Popis byl vytvořen automaticky">
            <a:extLst>
              <a:ext uri="{FF2B5EF4-FFF2-40B4-BE49-F238E27FC236}">
                <a16:creationId xmlns:a16="http://schemas.microsoft.com/office/drawing/2014/main" id="{7500D41B-F8A5-6CB9-C429-DD4A205CAC9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36" r="29886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5832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DAFC6D2-7522-7E8C-9E78-12D2B54EF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cs-CZ" sz="2400">
                <a:solidFill>
                  <a:schemeClr val="bg1"/>
                </a:solidFill>
              </a:rPr>
              <a:t>3. Antivirový program a jeho role v ochraně před škodlivým softwarem</a:t>
            </a:r>
            <a:br>
              <a:rPr lang="cs-CZ" sz="2400">
                <a:solidFill>
                  <a:schemeClr val="bg1"/>
                </a:solidFill>
              </a:rPr>
            </a:br>
            <a:endParaRPr lang="cs-CZ" sz="2400">
              <a:solidFill>
                <a:schemeClr val="bg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F98D91-81CF-3E09-4D4E-71A86435D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endParaRPr lang="cs-CZ" sz="1100" dirty="0">
              <a:solidFill>
                <a:schemeClr val="bg1"/>
              </a:solidFill>
            </a:endParaRPr>
          </a:p>
          <a:p>
            <a:r>
              <a:rPr lang="cs-CZ" sz="1100" dirty="0">
                <a:solidFill>
                  <a:schemeClr val="bg1"/>
                </a:solidFill>
              </a:rPr>
              <a:t>Antivirový program je software navržený k detekci, blokování a odstraňování škodlivého softwaru, jako jsou viry, trojské koně, červi, spyware a </a:t>
            </a:r>
            <a:r>
              <a:rPr lang="cs-CZ" sz="1100" dirty="0" err="1">
                <a:solidFill>
                  <a:schemeClr val="bg1"/>
                </a:solidFill>
              </a:rPr>
              <a:t>adware</a:t>
            </a:r>
            <a:r>
              <a:rPr lang="cs-CZ" sz="1100" dirty="0">
                <a:solidFill>
                  <a:schemeClr val="bg1"/>
                </a:solidFill>
              </a:rPr>
              <a:t>. Jeho hlavním cílem je chránit informační systém a data uživatelů před potenciálně nebezpečnými hrozbami z internetu.</a:t>
            </a:r>
          </a:p>
          <a:p>
            <a:endParaRPr lang="cs-CZ" sz="1100" dirty="0">
              <a:solidFill>
                <a:schemeClr val="bg1"/>
              </a:solidFill>
            </a:endParaRPr>
          </a:p>
          <a:p>
            <a:r>
              <a:rPr lang="cs-CZ" sz="1100" dirty="0">
                <a:solidFill>
                  <a:schemeClr val="bg1"/>
                </a:solidFill>
              </a:rPr>
              <a:t>Antivirový program funguje pomocí pravidelného skenování systému a souborů na počítači, detekce podezřelých aktivit a souborů a jejich izolace nebo odstranění. Dále obsahuje aktualizace databáze virů a malware, aby byl schopen rozpoznat nejnovější hrozby.</a:t>
            </a:r>
          </a:p>
          <a:p>
            <a:endParaRPr lang="cs-CZ" sz="1100" dirty="0">
              <a:solidFill>
                <a:schemeClr val="bg1"/>
              </a:solidFill>
            </a:endParaRPr>
          </a:p>
          <a:p>
            <a:r>
              <a:rPr lang="cs-CZ" sz="1100" dirty="0">
                <a:solidFill>
                  <a:schemeClr val="bg1"/>
                </a:solidFill>
              </a:rPr>
              <a:t>Je důležité, aby uživatelé měli nainstalovaný a aktuální antivirový program, který poskytuje dostatečnou ochranu proti škodlivému softwaru. Neaktualizovaný antivirový software může být zastaralý a neefektivní v boji proti novým hrozbám z internetu. Pravidelné aktualizace a skenování počítače jsou klíčové pro udržení bezpečnosti informačního systému.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ek 4" descr="Obsah obrázku počítač, computer, logo, symbol&#10;&#10;Popis byl vytvořen automaticky">
            <a:extLst>
              <a:ext uri="{FF2B5EF4-FFF2-40B4-BE49-F238E27FC236}">
                <a16:creationId xmlns:a16="http://schemas.microsoft.com/office/drawing/2014/main" id="{1B578EC6-C657-887E-ABA0-02D3A0FAD4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83" r="26240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85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A370232-AF0B-F59C-5C1A-1B97CE26D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cs-CZ">
                <a:solidFill>
                  <a:schemeClr val="bg1"/>
                </a:solidFill>
              </a:rPr>
              <a:t>Firewall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8A90F02-941D-4D2E-E06A-51FD7D667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>
            <a:normAutofit/>
          </a:bodyPr>
          <a:lstStyle/>
          <a:p>
            <a:r>
              <a:rPr lang="cs-CZ" sz="2000">
                <a:solidFill>
                  <a:schemeClr val="bg1"/>
                </a:solidFill>
              </a:rPr>
              <a:t>Síťové zařízení, které slouží k řízení a zabezpečování síťového provozu mezi sítěmi s různou úrovní důvěryhodnosti a zabezpečení.</a:t>
            </a:r>
          </a:p>
          <a:p>
            <a:r>
              <a:rPr lang="cs-CZ" sz="2000">
                <a:solidFill>
                  <a:schemeClr val="bg1"/>
                </a:solidFill>
              </a:rPr>
              <a:t>Administrátor definuje pravidla, která určují, jaký síťový provoz je povolen a jaký je blokován. Tato pravidla mohou být založena na různých kritériích, jako je zdrojová IP adresa, cílová IP adresa, typ a port používaný pro komunikaci a další.</a:t>
            </a:r>
          </a:p>
        </p:txBody>
      </p:sp>
      <p:pic>
        <p:nvPicPr>
          <p:cNvPr id="7" name="Obrázek 6" descr="Obsah obrázku snímek obrazovky, Barevnost, čtverec, diagram&#10;&#10;Popis byl vytvořen automaticky">
            <a:extLst>
              <a:ext uri="{FF2B5EF4-FFF2-40B4-BE49-F238E27FC236}">
                <a16:creationId xmlns:a16="http://schemas.microsoft.com/office/drawing/2014/main" id="{80FE59CA-5473-EF30-C114-E09800ECB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193" y="775303"/>
            <a:ext cx="3588640" cy="1973751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Obrázek 8" descr="Obsah obrázku text, Písmo, snímek obrazovky&#10;&#10;Popis byl vytvořen automaticky">
            <a:extLst>
              <a:ext uri="{FF2B5EF4-FFF2-40B4-BE49-F238E27FC236}">
                <a16:creationId xmlns:a16="http://schemas.microsoft.com/office/drawing/2014/main" id="{9FE57AF9-9D4E-91FC-6776-0E31D324F9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661" y="4225373"/>
            <a:ext cx="3588640" cy="179432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258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9A0043A-2F58-D8ED-9E3E-E928C534E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cs-CZ" sz="3800">
                <a:solidFill>
                  <a:schemeClr val="bg1"/>
                </a:solidFill>
              </a:rPr>
              <a:t>Paketový filtr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C3D9CB4-4452-F567-DF8D-206DD323E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cs-CZ" sz="2000">
                <a:solidFill>
                  <a:schemeClr val="bg1"/>
                </a:solidFill>
              </a:rPr>
              <a:t>Nejjednodušší forma firewallu, který rozhoduje o povolení či blokování paketů na základě informací v hlavičce paketu.</a:t>
            </a:r>
          </a:p>
          <a:p>
            <a:r>
              <a:rPr lang="cs-CZ" sz="2000">
                <a:solidFill>
                  <a:schemeClr val="bg1"/>
                </a:solidFill>
              </a:rPr>
              <a:t>Tato forma spočívá v tom, že pravidla přesně uvádějí, z jaké adresy a portu na jakou adresu a port může být doručen procházející paket, tj. kontrola se provádí na třetí a čtvrté vrstvě modelu síťové komunikace OSI. 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ek 4" descr="Obsah obrázku klipart, Grafika, design, kreativita&#10;&#10;Popis byl vytvořen automaticky">
            <a:extLst>
              <a:ext uri="{FF2B5EF4-FFF2-40B4-BE49-F238E27FC236}">
                <a16:creationId xmlns:a16="http://schemas.microsoft.com/office/drawing/2014/main" id="{AF1FD081-9271-3768-5BF3-FF2740B3E06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r="27515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887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5FD09B2-8D17-901F-7597-63C5134DA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cs-CZ" sz="3800">
                <a:solidFill>
                  <a:schemeClr val="bg1"/>
                </a:solidFill>
              </a:rPr>
              <a:t>Stavový firewall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70E57AD-3C09-88C8-3082-20D62E7DB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cs-CZ" sz="1700">
                <a:solidFill>
                  <a:schemeClr val="bg1"/>
                </a:solidFill>
              </a:rPr>
              <a:t>Udržuje stav spojení a rozhoduje na základě stavu spojení (např. navázání, udržení, ukončení spojení).</a:t>
            </a:r>
          </a:p>
          <a:p>
            <a:r>
              <a:rPr lang="cs-CZ" sz="1700">
                <a:solidFill>
                  <a:schemeClr val="bg1"/>
                </a:solidFill>
              </a:rPr>
              <a:t>Stavový firewall je označení pro takový firewall, který podporuje SPI (anglicky Stateful packet inspection), což znamená, že je schopen sledovat a udržovat všechny navázané TCP/UDP relace.</a:t>
            </a:r>
          </a:p>
          <a:p>
            <a:r>
              <a:rPr lang="cs-CZ" sz="1700">
                <a:solidFill>
                  <a:schemeClr val="bg1"/>
                </a:solidFill>
              </a:rPr>
              <a:t> Stavový firewall pracuje na transportní vrstvě referenčního modelu ISO/OSI. Je schopen rozlišovat různé stavy paketů v rámci jednotlivých relací (spojení) a jeho úkolem je propustit pouze takové, které patří do již povolené relace (jiné jsou zamítnuty).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ek 4" descr="Obsah obrázku klipart, Grafika, design, kreativita&#10;&#10;Popis byl vytvořen automaticky">
            <a:extLst>
              <a:ext uri="{FF2B5EF4-FFF2-40B4-BE49-F238E27FC236}">
                <a16:creationId xmlns:a16="http://schemas.microsoft.com/office/drawing/2014/main" id="{60B5219A-D499-2CA6-0A16-D707A827C9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r="27515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339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46E77F33-E2AB-EC8F-6ECD-FFFD06087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cs-CZ" sz="3800">
                <a:solidFill>
                  <a:schemeClr val="bg1"/>
                </a:solidFill>
              </a:rPr>
              <a:t>Aplikační firewall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3B5977-128C-4F61-D4C0-6F33D42B2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cs-CZ" sz="1100">
                <a:solidFill>
                  <a:schemeClr val="bg1"/>
                </a:solidFill>
              </a:rPr>
              <a:t>Provádí filtrování na vyšší úrovni síťového protokolu, často na úrovni aplikací, což mu umožňuje provádět pokročilejší analýzu a kontrolovat konkrétní typy aplikací.</a:t>
            </a:r>
          </a:p>
          <a:p>
            <a:br>
              <a:rPr lang="cs-CZ" sz="1100">
                <a:solidFill>
                  <a:schemeClr val="bg1"/>
                </a:solidFill>
              </a:rPr>
            </a:br>
            <a:r>
              <a:rPr lang="cs-CZ" sz="1100">
                <a:solidFill>
                  <a:schemeClr val="bg1"/>
                </a:solidFill>
              </a:rPr>
              <a:t>Aplikační firewall je speciální typ firewallu, který dokáže kontrolovat a filtrovat provoz na úrovni aplikací. To znamená, že aplikační firewall dokáže identifikovat konkrétní aplikace nebo služby, které komunikují přes síť, a umožňuje správcům nastavit pravidla pro povolení nebo blokování této komunikace na základě konkrétních aplikací.</a:t>
            </a:r>
          </a:p>
          <a:p>
            <a:endParaRPr lang="cs-CZ" sz="1100">
              <a:solidFill>
                <a:schemeClr val="bg1"/>
              </a:solidFill>
            </a:endParaRPr>
          </a:p>
          <a:p>
            <a:r>
              <a:rPr lang="cs-CZ" sz="1100">
                <a:solidFill>
                  <a:schemeClr val="bg1"/>
                </a:solidFill>
              </a:rPr>
              <a:t>Jedním z hlavních benefitů aplikačního firewallu je schopnost provádět hloubkovou inspekci provozu a detekovat potenciální hrozby nebo nebezpečné aktivity. To znamená, že aplikační firewall může identifikovat škodlivý provoz, malware nebo neoprávněný přístup a reagovat na ně pomocí nastavených pravidel.</a:t>
            </a:r>
          </a:p>
          <a:p>
            <a:endParaRPr lang="cs-CZ" sz="1100">
              <a:solidFill>
                <a:schemeClr val="bg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ek 4" descr="Obsah obrázku klipart, Grafika, design, kreativita&#10;&#10;Popis byl vytvořen automaticky">
            <a:extLst>
              <a:ext uri="{FF2B5EF4-FFF2-40B4-BE49-F238E27FC236}">
                <a16:creationId xmlns:a16="http://schemas.microsoft.com/office/drawing/2014/main" id="{2B980746-1F8F-10A9-7DF8-70B21CC565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r="27515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83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3B4BC29-2F0C-FC22-21A3-EF1F7B2AB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anchor="b">
            <a:normAutofit/>
          </a:bodyPr>
          <a:lstStyle/>
          <a:p>
            <a:r>
              <a:rPr lang="pl-PL" sz="2900">
                <a:solidFill>
                  <a:schemeClr val="bg1"/>
                </a:solidFill>
              </a:rPr>
              <a:t>Aktualizace softwaru a jejich význam pro bezpečnost</a:t>
            </a:r>
            <a:endParaRPr lang="cs-CZ" sz="2900">
              <a:solidFill>
                <a:schemeClr val="bg1"/>
              </a:solidFill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DB199B3-5A0E-87E0-3165-004426AD0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769" y="1909192"/>
            <a:ext cx="4586513" cy="3647710"/>
          </a:xfrm>
        </p:spPr>
        <p:txBody>
          <a:bodyPr>
            <a:normAutofit/>
          </a:bodyPr>
          <a:lstStyle/>
          <a:p>
            <a:r>
              <a:rPr lang="cs-CZ" sz="1000">
                <a:solidFill>
                  <a:schemeClr val="bg1"/>
                </a:solidFill>
              </a:rPr>
              <a:t>Aktualizace softwaru jsou klíčové pro bezpečnost informačních systémů. Pravidelné aktualizace softwaru zajišťují, že operační systém a aplikace jsou chráněny před známými bezpečnostními chybami a zranitelnostmi, které mohou být zneužity hackery k neoprávněnému přístupu nebo škodlivým útokům.</a:t>
            </a:r>
          </a:p>
          <a:p>
            <a:endParaRPr lang="cs-CZ" sz="1000">
              <a:solidFill>
                <a:schemeClr val="bg1"/>
              </a:solidFill>
            </a:endParaRPr>
          </a:p>
          <a:p>
            <a:r>
              <a:rPr lang="cs-CZ" sz="1000">
                <a:solidFill>
                  <a:schemeClr val="bg1"/>
                </a:solidFill>
              </a:rPr>
              <a:t>Aktualizace softwaru zahrnují opravy chyb, záplaty bezpečnostních děr, aktualizace antivirového softwaru a další bezpečnostní aktualizace. Tyto aktualizace jsou obvykle poskytovány vývojáři softwaru ve formě opravných balíčků nebo aktualizací, které je třeba nainstalovat na zařízeních uživatelů.</a:t>
            </a:r>
          </a:p>
          <a:p>
            <a:endParaRPr lang="cs-CZ" sz="1000">
              <a:solidFill>
                <a:schemeClr val="bg1"/>
              </a:solidFill>
            </a:endParaRPr>
          </a:p>
          <a:p>
            <a:r>
              <a:rPr lang="cs-CZ" sz="1000">
                <a:solidFill>
                  <a:schemeClr val="bg1"/>
                </a:solidFill>
              </a:rPr>
              <a:t>Pravidelné aktualizace softwaru jsou důležité, protože chrání informační systém před různými bezpečnostními hrozbami a minimalizují riziko úspěšného útoku. Uživatelé by měli mít nastavený automatický update softwaru a pravidelně kontrolovat dostupnost nových aktualizací.</a:t>
            </a:r>
          </a:p>
          <a:p>
            <a:endParaRPr lang="cs-CZ" sz="1000">
              <a:solidFill>
                <a:schemeClr val="bg1"/>
              </a:solidFill>
            </a:endParaRPr>
          </a:p>
          <a:p>
            <a:r>
              <a:rPr lang="cs-CZ" sz="1000">
                <a:solidFill>
                  <a:schemeClr val="bg1"/>
                </a:solidFill>
              </a:rPr>
              <a:t>Nedostatečné aktualizace softwaru mohou znamenat, že informační systém je zranitelný a ohrožený bezpečnostními riziky. Proto je důležité, aby uživatelé dbali na pravidelné aktualizace softwaru a udržovali své systémy aktuální a bezpečné.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Obrázek 4" descr="Obsah obrázku snímek obrazovky, design&#10;&#10;Popis byl vytvořen automaticky">
            <a:extLst>
              <a:ext uri="{FF2B5EF4-FFF2-40B4-BE49-F238E27FC236}">
                <a16:creationId xmlns:a16="http://schemas.microsoft.com/office/drawing/2014/main" id="{394F8461-C623-876C-4A37-F9D283EAA6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45" r="7828"/>
          <a:stretch/>
        </p:blipFill>
        <p:spPr>
          <a:xfrm>
            <a:off x="6525453" y="10"/>
            <a:ext cx="5666547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345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4EC1D24-BB5F-26A4-00E8-57562D1B5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cs-CZ" sz="3700">
                <a:solidFill>
                  <a:schemeClr val="bg1"/>
                </a:solidFill>
              </a:rPr>
              <a:t>Certifikáty a jejich role v ověřování bezpečnosti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68C940D-4516-4630-B49F-65C1A82FEA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791258" y="619275"/>
            <a:ext cx="932200" cy="932200"/>
            <a:chOff x="10791258" y="619275"/>
            <a:chExt cx="932200" cy="932200"/>
          </a:xfrm>
        </p:grpSpPr>
        <p:sp>
          <p:nvSpPr>
            <p:cNvPr id="13" name="Graphic 212">
              <a:extLst>
                <a:ext uri="{FF2B5EF4-FFF2-40B4-BE49-F238E27FC236}">
                  <a16:creationId xmlns:a16="http://schemas.microsoft.com/office/drawing/2014/main" id="{160C130F-E752-44CF-98A8-75490C2A2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  <p:sp>
          <p:nvSpPr>
            <p:cNvPr id="14" name="Graphic 212">
              <a:extLst>
                <a:ext uri="{FF2B5EF4-FFF2-40B4-BE49-F238E27FC236}">
                  <a16:creationId xmlns:a16="http://schemas.microsoft.com/office/drawing/2014/main" id="{9690DAC5-9FBA-4943-959B-751AF2B46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91258" y="619275"/>
              <a:ext cx="932200" cy="932200"/>
            </a:xfrm>
            <a:custGeom>
              <a:avLst/>
              <a:gdLst>
                <a:gd name="connsiteX0" fmla="*/ 403574 w 807148"/>
                <a:gd name="connsiteY0" fmla="*/ 0 h 807148"/>
                <a:gd name="connsiteX1" fmla="*/ 0 w 807148"/>
                <a:gd name="connsiteY1" fmla="*/ 403574 h 807148"/>
                <a:gd name="connsiteX2" fmla="*/ 403574 w 807148"/>
                <a:gd name="connsiteY2" fmla="*/ 807149 h 807148"/>
                <a:gd name="connsiteX3" fmla="*/ 807149 w 807148"/>
                <a:gd name="connsiteY3" fmla="*/ 403574 h 807148"/>
                <a:gd name="connsiteX4" fmla="*/ 403574 w 807148"/>
                <a:gd name="connsiteY4" fmla="*/ 0 h 807148"/>
                <a:gd name="connsiteX5" fmla="*/ 403574 w 807148"/>
                <a:gd name="connsiteY5" fmla="*/ 667988 h 807148"/>
                <a:gd name="connsiteX6" fmla="*/ 139160 w 807148"/>
                <a:gd name="connsiteY6" fmla="*/ 403574 h 807148"/>
                <a:gd name="connsiteX7" fmla="*/ 403574 w 807148"/>
                <a:gd name="connsiteY7" fmla="*/ 139160 h 807148"/>
                <a:gd name="connsiteX8" fmla="*/ 667988 w 807148"/>
                <a:gd name="connsiteY8" fmla="*/ 403574 h 807148"/>
                <a:gd name="connsiteX9" fmla="*/ 403574 w 807148"/>
                <a:gd name="connsiteY9" fmla="*/ 667988 h 807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7148" h="807148">
                  <a:moveTo>
                    <a:pt x="403574" y="0"/>
                  </a:moveTo>
                  <a:cubicBezTo>
                    <a:pt x="180689" y="0"/>
                    <a:pt x="0" y="180689"/>
                    <a:pt x="0" y="403574"/>
                  </a:cubicBezTo>
                  <a:cubicBezTo>
                    <a:pt x="0" y="626459"/>
                    <a:pt x="180689" y="807149"/>
                    <a:pt x="403574" y="807149"/>
                  </a:cubicBezTo>
                  <a:cubicBezTo>
                    <a:pt x="626459" y="807149"/>
                    <a:pt x="807149" y="626459"/>
                    <a:pt x="807149" y="403574"/>
                  </a:cubicBezTo>
                  <a:cubicBezTo>
                    <a:pt x="807149" y="180689"/>
                    <a:pt x="626459" y="0"/>
                    <a:pt x="403574" y="0"/>
                  </a:cubicBezTo>
                  <a:close/>
                  <a:moveTo>
                    <a:pt x="403574" y="667988"/>
                  </a:moveTo>
                  <a:cubicBezTo>
                    <a:pt x="257556" y="667988"/>
                    <a:pt x="139160" y="549593"/>
                    <a:pt x="139160" y="403574"/>
                  </a:cubicBezTo>
                  <a:cubicBezTo>
                    <a:pt x="139160" y="257556"/>
                    <a:pt x="257556" y="139160"/>
                    <a:pt x="403574" y="139160"/>
                  </a:cubicBezTo>
                  <a:cubicBezTo>
                    <a:pt x="549593" y="139160"/>
                    <a:pt x="667988" y="257556"/>
                    <a:pt x="667988" y="403574"/>
                  </a:cubicBezTo>
                  <a:cubicBezTo>
                    <a:pt x="667988" y="549593"/>
                    <a:pt x="549593" y="667988"/>
                    <a:pt x="403574" y="667988"/>
                  </a:cubicBezTo>
                  <a:close/>
                </a:path>
              </a:pathLst>
            </a:cu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lt1"/>
                </a:solidFill>
              </a:endParaRPr>
            </a:p>
          </p:txBody>
        </p:sp>
      </p:grp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077A927-C3E7-558F-832A-B6FBE93C9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520" y="1747592"/>
            <a:ext cx="5217173" cy="4351338"/>
          </a:xfrm>
        </p:spPr>
        <p:txBody>
          <a:bodyPr>
            <a:normAutofit/>
          </a:bodyPr>
          <a:lstStyle/>
          <a:p>
            <a:r>
              <a:rPr lang="cs-CZ" sz="1100">
                <a:solidFill>
                  <a:schemeClr val="bg1"/>
                </a:solidFill>
              </a:rPr>
              <a:t>Certifikáty jsou digitální identifikátory, které slouží k ověření autentičnosti a bezpečnosti komunikace mezi různými entitami v informačním systému. Certifikáty mohou být vydávány certifikačními autoritami a obsahují informace o vlastníkovi, platnosti certifikátu a veřejný klíč pro šifrování a ověřování digitálních podpisů.</a:t>
            </a:r>
          </a:p>
          <a:p>
            <a:endParaRPr lang="cs-CZ" sz="1100" dirty="0">
              <a:solidFill>
                <a:schemeClr val="bg1"/>
              </a:solidFill>
            </a:endParaRPr>
          </a:p>
          <a:p>
            <a:r>
              <a:rPr lang="cs-CZ" sz="1100" dirty="0">
                <a:solidFill>
                  <a:schemeClr val="bg1"/>
                </a:solidFill>
              </a:rPr>
              <a:t>Certifikáty jsou důležité pro bezpečné komunikace a transakce, protože umožňují ověřit identitu uživatele nebo serveru a zajistit integritu a důvěrnost dat. Bezplatné certifikáty jsou například SSL certifikáty pro webové stránky, které zajišťují bezpečné připojení mezi prohlížečem a serverem.</a:t>
            </a:r>
          </a:p>
          <a:p>
            <a:endParaRPr lang="cs-CZ" sz="1100" dirty="0">
              <a:solidFill>
                <a:schemeClr val="bg1"/>
              </a:solidFill>
            </a:endParaRPr>
          </a:p>
          <a:p>
            <a:r>
              <a:rPr lang="cs-CZ" sz="1100" dirty="0">
                <a:solidFill>
                  <a:schemeClr val="bg1"/>
                </a:solidFill>
              </a:rPr>
              <a:t>Platné a důvěryhodné certifikáty jsou nezbytné pro zabezpečení informačních systémů a ochranu dat před neoprávněným přístupem a útoky. Uživatelé by měli důvěřovat pouze certifikátům od důvěryhodných certifikačních autorit a pravidelně kontrolovat platnost a správnost certifikátů v jejich systému.</a:t>
            </a:r>
          </a:p>
          <a:p>
            <a:endParaRPr lang="cs-CZ" sz="1100" dirty="0">
              <a:solidFill>
                <a:schemeClr val="bg1"/>
              </a:solidFill>
            </a:endParaRPr>
          </a:p>
          <a:p>
            <a:r>
              <a:rPr lang="cs-CZ" sz="1100" dirty="0">
                <a:solidFill>
                  <a:schemeClr val="bg1"/>
                </a:solidFill>
              </a:rPr>
              <a:t>Správné používání certifikátů je klíčové pro zajištění bezpečnosti informačních systémů a prevenci před potenciálními bezpečnostními hrozbami. Uživatelé by měli být obezřetní a pečliví při ověřování certifikátů a důsledně je aplikovat pro bezpečné komunikace a transakce.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93F2521-5FCA-4EE4-ADB9-C71AB81B8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16299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17" name="Graphic 190">
              <a:extLst>
                <a:ext uri="{FF2B5EF4-FFF2-40B4-BE49-F238E27FC236}">
                  <a16:creationId xmlns:a16="http://schemas.microsoft.com/office/drawing/2014/main" id="{701F4A7E-EE52-4FFF-847D-941A57F6E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44C45BFB-2AD2-45F8-9F4B-9151A686E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82FD8094-5F5E-411D-96E3-0D8E76B94F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8" name="Graphic 190">
              <a:extLst>
                <a:ext uri="{FF2B5EF4-FFF2-40B4-BE49-F238E27FC236}">
                  <a16:creationId xmlns:a16="http://schemas.microsoft.com/office/drawing/2014/main" id="{F3FB933A-7D1C-4A1F-9589-2006261FD9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65C4036-D195-4D1E-B436-A03795967C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54F38E9F-35FC-437D-BE4E-33FDF60565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5" name="Obrázek 4" descr="Obsah obrázku text, obvod, snímek obrazovky, Písmo&#10;&#10;Popis byl vytvořen automaticky">
            <a:extLst>
              <a:ext uri="{FF2B5EF4-FFF2-40B4-BE49-F238E27FC236}">
                <a16:creationId xmlns:a16="http://schemas.microsoft.com/office/drawing/2014/main" id="{11699230-4030-3DDE-0440-189FBA52CF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288" r="16557" b="-2"/>
          <a:stretch/>
        </p:blipFill>
        <p:spPr>
          <a:xfrm>
            <a:off x="7253021" y="1820334"/>
            <a:ext cx="3555043" cy="321733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2B7E220D-70BE-46E1-87EA-9239C1082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66592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FC1A5110-77D2-40E7-81AD-268BA675FE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4FA2A3FD-1B3F-42AF-BC02-85F36E0565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7AD487CA-8FBC-4540-AC49-97AE50C651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0D84CF57-47D1-43F3-A27F-4554C8874D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CBEE7FBD-98AD-4AD4-8928-24BF44632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84FD382E-B389-4D8F-A55E-6DFA291F0E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98382AB7-ABEA-406A-BC9C-E929CB72CD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687410AC-739F-4AF0-B3F3-BA1EE2D84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297F7ECB-7025-4A18-B6C1-9A8F179D81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E8BF277F-8AC7-4B9F-A748-658BC32F47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3861EEE4-BFC2-47F9-B33D-2CF7EF91D1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EDB4948-A661-493E-A726-89FD160435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690295D3-F01C-40D4-AC18-38CDB597DD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DE279E4F-F139-423E-AF42-7C309EE9EE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BE503EF8-F0B7-4F0E-B82E-742BB8DB8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8BF1F2E6-2E0A-4F5C-AF29-167B9214DE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D465F6F4-1BA9-4F7B-9980-3571C7C5CC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FFF3428D-3135-4073-AB27-8292AA421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2EE4FAE5-DC40-43E2-BACB-84C2CCDA3A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97E1E565-91F8-469C-998D-413D4E3D00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7AADD30B-6564-45CD-A760-00AD0ED73C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3B9ABBD5-5E76-4812-A4CF-2A8B16ADA6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2F97912E-EDA5-4A75-A106-B25426BB663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8D15062-DCA7-43EE-AB75-CD9C80F379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80EB5712-3433-46B4-A8DF-04A8D03E3E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F3BFE28-EB41-4640-802B-FAA4F73787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203F4E0E-E3AE-4B10-B1BC-529CC3CD03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1B83F41D-7419-46EC-8C00-37127DC3AA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991303F-ED54-4483-97A9-3143D1CA72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0B99A87F-D826-40DC-B688-B209D5253B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3CB798D6-E3C9-41B2-8F20-F0CF870681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9CF03CDA-070F-49AE-B37C-4D08A1BAD2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D4CBFC42-413D-4BC6-9BEA-078040C01E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24A02437-3BDD-4242-9C52-0DB006A35E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7209D1D0-DC11-43F3-8050-D8C01D3B62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8A37369D-62F1-4A67-B1A1-658CBED41D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68CD3744-B811-40BE-B10F-4D5B1AA9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3048B8EA-2CD0-40CF-B570-BD99E0F77C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2D8EA840-350B-405A-A1BB-40D93A00ED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6BFAC7FE-90ED-4400-9E88-D3EB802CF4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F8A49AFF-4D6A-4290-A811-6ADBC2A2A5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A5267CD0-3312-488A-ADC9-2A215FC9B5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734AF3AE-4171-471C-AFDE-0A4B563D95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9761283D-6867-470C-85BB-833A5997B77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232907EC-87D6-4A76-97C7-ED83798B87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9AE06A14-FDDB-4888-9F8A-C027B6FC7A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408FBBF8-91F0-43DF-84FE-8585BD4C01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40F8B312-3204-4812-9CED-599503CC0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B3163C36-49A9-42CD-84AB-945A548107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C737819E-C741-419C-8B07-6CBF226F4A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86094C82-164A-490B-A711-CBC5914A79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B97614F7-51E5-4AEF-B768-8C452874D2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B6227872-28BD-445D-96AD-EF00622F8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C1DC2CF0-2FA0-43FC-9509-0C6DB072B6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9795B481-57FF-4E8E-83AA-E5D2E3E2F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148378AF-5FAD-46E5-9709-EA405E6749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A673CCD4-0D19-45A5-A1E8-0C6F8E2C41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EE686E15-638D-450E-BD41-9EEC16695B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19970629-2923-493A-A315-FA7EDF13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D8839461-CBD3-4A9A-BBCF-09A8835874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06ACA65A-A638-4499-9A58-4BBB2D8502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1E2A7DEF-7652-4468-8E3F-6FF0C0A9F9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B20F00C4-6808-4F91-8495-A7C27E49A1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4254291C-CB21-424F-AF32-0C70F16421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C6D37468-BE92-4741-86A9-1417F2AA43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2A361414-EF46-4101-B08C-BA761D10D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62B99449-370E-4EEE-9DB6-159197F278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AA977E9-699A-4D73-B0CF-CE0C4EB20C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9EDD115C-F555-4352-B8FB-C7F9829FAA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9454379A-04D7-4413-8E59-262DB6BCD1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8E65F25A-79A5-4F0D-A340-475979F28C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838E1E5B-3968-49BD-843C-C8C0F44C6E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94CA466D-7602-4464-BAB2-071A59F8A9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4A1357E7-09DA-4B68-A637-F277764E94D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1EFCA436-DAC9-4B9E-82BE-E0DE3F5C8A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FA482722-F397-4F01-97DD-D018FE6378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5CF6C289-6A1B-4031-84CC-4DA52D08ED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42F190D1-D9E1-46D5-A212-6560B860B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08ADD086-4DD1-4EBA-BC75-CD93AE4D44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75A280D7-478F-468E-9644-B09B8FDEB7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9BE9354-BB23-458F-9AE3-DD8AC4F1E6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861A354D-F521-44EF-9140-7393D26D2E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C76B3340-3BF4-4FB9-B7FA-751617C73B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802BF6D-7C7F-41BF-B0CA-C5E6AFABB3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712FB0EF-009B-4384-BD25-D3C6EBCC97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922F2BA9-9373-465D-8F24-F58DB9B1B7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4FAD72B3-1B8B-4B05-B201-419A776FB7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AC81E68B-1417-445D-9B51-60A0F91E5B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7D5A9E27-E07F-4466-9021-D25D85CDC9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CF5DC41D-2B9C-4659-9F3E-C3A2BDE8BC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5AA3263F-DADF-4BDD-82AC-F44BC4FE0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8999662B-626A-4D98-920C-CDA407F83B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D6C410A6-2F1A-4222-8D50-2781C5D7E5B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9221CD39-A736-45F1-92AA-8533C1D27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B3025FBC-7A41-410A-AC63-DD483277D2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09A5D562-F236-406C-A6FF-163F8FE290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98086E1B-8B11-4A2D-BB70-33C51E4762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7B908F0B-B32A-46B3-8587-82EC271B8C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B2687ECF-D561-41B0-AD3C-7F627A412B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F7F6218A-89E1-41D8-8C8C-6CF0F70F50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CAFE4E14-C851-4334-9F44-DFD70DD46D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7011BCD2-D4B9-4726-8FF7-FF4B12983A9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D21E20DA-52FD-41FC-AB37-5468D9F208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69EB0F03-97F9-4207-9552-FD5F92185E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F1675131-367D-4E22-8170-BE1BCA565B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CA3664D-20A4-4FCC-9CD3-E7A452C5B4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A9515CFE-D1C5-4594-A572-DB2235C694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DCFB6755-EA85-4DA9-A570-59F500E95F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824F6828-D6CE-44D4-BF48-6FA7F58862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97E302B6-BC6F-4DF5-B1FA-3BEE992671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42327E29-F07F-4C06-A1E3-19EBCABEE3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1FF70127-1DB3-4507-ABD4-BE6242907A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9655D743-D6D1-4AAF-8644-B7B6053308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AEB3D1EA-07D1-4406-BF5A-AEA41D7D21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0DFB99DC-1A5F-455D-9AD5-B84298D1CBA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30CD14F4-787A-4CB1-87CB-FD4A288166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A23CE74A-BDFD-4B56-84CA-734581FCF2A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E4FE61F-77E6-40E1-97B9-2B88B7CE9C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3C5471DE-7760-4942-9752-D8676B2BED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FC6266D-DA02-4614-88F2-7077DCC291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AE1A43A2-78D9-4279-B715-FED7BD949D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A2B18DEA-1741-42E2-9097-7B5DE00183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A78E9B74-5DCA-4B60-89A6-2B3A85E24A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057B4547-96DD-4BA0-994D-C76DE93AD3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30454D66-4E7A-44FE-9822-3D34133AB3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29051627-5724-440D-8B81-D4F83BE986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38507626-34D1-4BBF-B9EF-BDE8BBBFD6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209CB8E9-BC41-4D95-B65F-8285256AD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FB597DBE-D5A0-45B1-A659-8452BF04AB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053D2250-26AE-4ED4-8644-0A23D1CBCC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932173CC-8796-4913-BFB5-DEABBA8553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79FC0C90-AECD-45F4-8BAD-CA3DAC393C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9475113E-1AC5-4621-A394-9D0657FC01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EF8491AB-6DD8-4293-B4D7-550388F1BB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1851A60B-8BBD-4C38-9143-0AF1DC7836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B9810BA7-727E-4871-A866-A0CD5EE6CD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E2252C24-7565-4F9E-81B7-F0385F30CB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91095F58-4C7C-4261-AF74-4C8BEA99F8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A79FED60-FFC3-4420-BB54-25D7E3D20C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1B619CEC-F915-4E63-AF98-E4212F9F6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03FBB620-A91A-4FF4-B380-DC4FEC600F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912F7E0D-8362-4060-BB77-EC596B279A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4F11F9EE-F36A-4206-AE5B-60825B153B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342A80B-ACB4-4C6F-8250-212611A28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D4EC40C9-93C0-498E-A05D-17EF46BB9B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E42CF2F2-4895-495A-B10B-EE6C93BDBD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2AFEDFDC-CB51-46B4-8294-26B55F973A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AD19ED5F-B560-4366-AD14-9EC71C7ED6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42E95D3F-2E55-4021-9D6F-B6E7224C9B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F45660DB-2DA2-4937-B362-69FA55D2B5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FA488514-5D26-42FF-BD81-E9F2E1DE36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421E4366-604D-4893-BE4C-08D448A06C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9128E702-7B78-4B59-BAB4-530DF53A86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97456D98-32F2-4486-81EE-5CBDC5137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F3173B06-C53D-4E52-B3D3-7D10BB963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A5E08649-A0F1-4F92-9B1A-23DD0768E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0386755E-BD00-42F5-8AFD-3FE177FD6E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38479D89-3237-4F5A-9785-2F84E973FC5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F86502C8-2734-48E5-9834-A8435644CD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CEA77AA6-BB37-4CE8-9E75-DB4F595BA2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CF79F8C8-5618-4880-A26B-8310380F0E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880EE80C-A78F-4B21-985E-50CACEF2EB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0EDC8879-9797-42E5-AB8E-E36229BF3F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1B37764D-AF04-4F2C-81D9-5EFA3E5C028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31C6105B-1E1B-4444-A6E5-5B157F3C16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559B4EC8-EFFF-4DCA-AAB8-26AF6679DE1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ED93E274-9D58-4EC9-80D4-33D9D3A090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6E5616A1-0B5F-4D6D-910E-792B393B3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BDD0D9C8-A2E7-4C95-BBC5-5E2D62D670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509401FA-7222-4A17-828C-1729888E9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6" name="Graphic 4">
              <a:extLst>
                <a:ext uri="{FF2B5EF4-FFF2-40B4-BE49-F238E27FC236}">
                  <a16:creationId xmlns:a16="http://schemas.microsoft.com/office/drawing/2014/main" id="{7B025375-9B31-46A6-87EC-BA8E94E678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454AFC84-3FCF-4783-9CE6-BE7BCF5CB7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EEC3B2D5-1605-4334-8CC6-33D5D53E7F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93286B7-109A-47DD-BD18-3A8E2FCDF5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6E4611D-D180-45CC-95F3-4D780BF21A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075D9DF6-64E6-48A9-89BE-1AEDF3DBA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77E91B6-62FE-4219-8648-2FA062EE04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E05794AA-8ED8-4FEB-B9E2-3D68295520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EF7D50-E12D-4F46-9B10-16E903FB7F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4D885088-5CE2-4ABB-AC5F-8E295C63A4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7F9B5BB-81CC-442B-B607-5F084799EE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CC6AB35-BB47-42CE-9492-77B57C3613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E13E089E-A0F7-4B85-BFEF-EABBF38248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9306C271-11BD-4ACA-99FC-BC847B6ABD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A51C39C2-B68B-4FB3-AF93-3B6EFC5EB89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D19A9E62-BA64-414F-9053-428828BD4F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90F1A2A5-D670-4734-B018-570175184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D896E20F-D59A-4E5C-AAC2-ED79FCAC3C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B3B49622-0DD4-4378-A974-3EC752B2DE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BF83D4D-5E95-4F61-8A1C-624625209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FB270157-AA6D-4EE4-9506-368F8C97C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94DA0BEE-AE9D-4CE8-B249-C229E628E8F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D089CCA-7A85-405E-9AF7-96F814E3B8C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5E30352E-9DBA-4777-A093-B6F3D60607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264C5F14-2A45-42AA-948A-6C7D19578F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B3CF5D72-A8B6-4A2B-8F09-46F06C3B96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8D32D7ED-2507-43E0-BCA0-69F1D92198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6029896F-72B5-4FBB-98D7-A4A6B7A8EB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C735037E-DA25-4564-960C-F744D00E1C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975717CD-2FAA-46E2-825A-5A409DC36D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9ABAD2C5-9937-47FF-9A17-132CEA54C7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5319C0FD-333B-49B2-B54F-959084B1C6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A3F88462-C743-4DF3-9A31-09108B3DD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5A47CC3C-9310-422C-8AF8-CF56E286B3B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64CBAB0F-DFA6-4370-AF0D-EAEA0DA18E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CB75D567-78A7-4986-B241-E03EB5B6A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6065FE5-5B5D-426F-A331-FFB91E483E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8748863-F066-4C39-BA9E-951EA19F14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988B46B-EC58-4704-8960-75C617B2CE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3C8F94F3-22A8-4403-BAF4-DA1344D120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6144F6B6-FBD2-44C5-93F2-36FB060AB8E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FDFF1114-943E-4377-9482-AC35E9B91E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E29A169E-8860-41C6-B2BA-656C9E87F5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D1DA92F1-025A-41CC-892D-006269B6C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5B423574-AD0E-466C-A690-E3BF7ABCC0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C37E67DD-12D5-49FA-AE92-B1F4186329F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E085075-A03E-4D1C-A2BE-219D51E775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A552ECBE-4DF7-4004-80CB-33A3864DC1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B1DFB18-112F-43BE-938F-949ACF4CE4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7107EA75-B66F-478F-A9A4-8BE4090A18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B032A1FF-0163-4F65-9627-3D0E330E79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68F81DD7-3941-40F3-A5C5-1D25AD61E7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767D955C-E4A5-47E9-B07D-7C7FD8E39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331DEA5B-7DF4-4F3E-B837-7388E6701C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F640D8A9-2845-4810-99AA-3464C47FBC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6" name="Freeform: Shape 80">
                <a:extLst>
                  <a:ext uri="{FF2B5EF4-FFF2-40B4-BE49-F238E27FC236}">
                    <a16:creationId xmlns:a16="http://schemas.microsoft.com/office/drawing/2014/main" id="{C1AA428D-A610-40EA-926D-72664C6A3A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7" name="Freeform: Shape 81">
                <a:extLst>
                  <a:ext uri="{FF2B5EF4-FFF2-40B4-BE49-F238E27FC236}">
                    <a16:creationId xmlns:a16="http://schemas.microsoft.com/office/drawing/2014/main" id="{088B6BF5-3A26-476D-AF79-46892B0AEB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A0D38E94-BDA0-466A-866C-7D754B54B6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2E4807B4-64BB-4BB1-A6C7-B9F8B78FE5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AB74427A-2B27-4328-8ECD-0166E61D8A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058C6F50-4093-4240-B613-EA20F73E29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41C2F64-B446-495C-B3ED-DA19115FD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EDDACDA-D780-49ED-88B3-AC1E6CECD3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3B6F340F-6BFF-4869-B569-850333B1C4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4FC277F-1805-46F5-8D99-EE30A5FCD1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E3D8861-A4CB-46F2-812C-4857D1E763C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5C3AD847-D9CA-4EC5-890E-21244786F3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CA89CE44-4244-411C-A74F-1446D8BC13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60E6026F-2714-4620-8EE9-3C55C2D6C2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C0A828ED-45A9-4D69-975D-19CD36650C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970CBCD0-B8B7-483D-A17D-9351A1A47F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8BDEF120-B9AE-44F5-B98D-937D9C9293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8C22314-7ABA-46AF-98F6-EA626787D88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8E57EC52-CDFD-4DC8-8C7F-DA76CBC94D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2E44CDAD-CC81-4519-A934-3E75CB58F7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D7234B76-B5E7-497F-8C9A-BEADE7D2A5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308AC98-72DE-4623-8351-5CDBA5F858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16BCA60F-A345-4A89-8E76-8F628DE249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B712711F-FF52-40E0-8B6D-7AB132EFBB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EBB99ABA-6734-4713-A9AA-6A0613DB3D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A8DBC39A-A841-4DAD-A5EE-BAD254A4FA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E88E8002-19BD-4C58-ACEF-D092676D50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637DEA0B-D0C3-4386-B016-901208881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E085198-3B84-4E70-8004-5B739F0D07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1F8854E4-646B-4843-9429-2E68B3AE9A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D75E4420-1C5B-4C29-9622-F3DA7E0BFBD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69099746-E839-480D-A294-3851848558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35C60C66-6A6A-42B6-82CE-9F5BCAD5FF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A85425DE-B5F8-4166-8F76-168A6E6F58B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F5E9558-8664-40E2-818A-C90536250A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620CC716-8E51-492E-95F3-7DF5778E85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87956267-D439-4A6C-8779-9864DDF69C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E566625F-0177-4163-AAC6-DD5AA35254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01580694-1781-46F9-B2C4-76F4689BAD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1635D9A5-51BC-49A2-9AE2-4C8147FC5E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B6D58AC8-F8B3-4C3D-AE9F-26677AE638A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53CA316E-6515-47CF-9F53-7A0EE31AFA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F8E79866-F842-47A5-8D8C-0185FD69D0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A1939D2F-E660-4CFF-BF9C-2146DD9CC10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3F048F16-4CC3-406C-93A3-3CEDF31C42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BA5658A8-AB7B-409C-A206-50CDD5818C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1A4F8AC2-9FA1-4E5B-ACB2-661CAABFEE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6438DDE6-AE18-4B2A-92CE-57D6032A1C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19B002FA-1035-4DE8-8097-3675A4FB2E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699ADFD1-CBA1-4C59-A545-CA6EEAF2C48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85DDA6CB-B8BF-4E57-BF2E-5C880FAF87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6A8B2946-9D70-4DD4-B9B2-606E8F83A0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C319A466-F3AE-4F1F-BD2F-77D9F148B0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C6CF0A07-A757-404E-9880-5AF3D52DE4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DD3C2686-5B08-4159-865F-1B0A72E7EB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5AAB7354-0524-4F71-83F0-35FAFA9EEDC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C93C7EEE-727B-4A0D-AA01-3B0893F86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7F98C909-0D3D-402C-86A1-9647DA57B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29CF4616-0FC7-4D90-97D4-47F26C31B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A5151952-7057-44BC-B171-EC280CDD30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0CC14CA9-836E-4131-9614-CC7AF80C7A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B9227461-A59A-437A-A371-0B3DD0510E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4564435B-AE59-45CC-A733-1D61AB9A5F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24964014-4F54-4767-B2A1-1E68A49A2E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AB12DA42-BE2F-486C-A207-50F0B2A0D6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F35083CD-4EE4-48A6-BDE4-DCEB0CD087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2ACA69B4-304D-4E76-91E8-B824CC474C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05FBB8B7-7087-4F0C-8A80-BA19FA3C59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708B546A-B18E-4E08-B52F-1F1FB4515C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4D083028-5844-4BA9-91D6-6066256F8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46BDB7B8-D976-4509-BB67-E960BEB6E35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1F8D90CC-4AD0-49F4-B215-61FD0A2FE8D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FA255F4C-2D85-48C3-A425-B1B090100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64D88F2F-ACB0-4172-BB9F-71ABC334DB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6102F024-AF29-4883-BE6C-52EFD0207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809DB4B0-EDB8-4635-9A3D-B48E596585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BA4BB9B4-19AF-4964-8FDE-1C02C01F37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3466ACF5-678D-47AC-A8E1-250FBEA6E5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CF4BE354-56F1-4CC0-ABC3-CFA2255599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1FF6AB4A-7E14-48F4-B58E-D3BCD7F55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26A8026-2DFD-4691-81ED-CF8C6C8101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DCBE85A3-D478-4EBF-A094-768EDE80E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03629E-D0C6-47D9-9E55-FB00BFBAD0F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7ECA1C99-3F19-4C93-9683-CDDBE284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6E53F2EA-BC30-4BEC-BBA5-FF485FD8B6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4FE941FB-7EBE-489D-B1D8-06BC9E2F7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4FCECFFB-D979-4814-99CC-B8C0CCE047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5218BC88-1436-4861-9108-ED5C49172D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7C43492A-8ADB-4CDA-976F-F9159DE14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448A8C4E-CD2B-4E83-895D-6B1071C5E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2315E315-11E8-4514-BE71-EEA42E2372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26C36A72-5D83-400B-9DC6-D6A4F7D365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DF388598-6DD8-4B12-8DBD-1F8933348EE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42ADD8C0-C6F0-46A9-8D78-B6026B55BD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B5CC1749-FD2F-40FD-AA5A-CAFE9C6E2F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38F5A197-D6C9-4BDB-A9DE-7FFE84B351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0B6C64F3-7126-4337-9067-15A64EF535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5A902BCF-C9BF-4566-AC1E-1E91502F2B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09B1FBFF-C965-462A-9B34-D01689CAFE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C13CFECF-7502-40A2-92A6-3DBC74DF93C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01280C84-683C-4088-8E3C-8A98A6749E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747508C-3AE5-4D8D-A086-A46FDBEDEEB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EEC02501-119D-4C07-AB8C-A131B125B11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8F899201-EDD3-4F1A-89A6-345290E70E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225488C2-1481-42C0-AE4D-4052F7EFF7F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84F224FC-B0FB-4A2E-A9BD-0F7CFB241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D04F68AF-F37B-4407-8471-E549ADCFAA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6030291B-8F7B-4D02-A35F-561C0DAA8A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3E961417-D5BB-4D51-8FD8-3402284256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133EAFF3-FE9C-4606-89F9-19982C0FE9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01882DC7-070C-47B0-B378-FA112A6CAC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BDF1B4B0-0A75-4538-A610-7272090817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6E4AD28E-F206-45E2-9B00-A2E68FFB43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735023C8-4EFD-461A-8FFD-C78035856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7FFEB6B5-C11C-4B5F-BCC4-C86C5659E66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15993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9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783BD64-B320-2B62-7569-3A1922DCA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521" y="396117"/>
            <a:ext cx="5217172" cy="1158857"/>
          </a:xfrm>
        </p:spPr>
        <p:txBody>
          <a:bodyPr anchor="b">
            <a:normAutofit/>
          </a:bodyPr>
          <a:lstStyle/>
          <a:p>
            <a:r>
              <a:rPr lang="cs-CZ" sz="3400">
                <a:solidFill>
                  <a:schemeClr val="bg1"/>
                </a:solidFill>
              </a:rPr>
              <a:t>Přístup aplikací k zařízením a nutnost jejich omezení</a:t>
            </a:r>
          </a:p>
        </p:txBody>
      </p:sp>
      <p:sp>
        <p:nvSpPr>
          <p:cNvPr id="365" name="Graphic 212">
            <a:extLst>
              <a:ext uri="{FF2B5EF4-FFF2-40B4-BE49-F238E27FC236}">
                <a16:creationId xmlns:a16="http://schemas.microsoft.com/office/drawing/2014/main" id="{52D7FCC1-2D52-49CE-A986-EE6E0CA64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66" name="Graphic 212">
            <a:extLst>
              <a:ext uri="{FF2B5EF4-FFF2-40B4-BE49-F238E27FC236}">
                <a16:creationId xmlns:a16="http://schemas.microsoft.com/office/drawing/2014/main" id="{28C3CACD-E5A7-4AAC-AE47-75CF7D30F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791258" y="619275"/>
            <a:ext cx="932200" cy="932200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D01AB62-9729-F344-F0C5-1800E78BBC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520" y="1747592"/>
            <a:ext cx="5217173" cy="4351338"/>
          </a:xfrm>
        </p:spPr>
        <p:txBody>
          <a:bodyPr>
            <a:normAutofit/>
          </a:bodyPr>
          <a:lstStyle/>
          <a:p>
            <a:r>
              <a:rPr lang="cs-CZ" sz="1100">
                <a:solidFill>
                  <a:schemeClr val="bg1"/>
                </a:solidFill>
              </a:rPr>
              <a:t>Zálohování dat je proces, který spočívá v tvorbě a uchovávání kopie důležitých informací na externím úložišti nebo v cloudu. Tímto způsobem je možné minimalizovat riziko ztráty dat v případě havárie, útoku nebo jiného nečekaného incidentu.</a:t>
            </a:r>
          </a:p>
          <a:p>
            <a:endParaRPr lang="cs-CZ" sz="1100">
              <a:solidFill>
                <a:schemeClr val="bg1"/>
              </a:solidFill>
            </a:endParaRPr>
          </a:p>
          <a:p>
            <a:r>
              <a:rPr lang="cs-CZ" sz="1100">
                <a:solidFill>
                  <a:schemeClr val="bg1"/>
                </a:solidFill>
              </a:rPr>
              <a:t>Zálohování dat zajišťuje, že uživatelé mají vždy k dispozici aktuální kopii svých informací a mohou je obnovit v případě potřeby. Díky pravidelnému zálohování lze minimalizovat dopad výpadku systému nebo ztrátu dat a zajistit, že informační systém bude rychle obnoven do provozuschopného stavu.</a:t>
            </a:r>
          </a:p>
          <a:p>
            <a:endParaRPr lang="cs-CZ" sz="1100">
              <a:solidFill>
                <a:schemeClr val="bg1"/>
              </a:solidFill>
            </a:endParaRPr>
          </a:p>
          <a:p>
            <a:r>
              <a:rPr lang="cs-CZ" sz="1100">
                <a:solidFill>
                  <a:schemeClr val="bg1"/>
                </a:solidFill>
              </a:rPr>
              <a:t>Zálohování dat by mělo být prováděno pravidelně a důkladně, aby byla zajištěna dostupnost a integrity dat. Uživatelé by měli zálohovat veškeré důležité informace, včetně dokumentů, obrázků, databází, e-mailů a dalších dat, které považují za klíčové pro svou činnost.</a:t>
            </a:r>
          </a:p>
          <a:p>
            <a:endParaRPr lang="cs-CZ" sz="1100">
              <a:solidFill>
                <a:schemeClr val="bg1"/>
              </a:solidFill>
            </a:endParaRPr>
          </a:p>
          <a:p>
            <a:r>
              <a:rPr lang="cs-CZ" sz="1100">
                <a:solidFill>
                  <a:schemeClr val="bg1"/>
                </a:solidFill>
              </a:rPr>
              <a:t>Důležitým prvkem zálohování dat je také testování obnovy záloh. Uživatelé by měli pravidelně prověřovat schopnost obnovit data ze záloh a zjistit, zda je proces obnovy efektivní a spolehlivý. Tímto způsobem lze zajistit, že v případě potřeby budou data úspěšně obnoveny a informační systém bude rychle obnoven do provozuschopného stavu.</a:t>
            </a:r>
          </a:p>
        </p:txBody>
      </p:sp>
      <p:grpSp>
        <p:nvGrpSpPr>
          <p:cNvPr id="367" name="Group 15">
            <a:extLst>
              <a:ext uri="{FF2B5EF4-FFF2-40B4-BE49-F238E27FC236}">
                <a16:creationId xmlns:a16="http://schemas.microsoft.com/office/drawing/2014/main" id="{3A35C15A-135A-4FD3-BA11-A046CFA39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91531" y="1226111"/>
            <a:ext cx="1598829" cy="531293"/>
            <a:chOff x="6491531" y="1420258"/>
            <a:chExt cx="1598829" cy="531293"/>
          </a:xfrm>
          <a:solidFill>
            <a:schemeClr val="bg1"/>
          </a:solidFill>
        </p:grpSpPr>
        <p:grpSp>
          <p:nvGrpSpPr>
            <p:cNvPr id="369" name="Graphic 190">
              <a:extLst>
                <a:ext uri="{FF2B5EF4-FFF2-40B4-BE49-F238E27FC236}">
                  <a16:creationId xmlns:a16="http://schemas.microsoft.com/office/drawing/2014/main" id="{61E65A99-85A2-448D-AA1F-7690BD01A7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A127EC05-3250-408F-8F9F-A73F8B9B1D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E6D9B8D4-23BB-4CD2-A0FF-95423AFEB0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370" name="Graphic 190">
              <a:extLst>
                <a:ext uri="{FF2B5EF4-FFF2-40B4-BE49-F238E27FC236}">
                  <a16:creationId xmlns:a16="http://schemas.microsoft.com/office/drawing/2014/main" id="{91DC38B0-ED19-4BAC-A009-485461F23D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491531" y="1420258"/>
              <a:ext cx="1598829" cy="531293"/>
              <a:chOff x="2504802" y="1755501"/>
              <a:chExt cx="1598829" cy="531293"/>
            </a:xfrm>
            <a:grpFill/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1A2C10C3-E625-41E2-8047-2AE4A87F33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2113855"/>
                <a:ext cx="1598614" cy="172939"/>
              </a:xfrm>
              <a:custGeom>
                <a:avLst/>
                <a:gdLst>
                  <a:gd name="connsiteX0" fmla="*/ 1248648 w 1598614"/>
                  <a:gd name="connsiteY0" fmla="*/ 172939 h 172939"/>
                  <a:gd name="connsiteX1" fmla="*/ 1123031 w 1598614"/>
                  <a:gd name="connsiteY1" fmla="*/ 92708 h 172939"/>
                  <a:gd name="connsiteX2" fmla="*/ 1024085 w 1598614"/>
                  <a:gd name="connsiteY2" fmla="*/ 29469 h 172939"/>
                  <a:gd name="connsiteX3" fmla="*/ 925140 w 1598614"/>
                  <a:gd name="connsiteY3" fmla="*/ 92708 h 172939"/>
                  <a:gd name="connsiteX4" fmla="*/ 799522 w 1598614"/>
                  <a:gd name="connsiteY4" fmla="*/ 172939 h 172939"/>
                  <a:gd name="connsiteX5" fmla="*/ 799522 w 1598614"/>
                  <a:gd name="connsiteY5" fmla="*/ 172939 h 172939"/>
                  <a:gd name="connsiteX6" fmla="*/ 673905 w 1598614"/>
                  <a:gd name="connsiteY6" fmla="*/ 92708 h 172939"/>
                  <a:gd name="connsiteX7" fmla="*/ 574959 w 1598614"/>
                  <a:gd name="connsiteY7" fmla="*/ 29469 h 172939"/>
                  <a:gd name="connsiteX8" fmla="*/ 476014 w 1598614"/>
                  <a:gd name="connsiteY8" fmla="*/ 92708 h 172939"/>
                  <a:gd name="connsiteX9" fmla="*/ 350396 w 1598614"/>
                  <a:gd name="connsiteY9" fmla="*/ 172939 h 172939"/>
                  <a:gd name="connsiteX10" fmla="*/ 224778 w 1598614"/>
                  <a:gd name="connsiteY10" fmla="*/ 92708 h 172939"/>
                  <a:gd name="connsiteX11" fmla="*/ 125833 w 1598614"/>
                  <a:gd name="connsiteY11" fmla="*/ 29469 h 172939"/>
                  <a:gd name="connsiteX12" fmla="*/ 26887 w 1598614"/>
                  <a:gd name="connsiteY12" fmla="*/ 92708 h 172939"/>
                  <a:gd name="connsiteX13" fmla="*/ 0 w 1598614"/>
                  <a:gd name="connsiteY13" fmla="*/ 80232 h 172939"/>
                  <a:gd name="connsiteX14" fmla="*/ 125618 w 1598614"/>
                  <a:gd name="connsiteY14" fmla="*/ 0 h 172939"/>
                  <a:gd name="connsiteX15" fmla="*/ 251235 w 1598614"/>
                  <a:gd name="connsiteY15" fmla="*/ 80232 h 172939"/>
                  <a:gd name="connsiteX16" fmla="*/ 350181 w 1598614"/>
                  <a:gd name="connsiteY16" fmla="*/ 143471 h 172939"/>
                  <a:gd name="connsiteX17" fmla="*/ 449126 w 1598614"/>
                  <a:gd name="connsiteY17" fmla="*/ 80232 h 172939"/>
                  <a:gd name="connsiteX18" fmla="*/ 574744 w 1598614"/>
                  <a:gd name="connsiteY18" fmla="*/ 0 h 172939"/>
                  <a:gd name="connsiteX19" fmla="*/ 700362 w 1598614"/>
                  <a:gd name="connsiteY19" fmla="*/ 80232 h 172939"/>
                  <a:gd name="connsiteX20" fmla="*/ 799307 w 1598614"/>
                  <a:gd name="connsiteY20" fmla="*/ 143471 h 172939"/>
                  <a:gd name="connsiteX21" fmla="*/ 799307 w 1598614"/>
                  <a:gd name="connsiteY21" fmla="*/ 143471 h 172939"/>
                  <a:gd name="connsiteX22" fmla="*/ 898253 w 1598614"/>
                  <a:gd name="connsiteY22" fmla="*/ 80232 h 172939"/>
                  <a:gd name="connsiteX23" fmla="*/ 1023870 w 1598614"/>
                  <a:gd name="connsiteY23" fmla="*/ 0 h 172939"/>
                  <a:gd name="connsiteX24" fmla="*/ 1149488 w 1598614"/>
                  <a:gd name="connsiteY24" fmla="*/ 80232 h 172939"/>
                  <a:gd name="connsiteX25" fmla="*/ 1248433 w 1598614"/>
                  <a:gd name="connsiteY25" fmla="*/ 143471 h 172939"/>
                  <a:gd name="connsiteX26" fmla="*/ 1347379 w 1598614"/>
                  <a:gd name="connsiteY26" fmla="*/ 80232 h 172939"/>
                  <a:gd name="connsiteX27" fmla="*/ 1472997 w 1598614"/>
                  <a:gd name="connsiteY27" fmla="*/ 0 h 172939"/>
                  <a:gd name="connsiteX28" fmla="*/ 1598614 w 1598614"/>
                  <a:gd name="connsiteY28" fmla="*/ 80232 h 172939"/>
                  <a:gd name="connsiteX29" fmla="*/ 1571942 w 1598614"/>
                  <a:gd name="connsiteY29" fmla="*/ 92708 h 172939"/>
                  <a:gd name="connsiteX30" fmla="*/ 1472997 w 1598614"/>
                  <a:gd name="connsiteY30" fmla="*/ 29469 h 172939"/>
                  <a:gd name="connsiteX31" fmla="*/ 1374051 w 1598614"/>
                  <a:gd name="connsiteY31" fmla="*/ 92708 h 172939"/>
                  <a:gd name="connsiteX32" fmla="*/ 1248648 w 1598614"/>
                  <a:gd name="connsiteY32" fmla="*/ 172939 h 1729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614" h="172939">
                    <a:moveTo>
                      <a:pt x="1248648" y="172939"/>
                    </a:moveTo>
                    <a:cubicBezTo>
                      <a:pt x="1194229" y="172939"/>
                      <a:pt x="1146046" y="142180"/>
                      <a:pt x="1123031" y="92708"/>
                    </a:cubicBezTo>
                    <a:cubicBezTo>
                      <a:pt x="1104962" y="53775"/>
                      <a:pt x="1067105" y="29469"/>
                      <a:pt x="1024085" y="29469"/>
                    </a:cubicBezTo>
                    <a:cubicBezTo>
                      <a:pt x="981066" y="29469"/>
                      <a:pt x="943208" y="53775"/>
                      <a:pt x="925140" y="92708"/>
                    </a:cubicBezTo>
                    <a:cubicBezTo>
                      <a:pt x="902124" y="142180"/>
                      <a:pt x="853942" y="172939"/>
                      <a:pt x="799522" y="172939"/>
                    </a:cubicBezTo>
                    <a:cubicBezTo>
                      <a:pt x="799522" y="172939"/>
                      <a:pt x="799522" y="172939"/>
                      <a:pt x="799522" y="172939"/>
                    </a:cubicBezTo>
                    <a:cubicBezTo>
                      <a:pt x="744887" y="172939"/>
                      <a:pt x="696920" y="142180"/>
                      <a:pt x="673905" y="92708"/>
                    </a:cubicBezTo>
                    <a:cubicBezTo>
                      <a:pt x="655836" y="53775"/>
                      <a:pt x="617979" y="29469"/>
                      <a:pt x="574959" y="29469"/>
                    </a:cubicBezTo>
                    <a:cubicBezTo>
                      <a:pt x="531939" y="29469"/>
                      <a:pt x="494082" y="53775"/>
                      <a:pt x="476014" y="92708"/>
                    </a:cubicBezTo>
                    <a:cubicBezTo>
                      <a:pt x="452998" y="142180"/>
                      <a:pt x="405031" y="172939"/>
                      <a:pt x="350396" y="172939"/>
                    </a:cubicBezTo>
                    <a:cubicBezTo>
                      <a:pt x="295976" y="172939"/>
                      <a:pt x="247794" y="142180"/>
                      <a:pt x="224778" y="92708"/>
                    </a:cubicBezTo>
                    <a:cubicBezTo>
                      <a:pt x="206710" y="53775"/>
                      <a:pt x="168853" y="29469"/>
                      <a:pt x="125833" y="29469"/>
                    </a:cubicBezTo>
                    <a:cubicBezTo>
                      <a:pt x="82813" y="29469"/>
                      <a:pt x="44956" y="53775"/>
                      <a:pt x="26887" y="92708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268" y="30759"/>
                      <a:pt x="969235" y="0"/>
                      <a:pt x="1023870" y="0"/>
                    </a:cubicBezTo>
                    <a:cubicBezTo>
                      <a:pt x="1078505" y="0"/>
                      <a:pt x="1126472" y="30759"/>
                      <a:pt x="1149488" y="80232"/>
                    </a:cubicBezTo>
                    <a:cubicBezTo>
                      <a:pt x="1167556" y="119165"/>
                      <a:pt x="1205414" y="143471"/>
                      <a:pt x="1248433" y="143471"/>
                    </a:cubicBezTo>
                    <a:cubicBezTo>
                      <a:pt x="1291453" y="143471"/>
                      <a:pt x="1329311" y="119165"/>
                      <a:pt x="1347379" y="80232"/>
                    </a:cubicBezTo>
                    <a:cubicBezTo>
                      <a:pt x="1370394" y="30759"/>
                      <a:pt x="1418361" y="0"/>
                      <a:pt x="1472997" y="0"/>
                    </a:cubicBezTo>
                    <a:cubicBezTo>
                      <a:pt x="1527632" y="0"/>
                      <a:pt x="1575814" y="30759"/>
                      <a:pt x="1598614" y="80232"/>
                    </a:cubicBezTo>
                    <a:lnTo>
                      <a:pt x="1571942" y="92708"/>
                    </a:lnTo>
                    <a:cubicBezTo>
                      <a:pt x="1553874" y="53775"/>
                      <a:pt x="1515801" y="29469"/>
                      <a:pt x="1472997" y="29469"/>
                    </a:cubicBezTo>
                    <a:cubicBezTo>
                      <a:pt x="1429977" y="29469"/>
                      <a:pt x="1392119" y="53775"/>
                      <a:pt x="1374051" y="92708"/>
                    </a:cubicBezTo>
                    <a:cubicBezTo>
                      <a:pt x="1351251" y="142180"/>
                      <a:pt x="1303069" y="172939"/>
                      <a:pt x="1248648" y="172939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F0340A9-BD8A-4ABB-9AC1-7A14DF22EE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2504802" y="1755501"/>
                <a:ext cx="1598829" cy="172724"/>
              </a:xfrm>
              <a:custGeom>
                <a:avLst/>
                <a:gdLst>
                  <a:gd name="connsiteX0" fmla="*/ 1248648 w 1598829"/>
                  <a:gd name="connsiteY0" fmla="*/ 172724 h 172724"/>
                  <a:gd name="connsiteX1" fmla="*/ 1123031 w 1598829"/>
                  <a:gd name="connsiteY1" fmla="*/ 92492 h 172724"/>
                  <a:gd name="connsiteX2" fmla="*/ 1024085 w 1598829"/>
                  <a:gd name="connsiteY2" fmla="*/ 29253 h 172724"/>
                  <a:gd name="connsiteX3" fmla="*/ 925140 w 1598829"/>
                  <a:gd name="connsiteY3" fmla="*/ 92492 h 172724"/>
                  <a:gd name="connsiteX4" fmla="*/ 799522 w 1598829"/>
                  <a:gd name="connsiteY4" fmla="*/ 172724 h 172724"/>
                  <a:gd name="connsiteX5" fmla="*/ 799522 w 1598829"/>
                  <a:gd name="connsiteY5" fmla="*/ 172724 h 172724"/>
                  <a:gd name="connsiteX6" fmla="*/ 673905 w 1598829"/>
                  <a:gd name="connsiteY6" fmla="*/ 92492 h 172724"/>
                  <a:gd name="connsiteX7" fmla="*/ 574959 w 1598829"/>
                  <a:gd name="connsiteY7" fmla="*/ 29253 h 172724"/>
                  <a:gd name="connsiteX8" fmla="*/ 476014 w 1598829"/>
                  <a:gd name="connsiteY8" fmla="*/ 92492 h 172724"/>
                  <a:gd name="connsiteX9" fmla="*/ 350396 w 1598829"/>
                  <a:gd name="connsiteY9" fmla="*/ 172724 h 172724"/>
                  <a:gd name="connsiteX10" fmla="*/ 224778 w 1598829"/>
                  <a:gd name="connsiteY10" fmla="*/ 92492 h 172724"/>
                  <a:gd name="connsiteX11" fmla="*/ 125833 w 1598829"/>
                  <a:gd name="connsiteY11" fmla="*/ 29253 h 172724"/>
                  <a:gd name="connsiteX12" fmla="*/ 26887 w 1598829"/>
                  <a:gd name="connsiteY12" fmla="*/ 92492 h 172724"/>
                  <a:gd name="connsiteX13" fmla="*/ 0 w 1598829"/>
                  <a:gd name="connsiteY13" fmla="*/ 80232 h 172724"/>
                  <a:gd name="connsiteX14" fmla="*/ 125618 w 1598829"/>
                  <a:gd name="connsiteY14" fmla="*/ 0 h 172724"/>
                  <a:gd name="connsiteX15" fmla="*/ 251235 w 1598829"/>
                  <a:gd name="connsiteY15" fmla="*/ 80232 h 172724"/>
                  <a:gd name="connsiteX16" fmla="*/ 350181 w 1598829"/>
                  <a:gd name="connsiteY16" fmla="*/ 143471 h 172724"/>
                  <a:gd name="connsiteX17" fmla="*/ 449126 w 1598829"/>
                  <a:gd name="connsiteY17" fmla="*/ 80232 h 172724"/>
                  <a:gd name="connsiteX18" fmla="*/ 574744 w 1598829"/>
                  <a:gd name="connsiteY18" fmla="*/ 0 h 172724"/>
                  <a:gd name="connsiteX19" fmla="*/ 700362 w 1598829"/>
                  <a:gd name="connsiteY19" fmla="*/ 80232 h 172724"/>
                  <a:gd name="connsiteX20" fmla="*/ 799307 w 1598829"/>
                  <a:gd name="connsiteY20" fmla="*/ 143471 h 172724"/>
                  <a:gd name="connsiteX21" fmla="*/ 799307 w 1598829"/>
                  <a:gd name="connsiteY21" fmla="*/ 143471 h 172724"/>
                  <a:gd name="connsiteX22" fmla="*/ 898253 w 1598829"/>
                  <a:gd name="connsiteY22" fmla="*/ 80232 h 172724"/>
                  <a:gd name="connsiteX23" fmla="*/ 1024085 w 1598829"/>
                  <a:gd name="connsiteY23" fmla="*/ 0 h 172724"/>
                  <a:gd name="connsiteX24" fmla="*/ 1149703 w 1598829"/>
                  <a:gd name="connsiteY24" fmla="*/ 80232 h 172724"/>
                  <a:gd name="connsiteX25" fmla="*/ 1248648 w 1598829"/>
                  <a:gd name="connsiteY25" fmla="*/ 143471 h 172724"/>
                  <a:gd name="connsiteX26" fmla="*/ 1347594 w 1598829"/>
                  <a:gd name="connsiteY26" fmla="*/ 80232 h 172724"/>
                  <a:gd name="connsiteX27" fmla="*/ 1473212 w 1598829"/>
                  <a:gd name="connsiteY27" fmla="*/ 0 h 172724"/>
                  <a:gd name="connsiteX28" fmla="*/ 1598829 w 1598829"/>
                  <a:gd name="connsiteY28" fmla="*/ 80232 h 172724"/>
                  <a:gd name="connsiteX29" fmla="*/ 1572157 w 1598829"/>
                  <a:gd name="connsiteY29" fmla="*/ 92492 h 172724"/>
                  <a:gd name="connsiteX30" fmla="*/ 1473212 w 1598829"/>
                  <a:gd name="connsiteY30" fmla="*/ 29253 h 172724"/>
                  <a:gd name="connsiteX31" fmla="*/ 1374266 w 1598829"/>
                  <a:gd name="connsiteY31" fmla="*/ 92492 h 172724"/>
                  <a:gd name="connsiteX32" fmla="*/ 1248648 w 1598829"/>
                  <a:gd name="connsiteY32" fmla="*/ 172724 h 172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1598829" h="172724">
                    <a:moveTo>
                      <a:pt x="1248648" y="172724"/>
                    </a:moveTo>
                    <a:cubicBezTo>
                      <a:pt x="1194229" y="172724"/>
                      <a:pt x="1146046" y="141965"/>
                      <a:pt x="1123031" y="92492"/>
                    </a:cubicBezTo>
                    <a:cubicBezTo>
                      <a:pt x="1104962" y="53560"/>
                      <a:pt x="1067105" y="29253"/>
                      <a:pt x="1024085" y="29253"/>
                    </a:cubicBezTo>
                    <a:cubicBezTo>
                      <a:pt x="981066" y="29253"/>
                      <a:pt x="943208" y="53560"/>
                      <a:pt x="925140" y="92492"/>
                    </a:cubicBezTo>
                    <a:cubicBezTo>
                      <a:pt x="902124" y="141965"/>
                      <a:pt x="853942" y="172724"/>
                      <a:pt x="799522" y="172724"/>
                    </a:cubicBezTo>
                    <a:cubicBezTo>
                      <a:pt x="799522" y="172724"/>
                      <a:pt x="799522" y="172724"/>
                      <a:pt x="799522" y="172724"/>
                    </a:cubicBezTo>
                    <a:cubicBezTo>
                      <a:pt x="744887" y="172724"/>
                      <a:pt x="696920" y="141965"/>
                      <a:pt x="673905" y="92492"/>
                    </a:cubicBezTo>
                    <a:cubicBezTo>
                      <a:pt x="655836" y="53560"/>
                      <a:pt x="617979" y="29253"/>
                      <a:pt x="574959" y="29253"/>
                    </a:cubicBezTo>
                    <a:cubicBezTo>
                      <a:pt x="531939" y="29253"/>
                      <a:pt x="494082" y="53560"/>
                      <a:pt x="476014" y="92492"/>
                    </a:cubicBezTo>
                    <a:cubicBezTo>
                      <a:pt x="452998" y="141965"/>
                      <a:pt x="405031" y="172724"/>
                      <a:pt x="350396" y="172724"/>
                    </a:cubicBezTo>
                    <a:cubicBezTo>
                      <a:pt x="295976" y="172724"/>
                      <a:pt x="247794" y="141965"/>
                      <a:pt x="224778" y="92492"/>
                    </a:cubicBezTo>
                    <a:cubicBezTo>
                      <a:pt x="206710" y="53560"/>
                      <a:pt x="168853" y="29253"/>
                      <a:pt x="125833" y="29253"/>
                    </a:cubicBezTo>
                    <a:cubicBezTo>
                      <a:pt x="82813" y="29253"/>
                      <a:pt x="44956" y="53560"/>
                      <a:pt x="26887" y="92492"/>
                    </a:cubicBezTo>
                    <a:lnTo>
                      <a:pt x="0" y="80232"/>
                    </a:lnTo>
                    <a:cubicBezTo>
                      <a:pt x="23016" y="30759"/>
                      <a:pt x="70983" y="0"/>
                      <a:pt x="125618" y="0"/>
                    </a:cubicBezTo>
                    <a:cubicBezTo>
                      <a:pt x="180253" y="0"/>
                      <a:pt x="228220" y="30759"/>
                      <a:pt x="251235" y="80232"/>
                    </a:cubicBezTo>
                    <a:cubicBezTo>
                      <a:pt x="269304" y="119165"/>
                      <a:pt x="307376" y="143471"/>
                      <a:pt x="350181" y="143471"/>
                    </a:cubicBezTo>
                    <a:cubicBezTo>
                      <a:pt x="393201" y="143471"/>
                      <a:pt x="431058" y="119165"/>
                      <a:pt x="449126" y="80232"/>
                    </a:cubicBezTo>
                    <a:cubicBezTo>
                      <a:pt x="472142" y="30759"/>
                      <a:pt x="520324" y="0"/>
                      <a:pt x="574744" y="0"/>
                    </a:cubicBezTo>
                    <a:cubicBezTo>
                      <a:pt x="629164" y="0"/>
                      <a:pt x="677346" y="30759"/>
                      <a:pt x="700362" y="80232"/>
                    </a:cubicBezTo>
                    <a:cubicBezTo>
                      <a:pt x="718430" y="119165"/>
                      <a:pt x="756287" y="143471"/>
                      <a:pt x="799307" y="143471"/>
                    </a:cubicBezTo>
                    <a:lnTo>
                      <a:pt x="799307" y="143471"/>
                    </a:lnTo>
                    <a:cubicBezTo>
                      <a:pt x="842327" y="143471"/>
                      <a:pt x="880184" y="119165"/>
                      <a:pt x="898253" y="80232"/>
                    </a:cubicBezTo>
                    <a:cubicBezTo>
                      <a:pt x="921483" y="30759"/>
                      <a:pt x="969450" y="0"/>
                      <a:pt x="1024085" y="0"/>
                    </a:cubicBezTo>
                    <a:cubicBezTo>
                      <a:pt x="1078720" y="0"/>
                      <a:pt x="1126688" y="30759"/>
                      <a:pt x="1149703" y="80232"/>
                    </a:cubicBezTo>
                    <a:cubicBezTo>
                      <a:pt x="1167771" y="119165"/>
                      <a:pt x="1205629" y="143471"/>
                      <a:pt x="1248648" y="143471"/>
                    </a:cubicBezTo>
                    <a:cubicBezTo>
                      <a:pt x="1291668" y="143471"/>
                      <a:pt x="1329526" y="119165"/>
                      <a:pt x="1347594" y="80232"/>
                    </a:cubicBezTo>
                    <a:cubicBezTo>
                      <a:pt x="1370610" y="30759"/>
                      <a:pt x="1418792" y="0"/>
                      <a:pt x="1473212" y="0"/>
                    </a:cubicBezTo>
                    <a:cubicBezTo>
                      <a:pt x="1527847" y="0"/>
                      <a:pt x="1576029" y="30759"/>
                      <a:pt x="1598829" y="80232"/>
                    </a:cubicBezTo>
                    <a:lnTo>
                      <a:pt x="1572157" y="92492"/>
                    </a:lnTo>
                    <a:cubicBezTo>
                      <a:pt x="1554089" y="53560"/>
                      <a:pt x="1516016" y="29253"/>
                      <a:pt x="1473212" y="29253"/>
                    </a:cubicBezTo>
                    <a:cubicBezTo>
                      <a:pt x="1430192" y="29253"/>
                      <a:pt x="1392335" y="53560"/>
                      <a:pt x="1374266" y="92492"/>
                    </a:cubicBezTo>
                    <a:cubicBezTo>
                      <a:pt x="1351251" y="141965"/>
                      <a:pt x="1303069" y="172724"/>
                      <a:pt x="1248648" y="172724"/>
                    </a:cubicBezTo>
                    <a:close/>
                  </a:path>
                </a:pathLst>
              </a:custGeom>
              <a:grpFill/>
              <a:ln w="21496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  <p:pic>
        <p:nvPicPr>
          <p:cNvPr id="5" name="Obrázek 4" descr="Obsah obrázku snímek obrazovky, Barevnost, Grafika, kruh&#10;&#10;Popis byl vytvořen automaticky">
            <a:extLst>
              <a:ext uri="{FF2B5EF4-FFF2-40B4-BE49-F238E27FC236}">
                <a16:creationId xmlns:a16="http://schemas.microsoft.com/office/drawing/2014/main" id="{BA035F4C-75A0-4C72-D615-F7CA77737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021" y="2095859"/>
            <a:ext cx="3555043" cy="2666282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03AF83E4-4DE2-499C-9F36-0279E7E4F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154385" y="4452524"/>
            <a:ext cx="1443404" cy="1443428"/>
            <a:chOff x="10154385" y="4452524"/>
            <a:chExt cx="1443404" cy="1443428"/>
          </a:xfrm>
          <a:solidFill>
            <a:schemeClr val="bg1"/>
          </a:solidFill>
        </p:grpSpPr>
        <p:grpSp>
          <p:nvGrpSpPr>
            <p:cNvPr id="25" name="Graphic 4">
              <a:extLst>
                <a:ext uri="{FF2B5EF4-FFF2-40B4-BE49-F238E27FC236}">
                  <a16:creationId xmlns:a16="http://schemas.microsoft.com/office/drawing/2014/main" id="{0B09EB4D-4323-43F4-9970-42885A83A8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BA9C6284-1137-47FE-9471-23CA824947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A00A6D3C-23F9-41D9-B891-14D8E2E98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8F8D96F5-1ED7-4891-8D8B-A24E72DA7C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0E9A3A72-EC37-423D-B309-A6487A86C7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EBE630AB-13C0-44A2-80CA-C07483E934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B7768337-3D65-4FE5-8E1A-D79219E0A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968E4331-550E-4929-ACE8-D2ED2D6EA3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768D8817-CAEE-45BB-820E-A67C68D480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350A8C31-0139-4ABD-967A-139738E88F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9855AEE1-1C1C-4832-8B4C-042F59E029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A41C5A32-BD0A-4457-9CF7-97467FA2B7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93C14A20-2E3C-49F8-AF55-C384FEB9551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DB167719-0D82-4ABF-9BC8-B073A84741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660582DE-E250-4561-9298-E4FADEB90F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820B635A-6E81-4D8A-98A3-141E57A6FF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3909A0ED-D070-4792-A2EE-CCEB6BA63C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4619A19C-3B55-4085-8668-4589996280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87D16772-2B59-486E-BE47-65D591C088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1D6A06B8-1E4A-497F-B977-F78E5D7D00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55BC53AD-5249-4FB1-AB74-3F71AAEB5A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36F8561A-874A-48BB-BCC2-07F002ED4FD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BA6B1B8F-9695-447F-BF2F-9010D40A07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454192F9-26C5-4212-BA60-CADA662AFE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BFBDA013-4858-422E-AE7A-614BF71FBAC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42BA261C-0C75-431D-9FD5-2C3AA241BE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0F8709D9-2655-4A39-9228-BCFCBF4122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9653F80B-5CF7-45EF-889B-FD0AAF4835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2A1DA86A-7442-4897-88A4-EDD18A01C5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39623279-A4CE-49AC-B5FA-CD224324BE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EB9D8B4D-1BE5-4CD9-A592-D0D3D76911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769A47A3-F5B7-4BF0-B920-21A62F96F7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6E5DCDE9-48A4-41BA-987D-CC72C62B36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0F51F840-3DBF-444E-BC79-718416C51D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2DFD2B64-98D0-4E59-AE1F-693872F36D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CF09CB65-8B7E-426C-A3FE-DD20196FCB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43149294-A5BC-4E62-A167-3CD55E05B3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DB99FCDF-C9A0-40F7-ABDE-7247B2238D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0CE59751-EC07-43C1-A5F5-AF5D30EBBE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4573CCF2-67F2-4BD1-A01C-1D064B908F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1C60C662-612D-485A-A50D-E938C6E49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0048F63C-A2BB-4D89-9649-91EC2045C0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C29F96C-43D4-4F0F-A76D-4CED9C610C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B660107F-776B-455F-AC78-225F21B81DE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B1DB332-7265-477D-9A04-EDB3799DEA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EBBEFE2D-1654-40D8-A838-45728A16836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190211E2-64DF-4171-811B-B8A0CD87B9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F7CDCE8-8B48-4859-BDFE-FCB7BC6F58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B770A8C4-614E-4295-A937-718CC61B25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A699ADB6-675C-44B0-B96E-EDD7AC1F96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64875E98-2AA1-4001-90EA-2F3D9E017E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5BEC7219-356F-4141-B57B-8BCD85BF777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564D4AAB-BB2C-4A77-BB45-94EEC66CD75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CE9CF29A-81CA-4A03-8B04-55F5668826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52FEFF22-7798-4730-9C0B-EC7EAFCD01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00149276-D167-4D2B-93F1-FD2958302B7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E7DC22D5-A39C-4789-A952-D891488772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7BA51EF1-15F0-4193-AB83-F8C8A64D62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3FB75ADB-F020-4C56-91C6-9AB4629855A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DBCE5CDF-BBF6-4E67-8CCE-9482D7EB4F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2138BABC-E51C-4F80-972E-CF44385C1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96B0C850-272E-4B08-8779-B872DCAA37C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2EEE54AF-B9C2-494D-9E02-2F67FEF7A2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D21349A4-F7C9-492C-A658-EA9F7538B6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D88D1ED8-AC07-4621-9933-E10CE61220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6FD21FCD-1DA9-45C2-9AB5-548EE0E6E6E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8BDD8CA-1442-470F-A5D3-FC8A87A103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3B8DF094-690E-4C13-8284-7A7C97441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FE0B926C-A114-444D-BA51-FECE28B03C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00BDE6CC-5F54-4752-ACC4-E3BCF2BEEA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6E28F857-CCD8-4222-84C0-A0B415E7BD8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CD2687E0-0214-44E6-8BB1-34F6B7BA89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7F1236AA-FC17-487E-83B1-D71BCB2A87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623384AA-72EF-4BCF-9137-1944405836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1BD81D1B-2270-4FBE-B437-F0DBB8DDFFF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6411E268-F8CA-4C78-82ED-DDCF28B0BE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D48F8732-5205-4843-A2EB-3E0EB18F9F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DC5966DA-8E1A-43FF-A1A4-C6879B45644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E3BEFD3E-662F-4B38-859E-093A14241D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06C52F63-F17B-4356-A3AE-9707D93D29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85706A28-0822-4064-AD3E-2A1F4E1C9E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348A813F-1672-44DB-A207-F3494E7C28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6FC8AEBA-4BD5-4BB0-B004-A8B06B6A41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71ED8D8F-0325-426C-9257-1A5048211F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0FF054DF-85C2-466A-9D64-EB6D95AA82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2D01FA60-E77D-41EE-8228-CFB979E3D5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AC8D6F02-E0C8-4EF5-9D41-E75C16C16E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BD111AAF-4EE4-4A89-84D2-4201F035D7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E8F4C133-3F54-4715-A7D6-4261B9A998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0BAA2E6B-E393-45EA-8AE6-A775AA69CC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7DB4F953-9FE8-4B8D-A62B-CB20A7037A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9D918AF2-85FB-436F-99DB-622B076646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1F078C58-0893-4D64-B685-BCB70CAC62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AEDA3784-7618-477C-A8B0-36FA393D64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0AC49727-CA00-439E-82D4-B446B78965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6B67B441-65C8-4A53-968B-C56CB40867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94CEDDB5-CC85-4A9E-A73C-85D7B714F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80BF7883-770D-4CA2-BE01-C5F4B102B96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7DF07BC6-9560-430C-86FA-AFA6F7DF09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9B085920-7744-44C8-AF91-D2F16C997D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22308C0A-08FC-4AAA-87B2-1E57033E4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AB727BDA-993C-4BB5-8CED-8D50C55F7A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1BB192D1-56DC-4342-911C-7D80A9084D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337ADC5A-E225-4E91-B940-2DD15330E7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0D170CF5-349D-4588-8AD3-373D47A4E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297A6982-5B80-4376-A9D2-C11E9B0843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0B14F779-546D-4011-8459-2E8E34C505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35AE6943-22C6-405D-A071-F8EC29DAB0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2464DBFD-1DA1-456F-8427-CF66CD4C8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C9CA1114-00C4-448B-BF9A-9D70C709B00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2101A885-A4A8-4AFE-9905-E510D58C84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661E165D-4826-43AD-AD75-1C965A71A0B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C1F2231A-5945-44AF-95E4-6D14529C8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1998F14A-698C-4220-92B8-2EC10C3561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496E0BBF-D595-4DAE-91C6-4EB179C693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E31F1BC0-CB0A-4386-BE5E-7972AFB050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B1575BDE-4CFA-4FAD-9F64-692A6DBFF5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9D32D2E3-5D5B-4751-A477-A26860AC17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92009233-25F1-4029-B170-318CBBA00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CCBFA5E5-8384-4D58-BD73-BA36E23E80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ACBBAC3-185E-4C28-81AB-C9BE2A88DE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225AF996-F3FB-4AF2-B954-BDF79069E75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E10B0127-17D3-4B62-8708-9558A79455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A36A9D1B-B750-446F-99FF-E3280E32AD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C078DB92-DE53-4BEC-BBD4-B5966EAA16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7334AD7D-F850-4E92-89F9-49EE6E3AA7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14D983A3-96A9-4BB8-90D5-93B0E625F8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43A1FFE3-BB5F-4455-B23F-DA56AE791E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C34E69E0-4115-4CAA-86FB-1D5A8830D9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E5707C7C-BEB2-4920-9D44-8AF218FFBF6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D95D2E5E-6D1E-43FC-A231-E28A08296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B511D52-FE0D-4F8D-AC2F-6806904C67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E4D31CC7-D38B-4566-A6F9-5CB84EEAADC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48116577-FA2A-434D-83D4-213A1497D2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02288414-AA9B-4065-A506-AE5ED2ABC51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92EAF5E5-70A0-4FE6-B906-6BCF9C49F7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3DA12971-2CD2-4DE8-8B05-8B11B5614B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9486073-CABC-45A3-B442-5959E5CE6D4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3EEB7953-85A2-4391-931C-CE88AC0532F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1BF2EBC9-4A08-4A35-8C75-15E51BA0AB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1686BEF1-7F1A-40F6-BC3F-24221ACECC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5D2D2281-DA3F-41A6-B56E-2EE507826A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1EBA419-056B-478C-A25C-B349F4DDD9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3DE38383-61B3-4E4E-B781-1C7DA04D65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F62AD048-154B-4830-A46F-263BA35AA7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636A730F-15EE-440C-84B5-0541AE95468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1AF286F-6D0E-447F-B4D1-24729E0D62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36F64061-98E4-477D-BABF-CC6BA8D676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1C601616-D38B-4ED2-BD55-F5AEA36AB0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E0593B16-48EE-41A8-B4AF-E03A74CBB8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26B2406B-8A3A-4381-8D69-1178F16C4D1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DF1F792D-BA16-4D8F-99C3-E5E6959A51B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AA77D5AF-6FFE-4577-BC40-BA19023071D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08F16A01-2EE8-4E4F-83CD-2000577D1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18ACB7FF-8D64-44A2-8571-7DB441D97E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E15E0D81-20B6-4D4C-9B7C-4D5A01B6AA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8F687395-0ADA-4504-B6D0-D55493AB66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94D99C3F-4701-403D-A69E-EE345B0E41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0C6D9CF1-A535-4742-B2CF-B61ADC55ED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E9EB265F-CF4E-4485-88F1-AE3CE1BE37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9B354D37-6517-4AF4-8195-9A7B43D20C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A3087FA-3C5B-4898-9FE2-633DAA0B74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C8D7AB32-147E-4110-ABBE-7F1FB68942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42ED17E-A6FC-4BC6-B7FE-EF9BC5B151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610CFBC-B173-4CBE-BBD7-7E859FCAB0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7578019C-8AAF-4A81-84C4-155EB43FAF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46936191-0661-4BD8-9A61-D00FAC97DF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F7BC1D8F-F88B-4A19-B640-8DCC73992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47D77817-943A-4D8A-82EE-C309FC9FF06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BF86E220-D031-40B7-B3A2-0C723E3A91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26" name="Graphic 4">
              <a:extLst>
                <a:ext uri="{FF2B5EF4-FFF2-40B4-BE49-F238E27FC236}">
                  <a16:creationId xmlns:a16="http://schemas.microsoft.com/office/drawing/2014/main" id="{226E1D80-1BFB-4A13-8F3C-94D54398C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10154385" y="4452524"/>
              <a:ext cx="1443404" cy="1443428"/>
              <a:chOff x="5734037" y="3067039"/>
              <a:chExt cx="724483" cy="724489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3DCC1C21-CB11-4506-90E4-37DCD97AFC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067039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68177170-8FD3-4752-B1DB-0186ADF9B14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CAA5FB4-9073-4612-99F5-95E1C6D067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DE021324-18DD-4114-8992-9652707C16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6ECBC33B-D8EB-4804-9EA3-57C07B57C0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D03927C7-0E45-4B61-844A-4A626FDF6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AC6AF6E8-E748-47F7-B35C-567D5FBA6C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1EC671E5-B299-470C-9C7A-A50106E51B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26284"/>
                <a:ext cx="14192" cy="14097"/>
              </a:xfrm>
              <a:custGeom>
                <a:avLst/>
                <a:gdLst>
                  <a:gd name="connsiteX0" fmla="*/ 14192 w 14192"/>
                  <a:gd name="connsiteY0" fmla="*/ 7049 h 14097"/>
                  <a:gd name="connsiteX1" fmla="*/ 7144 w 14192"/>
                  <a:gd name="connsiteY1" fmla="*/ 14097 h 14097"/>
                  <a:gd name="connsiteX2" fmla="*/ 0 w 14192"/>
                  <a:gd name="connsiteY2" fmla="*/ 7049 h 14097"/>
                  <a:gd name="connsiteX3" fmla="*/ 7049 w 14192"/>
                  <a:gd name="connsiteY3" fmla="*/ 0 h 14097"/>
                  <a:gd name="connsiteX4" fmla="*/ 14192 w 14192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410EBDF-623D-41EF-82A4-9FB938A7B6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2628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B6F866F8-B429-471B-9C2B-051BDCBAF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883B4FBD-06C8-4D5D-B0D9-755E4CD1AA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DE3FD149-0B2F-4DA0-9721-59B9FEE8E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4D26DB48-036E-4616-BA8B-C606A7B58B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12628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8 w 14097"/>
                  <a:gd name="connsiteY1" fmla="*/ 14097 h 14097"/>
                  <a:gd name="connsiteX2" fmla="*/ 0 w 14097"/>
                  <a:gd name="connsiteY2" fmla="*/ 7049 h 14097"/>
                  <a:gd name="connsiteX3" fmla="*/ 7048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8D6F6275-06AB-4316-B8C4-927E53487C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2628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8E8CABF3-9C76-46A0-8DE9-F055C94A93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18543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01A12ED9-6299-4ABD-9827-DD52FE22B2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C0ADA37A-E396-4F92-AB19-D6994E0DD5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6A96001A-BD0F-4CF9-A22B-545ED4F86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D9ACB13-4C6C-4347-9F65-1309B33A175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1F17BE4A-72F8-4529-8558-E62103AEA7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18543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806708C3-D03F-4605-8C6F-AE8EDA0838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18543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D520ADFA-68AE-4CE4-913A-F070A2817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24467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3C6C63AD-C87A-403E-ADB5-4EDD034438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244677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9370EAC6-89F0-4826-90D1-E55C3344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1FB61DD4-AB7B-417A-AE96-B1D9CBAC102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B4AD18D2-11BA-4192-9845-206C033F3E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85892E2D-483A-4C0A-87C7-6FFA2EB5E2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24467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A4037ACD-005D-4907-942F-D565AF6C83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244677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AA8FD84E-39BE-456B-84C5-E03698AAC9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03829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B2FC47C2-6EF5-4D17-8703-527F28609C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DD29BC8A-00E1-481E-8BA4-1AA7F4AA12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5AF6ABE5-726A-495B-A832-3851CB9115D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F8E250A7-0600-440B-BEBC-61B2D4D7B1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C36BEB1-881D-4496-AD7F-1CC4B46FA5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371DFE25-AF37-409C-B032-5F47D7150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39AF97A7-FC44-49BF-ABD1-59DB48B898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363074"/>
                <a:ext cx="14192" cy="14097"/>
              </a:xfrm>
              <a:custGeom>
                <a:avLst/>
                <a:gdLst>
                  <a:gd name="connsiteX0" fmla="*/ 14192 w 14192"/>
                  <a:gd name="connsiteY0" fmla="*/ 7048 h 14097"/>
                  <a:gd name="connsiteX1" fmla="*/ 7144 w 14192"/>
                  <a:gd name="connsiteY1" fmla="*/ 14097 h 14097"/>
                  <a:gd name="connsiteX2" fmla="*/ 0 w 14192"/>
                  <a:gd name="connsiteY2" fmla="*/ 7048 h 14097"/>
                  <a:gd name="connsiteX3" fmla="*/ 7049 w 14192"/>
                  <a:gd name="connsiteY3" fmla="*/ 0 h 14097"/>
                  <a:gd name="connsiteX4" fmla="*/ 14192 w 14192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7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3939D792-9C64-48CF-8607-C7873A563AD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2F69E48F-45D8-4A8A-A101-5DF775A5396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EE47C3F3-8AC5-414F-8E20-25DA306C552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F09CB222-24C1-414A-B56E-EA3617D05C5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7FC26844-A93E-4C55-8619-F58615B4A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363074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8 w 14097"/>
                  <a:gd name="connsiteY1" fmla="*/ 14097 h 14097"/>
                  <a:gd name="connsiteX2" fmla="*/ 0 w 14097"/>
                  <a:gd name="connsiteY2" fmla="*/ 7048 h 14097"/>
                  <a:gd name="connsiteX3" fmla="*/ 7048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3EA8BA8A-4848-4084-A841-501CECF285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34BC148C-3116-4C75-89DF-2BF3484297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2222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1F3F7CB-7B69-49A3-A09E-D20648831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58072F8C-2347-472F-9D9A-F5511BA40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322C76E0-8D4F-4788-9856-B1AB15B2092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63A9EC23-E263-4098-AC45-E628E1A297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B72211D0-3733-443C-999F-6CE736381C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CEC069AD-6364-4585-A8F1-931648A1BF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39361719-49F1-40E3-9ABA-2FE9D78364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067039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6953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37F2D47-03EF-4AE6-ABB9-36506DF5A40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2554F257-3BD2-493C-A5F1-FCC2C64C35E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9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4D297D55-4523-4CE1-9A0F-3EA6B27F79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605D1D96-783B-407F-BF8C-B0773589EB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6953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048" y="0"/>
                      <a:pt x="6953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95D03B3C-A55A-4738-A6FF-8F2DA5B99E8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067039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41CE56E-C4C8-427A-9E82-C1EEF78E84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26281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72359086-D108-47DE-B6EA-0BEE1835D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6FA49818-F2EA-427C-B93C-15E320DA1B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E435C1E1-0D80-4B30-8CAC-C6EDE1DE7B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30FCB137-01B0-4770-AFC3-003DF7897D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26281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7D03298B-8D34-487C-9DF0-DB9AC83071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2628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4698B28F-FFEF-44BA-B657-E59F80990F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185433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00A4B40-BCFB-46E4-AE4F-FCC5C65091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14CE6AE-7FAB-4A5D-8EA2-861CAF598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F0F3D4A-D39F-48EE-934D-C73834DC565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09B630BB-5848-4C72-9F5A-FC8EBE7A6B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18543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F662A334-5814-480B-861F-17661B60F7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185432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DC0FC730-550F-42A2-AE79-EEA30B11C7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244676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03054F4A-43DC-46A1-89D0-87DA8F3157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5F66EF36-2C9F-49B2-B972-1BA82C8F36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47955EF8-6501-4579-B85F-DE5C0815FF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E0BA4174-EBEB-40DA-8B1D-6A7851E38CA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244676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50512C7C-98D6-45AD-8CA4-1BEB01262D4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24467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416CB557-0CE9-4015-A920-C6766A0664C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03829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5EA7B3B4-3BF2-4B69-B300-5D86CCB0A0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D887DF00-5D34-4A8B-9A84-C40D336238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EADE921C-83B0-4521-916F-E7EC5CFDAD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5CEDA6FA-EB55-47AE-A005-BF546085C1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9DAC0C40-EF50-4632-B781-ACDAE95AF39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03829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582AAB43-E3D9-4272-8809-5F70B302062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363072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28C7D300-E0BD-4C12-92B1-0801266F022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CCA3ED35-2344-4402-B61B-3932E69457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949146BF-06FF-41BB-BDD3-B80BABB3AA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393A6A5F-F75B-4BBC-AADC-A84DA758EE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363072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77B21059-EA9B-4329-968B-81F7966D2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363074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BFF9C99F-41B4-4789-934B-8BF03EA94E6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69" y="342222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C180277F-7E18-4896-AE91-960B379D2C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C95FE437-DA37-44C9-B975-96C6DD9DE00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5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A2A5369E-5DB7-4854-BBEC-D043F3A5F2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14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B6B0D6D9-913A-4804-83B5-5A9858F570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0" y="342222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29B4FACF-EF13-4EFA-86D3-D5B2B6703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0" y="34222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7BD767A9-D2A3-4942-B654-34DDDFD60B1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481374"/>
                <a:ext cx="14192" cy="14096"/>
              </a:xfrm>
              <a:custGeom>
                <a:avLst/>
                <a:gdLst>
                  <a:gd name="connsiteX0" fmla="*/ 14192 w 14192"/>
                  <a:gd name="connsiteY0" fmla="*/ 7049 h 14096"/>
                  <a:gd name="connsiteX1" fmla="*/ 7144 w 14192"/>
                  <a:gd name="connsiteY1" fmla="*/ 14097 h 14096"/>
                  <a:gd name="connsiteX2" fmla="*/ 0 w 14192"/>
                  <a:gd name="connsiteY2" fmla="*/ 7049 h 14096"/>
                  <a:gd name="connsiteX3" fmla="*/ 7049 w 14192"/>
                  <a:gd name="connsiteY3" fmla="*/ 0 h 14096"/>
                  <a:gd name="connsiteX4" fmla="*/ 14192 w 14192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9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1049"/>
                      <a:pt x="0" y="7049"/>
                    </a:cubicBezTo>
                    <a:cubicBezTo>
                      <a:pt x="0" y="3048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0C97F02F-13B9-4D7E-B916-BC8713CC0D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99C0654B-0803-40FA-BF28-D8EA65F58C0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D44F31B6-3657-4241-A94E-EEDBFF0C985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3557624B-3CCB-43DA-998B-B1EC599C75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75B0CCD4-215D-456D-808C-F96ABB74D3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481374"/>
                <a:ext cx="14097" cy="14097"/>
              </a:xfrm>
              <a:custGeom>
                <a:avLst/>
                <a:gdLst>
                  <a:gd name="connsiteX0" fmla="*/ 14097 w 14097"/>
                  <a:gd name="connsiteY0" fmla="*/ 7049 h 14097"/>
                  <a:gd name="connsiteX1" fmla="*/ 7049 w 14097"/>
                  <a:gd name="connsiteY1" fmla="*/ 14097 h 14097"/>
                  <a:gd name="connsiteX2" fmla="*/ 0 w 14097"/>
                  <a:gd name="connsiteY2" fmla="*/ 7049 h 14097"/>
                  <a:gd name="connsiteX3" fmla="*/ 7049 w 14097"/>
                  <a:gd name="connsiteY3" fmla="*/ 0 h 14097"/>
                  <a:gd name="connsiteX4" fmla="*/ 14097 w 14097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FE4E038E-23E6-43BE-9A3B-523A28DF73E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A686F1FD-4135-414B-8575-ED97CC8DB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4062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6FBC8D5-B3FE-4E26-8B4F-5D5668A8A7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3A60C97-778A-4251-A66B-49769F0C20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0CC04E3B-2AC3-4A7B-A425-DDABEA8AF3E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EF7D0E1-459C-4A15-9F05-545F6430B6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D5797445-BFB3-4EB2-8B44-4BF2C9E915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540620"/>
                <a:ext cx="14097" cy="14097"/>
              </a:xfrm>
              <a:custGeom>
                <a:avLst/>
                <a:gdLst>
                  <a:gd name="connsiteX0" fmla="*/ 14097 w 14097"/>
                  <a:gd name="connsiteY0" fmla="*/ 7048 h 14097"/>
                  <a:gd name="connsiteX1" fmla="*/ 7049 w 14097"/>
                  <a:gd name="connsiteY1" fmla="*/ 14097 h 14097"/>
                  <a:gd name="connsiteX2" fmla="*/ 0 w 14097"/>
                  <a:gd name="connsiteY2" fmla="*/ 7048 h 14097"/>
                  <a:gd name="connsiteX3" fmla="*/ 7049 w 14097"/>
                  <a:gd name="connsiteY3" fmla="*/ 0 h 14097"/>
                  <a:gd name="connsiteX4" fmla="*/ 14097 w 14097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E27FB1FC-477D-45B3-82B0-0F49364698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4062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D94CF442-4FF2-41B3-8870-097DBAF46C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8" y="359977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A24927C8-A42E-4B8D-84A4-50A58968BC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5379CB96-0D3A-4582-8650-A909955BA3B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3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531F84F2-CE93-4841-9AA6-BC9E355796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D1BED9D2-07EF-452E-AFA1-9A1E80AE243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C75A1A5-0A11-42EA-AF4E-FF52721258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59977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4275A1C7-FA96-4BBB-A7EF-A7ED02814E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59977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8CA8B3B4-73BE-41D5-900B-42FBF6AA72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7" y="3659014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B0264B0D-E150-4641-BBB1-58080670EE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2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BCC2D199-EF36-4077-A50C-D9FC99331B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2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C6DCCA13-7F75-46F9-97B3-A9DA4C2173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56C76EEB-75A4-418F-9FE0-CC513BC3C22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8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1E952CEF-EC1B-4714-8900-D2DFAEF30F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3" y="3659014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2B899198-ADCC-4613-957B-7A40B17B15C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4" y="365901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5581AF7F-95DB-4163-B608-C04A61FB92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39" y="3718165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5616F834-835A-42B4-B51B-5AD285E283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EF598AFA-5F8F-4191-8881-1DE91BB2B04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4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6623A080-F2C6-4664-B99C-99A9C287B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7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330E7091-D82F-490A-8F32-DE8745212E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29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2B340B39-E421-434F-AF1A-DAD7E7802D0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74" y="3718165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8 w 14097"/>
                  <a:gd name="connsiteY1" fmla="*/ 14097 h 14096"/>
                  <a:gd name="connsiteX2" fmla="*/ 0 w 14097"/>
                  <a:gd name="connsiteY2" fmla="*/ 7048 h 14096"/>
                  <a:gd name="connsiteX3" fmla="*/ 7048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6C2ED568-9809-4A18-A06A-87018A987EF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25" y="3718165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A6C26F4B-6369-4557-B6D4-A1B448B127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34040" y="3777410"/>
                <a:ext cx="14192" cy="14096"/>
              </a:xfrm>
              <a:custGeom>
                <a:avLst/>
                <a:gdLst>
                  <a:gd name="connsiteX0" fmla="*/ 14192 w 14192"/>
                  <a:gd name="connsiteY0" fmla="*/ 7048 h 14096"/>
                  <a:gd name="connsiteX1" fmla="*/ 7144 w 14192"/>
                  <a:gd name="connsiteY1" fmla="*/ 14097 h 14096"/>
                  <a:gd name="connsiteX2" fmla="*/ 0 w 14192"/>
                  <a:gd name="connsiteY2" fmla="*/ 7048 h 14096"/>
                  <a:gd name="connsiteX3" fmla="*/ 7049 w 14192"/>
                  <a:gd name="connsiteY3" fmla="*/ 0 h 14096"/>
                  <a:gd name="connsiteX4" fmla="*/ 14192 w 14192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192" h="14096">
                    <a:moveTo>
                      <a:pt x="14192" y="7048"/>
                    </a:moveTo>
                    <a:cubicBezTo>
                      <a:pt x="14192" y="10954"/>
                      <a:pt x="11049" y="14097"/>
                      <a:pt x="7144" y="14097"/>
                    </a:cubicBezTo>
                    <a:cubicBezTo>
                      <a:pt x="3239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192" y="3143"/>
                      <a:pt x="14192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42CEA830-FB77-4EA5-9BAB-64B6F500F32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793285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E5A9B88C-3ADF-40D8-9E9B-42439F85202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852436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CC9DEE2F-0410-4B1A-BED8-D1371CE8B4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11683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8A66E75A-959E-436D-B1F1-DBD1E460E1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970835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B35526DB-3749-43FA-84BA-E73EE1D1DB0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30082" y="3777410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9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9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6503C90B-19EF-4925-A08A-AE40956A2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89231" y="3777408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B98692DC-F401-45BC-ABC7-421F3391C32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481374"/>
                <a:ext cx="14097" cy="14096"/>
              </a:xfrm>
              <a:custGeom>
                <a:avLst/>
                <a:gdLst>
                  <a:gd name="connsiteX0" fmla="*/ 14097 w 14097"/>
                  <a:gd name="connsiteY0" fmla="*/ 7049 h 14096"/>
                  <a:gd name="connsiteX1" fmla="*/ 7049 w 14097"/>
                  <a:gd name="connsiteY1" fmla="*/ 14097 h 14096"/>
                  <a:gd name="connsiteX2" fmla="*/ 0 w 14097"/>
                  <a:gd name="connsiteY2" fmla="*/ 7049 h 14096"/>
                  <a:gd name="connsiteX3" fmla="*/ 7049 w 14097"/>
                  <a:gd name="connsiteY3" fmla="*/ 0 h 14096"/>
                  <a:gd name="connsiteX4" fmla="*/ 14097 w 14097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8629B1A4-7BFC-4F45-9FAD-BB035C4E47D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A2F92592-AB8B-4732-BEE7-3E2B830EA3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9 w 14096"/>
                  <a:gd name="connsiteY1" fmla="*/ 14097 h 14096"/>
                  <a:gd name="connsiteX2" fmla="*/ 0 w 14096"/>
                  <a:gd name="connsiteY2" fmla="*/ 7049 h 14096"/>
                  <a:gd name="connsiteX3" fmla="*/ 7049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C3644DC-02D1-43FF-8ED1-0ECBBA4B3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DC12AE3-E70C-4CD8-9A74-7567F99C468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481374"/>
                <a:ext cx="14096" cy="14096"/>
              </a:xfrm>
              <a:custGeom>
                <a:avLst/>
                <a:gdLst>
                  <a:gd name="connsiteX0" fmla="*/ 14097 w 14096"/>
                  <a:gd name="connsiteY0" fmla="*/ 7049 h 14096"/>
                  <a:gd name="connsiteX1" fmla="*/ 7048 w 14096"/>
                  <a:gd name="connsiteY1" fmla="*/ 14097 h 14096"/>
                  <a:gd name="connsiteX2" fmla="*/ 0 w 14096"/>
                  <a:gd name="connsiteY2" fmla="*/ 7049 h 14096"/>
                  <a:gd name="connsiteX3" fmla="*/ 7048 w 14096"/>
                  <a:gd name="connsiteY3" fmla="*/ 0 h 14096"/>
                  <a:gd name="connsiteX4" fmla="*/ 14097 w 14096"/>
                  <a:gd name="connsiteY4" fmla="*/ 7049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9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9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0E0DDE12-8B48-4D21-8863-06298ED8B8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481373"/>
                <a:ext cx="14096" cy="14097"/>
              </a:xfrm>
              <a:custGeom>
                <a:avLst/>
                <a:gdLst>
                  <a:gd name="connsiteX0" fmla="*/ 14097 w 14096"/>
                  <a:gd name="connsiteY0" fmla="*/ 7049 h 14097"/>
                  <a:gd name="connsiteX1" fmla="*/ 7048 w 14096"/>
                  <a:gd name="connsiteY1" fmla="*/ 14097 h 14097"/>
                  <a:gd name="connsiteX2" fmla="*/ 0 w 14096"/>
                  <a:gd name="connsiteY2" fmla="*/ 7049 h 14097"/>
                  <a:gd name="connsiteX3" fmla="*/ 7048 w 14096"/>
                  <a:gd name="connsiteY3" fmla="*/ 0 h 14097"/>
                  <a:gd name="connsiteX4" fmla="*/ 14097 w 14096"/>
                  <a:gd name="connsiteY4" fmla="*/ 7049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9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9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9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C611F1DE-AF40-48FC-8A1E-0A175D439E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40622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34C2CAED-22FC-4450-8BBC-7811F7DF9B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40623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F89E6B45-A41C-4735-A7F5-E4EFD5DCFD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406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44BFE35C-5487-42E8-AC30-01FC1E4F51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4062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3575E1A5-C3CB-4081-A394-36172B7DB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4063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C9C6DF24-803A-44A1-B29A-B90297D3936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40631"/>
                <a:ext cx="14096" cy="14097"/>
              </a:xfrm>
              <a:custGeom>
                <a:avLst/>
                <a:gdLst>
                  <a:gd name="connsiteX0" fmla="*/ 14097 w 14096"/>
                  <a:gd name="connsiteY0" fmla="*/ 7048 h 14097"/>
                  <a:gd name="connsiteX1" fmla="*/ 7048 w 14096"/>
                  <a:gd name="connsiteY1" fmla="*/ 14097 h 14097"/>
                  <a:gd name="connsiteX2" fmla="*/ 0 w 14096"/>
                  <a:gd name="connsiteY2" fmla="*/ 7048 h 14097"/>
                  <a:gd name="connsiteX3" fmla="*/ 7048 w 14096"/>
                  <a:gd name="connsiteY3" fmla="*/ 0 h 14097"/>
                  <a:gd name="connsiteX4" fmla="*/ 14097 w 14096"/>
                  <a:gd name="connsiteY4" fmla="*/ 7048 h 140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7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22A7B096-566C-4312-AF19-D9A3B6BC0E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599781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8B429767-12DD-4020-BC3E-9944CF36F6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FF510776-417B-4B74-9082-ED3915450A7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FEF51D3D-E951-49CE-BCE4-D444BEF6B21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599781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B27BA73E-E784-4961-884D-F507DDE38A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599780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2849019E-0178-4A1C-A5D8-DC3DFC572B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59978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0B49676D-9D41-4B2D-8FF9-69AC31CFD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659026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6BDFE3E8-9647-4400-B019-8EDD4E688B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EDD57B95-ED61-4561-9ADF-38126BADCEA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3744F230-BFBA-41B0-9FE2-481D1EAFFF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C32022D3-12E0-4BC1-8085-D6CBF3CDD7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D1AED37F-874A-4B21-A522-FEBCB38F4C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65902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5BB466E2-3497-4A3B-8777-FAA0AAEE2B0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6" y="3718177"/>
                <a:ext cx="14097" cy="14096"/>
              </a:xfrm>
              <a:custGeom>
                <a:avLst/>
                <a:gdLst>
                  <a:gd name="connsiteX0" fmla="*/ 14097 w 14097"/>
                  <a:gd name="connsiteY0" fmla="*/ 7048 h 14096"/>
                  <a:gd name="connsiteX1" fmla="*/ 7049 w 14097"/>
                  <a:gd name="connsiteY1" fmla="*/ 14097 h 14096"/>
                  <a:gd name="connsiteX2" fmla="*/ 0 w 14097"/>
                  <a:gd name="connsiteY2" fmla="*/ 7048 h 14096"/>
                  <a:gd name="connsiteX3" fmla="*/ 7049 w 14097"/>
                  <a:gd name="connsiteY3" fmla="*/ 0 h 14096"/>
                  <a:gd name="connsiteX4" fmla="*/ 14097 w 14097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A924D178-36E4-4E29-86E8-7716F3B4A71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7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D0DF84E5-BB3D-4120-8FD3-98ECDA31BBE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7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9 w 14096"/>
                  <a:gd name="connsiteY1" fmla="*/ 14097 h 14096"/>
                  <a:gd name="connsiteX2" fmla="*/ 0 w 14096"/>
                  <a:gd name="connsiteY2" fmla="*/ 7048 h 14096"/>
                  <a:gd name="connsiteX3" fmla="*/ 7049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9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9" y="0"/>
                    </a:cubicBezTo>
                    <a:cubicBezTo>
                      <a:pt x="10859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5B29635-10AC-481E-A2DE-80E9DE6128D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2" y="3718177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AAB430CA-3259-463F-85F9-B6E180323A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68" y="3718172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858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8EF18909-FC9F-4845-B1DC-027E82B21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17" y="3718176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54"/>
                      <a:pt x="10954" y="14097"/>
                      <a:pt x="7048" y="14097"/>
                    </a:cubicBezTo>
                    <a:cubicBezTo>
                      <a:pt x="3143" y="14097"/>
                      <a:pt x="0" y="10954"/>
                      <a:pt x="0" y="7048"/>
                    </a:cubicBezTo>
                    <a:cubicBezTo>
                      <a:pt x="0" y="3143"/>
                      <a:pt x="3143" y="0"/>
                      <a:pt x="7048" y="0"/>
                    </a:cubicBezTo>
                    <a:cubicBezTo>
                      <a:pt x="10954" y="0"/>
                      <a:pt x="14097" y="3143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EFCE2389-D574-49C1-89EB-D8C7308883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148472" y="3777419"/>
                <a:ext cx="14097" cy="14099"/>
              </a:xfrm>
              <a:custGeom>
                <a:avLst/>
                <a:gdLst>
                  <a:gd name="connsiteX0" fmla="*/ 14097 w 14097"/>
                  <a:gd name="connsiteY0" fmla="*/ 7051 h 14099"/>
                  <a:gd name="connsiteX1" fmla="*/ 7049 w 14097"/>
                  <a:gd name="connsiteY1" fmla="*/ 14099 h 14099"/>
                  <a:gd name="connsiteX2" fmla="*/ 0 w 14097"/>
                  <a:gd name="connsiteY2" fmla="*/ 7051 h 14099"/>
                  <a:gd name="connsiteX3" fmla="*/ 7049 w 14097"/>
                  <a:gd name="connsiteY3" fmla="*/ 2 h 14099"/>
                  <a:gd name="connsiteX4" fmla="*/ 14097 w 14097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7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D44B35A5-5216-45FC-8F0F-D80E383B423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07622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9470F10A-F708-41AA-A910-5C288B3556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266868" y="377741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9 w 14096"/>
                  <a:gd name="connsiteY1" fmla="*/ 14099 h 14099"/>
                  <a:gd name="connsiteX2" fmla="*/ 0 w 14096"/>
                  <a:gd name="connsiteY2" fmla="*/ 7051 h 14099"/>
                  <a:gd name="connsiteX3" fmla="*/ 7049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9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9" y="2"/>
                    </a:cubicBezTo>
                    <a:cubicBezTo>
                      <a:pt x="10859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CD73E13B-910B-40D2-B53F-6614C098BA9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26024" y="3777383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954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8267FC95-0200-40B3-B043-D33BEA60D0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385287" y="3777429"/>
                <a:ext cx="14096" cy="14099"/>
              </a:xfrm>
              <a:custGeom>
                <a:avLst/>
                <a:gdLst>
                  <a:gd name="connsiteX0" fmla="*/ 14097 w 14096"/>
                  <a:gd name="connsiteY0" fmla="*/ 7051 h 14099"/>
                  <a:gd name="connsiteX1" fmla="*/ 7048 w 14096"/>
                  <a:gd name="connsiteY1" fmla="*/ 14099 h 14099"/>
                  <a:gd name="connsiteX2" fmla="*/ 0 w 14096"/>
                  <a:gd name="connsiteY2" fmla="*/ 7051 h 14099"/>
                  <a:gd name="connsiteX3" fmla="*/ 7048 w 14096"/>
                  <a:gd name="connsiteY3" fmla="*/ 2 h 14099"/>
                  <a:gd name="connsiteX4" fmla="*/ 14097 w 14096"/>
                  <a:gd name="connsiteY4" fmla="*/ 7051 h 140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9">
                    <a:moveTo>
                      <a:pt x="14097" y="7051"/>
                    </a:moveTo>
                    <a:cubicBezTo>
                      <a:pt x="14097" y="10956"/>
                      <a:pt x="10954" y="14099"/>
                      <a:pt x="7048" y="14099"/>
                    </a:cubicBezTo>
                    <a:cubicBezTo>
                      <a:pt x="3143" y="14099"/>
                      <a:pt x="0" y="10956"/>
                      <a:pt x="0" y="7051"/>
                    </a:cubicBezTo>
                    <a:cubicBezTo>
                      <a:pt x="0" y="3145"/>
                      <a:pt x="3143" y="2"/>
                      <a:pt x="7048" y="2"/>
                    </a:cubicBezTo>
                    <a:cubicBezTo>
                      <a:pt x="10858" y="-93"/>
                      <a:pt x="14097" y="3145"/>
                      <a:pt x="14097" y="7051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9F14022C-37CD-4CDD-ACD1-86161EF001B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444424" y="3777424"/>
                <a:ext cx="14096" cy="14096"/>
              </a:xfrm>
              <a:custGeom>
                <a:avLst/>
                <a:gdLst>
                  <a:gd name="connsiteX0" fmla="*/ 14097 w 14096"/>
                  <a:gd name="connsiteY0" fmla="*/ 7048 h 14096"/>
                  <a:gd name="connsiteX1" fmla="*/ 7048 w 14096"/>
                  <a:gd name="connsiteY1" fmla="*/ 14097 h 14096"/>
                  <a:gd name="connsiteX2" fmla="*/ 0 w 14096"/>
                  <a:gd name="connsiteY2" fmla="*/ 7048 h 14096"/>
                  <a:gd name="connsiteX3" fmla="*/ 7048 w 14096"/>
                  <a:gd name="connsiteY3" fmla="*/ 0 h 14096"/>
                  <a:gd name="connsiteX4" fmla="*/ 14097 w 14096"/>
                  <a:gd name="connsiteY4" fmla="*/ 7048 h 140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096" h="14096">
                    <a:moveTo>
                      <a:pt x="14097" y="7048"/>
                    </a:moveTo>
                    <a:cubicBezTo>
                      <a:pt x="14097" y="10941"/>
                      <a:pt x="10941" y="14097"/>
                      <a:pt x="7048" y="14097"/>
                    </a:cubicBezTo>
                    <a:cubicBezTo>
                      <a:pt x="3156" y="14097"/>
                      <a:pt x="0" y="10941"/>
                      <a:pt x="0" y="7048"/>
                    </a:cubicBezTo>
                    <a:cubicBezTo>
                      <a:pt x="0" y="3156"/>
                      <a:pt x="3156" y="0"/>
                      <a:pt x="7048" y="0"/>
                    </a:cubicBezTo>
                    <a:cubicBezTo>
                      <a:pt x="10941" y="0"/>
                      <a:pt x="14097" y="3156"/>
                      <a:pt x="14097" y="7048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57656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07E6AA1-F85C-EA57-4BFD-23C0CC62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anchor="b">
            <a:normAutofit/>
          </a:bodyPr>
          <a:lstStyle/>
          <a:p>
            <a:r>
              <a:rPr lang="cs-CZ" sz="3700">
                <a:solidFill>
                  <a:schemeClr val="bg1"/>
                </a:solidFill>
              </a:rPr>
              <a:t>Šifrování a jeho význam pro ochranu dat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85587F-9EBF-D908-6DC5-90CDE88EC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800600" cy="3711571"/>
          </a:xfrm>
        </p:spPr>
        <p:txBody>
          <a:bodyPr>
            <a:normAutofit/>
          </a:bodyPr>
          <a:lstStyle/>
          <a:p>
            <a:r>
              <a:rPr lang="cs-CZ" sz="1100">
                <a:solidFill>
                  <a:schemeClr val="bg1"/>
                </a:solidFill>
              </a:rPr>
              <a:t>Monitorování informačních systémů zahrnuje sledování aktivit uživatelů, síťového provozu, logování událostí a dalších důležitých parametrů, které mohou naznačovat potenciální hrozby. S pomocí specializovaných nástrojů a softwaru lze analyzovat a vyhodnocovat data z různých zdrojů a identifikovat podezřelé či neobvyklé aktivity.</a:t>
            </a:r>
          </a:p>
          <a:p>
            <a:endParaRPr lang="cs-CZ" sz="1100">
              <a:solidFill>
                <a:schemeClr val="bg1"/>
              </a:solidFill>
            </a:endParaRPr>
          </a:p>
          <a:p>
            <a:r>
              <a:rPr lang="cs-CZ" sz="1100">
                <a:solidFill>
                  <a:schemeClr val="bg1"/>
                </a:solidFill>
              </a:rPr>
              <a:t>Detekce hrozeb se zaměřuje na identifikaci a odhalení potenciálně škodlivých akcí či útoků v informačním systému. Detekční nástroje mohou včas varovat správce systému o možných hrozbách a umožnit jim rychle reagovat a minimalizovat škody.</a:t>
            </a:r>
          </a:p>
          <a:p>
            <a:endParaRPr lang="cs-CZ" sz="1100">
              <a:solidFill>
                <a:schemeClr val="bg1"/>
              </a:solidFill>
            </a:endParaRPr>
          </a:p>
          <a:p>
            <a:r>
              <a:rPr lang="cs-CZ" sz="1100">
                <a:solidFill>
                  <a:schemeClr val="bg1"/>
                </a:solidFill>
              </a:rPr>
              <a:t>Ochrana informačních systémů prostřednictvím monitorování a detekce hrozeb je nezbytná pro udržení bezpečnosti dat a prevenci před kybernetickými útoky. Správci informačních systémů by měli pravidelně monitorovat a kontrolovat bezpečnostní události, aby identifikovali a odstranili potenciální hrozby a zajistili, že jejich systém zůstane chráněný a bezpečný.</a:t>
            </a:r>
          </a:p>
        </p:txBody>
      </p:sp>
      <p:pic>
        <p:nvPicPr>
          <p:cNvPr id="7" name="Obrázek 6" descr="Obsah obrázku text, interiér, umění&#10;&#10;Popis byl vytvořen automaticky se střední mírou spolehlivosti">
            <a:extLst>
              <a:ext uri="{FF2B5EF4-FFF2-40B4-BE49-F238E27FC236}">
                <a16:creationId xmlns:a16="http://schemas.microsoft.com/office/drawing/2014/main" id="{B453B99E-00F6-E4FC-1EA8-8A4B2EE738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193" y="752874"/>
            <a:ext cx="3588640" cy="201861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Obrázek 4" descr="Obsah obrázku text, snímek obrazovky, diagram, řada/pruh&#10;&#10;Popis byl vytvořen automaticky">
            <a:extLst>
              <a:ext uri="{FF2B5EF4-FFF2-40B4-BE49-F238E27FC236}">
                <a16:creationId xmlns:a16="http://schemas.microsoft.com/office/drawing/2014/main" id="{E814015E-00B4-387A-8E5B-B3DF33C57C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8661" y="4386862"/>
            <a:ext cx="3588640" cy="14713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871138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e534a9-5d4a-41a0-bbd3-257a481bfa5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6D70CFF3BF4F0843966F1CDFEDDF6A6B" ma:contentTypeVersion="10" ma:contentTypeDescription="Vytvoří nový dokument" ma:contentTypeScope="" ma:versionID="238546089cb03ec31054ccacca228c36">
  <xsd:schema xmlns:xsd="http://www.w3.org/2001/XMLSchema" xmlns:xs="http://www.w3.org/2001/XMLSchema" xmlns:p="http://schemas.microsoft.com/office/2006/metadata/properties" xmlns:ns3="f9e534a9-5d4a-41a0-bbd3-257a481bfa53" xmlns:ns4="b37e3d86-4ca2-427b-bd6b-563863381f62" targetNamespace="http://schemas.microsoft.com/office/2006/metadata/properties" ma:root="true" ma:fieldsID="9fe77149aac824416e2f705619826099" ns3:_="" ns4:_="">
    <xsd:import namespace="f9e534a9-5d4a-41a0-bbd3-257a481bfa53"/>
    <xsd:import namespace="b37e3d86-4ca2-427b-bd6b-563863381f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e534a9-5d4a-41a0-bbd3-257a481bfa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e3d86-4ca2-427b-bd6b-563863381f62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2478FE-524B-48EC-B01D-BB009B3CBF0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080335-DE4F-4802-970F-B48039773355}">
  <ds:schemaRefs>
    <ds:schemaRef ds:uri="http://www.w3.org/XML/1998/namespace"/>
    <ds:schemaRef ds:uri="http://schemas.microsoft.com/office/infopath/2007/PartnerControls"/>
    <ds:schemaRef ds:uri="f9e534a9-5d4a-41a0-bbd3-257a481bfa53"/>
    <ds:schemaRef ds:uri="http://purl.org/dc/elements/1.1/"/>
    <ds:schemaRef ds:uri="http://purl.org/dc/dcmitype/"/>
    <ds:schemaRef ds:uri="http://schemas.microsoft.com/office/2006/documentManagement/types"/>
    <ds:schemaRef ds:uri="b37e3d86-4ca2-427b-bd6b-563863381f62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AF78BC5-E4BF-43A2-AE53-EF907D9E57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e534a9-5d4a-41a0-bbd3-257a481bfa53"/>
    <ds:schemaRef ds:uri="b37e3d86-4ca2-427b-bd6b-563863381f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1292</Words>
  <Application>Microsoft Office PowerPoint</Application>
  <PresentationFormat>Širokoúhlá obrazovka</PresentationFormat>
  <Paragraphs>61</Paragraphs>
  <Slides>11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Motiv Office</vt:lpstr>
      <vt:lpstr>Zabezpečení</vt:lpstr>
      <vt:lpstr>Práva, hesla a jejich význam</vt:lpstr>
      <vt:lpstr>3. Antivirový program a jeho role v ochraně před škodlivým softwarem </vt:lpstr>
      <vt:lpstr>Firewall</vt:lpstr>
      <vt:lpstr>Paketový filtr</vt:lpstr>
      <vt:lpstr>Stavový firewall</vt:lpstr>
      <vt:lpstr>Aplikační firewall</vt:lpstr>
      <vt:lpstr>Aktualizace softwaru a jejich význam pro bezpečnost</vt:lpstr>
      <vt:lpstr>Certifikáty a jejich role v ověřování bezpečnosti</vt:lpstr>
      <vt:lpstr>Přístup aplikací k zařízením a nutnost jejich omezení</vt:lpstr>
      <vt:lpstr>Šifrování a jeho význam pro ochranu dat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