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</p:sldIdLst>
  <p:sldSz cx="18288000" cy="10287000"/>
  <p:notesSz cx="6858000" cy="9144000"/>
  <p:embeddedFontLst>
    <p:embeddedFont>
      <p:font typeface="Playfair Display" panose="020F0502020204030204" pitchFamily="2" charset="-18"/>
      <p:regular r:id="rId17"/>
    </p:embeddedFont>
    <p:embeddedFont>
      <p:font typeface="Playfair Display Bold" panose="020B0604020202020204" charset="-18"/>
      <p:regular r:id="rId18"/>
    </p:embeddedFont>
    <p:embeddedFont>
      <p:font typeface="Playfair Display Italics" panose="020B0604020202020204" charset="-18"/>
      <p:regular r:id="rId19"/>
    </p:embeddedFont>
    <p:embeddedFont>
      <p:font typeface="Public Sans" panose="020B0604020202020204" charset="-18"/>
      <p:regular r:id="rId20"/>
    </p:embeddedFont>
    <p:embeddedFont>
      <p:font typeface="Public Sans Bold" panose="020B0604020202020204" charset="-18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768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ash4car.es/" TargetMode="External"/><Relationship Id="rId3" Type="http://schemas.openxmlformats.org/officeDocument/2006/relationships/hyperlink" Target="https://tn.nova.cz/zpravodajstvi/clanek/345570-architekt-promeni-stavebni-projekt-v-esteticky-logicky-a-predevsim-funkcni-celek" TargetMode="External"/><Relationship Id="rId7" Type="http://schemas.openxmlformats.org/officeDocument/2006/relationships/hyperlink" Target="https://www.blesk.cz/clanek/zpravy/149741/aaa-auto-hlasi-dalsi-historicky-rekord-v-prodejich.html" TargetMode="External"/><Relationship Id="rId2" Type="http://schemas.openxmlformats.org/officeDocument/2006/relationships/hyperlink" Target="https://fdrive.cz/clanky/testujeme-luxusni-plug-in-hybrid-mercedes-benz-e-400e-4matic-ptejte-se-na-to-co-vas-zajima-11640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ifleet.cz/archiv-2005-19/nove-produkty-csob-leasing.html" TargetMode="External"/><Relationship Id="rId11" Type="http://schemas.openxmlformats.org/officeDocument/2006/relationships/hyperlink" Target="https://obchod.wolterskluwer.cz/cz/meritum-up-2022-ukazka.dm-21631.pdf" TargetMode="External"/><Relationship Id="rId5" Type="http://schemas.openxmlformats.org/officeDocument/2006/relationships/hyperlink" Target="https://money.cz/novinky-a-tipy/ucetnictvi-2/poridili-jste-hmotny-majetek-a-dodavatel-vam-dodatecne-poskytl-slevu-jak-tuto-slevu-zauctovat/" TargetMode="External"/><Relationship Id="rId10" Type="http://schemas.openxmlformats.org/officeDocument/2006/relationships/image" Target="../media/image1.svg"/><Relationship Id="rId4" Type="http://schemas.openxmlformats.org/officeDocument/2006/relationships/hyperlink" Target="https://en.wikipedia.org/wiki/LUMI" TargetMode="External"/><Relationship Id="rId9" Type="http://schemas.openxmlformats.org/officeDocument/2006/relationships/hyperlink" Target="https://vieclam123.vn/mau-bao-cao-thiet-hai-tai-san-b3846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6" y="4514765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5" name="TextBox 5"/>
          <p:cNvSpPr txBox="1"/>
          <p:nvPr/>
        </p:nvSpPr>
        <p:spPr>
          <a:xfrm>
            <a:off x="850974" y="2332416"/>
            <a:ext cx="16408332" cy="1962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50"/>
              </a:lnSpc>
            </a:pPr>
            <a:r>
              <a:rPr lang="cs-CZ" sz="16758" spc="83" dirty="0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Leasing</a:t>
            </a:r>
            <a:endParaRPr lang="en-US" sz="16758" spc="83" dirty="0">
              <a:solidFill>
                <a:srgbClr val="2B2C3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 JE LEASING?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16407" y="2933700"/>
            <a:ext cx="6262498" cy="3803472"/>
            <a:chOff x="0" y="-66675"/>
            <a:chExt cx="8349997" cy="5071296"/>
          </a:xfrm>
        </p:grpSpPr>
        <p:sp>
          <p:nvSpPr>
            <p:cNvPr id="6" name="TextBox 6"/>
            <p:cNvSpPr txBox="1"/>
            <p:nvPr/>
          </p:nvSpPr>
          <p:spPr>
            <a:xfrm>
              <a:off x="0" y="-66675"/>
              <a:ext cx="6861860" cy="666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3600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Definice leasingu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95749"/>
              <a:ext cx="8349997" cy="430887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n-US" sz="3600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Z ang. “lease”=</a:t>
              </a:r>
              <a:r>
                <a:rPr lang="en-US" sz="3600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pronajmout</a:t>
              </a:r>
              <a:endParaRPr lang="en-US" sz="36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“F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orma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financování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,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která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umožňuje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využívat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majetek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bez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nutnosti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jeho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okamžitého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koupě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”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endParaRPr lang="en-US" sz="3600" u="none" strike="noStrike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606219" y="2933700"/>
            <a:ext cx="5146395" cy="3264863"/>
            <a:chOff x="0" y="-66675"/>
            <a:chExt cx="6861860" cy="4353152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6861860" cy="666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3600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Hlavní rysy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695749"/>
              <a:ext cx="6646127" cy="359072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Dlouhodobý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pronájem</a:t>
              </a:r>
              <a:endParaRPr lang="en-US" sz="3600" u="none" strike="noStrike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Pravidelné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splátky</a:t>
              </a:r>
              <a:endParaRPr lang="en-US" sz="3600" u="none" strike="noStrike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Daňové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výhody</a:t>
              </a:r>
              <a:endParaRPr lang="en-US" sz="3600" u="none" strike="noStrike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Vázáno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  <a:r>
                <a:rPr lang="en-US" sz="3600" u="none" strike="noStrike" dirty="0" err="1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smlouvou</a:t>
              </a:r>
              <a:r>
                <a:rPr lang="en-US" sz="3600" u="none" strike="noStrike" dirty="0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 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725400" y="2933700"/>
            <a:ext cx="5146395" cy="2726254"/>
            <a:chOff x="0" y="-66675"/>
            <a:chExt cx="6861860" cy="3635006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6861860" cy="6668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3600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Dělení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695749"/>
              <a:ext cx="6861860" cy="28725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Finanční leasing</a:t>
              </a: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Operativní leasing</a:t>
              </a: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600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Zpětný leasing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endParaRPr lang="en-US" sz="36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OPERATIVNÍ LEASING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6871" y="2275205"/>
            <a:ext cx="8746730" cy="7096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Provozní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leasing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Krátkodobý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pronájem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Majetek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vrací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leasingové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společnosti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BEZ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práva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nájemce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koupi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Rizika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nese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pronajímatel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pronajímatel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zajišťuje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údržbu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opravy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servis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Smlouva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je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vypověditelná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Majetku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pro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nějž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trvalé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využití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Lze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odečítat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daně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0877196" y="2185637"/>
            <a:ext cx="4987255" cy="2286000"/>
          </a:xfrm>
          <a:custGeom>
            <a:avLst/>
            <a:gdLst/>
            <a:ahLst/>
            <a:cxnLst/>
            <a:rect l="l" t="t" r="r" b="b"/>
            <a:pathLst>
              <a:path w="9598138" h="1485478">
                <a:moveTo>
                  <a:pt x="0" y="0"/>
                </a:moveTo>
                <a:lnTo>
                  <a:pt x="9598138" y="0"/>
                </a:lnTo>
                <a:lnTo>
                  <a:pt x="9598138" y="1485479"/>
                </a:lnTo>
                <a:lnTo>
                  <a:pt x="0" y="1485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859" r="-289835"/>
            </a:stretch>
          </a:blipFill>
        </p:spPr>
        <p:txBody>
          <a:bodyPr/>
          <a:lstStyle/>
          <a:p>
            <a:endParaRPr lang="cs-CZ" dirty="0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FF92F7D4-C356-3822-D237-BBF86F7D6231}"/>
              </a:ext>
            </a:extLst>
          </p:cNvPr>
          <p:cNvSpPr/>
          <p:nvPr/>
        </p:nvSpPr>
        <p:spPr>
          <a:xfrm>
            <a:off x="10877196" y="6776389"/>
            <a:ext cx="4891652" cy="2286000"/>
          </a:xfrm>
          <a:custGeom>
            <a:avLst/>
            <a:gdLst/>
            <a:ahLst/>
            <a:cxnLst/>
            <a:rect l="l" t="t" r="r" b="b"/>
            <a:pathLst>
              <a:path w="9598138" h="1485478">
                <a:moveTo>
                  <a:pt x="0" y="0"/>
                </a:moveTo>
                <a:lnTo>
                  <a:pt x="9598138" y="0"/>
                </a:lnTo>
                <a:lnTo>
                  <a:pt x="9598138" y="1485479"/>
                </a:lnTo>
                <a:lnTo>
                  <a:pt x="0" y="1485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29339" r="-95499"/>
            </a:stretch>
          </a:blipFill>
        </p:spPr>
        <p:txBody>
          <a:bodyPr/>
          <a:lstStyle/>
          <a:p>
            <a:endParaRPr lang="cs-CZ" dirty="0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DC9A232-BA66-F874-FF25-ECF2B2949A68}"/>
              </a:ext>
            </a:extLst>
          </p:cNvPr>
          <p:cNvSpPr/>
          <p:nvPr/>
        </p:nvSpPr>
        <p:spPr>
          <a:xfrm rot="10800000">
            <a:off x="13555010" y="4158060"/>
            <a:ext cx="1641697" cy="2672367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6884E3D-9375-E5B9-ADF8-6DC441C2C48E}"/>
              </a:ext>
            </a:extLst>
          </p:cNvPr>
          <p:cNvSpPr/>
          <p:nvPr/>
        </p:nvSpPr>
        <p:spPr>
          <a:xfrm>
            <a:off x="11681325" y="4168958"/>
            <a:ext cx="1641697" cy="2672367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4C9202-C8DD-E514-81E7-000EC34C2FB4}"/>
              </a:ext>
            </a:extLst>
          </p:cNvPr>
          <p:cNvSpPr txBox="1"/>
          <p:nvPr/>
        </p:nvSpPr>
        <p:spPr>
          <a:xfrm>
            <a:off x="8875506" y="5353411"/>
            <a:ext cx="3187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/>
              <a:t>předání Předmětu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583A26-0C4C-081A-F21D-A0988C1C64F2}"/>
              </a:ext>
            </a:extLst>
          </p:cNvPr>
          <p:cNvSpPr txBox="1"/>
          <p:nvPr/>
        </p:nvSpPr>
        <p:spPr>
          <a:xfrm>
            <a:off x="15100408" y="5359538"/>
            <a:ext cx="3187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/>
              <a:t>vrácení Předmětu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FINANČNÍ LEASING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688" y="2093715"/>
            <a:ext cx="8683655" cy="63780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Daleko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významnější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Dlouhodobý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pronájem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Trvalé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pořízení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majetku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formou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splátek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– VELMI BLÍZKÉ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půjčce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peněz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Pronajímatel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nezajišťuje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žádné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další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služby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Rizika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přechází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nájemce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Nevypověditelná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smlouva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Nelze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odečíst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daně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88CFBAD8-D7F8-F2ED-320C-8BBDDE35B3D3}"/>
              </a:ext>
            </a:extLst>
          </p:cNvPr>
          <p:cNvSpPr/>
          <p:nvPr/>
        </p:nvSpPr>
        <p:spPr>
          <a:xfrm>
            <a:off x="10520660" y="7866421"/>
            <a:ext cx="5692372" cy="2561084"/>
          </a:xfrm>
          <a:custGeom>
            <a:avLst/>
            <a:gdLst/>
            <a:ahLst/>
            <a:cxnLst/>
            <a:rect l="l" t="t" r="r" b="b"/>
            <a:pathLst>
              <a:path w="11626435" h="1782965">
                <a:moveTo>
                  <a:pt x="0" y="0"/>
                </a:moveTo>
                <a:lnTo>
                  <a:pt x="11626435" y="0"/>
                </a:lnTo>
                <a:lnTo>
                  <a:pt x="11626435" y="1782965"/>
                </a:lnTo>
                <a:lnTo>
                  <a:pt x="0" y="1782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18769" r="-90241"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90CF2690-2985-5A70-8208-8E8A22BC8026}"/>
              </a:ext>
            </a:extLst>
          </p:cNvPr>
          <p:cNvSpPr/>
          <p:nvPr/>
        </p:nvSpPr>
        <p:spPr>
          <a:xfrm>
            <a:off x="10624894" y="2535355"/>
            <a:ext cx="5472755" cy="2561084"/>
          </a:xfrm>
          <a:custGeom>
            <a:avLst/>
            <a:gdLst/>
            <a:ahLst/>
            <a:cxnLst/>
            <a:rect l="l" t="t" r="r" b="b"/>
            <a:pathLst>
              <a:path w="11626435" h="1782965">
                <a:moveTo>
                  <a:pt x="0" y="0"/>
                </a:moveTo>
                <a:lnTo>
                  <a:pt x="11626435" y="0"/>
                </a:lnTo>
                <a:lnTo>
                  <a:pt x="11626435" y="1782965"/>
                </a:lnTo>
                <a:lnTo>
                  <a:pt x="0" y="17829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405" r="-299019"/>
            </a:stretch>
          </a:blipFill>
        </p:spPr>
        <p:txBody>
          <a:bodyPr/>
          <a:lstStyle/>
          <a:p>
            <a:endParaRPr lang="cs-CZ" dirty="0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BD7F585A-08BD-6054-4779-A2B8C0C21A2C}"/>
              </a:ext>
            </a:extLst>
          </p:cNvPr>
          <p:cNvSpPr/>
          <p:nvPr/>
        </p:nvSpPr>
        <p:spPr>
          <a:xfrm rot="10800000">
            <a:off x="13532436" y="4949425"/>
            <a:ext cx="1970192" cy="268519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B689BBF9-EE91-0FB9-EC23-7323335DC692}"/>
              </a:ext>
            </a:extLst>
          </p:cNvPr>
          <p:cNvSpPr/>
          <p:nvPr/>
        </p:nvSpPr>
        <p:spPr>
          <a:xfrm>
            <a:off x="11369308" y="4949425"/>
            <a:ext cx="1970192" cy="2685198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7CB020-190A-7986-2B55-8CEBB30121AE}"/>
              </a:ext>
            </a:extLst>
          </p:cNvPr>
          <p:cNvSpPr txBox="1"/>
          <p:nvPr/>
        </p:nvSpPr>
        <p:spPr>
          <a:xfrm>
            <a:off x="8358696" y="6006525"/>
            <a:ext cx="45787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/>
              <a:t>předání Předmětu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32442D-2439-537F-88F9-3B01E1C62946}"/>
              </a:ext>
            </a:extLst>
          </p:cNvPr>
          <p:cNvSpPr txBox="1"/>
          <p:nvPr/>
        </p:nvSpPr>
        <p:spPr>
          <a:xfrm>
            <a:off x="15107950" y="6006525"/>
            <a:ext cx="31875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/>
              <a:t>prodej Předmětu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ZPĚTNÝ LEASING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080319"/>
            <a:ext cx="16344900" cy="49300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Vlastník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majetku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prodá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svůj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majetek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leasingové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společnosti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následně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ho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pronajímá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zpět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Umožňuje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získat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okamžitou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hotovost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zatímco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majetek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nadále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používají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Flexibilita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v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řízení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majetku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kapitálu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Snížení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nákladů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údržbu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provoz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Ukrytí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majetku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úřady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5599"/>
              </a:lnSpc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3338521" y="7225906"/>
            <a:ext cx="11610942" cy="2600665"/>
          </a:xfrm>
          <a:custGeom>
            <a:avLst/>
            <a:gdLst/>
            <a:ahLst/>
            <a:cxnLst/>
            <a:rect l="l" t="t" r="r" b="b"/>
            <a:pathLst>
              <a:path w="11610942" h="2600665">
                <a:moveTo>
                  <a:pt x="0" y="0"/>
                </a:moveTo>
                <a:lnTo>
                  <a:pt x="11610942" y="0"/>
                </a:lnTo>
                <a:lnTo>
                  <a:pt x="11610942" y="2600664"/>
                </a:lnTo>
                <a:lnTo>
                  <a:pt x="0" y="26006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794" r="-31195"/>
            </a:stretch>
          </a:blipFill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028700" y="1965957"/>
          <a:ext cx="16230600" cy="7511416"/>
        </p:xfrm>
        <a:graphic>
          <a:graphicData uri="http://schemas.openxmlformats.org/drawingml/2006/table">
            <a:tbl>
              <a:tblPr/>
              <a:tblGrid>
                <a:gridCol w="54514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46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54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31839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Operativní leasing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Finanční leasing 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5131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Doba trvání leasingu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Většinou krátkodobý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Většinou dlouhodobý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4733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Životnost majetku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Výrazně kratší než doba trvání leasingu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Odpovídá délce sjednané leasingové smlouvy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4733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Vlastnické právo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Vlastníkem zůstává leasingová společnost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Po odkoupení předmětu se vlastníkem stává uživatel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839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Výpověď smlouvy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Lze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Nelze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1839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Vlastnická rizika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Na straně poskytovatele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Na straně uživatele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31302"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 b="1">
                          <a:solidFill>
                            <a:srgbClr val="000000"/>
                          </a:solidFill>
                          <a:latin typeface="Playfair Display Bold"/>
                          <a:ea typeface="Playfair Display Bold"/>
                          <a:cs typeface="Playfair Display Bold"/>
                          <a:sym typeface="Playfair Display Bold"/>
                        </a:rPr>
                        <a:t>Ůdržba předmětu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Platí a zajišťuje poskytovatel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9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Platí a zajišťuje uživatel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SROVNÁNÍ LEASINGŮ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VÝHODY LEASINGU 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Box 5"/>
          <p:cNvSpPr txBox="1"/>
          <p:nvPr/>
        </p:nvSpPr>
        <p:spPr>
          <a:xfrm>
            <a:off x="1006871" y="2831225"/>
            <a:ext cx="16208782" cy="5659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Rychlejší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než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získání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úvěru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Udržena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bonita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Pružnější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než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vlastnictví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Okamžité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používání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předmětu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Počátneční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kapitál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Inflaci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nese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leasingová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společnost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Odpočet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daní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Možnost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sjednání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nepravidelných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splátek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NEVÝHODY LEASINGU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Box 5"/>
          <p:cNvSpPr txBox="1"/>
          <p:nvPr/>
        </p:nvSpPr>
        <p:spPr>
          <a:xfrm>
            <a:off x="1006860" y="3031671"/>
            <a:ext cx="16230611" cy="422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ceně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zisk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leasingové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společnosti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Majitel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leasingová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společnost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případě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bankrotu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leasingové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společnosti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se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předmět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vrací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Riziko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spojené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s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odcizením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nebo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zničením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předmětu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Předčasné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ukončení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599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neschopnosti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nájemce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platit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splátky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musí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doplatit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sankční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úrok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grpSp>
        <p:nvGrpSpPr>
          <p:cNvPr id="4" name="Group 4"/>
          <p:cNvGrpSpPr/>
          <p:nvPr/>
        </p:nvGrpSpPr>
        <p:grpSpPr>
          <a:xfrm>
            <a:off x="1006871" y="2313158"/>
            <a:ext cx="3783488" cy="2269305"/>
            <a:chOff x="0" y="0"/>
            <a:chExt cx="5044650" cy="302574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t="4933" b="4933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5172721" y="2313158"/>
            <a:ext cx="3783488" cy="2269305"/>
            <a:chOff x="0" y="0"/>
            <a:chExt cx="5044650" cy="302574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t="4769" b="4769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9337209" y="2313158"/>
            <a:ext cx="3783488" cy="2269305"/>
            <a:chOff x="0" y="0"/>
            <a:chExt cx="5044650" cy="302574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rcRect l="8187" r="8187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13453983" y="2313158"/>
            <a:ext cx="3783488" cy="2269305"/>
            <a:chOff x="0" y="0"/>
            <a:chExt cx="5044650" cy="3025740"/>
          </a:xfrm>
        </p:grpSpPr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6"/>
            <a:srcRect t="4933" b="4933"/>
            <a:stretch>
              <a:fillRect/>
            </a:stretch>
          </p:blipFill>
          <p:spPr>
            <a:xfrm>
              <a:off x="0" y="0"/>
              <a:ext cx="5044650" cy="3025740"/>
            </a:xfrm>
            <a:prstGeom prst="rect">
              <a:avLst/>
            </a:prstGeom>
          </p:spPr>
        </p:pic>
      </p:grpSp>
      <p:sp>
        <p:nvSpPr>
          <p:cNvPr id="12" name="TextBox 12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ODVĚTVÍ LEASINGU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16407" y="5546638"/>
            <a:ext cx="3773952" cy="1527175"/>
            <a:chOff x="0" y="0"/>
            <a:chExt cx="5031935" cy="2036234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66675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Automobilový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695749"/>
              <a:ext cx="5031935" cy="1340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Firemní a osobní automobily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29035" y="5546638"/>
            <a:ext cx="3773952" cy="2574925"/>
            <a:chOff x="0" y="0"/>
            <a:chExt cx="5031935" cy="3433234"/>
          </a:xfrm>
        </p:grpSpPr>
        <p:sp>
          <p:nvSpPr>
            <p:cNvPr id="17" name="TextBox 17"/>
            <p:cNvSpPr txBox="1"/>
            <p:nvPr/>
          </p:nvSpPr>
          <p:spPr>
            <a:xfrm>
              <a:off x="0" y="-66675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IT technologie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695749"/>
              <a:ext cx="5031935" cy="2737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Výkonější výpočetní technika</a:t>
              </a:r>
            </a:p>
            <a:p>
              <a:pPr marL="604519" lvl="1" indent="-302260" algn="l">
                <a:lnSpc>
                  <a:spcPts val="4199"/>
                </a:lnSpc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Počítače ve větším množství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172721" y="5546638"/>
            <a:ext cx="3773952" cy="3098800"/>
            <a:chOff x="0" y="0"/>
            <a:chExt cx="5031935" cy="413173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66675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Nemovitosti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695749"/>
              <a:ext cx="5031935" cy="34359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Pracovní a průmyslové budovy</a:t>
              </a: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častěji na zpětný leasing 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485348" y="5546638"/>
            <a:ext cx="3773952" cy="2574925"/>
            <a:chOff x="0" y="0"/>
            <a:chExt cx="5031935" cy="3433234"/>
          </a:xfrm>
        </p:grpSpPr>
        <p:sp>
          <p:nvSpPr>
            <p:cNvPr id="23" name="TextBox 23"/>
            <p:cNvSpPr txBox="1"/>
            <p:nvPr/>
          </p:nvSpPr>
          <p:spPr>
            <a:xfrm>
              <a:off x="0" y="-66675"/>
              <a:ext cx="5031935" cy="6322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 b="1">
                  <a:solidFill>
                    <a:srgbClr val="2B2C30"/>
                  </a:solidFill>
                  <a:latin typeface="Public Sans Bold"/>
                  <a:ea typeface="Public Sans Bold"/>
                  <a:cs typeface="Public Sans Bold"/>
                  <a:sym typeface="Public Sans Bold"/>
                </a:rPr>
                <a:t>Strojírenství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695749"/>
              <a:ext cx="5031935" cy="27374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Těžká, většinou vnitřní technika </a:t>
              </a:r>
            </a:p>
            <a:p>
              <a:pPr marL="604519" lvl="1" indent="-302260" algn="l">
                <a:lnSpc>
                  <a:spcPts val="41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799" u="none" strike="noStrike">
                  <a:solidFill>
                    <a:srgbClr val="2B2C30"/>
                  </a:solidFill>
                  <a:latin typeface="Public Sans"/>
                  <a:ea typeface="Public Sans"/>
                  <a:cs typeface="Public Sans"/>
                  <a:sym typeface="Public Sans"/>
                </a:rPr>
                <a:t>Tiskárny, hutnictví, atp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AutoShape 3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4" name="Freeform 4"/>
          <p:cNvSpPr/>
          <p:nvPr/>
        </p:nvSpPr>
        <p:spPr>
          <a:xfrm>
            <a:off x="1006871" y="2972470"/>
            <a:ext cx="4246419" cy="4342059"/>
          </a:xfrm>
          <a:custGeom>
            <a:avLst/>
            <a:gdLst/>
            <a:ahLst/>
            <a:cxnLst/>
            <a:rect l="l" t="t" r="r" b="b"/>
            <a:pathLst>
              <a:path w="4246419" h="4342059">
                <a:moveTo>
                  <a:pt x="0" y="0"/>
                </a:moveTo>
                <a:lnTo>
                  <a:pt x="4246419" y="0"/>
                </a:lnTo>
                <a:lnTo>
                  <a:pt x="4246419" y="4342060"/>
                </a:lnTo>
                <a:lnTo>
                  <a:pt x="0" y="4342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5" name="Freeform 5"/>
          <p:cNvSpPr/>
          <p:nvPr/>
        </p:nvSpPr>
        <p:spPr>
          <a:xfrm>
            <a:off x="5885419" y="2972470"/>
            <a:ext cx="6517162" cy="4342059"/>
          </a:xfrm>
          <a:custGeom>
            <a:avLst/>
            <a:gdLst/>
            <a:ahLst/>
            <a:cxnLst/>
            <a:rect l="l" t="t" r="r" b="b"/>
            <a:pathLst>
              <a:path w="6517162" h="4342059">
                <a:moveTo>
                  <a:pt x="0" y="0"/>
                </a:moveTo>
                <a:lnTo>
                  <a:pt x="6517162" y="0"/>
                </a:lnTo>
                <a:lnTo>
                  <a:pt x="6517162" y="4342060"/>
                </a:lnTo>
                <a:lnTo>
                  <a:pt x="0" y="43420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Freeform 6"/>
          <p:cNvSpPr/>
          <p:nvPr/>
        </p:nvSpPr>
        <p:spPr>
          <a:xfrm>
            <a:off x="13031231" y="2972470"/>
            <a:ext cx="4342059" cy="4342059"/>
          </a:xfrm>
          <a:custGeom>
            <a:avLst/>
            <a:gdLst/>
            <a:ahLst/>
            <a:cxnLst/>
            <a:rect l="l" t="t" r="r" b="b"/>
            <a:pathLst>
              <a:path w="4342059" h="4342059">
                <a:moveTo>
                  <a:pt x="0" y="0"/>
                </a:moveTo>
                <a:lnTo>
                  <a:pt x="4342059" y="0"/>
                </a:lnTo>
                <a:lnTo>
                  <a:pt x="4342059" y="4342060"/>
                </a:lnTo>
                <a:lnTo>
                  <a:pt x="0" y="43420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7" name="TextBox 7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PŘÍKLAD LEASINGOVÝCH SPOLEČNOSTÍ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7466930"/>
            <a:ext cx="422806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Bankovní společnosti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85419" y="7466930"/>
            <a:ext cx="651716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Prodejci aut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1231" y="7466930"/>
            <a:ext cx="4342059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Výkupní společnosti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JAK NA LEASING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620000" y="4130598"/>
            <a:ext cx="3086100" cy="1895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Srovnáme naše požadavky s nabídkou společnosti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0000" y="3216198"/>
            <a:ext cx="278564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Srovnání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06871" y="4130598"/>
            <a:ext cx="3086100" cy="284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Co od leasingové společnosti budu vyžadovat</a:t>
            </a:r>
          </a:p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Měsíční splátky, roční nájezd, značka auta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3216198"/>
            <a:ext cx="3064271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Určení požadavků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343400" y="4130598"/>
            <a:ext cx="3086100" cy="2847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Hodnocení a zkušenosti předchozích zákazníku</a:t>
            </a:r>
          </a:p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Pozor na podvody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43400" y="3216198"/>
            <a:ext cx="278564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Výber společnosti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896600" y="4130598"/>
            <a:ext cx="3086100" cy="237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 rozhodnutí pro danou firmu, ji mužeme kontaktovat, domluvit se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96600" y="3216198"/>
            <a:ext cx="2785647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Kontak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73200" y="4130598"/>
            <a:ext cx="3086100" cy="2371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51" lvl="1" indent="-269876" algn="l">
              <a:lnSpc>
                <a:spcPts val="3750"/>
              </a:lnSpc>
              <a:spcBef>
                <a:spcPct val="0"/>
              </a:spcBef>
              <a:buFont typeface="Arial"/>
              <a:buChar char="•"/>
            </a:pPr>
            <a:r>
              <a:rPr lang="en-US" sz="2500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Zeptat na vše nejasné.  Dobře si přečíst smlouvu </a:t>
            </a:r>
          </a:p>
          <a:p>
            <a:pPr algn="l">
              <a:lnSpc>
                <a:spcPts val="3750"/>
              </a:lnSpc>
              <a:spcBef>
                <a:spcPct val="0"/>
              </a:spcBef>
            </a:pPr>
            <a:endParaRPr lang="en-US" sz="2500" u="none" strike="noStrike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173200" y="3216198"/>
            <a:ext cx="308610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900" i="1">
                <a:solidFill>
                  <a:srgbClr val="2B2C30"/>
                </a:solidFill>
                <a:latin typeface="Playfair Display Italics"/>
                <a:ea typeface="Playfair Display Italics"/>
                <a:cs typeface="Playfair Display Italics"/>
                <a:sym typeface="Playfair Display Italics"/>
              </a:rPr>
              <a:t>Uzavření smlouvy 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4343400" y="2756663"/>
            <a:ext cx="138677" cy="13867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2756663"/>
            <a:ext cx="138677" cy="13867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0" y="2756663"/>
            <a:ext cx="138677" cy="138677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0896600" y="2756663"/>
            <a:ext cx="138677" cy="138677"/>
            <a:chOff x="0" y="0"/>
            <a:chExt cx="812800" cy="812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173200" y="2756663"/>
            <a:ext cx="138677" cy="13867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B2C30"/>
            </a:solidFill>
          </p:spPr>
          <p:txBody>
            <a:bodyPr/>
            <a:lstStyle/>
            <a:p>
              <a:endParaRPr lang="cs-CZ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85725"/>
              <a:ext cx="660400" cy="650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20"/>
                </a:lnSpc>
              </a:pPr>
              <a:endParaRPr/>
            </a:p>
          </p:txBody>
        </p:sp>
      </p:grpSp>
      <p:sp>
        <p:nvSpPr>
          <p:cNvPr id="30" name="AutoShape 30"/>
          <p:cNvSpPr/>
          <p:nvPr/>
        </p:nvSpPr>
        <p:spPr>
          <a:xfrm>
            <a:off x="1127760" y="2821239"/>
            <a:ext cx="17396401" cy="0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Box 3"/>
          <p:cNvSpPr txBox="1"/>
          <p:nvPr/>
        </p:nvSpPr>
        <p:spPr>
          <a:xfrm>
            <a:off x="1028689" y="2122290"/>
            <a:ext cx="16208782" cy="5867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Označení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smluvních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stran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Určení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doby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trvání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Určení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předmětu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Datum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předání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předmětu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Pořizovací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cena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předmětu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leasingu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Počet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,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výše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a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termíny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splátek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informace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o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pojištění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  <a:p>
            <a:pPr marL="604519" lvl="1" indent="-302260" algn="l">
              <a:lnSpc>
                <a:spcPts val="5235"/>
              </a:lnSpc>
              <a:buFont typeface="Arial"/>
              <a:buChar char="•"/>
            </a:pP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Zvláštní</a:t>
            </a:r>
            <a:r>
              <a:rPr lang="en-US" sz="32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  <a:r>
              <a:rPr lang="en-US" sz="3200" dirty="0" err="1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případy</a:t>
            </a:r>
            <a:endParaRPr lang="en-US" sz="32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algn="l">
              <a:lnSpc>
                <a:spcPts val="5235"/>
              </a:lnSpc>
            </a:pPr>
            <a:endParaRPr lang="en-US" sz="2799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5" name="Freeform 5"/>
          <p:cNvSpPr/>
          <p:nvPr/>
        </p:nvSpPr>
        <p:spPr>
          <a:xfrm>
            <a:off x="9872789" y="2693069"/>
            <a:ext cx="7364683" cy="4900862"/>
          </a:xfrm>
          <a:custGeom>
            <a:avLst/>
            <a:gdLst/>
            <a:ahLst/>
            <a:cxnLst/>
            <a:rect l="l" t="t" r="r" b="b"/>
            <a:pathLst>
              <a:path w="7364683" h="4900862">
                <a:moveTo>
                  <a:pt x="0" y="0"/>
                </a:moveTo>
                <a:lnTo>
                  <a:pt x="7364682" y="0"/>
                </a:lnTo>
                <a:lnTo>
                  <a:pt x="7364682" y="4900862"/>
                </a:lnTo>
                <a:lnTo>
                  <a:pt x="0" y="49008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 MÁ OBSAHOVAT SMLOUVA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0287" y="2227065"/>
            <a:ext cx="7877184" cy="6789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Leasing: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Jednoduché a rychlé vyřízení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 pro lidi s nížšími příjmy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Za pár let lze ojeté auto doplatit a dál v něm jezdit, nebo vyměnit za nové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Nevlastníte auto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 ty nejmenší poruchy musí řešit autorizované opravny.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Auto smí řídit jen nájemník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Sankce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Při krachu leasingové společnosti bude předmět zabaven</a:t>
            </a:r>
          </a:p>
          <a:p>
            <a:pPr marL="604519" lvl="1" indent="-302260" algn="l">
              <a:lnSpc>
                <a:spcPts val="4199"/>
              </a:lnSpc>
              <a:buFont typeface="Arial"/>
              <a:buChar char="•"/>
            </a:pPr>
            <a:r>
              <a:rPr lang="en-US" sz="2799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Jakákoliv závada bude brána v potaz</a:t>
            </a:r>
          </a:p>
        </p:txBody>
      </p:sp>
      <p:sp>
        <p:nvSpPr>
          <p:cNvPr id="3" name="Freeform 3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LEASING NEBO UVĚR 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028689" y="2227065"/>
            <a:ext cx="7877184" cy="4170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799" b="1" u="none" strike="noStrike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Úvěr: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Ihned majitelem auta 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Levnější než leasing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Možnost kdykoliv auto prodat a dluh zaplatit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Méně obvyklé pokuty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u="none" strike="noStrike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Složitější vyřízení formalit a kontrola úvěruschopnosti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11" y="5857928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3" name="Freeform 3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28711" y="1631391"/>
            <a:ext cx="16408332" cy="401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Děkuji za pozornost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360287" y="2236590"/>
            <a:ext cx="7877184" cy="734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2"/>
              </a:rPr>
              <a:t>https://fdrive.cz/clanky/testujeme-luxusni-plug-in-hybrid-mercedes-benz-e-400e-4matic-ptejte-se-na-to-co-vas-zajima-11640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3"/>
              </a:rPr>
              <a:t>https://tn.nova.cz/zpravodajstvi/clanek/345570-architekt-promeni-stavebni-projekt-v-esteticky-logicky-a-predevsim-funkcni-celek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4"/>
              </a:rPr>
              <a:t>https://en.wikipedia.org/wiki/LUMI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5"/>
              </a:rPr>
              <a:t>https://money.cz/novinky-a-tipy/ucetnictvi-2/poridili-jste-hmotny-majetek-a-dodavatel-vam-dodatecne-poskytl-slevu-jak-tuto-slevu-zauctovat/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6"/>
              </a:rPr>
              <a:t>http://www.ifleet.cz/archiv-2005-19/nove-produkty-csob-leasing.html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7"/>
              </a:rPr>
              <a:t>https://www.blesk.cz/clanek/zpravy/149741/aaa-auto-hlasi-dalsi-historicky-rekord-v-prodejich.html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8"/>
              </a:rPr>
              <a:t>https://www.cash4car.es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r>
              <a:rPr lang="cs-CZ" sz="2000" dirty="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  <a:hlinkClick r:id="rId9"/>
              </a:rPr>
              <a:t>https://vieclam123.vn/mau-bao-cao-thiet-hai-tai-san-b3846.html</a:t>
            </a: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  <a:p>
            <a:pPr marL="285750" indent="-285750" algn="l">
              <a:lnSpc>
                <a:spcPts val="3150"/>
              </a:lnSpc>
              <a:buFont typeface="Arial" panose="020B0604020202020204" pitchFamily="34" charset="0"/>
              <a:buChar char="•"/>
            </a:pPr>
            <a:endParaRPr lang="cs-CZ" sz="2000" dirty="0">
              <a:solidFill>
                <a:srgbClr val="2B2C30"/>
              </a:solidFill>
              <a:latin typeface="Public Sans"/>
              <a:ea typeface="Public Sans"/>
              <a:cs typeface="Public Sans"/>
              <a:sym typeface="Public Sans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16701746" y="8616481"/>
            <a:ext cx="535737" cy="727544"/>
          </a:xfrm>
          <a:custGeom>
            <a:avLst/>
            <a:gdLst/>
            <a:ahLst/>
            <a:cxnLst/>
            <a:rect l="l" t="t" r="r" b="b"/>
            <a:pathLst>
              <a:path w="535737" h="727544">
                <a:moveTo>
                  <a:pt x="0" y="0"/>
                </a:moveTo>
                <a:lnTo>
                  <a:pt x="535736" y="0"/>
                </a:lnTo>
                <a:lnTo>
                  <a:pt x="535736" y="727544"/>
                </a:lnTo>
                <a:lnTo>
                  <a:pt x="0" y="7275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cs-CZ"/>
          </a:p>
        </p:txBody>
      </p:sp>
      <p:sp>
        <p:nvSpPr>
          <p:cNvPr id="4" name="TextBox 4"/>
          <p:cNvSpPr txBox="1"/>
          <p:nvPr/>
        </p:nvSpPr>
        <p:spPr>
          <a:xfrm>
            <a:off x="1006871" y="942975"/>
            <a:ext cx="16230600" cy="65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sz="3714" b="1" spc="843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ZDROJE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028695" y="1760761"/>
            <a:ext cx="16230594" cy="38509"/>
          </a:xfrm>
          <a:prstGeom prst="line">
            <a:avLst/>
          </a:prstGeom>
          <a:ln w="9525" cap="flat">
            <a:solidFill>
              <a:srgbClr val="2B2C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Box 6"/>
          <p:cNvSpPr txBox="1"/>
          <p:nvPr/>
        </p:nvSpPr>
        <p:spPr>
          <a:xfrm>
            <a:off x="1028700" y="2236590"/>
            <a:ext cx="7877172" cy="11597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100" b="1" dirty="0" err="1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Informace</a:t>
            </a:r>
            <a:r>
              <a:rPr lang="en-US" sz="21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:</a:t>
            </a:r>
          </a:p>
          <a:p>
            <a:pPr algn="l">
              <a:lnSpc>
                <a:spcPts val="3150"/>
              </a:lnSpc>
            </a:pPr>
            <a:r>
              <a:rPr lang="en-US" sz="21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https://cs.wikipedia.org/wiki/Leasing</a:t>
            </a:r>
          </a:p>
          <a:p>
            <a:pPr algn="l">
              <a:lnSpc>
                <a:spcPts val="3150"/>
              </a:lnSpc>
            </a:pPr>
            <a:endParaRPr lang="en-US" sz="2100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3150"/>
              </a:lnSpc>
            </a:pPr>
            <a:r>
              <a:rPr lang="en-US" sz="21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https://www.chg-meridian.co.uk/resource-centre/blog/what-is-leasing.html</a:t>
            </a:r>
          </a:p>
          <a:p>
            <a:pPr algn="l">
              <a:lnSpc>
                <a:spcPts val="3150"/>
              </a:lnSpc>
            </a:pPr>
            <a:endParaRPr lang="en-US" sz="2100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3150"/>
              </a:lnSpc>
            </a:pPr>
            <a:r>
              <a:rPr lang="en-US" sz="2100" b="1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https://pragmago.com/porada/what-is-leasing-and-what-are-its-types/</a:t>
            </a:r>
          </a:p>
          <a:p>
            <a:pPr algn="l">
              <a:lnSpc>
                <a:spcPts val="3150"/>
              </a:lnSpc>
            </a:pPr>
            <a:endParaRPr lang="en-US" sz="2100" b="1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</a:endParaRPr>
          </a:p>
          <a:p>
            <a:pPr algn="l">
              <a:lnSpc>
                <a:spcPts val="3150"/>
              </a:lnSpc>
            </a:pPr>
            <a:r>
              <a:rPr lang="en-US" sz="2100" b="1" u="sng" dirty="0">
                <a:solidFill>
                  <a:srgbClr val="2B2C30"/>
                </a:solidFill>
                <a:latin typeface="Public Sans Bold"/>
                <a:ea typeface="Public Sans Bold"/>
                <a:cs typeface="Public Sans Bold"/>
                <a:sym typeface="Public Sans Bold"/>
                <a:hlinkClick r:id="rId11" tooltip="https://obchod.wolterskluwer.cz/cz/meritum-up-2022-ukazka.dm-21631.pdf"/>
              </a:rPr>
              <a:t>https://www.google.com/url?sa=t&amp;rct=j&amp;q=&amp;esrc=s&amp;source=web&amp;cd=&amp;ved=2ahUKEwj7p8HR4YuJAxVO1gIHHR77IUgQFnoECBwQAQ&amp;url=https%3A%2F%2Fobchod.wolterskluwer.cz%2Fcz%2Fmeritum-up-2022-obsah.dm-21630.pdf&amp;usg=AOvVaw3bmleSCT-HBCkKu4AJ3yii&amp;opi=89978449</a:t>
            </a: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  <a:p>
            <a:pPr algn="l">
              <a:lnSpc>
                <a:spcPts val="3150"/>
              </a:lnSpc>
            </a:pPr>
            <a:endParaRPr lang="en-US" sz="2100" b="1" u="sng" dirty="0">
              <a:solidFill>
                <a:srgbClr val="2B2C30"/>
              </a:solidFill>
              <a:latin typeface="Public Sans Bold"/>
              <a:ea typeface="Public Sans Bold"/>
              <a:cs typeface="Public Sans Bold"/>
              <a:sym typeface="Public Sans Bold"/>
              <a:hlinkClick r:id="rId11" tooltip="https://obchod.wolterskluwer.cz/cz/meritum-up-2022-ukazka.dm-21631.pd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713</Words>
  <Application>Microsoft Office PowerPoint</Application>
  <PresentationFormat>Vlastní</PresentationFormat>
  <Paragraphs>164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7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23" baseType="lpstr">
      <vt:lpstr>Public Sans</vt:lpstr>
      <vt:lpstr>Playfair Display Bold</vt:lpstr>
      <vt:lpstr>Public Sans Bold</vt:lpstr>
      <vt:lpstr>Playfair Display</vt:lpstr>
      <vt:lpstr>Arial</vt:lpstr>
      <vt:lpstr>Playfair Display Italics</vt:lpstr>
      <vt:lpstr>Calibri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cp:lastModifiedBy/>
  <cp:revision>1</cp:revision>
  <dc:identifier>DAGTZK4vWqU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