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96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94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6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53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7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2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9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2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2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0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Satelitn&#237;_gliov&#225;_bu&#328;ka" TargetMode="External"/><Relationship Id="rId3" Type="http://schemas.openxmlformats.org/officeDocument/2006/relationships/hyperlink" Target="https://www.outlookindia.com/outlook-spotlight/tren-steroid-what-is-trenbolone-strong-tren-alternatives-news-234658" TargetMode="External"/><Relationship Id="rId7" Type="http://schemas.openxmlformats.org/officeDocument/2006/relationships/hyperlink" Target="https://www.youtube.com/watch?v=fy6pqiEB4OM" TargetMode="External"/><Relationship Id="rId12" Type="http://schemas.openxmlformats.org/officeDocument/2006/relationships/hyperlink" Target="https://www.fitness4u.cz/jak-svaly-rostou-veda-svaloveho-rustu/" TargetMode="External"/><Relationship Id="rId2" Type="http://schemas.openxmlformats.org/officeDocument/2006/relationships/hyperlink" Target="https://hitechpharma.com/products/winstro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Anabolick&#233;_steroidy" TargetMode="External"/><Relationship Id="rId11" Type="http://schemas.openxmlformats.org/officeDocument/2006/relationships/hyperlink" Target="https://www.builtlean.com/muscles-grow/" TargetMode="External"/><Relationship Id="rId5" Type="http://schemas.openxmlformats.org/officeDocument/2006/relationships/hyperlink" Target="https://www.scientificamerican.com/article/how-to-get-fit-using-electrical-muscle-stimulation-ems/" TargetMode="External"/><Relationship Id="rId10" Type="http://schemas.openxmlformats.org/officeDocument/2006/relationships/hyperlink" Target="https://cs.wikipedia.org/wiki/Sval" TargetMode="External"/><Relationship Id="rId4" Type="http://schemas.openxmlformats.org/officeDocument/2006/relationships/hyperlink" Target="https://www.nakupik.cz/p/5843227-posilovac-brisnich-svalu-6-pack-ems-six-pack-sada-pro-fit-postavu?gclid=Cj0KCQjwt_qgBhDFARIsABcDjOcGiAJ12jtVZa7ApLpcQ2_wiflYHHpcbTly0JSsqX_SN_iSMfy0qfQaAoohEALw_wcB" TargetMode="External"/><Relationship Id="rId9" Type="http://schemas.openxmlformats.org/officeDocument/2006/relationships/hyperlink" Target="https://www.mensjournal.com/health-fitness/10-reasons-your-muscles-have-stopped-grow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ůzné velikosti barbells">
            <a:extLst>
              <a:ext uri="{FF2B5EF4-FFF2-40B4-BE49-F238E27FC236}">
                <a16:creationId xmlns:a16="http://schemas.microsoft.com/office/drawing/2014/main" id="{CBF46155-11C0-0048-7A36-2945BD2C1A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39" r="188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AD2845F-F42B-2B6A-229C-192623C02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3925389" cy="3204134"/>
          </a:xfrm>
        </p:spPr>
        <p:txBody>
          <a:bodyPr anchor="b">
            <a:normAutofit/>
          </a:bodyPr>
          <a:lstStyle/>
          <a:p>
            <a:r>
              <a:rPr lang="cs-CZ" sz="4800" dirty="0"/>
              <a:t>Tvorba svalů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508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784E12-8ACC-2196-3392-A2F11B0D0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to jsou svaly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011983-5A71-E612-3DE8-985BF5EE3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Latinský název</a:t>
            </a:r>
          </a:p>
          <a:p>
            <a:r>
              <a:rPr lang="cs-CZ" dirty="0"/>
              <a:t>Věda </a:t>
            </a:r>
          </a:p>
          <a:p>
            <a:r>
              <a:rPr lang="cs-CZ" dirty="0"/>
              <a:t>Svalová tkáň</a:t>
            </a:r>
          </a:p>
          <a:p>
            <a:r>
              <a:rPr lang="cs-CZ" dirty="0"/>
              <a:t>Účel </a:t>
            </a:r>
          </a:p>
          <a:p>
            <a:r>
              <a:rPr lang="cs-CZ" dirty="0"/>
              <a:t>Pohyb </a:t>
            </a:r>
          </a:p>
          <a:p>
            <a:r>
              <a:rPr lang="cs-CZ" dirty="0"/>
              <a:t>Druhy 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738CBEE-A948-52E9-AE80-C0DE1DCED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28" y="2114549"/>
            <a:ext cx="6276493" cy="3533775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A6AE116-D593-50C5-AD7D-AF8449D9452F}"/>
              </a:ext>
            </a:extLst>
          </p:cNvPr>
          <p:cNvSpPr txBox="1"/>
          <p:nvPr/>
        </p:nvSpPr>
        <p:spPr>
          <a:xfrm>
            <a:off x="7704582" y="5740985"/>
            <a:ext cx="3371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Stavba svalu</a:t>
            </a:r>
          </a:p>
        </p:txBody>
      </p:sp>
    </p:spTree>
    <p:extLst>
      <p:ext uri="{BB962C8B-B14F-4D97-AF65-F5344CB8AC3E}">
        <p14:creationId xmlns:p14="http://schemas.microsoft.com/office/powerpoint/2010/main" val="333581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079D7A-6075-0EBD-319A-1D7CBBF2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CC4303-1384-EDA5-DC7C-FEC00024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to funguje</a:t>
            </a:r>
          </a:p>
          <a:p>
            <a:r>
              <a:rPr lang="en-US" dirty="0"/>
              <a:t>“</a:t>
            </a:r>
            <a:r>
              <a:rPr lang="cs-CZ" dirty="0"/>
              <a:t>oprava</a:t>
            </a:r>
            <a:r>
              <a:rPr lang="en-US" dirty="0"/>
              <a:t>”</a:t>
            </a:r>
            <a:r>
              <a:rPr lang="cs-CZ" dirty="0"/>
              <a:t> svalů</a:t>
            </a:r>
          </a:p>
          <a:p>
            <a:r>
              <a:rPr lang="cs-CZ" dirty="0"/>
              <a:t>Následky </a:t>
            </a:r>
          </a:p>
          <a:p>
            <a:r>
              <a:rPr lang="cs-CZ" dirty="0"/>
              <a:t>Svalové napětí</a:t>
            </a:r>
          </a:p>
          <a:p>
            <a:r>
              <a:rPr lang="cs-CZ" dirty="0"/>
              <a:t>Svalové poškození</a:t>
            </a:r>
          </a:p>
          <a:p>
            <a:r>
              <a:rPr lang="cs-CZ" dirty="0"/>
              <a:t>Metabolický stres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EAEEABF-0031-3298-E9CF-4878D8DE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305" y="2552699"/>
            <a:ext cx="6342207" cy="355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2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D6F303-A77D-1DF1-B39F-5A57B447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Faktory ovlivňující růst svalstva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C91822-982A-770F-FCCD-F8C6F236E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Odpočinek</a:t>
            </a:r>
          </a:p>
          <a:p>
            <a:r>
              <a:rPr lang="cs-CZ" dirty="0"/>
              <a:t>Strava </a:t>
            </a:r>
          </a:p>
          <a:p>
            <a:r>
              <a:rPr lang="cs-CZ" dirty="0"/>
              <a:t>Správné provedení cviků</a:t>
            </a:r>
          </a:p>
          <a:p>
            <a:r>
              <a:rPr lang="cs-CZ" dirty="0"/>
              <a:t>Časté trénování</a:t>
            </a:r>
          </a:p>
          <a:p>
            <a:r>
              <a:rPr lang="cs-CZ" dirty="0"/>
              <a:t>Typ cvičení</a:t>
            </a:r>
          </a:p>
          <a:p>
            <a:r>
              <a:rPr lang="cs-CZ" dirty="0"/>
              <a:t>Suplementace </a:t>
            </a:r>
          </a:p>
          <a:p>
            <a:r>
              <a:rPr lang="cs-CZ" dirty="0"/>
              <a:t>Testosteron</a:t>
            </a:r>
          </a:p>
        </p:txBody>
      </p:sp>
    </p:spTree>
    <p:extLst>
      <p:ext uri="{BB962C8B-B14F-4D97-AF65-F5344CB8AC3E}">
        <p14:creationId xmlns:p14="http://schemas.microsoft.com/office/powerpoint/2010/main" val="343059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CAC424-6D53-FEC6-F630-97CF306DF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Elektrické šoky do svalů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A65B24-39BF-5075-C32E-A728CFA7D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to funguje</a:t>
            </a:r>
          </a:p>
          <a:p>
            <a:r>
              <a:rPr lang="cs-CZ" dirty="0"/>
              <a:t>Efektivita </a:t>
            </a:r>
          </a:p>
          <a:p>
            <a:r>
              <a:rPr lang="cs-CZ" dirty="0"/>
              <a:t>Proč je to tak oblíbené</a:t>
            </a:r>
          </a:p>
          <a:p>
            <a:r>
              <a:rPr lang="cs-CZ" dirty="0"/>
              <a:t>Kde se s tím potkáme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BF7BE44-2B75-86F5-133E-B6B370362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934" y="2186396"/>
            <a:ext cx="3453565" cy="232627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0DFECB37-DBE6-A10A-EB42-C5D207A6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221" y="3357971"/>
            <a:ext cx="3033713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0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50F30F-1294-7114-19B6-B3418879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Anabolické steroidy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A6D92F-7E4D-A78B-E491-CCB8CCAF1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Co to je</a:t>
            </a:r>
          </a:p>
          <a:p>
            <a:r>
              <a:rPr lang="cs-CZ"/>
              <a:t>Použití </a:t>
            </a:r>
          </a:p>
          <a:p>
            <a:r>
              <a:rPr lang="cs-CZ"/>
              <a:t>Medicína </a:t>
            </a:r>
          </a:p>
          <a:p>
            <a:r>
              <a:rPr lang="cs-CZ"/>
              <a:t>Nežádoucí účinky</a:t>
            </a:r>
          </a:p>
          <a:p>
            <a:r>
              <a:rPr lang="cs-CZ"/>
              <a:t>Příklady steroidů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1026" name="Picture 2" descr="Tren Steroid - What is Trenbolone Strong &amp; Tren Alternatives">
            <a:extLst>
              <a:ext uri="{FF2B5EF4-FFF2-40B4-BE49-F238E27FC236}">
                <a16:creationId xmlns:a16="http://schemas.microsoft.com/office/drawing/2014/main" id="{418A69C8-4399-6DED-D7A5-67150CBC0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266" y="1571625"/>
            <a:ext cx="4004734" cy="225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 Nutrition LGD 4033 XTREME 10mg 60 kapslí od 1 099 Kč - Heureka.cz">
            <a:extLst>
              <a:ext uri="{FF2B5EF4-FFF2-40B4-BE49-F238E27FC236}">
                <a16:creationId xmlns:a16="http://schemas.microsoft.com/office/drawing/2014/main" id="{8ABC08D1-736F-DED7-FCB0-39735FAC6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301" y="2361797"/>
            <a:ext cx="1468965" cy="263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nstrol® — Hi-Tech Pharmaceuticals">
            <a:extLst>
              <a:ext uri="{FF2B5EF4-FFF2-40B4-BE49-F238E27FC236}">
                <a16:creationId xmlns:a16="http://schemas.microsoft.com/office/drawing/2014/main" id="{7C2CE4BB-96F8-245D-0D50-347948A91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818" y="4176712"/>
            <a:ext cx="2219325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144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D91A74-50B9-BF94-22C6-C89C6DF1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6613CB-2659-7EF3-BE00-ADC6911E7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dirty="0">
                <a:hlinkClick r:id="rId2"/>
              </a:rPr>
              <a:t>https://hitechpharma.com/products/winstrol</a:t>
            </a:r>
            <a:endParaRPr lang="cs-CZ" dirty="0"/>
          </a:p>
          <a:p>
            <a:r>
              <a:rPr lang="cs-CZ" dirty="0">
                <a:hlinkClick r:id="rId3"/>
              </a:rPr>
              <a:t>https://www.outlookindia.com/outlook-spotlight/tren-steroid-what-is-trenbolone-strong-tren-alternatives-news-234658</a:t>
            </a:r>
            <a:endParaRPr lang="cs-CZ" dirty="0"/>
          </a:p>
          <a:p>
            <a:r>
              <a:rPr lang="cs-CZ" dirty="0">
                <a:hlinkClick r:id="rId4"/>
              </a:rPr>
              <a:t>https://www.nakupik.cz/p/5843227-posilovac-brisnich-svalu-6-pack-ems-six-pack-sada-pro-fit-postavu?gclid=Cj0KCQjwt_qgBhDFARIsABcDjOcGiAJ12jtVZa7ApLpcQ2_wiflYHHpcbTly0JSsqX_SN_iSMfy0qfQaAoohEALw_wcB</a:t>
            </a:r>
            <a:endParaRPr lang="cs-CZ" dirty="0"/>
          </a:p>
          <a:p>
            <a:r>
              <a:rPr lang="cs-CZ" dirty="0">
                <a:hlinkClick r:id="rId5"/>
              </a:rPr>
              <a:t>https://www.scientificamerican.com/article/how-to-get-fit-using-electrical-muscle-stimulation-ems/</a:t>
            </a:r>
            <a:endParaRPr lang="cs-CZ" dirty="0"/>
          </a:p>
          <a:p>
            <a:r>
              <a:rPr lang="cs-CZ" dirty="0">
                <a:hlinkClick r:id="rId6"/>
              </a:rPr>
              <a:t>https://cs.wikipedia.org/wiki/</a:t>
            </a:r>
            <a:r>
              <a:rPr lang="cs-CZ" dirty="0" err="1">
                <a:hlinkClick r:id="rId6"/>
              </a:rPr>
              <a:t>Anabolické_steroidy</a:t>
            </a:r>
            <a:endParaRPr lang="cs-CZ" dirty="0"/>
          </a:p>
          <a:p>
            <a:r>
              <a:rPr lang="cs-CZ" dirty="0">
                <a:hlinkClick r:id="rId7"/>
              </a:rPr>
              <a:t>https://www.youtube.com/watch?v=fy6pqiEB4OM</a:t>
            </a:r>
            <a:endParaRPr lang="cs-CZ" dirty="0"/>
          </a:p>
          <a:p>
            <a:r>
              <a:rPr lang="cs-CZ" dirty="0">
                <a:hlinkClick r:id="rId8"/>
              </a:rPr>
              <a:t>https://cs.wikipedia.org/wiki/</a:t>
            </a:r>
            <a:r>
              <a:rPr lang="cs-CZ" dirty="0" err="1">
                <a:hlinkClick r:id="rId8"/>
              </a:rPr>
              <a:t>Satelitní_gliová_buňka</a:t>
            </a:r>
            <a:endParaRPr lang="cs-CZ" dirty="0"/>
          </a:p>
          <a:p>
            <a:r>
              <a:rPr lang="cs-CZ" dirty="0">
                <a:hlinkClick r:id="rId9"/>
              </a:rPr>
              <a:t>https://www.mensjournal.com/health-fitness/10-reasons-your-muscles-have-stopped-growing</a:t>
            </a:r>
            <a:endParaRPr lang="cs-CZ" dirty="0"/>
          </a:p>
          <a:p>
            <a:r>
              <a:rPr lang="cs-CZ" dirty="0">
                <a:hlinkClick r:id="rId10"/>
              </a:rPr>
              <a:t>https://cs.wikipedia.org/wiki/Sval</a:t>
            </a:r>
            <a:endParaRPr lang="cs-CZ" dirty="0"/>
          </a:p>
          <a:p>
            <a:r>
              <a:rPr lang="cs-CZ" dirty="0">
                <a:hlinkClick r:id="rId11"/>
              </a:rPr>
              <a:t>https://www.builtlean.com/muscles-grow/</a:t>
            </a:r>
            <a:endParaRPr lang="cs-CZ" dirty="0"/>
          </a:p>
          <a:p>
            <a:r>
              <a:rPr lang="cs-CZ" dirty="0">
                <a:hlinkClick r:id="rId12"/>
              </a:rPr>
              <a:t>https://www.fitness4u.cz/jak-svaly-rostou-veda-svaloveho-rustu/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321009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21333A"/>
      </a:dk2>
      <a:lt2>
        <a:srgbClr val="E7E8E2"/>
      </a:lt2>
      <a:accent1>
        <a:srgbClr val="5A4DC3"/>
      </a:accent1>
      <a:accent2>
        <a:srgbClr val="3B5FB1"/>
      </a:accent2>
      <a:accent3>
        <a:srgbClr val="4DA2C3"/>
      </a:accent3>
      <a:accent4>
        <a:srgbClr val="3BB1A1"/>
      </a:accent4>
      <a:accent5>
        <a:srgbClr val="48B779"/>
      </a:accent5>
      <a:accent6>
        <a:srgbClr val="3BB13E"/>
      </a:accent6>
      <a:hlink>
        <a:srgbClr val="31946E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BAE426-3596-4BA3-817C-16FC2E49CA5F}">
  <ds:schemaRefs>
    <ds:schemaRef ds:uri="http://purl.org/dc/terms/"/>
    <ds:schemaRef ds:uri="http://schemas.microsoft.com/office/2006/documentManagement/types"/>
    <ds:schemaRef ds:uri="http://purl.org/dc/elements/1.1/"/>
    <ds:schemaRef ds:uri="5f220dc0-27a6-4f79-8ef7-91d1414d0c8a"/>
    <ds:schemaRef ds:uri="http://schemas.microsoft.com/office/infopath/2007/PartnerControls"/>
    <ds:schemaRef ds:uri="http://purl.org/dc/dcmitype/"/>
    <ds:schemaRef ds:uri="8716bbdc-2b9e-4b6c-9f5d-91220b825f80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E11262-860F-499D-848D-0A4DF9FBBB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01D35E-6FAE-433C-95E0-B54D31858E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216</Words>
  <Application>Microsoft Office PowerPoint</Application>
  <PresentationFormat>Širokoúhlá obrazovka</PresentationFormat>
  <Paragraphs>47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AccentBoxVTI</vt:lpstr>
      <vt:lpstr>Tvorba svalů</vt:lpstr>
      <vt:lpstr>Co to jsou svaly</vt:lpstr>
      <vt:lpstr>Cvičení</vt:lpstr>
      <vt:lpstr>Faktory ovlivňující růst svalstva</vt:lpstr>
      <vt:lpstr>Elektrické šoky do svalů</vt:lpstr>
      <vt:lpstr>Anabolické steroidy 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