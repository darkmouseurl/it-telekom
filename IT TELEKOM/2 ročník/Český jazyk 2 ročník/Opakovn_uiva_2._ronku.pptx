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9" r:id="rId5"/>
    <p:sldId id="258" r:id="rId6"/>
    <p:sldId id="263" r:id="rId7"/>
    <p:sldId id="261" r:id="rId8"/>
    <p:sldId id="260" r:id="rId9"/>
    <p:sldId id="264" r:id="rId10"/>
    <p:sldId id="276" r:id="rId11"/>
    <p:sldId id="265" r:id="rId12"/>
    <p:sldId id="266" r:id="rId13"/>
    <p:sldId id="267" r:id="rId14"/>
    <p:sldId id="268" r:id="rId15"/>
    <p:sldId id="270" r:id="rId16"/>
    <p:sldId id="271" r:id="rId17"/>
    <p:sldId id="269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KRAUS" userId="S::richard.kraus@teleinformatika.eu::2eb53155-9d05-4395-8665-21f037839502" providerId="AD" clId="Web-{10AA23F9-4D69-8056-13C4-2D99F9A067DE}"/>
    <pc:docChg chg="mod">
      <pc:chgData name="Richard KRAUS" userId="S::richard.kraus@teleinformatika.eu::2eb53155-9d05-4395-8665-21f037839502" providerId="AD" clId="Web-{10AA23F9-4D69-8056-13C4-2D99F9A067DE}" dt="2026-01-18T13:56:55.905" v="0" actId="33475"/>
      <pc:docMkLst>
        <pc:docMk/>
      </pc:docMkLst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47ABC7-0D67-4948-9ECC-3624B1F59BE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C1DC22A-3F98-43A8-8950-CC720C5EC9B3}">
      <dgm:prSet/>
      <dgm:spPr/>
      <dgm:t>
        <a:bodyPr/>
        <a:lstStyle/>
        <a:p>
          <a:r>
            <a:rPr lang="cs-CZ"/>
            <a:t>Definice romantismu</a:t>
          </a:r>
          <a:endParaRPr lang="en-US"/>
        </a:p>
      </dgm:t>
    </dgm:pt>
    <dgm:pt modelId="{43F1FCD9-259B-44F5-97C9-4932143DDAE1}" type="parTrans" cxnId="{4B3AEA74-A9BE-4574-8109-5ACF71FA2A55}">
      <dgm:prSet/>
      <dgm:spPr/>
      <dgm:t>
        <a:bodyPr/>
        <a:lstStyle/>
        <a:p>
          <a:endParaRPr lang="en-US"/>
        </a:p>
      </dgm:t>
    </dgm:pt>
    <dgm:pt modelId="{7191855D-9D0A-4D66-831F-97FE9F8871FE}" type="sibTrans" cxnId="{4B3AEA74-A9BE-4574-8109-5ACF71FA2A55}">
      <dgm:prSet/>
      <dgm:spPr/>
      <dgm:t>
        <a:bodyPr/>
        <a:lstStyle/>
        <a:p>
          <a:endParaRPr lang="en-US"/>
        </a:p>
      </dgm:t>
    </dgm:pt>
    <dgm:pt modelId="{67D289A2-BBAF-4241-9F6A-9969A0515D49}">
      <dgm:prSet/>
      <dgm:spPr/>
      <dgm:t>
        <a:bodyPr/>
        <a:lstStyle/>
        <a:p>
          <a:r>
            <a:rPr lang="cs-CZ"/>
            <a:t>Definice realismu</a:t>
          </a:r>
          <a:endParaRPr lang="en-US"/>
        </a:p>
      </dgm:t>
    </dgm:pt>
    <dgm:pt modelId="{72FF9595-D170-454E-8B19-191928B391B1}" type="parTrans" cxnId="{44DFE5B0-7C0D-4DEC-9EA4-D083253CC975}">
      <dgm:prSet/>
      <dgm:spPr/>
      <dgm:t>
        <a:bodyPr/>
        <a:lstStyle/>
        <a:p>
          <a:endParaRPr lang="en-US"/>
        </a:p>
      </dgm:t>
    </dgm:pt>
    <dgm:pt modelId="{29D048C0-5AE3-4A57-A010-4903D85BB33D}" type="sibTrans" cxnId="{44DFE5B0-7C0D-4DEC-9EA4-D083253CC975}">
      <dgm:prSet/>
      <dgm:spPr/>
      <dgm:t>
        <a:bodyPr/>
        <a:lstStyle/>
        <a:p>
          <a:endParaRPr lang="en-US"/>
        </a:p>
      </dgm:t>
    </dgm:pt>
    <dgm:pt modelId="{A7CD5673-EA12-44DF-A7F8-7D002325C96D}">
      <dgm:prSet/>
      <dgm:spPr/>
      <dgm:t>
        <a:bodyPr/>
        <a:lstStyle/>
        <a:p>
          <a:r>
            <a:rPr lang="cs-CZ"/>
            <a:t>Definice naturalismu</a:t>
          </a:r>
          <a:endParaRPr lang="en-US"/>
        </a:p>
      </dgm:t>
    </dgm:pt>
    <dgm:pt modelId="{F9BCBD16-2520-4481-82E8-7146E01734C7}" type="parTrans" cxnId="{110FC913-DB29-4978-9A08-0F0604AC3B68}">
      <dgm:prSet/>
      <dgm:spPr/>
      <dgm:t>
        <a:bodyPr/>
        <a:lstStyle/>
        <a:p>
          <a:endParaRPr lang="en-US"/>
        </a:p>
      </dgm:t>
    </dgm:pt>
    <dgm:pt modelId="{36E51BF2-6B43-4345-B0DC-E822D03175FA}" type="sibTrans" cxnId="{110FC913-DB29-4978-9A08-0F0604AC3B68}">
      <dgm:prSet/>
      <dgm:spPr/>
      <dgm:t>
        <a:bodyPr/>
        <a:lstStyle/>
        <a:p>
          <a:endParaRPr lang="en-US"/>
        </a:p>
      </dgm:t>
    </dgm:pt>
    <dgm:pt modelId="{6E792379-457D-4F9B-AD35-4968FC6FCC1F}" type="pres">
      <dgm:prSet presAssocID="{DC47ABC7-0D67-4948-9ECC-3624B1F59BE9}" presName="linear" presStyleCnt="0">
        <dgm:presLayoutVars>
          <dgm:animLvl val="lvl"/>
          <dgm:resizeHandles val="exact"/>
        </dgm:presLayoutVars>
      </dgm:prSet>
      <dgm:spPr/>
    </dgm:pt>
    <dgm:pt modelId="{FCD99A37-E1C8-430C-A762-E0CFF113E2B8}" type="pres">
      <dgm:prSet presAssocID="{7C1DC22A-3F98-43A8-8950-CC720C5EC9B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26D6E76-96A5-44CF-AD70-220E11758A58}" type="pres">
      <dgm:prSet presAssocID="{7191855D-9D0A-4D66-831F-97FE9F8871FE}" presName="spacer" presStyleCnt="0"/>
      <dgm:spPr/>
    </dgm:pt>
    <dgm:pt modelId="{9F767B72-01DA-4C46-8ECC-7DE4624D964C}" type="pres">
      <dgm:prSet presAssocID="{67D289A2-BBAF-4241-9F6A-9969A0515D4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D86CF33-687A-420C-A98C-7DBCD8C713A8}" type="pres">
      <dgm:prSet presAssocID="{29D048C0-5AE3-4A57-A010-4903D85BB33D}" presName="spacer" presStyleCnt="0"/>
      <dgm:spPr/>
    </dgm:pt>
    <dgm:pt modelId="{1728B234-9CB5-4621-87A4-E75E692DF421}" type="pres">
      <dgm:prSet presAssocID="{A7CD5673-EA12-44DF-A7F8-7D002325C96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10FC913-DB29-4978-9A08-0F0604AC3B68}" srcId="{DC47ABC7-0D67-4948-9ECC-3624B1F59BE9}" destId="{A7CD5673-EA12-44DF-A7F8-7D002325C96D}" srcOrd="2" destOrd="0" parTransId="{F9BCBD16-2520-4481-82E8-7146E01734C7}" sibTransId="{36E51BF2-6B43-4345-B0DC-E822D03175FA}"/>
    <dgm:cxn modelId="{597F6718-28FE-4A8B-A3AB-44722AAA12E2}" type="presOf" srcId="{67D289A2-BBAF-4241-9F6A-9969A0515D49}" destId="{9F767B72-01DA-4C46-8ECC-7DE4624D964C}" srcOrd="0" destOrd="0" presId="urn:microsoft.com/office/officeart/2005/8/layout/vList2"/>
    <dgm:cxn modelId="{A3B0DE22-F31C-4B5E-B692-47DC57390D95}" type="presOf" srcId="{A7CD5673-EA12-44DF-A7F8-7D002325C96D}" destId="{1728B234-9CB5-4621-87A4-E75E692DF421}" srcOrd="0" destOrd="0" presId="urn:microsoft.com/office/officeart/2005/8/layout/vList2"/>
    <dgm:cxn modelId="{FC2B0C70-2FC9-4463-8ADD-B439B1F2436B}" type="presOf" srcId="{7C1DC22A-3F98-43A8-8950-CC720C5EC9B3}" destId="{FCD99A37-E1C8-430C-A762-E0CFF113E2B8}" srcOrd="0" destOrd="0" presId="urn:microsoft.com/office/officeart/2005/8/layout/vList2"/>
    <dgm:cxn modelId="{4B3AEA74-A9BE-4574-8109-5ACF71FA2A55}" srcId="{DC47ABC7-0D67-4948-9ECC-3624B1F59BE9}" destId="{7C1DC22A-3F98-43A8-8950-CC720C5EC9B3}" srcOrd="0" destOrd="0" parTransId="{43F1FCD9-259B-44F5-97C9-4932143DDAE1}" sibTransId="{7191855D-9D0A-4D66-831F-97FE9F8871FE}"/>
    <dgm:cxn modelId="{F8659595-393F-464C-BBC1-E5463E9000E2}" type="presOf" srcId="{DC47ABC7-0D67-4948-9ECC-3624B1F59BE9}" destId="{6E792379-457D-4F9B-AD35-4968FC6FCC1F}" srcOrd="0" destOrd="0" presId="urn:microsoft.com/office/officeart/2005/8/layout/vList2"/>
    <dgm:cxn modelId="{44DFE5B0-7C0D-4DEC-9EA4-D083253CC975}" srcId="{DC47ABC7-0D67-4948-9ECC-3624B1F59BE9}" destId="{67D289A2-BBAF-4241-9F6A-9969A0515D49}" srcOrd="1" destOrd="0" parTransId="{72FF9595-D170-454E-8B19-191928B391B1}" sibTransId="{29D048C0-5AE3-4A57-A010-4903D85BB33D}"/>
    <dgm:cxn modelId="{0E470B6E-1F95-44CD-BFC1-BF64ADEF24E9}" type="presParOf" srcId="{6E792379-457D-4F9B-AD35-4968FC6FCC1F}" destId="{FCD99A37-E1C8-430C-A762-E0CFF113E2B8}" srcOrd="0" destOrd="0" presId="urn:microsoft.com/office/officeart/2005/8/layout/vList2"/>
    <dgm:cxn modelId="{54CC91F3-63F2-4F85-AD94-EE9AA1F10839}" type="presParOf" srcId="{6E792379-457D-4F9B-AD35-4968FC6FCC1F}" destId="{126D6E76-96A5-44CF-AD70-220E11758A58}" srcOrd="1" destOrd="0" presId="urn:microsoft.com/office/officeart/2005/8/layout/vList2"/>
    <dgm:cxn modelId="{026262BB-A5C4-461B-9FBC-57C32100FC95}" type="presParOf" srcId="{6E792379-457D-4F9B-AD35-4968FC6FCC1F}" destId="{9F767B72-01DA-4C46-8ECC-7DE4624D964C}" srcOrd="2" destOrd="0" presId="urn:microsoft.com/office/officeart/2005/8/layout/vList2"/>
    <dgm:cxn modelId="{EE2B675C-5D01-4918-8948-EAC876C083AE}" type="presParOf" srcId="{6E792379-457D-4F9B-AD35-4968FC6FCC1F}" destId="{4D86CF33-687A-420C-A98C-7DBCD8C713A8}" srcOrd="3" destOrd="0" presId="urn:microsoft.com/office/officeart/2005/8/layout/vList2"/>
    <dgm:cxn modelId="{A2A02768-955F-48A1-B361-68426F8B4D3F}" type="presParOf" srcId="{6E792379-457D-4F9B-AD35-4968FC6FCC1F}" destId="{1728B234-9CB5-4621-87A4-E75E692DF42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D99A37-E1C8-430C-A762-E0CFF113E2B8}">
      <dsp:nvSpPr>
        <dsp:cNvPr id="0" name=""/>
        <dsp:cNvSpPr/>
      </dsp:nvSpPr>
      <dsp:spPr>
        <a:xfrm>
          <a:off x="0" y="38506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5500" kern="1200"/>
            <a:t>Definice romantismu</a:t>
          </a:r>
          <a:endParaRPr lang="en-US" sz="5500" kern="1200"/>
        </a:p>
      </dsp:txBody>
      <dsp:txXfrm>
        <a:off x="64397" y="102903"/>
        <a:ext cx="10386806" cy="1190381"/>
      </dsp:txXfrm>
    </dsp:sp>
    <dsp:sp modelId="{9F767B72-01DA-4C46-8ECC-7DE4624D964C}">
      <dsp:nvSpPr>
        <dsp:cNvPr id="0" name=""/>
        <dsp:cNvSpPr/>
      </dsp:nvSpPr>
      <dsp:spPr>
        <a:xfrm>
          <a:off x="0" y="1516081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5500" kern="1200"/>
            <a:t>Definice realismu</a:t>
          </a:r>
          <a:endParaRPr lang="en-US" sz="5500" kern="1200"/>
        </a:p>
      </dsp:txBody>
      <dsp:txXfrm>
        <a:off x="64397" y="1580478"/>
        <a:ext cx="10386806" cy="1190381"/>
      </dsp:txXfrm>
    </dsp:sp>
    <dsp:sp modelId="{1728B234-9CB5-4621-87A4-E75E692DF421}">
      <dsp:nvSpPr>
        <dsp:cNvPr id="0" name=""/>
        <dsp:cNvSpPr/>
      </dsp:nvSpPr>
      <dsp:spPr>
        <a:xfrm>
          <a:off x="0" y="2993656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5500" kern="1200"/>
            <a:t>Definice naturalismu</a:t>
          </a:r>
          <a:endParaRPr lang="en-US" sz="5500" kern="1200"/>
        </a:p>
      </dsp:txBody>
      <dsp:txXfrm>
        <a:off x="64397" y="3058053"/>
        <a:ext cx="10386806" cy="11903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6AEE34-1AEB-BCC5-22D7-FC5AD2B11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3995AA6-3863-768D-FC3F-E8165634A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E6BA746-0F34-3D65-DA0E-EBDC241E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E12A-73C7-4C5C-A039-EBA82ABE5A0F}" type="datetimeFigureOut">
              <a:rPr lang="cs-CZ" smtClean="0"/>
              <a:t>18.01.2026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5128CE0-D414-893B-9FC0-59F4178AA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EC700D0-5DC9-94FA-B4F3-A6B9893D4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D29A-BACB-4A83-B906-6147F84961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0282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3A26B1-AA89-2836-31A9-B7D8B4CDD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95B5AAD-0E15-E8C0-9CC7-E47849926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62A61C6-6F34-3AFC-1401-CBEFA6BF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E12A-73C7-4C5C-A039-EBA82ABE5A0F}" type="datetimeFigureOut">
              <a:rPr lang="cs-CZ" smtClean="0"/>
              <a:t>18.01.2026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558F306-CDC2-0631-4AB0-DB54C862E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AF7BA7A-B7A8-AA31-0E63-1450460E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D29A-BACB-4A83-B906-6147F84961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1357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151012-8F45-8C6D-C5B4-AC6B76344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975C4BE-4456-4820-D583-B7F4397F6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01592C6-3404-41AE-D5A5-A1792E32C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E12A-73C7-4C5C-A039-EBA82ABE5A0F}" type="datetimeFigureOut">
              <a:rPr lang="cs-CZ" smtClean="0"/>
              <a:t>18.01.2026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7EFE237-9CF0-5FC6-2403-2909BB708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34E61F4-B79D-77AB-0EE8-E31E7B9D6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D29A-BACB-4A83-B906-6147F84961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262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C59602-B1DD-D95F-A780-77F6460C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90ABF01-2043-6CA1-ECEB-264C0724D3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3F4BD1D-58A0-E354-DF5D-8CA2F003A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5924E83-DD9D-97CE-BF50-654ACD3E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E12A-73C7-4C5C-A039-EBA82ABE5A0F}" type="datetimeFigureOut">
              <a:rPr lang="cs-CZ" smtClean="0"/>
              <a:t>18.01.2026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D3F8EFD-DC9A-3F95-3339-2BA0546DA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5B4F751-18ED-4495-4918-6778D558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D29A-BACB-4A83-B906-6147F84961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9664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D07BE4-38F7-79D1-F738-E1EECFD8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0287487-3330-8C0B-0CB3-588141CA7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5E594DC-74A5-BA86-4C83-B9C6A8A00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10303C2F-A355-4234-F73B-E81CA74452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517E2817-D247-A9C7-4F21-AE1A98EC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946E973-6559-2393-887E-9B530F476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E12A-73C7-4C5C-A039-EBA82ABE5A0F}" type="datetimeFigureOut">
              <a:rPr lang="cs-CZ" smtClean="0"/>
              <a:t>18.01.2026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365A8AE1-9D44-0465-C334-DEDF2F2EE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B787CA19-5790-BE86-D575-17A9F1950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D29A-BACB-4A83-B906-6147F84961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9906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96A89A-100F-A41D-0440-174986E8D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ED2C00B-9221-DCC9-1B55-BEDE8BD88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E12A-73C7-4C5C-A039-EBA82ABE5A0F}" type="datetimeFigureOut">
              <a:rPr lang="cs-CZ" smtClean="0"/>
              <a:t>18.01.2026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850FE65-6016-6517-9382-E5728EDCC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077FAF7-3806-6AFC-CF4F-E217A335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D29A-BACB-4A83-B906-6147F84961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01368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72B9C71-AD0F-3464-BA10-1B85FDEE9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E12A-73C7-4C5C-A039-EBA82ABE5A0F}" type="datetimeFigureOut">
              <a:rPr lang="cs-CZ" smtClean="0"/>
              <a:t>18.01.2026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6552B04-C63F-67AE-3A7E-764145F3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DB91EFB-0D32-219F-F797-44B50A4C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D29A-BACB-4A83-B906-6147F84961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1617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083FF4-C952-4974-E63D-31E36EE23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209BE83-5868-8ECB-BC4A-ADB403CE9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47C09CF-21EB-3016-7FAD-CD63C10EF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FC80C84-B0D9-79A7-8072-F4109E285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E12A-73C7-4C5C-A039-EBA82ABE5A0F}" type="datetimeFigureOut">
              <a:rPr lang="cs-CZ" smtClean="0"/>
              <a:t>18.01.2026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4761FFA-A0A6-41EC-C1A7-378C5945F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038FDBE-80DE-3EDA-6AC5-B816A89E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D29A-BACB-4A83-B906-6147F84961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1472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ADA3C5-3794-6C4A-F5E8-D94FEF017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A66F45FC-9BF0-C6C5-4A7D-414A898A6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EFE3859-BFCF-0F0C-5C5F-0CE9D28E9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5967577-BF50-93AB-10CB-B78DF5221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E12A-73C7-4C5C-A039-EBA82ABE5A0F}" type="datetimeFigureOut">
              <a:rPr lang="cs-CZ" smtClean="0"/>
              <a:t>18.01.2026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D33EAD2-676F-8FEE-9852-F52740A5E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74A1D25-A0F4-E552-2CAF-8BA0E48B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D29A-BACB-4A83-B906-6147F84961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34971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4BCBEB-749A-7C5E-9707-EDC81D022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7168E01-BF80-9908-39A4-0EF7F36A1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4FB43B2-226F-1C43-8E9D-32645829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E12A-73C7-4C5C-A039-EBA82ABE5A0F}" type="datetimeFigureOut">
              <a:rPr lang="cs-CZ" smtClean="0"/>
              <a:t>18.01.2026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8F6B2C4-F769-5784-E358-B9F6EAF92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826A1C4-73E9-2B50-27F1-5D4692813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D29A-BACB-4A83-B906-6147F84961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9425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C3221D8F-9C5D-EF66-454A-390F93C93C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14394B0-BC05-9BC3-5EBF-749F1ACB0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28CB3AE-7743-C97D-5E8E-60E8B66BF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E12A-73C7-4C5C-A039-EBA82ABE5A0F}" type="datetimeFigureOut">
              <a:rPr lang="cs-CZ" smtClean="0"/>
              <a:t>18.01.2026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2472AF5-2483-08EE-79FE-619C9448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461F72C-33E3-85BD-C33F-37C6A54C0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D29A-BACB-4A83-B906-6147F84961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719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FF3AB14A-054B-D0A7-EBCC-278C56BF2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EC31D1F-4C03-E11A-F6CA-17F119FCE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D7A2916-0E0C-1B53-E645-DC2B10A8C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BE12A-73C7-4C5C-A039-EBA82ABE5A0F}" type="datetimeFigureOut">
              <a:rPr lang="cs-CZ" smtClean="0"/>
              <a:t>18.01.2026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9413110-4E84-E83B-2C2B-C16A534E4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D35A1AD-00AE-7344-0677-F8A9ED938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DD29A-BACB-4A83-B906-6147F84961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53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00DF6F1-BBAE-412D-F6C2-714B1DF6C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cs-CZ" sz="7200"/>
              <a:t>Opakování učiva 2. ročníku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50FE830-954A-3509-B9AB-E331B0C59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cs-CZ"/>
              <a:t>LITERATURA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932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3E1970-EE6B-D895-D5FF-4B147D6DB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Pokud se odpovědět na otázky k NO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3030F3A-607D-F7DD-E8EE-2DC86CA7C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b="1">
                <a:solidFill>
                  <a:srgbClr val="FF0000"/>
                </a:solidFill>
              </a:rPr>
              <a:t>Kdy probíhalo v Čechách národní obrození? </a:t>
            </a:r>
          </a:p>
          <a:p>
            <a:pPr marL="0" indent="0">
              <a:buNone/>
            </a:pPr>
            <a:r>
              <a:rPr lang="cs-CZ" b="1">
                <a:solidFill>
                  <a:srgbClr val="FF0000"/>
                </a:solidFill>
              </a:rPr>
              <a:t>Co bylo hlavním úkolem národního obrození? </a:t>
            </a:r>
          </a:p>
          <a:p>
            <a:pPr marL="0" indent="0">
              <a:buNone/>
            </a:pPr>
            <a:r>
              <a:rPr lang="cs-CZ" b="1">
                <a:solidFill>
                  <a:srgbClr val="FF0000"/>
                </a:solidFill>
              </a:rPr>
              <a:t>Kdo byli národní buditelé? </a:t>
            </a:r>
          </a:p>
          <a:p>
            <a:pPr marL="0" indent="0">
              <a:buNone/>
            </a:pPr>
            <a:r>
              <a:rPr lang="cs-CZ" b="1">
                <a:solidFill>
                  <a:srgbClr val="FF0000"/>
                </a:solidFill>
              </a:rPr>
              <a:t>Znáš jména hlavních představitelů národního obrození? </a:t>
            </a:r>
          </a:p>
          <a:p>
            <a:pPr marL="0" indent="0">
              <a:buNone/>
            </a:pPr>
            <a:r>
              <a:rPr lang="cs-CZ" b="1">
                <a:solidFill>
                  <a:srgbClr val="FF0000"/>
                </a:solidFill>
              </a:rPr>
              <a:t>Jaká píseň zazněla ve hře J.K. Tyla Fidlovačka? </a:t>
            </a:r>
          </a:p>
          <a:p>
            <a:pPr marL="0" indent="0">
              <a:buNone/>
            </a:pPr>
            <a:r>
              <a:rPr lang="cs-CZ" b="1">
                <a:solidFill>
                  <a:srgbClr val="FF0000"/>
                </a:solidFill>
              </a:rPr>
              <a:t>Vznikly nějaké podvodné dokumenty v té době?</a:t>
            </a:r>
          </a:p>
          <a:p>
            <a:pPr marL="0" indent="0">
              <a:buNone/>
            </a:pP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8959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AED2C25-FA57-4614-2DE4-EC88EFEEF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cs-CZ" sz="5400"/>
              <a:t>Národní obrození</a:t>
            </a:r>
          </a:p>
        </p:txBody>
      </p:sp>
      <p:pic>
        <p:nvPicPr>
          <p:cNvPr id="5" name="Picture 4" descr="Přední schody a sloupy majestátní městské budovy">
            <a:extLst>
              <a:ext uri="{FF2B5EF4-FFF2-40B4-BE49-F238E27FC236}">
                <a16:creationId xmlns:a16="http://schemas.microsoft.com/office/drawing/2014/main" id="{F6A200B4-1E14-8607-529C-3236623508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160" r="28509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DB2F5E3-07DE-4BCA-476B-640DE3A09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 lnSpcReduction="10000"/>
          </a:bodyPr>
          <a:lstStyle/>
          <a:p>
            <a:r>
              <a:rPr lang="cs-CZ" dirty="0"/>
              <a:t>Co je to národní obrození?</a:t>
            </a:r>
          </a:p>
          <a:p>
            <a:r>
              <a:rPr lang="cs-CZ" dirty="0"/>
              <a:t>Od konce 18. století – 1848</a:t>
            </a:r>
          </a:p>
          <a:p>
            <a:r>
              <a:rPr lang="cs-CZ" dirty="0"/>
              <a:t>Usilování o obnovu jazyka českého jako spisovného a kulturního jazyka</a:t>
            </a:r>
          </a:p>
          <a:p>
            <a:r>
              <a:rPr lang="cs-CZ" dirty="0"/>
              <a:t>Češtinu vytlačovala němčina (na úřadech, školách)</a:t>
            </a:r>
          </a:p>
          <a:p>
            <a:r>
              <a:rPr lang="cs-CZ" dirty="0"/>
              <a:t>Česky se mluvilo hlavně na venkově (prostý lid)</a:t>
            </a:r>
          </a:p>
        </p:txBody>
      </p:sp>
    </p:spTree>
    <p:extLst>
      <p:ext uri="{BB962C8B-B14F-4D97-AF65-F5344CB8AC3E}">
        <p14:creationId xmlns:p14="http://schemas.microsoft.com/office/powerpoint/2010/main" val="204976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DD568A1-E5EA-0ADD-7B07-4F4A4A479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/>
              <a:t>Národní obrození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5DE1E4-0C29-57E7-FB8E-20829C838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2203079"/>
            <a:ext cx="10575378" cy="3831961"/>
          </a:xfrm>
        </p:spPr>
        <p:txBody>
          <a:bodyPr anchor="ctr">
            <a:normAutofit lnSpcReduction="10000"/>
          </a:bodyPr>
          <a:lstStyle/>
          <a:p>
            <a:r>
              <a:rPr lang="cs-CZ" sz="2400" b="1">
                <a:solidFill>
                  <a:srgbClr val="FF0000"/>
                </a:solidFill>
              </a:rPr>
              <a:t> 1. období - obrana českého jazyka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u="sng"/>
              <a:t>Josef Dobrovský </a:t>
            </a:r>
            <a:r>
              <a:rPr lang="cs-CZ" sz="2400"/>
              <a:t>– Zevrubná mluvnice jazyka českého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u="sng"/>
              <a:t>Josef Kajetán Tyl </a:t>
            </a:r>
            <a:r>
              <a:rPr lang="cs-CZ" sz="2400"/>
              <a:t>– Fidlovačka</a:t>
            </a:r>
          </a:p>
          <a:p>
            <a:r>
              <a:rPr lang="cs-CZ" sz="2400" b="1">
                <a:solidFill>
                  <a:srgbClr val="FF0000"/>
                </a:solidFill>
              </a:rPr>
              <a:t> 2. období - důraz na vlastenectví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u="sng"/>
              <a:t>Josef Jungmann  -</a:t>
            </a:r>
            <a:r>
              <a:rPr lang="cs-CZ" sz="2400"/>
              <a:t>Česko-německý slovník</a:t>
            </a:r>
          </a:p>
          <a:p>
            <a:r>
              <a:rPr lang="cs-CZ" sz="2400" b="1">
                <a:solidFill>
                  <a:srgbClr val="FF0000"/>
                </a:solidFill>
              </a:rPr>
              <a:t>3. období – vítězství a konec národního obrození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u="sng"/>
              <a:t>František Palacký</a:t>
            </a:r>
          </a:p>
          <a:p>
            <a:r>
              <a:rPr lang="cs-CZ" sz="2400" b="1">
                <a:solidFill>
                  <a:srgbClr val="FF0000"/>
                </a:solidFill>
              </a:rPr>
              <a:t>4. období – přechod romantismu/realismu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u="sng"/>
              <a:t>Božena Němcová; Karel Havlíček Borovský </a:t>
            </a:r>
          </a:p>
        </p:txBody>
      </p:sp>
    </p:spTree>
    <p:extLst>
      <p:ext uri="{BB962C8B-B14F-4D97-AF65-F5344CB8AC3E}">
        <p14:creationId xmlns:p14="http://schemas.microsoft.com/office/powerpoint/2010/main" val="83946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AE17414-2D24-3AFA-0292-5921DB1A2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cs-CZ" sz="5400"/>
              <a:t>Národní obrození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53125F5-F590-3866-1971-5EAE7FE5D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cs-CZ" sz="2200" b="1"/>
              <a:t>1. etapa </a:t>
            </a:r>
            <a:r>
              <a:rPr lang="cs-CZ" sz="2200"/>
              <a:t>– 70. léta 18. st. – počátek 19. stol. (klasicismus)</a:t>
            </a:r>
          </a:p>
          <a:p>
            <a:pPr eaLnBrk="1" hangingPunct="1">
              <a:defRPr/>
            </a:pPr>
            <a:r>
              <a:rPr lang="cs-CZ" sz="2200" b="1"/>
              <a:t>2. etapa </a:t>
            </a:r>
            <a:r>
              <a:rPr lang="cs-CZ" sz="2200"/>
              <a:t>– počátek 19. st. – 20. léta 19. st. (preromantismus)</a:t>
            </a:r>
          </a:p>
          <a:p>
            <a:pPr eaLnBrk="1" hangingPunct="1">
              <a:defRPr/>
            </a:pPr>
            <a:r>
              <a:rPr lang="cs-CZ" sz="2200" b="1"/>
              <a:t>3. etapa </a:t>
            </a:r>
            <a:r>
              <a:rPr lang="cs-CZ" sz="2200"/>
              <a:t>– 20. léta 19. st – konec 40. let 19. st. (romantismus)</a:t>
            </a:r>
          </a:p>
          <a:p>
            <a:pPr eaLnBrk="1" hangingPunct="1">
              <a:defRPr/>
            </a:pPr>
            <a:r>
              <a:rPr lang="cs-CZ" sz="2200" b="1"/>
              <a:t>4. etapa </a:t>
            </a:r>
            <a:r>
              <a:rPr lang="cs-CZ" sz="2200"/>
              <a:t>– 50. léta 19. st.  (realismus)</a:t>
            </a:r>
          </a:p>
          <a:p>
            <a:endParaRPr lang="cs-CZ" sz="2200"/>
          </a:p>
        </p:txBody>
      </p:sp>
      <p:pic>
        <p:nvPicPr>
          <p:cNvPr id="5" name="Picture 4" descr="Kalendář na stole">
            <a:extLst>
              <a:ext uri="{FF2B5EF4-FFF2-40B4-BE49-F238E27FC236}">
                <a16:creationId xmlns:a16="http://schemas.microsoft.com/office/drawing/2014/main" id="{720C012A-35E3-4083-269E-5F054D0F16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047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3448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4994C14-8E9E-107D-EF7E-B7893DA94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cs-CZ" b="1"/>
              <a:t>Rukopisy</a:t>
            </a:r>
            <a:endParaRPr lang="cs-CZ" sz="3600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Tanabata Tree">
            <a:extLst>
              <a:ext uri="{FF2B5EF4-FFF2-40B4-BE49-F238E27FC236}">
                <a16:creationId xmlns:a16="http://schemas.microsoft.com/office/drawing/2014/main" id="{6822E471-197A-2AE3-2141-53F4C7442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182" y="650494"/>
            <a:ext cx="5324142" cy="532414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AD50795-67C2-6697-1C63-44535E21D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12" y="2031101"/>
            <a:ext cx="4282984" cy="3511943"/>
          </a:xfrm>
        </p:spPr>
        <p:txBody>
          <a:bodyPr anchor="ctr">
            <a:normAutofit fontScale="92500" lnSpcReduction="20000"/>
          </a:bodyPr>
          <a:lstStyle/>
          <a:p>
            <a:r>
              <a:rPr lang="cs-CZ" sz="3200"/>
              <a:t>objev 2 rukopisů </a:t>
            </a:r>
          </a:p>
          <a:p>
            <a:r>
              <a:rPr lang="cs-CZ" sz="3200"/>
              <a:t>Královédvorský a Zelenohorský </a:t>
            </a:r>
          </a:p>
          <a:p>
            <a:r>
              <a:rPr lang="cs-CZ" sz="3200"/>
              <a:t>9. a 13. století</a:t>
            </a:r>
          </a:p>
          <a:p>
            <a:r>
              <a:rPr lang="cs-CZ" sz="3200"/>
              <a:t> byly prohlášeny za padělky </a:t>
            </a:r>
          </a:p>
          <a:p>
            <a:r>
              <a:rPr lang="cs-CZ" sz="3200"/>
              <a:t>Josef Linda a Václav Hanka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64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B242C8C-653B-360F-74FC-4CD341B54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8" y="310718"/>
            <a:ext cx="10927672" cy="58662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b="1">
                <a:solidFill>
                  <a:srgbClr val="FF0000"/>
                </a:solidFill>
              </a:rPr>
              <a:t>Kdy probíhalo v Čechách národní obrození?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/>
              <a:t>Od poslední třetiny 18. století do roku 1848. </a:t>
            </a:r>
          </a:p>
          <a:p>
            <a:pPr marL="0" indent="0">
              <a:buNone/>
            </a:pPr>
            <a:r>
              <a:rPr lang="cs-CZ" b="1">
                <a:solidFill>
                  <a:srgbClr val="FF0000"/>
                </a:solidFill>
              </a:rPr>
              <a:t>Co bylo hlavním úkolem národního obrození?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/>
              <a:t>Pozvednout český jazyk a zvýšit sebevědomí českého národa. </a:t>
            </a:r>
          </a:p>
          <a:p>
            <a:pPr marL="0" indent="0">
              <a:buNone/>
            </a:pPr>
            <a:r>
              <a:rPr lang="cs-CZ" b="1">
                <a:solidFill>
                  <a:srgbClr val="FF0000"/>
                </a:solidFill>
              </a:rPr>
              <a:t>Kdo byli národní buditelé?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/>
              <a:t>Čeští vědci, umělci, kněží, učitelé, prostě ti, kdo se podíleli na národním obrození. </a:t>
            </a:r>
          </a:p>
          <a:p>
            <a:pPr marL="0" indent="0">
              <a:buNone/>
            </a:pPr>
            <a:r>
              <a:rPr lang="cs-CZ" b="1">
                <a:solidFill>
                  <a:srgbClr val="FF0000"/>
                </a:solidFill>
              </a:rPr>
              <a:t>Znáš jména hlavních představitelů národního obrození?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/>
              <a:t>Josef Dobrovský, Josef Jungmann, František Palacký </a:t>
            </a:r>
          </a:p>
          <a:p>
            <a:pPr marL="0" indent="0">
              <a:buNone/>
            </a:pPr>
            <a:r>
              <a:rPr lang="cs-CZ" b="1">
                <a:solidFill>
                  <a:srgbClr val="FF0000"/>
                </a:solidFill>
              </a:rPr>
              <a:t>Jaká píseň zazněla ve hře J.K. Tyla Fidlovačka?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/>
              <a:t>Kde domov můj – dnes hymna České republiky</a:t>
            </a:r>
          </a:p>
          <a:p>
            <a:pPr marL="0" indent="0">
              <a:buNone/>
            </a:pPr>
            <a:r>
              <a:rPr lang="cs-CZ" b="1">
                <a:solidFill>
                  <a:srgbClr val="FF0000"/>
                </a:solidFill>
              </a:rPr>
              <a:t>Vznikly nějaké podvodné dokumenty v té době?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/>
              <a:t>Rukopisy Královédvorský a Zelenohorský</a:t>
            </a:r>
          </a:p>
        </p:txBody>
      </p:sp>
    </p:spTree>
    <p:extLst>
      <p:ext uri="{BB962C8B-B14F-4D97-AF65-F5344CB8AC3E}">
        <p14:creationId xmlns:p14="http://schemas.microsoft.com/office/powerpoint/2010/main" val="204258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18419F-367C-323C-B070-EE6629B3B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Romantismus, realismus, naturalismus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979F366E-A20E-49A7-9311-2597BFB9CC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0996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rofil černého pantera na bílém pozadí">
            <a:extLst>
              <a:ext uri="{FF2B5EF4-FFF2-40B4-BE49-F238E27FC236}">
                <a16:creationId xmlns:a16="http://schemas.microsoft.com/office/drawing/2014/main" id="{D3F94FD7-6FF7-CE99-CC5E-C2B4B88B14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843" r="9336" b="-1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B495916-3ADB-1D5D-B268-3D0F590A9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cs-CZ" sz="4000"/>
              <a:t>Osobnosti světového romantismu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956127-0B3D-8AB7-7423-220DFEBD8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 fontScale="92500" lnSpcReduction="10000"/>
          </a:bodyPr>
          <a:lstStyle/>
          <a:p>
            <a:r>
              <a:rPr lang="cs-CZ" b="1" dirty="0">
                <a:solidFill>
                  <a:srgbClr val="FF0000"/>
                </a:solidFill>
              </a:rPr>
              <a:t>Viktor Hugo </a:t>
            </a:r>
          </a:p>
          <a:p>
            <a:r>
              <a:rPr lang="cs-CZ" dirty="0"/>
              <a:t>Bídníci; Chrám matky boží v Paříži</a:t>
            </a:r>
          </a:p>
          <a:p>
            <a:r>
              <a:rPr lang="cs-CZ" b="1" dirty="0">
                <a:solidFill>
                  <a:srgbClr val="FF0000"/>
                </a:solidFill>
              </a:rPr>
              <a:t>Alexander Sergejevič Puškin </a:t>
            </a:r>
          </a:p>
          <a:p>
            <a:r>
              <a:rPr lang="cs-CZ" dirty="0"/>
              <a:t>Evžen Oněgin</a:t>
            </a:r>
          </a:p>
          <a:p>
            <a:r>
              <a:rPr lang="cs-CZ" b="1" dirty="0">
                <a:solidFill>
                  <a:srgbClr val="FF0000"/>
                </a:solidFill>
              </a:rPr>
              <a:t>Edgar Alan </a:t>
            </a:r>
            <a:r>
              <a:rPr lang="cs-CZ" b="1" dirty="0" err="1">
                <a:solidFill>
                  <a:srgbClr val="FF0000"/>
                </a:solidFill>
              </a:rPr>
              <a:t>Poe</a:t>
            </a:r>
            <a:r>
              <a:rPr lang="cs-CZ" b="1" dirty="0">
                <a:solidFill>
                  <a:srgbClr val="FF0000"/>
                </a:solidFill>
              </a:rPr>
              <a:t> </a:t>
            </a:r>
          </a:p>
          <a:p>
            <a:r>
              <a:rPr lang="cs-CZ" dirty="0"/>
              <a:t>Havran; Černý kocour a jiné povídky</a:t>
            </a:r>
          </a:p>
        </p:txBody>
      </p:sp>
    </p:spTree>
    <p:extLst>
      <p:ext uri="{BB962C8B-B14F-4D97-AF65-F5344CB8AC3E}">
        <p14:creationId xmlns:p14="http://schemas.microsoft.com/office/powerpoint/2010/main" val="341126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rofil černého pantera na bílém pozadí">
            <a:extLst>
              <a:ext uri="{FF2B5EF4-FFF2-40B4-BE49-F238E27FC236}">
                <a16:creationId xmlns:a16="http://schemas.microsoft.com/office/drawing/2014/main" id="{D3F94FD7-6FF7-CE99-CC5E-C2B4B88B14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843" r="9336" b="-1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B495916-3ADB-1D5D-B268-3D0F590A9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cs-CZ" sz="4000"/>
              <a:t>Osobnosti světového romantismu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956127-0B3D-8AB7-7423-220DFEBD8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cs-CZ" sz="3600" dirty="0">
                <a:solidFill>
                  <a:srgbClr val="FF0000"/>
                </a:solidFill>
              </a:rPr>
              <a:t>G.G. Byron</a:t>
            </a:r>
          </a:p>
          <a:p>
            <a:pPr marL="0" indent="0">
              <a:buNone/>
            </a:pPr>
            <a:r>
              <a:rPr lang="cs-CZ" sz="3600" dirty="0">
                <a:solidFill>
                  <a:srgbClr val="FF0000"/>
                </a:solidFill>
              </a:rPr>
              <a:t>W. </a:t>
            </a:r>
            <a:r>
              <a:rPr lang="cs-CZ" sz="3600" dirty="0" err="1">
                <a:solidFill>
                  <a:srgbClr val="FF0000"/>
                </a:solidFill>
              </a:rPr>
              <a:t>Scott</a:t>
            </a:r>
            <a:endParaRPr lang="cs-CZ" sz="3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cs-CZ" sz="3600" dirty="0">
                <a:solidFill>
                  <a:srgbClr val="FF0000"/>
                </a:solidFill>
              </a:rPr>
              <a:t>Jane Austenová</a:t>
            </a:r>
          </a:p>
          <a:p>
            <a:pPr marL="0" indent="0">
              <a:buNone/>
            </a:pPr>
            <a:r>
              <a:rPr lang="cs-CZ" sz="3600" dirty="0">
                <a:solidFill>
                  <a:srgbClr val="FF0000"/>
                </a:solidFill>
              </a:rPr>
              <a:t>A. Dumas Starší</a:t>
            </a:r>
          </a:p>
        </p:txBody>
      </p:sp>
    </p:spTree>
    <p:extLst>
      <p:ext uri="{BB962C8B-B14F-4D97-AF65-F5344CB8AC3E}">
        <p14:creationId xmlns:p14="http://schemas.microsoft.com/office/powerpoint/2010/main" val="29341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st Alexandra III. v Paříži">
            <a:extLst>
              <a:ext uri="{FF2B5EF4-FFF2-40B4-BE49-F238E27FC236}">
                <a16:creationId xmlns:a16="http://schemas.microsoft.com/office/drawing/2014/main" id="{52AE2EF5-363E-7D06-B214-E2ADB4B194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64" r="15905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BE38646-C263-006A-E0F5-FE58E885C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cs-CZ" sz="4000"/>
              <a:t>Osobnosti českého romantismu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598AC8A-EE15-4690-5998-CB7DBA437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24" y="2285994"/>
            <a:ext cx="5419725" cy="4095755"/>
          </a:xfrm>
        </p:spPr>
        <p:txBody>
          <a:bodyPr anchor="ctr">
            <a:noAutofit/>
          </a:bodyPr>
          <a:lstStyle/>
          <a:p>
            <a:r>
              <a:rPr lang="cs-CZ" sz="2400" b="1" dirty="0">
                <a:solidFill>
                  <a:srgbClr val="FF0000"/>
                </a:solidFill>
              </a:rPr>
              <a:t>Karel Jaromír Erben </a:t>
            </a:r>
          </a:p>
          <a:p>
            <a:r>
              <a:rPr lang="cs-CZ" sz="2400" dirty="0"/>
              <a:t>Kytice</a:t>
            </a:r>
          </a:p>
          <a:p>
            <a:r>
              <a:rPr lang="cs-CZ" sz="2400" b="1" dirty="0">
                <a:solidFill>
                  <a:srgbClr val="FF0000"/>
                </a:solidFill>
              </a:rPr>
              <a:t>Karel Hynek Mácha</a:t>
            </a:r>
          </a:p>
          <a:p>
            <a:r>
              <a:rPr lang="cs-CZ" sz="2400" dirty="0"/>
              <a:t>Máj</a:t>
            </a:r>
          </a:p>
          <a:p>
            <a:endParaRPr lang="cs-CZ" sz="2400" dirty="0"/>
          </a:p>
          <a:p>
            <a:r>
              <a:rPr lang="cs-CZ" sz="2400" dirty="0"/>
              <a:t>Přelom romantismu/ realismu</a:t>
            </a:r>
          </a:p>
          <a:p>
            <a:r>
              <a:rPr lang="cs-CZ" sz="2400" b="1" dirty="0">
                <a:solidFill>
                  <a:srgbClr val="FF0000"/>
                </a:solidFill>
              </a:rPr>
              <a:t>Božena Němcová</a:t>
            </a:r>
          </a:p>
          <a:p>
            <a:r>
              <a:rPr lang="cs-CZ" sz="2400" dirty="0"/>
              <a:t>Babička; Divá Bára</a:t>
            </a:r>
          </a:p>
          <a:p>
            <a:r>
              <a:rPr lang="cs-CZ" sz="2400" b="1" dirty="0">
                <a:solidFill>
                  <a:srgbClr val="FF0000"/>
                </a:solidFill>
              </a:rPr>
              <a:t>Karel Havlíček Borovský</a:t>
            </a:r>
          </a:p>
          <a:p>
            <a:r>
              <a:rPr lang="cs-CZ" sz="2400" dirty="0"/>
              <a:t>Epigramy; satiry; Král Lávra; Tyrolské elegie </a:t>
            </a:r>
          </a:p>
        </p:txBody>
      </p:sp>
    </p:spTree>
    <p:extLst>
      <p:ext uri="{BB962C8B-B14F-4D97-AF65-F5344CB8AC3E}">
        <p14:creationId xmlns:p14="http://schemas.microsoft.com/office/powerpoint/2010/main" val="319023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80997" y="381001"/>
            <a:ext cx="6858001" cy="6095995"/>
          </a:xfrm>
          <a:prstGeom prst="rect">
            <a:avLst/>
          </a:prstGeom>
          <a:ln>
            <a:noFill/>
          </a:ln>
          <a:effectLst>
            <a:outerShdw blurRad="381000" dist="101600" sx="99000" sy="99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7D49A99-7BE0-8643-9128-63C2FC2B2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413" y="4544704"/>
            <a:ext cx="4792635" cy="1811645"/>
          </a:xfrm>
        </p:spPr>
        <p:txBody>
          <a:bodyPr anchor="ctr">
            <a:normAutofit/>
          </a:bodyPr>
          <a:lstStyle/>
          <a:p>
            <a:r>
              <a:rPr lang="cs-CZ" sz="4000" dirty="0"/>
              <a:t>Osobnosti světového realismu</a:t>
            </a:r>
          </a:p>
        </p:txBody>
      </p:sp>
      <p:pic>
        <p:nvPicPr>
          <p:cNvPr id="5" name="Picture 4" descr="Vykřičník na žlutém pozadí">
            <a:extLst>
              <a:ext uri="{FF2B5EF4-FFF2-40B4-BE49-F238E27FC236}">
                <a16:creationId xmlns:a16="http://schemas.microsoft.com/office/drawing/2014/main" id="{31A406FB-1482-5D61-80EB-4CB158C260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-1" y="10"/>
            <a:ext cx="6096001" cy="4114790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40C6DE3-A8C6-74DB-D28C-AD9FD660B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10" y="691912"/>
            <a:ext cx="4585646" cy="5474173"/>
          </a:xfrm>
        </p:spPr>
        <p:txBody>
          <a:bodyPr anchor="ctr">
            <a:normAutofit/>
          </a:bodyPr>
          <a:lstStyle/>
          <a:p>
            <a:r>
              <a:rPr lang="cs-CZ" sz="3600" b="1" dirty="0">
                <a:solidFill>
                  <a:srgbClr val="FF0000"/>
                </a:solidFill>
              </a:rPr>
              <a:t>Gustav Flaubert </a:t>
            </a:r>
          </a:p>
          <a:p>
            <a:r>
              <a:rPr lang="cs-CZ" sz="3600" dirty="0"/>
              <a:t>Paní Bovaryová</a:t>
            </a:r>
          </a:p>
          <a:p>
            <a:r>
              <a:rPr lang="cs-CZ" sz="3600" b="1" dirty="0">
                <a:solidFill>
                  <a:srgbClr val="FF0000"/>
                </a:solidFill>
              </a:rPr>
              <a:t>Charles Dickens </a:t>
            </a:r>
          </a:p>
          <a:p>
            <a:r>
              <a:rPr lang="cs-CZ" sz="3600" dirty="0"/>
              <a:t>Oliver Twist</a:t>
            </a:r>
          </a:p>
          <a:p>
            <a:r>
              <a:rPr lang="cs-CZ" sz="3600" b="1" dirty="0">
                <a:solidFill>
                  <a:srgbClr val="FF0000"/>
                </a:solidFill>
              </a:rPr>
              <a:t>F. M. </a:t>
            </a:r>
            <a:r>
              <a:rPr lang="cs-CZ" sz="3600" b="1" dirty="0" err="1">
                <a:solidFill>
                  <a:srgbClr val="FF0000"/>
                </a:solidFill>
              </a:rPr>
              <a:t>Dostojevskij</a:t>
            </a:r>
            <a:endParaRPr lang="cs-CZ" sz="3600" b="1" dirty="0">
              <a:solidFill>
                <a:srgbClr val="FF0000"/>
              </a:solidFill>
            </a:endParaRPr>
          </a:p>
          <a:p>
            <a:r>
              <a:rPr lang="cs-CZ" sz="3600" dirty="0"/>
              <a:t>Zločin a trest</a:t>
            </a:r>
          </a:p>
          <a:p>
            <a:r>
              <a:rPr lang="cs-CZ" sz="3600" b="1" dirty="0">
                <a:solidFill>
                  <a:srgbClr val="FF0000"/>
                </a:solidFill>
              </a:rPr>
              <a:t>L. N. Tolstoj</a:t>
            </a:r>
          </a:p>
          <a:p>
            <a:r>
              <a:rPr lang="cs-CZ" sz="3600" dirty="0"/>
              <a:t>Anna Karenina </a:t>
            </a:r>
          </a:p>
          <a:p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56449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4F66D1-54B6-E7E0-97C5-FD2161BA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cs-CZ" sz="3600" dirty="0"/>
              <a:t>Představitele naturalismu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3592560-DB58-1961-F5F5-B8C307D8A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4085665" cy="3591207"/>
          </a:xfrm>
        </p:spPr>
        <p:txBody>
          <a:bodyPr>
            <a:normAutofit/>
          </a:bodyPr>
          <a:lstStyle/>
          <a:p>
            <a:r>
              <a:rPr lang="cs-CZ" sz="3600" b="1" dirty="0" err="1">
                <a:solidFill>
                  <a:srgbClr val="FF0000"/>
                </a:solidFill>
              </a:rPr>
              <a:t>Emilé</a:t>
            </a:r>
            <a:r>
              <a:rPr lang="cs-CZ" sz="3600" b="1" dirty="0">
                <a:solidFill>
                  <a:srgbClr val="FF0000"/>
                </a:solidFill>
              </a:rPr>
              <a:t> </a:t>
            </a:r>
            <a:r>
              <a:rPr lang="cs-CZ" sz="3600" b="1" dirty="0" err="1">
                <a:solidFill>
                  <a:srgbClr val="FF0000"/>
                </a:solidFill>
              </a:rPr>
              <a:t>Zola</a:t>
            </a:r>
            <a:endParaRPr lang="cs-CZ" sz="3600" b="1" dirty="0">
              <a:solidFill>
                <a:srgbClr val="FF0000"/>
              </a:solidFill>
            </a:endParaRPr>
          </a:p>
          <a:p>
            <a:r>
              <a:rPr lang="cs-CZ" sz="3600" dirty="0"/>
              <a:t>Zabiják</a:t>
            </a:r>
          </a:p>
          <a:p>
            <a:endParaRPr lang="cs-CZ" sz="3600" dirty="0"/>
          </a:p>
          <a:p>
            <a:r>
              <a:rPr lang="cs-CZ" sz="3600" b="1" dirty="0">
                <a:solidFill>
                  <a:srgbClr val="FF0000"/>
                </a:solidFill>
              </a:rPr>
              <a:t>Guy de </a:t>
            </a:r>
            <a:r>
              <a:rPr lang="cs-CZ" sz="3600" b="1" dirty="0" err="1">
                <a:solidFill>
                  <a:srgbClr val="FF0000"/>
                </a:solidFill>
              </a:rPr>
              <a:t>Maupassant</a:t>
            </a:r>
            <a:r>
              <a:rPr lang="cs-CZ" sz="3600" b="1" dirty="0">
                <a:solidFill>
                  <a:srgbClr val="FF0000"/>
                </a:solidFill>
              </a:rPr>
              <a:t> </a:t>
            </a:r>
          </a:p>
          <a:p>
            <a:r>
              <a:rPr lang="cs-CZ" sz="3600" dirty="0"/>
              <a:t>Kulička </a:t>
            </a:r>
          </a:p>
        </p:txBody>
      </p:sp>
      <p:pic>
        <p:nvPicPr>
          <p:cNvPr id="5" name="Picture 4" descr="Provaz oddělující prostory pro VIP">
            <a:extLst>
              <a:ext uri="{FF2B5EF4-FFF2-40B4-BE49-F238E27FC236}">
                <a16:creationId xmlns:a16="http://schemas.microsoft.com/office/drawing/2014/main" id="{FDE09AA2-68A4-EFEC-127B-057323A0F9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08" r="7319" b="-2"/>
          <a:stretch/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39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2BD7883-21E1-74E8-EEDC-5BD724773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cs-CZ" sz="5000"/>
              <a:t>Představitelé českého realismu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26CDFD-7D12-F3EA-CFD0-FE14A94CE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" y="2489454"/>
            <a:ext cx="4818888" cy="3547872"/>
          </a:xfrm>
        </p:spPr>
        <p:txBody>
          <a:bodyPr anchor="t">
            <a:noAutofit/>
          </a:bodyPr>
          <a:lstStyle/>
          <a:p>
            <a:r>
              <a:rPr lang="cs-CZ" sz="2400"/>
              <a:t>Májovci</a:t>
            </a:r>
          </a:p>
          <a:p>
            <a:endParaRPr lang="cs-CZ" sz="2400"/>
          </a:p>
          <a:p>
            <a:r>
              <a:rPr lang="cs-CZ" sz="2400"/>
              <a:t>Ruchovci</a:t>
            </a:r>
          </a:p>
          <a:p>
            <a:endParaRPr lang="cs-CZ" sz="2400"/>
          </a:p>
          <a:p>
            <a:r>
              <a:rPr lang="cs-CZ" sz="2400"/>
              <a:t>Lumírovci</a:t>
            </a:r>
          </a:p>
          <a:p>
            <a:endParaRPr lang="cs-CZ" sz="2400"/>
          </a:p>
          <a:p>
            <a:r>
              <a:rPr lang="cs-CZ" sz="2400"/>
              <a:t>Venkovská a historická próza</a:t>
            </a:r>
          </a:p>
          <a:p>
            <a:endParaRPr lang="cs-CZ" sz="2400"/>
          </a:p>
          <a:p>
            <a:r>
              <a:rPr lang="cs-CZ" sz="2400"/>
              <a:t>Realistické drama </a:t>
            </a:r>
          </a:p>
        </p:txBody>
      </p:sp>
      <p:pic>
        <p:nvPicPr>
          <p:cNvPr id="7" name="Graphic 6" descr="Otázky">
            <a:extLst>
              <a:ext uri="{FF2B5EF4-FFF2-40B4-BE49-F238E27FC236}">
                <a16:creationId xmlns:a16="http://schemas.microsoft.com/office/drawing/2014/main" id="{54D9073B-C6E8-7D62-34B3-64E218679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6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1F16B79-2FF3-3977-FA9A-2144C483B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cs-CZ" sz="4800"/>
              <a:t>Ruchovci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BD0461-2C5B-4363-C443-B2C399B2F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r>
              <a:rPr lang="cs-CZ" sz="2200" b="1">
                <a:solidFill>
                  <a:srgbClr val="FF0000"/>
                </a:solidFill>
              </a:rPr>
              <a:t>Škola národní</a:t>
            </a:r>
          </a:p>
          <a:p>
            <a:r>
              <a:rPr lang="cs-CZ" altLang="cs-CZ" sz="2200"/>
              <a:t>Svatopluk Čech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altLang="cs-CZ" sz="2200"/>
              <a:t>Broučkiáda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altLang="cs-CZ" sz="2200"/>
              <a:t>Na měsíc a do 15. století </a:t>
            </a:r>
          </a:p>
          <a:p>
            <a:r>
              <a:rPr lang="cs-CZ" altLang="cs-CZ" sz="2200"/>
              <a:t>Eliška Krásnohorská </a:t>
            </a:r>
          </a:p>
          <a:p>
            <a:pPr marL="0" indent="0">
              <a:buNone/>
            </a:pPr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386310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2E32F62-1E39-7DF9-0705-6C1E4F84C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cs-CZ" sz="4000"/>
              <a:t>Lumírovci</a:t>
            </a:r>
          </a:p>
        </p:txBody>
      </p:sp>
      <p:pic>
        <p:nvPicPr>
          <p:cNvPr id="5" name="Picture 4" descr="Brýle položené na knize">
            <a:extLst>
              <a:ext uri="{FF2B5EF4-FFF2-40B4-BE49-F238E27FC236}">
                <a16:creationId xmlns:a16="http://schemas.microsoft.com/office/drawing/2014/main" id="{CE5A2EC5-9F77-16C8-D205-3003BE021F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89" r="33221" b="-1"/>
          <a:stretch/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667857F-746A-389E-2EBC-632938346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anchor="ctr">
            <a:normAutofit/>
          </a:bodyPr>
          <a:lstStyle/>
          <a:p>
            <a:r>
              <a:rPr lang="cs-CZ" b="1">
                <a:solidFill>
                  <a:srgbClr val="FF0000"/>
                </a:solidFill>
              </a:rPr>
              <a:t>Škola kosmopolitní</a:t>
            </a:r>
          </a:p>
          <a:p>
            <a:r>
              <a:rPr lang="cs-CZ"/>
              <a:t>Josef Václav Sládek</a:t>
            </a:r>
          </a:p>
          <a:p>
            <a:r>
              <a:rPr lang="cs-CZ"/>
              <a:t>Julius Zeyer </a:t>
            </a:r>
          </a:p>
          <a:p>
            <a:r>
              <a:rPr lang="cs-CZ"/>
              <a:t>Jaroslav Vrchlický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u="sng"/>
              <a:t>Noc na Karlštejně</a:t>
            </a:r>
          </a:p>
        </p:txBody>
      </p:sp>
    </p:spTree>
    <p:extLst>
      <p:ext uri="{BB962C8B-B14F-4D97-AF65-F5344CB8AC3E}">
        <p14:creationId xmlns:p14="http://schemas.microsoft.com/office/powerpoint/2010/main" val="30656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377B02F-04CA-F0BA-BFF6-07A71750D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cs-CZ" sz="4000"/>
              <a:t>Májovci</a:t>
            </a:r>
          </a:p>
        </p:txBody>
      </p:sp>
      <p:pic>
        <p:nvPicPr>
          <p:cNvPr id="5" name="Picture 4" descr="Mount Rushmore za slunečného dne">
            <a:extLst>
              <a:ext uri="{FF2B5EF4-FFF2-40B4-BE49-F238E27FC236}">
                <a16:creationId xmlns:a16="http://schemas.microsoft.com/office/drawing/2014/main" id="{62D164E8-B028-825B-B462-3955609BFE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82" r="17563" b="2"/>
          <a:stretch/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AF4ABB4-5DAF-D837-148E-C90578410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cs-CZ" altLang="cs-CZ" sz="3200"/>
              <a:t>Vítězslav Hálek</a:t>
            </a:r>
          </a:p>
          <a:p>
            <a:pPr eaLnBrk="1" hangingPunct="1"/>
            <a:r>
              <a:rPr lang="cs-CZ" altLang="cs-CZ" sz="3200"/>
              <a:t>Jan Neruda</a:t>
            </a:r>
          </a:p>
          <a:p>
            <a:pPr eaLnBrk="1" hangingPunct="1"/>
            <a:r>
              <a:rPr lang="cs-CZ" altLang="cs-CZ" sz="3200"/>
              <a:t>Karolína Světlá</a:t>
            </a:r>
          </a:p>
          <a:p>
            <a:pPr eaLnBrk="1" hangingPunct="1"/>
            <a:r>
              <a:rPr lang="cs-CZ" altLang="cs-CZ" sz="3200"/>
              <a:t>Jakub Arbes </a:t>
            </a:r>
          </a:p>
          <a:p>
            <a:pPr marL="0" indent="0">
              <a:buNone/>
            </a:pP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148573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0484A93-2E24-8DFD-96EC-BE4998EC7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cs-CZ" sz="3600"/>
              <a:t>Historická próza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ACE38A-925B-55CD-00D1-2097CF4CF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cs-CZ" sz="4000" b="1">
                <a:solidFill>
                  <a:srgbClr val="FF0000"/>
                </a:solidFill>
              </a:rPr>
              <a:t>Kritický realismus</a:t>
            </a:r>
          </a:p>
          <a:p>
            <a:r>
              <a:rPr lang="cs-CZ" sz="4000"/>
              <a:t>Alois Jirásek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4000" u="sng"/>
              <a:t>Staré pověsti české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istorie">
            <a:extLst>
              <a:ext uri="{FF2B5EF4-FFF2-40B4-BE49-F238E27FC236}">
                <a16:creationId xmlns:a16="http://schemas.microsoft.com/office/drawing/2014/main" id="{21D1E8E3-47E7-5245-5F8A-931FF82DC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0493" y="1347516"/>
            <a:ext cx="4223252" cy="422325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05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C934E67-8664-DFC1-4059-B80C9F195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cs-CZ"/>
              <a:t>Venkovská próza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66FD1E7-152A-2AF5-09BA-211DC1464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cs-CZ" sz="3600" b="1">
                <a:solidFill>
                  <a:srgbClr val="FF0000"/>
                </a:solidFill>
              </a:rPr>
              <a:t>Kritický realismus</a:t>
            </a:r>
          </a:p>
          <a:p>
            <a:r>
              <a:rPr lang="cs-CZ" sz="3600"/>
              <a:t>K. V. Rais</a:t>
            </a:r>
          </a:p>
          <a:p>
            <a:r>
              <a:rPr lang="cs-CZ" sz="3600"/>
              <a:t>Tereze Nováková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6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A13CDCE-53F7-3867-6935-C1E15FFA2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cs-CZ" sz="5400"/>
              <a:t>Realistické drama</a:t>
            </a:r>
          </a:p>
        </p:txBody>
      </p:sp>
      <p:pic>
        <p:nvPicPr>
          <p:cNvPr id="5" name="Picture 4" descr="Bodové světlo na temném mlžném pódiu">
            <a:extLst>
              <a:ext uri="{FF2B5EF4-FFF2-40B4-BE49-F238E27FC236}">
                <a16:creationId xmlns:a16="http://schemas.microsoft.com/office/drawing/2014/main" id="{CB0DE14C-A34F-9725-5CB2-71DCB84964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959" r="3709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AFDF681-D03A-4AF3-DA91-F34F40B1D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cs-CZ" sz="3600"/>
              <a:t>Ladislav Stroupežnický </a:t>
            </a:r>
          </a:p>
          <a:p>
            <a:r>
              <a:rPr lang="cs-CZ" sz="3600"/>
              <a:t>Gabriela Preissová</a:t>
            </a:r>
          </a:p>
          <a:p>
            <a:r>
              <a:rPr lang="cs-CZ" sz="3600"/>
              <a:t>Alois a Vilém Mrštíkové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3600" u="sng"/>
              <a:t>Maryša </a:t>
            </a:r>
          </a:p>
        </p:txBody>
      </p:sp>
    </p:spTree>
    <p:extLst>
      <p:ext uri="{BB962C8B-B14F-4D97-AF65-F5344CB8AC3E}">
        <p14:creationId xmlns:p14="http://schemas.microsoft.com/office/powerpoint/2010/main" val="3949232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571</Words>
  <Application>Microsoft Office PowerPoint</Application>
  <PresentationFormat>Widescreen</PresentationFormat>
  <Paragraphs>130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Motiv Office</vt:lpstr>
      <vt:lpstr>Opakování učiva 2. ročníku</vt:lpstr>
      <vt:lpstr>Pokud se odpovědět na otázky k NO</vt:lpstr>
      <vt:lpstr>Národní obrození</vt:lpstr>
      <vt:lpstr>Národní obrození</vt:lpstr>
      <vt:lpstr>Národní obrození</vt:lpstr>
      <vt:lpstr>Rukopisy</vt:lpstr>
      <vt:lpstr>PowerPoint Presentation</vt:lpstr>
      <vt:lpstr>Romantismus, realismus, naturalismus</vt:lpstr>
      <vt:lpstr>Osobnosti světového romantismu </vt:lpstr>
      <vt:lpstr>Osobnosti světového romantismu </vt:lpstr>
      <vt:lpstr>Osobnosti českého romantismu </vt:lpstr>
      <vt:lpstr>Osobnosti světového realismu</vt:lpstr>
      <vt:lpstr>Představitele naturalismu</vt:lpstr>
      <vt:lpstr>Představitelé českého realismu </vt:lpstr>
      <vt:lpstr>Ruchovci</vt:lpstr>
      <vt:lpstr>Lumírovci</vt:lpstr>
      <vt:lpstr>Májovci</vt:lpstr>
      <vt:lpstr>Historická próza</vt:lpstr>
      <vt:lpstr>Venkovská próza</vt:lpstr>
      <vt:lpstr>Realistické drama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