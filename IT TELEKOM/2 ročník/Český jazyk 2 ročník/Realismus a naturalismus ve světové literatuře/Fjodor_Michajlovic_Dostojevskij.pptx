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9" r:id="rId5"/>
    <p:sldId id="260" r:id="rId6"/>
    <p:sldId id="258" r:id="rId7"/>
    <p:sldId id="261" r:id="rId8"/>
    <p:sldId id="263" r:id="rId9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4C1D"/>
    <a:srgbClr val="346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EEA606-C003-8467-8692-2A5D1CA35E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1AF118A-5950-3E53-200C-9E8B98B25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3D1C978-B8FD-B196-94DD-6BCE1D3D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30182-2172-48BD-858B-FE03FD9FFBCF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F84E34E-36FD-3184-390B-7431AB6B4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57326DC-0BE2-5F55-107C-8117020F6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A42D1-E8B7-47C2-AAD6-DE21D02DAA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20955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D127C46-DC8F-C3CD-2E5C-53267BC7F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80DBBE-415F-92D5-AF41-DD8FF2A43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8E9E4B8-9189-7CE5-E7E0-A582CD563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30182-2172-48BD-858B-FE03FD9FFBCF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25B5334-57CF-5A8D-A17A-F4B832D9D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BA2EE7C-99EE-B1C3-5D95-A28387002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A42D1-E8B7-47C2-AAD6-DE21D02DAA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39180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7FB919-0FF6-C00C-9DCB-E57937A8D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238306B-74FE-D330-5E09-A9D6EA1CD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4AE4B2F-7058-3323-75DC-1D121C9FD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30182-2172-48BD-858B-FE03FD9FFBCF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3FFC2DC-2776-B0F4-B811-AFDEB6730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65B4C03-B5B8-7A70-428C-CDC249DAD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A42D1-E8B7-47C2-AAD6-DE21D02DAA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9976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3A69A7-9614-98FC-7D0B-85FCD362D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604220F-A8CD-FB83-BB60-4A8815AAC4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7941C4F-B018-F8B7-5AC8-EACCB0B0B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D9EF75A-655C-4CCD-56EE-81A5EC344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30182-2172-48BD-858B-FE03FD9FFBCF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F00E78F-7032-45E2-CB3F-4699EC7E1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458D6AF-8EBF-038A-A770-6D7E79268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A42D1-E8B7-47C2-AAD6-DE21D02DAA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01069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961090-77DD-A29D-BDC8-94513AB36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6F2C535-18AE-3FDB-6BB2-A76F1A795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4F80310-B756-4145-C65C-6FC4FD36D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AD360F94-0898-D5A2-EB79-9E821C3DD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CCCF657D-B7CB-C7DA-416D-7563038E3C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43B54A11-5612-8E8F-D779-BDE826921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30182-2172-48BD-858B-FE03FD9FFBCF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E7F09EAB-BAAC-F78E-FF9B-D1B182AFE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A62C1A0-833A-FE04-C20E-A32DC841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A42D1-E8B7-47C2-AAD6-DE21D02DAA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30465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692AFE-B192-FA7B-1A0E-1CE7A2372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17655241-8DE5-2E79-29E9-4151C20D9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30182-2172-48BD-858B-FE03FD9FFBCF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FAFB4B9-B4F6-459E-DD2A-9C7CA0677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33FD47E-8802-3138-D7C9-4B1356D01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A42D1-E8B7-47C2-AAD6-DE21D02DAA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7578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C77CBBDD-6AD2-3688-C9EF-D4D24C67C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30182-2172-48BD-858B-FE03FD9FFBCF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83BC70A2-A921-EBA7-8E7C-7ADEE54D8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EEB526D-80D2-1E8F-4909-7D0FD4E9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A42D1-E8B7-47C2-AAD6-DE21D02DAA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38556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416813-7BAA-E3FF-6F71-6096B13A5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B0B8BE2-8062-95D1-58DB-D6BD94E2C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42CFB29-5919-C76A-D6E2-B8C6D3F99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62B4CC6-34F1-1566-A5E2-B9824D2C3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30182-2172-48BD-858B-FE03FD9FFBCF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88C0185-8AAB-E1F6-77F8-0DB137D5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7967A7F-640F-46C0-DF39-FB1C91663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A42D1-E8B7-47C2-AAD6-DE21D02DAA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93296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0DA5E55-0489-E258-5DE8-4927D355A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8BA4D4F3-826F-6C92-B61E-A9D498956F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9D8DC16-6BCA-770B-94A0-4FED617B2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80AF4B1-E50B-2175-4042-8DF915FF9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30182-2172-48BD-858B-FE03FD9FFBCF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36BD0AD-65B9-BE82-B868-8A63E6A48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84591CD-65D9-7BE5-6119-78D7541D6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A42D1-E8B7-47C2-AAD6-DE21D02DAA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66277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F5A6B2-92DB-9F7B-3134-49CCFC984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7762DD7-C8E9-9BEE-CEA6-3A68C6EEB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DE10B6D-6F39-C139-D7DA-E4DAE634F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30182-2172-48BD-858B-FE03FD9FFBCF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A892B00-E97E-3D8F-FE41-50478ABA0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2400416-97DA-590D-50FC-17F150536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A42D1-E8B7-47C2-AAD6-DE21D02DAA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70170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2EC2767-ABE7-5BF4-2E1E-161E63E361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CA35418-D8D9-AE8C-E6CB-FF9CBA233D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DE69728-9F91-B690-4862-300CC89A2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30182-2172-48BD-858B-FE03FD9FFBCF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F5B3B74-9FB5-8629-BC6A-2EC1648E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4821695-22D6-1304-99BC-49BFEBCE1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A42D1-E8B7-47C2-AAD6-DE21D02DAA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82377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349C6AFA-A14E-B3AA-0E9B-929A42D27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A1FE273-9054-E605-9254-773DCC538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405E67D-BE11-2EDE-00F4-329B53D9C1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E30182-2172-48BD-858B-FE03FD9FFBCF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3DF5906-2268-982B-E29F-0D9EDEC5A9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A547C81-A0F9-0084-F509-8F4FA7B6C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7A42D1-E8B7-47C2-AAD6-DE21D02DAA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78757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s.wikipedia.org/w/index.php?title=Dvojn%C3%ADk_(novela)&amp;action=edit&amp;redlink=1" TargetMode="External"/><Relationship Id="rId2" Type="http://schemas.openxmlformats.org/officeDocument/2006/relationships/hyperlink" Target="https://cs.wikipedia.org/w/index.php?title=Chud%C3%AD_lid%C3%A9_(Dostojevskij)&amp;action=edit&amp;redlink=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hyperlink" Target="https://cs.wikipedia.org/w/index.php?title=Hr%C3%A1%C4%8D_(rom%C3%A1n)&amp;action=edit&amp;redlink=1" TargetMode="External"/><Relationship Id="rId7" Type="http://schemas.openxmlformats.org/officeDocument/2006/relationships/hyperlink" Target="https://cs.wikipedia.org/wiki/Brat%C5%99i_Karamazovi" TargetMode="External"/><Relationship Id="rId2" Type="http://schemas.openxmlformats.org/officeDocument/2006/relationships/hyperlink" Target="https://cs.wikipedia.org/wiki/Zlo%C4%8Din_a_tres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s.wikipedia.org/wiki/V%C3%BDrostek" TargetMode="External"/><Relationship Id="rId5" Type="http://schemas.openxmlformats.org/officeDocument/2006/relationships/hyperlink" Target="https://cs.wikipedia.org/wiki/B%C4%9Bsi" TargetMode="External"/><Relationship Id="rId4" Type="http://schemas.openxmlformats.org/officeDocument/2006/relationships/hyperlink" Target="https://cs.wikipedia.org/wiki/Idiot_(rom%C3%A1n)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t&amp;source=web&amp;rct=j&amp;opi=89978449&amp;url=https://cestina.xyxy.cz/wp-content/uploads/2014/02/M.-F.-DOSTOJEVSKIJ-.pdf&amp;ved=2ahUKEwi39q7h_96DAxXKhf0HHXYTCR4QFnoECBIQAQ&amp;usg=AOvVaw2bS7vIgnYjaa9fHRz5x1Yu" TargetMode="External"/><Relationship Id="rId2" Type="http://schemas.openxmlformats.org/officeDocument/2006/relationships/hyperlink" Target="https://cs.wikipedia.org/wiki/Fjodor_Michajlovi%C4%8D_Dostojevskij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oogle.com/url?sa=t&amp;source=web&amp;rct=j&amp;opi=89978449&amp;url=https://www.zs-studanka.cz/file/4ba6/dostojevskij.ppt&amp;ved=2ahUKEwi39q7h_96DAxXKhf0HHXYTCR4QFnoECA0QAQ&amp;usg=AOvVaw3qoSLiFJbXnDYDy4uh5zU0" TargetMode="External"/><Relationship Id="rId4" Type="http://schemas.openxmlformats.org/officeDocument/2006/relationships/hyperlink" Target="https://www.google.com/url?sa=t&amp;source=web&amp;rct=j&amp;opi=89978449&amp;url=https://www.gympt.cz/wp-content/uploads/2022/08/5_03.pdf&amp;ved=2ahUKEwi39q7h_96DAxXKhf0HHXYTCR4QFnoECBAQAQ&amp;usg=AOvVaw2DLfwsrK0mSVRSxlMJv39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Vltava | Nevyzpytatelné nitro. Proč jsou díla Fjodora Michajloviče  Dostojevského stále fascinující">
            <a:extLst>
              <a:ext uri="{FF2B5EF4-FFF2-40B4-BE49-F238E27FC236}">
                <a16:creationId xmlns:a16="http://schemas.microsoft.com/office/drawing/2014/main" id="{35B54223-1E4C-4AB7-07E7-78D45906B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0857" y="0"/>
            <a:ext cx="1306285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74806E8A-C136-5C0F-FFB4-BE6016846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9000"/>
            <a:ext cx="9379058" cy="2387600"/>
          </a:xfrm>
        </p:spPr>
        <p:txBody>
          <a:bodyPr>
            <a:normAutofit fontScale="90000"/>
          </a:bodyPr>
          <a:lstStyle/>
          <a:p>
            <a:r>
              <a:rPr lang="cs-CZ" b="1" dirty="0">
                <a:solidFill>
                  <a:schemeClr val="bg1"/>
                </a:solidFill>
                <a:latin typeface="Modern No. 20" panose="02070704070505020303" pitchFamily="18" charset="0"/>
              </a:rPr>
              <a:t>Fjodor Michajlovič </a:t>
            </a:r>
            <a:r>
              <a:rPr lang="cs-CZ" b="1" dirty="0" err="1">
                <a:solidFill>
                  <a:schemeClr val="bg1"/>
                </a:solidFill>
                <a:latin typeface="Modern No. 20" panose="02070704070505020303" pitchFamily="18" charset="0"/>
              </a:rPr>
              <a:t>Dostojevskij</a:t>
            </a:r>
            <a:br>
              <a:rPr lang="cs-CZ" b="1" dirty="0">
                <a:solidFill>
                  <a:schemeClr val="bg1"/>
                </a:solidFill>
                <a:latin typeface="Modern No. 20" panose="02070704070505020303" pitchFamily="18" charset="0"/>
              </a:rPr>
            </a:br>
            <a:endParaRPr lang="cs-CZ" b="1" dirty="0">
              <a:solidFill>
                <a:schemeClr val="bg1"/>
              </a:solidFill>
              <a:latin typeface="Modern No. 20" panose="0207070407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018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C50A5DC7-EA56-0F36-D157-5C4A4D4B4346}"/>
              </a:ext>
            </a:extLst>
          </p:cNvPr>
          <p:cNvSpPr/>
          <p:nvPr/>
        </p:nvSpPr>
        <p:spPr>
          <a:xfrm>
            <a:off x="0" y="-69742"/>
            <a:ext cx="12266908" cy="7082725"/>
          </a:xfrm>
          <a:prstGeom prst="rect">
            <a:avLst/>
          </a:prstGeom>
          <a:solidFill>
            <a:srgbClr val="1C4C1D"/>
          </a:solidFill>
          <a:ln>
            <a:solidFill>
              <a:srgbClr val="346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bg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A4906F5-234F-37E8-FB08-2CA444775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Modern No. 20" panose="02070704070505020303" pitchFamily="18" charset="0"/>
              </a:rPr>
              <a:t>Autor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272C85C-DD17-898F-DFC5-597C3F4F3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Předchůdce moderní psychologické prózy </a:t>
            </a:r>
          </a:p>
          <a:p>
            <a:r>
              <a:rPr lang="cs-CZ" dirty="0">
                <a:solidFill>
                  <a:schemeClr val="bg1"/>
                </a:solidFill>
              </a:rPr>
              <a:t>Vrcholný představitel ruského realismu</a:t>
            </a:r>
          </a:p>
          <a:p>
            <a:r>
              <a:rPr lang="cs-CZ" dirty="0">
                <a:solidFill>
                  <a:schemeClr val="bg1"/>
                </a:solidFill>
              </a:rPr>
              <a:t>Ze začátku měl proti Carské názory</a:t>
            </a:r>
          </a:p>
          <a:p>
            <a:r>
              <a:rPr lang="cs-CZ" dirty="0">
                <a:solidFill>
                  <a:schemeClr val="bg1"/>
                </a:solidFill>
              </a:rPr>
              <a:t>Byl závislí na hazardu </a:t>
            </a:r>
          </a:p>
          <a:p>
            <a:r>
              <a:rPr lang="cs-CZ" dirty="0">
                <a:solidFill>
                  <a:schemeClr val="bg1"/>
                </a:solidFill>
              </a:rPr>
              <a:t>Měl Epilepsii</a:t>
            </a:r>
          </a:p>
          <a:p>
            <a:r>
              <a:rPr lang="cs-CZ" dirty="0">
                <a:solidFill>
                  <a:schemeClr val="bg1"/>
                </a:solidFill>
              </a:rPr>
              <a:t>Odsouzen k trestu smrti, ale byl omilostněn </a:t>
            </a:r>
          </a:p>
          <a:p>
            <a:r>
              <a:rPr lang="cs-CZ" dirty="0">
                <a:solidFill>
                  <a:schemeClr val="bg1"/>
                </a:solidFill>
              </a:rPr>
              <a:t>Po vězení otočil o 180 stupňů a začal se bavit s carovou rodinou </a:t>
            </a:r>
          </a:p>
          <a:p>
            <a:r>
              <a:rPr lang="cs-CZ" dirty="0">
                <a:solidFill>
                  <a:schemeClr val="bg1"/>
                </a:solidFill>
              </a:rPr>
              <a:t>Byl silný křesťan a jeho víra se projevovala v textech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B597E5CD-3E49-F7CF-59AB-DD5A1E048645}"/>
              </a:ext>
            </a:extLst>
          </p:cNvPr>
          <p:cNvSpPr txBox="1"/>
          <p:nvPr/>
        </p:nvSpPr>
        <p:spPr>
          <a:xfrm>
            <a:off x="150646" y="6311900"/>
            <a:ext cx="7539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Citát: </a:t>
            </a:r>
            <a:r>
              <a:rPr lang="cs-CZ" b="0" i="0" dirty="0">
                <a:solidFill>
                  <a:schemeClr val="bg1"/>
                </a:solidFill>
                <a:effectLst/>
                <a:latin typeface="ui-sans-serif"/>
              </a:rPr>
              <a:t>Hlupák, který poznal, že je hlupák, už není hlupák.</a:t>
            </a:r>
            <a:br>
              <a:rPr lang="cs-CZ" dirty="0">
                <a:solidFill>
                  <a:schemeClr val="bg1"/>
                </a:solidFill>
              </a:rPr>
            </a:br>
            <a:br>
              <a:rPr lang="cs-CZ" dirty="0">
                <a:solidFill>
                  <a:schemeClr val="bg1"/>
                </a:solidFill>
              </a:rPr>
            </a:br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58120A1A-E8CB-5238-E12C-2E914C63C9C1}"/>
              </a:ext>
            </a:extLst>
          </p:cNvPr>
          <p:cNvSpPr/>
          <p:nvPr/>
        </p:nvSpPr>
        <p:spPr>
          <a:xfrm>
            <a:off x="94890" y="70615"/>
            <a:ext cx="12002220" cy="6787385"/>
          </a:xfrm>
          <a:prstGeom prst="rect">
            <a:avLst/>
          </a:prstGeom>
          <a:noFill/>
          <a:ln w="158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EE9C0415-155F-61BB-FE14-9BE1260159C4}"/>
              </a:ext>
            </a:extLst>
          </p:cNvPr>
          <p:cNvCxnSpPr/>
          <p:nvPr/>
        </p:nvCxnSpPr>
        <p:spPr>
          <a:xfrm>
            <a:off x="942392" y="1268964"/>
            <a:ext cx="132494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📗 Dvojník ; Obec Stepančikovo a jej obyvatelia - Fedor Michajlovič  Dostojevskij, Fiodor Michajlovič Dostojevskij (1969, Tatran)">
            <a:extLst>
              <a:ext uri="{FF2B5EF4-FFF2-40B4-BE49-F238E27FC236}">
                <a16:creationId xmlns:a16="http://schemas.microsoft.com/office/drawing/2014/main" id="{8CFEC3F9-E994-9518-2D79-9321E0E10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0936" y="365125"/>
            <a:ext cx="340451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bdélník 8">
            <a:extLst>
              <a:ext uri="{FF2B5EF4-FFF2-40B4-BE49-F238E27FC236}">
                <a16:creationId xmlns:a16="http://schemas.microsoft.com/office/drawing/2014/main" id="{A0709D05-18AC-BD49-5582-22430B3F3304}"/>
              </a:ext>
            </a:extLst>
          </p:cNvPr>
          <p:cNvSpPr/>
          <p:nvPr/>
        </p:nvSpPr>
        <p:spPr>
          <a:xfrm>
            <a:off x="8320936" y="365125"/>
            <a:ext cx="3404519" cy="435133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1214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délník 12">
            <a:extLst>
              <a:ext uri="{FF2B5EF4-FFF2-40B4-BE49-F238E27FC236}">
                <a16:creationId xmlns:a16="http://schemas.microsoft.com/office/drawing/2014/main" id="{185623F9-D506-2066-6696-27A00595C431}"/>
              </a:ext>
            </a:extLst>
          </p:cNvPr>
          <p:cNvSpPr/>
          <p:nvPr/>
        </p:nvSpPr>
        <p:spPr>
          <a:xfrm>
            <a:off x="0" y="-69742"/>
            <a:ext cx="12266908" cy="7082725"/>
          </a:xfrm>
          <a:prstGeom prst="rect">
            <a:avLst/>
          </a:prstGeom>
          <a:solidFill>
            <a:srgbClr val="1C4C1D"/>
          </a:solidFill>
          <a:ln>
            <a:solidFill>
              <a:srgbClr val="346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bg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6E8FFB9-BB66-EB76-FC1E-8F142FB61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Ohlas po smrti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22AC4D4-D346-6CF1-6E13-1F8001739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Do roku 1917 byl přímá rozporuplně. </a:t>
            </a:r>
          </a:p>
          <a:p>
            <a:r>
              <a:rPr lang="cs-CZ" dirty="0">
                <a:solidFill>
                  <a:schemeClr val="bg1"/>
                </a:solidFill>
              </a:rPr>
              <a:t>V SSSR nespadal do povolené literatury a byl cenzurován</a:t>
            </a:r>
          </a:p>
          <a:p>
            <a:r>
              <a:rPr lang="cs-CZ" dirty="0">
                <a:solidFill>
                  <a:schemeClr val="bg1"/>
                </a:solidFill>
              </a:rPr>
              <a:t>Hlásal proti násilným metodám revolučního boje a hlásal křesťanství</a:t>
            </a:r>
          </a:p>
          <a:p>
            <a:r>
              <a:rPr lang="cs-CZ" dirty="0">
                <a:solidFill>
                  <a:schemeClr val="bg1"/>
                </a:solidFill>
              </a:rPr>
              <a:t>V roce 1956 byl opět zařazen do povolené literatury z důvodu oblíbenosti v západě</a:t>
            </a:r>
          </a:p>
          <a:p>
            <a:r>
              <a:rPr lang="cs-CZ" dirty="0">
                <a:solidFill>
                  <a:schemeClr val="bg1"/>
                </a:solidFill>
              </a:rPr>
              <a:t>Většina jeho děl byla po smrti </a:t>
            </a:r>
            <a:r>
              <a:rPr lang="cs-CZ" dirty="0" err="1">
                <a:solidFill>
                  <a:schemeClr val="bg1"/>
                </a:solidFill>
              </a:rPr>
              <a:t>sfilmována</a:t>
            </a:r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13ADD430-63FC-0F62-9B51-BF0E2FB044D8}"/>
              </a:ext>
            </a:extLst>
          </p:cNvPr>
          <p:cNvSpPr txBox="1"/>
          <p:nvPr/>
        </p:nvSpPr>
        <p:spPr>
          <a:xfrm>
            <a:off x="94890" y="6418053"/>
            <a:ext cx="7539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Citát: Milovat člověka znamená vidět ho tak, jak byl stvořen Bohem</a:t>
            </a:r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8D5DECD7-D08B-866E-AD11-2AD265FD0CFA}"/>
              </a:ext>
            </a:extLst>
          </p:cNvPr>
          <p:cNvSpPr/>
          <p:nvPr/>
        </p:nvSpPr>
        <p:spPr>
          <a:xfrm>
            <a:off x="94890" y="70615"/>
            <a:ext cx="12002220" cy="6787385"/>
          </a:xfrm>
          <a:prstGeom prst="rect">
            <a:avLst/>
          </a:prstGeom>
          <a:noFill/>
          <a:ln w="158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cxnSp>
        <p:nvCxnSpPr>
          <p:cNvPr id="15" name="Přímá spojnice 14">
            <a:extLst>
              <a:ext uri="{FF2B5EF4-FFF2-40B4-BE49-F238E27FC236}">
                <a16:creationId xmlns:a16="http://schemas.microsoft.com/office/drawing/2014/main" id="{2E8FF4C0-550B-E325-B54F-1A6CABBCA380}"/>
              </a:ext>
            </a:extLst>
          </p:cNvPr>
          <p:cNvCxnSpPr>
            <a:cxnSpLocks/>
          </p:cNvCxnSpPr>
          <p:nvPr/>
        </p:nvCxnSpPr>
        <p:spPr>
          <a:xfrm>
            <a:off x="942392" y="1268964"/>
            <a:ext cx="3368351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793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7B25C6C0-629E-99D9-D1F6-080E61E53EF7}"/>
              </a:ext>
            </a:extLst>
          </p:cNvPr>
          <p:cNvSpPr/>
          <p:nvPr/>
        </p:nvSpPr>
        <p:spPr>
          <a:xfrm>
            <a:off x="0" y="-69742"/>
            <a:ext cx="12266908" cy="7082725"/>
          </a:xfrm>
          <a:prstGeom prst="rect">
            <a:avLst/>
          </a:prstGeom>
          <a:solidFill>
            <a:srgbClr val="1C4C1D"/>
          </a:solidFill>
          <a:ln>
            <a:solidFill>
              <a:srgbClr val="346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bg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632312E-2A6C-BEE4-8A9D-BAEAFAA64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Postavy v románech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999DF8E-7FD2-4183-E4B5-132C6CE34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Charakteristika 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Spodina společnosti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Zločinci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Prostitutky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Revolucionáři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Duševně nemocní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Lidé v mezích životních situacích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Často se v něčem provinili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98BF8C62-2D2E-3D1D-2109-7C65009968CB}"/>
              </a:ext>
            </a:extLst>
          </p:cNvPr>
          <p:cNvSpPr txBox="1"/>
          <p:nvPr/>
        </p:nvSpPr>
        <p:spPr>
          <a:xfrm>
            <a:off x="94890" y="6418053"/>
            <a:ext cx="7539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Citát: </a:t>
            </a:r>
            <a:r>
              <a:rPr lang="cs-CZ" b="1" i="0" dirty="0">
                <a:solidFill>
                  <a:schemeClr val="bg1"/>
                </a:solidFill>
                <a:effectLst/>
                <a:latin typeface="ui-sans-serif"/>
              </a:rPr>
              <a:t>Na světě není nic těžšího než upřímnost a nic lehčího než lichotky…</a:t>
            </a:r>
            <a:endParaRPr lang="cs-CZ" b="1" dirty="0">
              <a:solidFill>
                <a:schemeClr val="bg1"/>
              </a:solidFill>
            </a:endParaRP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3A17D805-C6E4-D2C2-5CE2-2E7A2F09B074}"/>
              </a:ext>
            </a:extLst>
          </p:cNvPr>
          <p:cNvSpPr/>
          <p:nvPr/>
        </p:nvSpPr>
        <p:spPr>
          <a:xfrm>
            <a:off x="94890" y="70615"/>
            <a:ext cx="12002220" cy="6787385"/>
          </a:xfrm>
          <a:prstGeom prst="rect">
            <a:avLst/>
          </a:prstGeom>
          <a:noFill/>
          <a:ln w="158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1026" name="Picture 2" descr="Výrostek | KNIHCENTRUM.cz">
            <a:extLst>
              <a:ext uri="{FF2B5EF4-FFF2-40B4-BE49-F238E27FC236}">
                <a16:creationId xmlns:a16="http://schemas.microsoft.com/office/drawing/2014/main" id="{67C82F1F-97FD-FF1C-1F6C-029A3F6AF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3821" y="559785"/>
            <a:ext cx="3523471" cy="5369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Přímá spojnice 6">
            <a:extLst>
              <a:ext uri="{FF2B5EF4-FFF2-40B4-BE49-F238E27FC236}">
                <a16:creationId xmlns:a16="http://schemas.microsoft.com/office/drawing/2014/main" id="{3DE3AC50-026E-1A9F-00AD-A096D7D4EA42}"/>
              </a:ext>
            </a:extLst>
          </p:cNvPr>
          <p:cNvCxnSpPr>
            <a:cxnSpLocks/>
          </p:cNvCxnSpPr>
          <p:nvPr/>
        </p:nvCxnSpPr>
        <p:spPr>
          <a:xfrm>
            <a:off x="942392" y="1268964"/>
            <a:ext cx="45346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bdélník 8">
            <a:extLst>
              <a:ext uri="{FF2B5EF4-FFF2-40B4-BE49-F238E27FC236}">
                <a16:creationId xmlns:a16="http://schemas.microsoft.com/office/drawing/2014/main" id="{1A1922D5-7DBD-1438-45F2-1CD3114712AE}"/>
              </a:ext>
            </a:extLst>
          </p:cNvPr>
          <p:cNvSpPr/>
          <p:nvPr/>
        </p:nvSpPr>
        <p:spPr>
          <a:xfrm>
            <a:off x="7473821" y="559785"/>
            <a:ext cx="3523471" cy="536909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08774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ratři Karamazovi - Fjodor Michajlovič Dostojevskij | Databáze knih">
            <a:extLst>
              <a:ext uri="{FF2B5EF4-FFF2-40B4-BE49-F238E27FC236}">
                <a16:creationId xmlns:a16="http://schemas.microsoft.com/office/drawing/2014/main" id="{A03DFAE6-5A34-781C-A5AB-42652E076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8190" y="1588"/>
            <a:ext cx="4463810" cy="685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Zločin a trest - Fjodor Michajlovič Dostojevskij | Databáze knih">
            <a:extLst>
              <a:ext uri="{FF2B5EF4-FFF2-40B4-BE49-F238E27FC236}">
                <a16:creationId xmlns:a16="http://schemas.microsoft.com/office/drawing/2014/main" id="{82782E10-86C5-6DF0-3B5B-85BA9D377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843" y="1587"/>
            <a:ext cx="4475465" cy="685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diot - Fjodor Michajlovič Dostojevskij /bazarové zboží/ | Stample - široká  nabídka levných DVD, CD, Blu-ray a knih">
            <a:extLst>
              <a:ext uri="{FF2B5EF4-FFF2-40B4-BE49-F238E27FC236}">
                <a16:creationId xmlns:a16="http://schemas.microsoft.com/office/drawing/2014/main" id="{E4AD1EF1-72F1-05DE-135E-783489959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6442" y="0"/>
            <a:ext cx="44799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4F2E87BC-56A6-89F0-C80F-A16F00305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0719" y="2031192"/>
            <a:ext cx="10515600" cy="1325563"/>
          </a:xfrm>
        </p:spPr>
        <p:txBody>
          <a:bodyPr/>
          <a:lstStyle/>
          <a:p>
            <a:r>
              <a:rPr lang="cs-CZ" b="1" dirty="0">
                <a:solidFill>
                  <a:schemeClr val="bg1"/>
                </a:solidFill>
              </a:rPr>
              <a:t>Slavná díla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B97EAC-6244-26C6-6548-BBAECB04A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37" y="284851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>
                <a:solidFill>
                  <a:schemeClr val="bg1"/>
                </a:solidFill>
              </a:rPr>
              <a:t>Díla</a:t>
            </a:r>
          </a:p>
          <a:p>
            <a:pPr marL="0" indent="0">
              <a:buNone/>
            </a:pPr>
            <a:r>
              <a:rPr lang="cs-CZ" sz="2400" dirty="0">
                <a:solidFill>
                  <a:schemeClr val="bg1"/>
                </a:solidFill>
              </a:rPr>
              <a:t>- </a:t>
            </a:r>
            <a:r>
              <a:rPr lang="cs-CZ" sz="2400" b="1" dirty="0">
                <a:solidFill>
                  <a:schemeClr val="bg1"/>
                </a:solidFill>
              </a:rPr>
              <a:t>Zločin a trest </a:t>
            </a:r>
          </a:p>
          <a:p>
            <a:pPr marL="0" indent="0">
              <a:buNone/>
            </a:pPr>
            <a:r>
              <a:rPr lang="cs-CZ" sz="2400" dirty="0">
                <a:solidFill>
                  <a:schemeClr val="bg1"/>
                </a:solidFill>
              </a:rPr>
              <a:t>- </a:t>
            </a:r>
            <a:r>
              <a:rPr lang="cs-CZ" sz="2400" b="1" dirty="0">
                <a:solidFill>
                  <a:schemeClr val="bg1"/>
                </a:solidFill>
              </a:rPr>
              <a:t>IDIOT </a:t>
            </a:r>
          </a:p>
          <a:p>
            <a:pPr marL="0" indent="0">
              <a:buNone/>
            </a:pPr>
            <a:r>
              <a:rPr lang="cs-CZ" sz="2400" b="1" dirty="0">
                <a:solidFill>
                  <a:schemeClr val="bg1"/>
                </a:solidFill>
              </a:rPr>
              <a:t>- Bratři </a:t>
            </a:r>
            <a:r>
              <a:rPr lang="cs-CZ" sz="2400" b="1" dirty="0" err="1">
                <a:solidFill>
                  <a:schemeClr val="bg1"/>
                </a:solidFill>
              </a:rPr>
              <a:t>Karamazovy</a:t>
            </a:r>
            <a:r>
              <a:rPr lang="cs-CZ" sz="24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B06E74F0-DC24-5C19-F7DE-9D0D805711DC}"/>
              </a:ext>
            </a:extLst>
          </p:cNvPr>
          <p:cNvSpPr txBox="1"/>
          <p:nvPr/>
        </p:nvSpPr>
        <p:spPr>
          <a:xfrm>
            <a:off x="83739" y="6395750"/>
            <a:ext cx="7539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Citát: </a:t>
            </a:r>
            <a:r>
              <a:rPr lang="cs-CZ" b="1" i="0" dirty="0">
                <a:solidFill>
                  <a:schemeClr val="bg1"/>
                </a:solidFill>
                <a:effectLst/>
                <a:latin typeface="ui-sans-serif"/>
              </a:rPr>
              <a:t>Nejtěžší zločiny jsou ty, které činíme ve skrytu srdce.</a:t>
            </a:r>
            <a:br>
              <a:rPr lang="cs-CZ" b="1" dirty="0">
                <a:solidFill>
                  <a:schemeClr val="bg1"/>
                </a:solidFill>
              </a:rPr>
            </a:br>
            <a:endParaRPr lang="cs-CZ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7558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48C109AE-B0F9-0F99-8C71-B0470C5CBA2B}"/>
              </a:ext>
            </a:extLst>
          </p:cNvPr>
          <p:cNvSpPr/>
          <p:nvPr/>
        </p:nvSpPr>
        <p:spPr>
          <a:xfrm>
            <a:off x="0" y="-69742"/>
            <a:ext cx="12266908" cy="7082725"/>
          </a:xfrm>
          <a:prstGeom prst="rect">
            <a:avLst/>
          </a:prstGeom>
          <a:solidFill>
            <a:srgbClr val="1C4C1D"/>
          </a:solidFill>
          <a:ln>
            <a:solidFill>
              <a:srgbClr val="346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bg1"/>
              </a:solidFill>
            </a:endParaRP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A19DAE6D-F95E-C60A-86D4-8ECC4650B878}"/>
              </a:ext>
            </a:extLst>
          </p:cNvPr>
          <p:cNvSpPr/>
          <p:nvPr/>
        </p:nvSpPr>
        <p:spPr>
          <a:xfrm>
            <a:off x="94890" y="70615"/>
            <a:ext cx="12002220" cy="6787385"/>
          </a:xfrm>
          <a:prstGeom prst="rect">
            <a:avLst/>
          </a:prstGeom>
          <a:noFill/>
          <a:ln w="158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bg1"/>
              </a:solidFill>
            </a:endParaRPr>
          </a:p>
        </p:txBody>
      </p:sp>
      <p:cxnSp>
        <p:nvCxnSpPr>
          <p:cNvPr id="7" name="Přímá spojnice 6">
            <a:extLst>
              <a:ext uri="{FF2B5EF4-FFF2-40B4-BE49-F238E27FC236}">
                <a16:creationId xmlns:a16="http://schemas.microsoft.com/office/drawing/2014/main" id="{8DE0807A-11A6-977B-96C1-F602B801C7FB}"/>
              </a:ext>
            </a:extLst>
          </p:cNvPr>
          <p:cNvCxnSpPr>
            <a:cxnSpLocks/>
          </p:cNvCxnSpPr>
          <p:nvPr/>
        </p:nvCxnSpPr>
        <p:spPr>
          <a:xfrm>
            <a:off x="942392" y="1268964"/>
            <a:ext cx="102636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Nadpis 1">
            <a:extLst>
              <a:ext uri="{FF2B5EF4-FFF2-40B4-BE49-F238E27FC236}">
                <a16:creationId xmlns:a16="http://schemas.microsoft.com/office/drawing/2014/main" id="{02B918C3-9C9F-3846-B2DA-2DA608E20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Díla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A8DD585-AC4D-983F-A2F6-CDE83F583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cs-CZ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První období</a:t>
            </a:r>
          </a:p>
          <a:p>
            <a:pPr lvl="1"/>
            <a:r>
              <a:rPr lang="cs-CZ" b="0" i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hlinkClick r:id="rId2" tooltip="Chudí lidé (Dostojevskij) (stránka neexistuje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Chudí lidé</a:t>
            </a:r>
            <a:endParaRPr lang="cs-CZ" b="0" i="1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lang="cs-CZ" b="0" i="1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Bílé noci</a:t>
            </a:r>
            <a:r>
              <a:rPr lang="cs-CZ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</a:t>
            </a:r>
            <a:endParaRPr lang="cs-CZ" i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/>
            <a:r>
              <a:rPr lang="cs-CZ" b="0" i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hlinkClick r:id="rId3" tooltip="Dvojník (novela) (stránka neexistuje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Dvojník</a:t>
            </a:r>
            <a:endParaRPr lang="cs-CZ" u="none" strike="noStrik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/>
            <a:r>
              <a:rPr lang="cs-CZ" b="0" i="1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Nětočka</a:t>
            </a:r>
            <a:r>
              <a:rPr lang="cs-CZ" b="0" i="1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1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Nězvanovová</a:t>
            </a:r>
            <a:endParaRPr lang="cs-CZ" b="0" i="1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lang="cs-CZ" b="0" i="1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Strýčkův sen</a:t>
            </a:r>
            <a:r>
              <a:rPr lang="cs-CZ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</a:t>
            </a:r>
            <a:endParaRPr lang="cs-CZ" i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/>
            <a:r>
              <a:rPr lang="cs-CZ" b="0" i="1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Ves </a:t>
            </a:r>
            <a:r>
              <a:rPr lang="cs-CZ" b="0" i="1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Štěpančikovo</a:t>
            </a:r>
            <a:r>
              <a:rPr lang="cs-CZ" b="0" i="1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 její obyvatelé</a:t>
            </a:r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3539726B-7D80-AD0D-443A-7CE8238F9E40}"/>
              </a:ext>
            </a:extLst>
          </p:cNvPr>
          <p:cNvSpPr txBox="1"/>
          <p:nvPr/>
        </p:nvSpPr>
        <p:spPr>
          <a:xfrm>
            <a:off x="94890" y="6418053"/>
            <a:ext cx="7539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Citát: </a:t>
            </a:r>
            <a:r>
              <a:rPr lang="cs-CZ" b="0" i="0" dirty="0">
                <a:solidFill>
                  <a:schemeClr val="bg1"/>
                </a:solidFill>
                <a:effectLst/>
                <a:latin typeface="ui-sans-serif"/>
              </a:rPr>
              <a:t>Není většího utrpení, než když se mi myšlenka nevyvede ve slovech.</a:t>
            </a:r>
            <a:endParaRPr lang="cs-CZ" dirty="0">
              <a:solidFill>
                <a:schemeClr val="bg1"/>
              </a:solidFill>
            </a:endParaRPr>
          </a:p>
        </p:txBody>
      </p:sp>
      <p:pic>
        <p:nvPicPr>
          <p:cNvPr id="3074" name="Picture 2" descr="Obec Stepančikovo - recenze | Databáze knih">
            <a:extLst>
              <a:ext uri="{FF2B5EF4-FFF2-40B4-BE49-F238E27FC236}">
                <a16:creationId xmlns:a16="http://schemas.microsoft.com/office/drawing/2014/main" id="{B3B01E05-CB32-DB45-DE95-FF82B39AE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243" y="523195"/>
            <a:ext cx="3361547" cy="506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bdélník 9">
            <a:extLst>
              <a:ext uri="{FF2B5EF4-FFF2-40B4-BE49-F238E27FC236}">
                <a16:creationId xmlns:a16="http://schemas.microsoft.com/office/drawing/2014/main" id="{08124CE1-7DC9-1711-5642-3FD8AE79903C}"/>
              </a:ext>
            </a:extLst>
          </p:cNvPr>
          <p:cNvSpPr/>
          <p:nvPr/>
        </p:nvSpPr>
        <p:spPr>
          <a:xfrm>
            <a:off x="7596243" y="523193"/>
            <a:ext cx="3361547" cy="5069213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69485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651B42C3-E590-4DB2-566A-3EFA99D21F56}"/>
              </a:ext>
            </a:extLst>
          </p:cNvPr>
          <p:cNvSpPr/>
          <p:nvPr/>
        </p:nvSpPr>
        <p:spPr>
          <a:xfrm>
            <a:off x="0" y="-69742"/>
            <a:ext cx="12266908" cy="7082725"/>
          </a:xfrm>
          <a:prstGeom prst="rect">
            <a:avLst/>
          </a:prstGeom>
          <a:solidFill>
            <a:srgbClr val="1C4C1D"/>
          </a:solidFill>
          <a:ln>
            <a:solidFill>
              <a:srgbClr val="346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bg1"/>
              </a:solidFill>
            </a:endParaRP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1D775356-1869-CC65-C92B-0250CE4634E8}"/>
              </a:ext>
            </a:extLst>
          </p:cNvPr>
          <p:cNvSpPr/>
          <p:nvPr/>
        </p:nvSpPr>
        <p:spPr>
          <a:xfrm>
            <a:off x="94890" y="70615"/>
            <a:ext cx="12002220" cy="6787385"/>
          </a:xfrm>
          <a:prstGeom prst="rect">
            <a:avLst/>
          </a:prstGeom>
          <a:noFill/>
          <a:ln w="158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bg1"/>
              </a:solidFill>
            </a:endParaRPr>
          </a:p>
        </p:txBody>
      </p:sp>
      <p:cxnSp>
        <p:nvCxnSpPr>
          <p:cNvPr id="7" name="Přímá spojnice 6">
            <a:extLst>
              <a:ext uri="{FF2B5EF4-FFF2-40B4-BE49-F238E27FC236}">
                <a16:creationId xmlns:a16="http://schemas.microsoft.com/office/drawing/2014/main" id="{4C7062A4-976C-3B12-5FD6-50F707F6BCED}"/>
              </a:ext>
            </a:extLst>
          </p:cNvPr>
          <p:cNvCxnSpPr>
            <a:cxnSpLocks/>
          </p:cNvCxnSpPr>
          <p:nvPr/>
        </p:nvCxnSpPr>
        <p:spPr>
          <a:xfrm>
            <a:off x="942392" y="1268964"/>
            <a:ext cx="45346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Nadpis 1">
            <a:extLst>
              <a:ext uri="{FF2B5EF4-FFF2-40B4-BE49-F238E27FC236}">
                <a16:creationId xmlns:a16="http://schemas.microsoft.com/office/drawing/2014/main" id="{02B918C3-9C9F-3846-B2DA-2DA608E2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Díla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A8DD585-AC4D-983F-A2F6-CDE83F583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Vrcholné období</a:t>
            </a:r>
          </a:p>
          <a:p>
            <a:pPr lvl="1"/>
            <a:r>
              <a:rPr lang="cs-CZ" b="0" i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hlinkClick r:id="rId2" tooltip="Zločin a tr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Zločin a trest</a:t>
            </a:r>
            <a:endParaRPr lang="cs-CZ" u="none" strike="noStrik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/>
            <a:r>
              <a:rPr lang="cs-CZ" b="0" i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hlinkClick r:id="rId3" tooltip="Hráč (román) (stránka neexistuje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Hráč</a:t>
            </a:r>
            <a:endParaRPr lang="cs-CZ" b="0" i="1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lang="cs-CZ" b="0" i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hlinkClick r:id="rId4" tooltip="Idiot (román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Idiot</a:t>
            </a:r>
            <a:endParaRPr lang="cs-CZ" i="1" u="none" strike="noStrik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/>
            <a:r>
              <a:rPr lang="cs-CZ" b="0" i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hlinkClick r:id="rId5" tooltip="Běs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Běsi</a:t>
            </a:r>
            <a:endParaRPr lang="cs-CZ" b="0" i="1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lang="cs-CZ" b="0" i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hlinkClick r:id="rId6" tooltip="Výroste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Výrostek</a:t>
            </a:r>
            <a:endParaRPr lang="cs-CZ" i="1" u="none" strike="noStrik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/>
            <a:r>
              <a:rPr lang="cs-CZ" b="0" i="1" u="none" strike="noStrike" dirty="0">
                <a:solidFill>
                  <a:srgbClr val="467886"/>
                </a:solidFill>
                <a:effectLst/>
                <a:latin typeface="Arial" panose="020B0604020202020204" pitchFamily="34" charset="0"/>
                <a:hlinkClick r:id="rId7" tooltip="Bratři Karamazov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Bratři </a:t>
            </a:r>
            <a:r>
              <a:rPr lang="cs-CZ" b="0" i="1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  <a:hlinkClick r:id="rId7" tooltip="Bratři Karamazov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Karamazovi</a:t>
            </a:r>
            <a:r>
              <a:rPr lang="cs-CZ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</a:t>
            </a:r>
            <a:endParaRPr lang="cs-CZ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/>
            <a:endParaRPr lang="cs-CZ" dirty="0">
              <a:solidFill>
                <a:schemeClr val="bg1"/>
              </a:solidFill>
            </a:endParaRPr>
          </a:p>
        </p:txBody>
      </p:sp>
      <p:pic>
        <p:nvPicPr>
          <p:cNvPr id="2050" name="Picture 2" descr="Bobok ebook by Fyodor Dostoyevsky">
            <a:extLst>
              <a:ext uri="{FF2B5EF4-FFF2-40B4-BE49-F238E27FC236}">
                <a16:creationId xmlns:a16="http://schemas.microsoft.com/office/drawing/2014/main" id="{50F396E3-7C5B-2A76-02FD-A4D987B0A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5278" y="681037"/>
            <a:ext cx="3362325" cy="535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bdélník 7">
            <a:extLst>
              <a:ext uri="{FF2B5EF4-FFF2-40B4-BE49-F238E27FC236}">
                <a16:creationId xmlns:a16="http://schemas.microsoft.com/office/drawing/2014/main" id="{738F4DE0-6A01-0E76-4921-592FF82B2EFF}"/>
              </a:ext>
            </a:extLst>
          </p:cNvPr>
          <p:cNvSpPr/>
          <p:nvPr/>
        </p:nvSpPr>
        <p:spPr>
          <a:xfrm>
            <a:off x="7425278" y="671514"/>
            <a:ext cx="3362325" cy="535304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31510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651B42C3-E590-4DB2-566A-3EFA99D21F56}"/>
              </a:ext>
            </a:extLst>
          </p:cNvPr>
          <p:cNvSpPr/>
          <p:nvPr/>
        </p:nvSpPr>
        <p:spPr>
          <a:xfrm>
            <a:off x="0" y="-69742"/>
            <a:ext cx="12266908" cy="7082725"/>
          </a:xfrm>
          <a:prstGeom prst="rect">
            <a:avLst/>
          </a:prstGeom>
          <a:solidFill>
            <a:srgbClr val="1C4C1D"/>
          </a:solidFill>
          <a:ln>
            <a:solidFill>
              <a:srgbClr val="346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bg1"/>
              </a:solidFill>
            </a:endParaRP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1D775356-1869-CC65-C92B-0250CE4634E8}"/>
              </a:ext>
            </a:extLst>
          </p:cNvPr>
          <p:cNvSpPr/>
          <p:nvPr/>
        </p:nvSpPr>
        <p:spPr>
          <a:xfrm>
            <a:off x="94890" y="70615"/>
            <a:ext cx="12002220" cy="6787385"/>
          </a:xfrm>
          <a:prstGeom prst="rect">
            <a:avLst/>
          </a:prstGeom>
          <a:noFill/>
          <a:ln w="158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bg1"/>
              </a:solidFill>
            </a:endParaRPr>
          </a:p>
        </p:txBody>
      </p:sp>
      <p:cxnSp>
        <p:nvCxnSpPr>
          <p:cNvPr id="7" name="Přímá spojnice 6">
            <a:extLst>
              <a:ext uri="{FF2B5EF4-FFF2-40B4-BE49-F238E27FC236}">
                <a16:creationId xmlns:a16="http://schemas.microsoft.com/office/drawing/2014/main" id="{4C7062A4-976C-3B12-5FD6-50F707F6BCED}"/>
              </a:ext>
            </a:extLst>
          </p:cNvPr>
          <p:cNvCxnSpPr>
            <a:cxnSpLocks/>
          </p:cNvCxnSpPr>
          <p:nvPr/>
        </p:nvCxnSpPr>
        <p:spPr>
          <a:xfrm>
            <a:off x="942392" y="1268964"/>
            <a:ext cx="45346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Nadpis 1">
            <a:extLst>
              <a:ext uri="{FF2B5EF4-FFF2-40B4-BE49-F238E27FC236}">
                <a16:creationId xmlns:a16="http://schemas.microsoft.com/office/drawing/2014/main" id="{02B918C3-9C9F-3846-B2DA-2DA608E2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A8DD585-AC4D-983F-A2F6-CDE83F583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lvl="1" indent="0">
              <a:buNone/>
            </a:pPr>
            <a:r>
              <a:rPr lang="cs-CZ" dirty="0">
                <a:solidFill>
                  <a:schemeClr val="bg1"/>
                </a:solidFill>
                <a:hlinkClick r:id="rId2"/>
              </a:rPr>
              <a:t>https://cs.wikipedia.org/wiki/Fjodor_Michajlovi%C4%8D_Dostojevskij</a:t>
            </a:r>
            <a:endParaRPr lang="cs-CZ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cs-CZ" b="0" i="0" dirty="0">
                <a:solidFill>
                  <a:srgbClr val="000000"/>
                </a:solidFill>
                <a:effectLst/>
                <a:latin typeface="inherit"/>
                <a:hlinkClick r:id="rId3" tooltip="https://www.google.com/url?sa=t&amp;source=web&amp;rct=j&amp;opi=89978449&amp;url=https://cestina.xyxy.cz/wp-content/uploads/2014/02/M.-F.-DOSTOJEVSKIJ-.pdf&amp;ved=2ahUKEwi39q7h_96DAxXKhf0HHXYTCR4QFnoECBIQAQ&amp;usg=AOvVaw2bS7vIgnYjaa9fHRz5x1Yu"/>
              </a:rPr>
              <a:t>https://www.google.com/url?sa=t&amp;source=web&amp;rct=j&amp;opi=89978449&amp;url=https://cestina.xyxy.cz/wp-content/uploads/2014/02/M.-F.-DOSTOJEVSKIJ-.pdf&amp;ved=2ahUKEwi39q7h_96DAxXKhf0HHXYTCR4QFnoECBIQAQ&amp;usg=AOvVaw2bS7vIgnYjaa9fHRz5x1Yu</a:t>
            </a:r>
            <a:endParaRPr lang="cs-CZ" b="0" i="0" dirty="0">
              <a:solidFill>
                <a:srgbClr val="000000"/>
              </a:solidFill>
              <a:effectLst/>
              <a:latin typeface="inherit"/>
            </a:endParaRPr>
          </a:p>
          <a:p>
            <a:pPr marL="457200" lvl="1" indent="0">
              <a:buNone/>
            </a:pPr>
            <a:r>
              <a:rPr lang="cs-CZ" b="0" i="0" u="sng" dirty="0">
                <a:solidFill>
                  <a:srgbClr val="000000"/>
                </a:solidFill>
                <a:effectLst/>
                <a:latin typeface="inherit"/>
                <a:hlinkClick r:id="rId4" tooltip="https://www.google.com/url?sa=t&amp;source=web&amp;rct=j&amp;opi=89978449&amp;url=https://www.gympt.cz/wp-content/uploads/2022/08/5_03.pdf&amp;ved=2ahUKEwi39q7h_96DAxXKhf0HHXYTCR4QFnoECBAQAQ&amp;usg=AOvVaw2DLfwsrK0mSVRSxlMJv39R"/>
              </a:rPr>
              <a:t>https://www.google.com/url?sa=t&amp;source=web&amp;rct=j&amp;opi=89978449&amp;url=https://www.gympt.cz/wp-content/uploads/2022/08/5_03.pdf&amp;ved=2ahUKEwi39q7h_96DAxXKhf0HHXYTCR4QFnoECBAQAQ&amp;usg=AOvVaw2DLfwsrK0mSVRSxlMJv39R</a:t>
            </a:r>
            <a:endParaRPr lang="cs-CZ" b="0" i="0" dirty="0">
              <a:solidFill>
                <a:srgbClr val="000000"/>
              </a:solidFill>
              <a:effectLst/>
              <a:latin typeface="inherit"/>
            </a:endParaRPr>
          </a:p>
          <a:p>
            <a:pPr marL="457200" lvl="1" indent="0">
              <a:buNone/>
            </a:pPr>
            <a:r>
              <a:rPr lang="cs-CZ" b="0" i="0" dirty="0">
                <a:solidFill>
                  <a:srgbClr val="000000"/>
                </a:solidFill>
                <a:effectLst/>
                <a:latin typeface="inherit"/>
                <a:hlinkClick r:id="rId5" tooltip="https://www.google.com/url?sa=t&amp;source=web&amp;rct=j&amp;opi=89978449&amp;url=https://www.zs-studanka.cz/file/4ba6/dostojevskij.ppt&amp;ved=2ahUKEwi39q7h_96DAxXKhf0HHXYTCR4QFnoECA0QAQ&amp;usg=AOvVaw3qoSLiFJbXnDYDy4uh5zU0"/>
              </a:rPr>
              <a:t>https://www.google.com/url?sa=t&amp;source=web&amp;rct=j&amp;opi=89978449&amp;url=https://www.zs-studanka.cz/file/4ba6/dostojevskij.ppt&amp;ved=2ahUKEwi39q7h_96DAxXKhf0HHXYTCR4QFnoECA0QAQ&amp;usg=AOvVaw3qoSLiFJbXnDYDy4uh5zU0</a:t>
            </a:r>
            <a:endParaRPr lang="cs-CZ" b="0" i="0" dirty="0">
              <a:solidFill>
                <a:srgbClr val="000000"/>
              </a:solidFill>
              <a:effectLst/>
              <a:latin typeface="inherit"/>
            </a:endParaRPr>
          </a:p>
          <a:p>
            <a:pPr marL="457200" lvl="1" indent="0">
              <a:buNone/>
            </a:pPr>
            <a:endParaRPr lang="cs-C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17156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424</Words>
  <Application>Microsoft Office PowerPoint</Application>
  <PresentationFormat>Širokoúhlá obrazovka</PresentationFormat>
  <Paragraphs>56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inherit</vt:lpstr>
      <vt:lpstr>Modern No. 20</vt:lpstr>
      <vt:lpstr>ui-sans-serif</vt:lpstr>
      <vt:lpstr>Motiv Office</vt:lpstr>
      <vt:lpstr>Fjodor Michajlovič Dostojevskij </vt:lpstr>
      <vt:lpstr>Autor</vt:lpstr>
      <vt:lpstr>Ohlas po smrti</vt:lpstr>
      <vt:lpstr>Postavy v románech</vt:lpstr>
      <vt:lpstr>Slavná díla</vt:lpstr>
      <vt:lpstr>Díla</vt:lpstr>
      <vt:lpstr>Díla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Alex ŠTÍPA</cp:lastModifiedBy>
  <cp:revision>2</cp:revision>
  <dcterms:modified xsi:type="dcterms:W3CDTF">2026-08-29T21:23:47Z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0bdddd6-1956-49c2-957d-430772524545_Enabled">
    <vt:lpwstr>true</vt:lpwstr>
  </property>
  <property fmtid="{D5CDD505-2E9C-101B-9397-08002B2CF9AE}" pid="3" name="MSIP_Label_70bdddd6-1956-49c2-957d-430772524545_SetDate">
    <vt:lpwstr>2026-08-29T21:23:47Z</vt:lpwstr>
  </property>
  <property fmtid="{D5CDD505-2E9C-101B-9397-08002B2CF9AE}" pid="4" name="MSIP_Label_70bdddd6-1956-49c2-957d-430772524545_Method">
    <vt:lpwstr>Standard</vt:lpwstr>
  </property>
  <property fmtid="{D5CDD505-2E9C-101B-9397-08002B2CF9AE}" pid="5" name="MSIP_Label_70bdddd6-1956-49c2-957d-430772524545_Name">
    <vt:lpwstr>Neveřejné</vt:lpwstr>
  </property>
  <property fmtid="{D5CDD505-2E9C-101B-9397-08002B2CF9AE}" pid="6" name="MSIP_Label_70bdddd6-1956-49c2-957d-430772524545_SiteId">
    <vt:lpwstr>ea80bead-34b4-4c9b-9eee-cde4240e98ce</vt:lpwstr>
  </property>
  <property fmtid="{D5CDD505-2E9C-101B-9397-08002B2CF9AE}" pid="7" name="MSIP_Label_70bdddd6-1956-49c2-957d-430772524545_ActionId">
    <vt:lpwstr>638c796c-ddb4-4600-b01a-ee8da2476aff</vt:lpwstr>
  </property>
  <property fmtid="{D5CDD505-2E9C-101B-9397-08002B2CF9AE}" pid="8" name="MSIP_Label_70bdddd6-1956-49c2-957d-430772524545_ContentBits">
    <vt:lpwstr>0</vt:lpwstr>
  </property>
  <property fmtid="{D5CDD505-2E9C-101B-9397-08002B2CF9AE}" pid="9" name="MSIP_Label_70bdddd6-1956-49c2-957d-430772524545_Tag">
    <vt:lpwstr>10, 3, 0, 1</vt:lpwstr>
  </property>
</Properties>
</file>