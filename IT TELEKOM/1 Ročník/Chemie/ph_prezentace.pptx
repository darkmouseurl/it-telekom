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64" r:id="rId5"/>
    <p:sldId id="263" r:id="rId6"/>
    <p:sldId id="265" r:id="rId7"/>
    <p:sldId id="261" r:id="rId8"/>
    <p:sldId id="262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8C7E"/>
    <a:srgbClr val="B8A39A"/>
    <a:srgbClr val="57453E"/>
    <a:srgbClr val="F3548A"/>
    <a:srgbClr val="FF9BC1"/>
    <a:srgbClr val="FE9202"/>
    <a:srgbClr val="E20304"/>
    <a:srgbClr val="FC3636"/>
    <a:srgbClr val="550957"/>
    <a:srgbClr val="762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375CF-2F13-DADA-C810-1D6F32BC0497}" v="1259" dt="2022-10-31T19:12:38.462"/>
    <p1510:client id="{D5CE5FDD-3ECE-A20D-7A21-D6753869653E}" v="2" dt="2022-11-03T20:40:53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0" d="100"/>
          <a:sy n="130" d="100"/>
        </p:scale>
        <p:origin x="100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6260" y="642891"/>
            <a:ext cx="3359510" cy="124721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260" y="1885895"/>
            <a:ext cx="3054102" cy="887153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96" y="102393"/>
            <a:ext cx="8354605" cy="763524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182" y="1350110"/>
            <a:ext cx="8343635" cy="3375291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6187"/>
            <a:ext cx="625267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4368"/>
            <a:ext cx="6252670" cy="3562895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771" y="99261"/>
            <a:ext cx="8268795" cy="763525"/>
          </a:xfrm>
        </p:spPr>
        <p:txBody>
          <a:bodyPr>
            <a:normAutofit/>
          </a:bodyPr>
          <a:lstStyle>
            <a:lvl1pPr algn="l">
              <a:defRPr sz="3600" u="none" baseline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771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771" y="2127917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20000"/>
                    <a:lumOff val="8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20000"/>
                    <a:lumOff val="8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20000"/>
                    <a:lumOff val="8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20000"/>
                    <a:lumOff val="8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92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44892" y="2127917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20000"/>
                    <a:lumOff val="8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20000"/>
                    <a:lumOff val="8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20000"/>
                    <a:lumOff val="8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20000"/>
                    <a:lumOff val="8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lene-zdravicko.cz/blog/spravne-ph-organizmu/" TargetMode="External"/><Relationship Id="rId7" Type="http://schemas.openxmlformats.org/officeDocument/2006/relationships/hyperlink" Target="https://cs.wikipedia.org/wiki/Arrheniova_teorie_kyselin_a_z&#225;sad" TargetMode="External"/><Relationship Id="rId2" Type="http://schemas.openxmlformats.org/officeDocument/2006/relationships/hyperlink" Target="https://cs.wikipedia.org/wiki/PH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s.wikipedia.org/wiki/Br&#248;nstedova&#8211;Lowryho_teorie_kyselin_a_z&#225;sad" TargetMode="External"/><Relationship Id="rId5" Type="http://schemas.openxmlformats.org/officeDocument/2006/relationships/hyperlink" Target="https://www.volty.cz/2020/04/14/rozbijeni-moleklul-vody-bude-levnejsi/" TargetMode="External"/><Relationship Id="rId4" Type="http://schemas.openxmlformats.org/officeDocument/2006/relationships/hyperlink" Target="https://cs.wikipedia.org/wiki/S&#248;ren_Peder_Lauritz_S&#248;rens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887" y="664594"/>
            <a:ext cx="2158638" cy="1247215"/>
          </a:xfrm>
        </p:spPr>
        <p:txBody>
          <a:bodyPr>
            <a:normAutofit/>
          </a:bodyPr>
          <a:lstStyle/>
          <a:p>
            <a:r>
              <a:rPr lang="en-US" b="1" dirty="0">
                <a:cs typeface="Calibri"/>
              </a:rPr>
              <a:t>pH &amp; pOH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cs typeface="Calibri"/>
              </a:rPr>
              <a:t>Co to je pH a pOH?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</a:t>
            </a:r>
            <a:endParaRPr lang="en-US" dirty="0">
              <a:cs typeface="Calibri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stupnice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používaná</a:t>
            </a:r>
            <a:r>
              <a:rPr lang="en-US" sz="2000" dirty="0">
                <a:ea typeface="+mn-lt"/>
                <a:cs typeface="+mn-lt"/>
              </a:rPr>
              <a:t> k </a:t>
            </a:r>
            <a:r>
              <a:rPr lang="en-US" sz="2000" dirty="0" err="1">
                <a:ea typeface="+mn-lt"/>
                <a:cs typeface="+mn-lt"/>
              </a:rPr>
              <a:t>určení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kyselosti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nebo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zásaditosti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vodného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roztoku</a:t>
            </a:r>
            <a:endParaRPr lang="cs-CZ" sz="2000" dirty="0" err="1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kyselé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roztoky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mají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podle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měření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nižší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hodnoty</a:t>
            </a:r>
            <a:r>
              <a:rPr lang="en-US" sz="2000" dirty="0">
                <a:ea typeface="+mn-lt"/>
                <a:cs typeface="+mn-lt"/>
              </a:rPr>
              <a:t> pH </a:t>
            </a:r>
            <a:r>
              <a:rPr lang="en-US" sz="2000" err="1">
                <a:ea typeface="+mn-lt"/>
                <a:cs typeface="+mn-lt"/>
              </a:rPr>
              <a:t>než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zásadité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nebo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alkalické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roztoky</a:t>
            </a:r>
            <a:endParaRPr lang="en-US" sz="2000" err="1">
              <a:cs typeface="Calibri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pOH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pOH se </a:t>
            </a:r>
            <a:r>
              <a:rPr lang="en-US" sz="2000" dirty="0" err="1">
                <a:ea typeface="+mn-lt"/>
                <a:cs typeface="+mn-lt"/>
              </a:rPr>
              <a:t>používá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jako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míra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koncentrace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hydroxidových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iontů</a:t>
            </a:r>
            <a:r>
              <a:rPr lang="en-US" sz="2000" dirty="0">
                <a:ea typeface="+mn-lt"/>
                <a:cs typeface="+mn-lt"/>
              </a:rPr>
              <a:t>, OH-</a:t>
            </a:r>
            <a:endParaRPr lang="en-US" sz="2000" dirty="0" err="1">
              <a:ea typeface="+mn-lt"/>
              <a:cs typeface="+mn-lt"/>
            </a:endParaRPr>
          </a:p>
          <a:p>
            <a:r>
              <a:rPr lang="en-US" sz="2000" dirty="0" err="1">
                <a:ea typeface="+mn-lt"/>
                <a:cs typeface="+mn-lt"/>
              </a:rPr>
              <a:t>hodnoty</a:t>
            </a:r>
            <a:r>
              <a:rPr lang="en-US" sz="2000" dirty="0">
                <a:ea typeface="+mn-lt"/>
                <a:cs typeface="+mn-lt"/>
              </a:rPr>
              <a:t> pOH se </a:t>
            </a:r>
            <a:r>
              <a:rPr lang="en-US" sz="2000" dirty="0" err="1">
                <a:ea typeface="+mn-lt"/>
                <a:cs typeface="+mn-lt"/>
              </a:rPr>
              <a:t>odvozují</a:t>
            </a:r>
            <a:r>
              <a:rPr lang="en-US" sz="2000" dirty="0">
                <a:ea typeface="+mn-lt"/>
                <a:cs typeface="+mn-lt"/>
              </a:rPr>
              <a:t> z </a:t>
            </a:r>
            <a:r>
              <a:rPr lang="en-US" sz="2000" dirty="0" err="1">
                <a:ea typeface="+mn-lt"/>
                <a:cs typeface="+mn-lt"/>
              </a:rPr>
              <a:t>měření</a:t>
            </a:r>
            <a:r>
              <a:rPr lang="en-US" sz="2000" dirty="0">
                <a:ea typeface="+mn-lt"/>
                <a:cs typeface="+mn-lt"/>
              </a:rPr>
              <a:t> pH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cs typeface="Calibri"/>
              </a:rPr>
              <a:t>Stupnice</a:t>
            </a:r>
            <a:r>
              <a:rPr lang="en-US" b="1" dirty="0">
                <a:cs typeface="Calibri"/>
              </a:rPr>
              <a:t> pH a pOH</a:t>
            </a:r>
          </a:p>
        </p:txBody>
      </p:sp>
      <p:pic>
        <p:nvPicPr>
          <p:cNvPr id="6" name="Obrázek 6">
            <a:extLst>
              <a:ext uri="{FF2B5EF4-FFF2-40B4-BE49-F238E27FC236}">
                <a16:creationId xmlns:a16="http://schemas.microsoft.com/office/drawing/2014/main" id="{4F07FD7D-85A7-C8CE-8A52-BC57A1D96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44" y="1612402"/>
            <a:ext cx="7112642" cy="20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Jak </a:t>
            </a:r>
            <a:r>
              <a:rPr lang="en-US" b="1" dirty="0" err="1">
                <a:ea typeface="+mj-lt"/>
                <a:cs typeface="+mj-lt"/>
              </a:rPr>
              <a:t>změřit</a:t>
            </a:r>
            <a:r>
              <a:rPr lang="en-US" b="1" dirty="0">
                <a:ea typeface="+mj-lt"/>
                <a:cs typeface="+mj-lt"/>
              </a:rPr>
              <a:t> pH?</a:t>
            </a:r>
            <a:endParaRPr lang="cs-CZ" b="1" dirty="0"/>
          </a:p>
        </p:txBody>
      </p:sp>
      <p:pic>
        <p:nvPicPr>
          <p:cNvPr id="4" name="Obrázek 2" descr="Obsah obrázku text&#10;&#10;Popis se vygeneroval automaticky.">
            <a:extLst>
              <a:ext uri="{FF2B5EF4-FFF2-40B4-BE49-F238E27FC236}">
                <a16:creationId xmlns:a16="http://schemas.microsoft.com/office/drawing/2014/main" id="{F9719EB7-C6E7-6C3D-F790-7ED46D31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39" y="896315"/>
            <a:ext cx="2403194" cy="2403194"/>
          </a:xfrm>
          <a:prstGeom prst="rect">
            <a:avLst/>
          </a:prstGeom>
        </p:spPr>
      </p:pic>
      <p:pic>
        <p:nvPicPr>
          <p:cNvPr id="7" name="Obrázek 5" descr="Obsah obrázku text, plast&#10;&#10;Popis se vygeneroval automaticky.">
            <a:extLst>
              <a:ext uri="{FF2B5EF4-FFF2-40B4-BE49-F238E27FC236}">
                <a16:creationId xmlns:a16="http://schemas.microsoft.com/office/drawing/2014/main" id="{B557B0C8-0D19-EDED-6851-C92DFCF2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848" y="1715225"/>
            <a:ext cx="1054931" cy="2262850"/>
          </a:xfrm>
          <a:prstGeom prst="rect">
            <a:avLst/>
          </a:prstGeom>
        </p:spPr>
      </p:pic>
      <p:pic>
        <p:nvPicPr>
          <p:cNvPr id="9" name="Obrázek 6" descr="Obsah obrázku růžová, zelenina&#10;&#10;Popis se vygeneroval automaticky.">
            <a:extLst>
              <a:ext uri="{FF2B5EF4-FFF2-40B4-BE49-F238E27FC236}">
                <a16:creationId xmlns:a16="http://schemas.microsoft.com/office/drawing/2014/main" id="{3A191F34-514E-8E1F-B442-55B91FF3E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041" y="2846890"/>
            <a:ext cx="2438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8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00231" y="1988770"/>
            <a:ext cx="2592175" cy="1168638"/>
          </a:xfrm>
        </p:spPr>
        <p:txBody>
          <a:bodyPr>
            <a:normAutofit/>
          </a:bodyPr>
          <a:lstStyle/>
          <a:p>
            <a:r>
              <a:rPr lang="en-US" sz="4000" b="1" dirty="0" err="1">
                <a:cs typeface="Calibri"/>
              </a:rPr>
              <a:t>Historie</a:t>
            </a:r>
            <a:r>
              <a:rPr lang="en-US" sz="4000" b="1" dirty="0">
                <a:cs typeface="Calibri"/>
              </a:rPr>
              <a:t> pH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97827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2322" y="99261"/>
            <a:ext cx="8268795" cy="763525"/>
          </a:xfrm>
        </p:spPr>
        <p:txBody>
          <a:bodyPr>
            <a:normAutofit/>
          </a:bodyPr>
          <a:lstStyle/>
          <a:p>
            <a:r>
              <a:rPr lang="en-US" sz="2600" b="1" dirty="0" err="1">
                <a:ea typeface="+mj-lt"/>
                <a:cs typeface="+mj-lt"/>
              </a:rPr>
              <a:t>Arrheniova</a:t>
            </a:r>
            <a:r>
              <a:rPr lang="en-US" sz="2600" b="1" dirty="0">
                <a:ea typeface="+mj-lt"/>
                <a:cs typeface="+mj-lt"/>
              </a:rPr>
              <a:t> </a:t>
            </a:r>
            <a:r>
              <a:rPr lang="en-US" sz="2600" b="1" dirty="0" err="1">
                <a:ea typeface="+mj-lt"/>
                <a:cs typeface="+mj-lt"/>
              </a:rPr>
              <a:t>teorie</a:t>
            </a:r>
            <a:r>
              <a:rPr lang="en-US" sz="2600" b="1" dirty="0">
                <a:ea typeface="+mj-lt"/>
                <a:cs typeface="+mj-lt"/>
              </a:rPr>
              <a:t> </a:t>
            </a:r>
            <a:r>
              <a:rPr lang="en-US" sz="2600" b="1" dirty="0" err="1">
                <a:ea typeface="+mj-lt"/>
                <a:cs typeface="+mj-lt"/>
              </a:rPr>
              <a:t>kyselin</a:t>
            </a:r>
            <a:r>
              <a:rPr lang="en-US" sz="2600" b="1" dirty="0">
                <a:ea typeface="+mj-lt"/>
                <a:cs typeface="+mj-lt"/>
              </a:rPr>
              <a:t> a </a:t>
            </a:r>
            <a:r>
              <a:rPr lang="en-US" sz="2600" b="1" dirty="0" err="1">
                <a:ea typeface="+mj-lt"/>
                <a:cs typeface="+mj-lt"/>
              </a:rPr>
              <a:t>zásad</a:t>
            </a:r>
            <a:r>
              <a:rPr lang="en-US" sz="2600" b="1" dirty="0">
                <a:ea typeface="+mj-lt"/>
                <a:cs typeface="+mj-lt"/>
              </a:rPr>
              <a:t> (1884)</a:t>
            </a:r>
            <a:endParaRPr lang="cs-CZ" sz="2600" dirty="0" err="1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322" y="1042790"/>
            <a:ext cx="7693447" cy="8149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cs-CZ" sz="2000" dirty="0">
                <a:ea typeface="+mn-lt"/>
                <a:cs typeface="+mn-lt"/>
              </a:rPr>
              <a:t>vztahuje se jen na vodné roztoky a nepřihlíží k interakcím rozpuštěných látek</a:t>
            </a:r>
            <a:endParaRPr lang="cs-CZ" sz="2000" dirty="0">
              <a:cs typeface="Calibri"/>
            </a:endParaRPr>
          </a:p>
        </p:txBody>
      </p:sp>
      <p:sp>
        <p:nvSpPr>
          <p:cNvPr id="12" name="Zástupný obsah 2">
            <a:extLst>
              <a:ext uri="{FF2B5EF4-FFF2-40B4-BE49-F238E27FC236}">
                <a16:creationId xmlns:a16="http://schemas.microsoft.com/office/drawing/2014/main" id="{E894DBE5-411F-0A59-5248-4990E6869075}"/>
              </a:ext>
            </a:extLst>
          </p:cNvPr>
          <p:cNvSpPr txBox="1">
            <a:spLocks/>
          </p:cNvSpPr>
          <p:nvPr/>
        </p:nvSpPr>
        <p:spPr>
          <a:xfrm>
            <a:off x="562170" y="3900770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cs-CZ" dirty="0">
              <a:cs typeface="Calibri"/>
            </a:endParaRP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7474400A-BDB6-44FF-F4CB-6AE1FD63A515}"/>
              </a:ext>
            </a:extLst>
          </p:cNvPr>
          <p:cNvSpPr txBox="1">
            <a:spLocks/>
          </p:cNvSpPr>
          <p:nvPr/>
        </p:nvSpPr>
        <p:spPr>
          <a:xfrm>
            <a:off x="381317" y="1860734"/>
            <a:ext cx="1349074" cy="503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dirty="0"/>
              <a:t>Kyseliny</a:t>
            </a:r>
            <a:endParaRPr lang="cs-CZ" sz="2000" dirty="0">
              <a:ea typeface="+mn-lt"/>
              <a:cs typeface="+mn-lt"/>
            </a:endParaRPr>
          </a:p>
          <a:p>
            <a:pPr algn="l"/>
            <a:endParaRPr lang="cs-CZ" sz="2000" dirty="0">
              <a:cs typeface="Calibri"/>
            </a:endParaRPr>
          </a:p>
        </p:txBody>
      </p:sp>
      <p:sp>
        <p:nvSpPr>
          <p:cNvPr id="9" name="Zástupný obsah 2">
            <a:extLst>
              <a:ext uri="{FF2B5EF4-FFF2-40B4-BE49-F238E27FC236}">
                <a16:creationId xmlns:a16="http://schemas.microsoft.com/office/drawing/2014/main" id="{7E97362F-C5F3-E5B4-4A1C-9DA60AAAA7CE}"/>
              </a:ext>
            </a:extLst>
          </p:cNvPr>
          <p:cNvSpPr txBox="1">
            <a:spLocks/>
          </p:cNvSpPr>
          <p:nvPr/>
        </p:nvSpPr>
        <p:spPr>
          <a:xfrm>
            <a:off x="381316" y="2989264"/>
            <a:ext cx="1349074" cy="503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dirty="0">
                <a:cs typeface="Calibri"/>
              </a:rPr>
              <a:t>Zásady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BE072EA5-EF1A-C75E-3939-779C05A9F1CB}"/>
              </a:ext>
            </a:extLst>
          </p:cNvPr>
          <p:cNvSpPr txBox="1">
            <a:spLocks/>
          </p:cNvSpPr>
          <p:nvPr/>
        </p:nvSpPr>
        <p:spPr>
          <a:xfrm>
            <a:off x="381317" y="2367126"/>
            <a:ext cx="3635073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2000" dirty="0">
                <a:ea typeface="+mn-lt"/>
                <a:cs typeface="+mn-lt"/>
              </a:rPr>
              <a:t>ionizuje za vzniku kationtu H</a:t>
            </a:r>
            <a:r>
              <a:rPr lang="cs-CZ" sz="2000" baseline="30000" dirty="0">
                <a:ea typeface="+mn-lt"/>
                <a:cs typeface="+mn-lt"/>
              </a:rPr>
              <a:t>+</a:t>
            </a:r>
            <a:endParaRPr lang="cs-CZ" sz="2000" dirty="0">
              <a:cs typeface="Calibri"/>
            </a:endParaRPr>
          </a:p>
          <a:p>
            <a:pPr algn="l"/>
            <a:endParaRPr lang="cs-CZ" sz="2000" dirty="0">
              <a:ea typeface="+mn-lt"/>
              <a:cs typeface="+mn-lt"/>
            </a:endParaRPr>
          </a:p>
        </p:txBody>
      </p:sp>
      <p:sp>
        <p:nvSpPr>
          <p:cNvPr id="15" name="Zástupný obsah 2">
            <a:extLst>
              <a:ext uri="{FF2B5EF4-FFF2-40B4-BE49-F238E27FC236}">
                <a16:creationId xmlns:a16="http://schemas.microsoft.com/office/drawing/2014/main" id="{A82C7E7F-8921-5B52-FE9A-C11697BF663A}"/>
              </a:ext>
            </a:extLst>
          </p:cNvPr>
          <p:cNvSpPr txBox="1">
            <a:spLocks/>
          </p:cNvSpPr>
          <p:nvPr/>
        </p:nvSpPr>
        <p:spPr>
          <a:xfrm>
            <a:off x="381316" y="3430550"/>
            <a:ext cx="5414681" cy="6703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2000" dirty="0">
                <a:ea typeface="+mn-lt"/>
                <a:cs typeface="+mn-lt"/>
              </a:rPr>
              <a:t>ionizuje za vzniku hydroxidového aniontu OH</a:t>
            </a:r>
            <a:r>
              <a:rPr lang="cs-CZ" sz="2000" baseline="30000" dirty="0">
                <a:ea typeface="+mn-lt"/>
                <a:cs typeface="+mn-lt"/>
              </a:rPr>
              <a:t>−</a:t>
            </a:r>
            <a:endParaRPr lang="cs-CZ" sz="2000" dirty="0">
              <a:cs typeface="Calibri"/>
            </a:endParaRPr>
          </a:p>
          <a:p>
            <a:pPr algn="l"/>
            <a:endParaRPr lang="cs-CZ" sz="2000" dirty="0">
              <a:cs typeface="Calibri"/>
            </a:endParaRPr>
          </a:p>
        </p:txBody>
      </p:sp>
      <p:pic>
        <p:nvPicPr>
          <p:cNvPr id="17" name="Obrázek 18" descr="Obsah obrázku muž, osoba, oblek, nošení&#10;&#10;Popis se vygeneroval automaticky.">
            <a:extLst>
              <a:ext uri="{FF2B5EF4-FFF2-40B4-BE49-F238E27FC236}">
                <a16:creationId xmlns:a16="http://schemas.microsoft.com/office/drawing/2014/main" id="{D4CE305A-0DA5-1844-5448-BC87F1062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46" y="1544558"/>
            <a:ext cx="2258871" cy="28212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Zástupný obsah 2">
            <a:extLst>
              <a:ext uri="{FF2B5EF4-FFF2-40B4-BE49-F238E27FC236}">
                <a16:creationId xmlns:a16="http://schemas.microsoft.com/office/drawing/2014/main" id="{84683018-5008-C5FF-F2E2-4F1C781190AB}"/>
              </a:ext>
            </a:extLst>
          </p:cNvPr>
          <p:cNvSpPr txBox="1">
            <a:spLocks/>
          </p:cNvSpPr>
          <p:nvPr/>
        </p:nvSpPr>
        <p:spPr>
          <a:xfrm>
            <a:off x="7152505" y="4356523"/>
            <a:ext cx="943959" cy="272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sz="800" dirty="0" err="1">
                <a:ea typeface="+mn-lt"/>
                <a:cs typeface="+mn-lt"/>
              </a:rPr>
              <a:t>Svante</a:t>
            </a:r>
            <a:r>
              <a:rPr lang="cs-CZ" sz="800" dirty="0">
                <a:ea typeface="+mn-lt"/>
                <a:cs typeface="+mn-lt"/>
              </a:rPr>
              <a:t> </a:t>
            </a:r>
            <a:r>
              <a:rPr lang="cs-CZ" sz="800" dirty="0" err="1">
                <a:ea typeface="+mn-lt"/>
                <a:cs typeface="+mn-lt"/>
              </a:rPr>
              <a:t>Arrhenius</a:t>
            </a:r>
            <a:endParaRPr lang="cs-CZ" dirty="0" err="1"/>
          </a:p>
        </p:txBody>
      </p:sp>
    </p:spTree>
    <p:extLst>
      <p:ext uri="{BB962C8B-B14F-4D97-AF65-F5344CB8AC3E}">
        <p14:creationId xmlns:p14="http://schemas.microsoft.com/office/powerpoint/2010/main" val="252528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2322" y="99261"/>
            <a:ext cx="8268795" cy="763525"/>
          </a:xfrm>
        </p:spPr>
        <p:txBody>
          <a:bodyPr>
            <a:normAutofit/>
          </a:bodyPr>
          <a:lstStyle/>
          <a:p>
            <a:r>
              <a:rPr lang="en-US" sz="2600" b="1" dirty="0">
                <a:cs typeface="Calibri"/>
              </a:rPr>
              <a:t>Søren Peder Lauritz Sørensen</a:t>
            </a:r>
            <a:endParaRPr lang="cs-CZ" sz="26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272322" y="1259816"/>
            <a:ext cx="6492572" cy="22762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2000" dirty="0">
              <a:ea typeface="+mn-lt"/>
              <a:cs typeface="+mn-lt"/>
            </a:endParaRPr>
          </a:p>
          <a:p>
            <a:pPr algn="l"/>
            <a:r>
              <a:rPr lang="en-US" sz="2000" dirty="0" err="1">
                <a:ea typeface="+mn-lt"/>
                <a:cs typeface="+mn-lt"/>
              </a:rPr>
              <a:t>narodil</a:t>
            </a:r>
            <a:r>
              <a:rPr lang="en-US" sz="2000" dirty="0">
                <a:ea typeface="+mn-lt"/>
                <a:cs typeface="+mn-lt"/>
              </a:rPr>
              <a:t> se 9. </a:t>
            </a:r>
            <a:r>
              <a:rPr lang="en-US" sz="2000" dirty="0" err="1">
                <a:ea typeface="+mn-lt"/>
                <a:cs typeface="+mn-lt"/>
              </a:rPr>
              <a:t>ledna</a:t>
            </a:r>
            <a:r>
              <a:rPr lang="en-US" sz="2000" dirty="0">
                <a:ea typeface="+mn-lt"/>
                <a:cs typeface="+mn-lt"/>
              </a:rPr>
              <a:t> 1868 v </a:t>
            </a:r>
            <a:r>
              <a:rPr lang="en-US" sz="2000" dirty="0" err="1">
                <a:ea typeface="+mn-lt"/>
                <a:cs typeface="+mn-lt"/>
              </a:rPr>
              <a:t>Havrebjerg</a:t>
            </a:r>
            <a:r>
              <a:rPr lang="en-US" sz="2000" dirty="0">
                <a:ea typeface="+mn-lt"/>
                <a:cs typeface="+mn-lt"/>
              </a:rPr>
              <a:t> (</a:t>
            </a:r>
            <a:r>
              <a:rPr lang="en-US" sz="2000" dirty="0" err="1">
                <a:ea typeface="+mn-lt"/>
                <a:cs typeface="+mn-lt"/>
              </a:rPr>
              <a:t>Dánsko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dirty="0"/>
          </a:p>
          <a:p>
            <a:pPr algn="l"/>
            <a:r>
              <a:rPr lang="en-US" sz="2000" dirty="0" err="1">
                <a:ea typeface="+mn-lt"/>
                <a:cs typeface="+mn-lt"/>
              </a:rPr>
              <a:t>studoval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Kodaňské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univerzitě</a:t>
            </a:r>
          </a:p>
          <a:p>
            <a:pPr algn="l"/>
            <a:r>
              <a:rPr lang="en-US" sz="2000" dirty="0" err="1">
                <a:ea typeface="+mn-lt"/>
                <a:cs typeface="+mn-lt"/>
              </a:rPr>
              <a:t>roku</a:t>
            </a:r>
            <a:r>
              <a:rPr lang="en-US" sz="2000" dirty="0">
                <a:ea typeface="+mn-lt"/>
                <a:cs typeface="+mn-lt"/>
              </a:rPr>
              <a:t> 1901 </a:t>
            </a:r>
            <a:r>
              <a:rPr lang="en-US" sz="2000" dirty="0" err="1">
                <a:ea typeface="+mn-lt"/>
                <a:cs typeface="+mn-lt"/>
              </a:rPr>
              <a:t>byl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jmenován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ředitelem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 err="1">
                <a:ea typeface="+mn-lt"/>
                <a:cs typeface="+mn-lt"/>
              </a:rPr>
              <a:t>Laboratoře</a:t>
            </a:r>
            <a:r>
              <a:rPr lang="en-US" sz="2000" dirty="0">
                <a:ea typeface="+mn-lt"/>
                <a:cs typeface="+mn-lt"/>
              </a:rPr>
              <a:t> Carlsberg</a:t>
            </a:r>
          </a:p>
          <a:p>
            <a:pPr algn="l"/>
            <a:r>
              <a:rPr lang="en-US" sz="2000" dirty="0" err="1">
                <a:ea typeface="+mn-lt"/>
                <a:cs typeface="+mn-lt"/>
              </a:rPr>
              <a:t>roku</a:t>
            </a:r>
            <a:r>
              <a:rPr lang="en-US" sz="2000" dirty="0">
                <a:ea typeface="+mn-lt"/>
                <a:cs typeface="+mn-lt"/>
              </a:rPr>
              <a:t> 1909 </a:t>
            </a:r>
            <a:r>
              <a:rPr lang="en-US" sz="2000" dirty="0" err="1">
                <a:ea typeface="+mn-lt"/>
                <a:cs typeface="+mn-lt"/>
              </a:rPr>
              <a:t>vytvořil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škálu</a:t>
            </a:r>
            <a:r>
              <a:rPr lang="en-US" sz="2000" dirty="0">
                <a:ea typeface="+mn-lt"/>
                <a:cs typeface="+mn-lt"/>
              </a:rPr>
              <a:t> pH</a:t>
            </a:r>
          </a:p>
          <a:p>
            <a:pPr algn="l"/>
            <a:r>
              <a:rPr lang="en-US" sz="2000" dirty="0" err="1">
                <a:ea typeface="+mn-lt"/>
                <a:cs typeface="+mn-lt"/>
              </a:rPr>
              <a:t>zemřel</a:t>
            </a:r>
            <a:r>
              <a:rPr lang="en-US" sz="2000" dirty="0">
                <a:ea typeface="+mn-lt"/>
                <a:cs typeface="+mn-lt"/>
              </a:rPr>
              <a:t> 12. </a:t>
            </a:r>
            <a:r>
              <a:rPr lang="en-US" sz="2000" dirty="0" err="1">
                <a:ea typeface="+mn-lt"/>
                <a:cs typeface="+mn-lt"/>
              </a:rPr>
              <a:t>února</a:t>
            </a:r>
            <a:r>
              <a:rPr lang="en-US" sz="2000" dirty="0">
                <a:ea typeface="+mn-lt"/>
                <a:cs typeface="+mn-lt"/>
              </a:rPr>
              <a:t> 1939 v Kodani</a:t>
            </a:r>
          </a:p>
          <a:p>
            <a:pPr algn="l"/>
            <a:endParaRPr lang="en-US" sz="2000" dirty="0">
              <a:cs typeface="Calibri"/>
            </a:endParaRPr>
          </a:p>
          <a:p>
            <a:pPr algn="l"/>
            <a:endParaRPr lang="en-US" sz="2000" dirty="0">
              <a:cs typeface="Calibri"/>
            </a:endParaRPr>
          </a:p>
        </p:txBody>
      </p:sp>
      <p:pic>
        <p:nvPicPr>
          <p:cNvPr id="13" name="Obrázek 13" descr="Obsah obrázku muž, osoba, oblek, oblečení&#10;&#10;Popis se vygeneroval automaticky.">
            <a:extLst>
              <a:ext uri="{FF2B5EF4-FFF2-40B4-BE49-F238E27FC236}">
                <a16:creationId xmlns:a16="http://schemas.microsoft.com/office/drawing/2014/main" id="{D99B7B05-630C-BBD0-6CFC-BCAAB94D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806" y="1511333"/>
            <a:ext cx="2193404" cy="28297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737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4873" y="106495"/>
            <a:ext cx="8268795" cy="763525"/>
          </a:xfrm>
        </p:spPr>
        <p:txBody>
          <a:bodyPr>
            <a:normAutofit/>
          </a:bodyPr>
          <a:lstStyle/>
          <a:p>
            <a:r>
              <a:rPr lang="en-US" sz="2600" b="1" dirty="0" err="1">
                <a:ea typeface="+mj-lt"/>
                <a:cs typeface="+mj-lt"/>
              </a:rPr>
              <a:t>Brønstedova-Lowryho</a:t>
            </a:r>
            <a:r>
              <a:rPr lang="en-US" sz="2600" b="1" dirty="0">
                <a:ea typeface="+mj-lt"/>
                <a:cs typeface="+mj-lt"/>
              </a:rPr>
              <a:t> </a:t>
            </a:r>
            <a:r>
              <a:rPr lang="en-US" sz="2600" b="1" dirty="0" err="1">
                <a:ea typeface="+mj-lt"/>
                <a:cs typeface="+mj-lt"/>
              </a:rPr>
              <a:t>teorie</a:t>
            </a:r>
            <a:r>
              <a:rPr lang="en-US" sz="2600" b="1" dirty="0">
                <a:ea typeface="+mj-lt"/>
                <a:cs typeface="+mj-lt"/>
              </a:rPr>
              <a:t> </a:t>
            </a:r>
            <a:r>
              <a:rPr lang="en-US" sz="2600" b="1" dirty="0" err="1">
                <a:ea typeface="+mj-lt"/>
                <a:cs typeface="+mj-lt"/>
              </a:rPr>
              <a:t>kyselin</a:t>
            </a:r>
            <a:r>
              <a:rPr lang="en-US" sz="2600" b="1" dirty="0">
                <a:ea typeface="+mj-lt"/>
                <a:cs typeface="+mj-lt"/>
              </a:rPr>
              <a:t> a </a:t>
            </a:r>
            <a:r>
              <a:rPr lang="en-US" sz="2600" b="1" dirty="0" err="1">
                <a:ea typeface="+mj-lt"/>
                <a:cs typeface="+mj-lt"/>
              </a:rPr>
              <a:t>zásad</a:t>
            </a:r>
            <a:r>
              <a:rPr lang="en-US" sz="2600" b="1" dirty="0">
                <a:ea typeface="+mj-lt"/>
                <a:cs typeface="+mj-lt"/>
              </a:rPr>
              <a:t> (1923)</a:t>
            </a:r>
            <a:endParaRPr lang="cs-CZ" sz="2600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689" y="1541948"/>
            <a:ext cx="7693447" cy="8149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cs-CZ" sz="2000" dirty="0">
                <a:ea typeface="+mn-lt"/>
                <a:cs typeface="+mn-lt"/>
              </a:rPr>
              <a:t>jsou látky, které mají schopnost odštěpit svůj proton (H</a:t>
            </a:r>
            <a:r>
              <a:rPr lang="cs-CZ" sz="2000" baseline="30000" dirty="0">
                <a:ea typeface="+mn-lt"/>
                <a:cs typeface="+mn-lt"/>
              </a:rPr>
              <a:t>+</a:t>
            </a:r>
            <a:r>
              <a:rPr lang="cs-CZ" sz="2000" dirty="0">
                <a:ea typeface="+mn-lt"/>
                <a:cs typeface="+mn-lt"/>
              </a:rPr>
              <a:t>)</a:t>
            </a:r>
            <a:endParaRPr lang="cs-CZ" sz="2000">
              <a:cs typeface="Calibri"/>
            </a:endParaRPr>
          </a:p>
          <a:p>
            <a:pPr algn="l"/>
            <a:r>
              <a:rPr lang="cs-CZ" sz="2000" dirty="0">
                <a:ea typeface="+mn-lt"/>
                <a:cs typeface="+mn-lt"/>
              </a:rPr>
              <a:t>je tedy donor (dárce) protonu</a:t>
            </a:r>
            <a:endParaRPr lang="cs-CZ" sz="2000" dirty="0">
              <a:cs typeface="Calibri"/>
            </a:endParaRP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BC296376-C16E-60A4-C7A4-B7329620A3AA}"/>
              </a:ext>
            </a:extLst>
          </p:cNvPr>
          <p:cNvSpPr txBox="1">
            <a:spLocks/>
          </p:cNvSpPr>
          <p:nvPr/>
        </p:nvSpPr>
        <p:spPr>
          <a:xfrm>
            <a:off x="562172" y="1072208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dirty="0">
                <a:cs typeface="Calibri"/>
              </a:rPr>
              <a:t>Kyseliny</a:t>
            </a: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BB12D1C3-1D2D-5ADA-1B15-9E082B918FD7}"/>
              </a:ext>
            </a:extLst>
          </p:cNvPr>
          <p:cNvSpPr txBox="1">
            <a:spLocks/>
          </p:cNvSpPr>
          <p:nvPr/>
        </p:nvSpPr>
        <p:spPr>
          <a:xfrm>
            <a:off x="562171" y="2859052"/>
            <a:ext cx="7693447" cy="814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2000" dirty="0">
                <a:ea typeface="+mn-lt"/>
                <a:cs typeface="+mn-lt"/>
              </a:rPr>
              <a:t>jsou látky, které mají schopnost vázat proton</a:t>
            </a:r>
          </a:p>
          <a:p>
            <a:pPr algn="l"/>
            <a:r>
              <a:rPr lang="cs-CZ" sz="2000" dirty="0">
                <a:ea typeface="+mn-lt"/>
                <a:cs typeface="+mn-lt"/>
              </a:rPr>
              <a:t>je tedy akceptor (příjemce) protonu</a:t>
            </a:r>
            <a:endParaRPr lang="cs-CZ" sz="2000" dirty="0">
              <a:cs typeface="Calibri"/>
            </a:endParaRPr>
          </a:p>
        </p:txBody>
      </p:sp>
      <p:sp>
        <p:nvSpPr>
          <p:cNvPr id="11" name="Zástupný obsah 2">
            <a:extLst>
              <a:ext uri="{FF2B5EF4-FFF2-40B4-BE49-F238E27FC236}">
                <a16:creationId xmlns:a16="http://schemas.microsoft.com/office/drawing/2014/main" id="{BF3E482F-C345-13D1-8841-1F906A132DF6}"/>
              </a:ext>
            </a:extLst>
          </p:cNvPr>
          <p:cNvSpPr txBox="1">
            <a:spLocks/>
          </p:cNvSpPr>
          <p:nvPr/>
        </p:nvSpPr>
        <p:spPr>
          <a:xfrm>
            <a:off x="562171" y="2410530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dirty="0">
                <a:cs typeface="Calibri"/>
              </a:rPr>
              <a:t>Zásady</a:t>
            </a:r>
          </a:p>
        </p:txBody>
      </p:sp>
      <p:sp>
        <p:nvSpPr>
          <p:cNvPr id="12" name="Zástupný obsah 2">
            <a:extLst>
              <a:ext uri="{FF2B5EF4-FFF2-40B4-BE49-F238E27FC236}">
                <a16:creationId xmlns:a16="http://schemas.microsoft.com/office/drawing/2014/main" id="{E894DBE5-411F-0A59-5248-4990E6869075}"/>
              </a:ext>
            </a:extLst>
          </p:cNvPr>
          <p:cNvSpPr txBox="1">
            <a:spLocks/>
          </p:cNvSpPr>
          <p:nvPr/>
        </p:nvSpPr>
        <p:spPr>
          <a:xfrm>
            <a:off x="562170" y="3900770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cs-CZ" dirty="0">
              <a:cs typeface="Calibri"/>
            </a:endParaRPr>
          </a:p>
        </p:txBody>
      </p:sp>
      <p:sp>
        <p:nvSpPr>
          <p:cNvPr id="14" name="Zástupný obsah 2">
            <a:extLst>
              <a:ext uri="{FF2B5EF4-FFF2-40B4-BE49-F238E27FC236}">
                <a16:creationId xmlns:a16="http://schemas.microsoft.com/office/drawing/2014/main" id="{9AF1E219-F7A3-9A22-FEF1-5F70FC77235F}"/>
              </a:ext>
            </a:extLst>
          </p:cNvPr>
          <p:cNvSpPr txBox="1">
            <a:spLocks/>
          </p:cNvSpPr>
          <p:nvPr/>
        </p:nvSpPr>
        <p:spPr>
          <a:xfrm>
            <a:off x="562171" y="3748852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dirty="0">
                <a:cs typeface="Calibri"/>
              </a:rPr>
              <a:t>Shrnutí</a:t>
            </a:r>
          </a:p>
        </p:txBody>
      </p:sp>
      <p:sp>
        <p:nvSpPr>
          <p:cNvPr id="16" name="Zástupný obsah 2">
            <a:extLst>
              <a:ext uri="{FF2B5EF4-FFF2-40B4-BE49-F238E27FC236}">
                <a16:creationId xmlns:a16="http://schemas.microsoft.com/office/drawing/2014/main" id="{64455253-19B8-D35C-0576-B6806300777C}"/>
              </a:ext>
            </a:extLst>
          </p:cNvPr>
          <p:cNvSpPr txBox="1">
            <a:spLocks/>
          </p:cNvSpPr>
          <p:nvPr/>
        </p:nvSpPr>
        <p:spPr>
          <a:xfrm>
            <a:off x="562170" y="4219077"/>
            <a:ext cx="7693447" cy="814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cs-CZ" sz="2000" dirty="0">
              <a:cs typeface="Calibri"/>
            </a:endParaRPr>
          </a:p>
        </p:txBody>
      </p:sp>
      <p:sp>
        <p:nvSpPr>
          <p:cNvPr id="18" name="Zástupný obsah 2">
            <a:extLst>
              <a:ext uri="{FF2B5EF4-FFF2-40B4-BE49-F238E27FC236}">
                <a16:creationId xmlns:a16="http://schemas.microsoft.com/office/drawing/2014/main" id="{417EF905-4941-A6D4-B3B1-6D60A65127FE}"/>
              </a:ext>
            </a:extLst>
          </p:cNvPr>
          <p:cNvSpPr txBox="1">
            <a:spLocks/>
          </p:cNvSpPr>
          <p:nvPr/>
        </p:nvSpPr>
        <p:spPr>
          <a:xfrm>
            <a:off x="562170" y="4219077"/>
            <a:ext cx="5277232" cy="814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2000" dirty="0">
                <a:ea typeface="+mn-lt"/>
                <a:cs typeface="+mn-lt"/>
              </a:rPr>
              <a:t>látky se chovají jako kyseliny jen v přítomnosti zásady a naopak</a:t>
            </a:r>
            <a:endParaRPr lang="cs-CZ" dirty="0"/>
          </a:p>
        </p:txBody>
      </p:sp>
      <p:pic>
        <p:nvPicPr>
          <p:cNvPr id="19" name="Obrázek 19" descr="Obsah obrázku zeď, muž, osoba, oblek&#10;&#10;Popis se vygeneroval automaticky.">
            <a:extLst>
              <a:ext uri="{FF2B5EF4-FFF2-40B4-BE49-F238E27FC236}">
                <a16:creationId xmlns:a16="http://schemas.microsoft.com/office/drawing/2014/main" id="{43DFF5E2-CCA9-D54C-EDB4-FAFA493C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672" y="1177389"/>
            <a:ext cx="1339771" cy="1775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Zástupný obsah 2">
            <a:extLst>
              <a:ext uri="{FF2B5EF4-FFF2-40B4-BE49-F238E27FC236}">
                <a16:creationId xmlns:a16="http://schemas.microsoft.com/office/drawing/2014/main" id="{62B84048-45B6-72F9-3898-31264BF8657F}"/>
              </a:ext>
            </a:extLst>
          </p:cNvPr>
          <p:cNvSpPr txBox="1">
            <a:spLocks/>
          </p:cNvSpPr>
          <p:nvPr/>
        </p:nvSpPr>
        <p:spPr>
          <a:xfrm>
            <a:off x="7564854" y="2953093"/>
            <a:ext cx="1370777" cy="2145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sz="800" dirty="0">
                <a:ea typeface="+mn-lt"/>
                <a:cs typeface="+mn-lt"/>
              </a:rPr>
              <a:t>Johannes </a:t>
            </a:r>
            <a:r>
              <a:rPr lang="cs-CZ" sz="800" dirty="0" err="1">
                <a:ea typeface="+mn-lt"/>
                <a:cs typeface="+mn-lt"/>
              </a:rPr>
              <a:t>Nicolaus</a:t>
            </a:r>
            <a:r>
              <a:rPr lang="cs-CZ" sz="800" dirty="0">
                <a:ea typeface="+mn-lt"/>
                <a:cs typeface="+mn-lt"/>
              </a:rPr>
              <a:t> </a:t>
            </a:r>
            <a:r>
              <a:rPr lang="cs-CZ" sz="800" dirty="0" err="1">
                <a:ea typeface="+mn-lt"/>
                <a:cs typeface="+mn-lt"/>
              </a:rPr>
              <a:t>Bronsted</a:t>
            </a:r>
            <a:endParaRPr lang="cs-CZ" dirty="0" err="1"/>
          </a:p>
        </p:txBody>
      </p:sp>
      <p:pic>
        <p:nvPicPr>
          <p:cNvPr id="22" name="Obrázek 22" descr="Obsah obrázku muž, osoba, oblek, oblečení&#10;&#10;Popis se vygeneroval automaticky.">
            <a:extLst>
              <a:ext uri="{FF2B5EF4-FFF2-40B4-BE49-F238E27FC236}">
                <a16:creationId xmlns:a16="http://schemas.microsoft.com/office/drawing/2014/main" id="{80939637-62DB-5DAD-E524-394003D85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10" y="3099439"/>
            <a:ext cx="1383175" cy="1765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D3FC8673-B426-F941-518A-CC90D0BB6287}"/>
              </a:ext>
            </a:extLst>
          </p:cNvPr>
          <p:cNvSpPr txBox="1">
            <a:spLocks/>
          </p:cNvSpPr>
          <p:nvPr/>
        </p:nvSpPr>
        <p:spPr>
          <a:xfrm>
            <a:off x="6298873" y="4870149"/>
            <a:ext cx="1088644" cy="2145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cs-CZ" sz="800" dirty="0">
                <a:ea typeface="+mn-lt"/>
                <a:cs typeface="+mn-lt"/>
              </a:rPr>
              <a:t>Thomas Martin </a:t>
            </a:r>
            <a:r>
              <a:rPr lang="cs-CZ" sz="800" dirty="0" err="1">
                <a:ea typeface="+mn-lt"/>
                <a:cs typeface="+mn-lt"/>
              </a:rPr>
              <a:t>Lowry</a:t>
            </a:r>
            <a:endParaRPr lang="cs-CZ" sz="800" dirty="0" err="1"/>
          </a:p>
        </p:txBody>
      </p:sp>
    </p:spTree>
    <p:extLst>
      <p:ext uri="{BB962C8B-B14F-4D97-AF65-F5344CB8AC3E}">
        <p14:creationId xmlns:p14="http://schemas.microsoft.com/office/powerpoint/2010/main" val="371458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9771" y="99261"/>
            <a:ext cx="8268795" cy="763525"/>
          </a:xfrm>
        </p:spPr>
        <p:txBody>
          <a:bodyPr anchor="ctr">
            <a:normAutofit/>
          </a:bodyPr>
          <a:lstStyle/>
          <a:p>
            <a:r>
              <a:rPr lang="en-US" b="1"/>
              <a:t>Voda a pH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942" y="1896423"/>
            <a:ext cx="4040188" cy="22762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cs-CZ" sz="1900" dirty="0"/>
              <a:t>Voda je amfoterní, což znamená, že se může chovat jako </a:t>
            </a:r>
            <a:r>
              <a:rPr lang="cs-CZ" sz="1900" dirty="0" err="1"/>
              <a:t>Brønstedova-Lowryho</a:t>
            </a:r>
            <a:r>
              <a:rPr lang="cs-CZ" sz="1900" dirty="0"/>
              <a:t> kyselina i jako </a:t>
            </a:r>
            <a:r>
              <a:rPr lang="cs-CZ" sz="1900" dirty="0" err="1"/>
              <a:t>Brønstedova-Lowryho</a:t>
            </a:r>
            <a:r>
              <a:rPr lang="cs-CZ" sz="1900" dirty="0"/>
              <a:t> zásada</a:t>
            </a:r>
            <a:endParaRPr lang="cs-CZ">
              <a:cs typeface="Calibri"/>
            </a:endParaRPr>
          </a:p>
          <a:p>
            <a:pPr>
              <a:lnSpc>
                <a:spcPct val="90000"/>
              </a:lnSpc>
            </a:pPr>
            <a:r>
              <a:rPr lang="cs-CZ" sz="1900" dirty="0"/>
              <a:t>Při reakci s kyselinou se chová jako zásada a přijímá iont H+I , při reakci se zásadou se chová jako kyselina a iont H+I odštěpuje</a:t>
            </a:r>
            <a:endParaRPr lang="cs-CZ" sz="1900" dirty="0">
              <a:cs typeface="Calibri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6203868-FB4D-343A-FBB3-9A4E62481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8721" y="4216418"/>
            <a:ext cx="2117483" cy="226626"/>
          </a:xfrm>
        </p:spPr>
        <p:txBody>
          <a:bodyPr>
            <a:noAutofit/>
          </a:bodyPr>
          <a:lstStyle/>
          <a:p>
            <a:pPr algn="l"/>
            <a:r>
              <a:rPr lang="en-US" sz="800" b="0" dirty="0" err="1">
                <a:cs typeface="Calibri"/>
              </a:rPr>
              <a:t>Molekuly</a:t>
            </a:r>
            <a:r>
              <a:rPr lang="en-US" sz="800" b="0" dirty="0">
                <a:cs typeface="Calibri"/>
              </a:rPr>
              <a:t> </a:t>
            </a:r>
            <a:r>
              <a:rPr lang="en-US" sz="800" b="0" dirty="0" err="1">
                <a:cs typeface="Calibri"/>
              </a:rPr>
              <a:t>vody</a:t>
            </a:r>
            <a:endParaRPr lang="en-US" sz="800" b="0">
              <a:cs typeface="Calibri"/>
            </a:endParaRPr>
          </a:p>
        </p:txBody>
      </p:sp>
      <p:pic>
        <p:nvPicPr>
          <p:cNvPr id="5" name="Obrázek 5">
            <a:extLst>
              <a:ext uri="{FF2B5EF4-FFF2-40B4-BE49-F238E27FC236}">
                <a16:creationId xmlns:a16="http://schemas.microsoft.com/office/drawing/2014/main" id="{BD36B1CF-43B1-ACCB-61F4-3972F0019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92" y="1897821"/>
            <a:ext cx="4041775" cy="2273498"/>
          </a:xfrm>
          <a:prstGeom prst="rect">
            <a:avLst/>
          </a:prstGeom>
          <a:noFill/>
        </p:spPr>
      </p:pic>
      <p:sp>
        <p:nvSpPr>
          <p:cNvPr id="12" name="Zástupný obsah 2">
            <a:extLst>
              <a:ext uri="{FF2B5EF4-FFF2-40B4-BE49-F238E27FC236}">
                <a16:creationId xmlns:a16="http://schemas.microsoft.com/office/drawing/2014/main" id="{E894DBE5-411F-0A59-5248-4990E6869075}"/>
              </a:ext>
            </a:extLst>
          </p:cNvPr>
          <p:cNvSpPr txBox="1">
            <a:spLocks/>
          </p:cNvSpPr>
          <p:nvPr/>
        </p:nvSpPr>
        <p:spPr>
          <a:xfrm>
            <a:off x="562170" y="3900770"/>
            <a:ext cx="1725251" cy="46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cs-CZ" dirty="0">
              <a:cs typeface="Calibri"/>
            </a:endParaRPr>
          </a:p>
        </p:txBody>
      </p:sp>
      <p:sp>
        <p:nvSpPr>
          <p:cNvPr id="16" name="Zástupný obsah 2">
            <a:extLst>
              <a:ext uri="{FF2B5EF4-FFF2-40B4-BE49-F238E27FC236}">
                <a16:creationId xmlns:a16="http://schemas.microsoft.com/office/drawing/2014/main" id="{64455253-19B8-D35C-0576-B6806300777C}"/>
              </a:ext>
            </a:extLst>
          </p:cNvPr>
          <p:cNvSpPr txBox="1">
            <a:spLocks/>
          </p:cNvSpPr>
          <p:nvPr/>
        </p:nvSpPr>
        <p:spPr>
          <a:xfrm>
            <a:off x="562170" y="4219077"/>
            <a:ext cx="7693447" cy="814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cs-CZ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283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14699" y="1988770"/>
            <a:ext cx="2512600" cy="1168638"/>
          </a:xfrm>
        </p:spPr>
        <p:txBody>
          <a:bodyPr>
            <a:normAutofit/>
          </a:bodyPr>
          <a:lstStyle/>
          <a:p>
            <a:r>
              <a:rPr lang="en-US" sz="4000" b="1" dirty="0" err="1">
                <a:cs typeface="Calibri"/>
              </a:rPr>
              <a:t>Zajímavost</a:t>
            </a:r>
            <a:endParaRPr lang="en-US" sz="4000" b="1" dirty="0" err="1"/>
          </a:p>
        </p:txBody>
      </p:sp>
    </p:spTree>
    <p:extLst>
      <p:ext uri="{BB962C8B-B14F-4D97-AF65-F5344CB8AC3E}">
        <p14:creationId xmlns:p14="http://schemas.microsoft.com/office/powerpoint/2010/main" val="426525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4" descr="Obsah obrázku rambutan, ovoce, rostlina&#10;&#10;Popis se vygeneroval automaticky.">
            <a:extLst>
              <a:ext uri="{FF2B5EF4-FFF2-40B4-BE49-F238E27FC236}">
                <a16:creationId xmlns:a16="http://schemas.microsoft.com/office/drawing/2014/main" id="{BF1610A7-9C2D-6DF6-2C29-A9A186301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502" y="2755136"/>
            <a:ext cx="3191719" cy="1825183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930" y="1758974"/>
            <a:ext cx="7230459" cy="1495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b="1" dirty="0">
                <a:ea typeface="+mn-lt"/>
                <a:cs typeface="+mn-lt"/>
              </a:rPr>
              <a:t>Drtivá většina pacientů s rakovinou má velmi nízké tělesné pH, v rozmezí 6.0 až 5.0 nebo nižší</a:t>
            </a:r>
            <a:endParaRPr lang="cs-CZ" dirty="0">
              <a:cs typeface="Calibri"/>
            </a:endParaRPr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095EF8F3-B6B9-29F4-642B-E6D539F0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8" y="77558"/>
            <a:ext cx="8268795" cy="763525"/>
          </a:xfrm>
        </p:spPr>
        <p:txBody>
          <a:bodyPr/>
          <a:lstStyle/>
          <a:p>
            <a:r>
              <a:rPr lang="cs-CZ" b="1" dirty="0">
                <a:cs typeface="Calibri"/>
              </a:rPr>
              <a:t>pH a rakovina</a:t>
            </a:r>
            <a:endParaRPr lang="cs-CZ" b="1" dirty="0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06C202D1-6F95-1832-A0A5-0CD6A26FB2CA}"/>
              </a:ext>
            </a:extLst>
          </p:cNvPr>
          <p:cNvSpPr txBox="1"/>
          <p:nvPr/>
        </p:nvSpPr>
        <p:spPr>
          <a:xfrm>
            <a:off x="2944309" y="4521360"/>
            <a:ext cx="2908139" cy="224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cs-CZ"/>
          </a:p>
        </p:txBody>
      </p:sp>
      <p:sp>
        <p:nvSpPr>
          <p:cNvPr id="21" name="Zástupný obsah 2">
            <a:extLst>
              <a:ext uri="{FF2B5EF4-FFF2-40B4-BE49-F238E27FC236}">
                <a16:creationId xmlns:a16="http://schemas.microsoft.com/office/drawing/2014/main" id="{3901CA32-D715-F1F0-77F9-B6F731A1B800}"/>
              </a:ext>
            </a:extLst>
          </p:cNvPr>
          <p:cNvSpPr txBox="1">
            <a:spLocks/>
          </p:cNvSpPr>
          <p:nvPr/>
        </p:nvSpPr>
        <p:spPr>
          <a:xfrm>
            <a:off x="1054095" y="4631423"/>
            <a:ext cx="6941092" cy="28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cs-CZ" sz="800" b="1" dirty="0">
                <a:cs typeface="Calibri"/>
              </a:rPr>
              <a:t>Rakovinná buňka</a:t>
            </a:r>
          </a:p>
        </p:txBody>
      </p:sp>
    </p:spTree>
    <p:extLst>
      <p:ext uri="{BB962C8B-B14F-4D97-AF65-F5344CB8AC3E}">
        <p14:creationId xmlns:p14="http://schemas.microsoft.com/office/powerpoint/2010/main" val="23186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15136" y="1988770"/>
            <a:ext cx="1304493" cy="1168638"/>
          </a:xfrm>
        </p:spPr>
        <p:txBody>
          <a:bodyPr>
            <a:normAutofit/>
          </a:bodyPr>
          <a:lstStyle/>
          <a:p>
            <a:r>
              <a:rPr lang="en-US" sz="4000" b="1" dirty="0" err="1">
                <a:cs typeface="Calibri"/>
              </a:rPr>
              <a:t>Zápis</a:t>
            </a:r>
          </a:p>
        </p:txBody>
      </p:sp>
    </p:spTree>
    <p:extLst>
      <p:ext uri="{BB962C8B-B14F-4D97-AF65-F5344CB8AC3E}">
        <p14:creationId xmlns:p14="http://schemas.microsoft.com/office/powerpoint/2010/main" val="323874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069" y="2193025"/>
            <a:ext cx="7773021" cy="21967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cs-CZ" sz="2000" dirty="0">
                <a:ea typeface="+mn-lt"/>
                <a:cs typeface="+mn-lt"/>
              </a:rPr>
              <a:t>číslo, kterým se vyjadřuje, zda vodný roztok reaguje kysele či  zásaditě (alkalicky) </a:t>
            </a:r>
            <a:endParaRPr lang="cs-CZ" sz="2000" b="1">
              <a:ea typeface="+mn-lt"/>
              <a:cs typeface="+mn-lt"/>
            </a:endParaRPr>
          </a:p>
          <a:p>
            <a:pPr algn="l">
              <a:lnSpc>
                <a:spcPct val="90000"/>
              </a:lnSpc>
            </a:pPr>
            <a:r>
              <a:rPr lang="cs-CZ" sz="2000" dirty="0">
                <a:ea typeface="+mn-lt"/>
                <a:cs typeface="+mn-lt"/>
              </a:rPr>
              <a:t>Je to logaritmická stupnice s užívanými hodnotami od 0 do 14 </a:t>
            </a:r>
          </a:p>
          <a:p>
            <a:pPr algn="l">
              <a:lnSpc>
                <a:spcPct val="90000"/>
              </a:lnSpc>
            </a:pPr>
            <a:r>
              <a:rPr lang="cs-CZ" sz="2000" u="sng" dirty="0">
                <a:ea typeface="+mn-lt"/>
                <a:cs typeface="+mn-lt"/>
              </a:rPr>
              <a:t>kyselé</a:t>
            </a:r>
            <a:r>
              <a:rPr lang="cs-CZ" sz="2000" dirty="0">
                <a:ea typeface="+mn-lt"/>
                <a:cs typeface="+mn-lt"/>
              </a:rPr>
              <a:t>: mají pH &lt; 7 (čím je hodnota nižší, tím je roztok kyselejší)</a:t>
            </a:r>
          </a:p>
          <a:p>
            <a:pPr algn="l">
              <a:lnSpc>
                <a:spcPct val="90000"/>
              </a:lnSpc>
            </a:pPr>
            <a:r>
              <a:rPr lang="cs-CZ" sz="2000" u="sng" dirty="0">
                <a:ea typeface="+mn-lt"/>
                <a:cs typeface="+mn-lt"/>
              </a:rPr>
              <a:t>neutrální</a:t>
            </a:r>
            <a:r>
              <a:rPr lang="cs-CZ" sz="2000" dirty="0">
                <a:ea typeface="+mn-lt"/>
                <a:cs typeface="+mn-lt"/>
              </a:rPr>
              <a:t>: má pH = 7</a:t>
            </a:r>
          </a:p>
          <a:p>
            <a:pPr algn="l">
              <a:lnSpc>
                <a:spcPct val="90000"/>
              </a:lnSpc>
            </a:pPr>
            <a:r>
              <a:rPr lang="cs-CZ" sz="2000" u="sng" dirty="0">
                <a:ea typeface="+mn-lt"/>
                <a:cs typeface="+mn-lt"/>
              </a:rPr>
              <a:t>zásadité</a:t>
            </a:r>
            <a:r>
              <a:rPr lang="cs-CZ" sz="2000" dirty="0">
                <a:ea typeface="+mn-lt"/>
                <a:cs typeface="+mn-lt"/>
              </a:rPr>
              <a:t>: mají pH &gt; 7 (čím je hodnota vyšší, tím je zásaditější)</a:t>
            </a:r>
            <a:endParaRPr lang="cs-CZ" sz="2000" dirty="0">
              <a:cs typeface="Calibri"/>
            </a:endParaRPr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095EF8F3-B6B9-29F4-642B-E6D539F0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8" y="77558"/>
            <a:ext cx="8268795" cy="763525"/>
          </a:xfrm>
        </p:spPr>
        <p:txBody>
          <a:bodyPr/>
          <a:lstStyle/>
          <a:p>
            <a:r>
              <a:rPr lang="cs-CZ" b="1" dirty="0">
                <a:cs typeface="Calibri"/>
              </a:rPr>
              <a:t>Zápis</a:t>
            </a:r>
            <a:endParaRPr lang="cs-CZ" b="1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C6461904-5A39-EE05-0509-B3091DE7FA3F}"/>
              </a:ext>
            </a:extLst>
          </p:cNvPr>
          <p:cNvSpPr txBox="1">
            <a:spLocks/>
          </p:cNvSpPr>
          <p:nvPr/>
        </p:nvSpPr>
        <p:spPr>
          <a:xfrm>
            <a:off x="388551" y="1585837"/>
            <a:ext cx="1558863" cy="5545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buNone/>
            </a:pPr>
            <a:r>
              <a:rPr lang="cs-CZ" sz="2800" b="1" dirty="0">
                <a:cs typeface="Calibri"/>
              </a:rPr>
              <a:t>pH</a:t>
            </a:r>
            <a:endParaRPr lang="cs-CZ" sz="2800" b="1"/>
          </a:p>
        </p:txBody>
      </p:sp>
    </p:spTree>
    <p:extLst>
      <p:ext uri="{BB962C8B-B14F-4D97-AF65-F5344CB8AC3E}">
        <p14:creationId xmlns:p14="http://schemas.microsoft.com/office/powerpoint/2010/main" val="1508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069" y="1802380"/>
            <a:ext cx="8272179" cy="25728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cs-CZ" sz="2000" dirty="0">
                <a:ea typeface="+mn-lt"/>
                <a:cs typeface="+mn-lt"/>
              </a:rPr>
              <a:t>Kyselost roztoku způsobují vodíkové kationty </a:t>
            </a:r>
            <a:r>
              <a:rPr lang="cs-CZ" sz="2000" b="1" dirty="0">
                <a:ea typeface="+mn-lt"/>
                <a:cs typeface="+mn-lt"/>
              </a:rPr>
              <a:t>H</a:t>
            </a:r>
            <a:r>
              <a:rPr lang="cs-CZ" sz="2000" b="1" baseline="30000" dirty="0">
                <a:ea typeface="+mn-lt"/>
                <a:cs typeface="+mn-lt"/>
              </a:rPr>
              <a:t>+</a:t>
            </a:r>
            <a:r>
              <a:rPr lang="cs-CZ" sz="2000" b="1" dirty="0">
                <a:ea typeface="+mn-lt"/>
                <a:cs typeface="+mn-lt"/>
              </a:rPr>
              <a:t> </a:t>
            </a:r>
          </a:p>
          <a:p>
            <a:pPr algn="l"/>
            <a:r>
              <a:rPr lang="cs-CZ" sz="2000" dirty="0">
                <a:ea typeface="+mn-lt"/>
                <a:cs typeface="+mn-lt"/>
              </a:rPr>
              <a:t>Zásaditost roztoku způsobují hydroxidové anionty </a:t>
            </a:r>
            <a:r>
              <a:rPr lang="cs-CZ" sz="2000" b="1" dirty="0">
                <a:ea typeface="+mn-lt"/>
                <a:cs typeface="+mn-lt"/>
              </a:rPr>
              <a:t>OH</a:t>
            </a:r>
            <a:r>
              <a:rPr lang="cs-CZ" sz="2000" b="1" baseline="30000" dirty="0">
                <a:ea typeface="+mn-lt"/>
                <a:cs typeface="+mn-lt"/>
              </a:rPr>
              <a:t>-</a:t>
            </a:r>
            <a:r>
              <a:rPr lang="cs-CZ" sz="2000" dirty="0">
                <a:ea typeface="+mn-lt"/>
                <a:cs typeface="+mn-lt"/>
              </a:rPr>
              <a:t>.</a:t>
            </a:r>
            <a:endParaRPr lang="cs-CZ" sz="2000">
              <a:cs typeface="Calibri"/>
            </a:endParaRPr>
          </a:p>
          <a:p>
            <a:pPr algn="l"/>
            <a:r>
              <a:rPr lang="cs-CZ" sz="2000" dirty="0">
                <a:ea typeface="+mn-lt"/>
                <a:cs typeface="+mn-lt"/>
              </a:rPr>
              <a:t>Voda obsahuje stejné množství H</a:t>
            </a:r>
            <a:r>
              <a:rPr lang="cs-CZ" sz="2000" baseline="30000" dirty="0">
                <a:ea typeface="+mn-lt"/>
                <a:cs typeface="+mn-lt"/>
              </a:rPr>
              <a:t>+</a:t>
            </a:r>
            <a:r>
              <a:rPr lang="cs-CZ" sz="2000" dirty="0">
                <a:ea typeface="+mn-lt"/>
                <a:cs typeface="+mn-lt"/>
              </a:rPr>
              <a:t> a OH</a:t>
            </a:r>
            <a:r>
              <a:rPr lang="cs-CZ" sz="2000" baseline="30000" dirty="0">
                <a:ea typeface="+mn-lt"/>
                <a:cs typeface="+mn-lt"/>
              </a:rPr>
              <a:t>-</a:t>
            </a:r>
            <a:r>
              <a:rPr lang="cs-CZ" sz="2000" dirty="0">
                <a:ea typeface="+mn-lt"/>
                <a:cs typeface="+mn-lt"/>
              </a:rPr>
              <a:t> - říkáme, že je </a:t>
            </a:r>
            <a:r>
              <a:rPr lang="cs-CZ" sz="2000" b="1" dirty="0">
                <a:ea typeface="+mn-lt"/>
                <a:cs typeface="+mn-lt"/>
              </a:rPr>
              <a:t>neutrální</a:t>
            </a:r>
            <a:r>
              <a:rPr lang="cs-CZ" sz="2000" dirty="0">
                <a:ea typeface="+mn-lt"/>
                <a:cs typeface="+mn-lt"/>
              </a:rPr>
              <a:t>.</a:t>
            </a:r>
            <a:endParaRPr lang="cs-CZ" sz="2000">
              <a:cs typeface="Calibri"/>
            </a:endParaRPr>
          </a:p>
          <a:p>
            <a:pPr lvl="1" algn="l"/>
            <a:r>
              <a:rPr lang="cs-CZ" sz="1600" dirty="0">
                <a:ea typeface="+mn-lt"/>
                <a:cs typeface="+mn-lt"/>
              </a:rPr>
              <a:t>Přidáním kyseliny </a:t>
            </a:r>
            <a:r>
              <a:rPr lang="cs-CZ" sz="1600" b="1" dirty="0">
                <a:ea typeface="+mn-lt"/>
                <a:cs typeface="+mn-lt"/>
              </a:rPr>
              <a:t>převládne</a:t>
            </a:r>
            <a:r>
              <a:rPr lang="cs-CZ" sz="1600" dirty="0">
                <a:ea typeface="+mn-lt"/>
                <a:cs typeface="+mn-lt"/>
              </a:rPr>
              <a:t> počet </a:t>
            </a:r>
            <a:r>
              <a:rPr lang="cs-CZ" sz="1600" b="1" dirty="0">
                <a:ea typeface="+mn-lt"/>
                <a:cs typeface="+mn-lt"/>
              </a:rPr>
              <a:t>H</a:t>
            </a:r>
            <a:r>
              <a:rPr lang="cs-CZ" sz="1600" b="1" baseline="30000" dirty="0">
                <a:ea typeface="+mn-lt"/>
                <a:cs typeface="+mn-lt"/>
              </a:rPr>
              <a:t>+</a:t>
            </a:r>
            <a:r>
              <a:rPr lang="cs-CZ" sz="1600" baseline="30000" dirty="0">
                <a:ea typeface="+mn-lt"/>
                <a:cs typeface="+mn-lt"/>
              </a:rPr>
              <a:t>   (kyselý roztok)</a:t>
            </a:r>
            <a:r>
              <a:rPr lang="cs-CZ" sz="1600" dirty="0">
                <a:ea typeface="+mn-lt"/>
                <a:cs typeface="+mn-lt"/>
              </a:rPr>
              <a:t> </a:t>
            </a:r>
            <a:endParaRPr lang="cs-CZ" sz="1600">
              <a:cs typeface="Calibri"/>
            </a:endParaRPr>
          </a:p>
          <a:p>
            <a:pPr lvl="1" algn="l"/>
            <a:r>
              <a:rPr lang="cs-CZ" sz="1600" dirty="0">
                <a:ea typeface="+mn-lt"/>
                <a:cs typeface="+mn-lt"/>
              </a:rPr>
              <a:t>Přidáním hydroxidu </a:t>
            </a:r>
            <a:r>
              <a:rPr lang="cs-CZ" sz="1600" b="1" dirty="0">
                <a:ea typeface="+mn-lt"/>
                <a:cs typeface="+mn-lt"/>
              </a:rPr>
              <a:t>převládne</a:t>
            </a:r>
            <a:r>
              <a:rPr lang="cs-CZ" sz="1600" dirty="0">
                <a:ea typeface="+mn-lt"/>
                <a:cs typeface="+mn-lt"/>
              </a:rPr>
              <a:t> počet </a:t>
            </a:r>
            <a:r>
              <a:rPr lang="cs-CZ" sz="1600" b="1" dirty="0">
                <a:ea typeface="+mn-lt"/>
                <a:cs typeface="+mn-lt"/>
              </a:rPr>
              <a:t>OH</a:t>
            </a:r>
            <a:r>
              <a:rPr lang="cs-CZ" sz="1600" b="1" baseline="30000" dirty="0">
                <a:ea typeface="+mn-lt"/>
                <a:cs typeface="+mn-lt"/>
              </a:rPr>
              <a:t>-</a:t>
            </a:r>
            <a:r>
              <a:rPr lang="cs-CZ" sz="1600" baseline="30000" dirty="0">
                <a:ea typeface="+mn-lt"/>
                <a:cs typeface="+mn-lt"/>
              </a:rPr>
              <a:t>   (zásaditý roztok)</a:t>
            </a:r>
            <a:endParaRPr lang="cs-CZ" sz="1600" dirty="0">
              <a:ea typeface="+mn-lt"/>
              <a:cs typeface="+mn-lt"/>
            </a:endParaRPr>
          </a:p>
          <a:p>
            <a:pPr algn="l"/>
            <a:r>
              <a:rPr lang="cs-CZ" sz="2000" dirty="0">
                <a:ea typeface="+mn-lt"/>
                <a:cs typeface="+mn-lt"/>
              </a:rPr>
              <a:t>K přesnému vyjádření koncentrace vodíkových iontů slouží stupnice pH. </a:t>
            </a:r>
          </a:p>
          <a:p>
            <a:pPr algn="l"/>
            <a:r>
              <a:rPr lang="cs-CZ" sz="2000" dirty="0">
                <a:ea typeface="+mn-lt"/>
                <a:cs typeface="+mn-lt"/>
              </a:rPr>
              <a:t>K určení hodnot pH používáme </a:t>
            </a:r>
            <a:r>
              <a:rPr lang="cs-CZ" sz="2000" b="1" dirty="0">
                <a:ea typeface="+mn-lt"/>
                <a:cs typeface="+mn-lt"/>
              </a:rPr>
              <a:t>indikátory</a:t>
            </a:r>
            <a:r>
              <a:rPr lang="cs-CZ" sz="2000" dirty="0">
                <a:ea typeface="+mn-lt"/>
                <a:cs typeface="+mn-lt"/>
              </a:rPr>
              <a:t>.</a:t>
            </a:r>
            <a:endParaRPr lang="cs-CZ" sz="2000">
              <a:cs typeface="Calibri"/>
            </a:endParaRPr>
          </a:p>
          <a:p>
            <a:pPr algn="l">
              <a:lnSpc>
                <a:spcPct val="90000"/>
              </a:lnSpc>
            </a:pPr>
            <a:endParaRPr lang="cs-CZ" dirty="0">
              <a:cs typeface="Calibri"/>
            </a:endParaRPr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095EF8F3-B6B9-29F4-642B-E6D539F0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8" y="77558"/>
            <a:ext cx="8268795" cy="763525"/>
          </a:xfrm>
        </p:spPr>
        <p:txBody>
          <a:bodyPr/>
          <a:lstStyle/>
          <a:p>
            <a:r>
              <a:rPr lang="cs-CZ" b="1" dirty="0">
                <a:cs typeface="Calibri"/>
              </a:rPr>
              <a:t>Zápis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6953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17256" y="1988770"/>
            <a:ext cx="2107486" cy="1168638"/>
          </a:xfrm>
        </p:spPr>
        <p:txBody>
          <a:bodyPr>
            <a:normAutofit fontScale="90000"/>
          </a:bodyPr>
          <a:lstStyle/>
          <a:p>
            <a:r>
              <a:rPr lang="en-US" sz="4000" b="1" dirty="0" err="1">
                <a:cs typeface="Calibri"/>
              </a:rPr>
              <a:t>Děkuji</a:t>
            </a:r>
            <a:r>
              <a:rPr lang="en-US" sz="4000" b="1" dirty="0">
                <a:cs typeface="Calibri"/>
              </a:rPr>
              <a:t> za </a:t>
            </a:r>
            <a:r>
              <a:rPr lang="en-US" sz="4000" b="1" dirty="0" err="1">
                <a:cs typeface="Calibri"/>
              </a:rPr>
              <a:t>pozornost</a:t>
            </a:r>
          </a:p>
        </p:txBody>
      </p:sp>
    </p:spTree>
    <p:extLst>
      <p:ext uri="{BB962C8B-B14F-4D97-AF65-F5344CB8AC3E}">
        <p14:creationId xmlns:p14="http://schemas.microsoft.com/office/powerpoint/2010/main" val="33311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599E1B-A000-BA58-68E9-4B8C7335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069" y="1288753"/>
            <a:ext cx="8272179" cy="25728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2"/>
              </a:rPr>
              <a:t>https://cs.wikipedia.org/wiki/PH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2"/>
              </a:rPr>
              <a:t>https://cs.wikipedia.org/wiki/PH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3"/>
              </a:rPr>
              <a:t>https://www.zelene-zdravicko.cz/blog/spravne-ph-organizmu/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4"/>
              </a:rPr>
              <a:t>https://cs.wikipedia.org/wiki/Søren_Peder_Lauritz_Sørensen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5"/>
              </a:rPr>
              <a:t>https://www.volty.cz/2020/04/14/rozbijeni-moleklul-vody-bude-levnejsi/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6"/>
              </a:rPr>
              <a:t>https://cs.wikipedia.org/wiki/Brønstedova–Lowryho_teorie_kyselin_a_zásad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r>
              <a:rPr lang="cs-CZ" sz="1600" dirty="0">
                <a:ea typeface="+mn-lt"/>
                <a:cs typeface="+mn-lt"/>
                <a:hlinkClick r:id="rId7"/>
              </a:rPr>
              <a:t>https://cs.wikipedia.org/wiki/Arrheniova_teorie_kyselin_a_zásad</a:t>
            </a:r>
            <a:endParaRPr lang="cs-CZ" sz="1600">
              <a:cs typeface="Calibri"/>
            </a:endParaRPr>
          </a:p>
          <a:p>
            <a:pPr marL="0" indent="0" algn="l">
              <a:buNone/>
            </a:pPr>
            <a:endParaRPr lang="cs-CZ" sz="2000" dirty="0">
              <a:cs typeface="Calibri"/>
            </a:endParaRPr>
          </a:p>
          <a:p>
            <a:pPr algn="l">
              <a:lnSpc>
                <a:spcPct val="90000"/>
              </a:lnSpc>
            </a:pPr>
            <a:endParaRPr lang="cs-CZ" dirty="0">
              <a:cs typeface="Calibri"/>
            </a:endParaRPr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095EF8F3-B6B9-29F4-642B-E6D539F0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8" y="113729"/>
            <a:ext cx="8268795" cy="763525"/>
          </a:xfrm>
        </p:spPr>
        <p:txBody>
          <a:bodyPr/>
          <a:lstStyle/>
          <a:p>
            <a:r>
              <a:rPr lang="cs-CZ" b="1" dirty="0">
                <a:cs typeface="Calibri"/>
              </a:rPr>
              <a:t>Zdroje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10923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Microsoft Office PowerPoint</Application>
  <PresentationFormat>Předvádění na obrazovce (16:9)</PresentationFormat>
  <Paragraphs>69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pH &amp; pOH</vt:lpstr>
      <vt:lpstr>Co to je pH a pOH?</vt:lpstr>
      <vt:lpstr>Stupnice pH a pOH</vt:lpstr>
      <vt:lpstr>Jak změřit pH?</vt:lpstr>
      <vt:lpstr>Historie pH</vt:lpstr>
      <vt:lpstr>Arrheniova teorie kyselin a zásad (1884)</vt:lpstr>
      <vt:lpstr>Søren Peder Lauritz Sørensen</vt:lpstr>
      <vt:lpstr>Brønstedova-Lowryho teorie kyselin a zásad (1923)</vt:lpstr>
      <vt:lpstr>Voda a pH</vt:lpstr>
      <vt:lpstr>Zajímavost</vt:lpstr>
      <vt:lpstr>pH a rakovina</vt:lpstr>
      <vt:lpstr>Zápis</vt:lpstr>
      <vt:lpstr>Zápis</vt:lpstr>
      <vt:lpstr>Zápis</vt:lpstr>
      <vt:lpstr>Děkuji za pozornost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