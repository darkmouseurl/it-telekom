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sldIdLst>
    <p:sldId id="256" r:id="rId5"/>
    <p:sldId id="257" r:id="rId6"/>
    <p:sldId id="261" r:id="rId7"/>
    <p:sldId id="259" r:id="rId8"/>
    <p:sldId id="274" r:id="rId9"/>
    <p:sldId id="262" r:id="rId10"/>
    <p:sldId id="263" r:id="rId11"/>
    <p:sldId id="264" r:id="rId12"/>
    <p:sldId id="265" r:id="rId13"/>
    <p:sldId id="266" r:id="rId14"/>
    <p:sldId id="270" r:id="rId15"/>
    <p:sldId id="267" r:id="rId16"/>
    <p:sldId id="268" r:id="rId17"/>
    <p:sldId id="269" r:id="rId18"/>
    <p:sldId id="271" r:id="rId19"/>
    <p:sldId id="272" r:id="rId20"/>
    <p:sldId id="275" r:id="rId21"/>
    <p:sldId id="276" r:id="rId22"/>
    <p:sldId id="277" r:id="rId23"/>
    <p:sldId id="296" r:id="rId24"/>
    <p:sldId id="279" r:id="rId25"/>
    <p:sldId id="280" r:id="rId26"/>
    <p:sldId id="284" r:id="rId27"/>
    <p:sldId id="282" r:id="rId28"/>
    <p:sldId id="283" r:id="rId29"/>
    <p:sldId id="281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285" r:id="rId38"/>
    <p:sldId id="286" r:id="rId39"/>
    <p:sldId id="288" r:id="rId40"/>
    <p:sldId id="289" r:id="rId41"/>
    <p:sldId id="290" r:id="rId42"/>
    <p:sldId id="292" r:id="rId43"/>
    <p:sldId id="293" r:id="rId44"/>
    <p:sldId id="297" r:id="rId45"/>
    <p:sldId id="298" r:id="rId46"/>
    <p:sldId id="299" r:id="rId47"/>
    <p:sldId id="258" r:id="rId48"/>
    <p:sldId id="273" r:id="rId49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8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2876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267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23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599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431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5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98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305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731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235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433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028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microsoft.com/office/2007/relationships/hdphoto" Target="../media/hdphoto4.wdp"/><Relationship Id="rId9" Type="http://schemas.microsoft.com/office/2007/relationships/hdphoto" Target="../media/hdphoto5.wdp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microsoft.com/office/2007/relationships/hdphoto" Target="../media/hdphoto7.wdp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0.wdp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sv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hyperlink" Target="https://cs.wikipedia.org/wiki/Alotropick%C3%A9_modifikace_fosforu" TargetMode="External"/><Relationship Id="rId13" Type="http://schemas.openxmlformats.org/officeDocument/2006/relationships/hyperlink" Target="https://cs.wikipedia.org/wiki/Organofosf%C3%A1ty" TargetMode="External"/><Relationship Id="rId18" Type="http://schemas.openxmlformats.org/officeDocument/2006/relationships/hyperlink" Target="https://en.wikipedia.org/wiki/Allotropes_of_phosphorus#/media/File:Red_phosphorus.png" TargetMode="External"/><Relationship Id="rId3" Type="http://schemas.openxmlformats.org/officeDocument/2006/relationships/hyperlink" Target="https://vodnihospodarstvi.cz/fosfor/" TargetMode="External"/><Relationship Id="rId21" Type="http://schemas.openxmlformats.org/officeDocument/2006/relationships/hyperlink" Target="https://cs.wikipedia.org/wiki/Fosforit" TargetMode="External"/><Relationship Id="rId7" Type="http://schemas.openxmlformats.org/officeDocument/2006/relationships/hyperlink" Target="https://cs.wikipedia.org/wiki/Zpomalova%C4%8D_ho%C5%99en%C3%AD" TargetMode="External"/><Relationship Id="rId12" Type="http://schemas.openxmlformats.org/officeDocument/2006/relationships/hyperlink" Target="https://cs.wikipedia.org/wiki/Oxid_fosforit%C3%BD" TargetMode="External"/><Relationship Id="rId17" Type="http://schemas.openxmlformats.org/officeDocument/2006/relationships/hyperlink" Target="https://ct24.ceskatelevize.cz/veda/3460932-bily-fosfor-zpusobuje-neuhasitelne-popaleniny-zastavit-jde-jen-vyriznutim-tkane" TargetMode="External"/><Relationship Id="rId25" Type="http://schemas.openxmlformats.org/officeDocument/2006/relationships/hyperlink" Target="https://www.caracteristicass.de/selenio/" TargetMode="External"/><Relationship Id="rId2" Type="http://schemas.openxmlformats.org/officeDocument/2006/relationships/hyperlink" Target="https://cs.wikipedia.org/wiki/Fosfor" TargetMode="External"/><Relationship Id="rId16" Type="http://schemas.openxmlformats.org/officeDocument/2006/relationships/hyperlink" Target="https://www.coursehero.com/study-guides/introchem/properties-of-phosphorus/" TargetMode="External"/><Relationship Id="rId20" Type="http://schemas.openxmlformats.org/officeDocument/2006/relationships/hyperlink" Target="https://cs.wikipedia.org/wiki/Apati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s.wikipedia.org/wiki/Hennig_Brand" TargetMode="External"/><Relationship Id="rId11" Type="http://schemas.openxmlformats.org/officeDocument/2006/relationships/hyperlink" Target="https://cs.wikipedia.org/wiki/Chlorid_fosforit%C3%BD" TargetMode="External"/><Relationship Id="rId24" Type="http://schemas.openxmlformats.org/officeDocument/2006/relationships/hyperlink" Target="https://cs.wikipedia.org/wiki/Selen" TargetMode="External"/><Relationship Id="rId5" Type="http://schemas.openxmlformats.org/officeDocument/2006/relationships/hyperlink" Target="https://shows.acast.com/historyofalchemy/episodes/hennig-brand" TargetMode="External"/><Relationship Id="rId15" Type="http://schemas.openxmlformats.org/officeDocument/2006/relationships/hyperlink" Target="https://suroviny-polotovary.hyperinzerce.cz/chemicke-latky/inzerat/96981565666338127381-cerveny-fosfor-nabidka-hlavni-mesto-praha" TargetMode="External"/><Relationship Id="rId23" Type="http://schemas.openxmlformats.org/officeDocument/2006/relationships/hyperlink" Target="https://cs.wikipedia.org/wiki/RNA_sv%C4%9Bt" TargetMode="External"/><Relationship Id="rId10" Type="http://schemas.openxmlformats.org/officeDocument/2006/relationships/hyperlink" Target="https://cs.wikipedia.org/w/index.php?title=Oxid_fosfore%C4%8Dn%C3%BD&amp;action=history&amp;dir=prev" TargetMode="External"/><Relationship Id="rId19" Type="http://schemas.openxmlformats.org/officeDocument/2006/relationships/hyperlink" Target="http://geologie.vsb.cz/loziska/loziska/nerudy/apatit.html" TargetMode="External"/><Relationship Id="rId4" Type="http://schemas.openxmlformats.org/officeDocument/2006/relationships/hyperlink" Target="https://slideplayer.cz/slide/3219526/" TargetMode="External"/><Relationship Id="rId9" Type="http://schemas.openxmlformats.org/officeDocument/2006/relationships/hyperlink" Target="https://cs.wikipedia.org/w/index.php?title=Kyselina_fosfore%C4%8Dn%C3%A1&amp;action=history&amp;dir=prev" TargetMode="External"/><Relationship Id="rId14" Type="http://schemas.openxmlformats.org/officeDocument/2006/relationships/hyperlink" Target="https://eluc.ikap.cz/verejne/lekce/2336" TargetMode="External"/><Relationship Id="rId22" Type="http://schemas.openxmlformats.org/officeDocument/2006/relationships/hyperlink" Target="https://wikijii.com/wiki/Phosphorite" TargetMode="Externa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vesticniweb.cz/investice/akcie/polovodice-obchodni-valka-realita-pro-investory" TargetMode="External"/><Relationship Id="rId13" Type="http://schemas.openxmlformats.org/officeDocument/2006/relationships/hyperlink" Target="https://cs.wikipedia.org/wiki/S%C3%ADra#Vyu%C5%BEit%C3%AD" TargetMode="External"/><Relationship Id="rId18" Type="http://schemas.openxmlformats.org/officeDocument/2006/relationships/hyperlink" Target="https://cs.wikipedia.org/wiki/Pry%C5%BE" TargetMode="External"/><Relationship Id="rId3" Type="http://schemas.openxmlformats.org/officeDocument/2006/relationships/hyperlink" Target="https://cs.wikipedia.org/wiki/Adenosindifosf%C3%A1t" TargetMode="External"/><Relationship Id="rId21" Type="http://schemas.openxmlformats.org/officeDocument/2006/relationships/hyperlink" Target="https://zssloup.net/rocnikovky/prace16-17/SkotakVit.pdf" TargetMode="External"/><Relationship Id="rId7" Type="http://schemas.openxmlformats.org/officeDocument/2006/relationships/hyperlink" Target="https://cs.wikipedia.org/wiki/Fosfolipid" TargetMode="External"/><Relationship Id="rId12" Type="http://schemas.openxmlformats.org/officeDocument/2006/relationships/hyperlink" Target="https://www.yoda-institut.cz/blog/cizrna/" TargetMode="External"/><Relationship Id="rId17" Type="http://schemas.openxmlformats.org/officeDocument/2006/relationships/hyperlink" Target="http://www.prvky.com/16.html" TargetMode="External"/><Relationship Id="rId2" Type="http://schemas.openxmlformats.org/officeDocument/2006/relationships/hyperlink" Target="https://cs.wikipedia.org/wiki/RNA_sv%C4%9Bt" TargetMode="External"/><Relationship Id="rId16" Type="http://schemas.openxmlformats.org/officeDocument/2006/relationships/hyperlink" Target="https://nerdist.com/article/brilliant-blue-sulfur-fire-is-beautiful-toxic-mess/" TargetMode="External"/><Relationship Id="rId20" Type="http://schemas.openxmlformats.org/officeDocument/2006/relationships/hyperlink" Target="https://cs.wikipedia.org/wiki/Oxid_s%C3%ADrov%C3%B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dnes.cz/onadnes/zdravi/jak-se-opravuje-praskly-zub.A160215_110159_zdravi_pet" TargetMode="External"/><Relationship Id="rId11" Type="http://schemas.openxmlformats.org/officeDocument/2006/relationships/hyperlink" Target="https://aktin.cz/pravda-o-coca-cole-vyzivova-tragedie-nebo-ucinny-lek" TargetMode="External"/><Relationship Id="rId5" Type="http://schemas.openxmlformats.org/officeDocument/2006/relationships/hyperlink" Target="https://www.weve-reha.cz/kosti/954-model-kosti-stehenni.html" TargetMode="External"/><Relationship Id="rId15" Type="http://schemas.openxmlformats.org/officeDocument/2006/relationships/hyperlink" Target="https://cs.wikipedia.org/wiki/Thioly#V%C3%BDroba" TargetMode="External"/><Relationship Id="rId10" Type="http://schemas.openxmlformats.org/officeDocument/2006/relationships/hyperlink" Target="http://veganskaspolecnost.cz/vyziva/mineraly/fosfor/" TargetMode="External"/><Relationship Id="rId19" Type="http://schemas.openxmlformats.org/officeDocument/2006/relationships/hyperlink" Target="https://cs.wikipedia.org/wiki/Oxid_si%C5%99i%C4%8Dit%C3%BD" TargetMode="External"/><Relationship Id="rId4" Type="http://schemas.openxmlformats.org/officeDocument/2006/relationships/hyperlink" Target="https://cs.wikipedia.org/wiki/Adenosintrifosf%C3%A1t" TargetMode="External"/><Relationship Id="rId9" Type="http://schemas.openxmlformats.org/officeDocument/2006/relationships/hyperlink" Target="https://www.svetbaleni.cz/2021/06/01/coca-cola-slavi-50-let-vyroby-v-cesku-a-na-slovensku-prichystala-specialni-edici-obalu/" TargetMode="External"/><Relationship Id="rId14" Type="http://schemas.openxmlformats.org/officeDocument/2006/relationships/hyperlink" Target="https://cs.wikipedia.org/wiki/Sulfan" TargetMode="External"/><Relationship Id="rId22" Type="http://schemas.openxmlformats.org/officeDocument/2006/relationships/hyperlink" Target="http://kolweb.lf2.cuni.cz/Ustavy/biochemie/vyuka/prvky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8">
            <a:extLst>
              <a:ext uri="{FF2B5EF4-FFF2-40B4-BE49-F238E27FC236}">
                <a16:creationId xmlns:a16="http://schemas.microsoft.com/office/drawing/2014/main" id="{526E0BFB-CDF1-4990-8C11-AC849311E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7" name="Picture 3" descr="Pozadí se žlutým a modrým práškem">
            <a:extLst>
              <a:ext uri="{FF2B5EF4-FFF2-40B4-BE49-F238E27FC236}">
                <a16:creationId xmlns:a16="http://schemas.microsoft.com/office/drawing/2014/main" id="{D25E5096-215D-F7F6-ADF1-121664F4A4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627" b="-1"/>
          <a:stretch/>
        </p:blipFill>
        <p:spPr>
          <a:xfrm>
            <a:off x="6097" y="0"/>
            <a:ext cx="8668512" cy="6857990"/>
          </a:xfrm>
          <a:prstGeom prst="rect">
            <a:avLst/>
          </a:prstGeom>
        </p:spPr>
      </p:pic>
      <p:sp>
        <p:nvSpPr>
          <p:cNvPr id="48" name="Rectangle 10">
            <a:extLst>
              <a:ext uri="{FF2B5EF4-FFF2-40B4-BE49-F238E27FC236}">
                <a16:creationId xmlns:a16="http://schemas.microsoft.com/office/drawing/2014/main" id="{6069A1F8-9BEB-4786-9694-FC48B2D7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0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7017110-3B8A-8666-5C13-13127EF2B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023415"/>
          </a:xfrm>
        </p:spPr>
        <p:txBody>
          <a:bodyPr anchor="b">
            <a:normAutofit/>
          </a:bodyPr>
          <a:lstStyle/>
          <a:p>
            <a:r>
              <a:rPr lang="cs-CZ" sz="4800" dirty="0"/>
              <a:t>fosfor, síra, selen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5545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5" name="Rectangle 1036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231CEDAA-1E81-158A-72AE-0B942048A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00" b="10400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6" name="Rectangle 1038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CA1182F-4D80-253A-B3A2-8443E4823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3" y="1255014"/>
            <a:ext cx="3438144" cy="1124712"/>
          </a:xfrm>
        </p:spPr>
        <p:txBody>
          <a:bodyPr anchor="b">
            <a:normAutofit/>
          </a:bodyPr>
          <a:lstStyle/>
          <a:p>
            <a:r>
              <a:rPr lang="cs-CZ" sz="3600" dirty="0"/>
              <a:t>fosfor</a:t>
            </a:r>
          </a:p>
        </p:txBody>
      </p:sp>
      <p:sp>
        <p:nvSpPr>
          <p:cNvPr id="1047" name="Rectangle 1040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8" name="Rectangle 1042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6A2E845-B188-E188-617A-EFAD24463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3" y="2718053"/>
            <a:ext cx="4648775" cy="3822705"/>
          </a:xfrm>
        </p:spPr>
        <p:txBody>
          <a:bodyPr anchor="t">
            <a:normAutofit/>
          </a:bodyPr>
          <a:lstStyle/>
          <a:p>
            <a:r>
              <a:rPr lang="cs-CZ" dirty="0"/>
              <a:t>Značka P</a:t>
            </a:r>
          </a:p>
          <a:p>
            <a:r>
              <a:rPr lang="cs-CZ" dirty="0"/>
              <a:t>Nekov</a:t>
            </a:r>
          </a:p>
          <a:p>
            <a:r>
              <a:rPr lang="cs-CZ" dirty="0"/>
              <a:t>Latinsky = </a:t>
            </a:r>
            <a:r>
              <a:rPr lang="cs-CZ" dirty="0" err="1"/>
              <a:t>Phosphorus</a:t>
            </a:r>
            <a:endParaRPr lang="cs-CZ" dirty="0"/>
          </a:p>
          <a:p>
            <a:r>
              <a:rPr lang="cs-CZ" dirty="0"/>
              <a:t>Má různé modifikace</a:t>
            </a:r>
          </a:p>
          <a:p>
            <a:r>
              <a:rPr lang="cs-CZ" dirty="0"/>
              <a:t>Objevil </a:t>
            </a:r>
            <a:r>
              <a:rPr lang="cs-CZ" dirty="0" err="1"/>
              <a:t>Hennig</a:t>
            </a:r>
            <a:r>
              <a:rPr lang="cs-CZ" dirty="0"/>
              <a:t> Brand</a:t>
            </a:r>
          </a:p>
        </p:txBody>
      </p:sp>
    </p:spTree>
    <p:extLst>
      <p:ext uri="{BB962C8B-B14F-4D97-AF65-F5344CB8AC3E}">
        <p14:creationId xmlns:p14="http://schemas.microsoft.com/office/powerpoint/2010/main" val="28129023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E142508D-DCB4-49FC-885E-2CF85330E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9" name="Freeform: Shape 1038">
            <a:extLst>
              <a:ext uri="{FF2B5EF4-FFF2-40B4-BE49-F238E27FC236}">
                <a16:creationId xmlns:a16="http://schemas.microsoft.com/office/drawing/2014/main" id="{2791DBF5-3FCA-4011-AF8A-650D650F9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41" name="Freeform: Shape 1040">
            <a:extLst>
              <a:ext uri="{FF2B5EF4-FFF2-40B4-BE49-F238E27FC236}">
                <a16:creationId xmlns:a16="http://schemas.microsoft.com/office/drawing/2014/main" id="{D964C04B-075F-470A-BC51-AF7231465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0D65934-06BB-4398-07FA-CF1C16A77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cs-CZ" sz="3600" dirty="0">
                <a:solidFill>
                  <a:schemeClr val="bg1"/>
                </a:solidFill>
              </a:rPr>
              <a:t>Fosfor bezpečnost</a:t>
            </a:r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157AB58F-FDBA-4575-9E72-86B7F843F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90D78486-07CC-4AFC-93CC-B95A73D03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47C7398-A023-3582-185F-2F8C9418F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904" y="2715768"/>
            <a:ext cx="4046226" cy="3209544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Toxický</a:t>
            </a:r>
          </a:p>
          <a:p>
            <a:r>
              <a:rPr lang="cs-CZ" dirty="0">
                <a:solidFill>
                  <a:schemeClr val="bg1"/>
                </a:solidFill>
              </a:rPr>
              <a:t>Korozivní nebo žíravé látky</a:t>
            </a:r>
          </a:p>
          <a:p>
            <a:r>
              <a:rPr lang="cs-CZ" dirty="0">
                <a:solidFill>
                  <a:schemeClr val="bg1"/>
                </a:solidFill>
              </a:rPr>
              <a:t>Hořlavé</a:t>
            </a:r>
          </a:p>
          <a:p>
            <a:r>
              <a:rPr lang="cs-CZ" dirty="0">
                <a:solidFill>
                  <a:schemeClr val="bg1"/>
                </a:solidFill>
              </a:rPr>
              <a:t>Nebezpečné pro životní prostředí</a:t>
            </a: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3C8B6316-6B39-4612-C482-B036E364B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819" y="-99499"/>
            <a:ext cx="2903520" cy="411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33C3A588-1407-F5E1-D013-5D561DA80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576" y="560680"/>
            <a:ext cx="2798922" cy="2798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402D93EC-B683-5C12-7F31-72640E98A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920" y="3498398"/>
            <a:ext cx="2914726" cy="2914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7CA0D412-22CA-2140-F49E-C8B34C262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5473" y="3199750"/>
            <a:ext cx="3696783" cy="5244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8086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patit – Wikipedie">
            <a:extLst>
              <a:ext uri="{FF2B5EF4-FFF2-40B4-BE49-F238E27FC236}">
                <a16:creationId xmlns:a16="http://schemas.microsoft.com/office/drawing/2014/main" id="{92406C8E-5A45-0066-A02B-F41DB4659E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2" r="-1" b="14852"/>
          <a:stretch/>
        </p:blipFill>
        <p:spPr bwMode="auto">
          <a:xfrm>
            <a:off x="3571453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67DFE47-2C66-61B1-CBCA-2FE04C2A5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cs-CZ" sz="3600" dirty="0"/>
              <a:t>Fosfor - výskyt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C910E63-1A96-C830-4EE5-697772AE2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4679078" cy="3207258"/>
          </a:xfrm>
        </p:spPr>
        <p:txBody>
          <a:bodyPr anchor="t">
            <a:normAutofit/>
          </a:bodyPr>
          <a:lstStyle/>
          <a:p>
            <a:r>
              <a:rPr lang="cs-CZ" sz="2000" dirty="0"/>
              <a:t>Vyskytuje se pouze ve sloučeninách fosforu</a:t>
            </a:r>
          </a:p>
          <a:p>
            <a:r>
              <a:rPr lang="cs-CZ" sz="2000" dirty="0"/>
              <a:t>Nejvíce se vyskytuje v apatitu</a:t>
            </a:r>
          </a:p>
          <a:p>
            <a:r>
              <a:rPr lang="cs-CZ" sz="2000" dirty="0"/>
              <a:t>11. nejčastější prvek v zemské kůře</a:t>
            </a:r>
          </a:p>
          <a:p>
            <a:r>
              <a:rPr lang="cs-CZ" sz="2000" dirty="0"/>
              <a:t>U člověka v zubech, kostech, moči</a:t>
            </a:r>
          </a:p>
          <a:p>
            <a:r>
              <a:rPr lang="cs-CZ" sz="2000" dirty="0"/>
              <a:t>Rostliny přijímají pomocí vody</a:t>
            </a:r>
          </a:p>
          <a:p>
            <a:r>
              <a:rPr lang="cs-CZ" sz="2000" dirty="0"/>
              <a:t>Lze vyrobit</a:t>
            </a:r>
          </a:p>
        </p:txBody>
      </p:sp>
    </p:spTree>
    <p:extLst>
      <p:ext uri="{BB962C8B-B14F-4D97-AF65-F5344CB8AC3E}">
        <p14:creationId xmlns:p14="http://schemas.microsoft.com/office/powerpoint/2010/main" val="15700068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2" name="Rectangle 6150">
            <a:extLst>
              <a:ext uri="{FF2B5EF4-FFF2-40B4-BE49-F238E27FC236}">
                <a16:creationId xmlns:a16="http://schemas.microsoft.com/office/drawing/2014/main" id="{DF44879F-6698-4394-89D4-7B3CDB92E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4" name="!!Rectangle">
            <a:extLst>
              <a:ext uri="{FF2B5EF4-FFF2-40B4-BE49-F238E27FC236}">
                <a16:creationId xmlns:a16="http://schemas.microsoft.com/office/drawing/2014/main" id="{C65FD3B2-577C-49A0-B40E-4845C5D59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6146" name="Picture 2" descr="Polovodiče, obchodní válka a realita pro investory – Investiční web">
            <a:extLst>
              <a:ext uri="{FF2B5EF4-FFF2-40B4-BE49-F238E27FC236}">
                <a16:creationId xmlns:a16="http://schemas.microsoft.com/office/drawing/2014/main" id="{9AD59D61-A115-60E2-594E-8656337CA5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773"/>
          <a:stretch/>
        </p:blipFill>
        <p:spPr bwMode="auto">
          <a:xfrm>
            <a:off x="21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Nadpis 1">
            <a:extLst>
              <a:ext uri="{FF2B5EF4-FFF2-40B4-BE49-F238E27FC236}">
                <a16:creationId xmlns:a16="http://schemas.microsoft.com/office/drawing/2014/main" id="{4C16192F-C6C9-15C7-060D-437C87DE7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744" y="648854"/>
            <a:ext cx="10506456" cy="19191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800" dirty="0">
                <a:solidFill>
                  <a:srgbClr val="FFFFFF"/>
                </a:solidFill>
              </a:rPr>
              <a:t>  </a:t>
            </a:r>
            <a:r>
              <a:rPr lang="en-US" sz="5400" dirty="0" err="1">
                <a:solidFill>
                  <a:srgbClr val="FFFFFF"/>
                </a:solidFill>
              </a:rPr>
              <a:t>Fosfor</a:t>
            </a:r>
            <a:r>
              <a:rPr lang="en-US" sz="5400" dirty="0">
                <a:solidFill>
                  <a:srgbClr val="FFFFFF"/>
                </a:solidFill>
              </a:rPr>
              <a:t> – </a:t>
            </a:r>
            <a:r>
              <a:rPr lang="en-US" sz="5400" dirty="0" err="1">
                <a:solidFill>
                  <a:srgbClr val="FFFFFF"/>
                </a:solidFill>
              </a:rPr>
              <a:t>využití</a:t>
            </a:r>
            <a:endParaRPr lang="en-US" sz="8800" dirty="0">
              <a:solidFill>
                <a:srgbClr val="FFFFFF"/>
              </a:solidFill>
            </a:endParaRPr>
          </a:p>
        </p:txBody>
      </p:sp>
      <p:sp>
        <p:nvSpPr>
          <p:cNvPr id="6156" name="Rectangle 6154">
            <a:extLst>
              <a:ext uri="{FF2B5EF4-FFF2-40B4-BE49-F238E27FC236}">
                <a16:creationId xmlns:a16="http://schemas.microsoft.com/office/drawing/2014/main" id="{7A0B5DEA-ADF6-4BA5-9307-147F0A468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8680" y="2898648"/>
            <a:ext cx="10506456" cy="18288"/>
          </a:xfrm>
          <a:prstGeom prst="rect">
            <a:avLst/>
          </a:prstGeom>
          <a:solidFill>
            <a:srgbClr val="FFFFFF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58" name="Rectangle 6156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83982"/>
            <a:ext cx="1873457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ovéPole 14">
            <a:extLst>
              <a:ext uri="{FF2B5EF4-FFF2-40B4-BE49-F238E27FC236}">
                <a16:creationId xmlns:a16="http://schemas.microsoft.com/office/drawing/2014/main" id="{6A5E6C0C-2B91-4B99-4550-22F1DF7DF4E8}"/>
              </a:ext>
            </a:extLst>
          </p:cNvPr>
          <p:cNvSpPr txBox="1"/>
          <p:nvPr/>
        </p:nvSpPr>
        <p:spPr>
          <a:xfrm>
            <a:off x="841248" y="4092493"/>
            <a:ext cx="10509504" cy="29056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FFFFFF"/>
                </a:solidFill>
              </a:rPr>
              <a:t>Jedovaté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nástrahy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na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krysy</a:t>
            </a:r>
            <a:endParaRPr lang="en-US" sz="2000" dirty="0">
              <a:solidFill>
                <a:srgbClr val="FFFFFF"/>
              </a:solidFill>
            </a:endParaRP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FFFFFF"/>
                </a:solidFill>
              </a:rPr>
              <a:t>Zdravotnické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přípravky</a:t>
            </a:r>
            <a:endParaRPr lang="en-US" sz="2000" dirty="0">
              <a:solidFill>
                <a:srgbClr val="FFFFFF"/>
              </a:solidFill>
            </a:endParaRP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FFFFFF"/>
                </a:solidFill>
              </a:rPr>
              <a:t>Válka</a:t>
            </a:r>
            <a:endParaRPr lang="en-US" sz="2000" dirty="0">
              <a:solidFill>
                <a:srgbClr val="FFFFFF"/>
              </a:solidFill>
            </a:endParaRP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FFFFFF"/>
                </a:solidFill>
              </a:rPr>
              <a:t>Zápalky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17" name="Zástupný obsah 2">
            <a:extLst>
              <a:ext uri="{FF2B5EF4-FFF2-40B4-BE49-F238E27FC236}">
                <a16:creationId xmlns:a16="http://schemas.microsoft.com/office/drawing/2014/main" id="{C7118266-7A33-31CC-21FD-22B617F9E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8725" y="3397373"/>
            <a:ext cx="2837307" cy="13986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800" dirty="0">
                <a:solidFill>
                  <a:schemeClr val="bg1"/>
                </a:solidFill>
              </a:rPr>
              <a:t>Bílý fosfor</a:t>
            </a: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05468CBB-06E2-ACFA-00AE-3EA38C777B4C}"/>
              </a:ext>
            </a:extLst>
          </p:cNvPr>
          <p:cNvSpPr txBox="1"/>
          <p:nvPr/>
        </p:nvSpPr>
        <p:spPr>
          <a:xfrm>
            <a:off x="5204840" y="3397373"/>
            <a:ext cx="2924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dirty="0">
                <a:solidFill>
                  <a:schemeClr val="bg1"/>
                </a:solidFill>
              </a:rPr>
              <a:t>Červený fosfor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1DBEB851-98CC-FF9C-0276-4CC444A50915}"/>
              </a:ext>
            </a:extLst>
          </p:cNvPr>
          <p:cNvSpPr txBox="1"/>
          <p:nvPr/>
        </p:nvSpPr>
        <p:spPr>
          <a:xfrm>
            <a:off x="4784216" y="4071860"/>
            <a:ext cx="36957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chemeClr val="bg1"/>
                </a:solidFill>
              </a:rPr>
              <a:t>Pyrotechnika, roznětky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chemeClr val="bg1"/>
                </a:solidFill>
              </a:rPr>
              <a:t>Zpomalovač hoření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chemeClr val="bg1"/>
                </a:solidFill>
              </a:rPr>
              <a:t>Redukční činidlo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chemeClr val="bg1"/>
                </a:solidFill>
              </a:rPr>
              <a:t>Zápalky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chemeClr val="bg1"/>
                </a:solidFill>
              </a:rPr>
              <a:t>Sloučeniny fosforu</a:t>
            </a:r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44354D81-0211-DEFB-A0DC-B72F02D7D7B3}"/>
              </a:ext>
            </a:extLst>
          </p:cNvPr>
          <p:cNvSpPr txBox="1"/>
          <p:nvPr/>
        </p:nvSpPr>
        <p:spPr>
          <a:xfrm>
            <a:off x="8344825" y="3434776"/>
            <a:ext cx="35175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dirty="0">
                <a:solidFill>
                  <a:schemeClr val="bg1"/>
                </a:solidFill>
              </a:rPr>
              <a:t>Černý fosfor</a:t>
            </a:r>
          </a:p>
        </p:txBody>
      </p:sp>
      <p:sp>
        <p:nvSpPr>
          <p:cNvPr id="21" name="TextovéPole 20">
            <a:extLst>
              <a:ext uri="{FF2B5EF4-FFF2-40B4-BE49-F238E27FC236}">
                <a16:creationId xmlns:a16="http://schemas.microsoft.com/office/drawing/2014/main" id="{8A0981D5-23E8-2E47-0088-6594E38561CC}"/>
              </a:ext>
            </a:extLst>
          </p:cNvPr>
          <p:cNvSpPr txBox="1"/>
          <p:nvPr/>
        </p:nvSpPr>
        <p:spPr>
          <a:xfrm>
            <a:off x="8182476" y="4129896"/>
            <a:ext cx="4009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chemeClr val="bg1"/>
                </a:solidFill>
              </a:rPr>
              <a:t>Výroba polovodičů</a:t>
            </a:r>
          </a:p>
        </p:txBody>
      </p:sp>
    </p:spTree>
    <p:extLst>
      <p:ext uri="{BB962C8B-B14F-4D97-AF65-F5344CB8AC3E}">
        <p14:creationId xmlns:p14="http://schemas.microsoft.com/office/powerpoint/2010/main" val="517019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 build="p"/>
      <p:bldP spid="18" grpId="0"/>
      <p:bldP spid="19" grpId="0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délník 5">
            <a:extLst>
              <a:ext uri="{FF2B5EF4-FFF2-40B4-BE49-F238E27FC236}">
                <a16:creationId xmlns:a16="http://schemas.microsoft.com/office/drawing/2014/main" id="{235C33C8-A194-C66E-5504-D575BC4CEDAB}"/>
              </a:ext>
            </a:extLst>
          </p:cNvPr>
          <p:cNvSpPr/>
          <p:nvPr/>
        </p:nvSpPr>
        <p:spPr>
          <a:xfrm>
            <a:off x="441434" y="0"/>
            <a:ext cx="11319803" cy="21367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5A090E0-4FDD-BED9-52A4-4B63E1A59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163" y="2762250"/>
            <a:ext cx="10168128" cy="3694176"/>
          </a:xfrm>
        </p:spPr>
        <p:txBody>
          <a:bodyPr>
            <a:normAutofit/>
          </a:bodyPr>
          <a:lstStyle/>
          <a:p>
            <a:r>
              <a:rPr lang="cs-CZ" sz="2800" dirty="0">
                <a:solidFill>
                  <a:schemeClr val="bg1"/>
                </a:solidFill>
              </a:rPr>
              <a:t>Kyselina fosforečná H₃PO₄</a:t>
            </a:r>
          </a:p>
          <a:p>
            <a:r>
              <a:rPr lang="cs-CZ" sz="2800" dirty="0">
                <a:solidFill>
                  <a:schemeClr val="bg1"/>
                </a:solidFill>
              </a:rPr>
              <a:t>Oxid Fosforečný P₄O₁₀</a:t>
            </a:r>
          </a:p>
          <a:p>
            <a:r>
              <a:rPr lang="cs-CZ" sz="2800" dirty="0">
                <a:solidFill>
                  <a:schemeClr val="bg1"/>
                </a:solidFill>
              </a:rPr>
              <a:t>Oxid Fosforitý P₂O₆</a:t>
            </a:r>
          </a:p>
          <a:p>
            <a:r>
              <a:rPr lang="cs-CZ" sz="2800" dirty="0">
                <a:solidFill>
                  <a:schemeClr val="bg1"/>
                </a:solidFill>
              </a:rPr>
              <a:t>Organofosfát</a:t>
            </a:r>
          </a:p>
          <a:p>
            <a:r>
              <a:rPr lang="cs-CZ" sz="2800" dirty="0">
                <a:solidFill>
                  <a:schemeClr val="bg1"/>
                </a:solidFill>
              </a:rPr>
              <a:t>Chlorid fosforitý </a:t>
            </a:r>
            <a:r>
              <a:rPr lang="cs-CZ" sz="2800" dirty="0" err="1">
                <a:solidFill>
                  <a:schemeClr val="bg1"/>
                </a:solidFill>
              </a:rPr>
              <a:t>PCl</a:t>
            </a:r>
            <a:r>
              <a:rPr lang="cs-CZ" sz="2800" dirty="0">
                <a:solidFill>
                  <a:schemeClr val="bg1"/>
                </a:solidFill>
              </a:rPr>
              <a:t>₃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217D6A5-E0DF-FD03-2B19-D6CAF01CE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302" y="2420317"/>
            <a:ext cx="4542962" cy="32973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E576360-AA7C-5DDE-3784-2A9E9F08C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407" y="509150"/>
            <a:ext cx="10168128" cy="1179576"/>
          </a:xfrm>
        </p:spPr>
        <p:txBody>
          <a:bodyPr>
            <a:normAutofit/>
          </a:bodyPr>
          <a:lstStyle/>
          <a:p>
            <a:r>
              <a:rPr lang="cs-CZ" sz="4400" dirty="0">
                <a:solidFill>
                  <a:schemeClr val="bg1"/>
                </a:solidFill>
              </a:rPr>
              <a:t>Fosfor – sloučeniny</a:t>
            </a: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337CB34B-F519-6B88-8DDD-2E0972E26174}"/>
              </a:ext>
            </a:extLst>
          </p:cNvPr>
          <p:cNvSpPr/>
          <p:nvPr/>
        </p:nvSpPr>
        <p:spPr>
          <a:xfrm flipH="1">
            <a:off x="1047987" y="774065"/>
            <a:ext cx="45719" cy="5885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67766CF2-6172-47DA-ECD7-8EBEE11F9002}"/>
              </a:ext>
            </a:extLst>
          </p:cNvPr>
          <p:cNvSpPr txBox="1"/>
          <p:nvPr/>
        </p:nvSpPr>
        <p:spPr>
          <a:xfrm>
            <a:off x="8150078" y="5874894"/>
            <a:ext cx="1669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Organofosfát</a:t>
            </a:r>
          </a:p>
        </p:txBody>
      </p:sp>
    </p:spTree>
    <p:extLst>
      <p:ext uri="{BB962C8B-B14F-4D97-AF65-F5344CB8AC3E}">
        <p14:creationId xmlns:p14="http://schemas.microsoft.com/office/powerpoint/2010/main" val="3770985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0550F5B9-399F-4FAD-AE6C-ED65F9A43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C062E60F-5CD4-4268-8359-80766346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288350"/>
            <a:ext cx="11167447" cy="208931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BBAA2EA-676B-F64D-F61A-10204982F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10047"/>
            <a:ext cx="3300984" cy="1645920"/>
          </a:xfrm>
        </p:spPr>
        <p:txBody>
          <a:bodyPr>
            <a:normAutofit/>
          </a:bodyPr>
          <a:lstStyle/>
          <a:p>
            <a:r>
              <a:rPr lang="cs-CZ" sz="3600" dirty="0">
                <a:solidFill>
                  <a:schemeClr val="bg1"/>
                </a:solidFill>
              </a:rPr>
              <a:t>Fosfor modifikace</a:t>
            </a: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BB341EC3-1810-4D33-BA3F-E2D0AA0E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980964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10127CDE-2B99-47A8-BB3C-7D1751910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02736" y="1328435"/>
            <a:ext cx="146304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2D376A1-54A8-91AF-F8D3-E24D300A6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3874" y="5640179"/>
            <a:ext cx="9907989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cs-CZ" sz="2000" dirty="0">
                <a:solidFill>
                  <a:schemeClr val="bg1"/>
                </a:solidFill>
              </a:rPr>
              <a:t>  bílý                                   	černý			          	     červený</a:t>
            </a:r>
          </a:p>
        </p:txBody>
      </p:sp>
      <p:pic>
        <p:nvPicPr>
          <p:cNvPr id="1026" name="Picture 2" descr="Properties of Phosphorus | Introduction to Chemistry | | Course Hero">
            <a:extLst>
              <a:ext uri="{FF2B5EF4-FFF2-40B4-BE49-F238E27FC236}">
                <a16:creationId xmlns:a16="http://schemas.microsoft.com/office/drawing/2014/main" id="{515D3DD3-8053-3501-52F7-ADC40D9F9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1700" y="2606462"/>
            <a:ext cx="2556616" cy="3639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lektronická učebnice - ELUC">
            <a:extLst>
              <a:ext uri="{FF2B5EF4-FFF2-40B4-BE49-F238E27FC236}">
                <a16:creationId xmlns:a16="http://schemas.microsoft.com/office/drawing/2014/main" id="{D1A96103-ECF3-3AAF-33C0-D05211B40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47599" y="3167081"/>
            <a:ext cx="3584448" cy="2518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Červený fosfor - bazar - Hyperinzerce.cz">
            <a:extLst>
              <a:ext uri="{FF2B5EF4-FFF2-40B4-BE49-F238E27FC236}">
                <a16:creationId xmlns:a16="http://schemas.microsoft.com/office/drawing/2014/main" id="{735145D0-6460-C6E7-1834-892B2E991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37415" y="3417992"/>
            <a:ext cx="3584448" cy="2016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8745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94" name="Rectangle 2081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 descr="Bílý fosfor">
            <a:extLst>
              <a:ext uri="{FF2B5EF4-FFF2-40B4-BE49-F238E27FC236}">
                <a16:creationId xmlns:a16="http://schemas.microsoft.com/office/drawing/2014/main" id="{0C56DFAC-30BE-C028-112F-F35025E490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88" r="1" b="6685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95" name="Rectangle 2083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82A0B1E-3B47-024D-C053-E244D998A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cs-CZ" sz="3600" b="0" dirty="0"/>
              <a:t>Bílý fosfor</a:t>
            </a:r>
          </a:p>
        </p:txBody>
      </p:sp>
      <p:sp>
        <p:nvSpPr>
          <p:cNvPr id="2096" name="Rectangle 2085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97" name="Rectangle 208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9F14297-A18F-C879-44CA-4344AF1D8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cs-CZ" sz="2800" dirty="0"/>
              <a:t>Hodně reaguje</a:t>
            </a:r>
          </a:p>
          <a:p>
            <a:r>
              <a:rPr lang="cs-CZ" sz="2800" dirty="0"/>
              <a:t>Měkký</a:t>
            </a:r>
          </a:p>
          <a:p>
            <a:r>
              <a:rPr lang="cs-CZ" sz="2800" dirty="0"/>
              <a:t>Nebezpečný</a:t>
            </a:r>
          </a:p>
          <a:p>
            <a:r>
              <a:rPr lang="cs-CZ" sz="2800" dirty="0"/>
              <a:t>Uchovávaní</a:t>
            </a:r>
          </a:p>
          <a:p>
            <a:r>
              <a:rPr lang="cs-CZ" sz="2800" dirty="0"/>
              <a:t>CAS 12185-10-3</a:t>
            </a:r>
          </a:p>
        </p:txBody>
      </p:sp>
    </p:spTree>
    <p:extLst>
      <p:ext uri="{BB962C8B-B14F-4D97-AF65-F5344CB8AC3E}">
        <p14:creationId xmlns:p14="http://schemas.microsoft.com/office/powerpoint/2010/main" val="12469476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9" name="Rectangle 3080">
            <a:extLst>
              <a:ext uri="{FF2B5EF4-FFF2-40B4-BE49-F238E27FC236}">
                <a16:creationId xmlns:a16="http://schemas.microsoft.com/office/drawing/2014/main" id="{21A75659-5A6F-4F77-9679-678A00B9D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6" name="Picture 4" descr="Černý fosfor">
            <a:extLst>
              <a:ext uri="{FF2B5EF4-FFF2-40B4-BE49-F238E27FC236}">
                <a16:creationId xmlns:a16="http://schemas.microsoft.com/office/drawing/2014/main" id="{AB466521-E799-3331-BBA3-FC377BA636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" r="245" b="1"/>
          <a:stretch/>
        </p:blipFill>
        <p:spPr bwMode="auto">
          <a:xfrm>
            <a:off x="20" y="10"/>
            <a:ext cx="86684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0" name="Rectangle 3082">
            <a:extLst>
              <a:ext uri="{FF2B5EF4-FFF2-40B4-BE49-F238E27FC236}">
                <a16:creationId xmlns:a16="http://schemas.microsoft.com/office/drawing/2014/main" id="{EFAEC92A-2230-45B0-A12F-07F9F9EA4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35399" y="0"/>
            <a:ext cx="9756601" cy="6858000"/>
          </a:xfrm>
          <a:prstGeom prst="rect">
            <a:avLst/>
          </a:prstGeom>
          <a:gradFill>
            <a:gsLst>
              <a:gs pos="53000">
                <a:schemeClr val="bg1"/>
              </a:gs>
              <a:gs pos="35000">
                <a:schemeClr val="bg1">
                  <a:alpha val="76000"/>
                </a:schemeClr>
              </a:gs>
              <a:gs pos="19000">
                <a:schemeClr val="bg1">
                  <a:alpha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AF8DE77-4A79-CAC1-EAF6-948CDD9B5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868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cs-CZ" sz="3600" dirty="0"/>
              <a:t>Černý fosfor</a:t>
            </a:r>
          </a:p>
        </p:txBody>
      </p:sp>
      <p:sp>
        <p:nvSpPr>
          <p:cNvPr id="3091" name="Rectangle 308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87333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92" name="Rectangle 308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3018" y="2443480"/>
            <a:ext cx="3218688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8030ECD-5C3A-EDEF-A79F-8F17D8092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5867" y="2718054"/>
            <a:ext cx="3687275" cy="3207258"/>
          </a:xfrm>
        </p:spPr>
        <p:txBody>
          <a:bodyPr anchor="t">
            <a:normAutofit/>
          </a:bodyPr>
          <a:lstStyle/>
          <a:p>
            <a:r>
              <a:rPr lang="cs-CZ" dirty="0"/>
              <a:t>Stálý</a:t>
            </a:r>
          </a:p>
          <a:p>
            <a:r>
              <a:rPr lang="cs-CZ" dirty="0"/>
              <a:t>Vzhled</a:t>
            </a:r>
          </a:p>
          <a:p>
            <a:r>
              <a:rPr lang="cs-CZ" dirty="0"/>
              <a:t>Vodivý</a:t>
            </a:r>
          </a:p>
          <a:p>
            <a:r>
              <a:rPr lang="cs-CZ" dirty="0"/>
              <a:t>Výroba</a:t>
            </a:r>
          </a:p>
          <a:p>
            <a:r>
              <a:rPr lang="cs-CZ" dirty="0"/>
              <a:t>Termodynamicky stabilní</a:t>
            </a:r>
          </a:p>
        </p:txBody>
      </p:sp>
    </p:spTree>
    <p:extLst>
      <p:ext uri="{BB962C8B-B14F-4D97-AF65-F5344CB8AC3E}">
        <p14:creationId xmlns:p14="http://schemas.microsoft.com/office/powerpoint/2010/main" val="29864881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3717D57-F7D8-62FC-0674-58ECEEB256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9" r="2988" b="-2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1023659-82D6-C74D-E7C1-D89E32260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560826" cy="1124712"/>
          </a:xfrm>
        </p:spPr>
        <p:txBody>
          <a:bodyPr anchor="b">
            <a:normAutofit/>
          </a:bodyPr>
          <a:lstStyle/>
          <a:p>
            <a:r>
              <a:rPr lang="cs-CZ" sz="3600" dirty="0"/>
              <a:t>Červený fosfor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96C438C-1F4E-6F22-7645-E23E9556B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294" y="2870454"/>
            <a:ext cx="3438906" cy="3207258"/>
          </a:xfrm>
        </p:spPr>
        <p:txBody>
          <a:bodyPr anchor="t">
            <a:normAutofit/>
          </a:bodyPr>
          <a:lstStyle/>
          <a:p>
            <a:r>
              <a:rPr lang="cs-CZ" sz="2800" dirty="0"/>
              <a:t>Výroba</a:t>
            </a:r>
          </a:p>
          <a:p>
            <a:r>
              <a:rPr lang="cs-CZ" sz="2800" dirty="0"/>
              <a:t>Vlastnosti</a:t>
            </a:r>
          </a:p>
          <a:p>
            <a:r>
              <a:rPr lang="cs-CZ" sz="2800" dirty="0"/>
              <a:t>Přeměna</a:t>
            </a:r>
          </a:p>
          <a:p>
            <a:r>
              <a:rPr lang="cs-CZ" sz="2800" dirty="0"/>
              <a:t>Bezpečnost</a:t>
            </a:r>
          </a:p>
          <a:p>
            <a:r>
              <a:rPr lang="cs-CZ" sz="2800" dirty="0"/>
              <a:t>CAS 7723-14-0</a:t>
            </a:r>
          </a:p>
        </p:txBody>
      </p:sp>
    </p:spTree>
    <p:extLst>
      <p:ext uri="{BB962C8B-B14F-4D97-AF65-F5344CB8AC3E}">
        <p14:creationId xmlns:p14="http://schemas.microsoft.com/office/powerpoint/2010/main" val="2415020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0" name="Rectangle 4102">
            <a:extLst>
              <a:ext uri="{FF2B5EF4-FFF2-40B4-BE49-F238E27FC236}">
                <a16:creationId xmlns:a16="http://schemas.microsoft.com/office/drawing/2014/main" id="{DF44879F-6698-4394-89D4-7B3CDB92E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11" name="!!Rectangle">
            <a:extLst>
              <a:ext uri="{FF2B5EF4-FFF2-40B4-BE49-F238E27FC236}">
                <a16:creationId xmlns:a16="http://schemas.microsoft.com/office/drawing/2014/main" id="{C65FD3B2-577C-49A0-B40E-4845C5D59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4098" name="Picture 2" descr="Bílý fosfor způsobuje neuhasitelné popáleniny. Zastavit jde jen vyříznutím  tkáně — ČT24 — Česká televize">
            <a:extLst>
              <a:ext uri="{FF2B5EF4-FFF2-40B4-BE49-F238E27FC236}">
                <a16:creationId xmlns:a16="http://schemas.microsoft.com/office/drawing/2014/main" id="{44DAEE9D-B5CC-2EE1-761F-9761AD9B19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53"/>
          <a:stretch/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7B67F52C-8C77-1CF0-4F4B-E52D23CC4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cs-CZ" sz="6000" dirty="0">
                <a:solidFill>
                  <a:srgbClr val="FFFFFF"/>
                </a:solidFill>
              </a:rPr>
              <a:t>Fosfor jako bojová zbraň</a:t>
            </a:r>
          </a:p>
        </p:txBody>
      </p:sp>
      <p:sp>
        <p:nvSpPr>
          <p:cNvPr id="4112" name="Rectangle 4106">
            <a:extLst>
              <a:ext uri="{FF2B5EF4-FFF2-40B4-BE49-F238E27FC236}">
                <a16:creationId xmlns:a16="http://schemas.microsoft.com/office/drawing/2014/main" id="{7A0B5DEA-ADF6-4BA5-9307-147F0A468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8680" y="2898648"/>
            <a:ext cx="10506456" cy="18288"/>
          </a:xfrm>
          <a:prstGeom prst="rect">
            <a:avLst/>
          </a:prstGeom>
          <a:solidFill>
            <a:srgbClr val="FFFFFF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83982"/>
            <a:ext cx="1873457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38F36E5-4555-7C96-DF43-9CBB6D24D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37269"/>
            <a:ext cx="10509504" cy="2905686"/>
          </a:xfrm>
        </p:spPr>
        <p:txBody>
          <a:bodyPr>
            <a:normAutofit fontScale="92500" lnSpcReduction="10000"/>
          </a:bodyPr>
          <a:lstStyle/>
          <a:p>
            <a:r>
              <a:rPr lang="cs-CZ" sz="3200" dirty="0">
                <a:solidFill>
                  <a:srgbClr val="FFFFFF"/>
                </a:solidFill>
              </a:rPr>
              <a:t>Bílý fosfor</a:t>
            </a:r>
          </a:p>
          <a:p>
            <a:r>
              <a:rPr lang="cs-CZ" sz="3200" dirty="0">
                <a:solidFill>
                  <a:srgbClr val="FFFFFF"/>
                </a:solidFill>
              </a:rPr>
              <a:t>Fosfor vs člověk</a:t>
            </a:r>
          </a:p>
          <a:p>
            <a:r>
              <a:rPr lang="en-US" sz="3200" dirty="0">
                <a:solidFill>
                  <a:srgbClr val="FFFFFF"/>
                </a:solidFill>
              </a:rPr>
              <a:t>“</a:t>
            </a:r>
            <a:r>
              <a:rPr lang="en-US" sz="3200" dirty="0" err="1">
                <a:solidFill>
                  <a:srgbClr val="FFFFFF"/>
                </a:solidFill>
              </a:rPr>
              <a:t>chemick</a:t>
            </a:r>
            <a:r>
              <a:rPr lang="cs-CZ" sz="3200" dirty="0">
                <a:solidFill>
                  <a:srgbClr val="FFFFFF"/>
                </a:solidFill>
              </a:rPr>
              <a:t>á zbraň hromadného ničení</a:t>
            </a:r>
            <a:r>
              <a:rPr lang="en-US" sz="3200" dirty="0">
                <a:solidFill>
                  <a:srgbClr val="FFFFFF"/>
                </a:solidFill>
              </a:rPr>
              <a:t>”</a:t>
            </a:r>
            <a:endParaRPr lang="cs-CZ" sz="3200" dirty="0">
              <a:solidFill>
                <a:srgbClr val="FFFFFF"/>
              </a:solidFill>
            </a:endParaRPr>
          </a:p>
          <a:p>
            <a:r>
              <a:rPr lang="cs-CZ" sz="3200" dirty="0">
                <a:solidFill>
                  <a:srgbClr val="FFFFFF"/>
                </a:solidFill>
              </a:rPr>
              <a:t>Použití</a:t>
            </a:r>
          </a:p>
          <a:p>
            <a:r>
              <a:rPr lang="cs-CZ" sz="3200" dirty="0">
                <a:solidFill>
                  <a:srgbClr val="FFFFFF"/>
                </a:solidFill>
              </a:rPr>
              <a:t>kontroverzní</a:t>
            </a:r>
          </a:p>
          <a:p>
            <a:endParaRPr lang="cs-CZ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84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DF44879F-6698-4394-89D4-7B3CDB92E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!!Rectangle">
            <a:extLst>
              <a:ext uri="{FF2B5EF4-FFF2-40B4-BE49-F238E27FC236}">
                <a16:creationId xmlns:a16="http://schemas.microsoft.com/office/drawing/2014/main" id="{C65FD3B2-577C-49A0-B40E-4845C5D59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1026" name="Picture 2" descr="milujemekameny.cz/wp-content/uploads/2019/05/apati...">
            <a:extLst>
              <a:ext uri="{FF2B5EF4-FFF2-40B4-BE49-F238E27FC236}">
                <a16:creationId xmlns:a16="http://schemas.microsoft.com/office/drawing/2014/main" id="{5004AE39-F90B-626E-F582-CC8E01B61A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205" b="98077" l="1867" r="95200">
                        <a14:foregroundMark x1="49733" y1="73077" x2="56267" y2="77564"/>
                        <a14:foregroundMark x1="48267" y1="63462" x2="39067" y2="79808"/>
                        <a14:foregroundMark x1="39067" y1="79808" x2="48267" y2="90224"/>
                        <a14:foregroundMark x1="48267" y1="90224" x2="64800" y2="88622"/>
                        <a14:foregroundMark x1="64800" y1="88622" x2="69867" y2="88622"/>
                        <a14:foregroundMark x1="36800" y1="91186" x2="88267" y2="91827"/>
                        <a14:foregroundMark x1="79600" y1="98558" x2="20267" y2="95353"/>
                        <a14:foregroundMark x1="20267" y1="95353" x2="8667" y2="83013"/>
                        <a14:foregroundMark x1="8667" y1="83013" x2="4000" y2="69872"/>
                        <a14:foregroundMark x1="4000" y1="69872" x2="7867" y2="60096"/>
                        <a14:foregroundMark x1="3333" y1="63942" x2="2933" y2="84455"/>
                        <a14:foregroundMark x1="2933" y1="84455" x2="6800" y2="97917"/>
                        <a14:foregroundMark x1="6800" y1="97917" x2="15600" y2="99519"/>
                        <a14:foregroundMark x1="15600" y1="99519" x2="36267" y2="96955"/>
                        <a14:foregroundMark x1="36267" y1="96955" x2="24667" y2="95833"/>
                        <a14:foregroundMark x1="24667" y1="95833" x2="35867" y2="95192"/>
                        <a14:foregroundMark x1="35867" y1="95192" x2="81333" y2="98397"/>
                        <a14:foregroundMark x1="81333" y1="98397" x2="83733" y2="97596"/>
                        <a14:foregroundMark x1="88800" y1="93910" x2="94933" y2="61538"/>
                        <a14:foregroundMark x1="94933" y1="61538" x2="93600" y2="45513"/>
                        <a14:foregroundMark x1="93600" y1="45513" x2="76533" y2="17628"/>
                        <a14:foregroundMark x1="76533" y1="17628" x2="63733" y2="10737"/>
                        <a14:foregroundMark x1="63733" y1="10737" x2="49200" y2="11538"/>
                        <a14:foregroundMark x1="49200" y1="11538" x2="35867" y2="18109"/>
                        <a14:foregroundMark x1="35867" y1="18109" x2="11200" y2="42147"/>
                        <a14:foregroundMark x1="11200" y1="42147" x2="4933" y2="59936"/>
                        <a14:foregroundMark x1="5067" y1="59295" x2="10800" y2="46474"/>
                        <a14:foregroundMark x1="10800" y1="46474" x2="10800" y2="46474"/>
                        <a14:foregroundMark x1="10667" y1="46474" x2="3333" y2="58814"/>
                        <a14:foregroundMark x1="4933" y1="52244" x2="8000" y2="47917"/>
                        <a14:foregroundMark x1="2800" y1="71474" x2="1867" y2="80769"/>
                        <a14:foregroundMark x1="37867" y1="20353" x2="47733" y2="10417"/>
                        <a14:foregroundMark x1="47733" y1="10417" x2="52267" y2="8494"/>
                        <a14:foregroundMark x1="56533" y1="6891" x2="75183" y2="7163"/>
                        <a14:foregroundMark x1="82434" y1="11299" x2="83733" y2="12660"/>
                        <a14:foregroundMark x1="83733" y1="12660" x2="88800" y2="23237"/>
                        <a14:foregroundMark x1="88933" y1="23558" x2="75467" y2="14904"/>
                        <a14:foregroundMark x1="75467" y1="14904" x2="83467" y2="14904"/>
                        <a14:foregroundMark x1="83467" y1="14904" x2="85333" y2="16346"/>
                        <a14:foregroundMark x1="83467" y1="16827" x2="78000" y2="9295"/>
                        <a14:foregroundMark x1="75548" y1="6745" x2="68133" y2="1923"/>
                        <a14:foregroundMark x1="68133" y1="1923" x2="58267" y2="3365"/>
                        <a14:foregroundMark x1="58267" y1="3365" x2="20800" y2="28205"/>
                        <a14:foregroundMark x1="66400" y1="16186" x2="86667" y2="20353"/>
                        <a14:foregroundMark x1="86667" y1="20353" x2="92400" y2="37821"/>
                        <a14:foregroundMark x1="92400" y1="37821" x2="92800" y2="50160"/>
                        <a14:foregroundMark x1="92800" y1="50160" x2="95200" y2="35256"/>
                        <a14:foregroundMark x1="95200" y1="35256" x2="94933" y2="32853"/>
                        <a14:foregroundMark x1="94933" y1="32853" x2="92267" y2="23237"/>
                        <a14:backgroundMark x1="80133" y1="9295" x2="80133" y2="9295"/>
                        <a14:backgroundMark x1="80133" y1="9295" x2="80133" y2="8333"/>
                        <a14:backgroundMark x1="76400" y1="5769" x2="81467" y2="10096"/>
                        <a14:backgroundMark x1="82133" y1="10737" x2="82133" y2="10737"/>
                        <a14:backgroundMark x1="82133" y1="10737" x2="82000" y2="11058"/>
                        <a14:backgroundMark x1="98533" y1="39744" x2="98533" y2="41346"/>
                        <a14:backgroundMark x1="98400" y1="53045" x2="98133" y2="527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453" b="15980"/>
          <a:stretch/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91F511CA-F201-2F67-E5DB-993CA54BD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cs-CZ" sz="6000" dirty="0">
                <a:solidFill>
                  <a:srgbClr val="FFFFFF"/>
                </a:solidFill>
              </a:rPr>
              <a:t>Fosfor – minerály - apatit</a:t>
            </a:r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7A0B5DEA-ADF6-4BA5-9307-147F0A468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8680" y="2898648"/>
            <a:ext cx="10506456" cy="18288"/>
          </a:xfrm>
          <a:prstGeom prst="rect">
            <a:avLst/>
          </a:prstGeom>
          <a:solidFill>
            <a:srgbClr val="FFFFFF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83982"/>
            <a:ext cx="1873457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6889292-6E53-A2B7-5FA7-EFB373ED7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37269"/>
            <a:ext cx="10509504" cy="2905686"/>
          </a:xfrm>
        </p:spPr>
        <p:txBody>
          <a:bodyPr>
            <a:normAutofit lnSpcReduction="10000"/>
          </a:bodyPr>
          <a:lstStyle/>
          <a:p>
            <a:r>
              <a:rPr lang="cs-CZ" sz="2800" dirty="0">
                <a:solidFill>
                  <a:srgbClr val="FFFFFF"/>
                </a:solidFill>
              </a:rPr>
              <a:t>Vzorec: Ca₅(PO₄)</a:t>
            </a:r>
          </a:p>
          <a:p>
            <a:r>
              <a:rPr lang="cs-CZ" sz="2800" dirty="0">
                <a:solidFill>
                  <a:srgbClr val="FFFFFF"/>
                </a:solidFill>
              </a:rPr>
              <a:t>Jiné označení</a:t>
            </a:r>
          </a:p>
          <a:p>
            <a:r>
              <a:rPr lang="cs-CZ" sz="2800" dirty="0">
                <a:solidFill>
                  <a:srgbClr val="FFFFFF"/>
                </a:solidFill>
              </a:rPr>
              <a:t>Využití</a:t>
            </a:r>
          </a:p>
          <a:p>
            <a:r>
              <a:rPr lang="cs-CZ" sz="2800" dirty="0">
                <a:solidFill>
                  <a:srgbClr val="FFFFFF"/>
                </a:solidFill>
              </a:rPr>
              <a:t>Těžba </a:t>
            </a:r>
          </a:p>
          <a:p>
            <a:r>
              <a:rPr lang="cs-CZ" sz="2800" dirty="0">
                <a:solidFill>
                  <a:srgbClr val="FFFFFF"/>
                </a:solidFill>
              </a:rPr>
              <a:t>Charakteristika </a:t>
            </a:r>
          </a:p>
        </p:txBody>
      </p:sp>
    </p:spTree>
    <p:extLst>
      <p:ext uri="{BB962C8B-B14F-4D97-AF65-F5344CB8AC3E}">
        <p14:creationId xmlns:p14="http://schemas.microsoft.com/office/powerpoint/2010/main" val="1810257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DF44879F-6698-4394-89D4-7B3CDB92E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!!Rectangle">
            <a:extLst>
              <a:ext uri="{FF2B5EF4-FFF2-40B4-BE49-F238E27FC236}">
                <a16:creationId xmlns:a16="http://schemas.microsoft.com/office/drawing/2014/main" id="{C65FD3B2-577C-49A0-B40E-4845C5D59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94E6D31-E2C7-7107-79DC-9BCDCBB3C2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889" b="92889" l="5000" r="94000">
                        <a14:foregroundMark x1="46167" y1="24667" x2="59667" y2="13556"/>
                        <a14:foregroundMark x1="59667" y1="13556" x2="63833" y2="13556"/>
                        <a14:foregroundMark x1="69833" y1="15111" x2="78333" y2="19778"/>
                        <a14:foregroundMark x1="78333" y1="19778" x2="91667" y2="34889"/>
                        <a14:foregroundMark x1="91667" y1="34889" x2="94000" y2="49778"/>
                        <a14:foregroundMark x1="32500" y1="16667" x2="40000" y2="8667"/>
                        <a14:foregroundMark x1="40000" y1="8667" x2="40000" y2="8667"/>
                        <a14:foregroundMark x1="36500" y1="6889" x2="29333" y2="8222"/>
                        <a14:foregroundMark x1="8500" y1="38889" x2="8500" y2="52444"/>
                        <a14:foregroundMark x1="69500" y1="91111" x2="56000" y2="93111"/>
                        <a14:foregroundMark x1="5500" y1="41333" x2="5000" y2="44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154" b="21846"/>
          <a:stretch/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0C4B5879-8841-85E6-A3D5-2729FC4F7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cs-CZ" sz="6600" dirty="0">
                <a:solidFill>
                  <a:srgbClr val="FFFFFF"/>
                </a:solidFill>
              </a:rPr>
              <a:t>Fosfor minerály fluorapatit</a:t>
            </a: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7A0B5DEA-ADF6-4BA5-9307-147F0A468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8680" y="2898648"/>
            <a:ext cx="10506456" cy="18288"/>
          </a:xfrm>
          <a:prstGeom prst="rect">
            <a:avLst/>
          </a:prstGeom>
          <a:solidFill>
            <a:srgbClr val="FFFFFF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83982"/>
            <a:ext cx="1873457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20C0565-854A-4ECB-8563-9E644C7AD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37269"/>
            <a:ext cx="10509504" cy="2905686"/>
          </a:xfrm>
        </p:spPr>
        <p:txBody>
          <a:bodyPr>
            <a:normAutofit lnSpcReduction="10000"/>
          </a:bodyPr>
          <a:lstStyle/>
          <a:p>
            <a:r>
              <a:rPr lang="cs-CZ" sz="2800" dirty="0">
                <a:solidFill>
                  <a:srgbClr val="FFFFFF"/>
                </a:solidFill>
              </a:rPr>
              <a:t>Vzorec: Ca₅(PO₄)₃F</a:t>
            </a:r>
          </a:p>
          <a:p>
            <a:r>
              <a:rPr lang="cs-CZ" sz="2800" dirty="0">
                <a:solidFill>
                  <a:srgbClr val="FFFFFF"/>
                </a:solidFill>
              </a:rPr>
              <a:t>Charakteristika</a:t>
            </a:r>
          </a:p>
          <a:p>
            <a:r>
              <a:rPr lang="cs-CZ" sz="2800" dirty="0">
                <a:solidFill>
                  <a:srgbClr val="FFFFFF"/>
                </a:solidFill>
              </a:rPr>
              <a:t>Výskyt </a:t>
            </a:r>
          </a:p>
          <a:p>
            <a:r>
              <a:rPr lang="cs-CZ" sz="2800" dirty="0">
                <a:solidFill>
                  <a:srgbClr val="FFFFFF"/>
                </a:solidFill>
              </a:rPr>
              <a:t>Využití </a:t>
            </a:r>
          </a:p>
          <a:p>
            <a:r>
              <a:rPr lang="cs-CZ" sz="2800" dirty="0">
                <a:solidFill>
                  <a:srgbClr val="FFFFFF"/>
                </a:solidFill>
              </a:rPr>
              <a:t>Skupina </a:t>
            </a:r>
          </a:p>
        </p:txBody>
      </p:sp>
    </p:spTree>
    <p:extLst>
      <p:ext uri="{BB962C8B-B14F-4D97-AF65-F5344CB8AC3E}">
        <p14:creationId xmlns:p14="http://schemas.microsoft.com/office/powerpoint/2010/main" val="233377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DF44879F-6698-4394-89D4-7B3CDB92E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!!Rectangle">
            <a:extLst>
              <a:ext uri="{FF2B5EF4-FFF2-40B4-BE49-F238E27FC236}">
                <a16:creationId xmlns:a16="http://schemas.microsoft.com/office/drawing/2014/main" id="{C65FD3B2-577C-49A0-B40E-4845C5D59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3074" name="Picture 2" descr="Obsah obrázku snězeno&#10;&#10;Popis byl vytvořen automaticky">
            <a:extLst>
              <a:ext uri="{FF2B5EF4-FFF2-40B4-BE49-F238E27FC236}">
                <a16:creationId xmlns:a16="http://schemas.microsoft.com/office/drawing/2014/main" id="{F0266415-2AD3-EC20-2DCF-E6B66B34A7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162" b="95145" l="4883" r="92383">
                        <a14:foregroundMark x1="21387" y1="25202" x2="17480" y2="38497"/>
                        <a14:foregroundMark x1="13379" y1="18613" x2="12891" y2="35376"/>
                        <a14:foregroundMark x1="12891" y1="35376" x2="23926" y2="59191"/>
                        <a14:foregroundMark x1="37793" y1="60462" x2="47949" y2="54566"/>
                        <a14:foregroundMark x1="62109" y1="55954" x2="51270" y2="54451"/>
                        <a14:foregroundMark x1="37500" y1="48902" x2="30957" y2="44855"/>
                        <a14:foregroundMark x1="58691" y1="41272" x2="80469" y2="33064"/>
                        <a14:foregroundMark x1="80469" y1="33064" x2="80469" y2="33064"/>
                        <a14:foregroundMark x1="80957" y1="30173" x2="73145" y2="24046"/>
                        <a14:foregroundMark x1="73145" y1="24046" x2="46191" y2="15145"/>
                        <a14:foregroundMark x1="32813" y1="13064" x2="63184" y2="7977"/>
                        <a14:foregroundMark x1="63184" y1="7977" x2="63770" y2="7977"/>
                        <a14:foregroundMark x1="87012" y1="39306" x2="92578" y2="55607"/>
                        <a14:foregroundMark x1="92578" y1="55607" x2="92578" y2="55607"/>
                        <a14:foregroundMark x1="59277" y1="8439" x2="49512" y2="4162"/>
                        <a14:foregroundMark x1="6543" y1="33757" x2="4980" y2="38266"/>
                        <a14:foregroundMark x1="50684" y1="90636" x2="60742" y2="89595"/>
                        <a14:foregroundMark x1="60742" y1="89595" x2="64746" y2="89595"/>
                        <a14:foregroundMark x1="46220" y1="92483" x2="37207" y2="91214"/>
                        <a14:foregroundMark x1="50215" y1="93044" x2="46674" y2="92546"/>
                        <a14:foregroundMark x1="52372" y1="93348" x2="50851" y2="93134"/>
                        <a14:foregroundMark x1="53649" y1="93528" x2="52901" y2="93423"/>
                        <a14:foregroundMark x1="65137" y1="95145" x2="53714" y2="93537"/>
                        <a14:backgroundMark x1="17676" y1="77225" x2="21680" y2="82659"/>
                        <a14:backgroundMark x1="16797" y1="93064" x2="8398" y2="90983"/>
                        <a14:backgroundMark x1="39355" y1="95029" x2="41016" y2="94335"/>
                        <a14:backgroundMark x1="45410" y1="93988" x2="45898" y2="93988"/>
                        <a14:backgroundMark x1="49707" y1="93988" x2="50391" y2="93988"/>
                        <a14:backgroundMark x1="53516" y1="94566" x2="53516" y2="94566"/>
                        <a14:backgroundMark x1="53516" y1="94566" x2="53027" y2="94566"/>
                        <a14:backgroundMark x1="69922" y1="94682" x2="72363" y2="94104"/>
                        <a14:backgroundMark x1="53418" y1="94335" x2="53027" y2="94451"/>
                        <a14:backgroundMark x1="53711" y1="93757" x2="53711" y2="935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328" b="17104"/>
          <a:stretch/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8C0FACDD-1194-5925-B2F8-E12938047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cs-CZ" sz="6000" dirty="0">
                <a:solidFill>
                  <a:srgbClr val="FFFFFF"/>
                </a:solidFill>
              </a:rPr>
              <a:t>Fosfor – minerály - fosforit</a:t>
            </a:r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7A0B5DEA-ADF6-4BA5-9307-147F0A468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8680" y="2898648"/>
            <a:ext cx="10506456" cy="18288"/>
          </a:xfrm>
          <a:prstGeom prst="rect">
            <a:avLst/>
          </a:prstGeom>
          <a:solidFill>
            <a:srgbClr val="FFFFFF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83982"/>
            <a:ext cx="1873457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0CF7862-5911-18C1-76C0-B38E64760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37269"/>
            <a:ext cx="10509504" cy="2905686"/>
          </a:xfrm>
        </p:spPr>
        <p:txBody>
          <a:bodyPr>
            <a:normAutofit fontScale="92500" lnSpcReduction="10000"/>
          </a:bodyPr>
          <a:lstStyle/>
          <a:p>
            <a:r>
              <a:rPr lang="cs-CZ" sz="3200" dirty="0">
                <a:solidFill>
                  <a:srgbClr val="FFFFFF"/>
                </a:solidFill>
              </a:rPr>
              <a:t>Vzorec: P₂O₁₀</a:t>
            </a:r>
          </a:p>
          <a:p>
            <a:r>
              <a:rPr lang="cs-CZ" sz="3200" dirty="0">
                <a:solidFill>
                  <a:srgbClr val="FFFFFF"/>
                </a:solidFill>
              </a:rPr>
              <a:t>Využití </a:t>
            </a:r>
          </a:p>
          <a:p>
            <a:r>
              <a:rPr lang="cs-CZ" sz="3200" dirty="0">
                <a:solidFill>
                  <a:srgbClr val="FFFFFF"/>
                </a:solidFill>
              </a:rPr>
              <a:t>Výskyt </a:t>
            </a:r>
          </a:p>
          <a:p>
            <a:r>
              <a:rPr lang="cs-CZ" sz="3200" dirty="0">
                <a:solidFill>
                  <a:srgbClr val="FFFFFF"/>
                </a:solidFill>
              </a:rPr>
              <a:t>Barva </a:t>
            </a:r>
          </a:p>
          <a:p>
            <a:r>
              <a:rPr lang="cs-CZ" sz="3200" dirty="0">
                <a:solidFill>
                  <a:srgbClr val="FFFFFF"/>
                </a:solidFill>
              </a:rPr>
              <a:t>Zařazení </a:t>
            </a:r>
          </a:p>
          <a:p>
            <a:endParaRPr lang="cs-CZ" sz="2000" dirty="0">
              <a:solidFill>
                <a:srgbClr val="FFFFFF"/>
              </a:solidFill>
            </a:endParaRPr>
          </a:p>
          <a:p>
            <a:endParaRPr lang="cs-CZ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432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307F16C1-AE12-A48C-F5B8-A595EF6E5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75" y="2141334"/>
            <a:ext cx="1867738" cy="2096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Model kosti stehenní">
            <a:extLst>
              <a:ext uri="{FF2B5EF4-FFF2-40B4-BE49-F238E27FC236}">
                <a16:creationId xmlns:a16="http://schemas.microsoft.com/office/drawing/2014/main" id="{2EF73F81-403D-5B37-9F8D-190F77374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500" b="93000" l="10000" r="90000">
                        <a14:foregroundMark x1="51250" y1="86375" x2="51250" y2="90125"/>
                        <a14:foregroundMark x1="46500" y1="88250" x2="46500" y2="93000"/>
                        <a14:foregroundMark x1="53250" y1="9250" x2="55625" y2="7875"/>
                        <a14:foregroundMark x1="56000" y1="6375" x2="57000" y2="3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822633" y="1440954"/>
            <a:ext cx="3066127" cy="3066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Buněčná membrána – WikiSkripta">
            <a:extLst>
              <a:ext uri="{FF2B5EF4-FFF2-40B4-BE49-F238E27FC236}">
                <a16:creationId xmlns:a16="http://schemas.microsoft.com/office/drawing/2014/main" id="{2FE7F009-60CC-DE82-CAAF-07EC998C437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5128" y="1980734"/>
            <a:ext cx="4286250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Chemická struktura adenosintrifosfátu">
            <a:extLst>
              <a:ext uri="{FF2B5EF4-FFF2-40B4-BE49-F238E27FC236}">
                <a16:creationId xmlns:a16="http://schemas.microsoft.com/office/drawing/2014/main" id="{42B7DEAD-CA96-5003-9FFD-7E59F152A4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17" y="4340414"/>
            <a:ext cx="3944064" cy="230466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130" name="Picture 10" descr="Chemická struktura adenosindifosfátu">
            <a:extLst>
              <a:ext uri="{FF2B5EF4-FFF2-40B4-BE49-F238E27FC236}">
                <a16:creationId xmlns:a16="http://schemas.microsoft.com/office/drawing/2014/main" id="{9A2F48CC-5ED9-65B9-60C5-B5E072E8E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8489" y="4146718"/>
            <a:ext cx="4291983" cy="25015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74D460AB-D754-A47B-4899-BE711E46F8A8}"/>
              </a:ext>
            </a:extLst>
          </p:cNvPr>
          <p:cNvSpPr txBox="1"/>
          <p:nvPr/>
        </p:nvSpPr>
        <p:spPr>
          <a:xfrm>
            <a:off x="1089354" y="6104094"/>
            <a:ext cx="4291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ATP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06109978-AE5F-D3C5-36B7-DBD5AF91CEFF}"/>
              </a:ext>
            </a:extLst>
          </p:cNvPr>
          <p:cNvSpPr txBox="1"/>
          <p:nvPr/>
        </p:nvSpPr>
        <p:spPr>
          <a:xfrm>
            <a:off x="8493571" y="5965527"/>
            <a:ext cx="2790125" cy="382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ADP</a:t>
            </a:r>
          </a:p>
        </p:txBody>
      </p:sp>
      <p:pic>
        <p:nvPicPr>
          <p:cNvPr id="5134" name="Picture 14" descr="RNA svět – Wikipedie">
            <a:extLst>
              <a:ext uri="{FF2B5EF4-FFF2-40B4-BE49-F238E27FC236}">
                <a16:creationId xmlns:a16="http://schemas.microsoft.com/office/drawing/2014/main" id="{71F08418-7460-F8C0-4BEB-606F5A93E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2917" b="97604" l="10000" r="90000">
                        <a14:foregroundMark x1="26750" y1="6250" x2="27417" y2="5104"/>
                        <a14:foregroundMark x1="32000" y1="13854" x2="30750" y2="14896"/>
                        <a14:foregroundMark x1="34167" y1="34896" x2="34167" y2="39792"/>
                        <a14:foregroundMark x1="37167" y1="70938" x2="32667" y2="81250"/>
                        <a14:foregroundMark x1="36333" y1="70000" x2="31583" y2="78646"/>
                        <a14:foregroundMark x1="31417" y1="86563" x2="26500" y2="86563"/>
                        <a14:foregroundMark x1="26000" y1="81458" x2="26333" y2="73438"/>
                        <a14:foregroundMark x1="28333" y1="73646" x2="35250" y2="69896"/>
                        <a14:foregroundMark x1="30250" y1="71354" x2="43417" y2="63125"/>
                        <a14:foregroundMark x1="43417" y1="63125" x2="29500" y2="50833"/>
                        <a14:foregroundMark x1="29500" y1="50833" x2="33167" y2="36563"/>
                        <a14:foregroundMark x1="33167" y1="36563" x2="36500" y2="34063"/>
                        <a14:foregroundMark x1="34750" y1="13958" x2="34750" y2="13958"/>
                        <a14:foregroundMark x1="28833" y1="91771" x2="38167" y2="92500"/>
                        <a14:foregroundMark x1="23417" y1="97604" x2="45083" y2="96250"/>
                        <a14:foregroundMark x1="46750" y1="96771" x2="80667" y2="97708"/>
                        <a14:foregroundMark x1="42500" y1="31979" x2="39000" y2="29583"/>
                        <a14:foregroundMark x1="38000" y1="24063" x2="36333" y2="21250"/>
                        <a14:foregroundMark x1="34583" y1="34375" x2="36750" y2="34583"/>
                        <a14:foregroundMark x1="32000" y1="95104" x2="40917" y2="94271"/>
                        <a14:foregroundMark x1="61083" y1="84063" x2="58750" y2="84271"/>
                        <a14:foregroundMark x1="63167" y1="77500" x2="62750" y2="75938"/>
                        <a14:foregroundMark x1="61250" y1="69375" x2="61250" y2="67604"/>
                        <a14:foregroundMark x1="63250" y1="40417" x2="63167" y2="34167"/>
                        <a14:foregroundMark x1="61333" y1="13438" x2="62917" y2="15417"/>
                        <a14:foregroundMark x1="55333" y1="6250" x2="56333" y2="2917"/>
                        <a14:foregroundMark x1="67083" y1="28542" x2="68917" y2="3104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725" y="3801950"/>
            <a:ext cx="3988836" cy="3191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59F9973F-BD3C-8753-3518-673CE4901DD9}"/>
              </a:ext>
            </a:extLst>
          </p:cNvPr>
          <p:cNvSpPr/>
          <p:nvPr/>
        </p:nvSpPr>
        <p:spPr>
          <a:xfrm>
            <a:off x="537329" y="3892"/>
            <a:ext cx="11325516" cy="20481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7E684E6-7648-7C0E-E770-00BCBC3AD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632" y="531322"/>
            <a:ext cx="10168128" cy="1179576"/>
          </a:xfrm>
        </p:spPr>
        <p:txBody>
          <a:bodyPr>
            <a:normAutofit/>
          </a:bodyPr>
          <a:lstStyle/>
          <a:p>
            <a:r>
              <a:rPr lang="cs-CZ" sz="3600" dirty="0">
                <a:solidFill>
                  <a:schemeClr val="bg1"/>
                </a:solidFill>
              </a:rPr>
              <a:t>Fosfor – biogenní prvky</a:t>
            </a:r>
          </a:p>
        </p:txBody>
      </p:sp>
    </p:spTree>
    <p:extLst>
      <p:ext uri="{BB962C8B-B14F-4D97-AF65-F5344CB8AC3E}">
        <p14:creationId xmlns:p14="http://schemas.microsoft.com/office/powerpoint/2010/main" val="535487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FDC05A7B-3060-4D55-AD98-5814F79D4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4638503"/>
            <a:ext cx="8384770" cy="133263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1A68C52-F8E6-4415-AFEE-A78179C25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472717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 err="1">
                <a:solidFill>
                  <a:schemeClr val="bg1"/>
                </a:solidFill>
              </a:rPr>
              <a:t>Fosfor</a:t>
            </a:r>
            <a:r>
              <a:rPr lang="en-US" sz="3600" dirty="0">
                <a:solidFill>
                  <a:schemeClr val="bg1"/>
                </a:solidFill>
              </a:rPr>
              <a:t> - </a:t>
            </a:r>
            <a:r>
              <a:rPr lang="en-US" sz="3600" dirty="0" err="1">
                <a:solidFill>
                  <a:schemeClr val="bg1"/>
                </a:solidFill>
              </a:rPr>
              <a:t>potraviny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041" name="Rectangle: Rounded Corners 1040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562823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4" name="Picture 2" descr="Můžou psi sýry? — barfuj.cz">
            <a:extLst>
              <a:ext uri="{FF2B5EF4-FFF2-40B4-BE49-F238E27FC236}">
                <a16:creationId xmlns:a16="http://schemas.microsoft.com/office/drawing/2014/main" id="{2A688DF1-A3FB-D09F-7731-57F2C38AE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0752" y="1031865"/>
            <a:ext cx="3703320" cy="26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oca-Cola slaví 50 let výroby v Česku a na Slovensku. Přichystala speciální  edici obalů - Svět balení - Obalové inovace, trendy, novinky, zprávy a  názory pro packagingové profesionály">
            <a:extLst>
              <a:ext uri="{FF2B5EF4-FFF2-40B4-BE49-F238E27FC236}">
                <a16:creationId xmlns:a16="http://schemas.microsoft.com/office/drawing/2014/main" id="{484718DD-C342-4089-6DF1-BE15FCC32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000" b="96375" l="10000" r="90000">
                        <a14:foregroundMark x1="41167" y1="9000" x2="40083" y2="18625"/>
                        <a14:foregroundMark x1="42250" y1="18875" x2="43250" y2="21250"/>
                        <a14:foregroundMark x1="58917" y1="52250" x2="56000" y2="88375"/>
                        <a14:foregroundMark x1="56000" y1="88375" x2="55917" y2="88500"/>
                        <a14:foregroundMark x1="63083" y1="86125" x2="64583" y2="42625"/>
                        <a14:foregroundMark x1="64583" y1="42625" x2="57333" y2="37625"/>
                        <a14:foregroundMark x1="57333" y1="37625" x2="56167" y2="37750"/>
                        <a14:foregroundMark x1="55917" y1="51500" x2="62750" y2="52500"/>
                        <a14:foregroundMark x1="61583" y1="31125" x2="56667" y2="32000"/>
                        <a14:foregroundMark x1="56083" y1="30375" x2="61750" y2="31125"/>
                        <a14:foregroundMark x1="61750" y1="31125" x2="65583" y2="31000"/>
                        <a14:foregroundMark x1="66000" y1="31250" x2="66917" y2="30875"/>
                        <a14:foregroundMark x1="59500" y1="29625" x2="56750" y2="30250"/>
                        <a14:foregroundMark x1="54750" y1="94625" x2="61000" y2="96375"/>
                        <a14:foregroundMark x1="61000" y1="96375" x2="65500" y2="94000"/>
                        <a14:foregroundMark x1="68083" y1="47750" x2="68667" y2="53875"/>
                        <a14:foregroundMark x1="66333" y1="94000" x2="66333" y2="94000"/>
                        <a14:foregroundMark x1="66333" y1="94000" x2="64000" y2="95500"/>
                        <a14:foregroundMark x1="53083" y1="94625" x2="54250" y2="94125"/>
                        <a14:foregroundMark x1="55000" y1="95125" x2="56500" y2="96125"/>
                        <a14:foregroundMark x1="65667" y1="93500" x2="67417" y2="93500"/>
                        <a14:backgroundMark x1="59167" y1="99750" x2="59167" y2="99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44340" y="1110562"/>
            <a:ext cx="3703320" cy="2471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izrna - Blog">
            <a:extLst>
              <a:ext uri="{FF2B5EF4-FFF2-40B4-BE49-F238E27FC236}">
                <a16:creationId xmlns:a16="http://schemas.microsoft.com/office/drawing/2014/main" id="{6E1BF662-60C5-DA5F-980C-B3BF95A09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67928" y="1114349"/>
            <a:ext cx="3703320" cy="2464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588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0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Brilliant Blue Sulfur Fire is Beautiful, Toxic Mess - Nerdist">
            <a:extLst>
              <a:ext uri="{FF2B5EF4-FFF2-40B4-BE49-F238E27FC236}">
                <a16:creationId xmlns:a16="http://schemas.microsoft.com/office/drawing/2014/main" id="{A95F6402-30F2-CBBC-A96B-4B43DB6DC1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70" r="19322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Rectangle 1032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7BEDA44-478A-529E-45E1-D4F97F4E7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cs-CZ" sz="3600" dirty="0"/>
              <a:t>Síra  vlastnosti</a:t>
            </a:r>
          </a:p>
        </p:txBody>
      </p:sp>
      <p:sp>
        <p:nvSpPr>
          <p:cNvPr id="1041" name="Rectangle 103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2" name="Rectangle 103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01CB43B-4F67-7527-35B2-E7B27FE9D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638" y="2807208"/>
            <a:ext cx="3715721" cy="3207258"/>
          </a:xfrm>
        </p:spPr>
        <p:txBody>
          <a:bodyPr anchor="t">
            <a:normAutofit/>
          </a:bodyPr>
          <a:lstStyle/>
          <a:p>
            <a:r>
              <a:rPr lang="cs-CZ" dirty="0"/>
              <a:t>Latinsky: </a:t>
            </a:r>
            <a:r>
              <a:rPr lang="cs-CZ" dirty="0" err="1"/>
              <a:t>Sulphur</a:t>
            </a:r>
            <a:endParaRPr lang="cs-CZ" dirty="0"/>
          </a:p>
          <a:p>
            <a:r>
              <a:rPr lang="cs-CZ" dirty="0"/>
              <a:t>Značka: S</a:t>
            </a:r>
          </a:p>
          <a:p>
            <a:r>
              <a:rPr lang="cs-CZ" dirty="0"/>
              <a:t>Charakteristika</a:t>
            </a:r>
          </a:p>
          <a:p>
            <a:r>
              <a:rPr lang="cs-CZ" dirty="0"/>
              <a:t>Reaktivní prvek</a:t>
            </a:r>
          </a:p>
          <a:p>
            <a:r>
              <a:rPr lang="cs-CZ" dirty="0"/>
              <a:t>Polymorfní modifikace</a:t>
            </a:r>
          </a:p>
          <a:p>
            <a:r>
              <a:rPr lang="cs-CZ" dirty="0"/>
              <a:t>CAS 7704-34-9</a:t>
            </a:r>
          </a:p>
        </p:txBody>
      </p:sp>
    </p:spTree>
    <p:extLst>
      <p:ext uri="{BB962C8B-B14F-4D97-AF65-F5344CB8AC3E}">
        <p14:creationId xmlns:p14="http://schemas.microsoft.com/office/powerpoint/2010/main" val="1395747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1A75659-5A6F-4F77-9679-678A00B9D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1AA96F0-BC94-61A2-24D6-27AE0F577C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76367" y1="72266" x2="76465" y2="71615"/>
                        <a14:foregroundMark x1="64551" y1="77083" x2="64063" y2="76953"/>
                        <a14:foregroundMark x1="39746" y1="79557" x2="39746" y2="79557"/>
                        <a14:foregroundMark x1="40527" y1="85026" x2="41504" y2="85677"/>
                        <a14:foregroundMark x1="42578" y1="76693" x2="42578" y2="76302"/>
                        <a14:foregroundMark x1="70508" y1="59896" x2="70898" y2="59766"/>
                        <a14:foregroundMark x1="69434" y1="59635" x2="70020" y2="59635"/>
                        <a14:foregroundMark x1="67480" y1="58464" x2="67480" y2="59115"/>
                        <a14:foregroundMark x1="69141" y1="74740" x2="69336" y2="74870"/>
                        <a14:foregroundMark x1="63965" y1="71094" x2="63867" y2="70573"/>
                        <a14:foregroundMark x1="61328" y1="69010" x2="61230" y2="69141"/>
                        <a14:backgroundMark x1="65527" y1="25391" x2="65918" y2="234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44" r="2956"/>
          <a:stretch/>
        </p:blipFill>
        <p:spPr bwMode="auto">
          <a:xfrm>
            <a:off x="-218903" y="670570"/>
            <a:ext cx="86684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EFAEC92A-2230-45B0-A12F-07F9F9EA4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35399" y="0"/>
            <a:ext cx="9756601" cy="6858000"/>
          </a:xfrm>
          <a:prstGeom prst="rect">
            <a:avLst/>
          </a:prstGeom>
          <a:gradFill>
            <a:gsLst>
              <a:gs pos="53000">
                <a:schemeClr val="bg1"/>
              </a:gs>
              <a:gs pos="35000">
                <a:schemeClr val="bg1">
                  <a:alpha val="76000"/>
                </a:schemeClr>
              </a:gs>
              <a:gs pos="19000">
                <a:schemeClr val="bg1">
                  <a:alpha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F5073E5-3AE9-B764-B24F-F85DA2F81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868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cs-CZ" sz="3600" dirty="0"/>
              <a:t>Síra - výskyt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87333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3018" y="2443480"/>
            <a:ext cx="3218688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8CA778D-929D-04B9-CE16-2AFD050A0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5868" y="2718054"/>
            <a:ext cx="3438906" cy="3207258"/>
          </a:xfrm>
        </p:spPr>
        <p:txBody>
          <a:bodyPr anchor="t">
            <a:noAutofit/>
          </a:bodyPr>
          <a:lstStyle/>
          <a:p>
            <a:r>
              <a:rPr lang="cs-CZ" sz="2800" dirty="0"/>
              <a:t>V Zemi</a:t>
            </a:r>
          </a:p>
          <a:p>
            <a:r>
              <a:rPr lang="cs-CZ" sz="2800" dirty="0"/>
              <a:t>Vesmír </a:t>
            </a:r>
          </a:p>
          <a:p>
            <a:r>
              <a:rPr lang="cs-CZ" sz="2800" dirty="0"/>
              <a:t>Těžba</a:t>
            </a:r>
          </a:p>
          <a:p>
            <a:r>
              <a:rPr lang="cs-CZ" sz="2800" dirty="0"/>
              <a:t>Rudy </a:t>
            </a:r>
          </a:p>
          <a:p>
            <a:r>
              <a:rPr lang="cs-CZ" sz="2800" dirty="0"/>
              <a:t>Ve vzduchu</a:t>
            </a:r>
          </a:p>
        </p:txBody>
      </p:sp>
    </p:spTree>
    <p:extLst>
      <p:ext uri="{BB962C8B-B14F-4D97-AF65-F5344CB8AC3E}">
        <p14:creationId xmlns:p14="http://schemas.microsoft.com/office/powerpoint/2010/main" val="3725060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DF44879F-6698-4394-89D4-7B3CDB92E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!!Rectangle">
            <a:extLst>
              <a:ext uri="{FF2B5EF4-FFF2-40B4-BE49-F238E27FC236}">
                <a16:creationId xmlns:a16="http://schemas.microsoft.com/office/drawing/2014/main" id="{C65FD3B2-577C-49A0-B40E-4845C5D59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1028" name="Picture 4" descr="Pryž – Wikipedie">
            <a:extLst>
              <a:ext uri="{FF2B5EF4-FFF2-40B4-BE49-F238E27FC236}">
                <a16:creationId xmlns:a16="http://schemas.microsoft.com/office/drawing/2014/main" id="{677D9162-C2C7-7CC4-AA25-E34DC24980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55" b="89938" l="4819" r="92580">
                        <a14:foregroundMark x1="13859" y1="61130" x2="9168" y2="67057"/>
                        <a14:foregroundMark x1="6055" y1="60165" x2="4861" y2="57271"/>
                        <a14:foregroundMark x1="91898" y1="29083" x2="92580" y2="25569"/>
                        <a14:foregroundMark x1="85501" y1="36458" x2="79531" y2="40386"/>
                        <a14:backgroundMark x1="23369" y1="88284" x2="92409" y2="38387"/>
                        <a14:backgroundMark x1="92409" y1="38387" x2="93092" y2="37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9274"/>
          <a:stretch/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3ACB1B64-1E27-602F-5578-0EF17C3A0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cs-CZ" sz="6000" dirty="0">
                <a:solidFill>
                  <a:srgbClr val="FFFFFF"/>
                </a:solidFill>
              </a:rPr>
              <a:t>Síra - využití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A0B5DEA-ADF6-4BA5-9307-147F0A468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8680" y="2898648"/>
            <a:ext cx="10506456" cy="18288"/>
          </a:xfrm>
          <a:prstGeom prst="rect">
            <a:avLst/>
          </a:prstGeom>
          <a:solidFill>
            <a:srgbClr val="FFFFFF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83982"/>
            <a:ext cx="1873457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8D2E46E-82ED-D038-309C-29EF26902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37269"/>
            <a:ext cx="10509504" cy="2905686"/>
          </a:xfrm>
        </p:spPr>
        <p:txBody>
          <a:bodyPr>
            <a:normAutofit lnSpcReduction="10000"/>
          </a:bodyPr>
          <a:lstStyle/>
          <a:p>
            <a:r>
              <a:rPr lang="cs-CZ" sz="2800" dirty="0">
                <a:solidFill>
                  <a:srgbClr val="FFFFFF"/>
                </a:solidFill>
              </a:rPr>
              <a:t>Pyrotechnika</a:t>
            </a:r>
          </a:p>
          <a:p>
            <a:r>
              <a:rPr lang="cs-CZ" sz="2800" dirty="0">
                <a:solidFill>
                  <a:srgbClr val="FFFFFF"/>
                </a:solidFill>
              </a:rPr>
              <a:t>Vulkanizace kaučuku</a:t>
            </a:r>
          </a:p>
          <a:p>
            <a:r>
              <a:rPr lang="cs-CZ" sz="2800" dirty="0">
                <a:solidFill>
                  <a:srgbClr val="FFFFFF"/>
                </a:solidFill>
              </a:rPr>
              <a:t>Kyselina sírová</a:t>
            </a:r>
          </a:p>
          <a:p>
            <a:r>
              <a:rPr lang="cs-CZ" sz="2800" dirty="0">
                <a:solidFill>
                  <a:srgbClr val="FFFFFF"/>
                </a:solidFill>
              </a:rPr>
              <a:t>Fungicidy</a:t>
            </a:r>
          </a:p>
          <a:p>
            <a:r>
              <a:rPr lang="cs-CZ" sz="2800" dirty="0">
                <a:solidFill>
                  <a:srgbClr val="FFFFFF"/>
                </a:solidFill>
              </a:rPr>
              <a:t>Zápalky </a:t>
            </a:r>
          </a:p>
        </p:txBody>
      </p:sp>
    </p:spTree>
    <p:extLst>
      <p:ext uri="{BB962C8B-B14F-4D97-AF65-F5344CB8AC3E}">
        <p14:creationId xmlns:p14="http://schemas.microsoft.com/office/powerpoint/2010/main" val="40875069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1" name="Rectangle 1043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Rectangle 1045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7C12F0E-A3C3-DAFA-A1C9-BF8EC748C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cs-CZ" sz="3600" dirty="0" err="1"/>
              <a:t>Thioly</a:t>
            </a:r>
            <a:endParaRPr lang="cs-CZ" sz="3600" dirty="0"/>
          </a:p>
        </p:txBody>
      </p:sp>
      <p:sp>
        <p:nvSpPr>
          <p:cNvPr id="1043" name="Rectangle 1047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5" name="Rectangle 104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5A49E7C-F838-624E-9B61-79439A2B2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cs-CZ" sz="2800" dirty="0"/>
              <a:t>Výskyt</a:t>
            </a:r>
          </a:p>
          <a:p>
            <a:r>
              <a:rPr lang="cs-CZ" sz="2800" dirty="0"/>
              <a:t>Použití</a:t>
            </a:r>
          </a:p>
          <a:p>
            <a:r>
              <a:rPr lang="cs-CZ" sz="2800" dirty="0"/>
              <a:t>Bezpečnost</a:t>
            </a:r>
          </a:p>
          <a:p>
            <a:r>
              <a:rPr lang="cs-CZ" sz="2800" dirty="0"/>
              <a:t>Vznik</a:t>
            </a:r>
          </a:p>
          <a:p>
            <a:r>
              <a:rPr lang="cs-CZ" sz="2800" dirty="0"/>
              <a:t>Charakteristika</a:t>
            </a:r>
          </a:p>
          <a:p>
            <a:endParaRPr lang="cs-CZ" sz="1700" dirty="0"/>
          </a:p>
          <a:p>
            <a:endParaRPr lang="cs-CZ" sz="1700" dirty="0"/>
          </a:p>
        </p:txBody>
      </p:sp>
      <p:pic>
        <p:nvPicPr>
          <p:cNvPr id="4" name="Picture 2" descr="Thioly – Wikipedie">
            <a:extLst>
              <a:ext uri="{FF2B5EF4-FFF2-40B4-BE49-F238E27FC236}">
                <a16:creationId xmlns:a16="http://schemas.microsoft.com/office/drawing/2014/main" id="{1415D107-FDF8-5E7E-2387-02AD1F3B6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727" y="1145720"/>
            <a:ext cx="6692336" cy="45665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87637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Trojrozměrný model molekuly sulfanu">
            <a:extLst>
              <a:ext uri="{FF2B5EF4-FFF2-40B4-BE49-F238E27FC236}">
                <a16:creationId xmlns:a16="http://schemas.microsoft.com/office/drawing/2014/main" id="{730800EC-A26B-71A4-F5ED-C7C5884329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27" r="1" b="12071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Rectangle 2056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6C6205F-8D28-BD5E-C798-C762DADF2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cs-CZ" sz="3600" dirty="0"/>
              <a:t>Sulfan</a:t>
            </a: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C6EB172-B44E-C6EC-2271-E54F3737E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cs-CZ" sz="2800" dirty="0"/>
              <a:t>Charakteristika</a:t>
            </a:r>
          </a:p>
          <a:p>
            <a:r>
              <a:rPr lang="cs-CZ" sz="2800" dirty="0"/>
              <a:t>Výskyt</a:t>
            </a:r>
          </a:p>
          <a:p>
            <a:r>
              <a:rPr lang="cs-CZ" sz="2800" dirty="0"/>
              <a:t>Využití</a:t>
            </a:r>
          </a:p>
          <a:p>
            <a:r>
              <a:rPr lang="cs-CZ" sz="2800" dirty="0"/>
              <a:t>Vzorec: H₂S</a:t>
            </a:r>
          </a:p>
          <a:p>
            <a:r>
              <a:rPr lang="cs-CZ" sz="2800" dirty="0"/>
              <a:t>Příprava</a:t>
            </a:r>
          </a:p>
          <a:p>
            <a:endParaRPr lang="cs-CZ" sz="1700" dirty="0"/>
          </a:p>
          <a:p>
            <a:endParaRPr lang="cs-CZ" sz="1700" dirty="0"/>
          </a:p>
        </p:txBody>
      </p:sp>
    </p:spTree>
    <p:extLst>
      <p:ext uri="{BB962C8B-B14F-4D97-AF65-F5344CB8AC3E}">
        <p14:creationId xmlns:p14="http://schemas.microsoft.com/office/powerpoint/2010/main" val="23545850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0" name="Rectangle 1049">
            <a:extLst>
              <a:ext uri="{FF2B5EF4-FFF2-40B4-BE49-F238E27FC236}">
                <a16:creationId xmlns:a16="http://schemas.microsoft.com/office/drawing/2014/main" id="{21A75659-5A6F-4F77-9679-678A00B9D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3D model molekuly SO2">
            <a:extLst>
              <a:ext uri="{FF2B5EF4-FFF2-40B4-BE49-F238E27FC236}">
                <a16:creationId xmlns:a16="http://schemas.microsoft.com/office/drawing/2014/main" id="{36A347C9-8E95-8A92-9B01-156A188053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106"/>
          <a:stretch/>
        </p:blipFill>
        <p:spPr bwMode="auto">
          <a:xfrm>
            <a:off x="20" y="10"/>
            <a:ext cx="86684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2" name="Rectangle 1051">
            <a:extLst>
              <a:ext uri="{FF2B5EF4-FFF2-40B4-BE49-F238E27FC236}">
                <a16:creationId xmlns:a16="http://schemas.microsoft.com/office/drawing/2014/main" id="{EFAEC92A-2230-45B0-A12F-07F9F9EA4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35399" y="0"/>
            <a:ext cx="9756601" cy="6858000"/>
          </a:xfrm>
          <a:prstGeom prst="rect">
            <a:avLst/>
          </a:prstGeom>
          <a:gradFill>
            <a:gsLst>
              <a:gs pos="53000">
                <a:schemeClr val="bg1"/>
              </a:gs>
              <a:gs pos="35000">
                <a:schemeClr val="bg1">
                  <a:alpha val="76000"/>
                </a:schemeClr>
              </a:gs>
              <a:gs pos="19000">
                <a:schemeClr val="bg1">
                  <a:alpha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67E048E-15B8-8FB0-B23B-D8EE12F05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868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cs-CZ" sz="3600" dirty="0"/>
              <a:t>Síra Oxid siřičitý</a:t>
            </a:r>
          </a:p>
        </p:txBody>
      </p: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87333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3018" y="2443480"/>
            <a:ext cx="3218688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34B4B08-FFC3-71C6-C24B-226332A7E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5868" y="2718054"/>
            <a:ext cx="3438906" cy="3207258"/>
          </a:xfrm>
        </p:spPr>
        <p:txBody>
          <a:bodyPr anchor="t">
            <a:normAutofit lnSpcReduction="10000"/>
          </a:bodyPr>
          <a:lstStyle/>
          <a:p>
            <a:r>
              <a:rPr lang="cs-CZ" sz="3200" dirty="0"/>
              <a:t>Vzorec: SO₂</a:t>
            </a:r>
          </a:p>
          <a:p>
            <a:r>
              <a:rPr lang="cs-CZ" sz="3200" dirty="0"/>
              <a:t>Příprava</a:t>
            </a:r>
          </a:p>
          <a:p>
            <a:r>
              <a:rPr lang="cs-CZ" sz="3200" dirty="0"/>
              <a:t>Výskyt</a:t>
            </a:r>
          </a:p>
          <a:p>
            <a:r>
              <a:rPr lang="cs-CZ" sz="3200" dirty="0"/>
              <a:t>Využití</a:t>
            </a:r>
          </a:p>
          <a:p>
            <a:r>
              <a:rPr lang="cs-CZ" sz="3200" dirty="0"/>
              <a:t>Vlastnosti</a:t>
            </a:r>
          </a:p>
          <a:p>
            <a:endParaRPr lang="cs-CZ" sz="1700" dirty="0"/>
          </a:p>
        </p:txBody>
      </p:sp>
    </p:spTree>
    <p:extLst>
      <p:ext uri="{BB962C8B-B14F-4D97-AF65-F5344CB8AC3E}">
        <p14:creationId xmlns:p14="http://schemas.microsoft.com/office/powerpoint/2010/main" val="36305064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3D model molekuly SO3">
            <a:extLst>
              <a:ext uri="{FF2B5EF4-FFF2-40B4-BE49-F238E27FC236}">
                <a16:creationId xmlns:a16="http://schemas.microsoft.com/office/drawing/2014/main" id="{17BC7579-DD70-DD24-D91C-7608E3DC8C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24" r="1" b="10535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Rectangle 2056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071291B-2DFF-A339-5953-D88E73CB9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 err="1"/>
              <a:t>Síra</a:t>
            </a:r>
            <a:r>
              <a:rPr lang="en-US" sz="3600" dirty="0"/>
              <a:t> Oxid </a:t>
            </a:r>
            <a:r>
              <a:rPr lang="en-US" sz="3600" dirty="0" err="1"/>
              <a:t>sírový</a:t>
            </a:r>
            <a:endParaRPr lang="en-US" sz="3600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31F2CF7F-12B9-9B8C-2D40-960484F0CC25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/>
              <a:t>Vzorec</a:t>
            </a:r>
            <a:r>
              <a:rPr lang="en-US" sz="2800" dirty="0"/>
              <a:t>: SO₃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/>
              <a:t>Příprava</a:t>
            </a:r>
            <a:endParaRPr lang="en-US" sz="2800" dirty="0"/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/>
              <a:t>Bezpečnost</a:t>
            </a:r>
            <a:endParaRPr lang="en-US" sz="2800" dirty="0"/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/>
              <a:t>Využití</a:t>
            </a:r>
            <a:endParaRPr lang="en-US" sz="2800" dirty="0"/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/>
              <a:t>Charakteristika</a:t>
            </a:r>
            <a:endParaRPr lang="en-US" sz="2800" dirty="0"/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911302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CAAED98-859B-FF16-3A6D-C1E3546C4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 fontScale="90000"/>
          </a:bodyPr>
          <a:lstStyle/>
          <a:p>
            <a:r>
              <a:rPr lang="cs-CZ" dirty="0"/>
              <a:t>Síra biogenní prvky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8ED28F8-8986-5195-4971-E96199967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cs-CZ" sz="3200" dirty="0"/>
              <a:t>Výskyt</a:t>
            </a:r>
          </a:p>
          <a:p>
            <a:r>
              <a:rPr lang="cs-CZ" sz="3200" dirty="0"/>
              <a:t>V člověku</a:t>
            </a:r>
          </a:p>
          <a:p>
            <a:r>
              <a:rPr lang="cs-CZ" sz="3200" dirty="0"/>
              <a:t>Použití </a:t>
            </a:r>
          </a:p>
          <a:p>
            <a:endParaRPr lang="cs-CZ" sz="1700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E0607AD9-30C1-4E3D-7328-52A19A7B4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3333" y="822152"/>
            <a:ext cx="4097338" cy="5213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5611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Můžou psi sýry? — barfuj.cz">
            <a:extLst>
              <a:ext uri="{FF2B5EF4-FFF2-40B4-BE49-F238E27FC236}">
                <a16:creationId xmlns:a16="http://schemas.microsoft.com/office/drawing/2014/main" id="{85007DCE-11D1-5509-FD6A-4832055085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0139" b="10636"/>
          <a:stretch/>
        </p:blipFill>
        <p:spPr bwMode="auto">
          <a:xfrm>
            <a:off x="-177285" y="637135"/>
            <a:ext cx="5424195" cy="3051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770319C-980A-A2E1-F75C-B82FF37EC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/>
              <a:t>Síra - potraviny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Jsou klecová vejce skutečně nejlevnější? Nenechte se ošálit - Vitalia.cz">
            <a:extLst>
              <a:ext uri="{FF2B5EF4-FFF2-40B4-BE49-F238E27FC236}">
                <a16:creationId xmlns:a16="http://schemas.microsoft.com/office/drawing/2014/main" id="{E72DD9B7-DD5E-98A4-0BA8-BCD64E0B1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67015" y1="39523" x2="62388" y2="503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120" y="391721"/>
            <a:ext cx="6381750" cy="359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96177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Características del Selenio">
            <a:extLst>
              <a:ext uri="{FF2B5EF4-FFF2-40B4-BE49-F238E27FC236}">
                <a16:creationId xmlns:a16="http://schemas.microsoft.com/office/drawing/2014/main" id="{C15E59A0-E009-F59E-DC30-CD1E9EE405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75" r="1" b="1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9" name="Rectangle 5128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008EB8D-84EE-DC6C-0909-162E55DB1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cs-CZ" sz="3600" dirty="0"/>
              <a:t>Selen </a:t>
            </a:r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0D5C663-9293-1FFE-EF77-8A668ECDC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3" y="2718054"/>
            <a:ext cx="4340865" cy="3804044"/>
          </a:xfrm>
        </p:spPr>
        <p:txBody>
          <a:bodyPr anchor="t">
            <a:normAutofit/>
          </a:bodyPr>
          <a:lstStyle/>
          <a:p>
            <a:r>
              <a:rPr lang="cs-CZ" sz="2800" dirty="0"/>
              <a:t>Značka: Se</a:t>
            </a:r>
          </a:p>
          <a:p>
            <a:r>
              <a:rPr lang="cs-CZ" sz="2800" dirty="0"/>
              <a:t>Latinsky: </a:t>
            </a:r>
            <a:r>
              <a:rPr lang="cs-CZ" sz="2800" dirty="0" err="1"/>
              <a:t>Selenium</a:t>
            </a:r>
            <a:endParaRPr lang="cs-CZ" sz="2800" dirty="0"/>
          </a:p>
          <a:p>
            <a:r>
              <a:rPr lang="cs-CZ" sz="2800" dirty="0"/>
              <a:t>Vzhled</a:t>
            </a:r>
          </a:p>
          <a:p>
            <a:r>
              <a:rPr lang="cs-CZ" sz="2800" dirty="0"/>
              <a:t>Výskyt</a:t>
            </a:r>
          </a:p>
          <a:p>
            <a:r>
              <a:rPr lang="cs-CZ" sz="2800" dirty="0"/>
              <a:t>Použití</a:t>
            </a:r>
          </a:p>
          <a:p>
            <a:endParaRPr lang="cs-CZ" sz="1700" dirty="0"/>
          </a:p>
        </p:txBody>
      </p:sp>
    </p:spTree>
    <p:extLst>
      <p:ext uri="{BB962C8B-B14F-4D97-AF65-F5344CB8AC3E}">
        <p14:creationId xmlns:p14="http://schemas.microsoft.com/office/powerpoint/2010/main" val="606060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E898B1D-6126-D7CC-407F-659B91933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dirty="0" err="1"/>
              <a:t>Otázky</a:t>
            </a:r>
            <a:r>
              <a:rPr lang="en-US" sz="4800" dirty="0"/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phic 5" descr="Help">
            <a:extLst>
              <a:ext uri="{FF2B5EF4-FFF2-40B4-BE49-F238E27FC236}">
                <a16:creationId xmlns:a16="http://schemas.microsoft.com/office/drawing/2014/main" id="{4404265C-5B18-79E1-6B22-C609DABFF3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0099" y="625683"/>
            <a:ext cx="5455380" cy="54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0193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7C6341-F26F-7A69-F2C1-AFDF54671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Otázka 1.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8E23FFB-2F70-3685-BBD0-C4776850E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536" y="3144986"/>
            <a:ext cx="3800381" cy="4413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2800" dirty="0"/>
              <a:t>a)nekovy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E0880B04-0818-F20C-8C84-CBEBD49DDF67}"/>
              </a:ext>
            </a:extLst>
          </p:cNvPr>
          <p:cNvSpPr txBox="1">
            <a:spLocks/>
          </p:cNvSpPr>
          <p:nvPr/>
        </p:nvSpPr>
        <p:spPr>
          <a:xfrm>
            <a:off x="998119" y="4394901"/>
            <a:ext cx="3800381" cy="562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sz="2800" dirty="0"/>
              <a:t>d)halogeny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BEBD15A0-1B9A-4457-1300-273A80B20742}"/>
              </a:ext>
            </a:extLst>
          </p:cNvPr>
          <p:cNvSpPr txBox="1">
            <a:spLocks/>
          </p:cNvSpPr>
          <p:nvPr/>
        </p:nvSpPr>
        <p:spPr>
          <a:xfrm>
            <a:off x="1010536" y="3586331"/>
            <a:ext cx="3800381" cy="4413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sz="2800" dirty="0"/>
              <a:t>b)kovy</a:t>
            </a:r>
          </a:p>
        </p:txBody>
      </p:sp>
      <p:sp>
        <p:nvSpPr>
          <p:cNvPr id="6" name="Zástupný obsah 2">
            <a:extLst>
              <a:ext uri="{FF2B5EF4-FFF2-40B4-BE49-F238E27FC236}">
                <a16:creationId xmlns:a16="http://schemas.microsoft.com/office/drawing/2014/main" id="{79C7AA69-ABCD-CD18-8078-AF57E9C39542}"/>
              </a:ext>
            </a:extLst>
          </p:cNvPr>
          <p:cNvSpPr txBox="1">
            <a:spLocks/>
          </p:cNvSpPr>
          <p:nvPr/>
        </p:nvSpPr>
        <p:spPr>
          <a:xfrm>
            <a:off x="1010536" y="3953556"/>
            <a:ext cx="3800381" cy="4413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sz="2800" dirty="0"/>
              <a:t>c)plyny</a:t>
            </a:r>
          </a:p>
        </p:txBody>
      </p:sp>
      <p:sp>
        <p:nvSpPr>
          <p:cNvPr id="7" name="Zástupný obsah 2">
            <a:extLst>
              <a:ext uri="{FF2B5EF4-FFF2-40B4-BE49-F238E27FC236}">
                <a16:creationId xmlns:a16="http://schemas.microsoft.com/office/drawing/2014/main" id="{E07BEB51-5AE8-41D6-7064-6B2EC4C6EAD2}"/>
              </a:ext>
            </a:extLst>
          </p:cNvPr>
          <p:cNvSpPr txBox="1">
            <a:spLocks/>
          </p:cNvSpPr>
          <p:nvPr/>
        </p:nvSpPr>
        <p:spPr>
          <a:xfrm>
            <a:off x="1010536" y="2315063"/>
            <a:ext cx="9853207" cy="4413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sz="3600" dirty="0"/>
              <a:t>Fosfor, síra, selen jsou?</a:t>
            </a:r>
          </a:p>
        </p:txBody>
      </p:sp>
    </p:spTree>
    <p:extLst>
      <p:ext uri="{BB962C8B-B14F-4D97-AF65-F5344CB8AC3E}">
        <p14:creationId xmlns:p14="http://schemas.microsoft.com/office/powerpoint/2010/main" val="2256929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7C6341-F26F-7A69-F2C1-AFDF54671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Otázka 2.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8E23FFB-2F70-3685-BBD0-C4776850E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536" y="3144986"/>
            <a:ext cx="8997530" cy="4413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2800" dirty="0"/>
              <a:t>a)kosočtverečná, monoklinická, plastická, koloidní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E0880B04-0818-F20C-8C84-CBEBD49DDF67}"/>
              </a:ext>
            </a:extLst>
          </p:cNvPr>
          <p:cNvSpPr txBox="1">
            <a:spLocks/>
          </p:cNvSpPr>
          <p:nvPr/>
        </p:nvSpPr>
        <p:spPr>
          <a:xfrm>
            <a:off x="998119" y="4394901"/>
            <a:ext cx="7583819" cy="562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sz="2800" dirty="0"/>
              <a:t>d)diamant, grafit, grafen, fullereny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BEBD15A0-1B9A-4457-1300-273A80B20742}"/>
              </a:ext>
            </a:extLst>
          </p:cNvPr>
          <p:cNvSpPr txBox="1">
            <a:spLocks/>
          </p:cNvSpPr>
          <p:nvPr/>
        </p:nvSpPr>
        <p:spPr>
          <a:xfrm>
            <a:off x="1010536" y="3586331"/>
            <a:ext cx="4341640" cy="4413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sz="2800" dirty="0"/>
              <a:t>b)šedý, černý, červený</a:t>
            </a:r>
          </a:p>
        </p:txBody>
      </p:sp>
      <p:sp>
        <p:nvSpPr>
          <p:cNvPr id="6" name="Zástupný obsah 2">
            <a:extLst>
              <a:ext uri="{FF2B5EF4-FFF2-40B4-BE49-F238E27FC236}">
                <a16:creationId xmlns:a16="http://schemas.microsoft.com/office/drawing/2014/main" id="{79C7AA69-ABCD-CD18-8078-AF57E9C39542}"/>
              </a:ext>
            </a:extLst>
          </p:cNvPr>
          <p:cNvSpPr txBox="1">
            <a:spLocks/>
          </p:cNvSpPr>
          <p:nvPr/>
        </p:nvSpPr>
        <p:spPr>
          <a:xfrm>
            <a:off x="1010536" y="3953556"/>
            <a:ext cx="5172150" cy="4413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sz="2800" dirty="0"/>
              <a:t>c)bílý, černý, červený</a:t>
            </a:r>
          </a:p>
        </p:txBody>
      </p:sp>
      <p:sp>
        <p:nvSpPr>
          <p:cNvPr id="7" name="Zástupný obsah 2">
            <a:extLst>
              <a:ext uri="{FF2B5EF4-FFF2-40B4-BE49-F238E27FC236}">
                <a16:creationId xmlns:a16="http://schemas.microsoft.com/office/drawing/2014/main" id="{E07BEB51-5AE8-41D6-7064-6B2EC4C6EAD2}"/>
              </a:ext>
            </a:extLst>
          </p:cNvPr>
          <p:cNvSpPr txBox="1">
            <a:spLocks/>
          </p:cNvSpPr>
          <p:nvPr/>
        </p:nvSpPr>
        <p:spPr>
          <a:xfrm>
            <a:off x="1010536" y="2315063"/>
            <a:ext cx="9853207" cy="4413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sz="3600" dirty="0"/>
              <a:t>Jaké jsou modifikace fosforu?</a:t>
            </a:r>
          </a:p>
        </p:txBody>
      </p:sp>
    </p:spTree>
    <p:extLst>
      <p:ext uri="{BB962C8B-B14F-4D97-AF65-F5344CB8AC3E}">
        <p14:creationId xmlns:p14="http://schemas.microsoft.com/office/powerpoint/2010/main" val="4022650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7C6341-F26F-7A69-F2C1-AFDF54671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Otázka 3.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8E23FFB-2F70-3685-BBD0-C4776850E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536" y="3144986"/>
            <a:ext cx="3800381" cy="4413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2800" dirty="0"/>
              <a:t>a)černá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E0880B04-0818-F20C-8C84-CBEBD49DDF67}"/>
              </a:ext>
            </a:extLst>
          </p:cNvPr>
          <p:cNvSpPr txBox="1">
            <a:spLocks/>
          </p:cNvSpPr>
          <p:nvPr/>
        </p:nvSpPr>
        <p:spPr>
          <a:xfrm>
            <a:off x="998119" y="4394901"/>
            <a:ext cx="3800381" cy="562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sz="2800" dirty="0"/>
              <a:t>d)červená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BEBD15A0-1B9A-4457-1300-273A80B20742}"/>
              </a:ext>
            </a:extLst>
          </p:cNvPr>
          <p:cNvSpPr txBox="1">
            <a:spLocks/>
          </p:cNvSpPr>
          <p:nvPr/>
        </p:nvSpPr>
        <p:spPr>
          <a:xfrm>
            <a:off x="1010536" y="3586331"/>
            <a:ext cx="3800381" cy="4413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sz="2800" dirty="0"/>
              <a:t>b)bílá</a:t>
            </a:r>
          </a:p>
        </p:txBody>
      </p:sp>
      <p:sp>
        <p:nvSpPr>
          <p:cNvPr id="6" name="Zástupný obsah 2">
            <a:extLst>
              <a:ext uri="{FF2B5EF4-FFF2-40B4-BE49-F238E27FC236}">
                <a16:creationId xmlns:a16="http://schemas.microsoft.com/office/drawing/2014/main" id="{79C7AA69-ABCD-CD18-8078-AF57E9C39542}"/>
              </a:ext>
            </a:extLst>
          </p:cNvPr>
          <p:cNvSpPr txBox="1">
            <a:spLocks/>
          </p:cNvSpPr>
          <p:nvPr/>
        </p:nvSpPr>
        <p:spPr>
          <a:xfrm>
            <a:off x="1010536" y="3953556"/>
            <a:ext cx="3800381" cy="4413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sz="2800" dirty="0"/>
              <a:t>c)fialová</a:t>
            </a:r>
          </a:p>
        </p:txBody>
      </p:sp>
      <p:sp>
        <p:nvSpPr>
          <p:cNvPr id="7" name="Zástupný obsah 2">
            <a:extLst>
              <a:ext uri="{FF2B5EF4-FFF2-40B4-BE49-F238E27FC236}">
                <a16:creationId xmlns:a16="http://schemas.microsoft.com/office/drawing/2014/main" id="{E07BEB51-5AE8-41D6-7064-6B2EC4C6EAD2}"/>
              </a:ext>
            </a:extLst>
          </p:cNvPr>
          <p:cNvSpPr txBox="1">
            <a:spLocks/>
          </p:cNvSpPr>
          <p:nvPr/>
        </p:nvSpPr>
        <p:spPr>
          <a:xfrm>
            <a:off x="1010536" y="2315063"/>
            <a:ext cx="10406881" cy="4413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sz="3600" dirty="0"/>
              <a:t>Jaká modifikace fosforu se využívá ve vojenství?</a:t>
            </a:r>
          </a:p>
        </p:txBody>
      </p:sp>
    </p:spTree>
    <p:extLst>
      <p:ext uri="{BB962C8B-B14F-4D97-AF65-F5344CB8AC3E}">
        <p14:creationId xmlns:p14="http://schemas.microsoft.com/office/powerpoint/2010/main" val="3444550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7C6341-F26F-7A69-F2C1-AFDF54671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Otázka 4.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8E23FFB-2F70-3685-BBD0-C4776850E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536" y="3144986"/>
            <a:ext cx="5085464" cy="4413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2800" dirty="0"/>
              <a:t>a)Vulkanizace kaučuku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E0880B04-0818-F20C-8C84-CBEBD49DDF67}"/>
              </a:ext>
            </a:extLst>
          </p:cNvPr>
          <p:cNvSpPr txBox="1">
            <a:spLocks/>
          </p:cNvSpPr>
          <p:nvPr/>
        </p:nvSpPr>
        <p:spPr>
          <a:xfrm>
            <a:off x="998119" y="4394901"/>
            <a:ext cx="3800381" cy="562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sz="2800" dirty="0"/>
              <a:t>d)Polovodiče 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BEBD15A0-1B9A-4457-1300-273A80B20742}"/>
              </a:ext>
            </a:extLst>
          </p:cNvPr>
          <p:cNvSpPr txBox="1">
            <a:spLocks/>
          </p:cNvSpPr>
          <p:nvPr/>
        </p:nvSpPr>
        <p:spPr>
          <a:xfrm>
            <a:off x="1010536" y="3586331"/>
            <a:ext cx="3800381" cy="4413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sz="2800" dirty="0"/>
              <a:t>b)Redukční činidlo</a:t>
            </a:r>
          </a:p>
        </p:txBody>
      </p:sp>
      <p:sp>
        <p:nvSpPr>
          <p:cNvPr id="6" name="Zástupný obsah 2">
            <a:extLst>
              <a:ext uri="{FF2B5EF4-FFF2-40B4-BE49-F238E27FC236}">
                <a16:creationId xmlns:a16="http://schemas.microsoft.com/office/drawing/2014/main" id="{79C7AA69-ABCD-CD18-8078-AF57E9C39542}"/>
              </a:ext>
            </a:extLst>
          </p:cNvPr>
          <p:cNvSpPr txBox="1">
            <a:spLocks/>
          </p:cNvSpPr>
          <p:nvPr/>
        </p:nvSpPr>
        <p:spPr>
          <a:xfrm>
            <a:off x="998118" y="3974909"/>
            <a:ext cx="3800381" cy="4413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sz="2800" dirty="0"/>
              <a:t>c)Ve válce</a:t>
            </a:r>
          </a:p>
        </p:txBody>
      </p:sp>
      <p:sp>
        <p:nvSpPr>
          <p:cNvPr id="7" name="Zástupný obsah 2">
            <a:extLst>
              <a:ext uri="{FF2B5EF4-FFF2-40B4-BE49-F238E27FC236}">
                <a16:creationId xmlns:a16="http://schemas.microsoft.com/office/drawing/2014/main" id="{E07BEB51-5AE8-41D6-7064-6B2EC4C6EAD2}"/>
              </a:ext>
            </a:extLst>
          </p:cNvPr>
          <p:cNvSpPr txBox="1">
            <a:spLocks/>
          </p:cNvSpPr>
          <p:nvPr/>
        </p:nvSpPr>
        <p:spPr>
          <a:xfrm>
            <a:off x="1010536" y="2315063"/>
            <a:ext cx="9853207" cy="4413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sz="3600" dirty="0"/>
              <a:t>Na co se využívá síra?</a:t>
            </a:r>
          </a:p>
        </p:txBody>
      </p:sp>
    </p:spTree>
    <p:extLst>
      <p:ext uri="{BB962C8B-B14F-4D97-AF65-F5344CB8AC3E}">
        <p14:creationId xmlns:p14="http://schemas.microsoft.com/office/powerpoint/2010/main" val="2147598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7C6341-F26F-7A69-F2C1-AFDF54671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Otázka 5.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8E23FFB-2F70-3685-BBD0-C4776850E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536" y="3144986"/>
            <a:ext cx="3800381" cy="4413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2800" dirty="0"/>
              <a:t>a)Červenou 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E0880B04-0818-F20C-8C84-CBEBD49DDF67}"/>
              </a:ext>
            </a:extLst>
          </p:cNvPr>
          <p:cNvSpPr txBox="1">
            <a:spLocks/>
          </p:cNvSpPr>
          <p:nvPr/>
        </p:nvSpPr>
        <p:spPr>
          <a:xfrm>
            <a:off x="998119" y="4394901"/>
            <a:ext cx="3800381" cy="562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sz="2800" dirty="0"/>
              <a:t>d)Modrou 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BEBD15A0-1B9A-4457-1300-273A80B20742}"/>
              </a:ext>
            </a:extLst>
          </p:cNvPr>
          <p:cNvSpPr txBox="1">
            <a:spLocks/>
          </p:cNvSpPr>
          <p:nvPr/>
        </p:nvSpPr>
        <p:spPr>
          <a:xfrm>
            <a:off x="1010536" y="3586331"/>
            <a:ext cx="3800381" cy="4413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sz="2800" dirty="0"/>
              <a:t>b)Duhovou </a:t>
            </a:r>
          </a:p>
        </p:txBody>
      </p:sp>
      <p:sp>
        <p:nvSpPr>
          <p:cNvPr id="6" name="Zástupný obsah 2">
            <a:extLst>
              <a:ext uri="{FF2B5EF4-FFF2-40B4-BE49-F238E27FC236}">
                <a16:creationId xmlns:a16="http://schemas.microsoft.com/office/drawing/2014/main" id="{79C7AA69-ABCD-CD18-8078-AF57E9C39542}"/>
              </a:ext>
            </a:extLst>
          </p:cNvPr>
          <p:cNvSpPr txBox="1">
            <a:spLocks/>
          </p:cNvSpPr>
          <p:nvPr/>
        </p:nvSpPr>
        <p:spPr>
          <a:xfrm>
            <a:off x="998118" y="3990616"/>
            <a:ext cx="3800381" cy="4413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sz="2800" dirty="0"/>
              <a:t>c)Nehoří </a:t>
            </a:r>
          </a:p>
        </p:txBody>
      </p:sp>
      <p:sp>
        <p:nvSpPr>
          <p:cNvPr id="7" name="Zástupný obsah 2">
            <a:extLst>
              <a:ext uri="{FF2B5EF4-FFF2-40B4-BE49-F238E27FC236}">
                <a16:creationId xmlns:a16="http://schemas.microsoft.com/office/drawing/2014/main" id="{E07BEB51-5AE8-41D6-7064-6B2EC4C6EAD2}"/>
              </a:ext>
            </a:extLst>
          </p:cNvPr>
          <p:cNvSpPr txBox="1">
            <a:spLocks/>
          </p:cNvSpPr>
          <p:nvPr/>
        </p:nvSpPr>
        <p:spPr>
          <a:xfrm>
            <a:off x="1010536" y="2315063"/>
            <a:ext cx="9853207" cy="4413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sz="3600" dirty="0"/>
              <a:t>Jakou barvou hoří síra?</a:t>
            </a:r>
          </a:p>
        </p:txBody>
      </p:sp>
    </p:spTree>
    <p:extLst>
      <p:ext uri="{BB962C8B-B14F-4D97-AF65-F5344CB8AC3E}">
        <p14:creationId xmlns:p14="http://schemas.microsoft.com/office/powerpoint/2010/main" val="1429153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5" presetClass="emph" presetSubtype="0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7C6341-F26F-7A69-F2C1-AFDF54671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Otázka 6.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8E23FFB-2F70-3685-BBD0-C4776850E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536" y="3144986"/>
            <a:ext cx="3800381" cy="4413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2800" dirty="0"/>
              <a:t>a)S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E0880B04-0818-F20C-8C84-CBEBD49DDF67}"/>
              </a:ext>
            </a:extLst>
          </p:cNvPr>
          <p:cNvSpPr txBox="1">
            <a:spLocks/>
          </p:cNvSpPr>
          <p:nvPr/>
        </p:nvSpPr>
        <p:spPr>
          <a:xfrm>
            <a:off x="998119" y="4394901"/>
            <a:ext cx="3800381" cy="562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sz="2800" dirty="0"/>
              <a:t>d)Se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BEBD15A0-1B9A-4457-1300-273A80B20742}"/>
              </a:ext>
            </a:extLst>
          </p:cNvPr>
          <p:cNvSpPr txBox="1">
            <a:spLocks/>
          </p:cNvSpPr>
          <p:nvPr/>
        </p:nvSpPr>
        <p:spPr>
          <a:xfrm>
            <a:off x="1010536" y="3586331"/>
            <a:ext cx="3800381" cy="4413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sz="2800" dirty="0"/>
              <a:t>b)F</a:t>
            </a:r>
          </a:p>
        </p:txBody>
      </p:sp>
      <p:sp>
        <p:nvSpPr>
          <p:cNvPr id="6" name="Zástupný obsah 2">
            <a:extLst>
              <a:ext uri="{FF2B5EF4-FFF2-40B4-BE49-F238E27FC236}">
                <a16:creationId xmlns:a16="http://schemas.microsoft.com/office/drawing/2014/main" id="{79C7AA69-ABCD-CD18-8078-AF57E9C39542}"/>
              </a:ext>
            </a:extLst>
          </p:cNvPr>
          <p:cNvSpPr txBox="1">
            <a:spLocks/>
          </p:cNvSpPr>
          <p:nvPr/>
        </p:nvSpPr>
        <p:spPr>
          <a:xfrm>
            <a:off x="1010536" y="3953556"/>
            <a:ext cx="3800381" cy="4413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sz="2800" dirty="0"/>
              <a:t>c)</a:t>
            </a:r>
            <a:r>
              <a:rPr lang="cs-CZ" sz="2800" dirty="0" err="1"/>
              <a:t>Fe</a:t>
            </a:r>
            <a:endParaRPr lang="cs-CZ" sz="2800" dirty="0"/>
          </a:p>
        </p:txBody>
      </p:sp>
      <p:sp>
        <p:nvSpPr>
          <p:cNvPr id="7" name="Zástupný obsah 2">
            <a:extLst>
              <a:ext uri="{FF2B5EF4-FFF2-40B4-BE49-F238E27FC236}">
                <a16:creationId xmlns:a16="http://schemas.microsoft.com/office/drawing/2014/main" id="{E07BEB51-5AE8-41D6-7064-6B2EC4C6EAD2}"/>
              </a:ext>
            </a:extLst>
          </p:cNvPr>
          <p:cNvSpPr txBox="1">
            <a:spLocks/>
          </p:cNvSpPr>
          <p:nvPr/>
        </p:nvSpPr>
        <p:spPr>
          <a:xfrm>
            <a:off x="1010536" y="2315063"/>
            <a:ext cx="9853207" cy="4413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sz="3600" dirty="0"/>
              <a:t>Jaká je značka selenu?</a:t>
            </a:r>
          </a:p>
        </p:txBody>
      </p:sp>
    </p:spTree>
    <p:extLst>
      <p:ext uri="{BB962C8B-B14F-4D97-AF65-F5344CB8AC3E}">
        <p14:creationId xmlns:p14="http://schemas.microsoft.com/office/powerpoint/2010/main" val="2017045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9C45F024-2468-4D8A-9E11-BB2B1E0A3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0B1916C-AFE7-EE16-7D98-C6D734AC6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dirty="0" err="1"/>
              <a:t>Zápis</a:t>
            </a:r>
            <a:endParaRPr lang="en-US" sz="72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6572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C26514-0048-5D11-C3F0-006FDB5FD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Fosfor – obecný přehled - využití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D84065-B3F0-2114-AEDE-0DA9DFA65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046" y="2359655"/>
            <a:ext cx="5472586" cy="4498345"/>
          </a:xfrm>
        </p:spPr>
        <p:txBody>
          <a:bodyPr>
            <a:normAutofit fontScale="92500"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značka P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nekov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objevení 1669, </a:t>
            </a:r>
            <a:r>
              <a:rPr lang="cs-CZ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Hannig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Brand pomocí destilací moči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vypadá jak prášek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toxický, korozivní nebo žíravé, hořlavé, nebezpečné pro životní prostředí (záleží o jakou modifikaci se jedná)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výskyt ve sloučeninách (nejvíc v Apatitu)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11. nejčastější prvek v zemské kůře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 zubech, kostech, moči, DNA, RNA, buněčná membrána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Výroba pomocí redukce fosforečnanu koksem</a:t>
            </a:r>
            <a:endParaRPr lang="cs-CZ" sz="2800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693C5BCE-E650-5E09-8352-6BA44ABBD996}"/>
              </a:ext>
            </a:extLst>
          </p:cNvPr>
          <p:cNvSpPr txBox="1"/>
          <p:nvPr/>
        </p:nvSpPr>
        <p:spPr>
          <a:xfrm>
            <a:off x="6551634" y="2478024"/>
            <a:ext cx="6094602" cy="3896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</a:pPr>
            <a:r>
              <a:rPr lang="cs-CZ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Bílý fosfor:</a:t>
            </a:r>
            <a:endParaRPr lang="cs-CZ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Nástrahy na krysy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Zdravotnictví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Válka (letecké pumy, dělostřelecké granáty)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Zápalky</a:t>
            </a:r>
          </a:p>
          <a:p>
            <a:pPr marL="457200">
              <a:lnSpc>
                <a:spcPct val="115000"/>
              </a:lnSpc>
            </a:pPr>
            <a:r>
              <a:rPr lang="cs-CZ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Červený fosfor:</a:t>
            </a:r>
            <a:endParaRPr lang="cs-CZ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Pyrotechnika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Zpomalovač hoření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Redukční činidlo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Zápalky</a:t>
            </a:r>
          </a:p>
          <a:p>
            <a:pPr marL="457200">
              <a:lnSpc>
                <a:spcPct val="115000"/>
              </a:lnSpc>
            </a:pPr>
            <a:r>
              <a:rPr lang="cs-CZ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Černý fosfor:</a:t>
            </a:r>
            <a:endParaRPr lang="cs-CZ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cs-CZ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Výroba polovodičů</a:t>
            </a:r>
            <a:endParaRPr lang="cs-CZ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375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321418-0BD8-1E8F-9C59-07F6D3466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Fosfor – sloučeniny - využití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F2A4B80A-BB89-EC74-D0CD-223E356127D7}"/>
              </a:ext>
            </a:extLst>
          </p:cNvPr>
          <p:cNvSpPr txBox="1"/>
          <p:nvPr/>
        </p:nvSpPr>
        <p:spPr>
          <a:xfrm>
            <a:off x="279983" y="2767836"/>
            <a:ext cx="6372488" cy="3964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</a:pPr>
            <a:r>
              <a:rPr lang="cs-CZ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Kyselina fosforečná (H₃PO₄):</a:t>
            </a:r>
            <a:r>
              <a:rPr lang="cs-CZ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výroba ropy, úprava kovů, bezbarvá krystalická látka</a:t>
            </a:r>
          </a:p>
          <a:p>
            <a:pPr marL="457200">
              <a:lnSpc>
                <a:spcPct val="115000"/>
              </a:lnSpc>
            </a:pPr>
            <a:r>
              <a:rPr lang="cs-CZ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Oxid Fosforečný (P₄O₁₀): </a:t>
            </a:r>
            <a:r>
              <a:rPr lang="cs-CZ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dehydratační činidlo, bezbarvá krystalická látka</a:t>
            </a:r>
          </a:p>
          <a:p>
            <a:pPr marL="457200">
              <a:lnSpc>
                <a:spcPct val="115000"/>
              </a:lnSpc>
            </a:pPr>
            <a:r>
              <a:rPr lang="cs-CZ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Oxid Fosforitý (P</a:t>
            </a:r>
            <a:r>
              <a:rPr lang="cs-CZ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₂</a:t>
            </a:r>
            <a:r>
              <a:rPr lang="cs-CZ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O₆): </a:t>
            </a:r>
            <a:r>
              <a:rPr lang="cs-CZ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bílá jedovatá látka, anorganická sloučenina</a:t>
            </a:r>
          </a:p>
          <a:p>
            <a:pPr marL="457200">
              <a:lnSpc>
                <a:spcPct val="115000"/>
              </a:lnSpc>
            </a:pPr>
            <a:r>
              <a:rPr lang="cs-CZ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Organofosfát: </a:t>
            </a:r>
            <a:r>
              <a:rPr lang="cs-CZ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nejčetnější, v DNA a RNA, rozpouštědlo, nebezpečný</a:t>
            </a:r>
          </a:p>
          <a:p>
            <a:pPr marL="457200">
              <a:lnSpc>
                <a:spcPct val="115000"/>
              </a:lnSpc>
              <a:spcAft>
                <a:spcPts val="1000"/>
              </a:spcAft>
            </a:pPr>
            <a:r>
              <a:rPr lang="cs-CZ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Chlorid Fosforitý (</a:t>
            </a:r>
            <a:r>
              <a:rPr lang="cs-CZ" sz="20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PCl</a:t>
            </a:r>
            <a:r>
              <a:rPr lang="cs-CZ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₃): </a:t>
            </a:r>
            <a:r>
              <a:rPr lang="cs-CZ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fosfor a chlór dohromady, výroba anorganických sloučenin, toxický, bezbarvá kapalina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2B8B221D-F116-ACB9-029D-893F68CA932C}"/>
              </a:ext>
            </a:extLst>
          </p:cNvPr>
          <p:cNvSpPr txBox="1"/>
          <p:nvPr/>
        </p:nvSpPr>
        <p:spPr>
          <a:xfrm>
            <a:off x="6937527" y="2767836"/>
            <a:ext cx="4479889" cy="2045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buSzPts val="1100"/>
              <a:buFont typeface="Symbol" panose="05050102010706020507" pitchFamily="18" charset="2"/>
              <a:buChar char=""/>
            </a:pPr>
            <a:r>
              <a:rPr lang="cs-C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Pyrotechnika (kdysi na střelný prach)</a:t>
            </a:r>
          </a:p>
          <a:p>
            <a:pPr marL="342900" lvl="0" indent="-342900">
              <a:lnSpc>
                <a:spcPct val="115000"/>
              </a:lnSpc>
              <a:buSzPts val="1100"/>
              <a:buFont typeface="Symbol" panose="05050102010706020507" pitchFamily="18" charset="2"/>
              <a:buChar char=""/>
            </a:pPr>
            <a:r>
              <a:rPr lang="cs-C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Vulkanizace (pryž)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100"/>
              <a:buFont typeface="Symbol" panose="05050102010706020507" pitchFamily="18" charset="2"/>
              <a:buChar char=""/>
            </a:pPr>
            <a:r>
              <a:rPr lang="cs-C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Prostředek proti plísním</a:t>
            </a:r>
          </a:p>
        </p:txBody>
      </p:sp>
    </p:spTree>
    <p:extLst>
      <p:ext uri="{BB962C8B-B14F-4D97-AF65-F5344CB8AC3E}">
        <p14:creationId xmlns:p14="http://schemas.microsoft.com/office/powerpoint/2010/main" val="4663305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0A0051B-75F3-9E2E-D6AB-68914E274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Fosfor - modifikace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F573AEC-3B98-AAFD-B02A-E756FD0C8E15}"/>
              </a:ext>
            </a:extLst>
          </p:cNvPr>
          <p:cNvSpPr txBox="1"/>
          <p:nvPr/>
        </p:nvSpPr>
        <p:spPr>
          <a:xfrm>
            <a:off x="309903" y="3038700"/>
            <a:ext cx="6094602" cy="2091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</a:pPr>
            <a:r>
              <a:rPr lang="cs-CZ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Bílý fosfor: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silně reaguje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měkký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samovznětlivý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jedovatý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uchovává se ve vodě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světélkuje (luminiscence)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77401179-896F-998A-B90D-A402D047F7F0}"/>
              </a:ext>
            </a:extLst>
          </p:cNvPr>
          <p:cNvSpPr txBox="1"/>
          <p:nvPr/>
        </p:nvSpPr>
        <p:spPr>
          <a:xfrm>
            <a:off x="3415927" y="3038700"/>
            <a:ext cx="4419470" cy="240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</a:pPr>
            <a:r>
              <a:rPr lang="cs-CZ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černý fosfor: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není tolik reaktivní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leskne se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tepelně i elektricky vodivý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vyrábí se z červeného fosforu pod tlakem a vysokou teplotou 400 </a:t>
            </a:r>
            <a:r>
              <a:rPr lang="cs-CZ" sz="18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℃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termodynamicky stabilní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5CFA1496-909E-D482-90C1-E7E4273CDFD0}"/>
              </a:ext>
            </a:extLst>
          </p:cNvPr>
          <p:cNvSpPr txBox="1"/>
          <p:nvPr/>
        </p:nvSpPr>
        <p:spPr>
          <a:xfrm>
            <a:off x="7662730" y="3038700"/>
            <a:ext cx="4529270" cy="1770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</a:pPr>
            <a:r>
              <a:rPr lang="cs-CZ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červený fosfor: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vyrábí se, když se bílý fosfor zahřeje na 250</a:t>
            </a:r>
            <a:r>
              <a:rPr lang="cs-CZ" sz="18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℃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stálý nereaguje tolik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bezpečný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9219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C148165-B73D-803F-7A67-6ED77312F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Fosfor – vojenství - minerály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2B9E54D3-5EA6-7E76-AF40-8AE4B2869F76}"/>
              </a:ext>
            </a:extLst>
          </p:cNvPr>
          <p:cNvSpPr txBox="1"/>
          <p:nvPr/>
        </p:nvSpPr>
        <p:spPr>
          <a:xfrm>
            <a:off x="788398" y="2350444"/>
            <a:ext cx="5662737" cy="4027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bílý fosfor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způsobuje vážné popáleniny, a znetvoření tkáně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„chemická zbraň hromadného ničení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endParaRPr lang="cs-CZ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cs-C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Poprvé použit v 19. stol. bratrstvem </a:t>
            </a:r>
            <a:r>
              <a:rPr lang="cs-CZ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Feniánů</a:t>
            </a:r>
            <a:r>
              <a:rPr lang="cs-C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pak ještě v 2. světové válce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3166588C-83AA-FDBC-0B44-5A3B34550949}"/>
              </a:ext>
            </a:extLst>
          </p:cNvPr>
          <p:cNvSpPr txBox="1"/>
          <p:nvPr/>
        </p:nvSpPr>
        <p:spPr>
          <a:xfrm>
            <a:off x="5944466" y="2486998"/>
            <a:ext cx="5459136" cy="3257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</a:pPr>
            <a:r>
              <a:rPr lang="cs-CZ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Apatit (Ca₅(PO₄)): </a:t>
            </a:r>
            <a:r>
              <a:rPr lang="cs-CZ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fosforečnan vápenatý, výroba fosforu a jeho sloučenin, těží se v Rusku, USA a Maroku, tvrdost 5</a:t>
            </a:r>
          </a:p>
          <a:p>
            <a:pPr marL="457200">
              <a:lnSpc>
                <a:spcPct val="115000"/>
              </a:lnSpc>
            </a:pPr>
            <a:r>
              <a:rPr lang="cs-CZ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Fluorapatit (Ca₅(PO₄)₃F: </a:t>
            </a:r>
            <a:r>
              <a:rPr lang="cs-CZ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krystalická látka, výskyt v zubech a ve vyvřelinách, vysoké pH 4,5, minerální skupina apatitu</a:t>
            </a:r>
          </a:p>
          <a:p>
            <a:pPr marL="457200">
              <a:lnSpc>
                <a:spcPct val="115000"/>
              </a:lnSpc>
              <a:spcAft>
                <a:spcPts val="1000"/>
              </a:spcAft>
            </a:pPr>
            <a:r>
              <a:rPr lang="cs-CZ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Fosforit(P₂O₁₀): </a:t>
            </a:r>
            <a:r>
              <a:rPr lang="cs-CZ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využití jako hnojivo, krmivo pro zvířata, konzervační látky, těží se v USA a na Slovensku, sedimentární (destrukce hornin)</a:t>
            </a:r>
          </a:p>
        </p:txBody>
      </p:sp>
    </p:spTree>
    <p:extLst>
      <p:ext uri="{BB962C8B-B14F-4D97-AF65-F5344CB8AC3E}">
        <p14:creationId xmlns:p14="http://schemas.microsoft.com/office/powerpoint/2010/main" val="400062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0FAB23-315B-4C30-8F9A-751048363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Fosfor – biogenní prvky - potraviny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F6492DE-607C-2C3F-DFC4-91B25DAFCF0F}"/>
              </a:ext>
            </a:extLst>
          </p:cNvPr>
          <p:cNvSpPr txBox="1"/>
          <p:nvPr/>
        </p:nvSpPr>
        <p:spPr>
          <a:xfrm>
            <a:off x="731940" y="3084482"/>
            <a:ext cx="5031297" cy="2045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4572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cs-C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 zubech, kostech, membráně, ATP/ADP(energie pro buňky), DNA, RNA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B94A2101-C9A6-28BD-61F3-88BCE521C481}"/>
              </a:ext>
            </a:extLst>
          </p:cNvPr>
          <p:cNvSpPr txBox="1"/>
          <p:nvPr/>
        </p:nvSpPr>
        <p:spPr>
          <a:xfrm>
            <a:off x="5847295" y="3429000"/>
            <a:ext cx="6094602" cy="119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4572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cs-CZ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Nejméně:</a:t>
            </a:r>
            <a:r>
              <a:rPr lang="cs-CZ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 cizrně</a:t>
            </a:r>
          </a:p>
          <a:p>
            <a:pPr marL="914400" indent="-4572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cs-CZ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Nejvíce:</a:t>
            </a:r>
            <a:r>
              <a:rPr lang="cs-CZ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 Coca-Cole a sýru</a:t>
            </a:r>
          </a:p>
        </p:txBody>
      </p:sp>
    </p:spTree>
    <p:extLst>
      <p:ext uri="{BB962C8B-B14F-4D97-AF65-F5344CB8AC3E}">
        <p14:creationId xmlns:p14="http://schemas.microsoft.com/office/powerpoint/2010/main" val="22084077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8C68CC0-B9CC-5C4C-4E93-553162CA1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Síra – obecný přehled - výskyt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DF75C193-F6B3-8F24-8471-7404C8992705}"/>
              </a:ext>
            </a:extLst>
          </p:cNvPr>
          <p:cNvSpPr txBox="1"/>
          <p:nvPr/>
        </p:nvSpPr>
        <p:spPr>
          <a:xfrm>
            <a:off x="1115568" y="2297936"/>
            <a:ext cx="5125841" cy="4031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Značka: </a:t>
            </a:r>
            <a:r>
              <a:rPr lang="cs-CZ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Latinsky:</a:t>
            </a:r>
            <a:r>
              <a:rPr lang="cs-CZ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cs-CZ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Sulphur</a:t>
            </a:r>
            <a:endParaRPr lang="cs-CZ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Nekov, žlutá krystalická látka, tvrdost 2, pevná látka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Dokáže se slučovat s látkami vyjma vzácné plyny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Hoří modře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cs-CZ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Modifikace: </a:t>
            </a:r>
            <a:r>
              <a:rPr lang="cs-CZ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kosočtverečná, monoklinická, plastická, koloidní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5C374C62-BB75-7FBB-0453-BBA1DB8BD8D4}"/>
              </a:ext>
            </a:extLst>
          </p:cNvPr>
          <p:cNvSpPr txBox="1"/>
          <p:nvPr/>
        </p:nvSpPr>
        <p:spPr>
          <a:xfrm>
            <a:off x="6375801" y="2297936"/>
            <a:ext cx="4759354" cy="4314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 zemské kůře je vzácný (0,003 %) i mimo zemi (900 mg/l)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Těžba okolo sopek (Polsko, Kazachstán, USA)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Vyskytuje se pomocí Sulfidu, sfaleritu, pyritu, galenitu, cinabaritu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cs-CZ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 vzduchu, když nastane nějaká vulkanická činnost, nebo zplodiny aut</a:t>
            </a:r>
          </a:p>
        </p:txBody>
      </p:sp>
    </p:spTree>
    <p:extLst>
      <p:ext uri="{BB962C8B-B14F-4D97-AF65-F5344CB8AC3E}">
        <p14:creationId xmlns:p14="http://schemas.microsoft.com/office/powerpoint/2010/main" val="3598310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09C890-3A44-218F-5152-167A59DFF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Síra - </a:t>
            </a:r>
            <a:r>
              <a:rPr lang="cs-CZ" dirty="0" err="1"/>
              <a:t>sloučniny</a:t>
            </a:r>
            <a:endParaRPr lang="cs-CZ" dirty="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625D8B92-AB9B-3856-F43C-D0FA5939C705}"/>
              </a:ext>
            </a:extLst>
          </p:cNvPr>
          <p:cNvSpPr txBox="1"/>
          <p:nvPr/>
        </p:nvSpPr>
        <p:spPr>
          <a:xfrm>
            <a:off x="639660" y="2124778"/>
            <a:ext cx="8529507" cy="4599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1000"/>
              </a:spcAft>
            </a:pPr>
            <a:r>
              <a:rPr lang="cs-CZ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Thioly</a:t>
            </a:r>
            <a:r>
              <a:rPr lang="cs-CZ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přezdívá se </a:t>
            </a:r>
            <a:r>
              <a:rPr lang="cs-CZ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Thioalkoholy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vyskytuje se v ropě a uhlí, využití v zemním plynu a lékařství proti otravě, organická sloučenina, vzniká, když se alkoholový atom kyslíku nahradí sírou, v pevném skupenství je krystalická a silně zapáchá</a:t>
            </a:r>
          </a:p>
          <a:p>
            <a:pPr marL="228600">
              <a:lnSpc>
                <a:spcPct val="115000"/>
              </a:lnSpc>
              <a:spcAft>
                <a:spcPts val="1000"/>
              </a:spcAft>
            </a:pPr>
            <a:r>
              <a:rPr lang="cs-CZ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Sulfan: 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vzorec: H₂S, nazývá se také jako sirovodík, anorganická sloučenina, vyskytuje se v sopečných plynech, využívá se v analytické chemii také v hutnictví a zpracování deuteria, příprava nastává, když zareaguje sulfid železnatý a chlorovodík nebo také sloučením vodíku a síry</a:t>
            </a:r>
          </a:p>
          <a:p>
            <a:pPr marL="228600">
              <a:lnSpc>
                <a:spcPct val="115000"/>
              </a:lnSpc>
              <a:spcAft>
                <a:spcPts val="1000"/>
              </a:spcAft>
            </a:pPr>
            <a:r>
              <a:rPr lang="cs-CZ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Oxid siřičitý: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vzorec: SO₂, připravuje se spalováním síry a pražením pyritu, vyskytuje se v sopečných plynech, využívá se jako surovina pro výrobu kyseliny sírové také jako desinfekce nebo jako konzervační činidlo, je to bezbarvá kapalina ale také jako plyn</a:t>
            </a:r>
          </a:p>
          <a:p>
            <a:pPr marL="228600">
              <a:lnSpc>
                <a:spcPct val="115000"/>
              </a:lnSpc>
              <a:spcAft>
                <a:spcPts val="1000"/>
              </a:spcAft>
            </a:pPr>
            <a:r>
              <a:rPr lang="cs-CZ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Oxid sírový: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vzorec: SO₃, připravuje se oxidací oxidu siřičitého, nebezpečný pro životní prostředí, protože způsobuje kyselé deště, obecně velmi nebezpečný pro přírodu i pro člověka, využití zas na kyselinu sírovou, vzhled: bezbarvá olejová kapalina</a:t>
            </a:r>
          </a:p>
        </p:txBody>
      </p:sp>
    </p:spTree>
    <p:extLst>
      <p:ext uri="{BB962C8B-B14F-4D97-AF65-F5344CB8AC3E}">
        <p14:creationId xmlns:p14="http://schemas.microsoft.com/office/powerpoint/2010/main" val="38738315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ECBE496-2A28-E865-0699-DCAB00B3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Síra – biogenní prvky - potraviny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7CA1BE2D-0FAA-C624-C2FB-1C0AF6D9BADB}"/>
              </a:ext>
            </a:extLst>
          </p:cNvPr>
          <p:cNvSpPr txBox="1"/>
          <p:nvPr/>
        </p:nvSpPr>
        <p:spPr>
          <a:xfrm>
            <a:off x="765495" y="2595822"/>
            <a:ext cx="7849999" cy="303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Vyskytuje se v molekulách organismů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 bílkovinách neboli aminokyseliny (cystein, methionin), 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 člověka v kůži, nehtech a vlasech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cs-C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Tělo využívá síru k oxidací živin, syntéze kolagenu, tvorbu tkání a k buněčnému dýchání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6C2D14D6-CF9C-B089-DDC4-E8B1B9579556}"/>
              </a:ext>
            </a:extLst>
          </p:cNvPr>
          <p:cNvSpPr txBox="1"/>
          <p:nvPr/>
        </p:nvSpPr>
        <p:spPr>
          <a:xfrm>
            <a:off x="765495" y="5632166"/>
            <a:ext cx="6094602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cs-C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Největší výskyt v síru a vajíčkách</a:t>
            </a:r>
          </a:p>
        </p:txBody>
      </p:sp>
    </p:spTree>
    <p:extLst>
      <p:ext uri="{BB962C8B-B14F-4D97-AF65-F5344CB8AC3E}">
        <p14:creationId xmlns:p14="http://schemas.microsoft.com/office/powerpoint/2010/main" val="33248492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288196-7469-9293-2ECA-8369C0AF8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Selen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DE12C6C-7626-6B23-86BF-77F572D7641B}"/>
              </a:ext>
            </a:extLst>
          </p:cNvPr>
          <p:cNvSpPr txBox="1"/>
          <p:nvPr/>
        </p:nvSpPr>
        <p:spPr>
          <a:xfrm>
            <a:off x="790662" y="2432284"/>
            <a:ext cx="7933888" cy="3465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Značka:</a:t>
            </a:r>
            <a:r>
              <a:rPr lang="cs-CZ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Latinsky:</a:t>
            </a:r>
            <a:r>
              <a:rPr lang="cs-CZ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cs-CZ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Selenium</a:t>
            </a:r>
            <a:endParaRPr lang="cs-CZ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Má šedou nebo černou barvu, pevná látka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Vyskytuje se v 6 alotropických modifikací nebo jako vedlejší produkt spálením síry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Vzácný jak na Zemi, tak i ve vesmíru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cs-CZ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Používá se na Fotočlánky, v dřívějších dobách se používal v laserových tiskárnách</a:t>
            </a:r>
          </a:p>
        </p:txBody>
      </p:sp>
    </p:spTree>
    <p:extLst>
      <p:ext uri="{BB962C8B-B14F-4D97-AF65-F5344CB8AC3E}">
        <p14:creationId xmlns:p14="http://schemas.microsoft.com/office/powerpoint/2010/main" val="26119180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B763CC3-032F-4F82-27C7-D3B361853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citace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C5B0D39-B877-D1A7-56D5-CBFFCD71F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672" y="1795245"/>
            <a:ext cx="11082025" cy="4999838"/>
          </a:xfrm>
        </p:spPr>
        <p:txBody>
          <a:bodyPr>
            <a:normAutofit fontScale="25000" lnSpcReduction="20000"/>
          </a:bodyPr>
          <a:lstStyle/>
          <a:p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KAREL. WIKIMEDIA FOUNDATION, INC.. Fosfor [online]. 10.1.2005 [cit. 30.10.2022]. Dostupný pod licencí </a:t>
            </a:r>
            <a:r>
              <a:rPr lang="cs-CZ" b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2"/>
              </a:rPr>
              <a:t>https://cs.wikipedia.org/wiki/Fosfor</a:t>
            </a:r>
            <a:endParaRPr lang="cs-CZ" b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FOLLER, Jan. Fosfor: Fosfor žhavé téma, které „hýbe“ Evropou, ale v ČR jsme stále schopni je účinně uchladit [online]. 1.1.2007 [cit. 30.10.2022]. Dostupný na WWW: 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3"/>
              </a:rPr>
              <a:t>https://vodnihospodarstvi.cz/fosfor/</a:t>
            </a:r>
            <a:endParaRPr lang="cs-CZ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ŠOBÁŇ, Petr. Fosfor [online]. [cit. 30.10.2022]. Dostupný na WWW: 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4"/>
              </a:rPr>
              <a:t>https://slideplayer.cz/slide/3219526/</a:t>
            </a:r>
            <a:endParaRPr lang="cs-CZ" b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DOW, </a:t>
            </a:r>
            <a:r>
              <a:rPr lang="cs-CZ" b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Travis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J. </a:t>
            </a:r>
            <a:r>
              <a:rPr lang="cs-CZ" b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Hennig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Brand [online]. 28. 12. 2013 [cit. 1.11.2022]. Dostupný na WWW: 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5"/>
              </a:rPr>
              <a:t>https://shows.acast.com/historyofalchemy/episodes/hennig-brand</a:t>
            </a:r>
            <a:endParaRPr lang="cs-CZ" b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85.71.139.144. WIKIPEDIA FOUNDATION, INC.. </a:t>
            </a:r>
            <a:r>
              <a:rPr lang="cs-CZ" b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Hennig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Brand [online]. 30. 3. 2006 [cit. 1.11.2022]. Dostupný pod licencí </a:t>
            </a:r>
            <a:r>
              <a:rPr lang="cs-CZ" b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6"/>
              </a:rPr>
              <a:t>https://cs.wikipedia.org/wiki/Hennig_Brand</a:t>
            </a:r>
            <a:endParaRPr lang="cs-CZ" b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LUK~CSWIKI. WIKIPEDIA FOUNDATION, INC.. Zpomalovač hoření [online]. 2.11.2008 [cit. 2.11.2022]. Dostupný pod licencí </a:t>
            </a:r>
            <a:r>
              <a:rPr lang="cs-CZ" b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7"/>
              </a:rPr>
              <a:t>https://cs.wikipedia.org/wiki/Zpomalova%C4%8D_ho%C5%99en%C3%AD</a:t>
            </a:r>
            <a:endParaRPr lang="cs-CZ" b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HUGO. WIKIPEDIA FOUNDATION, INC.. Alotropické modifikace fosforu [online]. 22.3.2020 [cit. 2.11.2022]. Dostupný pod licencí </a:t>
            </a:r>
            <a:r>
              <a:rPr lang="cs-CZ" b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8"/>
              </a:rPr>
              <a:t>https://cs.wikipedia.org/wiki/Alotropick%C3%A9_modifikace_fosforu</a:t>
            </a:r>
            <a:endParaRPr lang="cs-CZ" b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84.42.198.162. WIKIPEDIA FOUNDATION, INC.. Kyselina fosforečná [online]. 18.1.202006 [cit. 4.11.2022]. Dostupný pod licencí </a:t>
            </a:r>
            <a:r>
              <a:rPr lang="cs-CZ" b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9"/>
              </a:rPr>
              <a:t>https://cs.wikipedia.org/w/index.php?title=Kyselina_fosfore%C4%8Dn%C3%A1&amp;action=history&amp;dir=prev</a:t>
            </a:r>
            <a:endParaRPr lang="cs-CZ" b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ZIRLAND. WIKIPEDIA FOUNDATION, INC.. Oxid fosforečný [online]. 25.4.2006 [cit. 4.11.2022]. Dostupný pod licencí </a:t>
            </a:r>
            <a:r>
              <a:rPr lang="cs-CZ" b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0"/>
              </a:rPr>
              <a:t>https://cs.wikipedia.org/w/index.php?title=Oxid_fosfore%C4%8Dn%C3%BD&amp;action=history&amp;dir=prev</a:t>
            </a:r>
            <a:endParaRPr lang="cs-CZ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LUK~CSWIKI. WIKIPEDIA FOUNDATION, INC.. Chlorid fosforitý [online]. 17.8.2009 [cit. 4.11.2022]. Dostupný pod licencí </a:t>
            </a:r>
            <a:r>
              <a:rPr lang="cs-CZ" b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1"/>
              </a:rPr>
              <a:t>https://cs.wikipedia.org/wiki/Chlorid_fosforit%C3%BD</a:t>
            </a:r>
            <a:endParaRPr lang="cs-CZ" b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88.100.63.188. WIKIPEDIA FOUNDATION, INC.. Oxid fosforitý [online]. 2.3.2008 [cit. 4.11.2022]. Dostupný pod licencí </a:t>
            </a:r>
            <a:r>
              <a:rPr lang="cs-CZ" b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2"/>
              </a:rPr>
              <a:t>https://cs.wikipedia.org/wiki/Oxid_fosforit%C3%BD</a:t>
            </a:r>
            <a:endParaRPr lang="cs-CZ" b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88.102.212.109. WIKIPEDIA FOUNDATION, INC.. Organofosfáty [online]. 13.6.2007 [cit. 4.11.2022]. Dostupný pod licencí </a:t>
            </a:r>
            <a:r>
              <a:rPr lang="cs-CZ" b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3"/>
              </a:rPr>
              <a:t>https://cs.wikipedia.org/wiki/Organofosf%C3%A1ty</a:t>
            </a:r>
            <a:endParaRPr lang="cs-CZ" b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fosfor: Fosfor, </a:t>
            </a:r>
            <a:r>
              <a:rPr lang="cs-CZ" b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phosphorus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 15P [online]. [cit. 4.11.2022]. Dostupný na WWW: 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4"/>
              </a:rPr>
              <a:t>https://eluc.ikap.cz/verejne/lekce/2336</a:t>
            </a:r>
            <a:endParaRPr lang="cs-CZ" b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fosfor [online]. [cit. 4.11.2022]. Dostupný na WWW: 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5"/>
              </a:rPr>
              <a:t>https://suroviny-polotovary.hyperinzerce.cz/chemicke-latky/inzerat/96981565666338127381-cerveny-fosfor-nabidka-hlavni-mesto-praha</a:t>
            </a:r>
            <a:endParaRPr lang="cs-CZ" b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b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Properties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of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Phosphorus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4.11.2022]. Dostupný pod licencí CC BY-SA: </a:t>
            </a:r>
            <a:r>
              <a:rPr lang="cs-CZ" b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Attribution-ShareAlike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6"/>
              </a:rPr>
              <a:t>https://www.coursehero.com/study-guides/introchem/properties-of-phosphorus/</a:t>
            </a:r>
            <a:endParaRPr lang="cs-CZ" b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PROUZA, KAR, Petr. Bílý fosfor způsobuje neuhasitelné popáleniny. Zastavit jde jen vyříznutím tkáně [online]. 28. 3. 2022 [cit. 4.11.2022]. Dostupný na WWW: </a:t>
            </a:r>
            <a:r>
              <a:rPr lang="cs-CZ" b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7"/>
              </a:rPr>
              <a:t>https://ct24.ceskatelevize.cz/veda/3460932-bily-fosfor-zpusobuje-ne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7"/>
              </a:rPr>
              <a:t>uhasitelne-popaleniny-zastavit-jde-jen-vyriznutim-tkane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NERGAAL. WIKIPEDIA FOUNDATION, INC.. </a:t>
            </a:r>
            <a:r>
              <a:rPr lang="cs-CZ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Allotropes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of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phosphorus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13.12.2007 [cit. 8.11.2022]. Dostupný pod licencí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8"/>
              </a:rPr>
              <a:t>https://en.wikipedia.org/wiki/Allotropes_of_phosphorus#/media/File:Red_phosphorus.png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 VYSOKÁ ŠKOLA BÁŇSKÁ.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APATIT - skupinový název pro nerozlišené fosforečnany Ca: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8.11.2022].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9"/>
              </a:rPr>
              <a:t>http://geologie.vsb.cz/loziska/loziska/nerudy/apatit.html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134.2.3.103. WIKIPEDIA FOUNDATION, INC..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Apatit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19.4.2005 [cit. 8.11.2022]. Dostupný pod licencí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20"/>
              </a:rPr>
              <a:t>https://cs.wikipedia.org/wiki/Apatit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EDISTEEWR. WIKIPEDIA FOUNDATION, INC..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Fosforit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24.2.2012 [cit. 8.11.2022]. Dostupný pod licencí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21"/>
              </a:rPr>
              <a:t>https://cs.wikipedia.org/wiki/Fosforit</a:t>
            </a:r>
            <a:endParaRPr lang="cs-CZ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en-US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Fosforit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8.11.2022].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Dostupný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pod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licencí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CC BY-SA 3.0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Unported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License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na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WWW: 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22"/>
              </a:rPr>
              <a:t>https://wikijii.com/wiki/Phosphorite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DOSTAL, Vojtěch. WIKIPEDIA FOUNDATION, INC..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RNA svět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21.5.2010 [cit. 8.11.2022]. Dostupný pod licencí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23"/>
              </a:rPr>
              <a:t>https://cs.wikipedia.org/wiki/RNA_sv%C4%9Bt</a:t>
            </a:r>
            <a:endParaRPr lang="cs-CZ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KAREL. WIKIPEDIA FOUNDATION, INC..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Selen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28.9.2004 [cit. 8.11.2022]. Dostupný pod licencí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24"/>
              </a:rPr>
              <a:t>https://cs.wikipedia.org/wiki/Selen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pt-BR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pt-BR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Características del Selenio</a:t>
            </a:r>
            <a:r>
              <a:rPr lang="pt-BR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8.11.2022]. Dostupný na WWW: </a:t>
            </a:r>
            <a:r>
              <a:rPr lang="pt-BR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25"/>
              </a:rPr>
              <a:t>https://www.caracteristicass.de/selenio/</a:t>
            </a:r>
            <a:endParaRPr lang="cs-CZ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4537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B763CC3-032F-4F82-27C7-D3B361853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citace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C5B0D39-B877-D1A7-56D5-CBFFCD71F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672" y="2033407"/>
            <a:ext cx="11082025" cy="4761675"/>
          </a:xfrm>
        </p:spPr>
        <p:txBody>
          <a:bodyPr>
            <a:normAutofit fontScale="25000" lnSpcReduction="20000"/>
          </a:bodyPr>
          <a:lstStyle/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217.117.217.178. WIKIPEDIA FOUNDATION, INC..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Kost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4.11.2005 [cit. 8.11.2022]. Dostupný pod licencí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u="sng" dirty="0"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https://cs.wikipedia.org/wiki/Kost</a:t>
            </a: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DOSTAL, Vojtěch. WIKIPEDIA FOUNDATION, INC..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RNA svět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21.5.2010 [cit. 8.11.2022]. Dostupný pod licencí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2"/>
              </a:rPr>
              <a:t>https://cs.wikipedia.org/wiki/RNA_sv%C4%9Bt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DOSTAL, Vojtěch. WIKIPEDIA FOUNDATION, INC..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Adenosindifosfát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6.2.2008 [cit. 8.11.2022]. Dostupný pod licencí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3"/>
              </a:rPr>
              <a:t>https://cs.wikipedia.org/wiki/Adenosindifosf%C3%A1t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KUSURIJA. WIKIPEDIA FOUNDATION, INC..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Adenosintrifosfát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18.7.2013 [cit. 8.11.2022]. Dostupný pod licencí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4"/>
              </a:rPr>
              <a:t>https://cs.wikipedia.org/wiki/Adenosintrifosf%C3%A1t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CAT.KATKA. MEFANET.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Buněčná membrána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29.1.2011 [cit. 8.11.2022]. Dostupný pod licencí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https://www.wikiskripta.eu/w/Bun%C4%9B%C4%8Dn%C3%A1_membr%C3%A1na ISSN 1804-6517.</a:t>
            </a: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Model kosti stehenní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8.11.2022].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5"/>
              </a:rPr>
              <a:t>https://www.weve-reha.cz/kosti/954-model-kosti-stehenni.html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PET. MAFRA.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Za praskající zuby mohou často amalgámové plomby, ale také bruxismus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16.2.2016 [cit. 8.11.2022].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6"/>
              </a:rPr>
              <a:t>https://www.idnes.cz/onadnes/zdravi/jak-se-opravuje-praskly-zub.A160215_110159_zdravi_pet</a:t>
            </a:r>
            <a:endParaRPr lang="cs-CZ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PET. WIKIPEDIA FOUNDATION, INC..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Fosfolipid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16.12.2006 [cit. 8.11.2022]. Dostupný pod licencí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7"/>
              </a:rPr>
              <a:t>https://cs.wikipedia.org/wiki/Fosfolipid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it-IT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it-IT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Polovodiče, obchodní válka a realita pro investory</a:t>
            </a:r>
            <a:r>
              <a:rPr lang="it-IT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27.2.2019 [cit. 8.11.2022]. Dostupný na WWW: </a:t>
            </a:r>
            <a:r>
              <a:rPr lang="it-IT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8"/>
              </a:rPr>
              <a:t>https://www.investicniweb.cz/investice/akcie/polovodice-obchodni-valka-realita-pro-investory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Coca-Cola slaví 50 let výroby v Česku a na Slovensku. Přichystala speciální edici obalů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1.6.2021 [cit. 8.11.2022].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9"/>
              </a:rPr>
              <a:t>https://www.svetbaleni.cz/2021/06/01/coca-cola-slavi-50-let-vyroby-v-cesku-a-na-slovensku-prichystala-specialni-edici-obalu/</a:t>
            </a:r>
            <a:endParaRPr lang="cs-CZ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fosfor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8.11.2022].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0"/>
              </a:rPr>
              <a:t>http://veganskaspolecnost.cz/vyziva/mineraly/fosfor/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LOSKOT, Petr.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Pravda o Coca-Cole! Výživová tragédie, nebo účinný lék?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3.12.2019 [cit. 8.11.2022].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1"/>
              </a:rPr>
              <a:t>https://aktin.cz/pravda-o-coca-cole-vyzivova-tragedie-nebo-ucinny-lek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KOREJČKOVÁ, Martina.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Cizrna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3.12.2019 [cit. 8.11.2022].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2"/>
              </a:rPr>
              <a:t>https://www.yoda-institut.cz/blog/cizrna/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Z., V.. WIKIPEDIA FOUNDATION, INC..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Síra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7.5.2004 [cit. 8.11.2022]. Dostupný pod licencí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3"/>
              </a:rPr>
              <a:t>https://cs.wikipedia.org/wiki/S%C3%ADra#Vyu%C5%BEit%C3%AD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SLEJŠKA, Antonín. WIKIPEDIA FOUNDATION, INC..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Sulfan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3.2.2005 [cit. 8.11.2022]. Dostupný pod licencí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4"/>
              </a:rPr>
              <a:t>https://cs.wikipedia.org/wiki/Sulfan</a:t>
            </a:r>
            <a:endParaRPr lang="cs-CZ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ISTAFAD. WIKIPEDIA FOUNDATION, INC.. </a:t>
            </a:r>
            <a:r>
              <a:rPr lang="cs-CZ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Thioly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27.3.2011 [cit. 8.11.2022]. Dostupný pod licencí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5"/>
              </a:rPr>
              <a:t>https://cs.wikipedia.org/wiki/Thioly#V%C3%BDroba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ROSSIGNOL,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Derrick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cs-CZ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Thioly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12.7.2017 [cit. 8.11.2022].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6"/>
              </a:rPr>
              <a:t>https://nerdist.com/article/brilliant-blue-sulfur-fire-is-beautiful-toxic-mess/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Síra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12.7.2017 [cit. 8.11.2022].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7"/>
              </a:rPr>
              <a:t>http://www.prvky.com/16.html</a:t>
            </a:r>
            <a:endParaRPr lang="cs-CZ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SAFRANEJ. WIKIPEDIA FOUNDATION, INC..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Pryž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5.9.2006 [cit. 8.11.2022]. Dostupný pod licencí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8"/>
              </a:rPr>
              <a:t>https://cs.wikipedia.org/wiki/Pry%C5%BE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SANDMAN~CSWIKI. WIKIPEDIA FOUNDATION, INC..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Oxid siřičitý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21.7.2005 [cit. 8.11.2022]. Dostupný pod licencí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9"/>
              </a:rPr>
              <a:t>https://cs.wikipedia.org/wiki/Oxid_si%C5%99i%C4%8Dit%C3%BD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HUGO. WIKIPEDIA FOUNDATION, INC..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Oxid sírový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20.9.2005 [cit. 8.11.2022]. Dostupný pod licencí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20"/>
              </a:rPr>
              <a:t>https://cs.wikipedia.org/wiki/Oxid_s%C3%ADrov%C3%BD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dirty="0">
                <a:solidFill>
                  <a:srgbClr val="333333"/>
                </a:solidFill>
                <a:latin typeface="Arial" panose="020B0604020202020204" pitchFamily="34" charset="0"/>
              </a:rPr>
              <a:t>¨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SKOTÁK, Vít.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Sulfan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8.11.2022].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21"/>
              </a:rPr>
              <a:t>https://zssloup.net/rocnikovky/prace16-17/SkotakVit.pdf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Biogenní prvky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8.11.2022].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22"/>
              </a:rPr>
              <a:t>http://kolweb.lf2.cuni.cz/Ustavy/biochemie/vyuka/prvky.htm</a:t>
            </a:r>
            <a:endParaRPr lang="cs-CZ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endParaRPr lang="cs-CZ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024888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RegularSeed_2SEEDS">
      <a:dk1>
        <a:srgbClr val="000000"/>
      </a:dk1>
      <a:lt1>
        <a:srgbClr val="FFFFFF"/>
      </a:lt1>
      <a:dk2>
        <a:srgbClr val="1A212F"/>
      </a:dk2>
      <a:lt2>
        <a:srgbClr val="F1F0F3"/>
      </a:lt2>
      <a:accent1>
        <a:srgbClr val="96A829"/>
      </a:accent1>
      <a:accent2>
        <a:srgbClr val="BE9A3A"/>
      </a:accent2>
      <a:accent3>
        <a:srgbClr val="6DB337"/>
      </a:accent3>
      <a:accent4>
        <a:srgbClr val="2E91BE"/>
      </a:accent4>
      <a:accent5>
        <a:srgbClr val="4066D0"/>
      </a:accent5>
      <a:accent6>
        <a:srgbClr val="4D39C1"/>
      </a:accent6>
      <a:hlink>
        <a:srgbClr val="523FBF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2C7855F7BF8D249ADE0E26EBB5E2E0D" ma:contentTypeVersion="7" ma:contentTypeDescription="Vytvoří nový dokument" ma:contentTypeScope="" ma:versionID="82273aa67a4107c54c7f6a9d7cd02a01">
  <xsd:schema xmlns:xsd="http://www.w3.org/2001/XMLSchema" xmlns:xs="http://www.w3.org/2001/XMLSchema" xmlns:p="http://schemas.microsoft.com/office/2006/metadata/properties" xmlns:ns3="5f220dc0-27a6-4f79-8ef7-91d1414d0c8a" xmlns:ns4="8716bbdc-2b9e-4b6c-9f5d-91220b825f80" targetNamespace="http://schemas.microsoft.com/office/2006/metadata/properties" ma:root="true" ma:fieldsID="d46d8c1c30bc2675b4b2a7bb11446105" ns3:_="" ns4:_="">
    <xsd:import namespace="5f220dc0-27a6-4f79-8ef7-91d1414d0c8a"/>
    <xsd:import namespace="8716bbdc-2b9e-4b6c-9f5d-91220b825f8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220dc0-27a6-4f79-8ef7-91d1414d0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16bbdc-2b9e-4b6c-9f5d-91220b825f8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f220dc0-27a6-4f79-8ef7-91d1414d0c8a" xsi:nil="true"/>
  </documentManagement>
</p:properties>
</file>

<file path=customXml/itemProps1.xml><?xml version="1.0" encoding="utf-8"?>
<ds:datastoreItem xmlns:ds="http://schemas.openxmlformats.org/officeDocument/2006/customXml" ds:itemID="{E8393608-D98C-4CDC-BFA1-2B8C2C850A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C13BF8-CE92-4A6E-AEB4-0A95ACA9FD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220dc0-27a6-4f79-8ef7-91d1414d0c8a"/>
    <ds:schemaRef ds:uri="8716bbdc-2b9e-4b6c-9f5d-91220b825f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E8E84BB-D3E5-4021-B263-269F459773E2}">
  <ds:schemaRefs>
    <ds:schemaRef ds:uri="http://purl.org/dc/dcmitype/"/>
    <ds:schemaRef ds:uri="5f220dc0-27a6-4f79-8ef7-91d1414d0c8a"/>
    <ds:schemaRef ds:uri="http://purl.org/dc/terms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8716bbdc-2b9e-4b6c-9f5d-91220b825f8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1143</TotalTime>
  <Words>3146</Words>
  <Application>Microsoft Office PowerPoint</Application>
  <PresentationFormat>Širokoúhlá obrazovka</PresentationFormat>
  <Paragraphs>322</Paragraphs>
  <Slides>45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45</vt:i4>
      </vt:variant>
    </vt:vector>
  </HeadingPairs>
  <TitlesOfParts>
    <vt:vector size="52" baseType="lpstr">
      <vt:lpstr>Arial</vt:lpstr>
      <vt:lpstr>Avenir Next LT Pro</vt:lpstr>
      <vt:lpstr>Calibri</vt:lpstr>
      <vt:lpstr>Cambria Math</vt:lpstr>
      <vt:lpstr>Neue Haas Grotesk Text Pro</vt:lpstr>
      <vt:lpstr>Symbol</vt:lpstr>
      <vt:lpstr>AccentBoxVTI</vt:lpstr>
      <vt:lpstr>fosfor, síra, selen</vt:lpstr>
      <vt:lpstr>fosfor</vt:lpstr>
      <vt:lpstr>Fosfor bezpečnost</vt:lpstr>
      <vt:lpstr>Fosfor - výskyt</vt:lpstr>
      <vt:lpstr>  Fosfor – využití</vt:lpstr>
      <vt:lpstr>Fosfor – sloučeniny</vt:lpstr>
      <vt:lpstr>Fosfor modifikace</vt:lpstr>
      <vt:lpstr>Bílý fosfor</vt:lpstr>
      <vt:lpstr>Černý fosfor</vt:lpstr>
      <vt:lpstr>Červený fosfor</vt:lpstr>
      <vt:lpstr>Fosfor jako bojová zbraň</vt:lpstr>
      <vt:lpstr>Fosfor – minerály - apatit</vt:lpstr>
      <vt:lpstr>Fosfor minerály fluorapatit</vt:lpstr>
      <vt:lpstr>Fosfor – minerály - fosforit</vt:lpstr>
      <vt:lpstr>Fosfor – biogenní prvky</vt:lpstr>
      <vt:lpstr>Fosfor - potraviny</vt:lpstr>
      <vt:lpstr>Síra  vlastnosti</vt:lpstr>
      <vt:lpstr>Síra - výskyt</vt:lpstr>
      <vt:lpstr>Síra - využití</vt:lpstr>
      <vt:lpstr>Thioly</vt:lpstr>
      <vt:lpstr>Sulfan</vt:lpstr>
      <vt:lpstr>Síra Oxid siřičitý</vt:lpstr>
      <vt:lpstr>Síra Oxid sírový</vt:lpstr>
      <vt:lpstr>Síra biogenní prvky</vt:lpstr>
      <vt:lpstr>Síra - potraviny</vt:lpstr>
      <vt:lpstr>Selen </vt:lpstr>
      <vt:lpstr>Otázky </vt:lpstr>
      <vt:lpstr>Otázka 1.</vt:lpstr>
      <vt:lpstr>Otázka 2.</vt:lpstr>
      <vt:lpstr>Otázka 3.</vt:lpstr>
      <vt:lpstr>Otázka 4.</vt:lpstr>
      <vt:lpstr>Otázka 5.</vt:lpstr>
      <vt:lpstr>Otázka 6.</vt:lpstr>
      <vt:lpstr>Zápis</vt:lpstr>
      <vt:lpstr>Fosfor – obecný přehled - využití</vt:lpstr>
      <vt:lpstr>Fosfor – sloučeniny - využití</vt:lpstr>
      <vt:lpstr>Fosfor - modifikace</vt:lpstr>
      <vt:lpstr>Fosfor – vojenství - minerály</vt:lpstr>
      <vt:lpstr>Fosfor – biogenní prvky - potraviny</vt:lpstr>
      <vt:lpstr>Síra – obecný přehled - výskyt</vt:lpstr>
      <vt:lpstr>Síra - sloučniny</vt:lpstr>
      <vt:lpstr>Síra – biogenní prvky - potraviny</vt:lpstr>
      <vt:lpstr>Selen</vt:lpstr>
      <vt:lpstr>citace</vt:lpstr>
      <vt:lpstr>citace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