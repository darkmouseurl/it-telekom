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jpeg" ContentType="image/jpeg"/>
  <Default Extension="png" ContentType="image/png"/>
  <Default Extension="svg" ContentType="image/svg"/>
  <Override PartName="/customXml/item1.xml" ContentType="application/xml"/>
  <Override PartName="/customXml/item2.xml" ContentType="application/xml"/>
  <Override PartName="/customXml/item3.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&#65279;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officeDocument/2006/relationships/extended-properties" Target="docProps/app.xml" /><Relationship Id="rId4" Type="http://schemas.openxmlformats.org/package/2006/relationships/metadata/thumbnail" Target="docProps/thumbnail.jpeg" /></Relationships>
</file>

<file path=ppt/presentation.xml><?xml version="1.0" encoding="utf-8"?>
<!--Generated by Aspose.Slides for .NET 24.12-->
<p:presentation xmlns:r="http://schemas.openxmlformats.org/officeDocument/2006/relationships" xmlns:a="http://schemas.openxmlformats.org/drawingml/2006/main" xmlns:p="http://schemas.openxmlformats.org/presentationml/2006/main" saveSubsetFonts="1">
  <p:sldMasterIdLst>
    <p:sldMasterId id="2147483738" r:id="rId4"/>
  </p:sldMasterIdLst>
  <p:sldIdLst>
    <p:sldId id="256" r:id="rId5"/>
    <p:sldId id="257" r:id="rId6"/>
    <p:sldId id="258" r:id="rId7"/>
    <p:sldId id="261" r:id="rId8"/>
    <p:sldId id="262" r:id="rId9"/>
    <p:sldId id="259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4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71" r:id="rId28"/>
    <p:sldId id="272" r:id="rId29"/>
    <p:sldId id="284" r:id="rId30"/>
    <p:sldId id="273" r:id="rId31"/>
    <p:sldId id="260" r:id="rId32"/>
  </p:sldIdLst>
  <p:sldSz cx="12192000" cy="6858000"/>
  <p:notesSz cx="6858000" cy="9144000"/>
  <p:custDataLst>
    <p:tags r:id="rId3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r="http://schemas.openxmlformats.org/officeDocument/2006/relationships" xmlns:a="http://schemas.openxmlformats.org/drawingml/2006/main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8196410-C315-4059-A2A3-79A7B458855D}" v="62" dt="2022-10-10T20:03:07.322"/>
  </p1510:revLst>
</p1510:revInfo>
</file>

<file path=ppt/tableStyles.xml><?xml version="1.0" encoding="utf-8"?>
<a:tblStyleLst xmlns:r="http://schemas.openxmlformats.org/officeDocument/2006/relationships"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7668" autoAdjust="0"/>
    <p:restoredTop sz="94660"/>
  </p:normalViewPr>
  <p:slideViewPr>
    <p:cSldViewPr snapToGrid="0">
      <p:cViewPr varScale="1">
        <p:scale>
          <a:sx n="108" d="100"/>
          <a:sy n="108" d="100"/>
        </p:scale>
        <p:origin x="10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>
      <p:cViewPr>
        <p:scale>
          <a:sx n="1" d="100"/>
          <a:sy n="1" d="100"/>
        </p:scale>
        <p:origin x="0" y="0"/>
      </p:cViewPr>
      <p:guideLst/>
    </p:cSldViewPr>
  </p:notesViewPr>
  <p:gridSpacing cx="76200" cy="76200"/>
</p:viewPr>
</file>

<file path=ppt/_rels/presentation.xml.rels>&#65279;<?xml version="1.0" encoding="utf-8" standalone="yes"?><Relationships xmlns="http://schemas.openxmlformats.org/package/2006/relationships"><Relationship Id="rId1" Type="http://schemas.openxmlformats.org/officeDocument/2006/relationships/customXml" Target="../customXml/item1.xml" /><Relationship Id="rId10" Type="http://schemas.openxmlformats.org/officeDocument/2006/relationships/slide" Target="slides/slide6.xml" /><Relationship Id="rId11" Type="http://schemas.openxmlformats.org/officeDocument/2006/relationships/slide" Target="slides/slide7.xml" /><Relationship Id="rId12" Type="http://schemas.openxmlformats.org/officeDocument/2006/relationships/slide" Target="slides/slide8.xml" /><Relationship Id="rId13" Type="http://schemas.openxmlformats.org/officeDocument/2006/relationships/slide" Target="slides/slide9.xml" /><Relationship Id="rId14" Type="http://schemas.openxmlformats.org/officeDocument/2006/relationships/slide" Target="slides/slide10.xml" /><Relationship Id="rId15" Type="http://schemas.openxmlformats.org/officeDocument/2006/relationships/slide" Target="slides/slide11.xml" /><Relationship Id="rId16" Type="http://schemas.openxmlformats.org/officeDocument/2006/relationships/slide" Target="slides/slide12.xml" /><Relationship Id="rId17" Type="http://schemas.openxmlformats.org/officeDocument/2006/relationships/slide" Target="slides/slide13.xml" /><Relationship Id="rId18" Type="http://schemas.openxmlformats.org/officeDocument/2006/relationships/slide" Target="slides/slide14.xml" /><Relationship Id="rId19" Type="http://schemas.openxmlformats.org/officeDocument/2006/relationships/slide" Target="slides/slide15.xml" /><Relationship Id="rId2" Type="http://schemas.openxmlformats.org/officeDocument/2006/relationships/customXml" Target="../customXml/item2.xml" /><Relationship Id="rId20" Type="http://schemas.openxmlformats.org/officeDocument/2006/relationships/slide" Target="slides/slide16.xml" /><Relationship Id="rId21" Type="http://schemas.openxmlformats.org/officeDocument/2006/relationships/slide" Target="slides/slide17.xml" /><Relationship Id="rId22" Type="http://schemas.openxmlformats.org/officeDocument/2006/relationships/slide" Target="slides/slide18.xml" /><Relationship Id="rId23" Type="http://schemas.openxmlformats.org/officeDocument/2006/relationships/slide" Target="slides/slide19.xml" /><Relationship Id="rId24" Type="http://schemas.openxmlformats.org/officeDocument/2006/relationships/slide" Target="slides/slide20.xml" /><Relationship Id="rId25" Type="http://schemas.openxmlformats.org/officeDocument/2006/relationships/slide" Target="slides/slide21.xml" /><Relationship Id="rId26" Type="http://schemas.openxmlformats.org/officeDocument/2006/relationships/slide" Target="slides/slide22.xml" /><Relationship Id="rId27" Type="http://schemas.openxmlformats.org/officeDocument/2006/relationships/slide" Target="slides/slide23.xml" /><Relationship Id="rId28" Type="http://schemas.openxmlformats.org/officeDocument/2006/relationships/slide" Target="slides/slide24.xml" /><Relationship Id="rId29" Type="http://schemas.openxmlformats.org/officeDocument/2006/relationships/slide" Target="slides/slide25.xml" /><Relationship Id="rId3" Type="http://schemas.openxmlformats.org/officeDocument/2006/relationships/customXml" Target="../customXml/item3.xml" /><Relationship Id="rId30" Type="http://schemas.openxmlformats.org/officeDocument/2006/relationships/slide" Target="slides/slide26.xml" /><Relationship Id="rId31" Type="http://schemas.openxmlformats.org/officeDocument/2006/relationships/slide" Target="slides/slide27.xml" /><Relationship Id="rId32" Type="http://schemas.openxmlformats.org/officeDocument/2006/relationships/slide" Target="slides/slide28.xml" /><Relationship Id="rId33" Type="http://schemas.openxmlformats.org/officeDocument/2006/relationships/tags" Target="tags/tag1.xml" /><Relationship Id="rId34" Type="http://schemas.openxmlformats.org/officeDocument/2006/relationships/presProps" Target="presProps.xml" /><Relationship Id="rId35" Type="http://schemas.openxmlformats.org/officeDocument/2006/relationships/viewProps" Target="viewProps.xml" /><Relationship Id="rId36" Type="http://schemas.openxmlformats.org/officeDocument/2006/relationships/theme" Target="theme/theme1.xml" /><Relationship Id="rId37" Type="http://schemas.microsoft.com/office/2015/10/relationships/revisionInfo" Target="revisionInfo.xml" /><Relationship Id="rId38" Type="http://schemas.openxmlformats.org/officeDocument/2006/relationships/tableStyles" Target="tableStyles.xml" /><Relationship Id="rId4" Type="http://schemas.openxmlformats.org/officeDocument/2006/relationships/slideMaster" Target="slideMasters/slideMaster1.xml" /><Relationship Id="rId5" Type="http://schemas.openxmlformats.org/officeDocument/2006/relationships/slide" Target="slides/slide1.xml" /><Relationship Id="rId6" Type="http://schemas.openxmlformats.org/officeDocument/2006/relationships/slide" Target="slides/slide2.xml" /><Relationship Id="rId7" Type="http://schemas.openxmlformats.org/officeDocument/2006/relationships/slide" Target="slides/slide3.xml" /><Relationship Id="rId8" Type="http://schemas.openxmlformats.org/officeDocument/2006/relationships/slide" Target="slides/slide4.xml" /><Relationship Id="rId9" Type="http://schemas.openxmlformats.org/officeDocument/2006/relationships/slide" Target="slides/slide5.xml" /></Relationships>
</file>

<file path=ppt/slideLayouts/_rels/slideLayout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&#65279;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8" name="Freeform: Shape 27">
            <a:extLst>
              <a:ext uri="{FF2B5EF4-FFF2-40B4-BE49-F238E27FC236}">
                <a16:creationId xmlns:a16="http://schemas.microsoft.com/office/drawing/2014/main" id="{9B0F7D69-D93C-4C38-A23D-76E000D691CD}"/>
              </a:ext>
            </a:extLst>
          </p:cNvPr>
          <p:cNvSpPr/>
          <p:nvPr/>
        </p:nvSpPr>
        <p:spPr>
          <a:xfrm>
            <a:off x="0" y="0"/>
            <a:ext cx="3496422" cy="6858000"/>
          </a:xfrm>
          <a:custGeom>
            <a:gdLst>
              <a:gd name="connsiteX0" fmla="*/ 0 w 3496422"/>
              <a:gd name="connsiteY0" fmla="*/ 0 h 6858000"/>
              <a:gd name="connsiteX1" fmla="*/ 1873399 w 3496422"/>
              <a:gd name="connsiteY1" fmla="*/ 0 h 6858000"/>
              <a:gd name="connsiteX2" fmla="*/ 1895523 w 3496422"/>
              <a:gd name="connsiteY2" fmla="*/ 14997 h 6858000"/>
              <a:gd name="connsiteX3" fmla="*/ 3496422 w 3496422"/>
              <a:gd name="connsiteY3" fmla="*/ 3621656 h 6858000"/>
              <a:gd name="connsiteX4" fmla="*/ 1622072 w 3496422"/>
              <a:gd name="connsiteY4" fmla="*/ 6374814 h 6858000"/>
              <a:gd name="connsiteX5" fmla="*/ 1105424 w 3496422"/>
              <a:gd name="connsiteY5" fmla="*/ 6780599 h 6858000"/>
              <a:gd name="connsiteX6" fmla="*/ 993668 w 3496422"/>
              <a:gd name="connsiteY6" fmla="*/ 6858000 h 6858000"/>
              <a:gd name="connsiteX7" fmla="*/ 0 w 3496422"/>
              <a:gd name="connsiteY7" fmla="*/ 6858000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96422" h="6858000">
                <a:moveTo>
                  <a:pt x="0" y="0"/>
                </a:moveTo>
                <a:lnTo>
                  <a:pt x="1873399" y="0"/>
                </a:lnTo>
                <a:lnTo>
                  <a:pt x="1895523" y="14997"/>
                </a:lnTo>
                <a:cubicBezTo>
                  <a:pt x="2922686" y="754641"/>
                  <a:pt x="3496422" y="2093192"/>
                  <a:pt x="3496422" y="3621656"/>
                </a:cubicBezTo>
                <a:cubicBezTo>
                  <a:pt x="3496422" y="4969131"/>
                  <a:pt x="2567697" y="5602839"/>
                  <a:pt x="1622072" y="6374814"/>
                </a:cubicBezTo>
                <a:cubicBezTo>
                  <a:pt x="1449869" y="6515397"/>
                  <a:pt x="1279242" y="6653108"/>
                  <a:pt x="1105424" y="6780599"/>
                </a:cubicBezTo>
                <a:lnTo>
                  <a:pt x="993668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4654295" y="1346268"/>
            <a:ext cx="7060135" cy="3285207"/>
          </a:xfrm>
        </p:spPr>
        <p:txBody>
          <a:bodyPr anchor="b">
            <a:noAutofit/>
          </a:bodyPr>
          <a:lstStyle>
            <a:lvl1pPr algn="l">
              <a:lnSpc>
                <a:spcPct val="120000"/>
              </a:lnSpc>
              <a:defRPr sz="5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662312" y="4631475"/>
            <a:ext cx="7052117" cy="1150200"/>
          </a:xfrm>
        </p:spPr>
        <p:txBody>
          <a:bodyPr lIns="109728" tIns="109728" rIns="109728" bIns="91440" anchor="t">
            <a:normAutofit/>
          </a:bodyPr>
          <a:lstStyle>
            <a:lvl1pPr marL="0" indent="0" algn="l">
              <a:lnSpc>
                <a:spcPct val="130000"/>
              </a:lnSpc>
              <a:buNone/>
              <a:defRPr sz="240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123E5C65-E22A-4865-9449-10140D62B65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4654295" y="617415"/>
            <a:ext cx="7123723" cy="457200"/>
          </a:xfrm>
        </p:spPr>
        <p:txBody>
          <a:bodyPr/>
          <a:lstStyle>
            <a:lvl1pPr algn="l">
              <a:defRPr/>
            </a:lvl1pPr>
          </a:lstStyle>
          <a:p>
            <a:fld id="{12241623-A064-4BED-B073-BA4D61433402}" type="datetime1">
              <a:rPr lang="en-US" smtClean="0"/>
              <a:t>8/28/2026</a:t>
            </a:fld>
            <a:endParaRPr lang="en-US"/>
          </a:p>
        </p:txBody>
      </p:sp>
      <p:sp>
        <p:nvSpPr>
          <p:cNvPr id="24" name="Footer Placeholder 23">
            <a:extLst>
              <a:ext uri="{FF2B5EF4-FFF2-40B4-BE49-F238E27FC236}">
                <a16:creationId xmlns:a16="http://schemas.microsoft.com/office/drawing/2014/main" id="{EF9C3DE0-E7F5-4B4D-B5AF-CDE724CE79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5" y="6170490"/>
            <a:ext cx="5588349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25" name="Slide Number Placeholder 24">
            <a:extLst>
              <a:ext uri="{FF2B5EF4-FFF2-40B4-BE49-F238E27FC236}">
                <a16:creationId xmlns:a16="http://schemas.microsoft.com/office/drawing/2014/main" id="{48C1E146-840A-4217-B63E-62E5CF890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5600" y="6170490"/>
            <a:ext cx="1198829" cy="457200"/>
          </a:xfrm>
        </p:spPr>
        <p:txBody>
          <a:bodyPr/>
          <a:lstStyle>
            <a:lvl1pPr algn="r">
              <a:defRPr/>
            </a:lvl1pPr>
          </a:lstStyle>
          <a:p>
            <a:fld id="{FAEF9944-A4F6-4C59-AEBD-678D6480B8EA}" type="slidenum">
              <a:rPr lang="en-US" smtClean="0"/>
              <a:t>‹#›</a:t>
            </a:fld>
            <a:endParaRPr lang="en-US"/>
          </a:p>
        </p:txBody>
      </p:sp>
      <p:sp>
        <p:nvSpPr>
          <p:cNvPr id="4" name="Freeform: Shape 3">
            <a:extLst>
              <a:ext uri="{FF2B5EF4-FFF2-40B4-BE49-F238E27FC236}">
                <a16:creationId xmlns:a16="http://schemas.microsoft.com/office/drawing/2014/main" id="{8CD419D4-EA9D-42D9-BF62-B07F0B7B672B}"/>
              </a:ext>
            </a:extLst>
          </p:cNvPr>
          <p:cNvSpPr/>
          <p:nvPr/>
        </p:nvSpPr>
        <p:spPr>
          <a:xfrm>
            <a:off x="1375409" y="0"/>
            <a:ext cx="2529723" cy="6858000"/>
          </a:xfrm>
          <a:custGeom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1C6FEC9B-9608-4181-A9E5-A1B80E72021C}"/>
              </a:ext>
            </a:extLst>
          </p:cNvPr>
          <p:cNvSpPr/>
          <p:nvPr/>
        </p:nvSpPr>
        <p:spPr>
          <a:xfrm>
            <a:off x="1155402" y="0"/>
            <a:ext cx="2536434" cy="6858000"/>
          </a:xfrm>
          <a:custGeom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AB1564ED-F26F-451D-97D6-A6EC3E83FD55}"/>
              </a:ext>
            </a:extLst>
          </p:cNvPr>
          <p:cNvSpPr/>
          <p:nvPr/>
        </p:nvSpPr>
        <p:spPr>
          <a:xfrm>
            <a:off x="924161" y="0"/>
            <a:ext cx="2261351" cy="6858000"/>
          </a:xfrm>
          <a:custGeom>
            <a:gdLst>
              <a:gd name="connsiteX0" fmla="*/ 879731 w 2521425"/>
              <a:gd name="connsiteY0" fmla="*/ 0 h 6858000"/>
              <a:gd name="connsiteX1" fmla="*/ 898402 w 2521425"/>
              <a:gd name="connsiteY1" fmla="*/ 0 h 6858000"/>
              <a:gd name="connsiteX2" fmla="*/ 920526 w 2521425"/>
              <a:gd name="connsiteY2" fmla="*/ 14997 h 6858000"/>
              <a:gd name="connsiteX3" fmla="*/ 2521425 w 2521425"/>
              <a:gd name="connsiteY3" fmla="*/ 3621656 h 6858000"/>
              <a:gd name="connsiteX4" fmla="*/ 647075 w 2521425"/>
              <a:gd name="connsiteY4" fmla="*/ 6374814 h 6858000"/>
              <a:gd name="connsiteX5" fmla="*/ 130427 w 2521425"/>
              <a:gd name="connsiteY5" fmla="*/ 6780599 h 6858000"/>
              <a:gd name="connsiteX6" fmla="*/ 18671 w 2521425"/>
              <a:gd name="connsiteY6" fmla="*/ 6858000 h 6858000"/>
              <a:gd name="connsiteX7" fmla="*/ 0 w 2521425"/>
              <a:gd name="connsiteY7" fmla="*/ 6858000 h 6858000"/>
              <a:gd name="connsiteX8" fmla="*/ 111756 w 2521425"/>
              <a:gd name="connsiteY8" fmla="*/ 6780599 h 6858000"/>
              <a:gd name="connsiteX9" fmla="*/ 628404 w 2521425"/>
              <a:gd name="connsiteY9" fmla="*/ 6374814 h 6858000"/>
              <a:gd name="connsiteX10" fmla="*/ 2502754 w 2521425"/>
              <a:gd name="connsiteY10" fmla="*/ 3621656 h 6858000"/>
              <a:gd name="connsiteX11" fmla="*/ 901855 w 2521425"/>
              <a:gd name="connsiteY11" fmla="*/ 14997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1425" h="6858000">
                <a:moveTo>
                  <a:pt x="879731" y="0"/>
                </a:moveTo>
                <a:lnTo>
                  <a:pt x="898402" y="0"/>
                </a:lnTo>
                <a:lnTo>
                  <a:pt x="920526" y="14997"/>
                </a:lnTo>
                <a:cubicBezTo>
                  <a:pt x="1947689" y="754641"/>
                  <a:pt x="2521425" y="2093192"/>
                  <a:pt x="2521425" y="3621656"/>
                </a:cubicBezTo>
                <a:cubicBezTo>
                  <a:pt x="2521425" y="4969131"/>
                  <a:pt x="1592700" y="5602839"/>
                  <a:pt x="647075" y="6374814"/>
                </a:cubicBezTo>
                <a:cubicBezTo>
                  <a:pt x="474872" y="6515397"/>
                  <a:pt x="304245" y="6653108"/>
                  <a:pt x="130427" y="6780599"/>
                </a:cubicBezTo>
                <a:lnTo>
                  <a:pt x="18671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chemeClr val="bg2">
              <a:lumMod val="9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</p:spTree>
    <p:extLst>
      <p:ext uri="{BB962C8B-B14F-4D97-AF65-F5344CB8AC3E}">
        <p14:creationId val="342605525"/>
      </p:ext>
    </p:extLst>
  </p:cSld>
  <p:clrMapOvr>
    <a:masterClrMapping/>
  </p:clrMapOvr>
  <p:transition/>
  <p:timing/>
</p:sldLayout>
</file>

<file path=ppt/slideLayouts/slideLayout2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923EF53-7767-4C94-BEF6-D452927945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F3E5F3-28EE-488F-BD53-B744C06C3DEC}" type="datetime1">
              <a:rPr lang="en-US" smtClean="0"/>
              <a:t>8/28/2026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ACF12700-F905-4CFA-970C-C81E05A64D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A1B1EE2-BCA3-432B-A32D-B04C7F1DD9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val="1820503323"/>
      </p:ext>
    </p:extLst>
  </p:cSld>
  <p:clrMapOvr>
    <a:masterClrMapping/>
  </p:clrMapOvr>
  <p:transition/>
  <p:timing/>
</p:sldLayout>
</file>

<file path=ppt/slideLayouts/slideLayout3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B84A89F5-6982-40AE-8108-88B93E85C8FF}"/>
              </a:ext>
            </a:extLst>
          </p:cNvPr>
          <p:cNvGrpSpPr/>
          <p:nvPr/>
        </p:nvGrpSpPr>
        <p:grpSpPr>
          <a:xfrm>
            <a:off x="3124577" y="0"/>
            <a:ext cx="4389519" cy="2916937"/>
            <a:chOff x="3124577" y="0"/>
            <a:chExt cx="4389519" cy="2916937"/>
          </a:xfrm>
        </p:grpSpPr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B80BED93-E30B-4492-A268-84C33CA4F067}"/>
                </a:ext>
              </a:extLst>
            </p:cNvPr>
            <p:cNvSpPr/>
            <p:nvPr/>
          </p:nvSpPr>
          <p:spPr>
            <a:xfrm>
              <a:off x="3320637" y="0"/>
              <a:ext cx="4013331" cy="2742133"/>
            </a:xfrm>
            <a:custGeom>
              <a:gdLst>
                <a:gd name="connsiteX0" fmla="*/ 294151 w 4013331"/>
                <a:gd name="connsiteY0" fmla="*/ 0 h 2742133"/>
                <a:gd name="connsiteX1" fmla="*/ 3844057 w 4013331"/>
                <a:gd name="connsiteY1" fmla="*/ 0 h 2742133"/>
                <a:gd name="connsiteX2" fmla="*/ 3892490 w 4013331"/>
                <a:gd name="connsiteY2" fmla="*/ 131440 h 2742133"/>
                <a:gd name="connsiteX3" fmla="*/ 4013331 w 4013331"/>
                <a:gd name="connsiteY3" fmla="*/ 941251 h 2742133"/>
                <a:gd name="connsiteX4" fmla="*/ 3804827 w 4013331"/>
                <a:gd name="connsiteY4" fmla="*/ 1540292 h 2742133"/>
                <a:gd name="connsiteX5" fmla="*/ 3187498 w 4013331"/>
                <a:gd name="connsiteY5" fmla="*/ 2098087 h 2742133"/>
                <a:gd name="connsiteX6" fmla="*/ 3051769 w 4013331"/>
                <a:gd name="connsiteY6" fmla="*/ 2204787 h 2742133"/>
                <a:gd name="connsiteX7" fmla="*/ 1936476 w 4013331"/>
                <a:gd name="connsiteY7" fmla="*/ 2742133 h 2742133"/>
                <a:gd name="connsiteX8" fmla="*/ 467303 w 4013331"/>
                <a:gd name="connsiteY8" fmla="*/ 1868695 h 2742133"/>
                <a:gd name="connsiteX9" fmla="*/ 310732 w 4013331"/>
                <a:gd name="connsiteY9" fmla="*/ 1645244 h 2742133"/>
                <a:gd name="connsiteX10" fmla="*/ 0 w 4013331"/>
                <a:gd name="connsiteY10" fmla="*/ 941251 h 2742133"/>
                <a:gd name="connsiteX11" fmla="*/ 187749 w 4013331"/>
                <a:gd name="connsiteY11" fmla="*/ 183076 h 2742133"/>
                <a:gd name="connsiteX12" fmla="*/ 288888 w 4013331"/>
                <a:gd name="connsiteY12" fmla="*/ 7329 h 2742133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4013330" h="2742133">
                  <a:moveTo>
                    <a:pt x="294151" y="0"/>
                  </a:moveTo>
                  <a:lnTo>
                    <a:pt x="3844057" y="0"/>
                  </a:lnTo>
                  <a:lnTo>
                    <a:pt x="3892490" y="131440"/>
                  </a:lnTo>
                  <a:cubicBezTo>
                    <a:pt x="3971777" y="378867"/>
                    <a:pt x="4013331" y="652783"/>
                    <a:pt x="4013331" y="941251"/>
                  </a:cubicBezTo>
                  <a:cubicBezTo>
                    <a:pt x="4013331" y="1171430"/>
                    <a:pt x="3948997" y="1356167"/>
                    <a:pt x="3804827" y="1540292"/>
                  </a:cubicBezTo>
                  <a:cubicBezTo>
                    <a:pt x="3654026" y="1732895"/>
                    <a:pt x="3427436" y="1910292"/>
                    <a:pt x="3187498" y="2098087"/>
                  </a:cubicBezTo>
                  <a:cubicBezTo>
                    <a:pt x="3143231" y="2132693"/>
                    <a:pt x="3097499" y="2168522"/>
                    <a:pt x="3051769" y="2204787"/>
                  </a:cubicBezTo>
                  <a:cubicBezTo>
                    <a:pt x="2642425" y="2529345"/>
                    <a:pt x="2343664" y="2742133"/>
                    <a:pt x="1936476" y="2742133"/>
                  </a:cubicBezTo>
                  <a:cubicBezTo>
                    <a:pt x="1316045" y="2742133"/>
                    <a:pt x="876647" y="2480932"/>
                    <a:pt x="467303" y="1868695"/>
                  </a:cubicBezTo>
                  <a:cubicBezTo>
                    <a:pt x="413736" y="1788559"/>
                    <a:pt x="361372" y="1715679"/>
                    <a:pt x="310732" y="1645244"/>
                  </a:cubicBezTo>
                  <a:cubicBezTo>
                    <a:pt x="100850" y="1353195"/>
                    <a:pt x="0" y="1201315"/>
                    <a:pt x="0" y="941251"/>
                  </a:cubicBezTo>
                  <a:cubicBezTo>
                    <a:pt x="0" y="683021"/>
                    <a:pt x="63214" y="427935"/>
                    <a:pt x="187749" y="183076"/>
                  </a:cubicBezTo>
                  <a:cubicBezTo>
                    <a:pt x="218215" y="123194"/>
                    <a:pt x="251953" y="64578"/>
                    <a:pt x="288888" y="7329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965F60C1-CD8B-4326-9B24-3D197CF382A6}"/>
                </a:ext>
              </a:extLst>
            </p:cNvPr>
            <p:cNvSpPr/>
            <p:nvPr/>
          </p:nvSpPr>
          <p:spPr>
            <a:xfrm>
              <a:off x="3566319" y="0"/>
              <a:ext cx="3401415" cy="2440484"/>
            </a:xfrm>
            <a:custGeom>
              <a:gdLst>
                <a:gd name="connsiteX0" fmla="*/ 332917 w 3401415"/>
                <a:gd name="connsiteY0" fmla="*/ 0 h 2440484"/>
                <a:gd name="connsiteX1" fmla="*/ 3207137 w 3401415"/>
                <a:gd name="connsiteY1" fmla="*/ 0 h 2440484"/>
                <a:gd name="connsiteX2" fmla="*/ 3242654 w 3401415"/>
                <a:gd name="connsiteY2" fmla="*/ 74937 h 2440484"/>
                <a:gd name="connsiteX3" fmla="*/ 3401415 w 3401415"/>
                <a:gd name="connsiteY3" fmla="*/ 914184 h 2440484"/>
                <a:gd name="connsiteX4" fmla="*/ 3224702 w 3401415"/>
                <a:gd name="connsiteY4" fmla="*/ 1421888 h 2440484"/>
                <a:gd name="connsiteX5" fmla="*/ 2701498 w 3401415"/>
                <a:gd name="connsiteY5" fmla="*/ 1894635 h 2440484"/>
                <a:gd name="connsiteX6" fmla="*/ 2586463 w 3401415"/>
                <a:gd name="connsiteY6" fmla="*/ 1985068 h 2440484"/>
                <a:gd name="connsiteX7" fmla="*/ 1641219 w 3401415"/>
                <a:gd name="connsiteY7" fmla="*/ 2440484 h 2440484"/>
                <a:gd name="connsiteX8" fmla="*/ 396053 w 3401415"/>
                <a:gd name="connsiteY8" fmla="*/ 1700219 h 2440484"/>
                <a:gd name="connsiteX9" fmla="*/ 263354 w 3401415"/>
                <a:gd name="connsiteY9" fmla="*/ 1510839 h 2440484"/>
                <a:gd name="connsiteX10" fmla="*/ 0 w 3401415"/>
                <a:gd name="connsiteY10" fmla="*/ 914184 h 2440484"/>
                <a:gd name="connsiteX11" fmla="*/ 159122 w 3401415"/>
                <a:gd name="connsiteY11" fmla="*/ 271610 h 2440484"/>
                <a:gd name="connsiteX12" fmla="*/ 244841 w 3401415"/>
                <a:gd name="connsiteY12" fmla="*/ 122658 h 2440484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401415" h="2440484">
                  <a:moveTo>
                    <a:pt x="332917" y="0"/>
                  </a:moveTo>
                  <a:lnTo>
                    <a:pt x="3207137" y="0"/>
                  </a:lnTo>
                  <a:lnTo>
                    <a:pt x="3242654" y="74937"/>
                  </a:lnTo>
                  <a:cubicBezTo>
                    <a:pt x="3346386" y="322243"/>
                    <a:pt x="3401415" y="608579"/>
                    <a:pt x="3401415" y="914184"/>
                  </a:cubicBezTo>
                  <a:cubicBezTo>
                    <a:pt x="3401415" y="1109268"/>
                    <a:pt x="3346890" y="1265837"/>
                    <a:pt x="3224702" y="1421888"/>
                  </a:cubicBezTo>
                  <a:cubicBezTo>
                    <a:pt x="3096894" y="1585125"/>
                    <a:pt x="2904852" y="1735475"/>
                    <a:pt x="2701498" y="1894635"/>
                  </a:cubicBezTo>
                  <a:cubicBezTo>
                    <a:pt x="2663980" y="1923966"/>
                    <a:pt x="2625221" y="1954332"/>
                    <a:pt x="2586463" y="1985068"/>
                  </a:cubicBezTo>
                  <a:cubicBezTo>
                    <a:pt x="2239532" y="2260140"/>
                    <a:pt x="1986324" y="2440484"/>
                    <a:pt x="1641219" y="2440484"/>
                  </a:cubicBezTo>
                  <a:cubicBezTo>
                    <a:pt x="1115386" y="2440484"/>
                    <a:pt x="742984" y="2219109"/>
                    <a:pt x="396053" y="1700219"/>
                  </a:cubicBezTo>
                  <a:cubicBezTo>
                    <a:pt x="350653" y="1632303"/>
                    <a:pt x="306273" y="1570535"/>
                    <a:pt x="263354" y="1510839"/>
                  </a:cubicBezTo>
                  <a:cubicBezTo>
                    <a:pt x="85473" y="1263318"/>
                    <a:pt x="0" y="1134597"/>
                    <a:pt x="0" y="914184"/>
                  </a:cubicBezTo>
                  <a:cubicBezTo>
                    <a:pt x="0" y="695327"/>
                    <a:pt x="53576" y="479135"/>
                    <a:pt x="159122" y="271610"/>
                  </a:cubicBezTo>
                  <a:cubicBezTo>
                    <a:pt x="184943" y="220858"/>
                    <a:pt x="213538" y="171179"/>
                    <a:pt x="244841" y="122658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69511D06-104E-440E-8049-4CDCE4B87E96}"/>
                </a:ext>
              </a:extLst>
            </p:cNvPr>
            <p:cNvSpPr/>
            <p:nvPr/>
          </p:nvSpPr>
          <p:spPr>
            <a:xfrm>
              <a:off x="3232490" y="0"/>
              <a:ext cx="4164597" cy="2817185"/>
            </a:xfrm>
            <a:custGeom>
              <a:gdLst>
                <a:gd name="connsiteX0" fmla="*/ 237339 w 4130517"/>
                <a:gd name="connsiteY0" fmla="*/ 0 h 2806419"/>
                <a:gd name="connsiteX1" fmla="*/ 3997489 w 4130517"/>
                <a:gd name="connsiteY1" fmla="*/ 0 h 2806419"/>
                <a:gd name="connsiteX2" fmla="*/ 4006148 w 4130517"/>
                <a:gd name="connsiteY2" fmla="*/ 24333 h 2806419"/>
                <a:gd name="connsiteX3" fmla="*/ 4130517 w 4130517"/>
                <a:gd name="connsiteY3" fmla="*/ 887307 h 2806419"/>
                <a:gd name="connsiteX4" fmla="*/ 3915925 w 4130517"/>
                <a:gd name="connsiteY4" fmla="*/ 1525677 h 2806419"/>
                <a:gd name="connsiteX5" fmla="*/ 3280571 w 4130517"/>
                <a:gd name="connsiteY5" fmla="*/ 2120090 h 2806419"/>
                <a:gd name="connsiteX6" fmla="*/ 3140878 w 4130517"/>
                <a:gd name="connsiteY6" fmla="*/ 2233796 h 2806419"/>
                <a:gd name="connsiteX7" fmla="*/ 1993019 w 4130517"/>
                <a:gd name="connsiteY7" fmla="*/ 2806419 h 2806419"/>
                <a:gd name="connsiteX8" fmla="*/ 480948 w 4130517"/>
                <a:gd name="connsiteY8" fmla="*/ 1875638 h 2806419"/>
                <a:gd name="connsiteX9" fmla="*/ 319805 w 4130517"/>
                <a:gd name="connsiteY9" fmla="*/ 1637519 h 2806419"/>
                <a:gd name="connsiteX10" fmla="*/ 0 w 4130517"/>
                <a:gd name="connsiteY10" fmla="*/ 887307 h 2806419"/>
                <a:gd name="connsiteX11" fmla="*/ 193231 w 4130517"/>
                <a:gd name="connsiteY11" fmla="*/ 79360 h 2806419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130516" h="2806419">
                  <a:moveTo>
                    <a:pt x="237339" y="0"/>
                  </a:moveTo>
                  <a:lnTo>
                    <a:pt x="3997489" y="0"/>
                  </a:lnTo>
                  <a:lnTo>
                    <a:pt x="4006148" y="24333"/>
                  </a:lnTo>
                  <a:cubicBezTo>
                    <a:pt x="4087750" y="288004"/>
                    <a:pt x="4130517" y="579903"/>
                    <a:pt x="4130517" y="887307"/>
                  </a:cubicBezTo>
                  <a:cubicBezTo>
                    <a:pt x="4130517" y="1132599"/>
                    <a:pt x="4064304" y="1329464"/>
                    <a:pt x="3915925" y="1525677"/>
                  </a:cubicBezTo>
                  <a:cubicBezTo>
                    <a:pt x="3760721" y="1730924"/>
                    <a:pt x="3527514" y="1919967"/>
                    <a:pt x="3280571" y="2120090"/>
                  </a:cubicBezTo>
                  <a:cubicBezTo>
                    <a:pt x="3235011" y="2156968"/>
                    <a:pt x="3187944" y="2195151"/>
                    <a:pt x="3140878" y="2233796"/>
                  </a:cubicBezTo>
                  <a:cubicBezTo>
                    <a:pt x="2719582" y="2579662"/>
                    <a:pt x="2412097" y="2806419"/>
                    <a:pt x="1993019" y="2806419"/>
                  </a:cubicBezTo>
                  <a:cubicBezTo>
                    <a:pt x="1354472" y="2806419"/>
                    <a:pt x="902244" y="2528070"/>
                    <a:pt x="480948" y="1875638"/>
                  </a:cubicBezTo>
                  <a:cubicBezTo>
                    <a:pt x="425816" y="1790244"/>
                    <a:pt x="371924" y="1712578"/>
                    <a:pt x="319805" y="1637519"/>
                  </a:cubicBezTo>
                  <a:cubicBezTo>
                    <a:pt x="103795" y="1326296"/>
                    <a:pt x="0" y="1164446"/>
                    <a:pt x="0" y="887307"/>
                  </a:cubicBezTo>
                  <a:cubicBezTo>
                    <a:pt x="0" y="612125"/>
                    <a:pt x="65060" y="340293"/>
                    <a:pt x="193231" y="79360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164F6B39-7B0A-4839-9F52-1FFA2044F248}"/>
                </a:ext>
              </a:extLst>
            </p:cNvPr>
            <p:cNvSpPr/>
            <p:nvPr/>
          </p:nvSpPr>
          <p:spPr>
            <a:xfrm>
              <a:off x="3124577" y="0"/>
              <a:ext cx="4389519" cy="2916937"/>
            </a:xfrm>
            <a:custGeom>
              <a:gdLst>
                <a:gd name="connsiteX0" fmla="*/ 208215 w 4389519"/>
                <a:gd name="connsiteY0" fmla="*/ 0 h 2916937"/>
                <a:gd name="connsiteX1" fmla="*/ 4284014 w 4389519"/>
                <a:gd name="connsiteY1" fmla="*/ 0 h 2916937"/>
                <a:gd name="connsiteX2" fmla="*/ 4335794 w 4389519"/>
                <a:gd name="connsiteY2" fmla="*/ 207911 h 2916937"/>
                <a:gd name="connsiteX3" fmla="*/ 4376420 w 4389519"/>
                <a:gd name="connsiteY3" fmla="*/ 1078865 h 2916937"/>
                <a:gd name="connsiteX4" fmla="*/ 4090147 w 4389519"/>
                <a:gd name="connsiteY4" fmla="*/ 1734728 h 2916937"/>
                <a:gd name="connsiteX5" fmla="*/ 3362552 w 4389519"/>
                <a:gd name="connsiteY5" fmla="*/ 2305097 h 2916937"/>
                <a:gd name="connsiteX6" fmla="*/ 3204152 w 4389519"/>
                <a:gd name="connsiteY6" fmla="*/ 2412521 h 2916937"/>
                <a:gd name="connsiteX7" fmla="*/ 1936072 w 4389519"/>
                <a:gd name="connsiteY7" fmla="*/ 2912360 h 2916937"/>
                <a:gd name="connsiteX8" fmla="*/ 421690 w 4389519"/>
                <a:gd name="connsiteY8" fmla="*/ 1787063 h 2916937"/>
                <a:gd name="connsiteX9" fmla="*/ 273167 w 4389519"/>
                <a:gd name="connsiteY9" fmla="*/ 1520080 h 2916937"/>
                <a:gd name="connsiteX10" fmla="*/ 4118 w 4389519"/>
                <a:gd name="connsiteY10" fmla="*/ 696338 h 2916937"/>
                <a:gd name="connsiteX11" fmla="*/ 175984 w 4389519"/>
                <a:gd name="connsiteY11" fmla="*/ 60381 h 2916937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389519" h="2916937">
                  <a:moveTo>
                    <a:pt x="208215" y="0"/>
                  </a:moveTo>
                  <a:lnTo>
                    <a:pt x="4284014" y="0"/>
                  </a:lnTo>
                  <a:lnTo>
                    <a:pt x="4335794" y="207911"/>
                  </a:lnTo>
                  <a:cubicBezTo>
                    <a:pt x="4388748" y="479686"/>
                    <a:pt x="4403109" y="773803"/>
                    <a:pt x="4376420" y="1078865"/>
                  </a:cubicBezTo>
                  <a:cubicBezTo>
                    <a:pt x="4353703" y="1338514"/>
                    <a:pt x="4265383" y="1540772"/>
                    <a:pt x="4090147" y="1734728"/>
                  </a:cubicBezTo>
                  <a:cubicBezTo>
                    <a:pt x="3906850" y="1937616"/>
                    <a:pt x="3642485" y="2116128"/>
                    <a:pt x="3362552" y="2305097"/>
                  </a:cubicBezTo>
                  <a:cubicBezTo>
                    <a:pt x="3310910" y="2339914"/>
                    <a:pt x="3257553" y="2375972"/>
                    <a:pt x="3204152" y="2412521"/>
                  </a:cubicBezTo>
                  <a:cubicBezTo>
                    <a:pt x="2726165" y="2739616"/>
                    <a:pt x="2379682" y="2951171"/>
                    <a:pt x="1936072" y="2912360"/>
                  </a:cubicBezTo>
                  <a:cubicBezTo>
                    <a:pt x="1260148" y="2853224"/>
                    <a:pt x="807225" y="2516700"/>
                    <a:pt x="421690" y="1787063"/>
                  </a:cubicBezTo>
                  <a:cubicBezTo>
                    <a:pt x="371240" y="1691563"/>
                    <a:pt x="321385" y="1604361"/>
                    <a:pt x="273167" y="1520080"/>
                  </a:cubicBezTo>
                  <a:cubicBezTo>
                    <a:pt x="73334" y="1170636"/>
                    <a:pt x="-21548" y="989700"/>
                    <a:pt x="4118" y="696338"/>
                  </a:cubicBezTo>
                  <a:cubicBezTo>
                    <a:pt x="23232" y="477870"/>
                    <a:pt x="80908" y="264786"/>
                    <a:pt x="175984" y="60381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03099122-D80B-4389-A1CF-52C635217F4B}"/>
              </a:ext>
            </a:extLst>
          </p:cNvPr>
          <p:cNvGrpSpPr/>
          <p:nvPr/>
        </p:nvGrpSpPr>
        <p:grpSpPr>
          <a:xfrm>
            <a:off x="8122942" y="0"/>
            <a:ext cx="4069058" cy="3547008"/>
            <a:chOff x="8122942" y="0"/>
            <a:chExt cx="4069058" cy="3547008"/>
          </a:xfrm>
        </p:grpSpPr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CA535D59-CDAA-4AA9-84AC-A6142E857FE2}"/>
                </a:ext>
              </a:extLst>
            </p:cNvPr>
            <p:cNvSpPr/>
            <p:nvPr/>
          </p:nvSpPr>
          <p:spPr>
            <a:xfrm>
              <a:off x="8122942" y="0"/>
              <a:ext cx="4069058" cy="3547008"/>
            </a:xfrm>
            <a:custGeom>
              <a:gdLst>
                <a:gd name="connsiteX0" fmla="*/ 305212 w 4069058"/>
                <a:gd name="connsiteY0" fmla="*/ 0 h 3547008"/>
                <a:gd name="connsiteX1" fmla="*/ 4069058 w 4069058"/>
                <a:gd name="connsiteY1" fmla="*/ 0 h 3547008"/>
                <a:gd name="connsiteX2" fmla="*/ 4069058 w 4069058"/>
                <a:gd name="connsiteY2" fmla="*/ 2865785 h 3547008"/>
                <a:gd name="connsiteX3" fmla="*/ 3996814 w 4069058"/>
                <a:gd name="connsiteY3" fmla="*/ 2947457 h 3547008"/>
                <a:gd name="connsiteX4" fmla="*/ 2732780 w 4069058"/>
                <a:gd name="connsiteY4" fmla="*/ 3541640 h 3547008"/>
                <a:gd name="connsiteX5" fmla="*/ 1317550 w 4069058"/>
                <a:gd name="connsiteY5" fmla="*/ 3015110 h 3547008"/>
                <a:gd name="connsiteX6" fmla="*/ 1140977 w 4069058"/>
                <a:gd name="connsiteY6" fmla="*/ 2901419 h 3547008"/>
                <a:gd name="connsiteX7" fmla="*/ 330269 w 4069058"/>
                <a:gd name="connsiteY7" fmla="*/ 2297252 h 3547008"/>
                <a:gd name="connsiteX8" fmla="*/ 13299 w 4069058"/>
                <a:gd name="connsiteY8" fmla="*/ 1599966 h 3547008"/>
                <a:gd name="connsiteX9" fmla="*/ 217457 w 4069058"/>
                <a:gd name="connsiteY9" fmla="*/ 178659 h 3547008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69058" h="3547008">
                  <a:moveTo>
                    <a:pt x="305212" y="0"/>
                  </a:moveTo>
                  <a:lnTo>
                    <a:pt x="4069058" y="0"/>
                  </a:lnTo>
                  <a:lnTo>
                    <a:pt x="4069058" y="2865785"/>
                  </a:lnTo>
                  <a:lnTo>
                    <a:pt x="3996814" y="2947457"/>
                  </a:lnTo>
                  <a:cubicBezTo>
                    <a:pt x="3654887" y="3311545"/>
                    <a:pt x="3252443" y="3496175"/>
                    <a:pt x="2732780" y="3541640"/>
                  </a:cubicBezTo>
                  <a:cubicBezTo>
                    <a:pt x="2236701" y="3585041"/>
                    <a:pt x="1850359" y="3361306"/>
                    <a:pt x="1317550" y="3015110"/>
                  </a:cubicBezTo>
                  <a:cubicBezTo>
                    <a:pt x="1258026" y="2976425"/>
                    <a:pt x="1198546" y="2938265"/>
                    <a:pt x="1140977" y="2901419"/>
                  </a:cubicBezTo>
                  <a:cubicBezTo>
                    <a:pt x="828927" y="2701433"/>
                    <a:pt x="534230" y="2512513"/>
                    <a:pt x="330269" y="2297252"/>
                  </a:cubicBezTo>
                  <a:cubicBezTo>
                    <a:pt x="135278" y="2091465"/>
                    <a:pt x="37487" y="1876435"/>
                    <a:pt x="13299" y="1599966"/>
                  </a:cubicBezTo>
                  <a:cubicBezTo>
                    <a:pt x="-32170" y="1080250"/>
                    <a:pt x="39709" y="589889"/>
                    <a:pt x="217457" y="178659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CD6948CC-6D51-4092-887C-B0664DC102C7}"/>
                </a:ext>
              </a:extLst>
            </p:cNvPr>
            <p:cNvSpPr/>
            <p:nvPr/>
          </p:nvSpPr>
          <p:spPr>
            <a:xfrm flipH="1">
              <a:off x="8319994" y="0"/>
              <a:ext cx="3872006" cy="3321595"/>
            </a:xfrm>
            <a:custGeom>
              <a:gdLst>
                <a:gd name="connsiteX0" fmla="*/ 3466434 w 3872006"/>
                <a:gd name="connsiteY0" fmla="*/ 0 h 3321595"/>
                <a:gd name="connsiteX1" fmla="*/ 65800 w 3872006"/>
                <a:gd name="connsiteY1" fmla="*/ 0 h 3321595"/>
                <a:gd name="connsiteX2" fmla="*/ 0 w 3872006"/>
                <a:gd name="connsiteY2" fmla="*/ 59511 h 3321595"/>
                <a:gd name="connsiteX3" fmla="*/ 0 w 3872006"/>
                <a:gd name="connsiteY3" fmla="*/ 2518435 h 3321595"/>
                <a:gd name="connsiteX4" fmla="*/ 80122 w 3872006"/>
                <a:gd name="connsiteY4" fmla="*/ 2618704 h 3321595"/>
                <a:gd name="connsiteX5" fmla="*/ 1549501 w 3872006"/>
                <a:gd name="connsiteY5" fmla="*/ 3321595 h 3321595"/>
                <a:gd name="connsiteX6" fmla="*/ 2796711 w 3872006"/>
                <a:gd name="connsiteY6" fmla="*/ 2749441 h 3321595"/>
                <a:gd name="connsiteX7" fmla="*/ 2948494 w 3872006"/>
                <a:gd name="connsiteY7" fmla="*/ 2635829 h 3321595"/>
                <a:gd name="connsiteX8" fmla="*/ 3638840 w 3872006"/>
                <a:gd name="connsiteY8" fmla="*/ 2041901 h 3321595"/>
                <a:gd name="connsiteX9" fmla="*/ 3872006 w 3872006"/>
                <a:gd name="connsiteY9" fmla="*/ 1404055 h 3321595"/>
                <a:gd name="connsiteX10" fmla="*/ 3467973 w 3872006"/>
                <a:gd name="connsiteY10" fmla="*/ 1974 h 3321595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872006" h="3321594">
                  <a:moveTo>
                    <a:pt x="3466434" y="0"/>
                  </a:moveTo>
                  <a:lnTo>
                    <a:pt x="65800" y="0"/>
                  </a:lnTo>
                  <a:lnTo>
                    <a:pt x="0" y="59511"/>
                  </a:lnTo>
                  <a:lnTo>
                    <a:pt x="0" y="2518435"/>
                  </a:lnTo>
                  <a:lnTo>
                    <a:pt x="80122" y="2618704"/>
                  </a:lnTo>
                  <a:cubicBezTo>
                    <a:pt x="490323" y="3108658"/>
                    <a:pt x="942414" y="3321595"/>
                    <a:pt x="1549501" y="3321595"/>
                  </a:cubicBezTo>
                  <a:cubicBezTo>
                    <a:pt x="2004852" y="3321595"/>
                    <a:pt x="2338950" y="3095023"/>
                    <a:pt x="2796711" y="2749441"/>
                  </a:cubicBezTo>
                  <a:cubicBezTo>
                    <a:pt x="2847850" y="2710827"/>
                    <a:pt x="2898991" y="2672676"/>
                    <a:pt x="2948494" y="2635829"/>
                  </a:cubicBezTo>
                  <a:cubicBezTo>
                    <a:pt x="3216812" y="2435869"/>
                    <a:pt x="3470203" y="2246981"/>
                    <a:pt x="3638840" y="2041901"/>
                  </a:cubicBezTo>
                  <a:cubicBezTo>
                    <a:pt x="3800062" y="1845849"/>
                    <a:pt x="3872006" y="1649145"/>
                    <a:pt x="3872006" y="1404055"/>
                  </a:cubicBezTo>
                  <a:cubicBezTo>
                    <a:pt x="3872006" y="866538"/>
                    <a:pt x="3729694" y="376466"/>
                    <a:pt x="3467973" y="1974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F5F9FD94-99CC-42AD-8E66-CF99E8FD5A94}"/>
                </a:ext>
              </a:extLst>
            </p:cNvPr>
            <p:cNvSpPr/>
            <p:nvPr/>
          </p:nvSpPr>
          <p:spPr>
            <a:xfrm flipH="1">
              <a:off x="8729240" y="9274"/>
              <a:ext cx="3462454" cy="3010961"/>
            </a:xfrm>
            <a:custGeom>
              <a:gdLst>
                <a:gd name="connsiteX0" fmla="*/ 2953507 w 3462454"/>
                <a:gd name="connsiteY0" fmla="*/ 0 h 3010961"/>
                <a:gd name="connsiteX1" fmla="*/ 477652 w 3462454"/>
                <a:gd name="connsiteY1" fmla="*/ 0 h 3010961"/>
                <a:gd name="connsiteX2" fmla="*/ 327396 w 3462454"/>
                <a:gd name="connsiteY2" fmla="*/ 113681 h 3010961"/>
                <a:gd name="connsiteX3" fmla="*/ 46554 w 3462454"/>
                <a:gd name="connsiteY3" fmla="*/ 391785 h 3010961"/>
                <a:gd name="connsiteX4" fmla="*/ 0 w 3462454"/>
                <a:gd name="connsiteY4" fmla="*/ 453516 h 3010961"/>
                <a:gd name="connsiteX5" fmla="*/ 0 w 3462454"/>
                <a:gd name="connsiteY5" fmla="*/ 2083461 h 3010961"/>
                <a:gd name="connsiteX6" fmla="*/ 26382 w 3462454"/>
                <a:gd name="connsiteY6" fmla="*/ 2118637 h 3010961"/>
                <a:gd name="connsiteX7" fmla="*/ 101620 w 3462454"/>
                <a:gd name="connsiteY7" fmla="*/ 2222744 h 3010961"/>
                <a:gd name="connsiteX8" fmla="*/ 1494064 w 3462454"/>
                <a:gd name="connsiteY8" fmla="*/ 3010961 h 3010961"/>
                <a:gd name="connsiteX9" fmla="*/ 2551110 w 3462454"/>
                <a:gd name="connsiteY9" fmla="*/ 2526044 h 3010961"/>
                <a:gd name="connsiteX10" fmla="*/ 2679751 w 3462454"/>
                <a:gd name="connsiteY10" fmla="*/ 2429754 h 3010961"/>
                <a:gd name="connsiteX11" fmla="*/ 3264840 w 3462454"/>
                <a:gd name="connsiteY11" fmla="*/ 1926383 h 3010961"/>
                <a:gd name="connsiteX12" fmla="*/ 3462454 w 3462454"/>
                <a:gd name="connsiteY12" fmla="*/ 1385790 h 3010961"/>
                <a:gd name="connsiteX13" fmla="*/ 3018820 w 3462454"/>
                <a:gd name="connsiteY13" fmla="*/ 67626 h 3010961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3462454" h="3010961">
                  <a:moveTo>
                    <a:pt x="2953507" y="0"/>
                  </a:moveTo>
                  <a:lnTo>
                    <a:pt x="477652" y="0"/>
                  </a:lnTo>
                  <a:lnTo>
                    <a:pt x="327396" y="113681"/>
                  </a:lnTo>
                  <a:cubicBezTo>
                    <a:pt x="222344" y="200626"/>
                    <a:pt x="128536" y="293564"/>
                    <a:pt x="46554" y="391785"/>
                  </a:cubicBezTo>
                  <a:lnTo>
                    <a:pt x="0" y="453516"/>
                  </a:lnTo>
                  <a:lnTo>
                    <a:pt x="0" y="2083461"/>
                  </a:lnTo>
                  <a:lnTo>
                    <a:pt x="26382" y="2118637"/>
                  </a:lnTo>
                  <a:cubicBezTo>
                    <a:pt x="51135" y="2152065"/>
                    <a:pt x="76235" y="2186586"/>
                    <a:pt x="101620" y="2222744"/>
                  </a:cubicBezTo>
                  <a:cubicBezTo>
                    <a:pt x="489585" y="2775245"/>
                    <a:pt x="906035" y="3010961"/>
                    <a:pt x="1494064" y="3010961"/>
                  </a:cubicBezTo>
                  <a:cubicBezTo>
                    <a:pt x="1879987" y="3010961"/>
                    <a:pt x="2163144" y="2818935"/>
                    <a:pt x="2551110" y="2526044"/>
                  </a:cubicBezTo>
                  <a:cubicBezTo>
                    <a:pt x="2594452" y="2493317"/>
                    <a:pt x="2637795" y="2460984"/>
                    <a:pt x="2679751" y="2429754"/>
                  </a:cubicBezTo>
                  <a:cubicBezTo>
                    <a:pt x="2907158" y="2260282"/>
                    <a:pt x="3121914" y="2100194"/>
                    <a:pt x="3264840" y="1926383"/>
                  </a:cubicBezTo>
                  <a:cubicBezTo>
                    <a:pt x="3401480" y="1760224"/>
                    <a:pt x="3462454" y="1593511"/>
                    <a:pt x="3462454" y="1385790"/>
                  </a:cubicBezTo>
                  <a:cubicBezTo>
                    <a:pt x="3462454" y="865148"/>
                    <a:pt x="3304918" y="397028"/>
                    <a:pt x="3018820" y="67626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F47D3E70-A759-410D-B5DB-855218E138C3}"/>
                </a:ext>
              </a:extLst>
            </p:cNvPr>
            <p:cNvSpPr/>
            <p:nvPr/>
          </p:nvSpPr>
          <p:spPr>
            <a:xfrm flipH="1">
              <a:off x="8243247" y="9274"/>
              <a:ext cx="3948447" cy="3411460"/>
            </a:xfrm>
            <a:custGeom>
              <a:gdLst>
                <a:gd name="connsiteX0" fmla="*/ 3564894 w 3904481"/>
                <a:gd name="connsiteY0" fmla="*/ 0 h 3411460"/>
                <a:gd name="connsiteX1" fmla="*/ 0 w 3904481"/>
                <a:gd name="connsiteY1" fmla="*/ 0 h 3411460"/>
                <a:gd name="connsiteX2" fmla="*/ 0 w 3904481"/>
                <a:gd name="connsiteY2" fmla="*/ 2659993 h 3411460"/>
                <a:gd name="connsiteX3" fmla="*/ 1876 w 3904481"/>
                <a:gd name="connsiteY3" fmla="*/ 2662425 h 3411460"/>
                <a:gd name="connsiteX4" fmla="*/ 1514161 w 3904481"/>
                <a:gd name="connsiteY4" fmla="*/ 3411460 h 3411460"/>
                <a:gd name="connsiteX5" fmla="*/ 2797788 w 3904481"/>
                <a:gd name="connsiteY5" fmla="*/ 2801744 h 3411460"/>
                <a:gd name="connsiteX6" fmla="*/ 2954004 w 3904481"/>
                <a:gd name="connsiteY6" fmla="*/ 2680673 h 3411460"/>
                <a:gd name="connsiteX7" fmla="*/ 3664508 w 3904481"/>
                <a:gd name="connsiteY7" fmla="*/ 2047754 h 3411460"/>
                <a:gd name="connsiteX8" fmla="*/ 3904481 w 3904481"/>
                <a:gd name="connsiteY8" fmla="*/ 1368033 h 3411460"/>
                <a:gd name="connsiteX9" fmla="*/ 3596499 w 3904481"/>
                <a:gd name="connsiteY9" fmla="*/ 52268 h 3411460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904481" h="3411460">
                  <a:moveTo>
                    <a:pt x="3564894" y="0"/>
                  </a:moveTo>
                  <a:lnTo>
                    <a:pt x="0" y="0"/>
                  </a:lnTo>
                  <a:lnTo>
                    <a:pt x="0" y="2659993"/>
                  </a:lnTo>
                  <a:lnTo>
                    <a:pt x="1876" y="2662425"/>
                  </a:lnTo>
                  <a:cubicBezTo>
                    <a:pt x="424055" y="3184544"/>
                    <a:pt x="889346" y="3411460"/>
                    <a:pt x="1514161" y="3411460"/>
                  </a:cubicBezTo>
                  <a:cubicBezTo>
                    <a:pt x="1982808" y="3411460"/>
                    <a:pt x="2326661" y="3170014"/>
                    <a:pt x="2797788" y="2801744"/>
                  </a:cubicBezTo>
                  <a:cubicBezTo>
                    <a:pt x="2850420" y="2760595"/>
                    <a:pt x="2903054" y="2719940"/>
                    <a:pt x="2954004" y="2680673"/>
                  </a:cubicBezTo>
                  <a:cubicBezTo>
                    <a:pt x="3230156" y="2467586"/>
                    <a:pt x="3490946" y="2266297"/>
                    <a:pt x="3664508" y="2047754"/>
                  </a:cubicBezTo>
                  <a:cubicBezTo>
                    <a:pt x="3830437" y="1838832"/>
                    <a:pt x="3904481" y="1629214"/>
                    <a:pt x="3904481" y="1368033"/>
                  </a:cubicBezTo>
                  <a:cubicBezTo>
                    <a:pt x="3904481" y="877057"/>
                    <a:pt x="3796872" y="423228"/>
                    <a:pt x="3596499" y="52268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algn="ctr"/>
              <a:endParaRPr lang="en-US"/>
            </a:p>
          </p:txBody>
        </p:sp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90302A25-2D4F-4AD5-B0E9-C12184C3599E}"/>
              </a:ext>
            </a:extLst>
          </p:cNvPr>
          <p:cNvGrpSpPr/>
          <p:nvPr/>
        </p:nvGrpSpPr>
        <p:grpSpPr>
          <a:xfrm>
            <a:off x="-1" y="1355238"/>
            <a:ext cx="4381339" cy="5510713"/>
            <a:chOff x="0" y="1347287"/>
            <a:chExt cx="4259808" cy="5510713"/>
          </a:xfrm>
        </p:grpSpPr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E227AF03-773A-4B1E-8FED-67198038E60D}"/>
                </a:ext>
              </a:extLst>
            </p:cNvPr>
            <p:cNvSpPr/>
            <p:nvPr/>
          </p:nvSpPr>
          <p:spPr>
            <a:xfrm>
              <a:off x="0" y="1676545"/>
              <a:ext cx="4174269" cy="5181455"/>
            </a:xfrm>
            <a:custGeom>
              <a:gdLst>
                <a:gd name="connsiteX0" fmla="*/ 1155130 w 4174269"/>
                <a:gd name="connsiteY0" fmla="*/ 990 h 5181455"/>
                <a:gd name="connsiteX1" fmla="*/ 2396955 w 4174269"/>
                <a:gd name="connsiteY1" fmla="*/ 367328 h 5181455"/>
                <a:gd name="connsiteX2" fmla="*/ 3827960 w 4174269"/>
                <a:gd name="connsiteY2" fmla="*/ 4749328 h 5181455"/>
                <a:gd name="connsiteX3" fmla="*/ 3561502 w 4174269"/>
                <a:gd name="connsiteY3" fmla="*/ 5090948 h 5181455"/>
                <a:gd name="connsiteX4" fmla="*/ 3452726 w 4174269"/>
                <a:gd name="connsiteY4" fmla="*/ 5181455 h 5181455"/>
                <a:gd name="connsiteX5" fmla="*/ 0 w 4174269"/>
                <a:gd name="connsiteY5" fmla="*/ 5181455 h 5181455"/>
                <a:gd name="connsiteX6" fmla="*/ 0 w 4174269"/>
                <a:gd name="connsiteY6" fmla="*/ 251605 h 5181455"/>
                <a:gd name="connsiteX7" fmla="*/ 157396 w 4174269"/>
                <a:gd name="connsiteY7" fmla="*/ 182600 h 5181455"/>
                <a:gd name="connsiteX8" fmla="*/ 1155130 w 4174269"/>
                <a:gd name="connsiteY8" fmla="*/ 990 h 5181455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174268" h="5181455">
                  <a:moveTo>
                    <a:pt x="1155130" y="990"/>
                  </a:moveTo>
                  <a:cubicBezTo>
                    <a:pt x="1564667" y="12730"/>
                    <a:pt x="1984593" y="129250"/>
                    <a:pt x="2396955" y="367328"/>
                  </a:cubicBezTo>
                  <a:cubicBezTo>
                    <a:pt x="3871760" y="1218807"/>
                    <a:pt x="4678347" y="3276416"/>
                    <a:pt x="3827960" y="4749328"/>
                  </a:cubicBezTo>
                  <a:cubicBezTo>
                    <a:pt x="3748235" y="4887417"/>
                    <a:pt x="3658928" y="4998272"/>
                    <a:pt x="3561502" y="5090948"/>
                  </a:cubicBezTo>
                  <a:lnTo>
                    <a:pt x="3452726" y="5181455"/>
                  </a:lnTo>
                  <a:lnTo>
                    <a:pt x="0" y="5181455"/>
                  </a:lnTo>
                  <a:lnTo>
                    <a:pt x="0" y="251605"/>
                  </a:lnTo>
                  <a:lnTo>
                    <a:pt x="157396" y="182600"/>
                  </a:lnTo>
                  <a:cubicBezTo>
                    <a:pt x="475610" y="54980"/>
                    <a:pt x="811718" y="-8854"/>
                    <a:pt x="1155130" y="990"/>
                  </a:cubicBezTo>
                  <a:close/>
                </a:path>
              </a:pathLst>
            </a:custGeom>
            <a:solidFill>
              <a:srgbClr val="FFFFFF">
                <a:alpha val="60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0" name="Freeform: Shape 59">
              <a:extLst>
                <a:ext uri="{FF2B5EF4-FFF2-40B4-BE49-F238E27FC236}">
                  <a16:creationId xmlns:a16="http://schemas.microsoft.com/office/drawing/2014/main" id="{D6FE8FAD-8A4A-49E1-AFAF-A074482295A9}"/>
                </a:ext>
              </a:extLst>
            </p:cNvPr>
            <p:cNvSpPr/>
            <p:nvPr/>
          </p:nvSpPr>
          <p:spPr>
            <a:xfrm>
              <a:off x="0" y="1347287"/>
              <a:ext cx="4259808" cy="5510713"/>
            </a:xfrm>
            <a:custGeom>
              <a:gdLst>
                <a:gd name="connsiteX0" fmla="*/ 948905 w 4259808"/>
                <a:gd name="connsiteY0" fmla="*/ 1556 h 5510713"/>
                <a:gd name="connsiteX1" fmla="*/ 2304106 w 4259808"/>
                <a:gd name="connsiteY1" fmla="*/ 405867 h 5510713"/>
                <a:gd name="connsiteX2" fmla="*/ 3890982 w 4259808"/>
                <a:gd name="connsiteY2" fmla="*/ 5156588 h 5510713"/>
                <a:gd name="connsiteX3" fmla="*/ 3680329 w 4259808"/>
                <a:gd name="connsiteY3" fmla="*/ 5445948 h 5510713"/>
                <a:gd name="connsiteX4" fmla="*/ 3616504 w 4259808"/>
                <a:gd name="connsiteY4" fmla="*/ 5510713 h 5510713"/>
                <a:gd name="connsiteX5" fmla="*/ 0 w 4259808"/>
                <a:gd name="connsiteY5" fmla="*/ 5510713 h 5510713"/>
                <a:gd name="connsiteX6" fmla="*/ 0 w 4259808"/>
                <a:gd name="connsiteY6" fmla="*/ 144797 h 5510713"/>
                <a:gd name="connsiteX7" fmla="*/ 164164 w 4259808"/>
                <a:gd name="connsiteY7" fmla="*/ 92266 h 5510713"/>
                <a:gd name="connsiteX8" fmla="*/ 948905 w 4259808"/>
                <a:gd name="connsiteY8" fmla="*/ 1556 h 5510713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259808" h="5510713">
                  <a:moveTo>
                    <a:pt x="948905" y="1556"/>
                  </a:moveTo>
                  <a:cubicBezTo>
                    <a:pt x="1395136" y="16867"/>
                    <a:pt x="1853354" y="145625"/>
                    <a:pt x="2304106" y="405867"/>
                  </a:cubicBezTo>
                  <a:cubicBezTo>
                    <a:pt x="3916211" y="1336616"/>
                    <a:pt x="4808028" y="3568218"/>
                    <a:pt x="3890982" y="5156588"/>
                  </a:cubicBezTo>
                  <a:cubicBezTo>
                    <a:pt x="3826502" y="5268272"/>
                    <a:pt x="3756052" y="5363347"/>
                    <a:pt x="3680329" y="5445948"/>
                  </a:cubicBezTo>
                  <a:lnTo>
                    <a:pt x="3616504" y="5510713"/>
                  </a:lnTo>
                  <a:lnTo>
                    <a:pt x="0" y="5510713"/>
                  </a:lnTo>
                  <a:lnTo>
                    <a:pt x="0" y="144797"/>
                  </a:lnTo>
                  <a:lnTo>
                    <a:pt x="164164" y="92266"/>
                  </a:lnTo>
                  <a:cubicBezTo>
                    <a:pt x="418657" y="23914"/>
                    <a:pt x="681631" y="-7614"/>
                    <a:pt x="948905" y="1556"/>
                  </a:cubicBezTo>
                  <a:close/>
                </a:path>
              </a:pathLst>
            </a:custGeom>
            <a:noFill/>
            <a:ln w="19050">
              <a:solidFill>
                <a:srgbClr val="FFFFFF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0A7C4DFB-FDFD-4F28-8B00-287EB75C79EB}"/>
                </a:ext>
              </a:extLst>
            </p:cNvPr>
            <p:cNvSpPr/>
            <p:nvPr/>
          </p:nvSpPr>
          <p:spPr>
            <a:xfrm>
              <a:off x="0" y="1592806"/>
              <a:ext cx="4029221" cy="5265194"/>
            </a:xfrm>
            <a:custGeom>
              <a:gdLst>
                <a:gd name="connsiteX0" fmla="*/ 812878 w 4029221"/>
                <a:gd name="connsiteY0" fmla="*/ 840 h 5265194"/>
                <a:gd name="connsiteX1" fmla="*/ 960980 w 4029221"/>
                <a:gd name="connsiteY1" fmla="*/ 1442 h 5265194"/>
                <a:gd name="connsiteX2" fmla="*/ 2216856 w 4029221"/>
                <a:gd name="connsiteY2" fmla="*/ 376120 h 5265194"/>
                <a:gd name="connsiteX3" fmla="*/ 3687427 w 4029221"/>
                <a:gd name="connsiteY3" fmla="*/ 4778650 h 5265194"/>
                <a:gd name="connsiteX4" fmla="*/ 3267677 w 4029221"/>
                <a:gd name="connsiteY4" fmla="*/ 5245601 h 5265194"/>
                <a:gd name="connsiteX5" fmla="*/ 3237167 w 4029221"/>
                <a:gd name="connsiteY5" fmla="*/ 5265194 h 5265194"/>
                <a:gd name="connsiteX6" fmla="*/ 0 w 4029221"/>
                <a:gd name="connsiteY6" fmla="*/ 5265194 h 5265194"/>
                <a:gd name="connsiteX7" fmla="*/ 0 w 4029221"/>
                <a:gd name="connsiteY7" fmla="*/ 162790 h 5265194"/>
                <a:gd name="connsiteX8" fmla="*/ 58408 w 4029221"/>
                <a:gd name="connsiteY8" fmla="*/ 139352 h 5265194"/>
                <a:gd name="connsiteX9" fmla="*/ 812878 w 4029221"/>
                <a:gd name="connsiteY9" fmla="*/ 840 h 5265194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4029221" h="5265194">
                  <a:moveTo>
                    <a:pt x="812878" y="840"/>
                  </a:moveTo>
                  <a:cubicBezTo>
                    <a:pt x="862065" y="-449"/>
                    <a:pt x="911443" y="-258"/>
                    <a:pt x="960980" y="1442"/>
                  </a:cubicBezTo>
                  <a:cubicBezTo>
                    <a:pt x="1374507" y="15631"/>
                    <a:pt x="1799140" y="134952"/>
                    <a:pt x="2216856" y="376120"/>
                  </a:cubicBezTo>
                  <a:cubicBezTo>
                    <a:pt x="3710806" y="1238652"/>
                    <a:pt x="4537261" y="3306696"/>
                    <a:pt x="3687427" y="4778650"/>
                  </a:cubicBezTo>
                  <a:cubicBezTo>
                    <a:pt x="3567917" y="4985647"/>
                    <a:pt x="3426282" y="5131074"/>
                    <a:pt x="3267677" y="5245601"/>
                  </a:cubicBezTo>
                  <a:lnTo>
                    <a:pt x="3237167" y="5265194"/>
                  </a:lnTo>
                  <a:lnTo>
                    <a:pt x="0" y="5265194"/>
                  </a:lnTo>
                  <a:lnTo>
                    <a:pt x="0" y="162790"/>
                  </a:lnTo>
                  <a:lnTo>
                    <a:pt x="58408" y="139352"/>
                  </a:lnTo>
                  <a:cubicBezTo>
                    <a:pt x="301661" y="55163"/>
                    <a:pt x="554646" y="7607"/>
                    <a:pt x="812878" y="840"/>
                  </a:cubicBezTo>
                  <a:close/>
                </a:path>
              </a:pathLst>
            </a:custGeom>
            <a:noFill/>
            <a:ln w="19050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B6E867DF-0B62-429A-A554-CBE585048439}"/>
                </a:ext>
              </a:extLst>
            </p:cNvPr>
            <p:cNvSpPr/>
            <p:nvPr/>
          </p:nvSpPr>
          <p:spPr>
            <a:xfrm>
              <a:off x="0" y="2147333"/>
              <a:ext cx="3702048" cy="4710667"/>
            </a:xfrm>
            <a:custGeom>
              <a:gdLst>
                <a:gd name="connsiteX0" fmla="*/ 1057511 w 3702048"/>
                <a:gd name="connsiteY0" fmla="*/ 1243 h 4710667"/>
                <a:gd name="connsiteX1" fmla="*/ 2139959 w 3702048"/>
                <a:gd name="connsiteY1" fmla="*/ 324180 h 4710667"/>
                <a:gd name="connsiteX2" fmla="*/ 3407455 w 3702048"/>
                <a:gd name="connsiteY2" fmla="*/ 4118750 h 4710667"/>
                <a:gd name="connsiteX3" fmla="*/ 2754080 w 3702048"/>
                <a:gd name="connsiteY3" fmla="*/ 4690965 h 4710667"/>
                <a:gd name="connsiteX4" fmla="*/ 2711405 w 3702048"/>
                <a:gd name="connsiteY4" fmla="*/ 4710667 h 4710667"/>
                <a:gd name="connsiteX5" fmla="*/ 0 w 3702048"/>
                <a:gd name="connsiteY5" fmla="*/ 4710667 h 4710667"/>
                <a:gd name="connsiteX6" fmla="*/ 0 w 3702048"/>
                <a:gd name="connsiteY6" fmla="*/ 239601 h 4710667"/>
                <a:gd name="connsiteX7" fmla="*/ 72857 w 3702048"/>
                <a:gd name="connsiteY7" fmla="*/ 203063 h 4710667"/>
                <a:gd name="connsiteX8" fmla="*/ 1057511 w 3702048"/>
                <a:gd name="connsiteY8" fmla="*/ 1243 h 4710667"/>
              </a:gdLst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3702048" h="4710667">
                  <a:moveTo>
                    <a:pt x="1057511" y="1243"/>
                  </a:moveTo>
                  <a:cubicBezTo>
                    <a:pt x="1413932" y="13473"/>
                    <a:pt x="1779927" y="116316"/>
                    <a:pt x="2139959" y="324180"/>
                  </a:cubicBezTo>
                  <a:cubicBezTo>
                    <a:pt x="3427605" y="1067603"/>
                    <a:pt x="4139931" y="2850064"/>
                    <a:pt x="3407455" y="4118750"/>
                  </a:cubicBezTo>
                  <a:cubicBezTo>
                    <a:pt x="3235777" y="4416105"/>
                    <a:pt x="3011128" y="4566048"/>
                    <a:pt x="2754080" y="4690965"/>
                  </a:cubicBezTo>
                  <a:lnTo>
                    <a:pt x="2711405" y="4710667"/>
                  </a:lnTo>
                  <a:lnTo>
                    <a:pt x="0" y="4710667"/>
                  </a:lnTo>
                  <a:lnTo>
                    <a:pt x="0" y="239601"/>
                  </a:lnTo>
                  <a:lnTo>
                    <a:pt x="72857" y="203063"/>
                  </a:lnTo>
                  <a:cubicBezTo>
                    <a:pt x="383165" y="61024"/>
                    <a:pt x="715942" y="-10476"/>
                    <a:pt x="1057511" y="1243"/>
                  </a:cubicBezTo>
                  <a:close/>
                </a:path>
              </a:pathLst>
            </a:custGeom>
            <a:noFill/>
            <a:ln w="15875">
              <a:solidFill>
                <a:schemeClr val="bg2">
                  <a:lumMod val="9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eiryo"/>
                <a:ea typeface="+mn-ea"/>
                <a:cs typeface="+mn-cs"/>
              </a:endParaRPr>
            </a:p>
          </p:txBody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54296" y="3420734"/>
            <a:ext cx="6665976" cy="2129674"/>
          </a:xfrm>
        </p:spPr>
        <p:txBody>
          <a:bodyPr anchor="b">
            <a:noAutofit/>
          </a:bodyPr>
          <a:lstStyle>
            <a:lvl1pPr algn="l">
              <a:lnSpc>
                <a:spcPct val="110000"/>
              </a:lnSpc>
              <a:defRPr sz="4800" cap="none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23" name="Footer Placeholder 22">
            <a:extLst>
              <a:ext uri="{FF2B5EF4-FFF2-40B4-BE49-F238E27FC236}">
                <a16:creationId xmlns:a16="http://schemas.microsoft.com/office/drawing/2014/main" id="{E197B67B-BA44-4D2A-B31D-35A89323C4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654296" y="6170490"/>
            <a:ext cx="5713314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27" name="Slide Number Placeholder 26">
            <a:extLst>
              <a:ext uri="{FF2B5EF4-FFF2-40B4-BE49-F238E27FC236}">
                <a16:creationId xmlns:a16="http://schemas.microsoft.com/office/drawing/2014/main" id="{1D718595-24D3-4517-A62E-C1F493407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54295" y="5550408"/>
            <a:ext cx="6665975" cy="512064"/>
          </a:xfrm>
        </p:spPr>
        <p:txBody>
          <a:bodyPr>
            <a:normAutofit/>
          </a:bodyPr>
          <a:lstStyle>
            <a:lvl1pPr marL="0" indent="0" algn="l">
              <a:lnSpc>
                <a:spcPct val="130000"/>
              </a:lnSpc>
              <a:spcBef>
                <a:spcPct val="0"/>
              </a:spcBef>
              <a:buNone/>
              <a:defRPr sz="2000" baseline="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3C6217BB-A228-414D-92D9-E1D1EFEB8BE6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40080" y="6170491"/>
            <a:ext cx="2840083" cy="457200"/>
          </a:xfrm>
        </p:spPr>
        <p:txBody>
          <a:bodyPr/>
          <a:lstStyle>
            <a:lvl1pPr algn="l">
              <a:defRPr/>
            </a:lvl1pPr>
          </a:lstStyle>
          <a:p>
            <a:fld id="{E72EB70D-CD01-44DA-83B3-8FEB3383D307}" type="datetime1">
              <a:rPr lang="en-US" smtClean="0"/>
              <a:t>8/28/2026</a:t>
            </a:fld>
            <a:endParaRPr lang="en-US"/>
          </a:p>
        </p:txBody>
      </p:sp>
    </p:spTree>
    <p:extLst>
      <p:ext uri="{BB962C8B-B14F-4D97-AF65-F5344CB8AC3E}">
        <p14:creationId val="2031853089"/>
      </p:ext>
    </p:extLst>
  </p:cSld>
  <p:clrMapOvr>
    <a:masterClrMapping/>
  </p:clrMapOvr>
  <p:transition/>
  <p:timing/>
</p:sldLayout>
</file>

<file path=ppt/slideLayouts/slideLayout4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2024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30290" y="2438399"/>
            <a:ext cx="4160520" cy="3657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7C1D6427-F07F-4D50-B151-455100AF70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158CFD-9357-46BE-A189-D637A67C8730}" type="datetime1">
              <a:rPr lang="en-US" smtClean="0"/>
              <a:t>8/28/2026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79EFBB2-C5E0-4D57-AB1D-3AA907ECF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7AE6B7E1-F60B-4D08-9052-423D6FBFAD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val="3645168734"/>
      </p:ext>
    </p:extLst>
  </p:cSld>
  <p:clrMapOvr>
    <a:masterClrMapping/>
  </p:clrMapOvr>
  <p:transition/>
  <p:timing/>
</p:sldLayout>
</file>

<file path=ppt/slideLayouts/slideLayout5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1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130000"/>
              </a:lnSpc>
              <a:buNone/>
              <a:defRPr sz="1800" b="1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20241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30290" y="2456408"/>
            <a:ext cx="4160520" cy="823912"/>
          </a:xfrm>
        </p:spPr>
        <p:txBody>
          <a:bodyPr anchor="b">
            <a:normAutofit/>
          </a:bodyPr>
          <a:lstStyle>
            <a:lvl1pPr marL="0" indent="0">
              <a:lnSpc>
                <a:spcPct val="99000"/>
              </a:lnSpc>
              <a:buNone/>
              <a:defRPr lang="en-US" sz="1800" b="1" kern="1200" cap="all" spc="150" baseline="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lvl="0" indent="0" algn="l" defTabSz="914400" rtl="0" eaLnBrk="1" latinLnBrk="0" hangingPunct="1">
              <a:lnSpc>
                <a:spcPct val="130000"/>
              </a:lnSpc>
              <a:spcBef>
                <a:spcPts val="930"/>
              </a:spcBef>
              <a:buFont typeface="Corbel" panose="020b0503020204020204" pitchFamily="34" charset="0"/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30290" y="3316639"/>
            <a:ext cx="4160520" cy="277936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771BF97-4D2A-43A4-8CDC-2250017EB0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4742EE-B331-4632-BD10-A82FED6B6FC0}" type="datetime1">
              <a:rPr lang="en-US" smtClean="0"/>
              <a:t>8/28/2026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6020661A-DA07-4679-9226-945B5DD24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EEFCE38B-E087-4988-BC3A-FE3B55E70D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/>
          </a:p>
        </p:txBody>
      </p:sp>
      <p:sp>
        <p:nvSpPr>
          <p:cNvPr id="13" name="Title 12">
            <a:extLst>
              <a:ext uri="{FF2B5EF4-FFF2-40B4-BE49-F238E27FC236}">
                <a16:creationId xmlns:a16="http://schemas.microsoft.com/office/drawing/2014/main" id="{D3BC439C-E995-4E1F-8DE9-75C32785E0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val="3220437984"/>
      </p:ext>
    </p:extLst>
  </p:cSld>
  <p:clrMapOvr>
    <a:masterClrMapping/>
  </p:clrMapOvr>
  <p:transition/>
  <p:timing/>
</p:sldLayout>
</file>

<file path=ppt/slideLayouts/slideLayout6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CF30096C-3491-4EF2-ABB2-D57F3F4B5B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1BA835-D13F-49F4-8F11-5D576AC65FAD}" type="datetime1">
              <a:rPr lang="en-US" smtClean="0"/>
              <a:t>8/28/2026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79DA3A85-7147-4F32-944A-B079AF5147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EDDF50D-95C0-4DA2-BBC6-41774FAC14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val="4134506912"/>
      </p:ext>
    </p:extLst>
  </p:cSld>
  <p:clrMapOvr>
    <a:masterClrMapping/>
  </p:clrMapOvr>
  <p:transition/>
  <p:timing/>
</p:sldLayout>
</file>

<file path=ppt/slideLayouts/slideLayout7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blank" preserve="1">
  <p:cSld name="Blank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09BEFCA-6D6F-4F26-823F-C86CA694B8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BD1799-ACB5-4CB2-86A2-5C574F1C8706}" type="datetime1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C2EE2C9-E87D-4495-9EDA-6BC0EDC270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E5557A9-903F-4B36-8B06-D9EADF2305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val="2556680849"/>
      </p:ext>
    </p:extLst>
  </p:cSld>
  <p:clrMapOvr>
    <a:masterClrMapping/>
  </p:clrMapOvr>
  <p:transition/>
  <p:timing/>
</p:sldLayout>
</file>

<file path=ppt/slideLayouts/slideLayout8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640080"/>
            <a:ext cx="3227715" cy="2551751"/>
          </a:xfrm>
        </p:spPr>
        <p:txBody>
          <a:bodyPr anchor="b">
            <a:norm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80160" y="640080"/>
            <a:ext cx="6949440" cy="545591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3"/>
            <a:ext cx="3227715" cy="2872197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BB904BE8-2080-4FFA-9239-A8929E28FAD9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ED5DD0D6-7A82-473E-879B-C6ECD6CCCFEC}" type="datetime1">
              <a:rPr lang="en-US" smtClean="0"/>
              <a:t>8/28/2026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D5580C6-5CD7-4CDD-977D-0533C84F2F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949440" cy="457200"/>
          </a:xfrm>
        </p:spPr>
        <p:txBody>
          <a:bodyPr/>
          <a:lstStyle/>
          <a:p>
            <a:endParaRPr lang="en-US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518D0320-9B66-443F-8E28-8BCF07E08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val="1727953431"/>
      </p:ext>
    </p:extLst>
  </p:cSld>
  <p:clrMapOvr>
    <a:masterClrMapping/>
  </p:clrMapOvr>
  <p:transition/>
  <p:timing/>
</p:sldLayout>
</file>

<file path=ppt/slideLayouts/slideLayout9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8102651" cy="6857999"/>
          </a:xfrm>
          <a:solidFill>
            <a:schemeClr val="bg2">
              <a:lumMod val="9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76488" y="1503910"/>
            <a:ext cx="3230625" cy="1687924"/>
          </a:xfrm>
        </p:spPr>
        <p:txBody>
          <a:bodyPr anchor="b">
            <a:noAutofit/>
          </a:bodyPr>
          <a:lstStyle>
            <a:lvl1pPr>
              <a:lnSpc>
                <a:spcPct val="104000"/>
              </a:lnSpc>
              <a:defRPr sz="3400"/>
            </a:lvl1pPr>
          </a:lstStyle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76488" y="3223806"/>
            <a:ext cx="3227832" cy="2872194"/>
          </a:xfrm>
        </p:spPr>
        <p:txBody>
          <a:bodyPr/>
          <a:lstStyle>
            <a:lvl1pPr marL="0" indent="0">
              <a:spcBef>
                <a:spcPts val="14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41C2A9DB-B176-4069-8734-5B4ED352BA2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476488" y="6170491"/>
            <a:ext cx="2214322" cy="457200"/>
          </a:xfrm>
        </p:spPr>
        <p:txBody>
          <a:bodyPr/>
          <a:lstStyle/>
          <a:p>
            <a:fld id="{D4605E03-BC17-41A7-854C-DFAB672737DC}" type="datetime1">
              <a:rPr lang="en-US" smtClean="0"/>
              <a:t>8/28/2026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30F9A2F-C2C4-4E1C-B4B3-07ED84F28C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280160" y="6170490"/>
            <a:ext cx="6464410" cy="457200"/>
          </a:xfrm>
        </p:spPr>
        <p:txBody>
          <a:bodyPr/>
          <a:lstStyle>
            <a:lvl1pPr>
              <a:defRPr b="1"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F9BFA0A0-2117-4A10-9DAA-080C21559C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val="610245435"/>
      </p:ext>
    </p:extLst>
  </p:cSld>
  <p:clrMapOvr>
    <a:masterClrMapping/>
  </p:clrMapOvr>
  <p:transition/>
  <p:timing/>
</p:sldLayout>
</file>

<file path=ppt/slideLayouts/slideLayout10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6397E4A-EB6A-4FA6-AA4F-69EA0C70FD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86ED0C-1DA7-41F0-94CF-6218B1FEDFF1}" type="datetime1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51A2F5D-7AC4-4F91-965A-7B6A45D6F4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26E8B86-CDB8-482F-9D9F-1BFDA3638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/>
          </a:p>
        </p:txBody>
      </p:sp>
    </p:spTree>
    <p:extLst>
      <p:ext uri="{BB962C8B-B14F-4D97-AF65-F5344CB8AC3E}">
        <p14:creationId val="533119414"/>
      </p:ext>
    </p:extLst>
  </p:cSld>
  <p:clrMapOvr>
    <a:masterClrMapping/>
  </p:clrMapOvr>
  <p:transition/>
  <p:timing/>
</p:sldLayout>
</file>

<file path=ppt/slideLayouts/slideLayout11.xml><?xml version="1.0" encoding="utf-8"?>
<p:sldLayout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965" y="507037"/>
            <a:ext cx="1571626" cy="5339932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933700" y="524373"/>
            <a:ext cx="5959577" cy="5322596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277965" y="6296615"/>
            <a:ext cx="2505996" cy="365125"/>
          </a:xfrm>
        </p:spPr>
        <p:txBody>
          <a:bodyPr/>
          <a:lstStyle/>
          <a:p>
            <a:fld id="{EECF02AB-6034-4B88-BC5A-7C17CB0EF809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933699" y="6296615"/>
            <a:ext cx="5959577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 rot="5400000">
            <a:off x="8734643" y="2853201"/>
            <a:ext cx="5383267" cy="604269"/>
          </a:xfrm>
        </p:spPr>
        <p:txBody>
          <a:bodyPr/>
          <a:lstStyle>
            <a:lvl1pPr algn="l">
              <a:defRPr/>
            </a:lvl1pPr>
          </a:lstStyle>
          <a:p>
            <a:fld id="{FAEF9944-A4F6-4C59-AEBD-678D6480B8EA}" type="slidenum">
              <a:rPr lang="en-US" smtClean="0"/>
              <a:t>‹#›</a:t>
            </a:fld>
            <a:endParaRPr lang="en-US"/>
          </a:p>
        </p:txBody>
      </p:sp>
      <p:cxnSp>
        <p:nvCxnSpPr>
          <p:cNvPr id="7" name="Straight Connector 6" title="Rule Line">
            <a:extLst>
              <a:ext uri="{FF2B5EF4-FFF2-40B4-BE49-F238E27FC236}">
                <a16:creationId xmlns:a16="http://schemas.microsoft.com/office/drawing/2014/main" id="{A1005B08-D2D4-455C-AA62-1200E43E7AF9}"/>
              </a:ext>
            </a:extLst>
          </p:cNvPr>
          <p:cNvCxnSpPr/>
          <p:nvPr/>
        </p:nvCxnSpPr>
        <p:spPr>
          <a:xfrm flipH="1">
            <a:off x="9111582" y="571502"/>
            <a:ext cx="0" cy="5275467"/>
          </a:xfrm>
          <a:prstGeom prst="line">
            <a:avLst/>
          </a:prstGeom>
          <a:ln w="38100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val="3613465136"/>
      </p:ext>
    </p:extLst>
  </p:cSld>
  <p:clrMapOvr>
    <a:masterClrMapping/>
  </p:clrMapOvr>
  <p:transition/>
  <p:timing/>
</p:sldLayout>
</file>

<file path=ppt/slideMasters/_rels/slideMaster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10" Type="http://schemas.openxmlformats.org/officeDocument/2006/relationships/slideLayout" Target="../slideLayouts/slideLayout10.xml" /><Relationship Id="rId11" Type="http://schemas.openxmlformats.org/officeDocument/2006/relationships/slideLayout" Target="../slideLayouts/slideLayout11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3" Type="http://schemas.openxmlformats.org/officeDocument/2006/relationships/slideLayout" Target="../slideLayouts/slideLayout3.xml" /><Relationship Id="rId4" Type="http://schemas.openxmlformats.org/officeDocument/2006/relationships/slideLayout" Target="../slideLayouts/slideLayout4.xml" /><Relationship Id="rId5" Type="http://schemas.openxmlformats.org/officeDocument/2006/relationships/slideLayout" Target="../slideLayouts/slideLayout5.xml" /><Relationship Id="rId6" Type="http://schemas.openxmlformats.org/officeDocument/2006/relationships/slideLayout" Target="../slideLayouts/slideLayout6.xml" /><Relationship Id="rId7" Type="http://schemas.openxmlformats.org/officeDocument/2006/relationships/slideLayout" Target="../slideLayouts/slideLayout7.xml" /><Relationship Id="rId8" Type="http://schemas.openxmlformats.org/officeDocument/2006/relationships/slideLayout" Target="../slideLayouts/slideLayout8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20240" y="442220"/>
            <a:ext cx="8770571" cy="1345269"/>
          </a:xfrm>
          <a:prstGeom prst="rect">
            <a:avLst/>
          </a:prstGeom>
        </p:spPr>
        <p:txBody>
          <a:bodyPr vert="horz" lIns="109728" tIns="109728" rIns="109728" bIns="9144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20240" y="2312276"/>
            <a:ext cx="8770571" cy="3651504"/>
          </a:xfrm>
          <a:prstGeom prst="rect">
            <a:avLst/>
          </a:prstGeom>
        </p:spPr>
        <p:txBody>
          <a:bodyPr vert="horz" lIns="109728" tIns="109728" rIns="109728" bIns="9144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50727" y="6170491"/>
            <a:ext cx="2840083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r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fld id="{C4408324-A84C-4A45-93B6-78D079CCE772}" type="datetime1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20240" y="6170490"/>
            <a:ext cx="5667375" cy="457200"/>
          </a:xfrm>
          <a:prstGeom prst="rect">
            <a:avLst/>
          </a:prstGeom>
        </p:spPr>
        <p:txBody>
          <a:bodyPr vert="horz" lIns="109728" tIns="109728" rIns="109728" bIns="91440" rtlCol="0" anchor="ctr"/>
          <a:lstStyle>
            <a:lvl1pPr algn="l">
              <a:defRPr sz="1100" spc="1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53744" y="6170490"/>
            <a:ext cx="1188720" cy="457200"/>
          </a:xfrm>
          <a:prstGeom prst="rect">
            <a:avLst/>
          </a:prstGeom>
        </p:spPr>
        <p:txBody>
          <a:bodyPr vert="horz" lIns="109728" tIns="109728" rIns="109728" bIns="91440" rtlCol="0" anchor="b"/>
          <a:lstStyle>
            <a:lvl1pPr algn="r">
              <a:defRPr sz="1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</a:defRPr>
            </a:lvl1pPr>
          </a:lstStyle>
          <a:p>
            <a:pPr algn="l"/>
            <a:fld id="{FAEF9944-A4F6-4C59-AEBD-678D6480B8EA}" type="slidenum">
              <a:rPr lang="en-US" smtClean="0"/>
              <a:pPr algn="l"/>
              <a:t>‹#›</a:t>
            </a:fld>
            <a:endParaRPr lang="en-US"/>
          </a:p>
        </p:txBody>
      </p:sp>
      <p:cxnSp>
        <p:nvCxnSpPr>
          <p:cNvPr id="9" name="Straight Connector 8" title="Rule Line">
            <a:extLst>
              <a:ext uri="{FF2B5EF4-FFF2-40B4-BE49-F238E27FC236}">
                <a16:creationId xmlns:a16="http://schemas.microsoft.com/office/drawing/2014/main" id="{430127AE-B29E-4FDF-99D2-A2F1E7003F74}"/>
              </a:ext>
            </a:extLst>
          </p:cNvPr>
          <p:cNvCxnSpPr/>
          <p:nvPr/>
        </p:nvCxnSpPr>
        <p:spPr>
          <a:xfrm>
            <a:off x="1920240" y="2176009"/>
            <a:ext cx="8770571" cy="0"/>
          </a:xfrm>
          <a:prstGeom prst="line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val="17325473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27" r:id="rId5"/>
    <p:sldLayoutId id="2147483732" r:id="rId6"/>
    <p:sldLayoutId id="2147483728" r:id="rId7"/>
    <p:sldLayoutId id="2147483729" r:id="rId8"/>
    <p:sldLayoutId id="2147483730" r:id="rId9"/>
    <p:sldLayoutId id="2147483731" r:id="rId10"/>
    <p:sldLayoutId id="2147483733" r:id="rId11"/>
  </p:sldLayoutIdLst>
  <p:transition/>
  <p:timing/>
  <p:txStyles>
    <p:titleStyle>
      <a:lvl1pPr algn="l" defTabSz="914400" rtl="0" eaLnBrk="1" latinLnBrk="0" hangingPunct="1">
        <a:lnSpc>
          <a:spcPct val="130000"/>
        </a:lnSpc>
        <a:spcBef>
          <a:spcPct val="0"/>
        </a:spcBef>
        <a:buNone/>
        <a:defRPr sz="3200" b="1" kern="1200" spc="1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800" b="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0" indent="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None/>
        <a:defRPr sz="16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0" indent="-320040" algn="l" defTabSz="914400" rtl="0" eaLnBrk="1" latinLnBrk="0" hangingPunct="1">
        <a:lnSpc>
          <a:spcPct val="140000"/>
        </a:lnSpc>
        <a:spcBef>
          <a:spcPts val="930"/>
        </a:spcBef>
        <a:buFont typeface="Corbel" panose="020b0503020204020204" pitchFamily="34" charset="0"/>
        <a:buChar char="–"/>
        <a:defRPr sz="1400" i="1" kern="1200" spc="150" baseline="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92024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6pPr>
      <a:lvl7pPr marL="224028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7pPr>
      <a:lvl8pPr marL="256032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8pPr>
      <a:lvl9pPr marL="2880360" indent="-320040" algn="l" defTabSz="914400" rtl="0" eaLnBrk="1" latinLnBrk="0" hangingPunct="1">
        <a:lnSpc>
          <a:spcPct val="111000"/>
        </a:lnSpc>
        <a:spcBef>
          <a:spcPts val="930"/>
        </a:spcBef>
        <a:buFont typeface="Corbel" panose="020b0503020204020204" pitchFamily="34" charset="0"/>
        <a:buChar char="–"/>
        <a:defRPr sz="1400" i="1" kern="1200">
          <a:solidFill>
            <a:schemeClr val="accent1">
              <a:lumMod val="7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 /><Relationship Id="rId2" Type="http://schemas.openxmlformats.org/officeDocument/2006/relationships/image" Target="../media/image1.jpeg" /></Relationships>
</file>

<file path=ppt/slides/_rels/slide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png" /><Relationship Id="rId3" Type="http://schemas.openxmlformats.org/officeDocument/2006/relationships/image" Target="../media/image3.jpeg" /><Relationship Id="rId4" Type="http://schemas.openxmlformats.org/officeDocument/2006/relationships/image" Target="../media/image4.jpeg" /></Relationships>
</file>

<file path=ppt/slides/_rels/slide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5.jpeg" /><Relationship Id="rId3" Type="http://schemas.openxmlformats.org/officeDocument/2006/relationships/image" Target="../media/image6.jpeg" /><Relationship Id="rId4" Type="http://schemas.openxmlformats.org/officeDocument/2006/relationships/image" Target="../media/image7.jpeg" /><Relationship Id="rId5" Type="http://schemas.openxmlformats.org/officeDocument/2006/relationships/image" Target="../media/image8.jpeg" /></Relationships>
</file>

<file path=ppt/slides/_rels/slide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9.png" /></Relationships>
</file>

<file path=ppt/slides/_rels/slide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0.png" /></Relationships>
</file>

<file path=ppt/slides/_rels/slide1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1.png" /><Relationship Id="rId3" Type="http://schemas.openxmlformats.org/officeDocument/2006/relationships/image" Target="../media/image12.svg" /></Relationships>
</file>

<file path=ppt/slides/_rels/slide1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3.png" /></Relationships>
</file>

<file path=ppt/slides/_rels/slide1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4.png" /></Relationships>
</file>

<file path=ppt/slides/_rels/slide20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2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5.jpeg" /></Relationships>
</file>

<file path=ppt/slides/_rels/slide23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6.jpeg" /></Relationships>
</file>

<file path=ppt/slides/_rels/slide24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5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6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7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8.xml.rels>&#65279;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google.com/search?q=Chemie&amp;tbm=isch&amp;ved=2ahUKEwiop4rWjsz6AhUIEhoKHRRsDoMQ2" TargetMode="External" /><Relationship Id="rId3" Type="http://schemas.openxmlformats.org/officeDocument/2006/relationships/hyperlink" Target="https://cs.wikipedia.org/wiki/Chemick%C3%A1_reakce" TargetMode="External" /><Relationship Id="rId4" Type="http://schemas.openxmlformats.org/officeDocument/2006/relationships/hyperlink" Target="https://www.wikiskripta.eu/w/Chemick%C3%A9_reakce" TargetMode="External" /><Relationship Id="rId5" Type="http://schemas.openxmlformats.org/officeDocument/2006/relationships/hyperlink" Target="http://e-chembook.eu/rychlost-chemickych-reakci" TargetMode="External" /><Relationship Id="rId6" Type="http://schemas.openxmlformats.org/officeDocument/2006/relationships/hyperlink" Target="https://fvhe.vfu.cz/files/reakcni-kinetika2.pdf" TargetMode="External" /><Relationship Id="rId7" Type="http://schemas.openxmlformats.org/officeDocument/2006/relationships/hyperlink" Target="https://cs.wikipedia.org/wiki/Katalyz%C3%A1tor" TargetMode="External" /></Relationships>
</file>

<file path=ppt/slides/slide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DBF1ABE-8590-450D-BB49-BDDCCF3EEA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D436CF27-EE55-3D86-D522-24CF57736F6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80531" y="1346268"/>
            <a:ext cx="5274860" cy="3066706"/>
          </a:xfrm>
        </p:spPr>
        <p:txBody>
          <a:bodyPr anchor="b">
            <a:normAutofit/>
          </a:bodyPr>
          <a:lstStyle/>
          <a:p>
            <a:r>
              <a:rPr lang="en-US" err="1"/>
              <a:t>Chemick</a:t>
            </a:r>
            <a:r>
              <a:rPr lang="cs-CZ"/>
              <a:t>é reakce</a:t>
            </a:r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C7D887A3-61AD-4674-BC53-8DFA8CF7B41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986049" y="0"/>
            <a:ext cx="5205951" cy="6858000"/>
          </a:xfrm>
          <a:custGeom>
            <a:gdLst>
              <a:gd name="connsiteX0" fmla="*/ 0 w 5205951"/>
              <a:gd name="connsiteY0" fmla="*/ 0 h 6858000"/>
              <a:gd name="connsiteX1" fmla="*/ 1709529 w 5205951"/>
              <a:gd name="connsiteY1" fmla="*/ 0 h 6858000"/>
              <a:gd name="connsiteX2" fmla="*/ 2489695 w 5205951"/>
              <a:gd name="connsiteY2" fmla="*/ 0 h 6858000"/>
              <a:gd name="connsiteX3" fmla="*/ 3582928 w 5205951"/>
              <a:gd name="connsiteY3" fmla="*/ 0 h 6858000"/>
              <a:gd name="connsiteX4" fmla="*/ 3605052 w 5205951"/>
              <a:gd name="connsiteY4" fmla="*/ 14997 h 6858000"/>
              <a:gd name="connsiteX5" fmla="*/ 5205951 w 5205951"/>
              <a:gd name="connsiteY5" fmla="*/ 3621656 h 6858000"/>
              <a:gd name="connsiteX6" fmla="*/ 3331601 w 5205951"/>
              <a:gd name="connsiteY6" fmla="*/ 6374814 h 6858000"/>
              <a:gd name="connsiteX7" fmla="*/ 2814953 w 5205951"/>
              <a:gd name="connsiteY7" fmla="*/ 6780599 h 6858000"/>
              <a:gd name="connsiteX8" fmla="*/ 2703197 w 5205951"/>
              <a:gd name="connsiteY8" fmla="*/ 6858000 h 6858000"/>
              <a:gd name="connsiteX9" fmla="*/ 2489695 w 5205951"/>
              <a:gd name="connsiteY9" fmla="*/ 6858000 h 6858000"/>
              <a:gd name="connsiteX10" fmla="*/ 1709529 w 5205951"/>
              <a:gd name="connsiteY10" fmla="*/ 6858000 h 6858000"/>
              <a:gd name="connsiteX11" fmla="*/ 0 w 5205951"/>
              <a:gd name="connsiteY11" fmla="*/ 6858000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5205951" h="6858000">
                <a:moveTo>
                  <a:pt x="0" y="0"/>
                </a:moveTo>
                <a:lnTo>
                  <a:pt x="1709529" y="0"/>
                </a:lnTo>
                <a:lnTo>
                  <a:pt x="2489695" y="0"/>
                </a:lnTo>
                <a:lnTo>
                  <a:pt x="3582928" y="0"/>
                </a:lnTo>
                <a:lnTo>
                  <a:pt x="3605052" y="14997"/>
                </a:lnTo>
                <a:cubicBezTo>
                  <a:pt x="4632215" y="754641"/>
                  <a:pt x="5205951" y="2093192"/>
                  <a:pt x="5205951" y="3621656"/>
                </a:cubicBezTo>
                <a:cubicBezTo>
                  <a:pt x="5205951" y="4969131"/>
                  <a:pt x="4277226" y="5602839"/>
                  <a:pt x="3331601" y="6374814"/>
                </a:cubicBezTo>
                <a:cubicBezTo>
                  <a:pt x="3159398" y="6515397"/>
                  <a:pt x="2988771" y="6653108"/>
                  <a:pt x="2814953" y="6780599"/>
                </a:cubicBezTo>
                <a:lnTo>
                  <a:pt x="2703197" y="6858000"/>
                </a:lnTo>
                <a:lnTo>
                  <a:pt x="2489695" y="6858000"/>
                </a:lnTo>
                <a:lnTo>
                  <a:pt x="1709529" y="6858000"/>
                </a:lnTo>
                <a:lnTo>
                  <a:pt x="0" y="685800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Freeform: Shape 12">
            <a:extLst>
              <a:ext uri="{FF2B5EF4-FFF2-40B4-BE49-F238E27FC236}">
                <a16:creationId xmlns:a16="http://schemas.microsoft.com/office/drawing/2014/main" id="{479F0FB3-8461-462D-84A2-53106FBF4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553480" y="0"/>
            <a:ext cx="2529723" cy="6858000"/>
          </a:xfrm>
          <a:custGeom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11E3C311-4E8A-45D9-97BF-07F5FD34697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758825" y="0"/>
            <a:ext cx="2536434" cy="6858000"/>
          </a:xfrm>
          <a:custGeom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4" name="Picture 3" descr="Barevný prášek na černém pozadí">
            <a:extLst>
              <a:ext uri="{FF2B5EF4-FFF2-40B4-BE49-F238E27FC236}">
                <a16:creationId xmlns:a16="http://schemas.microsoft.com/office/drawing/2014/main" id="{360E22AC-FEE4-998C-E8B6-3D5E32E6349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6102" r="32672"/>
          <a:stretch>
            <a:fillRect/>
          </a:stretch>
        </p:blipFill>
        <p:spPr>
          <a:xfrm>
            <a:off x="7187979" y="10"/>
            <a:ext cx="5004021" cy="6857990"/>
          </a:xfrm>
          <a:custGeom>
            <a:rect l="l" t="t" r="r" b="b"/>
            <a:pathLst>
              <a:path w="4901771" h="6858000">
                <a:moveTo>
                  <a:pt x="1623023" y="0"/>
                </a:moveTo>
                <a:lnTo>
                  <a:pt x="2716256" y="0"/>
                </a:lnTo>
                <a:lnTo>
                  <a:pt x="3496422" y="0"/>
                </a:lnTo>
                <a:lnTo>
                  <a:pt x="4544484" y="0"/>
                </a:lnTo>
                <a:lnTo>
                  <a:pt x="4710787" y="0"/>
                </a:lnTo>
                <a:lnTo>
                  <a:pt x="4901771" y="0"/>
                </a:lnTo>
                <a:lnTo>
                  <a:pt x="4901771" y="6858000"/>
                </a:lnTo>
                <a:lnTo>
                  <a:pt x="4710787" y="6858000"/>
                </a:lnTo>
                <a:lnTo>
                  <a:pt x="4544484" y="6858000"/>
                </a:lnTo>
                <a:lnTo>
                  <a:pt x="3496422" y="6858000"/>
                </a:lnTo>
                <a:lnTo>
                  <a:pt x="2716256" y="6858000"/>
                </a:lnTo>
                <a:lnTo>
                  <a:pt x="2502754" y="6858000"/>
                </a:lnTo>
                <a:lnTo>
                  <a:pt x="2390998" y="6780599"/>
                </a:lnTo>
                <a:cubicBezTo>
                  <a:pt x="2217180" y="6653108"/>
                  <a:pt x="2046553" y="6515397"/>
                  <a:pt x="1874350" y="6374814"/>
                </a:cubicBezTo>
                <a:cubicBezTo>
                  <a:pt x="928725" y="5602839"/>
                  <a:pt x="0" y="4969131"/>
                  <a:pt x="0" y="3621656"/>
                </a:cubicBezTo>
                <a:cubicBezTo>
                  <a:pt x="0" y="2093192"/>
                  <a:pt x="573736" y="754641"/>
                  <a:pt x="1600899" y="14997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val="1638840300"/>
      </p:ext>
    </p:extLst>
  </p:cSld>
  <p:clrMapOvr>
    <a:masterClrMapping/>
  </p:clrMapOvr>
  <p:transition/>
  <p:timing/>
</p:sld>
</file>

<file path=ppt/slides/slide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 useBgFill="1">
        <p:nvSpPr>
          <p:cNvPr id="1109" name="Rectangle 1108">
            <a:extLst>
              <a:ext uri="{FF2B5EF4-FFF2-40B4-BE49-F238E27FC236}">
                <a16:creationId xmlns:a16="http://schemas.microsoft.com/office/drawing/2014/main" id="{3D5FBB81-B61B-416A-8F5D-A8DDF62530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111" name="Freeform: Shape 1110">
            <a:extLst>
              <a:ext uri="{FF2B5EF4-FFF2-40B4-BE49-F238E27FC236}">
                <a16:creationId xmlns:a16="http://schemas.microsoft.com/office/drawing/2014/main" id="{B21C4495-06C7-4D38-A504-47181B437E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095999" y="0"/>
            <a:ext cx="6096000" cy="6858000"/>
          </a:xfrm>
          <a:custGeom>
            <a:gdLst>
              <a:gd name="connsiteX0" fmla="*/ 2995083 w 6119349"/>
              <a:gd name="connsiteY0" fmla="*/ 0 h 6858000"/>
              <a:gd name="connsiteX1" fmla="*/ 1980895 w 6119349"/>
              <a:gd name="connsiteY1" fmla="*/ 0 h 6858000"/>
              <a:gd name="connsiteX2" fmla="*/ 323851 w 6119349"/>
              <a:gd name="connsiteY2" fmla="*/ 0 h 6858000"/>
              <a:gd name="connsiteX3" fmla="*/ 0 w 6119349"/>
              <a:gd name="connsiteY3" fmla="*/ 0 h 6858000"/>
              <a:gd name="connsiteX4" fmla="*/ 0 w 6119349"/>
              <a:gd name="connsiteY4" fmla="*/ 6858000 h 6858000"/>
              <a:gd name="connsiteX5" fmla="*/ 323851 w 6119349"/>
              <a:gd name="connsiteY5" fmla="*/ 6858000 h 6858000"/>
              <a:gd name="connsiteX6" fmla="*/ 1980895 w 6119349"/>
              <a:gd name="connsiteY6" fmla="*/ 6858000 h 6858000"/>
              <a:gd name="connsiteX7" fmla="*/ 2995083 w 6119349"/>
              <a:gd name="connsiteY7" fmla="*/ 6858000 h 6858000"/>
              <a:gd name="connsiteX8" fmla="*/ 2995083 w 6119349"/>
              <a:gd name="connsiteY8" fmla="*/ 6847549 h 6858000"/>
              <a:gd name="connsiteX9" fmla="*/ 3403093 w 6119349"/>
              <a:gd name="connsiteY9" fmla="*/ 6847549 h 6858000"/>
              <a:gd name="connsiteX10" fmla="*/ 3616595 w 6119349"/>
              <a:gd name="connsiteY10" fmla="*/ 6847549 h 6858000"/>
              <a:gd name="connsiteX11" fmla="*/ 3728351 w 6119349"/>
              <a:gd name="connsiteY11" fmla="*/ 6770384 h 6858000"/>
              <a:gd name="connsiteX12" fmla="*/ 4244999 w 6119349"/>
              <a:gd name="connsiteY12" fmla="*/ 6365836 h 6858000"/>
              <a:gd name="connsiteX13" fmla="*/ 6119349 w 6119349"/>
              <a:gd name="connsiteY13" fmla="*/ 3621068 h 6858000"/>
              <a:gd name="connsiteX14" fmla="*/ 4518450 w 6119349"/>
              <a:gd name="connsiteY14" fmla="*/ 25401 h 6858000"/>
              <a:gd name="connsiteX15" fmla="*/ 4496326 w 6119349"/>
              <a:gd name="connsiteY15" fmla="*/ 10450 h 6858000"/>
              <a:gd name="connsiteX16" fmla="*/ 3403093 w 6119349"/>
              <a:gd name="connsiteY16" fmla="*/ 10450 h 6858000"/>
              <a:gd name="connsiteX17" fmla="*/ 2995083 w 6119349"/>
              <a:gd name="connsiteY17" fmla="*/ 10450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</a:cxnLst>
            <a:rect l="l" t="t" r="r" b="b"/>
            <a:pathLst>
              <a:path w="6119349" h="6858000">
                <a:moveTo>
                  <a:pt x="2995083" y="0"/>
                </a:moveTo>
                <a:lnTo>
                  <a:pt x="1980895" y="0"/>
                </a:lnTo>
                <a:lnTo>
                  <a:pt x="323851" y="0"/>
                </a:lnTo>
                <a:lnTo>
                  <a:pt x="0" y="0"/>
                </a:lnTo>
                <a:lnTo>
                  <a:pt x="0" y="6858000"/>
                </a:lnTo>
                <a:lnTo>
                  <a:pt x="323851" y="6858000"/>
                </a:lnTo>
                <a:lnTo>
                  <a:pt x="1980895" y="6858000"/>
                </a:lnTo>
                <a:lnTo>
                  <a:pt x="2995083" y="6858000"/>
                </a:lnTo>
                <a:lnTo>
                  <a:pt x="2995083" y="6847549"/>
                </a:lnTo>
                <a:lnTo>
                  <a:pt x="3403093" y="6847549"/>
                </a:lnTo>
                <a:lnTo>
                  <a:pt x="3616595" y="6847549"/>
                </a:lnTo>
                <a:lnTo>
                  <a:pt x="3728351" y="6770384"/>
                </a:lnTo>
                <a:cubicBezTo>
                  <a:pt x="3902169" y="6643282"/>
                  <a:pt x="4072796" y="6505990"/>
                  <a:pt x="4244999" y="6365836"/>
                </a:cubicBezTo>
                <a:cubicBezTo>
                  <a:pt x="5190624" y="5596214"/>
                  <a:pt x="6119349" y="4964437"/>
                  <a:pt x="6119349" y="3621068"/>
                </a:cubicBezTo>
                <a:cubicBezTo>
                  <a:pt x="6119349" y="2097263"/>
                  <a:pt x="5545613" y="762791"/>
                  <a:pt x="4518450" y="25401"/>
                </a:cubicBezTo>
                <a:lnTo>
                  <a:pt x="4496326" y="10450"/>
                </a:lnTo>
                <a:lnTo>
                  <a:pt x="3403093" y="10450"/>
                </a:lnTo>
                <a:lnTo>
                  <a:pt x="2995083" y="10450"/>
                </a:ln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113" name="Freeform: Shape 1112">
            <a:extLst>
              <a:ext uri="{FF2B5EF4-FFF2-40B4-BE49-F238E27FC236}">
                <a16:creationId xmlns:a16="http://schemas.microsoft.com/office/drawing/2014/main" id="{954DC750-3087-4E36-AD5D-5D8FCA91C71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11641" y="0"/>
            <a:ext cx="2529723" cy="6858000"/>
          </a:xfrm>
          <a:custGeom>
            <a:gdLst>
              <a:gd name="connsiteX0" fmla="*/ 1258269 w 2529723"/>
              <a:gd name="connsiteY0" fmla="*/ 0 h 6858000"/>
              <a:gd name="connsiteX1" fmla="*/ 1275627 w 2529723"/>
              <a:gd name="connsiteY1" fmla="*/ 0 h 6858000"/>
              <a:gd name="connsiteX2" fmla="*/ 1302560 w 2529723"/>
              <a:gd name="connsiteY2" fmla="*/ 24338 h 6858000"/>
              <a:gd name="connsiteX3" fmla="*/ 2522825 w 2529723"/>
              <a:gd name="connsiteY3" fmla="*/ 3678515 h 6858000"/>
              <a:gd name="connsiteX4" fmla="*/ 557500 w 2529723"/>
              <a:gd name="connsiteY4" fmla="*/ 6451411 h 6858000"/>
              <a:gd name="connsiteX5" fmla="*/ 32482 w 2529723"/>
              <a:gd name="connsiteY5" fmla="*/ 6849373 h 6858000"/>
              <a:gd name="connsiteX6" fmla="*/ 19531 w 2529723"/>
              <a:gd name="connsiteY6" fmla="*/ 6858000 h 6858000"/>
              <a:gd name="connsiteX7" fmla="*/ 0 w 2529723"/>
              <a:gd name="connsiteY7" fmla="*/ 6858000 h 6858000"/>
              <a:gd name="connsiteX8" fmla="*/ 14202 w 2529723"/>
              <a:gd name="connsiteY8" fmla="*/ 6848540 h 6858000"/>
              <a:gd name="connsiteX9" fmla="*/ 539221 w 2529723"/>
              <a:gd name="connsiteY9" fmla="*/ 6450578 h 6858000"/>
              <a:gd name="connsiteX10" fmla="*/ 2504546 w 2529723"/>
              <a:gd name="connsiteY10" fmla="*/ 3677682 h 6858000"/>
              <a:gd name="connsiteX11" fmla="*/ 1284280 w 2529723"/>
              <a:gd name="connsiteY11" fmla="*/ 23504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29723" h="6858000">
                <a:moveTo>
                  <a:pt x="1258269" y="0"/>
                </a:moveTo>
                <a:lnTo>
                  <a:pt x="1275627" y="0"/>
                </a:lnTo>
                <a:lnTo>
                  <a:pt x="1302560" y="24338"/>
                </a:lnTo>
                <a:cubicBezTo>
                  <a:pt x="2156831" y="855667"/>
                  <a:pt x="2590622" y="2191755"/>
                  <a:pt x="2522825" y="3678515"/>
                </a:cubicBezTo>
                <a:cubicBezTo>
                  <a:pt x="2459072" y="5076606"/>
                  <a:pt x="1519830" y="5692656"/>
                  <a:pt x="557500" y="6451411"/>
                </a:cubicBezTo>
                <a:cubicBezTo>
                  <a:pt x="382255" y="6589587"/>
                  <a:pt x="208689" y="6724853"/>
                  <a:pt x="32482" y="6849373"/>
                </a:cubicBezTo>
                <a:lnTo>
                  <a:pt x="19531" y="6858000"/>
                </a:lnTo>
                <a:lnTo>
                  <a:pt x="0" y="6858000"/>
                </a:lnTo>
                <a:lnTo>
                  <a:pt x="14202" y="6848540"/>
                </a:lnTo>
                <a:cubicBezTo>
                  <a:pt x="190409" y="6724020"/>
                  <a:pt x="363976" y="6588754"/>
                  <a:pt x="539221" y="6450578"/>
                </a:cubicBezTo>
                <a:cubicBezTo>
                  <a:pt x="1501550" y="5691822"/>
                  <a:pt x="2440792" y="5075773"/>
                  <a:pt x="2504546" y="3677682"/>
                </a:cubicBezTo>
                <a:cubicBezTo>
                  <a:pt x="2572343" y="2190921"/>
                  <a:pt x="2138551" y="854834"/>
                  <a:pt x="1284280" y="23504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C098EC37-07C4-E10A-0DA5-F21C1A6000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2913"/>
            <a:ext cx="4914973" cy="1639888"/>
          </a:xfrm>
        </p:spPr>
        <p:txBody>
          <a:bodyPr anchor="b">
            <a:normAutofit/>
          </a:bodyPr>
          <a:lstStyle/>
          <a:p>
            <a:r>
              <a:rPr lang="cs-CZ"/>
              <a:t>Co je to?</a:t>
            </a:r>
            <a:endParaRPr lang="en-US"/>
          </a:p>
        </p:txBody>
      </p:sp>
      <p:sp>
        <p:nvSpPr>
          <p:cNvPr id="4" name="Zástupný obsah 3">
            <a:extLst>
              <a:ext uri="{FF2B5EF4-FFF2-40B4-BE49-F238E27FC236}">
                <a16:creationId xmlns:a16="http://schemas.microsoft.com/office/drawing/2014/main" id="{BD306C75-7548-B808-5ABC-FFF9BE3C7F0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2312988"/>
            <a:ext cx="4518277" cy="3651250"/>
          </a:xfrm>
        </p:spPr>
        <p:txBody>
          <a:bodyPr>
            <a:normAutofit/>
          </a:bodyPr>
          <a:lstStyle/>
          <a:p>
            <a:endParaRPr lang="en-US"/>
          </a:p>
        </p:txBody>
      </p:sp>
      <p:sp>
        <p:nvSpPr>
          <p:cNvPr id="1115" name="Freeform: Shape 1114">
            <a:extLst>
              <a:ext uri="{FF2B5EF4-FFF2-40B4-BE49-F238E27FC236}">
                <a16:creationId xmlns:a16="http://schemas.microsoft.com/office/drawing/2014/main" id="{F14216FE-B0F1-4AE2-814B-B8459DC084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885182" y="0"/>
            <a:ext cx="2536434" cy="6858000"/>
          </a:xfrm>
          <a:custGeom>
            <a:gdLst>
              <a:gd name="connsiteX0" fmla="*/ 879731 w 2536434"/>
              <a:gd name="connsiteY0" fmla="*/ 0 h 6858000"/>
              <a:gd name="connsiteX1" fmla="*/ 913411 w 2536434"/>
              <a:gd name="connsiteY1" fmla="*/ 0 h 6858000"/>
              <a:gd name="connsiteX2" fmla="*/ 935535 w 2536434"/>
              <a:gd name="connsiteY2" fmla="*/ 14997 h 6858000"/>
              <a:gd name="connsiteX3" fmla="*/ 2536434 w 2536434"/>
              <a:gd name="connsiteY3" fmla="*/ 3621656 h 6858000"/>
              <a:gd name="connsiteX4" fmla="*/ 662084 w 2536434"/>
              <a:gd name="connsiteY4" fmla="*/ 6374814 h 6858000"/>
              <a:gd name="connsiteX5" fmla="*/ 145436 w 2536434"/>
              <a:gd name="connsiteY5" fmla="*/ 6780599 h 6858000"/>
              <a:gd name="connsiteX6" fmla="*/ 33680 w 2536434"/>
              <a:gd name="connsiteY6" fmla="*/ 6858000 h 6858000"/>
              <a:gd name="connsiteX7" fmla="*/ 0 w 2536434"/>
              <a:gd name="connsiteY7" fmla="*/ 6858000 h 6858000"/>
              <a:gd name="connsiteX8" fmla="*/ 111756 w 2536434"/>
              <a:gd name="connsiteY8" fmla="*/ 6780599 h 6858000"/>
              <a:gd name="connsiteX9" fmla="*/ 628404 w 2536434"/>
              <a:gd name="connsiteY9" fmla="*/ 6374814 h 6858000"/>
              <a:gd name="connsiteX10" fmla="*/ 2502754 w 2536434"/>
              <a:gd name="connsiteY10" fmla="*/ 3621656 h 6858000"/>
              <a:gd name="connsiteX11" fmla="*/ 901855 w 2536434"/>
              <a:gd name="connsiteY11" fmla="*/ 14997 h 685800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536434" h="6858000">
                <a:moveTo>
                  <a:pt x="879731" y="0"/>
                </a:moveTo>
                <a:lnTo>
                  <a:pt x="913411" y="0"/>
                </a:lnTo>
                <a:lnTo>
                  <a:pt x="935535" y="14997"/>
                </a:lnTo>
                <a:cubicBezTo>
                  <a:pt x="1962698" y="754641"/>
                  <a:pt x="2536434" y="2093192"/>
                  <a:pt x="2536434" y="3621656"/>
                </a:cubicBezTo>
                <a:cubicBezTo>
                  <a:pt x="2536434" y="4969131"/>
                  <a:pt x="1607709" y="5602839"/>
                  <a:pt x="662084" y="6374814"/>
                </a:cubicBezTo>
                <a:cubicBezTo>
                  <a:pt x="489881" y="6515397"/>
                  <a:pt x="319254" y="6653108"/>
                  <a:pt x="145436" y="6780599"/>
                </a:cubicBezTo>
                <a:lnTo>
                  <a:pt x="33680" y="6858000"/>
                </a:lnTo>
                <a:lnTo>
                  <a:pt x="0" y="6858000"/>
                </a:lnTo>
                <a:lnTo>
                  <a:pt x="111756" y="6780599"/>
                </a:lnTo>
                <a:cubicBezTo>
                  <a:pt x="285574" y="6653108"/>
                  <a:pt x="456201" y="6515397"/>
                  <a:pt x="628404" y="6374814"/>
                </a:cubicBezTo>
                <a:cubicBezTo>
                  <a:pt x="1574029" y="5602839"/>
                  <a:pt x="2502754" y="4969131"/>
                  <a:pt x="2502754" y="3621656"/>
                </a:cubicBezTo>
                <a:cubicBezTo>
                  <a:pt x="2502754" y="2093192"/>
                  <a:pt x="1929018" y="754641"/>
                  <a:pt x="901855" y="14997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1036" name="Picture 12">
            <a:extLst>
              <a:ext uri="{FF2B5EF4-FFF2-40B4-BE49-F238E27FC236}">
                <a16:creationId xmlns:a16="http://schemas.microsoft.com/office/drawing/2014/main" id="{995654B9-659C-5A13-16E7-8D527A7E453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50" b="1"/>
          <a:stretch>
            <a:fillRect/>
          </a:stretch>
        </p:blipFill>
        <p:spPr bwMode="auto">
          <a:xfrm>
            <a:off x="6380400" y="4570"/>
            <a:ext cx="3058874" cy="3481803"/>
          </a:xfrm>
          <a:custGeom>
            <a:rect l="l" t="t" r="r" b="b"/>
            <a:pathLst>
              <a:path w="3058874" h="3470148">
                <a:moveTo>
                  <a:pt x="1619455" y="0"/>
                </a:moveTo>
                <a:lnTo>
                  <a:pt x="2712688" y="0"/>
                </a:lnTo>
                <a:lnTo>
                  <a:pt x="3058874" y="0"/>
                </a:lnTo>
                <a:lnTo>
                  <a:pt x="3058874" y="3470148"/>
                </a:lnTo>
                <a:lnTo>
                  <a:pt x="0" y="3470148"/>
                </a:lnTo>
                <a:lnTo>
                  <a:pt x="3126" y="3337395"/>
                </a:lnTo>
                <a:cubicBezTo>
                  <a:pt x="69921" y="1928213"/>
                  <a:pt x="634366" y="708413"/>
                  <a:pt x="1597331" y="14997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Close Up Of Chemical Reactions In Beakers At Laboratory Stock Photo -  Download Image Now - iStock">
            <a:extLst>
              <a:ext uri="{FF2B5EF4-FFF2-40B4-BE49-F238E27FC236}">
                <a16:creationId xmlns:a16="http://schemas.microsoft.com/office/drawing/2014/main" id="{B7FD5516-9C37-B94E-F132-06F8B877A3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723" r="19486" b="-3"/>
          <a:stretch>
            <a:fillRect/>
          </a:stretch>
        </p:blipFill>
        <p:spPr bwMode="auto">
          <a:xfrm>
            <a:off x="9480422" y="10"/>
            <a:ext cx="2711578" cy="34817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chemical reaction | Definition, Equations, Examples, &amp; Types | Britannica">
            <a:extLst>
              <a:ext uri="{FF2B5EF4-FFF2-40B4-BE49-F238E27FC236}">
                <a16:creationId xmlns:a16="http://schemas.microsoft.com/office/drawing/2014/main" id="{407E56D1-2713-9627-487F-274554AC57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278" r="2" b="8962"/>
          <a:stretch>
            <a:fillRect/>
          </a:stretch>
        </p:blipFill>
        <p:spPr bwMode="auto">
          <a:xfrm>
            <a:off x="6382118" y="3532094"/>
            <a:ext cx="5809882" cy="3325906"/>
          </a:xfrm>
          <a:custGeom>
            <a:rect l="l" t="t" r="r" b="b"/>
            <a:pathLst>
              <a:path w="5809882" h="3310128">
                <a:moveTo>
                  <a:pt x="1630" y="0"/>
                </a:moveTo>
                <a:lnTo>
                  <a:pt x="3451988" y="0"/>
                </a:lnTo>
                <a:lnTo>
                  <a:pt x="4053347" y="0"/>
                </a:lnTo>
                <a:lnTo>
                  <a:pt x="4901771" y="0"/>
                </a:lnTo>
                <a:lnTo>
                  <a:pt x="5491317" y="0"/>
                </a:lnTo>
                <a:lnTo>
                  <a:pt x="5809882" y="0"/>
                </a:lnTo>
                <a:lnTo>
                  <a:pt x="5809882" y="3310128"/>
                </a:lnTo>
                <a:lnTo>
                  <a:pt x="5491317" y="3310128"/>
                </a:lnTo>
                <a:lnTo>
                  <a:pt x="4053347" y="3310128"/>
                </a:lnTo>
                <a:lnTo>
                  <a:pt x="3451988" y="3310128"/>
                </a:lnTo>
                <a:lnTo>
                  <a:pt x="3451988" y="3305556"/>
                </a:lnTo>
                <a:lnTo>
                  <a:pt x="2716256" y="3305556"/>
                </a:lnTo>
                <a:lnTo>
                  <a:pt x="2502754" y="3305556"/>
                </a:lnTo>
                <a:lnTo>
                  <a:pt x="2390998" y="3228155"/>
                </a:lnTo>
                <a:cubicBezTo>
                  <a:pt x="2217180" y="3100664"/>
                  <a:pt x="2046553" y="2962953"/>
                  <a:pt x="1874350" y="2822370"/>
                </a:cubicBezTo>
                <a:cubicBezTo>
                  <a:pt x="928725" y="2050395"/>
                  <a:pt x="0" y="1416687"/>
                  <a:pt x="0" y="69212"/>
                </a:cubicBezTo>
                <a:close/>
              </a:path>
            </a:pathLst>
          </a:cu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val="853051178"/>
      </p:ext>
    </p:extLst>
  </p:cSld>
  <p:clrMapOvr>
    <a:masterClrMapping/>
  </p:clrMapOvr>
  <p:transition/>
  <p:timing/>
</p:sld>
</file>

<file path=ppt/slides/slide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CA83158-B8B2-C4EC-A073-BD2B789E976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Chemické reakce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01F1D99-73C5-08B6-10AF-B7BB096037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cs-CZ"/>
              <a:t>Změna chemické struktury.</a:t>
            </a:r>
            <a:endParaRPr lang="en-US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cs-CZ"/>
              <a:t>Reaktanty </a:t>
            </a:r>
            <a:r>
              <a:rPr lang="en-US"/>
              <a:t>=</a:t>
            </a:r>
            <a:r>
              <a:rPr lang="cs-CZ"/>
              <a:t> Látky vstupující do reakce.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cs-CZ"/>
              <a:t>Produkty </a:t>
            </a:r>
            <a:r>
              <a:rPr lang="en-US"/>
              <a:t>=</a:t>
            </a:r>
            <a:r>
              <a:rPr lang="cs-CZ"/>
              <a:t> Látky vystupující z reakce.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cs-CZ"/>
              <a:t>Dochází k zániku a vzniku chemických vazeb.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cs-CZ"/>
              <a:t>Popisujeme chemickými rovnicemi</a:t>
            </a:r>
            <a:endParaRPr lang="en-US"/>
          </a:p>
        </p:txBody>
      </p:sp>
    </p:spTree>
    <p:extLst>
      <p:ext uri="{BB962C8B-B14F-4D97-AF65-F5344CB8AC3E}">
        <p14:creationId val="2871546033"/>
      </p:ext>
    </p:extLst>
  </p:cSld>
  <p:clrMapOvr>
    <a:masterClrMapping/>
  </p:clrMapOvr>
  <p:transition/>
  <p:timing/>
</p:sld>
</file>

<file path=ppt/slides/slide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205DE39-820E-D584-F39B-C9432F7A37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Typy reakcí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B4A18C5-05F4-DB7C-62AB-B06BCD4465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cs-CZ" sz="2400"/>
              <a:t>Přímá</a:t>
            </a:r>
            <a:r>
              <a:rPr lang="cs-CZ"/>
              <a:t> – Vznik produktů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cs-CZ" sz="2400"/>
              <a:t>Zpětná</a:t>
            </a:r>
            <a:r>
              <a:rPr lang="cs-CZ"/>
              <a:t> – Reakce produktů za vzniku výchozích látek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cs-CZ" sz="2400"/>
              <a:t>Vratná</a:t>
            </a:r>
            <a:r>
              <a:rPr lang="cs-CZ"/>
              <a:t> – Přímá a zpětná reakce probíhají vzájemně</a:t>
            </a:r>
            <a:endParaRPr lang="en-US"/>
          </a:p>
        </p:txBody>
      </p:sp>
    </p:spTree>
    <p:extLst>
      <p:ext uri="{BB962C8B-B14F-4D97-AF65-F5344CB8AC3E}">
        <p14:creationId val="3571516496"/>
      </p:ext>
    </p:extLst>
  </p:cSld>
  <p:clrMapOvr>
    <a:masterClrMapping/>
  </p:clrMapOvr>
  <p:transition/>
  <p:timing/>
</p:sld>
</file>

<file path=ppt/slides/slide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6563EE22-51BF-A2D8-0E50-8398C3A16F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err="1"/>
              <a:t>Využítí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968C4F3-77CD-4519-0E62-F6015C7DAA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sz="2000"/>
              <a:t>Například:</a:t>
            </a:r>
          </a:p>
          <a:p>
            <a:r>
              <a:rPr lang="cs-CZ"/>
              <a:t>Farmaceutický průmysl – Výroba léčiv</a:t>
            </a:r>
          </a:p>
          <a:p>
            <a:r>
              <a:rPr lang="cs-CZ"/>
              <a:t>Stavební průmysl – Výroba hmot a látek</a:t>
            </a:r>
          </a:p>
          <a:p>
            <a:r>
              <a:rPr lang="cs-CZ"/>
              <a:t>Vojenský průmysl – Munice</a:t>
            </a:r>
          </a:p>
          <a:p>
            <a:r>
              <a:rPr lang="cs-CZ"/>
              <a:t>Vesmírný průmysl – Raketové palivo</a:t>
            </a:r>
          </a:p>
          <a:p>
            <a:endParaRPr lang="en-US"/>
          </a:p>
        </p:txBody>
      </p:sp>
      <p:pic>
        <p:nvPicPr>
          <p:cNvPr id="1026" name="Picture 2" descr="Vše, co chcete vědět o betonu | STAVMAT STAVEBNINY, a.s.">
            <a:extLst>
              <a:ext uri="{FF2B5EF4-FFF2-40B4-BE49-F238E27FC236}">
                <a16:creationId xmlns:a16="http://schemas.microsoft.com/office/drawing/2014/main" id="{480F8102-E4FC-CBEE-D0E3-2C6345B2BD3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8502636" y="2312276"/>
            <a:ext cx="2619375" cy="17430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SpaceX Company Profile, News, Rankings | Fortune | Fortune">
            <a:extLst>
              <a:ext uri="{FF2B5EF4-FFF2-40B4-BE49-F238E27FC236}">
                <a16:creationId xmlns:a16="http://schemas.microsoft.com/office/drawing/2014/main" id="{DC3786D0-616E-AAF1-247E-64C404CE0F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70678" y="4195352"/>
            <a:ext cx="3770038" cy="25133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Modern Anti-Tank Ammunition – The Ontario Regiment RCAC Museum">
            <a:extLst>
              <a:ext uri="{FF2B5EF4-FFF2-40B4-BE49-F238E27FC236}">
                <a16:creationId xmlns:a16="http://schemas.microsoft.com/office/drawing/2014/main" id="{97714757-5210-FED9-6E3A-4FC5A8CE6F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93576" y="5014227"/>
            <a:ext cx="3281265" cy="169448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Na tuhle bolest nejsou prášky | Finmag.cz">
            <a:extLst>
              <a:ext uri="{FF2B5EF4-FFF2-40B4-BE49-F238E27FC236}">
                <a16:creationId xmlns:a16="http://schemas.microsoft.com/office/drawing/2014/main" id="{B7972B3D-2633-4F14-2286-C3F89DF0052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4665785" y="4935211"/>
            <a:ext cx="2906678" cy="18904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val="465484386"/>
      </p:ext>
    </p:extLst>
  </p:cSld>
  <p:clrMapOvr>
    <a:masterClrMapping/>
  </p:clrMapOvr>
  <p:transition/>
  <p:timing/>
</p:sld>
</file>

<file path=ppt/slides/slide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FC007B6-85D2-A9F0-0A29-20EA308278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err="1"/>
              <a:t>Kla</a:t>
            </a:r>
            <a:r>
              <a:rPr lang="cs-CZ"/>
              <a:t>s</a:t>
            </a:r>
            <a:r>
              <a:rPr lang="en-US" err="1"/>
              <a:t>ifikace reakc</a:t>
            </a:r>
            <a:r>
              <a:rPr lang="cs-CZ"/>
              <a:t>í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43AB685A-68DD-94DA-48CB-A5F509AD0F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0770" y="640080"/>
            <a:ext cx="6949440" cy="5455919"/>
          </a:xfrm>
        </p:spPr>
        <p:txBody>
          <a:bodyPr/>
          <a:lstStyle/>
          <a:p>
            <a:pPr marL="342900" indent="-342900">
              <a:buFont typeface="Wingdings" panose="05000000000000000000" pitchFamily="2" charset="2"/>
              <a:buChar char="§"/>
            </a:pPr>
            <a:r>
              <a:rPr lang="cs-CZ"/>
              <a:t>Podle vnější změny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cs-CZ"/>
              <a:t>Podle reakčního mechanismu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cs-CZ"/>
              <a:t>Podle skupenství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cs-CZ"/>
              <a:t>Podle typu přenášených částic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cs-CZ"/>
              <a:t>Podle tepelného zabarvení 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cs-CZ"/>
              <a:t>Podle směru reakce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cs-CZ"/>
              <a:t>Podle rovnováhy reakce</a:t>
            </a:r>
          </a:p>
          <a:p>
            <a:pPr marL="342900" indent="-342900">
              <a:buFont typeface="Wingdings" panose="05000000000000000000" pitchFamily="2" charset="2"/>
              <a:buChar char="§"/>
            </a:pPr>
            <a:r>
              <a:rPr lang="cs-CZ"/>
              <a:t>Podle reakce reagujících molekul</a:t>
            </a:r>
            <a:endParaRPr lang="en-US"/>
          </a:p>
        </p:txBody>
      </p:sp>
      <p:sp>
        <p:nvSpPr>
          <p:cNvPr id="4" name="Zástupný text 3">
            <a:extLst>
              <a:ext uri="{FF2B5EF4-FFF2-40B4-BE49-F238E27FC236}">
                <a16:creationId xmlns:a16="http://schemas.microsoft.com/office/drawing/2014/main" id="{669FB87C-0B07-BDF5-3443-609103407B2C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val="2358148343"/>
      </p:ext>
    </p:extLst>
  </p:cSld>
  <p:clrMapOvr>
    <a:masterClrMapping/>
  </p:clrMapOvr>
  <p:transition/>
  <p:timing/>
</p:sld>
</file>

<file path=ppt/slides/slide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35EF04D-F79E-2E6D-F3D0-A8F43141E9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0714" y="514792"/>
            <a:ext cx="8770571" cy="1345269"/>
          </a:xfrm>
        </p:spPr>
        <p:txBody>
          <a:bodyPr>
            <a:normAutofit/>
          </a:bodyPr>
          <a:lstStyle/>
          <a:p>
            <a:r>
              <a:rPr lang="cs-CZ"/>
              <a:t>Podle vnějších změn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06EC139-31AD-765A-F531-E06247E2FE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1400" b="1"/>
              <a:t>Syntéza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cs-CZ" sz="1200"/>
              <a:t>Skladná, syntetická reakce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cs-CZ" sz="1200"/>
              <a:t>Jednodušší látky se slučují </a:t>
            </a:r>
            <a:r>
              <a:rPr lang="en-US" sz="1200"/>
              <a:t>=</a:t>
            </a:r>
            <a:r>
              <a:rPr lang="cs-CZ" sz="1200"/>
              <a:t> vznikají složitější látky</a:t>
            </a:r>
          </a:p>
          <a:p>
            <a:r>
              <a:rPr lang="cs-CZ" sz="1400" b="1"/>
              <a:t>Analýza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cs-CZ" sz="1200"/>
              <a:t>Rozkladná reakce</a:t>
            </a:r>
          </a:p>
          <a:p>
            <a:r>
              <a:rPr lang="cs-CZ" sz="1400" b="1"/>
              <a:t>Vytěsňovací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cs-CZ" sz="1200"/>
              <a:t>Záměnná reakce</a:t>
            </a:r>
          </a:p>
          <a:p>
            <a:r>
              <a:rPr lang="cs-CZ" sz="1400" b="1"/>
              <a:t>Podvojná záměna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cs-CZ" sz="1200"/>
              <a:t>Konverze</a:t>
            </a:r>
            <a:endParaRPr lang="en-US" sz="120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83AB94B6-9470-8EAB-AB66-0837A69958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0264058" y="2905125"/>
            <a:ext cx="1927942" cy="3952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val="2807109644"/>
      </p:ext>
    </p:extLst>
  </p:cSld>
  <p:clrMapOvr>
    <a:masterClrMapping/>
  </p:clrMapOvr>
  <p:transition/>
  <p:timing/>
</p:sld>
</file>

<file path=ppt/slides/slide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98EA20F4-00A6-B88D-1340-900BC113DD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cs-CZ"/>
              <a:t>Podle reakčního mechanismu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EBADEE0-2048-7709-D5D6-38CEA15BC44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00125" y="2312276"/>
            <a:ext cx="10715625" cy="4545724"/>
          </a:xfrm>
        </p:spPr>
        <p:txBody>
          <a:bodyPr>
            <a:normAutofit lnSpcReduction="10000"/>
          </a:bodyPr>
          <a:lstStyle/>
          <a:p>
            <a:r>
              <a:rPr lang="cs-CZ" sz="1400" b="1"/>
              <a:t>Adice</a:t>
            </a:r>
            <a:endParaRPr lang="cs-CZ" sz="1400"/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cs-CZ" sz="1200" b="1"/>
              <a:t>Elektrofilní adice – </a:t>
            </a:r>
            <a:r>
              <a:rPr lang="cs-CZ" sz="1200"/>
              <a:t>Elektrofilní činidlo</a:t>
            </a:r>
          </a:p>
          <a:p>
            <a:pPr marL="171450" indent="-171450">
              <a:buFont typeface="Courier New" panose="02070309020205020404" pitchFamily="49" charset="0"/>
              <a:buChar char="o"/>
            </a:pPr>
            <a:r>
              <a:rPr lang="cs-CZ" sz="1200" b="1"/>
              <a:t>Nukleofilní adice</a:t>
            </a:r>
            <a:r>
              <a:rPr lang="cs-CZ" sz="1200"/>
              <a:t> </a:t>
            </a:r>
            <a:r>
              <a:rPr lang="cs-CZ" sz="1200" b="1"/>
              <a:t>– </a:t>
            </a:r>
            <a:r>
              <a:rPr lang="cs-CZ" sz="1200"/>
              <a:t>Nukleofilní činidlo</a:t>
            </a:r>
          </a:p>
          <a:p>
            <a:r>
              <a:rPr lang="cs-CZ" sz="1400" b="1"/>
              <a:t>Eliminace 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cs-CZ" sz="1200" b="1"/>
              <a:t>Dehydratace – </a:t>
            </a:r>
            <a:r>
              <a:rPr lang="cs-CZ" sz="1200"/>
              <a:t>odštěpují se molekuly vody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cs-CZ" sz="1200" b="1"/>
              <a:t>Dehydrogenace –</a:t>
            </a:r>
            <a:r>
              <a:rPr lang="cs-CZ" sz="1200"/>
              <a:t> odštěpují se molekuly vodíku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cs-CZ" sz="1200" b="1" err="1"/>
              <a:t>Dehydrohalogenace –</a:t>
            </a:r>
            <a:r>
              <a:rPr lang="cs-CZ" sz="1200"/>
              <a:t> odštěpují se molekuly halogenvodíku</a:t>
            </a:r>
          </a:p>
          <a:p>
            <a:r>
              <a:rPr lang="cs-CZ" sz="1400" b="1"/>
              <a:t>Substituce</a:t>
            </a:r>
            <a:endParaRPr lang="cs-CZ" sz="1200"/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cs-CZ" sz="1200" b="1"/>
              <a:t>Radikálová substituce –</a:t>
            </a:r>
            <a:r>
              <a:rPr lang="cs-CZ" sz="1200"/>
              <a:t> Charakteristická pro sloučeniny s nepolárními kovalentními vazbami (Např. Alkany)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cs-CZ" sz="1200" b="1"/>
              <a:t>Elektrofilní substituce – </a:t>
            </a:r>
            <a:r>
              <a:rPr lang="cs-CZ" sz="1200"/>
              <a:t>Typická reakce aromatických uhlovodíků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cs-CZ" sz="1200" b="1"/>
              <a:t>Nukleofilní substituce –</a:t>
            </a:r>
            <a:r>
              <a:rPr lang="cs-CZ" sz="1200"/>
              <a:t> Typická reakce pro alkyhalogenidy</a:t>
            </a:r>
            <a:endParaRPr lang="cs-CZ" sz="1200"/>
          </a:p>
          <a:p>
            <a:r>
              <a:rPr lang="cs-CZ" sz="1600" b="1"/>
              <a:t>Přesmyk</a:t>
            </a:r>
            <a:endParaRPr lang="cs-CZ" sz="1600"/>
          </a:p>
          <a:p>
            <a:endParaRPr lang="cs-CZ" sz="1500" b="1"/>
          </a:p>
          <a:p>
            <a:pPr marL="285750" indent="-285750">
              <a:buFont typeface="Courier New" panose="02070309020205020404" pitchFamily="49" charset="0"/>
              <a:buChar char="o"/>
            </a:pPr>
            <a:endParaRPr lang="cs-CZ" sz="1200" b="1"/>
          </a:p>
        </p:txBody>
      </p:sp>
    </p:spTree>
    <p:extLst>
      <p:ext uri="{BB962C8B-B14F-4D97-AF65-F5344CB8AC3E}">
        <p14:creationId val="1148949365"/>
      </p:ext>
    </p:extLst>
  </p:cSld>
  <p:clrMapOvr>
    <a:masterClrMapping/>
  </p:clrMapOvr>
  <p:transition/>
  <p:timing/>
</p:sld>
</file>

<file path=ppt/slides/slide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 useBgFill="1">
        <p:nvSpPr>
          <p:cNvPr id="3079" name="Rectangle 3078">
            <a:extLst>
              <a:ext uri="{FF2B5EF4-FFF2-40B4-BE49-F238E27FC236}">
                <a16:creationId xmlns:a16="http://schemas.microsoft.com/office/drawing/2014/main" id="{49BB7E9A-6937-4BF0-9F51-A20F197B5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992D6499-B985-08CD-E57C-35A789A9E3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2912"/>
            <a:ext cx="5295569" cy="1822123"/>
          </a:xfrm>
        </p:spPr>
        <p:txBody>
          <a:bodyPr anchor="b">
            <a:normAutofit/>
          </a:bodyPr>
          <a:lstStyle/>
          <a:p>
            <a:r>
              <a:rPr lang="cs-CZ"/>
              <a:t>Podle skupenství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A69DF0E-A08E-21E7-36BA-4503528853D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496720"/>
            <a:ext cx="5181599" cy="3467518"/>
          </a:xfrm>
        </p:spPr>
        <p:txBody>
          <a:bodyPr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cs-CZ" sz="1700" b="1" err="1"/>
              <a:t>aq – </a:t>
            </a:r>
            <a:r>
              <a:rPr lang="cs-CZ" sz="1700" err="1"/>
              <a:t>Aqua (vodný roztok)</a:t>
            </a:r>
          </a:p>
          <a:p>
            <a:pPr>
              <a:lnSpc>
                <a:spcPct val="130000"/>
              </a:lnSpc>
            </a:pPr>
            <a:r>
              <a:rPr lang="cs-CZ" sz="1700" b="1"/>
              <a:t>g – </a:t>
            </a:r>
            <a:r>
              <a:rPr lang="cs-CZ" sz="1700" err="1"/>
              <a:t>Gas (plyn)</a:t>
            </a:r>
          </a:p>
          <a:p>
            <a:pPr>
              <a:lnSpc>
                <a:spcPct val="130000"/>
              </a:lnSpc>
            </a:pPr>
            <a:r>
              <a:rPr lang="cs-CZ" sz="1700" b="1"/>
              <a:t>l – </a:t>
            </a:r>
            <a:r>
              <a:rPr lang="cs-CZ" sz="1700" err="1"/>
              <a:t>Liquid (kapalina)</a:t>
            </a:r>
          </a:p>
          <a:p>
            <a:pPr>
              <a:lnSpc>
                <a:spcPct val="130000"/>
              </a:lnSpc>
            </a:pPr>
            <a:r>
              <a:rPr lang="cs-CZ" sz="1700" b="1"/>
              <a:t>s – </a:t>
            </a:r>
            <a:r>
              <a:rPr lang="cs-CZ" sz="1700"/>
              <a:t>solid (pevná látka)</a:t>
            </a: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cs-CZ" sz="1700" b="1"/>
              <a:t>Homogenní reakce – </a:t>
            </a:r>
            <a:r>
              <a:rPr lang="cs-CZ" sz="1700"/>
              <a:t>Všechny reaktanty a produkty ve stejné fázi</a:t>
            </a:r>
          </a:p>
          <a:p>
            <a:pPr marL="285750" indent="-285750">
              <a:lnSpc>
                <a:spcPct val="130000"/>
              </a:lnSpc>
              <a:buFont typeface="Wingdings" panose="05000000000000000000" pitchFamily="2" charset="2"/>
              <a:buChar char="§"/>
            </a:pPr>
            <a:r>
              <a:rPr lang="cs-CZ" sz="1700" b="1"/>
              <a:t>Heterogenní reakce </a:t>
            </a:r>
            <a:r>
              <a:rPr lang="cs-CZ" sz="1700"/>
              <a:t>–</a:t>
            </a:r>
            <a:r>
              <a:rPr lang="cs-CZ" sz="1700" b="1"/>
              <a:t> </a:t>
            </a:r>
            <a:r>
              <a:rPr lang="cs-CZ" sz="1700"/>
              <a:t>Obsahuje rozdílné fáze</a:t>
            </a:r>
            <a:endParaRPr lang="cs-CZ" sz="1700" b="1"/>
          </a:p>
          <a:p>
            <a:pPr>
              <a:lnSpc>
                <a:spcPct val="130000"/>
              </a:lnSpc>
            </a:pPr>
            <a:endParaRPr lang="cs-CZ" sz="1700" b="1"/>
          </a:p>
          <a:p>
            <a:pPr>
              <a:lnSpc>
                <a:spcPct val="130000"/>
              </a:lnSpc>
            </a:pPr>
            <a:endParaRPr lang="cs-CZ" sz="1700" b="1"/>
          </a:p>
        </p:txBody>
      </p:sp>
      <p:sp>
        <p:nvSpPr>
          <p:cNvPr id="3081" name="Freeform: Shape 3080">
            <a:extLst>
              <a:ext uri="{FF2B5EF4-FFF2-40B4-BE49-F238E27FC236}">
                <a16:creationId xmlns:a16="http://schemas.microsoft.com/office/drawing/2014/main" id="{E0939753-89D7-48A8-8441-B9FF25CE8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4167" y="0"/>
            <a:ext cx="5687681" cy="5708856"/>
          </a:xfrm>
          <a:custGeom>
            <a:gdLst>
              <a:gd name="connsiteX0" fmla="*/ 2787282 w 5687681"/>
              <a:gd name="connsiteY0" fmla="*/ 0 h 5708856"/>
              <a:gd name="connsiteX1" fmla="*/ 3988996 w 5687681"/>
              <a:gd name="connsiteY1" fmla="*/ 0 h 5708856"/>
              <a:gd name="connsiteX2" fmla="*/ 4236253 w 5687681"/>
              <a:gd name="connsiteY2" fmla="*/ 68070 h 5708856"/>
              <a:gd name="connsiteX3" fmla="*/ 4483543 w 5687681"/>
              <a:gd name="connsiteY3" fmla="*/ 168573 h 5708856"/>
              <a:gd name="connsiteX4" fmla="*/ 5265611 w 5687681"/>
              <a:gd name="connsiteY4" fmla="*/ 790441 h 5708856"/>
              <a:gd name="connsiteX5" fmla="*/ 5682608 w 5687681"/>
              <a:gd name="connsiteY5" fmla="*/ 1499885 h 5708856"/>
              <a:gd name="connsiteX6" fmla="*/ 5687681 w 5687681"/>
              <a:gd name="connsiteY6" fmla="*/ 1513862 h 5708856"/>
              <a:gd name="connsiteX7" fmla="*/ 5687681 w 5687681"/>
              <a:gd name="connsiteY7" fmla="*/ 3841322 h 5708856"/>
              <a:gd name="connsiteX8" fmla="*/ 5651147 w 5687681"/>
              <a:gd name="connsiteY8" fmla="*/ 3896489 h 5708856"/>
              <a:gd name="connsiteX9" fmla="*/ 4734255 w 5687681"/>
              <a:gd name="connsiteY9" fmla="*/ 4737639 h 5708856"/>
              <a:gd name="connsiteX10" fmla="*/ 4532663 w 5687681"/>
              <a:gd name="connsiteY10" fmla="*/ 4898543 h 5708856"/>
              <a:gd name="connsiteX11" fmla="*/ 2876165 w 5687681"/>
              <a:gd name="connsiteY11" fmla="*/ 5708856 h 5708856"/>
              <a:gd name="connsiteX12" fmla="*/ 694066 w 5687681"/>
              <a:gd name="connsiteY12" fmla="*/ 4391717 h 5708856"/>
              <a:gd name="connsiteX13" fmla="*/ 461517 w 5687681"/>
              <a:gd name="connsiteY13" fmla="*/ 4054756 h 5708856"/>
              <a:gd name="connsiteX14" fmla="*/ 0 w 5687681"/>
              <a:gd name="connsiteY14" fmla="*/ 2993139 h 5708856"/>
              <a:gd name="connsiteX15" fmla="*/ 278855 w 5687681"/>
              <a:gd name="connsiteY15" fmla="*/ 1849819 h 5708856"/>
              <a:gd name="connsiteX16" fmla="*/ 1047879 w 5687681"/>
              <a:gd name="connsiteY16" fmla="*/ 867400 h 5708856"/>
              <a:gd name="connsiteX17" fmla="*/ 2159714 w 5687681"/>
              <a:gd name="connsiteY17" fmla="*/ 186098 h 5708856"/>
              <a:gd name="connsiteX18" fmla="*/ 2785137 w 5687681"/>
              <a:gd name="connsiteY18" fmla="*/ 372 h 5708856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87681" h="5708856">
                <a:moveTo>
                  <a:pt x="2787282" y="0"/>
                </a:moveTo>
                <a:lnTo>
                  <a:pt x="3988996" y="0"/>
                </a:lnTo>
                <a:lnTo>
                  <a:pt x="4236253" y="68070"/>
                </a:lnTo>
                <a:cubicBezTo>
                  <a:pt x="4321147" y="96843"/>
                  <a:pt x="4403628" y="130356"/>
                  <a:pt x="4483543" y="168573"/>
                </a:cubicBezTo>
                <a:cubicBezTo>
                  <a:pt x="4783119" y="311949"/>
                  <a:pt x="5046239" y="521215"/>
                  <a:pt x="5265611" y="790441"/>
                </a:cubicBezTo>
                <a:cubicBezTo>
                  <a:pt x="5433740" y="996857"/>
                  <a:pt x="5573537" y="1235870"/>
                  <a:pt x="5682608" y="1499885"/>
                </a:cubicBezTo>
                <a:lnTo>
                  <a:pt x="5687681" y="1513862"/>
                </a:lnTo>
                <a:lnTo>
                  <a:pt x="5687681" y="3841322"/>
                </a:lnTo>
                <a:lnTo>
                  <a:pt x="5651147" y="3896489"/>
                </a:lnTo>
                <a:cubicBezTo>
                  <a:pt x="5427171" y="4186934"/>
                  <a:pt x="5090625" y="4454446"/>
                  <a:pt x="4734255" y="4737639"/>
                </a:cubicBezTo>
                <a:cubicBezTo>
                  <a:pt x="4668506" y="4789825"/>
                  <a:pt x="4600584" y="4843856"/>
                  <a:pt x="4532663" y="4898543"/>
                </a:cubicBezTo>
                <a:cubicBezTo>
                  <a:pt x="3924681" y="5387974"/>
                  <a:pt x="3480945" y="5708856"/>
                  <a:pt x="2876165" y="5708856"/>
                </a:cubicBezTo>
                <a:cubicBezTo>
                  <a:pt x="1954665" y="5708856"/>
                  <a:pt x="1302047" y="5314966"/>
                  <a:pt x="694066" y="4391717"/>
                </a:cubicBezTo>
                <a:cubicBezTo>
                  <a:pt x="614503" y="4270875"/>
                  <a:pt x="536731" y="4160972"/>
                  <a:pt x="461517" y="4054756"/>
                </a:cubicBezTo>
                <a:cubicBezTo>
                  <a:pt x="149788" y="3614348"/>
                  <a:pt x="0" y="3385316"/>
                  <a:pt x="0" y="2993139"/>
                </a:cubicBezTo>
                <a:cubicBezTo>
                  <a:pt x="0" y="2603731"/>
                  <a:pt x="93889" y="2219065"/>
                  <a:pt x="278855" y="1849819"/>
                </a:cubicBezTo>
                <a:cubicBezTo>
                  <a:pt x="459854" y="1488610"/>
                  <a:pt x="718625" y="1157977"/>
                  <a:pt x="1047879" y="867400"/>
                </a:cubicBezTo>
                <a:cubicBezTo>
                  <a:pt x="1371504" y="581701"/>
                  <a:pt x="1755887" y="346080"/>
                  <a:pt x="2159714" y="186098"/>
                </a:cubicBezTo>
                <a:cubicBezTo>
                  <a:pt x="2367064" y="103803"/>
                  <a:pt x="2576044" y="41801"/>
                  <a:pt x="2785137" y="372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083" name="Freeform: Shape 3082">
            <a:extLst>
              <a:ext uri="{FF2B5EF4-FFF2-40B4-BE49-F238E27FC236}">
                <a16:creationId xmlns:a16="http://schemas.microsoft.com/office/drawing/2014/main" id="{9F5CCFC5-858F-4B45-9B10-D49DD0280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25450" y="0"/>
            <a:ext cx="5866550" cy="5788550"/>
          </a:xfrm>
          <a:custGeom>
            <a:gdLst>
              <a:gd name="connsiteX0" fmla="*/ 2331396 w 5798121"/>
              <a:gd name="connsiteY0" fmla="*/ 0 h 5788550"/>
              <a:gd name="connsiteX1" fmla="*/ 4658651 w 5798121"/>
              <a:gd name="connsiteY1" fmla="*/ 0 h 5788550"/>
              <a:gd name="connsiteX2" fmla="*/ 4682835 w 5798121"/>
              <a:gd name="connsiteY2" fmla="*/ 9816 h 5788550"/>
              <a:gd name="connsiteX3" fmla="*/ 5499667 w 5798121"/>
              <a:gd name="connsiteY3" fmla="*/ 658449 h 5788550"/>
              <a:gd name="connsiteX4" fmla="*/ 5665313 w 5798121"/>
              <a:gd name="connsiteY4" fmla="*/ 884789 h 5788550"/>
              <a:gd name="connsiteX5" fmla="*/ 5798121 w 5798121"/>
              <a:gd name="connsiteY5" fmla="*/ 1110681 h 5788550"/>
              <a:gd name="connsiteX6" fmla="*/ 5798121 w 5798121"/>
              <a:gd name="connsiteY6" fmla="*/ 4016954 h 5788550"/>
              <a:gd name="connsiteX7" fmla="*/ 5706359 w 5798121"/>
              <a:gd name="connsiteY7" fmla="*/ 4121532 h 5788550"/>
              <a:gd name="connsiteX8" fmla="*/ 4944692 w 5798121"/>
              <a:gd name="connsiteY8" fmla="*/ 4775532 h 5788550"/>
              <a:gd name="connsiteX9" fmla="*/ 4734137 w 5798121"/>
              <a:gd name="connsiteY9" fmla="*/ 4943362 h 5788550"/>
              <a:gd name="connsiteX10" fmla="*/ 3004009 w 5798121"/>
              <a:gd name="connsiteY10" fmla="*/ 5788550 h 5788550"/>
              <a:gd name="connsiteX11" fmla="*/ 724917 w 5798121"/>
              <a:gd name="connsiteY11" fmla="*/ 4414722 h 5788550"/>
              <a:gd name="connsiteX12" fmla="*/ 482031 w 5798121"/>
              <a:gd name="connsiteY12" fmla="*/ 4063258 h 5788550"/>
              <a:gd name="connsiteX13" fmla="*/ 0 w 5798121"/>
              <a:gd name="connsiteY13" fmla="*/ 2955950 h 5788550"/>
              <a:gd name="connsiteX14" fmla="*/ 291250 w 5798121"/>
              <a:gd name="connsiteY14" fmla="*/ 1763422 h 5788550"/>
              <a:gd name="connsiteX15" fmla="*/ 1094457 w 5798121"/>
              <a:gd name="connsiteY15" fmla="*/ 738720 h 5788550"/>
              <a:gd name="connsiteX16" fmla="*/ 2255713 w 5798121"/>
              <a:gd name="connsiteY16" fmla="*/ 28095 h 578855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798121" h="5788550">
                <a:moveTo>
                  <a:pt x="2331396" y="0"/>
                </a:moveTo>
                <a:lnTo>
                  <a:pt x="4658651" y="0"/>
                </a:lnTo>
                <a:lnTo>
                  <a:pt x="4682835" y="9816"/>
                </a:lnTo>
                <a:cubicBezTo>
                  <a:pt x="4995727" y="159362"/>
                  <a:pt x="5270543" y="377635"/>
                  <a:pt x="5499667" y="658449"/>
                </a:cubicBezTo>
                <a:cubicBezTo>
                  <a:pt x="5558201" y="730215"/>
                  <a:pt x="5613447" y="805760"/>
                  <a:pt x="5665313" y="884789"/>
                </a:cubicBezTo>
                <a:lnTo>
                  <a:pt x="5798121" y="1110681"/>
                </a:lnTo>
                <a:lnTo>
                  <a:pt x="5798121" y="4016954"/>
                </a:lnTo>
                <a:lnTo>
                  <a:pt x="5706359" y="4121532"/>
                </a:lnTo>
                <a:cubicBezTo>
                  <a:pt x="5491360" y="4341659"/>
                  <a:pt x="5223849" y="4553996"/>
                  <a:pt x="4944692" y="4775532"/>
                </a:cubicBezTo>
                <a:cubicBezTo>
                  <a:pt x="4876021" y="4829964"/>
                  <a:pt x="4805079" y="4886320"/>
                  <a:pt x="4734137" y="4943362"/>
                </a:cubicBezTo>
                <a:cubicBezTo>
                  <a:pt x="4099133" y="5453857"/>
                  <a:pt x="3635672" y="5788550"/>
                  <a:pt x="3004009" y="5788550"/>
                </a:cubicBezTo>
                <a:cubicBezTo>
                  <a:pt x="2041550" y="5788550"/>
                  <a:pt x="1359922" y="5377707"/>
                  <a:pt x="724917" y="4414722"/>
                </a:cubicBezTo>
                <a:cubicBezTo>
                  <a:pt x="641818" y="4288679"/>
                  <a:pt x="560588" y="4174046"/>
                  <a:pt x="482031" y="4063258"/>
                </a:cubicBezTo>
                <a:cubicBezTo>
                  <a:pt x="156446" y="3603895"/>
                  <a:pt x="0" y="3365006"/>
                  <a:pt x="0" y="2955950"/>
                </a:cubicBezTo>
                <a:cubicBezTo>
                  <a:pt x="0" y="2549782"/>
                  <a:pt x="98062" y="2148559"/>
                  <a:pt x="291250" y="1763422"/>
                </a:cubicBezTo>
                <a:cubicBezTo>
                  <a:pt x="480295" y="1386666"/>
                  <a:pt x="750568" y="1041802"/>
                  <a:pt x="1094457" y="738720"/>
                </a:cubicBezTo>
                <a:cubicBezTo>
                  <a:pt x="1432467" y="440725"/>
                  <a:pt x="1833935" y="194963"/>
                  <a:pt x="2255713" y="28095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3085" name="Freeform: Shape 3084">
            <a:extLst>
              <a:ext uri="{FF2B5EF4-FFF2-40B4-BE49-F238E27FC236}">
                <a16:creationId xmlns:a16="http://schemas.microsoft.com/office/drawing/2014/main" id="{2348ECDC-D455-4B71-90F6-2ECC12B79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23734" y="0"/>
            <a:ext cx="5568114" cy="5577748"/>
          </a:xfrm>
          <a:custGeom>
            <a:gdLst>
              <a:gd name="connsiteX0" fmla="*/ 2959946 w 5568114"/>
              <a:gd name="connsiteY0" fmla="*/ 0 h 5577748"/>
              <a:gd name="connsiteX1" fmla="*/ 3614224 w 5568114"/>
              <a:gd name="connsiteY1" fmla="*/ 0 h 5577748"/>
              <a:gd name="connsiteX2" fmla="*/ 3844432 w 5568114"/>
              <a:gd name="connsiteY2" fmla="*/ 36392 h 5577748"/>
              <a:gd name="connsiteX3" fmla="*/ 4336826 w 5568114"/>
              <a:gd name="connsiteY3" fmla="*/ 203778 h 5577748"/>
              <a:gd name="connsiteX4" fmla="*/ 5093304 w 5568114"/>
              <a:gd name="connsiteY4" fmla="*/ 806978 h 5577748"/>
              <a:gd name="connsiteX5" fmla="*/ 5496656 w 5568114"/>
              <a:gd name="connsiteY5" fmla="*/ 1495125 h 5577748"/>
              <a:gd name="connsiteX6" fmla="*/ 5568114 w 5568114"/>
              <a:gd name="connsiteY6" fmla="*/ 1692569 h 5577748"/>
              <a:gd name="connsiteX7" fmla="*/ 5568114 w 5568114"/>
              <a:gd name="connsiteY7" fmla="*/ 3665503 h 5577748"/>
              <a:gd name="connsiteX8" fmla="*/ 5466225 w 5568114"/>
              <a:gd name="connsiteY8" fmla="*/ 3819786 h 5577748"/>
              <a:gd name="connsiteX9" fmla="*/ 4579336 w 5568114"/>
              <a:gd name="connsiteY9" fmla="*/ 4635686 h 5577748"/>
              <a:gd name="connsiteX10" fmla="*/ 4384340 w 5568114"/>
              <a:gd name="connsiteY10" fmla="*/ 4791760 h 5577748"/>
              <a:gd name="connsiteX11" fmla="*/ 2782048 w 5568114"/>
              <a:gd name="connsiteY11" fmla="*/ 5577748 h 5577748"/>
              <a:gd name="connsiteX12" fmla="*/ 671354 w 5568114"/>
              <a:gd name="connsiteY12" fmla="*/ 4300148 h 5577748"/>
              <a:gd name="connsiteX13" fmla="*/ 446415 w 5568114"/>
              <a:gd name="connsiteY13" fmla="*/ 3973302 h 5577748"/>
              <a:gd name="connsiteX14" fmla="*/ 0 w 5568114"/>
              <a:gd name="connsiteY14" fmla="*/ 2943554 h 5577748"/>
              <a:gd name="connsiteX15" fmla="*/ 269730 w 5568114"/>
              <a:gd name="connsiteY15" fmla="*/ 1834555 h 5577748"/>
              <a:gd name="connsiteX16" fmla="*/ 1013589 w 5568114"/>
              <a:gd name="connsiteY16" fmla="*/ 881627 h 5577748"/>
              <a:gd name="connsiteX17" fmla="*/ 2089042 w 5568114"/>
              <a:gd name="connsiteY17" fmla="*/ 220777 h 5577748"/>
              <a:gd name="connsiteX18" fmla="*/ 2845684 w 5568114"/>
              <a:gd name="connsiteY18" fmla="*/ 14234 h 5577748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568114" h="5577748">
                <a:moveTo>
                  <a:pt x="2959946" y="0"/>
                </a:moveTo>
                <a:lnTo>
                  <a:pt x="3614224" y="0"/>
                </a:lnTo>
                <a:lnTo>
                  <a:pt x="3844432" y="36392"/>
                </a:lnTo>
                <a:cubicBezTo>
                  <a:pt x="4017699" y="73748"/>
                  <a:pt x="4182227" y="129639"/>
                  <a:pt x="4336826" y="203778"/>
                </a:cubicBezTo>
                <a:cubicBezTo>
                  <a:pt x="4626600" y="342850"/>
                  <a:pt x="4881111" y="545834"/>
                  <a:pt x="5093304" y="806978"/>
                </a:cubicBezTo>
                <a:cubicBezTo>
                  <a:pt x="5255931" y="1007198"/>
                  <a:pt x="5391154" y="1239036"/>
                  <a:pt x="5496656" y="1495125"/>
                </a:cubicBezTo>
                <a:lnTo>
                  <a:pt x="5568114" y="1692569"/>
                </a:lnTo>
                <a:lnTo>
                  <a:pt x="5568114" y="3665503"/>
                </a:lnTo>
                <a:lnTo>
                  <a:pt x="5466225" y="3819786"/>
                </a:lnTo>
                <a:cubicBezTo>
                  <a:pt x="5249576" y="4101511"/>
                  <a:pt x="4924044" y="4360994"/>
                  <a:pt x="4579336" y="4635686"/>
                </a:cubicBezTo>
                <a:cubicBezTo>
                  <a:pt x="4515738" y="4686305"/>
                  <a:pt x="4450038" y="4738713"/>
                  <a:pt x="4384340" y="4791760"/>
                </a:cubicBezTo>
                <a:cubicBezTo>
                  <a:pt x="3796254" y="5266498"/>
                  <a:pt x="3367038" y="5577748"/>
                  <a:pt x="2782048" y="5577748"/>
                </a:cubicBezTo>
                <a:cubicBezTo>
                  <a:pt x="1890703" y="5577748"/>
                  <a:pt x="1259439" y="5195682"/>
                  <a:pt x="671354" y="4300148"/>
                </a:cubicBezTo>
                <a:cubicBezTo>
                  <a:pt x="594395" y="4182934"/>
                  <a:pt x="519167" y="4076330"/>
                  <a:pt x="446415" y="3973302"/>
                </a:cubicBezTo>
                <a:cubicBezTo>
                  <a:pt x="144886" y="3546115"/>
                  <a:pt x="0" y="3323958"/>
                  <a:pt x="0" y="2943554"/>
                </a:cubicBezTo>
                <a:cubicBezTo>
                  <a:pt x="0" y="2565835"/>
                  <a:pt x="90816" y="2192716"/>
                  <a:pt x="269730" y="1834555"/>
                </a:cubicBezTo>
                <a:cubicBezTo>
                  <a:pt x="444806" y="1484188"/>
                  <a:pt x="695109" y="1163480"/>
                  <a:pt x="1013589" y="881627"/>
                </a:cubicBezTo>
                <a:cubicBezTo>
                  <a:pt x="1326624" y="604505"/>
                  <a:pt x="1698428" y="375956"/>
                  <a:pt x="2089042" y="220777"/>
                </a:cubicBezTo>
                <a:cubicBezTo>
                  <a:pt x="2339747" y="120996"/>
                  <a:pt x="2592918" y="51971"/>
                  <a:pt x="2845684" y="14234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3074" name="Picture 2" descr="chemie - chemie - zápisy - 8. ročník - ÚVOD DO STUDIA CHEMIE - Chemický děj  a změny skupenství">
            <a:extLst>
              <a:ext uri="{FF2B5EF4-FFF2-40B4-BE49-F238E27FC236}">
                <a16:creationId xmlns:a16="http://schemas.microsoft.com/office/drawing/2014/main" id="{EE0A49CF-C4A0-B96F-03D5-1C7F703D3F1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73130" y="1261413"/>
            <a:ext cx="3774974" cy="28421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val="3482600463"/>
      </p:ext>
    </p:extLst>
  </p:cSld>
  <p:clrMapOvr>
    <a:masterClrMapping/>
  </p:clrMapOvr>
  <p:transition/>
  <p:timing/>
</p:sld>
</file>

<file path=ppt/slides/slide1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72B71146-DEEA-BF76-1079-C6CC2CBF6B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Podle typu přenášených částic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B59D88A-9561-7973-8553-1B10A089DC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1400" b="1"/>
              <a:t>Oxidačně-redukční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cs-CZ" sz="1200"/>
              <a:t>Redoxní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cs-CZ" sz="1200"/>
              <a:t>Při reakci se mění oxidační čísla atomů</a:t>
            </a:r>
          </a:p>
          <a:p>
            <a:r>
              <a:rPr lang="cs-CZ" sz="1400" b="1"/>
              <a:t>Acidobazické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cs-CZ" sz="1200" err="1"/>
              <a:t>Protolytické</a:t>
            </a:r>
            <a:endParaRPr lang="cs-CZ" sz="120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cs-CZ" sz="1200"/>
              <a:t>Při reakci dochází k přenosu</a:t>
            </a:r>
            <a:r>
              <a:rPr lang="en-US" sz="1200" b="0" i="0">
                <a:solidFill>
                  <a:srgbClr val="212529"/>
                </a:solidFill>
                <a:effectLst/>
                <a:latin typeface="-apple-system"/>
              </a:rPr>
              <a:t> </a:t>
            </a:r>
            <a:r>
              <a:rPr lang="en-US" sz="1200" b="0" i="0">
                <a:effectLst/>
              </a:rPr>
              <a:t>H</a:t>
            </a:r>
            <a:r>
              <a:rPr lang="en-US" sz="1200" b="0" i="0" baseline="30000">
                <a:effectLst/>
              </a:rPr>
              <a:t>+</a:t>
            </a:r>
            <a:endParaRPr lang="cs-CZ" sz="1400" b="0" baseline="30000"/>
          </a:p>
          <a:p>
            <a:r>
              <a:rPr lang="en-US" sz="1400" b="1" i="0" err="1">
                <a:solidFill>
                  <a:srgbClr val="000000"/>
                </a:solidFill>
                <a:effectLst/>
              </a:rPr>
              <a:t>Koordinační</a:t>
            </a:r>
            <a:endParaRPr lang="cs-CZ" sz="1400" b="1" i="0">
              <a:solidFill>
                <a:srgbClr val="000000"/>
              </a:solidFill>
              <a:effectLst/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cs-CZ" sz="1200" err="1">
                <a:solidFill>
                  <a:srgbClr val="000000"/>
                </a:solidFill>
              </a:rPr>
              <a:t>Komplexotvorné</a:t>
            </a:r>
            <a:endParaRPr lang="cs-CZ" sz="1200">
              <a:solidFill>
                <a:srgbClr val="000000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cs-CZ" sz="1200" i="0">
                <a:solidFill>
                  <a:srgbClr val="000000"/>
                </a:solidFill>
                <a:effectLst/>
              </a:rPr>
              <a:t>Při reakci dochází k přenosu celých skupin atomu</a:t>
            </a:r>
            <a:r>
              <a:rPr lang="en-US" sz="1200">
                <a:solidFill>
                  <a:srgbClr val="000000"/>
                </a:solidFill>
              </a:rPr>
              <a:t>=</a:t>
            </a:r>
            <a:r>
              <a:rPr lang="cs-CZ" sz="1200">
                <a:solidFill>
                  <a:srgbClr val="000000"/>
                </a:solidFill>
              </a:rPr>
              <a:t>vznik komplexních sloučenin</a:t>
            </a:r>
            <a:endParaRPr lang="en-US" sz="1200" i="0">
              <a:solidFill>
                <a:srgbClr val="000000"/>
              </a:solidFill>
              <a:effectLst/>
            </a:endParaRPr>
          </a:p>
          <a:p>
            <a:endParaRPr lang="cs-CZ" sz="1400" i="0" baseline="30000">
              <a:effectLst/>
            </a:endParaRPr>
          </a:p>
          <a:p>
            <a:endParaRPr lang="cs-CZ" sz="1400" b="1">
              <a:solidFill>
                <a:schemeClr val="tx1"/>
              </a:solidFill>
            </a:endParaRPr>
          </a:p>
          <a:p>
            <a:endParaRPr lang="en-US" sz="1400" b="1"/>
          </a:p>
        </p:txBody>
      </p:sp>
    </p:spTree>
    <p:extLst>
      <p:ext uri="{BB962C8B-B14F-4D97-AF65-F5344CB8AC3E}">
        <p14:creationId val="349578505"/>
      </p:ext>
    </p:extLst>
  </p:cSld>
  <p:clrMapOvr>
    <a:masterClrMapping/>
  </p:clrMapOvr>
  <p:transition/>
  <p:timing/>
</p:sld>
</file>

<file path=ppt/slides/slide1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9BB7E9A-6937-4BF0-9F51-A20F197B55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3" y="0"/>
            <a:ext cx="12191695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2" name="Nadpis 1">
            <a:extLst>
              <a:ext uri="{FF2B5EF4-FFF2-40B4-BE49-F238E27FC236}">
                <a16:creationId xmlns:a16="http://schemas.microsoft.com/office/drawing/2014/main" id="{BC490377-2F80-0989-DA3A-49D2C56082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442912"/>
            <a:ext cx="5295569" cy="1822123"/>
          </a:xfrm>
        </p:spPr>
        <p:txBody>
          <a:bodyPr anchor="b">
            <a:normAutofit/>
          </a:bodyPr>
          <a:lstStyle/>
          <a:p>
            <a:r>
              <a:rPr lang="cs-CZ"/>
              <a:t>Podle tepelného zabarvení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028F175-CF62-A430-5359-808D50E96E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2496720"/>
            <a:ext cx="5181599" cy="3467518"/>
          </a:xfrm>
        </p:spPr>
        <p:txBody>
          <a:bodyPr anchor="t">
            <a:normAutofit/>
          </a:bodyPr>
          <a:lstStyle/>
          <a:p>
            <a:pPr>
              <a:lnSpc>
                <a:spcPct val="130000"/>
              </a:lnSpc>
            </a:pPr>
            <a:r>
              <a:rPr lang="cs-CZ" b="1"/>
              <a:t>Exotermické reakce (exotermní) – </a:t>
            </a:r>
            <a:r>
              <a:rPr lang="cs-CZ"/>
              <a:t>Během reakce se uvolňuje teplo</a:t>
            </a:r>
          </a:p>
          <a:p>
            <a:pPr>
              <a:lnSpc>
                <a:spcPct val="130000"/>
              </a:lnSpc>
            </a:pPr>
            <a:r>
              <a:rPr lang="cs-CZ" b="1"/>
              <a:t>Endotermické reakce (endotermní) </a:t>
            </a:r>
            <a:r>
              <a:rPr lang="cs-CZ"/>
              <a:t>– Během reakce se teplo spotřebovává</a:t>
            </a:r>
          </a:p>
          <a:p>
            <a:pPr>
              <a:lnSpc>
                <a:spcPct val="130000"/>
              </a:lnSpc>
            </a:pPr>
            <a:r>
              <a:rPr lang="cs-CZ" b="1"/>
              <a:t>Atermická reakce </a:t>
            </a:r>
            <a:r>
              <a:rPr lang="cs-CZ"/>
              <a:t>– Během reakce se teplo ani nespotřebovává, ani neuvolňuje</a:t>
            </a:r>
            <a:endParaRPr lang="cs-CZ" b="1"/>
          </a:p>
          <a:p>
            <a:pPr>
              <a:lnSpc>
                <a:spcPct val="130000"/>
              </a:lnSpc>
            </a:pPr>
            <a:endParaRPr lang="en-US" b="1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E0939753-89D7-48A8-8441-B9FF25CE8A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504167" y="0"/>
            <a:ext cx="5687681" cy="5708856"/>
          </a:xfrm>
          <a:custGeom>
            <a:gdLst>
              <a:gd name="connsiteX0" fmla="*/ 2787282 w 5687681"/>
              <a:gd name="connsiteY0" fmla="*/ 0 h 5708856"/>
              <a:gd name="connsiteX1" fmla="*/ 3988996 w 5687681"/>
              <a:gd name="connsiteY1" fmla="*/ 0 h 5708856"/>
              <a:gd name="connsiteX2" fmla="*/ 4236253 w 5687681"/>
              <a:gd name="connsiteY2" fmla="*/ 68070 h 5708856"/>
              <a:gd name="connsiteX3" fmla="*/ 4483543 w 5687681"/>
              <a:gd name="connsiteY3" fmla="*/ 168573 h 5708856"/>
              <a:gd name="connsiteX4" fmla="*/ 5265611 w 5687681"/>
              <a:gd name="connsiteY4" fmla="*/ 790441 h 5708856"/>
              <a:gd name="connsiteX5" fmla="*/ 5682608 w 5687681"/>
              <a:gd name="connsiteY5" fmla="*/ 1499885 h 5708856"/>
              <a:gd name="connsiteX6" fmla="*/ 5687681 w 5687681"/>
              <a:gd name="connsiteY6" fmla="*/ 1513862 h 5708856"/>
              <a:gd name="connsiteX7" fmla="*/ 5687681 w 5687681"/>
              <a:gd name="connsiteY7" fmla="*/ 3841322 h 5708856"/>
              <a:gd name="connsiteX8" fmla="*/ 5651147 w 5687681"/>
              <a:gd name="connsiteY8" fmla="*/ 3896489 h 5708856"/>
              <a:gd name="connsiteX9" fmla="*/ 4734255 w 5687681"/>
              <a:gd name="connsiteY9" fmla="*/ 4737639 h 5708856"/>
              <a:gd name="connsiteX10" fmla="*/ 4532663 w 5687681"/>
              <a:gd name="connsiteY10" fmla="*/ 4898543 h 5708856"/>
              <a:gd name="connsiteX11" fmla="*/ 2876165 w 5687681"/>
              <a:gd name="connsiteY11" fmla="*/ 5708856 h 5708856"/>
              <a:gd name="connsiteX12" fmla="*/ 694066 w 5687681"/>
              <a:gd name="connsiteY12" fmla="*/ 4391717 h 5708856"/>
              <a:gd name="connsiteX13" fmla="*/ 461517 w 5687681"/>
              <a:gd name="connsiteY13" fmla="*/ 4054756 h 5708856"/>
              <a:gd name="connsiteX14" fmla="*/ 0 w 5687681"/>
              <a:gd name="connsiteY14" fmla="*/ 2993139 h 5708856"/>
              <a:gd name="connsiteX15" fmla="*/ 278855 w 5687681"/>
              <a:gd name="connsiteY15" fmla="*/ 1849819 h 5708856"/>
              <a:gd name="connsiteX16" fmla="*/ 1047879 w 5687681"/>
              <a:gd name="connsiteY16" fmla="*/ 867400 h 5708856"/>
              <a:gd name="connsiteX17" fmla="*/ 2159714 w 5687681"/>
              <a:gd name="connsiteY17" fmla="*/ 186098 h 5708856"/>
              <a:gd name="connsiteX18" fmla="*/ 2785137 w 5687681"/>
              <a:gd name="connsiteY18" fmla="*/ 372 h 5708856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687681" h="5708856">
                <a:moveTo>
                  <a:pt x="2787282" y="0"/>
                </a:moveTo>
                <a:lnTo>
                  <a:pt x="3988996" y="0"/>
                </a:lnTo>
                <a:lnTo>
                  <a:pt x="4236253" y="68070"/>
                </a:lnTo>
                <a:cubicBezTo>
                  <a:pt x="4321147" y="96843"/>
                  <a:pt x="4403628" y="130356"/>
                  <a:pt x="4483543" y="168573"/>
                </a:cubicBezTo>
                <a:cubicBezTo>
                  <a:pt x="4783119" y="311949"/>
                  <a:pt x="5046239" y="521215"/>
                  <a:pt x="5265611" y="790441"/>
                </a:cubicBezTo>
                <a:cubicBezTo>
                  <a:pt x="5433740" y="996857"/>
                  <a:pt x="5573537" y="1235870"/>
                  <a:pt x="5682608" y="1499885"/>
                </a:cubicBezTo>
                <a:lnTo>
                  <a:pt x="5687681" y="1513862"/>
                </a:lnTo>
                <a:lnTo>
                  <a:pt x="5687681" y="3841322"/>
                </a:lnTo>
                <a:lnTo>
                  <a:pt x="5651147" y="3896489"/>
                </a:lnTo>
                <a:cubicBezTo>
                  <a:pt x="5427171" y="4186934"/>
                  <a:pt x="5090625" y="4454446"/>
                  <a:pt x="4734255" y="4737639"/>
                </a:cubicBezTo>
                <a:cubicBezTo>
                  <a:pt x="4668506" y="4789825"/>
                  <a:pt x="4600584" y="4843856"/>
                  <a:pt x="4532663" y="4898543"/>
                </a:cubicBezTo>
                <a:cubicBezTo>
                  <a:pt x="3924681" y="5387974"/>
                  <a:pt x="3480945" y="5708856"/>
                  <a:pt x="2876165" y="5708856"/>
                </a:cubicBezTo>
                <a:cubicBezTo>
                  <a:pt x="1954665" y="5708856"/>
                  <a:pt x="1302047" y="5314966"/>
                  <a:pt x="694066" y="4391717"/>
                </a:cubicBezTo>
                <a:cubicBezTo>
                  <a:pt x="614503" y="4270875"/>
                  <a:pt x="536731" y="4160972"/>
                  <a:pt x="461517" y="4054756"/>
                </a:cubicBezTo>
                <a:cubicBezTo>
                  <a:pt x="149788" y="3614348"/>
                  <a:pt x="0" y="3385316"/>
                  <a:pt x="0" y="2993139"/>
                </a:cubicBezTo>
                <a:cubicBezTo>
                  <a:pt x="0" y="2603731"/>
                  <a:pt x="93889" y="2219065"/>
                  <a:pt x="278855" y="1849819"/>
                </a:cubicBezTo>
                <a:cubicBezTo>
                  <a:pt x="459854" y="1488610"/>
                  <a:pt x="718625" y="1157977"/>
                  <a:pt x="1047879" y="867400"/>
                </a:cubicBezTo>
                <a:cubicBezTo>
                  <a:pt x="1371504" y="581701"/>
                  <a:pt x="1755887" y="346080"/>
                  <a:pt x="2159714" y="186098"/>
                </a:cubicBezTo>
                <a:cubicBezTo>
                  <a:pt x="2367064" y="103803"/>
                  <a:pt x="2576044" y="41801"/>
                  <a:pt x="2785137" y="372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9F5CCFC5-858F-4B45-9B10-D49DD0280D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25450" y="0"/>
            <a:ext cx="5866550" cy="5788550"/>
          </a:xfrm>
          <a:custGeom>
            <a:gdLst>
              <a:gd name="connsiteX0" fmla="*/ 2331396 w 5798121"/>
              <a:gd name="connsiteY0" fmla="*/ 0 h 5788550"/>
              <a:gd name="connsiteX1" fmla="*/ 4658651 w 5798121"/>
              <a:gd name="connsiteY1" fmla="*/ 0 h 5788550"/>
              <a:gd name="connsiteX2" fmla="*/ 4682835 w 5798121"/>
              <a:gd name="connsiteY2" fmla="*/ 9816 h 5788550"/>
              <a:gd name="connsiteX3" fmla="*/ 5499667 w 5798121"/>
              <a:gd name="connsiteY3" fmla="*/ 658449 h 5788550"/>
              <a:gd name="connsiteX4" fmla="*/ 5665313 w 5798121"/>
              <a:gd name="connsiteY4" fmla="*/ 884789 h 5788550"/>
              <a:gd name="connsiteX5" fmla="*/ 5798121 w 5798121"/>
              <a:gd name="connsiteY5" fmla="*/ 1110681 h 5788550"/>
              <a:gd name="connsiteX6" fmla="*/ 5798121 w 5798121"/>
              <a:gd name="connsiteY6" fmla="*/ 4016954 h 5788550"/>
              <a:gd name="connsiteX7" fmla="*/ 5706359 w 5798121"/>
              <a:gd name="connsiteY7" fmla="*/ 4121532 h 5788550"/>
              <a:gd name="connsiteX8" fmla="*/ 4944692 w 5798121"/>
              <a:gd name="connsiteY8" fmla="*/ 4775532 h 5788550"/>
              <a:gd name="connsiteX9" fmla="*/ 4734137 w 5798121"/>
              <a:gd name="connsiteY9" fmla="*/ 4943362 h 5788550"/>
              <a:gd name="connsiteX10" fmla="*/ 3004009 w 5798121"/>
              <a:gd name="connsiteY10" fmla="*/ 5788550 h 5788550"/>
              <a:gd name="connsiteX11" fmla="*/ 724917 w 5798121"/>
              <a:gd name="connsiteY11" fmla="*/ 4414722 h 5788550"/>
              <a:gd name="connsiteX12" fmla="*/ 482031 w 5798121"/>
              <a:gd name="connsiteY12" fmla="*/ 4063258 h 5788550"/>
              <a:gd name="connsiteX13" fmla="*/ 0 w 5798121"/>
              <a:gd name="connsiteY13" fmla="*/ 2955950 h 5788550"/>
              <a:gd name="connsiteX14" fmla="*/ 291250 w 5798121"/>
              <a:gd name="connsiteY14" fmla="*/ 1763422 h 5788550"/>
              <a:gd name="connsiteX15" fmla="*/ 1094457 w 5798121"/>
              <a:gd name="connsiteY15" fmla="*/ 738720 h 5788550"/>
              <a:gd name="connsiteX16" fmla="*/ 2255713 w 5798121"/>
              <a:gd name="connsiteY16" fmla="*/ 28095 h 5788550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5798121" h="5788550">
                <a:moveTo>
                  <a:pt x="2331396" y="0"/>
                </a:moveTo>
                <a:lnTo>
                  <a:pt x="4658651" y="0"/>
                </a:lnTo>
                <a:lnTo>
                  <a:pt x="4682835" y="9816"/>
                </a:lnTo>
                <a:cubicBezTo>
                  <a:pt x="4995727" y="159362"/>
                  <a:pt x="5270543" y="377635"/>
                  <a:pt x="5499667" y="658449"/>
                </a:cubicBezTo>
                <a:cubicBezTo>
                  <a:pt x="5558201" y="730215"/>
                  <a:pt x="5613447" y="805760"/>
                  <a:pt x="5665313" y="884789"/>
                </a:cubicBezTo>
                <a:lnTo>
                  <a:pt x="5798121" y="1110681"/>
                </a:lnTo>
                <a:lnTo>
                  <a:pt x="5798121" y="4016954"/>
                </a:lnTo>
                <a:lnTo>
                  <a:pt x="5706359" y="4121532"/>
                </a:lnTo>
                <a:cubicBezTo>
                  <a:pt x="5491360" y="4341659"/>
                  <a:pt x="5223849" y="4553996"/>
                  <a:pt x="4944692" y="4775532"/>
                </a:cubicBezTo>
                <a:cubicBezTo>
                  <a:pt x="4876021" y="4829964"/>
                  <a:pt x="4805079" y="4886320"/>
                  <a:pt x="4734137" y="4943362"/>
                </a:cubicBezTo>
                <a:cubicBezTo>
                  <a:pt x="4099133" y="5453857"/>
                  <a:pt x="3635672" y="5788550"/>
                  <a:pt x="3004009" y="5788550"/>
                </a:cubicBezTo>
                <a:cubicBezTo>
                  <a:pt x="2041550" y="5788550"/>
                  <a:pt x="1359922" y="5377707"/>
                  <a:pt x="724917" y="4414722"/>
                </a:cubicBezTo>
                <a:cubicBezTo>
                  <a:pt x="641818" y="4288679"/>
                  <a:pt x="560588" y="4174046"/>
                  <a:pt x="482031" y="4063258"/>
                </a:cubicBezTo>
                <a:cubicBezTo>
                  <a:pt x="156446" y="3603895"/>
                  <a:pt x="0" y="3365006"/>
                  <a:pt x="0" y="2955950"/>
                </a:cubicBezTo>
                <a:cubicBezTo>
                  <a:pt x="0" y="2549782"/>
                  <a:pt x="98062" y="2148559"/>
                  <a:pt x="291250" y="1763422"/>
                </a:cubicBezTo>
                <a:cubicBezTo>
                  <a:pt x="480295" y="1386666"/>
                  <a:pt x="750568" y="1041802"/>
                  <a:pt x="1094457" y="738720"/>
                </a:cubicBezTo>
                <a:cubicBezTo>
                  <a:pt x="1432467" y="440725"/>
                  <a:pt x="1833935" y="194963"/>
                  <a:pt x="2255713" y="28095"/>
                </a:cubicBezTo>
                <a:close/>
              </a:path>
            </a:pathLst>
          </a:custGeom>
          <a:noFill/>
          <a:ln w="19050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2348ECDC-D455-4B71-90F6-2ECC12B798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623734" y="0"/>
            <a:ext cx="5568114" cy="5577748"/>
          </a:xfrm>
          <a:custGeom>
            <a:gdLst>
              <a:gd name="connsiteX0" fmla="*/ 2959946 w 5568114"/>
              <a:gd name="connsiteY0" fmla="*/ 0 h 5577748"/>
              <a:gd name="connsiteX1" fmla="*/ 3614224 w 5568114"/>
              <a:gd name="connsiteY1" fmla="*/ 0 h 5577748"/>
              <a:gd name="connsiteX2" fmla="*/ 3844432 w 5568114"/>
              <a:gd name="connsiteY2" fmla="*/ 36392 h 5577748"/>
              <a:gd name="connsiteX3" fmla="*/ 4336826 w 5568114"/>
              <a:gd name="connsiteY3" fmla="*/ 203778 h 5577748"/>
              <a:gd name="connsiteX4" fmla="*/ 5093304 w 5568114"/>
              <a:gd name="connsiteY4" fmla="*/ 806978 h 5577748"/>
              <a:gd name="connsiteX5" fmla="*/ 5496656 w 5568114"/>
              <a:gd name="connsiteY5" fmla="*/ 1495125 h 5577748"/>
              <a:gd name="connsiteX6" fmla="*/ 5568114 w 5568114"/>
              <a:gd name="connsiteY6" fmla="*/ 1692569 h 5577748"/>
              <a:gd name="connsiteX7" fmla="*/ 5568114 w 5568114"/>
              <a:gd name="connsiteY7" fmla="*/ 3665503 h 5577748"/>
              <a:gd name="connsiteX8" fmla="*/ 5466225 w 5568114"/>
              <a:gd name="connsiteY8" fmla="*/ 3819786 h 5577748"/>
              <a:gd name="connsiteX9" fmla="*/ 4579336 w 5568114"/>
              <a:gd name="connsiteY9" fmla="*/ 4635686 h 5577748"/>
              <a:gd name="connsiteX10" fmla="*/ 4384340 w 5568114"/>
              <a:gd name="connsiteY10" fmla="*/ 4791760 h 5577748"/>
              <a:gd name="connsiteX11" fmla="*/ 2782048 w 5568114"/>
              <a:gd name="connsiteY11" fmla="*/ 5577748 h 5577748"/>
              <a:gd name="connsiteX12" fmla="*/ 671354 w 5568114"/>
              <a:gd name="connsiteY12" fmla="*/ 4300148 h 5577748"/>
              <a:gd name="connsiteX13" fmla="*/ 446415 w 5568114"/>
              <a:gd name="connsiteY13" fmla="*/ 3973302 h 5577748"/>
              <a:gd name="connsiteX14" fmla="*/ 0 w 5568114"/>
              <a:gd name="connsiteY14" fmla="*/ 2943554 h 5577748"/>
              <a:gd name="connsiteX15" fmla="*/ 269730 w 5568114"/>
              <a:gd name="connsiteY15" fmla="*/ 1834555 h 5577748"/>
              <a:gd name="connsiteX16" fmla="*/ 1013589 w 5568114"/>
              <a:gd name="connsiteY16" fmla="*/ 881627 h 5577748"/>
              <a:gd name="connsiteX17" fmla="*/ 2089042 w 5568114"/>
              <a:gd name="connsiteY17" fmla="*/ 220777 h 5577748"/>
              <a:gd name="connsiteX18" fmla="*/ 2845684 w 5568114"/>
              <a:gd name="connsiteY18" fmla="*/ 14234 h 5577748"/>
            </a:gdLst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568114" h="5577748">
                <a:moveTo>
                  <a:pt x="2959946" y="0"/>
                </a:moveTo>
                <a:lnTo>
                  <a:pt x="3614224" y="0"/>
                </a:lnTo>
                <a:lnTo>
                  <a:pt x="3844432" y="36392"/>
                </a:lnTo>
                <a:cubicBezTo>
                  <a:pt x="4017699" y="73748"/>
                  <a:pt x="4182227" y="129639"/>
                  <a:pt x="4336826" y="203778"/>
                </a:cubicBezTo>
                <a:cubicBezTo>
                  <a:pt x="4626600" y="342850"/>
                  <a:pt x="4881111" y="545834"/>
                  <a:pt x="5093304" y="806978"/>
                </a:cubicBezTo>
                <a:cubicBezTo>
                  <a:pt x="5255931" y="1007198"/>
                  <a:pt x="5391154" y="1239036"/>
                  <a:pt x="5496656" y="1495125"/>
                </a:cubicBezTo>
                <a:lnTo>
                  <a:pt x="5568114" y="1692569"/>
                </a:lnTo>
                <a:lnTo>
                  <a:pt x="5568114" y="3665503"/>
                </a:lnTo>
                <a:lnTo>
                  <a:pt x="5466225" y="3819786"/>
                </a:lnTo>
                <a:cubicBezTo>
                  <a:pt x="5249576" y="4101511"/>
                  <a:pt x="4924044" y="4360994"/>
                  <a:pt x="4579336" y="4635686"/>
                </a:cubicBezTo>
                <a:cubicBezTo>
                  <a:pt x="4515738" y="4686305"/>
                  <a:pt x="4450038" y="4738713"/>
                  <a:pt x="4384340" y="4791760"/>
                </a:cubicBezTo>
                <a:cubicBezTo>
                  <a:pt x="3796254" y="5266498"/>
                  <a:pt x="3367038" y="5577748"/>
                  <a:pt x="2782048" y="5577748"/>
                </a:cubicBezTo>
                <a:cubicBezTo>
                  <a:pt x="1890703" y="5577748"/>
                  <a:pt x="1259439" y="5195682"/>
                  <a:pt x="671354" y="4300148"/>
                </a:cubicBezTo>
                <a:cubicBezTo>
                  <a:pt x="594395" y="4182934"/>
                  <a:pt x="519167" y="4076330"/>
                  <a:pt x="446415" y="3973302"/>
                </a:cubicBezTo>
                <a:cubicBezTo>
                  <a:pt x="144886" y="3546115"/>
                  <a:pt x="0" y="3323958"/>
                  <a:pt x="0" y="2943554"/>
                </a:cubicBezTo>
                <a:cubicBezTo>
                  <a:pt x="0" y="2565835"/>
                  <a:pt x="90816" y="2192716"/>
                  <a:pt x="269730" y="1834555"/>
                </a:cubicBezTo>
                <a:cubicBezTo>
                  <a:pt x="444806" y="1484188"/>
                  <a:pt x="695109" y="1163480"/>
                  <a:pt x="1013589" y="881627"/>
                </a:cubicBezTo>
                <a:cubicBezTo>
                  <a:pt x="1326624" y="604505"/>
                  <a:pt x="1698428" y="375956"/>
                  <a:pt x="2089042" y="220777"/>
                </a:cubicBezTo>
                <a:cubicBezTo>
                  <a:pt x="2339747" y="120996"/>
                  <a:pt x="2592918" y="51971"/>
                  <a:pt x="2845684" y="14234"/>
                </a:cubicBezTo>
                <a:close/>
              </a:path>
            </a:pathLst>
          </a:custGeom>
          <a:solidFill>
            <a:srgbClr val="FFFFFF">
              <a:alpha val="6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eiryo"/>
              <a:ea typeface="+mn-ea"/>
              <a:cs typeface="+mn-cs"/>
            </a:endParaRPr>
          </a:p>
        </p:txBody>
      </p:sp>
      <p:pic>
        <p:nvPicPr>
          <p:cNvPr id="7" name="Graphic 6" descr="Oheň">
            <a:extLst>
              <a:ext uri="{FF2B5EF4-FFF2-40B4-BE49-F238E27FC236}">
                <a16:creationId xmlns:a16="http://schemas.microsoft.com/office/drawing/2014/main" id="{87AF00FD-E1AB-1E12-0421-1B0588D1493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1950" y="1073827"/>
            <a:ext cx="3217333" cy="3217333"/>
          </a:xfrm>
          <a:prstGeom prst="rect">
            <a:avLst/>
          </a:prstGeom>
        </p:spPr>
      </p:pic>
    </p:spTree>
    <p:extLst>
      <p:ext uri="{BB962C8B-B14F-4D97-AF65-F5344CB8AC3E}">
        <p14:creationId val="2629452973"/>
      </p:ext>
    </p:extLst>
  </p:cSld>
  <p:clrMapOvr>
    <a:masterClrMapping/>
  </p:clrMapOvr>
  <p:transition/>
  <p:timing/>
</p:sld>
</file>

<file path=ppt/slides/slide1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B511A91-3731-CC21-9C99-B636EEB78F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Podle směru reakce 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9F9EC89-A960-A772-38B1-E52D6A5181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cs-CZ" sz="1400" b="1"/>
              <a:t>Přímě</a:t>
            </a:r>
            <a:r>
              <a:rPr lang="cs-CZ" sz="1400"/>
              <a:t> – Základní typ reakce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cs-CZ" sz="1400" b="1"/>
              <a:t>Zpětné</a:t>
            </a:r>
            <a:r>
              <a:rPr lang="cs-CZ" sz="1400"/>
              <a:t> – Reakce probíhá stejným mechanismem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cs-CZ" sz="1400" b="1"/>
              <a:t>Bočné</a:t>
            </a:r>
            <a:r>
              <a:rPr lang="cs-CZ" sz="1400"/>
              <a:t> – Několik současně běžících reakcí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cs-CZ" sz="1400" b="1"/>
              <a:t>Násobné</a:t>
            </a:r>
            <a:r>
              <a:rPr lang="cs-CZ" sz="1400"/>
              <a:t> – Produkt reakce dál reaguje stejným mechanismem</a:t>
            </a:r>
            <a:endParaRPr lang="cs-CZ" sz="1400" b="1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/>
          </a:p>
        </p:txBody>
      </p:sp>
    </p:spTree>
    <p:extLst>
      <p:ext uri="{BB962C8B-B14F-4D97-AF65-F5344CB8AC3E}">
        <p14:creationId val="2727684953"/>
      </p:ext>
    </p:extLst>
  </p:cSld>
  <p:clrMapOvr>
    <a:masterClrMapping/>
  </p:clrMapOvr>
  <p:transition/>
  <p:timing/>
</p:sld>
</file>

<file path=ppt/slides/slide1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E090403-8113-9A5F-86A8-29ECFB2209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Podle rovnováhy reakce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049258D-9C56-4DAC-CA77-9B10C171032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40" y="2299576"/>
            <a:ext cx="8770571" cy="3651504"/>
          </a:xfrm>
        </p:spPr>
        <p:txBody>
          <a:bodyPr>
            <a:normAutofit/>
          </a:bodyPr>
          <a:lstStyle/>
          <a:p>
            <a:r>
              <a:rPr lang="cs-CZ" sz="1400" b="1"/>
              <a:t>Rovnovážné </a:t>
            </a:r>
            <a:r>
              <a:rPr lang="cs-CZ" sz="1400"/>
              <a:t>– Reakce běží až do chemické rovnováhy</a:t>
            </a:r>
          </a:p>
          <a:p>
            <a:r>
              <a:rPr lang="cs-CZ" sz="1400" b="1"/>
              <a:t>Jednosměrné </a:t>
            </a:r>
            <a:r>
              <a:rPr lang="cs-CZ" sz="1400"/>
              <a:t>– Zpětná reakce je zanedbatelná</a:t>
            </a:r>
            <a:endParaRPr lang="en-US" sz="1400" b="1"/>
          </a:p>
        </p:txBody>
      </p:sp>
    </p:spTree>
    <p:extLst>
      <p:ext uri="{BB962C8B-B14F-4D97-AF65-F5344CB8AC3E}">
        <p14:creationId val="2964433914"/>
      </p:ext>
    </p:extLst>
  </p:cSld>
  <p:clrMapOvr>
    <a:masterClrMapping/>
  </p:clrMapOvr>
  <p:transition/>
  <p:timing/>
</p:sld>
</file>

<file path=ppt/slides/slide1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17DEA8D9-1428-7913-406E-ADC526D7C0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Podle počtu reagujících molekul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9D3FC12-4033-6F7F-B4D3-58950FB79A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40" y="2477376"/>
            <a:ext cx="8770571" cy="3651504"/>
          </a:xfrm>
        </p:spPr>
        <p:txBody>
          <a:bodyPr>
            <a:normAutofit/>
          </a:bodyPr>
          <a:lstStyle/>
          <a:p>
            <a:r>
              <a:rPr lang="cs-CZ" sz="1400" b="1"/>
              <a:t>Monomolekulární </a:t>
            </a:r>
            <a:r>
              <a:rPr lang="cs-CZ" sz="1400"/>
              <a:t>– Reaguje jedna molekula</a:t>
            </a:r>
          </a:p>
          <a:p>
            <a:r>
              <a:rPr lang="cs-CZ" sz="1400" b="1"/>
              <a:t>Bimolekulární </a:t>
            </a:r>
            <a:r>
              <a:rPr lang="cs-CZ" sz="1400"/>
              <a:t>– Musí se srazit dvě molekuly</a:t>
            </a:r>
          </a:p>
          <a:p>
            <a:r>
              <a:rPr lang="cs-CZ" sz="1400" b="1" err="1"/>
              <a:t>Trimolekulární </a:t>
            </a:r>
            <a:r>
              <a:rPr lang="cs-CZ" sz="1400"/>
              <a:t>– Musí se srazit tři molekuly</a:t>
            </a:r>
            <a:endParaRPr lang="en-US" sz="1400" b="1"/>
          </a:p>
        </p:txBody>
      </p:sp>
    </p:spTree>
    <p:extLst>
      <p:ext uri="{BB962C8B-B14F-4D97-AF65-F5344CB8AC3E}">
        <p14:creationId val="1507966395"/>
      </p:ext>
    </p:extLst>
  </p:cSld>
  <p:clrMapOvr>
    <a:masterClrMapping/>
  </p:clrMapOvr>
  <p:transition/>
  <p:timing/>
</p:sld>
</file>

<file path=ppt/slides/slide1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A8D8BDF4-B1FB-43BB-DBA0-64C9177C239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Reakční kinetika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0D262168-AC63-03AD-A933-CF54C0C9B2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10714" y="2312276"/>
            <a:ext cx="8770571" cy="3651504"/>
          </a:xfrm>
        </p:spPr>
        <p:txBody>
          <a:bodyPr>
            <a:norm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cs-CZ" sz="1400"/>
              <a:t>Zabývá se rychlostí reakcí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cs-CZ" sz="1400" b="1"/>
              <a:t>Chemická reakce</a:t>
            </a:r>
            <a:r>
              <a:rPr lang="cs-CZ" sz="1400"/>
              <a:t>: Látka zanikne a vznikne nová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cs-CZ" sz="1400" b="1"/>
              <a:t>Reakční mechanismus </a:t>
            </a:r>
            <a:r>
              <a:rPr lang="cs-CZ" sz="1400"/>
              <a:t>– Chemické změny na atomární úrovni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cs-CZ" sz="1400" b="1"/>
              <a:t>Reakční rychlost </a:t>
            </a:r>
            <a:r>
              <a:rPr lang="cs-CZ" sz="1400"/>
              <a:t>– Počet reakcí v průběhu času</a:t>
            </a:r>
            <a:endParaRPr lang="en-US" sz="1400" b="1"/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cs-CZ" sz="1400"/>
          </a:p>
          <a:p>
            <a:endParaRPr lang="en-US" sz="1400" b="1"/>
          </a:p>
        </p:txBody>
      </p:sp>
      <p:pic>
        <p:nvPicPr>
          <p:cNvPr id="1026" name="Picture 2" descr="Reakční kinetika, termodynamika a chemická rovnováha – Bmedic online">
            <a:extLst>
              <a:ext uri="{FF2B5EF4-FFF2-40B4-BE49-F238E27FC236}">
                <a16:creationId xmlns:a16="http://schemas.microsoft.com/office/drawing/2014/main" id="{F01A8918-A58F-561A-1AD4-536CA81B02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097323" y="4470400"/>
            <a:ext cx="2972894" cy="238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val="120447805"/>
      </p:ext>
    </p:extLst>
  </p:cSld>
  <p:clrMapOvr>
    <a:masterClrMapping/>
  </p:clrMapOvr>
  <p:transition/>
  <p:timing/>
</p:sld>
</file>

<file path=ppt/slides/slide1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8BC11AE0-E289-E3FC-2989-15E390F53C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0240" y="442219"/>
            <a:ext cx="8770571" cy="1345269"/>
          </a:xfrm>
        </p:spPr>
        <p:txBody>
          <a:bodyPr>
            <a:normAutofit/>
          </a:bodyPr>
          <a:lstStyle/>
          <a:p>
            <a:r>
              <a:rPr lang="cs-CZ" sz="2800"/>
              <a:t>Faktory omezující reakční rychlost</a:t>
            </a:r>
            <a:endParaRPr lang="en-US" sz="2800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9CCECD8-0E28-5CBD-7996-9766FEFFCA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 b="1"/>
              <a:t>Vliv druhu eduktů</a:t>
            </a:r>
            <a:endParaRPr lang="cs-CZ"/>
          </a:p>
          <a:p>
            <a:r>
              <a:rPr lang="cs-CZ" b="1"/>
              <a:t>Vliv koncentrací eduktů</a:t>
            </a:r>
            <a:endParaRPr lang="cs-CZ" b="1"/>
          </a:p>
          <a:p>
            <a:r>
              <a:rPr lang="cs-CZ" b="1"/>
              <a:t>Vliv teploty</a:t>
            </a:r>
          </a:p>
          <a:p>
            <a:r>
              <a:rPr lang="cs-CZ" b="1"/>
              <a:t>Vliv specifického povrchu</a:t>
            </a:r>
          </a:p>
          <a:p>
            <a:r>
              <a:rPr lang="cs-CZ" b="1"/>
              <a:t>Vliv tlaku </a:t>
            </a:r>
          </a:p>
          <a:p>
            <a:r>
              <a:rPr lang="cs-CZ" b="1"/>
              <a:t>Vliv katalyzátoru</a:t>
            </a:r>
            <a:endParaRPr lang="en-US" b="1"/>
          </a:p>
        </p:txBody>
      </p:sp>
    </p:spTree>
    <p:extLst>
      <p:ext uri="{BB962C8B-B14F-4D97-AF65-F5344CB8AC3E}">
        <p14:creationId val="2567459260"/>
      </p:ext>
    </p:extLst>
  </p:cSld>
  <p:clrMapOvr>
    <a:masterClrMapping/>
  </p:clrMapOvr>
  <p:transition/>
  <p:timing/>
</p:sld>
</file>

<file path=ppt/slides/slide1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D2453EC2-1110-02F4-0539-2D20C82CC4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Katalyzátor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FD88FD3C-AEAB-9CE9-6FD9-0869F13F1F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cs-CZ" sz="1400"/>
              <a:t>Látka vstupující do chemické reakce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cs-CZ" sz="1400"/>
              <a:t>Urychluje nebo zpomaluje reakci</a:t>
            </a:r>
          </a:p>
          <a:p>
            <a:endParaRPr lang="en-US"/>
          </a:p>
        </p:txBody>
      </p:sp>
    </p:spTree>
    <p:extLst>
      <p:ext uri="{BB962C8B-B14F-4D97-AF65-F5344CB8AC3E}">
        <p14:creationId val="3371391829"/>
      </p:ext>
    </p:extLst>
  </p:cSld>
  <p:clrMapOvr>
    <a:masterClrMapping/>
  </p:clrMapOvr>
  <p:transition/>
  <p:timing/>
</p:sld>
</file>

<file path=ppt/slides/slide1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6EAC136-4B7E-2E4A-B057-A2B81488AC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Druhy Katalýzy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6021062D-3AD0-3FCB-0BBD-E6BD73815D5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cs-CZ" sz="1400" b="1"/>
              <a:t>Homogenní – ve stejné fázy</a:t>
            </a:r>
            <a:endParaRPr lang="cs-CZ" sz="1400" b="1"/>
          </a:p>
          <a:p>
            <a:r>
              <a:rPr lang="cs-CZ" sz="1400" b="1"/>
              <a:t>Heterogenní </a:t>
            </a:r>
            <a:r>
              <a:rPr lang="cs-CZ" sz="1400"/>
              <a:t>– Využití v průmyslu</a:t>
            </a:r>
            <a:endParaRPr lang="cs-CZ" sz="1400" b="1"/>
          </a:p>
          <a:p>
            <a:r>
              <a:rPr lang="cs-CZ" sz="1400" b="1"/>
              <a:t>Enzymová </a:t>
            </a:r>
            <a:r>
              <a:rPr lang="cs-CZ" sz="1400"/>
              <a:t>– Samostatný typ katalýzy</a:t>
            </a:r>
            <a:endParaRPr lang="cs-CZ" sz="1400" b="1"/>
          </a:p>
          <a:p>
            <a:r>
              <a:rPr lang="cs-CZ" sz="1400" b="1"/>
              <a:t>Autokatalýza </a:t>
            </a:r>
            <a:r>
              <a:rPr lang="cs-CZ" sz="1400"/>
              <a:t>– Zvláštní případ</a:t>
            </a:r>
            <a:endParaRPr lang="en-US" sz="1400" b="1"/>
          </a:p>
        </p:txBody>
      </p:sp>
    </p:spTree>
    <p:extLst>
      <p:ext uri="{BB962C8B-B14F-4D97-AF65-F5344CB8AC3E}">
        <p14:creationId val="3526639414"/>
      </p:ext>
    </p:extLst>
  </p:cSld>
  <p:clrMapOvr>
    <a:masterClrMapping/>
  </p:clrMapOvr>
  <p:transition/>
  <p:timing/>
</p:sld>
</file>

<file path=ppt/slides/slide19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353DEB6F-DD97-2E72-8DC2-41B2B12464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Inhibitory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22F5247C-ED2B-168F-920D-E79F8BD160A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40" y="2428390"/>
            <a:ext cx="8770571" cy="3651504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cs-CZ" sz="1400"/>
              <a:t>Látky ovlivňující transkripci a translaci</a:t>
            </a:r>
          </a:p>
          <a:p>
            <a:r>
              <a:rPr lang="cs-CZ" sz="1400"/>
              <a:t>Inhibitory dělíme: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cs-CZ" sz="1400"/>
              <a:t>Přednostně působící na syntézu DNA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cs-CZ" sz="1400"/>
              <a:t>Přednostně působící na syntézu RNA interakcí s DNA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cs-CZ" sz="1400"/>
              <a:t>Působící na syntézu RNA interakcí s RNA-polymerázami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cs-CZ" sz="1400"/>
              <a:t>Působící na úrovni prekurzorů nebo na regulační úrovni</a:t>
            </a:r>
          </a:p>
          <a:p>
            <a:endParaRPr lang="en-US"/>
          </a:p>
        </p:txBody>
      </p:sp>
      <p:pic>
        <p:nvPicPr>
          <p:cNvPr id="2054" name="Picture 6" descr="Explainer: what is RNA?">
            <a:extLst>
              <a:ext uri="{FF2B5EF4-FFF2-40B4-BE49-F238E27FC236}">
                <a16:creationId xmlns:a16="http://schemas.microsoft.com/office/drawing/2014/main" id="{81BBC578-D417-785B-0DF1-CF376FDED00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9460830" y="442220"/>
            <a:ext cx="2459961" cy="3651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val="3268328601"/>
      </p:ext>
    </p:extLst>
  </p:cSld>
  <p:clrMapOvr>
    <a:masterClrMapping/>
  </p:clrMapOvr>
  <p:transition/>
  <p:timing/>
</p:sld>
</file>

<file path=ppt/slides/slide20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E7CAA0FD-0B1D-AB19-E36F-05846DD36F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Termodynamika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B8148B34-9A11-FEAF-38E5-E0314C87A01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cs-CZ"/>
              <a:t>Obor fyziky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cs-CZ"/>
              <a:t>Čtyři Termodynamické zákony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cs-CZ"/>
              <a:t>Rovnovážných a nerovnovážných procesů</a:t>
            </a:r>
          </a:p>
          <a:p>
            <a:endParaRPr lang="en-US"/>
          </a:p>
        </p:txBody>
      </p:sp>
    </p:spTree>
    <p:extLst>
      <p:ext uri="{BB962C8B-B14F-4D97-AF65-F5344CB8AC3E}">
        <p14:creationId val="1181705766"/>
      </p:ext>
    </p:extLst>
  </p:cSld>
  <p:clrMapOvr>
    <a:masterClrMapping/>
  </p:clrMapOvr>
  <p:transition/>
  <p:timing/>
</p:sld>
</file>

<file path=ppt/slides/slide21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BF57ACF-1314-3A15-D5A1-DC25A60EA30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Druhy soustav termodynamiky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1DAEB9C0-B474-67B1-4588-BD56C334F9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cs-CZ"/>
              <a:t>Izolovaná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cs-CZ"/>
              <a:t>Neizolovaná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cs-CZ"/>
              <a:t>Uzavřená</a:t>
            </a:r>
            <a:endParaRPr lang="en-US"/>
          </a:p>
        </p:txBody>
      </p:sp>
    </p:spTree>
    <p:extLst>
      <p:ext uri="{BB962C8B-B14F-4D97-AF65-F5344CB8AC3E}">
        <p14:creationId val="2894897644"/>
      </p:ext>
    </p:extLst>
  </p:cSld>
  <p:clrMapOvr>
    <a:masterClrMapping/>
  </p:clrMapOvr>
  <p:transition/>
  <p:timing/>
</p:sld>
</file>

<file path=ppt/slides/slide22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5A1A6FC-8146-1A8D-9926-E0ED908602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Termodynamický děj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C9F634E8-B627-1BDD-5745-0066220A311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20239" y="2442905"/>
            <a:ext cx="8770571" cy="3651504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cs-CZ"/>
              <a:t>Změna stavu tělesa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cs-CZ"/>
              <a:t>Kruhový děj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cs-CZ"/>
              <a:t>Vratné a nevratné děje</a:t>
            </a:r>
            <a:endParaRPr lang="en-US"/>
          </a:p>
        </p:txBody>
      </p:sp>
      <p:pic>
        <p:nvPicPr>
          <p:cNvPr id="3074" name="Picture 2" descr="Termodynamika">
            <a:extLst>
              <a:ext uri="{FF2B5EF4-FFF2-40B4-BE49-F238E27FC236}">
                <a16:creationId xmlns:a16="http://schemas.microsoft.com/office/drawing/2014/main" id="{2DA8296A-979C-29D6-4355-7329D40C6DB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801157" y="985920"/>
            <a:ext cx="4116559" cy="291396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val="1404193946"/>
      </p:ext>
    </p:extLst>
  </p:cSld>
  <p:clrMapOvr>
    <a:masterClrMapping/>
  </p:clrMapOvr>
  <p:transition/>
  <p:timing/>
</p:sld>
</file>

<file path=ppt/slides/slide23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3D57598-505C-2912-D78F-AD8CC5023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Termochemie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D2DFC6C-F7BC-F673-D29F-E699984201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cs-CZ"/>
              <a:t>Oblast termodynamiky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cs-CZ"/>
              <a:t>Zabývá se tepelným zabarvením chemických reakcí.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cs-CZ"/>
              <a:t>Exotermní a Endotermní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cs-CZ"/>
              <a:t>Dva zákony </a:t>
            </a:r>
            <a:endParaRPr lang="en-US"/>
          </a:p>
        </p:txBody>
      </p:sp>
      <p:pic>
        <p:nvPicPr>
          <p:cNvPr id="4098" name="Picture 2" descr="Chemie - Chemická termodynamika (Termochemie) - YouTube">
            <a:extLst>
              <a:ext uri="{FF2B5EF4-FFF2-40B4-BE49-F238E27FC236}">
                <a16:creationId xmlns:a16="http://schemas.microsoft.com/office/drawing/2014/main" id="{0EA7B3B9-E566-56D8-16C2-9B19541F0AA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627690" y="4225488"/>
            <a:ext cx="4183310" cy="23531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val="1888321113"/>
      </p:ext>
    </p:extLst>
  </p:cSld>
  <p:clrMapOvr>
    <a:masterClrMapping/>
  </p:clrMapOvr>
  <p:transition/>
  <p:timing/>
</p:sld>
</file>

<file path=ppt/slides/slide24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4A201AEE-92EA-5682-1E62-D0CF887044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Otázka č.1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6618C9B-D55B-0612-B4D3-9C27EF5CE1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/>
              <a:t>1.Jakou zkratku má vodný roztok?</a:t>
            </a:r>
          </a:p>
          <a:p>
            <a:pPr marL="342900" indent="-342900">
              <a:buAutoNum type="alphaLcParenR"/>
            </a:pPr>
            <a:r>
              <a:rPr lang="cs-CZ" err="1"/>
              <a:t>aq</a:t>
            </a:r>
            <a:endParaRPr lang="cs-CZ"/>
          </a:p>
          <a:p>
            <a:pPr marL="342900" indent="-342900">
              <a:buAutoNum type="alphaLcParenR"/>
            </a:pPr>
            <a:r>
              <a:rPr lang="cs-CZ"/>
              <a:t>l</a:t>
            </a:r>
          </a:p>
          <a:p>
            <a:pPr marL="342900" indent="-342900">
              <a:buAutoNum type="alphaLcParenR"/>
            </a:pPr>
            <a:r>
              <a:rPr lang="cs-CZ"/>
              <a:t>s</a:t>
            </a:r>
          </a:p>
          <a:p>
            <a:pPr marL="342900" indent="-342900">
              <a:buAutoNum type="alphaLcParenR"/>
            </a:pPr>
            <a:r>
              <a:rPr lang="cs-CZ"/>
              <a:t>g</a:t>
            </a:r>
          </a:p>
        </p:txBody>
      </p:sp>
    </p:spTree>
    <p:extLst>
      <p:ext uri="{BB962C8B-B14F-4D97-AF65-F5344CB8AC3E}">
        <p14:creationId val="3960607042"/>
      </p:ext>
    </p:extLst>
  </p:cSld>
  <p:clrMapOvr>
    <a:masterClrMapping/>
  </p:clrMapOvr>
  <p:transition/>
  <p:timing/>
</p:sld>
</file>

<file path=ppt/slides/slide25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4995BB5-620E-E379-A1F2-4FBAA9F266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Otázka č.2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AB491148-473C-3944-14EE-459C4DF40C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/>
              <a:t>2.Jaká byla první chemická reakce poznamenána člověkem?</a:t>
            </a:r>
            <a:endParaRPr lang="en-US"/>
          </a:p>
        </p:txBody>
      </p:sp>
    </p:spTree>
    <p:extLst>
      <p:ext uri="{BB962C8B-B14F-4D97-AF65-F5344CB8AC3E}">
        <p14:creationId val="365347633"/>
      </p:ext>
    </p:extLst>
  </p:cSld>
  <p:clrMapOvr>
    <a:masterClrMapping/>
  </p:clrMapOvr>
  <p:transition/>
  <p:timing/>
</p:sld>
</file>

<file path=ppt/slides/slide26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F2EB043F-D1CA-4DD5-7C97-ADFBD3B5AC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Otázka č.3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96CD3BB0-FA9C-E98E-4201-5B6E9392C97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cs-CZ"/>
              <a:t>3. Čím se zabývá Reakční kinetika?</a:t>
            </a:r>
          </a:p>
          <a:p>
            <a:pPr marL="342900" indent="-342900">
              <a:buAutoNum type="alphaLcParenR"/>
            </a:pPr>
            <a:r>
              <a:rPr lang="cs-CZ"/>
              <a:t>Věda zabývající se tepelným zabarvením chemických reakcí</a:t>
            </a:r>
          </a:p>
          <a:p>
            <a:pPr marL="342900" indent="-342900">
              <a:buAutoNum type="alphaLcParenR"/>
            </a:pPr>
            <a:r>
              <a:rPr lang="cs-CZ"/>
              <a:t>Procesy spojené s teplem a tepelnými jevy</a:t>
            </a:r>
          </a:p>
          <a:p>
            <a:pPr marL="342900" indent="-342900">
              <a:buAutoNum type="alphaLcParenR"/>
            </a:pPr>
            <a:r>
              <a:rPr lang="cs-CZ" err="1"/>
              <a:t>Náuka o rychlosti chemických reakcí</a:t>
            </a:r>
            <a:endParaRPr lang="en-US"/>
          </a:p>
        </p:txBody>
      </p:sp>
    </p:spTree>
    <p:extLst>
      <p:ext uri="{BB962C8B-B14F-4D97-AF65-F5344CB8AC3E}">
        <p14:creationId val="2436294144"/>
      </p:ext>
    </p:extLst>
  </p:cSld>
  <p:clrMapOvr>
    <a:masterClrMapping/>
  </p:clrMapOvr>
  <p:transition/>
  <p:timing/>
</p:sld>
</file>

<file path=ppt/slides/slide27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2053A9F4-FA4F-2B36-58BD-B267301D18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Děkuji za pozornost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8E6BAE74-BA0E-3146-C86B-2DBF1ED954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val="3718233045"/>
      </p:ext>
    </p:extLst>
  </p:cSld>
  <p:clrMapOvr>
    <a:masterClrMapping/>
  </p:clrMapOvr>
  <p:transition/>
  <p:timing/>
</p:sld>
</file>

<file path=ppt/slides/slide28.xml><?xml version="1.0" encoding="utf-8"?>
<p:sld xmlns:a="http://schemas.openxmlformats.org/drawingml/2006/main" xmlns:r="http://schemas.openxmlformats.org/officeDocument/2006/relationships" xmlns:m="http://schemas.openxmlformats.org/officeDocument/2006/math" xmlns:w="http://schemas.openxmlformats.org/wordprocessingml/2006/main" xmlns:wp="http://schemas.openxmlformats.org/drawingml/2006/wordprocessingDrawing" xmlns:a14="http://schemas.microsoft.com/office/drawing/2010/main" xmlns:mc="http://schemas.openxmlformats.org/markup-compatibility/2006" xmlns:p14="http://schemas.microsoft.com/office/powerpoint/2010/main" xmlns:p15="http://schemas.microsoft.com/office/powerpoint/2012/main" xmlns:p159="http://schemas.microsoft.com/office/powerpoint/2015/09/main" xmlns:p="http://schemas.openxmlformats.org/presentationml/2006/main">
  <p:cSld name="">
    <p:spTree>
      <p:nvGrpSpPr>
        <p:cNvPr id="1" name=""/>
        <p:cNvGrpSpPr/>
        <p:nvPr/>
      </p:nvGrpSpPr>
      <p:grpSpPr>
        <a:xfrm>
          <a:off x="0" y="0"/>
          <a:ext cx="0" cy="0"/>
        </a:xfrm>
      </p:grpSpPr>
      <p:sp>
        <p:nvSpPr>
          <p:cNvPr id="2" name="Nadpis 1">
            <a:extLst>
              <a:ext uri="{FF2B5EF4-FFF2-40B4-BE49-F238E27FC236}">
                <a16:creationId xmlns:a16="http://schemas.microsoft.com/office/drawing/2014/main" id="{C8E431AC-55FC-F5DC-8015-7DAD099140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/>
              <a:t>Zdroje</a:t>
            </a:r>
            <a:endParaRPr lang="en-US"/>
          </a:p>
        </p:txBody>
      </p:sp>
      <p:sp>
        <p:nvSpPr>
          <p:cNvPr id="3" name="Zástupný obsah 2">
            <a:extLst>
              <a:ext uri="{FF2B5EF4-FFF2-40B4-BE49-F238E27FC236}">
                <a16:creationId xmlns:a16="http://schemas.microsoft.com/office/drawing/2014/main" id="{339D258F-942B-0951-975D-6CAEC0831E7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1200">
                <a:hlinkClick r:id="rId2"/>
              </a:rPr>
              <a:t>https://www.google.com/search?q=Chemie&amp;tbm=isch&amp;ved=2ahUKEwiop4rWjsz6AhUIEhoKHRRsDoMQ2</a:t>
            </a:r>
            <a:endParaRPr lang="cs-CZ" sz="1200"/>
          </a:p>
          <a:p>
            <a:r>
              <a:rPr lang="en-US" sz="1200">
                <a:hlinkClick r:id="rId3"/>
              </a:rPr>
              <a:t>https://cs.wikipedia.org/wiki/Chemick%C3%A1_reakce</a:t>
            </a:r>
            <a:endParaRPr lang="cs-CZ" sz="1200"/>
          </a:p>
          <a:p>
            <a:r>
              <a:rPr lang="en-US" sz="1200">
                <a:hlinkClick r:id="rId4"/>
              </a:rPr>
              <a:t>https://www.wikiskripta.eu/w/Chemick%C3%A9_reakce</a:t>
            </a:r>
            <a:endParaRPr lang="cs-CZ" sz="1200"/>
          </a:p>
          <a:p>
            <a:r>
              <a:rPr lang="cs-CZ" sz="1200">
                <a:hlinkClick r:id="rId5"/>
              </a:rPr>
              <a:t>http://e-chembook.eu/rychlost-chemickych-reakci</a:t>
            </a:r>
            <a:endParaRPr lang="cs-CZ" sz="1200"/>
          </a:p>
          <a:p>
            <a:r>
              <a:rPr lang="cs-CZ" sz="1200">
                <a:hlinkClick r:id="rId6"/>
              </a:rPr>
              <a:t>https://fvhe.vfu.cz/files/reakcni-kinetika2.pdf</a:t>
            </a:r>
            <a:endParaRPr lang="cs-CZ" sz="1200"/>
          </a:p>
          <a:p>
            <a:r>
              <a:rPr lang="cs-CZ" sz="1200">
                <a:hlinkClick r:id="rId7"/>
              </a:rPr>
              <a:t>https://cs.wikipedia.org/wiki/Katalyz%C3%A1tor</a:t>
            </a:r>
            <a:endParaRPr lang="cs-CZ" sz="1200"/>
          </a:p>
          <a:p>
            <a:endParaRPr lang="cs-CZ" sz="1200"/>
          </a:p>
          <a:p>
            <a:endParaRPr lang="cs-CZ" sz="1200"/>
          </a:p>
          <a:p>
            <a:endParaRPr lang="en-US" sz="1200"/>
          </a:p>
        </p:txBody>
      </p:sp>
    </p:spTree>
    <p:extLst>
      <p:ext uri="{BB962C8B-B14F-4D97-AF65-F5344CB8AC3E}">
        <p14:creationId val="653997510"/>
      </p:ext>
    </p:extLst>
  </p:cSld>
  <p:clrMapOvr>
    <a:masterClrMapping/>
  </p:clrMapOvr>
  <p:transition/>
  <p:timing/>
</p:sld>
</file>

<file path=ppt/tags/tag1.xml><?xml version="1.0" encoding="utf-8"?>
<p:tagLst xmlns:p="http://schemas.openxmlformats.org/presentationml/2006/main">
  <p:tag name="AS_NET" val="6.0.36"/>
  <p:tag name="AS_OS" val="Unix 5.4.0.216"/>
  <p:tag name="AS_RELEASE_DATE" val="2024.12.14"/>
  <p:tag name="AS_TITLE" val="Aspose.Slides for .NET Standard 2.0"/>
  <p:tag name="AS_VERSION" val="24.12"/>
</p:tagLst>
</file>

<file path=ppt/theme/theme1.xml><?xml version="1.0" encoding="utf-8"?>
<a:theme xmlns:r="http://schemas.openxmlformats.org/officeDocument/2006/relationships" xmlns:a="http://schemas.openxmlformats.org/drawingml/2006/main" name="SketchLinesVTI">
  <a:themeElements>
    <a:clrScheme name="AnalogousFromRegularSeed_2SEEDS">
      <a:dk1>
        <a:srgbClr val="000000"/>
      </a:dk1>
      <a:lt1>
        <a:srgbClr val="FFFFFF"/>
      </a:lt1>
      <a:dk2>
        <a:srgbClr val="3B2441"/>
      </a:dk2>
      <a:lt2>
        <a:srgbClr val="E3E8E2"/>
      </a:lt2>
      <a:accent1>
        <a:srgbClr val="B217D5"/>
      </a:accent1>
      <a:accent2>
        <a:srgbClr val="7529E7"/>
      </a:accent2>
      <a:accent3>
        <a:srgbClr val="E729BB"/>
      </a:accent3>
      <a:accent4>
        <a:srgbClr val="30BA14"/>
      </a:accent4>
      <a:accent5>
        <a:srgbClr val="22BD48"/>
      </a:accent5>
      <a:accent6>
        <a:srgbClr val="14B881"/>
      </a:accent6>
      <a:hlink>
        <a:srgbClr val="449531"/>
      </a:hlink>
      <a:folHlink>
        <a:srgbClr val="7F7F7F"/>
      </a:folHlink>
    </a:clrScheme>
    <a:fontScheme name="Custom 7">
      <a:majorFont>
        <a:latin typeface="Meiryo"/>
        <a:ea typeface="Meiryo"/>
        <a:cs typeface="Arial"/>
      </a:majorFont>
      <a:minorFont>
        <a:latin typeface="Meiryo"/>
        <a:ea typeface="Meiryo"/>
        <a:cs typeface="Arial"/>
      </a:minorFont>
    </a:fontScheme>
    <a:fmtScheme name="Feathered">
      <a:fillStyleLst>
        <a:solidFill>
          <a:schemeClr val="phClr"/>
        </a:solidFill>
        <a:solidFill>
          <a:schemeClr val="phClr">
            <a:tint val="67000"/>
            <a:satMod val="105000"/>
          </a:schemeClr>
        </a:soli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0000"/>
                <a:satMod val="120000"/>
                <a:lumMod val="99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>
              <a:tint val="50000"/>
              <a:shade val="83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25400" dir="5400000" algn="ctr" rotWithShape="0">
              <a:srgbClr val="000000">
                <a:alpha val="20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Lst>
    <a:ext uri="{05A4C25C-085E-4340-85A3-A5531E510DB2}">
      <thm15:themeFamily xmlns:thm15="http://schemas.microsoft.com/office/thememl/2012/main" name="SketchLinesVTI" id="{8C0B0F05-C8D0-4078-9615-83E590287484}" vid="{43A7BC57-C1E3-4EE6-BDBC-5422DD574AF2}"/>
    </a:ext>
  </a:extLst>
</a:theme>
</file>

<file path=customXml/_rels/item1.xml.rels>&#65279;<?xml version="1.0" encoding="utf-8" standalone="yes"?><Relationships xmlns="http://schemas.openxmlformats.org/package/2006/relationships"><Relationship Id="rId1" Type="http://schemas.openxmlformats.org/officeDocument/2006/relationships/customXmlProps" Target="itemProps1.xml" /></Relationships>
</file>

<file path=customXml/_rels/item2.xml.rels>&#65279;<?xml version="1.0" encoding="utf-8" standalone="yes"?><Relationships xmlns="http://schemas.openxmlformats.org/package/2006/relationships"><Relationship Id="rId1" Type="http://schemas.openxmlformats.org/officeDocument/2006/relationships/customXmlProps" Target="itemProps2.xml" /></Relationships>
</file>

<file path=customXml/_rels/item3.xml.rels>&#65279;<?xml version="1.0" encoding="utf-8" standalone="yes"?><Relationships xmlns="http://schemas.openxmlformats.org/package/2006/relationships"><Relationship Id="rId1" Type="http://schemas.openxmlformats.org/officeDocument/2006/relationships/customXmlProps" Target="itemProps3.xml" 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kument" ma:contentTypeID="0x01010027A96DCF66FBAA469343C3AE5781735C" ma:contentTypeVersion="5" ma:contentTypeDescription="Vytvoří nový dokument" ma:contentTypeScope="" ma:versionID="3c130d6ea3ad984177e79fae04d297f0">
  <xsd:schema xmlns:xsd="http://www.w3.org/2001/XMLSchema" xmlns:xs="http://www.w3.org/2001/XMLSchema" xmlns:p="http://schemas.microsoft.com/office/2006/metadata/properties" xmlns:ns3="a336bbd3-fa5a-4ace-896b-9660d4d6f4a4" xmlns:ns4="35801232-24e1-47c4-8b94-d6bb283808bb" targetNamespace="http://schemas.microsoft.com/office/2006/metadata/properties" ma:root="true" ma:fieldsID="5fb475f5fc9cb8745ee070d13da858c9" ns3:_="" ns4:_="">
    <xsd:import namespace="a336bbd3-fa5a-4ace-896b-9660d4d6f4a4"/>
    <xsd:import namespace="35801232-24e1-47c4-8b94-d6bb283808bb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4:SharedWithUsers" minOccurs="0"/>
                <xsd:element ref="ns4:SharedWithDetails" minOccurs="0"/>
                <xsd:element ref="ns4:SharingHintHash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336bbd3-fa5a-4ace-896b-9660d4d6f4a4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5801232-24e1-47c4-8b94-d6bb283808bb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dílí se s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dílené s podrobnostmi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2" nillable="true" ma:displayName="Hodnota hash upozornění na sdílení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 obsahu"/>
        <xsd:element ref="dc:title" minOccurs="0" maxOccurs="1" ma:index="4" ma:displayName="Nadpis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A2994BB-5F3F-4280-AF84-107F8714447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91CA63AC-67C1-4E2E-A25C-2C7C1945354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336bbd3-fa5a-4ace-896b-9660d4d6f4a4"/>
    <ds:schemaRef ds:uri="35801232-24e1-47c4-8b94-d6bb283808bb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4F72AFA8-07D9-40DE-81B8-4E522D6CC337}">
  <ds:schemaRefs>
    <ds:schemaRef ds:uri="http://schemas.openxmlformats.org/package/2006/metadata/core-properties"/>
    <ds:schemaRef ds:uri="http://purl.org/dc/terms/"/>
    <ds:schemaRef ds:uri="http://www.w3.org/XML/1998/namespace"/>
    <ds:schemaRef ds:uri="http://purl.org/dc/dcmitype/"/>
    <ds:schemaRef ds:uri="a336bbd3-fa5a-4ace-896b-9660d4d6f4a4"/>
    <ds:schemaRef ds:uri="http://schemas.microsoft.com/office/2006/metadata/properties"/>
    <ds:schemaRef ds:uri="http://schemas.microsoft.com/office/2006/documentManagement/types"/>
    <ds:schemaRef ds:uri="http://purl.org/dc/elements/1.1/"/>
    <ds:schemaRef ds:uri="http://schemas.microsoft.com/office/infopath/2007/PartnerControls"/>
    <ds:schemaRef ds:uri="35801232-24e1-47c4-8b94-d6bb283808bb"/>
  </ds:schemaRefs>
</ds:datastoreItem>
</file>

<file path=docProps/app.xml><?xml version="1.0" encoding="utf-8"?>
<Properties xmlns:vt="http://schemas.openxmlformats.org/officeDocument/2006/docPropsVTypes" xmlns="http://schemas.openxmlformats.org/officeDocument/2006/extended-properties">
  <Company/>
  <PresentationFormat>Širokoúhlá obrazovka</PresentationFormat>
  <Paragraphs>148</Paragraphs>
  <Slides>28</Slides>
  <Notes>0</Notes>
  <TotalTime>0</TotalTime>
  <HiddenSlides>0</HiddenSlides>
  <MMClips>0</MMClips>
  <ScaleCrop>0</ScaleCrop>
  <HeadingPairs>
    <vt:vector baseType="variant" size="6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baseType="lpstr" size="35">
      <vt:lpstr>Arial</vt:lpstr>
      <vt:lpstr>Meiryo</vt:lpstr>
      <vt:lpstr>Corbel</vt:lpstr>
      <vt:lpstr>Wingdings</vt:lpstr>
      <vt:lpstr>Courier New</vt:lpstr>
      <vt:lpstr>-apple-system</vt:lpstr>
      <vt:lpstr>SketchLinesVTI</vt:lpstr>
      <vt:lpstr>Chemické reakce</vt:lpstr>
      <vt:lpstr>Co je to?</vt:lpstr>
      <vt:lpstr>Chemické reakce</vt:lpstr>
      <vt:lpstr>Typy reakcí</vt:lpstr>
      <vt:lpstr>Využítí</vt:lpstr>
      <vt:lpstr>Klasifikace reakcí</vt:lpstr>
      <vt:lpstr>Podle vnějších změn</vt:lpstr>
      <vt:lpstr>Podle reakčního mechanismu</vt:lpstr>
      <vt:lpstr>Podle skupenství</vt:lpstr>
      <vt:lpstr>Podle typu přenášených částic</vt:lpstr>
      <vt:lpstr>Podle tepelného zabarvení</vt:lpstr>
      <vt:lpstr>Podle směru reakce </vt:lpstr>
      <vt:lpstr>Podle rovnováhy reakce</vt:lpstr>
      <vt:lpstr>Podle počtu reagujících molekul</vt:lpstr>
      <vt:lpstr>Reakční kinetika</vt:lpstr>
      <vt:lpstr>Faktory omezující reakční rychlost</vt:lpstr>
      <vt:lpstr>Katalyzátor</vt:lpstr>
      <vt:lpstr>Druhy Katalýzy</vt:lpstr>
      <vt:lpstr>Inhibitory</vt:lpstr>
      <vt:lpstr>Termodynamika</vt:lpstr>
      <vt:lpstr>Druhy soustav termodynamiky</vt:lpstr>
      <vt:lpstr>Termodynamický děj</vt:lpstr>
      <vt:lpstr>Termochemie</vt:lpstr>
      <vt:lpstr>Otázka č.1</vt:lpstr>
      <vt:lpstr>Otázka č.2</vt:lpstr>
      <vt:lpstr>Otázka č.3</vt:lpstr>
      <vt:lpstr>Děkuji za pozornost</vt:lpstr>
      <vt:lpstr>Zdroje</vt:lpstr>
    </vt:vector>
  </TitlesOfParts>
  <LinksUpToDate>0</LinksUpToDate>
  <SharedDoc>0</SharedDoc>
  <HyperlinksChanged>0</HyperlinksChanged>
  <Application>Aspose.Slides for .NET</Application>
  <AppVersion>24.1200</AppVersion>
</Properties>
</file>

<file path=docProps/core.xml><?xml version="1.0" encoding="utf-8"?>
<cp:coreProperties xmlns:dc="http://purl.org/dc/elements/1.1/" xmlns:dcterms="http://purl.org/dc/terms/" xmlns:dcmitype="http://purl.org/dc/dcmitype/" xmlns:xsi="http://www.w3.org/2001/XMLSchema-instance" xmlns:cp="http://schemas.openxmlformats.org/package/2006/metadata/core-properties">
  <cp:revision>1</cp:revision>
</cp:coreProperties>
</file>