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70" r:id="rId15"/>
    <p:sldId id="271" r:id="rId16"/>
    <p:sldId id="272" r:id="rId17"/>
    <p:sldId id="273" r:id="rId18"/>
    <p:sldId id="274" r:id="rId19"/>
    <p:sldId id="276" r:id="rId20"/>
    <p:sldId id="269" r:id="rId21"/>
    <p:sldId id="277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004CF6-C077-4BB4-B33D-321475AD9FC4}" v="145" dt="2024-02-14T07:40:02.074"/>
    <p1510:client id="{E3D98DE2-D65A-5596-7DFD-A67A4B0540AB}" v="1547" dt="2024-02-13T19:15:59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What Is DHCP? Dynamic Host Configuration Protocol Explained - IPXO">
            <a:extLst>
              <a:ext uri="{FF2B5EF4-FFF2-40B4-BE49-F238E27FC236}">
                <a16:creationId xmlns:a16="http://schemas.microsoft.com/office/drawing/2014/main" id="{72BA756F-5FD9-E000-EE34-4632AF1914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93" r="15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DHCP Windows Server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Obrázek 3" descr="What Is DHCP? Dynamic Host Configuration Protocol Explained - IPXO">
            <a:extLst>
              <a:ext uri="{FF2B5EF4-FFF2-40B4-BE49-F238E27FC236}">
                <a16:creationId xmlns:a16="http://schemas.microsoft.com/office/drawing/2014/main" id="{737282FB-F6D3-AE7C-4BEC-B021825C60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293" r="152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C96F673-6A4D-0E3B-B749-57ED7793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570"/>
            <a:ext cx="5155261" cy="4072044"/>
          </a:xfrm>
        </p:spPr>
        <p:txBody>
          <a:bodyPr anchor="t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Co je to DHCP?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B997BB-4D82-E30C-FB61-252623EB2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207" y="1671566"/>
            <a:ext cx="6833406" cy="40720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200" dirty="0">
                <a:solidFill>
                  <a:srgbClr val="FFFFFF"/>
                </a:solidFill>
                <a:ea typeface="+mn-lt"/>
                <a:cs typeface="+mn-lt"/>
              </a:rPr>
              <a:t>DHCP je zkratka anglického pojmu </a:t>
            </a:r>
            <a:r>
              <a:rPr lang="cs-CZ" sz="2200" dirty="0" err="1">
                <a:solidFill>
                  <a:srgbClr val="FFFFFF"/>
                </a:solidFill>
                <a:ea typeface="+mn-lt"/>
                <a:cs typeface="+mn-lt"/>
              </a:rPr>
              <a:t>Dynamic</a:t>
            </a:r>
            <a:r>
              <a:rPr lang="cs-CZ" sz="2200" dirty="0">
                <a:solidFill>
                  <a:srgbClr val="FFFFFF"/>
                </a:solidFill>
                <a:ea typeface="+mn-lt"/>
                <a:cs typeface="+mn-lt"/>
              </a:rPr>
              <a:t> Host </a:t>
            </a:r>
            <a:r>
              <a:rPr lang="cs-CZ" sz="2200" dirty="0" err="1">
                <a:solidFill>
                  <a:srgbClr val="FFFFFF"/>
                </a:solidFill>
                <a:ea typeface="+mn-lt"/>
                <a:cs typeface="+mn-lt"/>
              </a:rPr>
              <a:t>Configuration</a:t>
            </a:r>
            <a:r>
              <a:rPr lang="cs-CZ" sz="22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cs-CZ" sz="2200" dirty="0" err="1">
                <a:solidFill>
                  <a:srgbClr val="FFFFFF"/>
                </a:solidFill>
                <a:ea typeface="+mn-lt"/>
                <a:cs typeface="+mn-lt"/>
              </a:rPr>
              <a:t>Protocol</a:t>
            </a:r>
            <a:r>
              <a:rPr lang="cs-CZ" sz="2200" dirty="0">
                <a:solidFill>
                  <a:srgbClr val="FFFFFF"/>
                </a:solidFill>
                <a:ea typeface="+mn-lt"/>
                <a:cs typeface="+mn-lt"/>
              </a:rPr>
              <a:t>. Zjednodušeně se jedná o internetový protokol, který počítačům nebo jiným zařízením v síti automaticky, tzv. dynamicky, poskytuje (půjčuje) IP adresu, masku podsítě, výchozí bránu, apod.</a:t>
            </a:r>
            <a:endParaRPr lang="cs-CZ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53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9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Dynamic Host Configuration Protocol (DHCP) | Board Infinity">
            <a:extLst>
              <a:ext uri="{FF2B5EF4-FFF2-40B4-BE49-F238E27FC236}">
                <a16:creationId xmlns:a16="http://schemas.microsoft.com/office/drawing/2014/main" id="{D6814775-4EC7-AE4A-6582-DD7FF7C1C7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96" b="2175"/>
          <a:stretch/>
        </p:blipFill>
        <p:spPr>
          <a:xfrm>
            <a:off x="180975" y="182880"/>
            <a:ext cx="11823637" cy="6499784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545AD1B-502C-13C8-7116-065DF366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849" y="1465324"/>
            <a:ext cx="10165218" cy="837182"/>
          </a:xfrm>
        </p:spPr>
        <p:txBody>
          <a:bodyPr anchor="b"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Jak funguje a proč ho používat?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AC3D71-C5DB-3293-62C4-C12695C92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5339"/>
            <a:ext cx="10165218" cy="3449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200" dirty="0">
                <a:solidFill>
                  <a:srgbClr val="FFFFFF"/>
                </a:solidFill>
                <a:ea typeface="+mn-lt"/>
                <a:cs typeface="+mn-lt"/>
              </a:rPr>
              <a:t>Když zapnete například notebook a připojíte se k internetu, vaše zařízení požádá DHCP server o přidělení dynamické IP adresy. Tu dostanete přidělenou na předem určený čas, poté ti ji DHCP server přidělí znovu, nebo vám přidělí jinou. </a:t>
            </a:r>
          </a:p>
          <a:p>
            <a:r>
              <a:rPr lang="cs-CZ" sz="2200" dirty="0">
                <a:solidFill>
                  <a:srgbClr val="FFFFFF"/>
                </a:solidFill>
                <a:ea typeface="+mn-lt"/>
                <a:cs typeface="+mn-lt"/>
              </a:rPr>
              <a:t>DHCP protokol je důležitý proto, abys při každém přihlášení do sítě nemusel nastavovat IP adresu a další parametry ručně. V běžné domácnosti slouží jako DHCP server router.</a:t>
            </a:r>
            <a:endParaRPr lang="cs-CZ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12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What Is DHCP? Dynamic Host Configuration Protocol Explained - IPXO">
            <a:extLst>
              <a:ext uri="{FF2B5EF4-FFF2-40B4-BE49-F238E27FC236}">
                <a16:creationId xmlns:a16="http://schemas.microsoft.com/office/drawing/2014/main" id="{2F864EE7-7821-BE19-0902-8387DEF8E4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293" r="152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A7E7F47-C901-E865-8119-B1A6DAF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cs-CZ" sz="5000">
                <a:solidFill>
                  <a:schemeClr val="bg1"/>
                </a:solidFill>
              </a:rPr>
              <a:t>Instalace DHCP serveru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FFB47E-90D1-39D3-4FB4-9FB8B3A54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sz="2000" dirty="0">
                <a:solidFill>
                  <a:schemeClr val="bg1"/>
                </a:solidFill>
                <a:ea typeface="+mn-lt"/>
                <a:cs typeface="+mn-lt"/>
              </a:rPr>
              <a:t>Před instalaci DHCP serveru je nutné provést instalaci </a:t>
            </a:r>
            <a:r>
              <a:rPr lang="cs-CZ" sz="2000" dirty="0" err="1">
                <a:solidFill>
                  <a:schemeClr val="bg1"/>
                </a:solidFill>
                <a:ea typeface="+mn-lt"/>
                <a:cs typeface="+mn-lt"/>
              </a:rPr>
              <a:t>Active</a:t>
            </a:r>
            <a:r>
              <a:rPr lang="cs-CZ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cs-CZ" sz="2000" dirty="0" err="1">
                <a:solidFill>
                  <a:schemeClr val="bg1"/>
                </a:solidFill>
                <a:ea typeface="+mn-lt"/>
                <a:cs typeface="+mn-lt"/>
              </a:rPr>
              <a:t>Directory</a:t>
            </a:r>
            <a:r>
              <a:rPr lang="cs-CZ" sz="2000" dirty="0">
                <a:solidFill>
                  <a:schemeClr val="bg1"/>
                </a:solidFill>
                <a:ea typeface="+mn-lt"/>
                <a:cs typeface="+mn-lt"/>
              </a:rPr>
              <a:t> a vytvoření DC. Díky tomu lze autorizovat DHCP server v AD DS. Pokud by se toto neprovedlo, DHCP server by tak nepřiděloval IP adresy.</a:t>
            </a:r>
          </a:p>
          <a:p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26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3">
            <a:extLst>
              <a:ext uri="{FF2B5EF4-FFF2-40B4-BE49-F238E27FC236}">
                <a16:creationId xmlns:a16="http://schemas.microsoft.com/office/drawing/2014/main" id="{B4059D9B-2E55-47FE-A188-0F9BD734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4FD2F25E-A2C0-2952-A27E-CCDE794AA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/>
              <a:t>Instalace DHCP serveru</a:t>
            </a:r>
          </a:p>
        </p:txBody>
      </p:sp>
      <p:pic>
        <p:nvPicPr>
          <p:cNvPr id="6" name="Obrázek 5" descr="Server Manager">
            <a:extLst>
              <a:ext uri="{FF2B5EF4-FFF2-40B4-BE49-F238E27FC236}">
                <a16:creationId xmlns:a16="http://schemas.microsoft.com/office/drawing/2014/main" id="{2E72EF68-DCEE-F6D9-FAF9-680411672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2242260"/>
            <a:ext cx="3689045" cy="3956282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Obrázek 7" descr="new role - Active Directory">
            <a:extLst>
              <a:ext uri="{FF2B5EF4-FFF2-40B4-BE49-F238E27FC236}">
                <a16:creationId xmlns:a16="http://schemas.microsoft.com/office/drawing/2014/main" id="{69C0A2BA-8D7F-312C-CF69-BD22A6333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132" y="608627"/>
            <a:ext cx="4222445" cy="3012675"/>
          </a:xfrm>
          <a:prstGeom prst="rect">
            <a:avLst/>
          </a:prstGeom>
        </p:spPr>
      </p:pic>
      <p:pic>
        <p:nvPicPr>
          <p:cNvPr id="7" name="Obrázek 6" descr="Add Roles and Features">
            <a:extLst>
              <a:ext uri="{FF2B5EF4-FFF2-40B4-BE49-F238E27FC236}">
                <a16:creationId xmlns:a16="http://schemas.microsoft.com/office/drawing/2014/main" id="{232B69A8-AE22-0BF5-85EE-232857607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949" y="3248123"/>
            <a:ext cx="3359899" cy="1939453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9" name="Obrázek 8" descr="Role-based or feature-based installation">
            <a:extLst>
              <a:ext uri="{FF2B5EF4-FFF2-40B4-BE49-F238E27FC236}">
                <a16:creationId xmlns:a16="http://schemas.microsoft.com/office/drawing/2014/main" id="{798C873D-F8E3-4558-DDDD-A94089DDE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1466" y="3879755"/>
            <a:ext cx="4374365" cy="270285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4C07EACD-5378-33FD-0351-0ABA556F988D}"/>
              </a:ext>
            </a:extLst>
          </p:cNvPr>
          <p:cNvSpPr txBox="1"/>
          <p:nvPr/>
        </p:nvSpPr>
        <p:spPr>
          <a:xfrm>
            <a:off x="1924050" y="1714500"/>
            <a:ext cx="3810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1.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F49C860F-739C-7816-011C-11592470D4CA}"/>
              </a:ext>
            </a:extLst>
          </p:cNvPr>
          <p:cNvSpPr txBox="1"/>
          <p:nvPr/>
        </p:nvSpPr>
        <p:spPr>
          <a:xfrm>
            <a:off x="5905499" y="2790825"/>
            <a:ext cx="3810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2.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67EA24A8-BFDD-3AB0-DA38-56183977399A}"/>
              </a:ext>
            </a:extLst>
          </p:cNvPr>
          <p:cNvSpPr txBox="1"/>
          <p:nvPr/>
        </p:nvSpPr>
        <p:spPr>
          <a:xfrm>
            <a:off x="6981824" y="1038225"/>
            <a:ext cx="3810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3.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221E5CBA-ED0C-AB22-87CF-6A430A1F1A72}"/>
              </a:ext>
            </a:extLst>
          </p:cNvPr>
          <p:cNvSpPr txBox="1"/>
          <p:nvPr/>
        </p:nvSpPr>
        <p:spPr>
          <a:xfrm>
            <a:off x="7134224" y="5762625"/>
            <a:ext cx="3810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75838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29">
            <a:extLst>
              <a:ext uri="{FF2B5EF4-FFF2-40B4-BE49-F238E27FC236}">
                <a16:creationId xmlns:a16="http://schemas.microsoft.com/office/drawing/2014/main" id="{B4059D9B-2E55-47FE-A188-0F9BD734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65648A02-8050-EFFC-DC14-D46A8C44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Instalace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cs-CZ" dirty="0" err="1">
              <a:ea typeface="+mj-lt"/>
              <a:cs typeface="+mj-lt"/>
            </a:endParaRPr>
          </a:p>
        </p:txBody>
      </p:sp>
      <p:pic>
        <p:nvPicPr>
          <p:cNvPr id="6" name="Obrázek 5" descr="Windows Server 2016 - Instalace DHCP">
            <a:extLst>
              <a:ext uri="{FF2B5EF4-FFF2-40B4-BE49-F238E27FC236}">
                <a16:creationId xmlns:a16="http://schemas.microsoft.com/office/drawing/2014/main" id="{ECE82DE8-1789-65E2-C3DF-814FB5BA2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438" y="3880828"/>
            <a:ext cx="2936570" cy="292704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Obrázek 3" descr="Select a server from the server pool">
            <a:extLst>
              <a:ext uri="{FF2B5EF4-FFF2-40B4-BE49-F238E27FC236}">
                <a16:creationId xmlns:a16="http://schemas.microsoft.com/office/drawing/2014/main" id="{2AEBDECA-D5F5-7265-3434-2105C4D3E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7" y="1645174"/>
            <a:ext cx="5432120" cy="3882807"/>
          </a:xfrm>
          <a:prstGeom prst="rect">
            <a:avLst/>
          </a:prstGeom>
        </p:spPr>
      </p:pic>
      <p:pic>
        <p:nvPicPr>
          <p:cNvPr id="5" name="Obrázek 4" descr="Windows Server 2016 - Instalace DHCP">
            <a:extLst>
              <a:ext uri="{FF2B5EF4-FFF2-40B4-BE49-F238E27FC236}">
                <a16:creationId xmlns:a16="http://schemas.microsoft.com/office/drawing/2014/main" id="{4D9144F2-0BC2-E743-5A24-77D40E11B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248" y="47625"/>
            <a:ext cx="5279150" cy="377797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928C35C0-8583-FBA2-A549-3BE7D259D7C1}"/>
              </a:ext>
            </a:extLst>
          </p:cNvPr>
          <p:cNvSpPr txBox="1"/>
          <p:nvPr/>
        </p:nvSpPr>
        <p:spPr>
          <a:xfrm>
            <a:off x="2324100" y="1285874"/>
            <a:ext cx="428625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5.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40BDF2E7-0DD9-D971-DF3B-ECA5318F5ED7}"/>
              </a:ext>
            </a:extLst>
          </p:cNvPr>
          <p:cNvSpPr txBox="1"/>
          <p:nvPr/>
        </p:nvSpPr>
        <p:spPr>
          <a:xfrm>
            <a:off x="5667375" y="857249"/>
            <a:ext cx="428625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6.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97983E81-719D-2605-240A-CD6674CDE219}"/>
              </a:ext>
            </a:extLst>
          </p:cNvPr>
          <p:cNvSpPr txBox="1"/>
          <p:nvPr/>
        </p:nvSpPr>
        <p:spPr>
          <a:xfrm>
            <a:off x="6629400" y="5067299"/>
            <a:ext cx="428625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3584971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4059D9B-2E55-47FE-A188-0F9BD734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65648A02-8050-EFFC-DC14-D46A8C44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Instalace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cs-CZ" dirty="0" err="1">
              <a:ea typeface="+mj-lt"/>
              <a:cs typeface="+mj-lt"/>
            </a:endParaRPr>
          </a:p>
        </p:txBody>
      </p:sp>
      <p:pic>
        <p:nvPicPr>
          <p:cNvPr id="7" name="Obrázek 6" descr="Windows Server 2016 - Instalace DHCP">
            <a:extLst>
              <a:ext uri="{FF2B5EF4-FFF2-40B4-BE49-F238E27FC236}">
                <a16:creationId xmlns:a16="http://schemas.microsoft.com/office/drawing/2014/main" id="{F97F81F2-A375-30A5-14AC-69D8FDB50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663" y="3458688"/>
            <a:ext cx="4660595" cy="3323651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Obrázek 4" descr="Windows Server 2016 - Instalace DHCP">
            <a:extLst>
              <a:ext uri="{FF2B5EF4-FFF2-40B4-BE49-F238E27FC236}">
                <a16:creationId xmlns:a16="http://schemas.microsoft.com/office/drawing/2014/main" id="{FFFB4F06-6958-9D71-F86D-A1506498B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48" y="2085975"/>
            <a:ext cx="5412500" cy="38636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6" name="Obrázek 5" descr="DHCP features">
            <a:extLst>
              <a:ext uri="{FF2B5EF4-FFF2-40B4-BE49-F238E27FC236}">
                <a16:creationId xmlns:a16="http://schemas.microsoft.com/office/drawing/2014/main" id="{37565E4F-6CE4-87AC-BA35-6ED426ECA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106" y="60230"/>
            <a:ext cx="4661710" cy="331245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14" name="TextovéPole 13">
            <a:extLst>
              <a:ext uri="{FF2B5EF4-FFF2-40B4-BE49-F238E27FC236}">
                <a16:creationId xmlns:a16="http://schemas.microsoft.com/office/drawing/2014/main" id="{6A64F23B-8070-0913-1E63-9EB55060610E}"/>
              </a:ext>
            </a:extLst>
          </p:cNvPr>
          <p:cNvSpPr txBox="1"/>
          <p:nvPr/>
        </p:nvSpPr>
        <p:spPr>
          <a:xfrm>
            <a:off x="2505075" y="1724024"/>
            <a:ext cx="428625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8.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0ED33BE4-0C26-85F5-24E6-1233703E062F}"/>
              </a:ext>
            </a:extLst>
          </p:cNvPr>
          <p:cNvSpPr txBox="1"/>
          <p:nvPr/>
        </p:nvSpPr>
        <p:spPr>
          <a:xfrm>
            <a:off x="6143625" y="1533524"/>
            <a:ext cx="428625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9.</a:t>
            </a: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751FE730-109A-4949-4EB9-5E95D98B959B}"/>
              </a:ext>
            </a:extLst>
          </p:cNvPr>
          <p:cNvSpPr txBox="1"/>
          <p:nvPr/>
        </p:nvSpPr>
        <p:spPr>
          <a:xfrm>
            <a:off x="6096000" y="493394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10.</a:t>
            </a:r>
          </a:p>
        </p:txBody>
      </p:sp>
    </p:spTree>
    <p:extLst>
      <p:ext uri="{BB962C8B-B14F-4D97-AF65-F5344CB8AC3E}">
        <p14:creationId xmlns:p14="http://schemas.microsoft.com/office/powerpoint/2010/main" val="3951929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FAE728-C5A9-4B0F-B89E-F4BED8250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65648A02-8050-EFFC-DC14-D46A8C44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Instalace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en-US" sz="4200" dirty="0" err="1"/>
          </a:p>
        </p:txBody>
      </p:sp>
      <p:pic>
        <p:nvPicPr>
          <p:cNvPr id="4" name="Obrázek 3" descr="Complete DHCP configuration">
            <a:extLst>
              <a:ext uri="{FF2B5EF4-FFF2-40B4-BE49-F238E27FC236}">
                <a16:creationId xmlns:a16="http://schemas.microsoft.com/office/drawing/2014/main" id="{F728D6FB-96D0-E7C3-E3C4-203825D21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746" y="28576"/>
            <a:ext cx="4772096" cy="32592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" name="Obrázek 2" descr="Windows Server 2016 - Instalace DHCP">
            <a:extLst>
              <a:ext uri="{FF2B5EF4-FFF2-40B4-BE49-F238E27FC236}">
                <a16:creationId xmlns:a16="http://schemas.microsoft.com/office/drawing/2014/main" id="{1AE485A6-97DD-A64F-DC24-9F5578F4A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48" y="2228850"/>
            <a:ext cx="5174375" cy="369224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Obrázek 4" descr="Windows Server 2016 - Instalace DHCP">
            <a:extLst>
              <a:ext uri="{FF2B5EF4-FFF2-40B4-BE49-F238E27FC236}">
                <a16:creationId xmlns:a16="http://schemas.microsoft.com/office/drawing/2014/main" id="{36E7D5DE-9AF4-CB5C-DE39-C316DEDC7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174" y="3355880"/>
            <a:ext cx="4777224" cy="346485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C6649A38-C388-3799-A4E2-0496B53B39F3}"/>
              </a:ext>
            </a:extLst>
          </p:cNvPr>
          <p:cNvSpPr txBox="1"/>
          <p:nvPr/>
        </p:nvSpPr>
        <p:spPr>
          <a:xfrm>
            <a:off x="2295525" y="185737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11.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1290D9B1-17C5-5591-45CC-1D67EB645D27}"/>
              </a:ext>
            </a:extLst>
          </p:cNvPr>
          <p:cNvSpPr txBox="1"/>
          <p:nvPr/>
        </p:nvSpPr>
        <p:spPr>
          <a:xfrm>
            <a:off x="6124575" y="137159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12.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B33B680A-E244-C2B8-D09D-DD17B89B1AB5}"/>
              </a:ext>
            </a:extLst>
          </p:cNvPr>
          <p:cNvSpPr txBox="1"/>
          <p:nvPr/>
        </p:nvSpPr>
        <p:spPr>
          <a:xfrm>
            <a:off x="6124574" y="490537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13.</a:t>
            </a:r>
          </a:p>
        </p:txBody>
      </p:sp>
    </p:spTree>
    <p:extLst>
      <p:ext uri="{BB962C8B-B14F-4D97-AF65-F5344CB8AC3E}">
        <p14:creationId xmlns:p14="http://schemas.microsoft.com/office/powerpoint/2010/main" val="3063453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C43B5F-CE3F-4DB7-8215-9ACF03FB5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65648A02-8050-EFFC-DC14-D46A8C44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kern="1200" dirty="0" err="1">
                <a:latin typeface="+mj-lt"/>
                <a:ea typeface="+mj-ea"/>
                <a:cs typeface="+mj-cs"/>
              </a:rPr>
              <a:t>Instalace</a:t>
            </a:r>
            <a:r>
              <a:rPr lang="en-US" sz="4200" kern="1200" dirty="0">
                <a:latin typeface="+mj-lt"/>
                <a:ea typeface="+mj-ea"/>
                <a:cs typeface="+mj-cs"/>
              </a:rPr>
              <a:t> DHCP</a:t>
            </a:r>
            <a:r>
              <a:rPr lang="en-US" sz="4200" dirty="0"/>
              <a:t>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en-US" sz="4200" kern="1200" dirty="0" err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Obrázek 3" descr="Windows Server 2016 - Instalace DHCP">
            <a:extLst>
              <a:ext uri="{FF2B5EF4-FFF2-40B4-BE49-F238E27FC236}">
                <a16:creationId xmlns:a16="http://schemas.microsoft.com/office/drawing/2014/main" id="{E3181C57-7FB2-BEA3-2E1D-CC89D58C78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02" r="-3" b="16479"/>
          <a:stretch/>
        </p:blipFill>
        <p:spPr>
          <a:xfrm>
            <a:off x="6463324" y="1933575"/>
            <a:ext cx="5483974" cy="33302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" name="Obrázek 2" descr="Autorizace DHCP">
            <a:extLst>
              <a:ext uri="{FF2B5EF4-FFF2-40B4-BE49-F238E27FC236}">
                <a16:creationId xmlns:a16="http://schemas.microsoft.com/office/drawing/2014/main" id="{6CF68CB9-889A-FDB3-D4AE-ABED4C20D4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40" r="8" b="17374"/>
          <a:stretch/>
        </p:blipFill>
        <p:spPr>
          <a:xfrm>
            <a:off x="367324" y="1936655"/>
            <a:ext cx="5616225" cy="335055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585D3100-EC45-7BDC-0D32-7D8A6370A402}"/>
              </a:ext>
            </a:extLst>
          </p:cNvPr>
          <p:cNvSpPr txBox="1"/>
          <p:nvPr/>
        </p:nvSpPr>
        <p:spPr>
          <a:xfrm>
            <a:off x="114300" y="5286375"/>
            <a:ext cx="611505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                </a:t>
            </a:r>
            <a:r>
              <a:rPr lang="cs-CZ" b="1" dirty="0">
                <a:solidFill>
                  <a:srgbClr val="000000"/>
                </a:solidFill>
                <a:ea typeface="+mn-lt"/>
                <a:cs typeface="+mn-lt"/>
              </a:rPr>
              <a:t>14.</a:t>
            </a:r>
            <a:endParaRPr lang="cs-CZ" sz="14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Pro autorizaci DHCP serveru v AD DS je nutné obecně specifikovat uživatelský účet domény s administrátorským oprávněním. Defaultně se předvyplní účet Administrátora. Díky tomu, že účet Administrátora byl přiřazen k doméně, předvyplní se </a:t>
            </a:r>
            <a:r>
              <a:rPr lang="cs-CZ" sz="1400" dirty="0" err="1">
                <a:solidFill>
                  <a:srgbClr val="000000"/>
                </a:solidFill>
                <a:ea typeface="+mn-lt"/>
                <a:cs typeface="+mn-lt"/>
              </a:rPr>
              <a:t>NetBIOS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 doménové jméno, což je v tomto případě </a:t>
            </a:r>
            <a:r>
              <a:rPr lang="cs-CZ" sz="1400" dirty="0" err="1">
                <a:solidFill>
                  <a:srgbClr val="000000"/>
                </a:solidFill>
                <a:ea typeface="+mn-lt"/>
                <a:cs typeface="+mn-lt"/>
              </a:rPr>
              <a:t>martinuvzivot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. </a:t>
            </a:r>
            <a:endParaRPr lang="cs-CZ" sz="1400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1610E08-2F1E-67DD-EA0E-ADA7607E7C0A}"/>
              </a:ext>
            </a:extLst>
          </p:cNvPr>
          <p:cNvSpPr txBox="1"/>
          <p:nvPr/>
        </p:nvSpPr>
        <p:spPr>
          <a:xfrm>
            <a:off x="9067800" y="1562100"/>
            <a:ext cx="542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b="1" dirty="0"/>
              <a:t>15.</a:t>
            </a:r>
            <a:r>
              <a:rPr lang="cs-CZ" dirty="0">
                <a:solidFill>
                  <a:srgbClr val="808080"/>
                </a:solidFill>
              </a:rPr>
              <a:t>​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3363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C43B5F-CE3F-4DB7-8215-9ACF03FB5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65648A02-8050-EFFC-DC14-D46A8C44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4588" y="366639"/>
            <a:ext cx="5146674" cy="675441"/>
          </a:xfrm>
        </p:spPr>
        <p:txBody>
          <a:bodyPr vert="horz" wrap="square" lIns="91440" tIns="45720" rIns="91440" bIns="45720" rtlCol="0" anchor="t">
            <a:normAutofit fontScale="90000"/>
          </a:bodyPr>
          <a:lstStyle/>
          <a:p>
            <a:r>
              <a:rPr lang="en-US" sz="4200" kern="1200" dirty="0" err="1">
                <a:latin typeface="+mj-lt"/>
                <a:ea typeface="+mj-ea"/>
                <a:cs typeface="+mj-cs"/>
              </a:rPr>
              <a:t>Instalace</a:t>
            </a:r>
            <a:r>
              <a:rPr lang="en-US" sz="4200" kern="1200" dirty="0">
                <a:latin typeface="+mj-lt"/>
                <a:ea typeface="+mj-ea"/>
                <a:cs typeface="+mj-cs"/>
              </a:rPr>
              <a:t> DHCP</a:t>
            </a:r>
            <a:r>
              <a:rPr lang="en-US" sz="4200" dirty="0"/>
              <a:t>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en-US" sz="4200" kern="1200" dirty="0" err="1">
              <a:latin typeface="+mj-lt"/>
              <a:ea typeface="+mj-ea"/>
              <a:cs typeface="+mj-cs"/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1610E08-2F1E-67DD-EA0E-ADA7607E7C0A}"/>
              </a:ext>
            </a:extLst>
          </p:cNvPr>
          <p:cNvSpPr txBox="1"/>
          <p:nvPr/>
        </p:nvSpPr>
        <p:spPr>
          <a:xfrm>
            <a:off x="5819775" y="1171575"/>
            <a:ext cx="542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b="1" dirty="0"/>
              <a:t>16.</a:t>
            </a:r>
            <a:r>
              <a:rPr lang="cs-CZ" dirty="0">
                <a:solidFill>
                  <a:srgbClr val="808080"/>
                </a:solidFill>
              </a:rPr>
              <a:t>​</a:t>
            </a:r>
            <a:endParaRPr lang="cs-CZ" dirty="0"/>
          </a:p>
        </p:txBody>
      </p:sp>
      <p:pic>
        <p:nvPicPr>
          <p:cNvPr id="5" name="Obrázek 4" descr="Windows Server 2016 - Instalace DHCP">
            <a:extLst>
              <a:ext uri="{FF2B5EF4-FFF2-40B4-BE49-F238E27FC236}">
                <a16:creationId xmlns:a16="http://schemas.microsoft.com/office/drawing/2014/main" id="{F44E6B5B-4C73-93A4-7669-8504DD59D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038225"/>
            <a:ext cx="8582025" cy="504825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A5EBA06-7757-65C4-D568-C9A886259053}"/>
              </a:ext>
            </a:extLst>
          </p:cNvPr>
          <p:cNvSpPr txBox="1"/>
          <p:nvPr/>
        </p:nvSpPr>
        <p:spPr>
          <a:xfrm>
            <a:off x="2076450" y="5724525"/>
            <a:ext cx="84867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>
                <a:solidFill>
                  <a:srgbClr val="000000"/>
                </a:solidFill>
                <a:ea typeface="+mn-lt"/>
                <a:cs typeface="+mn-lt"/>
              </a:rPr>
              <a:t>Hotovo. V Server Manageru, se na levé straně objevila záložka DHCP. Tam lze najít růžné události (</a:t>
            </a:r>
            <a:r>
              <a:rPr lang="cs-CZ" dirty="0" err="1">
                <a:solidFill>
                  <a:srgbClr val="000000"/>
                </a:solidFill>
                <a:ea typeface="+mn-lt"/>
                <a:cs typeface="+mn-lt"/>
              </a:rPr>
              <a:t>events</a:t>
            </a:r>
            <a:r>
              <a:rPr lang="cs-CZ" dirty="0">
                <a:solidFill>
                  <a:srgbClr val="000000"/>
                </a:solidFill>
                <a:ea typeface="+mn-lt"/>
                <a:cs typeface="+mn-lt"/>
              </a:rPr>
              <a:t>), služby (</a:t>
            </a:r>
            <a:r>
              <a:rPr lang="cs-CZ" dirty="0" err="1">
                <a:solidFill>
                  <a:srgbClr val="000000"/>
                </a:solidFill>
                <a:ea typeface="+mn-lt"/>
                <a:cs typeface="+mn-lt"/>
              </a:rPr>
              <a:t>services</a:t>
            </a:r>
            <a:r>
              <a:rPr lang="cs-CZ" dirty="0">
                <a:solidFill>
                  <a:srgbClr val="000000"/>
                </a:solidFill>
                <a:ea typeface="+mn-lt"/>
                <a:cs typeface="+mn-lt"/>
              </a:rPr>
              <a:t>) a další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60319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What Is DHCP? Dynamic Host Configuration Protocol Explained - IPXO">
            <a:extLst>
              <a:ext uri="{FF2B5EF4-FFF2-40B4-BE49-F238E27FC236}">
                <a16:creationId xmlns:a16="http://schemas.microsoft.com/office/drawing/2014/main" id="{2F864EE7-7821-BE19-0902-8387DEF8E4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293" r="152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A7E7F47-C901-E865-8119-B1A6DAF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cs-CZ" sz="5000" dirty="0">
                <a:solidFill>
                  <a:schemeClr val="bg1"/>
                </a:solidFill>
              </a:rPr>
              <a:t>Konfigurace DHCP serveru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FFB47E-90D1-39D3-4FB4-9FB8B3A54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solidFill>
                  <a:schemeClr val="bg1"/>
                </a:solidFill>
                <a:ea typeface="+mn-lt"/>
                <a:cs typeface="+mn-lt"/>
              </a:rPr>
              <a:t>Jde  o konfiguraci nového DHCP </a:t>
            </a:r>
            <a:r>
              <a:rPr lang="cs-CZ" sz="2400" err="1">
                <a:solidFill>
                  <a:schemeClr val="bg1"/>
                </a:solidFill>
                <a:ea typeface="+mn-lt"/>
                <a:cs typeface="+mn-lt"/>
              </a:rPr>
              <a:t>scope</a:t>
            </a:r>
            <a:r>
              <a:rPr lang="cs-CZ" sz="2400" dirty="0">
                <a:solidFill>
                  <a:schemeClr val="bg1"/>
                </a:solidFill>
                <a:ea typeface="+mn-lt"/>
                <a:cs typeface="+mn-lt"/>
              </a:rPr>
              <a:t> a rezervaci IP adresy na Windows Serveru</a:t>
            </a:r>
          </a:p>
          <a:p>
            <a:endParaRPr lang="cs-CZ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687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4059D9B-2E55-47FE-A188-0F9BD734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65648A02-8050-EFFC-DC14-D46A8C44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Konfigurace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en-US" sz="4200" dirty="0" err="1"/>
          </a:p>
        </p:txBody>
      </p:sp>
      <p:pic>
        <p:nvPicPr>
          <p:cNvPr id="6" name="Obrázek 5" descr="tools DHCP">
            <a:extLst>
              <a:ext uri="{FF2B5EF4-FFF2-40B4-BE49-F238E27FC236}">
                <a16:creationId xmlns:a16="http://schemas.microsoft.com/office/drawing/2014/main" id="{F63103B8-E188-FE8A-4CF5-D89CBA0B7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38" y="1170144"/>
            <a:ext cx="2479370" cy="2423863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9" name="Obrázek 8" descr="Windows Server 2016 - Konfigurace DHCP, Configure DHCP">
            <a:extLst>
              <a:ext uri="{FF2B5EF4-FFF2-40B4-BE49-F238E27FC236}">
                <a16:creationId xmlns:a16="http://schemas.microsoft.com/office/drawing/2014/main" id="{9BD64B26-A857-9678-563F-FDDCFE10E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82" y="3490707"/>
            <a:ext cx="3793820" cy="3125440"/>
          </a:xfrm>
          <a:prstGeom prst="rect">
            <a:avLst/>
          </a:prstGeom>
        </p:spPr>
      </p:pic>
      <p:pic>
        <p:nvPicPr>
          <p:cNvPr id="7" name="Obrázek 6" descr="Windows Server 2016 - Konfigurace DHCP, Configure DHCP">
            <a:extLst>
              <a:ext uri="{FF2B5EF4-FFF2-40B4-BE49-F238E27FC236}">
                <a16:creationId xmlns:a16="http://schemas.microsoft.com/office/drawing/2014/main" id="{1F0F92E0-BA09-D361-18A3-D9D8C078F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99" y="3819525"/>
            <a:ext cx="4692448" cy="29111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Obrázek 7" descr="Windows Server 2016 - Konfigurace DHCP, Configure DHCP">
            <a:extLst>
              <a:ext uri="{FF2B5EF4-FFF2-40B4-BE49-F238E27FC236}">
                <a16:creationId xmlns:a16="http://schemas.microsoft.com/office/drawing/2014/main" id="{2A821603-3BD9-31C8-0D30-5F7FD837C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6092" y="193580"/>
            <a:ext cx="4795514" cy="297907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11" name="TextovéPole 10">
            <a:extLst>
              <a:ext uri="{FF2B5EF4-FFF2-40B4-BE49-F238E27FC236}">
                <a16:creationId xmlns:a16="http://schemas.microsoft.com/office/drawing/2014/main" id="{BE766BDC-6740-5097-DE26-43BEE40EF009}"/>
              </a:ext>
            </a:extLst>
          </p:cNvPr>
          <p:cNvSpPr txBox="1"/>
          <p:nvPr/>
        </p:nvSpPr>
        <p:spPr>
          <a:xfrm>
            <a:off x="1257300" y="233362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1.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FFDC27E2-294C-433A-D451-06DF2AD82E67}"/>
              </a:ext>
            </a:extLst>
          </p:cNvPr>
          <p:cNvSpPr txBox="1"/>
          <p:nvPr/>
        </p:nvSpPr>
        <p:spPr>
          <a:xfrm>
            <a:off x="552450" y="342899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2.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5EA949DB-F465-44FB-17A0-34FE06AACCF6}"/>
              </a:ext>
            </a:extLst>
          </p:cNvPr>
          <p:cNvSpPr txBox="1"/>
          <p:nvPr/>
        </p:nvSpPr>
        <p:spPr>
          <a:xfrm>
            <a:off x="6619874" y="149542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3.</a:t>
            </a:r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90BFBAFE-2211-3658-802D-8C6ECAEF2E59}"/>
              </a:ext>
            </a:extLst>
          </p:cNvPr>
          <p:cNvSpPr txBox="1"/>
          <p:nvPr/>
        </p:nvSpPr>
        <p:spPr>
          <a:xfrm>
            <a:off x="6838949" y="483869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48937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4059D9B-2E55-47FE-A188-0F9BD734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9BC3C79-173C-9C55-A2FC-423A4546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Konfigurace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cs-CZ" dirty="0" err="1"/>
          </a:p>
        </p:txBody>
      </p:sp>
      <p:pic>
        <p:nvPicPr>
          <p:cNvPr id="5" name="Obrázek 4" descr="DHCP IP range">
            <a:extLst>
              <a:ext uri="{FF2B5EF4-FFF2-40B4-BE49-F238E27FC236}">
                <a16:creationId xmlns:a16="http://schemas.microsoft.com/office/drawing/2014/main" id="{0A4D72A1-9DF7-3F2F-7BAE-6D5825B5E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888" y="585993"/>
            <a:ext cx="4050995" cy="3334991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Obrázek 3" descr="Windows Server 2016 - Konfigurace DHCP, Configure DHCP">
            <a:extLst>
              <a:ext uri="{FF2B5EF4-FFF2-40B4-BE49-F238E27FC236}">
                <a16:creationId xmlns:a16="http://schemas.microsoft.com/office/drawing/2014/main" id="{640B13D8-92B2-9D1D-DFFB-43A54D665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76" y="1809750"/>
            <a:ext cx="4052120" cy="33302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0ECA2CEF-C891-8698-FCF8-EEBD7EE65D8D}"/>
              </a:ext>
            </a:extLst>
          </p:cNvPr>
          <p:cNvSpPr txBox="1"/>
          <p:nvPr/>
        </p:nvSpPr>
        <p:spPr>
          <a:xfrm>
            <a:off x="2495549" y="143827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5.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544E017F-0281-117A-A9F9-45E655D2FFE0}"/>
              </a:ext>
            </a:extLst>
          </p:cNvPr>
          <p:cNvSpPr txBox="1"/>
          <p:nvPr/>
        </p:nvSpPr>
        <p:spPr>
          <a:xfrm>
            <a:off x="6391274" y="214312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6.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B9759DF1-79B4-057B-E6E7-D2F212D004A5}"/>
              </a:ext>
            </a:extLst>
          </p:cNvPr>
          <p:cNvSpPr txBox="1"/>
          <p:nvPr/>
        </p:nvSpPr>
        <p:spPr>
          <a:xfrm>
            <a:off x="114299" y="5200649"/>
            <a:ext cx="57626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Pro DHCP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scope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 definovat libovolné jméno a popisek. Jako popisek byl zvolen rozsah, který bude použit.</a:t>
            </a:r>
            <a:endParaRPr lang="cs-CZ" sz="1400" dirty="0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9853B7CF-6FC3-3C6B-FDF4-CDCB118295C5}"/>
              </a:ext>
            </a:extLst>
          </p:cNvPr>
          <p:cNvSpPr txBox="1"/>
          <p:nvPr/>
        </p:nvSpPr>
        <p:spPr>
          <a:xfrm>
            <a:off x="5876924" y="3924299"/>
            <a:ext cx="62865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Jako DHCP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scope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, neboli DHCP rozsah bude zvolen 192.168.1.0/24. První IP adresa 192.168.1.1 bude použita jako výchozí brána, a poslední IP adresa 192.168.1.255 je adresa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broadcastu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 sítě 192.168.1.0/24. Tudíž jako Start IP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address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 se použije 192.168.1.2 a End IP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address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 192.168.1.254. Po vložení Start IP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address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 a End IP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address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 se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Lenght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 (délka prefixu) a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Subnet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Mask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 (maska podsítě) automaticky dopočítá na základě vloženého IP rozsahu. Tyto hodnoty ponechat v defaultním nastavení.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3371979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4059D9B-2E55-47FE-A188-0F9BD734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9BC3C79-173C-9C55-A2FC-423A4546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Konfigurace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en-US" sz="4200" dirty="0" err="1"/>
          </a:p>
        </p:txBody>
      </p:sp>
      <p:pic>
        <p:nvPicPr>
          <p:cNvPr id="5" name="Obrázek 4" descr="DHCP lease time">
            <a:extLst>
              <a:ext uri="{FF2B5EF4-FFF2-40B4-BE49-F238E27FC236}">
                <a16:creationId xmlns:a16="http://schemas.microsoft.com/office/drawing/2014/main" id="{E508EEC1-8858-446E-4A7C-5498E494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732" y="3557382"/>
            <a:ext cx="3889070" cy="3201641"/>
          </a:xfrm>
          <a:prstGeom prst="rect">
            <a:avLst/>
          </a:prstGeom>
        </p:spPr>
      </p:pic>
      <p:pic>
        <p:nvPicPr>
          <p:cNvPr id="3" name="Obrázek 2" descr="DHCP exclusions">
            <a:extLst>
              <a:ext uri="{FF2B5EF4-FFF2-40B4-BE49-F238E27FC236}">
                <a16:creationId xmlns:a16="http://schemas.microsoft.com/office/drawing/2014/main" id="{4074C123-BCB5-5EC0-D25A-38487BF34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76" y="2190750"/>
            <a:ext cx="3794944" cy="313027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Obrázek 3" descr="DHCP exclusions">
            <a:extLst>
              <a:ext uri="{FF2B5EF4-FFF2-40B4-BE49-F238E27FC236}">
                <a16:creationId xmlns:a16="http://schemas.microsoft.com/office/drawing/2014/main" id="{92C0950D-A0F2-A5F4-0901-CC961F181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173" y="155480"/>
            <a:ext cx="3920227" cy="323625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4177D486-B595-94E8-3F67-653A5B6867B3}"/>
              </a:ext>
            </a:extLst>
          </p:cNvPr>
          <p:cNvSpPr txBox="1"/>
          <p:nvPr/>
        </p:nvSpPr>
        <p:spPr>
          <a:xfrm>
            <a:off x="85724" y="5381624"/>
            <a:ext cx="53816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V dalším okně nastavit vyloučené IP adresy. Čili to jsou IP adresy z vytvořeného rozsahu, které nebudou nabízeny stanicím.</a:t>
            </a:r>
            <a:endParaRPr lang="cs-CZ" sz="1400" dirty="0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6ECCAFEA-35F9-B889-5E98-CDD9A5594432}"/>
              </a:ext>
            </a:extLst>
          </p:cNvPr>
          <p:cNvSpPr txBox="1"/>
          <p:nvPr/>
        </p:nvSpPr>
        <p:spPr>
          <a:xfrm>
            <a:off x="2276474" y="180974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7.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2EBF10E4-B644-FE98-753A-6A07A524B2B0}"/>
              </a:ext>
            </a:extLst>
          </p:cNvPr>
          <p:cNvSpPr txBox="1"/>
          <p:nvPr/>
        </p:nvSpPr>
        <p:spPr>
          <a:xfrm>
            <a:off x="7134224" y="159067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8.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87172918-FC7E-4D18-9B4C-8792F9D0165F}"/>
              </a:ext>
            </a:extLst>
          </p:cNvPr>
          <p:cNvSpPr txBox="1"/>
          <p:nvPr/>
        </p:nvSpPr>
        <p:spPr>
          <a:xfrm>
            <a:off x="5562599" y="495299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9.</a:t>
            </a:r>
          </a:p>
        </p:txBody>
      </p:sp>
    </p:spTree>
    <p:extLst>
      <p:ext uri="{BB962C8B-B14F-4D97-AF65-F5344CB8AC3E}">
        <p14:creationId xmlns:p14="http://schemas.microsoft.com/office/powerpoint/2010/main" val="47587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FAE728-C5A9-4B0F-B89E-F4BED8250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9BC3C79-173C-9C55-A2FC-423A4546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Konfigurace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</a:p>
        </p:txBody>
      </p:sp>
      <p:pic>
        <p:nvPicPr>
          <p:cNvPr id="5" name="Obrázek 4" descr="Windows Server 2016 - Konfigurace DHCP, Configure DHCP">
            <a:extLst>
              <a:ext uri="{FF2B5EF4-FFF2-40B4-BE49-F238E27FC236}">
                <a16:creationId xmlns:a16="http://schemas.microsoft.com/office/drawing/2014/main" id="{7C33C450-09D1-F3CD-32EE-41119C06A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47" y="1876426"/>
            <a:ext cx="5065143" cy="41736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6" name="Obrázek 5" descr="Windows Server 2016 - Konfigurace DHCP">
            <a:extLst>
              <a:ext uri="{FF2B5EF4-FFF2-40B4-BE49-F238E27FC236}">
                <a16:creationId xmlns:a16="http://schemas.microsoft.com/office/drawing/2014/main" id="{C51D4EDD-F002-1D21-9F42-7C0229686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76" y="295275"/>
            <a:ext cx="3842569" cy="316837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Obrázek 6" descr="Windows Server 2016 - Konfigurace DHCP">
            <a:extLst>
              <a:ext uri="{FF2B5EF4-FFF2-40B4-BE49-F238E27FC236}">
                <a16:creationId xmlns:a16="http://schemas.microsoft.com/office/drawing/2014/main" id="{C43CC28E-AEA1-C381-EF0C-770ADA3E3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898" y="3736880"/>
            <a:ext cx="3844027" cy="296955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B1421BA4-F922-5B2A-39C2-FF196EADBD09}"/>
              </a:ext>
            </a:extLst>
          </p:cNvPr>
          <p:cNvSpPr txBox="1"/>
          <p:nvPr/>
        </p:nvSpPr>
        <p:spPr>
          <a:xfrm>
            <a:off x="2752724" y="150494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10.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9FEE93D1-B44C-B07D-B003-89B3D21EC733}"/>
              </a:ext>
            </a:extLst>
          </p:cNvPr>
          <p:cNvSpPr txBox="1"/>
          <p:nvPr/>
        </p:nvSpPr>
        <p:spPr>
          <a:xfrm>
            <a:off x="6838949" y="163829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11.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D2C56F7C-6D63-E3AF-2DB3-CC19D2AE1783}"/>
              </a:ext>
            </a:extLst>
          </p:cNvPr>
          <p:cNvSpPr txBox="1"/>
          <p:nvPr/>
        </p:nvSpPr>
        <p:spPr>
          <a:xfrm>
            <a:off x="6838949" y="503872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12.</a:t>
            </a:r>
          </a:p>
        </p:txBody>
      </p:sp>
    </p:spTree>
    <p:extLst>
      <p:ext uri="{BB962C8B-B14F-4D97-AF65-F5344CB8AC3E}">
        <p14:creationId xmlns:p14="http://schemas.microsoft.com/office/powerpoint/2010/main" val="1829304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FAE728-C5A9-4B0F-B89E-F4BED8250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9BC3C79-173C-9C55-A2FC-423A4546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Konfigurace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en-US" sz="4200" dirty="0" err="1"/>
          </a:p>
        </p:txBody>
      </p:sp>
      <p:pic>
        <p:nvPicPr>
          <p:cNvPr id="3" name="Obrázek 2" descr="domain name and DNS servers">
            <a:extLst>
              <a:ext uri="{FF2B5EF4-FFF2-40B4-BE49-F238E27FC236}">
                <a16:creationId xmlns:a16="http://schemas.microsoft.com/office/drawing/2014/main" id="{138F3EBB-B292-3525-1700-9F8477A5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72" y="1714501"/>
            <a:ext cx="3655443" cy="301155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Obrázek 3" descr="WINS servers">
            <a:extLst>
              <a:ext uri="{FF2B5EF4-FFF2-40B4-BE49-F238E27FC236}">
                <a16:creationId xmlns:a16="http://schemas.microsoft.com/office/drawing/2014/main" id="{CF9CD822-94C7-983B-8480-A5ACBEA20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76" y="95250"/>
            <a:ext cx="4109269" cy="338744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Obrázek 4" descr="Windows Server 2016 - Konfigurace DHCP">
            <a:extLst>
              <a:ext uri="{FF2B5EF4-FFF2-40B4-BE49-F238E27FC236}">
                <a16:creationId xmlns:a16="http://schemas.microsoft.com/office/drawing/2014/main" id="{8863BC21-67DA-8E3F-26EF-DEC64F406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573" y="3594005"/>
            <a:ext cx="3805927" cy="315052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B7010C99-C2B2-0F53-3400-BDCE33F38889}"/>
              </a:ext>
            </a:extLst>
          </p:cNvPr>
          <p:cNvSpPr txBox="1"/>
          <p:nvPr/>
        </p:nvSpPr>
        <p:spPr>
          <a:xfrm>
            <a:off x="2466974" y="134302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13.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33F858C1-2B80-4338-2E03-2333F4B7CC82}"/>
              </a:ext>
            </a:extLst>
          </p:cNvPr>
          <p:cNvSpPr txBox="1"/>
          <p:nvPr/>
        </p:nvSpPr>
        <p:spPr>
          <a:xfrm>
            <a:off x="180974" y="4962524"/>
            <a:ext cx="55816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Další okno specifikuje doménové jméno a IP adresu DNS serveru. Tyto informace jsou předvyplněny, jelikož DHCP server byl již autorizován v AD </a:t>
            </a:r>
            <a:r>
              <a:rPr lang="cs-CZ" sz="1400">
                <a:solidFill>
                  <a:srgbClr val="000000"/>
                </a:solidFill>
                <a:ea typeface="+mn-lt"/>
                <a:cs typeface="+mn-lt"/>
              </a:rPr>
              <a:t>DC a 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IP adresa DNS serveru je také automaticky </a:t>
            </a:r>
            <a:r>
              <a:rPr lang="cs-CZ" sz="1400" dirty="0" err="1">
                <a:solidFill>
                  <a:srgbClr val="000000"/>
                </a:solidFill>
                <a:ea typeface="+mn-lt"/>
                <a:cs typeface="+mn-lt"/>
              </a:rPr>
              <a:t>doplňena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, nebo se jedná o IP adresu našeho DC.</a:t>
            </a:r>
            <a:endParaRPr lang="cs-CZ" sz="1400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ACC9CF4F-37DD-1103-0FC6-AE267033EA09}"/>
              </a:ext>
            </a:extLst>
          </p:cNvPr>
          <p:cNvSpPr txBox="1"/>
          <p:nvPr/>
        </p:nvSpPr>
        <p:spPr>
          <a:xfrm>
            <a:off x="6419849" y="146684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14.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87EFF3BD-9810-2BC7-5984-1DB28B72E8B8}"/>
              </a:ext>
            </a:extLst>
          </p:cNvPr>
          <p:cNvSpPr txBox="1"/>
          <p:nvPr/>
        </p:nvSpPr>
        <p:spPr>
          <a:xfrm>
            <a:off x="6524624" y="501014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15.</a:t>
            </a:r>
          </a:p>
        </p:txBody>
      </p:sp>
    </p:spTree>
    <p:extLst>
      <p:ext uri="{BB962C8B-B14F-4D97-AF65-F5344CB8AC3E}">
        <p14:creationId xmlns:p14="http://schemas.microsoft.com/office/powerpoint/2010/main" val="3315472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FAE728-C5A9-4B0F-B89E-F4BED8250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9BC3C79-173C-9C55-A2FC-423A4546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Konfigurace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en-US" sz="4200" dirty="0" err="1"/>
          </a:p>
        </p:txBody>
      </p:sp>
      <p:pic>
        <p:nvPicPr>
          <p:cNvPr id="5" name="Obrázek 4" descr="Windows Server 2016 - Konfigurace DHCP">
            <a:extLst>
              <a:ext uri="{FF2B5EF4-FFF2-40B4-BE49-F238E27FC236}">
                <a16:creationId xmlns:a16="http://schemas.microsoft.com/office/drawing/2014/main" id="{7D7395DE-D541-37A5-D714-4EB82AAD9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547" y="4048126"/>
            <a:ext cx="3350643" cy="27639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" name="Obrázek 2" descr="WINS servers">
            <a:extLst>
              <a:ext uri="{FF2B5EF4-FFF2-40B4-BE49-F238E27FC236}">
                <a16:creationId xmlns:a16="http://schemas.microsoft.com/office/drawing/2014/main" id="{2C26D784-FAFB-9106-9127-6204B9AF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76" y="1771650"/>
            <a:ext cx="4395019" cy="362557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Obrázek 3" descr="Windows Server 2016 - Konfigurace DHCP">
            <a:extLst>
              <a:ext uri="{FF2B5EF4-FFF2-40B4-BE49-F238E27FC236}">
                <a16:creationId xmlns:a16="http://schemas.microsoft.com/office/drawing/2014/main" id="{6A797D5B-66E0-F2E2-39F2-DF445173C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923" y="50705"/>
            <a:ext cx="4167877" cy="3436275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BA991896-A4DD-2B9F-583B-885E52499093}"/>
              </a:ext>
            </a:extLst>
          </p:cNvPr>
          <p:cNvSpPr txBox="1"/>
          <p:nvPr/>
        </p:nvSpPr>
        <p:spPr>
          <a:xfrm>
            <a:off x="6343649" y="3486149"/>
            <a:ext cx="52959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400" dirty="0"/>
              <a:t>Je možné aktivovat DHCP </a:t>
            </a:r>
            <a:r>
              <a:rPr lang="cs-CZ" sz="1400" dirty="0" err="1"/>
              <a:t>scope</a:t>
            </a:r>
            <a:r>
              <a:rPr lang="cs-CZ" sz="1400" dirty="0"/>
              <a:t> hned, ale níže bude ukázáno, jak aktivovat DHCP server přes konzoli.</a:t>
            </a:r>
            <a:endParaRPr lang="cs-CZ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1385412C-BD37-C372-FACA-A30ADF7C23F9}"/>
              </a:ext>
            </a:extLst>
          </p:cNvPr>
          <p:cNvSpPr txBox="1"/>
          <p:nvPr/>
        </p:nvSpPr>
        <p:spPr>
          <a:xfrm>
            <a:off x="495300" y="5495925"/>
            <a:ext cx="4314825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400" dirty="0"/>
              <a:t>Server WINS funguje podobně jako DNS, ale už je zastaralý a byl nahrazen DNS, tudíž ho používat nebudeme.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59A775A-FF63-7F3D-3B3C-62C6DF8354C5}"/>
              </a:ext>
            </a:extLst>
          </p:cNvPr>
          <p:cNvSpPr txBox="1"/>
          <p:nvPr/>
        </p:nvSpPr>
        <p:spPr>
          <a:xfrm>
            <a:off x="2400299" y="140017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16.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BCDA2583-3878-E0B2-F7A6-9F30F6AC52EF}"/>
              </a:ext>
            </a:extLst>
          </p:cNvPr>
          <p:cNvSpPr txBox="1"/>
          <p:nvPr/>
        </p:nvSpPr>
        <p:spPr>
          <a:xfrm>
            <a:off x="6276974" y="158114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17.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4BA9A3D6-1E3F-D143-3F64-EDC400370A6F}"/>
              </a:ext>
            </a:extLst>
          </p:cNvPr>
          <p:cNvSpPr txBox="1"/>
          <p:nvPr/>
        </p:nvSpPr>
        <p:spPr>
          <a:xfrm>
            <a:off x="6677024" y="524827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18.</a:t>
            </a:r>
          </a:p>
        </p:txBody>
      </p:sp>
    </p:spTree>
    <p:extLst>
      <p:ext uri="{BB962C8B-B14F-4D97-AF65-F5344CB8AC3E}">
        <p14:creationId xmlns:p14="http://schemas.microsoft.com/office/powerpoint/2010/main" val="2144521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FAE728-C5A9-4B0F-B89E-F4BED8250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9BC3C79-173C-9C55-A2FC-423A4546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 err="1"/>
              <a:t>Konfigurace</a:t>
            </a:r>
            <a:r>
              <a:rPr lang="en-US" sz="4200" dirty="0"/>
              <a:t> DHCP </a:t>
            </a:r>
            <a:r>
              <a:rPr lang="en-US" sz="4200" dirty="0" err="1">
                <a:ea typeface="+mj-lt"/>
                <a:cs typeface="+mj-lt"/>
              </a:rPr>
              <a:t>serveru</a:t>
            </a:r>
            <a:endParaRPr lang="en-US" sz="4200" dirty="0" err="1"/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4BA9A3D6-1E3F-D143-3F64-EDC400370A6F}"/>
              </a:ext>
            </a:extLst>
          </p:cNvPr>
          <p:cNvSpPr txBox="1"/>
          <p:nvPr/>
        </p:nvSpPr>
        <p:spPr>
          <a:xfrm>
            <a:off x="2876549" y="268604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19.</a:t>
            </a:r>
          </a:p>
        </p:txBody>
      </p:sp>
      <p:pic>
        <p:nvPicPr>
          <p:cNvPr id="6" name="Obrázek 5" descr="Windows Server 2016 - Konfigurace DHCP, Configure DHCP">
            <a:extLst>
              <a:ext uri="{FF2B5EF4-FFF2-40B4-BE49-F238E27FC236}">
                <a16:creationId xmlns:a16="http://schemas.microsoft.com/office/drawing/2014/main" id="{4417EAE6-5328-E70E-3252-B8F234687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55753"/>
            <a:ext cx="5619750" cy="2965819"/>
          </a:xfrm>
          <a:prstGeom prst="rect">
            <a:avLst/>
          </a:prstGeom>
        </p:spPr>
      </p:pic>
      <p:pic>
        <p:nvPicPr>
          <p:cNvPr id="7" name="Obrázek 6" descr="Activate DHCP scope">
            <a:extLst>
              <a:ext uri="{FF2B5EF4-FFF2-40B4-BE49-F238E27FC236}">
                <a16:creationId xmlns:a16="http://schemas.microsoft.com/office/drawing/2014/main" id="{1F2F722B-168E-CEA8-37B2-837739E9A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409434"/>
            <a:ext cx="5619749" cy="2962807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FA0019E4-718A-FAB1-3347-FF718C2A50A6}"/>
              </a:ext>
            </a:extLst>
          </p:cNvPr>
          <p:cNvSpPr txBox="1"/>
          <p:nvPr/>
        </p:nvSpPr>
        <p:spPr>
          <a:xfrm>
            <a:off x="8991599" y="103822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20.</a:t>
            </a:r>
          </a:p>
        </p:txBody>
      </p:sp>
    </p:spTree>
    <p:extLst>
      <p:ext uri="{BB962C8B-B14F-4D97-AF65-F5344CB8AC3E}">
        <p14:creationId xmlns:p14="http://schemas.microsoft.com/office/powerpoint/2010/main" val="3217294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FAE728-C5A9-4B0F-B89E-F4BED8250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9BC3C79-173C-9C55-A2FC-423A4546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595239"/>
            <a:ext cx="10699749" cy="675441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 sz="3600" err="1">
                <a:solidFill>
                  <a:srgbClr val="000000"/>
                </a:solidFill>
                <a:ea typeface="+mj-lt"/>
                <a:cs typeface="+mj-lt"/>
              </a:rPr>
              <a:t>Popis</a:t>
            </a:r>
            <a:r>
              <a:rPr lang="en-US" sz="3600" dirty="0">
                <a:solidFill>
                  <a:srgbClr val="000000"/>
                </a:solidFill>
                <a:ea typeface="+mj-lt"/>
                <a:cs typeface="+mj-lt"/>
              </a:rPr>
              <a:t> </a:t>
            </a:r>
            <a:r>
              <a:rPr lang="en-US" sz="3600" err="1">
                <a:solidFill>
                  <a:srgbClr val="000000"/>
                </a:solidFill>
                <a:ea typeface="+mj-lt"/>
                <a:cs typeface="+mj-lt"/>
              </a:rPr>
              <a:t>jednolivých</a:t>
            </a:r>
            <a:r>
              <a:rPr lang="en-US" sz="3600" dirty="0">
                <a:solidFill>
                  <a:srgbClr val="000000"/>
                </a:solidFill>
                <a:ea typeface="+mj-lt"/>
                <a:cs typeface="+mj-lt"/>
              </a:rPr>
              <a:t> </a:t>
            </a:r>
            <a:r>
              <a:rPr lang="en-US" sz="3600" err="1">
                <a:solidFill>
                  <a:srgbClr val="000000"/>
                </a:solidFill>
                <a:ea typeface="+mj-lt"/>
                <a:cs typeface="+mj-lt"/>
              </a:rPr>
              <a:t>složek</a:t>
            </a:r>
            <a:r>
              <a:rPr lang="en-US" sz="3600" dirty="0">
                <a:solidFill>
                  <a:srgbClr val="000000"/>
                </a:solidFill>
                <a:ea typeface="+mj-lt"/>
                <a:cs typeface="+mj-lt"/>
              </a:rPr>
              <a:t> </a:t>
            </a:r>
            <a:r>
              <a:rPr lang="en-US" sz="3600" err="1">
                <a:solidFill>
                  <a:srgbClr val="000000"/>
                </a:solidFill>
                <a:ea typeface="+mj-lt"/>
                <a:cs typeface="+mj-lt"/>
              </a:rPr>
              <a:t>nakonfigurovaného</a:t>
            </a:r>
            <a:r>
              <a:rPr lang="en-US" sz="3600" dirty="0">
                <a:solidFill>
                  <a:srgbClr val="000000"/>
                </a:solidFill>
                <a:ea typeface="+mj-lt"/>
                <a:cs typeface="+mj-lt"/>
              </a:rPr>
              <a:t> DHCP </a:t>
            </a:r>
            <a:r>
              <a:rPr lang="en-US" sz="3600" err="1">
                <a:solidFill>
                  <a:srgbClr val="000000"/>
                </a:solidFill>
                <a:ea typeface="+mj-lt"/>
                <a:cs typeface="+mj-lt"/>
              </a:rPr>
              <a:t>scopu</a:t>
            </a:r>
            <a:endParaRPr lang="cs-CZ" sz="3600" err="1"/>
          </a:p>
        </p:txBody>
      </p:sp>
      <p:pic>
        <p:nvPicPr>
          <p:cNvPr id="3" name="Obrázek 2" descr="DHCP scope">
            <a:extLst>
              <a:ext uri="{FF2B5EF4-FFF2-40B4-BE49-F238E27FC236}">
                <a16:creationId xmlns:a16="http://schemas.microsoft.com/office/drawing/2014/main" id="{96621656-73AE-B8D7-ADC5-AA34B4AE4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1512703"/>
            <a:ext cx="6591299" cy="3480169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D126C9B3-A0A0-8FF2-6D63-9FD2A12448A3}"/>
              </a:ext>
            </a:extLst>
          </p:cNvPr>
          <p:cNvSpPr txBox="1"/>
          <p:nvPr/>
        </p:nvSpPr>
        <p:spPr>
          <a:xfrm>
            <a:off x="1028700" y="5124449"/>
            <a:ext cx="1034415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1600" b="1" err="1"/>
              <a:t>Address</a:t>
            </a:r>
            <a:r>
              <a:rPr lang="cs-CZ" sz="1600" b="1" dirty="0"/>
              <a:t> Pool</a:t>
            </a:r>
            <a:r>
              <a:rPr lang="cs-CZ" sz="1600" dirty="0"/>
              <a:t> – rozsah IP adres a vyloučené IP adresy</a:t>
            </a:r>
          </a:p>
          <a:p>
            <a:pPr marL="285750" indent="-285750">
              <a:buFont typeface="Arial"/>
              <a:buChar char="•"/>
            </a:pPr>
            <a:r>
              <a:rPr lang="cs-CZ" sz="1600" b="1" dirty="0" err="1"/>
              <a:t>Address</a:t>
            </a:r>
            <a:r>
              <a:rPr lang="cs-CZ" sz="1600" b="1" dirty="0"/>
              <a:t> </a:t>
            </a:r>
            <a:r>
              <a:rPr lang="cs-CZ" sz="1600" b="1" dirty="0" err="1"/>
              <a:t>Leases</a:t>
            </a:r>
            <a:r>
              <a:rPr lang="cs-CZ" sz="1600" dirty="0"/>
              <a:t> – všechny dostupné stanice, které dostaly IP adresy z DHCP serveru s expirací dobou pronájmu</a:t>
            </a:r>
          </a:p>
          <a:p>
            <a:pPr marL="285750" indent="-285750">
              <a:buFont typeface="Arial"/>
              <a:buChar char="•"/>
            </a:pPr>
            <a:r>
              <a:rPr lang="cs-CZ" sz="1600" b="1" dirty="0" err="1"/>
              <a:t>Reservations</a:t>
            </a:r>
            <a:r>
              <a:rPr lang="cs-CZ" sz="1600" dirty="0"/>
              <a:t> – všechny rezervace IP adres k MAC adresám</a:t>
            </a:r>
          </a:p>
          <a:p>
            <a:pPr marL="285750" indent="-285750">
              <a:buFont typeface="Arial"/>
              <a:buChar char="•"/>
            </a:pPr>
            <a:r>
              <a:rPr lang="cs-CZ" sz="1600" b="1" dirty="0" err="1"/>
              <a:t>Scope</a:t>
            </a:r>
            <a:r>
              <a:rPr lang="cs-CZ" sz="1600" b="1" dirty="0"/>
              <a:t> </a:t>
            </a:r>
            <a:r>
              <a:rPr lang="cs-CZ" sz="1600" b="1" dirty="0" err="1"/>
              <a:t>Options</a:t>
            </a:r>
            <a:r>
              <a:rPr lang="cs-CZ" sz="1600" dirty="0"/>
              <a:t> – volby pro DHCP – např. nastavení výchozí brány, DNS, TFTP, NTP serverů, ..</a:t>
            </a:r>
          </a:p>
          <a:p>
            <a:pPr marL="285750" indent="-285750">
              <a:buFont typeface="Arial"/>
              <a:buChar char="•"/>
            </a:pPr>
            <a:r>
              <a:rPr lang="cs-CZ" sz="1600" b="1" dirty="0" err="1"/>
              <a:t>Policies</a:t>
            </a:r>
            <a:r>
              <a:rPr lang="cs-CZ" sz="1600" dirty="0"/>
              <a:t> – přiřazuje určitý rozsah IP adres určitým zařízením jako jsou tiskárny, IP telefony, či neznámá zařízení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53003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3">
            <a:extLst>
              <a:ext uri="{FF2B5EF4-FFF2-40B4-BE49-F238E27FC236}">
                <a16:creationId xmlns:a16="http://schemas.microsoft.com/office/drawing/2014/main" id="{C3B858B2-3385-9BC6-0729-ED628C1CE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75000"/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22318DC-A6BC-4855-98B0-6A75C1C7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Rezervace IP adresy k MAC adrese</a:t>
            </a:r>
          </a:p>
          <a:p>
            <a:endParaRPr lang="cs-CZ" dirty="0"/>
          </a:p>
        </p:txBody>
      </p:sp>
      <p:pic>
        <p:nvPicPr>
          <p:cNvPr id="4" name="Obrázek 3" descr="DHCP new reservation">
            <a:extLst>
              <a:ext uri="{FF2B5EF4-FFF2-40B4-BE49-F238E27FC236}">
                <a16:creationId xmlns:a16="http://schemas.microsoft.com/office/drawing/2014/main" id="{E33CCC52-EA23-50B0-D4CE-05D1B9CA7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546977"/>
            <a:ext cx="5495925" cy="2840120"/>
          </a:xfrm>
          <a:prstGeom prst="rect">
            <a:avLst/>
          </a:prstGeom>
        </p:spPr>
      </p:pic>
      <p:pic>
        <p:nvPicPr>
          <p:cNvPr id="5" name="Obrázek 4" descr="DHCP reservation">
            <a:extLst>
              <a:ext uri="{FF2B5EF4-FFF2-40B4-BE49-F238E27FC236}">
                <a16:creationId xmlns:a16="http://schemas.microsoft.com/office/drawing/2014/main" id="{86403525-3EB2-A28E-5D72-EEBDB3B8D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1405048"/>
            <a:ext cx="2914650" cy="2866804"/>
          </a:xfrm>
          <a:prstGeom prst="rect">
            <a:avLst/>
          </a:prstGeom>
        </p:spPr>
      </p:pic>
      <p:pic>
        <p:nvPicPr>
          <p:cNvPr id="6" name="Obrázek 5" descr="IP rezervace">
            <a:extLst>
              <a:ext uri="{FF2B5EF4-FFF2-40B4-BE49-F238E27FC236}">
                <a16:creationId xmlns:a16="http://schemas.microsoft.com/office/drawing/2014/main" id="{868BE55C-2C3D-4612-9257-DAE560069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4488504"/>
            <a:ext cx="4762499" cy="2281541"/>
          </a:xfrm>
          <a:prstGeom prst="rect">
            <a:avLst/>
          </a:prstGeom>
        </p:spPr>
      </p:pic>
      <p:sp>
        <p:nvSpPr>
          <p:cNvPr id="11" name="TextovéPole 10">
            <a:extLst>
              <a:ext uri="{FF2B5EF4-FFF2-40B4-BE49-F238E27FC236}">
                <a16:creationId xmlns:a16="http://schemas.microsoft.com/office/drawing/2014/main" id="{C9439CE6-563A-1904-3E08-2DFE0947357B}"/>
              </a:ext>
            </a:extLst>
          </p:cNvPr>
          <p:cNvSpPr txBox="1"/>
          <p:nvPr/>
        </p:nvSpPr>
        <p:spPr>
          <a:xfrm>
            <a:off x="3095624" y="1171574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1.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9EE73292-4D19-7D53-44CC-F52150AEC6BB}"/>
              </a:ext>
            </a:extLst>
          </p:cNvPr>
          <p:cNvSpPr txBox="1"/>
          <p:nvPr/>
        </p:nvSpPr>
        <p:spPr>
          <a:xfrm>
            <a:off x="7191374" y="2647949"/>
            <a:ext cx="5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2.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D8637F78-4805-CE00-C6AA-DB3EEFE36ECA}"/>
              </a:ext>
            </a:extLst>
          </p:cNvPr>
          <p:cNvSpPr txBox="1"/>
          <p:nvPr/>
        </p:nvSpPr>
        <p:spPr>
          <a:xfrm>
            <a:off x="57149" y="5486399"/>
            <a:ext cx="11525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cs-CZ" b="1" dirty="0"/>
              <a:t>Výsledek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BC52645A-86F2-DC40-41F3-E74636C32F21}"/>
              </a:ext>
            </a:extLst>
          </p:cNvPr>
          <p:cNvSpPr txBox="1"/>
          <p:nvPr/>
        </p:nvSpPr>
        <p:spPr>
          <a:xfrm>
            <a:off x="6305550" y="4391024"/>
            <a:ext cx="5886450" cy="12406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Novou rezervaci provedeme pro stanici MZWS02 (skutečné jméno stanice a “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reservation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cs-CZ" sz="1400" err="1">
                <a:solidFill>
                  <a:srgbClr val="000000"/>
                </a:solidFill>
                <a:ea typeface="+mn-lt"/>
                <a:cs typeface="+mn-lt"/>
              </a:rPr>
              <a:t>name</a:t>
            </a:r>
            <a:r>
              <a:rPr lang="cs-CZ" sz="1400" dirty="0">
                <a:solidFill>
                  <a:srgbClr val="000000"/>
                </a:solidFill>
                <a:ea typeface="+mn-lt"/>
                <a:cs typeface="+mn-lt"/>
              </a:rPr>
              <a:t>” se nemusí shodovat). Stanici bude alokována IP 192.168.1.20 k její MAC adrese 08-00-27-FE-21-3D. Jako popisek bude vložen MZ Workstation 02</a:t>
            </a:r>
            <a:endParaRPr lang="cs-CZ" sz="1400" dirty="0">
              <a:solidFill>
                <a:srgbClr val="000000"/>
              </a:solidFill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12564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What Is DHCP? Dynamic Host Configuration Protocol Explained - IPXO">
            <a:extLst>
              <a:ext uri="{FF2B5EF4-FFF2-40B4-BE49-F238E27FC236}">
                <a16:creationId xmlns:a16="http://schemas.microsoft.com/office/drawing/2014/main" id="{72BA756F-5FD9-E000-EE34-4632AF1914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93" r="15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1062263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721</Words>
  <Application>Microsoft Office PowerPoint</Application>
  <PresentationFormat>Širokoúhlá obrazovka</PresentationFormat>
  <Paragraphs>79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Motiv systému Office</vt:lpstr>
      <vt:lpstr>DHCP Windows Server</vt:lpstr>
      <vt:lpstr>Co je to DHCP?</vt:lpstr>
      <vt:lpstr>Jak funguje a proč ho používat?</vt:lpstr>
      <vt:lpstr>Instalace DHCP serveru</vt:lpstr>
      <vt:lpstr>Instalace DHCP serveru</vt:lpstr>
      <vt:lpstr>Instalace DHCP serveru</vt:lpstr>
      <vt:lpstr>Instalace DHCP serveru</vt:lpstr>
      <vt:lpstr>Instalace DHCP serveru</vt:lpstr>
      <vt:lpstr>Instalace DHCP serveru</vt:lpstr>
      <vt:lpstr>Instalace DHCP serveru</vt:lpstr>
      <vt:lpstr>Konfigurace DHCP serveru</vt:lpstr>
      <vt:lpstr>Konfigurace DHCP serveru</vt:lpstr>
      <vt:lpstr>Konfigurace DHCP serveru</vt:lpstr>
      <vt:lpstr>Konfigurace DHCP serveru</vt:lpstr>
      <vt:lpstr>Konfigurace DHCP serveru</vt:lpstr>
      <vt:lpstr>Konfigurace DHCP serveru</vt:lpstr>
      <vt:lpstr>Konfigurace DHCP serveru</vt:lpstr>
      <vt:lpstr>Konfigurace DHCP serveru</vt:lpstr>
      <vt:lpstr>Popis jednolivých složek nakonfigurovaného DHCP scopu</vt:lpstr>
      <vt:lpstr>Rezervace IP adresy k MAC adrese 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