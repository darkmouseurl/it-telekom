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>
            <a:spLocks noGrp="1"/>
          </p:cNvSpPr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Hot-air balloons viewed from below against a blue sky"/>
          <p:cNvSpPr>
            <a:spLocks noGrp="1"/>
          </p:cNvSpPr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>
            <a:spLocks noGrp="1"/>
          </p:cNvSpPr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Close-up of the top of a hot-air balloon viewed from above"/>
          <p:cNvSpPr>
            <a:spLocks noGrp="1"/>
          </p:cNvSpPr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Hot-air balloons viewed from below against a blue sky"/>
          <p:cNvSpPr>
            <a:spLocks noGrp="1"/>
          </p:cNvSpPr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Zabezpečení koncových…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Zabezpečení koncových </a:t>
            </a:r>
          </a:p>
          <a:p>
            <a:r>
              <a:t>stanic a dat</a:t>
            </a:r>
          </a:p>
        </p:txBody>
      </p:sp>
      <p:sp>
        <p:nvSpPr>
          <p:cNvPr id="173" name="Střední škola teleinformatiky Ostrava, p.o.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Střední škola teleinformatiky Ostrava, p.o.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Definic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Definice</a:t>
            </a:r>
          </a:p>
        </p:txBody>
      </p:sp>
      <p:sp>
        <p:nvSpPr>
          <p:cNvPr id="176" name="Koncové stanice: zařízení, které zpracovává data/vstup a výstup (např. počítač, mobilní telefon, notebook, IoT)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265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rPr b="1"/>
              <a:t>Koncové stanice</a:t>
            </a:r>
            <a:r>
              <a:t>: zařízení, které zpracovává data/vstup a výstup (např. počítač, mobilní telefon, notebook, IoT) </a:t>
            </a:r>
          </a:p>
          <a:p>
            <a:r>
              <a:rPr b="1"/>
              <a:t>Data</a:t>
            </a:r>
            <a:r>
              <a:t>: v kontextu počítačů jde o digitálně zapsanou informaci (na hardwarové vrstvě zapsána jako 0 a 1, na softwarové vrstvě v podobě souboru)</a:t>
            </a:r>
          </a:p>
        </p:txBody>
      </p:sp>
      <p:pic>
        <p:nvPicPr>
          <p:cNvPr id="177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78" name="Koncové stanice a data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23821">
              <a:defRPr sz="7054" spc="-141"/>
            </a:lvl1pPr>
          </a:lstStyle>
          <a:p>
            <a:r>
              <a:t>Koncové stanice a data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ezpečnostní povědomí uživatel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03504" indent="-603504" defTabSz="2413955">
              <a:spcBef>
                <a:spcPts val="4400"/>
              </a:spcBef>
              <a:defRPr sz="4752"/>
            </a:pPr>
            <a:r>
              <a:t>Bezpečnostní povědomí uživatele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Fyzické zabezpečení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Správa záplat a aktualizací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Firewall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Šifrování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VPN</a:t>
            </a:r>
          </a:p>
          <a:p>
            <a:pPr marL="603504" indent="-603504" defTabSz="2413955">
              <a:spcBef>
                <a:spcPts val="4400"/>
              </a:spcBef>
              <a:defRPr sz="4752"/>
            </a:pPr>
            <a:r>
              <a:t>Antimalwarové řešení</a:t>
            </a:r>
          </a:p>
        </p:txBody>
      </p:sp>
      <p:pic>
        <p:nvPicPr>
          <p:cNvPr id="181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82" name="Možnosti zabezpečení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9779000" cy="1340049"/>
          </a:xfrm>
          <a:prstGeom prst="rect">
            <a:avLst/>
          </a:prstGeom>
        </p:spPr>
        <p:txBody>
          <a:bodyPr/>
          <a:lstStyle>
            <a:lvl1pPr defTabSz="2121354">
              <a:defRPr sz="7394" spc="-147"/>
            </a:lvl1pPr>
          </a:lstStyle>
          <a:p>
            <a:r>
              <a:t>Možnosti zabezpečení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Využití služeb pro správu hesel, jako je LastPass nebo 1Password, pro generování a uchovávání silných hesel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t>Využití služeb pro správu hesel, jako je LastPass nebo 1Password, pro generování a uchovávání silných hesel.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Absolvování online kurzů o kybernetické bezpečnosti nabízených platformami jako Coursera nebo Udemy.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Kontrola URL adres před kliknutím na odkazy a používání rozšíření prohlížeče pro blokování nebezpečných stránek, jako je uBlock Origin.</a:t>
            </a:r>
          </a:p>
        </p:txBody>
      </p:sp>
      <p:pic>
        <p:nvPicPr>
          <p:cNvPr id="185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86" name="Bezpečnostní uvědomění uživatele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9779000" cy="2131914"/>
          </a:xfrm>
          <a:prstGeom prst="rect">
            <a:avLst/>
          </a:prstGeom>
        </p:spPr>
        <p:txBody>
          <a:bodyPr/>
          <a:lstStyle>
            <a:lvl1pPr defTabSz="2096971">
              <a:defRPr sz="7310" spc="-146"/>
            </a:lvl1pPr>
          </a:lstStyle>
          <a:p>
            <a:r>
              <a:t>Bezpečnostní uvědomění uživatele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oužití Kensington zámku pro notebooky v veřejných prostorech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Použití Kensington zámku pro notebooky v veřejných prostorech.</a:t>
            </a:r>
          </a:p>
          <a:p>
            <a:r>
              <a:t>Instalace bezpečnostních kamer a systémů kontroly přístupu ve firmách.</a:t>
            </a:r>
          </a:p>
          <a:p>
            <a:r>
              <a:t>Aktivace funkce „Najít můj telefon“ na mobilních zařízeních pro případ ztráty nebo krádeže.</a:t>
            </a:r>
          </a:p>
        </p:txBody>
      </p:sp>
      <p:pic>
        <p:nvPicPr>
          <p:cNvPr id="189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90" name="Fyzické zabezpečení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9779000" cy="2131914"/>
          </a:xfrm>
          <a:prstGeom prst="rect">
            <a:avLst/>
          </a:prstGeom>
        </p:spPr>
        <p:txBody>
          <a:bodyPr/>
          <a:lstStyle>
            <a:lvl1pPr defTabSz="2292038">
              <a:defRPr sz="7990" spc="-159"/>
            </a:lvl1pPr>
          </a:lstStyle>
          <a:p>
            <a:r>
              <a:t>Fyzické zabezpečení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Nastavení automatických aktualizací na Windows, macOS a mobilních zařízeních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Nastavení automatických aktualizací na Windows, macOS a mobilních zařízeních.</a:t>
            </a:r>
          </a:p>
          <a:p>
            <a:r>
              <a:t>Pravidelné kontroly dostupnosti aktualizací pro aplikace třetích stran.</a:t>
            </a:r>
          </a:p>
          <a:p>
            <a:r>
              <a:t>Přihlášení k odběru bezpečnostních bulletinů od významných softwareových výrobců.</a:t>
            </a:r>
          </a:p>
        </p:txBody>
      </p:sp>
      <p:pic>
        <p:nvPicPr>
          <p:cNvPr id="193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94" name="Správa záplat a aktualizací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9779000" cy="2506365"/>
          </a:xfrm>
          <a:prstGeom prst="rect">
            <a:avLst/>
          </a:prstGeom>
        </p:spPr>
        <p:txBody>
          <a:bodyPr/>
          <a:lstStyle/>
          <a:p>
            <a:r>
              <a:t>Správa záplat a aktualizací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oužití integrovaného firewallu systému Windows Defender nebo firewallu na macOS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Použití integrovaného firewallu systému Windows Defender nebo firewallu na macOS.</a:t>
            </a:r>
          </a:p>
          <a:p>
            <a:r>
              <a:t>Konfigurace nastavení firewallu v kancelářském routeru pro omezení přístupu z a do internetu.</a:t>
            </a:r>
          </a:p>
          <a:p>
            <a:r>
              <a:t>Využití komerčních firewall řešení, jako je Sophos nebo Fortinet, pro pokročilou ochranu.</a:t>
            </a:r>
          </a:p>
        </p:txBody>
      </p:sp>
      <p:pic>
        <p:nvPicPr>
          <p:cNvPr id="197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198" name="Firewa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Firewall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ktivace BitLocker (Windows) nebo FileVault (macOS) pro šifrování celého disku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Aktivace BitLocker (Windows) nebo FileVault (macOS) pro šifrování celého disku.</a:t>
            </a:r>
          </a:p>
          <a:p>
            <a:r>
              <a:t>Použití aplikací pro šifrování souborů, jako je VeraCrypt, při sdílení citlivých dat.</a:t>
            </a:r>
          </a:p>
          <a:p>
            <a:r>
              <a:t>Využití šifrovaných komunikačních aplikací, jako je Signal nebo WhatsApp, pro soukromé rozhovory.</a:t>
            </a:r>
          </a:p>
        </p:txBody>
      </p:sp>
      <p:pic>
        <p:nvPicPr>
          <p:cNvPr id="201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202" name="Šifrování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Šifrování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řipojení k VPN při používání veřejného Wi-Fi, například v kavárnách nebo na letištích, pomocí služeb jako NordVPN nebo ExpressVPN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91312" indent="-591312" defTabSz="2365188">
              <a:spcBef>
                <a:spcPts val="4300"/>
              </a:spcBef>
              <a:defRPr sz="4656"/>
            </a:pPr>
            <a:r>
              <a:t>Připojení k VPN při používání veřejného Wi-Fi, například v kavárnách nebo na letištích, pomocí služeb jako NordVPN nebo ExpressVPN.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Nastavení firemní VPN pro bezpečný vzdálený přístup k interním zdrojům.</a:t>
            </a:r>
          </a:p>
          <a:p>
            <a:pPr marL="591312" indent="-591312" defTabSz="2365188">
              <a:spcBef>
                <a:spcPts val="4300"/>
              </a:spcBef>
              <a:defRPr sz="4656"/>
            </a:pPr>
            <a:r>
              <a:t>Použití VPN pro přístup k geograficky omezenému obsahu na internetu.</a:t>
            </a:r>
          </a:p>
        </p:txBody>
      </p:sp>
      <p:pic>
        <p:nvPicPr>
          <p:cNvPr id="205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206" name="VP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VPN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Instalace a pravidelná aktualizace antivirového softwaru, jako je Avast, Kaspersky nebo Bitdefender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Instalace a pravidelná aktualizace antivirového softwaru, jako je Avast, Kaspersky nebo Bitdefender.</a:t>
            </a:r>
          </a:p>
          <a:p>
            <a:r>
              <a:t>Spuštění plánovaných skenování systému pro detekci malwaru.</a:t>
            </a:r>
          </a:p>
          <a:p>
            <a:r>
              <a:t>Použití specializovaných nástrojů pro odstranění specifických hrozeb, jako je Malwarebytes.</a:t>
            </a:r>
          </a:p>
        </p:txBody>
      </p:sp>
      <p:pic>
        <p:nvPicPr>
          <p:cNvPr id="209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1212" r="1212"/>
          <a:stretch>
            <a:fillRect/>
          </a:stretch>
        </p:blipFill>
        <p:spPr>
          <a:xfrm>
            <a:off x="12192000" y="1263848"/>
            <a:ext cx="10916874" cy="11188205"/>
          </a:xfrm>
          <a:prstGeom prst="rect">
            <a:avLst/>
          </a:prstGeom>
        </p:spPr>
      </p:pic>
      <p:sp>
        <p:nvSpPr>
          <p:cNvPr id="210" name="Antiviru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Antivirus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Děkuji za pozornost.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Děkuji za pozornost.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Vlastní</PresentationFormat>
  <Paragraphs>44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4" baseType="lpstr">
      <vt:lpstr>Helvetica Neue</vt:lpstr>
      <vt:lpstr>Helvetica Neue Medium</vt:lpstr>
      <vt:lpstr>30_BasicColor</vt:lpstr>
      <vt:lpstr>Zabezpečení koncových  stanic a dat</vt:lpstr>
      <vt:lpstr>Koncové stanice a data</vt:lpstr>
      <vt:lpstr>Možnosti zabezpečení</vt:lpstr>
      <vt:lpstr>Bezpečnostní uvědomění uživatele</vt:lpstr>
      <vt:lpstr>Fyzické zabezpečení</vt:lpstr>
      <vt:lpstr>Správa záplat a aktualizací</vt:lpstr>
      <vt:lpstr>Firewall</vt:lpstr>
      <vt:lpstr>Šifrování</vt:lpstr>
      <vt:lpstr>VPN</vt:lpstr>
      <vt:lpstr>Antivirus</vt:lpstr>
      <vt:lpstr>Děkuji za pozornost.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