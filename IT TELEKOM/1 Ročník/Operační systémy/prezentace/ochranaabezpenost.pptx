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557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320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711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104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19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9747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780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764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866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272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748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8/29/2026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7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wiki/Firewal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ebsafety.cz/" TargetMode="External"/><Relationship Id="rId5" Type="http://schemas.openxmlformats.org/officeDocument/2006/relationships/hyperlink" Target="https://www.microsoft.com/cs-cz/security/business/security-101/what-is-data-security" TargetMode="External"/><Relationship Id="rId4" Type="http://schemas.openxmlformats.org/officeDocument/2006/relationships/hyperlink" Target="https://cs.wikipedia.org/wiki/Antivirov%C3%BD_program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9C60ED7-11F7-478C-AC8E-0865FABDA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Rectangle">
            <a:extLst>
              <a:ext uri="{FF2B5EF4-FFF2-40B4-BE49-F238E27FC236}">
                <a16:creationId xmlns:a16="http://schemas.microsoft.com/office/drawing/2014/main" id="{D472C551-D440-40DF-9260-BDB9AC409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" name="Obrázek 4" descr="Obsah obrázku text, snímek obrazovky, kruh, Grafika&#10;&#10;Popis byl vytvořen automaticky">
            <a:extLst>
              <a:ext uri="{FF2B5EF4-FFF2-40B4-BE49-F238E27FC236}">
                <a16:creationId xmlns:a16="http://schemas.microsoft.com/office/drawing/2014/main" id="{8EF77037-B479-1F91-D671-73B1302620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1759A7E2-77BD-31CF-89E2-B2966D071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4873" y="2271449"/>
            <a:ext cx="6347918" cy="3670098"/>
          </a:xfrm>
        </p:spPr>
        <p:txBody>
          <a:bodyPr anchor="b">
            <a:normAutofit/>
          </a:bodyPr>
          <a:lstStyle/>
          <a:p>
            <a:r>
              <a:rPr lang="cs-CZ" sz="5100">
                <a:solidFill>
                  <a:srgbClr val="FFFFFF"/>
                </a:solidFill>
              </a:rPr>
              <a:t>prostředky ochrany v kyberprostoru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8453437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340" y="122578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8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34855" y="1685867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20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87962" y="2175690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0314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9">
            <a:extLst>
              <a:ext uri="{FF2B5EF4-FFF2-40B4-BE49-F238E27FC236}">
                <a16:creationId xmlns:a16="http://schemas.microsoft.com/office/drawing/2014/main" id="{7EE0A6B3-EB7E-45AA-ADB6-138489E0CD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!!Rectangle">
            <a:extLst>
              <a:ext uri="{FF2B5EF4-FFF2-40B4-BE49-F238E27FC236}">
                <a16:creationId xmlns:a16="http://schemas.microsoft.com/office/drawing/2014/main" id="{0C0EA1AB-DC8C-4976-9474-9313A673D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" name="Obrázek 4" descr="Obsah obrázku snímek obrazovky, Barevnost&#10;&#10;Popis byl vytvořen automaticky">
            <a:extLst>
              <a:ext uri="{FF2B5EF4-FFF2-40B4-BE49-F238E27FC236}">
                <a16:creationId xmlns:a16="http://schemas.microsoft.com/office/drawing/2014/main" id="{548F010F-3F39-D81F-8EE6-2806BC6C25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4" b="2300"/>
          <a:stretch/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4B5DEF73-0730-C3FF-B6F7-7C66AA2D0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636" y="324955"/>
            <a:ext cx="5366040" cy="1096757"/>
          </a:xfrm>
        </p:spPr>
        <p:txBody>
          <a:bodyPr anchor="b">
            <a:normAutofit/>
          </a:bodyPr>
          <a:lstStyle/>
          <a:p>
            <a:r>
              <a:rPr lang="cs-CZ" sz="7200" dirty="0">
                <a:solidFill>
                  <a:srgbClr val="FFFFFF"/>
                </a:solidFill>
              </a:rPr>
              <a:t>Firewall</a:t>
            </a:r>
          </a:p>
        </p:txBody>
      </p:sp>
      <p:sp>
        <p:nvSpPr>
          <p:cNvPr id="24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3369" y="554152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rgbClr val="FFFFFF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25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55951" y="837005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26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94200" y="1472473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rgbClr val="FFFFFF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cxnSp>
        <p:nvCxnSpPr>
          <p:cNvPr id="27" name="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B5500F-6B53-7179-8476-2068B4684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4944" y="1746666"/>
            <a:ext cx="5366041" cy="5427411"/>
          </a:xfrm>
        </p:spPr>
        <p:txBody>
          <a:bodyPr anchor="t">
            <a:normAutofit fontScale="47500" lnSpcReduction="20000"/>
          </a:bodyPr>
          <a:lstStyle/>
          <a:p>
            <a:r>
              <a:rPr lang="cs-CZ" sz="3800" b="0" i="0" dirty="0">
                <a:solidFill>
                  <a:srgbClr val="FFFFFF"/>
                </a:solidFill>
                <a:effectLst/>
                <a:latin typeface="Söhne"/>
              </a:rPr>
              <a:t>Firewall je základním prvkem ochrany v kybernetickém prostředí. Jeho hlavním úkolem je kontrolovat a regulovat přístup do sítě na základě definovaných pravidel</a:t>
            </a:r>
          </a:p>
          <a:p>
            <a:r>
              <a:rPr lang="cs-CZ" sz="3800" dirty="0">
                <a:solidFill>
                  <a:srgbClr val="FFFFFF"/>
                </a:solidFill>
                <a:latin typeface="Söhne"/>
              </a:rPr>
              <a:t>Typy : </a:t>
            </a:r>
          </a:p>
          <a:p>
            <a:pPr lvl="2"/>
            <a:r>
              <a:rPr lang="cs-CZ" sz="3800" dirty="0">
                <a:solidFill>
                  <a:srgbClr val="FFFFFF"/>
                </a:solidFill>
                <a:latin typeface="Söhne"/>
              </a:rPr>
              <a:t>Síťový firewall - </a:t>
            </a:r>
            <a:r>
              <a:rPr lang="cs-CZ" sz="3800" b="0" i="0" dirty="0">
                <a:solidFill>
                  <a:srgbClr val="FFFFFF"/>
                </a:solidFill>
                <a:effectLst/>
                <a:latin typeface="Söhne"/>
              </a:rPr>
              <a:t>Funguje na základě informací o stavu spojení a dokáže sledovat stav jednotlivých síťových spojení (např. TCP spojení) a rozhodovat na základě těchto informací, zda povolit nebo blokovat provoz</a:t>
            </a:r>
            <a:endParaRPr lang="cs-CZ" sz="3800" dirty="0">
              <a:solidFill>
                <a:srgbClr val="FFFFFF"/>
              </a:solidFill>
              <a:latin typeface="Söhne"/>
            </a:endParaRPr>
          </a:p>
          <a:p>
            <a:pPr lvl="2"/>
            <a:r>
              <a:rPr lang="cs-CZ" sz="3800" dirty="0">
                <a:solidFill>
                  <a:srgbClr val="FFFFFF"/>
                </a:solidFill>
                <a:latin typeface="Söhne"/>
              </a:rPr>
              <a:t>Hostitelský firewall - </a:t>
            </a:r>
            <a:r>
              <a:rPr lang="cs-CZ" sz="3800" b="0" i="0" dirty="0">
                <a:solidFill>
                  <a:srgbClr val="FFFFFF"/>
                </a:solidFill>
                <a:effectLst/>
                <a:latin typeface="Söhne"/>
              </a:rPr>
              <a:t>je umístěn přímo na koncovém zařízení a chrání ho před přímými útoky zvenčí</a:t>
            </a:r>
          </a:p>
          <a:p>
            <a:pPr lvl="1"/>
            <a:endParaRPr lang="cs-CZ" sz="3800" dirty="0">
              <a:solidFill>
                <a:srgbClr val="FFFFFF"/>
              </a:solidFill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cs-CZ" sz="3800" b="1" i="0" dirty="0">
                <a:solidFill>
                  <a:srgbClr val="FFFFFF"/>
                </a:solidFill>
                <a:effectLst/>
                <a:latin typeface="Söhne"/>
              </a:rPr>
              <a:t>Monitorování síťového provozu:</a:t>
            </a:r>
            <a:r>
              <a:rPr lang="cs-CZ" sz="3800" b="0" i="0" dirty="0">
                <a:solidFill>
                  <a:srgbClr val="FFFFFF"/>
                </a:solidFill>
                <a:effectLst/>
                <a:latin typeface="Söhne"/>
              </a:rPr>
              <a:t> Firewall aktivně sleduje veškerý síťový provoz, který prochází sítí, a analyzuje jej.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3800" b="1" i="0" dirty="0">
                <a:solidFill>
                  <a:srgbClr val="FFFFFF"/>
                </a:solidFill>
                <a:effectLst/>
                <a:latin typeface="Söhne"/>
              </a:rPr>
              <a:t>Filtrování dat:</a:t>
            </a:r>
            <a:r>
              <a:rPr lang="cs-CZ" sz="3800" b="0" i="0" dirty="0">
                <a:solidFill>
                  <a:srgbClr val="FFFFFF"/>
                </a:solidFill>
                <a:effectLst/>
                <a:latin typeface="Söhne"/>
              </a:rPr>
              <a:t> Na základě definovaných pravidel firewall rozhoduje, zda povolit nebo zablokovat určitý síťový provoz.</a:t>
            </a:r>
          </a:p>
          <a:p>
            <a:endParaRPr lang="cs-CZ" sz="1100" dirty="0">
              <a:solidFill>
                <a:srgbClr val="FFFFFF"/>
              </a:solidFill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4268028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39">
            <a:extLst>
              <a:ext uri="{FF2B5EF4-FFF2-40B4-BE49-F238E27FC236}">
                <a16:creationId xmlns:a16="http://schemas.microsoft.com/office/drawing/2014/main" id="{552166BF-0946-419E-A3F5-F3510C5B2A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!!Rectangle">
            <a:extLst>
              <a:ext uri="{FF2B5EF4-FFF2-40B4-BE49-F238E27FC236}">
                <a16:creationId xmlns:a16="http://schemas.microsoft.com/office/drawing/2014/main" id="{1E902070-A0E4-4756-B623-BA0AC4066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" name="Obrázek 4" descr="Obsah obrázku text, elektronika, snímek obrazovky, obvod&#10;&#10;Popis byl vytvořen automaticky">
            <a:extLst>
              <a:ext uri="{FF2B5EF4-FFF2-40B4-BE49-F238E27FC236}">
                <a16:creationId xmlns:a16="http://schemas.microsoft.com/office/drawing/2014/main" id="{88CCC19C-CAFC-0C50-5A70-34FC62967D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3" b="12437"/>
          <a:stretch/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D191C551-AF7F-8951-8924-2BE21F33C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927" y="2217869"/>
            <a:ext cx="5257801" cy="2375095"/>
          </a:xfrm>
        </p:spPr>
        <p:txBody>
          <a:bodyPr anchor="b">
            <a:normAutofit/>
          </a:bodyPr>
          <a:lstStyle/>
          <a:p>
            <a:r>
              <a:rPr lang="cs-CZ" sz="7200" dirty="0">
                <a:solidFill>
                  <a:srgbClr val="FFFFFF"/>
                </a:solidFill>
              </a:rPr>
              <a:t>Antivirový Software</a:t>
            </a:r>
          </a:p>
        </p:txBody>
      </p:sp>
      <p:cxnSp>
        <p:nvCxnSpPr>
          <p:cNvPr id="54" name="Straight Connector 4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73056"/>
            <a:ext cx="0" cy="6476066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2814" y="74031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5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1594" y="969611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57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07274" y="1484755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13B40D-BEA7-6E17-D310-EDB79B453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3125" y="391742"/>
            <a:ext cx="6048375" cy="6476066"/>
          </a:xfrm>
        </p:spPr>
        <p:txBody>
          <a:bodyPr anchor="b"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000" b="1" i="0" dirty="0">
                <a:solidFill>
                  <a:srgbClr val="FFFFFF"/>
                </a:solidFill>
                <a:effectLst/>
                <a:latin typeface="Söhne"/>
              </a:rPr>
              <a:t>Prevence:</a:t>
            </a:r>
            <a:r>
              <a:rPr lang="cs-CZ" sz="2000" b="0" i="0" dirty="0">
                <a:solidFill>
                  <a:srgbClr val="FFFFFF"/>
                </a:solidFill>
                <a:effectLst/>
                <a:latin typeface="Söhne"/>
              </a:rPr>
              <a:t> Antivirový software se snaží zabránit infekci zařízení škodlivým softwarem tím, že identifikuje a blokuje potenciálně nebezpečné soubory, webové stránky nebo e-maily předtím, než mohou způsobit škodu.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 i="0" dirty="0">
                <a:solidFill>
                  <a:srgbClr val="FFFFFF"/>
                </a:solidFill>
                <a:effectLst/>
                <a:latin typeface="Söhne"/>
              </a:rPr>
              <a:t>Detekce:</a:t>
            </a:r>
            <a:r>
              <a:rPr lang="cs-CZ" sz="2000" b="0" i="0" dirty="0">
                <a:solidFill>
                  <a:srgbClr val="FFFFFF"/>
                </a:solidFill>
                <a:effectLst/>
                <a:latin typeface="Söhne"/>
              </a:rPr>
              <a:t> Antivirový software monitoruje aktivitu na zařízení a identifikuje škodlivý software, který se pokouší proniknout nebo již pronikl do systému. Tato detekce zahrnuje rozpoznávání známých škodlivých vzorů (signatur) a chování, které může naznačovat nebezpečí.</a:t>
            </a:r>
          </a:p>
          <a:p>
            <a:r>
              <a:rPr lang="cs-CZ" sz="2000" dirty="0">
                <a:solidFill>
                  <a:srgbClr val="FFFFFF"/>
                </a:solidFill>
              </a:rPr>
              <a:t>Funkce : skenování, odstranění, aktualizace</a:t>
            </a:r>
          </a:p>
          <a:p>
            <a:r>
              <a:rPr lang="cs-CZ" sz="2000" b="1" i="0" dirty="0">
                <a:solidFill>
                  <a:srgbClr val="FFFFFF"/>
                </a:solidFill>
                <a:effectLst/>
                <a:latin typeface="Söhne"/>
              </a:rPr>
              <a:t>Důležitost pravidelné aktualizace antivirového softwaru</a:t>
            </a:r>
            <a:endParaRPr lang="cs-CZ" sz="2000" dirty="0">
              <a:solidFill>
                <a:srgbClr val="FFFFFF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 i="0" dirty="0">
                <a:solidFill>
                  <a:srgbClr val="FFFFFF"/>
                </a:solidFill>
                <a:effectLst/>
                <a:latin typeface="Söhne"/>
              </a:rPr>
              <a:t>Ochrana před novými hrozbami:</a:t>
            </a:r>
            <a:r>
              <a:rPr lang="cs-CZ" sz="2000" b="0" i="0" dirty="0">
                <a:solidFill>
                  <a:srgbClr val="FFFFFF"/>
                </a:solidFill>
                <a:effectLst/>
                <a:latin typeface="Söhne"/>
              </a:rPr>
              <a:t> Neustálé aktualizace antivirového softwaru jsou nezbytné pro udržení schopnosti rozpoznávat a bránit se proti nejnovějším hrozbám. Bez aktuálních definic škodlivého software může být systém zranitelný vůči novým útokům.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 i="0" dirty="0">
                <a:solidFill>
                  <a:srgbClr val="FFFFFF"/>
                </a:solidFill>
                <a:effectLst/>
                <a:latin typeface="Söhne"/>
              </a:rPr>
              <a:t>Záruka efektivity:</a:t>
            </a:r>
            <a:r>
              <a:rPr lang="cs-CZ" sz="2000" b="0" i="0" dirty="0">
                <a:solidFill>
                  <a:srgbClr val="FFFFFF"/>
                </a:solidFill>
                <a:effectLst/>
                <a:latin typeface="Söhne"/>
              </a:rPr>
              <a:t> Aktualizace antivirového softwaru mohou obsahovat vylepšení detekčních mechanismů a algoritmů, což zvyšuje efektivitu ochrany proti škodlivému softwaru.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 i="0" dirty="0">
                <a:solidFill>
                  <a:srgbClr val="FFFFFF"/>
                </a:solidFill>
                <a:effectLst/>
                <a:latin typeface="Söhne"/>
              </a:rPr>
              <a:t>Minimalizace rizika:</a:t>
            </a:r>
            <a:r>
              <a:rPr lang="cs-CZ" sz="2000" b="0" i="0" dirty="0">
                <a:solidFill>
                  <a:srgbClr val="FFFFFF"/>
                </a:solidFill>
                <a:effectLst/>
                <a:latin typeface="Söhne"/>
              </a:rPr>
              <a:t> Pravidelné aktualizace snižují riziko úspěšného útoku škodlivým softwarem a chrání citlivá data a soukromí uživatelů.</a:t>
            </a:r>
          </a:p>
          <a:p>
            <a:endParaRPr lang="cs-CZ" sz="11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98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CF0CC2-658D-4A87-9D2E-154B0ABE1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ectangle">
            <a:extLst>
              <a:ext uri="{FF2B5EF4-FFF2-40B4-BE49-F238E27FC236}">
                <a16:creationId xmlns:a16="http://schemas.microsoft.com/office/drawing/2014/main" id="{796C2CE2-29C3-4EBD-A8BB-82C6CC069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5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6" name="Picture 4" descr="Visací zámek na základní desce počítače">
            <a:extLst>
              <a:ext uri="{FF2B5EF4-FFF2-40B4-BE49-F238E27FC236}">
                <a16:creationId xmlns:a16="http://schemas.microsoft.com/office/drawing/2014/main" id="{B0898510-711C-F3FF-01AA-256944D8DD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b="15730"/>
          <a:stretch/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9595B962-00A9-BE07-3371-09FB4FFCB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960" y="1442555"/>
            <a:ext cx="5366040" cy="2344840"/>
          </a:xfrm>
        </p:spPr>
        <p:txBody>
          <a:bodyPr anchor="b">
            <a:normAutofit/>
          </a:bodyPr>
          <a:lstStyle/>
          <a:p>
            <a:r>
              <a:rPr lang="cs-CZ" sz="7200" dirty="0">
                <a:solidFill>
                  <a:srgbClr val="FFFFFF"/>
                </a:solidFill>
              </a:rPr>
              <a:t>Šifrování dat </a:t>
            </a:r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9609" y="554152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rgbClr val="FFFFFF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5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6116" y="837005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2748" y="1472473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rgbClr val="FFFFFF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cxnSp>
        <p:nvCxnSpPr>
          <p:cNvPr id="19" name="Straight Connector">
            <a:extLst>
              <a:ext uri="{FF2B5EF4-FFF2-40B4-BE49-F238E27FC236}">
                <a16:creationId xmlns:a16="http://schemas.microsoft.com/office/drawing/2014/main" id="{BF76EB78-6E9D-49A9-ADC5-7BCCD6F1F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3611B56-082E-2F4F-06A5-906829D1E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6617" y="647700"/>
            <a:ext cx="5366041" cy="5336966"/>
          </a:xfrm>
        </p:spPr>
        <p:txBody>
          <a:bodyPr anchor="t">
            <a:noAutofit/>
          </a:bodyPr>
          <a:lstStyle/>
          <a:p>
            <a:r>
              <a:rPr lang="cs-CZ" sz="1800" dirty="0">
                <a:solidFill>
                  <a:srgbClr val="FFFFFF"/>
                </a:solidFill>
              </a:rPr>
              <a:t>Ochrana soukromí: Šifrování dat zajišťuje, že citlivé informace zůstanou skryty před neoprávněnými osobami nebo útočníky. Dokonce i když se útočníkovi podaří získat zašifrovaná data, bez správného klíče jsou pro něj nepoužitelná.</a:t>
            </a:r>
          </a:p>
          <a:p>
            <a:r>
              <a:rPr lang="cs-CZ" sz="1800" dirty="0">
                <a:solidFill>
                  <a:srgbClr val="FFFFFF"/>
                </a:solidFill>
              </a:rPr>
              <a:t>Integrita dat: Šifrování může chránit data před neoprávněnými změnami nebo poškozením. Pokud jsou data šifrována, je obtížnější je měnit nebo poškozovat, aniž by bylo možné tuto manipulaci detekovat.</a:t>
            </a:r>
          </a:p>
          <a:p>
            <a:r>
              <a:rPr lang="cs-CZ" sz="1800" dirty="0">
                <a:solidFill>
                  <a:srgbClr val="FFFFFF"/>
                </a:solidFill>
              </a:rPr>
              <a:t>Symetrické šifrování -  používá stejný klíč pro šifrování a dešifrování dat. Tento klíč musí být sdílen mezi odesílatelem a příjemcem</a:t>
            </a:r>
          </a:p>
          <a:p>
            <a:r>
              <a:rPr lang="cs-CZ" sz="1800" dirty="0">
                <a:solidFill>
                  <a:srgbClr val="FFFFFF"/>
                </a:solidFill>
              </a:rPr>
              <a:t>Asymetrické šifrování - používá dva klíče: veřejný a soukromý. Veřejný klíč je distribuován široce a slouží k šifrování zpráv, zatímco soukromý klíč je uchováván tajně a používá se k dešifrování</a:t>
            </a:r>
          </a:p>
          <a:p>
            <a:r>
              <a:rPr lang="cs-CZ" sz="1800" dirty="0">
                <a:solidFill>
                  <a:srgbClr val="FFFFFF"/>
                </a:solidFill>
              </a:rPr>
              <a:t>Šifrování dat se také používá k ochraně uložených dat na zařízeních, serverech a v cloudu. Tím se minimalizuje riziko neoprávněného přístupu k citlivým informacím v případě ztráty nebo krádeže zařízení.</a:t>
            </a:r>
          </a:p>
        </p:txBody>
      </p:sp>
    </p:spTree>
    <p:extLst>
      <p:ext uri="{BB962C8B-B14F-4D97-AF65-F5344CB8AC3E}">
        <p14:creationId xmlns:p14="http://schemas.microsoft.com/office/powerpoint/2010/main" val="2484473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CF0CC2-658D-4A87-9D2E-154B0ABE1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ectangle">
            <a:extLst>
              <a:ext uri="{FF2B5EF4-FFF2-40B4-BE49-F238E27FC236}">
                <a16:creationId xmlns:a16="http://schemas.microsoft.com/office/drawing/2014/main" id="{796C2CE2-29C3-4EBD-A8BB-82C6CC069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5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" name="Picture 4" descr="Graf v dokumentu a pero">
            <a:extLst>
              <a:ext uri="{FF2B5EF4-FFF2-40B4-BE49-F238E27FC236}">
                <a16:creationId xmlns:a16="http://schemas.microsoft.com/office/drawing/2014/main" id="{71DBC121-9C71-3A0B-7EFB-2F090FD128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1510" b="14220"/>
          <a:stretch/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780F3192-B0CA-22A8-04D1-16CE66055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6617" y="381935"/>
            <a:ext cx="5366040" cy="2344840"/>
          </a:xfrm>
        </p:spPr>
        <p:txBody>
          <a:bodyPr anchor="b">
            <a:normAutofit/>
          </a:bodyPr>
          <a:lstStyle/>
          <a:p>
            <a:r>
              <a:rPr lang="cs-CZ" sz="7200" dirty="0">
                <a:solidFill>
                  <a:srgbClr val="FFFFFF"/>
                </a:solidFill>
              </a:rPr>
              <a:t>Aktualizace a zálohování </a:t>
            </a:r>
          </a:p>
        </p:txBody>
      </p:sp>
      <p:sp>
        <p:nvSpPr>
          <p:cNvPr id="13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9609" y="554152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rgbClr val="FFFFFF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5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6116" y="837005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2748" y="1472473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rgbClr val="FFFFFF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cxnSp>
        <p:nvCxnSpPr>
          <p:cNvPr id="19" name="Straight Connector">
            <a:extLst>
              <a:ext uri="{FF2B5EF4-FFF2-40B4-BE49-F238E27FC236}">
                <a16:creationId xmlns:a16="http://schemas.microsoft.com/office/drawing/2014/main" id="{BF76EB78-6E9D-49A9-ADC5-7BCCD6F1F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94D17FD-582F-84C7-AC21-A82610A31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7225" y="3227337"/>
            <a:ext cx="9401725" cy="2809114"/>
          </a:xfrm>
        </p:spPr>
        <p:txBody>
          <a:bodyPr anchor="t">
            <a:noAutofit/>
          </a:bodyPr>
          <a:lstStyle/>
          <a:p>
            <a:r>
              <a:rPr lang="cs-CZ" sz="1800" dirty="0">
                <a:solidFill>
                  <a:srgbClr val="FFFFFF"/>
                </a:solidFill>
              </a:rPr>
              <a:t> Pravidelné aktualizace softwaru a operačního systému zahrnují opravy zabezpečení, které odstraňují nalezené zranitelnosti a snižují riziko úspěšného útoku zneužívajícího těchto chyb</a:t>
            </a:r>
          </a:p>
          <a:p>
            <a:r>
              <a:rPr lang="cs-CZ" sz="1800" b="0" i="0" dirty="0">
                <a:solidFill>
                  <a:srgbClr val="FFFFFF"/>
                </a:solidFill>
                <a:effectLst/>
                <a:latin typeface="Söhne"/>
              </a:rPr>
              <a:t>V případě ztráty dat způsobené havárií, útokem nebo jinou událostí umožňuje zálohování dat obnovit data do stavu před událostí, což minimalizuje dopady a umožňuje rychlé obnovení provozu</a:t>
            </a:r>
          </a:p>
          <a:p>
            <a:r>
              <a:rPr lang="cs-CZ" sz="1800" b="0" i="0" dirty="0">
                <a:solidFill>
                  <a:srgbClr val="FFFFFF"/>
                </a:solidFill>
                <a:effectLst/>
                <a:latin typeface="Söhne"/>
              </a:rPr>
              <a:t>Automatizace procesů zálohování a obnovy dat pomáhá zajistit pravidelnost a spolehlivost zálohovacích procesů, minimalizuje lidské chyby a zvyšuje efektivitu.</a:t>
            </a:r>
          </a:p>
          <a:p>
            <a:r>
              <a:rPr lang="cs-CZ" sz="1800" b="0" i="0" dirty="0">
                <a:solidFill>
                  <a:srgbClr val="FFFFFF"/>
                </a:solidFill>
                <a:effectLst/>
                <a:latin typeface="Söhne"/>
              </a:rPr>
              <a:t>Pravidelné testování procesů obnovy dat je klíčové pro ověření funkčnosti a spolehlivosti strategie zálohování. Tím se zajišťuje, že v případě potřeby budou data úspěšně obnoveny.</a:t>
            </a:r>
            <a:endParaRPr lang="cs-CZ" sz="1800" dirty="0">
              <a:solidFill>
                <a:srgbClr val="FFFFFF"/>
              </a:solidFill>
              <a:latin typeface="Söhne"/>
            </a:endParaRPr>
          </a:p>
          <a:p>
            <a:r>
              <a:rPr lang="cs-CZ" sz="1800" b="0" i="0" dirty="0">
                <a:solidFill>
                  <a:srgbClr val="FFFFFF"/>
                </a:solidFill>
                <a:effectLst/>
                <a:latin typeface="Söhne"/>
              </a:rPr>
              <a:t>Implementace strategie zálohování a obnovy dat je nezbytná pro ochranu důležitých dat a zajištění obchodní kontinuity v případě havárie, útoku nebo jiné události ohrožující integrity dat.</a:t>
            </a:r>
            <a:endParaRPr lang="cs-CZ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106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EE0A6B3-EB7E-45AA-ADB6-138489E0CD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Rectangle">
            <a:extLst>
              <a:ext uri="{FF2B5EF4-FFF2-40B4-BE49-F238E27FC236}">
                <a16:creationId xmlns:a16="http://schemas.microsoft.com/office/drawing/2014/main" id="{0C0EA1AB-DC8C-4976-9474-9313A673D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8" name="Obrázek 7" descr="Obsah obrázku text, snímek obrazovky, Písmo, číslo&#10;&#10;Popis byl vytvořen automaticky">
            <a:extLst>
              <a:ext uri="{FF2B5EF4-FFF2-40B4-BE49-F238E27FC236}">
                <a16:creationId xmlns:a16="http://schemas.microsoft.com/office/drawing/2014/main" id="{536C3904-3978-BA5B-02AE-D97BE53393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5F4EAE9C-8F57-9CB0-F5C6-933324A74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5366040" cy="2344840"/>
          </a:xfrm>
        </p:spPr>
        <p:txBody>
          <a:bodyPr anchor="b">
            <a:normAutofit/>
          </a:bodyPr>
          <a:lstStyle/>
          <a:p>
            <a:r>
              <a:rPr lang="cs-CZ" sz="6100">
                <a:solidFill>
                  <a:srgbClr val="FFFFFF"/>
                </a:solidFill>
              </a:rPr>
              <a:t> Ochrana hesel a autentizace</a:t>
            </a:r>
          </a:p>
        </p:txBody>
      </p:sp>
      <p:sp>
        <p:nvSpPr>
          <p:cNvPr id="1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3369" y="554152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rgbClr val="FFFFFF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55951" y="837005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21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94200" y="1472473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rgbClr val="FFFFFF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cxnSp>
        <p:nvCxnSpPr>
          <p:cNvPr id="23" name="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46AC96F-2E3E-CA0F-9A0C-BFA110789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846" y="2802495"/>
            <a:ext cx="10380307" cy="3673570"/>
          </a:xfrm>
        </p:spPr>
        <p:txBody>
          <a:bodyPr anchor="t"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000" b="0" i="0" dirty="0">
                <a:solidFill>
                  <a:srgbClr val="FFFFFF"/>
                </a:solidFill>
                <a:effectLst/>
                <a:latin typeface="Söhne"/>
              </a:rPr>
              <a:t>Důležitost silných hesel a </a:t>
            </a:r>
            <a:r>
              <a:rPr lang="cs-CZ" sz="2000" b="0" i="0" dirty="0" err="1">
                <a:solidFill>
                  <a:srgbClr val="FFFFFF"/>
                </a:solidFill>
                <a:effectLst/>
                <a:latin typeface="Söhne"/>
              </a:rPr>
              <a:t>vícefaktorové</a:t>
            </a:r>
            <a:r>
              <a:rPr lang="cs-CZ" sz="2000" b="0" i="0" dirty="0">
                <a:solidFill>
                  <a:srgbClr val="FFFFFF"/>
                </a:solidFill>
                <a:effectLst/>
                <a:latin typeface="Söhne"/>
              </a:rPr>
              <a:t> autentizace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0" i="0" dirty="0">
                <a:solidFill>
                  <a:srgbClr val="FFFFFF"/>
                </a:solidFill>
                <a:effectLst/>
                <a:latin typeface="Söhne"/>
              </a:rPr>
              <a:t>Metody ochrany hesel (příklady: dlouhá hesla, používání heslových správců)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0" i="0" dirty="0">
                <a:solidFill>
                  <a:srgbClr val="FFFFFF"/>
                </a:solidFill>
                <a:effectLst/>
                <a:latin typeface="Söhne"/>
              </a:rPr>
              <a:t>Význam autentizačních procesů pro ověření identity uživatele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rgbClr val="FFFFFF"/>
                </a:solidFill>
                <a:latin typeface="Söhne"/>
              </a:rPr>
              <a:t>Příklad silného hesla 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rgbClr val="FFFFFF"/>
                </a:solidFill>
                <a:latin typeface="Söhne"/>
              </a:rPr>
              <a:t>Délka: Heslo by mělo mít minimálně 12 znaků. Čím delší heslo, tím obtížnější je jej uhodnout nebo prolomit.</a:t>
            </a:r>
          </a:p>
          <a:p>
            <a:pPr marL="0" indent="0">
              <a:buNone/>
            </a:pPr>
            <a:r>
              <a:rPr lang="cs-CZ" sz="2000" dirty="0">
                <a:solidFill>
                  <a:srgbClr val="FFFFFF"/>
                </a:solidFill>
                <a:latin typeface="Söhne"/>
              </a:rPr>
              <a:t>Rozmanitost znaků: Heslo by mělo obsahovat kombinaci různých typů znaků, včetně písmen (velká a 	malá), číslic, speciálních znaků a symbolů.</a:t>
            </a:r>
          </a:p>
          <a:p>
            <a:pPr marL="0" indent="0">
              <a:buNone/>
            </a:pPr>
            <a:r>
              <a:rPr lang="cs-CZ" sz="2000" dirty="0">
                <a:solidFill>
                  <a:srgbClr val="FFFFFF"/>
                </a:solidFill>
                <a:latin typeface="Söhne"/>
              </a:rPr>
              <a:t>Nepoužívání osobních informací: Heslo by nemělo obsahovat snadno uhodnutelné informace, jako 	jsou jména, data narození, čísla dokladů totožnosti nebo jména domácích zvířat.</a:t>
            </a:r>
          </a:p>
          <a:p>
            <a:pPr marL="0" indent="0">
              <a:buNone/>
            </a:pPr>
            <a:r>
              <a:rPr lang="cs-CZ" sz="2000" dirty="0">
                <a:solidFill>
                  <a:srgbClr val="FFFFFF"/>
                </a:solidFill>
                <a:latin typeface="Söhne"/>
              </a:rPr>
              <a:t>Náhodnost: Silné heslo by mělo být náhodné a nevyskytující se v běžných slovnících. Mělo by být 	obtížné uhodnout i pro útočníka používajícího slovníkový útok.</a:t>
            </a:r>
          </a:p>
          <a:p>
            <a:pPr>
              <a:buFont typeface="Arial" panose="020B0604020202020204" pitchFamily="34" charset="0"/>
              <a:buChar char="•"/>
            </a:pPr>
            <a:endParaRPr lang="cs-CZ" sz="2000" dirty="0">
              <a:solidFill>
                <a:srgbClr val="FFFFFF"/>
              </a:solidFill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rgbClr val="FFFFFF"/>
                </a:solidFill>
                <a:latin typeface="Söhne"/>
              </a:rPr>
              <a:t>Příklad silného hesla: k&amp;9pD3#n7WzY!sF</a:t>
            </a:r>
          </a:p>
          <a:p>
            <a:pPr>
              <a:buFont typeface="Arial" panose="020B0604020202020204" pitchFamily="34" charset="0"/>
              <a:buChar char="•"/>
            </a:pPr>
            <a:endParaRPr lang="cs-CZ" sz="700" b="0" i="0" dirty="0">
              <a:solidFill>
                <a:srgbClr val="FFFFFF"/>
              </a:solidFill>
              <a:effectLst/>
              <a:latin typeface="Söhne"/>
            </a:endParaRPr>
          </a:p>
          <a:p>
            <a:endParaRPr lang="cs-CZ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791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CF0CC2-658D-4A87-9D2E-154B0ABE1B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Rectangle">
            <a:extLst>
              <a:ext uri="{FF2B5EF4-FFF2-40B4-BE49-F238E27FC236}">
                <a16:creationId xmlns:a16="http://schemas.microsoft.com/office/drawing/2014/main" id="{796C2CE2-29C3-4EBD-A8BB-82C6CC069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15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FA211E0-B653-A406-AAE6-CE4CF1E997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</a:blip>
          <a:srcRect t="8786" b="7571"/>
          <a:stretch/>
        </p:blipFill>
        <p:spPr>
          <a:xfrm>
            <a:off x="20" y="-8877"/>
            <a:ext cx="1219198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1BF02BF0-4FB6-BF3A-DF92-3F542FF38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6617" y="381935"/>
            <a:ext cx="5366040" cy="2344840"/>
          </a:xfrm>
        </p:spPr>
        <p:txBody>
          <a:bodyPr anchor="b">
            <a:normAutofit/>
          </a:bodyPr>
          <a:lstStyle/>
          <a:p>
            <a:r>
              <a:rPr lang="cs-CZ" sz="7200">
                <a:solidFill>
                  <a:srgbClr val="FFFFFF"/>
                </a:solidFill>
              </a:rPr>
              <a:t>Zdroje : </a:t>
            </a:r>
          </a:p>
        </p:txBody>
      </p:sp>
      <p:sp>
        <p:nvSpPr>
          <p:cNvPr id="14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9609" y="554152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rgbClr val="FFFFFF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6116" y="837005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sp>
        <p:nvSpPr>
          <p:cNvPr id="18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2748" y="1472473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rgbClr val="FFFFFF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/>
              <a:ea typeface="+mn-ea"/>
              <a:cs typeface="+mn-cs"/>
            </a:endParaRPr>
          </a:p>
        </p:txBody>
      </p:sp>
      <p:cxnSp>
        <p:nvCxnSpPr>
          <p:cNvPr id="20" name="Straight Connector">
            <a:extLst>
              <a:ext uri="{FF2B5EF4-FFF2-40B4-BE49-F238E27FC236}">
                <a16:creationId xmlns:a16="http://schemas.microsoft.com/office/drawing/2014/main" id="{BF76EB78-6E9D-49A9-ADC5-7BCCD6F1F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610394"/>
            <a:ext cx="0" cy="3238728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EE33A88-0AA5-06D8-DC2D-259F8E3F5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6617" y="3175552"/>
            <a:ext cx="5366041" cy="280911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cs-CZ" sz="1800">
                <a:solidFill>
                  <a:srgbClr val="FFFFFF"/>
                </a:solidFill>
                <a:hlinkClick r:id="rId3"/>
              </a:rPr>
              <a:t>Firewall – Wikipedie (wikipedia.org)</a:t>
            </a:r>
            <a:endParaRPr lang="cs-CZ" sz="18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it-IT" sz="1800">
                <a:solidFill>
                  <a:srgbClr val="FFFFFF"/>
                </a:solidFill>
                <a:hlinkClick r:id="rId4"/>
              </a:rPr>
              <a:t>Antivirový program – Wikipedie (wikipedia.org)</a:t>
            </a:r>
            <a:endParaRPr lang="cs-CZ" sz="18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pl-PL" sz="1800">
                <a:solidFill>
                  <a:srgbClr val="FFFFFF"/>
                </a:solidFill>
                <a:hlinkClick r:id="rId5"/>
              </a:rPr>
              <a:t>Co je zabezpečení dat? | Zabezpečení od Microsoftu</a:t>
            </a:r>
            <a:endParaRPr lang="pl-PL" sz="18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cs-CZ" sz="1800">
                <a:solidFill>
                  <a:srgbClr val="FFFFFF"/>
                </a:solidFill>
                <a:hlinkClick r:id="rId6"/>
              </a:rPr>
              <a:t>WEB SAFETY – &amp; UPDATE</a:t>
            </a:r>
            <a:r>
              <a:rPr lang="cs-CZ" sz="1800">
                <a:solidFill>
                  <a:srgbClr val="FFFFFF"/>
                </a:solidFill>
              </a:rPr>
              <a:t> 	</a:t>
            </a:r>
          </a:p>
          <a:p>
            <a:pPr marL="0" indent="0">
              <a:buNone/>
            </a:pPr>
            <a:endParaRPr lang="cs-CZ" sz="180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cs-CZ" sz="180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cs-CZ" sz="1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48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1B787A8-0D67-4B7E-9B48-86BD906AB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7E95E6A-BC86-3A37-2980-CDA6FFCE4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cs-CZ" sz="6000" b="1" i="0" kern="1200" cap="all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Děkuji </a:t>
            </a:r>
            <a:r>
              <a:rPr lang="cs-CZ" sz="6000" b="1" i="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za pozornost </a:t>
            </a:r>
            <a:endParaRPr lang="en-US" sz="6000" b="1" i="0" kern="1200" cap="all" baseline="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530275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B5304CC07884E4EB4CB80ADC8D29AFE" ma:contentTypeVersion="16" ma:contentTypeDescription="Vytvoří nový dokument" ma:contentTypeScope="" ma:versionID="dd2efae08c3b362abcd4cc1a6a9a5f05">
  <xsd:schema xmlns:xsd="http://www.w3.org/2001/XMLSchema" xmlns:xs="http://www.w3.org/2001/XMLSchema" xmlns:p="http://schemas.microsoft.com/office/2006/metadata/properties" xmlns:ns3="f87e30eb-171b-483d-8cf8-0a83c79a11ac" xmlns:ns4="7102979c-b26f-4d91-98cb-63a00b939af4" targetNamespace="http://schemas.microsoft.com/office/2006/metadata/properties" ma:root="true" ma:fieldsID="610a968867fd1d0bcb32146536ce7d27" ns3:_="" ns4:_="">
    <xsd:import namespace="f87e30eb-171b-483d-8cf8-0a83c79a11ac"/>
    <xsd:import namespace="7102979c-b26f-4d91-98cb-63a00b939a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7e30eb-171b-483d-8cf8-0a83c79a11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02979c-b26f-4d91-98cb-63a00b939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87e30eb-171b-483d-8cf8-0a83c79a11a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6B133AD-F98F-4AE2-98D6-9FD00CD5CD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7e30eb-171b-483d-8cf8-0a83c79a11ac"/>
    <ds:schemaRef ds:uri="7102979c-b26f-4d91-98cb-63a00b939a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9EC663-D72F-4746-BB6E-A06B9F9BA36A}">
  <ds:schemaRefs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102979c-b26f-4d91-98cb-63a00b939af4"/>
    <ds:schemaRef ds:uri="f87e30eb-171b-483d-8cf8-0a83c79a11ac"/>
  </ds:schemaRefs>
</ds:datastoreItem>
</file>

<file path=customXml/itemProps3.xml><?xml version="1.0" encoding="utf-8"?>
<ds:datastoreItem xmlns:ds="http://schemas.openxmlformats.org/officeDocument/2006/customXml" ds:itemID="{153376F0-5F0E-4A12-A8D2-C8BED00EFC9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759</Words>
  <Application>Microsoft Office PowerPoint</Application>
  <PresentationFormat>Širokoúhlá obrazovka</PresentationFormat>
  <Paragraphs>47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3" baseType="lpstr">
      <vt:lpstr>Arial</vt:lpstr>
      <vt:lpstr>Gill Sans Nova</vt:lpstr>
      <vt:lpstr>Söhne</vt:lpstr>
      <vt:lpstr>Univers</vt:lpstr>
      <vt:lpstr>GradientVTI</vt:lpstr>
      <vt:lpstr>prostředky ochrany v kyberprostoru</vt:lpstr>
      <vt:lpstr>Firewall</vt:lpstr>
      <vt:lpstr>Antivirový Software</vt:lpstr>
      <vt:lpstr>Šifrování dat </vt:lpstr>
      <vt:lpstr>Aktualizace a zálohování </vt:lpstr>
      <vt:lpstr> Ochrana hesel a autentizace</vt:lpstr>
      <vt:lpstr>Zdroje : </vt:lpstr>
      <vt:lpstr>Děkuji za pozornost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