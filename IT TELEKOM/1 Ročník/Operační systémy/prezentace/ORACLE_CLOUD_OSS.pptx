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868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14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3405187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4714273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2426583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 rot="5400000">
            <a:off x="3405187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 rot="5400000">
            <a:off x="5692878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5"/>
          <p:cNvSpPr/>
          <p:nvPr/>
        </p:nvSpPr>
        <p:spPr>
          <a:xfrm rot="5400000">
            <a:off x="5692878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 rot="5400000">
            <a:off x="1117497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 rot="5400000">
            <a:off x="1117497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7001964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9"/>
          <p:cNvSpPr/>
          <p:nvPr/>
        </p:nvSpPr>
        <p:spPr>
          <a:xfrm>
            <a:off x="144434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/>
          <p:nvPr/>
        </p:nvSpPr>
        <p:spPr>
          <a:xfrm>
            <a:off x="146447" y="188886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5400"/>
              </a:lnSpc>
            </a:pPr>
            <a:r>
              <a:rPr lang="en-US" sz="6000" b="1" kern="0" spc="-24" dirty="0">
                <a:solidFill>
                  <a:srgbClr val="FFFA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ORACLE CLOUD 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3260753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4569839" y="2575279"/>
            <a:ext cx="2001150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2282148" y="2575279"/>
            <a:ext cx="2001150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 rot="5400000">
            <a:off x="3260753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 rot="5400000">
            <a:off x="5548444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5"/>
          <p:cNvSpPr/>
          <p:nvPr/>
        </p:nvSpPr>
        <p:spPr>
          <a:xfrm rot="5400000">
            <a:off x="5548444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 rot="5400000">
            <a:off x="973063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 rot="5400000">
            <a:off x="973063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6857530" y="2575279"/>
            <a:ext cx="2001150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9"/>
          <p:cNvSpPr/>
          <p:nvPr/>
        </p:nvSpPr>
        <p:spPr>
          <a:xfrm>
            <a:off x="0" y="2575279"/>
            <a:ext cx="2001150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pic>
        <p:nvPicPr>
          <p:cNvPr id="13" name="Image 0" descr="https://pitch-assets-ccb95893-de3f-4266-973c-20049231b248.s3.eu-west-1.amazonaws.com/ff00a958-f263-493f-9e4b-76311b417475?pitch-bytes=516529&amp;pitch-content-type=image%2Fpng"/>
          <p:cNvPicPr>
            <a:picLocks noChangeAspect="1"/>
          </p:cNvPicPr>
          <p:nvPr/>
        </p:nvPicPr>
        <p:blipFill>
          <a:blip r:embed="rId3"/>
          <a:srcRect l="26667" r="26667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5439" y="287910"/>
            <a:ext cx="548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250"/>
              </a:lnSpc>
            </a:pPr>
            <a:r>
              <a:rPr lang="en-US" sz="2300" b="1" kern="0" spc="-24" dirty="0">
                <a:solidFill>
                  <a:srgbClr val="E146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 JE TO ORACLE CLOUD ?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4675439" y="705263"/>
            <a:ext cx="4572000" cy="3000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Oracle Cloud je komplexní cloudová služba nabízená společností Oracle Corporation.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Poskytuje širokou škálu cloudových řešení a služeb pro podniky a organizace všech velikostí.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Funguje na základě principů škálovatelnosti, spolehlivosti a bezpečnosti.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Umožňuje podnikům využívat nejmodernější technologie, jako jsou umělá inteligence (AI), strojové učení (ML) a blockchain.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55" y="252838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250"/>
              </a:lnSpc>
            </a:pPr>
            <a:r>
              <a:rPr lang="en-US" sz="2300" b="1" kern="0" spc="-24" dirty="0">
                <a:solidFill>
                  <a:srgbClr val="E146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HISTORIE ORACLE CLOUD</a:t>
            </a:r>
            <a:endParaRPr lang="en-US" sz="2250" dirty="0"/>
          </a:p>
        </p:txBody>
      </p:sp>
      <p:pic>
        <p:nvPicPr>
          <p:cNvPr id="4" name="Image 0" descr="https://media1.giphy.com/media/LaVp0AyqR5bGsC5Cbm/giphy.gif"/>
          <p:cNvPicPr>
            <a:picLocks noChangeAspect="1"/>
          </p:cNvPicPr>
          <p:nvPr/>
        </p:nvPicPr>
        <p:blipFill>
          <a:blip r:embed="rId3"/>
          <a:srcRect l="5565" r="5565"/>
          <a:stretch/>
        </p:blipFill>
        <p:spPr>
          <a:xfrm>
            <a:off x="782" y="0"/>
            <a:ext cx="4572000" cy="51445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75439" y="705263"/>
            <a:ext cx="4572000" cy="428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Vývoj Oracle Cloud začal s potřebou poskytnout podnikům efektivní a inovativní cloudová řešení.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Roku 2008 začala firma Oracle investovat do vývoje cloudových technologii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 4 roky později představuje svou první generaci cloudových služeb, včetně Oracle Database Cloud Service.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2016 se spouští Oracle Cloud Infrastructure (OCI)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Od té doby Oracle Cloud neustále inovuje a rozšiřuje kvality svých služeb.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3441331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4751578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2445212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 rot="5400000">
            <a:off x="3441331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 rot="5400000">
            <a:off x="5747696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5"/>
          <p:cNvSpPr/>
          <p:nvPr/>
        </p:nvSpPr>
        <p:spPr>
          <a:xfrm rot="5400000">
            <a:off x="5747696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 rot="5400000">
            <a:off x="1134965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 rot="5400000">
            <a:off x="1134965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7057943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9"/>
          <p:cNvSpPr/>
          <p:nvPr/>
        </p:nvSpPr>
        <p:spPr>
          <a:xfrm>
            <a:off x="144434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0"/>
          <p:cNvSpPr/>
          <p:nvPr/>
        </p:nvSpPr>
        <p:spPr>
          <a:xfrm>
            <a:off x="142343" y="7620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3000" b="1" kern="0" spc="-24" dirty="0">
                <a:solidFill>
                  <a:srgbClr val="E146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VÝHODY ORACLE CLOUD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41184" y="142875"/>
            <a:ext cx="2743200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14"/>
              </a:lnSpc>
            </a:pPr>
            <a:r>
              <a:rPr lang="en-US" sz="700" b="0" kern="0" spc="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COMPANY NAME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6998543" y="142875"/>
            <a:ext cx="2743200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114"/>
              </a:lnSpc>
            </a:pPr>
            <a:r>
              <a:rPr lang="en-US" sz="700" b="0" kern="0" spc="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 JANUARY 2024</a:t>
            </a:r>
            <a:endParaRPr lang="en-US" sz="675" dirty="0"/>
          </a:p>
        </p:txBody>
      </p:sp>
      <p:pic>
        <p:nvPicPr>
          <p:cNvPr id="16" name="Image 0" descr="https://images.unsplash.com/photo-1614064641938-3bbee52942c7?crop=entropy&amp;cs=tinysrgb&amp;fit=max&amp;fm=jpg&amp;ixid=M3wyMTIyMnwwfDF8c2VhcmNofDV8fHNlY3VyaXR5fGVufDB8fHx8MTcwNjY5MjIwOXww&amp;ixlib=rb-4.0.3&amp;q=80&amp;w=1080"/>
          <p:cNvPicPr>
            <a:picLocks noChangeAspect="1"/>
          </p:cNvPicPr>
          <p:nvPr/>
        </p:nvPicPr>
        <p:blipFill>
          <a:blip r:embed="rId3"/>
          <a:srcRect l="18590" r="14676"/>
          <a:stretch/>
        </p:blipFill>
        <p:spPr>
          <a:xfrm>
            <a:off x="4714646" y="1428750"/>
            <a:ext cx="2001279" cy="2000250"/>
          </a:xfrm>
          <a:prstGeom prst="rect">
            <a:avLst/>
          </a:prstGeom>
        </p:spPr>
      </p:pic>
      <p:pic>
        <p:nvPicPr>
          <p:cNvPr id="17" name="Image 1" descr="https://pitch-assets-ccb95893-de3f-4266-973c-20049231b248.s3.eu-west-1.amazonaws.com/f9889aa2-3781-4204-94d0-962c168db3d4?pitch-bytes=63612&amp;pitch-content-type=image%2Fpng"/>
          <p:cNvPicPr>
            <a:picLocks noChangeAspect="1"/>
          </p:cNvPicPr>
          <p:nvPr/>
        </p:nvPicPr>
        <p:blipFill>
          <a:blip r:embed="rId4"/>
          <a:srcRect t="5939" b="12992"/>
          <a:stretch/>
        </p:blipFill>
        <p:spPr>
          <a:xfrm>
            <a:off x="144808" y="1428750"/>
            <a:ext cx="1992489" cy="2000250"/>
          </a:xfrm>
          <a:prstGeom prst="rect">
            <a:avLst/>
          </a:prstGeom>
        </p:spPr>
      </p:pic>
      <p:pic>
        <p:nvPicPr>
          <p:cNvPr id="18" name="Image 2" descr="https://pitch-assets-ccb95893-de3f-4266-973c-20049231b248.s3.eu-west-1.amazonaws.com/628f9769-af86-42d0-a0d5-a52fe94c8dbf?pitch-bytes=133153&amp;pitch-content-type=image%2Fjpeg"/>
          <p:cNvPicPr>
            <a:picLocks noChangeAspect="1"/>
          </p:cNvPicPr>
          <p:nvPr/>
        </p:nvPicPr>
        <p:blipFill>
          <a:blip r:embed="rId5"/>
          <a:srcRect l="17149" r="13616"/>
          <a:stretch/>
        </p:blipFill>
        <p:spPr>
          <a:xfrm>
            <a:off x="2421436" y="1428750"/>
            <a:ext cx="1998234" cy="2000250"/>
          </a:xfrm>
          <a:prstGeom prst="rect">
            <a:avLst/>
          </a:prstGeom>
        </p:spPr>
      </p:pic>
      <p:pic>
        <p:nvPicPr>
          <p:cNvPr id="19" name="Image 3" descr="https://images.unsplash.com/photo-1542903660-eedba2cda473?crop=entropy&amp;cs=tinysrgb&amp;fit=max&amp;fm=jpg&amp;ixid=M3wyMTIyMnwwfDF8c2VhcmNofDJ8fERhdGF8ZW58MHx8fHwxNzA2NjgyNzcyfDA&amp;ixlib=rb-4.0.3&amp;q=80&amp;w=1080"/>
          <p:cNvPicPr>
            <a:picLocks noChangeAspect="1"/>
          </p:cNvPicPr>
          <p:nvPr/>
        </p:nvPicPr>
        <p:blipFill>
          <a:blip r:embed="rId6"/>
          <a:srcRect l="31177" r="2122"/>
          <a:stretch/>
        </p:blipFill>
        <p:spPr>
          <a:xfrm>
            <a:off x="6998534" y="1428750"/>
            <a:ext cx="2001279" cy="20002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047" y="4016544"/>
            <a:ext cx="2743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Bezproblémově lze zvyšovat nebo snižovat výpočetní výkon, úložný prostor a další zdroje.</a:t>
            </a:r>
            <a:endParaRPr lang="en-US" sz="1125" dirty="0"/>
          </a:p>
        </p:txBody>
      </p:sp>
      <p:sp>
        <p:nvSpPr>
          <p:cNvPr id="21" name="Text 14"/>
          <p:cNvSpPr/>
          <p:nvPr/>
        </p:nvSpPr>
        <p:spPr>
          <a:xfrm>
            <a:off x="143236" y="3432485"/>
            <a:ext cx="2743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0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Rozšiřitelnost </a:t>
            </a:r>
            <a:endParaRPr lang="en-US" sz="1875" dirty="0"/>
          </a:p>
        </p:txBody>
      </p:sp>
      <p:sp>
        <p:nvSpPr>
          <p:cNvPr id="22" name="Text 15"/>
          <p:cNvSpPr/>
          <p:nvPr/>
        </p:nvSpPr>
        <p:spPr>
          <a:xfrm>
            <a:off x="2420935" y="4016544"/>
            <a:ext cx="2743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Poskytuje robustní bezpečnostní mechanismy a nástroje pro ochranu dat a aplikací.</a:t>
            </a:r>
            <a:endParaRPr lang="en-US" sz="1125" dirty="0"/>
          </a:p>
        </p:txBody>
      </p:sp>
      <p:sp>
        <p:nvSpPr>
          <p:cNvPr id="23" name="Text 16"/>
          <p:cNvSpPr/>
          <p:nvPr/>
        </p:nvSpPr>
        <p:spPr>
          <a:xfrm>
            <a:off x="2302600" y="3430214"/>
            <a:ext cx="2743200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0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Integrace s existujícími technologiemi</a:t>
            </a:r>
            <a:endParaRPr lang="en-US" sz="1875" dirty="0"/>
          </a:p>
        </p:txBody>
      </p:sp>
      <p:sp>
        <p:nvSpPr>
          <p:cNvPr id="24" name="Text 17"/>
          <p:cNvSpPr/>
          <p:nvPr/>
        </p:nvSpPr>
        <p:spPr>
          <a:xfrm>
            <a:off x="4714145" y="4016544"/>
            <a:ext cx="274320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Uživatelé mají přístup k širokému spektru nástrojů a funkcí, které jim umožňují efektivně řešit různorodé obchodní potřeby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6998033" y="4016544"/>
            <a:ext cx="2743200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öhne" pitchFamily="34" charset="0"/>
                <a:ea typeface="Söhne" pitchFamily="34" charset="-122"/>
                <a:cs typeface="Söhne" pitchFamily="34" charset="-120"/>
              </a:rPr>
              <a:t>Tento model umožňuje efektivní využívání zdrojů a optimalizaci nákladů v průběhu času.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</p:txBody>
      </p:sp>
      <p:sp>
        <p:nvSpPr>
          <p:cNvPr id="26" name="Text 19"/>
          <p:cNvSpPr/>
          <p:nvPr/>
        </p:nvSpPr>
        <p:spPr>
          <a:xfrm>
            <a:off x="6998033" y="3430214"/>
            <a:ext cx="2743200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0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Široká škála služeb a možností</a:t>
            </a:r>
            <a:endParaRPr lang="en-US" sz="1875" dirty="0"/>
          </a:p>
        </p:txBody>
      </p:sp>
      <p:sp>
        <p:nvSpPr>
          <p:cNvPr id="27" name="Text 20"/>
          <p:cNvSpPr/>
          <p:nvPr/>
        </p:nvSpPr>
        <p:spPr>
          <a:xfrm>
            <a:off x="476250" y="476250"/>
            <a:ext cx="91440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</p:txBody>
      </p:sp>
      <p:sp>
        <p:nvSpPr>
          <p:cNvPr id="28" name="Text 21"/>
          <p:cNvSpPr/>
          <p:nvPr/>
        </p:nvSpPr>
        <p:spPr>
          <a:xfrm>
            <a:off x="4695584" y="3424302"/>
            <a:ext cx="2743200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0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Bezpečnost a spolehlivost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3441331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4751578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2445212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 rot="5400000">
            <a:off x="3441331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 rot="5400000">
            <a:off x="5747696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5"/>
          <p:cNvSpPr/>
          <p:nvPr/>
        </p:nvSpPr>
        <p:spPr>
          <a:xfrm rot="5400000">
            <a:off x="5747696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 rot="5400000">
            <a:off x="1134965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 rot="5400000">
            <a:off x="1134965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7057943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9"/>
          <p:cNvSpPr/>
          <p:nvPr/>
        </p:nvSpPr>
        <p:spPr>
          <a:xfrm>
            <a:off x="144434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0"/>
          <p:cNvSpPr/>
          <p:nvPr/>
        </p:nvSpPr>
        <p:spPr>
          <a:xfrm>
            <a:off x="142343" y="7620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3000" b="1" kern="0" spc="-24" dirty="0">
                <a:solidFill>
                  <a:srgbClr val="E146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SLUŽBY ORACLE CLOUD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41184" y="142875"/>
            <a:ext cx="274320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14"/>
              </a:lnSpc>
            </a:pPr>
            <a:r>
              <a:rPr lang="en-US" sz="700" b="0" kern="0" spc="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COMPANY NAME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6998581" y="142875"/>
            <a:ext cx="274320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114"/>
              </a:lnSpc>
            </a:pPr>
            <a:r>
              <a:rPr lang="en-US" sz="700" b="0" kern="0" spc="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 JANUARY 2024</a:t>
            </a:r>
            <a:endParaRPr lang="en-US" sz="675" dirty="0"/>
          </a:p>
        </p:txBody>
      </p:sp>
      <p:pic>
        <p:nvPicPr>
          <p:cNvPr id="16" name="Image 0" descr="https://pitch-assets-ccb95893-de3f-4266-973c-20049231b248.s3.eu-west-1.amazonaws.com/6348fe22-8a63-40ca-ac65-3e4db438aee7?pitch-bytes=5072&amp;pitch-content-type=image%2Fpng"/>
          <p:cNvPicPr>
            <a:picLocks noChangeAspect="1"/>
          </p:cNvPicPr>
          <p:nvPr/>
        </p:nvPicPr>
        <p:blipFill>
          <a:blip r:embed="rId3"/>
          <a:srcRect r="1277"/>
          <a:stretch/>
        </p:blipFill>
        <p:spPr>
          <a:xfrm>
            <a:off x="4714646" y="1428750"/>
            <a:ext cx="2001279" cy="2000250"/>
          </a:xfrm>
          <a:prstGeom prst="rect">
            <a:avLst/>
          </a:prstGeom>
        </p:spPr>
      </p:pic>
      <p:pic>
        <p:nvPicPr>
          <p:cNvPr id="17" name="Image 1" descr="https://pitch-assets-ccb95893-de3f-4266-973c-20049231b248.s3.eu-west-1.amazonaws.com/2e75a2bc-e661-4fd3-a133-61c4c13b7d43?pitch-bytes=35095&amp;pitch-content-type=image%2Fjpeg"/>
          <p:cNvPicPr>
            <a:picLocks noChangeAspect="1"/>
          </p:cNvPicPr>
          <p:nvPr/>
        </p:nvPicPr>
        <p:blipFill>
          <a:blip r:embed="rId4"/>
          <a:srcRect l="16441" r="17118"/>
          <a:stretch/>
        </p:blipFill>
        <p:spPr>
          <a:xfrm>
            <a:off x="144808" y="1428750"/>
            <a:ext cx="1992489" cy="2000250"/>
          </a:xfrm>
          <a:prstGeom prst="rect">
            <a:avLst/>
          </a:prstGeom>
        </p:spPr>
      </p:pic>
      <p:pic>
        <p:nvPicPr>
          <p:cNvPr id="18" name="Image 2" descr="https://pitch-assets-ccb95893-de3f-4266-973c-20049231b248.s3.eu-west-1.amazonaws.com/3f735957-b226-4c35-80da-8720b06c4098?pitch-bytes=19321&amp;pitch-content-type=image%2Fpng"/>
          <p:cNvPicPr>
            <a:picLocks noChangeAspect="1"/>
          </p:cNvPicPr>
          <p:nvPr/>
        </p:nvPicPr>
        <p:blipFill>
          <a:blip r:embed="rId5"/>
          <a:srcRect l="22375" t="3041" r="22375" b="3041"/>
          <a:stretch/>
        </p:blipFill>
        <p:spPr>
          <a:xfrm>
            <a:off x="2473833" y="1428750"/>
            <a:ext cx="1945837" cy="2000250"/>
          </a:xfrm>
          <a:prstGeom prst="rect">
            <a:avLst/>
          </a:prstGeom>
        </p:spPr>
      </p:pic>
      <p:pic>
        <p:nvPicPr>
          <p:cNvPr id="19" name="Image 3" descr="https://pitch-assets-ccb95893-de3f-4266-973c-20049231b248.s3.eu-west-1.amazonaws.com/3d870bd8-b78c-45e4-a08c-196e080927bd?pitch-bytes=2144&amp;pitch-content-type=image%2Fpng"/>
          <p:cNvPicPr>
            <a:picLocks noChangeAspect="1"/>
          </p:cNvPicPr>
          <p:nvPr/>
        </p:nvPicPr>
        <p:blipFill>
          <a:blip r:embed="rId6"/>
          <a:srcRect b="51"/>
          <a:stretch/>
        </p:blipFill>
        <p:spPr>
          <a:xfrm>
            <a:off x="6998534" y="1428750"/>
            <a:ext cx="2001279" cy="20002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047" y="4016544"/>
            <a:ext cx="2743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Nabízí škálovatelné a výkonné relační databáze pro podniky v cloudu.</a:t>
            </a:r>
            <a:endParaRPr lang="en-US" sz="1125" dirty="0"/>
          </a:p>
        </p:txBody>
      </p:sp>
      <p:sp>
        <p:nvSpPr>
          <p:cNvPr id="21" name="Text 14"/>
          <p:cNvSpPr/>
          <p:nvPr/>
        </p:nvSpPr>
        <p:spPr>
          <a:xfrm>
            <a:off x="143236" y="3432485"/>
            <a:ext cx="2743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0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Oracle Database</a:t>
            </a:r>
            <a:endParaRPr lang="en-US" sz="1875" dirty="0"/>
          </a:p>
        </p:txBody>
      </p:sp>
      <p:sp>
        <p:nvSpPr>
          <p:cNvPr id="22" name="Text 15"/>
          <p:cNvSpPr/>
          <p:nvPr/>
        </p:nvSpPr>
        <p:spPr>
          <a:xfrm>
            <a:off x="2420935" y="4016544"/>
            <a:ext cx="27432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Poskytuje výpočetní zdroje ve formě virtuálních serverů pro běh aplikací a práci s daty.</a:t>
            </a:r>
            <a:endParaRPr lang="en-US" sz="1125" dirty="0"/>
          </a:p>
        </p:txBody>
      </p:sp>
      <p:sp>
        <p:nvSpPr>
          <p:cNvPr id="23" name="Text 16"/>
          <p:cNvSpPr/>
          <p:nvPr/>
        </p:nvSpPr>
        <p:spPr>
          <a:xfrm>
            <a:off x="2322323" y="3423639"/>
            <a:ext cx="2743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0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Compute</a:t>
            </a:r>
            <a:endParaRPr lang="en-US" sz="1875" dirty="0"/>
          </a:p>
        </p:txBody>
      </p:sp>
      <p:sp>
        <p:nvSpPr>
          <p:cNvPr id="24" name="Text 17"/>
          <p:cNvSpPr/>
          <p:nvPr/>
        </p:nvSpPr>
        <p:spPr>
          <a:xfrm>
            <a:off x="4714145" y="4016544"/>
            <a:ext cx="2743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Umožňuje ukládat a spravovat data v cloudovém prostředí s vysokou dostupností a odolností.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6998033" y="4016544"/>
            <a:ext cx="274320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Zajišťuje propojení a správu síťových prostředků pro optimalizaci výkonu a spolehlivosti aplikací.</a:t>
            </a: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</p:txBody>
      </p:sp>
      <p:sp>
        <p:nvSpPr>
          <p:cNvPr id="26" name="Text 19"/>
          <p:cNvSpPr/>
          <p:nvPr/>
        </p:nvSpPr>
        <p:spPr>
          <a:xfrm>
            <a:off x="6998033" y="3430214"/>
            <a:ext cx="2743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0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Networking</a:t>
            </a:r>
            <a:endParaRPr lang="en-US" sz="1875" dirty="0"/>
          </a:p>
        </p:txBody>
      </p:sp>
      <p:sp>
        <p:nvSpPr>
          <p:cNvPr id="27" name="Text 20"/>
          <p:cNvSpPr/>
          <p:nvPr/>
        </p:nvSpPr>
        <p:spPr>
          <a:xfrm>
            <a:off x="476250" y="476250"/>
            <a:ext cx="91440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</p:txBody>
      </p:sp>
      <p:sp>
        <p:nvSpPr>
          <p:cNvPr id="28" name="Text 21"/>
          <p:cNvSpPr/>
          <p:nvPr/>
        </p:nvSpPr>
        <p:spPr>
          <a:xfrm>
            <a:off x="4695584" y="3424302"/>
            <a:ext cx="2743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0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Storage</a:t>
            </a:r>
            <a:endParaRPr lang="en-US" sz="1875" dirty="0"/>
          </a:p>
        </p:txBody>
      </p:sp>
      <p:sp>
        <p:nvSpPr>
          <p:cNvPr id="29" name="Text 22"/>
          <p:cNvSpPr/>
          <p:nvPr/>
        </p:nvSpPr>
        <p:spPr>
          <a:xfrm>
            <a:off x="476250" y="1384935"/>
            <a:ext cx="914400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3405187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4714273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2426583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 rot="5400000">
            <a:off x="3405187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 rot="5400000">
            <a:off x="5692878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5"/>
          <p:cNvSpPr/>
          <p:nvPr/>
        </p:nvSpPr>
        <p:spPr>
          <a:xfrm rot="5400000">
            <a:off x="5692878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 rot="5400000">
            <a:off x="1117497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 rot="5400000">
            <a:off x="1117497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7001964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9"/>
          <p:cNvSpPr/>
          <p:nvPr/>
        </p:nvSpPr>
        <p:spPr>
          <a:xfrm>
            <a:off x="144434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0"/>
          <p:cNvSpPr/>
          <p:nvPr/>
        </p:nvSpPr>
        <p:spPr>
          <a:xfrm>
            <a:off x="141184" y="142875"/>
            <a:ext cx="2743200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14"/>
              </a:lnSpc>
            </a:pPr>
            <a:r>
              <a:rPr lang="en-US" sz="700" b="0" kern="0" spc="24" dirty="0">
                <a:solidFill>
                  <a:srgbClr val="FFFA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COMPANY NAME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2428875" y="142875"/>
            <a:ext cx="2743200" cy="1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14"/>
              </a:lnSpc>
            </a:pPr>
            <a:r>
              <a:rPr lang="en-US" sz="700" b="0" kern="0" spc="24" dirty="0">
                <a:solidFill>
                  <a:srgbClr val="FFFA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 JANUARY 2024</a:t>
            </a:r>
            <a:endParaRPr lang="en-US" sz="675" dirty="0"/>
          </a:p>
        </p:txBody>
      </p:sp>
      <p:pic>
        <p:nvPicPr>
          <p:cNvPr id="15" name="Image 0" descr="https://pitch-assets-ccb95893-de3f-4266-973c-20049231b248.s3.eu-west-1.amazonaws.com/f707ad50-6024-4faa-8e6f-be9e20d061ec?pitch-bytes=102917&amp;pitch-content-type=image%2F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30095"/>
            <a:ext cx="5686921" cy="36212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1167" y="228743"/>
            <a:ext cx="548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250"/>
              </a:lnSpc>
            </a:pPr>
            <a:r>
              <a:rPr lang="en-US" sz="1800" b="1" kern="0" spc="-24" dirty="0">
                <a:solidFill>
                  <a:srgbClr val="E146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ORACLE CLOUD INFRASTRUCTURE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5405167" y="705263"/>
            <a:ext cx="3657600" cy="407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OCI je navržen tak, aby poskytoval výkonné, bezpečné a škálovatelné cloudové prostředí pro běh podnikových aplikací a služeb.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OCI se integruje s dalšími službami Oracle Cloud, jako jsou Oracle Database, Kubernetes, Big Data a další.</a:t>
            </a: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Zahrnuje autonomní správu a provoz, což umožňuje automatizované správu a optimalizaci zdrojů.</a:t>
            </a: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OCI nabízí vysoký výkon, bezpečnost,  škálovatelnost a dostupnost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3405187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4714273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2426583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 rot="5400000">
            <a:off x="3405187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 rot="5400000">
            <a:off x="5692878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5"/>
          <p:cNvSpPr/>
          <p:nvPr/>
        </p:nvSpPr>
        <p:spPr>
          <a:xfrm rot="5400000">
            <a:off x="5692878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 rot="5400000">
            <a:off x="1117497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 rot="5400000">
            <a:off x="1117497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7001964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9"/>
          <p:cNvSpPr/>
          <p:nvPr/>
        </p:nvSpPr>
        <p:spPr>
          <a:xfrm>
            <a:off x="144434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0"/>
          <p:cNvSpPr/>
          <p:nvPr/>
        </p:nvSpPr>
        <p:spPr>
          <a:xfrm>
            <a:off x="141184" y="142875"/>
            <a:ext cx="274320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14"/>
              </a:lnSpc>
            </a:pPr>
            <a:r>
              <a:rPr lang="en-US" sz="700" b="0" kern="0" spc="24" dirty="0">
                <a:solidFill>
                  <a:srgbClr val="FFFA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COMPANY NAME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2428875" y="142875"/>
            <a:ext cx="274320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14"/>
              </a:lnSpc>
            </a:pPr>
            <a:r>
              <a:rPr lang="en-US" sz="700" b="0" kern="0" spc="24" dirty="0">
                <a:solidFill>
                  <a:srgbClr val="FFFA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 JANUARY 2024</a:t>
            </a:r>
            <a:endParaRPr lang="en-US" sz="675" dirty="0"/>
          </a:p>
        </p:txBody>
      </p:sp>
      <p:pic>
        <p:nvPicPr>
          <p:cNvPr id="15" name="Image 0" descr="https://pitch-assets-ccb95893-de3f-4266-973c-20049231b248.s3.eu-west-1.amazonaws.com/bb69424f-0ef6-47fd-a0ec-27164587fa4f?pitch-bytes=95806&amp;pitch-content-type=image%2Fjpeg"/>
          <p:cNvPicPr>
            <a:picLocks noChangeAspect="1"/>
          </p:cNvPicPr>
          <p:nvPr/>
        </p:nvPicPr>
        <p:blipFill>
          <a:blip r:embed="rId3">
            <a:alphaModFix amt="78000"/>
          </a:blip>
          <a:srcRect l="26460" t="17579" r="26895" b="16416"/>
          <a:stretch/>
        </p:blipFill>
        <p:spPr>
          <a:xfrm>
            <a:off x="0" y="1039878"/>
            <a:ext cx="4572000" cy="335708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786" y="228743"/>
            <a:ext cx="6400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250"/>
              </a:lnSpc>
            </a:pPr>
            <a:r>
              <a:rPr lang="en-US" sz="2300" b="1" kern="0" spc="-24" dirty="0">
                <a:solidFill>
                  <a:srgbClr val="E146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ORACLE AUTONOMOUS DATABASE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4675439" y="705263"/>
            <a:ext cx="4572000" cy="407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Jedná se o plně autonomní relační databázi, která vyžaduje minimální lidský zásah při správě a provozu.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Díky integrovaným mechanismům vysoké dostupnosti a odolnosti je Autonomous Database vhodná pro kritické podnikové aplikace.</a:t>
            </a: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Autonomous Database zahrnuje integrované bezpečnostní funkce, včetně šifrování dat, auditování a odhalování hrozeb.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Příklady úspěšného nasazení Autonomous Database v různých odvětvích a podnikových prostředích. Tyto příklady ilustrují výkonnost, spolehlivost a efektivitu Autonomous Database při zpracování kritických podnikových dat.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3441331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4751578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2445212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 rot="5400000">
            <a:off x="3441331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 rot="5400000">
            <a:off x="5747696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5"/>
          <p:cNvSpPr/>
          <p:nvPr/>
        </p:nvSpPr>
        <p:spPr>
          <a:xfrm rot="5400000">
            <a:off x="5747696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 rot="5400000">
            <a:off x="1134965" y="1312608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 rot="5400000">
            <a:off x="1134965" y="3836194"/>
            <a:ext cx="2333625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7057943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9"/>
          <p:cNvSpPr/>
          <p:nvPr/>
        </p:nvSpPr>
        <p:spPr>
          <a:xfrm>
            <a:off x="144434" y="2575279"/>
            <a:ext cx="2017486" cy="0"/>
          </a:xfrm>
          <a:prstGeom prst="line">
            <a:avLst/>
          </a:prstGeom>
          <a:solidFill>
            <a:srgbClr val="000000">
              <a:alpha val="10000"/>
            </a:srgbClr>
          </a:solidFill>
          <a:ln w="10583">
            <a:solidFill>
              <a:srgbClr val="000000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0"/>
          <p:cNvSpPr/>
          <p:nvPr/>
        </p:nvSpPr>
        <p:spPr>
          <a:xfrm>
            <a:off x="142343" y="531905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3000" b="1" kern="0" spc="-24" dirty="0">
                <a:solidFill>
                  <a:srgbClr val="E146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ORACLE CLOUD APPLICATIONS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41184" y="142875"/>
            <a:ext cx="274320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14"/>
              </a:lnSpc>
            </a:pPr>
            <a:r>
              <a:rPr lang="en-US" sz="700" b="0" kern="0" spc="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COMPANY NAME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6998581" y="142875"/>
            <a:ext cx="274320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114"/>
              </a:lnSpc>
            </a:pPr>
            <a:r>
              <a:rPr lang="en-US" sz="700" b="0" kern="0" spc="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 JANUARY 2024</a:t>
            </a:r>
            <a:endParaRPr lang="en-US" sz="675" dirty="0"/>
          </a:p>
        </p:txBody>
      </p:sp>
      <p:pic>
        <p:nvPicPr>
          <p:cNvPr id="16" name="Image 0" descr="https://pitch-assets-ccb95893-de3f-4266-973c-20049231b248.s3.eu-west-1.amazonaws.com/6348fe22-8a63-40ca-ac65-3e4db438aee7?pitch-bytes=5072&amp;pitch-content-type=image%2Fpng"/>
          <p:cNvPicPr>
            <a:picLocks noChangeAspect="1"/>
          </p:cNvPicPr>
          <p:nvPr/>
        </p:nvPicPr>
        <p:blipFill>
          <a:blip r:embed="rId3"/>
          <a:srcRect r="1277"/>
          <a:stretch/>
        </p:blipFill>
        <p:spPr>
          <a:xfrm>
            <a:off x="4708072" y="1218378"/>
            <a:ext cx="2001279" cy="2000250"/>
          </a:xfrm>
          <a:prstGeom prst="rect">
            <a:avLst/>
          </a:prstGeom>
        </p:spPr>
      </p:pic>
      <p:pic>
        <p:nvPicPr>
          <p:cNvPr id="17" name="Image 1" descr="https://pitch-assets-ccb95893-de3f-4266-973c-20049231b248.s3.eu-west-1.amazonaws.com/2e75a2bc-e661-4fd3-a133-61c4c13b7d43?pitch-bytes=35095&amp;pitch-content-type=image%2Fjpeg"/>
          <p:cNvPicPr>
            <a:picLocks noChangeAspect="1"/>
          </p:cNvPicPr>
          <p:nvPr/>
        </p:nvPicPr>
        <p:blipFill>
          <a:blip r:embed="rId4"/>
          <a:srcRect l="16441" r="17118"/>
          <a:stretch/>
        </p:blipFill>
        <p:spPr>
          <a:xfrm>
            <a:off x="138233" y="1218378"/>
            <a:ext cx="1992489" cy="2000250"/>
          </a:xfrm>
          <a:prstGeom prst="rect">
            <a:avLst/>
          </a:prstGeom>
        </p:spPr>
      </p:pic>
      <p:pic>
        <p:nvPicPr>
          <p:cNvPr id="18" name="Image 2" descr="https://pitch-assets-ccb95893-de3f-4266-973c-20049231b248.s3.eu-west-1.amazonaws.com/3f735957-b226-4c35-80da-8720b06c4098?pitch-bytes=19321&amp;pitch-content-type=image%2Fpng"/>
          <p:cNvPicPr>
            <a:picLocks noChangeAspect="1"/>
          </p:cNvPicPr>
          <p:nvPr/>
        </p:nvPicPr>
        <p:blipFill>
          <a:blip r:embed="rId5"/>
          <a:srcRect l="22375" t="3041" r="22375" b="3041"/>
          <a:stretch/>
        </p:blipFill>
        <p:spPr>
          <a:xfrm>
            <a:off x="2467259" y="1218378"/>
            <a:ext cx="1945837" cy="2000250"/>
          </a:xfrm>
          <a:prstGeom prst="rect">
            <a:avLst/>
          </a:prstGeom>
        </p:spPr>
      </p:pic>
      <p:pic>
        <p:nvPicPr>
          <p:cNvPr id="19" name="Image 3" descr="https://pitch-assets-ccb95893-de3f-4266-973c-20049231b248.s3.eu-west-1.amazonaws.com/3d870bd8-b78c-45e4-a08c-196e080927bd?pitch-bytes=2144&amp;pitch-content-type=image%2Fpng"/>
          <p:cNvPicPr>
            <a:picLocks noChangeAspect="1"/>
          </p:cNvPicPr>
          <p:nvPr/>
        </p:nvPicPr>
        <p:blipFill>
          <a:blip r:embed="rId6"/>
          <a:srcRect b="51"/>
          <a:stretch/>
        </p:blipFill>
        <p:spPr>
          <a:xfrm>
            <a:off x="6991960" y="1218378"/>
            <a:ext cx="2001279" cy="20002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3621" y="3576078"/>
            <a:ext cx="2743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1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 Relationship Management</a:t>
            </a:r>
            <a:endParaRPr lang="en-US" sz="1125" dirty="0"/>
          </a:p>
        </p:txBody>
      </p:sp>
      <p:sp>
        <p:nvSpPr>
          <p:cNvPr id="21" name="Text 14"/>
          <p:cNvSpPr/>
          <p:nvPr/>
        </p:nvSpPr>
        <p:spPr>
          <a:xfrm>
            <a:off x="143236" y="3281280"/>
            <a:ext cx="2743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1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CRM</a:t>
            </a:r>
            <a:endParaRPr lang="en-US" sz="1875" dirty="0"/>
          </a:p>
        </p:txBody>
      </p:sp>
      <p:sp>
        <p:nvSpPr>
          <p:cNvPr id="22" name="Text 15"/>
          <p:cNvSpPr/>
          <p:nvPr/>
        </p:nvSpPr>
        <p:spPr>
          <a:xfrm>
            <a:off x="2420935" y="3970525"/>
            <a:ext cx="274320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Poskytuje integrované řešení pro správu podnikových procesů, včetně financí, výroby, dodavatelského řetězce a lidských zdrojů.</a:t>
            </a:r>
            <a:endParaRPr lang="en-US" sz="1125" dirty="0"/>
          </a:p>
        </p:txBody>
      </p:sp>
      <p:sp>
        <p:nvSpPr>
          <p:cNvPr id="23" name="Text 16"/>
          <p:cNvSpPr/>
          <p:nvPr/>
        </p:nvSpPr>
        <p:spPr>
          <a:xfrm>
            <a:off x="2420935" y="3272434"/>
            <a:ext cx="2743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1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ERP</a:t>
            </a:r>
            <a:endParaRPr lang="en-US" sz="1875" dirty="0"/>
          </a:p>
        </p:txBody>
      </p:sp>
      <p:sp>
        <p:nvSpPr>
          <p:cNvPr id="24" name="Text 17"/>
          <p:cNvSpPr/>
          <p:nvPr/>
        </p:nvSpPr>
        <p:spPr>
          <a:xfrm>
            <a:off x="4694422" y="3970525"/>
            <a:ext cx="274320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Umožňuje správu lidských zdrojů, včetně náboru, zaměstnaneckých informací, výkonnosti a vývoje zaměstnanců.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6998033" y="3595800"/>
            <a:ext cx="2743200" cy="1071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Kromě CRM, ERP a HCM nabízí Oracle Cloud také další aplikace a vertikální řešení pro různé odvětví a specifické podnikové potřeby.</a:t>
            </a:r>
            <a:endParaRPr lang="en-US" sz="1125" dirty="0"/>
          </a:p>
        </p:txBody>
      </p:sp>
      <p:sp>
        <p:nvSpPr>
          <p:cNvPr id="26" name="Text 19"/>
          <p:cNvSpPr/>
          <p:nvPr/>
        </p:nvSpPr>
        <p:spPr>
          <a:xfrm>
            <a:off x="6998033" y="3279009"/>
            <a:ext cx="2743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1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DALŠÍ</a:t>
            </a:r>
            <a:endParaRPr lang="en-US" sz="1875" dirty="0"/>
          </a:p>
        </p:txBody>
      </p:sp>
      <p:sp>
        <p:nvSpPr>
          <p:cNvPr id="27" name="Text 20"/>
          <p:cNvSpPr/>
          <p:nvPr/>
        </p:nvSpPr>
        <p:spPr>
          <a:xfrm>
            <a:off x="476250" y="476250"/>
            <a:ext cx="91440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</p:txBody>
      </p:sp>
      <p:sp>
        <p:nvSpPr>
          <p:cNvPr id="28" name="Text 21"/>
          <p:cNvSpPr/>
          <p:nvPr/>
        </p:nvSpPr>
        <p:spPr>
          <a:xfrm>
            <a:off x="4695584" y="3273097"/>
            <a:ext cx="2743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44"/>
              </a:lnSpc>
            </a:pPr>
            <a:r>
              <a:rPr lang="en-US" sz="1900" b="1" kern="0" spc="-24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HCM</a:t>
            </a:r>
            <a:endParaRPr lang="en-US" sz="1875" dirty="0"/>
          </a:p>
        </p:txBody>
      </p:sp>
      <p:sp>
        <p:nvSpPr>
          <p:cNvPr id="29" name="Text 22"/>
          <p:cNvSpPr/>
          <p:nvPr/>
        </p:nvSpPr>
        <p:spPr>
          <a:xfrm>
            <a:off x="476250" y="1384935"/>
            <a:ext cx="914400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</p:txBody>
      </p:sp>
      <p:sp>
        <p:nvSpPr>
          <p:cNvPr id="30" name="Text 23"/>
          <p:cNvSpPr/>
          <p:nvPr/>
        </p:nvSpPr>
        <p:spPr>
          <a:xfrm>
            <a:off x="140827" y="4003396"/>
            <a:ext cx="2743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Umožňuje správu vztahů se zákazníky, marketingové kampaně, prodej a poskytování služeb zákazníkům.</a:t>
            </a:r>
            <a:endParaRPr lang="en-US" sz="1125" dirty="0"/>
          </a:p>
        </p:txBody>
      </p:sp>
      <p:sp>
        <p:nvSpPr>
          <p:cNvPr id="31" name="Text 24"/>
          <p:cNvSpPr/>
          <p:nvPr/>
        </p:nvSpPr>
        <p:spPr>
          <a:xfrm>
            <a:off x="476250" y="2571040"/>
            <a:ext cx="914400" cy="10715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</p:txBody>
      </p:sp>
      <p:sp>
        <p:nvSpPr>
          <p:cNvPr id="32" name="Text 25"/>
          <p:cNvSpPr/>
          <p:nvPr/>
        </p:nvSpPr>
        <p:spPr>
          <a:xfrm>
            <a:off x="2418270" y="3569652"/>
            <a:ext cx="2743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1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Enterprise Resource Planning</a:t>
            </a:r>
            <a:endParaRPr lang="en-US" sz="1125" dirty="0"/>
          </a:p>
        </p:txBody>
      </p:sp>
      <p:sp>
        <p:nvSpPr>
          <p:cNvPr id="33" name="Text 26"/>
          <p:cNvSpPr/>
          <p:nvPr/>
        </p:nvSpPr>
        <p:spPr>
          <a:xfrm>
            <a:off x="4692919" y="3576226"/>
            <a:ext cx="2743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688"/>
              </a:lnSpc>
            </a:pPr>
            <a:r>
              <a:rPr lang="en-US" sz="1100" b="1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Human Capital Management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3405187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1"/>
          <p:cNvSpPr/>
          <p:nvPr/>
        </p:nvSpPr>
        <p:spPr>
          <a:xfrm>
            <a:off x="4714273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2"/>
          <p:cNvSpPr/>
          <p:nvPr/>
        </p:nvSpPr>
        <p:spPr>
          <a:xfrm>
            <a:off x="2426583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 rot="5400000">
            <a:off x="3405187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4"/>
          <p:cNvSpPr/>
          <p:nvPr/>
        </p:nvSpPr>
        <p:spPr>
          <a:xfrm rot="5400000">
            <a:off x="5692878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5"/>
          <p:cNvSpPr/>
          <p:nvPr/>
        </p:nvSpPr>
        <p:spPr>
          <a:xfrm rot="5400000">
            <a:off x="5692878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6"/>
          <p:cNvSpPr/>
          <p:nvPr/>
        </p:nvSpPr>
        <p:spPr>
          <a:xfrm rot="5400000">
            <a:off x="1117497" y="1312608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 rot="5400000">
            <a:off x="1117497" y="3836194"/>
            <a:ext cx="2333625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7001964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9"/>
          <p:cNvSpPr/>
          <p:nvPr/>
        </p:nvSpPr>
        <p:spPr>
          <a:xfrm>
            <a:off x="144434" y="2575279"/>
            <a:ext cx="2001150" cy="0"/>
          </a:xfrm>
          <a:prstGeom prst="line">
            <a:avLst/>
          </a:prstGeom>
          <a:solidFill>
            <a:srgbClr val="000000">
              <a:alpha val="20000"/>
            </a:srgbClr>
          </a:solidFill>
          <a:ln w="10583">
            <a:solidFill>
              <a:srgbClr val="000000">
                <a:alpha val="2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0"/>
          <p:cNvSpPr/>
          <p:nvPr/>
        </p:nvSpPr>
        <p:spPr>
          <a:xfrm>
            <a:off x="141184" y="142875"/>
            <a:ext cx="274320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14"/>
              </a:lnSpc>
            </a:pPr>
            <a:r>
              <a:rPr lang="en-US" sz="700" b="0" kern="0" spc="24" dirty="0">
                <a:solidFill>
                  <a:srgbClr val="FFFA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COMPANY NAME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2428875" y="142875"/>
            <a:ext cx="274320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14"/>
              </a:lnSpc>
            </a:pPr>
            <a:r>
              <a:rPr lang="en-US" sz="700" b="0" kern="0" spc="24" dirty="0">
                <a:solidFill>
                  <a:srgbClr val="FFFAF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31 JANUARY 2024</a:t>
            </a:r>
            <a:endParaRPr lang="en-US" sz="675" dirty="0"/>
          </a:p>
        </p:txBody>
      </p:sp>
      <p:pic>
        <p:nvPicPr>
          <p:cNvPr id="15" name="Image 0" descr="https://pitch-assets-ccb95893-de3f-4266-973c-20049231b248.s3.eu-west-1.amazonaws.com/bb69424f-0ef6-47fd-a0ec-27164587fa4f?pitch-bytes=95806&amp;pitch-content-type=image%2Fjpeg"/>
          <p:cNvPicPr>
            <a:picLocks noChangeAspect="1"/>
          </p:cNvPicPr>
          <p:nvPr/>
        </p:nvPicPr>
        <p:blipFill>
          <a:blip r:embed="rId3">
            <a:alphaModFix amt="78000"/>
          </a:blip>
          <a:srcRect l="26460" t="17579" r="26895" b="16416"/>
          <a:stretch/>
        </p:blipFill>
        <p:spPr>
          <a:xfrm>
            <a:off x="0" y="1039878"/>
            <a:ext cx="4572000" cy="335708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786" y="228743"/>
            <a:ext cx="6400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lnSpc>
                <a:spcPts val="2250"/>
              </a:lnSpc>
            </a:pPr>
            <a:r>
              <a:rPr lang="en-US" sz="2300" b="1" kern="0" spc="-24" dirty="0">
                <a:solidFill>
                  <a:srgbClr val="E1463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ORACLE CLOUD PLATFORM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4675439" y="705263"/>
            <a:ext cx="4572000" cy="407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Jedná se o plně autonomní relační databázi, která vyžaduje minimální lidský zásah při správě a provozu.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Díky integrovaným mechanismům vysoké dostupnosti a odolnosti je Autonomous Database vhodná pro kritické podnikové aplikace.</a:t>
            </a: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Autonomous Database zahrnuje integrované bezpečnostní funkce, včetně šifrování dat, auditování a odhalování hrozeb.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  <a:p>
            <a:pPr marL="190500" indent="-190500" algn="l">
              <a:lnSpc>
                <a:spcPts val="1688"/>
              </a:lnSpc>
              <a:buSzPct val="100000"/>
              <a:buChar char="•"/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Příklady úspěšného nasazení Autonomous Database v různých odvětvích a podnikových prostředích. Tyto příklady ilustrují výkonnost, spolehlivost a efektivitu Autonomous Database při zpracování kritických podnikových dat.</a:t>
            </a:r>
            <a:endParaRPr lang="en-US" sz="1125" dirty="0"/>
          </a:p>
          <a:p>
            <a:pPr algn="l">
              <a:lnSpc>
                <a:spcPts val="1688"/>
              </a:lnSpc>
            </a:pPr>
            <a:endParaRPr lang="en-US" sz="1125" dirty="0"/>
          </a:p>
          <a:p>
            <a:pPr algn="l">
              <a:lnSpc>
                <a:spcPts val="1688"/>
              </a:lnSpc>
            </a:pPr>
            <a:r>
              <a:rPr lang="en-US" sz="1100" b="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​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Microsoft Office PowerPoint</Application>
  <PresentationFormat>Předvádění na obrazovce (16:9)</PresentationFormat>
  <Paragraphs>141</Paragraphs>
  <Slides>9</Slides>
  <Notes>9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Arial</vt:lpstr>
      <vt:lpstr>Söhne</vt:lpstr>
      <vt:lpstr>Syne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