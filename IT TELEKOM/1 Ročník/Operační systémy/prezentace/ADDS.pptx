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73" r:id="rId17"/>
    <p:sldId id="274" r:id="rId18"/>
    <p:sldId id="275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13B0D-93FF-4F9B-A10E-25C36923DC85}" v="2" dt="2024-02-21T09:17:55.794"/>
    <p1510:client id="{FB5ECE95-0791-4AB6-A701-8111FA7F1763}" v="29" dt="2024-02-11T18:51:23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C25F44-6048-1083-376F-4C156BACA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0ACBD13-7E64-60B9-9C51-73D084B6A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4E3F12-C1BD-7108-07DB-10B5EADD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7F5F4D-4E21-A55C-F21F-D6B1D88E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352BD4-0A05-FDF8-6B09-5126DF1F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61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718698-0011-B4C5-3278-70871B00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40ECB8-0B08-A794-6E3B-B0DFAE2BC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89686C-A2AF-8558-1681-76197453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4D14B1-7BB5-3E67-00C9-F8A19E12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6F17EB-3D79-C540-2C90-73FDDAE7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29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8D0EA7-7363-2CD4-6467-ECF0DADE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28AEFA-BC97-0502-B397-019131A36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A4CC20-6934-F467-50D9-EC0E29CC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7906E3-6975-1030-CE91-0BE522B0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344288-D451-8568-EEA6-BADEA867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882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7B8715-2B4F-EEC9-85F5-22556C6D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38A63D-A21C-6ABA-2C82-7A9D3EC73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6DC0BC-F0E2-3A0D-8FCF-4BC3ED174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15B7063-3465-E3F5-6AA2-0A6645B2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F194C1E-0FA7-76EA-1AA1-6D565962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31EB7F-2250-7F3B-9CEA-3754B241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245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CCB614-937B-CEF7-5397-5AA7C8B6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1AAE267-E8B2-F4AB-553B-BBC6DB3B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79EEEB9-531C-4CB5-28D3-DDF7BBE1C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A571CDF-A3CC-9048-52AB-502663210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E95FBBF-01B4-85D5-3309-6766E1627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8C440A9-C8A9-349A-0146-36C22361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1BADF5B-9605-BC20-8CB4-B1D3BC72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D0F9EC8-769B-8F19-5FD7-33EFCE75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744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E94252-19E9-2584-C3B8-F1AF933E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93E9BA0-0BE2-E0C1-066E-BCB28AE5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4CE0A5B-673A-B0A6-8092-576BC058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1EE0F97-8DBA-A578-849B-72E5731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270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49E3F93-D356-9B8D-B625-D2FCD8EA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24D3ECE-08FD-C3D1-79FE-DDB42700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A7C1CF-0EC9-046C-A660-CAA9C876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894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91AC81-9C32-8AE7-4B10-DED221B4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F06875-9A35-A06C-5639-134CADCF4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6F3ADBB-F90A-36B7-1334-554AB2793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00D6E57-2A14-1E84-F128-DE0A2E62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6DC39BD-5B93-D0CC-0C68-2549EEE7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1C931AF-731E-1D5B-083C-293E7E1D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536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216F15-704A-C473-2FF1-74652B53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084AAF6-60B4-A473-B928-9D3A1A300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C2FDE7-6D5D-F4E1-7F0D-0E5320A40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3AE17A7-2565-4065-73C9-66DF8777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94DF2D9-AEAC-2864-01E6-422399F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4C4FFF-A760-DB20-415E-C3532506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853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E6B661-C308-41F5-394F-7651F755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3BCCF70-108A-15E2-5BDD-36889BAA0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9D27DC-1A7C-C57F-4014-462C7010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C0CD63-5A0B-8BCC-AEBE-FF8C1FC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B049E28-32F1-32F8-2BF6-F17E270F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568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79BA05D-97DE-2F14-0378-80B15353D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B9A778A-7666-86BC-A89A-12E993A83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A91F5AC-3BE9-E275-074C-EB58CA8E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9EDC6BA-EA9F-D2A2-3BB3-8DB71730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1467251-2D88-96E8-CDF2-3AAD7762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167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771173C-60D2-1473-EA2B-C61F0FDC0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E0DA17-2418-4F0E-EE0F-B1C0DB91F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2098CC-3973-196C-4D0E-33EE44DF0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F8BA1-2572-45CA-AD1A-A7A801170783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1035C9-9DBF-977F-6A75-20A38D01D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29BF34-CDE6-3F83-3F90-8EAD08E1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777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1592FB-2247-48E5-E88B-2CB046AFE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cs-CZ" dirty="0"/>
              <a:t>AD DS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A475FF-FA1A-4FF6-80F0-04F9B5FC3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cs-CZ"/>
              <a:t>Active</a:t>
            </a:r>
            <a:r>
              <a:rPr lang="cs-CZ" dirty="0"/>
              <a:t> </a:t>
            </a:r>
            <a:r>
              <a:rPr lang="cs-CZ"/>
              <a:t>Directory</a:t>
            </a:r>
            <a:r>
              <a:rPr lang="cs-CZ" dirty="0"/>
              <a:t> </a:t>
            </a:r>
            <a:r>
              <a:rPr lang="cs-CZ"/>
              <a:t>Domain</a:t>
            </a:r>
            <a:r>
              <a:rPr lang="cs-CZ" dirty="0"/>
              <a:t> </a:t>
            </a:r>
            <a:r>
              <a:rPr lang="cs-CZ"/>
              <a:t>Services</a:t>
            </a:r>
            <a:endParaRPr lang="cs-CZ" dirty="0"/>
          </a:p>
        </p:txBody>
      </p:sp>
      <p:sp>
        <p:nvSpPr>
          <p:cNvPr id="49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Obrázek 3" descr="Obsah obrázku snímek obrazovky, kruh, Grafika, Písmo&#10;&#10;Popis byl vytvořen automaticky">
            <a:extLst>
              <a:ext uri="{FF2B5EF4-FFF2-40B4-BE49-F238E27FC236}">
                <a16:creationId xmlns:a16="http://schemas.microsoft.com/office/drawing/2014/main" id="{76256234-3407-F5F7-9C3B-85CB0D330B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178" r="4349" b="1"/>
          <a:stretch/>
        </p:blipFill>
        <p:spPr>
          <a:xfrm>
            <a:off x="1634366" y="1926927"/>
            <a:ext cx="3004145" cy="3004145"/>
          </a:xfrm>
          <a:prstGeom prst="rect">
            <a:avLst/>
          </a:prstGeom>
        </p:spPr>
      </p:pic>
      <p:sp>
        <p:nvSpPr>
          <p:cNvPr id="54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9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6C144E-B867-582B-22A1-2DCF02AE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Úvod </a:t>
            </a:r>
          </a:p>
        </p:txBody>
      </p:sp>
      <p:sp>
        <p:nvSpPr>
          <p:cNvPr id="2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6373CD60-CB9B-F802-CD56-4F556F4B1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/>
              <a:t>AD DS je centralizovaná databázová služba v operačním systému Microsoft Windows Server, která umožňuje správu uživatelů, počítačů, skupin a dalších síťových objektů v hierarchické struktuře.</a:t>
            </a:r>
          </a:p>
          <a:p>
            <a:r>
              <a:rPr lang="cs-CZ"/>
              <a:t>Umožňuje organizacím centralizovaně spravovat přístup k síťovým zdrojům a aplikacím a zjednodušuje provoz a správu síťové infrastruktury.</a:t>
            </a:r>
          </a:p>
        </p:txBody>
      </p:sp>
    </p:spTree>
    <p:extLst>
      <p:ext uri="{BB962C8B-B14F-4D97-AF65-F5344CB8AC3E}">
        <p14:creationId xmlns:p14="http://schemas.microsoft.com/office/powerpoint/2010/main" val="249197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93CABA3-998A-116A-BFAA-6547896A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Role AD DS</a:t>
            </a:r>
            <a:endParaRPr lang="cs-CZ" dirty="0"/>
          </a:p>
        </p:txBody>
      </p:sp>
      <p:sp>
        <p:nvSpPr>
          <p:cNvPr id="2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69EB10-405A-CBFA-D5B8-2075D5B5C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Klíčové funkce AD DS:</a:t>
            </a:r>
          </a:p>
          <a:p>
            <a:pPr lvl="1"/>
            <a:r>
              <a:rPr lang="cs-CZ"/>
              <a:t>Autentizace: AD DS poskytuje mechanismy pro ověřování identit uživatelů a udělování přístupových práv k síťovým zdrojům.</a:t>
            </a:r>
          </a:p>
          <a:p>
            <a:pPr lvl="1"/>
            <a:r>
              <a:rPr lang="cs-CZ"/>
              <a:t>Autorizace: Definuje práva a oprávnění, která určují, ke kterým zdrojům mají uživatelé přístup.</a:t>
            </a:r>
          </a:p>
          <a:p>
            <a:pPr lvl="1"/>
            <a:r>
              <a:rPr lang="cs-CZ"/>
              <a:t>Správa: Umožňuje centralizovanou správu uživatelských účtů, počítačů, skupin a dalších síťových objektů.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8562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6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7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BBF345-87C2-B225-C3AD-8EE80A67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Struktura AD DS</a:t>
            </a:r>
            <a:endParaRPr lang="cs-CZ" dirty="0"/>
          </a:p>
        </p:txBody>
      </p:sp>
      <p:sp>
        <p:nvSpPr>
          <p:cNvPr id="121" name="Arc 7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Zástupný obsah 2">
            <a:extLst>
              <a:ext uri="{FF2B5EF4-FFF2-40B4-BE49-F238E27FC236}">
                <a16:creationId xmlns:a16="http://schemas.microsoft.com/office/drawing/2014/main" id="{AE1ED70C-5C82-82CD-BD33-34815C75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855" y="2054582"/>
            <a:ext cx="4083433" cy="3323987"/>
          </a:xfrm>
        </p:spPr>
        <p:txBody>
          <a:bodyPr>
            <a:normAutofit/>
          </a:bodyPr>
          <a:lstStyle/>
          <a:p>
            <a:pPr lvl="1" algn="just"/>
            <a:r>
              <a:rPr lang="cs-CZ" b="1" dirty="0" err="1"/>
              <a:t>Forest</a:t>
            </a:r>
            <a:r>
              <a:rPr lang="cs-CZ" b="1" dirty="0"/>
              <a:t>: </a:t>
            </a:r>
            <a:r>
              <a:rPr lang="cs-CZ" dirty="0"/>
              <a:t>Je nejvyšší úrovní hierarchie AD DS a může obsahovat jednu nebo více domén. Každý </a:t>
            </a:r>
            <a:r>
              <a:rPr lang="cs-CZ" dirty="0" err="1"/>
              <a:t>forest</a:t>
            </a:r>
            <a:r>
              <a:rPr lang="cs-CZ" dirty="0"/>
              <a:t> má svou vlastní globální katalogovou službu, která obsahuje informace o všech objektech v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3BE6B64-3D76-124A-8F7B-9DDDD7D5140A}"/>
              </a:ext>
            </a:extLst>
          </p:cNvPr>
          <p:cNvSpPr txBox="1"/>
          <p:nvPr/>
        </p:nvSpPr>
        <p:spPr>
          <a:xfrm>
            <a:off x="851189" y="2055812"/>
            <a:ext cx="37879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cs-CZ" sz="2400" b="1" dirty="0"/>
              <a:t>Doména: </a:t>
            </a:r>
            <a:r>
              <a:rPr lang="cs-CZ" sz="2400" dirty="0"/>
              <a:t>Je logická skupina síťových objektů, jako jsou uživatelé, skupiny a počítače, které sdílejí společnou databázi uživatelů a zabezpečení.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018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AB6647-C87B-047A-58E7-0C7E6402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Hierarchie AD DS</a:t>
            </a:r>
            <a:endParaRPr lang="cs-CZ" dirty="0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9DE7C-BC92-22B7-8F5D-C5407CAF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/>
              <a:t>Stromová struktura:</a:t>
            </a:r>
          </a:p>
          <a:p>
            <a:pPr lvl="1"/>
            <a:r>
              <a:rPr lang="cs-CZ"/>
              <a:t>AD DS používá hierarchickou stromovou strukturu k organizaci forestů, domén a poddomén.</a:t>
            </a:r>
          </a:p>
          <a:p>
            <a:pPr lvl="1"/>
            <a:r>
              <a:rPr lang="cs-CZ"/>
              <a:t>Stromová struktura umožňuje organizacím implementovat logickou organizaci podle svých potřeb a infrastrukturních požadavků.</a:t>
            </a:r>
            <a:endParaRPr lang="cs-CZ" dirty="0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0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7FBBF6-FC35-2ED2-C243-CF8B6DCA7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9464" y="1999008"/>
            <a:ext cx="5793409" cy="325879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c 103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5A1EE0-6C27-48B1-4C59-934D4627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cs-CZ" dirty="0"/>
              <a:t>Úloha </a:t>
            </a:r>
            <a:r>
              <a:rPr lang="cs-CZ" dirty="0" err="1"/>
              <a:t>forestu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51594E-4EA7-4970-1E45-A374361A1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cs-CZ" dirty="0"/>
              <a:t>Definuje hranice důvěry a zabezpečení mezi jednotlivými doménami v rámci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  <a:p>
            <a:r>
              <a:rPr lang="cs-CZ" dirty="0"/>
              <a:t>Umožňuje sdílení politik a konfiguračních údajů mezi všemi doménami a globálními katalogy v rámci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79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E0770D-8EA7-E1E9-BA73-90C7543E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Úloha domény</a:t>
            </a:r>
            <a:endParaRPr lang="cs-CZ" dirty="0"/>
          </a:p>
        </p:txBody>
      </p:sp>
      <p:sp>
        <p:nvSpPr>
          <p:cNvPr id="3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Zástupný obsah 2">
            <a:extLst>
              <a:ext uri="{FF2B5EF4-FFF2-40B4-BE49-F238E27FC236}">
                <a16:creationId xmlns:a16="http://schemas.microsoft.com/office/drawing/2014/main" id="{8A63C64A-07EB-E743-E2DC-BA32A0D7E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Každá doména definuje samostatný rozsah autentizace a autorizace.</a:t>
            </a:r>
          </a:p>
          <a:p>
            <a:r>
              <a:rPr lang="cs-CZ"/>
              <a:t>Umožňuje organizacím spravovat uživatelské účty, skupiny a počítače v rámci definovaného administrativního rozsahu.</a:t>
            </a:r>
          </a:p>
        </p:txBody>
      </p:sp>
    </p:spTree>
    <p:extLst>
      <p:ext uri="{BB962C8B-B14F-4D97-AF65-F5344CB8AC3E}">
        <p14:creationId xmlns:p14="http://schemas.microsoft.com/office/powerpoint/2010/main" val="333657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DAEE48-CF2C-DB42-52C5-C49C4DEE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Správa AD DS</a:t>
            </a:r>
            <a:endParaRPr lang="cs-CZ" dirty="0"/>
          </a:p>
        </p:txBody>
      </p:sp>
      <p:sp>
        <p:nvSpPr>
          <p:cNvPr id="5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EAF621-E0BF-393F-F41C-7817B618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Administrace Active Directory:</a:t>
            </a:r>
          </a:p>
          <a:p>
            <a:pPr lvl="1"/>
            <a:r>
              <a:rPr lang="cs-CZ"/>
              <a:t>Správa uživatelů: Vytváření, úprava a odstraňování uživatelských účtů a nastavování přístupových práv.</a:t>
            </a:r>
          </a:p>
          <a:p>
            <a:pPr lvl="1"/>
            <a:r>
              <a:rPr lang="cs-CZ"/>
              <a:t>Správa skupin: Vytváření a správa skupin pro sdílení zdrojů a definování kolektivních oprávnění.</a:t>
            </a:r>
          </a:p>
          <a:p>
            <a:pPr lvl="1"/>
            <a:r>
              <a:rPr lang="cs-CZ"/>
              <a:t>Správa počítačů: Přidávání a správa počítačů v síti, instalace softwaru a správa aktualizací.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128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339BCB-E565-21AB-228B-D3CBBBA3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Bezpečnost v AD DS </a:t>
            </a:r>
            <a:endParaRPr lang="cs-CZ" dirty="0"/>
          </a:p>
        </p:txBody>
      </p:sp>
      <p:sp>
        <p:nvSpPr>
          <p:cNvPr id="32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7BDBAF-48D2-773E-04D5-CE81F8DB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/>
              <a:t>Zabezpečení Active Directory:</a:t>
            </a:r>
          </a:p>
          <a:p>
            <a:pPr lvl="1"/>
            <a:r>
              <a:rPr lang="cs-CZ"/>
              <a:t>Nastavení silných hesel: Stanovení politiky pro délku a složitost hesel a jejich pravidelné ověřování.</a:t>
            </a:r>
          </a:p>
          <a:p>
            <a:pPr lvl="1"/>
            <a:r>
              <a:rPr lang="cs-CZ"/>
              <a:t>Řízení přístupu: Definování oprávnění a kontrolování přístupu uživatelů k síťovým zdrojům a datům.</a:t>
            </a:r>
          </a:p>
          <a:p>
            <a:pPr lvl="1"/>
            <a:r>
              <a:rPr lang="cs-CZ"/>
              <a:t>Monitorování aktivit: Sledování událostí a aktivit v Active Directory pro detekci potenciálních bezpečnostních hrozeb a incidentů.</a:t>
            </a:r>
            <a:endParaRPr lang="cs-CZ" dirty="0"/>
          </a:p>
        </p:txBody>
      </p:sp>
      <p:sp>
        <p:nvSpPr>
          <p:cNvPr id="33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6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2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2C84A0-BE39-DFCB-1B62-17C877E3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Integrace s dalšími službami</a:t>
            </a:r>
          </a:p>
        </p:txBody>
      </p:sp>
      <p:sp>
        <p:nvSpPr>
          <p:cNvPr id="49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64F722-D435-D9CD-F8AE-5577F0F6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Microsoft Exchange: Integrace pro správu e-mailových schránek a kalendářů.</a:t>
            </a:r>
          </a:p>
          <a:p>
            <a:r>
              <a:rPr lang="cs-CZ"/>
              <a:t>Microsoft SharePoint: Integrace pro sdílení dokumentů a spolupráci v týmu.</a:t>
            </a:r>
          </a:p>
          <a:p>
            <a:r>
              <a:rPr lang="cs-CZ"/>
              <a:t>Další aplikace třetích stran: Integrace prostřednictvím protokolů jako LDAP, Kerberos nebo SAML pro centralizovanou správu přístupu a autentizace.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7858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135A26D-9D47-467E-91F1-31149BF0D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F3F7F3-4E76-A4DA-3D42-EF8B9636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cs-CZ"/>
              <a:t>Zálohování a obnova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19333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4F7D96-97A9-EA2D-1EE8-068DFDA37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cs-CZ"/>
              <a:t>Zálohování databáze AD: Zajištění ochrany dat a struktury Active Directory proti ztrátě dat v důsledku havárie, chybějících dat nebo nechtěných změn.</a:t>
            </a:r>
          </a:p>
          <a:p>
            <a:r>
              <a:rPr lang="cs-CZ"/>
              <a:t>Obnova záloh: Proces obnovy dat a struktury AD ze zálohových kopií v případě havárie, poškození dat nebo jiných událostí způsobujících ztrátu.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0791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76147" y="5530635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6066084"/>
            <a:ext cx="1913062" cy="791916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1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C711CD3-4B0E-FB66-992F-B5950EAC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464399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8D7DD4E4-74A0-0D45-3F29-0BA84E4AC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0902" y="4075940"/>
            <a:ext cx="3365241" cy="4192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1800" dirty="0"/>
              <a:t>1. Otevřete </a:t>
            </a:r>
            <a:r>
              <a:rPr lang="en-US" sz="1800" dirty="0"/>
              <a:t>Server Manager, </a:t>
            </a:r>
            <a:r>
              <a:rPr lang="cs-CZ" sz="1800" dirty="0"/>
              <a:t>zvolte </a:t>
            </a:r>
            <a:r>
              <a:rPr lang="en-US" sz="1800" dirty="0"/>
              <a:t>Tools, </a:t>
            </a:r>
            <a:r>
              <a:rPr lang="cs-CZ" sz="1800" dirty="0"/>
              <a:t>a poté zvolte </a:t>
            </a:r>
            <a:r>
              <a:rPr lang="en-US" sz="1800" dirty="0"/>
              <a:t>Windows Server Backup.</a:t>
            </a:r>
            <a:r>
              <a:rPr lang="cs-CZ" sz="1800" dirty="0"/>
              <a:t> </a:t>
            </a:r>
          </a:p>
          <a:p>
            <a:pPr algn="just"/>
            <a:r>
              <a:rPr lang="cs-CZ" sz="1800" dirty="0"/>
              <a:t>	Ve</a:t>
            </a:r>
            <a:r>
              <a:rPr lang="en-US" sz="1800" dirty="0"/>
              <a:t> Windows Server 2008 R2 a Windows Server 2008, </a:t>
            </a:r>
            <a:r>
              <a:rPr lang="cs-CZ" sz="1800" dirty="0"/>
              <a:t>zvolte </a:t>
            </a:r>
            <a:r>
              <a:rPr lang="en-US" sz="1800" dirty="0"/>
              <a:t>Start, </a:t>
            </a:r>
            <a:r>
              <a:rPr lang="cs-CZ" sz="1800" dirty="0"/>
              <a:t>namiřte na </a:t>
            </a:r>
            <a:r>
              <a:rPr lang="en-US" sz="1800" dirty="0"/>
              <a:t>Administrative Tools, </a:t>
            </a:r>
            <a:r>
              <a:rPr lang="cs-CZ" sz="1800" dirty="0"/>
              <a:t>a poté zvolte </a:t>
            </a:r>
            <a:r>
              <a:rPr lang="en-US" sz="1800" dirty="0"/>
              <a:t>Windows Server Backup.</a:t>
            </a:r>
            <a:endParaRPr lang="cs-CZ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8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5AD2189-6ED0-2205-9732-8D33A3D52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46224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FABF3E43-F368-A571-C41A-86B4466567FB}"/>
              </a:ext>
            </a:extLst>
          </p:cNvPr>
          <p:cNvSpPr txBox="1"/>
          <p:nvPr/>
        </p:nvSpPr>
        <p:spPr>
          <a:xfrm>
            <a:off x="8799480" y="3603887"/>
            <a:ext cx="3296663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2. </a:t>
            </a:r>
            <a:r>
              <a:rPr lang="en-US" dirty="0" err="1"/>
              <a:t>Pokud</a:t>
            </a:r>
            <a:r>
              <a:rPr lang="en-US" dirty="0"/>
              <a:t> </a:t>
            </a:r>
            <a:r>
              <a:rPr lang="en-US" dirty="0" err="1"/>
              <a:t>budete</a:t>
            </a:r>
            <a:r>
              <a:rPr lang="en-US" dirty="0"/>
              <a:t> </a:t>
            </a:r>
            <a:r>
              <a:rPr lang="en-US" dirty="0" err="1"/>
              <a:t>vyzvání</a:t>
            </a:r>
            <a:r>
              <a:rPr lang="en-US" dirty="0"/>
              <a:t>, v User Account Control dialog box, </a:t>
            </a:r>
            <a:r>
              <a:rPr lang="en-US" dirty="0" err="1"/>
              <a:t>zadejte</a:t>
            </a:r>
            <a:r>
              <a:rPr lang="en-US" dirty="0"/>
              <a:t> Backup Operator </a:t>
            </a:r>
            <a:r>
              <a:rPr lang="en-US" dirty="0" err="1"/>
              <a:t>údaje</a:t>
            </a:r>
            <a:r>
              <a:rPr lang="en-US" dirty="0"/>
              <a:t>,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OK.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3. </a:t>
            </a:r>
            <a:r>
              <a:rPr lang="en-US" dirty="0" err="1"/>
              <a:t>Zvolte</a:t>
            </a:r>
            <a:r>
              <a:rPr lang="en-US" dirty="0"/>
              <a:t> Local Backup.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4. V Action menu, </a:t>
            </a:r>
            <a:r>
              <a:rPr lang="en-US" dirty="0" err="1"/>
              <a:t>zvolte</a:t>
            </a:r>
            <a:r>
              <a:rPr lang="en-US" dirty="0"/>
              <a:t> Backup once.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5. V Backup Once Wizard, </a:t>
            </a:r>
            <a:r>
              <a:rPr lang="en-US" dirty="0" err="1"/>
              <a:t>zvolte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Backup options </a:t>
            </a:r>
            <a:r>
              <a:rPr lang="en-US" dirty="0" err="1"/>
              <a:t>stránce</a:t>
            </a:r>
            <a:r>
              <a:rPr lang="en-US" dirty="0"/>
              <a:t> Different options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Next.</a:t>
            </a:r>
          </a:p>
        </p:txBody>
      </p:sp>
    </p:spTree>
    <p:extLst>
      <p:ext uri="{BB962C8B-B14F-4D97-AF65-F5344CB8AC3E}">
        <p14:creationId xmlns:p14="http://schemas.microsoft.com/office/powerpoint/2010/main" val="294955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201E4848-14DE-D7E8-E8A2-6B1BCCBF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51624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400860E3-3116-75B2-09EC-FC91910DC13A}"/>
              </a:ext>
            </a:extLst>
          </p:cNvPr>
          <p:cNvSpPr txBox="1"/>
          <p:nvPr/>
        </p:nvSpPr>
        <p:spPr>
          <a:xfrm>
            <a:off x="8823632" y="3955288"/>
            <a:ext cx="3272511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6. Na Select backup configuration </a:t>
            </a:r>
            <a:r>
              <a:rPr lang="en-US" dirty="0" err="1"/>
              <a:t>stránce</a:t>
            </a:r>
            <a:r>
              <a:rPr lang="en-US" dirty="0"/>
              <a:t>, </a:t>
            </a:r>
            <a:r>
              <a:rPr lang="en-US" dirty="0" err="1"/>
              <a:t>zvolte</a:t>
            </a:r>
            <a:r>
              <a:rPr lang="en-US" dirty="0"/>
              <a:t> Custom,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Next.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7. V Select Items for Backup </a:t>
            </a:r>
            <a:r>
              <a:rPr lang="en-US" dirty="0" err="1"/>
              <a:t>obrazovce</a:t>
            </a:r>
            <a:r>
              <a:rPr lang="en-US" dirty="0"/>
              <a:t>, </a:t>
            </a:r>
            <a:r>
              <a:rPr lang="en-US" dirty="0" err="1"/>
              <a:t>zvolte</a:t>
            </a:r>
            <a:r>
              <a:rPr lang="en-US" dirty="0"/>
              <a:t> Add Items a </a:t>
            </a:r>
            <a:r>
              <a:rPr lang="en-US" dirty="0" err="1"/>
              <a:t>zvolte</a:t>
            </a:r>
            <a:r>
              <a:rPr lang="en-US" dirty="0"/>
              <a:t> System State a </a:t>
            </a:r>
            <a:r>
              <a:rPr lang="en-US" dirty="0" err="1"/>
              <a:t>zvolte</a:t>
            </a:r>
            <a:r>
              <a:rPr lang="en-US" dirty="0"/>
              <a:t> Ok.</a:t>
            </a:r>
          </a:p>
        </p:txBody>
      </p:sp>
    </p:spTree>
    <p:extLst>
      <p:ext uri="{BB962C8B-B14F-4D97-AF65-F5344CB8AC3E}">
        <p14:creationId xmlns:p14="http://schemas.microsoft.com/office/powerpoint/2010/main" val="98546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9FF2F1-9C8F-345A-744B-BF2C64A7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036" y="828676"/>
            <a:ext cx="10336763" cy="53201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2000" dirty="0"/>
              <a:t>8. Na</a:t>
            </a:r>
            <a:r>
              <a:rPr lang="en-US" sz="2000" dirty="0"/>
              <a:t> Specify destination type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</a:t>
            </a:r>
            <a:r>
              <a:rPr lang="en-US" sz="2000" dirty="0"/>
              <a:t> Local drives </a:t>
            </a:r>
            <a:r>
              <a:rPr lang="cs-CZ" sz="2000" dirty="0"/>
              <a:t>nebo</a:t>
            </a:r>
            <a:r>
              <a:rPr lang="en-US" sz="2000" dirty="0"/>
              <a:t> Remote shared folder, </a:t>
            </a:r>
            <a:r>
              <a:rPr lang="cs-CZ" sz="2000" dirty="0"/>
              <a:t>a poté zvolte</a:t>
            </a:r>
            <a:r>
              <a:rPr lang="en-US" sz="2000" dirty="0"/>
              <a:t> Next. </a:t>
            </a:r>
            <a:r>
              <a:rPr lang="cs-CZ" sz="2000" dirty="0"/>
              <a:t>Pokud zálohujete do vzdálené sdílené složky udělejte následující:</a:t>
            </a:r>
            <a:endParaRPr lang="en-US" sz="2000" dirty="0"/>
          </a:p>
          <a:p>
            <a:pPr lvl="1" algn="just"/>
            <a:r>
              <a:rPr lang="cs-CZ" sz="2000" dirty="0"/>
              <a:t>Napište cestu do vzdálené složky.</a:t>
            </a:r>
            <a:endParaRPr lang="en-US" sz="2000" dirty="0"/>
          </a:p>
          <a:p>
            <a:pPr lvl="1" algn="just"/>
            <a:r>
              <a:rPr lang="cs-CZ" sz="2000" dirty="0"/>
              <a:t>Pod</a:t>
            </a:r>
            <a:r>
              <a:rPr lang="en-US" sz="2000" dirty="0"/>
              <a:t> Access Control, </a:t>
            </a:r>
            <a:r>
              <a:rPr lang="cs-CZ" sz="2000" dirty="0"/>
              <a:t>zvolte</a:t>
            </a:r>
            <a:r>
              <a:rPr lang="en-US" sz="2000" dirty="0"/>
              <a:t> Do not inherit </a:t>
            </a:r>
            <a:r>
              <a:rPr lang="cs-CZ" sz="2000" dirty="0"/>
              <a:t>nebo</a:t>
            </a:r>
            <a:r>
              <a:rPr lang="en-US" sz="2000" dirty="0"/>
              <a:t> Inherit </a:t>
            </a:r>
            <a:r>
              <a:rPr lang="cs-CZ" sz="2000" dirty="0"/>
              <a:t>pro určení přístupu k záloze</a:t>
            </a:r>
            <a:r>
              <a:rPr lang="en-US" sz="2000" dirty="0"/>
              <a:t>, </a:t>
            </a:r>
            <a:r>
              <a:rPr lang="cs-CZ" sz="2000" dirty="0"/>
              <a:t>a</a:t>
            </a:r>
            <a:r>
              <a:rPr lang="en-US" sz="2000" dirty="0"/>
              <a:t> </a:t>
            </a:r>
            <a:r>
              <a:rPr lang="cs-CZ" sz="2000" dirty="0"/>
              <a:t>poté zvolte</a:t>
            </a:r>
            <a:r>
              <a:rPr lang="en-US" sz="2000" dirty="0"/>
              <a:t> Next.</a:t>
            </a:r>
          </a:p>
          <a:p>
            <a:pPr lvl="1" algn="just"/>
            <a:r>
              <a:rPr lang="cs-CZ" sz="2000" dirty="0"/>
              <a:t>V </a:t>
            </a:r>
            <a:r>
              <a:rPr lang="en-US" sz="2000" dirty="0"/>
              <a:t>Provide user credentials for Backup dialog</a:t>
            </a:r>
            <a:r>
              <a:rPr lang="cs-CZ" sz="2000" dirty="0" err="1"/>
              <a:t>ovém</a:t>
            </a:r>
            <a:r>
              <a:rPr lang="cs-CZ" sz="2000" dirty="0"/>
              <a:t> </a:t>
            </a:r>
            <a:r>
              <a:rPr lang="en-US" sz="2000" dirty="0"/>
              <a:t>box</a:t>
            </a:r>
            <a:r>
              <a:rPr lang="cs-CZ" sz="2000" dirty="0"/>
              <a:t>u</a:t>
            </a:r>
            <a:r>
              <a:rPr lang="en-US" sz="2000" dirty="0"/>
              <a:t>, </a:t>
            </a:r>
            <a:r>
              <a:rPr lang="cs-CZ" sz="2000" dirty="0"/>
              <a:t>poskytněte </a:t>
            </a:r>
            <a:r>
              <a:rPr lang="cs-CZ" sz="2000" dirty="0" err="1"/>
              <a:t>username</a:t>
            </a:r>
            <a:r>
              <a:rPr lang="cs-CZ" sz="2000" dirty="0"/>
              <a:t> a heslo pro uživatele, který má přístup ke sdílené složce a zvolte OK.</a:t>
            </a:r>
            <a:endParaRPr lang="en-US" sz="2000" dirty="0"/>
          </a:p>
          <a:p>
            <a:pPr marL="0" indent="0" algn="just">
              <a:buNone/>
            </a:pPr>
            <a:r>
              <a:rPr lang="cs-CZ" sz="2000" dirty="0"/>
              <a:t>9. Pro</a:t>
            </a:r>
            <a:r>
              <a:rPr lang="en-US" sz="2000" dirty="0"/>
              <a:t> Windows Server 2008 R2 </a:t>
            </a:r>
            <a:r>
              <a:rPr lang="cs-CZ" sz="2000" dirty="0"/>
              <a:t>a</a:t>
            </a:r>
            <a:r>
              <a:rPr lang="en-US" sz="2000" dirty="0"/>
              <a:t> Windows Server 2008, </a:t>
            </a:r>
            <a:r>
              <a:rPr lang="cs-CZ" sz="2000" dirty="0"/>
              <a:t>na</a:t>
            </a:r>
            <a:r>
              <a:rPr lang="en-US" sz="2000" dirty="0"/>
              <a:t> Specify advanced option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</a:t>
            </a:r>
            <a:r>
              <a:rPr lang="en-US" sz="2000" dirty="0"/>
              <a:t> VSS copy backup </a:t>
            </a:r>
            <a:r>
              <a:rPr lang="cs-CZ" sz="2000" dirty="0"/>
              <a:t>a poté zvolte </a:t>
            </a:r>
            <a:r>
              <a:rPr lang="en-US" sz="2000" dirty="0"/>
              <a:t>Next.</a:t>
            </a:r>
          </a:p>
          <a:p>
            <a:pPr marL="0" indent="0" algn="just">
              <a:buNone/>
            </a:pPr>
            <a:r>
              <a:rPr lang="cs-CZ" sz="2000" dirty="0"/>
              <a:t>10. Na </a:t>
            </a:r>
            <a:r>
              <a:rPr lang="en-US" sz="2000" dirty="0"/>
              <a:t>Select Backup Destination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 lokaci zálohy</a:t>
            </a:r>
            <a:r>
              <a:rPr lang="en-US" sz="2000" dirty="0"/>
              <a:t>. </a:t>
            </a:r>
            <a:r>
              <a:rPr lang="cs-CZ" sz="2000" dirty="0"/>
              <a:t>Pokud jste zvolili </a:t>
            </a:r>
            <a:r>
              <a:rPr lang="cs-CZ" sz="2000" dirty="0" err="1"/>
              <a:t>local</a:t>
            </a:r>
            <a:r>
              <a:rPr lang="cs-CZ" sz="2000" dirty="0"/>
              <a:t> drive vyberte </a:t>
            </a:r>
            <a:r>
              <a:rPr lang="cs-CZ" sz="2000" dirty="0" err="1"/>
              <a:t>local</a:t>
            </a:r>
            <a:r>
              <a:rPr lang="cs-CZ" sz="2000" dirty="0"/>
              <a:t> drive nebo pokud jste zvolili vzdálené sdílení vyberte network </a:t>
            </a:r>
            <a:r>
              <a:rPr lang="cs-CZ" sz="2000" dirty="0" err="1"/>
              <a:t>share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cs-CZ" sz="2000" dirty="0"/>
              <a:t>11. Na potvrzovací obrazovce zvolte</a:t>
            </a:r>
            <a:r>
              <a:rPr lang="en-US" sz="2000" dirty="0"/>
              <a:t> Backup.</a:t>
            </a:r>
          </a:p>
          <a:p>
            <a:pPr marL="0" indent="0" algn="just">
              <a:buNone/>
            </a:pPr>
            <a:r>
              <a:rPr lang="cs-CZ" sz="2000" dirty="0"/>
              <a:t>12. Po dokončení zvolte </a:t>
            </a:r>
            <a:r>
              <a:rPr lang="en-US" sz="2000" dirty="0"/>
              <a:t>Close.</a:t>
            </a:r>
          </a:p>
          <a:p>
            <a:pPr marL="0" indent="0" algn="just">
              <a:buNone/>
            </a:pPr>
            <a:r>
              <a:rPr lang="cs-CZ" sz="2000" dirty="0"/>
              <a:t>13. Zavřete</a:t>
            </a:r>
            <a:r>
              <a:rPr lang="en-US" sz="2000" dirty="0"/>
              <a:t> Windows Server Backup.</a:t>
            </a: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48134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465C475-6A3E-D6F7-2EA1-7C502396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 sz="4100">
                <a:solidFill>
                  <a:srgbClr val="FFFFFF"/>
                </a:solidFill>
              </a:rPr>
              <a:t>Monitorování a ladění</a:t>
            </a:r>
          </a:p>
        </p:txBody>
      </p:sp>
      <p:sp>
        <p:nvSpPr>
          <p:cNvPr id="31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Zástupný obsah 2">
            <a:extLst>
              <a:ext uri="{FF2B5EF4-FFF2-40B4-BE49-F238E27FC236}">
                <a16:creationId xmlns:a16="http://schemas.microsoft.com/office/drawing/2014/main" id="{641EEC51-AB25-4203-40A9-A751E92AA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 dirty="0"/>
              <a:t>Monitorování výkonu a stavu AD DS:</a:t>
            </a:r>
          </a:p>
          <a:p>
            <a:pPr lvl="1"/>
            <a:r>
              <a:rPr lang="cs-CZ" dirty="0"/>
              <a:t>Sledování událostí: Kontinuální sledování událostí a stavu v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 pro detekci problémů, varování a záznamy o úspěšných operacích.</a:t>
            </a:r>
          </a:p>
          <a:p>
            <a:pPr lvl="1"/>
            <a:r>
              <a:rPr lang="cs-CZ" dirty="0"/>
              <a:t>Ladění výkonu: Identifikace a řešení výkonnostních problémů a úprava konfigurace pro optimalizaci výkonu a efektivity provozu.</a:t>
            </a:r>
          </a:p>
        </p:txBody>
      </p:sp>
    </p:spTree>
    <p:extLst>
      <p:ext uri="{BB962C8B-B14F-4D97-AF65-F5344CB8AC3E}">
        <p14:creationId xmlns:p14="http://schemas.microsoft.com/office/powerpoint/2010/main" val="421785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FDD3B3-8458-E9F8-C0BC-70796068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Aktualizace</a:t>
            </a:r>
            <a:endParaRPr lang="cs-CZ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D08202-AE4B-30D4-A094-470FA1AB8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 dirty="0"/>
              <a:t>Pravidelné aktualizace</a:t>
            </a:r>
          </a:p>
          <a:p>
            <a:pPr lvl="1"/>
            <a:r>
              <a:rPr lang="cs-CZ" dirty="0"/>
              <a:t>Instalace oprav a záplat: Aplikace bezpečnostních aktualizací a oprav k odstranění chyb, zabezpečení systému a zajištění stability prostředí AD DS.</a:t>
            </a:r>
          </a:p>
          <a:p>
            <a:pPr lvl="1"/>
            <a:r>
              <a:rPr lang="cs-CZ" dirty="0"/>
              <a:t>Aktualizace politik a nastavení: Aktualizace a upřesnění politik a nastavení AD DS podle aktuálních potřeb a požadavků organizace.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Block Arc 30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29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B42B5E-5A8E-ED98-54D1-DCDB1701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Plánování a migrace</a:t>
            </a:r>
          </a:p>
        </p:txBody>
      </p:sp>
      <p:sp>
        <p:nvSpPr>
          <p:cNvPr id="2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DA4ECCB-3943-4344-8F61-42D2C3B1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Analýza stávající infrastruktury: Zhodnocení aktuálního stavu a požadavků organizace pro plánování nasazení a migrace.</a:t>
            </a:r>
          </a:p>
          <a:p>
            <a:r>
              <a:rPr lang="cs-CZ"/>
              <a:t>Plánování konfigurace: Navržení architektury AD DS, včetně </a:t>
            </a:r>
            <a:r>
              <a:rPr lang="cs-CZ" err="1"/>
              <a:t>forestů</a:t>
            </a:r>
            <a:r>
              <a:rPr lang="cs-CZ"/>
              <a:t>, domén, struktury OU (</a:t>
            </a:r>
            <a:r>
              <a:rPr lang="cs-CZ" err="1"/>
              <a:t>Organizational</a:t>
            </a:r>
            <a:r>
              <a:rPr lang="cs-CZ"/>
              <a:t> </a:t>
            </a:r>
            <a:r>
              <a:rPr lang="cs-CZ" err="1"/>
              <a:t>Units</a:t>
            </a:r>
            <a:r>
              <a:rPr lang="cs-CZ"/>
              <a:t>) a nastavení replikace.</a:t>
            </a:r>
          </a:p>
          <a:p>
            <a:r>
              <a:rPr lang="cs-CZ"/>
              <a:t>Migrace dat a uživatelů: Přesun uživatelských účtů, skupin, počítačů a dat z existujících řešení do nového prostředí AD DS.</a:t>
            </a:r>
          </a:p>
        </p:txBody>
      </p:sp>
    </p:spTree>
    <p:extLst>
      <p:ext uri="{BB962C8B-B14F-4D97-AF65-F5344CB8AC3E}">
        <p14:creationId xmlns:p14="http://schemas.microsoft.com/office/powerpoint/2010/main" val="70167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6C50666-0711-A661-F96F-24695593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 sz="4100">
                <a:solidFill>
                  <a:srgbClr val="FFFFFF"/>
                </a:solidFill>
              </a:rPr>
              <a:t>Školení a dokumentace</a:t>
            </a:r>
          </a:p>
        </p:txBody>
      </p:sp>
      <p:sp>
        <p:nvSpPr>
          <p:cNvPr id="3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3D3193-13DB-94D7-B9A4-1A732346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/>
              <a:t>Školení pro administrátory AD DS:</a:t>
            </a:r>
          </a:p>
          <a:p>
            <a:r>
              <a:rPr lang="cs-CZ"/>
              <a:t>Získání certifikací: Kurzy a certifikace pro získání odborných znalostí v oblasti správy a provozu AD DS, jako jsou certifikace MCSA nebo MCSE.</a:t>
            </a:r>
          </a:p>
          <a:p>
            <a:r>
              <a:rPr lang="cs-CZ"/>
              <a:t>Dokumentace konfigurace: Dokumentace aktuální konfigurace, nastavení a provozních postupů AD DS pro usnadnění správy a podpory.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6035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59AF32-5F26-7844-B686-E5B55060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Závěr </a:t>
            </a:r>
            <a:endParaRPr lang="cs-CZ" dirty="0"/>
          </a:p>
        </p:txBody>
      </p:sp>
      <p:sp>
        <p:nvSpPr>
          <p:cNvPr id="3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46E91D-CA63-8718-40E6-74308670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/>
              <a:t>Shrnutí důležitých bodů:</a:t>
            </a:r>
          </a:p>
          <a:p>
            <a:pPr lvl="1"/>
            <a:r>
              <a:rPr lang="cs-CZ" dirty="0"/>
              <a:t>AD DS je základní součástí infrastruktury Microsoft Server a umožňuje organizacím centralizovaně spravovat síťové zdroje a uživatele.</a:t>
            </a:r>
          </a:p>
          <a:p>
            <a:pPr lvl="1"/>
            <a:r>
              <a:rPr lang="cs-CZ" dirty="0"/>
              <a:t>Správná konfigurace a správa AD DS jsou klíčové pro zajištění bezpečnosti a efektivity provozu organizace.</a:t>
            </a:r>
          </a:p>
          <a:p>
            <a:pPr lvl="1"/>
            <a:r>
              <a:rPr lang="cs-CZ" dirty="0"/>
              <a:t>Pravidelné školení a aktualizace jsou nezbytné pro udržení provozní integrity a bezpečnosti AD DS.</a:t>
            </a:r>
          </a:p>
        </p:txBody>
      </p:sp>
    </p:spTree>
    <p:extLst>
      <p:ext uri="{BB962C8B-B14F-4D97-AF65-F5344CB8AC3E}">
        <p14:creationId xmlns:p14="http://schemas.microsoft.com/office/powerpoint/2010/main" val="7896663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f4728f48caf4675dfd079068f5ed1320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f5c4d778f9bbdb2e1c9b77f7867f2fe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9D31E364-B1A2-459F-B8A3-EB82B4076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9AE135-C1C0-4760-A4D2-04158F8005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91005D-EE64-4639-9EC6-21BBDF3E641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7102979c-b26f-4d91-98cb-63a00b939af4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87e30eb-171b-483d-8cf8-0a83c79a11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1041</Words>
  <Application>Microsoft Office PowerPoint</Application>
  <PresentationFormat>Širokoúhlá obrazovka</PresentationFormat>
  <Paragraphs>78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Motiv Office</vt:lpstr>
      <vt:lpstr>AD DS</vt:lpstr>
      <vt:lpstr>Úvod </vt:lpstr>
      <vt:lpstr>Role AD DS</vt:lpstr>
      <vt:lpstr>Struktura AD DS</vt:lpstr>
      <vt:lpstr>Hierarchie AD DS</vt:lpstr>
      <vt:lpstr>Úloha forestu</vt:lpstr>
      <vt:lpstr>Úloha domény</vt:lpstr>
      <vt:lpstr>Správa AD DS</vt:lpstr>
      <vt:lpstr>Bezpečnost v AD DS </vt:lpstr>
      <vt:lpstr>Integrace s dalšími službami</vt:lpstr>
      <vt:lpstr>Zálohování a obnova</vt:lpstr>
      <vt:lpstr>Prezentace aplikace PowerPoint</vt:lpstr>
      <vt:lpstr>Prezentace aplikace PowerPoint</vt:lpstr>
      <vt:lpstr>Prezentace aplikace PowerPoint</vt:lpstr>
      <vt:lpstr>Prezentace aplikace PowerPoint</vt:lpstr>
      <vt:lpstr>Monitorování a ladění</vt:lpstr>
      <vt:lpstr>Aktualizace</vt:lpstr>
      <vt:lpstr>Plánování a migrace</vt:lpstr>
      <vt:lpstr>Školení a dokumentace</vt:lpstr>
      <vt:lpstr>Závěr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