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D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7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38C07-BCBD-4859-91FF-52CE007EF907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D8F0E490-9461-44F3-B059-B9C32610C14D}">
      <dgm:prSet phldrT="[Text]"/>
      <dgm:spPr>
        <a:solidFill>
          <a:srgbClr val="FFC000"/>
        </a:solidFill>
      </dgm:spPr>
      <dgm:t>
        <a:bodyPr/>
        <a:lstStyle/>
        <a:p>
          <a:r>
            <a:rPr lang="cs-CZ" b="1" dirty="0">
              <a:solidFill>
                <a:schemeClr val="bg1"/>
              </a:solidFill>
              <a:latin typeface="Bahnschrift" panose="020B0502040204020203" pitchFamily="34" charset="0"/>
            </a:rPr>
            <a:t>Rizika</a:t>
          </a:r>
        </a:p>
      </dgm:t>
    </dgm:pt>
    <dgm:pt modelId="{CD4EA9D1-7369-4F7A-838E-0D009E481BB1}" type="parTrans" cxnId="{AAE0CF46-F16A-426E-A050-F151A1B59070}">
      <dgm:prSet/>
      <dgm:spPr/>
      <dgm:t>
        <a:bodyPr/>
        <a:lstStyle/>
        <a:p>
          <a:endParaRPr lang="cs-CZ"/>
        </a:p>
      </dgm:t>
    </dgm:pt>
    <dgm:pt modelId="{A4BB88D5-C5F8-4A33-A9B3-E112E2781435}" type="sibTrans" cxnId="{AAE0CF46-F16A-426E-A050-F151A1B59070}">
      <dgm:prSet/>
      <dgm:spPr/>
      <dgm:t>
        <a:bodyPr/>
        <a:lstStyle/>
        <a:p>
          <a:endParaRPr lang="cs-CZ"/>
        </a:p>
      </dgm:t>
    </dgm:pt>
    <dgm:pt modelId="{2F0D8A85-B75A-4E1D-815F-B01FCCA90D38}">
      <dgm:prSet phldrT="[Text]"/>
      <dgm:spPr>
        <a:solidFill>
          <a:srgbClr val="C0CDA3"/>
        </a:solidFill>
      </dgm:spPr>
      <dgm:t>
        <a:bodyPr/>
        <a:lstStyle/>
        <a:p>
          <a:r>
            <a:rPr lang="cs-CZ" dirty="0">
              <a:solidFill>
                <a:schemeClr val="bg1"/>
              </a:solidFill>
              <a:latin typeface="Bahnschrift" panose="020B0502040204020203" pitchFamily="34" charset="0"/>
            </a:rPr>
            <a:t>Hrozby</a:t>
          </a:r>
        </a:p>
      </dgm:t>
    </dgm:pt>
    <dgm:pt modelId="{DF1EA2F9-1C77-4BA6-A8D8-FD6207FEDA1F}" type="parTrans" cxnId="{B242C638-9CC6-4330-AF72-0E7FFAB4DD9F}">
      <dgm:prSet/>
      <dgm:spPr/>
      <dgm:t>
        <a:bodyPr/>
        <a:lstStyle/>
        <a:p>
          <a:endParaRPr lang="cs-CZ"/>
        </a:p>
      </dgm:t>
    </dgm:pt>
    <dgm:pt modelId="{5029E5AD-6BE8-487F-A12F-0F616CFB4F1C}" type="sibTrans" cxnId="{B242C638-9CC6-4330-AF72-0E7FFAB4DD9F}">
      <dgm:prSet/>
      <dgm:spPr/>
      <dgm:t>
        <a:bodyPr/>
        <a:lstStyle/>
        <a:p>
          <a:endParaRPr lang="cs-CZ"/>
        </a:p>
      </dgm:t>
    </dgm:pt>
    <dgm:pt modelId="{35F354EA-16A1-4FC4-A29E-7FE7FFF53756}">
      <dgm:prSet phldrT="[Text]" custT="1"/>
      <dgm:spPr>
        <a:solidFill>
          <a:srgbClr val="C0CDA3"/>
        </a:solidFill>
      </dgm:spPr>
      <dgm:t>
        <a:bodyPr/>
        <a:lstStyle/>
        <a:p>
          <a:r>
            <a:rPr lang="cs-CZ" sz="2000" dirty="0">
              <a:solidFill>
                <a:schemeClr val="bg1"/>
              </a:solidFill>
              <a:latin typeface="Bahnschrift" panose="020B0502040204020203" pitchFamily="34" charset="0"/>
            </a:rPr>
            <a:t>Zranitelnosti</a:t>
          </a:r>
          <a:endParaRPr lang="cs-CZ" sz="2100" dirty="0">
            <a:solidFill>
              <a:schemeClr val="bg1"/>
            </a:solidFill>
            <a:latin typeface="Bahnschrift" panose="020B0502040204020203" pitchFamily="34" charset="0"/>
          </a:endParaRPr>
        </a:p>
      </dgm:t>
    </dgm:pt>
    <dgm:pt modelId="{8EE08181-3FEB-473D-986B-A8F0C171EB72}" type="parTrans" cxnId="{30FCEBD0-9F86-479A-9BB5-42D8D7F5BDDF}">
      <dgm:prSet/>
      <dgm:spPr/>
      <dgm:t>
        <a:bodyPr/>
        <a:lstStyle/>
        <a:p>
          <a:endParaRPr lang="cs-CZ"/>
        </a:p>
      </dgm:t>
    </dgm:pt>
    <dgm:pt modelId="{63FD9692-4ED8-49D0-9C99-C07277F11138}" type="sibTrans" cxnId="{30FCEBD0-9F86-479A-9BB5-42D8D7F5BDDF}">
      <dgm:prSet/>
      <dgm:spPr/>
      <dgm:t>
        <a:bodyPr/>
        <a:lstStyle/>
        <a:p>
          <a:endParaRPr lang="cs-CZ"/>
        </a:p>
      </dgm:t>
    </dgm:pt>
    <dgm:pt modelId="{E8748FC5-6BCE-4F35-B66F-A8D987EEABD7}">
      <dgm:prSet phldrT="[Text]"/>
      <dgm:spPr>
        <a:solidFill>
          <a:srgbClr val="C0CDA3"/>
        </a:solidFill>
      </dgm:spPr>
      <dgm:t>
        <a:bodyPr/>
        <a:lstStyle/>
        <a:p>
          <a:r>
            <a:rPr lang="cs-CZ" dirty="0">
              <a:solidFill>
                <a:schemeClr val="bg1"/>
              </a:solidFill>
              <a:latin typeface="Bahnschrift" panose="020B0502040204020203" pitchFamily="34" charset="0"/>
            </a:rPr>
            <a:t>Aktiva</a:t>
          </a:r>
        </a:p>
      </dgm:t>
    </dgm:pt>
    <dgm:pt modelId="{8DCD70EF-C397-447A-9824-D91298D010EE}" type="parTrans" cxnId="{7F49E82E-854D-482A-A7CB-F25DFD328E73}">
      <dgm:prSet/>
      <dgm:spPr/>
      <dgm:t>
        <a:bodyPr/>
        <a:lstStyle/>
        <a:p>
          <a:endParaRPr lang="cs-CZ"/>
        </a:p>
      </dgm:t>
    </dgm:pt>
    <dgm:pt modelId="{916FF77E-5879-436C-BD00-6FC7653DC833}" type="sibTrans" cxnId="{7F49E82E-854D-482A-A7CB-F25DFD328E73}">
      <dgm:prSet/>
      <dgm:spPr/>
      <dgm:t>
        <a:bodyPr/>
        <a:lstStyle/>
        <a:p>
          <a:endParaRPr lang="cs-CZ"/>
        </a:p>
      </dgm:t>
    </dgm:pt>
    <dgm:pt modelId="{00103DC3-D593-475F-8F10-ED9C1C91A59A}" type="pres">
      <dgm:prSet presAssocID="{2CD38C07-BCBD-4859-91FF-52CE007EF90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381A8BA-EA9C-4A27-A86F-9C3518090C7A}" type="pres">
      <dgm:prSet presAssocID="{D8F0E490-9461-44F3-B059-B9C32610C14D}" presName="centerShape" presStyleLbl="node0" presStyleIdx="0" presStyleCnt="1"/>
      <dgm:spPr/>
    </dgm:pt>
    <dgm:pt modelId="{B9FB43EF-BE6B-4A43-8832-1F25DB90F961}" type="pres">
      <dgm:prSet presAssocID="{DF1EA2F9-1C77-4BA6-A8D8-FD6207FEDA1F}" presName="parTrans" presStyleLbl="bgSibTrans2D1" presStyleIdx="0" presStyleCnt="3"/>
      <dgm:spPr/>
    </dgm:pt>
    <dgm:pt modelId="{1E8D520C-C904-4D8F-982C-216F7709EADF}" type="pres">
      <dgm:prSet presAssocID="{2F0D8A85-B75A-4E1D-815F-B01FCCA90D38}" presName="node" presStyleLbl="node1" presStyleIdx="0" presStyleCnt="3">
        <dgm:presLayoutVars>
          <dgm:bulletEnabled val="1"/>
        </dgm:presLayoutVars>
      </dgm:prSet>
      <dgm:spPr/>
    </dgm:pt>
    <dgm:pt modelId="{614661A1-6228-459E-BE5A-C61F9CA93078}" type="pres">
      <dgm:prSet presAssocID="{8EE08181-3FEB-473D-986B-A8F0C171EB72}" presName="parTrans" presStyleLbl="bgSibTrans2D1" presStyleIdx="1" presStyleCnt="3"/>
      <dgm:spPr/>
    </dgm:pt>
    <dgm:pt modelId="{3D01E022-B33A-434D-8C34-283B575C2320}" type="pres">
      <dgm:prSet presAssocID="{35F354EA-16A1-4FC4-A29E-7FE7FFF53756}" presName="node" presStyleLbl="node1" presStyleIdx="1" presStyleCnt="3">
        <dgm:presLayoutVars>
          <dgm:bulletEnabled val="1"/>
        </dgm:presLayoutVars>
      </dgm:prSet>
      <dgm:spPr/>
    </dgm:pt>
    <dgm:pt modelId="{0F97C36E-A21A-43C3-8AAE-B4EA0392F320}" type="pres">
      <dgm:prSet presAssocID="{8DCD70EF-C397-447A-9824-D91298D010EE}" presName="parTrans" presStyleLbl="bgSibTrans2D1" presStyleIdx="2" presStyleCnt="3"/>
      <dgm:spPr/>
    </dgm:pt>
    <dgm:pt modelId="{961C3DC8-B72C-4C4F-A458-D1F2CA540562}" type="pres">
      <dgm:prSet presAssocID="{E8748FC5-6BCE-4F35-B66F-A8D987EEABD7}" presName="node" presStyleLbl="node1" presStyleIdx="2" presStyleCnt="3">
        <dgm:presLayoutVars>
          <dgm:bulletEnabled val="1"/>
        </dgm:presLayoutVars>
      </dgm:prSet>
      <dgm:spPr/>
    </dgm:pt>
  </dgm:ptLst>
  <dgm:cxnLst>
    <dgm:cxn modelId="{4DB1E916-F5E0-4736-BBF6-67C494132CE1}" type="presOf" srcId="{8EE08181-3FEB-473D-986B-A8F0C171EB72}" destId="{614661A1-6228-459E-BE5A-C61F9CA93078}" srcOrd="0" destOrd="0" presId="urn:microsoft.com/office/officeart/2005/8/layout/radial4"/>
    <dgm:cxn modelId="{7F49E82E-854D-482A-A7CB-F25DFD328E73}" srcId="{D8F0E490-9461-44F3-B059-B9C32610C14D}" destId="{E8748FC5-6BCE-4F35-B66F-A8D987EEABD7}" srcOrd="2" destOrd="0" parTransId="{8DCD70EF-C397-447A-9824-D91298D010EE}" sibTransId="{916FF77E-5879-436C-BD00-6FC7653DC833}"/>
    <dgm:cxn modelId="{B242C638-9CC6-4330-AF72-0E7FFAB4DD9F}" srcId="{D8F0E490-9461-44F3-B059-B9C32610C14D}" destId="{2F0D8A85-B75A-4E1D-815F-B01FCCA90D38}" srcOrd="0" destOrd="0" parTransId="{DF1EA2F9-1C77-4BA6-A8D8-FD6207FEDA1F}" sibTransId="{5029E5AD-6BE8-487F-A12F-0F616CFB4F1C}"/>
    <dgm:cxn modelId="{0A6AC53B-B8B6-465B-A1F3-A3759B511EED}" type="presOf" srcId="{2CD38C07-BCBD-4859-91FF-52CE007EF907}" destId="{00103DC3-D593-475F-8F10-ED9C1C91A59A}" srcOrd="0" destOrd="0" presId="urn:microsoft.com/office/officeart/2005/8/layout/radial4"/>
    <dgm:cxn modelId="{B2623341-06D1-47F6-B5BA-8CAA71290D06}" type="presOf" srcId="{35F354EA-16A1-4FC4-A29E-7FE7FFF53756}" destId="{3D01E022-B33A-434D-8C34-283B575C2320}" srcOrd="0" destOrd="0" presId="urn:microsoft.com/office/officeart/2005/8/layout/radial4"/>
    <dgm:cxn modelId="{AAE0CF46-F16A-426E-A050-F151A1B59070}" srcId="{2CD38C07-BCBD-4859-91FF-52CE007EF907}" destId="{D8F0E490-9461-44F3-B059-B9C32610C14D}" srcOrd="0" destOrd="0" parTransId="{CD4EA9D1-7369-4F7A-838E-0D009E481BB1}" sibTransId="{A4BB88D5-C5F8-4A33-A9B3-E112E2781435}"/>
    <dgm:cxn modelId="{B6659085-4E9F-4600-9513-A1DA58CF475E}" type="presOf" srcId="{DF1EA2F9-1C77-4BA6-A8D8-FD6207FEDA1F}" destId="{B9FB43EF-BE6B-4A43-8832-1F25DB90F961}" srcOrd="0" destOrd="0" presId="urn:microsoft.com/office/officeart/2005/8/layout/radial4"/>
    <dgm:cxn modelId="{C97DB595-1E50-4AD9-AB2A-EFA6C5851FCC}" type="presOf" srcId="{E8748FC5-6BCE-4F35-B66F-A8D987EEABD7}" destId="{961C3DC8-B72C-4C4F-A458-D1F2CA540562}" srcOrd="0" destOrd="0" presId="urn:microsoft.com/office/officeart/2005/8/layout/radial4"/>
    <dgm:cxn modelId="{9818EBA7-FFAE-4D4A-A83C-10C78CA26FB7}" type="presOf" srcId="{D8F0E490-9461-44F3-B059-B9C32610C14D}" destId="{5381A8BA-EA9C-4A27-A86F-9C3518090C7A}" srcOrd="0" destOrd="0" presId="urn:microsoft.com/office/officeart/2005/8/layout/radial4"/>
    <dgm:cxn modelId="{9EE435C0-AC42-44EB-A05E-19A6B504D29F}" type="presOf" srcId="{8DCD70EF-C397-447A-9824-D91298D010EE}" destId="{0F97C36E-A21A-43C3-8AAE-B4EA0392F320}" srcOrd="0" destOrd="0" presId="urn:microsoft.com/office/officeart/2005/8/layout/radial4"/>
    <dgm:cxn modelId="{30FCEBD0-9F86-479A-9BB5-42D8D7F5BDDF}" srcId="{D8F0E490-9461-44F3-B059-B9C32610C14D}" destId="{35F354EA-16A1-4FC4-A29E-7FE7FFF53756}" srcOrd="1" destOrd="0" parTransId="{8EE08181-3FEB-473D-986B-A8F0C171EB72}" sibTransId="{63FD9692-4ED8-49D0-9C99-C07277F11138}"/>
    <dgm:cxn modelId="{D007E2DD-54AC-43AF-B6F5-3E22794605C6}" type="presOf" srcId="{2F0D8A85-B75A-4E1D-815F-B01FCCA90D38}" destId="{1E8D520C-C904-4D8F-982C-216F7709EADF}" srcOrd="0" destOrd="0" presId="urn:microsoft.com/office/officeart/2005/8/layout/radial4"/>
    <dgm:cxn modelId="{C372D5A9-8037-4335-B71E-642D195BC279}" type="presParOf" srcId="{00103DC3-D593-475F-8F10-ED9C1C91A59A}" destId="{5381A8BA-EA9C-4A27-A86F-9C3518090C7A}" srcOrd="0" destOrd="0" presId="urn:microsoft.com/office/officeart/2005/8/layout/radial4"/>
    <dgm:cxn modelId="{0809205D-A10C-43F1-B5F2-F9D0DEBC7572}" type="presParOf" srcId="{00103DC3-D593-475F-8F10-ED9C1C91A59A}" destId="{B9FB43EF-BE6B-4A43-8832-1F25DB90F961}" srcOrd="1" destOrd="0" presId="urn:microsoft.com/office/officeart/2005/8/layout/radial4"/>
    <dgm:cxn modelId="{D70BACDF-5889-4633-8F47-FC651BB3E4FD}" type="presParOf" srcId="{00103DC3-D593-475F-8F10-ED9C1C91A59A}" destId="{1E8D520C-C904-4D8F-982C-216F7709EADF}" srcOrd="2" destOrd="0" presId="urn:microsoft.com/office/officeart/2005/8/layout/radial4"/>
    <dgm:cxn modelId="{1A4556BA-4387-4BC9-B22D-1A7306B4715B}" type="presParOf" srcId="{00103DC3-D593-475F-8F10-ED9C1C91A59A}" destId="{614661A1-6228-459E-BE5A-C61F9CA93078}" srcOrd="3" destOrd="0" presId="urn:microsoft.com/office/officeart/2005/8/layout/radial4"/>
    <dgm:cxn modelId="{54819181-C36A-4C69-A1EA-1281D8675531}" type="presParOf" srcId="{00103DC3-D593-475F-8F10-ED9C1C91A59A}" destId="{3D01E022-B33A-434D-8C34-283B575C2320}" srcOrd="4" destOrd="0" presId="urn:microsoft.com/office/officeart/2005/8/layout/radial4"/>
    <dgm:cxn modelId="{42D97BED-16DB-4B38-986D-496649AEDC92}" type="presParOf" srcId="{00103DC3-D593-475F-8F10-ED9C1C91A59A}" destId="{0F97C36E-A21A-43C3-8AAE-B4EA0392F320}" srcOrd="5" destOrd="0" presId="urn:microsoft.com/office/officeart/2005/8/layout/radial4"/>
    <dgm:cxn modelId="{1DE90C62-CBA9-49DE-BF0A-424D1B80781D}" type="presParOf" srcId="{00103DC3-D593-475F-8F10-ED9C1C91A59A}" destId="{961C3DC8-B72C-4C4F-A458-D1F2CA540562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1A8BA-EA9C-4A27-A86F-9C3518090C7A}">
      <dsp:nvSpPr>
        <dsp:cNvPr id="0" name=""/>
        <dsp:cNvSpPr/>
      </dsp:nvSpPr>
      <dsp:spPr>
        <a:xfrm>
          <a:off x="1964293" y="3023386"/>
          <a:ext cx="1811813" cy="1811813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500" b="1" kern="1200" dirty="0">
              <a:solidFill>
                <a:schemeClr val="bg1"/>
              </a:solidFill>
              <a:latin typeface="Bahnschrift" panose="020B0502040204020203" pitchFamily="34" charset="0"/>
            </a:rPr>
            <a:t>Rizika</a:t>
          </a:r>
        </a:p>
      </dsp:txBody>
      <dsp:txXfrm>
        <a:off x="2229627" y="3288720"/>
        <a:ext cx="1281145" cy="1281145"/>
      </dsp:txXfrm>
    </dsp:sp>
    <dsp:sp modelId="{B9FB43EF-BE6B-4A43-8832-1F25DB90F961}">
      <dsp:nvSpPr>
        <dsp:cNvPr id="0" name=""/>
        <dsp:cNvSpPr/>
      </dsp:nvSpPr>
      <dsp:spPr>
        <a:xfrm rot="12900000">
          <a:off x="729026" y="2683548"/>
          <a:ext cx="1461578" cy="51636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D520C-C904-4D8F-982C-216F7709EADF}">
      <dsp:nvSpPr>
        <dsp:cNvPr id="0" name=""/>
        <dsp:cNvSpPr/>
      </dsp:nvSpPr>
      <dsp:spPr>
        <a:xfrm>
          <a:off x="576" y="1834079"/>
          <a:ext cx="1721223" cy="1376978"/>
        </a:xfrm>
        <a:prstGeom prst="roundRect">
          <a:avLst>
            <a:gd name="adj" fmla="val 10000"/>
          </a:avLst>
        </a:prstGeom>
        <a:solidFill>
          <a:srgbClr val="C0CDA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70485" rIns="70485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700" kern="1200" dirty="0">
              <a:solidFill>
                <a:schemeClr val="bg1"/>
              </a:solidFill>
              <a:latin typeface="Bahnschrift" panose="020B0502040204020203" pitchFamily="34" charset="0"/>
            </a:rPr>
            <a:t>Hrozby</a:t>
          </a:r>
        </a:p>
      </dsp:txBody>
      <dsp:txXfrm>
        <a:off x="40906" y="1874409"/>
        <a:ext cx="1640563" cy="1296318"/>
      </dsp:txXfrm>
    </dsp:sp>
    <dsp:sp modelId="{614661A1-6228-459E-BE5A-C61F9CA93078}">
      <dsp:nvSpPr>
        <dsp:cNvPr id="0" name=""/>
        <dsp:cNvSpPr/>
      </dsp:nvSpPr>
      <dsp:spPr>
        <a:xfrm rot="16200000">
          <a:off x="2139410" y="1949348"/>
          <a:ext cx="1461578" cy="51636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1E022-B33A-434D-8C34-283B575C2320}">
      <dsp:nvSpPr>
        <dsp:cNvPr id="0" name=""/>
        <dsp:cNvSpPr/>
      </dsp:nvSpPr>
      <dsp:spPr>
        <a:xfrm>
          <a:off x="2009588" y="788253"/>
          <a:ext cx="1721223" cy="1376978"/>
        </a:xfrm>
        <a:prstGeom prst="roundRect">
          <a:avLst>
            <a:gd name="adj" fmla="val 10000"/>
          </a:avLst>
        </a:prstGeom>
        <a:solidFill>
          <a:srgbClr val="C0CDA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>
              <a:solidFill>
                <a:schemeClr val="bg1"/>
              </a:solidFill>
              <a:latin typeface="Bahnschrift" panose="020B0502040204020203" pitchFamily="34" charset="0"/>
            </a:rPr>
            <a:t>Zranitelnosti</a:t>
          </a:r>
          <a:endParaRPr lang="cs-CZ" sz="2100" kern="1200" dirty="0">
            <a:solidFill>
              <a:schemeClr val="bg1"/>
            </a:solidFill>
            <a:latin typeface="Bahnschrift" panose="020B0502040204020203" pitchFamily="34" charset="0"/>
          </a:endParaRPr>
        </a:p>
      </dsp:txBody>
      <dsp:txXfrm>
        <a:off x="2049918" y="828583"/>
        <a:ext cx="1640563" cy="1296318"/>
      </dsp:txXfrm>
    </dsp:sp>
    <dsp:sp modelId="{0F97C36E-A21A-43C3-8AAE-B4EA0392F320}">
      <dsp:nvSpPr>
        <dsp:cNvPr id="0" name=""/>
        <dsp:cNvSpPr/>
      </dsp:nvSpPr>
      <dsp:spPr>
        <a:xfrm rot="19500000">
          <a:off x="3549795" y="2683548"/>
          <a:ext cx="1461578" cy="51636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1C3DC8-B72C-4C4F-A458-D1F2CA540562}">
      <dsp:nvSpPr>
        <dsp:cNvPr id="0" name=""/>
        <dsp:cNvSpPr/>
      </dsp:nvSpPr>
      <dsp:spPr>
        <a:xfrm>
          <a:off x="4018600" y="1834079"/>
          <a:ext cx="1721223" cy="1376978"/>
        </a:xfrm>
        <a:prstGeom prst="roundRect">
          <a:avLst>
            <a:gd name="adj" fmla="val 10000"/>
          </a:avLst>
        </a:prstGeom>
        <a:solidFill>
          <a:srgbClr val="C0CDA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70485" rIns="70485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700" kern="1200" dirty="0">
              <a:solidFill>
                <a:schemeClr val="bg1"/>
              </a:solidFill>
              <a:latin typeface="Bahnschrift" panose="020B0502040204020203" pitchFamily="34" charset="0"/>
            </a:rPr>
            <a:t>Aktiva</a:t>
          </a:r>
        </a:p>
      </dsp:txBody>
      <dsp:txXfrm>
        <a:off x="4058930" y="1874409"/>
        <a:ext cx="1640563" cy="1296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854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401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374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318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341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607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3544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388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8687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620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119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12087-106A-4421-AC57-9927DB460FDF}" type="datetimeFigureOut">
              <a:rPr lang="cs-CZ" smtClean="0"/>
              <a:t>23.02.2024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0EF2A-76F4-4C22-B43E-85178D463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5332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B6E9CA-7E82-A936-1D64-7B21A1485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Analýza aktiv a rizik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AE5E340-C7CF-EF47-3E17-2FA60C11C5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>
                <a:latin typeface="Bahnschrift" panose="020B0502040204020203" pitchFamily="34" charset="0"/>
              </a:rPr>
              <a:t>V operačních systémech Windows</a:t>
            </a:r>
          </a:p>
        </p:txBody>
      </p:sp>
    </p:spTree>
    <p:extLst>
      <p:ext uri="{BB962C8B-B14F-4D97-AF65-F5344CB8AC3E}">
        <p14:creationId xmlns:p14="http://schemas.microsoft.com/office/powerpoint/2010/main" val="75975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4646D3-7754-0B4E-25E0-BA2E2509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Analýza aktiv a rizik</a:t>
            </a:r>
            <a:endParaRPr lang="cs-CZ" dirty="0">
              <a:latin typeface="Bahnschrift" panose="020B0502040204020203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8EB7EB-7277-932D-36B8-2C596DED0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cs-CZ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Úvod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Definice zabezpečení 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Důležitost analýzy aktiv a rizik</a:t>
            </a:r>
          </a:p>
          <a:p>
            <a:endParaRPr lang="cs-CZ" dirty="0">
              <a:latin typeface="Bahnschrift" panose="020B0502040204020203" pitchFamily="34" charset="0"/>
            </a:endParaRPr>
          </a:p>
        </p:txBody>
      </p:sp>
      <p:sp>
        <p:nvSpPr>
          <p:cNvPr id="4" name="Složené závorky 3">
            <a:extLst>
              <a:ext uri="{FF2B5EF4-FFF2-40B4-BE49-F238E27FC236}">
                <a16:creationId xmlns:a16="http://schemas.microsoft.com/office/drawing/2014/main" id="{ECDBDA80-3021-B594-D516-17ED687FD5EC}"/>
              </a:ext>
            </a:extLst>
          </p:cNvPr>
          <p:cNvSpPr/>
          <p:nvPr/>
        </p:nvSpPr>
        <p:spPr>
          <a:xfrm>
            <a:off x="8586652" y="1825625"/>
            <a:ext cx="2464526" cy="2995748"/>
          </a:xfrm>
          <a:prstGeom prst="bracePair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037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AE36C8-F724-7C06-054D-A70187F9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Aktiva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574457B-6C5E-1017-E2B3-D3840CFCAB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46507"/>
              </p:ext>
            </p:extLst>
          </p:nvPr>
        </p:nvGraphicFramePr>
        <p:xfrm>
          <a:off x="6096000" y="617273"/>
          <a:ext cx="5740400" cy="562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A920E624-1BAE-DFFF-6D86-C2DB55F95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0892" y="1690688"/>
            <a:ext cx="5259978" cy="4293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cs-CZ" altLang="cs-CZ" dirty="0">
                <a:latin typeface="Bahnschrift" panose="020B0502040204020203" pitchFamily="34" charset="0"/>
              </a:rPr>
              <a:t>Hardwarové a softwarové prvky systému</a:t>
            </a:r>
          </a:p>
          <a:p>
            <a:pPr lvl="1">
              <a:lnSpc>
                <a:spcPct val="100000"/>
              </a:lnSpc>
            </a:pPr>
            <a:r>
              <a:rPr lang="cs-CZ" altLang="cs-CZ" sz="2000" dirty="0">
                <a:latin typeface="Bahnschrift" panose="020B0502040204020203" pitchFamily="34" charset="0"/>
              </a:rPr>
              <a:t>CPU, RAM, HDD, SSD, OS, aplikace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cs-CZ" altLang="cs-CZ" sz="20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cs-CZ" altLang="cs-CZ" dirty="0">
                <a:latin typeface="Bahnschrift" panose="020B0502040204020203" pitchFamily="34" charset="0"/>
              </a:rPr>
              <a:t>Uživatelé a jejich role</a:t>
            </a:r>
          </a:p>
          <a:p>
            <a:pPr lvl="1">
              <a:lnSpc>
                <a:spcPct val="100000"/>
              </a:lnSpc>
            </a:pPr>
            <a:r>
              <a:rPr lang="cs-CZ" altLang="cs-CZ" sz="2000" dirty="0">
                <a:latin typeface="Bahnschrift" panose="020B0502040204020203" pitchFamily="34" charset="0"/>
              </a:rPr>
              <a:t>Administrátoři, běžní uživatelé, hosté</a:t>
            </a:r>
          </a:p>
          <a:p>
            <a:pPr lvl="1">
              <a:lnSpc>
                <a:spcPct val="100000"/>
              </a:lnSpc>
            </a:pPr>
            <a:r>
              <a:rPr lang="cs-CZ" altLang="cs-CZ" sz="2000" dirty="0">
                <a:latin typeface="Bahnschrift" panose="020B0502040204020203" pitchFamily="34" charset="0"/>
              </a:rPr>
              <a:t>Práva a povolení přístupu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cs-CZ" altLang="cs-CZ" sz="2000" dirty="0">
              <a:latin typeface="Bahnschrif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cs-CZ" altLang="cs-CZ" dirty="0">
                <a:latin typeface="Bahnschrift" panose="020B0502040204020203" pitchFamily="34" charset="0"/>
              </a:rPr>
              <a:t>Sítě a připojení</a:t>
            </a:r>
          </a:p>
          <a:p>
            <a:pPr lvl="1">
              <a:lnSpc>
                <a:spcPct val="100000"/>
              </a:lnSpc>
            </a:pPr>
            <a:r>
              <a:rPr lang="cs-CZ" altLang="cs-CZ" sz="2000" dirty="0">
                <a:latin typeface="Bahnschrift" panose="020B0502040204020203" pitchFamily="34" charset="0"/>
              </a:rPr>
              <a:t>Lokální sítě (LAN), širokopásmové připojení (WAN), Wi-Fi, VPN</a:t>
            </a:r>
            <a:br>
              <a:rPr kumimoji="0" lang="cs-CZ" altLang="cs-CZ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cs-CZ" altLang="cs-C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674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DE5108-AF83-2C1E-FA67-DB252F02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Rizika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F29BF6-FAAD-2778-2D14-ACB49ED1D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6406" cy="456646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0" lang="cs-CZ" altLang="cs-CZ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Rizika:</a:t>
            </a:r>
          </a:p>
          <a:p>
            <a:pPr>
              <a:lnSpc>
                <a:spcPct val="100000"/>
              </a:lnSpc>
            </a:pP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Hrozby a zranitelnosti</a:t>
            </a:r>
          </a:p>
          <a:p>
            <a:pPr lvl="1">
              <a:lnSpc>
                <a:spcPct val="100000"/>
              </a:lnSpc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Malware, </a:t>
            </a:r>
            <a:r>
              <a:rPr kumimoji="0" lang="cs-CZ" altLang="cs-CZ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phishing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, sociální inženýrství, neaktualizovaný software</a:t>
            </a:r>
          </a:p>
          <a:p>
            <a:pPr>
              <a:lnSpc>
                <a:spcPct val="100000"/>
              </a:lnSpc>
            </a:pP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Možné útoky a jejich dopady</a:t>
            </a:r>
          </a:p>
          <a:p>
            <a:pPr lvl="1">
              <a:lnSpc>
                <a:spcPct val="100000"/>
              </a:lnSpc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Odposlech dat, únik citlivých informací, </a:t>
            </a:r>
            <a:r>
              <a:rPr kumimoji="0" lang="cs-CZ" altLang="cs-CZ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DDoS</a:t>
            </a:r>
            <a:r>
              <a:rPr lang="cs-CZ" altLang="cs-CZ" sz="2000" dirty="0">
                <a:solidFill>
                  <a:srgbClr val="FFFFFF"/>
                </a:solidFill>
                <a:latin typeface="Bahnschrift" panose="020B0502040204020203" pitchFamily="34" charset="0"/>
              </a:rPr>
              <a:t>, 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ransomware</a:t>
            </a:r>
          </a:p>
          <a:p>
            <a:pPr>
              <a:lnSpc>
                <a:spcPct val="100000"/>
              </a:lnSpc>
            </a:pP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Bezpečnostní slabin</a:t>
            </a:r>
          </a:p>
          <a:p>
            <a:pPr lvl="1">
              <a:lnSpc>
                <a:spcPct val="100000"/>
              </a:lnSpc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Nedostatečná autentizace, neomezený přístup</a:t>
            </a:r>
          </a:p>
          <a:p>
            <a:pPr lvl="1">
              <a:lnSpc>
                <a:spcPct val="100000"/>
              </a:lnSpc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Nedostatečné šifrování, nedostatečné zálohování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Rovnoramenný trojúhelník 3">
            <a:extLst>
              <a:ext uri="{FF2B5EF4-FFF2-40B4-BE49-F238E27FC236}">
                <a16:creationId xmlns:a16="http://schemas.microsoft.com/office/drawing/2014/main" id="{74AAC4BC-684A-9313-1F5E-B9ACE07F3509}"/>
              </a:ext>
            </a:extLst>
          </p:cNvPr>
          <p:cNvSpPr/>
          <p:nvPr/>
        </p:nvSpPr>
        <p:spPr>
          <a:xfrm>
            <a:off x="8482149" y="2279468"/>
            <a:ext cx="2666913" cy="2299063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1ACDEE2-CF59-A8E8-7604-ABA3748C36E7}"/>
              </a:ext>
            </a:extLst>
          </p:cNvPr>
          <p:cNvSpPr txBox="1"/>
          <p:nvPr/>
        </p:nvSpPr>
        <p:spPr>
          <a:xfrm>
            <a:off x="9450891" y="2555050"/>
            <a:ext cx="15849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3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7237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2DC0DB-1FD5-C9E3-1B64-A0BCA51E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Proč provádět analýzu rizik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ACCEED-317A-9470-7B44-851753866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/>
          </a:bodyPr>
          <a:lstStyle/>
          <a:p>
            <a:r>
              <a:rPr lang="cs-CZ" sz="2600" dirty="0">
                <a:latin typeface="Bahnschrift" panose="020B0502040204020203" pitchFamily="34" charset="0"/>
              </a:rPr>
              <a:t>Identifikace slabých míst v zabezpečení</a:t>
            </a:r>
          </a:p>
          <a:p>
            <a:pPr lvl="1"/>
            <a:r>
              <a:rPr lang="cs-CZ" sz="2200" dirty="0">
                <a:latin typeface="Bahnschrift" panose="020B0502040204020203" pitchFamily="34" charset="0"/>
              </a:rPr>
              <a:t>Analýza umožňuje identifikovat potenciální slabiny v systému, které by mohly být využity útočníky k narušení zabezpečení.</a:t>
            </a:r>
          </a:p>
          <a:p>
            <a:endParaRPr lang="cs-CZ" sz="2200" dirty="0">
              <a:latin typeface="Bahnschrift" panose="020B0502040204020203" pitchFamily="34" charset="0"/>
            </a:endParaRPr>
          </a:p>
          <a:p>
            <a:r>
              <a:rPr lang="cs-CZ" sz="2600" dirty="0">
                <a:latin typeface="Bahnschrift" panose="020B0502040204020203" pitchFamily="34" charset="0"/>
              </a:rPr>
              <a:t>Předcházení bezpečnostním incidentům</a:t>
            </a:r>
          </a:p>
          <a:p>
            <a:pPr lvl="1"/>
            <a:r>
              <a:rPr lang="cs-CZ" sz="2200" dirty="0">
                <a:latin typeface="Bahnschrift" panose="020B0502040204020203" pitchFamily="34" charset="0"/>
              </a:rPr>
              <a:t>Analýza umožňuje organizacím přijímat preventivní opatření k minimalizaci pravděpodobnosti bezpečnostních incidentů, jako jsou útoky hackerů, úniky dat apod.</a:t>
            </a:r>
          </a:p>
          <a:p>
            <a:endParaRPr lang="cs-CZ" sz="2600" dirty="0">
              <a:latin typeface="Bahnschrift" panose="020B0502040204020203" pitchFamily="34" charset="0"/>
            </a:endParaRPr>
          </a:p>
          <a:p>
            <a:r>
              <a:rPr lang="cs-CZ" sz="2600" dirty="0">
                <a:latin typeface="Bahnschrift" panose="020B0502040204020203" pitchFamily="34" charset="0"/>
              </a:rPr>
              <a:t>Zlepšení plánování a implementace bezpečnostních opatření</a:t>
            </a:r>
          </a:p>
          <a:p>
            <a:pPr lvl="1"/>
            <a:r>
              <a:rPr lang="cs-CZ" sz="2200" dirty="0">
                <a:latin typeface="Bahnschrift" panose="020B0502040204020203" pitchFamily="34" charset="0"/>
              </a:rPr>
              <a:t>Díky analýze aktiv a rizik mohou organizace lépe porozumět svému bezpečnostnímu prostředí a lépe plánovat a implementovat bezpečnostní opatření v souladu se svými potřebami a prioritami. Tím mohou lépe využít své zdroje a maximalizovat účinnost svých bezpečnostních iniciativ.</a:t>
            </a:r>
          </a:p>
        </p:txBody>
      </p:sp>
      <p:pic>
        <p:nvPicPr>
          <p:cNvPr id="6148" name="Picture 4" descr="iOS 16.4">
            <a:extLst>
              <a:ext uri="{FF2B5EF4-FFF2-40B4-BE49-F238E27FC236}">
                <a16:creationId xmlns:a16="http://schemas.microsoft.com/office/drawing/2014/main" id="{50523AD0-82FB-293F-573F-D089EE8DB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39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011" y="365125"/>
            <a:ext cx="1524000" cy="152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5197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46D62A-7837-E2D5-0C41-7FC90419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cs-CZ" dirty="0" err="1">
                <a:solidFill>
                  <a:srgbClr val="FFFF00"/>
                </a:solidFill>
                <a:latin typeface="Bahnschrift" panose="020B0502040204020203" pitchFamily="34" charset="0"/>
              </a:rPr>
              <a:t>Invertarizace</a:t>
            </a:r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 aktiv</a:t>
            </a:r>
            <a:b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</a:br>
            <a:r>
              <a:rPr lang="cs-CZ" sz="2800" dirty="0">
                <a:solidFill>
                  <a:srgbClr val="FFFF00"/>
                </a:solidFill>
                <a:latin typeface="Bahnschrift Light" panose="020B0502040204020203" pitchFamily="34" charset="0"/>
              </a:rPr>
              <a:t>Metody analýzy aktiv a rizik</a:t>
            </a:r>
            <a:endParaRPr lang="cs-CZ" dirty="0">
              <a:latin typeface="Bahnschrift Light" panose="020B0502040204020203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ADB819-4E90-1891-AD5E-B9BFB3492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3471"/>
            <a:ext cx="10515600" cy="446149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Identifikace všech systémů, aplikací, uživatelů a zařízení v síti:</a:t>
            </a:r>
            <a:r>
              <a:rPr lang="cs-CZ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Tato metoda zahrnuje důkladné zmapování všech aktiv v organizaci, včetně hardware, software, uživatelů a sítí. To pomáhá vytvořit úplný obraz o tom, co organizace vlastní a jak jsou tyto prvky propojeny.</a:t>
            </a:r>
          </a:p>
          <a:p>
            <a:pPr marL="0" indent="0" algn="l">
              <a:buNone/>
            </a:pPr>
            <a:endParaRPr lang="cs-CZ" sz="2400" b="0" i="0" dirty="0">
              <a:solidFill>
                <a:srgbClr val="ECECEC"/>
              </a:solidFill>
              <a:effectLst/>
              <a:latin typeface="Bahnschrift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Mapování datových toků a procesů:</a:t>
            </a:r>
            <a:br>
              <a:rPr lang="cs-CZ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Analyzují se toky dat a procesy v organizaci, aby bylo možné identifikovat, jakým způsobem se data pohybují skrze systémy a jak jsou zpracovány. To umožňuje identifikovat potenciální bezpečnostní rizika spojená s těmito procesy.</a:t>
            </a:r>
          </a:p>
          <a:p>
            <a:endParaRPr lang="cs-CZ" sz="1400" dirty="0">
              <a:latin typeface="Bahnschrift" panose="020B0502040204020203" pitchFamily="34" charset="0"/>
            </a:endParaRPr>
          </a:p>
        </p:txBody>
      </p:sp>
      <p:pic>
        <p:nvPicPr>
          <p:cNvPr id="2050" name="Picture 2" descr="iOS 16.4">
            <a:extLst>
              <a:ext uri="{FF2B5EF4-FFF2-40B4-BE49-F238E27FC236}">
                <a16:creationId xmlns:a16="http://schemas.microsoft.com/office/drawing/2014/main" id="{4D61360F-8B63-A10E-0F46-BC2B6FBAA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784" y="365125"/>
            <a:ext cx="1241231" cy="124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497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068A69-56B5-8BCE-E453-0F779DA2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Identifikace rizik</a:t>
            </a:r>
            <a:b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</a:br>
            <a:r>
              <a:rPr lang="cs-CZ" sz="2800" dirty="0">
                <a:solidFill>
                  <a:srgbClr val="FFFF00"/>
                </a:solidFill>
                <a:latin typeface="Bahnschrift Light" panose="020B0502040204020203" pitchFamily="34" charset="0"/>
              </a:rPr>
              <a:t>Metody analýzy aktiv a rizik</a:t>
            </a:r>
            <a:endParaRPr lang="cs-CZ" sz="28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B22A76-89C5-C245-9DDF-E8763CFA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4626"/>
            <a:ext cx="10515600" cy="3882336"/>
          </a:xfrm>
        </p:spPr>
        <p:txBody>
          <a:bodyPr>
            <a:normAutofit/>
          </a:bodyPr>
          <a:lstStyle/>
          <a:p>
            <a:r>
              <a:rPr lang="cs-CZ" sz="2800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Analýza známých a potenciálních hrozeb:</a:t>
            </a:r>
            <a: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 </a:t>
            </a:r>
            <a:b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Provádí se identifikace známých hrozeb, jako jsou viry, malware, ale také potenciálních hrozeb, jako je nedbalost zaměstnanců apod.</a:t>
            </a:r>
          </a:p>
          <a:p>
            <a:pPr marL="0" indent="0">
              <a:buNone/>
            </a:pPr>
            <a:endParaRPr lang="cs-CZ" sz="2400" b="0" i="0" dirty="0">
              <a:solidFill>
                <a:srgbClr val="ECECEC"/>
              </a:solidFill>
              <a:effectLst/>
              <a:latin typeface="Bahnschrift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800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Zjištění zranitelností a slabých míst v zabezpečení:</a:t>
            </a:r>
            <a:br>
              <a:rPr lang="cs-CZ" sz="2800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Analyzují se zranitelnosti v systémech, aplikacích a sítích organizace, aby bylo možné identifikovat slabá místa, která by mohla být zneužita útočníky.</a:t>
            </a:r>
          </a:p>
          <a:p>
            <a:endParaRPr lang="cs-CZ" dirty="0"/>
          </a:p>
        </p:txBody>
      </p:sp>
      <p:pic>
        <p:nvPicPr>
          <p:cNvPr id="3078" name="Picture 6" descr="iOS 16.4">
            <a:extLst>
              <a:ext uri="{FF2B5EF4-FFF2-40B4-BE49-F238E27FC236}">
                <a16:creationId xmlns:a16="http://schemas.microsoft.com/office/drawing/2014/main" id="{BBC6EFAD-469C-C16E-6F14-218FFC0F1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821" y="365126"/>
            <a:ext cx="1230762" cy="123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812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A4D400-63A6-52A5-35E6-5413B48A9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Hodnocení rizik</a:t>
            </a:r>
            <a:b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</a:br>
            <a:r>
              <a:rPr lang="cs-CZ" sz="2800" dirty="0">
                <a:solidFill>
                  <a:srgbClr val="FFFF00"/>
                </a:solidFill>
                <a:latin typeface="Bahnschrift Light" panose="020B0502040204020203" pitchFamily="34" charset="0"/>
              </a:rPr>
              <a:t>Metody analýzy aktiv a rizik</a:t>
            </a:r>
            <a:endParaRPr lang="cs-CZ" sz="28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6996EF-A55C-5BB3-7A12-679561BC1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6385"/>
            <a:ext cx="10515600" cy="3830577"/>
          </a:xfrm>
        </p:spPr>
        <p:txBody>
          <a:bodyPr>
            <a:normAutofit/>
          </a:bodyPr>
          <a:lstStyle/>
          <a:p>
            <a:r>
              <a:rPr lang="cs-CZ" sz="2800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Stanovení pravděpodobnosti výskytu rizika:</a:t>
            </a:r>
            <a: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 </a:t>
            </a:r>
            <a:b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Provádí se odhad pravděpodobnosti, že dané riziko nastane, na základě historických dat, znalostí a expertního odhadu.</a:t>
            </a:r>
            <a:b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endParaRPr lang="cs-CZ" sz="2400" b="0" i="0" dirty="0">
              <a:solidFill>
                <a:srgbClr val="ECECEC"/>
              </a:solidFill>
              <a:effectLst/>
              <a:latin typeface="Bahnschrift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800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Posouzení dopadu rizika na podnikové prostředí:</a:t>
            </a:r>
            <a: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 </a:t>
            </a:r>
            <a:b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Posuzuje se potenciální dopad daného rizika na organizaci v případě, že by se stalo skutečností, a to včetně finančních ztrát, poškození reputace a dalších faktorů.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098" name="Picture 2" descr="iOS 16.4">
            <a:extLst>
              <a:ext uri="{FF2B5EF4-FFF2-40B4-BE49-F238E27FC236}">
                <a16:creationId xmlns:a16="http://schemas.microsoft.com/office/drawing/2014/main" id="{45F7B2F0-599E-3C97-9F86-FEADDE71D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894" y="365124"/>
            <a:ext cx="1250031" cy="125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526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A1D59D-1090-1EA7-9358-24E9B305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  <a:t>Implementace opatření</a:t>
            </a:r>
            <a:br>
              <a:rPr lang="cs-CZ" dirty="0">
                <a:solidFill>
                  <a:srgbClr val="FFFF00"/>
                </a:solidFill>
                <a:latin typeface="Bahnschrift" panose="020B0502040204020203" pitchFamily="34" charset="0"/>
              </a:rPr>
            </a:br>
            <a:r>
              <a:rPr lang="cs-CZ" sz="2800" dirty="0">
                <a:solidFill>
                  <a:srgbClr val="FFFF00"/>
                </a:solidFill>
                <a:latin typeface="Bahnschrift Light" panose="020B0502040204020203" pitchFamily="34" charset="0"/>
              </a:rPr>
              <a:t>Metody analýzy aktiv a rizik</a:t>
            </a:r>
            <a:endParaRPr lang="cs-CZ" sz="28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68021-297A-F57D-A112-4FDD13B77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195"/>
            <a:ext cx="10515600" cy="421876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cs-CZ" sz="2800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Navrhnutí a implementace bezpečnostních opatření k minimalizaci rizik:</a:t>
            </a:r>
            <a: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 </a:t>
            </a:r>
            <a:b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Na základě analýzy aktiv a rizik se navrhují a implementují bezpečnostní opatření, která mají snížit pravděpodobnost výskytu rizik a minimalizovat jejich dopady, pokud k nim dojde.</a:t>
            </a:r>
            <a:b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endParaRPr lang="cs-CZ" sz="2400" b="0" i="0" dirty="0">
              <a:solidFill>
                <a:srgbClr val="ECECEC"/>
              </a:solidFill>
              <a:effectLst/>
              <a:latin typeface="Bahnschrift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800" b="1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Monitorování a aktualizace zabezpečení:</a:t>
            </a:r>
            <a: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 </a:t>
            </a:r>
            <a:br>
              <a:rPr lang="cs-CZ" sz="28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</a:br>
            <a:r>
              <a:rPr lang="cs-CZ" sz="2400" b="0" i="0" dirty="0">
                <a:solidFill>
                  <a:srgbClr val="ECECEC"/>
                </a:solidFill>
                <a:effectLst/>
                <a:latin typeface="Bahnschrift" panose="020B0502040204020203" pitchFamily="34" charset="0"/>
              </a:rPr>
              <a:t>Implementovaná opatření jsou pravidelně monitorována a aktualizována v souladu s aktuálními bezpečnostními hrozbami a změnami v podnikovém prostředí.</a:t>
            </a:r>
          </a:p>
          <a:p>
            <a:endParaRPr lang="cs-CZ" dirty="0"/>
          </a:p>
        </p:txBody>
      </p:sp>
      <p:pic>
        <p:nvPicPr>
          <p:cNvPr id="5122" name="Picture 2" descr="iOS 16.4">
            <a:extLst>
              <a:ext uri="{FF2B5EF4-FFF2-40B4-BE49-F238E27FC236}">
                <a16:creationId xmlns:a16="http://schemas.microsoft.com/office/drawing/2014/main" id="{1B7B77C7-A0EA-432B-EA07-CABCF52BE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942" y="387786"/>
            <a:ext cx="1232984" cy="123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66550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</TotalTime>
  <Words>531</Words>
  <Application>Microsoft Office PowerPoint</Application>
  <PresentationFormat>Širokoúhlá obrazovka</PresentationFormat>
  <Paragraphs>53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7" baseType="lpstr">
      <vt:lpstr>Arial</vt:lpstr>
      <vt:lpstr>Bahnschrift</vt:lpstr>
      <vt:lpstr>Bahnschrift Light</vt:lpstr>
      <vt:lpstr>Calibri</vt:lpstr>
      <vt:lpstr>Calibri Light</vt:lpstr>
      <vt:lpstr>Segoe UI Semibold</vt:lpstr>
      <vt:lpstr>Söhne</vt:lpstr>
      <vt:lpstr>Motiv Office</vt:lpstr>
      <vt:lpstr>Analýza aktiv a rizik</vt:lpstr>
      <vt:lpstr>Analýza aktiv a rizik</vt:lpstr>
      <vt:lpstr>Aktiva</vt:lpstr>
      <vt:lpstr>Rizika</vt:lpstr>
      <vt:lpstr>Proč provádět analýzu rizik</vt:lpstr>
      <vt:lpstr>Invertarizace aktiv Metody analýzy aktiv a rizik</vt:lpstr>
      <vt:lpstr>Identifikace rizik Metody analýzy aktiv a rizik</vt:lpstr>
      <vt:lpstr>Hodnocení rizik Metody analýzy aktiv a rizik</vt:lpstr>
      <vt:lpstr>Implementace opatření Metody analýzy aktiv a rizik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