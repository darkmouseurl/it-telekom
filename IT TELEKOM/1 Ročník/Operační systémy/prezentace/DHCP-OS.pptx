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E5FFDA-7156-A485-99B0-2593655FA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439DCC6-57FD-0574-A33A-78CAEA056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DE77ECD-322B-A4C2-DFC8-2648233BC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DFAF-EA3E-4ECB-9518-C3A349C0847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AE0515B-CF31-5150-EE92-E842B3E15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533B1CC-91CE-3F5C-5115-6597872A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8B18-BDDF-4DFD-A450-9AE0EEE36C4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086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1777BC-F44E-E4D7-8E15-C5B3A06E4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A3F4EA6-399D-B206-4ED0-E772D8ED1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17C9779-D3C9-7A50-C3F1-5155381FB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DFAF-EA3E-4ECB-9518-C3A349C0847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0DB4AF1-9CEC-BAC2-706C-47850F596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006BE6D-D12C-F14C-6385-94D957DF8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8B18-BDDF-4DFD-A450-9AE0EEE36C4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53944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C1397A-D4F2-9A52-8D95-B93D174EF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4172665-4115-17D4-EB08-0402BB286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8DD68DF-97CB-5F0E-B50B-56192C16F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DFAF-EA3E-4ECB-9518-C3A349C0847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4AF64F8-2B9A-DAC8-1B32-F1E9653D4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7235601-8F1B-8FB1-0B0E-B5B16179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8B18-BDDF-4DFD-A450-9AE0EEE36C4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9289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2DC43E-7E19-FF47-7A30-C4E98EBC6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D48B1F-4EB7-30A9-723E-48D19D12C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2E80B90-2171-5700-AA97-04194086F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9E16813-3B80-4509-491E-23105CB3C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DFAF-EA3E-4ECB-9518-C3A349C0847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900FEB3-A660-F723-F6F4-4D1810326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F2AF59C-9F5F-2924-5B09-A4EF71308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8B18-BDDF-4DFD-A450-9AE0EEE36C4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12114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C61238-31C4-B304-3C53-3928A454A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CB92E20-2516-1C5F-785A-8A623E638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77504D3-D473-13DE-752D-DB676C2DF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34916CD-28BC-E658-70F4-B946B423ED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9D53C84-AF82-55DE-A914-BBE084962E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12D224C-3DA7-C099-9D90-F4FBB6559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DFAF-EA3E-4ECB-9518-C3A349C0847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290DAAE-7E45-2DAE-8706-FB7DE68DA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2123C46-4B0C-1D2F-5F4C-1BF6AE55C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8B18-BDDF-4DFD-A450-9AE0EEE36C4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0810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9D7B9F-828D-E213-4458-05BC7B7EE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4C8B409E-B552-D828-95B4-3DD245822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DFAF-EA3E-4ECB-9518-C3A349C0847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D2C78E0-4466-534C-A0E7-33C87A962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EB02F40-AC72-5A45-82A8-905E5D1F4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8B18-BDDF-4DFD-A450-9AE0EEE36C4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8354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BD57EE84-6B99-E4F4-1CB7-8BE91BA62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DFAF-EA3E-4ECB-9518-C3A349C0847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8AD364A-0E8C-C3A6-B87B-297DA22C2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93AAE07-5347-A74D-5F08-71326064F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8B18-BDDF-4DFD-A450-9AE0EEE36C4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50585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0DA5AE-8F73-E441-CC1F-F0397CC44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C596240-4465-74B8-6FEB-207D7070B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3FF2D46-44CA-074D-4077-FB9581018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CA8BFC6-87C4-2109-8E3F-D8C4735B8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DFAF-EA3E-4ECB-9518-C3A349C0847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A8112E8-F156-2863-87DE-808616ABA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D1AFF09-7F9A-FB81-67E6-6B4D90391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8B18-BDDF-4DFD-A450-9AE0EEE36C4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26997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7764E8-4164-FF57-1FB1-D2FBAB88B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B9C8655E-005B-3A53-8AAE-2FA5DF87EA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F101002-C1C5-51BC-2A98-79CF2B896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0152147-2589-8ADD-0147-113DD248E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DFAF-EA3E-4ECB-9518-C3A349C0847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3183FE1-8824-CC72-A5F6-1EFFEC82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0AD217D-205B-6DBB-0E67-B04EA0D5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8B18-BDDF-4DFD-A450-9AE0EEE36C4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32972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BD25FD-48B3-5F04-795A-4ABEBC92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785E459-F465-9C94-09BE-CD066781B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DB6AAA9-E566-C117-98CD-0A92B6F85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DFAF-EA3E-4ECB-9518-C3A349C0847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EBDD2AB-E86C-8516-0DD8-ECA4EFD51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D4454DC-E5B9-8D1C-19E5-74CC7E3ED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8B18-BDDF-4DFD-A450-9AE0EEE36C4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77458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E216FEAA-9554-4650-A9D2-E44D5688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715F092-23D9-CE77-8847-46604F772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C887BAE-5565-FE8F-8C50-54CE84431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6DFAF-EA3E-4ECB-9518-C3A349C0847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D5E26EB-8FC4-B38C-560A-6D27DD0B3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0D279F3-86B1-C8E4-48C8-5F6A684DA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08B18-BDDF-4DFD-A450-9AE0EEE36C4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1563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CF9FF55-DC22-4464-BE56-3A065A6B0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1318B12-F7E0-ECCA-F66B-9E5CE9DD8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07CD57F-F00A-FFD9-7C6D-20A7C4528A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6DFAF-EA3E-4ECB-9518-C3A349C0847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E81EA64-93D6-A3B7-212B-D30D9AB527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B910126-F4F6-4DE3-9394-DBDE593B4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08B18-BDDF-4DFD-A450-9AE0EEE36C4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8451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6" name="Rectangle 1045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Freeform: Shape 1047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50" name="Right Triangle 104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31DE7BE-BCB3-F3B1-1162-64B73D772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9293" y="806364"/>
            <a:ext cx="3354636" cy="2847413"/>
          </a:xfrm>
        </p:spPr>
        <p:txBody>
          <a:bodyPr anchor="b">
            <a:normAutofit/>
          </a:bodyPr>
          <a:lstStyle/>
          <a:p>
            <a:pPr algn="l"/>
            <a:r>
              <a:rPr lang="cs-CZ" b="1" i="1" u="sng"/>
              <a:t>DHCP</a:t>
            </a:r>
          </a:p>
        </p:txBody>
      </p:sp>
      <p:pic>
        <p:nvPicPr>
          <p:cNvPr id="1028" name="Picture 4" descr="Stock ilustrace Dhcp Zkratka Protokolu Dhcp Dynamic Host Configuration  Protocol Obchodní Koncept – stáhnout obrázek nyní - iStock">
            <a:extLst>
              <a:ext uri="{FF2B5EF4-FFF2-40B4-BE49-F238E27FC236}">
                <a16:creationId xmlns:a16="http://schemas.microsoft.com/office/drawing/2014/main" id="{F156F14A-F813-18F4-F4BB-D7B1CAB98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6558" y="1584723"/>
            <a:ext cx="5604636" cy="367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9021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2063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4" name="Picture 6" descr="How to Use the IPv6 DHCP Relay">
            <a:extLst>
              <a:ext uri="{FF2B5EF4-FFF2-40B4-BE49-F238E27FC236}">
                <a16:creationId xmlns:a16="http://schemas.microsoft.com/office/drawing/2014/main" id="{09981765-4BF3-4A83-1E3B-310A9D1D7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1675" y="1901248"/>
            <a:ext cx="5474323" cy="3051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6" name="Right Triangle 2065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8" name="Rectangle 2067">
            <a:extLst>
              <a:ext uri="{FF2B5EF4-FFF2-40B4-BE49-F238E27FC236}">
                <a16:creationId xmlns:a16="http://schemas.microsoft.com/office/drawing/2014/main" id="{086A5A31-B10A-4793-84D4-D785959AE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201" y="623275"/>
            <a:ext cx="5141626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A7BF4BC-436C-C4BF-3DB0-EB320E9A4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1922" y="382343"/>
            <a:ext cx="4568159" cy="1597228"/>
          </a:xfrm>
        </p:spPr>
        <p:txBody>
          <a:bodyPr>
            <a:normAutofit/>
          </a:bodyPr>
          <a:lstStyle/>
          <a:p>
            <a:r>
              <a:rPr lang="cs-CZ" sz="5400" b="1" i="0" u="sng" dirty="0">
                <a:effectLst/>
                <a:latin typeface="Söhne"/>
              </a:rPr>
              <a:t>Úvod do DHCP</a:t>
            </a:r>
            <a:endParaRPr lang="cs-CZ" sz="5400" u="sng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1AF3989-5A50-42C3-4849-845CEC062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5201" y="1543998"/>
            <a:ext cx="4334334" cy="3905080"/>
          </a:xfrm>
        </p:spPr>
        <p:txBody>
          <a:bodyPr anchor="t">
            <a:noAutofit/>
          </a:bodyPr>
          <a:lstStyle/>
          <a:p>
            <a:r>
              <a:rPr lang="cs-CZ" sz="2000" b="1" i="0" dirty="0">
                <a:effectLst/>
                <a:latin typeface="Söhne"/>
              </a:rPr>
              <a:t>Definice DHCP:</a:t>
            </a:r>
            <a:r>
              <a:rPr lang="cs-CZ" sz="2000" b="0" i="0" dirty="0">
                <a:effectLst/>
                <a:latin typeface="Söhne"/>
              </a:rPr>
              <a:t> Dynamický protokol konfigurace hosta (DHCP) je síťový protokol používaný k automatickému přidělování IP adres a dalších síťových konfigurací zařízením v síti.</a:t>
            </a:r>
          </a:p>
          <a:p>
            <a:endParaRPr lang="cs-CZ" sz="2000" dirty="0">
              <a:latin typeface="Söhne"/>
            </a:endParaRPr>
          </a:p>
          <a:p>
            <a:r>
              <a:rPr lang="cs-CZ" sz="2000" b="1" i="0" dirty="0">
                <a:effectLst/>
                <a:latin typeface="Söhne"/>
              </a:rPr>
              <a:t>Účel DHCP:</a:t>
            </a:r>
            <a:r>
              <a:rPr lang="cs-CZ" sz="2000" b="0" i="0" dirty="0">
                <a:effectLst/>
                <a:latin typeface="Söhne"/>
              </a:rPr>
              <a:t> Cílem DHCP je usnadnit a zjednodušit správu sítě tím, že umožňuje automatické přidělování síťových adres a konfigurací zařízením bez potřeby ručního nastavování.</a:t>
            </a:r>
            <a:br>
              <a:rPr lang="cs-CZ" sz="2000" dirty="0"/>
            </a:br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140467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B360D35-1C87-DE1A-A25C-6E9E0212E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573" y="771231"/>
            <a:ext cx="6697254" cy="1597228"/>
          </a:xfrm>
        </p:spPr>
        <p:txBody>
          <a:bodyPr>
            <a:normAutofit/>
          </a:bodyPr>
          <a:lstStyle/>
          <a:p>
            <a:r>
              <a:rPr lang="cs-CZ" sz="5100" b="1" i="0" u="sng" dirty="0">
                <a:effectLst/>
                <a:latin typeface="Söhne"/>
              </a:rPr>
              <a:t>Princip fungování DHCP</a:t>
            </a:r>
            <a:endParaRPr lang="cs-CZ" sz="5100" u="sng" dirty="0"/>
          </a:p>
        </p:txBody>
      </p:sp>
      <p:pic>
        <p:nvPicPr>
          <p:cNvPr id="8" name="Picture 2" descr="DHCP Poisoning | Ethical Hacking">
            <a:extLst>
              <a:ext uri="{FF2B5EF4-FFF2-40B4-BE49-F238E27FC236}">
                <a16:creationId xmlns:a16="http://schemas.microsoft.com/office/drawing/2014/main" id="{D2431AD0-B48A-E034-F267-E9B7B0586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3357" y="1983883"/>
            <a:ext cx="3533985" cy="2967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72DC6C-A54D-DF02-2082-1B7008452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4" y="2393057"/>
            <a:ext cx="4667549" cy="3494559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000" b="1" i="0" dirty="0">
                <a:effectLst/>
                <a:latin typeface="Söhne"/>
              </a:rPr>
              <a:t>Proces získání IP adresy:</a:t>
            </a:r>
            <a:r>
              <a:rPr lang="cs-CZ" sz="2000" b="0" i="0" dirty="0">
                <a:effectLst/>
                <a:latin typeface="Söhne"/>
              </a:rPr>
              <a:t> Klienti v síti odesílají DHCP zprávy na server, který poté přiděluje dynamické IP adresy a další konfigurační informace.</a:t>
            </a:r>
          </a:p>
          <a:p>
            <a:pPr>
              <a:buFont typeface="Arial" panose="020B0604020202020204" pitchFamily="34" charset="0"/>
              <a:buChar char="•"/>
            </a:pPr>
            <a:endParaRPr lang="cs-CZ" sz="2000" b="0" i="0" dirty="0">
              <a:effectLst/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 i="0" dirty="0">
                <a:effectLst/>
                <a:latin typeface="Söhne"/>
              </a:rPr>
              <a:t>Typy DHCP zpráv:</a:t>
            </a:r>
            <a:r>
              <a:rPr lang="cs-CZ" sz="2000" b="0" i="0" dirty="0">
                <a:effectLst/>
                <a:latin typeface="Söhne"/>
              </a:rPr>
              <a:t> Proces komunikace mezi klientem a serverem zahrnuje čtyři hlavní typy zpráv: </a:t>
            </a:r>
            <a:r>
              <a:rPr lang="cs-CZ" sz="2000" b="0" i="0" dirty="0" err="1">
                <a:effectLst/>
                <a:latin typeface="Söhne"/>
              </a:rPr>
              <a:t>Discover</a:t>
            </a:r>
            <a:r>
              <a:rPr lang="cs-CZ" sz="2000" b="0" i="0" dirty="0">
                <a:effectLst/>
                <a:latin typeface="Söhne"/>
              </a:rPr>
              <a:t>, </a:t>
            </a:r>
            <a:r>
              <a:rPr lang="cs-CZ" sz="2000" b="0" i="0" dirty="0" err="1">
                <a:effectLst/>
                <a:latin typeface="Söhne"/>
              </a:rPr>
              <a:t>Offer</a:t>
            </a:r>
            <a:r>
              <a:rPr lang="cs-CZ" sz="2000" b="0" i="0" dirty="0">
                <a:effectLst/>
                <a:latin typeface="Söhne"/>
              </a:rPr>
              <a:t>, </a:t>
            </a:r>
            <a:r>
              <a:rPr lang="cs-CZ" sz="2000" b="0" i="0" dirty="0" err="1">
                <a:effectLst/>
                <a:latin typeface="Söhne"/>
              </a:rPr>
              <a:t>Request</a:t>
            </a:r>
            <a:r>
              <a:rPr lang="cs-CZ" sz="2000" b="0" i="0" dirty="0">
                <a:effectLst/>
                <a:latin typeface="Söhne"/>
              </a:rPr>
              <a:t> a </a:t>
            </a:r>
            <a:r>
              <a:rPr lang="cs-CZ" sz="2000" b="0" i="0" dirty="0" err="1">
                <a:effectLst/>
                <a:latin typeface="Söhne"/>
              </a:rPr>
              <a:t>Acknowledge</a:t>
            </a:r>
            <a:r>
              <a:rPr lang="cs-CZ" sz="2000" b="0" i="0" dirty="0">
                <a:effectLst/>
                <a:latin typeface="Söhne"/>
              </a:rPr>
              <a:t>.</a:t>
            </a:r>
          </a:p>
          <a:p>
            <a:endParaRPr lang="cs-CZ" sz="1900" dirty="0"/>
          </a:p>
        </p:txBody>
      </p:sp>
    </p:spTree>
    <p:extLst>
      <p:ext uri="{BB962C8B-B14F-4D97-AF65-F5344CB8AC3E}">
        <p14:creationId xmlns:p14="http://schemas.microsoft.com/office/powerpoint/2010/main" val="1087834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7832F76-0E9F-8323-834D-6DBAFD106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cs-CZ" b="1" i="0" u="sng" dirty="0">
                <a:effectLst/>
                <a:latin typeface="Söhne"/>
              </a:rPr>
              <a:t>Výhody DHCP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2" descr="What is DHCP?">
            <a:extLst>
              <a:ext uri="{FF2B5EF4-FFF2-40B4-BE49-F238E27FC236}">
                <a16:creationId xmlns:a16="http://schemas.microsoft.com/office/drawing/2014/main" id="{64B2769E-C0B1-BA25-1E36-55E37AC8F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78523" y="397077"/>
            <a:ext cx="8634954" cy="2957472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B60C4DF-A78D-DF96-11A7-77B63853A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835" y="3998019"/>
            <a:ext cx="6382966" cy="221651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1800" b="1" i="0" dirty="0">
                <a:effectLst/>
                <a:latin typeface="Söhne"/>
              </a:rPr>
              <a:t>Jednoduchá konfigurace:</a:t>
            </a:r>
            <a:r>
              <a:rPr lang="cs-CZ" sz="1800" b="0" i="0" dirty="0">
                <a:effectLst/>
                <a:latin typeface="Söhne"/>
              </a:rPr>
              <a:t> Administrátoři sítě nemusí manuálně nastavovat každé zařízení v síti, což šetří čas a snižuje možnost chyb.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1800" b="1" i="0" dirty="0">
                <a:effectLst/>
                <a:latin typeface="Söhne"/>
              </a:rPr>
              <a:t>Úspora času:</a:t>
            </a:r>
            <a:r>
              <a:rPr lang="cs-CZ" sz="1800" b="0" i="0" dirty="0">
                <a:effectLst/>
                <a:latin typeface="Söhne"/>
              </a:rPr>
              <a:t> DHCP umožňuje rychlé přidělení IP adres a konfigurací bez zdlouhavého ručního procesu.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1800" b="1" i="0" dirty="0">
                <a:effectLst/>
                <a:latin typeface="Söhne"/>
              </a:rPr>
              <a:t>Snížení možnosti chyb:</a:t>
            </a:r>
            <a:r>
              <a:rPr lang="cs-CZ" sz="1800" b="0" i="0" dirty="0">
                <a:effectLst/>
                <a:latin typeface="Söhne"/>
              </a:rPr>
              <a:t> Automatizovaný proces konfigurace pomáhá minimalizovat chyby spojené s lidským faktorem.</a:t>
            </a:r>
          </a:p>
          <a:p>
            <a:endParaRPr lang="cs-CZ" sz="1800" dirty="0"/>
          </a:p>
        </p:txBody>
      </p:sp>
    </p:spTree>
    <p:extLst>
      <p:ext uri="{BB962C8B-B14F-4D97-AF65-F5344CB8AC3E}">
        <p14:creationId xmlns:p14="http://schemas.microsoft.com/office/powerpoint/2010/main" val="321271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105" name="Freeform: Shape 4104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098" name="Picture 2" descr="DHCP">
            <a:extLst>
              <a:ext uri="{FF2B5EF4-FFF2-40B4-BE49-F238E27FC236}">
                <a16:creationId xmlns:a16="http://schemas.microsoft.com/office/drawing/2014/main" id="{9C190476-33FF-9E17-2F46-7C4A37A66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41053" y="953955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7" name="Arc 4106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1792E51-5F22-1903-E0BD-AA5E4CE41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cs-CZ" b="1" i="0" u="sng" dirty="0">
                <a:effectLst/>
                <a:latin typeface="Söhne"/>
              </a:rPr>
              <a:t>Konfigurace DHCP serveru</a:t>
            </a:r>
            <a:endParaRPr lang="cs-CZ" u="sng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14CE3FA-6991-73B2-FEA7-177FBF952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200" b="1" i="0">
                <a:effectLst/>
                <a:latin typeface="Söhne"/>
              </a:rPr>
              <a:t>Nastavení rozsahu adres:</a:t>
            </a:r>
            <a:r>
              <a:rPr lang="cs-CZ" sz="2200" b="0" i="0">
                <a:effectLst/>
                <a:latin typeface="Söhne"/>
              </a:rPr>
              <a:t> Administrátoři musí definovat rozsah IP adres, které může DHCP server přidělovat klientům v síti.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200" b="1" i="0">
                <a:effectLst/>
                <a:latin typeface="Söhne"/>
              </a:rPr>
              <a:t>Přidělování dalších parametrů:</a:t>
            </a:r>
            <a:r>
              <a:rPr lang="cs-CZ" sz="2200" b="0" i="0">
                <a:effectLst/>
                <a:latin typeface="Söhne"/>
              </a:rPr>
              <a:t> Kromě IP adres může DHCP server přidělovat další konfigurační informace, jako jsou brány, DNS servery a další.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200" b="1" i="0">
                <a:effectLst/>
                <a:latin typeface="Söhne"/>
              </a:rPr>
              <a:t>Nastavení časových limitů:</a:t>
            </a:r>
            <a:r>
              <a:rPr lang="cs-CZ" sz="2200" b="0" i="0">
                <a:effectLst/>
                <a:latin typeface="Söhne"/>
              </a:rPr>
              <a:t> Administrátoři mohou nastavit časové limity pro platnost přidělených IP adres a dalších konfiguračních informací.</a:t>
            </a:r>
          </a:p>
          <a:p>
            <a:endParaRPr lang="cs-CZ" sz="2200"/>
          </a:p>
        </p:txBody>
      </p:sp>
    </p:spTree>
    <p:extLst>
      <p:ext uri="{BB962C8B-B14F-4D97-AF65-F5344CB8AC3E}">
        <p14:creationId xmlns:p14="http://schemas.microsoft.com/office/powerpoint/2010/main" val="2789809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153" name="Arc 615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F1C7066-ED4B-9B11-A53F-D695AB81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5247" y="681037"/>
            <a:ext cx="6673373" cy="1325563"/>
          </a:xfrm>
        </p:spPr>
        <p:txBody>
          <a:bodyPr>
            <a:normAutofit/>
          </a:bodyPr>
          <a:lstStyle/>
          <a:p>
            <a:r>
              <a:rPr lang="cs-CZ" b="1" i="0" u="sng" dirty="0">
                <a:effectLst/>
                <a:latin typeface="Söhne"/>
              </a:rPr>
              <a:t>DHCP a síťová bezpečnost</a:t>
            </a:r>
            <a:endParaRPr lang="cs-CZ" u="sng" dirty="0"/>
          </a:p>
        </p:txBody>
      </p:sp>
      <p:sp>
        <p:nvSpPr>
          <p:cNvPr id="6155" name="Freeform: Shape 615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146" name="Picture 2" descr="Mitigation of DHCP starvation attack - ScienceDirect">
            <a:extLst>
              <a:ext uri="{FF2B5EF4-FFF2-40B4-BE49-F238E27FC236}">
                <a16:creationId xmlns:a16="http://schemas.microsoft.com/office/drawing/2014/main" id="{73F1B99F-9DE2-90BC-4501-1A00523CD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82" y="2400595"/>
            <a:ext cx="4777381" cy="188706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64917DD-1AC0-5C4B-3E89-BBB08A493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b="1" i="0">
                <a:effectLst/>
                <a:latin typeface="Söhne"/>
              </a:rPr>
              <a:t>Rizika spojená s DHCP:</a:t>
            </a:r>
            <a:r>
              <a:rPr lang="cs-CZ" b="0" i="0">
                <a:effectLst/>
                <a:latin typeface="Söhne"/>
              </a:rPr>
              <a:t> Použití DHCP může představovat rizika pro síťovou bezpečnost, včetně možnosti neoprávněného přístupu a útoků na síť.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i="0">
                <a:effectLst/>
                <a:latin typeface="Söhne"/>
              </a:rPr>
              <a:t>Metody ochrany:</a:t>
            </a:r>
            <a:r>
              <a:rPr lang="cs-CZ" b="0" i="0">
                <a:effectLst/>
                <a:latin typeface="Söhne"/>
              </a:rPr>
              <a:t> Pro minimalizaci rizik spojených s DHCP existují různé metody ochrany, jako je filtrace DHCP zpráv a omezení přístupu k DHCP serveru.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9533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8" name="Rectangle 7177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3903DC0-F063-E246-6083-38D034F4C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/>
          </a:bodyPr>
          <a:lstStyle/>
          <a:p>
            <a:r>
              <a:rPr lang="cs-CZ" sz="4100" b="1" i="0" u="sng" dirty="0">
                <a:effectLst/>
                <a:latin typeface="Söhne"/>
              </a:rPr>
              <a:t>DHCP v různých operačních systémech</a:t>
            </a:r>
            <a:endParaRPr lang="cs-CZ" sz="4100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18BFBA-D561-681A-38D9-4F13A670E5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825625"/>
            <a:ext cx="5092194" cy="435133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198375" rIns="0" bIns="198375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Söhne"/>
              </a:rPr>
              <a:t>Podpora v různých verzích Windows: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Söhne"/>
              </a:rPr>
              <a:t> DHCP je integrován do většiny verzí operačního systému Windows a je snadno konfigurovatelný prostřednictvím rozhraní pro správu síťových připojení.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Söhne"/>
              </a:rPr>
              <a:t>Implementace v různých distribucích Linuxu: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Söhne"/>
              </a:rPr>
              <a:t> Linuxové distribuce obvykle obsahují DHCP klienty a možnost nasazení DHCP serverů, které mohou být konfigurovány pomocí různých nástrojů.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>
                <a:ln>
                  <a:noFill/>
                </a:ln>
                <a:effectLst/>
                <a:latin typeface="Söhne"/>
              </a:rPr>
              <a:t>DHCP v macOS a dalších systémech:</a:t>
            </a:r>
            <a:r>
              <a:rPr kumimoji="0" lang="cs-CZ" altLang="cs-CZ" sz="1800" b="0" i="0" u="none" strike="noStrike" cap="none" normalizeH="0" baseline="0">
                <a:ln>
                  <a:noFill/>
                </a:ln>
                <a:effectLst/>
                <a:latin typeface="Söhne"/>
              </a:rPr>
              <a:t> macOS a další operační systémy také podporují DHCP a poskytují nástroje pro konfiguraci a správu síťových připojení.</a:t>
            </a:r>
            <a:br>
              <a:rPr kumimoji="0" lang="cs-CZ" altLang="cs-CZ" sz="1800" b="0" i="0" u="none" strike="noStrike" cap="none" normalizeH="0" baseline="0">
                <a:ln>
                  <a:noFill/>
                </a:ln>
                <a:effectLst/>
              </a:rPr>
            </a:br>
            <a:endParaRPr kumimoji="0" lang="cs-CZ" altLang="cs-CZ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7180" name="Oval 7179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171" name="Picture 3" descr="Install and Configure DHCP Server on Windows Server">
            <a:extLst>
              <a:ext uri="{FF2B5EF4-FFF2-40B4-BE49-F238E27FC236}">
                <a16:creationId xmlns:a16="http://schemas.microsoft.com/office/drawing/2014/main" id="{827EFCEF-B2AA-99DE-D1AA-5E101A6A36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786" b="-1"/>
          <a:stretch/>
        </p:blipFill>
        <p:spPr bwMode="auto"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82" name="Arc 7181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73" name="Picture 5" descr="DHCP Server in Linux | How it Works | How to Configure | Advatanges">
            <a:extLst>
              <a:ext uri="{FF2B5EF4-FFF2-40B4-BE49-F238E27FC236}">
                <a16:creationId xmlns:a16="http://schemas.microsoft.com/office/drawing/2014/main" id="{3C33FF8D-F291-8B7A-BE99-FF3B71A392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54" b="-3"/>
          <a:stretch/>
        </p:blipFill>
        <p:spPr bwMode="auto"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3774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6" name="Rectangle 819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207" name="Arc 820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5C9F205-4D86-6EA8-6697-03D1325C6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cs-CZ" b="1" i="0" u="sng" dirty="0">
                <a:effectLst/>
                <a:latin typeface="Söhne"/>
              </a:rPr>
              <a:t>Alternativy k DHCP</a:t>
            </a:r>
            <a:endParaRPr lang="cs-CZ" u="sng" dirty="0"/>
          </a:p>
        </p:txBody>
      </p:sp>
      <p:sp>
        <p:nvSpPr>
          <p:cNvPr id="8208" name="Freeform: Shape 820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195" name="Picture 3" descr="What is DHCP: Interaction Process and Packet Structure - VSOL">
            <a:extLst>
              <a:ext uri="{FF2B5EF4-FFF2-40B4-BE49-F238E27FC236}">
                <a16:creationId xmlns:a16="http://schemas.microsoft.com/office/drawing/2014/main" id="{D51BF4B3-7D5E-52C5-4C9C-A94DE8B12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82" y="1910914"/>
            <a:ext cx="4777381" cy="286642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26EAD30-057D-7742-9938-3C8761B8EB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94962" y="1984443"/>
            <a:ext cx="5458838" cy="419252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198375" rIns="0" bIns="198375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400" b="1" i="0" u="none" strike="noStrike" cap="none" normalizeH="0" baseline="0">
                <a:ln>
                  <a:noFill/>
                </a:ln>
                <a:effectLst/>
                <a:latin typeface="Söhne"/>
              </a:rPr>
              <a:t>Statická konfigurace:</a:t>
            </a:r>
            <a:r>
              <a:rPr kumimoji="0" lang="cs-CZ" altLang="cs-CZ" sz="2400" b="0" i="0" u="none" strike="noStrike" cap="none" normalizeH="0" baseline="0">
                <a:ln>
                  <a:noFill/>
                </a:ln>
                <a:effectLst/>
                <a:latin typeface="Söhne"/>
              </a:rPr>
              <a:t> Alternativou k DHCP je statická konfigurace, při které jsou IP adresy a další síťové konfigurace ručně nastaveny na každém zařízení v síti.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2400" b="1" i="0" u="none" strike="noStrike" cap="none" normalizeH="0" baseline="0">
                <a:ln>
                  <a:noFill/>
                </a:ln>
                <a:effectLst/>
                <a:latin typeface="Söhne"/>
              </a:rPr>
              <a:t>Automatické konfigurace založené na jiných protokolech:</a:t>
            </a:r>
            <a:r>
              <a:rPr kumimoji="0" lang="cs-CZ" altLang="cs-CZ" sz="2400" b="0" i="0" u="none" strike="noStrike" cap="none" normalizeH="0" baseline="0">
                <a:ln>
                  <a:noFill/>
                </a:ln>
                <a:effectLst/>
                <a:latin typeface="Söhne"/>
              </a:rPr>
              <a:t> Existují i další protokoly a technologie pro automatickou konfiguraci sítě, jako je například IPv6 Stateless Address Autoconfiguration (SLAAC).</a:t>
            </a:r>
            <a:br>
              <a:rPr kumimoji="0" lang="cs-CZ" altLang="cs-CZ" sz="2400" b="0" i="0" u="none" strike="noStrike" cap="none" normalizeH="0" baseline="0">
                <a:ln>
                  <a:noFill/>
                </a:ln>
                <a:effectLst/>
              </a:rPr>
            </a:br>
            <a:endParaRPr kumimoji="0" lang="cs-CZ" altLang="cs-CZ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382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225" name="Arc 9224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08F11AE-3994-7512-A20D-0D10CE3CF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r>
              <a:rPr lang="cs-CZ" b="1" i="0" u="sng" dirty="0">
                <a:effectLst/>
                <a:latin typeface="Söhne"/>
              </a:rPr>
              <a:t>Omezení DHCP</a:t>
            </a:r>
            <a:endParaRPr lang="cs-CZ" u="sng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CABD6C-A39B-864E-B813-FE3DFC7F3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b="1" i="0">
                <a:effectLst/>
                <a:latin typeface="Söhne"/>
              </a:rPr>
              <a:t>Limitace ve větších sítích:</a:t>
            </a:r>
            <a:r>
              <a:rPr lang="cs-CZ" b="0" i="0">
                <a:effectLst/>
                <a:latin typeface="Söhne"/>
              </a:rPr>
              <a:t> V případě velkých sítí může být správa DHCP složitější a vyžadovat další konfigurační úpravy.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i="0">
                <a:effectLst/>
                <a:latin typeface="Söhne"/>
              </a:rPr>
              <a:t>Možné konflikty IP adres:</a:t>
            </a:r>
            <a:r>
              <a:rPr lang="cs-CZ" b="0" i="0">
                <a:effectLst/>
                <a:latin typeface="Söhne"/>
              </a:rPr>
              <a:t> V nepříznivých podmínkách může dojít k přidělení stejné IP adresy více klientům, což může vést ke konfliktům v síti.</a:t>
            </a:r>
          </a:p>
          <a:p>
            <a:endParaRPr lang="cs-CZ" dirty="0"/>
          </a:p>
        </p:txBody>
      </p:sp>
      <p:sp>
        <p:nvSpPr>
          <p:cNvPr id="9227" name="Oval 9226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218" name="Picture 2" descr="What Is DHCP and Why Is It Important?">
            <a:extLst>
              <a:ext uri="{FF2B5EF4-FFF2-40B4-BE49-F238E27FC236}">
                <a16:creationId xmlns:a16="http://schemas.microsoft.com/office/drawing/2014/main" id="{78A553D8-263F-9BBC-BFCB-CAB6DFD39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09962" y="3607904"/>
            <a:ext cx="4221597" cy="2543514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1309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249" name="Freeform: Shape 10248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42" name="Picture 2" descr="How to implement DHCP | Network Wrangler – Tech Blog">
            <a:extLst>
              <a:ext uri="{FF2B5EF4-FFF2-40B4-BE49-F238E27FC236}">
                <a16:creationId xmlns:a16="http://schemas.microsoft.com/office/drawing/2014/main" id="{84CF7028-FD63-45A2-400B-76B4CF594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6178" y="2362395"/>
            <a:ext cx="6522548" cy="269055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1" name="Arc 10250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233BCFE-BC7A-5FAD-413D-F36E2FA6F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cs-CZ" b="1" i="0" u="sng" dirty="0">
                <a:effectLst/>
                <a:latin typeface="Söhne"/>
              </a:rPr>
              <a:t>Implementace DHCP</a:t>
            </a:r>
            <a:endParaRPr lang="cs-CZ" u="sng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D1E644F-CF68-F9F1-9C97-76290C4C1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600" b="1" i="0">
                <a:effectLst/>
                <a:latin typeface="Söhne"/>
              </a:rPr>
              <a:t>Postupy nasazení v praxi:</a:t>
            </a:r>
            <a:r>
              <a:rPr lang="cs-CZ" sz="2600" b="0" i="0">
                <a:effectLst/>
                <a:latin typeface="Söhne"/>
              </a:rPr>
              <a:t> Při implementaci DHCP je důležité dodržovat osvědčené postupy a zohlednit specifické požadavky sítě.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600" b="1" i="0">
                <a:effectLst/>
                <a:latin typeface="Söhne"/>
              </a:rPr>
              <a:t>Testování a údržba:</a:t>
            </a:r>
            <a:r>
              <a:rPr lang="cs-CZ" sz="2600" b="0" i="0">
                <a:effectLst/>
                <a:latin typeface="Söhne"/>
              </a:rPr>
              <a:t> Po nasazení DHCP je nutné pravidelně testovat jeho funkčnost a provádět údržbu, aby byla zajištěna stabilita a spolehlivost sítě.</a:t>
            </a:r>
          </a:p>
          <a:p>
            <a:endParaRPr lang="cs-CZ" sz="2600"/>
          </a:p>
        </p:txBody>
      </p:sp>
    </p:spTree>
    <p:extLst>
      <p:ext uri="{BB962C8B-B14F-4D97-AF65-F5344CB8AC3E}">
        <p14:creationId xmlns:p14="http://schemas.microsoft.com/office/powerpoint/2010/main" val="98038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2" name="Rectangle 11271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274" name="Arc 11273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F36AC2C-3142-B7CE-F2FB-44C8A35E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751" y="343544"/>
            <a:ext cx="10515599" cy="1325563"/>
          </a:xfrm>
        </p:spPr>
        <p:txBody>
          <a:bodyPr>
            <a:normAutofit/>
          </a:bodyPr>
          <a:lstStyle/>
          <a:p>
            <a:r>
              <a:rPr lang="cs-CZ" b="1" i="0" u="sng" dirty="0">
                <a:effectLst/>
                <a:latin typeface="Söhne"/>
              </a:rPr>
              <a:t>Příklady DHCP konfigurace</a:t>
            </a:r>
            <a:endParaRPr lang="cs-CZ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CF7687-89F9-224A-76E9-C60DB822E9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7934" y="1500607"/>
            <a:ext cx="6909131" cy="490952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198375" rIns="0" bIns="198375" numCol="1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cs-CZ" altLang="cs-CZ" sz="6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cs-CZ" altLang="cs-CZ" sz="7200" b="1" dirty="0">
                <a:latin typeface="Söhne"/>
              </a:rPr>
              <a:t>K</a:t>
            </a:r>
            <a:r>
              <a:rPr kumimoji="0" lang="cs-CZ" altLang="cs-CZ" sz="7200" b="1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onfigurace v systému Windows:</a:t>
            </a:r>
            <a:endParaRPr kumimoji="0" lang="cs-CZ" altLang="cs-CZ" sz="7200" b="0" i="0" u="none" strike="noStrike" cap="none" normalizeH="0" baseline="0" dirty="0">
              <a:ln>
                <a:noFill/>
              </a:ln>
              <a:effectLst/>
              <a:latin typeface="Söhne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6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Nastavení rozsahu adres v DHCP serverové roli na serveru Windows Server.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6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Konfigurace DHCP klienta v operačním systému Windows 10 pomocí ovládacího panelu nebo příkazové řádky.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cs-CZ" altLang="cs-CZ" sz="6400" b="0" i="0" u="none" strike="noStrike" cap="none" normalizeH="0" baseline="0" dirty="0">
              <a:ln>
                <a:noFill/>
              </a:ln>
              <a:effectLst/>
              <a:latin typeface="Söhne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cs-CZ" altLang="cs-CZ" sz="7200" b="1" dirty="0">
                <a:latin typeface="Söhne"/>
              </a:rPr>
              <a:t>K</a:t>
            </a:r>
            <a:r>
              <a:rPr kumimoji="0" lang="cs-CZ" altLang="cs-CZ" sz="7200" b="1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onfigurace v distribuci Linuxu:</a:t>
            </a:r>
            <a:endParaRPr kumimoji="0" lang="cs-CZ" altLang="cs-CZ" sz="7200" b="0" i="0" u="none" strike="noStrike" cap="none" normalizeH="0" baseline="0" dirty="0">
              <a:ln>
                <a:noFill/>
              </a:ln>
              <a:effectLst/>
              <a:latin typeface="Söhne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6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Nastavení DHCP serveru pomocí služby </a:t>
            </a:r>
            <a:r>
              <a:rPr kumimoji="0" lang="cs-CZ" altLang="cs-CZ" sz="6400" b="1" i="0" u="none" strike="noStrike" cap="none" normalizeH="0" baseline="0" dirty="0" err="1">
                <a:ln>
                  <a:noFill/>
                </a:ln>
                <a:effectLst/>
                <a:latin typeface="Söhne Mono"/>
              </a:rPr>
              <a:t>dhcpd</a:t>
            </a:r>
            <a:r>
              <a:rPr kumimoji="0" lang="cs-CZ" altLang="cs-CZ" sz="6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 v distribuci Linuxu, například v </a:t>
            </a:r>
            <a:r>
              <a:rPr kumimoji="0" lang="cs-CZ" altLang="cs-CZ" sz="6400" b="0" i="0" u="none" strike="noStrike" cap="none" normalizeH="0" baseline="0" dirty="0" err="1">
                <a:ln>
                  <a:noFill/>
                </a:ln>
                <a:effectLst/>
                <a:latin typeface="Söhne"/>
              </a:rPr>
              <a:t>Ubuntu</a:t>
            </a:r>
            <a:r>
              <a:rPr kumimoji="0" lang="cs-CZ" altLang="cs-CZ" sz="6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 Server.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6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Konfigurace DHCP klienta v terminálu distribuce Linuxu, například pomocí nástroje </a:t>
            </a:r>
            <a:r>
              <a:rPr kumimoji="0" lang="cs-CZ" altLang="cs-CZ" sz="6400" b="1" i="0" u="none" strike="noStrike" cap="none" normalizeH="0" baseline="0" dirty="0" err="1">
                <a:ln>
                  <a:noFill/>
                </a:ln>
                <a:effectLst/>
                <a:latin typeface="Söhne Mono"/>
              </a:rPr>
              <a:t>dhclient</a:t>
            </a:r>
            <a:r>
              <a:rPr kumimoji="0" lang="cs-CZ" altLang="cs-CZ" sz="6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cs-CZ" altLang="cs-CZ" sz="6400" b="0" i="0" u="none" strike="noStrike" cap="none" normalizeH="0" baseline="0" dirty="0">
              <a:ln>
                <a:noFill/>
              </a:ln>
              <a:effectLst/>
              <a:latin typeface="Söhne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cs-CZ" altLang="cs-CZ" sz="7200" b="1" dirty="0">
                <a:latin typeface="Söhne"/>
              </a:rPr>
              <a:t>K</a:t>
            </a:r>
            <a:r>
              <a:rPr kumimoji="0" lang="cs-CZ" altLang="cs-CZ" sz="7200" b="1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onfigurace v systému macOS:</a:t>
            </a:r>
            <a:endParaRPr kumimoji="0" lang="cs-CZ" altLang="cs-CZ" sz="7200" b="0" i="0" u="none" strike="noStrike" cap="none" normalizeH="0" baseline="0" dirty="0">
              <a:ln>
                <a:noFill/>
              </a:ln>
              <a:effectLst/>
              <a:latin typeface="Söhne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6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Použití nástroje Network </a:t>
            </a:r>
            <a:r>
              <a:rPr kumimoji="0" lang="cs-CZ" altLang="cs-CZ" sz="6400" b="0" i="0" u="none" strike="noStrike" cap="none" normalizeH="0" baseline="0" dirty="0" err="1">
                <a:ln>
                  <a:noFill/>
                </a:ln>
                <a:effectLst/>
                <a:latin typeface="Söhne"/>
              </a:rPr>
              <a:t>Preferences</a:t>
            </a:r>
            <a:r>
              <a:rPr kumimoji="0" lang="cs-CZ" altLang="cs-CZ" sz="6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 pro konfiguraci DHCP v macOS.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6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Příklad nastavení DHCP klienta v terminálu macOS.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cs-CZ" altLang="cs-CZ" sz="7200" b="1" i="0" u="none" strike="noStrike" cap="none" normalizeH="0" baseline="0" dirty="0">
              <a:ln>
                <a:noFill/>
              </a:ln>
              <a:effectLst/>
              <a:latin typeface="Söhne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cs-CZ" altLang="cs-CZ" sz="7200" b="1" dirty="0">
                <a:latin typeface="Söhne"/>
              </a:rPr>
              <a:t>K</a:t>
            </a:r>
            <a:r>
              <a:rPr kumimoji="0" lang="cs-CZ" altLang="cs-CZ" sz="7200" b="1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onfigurace v síťovém zařízení:</a:t>
            </a:r>
            <a:endParaRPr kumimoji="0" lang="cs-CZ" altLang="cs-CZ" sz="7200" b="0" i="0" u="none" strike="noStrike" cap="none" normalizeH="0" baseline="0" dirty="0">
              <a:ln>
                <a:noFill/>
              </a:ln>
              <a:effectLst/>
              <a:latin typeface="Söhne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6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Konfigurace DHCP serveru v síťovém prvků, jako jsou směrovače (routery) a přepínače (</a:t>
            </a:r>
            <a:r>
              <a:rPr kumimoji="0" lang="cs-CZ" altLang="cs-CZ" sz="6400" b="0" i="0" u="none" strike="noStrike" cap="none" normalizeH="0" baseline="0" dirty="0" err="1">
                <a:ln>
                  <a:noFill/>
                </a:ln>
                <a:effectLst/>
                <a:latin typeface="Söhne"/>
              </a:rPr>
              <a:t>switches</a:t>
            </a:r>
            <a:r>
              <a:rPr kumimoji="0" lang="cs-CZ" altLang="cs-CZ" sz="6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).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6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Nastavení DHCP klienta na zařízeních </a:t>
            </a:r>
            <a:r>
              <a:rPr kumimoji="0" lang="cs-CZ" altLang="cs-CZ" sz="6400" b="0" i="0" u="none" strike="noStrike" cap="none" normalizeH="0" baseline="0" dirty="0" err="1">
                <a:ln>
                  <a:noFill/>
                </a:ln>
                <a:effectLst/>
                <a:latin typeface="Söhne"/>
              </a:rPr>
              <a:t>IoT</a:t>
            </a:r>
            <a:r>
              <a:rPr kumimoji="0" lang="cs-CZ" altLang="cs-CZ" sz="6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 (Internet </a:t>
            </a:r>
            <a:r>
              <a:rPr kumimoji="0" lang="cs-CZ" altLang="cs-CZ" sz="6400" b="0" i="0" u="none" strike="noStrike" cap="none" normalizeH="0" baseline="0" dirty="0" err="1">
                <a:ln>
                  <a:noFill/>
                </a:ln>
                <a:effectLst/>
                <a:latin typeface="Söhne"/>
              </a:rPr>
              <a:t>of</a:t>
            </a:r>
            <a:r>
              <a:rPr kumimoji="0" lang="cs-CZ" altLang="cs-CZ" sz="6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 </a:t>
            </a:r>
            <a:r>
              <a:rPr kumimoji="0" lang="cs-CZ" altLang="cs-CZ" sz="6400" b="0" i="0" u="none" strike="noStrike" cap="none" normalizeH="0" baseline="0" dirty="0" err="1">
                <a:ln>
                  <a:noFill/>
                </a:ln>
                <a:effectLst/>
                <a:latin typeface="Söhne"/>
              </a:rPr>
              <a:t>Things</a:t>
            </a:r>
            <a:r>
              <a:rPr kumimoji="0" lang="cs-CZ" altLang="cs-CZ" sz="64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) nebo síťových tiskárnách.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cs-CZ" altLang="cs-CZ" sz="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1276" name="Oval 11275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267" name="Picture 3" descr="How to Configure DHCP Server on Cisco Routers">
            <a:extLst>
              <a:ext uri="{FF2B5EF4-FFF2-40B4-BE49-F238E27FC236}">
                <a16:creationId xmlns:a16="http://schemas.microsoft.com/office/drawing/2014/main" id="{4119E6D0-9BD2-B824-F2B6-8EBD56CAF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63770" y="3347306"/>
            <a:ext cx="4759955" cy="2633724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496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5" name="Rectangle 12294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297" name="Arc 12296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B600E6D-3B22-247B-4C78-24998A76F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cs-CZ" b="1" i="0">
                <a:effectLst/>
                <a:latin typeface="Söhne"/>
              </a:rPr>
              <a:t>Shrnutí</a:t>
            </a:r>
            <a:endParaRPr lang="cs-CZ" dirty="0"/>
          </a:p>
        </p:txBody>
      </p:sp>
      <p:sp>
        <p:nvSpPr>
          <p:cNvPr id="12299" name="Freeform: Shape 12298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290" name="Picture 2" descr="What is a DHCP Server? How It Works &amp; Components, Security Concerns. Best  Practices">
            <a:extLst>
              <a:ext uri="{FF2B5EF4-FFF2-40B4-BE49-F238E27FC236}">
                <a16:creationId xmlns:a16="http://schemas.microsoft.com/office/drawing/2014/main" id="{1AD8EB1A-156A-C0AA-0466-5BB193750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82" y="2088770"/>
            <a:ext cx="4777381" cy="251071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3F85544-06D1-C10F-D32A-067DCC9A2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400" b="1" i="0">
                <a:effectLst/>
                <a:latin typeface="Söhne"/>
              </a:rPr>
              <a:t>Význam DHCP v síťové infrastruktuře:</a:t>
            </a:r>
            <a:r>
              <a:rPr lang="cs-CZ" sz="2400" b="0" i="0">
                <a:effectLst/>
                <a:latin typeface="Söhne"/>
              </a:rPr>
              <a:t> DHCP je klíčovým prvkem pro efektivní správu sítě a umožňuje snadnou a efektivní konfiguraci síťových zařízení.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400" b="1" i="0">
                <a:effectLst/>
                <a:latin typeface="Söhne"/>
              </a:rPr>
              <a:t>Výhody a nevýhody použití DHCP:</a:t>
            </a:r>
            <a:r>
              <a:rPr lang="cs-CZ" sz="2400" b="0" i="0">
                <a:effectLst/>
                <a:latin typeface="Söhne"/>
              </a:rPr>
              <a:t> Přestože DHCP přináší mnoho výhod, je důležité zvážit jeho výhody a nevýhody vzhledem k potřebám konkrétní sítě.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400" b="1" i="0">
                <a:effectLst/>
                <a:latin typeface="Söhne"/>
              </a:rPr>
              <a:t>Bezpečnostní aspekty:</a:t>
            </a:r>
            <a:r>
              <a:rPr lang="cs-CZ" sz="2400" b="0" i="0">
                <a:effectLst/>
                <a:latin typeface="Söhne"/>
              </a:rPr>
              <a:t> Správná konfigurace a ochrana DHCP jsou klíčové pro zajištění bezpečnosti sítě.</a:t>
            </a:r>
          </a:p>
          <a:p>
            <a:endParaRPr lang="cs-CZ" sz="2400"/>
          </a:p>
        </p:txBody>
      </p:sp>
    </p:spTree>
    <p:extLst>
      <p:ext uri="{BB962C8B-B14F-4D97-AF65-F5344CB8AC3E}">
        <p14:creationId xmlns:p14="http://schemas.microsoft.com/office/powerpoint/2010/main" val="324844182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713</Words>
  <Application>Microsoft Office PowerPoint</Application>
  <PresentationFormat>Širokoúhlá obrazovka</PresentationFormat>
  <Paragraphs>54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Söhne</vt:lpstr>
      <vt:lpstr>Söhne Mono</vt:lpstr>
      <vt:lpstr>Motiv Office</vt:lpstr>
      <vt:lpstr>DHCP</vt:lpstr>
      <vt:lpstr>Úvod do DHCP</vt:lpstr>
      <vt:lpstr>Princip fungování DHCP</vt:lpstr>
      <vt:lpstr>Výhody DHCP</vt:lpstr>
      <vt:lpstr>Konfigurace DHCP serveru</vt:lpstr>
      <vt:lpstr>DHCP a síťová bezpečnost</vt:lpstr>
      <vt:lpstr>DHCP v různých operačních systémech</vt:lpstr>
      <vt:lpstr>Alternativy k DHCP</vt:lpstr>
      <vt:lpstr>Omezení DHCP</vt:lpstr>
      <vt:lpstr>Implementace DHCP</vt:lpstr>
      <vt:lpstr>Příklady DHCP konfigurace</vt:lpstr>
      <vt:lpstr>Shrnutí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