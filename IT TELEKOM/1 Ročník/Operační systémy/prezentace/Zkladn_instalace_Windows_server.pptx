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48CD-B2E8-42E1-B5DB-4846811BC5D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A5D27623-7D7F-4F57-A0AF-8D5580FCAE7A}" type="slidenum">
              <a:rPr lang="cs-CZ" smtClean="0"/>
              <a:t>‹#›</a:t>
            </a:fld>
            <a:endParaRPr lang="cs-CZ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60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48CD-B2E8-42E1-B5DB-4846811BC5D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7623-7D7F-4F57-A0AF-8D5580FCAE7A}" type="slidenum">
              <a:rPr lang="cs-CZ" smtClean="0"/>
              <a:t>‹#›</a:t>
            </a:fld>
            <a:endParaRPr lang="cs-CZ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857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48CD-B2E8-42E1-B5DB-4846811BC5D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7623-7D7F-4F57-A0AF-8D5580FC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599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48CD-B2E8-42E1-B5DB-4846811BC5D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7623-7D7F-4F57-A0AF-8D5580FCAE7A}" type="slidenum">
              <a:rPr lang="cs-CZ" smtClean="0"/>
              <a:t>‹#›</a:t>
            </a:fld>
            <a:endParaRPr lang="cs-CZ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853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48CD-B2E8-42E1-B5DB-4846811BC5D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7623-7D7F-4F57-A0AF-8D5580FC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1781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48CD-B2E8-42E1-B5DB-4846811BC5D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7623-7D7F-4F57-A0AF-8D5580FCAE7A}" type="slidenum">
              <a:rPr lang="cs-CZ" smtClean="0"/>
              <a:t>‹#›</a:t>
            </a:fld>
            <a:endParaRPr lang="cs-CZ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46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48CD-B2E8-42E1-B5DB-4846811BC5D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7623-7D7F-4F57-A0AF-8D5580FC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7289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48CD-B2E8-42E1-B5DB-4846811BC5D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7623-7D7F-4F57-A0AF-8D5580FC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466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48CD-B2E8-42E1-B5DB-4846811BC5D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7623-7D7F-4F57-A0AF-8D5580FC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9607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48CD-B2E8-42E1-B5DB-4846811BC5D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7623-7D7F-4F57-A0AF-8D5580FC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394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48CD-B2E8-42E1-B5DB-4846811BC5D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27623-7D7F-4F57-A0AF-8D5580FC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6714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42848CD-B2E8-42E1-B5DB-4846811BC5D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27623-7D7F-4F57-A0AF-8D5580FCAE7A}" type="slidenum">
              <a:rPr lang="cs-CZ" smtClean="0"/>
              <a:t>‹#›</a:t>
            </a:fld>
            <a:endParaRPr lang="cs-CZ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81466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9C641F-4AE5-E067-82B2-D832161C8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509" y="1160440"/>
            <a:ext cx="5925831" cy="2268559"/>
          </a:xfrm>
        </p:spPr>
        <p:txBody>
          <a:bodyPr>
            <a:normAutofit fontScale="90000"/>
          </a:bodyPr>
          <a:lstStyle/>
          <a:p>
            <a:br>
              <a:rPr lang="cs-CZ" dirty="0"/>
            </a:br>
            <a:r>
              <a:rPr lang="cs-CZ" dirty="0"/>
              <a:t>Windows server</a:t>
            </a:r>
            <a:br>
              <a:rPr lang="cs-CZ" dirty="0"/>
            </a:br>
            <a:r>
              <a:rPr lang="cs-CZ" dirty="0"/>
              <a:t>základní instalace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31F7B3E-D530-DC3C-374F-BC7A632C0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759" y="3347480"/>
            <a:ext cx="285790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3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0AAC1C-6F59-84E8-5669-39E224C67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/>
              <a:t>Co je Windows server?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482625-62CE-5488-AE23-E07A5A59B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441582"/>
            <a:ext cx="7796540" cy="3997828"/>
          </a:xfrm>
        </p:spPr>
        <p:txBody>
          <a:bodyPr/>
          <a:lstStyle/>
          <a:p>
            <a:r>
              <a:rPr lang="cs-CZ" sz="2400" dirty="0"/>
              <a:t>Operační systém vyvinutý společností Microsoft určený pro servery</a:t>
            </a:r>
          </a:p>
          <a:p>
            <a:r>
              <a:rPr lang="cs-CZ" sz="2400" dirty="0"/>
              <a:t>Slouží pro provoz síťových služeb, aplikací a datových úložišť</a:t>
            </a:r>
          </a:p>
          <a:p>
            <a:r>
              <a:rPr lang="cs-CZ" sz="2400" dirty="0"/>
              <a:t>Umožňuje budovat infrastrukturu propojených aplikací, sítí a webových služeb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90C649E-0351-F7D4-1793-FC1480D85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018" y="655634"/>
            <a:ext cx="285790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81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9C826-187A-CEB0-E86F-25118C5EC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09CE77-ECD7-0EC5-157C-C93C3615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333" y="808056"/>
            <a:ext cx="9003807" cy="1077229"/>
          </a:xfrm>
        </p:spPr>
        <p:txBody>
          <a:bodyPr>
            <a:noAutofit/>
          </a:bodyPr>
          <a:lstStyle/>
          <a:p>
            <a:r>
              <a:rPr lang="cs-CZ" sz="4800" dirty="0"/>
              <a:t>Základní funkce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7677F22-BBE4-B628-8183-B0C57AB8F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600" y="2052116"/>
            <a:ext cx="7796540" cy="3997828"/>
          </a:xfrm>
        </p:spPr>
        <p:txBody>
          <a:bodyPr/>
          <a:lstStyle/>
          <a:p>
            <a:r>
              <a:rPr lang="cs-CZ" sz="2400" dirty="0"/>
              <a:t>Správa uživatelů a oprávnění</a:t>
            </a:r>
          </a:p>
          <a:p>
            <a:r>
              <a:rPr lang="cs-CZ" sz="2400" dirty="0"/>
              <a:t>Síťové služby (</a:t>
            </a:r>
            <a:r>
              <a:rPr lang="cs-CZ" sz="2400" dirty="0" err="1"/>
              <a:t>Active</a:t>
            </a:r>
            <a:r>
              <a:rPr lang="cs-CZ" sz="2400" dirty="0"/>
              <a:t> </a:t>
            </a:r>
            <a:r>
              <a:rPr lang="cs-CZ" sz="2400" dirty="0" err="1"/>
              <a:t>Direcory</a:t>
            </a:r>
            <a:r>
              <a:rPr lang="cs-CZ" sz="2400" dirty="0"/>
              <a:t>, DNS, DHCP)</a:t>
            </a:r>
          </a:p>
          <a:p>
            <a:r>
              <a:rPr lang="cs-CZ" sz="2400" dirty="0"/>
              <a:t>Virtualizace</a:t>
            </a:r>
          </a:p>
          <a:p>
            <a:r>
              <a:rPr lang="cs-CZ" sz="2400" dirty="0"/>
              <a:t>Zabezpečení</a:t>
            </a:r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45971D7-E9A2-56CF-B942-6E6BC1AEF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232" y="641225"/>
            <a:ext cx="285790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99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567FC-E172-0CCA-32AA-2A3BFC902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D54EE5-4D69-5049-6475-8DA3E3062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808056"/>
            <a:ext cx="8588939" cy="1077229"/>
          </a:xfrm>
        </p:spPr>
        <p:txBody>
          <a:bodyPr>
            <a:noAutofit/>
          </a:bodyPr>
          <a:lstStyle/>
          <a:p>
            <a:r>
              <a:rPr lang="cs-CZ" sz="4800" dirty="0"/>
              <a:t>Proč používat Windows server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87B7686-95DC-4E9E-8FB6-4A37A7B9E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3997828"/>
          </a:xfrm>
        </p:spPr>
        <p:txBody>
          <a:bodyPr>
            <a:normAutofit/>
          </a:bodyPr>
          <a:lstStyle/>
          <a:p>
            <a:r>
              <a:rPr lang="cs-CZ" sz="2400" dirty="0"/>
              <a:t>Možnost integrace s existující infrastrukturou</a:t>
            </a:r>
          </a:p>
          <a:p>
            <a:r>
              <a:rPr lang="cs-CZ" sz="2400" dirty="0"/>
              <a:t>Podpora podnikové funkce</a:t>
            </a:r>
          </a:p>
          <a:p>
            <a:r>
              <a:rPr lang="cs-CZ" sz="2400" dirty="0"/>
              <a:t>Škálovatelnost</a:t>
            </a:r>
          </a:p>
          <a:p>
            <a:r>
              <a:rPr lang="cs-CZ" sz="2400" dirty="0"/>
              <a:t>Podpora pro aplikace a technologie třetích stran</a:t>
            </a:r>
          </a:p>
          <a:p>
            <a:r>
              <a:rPr lang="cs-CZ" sz="2400" dirty="0"/>
              <a:t>Bezpečnost</a:t>
            </a:r>
          </a:p>
          <a:p>
            <a:r>
              <a:rPr lang="cs-CZ" sz="2400" dirty="0"/>
              <a:t>Vývoj a testování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B0333F5-AAA2-8815-982E-C7E691ECC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33" y="607988"/>
            <a:ext cx="285790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45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1AF5FBB-9FDC-4D75-9DD6-DAF01ED19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3BBBE6-F4CF-483E-BA74-B51421B4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C790028-99AE-4AE4-8269-9913E2D50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936A2A-FE08-4EE0-A409-3EF3FA244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F0407B-48CB-4C05-B0D7-7A69A0D40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C50C3D-0DA0-4914-B5B4-D1819CC6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F9E583-1A92-4144-B4FA-81D98317F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47489EB-355C-4170-8C70-5CDD42EFD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21CC0F3-7B68-4C9C-999A-74F8925C3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EB18ECF-1C11-48BB-8C2B-DC5532A90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8887E40-5A0B-4897-80F0-0BAFAAB61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E3B1B6-DAAA-408B-A99C-2A7EE040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72B882-D016-4849-AF04-88E39D13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E301638-C5AA-19F6-E4D9-6B7EBE072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398" y="5166420"/>
            <a:ext cx="8440564" cy="10450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 err="1"/>
              <a:t>Základní</a:t>
            </a:r>
            <a:r>
              <a:rPr lang="en-US" sz="4800" dirty="0"/>
              <a:t> </a:t>
            </a:r>
            <a:r>
              <a:rPr lang="en-US" sz="4800" dirty="0" err="1"/>
              <a:t>instalace</a:t>
            </a:r>
            <a:r>
              <a:rPr lang="cs-CZ" sz="4800" dirty="0"/>
              <a:t> ve VM</a:t>
            </a:r>
            <a:endParaRPr lang="en-US" sz="48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1FF9E96-6955-4599-A2D0-1FF57939C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0531" y="647188"/>
            <a:ext cx="9091538" cy="32972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F74D0292-EAA3-A410-B8E9-902EF3FAD4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170" y="996087"/>
            <a:ext cx="8460166" cy="2601501"/>
          </a:xfrm>
          <a:prstGeom prst="rect">
            <a:avLst/>
          </a:prstGeom>
          <a:ln>
            <a:noFill/>
          </a:ln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15CFF31-2A56-4E24-9263-DC4342144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966" y="888935"/>
            <a:ext cx="8613076" cy="2818547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8907EB-52AA-4516-BC6A-7861CE077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CA7464B3-7FD5-4C62-6B60-46B610B8E0F5}"/>
              </a:ext>
            </a:extLst>
          </p:cNvPr>
          <p:cNvSpPr txBox="1"/>
          <p:nvPr/>
        </p:nvSpPr>
        <p:spPr>
          <a:xfrm>
            <a:off x="2253031" y="416250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Stáhnout ISO</a:t>
            </a:r>
          </a:p>
        </p:txBody>
      </p:sp>
      <p:cxnSp>
        <p:nvCxnSpPr>
          <p:cNvPr id="9" name="Přímá spojnice se šipkou 8">
            <a:extLst>
              <a:ext uri="{FF2B5EF4-FFF2-40B4-BE49-F238E27FC236}">
                <a16:creationId xmlns:a16="http://schemas.microsoft.com/office/drawing/2014/main" id="{168C90A7-B02C-73AC-31E7-880E2F7E2EF6}"/>
              </a:ext>
            </a:extLst>
          </p:cNvPr>
          <p:cNvCxnSpPr/>
          <p:nvPr/>
        </p:nvCxnSpPr>
        <p:spPr>
          <a:xfrm flipV="1">
            <a:off x="4284355" y="3426282"/>
            <a:ext cx="648000" cy="7362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859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9">
            <a:extLst>
              <a:ext uri="{FF2B5EF4-FFF2-40B4-BE49-F238E27FC236}">
                <a16:creationId xmlns:a16="http://schemas.microsoft.com/office/drawing/2014/main" id="{01AF5FBB-9FDC-4D75-9DD6-DAF01ED19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41" name="Picture 11">
            <a:extLst>
              <a:ext uri="{FF2B5EF4-FFF2-40B4-BE49-F238E27FC236}">
                <a16:creationId xmlns:a16="http://schemas.microsoft.com/office/drawing/2014/main" id="{933BBBE6-F4CF-483E-BA74-B51421B4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2" name="Rectangle 13">
            <a:extLst>
              <a:ext uri="{FF2B5EF4-FFF2-40B4-BE49-F238E27FC236}">
                <a16:creationId xmlns:a16="http://schemas.microsoft.com/office/drawing/2014/main" id="{4C790028-99AE-4AE4-8269-9913E2D50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43" name="Rectangle 15">
            <a:extLst>
              <a:ext uri="{FF2B5EF4-FFF2-40B4-BE49-F238E27FC236}">
                <a16:creationId xmlns:a16="http://schemas.microsoft.com/office/drawing/2014/main" id="{06936A2A-FE08-4EE0-A409-3EF3FA244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44" name="Rectangle 17">
            <a:extLst>
              <a:ext uri="{FF2B5EF4-FFF2-40B4-BE49-F238E27FC236}">
                <a16:creationId xmlns:a16="http://schemas.microsoft.com/office/drawing/2014/main" id="{BAF0407B-48CB-4C05-B0D7-7A69A0D40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45" name="Rectangle 19">
            <a:extLst>
              <a:ext uri="{FF2B5EF4-FFF2-40B4-BE49-F238E27FC236}">
                <a16:creationId xmlns:a16="http://schemas.microsoft.com/office/drawing/2014/main" id="{ADC50C3D-0DA0-4914-B5B4-D1819CC6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8CF9E583-1A92-4144-B4FA-81D98317F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47" name="Rectangle 23">
            <a:extLst>
              <a:ext uri="{FF2B5EF4-FFF2-40B4-BE49-F238E27FC236}">
                <a16:creationId xmlns:a16="http://schemas.microsoft.com/office/drawing/2014/main" id="{847489EB-355C-4170-8C70-5CDD42EFD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25">
            <a:extLst>
              <a:ext uri="{FF2B5EF4-FFF2-40B4-BE49-F238E27FC236}">
                <a16:creationId xmlns:a16="http://schemas.microsoft.com/office/drawing/2014/main" id="{521CC0F3-7B68-4C9C-999A-74F8925C3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49" name="Picture 27">
            <a:extLst>
              <a:ext uri="{FF2B5EF4-FFF2-40B4-BE49-F238E27FC236}">
                <a16:creationId xmlns:a16="http://schemas.microsoft.com/office/drawing/2014/main" id="{3EB18ECF-1C11-48BB-8C2B-DC5532A90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50" name="Rectangle 29">
            <a:extLst>
              <a:ext uri="{FF2B5EF4-FFF2-40B4-BE49-F238E27FC236}">
                <a16:creationId xmlns:a16="http://schemas.microsoft.com/office/drawing/2014/main" id="{D8887E40-5A0B-4897-80F0-0BAFAAB61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31">
            <a:extLst>
              <a:ext uri="{FF2B5EF4-FFF2-40B4-BE49-F238E27FC236}">
                <a16:creationId xmlns:a16="http://schemas.microsoft.com/office/drawing/2014/main" id="{92E3B1B6-DAAA-408B-A99C-2A7EE040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33">
            <a:extLst>
              <a:ext uri="{FF2B5EF4-FFF2-40B4-BE49-F238E27FC236}">
                <a16:creationId xmlns:a16="http://schemas.microsoft.com/office/drawing/2014/main" id="{7A72B882-D016-4849-AF04-88E39D13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A4AAD02-E840-DA2C-394E-A91DAB3C5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398" y="5166420"/>
            <a:ext cx="8440564" cy="10450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Vytvořit VM a vložit do něj ISO</a:t>
            </a:r>
          </a:p>
        </p:txBody>
      </p:sp>
      <p:sp>
        <p:nvSpPr>
          <p:cNvPr id="53" name="Rectangle 35">
            <a:extLst>
              <a:ext uri="{FF2B5EF4-FFF2-40B4-BE49-F238E27FC236}">
                <a16:creationId xmlns:a16="http://schemas.microsoft.com/office/drawing/2014/main" id="{41FF9E96-6955-4599-A2D0-1FF57939C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0531" y="647188"/>
            <a:ext cx="9091538" cy="32972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B34511FE-7728-1FA7-5FB9-E86F1E3FE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960170" y="1133565"/>
            <a:ext cx="8460166" cy="2326544"/>
          </a:xfrm>
          <a:prstGeom prst="rect">
            <a:avLst/>
          </a:prstGeom>
          <a:ln>
            <a:noFill/>
          </a:ln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15CFF31-2A56-4E24-9263-DC4342144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966" y="888935"/>
            <a:ext cx="8613076" cy="2818547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8907EB-52AA-4516-BC6A-7861CE077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Přímá spojnice se šipkou 5">
            <a:extLst>
              <a:ext uri="{FF2B5EF4-FFF2-40B4-BE49-F238E27FC236}">
                <a16:creationId xmlns:a16="http://schemas.microsoft.com/office/drawing/2014/main" id="{7E5D9DE0-A739-4E5A-A667-52CE8DFBAB77}"/>
              </a:ext>
            </a:extLst>
          </p:cNvPr>
          <p:cNvCxnSpPr>
            <a:cxnSpLocks/>
          </p:cNvCxnSpPr>
          <p:nvPr/>
        </p:nvCxnSpPr>
        <p:spPr>
          <a:xfrm flipH="1" flipV="1">
            <a:off x="6271491" y="3546764"/>
            <a:ext cx="3088715" cy="14870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5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EB7091A-7E9C-45E8-B4B8-831F07A25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7EE626-B530-46D6-8DFA-F7CCBAB9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16B9833-CCDE-4DEF-8D9C-0374880A5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2CC7F6-4DA9-40BE-9788-4ED6B0A8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098DBD-F19D-467D-BA4D-814BD652E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F6C70E-8448-40F4-8AFA-2E982338C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C23AC938-3EE8-6CCA-356F-A64168A51C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t="17245" b="1394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87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EB7091A-7E9C-45E8-B4B8-831F07A25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7EE626-B530-46D6-8DFA-F7CCBAB9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16B9833-CCDE-4DEF-8D9C-0374880A5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2CC7F6-4DA9-40BE-9788-4ED6B0A8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098DBD-F19D-467D-BA4D-814BD652E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F6C70E-8448-40F4-8AFA-2E982338C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3259EF26-6030-F7AD-1E04-2C08FDE99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t="16607" b="1458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6" name="Přímá spojnice se šipkou 5">
            <a:extLst>
              <a:ext uri="{FF2B5EF4-FFF2-40B4-BE49-F238E27FC236}">
                <a16:creationId xmlns:a16="http://schemas.microsoft.com/office/drawing/2014/main" id="{D3EB8ECB-D5AC-423B-2F64-43370899200C}"/>
              </a:ext>
            </a:extLst>
          </p:cNvPr>
          <p:cNvCxnSpPr/>
          <p:nvPr/>
        </p:nvCxnSpPr>
        <p:spPr>
          <a:xfrm flipV="1">
            <a:off x="4718464" y="3888101"/>
            <a:ext cx="648000" cy="7362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39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4961F17-D0E4-4576-8697-C062B28F3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2DF1AEC-0327-4A10-AED3-E227ACAEB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839742D-6F41-4E7D-9C32-1D9825B40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5F3ADA23-8B3C-4029-923E-81303CBEA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EAE543-FFF6-43C7-AD71-A9856C6E7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6F8C977A-565B-D564-B97A-A2253E9009D4}"/>
              </a:ext>
            </a:extLst>
          </p:cNvPr>
          <p:cNvSpPr txBox="1"/>
          <p:nvPr/>
        </p:nvSpPr>
        <p:spPr>
          <a:xfrm>
            <a:off x="7675739" y="2801610"/>
            <a:ext cx="3668340" cy="12493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 err="1">
                <a:latin typeface="+mj-lt"/>
                <a:ea typeface="+mj-ea"/>
                <a:cs typeface="+mj-cs"/>
              </a:rPr>
              <a:t>Zvolíme</a:t>
            </a:r>
            <a:r>
              <a:rPr lang="en-US" sz="4000" dirty="0">
                <a:latin typeface="+mj-lt"/>
                <a:ea typeface="+mj-ea"/>
                <a:cs typeface="+mj-cs"/>
              </a:rPr>
              <a:t> </a:t>
            </a:r>
            <a:r>
              <a:rPr lang="en-US" sz="4000" dirty="0" err="1">
                <a:latin typeface="+mj-lt"/>
                <a:ea typeface="+mj-ea"/>
                <a:cs typeface="+mj-cs"/>
              </a:rPr>
              <a:t>standartní</a:t>
            </a:r>
            <a:r>
              <a:rPr lang="en-US" sz="4000" dirty="0">
                <a:latin typeface="+mj-lt"/>
                <a:ea typeface="+mj-ea"/>
                <a:cs typeface="+mj-cs"/>
              </a:rPr>
              <a:t> desktop </a:t>
            </a:r>
            <a:r>
              <a:rPr lang="en-US" sz="4000" dirty="0" err="1">
                <a:latin typeface="+mj-lt"/>
                <a:ea typeface="+mj-ea"/>
                <a:cs typeface="+mj-cs"/>
              </a:rPr>
              <a:t>verzi</a:t>
            </a:r>
            <a:endParaRPr lang="en-US" sz="4000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1D7018DF-9C1E-E445-90EF-074532BB1B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340" r="16860"/>
          <a:stretch/>
        </p:blipFill>
        <p:spPr>
          <a:xfrm>
            <a:off x="1005401" y="227"/>
            <a:ext cx="5569814" cy="6858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8D7E355E-8304-4C50-B384-7DAC68D87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178E784-3C81-4963-ACD9-58EF41CE8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Přímá spojnice se šipkou 6">
            <a:extLst>
              <a:ext uri="{FF2B5EF4-FFF2-40B4-BE49-F238E27FC236}">
                <a16:creationId xmlns:a16="http://schemas.microsoft.com/office/drawing/2014/main" id="{4F048E03-FDBC-B5CA-819F-106E6B6743E9}"/>
              </a:ext>
            </a:extLst>
          </p:cNvPr>
          <p:cNvCxnSpPr>
            <a:cxnSpLocks/>
          </p:cNvCxnSpPr>
          <p:nvPr/>
        </p:nvCxnSpPr>
        <p:spPr>
          <a:xfrm flipH="1" flipV="1">
            <a:off x="5975927" y="2613891"/>
            <a:ext cx="1339273" cy="9790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619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EB7091A-7E9C-45E8-B4B8-831F07A25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7EE626-B530-46D6-8DFA-F7CCBAB9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16B9833-CCDE-4DEF-8D9C-0374880A5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2CC7F6-4DA9-40BE-9788-4ED6B0A8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098DBD-F19D-467D-BA4D-814BD652E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F6C70E-8448-40F4-8AFA-2E982338C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1A06732E-415D-D5B0-CCA8-571DC2598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t="13728" b="1890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6" name="Přímá spojnice se šipkou 5">
            <a:extLst>
              <a:ext uri="{FF2B5EF4-FFF2-40B4-BE49-F238E27FC236}">
                <a16:creationId xmlns:a16="http://schemas.microsoft.com/office/drawing/2014/main" id="{9FCAF413-3FF2-080C-1325-F54C533B49C7}"/>
              </a:ext>
            </a:extLst>
          </p:cNvPr>
          <p:cNvCxnSpPr>
            <a:cxnSpLocks/>
          </p:cNvCxnSpPr>
          <p:nvPr/>
        </p:nvCxnSpPr>
        <p:spPr>
          <a:xfrm>
            <a:off x="711200" y="3666836"/>
            <a:ext cx="2013527" cy="16163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848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EB7091A-7E9C-45E8-B4B8-831F07A25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7EE626-B530-46D6-8DFA-F7CCBAB9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16B9833-CCDE-4DEF-8D9C-0374880A5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2CC7F6-4DA9-40BE-9788-4ED6B0A8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098DBD-F19D-467D-BA4D-814BD652E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F6C70E-8448-40F4-8AFA-2E982338C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6C7CFB18-E900-DF91-20EB-9C88F0056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t="13661" b="1815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6" name="Přímá spojnice se šipkou 5">
            <a:extLst>
              <a:ext uri="{FF2B5EF4-FFF2-40B4-BE49-F238E27FC236}">
                <a16:creationId xmlns:a16="http://schemas.microsoft.com/office/drawing/2014/main" id="{61A79DFC-6DEA-0EC3-4EBF-C0AEE4D1D65C}"/>
              </a:ext>
            </a:extLst>
          </p:cNvPr>
          <p:cNvCxnSpPr>
            <a:cxnSpLocks/>
          </p:cNvCxnSpPr>
          <p:nvPr/>
        </p:nvCxnSpPr>
        <p:spPr>
          <a:xfrm flipV="1">
            <a:off x="637309" y="3592945"/>
            <a:ext cx="2013527" cy="4710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048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>
            <a:extLst>
              <a:ext uri="{FF2B5EF4-FFF2-40B4-BE49-F238E27FC236}">
                <a16:creationId xmlns:a16="http://schemas.microsoft.com/office/drawing/2014/main" id="{BEB7091A-7E9C-45E8-B4B8-831F07A25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3A7EE626-B530-46D6-8DFA-F7CCBAB9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E16B9833-CCDE-4DEF-8D9C-0374880A5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C2CC7F6-4DA9-40BE-9788-4ED6B0A8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D098DBD-F19D-467D-BA4D-814BD652E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EF6C70E-8448-40F4-8AFA-2E982338C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9" name="Zástupný obsah 8">
            <a:extLst>
              <a:ext uri="{FF2B5EF4-FFF2-40B4-BE49-F238E27FC236}">
                <a16:creationId xmlns:a16="http://schemas.microsoft.com/office/drawing/2014/main" id="{DE34DF2E-3B17-9792-44E0-6D78848C1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t="11511" b="2030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35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EB7091A-7E9C-45E8-B4B8-831F07A25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A7EE626-B530-46D6-8DFA-F7CCBAB9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16B9833-CCDE-4DEF-8D9C-0374880A5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2CC7F6-4DA9-40BE-9788-4ED6B0A8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098DBD-F19D-467D-BA4D-814BD652E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F6C70E-8448-40F4-8AFA-2E982338C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9" name="Zástupný obsah 8">
            <a:extLst>
              <a:ext uri="{FF2B5EF4-FFF2-40B4-BE49-F238E27FC236}">
                <a16:creationId xmlns:a16="http://schemas.microsoft.com/office/drawing/2014/main" id="{55DF0FDD-3CFA-B94D-B0BA-90FE1C581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t="15239" b="1637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28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01AF5FBB-9FDC-4D75-9DD6-DAF01ED19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33BBBE6-F4CF-483E-BA74-B51421B4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C790028-99AE-4AE4-8269-9913E2D50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936A2A-FE08-4EE0-A409-3EF3FA244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AF0407B-48CB-4C05-B0D7-7A69A0D40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DC50C3D-0DA0-4914-B5B4-D1819CC6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F9E583-1A92-4144-B4FA-81D98317F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55980737-1E33-40A8-819D-C20C41E4F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ABBD51A-FA48-44B8-B184-A40D7F134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510188A9-F0D9-4FE9-85DC-217914527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32927575-BD84-44B6-BE49-E0C7EDD0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3FDF09A-B960-49F4-BAEB-DA397BDCD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1BE6C0-4118-460B-90C2-160041247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5D06F4E-0C8A-D998-341A-D91365A3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5674" y="3103418"/>
            <a:ext cx="2892610" cy="25941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 err="1"/>
              <a:t>Základní</a:t>
            </a:r>
            <a:r>
              <a:rPr lang="en-US" sz="4400" dirty="0"/>
              <a:t> </a:t>
            </a:r>
            <a:r>
              <a:rPr lang="en-US" sz="4400" dirty="0" err="1"/>
              <a:t>kofigurace</a:t>
            </a:r>
            <a:endParaRPr lang="en-US" sz="4400" dirty="0"/>
          </a:p>
        </p:txBody>
      </p:sp>
      <p:pic>
        <p:nvPicPr>
          <p:cNvPr id="8" name="Zástupný obsah 7">
            <a:extLst>
              <a:ext uri="{FF2B5EF4-FFF2-40B4-BE49-F238E27FC236}">
                <a16:creationId xmlns:a16="http://schemas.microsoft.com/office/drawing/2014/main" id="{90BF42A1-AC9A-4499-C565-2AB7D3E51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872324" y="1108228"/>
            <a:ext cx="5925767" cy="4888757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15B5C763-A6E8-4D31-B139-30D083B82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05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24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55" name="Picture 26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56" name="Rectangle 28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57" name="Rectangle 30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58" name="Rectangle 32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59" name="Rectangle 34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E1850B-81EE-4905-9A6F-BDF593EC7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9" name="Zástupný obsah 8">
            <a:extLst>
              <a:ext uri="{FF2B5EF4-FFF2-40B4-BE49-F238E27FC236}">
                <a16:creationId xmlns:a16="http://schemas.microsoft.com/office/drawing/2014/main" id="{72D52321-E0AB-2533-5D93-CD2828DC2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401682" y="326017"/>
            <a:ext cx="7573476" cy="621025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FA250539-5364-4CFC-82C6-D791BC0C8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901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9">
            <a:extLst>
              <a:ext uri="{FF2B5EF4-FFF2-40B4-BE49-F238E27FC236}">
                <a16:creationId xmlns:a16="http://schemas.microsoft.com/office/drawing/2014/main" id="{E819EF56-0D05-401F-8D9D-A087F3B0E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11">
            <a:extLst>
              <a:ext uri="{FF2B5EF4-FFF2-40B4-BE49-F238E27FC236}">
                <a16:creationId xmlns:a16="http://schemas.microsoft.com/office/drawing/2014/main" id="{46583D46-4F8A-48ED-9FC5-ACCFE5989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8" name="Picture 13">
            <a:extLst>
              <a:ext uri="{FF2B5EF4-FFF2-40B4-BE49-F238E27FC236}">
                <a16:creationId xmlns:a16="http://schemas.microsoft.com/office/drawing/2014/main" id="{6CFBF790-FF8B-4CA1-A78A-0ED655E74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29" name="Rectangle 15">
            <a:extLst>
              <a:ext uri="{FF2B5EF4-FFF2-40B4-BE49-F238E27FC236}">
                <a16:creationId xmlns:a16="http://schemas.microsoft.com/office/drawing/2014/main" id="{2F99DFE0-DA13-4703-95B6-9CFDBD4A2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7">
            <a:extLst>
              <a:ext uri="{FF2B5EF4-FFF2-40B4-BE49-F238E27FC236}">
                <a16:creationId xmlns:a16="http://schemas.microsoft.com/office/drawing/2014/main" id="{39580BCA-5EE9-4DE6-9060-8F5DFB3A0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9">
            <a:extLst>
              <a:ext uri="{FF2B5EF4-FFF2-40B4-BE49-F238E27FC236}">
                <a16:creationId xmlns:a16="http://schemas.microsoft.com/office/drawing/2014/main" id="{66997ED0-2734-463E-AB2D-7DE229F57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51EEB4D-ACFD-04F9-E328-5101E8337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2288" y="1798656"/>
            <a:ext cx="4244957" cy="5499611"/>
          </a:xfrm>
        </p:spPr>
        <p:txBody>
          <a:bodyPr>
            <a:normAutofit/>
          </a:bodyPr>
          <a:lstStyle/>
          <a:p>
            <a:pPr algn="l"/>
            <a:r>
              <a:rPr lang="cs-CZ" dirty="0"/>
              <a:t>V sekci </a:t>
            </a:r>
            <a:r>
              <a:rPr lang="cs-CZ" dirty="0" err="1"/>
              <a:t>Local</a:t>
            </a:r>
            <a:r>
              <a:rPr lang="cs-CZ" dirty="0"/>
              <a:t> Server lze následně konfigurovat nejzákladnější nastavení a další možné konfigurace serveru</a:t>
            </a: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060ECCAC-739E-4C22-866F-FD51CC0CF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761" y="0"/>
            <a:ext cx="556745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text, snímek obrazovky, software, Počítačová ikona&#10;&#10;Popis byl vytvořen automaticky">
            <a:extLst>
              <a:ext uri="{FF2B5EF4-FFF2-40B4-BE49-F238E27FC236}">
                <a16:creationId xmlns:a16="http://schemas.microsoft.com/office/drawing/2014/main" id="{FA61D3C9-9220-B64B-1700-D80C66B719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529" y="1400984"/>
            <a:ext cx="4922124" cy="4036141"/>
          </a:xfrm>
          <a:prstGeom prst="rect">
            <a:avLst/>
          </a:prstGeom>
          <a:ln w="1270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CDC68EF-9D08-46DF-9BD5-25822D9D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5691" y="231959"/>
            <a:ext cx="5078215" cy="6369675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DEBBBE-12A0-4779-9A86-7AFEA7AE9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928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80</TotalTime>
  <Words>117</Words>
  <Application>Microsoft Office PowerPoint</Application>
  <PresentationFormat>Širokoúhlá obrazovka</PresentationFormat>
  <Paragraphs>26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1" baseType="lpstr">
      <vt:lpstr>Arial</vt:lpstr>
      <vt:lpstr>MS Shell Dlg 2</vt:lpstr>
      <vt:lpstr>Wingdings</vt:lpstr>
      <vt:lpstr>Wingdings 3</vt:lpstr>
      <vt:lpstr>Madison</vt:lpstr>
      <vt:lpstr> Windows server základní instalace</vt:lpstr>
      <vt:lpstr>Co je Windows server?</vt:lpstr>
      <vt:lpstr>Základní funkce</vt:lpstr>
      <vt:lpstr>Proč používat Windows server</vt:lpstr>
      <vt:lpstr>Základní instalace ve VM</vt:lpstr>
      <vt:lpstr>Vytvořit VM a vložit do něj ISO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Základní kofigurace</vt:lpstr>
      <vt:lpstr>Prezentace aplikace PowerPoint</vt:lpstr>
      <vt:lpstr>V sekci Local Server lze následně konfigurovat nejzákladnější nastavení a další možné konfigurace serveru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