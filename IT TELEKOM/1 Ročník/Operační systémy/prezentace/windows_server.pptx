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Montserrat Classic" panose="020B0604020202020204" charset="-18"/>
      <p:regular r:id="rId17"/>
    </p:embeddedFont>
    <p:embeddedFont>
      <p:font typeface="Montserrat Classic Bold" panose="020B0604020202020204" charset="-18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2930" autoAdjust="0"/>
  </p:normalViewPr>
  <p:slideViewPr>
    <p:cSldViewPr>
      <p:cViewPr varScale="1">
        <p:scale>
          <a:sx n="62" d="100"/>
          <a:sy n="62" d="100"/>
        </p:scale>
        <p:origin x="12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3F603-DBBE-48AE-81B3-07AE3A050C69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F76D1-9ABA-4710-9AA9-2A5DB324A63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5226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F76D1-9ABA-4710-9AA9-2A5DB324A631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5892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Windows Server Standard je vhodný pro menší a střední podniky, nabízí:</a:t>
            </a:r>
          </a:p>
          <a:p>
            <a:pPr>
              <a:buFont typeface="+mj-lt"/>
              <a:buAutoNum type="arabicPeriod"/>
            </a:pPr>
            <a:r>
              <a:rPr lang="cs-CZ" dirty="0"/>
              <a:t>Širokou škálu funkcí jako </a:t>
            </a:r>
            <a:r>
              <a:rPr lang="cs-CZ" dirty="0" err="1"/>
              <a:t>Active</a:t>
            </a:r>
            <a:r>
              <a:rPr lang="cs-CZ" dirty="0"/>
              <a:t> </a:t>
            </a:r>
            <a:r>
              <a:rPr lang="cs-CZ" dirty="0" err="1"/>
              <a:t>Directory</a:t>
            </a:r>
            <a:r>
              <a:rPr lang="cs-CZ" dirty="0"/>
              <a:t>, DHCP, DNS a Hyper-V pro virtualizaci.</a:t>
            </a:r>
          </a:p>
          <a:p>
            <a:pPr>
              <a:buFont typeface="+mj-lt"/>
              <a:buAutoNum type="arabicPeriod"/>
            </a:pPr>
            <a:r>
              <a:rPr lang="cs-CZ" dirty="0"/>
              <a:t>Podporu pro virtualizaci až dvou virtuálních instancí.</a:t>
            </a:r>
          </a:p>
          <a:p>
            <a:pPr>
              <a:buFont typeface="+mj-lt"/>
              <a:buAutoNum type="arabicPeriod"/>
            </a:pPr>
            <a:r>
              <a:rPr lang="cs-CZ" dirty="0"/>
              <a:t>Licencování na základě počtu fyzických procesorů nebo uživatelů/zařízení.</a:t>
            </a:r>
          </a:p>
          <a:p>
            <a:pPr>
              <a:buFont typeface="+mj-lt"/>
              <a:buAutoNum type="arabicPeriod"/>
            </a:pPr>
            <a:r>
              <a:rPr lang="cs-CZ" dirty="0"/>
              <a:t>Bezpečnostní funkce jako Windows </a:t>
            </a:r>
            <a:r>
              <a:rPr lang="cs-CZ" dirty="0" err="1"/>
              <a:t>Defender</a:t>
            </a:r>
            <a:r>
              <a:rPr lang="cs-CZ" dirty="0"/>
              <a:t> a integrovaný firewall.</a:t>
            </a:r>
          </a:p>
          <a:p>
            <a:pPr>
              <a:buFont typeface="+mj-lt"/>
              <a:buAutoNum type="arabicPeriod"/>
            </a:pPr>
            <a:r>
              <a:rPr lang="cs-CZ" dirty="0"/>
              <a:t>Spolehlivý a výkonný serverový operační systém pro provoz a správu serverů.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F76D1-9ABA-4710-9AA9-2A5DB324A631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1398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cs-CZ" b="1" dirty="0"/>
              <a:t>Neomezená virtualizace</a:t>
            </a:r>
            <a:r>
              <a:rPr lang="cs-CZ" dirty="0"/>
              <a:t>: Datacenter edice umožňuje provozovat neomezený počet virtuálních instancí, což je ideální pro velké podniky s vysokými virtualizačními potřebami.</a:t>
            </a:r>
          </a:p>
          <a:p>
            <a:pPr>
              <a:buFont typeface="+mj-lt"/>
              <a:buAutoNum type="arabicPeriod"/>
            </a:pPr>
            <a:r>
              <a:rPr lang="cs-CZ" b="1" dirty="0"/>
              <a:t>Pokročilé bezpečnostní funkce</a:t>
            </a:r>
            <a:r>
              <a:rPr lang="cs-CZ" dirty="0"/>
              <a:t>: Obsahuje rozšířené bezpečnostní funkce pro ochranu dat a sítě, včetně integrovaného firewallu, správy identity a ochrany proti hrozbám.</a:t>
            </a:r>
          </a:p>
          <a:p>
            <a:pPr>
              <a:buFont typeface="+mj-lt"/>
              <a:buAutoNum type="arabicPeriod"/>
            </a:pPr>
            <a:r>
              <a:rPr lang="cs-CZ" b="1" dirty="0"/>
              <a:t>Správa a monitorování</a:t>
            </a:r>
            <a:r>
              <a:rPr lang="cs-CZ" dirty="0"/>
              <a:t>: Poskytuje pokročilé nástroje pro správu a monitorování infrastruktury, což usnadňuje provoz a údržbu rozsáhlých podnikových prostředí.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F76D1-9ABA-4710-9AA9-2A5DB324A631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144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cs-CZ" b="1" dirty="0"/>
              <a:t>Jednoduchá správa pro malé podniky</a:t>
            </a:r>
            <a:r>
              <a:rPr lang="cs-CZ" dirty="0"/>
              <a:t>: Windows Server Essentials je navržen s důrazem na snadnou správu a provoz pro malé podniky s omezenými IT zdroji.</a:t>
            </a:r>
          </a:p>
          <a:p>
            <a:pPr>
              <a:buFont typeface="+mj-lt"/>
              <a:buAutoNum type="arabicPeriod"/>
            </a:pPr>
            <a:r>
              <a:rPr lang="cs-CZ" b="1" dirty="0"/>
              <a:t>Ochrana dat a zálohování</a:t>
            </a:r>
            <a:r>
              <a:rPr lang="cs-CZ" dirty="0"/>
              <a:t>: Poskytuje integrované nástroje pro zálohování a obnovu dat, což chrání důležitá data malých podniků před ztrátou.</a:t>
            </a:r>
          </a:p>
          <a:p>
            <a:pPr>
              <a:buFont typeface="+mj-lt"/>
              <a:buAutoNum type="arabicPeriod"/>
            </a:pPr>
            <a:r>
              <a:rPr lang="cs-CZ" b="1" dirty="0"/>
              <a:t>Omezený počet uživatelů a zařízení</a:t>
            </a:r>
            <a:r>
              <a:rPr lang="cs-CZ" dirty="0"/>
              <a:t>: Edice Essentials je vhodná pro malé podniky s maximálně 25 uživateli a 50 zařízeními, což usnadňuje licencování a správu.</a:t>
            </a:r>
          </a:p>
          <a:p>
            <a:pPr>
              <a:buFont typeface="+mj-lt"/>
              <a:buAutoNum type="arabicPeriod"/>
            </a:pPr>
            <a:r>
              <a:rPr lang="cs-CZ" b="1" dirty="0"/>
              <a:t>Integrace s cloudem</a:t>
            </a:r>
            <a:r>
              <a:rPr lang="cs-CZ" dirty="0"/>
              <a:t>: Nabízí integraci s cloudovými službami, jako je Office 365, což umožňuje malým podnikům využívat výhody cloudových technologií pro komunikaci a spolupráci.</a:t>
            </a:r>
          </a:p>
          <a:p>
            <a:pPr>
              <a:buFont typeface="+mj-lt"/>
              <a:buAutoNum type="arabicPeriod"/>
            </a:pPr>
            <a:r>
              <a:rPr lang="cs-CZ" b="1" dirty="0"/>
              <a:t>Základní funkcionality</a:t>
            </a:r>
            <a:r>
              <a:rPr lang="cs-CZ" dirty="0"/>
              <a:t>: I přes svou jednoduchost nabízí Essentials základní funkcionality jako </a:t>
            </a:r>
            <a:r>
              <a:rPr lang="cs-CZ" dirty="0" err="1"/>
              <a:t>Active</a:t>
            </a:r>
            <a:r>
              <a:rPr lang="cs-CZ" dirty="0"/>
              <a:t> </a:t>
            </a:r>
            <a:r>
              <a:rPr lang="cs-CZ" dirty="0" err="1"/>
              <a:t>Directory</a:t>
            </a:r>
            <a:r>
              <a:rPr lang="cs-CZ" dirty="0"/>
              <a:t>, </a:t>
            </a:r>
            <a:r>
              <a:rPr lang="cs-CZ" dirty="0" err="1"/>
              <a:t>Remote</a:t>
            </a:r>
            <a:r>
              <a:rPr lang="cs-CZ" dirty="0"/>
              <a:t> Web Access a základní síťové služby pro provoz malého podniku.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F76D1-9ABA-4710-9AA9-2A5DB324A631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5177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31746" y="4518027"/>
            <a:ext cx="14275988" cy="1460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10999">
                <a:solidFill>
                  <a:srgbClr val="000000"/>
                </a:solidFill>
                <a:latin typeface="Montserrat Classic Bold"/>
              </a:rPr>
              <a:t>SERVER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57469" y="1028700"/>
            <a:ext cx="8148556" cy="81485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81719" y="4518027"/>
            <a:ext cx="14611488" cy="1460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10999">
                <a:solidFill>
                  <a:srgbClr val="000000"/>
                </a:solidFill>
                <a:latin typeface="Montserrat Classic Bold"/>
              </a:rPr>
              <a:t>WINDOWS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1351"/>
            <a:ext cx="9526703" cy="10669703"/>
            <a:chOff x="0" y="0"/>
            <a:chExt cx="2509090" cy="2810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090" cy="2810128"/>
            </a:xfrm>
            <a:custGeom>
              <a:avLst/>
              <a:gdLst/>
              <a:ahLst/>
              <a:cxnLst/>
              <a:rect l="l" t="t" r="r" b="b"/>
              <a:pathLst>
                <a:path w="2509090" h="2810128">
                  <a:moveTo>
                    <a:pt x="0" y="0"/>
                  </a:moveTo>
                  <a:lnTo>
                    <a:pt x="2509090" y="0"/>
                  </a:lnTo>
                  <a:lnTo>
                    <a:pt x="2509090" y="2810128"/>
                  </a:lnTo>
                  <a:lnTo>
                    <a:pt x="0" y="2810128"/>
                  </a:ln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9090" cy="284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64705" y="1028700"/>
            <a:ext cx="6694595" cy="8229600"/>
            <a:chOff x="0" y="0"/>
            <a:chExt cx="1692440" cy="2080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2440" cy="2080500"/>
            </a:xfrm>
            <a:custGeom>
              <a:avLst/>
              <a:gdLst/>
              <a:ahLst/>
              <a:cxnLst/>
              <a:rect l="l" t="t" r="r" b="b"/>
              <a:pathLst>
                <a:path w="1692440" h="2080500">
                  <a:moveTo>
                    <a:pt x="0" y="0"/>
                  </a:moveTo>
                  <a:lnTo>
                    <a:pt x="1692440" y="0"/>
                  </a:lnTo>
                  <a:lnTo>
                    <a:pt x="1692440" y="2080500"/>
                  </a:lnTo>
                  <a:lnTo>
                    <a:pt x="0" y="2080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92440" cy="2118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40132" y="1352478"/>
            <a:ext cx="6124076" cy="7582043"/>
            <a:chOff x="0" y="0"/>
            <a:chExt cx="8165435" cy="1010939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rcRect l="9341" r="9341"/>
            <a:stretch>
              <a:fillRect/>
            </a:stretch>
          </p:blipFill>
          <p:spPr>
            <a:xfrm>
              <a:off x="0" y="0"/>
              <a:ext cx="8165435" cy="1010939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588960" y="1428678"/>
            <a:ext cx="6774384" cy="160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4"/>
              </a:lnSpc>
            </a:pPr>
            <a:r>
              <a:rPr lang="en-US" sz="5900">
                <a:solidFill>
                  <a:srgbClr val="000000"/>
                </a:solidFill>
                <a:latin typeface="Montserrat Classic Bold"/>
              </a:rPr>
              <a:t>EDICE WINDOWS SERVERŮ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8960" y="3998536"/>
            <a:ext cx="6946533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Windows Server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existuje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ve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více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edicích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, aby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vyhovoval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různým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potřebám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 a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rozpočtům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Základní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edice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zahrnují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 Standard, Datacenter, Essentials a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některé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specializované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verze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jako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 Storage Server </a:t>
            </a:r>
            <a:r>
              <a:rPr lang="en-US" sz="2499" dirty="0" err="1">
                <a:solidFill>
                  <a:srgbClr val="000000"/>
                </a:solidFill>
                <a:latin typeface="Montserrat Classic"/>
              </a:rPr>
              <a:t>nebo</a:t>
            </a:r>
            <a:r>
              <a:rPr lang="en-US" sz="2499" dirty="0">
                <a:solidFill>
                  <a:srgbClr val="000000"/>
                </a:solidFill>
                <a:latin typeface="Montserrat Classic"/>
              </a:rPr>
              <a:t> Azure Stack HCI.</a:t>
            </a:r>
          </a:p>
          <a:p>
            <a:pPr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Montserrat Class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1351"/>
            <a:ext cx="9526703" cy="10669703"/>
            <a:chOff x="0" y="0"/>
            <a:chExt cx="2509090" cy="2810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090" cy="2810128"/>
            </a:xfrm>
            <a:custGeom>
              <a:avLst/>
              <a:gdLst/>
              <a:ahLst/>
              <a:cxnLst/>
              <a:rect l="l" t="t" r="r" b="b"/>
              <a:pathLst>
                <a:path w="2509090" h="2810128">
                  <a:moveTo>
                    <a:pt x="0" y="0"/>
                  </a:moveTo>
                  <a:lnTo>
                    <a:pt x="2509090" y="0"/>
                  </a:lnTo>
                  <a:lnTo>
                    <a:pt x="2509090" y="2810128"/>
                  </a:lnTo>
                  <a:lnTo>
                    <a:pt x="0" y="2810128"/>
                  </a:ln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9090" cy="284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40132" y="1352478"/>
            <a:ext cx="6124076" cy="7582043"/>
            <a:chOff x="0" y="0"/>
            <a:chExt cx="8165435" cy="10109391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9614" r="9614"/>
            <a:stretch>
              <a:fillRect/>
            </a:stretch>
          </p:blipFill>
          <p:spPr>
            <a:xfrm>
              <a:off x="0" y="0"/>
              <a:ext cx="8165435" cy="10109391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1588960" y="1104900"/>
            <a:ext cx="6774384" cy="24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4"/>
              </a:lnSpc>
            </a:pPr>
            <a:r>
              <a:rPr lang="en-US" sz="5900">
                <a:solidFill>
                  <a:srgbClr val="000000"/>
                </a:solidFill>
                <a:latin typeface="Montserrat Classic Bold"/>
              </a:rPr>
              <a:t>WINDOWS SERVER</a:t>
            </a:r>
          </a:p>
          <a:p>
            <a:pPr algn="ctr">
              <a:lnSpc>
                <a:spcPts val="6254"/>
              </a:lnSpc>
            </a:pPr>
            <a:r>
              <a:rPr lang="en-US" sz="5900">
                <a:solidFill>
                  <a:srgbClr val="000000"/>
                </a:solidFill>
                <a:latin typeface="Montserrat Classic Bold"/>
              </a:rPr>
              <a:t>STADARD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88960" y="3998536"/>
            <a:ext cx="6946533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Windows Server Standard je určen pro běžné servery a poskytuje základní funkcionality.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Podporuje virtualizaci až dvou virtuálních instancí.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Ideální pro menší a střední podniky s rozsáhlejšími IT potřebami.</a:t>
            </a:r>
          </a:p>
          <a:p>
            <a:pPr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Montserrat Class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1351"/>
            <a:ext cx="9526703" cy="10669703"/>
            <a:chOff x="0" y="0"/>
            <a:chExt cx="2509090" cy="2810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090" cy="2810128"/>
            </a:xfrm>
            <a:custGeom>
              <a:avLst/>
              <a:gdLst/>
              <a:ahLst/>
              <a:cxnLst/>
              <a:rect l="l" t="t" r="r" b="b"/>
              <a:pathLst>
                <a:path w="2509090" h="2810128">
                  <a:moveTo>
                    <a:pt x="0" y="0"/>
                  </a:moveTo>
                  <a:lnTo>
                    <a:pt x="2509090" y="0"/>
                  </a:lnTo>
                  <a:lnTo>
                    <a:pt x="2509090" y="2810128"/>
                  </a:lnTo>
                  <a:lnTo>
                    <a:pt x="0" y="2810128"/>
                  </a:ln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9090" cy="284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40132" y="1352478"/>
            <a:ext cx="6124076" cy="7582043"/>
            <a:chOff x="0" y="0"/>
            <a:chExt cx="8165435" cy="10109391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9614" r="9614"/>
            <a:stretch>
              <a:fillRect/>
            </a:stretch>
          </p:blipFill>
          <p:spPr>
            <a:xfrm>
              <a:off x="0" y="0"/>
              <a:ext cx="8165435" cy="10109391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1675035" y="1428678"/>
            <a:ext cx="6774384" cy="81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4"/>
              </a:lnSpc>
            </a:pPr>
            <a:r>
              <a:rPr lang="en-US" sz="5900">
                <a:solidFill>
                  <a:srgbClr val="000000"/>
                </a:solidFill>
                <a:latin typeface="Montserrat Classic Bold"/>
              </a:rPr>
              <a:t>NEVÝHODY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1148" y="3080453"/>
            <a:ext cx="7002158" cy="4438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28"/>
              </a:lnSpc>
            </a:pPr>
            <a:r>
              <a:rPr lang="en-US" sz="2520">
                <a:solidFill>
                  <a:srgbClr val="000000"/>
                </a:solidFill>
                <a:latin typeface="Montserrat Classic"/>
              </a:rPr>
              <a:t>Omezená virtualizace:</a:t>
            </a:r>
          </a:p>
          <a:p>
            <a:pPr marL="544072" lvl="1" indent="-272036">
              <a:lnSpc>
                <a:spcPts val="3528"/>
              </a:lnSpc>
              <a:buFont typeface="Arial"/>
              <a:buChar char="•"/>
            </a:pPr>
            <a:r>
              <a:rPr lang="en-US" sz="2520">
                <a:solidFill>
                  <a:srgbClr val="000000"/>
                </a:solidFill>
                <a:latin typeface="Montserrat Classic"/>
              </a:rPr>
              <a:t> Podporuje pouze dvě virtuální instance, což může jenevhodné pro velké podniky.</a:t>
            </a:r>
          </a:p>
          <a:p>
            <a:pPr marL="544072" lvl="1" indent="-272036">
              <a:lnSpc>
                <a:spcPts val="3528"/>
              </a:lnSpc>
              <a:buFont typeface="Arial"/>
              <a:buChar char="•"/>
            </a:pPr>
            <a:r>
              <a:rPr lang="en-US" sz="2520">
                <a:solidFill>
                  <a:srgbClr val="000000"/>
                </a:solidFill>
                <a:latin typeface="Montserrat Classic"/>
              </a:rPr>
              <a:t>Licencování: Licenční model může být složitější a dražší v porovnání s některými jinými edicemi.</a:t>
            </a:r>
          </a:p>
          <a:p>
            <a:pPr marL="544072" lvl="1" indent="-272036">
              <a:lnSpc>
                <a:spcPts val="3528"/>
              </a:lnSpc>
              <a:buFont typeface="Arial"/>
              <a:buChar char="•"/>
            </a:pPr>
            <a:r>
              <a:rPr lang="en-US" sz="2520">
                <a:solidFill>
                  <a:srgbClr val="000000"/>
                </a:solidFill>
                <a:latin typeface="Montserrat Classic"/>
              </a:rPr>
              <a:t>Omezená škálovatelnost: Nedostatečná pro velké podniky.</a:t>
            </a:r>
          </a:p>
          <a:p>
            <a:pPr>
              <a:lnSpc>
                <a:spcPts val="3528"/>
              </a:lnSpc>
            </a:pPr>
            <a:endParaRPr lang="en-US" sz="2520">
              <a:solidFill>
                <a:srgbClr val="000000"/>
              </a:solidFill>
              <a:latin typeface="Montserrat Class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1351"/>
            <a:ext cx="9526703" cy="10669703"/>
            <a:chOff x="0" y="0"/>
            <a:chExt cx="2509090" cy="2810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090" cy="2810128"/>
            </a:xfrm>
            <a:custGeom>
              <a:avLst/>
              <a:gdLst/>
              <a:ahLst/>
              <a:cxnLst/>
              <a:rect l="l" t="t" r="r" b="b"/>
              <a:pathLst>
                <a:path w="2509090" h="2810128">
                  <a:moveTo>
                    <a:pt x="0" y="0"/>
                  </a:moveTo>
                  <a:lnTo>
                    <a:pt x="2509090" y="0"/>
                  </a:lnTo>
                  <a:lnTo>
                    <a:pt x="2509090" y="2810128"/>
                  </a:lnTo>
                  <a:lnTo>
                    <a:pt x="0" y="2810128"/>
                  </a:ln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9090" cy="284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378971" y="2615120"/>
            <a:ext cx="5056761" cy="5056761"/>
          </a:xfrm>
          <a:custGeom>
            <a:avLst/>
            <a:gdLst/>
            <a:ahLst/>
            <a:cxnLst/>
            <a:rect l="l" t="t" r="r" b="b"/>
            <a:pathLst>
              <a:path w="5056761" h="5056761">
                <a:moveTo>
                  <a:pt x="0" y="0"/>
                </a:moveTo>
                <a:lnTo>
                  <a:pt x="5056761" y="0"/>
                </a:lnTo>
                <a:lnTo>
                  <a:pt x="5056761" y="5056760"/>
                </a:lnTo>
                <a:lnTo>
                  <a:pt x="0" y="5056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6" name="TextBox 6"/>
          <p:cNvSpPr txBox="1"/>
          <p:nvPr/>
        </p:nvSpPr>
        <p:spPr>
          <a:xfrm>
            <a:off x="1588960" y="1104900"/>
            <a:ext cx="6774384" cy="24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4"/>
              </a:lnSpc>
            </a:pPr>
            <a:r>
              <a:rPr lang="en-US" sz="5900" dirty="0">
                <a:solidFill>
                  <a:srgbClr val="000000"/>
                </a:solidFill>
                <a:latin typeface="Montserrat Classic Bold"/>
              </a:rPr>
              <a:t>WINDOWS SERVER</a:t>
            </a:r>
          </a:p>
          <a:p>
            <a:pPr algn="ctr">
              <a:lnSpc>
                <a:spcPts val="6254"/>
              </a:lnSpc>
            </a:pPr>
            <a:r>
              <a:rPr lang="en-US" sz="5900" dirty="0">
                <a:solidFill>
                  <a:srgbClr val="000000"/>
                </a:solidFill>
                <a:latin typeface="Montserrat Classic Bold"/>
              </a:rPr>
              <a:t>DATACENTER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8960" y="3998536"/>
            <a:ext cx="6946533" cy="305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Windows Server Datacenter je určen pro velké podniky a cloudová prostředí.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Poskytuje neomezené licencování virtuálních instancí.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Ideální pro velké servery s vysokými nároky na virtualizaci a škálovatelnost.</a:t>
            </a:r>
          </a:p>
          <a:p>
            <a:pPr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Montserrat Class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1351"/>
            <a:ext cx="9526703" cy="10669703"/>
            <a:chOff x="0" y="0"/>
            <a:chExt cx="2509090" cy="2810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090" cy="2810128"/>
            </a:xfrm>
            <a:custGeom>
              <a:avLst/>
              <a:gdLst/>
              <a:ahLst/>
              <a:cxnLst/>
              <a:rect l="l" t="t" r="r" b="b"/>
              <a:pathLst>
                <a:path w="2509090" h="2810128">
                  <a:moveTo>
                    <a:pt x="0" y="0"/>
                  </a:moveTo>
                  <a:lnTo>
                    <a:pt x="2509090" y="0"/>
                  </a:lnTo>
                  <a:lnTo>
                    <a:pt x="2509090" y="2810128"/>
                  </a:lnTo>
                  <a:lnTo>
                    <a:pt x="0" y="2810128"/>
                  </a:ln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9090" cy="284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378971" y="2615120"/>
            <a:ext cx="5056761" cy="5056761"/>
          </a:xfrm>
          <a:custGeom>
            <a:avLst/>
            <a:gdLst/>
            <a:ahLst/>
            <a:cxnLst/>
            <a:rect l="l" t="t" r="r" b="b"/>
            <a:pathLst>
              <a:path w="5056761" h="5056761">
                <a:moveTo>
                  <a:pt x="0" y="0"/>
                </a:moveTo>
                <a:lnTo>
                  <a:pt x="5056761" y="0"/>
                </a:lnTo>
                <a:lnTo>
                  <a:pt x="5056761" y="5056760"/>
                </a:lnTo>
                <a:lnTo>
                  <a:pt x="0" y="505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6" name="TextBox 6"/>
          <p:cNvSpPr txBox="1"/>
          <p:nvPr/>
        </p:nvSpPr>
        <p:spPr>
          <a:xfrm>
            <a:off x="1588960" y="1104900"/>
            <a:ext cx="6774384" cy="81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4"/>
              </a:lnSpc>
            </a:pPr>
            <a:r>
              <a:rPr lang="en-US" sz="5900">
                <a:solidFill>
                  <a:srgbClr val="000000"/>
                </a:solidFill>
                <a:latin typeface="Montserrat Classic Bold"/>
              </a:rPr>
              <a:t>NEVÝHODY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8960" y="3998536"/>
            <a:ext cx="6946533" cy="307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Vyšší cena: Obvykle je dražší než edice Standard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Přebytečná kapacita: Pro menší podniky s nižšími virtualizačními potřebami může být nadbytečná kapacita nevyužitá.</a:t>
            </a:r>
          </a:p>
          <a:p>
            <a:pPr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Montserrat Class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1351"/>
            <a:ext cx="9526703" cy="10669703"/>
            <a:chOff x="0" y="0"/>
            <a:chExt cx="2509090" cy="2810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090" cy="2810128"/>
            </a:xfrm>
            <a:custGeom>
              <a:avLst/>
              <a:gdLst/>
              <a:ahLst/>
              <a:cxnLst/>
              <a:rect l="l" t="t" r="r" b="b"/>
              <a:pathLst>
                <a:path w="2509090" h="2810128">
                  <a:moveTo>
                    <a:pt x="0" y="0"/>
                  </a:moveTo>
                  <a:lnTo>
                    <a:pt x="2509090" y="0"/>
                  </a:lnTo>
                  <a:lnTo>
                    <a:pt x="2509090" y="2810128"/>
                  </a:lnTo>
                  <a:lnTo>
                    <a:pt x="0" y="2810128"/>
                  </a:ln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9090" cy="284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018320" y="2254469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6" name="TextBox 6"/>
          <p:cNvSpPr txBox="1"/>
          <p:nvPr/>
        </p:nvSpPr>
        <p:spPr>
          <a:xfrm>
            <a:off x="1588960" y="1104900"/>
            <a:ext cx="6774384" cy="240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4"/>
              </a:lnSpc>
            </a:pPr>
            <a:r>
              <a:rPr lang="en-US" sz="5900" dirty="0">
                <a:solidFill>
                  <a:srgbClr val="000000"/>
                </a:solidFill>
                <a:latin typeface="Montserrat Classic Bold"/>
              </a:rPr>
              <a:t>WINDOWS SERVER</a:t>
            </a:r>
          </a:p>
          <a:p>
            <a:pPr algn="ctr">
              <a:lnSpc>
                <a:spcPts val="6254"/>
              </a:lnSpc>
            </a:pPr>
            <a:r>
              <a:rPr lang="en-US" sz="5900" dirty="0">
                <a:solidFill>
                  <a:srgbClr val="000000"/>
                </a:solidFill>
                <a:latin typeface="Montserrat Classic Bold"/>
              </a:rPr>
              <a:t>ESSENTIALS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8960" y="3998536"/>
            <a:ext cx="6946533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Windows Server Essentials je navržen pro malé podniky s maximálně 25 uživateli a 50 zařízeními.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Poskytuje jednoduché správu s důrazem na zálohování a ochranu dat.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Ideální pro malé podniky s omezenými IT zdroji.</a:t>
            </a:r>
          </a:p>
          <a:p>
            <a:pPr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Montserrat Class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1351"/>
            <a:ext cx="9526703" cy="10669703"/>
            <a:chOff x="0" y="0"/>
            <a:chExt cx="2509090" cy="2810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090" cy="2810128"/>
            </a:xfrm>
            <a:custGeom>
              <a:avLst/>
              <a:gdLst/>
              <a:ahLst/>
              <a:cxnLst/>
              <a:rect l="l" t="t" r="r" b="b"/>
              <a:pathLst>
                <a:path w="2509090" h="2810128">
                  <a:moveTo>
                    <a:pt x="0" y="0"/>
                  </a:moveTo>
                  <a:lnTo>
                    <a:pt x="2509090" y="0"/>
                  </a:lnTo>
                  <a:lnTo>
                    <a:pt x="2509090" y="2810128"/>
                  </a:lnTo>
                  <a:lnTo>
                    <a:pt x="0" y="2810128"/>
                  </a:ln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9090" cy="284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64705" y="1028700"/>
            <a:ext cx="6694595" cy="8229600"/>
            <a:chOff x="0" y="0"/>
            <a:chExt cx="1692440" cy="2080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2440" cy="2080500"/>
            </a:xfrm>
            <a:custGeom>
              <a:avLst/>
              <a:gdLst/>
              <a:ahLst/>
              <a:cxnLst/>
              <a:rect l="l" t="t" r="r" b="b"/>
              <a:pathLst>
                <a:path w="1692440" h="2080500">
                  <a:moveTo>
                    <a:pt x="0" y="0"/>
                  </a:moveTo>
                  <a:lnTo>
                    <a:pt x="1692440" y="0"/>
                  </a:lnTo>
                  <a:lnTo>
                    <a:pt x="1692440" y="2080500"/>
                  </a:lnTo>
                  <a:lnTo>
                    <a:pt x="0" y="2080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92440" cy="2118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40132" y="1352478"/>
            <a:ext cx="6124076" cy="7582043"/>
            <a:chOff x="0" y="0"/>
            <a:chExt cx="8165435" cy="1010939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l="27563" r="27563"/>
            <a:stretch>
              <a:fillRect/>
            </a:stretch>
          </p:blipFill>
          <p:spPr>
            <a:xfrm>
              <a:off x="0" y="0"/>
              <a:ext cx="8165435" cy="1010939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588960" y="1428678"/>
            <a:ext cx="7032197" cy="1631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3"/>
              </a:lnSpc>
            </a:pPr>
            <a:r>
              <a:rPr lang="en-US" sz="5975">
                <a:solidFill>
                  <a:srgbClr val="000000"/>
                </a:solidFill>
                <a:latin typeface="Montserrat Classic Bold"/>
              </a:rPr>
              <a:t>SPECIALIZOVANÉ EDICE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8960" y="3998536"/>
            <a:ext cx="6946533" cy="350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Kromě hlavních edic existují i specializované verze Windows Serveru, jako Storage Server nebo Azure Stack HCI.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Tyto verze jsou zaměřeny na konkrétní účely, jako je ukládání dat nebo hybridní cloudové prostředí.</a:t>
            </a:r>
          </a:p>
          <a:p>
            <a:pPr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Montserrat Class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1351"/>
            <a:ext cx="9526703" cy="10669703"/>
            <a:chOff x="0" y="0"/>
            <a:chExt cx="2509090" cy="2810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090" cy="2810128"/>
            </a:xfrm>
            <a:custGeom>
              <a:avLst/>
              <a:gdLst/>
              <a:ahLst/>
              <a:cxnLst/>
              <a:rect l="l" t="t" r="r" b="b"/>
              <a:pathLst>
                <a:path w="2509090" h="2810128">
                  <a:moveTo>
                    <a:pt x="0" y="0"/>
                  </a:moveTo>
                  <a:lnTo>
                    <a:pt x="2509090" y="0"/>
                  </a:lnTo>
                  <a:lnTo>
                    <a:pt x="2509090" y="2810128"/>
                  </a:lnTo>
                  <a:lnTo>
                    <a:pt x="0" y="2810128"/>
                  </a:ln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9090" cy="284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018320" y="2254469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6" name="TextBox 6"/>
          <p:cNvSpPr txBox="1"/>
          <p:nvPr/>
        </p:nvSpPr>
        <p:spPr>
          <a:xfrm>
            <a:off x="1588960" y="1428678"/>
            <a:ext cx="7032197" cy="1631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3"/>
              </a:lnSpc>
            </a:pPr>
            <a:r>
              <a:rPr lang="en-US" sz="5975">
                <a:solidFill>
                  <a:srgbClr val="000000"/>
                </a:solidFill>
                <a:latin typeface="Montserrat Classic Bold"/>
              </a:rPr>
              <a:t> STORAGE SERVER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8960" y="3998536"/>
            <a:ext cx="6946533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Windows Storage Server je speciální verze operačního systému Windows Server navržená pro ukládání a správu dat v síťových prostředích, poskytující škálovatelné a bezpečné řešení pro organizace potřebující síťové úložiště a ochranu dat.</a:t>
            </a:r>
          </a:p>
          <a:p>
            <a:pPr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Montserrat Class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1351"/>
            <a:ext cx="9526703" cy="10669703"/>
            <a:chOff x="0" y="0"/>
            <a:chExt cx="2509090" cy="2810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090" cy="2810128"/>
            </a:xfrm>
            <a:custGeom>
              <a:avLst/>
              <a:gdLst/>
              <a:ahLst/>
              <a:cxnLst/>
              <a:rect l="l" t="t" r="r" b="b"/>
              <a:pathLst>
                <a:path w="2509090" h="2810128">
                  <a:moveTo>
                    <a:pt x="0" y="0"/>
                  </a:moveTo>
                  <a:lnTo>
                    <a:pt x="2509090" y="0"/>
                  </a:lnTo>
                  <a:lnTo>
                    <a:pt x="2509090" y="2810128"/>
                  </a:lnTo>
                  <a:lnTo>
                    <a:pt x="0" y="2810128"/>
                  </a:ln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9090" cy="284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40132" y="1352478"/>
            <a:ext cx="6124076" cy="7582043"/>
            <a:chOff x="0" y="0"/>
            <a:chExt cx="8165435" cy="10109391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9614" r="9614"/>
            <a:stretch>
              <a:fillRect/>
            </a:stretch>
          </p:blipFill>
          <p:spPr>
            <a:xfrm>
              <a:off x="0" y="0"/>
              <a:ext cx="8165435" cy="10109391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1588960" y="1104900"/>
            <a:ext cx="7032197" cy="1631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3"/>
              </a:lnSpc>
            </a:pPr>
            <a:r>
              <a:rPr lang="en-US" sz="5975">
                <a:solidFill>
                  <a:srgbClr val="000000"/>
                </a:solidFill>
                <a:latin typeface="Montserrat Classic Bold"/>
              </a:rPr>
              <a:t> STORAGE SERVER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88960" y="3012332"/>
            <a:ext cx="6946533" cy="704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Ukládání a správa dat: Poskytuje prostředí pro ukládání dat v síťovém prostředí a zajišťuje jejich zálohování a obnovu.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Síťové úložiště: Umí vytvářet a spravovat síťová úložiště pro sdílení dat v rámci organizace.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Active Directory pro správu uživatelů a oprávnění.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Bezpečnostní funkce: zálohování, šifrování a ochrany před hrozbami.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Škálovatelnost a výkon: Podporuje různé typy diskových polí a umožňuje jednoduché rozšíření kapacity úložiště podle potřeby.</a:t>
            </a:r>
          </a:p>
          <a:p>
            <a:pPr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Montserrat Class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1351"/>
            <a:ext cx="9526703" cy="10669703"/>
            <a:chOff x="0" y="0"/>
            <a:chExt cx="2509090" cy="2810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090" cy="2810128"/>
            </a:xfrm>
            <a:custGeom>
              <a:avLst/>
              <a:gdLst/>
              <a:ahLst/>
              <a:cxnLst/>
              <a:rect l="l" t="t" r="r" b="b"/>
              <a:pathLst>
                <a:path w="2509090" h="2810128">
                  <a:moveTo>
                    <a:pt x="0" y="0"/>
                  </a:moveTo>
                  <a:lnTo>
                    <a:pt x="2509090" y="0"/>
                  </a:lnTo>
                  <a:lnTo>
                    <a:pt x="2509090" y="2810128"/>
                  </a:lnTo>
                  <a:lnTo>
                    <a:pt x="0" y="2810128"/>
                  </a:ln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9090" cy="284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64705" y="1028700"/>
            <a:ext cx="6694595" cy="8229600"/>
            <a:chOff x="0" y="0"/>
            <a:chExt cx="1692440" cy="2080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2440" cy="2080500"/>
            </a:xfrm>
            <a:custGeom>
              <a:avLst/>
              <a:gdLst/>
              <a:ahLst/>
              <a:cxnLst/>
              <a:rect l="l" t="t" r="r" b="b"/>
              <a:pathLst>
                <a:path w="1692440" h="2080500">
                  <a:moveTo>
                    <a:pt x="0" y="0"/>
                  </a:moveTo>
                  <a:lnTo>
                    <a:pt x="1692440" y="0"/>
                  </a:lnTo>
                  <a:lnTo>
                    <a:pt x="1692440" y="2080500"/>
                  </a:lnTo>
                  <a:lnTo>
                    <a:pt x="0" y="2080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92440" cy="2118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40132" y="1352478"/>
            <a:ext cx="6124076" cy="7582043"/>
            <a:chOff x="0" y="0"/>
            <a:chExt cx="8165435" cy="1010939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l="29785" r="29785"/>
            <a:stretch>
              <a:fillRect/>
            </a:stretch>
          </p:blipFill>
          <p:spPr>
            <a:xfrm>
              <a:off x="0" y="0"/>
              <a:ext cx="8165435" cy="1010939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588960" y="1104900"/>
            <a:ext cx="7032197" cy="2431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3"/>
              </a:lnSpc>
            </a:pPr>
            <a:r>
              <a:rPr lang="en-US" sz="5975">
                <a:solidFill>
                  <a:srgbClr val="000000"/>
                </a:solidFill>
                <a:latin typeface="Montserrat Classic Bold"/>
              </a:rPr>
              <a:t>LICENCOVÁNÍ WINDOWS SERVERU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8960" y="3998536"/>
            <a:ext cx="6946533" cy="480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Licencování Windows Serveru se liší v závislosti na edici a používaném modelu.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Standardní licencování zahrnuje licenci na serverovou instanci a případně další poplatky za uživatele nebo zařízení.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Pro virtuální prostředí existuje licencování pro jednotlivé virtuální instance nebo model s neomezeným počtem instancí pro Datacenter edici.</a:t>
            </a:r>
          </a:p>
          <a:p>
            <a:pPr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Montserrat Class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1351"/>
            <a:ext cx="9526703" cy="10669703"/>
            <a:chOff x="0" y="0"/>
            <a:chExt cx="2509090" cy="2810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090" cy="2810128"/>
            </a:xfrm>
            <a:custGeom>
              <a:avLst/>
              <a:gdLst/>
              <a:ahLst/>
              <a:cxnLst/>
              <a:rect l="l" t="t" r="r" b="b"/>
              <a:pathLst>
                <a:path w="2509090" h="2810128">
                  <a:moveTo>
                    <a:pt x="0" y="0"/>
                  </a:moveTo>
                  <a:lnTo>
                    <a:pt x="2509090" y="0"/>
                  </a:lnTo>
                  <a:lnTo>
                    <a:pt x="2509090" y="2810128"/>
                  </a:lnTo>
                  <a:lnTo>
                    <a:pt x="0" y="2810128"/>
                  </a:ln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9090" cy="284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64705" y="1028700"/>
            <a:ext cx="6694595" cy="8229600"/>
            <a:chOff x="0" y="0"/>
            <a:chExt cx="1692440" cy="2080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2440" cy="2080500"/>
            </a:xfrm>
            <a:custGeom>
              <a:avLst/>
              <a:gdLst/>
              <a:ahLst/>
              <a:cxnLst/>
              <a:rect l="l" t="t" r="r" b="b"/>
              <a:pathLst>
                <a:path w="1692440" h="2080500">
                  <a:moveTo>
                    <a:pt x="0" y="0"/>
                  </a:moveTo>
                  <a:lnTo>
                    <a:pt x="1692440" y="0"/>
                  </a:lnTo>
                  <a:lnTo>
                    <a:pt x="1692440" y="2080500"/>
                  </a:lnTo>
                  <a:lnTo>
                    <a:pt x="0" y="2080500"/>
                  </a:ln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92440" cy="2118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49965" y="1352478"/>
            <a:ext cx="6124076" cy="7582043"/>
            <a:chOff x="0" y="0"/>
            <a:chExt cx="8165435" cy="1010939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l="9614" r="9614"/>
            <a:stretch>
              <a:fillRect/>
            </a:stretch>
          </p:blipFill>
          <p:spPr>
            <a:xfrm>
              <a:off x="0" y="0"/>
              <a:ext cx="8165435" cy="1010939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588960" y="1104900"/>
            <a:ext cx="7032197" cy="2431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3"/>
              </a:lnSpc>
            </a:pPr>
            <a:r>
              <a:rPr lang="en-US" sz="5975">
                <a:solidFill>
                  <a:srgbClr val="000000"/>
                </a:solidFill>
                <a:latin typeface="Montserrat Classic Bold"/>
              </a:rPr>
              <a:t>LICENCOVÁNÍ WINDOWS SERVERU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8960" y="3998536"/>
            <a:ext cx="6946533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Licencování Windows Serveru může být založeno na počtu uživatelů nebo zařízení připojených k serveru.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Tento model je často vhodný pro organizace s proměnlivým počtem uživatelů, jako jsou školy nebo firmy s mobilními pracovníky.</a:t>
            </a:r>
          </a:p>
          <a:p>
            <a:pPr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Montserrat Class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1351"/>
            <a:ext cx="9526703" cy="10669703"/>
            <a:chOff x="0" y="0"/>
            <a:chExt cx="2509090" cy="2810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090" cy="2810128"/>
            </a:xfrm>
            <a:custGeom>
              <a:avLst/>
              <a:gdLst/>
              <a:ahLst/>
              <a:cxnLst/>
              <a:rect l="l" t="t" r="r" b="b"/>
              <a:pathLst>
                <a:path w="2509090" h="2810128">
                  <a:moveTo>
                    <a:pt x="0" y="0"/>
                  </a:moveTo>
                  <a:lnTo>
                    <a:pt x="2509090" y="0"/>
                  </a:lnTo>
                  <a:lnTo>
                    <a:pt x="2509090" y="2810128"/>
                  </a:lnTo>
                  <a:lnTo>
                    <a:pt x="0" y="2810128"/>
                  </a:ln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9090" cy="284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64705" y="1028700"/>
            <a:ext cx="6694595" cy="8229600"/>
            <a:chOff x="0" y="0"/>
            <a:chExt cx="1692440" cy="2080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2440" cy="2080500"/>
            </a:xfrm>
            <a:custGeom>
              <a:avLst/>
              <a:gdLst/>
              <a:ahLst/>
              <a:cxnLst/>
              <a:rect l="l" t="t" r="r" b="b"/>
              <a:pathLst>
                <a:path w="1692440" h="2080500">
                  <a:moveTo>
                    <a:pt x="0" y="0"/>
                  </a:moveTo>
                  <a:lnTo>
                    <a:pt x="1692440" y="0"/>
                  </a:lnTo>
                  <a:lnTo>
                    <a:pt x="1692440" y="2080500"/>
                  </a:lnTo>
                  <a:lnTo>
                    <a:pt x="0" y="2080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92440" cy="2118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40132" y="1352478"/>
            <a:ext cx="6124076" cy="7582043"/>
            <a:chOff x="0" y="0"/>
            <a:chExt cx="8165435" cy="1010939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l="65109" r="18063"/>
            <a:stretch>
              <a:fillRect/>
            </a:stretch>
          </p:blipFill>
          <p:spPr>
            <a:xfrm>
              <a:off x="0" y="0"/>
              <a:ext cx="8165435" cy="1010939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588960" y="1104900"/>
            <a:ext cx="7032197" cy="1631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3"/>
              </a:lnSpc>
            </a:pPr>
            <a:r>
              <a:rPr lang="en-US" sz="5975">
                <a:solidFill>
                  <a:srgbClr val="000000"/>
                </a:solidFill>
                <a:latin typeface="Montserrat Classic Bold"/>
              </a:rPr>
              <a:t>AZURE HYBRID BENEFIT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8960" y="3998536"/>
            <a:ext cx="6946533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Azure Hybrid Benefit umožňuje organizacím využít své stávající licence Windows Serveru ve virtuálních prostředích v cloudu.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Tím se snižují náklady na provoz serverů v cloudu a usnadňuje se migrace a rozšiřování infrastruktury.</a:t>
            </a:r>
          </a:p>
          <a:p>
            <a:pPr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Montserrat Class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7764" y="-110329"/>
            <a:ext cx="9511764" cy="10507658"/>
            <a:chOff x="0" y="0"/>
            <a:chExt cx="2505156" cy="27674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5156" cy="2767449"/>
            </a:xfrm>
            <a:custGeom>
              <a:avLst/>
              <a:gdLst/>
              <a:ahLst/>
              <a:cxnLst/>
              <a:rect l="l" t="t" r="r" b="b"/>
              <a:pathLst>
                <a:path w="2505156" h="2767449">
                  <a:moveTo>
                    <a:pt x="0" y="0"/>
                  </a:moveTo>
                  <a:lnTo>
                    <a:pt x="2505156" y="0"/>
                  </a:lnTo>
                  <a:lnTo>
                    <a:pt x="2505156" y="2767449"/>
                  </a:lnTo>
                  <a:lnTo>
                    <a:pt x="0" y="2767449"/>
                  </a:lnTo>
                  <a:close/>
                </a:path>
              </a:pathLst>
            </a:custGeom>
            <a:solidFill>
              <a:srgbClr val="FFF6E3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5156" cy="2805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026000" y="2254469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3" y="0"/>
                </a:lnTo>
                <a:lnTo>
                  <a:pt x="5778063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6" name="TextBox 6"/>
          <p:cNvSpPr txBox="1"/>
          <p:nvPr/>
        </p:nvSpPr>
        <p:spPr>
          <a:xfrm>
            <a:off x="1028700" y="1123950"/>
            <a:ext cx="7947263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999"/>
              </a:lnSpc>
            </a:pPr>
            <a:r>
              <a:rPr lang="en-US" sz="9999">
                <a:solidFill>
                  <a:srgbClr val="000000"/>
                </a:solidFill>
                <a:latin typeface="Montserrat Classic Bold"/>
              </a:rPr>
              <a:t>ZDROJE: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29065" y="3893481"/>
            <a:ext cx="6946533" cy="307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https://azure.microsoft.com/en-us/pricing/hybrid-benefit/#overview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https://www.microsoft.com/cs-cz/windows-server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 Classic"/>
              </a:rPr>
              <a:t>https://en.wikipedia.org/wiki/Windows_Server</a:t>
            </a:r>
          </a:p>
          <a:p>
            <a:pPr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Montserrat Class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805</Words>
  <Application>Microsoft Office PowerPoint</Application>
  <PresentationFormat>Vlastní</PresentationFormat>
  <Paragraphs>71</Paragraphs>
  <Slides>14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9" baseType="lpstr">
      <vt:lpstr>Montserrat Classic Bold</vt:lpstr>
      <vt:lpstr>Montserrat Classic</vt:lpstr>
      <vt:lpstr>Calibri</vt:lpstr>
      <vt:lpstr>Arial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:identifier>DAF8F0zumKw</dc:identifier>
</cp:coreProperties>
</file>