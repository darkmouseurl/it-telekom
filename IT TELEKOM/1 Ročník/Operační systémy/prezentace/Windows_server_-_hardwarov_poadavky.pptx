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64" r:id="rId6"/>
    <p:sldId id="260" r:id="rId7"/>
    <p:sldId id="261" r:id="rId8"/>
    <p:sldId id="265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2F6"/>
    <a:srgbClr val="008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D1D3A1-F9CC-7045-5FE9-DB9231B35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0720D93-2B0C-9C2A-DE83-0BD9899D5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BB99A4-2458-4F9E-CA5C-5B77547D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DBBBCC8-E33E-F668-E888-D90D9F1B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D281961-7937-EC27-F379-115713BF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746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060388-CA8A-60AF-FF9D-A2A6F5D3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2F9C76-5227-1165-E2DD-0475F6CC4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F799BD-3B84-376E-2D88-D93791C6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3934AC-1163-5B35-484A-74114DC0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A031F5-322B-0E66-2A2F-9AD818D4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472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C9D79A-AEA3-E398-9EFE-F542080F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F67C06-A294-2C87-C10E-09D006A3C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D457906-CFB0-9199-CF21-C71BD94C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226B33D-7216-F787-2809-910C1767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1E2F250-739E-475C-1ACA-AEF772E9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857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D2E9B3-4775-FB68-25CF-CBBEEDA5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9AFF42-3A66-207F-DFD9-649A27377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B27EFD7-1C71-6A3A-BEBE-2DE1E3C9F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FFC5A76-6C00-6597-2D75-8E2BF9F5A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1042D05-9FB4-13A4-07EC-AF2464FD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9A9D8C-A74E-282E-5495-EA0BF9B1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940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77E8FB-902C-FFFB-748C-C45A6D87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242C43-09FB-3201-F4D4-F8EC44EBD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15DE2B4-DB6B-D50F-7841-BF1AD146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3AFC6F9-0693-C175-6DBA-A15B566D3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0AFB38-B583-8070-E4AF-026B2BB67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6487D57-7790-731F-461B-EFB2AC5C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12AC9FE-35BE-FBBB-4158-DD799513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0A5BE12-DDE7-85A5-B879-58934202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826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563CD6-5319-8744-C79E-DA43112DA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95884C9-FCED-5586-D5D3-0EED7CDA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E78834C-C16D-DD55-2A3A-C25E6058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DA5FDB-99C3-73A0-1AAF-96072278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3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86F45A2-8ACF-221B-D825-BF8CF41C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1F43E04-9953-06BB-89FD-6F3108FC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8E04B9-DA62-7BCF-6D15-26490995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946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BBD4F2-581E-03DB-4700-DF9E7272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F2A100-CA53-B7BC-04C4-ABA2E0849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6F8F8E1-EF04-62C6-CDCA-091CB1F71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F123BF7-0456-7611-D725-D21722EF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CAB3079-221F-03E9-D595-C59B76C5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CF70203-21FC-BB62-E1BC-A9259E7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022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C8E86E-93E1-34A9-A2B0-1D18CF1A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F00E6B8-8507-4F79-DC75-F0F353B0B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4824EE5-70FA-ED8F-4BC6-018E1A89D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1416D9B-08F5-E622-314C-E5E1105C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6445DEF-7D0F-3FF5-7E71-E46815F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00AAAC-AF81-E9BD-0F98-4CC19077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149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0FAF5E-D833-DAF8-F4FF-991B503E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5564FEC-6EF8-F729-5D6F-7C38BC2B9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1572EA-C170-1378-2730-773A83BE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6A4F2A-3A51-76A4-EB76-33A21510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3E6D88-250A-FC05-25EB-2B72A2CA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21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1E0373B-0EA8-B933-78A7-A4FE95749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BD072B2-E271-9DF8-482D-8FA3B1B9A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6204DE8-6F63-5B81-3D27-710A3CFB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24C60D1-902B-F720-EA8D-9AFCB6C2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56E422-B546-0FE9-205C-FF29507F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216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A51A6A2-A77C-9945-895E-0DF9DBFA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85B79D-8A89-2942-E95F-F2EC5F04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26D4D8-A003-D510-445D-72FDEAE1B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B61A9-B889-42D0-85B1-2C398570D9F8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314DEA-D008-93AD-151D-C793E566A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602D88-DEA2-7B36-C440-3816765D7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D0EC0-5B4C-4924-B196-EBE9BC6B14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650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-server/get-started/hardware-requiremen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FDC0270-17C8-922E-ECBE-76A5FEA1F6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6DE2AB85-2879-A54B-B74E-4F24D1EC699C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Pravoúhlý trojúhelník 6">
            <a:extLst>
              <a:ext uri="{FF2B5EF4-FFF2-40B4-BE49-F238E27FC236}">
                <a16:creationId xmlns:a16="http://schemas.microsoft.com/office/drawing/2014/main" id="{E6CAB167-76EB-061A-FE46-122ECA3C8D0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733B05-A1E7-5EB6-9F48-9B6A45196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6600" b="1" u="sng" dirty="0">
                <a:solidFill>
                  <a:schemeClr val="bg1"/>
                </a:solidFill>
              </a:rPr>
              <a:t>Windows server</a:t>
            </a:r>
            <a:br>
              <a:rPr lang="cs-CZ" sz="6600" b="1" u="sng" dirty="0">
                <a:solidFill>
                  <a:schemeClr val="bg1"/>
                </a:solidFill>
              </a:rPr>
            </a:br>
            <a:r>
              <a:rPr lang="cs-CZ" sz="6600" b="1" u="sng" dirty="0">
                <a:solidFill>
                  <a:schemeClr val="bg1"/>
                </a:solidFill>
              </a:rPr>
              <a:t>hardwarové požadavky</a:t>
            </a:r>
          </a:p>
        </p:txBody>
      </p:sp>
    </p:spTree>
    <p:extLst>
      <p:ext uri="{BB962C8B-B14F-4D97-AF65-F5344CB8AC3E}">
        <p14:creationId xmlns:p14="http://schemas.microsoft.com/office/powerpoint/2010/main" val="13246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Procesor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325"/>
            <a:ext cx="10515600" cy="435133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Minimální požadavky</a:t>
            </a:r>
            <a:r>
              <a:rPr lang="cs-CZ" dirty="0">
                <a:solidFill>
                  <a:schemeClr val="bg1"/>
                </a:solidFill>
              </a:rPr>
              <a:t>:</a:t>
            </a:r>
            <a:endParaRPr lang="cs-CZ" sz="3200" dirty="0">
              <a:solidFill>
                <a:schemeClr val="bg1"/>
              </a:solidFill>
            </a:endParaRP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1.4 GHz, 64-bit procesor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Podpora NX, DEP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Podpora </a:t>
            </a:r>
            <a:r>
              <a:rPr lang="en-US" sz="2000" dirty="0">
                <a:solidFill>
                  <a:schemeClr val="bg1"/>
                </a:solidFill>
              </a:rPr>
              <a:t>CMPXCHG16b, LAHF/SAHF,</a:t>
            </a:r>
            <a:r>
              <a:rPr lang="cs-CZ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PrefetchW</a:t>
            </a:r>
            <a:endParaRPr lang="cs-CZ" sz="2000" dirty="0">
              <a:solidFill>
                <a:schemeClr val="bg1"/>
              </a:solidFill>
            </a:endParaRP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Podpora SLAT (Second Level Address Translation) – EPT/NPT</a:t>
            </a:r>
          </a:p>
          <a:p>
            <a:pPr lvl="1"/>
            <a:endParaRPr lang="cs-CZ" sz="2800" dirty="0">
              <a:solidFill>
                <a:schemeClr val="bg1"/>
              </a:solidFill>
            </a:endParaRPr>
          </a:p>
        </p:txBody>
      </p:sp>
      <p:pic>
        <p:nvPicPr>
          <p:cNvPr id="8" name="Grafický objekt 7" descr="Procesor se souvislou výplní">
            <a:extLst>
              <a:ext uri="{FF2B5EF4-FFF2-40B4-BE49-F238E27FC236}">
                <a16:creationId xmlns:a16="http://schemas.microsoft.com/office/drawing/2014/main" id="{36964E56-75C7-F6B2-D85C-83D545899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5103" y="4333877"/>
            <a:ext cx="2158998" cy="21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0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RAM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750"/>
            <a:ext cx="10515600" cy="435133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Minimální požadavky</a:t>
            </a:r>
            <a:r>
              <a:rPr lang="cs-CZ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512 MB (2GB pro Server with desktop experience)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Technologie ECC</a:t>
            </a:r>
          </a:p>
        </p:txBody>
      </p:sp>
      <p:pic>
        <p:nvPicPr>
          <p:cNvPr id="8" name="Grafický objekt 7" descr="Mozek se souvislou výplní">
            <a:extLst>
              <a:ext uri="{FF2B5EF4-FFF2-40B4-BE49-F238E27FC236}">
                <a16:creationId xmlns:a16="http://schemas.microsoft.com/office/drawing/2014/main" id="{8D71BD63-83A0-078C-9E9E-645C3788D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51903" y="4073527"/>
            <a:ext cx="2158998" cy="21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Úložiště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PC na kterém pojede Windows Server musí mít úložný adaptér, který je kompatibilní se specifikací PCI Express architektury</a:t>
            </a:r>
          </a:p>
          <a:p>
            <a:r>
              <a:rPr lang="cs-CZ" sz="2400" dirty="0">
                <a:solidFill>
                  <a:schemeClr val="bg1"/>
                </a:solidFill>
              </a:rPr>
              <a:t>Pevné disky nesmí být PATA</a:t>
            </a:r>
          </a:p>
          <a:p>
            <a:r>
              <a:rPr lang="cs-CZ" sz="2400" dirty="0">
                <a:solidFill>
                  <a:schemeClr val="bg1"/>
                </a:solidFill>
              </a:rPr>
              <a:t>Windows server nepovoluje ATA/PATA/IDE/EIDE pro spouštěcí, stránkovací nebo datové jednotky</a:t>
            </a:r>
          </a:p>
          <a:p>
            <a:pPr marL="1828800" lvl="4" indent="0">
              <a:buNone/>
            </a:pPr>
            <a:endParaRPr lang="cs-CZ" sz="2200" dirty="0">
              <a:solidFill>
                <a:schemeClr val="bg1"/>
              </a:solidFill>
            </a:endParaRPr>
          </a:p>
        </p:txBody>
      </p:sp>
      <p:pic>
        <p:nvPicPr>
          <p:cNvPr id="9" name="Grafický objekt 8" descr="Databáze se souvislou výplní">
            <a:extLst>
              <a:ext uri="{FF2B5EF4-FFF2-40B4-BE49-F238E27FC236}">
                <a16:creationId xmlns:a16="http://schemas.microsoft.com/office/drawing/2014/main" id="{2763932D-44DA-2CA2-2BBD-A2125114F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3204" y="4206083"/>
            <a:ext cx="2158998" cy="21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Úložiště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Minimální požadavky: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32GB (absolutní minimum pro úspěšnou instalaci)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Pokud má PC více než 16GB RAM bude potřeba větší úložiště</a:t>
            </a:r>
            <a:br>
              <a:rPr lang="cs-CZ" sz="2000" dirty="0">
                <a:solidFill>
                  <a:schemeClr val="bg1"/>
                </a:solidFill>
              </a:rPr>
            </a:br>
            <a:r>
              <a:rPr lang="cs-CZ" sz="2000" dirty="0">
                <a:solidFill>
                  <a:schemeClr val="bg1"/>
                </a:solidFill>
              </a:rPr>
              <a:t>pro stránkování, hibernaci a výpisy souborů</a:t>
            </a:r>
          </a:p>
        </p:txBody>
      </p:sp>
      <p:pic>
        <p:nvPicPr>
          <p:cNvPr id="7" name="Grafický objekt 6" descr="Databáze se souvislou výplní">
            <a:extLst>
              <a:ext uri="{FF2B5EF4-FFF2-40B4-BE49-F238E27FC236}">
                <a16:creationId xmlns:a16="http://schemas.microsoft.com/office/drawing/2014/main" id="{566649E1-0A90-F208-1E38-F4FB5BD25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3204" y="4206083"/>
            <a:ext cx="2158998" cy="21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2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Síťové adaptéry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Minimální požadavky: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Ethernetový adaptér s propustností aspoň 1 Gb/s</a:t>
            </a:r>
          </a:p>
          <a:p>
            <a:pPr lvl="1"/>
            <a:r>
              <a:rPr lang="cs-CZ" sz="2000" dirty="0">
                <a:solidFill>
                  <a:schemeClr val="bg1"/>
                </a:solidFill>
              </a:rPr>
              <a:t>Kompatibilní se specifikací PCI Express architektury</a:t>
            </a:r>
          </a:p>
          <a:p>
            <a:endParaRPr lang="cs-CZ" sz="2800" dirty="0">
              <a:solidFill>
                <a:schemeClr val="bg1"/>
              </a:solidFill>
            </a:endParaRPr>
          </a:p>
        </p:txBody>
      </p:sp>
      <p:pic>
        <p:nvPicPr>
          <p:cNvPr id="8" name="Grafický objekt 7" descr="USB se souvislou výplní">
            <a:extLst>
              <a:ext uri="{FF2B5EF4-FFF2-40B4-BE49-F238E27FC236}">
                <a16:creationId xmlns:a16="http://schemas.microsoft.com/office/drawing/2014/main" id="{76EE8BC2-B98B-B65C-D3ED-4AD0304C0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1473" y="4152902"/>
            <a:ext cx="2158998" cy="21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4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Další požadavky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DVD drive</a:t>
            </a:r>
          </a:p>
          <a:p>
            <a:r>
              <a:rPr lang="cs-CZ" sz="2400" dirty="0">
                <a:solidFill>
                  <a:schemeClr val="bg1"/>
                </a:solidFill>
              </a:rPr>
              <a:t>UEFI 2.3.1c, podpora secure boot</a:t>
            </a:r>
          </a:p>
          <a:p>
            <a:r>
              <a:rPr lang="cs-CZ" sz="2400" dirty="0">
                <a:solidFill>
                  <a:schemeClr val="bg1"/>
                </a:solidFill>
              </a:rPr>
              <a:t>TPM čip</a:t>
            </a:r>
          </a:p>
          <a:p>
            <a:r>
              <a:rPr lang="cs-CZ" sz="2400" dirty="0">
                <a:solidFill>
                  <a:schemeClr val="bg1"/>
                </a:solidFill>
              </a:rPr>
              <a:t>Grafické zařízení, monitor s rozlišením Super VGA nebo lepší</a:t>
            </a:r>
          </a:p>
          <a:p>
            <a:endParaRPr lang="cs-CZ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0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51FB844-D1C6-1825-D4CE-B21AFC0003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Pravoúhlý trojúhelník 4">
            <a:extLst>
              <a:ext uri="{FF2B5EF4-FFF2-40B4-BE49-F238E27FC236}">
                <a16:creationId xmlns:a16="http://schemas.microsoft.com/office/drawing/2014/main" id="{7952AEA3-0014-CB74-D313-5843FAD42C30}"/>
              </a:ext>
            </a:extLst>
          </p:cNvPr>
          <p:cNvSpPr/>
          <p:nvPr/>
        </p:nvSpPr>
        <p:spPr>
          <a:xfrm>
            <a:off x="0" y="2578100"/>
            <a:ext cx="3632200" cy="42799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ravoúhlý trojúhelník 5">
            <a:extLst>
              <a:ext uri="{FF2B5EF4-FFF2-40B4-BE49-F238E27FC236}">
                <a16:creationId xmlns:a16="http://schemas.microsoft.com/office/drawing/2014/main" id="{94FFD142-1330-0A58-3CC7-8B1AAEAD7F2C}"/>
              </a:ext>
            </a:extLst>
          </p:cNvPr>
          <p:cNvSpPr/>
          <p:nvPr/>
        </p:nvSpPr>
        <p:spPr>
          <a:xfrm rot="10800000">
            <a:off x="8458202" y="0"/>
            <a:ext cx="3733798" cy="43942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53BD26-43F9-91F9-24E4-A0283924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b="1" u="sng" dirty="0">
                <a:solidFill>
                  <a:schemeClr val="bg1"/>
                </a:solidFill>
              </a:rPr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F52C9-4F9C-AC98-15E3-95674313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https://learn.microsoft.com/en-us/windows-server/get-started/</a:t>
            </a:r>
            <a:br>
              <a:rPr lang="cs-CZ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cs-CZ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hardware-</a:t>
            </a:r>
            <a:r>
              <a:rPr lang="cs-CZ" sz="2400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requirements</a:t>
            </a:r>
            <a:r>
              <a:rPr lang="cs-CZ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82084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187</Words>
  <Application>Microsoft Office PowerPoint</Application>
  <PresentationFormat>Širokoúhlá obrazovka</PresentationFormat>
  <Paragraphs>30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Windows server hardwarové požadavky</vt:lpstr>
      <vt:lpstr>Procesor</vt:lpstr>
      <vt:lpstr>RAM</vt:lpstr>
      <vt:lpstr>Úložiště</vt:lpstr>
      <vt:lpstr>Úložiště</vt:lpstr>
      <vt:lpstr>Síťové adaptéry</vt:lpstr>
      <vt:lpstr>Další požadavky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