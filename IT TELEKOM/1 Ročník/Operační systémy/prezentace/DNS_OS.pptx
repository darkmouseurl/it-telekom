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3" r:id="rId6"/>
    <p:sldId id="274" r:id="rId7"/>
    <p:sldId id="275" r:id="rId8"/>
    <p:sldId id="276" r:id="rId9"/>
    <p:sldId id="278" r:id="rId10"/>
    <p:sldId id="277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E98096-A598-4063-99E6-1A728F0E2E9C}" v="7" dt="2024-02-14T10:08:34.492"/>
    <p1510:client id="{9AF2717B-41F8-42FF-AAEB-ED435F4C2E5F}" v="16" dt="2024-02-14T09:59:54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Bialas" userId="f62a0917417acfa6" providerId="LiveId" clId="{2BE98096-A598-4063-99E6-1A728F0E2E9C}"/>
    <pc:docChg chg="undo custSel addSld delSld modSld sldOrd">
      <pc:chgData name="Patrik Bialas" userId="f62a0917417acfa6" providerId="LiveId" clId="{2BE98096-A598-4063-99E6-1A728F0E2E9C}" dt="2024-02-14T10:08:31.868" v="19"/>
      <pc:docMkLst>
        <pc:docMk/>
      </pc:docMkLst>
      <pc:sldChg chg="modSp add mod ord">
        <pc:chgData name="Patrik Bialas" userId="f62a0917417acfa6" providerId="LiveId" clId="{2BE98096-A598-4063-99E6-1A728F0E2E9C}" dt="2024-02-14T10:08:31.868" v="19"/>
        <pc:sldMkLst>
          <pc:docMk/>
          <pc:sldMk cId="263230130" sldId="287"/>
        </pc:sldMkLst>
        <pc:spChg chg="mod">
          <ac:chgData name="Patrik Bialas" userId="f62a0917417acfa6" providerId="LiveId" clId="{2BE98096-A598-4063-99E6-1A728F0E2E9C}" dt="2024-02-14T10:06:53.448" v="10" actId="20577"/>
          <ac:spMkLst>
            <pc:docMk/>
            <pc:sldMk cId="263230130" sldId="287"/>
            <ac:spMk id="2" creationId="{045BAF8D-A838-2951-B484-D15544A3D54F}"/>
          </ac:spMkLst>
        </pc:spChg>
        <pc:spChg chg="mod">
          <ac:chgData name="Patrik Bialas" userId="f62a0917417acfa6" providerId="LiveId" clId="{2BE98096-A598-4063-99E6-1A728F0E2E9C}" dt="2024-02-14T10:08:31.868" v="19"/>
          <ac:spMkLst>
            <pc:docMk/>
            <pc:sldMk cId="263230130" sldId="287"/>
            <ac:spMk id="4" creationId="{FEA25357-CAB1-D561-19DC-F2E26A3A1049}"/>
          </ac:spMkLst>
        </pc:spChg>
      </pc:sldChg>
      <pc:sldChg chg="new del">
        <pc:chgData name="Patrik Bialas" userId="f62a0917417acfa6" providerId="LiveId" clId="{2BE98096-A598-4063-99E6-1A728F0E2E9C}" dt="2024-02-14T10:06:31.542" v="1" actId="47"/>
        <pc:sldMkLst>
          <pc:docMk/>
          <pc:sldMk cId="1132178239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477703-55C0-241F-2BE9-951D6E3A0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2A6B57F-FB5C-239B-089C-272E0A21F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DEEC44-CC21-9FBE-D7A1-AC65FA42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1AB7A71-2922-4E80-7885-C88F4993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7BD611-0226-E1D5-4E7A-16ABA7C7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312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E3CD25-428D-818B-769B-3DBC37ED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BD7157-5432-2434-8478-778FB1B9F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4BE9F6-65AA-85FB-260F-012895EC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D97D2A4-56ED-F30A-7B83-AE5E6F31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28F03E2-F6D4-62A9-296E-3AC7C79B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562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369E62-8677-AD1D-B695-81F8DF62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2EE8BC-64BC-07AA-4D22-FC7EC9F32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3F9D43E-36E7-01FD-527B-90B6025A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F97CE2-BF44-9219-B825-7D0D2220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9310715-9E01-4FE9-06E9-107A7B4D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598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3DD19D-389E-8CF6-DD8D-E5D1B5A7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60DA77-1364-80E2-BA0E-55C95DD54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F82711C-D676-CF25-7CE7-29FC1CB47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235FE72-0296-A2DE-2CE0-3C30CE0F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5EC4FD7-C1E5-6658-B418-63DCBCF8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A437DFE-86B9-2E65-7BCE-D22166F9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456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1A8246-1D74-F4FA-E0A9-3B347D25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4F1030E-74C7-84F9-5E7E-99E48802B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DA822C6-65D3-0442-EFD8-E3D50D83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F0A45A8-3614-8D85-B97E-D75DC073F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5C14995-6FEE-DAF5-7E2D-09C8D2E41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42F183E-33B1-A3C2-E7A9-D2C46BD9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C6DA1E3-60FD-8ED7-6637-63BA688B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C8CE458-3DB7-9E03-FAB3-D5AEB8C5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570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076E7D-0363-9844-A4B9-7D96F4A2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A6955C4-A33C-3EC8-6E3B-04DECF19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87295E5-0D24-3FAE-CF69-330DF36D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B1EC778-4ED1-3805-5C05-97599EDE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311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8328A12-0E70-EBD6-526D-B5BCBCB0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DD6B619-8B88-8E38-E824-796C43B9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9BBAA72-AEF7-315A-23C3-2B74F9DB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562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7A5210-FC3E-5756-C8FE-66364074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6B644B-CED2-278A-0ED4-95613F11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DD87A5-3550-1F8E-D7EB-7787D7FAB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0D1C3C7-AC2A-2947-1F2D-AA7A7111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90DDAD-450C-62DB-AF0C-624B1DAA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FE35487-C46F-91BC-BE45-898EB4B9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587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39C52D-8E29-9A13-20B8-F18750C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4D8979-7474-09FF-0091-A3978C2C7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4B326E-5962-AEAB-589E-15CAD88C2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2698DE4-308A-00EF-DCF3-1DA17B8F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E0445E8-F338-E9EF-7FD4-CFAAD23B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FF7DB86-0BD5-34F0-6C16-BFE383A2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191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B6F2B5-6467-7BA6-E48E-9886081C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716DAEC-EFE8-10BD-73DD-5F0CFE2D9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ED83E35-56D6-8C2F-6FF6-547E712A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2C8C1C1-A2C3-0E23-00E7-FE02CD66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E191753-D8F9-271B-D58E-4C0EE883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934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98D76B0-A517-650D-FD74-65ACA120CE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8A7D80B-43F0-0DB4-CF5B-E67960202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3A0CBB-5F57-8B66-6228-C55E239B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8CD89D9-D9C3-6749-FB68-898C041A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3948D1-0CC1-C739-620D-279D0197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64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DE09B9C-0A6D-F41D-AA1A-864BDBB2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E91DAF6-3544-9855-4AE7-FF30494FD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D512F05-5F83-72DE-9DF5-6DACC53F2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6CE8C-0B4A-4C93-B8F9-12BAEEBE84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83E04CB-7020-825F-5982-49E647D92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E20B9A-54E7-1064-8B2D-2ADCA86B2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898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server-world.info/en/note?os=Ubuntu_23.04&amp;p=dns&amp;f=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lXkbLjwjZg?feature=oembe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er-world.info/en/note?os=Ubuntu_23.04&amp;p=dns&amp;f=1" TargetMode="External"/><Relationship Id="rId2" Type="http://schemas.openxmlformats.org/officeDocument/2006/relationships/hyperlink" Target="https://cs.wikipedia.org/wiki/Domain_Name_Syste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.wikipedia.org/wiki/Domain_Name_System_Security_Extensions" TargetMode="External"/><Relationship Id="rId4" Type="http://schemas.openxmlformats.org/officeDocument/2006/relationships/hyperlink" Target="https://cs.wikipedia.org/wiki/BI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How DNS Works and How to Create Your Own Nameservers | by Faisal Alam |  FAUN — Developer Community 🐾">
            <a:extLst>
              <a:ext uri="{FF2B5EF4-FFF2-40B4-BE49-F238E27FC236}">
                <a16:creationId xmlns:a16="http://schemas.microsoft.com/office/drawing/2014/main" id="{72073F6B-DD05-4D51-2E13-86CACE5D8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/>
          <a:stretch/>
        </p:blipFill>
        <p:spPr bwMode="auto">
          <a:xfrm>
            <a:off x="20" y="10"/>
            <a:ext cx="12191979" cy="5486390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63B16E-12CB-D846-CF7A-FEBB4A657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7015499" cy="852260"/>
          </a:xfrm>
        </p:spPr>
        <p:txBody>
          <a:bodyPr anchor="ctr">
            <a:normAutofit/>
          </a:bodyPr>
          <a:lstStyle/>
          <a:p>
            <a:pPr algn="l"/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418784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0C8A1BE-F2D5-6BED-8E7A-064543BB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Jak DNS funguje</a:t>
            </a:r>
          </a:p>
        </p:txBody>
      </p:sp>
      <p:sp>
        <p:nvSpPr>
          <p:cNvPr id="1038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A1CF28-5B39-0A03-229A-358574E67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 dirty="0"/>
              <a:t>Prostor doménových jmen tvoří strom s jedním kořenem.</a:t>
            </a:r>
          </a:p>
          <a:p>
            <a:r>
              <a:rPr lang="cs-CZ" sz="2000" dirty="0"/>
              <a:t> </a:t>
            </a:r>
            <a:r>
              <a:rPr lang="cs-CZ" sz="2000" b="0" i="0" dirty="0">
                <a:effectLst/>
                <a:latin typeface="Arial" panose="020B0604020202020204" pitchFamily="34" charset="0"/>
              </a:rPr>
              <a:t>Každý uzel tohoto stromu obsahuje informace o doméně a odkazy na své podřízené domény.</a:t>
            </a:r>
          </a:p>
          <a:p>
            <a:r>
              <a:rPr lang="cs-CZ" sz="2000" b="0" i="0" dirty="0">
                <a:effectLst/>
                <a:latin typeface="Arial" panose="020B0604020202020204" pitchFamily="34" charset="0"/>
              </a:rPr>
              <a:t>Kořenem stromu je kořenová doména, zapisuje se jako samotná tečka.</a:t>
            </a:r>
          </a:p>
          <a:p>
            <a:r>
              <a:rPr lang="cs-CZ" sz="2000" b="0" i="0" dirty="0">
                <a:effectLst/>
                <a:latin typeface="Arial" panose="020B0604020202020204" pitchFamily="34" charset="0"/>
              </a:rPr>
              <a:t>Pod ní se v hierarchii nacházejí </a:t>
            </a:r>
          </a:p>
          <a:p>
            <a:pPr marL="0" indent="0">
              <a:buNone/>
            </a:pPr>
            <a:r>
              <a:rPr lang="cs-CZ" sz="2000" dirty="0">
                <a:latin typeface="Arial" panose="020B0604020202020204" pitchFamily="34" charset="0"/>
              </a:rPr>
              <a:t>  </a:t>
            </a:r>
            <a:r>
              <a:rPr lang="cs-CZ" sz="2000" b="0" dirty="0">
                <a:effectLst/>
                <a:latin typeface="Arial" panose="020B0604020202020204" pitchFamily="34" charset="0"/>
              </a:rPr>
              <a:t>domény nejvyšší úrovně</a:t>
            </a:r>
            <a:endParaRPr lang="cs-CZ" sz="2000" dirty="0"/>
          </a:p>
        </p:txBody>
      </p:sp>
      <p:pic>
        <p:nvPicPr>
          <p:cNvPr id="1026" name="Picture 2" descr="Novell Documentation: DNS/DHCP - DNS Hierarchy">
            <a:extLst>
              <a:ext uri="{FF2B5EF4-FFF2-40B4-BE49-F238E27FC236}">
                <a16:creationId xmlns:a16="http://schemas.microsoft.com/office/drawing/2014/main" id="{B646F148-49C4-F98E-E9F3-84880D8E3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910744"/>
            <a:ext cx="5150277" cy="286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2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8D0FFDC-BDB3-0795-7AA7-69EF6D68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Složení doménového jména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9AEA85-5C77-271F-D22F-D2CEF2A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Celé jméno se skládá z několika částí oddělených tečkami.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Na jeho konci se nacházejí domény nejobecnější, směrem doleva se postupně konkretizuje.</a:t>
            </a:r>
          </a:p>
          <a:p>
            <a:endParaRPr lang="cs-CZ" sz="2400" dirty="0"/>
          </a:p>
          <a:p>
            <a:endParaRPr lang="cs-CZ" sz="2400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DE90E2E-0296-8EE4-BCFF-2C594DB91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376" y="4317274"/>
            <a:ext cx="2229224" cy="5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4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DNS servery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DNS server může hrát vůči doméně jednu ze dvou rolí: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 server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Rekurzivní (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caching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) server</a:t>
            </a:r>
          </a:p>
        </p:txBody>
      </p:sp>
      <p:pic>
        <p:nvPicPr>
          <p:cNvPr id="2052" name="Picture 4" descr="DNS servers: what they are and how they work">
            <a:extLst>
              <a:ext uri="{FF2B5EF4-FFF2-40B4-BE49-F238E27FC236}">
                <a16:creationId xmlns:a16="http://schemas.microsoft.com/office/drawing/2014/main" id="{8066E5B2-6F4B-CFFE-1497-A25C34A48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2414" y="2484255"/>
            <a:ext cx="4488512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0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Autoritativní</a:t>
            </a:r>
            <a:r>
              <a:rPr lang="cs-CZ" sz="4800" dirty="0"/>
              <a:t> </a:t>
            </a:r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066123" cy="3639450"/>
          </a:xfrm>
        </p:spPr>
        <p:txBody>
          <a:bodyPr anchor="ctr">
            <a:normAutofit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 server je ten, na němž jsou trvale uloženy záznamy k dané doméně/zóně.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Autoritativních serverů je obvykle více a až na velmi speciální případy se na všech udržují totožné záznamy.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Každou změnu v záznamech je potřeba propagovat na všechny autoritativní servery.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 DNS servery jsou obvykle provozovány registrátorem domény nebo poskytovatelem webhostingu.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7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Slide Background">
            <a:extLst>
              <a:ext uri="{FF2B5EF4-FFF2-40B4-BE49-F238E27FC236}">
                <a16:creationId xmlns:a16="http://schemas.microsoft.com/office/drawing/2014/main" id="{B65C0385-5E30-4D2E-AF9F-4639659D3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5" name="Picture 2064">
            <a:extLst>
              <a:ext uri="{FF2B5EF4-FFF2-40B4-BE49-F238E27FC236}">
                <a16:creationId xmlns:a16="http://schemas.microsoft.com/office/drawing/2014/main" id="{6748D206-5611-0BC1-0FE8-BB4A95F2DA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0" r="30929"/>
          <a:stretch/>
        </p:blipFill>
        <p:spPr>
          <a:xfrm>
            <a:off x="20" y="1666568"/>
            <a:ext cx="6106195" cy="5191432"/>
          </a:xfrm>
          <a:prstGeom prst="rect">
            <a:avLst/>
          </a:prstGeom>
        </p:spPr>
      </p:pic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52766"/>
            <a:ext cx="10591999" cy="1023584"/>
          </a:xfrm>
        </p:spPr>
        <p:txBody>
          <a:bodyPr>
            <a:normAutofit/>
          </a:bodyPr>
          <a:lstStyle/>
          <a:p>
            <a:r>
              <a:rPr lang="cs-CZ" sz="4000">
                <a:latin typeface="Arial" panose="020B0604020202020204" pitchFamily="34" charset="0"/>
                <a:cs typeface="Arial" panose="020B0604020202020204" pitchFamily="34" charset="0"/>
              </a:rPr>
              <a:t>Rekurzivní server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8" y="2249766"/>
            <a:ext cx="4550391" cy="4070303"/>
          </a:xfrm>
        </p:spPr>
        <p:txBody>
          <a:bodyPr anchor="ctr">
            <a:normAutofit/>
          </a:bodyPr>
          <a:lstStyle/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Autoritativní server je ten, na němž jsou trvale uloženy záznamy k dané doméně/zóně.</a:t>
            </a:r>
          </a:p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Autoritativních serverů je obvykle více a až na velmi speciální případy se na všech udržují totožné záznamy.</a:t>
            </a:r>
          </a:p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Každou změnu v záznamech je potřeba propagovat na všechny autoritativní servery.</a:t>
            </a:r>
          </a:p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>
                <a:latin typeface="Arial" panose="020B0604020202020204" pitchFamily="34" charset="0"/>
                <a:cs typeface="Arial" panose="020B0604020202020204" pitchFamily="34" charset="0"/>
              </a:rPr>
              <a:t>Autoritativní DNS servery jsou obvykle provozovány registrátorem domény nebo poskytovatelem webhostingu.</a:t>
            </a:r>
            <a:endParaRPr lang="cs-CZ" sz="1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239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>
                <a:latin typeface="Arial" panose="020B0604020202020204" pitchFamily="34" charset="0"/>
                <a:cs typeface="Arial" panose="020B0604020202020204" pitchFamily="34" charset="0"/>
              </a:rPr>
              <a:t>Root servery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>
                <a:latin typeface="Arial" panose="020B0604020202020204" pitchFamily="34" charset="0"/>
                <a:cs typeface="Arial" panose="020B0604020202020204" pitchFamily="34" charset="0"/>
              </a:rPr>
              <a:t>Kořenové jmenné servery představují zásadní část technické infrastruktury Internetu, na které závisí spolehlivost, správnost a bezpečnost operací na internetu.</a:t>
            </a:r>
          </a:p>
          <a:p>
            <a:r>
              <a:rPr lang="cs-CZ" sz="2400">
                <a:latin typeface="Arial" panose="020B0604020202020204" pitchFamily="34" charset="0"/>
                <a:cs typeface="Arial" panose="020B0604020202020204" pitchFamily="34" charset="0"/>
              </a:rPr>
              <a:t>Jsou součástí DNS, celosvětově distribuované databáze, která slouží k překladu unikátních doménových jmen na ostatní identifikátory.</a:t>
            </a:r>
          </a:p>
        </p:txBody>
      </p:sp>
    </p:spTree>
    <p:extLst>
      <p:ext uri="{BB962C8B-B14F-4D97-AF65-F5344CB8AC3E}">
        <p14:creationId xmlns:p14="http://schemas.microsoft.com/office/powerpoint/2010/main" val="336352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0" name="Rectangle 207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cs-CZ" sz="4800">
                <a:latin typeface="Arial" panose="020B0604020202020204" pitchFamily="34" charset="0"/>
                <a:cs typeface="Arial" panose="020B0604020202020204" pitchFamily="34" charset="0"/>
              </a:rPr>
              <a:t>Root servery</a:t>
            </a:r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Root name server - Wikipedia">
            <a:extLst>
              <a:ext uri="{FF2B5EF4-FFF2-40B4-BE49-F238E27FC236}">
                <a16:creationId xmlns:a16="http://schemas.microsoft.com/office/drawing/2014/main" id="{910D54C8-EE52-5A60-2630-D7BBFA40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295" y="3280966"/>
            <a:ext cx="5150277" cy="220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>
                <a:latin typeface="Arial" panose="020B0604020202020204" pitchFamily="34" charset="0"/>
                <a:cs typeface="Arial" panose="020B0604020202020204" pitchFamily="34" charset="0"/>
              </a:rPr>
              <a:t>Pojem root server je všeobecně používán pro 13 kořenových jmenných serverů. </a:t>
            </a:r>
          </a:p>
          <a:p>
            <a:r>
              <a:rPr lang="cs-CZ" sz="2000">
                <a:latin typeface="Arial" panose="020B0604020202020204" pitchFamily="34" charset="0"/>
                <a:cs typeface="Arial" panose="020B0604020202020204" pitchFamily="34" charset="0"/>
              </a:rPr>
              <a:t>Root servery se nacházejí ve 34 zemích světa, na více než 80 místech.</a:t>
            </a:r>
          </a:p>
        </p:txBody>
      </p:sp>
      <p:sp>
        <p:nvSpPr>
          <p:cNvPr id="2086" name="Rectangle 208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6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6F22A-D65D-F522-DBFF-404BCC95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3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6AA95FA-4EBD-0335-12A3-A3F03FFD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cs-CZ" sz="4000">
                <a:latin typeface="Arial" panose="020B0604020202020204" pitchFamily="34" charset="0"/>
                <a:cs typeface="Arial" panose="020B0604020202020204" pitchFamily="34" charset="0"/>
              </a:rPr>
              <a:t>DNS cache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B7C84E8-D86E-0E28-9AA2-7A3400B46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Téměř každý DNS server funguje zároveň jako DNS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Při opakovaných dotazech pak nedochází k rekurzivnímu prohledávání stromu, ale odpověď je získána lokálně.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V DNS záznamech je totiž uložena i informace, jak dlouho lze záznam používat (TTL), a lze také zjistit, zda byl záznam změněn</a:t>
            </a:r>
          </a:p>
        </p:txBody>
      </p:sp>
      <p:pic>
        <p:nvPicPr>
          <p:cNvPr id="2126" name="Picture 2125" descr="Osvětlený panel v místnosti se servery">
            <a:extLst>
              <a:ext uri="{FF2B5EF4-FFF2-40B4-BE49-F238E27FC236}">
                <a16:creationId xmlns:a16="http://schemas.microsoft.com/office/drawing/2014/main" id="{A089A6F4-724D-78FE-076E-172019372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16" r="27448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725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04289-3FD1-6E22-ED47-5004E9E7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CDACA649-AD64-FAB7-DE5C-45CC576B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272B09-D1B7-56C5-3753-8209B022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Typy záznamů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8EC18A62-A64F-40C1-AD99-E966DF835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3D507143-B08D-ABA6-9990-A082EF6FC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7FC08D85-A0F5-247D-3C95-8AAC5BB8F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4988B3DC-A9CE-AE8F-90CE-77317C69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E0859CE-D870-37C6-CA8D-29C5942C0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 (address record) obsahuje IPv4 adresu přiřazenou danému jménu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AAAA (IPv6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obsahuje IPv6 adresu.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CNAME (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canonical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je alias - jiné jméno pro jméno již zavedené.</a:t>
            </a:r>
          </a:p>
          <a:p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4C61198-EB15-91E6-E77B-B04662A6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94" y="3254426"/>
            <a:ext cx="3932261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3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637DB-E5D8-63E9-A956-DDFA21D5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A0468373-7C42-6345-72E4-31A67AF99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CC6A757-7E1C-A356-CCFC-1D472FCE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Typy záznamů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4E5175E8-FAF4-3C89-5094-6A86D361C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F1880C38-2240-2674-7119-C4F692F83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A3A2C479-DC99-F588-D51E-8AF2DFFF4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AA933C5A-1A6B-DD5E-7AD8-406B5922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A6D5B-3D8D-9251-AF28-3C8C5FF83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MX (mail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oznamuje adresu a prioritu serveru pro příjem elektronické pošty pro danou doménu.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NS (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server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ohlašuje jméno autoritativního DNS serveru pro danou doménu.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PTR (pointer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je speciální typ záznamu pro reverzní zóny.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SOA (start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authority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je zahajující záznam zónového souboru.</a:t>
            </a:r>
          </a:p>
        </p:txBody>
      </p:sp>
    </p:spTree>
    <p:extLst>
      <p:ext uri="{BB962C8B-B14F-4D97-AF65-F5344CB8AC3E}">
        <p14:creationId xmlns:p14="http://schemas.microsoft.com/office/powerpoint/2010/main" val="2545476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5D989-C634-20A4-1166-B06D8268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3032A292-080B-4888-7C82-E801C5E2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012BCA0-F775-645B-8078-DD53DC9A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Bezpečnost DNS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0E4529AD-7F90-2316-B84B-444CFB22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CDCEEF51-4E10-1776-BD7E-A0AFE707D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09016328-525B-7C9B-415B-8BEFA73D5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67A4DA05-2B00-1066-A2AF-B951F0AA3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BFA682B-7D57-F15D-49E1-CE4ED1BD3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Některé typy bezpečnostních hrozeb DNS: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DNS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Spoofing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Útočník manipuluje DNS odpovědi, aby přesměroval uživatele na falešné webové stránky.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Tímto způsobem může útočník provádět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phishing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nebo získávat citlivé informace.</a:t>
            </a:r>
          </a:p>
          <a:p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Poisoning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Útočník vkládá falešné údaje do DNS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, což může vést k přesměrování uživatelů na škodlivé servery.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Tato technika může být použita k útokům na vybrané cíle.</a:t>
            </a:r>
          </a:p>
        </p:txBody>
      </p:sp>
    </p:spTree>
    <p:extLst>
      <p:ext uri="{BB962C8B-B14F-4D97-AF65-F5344CB8AC3E}">
        <p14:creationId xmlns:p14="http://schemas.microsoft.com/office/powerpoint/2010/main" val="2465372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1460B-5EE1-E471-E219-2AFF911A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A3D5CC7D-77A9-F1B9-5B6A-0FD7B917E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1CB9DAB-C83C-9BBA-1C80-8AF991BD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Bezpečnost DNS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06AB4E06-C19A-35CA-9AEF-3CF18514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A1F38AE4-657C-52CC-2F85-B2856A95C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A1DBB17C-1D92-97CB-EA35-A14521910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92A178F3-CEFA-8401-314A-5232D7176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240E242-CED0-5B3E-6816-AE3EDBAF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DNS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Amplification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Attack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Útočník využívá otevřené DNS servery k odesílání velkého množství dotazů s cílem zvětšit odpovědi.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To může způsobit přetížení síťového provozu a odepření služeb (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Denial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) na cílovém serveru.</a:t>
            </a:r>
          </a:p>
          <a:p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DDoS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útoky na DNS servery: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Útočníci mohou směřovat masivní množství dotazů na DNS servery s cílem je přetížit a znemožnit jejich normální fungování.</a:t>
            </a:r>
          </a:p>
          <a:p>
            <a:pPr marL="457200" lvl="1" indent="0">
              <a:buNone/>
            </a:pP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3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6B727-F837-8E85-4D55-CEB17879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88A48A28-7C88-A978-E833-FB4CCBFFE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3F95DF7-FFD7-E8E7-E809-2F800A62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DNSSEC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A018F15C-C84D-73DE-5245-60658243D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831AC81C-77F8-4263-8DE4-E684A86A9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5E594FCB-20C7-B05C-131B-BE18BC375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5946204A-FC90-C059-3538-CD0D10F36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E56BB6C-62B8-D41E-ED58-09DABF0F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DNSSEC je bezpečnostní rozšíření pro DNS, které bylo vytvořeno s cílem poskytnout ochranu před různými formami útoků na DNS.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Cíle DNSSEC: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Integrity: Zajištění integrity DNS záznamů, což znamená, že nemohou být změněny neoprávněně.</a:t>
            </a:r>
          </a:p>
          <a:p>
            <a:pPr lvl="1"/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: Ověření původu DNS dat, aby bylo možné potvrdit, že data byla poskytnuta legitimním zdrojem.</a:t>
            </a:r>
          </a:p>
          <a:p>
            <a:pPr lvl="1"/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Denial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: Zajištění, že odpovědi od autoritativních DNS serverů jsou skutečně odpověďmi, nikoli falešnými odmítnutími.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9A3D45A9-7E12-2BBE-3F5D-00FD4E344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69" y="-146282"/>
            <a:ext cx="2429907" cy="242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588AA-F547-3BE3-9E03-1EDB7B6B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D4B60B37-82A9-6560-017F-6692E6B86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2306100-D8AE-66CC-6B67-473B5599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DNSSEC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B1C0F0E9-440D-A746-5CF8-31EE483FB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3AF4960A-8B6D-ECD1-C93F-368E58CBC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1E72963D-6F88-6958-F066-D6650292A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3FABC815-96FF-6252-AA05-B57ADF6F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7E102F6-FC40-61EC-7F9F-646E7051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Klíčové Komponenty DNSSEC: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Zónový Klíč: Používá se k podepisování zónových záznamů.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Klíč pro Ověřování: Používá se k podepisování klíčů ZSK, aby se zvýšila bezpečnost celého procesu.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Podepisování Záznamů: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DNSSEC zavádí digitální podpisy pro každý DNS záznam, což zajišťuje, že mohou být ověřeny jako autentické.</a:t>
            </a:r>
          </a:p>
          <a:p>
            <a:pPr lvl="1"/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368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09E29-69D4-FB31-979B-CFA7F053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2F87D10B-A9AD-6E9E-C24E-13129C29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8760B6-B9C1-7506-CF6D-62223B39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Konfigurace DNS serveru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835B917D-7FA3-9D5C-7616-587D5F49C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8CA2FA79-5F52-AB1C-E371-EBA9383C8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1A76A0CF-42B5-3744-E9E0-039D9307F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630C829A-E839-0AC3-71CA-6B06A5448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67E599D-BD75-F041-6780-EE033DABA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Instalace serveru BIND</a:t>
            </a:r>
          </a:p>
          <a:p>
            <a:pPr lvl="1"/>
            <a:r>
              <a:rPr lang="cs-CZ" sz="1600" dirty="0">
                <a:latin typeface="Arial" panose="020B0604020202020204" pitchFamily="34" charset="0"/>
                <a:cs typeface="Arial" panose="020B0604020202020204" pitchFamily="34" charset="0"/>
              </a:rPr>
              <a:t>BIND – v informatice označení nejpoužívanějšího DNS serveru v Internetu.</a:t>
            </a:r>
          </a:p>
          <a:p>
            <a:pPr lvl="1"/>
            <a:endParaRPr lang="cs-CZ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Odkaz na kompletní návod nastavení DNS - 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https://www.server-world.info/en/note?os=Ubuntu_23.04&amp;p=dns&amp;f=1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F150CE2-7E6D-C735-7FC9-D320A8D3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0" y="3574725"/>
            <a:ext cx="4500754" cy="39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73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04FF2-BDD5-9131-12B9-2AD1E87A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FCA28315-3219-8484-AC92-C52490E68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8A8A031-CDD2-6B3F-8C37-AA7B19DE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Konfigurace DNS serveru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B432DB06-31B9-667D-B83A-A71FEC117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DFB70E1C-2E53-F340-0978-C18DE5CD9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33A0BC3B-B9DE-3001-A8C8-57F47C212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79DF4050-9E86-90FD-E9DD-210CF4012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C3F40BA-7877-A1DC-1271-D0B7C1B3E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Konfigurace BIND</a:t>
            </a: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80A37CB-BBDC-8F0E-735D-8E08544D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89" y="3203509"/>
            <a:ext cx="4069433" cy="275105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1206CBD3-512A-A104-EED9-AFEA8F6F8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494" y="2310096"/>
            <a:ext cx="4893086" cy="37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8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682FBB-FF4A-68FE-C4EE-445E15C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nline médium 3" title="How To Install &amp; Configure DNS On Ubuntu">
            <a:hlinkClick r:id="" action="ppaction://media"/>
            <a:extLst>
              <a:ext uri="{FF2B5EF4-FFF2-40B4-BE49-F238E27FC236}">
                <a16:creationId xmlns:a16="http://schemas.microsoft.com/office/drawing/2014/main" id="{6E44D3CA-64B7-C1B7-9CFB-B0C3AC60177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4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63440-1ADA-36E8-C98C-1A3FE358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262ED526-5E19-CAEF-7C33-AAF015BA0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45BAF8D-A838-2951-B484-D15544A3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Zdroje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DD3CF93F-C190-D2B2-B796-189E62631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54367136-1B1F-740F-EB29-B2EA47E7C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8D1E564C-7DB2-9D25-2DEB-9CE9D7F44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F19DC533-B627-1071-33FE-ADA364CEB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A25357-CAB1-D561-19DC-F2E26A3A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https://cs.wikipedia.org/wiki/Domain_Name_System#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https://www.server-world.info/en/note?os=Ubuntu_23.04&amp;p=dns&amp;f=1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https://cs.wikipedia.org/wiki/BIND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https://cs.wikipedia.org/wiki/Domain_Name_System_Security_Extensions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013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844</Words>
  <Application>Microsoft Office PowerPoint</Application>
  <PresentationFormat>Širokoúhlá obrazovka</PresentationFormat>
  <Paragraphs>88</Paragraphs>
  <Slides>19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Motiv Office</vt:lpstr>
      <vt:lpstr>Prezentace aplikace PowerPoint</vt:lpstr>
      <vt:lpstr>Jak DNS funguje</vt:lpstr>
      <vt:lpstr>Složení doménového jména</vt:lpstr>
      <vt:lpstr>DNS servery</vt:lpstr>
      <vt:lpstr>Autoritativní server</vt:lpstr>
      <vt:lpstr>Rekurzivní server</vt:lpstr>
      <vt:lpstr>Root servery</vt:lpstr>
      <vt:lpstr>Root servery</vt:lpstr>
      <vt:lpstr>DNS cache</vt:lpstr>
      <vt:lpstr>Typy záznamů</vt:lpstr>
      <vt:lpstr>Typy záznamů</vt:lpstr>
      <vt:lpstr>Bezpečnost DNS</vt:lpstr>
      <vt:lpstr>Bezpečnost DNS</vt:lpstr>
      <vt:lpstr>DNSSEC</vt:lpstr>
      <vt:lpstr>DNSSEC</vt:lpstr>
      <vt:lpstr>Konfigurace DNS serveru</vt:lpstr>
      <vt:lpstr>Konfigurace DNS serveru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