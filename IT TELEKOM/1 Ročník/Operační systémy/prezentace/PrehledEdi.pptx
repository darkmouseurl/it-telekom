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0" r:id="rId4"/>
    <p:sldId id="258" r:id="rId5"/>
    <p:sldId id="261" r:id="rId6"/>
    <p:sldId id="259" r:id="rId7"/>
    <p:sldId id="264" r:id="rId8"/>
    <p:sldId id="262" r:id="rId9"/>
    <p:sldId id="263" r:id="rId10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3E8362-6A8F-4915-BCBB-024A66B15AE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90115E-E5E7-409E-84FD-942D7747EC9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44809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Licence CAL jsou požadovány pro všechny uživatele nebo zařízení přistupující k serveru.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0115E-E5E7-409E-84FD-942D7747EC95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170487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0115E-E5E7-409E-84FD-942D7747EC95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919860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0115E-E5E7-409E-84FD-942D7747EC95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215440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0115E-E5E7-409E-84FD-942D7747EC95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74932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31BA0A4-57FC-A4C0-F43C-405D8D2537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F4788C37-2D29-A9E2-8E4E-3DBD48394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1C69EA6-ED24-540F-ED59-B80477FD6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49296-8284-422C-9F5F-2066C8005CF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CD1124F-83E3-D814-94FB-043BEF0AA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B752A5B-068D-A0D4-009F-480918DD1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3AE9A-4E8E-4FBB-9F5E-BA3E50EAE58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98358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F572BFC-BD70-CD68-DC2B-87660DF75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49257B7-5F6A-C007-6C43-F52A5476A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5B1D49D-9FB4-22FE-8D52-B6239E55F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49296-8284-422C-9F5F-2066C8005CF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1BAC538-4E08-9B66-F7DF-DCCC4739C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F9C15DD-4E84-1D0A-AE32-3395A80A5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3AE9A-4E8E-4FBB-9F5E-BA3E50EAE58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02831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2D0ADA-D299-D973-1CE3-6D15256E4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5E8F8A17-D65F-131F-509F-9B110E454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8F7CE06-A0A3-6A92-0FF4-D9C7AD58D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49296-8284-422C-9F5F-2066C8005CF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C640C6D-71EE-5E1C-15EB-87964C92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78D8AB2-CF19-3AC7-9D44-5EC825FA2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3AE9A-4E8E-4FBB-9F5E-BA3E50EAE58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52387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6D51DCA-E5A0-7F33-9C38-61DA98257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6966259-C989-4F35-CD93-44040F22D2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FF9AFFA-E7EC-F795-1F34-20066557C6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D702AB7-F40A-8287-885D-95D950995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49296-8284-422C-9F5F-2066C8005CF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EB5C941-C70E-8AC2-5D05-B7A31BEE0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519BB28-4F03-195A-DC3D-7A52A3829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3AE9A-4E8E-4FBB-9F5E-BA3E50EAE58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83211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EE123EF-076B-0644-3D3F-EDAF329A3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480C643-7CC9-4F42-3674-0C2CE738C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0838D676-D0A1-D353-84F2-4AF0172E6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017587E2-D88E-6FE0-92A6-BC085DE43D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D2318A3D-0D1A-1107-901F-61E6311AE8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217F0A30-9094-F5DF-F6D1-FB513464E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49296-8284-422C-9F5F-2066C8005CF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2F95EB8A-3BE6-DF80-A6BD-BDFF72490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DFF7859-BD2B-43D1-3067-FD41231A7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3AE9A-4E8E-4FBB-9F5E-BA3E50EAE58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48300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F3964D8-0B47-3A64-3049-6D8B6B7A0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337CC0B7-269F-B722-AB94-A1807FCD9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49296-8284-422C-9F5F-2066C8005CF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8171607-A728-D1A9-DA91-62808437F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6ED224E8-4132-C2F2-1F9A-B88E1C14F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3AE9A-4E8E-4FBB-9F5E-BA3E50EAE58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84741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7C1A83CC-4EA2-9BBE-4A10-5EEAC6910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49296-8284-422C-9F5F-2066C8005CF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F5BF0535-EDF3-6898-281F-AE0CDA0C9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B48DB3A7-D48A-1989-84C4-0E5324E16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3AE9A-4E8E-4FBB-9F5E-BA3E50EAE58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06616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459CB9C-52DF-B560-05DB-B7D7F0962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00870A5-63A6-D1CD-A36D-5F1E406CE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57B5EB27-4B62-66FA-80AC-AA3621BBAC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BFFBBE3-92F6-65B6-9A56-391D2340D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49296-8284-422C-9F5F-2066C8005CF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58645731-4F82-2341-CC61-294C0E778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E7B27BE0-E6BD-0888-C453-CCBE711A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3AE9A-4E8E-4FBB-9F5E-BA3E50EAE58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78281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7426E86-BB87-3AFC-9985-FF10C8974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B4E776AB-92CA-9F72-A32D-29A74649A3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EB9FE5AE-6C04-C3EC-0CE6-F7776E000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276E0E86-214B-A5CB-0F95-B4E874D1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49296-8284-422C-9F5F-2066C8005CF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F66051A0-DDEA-D4D2-16AA-AE4B4F882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60D760F-9B61-8286-5057-B8C08A4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3AE9A-4E8E-4FBB-9F5E-BA3E50EAE58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91330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8D277F2-2C9A-D8C1-2E66-6555F1AE6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54E2A88F-8C1C-C504-5A5D-5E787EE16F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57F2AD2-6D45-CB24-22AE-0B6110E1D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49296-8284-422C-9F5F-2066C8005CF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ED09BE2-4BAD-74B6-8880-DD9829F8B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B3856BF-5518-97CB-F03F-6885141EF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3AE9A-4E8E-4FBB-9F5E-BA3E50EAE58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722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D5A81858-1BFD-93BF-FC76-4D992E0968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FD317BD4-E347-BFC1-DCC6-2A1E79C364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0328DC7-A4CD-1228-47DD-B2DBD8D64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49296-8284-422C-9F5F-2066C8005CF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E377139-6CF2-D40A-C85F-C8A806C41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9220BA5-71A9-A62D-605D-5C0C888E4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3AE9A-4E8E-4FBB-9F5E-BA3E50EAE58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88578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967B13E2-8FD5-2C11-6DCD-1DDBCF4C5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49C9ED4-0147-A457-1C72-94C06E7EC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EF3FAAF-480A-17CD-CE71-26D7301314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349296-8284-422C-9F5F-2066C8005CF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348874B-26AA-ADC0-A974-895290373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A6C44B9-89CF-733A-FC86-8D06192F0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23AE9A-4E8E-4FBB-9F5E-BA3E50EAE58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41385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069B179-29CA-4D10-B57F-D83E0CA61A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b="1" dirty="0"/>
              <a:t>Windows Server</a:t>
            </a:r>
            <a:br>
              <a:rPr lang="cs-CZ" b="1" dirty="0"/>
            </a:br>
            <a:r>
              <a:rPr lang="cs-CZ" sz="4000" b="1" dirty="0"/>
              <a:t>Přehled edic, licencování</a:t>
            </a:r>
          </a:p>
        </p:txBody>
      </p:sp>
      <p:pic>
        <p:nvPicPr>
          <p:cNvPr id="6" name="Picture 8" descr="windows-server-logo - nathanworks">
            <a:extLst>
              <a:ext uri="{FF2B5EF4-FFF2-40B4-BE49-F238E27FC236}">
                <a16:creationId xmlns:a16="http://schemas.microsoft.com/office/drawing/2014/main" id="{C36731DD-A60A-788E-5454-2F531A7A5B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688"/>
          <a:stretch/>
        </p:blipFill>
        <p:spPr bwMode="auto">
          <a:xfrm>
            <a:off x="9035127" y="1004311"/>
            <a:ext cx="2499090" cy="2597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1888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C5272F4-4C36-1433-005C-8A2468978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Standard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9AE512A-D6EF-55A2-9BAF-C6C212A74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Ideální pro fyzická nebo minimálně virtualizovaná prostředí</a:t>
            </a:r>
          </a:p>
          <a:p>
            <a:r>
              <a:rPr lang="cs-CZ" dirty="0"/>
              <a:t>Model licencování - podle počtu jader</a:t>
            </a:r>
          </a:p>
          <a:p>
            <a:r>
              <a:rPr lang="cs-CZ" dirty="0"/>
              <a:t>Je požadovaná licence CAL pro Windows Server</a:t>
            </a:r>
          </a:p>
          <a:p>
            <a:r>
              <a:rPr lang="cs-CZ" dirty="0"/>
              <a:t>Cena: 1 069 USD (pro 16 jader)</a:t>
            </a:r>
          </a:p>
        </p:txBody>
      </p:sp>
      <p:pic>
        <p:nvPicPr>
          <p:cNvPr id="2052" name="Picture 4" descr="Windows Server 2 Logo PNG Vector (SVG) Free Download">
            <a:extLst>
              <a:ext uri="{FF2B5EF4-FFF2-40B4-BE49-F238E27FC236}">
                <a16:creationId xmlns:a16="http://schemas.microsoft.com/office/drawing/2014/main" id="{38ED4004-49D8-A634-E0F5-126899A85E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1954" y="2786634"/>
            <a:ext cx="2219325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1839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B2FEC6E-9CB3-068C-7285-4BA6211E3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Funkce edice Standard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2DACDA3-23E1-0079-2FDD-719FBBF16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Základní funkce systému Windows Serveru</a:t>
            </a:r>
          </a:p>
          <a:p>
            <a:r>
              <a:rPr lang="cs-CZ" dirty="0"/>
              <a:t>Hybridní integrace</a:t>
            </a:r>
          </a:p>
          <a:p>
            <a:r>
              <a:rPr lang="cs-CZ" dirty="0"/>
              <a:t>OSE (</a:t>
            </a:r>
            <a:r>
              <a:rPr lang="cs-CZ" dirty="0" err="1"/>
              <a:t>Operating</a:t>
            </a:r>
            <a:r>
              <a:rPr lang="cs-CZ" dirty="0"/>
              <a:t> </a:t>
            </a:r>
            <a:r>
              <a:rPr lang="cs-CZ" dirty="0" err="1"/>
              <a:t>System</a:t>
            </a:r>
            <a:r>
              <a:rPr lang="cs-CZ" dirty="0"/>
              <a:t> Environment) – 2 dvě prostředí</a:t>
            </a:r>
          </a:p>
          <a:p>
            <a:r>
              <a:rPr lang="cs-CZ" dirty="0"/>
              <a:t>Kontejnery Windows Serveru - bez omezení</a:t>
            </a:r>
          </a:p>
          <a:p>
            <a:r>
              <a:rPr lang="cs-CZ" dirty="0"/>
              <a:t>Replika úložiště – do 2 TB</a:t>
            </a:r>
          </a:p>
        </p:txBody>
      </p:sp>
    </p:spTree>
    <p:extLst>
      <p:ext uri="{BB962C8B-B14F-4D97-AF65-F5344CB8AC3E}">
        <p14:creationId xmlns:p14="http://schemas.microsoft.com/office/powerpoint/2010/main" val="3430560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3353409-9A86-E219-8617-02D1EC989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Datacenter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FCCB4AD-A84E-12A9-6FE3-3BE4EEE91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Ideální pro datacentra a cloudová prostředí s vysokou mírou virtualizace</a:t>
            </a:r>
          </a:p>
          <a:p>
            <a:r>
              <a:rPr lang="cs-CZ" dirty="0"/>
              <a:t>Model licencování - podle počtu jader</a:t>
            </a:r>
          </a:p>
          <a:p>
            <a:r>
              <a:rPr lang="cs-CZ" dirty="0"/>
              <a:t>Je požadována licence CAL pro Windows Server</a:t>
            </a:r>
          </a:p>
          <a:p>
            <a:r>
              <a:rPr lang="cs-CZ" dirty="0"/>
              <a:t>Cena: 6 155 USD (pro 16 jader)</a:t>
            </a:r>
          </a:p>
        </p:txBody>
      </p:sp>
      <p:pic>
        <p:nvPicPr>
          <p:cNvPr id="3074" name="Picture 2" descr="Cloud Server Windows">
            <a:extLst>
              <a:ext uri="{FF2B5EF4-FFF2-40B4-BE49-F238E27FC236}">
                <a16:creationId xmlns:a16="http://schemas.microsoft.com/office/drawing/2014/main" id="{0AA8388B-DDC0-2ECE-FC08-733B7C27E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4304" y="2657589"/>
            <a:ext cx="6117001" cy="3211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0768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8EBE4B-5A94-2BD4-91EE-49BB8C06C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Funkce edice Datacenter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EA0C715-A38A-3729-C83B-50DD2CD46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Základní funkce systému Windows Server</a:t>
            </a:r>
          </a:p>
          <a:p>
            <a:r>
              <a:rPr lang="cs-CZ" dirty="0"/>
              <a:t>Hybridní integrace</a:t>
            </a:r>
          </a:p>
          <a:p>
            <a:r>
              <a:rPr lang="cs-CZ" dirty="0"/>
              <a:t>OSE (</a:t>
            </a:r>
            <a:r>
              <a:rPr lang="cs-CZ" dirty="0" err="1"/>
              <a:t>Operating</a:t>
            </a:r>
            <a:r>
              <a:rPr lang="cs-CZ" dirty="0"/>
              <a:t> </a:t>
            </a:r>
            <a:r>
              <a:rPr lang="cs-CZ" dirty="0" err="1"/>
              <a:t>System</a:t>
            </a:r>
            <a:r>
              <a:rPr lang="cs-CZ" dirty="0"/>
              <a:t> Environment) – bez omezení</a:t>
            </a:r>
          </a:p>
          <a:p>
            <a:r>
              <a:rPr lang="cs-CZ" dirty="0"/>
              <a:t>Kontejnery Windows Server – bez omezení</a:t>
            </a:r>
          </a:p>
          <a:p>
            <a:r>
              <a:rPr lang="cs-CZ" dirty="0"/>
              <a:t>Replika úložiště – bez omezení</a:t>
            </a:r>
          </a:p>
          <a:p>
            <a:r>
              <a:rPr lang="cs-CZ" dirty="0"/>
              <a:t>Softwarově definované sítě</a:t>
            </a:r>
          </a:p>
          <a:p>
            <a:r>
              <a:rPr lang="cs-CZ" dirty="0"/>
              <a:t>Softwarově definované úložiště</a:t>
            </a:r>
          </a:p>
        </p:txBody>
      </p:sp>
    </p:spTree>
    <p:extLst>
      <p:ext uri="{BB962C8B-B14F-4D97-AF65-F5344CB8AC3E}">
        <p14:creationId xmlns:p14="http://schemas.microsoft.com/office/powerpoint/2010/main" val="221433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6E8D83C-A80C-AEB2-83DE-946E87428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Essentials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C04F1F8-0325-3EA1-1543-CD2824423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Malé firmy do 25 uživatelů a 50 zařízení</a:t>
            </a:r>
          </a:p>
          <a:p>
            <a:r>
              <a:rPr lang="cs-CZ" dirty="0"/>
              <a:t>Model licencování – licence vázaná na server</a:t>
            </a:r>
          </a:p>
          <a:p>
            <a:pPr lvl="1"/>
            <a:r>
              <a:rPr lang="cs-CZ" dirty="0"/>
              <a:t>Až 10 jader a 1 virtuální počítač na </a:t>
            </a:r>
            <a:r>
              <a:rPr lang="cs-CZ" dirty="0" err="1"/>
              <a:t>jednosoketových</a:t>
            </a:r>
            <a:r>
              <a:rPr lang="cs-CZ" dirty="0"/>
              <a:t> serverech</a:t>
            </a:r>
          </a:p>
          <a:p>
            <a:r>
              <a:rPr lang="cs-CZ" dirty="0"/>
              <a:t>Není požadována licence CAL</a:t>
            </a:r>
          </a:p>
          <a:p>
            <a:r>
              <a:rPr lang="cs-CZ" dirty="0"/>
              <a:t>Cena: 501 USD</a:t>
            </a:r>
          </a:p>
          <a:p>
            <a:endParaRPr lang="cs-CZ" dirty="0"/>
          </a:p>
          <a:p>
            <a:endParaRPr lang="cs-CZ" dirty="0"/>
          </a:p>
        </p:txBody>
      </p:sp>
      <p:pic>
        <p:nvPicPr>
          <p:cNvPr id="4098" name="Picture 2" descr="Server Vector Hd Images, Vector Server Icon, Server Icons, Icons Icons, Com  Con PNG Image For Free Download | Free vector graphics, Technology  wallpaper, Icon">
            <a:extLst>
              <a:ext uri="{FF2B5EF4-FFF2-40B4-BE49-F238E27FC236}">
                <a16:creationId xmlns:a16="http://schemas.microsoft.com/office/drawing/2014/main" id="{1B55F5BA-B0AE-F19A-0447-3523B879D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3652" y="3305747"/>
            <a:ext cx="2871216" cy="2871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4478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E1FCA59-477F-A19E-9CCB-9B24FDE9E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Podmínky při určování licence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C8FC697-68B8-D1A6-7F88-6FCCF3891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Pro jeden fyzický server je potřeba mít licenci minimálně pro 16 jader</a:t>
            </a:r>
          </a:p>
          <a:p>
            <a:r>
              <a:rPr lang="cs-CZ" dirty="0"/>
              <a:t>S tím se pojí povinnost mít pro jeden fyzický procesor minimálně licenci pro 8 jader</a:t>
            </a:r>
          </a:p>
          <a:p>
            <a:r>
              <a:rPr lang="cs-CZ" dirty="0"/>
              <a:t>Pokud máme licenci Standard pro 16 jader, vychází z ní právo pro dva virtuální server</a:t>
            </a:r>
          </a:p>
        </p:txBody>
      </p:sp>
      <p:pic>
        <p:nvPicPr>
          <p:cNvPr id="5124" name="Picture 4" descr="Supermicro ohlásilo podporu Windows Server 2012 pro svá serverová řešení a  datová uložiště. - Anafra">
            <a:extLst>
              <a:ext uri="{FF2B5EF4-FFF2-40B4-BE49-F238E27FC236}">
                <a16:creationId xmlns:a16="http://schemas.microsoft.com/office/drawing/2014/main" id="{51AB362C-15EC-86A9-D58C-3DDEDA1327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7752" y="3570114"/>
            <a:ext cx="6217920" cy="3287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7924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3BAA5C1-FEAD-6AB0-11BD-A1DA995C7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Praxe u licence Standard a Datacenter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47FD267-549F-38B1-F359-FF9A0FDDA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636" y="1615313"/>
            <a:ext cx="10986516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cs-CZ" dirty="0"/>
              <a:t>Jeden server s jedním fyzickým procesorem a čtyřmi jádry = 16 jader, na splnění podmínky pro minimální počet jader</a:t>
            </a:r>
          </a:p>
          <a:p>
            <a:pPr marL="514350" indent="-514350">
              <a:buFont typeface="+mj-lt"/>
              <a:buAutoNum type="arabicPeriod"/>
            </a:pPr>
            <a:r>
              <a:rPr lang="cs-CZ" dirty="0"/>
              <a:t>Jeden server se dvěma procesory, každý po čtyřech jádrech = 16 jader, stále jsme v limitu minimální konfigurace</a:t>
            </a:r>
          </a:p>
          <a:p>
            <a:pPr marL="514350" indent="-514350">
              <a:buFont typeface="+mj-lt"/>
              <a:buAutoNum type="arabicPeriod"/>
            </a:pPr>
            <a:r>
              <a:rPr lang="cs-CZ" dirty="0"/>
              <a:t>Dva servery, každý s jedním procesorem po čtyřech jádrech = 32 jader, na splnění podmínky 16 jader pro jeden server</a:t>
            </a:r>
          </a:p>
        </p:txBody>
      </p:sp>
    </p:spTree>
    <p:extLst>
      <p:ext uri="{BB962C8B-B14F-4D97-AF65-F5344CB8AC3E}">
        <p14:creationId xmlns:p14="http://schemas.microsoft.com/office/powerpoint/2010/main" val="3202000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CBA73D7-C9D5-A5AC-3BAB-1A7D3A2DA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Praxe u licence Standard a Datacenter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8C4ADBC-1522-6A4B-C6BE-588BFE16E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184" y="1690688"/>
            <a:ext cx="10515600" cy="4351338"/>
          </a:xfrm>
        </p:spPr>
        <p:txBody>
          <a:bodyPr/>
          <a:lstStyle/>
          <a:p>
            <a:r>
              <a:rPr lang="cs-CZ" dirty="0"/>
              <a:t>Po pokrytí fyzických serverů, procesorů a jader, můžeme řešit virtualizaci:</a:t>
            </a:r>
          </a:p>
          <a:p>
            <a:pPr marL="914400" lvl="1" indent="-457200">
              <a:buFont typeface="+mj-lt"/>
              <a:buAutoNum type="arabicPeriod"/>
            </a:pPr>
            <a:r>
              <a:rPr lang="cs-CZ" dirty="0"/>
              <a:t>U licence Standard při každém balíku licencí 16 jader je právo na dva virtuální servery. V případě potřeby čtyř virtuálů stačí přidat další balík 16 jader</a:t>
            </a:r>
          </a:p>
          <a:p>
            <a:pPr marL="914400" lvl="1" indent="-457200">
              <a:buFont typeface="+mj-lt"/>
              <a:buAutoNum type="arabicPeriod"/>
            </a:pPr>
            <a:r>
              <a:rPr lang="cs-CZ" dirty="0"/>
              <a:t>U licence Datacenter je neomezený počet virtuálních serverů. Není potřeba je tedy počítat. Při srovnání licencí Standard a Datacenter nám požadovaná virtualizace ukáže do čeho investovat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6965648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380</Words>
  <Application>Microsoft Office PowerPoint</Application>
  <PresentationFormat>Širokoúhlá obrazovka</PresentationFormat>
  <Paragraphs>48</Paragraphs>
  <Slides>9</Slides>
  <Notes>4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Segoe UI</vt:lpstr>
      <vt:lpstr>Motiv Office</vt:lpstr>
      <vt:lpstr>Windows Server Přehled edic, licencování</vt:lpstr>
      <vt:lpstr>Standard</vt:lpstr>
      <vt:lpstr>Funkce edice Standard</vt:lpstr>
      <vt:lpstr>Datacenter</vt:lpstr>
      <vt:lpstr>Funkce edice Datacenter</vt:lpstr>
      <vt:lpstr>Essentials</vt:lpstr>
      <vt:lpstr>Podmínky při určování licence</vt:lpstr>
      <vt:lpstr>Praxe u licence Standard a Datacenter</vt:lpstr>
      <vt:lpstr>Praxe u licence Standard a Datacenter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