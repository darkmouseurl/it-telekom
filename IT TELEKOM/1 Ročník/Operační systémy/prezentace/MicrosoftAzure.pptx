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8" r:id="rId5"/>
    <p:sldId id="270" r:id="rId6"/>
    <p:sldId id="269" r:id="rId7"/>
    <p:sldId id="265" r:id="rId8"/>
    <p:sldId id="271" r:id="rId9"/>
    <p:sldId id="263" r:id="rId10"/>
    <p:sldId id="266" r:id="rId11"/>
    <p:sldId id="272" r:id="rId12"/>
    <p:sldId id="273" r:id="rId13"/>
    <p:sldId id="276" r:id="rId14"/>
    <p:sldId id="275" r:id="rId15"/>
    <p:sldId id="277" r:id="rId16"/>
    <p:sldId id="278" r:id="rId17"/>
    <p:sldId id="274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6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0BDF-3BF1-4762-9739-B13717FDF1C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0ED5-56FF-40BF-A7A3-187064FA7E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6933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0BDF-3BF1-4762-9739-B13717FDF1C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0ED5-56FF-40BF-A7A3-187064FA7E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26130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0BDF-3BF1-4762-9739-B13717FDF1C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0ED5-56FF-40BF-A7A3-187064FA7E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2601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0BDF-3BF1-4762-9739-B13717FDF1C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0ED5-56FF-40BF-A7A3-187064FA7E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15585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0BDF-3BF1-4762-9739-B13717FDF1C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0ED5-56FF-40BF-A7A3-187064FA7E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2795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0BDF-3BF1-4762-9739-B13717FDF1C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0ED5-56FF-40BF-A7A3-187064FA7E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35922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0BDF-3BF1-4762-9739-B13717FDF1C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0ED5-56FF-40BF-A7A3-187064FA7E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07817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0BDF-3BF1-4762-9739-B13717FDF1C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0ED5-56FF-40BF-A7A3-187064FA7E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6843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0BDF-3BF1-4762-9739-B13717FDF1C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0ED5-56FF-40BF-A7A3-187064FA7E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0065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0BDF-3BF1-4762-9739-B13717FDF1C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0ED5-56FF-40BF-A7A3-187064FA7E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464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A0BDF-3BF1-4762-9739-B13717FDF1C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50ED5-56FF-40BF-A7A3-187064FA7E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5517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A0BDF-3BF1-4762-9739-B13717FDF1CD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50ED5-56FF-40BF-A7A3-187064FA7EA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3884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windows/ai/windows-ml/" TargetMode="External"/><Relationship Id="rId13" Type="http://schemas.openxmlformats.org/officeDocument/2006/relationships/hyperlink" Target="https://azuremarketplace.microsoft.com/cs-cz/marketplace/consulting-services/urbannerd-consulting.az_mig_1?filters=undefined" TargetMode="External"/><Relationship Id="rId3" Type="http://schemas.openxmlformats.org/officeDocument/2006/relationships/hyperlink" Target="https://cs.wikipedia.org/wiki/Microsoft_Azure" TargetMode="External"/><Relationship Id="rId7" Type="http://schemas.openxmlformats.org/officeDocument/2006/relationships/hyperlink" Target="https://www.vecteezy.com/vector-art/17119660-github-logo-git-hub-icon-with-text-on-white-and-black-background" TargetMode="External"/><Relationship Id="rId12" Type="http://schemas.openxmlformats.org/officeDocument/2006/relationships/hyperlink" Target="https://learn.microsoft.com/cs-cz/azure/azure-portal/azure-portal-overview" TargetMode="External"/><Relationship Id="rId17" Type="http://schemas.openxmlformats.org/officeDocument/2006/relationships/hyperlink" Target="https://www.ovhcloud.com/en-gb/public-cloud/kubernetes-architecture/" TargetMode="External"/><Relationship Id="rId2" Type="http://schemas.openxmlformats.org/officeDocument/2006/relationships/hyperlink" Target="https://azure.microsoft.com/en-us/" TargetMode="External"/><Relationship Id="rId16" Type="http://schemas.openxmlformats.org/officeDocument/2006/relationships/hyperlink" Target="https://www.g2.com/products/postgresql/review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etreo.com/blog/an-indepth-introduction-to-azure-virtual-network-monitoring/" TargetMode="External"/><Relationship Id="rId11" Type="http://schemas.openxmlformats.org/officeDocument/2006/relationships/hyperlink" Target="https://learn.microsoft.com/cs-cz/entra/identity/devices/howto-vm-sign-in-azure-ad-windows" TargetMode="External"/><Relationship Id="rId5" Type="http://schemas.openxmlformats.org/officeDocument/2006/relationships/hyperlink" Target="https://kubernetes.io/" TargetMode="External"/><Relationship Id="rId15" Type="http://schemas.openxmlformats.org/officeDocument/2006/relationships/hyperlink" Target="https://www.ais.com/azure-data-factory-and-immutable-storage-in-azure-blob-storage/" TargetMode="External"/><Relationship Id="rId10" Type="http://schemas.openxmlformats.org/officeDocument/2006/relationships/hyperlink" Target="https://www.thijoubert.com/2023-02/AzureAD_LoginPage/" TargetMode="External"/><Relationship Id="rId4" Type="http://schemas.openxmlformats.org/officeDocument/2006/relationships/hyperlink" Target="https://cs.wikipedia.org/wiki/Cloud_computing" TargetMode="External"/><Relationship Id="rId9" Type="http://schemas.openxmlformats.org/officeDocument/2006/relationships/hyperlink" Target="https://github.com/topics/visual-studio-logo" TargetMode="External"/><Relationship Id="rId14" Type="http://schemas.openxmlformats.org/officeDocument/2006/relationships/hyperlink" Target="https://www.linkedin.com/pulse/azure-compute-just-vm-paul-trotma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1204514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Souhrnná věta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Azure je </a:t>
            </a:r>
            <a:r>
              <a:rPr lang="cs-CZ" dirty="0" err="1"/>
              <a:t>cloudová</a:t>
            </a:r>
            <a:r>
              <a:rPr lang="cs-CZ" dirty="0"/>
              <a:t> platforma od Microsoftu</a:t>
            </a:r>
          </a:p>
        </p:txBody>
      </p:sp>
      <p:pic>
        <p:nvPicPr>
          <p:cNvPr id="10242" name="Picture 2" descr="Microsoft Azure Migration: 5-Days PoC – Microsoft Azure Marketpla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" y="1149548"/>
            <a:ext cx="11680825" cy="657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7622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Co to umí?</a:t>
            </a:r>
          </a:p>
        </p:txBody>
      </p:sp>
    </p:spTree>
    <p:extLst>
      <p:ext uri="{BB962C8B-B14F-4D97-AF65-F5344CB8AC3E}">
        <p14:creationId xmlns:p14="http://schemas.microsoft.com/office/powerpoint/2010/main" val="1945473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Compute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Virtual</a:t>
            </a:r>
            <a:r>
              <a:rPr lang="cs-CZ" dirty="0"/>
              <a:t> </a:t>
            </a:r>
            <a:r>
              <a:rPr lang="cs-CZ" dirty="0" err="1"/>
              <a:t>Machines</a:t>
            </a:r>
            <a:endParaRPr lang="cs-CZ" dirty="0"/>
          </a:p>
          <a:p>
            <a:r>
              <a:rPr lang="cs-CZ" dirty="0" err="1"/>
              <a:t>Kubernetes</a:t>
            </a:r>
            <a:r>
              <a:rPr lang="cs-CZ" dirty="0"/>
              <a:t> </a:t>
            </a:r>
            <a:r>
              <a:rPr lang="cs-CZ" dirty="0" err="1"/>
              <a:t>Service</a:t>
            </a:r>
            <a:endParaRPr lang="cs-CZ" dirty="0"/>
          </a:p>
          <a:p>
            <a:r>
              <a:rPr lang="cs-CZ" dirty="0"/>
              <a:t>Azure </a:t>
            </a:r>
            <a:r>
              <a:rPr lang="cs-CZ" dirty="0" err="1"/>
              <a:t>Functions</a:t>
            </a:r>
            <a:endParaRPr lang="cs-CZ" dirty="0"/>
          </a:p>
          <a:p>
            <a:r>
              <a:rPr lang="cs-CZ" dirty="0"/>
              <a:t>Azure </a:t>
            </a:r>
            <a:r>
              <a:rPr lang="cs-CZ" dirty="0" err="1"/>
              <a:t>Container</a:t>
            </a:r>
            <a:r>
              <a:rPr lang="cs-CZ" dirty="0"/>
              <a:t> </a:t>
            </a:r>
            <a:r>
              <a:rPr lang="cs-CZ" dirty="0" err="1"/>
              <a:t>Instances</a:t>
            </a:r>
            <a:endParaRPr lang="cs-CZ" dirty="0"/>
          </a:p>
        </p:txBody>
      </p:sp>
      <p:pic>
        <p:nvPicPr>
          <p:cNvPr id="1028" name="Picture 4" descr="Azure Compute - Not just a V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2" t="5960" r="58739" b="8086"/>
          <a:stretch/>
        </p:blipFill>
        <p:spPr bwMode="auto">
          <a:xfrm>
            <a:off x="8325440" y="531578"/>
            <a:ext cx="3181943" cy="3024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Azure Compute - Not just a VM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33" t="5960" r="3523" b="8086"/>
          <a:stretch/>
        </p:blipFill>
        <p:spPr bwMode="auto">
          <a:xfrm>
            <a:off x="7419085" y="3393442"/>
            <a:ext cx="4088298" cy="2783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913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Úložiště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Blob</a:t>
            </a:r>
            <a:r>
              <a:rPr lang="cs-CZ" dirty="0"/>
              <a:t> </a:t>
            </a:r>
            <a:r>
              <a:rPr lang="cs-CZ" dirty="0" err="1"/>
              <a:t>Storage</a:t>
            </a:r>
            <a:endParaRPr lang="cs-CZ" dirty="0"/>
          </a:p>
          <a:p>
            <a:r>
              <a:rPr lang="cs-CZ" dirty="0"/>
              <a:t>Disk </a:t>
            </a:r>
            <a:r>
              <a:rPr lang="cs-CZ" dirty="0" err="1"/>
              <a:t>Storage</a:t>
            </a:r>
            <a:endParaRPr lang="cs-CZ" dirty="0"/>
          </a:p>
          <a:p>
            <a:r>
              <a:rPr lang="cs-CZ" dirty="0"/>
              <a:t>Databáze</a:t>
            </a:r>
          </a:p>
          <a:p>
            <a:endParaRPr lang="cs-CZ" dirty="0"/>
          </a:p>
        </p:txBody>
      </p:sp>
      <p:pic>
        <p:nvPicPr>
          <p:cNvPr id="9218" name="Picture 2" descr="Azure Data Factory and Immutable Storage in Azure Blob Storage - Applied  Information Scienc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6306" y="1825625"/>
            <a:ext cx="6828894" cy="409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1625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Databáze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Cosmos</a:t>
            </a:r>
            <a:r>
              <a:rPr lang="cs-CZ" dirty="0"/>
              <a:t> DB</a:t>
            </a:r>
          </a:p>
          <a:p>
            <a:r>
              <a:rPr lang="cs-CZ" dirty="0"/>
              <a:t>Azure SQL Database</a:t>
            </a:r>
          </a:p>
          <a:p>
            <a:r>
              <a:rPr lang="cs-CZ" dirty="0" err="1"/>
              <a:t>PostgreSQL</a:t>
            </a:r>
            <a:endParaRPr lang="cs-CZ" dirty="0"/>
          </a:p>
          <a:p>
            <a:r>
              <a:rPr lang="cs-CZ" dirty="0" err="1"/>
              <a:t>MySQL</a:t>
            </a:r>
            <a:endParaRPr lang="cs-CZ" dirty="0"/>
          </a:p>
          <a:p>
            <a:r>
              <a:rPr lang="cs-CZ" dirty="0" err="1"/>
              <a:t>Redis</a:t>
            </a:r>
            <a:endParaRPr lang="cs-CZ" dirty="0"/>
          </a:p>
        </p:txBody>
      </p:sp>
      <p:pic>
        <p:nvPicPr>
          <p:cNvPr id="8194" name="Picture 2" descr="PostgreSQL Reviews: 620+ User Reviews and Ratings in 2024 | G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0" y="845944"/>
            <a:ext cx="4803775" cy="533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9166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Networking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Firewall</a:t>
            </a:r>
          </a:p>
          <a:p>
            <a:r>
              <a:rPr lang="cs-CZ" dirty="0" err="1"/>
              <a:t>Virtual</a:t>
            </a:r>
            <a:r>
              <a:rPr lang="cs-CZ" dirty="0"/>
              <a:t> Network</a:t>
            </a:r>
          </a:p>
          <a:p>
            <a:r>
              <a:rPr lang="cs-CZ" dirty="0" err="1"/>
              <a:t>Load</a:t>
            </a:r>
            <a:r>
              <a:rPr lang="cs-CZ" dirty="0"/>
              <a:t> </a:t>
            </a:r>
            <a:r>
              <a:rPr lang="cs-CZ" dirty="0" err="1"/>
              <a:t>Balancer</a:t>
            </a:r>
            <a:endParaRPr lang="cs-CZ" dirty="0"/>
          </a:p>
          <a:p>
            <a:r>
              <a:rPr lang="cs-CZ" dirty="0" err="1"/>
              <a:t>Private</a:t>
            </a:r>
            <a:r>
              <a:rPr lang="cs-CZ" dirty="0"/>
              <a:t> Link, VPN </a:t>
            </a:r>
            <a:r>
              <a:rPr lang="cs-CZ" dirty="0" err="1"/>
              <a:t>Gateway</a:t>
            </a:r>
            <a:endParaRPr lang="cs-CZ" dirty="0"/>
          </a:p>
          <a:p>
            <a:r>
              <a:rPr lang="cs-CZ" dirty="0"/>
              <a:t>CDN</a:t>
            </a:r>
          </a:p>
          <a:p>
            <a:r>
              <a:rPr lang="cs-CZ" dirty="0"/>
              <a:t>DNS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7170" name="Picture 2" descr="Azure VNet - An In depth introduction to Azure Virtual Network Monitori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72" b="9671"/>
          <a:stretch/>
        </p:blipFill>
        <p:spPr bwMode="auto">
          <a:xfrm>
            <a:off x="5407585" y="1177925"/>
            <a:ext cx="6364908" cy="427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2634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Ostatní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Machine</a:t>
            </a:r>
            <a:r>
              <a:rPr lang="cs-CZ" dirty="0"/>
              <a:t> </a:t>
            </a:r>
            <a:r>
              <a:rPr lang="cs-CZ" dirty="0" err="1"/>
              <a:t>Learning</a:t>
            </a:r>
            <a:endParaRPr lang="cs-CZ" dirty="0"/>
          </a:p>
          <a:p>
            <a:r>
              <a:rPr lang="cs-CZ" dirty="0" err="1"/>
              <a:t>Cognitive</a:t>
            </a:r>
            <a:r>
              <a:rPr lang="cs-CZ" dirty="0"/>
              <a:t> </a:t>
            </a:r>
            <a:r>
              <a:rPr lang="cs-CZ" dirty="0" err="1"/>
              <a:t>Services</a:t>
            </a:r>
            <a:r>
              <a:rPr lang="cs-CZ" dirty="0"/>
              <a:t>, AI </a:t>
            </a:r>
            <a:r>
              <a:rPr lang="cs-CZ" dirty="0" err="1"/>
              <a:t>Search</a:t>
            </a:r>
            <a:r>
              <a:rPr lang="cs-CZ" dirty="0"/>
              <a:t>, AI Vision</a:t>
            </a:r>
          </a:p>
          <a:p>
            <a:pPr marL="0" indent="0">
              <a:buNone/>
            </a:pPr>
            <a:endParaRPr lang="cs-CZ" dirty="0"/>
          </a:p>
          <a:p>
            <a:pPr marL="0" indent="0">
              <a:buNone/>
            </a:pPr>
            <a:r>
              <a:rPr lang="cs-CZ" dirty="0"/>
              <a:t>A taky</a:t>
            </a:r>
          </a:p>
          <a:p>
            <a:r>
              <a:rPr lang="cs-CZ" dirty="0" err="1"/>
              <a:t>Visual</a:t>
            </a:r>
            <a:r>
              <a:rPr lang="cs-CZ" dirty="0"/>
              <a:t> Studio </a:t>
            </a:r>
            <a:r>
              <a:rPr lang="cs-CZ" dirty="0" err="1"/>
              <a:t>Code</a:t>
            </a:r>
            <a:endParaRPr lang="cs-CZ" dirty="0"/>
          </a:p>
          <a:p>
            <a:r>
              <a:rPr lang="cs-CZ" dirty="0" err="1"/>
              <a:t>GitHub</a:t>
            </a:r>
            <a:endParaRPr lang="cs-CZ" dirty="0"/>
          </a:p>
          <a:p>
            <a:r>
              <a:rPr lang="cs-CZ" dirty="0" err="1"/>
              <a:t>OpenAI</a:t>
            </a:r>
            <a:r>
              <a:rPr lang="cs-CZ" dirty="0"/>
              <a:t> </a:t>
            </a:r>
            <a:r>
              <a:rPr lang="cs-CZ" dirty="0" err="1"/>
              <a:t>Service</a:t>
            </a:r>
            <a:r>
              <a:rPr lang="cs-CZ" dirty="0"/>
              <a:t> (společnost </a:t>
            </a:r>
            <a:r>
              <a:rPr lang="cs-CZ" dirty="0" err="1"/>
              <a:t>OpenAI</a:t>
            </a:r>
            <a:r>
              <a:rPr lang="cs-CZ" dirty="0"/>
              <a:t> vyvíjí </a:t>
            </a:r>
            <a:r>
              <a:rPr lang="cs-CZ" dirty="0" err="1"/>
              <a:t>ChatGPT</a:t>
            </a:r>
            <a:r>
              <a:rPr lang="cs-CZ" dirty="0"/>
              <a:t>)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 rotWithShape="1">
          <a:blip r:embed="rId2"/>
          <a:srcRect l="21579" r="18421"/>
          <a:stretch/>
        </p:blipFill>
        <p:spPr>
          <a:xfrm flipH="1" flipV="1">
            <a:off x="6867828" y="672306"/>
            <a:ext cx="4620861" cy="3087688"/>
          </a:xfrm>
          <a:prstGeom prst="rect">
            <a:avLst/>
          </a:prstGeom>
        </p:spPr>
      </p:pic>
      <p:pic>
        <p:nvPicPr>
          <p:cNvPr id="6152" name="Picture 8" descr="GitHub Logo, Git Hub Icon With Text On White and Black Background 17119660  Vector Art at Vecteezy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6" r="54471"/>
          <a:stretch/>
        </p:blipFill>
        <p:spPr bwMode="auto">
          <a:xfrm>
            <a:off x="9029700" y="4663032"/>
            <a:ext cx="835122" cy="1022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visual-studio-logo · GitHub Topics · GitHub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59" r="20122"/>
          <a:stretch/>
        </p:blipFill>
        <p:spPr bwMode="auto">
          <a:xfrm>
            <a:off x="9864822" y="3239963"/>
            <a:ext cx="1946178" cy="2162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1183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Proč používat/výhody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Globálně dostupné (</a:t>
            </a:r>
            <a:r>
              <a:rPr lang="cs-CZ" dirty="0" err="1"/>
              <a:t>datacentra</a:t>
            </a:r>
            <a:r>
              <a:rPr lang="cs-CZ" dirty="0"/>
              <a:t> po celém světě)</a:t>
            </a:r>
          </a:p>
          <a:p>
            <a:r>
              <a:rPr lang="cs-CZ" dirty="0"/>
              <a:t>Spravováno Microsoftem (up-to-</a:t>
            </a:r>
            <a:r>
              <a:rPr lang="cs-CZ" dirty="0" err="1"/>
              <a:t>date</a:t>
            </a:r>
            <a:r>
              <a:rPr lang="cs-CZ" dirty="0"/>
              <a:t> sw)</a:t>
            </a:r>
          </a:p>
          <a:p>
            <a:r>
              <a:rPr lang="cs-CZ" dirty="0"/>
              <a:t>Vzdálený přístup (odkudkoliv kdykoliv)</a:t>
            </a:r>
          </a:p>
          <a:p>
            <a:r>
              <a:rPr lang="cs-CZ" dirty="0" err="1"/>
              <a:t>Škálování</a:t>
            </a:r>
            <a:r>
              <a:rPr lang="cs-CZ" dirty="0"/>
              <a:t> (tolik serveru, kolik zrovna potřebuji)</a:t>
            </a:r>
          </a:p>
          <a:p>
            <a:r>
              <a:rPr lang="cs-CZ" dirty="0" err="1"/>
              <a:t>Pay</a:t>
            </a:r>
            <a:r>
              <a:rPr lang="cs-CZ" dirty="0"/>
              <a:t> as </a:t>
            </a:r>
            <a:r>
              <a:rPr lang="cs-CZ" dirty="0" err="1"/>
              <a:t>you</a:t>
            </a:r>
            <a:r>
              <a:rPr lang="cs-CZ" dirty="0"/>
              <a:t> go (platím jen za to, co používám)</a:t>
            </a:r>
          </a:p>
          <a:p>
            <a:r>
              <a:rPr lang="cs-CZ" dirty="0"/>
              <a:t>Bezpečnost 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91945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Instalace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Microsoft azure se neinstaluje</a:t>
            </a:r>
          </a:p>
          <a:p>
            <a:r>
              <a:rPr lang="cs-CZ" dirty="0"/>
              <a:t>Administrace probíhá přes:</a:t>
            </a:r>
          </a:p>
          <a:p>
            <a:pPr lvl="1"/>
            <a:r>
              <a:rPr lang="cs-CZ" dirty="0"/>
              <a:t>Azure </a:t>
            </a:r>
            <a:r>
              <a:rPr lang="cs-CZ" dirty="0" err="1"/>
              <a:t>Portal</a:t>
            </a:r>
            <a:r>
              <a:rPr lang="cs-CZ" dirty="0"/>
              <a:t> (prohlížeč)</a:t>
            </a:r>
          </a:p>
          <a:p>
            <a:pPr lvl="1"/>
            <a:r>
              <a:rPr lang="cs-CZ" dirty="0"/>
              <a:t>Azure ARM </a:t>
            </a:r>
            <a:r>
              <a:rPr lang="cs-CZ" dirty="0" err="1"/>
              <a:t>templates</a:t>
            </a:r>
            <a:r>
              <a:rPr lang="cs-CZ" dirty="0"/>
              <a:t> (příkazový řádek)</a:t>
            </a:r>
          </a:p>
          <a:p>
            <a:pPr lvl="1"/>
            <a:r>
              <a:rPr lang="cs-CZ" dirty="0"/>
              <a:t>…</a:t>
            </a:r>
          </a:p>
        </p:txBody>
      </p:sp>
      <p:pic>
        <p:nvPicPr>
          <p:cNvPr id="3074" name="Picture 2" descr="How to customize your Azure AD sign-in page with enhanced capabilities |  Thibault Joubert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40" t="18583" r="32985" b="19601"/>
          <a:stretch/>
        </p:blipFill>
        <p:spPr bwMode="auto">
          <a:xfrm>
            <a:off x="6964219" y="1027906"/>
            <a:ext cx="4692072" cy="5032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289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Instalace – správa VM</a:t>
            </a:r>
          </a:p>
        </p:txBody>
      </p:sp>
      <p:pic>
        <p:nvPicPr>
          <p:cNvPr id="4" name="Picture 2" descr="Co je web Azure Portal? - Azure portal | Microsoft Lear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1100" y="1485665"/>
            <a:ext cx="7289800" cy="4854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756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Instalace 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582" y="267591"/>
            <a:ext cx="5723803" cy="6166692"/>
          </a:xfrm>
          <a:prstGeom prst="rect">
            <a:avLst/>
          </a:prstGeom>
        </p:spPr>
      </p:pic>
      <p:sp>
        <p:nvSpPr>
          <p:cNvPr id="5" name="Nadpis 1"/>
          <p:cNvSpPr txBox="1">
            <a:spLocks/>
          </p:cNvSpPr>
          <p:nvPr/>
        </p:nvSpPr>
        <p:spPr>
          <a:xfrm>
            <a:off x="838200" y="102790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přidání VM</a:t>
            </a:r>
          </a:p>
        </p:txBody>
      </p:sp>
    </p:spTree>
    <p:extLst>
      <p:ext uri="{BB962C8B-B14F-4D97-AF65-F5344CB8AC3E}">
        <p14:creationId xmlns:p14="http://schemas.microsoft.com/office/powerpoint/2010/main" val="1204160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2555193"/>
            <a:ext cx="9144000" cy="954770"/>
          </a:xfrm>
        </p:spPr>
        <p:txBody>
          <a:bodyPr/>
          <a:lstStyle/>
          <a:p>
            <a:r>
              <a:rPr lang="cs-CZ" dirty="0" err="1"/>
              <a:t>Kubernetes</a:t>
            </a:r>
            <a:r>
              <a:rPr lang="cs-CZ" dirty="0"/>
              <a:t> </a:t>
            </a:r>
            <a:r>
              <a:rPr lang="cs-CZ" dirty="0" err="1"/>
              <a:t>Service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podrobněji</a:t>
            </a:r>
          </a:p>
        </p:txBody>
      </p:sp>
    </p:spTree>
    <p:extLst>
      <p:ext uri="{BB962C8B-B14F-4D97-AF65-F5344CB8AC3E}">
        <p14:creationId xmlns:p14="http://schemas.microsoft.com/office/powerpoint/2010/main" val="2045751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je to </a:t>
            </a:r>
            <a:r>
              <a:rPr lang="cs-CZ" dirty="0" err="1"/>
              <a:t>Kubernetes</a:t>
            </a:r>
            <a:r>
              <a:rPr lang="cs-CZ" dirty="0"/>
              <a:t>?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to open-source</a:t>
            </a:r>
          </a:p>
          <a:p>
            <a:pPr marL="0" indent="0">
              <a:buNone/>
            </a:pPr>
            <a:r>
              <a:rPr lang="cs-CZ" dirty="0"/>
              <a:t> </a:t>
            </a:r>
          </a:p>
          <a:p>
            <a:pPr marL="0" indent="0">
              <a:buNone/>
            </a:pPr>
            <a:r>
              <a:rPr lang="cs-CZ" dirty="0"/>
              <a:t>Systém pro </a:t>
            </a:r>
          </a:p>
          <a:p>
            <a:r>
              <a:rPr lang="cs-CZ" dirty="0"/>
              <a:t>Automatizaci nasazení</a:t>
            </a:r>
          </a:p>
          <a:p>
            <a:r>
              <a:rPr lang="cs-CZ" dirty="0" err="1"/>
              <a:t>Škálování</a:t>
            </a:r>
            <a:r>
              <a:rPr lang="cs-CZ" dirty="0"/>
              <a:t> </a:t>
            </a:r>
          </a:p>
          <a:p>
            <a:r>
              <a:rPr lang="cs-CZ" dirty="0"/>
              <a:t>Správu kontejnerových aplikací</a:t>
            </a:r>
          </a:p>
        </p:txBody>
      </p:sp>
      <p:pic>
        <p:nvPicPr>
          <p:cNvPr id="1026" name="Picture 2" descr="Kubernetes architecture: overview and deployment | OVHclou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208" y="1027906"/>
            <a:ext cx="4437592" cy="4437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016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Umožňuje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Load</a:t>
            </a:r>
            <a:r>
              <a:rPr lang="cs-CZ" dirty="0"/>
              <a:t> </a:t>
            </a:r>
            <a:r>
              <a:rPr lang="cs-CZ" dirty="0" err="1"/>
              <a:t>balancing</a:t>
            </a:r>
            <a:r>
              <a:rPr lang="cs-CZ" dirty="0"/>
              <a:t>, horizontální </a:t>
            </a:r>
            <a:r>
              <a:rPr lang="cs-CZ" dirty="0" err="1"/>
              <a:t>škálování</a:t>
            </a:r>
            <a:endParaRPr lang="cs-CZ" dirty="0"/>
          </a:p>
          <a:p>
            <a:r>
              <a:rPr lang="cs-CZ" dirty="0" err="1"/>
              <a:t>Self-healing</a:t>
            </a:r>
            <a:r>
              <a:rPr lang="cs-CZ" dirty="0"/>
              <a:t> (restartuje kontejnery, které selžou)</a:t>
            </a:r>
          </a:p>
          <a:p>
            <a:r>
              <a:rPr lang="cs-CZ" dirty="0" err="1"/>
              <a:t>Automated</a:t>
            </a:r>
            <a:r>
              <a:rPr lang="cs-CZ" dirty="0"/>
              <a:t> </a:t>
            </a:r>
            <a:r>
              <a:rPr lang="cs-CZ" dirty="0" err="1"/>
              <a:t>rollouts</a:t>
            </a:r>
            <a:r>
              <a:rPr lang="cs-CZ" dirty="0"/>
              <a:t>/</a:t>
            </a:r>
            <a:r>
              <a:rPr lang="cs-CZ" dirty="0" err="1"/>
              <a:t>rollbacks</a:t>
            </a:r>
            <a:r>
              <a:rPr lang="cs-CZ" dirty="0"/>
              <a:t> (postupné nasazování verzí)</a:t>
            </a:r>
          </a:p>
          <a:p>
            <a:r>
              <a:rPr lang="cs-CZ" dirty="0" err="1"/>
              <a:t>Atp</a:t>
            </a:r>
            <a:r>
              <a:rPr lang="cs-CZ" dirty="0"/>
              <a:t>…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281409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Azure </a:t>
            </a:r>
            <a:r>
              <a:rPr lang="cs-CZ" dirty="0" err="1"/>
              <a:t>Kubernetes</a:t>
            </a:r>
            <a:r>
              <a:rPr lang="cs-CZ" dirty="0"/>
              <a:t> </a:t>
            </a:r>
            <a:r>
              <a:rPr lang="cs-CZ" dirty="0" err="1"/>
              <a:t>Service</a:t>
            </a:r>
            <a:r>
              <a:rPr lang="cs-CZ" dirty="0"/>
              <a:t> (AKS)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cs-CZ" dirty="0"/>
              <a:t>Microsoft automaticky dělá:</a:t>
            </a:r>
          </a:p>
          <a:p>
            <a:r>
              <a:rPr lang="cs-CZ" dirty="0"/>
              <a:t>Správa clusterů (aktualizace atd.)</a:t>
            </a:r>
          </a:p>
          <a:p>
            <a:r>
              <a:rPr lang="cs-CZ" dirty="0" err="1"/>
              <a:t>Škálování</a:t>
            </a:r>
            <a:r>
              <a:rPr lang="cs-CZ" dirty="0"/>
              <a:t> clusterů (přidávání nových strojů)</a:t>
            </a:r>
          </a:p>
          <a:p>
            <a:r>
              <a:rPr lang="cs-CZ" dirty="0"/>
              <a:t>Správa přístupů</a:t>
            </a:r>
          </a:p>
          <a:p>
            <a:r>
              <a:rPr lang="cs-CZ" dirty="0"/>
              <a:t>Zabezpečení</a:t>
            </a:r>
          </a:p>
          <a:p>
            <a:endParaRPr lang="cs-CZ" dirty="0"/>
          </a:p>
        </p:txBody>
      </p:sp>
      <p:pic>
        <p:nvPicPr>
          <p:cNvPr id="3074" name="Picture 2" descr="Ceny – Azure Kubernetes Service (AKS) | Microsoft Az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675" y="3176587"/>
            <a:ext cx="5715000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2700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cs-CZ" dirty="0">
                <a:hlinkClick r:id="rId2"/>
              </a:rPr>
              <a:t>https://azure.microsoft.com/en-us/</a:t>
            </a:r>
            <a:endParaRPr lang="cs-CZ" dirty="0"/>
          </a:p>
          <a:p>
            <a:r>
              <a:rPr lang="cs-CZ" dirty="0">
                <a:hlinkClick r:id="rId3"/>
              </a:rPr>
              <a:t>https://cs.wikipedia.org/wiki/Microsoft_Azure</a:t>
            </a:r>
            <a:endParaRPr lang="cs-CZ" dirty="0"/>
          </a:p>
          <a:p>
            <a:r>
              <a:rPr lang="cs-CZ" dirty="0">
                <a:hlinkClick r:id="rId4"/>
              </a:rPr>
              <a:t>https://cs.wikipedia.org/wiki/Cloud_computing</a:t>
            </a:r>
            <a:endParaRPr lang="cs-CZ" dirty="0"/>
          </a:p>
          <a:p>
            <a:r>
              <a:rPr lang="cs-CZ" dirty="0">
                <a:hlinkClick r:id="rId5"/>
              </a:rPr>
              <a:t>https://kubernetes.io/</a:t>
            </a:r>
            <a:endParaRPr lang="cs-CZ" dirty="0"/>
          </a:p>
          <a:p>
            <a:endParaRPr lang="cs-CZ" dirty="0"/>
          </a:p>
          <a:p>
            <a:r>
              <a:rPr lang="cs-CZ" dirty="0">
                <a:hlinkClick r:id="rId6"/>
              </a:rPr>
              <a:t>https://www.netreo.com/blog/an-indepth-introduction-to-azure-virtual-network-monitoring/</a:t>
            </a:r>
            <a:endParaRPr lang="cs-CZ" dirty="0"/>
          </a:p>
          <a:p>
            <a:r>
              <a:rPr lang="cs-CZ" dirty="0">
                <a:hlinkClick r:id="rId7"/>
              </a:rPr>
              <a:t>https://www.vecteezy.com/vector-art/17119660-github-logo-git-hub-icon-with-text-on-white-and-black-background</a:t>
            </a:r>
            <a:endParaRPr lang="cs-CZ" dirty="0"/>
          </a:p>
          <a:p>
            <a:r>
              <a:rPr lang="cs-CZ" dirty="0">
                <a:hlinkClick r:id="rId8"/>
              </a:rPr>
              <a:t>https://learn.microsoft.com/en-us/windows/ai/windows-ml/</a:t>
            </a:r>
            <a:endParaRPr lang="cs-CZ" dirty="0"/>
          </a:p>
          <a:p>
            <a:r>
              <a:rPr lang="cs-CZ" dirty="0">
                <a:hlinkClick r:id="rId9"/>
              </a:rPr>
              <a:t>https://github.com/topics/visual-studio-logo</a:t>
            </a:r>
            <a:endParaRPr lang="cs-CZ" dirty="0"/>
          </a:p>
          <a:p>
            <a:r>
              <a:rPr lang="cs-CZ" dirty="0">
                <a:hlinkClick r:id="rId10"/>
              </a:rPr>
              <a:t>https://www.thijoubert.com/2023-02/AzureAD_LoginPage/</a:t>
            </a:r>
            <a:endParaRPr lang="cs-CZ" dirty="0"/>
          </a:p>
          <a:p>
            <a:r>
              <a:rPr lang="cs-CZ" dirty="0">
                <a:hlinkClick r:id="rId11"/>
              </a:rPr>
              <a:t>https://learn.microsoft.com/cs-cz/entra/identity/devices/howto-vm-sign-in-azure-ad-windows</a:t>
            </a:r>
            <a:endParaRPr lang="cs-CZ" dirty="0"/>
          </a:p>
          <a:p>
            <a:r>
              <a:rPr lang="cs-CZ" dirty="0">
                <a:hlinkClick r:id="rId12"/>
              </a:rPr>
              <a:t>https://learn.microsoft.com/cs-cz/azure/azure-portal/azure-portal-overview</a:t>
            </a:r>
            <a:endParaRPr lang="cs-CZ" dirty="0"/>
          </a:p>
          <a:p>
            <a:r>
              <a:rPr lang="cs-CZ" dirty="0">
                <a:hlinkClick r:id="rId13"/>
              </a:rPr>
              <a:t>https://azuremarketplace.microsoft.com/cs-cz/marketplace/consulting-services/urbannerd-consulting.az_mig_1?filters=undefined</a:t>
            </a:r>
            <a:endParaRPr lang="cs-CZ" dirty="0"/>
          </a:p>
          <a:p>
            <a:r>
              <a:rPr lang="cs-CZ" dirty="0">
                <a:hlinkClick r:id="rId14"/>
              </a:rPr>
              <a:t>https://www.linkedin.com/pulse/azure-compute-just-vm-paul-trotman/</a:t>
            </a:r>
            <a:endParaRPr lang="cs-CZ" dirty="0"/>
          </a:p>
          <a:p>
            <a:r>
              <a:rPr lang="cs-CZ" dirty="0">
                <a:hlinkClick r:id="rId15"/>
              </a:rPr>
              <a:t>https://www.ais.com/azure-data-factory-and-immutable-storage-in-azure-blob-storage/</a:t>
            </a:r>
            <a:endParaRPr lang="cs-CZ" dirty="0"/>
          </a:p>
          <a:p>
            <a:r>
              <a:rPr lang="cs-CZ" dirty="0">
                <a:hlinkClick r:id="rId16"/>
              </a:rPr>
              <a:t>https://www.g2.com/products/postgresql/reviews</a:t>
            </a:r>
            <a:endParaRPr lang="cs-CZ" dirty="0"/>
          </a:p>
          <a:p>
            <a:r>
              <a:rPr lang="cs-CZ" b="1" dirty="0">
                <a:hlinkClick r:id="rId17"/>
              </a:rPr>
              <a:t>https://www.ovhcloud.com/en-gb/public-cloud/kubernetes-architecture/</a:t>
            </a:r>
            <a:endParaRPr lang="cs-CZ" b="1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60473119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435</Words>
  <Application>Microsoft Office PowerPoint</Application>
  <PresentationFormat>Širokoúhlá obrazovka</PresentationFormat>
  <Paragraphs>89</Paragraphs>
  <Slides>17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Motiv Office</vt:lpstr>
      <vt:lpstr>Microsoft Azure</vt:lpstr>
      <vt:lpstr>Souhrnná věta</vt:lpstr>
      <vt:lpstr>Co to umí?</vt:lpstr>
      <vt:lpstr>Compute</vt:lpstr>
      <vt:lpstr>Úložiště</vt:lpstr>
      <vt:lpstr>Databáze</vt:lpstr>
      <vt:lpstr>Networking</vt:lpstr>
      <vt:lpstr>Ostatní</vt:lpstr>
      <vt:lpstr>Proč používat/výhody</vt:lpstr>
      <vt:lpstr>Instalace</vt:lpstr>
      <vt:lpstr>Instalace – správa VM</vt:lpstr>
      <vt:lpstr>Instalace </vt:lpstr>
      <vt:lpstr>Kubernetes Service</vt:lpstr>
      <vt:lpstr>Co je to Kubernetes?</vt:lpstr>
      <vt:lpstr>Umožňuje</vt:lpstr>
      <vt:lpstr>Azure Kubernetes Service (AKS)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