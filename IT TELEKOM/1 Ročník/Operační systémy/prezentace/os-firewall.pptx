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3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1F1A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PAVLÍK" userId="S::patrik.pavlik@teleinformatika.eu::4fce47cb-5a29-41e7-afe3-ddb09ba55d07" providerId="AD" clId="Web-{0C3D6D6E-73C6-2D58-C870-355436CE9BAD}"/>
    <pc:docChg chg="mod">
      <pc:chgData name="Patrik PAVLÍK" userId="S::patrik.pavlik@teleinformatika.eu::4fce47cb-5a29-41e7-afe3-ddb09ba55d07" providerId="AD" clId="Web-{0C3D6D6E-73C6-2D58-C870-355436CE9BAD}" dt="2025-05-23T15:07:54.912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634E2C-97B3-DA4F-CAEB-2D1E2DAAE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2A8F2D9-BCE9-78D6-792A-562CACEF7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2F3C912-0A84-F5FC-C309-9C8379E60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3757F-00F8-4F2A-966A-8610A2C9D797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B79E4A4-361B-9ED7-FF28-84674BE7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ED6AD08-99A8-A46D-5B01-D873B04F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E469-72EA-4FC4-8E0B-8D7DAC7AC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56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E2D4B9-65A4-3059-4C72-A1D54258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764C9C-0227-B381-A3CF-CB8111480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70B40C9-A304-6E74-FEA5-EAC228CF2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3757F-00F8-4F2A-966A-8610A2C9D797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4B5283C-EBFF-F6B0-3080-F96E877C9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F8B496D-FCA7-A873-A9F6-A76563E7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E469-72EA-4FC4-8E0B-8D7DAC7AC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0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E5DFDF-F254-8E8B-BE97-7917E127E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36AE7C8-ED5B-4E18-27E6-24ACF3D15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2341520-5031-5FAD-6A76-E0F844CB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3757F-00F8-4F2A-966A-8610A2C9D797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E1A2AF7-4514-DED2-E541-D3850B39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0C72EC4-722B-0A85-66AB-A6F98FFD3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E469-72EA-4FC4-8E0B-8D7DAC7AC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11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928D1-E59F-D09D-E253-616833B3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D6BF6C-1C38-3350-B28F-FFFD84832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B4CE79E-2A66-9C08-0E89-B7044F3C8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37D2C2E-3ECE-1D2A-670C-B9D1D4B0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3757F-00F8-4F2A-966A-8610A2C9D797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C8CD3E0-40B8-8785-C635-71466E38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785BF45-6C95-2ACE-85DB-99791C97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E469-72EA-4FC4-8E0B-8D7DAC7AC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8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FD5D87-7C3D-BCFA-9F04-1CE1F74BD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2F65455-6DB1-F9C7-D5F7-9132D35AA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3F07491-49B5-6EB1-4FE7-584726E05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AAA9725-A046-CF5B-D82E-3780B895CE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0EBF05A-B906-F73E-2056-49EDF10B8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C7144B1-83D4-5FFD-03F3-038147D47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3757F-00F8-4F2A-966A-8610A2C9D797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E487B62-71A8-2B38-7CE3-89ED0165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C832A8E-06BB-D9AA-4329-EFCA40AC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E469-72EA-4FC4-8E0B-8D7DAC7AC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6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08A27C-6EC5-9F51-D1DB-DB01921A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0A0CCB1-23B8-1C87-3CDC-77660464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3757F-00F8-4F2A-966A-8610A2C9D797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09632C9-937B-33A1-B813-FCF4A08B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A754B66-82CB-0ABC-6543-B0FA8819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E469-72EA-4FC4-8E0B-8D7DAC7AC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4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D699464-19F9-2541-2050-34391EB1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3757F-00F8-4F2A-966A-8610A2C9D797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3CF9A36B-3F65-E3B7-D463-5BD6C733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8151EFE-F657-63DA-BEC9-76C0F4C6D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E469-72EA-4FC4-8E0B-8D7DAC7AC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2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384455-65E2-3FFC-DDAB-6FF41183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FFF67E-D972-8B49-F0FE-D3BE96FDB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80C7774-CB72-E160-5E2F-542E38FD8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30050A3-78BB-031A-C565-0314FF07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3757F-00F8-4F2A-966A-8610A2C9D797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328F45C-DE5C-247C-5C59-B4B73EF5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235BFD4-B8DC-B3B0-ECC6-16220D60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E469-72EA-4FC4-8E0B-8D7DAC7AC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47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C89663-73DB-0015-C5B0-42BFF3B5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D6D6D7F-E7C3-E92F-336E-CD6EFD3C01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D353B5D-0562-C757-4861-EB9AC79F2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BB672EB-2184-5ED2-7A01-4C64FB088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3757F-00F8-4F2A-966A-8610A2C9D797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7A8ED32-D3D6-B5BF-C09D-C4311FE3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86D235E-527B-62B4-BA04-A7FECD18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E469-72EA-4FC4-8E0B-8D7DAC7AC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4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E79990-33C6-D86B-E350-35350388F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4F1F349-9268-69B7-9199-2CF3D42E5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F50B281-1235-3ED1-5966-B9299A14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3757F-00F8-4F2A-966A-8610A2C9D797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672B11A-A39D-A887-4653-D55490E1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DAB2EAD-EEC3-2154-DE8C-2C2F3C4E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E469-72EA-4FC4-8E0B-8D7DAC7AC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0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F6D444B-1CD7-F12A-33BC-292ED24A3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77A017E-5ECB-E33D-CBD3-D2BE053E1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8C4F1FD-9391-1B0F-AC7A-8B1A2FE0F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3757F-00F8-4F2A-966A-8610A2C9D797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7ADCDDD-EAA1-7F78-F940-3BC437FA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9970A72-F148-4E6A-46CC-D3FB0CF9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E469-72EA-4FC4-8E0B-8D7DAC7AC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74BA88FC-B3A8-2717-0DB3-191A828F2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61F9FED-8661-1DD1-6D67-DC379E88A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7AF955D-2B70-D362-1A7C-629AA9403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3757F-00F8-4F2A-966A-8610A2C9D797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CDBBB3E-14C9-7103-BE43-1AF461C2D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AFBA6A4-B369-AABA-04D2-B4E5909EE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0E469-72EA-4FC4-8E0B-8D7DAC7AC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107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49A2AE-0B2B-5666-FC7B-B60BFC3504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>
                <a:latin typeface="Monotxt_IV50" panose="00000400000000000000" pitchFamily="2" charset="0"/>
                <a:cs typeface="Monotxt_IV50" panose="00000400000000000000" pitchFamily="2" charset="0"/>
              </a:rPr>
              <a:t>FIREWALL</a:t>
            </a:r>
            <a:endParaRPr lang="en-US">
              <a:latin typeface="Monotxt_IV50" panose="00000400000000000000" pitchFamily="2" charset="0"/>
              <a:cs typeface="Monotxt_IV50" panose="00000400000000000000" pitchFamily="2" charset="0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C6FFF80-9952-BD76-AAE7-5D7C6614E4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>
                <a:latin typeface="Monotxt_IV50" panose="00000400000000000000" pitchFamily="2" charset="0"/>
                <a:cs typeface="Monotxt_IV50" panose="00000400000000000000" pitchFamily="2" charset="0"/>
              </a:rPr>
              <a:t>První obranná linie</a:t>
            </a:r>
            <a:endParaRPr lang="en-US">
              <a:latin typeface="Monotxt_IV50" panose="00000400000000000000" pitchFamily="2" charset="0"/>
              <a:cs typeface="Monotxt_IV50" panose="00000400000000000000" pitchFamily="2" charset="0"/>
            </a:endParaRPr>
          </a:p>
        </p:txBody>
      </p:sp>
      <p:pic>
        <p:nvPicPr>
          <p:cNvPr id="5" name="Grafický objekt 4" descr="Oheň se souvislou výplní">
            <a:extLst>
              <a:ext uri="{FF2B5EF4-FFF2-40B4-BE49-F238E27FC236}">
                <a16:creationId xmlns:a16="http://schemas.microsoft.com/office/drawing/2014/main" id="{4A254256-E935-1352-E8A6-65BA5687F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2606" y="3214255"/>
            <a:ext cx="3643745" cy="3643745"/>
          </a:xfrm>
          <a:prstGeom prst="rect">
            <a:avLst/>
          </a:prstGeom>
        </p:spPr>
      </p:pic>
      <p:pic>
        <p:nvPicPr>
          <p:cNvPr id="7" name="Grafický objekt 6" descr="Cihlová zeď budovy se souvislou výplní">
            <a:extLst>
              <a:ext uri="{FF2B5EF4-FFF2-40B4-BE49-F238E27FC236}">
                <a16:creationId xmlns:a16="http://schemas.microsoft.com/office/drawing/2014/main" id="{408AEA61-20AC-7CE8-B89F-BC40CCFE78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52005">
            <a:off x="8845731" y="3479513"/>
            <a:ext cx="3417493" cy="341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41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ACFDAE-DC72-36EC-BDCD-C0269E16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600" spc="-300">
                <a:latin typeface="Monotxt_IV50" panose="00000400000000000000" pitchFamily="2" charset="0"/>
                <a:cs typeface="Monotxt_IV50" panose="00000400000000000000" pitchFamily="2" charset="0"/>
              </a:rPr>
              <a:t>Co je firewall</a:t>
            </a:r>
            <a:endParaRPr lang="en-US" sz="3600" spc="-300">
              <a:latin typeface="Monotxt_IV50" panose="00000400000000000000" pitchFamily="2" charset="0"/>
              <a:cs typeface="Monotxt_IV50" panose="00000400000000000000" pitchFamily="2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31CEBE2-41B8-8690-B52F-098C41F31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cs-CZ">
                <a:cs typeface="Monotxt_IV25" panose="00000400000000000000" pitchFamily="2" charset="0"/>
              </a:rPr>
              <a:t>Zřízení (SW || HW) v síti. Které slouží k její ochraně</a:t>
            </a:r>
          </a:p>
          <a:p>
            <a:pPr>
              <a:buFont typeface="Wingdings" panose="05000000000000000000" pitchFamily="2" charset="2"/>
              <a:buChar char="§"/>
            </a:pPr>
            <a:endParaRPr lang="cs-CZ">
              <a:cs typeface="Monotxt_IV25" panose="00000400000000000000" pitchFamily="2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cs-CZ">
                <a:cs typeface="Monotxt_IV25" panose="00000400000000000000" pitchFamily="2" charset="0"/>
              </a:rPr>
              <a:t>Umožňuje různým entitám přidělit specifické pravidla (</a:t>
            </a:r>
            <a:r>
              <a:rPr lang="cs-CZ" err="1">
                <a:cs typeface="Monotxt_IV25" panose="00000400000000000000" pitchFamily="2" charset="0"/>
              </a:rPr>
              <a:t>rules</a:t>
            </a:r>
            <a:r>
              <a:rPr lang="cs-CZ">
                <a:cs typeface="Monotxt_IV25" panose="00000400000000000000" pitchFamily="2" charset="0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endParaRPr lang="cs-CZ">
              <a:cs typeface="Monotxt_IV25" panose="00000400000000000000" pitchFamily="2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cs-CZ">
                <a:cs typeface="Monotxt_IV25" panose="00000400000000000000" pitchFamily="2" charset="0"/>
              </a:rPr>
              <a:t>Slouží jako kontrolní bod síťového provozu – musí přes něj projít veškerý provoz</a:t>
            </a:r>
          </a:p>
          <a:p>
            <a:pPr>
              <a:buFont typeface="Wingdings" panose="05000000000000000000" pitchFamily="2" charset="2"/>
              <a:buChar char="§"/>
            </a:pPr>
            <a:endParaRPr lang="cs-CZ">
              <a:latin typeface="Monotxt" panose="00000400000000000000" pitchFamily="2" charset="0"/>
              <a:cs typeface="Monotxt" panose="00000400000000000000" pitchFamily="2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>
              <a:latin typeface="Monotxt" panose="00000400000000000000" pitchFamily="2" charset="0"/>
              <a:cs typeface="Monotx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76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08B1EF-151D-0484-F4C0-844435DC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600" spc="-300">
                <a:latin typeface="Monotxt_IV50" panose="00000400000000000000" pitchFamily="2" charset="0"/>
                <a:cs typeface="Monotxt_IV50" panose="00000400000000000000" pitchFamily="2" charset="0"/>
              </a:rPr>
              <a:t>Princip fungování</a:t>
            </a:r>
            <a:endParaRPr lang="en-US" sz="3600" spc="-300">
              <a:latin typeface="Monotxt_IV50" panose="00000400000000000000" pitchFamily="2" charset="0"/>
              <a:cs typeface="Monotxt_IV50" panose="00000400000000000000" pitchFamily="2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2282345-BD85-2F14-E15D-EC4A5E40C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Základní firewall vychází ze zdrojové a cílové </a:t>
            </a:r>
            <a:r>
              <a:rPr lang="cs-CZ" err="1"/>
              <a:t>ip</a:t>
            </a:r>
            <a:r>
              <a:rPr lang="cs-CZ"/>
              <a:t> a portů</a:t>
            </a:r>
          </a:p>
          <a:p>
            <a:endParaRPr lang="cs-CZ"/>
          </a:p>
          <a:p>
            <a:r>
              <a:rPr lang="cs-CZ"/>
              <a:t>Lepší firewally znají specifické protokoly a jsou schopny na nich odhalit podezřelou aktivitu</a:t>
            </a:r>
          </a:p>
          <a:p>
            <a:endParaRPr lang="cs-CZ"/>
          </a:p>
          <a:p>
            <a:r>
              <a:rPr lang="cs-CZ"/>
              <a:t>V praxi se používá s IDS/IPS filtrem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57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50E797-CFB4-AEC6-9460-6D22EC31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600" spc="-300">
                <a:latin typeface="Monotxt_IV50" panose="00000400000000000000" pitchFamily="2" charset="0"/>
                <a:cs typeface="Monotxt_IV50" panose="00000400000000000000" pitchFamily="2" charset="0"/>
              </a:rPr>
              <a:t>IDS filtry</a:t>
            </a:r>
            <a:endParaRPr lang="en-US" sz="3600" spc="-300">
              <a:latin typeface="Monotxt_IV50" panose="00000400000000000000" pitchFamily="2" charset="0"/>
              <a:cs typeface="Monotxt_IV50" panose="00000400000000000000" pitchFamily="2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9CE009-ED94-ADD6-6577-3CE9199DD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Intrusion Detection </a:t>
            </a:r>
            <a:r>
              <a:rPr lang="en-US" err="1"/>
              <a:t>Systém</a:t>
            </a:r>
            <a:r>
              <a:rPr lang="cs-CZ"/>
              <a:t> -</a:t>
            </a:r>
            <a:r>
              <a:rPr lang="en-US"/>
              <a:t> </a:t>
            </a:r>
            <a:r>
              <a:rPr lang="en-US" err="1"/>
              <a:t>obranný</a:t>
            </a:r>
            <a:r>
              <a:rPr lang="en-US"/>
              <a:t> system</a:t>
            </a:r>
            <a:endParaRPr lang="cs-CZ"/>
          </a:p>
          <a:p>
            <a:endParaRPr lang="cs-CZ"/>
          </a:p>
          <a:p>
            <a:r>
              <a:rPr lang="en-US" err="1"/>
              <a:t>Detekce</a:t>
            </a:r>
            <a:r>
              <a:rPr lang="en-US"/>
              <a:t> </a:t>
            </a:r>
            <a:r>
              <a:rPr lang="en-US" err="1"/>
              <a:t>neobvyklých</a:t>
            </a:r>
            <a:r>
              <a:rPr lang="en-US"/>
              <a:t> </a:t>
            </a:r>
            <a:r>
              <a:rPr lang="en-US" err="1"/>
              <a:t>aktivit</a:t>
            </a:r>
            <a:endParaRPr lang="cs-CZ"/>
          </a:p>
          <a:p>
            <a:endParaRPr lang="cs-CZ"/>
          </a:p>
          <a:p>
            <a:r>
              <a:rPr lang="cs-CZ"/>
              <a:t>Snaží se útokům předcházet </a:t>
            </a:r>
            <a:r>
              <a:rPr lang="cs-CZ">
                <a:sym typeface="Wingdings" panose="05000000000000000000" pitchFamily="2" charset="2"/>
              </a:rPr>
              <a:t> objevit je v ranné fázi</a:t>
            </a:r>
          </a:p>
          <a:p>
            <a:endParaRPr lang="cs-CZ">
              <a:sym typeface="Wingdings" panose="05000000000000000000" pitchFamily="2" charset="2"/>
            </a:endParaRPr>
          </a:p>
          <a:p>
            <a:r>
              <a:rPr lang="cs-CZ">
                <a:sym typeface="Wingdings" panose="05000000000000000000" pitchFamily="2" charset="2"/>
              </a:rPr>
              <a:t>Podezřelé aktivity předá zapíše do logu a upozorní na ně</a:t>
            </a:r>
          </a:p>
          <a:p>
            <a:endParaRPr lang="cs-CZ">
              <a:sym typeface="Wingdings" panose="05000000000000000000" pitchFamily="2" charset="2"/>
            </a:endParaRPr>
          </a:p>
          <a:p>
            <a:r>
              <a:rPr lang="cs-CZ">
                <a:sym typeface="Wingdings" panose="05000000000000000000" pitchFamily="2" charset="2"/>
              </a:rPr>
              <a:t>Běží až za firewallem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09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2C733-C991-4125-7DFE-A2EA2BF9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568ABF-0136-5645-7D15-EA43DE41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600" spc="-300" err="1">
                <a:latin typeface="Monotxt_IV50" panose="00000400000000000000" pitchFamily="2" charset="0"/>
                <a:cs typeface="Monotxt_IV50" panose="00000400000000000000" pitchFamily="2" charset="0"/>
              </a:rPr>
              <a:t>Prvnígenerace</a:t>
            </a:r>
            <a:endParaRPr lang="en-US" sz="3600" spc="-300">
              <a:latin typeface="Monotxt_IV50" panose="00000400000000000000" pitchFamily="2" charset="0"/>
              <a:cs typeface="Monotxt_IV50" panose="00000400000000000000" pitchFamily="2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0D7D58-6DB7-A95B-981B-AC3182BCB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cs-CZ"/>
          </a:p>
          <a:p>
            <a:r>
              <a:rPr lang="cs-CZ"/>
              <a:t>Filtrování paketů</a:t>
            </a:r>
          </a:p>
          <a:p>
            <a:endParaRPr lang="cs-CZ"/>
          </a:p>
          <a:p>
            <a:r>
              <a:rPr lang="cs-CZ"/>
              <a:t>Pravidla umožňovala blokovat jen na základě IP a portu</a:t>
            </a:r>
          </a:p>
          <a:p>
            <a:pPr marL="0" indent="0">
              <a:buNone/>
            </a:pPr>
            <a:endParaRPr lang="cs-CZ"/>
          </a:p>
          <a:p>
            <a:r>
              <a:rPr lang="cs-CZ"/>
              <a:t>Odchozí i příchozí pravidla</a:t>
            </a:r>
          </a:p>
          <a:p>
            <a:endParaRPr lang="cs-CZ"/>
          </a:p>
          <a:p>
            <a:r>
              <a:rPr lang="cs-CZ"/>
              <a:t>1988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1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550B-A17D-E956-E9A9-CB670E09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CE6403-0D10-8F11-039D-3C70F497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600" spc="-300">
                <a:latin typeface="Monotxt_IV50" panose="00000400000000000000" pitchFamily="2" charset="0"/>
                <a:cs typeface="Monotxt_IV50" panose="00000400000000000000" pitchFamily="2" charset="0"/>
              </a:rPr>
              <a:t>Druhá generace</a:t>
            </a:r>
            <a:endParaRPr lang="en-US" sz="3600" spc="-300">
              <a:latin typeface="Monotxt_IV50" panose="00000400000000000000" pitchFamily="2" charset="0"/>
              <a:cs typeface="Monotxt_IV50" panose="00000400000000000000" pitchFamily="2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5EC14B4-E085-6140-9A27-2BA8E15A1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cs-CZ"/>
          </a:p>
          <a:p>
            <a:r>
              <a:rPr lang="cs-CZ"/>
              <a:t>Stavové filtry </a:t>
            </a:r>
          </a:p>
          <a:p>
            <a:endParaRPr lang="cs-CZ"/>
          </a:p>
          <a:p>
            <a:r>
              <a:rPr lang="cs-CZ"/>
              <a:t>(</a:t>
            </a:r>
            <a:r>
              <a:rPr lang="en-US"/>
              <a:t>circuit-level </a:t>
            </a:r>
            <a:r>
              <a:rPr lang="en-US" err="1"/>
              <a:t>brány</a:t>
            </a:r>
            <a:r>
              <a:rPr lang="cs-CZ"/>
              <a:t>)</a:t>
            </a:r>
          </a:p>
          <a:p>
            <a:endParaRPr lang="cs-CZ"/>
          </a:p>
          <a:p>
            <a:r>
              <a:rPr lang="cs-CZ"/>
              <a:t>1989-1990</a:t>
            </a:r>
          </a:p>
          <a:p>
            <a:pPr marL="0" indent="0">
              <a:buNone/>
            </a:pPr>
            <a:endParaRPr lang="cs-CZ"/>
          </a:p>
          <a:p>
            <a:r>
              <a:rPr lang="cs-CZ"/>
              <a:t>Umí poznat stav připojení </a:t>
            </a:r>
            <a:r>
              <a:rPr lang="cs-CZ">
                <a:sym typeface="Wingdings" panose="05000000000000000000" pitchFamily="2" charset="2"/>
              </a:rPr>
              <a:t> Jestli už spojení bylo navázáno</a:t>
            </a:r>
            <a:endParaRPr lang="cs-CZ"/>
          </a:p>
          <a:p>
            <a:endParaRPr lang="cs-CZ"/>
          </a:p>
          <a:p>
            <a:r>
              <a:rPr lang="cs-CZ"/>
              <a:t>Objevují se DOS útoky na firewally</a:t>
            </a:r>
          </a:p>
        </p:txBody>
      </p:sp>
    </p:spTree>
    <p:extLst>
      <p:ext uri="{BB962C8B-B14F-4D97-AF65-F5344CB8AC3E}">
        <p14:creationId xmlns:p14="http://schemas.microsoft.com/office/powerpoint/2010/main" val="366250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30CF9-3613-6CA8-6A7C-D5123E9F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EC7EDC-D7DE-BD12-FACD-64B56B28F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600" spc="-300">
                <a:latin typeface="Monotxt_IV50" panose="00000400000000000000" pitchFamily="2" charset="0"/>
                <a:cs typeface="Monotxt_IV50" panose="00000400000000000000" pitchFamily="2" charset="0"/>
              </a:rPr>
              <a:t>Třetí generace</a:t>
            </a:r>
            <a:endParaRPr lang="en-US" sz="3600" spc="-300">
              <a:latin typeface="Monotxt_IV50" panose="00000400000000000000" pitchFamily="2" charset="0"/>
              <a:cs typeface="Monotxt_IV50" panose="00000400000000000000" pitchFamily="2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0478AB-965A-FA7C-6013-AEA78D120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cs-CZ"/>
          </a:p>
          <a:p>
            <a:r>
              <a:rPr lang="cs-CZ"/>
              <a:t>Pravidla umožňovala blokovat jen na základě IP a portu</a:t>
            </a:r>
          </a:p>
          <a:p>
            <a:endParaRPr lang="cs-CZ"/>
          </a:p>
          <a:p>
            <a:r>
              <a:rPr lang="cs-CZ"/>
              <a:t>Aplikační vrstva – rozumí kontextu síťového provozu</a:t>
            </a:r>
          </a:p>
          <a:p>
            <a:endParaRPr lang="cs-CZ"/>
          </a:p>
          <a:p>
            <a:r>
              <a:rPr lang="cs-CZ"/>
              <a:t>Odhalí podezřelý provoz na portu pokud neodpovídá provozu dané služby</a:t>
            </a:r>
          </a:p>
          <a:p>
            <a:endParaRPr lang="cs-CZ"/>
          </a:p>
          <a:p>
            <a:r>
              <a:rPr lang="cs-CZ"/>
              <a:t>Např. DNS, HTTP, FTP</a:t>
            </a:r>
          </a:p>
          <a:p>
            <a:endParaRPr lang="cs-CZ"/>
          </a:p>
          <a:p>
            <a:r>
              <a:rPr lang="cs-CZ"/>
              <a:t>1994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8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650121-DFAE-EB4D-7D74-C00234EB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HW firewally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E671CF-4C07-7CE4-3E43-5CFBF2CFA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Specializovaný hw pro zpracování síťového provozu</a:t>
            </a:r>
          </a:p>
          <a:p>
            <a:endParaRPr lang="cs-CZ"/>
          </a:p>
          <a:p>
            <a:r>
              <a:rPr lang="cs-CZ"/>
              <a:t>Jen pro velmi náročné aplikace (SW většinou stačí) </a:t>
            </a:r>
            <a:endParaRPr lang="en-US"/>
          </a:p>
        </p:txBody>
      </p:sp>
      <p:pic>
        <p:nvPicPr>
          <p:cNvPr id="5" name="Obrázek 4" descr="Obsah obrázku elektronika, Elektronické zařízení, Elektronické inženýrství">
            <a:extLst>
              <a:ext uri="{FF2B5EF4-FFF2-40B4-BE49-F238E27FC236}">
                <a16:creationId xmlns:a16="http://schemas.microsoft.com/office/drawing/2014/main" id="{0578F807-B749-C6BC-D1E3-6D631B87F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797" y="3429000"/>
            <a:ext cx="4762500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3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snímek obrazovky, software, Počítačová ikona&#10;&#10;Popis byl vytvořen automaticky">
            <a:extLst>
              <a:ext uri="{FF2B5EF4-FFF2-40B4-BE49-F238E27FC236}">
                <a16:creationId xmlns:a16="http://schemas.microsoft.com/office/drawing/2014/main" id="{F7645132-91F2-8AF0-161A-9B2D44445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332"/>
            <a:ext cx="12192000" cy="6119644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19FDC402-6FC4-9530-DCC4-3222D749B8D6}"/>
              </a:ext>
            </a:extLst>
          </p:cNvPr>
          <p:cNvSpPr txBox="1"/>
          <p:nvPr/>
        </p:nvSpPr>
        <p:spPr>
          <a:xfrm>
            <a:off x="69011" y="112143"/>
            <a:ext cx="2605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/>
              <a:t>Windows firewall GUI: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39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snímek obrazovky, software&#10;&#10;Popis byl vytvořen automaticky">
            <a:extLst>
              <a:ext uri="{FF2B5EF4-FFF2-40B4-BE49-F238E27FC236}">
                <a16:creationId xmlns:a16="http://schemas.microsoft.com/office/drawing/2014/main" id="{FD05052D-0B5D-7912-2591-3399A98D9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300" y="856734"/>
            <a:ext cx="5667399" cy="6001266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117C619F-A4DC-6B50-B42E-26353006B15C}"/>
              </a:ext>
            </a:extLst>
          </p:cNvPr>
          <p:cNvSpPr txBox="1"/>
          <p:nvPr/>
        </p:nvSpPr>
        <p:spPr>
          <a:xfrm>
            <a:off x="267855" y="249382"/>
            <a:ext cx="2994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/>
              <a:t>Windows firewall CLI: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4639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6" ma:contentTypeDescription="Vytvoří nový dokument" ma:contentTypeScope="" ma:versionID="57d2c79443f2473f7e3238a25f017c83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90043370b6e468db21a8e6388b4bf04e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SearchProperties" minOccurs="0"/>
                <xsd:element ref="ns3:MediaLengthInSecond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38EF1F-ABCB-40AD-8736-5EEBF9EB2B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DB247-B16E-4FD1-9EE8-216D6FC40788}">
  <ds:schemaRefs>
    <ds:schemaRef ds:uri="7102979c-b26f-4d91-98cb-63a00b939af4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f87e30eb-171b-483d-8cf8-0a83c79a11ac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B2ADE69-A3D5-43B5-B283-6A4325810BCE}">
  <ds:schemaRefs>
    <ds:schemaRef ds:uri="7102979c-b26f-4d91-98cb-63a00b939af4"/>
    <ds:schemaRef ds:uri="f87e30eb-171b-483d-8cf8-0a83c79a11a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Širokoúhlá obrazovka</PresentationFormat>
  <Paragraphs>61</Paragraphs>
  <Slides>10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1" baseType="lpstr">
      <vt:lpstr>Motiv Office</vt:lpstr>
      <vt:lpstr>FIREWALL</vt:lpstr>
      <vt:lpstr>Co je firewall</vt:lpstr>
      <vt:lpstr>Princip fungování</vt:lpstr>
      <vt:lpstr>IDS filtry</vt:lpstr>
      <vt:lpstr>Prvnígenerace</vt:lpstr>
      <vt:lpstr>Druhá generace</vt:lpstr>
      <vt:lpstr>Třetí generace</vt:lpstr>
      <vt:lpstr>HW firewally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