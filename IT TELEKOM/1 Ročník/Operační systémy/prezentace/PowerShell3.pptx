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autoCompressPictures="0" conformance="strict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 horzBarState="maximized">
    <p:restoredLeft sz="14.995%" autoAdjust="0"/>
    <p:restoredTop sz="94.66%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slide" Target="slides/slide12.xml"/><Relationship Id="rId18" Type="http://purl.oclc.org/ooxml/officeDocument/relationships/viewProps" Target="view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presProps" Target="presProps.xml"/><Relationship Id="rId2" Type="http://purl.oclc.org/ooxml/officeDocument/relationships/slide" Target="slides/slide1.xml"/><Relationship Id="rId16" Type="http://purl.oclc.org/ooxml/officeDocument/relationships/slide" Target="slides/slide15.xml"/><Relationship Id="rId20" Type="http://purl.oclc.org/ooxml/officeDocument/relationships/tableStyles" Target="tableStyle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slide" Target="slides/slide14.xml"/><Relationship Id="rId10" Type="http://purl.oclc.org/ooxml/officeDocument/relationships/slide" Target="slides/slide9.xml"/><Relationship Id="rId19" Type="http://purl.oclc.org/ooxml/officeDocument/relationships/theme" Target="theme/theme1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purl.oclc.org/ooxml/drawingml/main" xmlns:r="http://purl.oclc.org/ooxml/officeDocument/relationships" xmlns:p="http://purl.oclc.org/ooxml/presentationml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%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%"/>
                      <a:lumOff val="35%"/>
                      <a:alpha val="40%"/>
                    </a:schemeClr>
                  </a:glow>
                  <a:outerShdw blurRad="28575" dist="38100" dir="14040000" algn="tl" rotWithShape="0">
                    <a:srgbClr val="000000">
                      <a:alpha val="25%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%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%"/>
                      <a:lumOff val="35%"/>
                      <a:alpha val="40%"/>
                    </a:schemeClr>
                  </a:glow>
                  <a:outerShdw blurRad="28575" dist="38100" dir="14040000" algn="tl" rotWithShape="0">
                    <a:srgbClr val="000000">
                      <a:alpha val="25%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purl.oclc.org/ooxml/drawingml/main" xmlns:r="http://purl.oclc.org/ooxml/officeDocument/relationships" xmlns:p="http://purl.oclc.org/ooxml/presentationml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purl.oclc.org/ooxml/drawingml/main" xmlns:r="http://purl.oclc.org/ooxml/officeDocument/relationships" xmlns:p="http://purl.oclc.org/ooxml/presentationml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purl.oclc.org/ooxml/drawingml/main" xmlns:r="http://purl.oclc.org/ooxml/officeDocument/relationships" xmlns:p="http://purl.oclc.org/ooxml/presentationml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purl.oclc.org/ooxml/drawingml/main" xmlns:r="http://purl.oclc.org/ooxml/officeDocument/relationships" xmlns:p="http://purl.oclc.org/ooxml/presentationml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purl.oclc.org/ooxml/drawingml/main" xmlns:r="http://purl.oclc.org/ooxml/officeDocument/relationships" xmlns:p="http://purl.oclc.org/ooxml/presentationml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slideLayout" Target="../slideLayouts/slideLayout13.xml"/><Relationship Id="rId18" Type="http://purl.oclc.org/ooxml/officeDocument/relationships/theme" Target="../theme/theme1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slideLayout" Target="../slideLayouts/slideLayout12.xml"/><Relationship Id="rId17" Type="http://purl.oclc.org/ooxml/officeDocument/relationships/slideLayout" Target="../slideLayouts/slideLayout17.xml"/><Relationship Id="rId2" Type="http://purl.oclc.org/ooxml/officeDocument/relationships/slideLayout" Target="../slideLayouts/slideLayout2.xml"/><Relationship Id="rId16" Type="http://purl.oclc.org/ooxml/officeDocument/relationships/slideLayout" Target="../slideLayouts/slideLayout16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5" Type="http://purl.oclc.org/ooxml/officeDocument/relationships/slideLayout" Target="../slideLayouts/slideLayout15.xml"/><Relationship Id="rId10" Type="http://purl.oclc.org/ooxml/officeDocument/relationships/slideLayout" Target="../slideLayouts/slideLayout10.xml"/><Relationship Id="rId19" Type="http://purl.oclc.org/ooxml/officeDocument/relationships/image" Target="../media/image1.png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Relationship Id="rId14" Type="http://purl.oclc.org/ooxml/officeDocument/relationships/slideLayout" Target="../slideLayouts/slideLayout14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%"/>
        </a:lnSpc>
        <a:spcBef>
          <a:spcPct val="0%"/>
        </a:spcBef>
        <a:buNone/>
        <a:defRPr sz="4000" kern="1200" cap="all" baseline="0%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image" Target="../media/image4.png"/><Relationship Id="rId1" Type="http://purl.oclc.org/ooxml/officeDocument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purl.oclc.org/ooxml/officeDocument/relationships/slideLayout" Target="../slideLayouts/slideLayout2.xml"/><Relationship Id="rId2" Type="http://purl.oclc.org/ooxml/officeDocument/relationships/video" Target="../media/media1.mp4"/><Relationship Id="rId1" Type="http://schemas.microsoft.com/office/2007/relationships/media" Target="../media/media1.mp4"/><Relationship Id="rId4" Type="http://purl.oclc.org/ooxml/officeDocument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purl.oclc.org/ooxml/officeDocument/relationships/image" Target="../media/image7.png"/><Relationship Id="rId2" Type="http://purl.oclc.org/ooxml/officeDocument/relationships/image" Target="../media/image3.png"/><Relationship Id="rId1" Type="http://purl.oclc.org/ooxml/officeDocument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purl.oclc.org/ooxml/officeDocument/relationships/hyperlink" Target="https://learn.microsoft.com/cs-cz/powershell/scripting/install/installing-powershell-on-windows?view=powershell-7.4" TargetMode="External"/><Relationship Id="rId2" Type="http://purl.oclc.org/ooxml/officeDocument/relationships/hyperlink" Target="https://www.youtube.com/watch?v=rtyXJC6RdpA&amp;ab_channel=EyeonTech" TargetMode="External"/><Relationship Id="rId1" Type="http://purl.oclc.org/ooxml/officeDocument/relationships/slideLayout" Target="../slideLayouts/slideLayout2.xml"/><Relationship Id="rId5" Type="http://purl.oclc.org/ooxml/officeDocument/relationships/hyperlink" Target="https://learn.microsoft.com/cs-cz/powershell/module/microsoft.powershell.core/about/about_history?view=powershell-7.4" TargetMode="External"/><Relationship Id="rId4" Type="http://purl.oclc.org/ooxml/officeDocument/relationships/hyperlink" Target="https://learn.microsoft.com/cs-cz/powershell/scripting/overview?view=powershell-7.4" TargetMode="Externa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E089FD-F0FC-BE99-FB54-295539DF4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cs-CZ" b="1" dirty="0" err="1">
                <a:latin typeface="Maiandra GD" panose="020E0502030308020204" pitchFamily="34" charset="0"/>
              </a:rPr>
              <a:t>PowerShell</a:t>
            </a:r>
            <a:endParaRPr lang="cs-CZ" b="1" dirty="0">
              <a:latin typeface="Maiandra GD" panose="020E0502030308020204" pitchFamily="34" charset="0"/>
            </a:endParaRPr>
          </a:p>
        </p:txBody>
      </p:sp>
      <p:pic>
        <p:nvPicPr>
          <p:cNvPr id="5" name="Obrázek 4" descr="Obsah obrázku snímek obrazovky, Grafika, Elektricky modrá, symbol&#10;&#10;Popis byl vytvořen automaticky">
            <a:extLst>
              <a:ext uri="{FF2B5EF4-FFF2-40B4-BE49-F238E27FC236}">
                <a16:creationId xmlns:a16="http://schemas.microsoft.com/office/drawing/2014/main" id="{50421068-4402-F2C7-EF0A-69135B2C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166116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83620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D6150B-0348-7E5E-166E-BB63BC82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AE94CB-B518-555E-B019-EFFAA49B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sz="36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je multiplatformní řešení automatizace úloh, které se skládá z prostředí příkazového řádku, skriptovacího jazyka a architektury pro správu konfigurace. </a:t>
            </a:r>
          </a:p>
          <a:p>
            <a:r>
              <a:rPr lang="cs-CZ" sz="36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sz="36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běží ve Windows, Linuxu a macOS.</a:t>
            </a:r>
            <a:endParaRPr lang="cs-CZ" sz="36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68412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11EA2F-D7EB-28DD-3F84-959CE25A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Prostředí příkazového řádku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7F2B2C-A908-5344-15EE-4C7BD8F2D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800" y="2214861"/>
            <a:ext cx="10820400" cy="4175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41224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None/>
              <a:tabLst/>
            </a:pPr>
            <a:r>
              <a:rPr kumimoji="0" lang="cs-CZ" altLang="cs-CZ" sz="24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PowerShell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 je moderní příkazové prostředí, které obsahuje nejlepší funkce jiných oblíbených prostředí. 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None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Na rozdíl od většiny prostředí, která přijímají a vracejí jenom text, </a:t>
            </a:r>
            <a:r>
              <a:rPr kumimoji="0" lang="cs-CZ" altLang="cs-CZ" sz="24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PowerShell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 přijímá a vrací objekty .NET. 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None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Prostředí obsahuje následující funkce:</a:t>
            </a:r>
            <a:endParaRPr kumimoji="0" lang="cs-CZ" altLang="cs-CZ" sz="2400" b="0" i="0" u="none" strike="noStrike" cap="none" normalizeH="0" baseline="0%" dirty="0">
              <a:ln>
                <a:noFill/>
              </a:ln>
              <a:solidFill>
                <a:schemeClr val="tx1"/>
              </a:solidFill>
              <a:effectLst/>
              <a:latin typeface="Maiandra GD" panose="020E0502030308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Robustní </a:t>
            </a:r>
            <a:r>
              <a:rPr lang="cs-CZ" altLang="cs-CZ" sz="2400" dirty="0">
                <a:solidFill>
                  <a:srgbClr val="161616"/>
                </a:solidFill>
                <a:latin typeface="Maiandra GD" panose="020E0502030308020204" pitchFamily="34" charset="0"/>
                <a:cs typeface="Segoe UI" panose="020B0502040204020203" pitchFamily="34" charset="0"/>
              </a:rPr>
              <a:t>historie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 příkazového řádku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Dokončování pomocí tabulátoru a predikce příkazů (viz </a:t>
            </a:r>
            <a:r>
              <a:rPr kumimoji="0" lang="cs-CZ" altLang="cs-CZ" sz="24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a</a:t>
            </a:r>
            <a:r>
              <a:rPr lang="cs-CZ" altLang="cs-CZ" sz="2400" dirty="0" err="1">
                <a:solidFill>
                  <a:srgbClr val="161616"/>
                </a:solidFill>
                <a:latin typeface="Maiandra GD" panose="020E0502030308020204" pitchFamily="34" charset="0"/>
                <a:cs typeface="Segoe UI" panose="020B0502040204020203" pitchFamily="34" charset="0"/>
              </a:rPr>
              <a:t>bout_PSReadLine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Podporuje </a:t>
            </a:r>
            <a:r>
              <a:rPr lang="cs-CZ" altLang="cs-CZ" sz="2400" dirty="0" err="1">
                <a:solidFill>
                  <a:srgbClr val="161616"/>
                </a:solidFill>
                <a:latin typeface="Maiandra GD" panose="020E0502030308020204" pitchFamily="34" charset="0"/>
                <a:cs typeface="Segoe UI" panose="020B0502040204020203" pitchFamily="34" charset="0"/>
              </a:rPr>
              <a:t>aliasy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 příkazů a parametrů.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Char char="•"/>
              <a:tabLst/>
            </a:pPr>
            <a:r>
              <a:rPr lang="cs-CZ" altLang="cs-CZ" sz="2400" dirty="0">
                <a:solidFill>
                  <a:srgbClr val="161616"/>
                </a:solidFill>
                <a:latin typeface="Maiandra GD" panose="020E0502030308020204" pitchFamily="34" charset="0"/>
                <a:cs typeface="Segoe UI" panose="020B0502040204020203" pitchFamily="34" charset="0"/>
              </a:rPr>
              <a:t>Kanál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 pro zřetězování příkazů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Systém </a:t>
            </a:r>
            <a:r>
              <a:rPr lang="cs-CZ" altLang="cs-CZ" sz="2400" dirty="0">
                <a:solidFill>
                  <a:srgbClr val="161616"/>
                </a:solidFill>
                <a:latin typeface="Maiandra GD" panose="020E0502030308020204" pitchFamily="34" charset="0"/>
                <a:cs typeface="Segoe UI" panose="020B0502040204020203" pitchFamily="34" charset="0"/>
              </a:rPr>
              <a:t>nápovědy</a:t>
            </a:r>
            <a:r>
              <a:rPr kumimoji="0" lang="cs-CZ" altLang="cs-CZ" sz="24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 v konzole, podobný unixovým man stránkám.</a:t>
            </a:r>
          </a:p>
          <a:p>
            <a:pPr marL="0" marR="0" lvl="0" indent="0" algn="l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ct val="0%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%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806630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7967D4-FF80-48AA-20D1-09D76121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Maiandra GD" panose="020E0502030308020204" pitchFamily="34" charset="0"/>
              </a:rPr>
              <a:t>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90921-EE3A-E3D6-FAF8-F6FBE32AF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cs-CZ" sz="2400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Krátký popis</a:t>
            </a:r>
          </a:p>
          <a:p>
            <a:pPr lvl="1"/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Popisuje, jak získat a spustit příkazy v historii příkazů.</a:t>
            </a:r>
          </a:p>
          <a:p>
            <a:pPr algn="l"/>
            <a:r>
              <a:rPr lang="cs-CZ" sz="2400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Dlouhý popis</a:t>
            </a:r>
          </a:p>
          <a:p>
            <a:pPr lvl="1"/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Když zadáte příkaz na příkazovém řádku, </a:t>
            </a:r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uloží příkaz v historii příkazů. </a:t>
            </a:r>
          </a:p>
          <a:p>
            <a:pPr lvl="1"/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Příkazy v historii můžete použít jako záznam vaší práce. </a:t>
            </a:r>
          </a:p>
          <a:p>
            <a:pPr lvl="1"/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A můžete si vzpomenout a spustit příkazy z historie příkazů.</a:t>
            </a:r>
          </a:p>
          <a:p>
            <a:pPr lvl="1"/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má dva různé poskytovatele historie: integrovanou historii a historii spravovanou modulem </a:t>
            </a:r>
            <a:r>
              <a:rPr lang="cs-CZ" sz="2400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PSReadLine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. </a:t>
            </a:r>
          </a:p>
          <a:p>
            <a:pPr lvl="1"/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Historie se spravují samostatně, ale obě historie jsou k dispozici v relacích, ve kterých </a:t>
            </a:r>
            <a:r>
              <a:rPr lang="cs-CZ" sz="2400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se načítá </a:t>
            </a:r>
            <a:r>
              <a:rPr lang="cs-CZ" sz="2400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PSReadLine</a:t>
            </a:r>
            <a:r>
              <a:rPr lang="cs-CZ" sz="2400" dirty="0">
                <a:solidFill>
                  <a:srgbClr val="161616"/>
                </a:solidFill>
                <a:latin typeface="Maiandra GD" panose="020E0502030308020204" pitchFamily="34" charset="0"/>
              </a:rPr>
              <a:t>.</a:t>
            </a:r>
            <a:endParaRPr lang="cs-CZ" sz="2400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46324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8AF62E-FE2F-33F5-3C4A-6CD76BB2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Použití historie </a:t>
            </a:r>
            <a:r>
              <a:rPr lang="cs-CZ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psReadLine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6BF673-06B2-777E-29FB-E42829B2F4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652352"/>
            <a:ext cx="1123188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%"/>
              </a:lnSpc>
            </a:pP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Historie </a:t>
            </a:r>
            <a:r>
              <a:rPr kumimoji="0" lang="cs-CZ" altLang="cs-CZ" sz="28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PSReadLine</a:t>
            </a: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 sleduje příkazy používané ve všech relacích </a:t>
            </a:r>
            <a:r>
              <a:rPr kumimoji="0" lang="cs-CZ" altLang="cs-CZ" sz="28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PowerShellu</a:t>
            </a: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. </a:t>
            </a:r>
          </a:p>
          <a:p>
            <a:pPr>
              <a:lnSpc>
                <a:spcPct val="100%"/>
              </a:lnSpc>
            </a:pP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Historie se zapisuje do centrálního souboru na hostitele. </a:t>
            </a:r>
          </a:p>
          <a:p>
            <a:pPr>
              <a:lnSpc>
                <a:spcPct val="100%"/>
              </a:lnSpc>
            </a:pP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Tento soubor historie je k dispozici pro všechny relace a obsahuje všechny předchozí historie. </a:t>
            </a:r>
          </a:p>
          <a:p>
            <a:pPr>
              <a:lnSpc>
                <a:spcPct val="100%"/>
              </a:lnSpc>
            </a:pP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Historie se po skončení relace neodstraní. </a:t>
            </a:r>
          </a:p>
          <a:p>
            <a:pPr>
              <a:lnSpc>
                <a:spcPct val="100%"/>
              </a:lnSpc>
            </a:pP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Tato historie také nemůže být spravována rutinami </a:t>
            </a: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*-</a:t>
            </a:r>
            <a:r>
              <a:rPr kumimoji="0" lang="cs-CZ" altLang="cs-CZ" sz="2800" b="0" i="0" u="none" strike="noStrike" cap="none" normalizeH="0" baseline="0%" dirty="0" err="1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History</a:t>
            </a: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rgbClr val="161616"/>
                </a:solidFill>
                <a:effectLst/>
                <a:latin typeface="Maiandra GD" panose="020E0502030308020204" pitchFamily="34" charset="0"/>
                <a:cs typeface="Segoe UI" panose="020B0502040204020203" pitchFamily="34" charset="0"/>
              </a:rPr>
              <a:t> </a:t>
            </a:r>
            <a:r>
              <a:rPr kumimoji="0" lang="cs-CZ" altLang="cs-CZ" sz="2800" b="0" i="0" u="none" strike="noStrike" cap="none" normalizeH="0" baseline="0%" dirty="0">
                <a:ln>
                  <a:noFill/>
                </a:ln>
                <a:solidFill>
                  <a:schemeClr val="tx1"/>
                </a:solidFill>
                <a:effectLst/>
                <a:latin typeface="Maiandra GD" panose="020E0502030308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6912620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43D8B6-A22B-9CDB-94B3-6F4437A7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Rutiny historie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AD7AD7-1650-D9CC-B222-B7236030D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obsahuje sadu rutin, které spravují historii příkazů.</a:t>
            </a:r>
          </a:p>
          <a:p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7273EB28-F468-0287-EF21-8EA007689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7" y="3074984"/>
            <a:ext cx="9257173" cy="301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3617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2AB5D-8213-9AD0-8F17-C28C37C9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Klávesové</a:t>
            </a:r>
            <a:r>
              <a:rPr lang="de-DE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de-DE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zkratky</a:t>
            </a:r>
            <a:r>
              <a:rPr lang="de-DE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pro </a:t>
            </a:r>
            <a:r>
              <a:rPr lang="de-DE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správu</a:t>
            </a:r>
            <a:r>
              <a:rPr lang="de-DE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de-DE" b="1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historie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129F02-1C1F-BCBD-53B1-2BDEB724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60" y="2069502"/>
            <a:ext cx="10820400" cy="4024125"/>
          </a:xfrm>
        </p:spPr>
        <p:txBody>
          <a:bodyPr/>
          <a:lstStyle/>
          <a:p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V konzole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můžete ke správě historie příkazů použít následující klávesové zkratky.</a:t>
            </a:r>
          </a:p>
          <a:p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8DEEDA2-73E3-3D85-1996-5954A693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4320"/>
            <a:ext cx="7781452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43163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464665-6544-782F-57C3-BF2C5B93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Pořadí příkazů v historii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C9B37C-0539-2739-C430-1A8AEBA3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Příkazy se při dokončení provádění příkazu přidají do historie, ne při zadání příkazu. </a:t>
            </a:r>
          </a:p>
          <a:p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Pokud dokončení příkazů nějakou dobu trvá nebo pokud se příkazy spouští v vnořené výzvě, může se zdát, že příkazy nejsou v historii seřazené.</a:t>
            </a:r>
          </a:p>
          <a:p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Příkazy, které se spouštějí v vnořené výzvě, se dokončí jenom při ukončení úrovně výzvy.</a:t>
            </a:r>
            <a:endParaRPr lang="cs-CZ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31590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47866F-0D52-E152-9BD9-448DDF75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Automatizační platforma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1811F5-F71D-3DF7-ECF8-6B6EDB4A0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26640"/>
            <a:ext cx="10820400" cy="4165600"/>
          </a:xfrm>
        </p:spPr>
        <p:txBody>
          <a:bodyPr>
            <a:normAutofit/>
          </a:bodyPr>
          <a:lstStyle/>
          <a:p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Rozšiřitelná povaha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umožnila ekosystému modulů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nasadit a spravovat téměř všechny technologie, se kterými pracujeme. Příklad:</a:t>
            </a: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Microsoft</a:t>
            </a: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Azure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Windows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Exchange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SQL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Třetí strana</a:t>
            </a: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AWS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dirty="0" err="1">
                <a:solidFill>
                  <a:srgbClr val="161616"/>
                </a:solidFill>
                <a:latin typeface="Maiandra GD" panose="020E0502030308020204" pitchFamily="34" charset="0"/>
              </a:rPr>
              <a:t>Vmware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Google Cloud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762220"/>
      </p:ext>
    </p:extLst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8FA2E6-6E34-4FC3-4053-BA454728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Správa konfigurace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6BA7E4-6428-48E7-1C63-612E63127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Desired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State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Configuration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(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DSC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) je architektura pro správu v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, která umožňuje spravovat podnikovou infrastrukturu pomocí konfigurace jako kódu. S DSC můžete: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Vytváření deklarativních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konfigurací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a vlastních skriptů pro opakovatelná nasazení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Vynucení nastavení konfigurace a generování sestav o posunu konfigurace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Nasazení konfigurace pomocí modelů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nabízených oznámení nebo vyžádání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18291"/>
      </p:ext>
    </p:extLst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B4DE7-D138-AFBB-9112-B6B2BB99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Skriptovací jazyk</a:t>
            </a:r>
            <a:endParaRPr lang="cs-CZ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3B5897-D82F-5AAC-517F-89F9D6F3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33600"/>
            <a:ext cx="10820400" cy="4490720"/>
          </a:xfrm>
        </p:spPr>
        <p:txBody>
          <a:bodyPr>
            <a:normAutofit/>
          </a:bodyPr>
          <a:lstStyle/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Jako skriptovací jazyk se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běžně používá k automatizaci správy systémů.</a:t>
            </a: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Používá se také k sestavování, testování a nasazování řešení, často v prostředích CI/CD.</a:t>
            </a:r>
          </a:p>
          <a:p>
            <a:pPr algn="l"/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je založený na modulu CLR (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Common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Language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Runtime). </a:t>
            </a: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Všechny vstupy a výstupy jsou objekty .NET.</a:t>
            </a: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Pro extrahování informací z výstupu není nutné analyzovat textový výstup. </a:t>
            </a:r>
          </a:p>
          <a:p>
            <a:pPr algn="l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Skriptovací jazyk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zahrnuje následující funkce: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Rozšiřitelnost prostřednictvím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funkcí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,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tříd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,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skriptů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a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modulů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Rozšiřitelný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systém formátování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pro snadný výstup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Rozšiřitelný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systém typů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pro vytváření dynamických typů</a:t>
            </a:r>
          </a:p>
          <a:p>
            <a:pPr lvl="1"/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Integrovaná podpora běžných formátů dat, jako jsou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CSV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,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JSON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a </a:t>
            </a:r>
            <a:r>
              <a:rPr lang="cs-CZ" dirty="0">
                <a:solidFill>
                  <a:srgbClr val="161616"/>
                </a:solidFill>
                <a:latin typeface="Maiandra GD" panose="020E0502030308020204" pitchFamily="34" charset="0"/>
              </a:rPr>
              <a:t>XML</a:t>
            </a:r>
            <a:endParaRPr lang="cs-CZ" b="0" i="0" dirty="0">
              <a:solidFill>
                <a:srgbClr val="161616"/>
              </a:solidFill>
              <a:effectLst/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20406"/>
      </p:ext>
    </p:extLst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4309E2-B0BA-9197-1603-C116431D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Maiandra GD" panose="020E0502030308020204" pitchFamily="34" charset="0"/>
              </a:rPr>
              <a:t>Instalace </a:t>
            </a:r>
            <a:r>
              <a:rPr lang="cs-CZ" b="1" dirty="0" err="1">
                <a:latin typeface="Maiandra GD" panose="020E0502030308020204" pitchFamily="34" charset="0"/>
              </a:rPr>
              <a:t>powershellu</a:t>
            </a:r>
            <a:endParaRPr lang="cs-CZ" b="1" dirty="0">
              <a:latin typeface="Maiandra GD" panose="020E0502030308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969280-A6DB-16CB-4E83-8233FAA84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1363960" cy="4439920"/>
          </a:xfrm>
        </p:spPr>
        <p:txBody>
          <a:bodyPr>
            <a:normAutofit fontScale="92.5%"/>
          </a:bodyPr>
          <a:lstStyle/>
          <a:p>
            <a:pPr algn="l"/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můžete nainstalovat ve Windows několika způsoby. Každá metoda instalace je navržená tak, aby podporovala různé scénáře a pracovní postupy. Zvolte metodu, která nejlépe vyhovuje vašim potřebám.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 err="1">
                <a:solidFill>
                  <a:srgbClr val="161616"/>
                </a:solidFill>
                <a:latin typeface="Maiandra GD" panose="020E0502030308020204" pitchFamily="34" charset="0"/>
              </a:rPr>
              <a:t>Winget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– doporučený způsob instalace </a:t>
            </a:r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na klienty Windows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161616"/>
                </a:solidFill>
                <a:latin typeface="Maiandra GD" panose="020E0502030308020204" pitchFamily="34" charset="0"/>
              </a:rPr>
              <a:t>Balíček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MSI – Nejlepší volba pro scénáře nasazení </a:t>
            </a:r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windows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serverů a podnikových nasazení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161616"/>
                </a:solidFill>
                <a:latin typeface="Maiandra GD" panose="020E0502030308020204" pitchFamily="34" charset="0"/>
              </a:rPr>
              <a:t>Balíček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ZIP – Nejjednodušší způsob, jak "načíst na straně" nebo nainstalovat více verzí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Tuto metodu použijte pro systémy Windows Nano Server, Windows </a:t>
            </a:r>
            <a:r>
              <a:rPr lang="cs-CZ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IoT</a:t>
            </a:r>
            <a:r>
              <a:rPr lang="cs-CZ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a Arm.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161616"/>
                </a:solidFill>
                <a:latin typeface="Maiandra GD" panose="020E0502030308020204" pitchFamily="34" charset="0"/>
              </a:rPr>
              <a:t>Nástroj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.NET </a:t>
            </a:r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Global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 – dobrá volba pro vývojáře .NET, kteří instalují a používají další globální nástroje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161616"/>
                </a:solidFill>
                <a:latin typeface="Maiandra GD" panose="020E0502030308020204" pitchFamily="34" charset="0"/>
              </a:rPr>
              <a:t>Balíček Microsoft </a:t>
            </a:r>
            <a:r>
              <a:rPr lang="cs-CZ" sz="2400" dirty="0" err="1">
                <a:solidFill>
                  <a:srgbClr val="161616"/>
                </a:solidFill>
                <a:latin typeface="Maiandra GD" panose="020E0502030308020204" pitchFamily="34" charset="0"/>
              </a:rPr>
              <a:t>Storu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 – snadný způsob instalace pro neformální uživatele </a:t>
            </a:r>
            <a:r>
              <a:rPr lang="cs-CZ" sz="2400" b="0" i="0" dirty="0" err="1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PowerShellu</a:t>
            </a:r>
            <a:r>
              <a:rPr lang="cs-CZ" sz="2400" b="0" i="0" dirty="0">
                <a:solidFill>
                  <a:srgbClr val="161616"/>
                </a:solidFill>
                <a:effectLst/>
                <a:latin typeface="Maiandra GD" panose="020E0502030308020204" pitchFamily="34" charset="0"/>
              </a:rPr>
              <a:t>, ale má omezení</a:t>
            </a:r>
          </a:p>
        </p:txBody>
      </p:sp>
    </p:spTree>
    <p:extLst>
      <p:ext uri="{BB962C8B-B14F-4D97-AF65-F5344CB8AC3E}">
        <p14:creationId xmlns:p14="http://schemas.microsoft.com/office/powerpoint/2010/main" val="1716786662"/>
      </p:ext>
    </p:extLst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 is Windows PowerShell%3F An Introduction">
            <a:hlinkClick r:id="" action="ppaction://media"/>
            <a:extLst>
              <a:ext uri="{FF2B5EF4-FFF2-40B4-BE49-F238E27FC236}">
                <a16:creationId xmlns:a16="http://schemas.microsoft.com/office/drawing/2014/main" id="{2A5FA5EB-97B5-689F-1423-ECEC685B540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494"/>
          </a:xfrm>
        </p:spPr>
      </p:pic>
    </p:spTree>
    <p:extLst>
      <p:ext uri="{BB962C8B-B14F-4D97-AF65-F5344CB8AC3E}">
        <p14:creationId xmlns:p14="http://schemas.microsoft.com/office/powerpoint/2010/main" val="22877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89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%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F97B5B-2248-384B-3BD8-9153AA129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Maiandra GD" panose="020E0502030308020204" pitchFamily="34" charset="0"/>
              </a:rPr>
              <a:t>Děkuju za pozornost</a:t>
            </a:r>
          </a:p>
        </p:txBody>
      </p:sp>
      <p:pic>
        <p:nvPicPr>
          <p:cNvPr id="4" name="Obrázek 3" descr="Obsah obrázku snímek obrazovky, Grafika, Elektricky modrá, symbol&#10;&#10;Popis byl vytvořen automaticky">
            <a:extLst>
              <a:ext uri="{FF2B5EF4-FFF2-40B4-BE49-F238E27FC236}">
                <a16:creationId xmlns:a16="http://schemas.microsoft.com/office/drawing/2014/main" id="{A9401DD1-BE2D-CE92-932F-798A423F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1610360"/>
            <a:ext cx="5029200" cy="502920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E414E1C-57BC-8780-E169-62B3208F7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442" y="2057401"/>
            <a:ext cx="3850638" cy="385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719451"/>
      </p:ext>
    </p:extLst>
  </p:cSld>
  <p:clrMapOvr>
    <a:masterClrMapping/>
  </p:clrMapOvr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6BA56-1329-8D87-9EF5-142D631A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Maiandra GD" panose="020E0502030308020204" pitchFamily="34" charset="0"/>
              </a:rPr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64DB2A-4B1E-E8E5-26B9-E259E2F45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Maiandra GD" panose="020E0502030308020204" pitchFamily="34" charset="0"/>
                <a:hlinkClick r:id="rId2"/>
              </a:rPr>
              <a:t>https://www.youtube.com/watch?v=rtyXJC6RdpA&amp;ab_channel=EyeonTech</a:t>
            </a:r>
            <a:endParaRPr lang="cs-CZ" dirty="0">
              <a:latin typeface="Maiandra GD" panose="020E0502030308020204" pitchFamily="34" charset="0"/>
            </a:endParaRPr>
          </a:p>
          <a:p>
            <a:r>
              <a:rPr lang="cs-CZ" dirty="0">
                <a:latin typeface="Maiandra GD" panose="020E0502030308020204" pitchFamily="34" charset="0"/>
                <a:hlinkClick r:id="rId3"/>
              </a:rPr>
              <a:t>https://learn.microsoft.com/cs-cz/powershell/scripting/install/installing-powershell-on-windows?view=powershell-7.4</a:t>
            </a:r>
            <a:endParaRPr lang="cs-CZ" dirty="0">
              <a:latin typeface="Maiandra GD" panose="020E0502030308020204" pitchFamily="34" charset="0"/>
            </a:endParaRPr>
          </a:p>
          <a:p>
            <a:r>
              <a:rPr lang="cs-CZ" dirty="0">
                <a:latin typeface="Maiandra GD" panose="020E0502030308020204" pitchFamily="34" charset="0"/>
                <a:hlinkClick r:id="rId4"/>
              </a:rPr>
              <a:t>https://learn.microsoft.com/cs-cz/powershell/scripting/overview?view=powershell-7.4</a:t>
            </a:r>
            <a:endParaRPr lang="cs-CZ" dirty="0">
              <a:latin typeface="Maiandra GD" panose="020E0502030308020204" pitchFamily="34" charset="0"/>
            </a:endParaRPr>
          </a:p>
          <a:p>
            <a:r>
              <a:rPr lang="cs-CZ" dirty="0">
                <a:latin typeface="Maiandra GD" panose="020E0502030308020204" pitchFamily="34" charset="0"/>
                <a:hlinkClick r:id="rId5"/>
              </a:rPr>
              <a:t>https://learn.microsoft.com/cs-cz/powershell/module/microsoft.powershell.core/about/about_history?view=powershell-7.4</a:t>
            </a:r>
            <a:endParaRPr lang="cs-CZ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02242"/>
      </p:ext>
    </p:extLst>
  </p:cSld>
  <p:clrMapOvr>
    <a:masterClrMapping/>
  </p:clrMapOvr>
</p:sld>
</file>

<file path=ppt/theme/theme1.xml><?xml version="1.0" encoding="utf-8"?>
<a:theme xmlns:a="http://purl.oclc.org/ooxml/drawingml/main" name="Kondenzační stopa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%">
              <a:schemeClr val="phClr">
                <a:tint val="69%"/>
                <a:alpha val="100%"/>
                <a:satMod val="109%"/>
                <a:lumMod val="110%"/>
              </a:schemeClr>
            </a:gs>
            <a:gs pos="52%">
              <a:schemeClr val="phClr">
                <a:tint val="74%"/>
                <a:satMod val="100%"/>
                <a:lumMod val="104%"/>
              </a:schemeClr>
            </a:gs>
            <a:gs pos="100%">
              <a:schemeClr val="phClr">
                <a:tint val="78%"/>
                <a:satMod val="100%"/>
                <a:lumMod val="100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tint val="96%"/>
                <a:satMod val="100%"/>
                <a:lumMod val="104%"/>
              </a:schemeClr>
            </a:gs>
            <a:gs pos="78%">
              <a:schemeClr val="phClr">
                <a:shade val="100%"/>
                <a:satMod val="110%"/>
                <a:lumMod val="100%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%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hade val="98%"/>
                <a:satMod val="150%"/>
                <a:lumMod val="102%"/>
              </a:schemeClr>
            </a:gs>
            <a:gs pos="50%">
              <a:schemeClr val="phClr">
                <a:tint val="98%"/>
                <a:shade val="90%"/>
                <a:satMod val="13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TM04033937[[fn=Kondenzační stopa]]</Template>
  <TotalTime>50</TotalTime>
  <Words>754</Words>
  <Application>Microsoft Office PowerPoint</Application>
  <PresentationFormat>Širokoúhlá obrazovka</PresentationFormat>
  <Paragraphs>77</Paragraphs>
  <Slides>15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Maiandra GD</vt:lpstr>
      <vt:lpstr>Kondenzační stopa</vt:lpstr>
      <vt:lpstr>PowerShell</vt:lpstr>
      <vt:lpstr>Co to je?</vt:lpstr>
      <vt:lpstr>Prostředí příkazového řádku</vt:lpstr>
      <vt:lpstr>Historie</vt:lpstr>
      <vt:lpstr>Použití historie psReadLine</vt:lpstr>
      <vt:lpstr>Rutiny historie</vt:lpstr>
      <vt:lpstr>Klávesové zkratky pro správu historie</vt:lpstr>
      <vt:lpstr>Pořadí příkazů v historii</vt:lpstr>
      <vt:lpstr>Automatizační platforma</vt:lpstr>
      <vt:lpstr>Správa konfigurace</vt:lpstr>
      <vt:lpstr>Skriptovací jazyk</vt:lpstr>
      <vt:lpstr>Instalace powershellu</vt:lpstr>
      <vt:lpstr>Prezentace aplikace PowerPoint</vt:lpstr>
      <vt:lpstr>Děkuju za pozornost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purl.oclc.org/ooxml/officeDocument/customProperties" xmlns:vt="http://purl.oclc.org/ooxml/officeDocument/docPropsVTypes"/>
</file>