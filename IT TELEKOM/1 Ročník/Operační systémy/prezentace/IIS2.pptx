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onsolas Bold" panose="020B0709020204030204" pitchFamily="49" charset="0"/>
      <p:regular r:id="rId17"/>
      <p:bold r:id="rId18"/>
    </p:embeddedFont>
    <p:embeddedFont>
      <p:font typeface="Now" panose="020B0604020202020204" charset="-18"/>
      <p:regular r:id="rId19"/>
    </p:embeddedFont>
    <p:embeddedFont>
      <p:font typeface="Now Bold" panose="020B0604020202020204" charset="-18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05017" y="3227387"/>
            <a:ext cx="11677967" cy="3698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spc="195">
                <a:solidFill>
                  <a:srgbClr val="404040"/>
                </a:solidFill>
                <a:latin typeface="Now Bold"/>
              </a:rPr>
              <a:t>INTERNET INFORMATION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65505" y="1392542"/>
            <a:ext cx="3059230" cy="3059230"/>
          </a:xfrm>
          <a:custGeom>
            <a:avLst/>
            <a:gdLst/>
            <a:ahLst/>
            <a:cxnLst/>
            <a:rect l="l" t="t" r="r" b="b"/>
            <a:pathLst>
              <a:path w="3059230" h="3059230">
                <a:moveTo>
                  <a:pt x="0" y="0"/>
                </a:moveTo>
                <a:lnTo>
                  <a:pt x="3059230" y="0"/>
                </a:lnTo>
                <a:lnTo>
                  <a:pt x="3059230" y="3059231"/>
                </a:lnTo>
                <a:lnTo>
                  <a:pt x="0" y="3059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>
            <a:off x="6704205" y="1392542"/>
            <a:ext cx="3059230" cy="3059230"/>
          </a:xfrm>
          <a:custGeom>
            <a:avLst/>
            <a:gdLst/>
            <a:ahLst/>
            <a:cxnLst/>
            <a:rect l="l" t="t" r="r" b="b"/>
            <a:pathLst>
              <a:path w="3059230" h="3059230">
                <a:moveTo>
                  <a:pt x="0" y="0"/>
                </a:moveTo>
                <a:lnTo>
                  <a:pt x="3059230" y="0"/>
                </a:lnTo>
                <a:lnTo>
                  <a:pt x="3059230" y="3059231"/>
                </a:lnTo>
                <a:lnTo>
                  <a:pt x="0" y="3059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Freeform 4"/>
          <p:cNvSpPr/>
          <p:nvPr/>
        </p:nvSpPr>
        <p:spPr>
          <a:xfrm>
            <a:off x="12091026" y="51435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5" name="TextBox 5"/>
          <p:cNvSpPr txBox="1"/>
          <p:nvPr/>
        </p:nvSpPr>
        <p:spPr>
          <a:xfrm>
            <a:off x="1028700" y="7608635"/>
            <a:ext cx="8884676" cy="122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37"/>
              </a:lnSpc>
              <a:spcBef>
                <a:spcPct val="0"/>
              </a:spcBef>
            </a:pPr>
            <a:r>
              <a:rPr lang="en-US" sz="7899">
                <a:solidFill>
                  <a:srgbClr val="404040"/>
                </a:solidFill>
                <a:latin typeface="Now Bold"/>
              </a:rPr>
              <a:t>ÚVOD DO IIS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606276"/>
            <a:ext cx="6752046" cy="1079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2"/>
              </a:lnSpc>
            </a:pPr>
            <a:r>
              <a:rPr lang="en-US" sz="2395">
                <a:solidFill>
                  <a:srgbClr val="000000"/>
                </a:solidFill>
                <a:latin typeface="Now"/>
              </a:rPr>
              <a:t>Internet Information Services (IIS) je webový server vyvinutý společností Microsoft pro hostování webových aplikací a služeb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42905" y="2181666"/>
            <a:ext cx="5011042" cy="147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8"/>
              </a:lnSpc>
            </a:pPr>
            <a:r>
              <a:rPr lang="en-US" sz="2400">
                <a:solidFill>
                  <a:srgbClr val="000000"/>
                </a:solidFill>
                <a:latin typeface="Now"/>
              </a:rPr>
              <a:t>Jako základní prvek Windows Serveru poskytuje IIS robustní platformu pro nasazení a správu webových aplikací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6299" y="343489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>
            <a:off x="10773722" y="6209170"/>
            <a:ext cx="2930456" cy="3343881"/>
          </a:xfrm>
          <a:custGeom>
            <a:avLst/>
            <a:gdLst/>
            <a:ahLst/>
            <a:cxnLst/>
            <a:rect l="l" t="t" r="r" b="b"/>
            <a:pathLst>
              <a:path w="2930456" h="3343881">
                <a:moveTo>
                  <a:pt x="0" y="0"/>
                </a:moveTo>
                <a:lnTo>
                  <a:pt x="2930456" y="0"/>
                </a:lnTo>
                <a:lnTo>
                  <a:pt x="2930456" y="3343881"/>
                </a:lnTo>
                <a:lnTo>
                  <a:pt x="0" y="33438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2951660" y="1608800"/>
            <a:ext cx="12384681" cy="98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775"/>
              </a:lnSpc>
              <a:spcBef>
                <a:spcPct val="0"/>
              </a:spcBef>
            </a:pPr>
            <a:r>
              <a:rPr lang="en-US" sz="6373">
                <a:solidFill>
                  <a:srgbClr val="404040"/>
                </a:solidFill>
                <a:latin typeface="Now Bold"/>
              </a:rPr>
              <a:t>VÝZNAM IIS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29646" y="2833276"/>
            <a:ext cx="6085849" cy="2941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13"/>
              </a:lnSpc>
            </a:pPr>
            <a:r>
              <a:rPr lang="en-US" sz="2388">
                <a:solidFill>
                  <a:srgbClr val="000000"/>
                </a:solidFill>
                <a:latin typeface="Now"/>
              </a:rPr>
              <a:t>Poskytuje hostování webových aplikací a také široké možnosti konfigurace a správy</a:t>
            </a:r>
          </a:p>
          <a:p>
            <a:pPr>
              <a:lnSpc>
                <a:spcPts val="2913"/>
              </a:lnSpc>
            </a:pPr>
            <a:endParaRPr lang="en-US" sz="2388">
              <a:solidFill>
                <a:srgbClr val="000000"/>
              </a:solidFill>
              <a:latin typeface="Now"/>
            </a:endParaRPr>
          </a:p>
          <a:p>
            <a:pPr>
              <a:lnSpc>
                <a:spcPts val="2913"/>
              </a:lnSpc>
            </a:pPr>
            <a:r>
              <a:rPr lang="en-US" sz="2388">
                <a:solidFill>
                  <a:srgbClr val="000000"/>
                </a:solidFill>
                <a:latin typeface="Now"/>
              </a:rPr>
              <a:t>IIS je klíčovým prvkem infrastruktury IT v mnoha organizacích, zejména v oblasti internetových služeb, e-commerce a interních webových aplikací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7575" y="8382330"/>
            <a:ext cx="5279617" cy="538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3"/>
              </a:lnSpc>
              <a:spcBef>
                <a:spcPct val="0"/>
              </a:spcBef>
            </a:pPr>
            <a:r>
              <a:rPr lang="en-US" sz="1740">
                <a:solidFill>
                  <a:srgbClr val="000000"/>
                </a:solidFill>
                <a:latin typeface="Now"/>
              </a:rPr>
              <a:t>JE SOUČÁSTÍ OPERAČNÍHO SYSTÉMU WINDOWS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83493" y="3028412"/>
            <a:ext cx="6004108" cy="5185366"/>
          </a:xfrm>
          <a:custGeom>
            <a:avLst/>
            <a:gdLst/>
            <a:ahLst/>
            <a:cxnLst/>
            <a:rect l="l" t="t" r="r" b="b"/>
            <a:pathLst>
              <a:path w="6004108" h="5185366">
                <a:moveTo>
                  <a:pt x="0" y="0"/>
                </a:moveTo>
                <a:lnTo>
                  <a:pt x="6004109" y="0"/>
                </a:lnTo>
                <a:lnTo>
                  <a:pt x="6004109" y="5185366"/>
                </a:lnTo>
                <a:lnTo>
                  <a:pt x="0" y="51853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TextBox 3"/>
          <p:cNvSpPr txBox="1"/>
          <p:nvPr/>
        </p:nvSpPr>
        <p:spPr>
          <a:xfrm>
            <a:off x="1028700" y="3437747"/>
            <a:ext cx="5905758" cy="1096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697"/>
              </a:lnSpc>
              <a:spcBef>
                <a:spcPct val="0"/>
              </a:spcBef>
            </a:pPr>
            <a:r>
              <a:rPr lang="en-US" sz="7129">
                <a:solidFill>
                  <a:srgbClr val="404040"/>
                </a:solidFill>
                <a:latin typeface="Now Bold"/>
              </a:rPr>
              <a:t>HISTORIE IIS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6011" y="5322401"/>
            <a:ext cx="5838447" cy="2472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7"/>
              </a:lnSpc>
            </a:pPr>
            <a:r>
              <a:rPr lang="en-US" sz="2309">
                <a:solidFill>
                  <a:srgbClr val="000000"/>
                </a:solidFill>
                <a:latin typeface="Now"/>
              </a:rPr>
              <a:t>Historie IIS sahá až do 90. let, kdy byl poprvé začleněn do operačního systému Windows NT</a:t>
            </a:r>
          </a:p>
          <a:p>
            <a:pPr>
              <a:lnSpc>
                <a:spcPts val="2817"/>
              </a:lnSpc>
            </a:pPr>
            <a:endParaRPr lang="en-US" sz="2309">
              <a:solidFill>
                <a:srgbClr val="000000"/>
              </a:solidFill>
              <a:latin typeface="Now"/>
            </a:endParaRPr>
          </a:p>
          <a:p>
            <a:pPr>
              <a:lnSpc>
                <a:spcPts val="2817"/>
              </a:lnSpc>
            </a:pPr>
            <a:r>
              <a:rPr lang="en-US" sz="2309">
                <a:solidFill>
                  <a:srgbClr val="000000"/>
                </a:solidFill>
                <a:latin typeface="Now"/>
              </a:rPr>
              <a:t>Postupně se vyvíjel a integroval s různými verzemi Windows Server, přinášející nové funkce a vylepšení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471712"/>
            <a:ext cx="6336608" cy="918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9"/>
              </a:lnSpc>
              <a:spcBef>
                <a:spcPct val="0"/>
              </a:spcBef>
            </a:pPr>
            <a:r>
              <a:rPr lang="en-US" sz="5868">
                <a:solidFill>
                  <a:srgbClr val="404040"/>
                </a:solidFill>
                <a:latin typeface="Now Bold"/>
              </a:rPr>
              <a:t>VERZE IIS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60435" y="1336807"/>
            <a:ext cx="12503882" cy="76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2259" lvl="1" indent="-281129">
              <a:lnSpc>
                <a:spcPts val="3177"/>
              </a:lnSpc>
              <a:buFont typeface="Arial"/>
              <a:buChar char="•"/>
            </a:pPr>
            <a:r>
              <a:rPr lang="en-US" sz="2604">
                <a:solidFill>
                  <a:srgbClr val="404040"/>
                </a:solidFill>
                <a:latin typeface="Now Bold"/>
              </a:rPr>
              <a:t>IIS 1.0</a:t>
            </a:r>
            <a:r>
              <a:rPr lang="en-US" sz="2604">
                <a:solidFill>
                  <a:srgbClr val="404040"/>
                </a:solidFill>
                <a:latin typeface="Now"/>
              </a:rPr>
              <a:t>: První verze IIS, uvedená v roce 1995 s Windows NT 3.51. Podporovala základní webové služby a ASP</a:t>
            </a:r>
          </a:p>
          <a:p>
            <a:pPr marL="562259" lvl="1" indent="-281129">
              <a:lnSpc>
                <a:spcPts val="3177"/>
              </a:lnSpc>
              <a:buFont typeface="Arial"/>
              <a:buChar char="•"/>
            </a:pPr>
            <a:r>
              <a:rPr lang="en-US" sz="2604">
                <a:solidFill>
                  <a:srgbClr val="404040"/>
                </a:solidFill>
                <a:latin typeface="Now Bold"/>
              </a:rPr>
              <a:t>IIS 4.0</a:t>
            </a:r>
            <a:r>
              <a:rPr lang="en-US" sz="2604">
                <a:solidFill>
                  <a:srgbClr val="404040"/>
                </a:solidFill>
                <a:latin typeface="Now"/>
              </a:rPr>
              <a:t>: Součást Windows NT 4.0, přidal pokročilé funkce jako podpora pro Active Server Pages (ASP), integraci s NTFS a možnost rozšíření pomocí ISAPI</a:t>
            </a:r>
          </a:p>
          <a:p>
            <a:pPr marL="562259" lvl="1" indent="-281129">
              <a:lnSpc>
                <a:spcPts val="3177"/>
              </a:lnSpc>
              <a:buFont typeface="Arial"/>
              <a:buChar char="•"/>
            </a:pPr>
            <a:r>
              <a:rPr lang="en-US" sz="2604">
                <a:solidFill>
                  <a:srgbClr val="404040"/>
                </a:solidFill>
                <a:latin typeface="Now Bold"/>
              </a:rPr>
              <a:t>IIS 5.0</a:t>
            </a:r>
            <a:r>
              <a:rPr lang="en-US" sz="2604">
                <a:solidFill>
                  <a:srgbClr val="404040"/>
                </a:solidFill>
                <a:latin typeface="Now"/>
              </a:rPr>
              <a:t>: Součást Windows 2000 Server, přidal vylepšenou podporu pro ASP, integraci s Active Directory a možnost použití SSL</a:t>
            </a:r>
          </a:p>
          <a:p>
            <a:pPr marL="562259" lvl="1" indent="-281129">
              <a:lnSpc>
                <a:spcPts val="3177"/>
              </a:lnSpc>
              <a:buFont typeface="Arial"/>
              <a:buChar char="•"/>
            </a:pPr>
            <a:r>
              <a:rPr lang="en-US" sz="2604">
                <a:solidFill>
                  <a:srgbClr val="404040"/>
                </a:solidFill>
                <a:latin typeface="Now Bold"/>
              </a:rPr>
              <a:t>IIS 6.0</a:t>
            </a:r>
            <a:r>
              <a:rPr lang="en-US" sz="2604">
                <a:solidFill>
                  <a:srgbClr val="404040"/>
                </a:solidFill>
                <a:latin typeface="Now"/>
              </a:rPr>
              <a:t>: Uveden s Windows Server 2003, přinesl významné zlepšení výkonu, bezpečnosti a správy serveru</a:t>
            </a:r>
          </a:p>
          <a:p>
            <a:pPr marL="562259" lvl="1" indent="-281129">
              <a:lnSpc>
                <a:spcPts val="3177"/>
              </a:lnSpc>
              <a:buFont typeface="Arial"/>
              <a:buChar char="•"/>
            </a:pPr>
            <a:r>
              <a:rPr lang="en-US" sz="2604">
                <a:solidFill>
                  <a:srgbClr val="404040"/>
                </a:solidFill>
                <a:latin typeface="Now Bold"/>
              </a:rPr>
              <a:t>IIS 7.0</a:t>
            </a:r>
            <a:r>
              <a:rPr lang="en-US" sz="2604">
                <a:solidFill>
                  <a:srgbClr val="404040"/>
                </a:solidFill>
                <a:latin typeface="Now"/>
              </a:rPr>
              <a:t>: Část Windows Server 2008, zavedl Integrated Pipeline Mode, zjednodušené konfigurace a lepší správu</a:t>
            </a:r>
          </a:p>
          <a:p>
            <a:pPr marL="562259" lvl="1" indent="-281129">
              <a:lnSpc>
                <a:spcPts val="3177"/>
              </a:lnSpc>
              <a:buFont typeface="Arial"/>
              <a:buChar char="•"/>
            </a:pPr>
            <a:r>
              <a:rPr lang="en-US" sz="2604">
                <a:solidFill>
                  <a:srgbClr val="404040"/>
                </a:solidFill>
                <a:latin typeface="Now Bold"/>
              </a:rPr>
              <a:t>IIS 8.0</a:t>
            </a:r>
            <a:r>
              <a:rPr lang="en-US" sz="2604">
                <a:solidFill>
                  <a:srgbClr val="404040"/>
                </a:solidFill>
                <a:latin typeface="Now"/>
              </a:rPr>
              <a:t>: Součást Windows Server 2012, přinesl podporu pro WebSockets, Dynamic IP Restriction a další vylepšení výkonu a bezpečnosti</a:t>
            </a:r>
          </a:p>
          <a:p>
            <a:pPr marL="562259" lvl="1" indent="-281129">
              <a:lnSpc>
                <a:spcPts val="3177"/>
              </a:lnSpc>
              <a:buFont typeface="Arial"/>
              <a:buChar char="•"/>
            </a:pPr>
            <a:r>
              <a:rPr lang="en-US" sz="2604">
                <a:solidFill>
                  <a:srgbClr val="404040"/>
                </a:solidFill>
                <a:latin typeface="Now Bold"/>
              </a:rPr>
              <a:t>IIS 8.5</a:t>
            </a:r>
            <a:r>
              <a:rPr lang="en-US" sz="2604">
                <a:solidFill>
                  <a:srgbClr val="404040"/>
                </a:solidFill>
                <a:latin typeface="Now"/>
              </a:rPr>
              <a:t>: Vylepšení verze IIS 8.0, která byla součástí Windows Server 2012 R2, přidala například Automatic Application Initialization a Dynamic Site Activation</a:t>
            </a:r>
          </a:p>
          <a:p>
            <a:pPr marL="562259" lvl="1" indent="-281129">
              <a:lnSpc>
                <a:spcPts val="3177"/>
              </a:lnSpc>
              <a:buFont typeface="Arial"/>
              <a:buChar char="•"/>
            </a:pPr>
            <a:r>
              <a:rPr lang="en-US" sz="2604">
                <a:solidFill>
                  <a:srgbClr val="404040"/>
                </a:solidFill>
                <a:latin typeface="Now Bold"/>
              </a:rPr>
              <a:t>IIS 10.0</a:t>
            </a:r>
            <a:r>
              <a:rPr lang="en-US" sz="2604">
                <a:solidFill>
                  <a:srgbClr val="404040"/>
                </a:solidFill>
                <a:latin typeface="Now"/>
              </a:rPr>
              <a:t>: Uveden s Windows Server 2016, přinesl podporu pro HTTP, vylepšení výkonu a bezpečnosti, a zjednodušenou správu</a:t>
            </a:r>
          </a:p>
          <a:p>
            <a:pPr>
              <a:lnSpc>
                <a:spcPts val="3177"/>
              </a:lnSpc>
              <a:spcBef>
                <a:spcPct val="0"/>
              </a:spcBef>
            </a:pPr>
            <a:endParaRPr lang="en-US" sz="2604">
              <a:solidFill>
                <a:srgbClr val="404040"/>
              </a:solidFill>
              <a:latin typeface="N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03732" y="1603099"/>
            <a:ext cx="3365367" cy="3365367"/>
          </a:xfrm>
          <a:custGeom>
            <a:avLst/>
            <a:gdLst/>
            <a:ahLst/>
            <a:cxnLst/>
            <a:rect l="l" t="t" r="r" b="b"/>
            <a:pathLst>
              <a:path w="3365367" h="3365367">
                <a:moveTo>
                  <a:pt x="0" y="0"/>
                </a:moveTo>
                <a:lnTo>
                  <a:pt x="3365367" y="0"/>
                </a:lnTo>
                <a:lnTo>
                  <a:pt x="3365367" y="3365367"/>
                </a:lnTo>
                <a:lnTo>
                  <a:pt x="0" y="3365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>
            <a:off x="3139743" y="1898976"/>
            <a:ext cx="3643498" cy="2773613"/>
          </a:xfrm>
          <a:custGeom>
            <a:avLst/>
            <a:gdLst/>
            <a:ahLst/>
            <a:cxnLst/>
            <a:rect l="l" t="t" r="r" b="b"/>
            <a:pathLst>
              <a:path w="3643498" h="2773613">
                <a:moveTo>
                  <a:pt x="0" y="0"/>
                </a:moveTo>
                <a:lnTo>
                  <a:pt x="3643498" y="0"/>
                </a:lnTo>
                <a:lnTo>
                  <a:pt x="3643498" y="2773613"/>
                </a:lnTo>
                <a:lnTo>
                  <a:pt x="0" y="2773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1028700" y="7688031"/>
            <a:ext cx="6871779" cy="9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99"/>
              </a:lnSpc>
            </a:pPr>
            <a:r>
              <a:rPr lang="en-US" sz="2048">
                <a:solidFill>
                  <a:srgbClr val="000000"/>
                </a:solidFill>
                <a:latin typeface="Now"/>
              </a:rPr>
              <a:t>IIS se skládá z několika klíčových komponent, včetně World Wide Web (WWW) služby, FTP služby a SMTP služby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02682" y="7718123"/>
            <a:ext cx="6698406" cy="61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36"/>
              </a:lnSpc>
            </a:pPr>
            <a:r>
              <a:rPr lang="en-US" sz="1997">
                <a:solidFill>
                  <a:srgbClr val="000000"/>
                </a:solidFill>
                <a:latin typeface="Now"/>
              </a:rPr>
              <a:t>Modulární architektura umožňuje flexibilní konfiguraci a integraci s různými technologiemi a frameworky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526" y="5800117"/>
            <a:ext cx="11038107" cy="1246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760"/>
              </a:lnSpc>
              <a:spcBef>
                <a:spcPct val="0"/>
              </a:spcBef>
            </a:pPr>
            <a:r>
              <a:rPr lang="en-US" sz="8000">
                <a:solidFill>
                  <a:srgbClr val="404040"/>
                </a:solidFill>
                <a:latin typeface="Now Bold"/>
              </a:rPr>
              <a:t>ARCHITEKTURA IIS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4771" y="341061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 rot="2618229">
            <a:off x="10522961" y="6052276"/>
            <a:ext cx="2985100" cy="4114800"/>
          </a:xfrm>
          <a:custGeom>
            <a:avLst/>
            <a:gdLst/>
            <a:ahLst/>
            <a:cxnLst/>
            <a:rect l="l" t="t" r="r" b="b"/>
            <a:pathLst>
              <a:path w="2985100" h="4114800">
                <a:moveTo>
                  <a:pt x="0" y="0"/>
                </a:moveTo>
                <a:lnTo>
                  <a:pt x="2985100" y="0"/>
                </a:lnTo>
                <a:lnTo>
                  <a:pt x="29851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2951660" y="1608800"/>
            <a:ext cx="12384681" cy="98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775"/>
              </a:lnSpc>
              <a:spcBef>
                <a:spcPct val="0"/>
              </a:spcBef>
            </a:pPr>
            <a:r>
              <a:rPr lang="en-US" sz="6373">
                <a:solidFill>
                  <a:srgbClr val="404040"/>
                </a:solidFill>
                <a:latin typeface="Now Bold"/>
              </a:rPr>
              <a:t>BEZPEČNOSTNÍ ASPEKTY V IIS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15153" y="4019587"/>
            <a:ext cx="6085849" cy="1472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13"/>
              </a:lnSpc>
            </a:pPr>
            <a:r>
              <a:rPr lang="en-US" sz="2388">
                <a:solidFill>
                  <a:srgbClr val="000000"/>
                </a:solidFill>
                <a:latin typeface="Now"/>
              </a:rPr>
              <a:t> IIS poskytuje širokou škálu možností pro zajištění bezpečnosti webových aplikací, včetně různých metod autentizace a autorizace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7575" y="8382330"/>
            <a:ext cx="5279617" cy="80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23"/>
              </a:lnSpc>
              <a:spcBef>
                <a:spcPct val="0"/>
              </a:spcBef>
            </a:pPr>
            <a:r>
              <a:rPr lang="en-US" sz="1740">
                <a:solidFill>
                  <a:srgbClr val="000000"/>
                </a:solidFill>
                <a:latin typeface="Now"/>
              </a:rPr>
              <a:t>ZABEZPEČENÍ KOMUNIKACE POMOCÍ PROTOKOLŮ SSL/TLS JE DŮLEŽITÝM PRVKEM OCHRANY DAT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50146" y="2018906"/>
            <a:ext cx="2376297" cy="4114800"/>
          </a:xfrm>
          <a:custGeom>
            <a:avLst/>
            <a:gdLst/>
            <a:ahLst/>
            <a:cxnLst/>
            <a:rect l="l" t="t" r="r" b="b"/>
            <a:pathLst>
              <a:path w="2376297" h="4114800">
                <a:moveTo>
                  <a:pt x="0" y="0"/>
                </a:moveTo>
                <a:lnTo>
                  <a:pt x="2376297" y="0"/>
                </a:lnTo>
                <a:lnTo>
                  <a:pt x="23762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>
            <a:off x="12467931" y="2442487"/>
            <a:ext cx="4522682" cy="3267638"/>
          </a:xfrm>
          <a:custGeom>
            <a:avLst/>
            <a:gdLst/>
            <a:ahLst/>
            <a:cxnLst/>
            <a:rect l="l" t="t" r="r" b="b"/>
            <a:pathLst>
              <a:path w="4522682" h="3267638">
                <a:moveTo>
                  <a:pt x="0" y="0"/>
                </a:moveTo>
                <a:lnTo>
                  <a:pt x="4522682" y="0"/>
                </a:lnTo>
                <a:lnTo>
                  <a:pt x="4522682" y="3267638"/>
                </a:lnTo>
                <a:lnTo>
                  <a:pt x="0" y="3267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1028700" y="4412796"/>
            <a:ext cx="5942170" cy="3432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89"/>
              </a:lnSpc>
              <a:spcBef>
                <a:spcPct val="0"/>
              </a:spcBef>
            </a:pPr>
            <a:r>
              <a:rPr lang="en-US" sz="7368">
                <a:solidFill>
                  <a:srgbClr val="404040"/>
                </a:solidFill>
                <a:latin typeface="Now Bold"/>
              </a:rPr>
              <a:t>VÝKON A ŠKÁLOVATELNOST V IIS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61470" y="7055717"/>
            <a:ext cx="3620085" cy="1235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61"/>
              </a:lnSpc>
            </a:pPr>
            <a:r>
              <a:rPr lang="en-US" sz="2017">
                <a:solidFill>
                  <a:srgbClr val="000000"/>
                </a:solidFill>
                <a:latin typeface="Now"/>
              </a:rPr>
              <a:t>Optimalizace výkonu IIS zahrnuje využití caching mechanismů, komprese dat a dalších technik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7495" y="7071998"/>
            <a:ext cx="3620085" cy="1235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61"/>
              </a:lnSpc>
            </a:pPr>
            <a:r>
              <a:rPr lang="en-US" sz="2017">
                <a:solidFill>
                  <a:srgbClr val="000000"/>
                </a:solidFill>
                <a:latin typeface="Now"/>
              </a:rPr>
              <a:t>Škálovatelnost je dosažena prostřednictvím konfigurace farmy IIS serverů a load balancingu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300266"/>
            <a:ext cx="3672567" cy="3004827"/>
          </a:xfrm>
          <a:custGeom>
            <a:avLst/>
            <a:gdLst/>
            <a:ahLst/>
            <a:cxnLst/>
            <a:rect l="l" t="t" r="r" b="b"/>
            <a:pathLst>
              <a:path w="3672567" h="3004827">
                <a:moveTo>
                  <a:pt x="0" y="0"/>
                </a:moveTo>
                <a:lnTo>
                  <a:pt x="3672567" y="0"/>
                </a:lnTo>
                <a:lnTo>
                  <a:pt x="3672567" y="3004828"/>
                </a:lnTo>
                <a:lnTo>
                  <a:pt x="0" y="30048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>
            <a:off x="6921998" y="6300266"/>
            <a:ext cx="3315536" cy="3286525"/>
          </a:xfrm>
          <a:custGeom>
            <a:avLst/>
            <a:gdLst/>
            <a:ahLst/>
            <a:cxnLst/>
            <a:rect l="l" t="t" r="r" b="b"/>
            <a:pathLst>
              <a:path w="3315536" h="3286525">
                <a:moveTo>
                  <a:pt x="0" y="0"/>
                </a:moveTo>
                <a:lnTo>
                  <a:pt x="3315535" y="0"/>
                </a:lnTo>
                <a:lnTo>
                  <a:pt x="3315535" y="3286525"/>
                </a:lnTo>
                <a:lnTo>
                  <a:pt x="0" y="32865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Freeform 4"/>
          <p:cNvSpPr/>
          <p:nvPr/>
        </p:nvSpPr>
        <p:spPr>
          <a:xfrm>
            <a:off x="12391189" y="5959184"/>
            <a:ext cx="3666882" cy="3686993"/>
          </a:xfrm>
          <a:custGeom>
            <a:avLst/>
            <a:gdLst/>
            <a:ahLst/>
            <a:cxnLst/>
            <a:rect l="l" t="t" r="r" b="b"/>
            <a:pathLst>
              <a:path w="3666882" h="3686993">
                <a:moveTo>
                  <a:pt x="0" y="0"/>
                </a:moveTo>
                <a:lnTo>
                  <a:pt x="3666882" y="0"/>
                </a:lnTo>
                <a:lnTo>
                  <a:pt x="3666882" y="3686992"/>
                </a:lnTo>
                <a:lnTo>
                  <a:pt x="0" y="36869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5" name="TextBox 5"/>
          <p:cNvSpPr txBox="1"/>
          <p:nvPr/>
        </p:nvSpPr>
        <p:spPr>
          <a:xfrm>
            <a:off x="3560117" y="493431"/>
            <a:ext cx="11167766" cy="221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96"/>
              </a:lnSpc>
              <a:spcBef>
                <a:spcPct val="0"/>
              </a:spcBef>
            </a:pPr>
            <a:r>
              <a:rPr lang="en-US" sz="7128">
                <a:solidFill>
                  <a:srgbClr val="404040"/>
                </a:solidFill>
                <a:latin typeface="Now Bold"/>
              </a:rPr>
              <a:t>MONITORING A SPRÁVA V IIS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84835" y="2803397"/>
            <a:ext cx="7918330" cy="161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8"/>
              </a:lnSpc>
            </a:pPr>
            <a:r>
              <a:rPr lang="en-US" sz="2121">
                <a:solidFill>
                  <a:srgbClr val="000000"/>
                </a:solidFill>
                <a:latin typeface="Now"/>
              </a:rPr>
              <a:t>Pro monitorování výkonu a správu IIS lze využít nástroje jako Performance Monitor a IIS Manager</a:t>
            </a:r>
          </a:p>
          <a:p>
            <a:pPr>
              <a:lnSpc>
                <a:spcPts val="2588"/>
              </a:lnSpc>
            </a:pPr>
            <a:endParaRPr lang="en-US" sz="2121">
              <a:solidFill>
                <a:srgbClr val="000000"/>
              </a:solidFill>
              <a:latin typeface="Now"/>
            </a:endParaRPr>
          </a:p>
          <a:p>
            <a:pPr algn="ctr">
              <a:lnSpc>
                <a:spcPts val="2588"/>
              </a:lnSpc>
            </a:pPr>
            <a:r>
              <a:rPr lang="en-US" sz="2121">
                <a:solidFill>
                  <a:srgbClr val="000000"/>
                </a:solidFill>
                <a:latin typeface="Now"/>
              </a:rPr>
              <a:t> Logování událostí a sledování chyb jsou klíčové pro diagnostiku a ladění aplikací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48255" y="2269613"/>
            <a:ext cx="5747774" cy="5747774"/>
          </a:xfrm>
          <a:custGeom>
            <a:avLst/>
            <a:gdLst/>
            <a:ahLst/>
            <a:cxnLst/>
            <a:rect l="l" t="t" r="r" b="b"/>
            <a:pathLst>
              <a:path w="5747774" h="5747774">
                <a:moveTo>
                  <a:pt x="0" y="0"/>
                </a:moveTo>
                <a:lnTo>
                  <a:pt x="5747775" y="0"/>
                </a:lnTo>
                <a:lnTo>
                  <a:pt x="5747775" y="5747774"/>
                </a:lnTo>
                <a:lnTo>
                  <a:pt x="0" y="57477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TextBox 3"/>
          <p:cNvSpPr txBox="1"/>
          <p:nvPr/>
        </p:nvSpPr>
        <p:spPr>
          <a:xfrm>
            <a:off x="1429414" y="2315270"/>
            <a:ext cx="7761083" cy="219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605"/>
              </a:lnSpc>
              <a:spcBef>
                <a:spcPct val="0"/>
              </a:spcBef>
            </a:pPr>
            <a:r>
              <a:rPr lang="en-US" sz="7053">
                <a:solidFill>
                  <a:srgbClr val="404040"/>
                </a:solidFill>
                <a:latin typeface="Now Bold"/>
              </a:rPr>
              <a:t>PODPORA APLIKACÍ V IIS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29414" y="5770605"/>
            <a:ext cx="5838447" cy="2472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7"/>
              </a:lnSpc>
            </a:pPr>
            <a:r>
              <a:rPr lang="en-US" sz="2309">
                <a:solidFill>
                  <a:srgbClr val="000000"/>
                </a:solidFill>
                <a:latin typeface="Now"/>
              </a:rPr>
              <a:t>IIS poskytuje podporu pro různé programovací jazyky a frameworky, včetně ASP.NET, PHP, a další</a:t>
            </a:r>
          </a:p>
          <a:p>
            <a:pPr>
              <a:lnSpc>
                <a:spcPts val="2817"/>
              </a:lnSpc>
            </a:pPr>
            <a:endParaRPr lang="en-US" sz="2309">
              <a:solidFill>
                <a:srgbClr val="000000"/>
              </a:solidFill>
              <a:latin typeface="Now"/>
            </a:endParaRPr>
          </a:p>
          <a:p>
            <a:pPr>
              <a:lnSpc>
                <a:spcPts val="2817"/>
              </a:lnSpc>
            </a:pPr>
            <a:r>
              <a:rPr lang="en-US" sz="2309">
                <a:solidFill>
                  <a:srgbClr val="000000"/>
                </a:solidFill>
                <a:latin typeface="Now"/>
              </a:rPr>
              <a:t>Konfigurace aplikací umožňuje optimalizaci výkonu a správu prostřednictvím různých nastavení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966270"/>
            <a:ext cx="3409824" cy="3292030"/>
          </a:xfrm>
          <a:custGeom>
            <a:avLst/>
            <a:gdLst/>
            <a:ahLst/>
            <a:cxnLst/>
            <a:rect l="l" t="t" r="r" b="b"/>
            <a:pathLst>
              <a:path w="3409824" h="3292030">
                <a:moveTo>
                  <a:pt x="0" y="0"/>
                </a:moveTo>
                <a:lnTo>
                  <a:pt x="3409824" y="0"/>
                </a:lnTo>
                <a:lnTo>
                  <a:pt x="3409824" y="3292030"/>
                </a:lnTo>
                <a:lnTo>
                  <a:pt x="0" y="3292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>
            <a:off x="12864590" y="6032155"/>
            <a:ext cx="3160259" cy="3160259"/>
          </a:xfrm>
          <a:custGeom>
            <a:avLst/>
            <a:gdLst/>
            <a:ahLst/>
            <a:cxnLst/>
            <a:rect l="l" t="t" r="r" b="b"/>
            <a:pathLst>
              <a:path w="3160259" h="3160259">
                <a:moveTo>
                  <a:pt x="0" y="0"/>
                </a:moveTo>
                <a:lnTo>
                  <a:pt x="3160260" y="0"/>
                </a:lnTo>
                <a:lnTo>
                  <a:pt x="3160260" y="3160260"/>
                </a:lnTo>
                <a:lnTo>
                  <a:pt x="0" y="3160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Freeform 4"/>
          <p:cNvSpPr/>
          <p:nvPr/>
        </p:nvSpPr>
        <p:spPr>
          <a:xfrm>
            <a:off x="6919556" y="5880284"/>
            <a:ext cx="3464002" cy="3464002"/>
          </a:xfrm>
          <a:custGeom>
            <a:avLst/>
            <a:gdLst/>
            <a:ahLst/>
            <a:cxnLst/>
            <a:rect l="l" t="t" r="r" b="b"/>
            <a:pathLst>
              <a:path w="3464002" h="3464002">
                <a:moveTo>
                  <a:pt x="0" y="0"/>
                </a:moveTo>
                <a:lnTo>
                  <a:pt x="3464002" y="0"/>
                </a:lnTo>
                <a:lnTo>
                  <a:pt x="3464002" y="3464002"/>
                </a:lnTo>
                <a:lnTo>
                  <a:pt x="0" y="3464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5" name="TextBox 5"/>
          <p:cNvSpPr txBox="1"/>
          <p:nvPr/>
        </p:nvSpPr>
        <p:spPr>
          <a:xfrm>
            <a:off x="5184835" y="3205788"/>
            <a:ext cx="7918330" cy="161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8"/>
              </a:lnSpc>
            </a:pPr>
            <a:r>
              <a:rPr lang="en-US" sz="2121">
                <a:solidFill>
                  <a:srgbClr val="000000"/>
                </a:solidFill>
                <a:latin typeface="Now"/>
              </a:rPr>
              <a:t>Budoucnost IIS směřuje k podpoře mikroslužeb umožňující agilní nasazení a správu aplikací</a:t>
            </a:r>
          </a:p>
          <a:p>
            <a:pPr>
              <a:lnSpc>
                <a:spcPts val="2588"/>
              </a:lnSpc>
            </a:pPr>
            <a:endParaRPr lang="en-US" sz="2121">
              <a:solidFill>
                <a:srgbClr val="000000"/>
              </a:solidFill>
              <a:latin typeface="Now"/>
            </a:endParaRPr>
          </a:p>
          <a:p>
            <a:pPr algn="ctr">
              <a:lnSpc>
                <a:spcPts val="2588"/>
              </a:lnSpc>
            </a:pPr>
            <a:r>
              <a:rPr lang="en-US" sz="2121">
                <a:solidFill>
                  <a:srgbClr val="000000"/>
                </a:solidFill>
                <a:latin typeface="Now"/>
              </a:rPr>
              <a:t>Integrace s cloudovými službami a dalšími technologiemi bude hrát klíčovou roli v dalším vývoji IIS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63150" y="586806"/>
            <a:ext cx="13761699" cy="221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96"/>
              </a:lnSpc>
              <a:spcBef>
                <a:spcPct val="0"/>
              </a:spcBef>
            </a:pPr>
            <a:r>
              <a:rPr lang="en-US" sz="7128">
                <a:solidFill>
                  <a:srgbClr val="404040"/>
                </a:solidFill>
                <a:latin typeface="Now Bold"/>
              </a:rPr>
              <a:t>BUDOUCNOST IIS A TRENDY VE WEBOVÉM PROSTŘEDÍ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47295" y="4060466"/>
            <a:ext cx="1109499" cy="110949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B9684"/>
              </a:solidFill>
              <a:prstDash val="solid"/>
              <a:miter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9682" tIns="39682" rIns="39682" bIns="39682" rtlCol="0" anchor="ctr"/>
            <a:lstStyle/>
            <a:p>
              <a:pPr algn="ctr">
                <a:lnSpc>
                  <a:spcPts val="212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47295" y="6478304"/>
            <a:ext cx="1096626" cy="109662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B9684"/>
              </a:solidFill>
              <a:prstDash val="solid"/>
              <a:miter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55067" y="4060466"/>
            <a:ext cx="1109499" cy="110949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B9684"/>
              </a:solidFill>
              <a:prstDash val="solid"/>
              <a:miter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9682" tIns="39682" rIns="39682" bIns="39682" rtlCol="0" anchor="ctr"/>
            <a:lstStyle/>
            <a:p>
              <a:pPr algn="ctr">
                <a:lnSpc>
                  <a:spcPts val="212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55067" y="6478304"/>
            <a:ext cx="1096626" cy="109662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B9684"/>
              </a:solidFill>
              <a:prstDash val="solid"/>
              <a:miter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614948" y="1019175"/>
            <a:ext cx="9058104" cy="189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35"/>
              </a:lnSpc>
              <a:spcBef>
                <a:spcPct val="0"/>
              </a:spcBef>
            </a:pPr>
            <a:r>
              <a:rPr lang="en-US" sz="6094">
                <a:solidFill>
                  <a:srgbClr val="404040"/>
                </a:solidFill>
                <a:latin typeface="Now Bold"/>
              </a:rPr>
              <a:t>INSTALACE A KONFIGURACE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40033" y="4045236"/>
            <a:ext cx="4290918" cy="1124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4"/>
              </a:lnSpc>
              <a:spcBef>
                <a:spcPct val="0"/>
              </a:spcBef>
            </a:pPr>
            <a:r>
              <a:rPr lang="en-US" sz="1823">
                <a:solidFill>
                  <a:srgbClr val="000000"/>
                </a:solidFill>
                <a:latin typeface="Now"/>
              </a:rPr>
              <a:t>Pro instalaci IIS na serveru s operačním systémem Windows Server je nutné použít správce serveru nebo nástroj Server Manager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40033" y="6468779"/>
            <a:ext cx="4290918" cy="1124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4"/>
              </a:lnSpc>
              <a:spcBef>
                <a:spcPct val="0"/>
              </a:spcBef>
            </a:pPr>
            <a:r>
              <a:rPr lang="en-US" sz="1823">
                <a:solidFill>
                  <a:srgbClr val="000000"/>
                </a:solidFill>
                <a:latin typeface="Now"/>
              </a:rPr>
              <a:t>Během instalace lze vybrat konkrétní komponenty IIS, které mají být nainstalovány, včetně WWW služby, FTP služby a dalších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40480" y="4203849"/>
            <a:ext cx="923128" cy="746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4410">
                <a:solidFill>
                  <a:srgbClr val="8B9684">
                    <a:alpha val="82745"/>
                  </a:srgbClr>
                </a:solidFill>
                <a:latin typeface="Now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47295" y="6628790"/>
            <a:ext cx="1096626" cy="72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9"/>
              </a:lnSpc>
            </a:pPr>
            <a:r>
              <a:rPr lang="en-US" sz="4357">
                <a:solidFill>
                  <a:srgbClr val="8B9684"/>
                </a:solidFill>
                <a:latin typeface="Now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51768" y="4024420"/>
            <a:ext cx="4290918" cy="1124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4"/>
              </a:lnSpc>
              <a:spcBef>
                <a:spcPct val="0"/>
              </a:spcBef>
            </a:pPr>
            <a:r>
              <a:rPr lang="en-US" sz="1823">
                <a:solidFill>
                  <a:srgbClr val="000000"/>
                </a:solidFill>
                <a:latin typeface="Now"/>
              </a:rPr>
              <a:t>Po dokončení instalace je možné pomocí IIS Manageru provést detailní konfiguraci jednotlivých webových serverů, stránek a aplikací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51768" y="6319511"/>
            <a:ext cx="4290918" cy="1404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4"/>
              </a:lnSpc>
              <a:spcBef>
                <a:spcPct val="0"/>
              </a:spcBef>
            </a:pPr>
            <a:r>
              <a:rPr lang="en-US" sz="1823">
                <a:solidFill>
                  <a:srgbClr val="000000"/>
                </a:solidFill>
                <a:latin typeface="Now"/>
              </a:rPr>
              <a:t>Konfigurace zahrnuje nastavení parametrů jako jsou adresáře pro ukládání webových dat, přístupová práva, podpora různých protokolů, jako je HTTPS a další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48252" y="4200997"/>
            <a:ext cx="923128" cy="746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4410">
                <a:solidFill>
                  <a:srgbClr val="8B9684">
                    <a:alpha val="82745"/>
                  </a:srgbClr>
                </a:solidFill>
                <a:latin typeface="Now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55067" y="6628790"/>
            <a:ext cx="1096626" cy="72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9"/>
              </a:lnSpc>
            </a:pPr>
            <a:r>
              <a:rPr lang="en-US" sz="4357">
                <a:solidFill>
                  <a:srgbClr val="8B9684"/>
                </a:solidFill>
                <a:latin typeface="Now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44895" y="1028700"/>
            <a:ext cx="11495524" cy="8308166"/>
            <a:chOff x="0" y="0"/>
            <a:chExt cx="3027628" cy="2188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27628" cy="2188159"/>
            </a:xfrm>
            <a:custGeom>
              <a:avLst/>
              <a:gdLst/>
              <a:ahLst/>
              <a:cxnLst/>
              <a:rect l="l" t="t" r="r" b="b"/>
              <a:pathLst>
                <a:path w="3027628" h="2188159">
                  <a:moveTo>
                    <a:pt x="0" y="0"/>
                  </a:moveTo>
                  <a:lnTo>
                    <a:pt x="3027628" y="0"/>
                  </a:lnTo>
                  <a:lnTo>
                    <a:pt x="3027628" y="2188159"/>
                  </a:lnTo>
                  <a:lnTo>
                    <a:pt x="0" y="2188159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3027628" cy="2197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44420" y="1055346"/>
            <a:ext cx="11395999" cy="8226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Windows PowerShell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Copyright (C) Microsoft Corporation. All rights reserved.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endParaRPr lang="en-US" sz="1299" u="none" strike="noStrike">
              <a:solidFill>
                <a:srgbClr val="FFFFFF"/>
              </a:solidFill>
              <a:latin typeface="Consolas Bold"/>
            </a:endParaRP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# install IIS with admin tools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PS C:\Users\Administrator&gt; </a:t>
            </a:r>
            <a:r>
              <a:rPr lang="en-US" sz="1299" u="none" strike="noStrike">
                <a:solidFill>
                  <a:srgbClr val="98FB98"/>
                </a:solidFill>
                <a:latin typeface="Consolas Bold"/>
              </a:rPr>
              <a:t>Install-WindowsFeature Web-Server -IncludeManagementTools 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endParaRPr lang="en-US" sz="1299" u="none" strike="noStrike">
              <a:solidFill>
                <a:srgbClr val="98FB98"/>
              </a:solidFill>
              <a:latin typeface="Consolas Bold"/>
            </a:endParaRP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Success Restart Needed Exit Code      Feature Result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------- -------------- ---------      --------------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True    No             Success        {Common HTTP Features, Default Document, D...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endParaRPr lang="en-US" sz="1299" u="none" strike="noStrike">
              <a:solidFill>
                <a:srgbClr val="FFFFFF"/>
              </a:solidFill>
              <a:latin typeface="Consolas Bold"/>
            </a:endParaRP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# verify running to access to default web site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PS C:\Users\Administrator&gt; </a:t>
            </a:r>
            <a:r>
              <a:rPr lang="en-US" sz="1299" u="none" strike="noStrike">
                <a:solidFill>
                  <a:srgbClr val="98FB98"/>
                </a:solidFill>
                <a:latin typeface="Consolas Bold"/>
              </a:rPr>
              <a:t>Invoke-WebRequest http://localhost 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endParaRPr lang="en-US" sz="1299" u="none" strike="noStrike">
              <a:solidFill>
                <a:srgbClr val="98FB98"/>
              </a:solidFill>
              <a:latin typeface="Consolas Bold"/>
            </a:endParaRP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StatusCode        : 200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StatusDescription : OK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Content           : &lt;!DOCTYPE html PUBLIC "-//W3C//DTD XHTML 1.0 Strict//EN"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"http://www.w3.org/TR/xhtml1/DTD/xhtml1-strict.dtd"&gt;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&lt;html xmlns="http://www.w3.org/1999/xhtml"&gt;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&lt;head&gt;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&lt;meta http-equiv="Content-Type" cont...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RawContent        : HTTP/1.1 200 OK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Accept-Ranges: bytes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Content-Length: 703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Content-Type: text/html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Date: Tue, 25 Jan 2022 05:29:35 GMT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ETag: "26b38758ac11d81:0"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Last-Modified: Tue, 25 Jan 2022 05:28:12 GMT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Serve...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Forms             : {}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Headers           : {[Accept-Ranges, bytes], [Content-Length, 703], [Content-Type, text/html], [Date, Tue, 25 Jan 2022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05:29:35 GMT]...}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Images            : {@{innerHTML=; innerText=; outerHTML=&lt;IMG alt=IIS src="iisstart.png" width=960 height=600&gt;; outerText=;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tagName=IMG; alt=IIS; src=iisstart.png; width=960; height=600}}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InputFields       : {}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Links             : {@{innerHTML=&lt;IMG alt=IIS src="iisstart.png" width=960 height=600&gt;; innerText=; outerHTML=&lt;A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href="http://go.microsoft.com/fwlink/?linkid=66138&amp;clcid=0x409"&gt;&lt;IMG alt=IIS src="iisstart.png"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width=960 height=600&gt;&lt;/A&gt;; outerText=; tagName=A;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                    href=http://go.microsoft.com/fwlink/?linkid=66138&amp;clcid=0x409}}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ParsedHtml        : System.__ComObject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Consolas Bold"/>
              </a:rPr>
              <a:t>RawContentLength  : 703</a:t>
            </a:r>
          </a:p>
          <a:p>
            <a:pPr marL="0" lvl="0" indent="0" algn="just">
              <a:lnSpc>
                <a:spcPts val="1585"/>
              </a:lnSpc>
              <a:spcBef>
                <a:spcPct val="0"/>
              </a:spcBef>
            </a:pPr>
            <a:endParaRPr lang="en-US" sz="1299" u="none" strike="noStrike">
              <a:solidFill>
                <a:srgbClr val="FFFFFF"/>
              </a:solidFill>
              <a:latin typeface="Consola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88226" y="4217503"/>
            <a:ext cx="6336608" cy="183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9"/>
              </a:lnSpc>
              <a:spcBef>
                <a:spcPct val="0"/>
              </a:spcBef>
            </a:pPr>
            <a:r>
              <a:rPr lang="en-US" sz="5868">
                <a:solidFill>
                  <a:srgbClr val="404040"/>
                </a:solidFill>
                <a:latin typeface="Now Bold"/>
              </a:rPr>
              <a:t>INSTALACE A KONFIGURACE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979654" y="1673687"/>
            <a:ext cx="14328691" cy="8053597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715629" y="324964"/>
            <a:ext cx="10856743" cy="94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35"/>
              </a:lnSpc>
              <a:spcBef>
                <a:spcPct val="0"/>
              </a:spcBef>
            </a:pPr>
            <a:r>
              <a:rPr lang="en-US" sz="6094">
                <a:solidFill>
                  <a:srgbClr val="404040"/>
                </a:solidFill>
                <a:latin typeface="Now Bold"/>
              </a:rPr>
              <a:t>INSTALACE POMOCÍ GUI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10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47295" y="4060466"/>
            <a:ext cx="1109499" cy="110949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B9684"/>
              </a:solidFill>
              <a:prstDash val="solid"/>
              <a:miter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9682" tIns="39682" rIns="39682" bIns="39682" rtlCol="0" anchor="ctr"/>
            <a:lstStyle/>
            <a:p>
              <a:pPr algn="ctr">
                <a:lnSpc>
                  <a:spcPts val="212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47295" y="6478304"/>
            <a:ext cx="1096626" cy="109662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B9684"/>
              </a:solidFill>
              <a:prstDash val="solid"/>
              <a:miter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55067" y="4060466"/>
            <a:ext cx="1109499" cy="110949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B9684"/>
              </a:solidFill>
              <a:prstDash val="solid"/>
              <a:miter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9682" tIns="39682" rIns="39682" bIns="39682" rtlCol="0" anchor="ctr"/>
            <a:lstStyle/>
            <a:p>
              <a:pPr algn="ctr">
                <a:lnSpc>
                  <a:spcPts val="212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55067" y="6478304"/>
            <a:ext cx="1096626" cy="109662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B9684"/>
              </a:solidFill>
              <a:prstDash val="solid"/>
              <a:miter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614948" y="1019175"/>
            <a:ext cx="9058104" cy="94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35"/>
              </a:lnSpc>
              <a:spcBef>
                <a:spcPct val="0"/>
              </a:spcBef>
            </a:pPr>
            <a:r>
              <a:rPr lang="en-US" sz="6094">
                <a:solidFill>
                  <a:srgbClr val="404040"/>
                </a:solidFill>
                <a:latin typeface="Now Bold"/>
              </a:rPr>
              <a:t>ZÁVĚR IIS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40033" y="4045236"/>
            <a:ext cx="4290918" cy="1404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4"/>
              </a:lnSpc>
              <a:spcBef>
                <a:spcPct val="0"/>
              </a:spcBef>
            </a:pPr>
            <a:r>
              <a:rPr lang="en-US" sz="1823">
                <a:solidFill>
                  <a:srgbClr val="000000"/>
                </a:solidFill>
                <a:latin typeface="Now"/>
              </a:rPr>
              <a:t>Internet Information Services (IIS) jsou klíčovým prvkem moderního webového prostředí a poskytují spolehlivý a bezpečný základ pro hostování webových aplikací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40033" y="6468779"/>
            <a:ext cx="4290918" cy="844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4"/>
              </a:lnSpc>
              <a:spcBef>
                <a:spcPct val="0"/>
              </a:spcBef>
            </a:pPr>
            <a:r>
              <a:rPr lang="en-US" sz="1823">
                <a:solidFill>
                  <a:srgbClr val="000000"/>
                </a:solidFill>
                <a:latin typeface="Now"/>
              </a:rPr>
              <a:t>Důkladné porozumění IIS je nezbytné pro IT profesionály, kteří se zabývají správou webových serverů a aplikací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40480" y="4203849"/>
            <a:ext cx="923128" cy="746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4410">
                <a:solidFill>
                  <a:srgbClr val="8B9684">
                    <a:alpha val="82745"/>
                  </a:srgbClr>
                </a:solidFill>
                <a:latin typeface="Now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47295" y="6628790"/>
            <a:ext cx="1096626" cy="72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9"/>
              </a:lnSpc>
            </a:pPr>
            <a:r>
              <a:rPr lang="en-US" sz="4357">
                <a:solidFill>
                  <a:srgbClr val="8B9684"/>
                </a:solidFill>
                <a:latin typeface="Now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51768" y="4024420"/>
            <a:ext cx="4290918" cy="1684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4"/>
              </a:lnSpc>
              <a:spcBef>
                <a:spcPct val="0"/>
              </a:spcBef>
            </a:pPr>
            <a:r>
              <a:rPr lang="en-US" sz="1823">
                <a:solidFill>
                  <a:srgbClr val="000000"/>
                </a:solidFill>
                <a:latin typeface="Now"/>
              </a:rPr>
              <a:t>Děkujeme za pozornost a připravenost naslouchat. Máte-li nějaké otázky, neváhejte se zeptat. Jsme tu, abychom vám poskytli další informace a podpořili vás ve vašich projektech a iniciativách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51768" y="6769027"/>
            <a:ext cx="4290918" cy="51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76"/>
              </a:lnSpc>
              <a:spcBef>
                <a:spcPct val="0"/>
              </a:spcBef>
            </a:pPr>
            <a:r>
              <a:rPr lang="en-US" sz="3423">
                <a:solidFill>
                  <a:srgbClr val="000000"/>
                </a:solidFill>
                <a:latin typeface="Now"/>
              </a:rPr>
              <a:t>Děkuji za pozornost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48252" y="4200997"/>
            <a:ext cx="923128" cy="746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4410">
                <a:solidFill>
                  <a:srgbClr val="8B9684">
                    <a:alpha val="82745"/>
                  </a:srgbClr>
                </a:solidFill>
                <a:latin typeface="Now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55067" y="6628790"/>
            <a:ext cx="1096626" cy="72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9"/>
              </a:lnSpc>
            </a:pPr>
            <a:r>
              <a:rPr lang="en-US" sz="4357">
                <a:solidFill>
                  <a:srgbClr val="8B9684"/>
                </a:solidFill>
                <a:latin typeface="Now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1054</Words>
  <Application>Microsoft Office PowerPoint</Application>
  <PresentationFormat>Vlastní</PresentationFormat>
  <Paragraphs>103</Paragraphs>
  <Slides>15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1" baseType="lpstr">
      <vt:lpstr>Arial</vt:lpstr>
      <vt:lpstr>Consolas Bold</vt:lpstr>
      <vt:lpstr>Calibri</vt:lpstr>
      <vt:lpstr>Now Bold</vt:lpstr>
      <vt:lpstr>Now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:identifier>DAF7b32U3SY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