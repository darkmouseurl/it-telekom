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74" r:id="rId4"/>
    <p:sldId id="272" r:id="rId5"/>
    <p:sldId id="257" r:id="rId6"/>
    <p:sldId id="266" r:id="rId7"/>
    <p:sldId id="267" r:id="rId8"/>
    <p:sldId id="268" r:id="rId9"/>
    <p:sldId id="269" r:id="rId10"/>
    <p:sldId id="270" r:id="rId11"/>
    <p:sldId id="275" r:id="rId12"/>
    <p:sldId id="273" r:id="rId13"/>
    <p:sldId id="265" r:id="rId14"/>
  </p:sldIdLst>
  <p:sldSz cx="5854700" cy="3295650"/>
  <p:notesSz cx="5854700" cy="3295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3EB15-C590-43F2-88FF-704B6A13641C}" v="1" dt="2024-02-12T08:38:35.9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78208" autoAdjust="0"/>
  </p:normalViewPr>
  <p:slideViewPr>
    <p:cSldViewPr>
      <p:cViewPr varScale="1">
        <p:scale>
          <a:sx n="168" d="100"/>
          <a:sy n="168" d="100"/>
        </p:scale>
        <p:origin x="1686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MICHÁLEK" userId="7fab0d12-dfbd-43a6-9125-212190432f31" providerId="ADAL" clId="{60D3EB15-C590-43F2-88FF-704B6A13641C}"/>
    <pc:docChg chg="custSel addSld modSld">
      <pc:chgData name="Adam MICHÁLEK" userId="7fab0d12-dfbd-43a6-9125-212190432f31" providerId="ADAL" clId="{60D3EB15-C590-43F2-88FF-704B6A13641C}" dt="2024-02-12T08:50:22.878" v="45" actId="14100"/>
      <pc:docMkLst>
        <pc:docMk/>
      </pc:docMkLst>
      <pc:sldChg chg="addSp delSp modSp add mod modAnim">
        <pc:chgData name="Adam MICHÁLEK" userId="7fab0d12-dfbd-43a6-9125-212190432f31" providerId="ADAL" clId="{60D3EB15-C590-43F2-88FF-704B6A13641C}" dt="2024-02-12T08:50:22.878" v="45" actId="14100"/>
        <pc:sldMkLst>
          <pc:docMk/>
          <pc:sldMk cId="2777191418" sldId="275"/>
        </pc:sldMkLst>
        <pc:spChg chg="mod">
          <ac:chgData name="Adam MICHÁLEK" userId="7fab0d12-dfbd-43a6-9125-212190432f31" providerId="ADAL" clId="{60D3EB15-C590-43F2-88FF-704B6A13641C}" dt="2024-02-12T08:40:06.989" v="39" actId="1076"/>
          <ac:spMkLst>
            <pc:docMk/>
            <pc:sldMk cId="2777191418" sldId="275"/>
            <ac:spMk id="9" creationId="{662BA6D7-960B-A5CD-B399-597C8958154D}"/>
          </ac:spMkLst>
        </pc:spChg>
        <pc:picChg chg="add mod">
          <ac:chgData name="Adam MICHÁLEK" userId="7fab0d12-dfbd-43a6-9125-212190432f31" providerId="ADAL" clId="{60D3EB15-C590-43F2-88FF-704B6A13641C}" dt="2024-02-12T08:50:22.878" v="45" actId="14100"/>
          <ac:picMkLst>
            <pc:docMk/>
            <pc:sldMk cId="2777191418" sldId="275"/>
            <ac:picMk id="2" creationId="{3E7E0654-BD19-6001-DA68-0DCE5961FF5D}"/>
          </ac:picMkLst>
        </pc:picChg>
        <pc:picChg chg="del">
          <ac:chgData name="Adam MICHÁLEK" userId="7fab0d12-dfbd-43a6-9125-212190432f31" providerId="ADAL" clId="{60D3EB15-C590-43F2-88FF-704B6A13641C}" dt="2024-02-12T08:37:58.116" v="24" actId="478"/>
          <ac:picMkLst>
            <pc:docMk/>
            <pc:sldMk cId="2777191418" sldId="275"/>
            <ac:picMk id="4" creationId="{22A84E03-1128-D56A-D8BE-DBE9A7DB76A5}"/>
          </ac:picMkLst>
        </pc:picChg>
        <pc:picChg chg="del">
          <ac:chgData name="Adam MICHÁLEK" userId="7fab0d12-dfbd-43a6-9125-212190432f31" providerId="ADAL" clId="{60D3EB15-C590-43F2-88FF-704B6A13641C}" dt="2024-02-12T08:37:59.538" v="25" actId="478"/>
          <ac:picMkLst>
            <pc:docMk/>
            <pc:sldMk cId="2777191418" sldId="275"/>
            <ac:picMk id="8" creationId="{11217CBF-D138-7230-0920-D9237B43C181}"/>
          </ac:picMkLst>
        </pc:picChg>
        <pc:picChg chg="del">
          <ac:chgData name="Adam MICHÁLEK" userId="7fab0d12-dfbd-43a6-9125-212190432f31" providerId="ADAL" clId="{60D3EB15-C590-43F2-88FF-704B6A13641C}" dt="2024-02-12T08:50:11.466" v="41" actId="478"/>
          <ac:picMkLst>
            <pc:docMk/>
            <pc:sldMk cId="2777191418" sldId="275"/>
            <ac:picMk id="16" creationId="{50EF917F-EB7E-D0A7-0D2C-45019A4A38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36825" cy="1651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316288" y="0"/>
            <a:ext cx="2536825" cy="1651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7539F-B0EE-436F-9D1A-BC679EA2DCD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39925" y="412750"/>
            <a:ext cx="1974850" cy="1111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788" y="1585913"/>
            <a:ext cx="4683125" cy="1298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130550"/>
            <a:ext cx="2536825" cy="1651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316288" y="3130550"/>
            <a:ext cx="2536825" cy="1651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58CB-F1FB-4AD9-A556-3168E05F761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3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Software-</a:t>
            </a:r>
            <a:r>
              <a:rPr lang="en-US" sz="1200" dirty="0" err="1"/>
              <a:t>definován</a:t>
            </a:r>
            <a:r>
              <a:rPr lang="en-US" sz="1200" dirty="0"/>
              <a:t> </a:t>
            </a:r>
            <a:r>
              <a:rPr lang="en-US" sz="1200" dirty="0" err="1"/>
              <a:t>počítač</a:t>
            </a:r>
            <a:r>
              <a:rPr lang="en-US" sz="1200" dirty="0"/>
              <a:t> – </a:t>
            </a:r>
            <a:r>
              <a:rPr lang="en-US" sz="1200" dirty="0" err="1"/>
              <a:t>běží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fyzickém</a:t>
            </a:r>
            <a:r>
              <a:rPr lang="en-US" sz="1200" dirty="0"/>
              <a:t> </a:t>
            </a:r>
            <a:r>
              <a:rPr lang="en-US" sz="1200" dirty="0" err="1"/>
              <a:t>počítači</a:t>
            </a:r>
            <a:r>
              <a:rPr lang="en-US" sz="1200" dirty="0"/>
              <a:t> se </a:t>
            </a:r>
            <a:r>
              <a:rPr lang="en-US" sz="1200" dirty="0" err="1"/>
              <a:t>separátním</a:t>
            </a:r>
            <a:r>
              <a:rPr lang="en-US" sz="1200" dirty="0"/>
              <a:t> OS a resources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Host a guests – </a:t>
            </a:r>
            <a:r>
              <a:rPr lang="en-US" sz="1200" dirty="0" err="1"/>
              <a:t>fyzický</a:t>
            </a:r>
            <a:r>
              <a:rPr lang="en-US" sz="1200" dirty="0"/>
              <a:t> </a:t>
            </a:r>
            <a:r>
              <a:rPr lang="en-US" sz="1200" dirty="0" err="1"/>
              <a:t>počítač</a:t>
            </a:r>
            <a:r>
              <a:rPr lang="en-US" sz="1200" dirty="0"/>
              <a:t> je host a VMs </a:t>
            </a:r>
            <a:r>
              <a:rPr lang="en-US" sz="1200" dirty="0" err="1"/>
              <a:t>jsou</a:t>
            </a:r>
            <a:r>
              <a:rPr lang="en-US" sz="1200" dirty="0"/>
              <a:t> guests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Zdroj</a:t>
            </a:r>
            <a:r>
              <a:rPr lang="en-US" sz="1200" dirty="0"/>
              <a:t> – </a:t>
            </a:r>
            <a:r>
              <a:rPr lang="en-US" sz="1200" dirty="0" err="1"/>
              <a:t>každá</a:t>
            </a:r>
            <a:r>
              <a:rPr lang="en-US" sz="1200" dirty="0"/>
              <a:t> VMs </a:t>
            </a:r>
            <a:r>
              <a:rPr lang="en-US" sz="1200" dirty="0" err="1"/>
              <a:t>má</a:t>
            </a:r>
            <a:r>
              <a:rPr lang="en-US" sz="1200" dirty="0"/>
              <a:t> </a:t>
            </a:r>
            <a:r>
              <a:rPr lang="en-US" sz="1200" dirty="0" err="1"/>
              <a:t>svoje</a:t>
            </a:r>
            <a:r>
              <a:rPr lang="en-US" sz="1200" dirty="0"/>
              <a:t> </a:t>
            </a:r>
            <a:r>
              <a:rPr lang="en-US" sz="1200" dirty="0" err="1"/>
              <a:t>přidělené</a:t>
            </a:r>
            <a:r>
              <a:rPr lang="en-US" sz="1200" dirty="0"/>
              <a:t> </a:t>
            </a:r>
            <a:r>
              <a:rPr lang="en-US" sz="1200" dirty="0" err="1"/>
              <a:t>zdroje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2521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59BDC-A291-77B0-1D58-8B43B354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C0C59-7F41-2573-0441-4682DBF08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01897-9BB1-C4AA-74E9-DABCD4617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Hypervisor – Virtual machine monitor. Software component, </a:t>
            </a:r>
            <a:r>
              <a:rPr lang="en-US" sz="1200" dirty="0" err="1"/>
              <a:t>který</a:t>
            </a:r>
            <a:r>
              <a:rPr lang="en-US" sz="1200" dirty="0"/>
              <a:t> </a:t>
            </a:r>
            <a:r>
              <a:rPr lang="en-US" sz="1200" dirty="0" err="1"/>
              <a:t>umožňuje</a:t>
            </a:r>
            <a:r>
              <a:rPr lang="en-US" sz="1200" dirty="0"/>
              <a:t> aby </a:t>
            </a:r>
            <a:r>
              <a:rPr lang="en-US" sz="1200" dirty="0" err="1"/>
              <a:t>napozadí</a:t>
            </a:r>
            <a:r>
              <a:rPr lang="en-US" sz="1200" dirty="0"/>
              <a:t> </a:t>
            </a:r>
            <a:r>
              <a:rPr lang="en-US" sz="1200" dirty="0" err="1"/>
              <a:t>běželo</a:t>
            </a:r>
            <a:r>
              <a:rPr lang="en-US" sz="1200" dirty="0"/>
              <a:t> </a:t>
            </a:r>
            <a:r>
              <a:rPr lang="en-US" sz="1200" dirty="0" err="1"/>
              <a:t>více</a:t>
            </a:r>
            <a:r>
              <a:rPr lang="en-US" sz="1200" dirty="0"/>
              <a:t> OS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jednom</a:t>
            </a:r>
            <a:r>
              <a:rPr lang="en-US" sz="1200" dirty="0"/>
              <a:t> </a:t>
            </a:r>
            <a:r>
              <a:rPr lang="en-US" sz="1200" dirty="0" err="1"/>
              <a:t>fyzickém</a:t>
            </a:r>
            <a:r>
              <a:rPr lang="en-US" sz="1200" dirty="0"/>
              <a:t> </a:t>
            </a:r>
            <a:r>
              <a:rPr lang="en-US" sz="1200" dirty="0" err="1"/>
              <a:t>počítači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Typy</a:t>
            </a:r>
            <a:r>
              <a:rPr lang="en-US" sz="1200" dirty="0"/>
              <a:t> – hypervisor se </a:t>
            </a:r>
            <a:r>
              <a:rPr lang="en-US" sz="1200" dirty="0" err="1"/>
              <a:t>dělí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2 </a:t>
            </a:r>
            <a:r>
              <a:rPr lang="en-US" sz="1200" dirty="0" err="1"/>
              <a:t>typy</a:t>
            </a:r>
            <a:r>
              <a:rPr lang="en-US" sz="1200" dirty="0"/>
              <a:t>. </a:t>
            </a:r>
            <a:r>
              <a:rPr lang="en-US" sz="1200" dirty="0" err="1"/>
              <a:t>Typ</a:t>
            </a:r>
            <a:r>
              <a:rPr lang="en-US" sz="1200" dirty="0"/>
              <a:t> 1 je </a:t>
            </a:r>
            <a:r>
              <a:rPr lang="en-US" sz="1200" dirty="0" err="1"/>
              <a:t>přímo</a:t>
            </a:r>
            <a:r>
              <a:rPr lang="en-US" sz="1200" dirty="0"/>
              <a:t> </a:t>
            </a:r>
            <a:r>
              <a:rPr lang="en-US" sz="1200" dirty="0" err="1"/>
              <a:t>nainstalován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hardware </a:t>
            </a:r>
            <a:r>
              <a:rPr lang="en-US" sz="1200" dirty="0" err="1"/>
              <a:t>počítače</a:t>
            </a:r>
            <a:r>
              <a:rPr lang="en-US" sz="1200" dirty="0"/>
              <a:t> a </a:t>
            </a:r>
            <a:r>
              <a:rPr lang="en-US" sz="1200" dirty="0" err="1"/>
              <a:t>má</a:t>
            </a:r>
            <a:r>
              <a:rPr lang="en-US" sz="1200" dirty="0"/>
              <a:t> </a:t>
            </a:r>
            <a:r>
              <a:rPr lang="en-US" sz="1200" dirty="0" err="1"/>
              <a:t>lepší</a:t>
            </a:r>
            <a:r>
              <a:rPr lang="en-US" sz="1200" dirty="0"/>
              <a:t> </a:t>
            </a:r>
            <a:r>
              <a:rPr lang="en-US" sz="1200" dirty="0" err="1"/>
              <a:t>výkon</a:t>
            </a:r>
            <a:r>
              <a:rPr lang="en-US" sz="1200" dirty="0"/>
              <a:t> a </a:t>
            </a:r>
            <a:r>
              <a:rPr lang="en-US" sz="1200" dirty="0" err="1"/>
              <a:t>typ</a:t>
            </a:r>
            <a:r>
              <a:rPr lang="en-US" sz="1200" dirty="0"/>
              <a:t> 2 je </a:t>
            </a:r>
            <a:r>
              <a:rPr lang="en-US" sz="1200" dirty="0" err="1"/>
              <a:t>nainstalován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Container – </a:t>
            </a:r>
            <a:r>
              <a:rPr lang="en-US" sz="1200" dirty="0" err="1"/>
              <a:t>Virtualizace</a:t>
            </a:r>
            <a:r>
              <a:rPr lang="en-US" sz="1200" dirty="0"/>
              <a:t> a </a:t>
            </a:r>
            <a:r>
              <a:rPr lang="en-US" sz="1200" dirty="0" err="1"/>
              <a:t>Kontejnery</a:t>
            </a:r>
            <a:r>
              <a:rPr lang="en-US" sz="1200" dirty="0"/>
              <a:t> se </a:t>
            </a:r>
            <a:r>
              <a:rPr lang="en-US" sz="1200" dirty="0" err="1"/>
              <a:t>mohou</a:t>
            </a:r>
            <a:r>
              <a:rPr lang="en-US" sz="1200" dirty="0"/>
              <a:t> </a:t>
            </a:r>
            <a:r>
              <a:rPr lang="en-US" sz="1200" dirty="0" err="1"/>
              <a:t>zdát</a:t>
            </a:r>
            <a:r>
              <a:rPr lang="en-US" sz="1200" dirty="0"/>
              <a:t> </a:t>
            </a:r>
            <a:r>
              <a:rPr lang="en-US" sz="1200" dirty="0" err="1"/>
              <a:t>podobné</a:t>
            </a:r>
            <a:r>
              <a:rPr lang="en-US" sz="1200" dirty="0"/>
              <a:t> ale </a:t>
            </a:r>
            <a:r>
              <a:rPr lang="en-US" sz="1200" dirty="0" err="1"/>
              <a:t>rozdíl</a:t>
            </a:r>
            <a:r>
              <a:rPr lang="en-US" sz="1200" dirty="0"/>
              <a:t> v </a:t>
            </a:r>
            <a:r>
              <a:rPr lang="en-US" sz="1200" dirty="0" err="1"/>
              <a:t>nich</a:t>
            </a:r>
            <a:r>
              <a:rPr lang="en-US" sz="1200" dirty="0"/>
              <a:t> je </a:t>
            </a:r>
            <a:r>
              <a:rPr lang="en-US" sz="1200" dirty="0" err="1"/>
              <a:t>že</a:t>
            </a:r>
            <a:r>
              <a:rPr lang="en-US" sz="1200" dirty="0"/>
              <a:t> u </a:t>
            </a:r>
            <a:r>
              <a:rPr lang="en-US" sz="1200" dirty="0" err="1"/>
              <a:t>jednoho</a:t>
            </a:r>
            <a:r>
              <a:rPr lang="en-US" sz="1200" dirty="0"/>
              <a:t> </a:t>
            </a:r>
            <a:r>
              <a:rPr lang="en-US" sz="1200" dirty="0" err="1"/>
              <a:t>napozadí</a:t>
            </a:r>
            <a:r>
              <a:rPr lang="en-US" sz="1200" dirty="0"/>
              <a:t> </a:t>
            </a:r>
            <a:r>
              <a:rPr lang="en-US" sz="1200" dirty="0" err="1"/>
              <a:t>běží</a:t>
            </a:r>
            <a:r>
              <a:rPr lang="en-US" sz="1200" dirty="0"/>
              <a:t> OS a </a:t>
            </a:r>
            <a:r>
              <a:rPr lang="en-US" sz="1200" dirty="0" err="1"/>
              <a:t>druhý</a:t>
            </a:r>
            <a:r>
              <a:rPr lang="en-US" sz="1200" dirty="0"/>
              <a:t> je set </a:t>
            </a:r>
            <a:r>
              <a:rPr lang="en-US" sz="1200" dirty="0" err="1"/>
              <a:t>jednoho</a:t>
            </a:r>
            <a:r>
              <a:rPr lang="en-US" sz="1200" dirty="0"/>
              <a:t> </a:t>
            </a:r>
            <a:r>
              <a:rPr lang="en-US" sz="1200" dirty="0" err="1"/>
              <a:t>nebo</a:t>
            </a:r>
            <a:r>
              <a:rPr lang="en-US" sz="1200" dirty="0"/>
              <a:t> </a:t>
            </a:r>
            <a:r>
              <a:rPr lang="en-US" sz="1200" dirty="0" err="1"/>
              <a:t>více</a:t>
            </a:r>
            <a:r>
              <a:rPr lang="en-US" sz="1200" dirty="0"/>
              <a:t> </a:t>
            </a:r>
            <a:r>
              <a:rPr lang="en-US" sz="1200" dirty="0" err="1"/>
              <a:t>izolovaných</a:t>
            </a:r>
            <a:r>
              <a:rPr lang="en-US" sz="1200" dirty="0"/>
              <a:t> </a:t>
            </a:r>
            <a:r>
              <a:rPr lang="en-US" sz="1200" dirty="0" err="1"/>
              <a:t>procesů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7FADA-4BE8-2098-9092-87ABC5D75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3922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E55B-EFCD-20F6-322B-DD73CC66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1D0FA-01CA-D000-9754-29C656E2B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EDBBD-FBF5-31F5-D792-CE3294DEF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Efektivní</a:t>
            </a:r>
            <a:r>
              <a:rPr lang="en-US" sz="1200" dirty="0"/>
              <a:t> – </a:t>
            </a:r>
            <a:r>
              <a:rPr lang="en-US" sz="1200" dirty="0" err="1"/>
              <a:t>efektivní</a:t>
            </a:r>
            <a:r>
              <a:rPr lang="en-US" sz="1200" dirty="0"/>
              <a:t> </a:t>
            </a:r>
            <a:r>
              <a:rPr lang="en-US" sz="1200" dirty="0" err="1"/>
              <a:t>využítí</a:t>
            </a:r>
            <a:r>
              <a:rPr lang="en-US" sz="1200" dirty="0"/>
              <a:t> </a:t>
            </a:r>
            <a:r>
              <a:rPr lang="en-US" sz="1200" dirty="0" err="1"/>
              <a:t>svých</a:t>
            </a:r>
            <a:r>
              <a:rPr lang="en-US" sz="1200" dirty="0"/>
              <a:t> </a:t>
            </a:r>
            <a:r>
              <a:rPr lang="en-US" sz="1200" dirty="0" err="1"/>
              <a:t>přidělených</a:t>
            </a:r>
            <a:r>
              <a:rPr lang="en-US" sz="1200" dirty="0"/>
              <a:t> </a:t>
            </a:r>
            <a:r>
              <a:rPr lang="en-US" sz="1200" dirty="0" err="1"/>
              <a:t>zdrojů</a:t>
            </a:r>
            <a:r>
              <a:rPr lang="en-US" sz="1200" dirty="0"/>
              <a:t> </a:t>
            </a:r>
            <a:r>
              <a:rPr lang="en-US" sz="1200" dirty="0" err="1"/>
              <a:t>např</a:t>
            </a:r>
            <a:r>
              <a:rPr lang="en-US" sz="1200" dirty="0"/>
              <a:t>. </a:t>
            </a:r>
            <a:r>
              <a:rPr lang="en-US" sz="1200" dirty="0" err="1"/>
              <a:t>Více</a:t>
            </a:r>
            <a:r>
              <a:rPr lang="en-US" sz="1200" dirty="0"/>
              <a:t> </a:t>
            </a:r>
            <a:r>
              <a:rPr lang="en-US" sz="1200" dirty="0" err="1"/>
              <a:t>serverů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jednom</a:t>
            </a:r>
            <a:r>
              <a:rPr lang="en-US" sz="1200" dirty="0"/>
              <a:t> PC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Lehký</a:t>
            </a:r>
            <a:r>
              <a:rPr lang="en-US" sz="1200" dirty="0"/>
              <a:t> management – </a:t>
            </a:r>
            <a:r>
              <a:rPr lang="en-US" sz="1200" dirty="0" err="1"/>
              <a:t>dají</a:t>
            </a:r>
            <a:r>
              <a:rPr lang="en-US" sz="1200" dirty="0"/>
              <a:t> se </a:t>
            </a:r>
            <a:r>
              <a:rPr lang="en-US" sz="1200" dirty="0" err="1"/>
              <a:t>snadno</a:t>
            </a:r>
            <a:r>
              <a:rPr lang="en-US" sz="1200" dirty="0"/>
              <a:t> </a:t>
            </a:r>
            <a:r>
              <a:rPr lang="en-US" sz="1200" dirty="0" err="1"/>
              <a:t>spravovat</a:t>
            </a:r>
            <a:r>
              <a:rPr lang="en-US" sz="1200" dirty="0"/>
              <a:t> </a:t>
            </a:r>
            <a:r>
              <a:rPr lang="en-US" sz="1200" dirty="0" err="1"/>
              <a:t>pomocí</a:t>
            </a:r>
            <a:r>
              <a:rPr lang="en-US" sz="1200" dirty="0"/>
              <a:t> software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dálku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Snadná</a:t>
            </a:r>
            <a:r>
              <a:rPr lang="en-US" sz="1200" dirty="0"/>
              <a:t> </a:t>
            </a:r>
            <a:r>
              <a:rPr lang="en-US" sz="1200" dirty="0" err="1"/>
              <a:t>obnova</a:t>
            </a:r>
            <a:r>
              <a:rPr lang="en-US" sz="1200" dirty="0"/>
              <a:t> – </a:t>
            </a:r>
            <a:r>
              <a:rPr lang="en-US" sz="1200" dirty="0" err="1"/>
              <a:t>velmi</a:t>
            </a:r>
            <a:r>
              <a:rPr lang="en-US" sz="1200" dirty="0"/>
              <a:t> </a:t>
            </a:r>
            <a:r>
              <a:rPr lang="en-US" sz="1200" dirty="0" err="1"/>
              <a:t>snadné</a:t>
            </a:r>
            <a:r>
              <a:rPr lang="en-US" sz="1200" dirty="0"/>
              <a:t> </a:t>
            </a:r>
            <a:r>
              <a:rPr lang="en-US" sz="1200" dirty="0" err="1"/>
              <a:t>obnovit</a:t>
            </a:r>
            <a:r>
              <a:rPr lang="en-US" sz="1200" dirty="0"/>
              <a:t> </a:t>
            </a:r>
            <a:r>
              <a:rPr lang="en-US" sz="1200" dirty="0" err="1"/>
              <a:t>vm</a:t>
            </a:r>
            <a:r>
              <a:rPr lang="en-US" sz="1200" dirty="0"/>
              <a:t> po cyber </a:t>
            </a:r>
            <a:r>
              <a:rPr lang="en-US" sz="1200" dirty="0" err="1"/>
              <a:t>útoku</a:t>
            </a:r>
            <a:r>
              <a:rPr lang="en-US" sz="1200" dirty="0"/>
              <a:t> </a:t>
            </a:r>
            <a:r>
              <a:rPr lang="en-US" sz="1200" dirty="0" err="1"/>
              <a:t>nebo</a:t>
            </a:r>
            <a:r>
              <a:rPr lang="en-US" sz="1200" dirty="0"/>
              <a:t> </a:t>
            </a:r>
            <a:r>
              <a:rPr lang="en-US" sz="1200" dirty="0" err="1"/>
              <a:t>naturální</a:t>
            </a:r>
            <a:r>
              <a:rPr lang="en-US" sz="1200" dirty="0"/>
              <a:t> </a:t>
            </a:r>
            <a:r>
              <a:rPr lang="en-US" sz="1200" dirty="0" err="1"/>
              <a:t>havárii</a:t>
            </a:r>
            <a:endParaRPr lang="cs-CZ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4B5BD-32E1-8D48-9ECF-186BAD10A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3009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322C2C"/>
                </a:solidFill>
              </a:rPr>
              <a:t>Microsoft – software od </a:t>
            </a:r>
            <a:r>
              <a:rPr lang="en-US" sz="1200" dirty="0" err="1">
                <a:solidFill>
                  <a:srgbClr val="322C2C"/>
                </a:solidFill>
              </a:rPr>
              <a:t>Microsoftu</a:t>
            </a:r>
            <a:r>
              <a:rPr lang="en-US" sz="1200" dirty="0">
                <a:solidFill>
                  <a:srgbClr val="322C2C"/>
                </a:solidFill>
              </a:rPr>
              <a:t> </a:t>
            </a:r>
            <a:r>
              <a:rPr lang="en-US" sz="1200" dirty="0" err="1">
                <a:solidFill>
                  <a:srgbClr val="322C2C"/>
                </a:solidFill>
              </a:rPr>
              <a:t>založen</a:t>
            </a:r>
            <a:r>
              <a:rPr lang="en-US" sz="1200" dirty="0">
                <a:solidFill>
                  <a:srgbClr val="322C2C"/>
                </a:solidFill>
              </a:rPr>
              <a:t> v </a:t>
            </a:r>
            <a:r>
              <a:rPr lang="en-US" sz="1200" dirty="0" err="1">
                <a:solidFill>
                  <a:srgbClr val="322C2C"/>
                </a:solidFill>
              </a:rPr>
              <a:t>roce</a:t>
            </a:r>
            <a:r>
              <a:rPr lang="en-US" sz="1200" dirty="0">
                <a:solidFill>
                  <a:srgbClr val="322C2C"/>
                </a:solidFill>
              </a:rPr>
              <a:t> 2008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>
                <a:solidFill>
                  <a:srgbClr val="322C2C"/>
                </a:solidFill>
              </a:rPr>
              <a:t>Virtualizační</a:t>
            </a:r>
            <a:r>
              <a:rPr lang="en-US" sz="1200" dirty="0">
                <a:solidFill>
                  <a:srgbClr val="322C2C"/>
                </a:solidFill>
              </a:rPr>
              <a:t> software – specifically hardware </a:t>
            </a:r>
            <a:r>
              <a:rPr lang="en-US" sz="1200" dirty="0" err="1">
                <a:solidFill>
                  <a:srgbClr val="322C2C"/>
                </a:solidFill>
              </a:rPr>
              <a:t>virtualizace</a:t>
            </a:r>
            <a:r>
              <a:rPr lang="en-US" sz="1200" dirty="0">
                <a:solidFill>
                  <a:srgbClr val="322C2C"/>
                </a:solidFill>
              </a:rPr>
              <a:t>. To </a:t>
            </a:r>
            <a:r>
              <a:rPr lang="en-US" sz="1200" dirty="0" err="1">
                <a:solidFill>
                  <a:srgbClr val="322C2C"/>
                </a:solidFill>
              </a:rPr>
              <a:t>znamená</a:t>
            </a:r>
            <a:r>
              <a:rPr lang="en-US" sz="1200" dirty="0">
                <a:solidFill>
                  <a:srgbClr val="322C2C"/>
                </a:solidFill>
              </a:rPr>
              <a:t> I </a:t>
            </a:r>
            <a:r>
              <a:rPr lang="en-US" sz="1200" dirty="0" err="1">
                <a:solidFill>
                  <a:srgbClr val="322C2C"/>
                </a:solidFill>
              </a:rPr>
              <a:t>virtuální</a:t>
            </a:r>
            <a:r>
              <a:rPr lang="en-US" sz="1200" dirty="0">
                <a:solidFill>
                  <a:srgbClr val="322C2C"/>
                </a:solidFill>
              </a:rPr>
              <a:t> hardware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322C2C"/>
                </a:solidFill>
              </a:rPr>
              <a:t>Virtual machines – </a:t>
            </a:r>
            <a:r>
              <a:rPr lang="en-US" sz="1200" dirty="0" err="1">
                <a:solidFill>
                  <a:srgbClr val="322C2C"/>
                </a:solidFill>
              </a:rPr>
              <a:t>virtuální</a:t>
            </a:r>
            <a:r>
              <a:rPr lang="en-US" sz="1200" dirty="0">
                <a:solidFill>
                  <a:srgbClr val="322C2C"/>
                </a:solidFill>
              </a:rPr>
              <a:t> </a:t>
            </a:r>
            <a:r>
              <a:rPr lang="en-US" sz="1200" dirty="0" err="1">
                <a:solidFill>
                  <a:srgbClr val="322C2C"/>
                </a:solidFill>
              </a:rPr>
              <a:t>počítače</a:t>
            </a:r>
            <a:endParaRPr lang="en-US" sz="1200" dirty="0">
              <a:solidFill>
                <a:srgbClr val="322C2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2883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Testování</a:t>
            </a:r>
            <a:r>
              <a:rPr lang="en-US" dirty="0"/>
              <a:t> OS – </a:t>
            </a:r>
            <a:r>
              <a:rPr lang="en-US" dirty="0" err="1"/>
              <a:t>Velmi</a:t>
            </a:r>
            <a:r>
              <a:rPr lang="en-US" dirty="0"/>
              <a:t> </a:t>
            </a:r>
            <a:r>
              <a:rPr lang="en-US" dirty="0" err="1"/>
              <a:t>snadno</a:t>
            </a:r>
            <a:r>
              <a:rPr lang="en-US" dirty="0"/>
              <a:t> se </a:t>
            </a:r>
            <a:r>
              <a:rPr lang="en-US" dirty="0" err="1"/>
              <a:t>vytváří</a:t>
            </a:r>
            <a:r>
              <a:rPr lang="en-US" dirty="0"/>
              <a:t> remote desktop </a:t>
            </a:r>
            <a:r>
              <a:rPr lang="en-US" dirty="0" err="1"/>
              <a:t>systémy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Experiment /w software – </a:t>
            </a:r>
            <a:r>
              <a:rPr lang="en-US" dirty="0" err="1"/>
              <a:t>testování</a:t>
            </a:r>
            <a:r>
              <a:rPr lang="en-US" dirty="0"/>
              <a:t> </a:t>
            </a:r>
            <a:r>
              <a:rPr lang="en-US" dirty="0" err="1"/>
              <a:t>jestli</a:t>
            </a:r>
            <a:r>
              <a:rPr lang="en-US" dirty="0"/>
              <a:t> software </a:t>
            </a:r>
            <a:r>
              <a:rPr lang="en-US" dirty="0" err="1"/>
              <a:t>funguje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vice </a:t>
            </a:r>
            <a:r>
              <a:rPr lang="en-US" dirty="0" err="1"/>
              <a:t>systémech</a:t>
            </a:r>
            <a:r>
              <a:rPr lang="en-US" dirty="0"/>
              <a:t> / </a:t>
            </a:r>
            <a:r>
              <a:rPr lang="en-US" dirty="0" err="1"/>
              <a:t>virusy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Starší</a:t>
            </a:r>
            <a:r>
              <a:rPr lang="en-US" dirty="0"/>
              <a:t> </a:t>
            </a:r>
            <a:r>
              <a:rPr lang="en-US" dirty="0" err="1"/>
              <a:t>verze</a:t>
            </a:r>
            <a:r>
              <a:rPr lang="en-US" dirty="0"/>
              <a:t> - run software that requires an older versions of Windows or non-Windows operating systems</a:t>
            </a:r>
          </a:p>
          <a:p>
            <a:endParaRPr lang="en-US" dirty="0"/>
          </a:p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2056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EE4E-C6BB-7B4C-FEEE-EB7BC6EF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86AEF-83BA-238C-383E-553E236F5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4ACC9-A2F3-3983-B20B-82EBE9677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depended –  games, apps that require </a:t>
            </a:r>
            <a:r>
              <a:rPr lang="en-US" dirty="0" err="1"/>
              <a:t>gpu</a:t>
            </a:r>
            <a:r>
              <a:rPr lang="en-US" dirty="0"/>
              <a:t> processing</a:t>
            </a:r>
          </a:p>
          <a:p>
            <a:endParaRPr lang="en-US" dirty="0"/>
          </a:p>
          <a:p>
            <a:r>
              <a:rPr lang="en-US" dirty="0" err="1"/>
              <a:t>Latence</a:t>
            </a:r>
            <a:r>
              <a:rPr lang="en-US" dirty="0"/>
              <a:t> – apps by </a:t>
            </a:r>
            <a:r>
              <a:rPr lang="en-US" dirty="0" err="1"/>
              <a:t>mohly</a:t>
            </a:r>
            <a:r>
              <a:rPr lang="en-US" dirty="0"/>
              <a:t> </a:t>
            </a:r>
            <a:r>
              <a:rPr lang="en-US" dirty="0" err="1"/>
              <a:t>mít</a:t>
            </a:r>
            <a:r>
              <a:rPr lang="en-US" dirty="0"/>
              <a:t> </a:t>
            </a:r>
            <a:r>
              <a:rPr lang="en-US" dirty="0" err="1"/>
              <a:t>problémy</a:t>
            </a:r>
            <a:r>
              <a:rPr lang="en-US" dirty="0"/>
              <a:t> </a:t>
            </a:r>
            <a:r>
              <a:rPr lang="en-US" dirty="0" err="1"/>
              <a:t>pokud</a:t>
            </a:r>
            <a:r>
              <a:rPr lang="en-US" dirty="0"/>
              <a:t> </a:t>
            </a:r>
            <a:r>
              <a:rPr lang="en-US" dirty="0" err="1"/>
              <a:t>potřebujou</a:t>
            </a:r>
            <a:r>
              <a:rPr lang="en-US" dirty="0"/>
              <a:t> sub-10ms timing – </a:t>
            </a:r>
            <a:r>
              <a:rPr lang="en-US" dirty="0" err="1"/>
              <a:t>Hudba</a:t>
            </a:r>
            <a:r>
              <a:rPr lang="en-US" dirty="0"/>
              <a:t> </a:t>
            </a:r>
            <a:r>
              <a:rPr lang="en-US" dirty="0" err="1"/>
              <a:t>například</a:t>
            </a:r>
            <a:endParaRPr lang="en-US" dirty="0"/>
          </a:p>
          <a:p>
            <a:endParaRPr lang="en-US" dirty="0"/>
          </a:p>
          <a:p>
            <a:r>
              <a:rPr lang="en-US" dirty="0"/>
              <a:t>Layered </a:t>
            </a:r>
            <a:r>
              <a:rPr lang="en-US" dirty="0" err="1"/>
              <a:t>přes</a:t>
            </a:r>
            <a:r>
              <a:rPr lang="en-US" dirty="0"/>
              <a:t> host </a:t>
            </a:r>
            <a:r>
              <a:rPr lang="en-US" dirty="0" err="1"/>
              <a:t>os</a:t>
            </a:r>
            <a:r>
              <a:rPr lang="en-US" dirty="0"/>
              <a:t> – </a:t>
            </a:r>
            <a:r>
              <a:rPr lang="en-US" dirty="0" err="1"/>
              <a:t>Pokud</a:t>
            </a:r>
            <a:r>
              <a:rPr lang="en-US" dirty="0"/>
              <a:t> je </a:t>
            </a:r>
            <a:r>
              <a:rPr lang="en-US" dirty="0" err="1"/>
              <a:t>virtualizace</a:t>
            </a:r>
            <a:r>
              <a:rPr lang="en-US" dirty="0"/>
              <a:t> </a:t>
            </a:r>
            <a:r>
              <a:rPr lang="en-US" dirty="0" err="1"/>
              <a:t>zaplá</a:t>
            </a:r>
            <a:r>
              <a:rPr lang="en-US" dirty="0"/>
              <a:t> hyper V </a:t>
            </a:r>
            <a:r>
              <a:rPr lang="en-US" dirty="0" err="1"/>
              <a:t>běží</a:t>
            </a:r>
            <a:r>
              <a:rPr lang="en-US" dirty="0"/>
              <a:t> </a:t>
            </a:r>
            <a:r>
              <a:rPr lang="en-US" dirty="0" err="1"/>
              <a:t>přes</a:t>
            </a:r>
            <a:r>
              <a:rPr lang="en-US" dirty="0"/>
              <a:t> host </a:t>
            </a:r>
            <a:r>
              <a:rPr lang="en-US" dirty="0" err="1"/>
              <a:t>os</a:t>
            </a:r>
            <a:r>
              <a:rPr lang="en-US" dirty="0"/>
              <a:t> a </a:t>
            </a:r>
            <a:r>
              <a:rPr lang="en-US" dirty="0" err="1"/>
              <a:t>máš</a:t>
            </a:r>
            <a:r>
              <a:rPr lang="en-US" dirty="0"/>
              <a:t> access k </a:t>
            </a:r>
            <a:r>
              <a:rPr lang="en-US" dirty="0" err="1"/>
              <a:t>hardwaru</a:t>
            </a:r>
            <a:endParaRPr lang="en-US" dirty="0"/>
          </a:p>
          <a:p>
            <a:r>
              <a:rPr lang="en-US" dirty="0"/>
              <a:t> 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36F9-A543-7F22-D30C-11442FE78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5734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FB71-6699-CEFF-D5E6-D87C0210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DB6BC-2285-9635-0A58-EE733EE9B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A6E1D-8F5D-E961-87DB-88FAC612C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7EEB1-A5E8-C051-ED90-5E1FBDF1D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604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7BF6-FEEE-8D40-DE5C-22752A9F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D258A-3783-39D7-DD80-7E56F5251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B33F5-D1B8-3073-50B2-E146B73EF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08832-A057-36C9-432A-C0837F8CD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8680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508AC-CD48-E9D5-A1C4-902ED95D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90A33-2768-36EF-C9A6-25E34D472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E7425-F9CC-FB45-5866-71EA59E79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9CDD-4897-7599-A768-9365B76F5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6080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C95C-2E28-7A57-8754-0792CA5B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044D9-ABFE-7122-50B1-9F07BA570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678A8-4C0E-430F-478E-CA5147E02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40945-5C9C-EA1F-5416-D621A2D30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8712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05BD-E9D5-449D-CC0B-FDC3E3652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907BB-64E2-D7A5-C449-D0EB3F0B6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05973-305F-4E92-8A50-5CD8270A7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Kontrola</a:t>
            </a:r>
            <a:r>
              <a:rPr lang="en-US" dirty="0"/>
              <a:t> – remote desktop </a:t>
            </a:r>
            <a:r>
              <a:rPr lang="en-US" dirty="0" err="1"/>
              <a:t>jde</a:t>
            </a:r>
            <a:r>
              <a:rPr lang="en-US" dirty="0"/>
              <a:t> </a:t>
            </a:r>
            <a:r>
              <a:rPr lang="en-US" dirty="0" err="1"/>
              <a:t>vysvělit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převzetí</a:t>
            </a:r>
            <a:r>
              <a:rPr lang="en-US" dirty="0"/>
              <a:t> </a:t>
            </a:r>
            <a:r>
              <a:rPr lang="en-US" dirty="0" err="1"/>
              <a:t>kontroly</a:t>
            </a:r>
            <a:r>
              <a:rPr lang="en-US" dirty="0"/>
              <a:t> </a:t>
            </a:r>
            <a:r>
              <a:rPr lang="en-US" dirty="0" err="1"/>
              <a:t>počítač</a:t>
            </a:r>
            <a:r>
              <a:rPr lang="en-US" dirty="0"/>
              <a:t>/</a:t>
            </a:r>
            <a:r>
              <a:rPr lang="en-US" dirty="0" err="1"/>
              <a:t>vm</a:t>
            </a:r>
            <a:r>
              <a:rPr lang="en-US" dirty="0"/>
              <a:t>/</a:t>
            </a:r>
            <a:r>
              <a:rPr lang="en-US" dirty="0" err="1"/>
              <a:t>serveru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dálku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Administrace</a:t>
            </a:r>
            <a:r>
              <a:rPr lang="en-US" dirty="0"/>
              <a:t> – </a:t>
            </a:r>
            <a:r>
              <a:rPr lang="en-US" dirty="0" err="1"/>
              <a:t>nejčastější</a:t>
            </a:r>
            <a:r>
              <a:rPr lang="en-US" dirty="0"/>
              <a:t> </a:t>
            </a:r>
            <a:r>
              <a:rPr lang="en-US" dirty="0" err="1"/>
              <a:t>použití</a:t>
            </a:r>
            <a:r>
              <a:rPr lang="en-US" dirty="0"/>
              <a:t> je </a:t>
            </a:r>
            <a:r>
              <a:rPr lang="en-US" dirty="0" err="1"/>
              <a:t>při</a:t>
            </a:r>
            <a:r>
              <a:rPr lang="en-US" dirty="0"/>
              <a:t> </a:t>
            </a:r>
            <a:r>
              <a:rPr lang="en-US" dirty="0" err="1"/>
              <a:t>spravování</a:t>
            </a:r>
            <a:r>
              <a:rPr lang="en-US" dirty="0"/>
              <a:t> </a:t>
            </a:r>
            <a:r>
              <a:rPr lang="en-US" dirty="0" err="1"/>
              <a:t>zařízení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dálku</a:t>
            </a:r>
            <a:r>
              <a:rPr lang="en-US" dirty="0"/>
              <a:t>. Software </a:t>
            </a:r>
            <a:r>
              <a:rPr lang="en-US" dirty="0" err="1"/>
              <a:t>lze</a:t>
            </a:r>
            <a:r>
              <a:rPr lang="en-US" dirty="0"/>
              <a:t> </a:t>
            </a:r>
            <a:r>
              <a:rPr lang="en-US" dirty="0" err="1"/>
              <a:t>použít</a:t>
            </a:r>
            <a:r>
              <a:rPr lang="en-US" dirty="0"/>
              <a:t> pro “headless pc”</a:t>
            </a:r>
          </a:p>
          <a:p>
            <a:endParaRPr lang="en-US" dirty="0"/>
          </a:p>
          <a:p>
            <a:r>
              <a:rPr lang="en-US" dirty="0"/>
              <a:t>Trojan – Remote access trojan – </a:t>
            </a:r>
            <a:r>
              <a:rPr lang="en-US" dirty="0" err="1"/>
              <a:t>maskovaný</a:t>
            </a:r>
            <a:r>
              <a:rPr lang="en-US" dirty="0"/>
              <a:t> software, </a:t>
            </a:r>
            <a:r>
              <a:rPr lang="en-US" dirty="0" err="1"/>
              <a:t>který</a:t>
            </a:r>
            <a:r>
              <a:rPr lang="en-US" dirty="0"/>
              <a:t> se </a:t>
            </a:r>
            <a:r>
              <a:rPr lang="en-US" dirty="0" err="1"/>
              <a:t>snaží</a:t>
            </a:r>
            <a:r>
              <a:rPr lang="en-US" dirty="0"/>
              <a:t> </a:t>
            </a:r>
            <a:r>
              <a:rPr lang="en-US" dirty="0" err="1"/>
              <a:t>skrýt</a:t>
            </a:r>
            <a:r>
              <a:rPr lang="en-US" dirty="0"/>
              <a:t> </a:t>
            </a:r>
            <a:r>
              <a:rPr lang="en-US" dirty="0" err="1"/>
              <a:t>svůj</a:t>
            </a:r>
            <a:r>
              <a:rPr lang="en-US" dirty="0"/>
              <a:t> </a:t>
            </a:r>
            <a:r>
              <a:rPr lang="en-US" dirty="0" err="1"/>
              <a:t>provoz</a:t>
            </a:r>
            <a:r>
              <a:rPr lang="en-US" dirty="0"/>
              <a:t> v </a:t>
            </a:r>
            <a:r>
              <a:rPr lang="en-US" dirty="0" err="1"/>
              <a:t>pozadí</a:t>
            </a:r>
            <a:endParaRPr lang="en-US" dirty="0"/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3D44F-9B7D-7A8D-D26C-AF0C299D2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558CB-F1FB-4AD9-A556-3168E05F761A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982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32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322C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32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322C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32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32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5845240" y="0"/>
                </a:moveTo>
                <a:lnTo>
                  <a:pt x="0" y="0"/>
                </a:lnTo>
                <a:lnTo>
                  <a:pt x="0" y="3287938"/>
                </a:lnTo>
                <a:lnTo>
                  <a:pt x="5845240" y="3287938"/>
                </a:lnTo>
                <a:lnTo>
                  <a:pt x="5845240" y="0"/>
                </a:lnTo>
                <a:close/>
              </a:path>
            </a:pathLst>
          </a:custGeom>
          <a:solidFill>
            <a:srgbClr val="F5F2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1483" y="448291"/>
            <a:ext cx="4851732" cy="31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32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9371" y="1082795"/>
            <a:ext cx="2423795" cy="83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322C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MiPMQlnt-bY?feature=oembed" TargetMode="Externa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opics/virtualization" TargetMode="External"/><Relationship Id="rId2" Type="http://schemas.openxmlformats.org/officeDocument/2006/relationships/hyperlink" Target="https://en.wikipedia.org/wiki/Remote_desktop_softwar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what-is/virtualization/" TargetMode="External"/><Relationship Id="rId4" Type="http://schemas.openxmlformats.org/officeDocument/2006/relationships/hyperlink" Target="https://learn.microsoft.com/en-us/virtualization/hyper-v-on-windows/abou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868299"/>
            <a:ext cx="58547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100"/>
              </a:spcBef>
            </a:pPr>
            <a:r>
              <a:rPr lang="en-US" sz="2700" spc="-40" dirty="0"/>
              <a:t>Hyper-V a </a:t>
            </a:r>
            <a:r>
              <a:rPr lang="en-US" sz="2700" spc="-40" dirty="0" err="1"/>
              <a:t>Virtualizace</a:t>
            </a:r>
            <a:endParaRPr sz="2700" dirty="0"/>
          </a:p>
        </p:txBody>
      </p:sp>
      <p:sp>
        <p:nvSpPr>
          <p:cNvPr id="3" name="object 3"/>
          <p:cNvSpPr/>
          <p:nvPr/>
        </p:nvSpPr>
        <p:spPr>
          <a:xfrm>
            <a:off x="1511" y="12"/>
            <a:ext cx="5845810" cy="815340"/>
          </a:xfrm>
          <a:custGeom>
            <a:avLst/>
            <a:gdLst/>
            <a:ahLst/>
            <a:cxnLst/>
            <a:rect l="l" t="t" r="r" b="b"/>
            <a:pathLst>
              <a:path w="5845810" h="815340">
                <a:moveTo>
                  <a:pt x="5845213" y="168389"/>
                </a:moveTo>
                <a:lnTo>
                  <a:pt x="1081011" y="168389"/>
                </a:lnTo>
                <a:lnTo>
                  <a:pt x="1099464" y="154457"/>
                </a:lnTo>
                <a:lnTo>
                  <a:pt x="1139164" y="127368"/>
                </a:lnTo>
                <a:lnTo>
                  <a:pt x="1180299" y="102717"/>
                </a:lnTo>
                <a:lnTo>
                  <a:pt x="1224762" y="79667"/>
                </a:lnTo>
                <a:lnTo>
                  <a:pt x="1271511" y="58915"/>
                </a:lnTo>
                <a:lnTo>
                  <a:pt x="1320685" y="40411"/>
                </a:lnTo>
                <a:lnTo>
                  <a:pt x="1372438" y="24091"/>
                </a:lnTo>
                <a:lnTo>
                  <a:pt x="1426921" y="9918"/>
                </a:lnTo>
                <a:lnTo>
                  <a:pt x="1474000" y="0"/>
                </a:lnTo>
                <a:lnTo>
                  <a:pt x="1392555" y="0"/>
                </a:lnTo>
                <a:lnTo>
                  <a:pt x="1336903" y="15976"/>
                </a:lnTo>
                <a:lnTo>
                  <a:pt x="1292898" y="31165"/>
                </a:lnTo>
                <a:lnTo>
                  <a:pt x="1250759" y="48018"/>
                </a:lnTo>
                <a:lnTo>
                  <a:pt x="1210373" y="66573"/>
                </a:lnTo>
                <a:lnTo>
                  <a:pt x="1171651" y="86868"/>
                </a:lnTo>
                <a:lnTo>
                  <a:pt x="1129792" y="112001"/>
                </a:lnTo>
                <a:lnTo>
                  <a:pt x="1089469" y="139509"/>
                </a:lnTo>
                <a:lnTo>
                  <a:pt x="1051191" y="168389"/>
                </a:lnTo>
                <a:lnTo>
                  <a:pt x="0" y="168389"/>
                </a:lnTo>
                <a:lnTo>
                  <a:pt x="0" y="183603"/>
                </a:lnTo>
                <a:lnTo>
                  <a:pt x="1032497" y="183603"/>
                </a:lnTo>
                <a:lnTo>
                  <a:pt x="1012621" y="199834"/>
                </a:lnTo>
                <a:lnTo>
                  <a:pt x="975702" y="231762"/>
                </a:lnTo>
                <a:lnTo>
                  <a:pt x="939520" y="264261"/>
                </a:lnTo>
                <a:lnTo>
                  <a:pt x="875690" y="322745"/>
                </a:lnTo>
                <a:lnTo>
                  <a:pt x="842162" y="353110"/>
                </a:lnTo>
                <a:lnTo>
                  <a:pt x="807504" y="383921"/>
                </a:lnTo>
                <a:lnTo>
                  <a:pt x="771702" y="415010"/>
                </a:lnTo>
                <a:lnTo>
                  <a:pt x="734783" y="446163"/>
                </a:lnTo>
                <a:lnTo>
                  <a:pt x="696760" y="477215"/>
                </a:lnTo>
                <a:lnTo>
                  <a:pt x="657618" y="507949"/>
                </a:lnTo>
                <a:lnTo>
                  <a:pt x="617397" y="538187"/>
                </a:lnTo>
                <a:lnTo>
                  <a:pt x="576097" y="567728"/>
                </a:lnTo>
                <a:lnTo>
                  <a:pt x="533717" y="596379"/>
                </a:lnTo>
                <a:lnTo>
                  <a:pt x="490283" y="623951"/>
                </a:lnTo>
                <a:lnTo>
                  <a:pt x="445808" y="650240"/>
                </a:lnTo>
                <a:lnTo>
                  <a:pt x="400278" y="675081"/>
                </a:lnTo>
                <a:lnTo>
                  <a:pt x="350189" y="699909"/>
                </a:lnTo>
                <a:lnTo>
                  <a:pt x="299999" y="722134"/>
                </a:lnTo>
                <a:lnTo>
                  <a:pt x="249770" y="741756"/>
                </a:lnTo>
                <a:lnTo>
                  <a:pt x="199542" y="758761"/>
                </a:lnTo>
                <a:lnTo>
                  <a:pt x="149390" y="773125"/>
                </a:lnTo>
                <a:lnTo>
                  <a:pt x="99364" y="784872"/>
                </a:lnTo>
                <a:lnTo>
                  <a:pt x="49530" y="793965"/>
                </a:lnTo>
                <a:lnTo>
                  <a:pt x="3987" y="796950"/>
                </a:lnTo>
                <a:lnTo>
                  <a:pt x="0" y="796531"/>
                </a:lnTo>
                <a:lnTo>
                  <a:pt x="0" y="815009"/>
                </a:lnTo>
                <a:lnTo>
                  <a:pt x="2552" y="815111"/>
                </a:lnTo>
                <a:lnTo>
                  <a:pt x="9601" y="815111"/>
                </a:lnTo>
                <a:lnTo>
                  <a:pt x="52095" y="811847"/>
                </a:lnTo>
                <a:lnTo>
                  <a:pt x="102781" y="802678"/>
                </a:lnTo>
                <a:lnTo>
                  <a:pt x="127241" y="796950"/>
                </a:lnTo>
                <a:lnTo>
                  <a:pt x="153644" y="790778"/>
                </a:lnTo>
                <a:lnTo>
                  <a:pt x="204609" y="776185"/>
                </a:lnTo>
                <a:lnTo>
                  <a:pt x="255638" y="758901"/>
                </a:lnTo>
                <a:lnTo>
                  <a:pt x="306654" y="738949"/>
                </a:lnTo>
                <a:lnTo>
                  <a:pt x="357632" y="716368"/>
                </a:lnTo>
                <a:lnTo>
                  <a:pt x="408470" y="691159"/>
                </a:lnTo>
                <a:lnTo>
                  <a:pt x="454431" y="666127"/>
                </a:lnTo>
                <a:lnTo>
                  <a:pt x="499325" y="639622"/>
                </a:lnTo>
                <a:lnTo>
                  <a:pt x="543153" y="611822"/>
                </a:lnTo>
                <a:lnTo>
                  <a:pt x="585889" y="582942"/>
                </a:lnTo>
                <a:lnTo>
                  <a:pt x="627532" y="553161"/>
                </a:lnTo>
                <a:lnTo>
                  <a:pt x="668083" y="522681"/>
                </a:lnTo>
                <a:lnTo>
                  <a:pt x="707517" y="491705"/>
                </a:lnTo>
                <a:lnTo>
                  <a:pt x="745832" y="460425"/>
                </a:lnTo>
                <a:lnTo>
                  <a:pt x="783005" y="429018"/>
                </a:lnTo>
                <a:lnTo>
                  <a:pt x="819048" y="397713"/>
                </a:lnTo>
                <a:lnTo>
                  <a:pt x="853948" y="366674"/>
                </a:lnTo>
                <a:lnTo>
                  <a:pt x="887679" y="336105"/>
                </a:lnTo>
                <a:lnTo>
                  <a:pt x="951217" y="277876"/>
                </a:lnTo>
                <a:lnTo>
                  <a:pt x="987044" y="245681"/>
                </a:lnTo>
                <a:lnTo>
                  <a:pt x="1023581" y="214071"/>
                </a:lnTo>
                <a:lnTo>
                  <a:pt x="1060881" y="183603"/>
                </a:lnTo>
                <a:lnTo>
                  <a:pt x="5845213" y="183603"/>
                </a:lnTo>
                <a:lnTo>
                  <a:pt x="5845213" y="168389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11" y="2522499"/>
            <a:ext cx="5847715" cy="766445"/>
          </a:xfrm>
          <a:custGeom>
            <a:avLst/>
            <a:gdLst/>
            <a:ahLst/>
            <a:cxnLst/>
            <a:rect l="l" t="t" r="r" b="b"/>
            <a:pathLst>
              <a:path w="5847715" h="766445">
                <a:moveTo>
                  <a:pt x="5847588" y="0"/>
                </a:moveTo>
                <a:lnTo>
                  <a:pt x="5770702" y="12750"/>
                </a:lnTo>
                <a:lnTo>
                  <a:pt x="5723877" y="24625"/>
                </a:lnTo>
                <a:lnTo>
                  <a:pt x="5676989" y="39001"/>
                </a:lnTo>
                <a:lnTo>
                  <a:pt x="5630088" y="55867"/>
                </a:lnTo>
                <a:lnTo>
                  <a:pt x="5583237" y="75196"/>
                </a:lnTo>
                <a:lnTo>
                  <a:pt x="5536489" y="96977"/>
                </a:lnTo>
                <a:lnTo>
                  <a:pt x="5489880" y="121170"/>
                </a:lnTo>
                <a:lnTo>
                  <a:pt x="5444033" y="147370"/>
                </a:lnTo>
                <a:lnTo>
                  <a:pt x="5399392" y="175158"/>
                </a:lnTo>
                <a:lnTo>
                  <a:pt x="5355945" y="204304"/>
                </a:lnTo>
                <a:lnTo>
                  <a:pt x="5313731" y="234556"/>
                </a:lnTo>
                <a:lnTo>
                  <a:pt x="5272722" y="265709"/>
                </a:lnTo>
                <a:lnTo>
                  <a:pt x="5232946" y="297497"/>
                </a:lnTo>
                <a:lnTo>
                  <a:pt x="5194414" y="329704"/>
                </a:lnTo>
                <a:lnTo>
                  <a:pt x="5157114" y="362102"/>
                </a:lnTo>
                <a:lnTo>
                  <a:pt x="5121072" y="394423"/>
                </a:lnTo>
                <a:lnTo>
                  <a:pt x="5086286" y="426466"/>
                </a:lnTo>
                <a:lnTo>
                  <a:pt x="5052771" y="457987"/>
                </a:lnTo>
                <a:lnTo>
                  <a:pt x="4989614" y="518058"/>
                </a:lnTo>
                <a:lnTo>
                  <a:pt x="4951425" y="553427"/>
                </a:lnTo>
                <a:lnTo>
                  <a:pt x="4912245" y="587883"/>
                </a:lnTo>
                <a:lnTo>
                  <a:pt x="4903025" y="595376"/>
                </a:lnTo>
                <a:lnTo>
                  <a:pt x="0" y="595376"/>
                </a:lnTo>
                <a:lnTo>
                  <a:pt x="0" y="610603"/>
                </a:lnTo>
                <a:lnTo>
                  <a:pt x="4884305" y="610603"/>
                </a:lnTo>
                <a:lnTo>
                  <a:pt x="4871834" y="620750"/>
                </a:lnTo>
                <a:lnTo>
                  <a:pt x="4829886" y="651357"/>
                </a:lnTo>
                <a:lnTo>
                  <a:pt x="4786122" y="679030"/>
                </a:lnTo>
                <a:lnTo>
                  <a:pt x="4745393" y="701116"/>
                </a:lnTo>
                <a:lnTo>
                  <a:pt x="4702518" y="721106"/>
                </a:lnTo>
                <a:lnTo>
                  <a:pt x="4657344" y="739076"/>
                </a:lnTo>
                <a:lnTo>
                  <a:pt x="4609770" y="755053"/>
                </a:lnTo>
                <a:lnTo>
                  <a:pt x="4569638" y="766305"/>
                </a:lnTo>
                <a:lnTo>
                  <a:pt x="4628845" y="766305"/>
                </a:lnTo>
                <a:lnTo>
                  <a:pt x="4709185" y="736447"/>
                </a:lnTo>
                <a:lnTo>
                  <a:pt x="4752860" y="716064"/>
                </a:lnTo>
                <a:lnTo>
                  <a:pt x="4794389" y="693547"/>
                </a:lnTo>
                <a:lnTo>
                  <a:pt x="4838903" y="665340"/>
                </a:lnTo>
                <a:lnTo>
                  <a:pt x="4881473" y="634288"/>
                </a:lnTo>
                <a:lnTo>
                  <a:pt x="4910620" y="610603"/>
                </a:lnTo>
                <a:lnTo>
                  <a:pt x="5845213" y="610603"/>
                </a:lnTo>
                <a:lnTo>
                  <a:pt x="5845213" y="595376"/>
                </a:lnTo>
                <a:lnTo>
                  <a:pt x="4928844" y="595376"/>
                </a:lnTo>
                <a:lnTo>
                  <a:pt x="4962029" y="566216"/>
                </a:lnTo>
                <a:lnTo>
                  <a:pt x="5000612" y="530517"/>
                </a:lnTo>
                <a:lnTo>
                  <a:pt x="5064099" y="470141"/>
                </a:lnTo>
                <a:lnTo>
                  <a:pt x="5097411" y="438848"/>
                </a:lnTo>
                <a:lnTo>
                  <a:pt x="5131968" y="407035"/>
                </a:lnTo>
                <a:lnTo>
                  <a:pt x="5167757" y="374942"/>
                </a:lnTo>
                <a:lnTo>
                  <a:pt x="5204790" y="342798"/>
                </a:lnTo>
                <a:lnTo>
                  <a:pt x="5243030" y="310832"/>
                </a:lnTo>
                <a:lnTo>
                  <a:pt x="5282501" y="279298"/>
                </a:lnTo>
                <a:lnTo>
                  <a:pt x="5323167" y="248399"/>
                </a:lnTo>
                <a:lnTo>
                  <a:pt x="5365039" y="218376"/>
                </a:lnTo>
                <a:lnTo>
                  <a:pt x="5408092" y="189471"/>
                </a:lnTo>
                <a:lnTo>
                  <a:pt x="5452338" y="161899"/>
                </a:lnTo>
                <a:lnTo>
                  <a:pt x="5497741" y="135915"/>
                </a:lnTo>
                <a:lnTo>
                  <a:pt x="5543639" y="112077"/>
                </a:lnTo>
                <a:lnTo>
                  <a:pt x="5589689" y="90652"/>
                </a:lnTo>
                <a:lnTo>
                  <a:pt x="5635815" y="71628"/>
                </a:lnTo>
                <a:lnTo>
                  <a:pt x="5681967" y="55041"/>
                </a:lnTo>
                <a:lnTo>
                  <a:pt x="5728106" y="40881"/>
                </a:lnTo>
                <a:lnTo>
                  <a:pt x="5774169" y="29171"/>
                </a:lnTo>
                <a:lnTo>
                  <a:pt x="5820105" y="19913"/>
                </a:lnTo>
                <a:lnTo>
                  <a:pt x="5847588" y="17932"/>
                </a:lnTo>
                <a:lnTo>
                  <a:pt x="5847588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94357-F1BF-98BD-1980-384C18BE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3039086-9CA0-2573-797A-3F5AA62F734B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A97A8FF-E9EB-09B8-8F54-A570B89FB21A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85449-49A8-670D-0213-DA797791DE87}"/>
              </a:ext>
            </a:extLst>
          </p:cNvPr>
          <p:cNvSpPr txBox="1"/>
          <p:nvPr/>
        </p:nvSpPr>
        <p:spPr>
          <a:xfrm>
            <a:off x="184150" y="42862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Virtualizace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394003F4-3C7F-8344-8701-53EA4151C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8B190D-4DE8-C67D-B6E0-5F4EBC0E79A7}"/>
              </a:ext>
            </a:extLst>
          </p:cNvPr>
          <p:cNvSpPr txBox="1"/>
          <p:nvPr/>
        </p:nvSpPr>
        <p:spPr>
          <a:xfrm>
            <a:off x="260350" y="1038225"/>
            <a:ext cx="312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Software-</a:t>
            </a:r>
            <a:r>
              <a:rPr lang="en-US" sz="1600" dirty="0" err="1">
                <a:solidFill>
                  <a:srgbClr val="322C2C"/>
                </a:solidFill>
              </a:rPr>
              <a:t>definován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počítač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Host a guests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Své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zdroje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357414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B261-5109-70AD-D923-84DD59C3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B31734D-559B-5E84-CF27-D93D4D83F5EC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716EF9C-6C4D-2DE6-6834-4757BEE818D9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2B876-A94D-FC96-C87C-7C58F864EEB4}"/>
              </a:ext>
            </a:extLst>
          </p:cNvPr>
          <p:cNvSpPr txBox="1"/>
          <p:nvPr/>
        </p:nvSpPr>
        <p:spPr>
          <a:xfrm>
            <a:off x="184150" y="42862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Virtualizace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82ECE11D-1639-7EC2-11B8-C027A0935C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AE5ECF-406E-D32C-6E1C-BB93A4AA3CE9}"/>
              </a:ext>
            </a:extLst>
          </p:cNvPr>
          <p:cNvSpPr txBox="1"/>
          <p:nvPr/>
        </p:nvSpPr>
        <p:spPr>
          <a:xfrm>
            <a:off x="260350" y="1038225"/>
            <a:ext cx="312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Hypervisor</a:t>
            </a:r>
          </a:p>
          <a:p>
            <a:pPr marL="285750" lvl="4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Typy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315665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998C-E859-EDB9-30B7-648AF682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E548E6E3-E2C6-44AA-3209-D739FFF6BFC4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D40D78A-3225-169D-44B7-6E2039E7050D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6BE65-DCEB-1CD4-3C26-7F448445CD31}"/>
              </a:ext>
            </a:extLst>
          </p:cNvPr>
          <p:cNvSpPr txBox="1"/>
          <p:nvPr/>
        </p:nvSpPr>
        <p:spPr>
          <a:xfrm>
            <a:off x="184150" y="42862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Benefity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35873BE9-0DA1-5C99-9040-79CAD32450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AC818C-5644-93E4-A470-00BCEA0C22D1}"/>
              </a:ext>
            </a:extLst>
          </p:cNvPr>
          <p:cNvSpPr txBox="1"/>
          <p:nvPr/>
        </p:nvSpPr>
        <p:spPr>
          <a:xfrm>
            <a:off x="260350" y="1038225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Efektivní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Lehký</a:t>
            </a:r>
            <a:r>
              <a:rPr lang="en-US" sz="1600" dirty="0">
                <a:solidFill>
                  <a:srgbClr val="322C2C"/>
                </a:solidFill>
              </a:rPr>
              <a:t>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Snadná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obnova</a:t>
            </a:r>
            <a:endParaRPr lang="cs-CZ" sz="1600" dirty="0">
              <a:solidFill>
                <a:srgbClr val="322C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95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02898-6C85-901A-6A60-B459471C2AF0}"/>
              </a:ext>
            </a:extLst>
          </p:cNvPr>
          <p:cNvSpPr txBox="1"/>
          <p:nvPr/>
        </p:nvSpPr>
        <p:spPr>
          <a:xfrm>
            <a:off x="184150" y="428625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2C2C"/>
                </a:solidFill>
              </a:rPr>
              <a:t>Hyper-V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C22013D1-7F07-3E6A-5FFF-63CE40A152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C54607A-4C70-71EC-3087-197A15FCA017}"/>
              </a:ext>
            </a:extLst>
          </p:cNvPr>
          <p:cNvSpPr txBox="1"/>
          <p:nvPr/>
        </p:nvSpPr>
        <p:spPr>
          <a:xfrm>
            <a:off x="260350" y="1038225"/>
            <a:ext cx="312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Microsoft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Virtualizační</a:t>
            </a:r>
            <a:r>
              <a:rPr lang="en-US" sz="1600" dirty="0">
                <a:solidFill>
                  <a:srgbClr val="322C2C"/>
                </a:solidFill>
              </a:rPr>
              <a:t>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Virtual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9DBB-4ED3-C56C-F382-23187F10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2474C86-E30E-8DBE-EB54-4B95391ECBDA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F8FC8D4-FD7E-494D-AD0C-023C34365851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5DB40B-CB99-1EC9-C607-731AF8A7CA76}"/>
              </a:ext>
            </a:extLst>
          </p:cNvPr>
          <p:cNvSpPr txBox="1"/>
          <p:nvPr/>
        </p:nvSpPr>
        <p:spPr>
          <a:xfrm>
            <a:off x="184150" y="4286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2C2C"/>
                </a:solidFill>
              </a:rPr>
              <a:t>K </a:t>
            </a:r>
            <a:r>
              <a:rPr lang="en-US" sz="2400" dirty="0" err="1">
                <a:solidFill>
                  <a:srgbClr val="322C2C"/>
                </a:solidFill>
              </a:rPr>
              <a:t>čemu</a:t>
            </a:r>
            <a:r>
              <a:rPr lang="en-US" sz="2400" dirty="0">
                <a:solidFill>
                  <a:srgbClr val="322C2C"/>
                </a:solidFill>
              </a:rPr>
              <a:t> </a:t>
            </a:r>
            <a:r>
              <a:rPr lang="en-US" sz="2400" dirty="0" err="1">
                <a:solidFill>
                  <a:srgbClr val="322C2C"/>
                </a:solidFill>
              </a:rPr>
              <a:t>virtualizace</a:t>
            </a:r>
            <a:r>
              <a:rPr lang="en-US" sz="2400" dirty="0">
                <a:solidFill>
                  <a:srgbClr val="322C2C"/>
                </a:solidFill>
              </a:rPr>
              <a:t>?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BAA416F8-4867-1400-A690-1E4AE1692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6907DE-67F4-705A-45B5-380762018BEB}"/>
              </a:ext>
            </a:extLst>
          </p:cNvPr>
          <p:cNvSpPr txBox="1"/>
          <p:nvPr/>
        </p:nvSpPr>
        <p:spPr>
          <a:xfrm>
            <a:off x="260350" y="1038225"/>
            <a:ext cx="312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Testování</a:t>
            </a:r>
            <a:r>
              <a:rPr lang="en-US" sz="1600" dirty="0">
                <a:solidFill>
                  <a:srgbClr val="322C2C"/>
                </a:solidFill>
              </a:rPr>
              <a:t> s 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Experimentování</a:t>
            </a:r>
            <a:r>
              <a:rPr lang="en-US" sz="1600" dirty="0">
                <a:solidFill>
                  <a:srgbClr val="322C2C"/>
                </a:solidFill>
              </a:rPr>
              <a:t> s </a:t>
            </a:r>
            <a:r>
              <a:rPr lang="en-US" sz="1600" dirty="0" err="1">
                <a:solidFill>
                  <a:srgbClr val="322C2C"/>
                </a:solidFill>
              </a:rPr>
              <a:t>softwarem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Software </a:t>
            </a:r>
            <a:r>
              <a:rPr lang="en-US" sz="1600" dirty="0" err="1">
                <a:solidFill>
                  <a:srgbClr val="322C2C"/>
                </a:solidFill>
              </a:rPr>
              <a:t>na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starších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verzích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12626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292C-3607-83BD-FF7C-517ABC5D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BF492E7-DBB7-150C-46C4-784A87581053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834D78B-B1C9-06D0-92C4-5E1466178EC5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F8389-0E88-E84B-4FCF-3D406EA8AC0B}"/>
              </a:ext>
            </a:extLst>
          </p:cNvPr>
          <p:cNvSpPr txBox="1"/>
          <p:nvPr/>
        </p:nvSpPr>
        <p:spPr>
          <a:xfrm>
            <a:off x="184150" y="4286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Limitace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5DAFAB99-77F9-5416-D8A0-4521B87C18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3B6051-F2EA-AF07-CCE7-64020A7C601A}"/>
              </a:ext>
            </a:extLst>
          </p:cNvPr>
          <p:cNvSpPr txBox="1"/>
          <p:nvPr/>
        </p:nvSpPr>
        <p:spPr>
          <a:xfrm>
            <a:off x="260350" y="1038225"/>
            <a:ext cx="312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Programy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mohou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záviset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na</a:t>
            </a:r>
            <a:r>
              <a:rPr lang="en-US" sz="1600" dirty="0">
                <a:solidFill>
                  <a:srgbClr val="322C2C"/>
                </a:solidFill>
              </a:rPr>
              <a:t> </a:t>
            </a:r>
            <a:r>
              <a:rPr lang="en-US" sz="1600" dirty="0" err="1">
                <a:solidFill>
                  <a:srgbClr val="322C2C"/>
                </a:solidFill>
              </a:rPr>
              <a:t>hardwaru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Latence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Layered </a:t>
            </a:r>
            <a:r>
              <a:rPr lang="en-US" sz="1600" dirty="0" err="1">
                <a:solidFill>
                  <a:srgbClr val="322C2C"/>
                </a:solidFill>
              </a:rPr>
              <a:t>přes</a:t>
            </a:r>
            <a:r>
              <a:rPr lang="en-US" sz="1600" dirty="0">
                <a:solidFill>
                  <a:srgbClr val="322C2C"/>
                </a:solidFill>
              </a:rPr>
              <a:t> host OS</a:t>
            </a:r>
          </a:p>
        </p:txBody>
      </p:sp>
    </p:spTree>
    <p:extLst>
      <p:ext uri="{BB962C8B-B14F-4D97-AF65-F5344CB8AC3E}">
        <p14:creationId xmlns:p14="http://schemas.microsoft.com/office/powerpoint/2010/main" val="3604579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AD14-E31F-4996-D078-09881346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3A043A3-D0C0-9925-5235-76482A79712F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E690EE9-E56D-6139-4D5A-869D859D99A9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4D141-F248-8ECE-D9E0-545BFC0E89E1}"/>
              </a:ext>
            </a:extLst>
          </p:cNvPr>
          <p:cNvSpPr txBox="1"/>
          <p:nvPr/>
        </p:nvSpPr>
        <p:spPr>
          <a:xfrm>
            <a:off x="184150" y="4286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Instalace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52DF3A45-4873-1DAF-42E2-D09405F80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9A36E1-172E-7763-0FE1-218585110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203284"/>
            <a:ext cx="3505200" cy="12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1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3152F-11A2-8683-FA12-07FDB122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20E5F08E-09A8-5AC3-BDD9-55BFEBAD1657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0DC01F0-4ECF-B571-616B-DC22FB959EBA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FCDB5-5F61-72B0-2A3D-DEBEFC8C23CC}"/>
              </a:ext>
            </a:extLst>
          </p:cNvPr>
          <p:cNvSpPr txBox="1"/>
          <p:nvPr/>
        </p:nvSpPr>
        <p:spPr>
          <a:xfrm>
            <a:off x="184150" y="4286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Instalace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1315D15E-E605-4165-1F09-E2503E5EC4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DB595F-F9C9-46B7-3015-340F4C6A4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128238"/>
            <a:ext cx="3505200" cy="135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1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275B-5C1A-9211-7886-096796C1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D1A97CDB-49F9-DD49-12CD-5C6ED916A49B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D1F4E1C-6291-E399-3F39-EB2F730170E5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DA2C8-779F-CE33-8B49-C7C1DC2E8379}"/>
              </a:ext>
            </a:extLst>
          </p:cNvPr>
          <p:cNvSpPr txBox="1"/>
          <p:nvPr/>
        </p:nvSpPr>
        <p:spPr>
          <a:xfrm>
            <a:off x="184150" y="4286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322C2C"/>
                </a:solidFill>
              </a:rPr>
              <a:t>Instalace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A2D7C75F-7B66-612E-8164-5B7A970BE4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86E3B6-D2ED-7AEE-AE84-F703AE943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205823"/>
            <a:ext cx="3505200" cy="1184298"/>
          </a:xfrm>
          <a:prstGeom prst="rect">
            <a:avLst/>
          </a:prstGeom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264121C-CC21-5222-7806-73A3C6C1EF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950" y="805877"/>
            <a:ext cx="1839359" cy="16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8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9226-4001-E489-9AA9-D9147DFF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8B8F525-0354-6ABD-5A71-8D1C704E8145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9EE87D-6A4A-94F5-5080-3E3C22334FA6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2BA6D7-960B-A5CD-B399-597C8958154D}"/>
              </a:ext>
            </a:extLst>
          </p:cNvPr>
          <p:cNvSpPr txBox="1"/>
          <p:nvPr/>
        </p:nvSpPr>
        <p:spPr>
          <a:xfrm>
            <a:off x="184150" y="214119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rgbClr val="322C2C"/>
                </a:solidFill>
              </a:rPr>
              <a:t>Video demonstrace</a:t>
            </a:r>
          </a:p>
        </p:txBody>
      </p:sp>
      <p:pic>
        <p:nvPicPr>
          <p:cNvPr id="2" name="Online médium 1" title="How to Install Windows Server 2022 in Hyper-V">
            <a:hlinkClick r:id="" action="ppaction://media"/>
            <a:extLst>
              <a:ext uri="{FF2B5EF4-FFF2-40B4-BE49-F238E27FC236}">
                <a16:creationId xmlns:a16="http://schemas.microsoft.com/office/drawing/2014/main" id="{3E7E0654-BD19-6001-DA68-0DCE5961FF5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60350" y="657225"/>
            <a:ext cx="5334000" cy="236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0A134-6A62-56C5-042B-F7329255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3CB2D6CA-293E-B21D-F91F-E8B1E4752997}"/>
              </a:ext>
            </a:extLst>
          </p:cNvPr>
          <p:cNvSpPr/>
          <p:nvPr/>
        </p:nvSpPr>
        <p:spPr>
          <a:xfrm>
            <a:off x="1511" y="175437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834E694-096A-F098-2655-38D95FD95F13}"/>
              </a:ext>
            </a:extLst>
          </p:cNvPr>
          <p:cNvSpPr/>
          <p:nvPr/>
        </p:nvSpPr>
        <p:spPr>
          <a:xfrm>
            <a:off x="1511" y="3117405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CF981-1A58-EFB8-6D1F-5C4B1A7DB152}"/>
              </a:ext>
            </a:extLst>
          </p:cNvPr>
          <p:cNvSpPr txBox="1"/>
          <p:nvPr/>
        </p:nvSpPr>
        <p:spPr>
          <a:xfrm>
            <a:off x="184150" y="4286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22C2C"/>
                </a:solidFill>
              </a:rPr>
              <a:t>Remote desktop</a:t>
            </a:r>
            <a:endParaRPr lang="cs-CZ" sz="2400" dirty="0">
              <a:solidFill>
                <a:srgbClr val="322C2C"/>
              </a:solidFill>
            </a:endParaRPr>
          </a:p>
        </p:txBody>
      </p:sp>
      <p:pic>
        <p:nvPicPr>
          <p:cNvPr id="16" name="Picture 15" descr="A blue square with black background&#10;&#10;Description automatically generated">
            <a:extLst>
              <a:ext uri="{FF2B5EF4-FFF2-40B4-BE49-F238E27FC236}">
                <a16:creationId xmlns:a16="http://schemas.microsoft.com/office/drawing/2014/main" id="{909A2EA6-75C8-5B14-006C-D22B278B3F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2562225"/>
            <a:ext cx="955675" cy="409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4837A4-AF51-BF40-5E2D-0B674B1B3B40}"/>
              </a:ext>
            </a:extLst>
          </p:cNvPr>
          <p:cNvSpPr txBox="1"/>
          <p:nvPr/>
        </p:nvSpPr>
        <p:spPr>
          <a:xfrm>
            <a:off x="260350" y="1038225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Kontrola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322C2C"/>
                </a:solidFill>
              </a:rPr>
              <a:t>Administrace</a:t>
            </a:r>
            <a:endParaRPr lang="en-US" sz="1600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22C2C"/>
                </a:solidFill>
              </a:rPr>
              <a:t>Trojan Rat</a:t>
            </a:r>
          </a:p>
        </p:txBody>
      </p:sp>
    </p:spTree>
    <p:extLst>
      <p:ext uri="{BB962C8B-B14F-4D97-AF65-F5344CB8AC3E}">
        <p14:creationId xmlns:p14="http://schemas.microsoft.com/office/powerpoint/2010/main" val="4001451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04095" y="2534759"/>
            <a:ext cx="942975" cy="753745"/>
          </a:xfrm>
          <a:custGeom>
            <a:avLst/>
            <a:gdLst/>
            <a:ahLst/>
            <a:cxnLst/>
            <a:rect l="l" t="t" r="r" b="b"/>
            <a:pathLst>
              <a:path w="942975" h="753745">
                <a:moveTo>
                  <a:pt x="942650" y="0"/>
                </a:moveTo>
                <a:lnTo>
                  <a:pt x="864401" y="21530"/>
                </a:lnTo>
                <a:lnTo>
                  <a:pt x="820088" y="38361"/>
                </a:lnTo>
                <a:lnTo>
                  <a:pt x="777896" y="57642"/>
                </a:lnTo>
                <a:lnTo>
                  <a:pt x="737661" y="79183"/>
                </a:lnTo>
                <a:lnTo>
                  <a:pt x="699221" y="102798"/>
                </a:lnTo>
                <a:lnTo>
                  <a:pt x="662411" y="128296"/>
                </a:lnTo>
                <a:lnTo>
                  <a:pt x="627070" y="155491"/>
                </a:lnTo>
                <a:lnTo>
                  <a:pt x="593033" y="184192"/>
                </a:lnTo>
                <a:lnTo>
                  <a:pt x="560137" y="214213"/>
                </a:lnTo>
                <a:lnTo>
                  <a:pt x="528220" y="245365"/>
                </a:lnTo>
                <a:lnTo>
                  <a:pt x="497119" y="277458"/>
                </a:lnTo>
                <a:lnTo>
                  <a:pt x="466669" y="310306"/>
                </a:lnTo>
                <a:lnTo>
                  <a:pt x="436709" y="343719"/>
                </a:lnTo>
                <a:lnTo>
                  <a:pt x="407074" y="377509"/>
                </a:lnTo>
                <a:lnTo>
                  <a:pt x="377602" y="411487"/>
                </a:lnTo>
                <a:lnTo>
                  <a:pt x="348134" y="445464"/>
                </a:lnTo>
                <a:lnTo>
                  <a:pt x="318503" y="479253"/>
                </a:lnTo>
                <a:lnTo>
                  <a:pt x="288545" y="512665"/>
                </a:lnTo>
                <a:lnTo>
                  <a:pt x="258097" y="545512"/>
                </a:lnTo>
                <a:lnTo>
                  <a:pt x="226997" y="577605"/>
                </a:lnTo>
                <a:lnTo>
                  <a:pt x="195080" y="608757"/>
                </a:lnTo>
                <a:lnTo>
                  <a:pt x="162185" y="638778"/>
                </a:lnTo>
                <a:lnTo>
                  <a:pt x="128148" y="667480"/>
                </a:lnTo>
                <a:lnTo>
                  <a:pt x="92805" y="694675"/>
                </a:lnTo>
                <a:lnTo>
                  <a:pt x="55994" y="720174"/>
                </a:lnTo>
                <a:lnTo>
                  <a:pt x="17552" y="743789"/>
                </a:lnTo>
                <a:lnTo>
                  <a:pt x="0" y="753187"/>
                </a:lnTo>
              </a:path>
            </a:pathLst>
          </a:custGeom>
          <a:ln w="7994">
            <a:solidFill>
              <a:srgbClr val="32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485" y="-3997"/>
            <a:ext cx="5849620" cy="747395"/>
            <a:chOff x="-2485" y="-3997"/>
            <a:chExt cx="5849620" cy="747395"/>
          </a:xfrm>
        </p:grpSpPr>
        <p:sp>
          <p:nvSpPr>
            <p:cNvPr id="4" name="object 4"/>
            <p:cNvSpPr/>
            <p:nvPr/>
          </p:nvSpPr>
          <p:spPr>
            <a:xfrm>
              <a:off x="1512" y="0"/>
              <a:ext cx="876300" cy="739775"/>
            </a:xfrm>
            <a:custGeom>
              <a:avLst/>
              <a:gdLst/>
              <a:ahLst/>
              <a:cxnLst/>
              <a:rect l="l" t="t" r="r" b="b"/>
              <a:pathLst>
                <a:path w="876300" h="739775">
                  <a:moveTo>
                    <a:pt x="875858" y="0"/>
                  </a:moveTo>
                  <a:lnTo>
                    <a:pt x="837161" y="20718"/>
                  </a:lnTo>
                  <a:lnTo>
                    <a:pt x="798720" y="44334"/>
                  </a:lnTo>
                  <a:lnTo>
                    <a:pt x="761910" y="69834"/>
                  </a:lnTo>
                  <a:lnTo>
                    <a:pt x="726568" y="97029"/>
                  </a:lnTo>
                  <a:lnTo>
                    <a:pt x="692531" y="125732"/>
                  </a:lnTo>
                  <a:lnTo>
                    <a:pt x="659636" y="155753"/>
                  </a:lnTo>
                  <a:lnTo>
                    <a:pt x="627719" y="186906"/>
                  </a:lnTo>
                  <a:lnTo>
                    <a:pt x="596618" y="219000"/>
                  </a:lnTo>
                  <a:lnTo>
                    <a:pt x="566169" y="251848"/>
                  </a:lnTo>
                  <a:lnTo>
                    <a:pt x="536209" y="285261"/>
                  </a:lnTo>
                  <a:lnTo>
                    <a:pt x="506576" y="319051"/>
                  </a:lnTo>
                  <a:lnTo>
                    <a:pt x="477105" y="353029"/>
                  </a:lnTo>
                  <a:lnTo>
                    <a:pt x="447636" y="387008"/>
                  </a:lnTo>
                  <a:lnTo>
                    <a:pt x="418004" y="420798"/>
                  </a:lnTo>
                  <a:lnTo>
                    <a:pt x="388046" y="454211"/>
                  </a:lnTo>
                  <a:lnTo>
                    <a:pt x="357598" y="487060"/>
                  </a:lnTo>
                  <a:lnTo>
                    <a:pt x="326497" y="519154"/>
                  </a:lnTo>
                  <a:lnTo>
                    <a:pt x="294581" y="550307"/>
                  </a:lnTo>
                  <a:lnTo>
                    <a:pt x="261686" y="580328"/>
                  </a:lnTo>
                  <a:lnTo>
                    <a:pt x="227649" y="609031"/>
                  </a:lnTo>
                  <a:lnTo>
                    <a:pt x="192307" y="636227"/>
                  </a:lnTo>
                  <a:lnTo>
                    <a:pt x="155497" y="661727"/>
                  </a:lnTo>
                  <a:lnTo>
                    <a:pt x="117055" y="685342"/>
                  </a:lnTo>
                  <a:lnTo>
                    <a:pt x="76819" y="706885"/>
                  </a:lnTo>
                  <a:lnTo>
                    <a:pt x="34626" y="726167"/>
                  </a:lnTo>
                  <a:lnTo>
                    <a:pt x="0" y="739320"/>
                  </a:lnTo>
                </a:path>
              </a:pathLst>
            </a:custGeom>
            <a:ln w="7994">
              <a:solidFill>
                <a:srgbClr val="32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11" y="171424"/>
              <a:ext cx="5845810" cy="15240"/>
            </a:xfrm>
            <a:custGeom>
              <a:avLst/>
              <a:gdLst/>
              <a:ahLst/>
              <a:cxnLst/>
              <a:rect l="l" t="t" r="r" b="b"/>
              <a:pathLst>
                <a:path w="5845810" h="15239">
                  <a:moveTo>
                    <a:pt x="5845213" y="0"/>
                  </a:moveTo>
                  <a:lnTo>
                    <a:pt x="0" y="0"/>
                  </a:lnTo>
                  <a:lnTo>
                    <a:pt x="0" y="15214"/>
                  </a:lnTo>
                  <a:lnTo>
                    <a:pt x="5845213" y="15214"/>
                  </a:lnTo>
                  <a:lnTo>
                    <a:pt x="5845213" y="0"/>
                  </a:lnTo>
                  <a:close/>
                </a:path>
              </a:pathLst>
            </a:custGeom>
            <a:solidFill>
              <a:srgbClr val="32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511" y="3117748"/>
            <a:ext cx="5845810" cy="15240"/>
          </a:xfrm>
          <a:custGeom>
            <a:avLst/>
            <a:gdLst/>
            <a:ahLst/>
            <a:cxnLst/>
            <a:rect l="l" t="t" r="r" b="b"/>
            <a:pathLst>
              <a:path w="5845810" h="15239">
                <a:moveTo>
                  <a:pt x="5845213" y="0"/>
                </a:moveTo>
                <a:lnTo>
                  <a:pt x="0" y="0"/>
                </a:lnTo>
                <a:lnTo>
                  <a:pt x="0" y="15227"/>
                </a:lnTo>
                <a:lnTo>
                  <a:pt x="5845213" y="15227"/>
                </a:lnTo>
                <a:lnTo>
                  <a:pt x="5845213" y="0"/>
                </a:lnTo>
                <a:close/>
              </a:path>
            </a:pathLst>
          </a:custGeom>
          <a:solidFill>
            <a:srgbClr val="32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0" y="680655"/>
            <a:ext cx="5854700" cy="4969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150" spc="-65" dirty="0" err="1"/>
              <a:t>Děkuji</a:t>
            </a:r>
            <a:r>
              <a:rPr lang="en-US" sz="3150" spc="-65" dirty="0"/>
              <a:t> za </a:t>
            </a:r>
            <a:r>
              <a:rPr lang="en-US" sz="3150" spc="-65" dirty="0" err="1"/>
              <a:t>pozornost</a:t>
            </a:r>
            <a:endParaRPr sz="31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0CE74-4D88-8C2C-FDEB-DF9E4BD60D20}"/>
              </a:ext>
            </a:extLst>
          </p:cNvPr>
          <p:cNvSpPr txBox="1"/>
          <p:nvPr/>
        </p:nvSpPr>
        <p:spPr>
          <a:xfrm>
            <a:off x="260350" y="1278493"/>
            <a:ext cx="3886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322C2C"/>
                </a:solidFill>
              </a:rPr>
              <a:t>Zdroje</a:t>
            </a:r>
            <a:endParaRPr lang="en-US" dirty="0">
              <a:solidFill>
                <a:srgbClr val="322C2C"/>
              </a:solidFill>
            </a:endParaRPr>
          </a:p>
          <a:p>
            <a:endParaRPr lang="en-US" dirty="0">
              <a:solidFill>
                <a:srgbClr val="322C2C"/>
              </a:solidFill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322C2C"/>
                </a:solidFill>
                <a:hlinkClick r:id="rId2"/>
              </a:rPr>
              <a:t>Wiki </a:t>
            </a:r>
            <a:r>
              <a:rPr lang="cs-CZ" dirty="0">
                <a:solidFill>
                  <a:srgbClr val="322C2C"/>
                </a:solidFill>
                <a:hlinkClick r:id="rId3"/>
              </a:rPr>
              <a:t>–</a:t>
            </a:r>
            <a:r>
              <a:rPr lang="cs-CZ" dirty="0">
                <a:solidFill>
                  <a:srgbClr val="322C2C"/>
                </a:solidFill>
                <a:hlinkClick r:id="rId2"/>
              </a:rPr>
              <a:t> </a:t>
            </a:r>
            <a:r>
              <a:rPr lang="cs-CZ" dirty="0" err="1">
                <a:solidFill>
                  <a:srgbClr val="322C2C"/>
                </a:solidFill>
                <a:hlinkClick r:id="rId2"/>
              </a:rPr>
              <a:t>rds</a:t>
            </a:r>
            <a:endParaRPr lang="en-US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22C2C"/>
                </a:solidFill>
                <a:hlinkClick r:id="rId4"/>
              </a:rPr>
              <a:t>Microsoft documentation</a:t>
            </a:r>
            <a:endParaRPr lang="en-US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 err="1">
                <a:solidFill>
                  <a:srgbClr val="322C2C"/>
                </a:solidFill>
                <a:hlinkClick r:id="rId3"/>
              </a:rPr>
              <a:t>Ibm</a:t>
            </a:r>
            <a:endParaRPr lang="en-US" dirty="0">
              <a:solidFill>
                <a:srgbClr val="322C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>
                <a:solidFill>
                  <a:srgbClr val="322C2C"/>
                </a:solidFill>
                <a:hlinkClick r:id="rId5"/>
              </a:rPr>
              <a:t>AWS</a:t>
            </a:r>
            <a:endParaRPr lang="cs-CZ" dirty="0">
              <a:solidFill>
                <a:srgbClr val="322C2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22C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399</Words>
  <Application>Microsoft Office PowerPoint</Application>
  <PresentationFormat>Vlastní</PresentationFormat>
  <Paragraphs>86</Paragraphs>
  <Slides>13</Slides>
  <Notes>11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Hyper-V a Virtualizace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