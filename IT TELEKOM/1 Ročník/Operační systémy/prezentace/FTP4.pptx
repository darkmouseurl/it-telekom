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4" r:id="rId6"/>
    <p:sldId id="266" r:id="rId7"/>
    <p:sldId id="268" r:id="rId8"/>
    <p:sldId id="270" r:id="rId9"/>
    <p:sldId id="271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72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C1C0B59A-9667-49D0-831F-B4A5F692C751}">
          <p14:sldIdLst>
            <p14:sldId id="256"/>
            <p14:sldId id="257"/>
            <p14:sldId id="258"/>
            <p14:sldId id="261"/>
            <p14:sldId id="264"/>
            <p14:sldId id="266"/>
            <p14:sldId id="268"/>
            <p14:sldId id="270"/>
            <p14:sldId id="271"/>
            <p14:sldId id="274"/>
            <p14:sldId id="275"/>
          </p14:sldIdLst>
        </p14:section>
        <p14:section name="Oddíl bez názvu" id="{2EB14348-47B0-406C-A0B2-DAB909D7078E}">
          <p14:sldIdLst>
            <p14:sldId id="276"/>
            <p14:sldId id="277"/>
            <p14:sldId id="278"/>
            <p14:sldId id="279"/>
            <p14:sldId id="280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77B3A-5FAA-4E38-B0CA-DC77E6002AD8}" v="31" dt="2024-02-07T10:42:33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AF4D9E-2F26-0CA4-8C0A-95F193D75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657D0E-364C-59FA-C261-F44FA020F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4A2B0D-020A-63EB-0594-650F28B27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B7A8C4-BA4D-B7F8-047C-F415CDCA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E2FB922-B342-8B2C-74BE-0443C1D8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2866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66072E-BEE3-F7F8-36EC-B6D4D038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4D9AAC-656E-DDFB-7E66-E44C14A01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17E09FF-5E00-0D60-0DA8-FF61B14E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6B85B-2D8A-68D1-2EE2-A65F0932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D44C40-BC1C-FDAE-2EE0-BC0DB283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680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C5CC79-3163-EB08-BAE4-18E8CD78B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78E2AF6-F64E-66EF-CD20-002A350C8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8B25FEE-C3F6-6392-26FF-F2C404F6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29E7FEC-1F1B-0DCC-D0D3-04494495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10EF1D-102A-C18E-BF33-0DE5979A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533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A8DCD0-A684-74C2-3904-DD2CB3D0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358102-CE05-0B2B-4662-84D4127A8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D850222-C390-8D89-07AA-CD42DC906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B09B52F-EBF0-DEC1-FA7A-B028B0F15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1BE3B79-257C-F330-0506-384E553A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972CF44-50BB-B612-F36E-23091486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281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1C223F-01EC-4F9E-6C27-F8B3FD0D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44402CB-FAFC-10E0-DB74-580082F1A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BFD13D9-B00B-AE71-15F4-884D18E80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3CE1269-F30E-5AEB-0577-0CAEC9D65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A247C16-4E57-42B6-F7A5-508F39EEB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C3537C5-0505-C659-9B4E-0740CEAF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48A3AA5-6DC3-E1BB-4CA0-DFAE125F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71572947-8A9B-A277-D12D-79BBB6D8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610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14750D-F0A1-3764-96DC-7724CA55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3954324-50B4-2F5D-2FC6-43CCF526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5CD9381-1D33-BEDC-32C5-47A7E2EC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CBC9AB4-0CEA-F640-3E73-5B2CD69E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058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8A08B01-0A91-DF20-5AFC-D69DE8DA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6DA9ADB-4AD9-5CA9-14D8-BA955015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47CC221-47F6-3B9D-9C5C-EB59911C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5712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D5E26E-67A9-93AB-2C8C-63B35618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EE528D-9C6B-8BC7-3B73-6AF3505E6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BAF8999-1572-F055-2C4C-A7BAFE17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72E03E9-53C2-9BC5-8949-376D2D49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5D17E44-1325-44CA-23D0-82B4543B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7FBA6E0-1084-9974-FF37-DF7FC198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598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3A8F61-627E-782F-7F78-343B06D5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54375FF-8875-082A-81DE-22A4CDB09C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A59913C-BEB5-D067-D5CE-7DB76C700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1C97FE6-1C1C-9A33-FCCA-89D0E71F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58EE745-F272-7938-0374-49E4B611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58F7F64-2CA6-12DD-B1F7-70309166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915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F1069-B1F2-846F-B10F-50347FF5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64BA922-DD41-B73E-FF4F-92649A5A2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8F0591-C226-8E29-9AC7-2097B79E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88DC84-C35A-A92B-EC99-25E9B991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E4E86C-5B69-E46F-5909-E204425D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4659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FA21C4B-D8ED-79AA-2752-A00ED7446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6F40006-9948-228C-9651-8A6ED8401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4B495F9-62CF-188B-651F-E6000660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A5DA759-55FF-86A3-5141-5C60A350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38AA6F-5390-E5BC-15A4-B65C12EE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571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4297360-E9D0-13D1-66BF-5489701A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E92F539-BB6C-C537-B2DA-AF1963669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2C0BFC5-31B5-F5A2-8F05-4EDA6C790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105DA-3536-4FA4-9228-088458822EED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038DB5-D750-9746-A144-F92E0C08F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51EEBD5-DEE4-FD32-A371-4D315FFA8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533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cs/photo/626034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podpora.shoptet.cz/hc/cs/articles/360003141472-FTP-co-je-to#:~:text=FTP%20neboli%20File%20Transfer%20Protocol,va%C5%A1%C3%ADm%20po%C4%8D%C3%ADta%C4%8Dem%20a%20na%C5%A1%C3%ADm%20serverem" TargetMode="External"/><Relationship Id="rId13" Type="http://schemas.openxmlformats.org/officeDocument/2006/relationships/hyperlink" Target="https://cs.wikipedia.org/wiki/FileZilla" TargetMode="External"/><Relationship Id="rId3" Type="http://schemas.openxmlformats.org/officeDocument/2006/relationships/hyperlink" Target="https://cs.wikipedia.org/wiki/File_Transfer_Protocol" TargetMode="External"/><Relationship Id="rId7" Type="http://schemas.openxmlformats.org/officeDocument/2006/relationships/hyperlink" Target="https://cs.wikipedia.org/wiki/FTPS" TargetMode="External"/><Relationship Id="rId12" Type="http://schemas.openxmlformats.org/officeDocument/2006/relationships/hyperlink" Target="https://www.server-world.info/en/note?os=Windows_Server_2022&amp;p=ftp&amp;f=5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ster.cz/blog/ftp-sftp-smb-protokoly-pro-prenos-souboru-ktery-vybrat/#:~:text=FTPS%20je%20jednou%20z%20mo%C5%BEnost%C3%AD,mohou%20b%C3%BDt%20data%20jednodu%C5%A1eji%20%C4%8Diteln%C3%A1" TargetMode="External"/><Relationship Id="rId11" Type="http://schemas.openxmlformats.org/officeDocument/2006/relationships/hyperlink" Target="https://www.hostgator.com/help/article/how-to-configure-filezilla" TargetMode="External"/><Relationship Id="rId5" Type="http://schemas.openxmlformats.org/officeDocument/2006/relationships/hyperlink" Target="http://podpora.forpsi.com/kb/a4362/ftp-klienti.aspx" TargetMode="External"/><Relationship Id="rId10" Type="http://schemas.openxmlformats.org/officeDocument/2006/relationships/hyperlink" Target="https://www.earchiv.cz/a93/a333c110.php3" TargetMode="External"/><Relationship Id="rId4" Type="http://schemas.openxmlformats.org/officeDocument/2006/relationships/hyperlink" Target="https://en.wikipedia.org/wiki/File_Transfer_Protocol" TargetMode="External"/><Relationship Id="rId9" Type="http://schemas.openxmlformats.org/officeDocument/2006/relationships/hyperlink" Target="https://napoveda.czechia.com/clanek/co-je-to-ftp-klient-a-jak-jej-pouz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BB35A95-15DF-5130-5AB3-E9D45BA0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008"/>
            <a:ext cx="12192000" cy="688000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315FBE6-8D89-72FE-B865-CC85988D9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3" y="554845"/>
            <a:ext cx="10656891" cy="3902673"/>
          </a:xfrm>
        </p:spPr>
        <p:txBody>
          <a:bodyPr anchor="t">
            <a:normAutofit/>
          </a:bodyPr>
          <a:lstStyle/>
          <a:p>
            <a:pPr algn="l"/>
            <a:r>
              <a:rPr lang="cs-CZ" sz="5200" dirty="0">
                <a:solidFill>
                  <a:srgbClr val="FFFFFF"/>
                </a:solidFill>
              </a:rPr>
              <a:t>FTP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CE5A862-A2B7-270C-5F71-930679030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523" y="4718033"/>
            <a:ext cx="10678296" cy="1175039"/>
          </a:xfrm>
        </p:spPr>
        <p:txBody>
          <a:bodyPr anchor="b">
            <a:normAutofit/>
          </a:bodyPr>
          <a:lstStyle/>
          <a:p>
            <a:pPr algn="l"/>
            <a:r>
              <a:rPr lang="cs-CZ" dirty="0">
                <a:solidFill>
                  <a:srgbClr val="FFFFFF"/>
                </a:solidFill>
              </a:rPr>
              <a:t>Martin Kozar</a:t>
            </a:r>
          </a:p>
        </p:txBody>
      </p:sp>
    </p:spTree>
    <p:extLst>
      <p:ext uri="{BB962C8B-B14F-4D97-AF65-F5344CB8AC3E}">
        <p14:creationId xmlns:p14="http://schemas.microsoft.com/office/powerpoint/2010/main" val="329443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2E610C-3DCD-FD1F-E3B3-8F895A6C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606786"/>
          </a:xfrm>
        </p:spPr>
        <p:txBody>
          <a:bodyPr anchor="t">
            <a:normAutofit/>
          </a:bodyPr>
          <a:lstStyle/>
          <a:p>
            <a:r>
              <a:rPr lang="cs-CZ" sz="3200" dirty="0"/>
              <a:t>FTP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4B2CF7-D035-4E8E-41E8-9EEC56DE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2011711"/>
            <a:ext cx="4085665" cy="3591207"/>
          </a:xfrm>
        </p:spPr>
        <p:txBody>
          <a:bodyPr>
            <a:normAutofit/>
          </a:bodyPr>
          <a:lstStyle/>
          <a:p>
            <a:r>
              <a:rPr lang="cs-CZ" sz="2000" b="0" i="0" dirty="0">
                <a:effectLst/>
                <a:latin typeface="Arial" panose="020B0604020202020204" pitchFamily="34" charset="0"/>
              </a:rPr>
              <a:t>Komunikační protokol pro přenos </a:t>
            </a:r>
            <a:r>
              <a:rPr lang="cs-CZ" sz="2000" dirty="0">
                <a:latin typeface="Arial" panose="020B0604020202020204" pitchFamily="34" charset="0"/>
              </a:rPr>
              <a:t>souborů</a:t>
            </a:r>
            <a:r>
              <a:rPr lang="cs-CZ" sz="2000" b="0" i="0" dirty="0">
                <a:effectLst/>
                <a:latin typeface="Arial" panose="020B0604020202020204" pitchFamily="34" charset="0"/>
              </a:rPr>
              <a:t> mezi </a:t>
            </a:r>
            <a:r>
              <a:rPr lang="cs-CZ" sz="2000" dirty="0">
                <a:latin typeface="Arial" panose="020B0604020202020204" pitchFamily="34" charset="0"/>
              </a:rPr>
              <a:t>počítači</a:t>
            </a:r>
            <a:r>
              <a:rPr lang="cs-CZ" sz="2000" b="0" i="0" dirty="0">
                <a:effectLst/>
                <a:latin typeface="Arial" panose="020B0604020202020204" pitchFamily="34" charset="0"/>
              </a:rPr>
              <a:t> pomocí </a:t>
            </a:r>
            <a:r>
              <a:rPr lang="cs-CZ" sz="2000" dirty="0">
                <a:latin typeface="Arial" panose="020B0604020202020204" pitchFamily="34" charset="0"/>
              </a:rPr>
              <a:t>počítačové sítě</a:t>
            </a:r>
          </a:p>
          <a:p>
            <a:r>
              <a:rPr lang="cs-CZ" sz="2000" dirty="0"/>
              <a:t>Soubory</a:t>
            </a:r>
          </a:p>
          <a:p>
            <a:pPr lvl="1"/>
            <a:r>
              <a:rPr lang="cs-CZ" sz="2000" dirty="0"/>
              <a:t>Upload</a:t>
            </a:r>
          </a:p>
          <a:p>
            <a:pPr lvl="1"/>
            <a:r>
              <a:rPr lang="cs-CZ" sz="2000" dirty="0" err="1"/>
              <a:t>Download</a:t>
            </a:r>
            <a:endParaRPr lang="cs-CZ" sz="2000" dirty="0"/>
          </a:p>
          <a:p>
            <a:r>
              <a:rPr lang="cs-CZ" sz="2000" dirty="0"/>
              <a:t>pokud daný uživatel má pro nahrávání souborů dostatečná přístupová práva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683EC-CD5B-3EC4-D8D2-B4D1EE9499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5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BBB112-550D-07D0-D7F9-9B9D1E2F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cs-CZ" sz="3200" dirty="0"/>
              <a:t>Co je FTP?</a:t>
            </a:r>
          </a:p>
        </p:txBody>
      </p:sp>
      <p:pic>
        <p:nvPicPr>
          <p:cNvPr id="5" name="Picture 4" descr="Počítačový skript na obrazovce">
            <a:extLst>
              <a:ext uri="{FF2B5EF4-FFF2-40B4-BE49-F238E27FC236}">
                <a16:creationId xmlns:a16="http://schemas.microsoft.com/office/drawing/2014/main" id="{0F2D1302-AFDF-F86F-8916-0E198F8845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CFFCC5-3F6C-8919-67C7-85D129A25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cs-CZ" sz="2000" dirty="0"/>
              <a:t>FTP je zkratka pro </a:t>
            </a:r>
            <a:r>
              <a:rPr lang="cs-CZ" sz="2000" dirty="0" err="1"/>
              <a:t>File</a:t>
            </a:r>
            <a:r>
              <a:rPr lang="cs-CZ" sz="2000" dirty="0"/>
              <a:t> Transfer </a:t>
            </a:r>
            <a:r>
              <a:rPr lang="cs-CZ" sz="2000" dirty="0" err="1"/>
              <a:t>Protocol</a:t>
            </a:r>
            <a:endParaRPr lang="cs-CZ" sz="2000" dirty="0"/>
          </a:p>
          <a:p>
            <a:r>
              <a:rPr lang="cs-CZ" sz="2000" dirty="0"/>
              <a:t>Jedná se o standardní síťový protokol používaný k přenosu souborů mezi počítači v síti TCP/IP</a:t>
            </a:r>
          </a:p>
          <a:p>
            <a:r>
              <a:rPr lang="cs-CZ" sz="2000" dirty="0"/>
              <a:t>Architektura klient–server</a:t>
            </a:r>
          </a:p>
          <a:p>
            <a:r>
              <a:rPr lang="cs-CZ" sz="2000" dirty="0"/>
              <a:t>Využívá oddělená řídicí a datová spojení mezi klientem a serverem</a:t>
            </a:r>
          </a:p>
          <a:p>
            <a:r>
              <a:rPr lang="cs-CZ" sz="2000" dirty="0"/>
              <a:t>Autentizace uživatelů</a:t>
            </a:r>
          </a:p>
          <a:p>
            <a:pPr lvl="1"/>
            <a:r>
              <a:rPr lang="cs-CZ" sz="2000" dirty="0"/>
              <a:t>Přihlašovací uživatelské jméno a heslo</a:t>
            </a:r>
          </a:p>
          <a:p>
            <a:pPr lvl="1"/>
            <a:r>
              <a:rPr lang="cs-CZ" sz="2000" dirty="0"/>
              <a:t>Anonymně</a:t>
            </a:r>
          </a:p>
        </p:txBody>
      </p:sp>
    </p:spTree>
    <p:extLst>
      <p:ext uri="{BB962C8B-B14F-4D97-AF65-F5344CB8AC3E}">
        <p14:creationId xmlns:p14="http://schemas.microsoft.com/office/powerpoint/2010/main" val="97149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BBB112-550D-07D0-D7F9-9B9D1E2F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cs-CZ" sz="3200" dirty="0"/>
              <a:t>Historie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CFFCC5-3F6C-8919-67C7-85D129A25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89" y="2220686"/>
            <a:ext cx="6139543" cy="4637314"/>
          </a:xfrm>
        </p:spPr>
        <p:txBody>
          <a:bodyPr>
            <a:normAutofit/>
          </a:bodyPr>
          <a:lstStyle/>
          <a:p>
            <a:r>
              <a:rPr lang="cs-CZ" sz="2000" dirty="0"/>
              <a:t>Původní specifikace – 16. dubna 1971</a:t>
            </a:r>
          </a:p>
          <a:p>
            <a:pPr lvl="1"/>
            <a:r>
              <a:rPr lang="cs-CZ" sz="1700" dirty="0" err="1"/>
              <a:t>Abhayem</a:t>
            </a:r>
            <a:r>
              <a:rPr lang="cs-CZ" sz="1700" dirty="0"/>
              <a:t> </a:t>
            </a:r>
            <a:r>
              <a:rPr lang="cs-CZ" sz="1700" dirty="0" err="1"/>
              <a:t>Bhushanem</a:t>
            </a:r>
            <a:r>
              <a:rPr lang="cs-CZ" sz="1700" dirty="0"/>
              <a:t> jako RFC 114</a:t>
            </a:r>
          </a:p>
          <a:p>
            <a:r>
              <a:rPr lang="cs-CZ" sz="2000" dirty="0"/>
              <a:t>FTP ze začátku používalo NCP</a:t>
            </a:r>
          </a:p>
          <a:p>
            <a:r>
              <a:rPr lang="cs-CZ" sz="2000" dirty="0"/>
              <a:t>Červen 1980 – nová specifikace (RFC 765) využívající TCP/IP</a:t>
            </a:r>
          </a:p>
          <a:p>
            <a:r>
              <a:rPr lang="cs-CZ" sz="2000" dirty="0"/>
              <a:t>FTP využívalo 2 porty – problémy v případě firewallů</a:t>
            </a:r>
          </a:p>
          <a:p>
            <a:pPr lvl="1"/>
            <a:r>
              <a:rPr lang="cs-CZ" sz="1700" dirty="0"/>
              <a:t>21 pro řízení komunikace</a:t>
            </a:r>
          </a:p>
          <a:p>
            <a:pPr lvl="1"/>
            <a:r>
              <a:rPr lang="cs-CZ" sz="1700" dirty="0"/>
              <a:t>20 pro vlastní datové přenosy</a:t>
            </a:r>
          </a:p>
          <a:p>
            <a:r>
              <a:rPr lang="cs-CZ" sz="2000" dirty="0"/>
              <a:t>Únor 1994 – RFC 1579 umožňuje pasivní režim </a:t>
            </a:r>
          </a:p>
          <a:p>
            <a:r>
              <a:rPr lang="cs-CZ" sz="2000" dirty="0"/>
              <a:t>RFC 2228 (1997) bezpečnostní rozšíření  </a:t>
            </a:r>
          </a:p>
          <a:p>
            <a:r>
              <a:rPr lang="cs-CZ" sz="2000" dirty="0"/>
              <a:t>RFC 2428 (1998) podporu IPv6</a:t>
            </a:r>
          </a:p>
        </p:txBody>
      </p:sp>
      <p:pic>
        <p:nvPicPr>
          <p:cNvPr id="4" name="Picture 10" descr="Procesor s binárními čísly a tištěnými spoji">
            <a:extLst>
              <a:ext uri="{FF2B5EF4-FFF2-40B4-BE49-F238E27FC236}">
                <a16:creationId xmlns:a16="http://schemas.microsoft.com/office/drawing/2014/main" id="{D58B8025-80C1-C179-0518-8D7128F500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74024" y="10"/>
            <a:ext cx="541797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88C1D-2E1C-1CE4-8FC0-8C9B559C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E0314E-96D1-4A62-58E8-7F7178B3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cs-CZ" sz="3200" dirty="0"/>
              <a:t>Jak funguje FTP?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724FC5-EB84-03E6-D025-DAB91502C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>
            <a:extLst>
              <a:ext uri="{FF2B5EF4-FFF2-40B4-BE49-F238E27FC236}">
                <a16:creationId xmlns:a16="http://schemas.microsoft.com/office/drawing/2014/main" id="{2AA7239F-B41F-2C0F-AAE0-131ABD4FF8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20"/>
            <a:ext cx="5654351" cy="6857990"/>
          </a:xfrm>
          <a:prstGeom prst="rect">
            <a:avLst/>
          </a:prstGeom>
        </p:spPr>
      </p:pic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83A572D0-7145-B105-8C1A-A725D988750A}"/>
              </a:ext>
            </a:extLst>
          </p:cNvPr>
          <p:cNvSpPr txBox="1">
            <a:spLocks/>
          </p:cNvSpPr>
          <p:nvPr/>
        </p:nvSpPr>
        <p:spPr>
          <a:xfrm>
            <a:off x="5868557" y="2123742"/>
            <a:ext cx="5525584" cy="438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Komunikaci mezi klientem a serverem pomocí příkazů a odpovědí</a:t>
            </a:r>
          </a:p>
          <a:p>
            <a:r>
              <a:rPr lang="cs-CZ" sz="2000" dirty="0"/>
              <a:t>Klient se připojuje k serveru pomocí TCP/IP, požaduje přenos souborů pomocí příkazů </a:t>
            </a:r>
          </a:p>
          <a:p>
            <a:pPr lvl="1"/>
            <a:r>
              <a:rPr lang="cs-CZ" sz="1600" dirty="0"/>
              <a:t>GET (stáhnout) </a:t>
            </a:r>
          </a:p>
          <a:p>
            <a:pPr lvl="1"/>
            <a:r>
              <a:rPr lang="cs-CZ" sz="1600" dirty="0"/>
              <a:t>PUT (nahrát).</a:t>
            </a:r>
          </a:p>
          <a:p>
            <a:r>
              <a:rPr lang="cs-CZ" sz="2000" dirty="0"/>
              <a:t>Přenos dat - aktivní nebo pasivní, což ovlivňuje způsob, jakým se klient a server připojují a komunikují.</a:t>
            </a:r>
          </a:p>
          <a:p>
            <a:r>
              <a:rPr lang="cs-CZ" sz="2000" dirty="0"/>
              <a:t>Většina FTP klientů poskytuje uživatelské rozhrání pro snadnou manipulaci</a:t>
            </a:r>
          </a:p>
        </p:txBody>
      </p:sp>
    </p:spTree>
    <p:extLst>
      <p:ext uri="{BB962C8B-B14F-4D97-AF65-F5344CB8AC3E}">
        <p14:creationId xmlns:p14="http://schemas.microsoft.com/office/powerpoint/2010/main" val="5313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FA6B0-CD83-D9A6-531A-B60CC297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C12A09-3004-09F2-6980-84F83355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cs-CZ" sz="3200" dirty="0"/>
              <a:t>Typy přístupu k FTP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CB7F78-7361-BB7E-FA4F-98F723248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38757C-E067-EDDC-BBD3-8648DF405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90" y="2220686"/>
            <a:ext cx="5335282" cy="4637314"/>
          </a:xfrm>
        </p:spPr>
        <p:txBody>
          <a:bodyPr>
            <a:normAutofit/>
          </a:bodyPr>
          <a:lstStyle/>
          <a:p>
            <a:r>
              <a:rPr lang="cs-CZ" sz="2000" dirty="0"/>
              <a:t>Existují 2 hlavní typy: aktivní a pasivní</a:t>
            </a:r>
          </a:p>
          <a:p>
            <a:r>
              <a:rPr lang="cs-CZ" sz="2000" dirty="0"/>
              <a:t>Aktivní</a:t>
            </a:r>
          </a:p>
          <a:p>
            <a:pPr lvl="1"/>
            <a:r>
              <a:rPr lang="cs-CZ" sz="1600" dirty="0"/>
              <a:t>Vyžaduje, aby klient otevřel přenosový port a server se k němu připojil</a:t>
            </a:r>
          </a:p>
          <a:p>
            <a:r>
              <a:rPr lang="cs-CZ" sz="2000" dirty="0"/>
              <a:t>Pasivní</a:t>
            </a:r>
          </a:p>
          <a:p>
            <a:pPr lvl="1"/>
            <a:r>
              <a:rPr lang="cs-CZ" sz="1600" dirty="0"/>
              <a:t>Vyžaduje, aby server otevřel datový přenosový port a klient se připojil k tomuto portu.</a:t>
            </a: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3B36B231-3F58-60EB-A6C1-CF0D48986BA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9175" y="0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3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7DCB0-BD12-FA05-D91D-0412DFB0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68ADFF-CFEC-EF66-9033-FC08AB8E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619046"/>
          </a:xfrm>
        </p:spPr>
        <p:txBody>
          <a:bodyPr anchor="t">
            <a:normAutofit/>
          </a:bodyPr>
          <a:lstStyle/>
          <a:p>
            <a:r>
              <a:rPr lang="cs-CZ" sz="3200" dirty="0"/>
              <a:t>Zabezpečení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04C642-8E6F-BBE3-2FEE-F2E6313BE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F934ACE5-783F-083F-1ABD-EC1F9177F122}"/>
              </a:ext>
            </a:extLst>
          </p:cNvPr>
          <p:cNvSpPr txBox="1">
            <a:spLocks/>
          </p:cNvSpPr>
          <p:nvPr/>
        </p:nvSpPr>
        <p:spPr>
          <a:xfrm>
            <a:off x="5868556" y="2023971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FTP je v základní podobě nešifrovaný</a:t>
            </a:r>
          </a:p>
          <a:p>
            <a:r>
              <a:rPr lang="cs-CZ" sz="2000" dirty="0"/>
              <a:t>Lze použít několik metod pro šifrování</a:t>
            </a:r>
          </a:p>
          <a:p>
            <a:pPr lvl="1"/>
            <a:r>
              <a:rPr lang="cs-CZ" sz="1600" dirty="0"/>
              <a:t>FTPS</a:t>
            </a:r>
          </a:p>
          <a:p>
            <a:pPr lvl="2"/>
            <a:r>
              <a:rPr lang="cs-CZ" sz="1400" dirty="0"/>
              <a:t>Přidává podporu pro šifrování pomocí SSL/TLS</a:t>
            </a:r>
          </a:p>
          <a:p>
            <a:pPr lvl="2"/>
            <a:r>
              <a:rPr lang="cs-CZ" sz="1400" dirty="0"/>
              <a:t>Zajišťuje, že přenášená data nejsou čitelná pro neoprávněné uživatele</a:t>
            </a:r>
          </a:p>
          <a:p>
            <a:pPr lvl="2"/>
            <a:r>
              <a:rPr lang="cs-CZ" sz="1400" dirty="0"/>
              <a:t>Používá porty 990 (řídící spojení) 989 (datové spojení)</a:t>
            </a:r>
          </a:p>
          <a:p>
            <a:pPr lvl="1"/>
            <a:r>
              <a:rPr lang="cs-CZ" sz="1600" dirty="0"/>
              <a:t>SFTP</a:t>
            </a:r>
          </a:p>
          <a:p>
            <a:pPr lvl="2"/>
            <a:r>
              <a:rPr lang="cs-CZ" sz="1400" dirty="0"/>
              <a:t>Není součástí FTP – jedná se o samostatný protokol</a:t>
            </a:r>
          </a:p>
          <a:p>
            <a:pPr lvl="2"/>
            <a:r>
              <a:rPr lang="cs-CZ" sz="1400" dirty="0"/>
              <a:t>Využívá šifrování SSH</a:t>
            </a:r>
          </a:p>
          <a:p>
            <a:pPr lvl="2"/>
            <a:r>
              <a:rPr lang="cs-CZ" sz="1400" dirty="0"/>
              <a:t>Běží na portu 22</a:t>
            </a:r>
          </a:p>
          <a:p>
            <a:pPr lvl="2"/>
            <a:r>
              <a:rPr lang="cs-CZ" sz="1400" dirty="0"/>
              <a:t>Poskytuje vysokou úroveň zabezpečení a autentizace pomocí klíčů a certifikátů</a:t>
            </a:r>
          </a:p>
          <a:p>
            <a:r>
              <a:rPr lang="cs-CZ" sz="2000" dirty="0"/>
              <a:t>Bezpečnostní rizika</a:t>
            </a:r>
          </a:p>
          <a:p>
            <a:pPr lvl="1"/>
            <a:r>
              <a:rPr lang="cs-CZ" sz="1600" dirty="0"/>
              <a:t>Možnost neoprávněného čtení dat, přístupu k souborům</a:t>
            </a:r>
          </a:p>
          <a:p>
            <a:pPr lvl="1"/>
            <a:endParaRPr lang="cs-CZ" sz="1600" dirty="0"/>
          </a:p>
        </p:txBody>
      </p:sp>
      <p:pic>
        <p:nvPicPr>
          <p:cNvPr id="3" name="Picture 4" descr="Průhledná Padlock">
            <a:extLst>
              <a:ext uri="{FF2B5EF4-FFF2-40B4-BE49-F238E27FC236}">
                <a16:creationId xmlns:a16="http://schemas.microsoft.com/office/drawing/2014/main" id="{89E10D5B-A299-D349-8502-BD78BD3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598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3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F8D6E-E5A5-50C1-E706-0004F26E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66F725-1947-9B48-46A6-824C74E5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Populární FTP klienti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835231-80DC-07FE-D7FB-44CFFF8A9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C83E76-2DDB-0CA5-2BD4-531BC4E1D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96" y="1799345"/>
            <a:ext cx="5537628" cy="4637314"/>
          </a:xfrm>
        </p:spPr>
        <p:txBody>
          <a:bodyPr>
            <a:normAutofit/>
          </a:bodyPr>
          <a:lstStyle/>
          <a:p>
            <a:r>
              <a:rPr lang="cs-CZ" sz="2400" dirty="0" err="1"/>
              <a:t>FileZilla</a:t>
            </a:r>
            <a:endParaRPr lang="cs-CZ" sz="2400" dirty="0"/>
          </a:p>
          <a:p>
            <a:pPr lvl="1"/>
            <a:r>
              <a:rPr lang="cs-CZ" sz="1600" dirty="0"/>
              <a:t>Jeden z nejznámějších a nejpoužívanějších</a:t>
            </a:r>
          </a:p>
          <a:p>
            <a:pPr lvl="1"/>
            <a:r>
              <a:rPr lang="cs-CZ" sz="1600" dirty="0"/>
              <a:t>Multiplatformní (Windows, macOS, Linux)</a:t>
            </a:r>
          </a:p>
          <a:p>
            <a:pPr lvl="1"/>
            <a:r>
              <a:rPr lang="cs-CZ" sz="1600" dirty="0"/>
              <a:t>Široká škála funkcí </a:t>
            </a:r>
          </a:p>
          <a:p>
            <a:pPr lvl="2"/>
            <a:r>
              <a:rPr lang="cs-CZ" sz="1400" dirty="0"/>
              <a:t>Drag-and-Drop přenos, správa více přenosů současně</a:t>
            </a:r>
          </a:p>
          <a:p>
            <a:r>
              <a:rPr lang="cs-CZ" sz="1800" dirty="0" err="1"/>
              <a:t>WinSCP</a:t>
            </a:r>
            <a:r>
              <a:rPr lang="cs-CZ" sz="1800" dirty="0"/>
              <a:t> (Windows </a:t>
            </a:r>
            <a:r>
              <a:rPr lang="cs-CZ" sz="1800" dirty="0" err="1"/>
              <a:t>Secure</a:t>
            </a:r>
            <a:r>
              <a:rPr lang="cs-CZ" sz="1800" dirty="0"/>
              <a:t> Copy)</a:t>
            </a:r>
          </a:p>
          <a:p>
            <a:pPr lvl="1"/>
            <a:r>
              <a:rPr lang="cs-CZ" sz="1600" dirty="0"/>
              <a:t>Primárně určený pro přenos pomocí protokolu SCP</a:t>
            </a:r>
          </a:p>
          <a:p>
            <a:pPr lvl="1"/>
            <a:r>
              <a:rPr lang="cs-CZ" sz="1600" dirty="0"/>
              <a:t>Pouze pro platformu Windows</a:t>
            </a:r>
          </a:p>
          <a:p>
            <a:pPr lvl="1"/>
            <a:r>
              <a:rPr lang="cs-CZ" sz="1600" dirty="0"/>
              <a:t>Snadný přenos souborů mezi lokálním počítačem a serverem</a:t>
            </a:r>
          </a:p>
          <a:p>
            <a:r>
              <a:rPr lang="cs-CZ" sz="2000" dirty="0" err="1"/>
              <a:t>CuteFTP</a:t>
            </a:r>
            <a:endParaRPr lang="cs-CZ" sz="2000" dirty="0"/>
          </a:p>
          <a:p>
            <a:pPr lvl="1"/>
            <a:r>
              <a:rPr lang="cs-CZ" sz="1600" dirty="0"/>
              <a:t>Komerční</a:t>
            </a:r>
          </a:p>
          <a:p>
            <a:pPr lvl="1"/>
            <a:r>
              <a:rPr lang="cs-CZ" sz="1600" dirty="0"/>
              <a:t>Podporuje šifrované přenosy pomocí SSL/TLS a integrované editory souborů</a:t>
            </a:r>
          </a:p>
          <a:p>
            <a:pPr lvl="1"/>
            <a:r>
              <a:rPr lang="cs-CZ" sz="1600" dirty="0"/>
              <a:t>Plánování přenosů, synchronizace adresářů, zálohy</a:t>
            </a:r>
          </a:p>
        </p:txBody>
      </p:sp>
      <p:pic>
        <p:nvPicPr>
          <p:cNvPr id="5" name="Picture 4" descr="Detailní záběr síťového rozhraní serveru s indikátory a kabely">
            <a:extLst>
              <a:ext uri="{FF2B5EF4-FFF2-40B4-BE49-F238E27FC236}">
                <a16:creationId xmlns:a16="http://schemas.microsoft.com/office/drawing/2014/main" id="{7F68820A-3062-0071-5E21-4D35E3DF21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6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A3418-3DB6-A903-E029-E56BA20F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C0E100-20A0-FB26-7162-6FBA0CE5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619046"/>
          </a:xfrm>
        </p:spPr>
        <p:txBody>
          <a:bodyPr anchor="t">
            <a:normAutofit/>
          </a:bodyPr>
          <a:lstStyle/>
          <a:p>
            <a:r>
              <a:rPr lang="cs-CZ" sz="3200" dirty="0"/>
              <a:t>Výhody a nevýhody FTP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74B0E3-52B0-588E-23A3-D4A475FA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037461F8-2DC7-1B28-4104-B94FEEA121E8}"/>
              </a:ext>
            </a:extLst>
          </p:cNvPr>
          <p:cNvSpPr txBox="1">
            <a:spLocks/>
          </p:cNvSpPr>
          <p:nvPr/>
        </p:nvSpPr>
        <p:spPr>
          <a:xfrm>
            <a:off x="5868556" y="2023971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Výhody</a:t>
            </a:r>
          </a:p>
          <a:p>
            <a:pPr lvl="1"/>
            <a:r>
              <a:rPr lang="cs-CZ" sz="1600" dirty="0"/>
              <a:t>Jednoduchost použití </a:t>
            </a:r>
          </a:p>
          <a:p>
            <a:pPr lvl="1"/>
            <a:r>
              <a:rPr lang="cs-CZ" sz="1600" dirty="0"/>
              <a:t>Rozšířenost – široce používaný a podporovaný protokol</a:t>
            </a:r>
          </a:p>
          <a:p>
            <a:pPr lvl="1"/>
            <a:r>
              <a:rPr lang="cs-CZ" sz="1600" dirty="0"/>
              <a:t>Kompatibilita s různými operačními systémy</a:t>
            </a:r>
          </a:p>
          <a:p>
            <a:r>
              <a:rPr lang="cs-CZ" sz="2000" dirty="0"/>
              <a:t>Nevýhody</a:t>
            </a:r>
          </a:p>
          <a:p>
            <a:pPr lvl="1"/>
            <a:r>
              <a:rPr lang="cs-CZ" sz="1600" dirty="0"/>
              <a:t>Omezené zabezpečení</a:t>
            </a:r>
          </a:p>
          <a:p>
            <a:pPr lvl="1"/>
            <a:r>
              <a:rPr lang="cs-CZ" sz="1600" dirty="0"/>
              <a:t>Nízká efektivita u velkých souborů</a:t>
            </a:r>
          </a:p>
          <a:p>
            <a:pPr lvl="1"/>
            <a:r>
              <a:rPr lang="cs-CZ" sz="1600" dirty="0"/>
              <a:t>Riziko neoprávněného přístupu k datům</a:t>
            </a:r>
          </a:p>
          <a:p>
            <a:pPr lvl="1"/>
            <a:r>
              <a:rPr lang="cs-CZ" sz="1600" dirty="0"/>
              <a:t>Omezená podpora pro moderní funkce</a:t>
            </a:r>
          </a:p>
        </p:txBody>
      </p:sp>
      <p:pic>
        <p:nvPicPr>
          <p:cNvPr id="4" name="Zástupný obsah 5" descr="Obsah obrázku elektronika, klávesnice, Vstupní zařízení, periferie&#10;&#10;Popis byl vytvořen automaticky">
            <a:extLst>
              <a:ext uri="{FF2B5EF4-FFF2-40B4-BE49-F238E27FC236}">
                <a16:creationId xmlns:a16="http://schemas.microsoft.com/office/drawing/2014/main" id="{BCB2962F-12B1-66CD-C4FB-784523308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5549153" cy="6858000"/>
          </a:xfrm>
        </p:spPr>
      </p:pic>
    </p:spTree>
    <p:extLst>
      <p:ext uri="{BB962C8B-B14F-4D97-AF65-F5344CB8AC3E}">
        <p14:creationId xmlns:p14="http://schemas.microsoft.com/office/powerpoint/2010/main" val="559551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F389B-DBB8-992A-A0F0-7DB5E2C3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4082F-7D69-5822-59E9-1D36D0A00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4085665" cy="592151"/>
          </a:xfrm>
        </p:spPr>
        <p:txBody>
          <a:bodyPr anchor="t">
            <a:normAutofit/>
          </a:bodyPr>
          <a:lstStyle/>
          <a:p>
            <a:r>
              <a:rPr lang="cs-CZ" sz="3200" dirty="0" err="1"/>
              <a:t>FileZilla</a:t>
            </a:r>
            <a:endParaRPr lang="cs-CZ" sz="3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CC9ACC-2939-7513-F166-C0671FA2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E7C1EC0C-9813-2D35-7FF1-8AA7E33E49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797" y="1799345"/>
            <a:ext cx="5035603" cy="3370081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211D44C8-00D9-0B55-725F-A94F6036F76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2" y="2205830"/>
            <a:ext cx="5035603" cy="2963596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478B13C7-BEA9-3E39-1AED-12D93A2BEA5B}"/>
              </a:ext>
            </a:extLst>
          </p:cNvPr>
          <p:cNvSpPr txBox="1">
            <a:spLocks/>
          </p:cNvSpPr>
          <p:nvPr/>
        </p:nvSpPr>
        <p:spPr>
          <a:xfrm>
            <a:off x="6705602" y="1804107"/>
            <a:ext cx="4085665" cy="5921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2400" dirty="0"/>
              <a:t>Přidání FTP serveru</a:t>
            </a:r>
          </a:p>
        </p:txBody>
      </p:sp>
    </p:spTree>
    <p:extLst>
      <p:ext uri="{BB962C8B-B14F-4D97-AF65-F5344CB8AC3E}">
        <p14:creationId xmlns:p14="http://schemas.microsoft.com/office/powerpoint/2010/main" val="182412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E78BA-ECF9-678B-5B35-FD125661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3EB2AB-6966-8368-C4E6-836ED9FC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4085665" cy="592151"/>
          </a:xfrm>
        </p:spPr>
        <p:txBody>
          <a:bodyPr anchor="t">
            <a:normAutofit/>
          </a:bodyPr>
          <a:lstStyle/>
          <a:p>
            <a:r>
              <a:rPr lang="cs-CZ" sz="3200" dirty="0" err="1"/>
              <a:t>FileZilla</a:t>
            </a:r>
            <a:endParaRPr lang="cs-CZ" sz="3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3E1ED2-0DAD-39BA-8A4B-635ED4866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w to Configure FileZilla">
            <a:extLst>
              <a:ext uri="{FF2B5EF4-FFF2-40B4-BE49-F238E27FC236}">
                <a16:creationId xmlns:a16="http://schemas.microsoft.com/office/drawing/2014/main" id="{58CF4077-D056-D83F-627B-FC1593249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7186" y="1058531"/>
            <a:ext cx="7151417" cy="518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703DF39-9EE8-05EC-045B-E39423EFB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5424" y="2993486"/>
            <a:ext cx="1313147" cy="1313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66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68A71-2852-1076-DE16-688BECA2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84EDA8-F846-AFF3-69F2-C0853204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5794248" cy="592151"/>
          </a:xfrm>
        </p:spPr>
        <p:txBody>
          <a:bodyPr anchor="t">
            <a:normAutofit/>
          </a:bodyPr>
          <a:lstStyle/>
          <a:p>
            <a:r>
              <a:rPr lang="cs-CZ" sz="3200"/>
              <a:t>Instalace FTP na Windows server</a:t>
            </a:r>
            <a:endParaRPr lang="cs-CZ" sz="3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5E85D0-007E-AB8D-557F-232CAF5E9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D117CDF0-75A0-FF30-5BE6-79A1F6677C55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B104C94A-96CC-3469-4200-8C40C7422A27}"/>
              </a:ext>
            </a:extLst>
          </p:cNvPr>
          <p:cNvSpPr txBox="1"/>
          <p:nvPr/>
        </p:nvSpPr>
        <p:spPr>
          <a:xfrm>
            <a:off x="786882" y="1810756"/>
            <a:ext cx="108351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dirty="0">
                <a:latin typeface="Consolas" panose="020B0609020204030204" pitchFamily="49" charset="0"/>
              </a:rPr>
              <a:t>Windows </a:t>
            </a:r>
            <a:r>
              <a:rPr lang="cs-CZ" sz="1600" dirty="0" err="1">
                <a:latin typeface="Consolas" panose="020B0609020204030204" pitchFamily="49" charset="0"/>
              </a:rPr>
              <a:t>PowerShell</a:t>
            </a:r>
            <a:endParaRPr lang="cs-CZ" sz="1600" dirty="0">
              <a:latin typeface="Consolas" panose="020B0609020204030204" pitchFamily="49" charset="0"/>
            </a:endParaRPr>
          </a:p>
          <a:p>
            <a:r>
              <a:rPr lang="cs-CZ" sz="1600" dirty="0">
                <a:latin typeface="Consolas" panose="020B0609020204030204" pitchFamily="49" charset="0"/>
              </a:rPr>
              <a:t>Copyright (C) Microsoft </a:t>
            </a:r>
            <a:r>
              <a:rPr lang="cs-CZ" sz="1600" dirty="0" err="1">
                <a:latin typeface="Consolas" panose="020B0609020204030204" pitchFamily="49" charset="0"/>
              </a:rPr>
              <a:t>Corporation</a:t>
            </a:r>
            <a:r>
              <a:rPr lang="cs-CZ" sz="1600" dirty="0">
                <a:latin typeface="Consolas" panose="020B0609020204030204" pitchFamily="49" charset="0"/>
              </a:rPr>
              <a:t>. All </a:t>
            </a:r>
            <a:r>
              <a:rPr lang="cs-CZ" sz="1600" dirty="0" err="1">
                <a:latin typeface="Consolas" panose="020B0609020204030204" pitchFamily="49" charset="0"/>
              </a:rPr>
              <a:t>rights</a:t>
            </a:r>
            <a:r>
              <a:rPr lang="cs-CZ" sz="1600" dirty="0">
                <a:latin typeface="Consolas" panose="020B0609020204030204" pitchFamily="49" charset="0"/>
              </a:rPr>
              <a:t> </a:t>
            </a:r>
            <a:r>
              <a:rPr lang="cs-CZ" sz="1600" dirty="0" err="1">
                <a:latin typeface="Consolas" panose="020B0609020204030204" pitchFamily="49" charset="0"/>
              </a:rPr>
              <a:t>reserved</a:t>
            </a:r>
            <a:r>
              <a:rPr lang="cs-CZ" sz="1600" dirty="0">
                <a:latin typeface="Consolas" panose="020B0609020204030204" pitchFamily="49" charset="0"/>
              </a:rPr>
              <a:t>.</a:t>
            </a:r>
          </a:p>
          <a:p>
            <a:endParaRPr lang="cs-CZ" sz="1600" dirty="0">
              <a:latin typeface="Consolas" panose="020B0609020204030204" pitchFamily="49" charset="0"/>
            </a:endParaRPr>
          </a:p>
          <a:p>
            <a:r>
              <a:rPr lang="cs-CZ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cs-CZ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install</a:t>
            </a:r>
            <a:r>
              <a:rPr lang="cs-CZ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FTP Server </a:t>
            </a:r>
            <a:r>
              <a:rPr lang="cs-CZ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with</a:t>
            </a:r>
            <a:r>
              <a:rPr lang="cs-CZ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admin </a:t>
            </a:r>
            <a:r>
              <a:rPr lang="cs-CZ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tools</a:t>
            </a:r>
            <a:endParaRPr lang="cs-CZ" sz="1600" dirty="0">
              <a:solidFill>
                <a:schemeClr val="accent5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cs-CZ" sz="1600" dirty="0">
                <a:latin typeface="Consolas" panose="020B0609020204030204" pitchFamily="49" charset="0"/>
              </a:rPr>
              <a:t>PS C:\Users\Administrator&gt; </a:t>
            </a:r>
            <a:r>
              <a:rPr lang="cs-CZ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Install-WindowsFeature</a:t>
            </a:r>
            <a:r>
              <a:rPr lang="cs-CZ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Web-FTP-Server -</a:t>
            </a:r>
            <a:r>
              <a:rPr lang="cs-CZ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IncludeManagementTools</a:t>
            </a:r>
            <a:r>
              <a:rPr lang="cs-CZ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endParaRPr lang="cs-CZ" sz="1600" dirty="0">
              <a:latin typeface="Consolas" panose="020B0609020204030204" pitchFamily="49" charset="0"/>
            </a:endParaRPr>
          </a:p>
          <a:p>
            <a:r>
              <a:rPr lang="cs-CZ" sz="1600" dirty="0" err="1">
                <a:latin typeface="Consolas" panose="020B0609020204030204" pitchFamily="49" charset="0"/>
              </a:rPr>
              <a:t>Success</a:t>
            </a:r>
            <a:r>
              <a:rPr lang="cs-CZ" sz="1600" dirty="0">
                <a:latin typeface="Consolas" panose="020B0609020204030204" pitchFamily="49" charset="0"/>
              </a:rPr>
              <a:t> Restart </a:t>
            </a:r>
            <a:r>
              <a:rPr lang="cs-CZ" sz="1600" dirty="0" err="1">
                <a:latin typeface="Consolas" panose="020B0609020204030204" pitchFamily="49" charset="0"/>
              </a:rPr>
              <a:t>Needed</a:t>
            </a:r>
            <a:r>
              <a:rPr lang="cs-CZ" sz="1600" dirty="0">
                <a:latin typeface="Consolas" panose="020B0609020204030204" pitchFamily="49" charset="0"/>
              </a:rPr>
              <a:t> Exit </a:t>
            </a:r>
            <a:r>
              <a:rPr lang="cs-CZ" sz="1600" dirty="0" err="1">
                <a:latin typeface="Consolas" panose="020B0609020204030204" pitchFamily="49" charset="0"/>
              </a:rPr>
              <a:t>Code</a:t>
            </a:r>
            <a:r>
              <a:rPr lang="cs-CZ" sz="1600" dirty="0">
                <a:latin typeface="Consolas" panose="020B0609020204030204" pitchFamily="49" charset="0"/>
              </a:rPr>
              <a:t>      </a:t>
            </a:r>
            <a:r>
              <a:rPr lang="cs-CZ" sz="1600" dirty="0" err="1">
                <a:latin typeface="Consolas" panose="020B0609020204030204" pitchFamily="49" charset="0"/>
              </a:rPr>
              <a:t>Feature</a:t>
            </a:r>
            <a:r>
              <a:rPr lang="cs-CZ" sz="1600" dirty="0">
                <a:latin typeface="Consolas" panose="020B0609020204030204" pitchFamily="49" charset="0"/>
              </a:rPr>
              <a:t> </a:t>
            </a:r>
            <a:r>
              <a:rPr lang="cs-CZ" sz="1600" dirty="0" err="1">
                <a:latin typeface="Consolas" panose="020B0609020204030204" pitchFamily="49" charset="0"/>
              </a:rPr>
              <a:t>Result</a:t>
            </a:r>
            <a:endParaRPr lang="cs-CZ" sz="1600" dirty="0">
              <a:latin typeface="Consolas" panose="020B0609020204030204" pitchFamily="49" charset="0"/>
            </a:endParaRPr>
          </a:p>
          <a:p>
            <a:r>
              <a:rPr lang="cs-CZ" sz="1600" dirty="0">
                <a:latin typeface="Consolas" panose="020B0609020204030204" pitchFamily="49" charset="0"/>
              </a:rPr>
              <a:t>------- -------------- ---------      --------------</a:t>
            </a:r>
          </a:p>
          <a:p>
            <a:r>
              <a:rPr lang="cs-CZ" sz="1600" dirty="0" err="1">
                <a:latin typeface="Consolas" panose="020B0609020204030204" pitchFamily="49" charset="0"/>
              </a:rPr>
              <a:t>True</a:t>
            </a:r>
            <a:r>
              <a:rPr lang="cs-CZ" sz="1600" dirty="0">
                <a:latin typeface="Consolas" panose="020B0609020204030204" pitchFamily="49" charset="0"/>
              </a:rPr>
              <a:t>    No             </a:t>
            </a:r>
            <a:r>
              <a:rPr lang="cs-CZ" sz="1600" dirty="0" err="1">
                <a:latin typeface="Consolas" panose="020B0609020204030204" pitchFamily="49" charset="0"/>
              </a:rPr>
              <a:t>Success</a:t>
            </a:r>
            <a:r>
              <a:rPr lang="cs-CZ" sz="1600" dirty="0">
                <a:latin typeface="Consolas" panose="020B0609020204030204" pitchFamily="49" charset="0"/>
              </a:rPr>
              <a:t>        {FTP Server, FTP </a:t>
            </a:r>
            <a:r>
              <a:rPr lang="cs-CZ" sz="1600" dirty="0" err="1">
                <a:latin typeface="Consolas" panose="020B0609020204030204" pitchFamily="49" charset="0"/>
              </a:rPr>
              <a:t>Service</a:t>
            </a:r>
            <a:r>
              <a:rPr lang="cs-CZ" sz="1600" dirty="0">
                <a:latin typeface="Consolas" panose="020B0609020204030204" pitchFamily="49" charset="0"/>
              </a:rPr>
              <a:t>, IIS Management C...</a:t>
            </a:r>
          </a:p>
        </p:txBody>
      </p:sp>
    </p:spTree>
    <p:extLst>
      <p:ext uri="{BB962C8B-B14F-4D97-AF65-F5344CB8AC3E}">
        <p14:creationId xmlns:p14="http://schemas.microsoft.com/office/powerpoint/2010/main" val="61966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4D3EB-3C46-63CD-AF7C-CCE34B0F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7CD5FC-DB5C-6F03-780E-15DDF521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6928104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Instalace FTP na Windows server - GUI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4E33F6-8A38-EC69-22AF-42C1F8E7C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BCEC39AA-1C8E-35BD-4937-94B2691EDA64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3DA03A-ADB1-91D1-8704-A1D21DC2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11" y="1874764"/>
            <a:ext cx="4888667" cy="366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3A758C8-817B-991C-C598-C05D10A46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122" y="1874764"/>
            <a:ext cx="4888667" cy="366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09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22CD2-7889-C6DB-D354-4B86A183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A894EF-4B0A-2FE9-A6FC-F76EB6490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6928104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Instalace FTP na Windows server - GUI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0DD80-B756-1035-6593-227659816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A2EE1B04-2544-37DF-29AA-5F2C418C5A4E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CCDF0D8-9BD2-946C-8756-478E4F899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11" y="1874764"/>
            <a:ext cx="4888667" cy="366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DB1B47E-CB4A-601D-AE46-539DC4040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193" y="1874764"/>
            <a:ext cx="4888667" cy="366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593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272C8-35E8-A39B-E6D7-3FD2C24D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F3439A-4771-2112-4959-2EE903C9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6928104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Instalace FTP na Windows server - GUI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877BB1-D697-80E1-97C7-38833BD04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37DC13B1-42C0-46DE-4973-CF519B6EBB51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409B3C7-38F5-5891-8A29-689CA3F6A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11" y="1905000"/>
            <a:ext cx="4848352" cy="363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986B4C8-4EDA-F8DD-26E8-A109B3A1E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809" y="1856476"/>
            <a:ext cx="4913051" cy="368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980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00673-CC8C-8ED0-0550-F579B2ED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664FE7-0543-5E9C-D203-F7334E02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6928104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Instalace FTP na Windows server - GUI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200753-F5A3-6FC6-22F4-00914BD84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84C11B4A-7FA4-8563-6CBB-FD0D63B4C9F0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629340C-A4D9-F902-DEDE-7FCA20DDA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40" y="1905001"/>
            <a:ext cx="4848351" cy="363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6B8EC9D-6E6A-76A5-1FC6-BEED604F3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808" y="1838066"/>
            <a:ext cx="4913052" cy="368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708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24145E-8AEE-9F4C-AA6B-ED50F520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7D11CA-1337-955F-0497-71D059AF0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488"/>
            <a:ext cx="10515600" cy="5102352"/>
          </a:xfrm>
        </p:spPr>
        <p:txBody>
          <a:bodyPr>
            <a:normAutofit/>
          </a:bodyPr>
          <a:lstStyle/>
          <a:p>
            <a:r>
              <a:rPr lang="cs-CZ" sz="1600" dirty="0">
                <a:hlinkClick r:id="rId2"/>
              </a:rPr>
              <a:t>https://chat.openai.com/</a:t>
            </a:r>
            <a:endParaRPr lang="cs-CZ" sz="1600" dirty="0"/>
          </a:p>
          <a:p>
            <a:r>
              <a:rPr lang="cs-CZ" sz="1600" dirty="0">
                <a:hlinkClick r:id="rId3"/>
              </a:rPr>
              <a:t>https://cs.wikipedia.org/wiki/File_Transfer_Protocol</a:t>
            </a:r>
            <a:endParaRPr lang="cs-CZ" sz="1600" dirty="0"/>
          </a:p>
          <a:p>
            <a:r>
              <a:rPr lang="cs-CZ" sz="1600" dirty="0">
                <a:hlinkClick r:id="rId4"/>
              </a:rPr>
              <a:t>https://en.wikipedia.org/wiki/File_Transfer_Protocol</a:t>
            </a:r>
            <a:endParaRPr lang="cs-CZ" sz="1600" dirty="0"/>
          </a:p>
          <a:p>
            <a:r>
              <a:rPr lang="cs-CZ" sz="1600" dirty="0">
                <a:hlinkClick r:id="rId5"/>
              </a:rPr>
              <a:t>http://podpora.forpsi.com/kb/a4362/ftp-klienti.aspx</a:t>
            </a:r>
            <a:endParaRPr lang="cs-CZ" sz="1600" dirty="0"/>
          </a:p>
          <a:p>
            <a:r>
              <a:rPr lang="cs-CZ" sz="1600" dirty="0">
                <a:hlinkClick r:id="rId6"/>
              </a:rPr>
              <a:t>https://www.master.cz/blog/ftp-sftp-smb-protokoly-pro-prenos-souboru-ktery-vybrat/#:~:text=FTPS%20je%20jednou%20z%20mo%C5%BEnost%C3%AD,mohou%20b%C3%BDt%20data%20jednodu%C5%A1eji%20%C4%8Diteln%C3%A1</a:t>
            </a:r>
            <a:endParaRPr lang="cs-CZ" sz="1600" dirty="0"/>
          </a:p>
          <a:p>
            <a:r>
              <a:rPr lang="cs-CZ" sz="1600" dirty="0">
                <a:hlinkClick r:id="rId7"/>
              </a:rPr>
              <a:t>https://cs.wikipedia.org/wiki/FTPS</a:t>
            </a:r>
            <a:endParaRPr lang="cs-CZ" sz="1600" dirty="0"/>
          </a:p>
          <a:p>
            <a:r>
              <a:rPr lang="cs-CZ" sz="1600" dirty="0">
                <a:hlinkClick r:id="rId8"/>
              </a:rPr>
              <a:t>https://podpora.shoptet.cz/</a:t>
            </a:r>
            <a:r>
              <a:rPr lang="cs-CZ" sz="1600" dirty="0" err="1">
                <a:hlinkClick r:id="rId8"/>
              </a:rPr>
              <a:t>hc</a:t>
            </a:r>
            <a:r>
              <a:rPr lang="cs-CZ" sz="1600" dirty="0">
                <a:hlinkClick r:id="rId8"/>
              </a:rPr>
              <a:t>/cs/</a:t>
            </a:r>
            <a:r>
              <a:rPr lang="cs-CZ" sz="1600" dirty="0" err="1">
                <a:hlinkClick r:id="rId8"/>
              </a:rPr>
              <a:t>articles</a:t>
            </a:r>
            <a:r>
              <a:rPr lang="cs-CZ" sz="1600" dirty="0">
                <a:hlinkClick r:id="rId8"/>
              </a:rPr>
              <a:t>/360003141472-FTP-co-je-to#:~:text=FTP%20neboli%20File%20Transfer%20Protocol,va%C5%A1%C3%ADm%20po%C4%8D%C3%ADta%C4%8Dem%20a%20na%C5%A1%C3%ADm%20serverem</a:t>
            </a:r>
            <a:r>
              <a:rPr lang="cs-CZ" sz="1600" dirty="0"/>
              <a:t>.</a:t>
            </a:r>
          </a:p>
          <a:p>
            <a:r>
              <a:rPr lang="cs-CZ" sz="1600" dirty="0">
                <a:hlinkClick r:id="rId9"/>
              </a:rPr>
              <a:t>https://napoveda.czechia.com/clanek/co-je-to-ftp-klient-a-jak-jej-pouzit/</a:t>
            </a:r>
            <a:endParaRPr lang="cs-CZ" sz="1600" dirty="0"/>
          </a:p>
          <a:p>
            <a:r>
              <a:rPr lang="cs-CZ" sz="1600" dirty="0">
                <a:hlinkClick r:id="rId10"/>
              </a:rPr>
              <a:t>https://www.earchiv.cz/a93/a333c110.php3</a:t>
            </a:r>
            <a:endParaRPr lang="cs-CZ" sz="1600" dirty="0"/>
          </a:p>
          <a:p>
            <a:r>
              <a:rPr lang="cs-CZ" sz="1600" dirty="0">
                <a:hlinkClick r:id="rId11"/>
              </a:rPr>
              <a:t>https://www.hostgator.com/help/article/how-to-configure-filezilla</a:t>
            </a:r>
            <a:endParaRPr lang="cs-CZ" sz="1600" dirty="0"/>
          </a:p>
          <a:p>
            <a:r>
              <a:rPr lang="cs-CZ" sz="1600" dirty="0">
                <a:hlinkClick r:id="rId12"/>
              </a:rPr>
              <a:t>https://www.server-world.info/en/note?os=Windows_Server_2022&amp;p=ftp&amp;f=5</a:t>
            </a:r>
            <a:endParaRPr lang="cs-CZ" sz="1600" dirty="0"/>
          </a:p>
          <a:p>
            <a:r>
              <a:rPr lang="cs-CZ" sz="1600" dirty="0">
                <a:hlinkClick r:id="rId13"/>
              </a:rPr>
              <a:t>https://cs.wikipedia.org/wiki/FileZilla</a:t>
            </a:r>
            <a:endParaRPr lang="cs-CZ" sz="1600" dirty="0"/>
          </a:p>
          <a:p>
            <a:pPr marL="0" indent="0">
              <a:buNone/>
            </a:pPr>
            <a:endParaRPr lang="cs-CZ" sz="1600" dirty="0"/>
          </a:p>
          <a:p>
            <a:endParaRPr lang="cs-CZ" sz="1600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3824745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798</Words>
  <Application>Microsoft Office PowerPoint</Application>
  <PresentationFormat>Širokoúhlá obrazovka</PresentationFormat>
  <Paragraphs>110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Motiv Office</vt:lpstr>
      <vt:lpstr>FTP</vt:lpstr>
      <vt:lpstr>FTP </vt:lpstr>
      <vt:lpstr>Co je FTP?</vt:lpstr>
      <vt:lpstr>Historie</vt:lpstr>
      <vt:lpstr>Jak funguje FTP?</vt:lpstr>
      <vt:lpstr>Typy přístupu k FTP</vt:lpstr>
      <vt:lpstr>Zabezpečení</vt:lpstr>
      <vt:lpstr>Populární FTP klienti</vt:lpstr>
      <vt:lpstr>Výhody a nevýhody FTP</vt:lpstr>
      <vt:lpstr>FileZilla</vt:lpstr>
      <vt:lpstr>FileZilla</vt:lpstr>
      <vt:lpstr>Instalace FTP na Windows server</vt:lpstr>
      <vt:lpstr>Instalace FTP na Windows server - GUI</vt:lpstr>
      <vt:lpstr>Instalace FTP na Windows server - GUI</vt:lpstr>
      <vt:lpstr>Instalace FTP na Windows server - GUI</vt:lpstr>
      <vt:lpstr>Instalace FTP na Windows server - GUI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