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9" r:id="rId4"/>
    <p:sldId id="262" r:id="rId5"/>
    <p:sldId id="263" r:id="rId6"/>
    <p:sldId id="266" r:id="rId7"/>
    <p:sldId id="267" r:id="rId8"/>
    <p:sldId id="270" r:id="rId9"/>
    <p:sldId id="269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9DF42-F8D3-9181-74A3-DE2E4FAF8AC4}" v="39" dt="2024-02-12T08:37:59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19.02.2024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nXdKQj8XnHs?feature=oemb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pbeginner.com/showcase/6-best-ftp-clients-for-wordpress-users/" TargetMode="External"/><Relationship Id="rId2" Type="http://schemas.openxmlformats.org/officeDocument/2006/relationships/hyperlink" Target="https://chat.openai.com/auth/login?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What is FTP and what tools are there to use it?">
            <a:extLst>
              <a:ext uri="{FF2B5EF4-FFF2-40B4-BE49-F238E27FC236}">
                <a16:creationId xmlns:a16="http://schemas.microsoft.com/office/drawing/2014/main" id="{3DDD4D8B-E8AB-6061-C7AB-E2DECCDAD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88" y="-4336"/>
            <a:ext cx="10105621" cy="6866671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cs-CZ" b="1" dirty="0">
                <a:ea typeface="Calibri Light"/>
                <a:cs typeface="Calibri Light"/>
              </a:rPr>
            </a:br>
            <a:endParaRPr lang="cs-CZ" sz="200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6589B2-5F1B-D62E-EFF6-79638D1C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cs typeface="Calibri Light"/>
              </a:rPr>
              <a:t>FTP</a:t>
            </a:r>
            <a:endParaRPr lang="cs-CZ" b="1"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8C4BDD-1DA8-FF1B-11C2-8826F2C09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354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err="1">
                <a:cs typeface="Calibri"/>
              </a:rPr>
              <a:t>File</a:t>
            </a:r>
            <a:r>
              <a:rPr lang="cs-CZ" sz="2000" dirty="0">
                <a:cs typeface="Calibri"/>
              </a:rPr>
              <a:t> Transfer </a:t>
            </a:r>
            <a:r>
              <a:rPr lang="cs-CZ" sz="2000" err="1">
                <a:cs typeface="Calibri"/>
              </a:rPr>
              <a:t>Protocol</a:t>
            </a:r>
            <a:endParaRPr lang="cs-CZ" sz="2000" dirty="0">
              <a:cs typeface="Calibri"/>
            </a:endParaRPr>
          </a:p>
          <a:p>
            <a:endParaRPr lang="cs-CZ" sz="2000" dirty="0">
              <a:ea typeface="+mn-lt"/>
              <a:cs typeface="+mn-lt"/>
            </a:endParaRPr>
          </a:p>
          <a:p>
            <a:r>
              <a:rPr lang="cs-CZ" sz="2000" dirty="0">
                <a:ea typeface="+mn-lt"/>
                <a:cs typeface="+mn-lt"/>
              </a:rPr>
              <a:t>Standardní síťový protokol používaný k přenosu souborů mezi počítači v síti, jako je internet</a:t>
            </a:r>
            <a:endParaRPr lang="cs-CZ" sz="2000" dirty="0">
              <a:cs typeface="Calibri"/>
            </a:endParaRPr>
          </a:p>
          <a:p>
            <a:endParaRPr lang="cs-CZ" dirty="0">
              <a:cs typeface="Calibri"/>
            </a:endParaRPr>
          </a:p>
        </p:txBody>
      </p:sp>
      <p:pic>
        <p:nvPicPr>
          <p:cNvPr id="5" name="Obrázek 4" descr="What is FTP? | How it works | Types | Transmission Modes of FTP">
            <a:extLst>
              <a:ext uri="{FF2B5EF4-FFF2-40B4-BE49-F238E27FC236}">
                <a16:creationId xmlns:a16="http://schemas.microsoft.com/office/drawing/2014/main" id="{4184D8B7-6966-2E28-36C8-562FD11F8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568" y="1754746"/>
            <a:ext cx="6048776" cy="33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3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C8CCE6-6D77-7DC1-76F6-CC4182014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a typeface="Calibri Light"/>
                <a:cs typeface="Calibri Light"/>
              </a:rPr>
              <a:t>Charakteristika I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369E8D-C89D-F4ED-E124-F1E3F9E72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cs-CZ" b="1" u="sng" dirty="0">
                <a:ea typeface="+mn-lt"/>
                <a:cs typeface="+mn-lt"/>
              </a:rPr>
              <a:t>Přenos souborů</a:t>
            </a:r>
            <a:r>
              <a:rPr lang="cs-CZ" u="sng" dirty="0">
                <a:ea typeface="+mn-lt"/>
                <a:cs typeface="+mn-lt"/>
              </a:rPr>
              <a:t> </a:t>
            </a:r>
            <a:endParaRPr lang="cs-CZ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Umožňuje uživatelům nahrávat a stahovat soubory mezi počítači přes síť, čímž usnadňuje správu a sdílení dat</a:t>
            </a:r>
            <a:endParaRPr lang="cs-CZ" sz="20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cs-CZ" sz="2000" dirty="0">
              <a:ea typeface="+mn-lt"/>
              <a:cs typeface="+mn-lt"/>
            </a:endParaRPr>
          </a:p>
          <a:p>
            <a:r>
              <a:rPr lang="cs-CZ" b="1" u="sng" dirty="0">
                <a:ea typeface="+mn-lt"/>
                <a:cs typeface="+mn-lt"/>
              </a:rPr>
              <a:t>Jednoduchost</a:t>
            </a:r>
            <a:endParaRPr lang="cs-CZ" b="1" u="sng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Protokol je relativně jednoduchý a snadno se implementuje</a:t>
            </a:r>
            <a:endParaRPr lang="cs-CZ" sz="20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cs-CZ" sz="2000" dirty="0">
              <a:ea typeface="+mn-lt"/>
              <a:cs typeface="+mn-lt"/>
            </a:endParaRPr>
          </a:p>
          <a:p>
            <a:r>
              <a:rPr lang="cs-CZ" b="1" u="sng" err="1">
                <a:ea typeface="+mn-lt"/>
                <a:cs typeface="+mn-lt"/>
              </a:rPr>
              <a:t>Bezestavovost</a:t>
            </a:r>
            <a:endParaRPr lang="cs-CZ" u="sng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Je </a:t>
            </a:r>
            <a:r>
              <a:rPr lang="cs-CZ" sz="2000" err="1">
                <a:ea typeface="+mn-lt"/>
                <a:cs typeface="+mn-lt"/>
              </a:rPr>
              <a:t>bezestavový</a:t>
            </a:r>
            <a:r>
              <a:rPr lang="cs-CZ" sz="2000" dirty="0">
                <a:ea typeface="+mn-lt"/>
                <a:cs typeface="+mn-lt"/>
              </a:rPr>
              <a:t> protokol, což znamená, že každý přenos souboru je nezávislý na předchozích přenosových operacích</a:t>
            </a:r>
            <a:endParaRPr lang="cs-CZ" sz="2000">
              <a:ea typeface="Calibri"/>
              <a:cs typeface="Calibri"/>
            </a:endParaRPr>
          </a:p>
          <a:p>
            <a:endParaRPr lang="cs-CZ" sz="1200" dirty="0">
              <a:solidFill>
                <a:srgbClr val="37415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743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7CFA-5DB7-4515-292D-6700D656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62CAD3-B8BC-5008-5BE6-6F4D9C3D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a typeface="Calibri Light"/>
                <a:cs typeface="Calibri Light"/>
              </a:rPr>
              <a:t>Charakteristika II</a:t>
            </a:r>
            <a:endParaRPr lang="cs-CZ" b="1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C71A6A-D6B7-5D4D-E4D1-4AE0B1F87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b="1" u="sng" dirty="0">
                <a:ea typeface="+mn-lt"/>
                <a:cs typeface="+mn-lt"/>
              </a:rPr>
              <a:t>Nešifrovaný přenos</a:t>
            </a:r>
            <a:endParaRPr lang="cs-CZ" u="sng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Neposkytuje šifrování, což může být rizikem pro bezpečnost přenosu dat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Toto bylo adresováno vytvořením zabezpečených variant jako FTPS a SFTP</a:t>
            </a:r>
          </a:p>
          <a:p>
            <a:r>
              <a:rPr lang="cs-CZ" b="1" u="sng" dirty="0">
                <a:ea typeface="+mn-lt"/>
                <a:cs typeface="+mn-lt"/>
              </a:rPr>
              <a:t>Porty</a:t>
            </a:r>
            <a:endParaRPr lang="cs-CZ" u="sng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Využívá dvě komunikační porty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Řídící port (port 21) pro příkazy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Datový port pro samotný přenos dat</a:t>
            </a:r>
            <a:endParaRPr lang="cs-CZ" sz="2000">
              <a:ea typeface="Calibri"/>
              <a:cs typeface="Calibri"/>
            </a:endParaRPr>
          </a:p>
          <a:p>
            <a:r>
              <a:rPr lang="cs-CZ" b="1" u="sng" dirty="0">
                <a:ea typeface="+mn-lt"/>
                <a:cs typeface="+mn-lt"/>
              </a:rPr>
              <a:t>Různé režimy přenosu</a:t>
            </a:r>
            <a:endParaRPr lang="cs-CZ" u="sng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Podporuje různé režimy přenosu, jako je ASCII a binární režim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Umožňuje efektivní přenos různých typů souborů</a:t>
            </a:r>
            <a:endParaRPr lang="cs-CZ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238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A1E0E-3026-8CC6-7181-47020E44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5BA80E-88AB-4244-2932-BD3BDBE7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a typeface="Calibri Light"/>
                <a:cs typeface="Calibri Light"/>
              </a:rPr>
              <a:t>Charakteristika III</a:t>
            </a:r>
            <a:endParaRPr lang="cs-CZ" b="1" dirty="0"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12A18C-4683-9310-9907-E0E13846D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b="1" u="sng" dirty="0">
                <a:ea typeface="+mn-lt"/>
                <a:cs typeface="+mn-lt"/>
              </a:rPr>
              <a:t>Podpora pro přihlášení</a:t>
            </a:r>
            <a:endParaRPr lang="cs-CZ" u="sng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 Vyžaduje autentizaci, obvykle prostřednictvím uživatelského jména a hesla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sz="2000" dirty="0">
              <a:ea typeface="+mn-lt"/>
              <a:cs typeface="+mn-lt"/>
            </a:endParaRPr>
          </a:p>
          <a:p>
            <a:r>
              <a:rPr lang="cs-CZ" b="1" u="sng" dirty="0">
                <a:ea typeface="+mn-lt"/>
                <a:cs typeface="+mn-lt"/>
              </a:rPr>
              <a:t>Pasivní a aktivní režimy</a:t>
            </a:r>
            <a:endParaRPr lang="cs-CZ" u="sng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Podporuje jak aktivní, tak pasivní režimy přenosu, což umožňuje flexibilitu při překonávání firewallů a </a:t>
            </a:r>
            <a:r>
              <a:rPr lang="cs-CZ" sz="2000" err="1">
                <a:ea typeface="+mn-lt"/>
                <a:cs typeface="+mn-lt"/>
              </a:rPr>
              <a:t>routování</a:t>
            </a:r>
            <a:endParaRPr lang="cs-CZ" sz="20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cs-CZ" sz="2800" dirty="0">
              <a:ea typeface="+mn-lt"/>
              <a:cs typeface="+mn-lt"/>
            </a:endParaRPr>
          </a:p>
          <a:p>
            <a:r>
              <a:rPr lang="cs-CZ" b="1" u="sng" dirty="0">
                <a:ea typeface="+mn-lt"/>
                <a:cs typeface="+mn-lt"/>
              </a:rPr>
              <a:t>Podpora pro přerušené přenosy</a:t>
            </a:r>
            <a:endParaRPr lang="cs-CZ" u="sng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Umožňuje obnovu přenosu v případě výpadku připojení nebo chyby přenosu</a:t>
            </a:r>
            <a:endParaRPr lang="cs-CZ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8955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3FF802-AD87-F780-13FE-09E02E85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90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cs-CZ" sz="7200" b="1" dirty="0">
                <a:cs typeface="Calibri Light"/>
              </a:rPr>
              <a:t>FTP klienti</a:t>
            </a:r>
          </a:p>
        </p:txBody>
      </p:sp>
    </p:spTree>
    <p:extLst>
      <p:ext uri="{BB962C8B-B14F-4D97-AF65-F5344CB8AC3E}">
        <p14:creationId xmlns:p14="http://schemas.microsoft.com/office/powerpoint/2010/main" val="210187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9EAE55-3FFC-733E-0681-DDEE27C1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err="1">
                <a:cs typeface="Calibri Light"/>
              </a:rPr>
              <a:t>WinSCP</a:t>
            </a:r>
            <a:endParaRPr lang="cs-CZ" b="1" err="1"/>
          </a:p>
        </p:txBody>
      </p:sp>
      <p:pic>
        <p:nvPicPr>
          <p:cNvPr id="4" name="Obrázek 3" descr="WinSCP - Stáhnout zdarma - Nejnovější verze pro 2024">
            <a:extLst>
              <a:ext uri="{FF2B5EF4-FFF2-40B4-BE49-F238E27FC236}">
                <a16:creationId xmlns:a16="http://schemas.microsoft.com/office/drawing/2014/main" id="{8A4775D3-EF2A-E392-9018-81CD5F850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5" y="2703490"/>
            <a:ext cx="2685245" cy="2685245"/>
          </a:xfrm>
          <a:prstGeom prst="rect">
            <a:avLst/>
          </a:prstGeom>
        </p:spPr>
      </p:pic>
      <p:pic>
        <p:nvPicPr>
          <p:cNvPr id="6" name="Obrázek 5" descr="WinSCP">
            <a:extLst>
              <a:ext uri="{FF2B5EF4-FFF2-40B4-BE49-F238E27FC236}">
                <a16:creationId xmlns:a16="http://schemas.microsoft.com/office/drawing/2014/main" id="{C040E18D-56BF-E7F8-981D-BD7F2D84E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611" y="1379071"/>
            <a:ext cx="8066466" cy="501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9EAE55-3FFC-733E-0681-DDEE27C1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err="1">
                <a:cs typeface="Calibri Light"/>
              </a:rPr>
              <a:t>FileZilla</a:t>
            </a:r>
          </a:p>
        </p:txBody>
      </p:sp>
      <p:pic>
        <p:nvPicPr>
          <p:cNvPr id="7" name="Obrázek 6" descr="FileZilla Client 3.66.4 | FTP Client Software">
            <a:extLst>
              <a:ext uri="{FF2B5EF4-FFF2-40B4-BE49-F238E27FC236}">
                <a16:creationId xmlns:a16="http://schemas.microsoft.com/office/drawing/2014/main" id="{B850A8BC-1384-8552-4703-50E7FD349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29" y="2520043"/>
            <a:ext cx="2743200" cy="2743200"/>
          </a:xfrm>
          <a:prstGeom prst="rect">
            <a:avLst/>
          </a:prstGeom>
        </p:spPr>
      </p:pic>
      <p:pic>
        <p:nvPicPr>
          <p:cNvPr id="8" name="Obrázek 7" descr="FileZilla">
            <a:extLst>
              <a:ext uri="{FF2B5EF4-FFF2-40B4-BE49-F238E27FC236}">
                <a16:creationId xmlns:a16="http://schemas.microsoft.com/office/drawing/2014/main" id="{75B7D667-3902-7AAB-7948-BA404631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257" y="1401816"/>
            <a:ext cx="8013699" cy="49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1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9EAE55-3FFC-733E-0681-DDEE27C1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err="1">
                <a:cs typeface="Calibri Light"/>
              </a:rPr>
              <a:t>CyberDuck</a:t>
            </a:r>
          </a:p>
        </p:txBody>
      </p:sp>
      <p:pic>
        <p:nvPicPr>
          <p:cNvPr id="5" name="Obrázek 4" descr="Cyberduck - Wikipedia">
            <a:extLst>
              <a:ext uri="{FF2B5EF4-FFF2-40B4-BE49-F238E27FC236}">
                <a16:creationId xmlns:a16="http://schemas.microsoft.com/office/drawing/2014/main" id="{565487D1-3D50-1BBA-F7F2-A9A24663C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86" y="2520043"/>
            <a:ext cx="2743200" cy="2743200"/>
          </a:xfrm>
          <a:prstGeom prst="rect">
            <a:avLst/>
          </a:prstGeom>
        </p:spPr>
      </p:pic>
      <p:pic>
        <p:nvPicPr>
          <p:cNvPr id="7" name="Obrázek 6" descr="Cyberduck">
            <a:extLst>
              <a:ext uri="{FF2B5EF4-FFF2-40B4-BE49-F238E27FC236}">
                <a16:creationId xmlns:a16="http://schemas.microsoft.com/office/drawing/2014/main" id="{1131536F-DB17-7EF6-1DA3-EFFD13369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115" y="1374602"/>
            <a:ext cx="8186054" cy="504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50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1EA271-55E4-24CA-36D3-16EDCCD7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cs typeface="Calibri Light"/>
              </a:rPr>
              <a:t>Další klienti</a:t>
            </a:r>
            <a:endParaRPr lang="cs-CZ">
              <a:cs typeface="Calibri Light" panose="020F0302020204030204"/>
            </a:endParaRPr>
          </a:p>
        </p:txBody>
      </p:sp>
      <p:pic>
        <p:nvPicPr>
          <p:cNvPr id="3" name="Obrázek 2" descr="Direct FTP - The FTP client with a complete HTML, CSS, and PHP editor at  your fingertips">
            <a:extLst>
              <a:ext uri="{FF2B5EF4-FFF2-40B4-BE49-F238E27FC236}">
                <a16:creationId xmlns:a16="http://schemas.microsoft.com/office/drawing/2014/main" id="{6FCD163B-6172-AB8F-0FFD-608654933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98" y="2205967"/>
            <a:ext cx="2438400" cy="2438400"/>
          </a:xfrm>
          <a:prstGeom prst="rect">
            <a:avLst/>
          </a:prstGeom>
        </p:spPr>
      </p:pic>
      <p:pic>
        <p:nvPicPr>
          <p:cNvPr id="4" name="Obrázek 3" descr="Transmit (file transfer tool) - Wikipedia">
            <a:extLst>
              <a:ext uri="{FF2B5EF4-FFF2-40B4-BE49-F238E27FC236}">
                <a16:creationId xmlns:a16="http://schemas.microsoft.com/office/drawing/2014/main" id="{40E870B6-EEF7-7737-FD41-3FF4D3E36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243" y="3615104"/>
            <a:ext cx="2438400" cy="2438400"/>
          </a:xfrm>
          <a:prstGeom prst="rect">
            <a:avLst/>
          </a:prstGeom>
        </p:spPr>
      </p:pic>
      <p:pic>
        <p:nvPicPr>
          <p:cNvPr id="5" name="Obrázek 4" descr="SmartFTP - FTP Client">
            <a:extLst>
              <a:ext uri="{FF2B5EF4-FFF2-40B4-BE49-F238E27FC236}">
                <a16:creationId xmlns:a16="http://schemas.microsoft.com/office/drawing/2014/main" id="{A0ED6BD8-AE25-E5F8-607E-CBB3FBEB7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906" y="1384241"/>
            <a:ext cx="5038271" cy="173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28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édium 3" title="How to Use FTP in 3 Minutes">
            <a:hlinkClick r:id="" action="ppaction://media"/>
            <a:extLst>
              <a:ext uri="{FF2B5EF4-FFF2-40B4-BE49-F238E27FC236}">
                <a16:creationId xmlns:a16="http://schemas.microsoft.com/office/drawing/2014/main" id="{4CE35E27-2A80-996D-777D-A08081E173B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27" y="-2754"/>
            <a:ext cx="12189533" cy="686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08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C532F8-3C33-1425-3ED5-D3F6A8C6A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a typeface="Calibri Light"/>
                <a:cs typeface="Calibri Light"/>
              </a:rPr>
              <a:t>Zdroje</a:t>
            </a:r>
            <a:endParaRPr lang="cs-CZ" b="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002019-12E5-3646-C48D-1ABEBE3EB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Calibri"/>
                <a:cs typeface="Calibri"/>
                <a:hlinkClick r:id="rId2"/>
              </a:rPr>
              <a:t>https://chat.openai.com/auth/login?</a:t>
            </a:r>
          </a:p>
          <a:p>
            <a:r>
              <a:rPr lang="cs-CZ" dirty="0">
                <a:ea typeface="Calibri"/>
                <a:cs typeface="Calibri"/>
                <a:hlinkClick r:id="rId3"/>
              </a:rPr>
              <a:t>https://www.wpbeginner.com/showcase/6-best-ftp-clients-for-wordpress-users/</a:t>
            </a:r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479487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Širokoúhlá obrazovka</PresentationFormat>
  <Paragraphs>0</Paragraphs>
  <Slides>12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3" baseType="lpstr">
      <vt:lpstr>Motiv systému Office</vt:lpstr>
      <vt:lpstr> </vt:lpstr>
      <vt:lpstr>FTP</vt:lpstr>
      <vt:lpstr>Charakteristika I</vt:lpstr>
      <vt:lpstr>Charakteristika II</vt:lpstr>
      <vt:lpstr>Charakteristika III</vt:lpstr>
      <vt:lpstr>FTP klienti</vt:lpstr>
      <vt:lpstr>WinSCP</vt:lpstr>
      <vt:lpstr>FileZilla</vt:lpstr>
      <vt:lpstr>CyberDuck</vt:lpstr>
      <vt:lpstr>Další klienti</vt:lpstr>
      <vt:lpstr>Prezentace aplikace PowerPoint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