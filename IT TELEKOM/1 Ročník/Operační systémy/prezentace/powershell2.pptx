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74C"/>
    <a:srgbClr val="000F38"/>
    <a:srgbClr val="019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034E4-8988-4D06-9045-249545E3A598}" v="317" dt="2024-02-26T08:15:35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shell/" TargetMode="External"/><Relationship Id="rId7" Type="http://schemas.openxmlformats.org/officeDocument/2006/relationships/image" Target="../media/image1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chtarget.com/searchwindowsserver/definition/PowerShell" TargetMode="External"/><Relationship Id="rId5" Type="http://schemas.openxmlformats.org/officeDocument/2006/relationships/hyperlink" Target="https://www.powershellgallery.com" TargetMode="External"/><Relationship Id="rId4" Type="http://schemas.openxmlformats.org/officeDocument/2006/relationships/hyperlink" Target="https://en.wikipedia.org/wiki/PowerShe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Shades Blue Images - Free Download on Freepik">
            <a:extLst>
              <a:ext uri="{FF2B5EF4-FFF2-40B4-BE49-F238E27FC236}">
                <a16:creationId xmlns:a16="http://schemas.microsoft.com/office/drawing/2014/main" id="{29EBCEEA-9B08-D039-E562-67495D82CE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0" t="9091" r="1074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068656" y="15081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cs-CZ" sz="4800" b="1" err="1">
                <a:solidFill>
                  <a:srgbClr val="0190D8"/>
                </a:solidFill>
                <a:ea typeface="Calibri Light"/>
                <a:cs typeface="Calibri Light"/>
              </a:rPr>
              <a:t>PowerShell</a:t>
            </a:r>
            <a:endParaRPr lang="cs-CZ" sz="4800" b="1" err="1">
              <a:solidFill>
                <a:srgbClr val="0190D8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rázek 9" descr="Obsah obrázku snímek obrazovky, Elektricky modrá, symbol, Grafika&#10;&#10;Popis se vygeneroval automaticky.">
            <a:extLst>
              <a:ext uri="{FF2B5EF4-FFF2-40B4-BE49-F238E27FC236}">
                <a16:creationId xmlns:a16="http://schemas.microsoft.com/office/drawing/2014/main" id="{909453F2-FE43-DC42-5DDA-8AA2236E7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17145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21" y="-108"/>
            <a:ext cx="12392291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ea typeface="Calibri Light"/>
                <a:cs typeface="Calibri Light"/>
              </a:rPr>
              <a:t>Historie  </a:t>
            </a:r>
            <a:r>
              <a:rPr lang="cs-CZ" dirty="0" err="1">
                <a:solidFill>
                  <a:schemeClr val="bg1"/>
                </a:solidFill>
                <a:ea typeface="Calibri Light"/>
                <a:cs typeface="Calibri Light"/>
              </a:rPr>
              <a:t>PowerShellu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36" y="2729590"/>
            <a:ext cx="514443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Autor je </a:t>
            </a:r>
            <a:r>
              <a:rPr lang="cs-CZ" dirty="0" err="1">
                <a:solidFill>
                  <a:schemeClr val="bg1"/>
                </a:solidFill>
                <a:ea typeface="Calibri"/>
                <a:cs typeface="Calibri"/>
              </a:rPr>
              <a:t>Jeffrey</a:t>
            </a:r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cs-CZ" dirty="0" err="1">
                <a:solidFill>
                  <a:schemeClr val="bg1"/>
                </a:solidFill>
                <a:ea typeface="Calibri"/>
                <a:cs typeface="Calibri"/>
              </a:rPr>
              <a:t>Snover</a:t>
            </a:r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 pro společnost </a:t>
            </a:r>
            <a:r>
              <a:rPr lang="cs-CZ" dirty="0" err="1">
                <a:solidFill>
                  <a:schemeClr val="bg1"/>
                </a:solidFill>
                <a:ea typeface="Calibri"/>
                <a:cs typeface="Calibri"/>
              </a:rPr>
              <a:t>microsoft</a:t>
            </a:r>
          </a:p>
          <a:p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Vyšel v roce 2006</a:t>
            </a:r>
          </a:p>
          <a:p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Je multiplatformní (lze spustit na více různých OS)</a:t>
            </a:r>
          </a:p>
          <a:p>
            <a:endParaRPr lang="cs-CZ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Grafický objekt 5" descr="Historie obrys">
            <a:extLst>
              <a:ext uri="{FF2B5EF4-FFF2-40B4-BE49-F238E27FC236}">
                <a16:creationId xmlns:a16="http://schemas.microsoft.com/office/drawing/2014/main" id="{F9871E45-0400-DB08-EAB9-6CE939A31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1836" y="2237342"/>
            <a:ext cx="3485002" cy="345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89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094" y="-108"/>
            <a:ext cx="12431876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cs typeface="Calibri Light"/>
              </a:rPr>
              <a:t>Základní principy a syntaxe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chemeClr val="bg1"/>
                </a:solidFill>
                <a:ea typeface="+mn-lt"/>
                <a:cs typeface="+mn-lt"/>
              </a:rPr>
              <a:t> využívá principu příkazového řádku, kde uživatel zadává příkazy a skripty pomocí textového rozhraní.</a:t>
            </a:r>
            <a:endParaRPr lang="cs-CZ" dirty="0">
              <a:solidFill>
                <a:schemeClr val="bg1"/>
              </a:solidFill>
              <a:ea typeface="+mn-lt"/>
              <a:cs typeface="Calibri"/>
            </a:endParaRP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Syntaxe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PowerShellu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je založena na příkazech, které se skládají z názvu příkazu a případných parametrů oddělených mezerami.</a:t>
            </a:r>
            <a:endParaRPr lang="cs-CZ" dirty="0"/>
          </a:p>
          <a:p>
            <a:endParaRPr lang="cs-CZ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7" name="Obrázek 6" descr="Obsah obrázku černá, tma&#10;&#10;Popis se vygeneroval automaticky.">
            <a:extLst>
              <a:ext uri="{FF2B5EF4-FFF2-40B4-BE49-F238E27FC236}">
                <a16:creationId xmlns:a16="http://schemas.microsoft.com/office/drawing/2014/main" id="{2222FBF0-C858-F693-DD0A-1FEEC2303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635" y="1900342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6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094" y="-108"/>
            <a:ext cx="12451668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ea typeface="Calibri Light"/>
                <a:cs typeface="Calibri Light"/>
              </a:rPr>
              <a:t>Interaktivní použití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5076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ea typeface="+mn-lt"/>
                <a:cs typeface="+mn-lt"/>
              </a:rPr>
              <a:t>Pomocí interaktivního režimu </a:t>
            </a:r>
            <a:r>
              <a:rPr lang="cs-CZ" dirty="0" err="1">
                <a:solidFill>
                  <a:schemeClr val="bg1"/>
                </a:solidFill>
                <a:ea typeface="+mn-lt"/>
                <a:cs typeface="+mn-lt"/>
              </a:rPr>
              <a:t>PowerShellu</a:t>
            </a:r>
            <a:r>
              <a:rPr lang="cs-CZ" dirty="0">
                <a:solidFill>
                  <a:schemeClr val="bg1"/>
                </a:solidFill>
                <a:ea typeface="+mn-lt"/>
                <a:cs typeface="+mn-lt"/>
              </a:rPr>
              <a:t> můžete rychle prozkoumat a manipulovat se systémem.</a:t>
            </a:r>
            <a:endParaRPr lang="cs-CZ" dirty="0">
              <a:solidFill>
                <a:schemeClr val="bg1"/>
              </a:solidFill>
              <a:latin typeface="Calibri"/>
              <a:ea typeface="+mn-lt"/>
              <a:cs typeface="Calibri"/>
            </a:endParaRP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Zkusme si nyní spustit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a vyzkoušet základní příkazy jako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Get-Process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nebo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Get-Service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cs-CZ" dirty="0"/>
          </a:p>
          <a:p>
            <a:endParaRPr lang="cs-CZ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Grafický objekt 3" descr="Odznak 1 obrys">
            <a:extLst>
              <a:ext uri="{FF2B5EF4-FFF2-40B4-BE49-F238E27FC236}">
                <a16:creationId xmlns:a16="http://schemas.microsoft.com/office/drawing/2014/main" id="{ACF4EB71-090D-51F9-65C1-78A5A5057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4607" y="2182258"/>
            <a:ext cx="3723701" cy="369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8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198" y="-108"/>
            <a:ext cx="12412084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ea typeface="Calibri Light"/>
                <a:cs typeface="Calibri Light"/>
              </a:rPr>
              <a:t>Skriptování a automatizace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5076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umožňuje automatizaci opakujících se úkolů pomocí skriptů, což vám ušetří čas a minimalizuje chyby.</a:t>
            </a:r>
            <a:endParaRPr lang="cs-CZ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Zde vidíme příklad jednoduchého skriptu, který zálohování určitých složek na vašem počítači.</a:t>
            </a:r>
            <a:endParaRPr lang="cs-CZ" dirty="0"/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Grafický objekt 5" descr="Svitek se souvislou výplní">
            <a:extLst>
              <a:ext uri="{FF2B5EF4-FFF2-40B4-BE49-F238E27FC236}">
                <a16:creationId xmlns:a16="http://schemas.microsoft.com/office/drawing/2014/main" id="{EFB8656B-4FF3-FE6F-A34B-AC297378D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281" y="2298865"/>
            <a:ext cx="3348841" cy="337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574" y="-108"/>
            <a:ext cx="12481356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cs typeface="Calibri Light"/>
              </a:rPr>
              <a:t>Integrace a rozmanitost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5076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Díky rozsáhlému ekosystému modulů a rozšíření můžete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integrovat s dalšími technologiemi a systémy."</a:t>
            </a:r>
            <a:endParaRPr lang="cs-CZ" dirty="0">
              <a:solidFill>
                <a:srgbClr val="FFFFFF"/>
              </a:solidFill>
              <a:cs typeface="Calibri"/>
            </a:endParaRP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"Například modul pro práci s Azure umožňuje správu cloudových služeb přímo z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PowerShellu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."</a:t>
            </a:r>
            <a:endParaRPr lang="cs-CZ" dirty="0"/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Grafický objekt 6" descr="Cloud Computing se souvislou výplní">
            <a:extLst>
              <a:ext uri="{FF2B5EF4-FFF2-40B4-BE49-F238E27FC236}">
                <a16:creationId xmlns:a16="http://schemas.microsoft.com/office/drawing/2014/main" id="{7036387E-B37B-657F-C06D-6DD53D4E3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670" y="2061358"/>
            <a:ext cx="3635828" cy="366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6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82" y="-108"/>
            <a:ext cx="12590213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ea typeface="Calibri Light"/>
                <a:cs typeface="Calibri Light"/>
              </a:rPr>
              <a:t>Správa systému a administrace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5076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je neocenitelným nástrojem pro správu systémů a administraci, umožňuje rychlou a efektivní správu velkého počtu zařízení.</a:t>
            </a:r>
            <a:endParaRPr lang="cs-CZ" dirty="0">
              <a:solidFill>
                <a:srgbClr val="FFFFFF"/>
              </a:solidFill>
              <a:cs typeface="Calibri"/>
            </a:endParaRP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Příklady úloh zahrnují instalaci aktualizací, správu uživatelských účtů a konfiguraci síťových služeb.</a:t>
            </a:r>
            <a:endParaRPr lang="cs-CZ" dirty="0"/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Grafický objekt 5" descr="Režisérská židle obrys">
            <a:extLst>
              <a:ext uri="{FF2B5EF4-FFF2-40B4-BE49-F238E27FC236}">
                <a16:creationId xmlns:a16="http://schemas.microsoft.com/office/drawing/2014/main" id="{D998E94E-947B-0BB0-7564-8366DBA09B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345" y="2328553"/>
            <a:ext cx="3289464" cy="331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990" y="-108"/>
            <a:ext cx="12421980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cs typeface="Calibri Light"/>
              </a:rPr>
              <a:t>Bezpečnost a oprávnění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5076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obsahuje funkce pro zajištění bezpečného používání, jako jsou digitální podpisy a správa oprávnění.</a:t>
            </a:r>
            <a:endParaRPr lang="cs-CZ" dirty="0">
              <a:solidFill>
                <a:srgbClr val="FFFFFF"/>
              </a:solidFill>
              <a:cs typeface="Calibri"/>
            </a:endParaRP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To znamená, že můžete mít jistotu, že vaše automatizované úkoly jsou spuštěny pouze s oprávněními, která jste určili.</a:t>
            </a:r>
            <a:endParaRPr lang="cs-CZ" dirty="0"/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Grafický objekt 5" descr="Odznak, zaškrtnutí se souvislou výplní">
            <a:extLst>
              <a:ext uri="{FF2B5EF4-FFF2-40B4-BE49-F238E27FC236}">
                <a16:creationId xmlns:a16="http://schemas.microsoft.com/office/drawing/2014/main" id="{3D9E6C06-8DCE-7317-81AB-FCA780DEB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9475" y="2130631"/>
            <a:ext cx="3507179" cy="353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1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3" descr="Navy Blue Background Images | Free iPhone &amp; Zoom HD Wallpapers &amp; Vectors -  rawpixel">
            <a:extLst>
              <a:ext uri="{FF2B5EF4-FFF2-40B4-BE49-F238E27FC236}">
                <a16:creationId xmlns:a16="http://schemas.microsoft.com/office/drawing/2014/main" id="{EE42ECB1-7C75-2718-0DE4-1C79701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198" y="-108"/>
            <a:ext cx="12441772" cy="812510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45A153E-FD5A-A3FC-C532-5605B52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bg1"/>
                </a:solidFill>
                <a:cs typeface="Calibri Light"/>
              </a:rPr>
              <a:t>Specifické oblasti kde je </a:t>
            </a:r>
            <a:r>
              <a:rPr lang="cs-CZ" dirty="0" err="1">
                <a:solidFill>
                  <a:schemeClr val="bg1"/>
                </a:solidFill>
                <a:cs typeface="Calibri Light"/>
              </a:rPr>
              <a:t>PowerShell</a:t>
            </a:r>
            <a:r>
              <a:rPr lang="cs-CZ" dirty="0">
                <a:solidFill>
                  <a:schemeClr val="bg1"/>
                </a:solidFill>
                <a:cs typeface="Calibri Light"/>
              </a:rPr>
              <a:t> využíván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8C28F-238A-B865-FDEA-1A80945B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322" y="2178747"/>
            <a:ext cx="5144430" cy="5076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je široce využíván v různých odvětvích, včetně cloudových prostředí jako Azure nebo AWS."</a:t>
            </a:r>
          </a:p>
          <a:p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"Profesionálové v oblasti IT a vývoje používají </a:t>
            </a:r>
            <a:r>
              <a:rPr lang="cs-CZ" dirty="0" err="1">
                <a:solidFill>
                  <a:srgbClr val="FFFFFF"/>
                </a:solidFill>
                <a:ea typeface="+mn-lt"/>
                <a:cs typeface="+mn-lt"/>
              </a:rPr>
              <a:t>PowerShell</a:t>
            </a: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 k automatizaci a správě svých infrastruktur."</a:t>
            </a:r>
            <a:endParaRPr lang="cs-CZ" dirty="0"/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Grafický objekt 5" descr="Austrálie se souvislou výplní">
            <a:extLst>
              <a:ext uri="{FF2B5EF4-FFF2-40B4-BE49-F238E27FC236}">
                <a16:creationId xmlns:a16="http://schemas.microsoft.com/office/drawing/2014/main" id="{1D53FAA8-589E-AF61-A202-327F1C258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4878" y="1784268"/>
            <a:ext cx="4665023" cy="47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29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Shades Blue Images - Free Download on Freepik">
            <a:extLst>
              <a:ext uri="{FF2B5EF4-FFF2-40B4-BE49-F238E27FC236}">
                <a16:creationId xmlns:a16="http://schemas.microsoft.com/office/drawing/2014/main" id="{29EBCEEA-9B08-D039-E562-67495D82CE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0" t="9091" r="1074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184442" y="-1899330"/>
            <a:ext cx="5937431" cy="3204134"/>
          </a:xfrm>
        </p:spPr>
        <p:txBody>
          <a:bodyPr anchor="b">
            <a:normAutofit/>
          </a:bodyPr>
          <a:lstStyle/>
          <a:p>
            <a:pPr algn="l"/>
            <a:r>
              <a:rPr lang="cs-CZ" sz="4800" b="1" dirty="0">
                <a:solidFill>
                  <a:srgbClr val="0190D8"/>
                </a:solidFill>
                <a:cs typeface="Calibri Light"/>
              </a:rPr>
              <a:t>Děkuji za pozornost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701591" y="2666751"/>
            <a:ext cx="6173287" cy="3294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cs-CZ" sz="2000" dirty="0">
                <a:solidFill>
                  <a:schemeClr val="bg1"/>
                </a:solidFill>
                <a:cs typeface="Calibri"/>
              </a:rPr>
              <a:t>Zdroje: </a:t>
            </a:r>
            <a:endParaRPr lang="cs-CZ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r>
              <a:rPr lang="cs-CZ" sz="2000" dirty="0">
                <a:solidFill>
                  <a:schemeClr val="bg1"/>
                </a:solidFill>
                <a:ea typeface="+mn-lt"/>
                <a:cs typeface="+mn-lt"/>
                <a:hlinkClick r:id="rId3"/>
              </a:rPr>
              <a:t>https://learn.microsoft.com/en-us/powershell/</a:t>
            </a:r>
            <a:endParaRPr lang="cs-CZ" sz="2000">
              <a:solidFill>
                <a:schemeClr val="bg1"/>
              </a:solidFill>
              <a:ea typeface="+mn-lt"/>
              <a:cs typeface="+mn-lt"/>
              <a:hlinkClick r:id="rId3"/>
            </a:endParaRPr>
          </a:p>
          <a:p>
            <a:pPr algn="l"/>
            <a:r>
              <a:rPr lang="cs-CZ" sz="2000" dirty="0">
                <a:solidFill>
                  <a:schemeClr val="bg1"/>
                </a:solidFill>
                <a:ea typeface="+mn-lt"/>
                <a:cs typeface="+mn-lt"/>
                <a:hlinkClick r:id="rId4"/>
              </a:rPr>
              <a:t>https://en.wikipedia.org/wiki/PowerShell</a:t>
            </a:r>
            <a:endParaRPr lang="cs-CZ">
              <a:solidFill>
                <a:schemeClr val="bg1"/>
              </a:solidFill>
              <a:ea typeface="+mn-lt"/>
              <a:cs typeface="+mn-lt"/>
              <a:hlinkClick r:id="rId4"/>
            </a:endParaRPr>
          </a:p>
          <a:p>
            <a:pPr algn="l"/>
            <a:r>
              <a:rPr lang="cs-CZ" sz="2000" dirty="0">
                <a:solidFill>
                  <a:schemeClr val="bg1"/>
                </a:solidFill>
                <a:ea typeface="+mn-lt"/>
                <a:cs typeface="+mn-lt"/>
                <a:hlinkClick r:id="rId5"/>
              </a:rPr>
              <a:t>https://www.powershellgallery.com</a:t>
            </a:r>
            <a:endParaRPr lang="cs-CZ">
              <a:solidFill>
                <a:schemeClr val="bg1"/>
              </a:solidFill>
              <a:hlinkClick r:id="rId5"/>
            </a:endParaRPr>
          </a:p>
          <a:p>
            <a:pPr algn="l"/>
            <a:r>
              <a:rPr lang="cs-CZ" sz="2000" dirty="0">
                <a:solidFill>
                  <a:schemeClr val="bg1"/>
                </a:solidFill>
                <a:ea typeface="+mn-lt"/>
                <a:cs typeface="+mn-lt"/>
                <a:hlinkClick r:id="rId6"/>
              </a:rPr>
              <a:t>https://www.techtarget.com/searchwindowsserver/definition/PowerShell</a:t>
            </a:r>
            <a:endParaRPr lang="cs-CZ" dirty="0">
              <a:solidFill>
                <a:schemeClr val="bg1"/>
              </a:solidFill>
              <a:ea typeface="+mn-lt"/>
              <a:cs typeface="+mn-lt"/>
              <a:hlinkClick r:id="rId6"/>
            </a:endParaRPr>
          </a:p>
          <a:p>
            <a:pPr algn="l"/>
            <a:endParaRPr lang="cs-CZ" sz="2000" dirty="0">
              <a:solidFill>
                <a:schemeClr val="bg1"/>
              </a:solidFill>
              <a:cs typeface="Calibri"/>
            </a:endParaRPr>
          </a:p>
          <a:p>
            <a:pPr algn="l"/>
            <a:endParaRPr lang="cs-CZ" sz="20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cký objekt 4" descr="Prezentace s kontrolním seznamem se souvislou výplní">
            <a:extLst>
              <a:ext uri="{FF2B5EF4-FFF2-40B4-BE49-F238E27FC236}">
                <a16:creationId xmlns:a16="http://schemas.microsoft.com/office/drawing/2014/main" id="{4AC4C023-A6CD-6C30-C11B-A078BB95B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61300" y="1955800"/>
            <a:ext cx="4143828" cy="41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5367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Širokoúhlá obrazovka</PresentationFormat>
  <Paragraphs>42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Motiv systému Office</vt:lpstr>
      <vt:lpstr>PowerShell</vt:lpstr>
      <vt:lpstr>Historie  PowerShellu</vt:lpstr>
      <vt:lpstr>Základní principy a syntaxe</vt:lpstr>
      <vt:lpstr>Interaktivní použití</vt:lpstr>
      <vt:lpstr>Skriptování a automatizace</vt:lpstr>
      <vt:lpstr>Integrace a rozmanitost</vt:lpstr>
      <vt:lpstr>Správa systému a administrace</vt:lpstr>
      <vt:lpstr>Bezpečnost a oprávnění</vt:lpstr>
      <vt:lpstr>Specifické oblasti kde je PowerShell využíván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