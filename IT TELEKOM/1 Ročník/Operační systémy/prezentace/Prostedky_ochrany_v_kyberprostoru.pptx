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15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85" r:id="rId2"/>
    <p:sldId id="257" r:id="rId3"/>
    <p:sldId id="258" r:id="rId4"/>
    <p:sldId id="271" r:id="rId5"/>
    <p:sldId id="286" r:id="rId6"/>
    <p:sldId id="287" r:id="rId7"/>
    <p:sldId id="288" r:id="rId8"/>
    <p:sldId id="272" r:id="rId9"/>
    <p:sldId id="289" r:id="rId10"/>
    <p:sldId id="290" r:id="rId11"/>
    <p:sldId id="273" r:id="rId12"/>
    <p:sldId id="293" r:id="rId13"/>
    <p:sldId id="298" r:id="rId14"/>
    <p:sldId id="277" r:id="rId15"/>
    <p:sldId id="265" r:id="rId16"/>
    <p:sldId id="294" r:id="rId17"/>
    <p:sldId id="267" r:id="rId18"/>
    <p:sldId id="295" r:id="rId19"/>
    <p:sldId id="296" r:id="rId20"/>
    <p:sldId id="297" r:id="rId21"/>
    <p:sldId id="268" r:id="rId22"/>
    <p:sldId id="279" r:id="rId23"/>
    <p:sldId id="299" r:id="rId24"/>
    <p:sldId id="303" r:id="rId25"/>
    <p:sldId id="302" r:id="rId26"/>
    <p:sldId id="300" r:id="rId27"/>
    <p:sldId id="278" r:id="rId28"/>
    <p:sldId id="270" r:id="rId29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Výchozí oddíl" id="{6462B2B8-6183-43A0-9256-2D8BF8CC73B0}">
          <p14:sldIdLst>
            <p14:sldId id="285"/>
          </p14:sldIdLst>
        </p14:section>
        <p14:section name="Definice Kyberprostoru" id="{97F27DF8-524A-4F1C-B18B-D94219D22C9E}">
          <p14:sldIdLst>
            <p14:sldId id="257"/>
          </p14:sldIdLst>
        </p14:section>
        <p14:section name="Hrozby v kyberprostoru" id="{B67FCCC6-D06B-4CAC-A58A-EB58ABFCB2F1}">
          <p14:sldIdLst>
            <p14:sldId id="258"/>
            <p14:sldId id="271"/>
            <p14:sldId id="286"/>
            <p14:sldId id="287"/>
            <p14:sldId id="288"/>
            <p14:sldId id="272"/>
            <p14:sldId id="289"/>
            <p14:sldId id="290"/>
            <p14:sldId id="273"/>
            <p14:sldId id="293"/>
          </p14:sldIdLst>
        </p14:section>
        <p14:section name="Ochrana v kyberprostoru" id="{620F46AF-6F43-443D-9A08-8C4B24C03EC2}">
          <p14:sldIdLst>
            <p14:sldId id="298"/>
            <p14:sldId id="277"/>
            <p14:sldId id="265"/>
            <p14:sldId id="294"/>
            <p14:sldId id="267"/>
            <p14:sldId id="295"/>
            <p14:sldId id="296"/>
            <p14:sldId id="297"/>
            <p14:sldId id="268"/>
            <p14:sldId id="279"/>
            <p14:sldId id="299"/>
            <p14:sldId id="303"/>
            <p14:sldId id="302"/>
            <p14:sldId id="300"/>
            <p14:sldId id="278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D484D"/>
    <a:srgbClr val="777E82"/>
    <a:srgbClr val="E3E4E4"/>
    <a:srgbClr val="263238"/>
    <a:srgbClr val="76C2AF"/>
    <a:srgbClr val="C0C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7684" autoAdjust="0"/>
  </p:normalViewPr>
  <p:slideViewPr>
    <p:cSldViewPr snapToGrid="0">
      <p:cViewPr varScale="1">
        <p:scale>
          <a:sx n="97" d="100"/>
          <a:sy n="97" d="100"/>
        </p:scale>
        <p:origin x="105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A8A7AF-10F7-4C9D-8013-F4322BEA98C4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8B31E3-0DD0-4087-B5BC-2EF72B5ED17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208992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8B31E3-0DD0-4087-B5BC-2EF72B5ED179}" type="slidenum">
              <a:rPr lang="cs-CZ" smtClean="0"/>
              <a:t>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620622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8B31E3-0DD0-4087-B5BC-2EF72B5ED179}" type="slidenum">
              <a:rPr lang="cs-CZ" smtClean="0"/>
              <a:t>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481819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Než můžeme určit, jak se máme v kyberprostoru chránit, musíme první vědět, před čím se musíme bránit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8B31E3-0DD0-4087-B5BC-2EF72B5ED179}" type="slidenum">
              <a:rPr lang="cs-CZ" smtClean="0"/>
              <a:t>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802946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8B31E3-0DD0-4087-B5BC-2EF72B5ED179}" type="slidenum">
              <a:rPr lang="cs-CZ" smtClean="0"/>
              <a:t>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006020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8B31E3-0DD0-4087-B5BC-2EF72B5ED179}" type="slidenum">
              <a:rPr lang="cs-CZ" smtClean="0"/>
              <a:t>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389153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8B31E3-0DD0-4087-B5BC-2EF72B5ED179}" type="slidenum">
              <a:rPr lang="cs-CZ" smtClean="0"/>
              <a:t>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487158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8B31E3-0DD0-4087-B5BC-2EF72B5ED179}" type="slidenum">
              <a:rPr lang="cs-CZ" smtClean="0"/>
              <a:t>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259185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8B31E3-0DD0-4087-B5BC-2EF72B5ED179}" type="slidenum">
              <a:rPr lang="cs-CZ" smtClean="0"/>
              <a:t>9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105014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8B31E3-0DD0-4087-B5BC-2EF72B5ED179}" type="slidenum">
              <a:rPr lang="cs-CZ" smtClean="0"/>
              <a:t>10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239052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8B31E3-0DD0-4087-B5BC-2EF72B5ED179}" type="slidenum">
              <a:rPr lang="cs-CZ" smtClean="0"/>
              <a:t>11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245467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F84ECB-F3E8-0E86-7228-B3AFDEFB8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>
            <a:extLst>
              <a:ext uri="{FF2B5EF4-FFF2-40B4-BE49-F238E27FC236}">
                <a16:creationId xmlns:a16="http://schemas.microsoft.com/office/drawing/2014/main" id="{54680A81-AB15-0202-5EFE-A07955998C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>
            <a:extLst>
              <a:ext uri="{FF2B5EF4-FFF2-40B4-BE49-F238E27FC236}">
                <a16:creationId xmlns:a16="http://schemas.microsoft.com/office/drawing/2014/main" id="{F5864B88-ECF4-9FAE-453F-A7F10A5A66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8B235F20-9178-E343-970F-0DC268246B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8B31E3-0DD0-4087-B5BC-2EF72B5ED179}" type="slidenum">
              <a:rPr lang="cs-CZ" smtClean="0"/>
              <a:t>13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989581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8B31E3-0DD0-4087-B5BC-2EF72B5ED179}" type="slidenum">
              <a:rPr lang="cs-CZ" smtClean="0"/>
              <a:t>14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447069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8B31E3-0DD0-4087-B5BC-2EF72B5ED179}" type="slidenum">
              <a:rPr lang="cs-CZ" smtClean="0"/>
              <a:t>15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089139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8B31E3-0DD0-4087-B5BC-2EF72B5ED179}" type="slidenum">
              <a:rPr lang="cs-CZ" smtClean="0"/>
              <a:t>16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8600602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8B31E3-0DD0-4087-B5BC-2EF72B5ED179}" type="slidenum">
              <a:rPr lang="cs-CZ" smtClean="0"/>
              <a:t>17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6757886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3D3EA-28A3-3063-BEC4-7FDF88BAE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>
            <a:extLst>
              <a:ext uri="{FF2B5EF4-FFF2-40B4-BE49-F238E27FC236}">
                <a16:creationId xmlns:a16="http://schemas.microsoft.com/office/drawing/2014/main" id="{0CC143A4-6470-52E6-B23D-599A79694D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>
            <a:extLst>
              <a:ext uri="{FF2B5EF4-FFF2-40B4-BE49-F238E27FC236}">
                <a16:creationId xmlns:a16="http://schemas.microsoft.com/office/drawing/2014/main" id="{EFB4220A-2097-230C-9ADC-D790CCC274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6E2BC944-0CBB-92EE-8D56-BCC7C71288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8B31E3-0DD0-4087-B5BC-2EF72B5ED179}" type="slidenum">
              <a:rPr lang="cs-CZ" smtClean="0"/>
              <a:t>18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1526850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4212C-4933-21E4-852F-806620459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>
            <a:extLst>
              <a:ext uri="{FF2B5EF4-FFF2-40B4-BE49-F238E27FC236}">
                <a16:creationId xmlns:a16="http://schemas.microsoft.com/office/drawing/2014/main" id="{45B4B24C-ACB8-F9D1-478C-DE715406F7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>
            <a:extLst>
              <a:ext uri="{FF2B5EF4-FFF2-40B4-BE49-F238E27FC236}">
                <a16:creationId xmlns:a16="http://schemas.microsoft.com/office/drawing/2014/main" id="{A743566E-3DBB-023A-9B6B-05101976F3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3D17FDA1-A279-57FA-0444-6402B25525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8B31E3-0DD0-4087-B5BC-2EF72B5ED179}" type="slidenum">
              <a:rPr lang="cs-CZ" smtClean="0"/>
              <a:t>19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061274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8B31E3-0DD0-4087-B5BC-2EF72B5ED179}" type="slidenum">
              <a:rPr lang="cs-CZ" smtClean="0"/>
              <a:t>21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361039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Mytí rukou je zde metafora -&gt; mytí rukou je prevence proti bakteriálním nemocem, zabraňuje samotnému vzniku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8B31E3-0DD0-4087-B5BC-2EF72B5ED179}" type="slidenum">
              <a:rPr lang="cs-CZ" smtClean="0"/>
              <a:t>28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200268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01472D6-6BAD-DCCF-179E-7C1D5869CD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17DA2040-78FA-9907-5DCE-55B4EB7EBB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61DB4C5B-9E88-9992-D1EE-004ACCBB8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841A4-B339-4E10-9580-595E127D3D21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3D27287E-3730-DBFD-A827-162F7002D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D69DF0F4-DA88-1DCE-B584-AB4268DDA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7EB8B-FAF6-4920-8729-8C060CB9E2F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93599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AEAF10C-7687-6C52-561A-ECED1DC3A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F3A3E2A-7003-6019-67C7-6D1358E110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9839A73C-46B5-0BA2-FCFE-B32EA3760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841A4-B339-4E10-9580-595E127D3D21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B055D92C-9AA6-CA33-3754-2872ED288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CC9F9C5F-DD11-855E-3FEF-A9EDD17D1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7EB8B-FAF6-4920-8729-8C060CB9E2F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554599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9979269-7D59-69EF-47B5-4DB92A52D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4B3A1C2D-C13A-B6B3-A480-CA7250A5A5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7DD3408E-2459-8C55-C4D9-94790A0E1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841A4-B339-4E10-9580-595E127D3D21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3F8640D1-5042-DF99-168C-67CA16AF1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CB892B7E-FAC1-3A88-550C-0A5736CFD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7EB8B-FAF6-4920-8729-8C060CB9E2F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48998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B257E43-8FCB-26EA-BC14-2C9094A5A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026A763-991F-5D00-53E5-A47E308B6B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42E37C68-08BE-540F-D5A8-31FDB9A2AF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9B53D6A1-311B-82CC-8FD4-BC294ACE7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841A4-B339-4E10-9580-595E127D3D21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E031D0A4-65C2-DD9D-DF63-31E7B117C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3ADEA94D-2113-4675-FA54-C9BD91175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7EB8B-FAF6-4920-8729-8C060CB9E2F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94955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AAAA3FA-165B-EDA3-2F37-ABA2E1D37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8EE4E9AF-00A6-3318-15C3-9D43F24F90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E5158EF6-A8C1-04D4-63E4-1CCE551176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79295D1E-B2B0-A5AA-2301-8E84751304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1F2F873D-76A1-25DF-82F2-A9AEC51BBC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80354B13-E7E9-39DD-A6C3-22F94BC99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841A4-B339-4E10-9580-595E127D3D21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52DCCB40-F969-C453-C585-1906E7DB7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E33916DF-7832-5AA3-97E1-C0A1F79AC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7EB8B-FAF6-4920-8729-8C060CB9E2F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58328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481D9F1-1B5E-F414-5462-EDDEF1199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B0D79D56-2E11-05D3-A3F4-F5D0166A4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841A4-B339-4E10-9580-595E127D3D21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F73944F1-3B09-33FF-7433-C040EA7E3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1DE755FB-74D6-66D4-C54F-A0759F0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7EB8B-FAF6-4920-8729-8C060CB9E2F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956643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8AECD4BA-638D-4C86-9897-07C7CE443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841A4-B339-4E10-9580-595E127D3D21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2A62F5BE-72CB-07FF-8217-C289D0804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FCF25672-99AB-F360-F405-A8E44AA38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7EB8B-FAF6-4920-8729-8C060CB9E2F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410259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4BD363B-C164-2AC6-D59E-10ED56BEE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1A7C794-6A1E-EC71-41BA-DCBE2EA869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434F7663-7D6C-2382-6566-32B90124F1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402F284F-8A5A-F737-5F13-40CC4E8DA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841A4-B339-4E10-9580-595E127D3D21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A04AEC05-E5FE-11D2-8D47-264E51752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775D7976-D8C9-3458-8F93-6896297F3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7EB8B-FAF6-4920-8729-8C060CB9E2F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14317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50AA64A-69B7-1997-33EE-A5B5EC2D9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4C2ADF84-EA6B-05C6-4716-1E773FB25E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0BE3B1F4-1C7E-02BD-B13F-66E1197280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7D2F7534-0A6E-A7D3-84A1-A422395C2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841A4-B339-4E10-9580-595E127D3D21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6F600BDB-326C-226E-D650-FF625EAA4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E81092FB-B556-58CA-FAF7-4415AC4F0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7EB8B-FAF6-4920-8729-8C060CB9E2F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996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42F70F6-9429-696D-6201-B95C8421A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6313B456-2246-454A-64EA-2EFD201F62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9A82A839-20F1-F57F-C2CC-270394EFE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841A4-B339-4E10-9580-595E127D3D21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31E5A24-6179-66A3-9646-2B81C0BF7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4A41B3FF-1048-17C4-6D21-9C2EFFE6B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7EB8B-FAF6-4920-8729-8C060CB9E2F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90926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0656486B-97A7-780C-2F3D-F13DA80EBB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2673DB7B-39E6-73D1-8A8F-CED36CE9F1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CF3D16BC-788A-F96A-BC4C-B33396011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841A4-B339-4E10-9580-595E127D3D21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7A432912-CC22-4700-2BBF-7F41AE887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6A8ED0A5-B4BE-1CC7-023B-3D9C90734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7EB8B-FAF6-4920-8729-8C060CB9E2F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181416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3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73F7E2AE-6512-DE6C-6554-D369D5BAE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788109C4-3C47-3DAB-BDC4-1640AD2198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57648A4E-35BF-E019-EEE1-B32629FC53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A841A4-B339-4E10-9580-595E127D3D21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127442D3-C8F9-6FB8-30CB-277089358B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E52B8F4F-E301-1603-D4C4-47CFE816D4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A7EB8B-FAF6-4920-8729-8C060CB9E2F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01814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8F6B24C-621A-177F-B1B2-091E557C20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4138"/>
            <a:ext cx="9144000" cy="2387600"/>
          </a:xfrm>
        </p:spPr>
        <p:txBody>
          <a:bodyPr/>
          <a:lstStyle/>
          <a:p>
            <a:r>
              <a:rPr lang="cs-CZ" dirty="0">
                <a:solidFill>
                  <a:schemeClr val="bg1"/>
                </a:solidFill>
                <a:latin typeface="Amasis MT Pro Black" panose="020F0502020204030204" pitchFamily="18" charset="-18"/>
                <a:ea typeface="ADLaM Display" panose="020F0502020204030204" pitchFamily="2" charset="0"/>
                <a:cs typeface="ADLaM Display" panose="020F0502020204030204" pitchFamily="2" charset="0"/>
              </a:rPr>
              <a:t>Prostředky ochrany</a:t>
            </a:r>
            <a:br>
              <a:rPr lang="cs-CZ" dirty="0">
                <a:solidFill>
                  <a:schemeClr val="bg1"/>
                </a:solidFill>
                <a:latin typeface="Amasis MT Pro Black" panose="020F0502020204030204" pitchFamily="18" charset="-18"/>
                <a:ea typeface="ADLaM Display" panose="020F0502020204030204" pitchFamily="2" charset="0"/>
                <a:cs typeface="ADLaM Display" panose="020F0502020204030204" pitchFamily="2" charset="0"/>
              </a:rPr>
            </a:br>
            <a:r>
              <a:rPr lang="cs-CZ" dirty="0">
                <a:solidFill>
                  <a:schemeClr val="bg1"/>
                </a:solidFill>
                <a:latin typeface="Amasis MT Pro Black" panose="020F0502020204030204" pitchFamily="18" charset="-18"/>
                <a:ea typeface="ADLaM Display" panose="020F0502020204030204" pitchFamily="2" charset="0"/>
                <a:cs typeface="ADLaM Display" panose="020F0502020204030204" pitchFamily="2" charset="0"/>
              </a:rPr>
              <a:t>v kyberprostoru</a:t>
            </a:r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2207EF68-94C4-4921-DC1A-85FF5F8759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4859" y="4825557"/>
            <a:ext cx="1810327" cy="1810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2952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380B19C-DF09-C0BD-71E7-61A855580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>
                <a:solidFill>
                  <a:schemeClr val="bg1"/>
                </a:solidFill>
                <a:latin typeface="Amasis MT Pro Black" panose="02040A04050005020304" pitchFamily="18" charset="-18"/>
              </a:rPr>
              <a:t>Definice kyberprostoru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1D37B86-6429-C144-43C9-61BF60560B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53928" cy="4351338"/>
          </a:xfrm>
        </p:spPr>
        <p:txBody>
          <a:bodyPr/>
          <a:lstStyle/>
          <a:p>
            <a:r>
              <a:rPr lang="cs-CZ" dirty="0">
                <a:solidFill>
                  <a:schemeClr val="bg1"/>
                </a:solidFill>
                <a:latin typeface="Amasis MT Pro Black" panose="02040A04050005020304" pitchFamily="18" charset="-18"/>
              </a:rPr>
              <a:t>Označení pro virtuální realitu propojeného počítačového světa.</a:t>
            </a:r>
            <a:br>
              <a:rPr lang="cs-CZ" dirty="0">
                <a:solidFill>
                  <a:schemeClr val="bg1"/>
                </a:solidFill>
                <a:latin typeface="Amasis MT Pro Black" panose="02040A04050005020304" pitchFamily="18" charset="-18"/>
              </a:rPr>
            </a:br>
            <a:br>
              <a:rPr lang="cs-CZ" dirty="0">
                <a:solidFill>
                  <a:schemeClr val="bg1"/>
                </a:solidFill>
                <a:latin typeface="Amasis MT Pro Black" panose="02040A04050005020304" pitchFamily="18" charset="-18"/>
              </a:rPr>
            </a:br>
            <a:r>
              <a:rPr lang="cs-CZ" dirty="0">
                <a:solidFill>
                  <a:schemeClr val="bg1"/>
                </a:solidFill>
                <a:latin typeface="Amasis MT Pro Black" panose="02040A04050005020304" pitchFamily="18" charset="-18"/>
              </a:rPr>
              <a:t>Neboli jednoduše řečeno, veškerý internet jako takový.</a:t>
            </a:r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6B6A8D81-EA89-1612-A038-592412582E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8711" y="4698459"/>
            <a:ext cx="1723417" cy="1723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0321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101010 datové řádky do nekonečna">
            <a:extLst>
              <a:ext uri="{FF2B5EF4-FFF2-40B4-BE49-F238E27FC236}">
                <a16:creationId xmlns:a16="http://schemas.microsoft.com/office/drawing/2014/main" id="{717482ED-36BD-672C-C78B-A286E585894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104" r="2600" b="1"/>
          <a:stretch/>
        </p:blipFill>
        <p:spPr>
          <a:xfrm>
            <a:off x="2522358" y="10"/>
            <a:ext cx="9669642" cy="6857990"/>
          </a:xfrm>
          <a:prstGeom prst="rect">
            <a:avLst/>
          </a:prstGeom>
        </p:spPr>
      </p:pic>
      <p:sp>
        <p:nvSpPr>
          <p:cNvPr id="3" name="Obdélník 2">
            <a:extLst>
              <a:ext uri="{FF2B5EF4-FFF2-40B4-BE49-F238E27FC236}">
                <a16:creationId xmlns:a16="http://schemas.microsoft.com/office/drawing/2014/main" id="{1D872EC2-5E03-1FBA-6C18-737399D423DC}"/>
              </a:ext>
            </a:extLst>
          </p:cNvPr>
          <p:cNvSpPr/>
          <p:nvPr/>
        </p:nvSpPr>
        <p:spPr>
          <a:xfrm>
            <a:off x="-1" y="0"/>
            <a:ext cx="10945092" cy="6858000"/>
          </a:xfrm>
          <a:prstGeom prst="rect">
            <a:avLst/>
          </a:prstGeom>
          <a:gradFill flip="none" rotWithShape="1">
            <a:gsLst>
              <a:gs pos="66000">
                <a:srgbClr val="777E82">
                  <a:alpha val="50196"/>
                </a:srgbClr>
              </a:gs>
              <a:gs pos="32000">
                <a:srgbClr val="3D484D"/>
              </a:gs>
              <a:gs pos="9000">
                <a:srgbClr val="263238"/>
              </a:gs>
              <a:gs pos="100000">
                <a:srgbClr val="E3E4E4">
                  <a:alpha val="0"/>
                </a:srgbClr>
              </a:gs>
            </a:gsLst>
            <a:lin ang="0" scaled="1"/>
            <a:tileRect/>
          </a:gradFill>
          <a:ln>
            <a:solidFill>
              <a:srgbClr val="2632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1160C76F-07B7-237E-AE33-35AE925B1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139" y="1712067"/>
            <a:ext cx="6372699" cy="2373211"/>
          </a:xfrm>
          <a:noFill/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cs-CZ" sz="5200" b="1" dirty="0">
                <a:solidFill>
                  <a:schemeClr val="bg1"/>
                </a:solidFill>
                <a:latin typeface="Amasis MT Pro Black" panose="02040A04050005020304" pitchFamily="18" charset="-18"/>
              </a:rPr>
              <a:t>Letem světem o hrozbách</a:t>
            </a:r>
            <a:br>
              <a:rPr lang="cs-CZ" sz="5200" b="1" dirty="0">
                <a:solidFill>
                  <a:schemeClr val="bg1"/>
                </a:solidFill>
                <a:latin typeface="Amasis MT Pro Black" panose="02040A04050005020304" pitchFamily="18" charset="-18"/>
              </a:rPr>
            </a:br>
            <a:r>
              <a:rPr lang="en-US" sz="5200" b="1" dirty="0">
                <a:solidFill>
                  <a:schemeClr val="bg1"/>
                </a:solidFill>
                <a:latin typeface="Amasis MT Pro Black" panose="02040A04050005020304" pitchFamily="18" charset="-18"/>
              </a:rPr>
              <a:t>v </a:t>
            </a:r>
            <a:r>
              <a:rPr lang="en-US" sz="5200" b="1" dirty="0" err="1">
                <a:solidFill>
                  <a:schemeClr val="bg1"/>
                </a:solidFill>
                <a:latin typeface="Amasis MT Pro Black" panose="02040A04050005020304" pitchFamily="18" charset="-18"/>
              </a:rPr>
              <a:t>kyberprostoru</a:t>
            </a:r>
            <a:endParaRPr lang="en-US" sz="5200" b="1" dirty="0">
              <a:solidFill>
                <a:schemeClr val="bg1"/>
              </a:solidFill>
              <a:latin typeface="Amasis MT Pro Black" panose="02040A04050005020304" pitchFamily="18" charset="-18"/>
            </a:endParaRPr>
          </a:p>
        </p:txBody>
      </p:sp>
    </p:spTree>
    <p:extLst>
      <p:ext uri="{BB962C8B-B14F-4D97-AF65-F5344CB8AC3E}">
        <p14:creationId xmlns:p14="http://schemas.microsoft.com/office/powerpoint/2010/main" val="19591495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F8D5690-3085-E40B-2D49-75080DCA9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1859"/>
            <a:ext cx="10515600" cy="1325563"/>
          </a:xfrm>
        </p:spPr>
        <p:txBody>
          <a:bodyPr/>
          <a:lstStyle/>
          <a:p>
            <a:r>
              <a:rPr lang="cs-CZ" dirty="0">
                <a:solidFill>
                  <a:schemeClr val="bg1"/>
                </a:solidFill>
                <a:latin typeface="Amasis MT Pro Black" panose="02040A04050005020304" pitchFamily="18" charset="-18"/>
              </a:rPr>
              <a:t>Malware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F185BC2-0213-7B12-2A14-2BD333E33F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2000"/>
              </a:spcBef>
            </a:pPr>
            <a:r>
              <a:rPr lang="cs-CZ" b="1" dirty="0" err="1">
                <a:solidFill>
                  <a:schemeClr val="bg1"/>
                </a:solidFill>
                <a:latin typeface="Amasis MT Pro Black" panose="02040A04050005020304" pitchFamily="18" charset="-18"/>
              </a:rPr>
              <a:t>Mal</a:t>
            </a:r>
            <a:r>
              <a:rPr lang="cs-CZ" dirty="0" err="1">
                <a:solidFill>
                  <a:schemeClr val="bg1"/>
                </a:solidFill>
                <a:latin typeface="Amasis MT Pro Black" panose="02040A04050005020304" pitchFamily="18" charset="-18"/>
              </a:rPr>
              <a:t>icious</a:t>
            </a:r>
            <a:r>
              <a:rPr lang="cs-CZ" dirty="0">
                <a:solidFill>
                  <a:schemeClr val="bg1"/>
                </a:solidFill>
                <a:latin typeface="Amasis MT Pro Black" panose="02040A04050005020304" pitchFamily="18" charset="-18"/>
              </a:rPr>
              <a:t> Soft</a:t>
            </a:r>
            <a:r>
              <a:rPr lang="cs-CZ" b="1" dirty="0">
                <a:solidFill>
                  <a:schemeClr val="bg1"/>
                </a:solidFill>
                <a:latin typeface="Amasis MT Pro Black" panose="02040A04050005020304" pitchFamily="18" charset="-18"/>
              </a:rPr>
              <a:t>ware</a:t>
            </a:r>
            <a:r>
              <a:rPr lang="cs-CZ" dirty="0">
                <a:solidFill>
                  <a:schemeClr val="bg1"/>
                </a:solidFill>
                <a:latin typeface="Amasis MT Pro Black" panose="02040A04050005020304" pitchFamily="18" charset="-18"/>
              </a:rPr>
              <a:t> (Škodlivý Software)</a:t>
            </a:r>
          </a:p>
          <a:p>
            <a:pPr>
              <a:spcBef>
                <a:spcPts val="2000"/>
              </a:spcBef>
            </a:pPr>
            <a:r>
              <a:rPr lang="cs-CZ" dirty="0">
                <a:solidFill>
                  <a:schemeClr val="bg1"/>
                </a:solidFill>
                <a:latin typeface="Amasis MT Pro Black" panose="02040A04050005020304" pitchFamily="18" charset="-18"/>
              </a:rPr>
              <a:t>Veškerý druh škodlivého softwaru jako jsou:</a:t>
            </a:r>
          </a:p>
          <a:p>
            <a:pPr lvl="1">
              <a:spcBef>
                <a:spcPts val="2000"/>
              </a:spcBef>
            </a:pPr>
            <a:r>
              <a:rPr lang="cs-CZ" dirty="0">
                <a:solidFill>
                  <a:schemeClr val="bg1"/>
                </a:solidFill>
                <a:latin typeface="Amasis MT Pro Black" panose="02040A04050005020304" pitchFamily="18" charset="-18"/>
              </a:rPr>
              <a:t>Viry</a:t>
            </a:r>
          </a:p>
          <a:p>
            <a:pPr lvl="1">
              <a:spcBef>
                <a:spcPts val="2000"/>
              </a:spcBef>
            </a:pPr>
            <a:r>
              <a:rPr lang="cs-CZ" dirty="0">
                <a:solidFill>
                  <a:schemeClr val="bg1"/>
                </a:solidFill>
                <a:latin typeface="Amasis MT Pro Black" panose="02040A04050005020304" pitchFamily="18" charset="-18"/>
              </a:rPr>
              <a:t>Spyware – sledovací software</a:t>
            </a:r>
          </a:p>
          <a:p>
            <a:pPr lvl="1">
              <a:spcBef>
                <a:spcPts val="2000"/>
              </a:spcBef>
            </a:pPr>
            <a:r>
              <a:rPr lang="cs-CZ" dirty="0" err="1">
                <a:solidFill>
                  <a:schemeClr val="bg1"/>
                </a:solidFill>
                <a:latin typeface="Amasis MT Pro Black" panose="02040A04050005020304" pitchFamily="18" charset="-18"/>
              </a:rPr>
              <a:t>Adware</a:t>
            </a:r>
            <a:r>
              <a:rPr lang="cs-CZ" dirty="0">
                <a:solidFill>
                  <a:schemeClr val="bg1"/>
                </a:solidFill>
                <a:latin typeface="Amasis MT Pro Black" panose="02040A04050005020304" pitchFamily="18" charset="-18"/>
              </a:rPr>
              <a:t> – vyskakovací okna s reklamou</a:t>
            </a:r>
          </a:p>
          <a:p>
            <a:pPr lvl="1">
              <a:spcBef>
                <a:spcPts val="2000"/>
              </a:spcBef>
            </a:pPr>
            <a:r>
              <a:rPr lang="cs-CZ" dirty="0">
                <a:solidFill>
                  <a:schemeClr val="bg1"/>
                </a:solidFill>
                <a:latin typeface="Amasis MT Pro Black" panose="02040A04050005020304" pitchFamily="18" charset="-18"/>
              </a:rPr>
              <a:t>Ransomware – šifrovací software</a:t>
            </a:r>
          </a:p>
        </p:txBody>
      </p:sp>
      <p:pic>
        <p:nvPicPr>
          <p:cNvPr id="13" name="Obrázek 12">
            <a:extLst>
              <a:ext uri="{FF2B5EF4-FFF2-40B4-BE49-F238E27FC236}">
                <a16:creationId xmlns:a16="http://schemas.microsoft.com/office/drawing/2014/main" id="{2B4B09C7-08A2-38A2-11E7-B53F211460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9307" y="4240356"/>
            <a:ext cx="1936607" cy="1936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65863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0B6B816-A5C8-9C71-74CC-2AE840781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>
                <a:solidFill>
                  <a:schemeClr val="bg1"/>
                </a:solidFill>
                <a:latin typeface="Amasis MT Pro Black" panose="02040A04050005020304" pitchFamily="18" charset="-18"/>
              </a:rPr>
              <a:t>DoS</a:t>
            </a:r>
            <a:r>
              <a:rPr lang="cs-CZ" dirty="0">
                <a:solidFill>
                  <a:schemeClr val="bg1"/>
                </a:solidFill>
                <a:latin typeface="Amasis MT Pro Black" panose="02040A04050005020304" pitchFamily="18" charset="-18"/>
              </a:rPr>
              <a:t> a </a:t>
            </a:r>
            <a:r>
              <a:rPr lang="cs-CZ" dirty="0" err="1">
                <a:solidFill>
                  <a:schemeClr val="bg1"/>
                </a:solidFill>
                <a:latin typeface="Amasis MT Pro Black" panose="02040A04050005020304" pitchFamily="18" charset="-18"/>
              </a:rPr>
              <a:t>DDoS</a:t>
            </a:r>
            <a:endParaRPr lang="cs-CZ" dirty="0">
              <a:solidFill>
                <a:schemeClr val="bg1"/>
              </a:solidFill>
              <a:latin typeface="Amasis MT Pro Black" panose="02040A04050005020304" pitchFamily="18" charset="-18"/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95F8734-32E7-14C5-F847-9AFE1342F0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1" y="1825625"/>
            <a:ext cx="11433774" cy="4351338"/>
          </a:xfrm>
        </p:spPr>
        <p:txBody>
          <a:bodyPr/>
          <a:lstStyle/>
          <a:p>
            <a:pPr>
              <a:spcBef>
                <a:spcPts val="2000"/>
              </a:spcBef>
            </a:pPr>
            <a:r>
              <a:rPr lang="cs-CZ" dirty="0">
                <a:solidFill>
                  <a:schemeClr val="bg1"/>
                </a:solidFill>
                <a:latin typeface="Amasis MT Pro Black" panose="02040A04050005020304" pitchFamily="18" charset="-18"/>
              </a:rPr>
              <a:t>(</a:t>
            </a:r>
            <a:r>
              <a:rPr lang="cs-CZ" b="1" dirty="0" err="1">
                <a:solidFill>
                  <a:schemeClr val="bg1"/>
                </a:solidFill>
                <a:latin typeface="Amasis MT Pro Black" panose="02040A04050005020304" pitchFamily="18" charset="-18"/>
              </a:rPr>
              <a:t>D</a:t>
            </a:r>
            <a:r>
              <a:rPr lang="cs-CZ" dirty="0" err="1">
                <a:solidFill>
                  <a:schemeClr val="bg1"/>
                </a:solidFill>
                <a:latin typeface="Amasis MT Pro Black" panose="02040A04050005020304" pitchFamily="18" charset="-18"/>
              </a:rPr>
              <a:t>istributed</a:t>
            </a:r>
            <a:r>
              <a:rPr lang="cs-CZ" dirty="0">
                <a:solidFill>
                  <a:schemeClr val="bg1"/>
                </a:solidFill>
                <a:latin typeface="Amasis MT Pro Black" panose="02040A04050005020304" pitchFamily="18" charset="-18"/>
              </a:rPr>
              <a:t>) </a:t>
            </a:r>
            <a:r>
              <a:rPr lang="cs-CZ" b="1" dirty="0" err="1">
                <a:solidFill>
                  <a:schemeClr val="bg1"/>
                </a:solidFill>
                <a:latin typeface="Amasis MT Pro Black" panose="02040A04050005020304" pitchFamily="18" charset="-18"/>
              </a:rPr>
              <a:t>D</a:t>
            </a:r>
            <a:r>
              <a:rPr lang="cs-CZ" dirty="0" err="1">
                <a:solidFill>
                  <a:schemeClr val="bg1"/>
                </a:solidFill>
                <a:latin typeface="Amasis MT Pro Black" panose="02040A04050005020304" pitchFamily="18" charset="-18"/>
              </a:rPr>
              <a:t>enial</a:t>
            </a:r>
            <a:r>
              <a:rPr lang="cs-CZ" dirty="0">
                <a:solidFill>
                  <a:schemeClr val="bg1"/>
                </a:solidFill>
                <a:latin typeface="Amasis MT Pro Black" panose="02040A04050005020304" pitchFamily="18" charset="-18"/>
              </a:rPr>
              <a:t> </a:t>
            </a:r>
            <a:r>
              <a:rPr lang="cs-CZ" b="1" dirty="0" err="1">
                <a:solidFill>
                  <a:schemeClr val="bg1"/>
                </a:solidFill>
                <a:latin typeface="Amasis MT Pro Black" panose="02040A04050005020304" pitchFamily="18" charset="-18"/>
              </a:rPr>
              <a:t>o</a:t>
            </a:r>
            <a:r>
              <a:rPr lang="cs-CZ" dirty="0" err="1">
                <a:solidFill>
                  <a:schemeClr val="bg1"/>
                </a:solidFill>
                <a:latin typeface="Amasis MT Pro Black" panose="02040A04050005020304" pitchFamily="18" charset="-18"/>
              </a:rPr>
              <a:t>f</a:t>
            </a:r>
            <a:r>
              <a:rPr lang="cs-CZ" dirty="0">
                <a:solidFill>
                  <a:schemeClr val="bg1"/>
                </a:solidFill>
                <a:latin typeface="Amasis MT Pro Black" panose="02040A04050005020304" pitchFamily="18" charset="-18"/>
              </a:rPr>
              <a:t> </a:t>
            </a:r>
            <a:r>
              <a:rPr lang="cs-CZ" b="1" dirty="0" err="1">
                <a:solidFill>
                  <a:schemeClr val="bg1"/>
                </a:solidFill>
                <a:latin typeface="Amasis MT Pro Black" panose="02040A04050005020304" pitchFamily="18" charset="-18"/>
              </a:rPr>
              <a:t>S</a:t>
            </a:r>
            <a:r>
              <a:rPr lang="cs-CZ" dirty="0" err="1">
                <a:solidFill>
                  <a:schemeClr val="bg1"/>
                </a:solidFill>
                <a:latin typeface="Amasis MT Pro Black" panose="02040A04050005020304" pitchFamily="18" charset="-18"/>
              </a:rPr>
              <a:t>ervice</a:t>
            </a:r>
            <a:endParaRPr lang="cs-CZ" dirty="0">
              <a:solidFill>
                <a:schemeClr val="bg1"/>
              </a:solidFill>
              <a:latin typeface="Amasis MT Pro Black" panose="02040A04050005020304" pitchFamily="18" charset="-18"/>
            </a:endParaRPr>
          </a:p>
          <a:p>
            <a:pPr>
              <a:spcBef>
                <a:spcPts val="2000"/>
              </a:spcBef>
            </a:pPr>
            <a:r>
              <a:rPr lang="cs-CZ" dirty="0">
                <a:solidFill>
                  <a:schemeClr val="bg1"/>
                </a:solidFill>
                <a:latin typeface="Amasis MT Pro Black" panose="02040A04050005020304" pitchFamily="18" charset="-18"/>
              </a:rPr>
              <a:t>Slouží k zahlcení serveru (nebo jiného cíle) obrovským množstvím žádostí</a:t>
            </a:r>
          </a:p>
          <a:p>
            <a:pPr>
              <a:spcBef>
                <a:spcPts val="2000"/>
              </a:spcBef>
            </a:pPr>
            <a:r>
              <a:rPr lang="cs-CZ" dirty="0" err="1">
                <a:solidFill>
                  <a:schemeClr val="bg1"/>
                </a:solidFill>
                <a:latin typeface="Amasis MT Pro Black" panose="02040A04050005020304" pitchFamily="18" charset="-18"/>
              </a:rPr>
              <a:t>DoS</a:t>
            </a:r>
            <a:r>
              <a:rPr lang="cs-CZ" dirty="0">
                <a:solidFill>
                  <a:schemeClr val="bg1"/>
                </a:solidFill>
                <a:latin typeface="Amasis MT Pro Black" panose="02040A04050005020304" pitchFamily="18" charset="-18"/>
              </a:rPr>
              <a:t> využívá jednoho útočícího počítače</a:t>
            </a:r>
          </a:p>
          <a:p>
            <a:pPr>
              <a:spcBef>
                <a:spcPts val="2000"/>
              </a:spcBef>
            </a:pPr>
            <a:r>
              <a:rPr lang="cs-CZ" dirty="0" err="1">
                <a:solidFill>
                  <a:schemeClr val="bg1"/>
                </a:solidFill>
                <a:latin typeface="Amasis MT Pro Black" panose="02040A04050005020304" pitchFamily="18" charset="-18"/>
              </a:rPr>
              <a:t>DDoS</a:t>
            </a:r>
            <a:r>
              <a:rPr lang="cs-CZ" dirty="0">
                <a:solidFill>
                  <a:schemeClr val="bg1"/>
                </a:solidFill>
                <a:latin typeface="Amasis MT Pro Black" panose="02040A04050005020304" pitchFamily="18" charset="-18"/>
              </a:rPr>
              <a:t> využívá tzv. BOTNET – množina počítačů nad kterými útočník získal kontrolu (např. pomocí trojského viru)</a:t>
            </a:r>
          </a:p>
          <a:p>
            <a:pPr>
              <a:spcBef>
                <a:spcPts val="2000"/>
              </a:spcBef>
            </a:pPr>
            <a:r>
              <a:rPr lang="cs-CZ" dirty="0">
                <a:solidFill>
                  <a:schemeClr val="bg1"/>
                </a:solidFill>
                <a:latin typeface="Amasis MT Pro Black" panose="02040A04050005020304" pitchFamily="18" charset="-18"/>
              </a:rPr>
              <a:t>Nejčastěji jsou užity SYN </a:t>
            </a:r>
            <a:r>
              <a:rPr lang="cs-CZ" dirty="0" err="1">
                <a:solidFill>
                  <a:schemeClr val="bg1"/>
                </a:solidFill>
                <a:latin typeface="Amasis MT Pro Black" panose="02040A04050005020304" pitchFamily="18" charset="-18"/>
              </a:rPr>
              <a:t>Flood</a:t>
            </a:r>
            <a:r>
              <a:rPr lang="cs-CZ" dirty="0">
                <a:solidFill>
                  <a:schemeClr val="bg1"/>
                </a:solidFill>
                <a:latin typeface="Amasis MT Pro Black" panose="02040A04050005020304" pitchFamily="18" charset="-18"/>
              </a:rPr>
              <a:t>, ICMP </a:t>
            </a:r>
            <a:r>
              <a:rPr lang="cs-CZ" dirty="0" err="1">
                <a:solidFill>
                  <a:schemeClr val="bg1"/>
                </a:solidFill>
                <a:latin typeface="Amasis MT Pro Black" panose="02040A04050005020304" pitchFamily="18" charset="-18"/>
              </a:rPr>
              <a:t>Flood</a:t>
            </a:r>
            <a:r>
              <a:rPr lang="cs-CZ" dirty="0">
                <a:solidFill>
                  <a:schemeClr val="bg1"/>
                </a:solidFill>
                <a:latin typeface="Amasis MT Pro Black" panose="02040A04050005020304" pitchFamily="18" charset="-18"/>
              </a:rPr>
              <a:t>, HTTP </a:t>
            </a:r>
            <a:r>
              <a:rPr lang="cs-CZ" dirty="0" err="1">
                <a:solidFill>
                  <a:schemeClr val="bg1"/>
                </a:solidFill>
                <a:latin typeface="Amasis MT Pro Black" panose="02040A04050005020304" pitchFamily="18" charset="-18"/>
              </a:rPr>
              <a:t>Flood</a:t>
            </a:r>
            <a:r>
              <a:rPr lang="cs-CZ" dirty="0">
                <a:solidFill>
                  <a:schemeClr val="bg1"/>
                </a:solidFill>
                <a:latin typeface="Amasis MT Pro Black" panose="02040A04050005020304" pitchFamily="18" charset="-18"/>
              </a:rPr>
              <a:t>, UDP </a:t>
            </a:r>
            <a:r>
              <a:rPr lang="cs-CZ" dirty="0" err="1">
                <a:solidFill>
                  <a:schemeClr val="bg1"/>
                </a:solidFill>
                <a:latin typeface="Amasis MT Pro Black" panose="02040A04050005020304" pitchFamily="18" charset="-18"/>
              </a:rPr>
              <a:t>flood</a:t>
            </a:r>
            <a:r>
              <a:rPr lang="cs-CZ" dirty="0">
                <a:solidFill>
                  <a:schemeClr val="bg1"/>
                </a:solidFill>
                <a:latin typeface="Amasis MT Pro Black" panose="02040A04050005020304" pitchFamily="18" charset="-18"/>
              </a:rPr>
              <a:t> atd.</a:t>
            </a:r>
          </a:p>
          <a:p>
            <a:pPr>
              <a:spcBef>
                <a:spcPts val="2000"/>
              </a:spcBef>
            </a:pPr>
            <a:endParaRPr lang="cs-CZ" dirty="0">
              <a:solidFill>
                <a:schemeClr val="bg1"/>
              </a:solidFill>
              <a:latin typeface="Amasis MT Pro Black" panose="02040A04050005020304" pitchFamily="18" charset="-18"/>
            </a:endParaRPr>
          </a:p>
        </p:txBody>
      </p:sp>
      <p:pic>
        <p:nvPicPr>
          <p:cNvPr id="7" name="Obrázek 6">
            <a:extLst>
              <a:ext uri="{FF2B5EF4-FFF2-40B4-BE49-F238E27FC236}">
                <a16:creationId xmlns:a16="http://schemas.microsoft.com/office/drawing/2014/main" id="{76AECB7A-89E3-7B80-4BA5-57F451A76A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9761" y="145915"/>
            <a:ext cx="2020319" cy="2020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5911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Přímá spojnice se šipkou 27">
            <a:extLst>
              <a:ext uri="{FF2B5EF4-FFF2-40B4-BE49-F238E27FC236}">
                <a16:creationId xmlns:a16="http://schemas.microsoft.com/office/drawing/2014/main" id="{2216FAEB-4948-1D4C-93A9-A98ED15AB141}"/>
              </a:ext>
            </a:extLst>
          </p:cNvPr>
          <p:cNvCxnSpPr>
            <a:cxnSpLocks/>
          </p:cNvCxnSpPr>
          <p:nvPr/>
        </p:nvCxnSpPr>
        <p:spPr>
          <a:xfrm flipH="1">
            <a:off x="3082327" y="2154791"/>
            <a:ext cx="12700" cy="3264934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Picture 8" descr="Server Generic Outline Color icon">
            <a:extLst>
              <a:ext uri="{FF2B5EF4-FFF2-40B4-BE49-F238E27FC236}">
                <a16:creationId xmlns:a16="http://schemas.microsoft.com/office/drawing/2014/main" id="{16FAE0D6-1500-614E-B01B-05D87CC6D1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9630" y="5609861"/>
            <a:ext cx="982776" cy="982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Nadpis 1">
            <a:extLst>
              <a:ext uri="{FF2B5EF4-FFF2-40B4-BE49-F238E27FC236}">
                <a16:creationId xmlns:a16="http://schemas.microsoft.com/office/drawing/2014/main" id="{1C3ED221-40B8-4A1A-2636-09C014178F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096000" cy="839455"/>
          </a:xfrm>
        </p:spPr>
        <p:txBody>
          <a:bodyPr/>
          <a:lstStyle/>
          <a:p>
            <a:pPr algn="ctr"/>
            <a:r>
              <a:rPr lang="cs-CZ" b="1" dirty="0" err="1">
                <a:solidFill>
                  <a:schemeClr val="bg1"/>
                </a:solidFill>
                <a:latin typeface="Amasis MT Pro Black" panose="02040A04050005020304" pitchFamily="18" charset="-18"/>
              </a:rPr>
              <a:t>DoS</a:t>
            </a:r>
            <a:endParaRPr lang="cs-CZ" b="1" dirty="0">
              <a:solidFill>
                <a:schemeClr val="bg1"/>
              </a:solidFill>
              <a:latin typeface="Amasis MT Pro Black" panose="02040A04050005020304" pitchFamily="18" charset="-18"/>
            </a:endParaRPr>
          </a:p>
        </p:txBody>
      </p:sp>
      <p:sp>
        <p:nvSpPr>
          <p:cNvPr id="34" name="Nadpis 1">
            <a:extLst>
              <a:ext uri="{FF2B5EF4-FFF2-40B4-BE49-F238E27FC236}">
                <a16:creationId xmlns:a16="http://schemas.microsoft.com/office/drawing/2014/main" id="{8D7CFB72-4075-EE2F-A151-DA1B0AFA3800}"/>
              </a:ext>
            </a:extLst>
          </p:cNvPr>
          <p:cNvSpPr txBox="1">
            <a:spLocks/>
          </p:cNvSpPr>
          <p:nvPr/>
        </p:nvSpPr>
        <p:spPr>
          <a:xfrm>
            <a:off x="6096000" y="-1"/>
            <a:ext cx="6126990" cy="8394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cs-CZ" b="1" dirty="0" err="1">
                <a:solidFill>
                  <a:schemeClr val="bg1"/>
                </a:solidFill>
                <a:latin typeface="Amasis MT Pro Black" panose="02040A04050005020304" pitchFamily="18" charset="-18"/>
              </a:rPr>
              <a:t>DDoS</a:t>
            </a:r>
            <a:endParaRPr lang="cs-CZ" b="1" dirty="0">
              <a:solidFill>
                <a:schemeClr val="bg1"/>
              </a:solidFill>
              <a:latin typeface="Amasis MT Pro Black" panose="02040A04050005020304" pitchFamily="18" charset="-18"/>
            </a:endParaRPr>
          </a:p>
        </p:txBody>
      </p:sp>
      <p:sp>
        <p:nvSpPr>
          <p:cNvPr id="38" name="Nadpis 1">
            <a:extLst>
              <a:ext uri="{FF2B5EF4-FFF2-40B4-BE49-F238E27FC236}">
                <a16:creationId xmlns:a16="http://schemas.microsoft.com/office/drawing/2014/main" id="{71E32D06-2DEC-8EC2-D4AB-32F4C137AC98}"/>
              </a:ext>
            </a:extLst>
          </p:cNvPr>
          <p:cNvSpPr txBox="1">
            <a:spLocks/>
          </p:cNvSpPr>
          <p:nvPr/>
        </p:nvSpPr>
        <p:spPr>
          <a:xfrm>
            <a:off x="6580890" y="1755423"/>
            <a:ext cx="2200275" cy="102106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cs-CZ" sz="3600" dirty="0">
                <a:solidFill>
                  <a:schemeClr val="bg1"/>
                </a:solidFill>
                <a:latin typeface="Amasis MT Pro Black" panose="02040A04050005020304" pitchFamily="18" charset="-18"/>
                <a:cs typeface="Aharoni" panose="02010803020104030203" pitchFamily="2" charset="-79"/>
              </a:rPr>
              <a:t>BOTNET</a:t>
            </a:r>
          </a:p>
        </p:txBody>
      </p:sp>
      <p:cxnSp>
        <p:nvCxnSpPr>
          <p:cNvPr id="51" name="Přímá spojnice 50">
            <a:extLst>
              <a:ext uri="{FF2B5EF4-FFF2-40B4-BE49-F238E27FC236}">
                <a16:creationId xmlns:a16="http://schemas.microsoft.com/office/drawing/2014/main" id="{6C8F931F-043F-E32C-F744-16C6CC56B0CF}"/>
              </a:ext>
            </a:extLst>
          </p:cNvPr>
          <p:cNvCxnSpPr>
            <a:cxnSpLocks/>
          </p:cNvCxnSpPr>
          <p:nvPr/>
        </p:nvCxnSpPr>
        <p:spPr>
          <a:xfrm>
            <a:off x="6096000" y="-1"/>
            <a:ext cx="0" cy="6858001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5" name="Přímá spojnice se šipkou 1024">
            <a:extLst>
              <a:ext uri="{FF2B5EF4-FFF2-40B4-BE49-F238E27FC236}">
                <a16:creationId xmlns:a16="http://schemas.microsoft.com/office/drawing/2014/main" id="{9650120B-B350-941A-64AE-1AEBB08692A4}"/>
              </a:ext>
            </a:extLst>
          </p:cNvPr>
          <p:cNvCxnSpPr>
            <a:cxnSpLocks/>
          </p:cNvCxnSpPr>
          <p:nvPr/>
        </p:nvCxnSpPr>
        <p:spPr>
          <a:xfrm>
            <a:off x="9191026" y="2066925"/>
            <a:ext cx="0" cy="530210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9" name="Picture 8" descr="Server Generic Outline Color icon">
            <a:extLst>
              <a:ext uri="{FF2B5EF4-FFF2-40B4-BE49-F238E27FC236}">
                <a16:creationId xmlns:a16="http://schemas.microsoft.com/office/drawing/2014/main" id="{149E9707-1E8C-C3FF-CDC8-8DD543A46F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1165" y="5609861"/>
            <a:ext cx="982776" cy="982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34" name="Přímá spojnice se šipkou 1033">
            <a:extLst>
              <a:ext uri="{FF2B5EF4-FFF2-40B4-BE49-F238E27FC236}">
                <a16:creationId xmlns:a16="http://schemas.microsoft.com/office/drawing/2014/main" id="{4D5F99FD-3FCC-24BB-FF75-0A2C9334EF49}"/>
              </a:ext>
            </a:extLst>
          </p:cNvPr>
          <p:cNvCxnSpPr>
            <a:cxnSpLocks/>
          </p:cNvCxnSpPr>
          <p:nvPr/>
        </p:nvCxnSpPr>
        <p:spPr>
          <a:xfrm>
            <a:off x="9159495" y="5079651"/>
            <a:ext cx="0" cy="530210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6" name="Ovál 1035">
            <a:extLst>
              <a:ext uri="{FF2B5EF4-FFF2-40B4-BE49-F238E27FC236}">
                <a16:creationId xmlns:a16="http://schemas.microsoft.com/office/drawing/2014/main" id="{FBE35D10-AA30-8A06-5FD5-D14AED53C508}"/>
              </a:ext>
            </a:extLst>
          </p:cNvPr>
          <p:cNvSpPr/>
          <p:nvPr/>
        </p:nvSpPr>
        <p:spPr>
          <a:xfrm>
            <a:off x="5450875" y="465175"/>
            <a:ext cx="1290248" cy="129024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5400" b="1" dirty="0">
                <a:solidFill>
                  <a:srgbClr val="263238"/>
                </a:solidFill>
              </a:rPr>
              <a:t>VS</a:t>
            </a:r>
          </a:p>
        </p:txBody>
      </p:sp>
      <p:grpSp>
        <p:nvGrpSpPr>
          <p:cNvPr id="12" name="Skupina 11">
            <a:extLst>
              <a:ext uri="{FF2B5EF4-FFF2-40B4-BE49-F238E27FC236}">
                <a16:creationId xmlns:a16="http://schemas.microsoft.com/office/drawing/2014/main" id="{1D625213-DD4D-1D26-E2E2-AC512E4D2734}"/>
              </a:ext>
            </a:extLst>
          </p:cNvPr>
          <p:cNvGrpSpPr/>
          <p:nvPr/>
        </p:nvGrpSpPr>
        <p:grpSpPr>
          <a:xfrm>
            <a:off x="7752001" y="2671392"/>
            <a:ext cx="2878049" cy="2325556"/>
            <a:chOff x="7874204" y="2671392"/>
            <a:chExt cx="2878049" cy="2325556"/>
          </a:xfrm>
        </p:grpSpPr>
        <p:sp>
          <p:nvSpPr>
            <p:cNvPr id="32" name="Obdélník 31">
              <a:extLst>
                <a:ext uri="{FF2B5EF4-FFF2-40B4-BE49-F238E27FC236}">
                  <a16:creationId xmlns:a16="http://schemas.microsoft.com/office/drawing/2014/main" id="{BEA989EA-D8B1-19ED-D260-D040E4C41CA2}"/>
                </a:ext>
              </a:extLst>
            </p:cNvPr>
            <p:cNvSpPr/>
            <p:nvPr/>
          </p:nvSpPr>
          <p:spPr>
            <a:xfrm>
              <a:off x="7874204" y="2671392"/>
              <a:ext cx="2878049" cy="2325556"/>
            </a:xfrm>
            <a:prstGeom prst="rect">
              <a:avLst/>
            </a:prstGeom>
            <a:noFill/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pic>
          <p:nvPicPr>
            <p:cNvPr id="3" name="Obrázek 2">
              <a:extLst>
                <a:ext uri="{FF2B5EF4-FFF2-40B4-BE49-F238E27FC236}">
                  <a16:creationId xmlns:a16="http://schemas.microsoft.com/office/drawing/2014/main" id="{53C887AB-8175-8DC3-8AE9-BCDF2483F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142866" y="2809280"/>
              <a:ext cx="674615" cy="674615"/>
            </a:xfrm>
            <a:prstGeom prst="rect">
              <a:avLst/>
            </a:prstGeom>
          </p:spPr>
        </p:pic>
        <p:pic>
          <p:nvPicPr>
            <p:cNvPr id="4" name="Obrázek 3">
              <a:extLst>
                <a:ext uri="{FF2B5EF4-FFF2-40B4-BE49-F238E27FC236}">
                  <a16:creationId xmlns:a16="http://schemas.microsoft.com/office/drawing/2014/main" id="{5EB999ED-65D4-34E9-28EC-803D57D973C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975922" y="2823151"/>
              <a:ext cx="674615" cy="674615"/>
            </a:xfrm>
            <a:prstGeom prst="rect">
              <a:avLst/>
            </a:prstGeom>
          </p:spPr>
        </p:pic>
        <p:pic>
          <p:nvPicPr>
            <p:cNvPr id="5" name="Obrázek 4">
              <a:extLst>
                <a:ext uri="{FF2B5EF4-FFF2-40B4-BE49-F238E27FC236}">
                  <a16:creationId xmlns:a16="http://schemas.microsoft.com/office/drawing/2014/main" id="{23BF7955-13A5-5BD0-3E46-FB010F920E8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808978" y="2823151"/>
              <a:ext cx="674615" cy="674615"/>
            </a:xfrm>
            <a:prstGeom prst="rect">
              <a:avLst/>
            </a:prstGeom>
          </p:spPr>
        </p:pic>
        <p:pic>
          <p:nvPicPr>
            <p:cNvPr id="6" name="Obrázek 5">
              <a:extLst>
                <a:ext uri="{FF2B5EF4-FFF2-40B4-BE49-F238E27FC236}">
                  <a16:creationId xmlns:a16="http://schemas.microsoft.com/office/drawing/2014/main" id="{2F923EEE-698C-D9BE-7E52-F12016221B2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133898" y="3507402"/>
              <a:ext cx="674615" cy="674615"/>
            </a:xfrm>
            <a:prstGeom prst="rect">
              <a:avLst/>
            </a:prstGeom>
          </p:spPr>
        </p:pic>
        <p:pic>
          <p:nvPicPr>
            <p:cNvPr id="7" name="Obrázek 6">
              <a:extLst>
                <a:ext uri="{FF2B5EF4-FFF2-40B4-BE49-F238E27FC236}">
                  <a16:creationId xmlns:a16="http://schemas.microsoft.com/office/drawing/2014/main" id="{92BA7C48-85D8-E9AD-1982-5551920A684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966954" y="3521273"/>
              <a:ext cx="674615" cy="674615"/>
            </a:xfrm>
            <a:prstGeom prst="rect">
              <a:avLst/>
            </a:prstGeom>
          </p:spPr>
        </p:pic>
        <p:pic>
          <p:nvPicPr>
            <p:cNvPr id="8" name="Obrázek 7">
              <a:extLst>
                <a:ext uri="{FF2B5EF4-FFF2-40B4-BE49-F238E27FC236}">
                  <a16:creationId xmlns:a16="http://schemas.microsoft.com/office/drawing/2014/main" id="{2051641A-928C-5A67-EB35-F9944CE44DA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800010" y="3521273"/>
              <a:ext cx="674615" cy="674615"/>
            </a:xfrm>
            <a:prstGeom prst="rect">
              <a:avLst/>
            </a:prstGeom>
          </p:spPr>
        </p:pic>
        <p:pic>
          <p:nvPicPr>
            <p:cNvPr id="9" name="Obrázek 8">
              <a:extLst>
                <a:ext uri="{FF2B5EF4-FFF2-40B4-BE49-F238E27FC236}">
                  <a16:creationId xmlns:a16="http://schemas.microsoft.com/office/drawing/2014/main" id="{933126EE-9AB4-50D0-2210-E703DBBC391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142866" y="4154347"/>
              <a:ext cx="674615" cy="674615"/>
            </a:xfrm>
            <a:prstGeom prst="rect">
              <a:avLst/>
            </a:prstGeom>
          </p:spPr>
        </p:pic>
        <p:pic>
          <p:nvPicPr>
            <p:cNvPr id="10" name="Obrázek 9">
              <a:extLst>
                <a:ext uri="{FF2B5EF4-FFF2-40B4-BE49-F238E27FC236}">
                  <a16:creationId xmlns:a16="http://schemas.microsoft.com/office/drawing/2014/main" id="{768AF68D-5790-9309-C9B5-E9642714A5E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975922" y="4168218"/>
              <a:ext cx="674615" cy="674615"/>
            </a:xfrm>
            <a:prstGeom prst="rect">
              <a:avLst/>
            </a:prstGeom>
          </p:spPr>
        </p:pic>
        <p:pic>
          <p:nvPicPr>
            <p:cNvPr id="11" name="Obrázek 10">
              <a:extLst>
                <a:ext uri="{FF2B5EF4-FFF2-40B4-BE49-F238E27FC236}">
                  <a16:creationId xmlns:a16="http://schemas.microsoft.com/office/drawing/2014/main" id="{F5F0B1C9-3EB7-56F3-3AC3-E9B2C60B912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808978" y="4168218"/>
              <a:ext cx="674615" cy="674615"/>
            </a:xfrm>
            <a:prstGeom prst="rect">
              <a:avLst/>
            </a:prstGeom>
          </p:spPr>
        </p:pic>
      </p:grpSp>
      <p:pic>
        <p:nvPicPr>
          <p:cNvPr id="31" name="Obrázek 30">
            <a:extLst>
              <a:ext uri="{FF2B5EF4-FFF2-40B4-BE49-F238E27FC236}">
                <a16:creationId xmlns:a16="http://schemas.microsoft.com/office/drawing/2014/main" id="{CA4C0FAF-9E6E-AD8A-2FDC-A97EEEEA17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03837" y="877343"/>
            <a:ext cx="1182380" cy="1182380"/>
          </a:xfrm>
          <a:prstGeom prst="rect">
            <a:avLst/>
          </a:prstGeom>
        </p:spPr>
      </p:pic>
      <p:pic>
        <p:nvPicPr>
          <p:cNvPr id="35" name="Obrázek 34">
            <a:extLst>
              <a:ext uri="{FF2B5EF4-FFF2-40B4-BE49-F238E27FC236}">
                <a16:creationId xmlns:a16="http://schemas.microsoft.com/office/drawing/2014/main" id="{40A53238-5577-7D59-B47F-148043D2F3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0868" y="811936"/>
            <a:ext cx="1182380" cy="1182380"/>
          </a:xfrm>
          <a:prstGeom prst="rect">
            <a:avLst/>
          </a:prstGeom>
        </p:spPr>
      </p:pic>
      <p:pic>
        <p:nvPicPr>
          <p:cNvPr id="37" name="Obrázek 36">
            <a:extLst>
              <a:ext uri="{FF2B5EF4-FFF2-40B4-BE49-F238E27FC236}">
                <a16:creationId xmlns:a16="http://schemas.microsoft.com/office/drawing/2014/main" id="{C5277A01-F96E-ABD8-40C9-B4EA4F6411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814709">
            <a:off x="3528903" y="5470345"/>
            <a:ext cx="537137" cy="537137"/>
          </a:xfrm>
          <a:prstGeom prst="rect">
            <a:avLst/>
          </a:prstGeom>
        </p:spPr>
      </p:pic>
      <p:pic>
        <p:nvPicPr>
          <p:cNvPr id="39" name="Obrázek 38">
            <a:extLst>
              <a:ext uri="{FF2B5EF4-FFF2-40B4-BE49-F238E27FC236}">
                <a16:creationId xmlns:a16="http://schemas.microsoft.com/office/drawing/2014/main" id="{FAD02979-59F5-0110-A742-38FF9B81B1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0111314">
            <a:off x="2138500" y="5355610"/>
            <a:ext cx="537137" cy="537137"/>
          </a:xfrm>
          <a:prstGeom prst="rect">
            <a:avLst/>
          </a:prstGeom>
        </p:spPr>
      </p:pic>
      <p:pic>
        <p:nvPicPr>
          <p:cNvPr id="40" name="Obrázek 39">
            <a:extLst>
              <a:ext uri="{FF2B5EF4-FFF2-40B4-BE49-F238E27FC236}">
                <a16:creationId xmlns:a16="http://schemas.microsoft.com/office/drawing/2014/main" id="{982D996B-77D3-BECF-1DC6-479FABC643D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814709">
            <a:off x="9583881" y="5531454"/>
            <a:ext cx="537137" cy="537137"/>
          </a:xfrm>
          <a:prstGeom prst="rect">
            <a:avLst/>
          </a:prstGeom>
        </p:spPr>
      </p:pic>
      <p:pic>
        <p:nvPicPr>
          <p:cNvPr id="41" name="Obrázek 40">
            <a:extLst>
              <a:ext uri="{FF2B5EF4-FFF2-40B4-BE49-F238E27FC236}">
                <a16:creationId xmlns:a16="http://schemas.microsoft.com/office/drawing/2014/main" id="{2B769C45-0D19-FA56-D1D9-01225581DD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0111314">
            <a:off x="8193478" y="5416719"/>
            <a:ext cx="537137" cy="537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17881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Obrázek 27">
            <a:extLst>
              <a:ext uri="{FF2B5EF4-FFF2-40B4-BE49-F238E27FC236}">
                <a16:creationId xmlns:a16="http://schemas.microsoft.com/office/drawing/2014/main" id="{13B12032-D9C3-7A2F-B774-B6209813EB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4912" y="1309687"/>
            <a:ext cx="9782175" cy="4238625"/>
          </a:xfrm>
          <a:prstGeom prst="rect">
            <a:avLst/>
          </a:prstGeom>
        </p:spPr>
      </p:pic>
      <p:sp>
        <p:nvSpPr>
          <p:cNvPr id="2" name="Zástupný obsah 2">
            <a:extLst>
              <a:ext uri="{FF2B5EF4-FFF2-40B4-BE49-F238E27FC236}">
                <a16:creationId xmlns:a16="http://schemas.microsoft.com/office/drawing/2014/main" id="{27ABF9FF-BE30-E675-6DB7-626FB7B62F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230" y="253457"/>
            <a:ext cx="11007055" cy="660123"/>
          </a:xfrm>
        </p:spPr>
        <p:txBody>
          <a:bodyPr/>
          <a:lstStyle/>
          <a:p>
            <a:pPr marL="0" indent="0">
              <a:buNone/>
            </a:pPr>
            <a:r>
              <a:rPr lang="cs-CZ" dirty="0">
                <a:solidFill>
                  <a:srgbClr val="263238"/>
                </a:solidFill>
                <a:latin typeface="Amasis MT Pro Black" panose="02040A04050005020304" pitchFamily="18" charset="-18"/>
              </a:rPr>
              <a:t>Jednoduchý kód </a:t>
            </a:r>
            <a:r>
              <a:rPr lang="cs-CZ" dirty="0" err="1">
                <a:solidFill>
                  <a:srgbClr val="263238"/>
                </a:solidFill>
                <a:latin typeface="Amasis MT Pro Black" panose="02040A04050005020304" pitchFamily="18" charset="-18"/>
              </a:rPr>
              <a:t>DoS</a:t>
            </a:r>
            <a:r>
              <a:rPr lang="cs-CZ" dirty="0">
                <a:solidFill>
                  <a:srgbClr val="263238"/>
                </a:solidFill>
                <a:latin typeface="Amasis MT Pro Black" panose="02040A04050005020304" pitchFamily="18" charset="-18"/>
              </a:rPr>
              <a:t> útoku v Pythonu, užití HTTP </a:t>
            </a:r>
            <a:r>
              <a:rPr lang="cs-CZ" dirty="0" err="1">
                <a:solidFill>
                  <a:srgbClr val="263238"/>
                </a:solidFill>
                <a:latin typeface="Amasis MT Pro Black" panose="02040A04050005020304" pitchFamily="18" charset="-18"/>
              </a:rPr>
              <a:t>Flood</a:t>
            </a:r>
            <a:endParaRPr lang="cs-CZ" dirty="0">
              <a:solidFill>
                <a:srgbClr val="263238"/>
              </a:solidFill>
              <a:latin typeface="Amasis MT Pro Black" panose="02040A04050005020304" pitchFamily="18" charset="-18"/>
            </a:endParaRPr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3F497377-08A7-3B2E-0000-7AA461AC68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1745" y="1469946"/>
            <a:ext cx="1207851" cy="1207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0964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99DC537-9E72-3F59-5E6E-354C96387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>
                <a:solidFill>
                  <a:schemeClr val="bg1"/>
                </a:solidFill>
                <a:latin typeface="Amasis MT Pro Black" panose="02040A04050005020304" pitchFamily="18" charset="-18"/>
              </a:rPr>
              <a:t>Phishing</a:t>
            </a:r>
            <a:endParaRPr lang="cs-CZ" dirty="0">
              <a:solidFill>
                <a:schemeClr val="bg1"/>
              </a:solidFill>
              <a:latin typeface="Amasis MT Pro Black" panose="02040A04050005020304" pitchFamily="18" charset="-18"/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0891573-74D9-DC0B-A60D-6726B65ED0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25302"/>
            <a:ext cx="10515600" cy="4351338"/>
          </a:xfrm>
        </p:spPr>
        <p:txBody>
          <a:bodyPr/>
          <a:lstStyle/>
          <a:p>
            <a:r>
              <a:rPr lang="cs-CZ" dirty="0">
                <a:solidFill>
                  <a:schemeClr val="bg1"/>
                </a:solidFill>
                <a:latin typeface="Amasis MT Pro Black" panose="02040A04050005020304" pitchFamily="18" charset="-18"/>
              </a:rPr>
              <a:t>Vytváření klamných komunikací (obvykle e-mail nebo webové stránky), které vypadají jako opravdové</a:t>
            </a:r>
          </a:p>
          <a:p>
            <a:r>
              <a:rPr lang="cs-CZ" dirty="0">
                <a:solidFill>
                  <a:schemeClr val="bg1"/>
                </a:solidFill>
                <a:latin typeface="Amasis MT Pro Black" panose="02040A04050005020304" pitchFamily="18" charset="-18"/>
              </a:rPr>
              <a:t>Cílem je přesvědčit oběť aby sama sdílela své osobní údaje (hesla, bankovní informace a jiné osobní údaje)</a:t>
            </a:r>
          </a:p>
          <a:p>
            <a:endParaRPr lang="cs-CZ" dirty="0">
              <a:solidFill>
                <a:schemeClr val="bg1"/>
              </a:solidFill>
              <a:latin typeface="Amasis MT Pro Black" panose="02040A04050005020304" pitchFamily="18" charset="-18"/>
            </a:endParaRPr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C5C670C2-30DF-961D-3778-40402186C2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2434" y="0"/>
            <a:ext cx="1770434" cy="1770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3726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rázek 6">
            <a:extLst>
              <a:ext uri="{FF2B5EF4-FFF2-40B4-BE49-F238E27FC236}">
                <a16:creationId xmlns:a16="http://schemas.microsoft.com/office/drawing/2014/main" id="{369BAEA4-3CA7-5744-5D24-0E8F48F3E46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4762"/>
          <a:stretch/>
        </p:blipFill>
        <p:spPr>
          <a:xfrm>
            <a:off x="344246" y="1446679"/>
            <a:ext cx="4959804" cy="4514850"/>
          </a:xfrm>
          <a:prstGeom prst="rect">
            <a:avLst/>
          </a:prstGeom>
        </p:spPr>
      </p:pic>
      <p:pic>
        <p:nvPicPr>
          <p:cNvPr id="9" name="Obrázek 8">
            <a:extLst>
              <a:ext uri="{FF2B5EF4-FFF2-40B4-BE49-F238E27FC236}">
                <a16:creationId xmlns:a16="http://schemas.microsoft.com/office/drawing/2014/main" id="{ACE3192C-530E-0B41-042B-9AFFC328E4A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24762"/>
          <a:stretch/>
        </p:blipFill>
        <p:spPr>
          <a:xfrm>
            <a:off x="6887951" y="1446679"/>
            <a:ext cx="4882740" cy="4514850"/>
          </a:xfrm>
          <a:prstGeom prst="rect">
            <a:avLst/>
          </a:prstGeom>
        </p:spPr>
      </p:pic>
      <p:cxnSp>
        <p:nvCxnSpPr>
          <p:cNvPr id="11" name="Přímá spojnice 10">
            <a:extLst>
              <a:ext uri="{FF2B5EF4-FFF2-40B4-BE49-F238E27FC236}">
                <a16:creationId xmlns:a16="http://schemas.microsoft.com/office/drawing/2014/main" id="{AF2B6672-13C6-F77D-C5EB-3D7F4D35C6AF}"/>
              </a:ext>
            </a:extLst>
          </p:cNvPr>
          <p:cNvCxnSpPr/>
          <p:nvPr/>
        </p:nvCxnSpPr>
        <p:spPr>
          <a:xfrm>
            <a:off x="6107206" y="1446679"/>
            <a:ext cx="0" cy="451485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Zástupný obsah 2">
            <a:extLst>
              <a:ext uri="{FF2B5EF4-FFF2-40B4-BE49-F238E27FC236}">
                <a16:creationId xmlns:a16="http://schemas.microsoft.com/office/drawing/2014/main" id="{7D181E0D-CB6B-D7D4-057B-660E893BC7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353" y="244521"/>
            <a:ext cx="10785896" cy="10699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dirty="0">
                <a:solidFill>
                  <a:schemeClr val="bg1"/>
                </a:solidFill>
                <a:latin typeface="Amasis MT Pro Black" panose="02040A04050005020304" pitchFamily="18" charset="-18"/>
              </a:rPr>
              <a:t>Na první pohled dvě totožné webové stránky…</a:t>
            </a:r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FF026458-130F-9442-2F9C-403F69CE58D1}"/>
              </a:ext>
            </a:extLst>
          </p:cNvPr>
          <p:cNvSpPr txBox="1"/>
          <p:nvPr/>
        </p:nvSpPr>
        <p:spPr>
          <a:xfrm>
            <a:off x="10298096" y="6383045"/>
            <a:ext cx="23792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1200" dirty="0">
                <a:solidFill>
                  <a:schemeClr val="bg1"/>
                </a:solidFill>
                <a:latin typeface="Amasis MT Pro Black" panose="02040A04050005020304" pitchFamily="18" charset="-18"/>
              </a:rPr>
              <a:t>Tohle není reklama na </a:t>
            </a:r>
            <a:r>
              <a:rPr lang="cs-CZ" sz="1200" dirty="0" err="1">
                <a:solidFill>
                  <a:schemeClr val="bg1"/>
                </a:solidFill>
                <a:latin typeface="Amasis MT Pro Black" panose="02040A04050005020304" pitchFamily="18" charset="-18"/>
              </a:rPr>
              <a:t>Raiffeisen</a:t>
            </a:r>
            <a:r>
              <a:rPr lang="cs-CZ" sz="1200" dirty="0">
                <a:solidFill>
                  <a:schemeClr val="bg1"/>
                </a:solidFill>
                <a:latin typeface="Amasis MT Pro Black" panose="02040A04050005020304" pitchFamily="18" charset="-18"/>
              </a:rPr>
              <a:t> Bank :)</a:t>
            </a:r>
          </a:p>
          <a:p>
            <a:endParaRPr lang="cs-CZ" sz="1200" dirty="0">
              <a:latin typeface="Amasis MT Pro Black" panose="02040A04050005020304" pitchFamily="18" charset="-18"/>
            </a:endParaRPr>
          </a:p>
        </p:txBody>
      </p:sp>
    </p:spTree>
    <p:extLst>
      <p:ext uri="{BB962C8B-B14F-4D97-AF65-F5344CB8AC3E}">
        <p14:creationId xmlns:p14="http://schemas.microsoft.com/office/powerpoint/2010/main" val="2770362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rázek 6">
            <a:extLst>
              <a:ext uri="{FF2B5EF4-FFF2-40B4-BE49-F238E27FC236}">
                <a16:creationId xmlns:a16="http://schemas.microsoft.com/office/drawing/2014/main" id="{369BAEA4-3CA7-5744-5D24-0E8F48F3E46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479" r="42449" b="94890"/>
          <a:stretch/>
        </p:blipFill>
        <p:spPr>
          <a:xfrm>
            <a:off x="923731" y="3119143"/>
            <a:ext cx="4840570" cy="878400"/>
          </a:xfrm>
          <a:prstGeom prst="rect">
            <a:avLst/>
          </a:prstGeom>
        </p:spPr>
      </p:pic>
      <p:pic>
        <p:nvPicPr>
          <p:cNvPr id="9" name="Obrázek 8">
            <a:extLst>
              <a:ext uri="{FF2B5EF4-FFF2-40B4-BE49-F238E27FC236}">
                <a16:creationId xmlns:a16="http://schemas.microsoft.com/office/drawing/2014/main" id="{ACE3192C-530E-0B41-042B-9AFFC328E4A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3638" r="40807" b="94274"/>
          <a:stretch/>
        </p:blipFill>
        <p:spPr>
          <a:xfrm>
            <a:off x="6584304" y="3119143"/>
            <a:ext cx="4994979" cy="879022"/>
          </a:xfrm>
          <a:prstGeom prst="rect">
            <a:avLst/>
          </a:prstGeom>
        </p:spPr>
      </p:pic>
      <p:cxnSp>
        <p:nvCxnSpPr>
          <p:cNvPr id="11" name="Přímá spojnice 10">
            <a:extLst>
              <a:ext uri="{FF2B5EF4-FFF2-40B4-BE49-F238E27FC236}">
                <a16:creationId xmlns:a16="http://schemas.microsoft.com/office/drawing/2014/main" id="{AF2B6672-13C6-F77D-C5EB-3D7F4D35C6AF}"/>
              </a:ext>
            </a:extLst>
          </p:cNvPr>
          <p:cNvCxnSpPr>
            <a:cxnSpLocks/>
          </p:cNvCxnSpPr>
          <p:nvPr/>
        </p:nvCxnSpPr>
        <p:spPr>
          <a:xfrm>
            <a:off x="6134100" y="2277035"/>
            <a:ext cx="0" cy="2680447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C5589F2-3749-69BB-6C77-7D2A70A1EB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120" y="244521"/>
            <a:ext cx="11860300" cy="10699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dirty="0">
                <a:solidFill>
                  <a:schemeClr val="bg1"/>
                </a:solidFill>
                <a:latin typeface="Amasis MT Pro Black" panose="02040A04050005020304" pitchFamily="18" charset="-18"/>
              </a:rPr>
              <a:t>Ovšem s jinou URL adresou – těžce rozpoznatelné která je pravá</a:t>
            </a:r>
          </a:p>
        </p:txBody>
      </p:sp>
      <p:sp>
        <p:nvSpPr>
          <p:cNvPr id="10" name="TextovéPole 9">
            <a:extLst>
              <a:ext uri="{FF2B5EF4-FFF2-40B4-BE49-F238E27FC236}">
                <a16:creationId xmlns:a16="http://schemas.microsoft.com/office/drawing/2014/main" id="{7D277D0B-1FF5-D544-64DA-6C394D529EED}"/>
              </a:ext>
            </a:extLst>
          </p:cNvPr>
          <p:cNvSpPr txBox="1"/>
          <p:nvPr/>
        </p:nvSpPr>
        <p:spPr>
          <a:xfrm>
            <a:off x="10298096" y="6383045"/>
            <a:ext cx="23792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1200" dirty="0">
                <a:solidFill>
                  <a:schemeClr val="bg1"/>
                </a:solidFill>
                <a:latin typeface="Amasis MT Pro Black" panose="02040A04050005020304" pitchFamily="18" charset="-18"/>
              </a:rPr>
              <a:t>Tohle není reklama na </a:t>
            </a:r>
            <a:r>
              <a:rPr lang="cs-CZ" sz="1200" dirty="0" err="1">
                <a:solidFill>
                  <a:schemeClr val="bg1"/>
                </a:solidFill>
                <a:latin typeface="Amasis MT Pro Black" panose="02040A04050005020304" pitchFamily="18" charset="-18"/>
              </a:rPr>
              <a:t>Raiffeisen</a:t>
            </a:r>
            <a:r>
              <a:rPr lang="cs-CZ" sz="1200" dirty="0">
                <a:solidFill>
                  <a:schemeClr val="bg1"/>
                </a:solidFill>
                <a:latin typeface="Amasis MT Pro Black" panose="02040A04050005020304" pitchFamily="18" charset="-18"/>
              </a:rPr>
              <a:t> Bank :)</a:t>
            </a:r>
          </a:p>
          <a:p>
            <a:endParaRPr lang="cs-CZ" sz="1200" dirty="0">
              <a:latin typeface="Amasis MT Pro Black" panose="02040A04050005020304" pitchFamily="18" charset="-18"/>
            </a:endParaRPr>
          </a:p>
        </p:txBody>
      </p:sp>
      <p:pic>
        <p:nvPicPr>
          <p:cNvPr id="13" name="Obrázek 12">
            <a:extLst>
              <a:ext uri="{FF2B5EF4-FFF2-40B4-BE49-F238E27FC236}">
                <a16:creationId xmlns:a16="http://schemas.microsoft.com/office/drawing/2014/main" id="{FD47F20E-E140-4C18-E301-D893133D6B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8726" y="5195463"/>
            <a:ext cx="1510747" cy="1510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1495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D1CDEF2-6611-E16E-422E-6531432AA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7202"/>
            <a:ext cx="10515600" cy="1325563"/>
          </a:xfrm>
        </p:spPr>
        <p:txBody>
          <a:bodyPr/>
          <a:lstStyle/>
          <a:p>
            <a:r>
              <a:rPr lang="cs-CZ" dirty="0" err="1">
                <a:solidFill>
                  <a:schemeClr val="bg1"/>
                </a:solidFill>
                <a:latin typeface="Amasis MT Pro Black" panose="02040A04050005020304" pitchFamily="18" charset="-18"/>
              </a:rPr>
              <a:t>Spoofing</a:t>
            </a:r>
            <a:endParaRPr lang="cs-CZ" dirty="0">
              <a:solidFill>
                <a:schemeClr val="bg1"/>
              </a:solidFill>
              <a:latin typeface="Amasis MT Pro Black" panose="02040A04050005020304" pitchFamily="18" charset="-18"/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9B8AAA3-50EA-67CB-4061-BC84F0B86E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6273"/>
            <a:ext cx="11192435" cy="5301049"/>
          </a:xfrm>
        </p:spPr>
        <p:txBody>
          <a:bodyPr>
            <a:normAutofit/>
          </a:bodyPr>
          <a:lstStyle/>
          <a:p>
            <a:pPr>
              <a:spcBef>
                <a:spcPts val="2000"/>
              </a:spcBef>
            </a:pPr>
            <a:r>
              <a:rPr lang="cs-CZ" dirty="0">
                <a:solidFill>
                  <a:schemeClr val="bg1"/>
                </a:solidFill>
                <a:latin typeface="Amasis MT Pro Black" panose="02040A04050005020304" pitchFamily="18" charset="-18"/>
              </a:rPr>
              <a:t>Falešné předstírání identity, s cílem oklamat, nebo získat neoprávněný přístup do systému</a:t>
            </a:r>
          </a:p>
          <a:p>
            <a:pPr>
              <a:spcBef>
                <a:spcPts val="2000"/>
              </a:spcBef>
            </a:pPr>
            <a:r>
              <a:rPr lang="cs-CZ" dirty="0">
                <a:solidFill>
                  <a:schemeClr val="bg1"/>
                </a:solidFill>
                <a:latin typeface="Amasis MT Pro Black" panose="02040A04050005020304" pitchFamily="18" charset="-18"/>
              </a:rPr>
              <a:t>IP </a:t>
            </a:r>
            <a:r>
              <a:rPr lang="cs-CZ" dirty="0" err="1">
                <a:solidFill>
                  <a:schemeClr val="bg1"/>
                </a:solidFill>
                <a:latin typeface="Amasis MT Pro Black" panose="02040A04050005020304" pitchFamily="18" charset="-18"/>
              </a:rPr>
              <a:t>spoofing</a:t>
            </a:r>
            <a:endParaRPr lang="cs-CZ" dirty="0">
              <a:solidFill>
                <a:schemeClr val="bg1"/>
              </a:solidFill>
              <a:latin typeface="Amasis MT Pro Black" panose="02040A04050005020304" pitchFamily="18" charset="-18"/>
            </a:endParaRPr>
          </a:p>
          <a:p>
            <a:pPr>
              <a:spcBef>
                <a:spcPts val="2000"/>
              </a:spcBef>
            </a:pPr>
            <a:r>
              <a:rPr lang="cs-CZ" dirty="0">
                <a:solidFill>
                  <a:schemeClr val="bg1"/>
                </a:solidFill>
                <a:latin typeface="Amasis MT Pro Black" panose="02040A04050005020304" pitchFamily="18" charset="-18"/>
              </a:rPr>
              <a:t>MAC </a:t>
            </a:r>
            <a:r>
              <a:rPr lang="cs-CZ" dirty="0" err="1">
                <a:solidFill>
                  <a:schemeClr val="bg1"/>
                </a:solidFill>
                <a:latin typeface="Amasis MT Pro Black" panose="02040A04050005020304" pitchFamily="18" charset="-18"/>
              </a:rPr>
              <a:t>spoofing</a:t>
            </a:r>
            <a:endParaRPr lang="cs-CZ" dirty="0">
              <a:solidFill>
                <a:schemeClr val="bg1"/>
              </a:solidFill>
              <a:latin typeface="Amasis MT Pro Black" panose="02040A04050005020304" pitchFamily="18" charset="-18"/>
            </a:endParaRPr>
          </a:p>
          <a:p>
            <a:pPr marL="0" indent="0">
              <a:spcBef>
                <a:spcPts val="2000"/>
              </a:spcBef>
              <a:buNone/>
            </a:pPr>
            <a:r>
              <a:rPr lang="cs-CZ" dirty="0">
                <a:solidFill>
                  <a:schemeClr val="bg1"/>
                </a:solidFill>
                <a:latin typeface="Amasis MT Pro Black" panose="02040A04050005020304" pitchFamily="18" charset="-18"/>
              </a:rPr>
              <a:t>	Změna zdrojové IP/MAC adresy tak, aby v síti 	vypadala věrohodně</a:t>
            </a:r>
          </a:p>
          <a:p>
            <a:pPr>
              <a:spcBef>
                <a:spcPts val="2000"/>
              </a:spcBef>
            </a:pPr>
            <a:r>
              <a:rPr lang="cs-CZ" dirty="0">
                <a:solidFill>
                  <a:schemeClr val="bg1"/>
                </a:solidFill>
                <a:latin typeface="Amasis MT Pro Black" panose="02040A04050005020304" pitchFamily="18" charset="-18"/>
              </a:rPr>
              <a:t>DNS </a:t>
            </a:r>
            <a:r>
              <a:rPr lang="cs-CZ" dirty="0" err="1">
                <a:solidFill>
                  <a:schemeClr val="bg1"/>
                </a:solidFill>
                <a:latin typeface="Amasis MT Pro Black" panose="02040A04050005020304" pitchFamily="18" charset="-18"/>
              </a:rPr>
              <a:t>spoofing</a:t>
            </a:r>
            <a:endParaRPr lang="cs-CZ" dirty="0">
              <a:solidFill>
                <a:schemeClr val="bg1"/>
              </a:solidFill>
              <a:latin typeface="Amasis MT Pro Black" panose="02040A04050005020304" pitchFamily="18" charset="-18"/>
            </a:endParaRPr>
          </a:p>
          <a:p>
            <a:pPr marL="0" indent="0">
              <a:spcBef>
                <a:spcPts val="2000"/>
              </a:spcBef>
              <a:buNone/>
            </a:pPr>
            <a:r>
              <a:rPr lang="cs-CZ" dirty="0">
                <a:solidFill>
                  <a:schemeClr val="bg1"/>
                </a:solidFill>
                <a:latin typeface="Amasis MT Pro Black" panose="02040A04050005020304" pitchFamily="18" charset="-18"/>
              </a:rPr>
              <a:t>	Manipulace DNS odpovědí, aby oběť nasměroval na 	falešné webové stránky</a:t>
            </a:r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368BAC94-5E48-CE70-16BB-E2F05E6A99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1940" y="1949031"/>
            <a:ext cx="1585609" cy="1585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1391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ovéPole 27">
            <a:extLst>
              <a:ext uri="{FF2B5EF4-FFF2-40B4-BE49-F238E27FC236}">
                <a16:creationId xmlns:a16="http://schemas.microsoft.com/office/drawing/2014/main" id="{B1133FAE-2CF5-6BFA-B3C5-94307707AC8B}"/>
              </a:ext>
            </a:extLst>
          </p:cNvPr>
          <p:cNvSpPr txBox="1"/>
          <p:nvPr/>
        </p:nvSpPr>
        <p:spPr>
          <a:xfrm>
            <a:off x="5156711" y="5953718"/>
            <a:ext cx="208365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2000" dirty="0">
                <a:solidFill>
                  <a:schemeClr val="bg1"/>
                </a:solidFill>
                <a:latin typeface="Amasis MT Pro Black" panose="02040A04050005020304" pitchFamily="18" charset="-18"/>
              </a:rPr>
              <a:t>Původní připojení</a:t>
            </a:r>
          </a:p>
        </p:txBody>
      </p:sp>
      <p:sp>
        <p:nvSpPr>
          <p:cNvPr id="39" name="Nadpis 1">
            <a:extLst>
              <a:ext uri="{FF2B5EF4-FFF2-40B4-BE49-F238E27FC236}">
                <a16:creationId xmlns:a16="http://schemas.microsoft.com/office/drawing/2014/main" id="{79DA98F2-4201-F7CA-F568-86B469187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186" y="196396"/>
            <a:ext cx="10515600" cy="1248471"/>
          </a:xfrm>
        </p:spPr>
        <p:txBody>
          <a:bodyPr/>
          <a:lstStyle/>
          <a:p>
            <a:r>
              <a:rPr lang="cs-CZ" dirty="0">
                <a:solidFill>
                  <a:schemeClr val="bg1"/>
                </a:solidFill>
                <a:latin typeface="Amasis MT Pro Black" panose="02040A04050005020304" pitchFamily="18" charset="-18"/>
              </a:rPr>
              <a:t>Man in </a:t>
            </a:r>
            <a:r>
              <a:rPr lang="cs-CZ" dirty="0" err="1">
                <a:solidFill>
                  <a:schemeClr val="bg1"/>
                </a:solidFill>
                <a:latin typeface="Amasis MT Pro Black" panose="02040A04050005020304" pitchFamily="18" charset="-18"/>
              </a:rPr>
              <a:t>the</a:t>
            </a:r>
            <a:r>
              <a:rPr lang="cs-CZ" dirty="0">
                <a:solidFill>
                  <a:schemeClr val="bg1"/>
                </a:solidFill>
                <a:latin typeface="Amasis MT Pro Black" panose="02040A04050005020304" pitchFamily="18" charset="-18"/>
              </a:rPr>
              <a:t> </a:t>
            </a:r>
            <a:r>
              <a:rPr lang="cs-CZ" dirty="0" err="1">
                <a:solidFill>
                  <a:schemeClr val="bg1"/>
                </a:solidFill>
                <a:latin typeface="Amasis MT Pro Black" panose="02040A04050005020304" pitchFamily="18" charset="-18"/>
              </a:rPr>
              <a:t>Middle</a:t>
            </a:r>
            <a:endParaRPr lang="cs-CZ" dirty="0">
              <a:solidFill>
                <a:schemeClr val="bg1"/>
              </a:solidFill>
              <a:latin typeface="Amasis MT Pro Black" panose="02040A04050005020304" pitchFamily="18" charset="-18"/>
            </a:endParaRPr>
          </a:p>
        </p:txBody>
      </p:sp>
      <p:sp>
        <p:nvSpPr>
          <p:cNvPr id="19" name="TextovéPole 18">
            <a:extLst>
              <a:ext uri="{FF2B5EF4-FFF2-40B4-BE49-F238E27FC236}">
                <a16:creationId xmlns:a16="http://schemas.microsoft.com/office/drawing/2014/main" id="{EFD17E9A-02B2-0549-843C-21B7DD50FF63}"/>
              </a:ext>
            </a:extLst>
          </p:cNvPr>
          <p:cNvSpPr txBox="1"/>
          <p:nvPr/>
        </p:nvSpPr>
        <p:spPr>
          <a:xfrm>
            <a:off x="5277076" y="3981353"/>
            <a:ext cx="19411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2000" dirty="0">
                <a:solidFill>
                  <a:schemeClr val="bg1"/>
                </a:solidFill>
                <a:latin typeface="Amasis MT Pro Black" panose="02040A04050005020304" pitchFamily="18" charset="-18"/>
              </a:rPr>
              <a:t>Nové připojení</a:t>
            </a:r>
          </a:p>
        </p:txBody>
      </p:sp>
      <p:sp>
        <p:nvSpPr>
          <p:cNvPr id="26" name="Zástupný obsah 2">
            <a:extLst>
              <a:ext uri="{FF2B5EF4-FFF2-40B4-BE49-F238E27FC236}">
                <a16:creationId xmlns:a16="http://schemas.microsoft.com/office/drawing/2014/main" id="{128D402D-EA6B-3D32-2A57-C726BC7953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3904" y="1347853"/>
            <a:ext cx="10515600" cy="1048514"/>
          </a:xfrm>
        </p:spPr>
        <p:txBody>
          <a:bodyPr/>
          <a:lstStyle/>
          <a:p>
            <a:pPr marL="0" indent="0">
              <a:buNone/>
            </a:pPr>
            <a:r>
              <a:rPr lang="cs-CZ" dirty="0">
                <a:solidFill>
                  <a:schemeClr val="bg1"/>
                </a:solidFill>
                <a:latin typeface="Amasis MT Pro Black" panose="02040A04050005020304" pitchFamily="18" charset="-18"/>
              </a:rPr>
              <a:t>Útočník se nachází mezi dvěma komunikujícími stranami a sleduje nebo upravuje komunikaci</a:t>
            </a:r>
          </a:p>
        </p:txBody>
      </p:sp>
      <p:pic>
        <p:nvPicPr>
          <p:cNvPr id="27" name="Obrázek 26">
            <a:extLst>
              <a:ext uri="{FF2B5EF4-FFF2-40B4-BE49-F238E27FC236}">
                <a16:creationId xmlns:a16="http://schemas.microsoft.com/office/drawing/2014/main" id="{682CCF36-7A11-B90B-F69A-114BFB7600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3146" y="5035237"/>
            <a:ext cx="1272424" cy="1272424"/>
          </a:xfrm>
          <a:prstGeom prst="rect">
            <a:avLst/>
          </a:prstGeom>
        </p:spPr>
      </p:pic>
      <p:pic>
        <p:nvPicPr>
          <p:cNvPr id="30" name="Obrázek 29">
            <a:extLst>
              <a:ext uri="{FF2B5EF4-FFF2-40B4-BE49-F238E27FC236}">
                <a16:creationId xmlns:a16="http://schemas.microsoft.com/office/drawing/2014/main" id="{BC87BA34-50E9-DF54-863C-E7E8E3B76B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7982" y="5035237"/>
            <a:ext cx="1272424" cy="1272424"/>
          </a:xfrm>
          <a:prstGeom prst="rect">
            <a:avLst/>
          </a:prstGeom>
        </p:spPr>
      </p:pic>
      <p:cxnSp>
        <p:nvCxnSpPr>
          <p:cNvPr id="36" name="Přímá spojnice 35">
            <a:extLst>
              <a:ext uri="{FF2B5EF4-FFF2-40B4-BE49-F238E27FC236}">
                <a16:creationId xmlns:a16="http://schemas.microsoft.com/office/drawing/2014/main" id="{565F2D9F-D7EB-7D8A-4217-F9999B182947}"/>
              </a:ext>
            </a:extLst>
          </p:cNvPr>
          <p:cNvCxnSpPr>
            <a:cxnSpLocks/>
          </p:cNvCxnSpPr>
          <p:nvPr/>
        </p:nvCxnSpPr>
        <p:spPr>
          <a:xfrm>
            <a:off x="3448878" y="5671449"/>
            <a:ext cx="5597554" cy="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Skupina 33">
            <a:extLst>
              <a:ext uri="{FF2B5EF4-FFF2-40B4-BE49-F238E27FC236}">
                <a16:creationId xmlns:a16="http://schemas.microsoft.com/office/drawing/2014/main" id="{29F0E32C-01A4-27DA-4BF2-7E934A65C0D5}"/>
              </a:ext>
            </a:extLst>
          </p:cNvPr>
          <p:cNvGrpSpPr/>
          <p:nvPr/>
        </p:nvGrpSpPr>
        <p:grpSpPr>
          <a:xfrm>
            <a:off x="5941158" y="5345831"/>
            <a:ext cx="651236" cy="651236"/>
            <a:chOff x="4858188" y="1206555"/>
            <a:chExt cx="1800808" cy="1800808"/>
          </a:xfrm>
        </p:grpSpPr>
        <p:sp>
          <p:nvSpPr>
            <p:cNvPr id="32" name="Obdélník 31">
              <a:extLst>
                <a:ext uri="{FF2B5EF4-FFF2-40B4-BE49-F238E27FC236}">
                  <a16:creationId xmlns:a16="http://schemas.microsoft.com/office/drawing/2014/main" id="{467616CE-F019-D605-8C13-10EC6DEE4EEA}"/>
                </a:ext>
              </a:extLst>
            </p:cNvPr>
            <p:cNvSpPr/>
            <p:nvPr/>
          </p:nvSpPr>
          <p:spPr>
            <a:xfrm rot="2700000">
              <a:off x="4858189" y="1965656"/>
              <a:ext cx="1800808" cy="28260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3" name="Obdélník 32">
              <a:extLst>
                <a:ext uri="{FF2B5EF4-FFF2-40B4-BE49-F238E27FC236}">
                  <a16:creationId xmlns:a16="http://schemas.microsoft.com/office/drawing/2014/main" id="{88AA1716-B9DF-1FA4-F88E-D3BDC4C9F41E}"/>
                </a:ext>
              </a:extLst>
            </p:cNvPr>
            <p:cNvSpPr/>
            <p:nvPr/>
          </p:nvSpPr>
          <p:spPr>
            <a:xfrm rot="8100000">
              <a:off x="4858188" y="1965656"/>
              <a:ext cx="1800808" cy="28260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  <p:cxnSp>
        <p:nvCxnSpPr>
          <p:cNvPr id="38" name="Přímá spojnice 37">
            <a:extLst>
              <a:ext uri="{FF2B5EF4-FFF2-40B4-BE49-F238E27FC236}">
                <a16:creationId xmlns:a16="http://schemas.microsoft.com/office/drawing/2014/main" id="{D4468C84-D541-9BC6-789A-648D34638F5F}"/>
              </a:ext>
            </a:extLst>
          </p:cNvPr>
          <p:cNvCxnSpPr>
            <a:cxnSpLocks/>
          </p:cNvCxnSpPr>
          <p:nvPr/>
        </p:nvCxnSpPr>
        <p:spPr>
          <a:xfrm flipV="1">
            <a:off x="3145570" y="3697357"/>
            <a:ext cx="2082388" cy="133788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Obrázek 41">
            <a:extLst>
              <a:ext uri="{FF2B5EF4-FFF2-40B4-BE49-F238E27FC236}">
                <a16:creationId xmlns:a16="http://schemas.microsoft.com/office/drawing/2014/main" id="{016179F4-7DCE-DA42-5140-D2658AB587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6465" y="2805043"/>
            <a:ext cx="1182380" cy="1182380"/>
          </a:xfrm>
          <a:prstGeom prst="rect">
            <a:avLst/>
          </a:prstGeom>
        </p:spPr>
      </p:pic>
      <p:cxnSp>
        <p:nvCxnSpPr>
          <p:cNvPr id="48" name="Přímá spojnice 47">
            <a:extLst>
              <a:ext uri="{FF2B5EF4-FFF2-40B4-BE49-F238E27FC236}">
                <a16:creationId xmlns:a16="http://schemas.microsoft.com/office/drawing/2014/main" id="{6875FFD9-8449-6A19-858A-498821264F66}"/>
              </a:ext>
            </a:extLst>
          </p:cNvPr>
          <p:cNvCxnSpPr>
            <a:cxnSpLocks/>
          </p:cNvCxnSpPr>
          <p:nvPr/>
        </p:nvCxnSpPr>
        <p:spPr>
          <a:xfrm flipH="1" flipV="1">
            <a:off x="7148191" y="3679064"/>
            <a:ext cx="2082388" cy="133788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Obrázek 48">
            <a:extLst>
              <a:ext uri="{FF2B5EF4-FFF2-40B4-BE49-F238E27FC236}">
                <a16:creationId xmlns:a16="http://schemas.microsoft.com/office/drawing/2014/main" id="{7A201AB8-4976-D082-A4E6-9854EA89AC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814709">
            <a:off x="6505709" y="5094655"/>
            <a:ext cx="537137" cy="537137"/>
          </a:xfrm>
          <a:prstGeom prst="rect">
            <a:avLst/>
          </a:prstGeom>
        </p:spPr>
      </p:pic>
      <p:pic>
        <p:nvPicPr>
          <p:cNvPr id="50" name="Obrázek 49">
            <a:extLst>
              <a:ext uri="{FF2B5EF4-FFF2-40B4-BE49-F238E27FC236}">
                <a16:creationId xmlns:a16="http://schemas.microsoft.com/office/drawing/2014/main" id="{3A6EDB1B-1228-FCD7-382D-D30DC3AC90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9510084">
            <a:off x="5483565" y="5104854"/>
            <a:ext cx="537137" cy="537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8280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9903E-9365-11A8-132E-EDABE2D31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41C0B2E-1E9F-A4B0-8A6A-C543F62D62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79B2427-273F-7ABC-1811-F11679C8F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101010 datové řádky do nekonečna">
            <a:extLst>
              <a:ext uri="{FF2B5EF4-FFF2-40B4-BE49-F238E27FC236}">
                <a16:creationId xmlns:a16="http://schemas.microsoft.com/office/drawing/2014/main" id="{635EEE5D-929B-96C3-4D7A-F8AAABB7CBA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104" r="2600" b="1"/>
          <a:stretch/>
        </p:blipFill>
        <p:spPr>
          <a:xfrm>
            <a:off x="2522358" y="10"/>
            <a:ext cx="9669642" cy="6857990"/>
          </a:xfrm>
          <a:prstGeom prst="rect">
            <a:avLst/>
          </a:prstGeom>
        </p:spPr>
      </p:pic>
      <p:sp>
        <p:nvSpPr>
          <p:cNvPr id="3" name="Obdélník 2">
            <a:extLst>
              <a:ext uri="{FF2B5EF4-FFF2-40B4-BE49-F238E27FC236}">
                <a16:creationId xmlns:a16="http://schemas.microsoft.com/office/drawing/2014/main" id="{A7EB1421-6AFF-81A7-EC85-A4241127A817}"/>
              </a:ext>
            </a:extLst>
          </p:cNvPr>
          <p:cNvSpPr/>
          <p:nvPr/>
        </p:nvSpPr>
        <p:spPr>
          <a:xfrm>
            <a:off x="-1" y="0"/>
            <a:ext cx="10945092" cy="6858000"/>
          </a:xfrm>
          <a:prstGeom prst="rect">
            <a:avLst/>
          </a:prstGeom>
          <a:gradFill flip="none" rotWithShape="1">
            <a:gsLst>
              <a:gs pos="66000">
                <a:srgbClr val="777E82">
                  <a:alpha val="50196"/>
                </a:srgbClr>
              </a:gs>
              <a:gs pos="32000">
                <a:srgbClr val="3D484D"/>
              </a:gs>
              <a:gs pos="9000">
                <a:srgbClr val="263238"/>
              </a:gs>
              <a:gs pos="100000">
                <a:srgbClr val="E3E4E4">
                  <a:alpha val="0"/>
                </a:srgbClr>
              </a:gs>
            </a:gsLst>
            <a:lin ang="0" scaled="1"/>
            <a:tileRect/>
          </a:gradFill>
          <a:ln>
            <a:solidFill>
              <a:srgbClr val="2632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ED96D091-89D1-4D0F-B366-F11B8F7E2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139" y="1712067"/>
            <a:ext cx="6372699" cy="2373211"/>
          </a:xfrm>
          <a:noFill/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cs-CZ" sz="4800" b="1" dirty="0">
                <a:solidFill>
                  <a:schemeClr val="bg1"/>
                </a:solidFill>
                <a:latin typeface="Amasis MT Pro Black" panose="02040A04050005020304" pitchFamily="18" charset="-18"/>
              </a:rPr>
              <a:t>Prostředky kybernetické ochrany</a:t>
            </a:r>
            <a:endParaRPr lang="en-US" sz="5200" b="1" dirty="0">
              <a:solidFill>
                <a:schemeClr val="bg1"/>
              </a:solidFill>
              <a:latin typeface="Amasis MT Pro Black" panose="02040A04050005020304" pitchFamily="18" charset="-18"/>
            </a:endParaRPr>
          </a:p>
        </p:txBody>
      </p:sp>
    </p:spTree>
    <p:extLst>
      <p:ext uri="{BB962C8B-B14F-4D97-AF65-F5344CB8AC3E}">
        <p14:creationId xmlns:p14="http://schemas.microsoft.com/office/powerpoint/2010/main" val="930455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60DC88B-F98A-4709-C3B9-FFB40B303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321" y="96716"/>
            <a:ext cx="11140751" cy="1325563"/>
          </a:xfrm>
        </p:spPr>
        <p:txBody>
          <a:bodyPr/>
          <a:lstStyle/>
          <a:p>
            <a:r>
              <a:rPr lang="cs-CZ" dirty="0">
                <a:solidFill>
                  <a:schemeClr val="bg1"/>
                </a:solidFill>
                <a:latin typeface="Amasis MT Pro Black" panose="02040A04050005020304" pitchFamily="18" charset="-18"/>
              </a:rPr>
              <a:t>Antivirový a </a:t>
            </a:r>
            <a:r>
              <a:rPr lang="cs-CZ" dirty="0" err="1">
                <a:solidFill>
                  <a:schemeClr val="bg1"/>
                </a:solidFill>
                <a:latin typeface="Amasis MT Pro Black" panose="02040A04050005020304" pitchFamily="18" charset="-18"/>
              </a:rPr>
              <a:t>Antimalwarový</a:t>
            </a:r>
            <a:r>
              <a:rPr lang="cs-CZ" dirty="0">
                <a:solidFill>
                  <a:schemeClr val="bg1"/>
                </a:solidFill>
                <a:latin typeface="Amasis MT Pro Black" panose="02040A04050005020304" pitchFamily="18" charset="-18"/>
              </a:rPr>
              <a:t> software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58BF1AF-B5D1-0446-06F8-08A703B241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167" y="1336431"/>
            <a:ext cx="11140750" cy="5424853"/>
          </a:xfrm>
        </p:spPr>
        <p:txBody>
          <a:bodyPr anchor="ctr">
            <a:normAutofit fontScale="62500" lnSpcReduction="20000"/>
          </a:bodyPr>
          <a:lstStyle/>
          <a:p>
            <a:pPr>
              <a:spcBef>
                <a:spcPts val="2000"/>
              </a:spcBef>
            </a:pPr>
            <a:r>
              <a:rPr lang="cs-CZ" sz="4000" dirty="0">
                <a:solidFill>
                  <a:schemeClr val="bg1"/>
                </a:solidFill>
                <a:latin typeface="Amasis MT Pro Black" panose="02040A04050005020304" pitchFamily="18" charset="-18"/>
              </a:rPr>
              <a:t>Identifikace, odstranění a prevence za použití technik:</a:t>
            </a:r>
          </a:p>
          <a:p>
            <a:pPr marL="0" indent="0">
              <a:spcBef>
                <a:spcPts val="2000"/>
              </a:spcBef>
              <a:buNone/>
            </a:pPr>
            <a:endParaRPr lang="cs-CZ" sz="4000" dirty="0">
              <a:solidFill>
                <a:schemeClr val="bg1"/>
              </a:solidFill>
              <a:latin typeface="Amasis MT Pro Black" panose="02040A04050005020304" pitchFamily="18" charset="-18"/>
            </a:endParaRPr>
          </a:p>
          <a:p>
            <a:pPr>
              <a:spcBef>
                <a:spcPts val="2000"/>
              </a:spcBef>
            </a:pPr>
            <a:r>
              <a:rPr lang="cs-CZ" sz="4000" dirty="0">
                <a:solidFill>
                  <a:schemeClr val="bg1"/>
                </a:solidFill>
                <a:latin typeface="Amasis MT Pro Black" panose="02040A04050005020304" pitchFamily="18" charset="-18"/>
              </a:rPr>
              <a:t>Databáze signatur - porovnává chování souboru s databází škodlivých souborů </a:t>
            </a:r>
          </a:p>
          <a:p>
            <a:pPr>
              <a:spcBef>
                <a:spcPts val="2000"/>
              </a:spcBef>
            </a:pPr>
            <a:r>
              <a:rPr lang="cs-CZ" sz="4000" dirty="0">
                <a:solidFill>
                  <a:schemeClr val="bg1"/>
                </a:solidFill>
                <a:latin typeface="Amasis MT Pro Black" panose="02040A04050005020304" pitchFamily="18" charset="-18"/>
              </a:rPr>
              <a:t>Heuristická analýza - zkoumá chování souborů a programů na základě obecných znaků </a:t>
            </a:r>
          </a:p>
          <a:p>
            <a:pPr>
              <a:spcBef>
                <a:spcPts val="2000"/>
              </a:spcBef>
            </a:pPr>
            <a:r>
              <a:rPr lang="cs-CZ" sz="4000" dirty="0">
                <a:solidFill>
                  <a:schemeClr val="bg1"/>
                </a:solidFill>
                <a:latin typeface="Amasis MT Pro Black" panose="02040A04050005020304" pitchFamily="18" charset="-18"/>
              </a:rPr>
              <a:t>Behaviorální analýza – v reálném čase se analyzují interakce souborů s ostatními systémovými komponentami (Procesy, souborové systémy, síťová komunikace), což umožňuje odhalit anomálie.</a:t>
            </a:r>
          </a:p>
          <a:p>
            <a:pPr>
              <a:spcBef>
                <a:spcPts val="2000"/>
              </a:spcBef>
            </a:pPr>
            <a:r>
              <a:rPr lang="cs-CZ" sz="4000" dirty="0" err="1">
                <a:solidFill>
                  <a:schemeClr val="bg1"/>
                </a:solidFill>
                <a:latin typeface="Amasis MT Pro Black" panose="02040A04050005020304" pitchFamily="18" charset="-18"/>
              </a:rPr>
              <a:t>Sandboxing</a:t>
            </a:r>
            <a:r>
              <a:rPr lang="cs-CZ" sz="4000" dirty="0">
                <a:solidFill>
                  <a:schemeClr val="bg1"/>
                </a:solidFill>
                <a:latin typeface="Amasis MT Pro Black" panose="02040A04050005020304" pitchFamily="18" charset="-18"/>
              </a:rPr>
              <a:t> - vytvoření izolovaného prostředí (něco jako virtuální počítač), kde dochází ke zkoumání souboru</a:t>
            </a:r>
          </a:p>
          <a:p>
            <a:pPr marL="0" indent="0">
              <a:spcBef>
                <a:spcPct val="0"/>
              </a:spcBef>
              <a:buNone/>
            </a:pPr>
            <a:endParaRPr lang="cs-CZ" dirty="0">
              <a:solidFill>
                <a:schemeClr val="bg1"/>
              </a:solidFill>
              <a:latin typeface="Amasis MT Pro Black" panose="02040A04050005020304" pitchFamily="18" charset="-18"/>
            </a:endParaRPr>
          </a:p>
          <a:p>
            <a:pPr marL="0" indent="0">
              <a:spcBef>
                <a:spcPct val="0"/>
              </a:spcBef>
              <a:buNone/>
            </a:pPr>
            <a:endParaRPr lang="cs-CZ" dirty="0">
              <a:solidFill>
                <a:schemeClr val="bg1"/>
              </a:solidFill>
              <a:latin typeface="Amasis MT Pro Black" panose="02040A04050005020304" pitchFamily="18" charset="-18"/>
            </a:endParaRPr>
          </a:p>
          <a:p>
            <a:pPr marL="0" indent="0">
              <a:spcBef>
                <a:spcPct val="0"/>
              </a:spcBef>
              <a:buNone/>
            </a:pPr>
            <a:r>
              <a:rPr lang="cs-CZ" dirty="0">
                <a:solidFill>
                  <a:schemeClr val="bg1"/>
                </a:solidFill>
                <a:latin typeface="Amasis MT Pro Black" panose="02040A04050005020304" pitchFamily="18" charset="-18"/>
              </a:rPr>
              <a:t>		</a:t>
            </a:r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17F91BDE-CED1-3332-3621-187C2D8EB1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7688" y="1083531"/>
            <a:ext cx="1368075" cy="1368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614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B4B9284-704E-CBCD-81C4-D5D55EE18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dirty="0">
                <a:solidFill>
                  <a:schemeClr val="bg1"/>
                </a:solidFill>
                <a:latin typeface="Amasis MT Pro Black" panose="02040A04050005020304" pitchFamily="18" charset="-18"/>
              </a:rPr>
              <a:t>Autentizace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BDDFE78-DEFA-AF72-D247-2FC1B4C850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spcBef>
                <a:spcPts val="2000"/>
              </a:spcBef>
            </a:pPr>
            <a:r>
              <a:rPr lang="cs-CZ" dirty="0">
                <a:solidFill>
                  <a:schemeClr val="bg1"/>
                </a:solidFill>
                <a:latin typeface="Amasis MT Pro Black" panose="02040A04050005020304" pitchFamily="18" charset="-18"/>
              </a:rPr>
              <a:t>Ověřování totožnosti jednotlivce, systému</a:t>
            </a:r>
          </a:p>
          <a:p>
            <a:pPr>
              <a:spcBef>
                <a:spcPts val="2000"/>
              </a:spcBef>
            </a:pPr>
            <a:r>
              <a:rPr lang="cs-CZ" dirty="0">
                <a:solidFill>
                  <a:schemeClr val="bg1"/>
                </a:solidFill>
                <a:latin typeface="Amasis MT Pro Black" panose="02040A04050005020304" pitchFamily="18" charset="-18"/>
              </a:rPr>
              <a:t>Jméno + Heslo</a:t>
            </a:r>
          </a:p>
          <a:p>
            <a:pPr>
              <a:spcBef>
                <a:spcPts val="2000"/>
              </a:spcBef>
            </a:pPr>
            <a:r>
              <a:rPr lang="cs-CZ" dirty="0">
                <a:solidFill>
                  <a:schemeClr val="bg1"/>
                </a:solidFill>
                <a:latin typeface="Amasis MT Pro Black" panose="02040A04050005020304" pitchFamily="18" charset="-18"/>
              </a:rPr>
              <a:t>Biometrie (otisk prstu, face ID)</a:t>
            </a:r>
          </a:p>
          <a:p>
            <a:pPr>
              <a:spcBef>
                <a:spcPts val="2000"/>
              </a:spcBef>
            </a:pPr>
            <a:r>
              <a:rPr lang="cs-CZ" dirty="0">
                <a:solidFill>
                  <a:schemeClr val="bg1"/>
                </a:solidFill>
                <a:latin typeface="Amasis MT Pro Black" panose="02040A04050005020304" pitchFamily="18" charset="-18"/>
              </a:rPr>
              <a:t>Certifikáty a klíče – potvrzení pravosti entity</a:t>
            </a:r>
            <a:br>
              <a:rPr lang="cs-CZ" dirty="0">
                <a:solidFill>
                  <a:schemeClr val="bg1"/>
                </a:solidFill>
                <a:latin typeface="Amasis MT Pro Black" panose="02040A04050005020304" pitchFamily="18" charset="-18"/>
              </a:rPr>
            </a:br>
            <a:r>
              <a:rPr lang="cs-CZ" dirty="0">
                <a:solidFill>
                  <a:schemeClr val="bg1"/>
                </a:solidFill>
                <a:latin typeface="Amasis MT Pro Black" panose="02040A04050005020304" pitchFamily="18" charset="-18"/>
              </a:rPr>
              <a:t>např. webové certifikáty SSL/TLS umožňují šifrované připojení mezi uživatelem a webovým serverem, čímž zabraňují MITM útokům</a:t>
            </a:r>
          </a:p>
          <a:p>
            <a:pPr>
              <a:spcBef>
                <a:spcPts val="2000"/>
              </a:spcBef>
            </a:pPr>
            <a:r>
              <a:rPr lang="cs-CZ" dirty="0">
                <a:solidFill>
                  <a:schemeClr val="bg1"/>
                </a:solidFill>
                <a:latin typeface="Amasis MT Pro Black" panose="02040A04050005020304" pitchFamily="18" charset="-18"/>
              </a:rPr>
              <a:t>Tokeny – generované kódy které slouží k autentizaci</a:t>
            </a:r>
            <a:br>
              <a:rPr lang="cs-CZ" dirty="0">
                <a:solidFill>
                  <a:schemeClr val="bg1"/>
                </a:solidFill>
                <a:latin typeface="Amasis MT Pro Black" panose="02040A04050005020304" pitchFamily="18" charset="-18"/>
              </a:rPr>
            </a:br>
            <a:r>
              <a:rPr lang="cs-CZ" dirty="0">
                <a:solidFill>
                  <a:schemeClr val="bg1"/>
                </a:solidFill>
                <a:latin typeface="Amasis MT Pro Black" panose="02040A04050005020304" pitchFamily="18" charset="-18"/>
              </a:rPr>
              <a:t>(např. u </a:t>
            </a:r>
            <a:r>
              <a:rPr lang="cs-CZ" dirty="0" err="1">
                <a:solidFill>
                  <a:schemeClr val="bg1"/>
                </a:solidFill>
                <a:latin typeface="Amasis MT Pro Black" panose="02040A04050005020304" pitchFamily="18" charset="-18"/>
              </a:rPr>
              <a:t>vícefaktorového</a:t>
            </a:r>
            <a:r>
              <a:rPr lang="cs-CZ" dirty="0">
                <a:solidFill>
                  <a:schemeClr val="bg1"/>
                </a:solidFill>
                <a:latin typeface="Amasis MT Pro Black" panose="02040A04050005020304" pitchFamily="18" charset="-18"/>
              </a:rPr>
              <a:t> ověření kód SMS)</a:t>
            </a:r>
          </a:p>
        </p:txBody>
      </p:sp>
      <p:pic>
        <p:nvPicPr>
          <p:cNvPr id="12" name="Obrázek 11">
            <a:extLst>
              <a:ext uri="{FF2B5EF4-FFF2-40B4-BE49-F238E27FC236}">
                <a16:creationId xmlns:a16="http://schemas.microsoft.com/office/drawing/2014/main" id="{AA128DD5-8EDC-64B2-FDF8-A83F732F67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5829" y="789629"/>
            <a:ext cx="2071991" cy="2071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92496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BB7AE-8A85-03F7-7A9B-F2309BE70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6E130BB-02AA-7A99-F2B5-B7B185F84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dirty="0">
                <a:solidFill>
                  <a:schemeClr val="bg1"/>
                </a:solidFill>
                <a:latin typeface="Amasis MT Pro Black" panose="02040A04050005020304" pitchFamily="18" charset="-18"/>
              </a:rPr>
              <a:t>Autorizace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026594D-9239-8661-0069-171963E372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691" y="1825625"/>
            <a:ext cx="11480800" cy="4351338"/>
          </a:xfrm>
        </p:spPr>
        <p:txBody>
          <a:bodyPr>
            <a:normAutofit/>
          </a:bodyPr>
          <a:lstStyle/>
          <a:p>
            <a:pPr>
              <a:spcBef>
                <a:spcPts val="2000"/>
              </a:spcBef>
            </a:pPr>
            <a:r>
              <a:rPr lang="cs-CZ" dirty="0">
                <a:solidFill>
                  <a:schemeClr val="bg1"/>
                </a:solidFill>
                <a:latin typeface="Amasis MT Pro Black" panose="02040A04050005020304" pitchFamily="18" charset="-18"/>
              </a:rPr>
              <a:t>Proces přidělování rolí a oprávnění k různým akcím pro různé uživatele </a:t>
            </a:r>
          </a:p>
          <a:p>
            <a:pPr>
              <a:spcBef>
                <a:spcPts val="2000"/>
              </a:spcBef>
            </a:pPr>
            <a:r>
              <a:rPr lang="cs-CZ" dirty="0">
                <a:solidFill>
                  <a:schemeClr val="bg1"/>
                </a:solidFill>
                <a:latin typeface="Amasis MT Pro Black" panose="02040A04050005020304" pitchFamily="18" charset="-18"/>
              </a:rPr>
              <a:t>Každý uživatel má své role a každá role má určitá oprávnění</a:t>
            </a:r>
          </a:p>
          <a:p>
            <a:pPr>
              <a:spcBef>
                <a:spcPts val="2000"/>
              </a:spcBef>
            </a:pPr>
            <a:r>
              <a:rPr lang="cs-CZ" dirty="0">
                <a:solidFill>
                  <a:schemeClr val="bg1"/>
                </a:solidFill>
                <a:latin typeface="Amasis MT Pro Black" panose="02040A04050005020304" pitchFamily="18" charset="-18"/>
              </a:rPr>
              <a:t>(Admin &gt; Uživatel)</a:t>
            </a:r>
          </a:p>
        </p:txBody>
      </p:sp>
      <p:pic>
        <p:nvPicPr>
          <p:cNvPr id="23" name="Obrázek 22">
            <a:extLst>
              <a:ext uri="{FF2B5EF4-FFF2-40B4-BE49-F238E27FC236}">
                <a16:creationId xmlns:a16="http://schemas.microsoft.com/office/drawing/2014/main" id="{3086AB1B-94E0-4E76-A0A2-8A1C8DAD61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0655" y="4391701"/>
            <a:ext cx="2101174" cy="2101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72714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3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94E3009-D94E-5664-C10E-7CD551B9C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dirty="0">
                <a:solidFill>
                  <a:schemeClr val="bg1"/>
                </a:solidFill>
                <a:latin typeface="Amasis MT Pro Black" panose="02040A04050005020304" pitchFamily="18" charset="-18"/>
              </a:rPr>
              <a:t>Šifrování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D2907CD-7B7A-B57B-3B98-F45918A25D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8171" y="1825625"/>
            <a:ext cx="11390050" cy="4351338"/>
          </a:xfrm>
        </p:spPr>
        <p:txBody>
          <a:bodyPr/>
          <a:lstStyle/>
          <a:p>
            <a:pPr>
              <a:spcBef>
                <a:spcPts val="2000"/>
              </a:spcBef>
            </a:pPr>
            <a:r>
              <a:rPr lang="cs-CZ" dirty="0">
                <a:solidFill>
                  <a:schemeClr val="bg1"/>
                </a:solidFill>
                <a:latin typeface="Amasis MT Pro Black" panose="02040A04050005020304" pitchFamily="18" charset="-18"/>
              </a:rPr>
              <a:t>Přeměna čitelné zprávy do nečitelné a naopak (dešifrování)</a:t>
            </a:r>
          </a:p>
          <a:p>
            <a:pPr>
              <a:spcBef>
                <a:spcPts val="2000"/>
              </a:spcBef>
            </a:pPr>
            <a:r>
              <a:rPr lang="cs-CZ" dirty="0">
                <a:solidFill>
                  <a:schemeClr val="bg1"/>
                </a:solidFill>
                <a:latin typeface="Amasis MT Pro Black" panose="02040A04050005020304" pitchFamily="18" charset="-18"/>
              </a:rPr>
              <a:t>Symetrické – pro šifrování i dešifrování užit 1 klíč</a:t>
            </a:r>
          </a:p>
          <a:p>
            <a:pPr>
              <a:spcBef>
                <a:spcPts val="2000"/>
              </a:spcBef>
            </a:pPr>
            <a:r>
              <a:rPr lang="cs-CZ" dirty="0">
                <a:solidFill>
                  <a:schemeClr val="bg1"/>
                </a:solidFill>
                <a:latin typeface="Amasis MT Pro Black" panose="02040A04050005020304" pitchFamily="18" charset="-18"/>
              </a:rPr>
              <a:t>Asymetrické – pro šifrování užit klíč veřejný, pro dešifrování klíč privátní</a:t>
            </a:r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D3687245-BEBB-102C-6B94-E803449E70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8569" y="4537615"/>
            <a:ext cx="1955260" cy="1955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2704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32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8A0A7F-4DCF-67DC-242A-F7D67113B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388B41A-A4CE-2B7E-51E4-8D442CA3C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cs-CZ" dirty="0">
                <a:solidFill>
                  <a:schemeClr val="bg1"/>
                </a:solidFill>
                <a:latin typeface="Amasis MT Pro Black" panose="02040A04050005020304" pitchFamily="18" charset="-18"/>
              </a:rPr>
              <a:t>Šifrování (Symetrické)</a:t>
            </a:r>
          </a:p>
        </p:txBody>
      </p:sp>
      <p:grpSp>
        <p:nvGrpSpPr>
          <p:cNvPr id="6" name="Skupina 5">
            <a:extLst>
              <a:ext uri="{FF2B5EF4-FFF2-40B4-BE49-F238E27FC236}">
                <a16:creationId xmlns:a16="http://schemas.microsoft.com/office/drawing/2014/main" id="{90552581-B932-7027-7B10-1931422C1DED}"/>
              </a:ext>
            </a:extLst>
          </p:cNvPr>
          <p:cNvGrpSpPr/>
          <p:nvPr/>
        </p:nvGrpSpPr>
        <p:grpSpPr>
          <a:xfrm>
            <a:off x="534138" y="4700872"/>
            <a:ext cx="1757779" cy="1136342"/>
            <a:chOff x="1500325" y="3684233"/>
            <a:chExt cx="1757779" cy="1136342"/>
          </a:xfrm>
        </p:grpSpPr>
        <p:sp>
          <p:nvSpPr>
            <p:cNvPr id="4" name="TextovéPole 3">
              <a:extLst>
                <a:ext uri="{FF2B5EF4-FFF2-40B4-BE49-F238E27FC236}">
                  <a16:creationId xmlns:a16="http://schemas.microsoft.com/office/drawing/2014/main" id="{943ABF86-1764-2B63-E6D1-95A0A3CED76B}"/>
                </a:ext>
              </a:extLst>
            </p:cNvPr>
            <p:cNvSpPr txBox="1"/>
            <p:nvPr/>
          </p:nvSpPr>
          <p:spPr>
            <a:xfrm>
              <a:off x="1500325" y="3781887"/>
              <a:ext cx="1757779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cs-CZ" dirty="0">
                  <a:solidFill>
                    <a:schemeClr val="bg1"/>
                  </a:solidFill>
                  <a:latin typeface="Amasis MT Pro Black" panose="02040A04050005020304" pitchFamily="18" charset="-18"/>
                </a:rPr>
                <a:t>Asd5.!kkrPO952+_ikoPlu6;.Lp87</a:t>
              </a:r>
            </a:p>
          </p:txBody>
        </p:sp>
        <p:sp>
          <p:nvSpPr>
            <p:cNvPr id="5" name="Obdélník: ohnutý roh 4">
              <a:extLst>
                <a:ext uri="{FF2B5EF4-FFF2-40B4-BE49-F238E27FC236}">
                  <a16:creationId xmlns:a16="http://schemas.microsoft.com/office/drawing/2014/main" id="{E83B7AEC-EDFD-2269-893C-763407D9FDB6}"/>
                </a:ext>
              </a:extLst>
            </p:cNvPr>
            <p:cNvSpPr/>
            <p:nvPr/>
          </p:nvSpPr>
          <p:spPr>
            <a:xfrm>
              <a:off x="1500326" y="3684233"/>
              <a:ext cx="1757778" cy="1136342"/>
            </a:xfrm>
            <a:prstGeom prst="foldedCorner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  <p:grpSp>
        <p:nvGrpSpPr>
          <p:cNvPr id="12" name="Skupina 11">
            <a:extLst>
              <a:ext uri="{FF2B5EF4-FFF2-40B4-BE49-F238E27FC236}">
                <a16:creationId xmlns:a16="http://schemas.microsoft.com/office/drawing/2014/main" id="{75FA7F0F-F67A-245C-57A1-45C8356A69A9}"/>
              </a:ext>
            </a:extLst>
          </p:cNvPr>
          <p:cNvGrpSpPr/>
          <p:nvPr/>
        </p:nvGrpSpPr>
        <p:grpSpPr>
          <a:xfrm>
            <a:off x="10139776" y="2158685"/>
            <a:ext cx="1757779" cy="1297983"/>
            <a:chOff x="1500325" y="3684233"/>
            <a:chExt cx="1757779" cy="1297983"/>
          </a:xfrm>
        </p:grpSpPr>
        <p:sp>
          <p:nvSpPr>
            <p:cNvPr id="13" name="TextovéPole 12">
              <a:extLst>
                <a:ext uri="{FF2B5EF4-FFF2-40B4-BE49-F238E27FC236}">
                  <a16:creationId xmlns:a16="http://schemas.microsoft.com/office/drawing/2014/main" id="{045135A6-29D3-833D-508E-77D382A7FB9D}"/>
                </a:ext>
              </a:extLst>
            </p:cNvPr>
            <p:cNvSpPr txBox="1"/>
            <p:nvPr/>
          </p:nvSpPr>
          <p:spPr>
            <a:xfrm>
              <a:off x="1500325" y="3781887"/>
              <a:ext cx="1757779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cs-CZ" dirty="0">
                  <a:solidFill>
                    <a:schemeClr val="bg1"/>
                  </a:solidFill>
                  <a:latin typeface="Amasis MT Pro Black" panose="02040A04050005020304" pitchFamily="18" charset="-18"/>
                </a:rPr>
                <a:t>Teď manuálně dýcháš 🤯</a:t>
              </a:r>
            </a:p>
            <a:p>
              <a:endParaRPr lang="cs-CZ" dirty="0">
                <a:solidFill>
                  <a:schemeClr val="bg1"/>
                </a:solidFill>
                <a:latin typeface="Amasis MT Pro Black" panose="02040A04050005020304" pitchFamily="18" charset="-18"/>
              </a:endParaRPr>
            </a:p>
          </p:txBody>
        </p:sp>
        <p:sp>
          <p:nvSpPr>
            <p:cNvPr id="14" name="Obdélník: ohnutý roh 13">
              <a:extLst>
                <a:ext uri="{FF2B5EF4-FFF2-40B4-BE49-F238E27FC236}">
                  <a16:creationId xmlns:a16="http://schemas.microsoft.com/office/drawing/2014/main" id="{66B18CC7-A0EF-1097-733D-D3BD0EE4D5D5}"/>
                </a:ext>
              </a:extLst>
            </p:cNvPr>
            <p:cNvSpPr/>
            <p:nvPr/>
          </p:nvSpPr>
          <p:spPr>
            <a:xfrm>
              <a:off x="1500326" y="3684233"/>
              <a:ext cx="1757778" cy="1136342"/>
            </a:xfrm>
            <a:prstGeom prst="foldedCorner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 dirty="0"/>
            </a:p>
          </p:txBody>
        </p:sp>
      </p:grpSp>
      <p:cxnSp>
        <p:nvCxnSpPr>
          <p:cNvPr id="21" name="Přímá spojnice se šipkou 20">
            <a:extLst>
              <a:ext uri="{FF2B5EF4-FFF2-40B4-BE49-F238E27FC236}">
                <a16:creationId xmlns:a16="http://schemas.microsoft.com/office/drawing/2014/main" id="{33DF5C75-5EA4-BB59-682C-1564F1ECDD67}"/>
              </a:ext>
            </a:extLst>
          </p:cNvPr>
          <p:cNvCxnSpPr>
            <a:cxnSpLocks/>
          </p:cNvCxnSpPr>
          <p:nvPr/>
        </p:nvCxnSpPr>
        <p:spPr>
          <a:xfrm>
            <a:off x="1242873" y="3429000"/>
            <a:ext cx="0" cy="1127464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Skupina 26">
            <a:extLst>
              <a:ext uri="{FF2B5EF4-FFF2-40B4-BE49-F238E27FC236}">
                <a16:creationId xmlns:a16="http://schemas.microsoft.com/office/drawing/2014/main" id="{11B15911-29EA-DC07-7B35-F0A913535835}"/>
              </a:ext>
            </a:extLst>
          </p:cNvPr>
          <p:cNvGrpSpPr/>
          <p:nvPr/>
        </p:nvGrpSpPr>
        <p:grpSpPr>
          <a:xfrm>
            <a:off x="534139" y="2109859"/>
            <a:ext cx="1757779" cy="1297983"/>
            <a:chOff x="1500325" y="3684233"/>
            <a:chExt cx="1757779" cy="1297983"/>
          </a:xfrm>
        </p:grpSpPr>
        <p:sp>
          <p:nvSpPr>
            <p:cNvPr id="28" name="TextovéPole 27">
              <a:extLst>
                <a:ext uri="{FF2B5EF4-FFF2-40B4-BE49-F238E27FC236}">
                  <a16:creationId xmlns:a16="http://schemas.microsoft.com/office/drawing/2014/main" id="{42715D21-3C35-5BDC-58C1-96CD5401099A}"/>
                </a:ext>
              </a:extLst>
            </p:cNvPr>
            <p:cNvSpPr txBox="1"/>
            <p:nvPr/>
          </p:nvSpPr>
          <p:spPr>
            <a:xfrm>
              <a:off x="1500325" y="3781887"/>
              <a:ext cx="1757779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cs-CZ" dirty="0">
                  <a:solidFill>
                    <a:schemeClr val="bg1"/>
                  </a:solidFill>
                  <a:latin typeface="Amasis MT Pro Black" panose="02040A04050005020304" pitchFamily="18" charset="-18"/>
                </a:rPr>
                <a:t>Teď manuálně dýcháš 🤯</a:t>
              </a:r>
            </a:p>
            <a:p>
              <a:endParaRPr lang="cs-CZ" dirty="0">
                <a:solidFill>
                  <a:schemeClr val="bg1"/>
                </a:solidFill>
                <a:latin typeface="Amasis MT Pro Black" panose="02040A04050005020304" pitchFamily="18" charset="-18"/>
              </a:endParaRPr>
            </a:p>
          </p:txBody>
        </p:sp>
        <p:sp>
          <p:nvSpPr>
            <p:cNvPr id="29" name="Obdélník: ohnutý roh 28">
              <a:extLst>
                <a:ext uri="{FF2B5EF4-FFF2-40B4-BE49-F238E27FC236}">
                  <a16:creationId xmlns:a16="http://schemas.microsoft.com/office/drawing/2014/main" id="{DE961A5A-256A-78E7-7037-82ACCA659723}"/>
                </a:ext>
              </a:extLst>
            </p:cNvPr>
            <p:cNvSpPr/>
            <p:nvPr/>
          </p:nvSpPr>
          <p:spPr>
            <a:xfrm>
              <a:off x="1500326" y="3684233"/>
              <a:ext cx="1757778" cy="1136342"/>
            </a:xfrm>
            <a:prstGeom prst="foldedCorner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  <p:cxnSp>
        <p:nvCxnSpPr>
          <p:cNvPr id="33" name="Přímá spojnice se šipkou 32">
            <a:extLst>
              <a:ext uri="{FF2B5EF4-FFF2-40B4-BE49-F238E27FC236}">
                <a16:creationId xmlns:a16="http://schemas.microsoft.com/office/drawing/2014/main" id="{7F473697-8001-8CB5-A841-B59534348F48}"/>
              </a:ext>
            </a:extLst>
          </p:cNvPr>
          <p:cNvCxnSpPr>
            <a:cxnSpLocks/>
          </p:cNvCxnSpPr>
          <p:nvPr/>
        </p:nvCxnSpPr>
        <p:spPr>
          <a:xfrm>
            <a:off x="2494625" y="5269043"/>
            <a:ext cx="683581" cy="0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Přímá spojnice se šipkou 37">
            <a:extLst>
              <a:ext uri="{FF2B5EF4-FFF2-40B4-BE49-F238E27FC236}">
                <a16:creationId xmlns:a16="http://schemas.microsoft.com/office/drawing/2014/main" id="{F88FA48A-16FA-804F-91D2-568CA7F39EC2}"/>
              </a:ext>
            </a:extLst>
          </p:cNvPr>
          <p:cNvCxnSpPr>
            <a:cxnSpLocks/>
          </p:cNvCxnSpPr>
          <p:nvPr/>
        </p:nvCxnSpPr>
        <p:spPr>
          <a:xfrm>
            <a:off x="4857565" y="5275107"/>
            <a:ext cx="2475390" cy="0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Skupina 40">
            <a:extLst>
              <a:ext uri="{FF2B5EF4-FFF2-40B4-BE49-F238E27FC236}">
                <a16:creationId xmlns:a16="http://schemas.microsoft.com/office/drawing/2014/main" id="{543A9B49-2191-7A28-341A-46D0165F9D5B}"/>
              </a:ext>
            </a:extLst>
          </p:cNvPr>
          <p:cNvGrpSpPr/>
          <p:nvPr/>
        </p:nvGrpSpPr>
        <p:grpSpPr>
          <a:xfrm>
            <a:off x="10154574" y="4692020"/>
            <a:ext cx="1757779" cy="1136342"/>
            <a:chOff x="1500325" y="3684233"/>
            <a:chExt cx="1757779" cy="1136342"/>
          </a:xfrm>
        </p:grpSpPr>
        <p:sp>
          <p:nvSpPr>
            <p:cNvPr id="42" name="TextovéPole 41">
              <a:extLst>
                <a:ext uri="{FF2B5EF4-FFF2-40B4-BE49-F238E27FC236}">
                  <a16:creationId xmlns:a16="http://schemas.microsoft.com/office/drawing/2014/main" id="{6728BE2D-737F-8590-A0E9-227572368272}"/>
                </a:ext>
              </a:extLst>
            </p:cNvPr>
            <p:cNvSpPr txBox="1"/>
            <p:nvPr/>
          </p:nvSpPr>
          <p:spPr>
            <a:xfrm>
              <a:off x="1500325" y="3781887"/>
              <a:ext cx="1757779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cs-CZ" dirty="0">
                  <a:solidFill>
                    <a:schemeClr val="bg1"/>
                  </a:solidFill>
                  <a:latin typeface="Amasis MT Pro Black" panose="02040A04050005020304" pitchFamily="18" charset="-18"/>
                </a:rPr>
                <a:t>Asd5.!kkrPO952+_ikoPlu6;.Lp87</a:t>
              </a:r>
            </a:p>
          </p:txBody>
        </p:sp>
        <p:sp>
          <p:nvSpPr>
            <p:cNvPr id="43" name="Obdélník: ohnutý roh 42">
              <a:extLst>
                <a:ext uri="{FF2B5EF4-FFF2-40B4-BE49-F238E27FC236}">
                  <a16:creationId xmlns:a16="http://schemas.microsoft.com/office/drawing/2014/main" id="{C27F7B79-23E8-D16D-1FDF-BB4FCDC9BB24}"/>
                </a:ext>
              </a:extLst>
            </p:cNvPr>
            <p:cNvSpPr/>
            <p:nvPr/>
          </p:nvSpPr>
          <p:spPr>
            <a:xfrm>
              <a:off x="1500326" y="3684233"/>
              <a:ext cx="1757778" cy="1136342"/>
            </a:xfrm>
            <a:prstGeom prst="foldedCorner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  <p:cxnSp>
        <p:nvCxnSpPr>
          <p:cNvPr id="44" name="Přímá spojnice se šipkou 43">
            <a:extLst>
              <a:ext uri="{FF2B5EF4-FFF2-40B4-BE49-F238E27FC236}">
                <a16:creationId xmlns:a16="http://schemas.microsoft.com/office/drawing/2014/main" id="{86B2FBEC-A80E-2F7B-D0B2-9D08BE525BC7}"/>
              </a:ext>
            </a:extLst>
          </p:cNvPr>
          <p:cNvCxnSpPr>
            <a:cxnSpLocks/>
          </p:cNvCxnSpPr>
          <p:nvPr/>
        </p:nvCxnSpPr>
        <p:spPr>
          <a:xfrm flipV="1">
            <a:off x="11018665" y="3475608"/>
            <a:ext cx="0" cy="969884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Přímá spojnice se šipkou 45">
            <a:extLst>
              <a:ext uri="{FF2B5EF4-FFF2-40B4-BE49-F238E27FC236}">
                <a16:creationId xmlns:a16="http://schemas.microsoft.com/office/drawing/2014/main" id="{D6EBD7ED-813C-0B14-E76F-E87FBB461F76}"/>
              </a:ext>
            </a:extLst>
          </p:cNvPr>
          <p:cNvCxnSpPr>
            <a:cxnSpLocks/>
          </p:cNvCxnSpPr>
          <p:nvPr/>
        </p:nvCxnSpPr>
        <p:spPr>
          <a:xfrm>
            <a:off x="8908742" y="5269043"/>
            <a:ext cx="683581" cy="0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ovéPole 47">
            <a:extLst>
              <a:ext uri="{FF2B5EF4-FFF2-40B4-BE49-F238E27FC236}">
                <a16:creationId xmlns:a16="http://schemas.microsoft.com/office/drawing/2014/main" id="{D03DB854-A62B-0C61-D650-8D8233042CA6}"/>
              </a:ext>
            </a:extLst>
          </p:cNvPr>
          <p:cNvSpPr txBox="1"/>
          <p:nvPr/>
        </p:nvSpPr>
        <p:spPr>
          <a:xfrm>
            <a:off x="534137" y="6108789"/>
            <a:ext cx="17577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 err="1">
                <a:solidFill>
                  <a:schemeClr val="bg1"/>
                </a:solidFill>
                <a:latin typeface="Amasis MT Pro Black" panose="02040A04050005020304" pitchFamily="18" charset="-18"/>
              </a:rPr>
              <a:t>Ciphertext</a:t>
            </a:r>
            <a:endParaRPr lang="cs-CZ" dirty="0">
              <a:solidFill>
                <a:schemeClr val="bg1"/>
              </a:solidFill>
              <a:latin typeface="Amasis MT Pro Black" panose="02040A04050005020304" pitchFamily="18" charset="-18"/>
            </a:endParaRPr>
          </a:p>
        </p:txBody>
      </p:sp>
      <p:sp>
        <p:nvSpPr>
          <p:cNvPr id="49" name="TextovéPole 48">
            <a:extLst>
              <a:ext uri="{FF2B5EF4-FFF2-40B4-BE49-F238E27FC236}">
                <a16:creationId xmlns:a16="http://schemas.microsoft.com/office/drawing/2014/main" id="{D53F7715-B084-3D11-E86C-2DAEEBB6F347}"/>
              </a:ext>
            </a:extLst>
          </p:cNvPr>
          <p:cNvSpPr txBox="1"/>
          <p:nvPr/>
        </p:nvSpPr>
        <p:spPr>
          <a:xfrm>
            <a:off x="10070235" y="6107976"/>
            <a:ext cx="17577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 err="1">
                <a:solidFill>
                  <a:schemeClr val="bg1"/>
                </a:solidFill>
                <a:latin typeface="Amasis MT Pro Black" panose="02040A04050005020304" pitchFamily="18" charset="-18"/>
              </a:rPr>
              <a:t>Ciphertext</a:t>
            </a:r>
            <a:endParaRPr lang="cs-CZ" dirty="0">
              <a:solidFill>
                <a:schemeClr val="bg1"/>
              </a:solidFill>
              <a:latin typeface="Amasis MT Pro Black" panose="02040A04050005020304" pitchFamily="18" charset="-18"/>
            </a:endParaRPr>
          </a:p>
        </p:txBody>
      </p:sp>
      <p:sp>
        <p:nvSpPr>
          <p:cNvPr id="50" name="TextovéPole 49">
            <a:extLst>
              <a:ext uri="{FF2B5EF4-FFF2-40B4-BE49-F238E27FC236}">
                <a16:creationId xmlns:a16="http://schemas.microsoft.com/office/drawing/2014/main" id="{AFA3E8DA-769C-656C-5AD1-5475C7785984}"/>
              </a:ext>
            </a:extLst>
          </p:cNvPr>
          <p:cNvSpPr txBox="1"/>
          <p:nvPr/>
        </p:nvSpPr>
        <p:spPr>
          <a:xfrm>
            <a:off x="513421" y="1617276"/>
            <a:ext cx="17577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 err="1">
                <a:solidFill>
                  <a:schemeClr val="bg1"/>
                </a:solidFill>
                <a:latin typeface="Amasis MT Pro Black" panose="02040A04050005020304" pitchFamily="18" charset="-18"/>
              </a:rPr>
              <a:t>Plaintext</a:t>
            </a:r>
            <a:endParaRPr lang="cs-CZ" dirty="0">
              <a:solidFill>
                <a:schemeClr val="bg1"/>
              </a:solidFill>
              <a:latin typeface="Amasis MT Pro Black" panose="02040A04050005020304" pitchFamily="18" charset="-18"/>
            </a:endParaRPr>
          </a:p>
        </p:txBody>
      </p:sp>
      <p:sp>
        <p:nvSpPr>
          <p:cNvPr id="51" name="TextovéPole 50">
            <a:extLst>
              <a:ext uri="{FF2B5EF4-FFF2-40B4-BE49-F238E27FC236}">
                <a16:creationId xmlns:a16="http://schemas.microsoft.com/office/drawing/2014/main" id="{EB2192C9-6E60-1AD6-D757-11CCB377E8C7}"/>
              </a:ext>
            </a:extLst>
          </p:cNvPr>
          <p:cNvSpPr txBox="1"/>
          <p:nvPr/>
        </p:nvSpPr>
        <p:spPr>
          <a:xfrm>
            <a:off x="10070234" y="1704868"/>
            <a:ext cx="17577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 err="1">
                <a:solidFill>
                  <a:schemeClr val="bg1"/>
                </a:solidFill>
                <a:latin typeface="Amasis MT Pro Black" panose="02040A04050005020304" pitchFamily="18" charset="-18"/>
              </a:rPr>
              <a:t>Plaintext</a:t>
            </a:r>
            <a:endParaRPr lang="cs-CZ" dirty="0">
              <a:solidFill>
                <a:schemeClr val="bg1"/>
              </a:solidFill>
              <a:latin typeface="Amasis MT Pro Black" panose="02040A04050005020304" pitchFamily="18" charset="-18"/>
            </a:endParaRPr>
          </a:p>
        </p:txBody>
      </p:sp>
      <p:sp>
        <p:nvSpPr>
          <p:cNvPr id="52" name="TextovéPole 51">
            <a:extLst>
              <a:ext uri="{FF2B5EF4-FFF2-40B4-BE49-F238E27FC236}">
                <a16:creationId xmlns:a16="http://schemas.microsoft.com/office/drawing/2014/main" id="{34F93096-3FBE-0F18-7283-FB1D01B2C165}"/>
              </a:ext>
            </a:extLst>
          </p:cNvPr>
          <p:cNvSpPr txBox="1"/>
          <p:nvPr/>
        </p:nvSpPr>
        <p:spPr>
          <a:xfrm>
            <a:off x="4920077" y="5862247"/>
            <a:ext cx="2350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dirty="0">
                <a:solidFill>
                  <a:schemeClr val="bg1"/>
                </a:solidFill>
                <a:latin typeface="Amasis MT Pro Black" panose="02040A04050005020304" pitchFamily="18" charset="-18"/>
              </a:rPr>
              <a:t>Poslání zprávy</a:t>
            </a:r>
          </a:p>
        </p:txBody>
      </p:sp>
      <p:pic>
        <p:nvPicPr>
          <p:cNvPr id="16" name="Obrázek 15">
            <a:extLst>
              <a:ext uri="{FF2B5EF4-FFF2-40B4-BE49-F238E27FC236}">
                <a16:creationId xmlns:a16="http://schemas.microsoft.com/office/drawing/2014/main" id="{5B32B65D-3355-E3DD-8617-08550350AE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6413" y="3538933"/>
            <a:ext cx="778212" cy="778212"/>
          </a:xfrm>
          <a:prstGeom prst="rect">
            <a:avLst/>
          </a:prstGeom>
        </p:spPr>
      </p:pic>
      <p:pic>
        <p:nvPicPr>
          <p:cNvPr id="17" name="Obrázek 16">
            <a:extLst>
              <a:ext uri="{FF2B5EF4-FFF2-40B4-BE49-F238E27FC236}">
                <a16:creationId xmlns:a16="http://schemas.microsoft.com/office/drawing/2014/main" id="{15C84391-45B5-8D0A-114E-68FC176390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5468" y="3562974"/>
            <a:ext cx="778212" cy="778212"/>
          </a:xfrm>
          <a:prstGeom prst="rect">
            <a:avLst/>
          </a:prstGeom>
        </p:spPr>
      </p:pic>
      <p:pic>
        <p:nvPicPr>
          <p:cNvPr id="19" name="Obrázek 18">
            <a:extLst>
              <a:ext uri="{FF2B5EF4-FFF2-40B4-BE49-F238E27FC236}">
                <a16:creationId xmlns:a16="http://schemas.microsoft.com/office/drawing/2014/main" id="{6CCB8231-9AC2-4455-BBF7-A00CEB792E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4057" y="4410920"/>
            <a:ext cx="1310936" cy="1310936"/>
          </a:xfrm>
          <a:prstGeom prst="rect">
            <a:avLst/>
          </a:prstGeom>
        </p:spPr>
      </p:pic>
      <p:pic>
        <p:nvPicPr>
          <p:cNvPr id="20" name="Obrázek 19">
            <a:extLst>
              <a:ext uri="{FF2B5EF4-FFF2-40B4-BE49-F238E27FC236}">
                <a16:creationId xmlns:a16="http://schemas.microsoft.com/office/drawing/2014/main" id="{2BA7E50E-8204-7B65-759A-8CE2671B3A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9446" y="4410920"/>
            <a:ext cx="1310936" cy="1310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1456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5CBFF6-E44C-854E-7C02-606E65526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85DC0D0-7113-4312-8A0A-19691F004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4292"/>
            <a:ext cx="10515600" cy="1325563"/>
          </a:xfrm>
        </p:spPr>
        <p:txBody>
          <a:bodyPr>
            <a:normAutofit/>
          </a:bodyPr>
          <a:lstStyle/>
          <a:p>
            <a:r>
              <a:rPr lang="cs-CZ" dirty="0" err="1">
                <a:solidFill>
                  <a:schemeClr val="bg1"/>
                </a:solidFill>
                <a:latin typeface="Amasis MT Pro Black" panose="02040A04050005020304" pitchFamily="18" charset="-18"/>
              </a:rPr>
              <a:t>Hashing</a:t>
            </a:r>
            <a:endParaRPr lang="cs-CZ" dirty="0">
              <a:solidFill>
                <a:schemeClr val="bg1"/>
              </a:solidFill>
              <a:latin typeface="Amasis MT Pro Black" panose="02040A04050005020304" pitchFamily="18" charset="-18"/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1F974CA-996D-6FC5-29B0-02EAFD8101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832" y="1825624"/>
            <a:ext cx="11623829" cy="4898083"/>
          </a:xfrm>
        </p:spPr>
        <p:txBody>
          <a:bodyPr>
            <a:normAutofit/>
          </a:bodyPr>
          <a:lstStyle/>
          <a:p>
            <a:r>
              <a:rPr lang="cs-CZ" dirty="0">
                <a:solidFill>
                  <a:schemeClr val="bg1"/>
                </a:solidFill>
                <a:latin typeface="Amasis MT Pro Black" panose="02040A04050005020304" pitchFamily="18" charset="-18"/>
              </a:rPr>
              <a:t>Forma kryptografie</a:t>
            </a:r>
          </a:p>
          <a:p>
            <a:r>
              <a:rPr lang="cs-CZ" dirty="0">
                <a:solidFill>
                  <a:schemeClr val="bg1"/>
                </a:solidFill>
                <a:latin typeface="Amasis MT Pro Black" panose="02040A04050005020304" pitchFamily="18" charset="-18"/>
              </a:rPr>
              <a:t>Pomocí hashovací funkce z </a:t>
            </a:r>
            <a:r>
              <a:rPr lang="cs-CZ" dirty="0" err="1">
                <a:solidFill>
                  <a:schemeClr val="bg1"/>
                </a:solidFill>
                <a:latin typeface="Amasis MT Pro Black" panose="02040A04050005020304" pitchFamily="18" charset="-18"/>
              </a:rPr>
              <a:t>plaintextu</a:t>
            </a:r>
            <a:r>
              <a:rPr lang="cs-CZ" dirty="0">
                <a:solidFill>
                  <a:schemeClr val="bg1"/>
                </a:solidFill>
                <a:latin typeface="Amasis MT Pro Black" panose="02040A04050005020304" pitchFamily="18" charset="-18"/>
              </a:rPr>
              <a:t> vytvoří tzv. </a:t>
            </a:r>
            <a:r>
              <a:rPr lang="cs-CZ" dirty="0" err="1">
                <a:solidFill>
                  <a:schemeClr val="bg1"/>
                </a:solidFill>
                <a:latin typeface="Amasis MT Pro Black" panose="02040A04050005020304" pitchFamily="18" charset="-18"/>
              </a:rPr>
              <a:t>Hash</a:t>
            </a:r>
            <a:endParaRPr lang="cs-CZ" dirty="0">
              <a:solidFill>
                <a:schemeClr val="bg1"/>
              </a:solidFill>
              <a:latin typeface="Amasis MT Pro Black" panose="02040A04050005020304" pitchFamily="18" charset="-18"/>
            </a:endParaRPr>
          </a:p>
          <a:p>
            <a:r>
              <a:rPr lang="cs-CZ" dirty="0">
                <a:solidFill>
                  <a:schemeClr val="bg1"/>
                </a:solidFill>
                <a:latin typeface="Amasis MT Pro Black" panose="02040A04050005020304" pitchFamily="18" charset="-18"/>
              </a:rPr>
              <a:t>Je zpětně nedešifrovatelný</a:t>
            </a:r>
          </a:p>
          <a:p>
            <a:r>
              <a:rPr lang="cs-CZ" dirty="0">
                <a:solidFill>
                  <a:schemeClr val="bg1"/>
                </a:solidFill>
                <a:latin typeface="Amasis MT Pro Black" panose="02040A04050005020304" pitchFamily="18" charset="-18"/>
              </a:rPr>
              <a:t>Používá se pro ukládání hesel do databáze</a:t>
            </a:r>
          </a:p>
          <a:p>
            <a:r>
              <a:rPr lang="cs-CZ" dirty="0">
                <a:solidFill>
                  <a:schemeClr val="bg1"/>
                </a:solidFill>
                <a:latin typeface="Amasis MT Pro Black" panose="02040A04050005020304" pitchFamily="18" charset="-18"/>
              </a:rPr>
              <a:t>2 Podobné </a:t>
            </a:r>
            <a:r>
              <a:rPr lang="cs-CZ" dirty="0" err="1">
                <a:solidFill>
                  <a:schemeClr val="bg1"/>
                </a:solidFill>
                <a:latin typeface="Amasis MT Pro Black" panose="02040A04050005020304" pitchFamily="18" charset="-18"/>
              </a:rPr>
              <a:t>plaintexty</a:t>
            </a:r>
            <a:r>
              <a:rPr lang="cs-CZ" dirty="0">
                <a:solidFill>
                  <a:schemeClr val="bg1"/>
                </a:solidFill>
                <a:latin typeface="Amasis MT Pro Black" panose="02040A04050005020304" pitchFamily="18" charset="-18"/>
              </a:rPr>
              <a:t> mají úplně jiné </a:t>
            </a:r>
            <a:r>
              <a:rPr lang="cs-CZ" dirty="0" err="1">
                <a:solidFill>
                  <a:schemeClr val="bg1"/>
                </a:solidFill>
                <a:latin typeface="Amasis MT Pro Black" panose="02040A04050005020304" pitchFamily="18" charset="-18"/>
              </a:rPr>
              <a:t>Hashe</a:t>
            </a:r>
            <a:endParaRPr lang="cs-CZ" dirty="0">
              <a:solidFill>
                <a:schemeClr val="bg1"/>
              </a:solidFill>
              <a:latin typeface="Amasis MT Pro Black" panose="02040A04050005020304" pitchFamily="18" charset="-18"/>
            </a:endParaRPr>
          </a:p>
          <a:p>
            <a:endParaRPr lang="cs-CZ" dirty="0">
              <a:solidFill>
                <a:schemeClr val="bg1"/>
              </a:solidFill>
              <a:latin typeface="Amasis MT Pro Black" panose="02040A04050005020304" pitchFamily="18" charset="-18"/>
            </a:endParaRPr>
          </a:p>
          <a:p>
            <a:r>
              <a:rPr lang="cs-CZ" dirty="0">
                <a:solidFill>
                  <a:schemeClr val="bg1"/>
                </a:solidFill>
                <a:latin typeface="Amasis MT Pro Black" panose="02040A04050005020304" pitchFamily="18" charset="-18"/>
              </a:rPr>
              <a:t>Používá se v kombinací se „solí“</a:t>
            </a:r>
          </a:p>
          <a:p>
            <a:pPr marL="0" indent="0">
              <a:buNone/>
            </a:pPr>
            <a:r>
              <a:rPr lang="cs-CZ" dirty="0">
                <a:solidFill>
                  <a:schemeClr val="bg1"/>
                </a:solidFill>
                <a:latin typeface="Amasis MT Pro Black" panose="02040A04050005020304" pitchFamily="18" charset="-18"/>
              </a:rPr>
              <a:t>	Náhodně vygenerovaná kombinace písmen</a:t>
            </a:r>
            <a:br>
              <a:rPr lang="cs-CZ" dirty="0">
                <a:solidFill>
                  <a:schemeClr val="bg1"/>
                </a:solidFill>
                <a:latin typeface="Amasis MT Pro Black" panose="02040A04050005020304" pitchFamily="18" charset="-18"/>
              </a:rPr>
            </a:br>
            <a:r>
              <a:rPr lang="cs-CZ" dirty="0">
                <a:solidFill>
                  <a:schemeClr val="bg1"/>
                </a:solidFill>
                <a:latin typeface="Amasis MT Pro Black" panose="02040A04050005020304" pitchFamily="18" charset="-18"/>
              </a:rPr>
              <a:t>	která se přidá k </a:t>
            </a:r>
            <a:r>
              <a:rPr lang="cs-CZ" dirty="0" err="1">
                <a:solidFill>
                  <a:schemeClr val="bg1"/>
                </a:solidFill>
                <a:latin typeface="Amasis MT Pro Black" panose="02040A04050005020304" pitchFamily="18" charset="-18"/>
              </a:rPr>
              <a:t>hashi</a:t>
            </a:r>
            <a:r>
              <a:rPr lang="cs-CZ" dirty="0">
                <a:solidFill>
                  <a:schemeClr val="bg1"/>
                </a:solidFill>
                <a:latin typeface="Amasis MT Pro Black" panose="02040A04050005020304" pitchFamily="18" charset="-18"/>
              </a:rPr>
              <a:t> aby 2 stejné </a:t>
            </a:r>
            <a:r>
              <a:rPr lang="cs-CZ" dirty="0" err="1">
                <a:solidFill>
                  <a:schemeClr val="bg1"/>
                </a:solidFill>
                <a:latin typeface="Amasis MT Pro Black" panose="02040A04050005020304" pitchFamily="18" charset="-18"/>
              </a:rPr>
              <a:t>plaintexty</a:t>
            </a:r>
            <a:br>
              <a:rPr lang="cs-CZ" dirty="0">
                <a:solidFill>
                  <a:schemeClr val="bg1"/>
                </a:solidFill>
                <a:latin typeface="Amasis MT Pro Black" panose="02040A04050005020304" pitchFamily="18" charset="-18"/>
              </a:rPr>
            </a:br>
            <a:r>
              <a:rPr lang="cs-CZ" dirty="0">
                <a:solidFill>
                  <a:schemeClr val="bg1"/>
                </a:solidFill>
                <a:latin typeface="Amasis MT Pro Black" panose="02040A04050005020304" pitchFamily="18" charset="-18"/>
              </a:rPr>
              <a:t>	nebyly stejné</a:t>
            </a:r>
          </a:p>
        </p:txBody>
      </p:sp>
      <p:pic>
        <p:nvPicPr>
          <p:cNvPr id="17" name="Obrázek 16">
            <a:extLst>
              <a:ext uri="{FF2B5EF4-FFF2-40B4-BE49-F238E27FC236}">
                <a16:creationId xmlns:a16="http://schemas.microsoft.com/office/drawing/2014/main" id="{AA63AD4F-5314-E0B3-566F-3FAB03BFCB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5129" y="4505528"/>
            <a:ext cx="1964987" cy="1964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6975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Skupina 3">
            <a:extLst>
              <a:ext uri="{FF2B5EF4-FFF2-40B4-BE49-F238E27FC236}">
                <a16:creationId xmlns:a16="http://schemas.microsoft.com/office/drawing/2014/main" id="{5C09C79E-AEA2-450D-F864-EBB732789BE8}"/>
              </a:ext>
            </a:extLst>
          </p:cNvPr>
          <p:cNvGrpSpPr/>
          <p:nvPr/>
        </p:nvGrpSpPr>
        <p:grpSpPr>
          <a:xfrm>
            <a:off x="801948" y="3303008"/>
            <a:ext cx="1757779" cy="1136342"/>
            <a:chOff x="1500325" y="3684233"/>
            <a:chExt cx="1757779" cy="1136342"/>
          </a:xfrm>
        </p:grpSpPr>
        <p:sp>
          <p:nvSpPr>
            <p:cNvPr id="5" name="TextovéPole 4">
              <a:extLst>
                <a:ext uri="{FF2B5EF4-FFF2-40B4-BE49-F238E27FC236}">
                  <a16:creationId xmlns:a16="http://schemas.microsoft.com/office/drawing/2014/main" id="{0983581C-0814-B8DB-E62C-65DA0248F8C2}"/>
                </a:ext>
              </a:extLst>
            </p:cNvPr>
            <p:cNvSpPr txBox="1"/>
            <p:nvPr/>
          </p:nvSpPr>
          <p:spPr>
            <a:xfrm>
              <a:off x="1500325" y="3781887"/>
              <a:ext cx="175777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cs-CZ" dirty="0">
                  <a:solidFill>
                    <a:schemeClr val="bg1"/>
                  </a:solidFill>
                  <a:latin typeface="Amasis MT Pro Black" panose="02040A04050005020304" pitchFamily="18" charset="-18"/>
                </a:rPr>
                <a:t>Heslo133</a:t>
              </a:r>
            </a:p>
            <a:p>
              <a:endParaRPr lang="cs-CZ" dirty="0">
                <a:solidFill>
                  <a:schemeClr val="bg1"/>
                </a:solidFill>
                <a:latin typeface="Amasis MT Pro Black" panose="02040A04050005020304" pitchFamily="18" charset="-18"/>
              </a:endParaRPr>
            </a:p>
          </p:txBody>
        </p:sp>
        <p:sp>
          <p:nvSpPr>
            <p:cNvPr id="6" name="Obdélník: ohnutý roh 5">
              <a:extLst>
                <a:ext uri="{FF2B5EF4-FFF2-40B4-BE49-F238E27FC236}">
                  <a16:creationId xmlns:a16="http://schemas.microsoft.com/office/drawing/2014/main" id="{A703933F-E76C-4F21-1953-750B24B694C3}"/>
                </a:ext>
              </a:extLst>
            </p:cNvPr>
            <p:cNvSpPr/>
            <p:nvPr/>
          </p:nvSpPr>
          <p:spPr>
            <a:xfrm>
              <a:off x="1500326" y="3684233"/>
              <a:ext cx="1757778" cy="1136342"/>
            </a:xfrm>
            <a:prstGeom prst="foldedCorner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  <p:grpSp>
        <p:nvGrpSpPr>
          <p:cNvPr id="7" name="Skupina 6">
            <a:extLst>
              <a:ext uri="{FF2B5EF4-FFF2-40B4-BE49-F238E27FC236}">
                <a16:creationId xmlns:a16="http://schemas.microsoft.com/office/drawing/2014/main" id="{E460BBFE-B5F1-2A2E-0824-C7ED90031D68}"/>
              </a:ext>
            </a:extLst>
          </p:cNvPr>
          <p:cNvGrpSpPr/>
          <p:nvPr/>
        </p:nvGrpSpPr>
        <p:grpSpPr>
          <a:xfrm>
            <a:off x="8676445" y="1400612"/>
            <a:ext cx="3236652" cy="1136342"/>
            <a:chOff x="1500326" y="3684233"/>
            <a:chExt cx="1757779" cy="1136342"/>
          </a:xfrm>
        </p:grpSpPr>
        <p:sp>
          <p:nvSpPr>
            <p:cNvPr id="8" name="TextovéPole 7">
              <a:extLst>
                <a:ext uri="{FF2B5EF4-FFF2-40B4-BE49-F238E27FC236}">
                  <a16:creationId xmlns:a16="http://schemas.microsoft.com/office/drawing/2014/main" id="{D6A4933D-3E7A-D022-0396-BD1983BE5EB6}"/>
                </a:ext>
              </a:extLst>
            </p:cNvPr>
            <p:cNvSpPr txBox="1"/>
            <p:nvPr/>
          </p:nvSpPr>
          <p:spPr>
            <a:xfrm>
              <a:off x="1500326" y="3929238"/>
              <a:ext cx="175777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cs-CZ" dirty="0">
                  <a:solidFill>
                    <a:schemeClr val="bg1"/>
                  </a:solidFill>
                  <a:latin typeface="Amasis MT Pro Black" panose="02040A04050005020304" pitchFamily="18" charset="-18"/>
                </a:rPr>
                <a:t>7aff03960854665c74950f430469641f755d583c</a:t>
              </a:r>
            </a:p>
          </p:txBody>
        </p:sp>
        <p:sp>
          <p:nvSpPr>
            <p:cNvPr id="9" name="Obdélník: ohnutý roh 8">
              <a:extLst>
                <a:ext uri="{FF2B5EF4-FFF2-40B4-BE49-F238E27FC236}">
                  <a16:creationId xmlns:a16="http://schemas.microsoft.com/office/drawing/2014/main" id="{4357CFA5-4436-C5EE-A684-A74CF23D5AEE}"/>
                </a:ext>
              </a:extLst>
            </p:cNvPr>
            <p:cNvSpPr/>
            <p:nvPr/>
          </p:nvSpPr>
          <p:spPr>
            <a:xfrm>
              <a:off x="1500326" y="3684233"/>
              <a:ext cx="1757778" cy="1136342"/>
            </a:xfrm>
            <a:prstGeom prst="foldedCorner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  <p:grpSp>
        <p:nvGrpSpPr>
          <p:cNvPr id="10" name="Skupina 9">
            <a:extLst>
              <a:ext uri="{FF2B5EF4-FFF2-40B4-BE49-F238E27FC236}">
                <a16:creationId xmlns:a16="http://schemas.microsoft.com/office/drawing/2014/main" id="{84D03E10-8237-17F6-0C6E-522DC7CCE065}"/>
              </a:ext>
            </a:extLst>
          </p:cNvPr>
          <p:cNvGrpSpPr/>
          <p:nvPr/>
        </p:nvGrpSpPr>
        <p:grpSpPr>
          <a:xfrm>
            <a:off x="801948" y="1511198"/>
            <a:ext cx="1757779" cy="1136342"/>
            <a:chOff x="1500325" y="3684233"/>
            <a:chExt cx="1757779" cy="1136342"/>
          </a:xfrm>
        </p:grpSpPr>
        <p:sp>
          <p:nvSpPr>
            <p:cNvPr id="11" name="TextovéPole 10">
              <a:extLst>
                <a:ext uri="{FF2B5EF4-FFF2-40B4-BE49-F238E27FC236}">
                  <a16:creationId xmlns:a16="http://schemas.microsoft.com/office/drawing/2014/main" id="{CDD635E3-C3F9-F8C4-F56E-B0B74D38F120}"/>
                </a:ext>
              </a:extLst>
            </p:cNvPr>
            <p:cNvSpPr txBox="1"/>
            <p:nvPr/>
          </p:nvSpPr>
          <p:spPr>
            <a:xfrm>
              <a:off x="1500325" y="3781887"/>
              <a:ext cx="175777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cs-CZ" dirty="0">
                  <a:solidFill>
                    <a:schemeClr val="bg1"/>
                  </a:solidFill>
                  <a:latin typeface="Amasis MT Pro Black" panose="02040A04050005020304" pitchFamily="18" charset="-18"/>
                </a:rPr>
                <a:t>Heslo123</a:t>
              </a:r>
            </a:p>
            <a:p>
              <a:endParaRPr lang="cs-CZ" dirty="0">
                <a:solidFill>
                  <a:schemeClr val="bg1"/>
                </a:solidFill>
                <a:latin typeface="Amasis MT Pro Black" panose="02040A04050005020304" pitchFamily="18" charset="-18"/>
              </a:endParaRPr>
            </a:p>
          </p:txBody>
        </p:sp>
        <p:sp>
          <p:nvSpPr>
            <p:cNvPr id="12" name="Obdélník: ohnutý roh 11">
              <a:extLst>
                <a:ext uri="{FF2B5EF4-FFF2-40B4-BE49-F238E27FC236}">
                  <a16:creationId xmlns:a16="http://schemas.microsoft.com/office/drawing/2014/main" id="{9E0C9D65-C6F7-D3ED-155D-70C36808EEC4}"/>
                </a:ext>
              </a:extLst>
            </p:cNvPr>
            <p:cNvSpPr/>
            <p:nvPr/>
          </p:nvSpPr>
          <p:spPr>
            <a:xfrm>
              <a:off x="1500326" y="3684233"/>
              <a:ext cx="1757778" cy="1136342"/>
            </a:xfrm>
            <a:prstGeom prst="foldedCorner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  <p:grpSp>
        <p:nvGrpSpPr>
          <p:cNvPr id="13" name="Skupina 12">
            <a:extLst>
              <a:ext uri="{FF2B5EF4-FFF2-40B4-BE49-F238E27FC236}">
                <a16:creationId xmlns:a16="http://schemas.microsoft.com/office/drawing/2014/main" id="{9880B883-C137-CF11-F2D6-C64F9764AB46}"/>
              </a:ext>
            </a:extLst>
          </p:cNvPr>
          <p:cNvGrpSpPr/>
          <p:nvPr/>
        </p:nvGrpSpPr>
        <p:grpSpPr>
          <a:xfrm>
            <a:off x="8676445" y="3314192"/>
            <a:ext cx="3236652" cy="1136342"/>
            <a:chOff x="1500326" y="3684233"/>
            <a:chExt cx="1757779" cy="1136342"/>
          </a:xfrm>
        </p:grpSpPr>
        <p:sp>
          <p:nvSpPr>
            <p:cNvPr id="14" name="TextovéPole 13">
              <a:extLst>
                <a:ext uri="{FF2B5EF4-FFF2-40B4-BE49-F238E27FC236}">
                  <a16:creationId xmlns:a16="http://schemas.microsoft.com/office/drawing/2014/main" id="{491C0152-21C4-8BC2-7532-4DA4B9875E58}"/>
                </a:ext>
              </a:extLst>
            </p:cNvPr>
            <p:cNvSpPr txBox="1"/>
            <p:nvPr/>
          </p:nvSpPr>
          <p:spPr>
            <a:xfrm>
              <a:off x="1500326" y="3929238"/>
              <a:ext cx="175777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cs-CZ" dirty="0">
                  <a:solidFill>
                    <a:schemeClr val="bg1"/>
                  </a:solidFill>
                  <a:latin typeface="Amasis MT Pro Black" panose="02040A04050005020304" pitchFamily="18" charset="-18"/>
                </a:rPr>
                <a:t>a495a3e152cda9057aa779e00d708fb27eead222</a:t>
              </a:r>
            </a:p>
          </p:txBody>
        </p:sp>
        <p:sp>
          <p:nvSpPr>
            <p:cNvPr id="15" name="Obdélník: ohnutý roh 14">
              <a:extLst>
                <a:ext uri="{FF2B5EF4-FFF2-40B4-BE49-F238E27FC236}">
                  <a16:creationId xmlns:a16="http://schemas.microsoft.com/office/drawing/2014/main" id="{DC304A35-ED53-047E-B545-5DFB1367FCD3}"/>
                </a:ext>
              </a:extLst>
            </p:cNvPr>
            <p:cNvSpPr/>
            <p:nvPr/>
          </p:nvSpPr>
          <p:spPr>
            <a:xfrm>
              <a:off x="1500326" y="3684233"/>
              <a:ext cx="1757778" cy="1136342"/>
            </a:xfrm>
            <a:prstGeom prst="foldedCorner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  <p:sp>
        <p:nvSpPr>
          <p:cNvPr id="19" name="TextovéPole 18">
            <a:extLst>
              <a:ext uri="{FF2B5EF4-FFF2-40B4-BE49-F238E27FC236}">
                <a16:creationId xmlns:a16="http://schemas.microsoft.com/office/drawing/2014/main" id="{EE7538B1-3583-60A8-9A42-A8EBE350B4A6}"/>
              </a:ext>
            </a:extLst>
          </p:cNvPr>
          <p:cNvSpPr txBox="1"/>
          <p:nvPr/>
        </p:nvSpPr>
        <p:spPr>
          <a:xfrm>
            <a:off x="4197286" y="854798"/>
            <a:ext cx="34386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2400" dirty="0">
                <a:solidFill>
                  <a:schemeClr val="bg1"/>
                </a:solidFill>
                <a:latin typeface="Amasis MT Pro Black" panose="02040A04050005020304" pitchFamily="18" charset="-18"/>
              </a:rPr>
              <a:t>Hashovací funkce</a:t>
            </a:r>
          </a:p>
        </p:txBody>
      </p:sp>
      <p:grpSp>
        <p:nvGrpSpPr>
          <p:cNvPr id="20" name="Skupina 19">
            <a:extLst>
              <a:ext uri="{FF2B5EF4-FFF2-40B4-BE49-F238E27FC236}">
                <a16:creationId xmlns:a16="http://schemas.microsoft.com/office/drawing/2014/main" id="{5EDBCE3F-5A15-CFD2-73F6-F26D2A99A62B}"/>
              </a:ext>
            </a:extLst>
          </p:cNvPr>
          <p:cNvGrpSpPr/>
          <p:nvPr/>
        </p:nvGrpSpPr>
        <p:grpSpPr>
          <a:xfrm>
            <a:off x="322554" y="4924052"/>
            <a:ext cx="3236652" cy="1136342"/>
            <a:chOff x="1500326" y="3684233"/>
            <a:chExt cx="1757779" cy="1136342"/>
          </a:xfrm>
        </p:grpSpPr>
        <p:sp>
          <p:nvSpPr>
            <p:cNvPr id="21" name="TextovéPole 20">
              <a:extLst>
                <a:ext uri="{FF2B5EF4-FFF2-40B4-BE49-F238E27FC236}">
                  <a16:creationId xmlns:a16="http://schemas.microsoft.com/office/drawing/2014/main" id="{04964575-45B4-FBBA-E3E5-F257BB33E081}"/>
                </a:ext>
              </a:extLst>
            </p:cNvPr>
            <p:cNvSpPr txBox="1"/>
            <p:nvPr/>
          </p:nvSpPr>
          <p:spPr>
            <a:xfrm>
              <a:off x="1500326" y="3929238"/>
              <a:ext cx="175777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cs-CZ" dirty="0">
                  <a:solidFill>
                    <a:schemeClr val="bg1"/>
                  </a:solidFill>
                  <a:latin typeface="Amasis MT Pro Black" panose="02040A04050005020304" pitchFamily="18" charset="-18"/>
                </a:rPr>
                <a:t>7aff03960854665c74950f430469641f755d583c</a:t>
              </a:r>
            </a:p>
          </p:txBody>
        </p:sp>
        <p:sp>
          <p:nvSpPr>
            <p:cNvPr id="22" name="Obdélník: ohnutý roh 21">
              <a:extLst>
                <a:ext uri="{FF2B5EF4-FFF2-40B4-BE49-F238E27FC236}">
                  <a16:creationId xmlns:a16="http://schemas.microsoft.com/office/drawing/2014/main" id="{7937AACE-6D8B-71C0-301F-D4B85DDC2997}"/>
                </a:ext>
              </a:extLst>
            </p:cNvPr>
            <p:cNvSpPr/>
            <p:nvPr/>
          </p:nvSpPr>
          <p:spPr>
            <a:xfrm>
              <a:off x="1500326" y="3684233"/>
              <a:ext cx="1757778" cy="1136342"/>
            </a:xfrm>
            <a:prstGeom prst="foldedCorner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  <p:grpSp>
        <p:nvGrpSpPr>
          <p:cNvPr id="26" name="Skupina 25">
            <a:extLst>
              <a:ext uri="{FF2B5EF4-FFF2-40B4-BE49-F238E27FC236}">
                <a16:creationId xmlns:a16="http://schemas.microsoft.com/office/drawing/2014/main" id="{8134C0C3-D854-6D16-17AF-BE2592FA1D3B}"/>
              </a:ext>
            </a:extLst>
          </p:cNvPr>
          <p:cNvGrpSpPr/>
          <p:nvPr/>
        </p:nvGrpSpPr>
        <p:grpSpPr>
          <a:xfrm>
            <a:off x="8676445" y="4924052"/>
            <a:ext cx="1757779" cy="1136342"/>
            <a:chOff x="1500325" y="3684233"/>
            <a:chExt cx="1757779" cy="1136342"/>
          </a:xfrm>
        </p:grpSpPr>
        <p:sp>
          <p:nvSpPr>
            <p:cNvPr id="27" name="TextovéPole 26">
              <a:extLst>
                <a:ext uri="{FF2B5EF4-FFF2-40B4-BE49-F238E27FC236}">
                  <a16:creationId xmlns:a16="http://schemas.microsoft.com/office/drawing/2014/main" id="{DD8600FE-2540-E2EE-9242-10A78BD4C7BA}"/>
                </a:ext>
              </a:extLst>
            </p:cNvPr>
            <p:cNvSpPr txBox="1"/>
            <p:nvPr/>
          </p:nvSpPr>
          <p:spPr>
            <a:xfrm>
              <a:off x="1500325" y="3781887"/>
              <a:ext cx="175777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cs-CZ" dirty="0">
                  <a:solidFill>
                    <a:schemeClr val="bg1"/>
                  </a:solidFill>
                  <a:latin typeface="Amasis MT Pro Black" panose="02040A04050005020304" pitchFamily="18" charset="-18"/>
                </a:rPr>
                <a:t>Heslo123</a:t>
              </a:r>
            </a:p>
            <a:p>
              <a:endParaRPr lang="cs-CZ" dirty="0">
                <a:solidFill>
                  <a:schemeClr val="bg1"/>
                </a:solidFill>
                <a:latin typeface="Amasis MT Pro Black" panose="02040A04050005020304" pitchFamily="18" charset="-18"/>
              </a:endParaRPr>
            </a:p>
          </p:txBody>
        </p:sp>
        <p:sp>
          <p:nvSpPr>
            <p:cNvPr id="28" name="Obdélník: ohnutý roh 27">
              <a:extLst>
                <a:ext uri="{FF2B5EF4-FFF2-40B4-BE49-F238E27FC236}">
                  <a16:creationId xmlns:a16="http://schemas.microsoft.com/office/drawing/2014/main" id="{BA9C5EF2-5B71-40E3-57AB-7E7D07ACD628}"/>
                </a:ext>
              </a:extLst>
            </p:cNvPr>
            <p:cNvSpPr/>
            <p:nvPr/>
          </p:nvSpPr>
          <p:spPr>
            <a:xfrm>
              <a:off x="1500326" y="3684233"/>
              <a:ext cx="1757778" cy="1136342"/>
            </a:xfrm>
            <a:prstGeom prst="foldedCorner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  <p:cxnSp>
        <p:nvCxnSpPr>
          <p:cNvPr id="29" name="Přímá spojnice se šipkou 28">
            <a:extLst>
              <a:ext uri="{FF2B5EF4-FFF2-40B4-BE49-F238E27FC236}">
                <a16:creationId xmlns:a16="http://schemas.microsoft.com/office/drawing/2014/main" id="{1537723F-5932-9CD8-51E0-F583D4E03560}"/>
              </a:ext>
            </a:extLst>
          </p:cNvPr>
          <p:cNvCxnSpPr>
            <a:cxnSpLocks/>
          </p:cNvCxnSpPr>
          <p:nvPr/>
        </p:nvCxnSpPr>
        <p:spPr>
          <a:xfrm>
            <a:off x="2875623" y="2114227"/>
            <a:ext cx="1279127" cy="0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Přímá spojnice se šipkou 29">
            <a:extLst>
              <a:ext uri="{FF2B5EF4-FFF2-40B4-BE49-F238E27FC236}">
                <a16:creationId xmlns:a16="http://schemas.microsoft.com/office/drawing/2014/main" id="{AC27D112-81E0-592E-C30B-159B51FB8F52}"/>
              </a:ext>
            </a:extLst>
          </p:cNvPr>
          <p:cNvCxnSpPr>
            <a:cxnSpLocks/>
          </p:cNvCxnSpPr>
          <p:nvPr/>
        </p:nvCxnSpPr>
        <p:spPr>
          <a:xfrm>
            <a:off x="2920749" y="3882363"/>
            <a:ext cx="1279127" cy="0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Přímá spojnice se šipkou 30">
            <a:extLst>
              <a:ext uri="{FF2B5EF4-FFF2-40B4-BE49-F238E27FC236}">
                <a16:creationId xmlns:a16="http://schemas.microsoft.com/office/drawing/2014/main" id="{067144A9-FB1B-0174-BC15-B2CBA46B57A8}"/>
              </a:ext>
            </a:extLst>
          </p:cNvPr>
          <p:cNvCxnSpPr>
            <a:cxnSpLocks/>
          </p:cNvCxnSpPr>
          <p:nvPr/>
        </p:nvCxnSpPr>
        <p:spPr>
          <a:xfrm>
            <a:off x="6996341" y="2101709"/>
            <a:ext cx="1279127" cy="0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Přímá spojnice se šipkou 31">
            <a:extLst>
              <a:ext uri="{FF2B5EF4-FFF2-40B4-BE49-F238E27FC236}">
                <a16:creationId xmlns:a16="http://schemas.microsoft.com/office/drawing/2014/main" id="{700E4B17-6507-4121-F63F-4CED14D6ED8A}"/>
              </a:ext>
            </a:extLst>
          </p:cNvPr>
          <p:cNvCxnSpPr>
            <a:cxnSpLocks/>
          </p:cNvCxnSpPr>
          <p:nvPr/>
        </p:nvCxnSpPr>
        <p:spPr>
          <a:xfrm>
            <a:off x="7087705" y="3882362"/>
            <a:ext cx="1279127" cy="0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Přímá spojnice se šipkou 32">
            <a:extLst>
              <a:ext uri="{FF2B5EF4-FFF2-40B4-BE49-F238E27FC236}">
                <a16:creationId xmlns:a16="http://schemas.microsoft.com/office/drawing/2014/main" id="{2CA746CA-32CC-AF43-B1D5-CD4F7D91B016}"/>
              </a:ext>
            </a:extLst>
          </p:cNvPr>
          <p:cNvCxnSpPr>
            <a:cxnSpLocks/>
          </p:cNvCxnSpPr>
          <p:nvPr/>
        </p:nvCxnSpPr>
        <p:spPr>
          <a:xfrm>
            <a:off x="3838108" y="5492222"/>
            <a:ext cx="4355981" cy="0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Symbol zákazu 33">
            <a:extLst>
              <a:ext uri="{FF2B5EF4-FFF2-40B4-BE49-F238E27FC236}">
                <a16:creationId xmlns:a16="http://schemas.microsoft.com/office/drawing/2014/main" id="{52C5D6CF-4DBF-F5A2-1139-FC1807C12BA7}"/>
              </a:ext>
            </a:extLst>
          </p:cNvPr>
          <p:cNvSpPr/>
          <p:nvPr/>
        </p:nvSpPr>
        <p:spPr>
          <a:xfrm>
            <a:off x="5807105" y="5169056"/>
            <a:ext cx="621438" cy="646331"/>
          </a:xfrm>
          <a:prstGeom prst="noSmoking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>
              <a:solidFill>
                <a:schemeClr val="tx1"/>
              </a:solidFill>
            </a:endParaRPr>
          </a:p>
        </p:txBody>
      </p:sp>
      <p:pic>
        <p:nvPicPr>
          <p:cNvPr id="36" name="Obrázek 35">
            <a:extLst>
              <a:ext uri="{FF2B5EF4-FFF2-40B4-BE49-F238E27FC236}">
                <a16:creationId xmlns:a16="http://schemas.microsoft.com/office/drawing/2014/main" id="{33B50EFC-5CA8-03E8-1E84-99F5878F26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3133" y="1417846"/>
            <a:ext cx="1459555" cy="1459555"/>
          </a:xfrm>
          <a:prstGeom prst="rect">
            <a:avLst/>
          </a:prstGeom>
        </p:spPr>
      </p:pic>
      <p:pic>
        <p:nvPicPr>
          <p:cNvPr id="37" name="Obrázek 36">
            <a:extLst>
              <a:ext uri="{FF2B5EF4-FFF2-40B4-BE49-F238E27FC236}">
                <a16:creationId xmlns:a16="http://schemas.microsoft.com/office/drawing/2014/main" id="{4B813D58-788D-C685-DA7B-1946624F69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4013" y="3179075"/>
            <a:ext cx="1459555" cy="1459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22191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52712B4-28ED-3C02-B874-109D43F05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dirty="0">
                <a:solidFill>
                  <a:schemeClr val="bg1"/>
                </a:solidFill>
                <a:latin typeface="Amasis MT Pro Black" panose="02040A04050005020304" pitchFamily="18" charset="-18"/>
              </a:rPr>
              <a:t>Firewall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144F76D-1C14-C7B7-812A-7F841386C0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818091" cy="4351338"/>
          </a:xfrm>
        </p:spPr>
        <p:txBody>
          <a:bodyPr>
            <a:normAutofit fontScale="92500" lnSpcReduction="10000"/>
          </a:bodyPr>
          <a:lstStyle/>
          <a:p>
            <a:pPr>
              <a:spcBef>
                <a:spcPts val="2000"/>
              </a:spcBef>
            </a:pPr>
            <a:r>
              <a:rPr lang="cs-CZ" dirty="0">
                <a:solidFill>
                  <a:schemeClr val="bg1"/>
                </a:solidFill>
                <a:latin typeface="Amasis MT Pro Black" panose="02040A04050005020304" pitchFamily="18" charset="-18"/>
              </a:rPr>
              <a:t>Filtruje a řídí síťový provoz</a:t>
            </a:r>
          </a:p>
          <a:p>
            <a:pPr marL="0" indent="0">
              <a:spcBef>
                <a:spcPts val="2000"/>
              </a:spcBef>
              <a:buNone/>
            </a:pPr>
            <a:r>
              <a:rPr lang="cs-CZ" dirty="0">
                <a:solidFill>
                  <a:schemeClr val="bg1"/>
                </a:solidFill>
                <a:latin typeface="Amasis MT Pro Black" panose="02040A04050005020304" pitchFamily="18" charset="-18"/>
              </a:rPr>
              <a:t>Hardwarový</a:t>
            </a:r>
          </a:p>
          <a:p>
            <a:pPr>
              <a:spcBef>
                <a:spcPts val="2000"/>
              </a:spcBef>
            </a:pPr>
            <a:r>
              <a:rPr lang="cs-CZ" dirty="0">
                <a:solidFill>
                  <a:schemeClr val="bg1"/>
                </a:solidFill>
                <a:latin typeface="Amasis MT Pro Black" panose="02040A04050005020304" pitchFamily="18" charset="-18"/>
              </a:rPr>
              <a:t>Fyzické zařízení na úrovni síťového provozu, umístěné mezi privátní a veřejnou sítí</a:t>
            </a:r>
          </a:p>
          <a:p>
            <a:pPr marL="0" indent="0">
              <a:spcBef>
                <a:spcPts val="2000"/>
              </a:spcBef>
              <a:buNone/>
            </a:pPr>
            <a:r>
              <a:rPr lang="cs-CZ" dirty="0">
                <a:solidFill>
                  <a:srgbClr val="00B050"/>
                </a:solidFill>
                <a:latin typeface="Amasis MT Pro Black" panose="02040A04050005020304" pitchFamily="18" charset="-18"/>
              </a:rPr>
              <a:t>+</a:t>
            </a:r>
            <a:r>
              <a:rPr lang="cs-CZ" dirty="0">
                <a:solidFill>
                  <a:schemeClr val="bg1"/>
                </a:solidFill>
                <a:latin typeface="Amasis MT Pro Black" panose="02040A04050005020304" pitchFamily="18" charset="-18"/>
              </a:rPr>
              <a:t> Rychlejší, centrální správa, nezávislé na ostatních zařízeních</a:t>
            </a:r>
          </a:p>
          <a:p>
            <a:pPr marL="0" indent="0">
              <a:spcBef>
                <a:spcPts val="2000"/>
              </a:spcBef>
              <a:buNone/>
            </a:pPr>
            <a:r>
              <a:rPr lang="cs-CZ" dirty="0">
                <a:solidFill>
                  <a:schemeClr val="bg1"/>
                </a:solidFill>
                <a:latin typeface="Amasis MT Pro Black" panose="02040A04050005020304" pitchFamily="18" charset="-18"/>
              </a:rPr>
              <a:t>Softwarový</a:t>
            </a:r>
          </a:p>
          <a:p>
            <a:pPr>
              <a:spcBef>
                <a:spcPts val="2000"/>
              </a:spcBef>
            </a:pPr>
            <a:r>
              <a:rPr lang="cs-CZ" dirty="0">
                <a:solidFill>
                  <a:schemeClr val="bg1"/>
                </a:solidFill>
                <a:latin typeface="Amasis MT Pro Black" panose="02040A04050005020304" pitchFamily="18" charset="-18"/>
              </a:rPr>
              <a:t>Program nainstalovaný na koncovém zařízení</a:t>
            </a:r>
          </a:p>
          <a:p>
            <a:pPr marL="0" indent="0">
              <a:spcBef>
                <a:spcPts val="2000"/>
              </a:spcBef>
              <a:buNone/>
            </a:pPr>
            <a:r>
              <a:rPr lang="cs-CZ" dirty="0">
                <a:solidFill>
                  <a:srgbClr val="00B050"/>
                </a:solidFill>
                <a:latin typeface="Amasis MT Pro Black" panose="02040A04050005020304" pitchFamily="18" charset="-18"/>
              </a:rPr>
              <a:t>+</a:t>
            </a:r>
            <a:r>
              <a:rPr lang="cs-CZ" dirty="0">
                <a:solidFill>
                  <a:schemeClr val="bg1"/>
                </a:solidFill>
                <a:latin typeface="Amasis MT Pro Black" panose="02040A04050005020304" pitchFamily="18" charset="-18"/>
              </a:rPr>
              <a:t> Snadnější použití, menší náklady</a:t>
            </a:r>
          </a:p>
          <a:p>
            <a:endParaRPr lang="cs-CZ" dirty="0">
              <a:solidFill>
                <a:schemeClr val="bg1"/>
              </a:solidFill>
              <a:latin typeface="Amasis MT Pro Black" panose="02040A04050005020304" pitchFamily="18" charset="-18"/>
            </a:endParaRPr>
          </a:p>
        </p:txBody>
      </p:sp>
      <p:pic>
        <p:nvPicPr>
          <p:cNvPr id="7" name="Obrázek 6">
            <a:extLst>
              <a:ext uri="{FF2B5EF4-FFF2-40B4-BE49-F238E27FC236}">
                <a16:creationId xmlns:a16="http://schemas.microsoft.com/office/drawing/2014/main" id="{B3C817FE-930E-008F-CD03-C1AC694C9C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5405" y="365125"/>
            <a:ext cx="1998395" cy="1998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8935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45873EF-A52B-87E7-E204-E152C46FE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dirty="0">
                <a:solidFill>
                  <a:schemeClr val="bg1"/>
                </a:solidFill>
                <a:latin typeface="Amasis MT Pro Black" panose="02040A04050005020304" pitchFamily="18" charset="-18"/>
              </a:rPr>
              <a:t>Blockchain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92FEBD8-4E64-6771-DC5F-0777DED8A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93453"/>
            <a:ext cx="10515600" cy="4351338"/>
          </a:xfrm>
        </p:spPr>
        <p:txBody>
          <a:bodyPr/>
          <a:lstStyle/>
          <a:p>
            <a:pPr>
              <a:spcBef>
                <a:spcPts val="2000"/>
              </a:spcBef>
            </a:pPr>
            <a:r>
              <a:rPr lang="cs-CZ" dirty="0">
                <a:solidFill>
                  <a:schemeClr val="bg1"/>
                </a:solidFill>
                <a:latin typeface="Amasis MT Pro Black" panose="02040A04050005020304" pitchFamily="18" charset="-18"/>
              </a:rPr>
              <a:t>Decentralizovaná databáze záznamu dat formou P2P</a:t>
            </a:r>
          </a:p>
          <a:p>
            <a:pPr>
              <a:spcBef>
                <a:spcPts val="2000"/>
              </a:spcBef>
            </a:pPr>
            <a:r>
              <a:rPr lang="cs-CZ" dirty="0">
                <a:solidFill>
                  <a:schemeClr val="bg1"/>
                </a:solidFill>
                <a:latin typeface="Amasis MT Pro Black" panose="02040A04050005020304" pitchFamily="18" charset="-18"/>
              </a:rPr>
              <a:t>Vytváření řetězce bloků, které obsahují transakce, informace a odkaz na předchozí blok</a:t>
            </a:r>
          </a:p>
          <a:p>
            <a:pPr>
              <a:spcBef>
                <a:spcPts val="2000"/>
              </a:spcBef>
            </a:pPr>
            <a:r>
              <a:rPr lang="cs-CZ" dirty="0">
                <a:solidFill>
                  <a:schemeClr val="bg1"/>
                </a:solidFill>
                <a:latin typeface="Amasis MT Pro Black" panose="02040A04050005020304" pitchFamily="18" charset="-18"/>
              </a:rPr>
              <a:t>Důvěryhodnost bez zapotřebí autority</a:t>
            </a:r>
          </a:p>
          <a:p>
            <a:pPr>
              <a:spcBef>
                <a:spcPts val="2000"/>
              </a:spcBef>
            </a:pPr>
            <a:r>
              <a:rPr lang="cs-CZ" dirty="0">
                <a:solidFill>
                  <a:schemeClr val="bg1"/>
                </a:solidFill>
                <a:latin typeface="Amasis MT Pro Black" panose="02040A04050005020304" pitchFamily="18" charset="-18"/>
              </a:rPr>
              <a:t>Užití: Kryptoměny, Zdravotnictví, Finanční služby</a:t>
            </a:r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589E6DAB-FDAA-7567-3FEC-C193BD9C0B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1940" y="171061"/>
            <a:ext cx="1713689" cy="1713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6938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>
            <a:extLst>
              <a:ext uri="{FF2B5EF4-FFF2-40B4-BE49-F238E27FC236}">
                <a16:creationId xmlns:a16="http://schemas.microsoft.com/office/drawing/2014/main" id="{FF7D58D9-41D5-97ED-53EC-F9AF1CD920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196" y="1286715"/>
            <a:ext cx="1081901" cy="1081901"/>
          </a:xfrm>
          <a:prstGeom prst="rect">
            <a:avLst/>
          </a:prstGeom>
        </p:spPr>
      </p:pic>
      <p:pic>
        <p:nvPicPr>
          <p:cNvPr id="8" name="Obrázek 7">
            <a:extLst>
              <a:ext uri="{FF2B5EF4-FFF2-40B4-BE49-F238E27FC236}">
                <a16:creationId xmlns:a16="http://schemas.microsoft.com/office/drawing/2014/main" id="{54F7D33C-DE6F-620E-C24F-DEFFBDF2FB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4810" y="581486"/>
            <a:ext cx="786886" cy="786886"/>
          </a:xfrm>
          <a:prstGeom prst="rect">
            <a:avLst/>
          </a:prstGeom>
        </p:spPr>
      </p:pic>
      <p:pic>
        <p:nvPicPr>
          <p:cNvPr id="9" name="Obrázek 8">
            <a:extLst>
              <a:ext uri="{FF2B5EF4-FFF2-40B4-BE49-F238E27FC236}">
                <a16:creationId xmlns:a16="http://schemas.microsoft.com/office/drawing/2014/main" id="{DA7D51F8-AEE7-C26F-C35D-C644D17BDB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2143" y="2111879"/>
            <a:ext cx="786886" cy="786886"/>
          </a:xfrm>
          <a:prstGeom prst="rect">
            <a:avLst/>
          </a:prstGeom>
        </p:spPr>
      </p:pic>
      <p:pic>
        <p:nvPicPr>
          <p:cNvPr id="10" name="Obrázek 9">
            <a:extLst>
              <a:ext uri="{FF2B5EF4-FFF2-40B4-BE49-F238E27FC236}">
                <a16:creationId xmlns:a16="http://schemas.microsoft.com/office/drawing/2014/main" id="{4E890C1C-F91E-DC56-18DE-6A3E68AF6D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4891" y="1386401"/>
            <a:ext cx="786886" cy="786886"/>
          </a:xfrm>
          <a:prstGeom prst="rect">
            <a:avLst/>
          </a:prstGeom>
        </p:spPr>
      </p:pic>
      <p:pic>
        <p:nvPicPr>
          <p:cNvPr id="11" name="Obrázek 10">
            <a:extLst>
              <a:ext uri="{FF2B5EF4-FFF2-40B4-BE49-F238E27FC236}">
                <a16:creationId xmlns:a16="http://schemas.microsoft.com/office/drawing/2014/main" id="{B804D24D-1965-BD4D-9002-57C569962B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4341" y="1388739"/>
            <a:ext cx="786886" cy="786886"/>
          </a:xfrm>
          <a:prstGeom prst="rect">
            <a:avLst/>
          </a:prstGeom>
        </p:spPr>
      </p:pic>
      <p:pic>
        <p:nvPicPr>
          <p:cNvPr id="12" name="Obrázek 11">
            <a:extLst>
              <a:ext uri="{FF2B5EF4-FFF2-40B4-BE49-F238E27FC236}">
                <a16:creationId xmlns:a16="http://schemas.microsoft.com/office/drawing/2014/main" id="{FB2FC107-8D93-82FA-01B8-5CDBC5B5C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7892" y="1314620"/>
            <a:ext cx="935123" cy="935123"/>
          </a:xfrm>
          <a:prstGeom prst="rect">
            <a:avLst/>
          </a:prstGeom>
        </p:spPr>
      </p:pic>
      <p:pic>
        <p:nvPicPr>
          <p:cNvPr id="17" name="Obrázek 16">
            <a:extLst>
              <a:ext uri="{FF2B5EF4-FFF2-40B4-BE49-F238E27FC236}">
                <a16:creationId xmlns:a16="http://schemas.microsoft.com/office/drawing/2014/main" id="{5D85B482-BF69-7FE9-FD27-F3AFDF77B6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6021" y="709284"/>
            <a:ext cx="334687" cy="334687"/>
          </a:xfrm>
          <a:prstGeom prst="rect">
            <a:avLst/>
          </a:prstGeom>
        </p:spPr>
      </p:pic>
      <p:cxnSp>
        <p:nvCxnSpPr>
          <p:cNvPr id="18" name="Přímá spojnice se šipkou 17">
            <a:extLst>
              <a:ext uri="{FF2B5EF4-FFF2-40B4-BE49-F238E27FC236}">
                <a16:creationId xmlns:a16="http://schemas.microsoft.com/office/drawing/2014/main" id="{0D689D67-4B60-FA96-C6D8-F176C061A206}"/>
              </a:ext>
            </a:extLst>
          </p:cNvPr>
          <p:cNvCxnSpPr>
            <a:cxnSpLocks/>
          </p:cNvCxnSpPr>
          <p:nvPr/>
        </p:nvCxnSpPr>
        <p:spPr>
          <a:xfrm>
            <a:off x="6268046" y="3429000"/>
            <a:ext cx="0" cy="1261415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ovéPole 32">
            <a:extLst>
              <a:ext uri="{FF2B5EF4-FFF2-40B4-BE49-F238E27FC236}">
                <a16:creationId xmlns:a16="http://schemas.microsoft.com/office/drawing/2014/main" id="{12D6ED90-954D-ABE9-F5E6-51D069D77DF5}"/>
              </a:ext>
            </a:extLst>
          </p:cNvPr>
          <p:cNvSpPr txBox="1"/>
          <p:nvPr/>
        </p:nvSpPr>
        <p:spPr>
          <a:xfrm>
            <a:off x="119684" y="370501"/>
            <a:ext cx="47287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2400" dirty="0">
                <a:solidFill>
                  <a:schemeClr val="bg1"/>
                </a:solidFill>
                <a:latin typeface="Amasis MT Pro Black" panose="02040A04050005020304" pitchFamily="18" charset="-18"/>
              </a:rPr>
              <a:t>1. Vytvoření transakce -&gt; data se uloží do </a:t>
            </a:r>
            <a:r>
              <a:rPr lang="cs-CZ" sz="2400" dirty="0" err="1">
                <a:solidFill>
                  <a:schemeClr val="bg1"/>
                </a:solidFill>
                <a:latin typeface="Amasis MT Pro Black" panose="02040A04050005020304" pitchFamily="18" charset="-18"/>
              </a:rPr>
              <a:t>Blocku</a:t>
            </a:r>
            <a:endParaRPr lang="cs-CZ" sz="2400" dirty="0">
              <a:solidFill>
                <a:schemeClr val="bg1"/>
              </a:solidFill>
              <a:latin typeface="Amasis MT Pro Black" panose="02040A04050005020304" pitchFamily="18" charset="-18"/>
            </a:endParaRPr>
          </a:p>
        </p:txBody>
      </p:sp>
      <p:cxnSp>
        <p:nvCxnSpPr>
          <p:cNvPr id="34" name="Přímá spojnice se šipkou 33">
            <a:extLst>
              <a:ext uri="{FF2B5EF4-FFF2-40B4-BE49-F238E27FC236}">
                <a16:creationId xmlns:a16="http://schemas.microsoft.com/office/drawing/2014/main" id="{C016630B-75EB-472C-851F-ADE2EC831DFD}"/>
              </a:ext>
            </a:extLst>
          </p:cNvPr>
          <p:cNvCxnSpPr>
            <a:cxnSpLocks/>
          </p:cNvCxnSpPr>
          <p:nvPr/>
        </p:nvCxnSpPr>
        <p:spPr>
          <a:xfrm>
            <a:off x="1580262" y="1782182"/>
            <a:ext cx="626465" cy="0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Přímá spojnice se šipkou 36">
            <a:extLst>
              <a:ext uri="{FF2B5EF4-FFF2-40B4-BE49-F238E27FC236}">
                <a16:creationId xmlns:a16="http://schemas.microsoft.com/office/drawing/2014/main" id="{938D53D4-CC3D-C457-D1D7-E85586BFF852}"/>
              </a:ext>
            </a:extLst>
          </p:cNvPr>
          <p:cNvCxnSpPr>
            <a:cxnSpLocks/>
          </p:cNvCxnSpPr>
          <p:nvPr/>
        </p:nvCxnSpPr>
        <p:spPr>
          <a:xfrm>
            <a:off x="3578939" y="1769091"/>
            <a:ext cx="1103897" cy="0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Přímá spojnice se šipkou 41">
            <a:extLst>
              <a:ext uri="{FF2B5EF4-FFF2-40B4-BE49-F238E27FC236}">
                <a16:creationId xmlns:a16="http://schemas.microsoft.com/office/drawing/2014/main" id="{B78E1558-5464-A984-63CC-87CE062E6F80}"/>
              </a:ext>
            </a:extLst>
          </p:cNvPr>
          <p:cNvCxnSpPr>
            <a:cxnSpLocks/>
          </p:cNvCxnSpPr>
          <p:nvPr/>
        </p:nvCxnSpPr>
        <p:spPr>
          <a:xfrm flipV="1">
            <a:off x="6747078" y="3428999"/>
            <a:ext cx="0" cy="1261415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ovéPole 43">
            <a:extLst>
              <a:ext uri="{FF2B5EF4-FFF2-40B4-BE49-F238E27FC236}">
                <a16:creationId xmlns:a16="http://schemas.microsoft.com/office/drawing/2014/main" id="{4FFD2E8B-D1D5-AB7C-9414-3BA55F75D09E}"/>
              </a:ext>
            </a:extLst>
          </p:cNvPr>
          <p:cNvSpPr txBox="1"/>
          <p:nvPr/>
        </p:nvSpPr>
        <p:spPr>
          <a:xfrm>
            <a:off x="7951505" y="533349"/>
            <a:ext cx="423045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2400" dirty="0">
                <a:solidFill>
                  <a:schemeClr val="bg1"/>
                </a:solidFill>
                <a:latin typeface="Amasis MT Pro Black" panose="02040A04050005020304" pitchFamily="18" charset="-18"/>
              </a:rPr>
              <a:t>2. </a:t>
            </a:r>
            <a:r>
              <a:rPr lang="cs-CZ" sz="2400" dirty="0" err="1">
                <a:solidFill>
                  <a:schemeClr val="bg1"/>
                </a:solidFill>
                <a:latin typeface="Amasis MT Pro Black" panose="02040A04050005020304" pitchFamily="18" charset="-18"/>
              </a:rPr>
              <a:t>Block</a:t>
            </a:r>
            <a:r>
              <a:rPr lang="cs-CZ" sz="2400" dirty="0">
                <a:solidFill>
                  <a:schemeClr val="bg1"/>
                </a:solidFill>
                <a:latin typeface="Amasis MT Pro Black" panose="02040A04050005020304" pitchFamily="18" charset="-18"/>
              </a:rPr>
              <a:t> se pošle účastníkům blockchainu, účastníci ověří platnost transakce</a:t>
            </a:r>
          </a:p>
        </p:txBody>
      </p:sp>
      <p:sp>
        <p:nvSpPr>
          <p:cNvPr id="45" name="TextovéPole 44">
            <a:extLst>
              <a:ext uri="{FF2B5EF4-FFF2-40B4-BE49-F238E27FC236}">
                <a16:creationId xmlns:a16="http://schemas.microsoft.com/office/drawing/2014/main" id="{9A18413B-A932-EAFF-5235-2E62D58A6741}"/>
              </a:ext>
            </a:extLst>
          </p:cNvPr>
          <p:cNvSpPr txBox="1"/>
          <p:nvPr/>
        </p:nvSpPr>
        <p:spPr>
          <a:xfrm>
            <a:off x="833889" y="3828872"/>
            <a:ext cx="42304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2400" dirty="0">
                <a:solidFill>
                  <a:schemeClr val="bg1"/>
                </a:solidFill>
                <a:latin typeface="Amasis MT Pro Black" panose="02040A04050005020304" pitchFamily="18" charset="-18"/>
              </a:rPr>
              <a:t>3. </a:t>
            </a:r>
            <a:r>
              <a:rPr lang="cs-CZ" sz="2400" dirty="0" err="1">
                <a:solidFill>
                  <a:schemeClr val="bg1"/>
                </a:solidFill>
                <a:latin typeface="Amasis MT Pro Black" panose="02040A04050005020304" pitchFamily="18" charset="-18"/>
              </a:rPr>
              <a:t>Block</a:t>
            </a:r>
            <a:r>
              <a:rPr lang="cs-CZ" sz="2400" dirty="0">
                <a:solidFill>
                  <a:schemeClr val="bg1"/>
                </a:solidFill>
                <a:latin typeface="Amasis MT Pro Black" panose="02040A04050005020304" pitchFamily="18" charset="-18"/>
              </a:rPr>
              <a:t> se přidá do </a:t>
            </a:r>
            <a:r>
              <a:rPr lang="cs-CZ" sz="2400" dirty="0" err="1">
                <a:solidFill>
                  <a:schemeClr val="bg1"/>
                </a:solidFill>
                <a:latin typeface="Amasis MT Pro Black" panose="02040A04050005020304" pitchFamily="18" charset="-18"/>
              </a:rPr>
              <a:t>chainu</a:t>
            </a:r>
            <a:endParaRPr lang="cs-CZ" sz="2400" dirty="0">
              <a:solidFill>
                <a:schemeClr val="bg1"/>
              </a:solidFill>
              <a:latin typeface="Amasis MT Pro Black" panose="02040A04050005020304" pitchFamily="18" charset="-18"/>
            </a:endParaRPr>
          </a:p>
        </p:txBody>
      </p:sp>
      <p:pic>
        <p:nvPicPr>
          <p:cNvPr id="47" name="Obrázek 46">
            <a:extLst>
              <a:ext uri="{FF2B5EF4-FFF2-40B4-BE49-F238E27FC236}">
                <a16:creationId xmlns:a16="http://schemas.microsoft.com/office/drawing/2014/main" id="{CB1ECC88-258E-41BD-94EA-BB5116B871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0990" y="1506570"/>
            <a:ext cx="334687" cy="334687"/>
          </a:xfrm>
          <a:prstGeom prst="rect">
            <a:avLst/>
          </a:prstGeom>
        </p:spPr>
      </p:pic>
      <p:pic>
        <p:nvPicPr>
          <p:cNvPr id="48" name="Obrázek 47">
            <a:extLst>
              <a:ext uri="{FF2B5EF4-FFF2-40B4-BE49-F238E27FC236}">
                <a16:creationId xmlns:a16="http://schemas.microsoft.com/office/drawing/2014/main" id="{EBC34EBF-E3E9-F8E3-0A49-09C7A3539E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8365" y="1506570"/>
            <a:ext cx="334687" cy="334687"/>
          </a:xfrm>
          <a:prstGeom prst="rect">
            <a:avLst/>
          </a:prstGeom>
        </p:spPr>
      </p:pic>
      <p:pic>
        <p:nvPicPr>
          <p:cNvPr id="49" name="Obrázek 48">
            <a:extLst>
              <a:ext uri="{FF2B5EF4-FFF2-40B4-BE49-F238E27FC236}">
                <a16:creationId xmlns:a16="http://schemas.microsoft.com/office/drawing/2014/main" id="{0436EE28-C4D9-4FC2-6650-9FFD706F73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0909" y="2249743"/>
            <a:ext cx="334687" cy="334687"/>
          </a:xfrm>
          <a:prstGeom prst="rect">
            <a:avLst/>
          </a:prstGeom>
        </p:spPr>
      </p:pic>
      <p:pic>
        <p:nvPicPr>
          <p:cNvPr id="50" name="Obrázek 49">
            <a:extLst>
              <a:ext uri="{FF2B5EF4-FFF2-40B4-BE49-F238E27FC236}">
                <a16:creationId xmlns:a16="http://schemas.microsoft.com/office/drawing/2014/main" id="{83D80ED1-CBC0-2ED3-2BCA-CDD7CC5C63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3407" y="3592144"/>
            <a:ext cx="935123" cy="935123"/>
          </a:xfrm>
          <a:prstGeom prst="rect">
            <a:avLst/>
          </a:prstGeom>
        </p:spPr>
      </p:pic>
      <p:pic>
        <p:nvPicPr>
          <p:cNvPr id="54" name="Obrázek 53">
            <a:extLst>
              <a:ext uri="{FF2B5EF4-FFF2-40B4-BE49-F238E27FC236}">
                <a16:creationId xmlns:a16="http://schemas.microsoft.com/office/drawing/2014/main" id="{14D6DA47-1F74-201D-3C3E-DCF790AE50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5585" y="5023576"/>
            <a:ext cx="720436" cy="720436"/>
          </a:xfrm>
          <a:prstGeom prst="rect">
            <a:avLst/>
          </a:prstGeom>
        </p:spPr>
      </p:pic>
      <p:pic>
        <p:nvPicPr>
          <p:cNvPr id="57" name="Obrázek 56">
            <a:extLst>
              <a:ext uri="{FF2B5EF4-FFF2-40B4-BE49-F238E27FC236}">
                <a16:creationId xmlns:a16="http://schemas.microsoft.com/office/drawing/2014/main" id="{8B6694A7-5407-F799-DE43-BFA407298E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4455" y="5023576"/>
            <a:ext cx="720436" cy="720436"/>
          </a:xfrm>
          <a:prstGeom prst="rect">
            <a:avLst/>
          </a:prstGeom>
        </p:spPr>
      </p:pic>
      <p:pic>
        <p:nvPicPr>
          <p:cNvPr id="58" name="Obrázek 57">
            <a:extLst>
              <a:ext uri="{FF2B5EF4-FFF2-40B4-BE49-F238E27FC236}">
                <a16:creationId xmlns:a16="http://schemas.microsoft.com/office/drawing/2014/main" id="{CECF9AF0-B1F9-F054-5625-54735D707D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0532" y="5030357"/>
            <a:ext cx="720436" cy="720436"/>
          </a:xfrm>
          <a:prstGeom prst="rect">
            <a:avLst/>
          </a:prstGeom>
        </p:spPr>
      </p:pic>
      <p:pic>
        <p:nvPicPr>
          <p:cNvPr id="59" name="Obrázek 58">
            <a:extLst>
              <a:ext uri="{FF2B5EF4-FFF2-40B4-BE49-F238E27FC236}">
                <a16:creationId xmlns:a16="http://schemas.microsoft.com/office/drawing/2014/main" id="{30EDEDDD-8CD5-977F-0880-882009A2CD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0507" y="5023576"/>
            <a:ext cx="786886" cy="786886"/>
          </a:xfrm>
          <a:prstGeom prst="rect">
            <a:avLst/>
          </a:prstGeom>
        </p:spPr>
      </p:pic>
      <p:sp>
        <p:nvSpPr>
          <p:cNvPr id="61" name="TextovéPole 60">
            <a:extLst>
              <a:ext uri="{FF2B5EF4-FFF2-40B4-BE49-F238E27FC236}">
                <a16:creationId xmlns:a16="http://schemas.microsoft.com/office/drawing/2014/main" id="{3EAADD59-AD61-AE08-9F9B-D1A48F79C3D7}"/>
              </a:ext>
            </a:extLst>
          </p:cNvPr>
          <p:cNvSpPr txBox="1"/>
          <p:nvPr/>
        </p:nvSpPr>
        <p:spPr>
          <a:xfrm>
            <a:off x="7951505" y="3437981"/>
            <a:ext cx="42304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2400" dirty="0">
                <a:solidFill>
                  <a:schemeClr val="bg1"/>
                </a:solidFill>
                <a:latin typeface="Amasis MT Pro Black" panose="02040A04050005020304" pitchFamily="18" charset="-18"/>
              </a:rPr>
              <a:t>4. Aktualizovaný </a:t>
            </a:r>
            <a:r>
              <a:rPr lang="cs-CZ" sz="2400" dirty="0" err="1">
                <a:solidFill>
                  <a:schemeClr val="bg1"/>
                </a:solidFill>
                <a:latin typeface="Amasis MT Pro Black" panose="02040A04050005020304" pitchFamily="18" charset="-18"/>
              </a:rPr>
              <a:t>chain</a:t>
            </a:r>
            <a:r>
              <a:rPr lang="cs-CZ" sz="2400" dirty="0">
                <a:solidFill>
                  <a:schemeClr val="bg1"/>
                </a:solidFill>
                <a:latin typeface="Amasis MT Pro Black" panose="02040A04050005020304" pitchFamily="18" charset="-18"/>
              </a:rPr>
              <a:t> je rozeslán všem účastníkům blockchainu</a:t>
            </a:r>
          </a:p>
        </p:txBody>
      </p:sp>
    </p:spTree>
    <p:extLst>
      <p:ext uri="{BB962C8B-B14F-4D97-AF65-F5344CB8AC3E}">
        <p14:creationId xmlns:p14="http://schemas.microsoft.com/office/powerpoint/2010/main" val="19975498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71673-A64C-B8DE-FE40-663D7A82B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3598817-5115-1FED-35BE-1BF903A33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798"/>
            <a:ext cx="10515600" cy="1325563"/>
          </a:xfrm>
        </p:spPr>
        <p:txBody>
          <a:bodyPr>
            <a:normAutofit/>
          </a:bodyPr>
          <a:lstStyle/>
          <a:p>
            <a:r>
              <a:rPr lang="cs-CZ" dirty="0">
                <a:solidFill>
                  <a:schemeClr val="bg1"/>
                </a:solidFill>
                <a:latin typeface="Amasis MT Pro Black" panose="02040A04050005020304" pitchFamily="18" charset="-18"/>
              </a:rPr>
              <a:t>Filtrace a Port </a:t>
            </a:r>
            <a:r>
              <a:rPr lang="cs-CZ" dirty="0" err="1">
                <a:solidFill>
                  <a:schemeClr val="bg1"/>
                </a:solidFill>
                <a:latin typeface="Amasis MT Pro Black" panose="02040A04050005020304" pitchFamily="18" charset="-18"/>
              </a:rPr>
              <a:t>Security</a:t>
            </a:r>
            <a:endParaRPr lang="cs-CZ" dirty="0">
              <a:solidFill>
                <a:schemeClr val="bg1"/>
              </a:solidFill>
              <a:latin typeface="Amasis MT Pro Black" panose="02040A04050005020304" pitchFamily="18" charset="-18"/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E514E6F-95FD-CF29-9111-23ED72D36C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0801"/>
            <a:ext cx="10515600" cy="5181600"/>
          </a:xfrm>
        </p:spPr>
        <p:txBody>
          <a:bodyPr>
            <a:normAutofit lnSpcReduction="10000"/>
          </a:bodyPr>
          <a:lstStyle/>
          <a:p>
            <a:pPr>
              <a:spcBef>
                <a:spcPts val="2000"/>
              </a:spcBef>
            </a:pPr>
            <a:r>
              <a:rPr lang="cs-CZ" sz="2400" dirty="0">
                <a:solidFill>
                  <a:schemeClr val="bg1"/>
                </a:solidFill>
                <a:latin typeface="Amasis MT Pro Black" panose="02040A04050005020304" pitchFamily="18" charset="-18"/>
              </a:rPr>
              <a:t>Filtrace MAC adres</a:t>
            </a:r>
          </a:p>
          <a:p>
            <a:pPr lvl="1">
              <a:spcBef>
                <a:spcPts val="2000"/>
              </a:spcBef>
            </a:pPr>
            <a:r>
              <a:rPr lang="cs-CZ" sz="2000" dirty="0" err="1">
                <a:solidFill>
                  <a:schemeClr val="bg1"/>
                </a:solidFill>
                <a:latin typeface="Amasis MT Pro Black" panose="02040A04050005020304" pitchFamily="18" charset="-18"/>
              </a:rPr>
              <a:t>Blacklist</a:t>
            </a:r>
            <a:r>
              <a:rPr lang="cs-CZ" sz="2000" dirty="0">
                <a:solidFill>
                  <a:schemeClr val="bg1"/>
                </a:solidFill>
                <a:latin typeface="Amasis MT Pro Black" panose="02040A04050005020304" pitchFamily="18" charset="-18"/>
              </a:rPr>
              <a:t> – seznam zakázaných zařízení</a:t>
            </a:r>
          </a:p>
          <a:p>
            <a:pPr lvl="1">
              <a:spcBef>
                <a:spcPts val="2000"/>
              </a:spcBef>
            </a:pPr>
            <a:r>
              <a:rPr lang="cs-CZ" sz="2000" dirty="0" err="1">
                <a:solidFill>
                  <a:schemeClr val="bg1"/>
                </a:solidFill>
                <a:latin typeface="Amasis MT Pro Black" panose="02040A04050005020304" pitchFamily="18" charset="-18"/>
              </a:rPr>
              <a:t>Whitelist</a:t>
            </a:r>
            <a:r>
              <a:rPr lang="cs-CZ" sz="2000" dirty="0">
                <a:solidFill>
                  <a:schemeClr val="bg1"/>
                </a:solidFill>
                <a:latin typeface="Amasis MT Pro Black" panose="02040A04050005020304" pitchFamily="18" charset="-18"/>
              </a:rPr>
              <a:t> – seznam povolených zařízení</a:t>
            </a:r>
          </a:p>
          <a:p>
            <a:pPr>
              <a:spcBef>
                <a:spcPts val="2000"/>
              </a:spcBef>
            </a:pPr>
            <a:r>
              <a:rPr lang="cs-CZ" sz="2400" dirty="0">
                <a:solidFill>
                  <a:schemeClr val="bg1"/>
                </a:solidFill>
                <a:latin typeface="Amasis MT Pro Black" panose="02040A04050005020304" pitchFamily="18" charset="-18"/>
              </a:rPr>
              <a:t>Autorizace zařízení</a:t>
            </a:r>
          </a:p>
          <a:p>
            <a:pPr lvl="1">
              <a:spcBef>
                <a:spcPts val="2000"/>
              </a:spcBef>
            </a:pPr>
            <a:r>
              <a:rPr lang="cs-CZ" sz="2000" dirty="0">
                <a:solidFill>
                  <a:schemeClr val="bg1"/>
                </a:solidFill>
                <a:latin typeface="Amasis MT Pro Black" panose="02040A04050005020304" pitchFamily="18" charset="-18"/>
              </a:rPr>
              <a:t>Povolení přístupu do sítě pouze pro určitá zařízení</a:t>
            </a:r>
          </a:p>
          <a:p>
            <a:pPr>
              <a:spcBef>
                <a:spcPts val="2000"/>
              </a:spcBef>
            </a:pPr>
            <a:r>
              <a:rPr lang="cs-CZ" sz="2400" dirty="0">
                <a:solidFill>
                  <a:schemeClr val="bg1"/>
                </a:solidFill>
                <a:latin typeface="Amasis MT Pro Black" panose="02040A04050005020304" pitchFamily="18" charset="-18"/>
              </a:rPr>
              <a:t>Záznamy</a:t>
            </a:r>
          </a:p>
          <a:p>
            <a:pPr lvl="1">
              <a:spcBef>
                <a:spcPts val="2000"/>
              </a:spcBef>
            </a:pPr>
            <a:r>
              <a:rPr lang="cs-CZ" sz="2000" dirty="0">
                <a:solidFill>
                  <a:schemeClr val="bg1"/>
                </a:solidFill>
                <a:latin typeface="Amasis MT Pro Black" panose="02040A04050005020304" pitchFamily="18" charset="-18"/>
              </a:rPr>
              <a:t>Ukládání záznamů o připojeních, na základě kterých lze eliminovat budoucí hrozby</a:t>
            </a:r>
          </a:p>
          <a:p>
            <a:pPr>
              <a:spcBef>
                <a:spcPts val="2000"/>
              </a:spcBef>
            </a:pPr>
            <a:r>
              <a:rPr lang="cs-CZ" sz="2400" dirty="0">
                <a:solidFill>
                  <a:schemeClr val="bg1"/>
                </a:solidFill>
                <a:latin typeface="Amasis MT Pro Black" panose="02040A04050005020304" pitchFamily="18" charset="-18"/>
              </a:rPr>
              <a:t>TCP RTS</a:t>
            </a:r>
          </a:p>
          <a:p>
            <a:pPr lvl="1">
              <a:spcBef>
                <a:spcPts val="2000"/>
              </a:spcBef>
            </a:pPr>
            <a:r>
              <a:rPr lang="cs-CZ" dirty="0">
                <a:solidFill>
                  <a:schemeClr val="bg1"/>
                </a:solidFill>
                <a:latin typeface="Amasis MT Pro Black" panose="02040A04050005020304" pitchFamily="18" charset="-18"/>
              </a:rPr>
              <a:t>Zasílání RST (reset) paketů (k ukončení spojení) jako reakce na neplatný či nebezpečný provoz</a:t>
            </a:r>
          </a:p>
          <a:p>
            <a:pPr lvl="1">
              <a:spcBef>
                <a:spcPts val="2000"/>
              </a:spcBef>
            </a:pPr>
            <a:endParaRPr lang="cs-CZ" dirty="0">
              <a:solidFill>
                <a:schemeClr val="bg1"/>
              </a:solidFill>
              <a:latin typeface="Amasis MT Pro Black" panose="02040A04050005020304" pitchFamily="18" charset="-18"/>
            </a:endParaRPr>
          </a:p>
          <a:p>
            <a:pPr marL="0" indent="0">
              <a:spcBef>
                <a:spcPts val="2000"/>
              </a:spcBef>
              <a:buNone/>
            </a:pPr>
            <a:endParaRPr lang="cs-CZ" dirty="0">
              <a:solidFill>
                <a:schemeClr val="bg1"/>
              </a:solidFill>
              <a:latin typeface="Amasis MT Pro Black" panose="02040A04050005020304" pitchFamily="18" charset="-18"/>
            </a:endParaRPr>
          </a:p>
        </p:txBody>
      </p:sp>
      <p:pic>
        <p:nvPicPr>
          <p:cNvPr id="7" name="Obrázek 6">
            <a:extLst>
              <a:ext uri="{FF2B5EF4-FFF2-40B4-BE49-F238E27FC236}">
                <a16:creationId xmlns:a16="http://schemas.microsoft.com/office/drawing/2014/main" id="{F587052D-DD96-B784-D331-1664ED4B7A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4741" y="454400"/>
            <a:ext cx="2305455" cy="2305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2396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31E83-BA15-85BE-0EAA-F263F9ACE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F4D7584-DC04-5CDC-2E5E-17B8CE598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dirty="0">
                <a:solidFill>
                  <a:schemeClr val="bg1"/>
                </a:solidFill>
                <a:latin typeface="Amasis MT Pro Black" panose="02040A04050005020304" pitchFamily="18" charset="-18"/>
              </a:rPr>
              <a:t>IDPS (Monitoring)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234AC30-E361-9EF7-37F3-D9CCB9587D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2000"/>
              </a:spcBef>
            </a:pPr>
            <a:r>
              <a:rPr lang="cs-CZ" b="1" dirty="0" err="1">
                <a:solidFill>
                  <a:schemeClr val="bg1"/>
                </a:solidFill>
                <a:latin typeface="Amasis MT Pro Black" panose="02040A04050005020304" pitchFamily="18" charset="-18"/>
              </a:rPr>
              <a:t>I</a:t>
            </a:r>
            <a:r>
              <a:rPr lang="cs-CZ" dirty="0" err="1">
                <a:solidFill>
                  <a:schemeClr val="bg1"/>
                </a:solidFill>
                <a:latin typeface="Amasis MT Pro Black" panose="02040A04050005020304" pitchFamily="18" charset="-18"/>
              </a:rPr>
              <a:t>ntrusion</a:t>
            </a:r>
            <a:r>
              <a:rPr lang="cs-CZ" dirty="0">
                <a:solidFill>
                  <a:schemeClr val="bg1"/>
                </a:solidFill>
                <a:latin typeface="Amasis MT Pro Black" panose="02040A04050005020304" pitchFamily="18" charset="-18"/>
              </a:rPr>
              <a:t> </a:t>
            </a:r>
            <a:r>
              <a:rPr lang="cs-CZ" dirty="0" err="1">
                <a:solidFill>
                  <a:schemeClr val="bg1"/>
                </a:solidFill>
                <a:latin typeface="Amasis MT Pro Black" panose="02040A04050005020304" pitchFamily="18" charset="-18"/>
              </a:rPr>
              <a:t>Detection</a:t>
            </a:r>
            <a:r>
              <a:rPr lang="cs-CZ" dirty="0">
                <a:solidFill>
                  <a:schemeClr val="bg1"/>
                </a:solidFill>
                <a:latin typeface="Amasis MT Pro Black" panose="02040A04050005020304" pitchFamily="18" charset="-18"/>
              </a:rPr>
              <a:t> and </a:t>
            </a:r>
            <a:r>
              <a:rPr lang="cs-CZ" dirty="0" err="1">
                <a:solidFill>
                  <a:schemeClr val="bg1"/>
                </a:solidFill>
                <a:latin typeface="Amasis MT Pro Black" panose="02040A04050005020304" pitchFamily="18" charset="-18"/>
              </a:rPr>
              <a:t>Prevention</a:t>
            </a:r>
            <a:r>
              <a:rPr lang="cs-CZ" dirty="0">
                <a:solidFill>
                  <a:schemeClr val="bg1"/>
                </a:solidFill>
                <a:latin typeface="Amasis MT Pro Black" panose="02040A04050005020304" pitchFamily="18" charset="-18"/>
              </a:rPr>
              <a:t> </a:t>
            </a:r>
            <a:r>
              <a:rPr lang="cs-CZ" dirty="0" err="1">
                <a:solidFill>
                  <a:schemeClr val="bg1"/>
                </a:solidFill>
                <a:latin typeface="Amasis MT Pro Black" panose="02040A04050005020304" pitchFamily="18" charset="-18"/>
              </a:rPr>
              <a:t>System</a:t>
            </a:r>
            <a:endParaRPr lang="cs-CZ" dirty="0">
              <a:solidFill>
                <a:schemeClr val="bg1"/>
              </a:solidFill>
              <a:latin typeface="Amasis MT Pro Black" panose="02040A04050005020304" pitchFamily="18" charset="-18"/>
            </a:endParaRPr>
          </a:p>
          <a:p>
            <a:pPr>
              <a:spcBef>
                <a:spcPts val="2000"/>
              </a:spcBef>
            </a:pPr>
            <a:r>
              <a:rPr lang="cs-CZ" dirty="0">
                <a:solidFill>
                  <a:schemeClr val="bg1"/>
                </a:solidFill>
                <a:latin typeface="Amasis MT Pro Black" panose="02040A04050005020304" pitchFamily="18" charset="-18"/>
              </a:rPr>
              <a:t>Sledování síťového provozu, při kterém se hledají abnormality a známé vzory (na základě databáze signatur jako u antivirového SW), které můžou naznačovat útok</a:t>
            </a:r>
          </a:p>
          <a:p>
            <a:pPr>
              <a:spcBef>
                <a:spcPts val="2000"/>
              </a:spcBef>
            </a:pPr>
            <a:r>
              <a:rPr lang="cs-CZ" dirty="0">
                <a:solidFill>
                  <a:schemeClr val="bg1"/>
                </a:solidFill>
                <a:latin typeface="Amasis MT Pro Black" panose="02040A04050005020304" pitchFamily="18" charset="-18"/>
              </a:rPr>
              <a:t>IDPS dále automaticky reaguje na abnormální chování způsobem blokace či jiných technik, nebo může zasílat data administrátorovi, který může problém na základě poskytovaných dat manuálně vyřešit</a:t>
            </a:r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47505429-E16C-214B-91E5-B887738A80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8979" y="262644"/>
            <a:ext cx="1832730" cy="1832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6729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01A9E5D-7A20-993C-8A9A-380C8D29F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>
                <a:solidFill>
                  <a:schemeClr val="bg1"/>
                </a:solidFill>
                <a:latin typeface="Amasis MT Pro Black" panose="02040A04050005020304" pitchFamily="18" charset="-18"/>
              </a:rPr>
              <a:t>Aktualizace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72AE5C8-7C40-8EBB-13B6-CA5911AC45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2000"/>
              </a:spcBef>
            </a:pPr>
            <a:r>
              <a:rPr lang="cs-CZ" dirty="0">
                <a:solidFill>
                  <a:schemeClr val="bg1"/>
                </a:solidFill>
                <a:latin typeface="Amasis MT Pro Black" panose="02040A04050005020304" pitchFamily="18" charset="-18"/>
              </a:rPr>
              <a:t>Na základě zjištěných chyb a nových způsobů útoků je důležité aby vývojáři svých systémů vydávali aktualizace, ve kterých chyby opraví a obrání systém proti novým formám útoků</a:t>
            </a:r>
          </a:p>
          <a:p>
            <a:pPr>
              <a:spcBef>
                <a:spcPts val="2000"/>
              </a:spcBef>
            </a:pPr>
            <a:r>
              <a:rPr lang="cs-CZ" dirty="0">
                <a:solidFill>
                  <a:schemeClr val="bg1"/>
                </a:solidFill>
                <a:latin typeface="Amasis MT Pro Black" panose="02040A04050005020304" pitchFamily="18" charset="-18"/>
              </a:rPr>
              <a:t>Pro uživatele je v tom případě důležité aby aktualizace implementovali</a:t>
            </a:r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53323007-4172-29FA-5FAD-E8872E4FB2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7115" y="4631986"/>
            <a:ext cx="1789889" cy="1789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554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6357929-9A83-D269-C5A5-6C634243B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dirty="0">
                <a:solidFill>
                  <a:schemeClr val="bg1"/>
                </a:solidFill>
                <a:latin typeface="Amasis MT Pro Black" panose="02040A04050005020304" pitchFamily="18" charset="-18"/>
              </a:rPr>
              <a:t>Bezpečnost na fyzické vrstvě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88861B1-EE4C-2470-369F-600D041324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527" y="1825625"/>
            <a:ext cx="11102109" cy="4351338"/>
          </a:xfrm>
        </p:spPr>
        <p:txBody>
          <a:bodyPr/>
          <a:lstStyle/>
          <a:p>
            <a:r>
              <a:rPr lang="cs-CZ" dirty="0">
                <a:solidFill>
                  <a:schemeClr val="bg1"/>
                </a:solidFill>
                <a:latin typeface="Amasis MT Pro Black" panose="02040A04050005020304" pitchFamily="18" charset="-18"/>
              </a:rPr>
              <a:t>jedna důležitá poznámka:</a:t>
            </a:r>
          </a:p>
          <a:p>
            <a:pPr marL="0" indent="0">
              <a:buNone/>
            </a:pPr>
            <a:r>
              <a:rPr lang="cs-CZ" dirty="0">
                <a:solidFill>
                  <a:schemeClr val="bg1"/>
                </a:solidFill>
                <a:latin typeface="Amasis MT Pro Black" panose="02040A04050005020304" pitchFamily="18" charset="-18"/>
              </a:rPr>
              <a:t>	Všechno je k ničemu, pokud přijde nějaký cizí 	člověk / nekvalifikovaný kolega z 	jiného oddělení a 	odpojí server ze zásuvky!</a:t>
            </a:r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1C17028B-BF96-9931-FD38-8529E26375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0536" y="3885862"/>
            <a:ext cx="2607013" cy="2607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0917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6356795-FCFC-BCFE-C7A4-665756428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dirty="0">
                <a:solidFill>
                  <a:schemeClr val="bg1"/>
                </a:solidFill>
                <a:latin typeface="Amasis MT Pro Black" panose="02040A04050005020304" pitchFamily="18" charset="-18"/>
              </a:rPr>
              <a:t>Prevence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EB0486A-95B1-B5B8-890B-E53C084A8F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cs-CZ" dirty="0">
                <a:solidFill>
                  <a:schemeClr val="bg1"/>
                </a:solidFill>
                <a:latin typeface="Amasis MT Pro Black" panose="02040A04050005020304" pitchFamily="18" charset="-18"/>
              </a:rPr>
              <a:t>Ve zkratce je důležité dodržovat doporučené postupy a využívat bezpečnostní nástroje a opatření dřív než k samotnému útoku, nebo jeho náznaku vůbec dojde</a:t>
            </a:r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CE347CFC-7388-B24D-871B-A3814A607D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9837" y="3685432"/>
            <a:ext cx="2626468" cy="2626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7415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1160</TotalTime>
  <Words>969</Words>
  <Application>Microsoft Office PowerPoint</Application>
  <PresentationFormat>Širokoúhlá obrazovka</PresentationFormat>
  <Paragraphs>151</Paragraphs>
  <Slides>28</Slides>
  <Notes>19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28</vt:i4>
      </vt:variant>
    </vt:vector>
  </HeadingPairs>
  <TitlesOfParts>
    <vt:vector size="33" baseType="lpstr">
      <vt:lpstr>Amasis MT Pro Black</vt:lpstr>
      <vt:lpstr>Arial</vt:lpstr>
      <vt:lpstr>Calibri</vt:lpstr>
      <vt:lpstr>Calibri Light</vt:lpstr>
      <vt:lpstr>Motiv Office</vt:lpstr>
      <vt:lpstr>Prostředky ochrany v kyberprostoru</vt:lpstr>
      <vt:lpstr>Definice kyberprostoru</vt:lpstr>
      <vt:lpstr>Letem světem o hrozbách v kyberprostoru</vt:lpstr>
      <vt:lpstr>Malware</vt:lpstr>
      <vt:lpstr>DoS a DDoS</vt:lpstr>
      <vt:lpstr>DoS</vt:lpstr>
      <vt:lpstr>Prezentace aplikace PowerPoint</vt:lpstr>
      <vt:lpstr>Phishing</vt:lpstr>
      <vt:lpstr>Prezentace aplikace PowerPoint</vt:lpstr>
      <vt:lpstr>Prezentace aplikace PowerPoint</vt:lpstr>
      <vt:lpstr>Spoofing</vt:lpstr>
      <vt:lpstr>Man in the Middle</vt:lpstr>
      <vt:lpstr>Prostředky kybernetické ochrany</vt:lpstr>
      <vt:lpstr>Antivirový a Antimalwarový software</vt:lpstr>
      <vt:lpstr>Autentizace</vt:lpstr>
      <vt:lpstr>Autorizace</vt:lpstr>
      <vt:lpstr>Šifrování</vt:lpstr>
      <vt:lpstr>Šifrování (Symetrické)</vt:lpstr>
      <vt:lpstr>Hashing</vt:lpstr>
      <vt:lpstr>Prezentace aplikace PowerPoint</vt:lpstr>
      <vt:lpstr>Firewall</vt:lpstr>
      <vt:lpstr>Blockchain</vt:lpstr>
      <vt:lpstr>Prezentace aplikace PowerPoint</vt:lpstr>
      <vt:lpstr>Filtrace a Port Security</vt:lpstr>
      <vt:lpstr>IDPS (Monitoring)</vt:lpstr>
      <vt:lpstr>Aktualizace</vt:lpstr>
      <vt:lpstr>Bezpečnost na fyzické vrstvě</vt:lpstr>
      <vt:lpstr>Prevence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