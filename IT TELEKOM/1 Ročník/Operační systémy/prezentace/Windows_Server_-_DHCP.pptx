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7" r:id="rId4"/>
    <p:sldId id="259" r:id="rId5"/>
    <p:sldId id="258" r:id="rId6"/>
    <p:sldId id="269" r:id="rId7"/>
    <p:sldId id="270" r:id="rId8"/>
    <p:sldId id="260" r:id="rId9"/>
    <p:sldId id="264" r:id="rId10"/>
    <p:sldId id="265" r:id="rId11"/>
    <p:sldId id="263" r:id="rId12"/>
    <p:sldId id="261" r:id="rId13"/>
    <p:sldId id="267" r:id="rId14"/>
    <p:sldId id="268" r:id="rId15"/>
    <p:sldId id="262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4A3D1-575A-4CD3-9855-9283A6914D04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28B07-A1FB-499B-BB09-0084B0BDFFD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11480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Reverse Address Resolution Protocol</a:t>
            </a:r>
          </a:p>
          <a:p>
            <a:r>
              <a:rPr lang="cs-CZ" dirty="0"/>
              <a:t>Bootstrap Protocol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8B07-A1FB-499B-BB09-0084B0BDFFD6}" type="slidenum">
              <a:rPr lang="cs-CZ" smtClean="0"/>
              <a:t>3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73894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/>
              <a:t>(přidávání nových stanic, hromadné změně parametrů nebo pro skrytí technických detailů před uživateli)</a:t>
            </a:r>
          </a:p>
          <a:p>
            <a:br>
              <a:rPr lang="cs-CZ" dirty="0"/>
            </a:br>
            <a:r>
              <a:rPr lang="cs-CZ" dirty="0"/>
              <a:t>(seznam jedné nebo více IP adres DNS serverů)</a:t>
            </a:r>
          </a:p>
          <a:p>
            <a:r>
              <a:rPr lang="cs-CZ" dirty="0"/>
              <a:t>a další údaje, např. servery pro NTP, WINS, …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8B07-A1FB-499B-BB09-0084B0BDFFD6}" type="slidenum">
              <a:rPr lang="cs-CZ" smtClean="0"/>
              <a:t>4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01957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84EB8-145E-56DC-6BCB-0BF33F79C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FB059AC-8F2D-06ED-1EA5-851C3331C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7F88FBF6-0EBF-44AE-F37E-1A2CC52A7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/>
              <a:t>(přidávání nových stanic, hromadné změně parametrů nebo pro skrytí technických detailů před uživateli)</a:t>
            </a:r>
          </a:p>
          <a:p>
            <a:br>
              <a:rPr lang="cs-CZ" dirty="0"/>
            </a:br>
            <a:r>
              <a:rPr lang="cs-CZ" dirty="0"/>
              <a:t>(seznam jedné nebo více IP adres DNS serverů)</a:t>
            </a:r>
          </a:p>
          <a:p>
            <a:r>
              <a:rPr lang="cs-CZ" dirty="0"/>
              <a:t>a další údaje, např. servery pro NTP, WINS, …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C5176B7-4C27-4A8A-9A4E-4ED8C3C5A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8B07-A1FB-499B-BB09-0084B0BDFFD6}" type="slidenum">
              <a:rPr lang="cs-CZ" smtClean="0"/>
              <a:t>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7034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7EBC3-B38C-9262-7B09-E9EC0F8EF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AD7B2257-D8D4-B359-74D7-325006C1E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AB0B2B9-1B03-BA43-062F-B5CF29932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/>
              <a:t>(přidávání nových stanic, hromadné změně parametrů nebo pro skrytí technických detailů před uživateli)</a:t>
            </a:r>
          </a:p>
          <a:p>
            <a:br>
              <a:rPr lang="cs-CZ" dirty="0"/>
            </a:br>
            <a:r>
              <a:rPr lang="cs-CZ" dirty="0"/>
              <a:t>(seznam jedné nebo více IP adres DNS serverů)</a:t>
            </a:r>
          </a:p>
          <a:p>
            <a:r>
              <a:rPr lang="cs-CZ" dirty="0"/>
              <a:t>a další údaje, např. servery pro NTP, WINS, …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3C1E0CE-6D75-243A-DA5E-77433F6D4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8B07-A1FB-499B-BB09-0084B0BDFFD6}" type="slidenum">
              <a:rPr lang="cs-CZ" smtClean="0"/>
              <a:t>7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61816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b="0" i="0" dirty="0">
                <a:solidFill>
                  <a:srgbClr val="000000"/>
                </a:solidFill>
                <a:effectLst/>
                <a:latin typeface="Linux Libertine"/>
              </a:rPr>
              <a:t>Request for Comments - označení řady dokumentů popisujících internetové protokoly, systémy apod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8B07-A1FB-499B-BB09-0084B0BDFFD6}" type="slidenum">
              <a:rPr lang="cs-CZ" smtClean="0"/>
              <a:t>9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29630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8B07-A1FB-499B-BB09-0084B0BDFFD6}" type="slidenum">
              <a:rPr lang="cs-CZ" smtClean="0"/>
              <a:t>12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8177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8BAD5D-7F8A-1BBF-4F82-6B7C26493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A7CF2E7-8A9F-ECB7-B4D8-CA864D408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02634E2-5C29-AB6A-3787-288830820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B0E2-C4AE-4E8B-84AC-2582807FBF68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D805665-FAFF-EB3F-B805-3F9E9A235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DB97139-1F10-0440-60D4-9964ED86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786-C801-437B-A7D7-96E4BE325EF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4755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075341-AC25-4549-36D7-22BDC0AF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BDB5AF1-821E-FA90-2941-F85F11870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F46CC88-2E29-0692-3670-A023462CD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B0E2-C4AE-4E8B-84AC-2582807FBF68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7AB26F8-90C8-64E8-170D-82DAE84D3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99FA5A7-2148-9EAA-F1EA-503D2F934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786-C801-437B-A7D7-96E4BE325EF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80460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4C241A-AE6E-E568-A61A-ED8D9B66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2D26AC2-30CD-5FCC-5E8B-11DFBF353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FAD917F-AFE5-DBED-9E79-3A79EAB8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B0E2-C4AE-4E8B-84AC-2582807FBF68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E25DBEF-4758-7619-1160-0AFC3E96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C95FB7-83A4-619E-F5B0-72A53023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786-C801-437B-A7D7-96E4BE325EF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6556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AB38E0-8059-D26E-56D3-42772675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F6802C-A91E-9E5D-EB3A-FAFA5CDFC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4D33A70-3F90-C3DC-B0A1-9D6A159B1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98E2D61-6179-64E2-CD44-D280C196B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B0E2-C4AE-4E8B-84AC-2582807FBF68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89922ED-47A7-EA08-62B9-1E6F3F49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7AB7F6A-ABE9-D543-3B45-0189B666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786-C801-437B-A7D7-96E4BE325EF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35951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C34AB3-E4F8-F0AE-4C5F-CD942D890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8C7BDCA-6C74-7846-7298-31CAE2BCF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0077584-BC4B-F16A-CF19-581FDB658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89E7F71-D5E7-FD09-83E5-ABE579ED9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545BBEA-6917-4B07-7D9D-E59A9271D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851E3EDB-D228-B73B-7778-DC598FA82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B0E2-C4AE-4E8B-84AC-2582807FBF68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4B1D658-C962-BD14-8562-7280D7AE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5F37F04-23C2-B6C9-5D03-15CC9E1C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786-C801-437B-A7D7-96E4BE325EF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1647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101771-E858-C17C-A3CA-248E3458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68CEBA63-44ED-2E35-20B5-2B4691E51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B0E2-C4AE-4E8B-84AC-2582807FBF68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5C7E9BE-9832-86A3-F8A3-5188F568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FC33A2C-8D94-4152-55D6-FC74F3C8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786-C801-437B-A7D7-96E4BE325EF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4097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3376EFE-FBC9-2A9D-C6B1-4BDBEC21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B0E2-C4AE-4E8B-84AC-2582807FBF68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1A30923-F6A0-63AB-F1EE-52333DA5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89E1F46-E655-EFF3-5C3A-CD2ADFA8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786-C801-437B-A7D7-96E4BE325EF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4519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22A08-800C-968D-BDBC-B189CFD0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EA7052C-8947-559A-806E-241E1016B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9D31984-61DF-B575-0B35-1388A1BC5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EA00DDB-144F-72FD-800B-1360FC0DB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B0E2-C4AE-4E8B-84AC-2582807FBF68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67F1A94-E802-3738-3ACC-1A6E81DAB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12DA182-663D-A72C-8593-A3F5B520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786-C801-437B-A7D7-96E4BE325EF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19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E06387-449D-E2CA-4312-BC2546C6D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1E49CA8-8DFA-A910-4812-EC1059D95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878EC57-E854-DB2B-C963-D5ADCD8A7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45D6A5F-B36D-FF3D-F213-AA5A1F96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B0E2-C4AE-4E8B-84AC-2582807FBF68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94BDD85-1F5F-4C34-0E98-B5990C48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38F730B-F7BB-BC99-852D-B48C56BB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786-C801-437B-A7D7-96E4BE325EF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26094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8BFC2B-4090-0C38-40DB-6A88642E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BE4F1B-0CBD-1817-6134-642D46FA8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C80DDC7-B0D7-D477-B360-EDA59738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B0E2-C4AE-4E8B-84AC-2582807FBF68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40A191A-4CF4-767C-B0D7-592732A6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8170346-5FDC-6F14-E964-6234FFD5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786-C801-437B-A7D7-96E4BE325EF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8821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52C0A90-922D-1B31-4240-37A728F0B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DDA34BA-0C4F-2F5A-DFF2-21C7E7AC0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C6EA593-0A50-A478-58B0-FA026733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B0E2-C4AE-4E8B-84AC-2582807FBF68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20DBAC4-20F5-A79C-9462-5AC95E5AD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CB1241-40CA-E7D9-9B4D-006CD087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786-C801-437B-A7D7-96E4BE325EF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46824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BBAC03-809F-17C7-F5C3-AE4556C0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E2AB4B4-67BF-27D0-A2CE-9874642C5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09E9E8-6CEC-4E9F-2E74-43C294D76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7B0E2-C4AE-4E8B-84AC-2582807FBF68}" type="datetimeFigureOut">
              <a:rPr lang="cs-CZ" smtClean="0"/>
              <a:t>29.08.2026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0331F27-CAAE-7657-78DA-50F2728A4A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FEC85BE-DB07-6DEB-896D-AADF1867A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7B786-C801-437B-A7D7-96E4BE325EF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9653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ll.com/support/kbdoc/cs-cz/000136459/jak-nakonfigurovat-server-dhcp-v-syst%C3%A9mu-windows-server-2012" TargetMode="External"/><Relationship Id="rId2" Type="http://schemas.openxmlformats.org/officeDocument/2006/relationships/hyperlink" Target="https://learn.microsoft.com/en-us/windows-server/networking/technologies/dhcp/quickstart-install-configure-dhcp-server?tabs=powershel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hyperlink" Target="https://www.techtarget.com/searchnetworking/tip/A-guide-to-Windows-DHCP-server-configuration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PF3jP2IF7M?feature=oembe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ll.com/support/kbdoc/cs-cz/000136459/jak-nakonfigurovat-server-dhcp-v-syst%C3%A9mu-windows-server-2012" TargetMode="External"/><Relationship Id="rId2" Type="http://schemas.openxmlformats.org/officeDocument/2006/relationships/hyperlink" Target="https://en.wikipedia.org/wiki/Dynamic_Host_Configuration_Protoco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echtarget.com/searchnetworking/tip/A-guide-to-Windows-DHCP-server-configuration" TargetMode="External"/><Relationship Id="rId4" Type="http://schemas.openxmlformats.org/officeDocument/2006/relationships/hyperlink" Target="https://learn.microsoft.com/en-us/windows-server/networking/technologies/dhcp/quickstart-install-configure-dhcp-server?tabs=powershe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2E2A5994-BE6B-A9ED-9407-FFF62D13EFE5}"/>
              </a:ext>
            </a:extLst>
          </p:cNvPr>
          <p:cNvSpPr/>
          <p:nvPr/>
        </p:nvSpPr>
        <p:spPr>
          <a:xfrm>
            <a:off x="-1" y="0"/>
            <a:ext cx="12192001" cy="36020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CF01269-D51A-5ADA-BF4E-7E75EB569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3392"/>
            <a:ext cx="9144000" cy="4135438"/>
          </a:xfrm>
        </p:spPr>
        <p:txBody>
          <a:bodyPr>
            <a:normAutofit/>
          </a:bodyPr>
          <a:lstStyle/>
          <a:p>
            <a:r>
              <a:rPr lang="cs-CZ" b="1" dirty="0">
                <a:solidFill>
                  <a:schemeClr val="bg1"/>
                </a:solidFill>
              </a:rPr>
              <a:t>WINDOWS SERVER</a:t>
            </a:r>
            <a:br>
              <a:rPr lang="cs-CZ" b="1" dirty="0">
                <a:solidFill>
                  <a:schemeClr val="bg1"/>
                </a:solidFill>
              </a:rPr>
            </a:br>
            <a:br>
              <a:rPr lang="cs-CZ" b="1">
                <a:solidFill>
                  <a:schemeClr val="bg1"/>
                </a:solidFill>
              </a:rPr>
            </a:br>
            <a:endParaRPr lang="cs-CZ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165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A931-62AB-3E6E-C733-923E3AE1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D19171-B100-D28D-182B-9A4D0E2F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chemeClr val="accent1">
                    <a:lumMod val="75000"/>
                  </a:schemeClr>
                </a:solidFill>
              </a:rPr>
              <a:t>Základní informace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11572C1-9E59-54B0-66ED-C29A7734E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139"/>
            <a:ext cx="7986486" cy="4351338"/>
          </a:xfrm>
        </p:spPr>
        <p:txBody>
          <a:bodyPr/>
          <a:lstStyle/>
          <a:p>
            <a:r>
              <a:rPr lang="cs-CZ" dirty="0"/>
              <a:t>zkratka z Dynamic Host Configuration Protocol</a:t>
            </a:r>
          </a:p>
          <a:p>
            <a:r>
              <a:rPr lang="cs-CZ" dirty="0"/>
              <a:t>protokol TCP/IP / označení DHCP serveru či klienta </a:t>
            </a:r>
          </a:p>
          <a:p>
            <a:r>
              <a:rPr lang="cs-CZ" dirty="0"/>
              <a:t>automatická konfigurace počítačů připojených do počítačové sítě</a:t>
            </a:r>
          </a:p>
          <a:p>
            <a:r>
              <a:rPr lang="en-US" dirty="0"/>
              <a:t>UDP port 67 </a:t>
            </a:r>
            <a:r>
              <a:rPr lang="cs-CZ" dirty="0"/>
              <a:t>- server</a:t>
            </a:r>
          </a:p>
          <a:p>
            <a:r>
              <a:rPr lang="en-US" dirty="0"/>
              <a:t>UDP port</a:t>
            </a:r>
            <a:r>
              <a:rPr lang="cs-CZ" dirty="0"/>
              <a:t> </a:t>
            </a:r>
            <a:r>
              <a:rPr lang="en-US" dirty="0"/>
              <a:t>68 </a:t>
            </a:r>
            <a:r>
              <a:rPr lang="cs-CZ" dirty="0"/>
              <a:t>- klient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D5708C1E-B0A6-D45C-7456-96B476E452FB}"/>
              </a:ext>
            </a:extLst>
          </p:cNvPr>
          <p:cNvSpPr/>
          <p:nvPr/>
        </p:nvSpPr>
        <p:spPr>
          <a:xfrm>
            <a:off x="8824686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Grafický objekt 7" descr="Informace se souvislou výplní">
            <a:extLst>
              <a:ext uri="{FF2B5EF4-FFF2-40B4-BE49-F238E27FC236}">
                <a16:creationId xmlns:a16="http://schemas.microsoft.com/office/drawing/2014/main" id="{4146A7D8-21E5-FADE-62A6-5308A1C42E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9200" y="2576058"/>
            <a:ext cx="1698285" cy="169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640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548303-F972-B701-57B7-CC8397C4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chemeClr val="accent1">
                    <a:lumMod val="75000"/>
                  </a:schemeClr>
                </a:solidFill>
              </a:rPr>
              <a:t>Stručná historie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5043E8-F446-554B-00B8-645CB1F69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139"/>
            <a:ext cx="7986486" cy="4351338"/>
          </a:xfrm>
        </p:spPr>
        <p:txBody>
          <a:bodyPr>
            <a:normAutofit/>
          </a:bodyPr>
          <a:lstStyle/>
          <a:p>
            <a:r>
              <a:rPr lang="cs-CZ" dirty="0"/>
              <a:t>RARP - 1984, konfigurace zařízení bez disku</a:t>
            </a:r>
          </a:p>
          <a:p>
            <a:r>
              <a:rPr lang="cs-CZ" dirty="0"/>
              <a:t>BOOTP - 1985, nahrazuje RARP</a:t>
            </a:r>
          </a:p>
          <a:p>
            <a:r>
              <a:rPr lang="cs-CZ" dirty="0"/>
              <a:t>DHCP - 1993, založen na BOOTP, možnost dynamicky přidělovat IP adresy z poolu a získat je zpět</a:t>
            </a:r>
          </a:p>
          <a:p>
            <a:r>
              <a:rPr lang="cs-CZ" dirty="0"/>
              <a:t>DHCPv6 - 2003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8D4D935B-4893-03C9-5830-0EA5D0D8A030}"/>
              </a:ext>
            </a:extLst>
          </p:cNvPr>
          <p:cNvSpPr/>
          <p:nvPr/>
        </p:nvSpPr>
        <p:spPr>
          <a:xfrm>
            <a:off x="8824686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Grafický objekt 7" descr="Přesýpací hodiny – dokončeno se souvislou výplní">
            <a:extLst>
              <a:ext uri="{FF2B5EF4-FFF2-40B4-BE49-F238E27FC236}">
                <a16:creationId xmlns:a16="http://schemas.microsoft.com/office/drawing/2014/main" id="{D8B6A6F5-6032-54F6-DE67-614459149A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59200" y="2576058"/>
            <a:ext cx="1698285" cy="169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0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548303-F972-B701-57B7-CC8397C4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chemeClr val="accent1">
                    <a:lumMod val="75000"/>
                  </a:schemeClr>
                </a:solidFill>
              </a:rPr>
              <a:t>Charakteristika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5043E8-F446-554B-00B8-645CB1F69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86485" cy="4351338"/>
          </a:xfrm>
        </p:spPr>
        <p:txBody>
          <a:bodyPr>
            <a:normAutofit/>
          </a:bodyPr>
          <a:lstStyle/>
          <a:p>
            <a:r>
              <a:rPr lang="cs-CZ" dirty="0"/>
              <a:t>DHCP umožňuje nastavovat v počítačové síti sadu parametrů nutných pro komunikaci pomocí IP protokolu</a:t>
            </a:r>
          </a:p>
          <a:p>
            <a:r>
              <a:rPr lang="cs-CZ" dirty="0"/>
              <a:t>zjednodušuje a centralizuje správu počítačové sítě servery mohou být v skupinách - přidělování odolné vůči výpadkům </a:t>
            </a:r>
          </a:p>
          <a:p>
            <a:r>
              <a:rPr lang="cs-CZ" dirty="0"/>
              <a:t>pokud K. některým parametrům nerozumí - ignoruje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289B69E1-CCDE-DF01-9AE1-4B6596343747}"/>
              </a:ext>
            </a:extLst>
          </p:cNvPr>
          <p:cNvSpPr/>
          <p:nvPr/>
        </p:nvSpPr>
        <p:spPr>
          <a:xfrm>
            <a:off x="8824686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Grafický objekt 4" descr="Informace se souvislou výplní">
            <a:extLst>
              <a:ext uri="{FF2B5EF4-FFF2-40B4-BE49-F238E27FC236}">
                <a16:creationId xmlns:a16="http://schemas.microsoft.com/office/drawing/2014/main" id="{F8EE2F8B-EC0A-AB85-04CB-82341E734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9200" y="2576058"/>
            <a:ext cx="1698285" cy="169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3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548303-F972-B701-57B7-CC8397C4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chemeClr val="accent1">
                    <a:lumMod val="75000"/>
                  </a:schemeClr>
                </a:solidFill>
              </a:rPr>
              <a:t>Klient a Server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5043E8-F446-554B-00B8-645CB1F69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82343" cy="4351338"/>
          </a:xfrm>
        </p:spPr>
        <p:txBody>
          <a:bodyPr/>
          <a:lstStyle/>
          <a:p>
            <a:r>
              <a:rPr lang="cs-CZ" dirty="0"/>
              <a:t>S. přiděluje počítačům: </a:t>
            </a:r>
          </a:p>
          <a:p>
            <a:pPr lvl="1"/>
            <a:r>
              <a:rPr lang="cs-CZ" dirty="0"/>
              <a:t>IP adresu, masku sítě, defaultní bránu (default gateway) a adresu DNS serveru</a:t>
            </a:r>
          </a:p>
          <a:p>
            <a:r>
              <a:rPr lang="cs-CZ" dirty="0"/>
              <a:t>platnost přidělených údajů je omezená</a:t>
            </a:r>
          </a:p>
          <a:p>
            <a:r>
              <a:rPr lang="cs-CZ" dirty="0"/>
              <a:t>na PC spuštěn K., prodlužující jejich platnost</a:t>
            </a:r>
          </a:p>
          <a:p>
            <a:endParaRPr lang="cs-CZ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DD5305A3-4863-8E34-4D93-602ED929D343}"/>
              </a:ext>
            </a:extLst>
          </p:cNvPr>
          <p:cNvSpPr/>
          <p:nvPr/>
        </p:nvSpPr>
        <p:spPr>
          <a:xfrm>
            <a:off x="8820543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Grafický objekt 5" descr="Server se souvislou výplní">
            <a:extLst>
              <a:ext uri="{FF2B5EF4-FFF2-40B4-BE49-F238E27FC236}">
                <a16:creationId xmlns:a16="http://schemas.microsoft.com/office/drawing/2014/main" id="{3426DA8B-9A33-68A6-2F6E-73AFFE7552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4600" y="2579400"/>
            <a:ext cx="1699200" cy="16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1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84ED1-98DF-58EC-77E5-A886A0FA9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C72DFA-4EB5-D1C5-27E3-3DD6823C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chemeClr val="accent1">
                    <a:lumMod val="75000"/>
                  </a:schemeClr>
                </a:solidFill>
              </a:rPr>
              <a:t>Princip DHCP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B1C6FE-2D53-5265-9475-1353536B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86486" cy="4351338"/>
          </a:xfrm>
        </p:spPr>
        <p:txBody>
          <a:bodyPr>
            <a:normAutofit/>
          </a:bodyPr>
          <a:lstStyle/>
          <a:p>
            <a:r>
              <a:rPr lang="en-US" dirty="0"/>
              <a:t>Discovery</a:t>
            </a:r>
            <a:r>
              <a:rPr lang="cs-CZ" dirty="0"/>
              <a:t> (objevení)</a:t>
            </a:r>
          </a:p>
          <a:p>
            <a:r>
              <a:rPr lang="cs-CZ" dirty="0"/>
              <a:t>Offer (nabídka)</a:t>
            </a:r>
          </a:p>
          <a:p>
            <a:r>
              <a:rPr lang="cs-CZ" dirty="0"/>
              <a:t>Request (žádost)</a:t>
            </a:r>
          </a:p>
          <a:p>
            <a:r>
              <a:rPr lang="cs-CZ" dirty="0"/>
              <a:t>Acknowledgement (potvrzení)</a:t>
            </a:r>
          </a:p>
          <a:p>
            <a:r>
              <a:rPr lang="cs-CZ" dirty="0"/>
              <a:t>Ostatní</a:t>
            </a:r>
          </a:p>
          <a:p>
            <a:pPr lvl="1"/>
            <a:r>
              <a:rPr lang="en-US" dirty="0"/>
              <a:t>Information</a:t>
            </a:r>
            <a:r>
              <a:rPr lang="cs-CZ" dirty="0"/>
              <a:t> (informace)</a:t>
            </a:r>
            <a:endParaRPr lang="en-US" dirty="0"/>
          </a:p>
          <a:p>
            <a:pPr lvl="1"/>
            <a:r>
              <a:rPr lang="cs-CZ" dirty="0"/>
              <a:t>Releasing (uvolnění)</a:t>
            </a:r>
          </a:p>
          <a:p>
            <a:pPr lvl="1"/>
            <a:r>
              <a:rPr lang="cs-CZ" dirty="0"/>
              <a:t>…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6F9CC8F6-533B-7EF4-906A-B2AED7BF2AFF}"/>
              </a:ext>
            </a:extLst>
          </p:cNvPr>
          <p:cNvSpPr/>
          <p:nvPr/>
        </p:nvSpPr>
        <p:spPr>
          <a:xfrm>
            <a:off x="8824686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	</a:t>
            </a:r>
          </a:p>
        </p:txBody>
      </p:sp>
      <p:pic>
        <p:nvPicPr>
          <p:cNvPr id="6" name="Grafický objekt 5" descr="Kruhová šipka se souvislou výplní">
            <a:extLst>
              <a:ext uri="{FF2B5EF4-FFF2-40B4-BE49-F238E27FC236}">
                <a16:creationId xmlns:a16="http://schemas.microsoft.com/office/drawing/2014/main" id="{DE5603D2-F050-A4D7-C8C5-4B06F3ED55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59200" y="2576058"/>
            <a:ext cx="1698285" cy="169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57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165D9-3F02-8EA0-9E8F-50594061C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B83A9749-5EC1-DBD6-A35E-5553E87DAA1F}"/>
              </a:ext>
            </a:extLst>
          </p:cNvPr>
          <p:cNvSpPr/>
          <p:nvPr/>
        </p:nvSpPr>
        <p:spPr>
          <a:xfrm>
            <a:off x="8824686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DC4A793C-DCC3-33CD-54E8-EDFFC33CE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654" y="923330"/>
            <a:ext cx="4402690" cy="622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bdélník 9">
            <a:extLst>
              <a:ext uri="{FF2B5EF4-FFF2-40B4-BE49-F238E27FC236}">
                <a16:creationId xmlns:a16="http://schemas.microsoft.com/office/drawing/2014/main" id="{721C316F-BFC5-D6E9-E8EF-58540BD06F73}"/>
              </a:ext>
            </a:extLst>
          </p:cNvPr>
          <p:cNvSpPr/>
          <p:nvPr/>
        </p:nvSpPr>
        <p:spPr>
          <a:xfrm>
            <a:off x="0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EEAC37F3-8A55-FC89-7803-F7684593C2CF}"/>
              </a:ext>
            </a:extLst>
          </p:cNvPr>
          <p:cNvSpPr txBox="1"/>
          <p:nvPr/>
        </p:nvSpPr>
        <p:spPr>
          <a:xfrm>
            <a:off x="3588655" y="0"/>
            <a:ext cx="5130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400" b="1" dirty="0">
                <a:solidFill>
                  <a:schemeClr val="accent1">
                    <a:lumMod val="75000"/>
                  </a:schemeClr>
                </a:solidFill>
              </a:rPr>
              <a:t>Princip - obrázek</a:t>
            </a:r>
          </a:p>
        </p:txBody>
      </p:sp>
    </p:spTree>
    <p:extLst>
      <p:ext uri="{BB962C8B-B14F-4D97-AF65-F5344CB8AC3E}">
        <p14:creationId xmlns:p14="http://schemas.microsoft.com/office/powerpoint/2010/main" val="148538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548303-F972-B701-57B7-CC8397C4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Discovery</a:t>
            </a:r>
            <a:endParaRPr lang="cs-CZ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5043E8-F446-554B-00B8-645CB1F69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986487" cy="4351338"/>
          </a:xfrm>
        </p:spPr>
        <p:txBody>
          <a:bodyPr>
            <a:normAutofit/>
          </a:bodyPr>
          <a:lstStyle/>
          <a:p>
            <a:r>
              <a:rPr lang="cs-CZ" dirty="0"/>
              <a:t>K. vysílá</a:t>
            </a:r>
            <a:r>
              <a:rPr lang="en-US" dirty="0"/>
              <a:t> </a:t>
            </a:r>
            <a:r>
              <a:rPr lang="cs-CZ" dirty="0"/>
              <a:t>zprávu </a:t>
            </a:r>
            <a:r>
              <a:rPr lang="en-US" dirty="0"/>
              <a:t>DHCPDISCOVER</a:t>
            </a:r>
            <a:r>
              <a:rPr lang="cs-CZ" dirty="0"/>
              <a:t> (broadcast/ </a:t>
            </a:r>
            <a:r>
              <a:rPr lang="en-US" dirty="0"/>
              <a:t>konkrétní adres</a:t>
            </a:r>
            <a:r>
              <a:rPr lang="cs-CZ" dirty="0"/>
              <a:t>a)</a:t>
            </a:r>
            <a:r>
              <a:rPr lang="en-US" dirty="0"/>
              <a:t> </a:t>
            </a:r>
            <a:r>
              <a:rPr lang="cs-CZ" dirty="0"/>
              <a:t>do </a:t>
            </a:r>
            <a:r>
              <a:rPr lang="en-US" dirty="0"/>
              <a:t>podsítě</a:t>
            </a:r>
            <a:endParaRPr lang="cs-CZ" dirty="0"/>
          </a:p>
          <a:p>
            <a:r>
              <a:rPr lang="cs-CZ" dirty="0"/>
              <a:t>K. si může vy</a:t>
            </a:r>
            <a:r>
              <a:rPr lang="en-US" dirty="0"/>
              <a:t>ž</a:t>
            </a:r>
            <a:r>
              <a:rPr lang="cs-CZ" dirty="0"/>
              <a:t>á</a:t>
            </a:r>
            <a:r>
              <a:rPr lang="en-US" dirty="0"/>
              <a:t>d</a:t>
            </a:r>
            <a:r>
              <a:rPr lang="cs-CZ" dirty="0"/>
              <a:t>at</a:t>
            </a:r>
            <a:r>
              <a:rPr lang="en-US" dirty="0"/>
              <a:t> IP adresu </a:t>
            </a:r>
            <a:r>
              <a:rPr lang="cs-CZ" dirty="0"/>
              <a:t>v </a:t>
            </a:r>
            <a:r>
              <a:rPr lang="en-US" dirty="0"/>
              <a:t>DHCPDISCOVER, kterou </a:t>
            </a:r>
            <a:r>
              <a:rPr lang="cs-CZ" dirty="0"/>
              <a:t>S. z</a:t>
            </a:r>
            <a:r>
              <a:rPr lang="en-US" dirty="0"/>
              <a:t>v</a:t>
            </a:r>
            <a:r>
              <a:rPr lang="cs-CZ" dirty="0"/>
              <a:t>aží</a:t>
            </a:r>
            <a:r>
              <a:rPr lang="en-US" dirty="0"/>
              <a:t> při výběru </a:t>
            </a:r>
            <a:r>
              <a:rPr lang="cs-CZ" dirty="0"/>
              <a:t>nabízející </a:t>
            </a:r>
            <a:r>
              <a:rPr lang="en-US" dirty="0" err="1"/>
              <a:t>adresy</a:t>
            </a:r>
            <a:endParaRPr lang="en-US" dirty="0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A6581296-49E1-EED9-0755-D676B22E83AC}"/>
              </a:ext>
            </a:extLst>
          </p:cNvPr>
          <p:cNvSpPr/>
          <p:nvPr/>
        </p:nvSpPr>
        <p:spPr>
          <a:xfrm>
            <a:off x="8824686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6" name="Grafický objekt 15" descr="Cesta se souvislou výplní">
            <a:extLst>
              <a:ext uri="{FF2B5EF4-FFF2-40B4-BE49-F238E27FC236}">
                <a16:creationId xmlns:a16="http://schemas.microsoft.com/office/drawing/2014/main" id="{B64EB5E8-A658-0468-0FB7-BF2BC18334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659200" y="2576058"/>
            <a:ext cx="1698285" cy="169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70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548303-F972-B701-57B7-CC8397C4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chemeClr val="accent1">
                    <a:lumMod val="75000"/>
                  </a:schemeClr>
                </a:solidFill>
              </a:rPr>
              <a:t>Offer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5043E8-F446-554B-00B8-645CB1F69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05750" cy="4351338"/>
          </a:xfrm>
        </p:spPr>
        <p:txBody>
          <a:bodyPr>
            <a:normAutofit/>
          </a:bodyPr>
          <a:lstStyle/>
          <a:p>
            <a:r>
              <a:rPr lang="cs-CZ" dirty="0"/>
              <a:t>S. vyhradí</a:t>
            </a:r>
            <a:r>
              <a:rPr lang="en-US" dirty="0"/>
              <a:t> </a:t>
            </a:r>
            <a:r>
              <a:rPr lang="cs-CZ" dirty="0"/>
              <a:t>K. </a:t>
            </a:r>
            <a:r>
              <a:rPr lang="en-US" dirty="0"/>
              <a:t>IP adresu a odes</a:t>
            </a:r>
            <a:r>
              <a:rPr lang="cs-CZ" dirty="0"/>
              <a:t>ílá</a:t>
            </a:r>
            <a:r>
              <a:rPr lang="en-US" dirty="0"/>
              <a:t> zpráv</a:t>
            </a:r>
            <a:r>
              <a:rPr lang="cs-CZ" dirty="0"/>
              <a:t>u</a:t>
            </a:r>
            <a:r>
              <a:rPr lang="en-US" dirty="0"/>
              <a:t> DHCPOFFER</a:t>
            </a:r>
            <a:r>
              <a:rPr lang="cs-CZ" dirty="0"/>
              <a:t>, </a:t>
            </a:r>
            <a:r>
              <a:rPr lang="en-US" dirty="0"/>
              <a:t>vytvoří nabídku zapůjčení</a:t>
            </a:r>
            <a:endParaRPr lang="cs-CZ" dirty="0"/>
          </a:p>
          <a:p>
            <a:r>
              <a:rPr lang="en-US" dirty="0"/>
              <a:t>zpráva obsahuje ID </a:t>
            </a:r>
            <a:r>
              <a:rPr lang="cs-CZ" dirty="0"/>
              <a:t>K. </a:t>
            </a:r>
            <a:r>
              <a:rPr lang="en-US" dirty="0"/>
              <a:t>(MAC</a:t>
            </a:r>
            <a:r>
              <a:rPr lang="cs-CZ" dirty="0"/>
              <a:t> adresu),</a:t>
            </a:r>
            <a:r>
              <a:rPr lang="en-US" dirty="0"/>
              <a:t> </a:t>
            </a:r>
            <a:r>
              <a:rPr lang="cs-CZ" dirty="0"/>
              <a:t>nabízející </a:t>
            </a:r>
            <a:r>
              <a:rPr lang="en-US" dirty="0"/>
              <a:t>IP adresu, </a:t>
            </a:r>
            <a:r>
              <a:rPr lang="cs-CZ" dirty="0"/>
              <a:t>masku</a:t>
            </a:r>
            <a:r>
              <a:rPr lang="en-US" dirty="0"/>
              <a:t> podsítě, dobu </a:t>
            </a:r>
            <a:r>
              <a:rPr lang="cs-CZ" dirty="0"/>
              <a:t>platnosti </a:t>
            </a:r>
            <a:r>
              <a:rPr lang="en-US" dirty="0"/>
              <a:t>a IP adresu </a:t>
            </a:r>
            <a:r>
              <a:rPr lang="cs-CZ" dirty="0"/>
              <a:t>S.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688E74FE-683E-3AA7-E4F5-D64D2B460009}"/>
              </a:ext>
            </a:extLst>
          </p:cNvPr>
          <p:cNvSpPr/>
          <p:nvPr/>
        </p:nvSpPr>
        <p:spPr>
          <a:xfrm>
            <a:off x="8824686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5" name="Grafický objekt 4" descr="Jídelní lístek se souvislou výplní">
            <a:extLst>
              <a:ext uri="{FF2B5EF4-FFF2-40B4-BE49-F238E27FC236}">
                <a16:creationId xmlns:a16="http://schemas.microsoft.com/office/drawing/2014/main" id="{51043D77-18E3-88EC-14C5-B3DB9882EA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59200" y="2576058"/>
            <a:ext cx="1698285" cy="169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10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548303-F972-B701-57B7-CC8397C4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chemeClr val="accent1">
                    <a:lumMod val="75000"/>
                  </a:schemeClr>
                </a:solidFill>
              </a:rPr>
              <a:t>Request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5043E8-F446-554B-00B8-645CB1F69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81925" cy="4351338"/>
          </a:xfrm>
        </p:spPr>
        <p:txBody>
          <a:bodyPr>
            <a:normAutofit/>
          </a:bodyPr>
          <a:lstStyle/>
          <a:p>
            <a:r>
              <a:rPr lang="cs-CZ" dirty="0"/>
              <a:t>K. odpovídá DHCPREQUEST, obdrží nabídky z více serverů, přijme jednu nárokováním dané IP adresy</a:t>
            </a:r>
          </a:p>
          <a:p>
            <a:r>
              <a:rPr lang="cs-CZ" dirty="0"/>
              <a:t>K. posílá ARP, zda není v síti daná IP adresa zabraná, žádná odpověď = adresa je nekonfliktní</a:t>
            </a:r>
          </a:p>
          <a:p>
            <a:r>
              <a:rPr lang="cs-CZ" dirty="0"/>
              <a:t>K. musí ve zprávě uvést ID S. i vybrané nabídky</a:t>
            </a:r>
          </a:p>
          <a:p>
            <a:r>
              <a:rPr lang="cs-CZ" dirty="0"/>
              <a:t>ostatní S. obdrží zprávu, stahují nabídky, nabízenou adresu vrátí do poolu dostupných adres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D0DD40F9-768E-8432-7F5A-A3DB4AD90217}"/>
              </a:ext>
            </a:extLst>
          </p:cNvPr>
          <p:cNvSpPr/>
          <p:nvPr/>
        </p:nvSpPr>
        <p:spPr>
          <a:xfrm>
            <a:off x="8824686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7" name="Grafický objekt 6" descr="Otazník se souvislou výplní">
            <a:extLst>
              <a:ext uri="{FF2B5EF4-FFF2-40B4-BE49-F238E27FC236}">
                <a16:creationId xmlns:a16="http://schemas.microsoft.com/office/drawing/2014/main" id="{2D9F3B59-B2BE-9784-87F9-BB98310F82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659200" y="2576058"/>
            <a:ext cx="1698285" cy="169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9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548303-F972-B701-57B7-CC8397C4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chemeClr val="accent1">
                    <a:lumMod val="75000"/>
                  </a:schemeClr>
                </a:solidFill>
              </a:rPr>
              <a:t>Acknowledgement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5043E8-F446-554B-00B8-645CB1F69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29" y="1834769"/>
            <a:ext cx="7986486" cy="4351338"/>
          </a:xfrm>
        </p:spPr>
        <p:txBody>
          <a:bodyPr>
            <a:normAutofit/>
          </a:bodyPr>
          <a:lstStyle/>
          <a:p>
            <a:r>
              <a:rPr lang="cs-CZ" dirty="0"/>
              <a:t>S. přijme DHCPREQUEST a odesílá DHCPAC, který obsahuje: </a:t>
            </a:r>
          </a:p>
          <a:p>
            <a:pPr lvl="1"/>
            <a:r>
              <a:rPr lang="cs-CZ" dirty="0"/>
              <a:t>dobu trvání zapůjčení a další konfigurační informace (vyžádané K.)</a:t>
            </a:r>
          </a:p>
          <a:p>
            <a:r>
              <a:rPr lang="cs-CZ" dirty="0"/>
              <a:t>K. nakonfiguruje své síťové rozhraní s danými parametry</a:t>
            </a:r>
          </a:p>
          <a:p>
            <a:r>
              <a:rPr lang="cs-CZ" dirty="0"/>
              <a:t>K. může otestovat nově přijatou adresu, k vyhnutí konfliktu DHCP adres (třeba ARP) </a:t>
            </a:r>
          </a:p>
          <a:p>
            <a:r>
              <a:rPr lang="cs-CZ" dirty="0"/>
              <a:t>jestli nalezne jiný PC používající tuto adresu, PC odesílá na S. DHCPDECLINE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C5C9ACDB-B51E-1041-C9B6-E9D209789694}"/>
              </a:ext>
            </a:extLst>
          </p:cNvPr>
          <p:cNvSpPr/>
          <p:nvPr/>
        </p:nvSpPr>
        <p:spPr>
          <a:xfrm>
            <a:off x="8824686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5" name="Grafický objekt 4" descr="Komentář, lajk se souvislou výplní">
            <a:extLst>
              <a:ext uri="{FF2B5EF4-FFF2-40B4-BE49-F238E27FC236}">
                <a16:creationId xmlns:a16="http://schemas.microsoft.com/office/drawing/2014/main" id="{AA9A2C85-7B92-721D-E22E-7A29CB19B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659200" y="2576058"/>
            <a:ext cx="1698285" cy="169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67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548303-F972-B701-57B7-CC8397C4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chemeClr val="accent1">
                    <a:lumMod val="75000"/>
                  </a:schemeClr>
                </a:solidFill>
              </a:rPr>
              <a:t>Releasing + Information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5043E8-F446-554B-00B8-645CB1F69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86486" cy="4351338"/>
          </a:xfrm>
        </p:spPr>
        <p:txBody>
          <a:bodyPr>
            <a:normAutofit/>
          </a:bodyPr>
          <a:lstStyle/>
          <a:p>
            <a:r>
              <a:rPr lang="cs-CZ" dirty="0"/>
              <a:t>Releasing</a:t>
            </a:r>
          </a:p>
          <a:p>
            <a:pPr lvl="1"/>
            <a:r>
              <a:rPr lang="cs-CZ" dirty="0"/>
              <a:t>DHCP nenutí odeslání DHCP Release - nepředvídatelné odpojení uživatele</a:t>
            </a:r>
          </a:p>
          <a:p>
            <a:pPr lvl="1"/>
            <a:r>
              <a:rPr lang="cs-CZ" dirty="0"/>
              <a:t>K. odešle DHCP požadavek na uvolnění informací DHCP na deaktivaci své IP adresy</a:t>
            </a:r>
          </a:p>
          <a:p>
            <a:r>
              <a:rPr lang="cs-CZ" dirty="0"/>
              <a:t>Information </a:t>
            </a:r>
          </a:p>
          <a:p>
            <a:pPr lvl="1"/>
            <a:r>
              <a:rPr lang="cs-CZ" dirty="0"/>
              <a:t>K. může požadovat více informací než server odeslaný s původní DHCPOFFER nebo zopakování dat </a:t>
            </a:r>
          </a:p>
          <a:p>
            <a:pPr lvl="1"/>
            <a:r>
              <a:rPr lang="cs-CZ" dirty="0"/>
              <a:t>prohlížeče např. DHCP Inform - získání nastavení webové proxy přes WPAD (Web Proxy Auto-Discovery)</a:t>
            </a:r>
          </a:p>
          <a:p>
            <a:pPr lvl="1"/>
            <a:endParaRPr lang="cs-CZ" dirty="0"/>
          </a:p>
          <a:p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E7A5560A-7E1B-459A-0C7E-F3E6575123CB}"/>
              </a:ext>
            </a:extLst>
          </p:cNvPr>
          <p:cNvSpPr/>
          <p:nvPr/>
        </p:nvSpPr>
        <p:spPr>
          <a:xfrm>
            <a:off x="8824686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7" name="Grafický objekt 6" descr="Vlajka se souvislou výplní">
            <a:extLst>
              <a:ext uri="{FF2B5EF4-FFF2-40B4-BE49-F238E27FC236}">
                <a16:creationId xmlns:a16="http://schemas.microsoft.com/office/drawing/2014/main" id="{51791962-2B63-4ABC-FD90-EB44932F00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59200" y="2576058"/>
            <a:ext cx="1698285" cy="169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63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élník 9">
            <a:extLst>
              <a:ext uri="{FF2B5EF4-FFF2-40B4-BE49-F238E27FC236}">
                <a16:creationId xmlns:a16="http://schemas.microsoft.com/office/drawing/2014/main" id="{A1C2A33E-5152-C1F1-54F9-C6983DACBAB3}"/>
              </a:ext>
            </a:extLst>
          </p:cNvPr>
          <p:cNvSpPr/>
          <p:nvPr/>
        </p:nvSpPr>
        <p:spPr>
          <a:xfrm>
            <a:off x="8824686" y="1"/>
            <a:ext cx="3367314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22B1F16-1CB0-E891-CEFA-BD96D26D8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86486" cy="1325563"/>
          </a:xfrm>
        </p:spPr>
        <p:txBody>
          <a:bodyPr/>
          <a:lstStyle/>
          <a:p>
            <a:r>
              <a:rPr lang="cs-CZ" b="1" dirty="0">
                <a:solidFill>
                  <a:schemeClr val="accent1">
                    <a:lumMod val="75000"/>
                  </a:schemeClr>
                </a:solidFill>
              </a:rPr>
              <a:t>Instalace a Konfigurace Windows Serveru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99A8F4-EF2E-9F21-4118-345A451BB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86485" cy="4351338"/>
          </a:xfrm>
        </p:spPr>
        <p:txBody>
          <a:bodyPr/>
          <a:lstStyle/>
          <a:p>
            <a:r>
              <a:rPr lang="cs-CZ" dirty="0"/>
              <a:t>v konfiguraci nakonfigurovat hlavně:</a:t>
            </a:r>
          </a:p>
          <a:p>
            <a:pPr lvl="1"/>
            <a:r>
              <a:rPr lang="cs-CZ" dirty="0"/>
              <a:t>rozsah IP adres, defaultní router (default gateway), adresu DNS serveru, maska podsítě, délka propůjčení IP, název poolu…</a:t>
            </a:r>
          </a:p>
          <a:p>
            <a:r>
              <a:rPr lang="cs-CZ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</a:t>
            </a:r>
            <a:r>
              <a:rPr lang="cs-CZ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cs-CZ" dirty="0"/>
              <a:t>– přes PowerShell / GUI</a:t>
            </a:r>
          </a:p>
          <a:p>
            <a:r>
              <a:rPr lang="cs-CZ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Dell</a:t>
            </a:r>
            <a:endParaRPr lang="cs-CZ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cs-CZ" dirty="0">
                <a:solidFill>
                  <a:schemeClr val="accent1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TechTarget</a:t>
            </a:r>
            <a:endParaRPr lang="cs-CZ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3" name="Grafický objekt 12" descr="Ozubené kolečko se souvislou výplní">
            <a:extLst>
              <a:ext uri="{FF2B5EF4-FFF2-40B4-BE49-F238E27FC236}">
                <a16:creationId xmlns:a16="http://schemas.microsoft.com/office/drawing/2014/main" id="{B83A47A2-507F-C0AA-5D0E-7646F761A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59200" y="2576058"/>
            <a:ext cx="1698285" cy="169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75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FB48-197B-8F5A-235E-3F4BA4C2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nline médium 4" title="Installing &amp; Configuring DHCP - Windows Server 2019">
            <a:hlinkClick r:id="" action="ppaction://media"/>
            <a:extLst>
              <a:ext uri="{FF2B5EF4-FFF2-40B4-BE49-F238E27FC236}">
                <a16:creationId xmlns:a16="http://schemas.microsoft.com/office/drawing/2014/main" id="{B49CC659-C687-DD82-DE90-77F0275B911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FB32ECD6-19EA-C037-57B1-51FB5254BC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B548303-F972-B701-57B7-CC8397C4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chemeClr val="bg1"/>
                </a:solidFill>
              </a:rPr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5043E8-F446-554B-00B8-645CB1F69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https://cs.wikipedia.org/wiki/Dynamic_Host_Configuration_Protocol</a:t>
            </a:r>
          </a:p>
          <a:p>
            <a:r>
              <a:rPr lang="cs-CZ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https://en.wikipedia.org/wiki/Dynamic_Host_Configuration_Protocol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https://www.dell.com/support/kbdoc/cs-cz/000136459/jak-nakonfigurovat-server-dhcp-v-syst%C3%A9mu-windows-server-2012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https://learn.microsoft.com/en-us/windows-server/networking/technologies/dhcp/quickstart-install-configure-dhcp-server?tabs=powershell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https://www.techtarget.com/searchnetworking/tip/A-guide-to-Windows-DHCP-server-configuration</a:t>
            </a:r>
            <a:endParaRPr lang="cs-CZ" dirty="0">
              <a:solidFill>
                <a:schemeClr val="bg1"/>
              </a:solidFill>
            </a:endParaRP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4378105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205</TotalTime>
  <Words>733</Words>
  <Application>Microsoft Office PowerPoint</Application>
  <PresentationFormat>Širokoúhlá obrazovka</PresentationFormat>
  <Paragraphs>86</Paragraphs>
  <Slides>15</Slides>
  <Notes>6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Linux Libertine</vt:lpstr>
      <vt:lpstr>Motiv Office</vt:lpstr>
      <vt:lpstr>WINDOWS SERVER  </vt:lpstr>
      <vt:lpstr>Základní informace</vt:lpstr>
      <vt:lpstr>Stručná historie</vt:lpstr>
      <vt:lpstr>Charakteristika</vt:lpstr>
      <vt:lpstr>Klient a Server</vt:lpstr>
      <vt:lpstr>Princip DHCP</vt:lpstr>
      <vt:lpstr>Prezentace aplikace PowerPoint</vt:lpstr>
      <vt:lpstr>Discovery</vt:lpstr>
      <vt:lpstr>Offer</vt:lpstr>
      <vt:lpstr>Request</vt:lpstr>
      <vt:lpstr>Acknowledgement</vt:lpstr>
      <vt:lpstr>Releasing + Information</vt:lpstr>
      <vt:lpstr>Instalace a Konfigurace Windows Serveru</vt:lpstr>
      <vt:lpstr>Prezentace aplikace PowerPoint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