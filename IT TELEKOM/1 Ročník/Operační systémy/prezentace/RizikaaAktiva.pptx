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6" r:id="rId6"/>
    <p:sldId id="267" r:id="rId7"/>
    <p:sldId id="257" r:id="rId8"/>
    <p:sldId id="269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8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031B82-CD57-00FC-4A06-6A4BABBF1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507B45A-4FF0-EC8B-A370-139AF510B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9C6EB5D-3A9A-85D1-0788-DB4B25D5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ADE831F-33E4-C888-11F6-C2E83E76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85F9AC8-BBDA-8CD3-A608-E007D144C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2813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0D9D10-8F51-3807-E6B1-0F7C458C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4B3766-B8FC-D125-090B-B76972C9B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FBFF295-8BA2-2DED-7578-726B68F9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BC2332B-F8C2-9EC2-3CB8-813EE9305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55CEB9C-9B6F-3C4A-6BB4-94C972A5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554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EC6B13-7B5E-30D9-E7DB-81A29EB1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4387AC8-ED22-35F2-C3D3-45A338026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DA002B-98F1-EC26-F928-355A74E80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B9150C2-2621-8C6A-487E-B538AFF1C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F9101E-9372-6381-7EB2-7E2C7D4D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586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C86160-FCF4-5BFB-3FB7-56A8F282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5184C1-A820-F667-B6AE-9BEF573D3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5FCB1DD-36F4-9F12-E2E5-C3A3E6F8D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1D3F4E6-BAAE-C5CF-E2B2-EECACCA8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9F45ADA-EE40-61F8-1BFD-FA0EC155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C7EBFC0-17DF-D3F6-0ADF-593AF465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400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164380-3F84-B03A-73C5-5D2089275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F2105CC-83C2-779B-3D59-02687E75A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93E82D4-0625-8BA4-D159-5D9843A3C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318F6C1-3C19-DD90-F62A-A702BDEFB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1CECFD0-7EEB-402F-4396-43E8B1295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81FC487-BAC1-71AD-93E3-A5C1091B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1AAE1CE-2363-9284-8112-18BBD40A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7AF12992-C928-6D69-EB88-9F2B5666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063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55F226-19F4-E86D-A19D-A953E552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FFD31AB-04D7-6A7A-20CE-81F6FE4D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CD32445-0D7E-E627-ACAC-FF0D7DC5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91BDDDA-B0F2-DB7A-5D5C-BD9F2CE6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637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FD427AB-DF7B-69BE-64C9-20149243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BCE4038-AC66-2BF4-E868-877546FB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3001F7D-A02A-AC96-02D3-E572E038C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263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4225F4-807F-017E-B3AC-53A530CE2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EF4493-E545-0BAB-074B-6AF170EFD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C9C7C34-6C5D-7094-A06D-769A5D1CB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47E8887-23A6-7194-19A0-43B2B964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EE1A418-6EB8-32D3-C318-EAF9D70C5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3BCD51F-2BEC-5F94-67C6-B21FCF87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584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05F145-2DA1-5C29-B98B-F0F0CF018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D4A504D-7108-7E80-6FB5-C1E991763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88B8E06-6E1B-F267-2349-024D83294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07CE000-09E4-8DD6-21BC-200FDAEA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C383761-0E3B-3AB5-8272-4E57FCDA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2B833F0-0F3B-CE0B-0F5B-752EF434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422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3C3330-2AAB-505B-1309-5B3068FF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9D98385-1D3D-2BE1-F494-E38E6CE65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3C0756F-749E-BB4E-C144-0F6E8299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880CF15-16B8-7874-7F30-C2AADF5A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912A7-9185-7E6C-2DB4-06A09D71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561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B408993-EC8A-9F50-9E43-EC43C1AF0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1E59AAF-4E2D-4DF9-F850-90BB68928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98A268-ACDA-FB1E-075D-4921FCEA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84532D2-8CBB-9A46-DAA5-A84FEAB9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FA0EBE-FEF3-D8CB-3EC0-594E70A2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661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D075D34-8998-1A00-9B48-879FCB7B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654FCA0-81A9-39D1-828F-B06E49165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027A05-5DB5-3EC7-8D4B-BE496A1F3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0DA3A-D3CA-4F39-BCDD-7959C4A682A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3E56D3-D130-ED2E-5698-14B975163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AC769E-6549-70C7-7D60-0E923D2E7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8874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ptien.com/cs/kb/articles/what-are-assets-in-risk-management" TargetMode="External"/><Relationship Id="rId2" Type="http://schemas.openxmlformats.org/officeDocument/2006/relationships/hyperlink" Target="https://kybez.cz/analyza-bezpecnosti-2-co-jsou-aktiva-a-jak-je-evidova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489507-3951-AD0D-8C05-25056CC0B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6819" y="1963497"/>
            <a:ext cx="6018362" cy="1465503"/>
          </a:xfrm>
        </p:spPr>
        <p:txBody>
          <a:bodyPr/>
          <a:lstStyle/>
          <a:p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  <a:cs typeface="ADLaM Display" panose="020F0502020204030204" pitchFamily="2" charset="0"/>
              </a:rPr>
              <a:t>Zabezpečení OS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BD57CAF-5DC8-9CDC-61E3-B658531CB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5121" y="3429000"/>
            <a:ext cx="3861758" cy="530015"/>
          </a:xfrm>
        </p:spPr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Analýza aktiv a rizik</a:t>
            </a:r>
          </a:p>
        </p:txBody>
      </p:sp>
    </p:spTree>
    <p:extLst>
      <p:ext uri="{BB962C8B-B14F-4D97-AF65-F5344CB8AC3E}">
        <p14:creationId xmlns:p14="http://schemas.microsoft.com/office/powerpoint/2010/main" val="1697494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A91C7-5901-64B7-F60A-19DB17E9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AF6061-15EA-017C-9F9C-EE3E1E3B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Aktivum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8859B8-959A-B33C-40DF-6D11587A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752" y="2596462"/>
            <a:ext cx="10252495" cy="3785499"/>
          </a:xfrm>
        </p:spPr>
        <p:txBody>
          <a:bodyPr>
            <a:normAutofit/>
          </a:bodyPr>
          <a:lstStyle/>
          <a:p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Aktivum je vše co má pro organizaci nějakou </a:t>
            </a:r>
            <a:r>
              <a:rPr lang="cs-CZ" sz="2400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hodnotu</a:t>
            </a:r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nebo </a:t>
            </a:r>
            <a:r>
              <a:rPr lang="cs-CZ" sz="2400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důležitost</a:t>
            </a:r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, protože to potřebuje ke svému fungování</a:t>
            </a:r>
          </a:p>
          <a:p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Aktiva jsou její zdroje nebo jiné hodnoty, které každá firma musí mít, aby mohla fungovat</a:t>
            </a:r>
          </a:p>
          <a:p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Jestli je to aktivum hmotné nebo nehmotné není podstatné</a:t>
            </a:r>
          </a:p>
          <a:p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Dělí se na dvě kategorie : </a:t>
            </a:r>
            <a:r>
              <a:rPr lang="cs-CZ" sz="2400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primární</a:t>
            </a:r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a </a:t>
            </a:r>
            <a:r>
              <a:rPr lang="cs-CZ" sz="2400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podpůrná</a:t>
            </a:r>
          </a:p>
        </p:txBody>
      </p:sp>
    </p:spTree>
    <p:extLst>
      <p:ext uri="{BB962C8B-B14F-4D97-AF65-F5344CB8AC3E}">
        <p14:creationId xmlns:p14="http://schemas.microsoft.com/office/powerpoint/2010/main" val="244920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23242-2DCD-7C24-28DD-FD812CF9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F7FDA7-5693-45E4-36CB-D1F5ABCE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183"/>
            <a:ext cx="10515600" cy="1325563"/>
          </a:xfrm>
        </p:spPr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Aktivum primární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B6B389-2696-6D0A-F571-D39C06E0C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171"/>
            <a:ext cx="10515600" cy="2185658"/>
          </a:xfrm>
        </p:spPr>
        <p:txBody>
          <a:bodyPr/>
          <a:lstStyle/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Informační systémy a služby nutné pro zajištění chodu organizace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Primární aktivum je takové, které má pro provoz organizace zásadní hodnotu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Př. V případě veřejné zprávy to může být spisová služba</a:t>
            </a:r>
          </a:p>
        </p:txBody>
      </p:sp>
    </p:spTree>
    <p:extLst>
      <p:ext uri="{BB962C8B-B14F-4D97-AF65-F5344CB8AC3E}">
        <p14:creationId xmlns:p14="http://schemas.microsoft.com/office/powerpoint/2010/main" val="350027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9811B1-A0B6-0463-5485-3525E43A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314"/>
            <a:ext cx="10515600" cy="1325563"/>
          </a:xfrm>
        </p:spPr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Aktivum podpůrná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DA800F4A-AE41-A436-F7A9-FC90DC86A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171"/>
            <a:ext cx="10515600" cy="2185658"/>
          </a:xfrm>
        </p:spPr>
        <p:txBody>
          <a:bodyPr>
            <a:normAutofit lnSpcReduction="10000"/>
          </a:bodyPr>
          <a:lstStyle/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Technické vybavení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Komunikační prostředky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Programové vybavení informačního systému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Dodavatelé, zaměstnanci se podílí na provozu, rozvoji, správě, ..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Podpůrná aktiva jsou taková, která zajišťují, že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primární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aktivum funguje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správně</a:t>
            </a:r>
          </a:p>
        </p:txBody>
      </p:sp>
    </p:spTree>
    <p:extLst>
      <p:ext uri="{BB962C8B-B14F-4D97-AF65-F5344CB8AC3E}">
        <p14:creationId xmlns:p14="http://schemas.microsoft.com/office/powerpoint/2010/main" val="90099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2A76-2C40-5991-958B-E3E341B96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C26646-037D-ED7A-FE8F-9BCAAB9D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314"/>
            <a:ext cx="10515600" cy="1325563"/>
          </a:xfrm>
        </p:spPr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Aktivum - příklady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99F5CDF0-C2B3-3223-752C-0348954C8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171"/>
            <a:ext cx="9258300" cy="4004516"/>
          </a:xfrm>
        </p:spPr>
        <p:txBody>
          <a:bodyPr>
            <a:normAutofit/>
          </a:bodyPr>
          <a:lstStyle/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Na otázku co aktiva vlastně jsou si můžeme říct : "když o to přijdeme, nebudeme fungovat„ 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Příklady :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Finanční prostředky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Infrastruktura, vybavení, budovy a jiné objekty 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Konkrétní lidé, zaměstnanci 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Informace a data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Znalosti lidí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Software</a:t>
            </a:r>
          </a:p>
          <a:p>
            <a:pPr marL="457200" lvl="1" indent="0">
              <a:buNone/>
            </a:pPr>
            <a:endParaRPr lang="cs-CZ" dirty="0">
              <a:latin typeface="Artifakt Element Light" panose="020B0303050000020004" pitchFamily="34" charset="-18"/>
              <a:ea typeface="Artifakt Element Light" panose="020B0303050000020004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57363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75125C-0341-D686-FB87-EF21FBCA2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Evidence aktiv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89DC3E-62D7-0F64-8C93-23C47C35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0101"/>
          </a:xfrm>
        </p:spPr>
        <p:txBody>
          <a:bodyPr>
            <a:normAutofit fontScale="92500" lnSpcReduction="10000"/>
          </a:bodyPr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U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menší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organizace stačí tabulka, do které poté zapíšete seznam aktiv (př. Počítače účetních, webové stránky, internetové připojení, …)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U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středních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a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větších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je vhodné využít pro evidenci softwarové řešení (př. Aplikace CSA)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C691F9-1113-467E-577F-EFEB95E84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81" y="3877163"/>
            <a:ext cx="5534068" cy="261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05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57E29D-DA20-98A0-AB32-2340608A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Aktiva a vlastnosti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89CD03-084A-E6F3-4275-70F7DA2A0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Název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o jaké aktivum se jedná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Druh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jak je aktivum důležité z pohledu legislativy?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Typ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O jaký typ aktiva se jedná (z pohledu IT)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Likvidace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jak se lze aktiva zbavit?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Garant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zodpovědnost za aktivum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Lokalita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kde se aktivum nachází fyzicky?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Nadřazená/podřazená 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– jaké aktiva jsou na dané aktivum navázána?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Hodnocení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Jak je pro nás aktivum skutečně cenné?</a:t>
            </a:r>
          </a:p>
        </p:txBody>
      </p:sp>
    </p:spTree>
    <p:extLst>
      <p:ext uri="{BB962C8B-B14F-4D97-AF65-F5344CB8AC3E}">
        <p14:creationId xmlns:p14="http://schemas.microsoft.com/office/powerpoint/2010/main" val="2645710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71EE4B-759D-6C39-D086-97FD0A28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Příklad evidence aktiv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A31373-D54C-BCCA-8B7E-38214AF7B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2482292"/>
            <a:ext cx="11353800" cy="134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54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E6204F-9CC4-5FBF-8289-59691E3C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- identifikace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0156E8-B089-5B84-5B79-561B62C1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Identifikují se možné hrozby, jako jsou např. :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Kybernetické útoky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Chyby v kódu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Případné selhání hardwaru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Příklad – identifikace možného rizika, které je spojeno s neaktualizovaným softwarem = zvyšuje šanci bezpečnostního problému</a:t>
            </a:r>
          </a:p>
        </p:txBody>
      </p:sp>
    </p:spTree>
    <p:extLst>
      <p:ext uri="{BB962C8B-B14F-4D97-AF65-F5344CB8AC3E}">
        <p14:creationId xmlns:p14="http://schemas.microsoft.com/office/powerpoint/2010/main" val="383715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420551-BF54-F152-2201-1F13958C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– hodnocení pravděpodobnosti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0B6512-0A65-D33E-2D79-D17532E52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Stanovujeme, jak často by riziko mohlo nastat na základě historických dat nebo současných trendů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Zvýšením pravděpodobnosti rizika tedy myslíme, že došlo k podobným incidentům u podobných systémů</a:t>
            </a:r>
          </a:p>
        </p:txBody>
      </p:sp>
    </p:spTree>
    <p:extLst>
      <p:ext uri="{BB962C8B-B14F-4D97-AF65-F5344CB8AC3E}">
        <p14:creationId xmlns:p14="http://schemas.microsoft.com/office/powerpoint/2010/main" val="427374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48D8C9-AE76-9635-5342-9CF1FA0B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– hodnocení následků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94F83F-0AB2-DFD6-F855-E22A4A189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Posuzujeme možné dopady na operační systém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Příklady :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Finanční ztráty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Ztráty důvěryhodnosti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Přerušení služeb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Hodnotíme tedy rizika útoku a jak závažné následky může mít pro podnik/firmu</a:t>
            </a:r>
          </a:p>
        </p:txBody>
      </p:sp>
    </p:spTree>
    <p:extLst>
      <p:ext uri="{BB962C8B-B14F-4D97-AF65-F5344CB8AC3E}">
        <p14:creationId xmlns:p14="http://schemas.microsoft.com/office/powerpoint/2010/main" val="1846083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C11FCF-BB4E-3FF0-7C10-FA663636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- minimalizace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B53BE1-4816-9B38-7C6F-589FB9C02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Způsoby, které mohou pomoct minimalizovat a vyvarovat se možným rizikům :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Pravidelné aktualizace softwaru a firewallu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Školení personálu ohledně bezpečnosti (např. základy bezpečného chování online)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Omezení přístupu k citlivým informacím (určit je pouze pro oprávněné uživatele)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Zálohování a obnova dat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Sledování síťového provozu</a:t>
            </a:r>
          </a:p>
        </p:txBody>
      </p:sp>
    </p:spTree>
    <p:extLst>
      <p:ext uri="{BB962C8B-B14F-4D97-AF65-F5344CB8AC3E}">
        <p14:creationId xmlns:p14="http://schemas.microsoft.com/office/powerpoint/2010/main" val="3253616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4BEFA7-4766-EADB-A609-7CB76553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– monitorování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E00ECB-3A35-0537-F87C-89427F390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Průběžné sledování nových hrozeb a pravidelné aktualizace rizikové analýzy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Logování a auditování – pravidelné zaznamenávání aktivit, sledování neobvyklých událostí 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Skenování zranitelnosti 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Plán reakce na bezpečnostní incidenty – připravenost na případný bezpečnostní incident</a:t>
            </a:r>
          </a:p>
        </p:txBody>
      </p:sp>
    </p:spTree>
    <p:extLst>
      <p:ext uri="{BB962C8B-B14F-4D97-AF65-F5344CB8AC3E}">
        <p14:creationId xmlns:p14="http://schemas.microsoft.com/office/powerpoint/2010/main" val="587407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D23F7-3B94-1FA2-086B-666D394B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31BF4-4457-59C0-A247-F7EBFC43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6DB5F8-4FE9-5D48-4C69-7A0476A5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  <a:hlinkClick r:id="rId2"/>
              </a:rPr>
              <a:t>https://kybez.cz/analyza-bezpecnosti-2-co-jsou-aktiva-a-jak-je-evidovat/</a:t>
            </a:r>
            <a:endParaRPr lang="cs-CZ" dirty="0">
              <a:latin typeface="Artifakt Element Light" panose="020B0303050000020004" pitchFamily="34" charset="-18"/>
              <a:ea typeface="Artifakt Element Light" panose="020B0303050000020004" pitchFamily="34" charset="-18"/>
            </a:endParaRP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  <a:hlinkClick r:id="rId3"/>
              </a:rPr>
              <a:t>https://aptien.com/cs/kb/articles/what-are-assets-in-risk-management</a:t>
            </a:r>
            <a:endParaRPr lang="cs-CZ" dirty="0">
              <a:latin typeface="Artifakt Element Light" panose="020B0303050000020004" pitchFamily="34" charset="-18"/>
              <a:ea typeface="Artifakt Element Light" panose="020B0303050000020004" pitchFamily="34" charset="-18"/>
            </a:endParaRPr>
          </a:p>
          <a:p>
            <a:endParaRPr lang="cs-CZ" dirty="0">
              <a:latin typeface="Artifakt Element Light" panose="020B0303050000020004" pitchFamily="34" charset="-18"/>
              <a:ea typeface="Artifakt Element Light" panose="020B0303050000020004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99651836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8" ma:contentTypeDescription="Vytvoří nový dokument" ma:contentTypeScope="" ma:versionID="7c5364e2eb314c171ff04d225b4455c8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5c396cbd62d39b0737893c18abcaa937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DateTaken" minOccurs="0"/>
                <xsd:element ref="ns3:MediaServiceSearchProperties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A7E589CE-14CE-426B-9A89-28760A71FA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3FE548-1C39-4BE6-9F25-2B2FF7441F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01C0AB-C51F-48AF-A3AA-6D8578B6BB22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7102979c-b26f-4d91-98cb-63a00b939af4"/>
    <ds:schemaRef ds:uri="http://www.w3.org/XML/1998/namespace"/>
    <ds:schemaRef ds:uri="http://schemas.microsoft.com/office/2006/metadata/properties"/>
    <ds:schemaRef ds:uri="f87e30eb-171b-483d-8cf8-0a83c79a11ac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510</Words>
  <Application>Microsoft Office PowerPoint</Application>
  <PresentationFormat>Širokoúhlá obrazovka</PresentationFormat>
  <Paragraphs>70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0" baseType="lpstr">
      <vt:lpstr>Arial</vt:lpstr>
      <vt:lpstr>Artifakt Element Black</vt:lpstr>
      <vt:lpstr>Artifakt Element Light</vt:lpstr>
      <vt:lpstr>Calibri</vt:lpstr>
      <vt:lpstr>Calibri Light</vt:lpstr>
      <vt:lpstr>Motiv Office</vt:lpstr>
      <vt:lpstr>Zabezpečení OS</vt:lpstr>
      <vt:lpstr>Aktivum</vt:lpstr>
      <vt:lpstr>Aktivum primární</vt:lpstr>
      <vt:lpstr>Aktivum podpůrná</vt:lpstr>
      <vt:lpstr>Aktivum - příklady</vt:lpstr>
      <vt:lpstr>Evidence aktiv</vt:lpstr>
      <vt:lpstr>Aktiva a vlastnosti</vt:lpstr>
      <vt:lpstr>Příklad evidence aktiv</vt:lpstr>
      <vt:lpstr>Rizika - identifikace</vt:lpstr>
      <vt:lpstr>Rizika – hodnocení pravděpodobnosti</vt:lpstr>
      <vt:lpstr>Rizika – hodnocení následků</vt:lpstr>
      <vt:lpstr>Rizika - minimalizace</vt:lpstr>
      <vt:lpstr>Rizika – monitorování 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