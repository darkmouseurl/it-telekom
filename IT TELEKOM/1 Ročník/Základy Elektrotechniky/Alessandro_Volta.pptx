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F7326-5172-4ED0-8A59-C1612D5344FD}" v="1" dt="2023-10-18T06:25:30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S::alex.stipa@teleinformatika.eu::8648c5ad-f998-46ce-b9a7-526b23d96798" providerId="AD" clId="Web-{08AF7326-5172-4ED0-8A59-C1612D5344FD}"/>
    <pc:docChg chg="sldOrd">
      <pc:chgData name="Alex ŠTÍPA" userId="S::alex.stipa@teleinformatika.eu::8648c5ad-f998-46ce-b9a7-526b23d96798" providerId="AD" clId="Web-{08AF7326-5172-4ED0-8A59-C1612D5344FD}" dt="2023-10-18T06:25:30.578" v="0"/>
      <pc:docMkLst>
        <pc:docMk/>
      </pc:docMkLst>
      <pc:sldChg chg="ord">
        <pc:chgData name="Alex ŠTÍPA" userId="S::alex.stipa@teleinformatika.eu::8648c5ad-f998-46ce-b9a7-526b23d96798" providerId="AD" clId="Web-{08AF7326-5172-4ED0-8A59-C1612D5344FD}" dt="2023-10-18T06:25:30.578" v="0"/>
        <pc:sldMkLst>
          <pc:docMk/>
          <pc:sldMk cId="4188802584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34BCC-B8A9-44CB-91D6-CA99CC5D0033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009F7-3262-47D0-8529-83BB440BAAF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67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009F7-3262-47D0-8529-83BB440BAAF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3578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009F7-3262-47D0-8529-83BB440BAAF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8494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Elektrofor</a:t>
            </a:r>
            <a:r>
              <a:rPr lang="cs-CZ" dirty="0"/>
              <a:t>: elektrostatický generátor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009F7-3262-47D0-8529-83BB440BAAF1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4922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009F7-3262-47D0-8529-83BB440BAAF1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5118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98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55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28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69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876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642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04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47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7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9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9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Volt&#367;v_sloup#/media/Soubor:Voltaic_pile_sk.png" TargetMode="External"/><Relationship Id="rId3" Type="http://schemas.openxmlformats.org/officeDocument/2006/relationships/hyperlink" Target="https://www.elektrina.cz/alessandro-volta-zivotopis-zajimavosti" TargetMode="External"/><Relationship Id="rId7" Type="http://schemas.openxmlformats.org/officeDocument/2006/relationships/hyperlink" Target="https://en.wikipedia.org/wiki/Alessandro_Volt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orrosion-doctors.org/Biographies/VoltaBio.htm" TargetMode="External"/><Relationship Id="rId5" Type="http://schemas.openxmlformats.org/officeDocument/2006/relationships/hyperlink" Target="http://www.converter.cz/fyzici/volta.htm" TargetMode="External"/><Relationship Id="rId4" Type="http://schemas.openxmlformats.org/officeDocument/2006/relationships/hyperlink" Target="https://cs.wikipedia.org/wiki/Alessandro_Volta" TargetMode="External"/><Relationship Id="rId9" Type="http://schemas.openxmlformats.org/officeDocument/2006/relationships/hyperlink" Target="https://lakecomotravel.com/como-histor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7987A-C4DD-6C95-59C9-ED238EE3BD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6FAF86-E705-3A8F-BABA-913D6C211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982360"/>
          </a:xfrm>
        </p:spPr>
        <p:txBody>
          <a:bodyPr>
            <a:normAutofit/>
          </a:bodyPr>
          <a:lstStyle/>
          <a:p>
            <a:r>
              <a:rPr lang="cs-CZ" dirty="0"/>
              <a:t>Alessandro Volta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15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Alessandro Volta | Biography, Facts, Battery, &amp; Invention | Britannica">
            <a:extLst>
              <a:ext uri="{FF2B5EF4-FFF2-40B4-BE49-F238E27FC236}">
                <a16:creationId xmlns:a16="http://schemas.microsoft.com/office/drawing/2014/main" id="{9C8040E0-A73F-8852-81F9-C4930CE5F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" r="7292"/>
          <a:stretch/>
        </p:blipFill>
        <p:spPr bwMode="auto"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0B8C73-DF94-2C54-F1F6-CEE8D0B8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cs-CZ" dirty="0"/>
              <a:t>Informace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33E418-5746-962B-6E23-A5B76C8D5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8460" y="2051385"/>
            <a:ext cx="6359532" cy="4351338"/>
          </a:xfrm>
        </p:spPr>
        <p:txBody>
          <a:bodyPr>
            <a:normAutofit/>
          </a:bodyPr>
          <a:lstStyle/>
          <a:p>
            <a:r>
              <a:rPr lang="cs-CZ" dirty="0"/>
              <a:t>Dožil se vysokého věku 82 let</a:t>
            </a:r>
          </a:p>
          <a:p>
            <a:r>
              <a:rPr lang="cs-CZ" dirty="0"/>
              <a:t>Narodil se v Itálii, kde také zemřel</a:t>
            </a:r>
          </a:p>
          <a:p>
            <a:r>
              <a:rPr lang="cs-CZ" dirty="0"/>
              <a:t>Byl to fyzik, chemik, akademik</a:t>
            </a:r>
          </a:p>
          <a:p>
            <a:r>
              <a:rPr lang="cs-CZ" dirty="0"/>
              <a:t>Největší objevy měl ve fyzice</a:t>
            </a:r>
          </a:p>
          <a:p>
            <a:r>
              <a:rPr lang="cs-CZ" dirty="0"/>
              <a:t>Vyznával katolictví</a:t>
            </a:r>
          </a:p>
          <a:p>
            <a:r>
              <a:rPr lang="cs-CZ" dirty="0"/>
              <a:t>Celé jméno Alessandro </a:t>
            </a:r>
            <a:r>
              <a:rPr lang="cs-CZ" dirty="0" err="1"/>
              <a:t>Guiseppe</a:t>
            </a:r>
            <a:r>
              <a:rPr lang="cs-CZ" dirty="0"/>
              <a:t> Antonio </a:t>
            </a:r>
            <a:r>
              <a:rPr lang="cs-CZ" dirty="0" err="1"/>
              <a:t>Anatasio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731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D57CF89-FC79-B72D-4906-DF198666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cs-CZ" dirty="0"/>
              <a:t>Život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118663-5EF4-44B3-9AF4-11424CED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7502" cy="4351338"/>
          </a:xfrm>
        </p:spPr>
        <p:txBody>
          <a:bodyPr>
            <a:normAutofit/>
          </a:bodyPr>
          <a:lstStyle/>
          <a:p>
            <a:r>
              <a:rPr lang="cs-CZ" dirty="0"/>
              <a:t>Narodil se do šlechtické rodiny se šesti sourozenci</a:t>
            </a:r>
          </a:p>
          <a:p>
            <a:r>
              <a:rPr lang="cs-CZ" dirty="0"/>
              <a:t>Nemluvil do sedmi let</a:t>
            </a:r>
          </a:p>
          <a:p>
            <a:r>
              <a:rPr lang="cs-CZ" dirty="0"/>
              <a:t>Vystudoval jezuitskou kolej, potom začal studovat Královskou školu</a:t>
            </a:r>
          </a:p>
          <a:p>
            <a:r>
              <a:rPr lang="cs-CZ" dirty="0"/>
              <a:t>V dospělosti se stal profesorem gymnázia v rodném městě</a:t>
            </a:r>
          </a:p>
        </p:txBody>
      </p:sp>
      <p:pic>
        <p:nvPicPr>
          <p:cNvPr id="2050" name="Picture 2" descr="Lake Como history. See Inside the history of Como, Italy">
            <a:extLst>
              <a:ext uri="{FF2B5EF4-FFF2-40B4-BE49-F238E27FC236}">
                <a16:creationId xmlns:a16="http://schemas.microsoft.com/office/drawing/2014/main" id="{1313EFED-F1F3-DB91-138E-7942299A5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1" r="6240"/>
          <a:stretch/>
        </p:blipFill>
        <p:spPr bwMode="auto"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9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55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1EEF9E38-ED5D-37C2-082C-FCFE78991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3" r="33601"/>
          <a:stretch/>
        </p:blipFill>
        <p:spPr bwMode="auto">
          <a:xfrm>
            <a:off x="8836090" y="1303678"/>
            <a:ext cx="1539551" cy="379801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9" name="Arc 3088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2F98883-C1F5-DFF8-9848-CE0944F8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493"/>
            <a:ext cx="7366233" cy="1325563"/>
          </a:xfrm>
        </p:spPr>
        <p:txBody>
          <a:bodyPr>
            <a:normAutofit/>
          </a:bodyPr>
          <a:lstStyle/>
          <a:p>
            <a:r>
              <a:rPr lang="cs-CZ" dirty="0"/>
              <a:t>Vynálezy - první baterie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E531EE-D8C4-9480-56CE-3B225357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2"/>
            <a:ext cx="6594445" cy="4735139"/>
          </a:xfrm>
        </p:spPr>
        <p:txBody>
          <a:bodyPr>
            <a:normAutofit lnSpcReduction="10000"/>
          </a:bodyPr>
          <a:lstStyle/>
          <a:p>
            <a:r>
              <a:rPr lang="cs-CZ" dirty="0"/>
              <a:t>Objevení při pokusech se žabími stehýnky</a:t>
            </a:r>
          </a:p>
          <a:p>
            <a:r>
              <a:rPr lang="cs-CZ" dirty="0"/>
              <a:t>Galvanický článek se pojmenoval podle </a:t>
            </a:r>
            <a:r>
              <a:rPr lang="cs-CZ" dirty="0" err="1"/>
              <a:t>Liugi</a:t>
            </a:r>
            <a:r>
              <a:rPr lang="cs-CZ" dirty="0"/>
              <a:t> </a:t>
            </a:r>
            <a:r>
              <a:rPr lang="cs-CZ" dirty="0" err="1"/>
              <a:t>Galvani</a:t>
            </a:r>
            <a:endParaRPr lang="cs-CZ" dirty="0"/>
          </a:p>
          <a:p>
            <a:r>
              <a:rPr lang="cs-CZ" dirty="0"/>
              <a:t>Mezi lety 1799 až 1800 sestrojil první baterii – Voltův sloup</a:t>
            </a:r>
          </a:p>
          <a:p>
            <a:r>
              <a:rPr lang="cs-CZ" dirty="0"/>
              <a:t>Skládá se z měděných a zinkových plíšků, navlhčenou kůží s okyseleným roztokem</a:t>
            </a:r>
          </a:p>
          <a:p>
            <a:r>
              <a:rPr lang="cs-CZ" dirty="0"/>
              <a:t>Ze začátku se myslelo že se jedná o živočišnou energii</a:t>
            </a:r>
          </a:p>
        </p:txBody>
      </p:sp>
    </p:spTree>
    <p:extLst>
      <p:ext uri="{BB962C8B-B14F-4D97-AF65-F5344CB8AC3E}">
        <p14:creationId xmlns:p14="http://schemas.microsoft.com/office/powerpoint/2010/main" val="232948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!!Rectangle">
            <a:extLst>
              <a:ext uri="{FF2B5EF4-FFF2-40B4-BE49-F238E27FC236}">
                <a16:creationId xmlns:a16="http://schemas.microsoft.com/office/drawing/2014/main" id="{442D2C40-7ED8-45E4-9E7D-C3407F9CA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University of Pavia in Pavia, Italy | Sygic Travel">
            <a:extLst>
              <a:ext uri="{FF2B5EF4-FFF2-40B4-BE49-F238E27FC236}">
                <a16:creationId xmlns:a16="http://schemas.microsoft.com/office/drawing/2014/main" id="{48D45B95-BB55-CC40-9FE4-3284471DD8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2" r="-1" b="-1"/>
          <a:stretch/>
        </p:blipFill>
        <p:spPr bwMode="auto">
          <a:xfrm>
            <a:off x="20" y="-8467"/>
            <a:ext cx="12191980" cy="686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55C10DB-F8B8-3D58-7CEA-B086229A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Život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D08AF6-D0B1-F02A-C030-FEF450A65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V roce 1799 nastoupil jako učitel na univerzitu v Pavii</a:t>
            </a:r>
          </a:p>
          <a:p>
            <a:r>
              <a:rPr lang="cs-CZ">
                <a:solidFill>
                  <a:srgbClr val="FFFFFF"/>
                </a:solidFill>
              </a:rPr>
              <a:t>1800-1801 přednášel o svých pokusech před královskou společností</a:t>
            </a:r>
          </a:p>
          <a:p>
            <a:r>
              <a:rPr lang="cs-CZ">
                <a:solidFill>
                  <a:srgbClr val="FFFFFF"/>
                </a:solidFill>
              </a:rPr>
              <a:t>Napsal knihu </a:t>
            </a:r>
            <a:r>
              <a:rPr lang="en-US">
                <a:solidFill>
                  <a:srgbClr val="FFFFFF"/>
                </a:solidFill>
              </a:rPr>
              <a:t>“</a:t>
            </a:r>
            <a:r>
              <a:rPr lang="cs-CZ">
                <a:solidFill>
                  <a:srgbClr val="FFFFFF"/>
                </a:solidFill>
              </a:rPr>
              <a:t>O přitažlivé síle ohně elektrického a jevech s tím souvisejících</a:t>
            </a:r>
            <a:r>
              <a:rPr lang="en-US">
                <a:solidFill>
                  <a:srgbClr val="FFFFFF"/>
                </a:solidFill>
              </a:rPr>
              <a:t>”</a:t>
            </a:r>
            <a:endParaRPr lang="cs-CZ">
              <a:solidFill>
                <a:srgbClr val="FFFFFF"/>
              </a:solidFill>
            </a:endParaRPr>
          </a:p>
          <a:p>
            <a:r>
              <a:rPr lang="cs-CZ">
                <a:solidFill>
                  <a:srgbClr val="FFFFFF"/>
                </a:solidFill>
              </a:rPr>
              <a:t>Oženil se, a měl 3 děti</a:t>
            </a:r>
          </a:p>
          <a:p>
            <a:r>
              <a:rPr lang="cs-CZ">
                <a:solidFill>
                  <a:srgbClr val="FFFFFF"/>
                </a:solidFill>
              </a:rPr>
              <a:t>Napoleon podporoval jeho pokusy a teorie</a:t>
            </a:r>
          </a:p>
          <a:p>
            <a:endParaRPr lang="cs-CZ">
              <a:solidFill>
                <a:srgbClr val="FFFFFF"/>
              </a:solidFill>
            </a:endParaRPr>
          </a:p>
        </p:txBody>
      </p:sp>
      <p:sp>
        <p:nvSpPr>
          <p:cNvPr id="2057" name="Arc 205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880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09E2C2-E087-9EA1-952C-52FBB5D591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9352" b="-2"/>
          <a:stretch/>
        </p:blipFill>
        <p:spPr bwMode="auto">
          <a:xfrm>
            <a:off x="-15665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BCB971-01F2-5840-3E77-896D35B9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cs-CZ" dirty="0"/>
              <a:t>Ostatní vynálezy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A5FF3A-A8F9-2BD7-FF80-240535DBB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r>
              <a:rPr lang="cs-CZ" dirty="0"/>
              <a:t>Podle Alessandra je pojmenovaná jednotka Volt</a:t>
            </a:r>
          </a:p>
          <a:p>
            <a:r>
              <a:rPr lang="cs-CZ" dirty="0"/>
              <a:t>Objevil Methan</a:t>
            </a:r>
          </a:p>
          <a:p>
            <a:r>
              <a:rPr lang="cs-CZ" dirty="0"/>
              <a:t>Zdokonalil mnoho přístrojů, aby mu vyhovovaly při pokusech</a:t>
            </a:r>
          </a:p>
          <a:p>
            <a:r>
              <a:rPr lang="cs-CZ" dirty="0"/>
              <a:t>Vynalezl třecí elektřinu</a:t>
            </a:r>
          </a:p>
          <a:p>
            <a:r>
              <a:rPr lang="cs-CZ" dirty="0"/>
              <a:t>Zdokonalil kondenzátor</a:t>
            </a:r>
          </a:p>
          <a:p>
            <a:r>
              <a:rPr lang="cs-CZ" dirty="0"/>
              <a:t>Vynalezl </a:t>
            </a:r>
            <a:r>
              <a:rPr lang="cs-CZ" dirty="0" err="1"/>
              <a:t>elektrofor</a:t>
            </a:r>
            <a:r>
              <a:rPr lang="cs-CZ" dirty="0"/>
              <a:t>, elektrometr</a:t>
            </a:r>
          </a:p>
        </p:txBody>
      </p:sp>
    </p:spTree>
    <p:extLst>
      <p:ext uri="{BB962C8B-B14F-4D97-AF65-F5344CB8AC3E}">
        <p14:creationId xmlns:p14="http://schemas.microsoft.com/office/powerpoint/2010/main" val="172365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E348A1-A61E-CC7D-7A3E-3240C55F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0C3713-4B8C-D225-364B-68AA09188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55579"/>
          </a:xfrm>
        </p:spPr>
        <p:txBody>
          <a:bodyPr>
            <a:normAutofit fontScale="62500" lnSpcReduction="20000"/>
          </a:bodyPr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BEJEROVÁ, Jarmila. UŠETŘENO.CZ S.R.O..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Alessandro Volta: Jeho jméno nese jednotka elektrického napětí i kráter na Měsíci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16. února 2018 [cit. 11.1.2023].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https://www.elektrina.cz/alessandro-volta-zivotopis-zajimavosti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POSTRACH.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Alessandro Volta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6. 12. 2004 [cit. 11.1.2023].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https://cs.wikipedia.org/wiki/Alessandro_Volta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Alessandro Volta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http://www.converter.cz/fyzici/volta.htm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Alessandro Volta (1745-1827)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http://www.corrosion-doctors.org/Biographies/VoltaBio.htm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DILL, Mike.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Alessandro Volta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16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September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2001 [cit. 11.1.2023].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https://en.wikipedia.org/wiki/Alessandro_Volta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147.251.34.84.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Voltův sloup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25. 5. 2007 [cit. 11.1.2023].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https://cs.wikipedia.org/wiki/Voltův_sloup#/media/Soubor:Voltaic_pile_sk.png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COMO HISTORY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https://lakecomotravel.com/como-history/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University 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Pavia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11.1.2023]. Dostupný na WWW: https://travel.sygic.com/en/poi/university-of-pavia-poi:8792417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8984260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RedOrange">
      <a:dk1>
        <a:srgbClr val="000000"/>
      </a:dk1>
      <a:lt1>
        <a:srgbClr val="FFFFFF"/>
      </a:lt1>
      <a:dk2>
        <a:srgbClr val="292924"/>
      </a:dk2>
      <a:lt2>
        <a:srgbClr val="F5F4EE"/>
      </a:lt2>
      <a:accent1>
        <a:srgbClr val="E84C22"/>
      </a:accent1>
      <a:accent2>
        <a:srgbClr val="E79400"/>
      </a:accent2>
      <a:accent3>
        <a:srgbClr val="B64926"/>
      </a:accent3>
      <a:accent4>
        <a:srgbClr val="FF8427"/>
      </a:accent4>
      <a:accent5>
        <a:srgbClr val="CC9900"/>
      </a:accent5>
      <a:accent6>
        <a:srgbClr val="DF2F00"/>
      </a:accent6>
      <a:hlink>
        <a:srgbClr val="AA7F00"/>
      </a:hlink>
      <a:folHlink>
        <a:srgbClr val="6F6F9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502</Words>
  <Application>Microsoft Office PowerPoint</Application>
  <PresentationFormat>Širokoúhlá obrazovka</PresentationFormat>
  <Paragraphs>46</Paragraphs>
  <Slides>7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Calibri</vt:lpstr>
      <vt:lpstr>Tw Cen MT</vt:lpstr>
      <vt:lpstr>ShapesVTI</vt:lpstr>
      <vt:lpstr>Alessandro Volta</vt:lpstr>
      <vt:lpstr>Informace</vt:lpstr>
      <vt:lpstr>Život</vt:lpstr>
      <vt:lpstr>Vynálezy - první baterie</vt:lpstr>
      <vt:lpstr>Život</vt:lpstr>
      <vt:lpstr>Ostatní vynálezy</vt:lpstr>
      <vt:lpstr>Citace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