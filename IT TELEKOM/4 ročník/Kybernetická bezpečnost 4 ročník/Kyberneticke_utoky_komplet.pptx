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274" r:id="rId4"/>
    <p:sldId id="257" r:id="rId5"/>
    <p:sldId id="275" r:id="rId6"/>
    <p:sldId id="276" r:id="rId7"/>
    <p:sldId id="278" r:id="rId8"/>
    <p:sldId id="279" r:id="rId9"/>
    <p:sldId id="280" r:id="rId10"/>
    <p:sldId id="277" r:id="rId11"/>
    <p:sldId id="281" r:id="rId12"/>
    <p:sldId id="258" r:id="rId13"/>
    <p:sldId id="282" r:id="rId14"/>
    <p:sldId id="284" r:id="rId15"/>
    <p:sldId id="286" r:id="rId16"/>
    <p:sldId id="285" r:id="rId17"/>
    <p:sldId id="287" r:id="rId18"/>
    <p:sldId id="289" r:id="rId19"/>
    <p:sldId id="297" r:id="rId20"/>
    <p:sldId id="290" r:id="rId21"/>
    <p:sldId id="291" r:id="rId22"/>
    <p:sldId id="292" r:id="rId23"/>
    <p:sldId id="288" r:id="rId24"/>
    <p:sldId id="283" r:id="rId25"/>
    <p:sldId id="295" r:id="rId26"/>
    <p:sldId id="259" r:id="rId27"/>
    <p:sldId id="298" r:id="rId28"/>
    <p:sldId id="299" r:id="rId29"/>
    <p:sldId id="300" r:id="rId30"/>
    <p:sldId id="260" r:id="rId31"/>
    <p:sldId id="262" r:id="rId32"/>
    <p:sldId id="264" r:id="rId33"/>
    <p:sldId id="265" r:id="rId34"/>
    <p:sldId id="266" r:id="rId35"/>
    <p:sldId id="267" r:id="rId36"/>
    <p:sldId id="268" r:id="rId37"/>
    <p:sldId id="270" r:id="rId38"/>
    <p:sldId id="271" r:id="rId39"/>
    <p:sldId id="272" r:id="rId40"/>
    <p:sldId id="273" r:id="rId41"/>
    <p:sldId id="26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terbach Filip" userId="f8d9c4a4-f96a-49b4-aa96-006f913cdd52" providerId="ADAL" clId="{5DA814A6-C3F2-4624-8CFF-3D066E814A47}"/>
    <pc:docChg chg="custSel addSld delSld modSld">
      <pc:chgData name="Lauterbach Filip" userId="f8d9c4a4-f96a-49b4-aa96-006f913cdd52" providerId="ADAL" clId="{5DA814A6-C3F2-4624-8CFF-3D066E814A47}" dt="2025-04-25T06:16:35.653" v="256" actId="20577"/>
      <pc:docMkLst>
        <pc:docMk/>
      </pc:docMkLst>
      <pc:sldChg chg="del">
        <pc:chgData name="Lauterbach Filip" userId="f8d9c4a4-f96a-49b4-aa96-006f913cdd52" providerId="ADAL" clId="{5DA814A6-C3F2-4624-8CFF-3D066E814A47}" dt="2025-04-25T06:09:15.021" v="1" actId="47"/>
        <pc:sldMkLst>
          <pc:docMk/>
          <pc:sldMk cId="1955784576" sldId="263"/>
        </pc:sldMkLst>
      </pc:sldChg>
      <pc:sldChg chg="del">
        <pc:chgData name="Lauterbach Filip" userId="f8d9c4a4-f96a-49b4-aa96-006f913cdd52" providerId="ADAL" clId="{5DA814A6-C3F2-4624-8CFF-3D066E814A47}" dt="2025-04-25T06:08:43.123" v="0" actId="47"/>
        <pc:sldMkLst>
          <pc:docMk/>
          <pc:sldMk cId="4234834558" sldId="296"/>
        </pc:sldMkLst>
      </pc:sldChg>
      <pc:sldChg chg="modSp new mod">
        <pc:chgData name="Lauterbach Filip" userId="f8d9c4a4-f96a-49b4-aa96-006f913cdd52" providerId="ADAL" clId="{5DA814A6-C3F2-4624-8CFF-3D066E814A47}" dt="2025-04-25T06:16:35.653" v="256" actId="20577"/>
        <pc:sldMkLst>
          <pc:docMk/>
          <pc:sldMk cId="501664325" sldId="298"/>
        </pc:sldMkLst>
        <pc:spChg chg="mod">
          <ac:chgData name="Lauterbach Filip" userId="f8d9c4a4-f96a-49b4-aa96-006f913cdd52" providerId="ADAL" clId="{5DA814A6-C3F2-4624-8CFF-3D066E814A47}" dt="2025-04-25T06:09:42.272" v="6" actId="20577"/>
          <ac:spMkLst>
            <pc:docMk/>
            <pc:sldMk cId="501664325" sldId="298"/>
            <ac:spMk id="2" creationId="{288831B3-6145-8BC8-B57D-E77C7049F968}"/>
          </ac:spMkLst>
        </pc:spChg>
        <pc:spChg chg="mod">
          <ac:chgData name="Lauterbach Filip" userId="f8d9c4a4-f96a-49b4-aa96-006f913cdd52" providerId="ADAL" clId="{5DA814A6-C3F2-4624-8CFF-3D066E814A47}" dt="2025-04-25T06:16:35.653" v="256" actId="20577"/>
          <ac:spMkLst>
            <pc:docMk/>
            <pc:sldMk cId="501664325" sldId="298"/>
            <ac:spMk id="3" creationId="{68524609-7EB3-1A8B-881C-A5D9CAD9F3F7}"/>
          </ac:spMkLst>
        </pc:spChg>
      </pc:sldChg>
      <pc:sldChg chg="modSp new mod">
        <pc:chgData name="Lauterbach Filip" userId="f8d9c4a4-f96a-49b4-aa96-006f913cdd52" providerId="ADAL" clId="{5DA814A6-C3F2-4624-8CFF-3D066E814A47}" dt="2025-04-25T06:09:59.919" v="12" actId="20577"/>
        <pc:sldMkLst>
          <pc:docMk/>
          <pc:sldMk cId="2257457792" sldId="299"/>
        </pc:sldMkLst>
        <pc:spChg chg="mod">
          <ac:chgData name="Lauterbach Filip" userId="f8d9c4a4-f96a-49b4-aa96-006f913cdd52" providerId="ADAL" clId="{5DA814A6-C3F2-4624-8CFF-3D066E814A47}" dt="2025-04-25T06:09:59.919" v="12" actId="20577"/>
          <ac:spMkLst>
            <pc:docMk/>
            <pc:sldMk cId="2257457792" sldId="299"/>
            <ac:spMk id="2" creationId="{234915F9-6E16-4E22-662F-888DB4CA21A4}"/>
          </ac:spMkLst>
        </pc:spChg>
      </pc:sldChg>
      <pc:sldChg chg="modSp new mod">
        <pc:chgData name="Lauterbach Filip" userId="f8d9c4a4-f96a-49b4-aa96-006f913cdd52" providerId="ADAL" clId="{5DA814A6-C3F2-4624-8CFF-3D066E814A47}" dt="2025-04-25T06:09:56.567" v="11" actId="20577"/>
        <pc:sldMkLst>
          <pc:docMk/>
          <pc:sldMk cId="3547066952" sldId="300"/>
        </pc:sldMkLst>
        <pc:spChg chg="mod">
          <ac:chgData name="Lauterbach Filip" userId="f8d9c4a4-f96a-49b4-aa96-006f913cdd52" providerId="ADAL" clId="{5DA814A6-C3F2-4624-8CFF-3D066E814A47}" dt="2025-04-25T06:09:56.567" v="11" actId="20577"/>
          <ac:spMkLst>
            <pc:docMk/>
            <pc:sldMk cId="3547066952" sldId="300"/>
            <ac:spMk id="2" creationId="{9A1B32E7-59E1-4708-9612-7CF135B258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7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7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4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5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5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2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4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4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24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B36BF99-7AB7-4434-8EDC-2A8D129FE2B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2A05370-F4CE-4E63-A62E-B26E8371C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84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ABF0B7-5B7B-13ED-7B11-13B99F31E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Kybernetické útoky -přehled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18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89DBA-A9BB-46E9-536C-02D0C40C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útoků – rozdělení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A33F40-1F23-FC4D-AA12-F23198D4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Útoky na sítě</a:t>
            </a:r>
          </a:p>
          <a:p>
            <a:r>
              <a:rPr lang="cs-CZ" dirty="0"/>
              <a:t>Útoky na aplikace (Software)</a:t>
            </a:r>
          </a:p>
        </p:txBody>
      </p:sp>
    </p:spTree>
    <p:extLst>
      <p:ext uri="{BB962C8B-B14F-4D97-AF65-F5344CB8AC3E}">
        <p14:creationId xmlns:p14="http://schemas.microsoft.com/office/powerpoint/2010/main" val="435921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7EE01F-6353-0091-FF92-3CA29BB7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a DDoS </a:t>
            </a:r>
            <a:r>
              <a:rPr lang="en-US" dirty="0" err="1"/>
              <a:t>útoky</a:t>
            </a:r>
            <a:r>
              <a:rPr lang="en-US" dirty="0"/>
              <a:t> – </a:t>
            </a:r>
            <a:r>
              <a:rPr lang="en-US" dirty="0" err="1"/>
              <a:t>definice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6A3C61-6EF5-DF7A-86FC-2BF27E71C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 (Denial of Service): 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zaměřený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vyřazení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</a:t>
            </a:r>
            <a:r>
              <a:rPr lang="en-US" dirty="0" err="1"/>
              <a:t>služby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. </a:t>
            </a:r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obvykle</a:t>
            </a:r>
            <a:r>
              <a:rPr lang="en-US" dirty="0"/>
              <a:t> </a:t>
            </a:r>
            <a:r>
              <a:rPr lang="en-US" dirty="0" err="1"/>
              <a:t>posílá</a:t>
            </a:r>
            <a:r>
              <a:rPr lang="en-US" dirty="0"/>
              <a:t> </a:t>
            </a:r>
            <a:r>
              <a:rPr lang="en-US" dirty="0" err="1"/>
              <a:t>enormní</a:t>
            </a:r>
            <a:r>
              <a:rPr lang="en-US" dirty="0"/>
              <a:t> </a:t>
            </a:r>
            <a:r>
              <a:rPr lang="en-US" dirty="0" err="1"/>
              <a:t>množství</a:t>
            </a:r>
            <a:r>
              <a:rPr lang="en-US" dirty="0"/>
              <a:t> </a:t>
            </a:r>
            <a:r>
              <a:rPr lang="en-US" dirty="0" err="1"/>
              <a:t>požadavků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oběť</a:t>
            </a:r>
            <a:r>
              <a:rPr lang="en-US" dirty="0"/>
              <a:t>, </a:t>
            </a:r>
            <a:r>
              <a:rPr lang="en-US" dirty="0" err="1"/>
              <a:t>čímž</a:t>
            </a:r>
            <a:r>
              <a:rPr lang="en-US" dirty="0"/>
              <a:t> </a:t>
            </a:r>
            <a:r>
              <a:rPr lang="en-US" dirty="0" err="1"/>
              <a:t>způsobí</a:t>
            </a:r>
            <a:r>
              <a:rPr lang="en-US" dirty="0"/>
              <a:t> </a:t>
            </a:r>
            <a:r>
              <a:rPr lang="en-US" dirty="0" err="1"/>
              <a:t>přetížení</a:t>
            </a:r>
            <a:r>
              <a:rPr lang="en-US" dirty="0"/>
              <a:t> </a:t>
            </a:r>
            <a:r>
              <a:rPr lang="en-US" dirty="0" err="1"/>
              <a:t>serveru</a:t>
            </a:r>
            <a:r>
              <a:rPr lang="en-US" dirty="0"/>
              <a:t>, </a:t>
            </a:r>
            <a:r>
              <a:rPr lang="en-US" dirty="0" err="1"/>
              <a:t>sítě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aplikace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/>
              <a:t>DDoS (Distributed Denial of Service): </a:t>
            </a:r>
            <a:endParaRPr lang="cs-CZ" dirty="0"/>
          </a:p>
          <a:p>
            <a:pPr lvl="1"/>
            <a:r>
              <a:rPr lang="en-US" dirty="0" err="1"/>
              <a:t>Rozšířená</a:t>
            </a:r>
            <a:r>
              <a:rPr lang="en-US" dirty="0"/>
              <a:t> </a:t>
            </a:r>
            <a:r>
              <a:rPr lang="en-US" dirty="0" err="1"/>
              <a:t>verze</a:t>
            </a:r>
            <a:r>
              <a:rPr lang="en-US" dirty="0"/>
              <a:t> DoS </a:t>
            </a:r>
            <a:r>
              <a:rPr lang="en-US" dirty="0" err="1"/>
              <a:t>útoku</a:t>
            </a:r>
            <a:r>
              <a:rPr lang="en-US" dirty="0"/>
              <a:t>,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které</a:t>
            </a:r>
            <a:r>
              <a:rPr lang="en-US" dirty="0"/>
              <a:t> je </a:t>
            </a:r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prováděn</a:t>
            </a:r>
            <a:r>
              <a:rPr lang="en-US" dirty="0"/>
              <a:t> z </a:t>
            </a:r>
            <a:r>
              <a:rPr lang="en-US" dirty="0" err="1"/>
              <a:t>mnoha</a:t>
            </a:r>
            <a:r>
              <a:rPr lang="en-US" dirty="0"/>
              <a:t> </a:t>
            </a:r>
            <a:r>
              <a:rPr lang="en-US" dirty="0" err="1"/>
              <a:t>různých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 (</a:t>
            </a:r>
            <a:r>
              <a:rPr lang="en-US" dirty="0" err="1"/>
              <a:t>například</a:t>
            </a:r>
            <a:r>
              <a:rPr lang="en-US" dirty="0"/>
              <a:t> </a:t>
            </a:r>
            <a:r>
              <a:rPr lang="en-US" dirty="0" err="1"/>
              <a:t>botnetů</a:t>
            </a:r>
            <a:r>
              <a:rPr lang="en-US" dirty="0"/>
              <a:t>). </a:t>
            </a:r>
            <a:r>
              <a:rPr lang="en-US" dirty="0" err="1"/>
              <a:t>Tím</a:t>
            </a:r>
            <a:r>
              <a:rPr lang="en-US" dirty="0"/>
              <a:t> je </a:t>
            </a:r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obtížnější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blokaci</a:t>
            </a:r>
            <a:r>
              <a:rPr lang="en-US" dirty="0"/>
              <a:t> a </a:t>
            </a:r>
            <a:r>
              <a:rPr lang="en-US" dirty="0" err="1"/>
              <a:t>má</a:t>
            </a:r>
            <a:r>
              <a:rPr lang="en-US" dirty="0"/>
              <a:t> </a:t>
            </a:r>
            <a:r>
              <a:rPr lang="en-US" dirty="0" err="1"/>
              <a:t>větší</a:t>
            </a:r>
            <a:r>
              <a:rPr lang="en-US" dirty="0"/>
              <a:t> </a:t>
            </a:r>
            <a:r>
              <a:rPr lang="en-US" dirty="0" err="1"/>
              <a:t>škálovatelnost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8086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231C23-41F7-515C-4818-F67811A3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Útoky na sítě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F51665-1DAB-2464-D4DF-56FE9D75D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 (Denial of Service) a DDoS (Distributed Denial of Service)</a:t>
            </a:r>
            <a:endParaRPr lang="cs-CZ" dirty="0"/>
          </a:p>
          <a:p>
            <a:pPr lvl="1"/>
            <a:r>
              <a:rPr lang="cs-CZ" dirty="0"/>
              <a:t>UDP </a:t>
            </a:r>
            <a:r>
              <a:rPr lang="cs-CZ" dirty="0" err="1"/>
              <a:t>flood</a:t>
            </a:r>
            <a:endParaRPr lang="cs-CZ" dirty="0"/>
          </a:p>
          <a:p>
            <a:pPr lvl="1"/>
            <a:r>
              <a:rPr lang="cs-CZ" dirty="0"/>
              <a:t>ICMP </a:t>
            </a:r>
            <a:r>
              <a:rPr lang="cs-CZ" dirty="0" err="1"/>
              <a:t>flood</a:t>
            </a:r>
            <a:endParaRPr lang="cs-CZ" dirty="0"/>
          </a:p>
          <a:p>
            <a:pPr lvl="1"/>
            <a:r>
              <a:rPr lang="cs-CZ" dirty="0"/>
              <a:t>SYN </a:t>
            </a:r>
            <a:r>
              <a:rPr lang="cs-CZ" dirty="0" err="1"/>
              <a:t>flood</a:t>
            </a:r>
            <a:endParaRPr lang="cs-CZ" dirty="0"/>
          </a:p>
          <a:p>
            <a:pPr lvl="1"/>
            <a:r>
              <a:rPr lang="cs-CZ" dirty="0" err="1"/>
              <a:t>Slowloris</a:t>
            </a:r>
            <a:endParaRPr lang="cs-CZ" dirty="0"/>
          </a:p>
          <a:p>
            <a:pPr lvl="1"/>
            <a:r>
              <a:rPr lang="cs-CZ" dirty="0">
                <a:solidFill>
                  <a:schemeClr val="bg2">
                    <a:lumMod val="50000"/>
                    <a:lumOff val="50000"/>
                  </a:schemeClr>
                </a:solidFill>
              </a:rPr>
              <a:t>Ping </a:t>
            </a:r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of</a:t>
            </a:r>
            <a:r>
              <a:rPr lang="cs-CZ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Death</a:t>
            </a:r>
            <a:endParaRPr lang="cs-CZ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Smurf</a:t>
            </a:r>
            <a:r>
              <a:rPr lang="cs-CZ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Attack</a:t>
            </a:r>
            <a:endParaRPr lang="cs-CZ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Teardrop</a:t>
            </a:r>
            <a:r>
              <a:rPr lang="cs-CZ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2">
                    <a:lumMod val="50000"/>
                    <a:lumOff val="50000"/>
                  </a:schemeClr>
                </a:solidFill>
              </a:rPr>
              <a:t>Attack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08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61CF4F-4ED0-C6A9-7B08-67E2A5C9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Flood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346BF3-6A59-D141-049A-4D604BA74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zahrnující</a:t>
            </a:r>
            <a:r>
              <a:rPr lang="en-US" dirty="0"/>
              <a:t> </a:t>
            </a:r>
            <a:r>
              <a:rPr lang="en-US" dirty="0" err="1"/>
              <a:t>velké</a:t>
            </a:r>
            <a:r>
              <a:rPr lang="en-US" dirty="0"/>
              <a:t> </a:t>
            </a:r>
            <a:r>
              <a:rPr lang="en-US" dirty="0" err="1"/>
              <a:t>množství</a:t>
            </a:r>
            <a:r>
              <a:rPr lang="en-US" dirty="0"/>
              <a:t> UDP (User Datagram Protocol) </a:t>
            </a:r>
            <a:r>
              <a:rPr lang="en-US" dirty="0" err="1"/>
              <a:t>paketů</a:t>
            </a:r>
            <a:r>
              <a:rPr lang="en-US" dirty="0"/>
              <a:t> </a:t>
            </a:r>
            <a:r>
              <a:rPr lang="en-US" dirty="0" err="1"/>
              <a:t>zaslaných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náhodné</a:t>
            </a:r>
            <a:r>
              <a:rPr lang="en-US" dirty="0"/>
              <a:t> porty </a:t>
            </a:r>
            <a:r>
              <a:rPr lang="en-US" dirty="0" err="1"/>
              <a:t>cílového</a:t>
            </a:r>
            <a:r>
              <a:rPr lang="en-US" dirty="0"/>
              <a:t> </a:t>
            </a:r>
            <a:r>
              <a:rPr lang="en-US" dirty="0" err="1"/>
              <a:t>serveru</a:t>
            </a:r>
            <a:r>
              <a:rPr lang="en-US" dirty="0"/>
              <a:t>. </a:t>
            </a:r>
            <a:r>
              <a:rPr lang="en-US" dirty="0" err="1"/>
              <a:t>Pokud</a:t>
            </a:r>
            <a:r>
              <a:rPr lang="en-US" dirty="0"/>
              <a:t> server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daném</a:t>
            </a:r>
            <a:r>
              <a:rPr lang="en-US" dirty="0"/>
              <a:t>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nemá</a:t>
            </a:r>
            <a:r>
              <a:rPr lang="en-US" dirty="0"/>
              <a:t> </a:t>
            </a:r>
            <a:r>
              <a:rPr lang="en-US" dirty="0" err="1"/>
              <a:t>spuštěnou</a:t>
            </a:r>
            <a:r>
              <a:rPr lang="en-US" dirty="0"/>
              <a:t> </a:t>
            </a:r>
            <a:r>
              <a:rPr lang="en-US" dirty="0" err="1"/>
              <a:t>službu</a:t>
            </a:r>
            <a:r>
              <a:rPr lang="en-US" dirty="0"/>
              <a:t>, </a:t>
            </a:r>
            <a:r>
              <a:rPr lang="en-US" dirty="0" err="1"/>
              <a:t>odpovídá</a:t>
            </a:r>
            <a:r>
              <a:rPr lang="en-US" dirty="0"/>
              <a:t> ICMP </a:t>
            </a:r>
            <a:r>
              <a:rPr lang="en-US" dirty="0" err="1"/>
              <a:t>zprávou</a:t>
            </a:r>
            <a:r>
              <a:rPr lang="en-US" dirty="0"/>
              <a:t> „Destination Unreachable“.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Přetížení</a:t>
            </a:r>
            <a:r>
              <a:rPr lang="en-US" dirty="0"/>
              <a:t> </a:t>
            </a:r>
            <a:r>
              <a:rPr lang="en-US" dirty="0" err="1"/>
              <a:t>šířky</a:t>
            </a:r>
            <a:r>
              <a:rPr lang="en-US" dirty="0"/>
              <a:t> </a:t>
            </a:r>
            <a:r>
              <a:rPr lang="en-US" dirty="0" err="1"/>
              <a:t>pásma</a:t>
            </a:r>
            <a:r>
              <a:rPr lang="en-US" dirty="0"/>
              <a:t> a </a:t>
            </a:r>
            <a:r>
              <a:rPr lang="en-US" dirty="0" err="1"/>
              <a:t>zdrojů</a:t>
            </a:r>
            <a:r>
              <a:rPr lang="en-US" dirty="0"/>
              <a:t> </a:t>
            </a:r>
            <a:r>
              <a:rPr lang="en-US" dirty="0" err="1"/>
              <a:t>serveru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Příklady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Objevuje</a:t>
            </a:r>
            <a:r>
              <a:rPr lang="en-US" dirty="0"/>
              <a:t> se </a:t>
            </a:r>
            <a:r>
              <a:rPr lang="en-US" dirty="0" err="1"/>
              <a:t>často</a:t>
            </a:r>
            <a:r>
              <a:rPr lang="en-US" dirty="0"/>
              <a:t> v DDoS </a:t>
            </a:r>
            <a:r>
              <a:rPr lang="en-US" dirty="0" err="1"/>
              <a:t>útocích</a:t>
            </a:r>
            <a:r>
              <a:rPr lang="en-US" dirty="0"/>
              <a:t> </a:t>
            </a:r>
            <a:r>
              <a:rPr lang="en-US" dirty="0" err="1"/>
              <a:t>využívajících</a:t>
            </a:r>
            <a:r>
              <a:rPr lang="en-US" dirty="0"/>
              <a:t> </a:t>
            </a:r>
            <a:r>
              <a:rPr lang="en-US" dirty="0" err="1"/>
              <a:t>botnety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830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BA45F7-F51D-427D-33D5-72EC0EA3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ICMP Flood (Ping Flood)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0B6514-58BA-08DC-AFD8-CD76CBCFF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zasílá</a:t>
            </a:r>
            <a:r>
              <a:rPr lang="en-US" dirty="0"/>
              <a:t> </a:t>
            </a:r>
            <a:r>
              <a:rPr lang="en-US" dirty="0" err="1"/>
              <a:t>velké</a:t>
            </a:r>
            <a:r>
              <a:rPr lang="en-US" dirty="0"/>
              <a:t> </a:t>
            </a:r>
            <a:r>
              <a:rPr lang="en-US" dirty="0" err="1"/>
              <a:t>množství</a:t>
            </a:r>
            <a:r>
              <a:rPr lang="en-US" dirty="0"/>
              <a:t> ICMP (Internet Control Message Protocol) </a:t>
            </a:r>
            <a:r>
              <a:rPr lang="en-US" dirty="0" err="1"/>
              <a:t>paketů</a:t>
            </a:r>
            <a:r>
              <a:rPr lang="en-US" dirty="0"/>
              <a:t> </a:t>
            </a:r>
            <a:r>
              <a:rPr lang="en-US" dirty="0" err="1"/>
              <a:t>typu</a:t>
            </a:r>
            <a:r>
              <a:rPr lang="en-US" dirty="0"/>
              <a:t> „echo request“ (ping). </a:t>
            </a:r>
            <a:r>
              <a:rPr lang="en-US" dirty="0" err="1"/>
              <a:t>Pokud</a:t>
            </a:r>
            <a:r>
              <a:rPr lang="en-US" dirty="0"/>
              <a:t> server </a:t>
            </a:r>
            <a:r>
              <a:rPr lang="en-US" dirty="0" err="1"/>
              <a:t>odpovídá</a:t>
            </a:r>
            <a:r>
              <a:rPr lang="en-US" dirty="0"/>
              <a:t> „echo reply“, </a:t>
            </a:r>
            <a:r>
              <a:rPr lang="en-US" dirty="0" err="1"/>
              <a:t>jeho</a:t>
            </a:r>
            <a:r>
              <a:rPr lang="en-US" dirty="0"/>
              <a:t> </a:t>
            </a:r>
            <a:r>
              <a:rPr lang="en-US" dirty="0" err="1"/>
              <a:t>zdroje</a:t>
            </a:r>
            <a:r>
              <a:rPr lang="en-US" dirty="0"/>
              <a:t> se </a:t>
            </a:r>
            <a:r>
              <a:rPr lang="en-US" dirty="0" err="1"/>
              <a:t>rychle</a:t>
            </a:r>
            <a:r>
              <a:rPr lang="en-US" dirty="0"/>
              <a:t> </a:t>
            </a:r>
            <a:r>
              <a:rPr lang="en-US" dirty="0" err="1"/>
              <a:t>vyčerpají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Způsobit</a:t>
            </a:r>
            <a:r>
              <a:rPr lang="en-US" dirty="0"/>
              <a:t> </a:t>
            </a:r>
            <a:r>
              <a:rPr lang="en-US" dirty="0" err="1"/>
              <a:t>přetížení</a:t>
            </a:r>
            <a:r>
              <a:rPr lang="en-US" dirty="0"/>
              <a:t> </a:t>
            </a:r>
            <a:r>
              <a:rPr lang="en-US" dirty="0" err="1"/>
              <a:t>síťových</a:t>
            </a:r>
            <a:r>
              <a:rPr lang="en-US" dirty="0"/>
              <a:t> </a:t>
            </a:r>
            <a:r>
              <a:rPr lang="en-US" dirty="0" err="1"/>
              <a:t>zdrojů</a:t>
            </a:r>
            <a:r>
              <a:rPr lang="en-US" dirty="0"/>
              <a:t> a </a:t>
            </a:r>
            <a:r>
              <a:rPr lang="en-US" dirty="0" err="1"/>
              <a:t>procesoru</a:t>
            </a:r>
            <a:r>
              <a:rPr lang="en-US" dirty="0"/>
              <a:t> </a:t>
            </a:r>
            <a:r>
              <a:rPr lang="en-US" dirty="0" err="1"/>
              <a:t>cílového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Omezení</a:t>
            </a:r>
            <a:r>
              <a:rPr lang="en-US" dirty="0"/>
              <a:t> ICMP </a:t>
            </a:r>
            <a:r>
              <a:rPr lang="en-US" dirty="0" err="1"/>
              <a:t>paketů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firewallu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routeru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456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18DA9C-FA8A-91CE-D67A-E9B394E3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Flood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4AA3B8-BC3A-142F-2A68-0E0417D6B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Využívá</a:t>
            </a:r>
            <a:r>
              <a:rPr lang="en-US" dirty="0"/>
              <a:t> </a:t>
            </a:r>
            <a:r>
              <a:rPr lang="en-US" dirty="0" err="1"/>
              <a:t>zranitelnosti</a:t>
            </a:r>
            <a:r>
              <a:rPr lang="en-US" dirty="0"/>
              <a:t> v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navazování</a:t>
            </a:r>
            <a:r>
              <a:rPr lang="en-US" dirty="0"/>
              <a:t> TCP </a:t>
            </a:r>
            <a:r>
              <a:rPr lang="en-US" dirty="0" err="1"/>
              <a:t>spojení</a:t>
            </a:r>
            <a:r>
              <a:rPr lang="en-US" dirty="0"/>
              <a:t> (</a:t>
            </a:r>
            <a:r>
              <a:rPr lang="en-US" dirty="0" err="1"/>
              <a:t>třífázový</a:t>
            </a:r>
            <a:r>
              <a:rPr lang="en-US" dirty="0"/>
              <a:t> handshake). </a:t>
            </a:r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zašle</a:t>
            </a:r>
            <a:r>
              <a:rPr lang="en-US" dirty="0"/>
              <a:t> </a:t>
            </a:r>
            <a:r>
              <a:rPr lang="en-US" dirty="0" err="1"/>
              <a:t>velké</a:t>
            </a:r>
            <a:r>
              <a:rPr lang="en-US" dirty="0"/>
              <a:t> </a:t>
            </a:r>
            <a:r>
              <a:rPr lang="en-US" dirty="0" err="1"/>
              <a:t>množství</a:t>
            </a:r>
            <a:r>
              <a:rPr lang="en-US" dirty="0"/>
              <a:t> SYN </a:t>
            </a:r>
            <a:r>
              <a:rPr lang="en-US" dirty="0" err="1"/>
              <a:t>paketů</a:t>
            </a:r>
            <a:r>
              <a:rPr lang="en-US" dirty="0"/>
              <a:t>, ale </a:t>
            </a:r>
            <a:r>
              <a:rPr lang="en-US" dirty="0" err="1"/>
              <a:t>nikdy</a:t>
            </a:r>
            <a:r>
              <a:rPr lang="en-US" dirty="0"/>
              <a:t> </a:t>
            </a:r>
            <a:r>
              <a:rPr lang="en-US" dirty="0" err="1"/>
              <a:t>nedokončí</a:t>
            </a:r>
            <a:r>
              <a:rPr lang="en-US" dirty="0"/>
              <a:t> handshake. Server </a:t>
            </a:r>
            <a:r>
              <a:rPr lang="en-US" dirty="0" err="1"/>
              <a:t>tím</a:t>
            </a:r>
            <a:r>
              <a:rPr lang="en-US" dirty="0"/>
              <a:t> </a:t>
            </a:r>
            <a:r>
              <a:rPr lang="en-US" dirty="0" err="1"/>
              <a:t>udržuje</a:t>
            </a:r>
            <a:r>
              <a:rPr lang="en-US" dirty="0"/>
              <a:t> „</a:t>
            </a:r>
            <a:r>
              <a:rPr lang="en-US" dirty="0" err="1"/>
              <a:t>polootevřená</a:t>
            </a:r>
            <a:r>
              <a:rPr lang="en-US" dirty="0"/>
              <a:t>“ </a:t>
            </a:r>
            <a:r>
              <a:rPr lang="en-US" dirty="0" err="1"/>
              <a:t>spojení</a:t>
            </a:r>
            <a:r>
              <a:rPr lang="en-US" dirty="0"/>
              <a:t> a </a:t>
            </a:r>
            <a:r>
              <a:rPr lang="en-US" dirty="0" err="1"/>
              <a:t>jeho</a:t>
            </a:r>
            <a:r>
              <a:rPr lang="en-US" dirty="0"/>
              <a:t> </a:t>
            </a:r>
            <a:r>
              <a:rPr lang="en-US" dirty="0" err="1"/>
              <a:t>kapacita</a:t>
            </a:r>
            <a:r>
              <a:rPr lang="en-US" dirty="0"/>
              <a:t> se </a:t>
            </a:r>
            <a:r>
              <a:rPr lang="en-US" dirty="0" err="1"/>
              <a:t>vyčerpá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Paralyzovat</a:t>
            </a:r>
            <a:r>
              <a:rPr lang="en-US" dirty="0"/>
              <a:t> </a:t>
            </a:r>
            <a:r>
              <a:rPr lang="en-US" dirty="0" err="1"/>
              <a:t>cílový</a:t>
            </a:r>
            <a:r>
              <a:rPr lang="en-US" dirty="0"/>
              <a:t> server a </a:t>
            </a:r>
            <a:r>
              <a:rPr lang="en-US" dirty="0" err="1"/>
              <a:t>zabránit</a:t>
            </a:r>
            <a:r>
              <a:rPr lang="en-US" dirty="0"/>
              <a:t> </a:t>
            </a:r>
            <a:r>
              <a:rPr lang="en-US" dirty="0" err="1"/>
              <a:t>novým</a:t>
            </a:r>
            <a:r>
              <a:rPr lang="en-US" dirty="0"/>
              <a:t> </a:t>
            </a:r>
            <a:r>
              <a:rPr lang="en-US" dirty="0" err="1"/>
              <a:t>legitimním</a:t>
            </a:r>
            <a:r>
              <a:rPr lang="en-US" dirty="0"/>
              <a:t> </a:t>
            </a:r>
            <a:r>
              <a:rPr lang="en-US" dirty="0" err="1"/>
              <a:t>připojením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Implementace</a:t>
            </a:r>
            <a:r>
              <a:rPr lang="en-US" dirty="0"/>
              <a:t> SYN cookies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zkrácení</a:t>
            </a:r>
            <a:r>
              <a:rPr lang="en-US" dirty="0"/>
              <a:t> </a:t>
            </a:r>
            <a:r>
              <a:rPr lang="en-US" dirty="0" err="1"/>
              <a:t>timeoutu</a:t>
            </a:r>
            <a:r>
              <a:rPr lang="en-US" dirty="0"/>
              <a:t> pro </a:t>
            </a:r>
            <a:r>
              <a:rPr lang="en-US" dirty="0" err="1"/>
              <a:t>neaktivní</a:t>
            </a:r>
            <a:r>
              <a:rPr lang="en-US" dirty="0"/>
              <a:t> </a:t>
            </a:r>
            <a:r>
              <a:rPr lang="en-US" dirty="0" err="1"/>
              <a:t>spojení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119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2AF466-68C4-5952-24A6-5C041B16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Slowloris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4131CF-3553-C72F-82D6-69747C47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Nízkopásmový</a:t>
            </a:r>
            <a:r>
              <a:rPr lang="en-US" dirty="0"/>
              <a:t> </a:t>
            </a:r>
            <a:r>
              <a:rPr lang="en-US" dirty="0" err="1"/>
              <a:t>útok</a:t>
            </a:r>
            <a:r>
              <a:rPr lang="en-US" dirty="0"/>
              <a:t>, </a:t>
            </a:r>
            <a:r>
              <a:rPr lang="en-US" dirty="0" err="1"/>
              <a:t>který</a:t>
            </a:r>
            <a:r>
              <a:rPr lang="en-US" dirty="0"/>
              <a:t> </a:t>
            </a:r>
            <a:r>
              <a:rPr lang="en-US" dirty="0" err="1"/>
              <a:t>posílá</a:t>
            </a:r>
            <a:r>
              <a:rPr lang="en-US" dirty="0"/>
              <a:t> </a:t>
            </a:r>
            <a:r>
              <a:rPr lang="en-US" dirty="0" err="1"/>
              <a:t>fragmentované</a:t>
            </a:r>
            <a:r>
              <a:rPr lang="en-US" dirty="0"/>
              <a:t> HTTP </a:t>
            </a:r>
            <a:r>
              <a:rPr lang="en-US" dirty="0" err="1"/>
              <a:t>požadavky</a:t>
            </a:r>
            <a:r>
              <a:rPr lang="en-US" dirty="0"/>
              <a:t> a </a:t>
            </a:r>
            <a:r>
              <a:rPr lang="en-US" dirty="0" err="1"/>
              <a:t>udržuje</a:t>
            </a:r>
            <a:r>
              <a:rPr lang="en-US" dirty="0"/>
              <a:t> </a:t>
            </a:r>
            <a:r>
              <a:rPr lang="en-US" dirty="0" err="1"/>
              <a:t>připojení</a:t>
            </a:r>
            <a:r>
              <a:rPr lang="en-US" dirty="0"/>
              <a:t> k </a:t>
            </a:r>
            <a:r>
              <a:rPr lang="en-US" dirty="0" err="1"/>
              <a:t>serveru</a:t>
            </a:r>
            <a:r>
              <a:rPr lang="en-US" dirty="0"/>
              <a:t> co </a:t>
            </a:r>
            <a:r>
              <a:rPr lang="en-US" dirty="0" err="1"/>
              <a:t>nejdéle</a:t>
            </a:r>
            <a:r>
              <a:rPr lang="en-US" dirty="0"/>
              <a:t>, </a:t>
            </a:r>
            <a:r>
              <a:rPr lang="en-US" dirty="0" err="1"/>
              <a:t>aniž</a:t>
            </a:r>
            <a:r>
              <a:rPr lang="en-US" dirty="0"/>
              <a:t> by je </a:t>
            </a:r>
            <a:r>
              <a:rPr lang="en-US" dirty="0" err="1"/>
              <a:t>dokončil</a:t>
            </a:r>
            <a:r>
              <a:rPr lang="en-US" dirty="0"/>
              <a:t>. Server </a:t>
            </a:r>
            <a:r>
              <a:rPr lang="en-US" dirty="0" err="1"/>
              <a:t>musí</a:t>
            </a:r>
            <a:r>
              <a:rPr lang="en-US" dirty="0"/>
              <a:t> </a:t>
            </a:r>
            <a:r>
              <a:rPr lang="en-US" dirty="0" err="1"/>
              <a:t>tato</a:t>
            </a:r>
            <a:r>
              <a:rPr lang="en-US" dirty="0"/>
              <a:t> </a:t>
            </a:r>
            <a:r>
              <a:rPr lang="en-US" dirty="0" err="1"/>
              <a:t>připojení</a:t>
            </a:r>
            <a:r>
              <a:rPr lang="en-US" dirty="0"/>
              <a:t> </a:t>
            </a:r>
            <a:r>
              <a:rPr lang="en-US" dirty="0" err="1"/>
              <a:t>obsluhovat</a:t>
            </a:r>
            <a:r>
              <a:rPr lang="en-US" dirty="0"/>
              <a:t>, </a:t>
            </a:r>
            <a:r>
              <a:rPr lang="en-US" dirty="0" err="1"/>
              <a:t>což</a:t>
            </a:r>
            <a:r>
              <a:rPr lang="en-US" dirty="0"/>
              <a:t> </a:t>
            </a:r>
            <a:r>
              <a:rPr lang="en-US" dirty="0" err="1"/>
              <a:t>vyčerpává</a:t>
            </a:r>
            <a:r>
              <a:rPr lang="en-US" dirty="0"/>
              <a:t> </a:t>
            </a:r>
            <a:r>
              <a:rPr lang="en-US" dirty="0" err="1"/>
              <a:t>jeho</a:t>
            </a:r>
            <a:r>
              <a:rPr lang="en-US" dirty="0"/>
              <a:t> </a:t>
            </a:r>
            <a:r>
              <a:rPr lang="en-US" dirty="0" err="1"/>
              <a:t>zdroje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Přetížení</a:t>
            </a:r>
            <a:r>
              <a:rPr lang="en-US" dirty="0"/>
              <a:t> </a:t>
            </a:r>
            <a:r>
              <a:rPr lang="en-US" dirty="0" err="1"/>
              <a:t>webového</a:t>
            </a:r>
            <a:r>
              <a:rPr lang="en-US" dirty="0"/>
              <a:t> </a:t>
            </a:r>
            <a:r>
              <a:rPr lang="en-US" dirty="0" err="1"/>
              <a:t>serveru</a:t>
            </a:r>
            <a:r>
              <a:rPr lang="en-US" dirty="0"/>
              <a:t>, </a:t>
            </a:r>
            <a:r>
              <a:rPr lang="en-US" dirty="0" err="1"/>
              <a:t>zejména</a:t>
            </a:r>
            <a:r>
              <a:rPr lang="en-US" dirty="0"/>
              <a:t> </a:t>
            </a:r>
            <a:r>
              <a:rPr lang="en-US" dirty="0" err="1"/>
              <a:t>těch</a:t>
            </a:r>
            <a:r>
              <a:rPr lang="en-US" dirty="0"/>
              <a:t> s </a:t>
            </a:r>
            <a:r>
              <a:rPr lang="en-US" dirty="0" err="1"/>
              <a:t>omezeným</a:t>
            </a:r>
            <a:r>
              <a:rPr lang="en-US" dirty="0"/>
              <a:t> </a:t>
            </a:r>
            <a:r>
              <a:rPr lang="en-US" dirty="0" err="1"/>
              <a:t>počtem</a:t>
            </a:r>
            <a:r>
              <a:rPr lang="en-US" dirty="0"/>
              <a:t> </a:t>
            </a:r>
            <a:r>
              <a:rPr lang="en-US" dirty="0" err="1"/>
              <a:t>paralelních</a:t>
            </a:r>
            <a:r>
              <a:rPr lang="en-US" dirty="0"/>
              <a:t> </a:t>
            </a:r>
            <a:r>
              <a:rPr lang="en-US" dirty="0" err="1"/>
              <a:t>připojení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Apache).</a:t>
            </a:r>
            <a:endParaRPr lang="cs-CZ" dirty="0"/>
          </a:p>
          <a:p>
            <a:r>
              <a:rPr lang="en-US" dirty="0" err="1"/>
              <a:t>Výhoda</a:t>
            </a:r>
            <a:r>
              <a:rPr lang="en-US" dirty="0"/>
              <a:t> </a:t>
            </a:r>
            <a:r>
              <a:rPr lang="en-US" dirty="0" err="1"/>
              <a:t>útočníka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Může</a:t>
            </a:r>
            <a:r>
              <a:rPr lang="en-US" dirty="0"/>
              <a:t> </a:t>
            </a:r>
            <a:r>
              <a:rPr lang="en-US" dirty="0" err="1"/>
              <a:t>provést</a:t>
            </a:r>
            <a:r>
              <a:rPr lang="en-US" dirty="0"/>
              <a:t> </a:t>
            </a:r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pomocí</a:t>
            </a:r>
            <a:r>
              <a:rPr lang="en-US" dirty="0"/>
              <a:t> </a:t>
            </a:r>
            <a:r>
              <a:rPr lang="en-US" dirty="0" err="1"/>
              <a:t>jednoho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Nasazení</a:t>
            </a:r>
            <a:r>
              <a:rPr lang="en-US" dirty="0"/>
              <a:t> </a:t>
            </a:r>
            <a:r>
              <a:rPr lang="en-US" dirty="0" err="1"/>
              <a:t>webového</a:t>
            </a:r>
            <a:r>
              <a:rPr lang="en-US" dirty="0"/>
              <a:t> </a:t>
            </a:r>
            <a:r>
              <a:rPr lang="en-US" dirty="0" err="1"/>
              <a:t>aplikačního</a:t>
            </a:r>
            <a:r>
              <a:rPr lang="en-US" dirty="0"/>
              <a:t> </a:t>
            </a:r>
            <a:r>
              <a:rPr lang="en-US" dirty="0" err="1"/>
              <a:t>firewallu</a:t>
            </a:r>
            <a:r>
              <a:rPr lang="en-US" dirty="0"/>
              <a:t> (WAF)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omezení</a:t>
            </a:r>
            <a:r>
              <a:rPr lang="en-US" dirty="0"/>
              <a:t> </a:t>
            </a:r>
            <a:r>
              <a:rPr lang="en-US" dirty="0" err="1"/>
              <a:t>délky</a:t>
            </a:r>
            <a:r>
              <a:rPr lang="en-US" dirty="0"/>
              <a:t> </a:t>
            </a:r>
            <a:r>
              <a:rPr lang="en-US" dirty="0" err="1"/>
              <a:t>trvání</a:t>
            </a:r>
            <a:r>
              <a:rPr lang="en-US" dirty="0"/>
              <a:t> </a:t>
            </a:r>
            <a:r>
              <a:rPr lang="en-US" dirty="0" err="1"/>
              <a:t>spojení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69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FA0D7F-2018-3869-30CA-D2279B02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Ping of Death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E87821-756D-573C-5741-64DA3185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Popis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využívající</a:t>
            </a:r>
            <a:r>
              <a:rPr lang="en-US" dirty="0"/>
              <a:t> </a:t>
            </a:r>
            <a:r>
              <a:rPr lang="en-US" dirty="0" err="1"/>
              <a:t>fragmentované</a:t>
            </a:r>
            <a:r>
              <a:rPr lang="en-US" dirty="0"/>
              <a:t> ICMP </a:t>
            </a:r>
            <a:r>
              <a:rPr lang="en-US" dirty="0" err="1"/>
              <a:t>pakety</a:t>
            </a:r>
            <a:r>
              <a:rPr lang="en-US" dirty="0"/>
              <a:t>, </a:t>
            </a:r>
            <a:r>
              <a:rPr lang="en-US" dirty="0" err="1"/>
              <a:t>které</a:t>
            </a:r>
            <a:r>
              <a:rPr lang="en-US" dirty="0"/>
              <a:t>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opětovném</a:t>
            </a:r>
            <a:r>
              <a:rPr lang="en-US" dirty="0"/>
              <a:t> </a:t>
            </a:r>
            <a:r>
              <a:rPr lang="en-US" dirty="0" err="1"/>
              <a:t>složení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straně</a:t>
            </a:r>
            <a:r>
              <a:rPr lang="en-US" dirty="0"/>
              <a:t> </a:t>
            </a:r>
            <a:r>
              <a:rPr lang="en-US" dirty="0" err="1"/>
              <a:t>cíle</a:t>
            </a:r>
            <a:r>
              <a:rPr lang="en-US" dirty="0"/>
              <a:t> </a:t>
            </a:r>
            <a:r>
              <a:rPr lang="en-US" dirty="0" err="1"/>
              <a:t>překročí</a:t>
            </a:r>
            <a:r>
              <a:rPr lang="en-US" dirty="0"/>
              <a:t> </a:t>
            </a:r>
            <a:r>
              <a:rPr lang="en-US" dirty="0" err="1"/>
              <a:t>maximální</a:t>
            </a:r>
            <a:r>
              <a:rPr lang="en-US" dirty="0"/>
              <a:t> </a:t>
            </a:r>
            <a:r>
              <a:rPr lang="en-US" dirty="0" err="1"/>
              <a:t>velikost</a:t>
            </a:r>
            <a:r>
              <a:rPr lang="en-US" dirty="0"/>
              <a:t> </a:t>
            </a:r>
            <a:r>
              <a:rPr lang="en-US" dirty="0" err="1"/>
              <a:t>paketu</a:t>
            </a:r>
            <a:r>
              <a:rPr lang="en-US" dirty="0"/>
              <a:t> (65 535 </a:t>
            </a:r>
            <a:r>
              <a:rPr lang="en-US" dirty="0" err="1"/>
              <a:t>bajtů</a:t>
            </a:r>
            <a:r>
              <a:rPr lang="en-US" dirty="0"/>
              <a:t>), </a:t>
            </a:r>
            <a:r>
              <a:rPr lang="en-US" dirty="0" err="1"/>
              <a:t>což</a:t>
            </a:r>
            <a:r>
              <a:rPr lang="en-US" dirty="0"/>
              <a:t> </a:t>
            </a:r>
            <a:r>
              <a:rPr lang="en-US" dirty="0" err="1"/>
              <a:t>vede</a:t>
            </a:r>
            <a:r>
              <a:rPr lang="en-US" dirty="0"/>
              <a:t> k </a:t>
            </a:r>
            <a:r>
              <a:rPr lang="en-US" dirty="0" err="1"/>
              <a:t>pádu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Vyvolání</a:t>
            </a:r>
            <a:r>
              <a:rPr lang="en-US" dirty="0"/>
              <a:t> </a:t>
            </a:r>
            <a:r>
              <a:rPr lang="en-US" dirty="0" err="1"/>
              <a:t>chyby</a:t>
            </a:r>
            <a:r>
              <a:rPr lang="en-US" dirty="0"/>
              <a:t> </a:t>
            </a:r>
            <a:r>
              <a:rPr lang="en-US" dirty="0" err="1"/>
              <a:t>přetečení</a:t>
            </a:r>
            <a:r>
              <a:rPr lang="en-US" dirty="0"/>
              <a:t> </a:t>
            </a:r>
            <a:r>
              <a:rPr lang="en-US" dirty="0" err="1"/>
              <a:t>vyrovnávací</a:t>
            </a:r>
            <a:r>
              <a:rPr lang="en-US" dirty="0"/>
              <a:t> </a:t>
            </a:r>
            <a:r>
              <a:rPr lang="en-US" dirty="0" err="1"/>
              <a:t>paměti</a:t>
            </a:r>
            <a:r>
              <a:rPr lang="en-US" dirty="0"/>
              <a:t> (buffer overflow) a </a:t>
            </a:r>
            <a:r>
              <a:rPr lang="en-US" dirty="0" err="1"/>
              <a:t>destabilizace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Historie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cs-CZ" dirty="0"/>
              <a:t>P</a:t>
            </a:r>
            <a:r>
              <a:rPr lang="en-US" dirty="0" err="1"/>
              <a:t>opulární</a:t>
            </a:r>
            <a:r>
              <a:rPr lang="en-US" dirty="0"/>
              <a:t> v 90. </a:t>
            </a:r>
            <a:r>
              <a:rPr lang="en-US" dirty="0" err="1"/>
              <a:t>letech</a:t>
            </a:r>
            <a:r>
              <a:rPr lang="en-US" dirty="0"/>
              <a:t>, </a:t>
            </a:r>
            <a:r>
              <a:rPr lang="en-US" dirty="0" err="1"/>
              <a:t>moderní</a:t>
            </a:r>
            <a:r>
              <a:rPr lang="en-US" dirty="0"/>
              <a:t> </a:t>
            </a:r>
            <a:r>
              <a:rPr lang="en-US" dirty="0" err="1"/>
              <a:t>systémy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většinou</a:t>
            </a:r>
            <a:r>
              <a:rPr lang="en-US" dirty="0"/>
              <a:t> </a:t>
            </a:r>
            <a:r>
              <a:rPr lang="en-US" dirty="0" err="1"/>
              <a:t>proti</a:t>
            </a:r>
            <a:r>
              <a:rPr lang="en-US" dirty="0"/>
              <a:t> </a:t>
            </a:r>
            <a:r>
              <a:rPr lang="en-US" dirty="0" err="1"/>
              <a:t>tomuto</a:t>
            </a:r>
            <a:r>
              <a:rPr lang="en-US" dirty="0"/>
              <a:t> </a:t>
            </a:r>
            <a:r>
              <a:rPr lang="en-US" dirty="0" err="1"/>
              <a:t>útoku</a:t>
            </a:r>
            <a:r>
              <a:rPr lang="en-US" dirty="0"/>
              <a:t> </a:t>
            </a:r>
            <a:r>
              <a:rPr lang="en-US" dirty="0" err="1"/>
              <a:t>odolné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189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BC97E3-E968-79E0-D275-C8A2EF59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Smurf Attack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4AFA4F-8513-439F-6F93-5632E50C2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 </a:t>
            </a:r>
            <a:r>
              <a:rPr lang="en-US" dirty="0" err="1"/>
              <a:t>založený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odrazové</a:t>
            </a:r>
            <a:r>
              <a:rPr lang="en-US" dirty="0"/>
              <a:t> </a:t>
            </a:r>
            <a:r>
              <a:rPr lang="en-US" dirty="0" err="1"/>
              <a:t>metodě</a:t>
            </a:r>
            <a:r>
              <a:rPr lang="en-US" dirty="0"/>
              <a:t> (spoofing). </a:t>
            </a:r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posílá</a:t>
            </a:r>
            <a:r>
              <a:rPr lang="en-US" dirty="0"/>
              <a:t> ICMP echo </a:t>
            </a:r>
            <a:r>
              <a:rPr lang="en-US" dirty="0" err="1"/>
              <a:t>requesty</a:t>
            </a:r>
            <a:r>
              <a:rPr lang="en-US" dirty="0"/>
              <a:t> s </a:t>
            </a:r>
            <a:r>
              <a:rPr lang="en-US" dirty="0" err="1"/>
              <a:t>podvrženou</a:t>
            </a:r>
            <a:r>
              <a:rPr lang="en-US" dirty="0"/>
              <a:t> IP </a:t>
            </a:r>
            <a:r>
              <a:rPr lang="en-US" dirty="0" err="1"/>
              <a:t>adresou</a:t>
            </a:r>
            <a:r>
              <a:rPr lang="en-US" dirty="0"/>
              <a:t> (</a:t>
            </a:r>
            <a:r>
              <a:rPr lang="en-US" dirty="0" err="1"/>
              <a:t>oběti</a:t>
            </a:r>
            <a:r>
              <a:rPr lang="en-US" dirty="0"/>
              <a:t>)</a:t>
            </a:r>
            <a:r>
              <a:rPr lang="cs-CZ" dirty="0"/>
              <a:t> – zdroj. </a:t>
            </a:r>
            <a:r>
              <a:rPr lang="cs-CZ"/>
              <a:t>adresa</a:t>
            </a:r>
            <a:r>
              <a:rPr lang="en-US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broadcastovou</a:t>
            </a:r>
            <a:r>
              <a:rPr lang="en-US" dirty="0"/>
              <a:t> </a:t>
            </a:r>
            <a:r>
              <a:rPr lang="en-US" dirty="0" err="1"/>
              <a:t>adresu</a:t>
            </a:r>
            <a:r>
              <a:rPr lang="en-US" dirty="0"/>
              <a:t> </a:t>
            </a:r>
            <a:r>
              <a:rPr lang="en-US" dirty="0" err="1"/>
              <a:t>sítě</a:t>
            </a:r>
            <a:r>
              <a:rPr lang="en-US" dirty="0"/>
              <a:t>. </a:t>
            </a:r>
            <a:r>
              <a:rPr lang="en-US" dirty="0" err="1"/>
              <a:t>Všechna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 v </a:t>
            </a:r>
            <a:r>
              <a:rPr lang="en-US" dirty="0" err="1"/>
              <a:t>síti</a:t>
            </a:r>
            <a:r>
              <a:rPr lang="en-US" dirty="0"/>
              <a:t> </a:t>
            </a:r>
            <a:r>
              <a:rPr lang="en-US" dirty="0" err="1"/>
              <a:t>odpoví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oběť</a:t>
            </a:r>
            <a:r>
              <a:rPr lang="en-US" dirty="0"/>
              <a:t>, </a:t>
            </a:r>
            <a:r>
              <a:rPr lang="en-US" dirty="0" err="1"/>
              <a:t>což</a:t>
            </a:r>
            <a:r>
              <a:rPr lang="en-US" dirty="0"/>
              <a:t> ji </a:t>
            </a:r>
            <a:r>
              <a:rPr lang="en-US" dirty="0" err="1"/>
              <a:t>přetíží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Vyřadit</a:t>
            </a:r>
            <a:r>
              <a:rPr lang="en-US" dirty="0"/>
              <a:t> </a:t>
            </a:r>
            <a:r>
              <a:rPr lang="en-US" dirty="0" err="1"/>
              <a:t>cílové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 z </a:t>
            </a:r>
            <a:r>
              <a:rPr lang="en-US" dirty="0" err="1"/>
              <a:t>provozu</a:t>
            </a:r>
            <a:r>
              <a:rPr lang="en-US" dirty="0"/>
              <a:t> </a:t>
            </a:r>
            <a:r>
              <a:rPr lang="en-US" dirty="0" err="1"/>
              <a:t>díky</a:t>
            </a:r>
            <a:r>
              <a:rPr lang="en-US" dirty="0"/>
              <a:t> </a:t>
            </a:r>
            <a:r>
              <a:rPr lang="en-US" dirty="0" err="1"/>
              <a:t>zahlcení</a:t>
            </a:r>
            <a:r>
              <a:rPr lang="en-US" dirty="0"/>
              <a:t> </a:t>
            </a:r>
            <a:r>
              <a:rPr lang="en-US" dirty="0" err="1"/>
              <a:t>odpověďmi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Zakázání</a:t>
            </a:r>
            <a:r>
              <a:rPr lang="en-US" dirty="0"/>
              <a:t> ICMP </a:t>
            </a:r>
            <a:r>
              <a:rPr lang="en-US" dirty="0" err="1"/>
              <a:t>broadcastů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routerech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1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9ADBF1-CBD9-DCB8-AA54-CE0A08FD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Teardrop Attack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4F1F58-469F-4258-A105-DAE34F8F5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posílá</a:t>
            </a:r>
            <a:r>
              <a:rPr lang="en-US" dirty="0"/>
              <a:t> </a:t>
            </a:r>
            <a:r>
              <a:rPr lang="en-US" dirty="0" err="1"/>
              <a:t>fragmentované</a:t>
            </a:r>
            <a:r>
              <a:rPr lang="en-US" dirty="0"/>
              <a:t> IP </a:t>
            </a:r>
            <a:r>
              <a:rPr lang="en-US" dirty="0" err="1"/>
              <a:t>pakety</a:t>
            </a:r>
            <a:r>
              <a:rPr lang="en-US" dirty="0"/>
              <a:t> s </a:t>
            </a:r>
            <a:r>
              <a:rPr lang="en-US" dirty="0" err="1"/>
              <a:t>nesprávnými</a:t>
            </a:r>
            <a:r>
              <a:rPr lang="en-US" dirty="0"/>
              <a:t> </a:t>
            </a:r>
            <a:r>
              <a:rPr lang="en-US" dirty="0" err="1"/>
              <a:t>offsety</a:t>
            </a:r>
            <a:r>
              <a:rPr lang="en-US" dirty="0"/>
              <a:t>. </a:t>
            </a:r>
            <a:r>
              <a:rPr lang="en-US" dirty="0" err="1"/>
              <a:t>Když</a:t>
            </a:r>
            <a:r>
              <a:rPr lang="en-US" dirty="0"/>
              <a:t> </a:t>
            </a:r>
            <a:r>
              <a:rPr lang="en-US" dirty="0" err="1"/>
              <a:t>cílový</a:t>
            </a:r>
            <a:r>
              <a:rPr lang="en-US" dirty="0"/>
              <a:t>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znovu</a:t>
            </a:r>
            <a:r>
              <a:rPr lang="en-US" dirty="0"/>
              <a:t> </a:t>
            </a:r>
            <a:r>
              <a:rPr lang="en-US" dirty="0" err="1"/>
              <a:t>sestavuje</a:t>
            </a:r>
            <a:r>
              <a:rPr lang="en-US" dirty="0"/>
              <a:t> </a:t>
            </a:r>
            <a:r>
              <a:rPr lang="en-US" dirty="0" err="1"/>
              <a:t>pakety</a:t>
            </a:r>
            <a:r>
              <a:rPr lang="en-US" dirty="0"/>
              <a:t>, </a:t>
            </a:r>
            <a:r>
              <a:rPr lang="en-US" dirty="0" err="1"/>
              <a:t>dojde</a:t>
            </a:r>
            <a:r>
              <a:rPr lang="en-US" dirty="0"/>
              <a:t> k </a:t>
            </a:r>
            <a:r>
              <a:rPr lang="en-US" dirty="0" err="1"/>
              <a:t>chybě</a:t>
            </a:r>
            <a:r>
              <a:rPr lang="en-US" dirty="0"/>
              <a:t> </a:t>
            </a:r>
            <a:r>
              <a:rPr lang="en-US" dirty="0" err="1"/>
              <a:t>přístupu</a:t>
            </a:r>
            <a:r>
              <a:rPr lang="en-US" dirty="0"/>
              <a:t> do </a:t>
            </a:r>
            <a:r>
              <a:rPr lang="en-US" dirty="0" err="1"/>
              <a:t>paměti</a:t>
            </a:r>
            <a:r>
              <a:rPr lang="en-US" dirty="0"/>
              <a:t> (</a:t>
            </a:r>
            <a:r>
              <a:rPr lang="en-US" dirty="0" err="1"/>
              <a:t>pád</a:t>
            </a:r>
            <a:r>
              <a:rPr lang="en-US" dirty="0"/>
              <a:t> </a:t>
            </a:r>
            <a:r>
              <a:rPr lang="en-US" dirty="0" err="1"/>
              <a:t>systému</a:t>
            </a:r>
            <a:r>
              <a:rPr lang="en-US" dirty="0"/>
              <a:t>).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Využít</a:t>
            </a:r>
            <a:r>
              <a:rPr lang="en-US" dirty="0"/>
              <a:t> </a:t>
            </a:r>
            <a:r>
              <a:rPr lang="en-US" dirty="0" err="1"/>
              <a:t>chybu</a:t>
            </a:r>
            <a:r>
              <a:rPr lang="en-US" dirty="0"/>
              <a:t> v </a:t>
            </a:r>
            <a:r>
              <a:rPr lang="en-US" dirty="0" err="1"/>
              <a:t>implementaci</a:t>
            </a:r>
            <a:r>
              <a:rPr lang="en-US" dirty="0"/>
              <a:t> TCP/IP </a:t>
            </a:r>
            <a:r>
              <a:rPr lang="en-US" dirty="0" err="1"/>
              <a:t>stacku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zhroucení</a:t>
            </a:r>
            <a:r>
              <a:rPr lang="en-US" dirty="0"/>
              <a:t> </a:t>
            </a:r>
            <a:r>
              <a:rPr lang="en-US" dirty="0" err="1"/>
              <a:t>cílového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Historie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Relevantní</a:t>
            </a:r>
            <a:r>
              <a:rPr lang="en-US" dirty="0"/>
              <a:t> </a:t>
            </a:r>
            <a:r>
              <a:rPr lang="en-US" dirty="0" err="1"/>
              <a:t>hlavně</a:t>
            </a:r>
            <a:r>
              <a:rPr lang="en-US" dirty="0"/>
              <a:t> pro </a:t>
            </a:r>
            <a:r>
              <a:rPr lang="en-US" dirty="0" err="1"/>
              <a:t>starší</a:t>
            </a:r>
            <a:r>
              <a:rPr lang="en-US" dirty="0"/>
              <a:t> </a:t>
            </a:r>
            <a:r>
              <a:rPr lang="en-US" dirty="0" err="1"/>
              <a:t>systémy</a:t>
            </a:r>
            <a:r>
              <a:rPr lang="en-US" dirty="0"/>
              <a:t>, </a:t>
            </a:r>
            <a:r>
              <a:rPr lang="en-US" dirty="0" err="1"/>
              <a:t>moderní</a:t>
            </a:r>
            <a:r>
              <a:rPr lang="en-US" dirty="0"/>
              <a:t> OS </a:t>
            </a:r>
            <a:r>
              <a:rPr lang="en-US" dirty="0" err="1"/>
              <a:t>mají</a:t>
            </a:r>
            <a:r>
              <a:rPr lang="en-US" dirty="0"/>
              <a:t> </a:t>
            </a:r>
            <a:r>
              <a:rPr lang="en-US" dirty="0" err="1"/>
              <a:t>opravy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tento</a:t>
            </a:r>
            <a:r>
              <a:rPr lang="en-US" dirty="0"/>
              <a:t> </a:t>
            </a:r>
            <a:r>
              <a:rPr lang="en-US" dirty="0" err="1"/>
              <a:t>typ</a:t>
            </a:r>
            <a:r>
              <a:rPr lang="en-US" dirty="0"/>
              <a:t> </a:t>
            </a:r>
            <a:r>
              <a:rPr lang="en-US" dirty="0" err="1"/>
              <a:t>útoku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8338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05CC6-9F90-4F2E-DFA2-8D30FBE3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Útoky na sítě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AA2D94-8684-E7BF-48CD-FFA760B8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Man-in-the-Middle (MitM)</a:t>
            </a:r>
            <a:endParaRPr lang="cs-CZ" dirty="0"/>
          </a:p>
          <a:p>
            <a:pPr lvl="1"/>
            <a:r>
              <a:rPr lang="cs-CZ" dirty="0"/>
              <a:t>ARP </a:t>
            </a:r>
            <a:r>
              <a:rPr lang="cs-CZ" dirty="0" err="1"/>
              <a:t>spoofing</a:t>
            </a:r>
            <a:endParaRPr lang="cs-CZ" dirty="0"/>
          </a:p>
          <a:p>
            <a:pPr lvl="1"/>
            <a:r>
              <a:rPr lang="cs-CZ" dirty="0"/>
              <a:t>DNS </a:t>
            </a:r>
            <a:r>
              <a:rPr lang="cs-CZ" dirty="0" err="1"/>
              <a:t>spoofing</a:t>
            </a:r>
            <a:endParaRPr lang="cs-CZ" dirty="0"/>
          </a:p>
          <a:p>
            <a:pPr lvl="1"/>
            <a:r>
              <a:rPr lang="cs-CZ" dirty="0"/>
              <a:t>Session </a:t>
            </a:r>
            <a:r>
              <a:rPr lang="cs-CZ" dirty="0" err="1"/>
              <a:t>Hijacking</a:t>
            </a:r>
            <a:endParaRPr lang="cs-CZ" dirty="0"/>
          </a:p>
          <a:p>
            <a:pPr lvl="1"/>
            <a:r>
              <a:rPr lang="cs-CZ" dirty="0"/>
              <a:t>HTTPS </a:t>
            </a:r>
            <a:r>
              <a:rPr lang="cs-CZ" dirty="0" err="1"/>
              <a:t>spoofing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1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54013-9908-51BE-4756-E804EC41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Man-in-the-Middle (MitM)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28608F-9E9D-6A6C-025B-9D6748CC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,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kterém</a:t>
            </a:r>
            <a:r>
              <a:rPr lang="en-US" dirty="0"/>
              <a:t> </a:t>
            </a:r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skrytě</a:t>
            </a:r>
            <a:r>
              <a:rPr lang="en-US" dirty="0"/>
              <a:t> </a:t>
            </a:r>
            <a:r>
              <a:rPr lang="en-US" dirty="0" err="1"/>
              <a:t>odposlouchává</a:t>
            </a:r>
            <a:r>
              <a:rPr lang="en-US" dirty="0"/>
              <a:t>, </a:t>
            </a:r>
            <a:r>
              <a:rPr lang="en-US" dirty="0" err="1"/>
              <a:t>upravuje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přesměrovává</a:t>
            </a:r>
            <a:r>
              <a:rPr lang="en-US" dirty="0"/>
              <a:t> </a:t>
            </a:r>
            <a:r>
              <a:rPr lang="en-US" dirty="0" err="1"/>
              <a:t>komunikaci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dvěma</a:t>
            </a:r>
            <a:r>
              <a:rPr lang="en-US" dirty="0"/>
              <a:t> </a:t>
            </a:r>
            <a:r>
              <a:rPr lang="en-US" dirty="0" err="1"/>
              <a:t>stranami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</a:t>
            </a:r>
            <a:r>
              <a:rPr lang="en-US" dirty="0" err="1"/>
              <a:t>klientem</a:t>
            </a:r>
            <a:r>
              <a:rPr lang="en-US" dirty="0"/>
              <a:t> a </a:t>
            </a:r>
            <a:r>
              <a:rPr lang="en-US" dirty="0" err="1"/>
              <a:t>serverem</a:t>
            </a:r>
            <a:r>
              <a:rPr lang="en-US" dirty="0"/>
              <a:t>), </a:t>
            </a:r>
            <a:r>
              <a:rPr lang="en-US" dirty="0" err="1"/>
              <a:t>aniž</a:t>
            </a:r>
            <a:r>
              <a:rPr lang="en-US" dirty="0"/>
              <a:t> by </a:t>
            </a:r>
            <a:r>
              <a:rPr lang="en-US" dirty="0" err="1"/>
              <a:t>tyto</a:t>
            </a:r>
            <a:r>
              <a:rPr lang="en-US" dirty="0"/>
              <a:t> </a:t>
            </a:r>
            <a:r>
              <a:rPr lang="en-US" dirty="0" err="1"/>
              <a:t>strany</a:t>
            </a:r>
            <a:r>
              <a:rPr lang="en-US" dirty="0"/>
              <a:t> </a:t>
            </a:r>
            <a:r>
              <a:rPr lang="en-US" dirty="0" err="1"/>
              <a:t>věděly</a:t>
            </a:r>
            <a:r>
              <a:rPr lang="en-US" dirty="0"/>
              <a:t> o </a:t>
            </a:r>
            <a:r>
              <a:rPr lang="en-US" dirty="0" err="1"/>
              <a:t>přítomnosti</a:t>
            </a:r>
            <a:r>
              <a:rPr lang="en-US" dirty="0"/>
              <a:t> </a:t>
            </a:r>
            <a:r>
              <a:rPr lang="en-US" dirty="0" err="1"/>
              <a:t>útočníka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Získat</a:t>
            </a:r>
            <a:r>
              <a:rPr lang="en-US" dirty="0"/>
              <a:t> </a:t>
            </a:r>
            <a:r>
              <a:rPr lang="en-US" dirty="0" err="1"/>
              <a:t>citlivé</a:t>
            </a:r>
            <a:r>
              <a:rPr lang="en-US" dirty="0"/>
              <a:t> </a:t>
            </a:r>
            <a:r>
              <a:rPr lang="en-US" dirty="0" err="1"/>
              <a:t>informace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</a:t>
            </a:r>
            <a:r>
              <a:rPr lang="en-US" dirty="0" err="1"/>
              <a:t>přihlašovací</a:t>
            </a:r>
            <a:r>
              <a:rPr lang="en-US" dirty="0"/>
              <a:t> </a:t>
            </a:r>
            <a:r>
              <a:rPr lang="en-US" dirty="0" err="1"/>
              <a:t>údaje</a:t>
            </a:r>
            <a:r>
              <a:rPr lang="en-US" dirty="0"/>
              <a:t>, </a:t>
            </a:r>
            <a:r>
              <a:rPr lang="en-US" dirty="0" err="1"/>
              <a:t>platební</a:t>
            </a:r>
            <a:r>
              <a:rPr lang="en-US" dirty="0"/>
              <a:t> </a:t>
            </a:r>
            <a:r>
              <a:rPr lang="en-US" dirty="0" err="1"/>
              <a:t>informace</a:t>
            </a:r>
            <a:r>
              <a:rPr lang="en-US" dirty="0"/>
              <a:t>)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manipulovat</a:t>
            </a:r>
            <a:r>
              <a:rPr lang="en-US" dirty="0"/>
              <a:t> s </a:t>
            </a:r>
            <a:r>
              <a:rPr lang="en-US" dirty="0" err="1"/>
              <a:t>přenášenými</a:t>
            </a:r>
            <a:r>
              <a:rPr lang="en-US" dirty="0"/>
              <a:t> </a:t>
            </a:r>
            <a:r>
              <a:rPr lang="en-US" dirty="0" err="1"/>
              <a:t>daty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Metody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síťové</a:t>
            </a:r>
            <a:r>
              <a:rPr lang="en-US" dirty="0"/>
              <a:t> </a:t>
            </a:r>
            <a:r>
              <a:rPr lang="en-US" dirty="0" err="1"/>
              <a:t>protokoly</a:t>
            </a:r>
            <a:r>
              <a:rPr lang="en-US" dirty="0"/>
              <a:t>, DNS, </a:t>
            </a:r>
            <a:r>
              <a:rPr lang="en-US" dirty="0" err="1"/>
              <a:t>šifrování</a:t>
            </a:r>
            <a:r>
              <a:rPr lang="en-US" dirty="0"/>
              <a:t> </a:t>
            </a:r>
            <a:r>
              <a:rPr lang="en-US" dirty="0" err="1"/>
              <a:t>či</a:t>
            </a:r>
            <a:r>
              <a:rPr lang="en-US" dirty="0"/>
              <a:t> </a:t>
            </a:r>
            <a:r>
              <a:rPr lang="en-US" dirty="0" err="1"/>
              <a:t>autentizaci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4979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67DD3B-5EA5-131A-EAAB-2E6C7ACC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FC2932-E7E1-B29B-5174-672B8623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zneužívá</a:t>
            </a:r>
            <a:r>
              <a:rPr lang="en-US" dirty="0"/>
              <a:t> </a:t>
            </a:r>
            <a:r>
              <a:rPr lang="en-US" dirty="0" err="1"/>
              <a:t>slabiny</a:t>
            </a:r>
            <a:r>
              <a:rPr lang="en-US" dirty="0"/>
              <a:t> </a:t>
            </a:r>
            <a:r>
              <a:rPr lang="en-US" dirty="0" err="1"/>
              <a:t>protokolu</a:t>
            </a:r>
            <a:r>
              <a:rPr lang="en-US" dirty="0"/>
              <a:t> ARP (Address Resolution Protocol). </a:t>
            </a:r>
            <a:r>
              <a:rPr lang="en-US" dirty="0" err="1"/>
              <a:t>Posílá</a:t>
            </a:r>
            <a:r>
              <a:rPr lang="en-US" dirty="0"/>
              <a:t> </a:t>
            </a:r>
            <a:r>
              <a:rPr lang="en-US" dirty="0" err="1"/>
              <a:t>falešné</a:t>
            </a:r>
            <a:r>
              <a:rPr lang="en-US" dirty="0"/>
              <a:t> ARP </a:t>
            </a:r>
            <a:r>
              <a:rPr lang="en-US" dirty="0" err="1"/>
              <a:t>odpovědi</a:t>
            </a:r>
            <a:r>
              <a:rPr lang="en-US" dirty="0"/>
              <a:t>, </a:t>
            </a:r>
            <a:r>
              <a:rPr lang="en-US" dirty="0" err="1"/>
              <a:t>kterými</a:t>
            </a:r>
            <a:r>
              <a:rPr lang="en-US" dirty="0"/>
              <a:t> </a:t>
            </a:r>
            <a:r>
              <a:rPr lang="en-US" dirty="0" err="1"/>
              <a:t>přesměrovává</a:t>
            </a:r>
            <a:r>
              <a:rPr lang="en-US" dirty="0"/>
              <a:t> </a:t>
            </a:r>
            <a:r>
              <a:rPr lang="en-US" dirty="0" err="1"/>
              <a:t>provoz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dvěma</a:t>
            </a:r>
            <a:r>
              <a:rPr lang="en-US" dirty="0"/>
              <a:t> </a:t>
            </a:r>
            <a:r>
              <a:rPr lang="en-US" dirty="0" err="1"/>
              <a:t>zařízeními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</a:t>
            </a:r>
            <a:r>
              <a:rPr lang="en-US" dirty="0" err="1"/>
              <a:t>počítačem</a:t>
            </a:r>
            <a:r>
              <a:rPr lang="en-US" dirty="0"/>
              <a:t> a </a:t>
            </a:r>
            <a:r>
              <a:rPr lang="en-US" dirty="0" err="1"/>
              <a:t>routerem</a:t>
            </a:r>
            <a:r>
              <a:rPr lang="en-US" dirty="0"/>
              <a:t>) </a:t>
            </a:r>
            <a:r>
              <a:rPr lang="en-US" dirty="0" err="1"/>
              <a:t>přes</a:t>
            </a:r>
            <a:r>
              <a:rPr lang="en-US" dirty="0"/>
              <a:t> </a:t>
            </a:r>
            <a:r>
              <a:rPr lang="en-US" dirty="0" err="1"/>
              <a:t>svou</a:t>
            </a:r>
            <a:r>
              <a:rPr lang="en-US" dirty="0"/>
              <a:t> IP/MAC </a:t>
            </a:r>
            <a:r>
              <a:rPr lang="en-US" dirty="0" err="1"/>
              <a:t>adresu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Odposlech</a:t>
            </a:r>
            <a:r>
              <a:rPr lang="en-US" dirty="0"/>
              <a:t> </a:t>
            </a:r>
            <a:r>
              <a:rPr lang="en-US" dirty="0" err="1"/>
              <a:t>síťové</a:t>
            </a:r>
            <a:r>
              <a:rPr lang="en-US" dirty="0"/>
              <a:t> </a:t>
            </a:r>
            <a:r>
              <a:rPr lang="en-US" dirty="0" err="1"/>
              <a:t>komunikace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Manipulace</a:t>
            </a:r>
            <a:r>
              <a:rPr lang="en-US" dirty="0"/>
              <a:t> s </a:t>
            </a:r>
            <a:r>
              <a:rPr lang="en-US" dirty="0" err="1"/>
              <a:t>daty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Přesměrování</a:t>
            </a:r>
            <a:r>
              <a:rPr lang="en-US" dirty="0"/>
              <a:t> </a:t>
            </a:r>
            <a:r>
              <a:rPr lang="en-US" dirty="0" err="1"/>
              <a:t>provozu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škodlivé</a:t>
            </a:r>
            <a:r>
              <a:rPr lang="en-US" dirty="0"/>
              <a:t> </a:t>
            </a:r>
            <a:r>
              <a:rPr lang="en-US" dirty="0" err="1"/>
              <a:t>stránky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771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EE10AA-AFD6-4DD2-D7B6-995CD975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FDC1BB-EAE6-4131-7C10-7C9F36A8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Jak </a:t>
            </a:r>
            <a:r>
              <a:rPr lang="en-US" dirty="0" err="1"/>
              <a:t>funguje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se </a:t>
            </a:r>
            <a:r>
              <a:rPr lang="en-US" dirty="0" err="1"/>
              <a:t>vydává</a:t>
            </a:r>
            <a:r>
              <a:rPr lang="en-US" dirty="0"/>
              <a:t> za router pro </a:t>
            </a:r>
            <a:r>
              <a:rPr lang="en-US" dirty="0" err="1"/>
              <a:t>oběť</a:t>
            </a:r>
            <a:r>
              <a:rPr lang="en-US" dirty="0"/>
              <a:t> a </a:t>
            </a:r>
            <a:r>
              <a:rPr lang="en-US" dirty="0" err="1"/>
              <a:t>zároveň</a:t>
            </a:r>
            <a:r>
              <a:rPr lang="en-US" dirty="0"/>
              <a:t> za </a:t>
            </a:r>
            <a:r>
              <a:rPr lang="en-US" dirty="0" err="1"/>
              <a:t>oběť</a:t>
            </a:r>
            <a:r>
              <a:rPr lang="en-US" dirty="0"/>
              <a:t> pro router.</a:t>
            </a:r>
            <a:endParaRPr lang="cs-CZ" dirty="0"/>
          </a:p>
          <a:p>
            <a:pPr lvl="1"/>
            <a:r>
              <a:rPr lang="en-US" dirty="0" err="1"/>
              <a:t>Veškerý</a:t>
            </a:r>
            <a:r>
              <a:rPr lang="en-US" dirty="0"/>
              <a:t> </a:t>
            </a:r>
            <a:r>
              <a:rPr lang="en-US" dirty="0" err="1"/>
              <a:t>provoz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</a:t>
            </a:r>
            <a:r>
              <a:rPr lang="en-US" dirty="0" err="1"/>
              <a:t>obětí</a:t>
            </a:r>
            <a:r>
              <a:rPr lang="en-US" dirty="0"/>
              <a:t> a </a:t>
            </a:r>
            <a:r>
              <a:rPr lang="en-US" dirty="0" err="1"/>
              <a:t>routerem</a:t>
            </a:r>
            <a:r>
              <a:rPr lang="en-US" dirty="0"/>
              <a:t> </a:t>
            </a:r>
            <a:r>
              <a:rPr lang="en-US" dirty="0" err="1"/>
              <a:t>prochází</a:t>
            </a:r>
            <a:r>
              <a:rPr lang="en-US" dirty="0"/>
              <a:t> </a:t>
            </a:r>
            <a:r>
              <a:rPr lang="en-US" dirty="0" err="1"/>
              <a:t>přes</a:t>
            </a:r>
            <a:r>
              <a:rPr lang="en-US" dirty="0"/>
              <a:t> </a:t>
            </a:r>
            <a:r>
              <a:rPr lang="en-US" dirty="0" err="1"/>
              <a:t>útočníka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Použití</a:t>
            </a:r>
            <a:r>
              <a:rPr lang="en-US" dirty="0"/>
              <a:t> </a:t>
            </a:r>
            <a:r>
              <a:rPr lang="en-US" dirty="0" err="1"/>
              <a:t>statických</a:t>
            </a:r>
            <a:r>
              <a:rPr lang="en-US" dirty="0"/>
              <a:t> ARP </a:t>
            </a:r>
            <a:r>
              <a:rPr lang="en-US" dirty="0" err="1"/>
              <a:t>záznamů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Aktivace</a:t>
            </a:r>
            <a:r>
              <a:rPr lang="en-US" dirty="0"/>
              <a:t> </a:t>
            </a:r>
            <a:r>
              <a:rPr lang="en-US" dirty="0" err="1"/>
              <a:t>funkcí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„Dynamic ARP Inspection“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switchích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Šifrování</a:t>
            </a:r>
            <a:r>
              <a:rPr lang="en-US" dirty="0"/>
              <a:t> </a:t>
            </a:r>
            <a:r>
              <a:rPr lang="en-US" dirty="0" err="1"/>
              <a:t>komunikace</a:t>
            </a:r>
            <a:r>
              <a:rPr lang="en-US" dirty="0"/>
              <a:t> (</a:t>
            </a:r>
            <a:r>
              <a:rPr lang="en-US" dirty="0" err="1"/>
              <a:t>např</a:t>
            </a:r>
            <a:r>
              <a:rPr lang="en-US" dirty="0"/>
              <a:t>. VPN).</a:t>
            </a:r>
          </a:p>
        </p:txBody>
      </p:sp>
    </p:spTree>
    <p:extLst>
      <p:ext uri="{BB962C8B-B14F-4D97-AF65-F5344CB8AC3E}">
        <p14:creationId xmlns:p14="http://schemas.microsoft.com/office/powerpoint/2010/main" val="2634911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60E9EA-B2EE-EE3B-25BB-F632B35A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 Spoofing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C0EB94C-63D9-9928-4DA4-AAAF5CFF5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350" y="1420506"/>
            <a:ext cx="8667973" cy="507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99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C210E6-775C-6CE0-D877-F8A6F495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585D8C-72A9-6DFB-45F2-CC0A65E79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zmanipuluje</a:t>
            </a:r>
            <a:r>
              <a:rPr lang="en-US" dirty="0"/>
              <a:t> DNS </a:t>
            </a:r>
            <a:r>
              <a:rPr lang="en-US" dirty="0" err="1"/>
              <a:t>odpovědi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aby </a:t>
            </a:r>
            <a:r>
              <a:rPr lang="en-US" dirty="0" err="1"/>
              <a:t>oběť</a:t>
            </a:r>
            <a:r>
              <a:rPr lang="en-US" dirty="0"/>
              <a:t> </a:t>
            </a:r>
            <a:r>
              <a:rPr lang="en-US" dirty="0" err="1"/>
              <a:t>dostala</a:t>
            </a:r>
            <a:r>
              <a:rPr lang="en-US" dirty="0"/>
              <a:t> </a:t>
            </a:r>
            <a:r>
              <a:rPr lang="en-US" dirty="0" err="1"/>
              <a:t>nesprávnou</a:t>
            </a:r>
            <a:r>
              <a:rPr lang="en-US" dirty="0"/>
              <a:t> IP </a:t>
            </a:r>
            <a:r>
              <a:rPr lang="en-US" dirty="0" err="1"/>
              <a:t>adresu</a:t>
            </a:r>
            <a:r>
              <a:rPr lang="en-US" dirty="0"/>
              <a:t> pro </a:t>
            </a:r>
            <a:r>
              <a:rPr lang="en-US" dirty="0" err="1"/>
              <a:t>požadovanou</a:t>
            </a:r>
            <a:r>
              <a:rPr lang="en-US" dirty="0"/>
              <a:t> </a:t>
            </a:r>
            <a:r>
              <a:rPr lang="en-US" dirty="0" err="1"/>
              <a:t>doménu</a:t>
            </a:r>
            <a:r>
              <a:rPr lang="en-US" dirty="0"/>
              <a:t>. </a:t>
            </a:r>
            <a:r>
              <a:rPr lang="en-US" dirty="0" err="1"/>
              <a:t>Uživatel</a:t>
            </a:r>
            <a:r>
              <a:rPr lang="en-US" dirty="0"/>
              <a:t> je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přesměrován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škodlivou</a:t>
            </a:r>
            <a:r>
              <a:rPr lang="en-US" dirty="0"/>
              <a:t> </a:t>
            </a:r>
            <a:r>
              <a:rPr lang="en-US" dirty="0" err="1"/>
              <a:t>stránku</a:t>
            </a:r>
            <a:r>
              <a:rPr lang="en-US" dirty="0"/>
              <a:t>, </a:t>
            </a:r>
            <a:r>
              <a:rPr lang="en-US" dirty="0" err="1"/>
              <a:t>která</a:t>
            </a:r>
            <a:r>
              <a:rPr lang="en-US" dirty="0"/>
              <a:t> se </a:t>
            </a:r>
            <a:r>
              <a:rPr lang="en-US" dirty="0" err="1"/>
              <a:t>může</a:t>
            </a:r>
            <a:r>
              <a:rPr lang="en-US" dirty="0"/>
              <a:t> </a:t>
            </a:r>
            <a:r>
              <a:rPr lang="en-US" dirty="0" err="1"/>
              <a:t>tvářit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legitimní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/>
              <a:t>Phishing: </a:t>
            </a:r>
            <a:r>
              <a:rPr lang="en-US" dirty="0" err="1"/>
              <a:t>zcizení</a:t>
            </a:r>
            <a:r>
              <a:rPr lang="en-US" dirty="0"/>
              <a:t> </a:t>
            </a:r>
            <a:r>
              <a:rPr lang="en-US" dirty="0" err="1"/>
              <a:t>přihlašovacích</a:t>
            </a:r>
            <a:r>
              <a:rPr lang="en-US" dirty="0"/>
              <a:t> </a:t>
            </a:r>
            <a:r>
              <a:rPr lang="en-US" dirty="0" err="1"/>
              <a:t>údajů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jiných</a:t>
            </a:r>
            <a:r>
              <a:rPr lang="en-US" dirty="0"/>
              <a:t> </a:t>
            </a:r>
            <a:r>
              <a:rPr lang="en-US" dirty="0" err="1"/>
              <a:t>citlivých</a:t>
            </a:r>
            <a:r>
              <a:rPr lang="en-US" dirty="0"/>
              <a:t> dat.</a:t>
            </a:r>
            <a:endParaRPr lang="cs-CZ" dirty="0"/>
          </a:p>
          <a:p>
            <a:pPr lvl="1"/>
            <a:r>
              <a:rPr lang="en-US" dirty="0" err="1"/>
              <a:t>Přesměrování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stránky</a:t>
            </a:r>
            <a:r>
              <a:rPr lang="en-US" dirty="0"/>
              <a:t> s </a:t>
            </a:r>
            <a:r>
              <a:rPr lang="en-US" dirty="0" err="1"/>
              <a:t>malwarem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6075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FA03AD-0195-94C7-03D0-0D8760E7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F333A3-650D-D270-417B-4C1B20D8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Jak </a:t>
            </a:r>
            <a:r>
              <a:rPr lang="en-US" dirty="0" err="1"/>
              <a:t>funguje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posílá</a:t>
            </a:r>
            <a:r>
              <a:rPr lang="en-US" dirty="0"/>
              <a:t> </a:t>
            </a:r>
            <a:r>
              <a:rPr lang="en-US" dirty="0" err="1"/>
              <a:t>falešné</a:t>
            </a:r>
            <a:r>
              <a:rPr lang="en-US" dirty="0"/>
              <a:t> DNS </a:t>
            </a:r>
            <a:r>
              <a:rPr lang="en-US" dirty="0" err="1"/>
              <a:t>odpovědi</a:t>
            </a:r>
            <a:r>
              <a:rPr lang="en-US" dirty="0"/>
              <a:t> </a:t>
            </a:r>
            <a:r>
              <a:rPr lang="en-US" dirty="0" err="1"/>
              <a:t>rychleji</a:t>
            </a:r>
            <a:r>
              <a:rPr lang="en-US" dirty="0"/>
              <a:t> </a:t>
            </a:r>
            <a:r>
              <a:rPr lang="en-US" dirty="0" err="1"/>
              <a:t>než</a:t>
            </a:r>
            <a:r>
              <a:rPr lang="en-US" dirty="0"/>
              <a:t> </a:t>
            </a:r>
            <a:r>
              <a:rPr lang="en-US" dirty="0" err="1"/>
              <a:t>legitimní</a:t>
            </a:r>
            <a:r>
              <a:rPr lang="en-US" dirty="0"/>
              <a:t> DNS server.</a:t>
            </a:r>
            <a:endParaRPr lang="cs-CZ" dirty="0"/>
          </a:p>
          <a:p>
            <a:pPr lvl="1"/>
            <a:r>
              <a:rPr lang="en-US" dirty="0"/>
              <a:t>DNS cache server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uloží</a:t>
            </a:r>
            <a:r>
              <a:rPr lang="en-US" dirty="0"/>
              <a:t> </a:t>
            </a:r>
            <a:r>
              <a:rPr lang="en-US" dirty="0" err="1"/>
              <a:t>falešný</a:t>
            </a:r>
            <a:r>
              <a:rPr lang="en-US" dirty="0"/>
              <a:t> </a:t>
            </a:r>
            <a:r>
              <a:rPr lang="en-US" dirty="0" err="1"/>
              <a:t>záznam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Následné</a:t>
            </a:r>
            <a:r>
              <a:rPr lang="en-US" dirty="0"/>
              <a:t> </a:t>
            </a:r>
            <a:r>
              <a:rPr lang="en-US" dirty="0" err="1"/>
              <a:t>dotazy</a:t>
            </a:r>
            <a:r>
              <a:rPr lang="en-US" dirty="0"/>
              <a:t> </a:t>
            </a:r>
            <a:r>
              <a:rPr lang="en-US" dirty="0" err="1"/>
              <a:t>všech</a:t>
            </a:r>
            <a:r>
              <a:rPr lang="en-US" dirty="0"/>
              <a:t> </a:t>
            </a:r>
            <a:r>
              <a:rPr lang="en-US" dirty="0" err="1"/>
              <a:t>uživatelů</a:t>
            </a:r>
            <a:r>
              <a:rPr lang="en-US" dirty="0"/>
              <a:t> </a:t>
            </a:r>
            <a:r>
              <a:rPr lang="en-US" dirty="0" err="1"/>
              <a:t>dostanou</a:t>
            </a:r>
            <a:r>
              <a:rPr lang="en-US" dirty="0"/>
              <a:t> </a:t>
            </a:r>
            <a:r>
              <a:rPr lang="en-US" dirty="0" err="1"/>
              <a:t>falešnou</a:t>
            </a:r>
            <a:r>
              <a:rPr lang="en-US" dirty="0"/>
              <a:t> IP </a:t>
            </a:r>
            <a:r>
              <a:rPr lang="en-US" dirty="0" err="1"/>
              <a:t>adresu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/>
              <a:t>DNSSEC (Domain Name System Security Extensions).</a:t>
            </a:r>
            <a:endParaRPr lang="cs-CZ" dirty="0"/>
          </a:p>
          <a:p>
            <a:pPr lvl="1"/>
            <a:r>
              <a:rPr lang="en-US" dirty="0" err="1"/>
              <a:t>Použití</a:t>
            </a:r>
            <a:r>
              <a:rPr lang="en-US" dirty="0"/>
              <a:t> </a:t>
            </a:r>
            <a:r>
              <a:rPr lang="en-US" dirty="0" err="1"/>
              <a:t>důvěryhodných</a:t>
            </a:r>
            <a:r>
              <a:rPr lang="en-US" dirty="0"/>
              <a:t> DNS </a:t>
            </a:r>
            <a:r>
              <a:rPr lang="en-US" dirty="0" err="1"/>
              <a:t>serverů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Monitorování</a:t>
            </a:r>
            <a:r>
              <a:rPr lang="en-US" dirty="0"/>
              <a:t> </a:t>
            </a:r>
            <a:r>
              <a:rPr lang="en-US" dirty="0" err="1"/>
              <a:t>neobvyklých</a:t>
            </a:r>
            <a:r>
              <a:rPr lang="en-US" dirty="0"/>
              <a:t> DNS </a:t>
            </a:r>
            <a:r>
              <a:rPr lang="en-US" dirty="0" err="1"/>
              <a:t>požadavků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809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9A4519-D7E4-AB61-0179-A18DDB19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Spoofing</a:t>
            </a:r>
            <a:endParaRPr lang="cs-C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12D580-B60C-7577-1B0C-BFAB6658E5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967" y="1539081"/>
            <a:ext cx="11152833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Útočník vygeneruje dotaz na </a:t>
            </a:r>
            <a:r>
              <a:rPr kumimoji="0" lang="cs-CZ" altLang="cs-CZ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bank.com</a:t>
            </a:r>
            <a:endParaRPr kumimoji="0" lang="cs-CZ" altLang="cs-CZ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Pošle DNS požadavek na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resolver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který zní:</a:t>
            </a:r>
            <a:b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„Jaká je IP adresa </a:t>
            </a:r>
            <a:r>
              <a:rPr kumimoji="0" lang="cs-CZ" altLang="cs-CZ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bank.com</a:t>
            </a:r>
            <a:r>
              <a:rPr kumimoji="0" lang="cs-CZ" altLang="cs-CZ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?“</a:t>
            </a: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Tento požadavek může být odeslán buď: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reálné IP adresy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nebo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falešné IP adresy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(napodobující běžného uživatele, aby nebyl podezřelý).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Resolver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nemá odpověď v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cache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pošle dotaz na autoritativní server</a:t>
            </a: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Pokud DNS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resolver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nemá tuto doménu uloženou v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cache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požádá autoritativní DNS server (</a:t>
            </a:r>
            <a:r>
              <a:rPr kumimoji="0" lang="cs-CZ" altLang="cs-CZ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r>
              <a:rPr kumimoji="0" lang="cs-CZ" altLang="cs-CZ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</a:t>
            </a:r>
            <a:r>
              <a:rPr kumimoji="0" lang="cs-CZ" altLang="cs-CZ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nebo přímo </a:t>
            </a:r>
            <a:r>
              <a:rPr kumimoji="0" lang="cs-CZ" altLang="cs-CZ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bank.com</a:t>
            </a:r>
            <a:r>
              <a:rPr kumimoji="0" lang="cs-CZ" altLang="cs-CZ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DNS server) o odpověď.</a:t>
            </a: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Útočník chytře připravuje podvrženou odpověď</a:t>
            </a: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Jakmile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resolver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vyšle svůj skutečný dotaz na autoritativní DNS server,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útočník začne masivně posílat falešné odpovědi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Cílem je, aby falešná odpověď dorazila dříve než skutečná odpověď od legitimního serveru.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Pokud útočníkova falešná odpověď dorazí včas a má správné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Transaction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ID (TXID)</a:t>
            </a: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Resolver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odpověď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přijme a uloží do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cache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Každý další uživatel, který se zeptá na </a:t>
            </a:r>
            <a:r>
              <a:rPr kumimoji="0" lang="cs-CZ" altLang="cs-CZ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bank.com</a:t>
            </a:r>
            <a:r>
              <a:rPr kumimoji="0" lang="cs-CZ" altLang="cs-CZ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dostane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falešnou IP adresu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která vede na útočníkův phishingový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3687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52663D-4D2C-C4A2-9AE8-80C49595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Spoofing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3E735B0-3C4F-B053-5A7A-129C3912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17" y="1690688"/>
            <a:ext cx="7781003" cy="468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55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21DD9A-73DF-2375-6F70-BE102D68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Hijacking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00E763-AB93-D2A1-DED6-A616120D8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převezme</a:t>
            </a:r>
            <a:r>
              <a:rPr lang="en-US" dirty="0"/>
              <a:t> </a:t>
            </a:r>
            <a:r>
              <a:rPr lang="en-US" dirty="0" err="1"/>
              <a:t>kontrolu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uživatelskou</a:t>
            </a:r>
            <a:r>
              <a:rPr lang="en-US" dirty="0"/>
              <a:t> </a:t>
            </a:r>
            <a:r>
              <a:rPr lang="en-US" dirty="0" err="1"/>
              <a:t>relací</a:t>
            </a:r>
            <a:r>
              <a:rPr lang="en-US" dirty="0"/>
              <a:t> (session) </a:t>
            </a:r>
            <a:r>
              <a:rPr lang="en-US" dirty="0" err="1"/>
              <a:t>tím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získá</a:t>
            </a:r>
            <a:r>
              <a:rPr lang="en-US" dirty="0"/>
              <a:t> </a:t>
            </a:r>
            <a:r>
              <a:rPr lang="en-US" dirty="0" err="1"/>
              <a:t>platný</a:t>
            </a:r>
            <a:r>
              <a:rPr lang="en-US" dirty="0"/>
              <a:t> session token, </a:t>
            </a:r>
            <a:r>
              <a:rPr lang="en-US" dirty="0" err="1"/>
              <a:t>například</a:t>
            </a:r>
            <a:r>
              <a:rPr lang="en-US" dirty="0"/>
              <a:t> </a:t>
            </a:r>
            <a:r>
              <a:rPr lang="en-US" dirty="0" err="1"/>
              <a:t>odposlechem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pomocí</a:t>
            </a:r>
            <a:r>
              <a:rPr lang="en-US" dirty="0"/>
              <a:t> cross-site </a:t>
            </a:r>
            <a:r>
              <a:rPr lang="en-US" dirty="0" err="1"/>
              <a:t>scriptingu</a:t>
            </a:r>
            <a:r>
              <a:rPr lang="en-US" dirty="0"/>
              <a:t> (XSS).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Odcizení</a:t>
            </a:r>
            <a:r>
              <a:rPr lang="en-US" dirty="0"/>
              <a:t> </a:t>
            </a:r>
            <a:r>
              <a:rPr lang="en-US" dirty="0" err="1"/>
              <a:t>uživatelských</a:t>
            </a:r>
            <a:r>
              <a:rPr lang="en-US" dirty="0"/>
              <a:t> </a:t>
            </a:r>
            <a:r>
              <a:rPr lang="en-US" dirty="0" err="1"/>
              <a:t>účtů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Přístup</a:t>
            </a:r>
            <a:r>
              <a:rPr lang="en-US" dirty="0"/>
              <a:t> k </a:t>
            </a:r>
            <a:r>
              <a:rPr lang="en-US" dirty="0" err="1"/>
              <a:t>chráněným</a:t>
            </a:r>
            <a:r>
              <a:rPr lang="en-US" dirty="0"/>
              <a:t> </a:t>
            </a:r>
            <a:r>
              <a:rPr lang="en-US" dirty="0" err="1"/>
              <a:t>zdrojům</a:t>
            </a:r>
            <a:r>
              <a:rPr lang="en-US" dirty="0"/>
              <a:t> bez </a:t>
            </a:r>
            <a:r>
              <a:rPr lang="en-US" dirty="0" err="1"/>
              <a:t>znalosti</a:t>
            </a:r>
            <a:r>
              <a:rPr lang="en-US" dirty="0"/>
              <a:t> </a:t>
            </a:r>
            <a:r>
              <a:rPr lang="en-US" dirty="0" err="1"/>
              <a:t>přihlašovacích</a:t>
            </a:r>
            <a:r>
              <a:rPr lang="en-US" dirty="0"/>
              <a:t> </a:t>
            </a:r>
            <a:r>
              <a:rPr lang="en-US" dirty="0" err="1"/>
              <a:t>údajů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875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542949-32E5-5F6A-C918-FA33F928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Hijacking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814762-7D45-CB56-4370-44B119DCF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Jak </a:t>
            </a:r>
            <a:r>
              <a:rPr lang="en-US" dirty="0" err="1"/>
              <a:t>funguje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zachytí</a:t>
            </a:r>
            <a:r>
              <a:rPr lang="en-US" dirty="0"/>
              <a:t> session token (</a:t>
            </a:r>
            <a:r>
              <a:rPr lang="en-US" dirty="0" err="1"/>
              <a:t>např</a:t>
            </a:r>
            <a:r>
              <a:rPr lang="en-US" dirty="0"/>
              <a:t>. </a:t>
            </a:r>
            <a:r>
              <a:rPr lang="en-US" dirty="0" err="1"/>
              <a:t>pomocí</a:t>
            </a:r>
            <a:r>
              <a:rPr lang="en-US" dirty="0"/>
              <a:t> ARP </a:t>
            </a:r>
            <a:r>
              <a:rPr lang="en-US" dirty="0" err="1"/>
              <a:t>spoofingu</a:t>
            </a:r>
            <a:r>
              <a:rPr lang="en-US" dirty="0"/>
              <a:t>).</a:t>
            </a:r>
            <a:endParaRPr lang="cs-CZ" dirty="0"/>
          </a:p>
          <a:p>
            <a:pPr lvl="1"/>
            <a:r>
              <a:rPr lang="en-US" dirty="0" err="1"/>
              <a:t>Použije</a:t>
            </a:r>
            <a:r>
              <a:rPr lang="en-US" dirty="0"/>
              <a:t> token k </a:t>
            </a:r>
            <a:r>
              <a:rPr lang="en-US" dirty="0" err="1"/>
              <a:t>autentizaci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serveru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legitimní</a:t>
            </a:r>
            <a:r>
              <a:rPr lang="en-US" dirty="0"/>
              <a:t> </a:t>
            </a:r>
            <a:r>
              <a:rPr lang="en-US" dirty="0" err="1"/>
              <a:t>uživatel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Použití</a:t>
            </a:r>
            <a:r>
              <a:rPr lang="en-US" dirty="0"/>
              <a:t> HTTPS pro </a:t>
            </a:r>
            <a:r>
              <a:rPr lang="en-US" dirty="0" err="1"/>
              <a:t>šifrování</a:t>
            </a:r>
            <a:r>
              <a:rPr lang="en-US" dirty="0"/>
              <a:t> </a:t>
            </a:r>
            <a:r>
              <a:rPr lang="en-US" dirty="0" err="1"/>
              <a:t>komunikace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Častá</a:t>
            </a:r>
            <a:r>
              <a:rPr lang="en-US" dirty="0"/>
              <a:t> </a:t>
            </a:r>
            <a:r>
              <a:rPr lang="en-US" dirty="0" err="1"/>
              <a:t>obnova</a:t>
            </a:r>
            <a:r>
              <a:rPr lang="en-US" dirty="0"/>
              <a:t> session </a:t>
            </a:r>
            <a:r>
              <a:rPr lang="en-US" dirty="0" err="1"/>
              <a:t>tokenů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Implementace</a:t>
            </a:r>
            <a:r>
              <a:rPr lang="en-US" dirty="0"/>
              <a:t> </a:t>
            </a:r>
            <a:r>
              <a:rPr lang="en-US" dirty="0" err="1"/>
              <a:t>ochrany</a:t>
            </a:r>
            <a:r>
              <a:rPr lang="en-US" dirty="0"/>
              <a:t> </a:t>
            </a:r>
            <a:r>
              <a:rPr lang="en-US" dirty="0" err="1"/>
              <a:t>proti</a:t>
            </a:r>
            <a:r>
              <a:rPr lang="en-US" dirty="0"/>
              <a:t> XSS.</a:t>
            </a:r>
            <a:endParaRPr lang="cs-CZ" dirty="0"/>
          </a:p>
          <a:p>
            <a:pPr lvl="1"/>
            <a:r>
              <a:rPr lang="en-US" dirty="0" err="1"/>
              <a:t>Zajištění</a:t>
            </a:r>
            <a:r>
              <a:rPr lang="en-US" dirty="0"/>
              <a:t> </a:t>
            </a:r>
            <a:r>
              <a:rPr lang="en-US" dirty="0" err="1"/>
              <a:t>časově</a:t>
            </a:r>
            <a:r>
              <a:rPr lang="en-US" dirty="0"/>
              <a:t> </a:t>
            </a:r>
            <a:r>
              <a:rPr lang="en-US" dirty="0" err="1"/>
              <a:t>omezené</a:t>
            </a:r>
            <a:r>
              <a:rPr lang="en-US" dirty="0"/>
              <a:t> </a:t>
            </a:r>
            <a:r>
              <a:rPr lang="en-US" dirty="0" err="1"/>
              <a:t>platnosti</a:t>
            </a:r>
            <a:r>
              <a:rPr lang="en-US" dirty="0"/>
              <a:t> session </a:t>
            </a:r>
            <a:r>
              <a:rPr lang="en-US" dirty="0" err="1"/>
              <a:t>tokenů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5488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238BCB-24B8-24B1-D439-13DA46C7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F50E7C-229D-26FB-9BED-21D06E26F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: </a:t>
            </a:r>
            <a:endParaRPr lang="cs-CZ" dirty="0"/>
          </a:p>
          <a:p>
            <a:pPr lvl="1"/>
            <a:r>
              <a:rPr lang="en-US" dirty="0" err="1"/>
              <a:t>Útok</a:t>
            </a:r>
            <a:r>
              <a:rPr lang="en-US" dirty="0"/>
              <a:t>,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kterém</a:t>
            </a:r>
            <a:r>
              <a:rPr lang="en-US" dirty="0"/>
              <a:t> </a:t>
            </a:r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podvrhne</a:t>
            </a:r>
            <a:r>
              <a:rPr lang="en-US" dirty="0"/>
              <a:t> </a:t>
            </a:r>
            <a:r>
              <a:rPr lang="en-US" dirty="0" err="1"/>
              <a:t>falešný</a:t>
            </a:r>
            <a:r>
              <a:rPr lang="en-US" dirty="0"/>
              <a:t> </a:t>
            </a:r>
            <a:r>
              <a:rPr lang="en-US" dirty="0" err="1"/>
              <a:t>certifikát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donutí</a:t>
            </a:r>
            <a:r>
              <a:rPr lang="en-US" dirty="0"/>
              <a:t> </a:t>
            </a:r>
            <a:r>
              <a:rPr lang="en-US" dirty="0" err="1"/>
              <a:t>oběť</a:t>
            </a:r>
            <a:r>
              <a:rPr lang="en-US" dirty="0"/>
              <a:t> </a:t>
            </a:r>
            <a:r>
              <a:rPr lang="en-US" dirty="0" err="1"/>
              <a:t>připojit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server </a:t>
            </a:r>
            <a:r>
              <a:rPr lang="en-US" dirty="0" err="1"/>
              <a:t>přes</a:t>
            </a:r>
            <a:r>
              <a:rPr lang="en-US" dirty="0"/>
              <a:t> </a:t>
            </a:r>
            <a:r>
              <a:rPr lang="en-US" dirty="0" err="1"/>
              <a:t>nešifrované</a:t>
            </a:r>
            <a:r>
              <a:rPr lang="en-US" dirty="0"/>
              <a:t> HTTP </a:t>
            </a:r>
            <a:r>
              <a:rPr lang="en-US" dirty="0" err="1"/>
              <a:t>místo</a:t>
            </a:r>
            <a:r>
              <a:rPr lang="en-US" dirty="0"/>
              <a:t> HTTPS.</a:t>
            </a:r>
            <a:endParaRPr lang="cs-CZ" dirty="0"/>
          </a:p>
          <a:p>
            <a:r>
              <a:rPr lang="en-US" dirty="0" err="1"/>
              <a:t>Cíl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Odcizení</a:t>
            </a:r>
            <a:r>
              <a:rPr lang="en-US" dirty="0"/>
              <a:t> </a:t>
            </a:r>
            <a:r>
              <a:rPr lang="en-US" dirty="0" err="1"/>
              <a:t>přihlašovacích</a:t>
            </a:r>
            <a:r>
              <a:rPr lang="en-US" dirty="0"/>
              <a:t> </a:t>
            </a:r>
            <a:r>
              <a:rPr lang="en-US" dirty="0" err="1"/>
              <a:t>údajů</a:t>
            </a:r>
            <a:r>
              <a:rPr lang="en-US" dirty="0"/>
              <a:t> a </a:t>
            </a:r>
            <a:r>
              <a:rPr lang="en-US" dirty="0" err="1"/>
              <a:t>dalších</a:t>
            </a:r>
            <a:r>
              <a:rPr lang="en-US" dirty="0"/>
              <a:t> </a:t>
            </a:r>
            <a:r>
              <a:rPr lang="en-US" dirty="0" err="1"/>
              <a:t>citlivých</a:t>
            </a:r>
            <a:r>
              <a:rPr lang="en-US" dirty="0"/>
              <a:t> dat.</a:t>
            </a:r>
            <a:endParaRPr lang="cs-CZ" dirty="0"/>
          </a:p>
          <a:p>
            <a:pPr lvl="1"/>
            <a:r>
              <a:rPr lang="en-US" dirty="0" err="1"/>
              <a:t>Přesměrování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škodlivé</a:t>
            </a:r>
            <a:r>
              <a:rPr lang="en-US" dirty="0"/>
              <a:t> </a:t>
            </a:r>
            <a:r>
              <a:rPr lang="en-US" dirty="0" err="1"/>
              <a:t>stránky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1385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FD8CC6-C0EC-300B-21FE-C272C3D1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 Spoofing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AE8DE9-80D8-73CC-C24B-20257FE86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Jak </a:t>
            </a:r>
            <a:r>
              <a:rPr lang="en-US" dirty="0" err="1"/>
              <a:t>funguje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Útočník</a:t>
            </a:r>
            <a:r>
              <a:rPr lang="en-US" dirty="0"/>
              <a:t> </a:t>
            </a:r>
            <a:r>
              <a:rPr lang="en-US" dirty="0" err="1"/>
              <a:t>odposlechne</a:t>
            </a:r>
            <a:r>
              <a:rPr lang="en-US" dirty="0"/>
              <a:t> HTTP </a:t>
            </a:r>
            <a:r>
              <a:rPr lang="en-US" dirty="0" err="1"/>
              <a:t>požadavek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webový</a:t>
            </a:r>
            <a:r>
              <a:rPr lang="en-US" dirty="0"/>
              <a:t> server.</a:t>
            </a:r>
            <a:endParaRPr lang="cs-CZ" dirty="0"/>
          </a:p>
          <a:p>
            <a:pPr lvl="1"/>
            <a:r>
              <a:rPr lang="en-US" dirty="0" err="1"/>
              <a:t>Odpoví</a:t>
            </a:r>
            <a:r>
              <a:rPr lang="en-US" dirty="0"/>
              <a:t> </a:t>
            </a:r>
            <a:r>
              <a:rPr lang="en-US" dirty="0" err="1"/>
              <a:t>oběti</a:t>
            </a:r>
            <a:r>
              <a:rPr lang="en-US" dirty="0"/>
              <a:t> s </a:t>
            </a:r>
            <a:r>
              <a:rPr lang="en-US" dirty="0" err="1"/>
              <a:t>falešným</a:t>
            </a:r>
            <a:r>
              <a:rPr lang="en-US" dirty="0"/>
              <a:t> </a:t>
            </a:r>
            <a:r>
              <a:rPr lang="en-US" dirty="0" err="1"/>
              <a:t>certifikátem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přesměruje</a:t>
            </a:r>
            <a:r>
              <a:rPr lang="en-US" dirty="0"/>
              <a:t> </a:t>
            </a:r>
            <a:r>
              <a:rPr lang="en-US" dirty="0" err="1"/>
              <a:t>požadavek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HTTP </a:t>
            </a:r>
            <a:r>
              <a:rPr lang="en-US" dirty="0" err="1"/>
              <a:t>verzi</a:t>
            </a:r>
            <a:r>
              <a:rPr lang="en-US" dirty="0"/>
              <a:t> </a:t>
            </a:r>
            <a:r>
              <a:rPr lang="en-US" dirty="0" err="1"/>
              <a:t>stránky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Oběť</a:t>
            </a:r>
            <a:r>
              <a:rPr lang="en-US" dirty="0"/>
              <a:t> </a:t>
            </a:r>
            <a:r>
              <a:rPr lang="en-US" dirty="0" err="1"/>
              <a:t>komunikuje</a:t>
            </a:r>
            <a:r>
              <a:rPr lang="en-US" dirty="0"/>
              <a:t> </a:t>
            </a:r>
            <a:r>
              <a:rPr lang="en-US" dirty="0" err="1"/>
              <a:t>nešifrovaně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myslí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komunikuje</a:t>
            </a:r>
            <a:r>
              <a:rPr lang="en-US" dirty="0"/>
              <a:t> s </a:t>
            </a:r>
            <a:r>
              <a:rPr lang="en-US" dirty="0" err="1"/>
              <a:t>legitimním</a:t>
            </a:r>
            <a:r>
              <a:rPr lang="en-US" dirty="0"/>
              <a:t> </a:t>
            </a:r>
            <a:r>
              <a:rPr lang="en-US" dirty="0" err="1"/>
              <a:t>serverem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Ochrana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Použití</a:t>
            </a:r>
            <a:r>
              <a:rPr lang="en-US" dirty="0"/>
              <a:t> </a:t>
            </a:r>
            <a:r>
              <a:rPr lang="en-US" dirty="0" err="1"/>
              <a:t>certifikátů</a:t>
            </a:r>
            <a:r>
              <a:rPr lang="en-US" dirty="0"/>
              <a:t> od </a:t>
            </a:r>
            <a:r>
              <a:rPr lang="en-US" dirty="0" err="1"/>
              <a:t>důvěryhodných</a:t>
            </a:r>
            <a:r>
              <a:rPr lang="en-US" dirty="0"/>
              <a:t> </a:t>
            </a:r>
            <a:r>
              <a:rPr lang="en-US" dirty="0" err="1"/>
              <a:t>autorit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Nasazení</a:t>
            </a:r>
            <a:r>
              <a:rPr lang="en-US" dirty="0"/>
              <a:t> HSTS (HTTP Strict Transport Security).</a:t>
            </a:r>
            <a:endParaRPr lang="cs-CZ" dirty="0"/>
          </a:p>
          <a:p>
            <a:pPr lvl="1"/>
            <a:r>
              <a:rPr lang="en-US" dirty="0" err="1"/>
              <a:t>Kontrola</a:t>
            </a:r>
            <a:r>
              <a:rPr lang="en-US" dirty="0"/>
              <a:t> </a:t>
            </a:r>
            <a:r>
              <a:rPr lang="en-US" dirty="0" err="1"/>
              <a:t>certifikátů</a:t>
            </a:r>
            <a:r>
              <a:rPr lang="en-US" dirty="0"/>
              <a:t> v </a:t>
            </a:r>
            <a:r>
              <a:rPr lang="en-US" dirty="0" err="1"/>
              <a:t>prohlížeči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394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3C83A0-E86B-A71D-46B7-DDED41EA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Jak se </a:t>
            </a:r>
            <a:r>
              <a:rPr lang="en-US" dirty="0" err="1"/>
              <a:t>chránit</a:t>
            </a:r>
            <a:r>
              <a:rPr lang="en-US" dirty="0"/>
              <a:t> </a:t>
            </a:r>
            <a:r>
              <a:rPr lang="en-US" dirty="0" err="1"/>
              <a:t>před</a:t>
            </a:r>
            <a:r>
              <a:rPr lang="en-US" dirty="0"/>
              <a:t> MitM </a:t>
            </a:r>
            <a:r>
              <a:rPr lang="en-US" dirty="0" err="1"/>
              <a:t>útoky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F39A3D-F95A-C6E3-CE09-F7D9A592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Šifrování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Používat</a:t>
            </a:r>
            <a:r>
              <a:rPr lang="en-US" dirty="0"/>
              <a:t> HTTPS, VPN, a </a:t>
            </a:r>
            <a:r>
              <a:rPr lang="en-US" dirty="0" err="1"/>
              <a:t>další</a:t>
            </a:r>
            <a:r>
              <a:rPr lang="en-US" dirty="0"/>
              <a:t> </a:t>
            </a:r>
            <a:r>
              <a:rPr lang="en-US" dirty="0" err="1"/>
              <a:t>protokoly</a:t>
            </a:r>
            <a:r>
              <a:rPr lang="en-US" dirty="0"/>
              <a:t> </a:t>
            </a:r>
            <a:r>
              <a:rPr lang="en-US" dirty="0" err="1"/>
              <a:t>zajišťující</a:t>
            </a:r>
            <a:r>
              <a:rPr lang="en-US" dirty="0"/>
              <a:t> </a:t>
            </a:r>
            <a:r>
              <a:rPr lang="en-US" dirty="0" err="1"/>
              <a:t>šifrovanou</a:t>
            </a:r>
            <a:r>
              <a:rPr lang="en-US" dirty="0"/>
              <a:t> </a:t>
            </a:r>
            <a:r>
              <a:rPr lang="en-US" dirty="0" err="1"/>
              <a:t>komunikaci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Bezpečnostní</a:t>
            </a:r>
            <a:r>
              <a:rPr lang="en-US" dirty="0"/>
              <a:t> </a:t>
            </a:r>
            <a:r>
              <a:rPr lang="en-US" dirty="0" err="1"/>
              <a:t>nástroje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/>
              <a:t>Firewall, IDS/IPS a antimalware software.</a:t>
            </a:r>
            <a:endParaRPr lang="cs-CZ" dirty="0"/>
          </a:p>
          <a:p>
            <a:r>
              <a:rPr lang="en-US" dirty="0" err="1"/>
              <a:t>Síťová</a:t>
            </a:r>
            <a:r>
              <a:rPr lang="en-US" dirty="0"/>
              <a:t> </a:t>
            </a:r>
            <a:r>
              <a:rPr lang="en-US" dirty="0" err="1"/>
              <a:t>ochrana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Aktivace</a:t>
            </a:r>
            <a:r>
              <a:rPr lang="en-US" dirty="0"/>
              <a:t> ARP/DNS </a:t>
            </a:r>
            <a:r>
              <a:rPr lang="en-US" dirty="0" err="1"/>
              <a:t>ochrany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síťových</a:t>
            </a:r>
            <a:r>
              <a:rPr lang="en-US" dirty="0"/>
              <a:t> </a:t>
            </a:r>
            <a:r>
              <a:rPr lang="en-US" dirty="0" err="1"/>
              <a:t>zařízeních</a:t>
            </a:r>
            <a:r>
              <a:rPr lang="en-US" dirty="0"/>
              <a:t>.</a:t>
            </a:r>
            <a:endParaRPr lang="cs-CZ" dirty="0"/>
          </a:p>
          <a:p>
            <a:r>
              <a:rPr lang="en-US" dirty="0" err="1"/>
              <a:t>Uživatelé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Upozornit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důležitost</a:t>
            </a:r>
            <a:r>
              <a:rPr lang="en-US" dirty="0"/>
              <a:t> </a:t>
            </a:r>
            <a:r>
              <a:rPr lang="en-US" dirty="0" err="1"/>
              <a:t>kontroly</a:t>
            </a:r>
            <a:r>
              <a:rPr lang="en-US" dirty="0"/>
              <a:t> </a:t>
            </a:r>
            <a:r>
              <a:rPr lang="en-US" dirty="0" err="1"/>
              <a:t>certifikátů</a:t>
            </a:r>
            <a:r>
              <a:rPr lang="en-US" dirty="0"/>
              <a:t> a </a:t>
            </a:r>
            <a:r>
              <a:rPr lang="en-US" dirty="0" err="1"/>
              <a:t>důvěryhodnosti</a:t>
            </a:r>
            <a:r>
              <a:rPr lang="en-US" dirty="0"/>
              <a:t> </a:t>
            </a:r>
            <a:r>
              <a:rPr lang="en-US" dirty="0" err="1"/>
              <a:t>stránek</a:t>
            </a:r>
            <a:r>
              <a:rPr lang="en-US" dirty="0"/>
              <a:t>.</a:t>
            </a:r>
            <a:endParaRPr lang="cs-CZ" dirty="0"/>
          </a:p>
          <a:p>
            <a:pPr lvl="1"/>
            <a:r>
              <a:rPr lang="en-US" dirty="0" err="1"/>
              <a:t>Využívat</a:t>
            </a:r>
            <a:r>
              <a:rPr lang="en-US" dirty="0"/>
              <a:t> </a:t>
            </a:r>
            <a:r>
              <a:rPr lang="en-US" dirty="0" err="1"/>
              <a:t>vícefaktorovou</a:t>
            </a:r>
            <a:r>
              <a:rPr lang="en-US" dirty="0"/>
              <a:t> </a:t>
            </a:r>
            <a:r>
              <a:rPr lang="en-US" dirty="0" err="1"/>
              <a:t>autentizaci</a:t>
            </a:r>
            <a:r>
              <a:rPr lang="en-US" dirty="0"/>
              <a:t> (MFA).</a:t>
            </a:r>
          </a:p>
        </p:txBody>
      </p:sp>
    </p:spTree>
    <p:extLst>
      <p:ext uri="{BB962C8B-B14F-4D97-AF65-F5344CB8AC3E}">
        <p14:creationId xmlns:p14="http://schemas.microsoft.com/office/powerpoint/2010/main" val="3182403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22DC0-DB2D-BB90-6429-2903C290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Útoky na sítě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58CDD0-275F-667D-9D54-3FC2ACF4D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Útoky na směrování a přenos dat</a:t>
            </a:r>
          </a:p>
          <a:p>
            <a:pPr lvl="1"/>
            <a:r>
              <a:rPr lang="cs-CZ" dirty="0"/>
              <a:t>BGP </a:t>
            </a:r>
            <a:r>
              <a:rPr lang="cs-CZ" dirty="0" err="1"/>
              <a:t>Hijacking</a:t>
            </a:r>
            <a:endParaRPr lang="cs-CZ" dirty="0"/>
          </a:p>
          <a:p>
            <a:pPr lvl="1"/>
            <a:r>
              <a:rPr lang="cs-CZ" dirty="0"/>
              <a:t>Packet </a:t>
            </a:r>
            <a:r>
              <a:rPr lang="cs-CZ" dirty="0" err="1"/>
              <a:t>Sniffing</a:t>
            </a:r>
            <a:endParaRPr lang="cs-CZ" dirty="0"/>
          </a:p>
          <a:p>
            <a:pPr lvl="1"/>
            <a:r>
              <a:rPr lang="cs-CZ" dirty="0"/>
              <a:t>Port </a:t>
            </a:r>
            <a:r>
              <a:rPr lang="cs-CZ" dirty="0" err="1"/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475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8831B3-6145-8BC8-B57D-E77C7049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BGP </a:t>
            </a:r>
            <a:r>
              <a:rPr lang="cs-CZ" dirty="0" err="1"/>
              <a:t>Hijacking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524609-7EB3-1A8B-881C-A5D9CAD9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Útok, při kterém útočník oznámí falešné IP prefixy přes BGP</a:t>
            </a:r>
          </a:p>
          <a:p>
            <a:r>
              <a:rPr lang="cs-CZ" dirty="0"/>
              <a:t>Cílem je přesměrovat nebo odposlouchávat provoz (funguje tak, že útočník vydává cizí síť za svou)</a:t>
            </a:r>
          </a:p>
          <a:p>
            <a:r>
              <a:rPr lang="cs-CZ" dirty="0"/>
              <a:t>Oznámí třeba prefixy 8.8.8.0/24 (Google)s</a:t>
            </a:r>
          </a:p>
        </p:txBody>
      </p:sp>
    </p:spTree>
    <p:extLst>
      <p:ext uri="{BB962C8B-B14F-4D97-AF65-F5344CB8AC3E}">
        <p14:creationId xmlns:p14="http://schemas.microsoft.com/office/powerpoint/2010/main" val="50166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4915F9-6E16-4E22-662F-888DB4CA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Packet </a:t>
            </a:r>
            <a:r>
              <a:rPr lang="cs-CZ" dirty="0" err="1"/>
              <a:t>Sniffing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8AB4AB-6A04-E573-3F34-95F35237F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7457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1B32E7-59E1-4708-9612-7CF135B2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Port </a:t>
            </a:r>
            <a:r>
              <a:rPr lang="cs-CZ" dirty="0" err="1"/>
              <a:t>Scanning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A29D2F-F060-1592-FC7B-A0E24D2C9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7066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AACEFB-35A6-E7BA-556B-427615BE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aplikace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C192E6-C6FF-67AB-52F9-DE2780E9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Webové</a:t>
            </a:r>
            <a:r>
              <a:rPr lang="en-US" dirty="0"/>
              <a:t> </a:t>
            </a:r>
            <a:r>
              <a:rPr lang="en-US" dirty="0" err="1"/>
              <a:t>útoky</a:t>
            </a:r>
            <a:endParaRPr lang="cs-CZ" dirty="0"/>
          </a:p>
          <a:p>
            <a:pPr lvl="1"/>
            <a:r>
              <a:rPr lang="cs-CZ" dirty="0"/>
              <a:t>SQL </a:t>
            </a:r>
            <a:r>
              <a:rPr lang="cs-CZ" dirty="0" err="1"/>
              <a:t>injection</a:t>
            </a:r>
            <a:endParaRPr lang="cs-CZ" dirty="0"/>
          </a:p>
          <a:p>
            <a:pPr lvl="1"/>
            <a:r>
              <a:rPr lang="cs-CZ" dirty="0" err="1"/>
              <a:t>Cross-site</a:t>
            </a:r>
            <a:r>
              <a:rPr lang="cs-CZ" dirty="0"/>
              <a:t> </a:t>
            </a:r>
            <a:r>
              <a:rPr lang="cs-CZ" dirty="0" err="1"/>
              <a:t>scripting</a:t>
            </a:r>
            <a:r>
              <a:rPr lang="cs-CZ" dirty="0"/>
              <a:t> (</a:t>
            </a:r>
            <a:r>
              <a:rPr lang="cs-CZ" dirty="0" err="1"/>
              <a:t>xss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Cross-site</a:t>
            </a:r>
            <a:r>
              <a:rPr lang="cs-CZ" dirty="0"/>
              <a:t> </a:t>
            </a:r>
            <a:r>
              <a:rPr lang="cs-CZ" dirty="0" err="1"/>
              <a:t>request</a:t>
            </a:r>
            <a:r>
              <a:rPr lang="cs-CZ" dirty="0"/>
              <a:t> </a:t>
            </a:r>
            <a:r>
              <a:rPr lang="cs-CZ" dirty="0" err="1"/>
              <a:t>forgery</a:t>
            </a:r>
            <a:r>
              <a:rPr lang="cs-CZ" dirty="0"/>
              <a:t> (</a:t>
            </a:r>
            <a:r>
              <a:rPr lang="cs-CZ" dirty="0" err="1"/>
              <a:t>csrf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Remote</a:t>
            </a:r>
            <a:r>
              <a:rPr lang="cs-CZ" dirty="0"/>
              <a:t> </a:t>
            </a:r>
            <a:r>
              <a:rPr lang="cs-CZ" dirty="0" err="1"/>
              <a:t>file</a:t>
            </a:r>
            <a:r>
              <a:rPr lang="cs-CZ" dirty="0"/>
              <a:t> </a:t>
            </a:r>
            <a:r>
              <a:rPr lang="cs-CZ" dirty="0" err="1"/>
              <a:t>inclusion</a:t>
            </a:r>
            <a:r>
              <a:rPr lang="cs-CZ" dirty="0"/>
              <a:t> (</a:t>
            </a:r>
            <a:r>
              <a:rPr lang="cs-CZ" dirty="0" err="1"/>
              <a:t>rfi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Local</a:t>
            </a:r>
            <a:r>
              <a:rPr lang="cs-CZ" dirty="0"/>
              <a:t> </a:t>
            </a:r>
            <a:r>
              <a:rPr lang="cs-CZ" dirty="0" err="1"/>
              <a:t>file</a:t>
            </a:r>
            <a:r>
              <a:rPr lang="cs-CZ" dirty="0"/>
              <a:t> </a:t>
            </a:r>
            <a:r>
              <a:rPr lang="cs-CZ" dirty="0" err="1"/>
              <a:t>inclusion</a:t>
            </a:r>
            <a:r>
              <a:rPr lang="cs-CZ" dirty="0"/>
              <a:t> (</a:t>
            </a:r>
            <a:r>
              <a:rPr lang="cs-CZ" dirty="0" err="1"/>
              <a:t>lfi</a:t>
            </a:r>
            <a:r>
              <a:rPr lang="cs-CZ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313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53D3B3-3D60-41EF-282F-5DBBB729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aplikace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690299-8BA3-D198-1E01-5547801F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autentizaci</a:t>
            </a:r>
            <a:r>
              <a:rPr lang="en-US" dirty="0"/>
              <a:t> a </a:t>
            </a:r>
            <a:r>
              <a:rPr lang="en-US" dirty="0" err="1"/>
              <a:t>autorizaci</a:t>
            </a:r>
            <a:endParaRPr lang="cs-CZ" dirty="0"/>
          </a:p>
          <a:p>
            <a:pPr lvl="1"/>
            <a:r>
              <a:rPr lang="cs-CZ" dirty="0" err="1"/>
              <a:t>Credential</a:t>
            </a:r>
            <a:r>
              <a:rPr lang="cs-CZ" dirty="0"/>
              <a:t> </a:t>
            </a:r>
            <a:r>
              <a:rPr lang="cs-CZ" dirty="0" err="1"/>
              <a:t>stuffing</a:t>
            </a:r>
            <a:endParaRPr lang="cs-CZ" dirty="0"/>
          </a:p>
          <a:p>
            <a:pPr lvl="1"/>
            <a:r>
              <a:rPr lang="cs-CZ" dirty="0" err="1"/>
              <a:t>Password</a:t>
            </a:r>
            <a:r>
              <a:rPr lang="cs-CZ" dirty="0"/>
              <a:t> </a:t>
            </a:r>
            <a:r>
              <a:rPr lang="cs-CZ" dirty="0" err="1"/>
              <a:t>spraying</a:t>
            </a:r>
            <a:endParaRPr lang="cs-CZ" dirty="0"/>
          </a:p>
          <a:p>
            <a:pPr lvl="1"/>
            <a:r>
              <a:rPr lang="cs-CZ" dirty="0" err="1"/>
              <a:t>Brute</a:t>
            </a:r>
            <a:r>
              <a:rPr lang="cs-CZ" dirty="0"/>
              <a:t> </a:t>
            </a:r>
            <a:r>
              <a:rPr lang="cs-CZ" dirty="0" err="1"/>
              <a:t>force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cs-CZ" dirty="0"/>
          </a:p>
          <a:p>
            <a:pPr lvl="1"/>
            <a:r>
              <a:rPr lang="cs-CZ" dirty="0" err="1"/>
              <a:t>Dictionary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59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878CC3-B328-A316-8236-4BDDB991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aplikace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05E00B2-EC25-EDDC-D9DB-200E3A57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API</a:t>
            </a:r>
            <a:endParaRPr lang="cs-CZ" dirty="0"/>
          </a:p>
          <a:p>
            <a:pPr lvl="1"/>
            <a:r>
              <a:rPr lang="cs-CZ" dirty="0" err="1"/>
              <a:t>Broken</a:t>
            </a:r>
            <a:r>
              <a:rPr lang="cs-CZ" dirty="0"/>
              <a:t> </a:t>
            </a:r>
            <a:r>
              <a:rPr lang="cs-CZ" dirty="0" err="1"/>
              <a:t>authentication</a:t>
            </a:r>
            <a:endParaRPr lang="cs-CZ" dirty="0"/>
          </a:p>
          <a:p>
            <a:pPr lvl="1"/>
            <a:r>
              <a:rPr lang="cs-CZ" dirty="0" err="1"/>
              <a:t>Excessive</a:t>
            </a:r>
            <a:r>
              <a:rPr lang="cs-CZ" dirty="0"/>
              <a:t> data </a:t>
            </a:r>
            <a:r>
              <a:rPr lang="cs-CZ" dirty="0" err="1"/>
              <a:t>exposure</a:t>
            </a:r>
            <a:endParaRPr lang="cs-CZ" dirty="0"/>
          </a:p>
          <a:p>
            <a:pPr lvl="1"/>
            <a:r>
              <a:rPr lang="cs-CZ" dirty="0" err="1"/>
              <a:t>Security</a:t>
            </a:r>
            <a:r>
              <a:rPr lang="cs-CZ" dirty="0"/>
              <a:t> </a:t>
            </a:r>
            <a:r>
              <a:rPr lang="cs-CZ" dirty="0" err="1"/>
              <a:t>Misconfiguration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538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01A127-D3B4-69C2-080C-C8E057DE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807F67-1236-D519-5ABA-F81F506B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Exploitace</a:t>
            </a:r>
            <a:r>
              <a:rPr lang="en-US" dirty="0"/>
              <a:t> </a:t>
            </a:r>
            <a:r>
              <a:rPr lang="en-US" dirty="0" err="1"/>
              <a:t>zranitelností</a:t>
            </a:r>
            <a:endParaRPr lang="cs-CZ" dirty="0"/>
          </a:p>
          <a:p>
            <a:pPr lvl="1"/>
            <a:r>
              <a:rPr lang="cs-CZ" dirty="0"/>
              <a:t>Buffer </a:t>
            </a:r>
            <a:r>
              <a:rPr lang="cs-CZ" dirty="0" err="1"/>
              <a:t>overflow</a:t>
            </a:r>
            <a:endParaRPr lang="cs-CZ" dirty="0"/>
          </a:p>
          <a:p>
            <a:pPr lvl="1"/>
            <a:r>
              <a:rPr lang="cs-CZ" dirty="0" err="1"/>
              <a:t>Zero-day</a:t>
            </a:r>
            <a:r>
              <a:rPr lang="cs-CZ" dirty="0"/>
              <a:t> </a:t>
            </a:r>
            <a:r>
              <a:rPr lang="cs-CZ" dirty="0" err="1"/>
              <a:t>exploits</a:t>
            </a:r>
            <a:endParaRPr lang="cs-CZ" dirty="0"/>
          </a:p>
          <a:p>
            <a:pPr lvl="1"/>
            <a:r>
              <a:rPr lang="cs-CZ" dirty="0" err="1"/>
              <a:t>Race</a:t>
            </a:r>
            <a:r>
              <a:rPr lang="cs-CZ" dirty="0"/>
              <a:t> </a:t>
            </a:r>
            <a:r>
              <a:rPr lang="cs-CZ" dirty="0" err="1"/>
              <a:t>conditions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95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11CD1F-E2C1-DB1C-CF1F-85D1AA2C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2B004B-330F-F52A-8665-968237C1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Malware</a:t>
            </a:r>
            <a:endParaRPr lang="cs-CZ" dirty="0"/>
          </a:p>
          <a:p>
            <a:pPr lvl="1"/>
            <a:r>
              <a:rPr lang="cs-CZ" dirty="0"/>
              <a:t>Viry</a:t>
            </a:r>
          </a:p>
          <a:p>
            <a:pPr lvl="1"/>
            <a:r>
              <a:rPr lang="cs-CZ" dirty="0"/>
              <a:t>Trojany</a:t>
            </a:r>
          </a:p>
          <a:p>
            <a:pPr lvl="1"/>
            <a:r>
              <a:rPr lang="cs-CZ" dirty="0"/>
              <a:t>Ransomware</a:t>
            </a:r>
          </a:p>
          <a:p>
            <a:pPr lvl="1"/>
            <a:r>
              <a:rPr lang="cs-CZ" dirty="0"/>
              <a:t>Spyware</a:t>
            </a:r>
          </a:p>
          <a:p>
            <a:pPr lvl="1"/>
            <a:r>
              <a:rPr lang="cs-CZ" dirty="0" err="1"/>
              <a:t>Adware</a:t>
            </a:r>
            <a:endParaRPr lang="cs-CZ" dirty="0"/>
          </a:p>
          <a:p>
            <a:pPr lvl="1"/>
            <a:r>
              <a:rPr lang="cs-CZ" dirty="0" err="1"/>
              <a:t>Rootkity</a:t>
            </a:r>
            <a:endParaRPr lang="cs-CZ" dirty="0"/>
          </a:p>
          <a:p>
            <a:pPr lvl="1"/>
            <a:r>
              <a:rPr lang="cs-CZ" dirty="0" err="1"/>
              <a:t>Wormy</a:t>
            </a:r>
            <a:endParaRPr lang="cs-CZ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135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05B75D-0AE0-B171-15E0-71307C73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Sociální</a:t>
            </a:r>
            <a:r>
              <a:rPr lang="en-US" dirty="0"/>
              <a:t> </a:t>
            </a:r>
            <a:r>
              <a:rPr lang="en-US" dirty="0" err="1"/>
              <a:t>inženýrství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147D5B-0BFF-7BD4-D491-4A4854A6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Phishing</a:t>
            </a:r>
          </a:p>
          <a:p>
            <a:pPr lvl="1"/>
            <a:r>
              <a:rPr lang="cs-CZ" dirty="0" err="1"/>
              <a:t>Spear</a:t>
            </a:r>
            <a:r>
              <a:rPr lang="cs-CZ" dirty="0"/>
              <a:t> </a:t>
            </a:r>
            <a:r>
              <a:rPr lang="cs-CZ" dirty="0" err="1"/>
              <a:t>phishint</a:t>
            </a:r>
            <a:endParaRPr lang="cs-CZ" dirty="0"/>
          </a:p>
          <a:p>
            <a:pPr lvl="1"/>
            <a:r>
              <a:rPr lang="cs-CZ" dirty="0" err="1"/>
              <a:t>Whaling</a:t>
            </a:r>
            <a:endParaRPr lang="cs-CZ" dirty="0"/>
          </a:p>
          <a:p>
            <a:pPr lvl="1"/>
            <a:r>
              <a:rPr lang="cs-CZ" dirty="0"/>
              <a:t>Vishing</a:t>
            </a:r>
          </a:p>
          <a:p>
            <a:pPr lvl="1"/>
            <a:r>
              <a:rPr lang="cs-CZ" dirty="0"/>
              <a:t>Smishing</a:t>
            </a:r>
          </a:p>
          <a:p>
            <a:r>
              <a:rPr lang="cs-CZ" dirty="0" err="1"/>
              <a:t>Pretexting</a:t>
            </a:r>
            <a:endParaRPr lang="cs-CZ" dirty="0"/>
          </a:p>
          <a:p>
            <a:r>
              <a:rPr lang="cs-CZ" dirty="0"/>
              <a:t>Baiting</a:t>
            </a:r>
          </a:p>
          <a:p>
            <a:r>
              <a:rPr lang="cs-CZ" dirty="0" err="1"/>
              <a:t>Tailgatin</a:t>
            </a:r>
            <a:endParaRPr lang="cs-CZ" dirty="0"/>
          </a:p>
          <a:p>
            <a:r>
              <a:rPr lang="cs-CZ" dirty="0" err="1"/>
              <a:t>Quid</a:t>
            </a:r>
            <a:r>
              <a:rPr lang="cs-CZ" dirty="0"/>
              <a:t> Pro Quo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16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C68B73-B3ED-333D-3A29-35132CB3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kryptografii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A3FFBC-6061-4CE0-590E-6249062C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šifry</a:t>
            </a:r>
            <a:endParaRPr lang="cs-CZ" dirty="0"/>
          </a:p>
          <a:p>
            <a:pPr lvl="1"/>
            <a:r>
              <a:rPr lang="cs-CZ" dirty="0" err="1"/>
              <a:t>Brute</a:t>
            </a:r>
            <a:r>
              <a:rPr lang="cs-CZ" dirty="0"/>
              <a:t> </a:t>
            </a:r>
            <a:r>
              <a:rPr lang="cs-CZ" dirty="0" err="1"/>
              <a:t>force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cs-CZ" dirty="0"/>
          </a:p>
          <a:p>
            <a:pPr lvl="1"/>
            <a:r>
              <a:rPr lang="cs-CZ" dirty="0" err="1"/>
              <a:t>Known-plaintext</a:t>
            </a:r>
            <a:r>
              <a:rPr lang="cs-CZ" dirty="0"/>
              <a:t> </a:t>
            </a:r>
            <a:r>
              <a:rPr lang="cs-CZ" dirty="0" err="1"/>
              <a:t>attack</a:t>
            </a:r>
            <a:r>
              <a:rPr lang="cs-CZ" dirty="0"/>
              <a:t> (KPA)</a:t>
            </a:r>
          </a:p>
          <a:p>
            <a:pPr lvl="1"/>
            <a:r>
              <a:rPr lang="cs-CZ" dirty="0" err="1"/>
              <a:t>Ciphertext-only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cs-CZ" dirty="0"/>
          </a:p>
          <a:p>
            <a:pPr lvl="1"/>
            <a:r>
              <a:rPr lang="cs-CZ" dirty="0" err="1"/>
              <a:t>Chosen-plaintext</a:t>
            </a:r>
            <a:r>
              <a:rPr lang="cs-CZ" dirty="0"/>
              <a:t> </a:t>
            </a:r>
            <a:r>
              <a:rPr lang="cs-CZ" dirty="0" err="1"/>
              <a:t>attack</a:t>
            </a:r>
            <a:r>
              <a:rPr lang="cs-CZ" dirty="0"/>
              <a:t> (CPA)</a:t>
            </a:r>
          </a:p>
          <a:p>
            <a:pPr lvl="1"/>
            <a:r>
              <a:rPr lang="cs-CZ" dirty="0" err="1"/>
              <a:t>Chosen-ciphertext</a:t>
            </a:r>
            <a:r>
              <a:rPr lang="cs-CZ" dirty="0"/>
              <a:t> </a:t>
            </a:r>
            <a:r>
              <a:rPr lang="cs-CZ" dirty="0" err="1"/>
              <a:t>attack</a:t>
            </a:r>
            <a:r>
              <a:rPr lang="cs-CZ" dirty="0"/>
              <a:t> (CCA)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22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24910B-D31B-9A44-E585-A4DDD2A3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kryptografii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D329F5-425C-68F6-24E4-3BCCC90A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digitální</a:t>
            </a:r>
            <a:r>
              <a:rPr lang="en-US" dirty="0"/>
              <a:t> </a:t>
            </a:r>
            <a:r>
              <a:rPr lang="en-US" dirty="0" err="1"/>
              <a:t>podpisy</a:t>
            </a:r>
            <a:r>
              <a:rPr lang="en-US" dirty="0"/>
              <a:t> a </a:t>
            </a:r>
            <a:r>
              <a:rPr lang="en-US" dirty="0" err="1"/>
              <a:t>certifikáty</a:t>
            </a:r>
            <a:endParaRPr lang="cs-CZ" dirty="0"/>
          </a:p>
          <a:p>
            <a:pPr lvl="1"/>
            <a:r>
              <a:rPr lang="cs-CZ" dirty="0" err="1"/>
              <a:t>Certificate</a:t>
            </a:r>
            <a:r>
              <a:rPr lang="cs-CZ" dirty="0"/>
              <a:t> </a:t>
            </a:r>
            <a:r>
              <a:rPr lang="cs-CZ" dirty="0" err="1"/>
              <a:t>spoofing</a:t>
            </a:r>
            <a:endParaRPr lang="cs-CZ" dirty="0"/>
          </a:p>
          <a:p>
            <a:pPr lvl="1"/>
            <a:r>
              <a:rPr lang="cs-CZ" dirty="0" err="1"/>
              <a:t>Replay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43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C9A025-6054-BD1F-B8F7-1A2F5515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fyzické</a:t>
            </a:r>
            <a:r>
              <a:rPr lang="en-US" dirty="0"/>
              <a:t> </a:t>
            </a:r>
            <a:r>
              <a:rPr lang="en-US" dirty="0" err="1"/>
              <a:t>zařízení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8477D9-3959-5B2F-15B4-4908C1706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Krádež zařízení</a:t>
            </a:r>
          </a:p>
          <a:p>
            <a:r>
              <a:rPr lang="cs-CZ" dirty="0" err="1"/>
              <a:t>Evil</a:t>
            </a:r>
            <a:r>
              <a:rPr lang="cs-CZ" dirty="0"/>
              <a:t> </a:t>
            </a:r>
            <a:r>
              <a:rPr lang="cs-CZ" dirty="0" err="1"/>
              <a:t>maid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cs-CZ" dirty="0"/>
          </a:p>
          <a:p>
            <a:r>
              <a:rPr lang="cs-CZ" dirty="0" err="1"/>
              <a:t>Cold</a:t>
            </a:r>
            <a:r>
              <a:rPr lang="cs-CZ" dirty="0"/>
              <a:t> </a:t>
            </a:r>
            <a:r>
              <a:rPr lang="cs-CZ" dirty="0" err="1"/>
              <a:t>boot</a:t>
            </a:r>
            <a:r>
              <a:rPr lang="cs-CZ" dirty="0"/>
              <a:t> </a:t>
            </a:r>
            <a:r>
              <a:rPr lang="cs-CZ" dirty="0" err="1"/>
              <a:t>attack</a:t>
            </a:r>
            <a:endParaRPr lang="cs-CZ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47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D5FB2E-1AB9-A16C-E9DF-B3205EBA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dodavatelský</a:t>
            </a:r>
            <a:r>
              <a:rPr lang="en-US" dirty="0"/>
              <a:t> </a:t>
            </a:r>
            <a:r>
              <a:rPr lang="en-US" dirty="0" err="1"/>
              <a:t>řetězec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508B5E-3C8B-FEB9-FABD-51913D803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Compromised</a:t>
            </a:r>
            <a:r>
              <a:rPr lang="cs-CZ" dirty="0"/>
              <a:t> </a:t>
            </a:r>
            <a:r>
              <a:rPr lang="cs-CZ" dirty="0" err="1"/>
              <a:t>updates</a:t>
            </a:r>
            <a:endParaRPr lang="cs-CZ" dirty="0"/>
          </a:p>
          <a:p>
            <a:r>
              <a:rPr lang="cs-CZ" dirty="0" err="1"/>
              <a:t>Malicious</a:t>
            </a:r>
            <a:r>
              <a:rPr lang="cs-CZ" dirty="0"/>
              <a:t> </a:t>
            </a:r>
            <a:r>
              <a:rPr lang="cs-CZ" dirty="0" err="1"/>
              <a:t>Code</a:t>
            </a:r>
            <a:r>
              <a:rPr lang="cs-CZ" dirty="0"/>
              <a:t> </a:t>
            </a:r>
            <a:r>
              <a:rPr lang="cs-CZ" dirty="0" err="1"/>
              <a:t>Injection</a:t>
            </a:r>
            <a:endParaRPr lang="cs-CZ" dirty="0"/>
          </a:p>
          <a:p>
            <a:r>
              <a:rPr lang="cs-CZ" dirty="0"/>
              <a:t>Supply </a:t>
            </a:r>
            <a:r>
              <a:rPr lang="cs-CZ" dirty="0" err="1"/>
              <a:t>chain</a:t>
            </a:r>
            <a:r>
              <a:rPr lang="cs-CZ" dirty="0"/>
              <a:t> </a:t>
            </a:r>
            <a:r>
              <a:rPr lang="cs-CZ" dirty="0" err="1"/>
              <a:t>poisoning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624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44D7D2-9B02-3729-1BA1-2BAC79F9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cloudové</a:t>
            </a:r>
            <a:r>
              <a:rPr lang="en-US" dirty="0"/>
              <a:t> </a:t>
            </a:r>
            <a:r>
              <a:rPr lang="en-US" dirty="0" err="1"/>
              <a:t>služby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EDE6C-D596-1E1B-9078-815E07173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 </a:t>
            </a:r>
            <a:r>
              <a:rPr lang="cs-CZ" dirty="0" err="1"/>
              <a:t>breach</a:t>
            </a:r>
            <a:endParaRPr lang="cs-CZ" dirty="0"/>
          </a:p>
          <a:p>
            <a:r>
              <a:rPr lang="cs-CZ" dirty="0" err="1"/>
              <a:t>Insecure</a:t>
            </a:r>
            <a:r>
              <a:rPr lang="cs-CZ" dirty="0"/>
              <a:t> </a:t>
            </a:r>
            <a:r>
              <a:rPr lang="cs-CZ" dirty="0" err="1"/>
              <a:t>interfaces</a:t>
            </a:r>
            <a:endParaRPr lang="cs-CZ" dirty="0"/>
          </a:p>
          <a:p>
            <a:r>
              <a:rPr lang="cs-CZ" dirty="0" err="1"/>
              <a:t>Account</a:t>
            </a:r>
            <a:r>
              <a:rPr lang="cs-CZ" dirty="0"/>
              <a:t> </a:t>
            </a:r>
            <a:r>
              <a:rPr lang="cs-CZ" dirty="0" err="1"/>
              <a:t>hijacking</a:t>
            </a:r>
            <a:endParaRPr lang="cs-CZ" dirty="0"/>
          </a:p>
          <a:p>
            <a:r>
              <a:rPr lang="cs-CZ" dirty="0" err="1"/>
              <a:t>Denial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Service</a:t>
            </a:r>
            <a:r>
              <a:rPr lang="cs-CZ" dirty="0"/>
              <a:t> in 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7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FEDE5E-B4D9-823D-BACE-A6455C81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Specifické</a:t>
            </a:r>
            <a:r>
              <a:rPr lang="en-US" dirty="0"/>
              <a:t> </a:t>
            </a:r>
            <a:r>
              <a:rPr lang="en-US" dirty="0" err="1"/>
              <a:t>útoky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IoT </a:t>
            </a:r>
            <a:r>
              <a:rPr lang="en-US" dirty="0" err="1"/>
              <a:t>zařízení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59BDDF-10F3-164A-F915-552528E7C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Botnet</a:t>
            </a:r>
            <a:r>
              <a:rPr lang="cs-CZ" dirty="0"/>
              <a:t> </a:t>
            </a:r>
            <a:r>
              <a:rPr lang="cs-CZ" dirty="0" err="1"/>
              <a:t>attacks</a:t>
            </a:r>
            <a:endParaRPr lang="cs-CZ" dirty="0"/>
          </a:p>
          <a:p>
            <a:r>
              <a:rPr lang="cs-CZ" dirty="0"/>
              <a:t>Firmware </a:t>
            </a:r>
            <a:r>
              <a:rPr lang="cs-CZ" dirty="0" err="1"/>
              <a:t>exploits</a:t>
            </a:r>
            <a:endParaRPr lang="cs-CZ" dirty="0"/>
          </a:p>
          <a:p>
            <a:r>
              <a:rPr lang="cs-CZ" dirty="0"/>
              <a:t>Default </a:t>
            </a:r>
            <a:r>
              <a:rPr lang="cs-CZ" dirty="0" err="1"/>
              <a:t>credential</a:t>
            </a:r>
            <a:r>
              <a:rPr lang="cs-CZ" dirty="0"/>
              <a:t> </a:t>
            </a:r>
            <a:r>
              <a:rPr lang="cs-CZ" dirty="0" err="1"/>
              <a:t>exploits</a:t>
            </a:r>
            <a:endParaRPr lang="cs-CZ" dirty="0"/>
          </a:p>
          <a:p>
            <a:r>
              <a:rPr lang="cs-CZ" dirty="0" err="1"/>
              <a:t>Rogue</a:t>
            </a:r>
            <a:r>
              <a:rPr lang="cs-CZ" dirty="0"/>
              <a:t> </a:t>
            </a:r>
            <a:r>
              <a:rPr lang="cs-CZ" dirty="0" err="1"/>
              <a:t>Devices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96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1561</Words>
  <Application>Microsoft Office PowerPoint</Application>
  <PresentationFormat>Širokoúhlá obrazovka</PresentationFormat>
  <Paragraphs>251</Paragraphs>
  <Slides>41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Kybernetické útoky -přehled</vt:lpstr>
      <vt:lpstr>Typy útoků – rozdělení</vt:lpstr>
      <vt:lpstr>DoS a DDoS útoky – definice</vt:lpstr>
      <vt:lpstr>Útoky na sítě</vt:lpstr>
      <vt:lpstr>UDP Flood</vt:lpstr>
      <vt:lpstr>ICMP Flood (Ping Flood)</vt:lpstr>
      <vt:lpstr>SYN Flood</vt:lpstr>
      <vt:lpstr> Slowloris</vt:lpstr>
      <vt:lpstr>Ping of Death</vt:lpstr>
      <vt:lpstr>Smurf Attack</vt:lpstr>
      <vt:lpstr>Teardrop Attack</vt:lpstr>
      <vt:lpstr>Útoky na sítě</vt:lpstr>
      <vt:lpstr>Man-in-the-Middle (MitM)</vt:lpstr>
      <vt:lpstr>ARP Spoofing</vt:lpstr>
      <vt:lpstr>ARP Spoofing</vt:lpstr>
      <vt:lpstr>ARP Spoofing</vt:lpstr>
      <vt:lpstr>DNS Spoofing</vt:lpstr>
      <vt:lpstr>DNS Spoofing</vt:lpstr>
      <vt:lpstr>DNS Spoofing</vt:lpstr>
      <vt:lpstr>DNS Spoofing</vt:lpstr>
      <vt:lpstr>Session Hijacking</vt:lpstr>
      <vt:lpstr>Session Hijacking</vt:lpstr>
      <vt:lpstr>HTTPS Spoofing</vt:lpstr>
      <vt:lpstr>HTTPS Spoofing</vt:lpstr>
      <vt:lpstr>Jak se chránit před MitM útoky</vt:lpstr>
      <vt:lpstr>Útoky na sítě</vt:lpstr>
      <vt:lpstr>BGP Hijacking</vt:lpstr>
      <vt:lpstr>Packet Sniffing</vt:lpstr>
      <vt:lpstr>Port Scanning</vt:lpstr>
      <vt:lpstr>Útoky na aplikace</vt:lpstr>
      <vt:lpstr>Útoky na aplikace</vt:lpstr>
      <vt:lpstr>Útoky na aplikace</vt:lpstr>
      <vt:lpstr>Útoky na software</vt:lpstr>
      <vt:lpstr>Útoky na software</vt:lpstr>
      <vt:lpstr>Sociální inženýrství</vt:lpstr>
      <vt:lpstr>Útoky na kryptografii</vt:lpstr>
      <vt:lpstr>Útoky na kryptografii</vt:lpstr>
      <vt:lpstr>Útoky na fyzické zařízení</vt:lpstr>
      <vt:lpstr>Útoky na dodavatelský řetězec</vt:lpstr>
      <vt:lpstr>Útoky na cloudové služby</vt:lpstr>
      <vt:lpstr>Specifické útoky na IoT zařízení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