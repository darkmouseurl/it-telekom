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2.xml" ContentType="application/vnd.openxmlformats-officedocument.presentationml.tags+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3.xml" ContentType="application/vnd.openxmlformats-officedocument.presentationml.tags+xml"/>
  <Override PartName="/ppt/notesSlides/notesSlide15.xml" ContentType="application/vnd.openxmlformats-officedocument.presentationml.notesSlide+xml"/>
  <Override PartName="/ppt/tags/tag4.xml" ContentType="application/vnd.openxmlformats-officedocument.presentationml.tags+xml"/>
  <Override PartName="/ppt/notesSlides/notesSlide16.xml" ContentType="application/vnd.openxmlformats-officedocument.presentationml.notesSlide+xml"/>
  <Override PartName="/ppt/tags/tag5.xml" ContentType="application/vnd.openxmlformats-officedocument.presentationml.tags+xml"/>
  <Override PartName="/ppt/notesSlides/notesSlide1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1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292"/>
  </p:notesMasterIdLst>
  <p:sldIdLst>
    <p:sldId id="256" r:id="rId2"/>
    <p:sldId id="257" r:id="rId3"/>
    <p:sldId id="264" r:id="rId4"/>
    <p:sldId id="258" r:id="rId5"/>
    <p:sldId id="260" r:id="rId6"/>
    <p:sldId id="259" r:id="rId7"/>
    <p:sldId id="261" r:id="rId8"/>
    <p:sldId id="262" r:id="rId9"/>
    <p:sldId id="263" r:id="rId10"/>
    <p:sldId id="265" r:id="rId11"/>
    <p:sldId id="266" r:id="rId12"/>
    <p:sldId id="267" r:id="rId13"/>
    <p:sldId id="268" r:id="rId14"/>
    <p:sldId id="269" r:id="rId15"/>
    <p:sldId id="270" r:id="rId16"/>
    <p:sldId id="271" r:id="rId17"/>
    <p:sldId id="272" r:id="rId18"/>
    <p:sldId id="273" r:id="rId19"/>
    <p:sldId id="561" r:id="rId20"/>
    <p:sldId id="562" r:id="rId21"/>
    <p:sldId id="274" r:id="rId22"/>
    <p:sldId id="275" r:id="rId23"/>
    <p:sldId id="276" r:id="rId24"/>
    <p:sldId id="277" r:id="rId25"/>
    <p:sldId id="278" r:id="rId26"/>
    <p:sldId id="279"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9" r:id="rId85"/>
    <p:sldId id="338" r:id="rId86"/>
    <p:sldId id="341" r:id="rId87"/>
    <p:sldId id="342" r:id="rId88"/>
    <p:sldId id="876" r:id="rId89"/>
    <p:sldId id="1339" r:id="rId90"/>
    <p:sldId id="1340" r:id="rId91"/>
    <p:sldId id="1341" r:id="rId92"/>
    <p:sldId id="1342" r:id="rId93"/>
    <p:sldId id="1343" r:id="rId94"/>
    <p:sldId id="1344" r:id="rId95"/>
    <p:sldId id="1345" r:id="rId96"/>
    <p:sldId id="1346" r:id="rId97"/>
    <p:sldId id="1347" r:id="rId98"/>
    <p:sldId id="1348" r:id="rId99"/>
    <p:sldId id="1349" r:id="rId100"/>
    <p:sldId id="1350" r:id="rId101"/>
    <p:sldId id="1355" r:id="rId102"/>
    <p:sldId id="343" r:id="rId103"/>
    <p:sldId id="344" r:id="rId104"/>
    <p:sldId id="347" r:id="rId105"/>
    <p:sldId id="348" r:id="rId106"/>
    <p:sldId id="349" r:id="rId107"/>
    <p:sldId id="350" r:id="rId108"/>
    <p:sldId id="351" r:id="rId109"/>
    <p:sldId id="352" r:id="rId110"/>
    <p:sldId id="353" r:id="rId111"/>
    <p:sldId id="354" r:id="rId112"/>
    <p:sldId id="355" r:id="rId113"/>
    <p:sldId id="356" r:id="rId114"/>
    <p:sldId id="563" r:id="rId115"/>
    <p:sldId id="564" r:id="rId116"/>
    <p:sldId id="357" r:id="rId117"/>
    <p:sldId id="345" r:id="rId118"/>
    <p:sldId id="358" r:id="rId119"/>
    <p:sldId id="359" r:id="rId120"/>
    <p:sldId id="360" r:id="rId121"/>
    <p:sldId id="361" r:id="rId122"/>
    <p:sldId id="362" r:id="rId123"/>
    <p:sldId id="363" r:id="rId124"/>
    <p:sldId id="364" r:id="rId125"/>
    <p:sldId id="365" r:id="rId126"/>
    <p:sldId id="367" r:id="rId127"/>
    <p:sldId id="368" r:id="rId128"/>
    <p:sldId id="370" r:id="rId129"/>
    <p:sldId id="369" r:id="rId130"/>
    <p:sldId id="371" r:id="rId131"/>
    <p:sldId id="372" r:id="rId132"/>
    <p:sldId id="373" r:id="rId133"/>
    <p:sldId id="374" r:id="rId134"/>
    <p:sldId id="375" r:id="rId135"/>
    <p:sldId id="376" r:id="rId136"/>
    <p:sldId id="377" r:id="rId137"/>
    <p:sldId id="378" r:id="rId138"/>
    <p:sldId id="379" r:id="rId139"/>
    <p:sldId id="560" r:id="rId140"/>
    <p:sldId id="380" r:id="rId141"/>
    <p:sldId id="381" r:id="rId142"/>
    <p:sldId id="382" r:id="rId143"/>
    <p:sldId id="383" r:id="rId144"/>
    <p:sldId id="384" r:id="rId145"/>
    <p:sldId id="385" r:id="rId146"/>
    <p:sldId id="386" r:id="rId147"/>
    <p:sldId id="387" r:id="rId148"/>
    <p:sldId id="388" r:id="rId149"/>
    <p:sldId id="389" r:id="rId150"/>
    <p:sldId id="390" r:id="rId151"/>
    <p:sldId id="392" r:id="rId152"/>
    <p:sldId id="391" r:id="rId153"/>
    <p:sldId id="393" r:id="rId154"/>
    <p:sldId id="394" r:id="rId155"/>
    <p:sldId id="395" r:id="rId156"/>
    <p:sldId id="396" r:id="rId157"/>
    <p:sldId id="397" r:id="rId158"/>
    <p:sldId id="398" r:id="rId159"/>
    <p:sldId id="399" r:id="rId160"/>
    <p:sldId id="400" r:id="rId161"/>
    <p:sldId id="401" r:id="rId162"/>
    <p:sldId id="402" r:id="rId163"/>
    <p:sldId id="403" r:id="rId164"/>
    <p:sldId id="404" r:id="rId165"/>
    <p:sldId id="406" r:id="rId166"/>
    <p:sldId id="405" r:id="rId167"/>
    <p:sldId id="407" r:id="rId168"/>
    <p:sldId id="408" r:id="rId169"/>
    <p:sldId id="409" r:id="rId170"/>
    <p:sldId id="410" r:id="rId171"/>
    <p:sldId id="411" r:id="rId172"/>
    <p:sldId id="412" r:id="rId173"/>
    <p:sldId id="414" r:id="rId174"/>
    <p:sldId id="415" r:id="rId175"/>
    <p:sldId id="416" r:id="rId176"/>
    <p:sldId id="419" r:id="rId177"/>
    <p:sldId id="417" r:id="rId178"/>
    <p:sldId id="420" r:id="rId179"/>
    <p:sldId id="421" r:id="rId180"/>
    <p:sldId id="422" r:id="rId181"/>
    <p:sldId id="423" r:id="rId182"/>
    <p:sldId id="424" r:id="rId183"/>
    <p:sldId id="425" r:id="rId184"/>
    <p:sldId id="426" r:id="rId185"/>
    <p:sldId id="418" r:id="rId186"/>
    <p:sldId id="427" r:id="rId187"/>
    <p:sldId id="440" r:id="rId188"/>
    <p:sldId id="441" r:id="rId189"/>
    <p:sldId id="428" r:id="rId190"/>
    <p:sldId id="429" r:id="rId191"/>
    <p:sldId id="430" r:id="rId192"/>
    <p:sldId id="431" r:id="rId193"/>
    <p:sldId id="432" r:id="rId194"/>
    <p:sldId id="433" r:id="rId195"/>
    <p:sldId id="434" r:id="rId196"/>
    <p:sldId id="435" r:id="rId197"/>
    <p:sldId id="436" r:id="rId198"/>
    <p:sldId id="437" r:id="rId199"/>
    <p:sldId id="438" r:id="rId200"/>
    <p:sldId id="439" r:id="rId201"/>
    <p:sldId id="442" r:id="rId202"/>
    <p:sldId id="443" r:id="rId203"/>
    <p:sldId id="444" r:id="rId204"/>
    <p:sldId id="445" r:id="rId205"/>
    <p:sldId id="446" r:id="rId206"/>
    <p:sldId id="447" r:id="rId207"/>
    <p:sldId id="448" r:id="rId208"/>
    <p:sldId id="449" r:id="rId209"/>
    <p:sldId id="450" r:id="rId210"/>
    <p:sldId id="451" r:id="rId211"/>
    <p:sldId id="452" r:id="rId212"/>
    <p:sldId id="453" r:id="rId213"/>
    <p:sldId id="454" r:id="rId214"/>
    <p:sldId id="1203" r:id="rId215"/>
    <p:sldId id="1204" r:id="rId216"/>
    <p:sldId id="1205" r:id="rId217"/>
    <p:sldId id="455" r:id="rId218"/>
    <p:sldId id="456" r:id="rId219"/>
    <p:sldId id="457" r:id="rId220"/>
    <p:sldId id="458" r:id="rId221"/>
    <p:sldId id="459" r:id="rId222"/>
    <p:sldId id="460" r:id="rId223"/>
    <p:sldId id="461" r:id="rId224"/>
    <p:sldId id="462" r:id="rId225"/>
    <p:sldId id="463" r:id="rId226"/>
    <p:sldId id="464" r:id="rId227"/>
    <p:sldId id="465" r:id="rId228"/>
    <p:sldId id="466" r:id="rId229"/>
    <p:sldId id="467" r:id="rId230"/>
    <p:sldId id="468" r:id="rId231"/>
    <p:sldId id="469" r:id="rId232"/>
    <p:sldId id="470" r:id="rId233"/>
    <p:sldId id="471" r:id="rId234"/>
    <p:sldId id="472" r:id="rId235"/>
    <p:sldId id="473" r:id="rId236"/>
    <p:sldId id="474" r:id="rId237"/>
    <p:sldId id="475" r:id="rId238"/>
    <p:sldId id="476" r:id="rId239"/>
    <p:sldId id="477" r:id="rId240"/>
    <p:sldId id="478" r:id="rId241"/>
    <p:sldId id="479" r:id="rId242"/>
    <p:sldId id="480" r:id="rId243"/>
    <p:sldId id="481" r:id="rId244"/>
    <p:sldId id="483" r:id="rId245"/>
    <p:sldId id="482" r:id="rId246"/>
    <p:sldId id="484" r:id="rId247"/>
    <p:sldId id="485" r:id="rId248"/>
    <p:sldId id="486" r:id="rId249"/>
    <p:sldId id="487" r:id="rId250"/>
    <p:sldId id="488" r:id="rId251"/>
    <p:sldId id="489" r:id="rId252"/>
    <p:sldId id="490" r:id="rId253"/>
    <p:sldId id="491" r:id="rId254"/>
    <p:sldId id="492" r:id="rId255"/>
    <p:sldId id="493" r:id="rId256"/>
    <p:sldId id="494" r:id="rId257"/>
    <p:sldId id="495" r:id="rId258"/>
    <p:sldId id="496" r:id="rId259"/>
    <p:sldId id="499" r:id="rId260"/>
    <p:sldId id="497" r:id="rId261"/>
    <p:sldId id="498" r:id="rId262"/>
    <p:sldId id="500" r:id="rId263"/>
    <p:sldId id="501" r:id="rId264"/>
    <p:sldId id="502" r:id="rId265"/>
    <p:sldId id="503" r:id="rId266"/>
    <p:sldId id="504" r:id="rId267"/>
    <p:sldId id="505" r:id="rId268"/>
    <p:sldId id="506" r:id="rId269"/>
    <p:sldId id="507" r:id="rId270"/>
    <p:sldId id="510" r:id="rId271"/>
    <p:sldId id="511" r:id="rId272"/>
    <p:sldId id="512" r:id="rId273"/>
    <p:sldId id="513" r:id="rId274"/>
    <p:sldId id="514" r:id="rId275"/>
    <p:sldId id="515" r:id="rId276"/>
    <p:sldId id="516" r:id="rId277"/>
    <p:sldId id="517" r:id="rId278"/>
    <p:sldId id="518" r:id="rId279"/>
    <p:sldId id="519" r:id="rId280"/>
    <p:sldId id="520" r:id="rId281"/>
    <p:sldId id="521" r:id="rId282"/>
    <p:sldId id="522" r:id="rId283"/>
    <p:sldId id="523" r:id="rId284"/>
    <p:sldId id="524" r:id="rId285"/>
    <p:sldId id="525" r:id="rId286"/>
    <p:sldId id="526" r:id="rId287"/>
    <p:sldId id="527" r:id="rId288"/>
    <p:sldId id="528" r:id="rId289"/>
    <p:sldId id="529" r:id="rId290"/>
    <p:sldId id="530" r:id="rId29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E83538D-E467-44AC-99A6-CA66344FAA8C}">
          <p14:sldIdLst>
            <p14:sldId id="256"/>
            <p14:sldId id="257"/>
            <p14:sldId id="264"/>
            <p14:sldId id="258"/>
            <p14:sldId id="260"/>
            <p14:sldId id="259"/>
            <p14:sldId id="261"/>
            <p14:sldId id="262"/>
            <p14:sldId id="263"/>
            <p14:sldId id="265"/>
            <p14:sldId id="266"/>
            <p14:sldId id="267"/>
            <p14:sldId id="268"/>
            <p14:sldId id="269"/>
            <p14:sldId id="270"/>
            <p14:sldId id="271"/>
            <p14:sldId id="272"/>
            <p14:sldId id="273"/>
            <p14:sldId id="561"/>
            <p14:sldId id="562"/>
            <p14:sldId id="274"/>
            <p14:sldId id="275"/>
            <p14:sldId id="276"/>
            <p14:sldId id="277"/>
            <p14:sldId id="278"/>
            <p14:sldId id="279"/>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9"/>
            <p14:sldId id="338"/>
            <p14:sldId id="341"/>
            <p14:sldId id="342"/>
            <p14:sldId id="876"/>
            <p14:sldId id="1339"/>
            <p14:sldId id="1340"/>
            <p14:sldId id="1341"/>
            <p14:sldId id="1342"/>
            <p14:sldId id="1343"/>
            <p14:sldId id="1344"/>
            <p14:sldId id="1345"/>
            <p14:sldId id="1346"/>
            <p14:sldId id="1347"/>
            <p14:sldId id="1348"/>
            <p14:sldId id="1349"/>
            <p14:sldId id="1350"/>
            <p14:sldId id="1355"/>
            <p14:sldId id="343"/>
            <p14:sldId id="344"/>
            <p14:sldId id="347"/>
            <p14:sldId id="348"/>
            <p14:sldId id="349"/>
            <p14:sldId id="350"/>
            <p14:sldId id="351"/>
            <p14:sldId id="352"/>
            <p14:sldId id="353"/>
            <p14:sldId id="354"/>
            <p14:sldId id="355"/>
            <p14:sldId id="356"/>
            <p14:sldId id="563"/>
            <p14:sldId id="564"/>
            <p14:sldId id="357"/>
            <p14:sldId id="345"/>
            <p14:sldId id="358"/>
            <p14:sldId id="359"/>
            <p14:sldId id="360"/>
            <p14:sldId id="361"/>
            <p14:sldId id="362"/>
            <p14:sldId id="363"/>
            <p14:sldId id="364"/>
            <p14:sldId id="365"/>
            <p14:sldId id="367"/>
            <p14:sldId id="368"/>
            <p14:sldId id="370"/>
            <p14:sldId id="369"/>
            <p14:sldId id="371"/>
            <p14:sldId id="372"/>
            <p14:sldId id="373"/>
            <p14:sldId id="374"/>
            <p14:sldId id="375"/>
            <p14:sldId id="376"/>
            <p14:sldId id="377"/>
            <p14:sldId id="378"/>
            <p14:sldId id="379"/>
            <p14:sldId id="560"/>
            <p14:sldId id="380"/>
            <p14:sldId id="381"/>
            <p14:sldId id="382"/>
            <p14:sldId id="383"/>
            <p14:sldId id="384"/>
            <p14:sldId id="385"/>
            <p14:sldId id="386"/>
            <p14:sldId id="387"/>
            <p14:sldId id="388"/>
            <p14:sldId id="389"/>
            <p14:sldId id="390"/>
            <p14:sldId id="392"/>
            <p14:sldId id="391"/>
            <p14:sldId id="393"/>
            <p14:sldId id="394"/>
            <p14:sldId id="395"/>
            <p14:sldId id="396"/>
            <p14:sldId id="397"/>
            <p14:sldId id="398"/>
            <p14:sldId id="399"/>
            <p14:sldId id="400"/>
            <p14:sldId id="401"/>
            <p14:sldId id="402"/>
            <p14:sldId id="403"/>
            <p14:sldId id="404"/>
            <p14:sldId id="406"/>
            <p14:sldId id="405"/>
            <p14:sldId id="407"/>
            <p14:sldId id="408"/>
            <p14:sldId id="409"/>
            <p14:sldId id="410"/>
            <p14:sldId id="411"/>
            <p14:sldId id="412"/>
            <p14:sldId id="414"/>
            <p14:sldId id="415"/>
            <p14:sldId id="416"/>
            <p14:sldId id="419"/>
            <p14:sldId id="417"/>
            <p14:sldId id="420"/>
            <p14:sldId id="421"/>
            <p14:sldId id="422"/>
            <p14:sldId id="423"/>
            <p14:sldId id="424"/>
            <p14:sldId id="425"/>
            <p14:sldId id="426"/>
            <p14:sldId id="418"/>
            <p14:sldId id="427"/>
            <p14:sldId id="440"/>
            <p14:sldId id="441"/>
            <p14:sldId id="428"/>
            <p14:sldId id="429"/>
            <p14:sldId id="430"/>
            <p14:sldId id="431"/>
            <p14:sldId id="432"/>
            <p14:sldId id="433"/>
            <p14:sldId id="434"/>
            <p14:sldId id="435"/>
            <p14:sldId id="436"/>
            <p14:sldId id="437"/>
            <p14:sldId id="438"/>
            <p14:sldId id="439"/>
            <p14:sldId id="442"/>
            <p14:sldId id="443"/>
            <p14:sldId id="444"/>
            <p14:sldId id="445"/>
            <p14:sldId id="446"/>
            <p14:sldId id="447"/>
            <p14:sldId id="448"/>
            <p14:sldId id="449"/>
            <p14:sldId id="450"/>
            <p14:sldId id="451"/>
            <p14:sldId id="452"/>
            <p14:sldId id="453"/>
            <p14:sldId id="454"/>
            <p14:sldId id="1203"/>
            <p14:sldId id="1204"/>
            <p14:sldId id="1205"/>
            <p14:sldId id="455"/>
            <p14:sldId id="456"/>
            <p14:sldId id="457"/>
            <p14:sldId id="458"/>
            <p14:sldId id="459"/>
            <p14:sldId id="460"/>
            <p14:sldId id="461"/>
            <p14:sldId id="462"/>
            <p14:sldId id="463"/>
            <p14:sldId id="464"/>
            <p14:sldId id="465"/>
            <p14:sldId id="466"/>
            <p14:sldId id="467"/>
            <p14:sldId id="468"/>
            <p14:sldId id="469"/>
            <p14:sldId id="470"/>
            <p14:sldId id="471"/>
            <p14:sldId id="472"/>
            <p14:sldId id="473"/>
            <p14:sldId id="474"/>
            <p14:sldId id="475"/>
            <p14:sldId id="476"/>
            <p14:sldId id="477"/>
            <p14:sldId id="478"/>
            <p14:sldId id="479"/>
            <p14:sldId id="480"/>
            <p14:sldId id="481"/>
            <p14:sldId id="483"/>
            <p14:sldId id="482"/>
            <p14:sldId id="484"/>
            <p14:sldId id="485"/>
            <p14:sldId id="486"/>
            <p14:sldId id="487"/>
            <p14:sldId id="488"/>
            <p14:sldId id="489"/>
            <p14:sldId id="490"/>
            <p14:sldId id="491"/>
            <p14:sldId id="492"/>
            <p14:sldId id="493"/>
            <p14:sldId id="494"/>
            <p14:sldId id="495"/>
            <p14:sldId id="496"/>
            <p14:sldId id="499"/>
            <p14:sldId id="497"/>
            <p14:sldId id="498"/>
            <p14:sldId id="500"/>
            <p14:sldId id="501"/>
            <p14:sldId id="502"/>
            <p14:sldId id="503"/>
            <p14:sldId id="504"/>
            <p14:sldId id="505"/>
            <p14:sldId id="506"/>
            <p14:sldId id="507"/>
            <p14:sldId id="510"/>
            <p14:sldId id="511"/>
            <p14:sldId id="512"/>
            <p14:sldId id="513"/>
            <p14:sldId id="514"/>
            <p14:sldId id="515"/>
            <p14:sldId id="516"/>
            <p14:sldId id="517"/>
            <p14:sldId id="518"/>
            <p14:sldId id="519"/>
            <p14:sldId id="520"/>
            <p14:sldId id="521"/>
            <p14:sldId id="522"/>
            <p14:sldId id="523"/>
            <p14:sldId id="524"/>
            <p14:sldId id="525"/>
            <p14:sldId id="526"/>
            <p14:sldId id="527"/>
            <p14:sldId id="528"/>
            <p14:sldId id="529"/>
            <p14:sldId id="530"/>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3CB71D3-8EB1-2B56-71CA-D6F054C58EAC}" name="Filip Lauterbach" initials="FL" userId="f95867d15c371ff7"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1E5519-5149-A75F-3CB2-E2F319FFB1F6}" v="1" dt="2024-11-10T18:09:52.0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microsoft.com/office/2018/10/relationships/authors" Target="authors.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291" Type="http://schemas.openxmlformats.org/officeDocument/2006/relationships/slide" Target="slides/slide290.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notesMaster" Target="notesMasters/notesMaster1.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presProps" Target="presProps.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viewProps" Target="viewProp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theme" Target="theme/theme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tableStyles" Target="tableStyles.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microsoft.com/office/2016/11/relationships/changesInfo" Target="changesInfos/changesInfo1.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microsoft.com/office/2015/10/relationships/revisionInfo" Target="revisionInfo.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ndřej VAJDA" userId="S::ondrej.vajda@teleinformatika.eu::65496f70-ef0b-4b88-bcf9-3c77984afdd9" providerId="AD" clId="Web-{2AB87F81-E106-7CCD-9589-A80D1FFB2FC7}"/>
    <pc:docChg chg="sldOrd">
      <pc:chgData name="Ondřej VAJDA" userId="S::ondrej.vajda@teleinformatika.eu::65496f70-ef0b-4b88-bcf9-3c77984afdd9" providerId="AD" clId="Web-{2AB87F81-E106-7CCD-9589-A80D1FFB2FC7}" dt="2024-02-24T11:49:07.187" v="0"/>
      <pc:docMkLst>
        <pc:docMk/>
      </pc:docMkLst>
      <pc:sldChg chg="ord">
        <pc:chgData name="Ondřej VAJDA" userId="S::ondrej.vajda@teleinformatika.eu::65496f70-ef0b-4b88-bcf9-3c77984afdd9" providerId="AD" clId="Web-{2AB87F81-E106-7CCD-9589-A80D1FFB2FC7}" dt="2024-02-24T11:49:07.187" v="0"/>
        <pc:sldMkLst>
          <pc:docMk/>
          <pc:sldMk cId="1428373159" sldId="302"/>
        </pc:sldMkLst>
      </pc:sldChg>
    </pc:docChg>
  </pc:docChgLst>
  <pc:docChgLst>
    <pc:chgData name="Eliška KOSAKOVÁ" userId="S::eliska.kosakova@teleinformatika.eu::a39b76d5-9983-4788-81aa-72e32a2c5b4a" providerId="AD" clId="Web-{7D1E5519-5149-A75F-3CB2-E2F319FFB1F6}"/>
    <pc:docChg chg="sldOrd">
      <pc:chgData name="Eliška KOSAKOVÁ" userId="S::eliska.kosakova@teleinformatika.eu::a39b76d5-9983-4788-81aa-72e32a2c5b4a" providerId="AD" clId="Web-{7D1E5519-5149-A75F-3CB2-E2F319FFB1F6}" dt="2024-11-10T18:09:52.042" v="0"/>
      <pc:docMkLst>
        <pc:docMk/>
      </pc:docMkLst>
      <pc:sldChg chg="ord">
        <pc:chgData name="Eliška KOSAKOVÁ" userId="S::eliska.kosakova@teleinformatika.eu::a39b76d5-9983-4788-81aa-72e32a2c5b4a" providerId="AD" clId="Web-{7D1E5519-5149-A75F-3CB2-E2F319FFB1F6}" dt="2024-11-10T18:09:52.042" v="0"/>
        <pc:sldMkLst>
          <pc:docMk/>
          <pc:sldMk cId="1547982349" sldId="290"/>
        </pc:sldMkLst>
      </pc:sldChg>
    </pc:docChg>
  </pc:docChgLst>
  <pc:docChgLst>
    <pc:chgData name="Ondřej VAJDA" userId="S::ondrej.vajda@teleinformatika.eu::65496f70-ef0b-4b88-bcf9-3c77984afdd9" providerId="AD" clId="Web-{1A310EB6-88A8-3BB9-514F-A9DC69486105}"/>
    <pc:docChg chg="mod">
      <pc:chgData name="Ondřej VAJDA" userId="S::ondrej.vajda@teleinformatika.eu::65496f70-ef0b-4b88-bcf9-3c77984afdd9" providerId="AD" clId="Web-{1A310EB6-88A8-3BB9-514F-A9DC69486105}" dt="2024-11-08T07:37:26.385" v="0" actId="33475"/>
      <pc:docMkLst>
        <pc:docMk/>
      </pc:docMkLst>
    </pc:docChg>
  </pc:docChgLst>
  <pc:docChgLst>
    <pc:chgData name="Patrik DOLEŽÍLEK" userId="S::patrik.dolezilek@teleinformatika.eu::241225b1-a364-4b79-bd9b-ad25d6c7f7f6" providerId="AD" clId="Web-{97D52381-25ED-B682-09E5-E90741BB54C0}"/>
    <pc:docChg chg="modSld">
      <pc:chgData name="Patrik DOLEŽÍLEK" userId="S::patrik.dolezilek@teleinformatika.eu::241225b1-a364-4b79-bd9b-ad25d6c7f7f6" providerId="AD" clId="Web-{97D52381-25ED-B682-09E5-E90741BB54C0}" dt="2024-11-08T08:09:51.878" v="1" actId="1076"/>
      <pc:docMkLst>
        <pc:docMk/>
      </pc:docMkLst>
      <pc:sldChg chg="modSp">
        <pc:chgData name="Patrik DOLEŽÍLEK" userId="S::patrik.dolezilek@teleinformatika.eu::241225b1-a364-4b79-bd9b-ad25d6c7f7f6" providerId="AD" clId="Web-{97D52381-25ED-B682-09E5-E90741BB54C0}" dt="2024-11-08T08:09:51.878" v="1" actId="1076"/>
        <pc:sldMkLst>
          <pc:docMk/>
          <pc:sldMk cId="52563982" sldId="256"/>
        </pc:sldMkLst>
        <pc:picChg chg="mod">
          <ac:chgData name="Patrik DOLEŽÍLEK" userId="S::patrik.dolezilek@teleinformatika.eu::241225b1-a364-4b79-bd9b-ad25d6c7f7f6" providerId="AD" clId="Web-{97D52381-25ED-B682-09E5-E90741BB54C0}" dt="2024-11-08T08:09:51.878" v="1" actId="1076"/>
          <ac:picMkLst>
            <pc:docMk/>
            <pc:sldMk cId="52563982" sldId="256"/>
            <ac:picMk id="6" creationId="{5A087768-760D-8652-E926-B6388C2BBD50}"/>
          </ac:picMkLst>
        </pc:picChg>
      </pc:sldChg>
    </pc:docChg>
  </pc:docChgLst>
  <pc:docChgLst>
    <pc:chgData name="David Dihel" userId="f8f67d6a-a075-4804-8ca9-d48c598b6ce1" providerId="ADAL" clId="{D2F80CD3-F427-BE46-AB11-FAF3448CE424}"/>
    <pc:docChg chg="modSld">
      <pc:chgData name="David Dihel" userId="f8f67d6a-a075-4804-8ca9-d48c598b6ce1" providerId="ADAL" clId="{D2F80CD3-F427-BE46-AB11-FAF3448CE424}" dt="2024-03-04T11:16:58.539" v="3" actId="1076"/>
      <pc:docMkLst>
        <pc:docMk/>
      </pc:docMkLst>
      <pc:sldChg chg="modSp">
        <pc:chgData name="David Dihel" userId="f8f67d6a-a075-4804-8ca9-d48c598b6ce1" providerId="ADAL" clId="{D2F80CD3-F427-BE46-AB11-FAF3448CE424}" dt="2024-03-04T11:16:58.539" v="3" actId="1076"/>
        <pc:sldMkLst>
          <pc:docMk/>
          <pc:sldMk cId="3372999733" sldId="563"/>
        </pc:sldMkLst>
        <pc:picChg chg="mod">
          <ac:chgData name="David Dihel" userId="f8f67d6a-a075-4804-8ca9-d48c598b6ce1" providerId="ADAL" clId="{D2F80CD3-F427-BE46-AB11-FAF3448CE424}" dt="2024-03-04T11:16:58.539" v="3" actId="1076"/>
          <ac:picMkLst>
            <pc:docMk/>
            <pc:sldMk cId="3372999733" sldId="563"/>
            <ac:picMk id="9" creationId="{C2987602-D4BB-4AAA-A202-39E728E3139D}"/>
          </ac:picMkLst>
        </pc:picChg>
      </pc:sldChg>
      <pc:sldChg chg="modSp">
        <pc:chgData name="David Dihel" userId="f8f67d6a-a075-4804-8ca9-d48c598b6ce1" providerId="ADAL" clId="{D2F80CD3-F427-BE46-AB11-FAF3448CE424}" dt="2024-02-12T11:34:20.896" v="1" actId="1076"/>
        <pc:sldMkLst>
          <pc:docMk/>
          <pc:sldMk cId="2899621081" sldId="1339"/>
        </pc:sldMkLst>
        <pc:spChg chg="mod">
          <ac:chgData name="David Dihel" userId="f8f67d6a-a075-4804-8ca9-d48c598b6ce1" providerId="ADAL" clId="{D2F80CD3-F427-BE46-AB11-FAF3448CE424}" dt="2024-02-12T11:34:20.896" v="1" actId="1076"/>
          <ac:spMkLst>
            <pc:docMk/>
            <pc:sldMk cId="2899621081" sldId="1339"/>
            <ac:spMk id="3" creationId="{C02AA8F8-1E43-384B-8982-C0BB94049B5C}"/>
          </ac:spMkLst>
        </pc:spChg>
      </pc:sldChg>
    </pc:docChg>
  </pc:docChgLst>
  <pc:docChgLst>
    <pc:chgData name="Jakub Ertelt" userId="S::jakub.ertelt@teleinformatika.eu::c00ddc1e-e9b7-4138-a1b1-db84d11feb79" providerId="AD" clId="Web-{21D83763-B8DE-496B-33D0-DBECAC7DDF84}"/>
    <pc:docChg chg="addSld delSld modSection">
      <pc:chgData name="Jakub Ertelt" userId="S::jakub.ertelt@teleinformatika.eu::c00ddc1e-e9b7-4138-a1b1-db84d11feb79" providerId="AD" clId="Web-{21D83763-B8DE-496B-33D0-DBECAC7DDF84}" dt="2024-02-25T17:22:43.372" v="2"/>
      <pc:docMkLst>
        <pc:docMk/>
      </pc:docMkLst>
      <pc:sldChg chg="del">
        <pc:chgData name="Jakub Ertelt" userId="S::jakub.ertelt@teleinformatika.eu::c00ddc1e-e9b7-4138-a1b1-db84d11feb79" providerId="AD" clId="Web-{21D83763-B8DE-496B-33D0-DBECAC7DDF84}" dt="2024-02-25T17:22:43.372" v="2"/>
        <pc:sldMkLst>
          <pc:docMk/>
          <pc:sldMk cId="1581894687" sldId="1356"/>
        </pc:sldMkLst>
      </pc:sldChg>
      <pc:sldChg chg="new del">
        <pc:chgData name="Jakub Ertelt" userId="S::jakub.ertelt@teleinformatika.eu::c00ddc1e-e9b7-4138-a1b1-db84d11feb79" providerId="AD" clId="Web-{21D83763-B8DE-496B-33D0-DBECAC7DDF84}" dt="2024-02-25T17:17:12.237" v="1"/>
        <pc:sldMkLst>
          <pc:docMk/>
          <pc:sldMk cId="1054625867" sldId="1357"/>
        </pc:sldMkLst>
      </pc:sldChg>
    </pc:docChg>
  </pc:docChgLst>
  <pc:docChgLst>
    <pc:chgData name="Marek Dědoch" userId="S::marek.dedoch@teleinformatika.eu::bd2b0416-b29c-4a70-aa5b-2494d458b888" providerId="AD" clId="Web-{44D9866D-013A-4B75-6480-701567E6D728}"/>
    <pc:docChg chg="addSld modSection">
      <pc:chgData name="Marek Dědoch" userId="S::marek.dedoch@teleinformatika.eu::bd2b0416-b29c-4a70-aa5b-2494d458b888" providerId="AD" clId="Web-{44D9866D-013A-4B75-6480-701567E6D728}" dt="2024-02-22T11:51:16.160" v="0"/>
      <pc:docMkLst>
        <pc:docMk/>
      </pc:docMkLst>
      <pc:sldChg chg="new">
        <pc:chgData name="Marek Dědoch" userId="S::marek.dedoch@teleinformatika.eu::bd2b0416-b29c-4a70-aa5b-2494d458b888" providerId="AD" clId="Web-{44D9866D-013A-4B75-6480-701567E6D728}" dt="2024-02-22T11:51:16.160" v="0"/>
        <pc:sldMkLst>
          <pc:docMk/>
          <pc:sldMk cId="1581894687" sldId="1356"/>
        </pc:sldMkLst>
      </pc:sldChg>
    </pc:docChg>
  </pc:docChgLst>
  <pc:docChgLst>
    <pc:chgData name="Dominik TEKELI" userId="S::dominik.tekeli@teleinformatika.eu::97d1974a-fbde-488c-b98b-e91989a6a091" providerId="AD" clId="Web-{E09A67A5-8DF3-3317-7677-0C8199969FAF}"/>
    <pc:docChg chg="sldOrd">
      <pc:chgData name="Dominik TEKELI" userId="S::dominik.tekeli@teleinformatika.eu::97d1974a-fbde-488c-b98b-e91989a6a091" providerId="AD" clId="Web-{E09A67A5-8DF3-3317-7677-0C8199969FAF}" dt="2024-03-19T21:51:54.800" v="0"/>
      <pc:docMkLst>
        <pc:docMk/>
      </pc:docMkLst>
      <pc:sldChg chg="ord">
        <pc:chgData name="Dominik TEKELI" userId="S::dominik.tekeli@teleinformatika.eu::97d1974a-fbde-488c-b98b-e91989a6a091" providerId="AD" clId="Web-{E09A67A5-8DF3-3317-7677-0C8199969FAF}" dt="2024-03-19T21:51:54.800" v="0"/>
        <pc:sldMkLst>
          <pc:docMk/>
          <pc:sldMk cId="2833137178" sldId="264"/>
        </pc:sldMkLst>
      </pc:sldChg>
    </pc:docChg>
  </pc:docChgLst>
  <pc:docChgLst>
    <pc:chgData name="Jakub Malý" userId="876f8b53-4e66-4db5-afcd-4d168a45f622" providerId="ADAL" clId="{3F1D8F83-7EBB-8F47-9903-EA27AB3BB9F0}"/>
    <pc:docChg chg="modSld">
      <pc:chgData name="Jakub Malý" userId="876f8b53-4e66-4db5-afcd-4d168a45f622" providerId="ADAL" clId="{3F1D8F83-7EBB-8F47-9903-EA27AB3BB9F0}" dt="2024-03-06T11:37:05.005" v="1" actId="1076"/>
      <pc:docMkLst>
        <pc:docMk/>
      </pc:docMkLst>
      <pc:sldChg chg="modSp">
        <pc:chgData name="Jakub Malý" userId="876f8b53-4e66-4db5-afcd-4d168a45f622" providerId="ADAL" clId="{3F1D8F83-7EBB-8F47-9903-EA27AB3BB9F0}" dt="2024-03-06T11:37:05.005" v="1" actId="1076"/>
        <pc:sldMkLst>
          <pc:docMk/>
          <pc:sldMk cId="2159078013" sldId="529"/>
        </pc:sldMkLst>
        <pc:picChg chg="mod">
          <ac:chgData name="Jakub Malý" userId="876f8b53-4e66-4db5-afcd-4d168a45f622" providerId="ADAL" clId="{3F1D8F83-7EBB-8F47-9903-EA27AB3BB9F0}" dt="2024-03-06T11:37:05.005" v="1" actId="1076"/>
          <ac:picMkLst>
            <pc:docMk/>
            <pc:sldMk cId="2159078013" sldId="529"/>
            <ac:picMk id="7" creationId="{38F9FB28-75DD-70A6-1966-2EFF4B3DA414}"/>
          </ac:picMkLst>
        </pc:picChg>
      </pc:sldChg>
    </pc:docChg>
  </pc:docChgLst>
  <pc:docChgLst>
    <pc:chgData name="David Dihel" userId="S::david.dihel@teleinformatika.eu::f8f67d6a-a075-4804-8ca9-d48c598b6ce1" providerId="AD" clId="Web-{6DF16750-BA82-4B82-BA22-4DCE61703131}"/>
    <pc:docChg chg="modSld">
      <pc:chgData name="David Dihel" userId="S::david.dihel@teleinformatika.eu::f8f67d6a-a075-4804-8ca9-d48c598b6ce1" providerId="AD" clId="Web-{6DF16750-BA82-4B82-BA22-4DCE61703131}" dt="2024-02-12T11:32:41.824" v="20"/>
      <pc:docMkLst>
        <pc:docMk/>
      </pc:docMkLst>
      <pc:sldChg chg="addSp delSp modSp">
        <pc:chgData name="David Dihel" userId="S::david.dihel@teleinformatika.eu::f8f67d6a-a075-4804-8ca9-d48c598b6ce1" providerId="AD" clId="Web-{6DF16750-BA82-4B82-BA22-4DCE61703131}" dt="2024-02-12T11:32:41.824" v="20"/>
        <pc:sldMkLst>
          <pc:docMk/>
          <pc:sldMk cId="2899621081" sldId="1339"/>
        </pc:sldMkLst>
        <pc:spChg chg="mod">
          <ac:chgData name="David Dihel" userId="S::david.dihel@teleinformatika.eu::f8f67d6a-a075-4804-8ca9-d48c598b6ce1" providerId="AD" clId="Web-{6DF16750-BA82-4B82-BA22-4DCE61703131}" dt="2024-02-12T11:32:14.589" v="14" actId="1076"/>
          <ac:spMkLst>
            <pc:docMk/>
            <pc:sldMk cId="2899621081" sldId="1339"/>
            <ac:spMk id="3" creationId="{C02AA8F8-1E43-384B-8982-C0BB94049B5C}"/>
          </ac:spMkLst>
        </pc:spChg>
        <pc:inkChg chg="add del">
          <ac:chgData name="David Dihel" userId="S::david.dihel@teleinformatika.eu::f8f67d6a-a075-4804-8ca9-d48c598b6ce1" providerId="AD" clId="Web-{6DF16750-BA82-4B82-BA22-4DCE61703131}" dt="2024-02-12T11:31:29.463" v="13"/>
          <ac:inkMkLst>
            <pc:docMk/>
            <pc:sldMk cId="2899621081" sldId="1339"/>
            <ac:inkMk id="2" creationId="{F94D4465-8FEB-3A33-C076-0424452CBB47}"/>
          </ac:inkMkLst>
        </pc:inkChg>
        <pc:inkChg chg="add del">
          <ac:chgData name="David Dihel" userId="S::david.dihel@teleinformatika.eu::f8f67d6a-a075-4804-8ca9-d48c598b6ce1" providerId="AD" clId="Web-{6DF16750-BA82-4B82-BA22-4DCE61703131}" dt="2024-02-12T11:31:27.541" v="12"/>
          <ac:inkMkLst>
            <pc:docMk/>
            <pc:sldMk cId="2899621081" sldId="1339"/>
            <ac:inkMk id="5" creationId="{AE8B1D0F-7AF8-4565-C6B2-0FA227C33E5B}"/>
          </ac:inkMkLst>
        </pc:inkChg>
        <pc:inkChg chg="add del">
          <ac:chgData name="David Dihel" userId="S::david.dihel@teleinformatika.eu::f8f67d6a-a075-4804-8ca9-d48c598b6ce1" providerId="AD" clId="Web-{6DF16750-BA82-4B82-BA22-4DCE61703131}" dt="2024-02-12T11:31:27.541" v="11"/>
          <ac:inkMkLst>
            <pc:docMk/>
            <pc:sldMk cId="2899621081" sldId="1339"/>
            <ac:inkMk id="6" creationId="{0DD5F9F0-D57B-3875-FD9D-1B800712F98A}"/>
          </ac:inkMkLst>
        </pc:inkChg>
        <pc:inkChg chg="add del">
          <ac:chgData name="David Dihel" userId="S::david.dihel@teleinformatika.eu::f8f67d6a-a075-4804-8ca9-d48c598b6ce1" providerId="AD" clId="Web-{6DF16750-BA82-4B82-BA22-4DCE61703131}" dt="2024-02-12T11:31:24.181" v="10"/>
          <ac:inkMkLst>
            <pc:docMk/>
            <pc:sldMk cId="2899621081" sldId="1339"/>
            <ac:inkMk id="7" creationId="{5898BAF7-EF1F-766D-9467-8EB8076F7A9C}"/>
          </ac:inkMkLst>
        </pc:inkChg>
        <pc:inkChg chg="add del">
          <ac:chgData name="David Dihel" userId="S::david.dihel@teleinformatika.eu::f8f67d6a-a075-4804-8ca9-d48c598b6ce1" providerId="AD" clId="Web-{6DF16750-BA82-4B82-BA22-4DCE61703131}" dt="2024-02-12T11:31:24.181" v="9"/>
          <ac:inkMkLst>
            <pc:docMk/>
            <pc:sldMk cId="2899621081" sldId="1339"/>
            <ac:inkMk id="8" creationId="{80760DB4-C840-5AA7-AD9F-2A9E0DA075A8}"/>
          </ac:inkMkLst>
        </pc:inkChg>
        <pc:inkChg chg="add del">
          <ac:chgData name="David Dihel" userId="S::david.dihel@teleinformatika.eu::f8f67d6a-a075-4804-8ca9-d48c598b6ce1" providerId="AD" clId="Web-{6DF16750-BA82-4B82-BA22-4DCE61703131}" dt="2024-02-12T11:31:24.181" v="8"/>
          <ac:inkMkLst>
            <pc:docMk/>
            <pc:sldMk cId="2899621081" sldId="1339"/>
            <ac:inkMk id="9" creationId="{88DFD6A5-01EB-7C33-9EBF-1D4ED3825443}"/>
          </ac:inkMkLst>
        </pc:inkChg>
        <pc:inkChg chg="add del">
          <ac:chgData name="David Dihel" userId="S::david.dihel@teleinformatika.eu::f8f67d6a-a075-4804-8ca9-d48c598b6ce1" providerId="AD" clId="Web-{6DF16750-BA82-4B82-BA22-4DCE61703131}" dt="2024-02-12T11:31:24.181" v="7"/>
          <ac:inkMkLst>
            <pc:docMk/>
            <pc:sldMk cId="2899621081" sldId="1339"/>
            <ac:inkMk id="10" creationId="{301342ED-A85C-4ABB-ADC3-F28FC682A1D2}"/>
          </ac:inkMkLst>
        </pc:inkChg>
        <pc:inkChg chg="add del">
          <ac:chgData name="David Dihel" userId="S::david.dihel@teleinformatika.eu::f8f67d6a-a075-4804-8ca9-d48c598b6ce1" providerId="AD" clId="Web-{6DF16750-BA82-4B82-BA22-4DCE61703131}" dt="2024-02-12T11:32:29.730" v="18"/>
          <ac:inkMkLst>
            <pc:docMk/>
            <pc:sldMk cId="2899621081" sldId="1339"/>
            <ac:inkMk id="11" creationId="{F376EAA4-92BA-11A5-816F-3B4CE0600B0D}"/>
          </ac:inkMkLst>
        </pc:inkChg>
        <pc:inkChg chg="add del">
          <ac:chgData name="David Dihel" userId="S::david.dihel@teleinformatika.eu::f8f67d6a-a075-4804-8ca9-d48c598b6ce1" providerId="AD" clId="Web-{6DF16750-BA82-4B82-BA22-4DCE61703131}" dt="2024-02-12T11:32:29.730" v="17"/>
          <ac:inkMkLst>
            <pc:docMk/>
            <pc:sldMk cId="2899621081" sldId="1339"/>
            <ac:inkMk id="12" creationId="{5DA114F3-3222-1759-1358-8A2DA70F5EA6}"/>
          </ac:inkMkLst>
        </pc:inkChg>
        <pc:inkChg chg="add del">
          <ac:chgData name="David Dihel" userId="S::david.dihel@teleinformatika.eu::f8f67d6a-a075-4804-8ca9-d48c598b6ce1" providerId="AD" clId="Web-{6DF16750-BA82-4B82-BA22-4DCE61703131}" dt="2024-02-12T11:32:41.824" v="20"/>
          <ac:inkMkLst>
            <pc:docMk/>
            <pc:sldMk cId="2899621081" sldId="1339"/>
            <ac:inkMk id="13" creationId="{72E64DC1-99C4-3A47-5AB5-B1130A8CA1F0}"/>
          </ac:inkMkLst>
        </pc:inkChg>
      </pc:sldChg>
    </pc:docChg>
  </pc:docChgLst>
  <pc:docChgLst>
    <pc:chgData name="Oliver Dočkal" userId="S::oliver.dockal@teleinformatika.eu::57c7f18a-ce64-4730-8fc4-11be63ebeb10" providerId="AD" clId="Web-{595E11A5-2C0F-A681-E19F-FBC541D4276C}"/>
    <pc:docChg chg="sldOrd">
      <pc:chgData name="Oliver Dočkal" userId="S::oliver.dockal@teleinformatika.eu::57c7f18a-ce64-4730-8fc4-11be63ebeb10" providerId="AD" clId="Web-{595E11A5-2C0F-A681-E19F-FBC541D4276C}" dt="2024-02-25T17:38:58.689" v="0"/>
      <pc:docMkLst>
        <pc:docMk/>
      </pc:docMkLst>
      <pc:sldChg chg="ord">
        <pc:chgData name="Oliver Dočkal" userId="S::oliver.dockal@teleinformatika.eu::57c7f18a-ce64-4730-8fc4-11be63ebeb10" providerId="AD" clId="Web-{595E11A5-2C0F-A681-E19F-FBC541D4276C}" dt="2024-02-25T17:38:58.689" v="0"/>
        <pc:sldMkLst>
          <pc:docMk/>
          <pc:sldMk cId="3019281108" sldId="259"/>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svg"/><Relationship Id="rId1" Type="http://schemas.openxmlformats.org/officeDocument/2006/relationships/image" Target="../media/image46.png"/><Relationship Id="rId4" Type="http://schemas.openxmlformats.org/officeDocument/2006/relationships/image" Target="../media/image49.svg"/></Relationships>
</file>

<file path=ppt/diagrams/_rels/data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svg"/><Relationship Id="rId1" Type="http://schemas.openxmlformats.org/officeDocument/2006/relationships/image" Target="../media/image60.png"/><Relationship Id="rId4" Type="http://schemas.openxmlformats.org/officeDocument/2006/relationships/image" Target="../media/image6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svg"/><Relationship Id="rId1" Type="http://schemas.openxmlformats.org/officeDocument/2006/relationships/image" Target="../media/image46.png"/><Relationship Id="rId4" Type="http://schemas.openxmlformats.org/officeDocument/2006/relationships/image" Target="../media/image4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svg"/><Relationship Id="rId1" Type="http://schemas.openxmlformats.org/officeDocument/2006/relationships/image" Target="../media/image60.png"/><Relationship Id="rId4" Type="http://schemas.openxmlformats.org/officeDocument/2006/relationships/image" Target="../media/image63.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74BA731-C77F-49CF-B56C-323397CC3807}"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FB14C326-A86B-46B8-AF4F-C95DE4404246}">
      <dgm:prSet/>
      <dgm:spPr/>
      <dgm:t>
        <a:bodyPr/>
        <a:lstStyle/>
        <a:p>
          <a:r>
            <a:rPr lang="cs-CZ"/>
            <a:t>Pro úplnost je třeba uvést, že existuje rozšíření pro standard IEEE 802.11, známý jako IEEE802.11w, který řeší zabezpečení vybraných management rámců. </a:t>
          </a:r>
          <a:endParaRPr lang="en-US"/>
        </a:p>
      </dgm:t>
    </dgm:pt>
    <dgm:pt modelId="{8ED5B62B-143B-497C-BD6C-3DB402C016DE}" type="parTrans" cxnId="{479F82F9-563B-45B6-9BD4-46ADB21DFDC3}">
      <dgm:prSet/>
      <dgm:spPr/>
      <dgm:t>
        <a:bodyPr/>
        <a:lstStyle/>
        <a:p>
          <a:endParaRPr lang="en-US"/>
        </a:p>
      </dgm:t>
    </dgm:pt>
    <dgm:pt modelId="{E2A12BB9-8AF1-4AAA-9EBB-AAEDC9882BF5}" type="sibTrans" cxnId="{479F82F9-563B-45B6-9BD4-46ADB21DFDC3}">
      <dgm:prSet/>
      <dgm:spPr/>
      <dgm:t>
        <a:bodyPr/>
        <a:lstStyle/>
        <a:p>
          <a:endParaRPr lang="en-US"/>
        </a:p>
      </dgm:t>
    </dgm:pt>
    <dgm:pt modelId="{EA4510C1-DC69-41BD-A27E-7D8F9CCF9548}">
      <dgm:prSet/>
      <dgm:spPr/>
      <dgm:t>
        <a:bodyPr/>
        <a:lstStyle/>
        <a:p>
          <a:r>
            <a:rPr lang="cs-CZ"/>
            <a:t>V případě budování či rekonstrukce Wi-Fi sítě je vhodné vybírat prvky sítě podporující tento standard.</a:t>
          </a:r>
          <a:endParaRPr lang="en-US"/>
        </a:p>
      </dgm:t>
    </dgm:pt>
    <dgm:pt modelId="{2409AA50-614A-4844-9C32-8754A1C15475}" type="parTrans" cxnId="{B7A1FD04-32B3-4BC7-827C-FC2A28720835}">
      <dgm:prSet/>
      <dgm:spPr/>
      <dgm:t>
        <a:bodyPr/>
        <a:lstStyle/>
        <a:p>
          <a:endParaRPr lang="en-US"/>
        </a:p>
      </dgm:t>
    </dgm:pt>
    <dgm:pt modelId="{37A03565-AC03-471F-A0EC-5E9AE7D6AD29}" type="sibTrans" cxnId="{B7A1FD04-32B3-4BC7-827C-FC2A28720835}">
      <dgm:prSet/>
      <dgm:spPr/>
      <dgm:t>
        <a:bodyPr/>
        <a:lstStyle/>
        <a:p>
          <a:endParaRPr lang="en-US"/>
        </a:p>
      </dgm:t>
    </dgm:pt>
    <dgm:pt modelId="{D072F79E-E53B-4349-AF60-801E6F6B4223}" type="pres">
      <dgm:prSet presAssocID="{D74BA731-C77F-49CF-B56C-323397CC3807}" presName="root" presStyleCnt="0">
        <dgm:presLayoutVars>
          <dgm:dir/>
          <dgm:resizeHandles val="exact"/>
        </dgm:presLayoutVars>
      </dgm:prSet>
      <dgm:spPr/>
    </dgm:pt>
    <dgm:pt modelId="{9412FB79-FBED-4FA7-8585-C7FB9E4C8A5E}" type="pres">
      <dgm:prSet presAssocID="{FB14C326-A86B-46B8-AF4F-C95DE4404246}" presName="compNode" presStyleCnt="0"/>
      <dgm:spPr/>
    </dgm:pt>
    <dgm:pt modelId="{FFE3CCAE-176C-49EC-935A-F98F27C5FFCD}" type="pres">
      <dgm:prSet presAssocID="{FB14C326-A86B-46B8-AF4F-C95DE4404246}" presName="bgRect" presStyleLbl="bgShp" presStyleIdx="0" presStyleCnt="2"/>
      <dgm:spPr/>
    </dgm:pt>
    <dgm:pt modelId="{0D55F23F-15D1-436C-8EE4-375E22B6E78A}" type="pres">
      <dgm:prSet presAssocID="{FB14C326-A86B-46B8-AF4F-C95DE440424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or"/>
        </a:ext>
      </dgm:extLst>
    </dgm:pt>
    <dgm:pt modelId="{4EE3E120-2AEF-4E50-B647-A47D657190C0}" type="pres">
      <dgm:prSet presAssocID="{FB14C326-A86B-46B8-AF4F-C95DE4404246}" presName="spaceRect" presStyleCnt="0"/>
      <dgm:spPr/>
    </dgm:pt>
    <dgm:pt modelId="{7D879696-B92A-4DA4-90F8-70819D187B43}" type="pres">
      <dgm:prSet presAssocID="{FB14C326-A86B-46B8-AF4F-C95DE4404246}" presName="parTx" presStyleLbl="revTx" presStyleIdx="0" presStyleCnt="2">
        <dgm:presLayoutVars>
          <dgm:chMax val="0"/>
          <dgm:chPref val="0"/>
        </dgm:presLayoutVars>
      </dgm:prSet>
      <dgm:spPr/>
    </dgm:pt>
    <dgm:pt modelId="{D2C1B133-D925-4FD1-B334-0A8C9C01EECD}" type="pres">
      <dgm:prSet presAssocID="{E2A12BB9-8AF1-4AAA-9EBB-AAEDC9882BF5}" presName="sibTrans" presStyleCnt="0"/>
      <dgm:spPr/>
    </dgm:pt>
    <dgm:pt modelId="{DFF6ADFA-6785-48C1-B458-D7973D217751}" type="pres">
      <dgm:prSet presAssocID="{EA4510C1-DC69-41BD-A27E-7D8F9CCF9548}" presName="compNode" presStyleCnt="0"/>
      <dgm:spPr/>
    </dgm:pt>
    <dgm:pt modelId="{7E21CCDE-6B20-4C83-994F-F7CE2EBC6289}" type="pres">
      <dgm:prSet presAssocID="{EA4510C1-DC69-41BD-A27E-7D8F9CCF9548}" presName="bgRect" presStyleLbl="bgShp" presStyleIdx="1" presStyleCnt="2"/>
      <dgm:spPr/>
    </dgm:pt>
    <dgm:pt modelId="{FC2C4C1E-910B-44B8-8875-82E82D3FD9D8}" type="pres">
      <dgm:prSet presAssocID="{EA4510C1-DC69-41BD-A27E-7D8F9CCF954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ireless router"/>
        </a:ext>
      </dgm:extLst>
    </dgm:pt>
    <dgm:pt modelId="{B7A9927C-D21E-48F3-BF45-465FC46250B4}" type="pres">
      <dgm:prSet presAssocID="{EA4510C1-DC69-41BD-A27E-7D8F9CCF9548}" presName="spaceRect" presStyleCnt="0"/>
      <dgm:spPr/>
    </dgm:pt>
    <dgm:pt modelId="{82F08629-48A9-44A1-A2E6-812E8E5A3F77}" type="pres">
      <dgm:prSet presAssocID="{EA4510C1-DC69-41BD-A27E-7D8F9CCF9548}" presName="parTx" presStyleLbl="revTx" presStyleIdx="1" presStyleCnt="2">
        <dgm:presLayoutVars>
          <dgm:chMax val="0"/>
          <dgm:chPref val="0"/>
        </dgm:presLayoutVars>
      </dgm:prSet>
      <dgm:spPr/>
    </dgm:pt>
  </dgm:ptLst>
  <dgm:cxnLst>
    <dgm:cxn modelId="{B7A1FD04-32B3-4BC7-827C-FC2A28720835}" srcId="{D74BA731-C77F-49CF-B56C-323397CC3807}" destId="{EA4510C1-DC69-41BD-A27E-7D8F9CCF9548}" srcOrd="1" destOrd="0" parTransId="{2409AA50-614A-4844-9C32-8754A1C15475}" sibTransId="{37A03565-AC03-471F-A0EC-5E9AE7D6AD29}"/>
    <dgm:cxn modelId="{25F4F396-3472-40E1-8FD2-4CFBE659C752}" type="presOf" srcId="{FB14C326-A86B-46B8-AF4F-C95DE4404246}" destId="{7D879696-B92A-4DA4-90F8-70819D187B43}" srcOrd="0" destOrd="0" presId="urn:microsoft.com/office/officeart/2018/2/layout/IconVerticalSolidList"/>
    <dgm:cxn modelId="{22E8799F-FBB6-4BCF-AD43-E847E0DAF243}" type="presOf" srcId="{EA4510C1-DC69-41BD-A27E-7D8F9CCF9548}" destId="{82F08629-48A9-44A1-A2E6-812E8E5A3F77}" srcOrd="0" destOrd="0" presId="urn:microsoft.com/office/officeart/2018/2/layout/IconVerticalSolidList"/>
    <dgm:cxn modelId="{0D6B72EA-EED8-438D-8A27-8AD192E34C48}" type="presOf" srcId="{D74BA731-C77F-49CF-B56C-323397CC3807}" destId="{D072F79E-E53B-4349-AF60-801E6F6B4223}" srcOrd="0" destOrd="0" presId="urn:microsoft.com/office/officeart/2018/2/layout/IconVerticalSolidList"/>
    <dgm:cxn modelId="{479F82F9-563B-45B6-9BD4-46ADB21DFDC3}" srcId="{D74BA731-C77F-49CF-B56C-323397CC3807}" destId="{FB14C326-A86B-46B8-AF4F-C95DE4404246}" srcOrd="0" destOrd="0" parTransId="{8ED5B62B-143B-497C-BD6C-3DB402C016DE}" sibTransId="{E2A12BB9-8AF1-4AAA-9EBB-AAEDC9882BF5}"/>
    <dgm:cxn modelId="{D49255D5-7D93-415D-AB9F-AABF21270577}" type="presParOf" srcId="{D072F79E-E53B-4349-AF60-801E6F6B4223}" destId="{9412FB79-FBED-4FA7-8585-C7FB9E4C8A5E}" srcOrd="0" destOrd="0" presId="urn:microsoft.com/office/officeart/2018/2/layout/IconVerticalSolidList"/>
    <dgm:cxn modelId="{EE00465A-EF47-4751-92ED-D8E0ED4CFC2C}" type="presParOf" srcId="{9412FB79-FBED-4FA7-8585-C7FB9E4C8A5E}" destId="{FFE3CCAE-176C-49EC-935A-F98F27C5FFCD}" srcOrd="0" destOrd="0" presId="urn:microsoft.com/office/officeart/2018/2/layout/IconVerticalSolidList"/>
    <dgm:cxn modelId="{F36DA2DA-A5F3-4541-90AA-9A35EAFD6233}" type="presParOf" srcId="{9412FB79-FBED-4FA7-8585-C7FB9E4C8A5E}" destId="{0D55F23F-15D1-436C-8EE4-375E22B6E78A}" srcOrd="1" destOrd="0" presId="urn:microsoft.com/office/officeart/2018/2/layout/IconVerticalSolidList"/>
    <dgm:cxn modelId="{6D1A13C2-6EE8-4BBD-A288-45E2F56A8EFB}" type="presParOf" srcId="{9412FB79-FBED-4FA7-8585-C7FB9E4C8A5E}" destId="{4EE3E120-2AEF-4E50-B647-A47D657190C0}" srcOrd="2" destOrd="0" presId="urn:microsoft.com/office/officeart/2018/2/layout/IconVerticalSolidList"/>
    <dgm:cxn modelId="{87415427-F735-4CA2-9159-D3F959894152}" type="presParOf" srcId="{9412FB79-FBED-4FA7-8585-C7FB9E4C8A5E}" destId="{7D879696-B92A-4DA4-90F8-70819D187B43}" srcOrd="3" destOrd="0" presId="urn:microsoft.com/office/officeart/2018/2/layout/IconVerticalSolidList"/>
    <dgm:cxn modelId="{4EAC9345-F129-421B-8986-834C71DCEAB0}" type="presParOf" srcId="{D072F79E-E53B-4349-AF60-801E6F6B4223}" destId="{D2C1B133-D925-4FD1-B334-0A8C9C01EECD}" srcOrd="1" destOrd="0" presId="urn:microsoft.com/office/officeart/2018/2/layout/IconVerticalSolidList"/>
    <dgm:cxn modelId="{8DF65195-FEF4-42E3-912A-5CBBC75CFC25}" type="presParOf" srcId="{D072F79E-E53B-4349-AF60-801E6F6B4223}" destId="{DFF6ADFA-6785-48C1-B458-D7973D217751}" srcOrd="2" destOrd="0" presId="urn:microsoft.com/office/officeart/2018/2/layout/IconVerticalSolidList"/>
    <dgm:cxn modelId="{8EA8EC66-37EF-4AAD-A1BD-FB028FEC8895}" type="presParOf" srcId="{DFF6ADFA-6785-48C1-B458-D7973D217751}" destId="{7E21CCDE-6B20-4C83-994F-F7CE2EBC6289}" srcOrd="0" destOrd="0" presId="urn:microsoft.com/office/officeart/2018/2/layout/IconVerticalSolidList"/>
    <dgm:cxn modelId="{7B211B13-4C3E-4028-85BB-651D020C0856}" type="presParOf" srcId="{DFF6ADFA-6785-48C1-B458-D7973D217751}" destId="{FC2C4C1E-910B-44B8-8875-82E82D3FD9D8}" srcOrd="1" destOrd="0" presId="urn:microsoft.com/office/officeart/2018/2/layout/IconVerticalSolidList"/>
    <dgm:cxn modelId="{A0463912-9441-4C3A-B347-3E82DC88B59D}" type="presParOf" srcId="{DFF6ADFA-6785-48C1-B458-D7973D217751}" destId="{B7A9927C-D21E-48F3-BF45-465FC46250B4}" srcOrd="2" destOrd="0" presId="urn:microsoft.com/office/officeart/2018/2/layout/IconVerticalSolidList"/>
    <dgm:cxn modelId="{326162E5-B1B0-4373-BD84-CB9DD20DA43E}" type="presParOf" srcId="{DFF6ADFA-6785-48C1-B458-D7973D217751}" destId="{82F08629-48A9-44A1-A2E6-812E8E5A3F7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3E5ADE1-12CA-4741-8B69-753D6172F8CF}" type="doc">
      <dgm:prSet loTypeId="urn:microsoft.com/office/officeart/2018/2/layout/IconLabelList" loCatId="icon" qsTypeId="urn:microsoft.com/office/officeart/2005/8/quickstyle/simple1" qsCatId="simple" csTypeId="urn:microsoft.com/office/officeart/2005/8/colors/accent3_2" csCatId="accent3" phldr="1"/>
      <dgm:spPr/>
      <dgm:t>
        <a:bodyPr/>
        <a:lstStyle/>
        <a:p>
          <a:endParaRPr lang="en-US"/>
        </a:p>
      </dgm:t>
    </dgm:pt>
    <dgm:pt modelId="{54B36984-DCF3-478C-A138-A5F11F05EA07}">
      <dgm:prSet/>
      <dgm:spPr/>
      <dgm:t>
        <a:bodyPr/>
        <a:lstStyle/>
        <a:p>
          <a:r>
            <a:rPr lang="en-US"/>
            <a:t>Access Control List představuje základní možnost omezení prostupů z a dovnitř počítačové sítě.</a:t>
          </a:r>
        </a:p>
      </dgm:t>
    </dgm:pt>
    <dgm:pt modelId="{529BA64C-55B6-460E-B661-5611389CB3A0}" type="parTrans" cxnId="{2FF13FFD-E465-4068-BD58-D69F43197F4C}">
      <dgm:prSet/>
      <dgm:spPr/>
      <dgm:t>
        <a:bodyPr/>
        <a:lstStyle/>
        <a:p>
          <a:endParaRPr lang="en-US"/>
        </a:p>
      </dgm:t>
    </dgm:pt>
    <dgm:pt modelId="{C134510A-FF5A-4B89-BA6F-811DF0B73A58}" type="sibTrans" cxnId="{2FF13FFD-E465-4068-BD58-D69F43197F4C}">
      <dgm:prSet/>
      <dgm:spPr/>
      <dgm:t>
        <a:bodyPr/>
        <a:lstStyle/>
        <a:p>
          <a:endParaRPr lang="en-US"/>
        </a:p>
      </dgm:t>
    </dgm:pt>
    <dgm:pt modelId="{809EF436-3507-487F-B70B-423F7CBC22F5}">
      <dgm:prSet/>
      <dgm:spPr/>
      <dgm:t>
        <a:bodyPr/>
        <a:lstStyle/>
        <a:p>
          <a:r>
            <a:rPr lang="en-US"/>
            <a:t>Access Control List v pojetí počítačových sítí představuje pravidla, která řídí přístup k portům</a:t>
          </a:r>
          <a:r>
            <a:rPr lang="cs-CZ"/>
            <a:t> </a:t>
          </a:r>
          <a:r>
            <a:rPr lang="en-US"/>
            <a:t>či síťovým službám.</a:t>
          </a:r>
        </a:p>
      </dgm:t>
    </dgm:pt>
    <dgm:pt modelId="{C62C88A7-B1D4-4949-B23A-8F3D8541763F}" type="parTrans" cxnId="{37AC1434-560C-47B6-8634-A52CF5A07A56}">
      <dgm:prSet/>
      <dgm:spPr/>
      <dgm:t>
        <a:bodyPr/>
        <a:lstStyle/>
        <a:p>
          <a:endParaRPr lang="en-US"/>
        </a:p>
      </dgm:t>
    </dgm:pt>
    <dgm:pt modelId="{1AE7791B-E115-4B9E-93C8-052CD709745C}" type="sibTrans" cxnId="{37AC1434-560C-47B6-8634-A52CF5A07A56}">
      <dgm:prSet/>
      <dgm:spPr/>
      <dgm:t>
        <a:bodyPr/>
        <a:lstStyle/>
        <a:p>
          <a:endParaRPr lang="en-US"/>
        </a:p>
      </dgm:t>
    </dgm:pt>
    <dgm:pt modelId="{0D97AB79-25A7-4F68-ABC8-88BA720F3865}" type="pres">
      <dgm:prSet presAssocID="{E3E5ADE1-12CA-4741-8B69-753D6172F8CF}" presName="root" presStyleCnt="0">
        <dgm:presLayoutVars>
          <dgm:dir/>
          <dgm:resizeHandles val="exact"/>
        </dgm:presLayoutVars>
      </dgm:prSet>
      <dgm:spPr/>
    </dgm:pt>
    <dgm:pt modelId="{B8595661-8903-46A7-B6E7-90B5ACCBBDF1}" type="pres">
      <dgm:prSet presAssocID="{54B36984-DCF3-478C-A138-A5F11F05EA07}" presName="compNode" presStyleCnt="0"/>
      <dgm:spPr/>
    </dgm:pt>
    <dgm:pt modelId="{DC341B6E-BE94-44CF-9289-1C15D1113F63}" type="pres">
      <dgm:prSet presAssocID="{54B36984-DCF3-478C-A138-A5F11F05EA0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Varování"/>
        </a:ext>
      </dgm:extLst>
    </dgm:pt>
    <dgm:pt modelId="{2FDCBB4D-46C4-4A06-93FA-72CC2842C3F1}" type="pres">
      <dgm:prSet presAssocID="{54B36984-DCF3-478C-A138-A5F11F05EA07}" presName="spaceRect" presStyleCnt="0"/>
      <dgm:spPr/>
    </dgm:pt>
    <dgm:pt modelId="{E43B8E36-1D77-411A-9D7D-D6C9C8A17895}" type="pres">
      <dgm:prSet presAssocID="{54B36984-DCF3-478C-A138-A5F11F05EA07}" presName="textRect" presStyleLbl="revTx" presStyleIdx="0" presStyleCnt="2">
        <dgm:presLayoutVars>
          <dgm:chMax val="1"/>
          <dgm:chPref val="1"/>
        </dgm:presLayoutVars>
      </dgm:prSet>
      <dgm:spPr/>
    </dgm:pt>
    <dgm:pt modelId="{73EBDACE-32B6-4DC1-949F-2E4E2A324574}" type="pres">
      <dgm:prSet presAssocID="{C134510A-FF5A-4B89-BA6F-811DF0B73A58}" presName="sibTrans" presStyleCnt="0"/>
      <dgm:spPr/>
    </dgm:pt>
    <dgm:pt modelId="{55F6920E-57C7-4BCA-8CE0-E039E0754AA2}" type="pres">
      <dgm:prSet presAssocID="{809EF436-3507-487F-B70B-423F7CBC22F5}" presName="compNode" presStyleCnt="0"/>
      <dgm:spPr/>
    </dgm:pt>
    <dgm:pt modelId="{7F2C104C-8FBA-4CEA-9C38-C8D4505F6726}" type="pres">
      <dgm:prSet presAssocID="{809EF436-3507-487F-B70B-423F7CBC22F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ist"/>
        </a:ext>
      </dgm:extLst>
    </dgm:pt>
    <dgm:pt modelId="{B3AA07C1-E56C-4578-A400-E13BDF4C46E1}" type="pres">
      <dgm:prSet presAssocID="{809EF436-3507-487F-B70B-423F7CBC22F5}" presName="spaceRect" presStyleCnt="0"/>
      <dgm:spPr/>
    </dgm:pt>
    <dgm:pt modelId="{2204EA02-A3A7-4990-B658-5471C9408981}" type="pres">
      <dgm:prSet presAssocID="{809EF436-3507-487F-B70B-423F7CBC22F5}" presName="textRect" presStyleLbl="revTx" presStyleIdx="1" presStyleCnt="2">
        <dgm:presLayoutVars>
          <dgm:chMax val="1"/>
          <dgm:chPref val="1"/>
        </dgm:presLayoutVars>
      </dgm:prSet>
      <dgm:spPr/>
    </dgm:pt>
  </dgm:ptLst>
  <dgm:cxnLst>
    <dgm:cxn modelId="{37AC1434-560C-47B6-8634-A52CF5A07A56}" srcId="{E3E5ADE1-12CA-4741-8B69-753D6172F8CF}" destId="{809EF436-3507-487F-B70B-423F7CBC22F5}" srcOrd="1" destOrd="0" parTransId="{C62C88A7-B1D4-4949-B23A-8F3D8541763F}" sibTransId="{1AE7791B-E115-4B9E-93C8-052CD709745C}"/>
    <dgm:cxn modelId="{510ECB83-62A9-4B39-BD4B-A4E5B43E5F4E}" type="presOf" srcId="{E3E5ADE1-12CA-4741-8B69-753D6172F8CF}" destId="{0D97AB79-25A7-4F68-ABC8-88BA720F3865}" srcOrd="0" destOrd="0" presId="urn:microsoft.com/office/officeart/2018/2/layout/IconLabelList"/>
    <dgm:cxn modelId="{E826219C-2FE4-4277-9A5A-E8B5E8E41620}" type="presOf" srcId="{809EF436-3507-487F-B70B-423F7CBC22F5}" destId="{2204EA02-A3A7-4990-B658-5471C9408981}" srcOrd="0" destOrd="0" presId="urn:microsoft.com/office/officeart/2018/2/layout/IconLabelList"/>
    <dgm:cxn modelId="{0612E0A1-57BE-477F-A5F7-62A00C071879}" type="presOf" srcId="{54B36984-DCF3-478C-A138-A5F11F05EA07}" destId="{E43B8E36-1D77-411A-9D7D-D6C9C8A17895}" srcOrd="0" destOrd="0" presId="urn:microsoft.com/office/officeart/2018/2/layout/IconLabelList"/>
    <dgm:cxn modelId="{2FF13FFD-E465-4068-BD58-D69F43197F4C}" srcId="{E3E5ADE1-12CA-4741-8B69-753D6172F8CF}" destId="{54B36984-DCF3-478C-A138-A5F11F05EA07}" srcOrd="0" destOrd="0" parTransId="{529BA64C-55B6-460E-B661-5611389CB3A0}" sibTransId="{C134510A-FF5A-4B89-BA6F-811DF0B73A58}"/>
    <dgm:cxn modelId="{D6B65869-21DC-4F4D-A6ED-7BC3739CF14D}" type="presParOf" srcId="{0D97AB79-25A7-4F68-ABC8-88BA720F3865}" destId="{B8595661-8903-46A7-B6E7-90B5ACCBBDF1}" srcOrd="0" destOrd="0" presId="urn:microsoft.com/office/officeart/2018/2/layout/IconLabelList"/>
    <dgm:cxn modelId="{EB701949-01A1-4324-9586-37F0FDA3C917}" type="presParOf" srcId="{B8595661-8903-46A7-B6E7-90B5ACCBBDF1}" destId="{DC341B6E-BE94-44CF-9289-1C15D1113F63}" srcOrd="0" destOrd="0" presId="urn:microsoft.com/office/officeart/2018/2/layout/IconLabelList"/>
    <dgm:cxn modelId="{8AE9609D-C02D-47C3-B1C5-19C666CE4193}" type="presParOf" srcId="{B8595661-8903-46A7-B6E7-90B5ACCBBDF1}" destId="{2FDCBB4D-46C4-4A06-93FA-72CC2842C3F1}" srcOrd="1" destOrd="0" presId="urn:microsoft.com/office/officeart/2018/2/layout/IconLabelList"/>
    <dgm:cxn modelId="{9E5A9C8C-8F89-4777-83B8-C29819DC65D4}" type="presParOf" srcId="{B8595661-8903-46A7-B6E7-90B5ACCBBDF1}" destId="{E43B8E36-1D77-411A-9D7D-D6C9C8A17895}" srcOrd="2" destOrd="0" presId="urn:microsoft.com/office/officeart/2018/2/layout/IconLabelList"/>
    <dgm:cxn modelId="{35C9899E-E04B-41CF-946A-CFBDB4A9326C}" type="presParOf" srcId="{0D97AB79-25A7-4F68-ABC8-88BA720F3865}" destId="{73EBDACE-32B6-4DC1-949F-2E4E2A324574}" srcOrd="1" destOrd="0" presId="urn:microsoft.com/office/officeart/2018/2/layout/IconLabelList"/>
    <dgm:cxn modelId="{9F07AEDF-D79E-4928-A3BC-2FE2CE68B663}" type="presParOf" srcId="{0D97AB79-25A7-4F68-ABC8-88BA720F3865}" destId="{55F6920E-57C7-4BCA-8CE0-E039E0754AA2}" srcOrd="2" destOrd="0" presId="urn:microsoft.com/office/officeart/2018/2/layout/IconLabelList"/>
    <dgm:cxn modelId="{CE352156-BE09-4454-A5DD-F01F5DCB60D4}" type="presParOf" srcId="{55F6920E-57C7-4BCA-8CE0-E039E0754AA2}" destId="{7F2C104C-8FBA-4CEA-9C38-C8D4505F6726}" srcOrd="0" destOrd="0" presId="urn:microsoft.com/office/officeart/2018/2/layout/IconLabelList"/>
    <dgm:cxn modelId="{9060FC1A-F831-4739-A066-28B576F45E34}" type="presParOf" srcId="{55F6920E-57C7-4BCA-8CE0-E039E0754AA2}" destId="{B3AA07C1-E56C-4578-A400-E13BDF4C46E1}" srcOrd="1" destOrd="0" presId="urn:microsoft.com/office/officeart/2018/2/layout/IconLabelList"/>
    <dgm:cxn modelId="{2A256590-01D5-4988-B4FC-1CA3C5667FF0}" type="presParOf" srcId="{55F6920E-57C7-4BCA-8CE0-E039E0754AA2}" destId="{2204EA02-A3A7-4990-B658-5471C9408981}"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1731271-D625-494B-9AE0-BA33C1A04CC9}" type="doc">
      <dgm:prSet loTypeId="urn:microsoft.com/office/officeart/2005/8/layout/default" loCatId="list" qsTypeId="urn:microsoft.com/office/officeart/2005/8/quickstyle/simple4" qsCatId="simple" csTypeId="urn:microsoft.com/office/officeart/2005/8/colors/accent2_2" csCatId="accent2"/>
      <dgm:spPr/>
      <dgm:t>
        <a:bodyPr/>
        <a:lstStyle/>
        <a:p>
          <a:endParaRPr lang="en-US"/>
        </a:p>
      </dgm:t>
    </dgm:pt>
    <dgm:pt modelId="{F5CA3765-D4FD-4270-AC9B-A1E1747E95D4}">
      <dgm:prSet/>
      <dgm:spPr/>
      <dgm:t>
        <a:bodyPr/>
        <a:lstStyle/>
        <a:p>
          <a:r>
            <a:rPr lang="en-US"/>
            <a:t>Únik dat</a:t>
          </a:r>
        </a:p>
      </dgm:t>
    </dgm:pt>
    <dgm:pt modelId="{564D6B05-BC7D-4CE1-B2ED-5C3ECC00D02F}" type="parTrans" cxnId="{4F104029-63A6-43D0-844D-B1C5E25E139F}">
      <dgm:prSet/>
      <dgm:spPr/>
      <dgm:t>
        <a:bodyPr/>
        <a:lstStyle/>
        <a:p>
          <a:endParaRPr lang="en-US"/>
        </a:p>
      </dgm:t>
    </dgm:pt>
    <dgm:pt modelId="{F4441A34-A435-4CC0-8C0B-4D6E9BBB46A9}" type="sibTrans" cxnId="{4F104029-63A6-43D0-844D-B1C5E25E139F}">
      <dgm:prSet/>
      <dgm:spPr/>
      <dgm:t>
        <a:bodyPr/>
        <a:lstStyle/>
        <a:p>
          <a:endParaRPr lang="en-US"/>
        </a:p>
      </dgm:t>
    </dgm:pt>
    <dgm:pt modelId="{DDE02F71-F96C-4A65-A493-65C3A071EEE5}">
      <dgm:prSet/>
      <dgm:spPr/>
      <dgm:t>
        <a:bodyPr/>
        <a:lstStyle/>
        <a:p>
          <a:r>
            <a:rPr lang="en-US"/>
            <a:t>Nezabezpečené Wi-Fi sítě</a:t>
          </a:r>
        </a:p>
      </dgm:t>
    </dgm:pt>
    <dgm:pt modelId="{05B66BE4-E050-4D03-9E3E-06027E867FE2}" type="parTrans" cxnId="{89FAD5C8-9194-443F-AF7E-6B5F69B6C341}">
      <dgm:prSet/>
      <dgm:spPr/>
      <dgm:t>
        <a:bodyPr/>
        <a:lstStyle/>
        <a:p>
          <a:endParaRPr lang="en-US"/>
        </a:p>
      </dgm:t>
    </dgm:pt>
    <dgm:pt modelId="{AE65C8D7-A26D-4EBF-811D-E2E1CF1BCD66}" type="sibTrans" cxnId="{89FAD5C8-9194-443F-AF7E-6B5F69B6C341}">
      <dgm:prSet/>
      <dgm:spPr/>
      <dgm:t>
        <a:bodyPr/>
        <a:lstStyle/>
        <a:p>
          <a:endParaRPr lang="en-US"/>
        </a:p>
      </dgm:t>
    </dgm:pt>
    <dgm:pt modelId="{C529AC90-4FEB-4401-BB04-A3EAE003DD74}">
      <dgm:prSet/>
      <dgm:spPr/>
      <dgm:t>
        <a:bodyPr/>
        <a:lstStyle/>
        <a:p>
          <a:r>
            <a:rPr lang="en-US"/>
            <a:t>Spoofing sítí</a:t>
          </a:r>
        </a:p>
      </dgm:t>
    </dgm:pt>
    <dgm:pt modelId="{490E006E-844B-4579-B2CF-39F25CD0CF5B}" type="parTrans" cxnId="{7B8B18BF-E14C-4B23-85C9-2C6D6489310B}">
      <dgm:prSet/>
      <dgm:spPr/>
      <dgm:t>
        <a:bodyPr/>
        <a:lstStyle/>
        <a:p>
          <a:endParaRPr lang="en-US"/>
        </a:p>
      </dgm:t>
    </dgm:pt>
    <dgm:pt modelId="{A2680A9B-DA94-44E3-B6D3-DA560B09026C}" type="sibTrans" cxnId="{7B8B18BF-E14C-4B23-85C9-2C6D6489310B}">
      <dgm:prSet/>
      <dgm:spPr/>
      <dgm:t>
        <a:bodyPr/>
        <a:lstStyle/>
        <a:p>
          <a:endParaRPr lang="en-US"/>
        </a:p>
      </dgm:t>
    </dgm:pt>
    <dgm:pt modelId="{33425A69-D959-4ECC-9295-00ACDEBA050C}">
      <dgm:prSet/>
      <dgm:spPr/>
      <dgm:t>
        <a:bodyPr/>
        <a:lstStyle/>
        <a:p>
          <a:r>
            <a:rPr lang="en-US"/>
            <a:t>Phishingové útoky</a:t>
          </a:r>
        </a:p>
      </dgm:t>
    </dgm:pt>
    <dgm:pt modelId="{64E5D7C8-0264-402B-BD9B-5602738B62EC}" type="parTrans" cxnId="{3BBB03B7-A546-49A5-A2DA-95E9D8ADE575}">
      <dgm:prSet/>
      <dgm:spPr/>
      <dgm:t>
        <a:bodyPr/>
        <a:lstStyle/>
        <a:p>
          <a:endParaRPr lang="en-US"/>
        </a:p>
      </dgm:t>
    </dgm:pt>
    <dgm:pt modelId="{B3957B83-9844-4E40-8C3E-2C564B5DF769}" type="sibTrans" cxnId="{3BBB03B7-A546-49A5-A2DA-95E9D8ADE575}">
      <dgm:prSet/>
      <dgm:spPr/>
      <dgm:t>
        <a:bodyPr/>
        <a:lstStyle/>
        <a:p>
          <a:endParaRPr lang="en-US"/>
        </a:p>
      </dgm:t>
    </dgm:pt>
    <dgm:pt modelId="{0D8273DE-34C4-4F2D-82AC-227F860CE01B}">
      <dgm:prSet/>
      <dgm:spPr/>
      <dgm:t>
        <a:bodyPr/>
        <a:lstStyle/>
        <a:p>
          <a:r>
            <a:rPr lang="en-US"/>
            <a:t>Spyware</a:t>
          </a:r>
        </a:p>
      </dgm:t>
    </dgm:pt>
    <dgm:pt modelId="{A2ABD3DB-424A-4256-981F-B5C0A2018035}" type="parTrans" cxnId="{6BFEA812-FBD7-4033-BE20-6BABA87815C2}">
      <dgm:prSet/>
      <dgm:spPr/>
      <dgm:t>
        <a:bodyPr/>
        <a:lstStyle/>
        <a:p>
          <a:endParaRPr lang="en-US"/>
        </a:p>
      </dgm:t>
    </dgm:pt>
    <dgm:pt modelId="{C60D26FA-2D15-41CF-B8FF-CC033B393C94}" type="sibTrans" cxnId="{6BFEA812-FBD7-4033-BE20-6BABA87815C2}">
      <dgm:prSet/>
      <dgm:spPr/>
      <dgm:t>
        <a:bodyPr/>
        <a:lstStyle/>
        <a:p>
          <a:endParaRPr lang="en-US"/>
        </a:p>
      </dgm:t>
    </dgm:pt>
    <dgm:pt modelId="{5AC593C0-FFF2-4397-B2EE-8016DC1C9274}" type="pres">
      <dgm:prSet presAssocID="{C1731271-D625-494B-9AE0-BA33C1A04CC9}" presName="diagram" presStyleCnt="0">
        <dgm:presLayoutVars>
          <dgm:dir/>
          <dgm:resizeHandles val="exact"/>
        </dgm:presLayoutVars>
      </dgm:prSet>
      <dgm:spPr/>
    </dgm:pt>
    <dgm:pt modelId="{CF1331DA-A3E2-4EC6-97E7-C21F82E6041B}" type="pres">
      <dgm:prSet presAssocID="{F5CA3765-D4FD-4270-AC9B-A1E1747E95D4}" presName="node" presStyleLbl="node1" presStyleIdx="0" presStyleCnt="5">
        <dgm:presLayoutVars>
          <dgm:bulletEnabled val="1"/>
        </dgm:presLayoutVars>
      </dgm:prSet>
      <dgm:spPr/>
    </dgm:pt>
    <dgm:pt modelId="{F10025D8-E647-4ACD-B217-5AFBD03F947A}" type="pres">
      <dgm:prSet presAssocID="{F4441A34-A435-4CC0-8C0B-4D6E9BBB46A9}" presName="sibTrans" presStyleCnt="0"/>
      <dgm:spPr/>
    </dgm:pt>
    <dgm:pt modelId="{F037C931-36DB-45C5-B98B-B10501543AFE}" type="pres">
      <dgm:prSet presAssocID="{DDE02F71-F96C-4A65-A493-65C3A071EEE5}" presName="node" presStyleLbl="node1" presStyleIdx="1" presStyleCnt="5">
        <dgm:presLayoutVars>
          <dgm:bulletEnabled val="1"/>
        </dgm:presLayoutVars>
      </dgm:prSet>
      <dgm:spPr/>
    </dgm:pt>
    <dgm:pt modelId="{9C98373E-B6EF-4668-BB9A-DFC295F98DC1}" type="pres">
      <dgm:prSet presAssocID="{AE65C8D7-A26D-4EBF-811D-E2E1CF1BCD66}" presName="sibTrans" presStyleCnt="0"/>
      <dgm:spPr/>
    </dgm:pt>
    <dgm:pt modelId="{DA1A50A6-F25E-462C-981C-9776C7B64702}" type="pres">
      <dgm:prSet presAssocID="{C529AC90-4FEB-4401-BB04-A3EAE003DD74}" presName="node" presStyleLbl="node1" presStyleIdx="2" presStyleCnt="5">
        <dgm:presLayoutVars>
          <dgm:bulletEnabled val="1"/>
        </dgm:presLayoutVars>
      </dgm:prSet>
      <dgm:spPr/>
    </dgm:pt>
    <dgm:pt modelId="{60B8FBCE-9062-4AC8-AF3A-F171A1EA49C0}" type="pres">
      <dgm:prSet presAssocID="{A2680A9B-DA94-44E3-B6D3-DA560B09026C}" presName="sibTrans" presStyleCnt="0"/>
      <dgm:spPr/>
    </dgm:pt>
    <dgm:pt modelId="{D6A7D1EF-3426-41F7-8625-2894D650776F}" type="pres">
      <dgm:prSet presAssocID="{33425A69-D959-4ECC-9295-00ACDEBA050C}" presName="node" presStyleLbl="node1" presStyleIdx="3" presStyleCnt="5">
        <dgm:presLayoutVars>
          <dgm:bulletEnabled val="1"/>
        </dgm:presLayoutVars>
      </dgm:prSet>
      <dgm:spPr/>
    </dgm:pt>
    <dgm:pt modelId="{22298928-36BF-4B46-9BDC-865611915237}" type="pres">
      <dgm:prSet presAssocID="{B3957B83-9844-4E40-8C3E-2C564B5DF769}" presName="sibTrans" presStyleCnt="0"/>
      <dgm:spPr/>
    </dgm:pt>
    <dgm:pt modelId="{1A32782A-E00F-4CC2-ADB8-C38DF253F914}" type="pres">
      <dgm:prSet presAssocID="{0D8273DE-34C4-4F2D-82AC-227F860CE01B}" presName="node" presStyleLbl="node1" presStyleIdx="4" presStyleCnt="5">
        <dgm:presLayoutVars>
          <dgm:bulletEnabled val="1"/>
        </dgm:presLayoutVars>
      </dgm:prSet>
      <dgm:spPr/>
    </dgm:pt>
  </dgm:ptLst>
  <dgm:cxnLst>
    <dgm:cxn modelId="{6BFEA812-FBD7-4033-BE20-6BABA87815C2}" srcId="{C1731271-D625-494B-9AE0-BA33C1A04CC9}" destId="{0D8273DE-34C4-4F2D-82AC-227F860CE01B}" srcOrd="4" destOrd="0" parTransId="{A2ABD3DB-424A-4256-981F-B5C0A2018035}" sibTransId="{C60D26FA-2D15-41CF-B8FF-CC033B393C94}"/>
    <dgm:cxn modelId="{52D39F15-7EE8-4C0C-BCE0-CD50D16788A2}" type="presOf" srcId="{C529AC90-4FEB-4401-BB04-A3EAE003DD74}" destId="{DA1A50A6-F25E-462C-981C-9776C7B64702}" srcOrd="0" destOrd="0" presId="urn:microsoft.com/office/officeart/2005/8/layout/default"/>
    <dgm:cxn modelId="{4F104029-63A6-43D0-844D-B1C5E25E139F}" srcId="{C1731271-D625-494B-9AE0-BA33C1A04CC9}" destId="{F5CA3765-D4FD-4270-AC9B-A1E1747E95D4}" srcOrd="0" destOrd="0" parTransId="{564D6B05-BC7D-4CE1-B2ED-5C3ECC00D02F}" sibTransId="{F4441A34-A435-4CC0-8C0B-4D6E9BBB46A9}"/>
    <dgm:cxn modelId="{D6B22155-516C-4A19-BE7E-B86A72F9D588}" type="presOf" srcId="{DDE02F71-F96C-4A65-A493-65C3A071EEE5}" destId="{F037C931-36DB-45C5-B98B-B10501543AFE}" srcOrd="0" destOrd="0" presId="urn:microsoft.com/office/officeart/2005/8/layout/default"/>
    <dgm:cxn modelId="{A3D16E5A-7D41-4AB9-9D72-C32B71570D2F}" type="presOf" srcId="{0D8273DE-34C4-4F2D-82AC-227F860CE01B}" destId="{1A32782A-E00F-4CC2-ADB8-C38DF253F914}" srcOrd="0" destOrd="0" presId="urn:microsoft.com/office/officeart/2005/8/layout/default"/>
    <dgm:cxn modelId="{131E7492-657B-4246-A174-0587131FAE32}" type="presOf" srcId="{F5CA3765-D4FD-4270-AC9B-A1E1747E95D4}" destId="{CF1331DA-A3E2-4EC6-97E7-C21F82E6041B}" srcOrd="0" destOrd="0" presId="urn:microsoft.com/office/officeart/2005/8/layout/default"/>
    <dgm:cxn modelId="{77AE60B0-007F-4C3C-9148-7FCE0DE91AFB}" type="presOf" srcId="{33425A69-D959-4ECC-9295-00ACDEBA050C}" destId="{D6A7D1EF-3426-41F7-8625-2894D650776F}" srcOrd="0" destOrd="0" presId="urn:microsoft.com/office/officeart/2005/8/layout/default"/>
    <dgm:cxn modelId="{3BBB03B7-A546-49A5-A2DA-95E9D8ADE575}" srcId="{C1731271-D625-494B-9AE0-BA33C1A04CC9}" destId="{33425A69-D959-4ECC-9295-00ACDEBA050C}" srcOrd="3" destOrd="0" parTransId="{64E5D7C8-0264-402B-BD9B-5602738B62EC}" sibTransId="{B3957B83-9844-4E40-8C3E-2C564B5DF769}"/>
    <dgm:cxn modelId="{7B8B18BF-E14C-4B23-85C9-2C6D6489310B}" srcId="{C1731271-D625-494B-9AE0-BA33C1A04CC9}" destId="{C529AC90-4FEB-4401-BB04-A3EAE003DD74}" srcOrd="2" destOrd="0" parTransId="{490E006E-844B-4579-B2CF-39F25CD0CF5B}" sibTransId="{A2680A9B-DA94-44E3-B6D3-DA560B09026C}"/>
    <dgm:cxn modelId="{89FAD5C8-9194-443F-AF7E-6B5F69B6C341}" srcId="{C1731271-D625-494B-9AE0-BA33C1A04CC9}" destId="{DDE02F71-F96C-4A65-A493-65C3A071EEE5}" srcOrd="1" destOrd="0" parTransId="{05B66BE4-E050-4D03-9E3E-06027E867FE2}" sibTransId="{AE65C8D7-A26D-4EBF-811D-E2E1CF1BCD66}"/>
    <dgm:cxn modelId="{8DB2B1D8-3E87-4109-B28F-DECEBCEAC13A}" type="presOf" srcId="{C1731271-D625-494B-9AE0-BA33C1A04CC9}" destId="{5AC593C0-FFF2-4397-B2EE-8016DC1C9274}" srcOrd="0" destOrd="0" presId="urn:microsoft.com/office/officeart/2005/8/layout/default"/>
    <dgm:cxn modelId="{67132EF9-2865-4A29-A9C1-82400396D58D}" type="presParOf" srcId="{5AC593C0-FFF2-4397-B2EE-8016DC1C9274}" destId="{CF1331DA-A3E2-4EC6-97E7-C21F82E6041B}" srcOrd="0" destOrd="0" presId="urn:microsoft.com/office/officeart/2005/8/layout/default"/>
    <dgm:cxn modelId="{DE136E08-DEF3-4B38-ADCB-3E29DA4A9F99}" type="presParOf" srcId="{5AC593C0-FFF2-4397-B2EE-8016DC1C9274}" destId="{F10025D8-E647-4ACD-B217-5AFBD03F947A}" srcOrd="1" destOrd="0" presId="urn:microsoft.com/office/officeart/2005/8/layout/default"/>
    <dgm:cxn modelId="{7E337042-CC21-4141-AD7C-4BD15797CD92}" type="presParOf" srcId="{5AC593C0-FFF2-4397-B2EE-8016DC1C9274}" destId="{F037C931-36DB-45C5-B98B-B10501543AFE}" srcOrd="2" destOrd="0" presId="urn:microsoft.com/office/officeart/2005/8/layout/default"/>
    <dgm:cxn modelId="{35C6680B-BE90-4BE9-8E45-9D87C10DF400}" type="presParOf" srcId="{5AC593C0-FFF2-4397-B2EE-8016DC1C9274}" destId="{9C98373E-B6EF-4668-BB9A-DFC295F98DC1}" srcOrd="3" destOrd="0" presId="urn:microsoft.com/office/officeart/2005/8/layout/default"/>
    <dgm:cxn modelId="{1F354745-7B74-443C-8470-F522050156F8}" type="presParOf" srcId="{5AC593C0-FFF2-4397-B2EE-8016DC1C9274}" destId="{DA1A50A6-F25E-462C-981C-9776C7B64702}" srcOrd="4" destOrd="0" presId="urn:microsoft.com/office/officeart/2005/8/layout/default"/>
    <dgm:cxn modelId="{709B10C2-1A22-463F-9E15-9F6FC8461D06}" type="presParOf" srcId="{5AC593C0-FFF2-4397-B2EE-8016DC1C9274}" destId="{60B8FBCE-9062-4AC8-AF3A-F171A1EA49C0}" srcOrd="5" destOrd="0" presId="urn:microsoft.com/office/officeart/2005/8/layout/default"/>
    <dgm:cxn modelId="{E3FC5BE6-DC1E-419A-8BE1-4C256578F2DC}" type="presParOf" srcId="{5AC593C0-FFF2-4397-B2EE-8016DC1C9274}" destId="{D6A7D1EF-3426-41F7-8625-2894D650776F}" srcOrd="6" destOrd="0" presId="urn:microsoft.com/office/officeart/2005/8/layout/default"/>
    <dgm:cxn modelId="{5BE359E5-404E-4F4E-8098-A4DA5A547E59}" type="presParOf" srcId="{5AC593C0-FFF2-4397-B2EE-8016DC1C9274}" destId="{22298928-36BF-4B46-9BDC-865611915237}" srcOrd="7" destOrd="0" presId="urn:microsoft.com/office/officeart/2005/8/layout/default"/>
    <dgm:cxn modelId="{E9980623-9B7E-41D0-9DE5-10C3A2715478}" type="presParOf" srcId="{5AC593C0-FFF2-4397-B2EE-8016DC1C9274}" destId="{1A32782A-E00F-4CC2-ADB8-C38DF253F914}"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E3CCAE-176C-49EC-935A-F98F27C5FFCD}">
      <dsp:nvSpPr>
        <dsp:cNvPr id="0" name=""/>
        <dsp:cNvSpPr/>
      </dsp:nvSpPr>
      <dsp:spPr>
        <a:xfrm>
          <a:off x="0" y="707092"/>
          <a:ext cx="10515600" cy="130540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55F23F-15D1-436C-8EE4-375E22B6E78A}">
      <dsp:nvSpPr>
        <dsp:cNvPr id="0" name=""/>
        <dsp:cNvSpPr/>
      </dsp:nvSpPr>
      <dsp:spPr>
        <a:xfrm>
          <a:off x="394883" y="1000807"/>
          <a:ext cx="717970" cy="7179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879696-B92A-4DA4-90F8-70819D187B43}">
      <dsp:nvSpPr>
        <dsp:cNvPr id="0" name=""/>
        <dsp:cNvSpPr/>
      </dsp:nvSpPr>
      <dsp:spPr>
        <a:xfrm>
          <a:off x="1507738" y="707092"/>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066800">
            <a:lnSpc>
              <a:spcPct val="90000"/>
            </a:lnSpc>
            <a:spcBef>
              <a:spcPct val="0"/>
            </a:spcBef>
            <a:spcAft>
              <a:spcPct val="35000"/>
            </a:spcAft>
            <a:buNone/>
          </a:pPr>
          <a:r>
            <a:rPr lang="cs-CZ" sz="2400" kern="1200"/>
            <a:t>Pro úplnost je třeba uvést, že existuje rozšíření pro standard IEEE 802.11, známý jako IEEE802.11w, který řeší zabezpečení vybraných management rámců. </a:t>
          </a:r>
          <a:endParaRPr lang="en-US" sz="2400" kern="1200"/>
        </a:p>
      </dsp:txBody>
      <dsp:txXfrm>
        <a:off x="1507738" y="707092"/>
        <a:ext cx="9007861" cy="1305401"/>
      </dsp:txXfrm>
    </dsp:sp>
    <dsp:sp modelId="{7E21CCDE-6B20-4C83-994F-F7CE2EBC6289}">
      <dsp:nvSpPr>
        <dsp:cNvPr id="0" name=""/>
        <dsp:cNvSpPr/>
      </dsp:nvSpPr>
      <dsp:spPr>
        <a:xfrm>
          <a:off x="0" y="2338844"/>
          <a:ext cx="10515600" cy="130540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2C4C1E-910B-44B8-8875-82E82D3FD9D8}">
      <dsp:nvSpPr>
        <dsp:cNvPr id="0" name=""/>
        <dsp:cNvSpPr/>
      </dsp:nvSpPr>
      <dsp:spPr>
        <a:xfrm>
          <a:off x="394883" y="2632559"/>
          <a:ext cx="717970" cy="7179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F08629-48A9-44A1-A2E6-812E8E5A3F77}">
      <dsp:nvSpPr>
        <dsp:cNvPr id="0" name=""/>
        <dsp:cNvSpPr/>
      </dsp:nvSpPr>
      <dsp:spPr>
        <a:xfrm>
          <a:off x="1507738" y="2338844"/>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066800">
            <a:lnSpc>
              <a:spcPct val="90000"/>
            </a:lnSpc>
            <a:spcBef>
              <a:spcPct val="0"/>
            </a:spcBef>
            <a:spcAft>
              <a:spcPct val="35000"/>
            </a:spcAft>
            <a:buNone/>
          </a:pPr>
          <a:r>
            <a:rPr lang="cs-CZ" sz="2400" kern="1200"/>
            <a:t>V případě budování či rekonstrukce Wi-Fi sítě je vhodné vybírat prvky sítě podporující tento standard.</a:t>
          </a:r>
          <a:endParaRPr lang="en-US" sz="2400" kern="1200"/>
        </a:p>
      </dsp:txBody>
      <dsp:txXfrm>
        <a:off x="1507738" y="2338844"/>
        <a:ext cx="9007861" cy="13054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341B6E-BE94-44CF-9289-1C15D1113F63}">
      <dsp:nvSpPr>
        <dsp:cNvPr id="0" name=""/>
        <dsp:cNvSpPr/>
      </dsp:nvSpPr>
      <dsp:spPr>
        <a:xfrm>
          <a:off x="1747800" y="608594"/>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43B8E36-1D77-411A-9D7D-D6C9C8A17895}">
      <dsp:nvSpPr>
        <dsp:cNvPr id="0" name=""/>
        <dsp:cNvSpPr/>
      </dsp:nvSpPr>
      <dsp:spPr>
        <a:xfrm>
          <a:off x="559800" y="3022743"/>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Access Control List představuje základní možnost omezení prostupů z a dovnitř počítačové sítě.</a:t>
          </a:r>
        </a:p>
      </dsp:txBody>
      <dsp:txXfrm>
        <a:off x="559800" y="3022743"/>
        <a:ext cx="4320000" cy="720000"/>
      </dsp:txXfrm>
    </dsp:sp>
    <dsp:sp modelId="{7F2C104C-8FBA-4CEA-9C38-C8D4505F6726}">
      <dsp:nvSpPr>
        <dsp:cNvPr id="0" name=""/>
        <dsp:cNvSpPr/>
      </dsp:nvSpPr>
      <dsp:spPr>
        <a:xfrm>
          <a:off x="6823800" y="608594"/>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204EA02-A3A7-4990-B658-5471C9408981}">
      <dsp:nvSpPr>
        <dsp:cNvPr id="0" name=""/>
        <dsp:cNvSpPr/>
      </dsp:nvSpPr>
      <dsp:spPr>
        <a:xfrm>
          <a:off x="5635800" y="3022743"/>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Access Control List v pojetí počítačových sítí představuje pravidla, která řídí přístup k portům</a:t>
          </a:r>
          <a:r>
            <a:rPr lang="cs-CZ" sz="1700" kern="1200"/>
            <a:t> </a:t>
          </a:r>
          <a:r>
            <a:rPr lang="en-US" sz="1700" kern="1200"/>
            <a:t>či síťovým službám.</a:t>
          </a:r>
        </a:p>
      </dsp:txBody>
      <dsp:txXfrm>
        <a:off x="5635800" y="3022743"/>
        <a:ext cx="43200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1331DA-A3E2-4EC6-97E7-C21F82E6041B}">
      <dsp:nvSpPr>
        <dsp:cNvPr id="0" name=""/>
        <dsp:cNvSpPr/>
      </dsp:nvSpPr>
      <dsp:spPr>
        <a:xfrm>
          <a:off x="0" y="39687"/>
          <a:ext cx="3286125" cy="197167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a:t>Únik dat</a:t>
          </a:r>
        </a:p>
      </dsp:txBody>
      <dsp:txXfrm>
        <a:off x="0" y="39687"/>
        <a:ext cx="3286125" cy="1971675"/>
      </dsp:txXfrm>
    </dsp:sp>
    <dsp:sp modelId="{F037C931-36DB-45C5-B98B-B10501543AFE}">
      <dsp:nvSpPr>
        <dsp:cNvPr id="0" name=""/>
        <dsp:cNvSpPr/>
      </dsp:nvSpPr>
      <dsp:spPr>
        <a:xfrm>
          <a:off x="3614737" y="39687"/>
          <a:ext cx="3286125" cy="197167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a:t>Nezabezpečené Wi-Fi sítě</a:t>
          </a:r>
        </a:p>
      </dsp:txBody>
      <dsp:txXfrm>
        <a:off x="3614737" y="39687"/>
        <a:ext cx="3286125" cy="1971675"/>
      </dsp:txXfrm>
    </dsp:sp>
    <dsp:sp modelId="{DA1A50A6-F25E-462C-981C-9776C7B64702}">
      <dsp:nvSpPr>
        <dsp:cNvPr id="0" name=""/>
        <dsp:cNvSpPr/>
      </dsp:nvSpPr>
      <dsp:spPr>
        <a:xfrm>
          <a:off x="7229475" y="39687"/>
          <a:ext cx="3286125" cy="197167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a:t>Spoofing sítí</a:t>
          </a:r>
        </a:p>
      </dsp:txBody>
      <dsp:txXfrm>
        <a:off x="7229475" y="39687"/>
        <a:ext cx="3286125" cy="1971675"/>
      </dsp:txXfrm>
    </dsp:sp>
    <dsp:sp modelId="{D6A7D1EF-3426-41F7-8625-2894D650776F}">
      <dsp:nvSpPr>
        <dsp:cNvPr id="0" name=""/>
        <dsp:cNvSpPr/>
      </dsp:nvSpPr>
      <dsp:spPr>
        <a:xfrm>
          <a:off x="1807368" y="2339975"/>
          <a:ext cx="3286125" cy="197167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a:t>Phishingové útoky</a:t>
          </a:r>
        </a:p>
      </dsp:txBody>
      <dsp:txXfrm>
        <a:off x="1807368" y="2339975"/>
        <a:ext cx="3286125" cy="1971675"/>
      </dsp:txXfrm>
    </dsp:sp>
    <dsp:sp modelId="{1A32782A-E00F-4CC2-ADB8-C38DF253F914}">
      <dsp:nvSpPr>
        <dsp:cNvPr id="0" name=""/>
        <dsp:cNvSpPr/>
      </dsp:nvSpPr>
      <dsp:spPr>
        <a:xfrm>
          <a:off x="5422106" y="2339975"/>
          <a:ext cx="3286125" cy="197167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a:t>Spyware</a:t>
          </a:r>
        </a:p>
      </dsp:txBody>
      <dsp:txXfrm>
        <a:off x="5422106" y="2339975"/>
        <a:ext cx="3286125" cy="197167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8T06:02:06.197"/>
    </inkml:context>
    <inkml:brush xml:id="br0">
      <inkml:brushProperty name="width" value="0.05" units="cm"/>
      <inkml:brushProperty name="height" value="0.05" units="cm"/>
      <inkml:brushProperty name="color" value="#E71224"/>
    </inkml:brush>
  </inkml:definitions>
  <inkml:trace contextRef="#ctx0" brushRef="#br0">1 0 24575,'0'5'0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8T06:02:07.258"/>
    </inkml:context>
    <inkml:brush xml:id="br0">
      <inkml:brushProperty name="width" value="0.05" units="cm"/>
      <inkml:brushProperty name="height" value="0.05" units="cm"/>
      <inkml:brushProperty name="color" value="#E71224"/>
    </inkml:brush>
  </inkml:definitions>
  <inkml:trace contextRef="#ctx0" brushRef="#br0">27 3315 24575,'-3'4'0,"0"0"0,1 0 0,-1 0 0,1 0 0,0 0 0,0 1 0,1-1 0,-1 1 0,1-1 0,0 1 0,0 0 0,0 4 0,-1 58 0,4-56 0,1 1 0,0 0 0,1-1 0,1 0 0,0 0 0,0 0 0,1 0 0,0-1 0,1 0 0,9 12 0,9 14 0,-10-14 0,1-1 0,1 0 0,2-1 0,0-1 0,0-1 0,31 22 0,11 2 0,71 37 0,320 128 0,-362-177 0,1-3 0,144 22 0,-74-17 0,669 122-2736,-395-77 429,775 88-512,1151-10-2353,-383-130 5172,-741-20 0,-867 2-53,928-5-557,-988-18 590,0-14 0,376-86 0,-469 64 503,-3-9 0,-3-9 0,383-187 1,-280 75 888,-238 130 554,132-117 0,-193 154-1468,0-1 1,0-1-1,-2 0 1,0 0-1,-1-1 0,-1-1 1,0 0-1,10-30 1,-12 23-124,-1-1 0,-1 0 1,-2 0-1,0 0 0,-2-1 1,-1-34-1,-15-271-341,4 263-341,-3 1 0,-35-119 1,5 72-353,-6 2-1,-5 2 1,-4 2 0,-5 3-1,-109-143 1,11 50-729,-295-289-1,252 298 680,-338-247-1,372 322 607,-4 7-1,-326-149 1,434 230 379,-2 3 0,0 3 0,-2 3 0,0 3 0,-111-10 0,124 22-239,-1 2 0,0 4-1,1 1 1,-1 3 0,1 3 0,0 2 0,-82 27 0,-29 25 319,-218 117 0,-146 117-1041,-535 356-366,46 72-1014,76 92 55,676-545 1590,-296 386-1,47 88 1042,410-561-387,7 5 0,-90 244 0,-18 235 231,172-500 135,6 0 0,-6 187 0,26-49 1471,11-221-1422,20 135 1,-17-196-225,1-2 1,1 1-1,1-1 1,1 0-1,1 0 1,1-1 0,0 0-1,2-1 1,1 0-1,0-1 1,2 0 0,0-2-1,32 32 1,-13-21 36,2-2 1,0-1-1,2-2 0,0-1 0,2-2 1,0-2-1,70 23 0,8-7-1508,188 29-1,3-19-219,407 6 0,321-55-734,-915 0 2040,0-5 0,-1-6 0,0-6 0,128-38 0,237-103-455,-403 130 1055,-15 4-2381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8T06:02:15.536"/>
    </inkml:context>
    <inkml:brush xml:id="br0">
      <inkml:brushProperty name="width" value="0.05" units="cm"/>
      <inkml:brushProperty name="height" value="0.05" units="cm"/>
      <inkml:brushProperty name="color" value="#E71224"/>
    </inkml:brush>
  </inkml:definitions>
  <inkml:trace contextRef="#ctx0" brushRef="#br0">1 1 24575,'0'4'0,"0"7"0,0 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8T06:02:15.895"/>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8T06:02:16.500"/>
    </inkml:context>
    <inkml:brush xml:id="br0">
      <inkml:brushProperty name="width" value="0.05" units="cm"/>
      <inkml:brushProperty name="height" value="0.05" units="cm"/>
      <inkml:brushProperty name="color" value="#E71224"/>
    </inkml:brush>
  </inkml:definitions>
  <inkml:trace contextRef="#ctx0" brushRef="#br0">1 30 24575,'0'-1'0,"1"0"0,0 0 0,0 0 0,0 0 0,-1 0 0,1 0 0,0 0 0,0 0 0,1 1 0,-1-1 0,0 0 0,0 1 0,0-1 0,0 0 0,1 1 0,-1 0 0,0-1 0,0 1 0,1 0 0,-1-1 0,0 1 0,3 0 0,-1 0 0,49-7 0,0 2 0,0 2 0,75 6 0,-107-2 0,298 33-68,-160-13-593,323 27 322,504 73-148,-452 5-397,-184-38 417,428 104 467,-545-131 15,-43-14 110,203 82 0,-380-125-86,25 12 171,43 10 0,-53-19-6219</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8T06:02:17.145"/>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8T06:02:18.164"/>
    </inkml:context>
    <inkml:brush xml:id="br0">
      <inkml:brushProperty name="width" value="0.05" units="cm"/>
      <inkml:brushProperty name="height" value="0.05" units="cm"/>
      <inkml:brushProperty name="color" value="#E71224"/>
    </inkml:brush>
  </inkml:definitions>
  <inkml:trace contextRef="#ctx0" brushRef="#br0">819 1 24575,'-7'0'0,"0"1"0,0 0 0,0 0 0,1 1 0,-1 0 0,1 0 0,-1 1 0,1-1 0,0 1 0,0 1 0,0-1 0,-9 8 0,-6 6 0,-34 38 0,45-45 0,-66 78 0,-123 188 0,139-187 0,16-21 0,4 2 0,2 2 0,3 1 0,4 2 0,3 0 0,-35 158 0,53-177 0,2 1 0,0 61 0,10 117 0,1-107 0,-4 8 0,8 157 0,-2-256 0,2-1 0,1 0 0,2 0 0,20 47 0,-3-23 0,54 89 0,-76-140 0,1 0 0,0 1 0,0-2 0,1 1 0,0-1 0,1 0 0,0-1 0,0 1 0,0-2 0,1 1 0,0-1 0,0 0 0,1-1 0,0 0 0,0-1 0,0 0 0,0-1 0,0 1 0,1-2 0,0 0 0,11 1 0,273-2 0,-131-4 0,-149 4 0,-1-1 0,1-1 0,-1-1 0,0 0 0,0-1 0,0 0 0,0-1 0,0 0 0,-1-2 0,1 1 0,-1-2 0,-1 0 0,1 0 0,-1-1 0,-1 0 0,18-17 0,19-26-40,-4-2-1,-1-1 0,-3-3 1,61-115-1,-55 79-241,-5-2-1,46-158 1,-64 163 267,-5-1 0,-4-1 0,4-115 0,-18-276-45,-3 432 51,-1 0 1,-3 1-1,-1-1 0,-29-89 1,24 105 35,-1 0 0,-1 1 0,-2 1 0,-2 1 1,0 1-1,-2 0 0,-34-36 0,-10 0-501,41 46-6247</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8T06:02:18.527"/>
    </inkml:context>
    <inkml:brush xml:id="br0">
      <inkml:brushProperty name="width" value="0.05" units="cm"/>
      <inkml:brushProperty name="height" value="0.05" units="cm"/>
      <inkml:brushProperty name="color" value="#E71224"/>
    </inkml:brush>
  </inkml:definitions>
  <inkml:trace contextRef="#ctx0" brushRef="#br0">393 0 24575,'-57'87'0,"4"2"0,-55 127 0,27-60 0,9-23 0,55-81-1365,12-30-5461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5770E0-5F4A-466C-9639-662A656268DF}" type="datetimeFigureOut">
              <a:rPr lang="cs-CZ" smtClean="0"/>
              <a:t>10.11.2024</a:t>
            </a:fld>
            <a:endParaRPr lang="cs-C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5256D0-851E-4D4A-B24A-94F13A439598}" type="slidenum">
              <a:rPr lang="cs-CZ" smtClean="0"/>
              <a:t>‹#›</a:t>
            </a:fld>
            <a:endParaRPr lang="cs-CZ"/>
          </a:p>
        </p:txBody>
      </p:sp>
    </p:spTree>
    <p:extLst>
      <p:ext uri="{BB962C8B-B14F-4D97-AF65-F5344CB8AC3E}">
        <p14:creationId xmlns:p14="http://schemas.microsoft.com/office/powerpoint/2010/main" val="598792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a:t>Cisco Networking Academy Program</a:t>
            </a:r>
          </a:p>
          <a:p>
            <a:pPr>
              <a:spcBef>
                <a:spcPts val="0"/>
              </a:spcBef>
            </a:pPr>
            <a:r>
              <a:rPr lang="en-US">
                <a:solidFill>
                  <a:schemeClr val="accent5">
                    <a:lumMod val="40000"/>
                    <a:lumOff val="60000"/>
                  </a:schemeClr>
                </a:solidFill>
              </a:rPr>
              <a:t>Enterprise Networking, Security, and Automationv7.0 (ENSA)</a:t>
            </a:r>
          </a:p>
          <a:p>
            <a:pPr>
              <a:spcBef>
                <a:spcPts val="0"/>
              </a:spcBef>
            </a:pPr>
            <a:r>
              <a:rPr lang="en-US">
                <a:solidFill>
                  <a:schemeClr val="accent5">
                    <a:lumMod val="40000"/>
                    <a:lumOff val="60000"/>
                  </a:schemeClr>
                </a:solidFill>
              </a:rPr>
              <a:t>Module 3: Network Security Concepts</a:t>
            </a:r>
          </a:p>
          <a:p>
            <a:endParaRPr lang="en-US"/>
          </a:p>
        </p:txBody>
      </p:sp>
      <p:sp>
        <p:nvSpPr>
          <p:cNvPr id="4" name="Slide Number Placeholder 3"/>
          <p:cNvSpPr>
            <a:spLocks noGrp="1"/>
          </p:cNvSpPr>
          <p:nvPr>
            <p:ph type="sldNum" sz="quarter" idx="10"/>
          </p:nvPr>
        </p:nvSpPr>
        <p:spPr/>
        <p:txBody>
          <a:bodyPr/>
          <a:lstStyle/>
          <a:p>
            <a:fld id="{5641018C-6CAF-B84E-B92C-ECB119457FBA}" type="slidenum">
              <a:rPr lang="en-US" smtClean="0"/>
              <a:t>88</a:t>
            </a:fld>
            <a:endParaRPr lang="en-US"/>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 Network Security Concepts</a:t>
            </a:r>
          </a:p>
          <a:p>
            <a:r>
              <a:rPr lang="en-US"/>
              <a:t>3.10 – Cryptography</a:t>
            </a:r>
          </a:p>
          <a:p>
            <a:r>
              <a:rPr lang="en-US"/>
              <a:t>3.10.2 – Securing Communications</a:t>
            </a:r>
          </a:p>
        </p:txBody>
      </p:sp>
      <p:sp>
        <p:nvSpPr>
          <p:cNvPr id="4" name="Slide Number Placeholder 3"/>
          <p:cNvSpPr>
            <a:spLocks noGrp="1"/>
          </p:cNvSpPr>
          <p:nvPr>
            <p:ph type="sldNum" sz="quarter" idx="5"/>
          </p:nvPr>
        </p:nvSpPr>
        <p:spPr/>
        <p:txBody>
          <a:bodyPr/>
          <a:lstStyle/>
          <a:p>
            <a:fld id="{5641018C-6CAF-B84E-B92C-ECB119457FBA}" type="slidenum">
              <a:rPr lang="en-US" smtClean="0"/>
              <a:t>89</a:t>
            </a:fld>
            <a:endParaRPr lang="en-US"/>
          </a:p>
        </p:txBody>
      </p:sp>
    </p:spTree>
    <p:extLst>
      <p:ext uri="{BB962C8B-B14F-4D97-AF65-F5344CB8AC3E}">
        <p14:creationId xmlns:p14="http://schemas.microsoft.com/office/powerpoint/2010/main" val="3822260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 Network Security Concepts</a:t>
            </a:r>
          </a:p>
          <a:p>
            <a:r>
              <a:rPr lang="en-US"/>
              <a:t>3.10 – Cryptography</a:t>
            </a:r>
          </a:p>
          <a:p>
            <a:r>
              <a:rPr lang="en-US"/>
              <a:t>3.10.3 – </a:t>
            </a:r>
            <a:r>
              <a:rPr lang="en-US" sz="1200"/>
              <a:t>Data Integrity</a:t>
            </a:r>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90</a:t>
            </a:fld>
            <a:endParaRPr lang="en-US"/>
          </a:p>
        </p:txBody>
      </p:sp>
    </p:spTree>
    <p:extLst>
      <p:ext uri="{BB962C8B-B14F-4D97-AF65-F5344CB8AC3E}">
        <p14:creationId xmlns:p14="http://schemas.microsoft.com/office/powerpoint/2010/main" val="21150463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 Network Security Concepts</a:t>
            </a:r>
          </a:p>
          <a:p>
            <a:r>
              <a:rPr lang="en-US"/>
              <a:t>3.10 – Cryptography</a:t>
            </a:r>
          </a:p>
          <a:p>
            <a:r>
              <a:rPr lang="en-US"/>
              <a:t>3.10.4 – Hash Functions</a:t>
            </a:r>
          </a:p>
        </p:txBody>
      </p:sp>
      <p:sp>
        <p:nvSpPr>
          <p:cNvPr id="4" name="Slide Number Placeholder 3"/>
          <p:cNvSpPr>
            <a:spLocks noGrp="1"/>
          </p:cNvSpPr>
          <p:nvPr>
            <p:ph type="sldNum" sz="quarter" idx="5"/>
          </p:nvPr>
        </p:nvSpPr>
        <p:spPr/>
        <p:txBody>
          <a:bodyPr/>
          <a:lstStyle/>
          <a:p>
            <a:fld id="{5641018C-6CAF-B84E-B92C-ECB119457FBA}" type="slidenum">
              <a:rPr lang="en-US" smtClean="0"/>
              <a:t>91</a:t>
            </a:fld>
            <a:endParaRPr lang="en-US"/>
          </a:p>
        </p:txBody>
      </p:sp>
    </p:spTree>
    <p:extLst>
      <p:ext uri="{BB962C8B-B14F-4D97-AF65-F5344CB8AC3E}">
        <p14:creationId xmlns:p14="http://schemas.microsoft.com/office/powerpoint/2010/main" val="55373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 Network Security Concepts</a:t>
            </a:r>
          </a:p>
          <a:p>
            <a:r>
              <a:rPr lang="en-US"/>
              <a:t>3.10 – Cryptography</a:t>
            </a:r>
          </a:p>
          <a:p>
            <a:r>
              <a:rPr lang="en-US"/>
              <a:t>3.10.5 – Origin Authentication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92</a:t>
            </a:fld>
            <a:endParaRPr lang="en-US"/>
          </a:p>
        </p:txBody>
      </p:sp>
    </p:spTree>
    <p:extLst>
      <p:ext uri="{BB962C8B-B14F-4D97-AF65-F5344CB8AC3E}">
        <p14:creationId xmlns:p14="http://schemas.microsoft.com/office/powerpoint/2010/main" val="3526830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 Network Security Concepts</a:t>
            </a:r>
          </a:p>
          <a:p>
            <a:r>
              <a:rPr lang="en-US"/>
              <a:t>3.10 – Cryptography</a:t>
            </a:r>
          </a:p>
          <a:p>
            <a:r>
              <a:rPr lang="en-US"/>
              <a:t>3.10.6 – </a:t>
            </a:r>
            <a:r>
              <a:rPr lang="en-US" sz="1200"/>
              <a:t>Data Confidentiality</a:t>
            </a:r>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93</a:t>
            </a:fld>
            <a:endParaRPr lang="en-US"/>
          </a:p>
        </p:txBody>
      </p:sp>
    </p:spTree>
    <p:extLst>
      <p:ext uri="{BB962C8B-B14F-4D97-AF65-F5344CB8AC3E}">
        <p14:creationId xmlns:p14="http://schemas.microsoft.com/office/powerpoint/2010/main" val="631333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 Network Security Concepts</a:t>
            </a:r>
          </a:p>
          <a:p>
            <a:r>
              <a:rPr lang="en-US"/>
              <a:t>3.10 – Cryptography</a:t>
            </a:r>
          </a:p>
          <a:p>
            <a:r>
              <a:rPr lang="en-US"/>
              <a:t>3.10.7 – Symmetric Encryption</a:t>
            </a:r>
          </a:p>
        </p:txBody>
      </p:sp>
      <p:sp>
        <p:nvSpPr>
          <p:cNvPr id="4" name="Slide Number Placeholder 3"/>
          <p:cNvSpPr>
            <a:spLocks noGrp="1"/>
          </p:cNvSpPr>
          <p:nvPr>
            <p:ph type="sldNum" sz="quarter" idx="5"/>
          </p:nvPr>
        </p:nvSpPr>
        <p:spPr/>
        <p:txBody>
          <a:bodyPr/>
          <a:lstStyle/>
          <a:p>
            <a:fld id="{5641018C-6CAF-B84E-B92C-ECB119457FBA}" type="slidenum">
              <a:rPr lang="en-US" smtClean="0"/>
              <a:t>94</a:t>
            </a:fld>
            <a:endParaRPr lang="en-US"/>
          </a:p>
        </p:txBody>
      </p:sp>
    </p:spTree>
    <p:extLst>
      <p:ext uri="{BB962C8B-B14F-4D97-AF65-F5344CB8AC3E}">
        <p14:creationId xmlns:p14="http://schemas.microsoft.com/office/powerpoint/2010/main" val="27124016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 Network Security Concepts</a:t>
            </a:r>
          </a:p>
          <a:p>
            <a:r>
              <a:rPr lang="en-US"/>
              <a:t>3.10 – Cryptography</a:t>
            </a:r>
          </a:p>
          <a:p>
            <a:r>
              <a:rPr lang="en-US"/>
              <a:t>3.10.7 – Symmetric Encryption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95</a:t>
            </a:fld>
            <a:endParaRPr lang="en-US"/>
          </a:p>
        </p:txBody>
      </p:sp>
    </p:spTree>
    <p:extLst>
      <p:ext uri="{BB962C8B-B14F-4D97-AF65-F5344CB8AC3E}">
        <p14:creationId xmlns:p14="http://schemas.microsoft.com/office/powerpoint/2010/main" val="10320374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 Network Security Concepts</a:t>
            </a:r>
          </a:p>
          <a:p>
            <a:r>
              <a:rPr lang="en-US"/>
              <a:t>3.10 – Cryptography</a:t>
            </a:r>
          </a:p>
          <a:p>
            <a:r>
              <a:rPr lang="en-US"/>
              <a:t>3.10.8 – Asymmetric Encryption</a:t>
            </a:r>
          </a:p>
        </p:txBody>
      </p:sp>
      <p:sp>
        <p:nvSpPr>
          <p:cNvPr id="4" name="Slide Number Placeholder 3"/>
          <p:cNvSpPr>
            <a:spLocks noGrp="1"/>
          </p:cNvSpPr>
          <p:nvPr>
            <p:ph type="sldNum" sz="quarter" idx="5"/>
          </p:nvPr>
        </p:nvSpPr>
        <p:spPr/>
        <p:txBody>
          <a:bodyPr/>
          <a:lstStyle/>
          <a:p>
            <a:fld id="{5641018C-6CAF-B84E-B92C-ECB119457FBA}" type="slidenum">
              <a:rPr lang="en-US" smtClean="0"/>
              <a:t>96</a:t>
            </a:fld>
            <a:endParaRPr lang="en-US"/>
          </a:p>
        </p:txBody>
      </p:sp>
    </p:spTree>
    <p:extLst>
      <p:ext uri="{BB962C8B-B14F-4D97-AF65-F5344CB8AC3E}">
        <p14:creationId xmlns:p14="http://schemas.microsoft.com/office/powerpoint/2010/main" val="9066194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 Network Security Concepts</a:t>
            </a:r>
          </a:p>
          <a:p>
            <a:r>
              <a:rPr lang="en-US"/>
              <a:t>3.10 – Cryptography</a:t>
            </a:r>
          </a:p>
          <a:p>
            <a:r>
              <a:rPr lang="en-US"/>
              <a:t>3.10.8 – Asymmetric Encryption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97</a:t>
            </a:fld>
            <a:endParaRPr lang="en-US"/>
          </a:p>
        </p:txBody>
      </p:sp>
    </p:spTree>
    <p:extLst>
      <p:ext uri="{BB962C8B-B14F-4D97-AF65-F5344CB8AC3E}">
        <p14:creationId xmlns:p14="http://schemas.microsoft.com/office/powerpoint/2010/main" val="9671477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 Network Security Concepts</a:t>
            </a:r>
          </a:p>
          <a:p>
            <a:r>
              <a:rPr lang="en-US"/>
              <a:t>3.10 – Cryptography</a:t>
            </a:r>
          </a:p>
          <a:p>
            <a:r>
              <a:rPr lang="en-US"/>
              <a:t>3.10.8 – Asymmetric Encryption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98</a:t>
            </a:fld>
            <a:endParaRPr lang="en-US"/>
          </a:p>
        </p:txBody>
      </p:sp>
    </p:spTree>
    <p:extLst>
      <p:ext uri="{BB962C8B-B14F-4D97-AF65-F5344CB8AC3E}">
        <p14:creationId xmlns:p14="http://schemas.microsoft.com/office/powerpoint/2010/main" val="42831298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 Network Security Concepts</a:t>
            </a:r>
          </a:p>
          <a:p>
            <a:r>
              <a:rPr lang="en-US"/>
              <a:t>3.10 – Cryptography</a:t>
            </a:r>
          </a:p>
          <a:p>
            <a:r>
              <a:rPr lang="en-US"/>
              <a:t>3.10.9 – Diffie-Hellman</a:t>
            </a:r>
          </a:p>
        </p:txBody>
      </p:sp>
      <p:sp>
        <p:nvSpPr>
          <p:cNvPr id="4" name="Slide Number Placeholder 3"/>
          <p:cNvSpPr>
            <a:spLocks noGrp="1"/>
          </p:cNvSpPr>
          <p:nvPr>
            <p:ph type="sldNum" sz="quarter" idx="5"/>
          </p:nvPr>
        </p:nvSpPr>
        <p:spPr/>
        <p:txBody>
          <a:bodyPr/>
          <a:lstStyle/>
          <a:p>
            <a:fld id="{5641018C-6CAF-B84E-B92C-ECB119457FBA}" type="slidenum">
              <a:rPr lang="en-US" smtClean="0"/>
              <a:t>99</a:t>
            </a:fld>
            <a:endParaRPr lang="en-US"/>
          </a:p>
        </p:txBody>
      </p:sp>
    </p:spTree>
    <p:extLst>
      <p:ext uri="{BB962C8B-B14F-4D97-AF65-F5344CB8AC3E}">
        <p14:creationId xmlns:p14="http://schemas.microsoft.com/office/powerpoint/2010/main" val="27139425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 Network Security Concepts</a:t>
            </a:r>
          </a:p>
          <a:p>
            <a:r>
              <a:rPr lang="en-US"/>
              <a:t>3.10 – Cryptography</a:t>
            </a:r>
          </a:p>
          <a:p>
            <a:r>
              <a:rPr lang="en-US"/>
              <a:t>3.10.9 – Diffie-Hellman (Cont.)</a:t>
            </a:r>
          </a:p>
          <a:p>
            <a:r>
              <a:rPr lang="en-US"/>
              <a:t>3.10.10 – Check Your Understanding - Cryptography</a:t>
            </a:r>
          </a:p>
        </p:txBody>
      </p:sp>
      <p:sp>
        <p:nvSpPr>
          <p:cNvPr id="4" name="Slide Number Placeholder 3"/>
          <p:cNvSpPr>
            <a:spLocks noGrp="1"/>
          </p:cNvSpPr>
          <p:nvPr>
            <p:ph type="sldNum" sz="quarter" idx="5"/>
          </p:nvPr>
        </p:nvSpPr>
        <p:spPr/>
        <p:txBody>
          <a:bodyPr/>
          <a:lstStyle/>
          <a:p>
            <a:fld id="{5641018C-6CAF-B84E-B92C-ECB119457FBA}" type="slidenum">
              <a:rPr lang="en-US" smtClean="0"/>
              <a:t>100</a:t>
            </a:fld>
            <a:endParaRPr lang="en-US"/>
          </a:p>
        </p:txBody>
      </p:sp>
    </p:spTree>
    <p:extLst>
      <p:ext uri="{BB962C8B-B14F-4D97-AF65-F5344CB8AC3E}">
        <p14:creationId xmlns:p14="http://schemas.microsoft.com/office/powerpoint/2010/main" val="6862455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101</a:t>
            </a:fld>
            <a:endParaRPr lang="en-US"/>
          </a:p>
        </p:txBody>
      </p:sp>
    </p:spTree>
    <p:extLst>
      <p:ext uri="{BB962C8B-B14F-4D97-AF65-F5344CB8AC3E}">
        <p14:creationId xmlns:p14="http://schemas.microsoft.com/office/powerpoint/2010/main" val="15913942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214</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a:t>12 –</a:t>
            </a:r>
            <a:r>
              <a:rPr lang="en-GB"/>
              <a:t> </a:t>
            </a:r>
            <a:r>
              <a:rPr lang="en-IN"/>
              <a:t>Network Security Infrastructure</a:t>
            </a:r>
            <a:endParaRPr lang="en-US" sz="1200" b="0">
              <a:solidFill>
                <a:srgbClr val="FF0000"/>
              </a:solidFill>
            </a:endParaRPr>
          </a:p>
          <a:p>
            <a:pPr>
              <a:buFontTx/>
              <a:buNone/>
            </a:pPr>
            <a:r>
              <a:rPr lang="en-US" sz="1200" b="0">
                <a:solidFill>
                  <a:srgbClr val="FF0000"/>
                </a:solidFill>
              </a:rPr>
              <a:t>12.2 – </a:t>
            </a:r>
            <a:r>
              <a:rPr lang="en-IN" sz="1200" b="0">
                <a:solidFill>
                  <a:srgbClr val="FF0000"/>
                </a:solidFill>
              </a:rPr>
              <a:t>Security Devices</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a:t>12.2.3 – </a:t>
            </a:r>
            <a:r>
              <a:rPr lang="en-IN" sz="1200" b="0" i="0" u="none" strike="noStrike" kern="1200">
                <a:solidFill>
                  <a:schemeClr val="tx1"/>
                </a:solidFill>
                <a:effectLst/>
                <a:latin typeface="+mn-lt"/>
                <a:ea typeface="+mn-ea"/>
                <a:cs typeface="+mn-cs"/>
              </a:rPr>
              <a:t>Firewall</a:t>
            </a:r>
            <a:r>
              <a:rPr lang="en-IN" sz="1200" b="0" i="0" u="none" strike="noStrike" kern="1200" baseline="0">
                <a:solidFill>
                  <a:schemeClr val="tx1"/>
                </a:solidFill>
                <a:effectLst/>
                <a:latin typeface="+mn-lt"/>
                <a:ea typeface="+mn-ea"/>
                <a:cs typeface="+mn-cs"/>
              </a:rPr>
              <a:t> Type Descriptions</a:t>
            </a:r>
            <a:endParaRPr lang="en-US" altLang="en-US"/>
          </a:p>
        </p:txBody>
      </p:sp>
    </p:spTree>
    <p:extLst>
      <p:ext uri="{BB962C8B-B14F-4D97-AF65-F5344CB8AC3E}">
        <p14:creationId xmlns:p14="http://schemas.microsoft.com/office/powerpoint/2010/main" val="39388866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215</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a:t>12 –</a:t>
            </a:r>
            <a:r>
              <a:rPr lang="en-GB"/>
              <a:t> </a:t>
            </a:r>
            <a:r>
              <a:rPr lang="en-IN"/>
              <a:t>Network Security Infrastructure</a:t>
            </a:r>
            <a:endParaRPr lang="en-US" sz="1200" b="0">
              <a:solidFill>
                <a:srgbClr val="FF0000"/>
              </a:solidFill>
            </a:endParaRPr>
          </a:p>
          <a:p>
            <a:pPr>
              <a:buFontTx/>
              <a:buNone/>
            </a:pPr>
            <a:r>
              <a:rPr lang="en-US" sz="1200" b="0">
                <a:solidFill>
                  <a:srgbClr val="FF0000"/>
                </a:solidFill>
              </a:rPr>
              <a:t>12.2 – </a:t>
            </a:r>
            <a:r>
              <a:rPr lang="en-IN" sz="1200" b="0">
                <a:solidFill>
                  <a:srgbClr val="FF0000"/>
                </a:solidFill>
              </a:rPr>
              <a:t>Security Devices</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a:t>12.2.3 – </a:t>
            </a:r>
            <a:r>
              <a:rPr lang="en-IN" sz="1200" b="0" i="0" u="none" strike="noStrike" kern="1200">
                <a:solidFill>
                  <a:schemeClr val="tx1"/>
                </a:solidFill>
                <a:effectLst/>
                <a:latin typeface="+mn-lt"/>
                <a:ea typeface="+mn-ea"/>
                <a:cs typeface="+mn-cs"/>
              </a:rPr>
              <a:t>Firewall</a:t>
            </a:r>
            <a:r>
              <a:rPr lang="en-IN" sz="1200" b="0" i="0" u="none" strike="noStrike" kern="1200" baseline="0">
                <a:solidFill>
                  <a:schemeClr val="tx1"/>
                </a:solidFill>
                <a:effectLst/>
                <a:latin typeface="+mn-lt"/>
                <a:ea typeface="+mn-ea"/>
                <a:cs typeface="+mn-cs"/>
              </a:rPr>
              <a:t> Type Descriptions</a:t>
            </a:r>
            <a:endParaRPr lang="en-US" altLang="en-US"/>
          </a:p>
        </p:txBody>
      </p:sp>
    </p:spTree>
    <p:extLst>
      <p:ext uri="{BB962C8B-B14F-4D97-AF65-F5344CB8AC3E}">
        <p14:creationId xmlns:p14="http://schemas.microsoft.com/office/powerpoint/2010/main" val="1790692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216</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a:t>12 –</a:t>
            </a:r>
            <a:r>
              <a:rPr lang="en-GB"/>
              <a:t> </a:t>
            </a:r>
            <a:r>
              <a:rPr lang="en-IN"/>
              <a:t>Network Security Infrastructure</a:t>
            </a:r>
            <a:endParaRPr lang="en-US" sz="1200" b="0">
              <a:solidFill>
                <a:srgbClr val="FF0000"/>
              </a:solidFill>
            </a:endParaRPr>
          </a:p>
          <a:p>
            <a:pPr>
              <a:buFontTx/>
              <a:buNone/>
            </a:pPr>
            <a:r>
              <a:rPr lang="en-US" sz="1200" b="0">
                <a:solidFill>
                  <a:srgbClr val="FF0000"/>
                </a:solidFill>
              </a:rPr>
              <a:t>12.2 – </a:t>
            </a:r>
            <a:r>
              <a:rPr lang="en-IN" sz="1200" b="0">
                <a:solidFill>
                  <a:srgbClr val="FF0000"/>
                </a:solidFill>
              </a:rPr>
              <a:t>Security Devices</a:t>
            </a:r>
            <a:endParaRPr lang="en-GB" b="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GB"/>
              <a:t>12.2.3 – </a:t>
            </a:r>
            <a:r>
              <a:rPr lang="en-IN" sz="1200" b="0" i="0" u="none" strike="noStrike" kern="1200">
                <a:solidFill>
                  <a:schemeClr val="tx1"/>
                </a:solidFill>
                <a:effectLst/>
                <a:latin typeface="+mn-lt"/>
                <a:ea typeface="+mn-ea"/>
                <a:cs typeface="+mn-cs"/>
              </a:rPr>
              <a:t>Firewall</a:t>
            </a:r>
            <a:r>
              <a:rPr lang="en-IN" sz="1200" b="0" i="0" u="none" strike="noStrike" kern="1200" baseline="0">
                <a:solidFill>
                  <a:schemeClr val="tx1"/>
                </a:solidFill>
                <a:effectLst/>
                <a:latin typeface="+mn-lt"/>
                <a:ea typeface="+mn-ea"/>
                <a:cs typeface="+mn-cs"/>
              </a:rPr>
              <a:t> Type Descriptions</a:t>
            </a:r>
            <a:endParaRPr lang="en-US" altLang="en-US"/>
          </a:p>
        </p:txBody>
      </p:sp>
    </p:spTree>
    <p:extLst>
      <p:ext uri="{BB962C8B-B14F-4D97-AF65-F5344CB8AC3E}">
        <p14:creationId xmlns:p14="http://schemas.microsoft.com/office/powerpoint/2010/main" val="35046197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US"/>
          </a:p>
        </p:txBody>
      </p:sp>
      <p:sp>
        <p:nvSpPr>
          <p:cNvPr id="4" name="Zástupný symbol pro číslo snímku 3"/>
          <p:cNvSpPr>
            <a:spLocks noGrp="1"/>
          </p:cNvSpPr>
          <p:nvPr>
            <p:ph type="sldNum" sz="quarter" idx="5"/>
          </p:nvPr>
        </p:nvSpPr>
        <p:spPr/>
        <p:txBody>
          <a:bodyPr/>
          <a:lstStyle/>
          <a:p>
            <a:fld id="{1F5256D0-851E-4D4A-B24A-94F13A439598}" type="slidenum">
              <a:rPr lang="cs-CZ" smtClean="0"/>
              <a:t>281</a:t>
            </a:fld>
            <a:endParaRPr lang="cs-CZ"/>
          </a:p>
        </p:txBody>
      </p:sp>
    </p:spTree>
    <p:extLst>
      <p:ext uri="{BB962C8B-B14F-4D97-AF65-F5344CB8AC3E}">
        <p14:creationId xmlns:p14="http://schemas.microsoft.com/office/powerpoint/2010/main" val="26273996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BB6A61E-B56E-1BE0-E55C-F608791F3E70}"/>
              </a:ext>
            </a:extLst>
          </p:cNvPr>
          <p:cNvSpPr>
            <a:spLocks noGrp="1"/>
          </p:cNvSpPr>
          <p:nvPr>
            <p:ph type="ctrTitle"/>
          </p:nvPr>
        </p:nvSpPr>
        <p:spPr>
          <a:xfrm>
            <a:off x="1524000" y="1122363"/>
            <a:ext cx="9144000" cy="2387600"/>
          </a:xfrm>
        </p:spPr>
        <p:txBody>
          <a:bodyPr anchor="b"/>
          <a:lstStyle>
            <a:lvl1pPr algn="ctr">
              <a:defRPr sz="6000"/>
            </a:lvl1pPr>
          </a:lstStyle>
          <a:p>
            <a:r>
              <a:rPr lang="cs-CZ"/>
              <a:t>Kliknutím lze upravit styl.</a:t>
            </a:r>
            <a:endParaRPr lang="en-US"/>
          </a:p>
        </p:txBody>
      </p:sp>
      <p:sp>
        <p:nvSpPr>
          <p:cNvPr id="3" name="Podnadpis 2">
            <a:extLst>
              <a:ext uri="{FF2B5EF4-FFF2-40B4-BE49-F238E27FC236}">
                <a16:creationId xmlns:a16="http://schemas.microsoft.com/office/drawing/2014/main" id="{60AE8765-A78C-A2DF-FF40-B923077F0E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endParaRPr lang="en-US"/>
          </a:p>
        </p:txBody>
      </p:sp>
      <p:sp>
        <p:nvSpPr>
          <p:cNvPr id="4" name="Zástupný symbol pro datum 3">
            <a:extLst>
              <a:ext uri="{FF2B5EF4-FFF2-40B4-BE49-F238E27FC236}">
                <a16:creationId xmlns:a16="http://schemas.microsoft.com/office/drawing/2014/main" id="{D611E2D8-C8A1-236D-12F0-14727025EDF1}"/>
              </a:ext>
            </a:extLst>
          </p:cNvPr>
          <p:cNvSpPr>
            <a:spLocks noGrp="1"/>
          </p:cNvSpPr>
          <p:nvPr>
            <p:ph type="dt" sz="half" idx="10"/>
          </p:nvPr>
        </p:nvSpPr>
        <p:spPr/>
        <p:txBody>
          <a:bodyPr/>
          <a:lstStyle/>
          <a:p>
            <a:r>
              <a:rPr lang="cs-CZ"/>
              <a:t>18.8.2022</a:t>
            </a:r>
          </a:p>
        </p:txBody>
      </p:sp>
      <p:sp>
        <p:nvSpPr>
          <p:cNvPr id="5" name="Zástupný symbol pro zápatí 4">
            <a:extLst>
              <a:ext uri="{FF2B5EF4-FFF2-40B4-BE49-F238E27FC236}">
                <a16:creationId xmlns:a16="http://schemas.microsoft.com/office/drawing/2014/main" id="{C30B1E47-E051-1485-FDB2-66DFBAC029E5}"/>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D18FD1C7-2DDA-3006-C519-9F69EA4CB0E6}"/>
              </a:ext>
            </a:extLst>
          </p:cNvPr>
          <p:cNvSpPr>
            <a:spLocks noGrp="1"/>
          </p:cNvSpPr>
          <p:nvPr>
            <p:ph type="sldNum" sz="quarter" idx="12"/>
          </p:nvPr>
        </p:nvSpPr>
        <p:spPr/>
        <p:txBody>
          <a:bodyPr/>
          <a:lstStyle/>
          <a:p>
            <a:fld id="{AD9F5C5F-4392-49C5-81DD-37F176609E69}" type="slidenum">
              <a:rPr lang="cs-CZ" smtClean="0"/>
              <a:t>‹#›</a:t>
            </a:fld>
            <a:endParaRPr lang="cs-CZ"/>
          </a:p>
        </p:txBody>
      </p:sp>
    </p:spTree>
    <p:extLst>
      <p:ext uri="{BB962C8B-B14F-4D97-AF65-F5344CB8AC3E}">
        <p14:creationId xmlns:p14="http://schemas.microsoft.com/office/powerpoint/2010/main" val="1132552924"/>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9DBD09A-635D-FCB3-1486-59BA99410771}"/>
              </a:ext>
            </a:extLst>
          </p:cNvPr>
          <p:cNvSpPr>
            <a:spLocks noGrp="1"/>
          </p:cNvSpPr>
          <p:nvPr>
            <p:ph type="title"/>
          </p:nvPr>
        </p:nvSpPr>
        <p:spPr/>
        <p:txBody>
          <a:bodyPr/>
          <a:lstStyle/>
          <a:p>
            <a:r>
              <a:rPr lang="cs-CZ"/>
              <a:t>Kliknutím lze upravit styl.</a:t>
            </a:r>
            <a:endParaRPr lang="en-US"/>
          </a:p>
        </p:txBody>
      </p:sp>
      <p:sp>
        <p:nvSpPr>
          <p:cNvPr id="3" name="Zástupný obsah 2">
            <a:extLst>
              <a:ext uri="{FF2B5EF4-FFF2-40B4-BE49-F238E27FC236}">
                <a16:creationId xmlns:a16="http://schemas.microsoft.com/office/drawing/2014/main" id="{888A1520-C7DB-7F88-4DAA-C7E26FD8769E}"/>
              </a:ext>
            </a:extLst>
          </p:cNvPr>
          <p:cNvSpPr>
            <a:spLocks noGrp="1"/>
          </p:cNvSpPr>
          <p:nvPr>
            <p:ph idx="1"/>
          </p:nvPr>
        </p:nvSpPr>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a:p>
        </p:txBody>
      </p:sp>
      <p:sp>
        <p:nvSpPr>
          <p:cNvPr id="4" name="Zástupný symbol pro datum 3">
            <a:extLst>
              <a:ext uri="{FF2B5EF4-FFF2-40B4-BE49-F238E27FC236}">
                <a16:creationId xmlns:a16="http://schemas.microsoft.com/office/drawing/2014/main" id="{49FE6536-9446-BD88-01FC-B2B71BCA9BAF}"/>
              </a:ext>
            </a:extLst>
          </p:cNvPr>
          <p:cNvSpPr>
            <a:spLocks noGrp="1"/>
          </p:cNvSpPr>
          <p:nvPr>
            <p:ph type="dt" sz="half" idx="10"/>
          </p:nvPr>
        </p:nvSpPr>
        <p:spPr/>
        <p:txBody>
          <a:bodyPr/>
          <a:lstStyle/>
          <a:p>
            <a:r>
              <a:rPr lang="cs-CZ"/>
              <a:t>18.8.2022</a:t>
            </a:r>
          </a:p>
        </p:txBody>
      </p:sp>
      <p:sp>
        <p:nvSpPr>
          <p:cNvPr id="5" name="Zástupný symbol pro zápatí 4">
            <a:extLst>
              <a:ext uri="{FF2B5EF4-FFF2-40B4-BE49-F238E27FC236}">
                <a16:creationId xmlns:a16="http://schemas.microsoft.com/office/drawing/2014/main" id="{1E973FF9-1438-0ED4-3E98-67297FD6CD47}"/>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C110B8BB-7008-C8B3-B5A0-6526D7F5C7A3}"/>
              </a:ext>
            </a:extLst>
          </p:cNvPr>
          <p:cNvSpPr>
            <a:spLocks noGrp="1"/>
          </p:cNvSpPr>
          <p:nvPr>
            <p:ph type="sldNum" sz="quarter" idx="12"/>
          </p:nvPr>
        </p:nvSpPr>
        <p:spPr/>
        <p:txBody>
          <a:bodyPr/>
          <a:lstStyle/>
          <a:p>
            <a:fld id="{AD9F5C5F-4392-49C5-81DD-37F176609E69}" type="slidenum">
              <a:rPr lang="cs-CZ" smtClean="0"/>
              <a:t>‹#›</a:t>
            </a:fld>
            <a:endParaRPr lang="cs-CZ"/>
          </a:p>
        </p:txBody>
      </p:sp>
    </p:spTree>
    <p:extLst>
      <p:ext uri="{BB962C8B-B14F-4D97-AF65-F5344CB8AC3E}">
        <p14:creationId xmlns:p14="http://schemas.microsoft.com/office/powerpoint/2010/main" val="3800061883"/>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oddílu">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4B9B316-E649-CEBD-1654-AF493B35B0B5}"/>
              </a:ext>
            </a:extLst>
          </p:cNvPr>
          <p:cNvSpPr>
            <a:spLocks noGrp="1"/>
          </p:cNvSpPr>
          <p:nvPr>
            <p:ph type="title"/>
          </p:nvPr>
        </p:nvSpPr>
        <p:spPr>
          <a:xfrm>
            <a:off x="831850" y="1709738"/>
            <a:ext cx="10515600" cy="2852737"/>
          </a:xfrm>
        </p:spPr>
        <p:txBody>
          <a:bodyPr anchor="b"/>
          <a:lstStyle>
            <a:lvl1pPr>
              <a:defRPr sz="6000"/>
            </a:lvl1pPr>
          </a:lstStyle>
          <a:p>
            <a:r>
              <a:rPr lang="cs-CZ"/>
              <a:t>Kliknutím lze upravit styl.</a:t>
            </a:r>
            <a:endParaRPr lang="en-US"/>
          </a:p>
        </p:txBody>
      </p:sp>
      <p:sp>
        <p:nvSpPr>
          <p:cNvPr id="3" name="Zástupný text 2">
            <a:extLst>
              <a:ext uri="{FF2B5EF4-FFF2-40B4-BE49-F238E27FC236}">
                <a16:creationId xmlns:a16="http://schemas.microsoft.com/office/drawing/2014/main" id="{9F6274D0-EED9-E9FB-061B-6240F9E19C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cs-CZ"/>
              <a:t>Po kliknutí můžete upravovat styly textu v předloze.</a:t>
            </a:r>
          </a:p>
        </p:txBody>
      </p:sp>
      <p:sp>
        <p:nvSpPr>
          <p:cNvPr id="4" name="Zástupný symbol pro datum 3">
            <a:extLst>
              <a:ext uri="{FF2B5EF4-FFF2-40B4-BE49-F238E27FC236}">
                <a16:creationId xmlns:a16="http://schemas.microsoft.com/office/drawing/2014/main" id="{0DB1B03E-5760-7D22-D758-4FF20F500F33}"/>
              </a:ext>
            </a:extLst>
          </p:cNvPr>
          <p:cNvSpPr>
            <a:spLocks noGrp="1"/>
          </p:cNvSpPr>
          <p:nvPr>
            <p:ph type="dt" sz="half" idx="10"/>
          </p:nvPr>
        </p:nvSpPr>
        <p:spPr/>
        <p:txBody>
          <a:bodyPr/>
          <a:lstStyle/>
          <a:p>
            <a:r>
              <a:rPr lang="cs-CZ"/>
              <a:t>18.8.2022</a:t>
            </a:r>
          </a:p>
        </p:txBody>
      </p:sp>
      <p:sp>
        <p:nvSpPr>
          <p:cNvPr id="5" name="Zástupný symbol pro zápatí 4">
            <a:extLst>
              <a:ext uri="{FF2B5EF4-FFF2-40B4-BE49-F238E27FC236}">
                <a16:creationId xmlns:a16="http://schemas.microsoft.com/office/drawing/2014/main" id="{29E90443-094B-79CD-8A64-E4BE544DA473}"/>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21788C44-512A-A266-0302-5DF5402091D5}"/>
              </a:ext>
            </a:extLst>
          </p:cNvPr>
          <p:cNvSpPr>
            <a:spLocks noGrp="1"/>
          </p:cNvSpPr>
          <p:nvPr>
            <p:ph type="sldNum" sz="quarter" idx="12"/>
          </p:nvPr>
        </p:nvSpPr>
        <p:spPr/>
        <p:txBody>
          <a:bodyPr/>
          <a:lstStyle/>
          <a:p>
            <a:fld id="{AD9F5C5F-4392-49C5-81DD-37F176609E69}" type="slidenum">
              <a:rPr lang="cs-CZ" smtClean="0"/>
              <a:t>‹#›</a:t>
            </a:fld>
            <a:endParaRPr lang="cs-CZ"/>
          </a:p>
        </p:txBody>
      </p:sp>
    </p:spTree>
    <p:extLst>
      <p:ext uri="{BB962C8B-B14F-4D97-AF65-F5344CB8AC3E}">
        <p14:creationId xmlns:p14="http://schemas.microsoft.com/office/powerpoint/2010/main" val="3705599154"/>
      </p:ext>
    </p:extLst>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E99A5B2-E364-62B4-FACA-229DF623DF63}"/>
              </a:ext>
            </a:extLst>
          </p:cNvPr>
          <p:cNvSpPr>
            <a:spLocks noGrp="1"/>
          </p:cNvSpPr>
          <p:nvPr>
            <p:ph type="title"/>
          </p:nvPr>
        </p:nvSpPr>
        <p:spPr/>
        <p:txBody>
          <a:bodyPr/>
          <a:lstStyle/>
          <a:p>
            <a:r>
              <a:rPr lang="cs-CZ"/>
              <a:t>Kliknutím lze upravit styl.</a:t>
            </a:r>
            <a:endParaRPr lang="en-US"/>
          </a:p>
        </p:txBody>
      </p:sp>
      <p:sp>
        <p:nvSpPr>
          <p:cNvPr id="3" name="Zástupný obsah 2">
            <a:extLst>
              <a:ext uri="{FF2B5EF4-FFF2-40B4-BE49-F238E27FC236}">
                <a16:creationId xmlns:a16="http://schemas.microsoft.com/office/drawing/2014/main" id="{56601469-8C34-9BBE-3420-612BE33E1912}"/>
              </a:ext>
            </a:extLst>
          </p:cNvPr>
          <p:cNvSpPr>
            <a:spLocks noGrp="1"/>
          </p:cNvSpPr>
          <p:nvPr>
            <p:ph sz="half" idx="1"/>
          </p:nvPr>
        </p:nvSpPr>
        <p:spPr>
          <a:xfrm>
            <a:off x="838200" y="1825625"/>
            <a:ext cx="5181600" cy="435133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a:p>
        </p:txBody>
      </p:sp>
      <p:sp>
        <p:nvSpPr>
          <p:cNvPr id="4" name="Zástupný obsah 3">
            <a:extLst>
              <a:ext uri="{FF2B5EF4-FFF2-40B4-BE49-F238E27FC236}">
                <a16:creationId xmlns:a16="http://schemas.microsoft.com/office/drawing/2014/main" id="{C0AB14A5-190E-08E9-ED56-504D4F9AB863}"/>
              </a:ext>
            </a:extLst>
          </p:cNvPr>
          <p:cNvSpPr>
            <a:spLocks noGrp="1"/>
          </p:cNvSpPr>
          <p:nvPr>
            <p:ph sz="half" idx="2"/>
          </p:nvPr>
        </p:nvSpPr>
        <p:spPr>
          <a:xfrm>
            <a:off x="6172200" y="1825625"/>
            <a:ext cx="5181600" cy="435133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a:p>
        </p:txBody>
      </p:sp>
      <p:sp>
        <p:nvSpPr>
          <p:cNvPr id="5" name="Zástupný symbol pro datum 4">
            <a:extLst>
              <a:ext uri="{FF2B5EF4-FFF2-40B4-BE49-F238E27FC236}">
                <a16:creationId xmlns:a16="http://schemas.microsoft.com/office/drawing/2014/main" id="{FB0246C8-2DAA-EB2C-58F7-87DD2F1DABBB}"/>
              </a:ext>
            </a:extLst>
          </p:cNvPr>
          <p:cNvSpPr>
            <a:spLocks noGrp="1"/>
          </p:cNvSpPr>
          <p:nvPr>
            <p:ph type="dt" sz="half" idx="10"/>
          </p:nvPr>
        </p:nvSpPr>
        <p:spPr/>
        <p:txBody>
          <a:bodyPr/>
          <a:lstStyle/>
          <a:p>
            <a:r>
              <a:rPr lang="cs-CZ"/>
              <a:t>18.8.2022</a:t>
            </a:r>
          </a:p>
        </p:txBody>
      </p:sp>
      <p:sp>
        <p:nvSpPr>
          <p:cNvPr id="6" name="Zástupný symbol pro zápatí 5">
            <a:extLst>
              <a:ext uri="{FF2B5EF4-FFF2-40B4-BE49-F238E27FC236}">
                <a16:creationId xmlns:a16="http://schemas.microsoft.com/office/drawing/2014/main" id="{51DE937C-C3A7-C085-C0C0-F5F07E8DACE8}"/>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8BF5611E-03CF-63EE-C0F4-26420A0509EA}"/>
              </a:ext>
            </a:extLst>
          </p:cNvPr>
          <p:cNvSpPr>
            <a:spLocks noGrp="1"/>
          </p:cNvSpPr>
          <p:nvPr>
            <p:ph type="sldNum" sz="quarter" idx="12"/>
          </p:nvPr>
        </p:nvSpPr>
        <p:spPr/>
        <p:txBody>
          <a:bodyPr/>
          <a:lstStyle/>
          <a:p>
            <a:fld id="{AD9F5C5F-4392-49C5-81DD-37F176609E69}" type="slidenum">
              <a:rPr lang="cs-CZ" smtClean="0"/>
              <a:t>‹#›</a:t>
            </a:fld>
            <a:endParaRPr lang="cs-CZ"/>
          </a:p>
        </p:txBody>
      </p:sp>
    </p:spTree>
    <p:extLst>
      <p:ext uri="{BB962C8B-B14F-4D97-AF65-F5344CB8AC3E}">
        <p14:creationId xmlns:p14="http://schemas.microsoft.com/office/powerpoint/2010/main" val="1248453977"/>
      </p:ext>
    </p:extLst>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3866C0C-096F-97CD-1CA2-9CE8250ED3DC}"/>
              </a:ext>
            </a:extLst>
          </p:cNvPr>
          <p:cNvSpPr>
            <a:spLocks noGrp="1"/>
          </p:cNvSpPr>
          <p:nvPr>
            <p:ph type="title"/>
          </p:nvPr>
        </p:nvSpPr>
        <p:spPr>
          <a:xfrm>
            <a:off x="839788" y="365125"/>
            <a:ext cx="10515600" cy="1325563"/>
          </a:xfrm>
        </p:spPr>
        <p:txBody>
          <a:bodyPr/>
          <a:lstStyle/>
          <a:p>
            <a:r>
              <a:rPr lang="cs-CZ"/>
              <a:t>Kliknutím lze upravit styl.</a:t>
            </a:r>
            <a:endParaRPr lang="en-US"/>
          </a:p>
        </p:txBody>
      </p:sp>
      <p:sp>
        <p:nvSpPr>
          <p:cNvPr id="3" name="Zástupný text 2">
            <a:extLst>
              <a:ext uri="{FF2B5EF4-FFF2-40B4-BE49-F238E27FC236}">
                <a16:creationId xmlns:a16="http://schemas.microsoft.com/office/drawing/2014/main" id="{B1292D04-4EFA-AB89-5A3F-28638DAEE4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4" name="Zástupný obsah 3">
            <a:extLst>
              <a:ext uri="{FF2B5EF4-FFF2-40B4-BE49-F238E27FC236}">
                <a16:creationId xmlns:a16="http://schemas.microsoft.com/office/drawing/2014/main" id="{D54F4FAF-F7DA-BAA0-0BA1-F07B8AF8CEC9}"/>
              </a:ext>
            </a:extLst>
          </p:cNvPr>
          <p:cNvSpPr>
            <a:spLocks noGrp="1"/>
          </p:cNvSpPr>
          <p:nvPr>
            <p:ph sz="half" idx="2"/>
          </p:nvPr>
        </p:nvSpPr>
        <p:spPr>
          <a:xfrm>
            <a:off x="839788" y="2505075"/>
            <a:ext cx="5157787" cy="368458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a:p>
        </p:txBody>
      </p:sp>
      <p:sp>
        <p:nvSpPr>
          <p:cNvPr id="5" name="Zástupný text 4">
            <a:extLst>
              <a:ext uri="{FF2B5EF4-FFF2-40B4-BE49-F238E27FC236}">
                <a16:creationId xmlns:a16="http://schemas.microsoft.com/office/drawing/2014/main" id="{CD375F9F-875D-AF6A-204B-2C2644F2E8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6" name="Zástupný obsah 5">
            <a:extLst>
              <a:ext uri="{FF2B5EF4-FFF2-40B4-BE49-F238E27FC236}">
                <a16:creationId xmlns:a16="http://schemas.microsoft.com/office/drawing/2014/main" id="{00605D78-5121-4D27-7374-9368B787908E}"/>
              </a:ext>
            </a:extLst>
          </p:cNvPr>
          <p:cNvSpPr>
            <a:spLocks noGrp="1"/>
          </p:cNvSpPr>
          <p:nvPr>
            <p:ph sz="quarter" idx="4"/>
          </p:nvPr>
        </p:nvSpPr>
        <p:spPr>
          <a:xfrm>
            <a:off x="6172200" y="2505075"/>
            <a:ext cx="5183188" cy="368458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a:p>
        </p:txBody>
      </p:sp>
      <p:sp>
        <p:nvSpPr>
          <p:cNvPr id="7" name="Zástupný symbol pro datum 6">
            <a:extLst>
              <a:ext uri="{FF2B5EF4-FFF2-40B4-BE49-F238E27FC236}">
                <a16:creationId xmlns:a16="http://schemas.microsoft.com/office/drawing/2014/main" id="{77BC563F-B661-9CB9-2C85-F4950C3D97D2}"/>
              </a:ext>
            </a:extLst>
          </p:cNvPr>
          <p:cNvSpPr>
            <a:spLocks noGrp="1"/>
          </p:cNvSpPr>
          <p:nvPr>
            <p:ph type="dt" sz="half" idx="10"/>
          </p:nvPr>
        </p:nvSpPr>
        <p:spPr/>
        <p:txBody>
          <a:bodyPr/>
          <a:lstStyle/>
          <a:p>
            <a:r>
              <a:rPr lang="cs-CZ"/>
              <a:t>18.8.2022</a:t>
            </a:r>
          </a:p>
        </p:txBody>
      </p:sp>
      <p:sp>
        <p:nvSpPr>
          <p:cNvPr id="8" name="Zástupný symbol pro zápatí 7">
            <a:extLst>
              <a:ext uri="{FF2B5EF4-FFF2-40B4-BE49-F238E27FC236}">
                <a16:creationId xmlns:a16="http://schemas.microsoft.com/office/drawing/2014/main" id="{2489CD3E-B133-8D2B-12BB-89A22157A241}"/>
              </a:ext>
            </a:extLst>
          </p:cNvPr>
          <p:cNvSpPr>
            <a:spLocks noGrp="1"/>
          </p:cNvSpPr>
          <p:nvPr>
            <p:ph type="ftr" sz="quarter" idx="11"/>
          </p:nvPr>
        </p:nvSpPr>
        <p:spPr/>
        <p:txBody>
          <a:bodyPr/>
          <a:lstStyle/>
          <a:p>
            <a:endParaRPr lang="cs-CZ"/>
          </a:p>
        </p:txBody>
      </p:sp>
      <p:sp>
        <p:nvSpPr>
          <p:cNvPr id="9" name="Zástupný symbol pro číslo snímku 8">
            <a:extLst>
              <a:ext uri="{FF2B5EF4-FFF2-40B4-BE49-F238E27FC236}">
                <a16:creationId xmlns:a16="http://schemas.microsoft.com/office/drawing/2014/main" id="{1F299D00-91CA-E092-D67E-DB50CC1F65A4}"/>
              </a:ext>
            </a:extLst>
          </p:cNvPr>
          <p:cNvSpPr>
            <a:spLocks noGrp="1"/>
          </p:cNvSpPr>
          <p:nvPr>
            <p:ph type="sldNum" sz="quarter" idx="12"/>
          </p:nvPr>
        </p:nvSpPr>
        <p:spPr/>
        <p:txBody>
          <a:bodyPr/>
          <a:lstStyle/>
          <a:p>
            <a:fld id="{AD9F5C5F-4392-49C5-81DD-37F176609E69}" type="slidenum">
              <a:rPr lang="cs-CZ" smtClean="0"/>
              <a:t>‹#›</a:t>
            </a:fld>
            <a:endParaRPr lang="cs-CZ"/>
          </a:p>
        </p:txBody>
      </p:sp>
    </p:spTree>
    <p:extLst>
      <p:ext uri="{BB962C8B-B14F-4D97-AF65-F5344CB8AC3E}">
        <p14:creationId xmlns:p14="http://schemas.microsoft.com/office/powerpoint/2010/main" val="1242299990"/>
      </p:ext>
    </p:extLst>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enom nadpis">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56DA144-7AFB-C128-9559-FA38556920A8}"/>
              </a:ext>
            </a:extLst>
          </p:cNvPr>
          <p:cNvSpPr>
            <a:spLocks noGrp="1"/>
          </p:cNvSpPr>
          <p:nvPr>
            <p:ph type="title"/>
          </p:nvPr>
        </p:nvSpPr>
        <p:spPr/>
        <p:txBody>
          <a:bodyPr/>
          <a:lstStyle/>
          <a:p>
            <a:r>
              <a:rPr lang="cs-CZ"/>
              <a:t>Kliknutím lze upravit styl.</a:t>
            </a:r>
            <a:endParaRPr lang="en-US"/>
          </a:p>
        </p:txBody>
      </p:sp>
      <p:sp>
        <p:nvSpPr>
          <p:cNvPr id="3" name="Zástupný symbol pro datum 2">
            <a:extLst>
              <a:ext uri="{FF2B5EF4-FFF2-40B4-BE49-F238E27FC236}">
                <a16:creationId xmlns:a16="http://schemas.microsoft.com/office/drawing/2014/main" id="{A031A85E-1F13-D666-EBF6-C83EE7DB508D}"/>
              </a:ext>
            </a:extLst>
          </p:cNvPr>
          <p:cNvSpPr>
            <a:spLocks noGrp="1"/>
          </p:cNvSpPr>
          <p:nvPr>
            <p:ph type="dt" sz="half" idx="10"/>
          </p:nvPr>
        </p:nvSpPr>
        <p:spPr/>
        <p:txBody>
          <a:bodyPr/>
          <a:lstStyle/>
          <a:p>
            <a:r>
              <a:rPr lang="cs-CZ"/>
              <a:t>18.8.2022</a:t>
            </a:r>
          </a:p>
        </p:txBody>
      </p:sp>
      <p:sp>
        <p:nvSpPr>
          <p:cNvPr id="4" name="Zástupný symbol pro zápatí 3">
            <a:extLst>
              <a:ext uri="{FF2B5EF4-FFF2-40B4-BE49-F238E27FC236}">
                <a16:creationId xmlns:a16="http://schemas.microsoft.com/office/drawing/2014/main" id="{2855182E-DC7D-94E2-7072-E5FFC248AE21}"/>
              </a:ext>
            </a:extLst>
          </p:cNvPr>
          <p:cNvSpPr>
            <a:spLocks noGrp="1"/>
          </p:cNvSpPr>
          <p:nvPr>
            <p:ph type="ftr" sz="quarter" idx="11"/>
          </p:nvPr>
        </p:nvSpPr>
        <p:spPr/>
        <p:txBody>
          <a:bodyPr/>
          <a:lstStyle/>
          <a:p>
            <a:endParaRPr lang="cs-CZ"/>
          </a:p>
        </p:txBody>
      </p:sp>
      <p:sp>
        <p:nvSpPr>
          <p:cNvPr id="5" name="Zástupný symbol pro číslo snímku 4">
            <a:extLst>
              <a:ext uri="{FF2B5EF4-FFF2-40B4-BE49-F238E27FC236}">
                <a16:creationId xmlns:a16="http://schemas.microsoft.com/office/drawing/2014/main" id="{B0506301-10A0-B81C-C7D6-BC4228C16740}"/>
              </a:ext>
            </a:extLst>
          </p:cNvPr>
          <p:cNvSpPr>
            <a:spLocks noGrp="1"/>
          </p:cNvSpPr>
          <p:nvPr>
            <p:ph type="sldNum" sz="quarter" idx="12"/>
          </p:nvPr>
        </p:nvSpPr>
        <p:spPr/>
        <p:txBody>
          <a:bodyPr/>
          <a:lstStyle/>
          <a:p>
            <a:fld id="{AD9F5C5F-4392-49C5-81DD-37F176609E69}" type="slidenum">
              <a:rPr lang="cs-CZ" smtClean="0"/>
              <a:t>‹#›</a:t>
            </a:fld>
            <a:endParaRPr lang="cs-CZ"/>
          </a:p>
        </p:txBody>
      </p:sp>
    </p:spTree>
    <p:extLst>
      <p:ext uri="{BB962C8B-B14F-4D97-AF65-F5344CB8AC3E}">
        <p14:creationId xmlns:p14="http://schemas.microsoft.com/office/powerpoint/2010/main" val="758792636"/>
      </p:ext>
    </p:extLst>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Zástupný symbol pro datum 1">
            <a:extLst>
              <a:ext uri="{FF2B5EF4-FFF2-40B4-BE49-F238E27FC236}">
                <a16:creationId xmlns:a16="http://schemas.microsoft.com/office/drawing/2014/main" id="{4DBD54B5-70B2-F2DA-D68D-F3CC6592950A}"/>
              </a:ext>
            </a:extLst>
          </p:cNvPr>
          <p:cNvSpPr>
            <a:spLocks noGrp="1"/>
          </p:cNvSpPr>
          <p:nvPr>
            <p:ph type="dt" sz="half" idx="10"/>
          </p:nvPr>
        </p:nvSpPr>
        <p:spPr/>
        <p:txBody>
          <a:bodyPr/>
          <a:lstStyle/>
          <a:p>
            <a:r>
              <a:rPr lang="cs-CZ"/>
              <a:t>18.8.2022</a:t>
            </a:r>
          </a:p>
        </p:txBody>
      </p:sp>
      <p:sp>
        <p:nvSpPr>
          <p:cNvPr id="3" name="Zástupný symbol pro zápatí 2">
            <a:extLst>
              <a:ext uri="{FF2B5EF4-FFF2-40B4-BE49-F238E27FC236}">
                <a16:creationId xmlns:a16="http://schemas.microsoft.com/office/drawing/2014/main" id="{57D6B760-1E98-79A8-9C00-10325E85A8A3}"/>
              </a:ext>
            </a:extLst>
          </p:cNvPr>
          <p:cNvSpPr>
            <a:spLocks noGrp="1"/>
          </p:cNvSpPr>
          <p:nvPr>
            <p:ph type="ftr" sz="quarter" idx="11"/>
          </p:nvPr>
        </p:nvSpPr>
        <p:spPr/>
        <p:txBody>
          <a:bodyPr/>
          <a:lstStyle/>
          <a:p>
            <a:endParaRPr lang="cs-CZ"/>
          </a:p>
        </p:txBody>
      </p:sp>
      <p:sp>
        <p:nvSpPr>
          <p:cNvPr id="4" name="Zástupný symbol pro číslo snímku 3">
            <a:extLst>
              <a:ext uri="{FF2B5EF4-FFF2-40B4-BE49-F238E27FC236}">
                <a16:creationId xmlns:a16="http://schemas.microsoft.com/office/drawing/2014/main" id="{F9D3A3E1-D752-C44D-3BF8-AD0929E11439}"/>
              </a:ext>
            </a:extLst>
          </p:cNvPr>
          <p:cNvSpPr>
            <a:spLocks noGrp="1"/>
          </p:cNvSpPr>
          <p:nvPr>
            <p:ph type="sldNum" sz="quarter" idx="12"/>
          </p:nvPr>
        </p:nvSpPr>
        <p:spPr/>
        <p:txBody>
          <a:bodyPr/>
          <a:lstStyle/>
          <a:p>
            <a:fld id="{AD9F5C5F-4392-49C5-81DD-37F176609E69}" type="slidenum">
              <a:rPr lang="cs-CZ" smtClean="0"/>
              <a:t>‹#›</a:t>
            </a:fld>
            <a:endParaRPr lang="cs-CZ"/>
          </a:p>
        </p:txBody>
      </p:sp>
    </p:spTree>
    <p:extLst>
      <p:ext uri="{BB962C8B-B14F-4D97-AF65-F5344CB8AC3E}">
        <p14:creationId xmlns:p14="http://schemas.microsoft.com/office/powerpoint/2010/main" val="3205427530"/>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83FBD66-4096-F81F-32F5-214EA2176983}"/>
              </a:ext>
            </a:extLst>
          </p:cNvPr>
          <p:cNvSpPr>
            <a:spLocks noGrp="1"/>
          </p:cNvSpPr>
          <p:nvPr>
            <p:ph type="title"/>
          </p:nvPr>
        </p:nvSpPr>
        <p:spPr>
          <a:xfrm>
            <a:off x="839788" y="457200"/>
            <a:ext cx="3932237" cy="1600200"/>
          </a:xfrm>
        </p:spPr>
        <p:txBody>
          <a:bodyPr anchor="b"/>
          <a:lstStyle>
            <a:lvl1pPr>
              <a:defRPr sz="3200"/>
            </a:lvl1pPr>
          </a:lstStyle>
          <a:p>
            <a:r>
              <a:rPr lang="cs-CZ"/>
              <a:t>Kliknutím lze upravit styl.</a:t>
            </a:r>
            <a:endParaRPr lang="en-US"/>
          </a:p>
        </p:txBody>
      </p:sp>
      <p:sp>
        <p:nvSpPr>
          <p:cNvPr id="3" name="Zástupný obsah 2">
            <a:extLst>
              <a:ext uri="{FF2B5EF4-FFF2-40B4-BE49-F238E27FC236}">
                <a16:creationId xmlns:a16="http://schemas.microsoft.com/office/drawing/2014/main" id="{432D0342-1AC4-8334-2E81-33DA19C397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a:p>
        </p:txBody>
      </p:sp>
      <p:sp>
        <p:nvSpPr>
          <p:cNvPr id="4" name="Zástupný text 3">
            <a:extLst>
              <a:ext uri="{FF2B5EF4-FFF2-40B4-BE49-F238E27FC236}">
                <a16:creationId xmlns:a16="http://schemas.microsoft.com/office/drawing/2014/main" id="{075E60A0-91EE-3A38-75FF-EE0D105449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5" name="Zástupný symbol pro datum 4">
            <a:extLst>
              <a:ext uri="{FF2B5EF4-FFF2-40B4-BE49-F238E27FC236}">
                <a16:creationId xmlns:a16="http://schemas.microsoft.com/office/drawing/2014/main" id="{10A0D2BD-5A46-C34F-3150-F9FC63A4A995}"/>
              </a:ext>
            </a:extLst>
          </p:cNvPr>
          <p:cNvSpPr>
            <a:spLocks noGrp="1"/>
          </p:cNvSpPr>
          <p:nvPr>
            <p:ph type="dt" sz="half" idx="10"/>
          </p:nvPr>
        </p:nvSpPr>
        <p:spPr/>
        <p:txBody>
          <a:bodyPr/>
          <a:lstStyle/>
          <a:p>
            <a:r>
              <a:rPr lang="cs-CZ"/>
              <a:t>18.8.2022</a:t>
            </a:r>
          </a:p>
        </p:txBody>
      </p:sp>
      <p:sp>
        <p:nvSpPr>
          <p:cNvPr id="6" name="Zástupný symbol pro zápatí 5">
            <a:extLst>
              <a:ext uri="{FF2B5EF4-FFF2-40B4-BE49-F238E27FC236}">
                <a16:creationId xmlns:a16="http://schemas.microsoft.com/office/drawing/2014/main" id="{79870F2B-DCC6-A736-6389-9521B9A6195D}"/>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7A826D13-4F68-5021-A75D-06F3E24F1E03}"/>
              </a:ext>
            </a:extLst>
          </p:cNvPr>
          <p:cNvSpPr>
            <a:spLocks noGrp="1"/>
          </p:cNvSpPr>
          <p:nvPr>
            <p:ph type="sldNum" sz="quarter" idx="12"/>
          </p:nvPr>
        </p:nvSpPr>
        <p:spPr/>
        <p:txBody>
          <a:bodyPr/>
          <a:lstStyle/>
          <a:p>
            <a:fld id="{AD9F5C5F-4392-49C5-81DD-37F176609E69}" type="slidenum">
              <a:rPr lang="cs-CZ" smtClean="0"/>
              <a:t>‹#›</a:t>
            </a:fld>
            <a:endParaRPr lang="cs-CZ"/>
          </a:p>
        </p:txBody>
      </p:sp>
    </p:spTree>
    <p:extLst>
      <p:ext uri="{BB962C8B-B14F-4D97-AF65-F5344CB8AC3E}">
        <p14:creationId xmlns:p14="http://schemas.microsoft.com/office/powerpoint/2010/main" val="201771772"/>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24FA7F6-F4D8-D2A7-D943-D71536E55BFE}"/>
              </a:ext>
            </a:extLst>
          </p:cNvPr>
          <p:cNvSpPr>
            <a:spLocks noGrp="1"/>
          </p:cNvSpPr>
          <p:nvPr>
            <p:ph type="title"/>
          </p:nvPr>
        </p:nvSpPr>
        <p:spPr>
          <a:xfrm>
            <a:off x="839788" y="457200"/>
            <a:ext cx="3932237" cy="1600200"/>
          </a:xfrm>
        </p:spPr>
        <p:txBody>
          <a:bodyPr anchor="b"/>
          <a:lstStyle>
            <a:lvl1pPr>
              <a:defRPr sz="3200"/>
            </a:lvl1pPr>
          </a:lstStyle>
          <a:p>
            <a:r>
              <a:rPr lang="cs-CZ"/>
              <a:t>Kliknutím lze upravit styl.</a:t>
            </a:r>
            <a:endParaRPr lang="en-US"/>
          </a:p>
        </p:txBody>
      </p:sp>
      <p:sp>
        <p:nvSpPr>
          <p:cNvPr id="3" name="Zástupný symbol obrázku 2">
            <a:extLst>
              <a:ext uri="{FF2B5EF4-FFF2-40B4-BE49-F238E27FC236}">
                <a16:creationId xmlns:a16="http://schemas.microsoft.com/office/drawing/2014/main" id="{1BBA08FC-B01D-3F83-CD74-E5535CF8D9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cs-CZ"/>
              <a:t>Kliknutím na ikonu přidáte obrázek.</a:t>
            </a:r>
            <a:endParaRPr lang="en-US"/>
          </a:p>
        </p:txBody>
      </p:sp>
      <p:sp>
        <p:nvSpPr>
          <p:cNvPr id="4" name="Zástupný text 3">
            <a:extLst>
              <a:ext uri="{FF2B5EF4-FFF2-40B4-BE49-F238E27FC236}">
                <a16:creationId xmlns:a16="http://schemas.microsoft.com/office/drawing/2014/main" id="{1E6580B9-93B0-8E23-F50A-5AF56073A4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5" name="Zástupný symbol pro datum 4">
            <a:extLst>
              <a:ext uri="{FF2B5EF4-FFF2-40B4-BE49-F238E27FC236}">
                <a16:creationId xmlns:a16="http://schemas.microsoft.com/office/drawing/2014/main" id="{E14E985E-56F7-B43B-2373-57070236B406}"/>
              </a:ext>
            </a:extLst>
          </p:cNvPr>
          <p:cNvSpPr>
            <a:spLocks noGrp="1"/>
          </p:cNvSpPr>
          <p:nvPr>
            <p:ph type="dt" sz="half" idx="10"/>
          </p:nvPr>
        </p:nvSpPr>
        <p:spPr/>
        <p:txBody>
          <a:bodyPr/>
          <a:lstStyle/>
          <a:p>
            <a:r>
              <a:rPr lang="cs-CZ"/>
              <a:t>18.8.2022</a:t>
            </a:r>
          </a:p>
        </p:txBody>
      </p:sp>
      <p:sp>
        <p:nvSpPr>
          <p:cNvPr id="6" name="Zástupný symbol pro zápatí 5">
            <a:extLst>
              <a:ext uri="{FF2B5EF4-FFF2-40B4-BE49-F238E27FC236}">
                <a16:creationId xmlns:a16="http://schemas.microsoft.com/office/drawing/2014/main" id="{8BA78E2F-4E7A-EE64-69B8-E751C5C4707E}"/>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4695ED6C-DB0F-1B77-274C-9BA20D20E838}"/>
              </a:ext>
            </a:extLst>
          </p:cNvPr>
          <p:cNvSpPr>
            <a:spLocks noGrp="1"/>
          </p:cNvSpPr>
          <p:nvPr>
            <p:ph type="sldNum" sz="quarter" idx="12"/>
          </p:nvPr>
        </p:nvSpPr>
        <p:spPr/>
        <p:txBody>
          <a:bodyPr/>
          <a:lstStyle/>
          <a:p>
            <a:fld id="{AD9F5C5F-4392-49C5-81DD-37F176609E69}" type="slidenum">
              <a:rPr lang="cs-CZ" smtClean="0"/>
              <a:t>‹#›</a:t>
            </a:fld>
            <a:endParaRPr lang="cs-CZ"/>
          </a:p>
        </p:txBody>
      </p:sp>
    </p:spTree>
    <p:extLst>
      <p:ext uri="{BB962C8B-B14F-4D97-AF65-F5344CB8AC3E}">
        <p14:creationId xmlns:p14="http://schemas.microsoft.com/office/powerpoint/2010/main" val="2905788300"/>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C798B64-3919-FF6D-9712-18B2767583D6}"/>
              </a:ext>
            </a:extLst>
          </p:cNvPr>
          <p:cNvSpPr>
            <a:spLocks noGrp="1"/>
          </p:cNvSpPr>
          <p:nvPr>
            <p:ph type="title"/>
          </p:nvPr>
        </p:nvSpPr>
        <p:spPr/>
        <p:txBody>
          <a:bodyPr/>
          <a:lstStyle/>
          <a:p>
            <a:r>
              <a:rPr lang="cs-CZ"/>
              <a:t>Kliknutím lze upravit styl.</a:t>
            </a:r>
            <a:endParaRPr lang="en-US"/>
          </a:p>
        </p:txBody>
      </p:sp>
      <p:sp>
        <p:nvSpPr>
          <p:cNvPr id="3" name="Zástupný symbol pro svislý text 2">
            <a:extLst>
              <a:ext uri="{FF2B5EF4-FFF2-40B4-BE49-F238E27FC236}">
                <a16:creationId xmlns:a16="http://schemas.microsoft.com/office/drawing/2014/main" id="{7D58B22E-5DF7-06A7-BA07-0694053D4584}"/>
              </a:ext>
            </a:extLst>
          </p:cNvPr>
          <p:cNvSpPr>
            <a:spLocks noGrp="1"/>
          </p:cNvSpPr>
          <p:nvPr>
            <p:ph type="body" orient="vert" idx="1"/>
          </p:nvPr>
        </p:nvSpPr>
        <p:spPr/>
        <p:txBody>
          <a:bodyPr vert="eaVe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a:p>
        </p:txBody>
      </p:sp>
      <p:sp>
        <p:nvSpPr>
          <p:cNvPr id="4" name="Zástupný symbol pro datum 3">
            <a:extLst>
              <a:ext uri="{FF2B5EF4-FFF2-40B4-BE49-F238E27FC236}">
                <a16:creationId xmlns:a16="http://schemas.microsoft.com/office/drawing/2014/main" id="{098AD210-DC96-0EE2-B989-F5FDD67305F6}"/>
              </a:ext>
            </a:extLst>
          </p:cNvPr>
          <p:cNvSpPr>
            <a:spLocks noGrp="1"/>
          </p:cNvSpPr>
          <p:nvPr>
            <p:ph type="dt" sz="half" idx="10"/>
          </p:nvPr>
        </p:nvSpPr>
        <p:spPr/>
        <p:txBody>
          <a:bodyPr/>
          <a:lstStyle/>
          <a:p>
            <a:r>
              <a:rPr lang="cs-CZ"/>
              <a:t>18.8.2022</a:t>
            </a:r>
          </a:p>
        </p:txBody>
      </p:sp>
      <p:sp>
        <p:nvSpPr>
          <p:cNvPr id="5" name="Zástupný symbol pro zápatí 4">
            <a:extLst>
              <a:ext uri="{FF2B5EF4-FFF2-40B4-BE49-F238E27FC236}">
                <a16:creationId xmlns:a16="http://schemas.microsoft.com/office/drawing/2014/main" id="{B5BA7F5E-F373-A4F4-DC8A-0372AC03B339}"/>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36693E50-C801-8A66-1EDE-E2429C7B504A}"/>
              </a:ext>
            </a:extLst>
          </p:cNvPr>
          <p:cNvSpPr>
            <a:spLocks noGrp="1"/>
          </p:cNvSpPr>
          <p:nvPr>
            <p:ph type="sldNum" sz="quarter" idx="12"/>
          </p:nvPr>
        </p:nvSpPr>
        <p:spPr/>
        <p:txBody>
          <a:bodyPr/>
          <a:lstStyle/>
          <a:p>
            <a:fld id="{AD9F5C5F-4392-49C5-81DD-37F176609E69}" type="slidenum">
              <a:rPr lang="cs-CZ" smtClean="0"/>
              <a:t>‹#›</a:t>
            </a:fld>
            <a:endParaRPr lang="cs-CZ"/>
          </a:p>
        </p:txBody>
      </p:sp>
    </p:spTree>
    <p:extLst>
      <p:ext uri="{BB962C8B-B14F-4D97-AF65-F5344CB8AC3E}">
        <p14:creationId xmlns:p14="http://schemas.microsoft.com/office/powerpoint/2010/main" val="3540582046"/>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a:extLst>
              <a:ext uri="{FF2B5EF4-FFF2-40B4-BE49-F238E27FC236}">
                <a16:creationId xmlns:a16="http://schemas.microsoft.com/office/drawing/2014/main" id="{B6AE27DC-67C9-FFEA-B9CE-6DB61634C2A0}"/>
              </a:ext>
            </a:extLst>
          </p:cNvPr>
          <p:cNvSpPr>
            <a:spLocks noGrp="1"/>
          </p:cNvSpPr>
          <p:nvPr>
            <p:ph type="title" orient="vert"/>
          </p:nvPr>
        </p:nvSpPr>
        <p:spPr>
          <a:xfrm>
            <a:off x="8724900" y="365125"/>
            <a:ext cx="2628900" cy="5811838"/>
          </a:xfrm>
        </p:spPr>
        <p:txBody>
          <a:bodyPr vert="eaVert"/>
          <a:lstStyle/>
          <a:p>
            <a:r>
              <a:rPr lang="cs-CZ"/>
              <a:t>Kliknutím lze upravit styl.</a:t>
            </a:r>
            <a:endParaRPr lang="en-US"/>
          </a:p>
        </p:txBody>
      </p:sp>
      <p:sp>
        <p:nvSpPr>
          <p:cNvPr id="3" name="Zástupný symbol pro svislý text 2">
            <a:extLst>
              <a:ext uri="{FF2B5EF4-FFF2-40B4-BE49-F238E27FC236}">
                <a16:creationId xmlns:a16="http://schemas.microsoft.com/office/drawing/2014/main" id="{FFEC7E5C-34CC-1D7F-FF01-A086E4B2CC98}"/>
              </a:ext>
            </a:extLst>
          </p:cNvPr>
          <p:cNvSpPr>
            <a:spLocks noGrp="1"/>
          </p:cNvSpPr>
          <p:nvPr>
            <p:ph type="body" orient="vert" idx="1"/>
          </p:nvPr>
        </p:nvSpPr>
        <p:spPr>
          <a:xfrm>
            <a:off x="838200" y="365125"/>
            <a:ext cx="7734300" cy="5811838"/>
          </a:xfrm>
        </p:spPr>
        <p:txBody>
          <a:bodyPr vert="eaVe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a:p>
        </p:txBody>
      </p:sp>
      <p:sp>
        <p:nvSpPr>
          <p:cNvPr id="4" name="Zástupný symbol pro datum 3">
            <a:extLst>
              <a:ext uri="{FF2B5EF4-FFF2-40B4-BE49-F238E27FC236}">
                <a16:creationId xmlns:a16="http://schemas.microsoft.com/office/drawing/2014/main" id="{26383E7A-694F-4EE0-8925-ED56E93FD461}"/>
              </a:ext>
            </a:extLst>
          </p:cNvPr>
          <p:cNvSpPr>
            <a:spLocks noGrp="1"/>
          </p:cNvSpPr>
          <p:nvPr>
            <p:ph type="dt" sz="half" idx="10"/>
          </p:nvPr>
        </p:nvSpPr>
        <p:spPr/>
        <p:txBody>
          <a:bodyPr/>
          <a:lstStyle/>
          <a:p>
            <a:r>
              <a:rPr lang="cs-CZ"/>
              <a:t>18.8.2022</a:t>
            </a:r>
          </a:p>
        </p:txBody>
      </p:sp>
      <p:sp>
        <p:nvSpPr>
          <p:cNvPr id="5" name="Zástupný symbol pro zápatí 4">
            <a:extLst>
              <a:ext uri="{FF2B5EF4-FFF2-40B4-BE49-F238E27FC236}">
                <a16:creationId xmlns:a16="http://schemas.microsoft.com/office/drawing/2014/main" id="{58113260-9216-5798-6105-D5F50E316DF7}"/>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DFA638EC-3CA8-E237-E8F7-79C3E86EED1C}"/>
              </a:ext>
            </a:extLst>
          </p:cNvPr>
          <p:cNvSpPr>
            <a:spLocks noGrp="1"/>
          </p:cNvSpPr>
          <p:nvPr>
            <p:ph type="sldNum" sz="quarter" idx="12"/>
          </p:nvPr>
        </p:nvSpPr>
        <p:spPr/>
        <p:txBody>
          <a:bodyPr/>
          <a:lstStyle/>
          <a:p>
            <a:fld id="{AD9F5C5F-4392-49C5-81DD-37F176609E69}" type="slidenum">
              <a:rPr lang="cs-CZ" smtClean="0"/>
              <a:t>‹#›</a:t>
            </a:fld>
            <a:endParaRPr lang="cs-CZ"/>
          </a:p>
        </p:txBody>
      </p:sp>
    </p:spTree>
    <p:extLst>
      <p:ext uri="{BB962C8B-B14F-4D97-AF65-F5344CB8AC3E}">
        <p14:creationId xmlns:p14="http://schemas.microsoft.com/office/powerpoint/2010/main" val="3269697204"/>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6" name="Subtitle 2"/>
          <p:cNvSpPr>
            <a:spLocks noGrp="1"/>
          </p:cNvSpPr>
          <p:nvPr>
            <p:ph type="subTitle" idx="1"/>
          </p:nvPr>
        </p:nvSpPr>
        <p:spPr>
          <a:xfrm>
            <a:off x="625995" y="5079369"/>
            <a:ext cx="5758807" cy="384175"/>
          </a:xfrm>
          <a:prstGeom prst="rect">
            <a:avLst/>
          </a:prstGeom>
        </p:spPr>
        <p:txBody>
          <a:bodyPr lIns="91420" tIns="45710" rIns="91420" bIns="45710" anchor="b" anchorCtr="0">
            <a:noAutofit/>
          </a:bodyPr>
          <a:lstStyle>
            <a:lvl1pPr marL="0" indent="0" algn="l">
              <a:buNone/>
              <a:defRPr sz="1600" b="0" i="0">
                <a:solidFill>
                  <a:schemeClr val="accent5"/>
                </a:solidFill>
                <a:latin typeface="+mn-lt"/>
                <a:cs typeface="CiscoSans"/>
              </a:defRPr>
            </a:lvl1pPr>
            <a:lvl2pPr marL="457130" indent="0" algn="ctr">
              <a:buNone/>
              <a:defRPr>
                <a:solidFill>
                  <a:schemeClr val="tx1">
                    <a:tint val="75000"/>
                  </a:schemeClr>
                </a:solidFill>
              </a:defRPr>
            </a:lvl2pPr>
            <a:lvl3pPr marL="914270" indent="0" algn="ctr">
              <a:buNone/>
              <a:defRPr>
                <a:solidFill>
                  <a:schemeClr val="tx1">
                    <a:tint val="75000"/>
                  </a:schemeClr>
                </a:solidFill>
              </a:defRPr>
            </a:lvl3pPr>
            <a:lvl4pPr marL="1371404" indent="0" algn="ctr">
              <a:buNone/>
              <a:defRPr>
                <a:solidFill>
                  <a:schemeClr val="tx1">
                    <a:tint val="75000"/>
                  </a:schemeClr>
                </a:solidFill>
              </a:defRPr>
            </a:lvl4pPr>
            <a:lvl5pPr marL="1828542" indent="0" algn="ctr">
              <a:buNone/>
              <a:defRPr>
                <a:solidFill>
                  <a:schemeClr val="tx1">
                    <a:tint val="75000"/>
                  </a:schemeClr>
                </a:solidFill>
              </a:defRPr>
            </a:lvl5pPr>
            <a:lvl6pPr marL="2285672" indent="0" algn="ctr">
              <a:buNone/>
              <a:defRPr>
                <a:solidFill>
                  <a:schemeClr val="tx1">
                    <a:tint val="75000"/>
                  </a:schemeClr>
                </a:solidFill>
              </a:defRPr>
            </a:lvl6pPr>
            <a:lvl7pPr marL="2742813" indent="0" algn="ctr">
              <a:buNone/>
              <a:defRPr>
                <a:solidFill>
                  <a:schemeClr val="tx1">
                    <a:tint val="75000"/>
                  </a:schemeClr>
                </a:solidFill>
              </a:defRPr>
            </a:lvl7pPr>
            <a:lvl8pPr marL="3199947" indent="0" algn="ctr">
              <a:buNone/>
              <a:defRPr>
                <a:solidFill>
                  <a:schemeClr val="tx1">
                    <a:tint val="75000"/>
                  </a:schemeClr>
                </a:solidFill>
              </a:defRPr>
            </a:lvl8pPr>
            <a:lvl9pPr marL="3657085"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625995" y="5399365"/>
            <a:ext cx="5758807" cy="384175"/>
          </a:xfrm>
          <a:prstGeom prst="rect">
            <a:avLst/>
          </a:prstGeom>
        </p:spPr>
        <p:txBody>
          <a:bodyPr lIns="91420" tIns="45710" rIns="91420" bIns="45710"/>
          <a:lstStyle>
            <a:lvl1pPr marL="0" indent="0" algn="l">
              <a:buFontTx/>
              <a:buNone/>
              <a:defRPr lang="en-US" sz="1600" b="0" i="0" kern="1200" dirty="0" smtClean="0">
                <a:solidFill>
                  <a:schemeClr val="accent5"/>
                </a:solidFill>
                <a:latin typeface="+mn-lt"/>
                <a:ea typeface="+mn-ea"/>
                <a:cs typeface="CiscoSans ExtraLight" pitchFamily="34" charset="0"/>
              </a:defRPr>
            </a:lvl1pPr>
            <a:lvl2pPr>
              <a:buFontTx/>
              <a:buNone/>
              <a:defRPr lang="en-US" sz="2000" kern="1200" dirty="0" smtClean="0">
                <a:solidFill>
                  <a:schemeClr val="bg1"/>
                </a:solidFill>
                <a:latin typeface="+mj-lt"/>
                <a:ea typeface="+mn-ea"/>
                <a:cs typeface="+mn-cs"/>
              </a:defRPr>
            </a:lvl2pPr>
            <a:lvl3pPr>
              <a:buFontTx/>
              <a:buNone/>
              <a:defRPr lang="en-US" sz="2000" kern="1200" dirty="0" smtClean="0">
                <a:solidFill>
                  <a:schemeClr val="bg1"/>
                </a:solidFill>
                <a:latin typeface="+mj-lt"/>
                <a:ea typeface="+mn-ea"/>
                <a:cs typeface="+mn-cs"/>
              </a:defRPr>
            </a:lvl3pPr>
            <a:lvl4pPr>
              <a:buFontTx/>
              <a:buNone/>
              <a:defRPr lang="en-US" sz="2000" kern="1200" dirty="0" smtClean="0">
                <a:solidFill>
                  <a:schemeClr val="bg1"/>
                </a:solidFill>
                <a:latin typeface="+mj-lt"/>
                <a:ea typeface="+mn-ea"/>
                <a:cs typeface="+mn-cs"/>
              </a:defRPr>
            </a:lvl4pPr>
            <a:lvl5pPr>
              <a:buFontTx/>
              <a:buNone/>
              <a:defRPr lang="en-US" sz="20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625995" y="5719361"/>
            <a:ext cx="5758807" cy="384175"/>
          </a:xfrm>
          <a:prstGeom prst="rect">
            <a:avLst/>
          </a:prstGeom>
        </p:spPr>
        <p:txBody>
          <a:bodyPr lIns="91420" tIns="45710" rIns="91420" bIns="45710"/>
          <a:lstStyle>
            <a:lvl1pPr marL="0" indent="0" algn="l">
              <a:buFontTx/>
              <a:buNone/>
              <a:defRPr lang="en-US" sz="1600" b="0" i="0" kern="1200" dirty="0" smtClean="0">
                <a:solidFill>
                  <a:schemeClr val="accent5"/>
                </a:solidFill>
                <a:latin typeface="+mn-lt"/>
                <a:ea typeface="+mn-ea"/>
                <a:cs typeface="CiscoSans ExtraLight" pitchFamily="34" charset="0"/>
              </a:defRPr>
            </a:lvl1pPr>
            <a:lvl2pPr>
              <a:buFontTx/>
              <a:buNone/>
              <a:defRPr lang="en-US" sz="2000" kern="1200" dirty="0" smtClean="0">
                <a:solidFill>
                  <a:schemeClr val="bg1"/>
                </a:solidFill>
                <a:latin typeface="+mj-lt"/>
                <a:ea typeface="+mn-ea"/>
                <a:cs typeface="+mn-cs"/>
              </a:defRPr>
            </a:lvl2pPr>
            <a:lvl3pPr>
              <a:buFontTx/>
              <a:buNone/>
              <a:defRPr lang="en-US" sz="2000" kern="1200" dirty="0" smtClean="0">
                <a:solidFill>
                  <a:schemeClr val="bg1"/>
                </a:solidFill>
                <a:latin typeface="+mj-lt"/>
                <a:ea typeface="+mn-ea"/>
                <a:cs typeface="+mn-cs"/>
              </a:defRPr>
            </a:lvl3pPr>
            <a:lvl4pPr>
              <a:buFontTx/>
              <a:buNone/>
              <a:defRPr lang="en-US" sz="2000" kern="1200" dirty="0" smtClean="0">
                <a:solidFill>
                  <a:schemeClr val="bg1"/>
                </a:solidFill>
                <a:latin typeface="+mj-lt"/>
                <a:ea typeface="+mn-ea"/>
                <a:cs typeface="+mn-cs"/>
              </a:defRPr>
            </a:lvl4pPr>
            <a:lvl5pPr>
              <a:buFontTx/>
              <a:buNone/>
              <a:defRPr lang="en-US" sz="20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617723" y="3829649"/>
            <a:ext cx="7900328" cy="398668"/>
          </a:xfrm>
          <a:prstGeom prst="rect">
            <a:avLst/>
          </a:prstGeom>
        </p:spPr>
        <p:txBody>
          <a:bodyPr lIns="91420" tIns="45710" rIns="91420" bIns="45710"/>
          <a:lstStyle>
            <a:lvl1pPr marL="0" indent="0">
              <a:buFont typeface="Arial" panose="020B0604020202020204" pitchFamily="34" charset="0"/>
              <a:buNone/>
              <a:defRPr sz="2667" baseline="0">
                <a:solidFill>
                  <a:schemeClr val="bg2"/>
                </a:solidFill>
                <a:latin typeface="+mj-lt"/>
              </a:defRPr>
            </a:lvl1pPr>
            <a:lvl2pPr marL="406365" indent="0">
              <a:buNone/>
              <a:defRPr/>
            </a:lvl2pPr>
            <a:lvl3pPr marL="569854" indent="0">
              <a:buNone/>
              <a:defRPr/>
            </a:lvl3pPr>
            <a:lvl4pPr marL="688908" indent="0">
              <a:buNone/>
              <a:defRPr/>
            </a:lvl4pPr>
            <a:lvl5pPr marL="801608" indent="0">
              <a:buNone/>
              <a:defRPr/>
            </a:lvl5pPr>
          </a:lstStyle>
          <a:p>
            <a:pPr lvl="0"/>
            <a:r>
              <a:rPr lang="en-US"/>
              <a:t>Click to edit Master text styles</a:t>
            </a:r>
          </a:p>
        </p:txBody>
      </p:sp>
      <p:sp>
        <p:nvSpPr>
          <p:cNvPr id="20" name="Title 1"/>
          <p:cNvSpPr>
            <a:spLocks noGrp="1"/>
          </p:cNvSpPr>
          <p:nvPr>
            <p:ph type="ctrTitle"/>
          </p:nvPr>
        </p:nvSpPr>
        <p:spPr>
          <a:xfrm>
            <a:off x="567687" y="3067667"/>
            <a:ext cx="7940684" cy="859640"/>
          </a:xfrm>
          <a:prstGeom prst="rect">
            <a:avLst/>
          </a:prstGeom>
        </p:spPr>
        <p:txBody>
          <a:bodyPr anchor="b"/>
          <a:lstStyle>
            <a:lvl1pPr marL="0" indent="0" algn="l">
              <a:lnSpc>
                <a:spcPct val="90000"/>
              </a:lnSpc>
              <a:buFont typeface="Arial" panose="020B0604020202020204" pitchFamily="34" charset="0"/>
              <a:buNone/>
              <a:defRPr sz="4800" b="0" i="0" spc="0" baseline="0">
                <a:solidFill>
                  <a:srgbClr val="38C6F4"/>
                </a:solidFill>
                <a:latin typeface="+mj-lt"/>
                <a:cs typeface="CiscoSans Thin"/>
              </a:defRPr>
            </a:lvl1pPr>
          </a:lstStyle>
          <a:p>
            <a:r>
              <a:rPr lang="en-US"/>
              <a:t>Click to edit Master title style</a:t>
            </a:r>
          </a:p>
        </p:txBody>
      </p:sp>
      <p:grpSp>
        <p:nvGrpSpPr>
          <p:cNvPr id="6" name="Group 4"/>
          <p:cNvGrpSpPr>
            <a:grpSpLocks noChangeAspect="1"/>
          </p:cNvGrpSpPr>
          <p:nvPr userDrawn="1"/>
        </p:nvGrpSpPr>
        <p:grpSpPr bwMode="auto">
          <a:xfrm>
            <a:off x="656167" y="527051"/>
            <a:ext cx="1062565" cy="565151"/>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spTree>
    <p:extLst>
      <p:ext uri="{BB962C8B-B14F-4D97-AF65-F5344CB8AC3E}">
        <p14:creationId xmlns:p14="http://schemas.microsoft.com/office/powerpoint/2010/main" val="2510370739"/>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11297921" y="6605684"/>
            <a:ext cx="902547" cy="252317"/>
          </a:xfrm>
          <a:prstGeom prst="rect">
            <a:avLst/>
          </a:prstGeom>
        </p:spPr>
        <p:txBody>
          <a:bodyPr vert="horz" lIns="91440" tIns="45720" rIns="91440" bIns="45720" rtlCol="0" anchor="ctr"/>
          <a:lstStyle>
            <a:lvl1pPr algn="r">
              <a:defRPr sz="700">
                <a:solidFill>
                  <a:schemeClr val="tx2"/>
                </a:solidFill>
              </a:defRPr>
            </a:lvl1pPr>
          </a:lstStyle>
          <a:p>
            <a:pPr defTabSz="514338">
              <a:defRPr/>
            </a:pPr>
            <a:fld id="{2F5CCB13-0A32-4557-88E9-079F0C330695}" type="slidenum">
              <a:rPr lang="en-US" kern="0" smtClean="0">
                <a:solidFill>
                  <a:srgbClr val="595959"/>
                </a:solidFill>
              </a:rPr>
              <a:pPr defTabSz="514338">
                <a:defRPr/>
              </a:pPr>
              <a:t>‹#›</a:t>
            </a:fld>
            <a:endParaRPr lang="en-US" kern="0">
              <a:solidFill>
                <a:srgbClr val="595959"/>
              </a:solidFill>
            </a:endParaRPr>
          </a:p>
        </p:txBody>
      </p:sp>
      <p:sp>
        <p:nvSpPr>
          <p:cNvPr id="5" name="Rectangle 3"/>
          <p:cNvSpPr>
            <a:spLocks noGrp="1" noChangeArrowheads="1"/>
          </p:cNvSpPr>
          <p:nvPr>
            <p:ph idx="1"/>
          </p:nvPr>
        </p:nvSpPr>
        <p:spPr bwMode="auto">
          <a:xfrm>
            <a:off x="192087" y="1065260"/>
            <a:ext cx="11804381" cy="554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226478" indent="-226478">
              <a:lnSpc>
                <a:spcPct val="100000"/>
              </a:lnSpc>
              <a:spcBef>
                <a:spcPts val="800"/>
              </a:spcBef>
              <a:spcAft>
                <a:spcPts val="800"/>
              </a:spcAft>
              <a:buFont typeface="Wingdings" panose="05000000000000000000" pitchFamily="2" charset="2"/>
              <a:buChar char="§"/>
              <a:defRPr>
                <a:solidFill>
                  <a:srgbClr val="000000"/>
                </a:solidFill>
              </a:defRPr>
            </a:lvl1pPr>
            <a:lvl2pPr>
              <a:lnSpc>
                <a:spcPct val="100000"/>
              </a:lnSpc>
              <a:spcBef>
                <a:spcPts val="400"/>
              </a:spcBef>
              <a:spcAft>
                <a:spcPts val="400"/>
              </a:spcAft>
              <a:defRPr>
                <a:solidFill>
                  <a:srgbClr val="000000"/>
                </a:solidFill>
              </a:defRPr>
            </a:lvl2pPr>
            <a:lvl3pPr>
              <a:lnSpc>
                <a:spcPct val="100000"/>
              </a:lnSpc>
              <a:spcBef>
                <a:spcPts val="400"/>
              </a:spcBef>
              <a:spcAft>
                <a:spcPts val="400"/>
              </a:spcAft>
              <a:defRPr>
                <a:solidFill>
                  <a:srgbClr val="000000"/>
                </a:solidFill>
              </a:defRPr>
            </a:lvl3pPr>
            <a:lvl4pPr>
              <a:lnSpc>
                <a:spcPct val="100000"/>
              </a:lnSpc>
              <a:spcBef>
                <a:spcPts val="400"/>
              </a:spcBef>
              <a:spcAft>
                <a:spcPts val="4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55191"/>
            <a:ext cx="12192000" cy="1010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3200"/>
            </a:lvl1pPr>
          </a:lstStyle>
          <a:p>
            <a:pPr lvl="0"/>
            <a:r>
              <a:rPr lang="en-US">
                <a:sym typeface="Arial" pitchFamily="34" charset="0"/>
              </a:rPr>
              <a:t>Click to edit Master title style</a:t>
            </a:r>
          </a:p>
        </p:txBody>
      </p:sp>
    </p:spTree>
    <p:extLst>
      <p:ext uri="{BB962C8B-B14F-4D97-AF65-F5344CB8AC3E}">
        <p14:creationId xmlns:p14="http://schemas.microsoft.com/office/powerpoint/2010/main" val="4268735794"/>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632883" y="1797051"/>
            <a:ext cx="11040076" cy="4098595"/>
          </a:xfrm>
          <a:prstGeom prst="rect">
            <a:avLst/>
          </a:prstGeom>
        </p:spPr>
        <p:txBody>
          <a:bodyPr lIns="91420" tIns="45710" rIns="91420" bIns="45710">
            <a:noAutofit/>
          </a:bodyPr>
          <a:lstStyle>
            <a:lvl1pPr marL="380910" marR="0" indent="-380910" algn="ctr" defTabSz="609458" rtl="0" eaLnBrk="1" fontAlgn="auto" latinLnBrk="0" hangingPunct="1">
              <a:lnSpc>
                <a:spcPct val="100000"/>
              </a:lnSpc>
              <a:spcBef>
                <a:spcPct val="20000"/>
              </a:spcBef>
              <a:spcAft>
                <a:spcPts val="0"/>
              </a:spcAft>
              <a:buClrTx/>
              <a:buSzTx/>
              <a:buFont typeface="Arial"/>
              <a:buNone/>
              <a:tabLst/>
              <a:defRPr sz="2667"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583688" y="455085"/>
            <a:ext cx="11127317" cy="975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a:p>
        </p:txBody>
      </p:sp>
    </p:spTree>
    <p:extLst>
      <p:ext uri="{BB962C8B-B14F-4D97-AF65-F5344CB8AC3E}">
        <p14:creationId xmlns:p14="http://schemas.microsoft.com/office/powerpoint/2010/main" val="2868357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1"/>
            <a:ext cx="12191999" cy="6887832"/>
          </a:xfrm>
          <a:prstGeom prst="rect">
            <a:avLst/>
          </a:prstGeom>
        </p:spPr>
      </p:pic>
      <p:grpSp>
        <p:nvGrpSpPr>
          <p:cNvPr id="4" name="Group 4"/>
          <p:cNvGrpSpPr>
            <a:grpSpLocks noChangeAspect="1"/>
          </p:cNvGrpSpPr>
          <p:nvPr userDrawn="1"/>
        </p:nvGrpSpPr>
        <p:grpSpPr bwMode="auto">
          <a:xfrm>
            <a:off x="4995059" y="2839808"/>
            <a:ext cx="2157259" cy="1147389"/>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spTree>
    <p:extLst>
      <p:ext uri="{BB962C8B-B14F-4D97-AF65-F5344CB8AC3E}">
        <p14:creationId xmlns:p14="http://schemas.microsoft.com/office/powerpoint/2010/main" val="3999182984"/>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nadpis 1">
            <a:extLst>
              <a:ext uri="{FF2B5EF4-FFF2-40B4-BE49-F238E27FC236}">
                <a16:creationId xmlns:a16="http://schemas.microsoft.com/office/drawing/2014/main" id="{FBD1FF3A-6514-FB61-A195-7058CCE068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cs-CZ"/>
              <a:t>Kliknutím lze upravit styl.</a:t>
            </a:r>
            <a:endParaRPr lang="en-US"/>
          </a:p>
        </p:txBody>
      </p:sp>
      <p:sp>
        <p:nvSpPr>
          <p:cNvPr id="3" name="Zástupný text 2">
            <a:extLst>
              <a:ext uri="{FF2B5EF4-FFF2-40B4-BE49-F238E27FC236}">
                <a16:creationId xmlns:a16="http://schemas.microsoft.com/office/drawing/2014/main" id="{240D3FEF-099F-71FC-AC41-BC0DCB11E0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a:p>
        </p:txBody>
      </p:sp>
      <p:sp>
        <p:nvSpPr>
          <p:cNvPr id="4" name="Zástupný symbol pro datum 3">
            <a:extLst>
              <a:ext uri="{FF2B5EF4-FFF2-40B4-BE49-F238E27FC236}">
                <a16:creationId xmlns:a16="http://schemas.microsoft.com/office/drawing/2014/main" id="{F8B199F6-0F1A-4493-8F2C-076A27EEE7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cs-CZ"/>
              <a:t>18.8.2022</a:t>
            </a:r>
          </a:p>
        </p:txBody>
      </p:sp>
      <p:sp>
        <p:nvSpPr>
          <p:cNvPr id="5" name="Zástupný symbol pro zápatí 4">
            <a:extLst>
              <a:ext uri="{FF2B5EF4-FFF2-40B4-BE49-F238E27FC236}">
                <a16:creationId xmlns:a16="http://schemas.microsoft.com/office/drawing/2014/main" id="{126A0560-AD58-2D9E-8941-08B43A76D9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cs-CZ"/>
          </a:p>
        </p:txBody>
      </p:sp>
      <p:sp>
        <p:nvSpPr>
          <p:cNvPr id="6" name="Zástupný symbol pro číslo snímku 5">
            <a:extLst>
              <a:ext uri="{FF2B5EF4-FFF2-40B4-BE49-F238E27FC236}">
                <a16:creationId xmlns:a16="http://schemas.microsoft.com/office/drawing/2014/main" id="{FDB0EF22-2C1C-6B63-96C9-4D6953316C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9F5C5F-4392-49C5-81DD-37F176609E69}" type="slidenum">
              <a:rPr lang="cs-CZ" smtClean="0"/>
              <a:t>‹#›</a:t>
            </a:fld>
            <a:endParaRPr lang="cs-CZ"/>
          </a:p>
        </p:txBody>
      </p:sp>
    </p:spTree>
    <p:extLst>
      <p:ext uri="{BB962C8B-B14F-4D97-AF65-F5344CB8AC3E}">
        <p14:creationId xmlns:p14="http://schemas.microsoft.com/office/powerpoint/2010/main" val="919196201"/>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3" r:id="rId14"/>
    <p:sldLayoutId id="2147483754" r:id="rId15"/>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9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9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9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9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0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5.xml"/><Relationship Id="rId1" Type="http://schemas.openxmlformats.org/officeDocument/2006/relationships/tags" Target="../tags/tag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hyperlink" Target="https://www.metasploit.com/" TargetMode="Externa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ags" Target="../tags/tag3.xml"/><Relationship Id="rId4" Type="http://schemas.openxmlformats.org/officeDocument/2006/relationships/image" Target="../media/image64.png"/></Relationships>
</file>

<file path=ppt/slides/_rels/slide215.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ags" Target="../tags/tag4.xml"/><Relationship Id="rId4" Type="http://schemas.openxmlformats.org/officeDocument/2006/relationships/image" Target="../media/image65.png"/></Relationships>
</file>

<file path=ppt/slides/_rels/slide216.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ags" Target="../tags/tag5.xml"/><Relationship Id="rId4" Type="http://schemas.openxmlformats.org/officeDocument/2006/relationships/image" Target="../media/image66.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7.xml"/><Relationship Id="rId3" Type="http://schemas.openxmlformats.org/officeDocument/2006/relationships/image" Target="../media/image75.png"/><Relationship Id="rId7" Type="http://schemas.openxmlformats.org/officeDocument/2006/relationships/image" Target="../media/image77.png"/><Relationship Id="rId12" Type="http://schemas.openxmlformats.org/officeDocument/2006/relationships/customXml" Target="../ink/ink6.xml"/><Relationship Id="rId2" Type="http://schemas.openxmlformats.org/officeDocument/2006/relationships/customXml" Target="../ink/ink1.xml"/><Relationship Id="rId16" Type="http://schemas.openxmlformats.org/officeDocument/2006/relationships/image" Target="../media/image81.png"/><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79.png"/><Relationship Id="rId5" Type="http://schemas.openxmlformats.org/officeDocument/2006/relationships/image" Target="../media/image76.png"/><Relationship Id="rId15" Type="http://schemas.openxmlformats.org/officeDocument/2006/relationships/customXml" Target="../ink/ink8.xml"/><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78.png"/><Relationship Id="rId14" Type="http://schemas.openxmlformats.org/officeDocument/2006/relationships/image" Target="../media/image80.png"/></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4">
            <a:extLst>
              <a:ext uri="{FF2B5EF4-FFF2-40B4-BE49-F238E27FC236}">
                <a16:creationId xmlns:a16="http://schemas.microsoft.com/office/drawing/2014/main" id="{5A087768-760D-8652-E926-B6388C2BBD50}"/>
              </a:ext>
              <a:ext uri="{C183D7F6-B498-43B3-948B-1728B52AA6E4}">
                <adec:decorative xmlns:adec="http://schemas.microsoft.com/office/drawing/2017/decorative" val="1"/>
              </a:ext>
            </a:extLst>
          </p:cNvPr>
          <p:cNvPicPr>
            <a:picLocks noChangeAspect="1"/>
          </p:cNvPicPr>
          <p:nvPr/>
        </p:nvPicPr>
        <p:blipFill rotWithShape="1">
          <a:blip r:embed="rId2">
            <a:alphaModFix amt="50000"/>
            <a:extLst>
              <a:ext uri="{BEBA8EAE-BF5A-486C-A8C5-ECC9F3942E4B}">
                <a14:imgProps xmlns:a14="http://schemas.microsoft.com/office/drawing/2010/main">
                  <a14:imgLayer r:embed="rId3">
                    <a14:imgEffect>
                      <a14:brightnessContrast contrast="-40000"/>
                    </a14:imgEffect>
                  </a14:imgLayer>
                </a14:imgProps>
              </a:ext>
            </a:extLst>
          </a:blip>
          <a:srcRect r="52444" b="-1"/>
          <a:stretch/>
        </p:blipFill>
        <p:spPr>
          <a:xfrm>
            <a:off x="831293" y="1119909"/>
            <a:ext cx="12191980" cy="6858000"/>
          </a:xfrm>
          <a:prstGeom prst="rect">
            <a:avLst/>
          </a:prstGeom>
        </p:spPr>
      </p:pic>
      <p:sp>
        <p:nvSpPr>
          <p:cNvPr id="2" name="Title 1"/>
          <p:cNvSpPr>
            <a:spLocks noGrp="1"/>
          </p:cNvSpPr>
          <p:nvPr>
            <p:ph type="ctrTitle"/>
          </p:nvPr>
        </p:nvSpPr>
        <p:spPr/>
        <p:txBody>
          <a:bodyPr/>
          <a:lstStyle/>
          <a:p>
            <a:r>
              <a:rPr lang="cs-CZ" b="1" err="1"/>
              <a:t>Kyberbezpečnost</a:t>
            </a:r>
            <a:endParaRPr lang="cs-CZ" b="1"/>
          </a:p>
        </p:txBody>
      </p:sp>
      <p:sp>
        <p:nvSpPr>
          <p:cNvPr id="3" name="Subtitle 2"/>
          <p:cNvSpPr>
            <a:spLocks noGrp="1"/>
          </p:cNvSpPr>
          <p:nvPr>
            <p:ph type="subTitle" idx="1"/>
          </p:nvPr>
        </p:nvSpPr>
        <p:spPr/>
        <p:txBody>
          <a:bodyPr/>
          <a:lstStyle/>
          <a:p>
            <a:r>
              <a:rPr lang="cs-CZ"/>
              <a:t>Ing. Filip Lauterbach</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a:t>
            </a:fld>
            <a:endParaRPr lang="cs-CZ"/>
          </a:p>
        </p:txBody>
      </p:sp>
    </p:spTree>
    <p:extLst>
      <p:ext uri="{BB962C8B-B14F-4D97-AF65-F5344CB8AC3E}">
        <p14:creationId xmlns:p14="http://schemas.microsoft.com/office/powerpoint/2010/main" val="52563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Úvod</a:t>
            </a:r>
          </a:p>
        </p:txBody>
      </p:sp>
      <p:sp>
        <p:nvSpPr>
          <p:cNvPr id="3" name="Content Placeholder 2"/>
          <p:cNvSpPr>
            <a:spLocks noGrp="1"/>
          </p:cNvSpPr>
          <p:nvPr>
            <p:ph idx="1"/>
          </p:nvPr>
        </p:nvSpPr>
        <p:spPr/>
        <p:txBody>
          <a:bodyPr/>
          <a:lstStyle/>
          <a:p>
            <a:r>
              <a:rPr lang="cs-CZ" i="1"/>
              <a:t>„Život bez informačních a komunikačních technologií je pro naši společnost již nemyslitelný, respektive</a:t>
            </a:r>
            <a:r>
              <a:rPr lang="cs-CZ"/>
              <a:t> </a:t>
            </a:r>
            <a:r>
              <a:rPr lang="cs-CZ" i="1"/>
              <a:t>nemožný.“</a:t>
            </a:r>
          </a:p>
          <a:p>
            <a:r>
              <a:rPr lang="cs-CZ"/>
              <a:t>V průběhu posledních 20 let jsme se stali na informačních a komunikačních technologiích velmi závislý, kolaps nepřichází v úvahu</a:t>
            </a:r>
          </a:p>
          <a:p>
            <a:pPr lvl="1"/>
            <a:r>
              <a:rPr lang="cs-CZ"/>
              <a:t>Nezapnuli bychom si PC</a:t>
            </a:r>
          </a:p>
          <a:p>
            <a:pPr lvl="1"/>
            <a:r>
              <a:rPr lang="cs-CZ"/>
              <a:t>Nikam nezavolali</a:t>
            </a:r>
          </a:p>
          <a:p>
            <a:pPr lvl="1"/>
            <a:r>
              <a:rPr lang="cs-CZ"/>
              <a:t>Nic si nenašli skrze web. Prohlížeč</a:t>
            </a:r>
          </a:p>
          <a:p>
            <a:pPr lvl="1"/>
            <a:r>
              <a:rPr lang="cs-CZ"/>
              <a:t>Další služby jako: distribuce el. En., vody, tel. Služby, zdravotní péče, </a:t>
            </a:r>
            <a:r>
              <a:rPr lang="cs-CZ" err="1"/>
              <a:t>fin</a:t>
            </a:r>
            <a:r>
              <a:rPr lang="cs-CZ"/>
              <a:t>. transakce, přístup k informacím apod.</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a:t>
            </a:fld>
            <a:endParaRPr lang="cs-CZ"/>
          </a:p>
        </p:txBody>
      </p:sp>
    </p:spTree>
    <p:extLst>
      <p:ext uri="{BB962C8B-B14F-4D97-AF65-F5344CB8AC3E}">
        <p14:creationId xmlns:p14="http://schemas.microsoft.com/office/powerpoint/2010/main" val="844223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Úvod</a:t>
            </a:r>
          </a:p>
        </p:txBody>
      </p:sp>
      <p:sp>
        <p:nvSpPr>
          <p:cNvPr id="3" name="Content Placeholder 2"/>
          <p:cNvSpPr>
            <a:spLocks noGrp="1"/>
          </p:cNvSpPr>
          <p:nvPr>
            <p:ph idx="1"/>
          </p:nvPr>
        </p:nvSpPr>
        <p:spPr/>
        <p:txBody>
          <a:bodyPr/>
          <a:lstStyle/>
          <a:p>
            <a:r>
              <a:rPr lang="cs-CZ"/>
              <a:t>Např. útok v roce 2017 </a:t>
            </a:r>
            <a:r>
              <a:rPr lang="cs-CZ" err="1"/>
              <a:t>ransomwarem</a:t>
            </a:r>
            <a:r>
              <a:rPr lang="cs-CZ"/>
              <a:t> </a:t>
            </a:r>
            <a:r>
              <a:rPr lang="cs-CZ" err="1"/>
              <a:t>WannaCry</a:t>
            </a:r>
            <a:r>
              <a:rPr lang="cs-CZ"/>
              <a:t>, </a:t>
            </a:r>
            <a:r>
              <a:rPr lang="cs-CZ" err="1"/>
              <a:t>Petya</a:t>
            </a:r>
            <a:r>
              <a:rPr lang="cs-CZ"/>
              <a:t> (mutace </a:t>
            </a:r>
            <a:r>
              <a:rPr lang="cs-CZ" err="1"/>
              <a:t>Petrwap</a:t>
            </a:r>
            <a:r>
              <a:rPr lang="cs-CZ"/>
              <a:t> či Win32/</a:t>
            </a:r>
            <a:r>
              <a:rPr lang="cs-CZ" err="1"/>
              <a:t>Diskcoder.Ctrojan</a:t>
            </a:r>
            <a:r>
              <a:rPr lang="cs-CZ"/>
              <a:t>) ukázal velkou zranitelnost „vyspělého a moderního světa ICT“</a:t>
            </a:r>
          </a:p>
          <a:p>
            <a:r>
              <a:rPr lang="cs-CZ" err="1"/>
              <a:t>Ransomware</a:t>
            </a:r>
            <a:r>
              <a:rPr lang="cs-CZ"/>
              <a:t> je </a:t>
            </a:r>
            <a:r>
              <a:rPr lang="cs-CZ" err="1"/>
              <a:t>malware</a:t>
            </a:r>
            <a:r>
              <a:rPr lang="cs-CZ"/>
              <a:t>, který šifruje soubory nebo znemožňuje používat počítač do doby než je zaplacen požadovaný poplatek.</a:t>
            </a:r>
          </a:p>
          <a:p>
            <a:r>
              <a:rPr lang="cs-CZ"/>
              <a:t>Klasický </a:t>
            </a:r>
            <a:r>
              <a:rPr lang="cs-CZ" err="1"/>
              <a:t>ransomware</a:t>
            </a:r>
            <a:r>
              <a:rPr lang="cs-CZ"/>
              <a:t> útok dokázal zastavit 16 nemocnic v UK.</a:t>
            </a:r>
          </a:p>
          <a:p>
            <a:r>
              <a:rPr lang="cs-CZ">
                <a:solidFill>
                  <a:srgbClr val="FF0000"/>
                </a:solidFill>
              </a:rPr>
              <a:t>Je třeba si uvědomit, že čím více budeme závislí na ICT a čím více dat o nás tyto technologie budou sbírat a sdílet, tím se staneme zranitelnějšími.</a:t>
            </a:r>
            <a:endParaRPr lang="cs-CZ"/>
          </a:p>
        </p:txBody>
      </p:sp>
      <p:sp>
        <p:nvSpPr>
          <p:cNvPr id="6" name="Date Placeholder 5"/>
          <p:cNvSpPr>
            <a:spLocks noGrp="1"/>
          </p:cNvSpPr>
          <p:nvPr>
            <p:ph type="dt" sz="half" idx="10"/>
          </p:nvPr>
        </p:nvSpPr>
        <p:spPr/>
        <p:txBody>
          <a:bodyPr/>
          <a:lstStyle/>
          <a:p>
            <a:r>
              <a:rPr lang="cs-CZ"/>
              <a:t>18.8.2022</a:t>
            </a:r>
          </a:p>
        </p:txBody>
      </p:sp>
      <p:sp>
        <p:nvSpPr>
          <p:cNvPr id="7" name="Slide Number Placeholder 6"/>
          <p:cNvSpPr>
            <a:spLocks noGrp="1"/>
          </p:cNvSpPr>
          <p:nvPr>
            <p:ph type="sldNum" sz="quarter" idx="12"/>
          </p:nvPr>
        </p:nvSpPr>
        <p:spPr/>
        <p:txBody>
          <a:bodyPr/>
          <a:lstStyle/>
          <a:p>
            <a:fld id="{AD9F5C5F-4392-49C5-81DD-37F176609E69}" type="slidenum">
              <a:rPr lang="cs-CZ" smtClean="0"/>
              <a:t>3</a:t>
            </a:fld>
            <a:endParaRPr lang="cs-CZ"/>
          </a:p>
        </p:txBody>
      </p:sp>
      <p:pic>
        <p:nvPicPr>
          <p:cNvPr id="1030" name="Picture 6" descr="Co je ransomware a jak se ho zbavit | Ava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84891" y="4985468"/>
            <a:ext cx="1933390" cy="1872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3137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Základní terminologie</a:t>
            </a:r>
          </a:p>
        </p:txBody>
      </p:sp>
      <p:sp>
        <p:nvSpPr>
          <p:cNvPr id="3" name="Content Placeholder 2"/>
          <p:cNvSpPr>
            <a:spLocks noGrp="1"/>
          </p:cNvSpPr>
          <p:nvPr>
            <p:ph idx="1"/>
          </p:nvPr>
        </p:nvSpPr>
        <p:spPr/>
        <p:txBody>
          <a:bodyPr/>
          <a:lstStyle/>
          <a:p>
            <a:r>
              <a:rPr lang="cs-CZ"/>
              <a:t>Kyberprostor (</a:t>
            </a:r>
            <a:r>
              <a:rPr lang="cs-CZ" err="1"/>
              <a:t>cyberspace</a:t>
            </a:r>
            <a:r>
              <a:rPr lang="cs-CZ"/>
              <a:t>): „</a:t>
            </a:r>
            <a:r>
              <a:rPr lang="cs-CZ" i="1"/>
              <a:t>fiktivní prostředí, ve kterém dochází ke</a:t>
            </a:r>
            <a:br>
              <a:rPr lang="cs-CZ"/>
            </a:br>
            <a:r>
              <a:rPr lang="cs-CZ" i="1"/>
              <a:t>komunikaci skrze počítačové sítě.“</a:t>
            </a:r>
          </a:p>
          <a:p>
            <a:r>
              <a:rPr lang="cs-CZ"/>
              <a:t>Český kyberprostor: kterým se rozumí „</a:t>
            </a:r>
            <a:r>
              <a:rPr lang="cs-CZ" i="1"/>
              <a:t>kyberprostor pod jurisdikcí České republiky“.</a:t>
            </a:r>
            <a:br>
              <a:rPr lang="cs-CZ"/>
            </a:br>
            <a:br>
              <a:rPr lang="cs-CZ"/>
            </a:b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4</a:t>
            </a:fld>
            <a:endParaRPr lang="cs-CZ"/>
          </a:p>
        </p:txBody>
      </p:sp>
    </p:spTree>
    <p:extLst>
      <p:ext uri="{BB962C8B-B14F-4D97-AF65-F5344CB8AC3E}">
        <p14:creationId xmlns:p14="http://schemas.microsoft.com/office/powerpoint/2010/main" val="485899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Kyberprostor</a:t>
            </a:r>
          </a:p>
        </p:txBody>
      </p:sp>
      <p:sp>
        <p:nvSpPr>
          <p:cNvPr id="3" name="Content Placeholder 2"/>
          <p:cNvSpPr>
            <a:spLocks noGrp="1"/>
          </p:cNvSpPr>
          <p:nvPr>
            <p:ph idx="1"/>
          </p:nvPr>
        </p:nvSpPr>
        <p:spPr/>
        <p:txBody>
          <a:bodyPr/>
          <a:lstStyle/>
          <a:p>
            <a:r>
              <a:rPr lang="cs-CZ"/>
              <a:t>Kyberprostor je složen z vrstev:</a:t>
            </a:r>
          </a:p>
          <a:p>
            <a:pPr lvl="1"/>
            <a:r>
              <a:rPr lang="cs-CZ"/>
              <a:t>Fyzické</a:t>
            </a:r>
          </a:p>
          <a:p>
            <a:pPr lvl="1"/>
            <a:r>
              <a:rPr lang="cs-CZ"/>
              <a:t>Logické</a:t>
            </a:r>
          </a:p>
          <a:p>
            <a:pPr lvl="1"/>
            <a:r>
              <a:rPr lang="cs-CZ"/>
              <a:t>Sociální</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5</a:t>
            </a:fld>
            <a:endParaRPr lang="cs-CZ"/>
          </a:p>
        </p:txBody>
      </p:sp>
      <p:pic>
        <p:nvPicPr>
          <p:cNvPr id="2052" name="Picture 4" descr="Speciál: K ochraně kyberprostoru chybí Česku 30 tisíc expertů - Aktuálně.cz"/>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2454275"/>
            <a:ext cx="6858000" cy="385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9754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Kyberprostor</a:t>
            </a:r>
          </a:p>
        </p:txBody>
      </p:sp>
      <p:sp>
        <p:nvSpPr>
          <p:cNvPr id="3" name="Content Placeholder 2"/>
          <p:cNvSpPr>
            <a:spLocks noGrp="1"/>
          </p:cNvSpPr>
          <p:nvPr>
            <p:ph idx="1"/>
          </p:nvPr>
        </p:nvSpPr>
        <p:spPr/>
        <p:txBody>
          <a:bodyPr>
            <a:normAutofit fontScale="92500" lnSpcReduction="20000"/>
          </a:bodyPr>
          <a:lstStyle/>
          <a:p>
            <a:r>
              <a:rPr lang="cs-CZ"/>
              <a:t>Je tvořen prvky informačních a komunikačních technologií, které vytvářejí pomocí protokolu TCP/IP celosvětovou, globální počítačovou síť, a jednotlivými počítačovými systémy, které jsou do této sítě připojeny a které v ní interagují.</a:t>
            </a:r>
          </a:p>
          <a:p>
            <a:r>
              <a:rPr lang="cs-CZ" b="1"/>
              <a:t>Kyberprostor je virtuální realitou, nemající konec ani začátek. Tato virtuální realita je však</a:t>
            </a:r>
            <a:r>
              <a:rPr lang="cs-CZ"/>
              <a:t> </a:t>
            </a:r>
            <a:r>
              <a:rPr lang="cs-CZ" b="1"/>
              <a:t>zcela závislá na materiální podstatě, tedy technologiích nacházejících se ve světě reálném.</a:t>
            </a:r>
          </a:p>
          <a:p>
            <a:r>
              <a:rPr lang="cs-CZ"/>
              <a:t>Tento prostor, oproti světu reálnému, je značně specifický a rozhodně je mylné se domnívat, že v něm budou fungovat stejná pravidla, jako ve světě reálném.</a:t>
            </a:r>
            <a:br>
              <a:rPr lang="cs-CZ"/>
            </a:b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6</a:t>
            </a:fld>
            <a:endParaRPr lang="cs-CZ"/>
          </a:p>
        </p:txBody>
      </p:sp>
    </p:spTree>
    <p:extLst>
      <p:ext uri="{BB962C8B-B14F-4D97-AF65-F5344CB8AC3E}">
        <p14:creationId xmlns:p14="http://schemas.microsoft.com/office/powerpoint/2010/main" val="3019281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Fyzická vrstva kyberprostoru</a:t>
            </a:r>
          </a:p>
        </p:txBody>
      </p:sp>
      <p:sp>
        <p:nvSpPr>
          <p:cNvPr id="3" name="Content Placeholder 2"/>
          <p:cNvSpPr>
            <a:spLocks noGrp="1"/>
          </p:cNvSpPr>
          <p:nvPr>
            <p:ph idx="1"/>
          </p:nvPr>
        </p:nvSpPr>
        <p:spPr/>
        <p:txBody>
          <a:bodyPr>
            <a:normAutofit/>
          </a:bodyPr>
          <a:lstStyle/>
          <a:p>
            <a:r>
              <a:rPr lang="cs-CZ" err="1"/>
              <a:t>Geographic</a:t>
            </a:r>
            <a:r>
              <a:rPr lang="cs-CZ"/>
              <a:t> </a:t>
            </a:r>
            <a:r>
              <a:rPr lang="cs-CZ" err="1"/>
              <a:t>component</a:t>
            </a:r>
            <a:r>
              <a:rPr lang="cs-CZ"/>
              <a:t> (fyzické síťové komponenty)</a:t>
            </a:r>
          </a:p>
          <a:p>
            <a:r>
              <a:rPr lang="cs-CZ"/>
              <a:t>Je tím myšleno přesné umístění síťových prvků ve </a:t>
            </a:r>
            <a:r>
              <a:rPr lang="cs-CZ" err="1"/>
              <a:t>fyz</a:t>
            </a:r>
            <a:r>
              <a:rPr lang="cs-CZ"/>
              <a:t>. světě</a:t>
            </a:r>
          </a:p>
          <a:p>
            <a:r>
              <a:rPr lang="cs-CZ"/>
              <a:t>Infrastruktura: kabelů, řídících prvků sítě (</a:t>
            </a:r>
            <a:r>
              <a:rPr lang="cs-CZ" err="1"/>
              <a:t>switch</a:t>
            </a:r>
            <a:r>
              <a:rPr lang="cs-CZ"/>
              <a:t>, </a:t>
            </a:r>
            <a:r>
              <a:rPr lang="cs-CZ" err="1"/>
              <a:t>router</a:t>
            </a:r>
            <a:r>
              <a:rPr lang="cs-CZ"/>
              <a:t>) a dalšího zařízení</a:t>
            </a:r>
          </a:p>
          <a:p>
            <a:r>
              <a:rPr lang="cs-CZ"/>
              <a:t>Toto rozdělení fyzické vrstvy má svou logiku. Zatímco geopolitické hranice mezi státy mohou být v kyberprostoru snadno překročeny, v reálném světě zde stále existují omezení, která vyplývají z podstaty našeho fyzického světa.</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7</a:t>
            </a:fld>
            <a:endParaRPr lang="cs-CZ"/>
          </a:p>
        </p:txBody>
      </p:sp>
    </p:spTree>
    <p:extLst>
      <p:ext uri="{BB962C8B-B14F-4D97-AF65-F5344CB8AC3E}">
        <p14:creationId xmlns:p14="http://schemas.microsoft.com/office/powerpoint/2010/main" val="4125224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Logická vrstva kyberprostoru</a:t>
            </a:r>
          </a:p>
        </p:txBody>
      </p:sp>
      <p:sp>
        <p:nvSpPr>
          <p:cNvPr id="3" name="Content Placeholder 2"/>
          <p:cNvSpPr>
            <a:spLocks noGrp="1"/>
          </p:cNvSpPr>
          <p:nvPr>
            <p:ph idx="1"/>
          </p:nvPr>
        </p:nvSpPr>
        <p:spPr/>
        <p:txBody>
          <a:bodyPr/>
          <a:lstStyle/>
          <a:p>
            <a:r>
              <a:rPr lang="cs-CZ"/>
              <a:t>Obsahuje logické síťové komponenty – logické propojení mezi síťovými uzly</a:t>
            </a:r>
          </a:p>
          <a:p>
            <a:r>
              <a:rPr lang="cs-CZ"/>
              <a:t>Propojení pomocí síťových komunikačních protokolů</a:t>
            </a:r>
          </a:p>
          <a:p>
            <a:r>
              <a:rPr lang="cs-CZ"/>
              <a:t>Uzly mohou být: PC, telefony a další síťová zařízení</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8</a:t>
            </a:fld>
            <a:endParaRPr lang="cs-CZ"/>
          </a:p>
        </p:txBody>
      </p:sp>
    </p:spTree>
    <p:extLst>
      <p:ext uri="{BB962C8B-B14F-4D97-AF65-F5344CB8AC3E}">
        <p14:creationId xmlns:p14="http://schemas.microsoft.com/office/powerpoint/2010/main" val="3811230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Sociální vrstva kyberprostoru</a:t>
            </a:r>
          </a:p>
        </p:txBody>
      </p:sp>
      <p:sp>
        <p:nvSpPr>
          <p:cNvPr id="3" name="Content Placeholder 2"/>
          <p:cNvSpPr>
            <a:spLocks noGrp="1"/>
          </p:cNvSpPr>
          <p:nvPr>
            <p:ph idx="1"/>
          </p:nvPr>
        </p:nvSpPr>
        <p:spPr/>
        <p:txBody>
          <a:bodyPr>
            <a:normAutofit/>
          </a:bodyPr>
          <a:lstStyle/>
          <a:p>
            <a:r>
              <a:rPr lang="cs-CZ"/>
              <a:t>Skládá se z komponent nazvaných „</a:t>
            </a:r>
            <a:r>
              <a:rPr lang="cs-CZ" b="1" err="1"/>
              <a:t>kyberosobnost</a:t>
            </a:r>
            <a:r>
              <a:rPr lang="cs-CZ"/>
              <a:t>“ a </a:t>
            </a:r>
            <a:r>
              <a:rPr lang="cs-CZ" b="1"/>
              <a:t>osobnost</a:t>
            </a:r>
            <a:r>
              <a:rPr lang="cs-CZ"/>
              <a:t>.</a:t>
            </a:r>
          </a:p>
          <a:p>
            <a:r>
              <a:rPr lang="cs-CZ"/>
              <a:t>Komponenta „</a:t>
            </a:r>
            <a:r>
              <a:rPr lang="cs-CZ" err="1"/>
              <a:t>kyberosobnost</a:t>
            </a:r>
            <a:r>
              <a:rPr lang="cs-CZ"/>
              <a:t>“ zahrnuje identifikaci osoby na síti, jako je e-mailová adresa, IP adresa, číslo telefonu a další.</a:t>
            </a:r>
          </a:p>
          <a:p>
            <a:r>
              <a:rPr lang="cs-CZ"/>
              <a:t>Komponenta osobnost se skládá ze skutečných osob připojených</a:t>
            </a:r>
            <a:br>
              <a:rPr lang="cs-CZ"/>
            </a:br>
            <a:r>
              <a:rPr lang="cs-CZ"/>
              <a:t>k síti.</a:t>
            </a:r>
          </a:p>
          <a:p>
            <a:r>
              <a:rPr lang="cs-CZ"/>
              <a:t>Jedna individualita pak může mít více „</a:t>
            </a:r>
            <a:r>
              <a:rPr lang="cs-CZ" err="1"/>
              <a:t>kyberosobností</a:t>
            </a:r>
            <a:r>
              <a:rPr lang="cs-CZ"/>
              <a:t>“, například různé e-maily na různých zařízeních, a jedna „</a:t>
            </a:r>
            <a:r>
              <a:rPr lang="cs-CZ" err="1"/>
              <a:t>kyberosobnost</a:t>
            </a:r>
            <a:r>
              <a:rPr lang="cs-CZ"/>
              <a:t>“ může být ve skutečnosti více různých skutečných osob, využívajících například jeden společný sdílený účet.</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9</a:t>
            </a:fld>
            <a:endParaRPr lang="cs-CZ"/>
          </a:p>
        </p:txBody>
      </p:sp>
    </p:spTree>
    <p:extLst>
      <p:ext uri="{BB962C8B-B14F-4D97-AF65-F5344CB8AC3E}">
        <p14:creationId xmlns:p14="http://schemas.microsoft.com/office/powerpoint/2010/main" val="2749279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Další dělení Kyberprostoru dle </a:t>
            </a:r>
            <a:r>
              <a:rPr lang="cs-CZ" b="1" err="1"/>
              <a:t>dohledatelnosti</a:t>
            </a:r>
            <a:r>
              <a:rPr lang="cs-CZ" b="1"/>
              <a:t> pro uživatele</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cs-CZ" err="1"/>
              <a:t>Surface</a:t>
            </a:r>
            <a:r>
              <a:rPr lang="cs-CZ"/>
              <a:t> Web</a:t>
            </a:r>
          </a:p>
          <a:p>
            <a:pPr marL="514350" indent="-514350">
              <a:buFont typeface="+mj-lt"/>
              <a:buAutoNum type="arabicPeriod"/>
            </a:pPr>
            <a:r>
              <a:rPr lang="cs-CZ" err="1"/>
              <a:t>Deep</a:t>
            </a:r>
            <a:r>
              <a:rPr lang="cs-CZ"/>
              <a:t> Web</a:t>
            </a:r>
          </a:p>
          <a:p>
            <a:pPr marL="514350" indent="-514350">
              <a:buFont typeface="+mj-lt"/>
              <a:buAutoNum type="arabicPeriod"/>
            </a:pPr>
            <a:r>
              <a:rPr lang="cs-CZ" err="1"/>
              <a:t>Dark</a:t>
            </a:r>
            <a:r>
              <a:rPr lang="cs-CZ"/>
              <a:t> Web</a:t>
            </a:r>
          </a:p>
          <a:p>
            <a:r>
              <a:rPr lang="cs-CZ" err="1"/>
              <a:t>Deep</a:t>
            </a:r>
            <a:r>
              <a:rPr lang="cs-CZ"/>
              <a:t> a </a:t>
            </a:r>
            <a:r>
              <a:rPr lang="cs-CZ" err="1"/>
              <a:t>Dark</a:t>
            </a:r>
            <a:r>
              <a:rPr lang="cs-CZ"/>
              <a:t> Weby jsou také souhrnně označovány jako </a:t>
            </a:r>
            <a:r>
              <a:rPr lang="cs-CZ" b="1"/>
              <a:t>D4rkN3ts – </a:t>
            </a:r>
            <a:r>
              <a:rPr lang="cs-CZ" b="1" err="1"/>
              <a:t>Darknets</a:t>
            </a:r>
            <a:r>
              <a:rPr lang="cs-CZ"/>
              <a:t>. </a:t>
            </a:r>
          </a:p>
          <a:p>
            <a:r>
              <a:rPr lang="cs-CZ"/>
              <a:t>Nicméně kyberprostor se netýká pouze webových stránek, ale všech počítačových systémů,</a:t>
            </a:r>
            <a:br>
              <a:rPr lang="cs-CZ"/>
            </a:br>
            <a:r>
              <a:rPr lang="cs-CZ"/>
              <a:t>služeb, uživatelů a dat, jež se v tomto prostoru pohybují.</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10</a:t>
            </a:fld>
            <a:endParaRPr lang="cs-CZ"/>
          </a:p>
        </p:txBody>
      </p:sp>
    </p:spTree>
    <p:extLst>
      <p:ext uri="{BB962C8B-B14F-4D97-AF65-F5344CB8AC3E}">
        <p14:creationId xmlns:p14="http://schemas.microsoft.com/office/powerpoint/2010/main" val="3386267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Pojem kybernetické bezpečnosti a pojmy související</a:t>
            </a:r>
          </a:p>
        </p:txBody>
      </p:sp>
      <p:sp>
        <p:nvSpPr>
          <p:cNvPr id="3" name="Content Placeholder 2"/>
          <p:cNvSpPr>
            <a:spLocks noGrp="1"/>
          </p:cNvSpPr>
          <p:nvPr>
            <p:ph idx="1"/>
          </p:nvPr>
        </p:nvSpPr>
        <p:spPr/>
        <p:txBody>
          <a:bodyPr>
            <a:normAutofit/>
          </a:bodyPr>
          <a:lstStyle/>
          <a:p>
            <a:r>
              <a:rPr lang="cs-CZ" i="1"/>
              <a:t>„Objev jaderné energie nepřinesl nové problémy. Pouze učinil naléhavějším nutnost vyřešit existující</a:t>
            </a:r>
            <a:r>
              <a:rPr lang="cs-CZ"/>
              <a:t> </a:t>
            </a:r>
            <a:r>
              <a:rPr lang="cs-CZ" i="1"/>
              <a:t>problémy.“ </a:t>
            </a:r>
            <a:r>
              <a:rPr lang="cs-CZ" b="1" i="1"/>
              <a:t>Albert Einstein</a:t>
            </a:r>
          </a:p>
          <a:p>
            <a:r>
              <a:rPr lang="cs-CZ"/>
              <a:t>Záměrně jsme si pro úvod do této kapitoly vybrali citát</a:t>
            </a:r>
            <a:br>
              <a:rPr lang="cs-CZ"/>
            </a:br>
            <a:r>
              <a:rPr lang="cs-CZ"/>
              <a:t>Alberta Einsteina, neboť právě tento citát vystihuje základní problém kybernetické bezpečnosti, kterým je samotné pochopení tohoto relativně nového fenoménu a aplikování „starých bezpečnostních pravidel“ na tento „nový“ jev, jakož i vytvoření podmínek a prostředků pro řešení problémů, které je možné označit jako kybernetické útoky.</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11</a:t>
            </a:fld>
            <a:endParaRPr lang="cs-CZ"/>
          </a:p>
        </p:txBody>
      </p:sp>
    </p:spTree>
    <p:extLst>
      <p:ext uri="{BB962C8B-B14F-4D97-AF65-F5344CB8AC3E}">
        <p14:creationId xmlns:p14="http://schemas.microsoft.com/office/powerpoint/2010/main" val="738545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Kybernetická bezpečnost</a:t>
            </a:r>
          </a:p>
        </p:txBody>
      </p:sp>
      <p:sp>
        <p:nvSpPr>
          <p:cNvPr id="3" name="Content Placeholder 2"/>
          <p:cNvSpPr>
            <a:spLocks noGrp="1"/>
          </p:cNvSpPr>
          <p:nvPr>
            <p:ph idx="1"/>
          </p:nvPr>
        </p:nvSpPr>
        <p:spPr/>
        <p:txBody>
          <a:bodyPr>
            <a:normAutofit/>
          </a:bodyPr>
          <a:lstStyle/>
          <a:p>
            <a:r>
              <a:rPr lang="cs-CZ"/>
              <a:t>Kybernetická bezpečnost se stala z jednou z hlavních priorit v národních politikách</a:t>
            </a:r>
          </a:p>
          <a:p>
            <a:r>
              <a:rPr lang="cs-CZ"/>
              <a:t>Je potřeba chránit kyberprostor tak, aby byla zachována komplexní bezpečnost ČR a práva jedinců</a:t>
            </a:r>
          </a:p>
          <a:p>
            <a:r>
              <a:rPr lang="cs-CZ"/>
              <a:t>Kybernetická bezpečnost se týká každého z nás!</a:t>
            </a:r>
          </a:p>
          <a:p>
            <a:r>
              <a:rPr lang="cs-CZ"/>
              <a:t>Kybernetickou bezpečnost nelze v současné době ani podceňovat ani bagatelizovat. Je to oblast, která je pro řadu organizací, ale i jedinců samotných klíčová, a proto by měla být řešena dlouhodobě a systematicky</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12</a:t>
            </a:fld>
            <a:endParaRPr lang="cs-CZ"/>
          </a:p>
        </p:txBody>
      </p:sp>
    </p:spTree>
    <p:extLst>
      <p:ext uri="{BB962C8B-B14F-4D97-AF65-F5344CB8AC3E}">
        <p14:creationId xmlns:p14="http://schemas.microsoft.com/office/powerpoint/2010/main" val="3423894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Bezpečnost</a:t>
            </a:r>
            <a:endParaRPr lang="cs-CZ"/>
          </a:p>
        </p:txBody>
      </p:sp>
      <p:sp>
        <p:nvSpPr>
          <p:cNvPr id="3" name="Content Placeholder 2"/>
          <p:cNvSpPr>
            <a:spLocks noGrp="1"/>
          </p:cNvSpPr>
          <p:nvPr>
            <p:ph idx="1"/>
          </p:nvPr>
        </p:nvSpPr>
        <p:spPr/>
        <p:txBody>
          <a:bodyPr>
            <a:normAutofit fontScale="92500"/>
          </a:bodyPr>
          <a:lstStyle/>
          <a:p>
            <a:r>
              <a:rPr lang="cs-CZ"/>
              <a:t>Definic pojmu </a:t>
            </a:r>
            <a:r>
              <a:rPr lang="cs-CZ" b="1"/>
              <a:t>bezpečnost (</a:t>
            </a:r>
            <a:r>
              <a:rPr lang="cs-CZ" b="1" err="1"/>
              <a:t>security</a:t>
            </a:r>
            <a:r>
              <a:rPr lang="cs-CZ" b="1"/>
              <a:t>)</a:t>
            </a:r>
            <a:r>
              <a:rPr lang="cs-CZ"/>
              <a:t> existuje celá řada, avšak neexistuje žádná jednotná, obecně akceptovaná definice.</a:t>
            </a:r>
          </a:p>
          <a:p>
            <a:r>
              <a:rPr lang="cs-CZ"/>
              <a:t>Mareš definuje bezpečnost jako </a:t>
            </a:r>
            <a:r>
              <a:rPr lang="cs-CZ" i="1"/>
              <a:t>„stav, kdy jsou na nejnižší možnou míru limitovány hrozby pro</a:t>
            </a:r>
            <a:r>
              <a:rPr lang="cs-CZ"/>
              <a:t> </a:t>
            </a:r>
            <a:r>
              <a:rPr lang="cs-CZ" i="1"/>
              <a:t>objekt (zpravidla národní stát, popř. i mezinárodní organizace) a jeho zájmy a tento objekt je k eliminaci</a:t>
            </a:r>
            <a:br>
              <a:rPr lang="cs-CZ"/>
            </a:br>
            <a:r>
              <a:rPr lang="cs-CZ" i="1"/>
              <a:t>stávajících i potenciálních hrozeb efektivně vybaven a ochoten při ní spolupracovat.“</a:t>
            </a:r>
          </a:p>
          <a:p>
            <a:r>
              <a:rPr lang="cs-CZ"/>
              <a:t>Požár definuje </a:t>
            </a:r>
            <a:r>
              <a:rPr lang="cs-CZ" i="1"/>
              <a:t>„bezpečnost jako vlastnost nějakého objektu nebo subjektu, která určuje stupeň, míru</a:t>
            </a:r>
            <a:r>
              <a:rPr lang="cs-CZ"/>
              <a:t> </a:t>
            </a:r>
            <a:r>
              <a:rPr lang="cs-CZ" i="1"/>
              <a:t>jeho ochrany proti možným škodám a hrozbám.“</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13</a:t>
            </a:fld>
            <a:endParaRPr lang="cs-CZ"/>
          </a:p>
        </p:txBody>
      </p:sp>
    </p:spTree>
    <p:extLst>
      <p:ext uri="{BB962C8B-B14F-4D97-AF65-F5344CB8AC3E}">
        <p14:creationId xmlns:p14="http://schemas.microsoft.com/office/powerpoint/2010/main" val="4030501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Bezpečnost</a:t>
            </a:r>
            <a:endParaRPr lang="cs-CZ"/>
          </a:p>
        </p:txBody>
      </p:sp>
      <p:sp>
        <p:nvSpPr>
          <p:cNvPr id="3" name="Content Placeholder 2"/>
          <p:cNvSpPr>
            <a:spLocks noGrp="1"/>
          </p:cNvSpPr>
          <p:nvPr>
            <p:ph idx="1"/>
          </p:nvPr>
        </p:nvSpPr>
        <p:spPr/>
        <p:txBody>
          <a:bodyPr/>
          <a:lstStyle/>
          <a:p>
            <a:r>
              <a:rPr lang="cs-CZ" i="1"/>
              <a:t>Vlastnost prvku (např. informační systém), který je na určité úrovni chráněn proti ztrátám, nebo také</a:t>
            </a:r>
            <a:r>
              <a:rPr lang="cs-CZ"/>
              <a:t> </a:t>
            </a:r>
            <a:r>
              <a:rPr lang="cs-CZ" i="1"/>
              <a:t>stav ochrany (na určité úrovni) proti ztrátám. Bezpečnost IT zahrnuje ochranu důvěrnosti, integrity</a:t>
            </a:r>
            <a:br>
              <a:rPr lang="cs-CZ"/>
            </a:br>
            <a:r>
              <a:rPr lang="cs-CZ" i="1"/>
              <a:t>a dosažitelnosti při zpracování, úschově, distribuci a prezentaci informací.</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14</a:t>
            </a:fld>
            <a:endParaRPr lang="cs-CZ"/>
          </a:p>
        </p:txBody>
      </p:sp>
    </p:spTree>
    <p:extLst>
      <p:ext uri="{BB962C8B-B14F-4D97-AF65-F5344CB8AC3E}">
        <p14:creationId xmlns:p14="http://schemas.microsoft.com/office/powerpoint/2010/main" val="16895836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Bezpečnost není pouze otázkou státu!</a:t>
            </a:r>
          </a:p>
        </p:txBody>
      </p:sp>
      <p:sp>
        <p:nvSpPr>
          <p:cNvPr id="3" name="Content Placeholder 2"/>
          <p:cNvSpPr>
            <a:spLocks noGrp="1"/>
          </p:cNvSpPr>
          <p:nvPr>
            <p:ph idx="1"/>
          </p:nvPr>
        </p:nvSpPr>
        <p:spPr/>
        <p:txBody>
          <a:bodyPr>
            <a:normAutofit lnSpcReduction="10000"/>
          </a:bodyPr>
          <a:lstStyle/>
          <a:p>
            <a:r>
              <a:rPr lang="cs-CZ"/>
              <a:t>Je nezbytné se zabývat mimo jiné následujícími otázkami:</a:t>
            </a:r>
          </a:p>
          <a:p>
            <a:pPr lvl="1"/>
            <a:r>
              <a:rPr lang="cs-CZ" b="1"/>
              <a:t>O čí bezpečnost se jedná </a:t>
            </a:r>
            <a:r>
              <a:rPr lang="cs-CZ"/>
              <a:t>(mezinárodní organizace, stát, organizace, jednotlivec aj.)</a:t>
            </a:r>
            <a:r>
              <a:rPr lang="cs-CZ" b="1"/>
              <a:t>?</a:t>
            </a:r>
          </a:p>
          <a:p>
            <a:pPr lvl="1"/>
            <a:r>
              <a:rPr lang="pl-PL" b="1"/>
              <a:t>Jaké hodnoty jsou chráněny </a:t>
            </a:r>
            <a:r>
              <a:rPr lang="pl-PL"/>
              <a:t>(organizace, osoby, data aj.)</a:t>
            </a:r>
            <a:r>
              <a:rPr lang="pl-PL" b="1"/>
              <a:t>?</a:t>
            </a:r>
            <a:endParaRPr lang="pl-PL"/>
          </a:p>
          <a:p>
            <a:pPr lvl="1"/>
            <a:r>
              <a:rPr lang="cs-CZ" b="1"/>
              <a:t>Před čím jsou (mají být) tyto hodnoty chráněny </a:t>
            </a:r>
            <a:r>
              <a:rPr lang="cs-CZ"/>
              <a:t>(fyzické, kybernetické, kombinované útoky aj.)</a:t>
            </a:r>
            <a:r>
              <a:rPr lang="cs-CZ" b="1"/>
              <a:t>?</a:t>
            </a:r>
          </a:p>
          <a:p>
            <a:pPr lvl="1"/>
            <a:r>
              <a:rPr lang="cs-CZ" b="1"/>
              <a:t>Jaké prostředky je třeba vynaložit k ochraně těchto hodnot</a:t>
            </a:r>
            <a:endParaRPr lang="cs-CZ"/>
          </a:p>
          <a:p>
            <a:r>
              <a:rPr lang="cs-CZ"/>
              <a:t>Ideálním cílem bezpečnosti je vytvoření stavu „absolutního bezpečí“. Tento stav je ale utopií, protože jej není možné reálně dosáhnout, neboť vždy bude existovat hrozba či riziko, které nebylo do konceptu tvorby bezpečnosti zahrnuto, nebo bylo záměrně opomenuto.</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15</a:t>
            </a:fld>
            <a:endParaRPr lang="cs-CZ"/>
          </a:p>
        </p:txBody>
      </p:sp>
    </p:spTree>
    <p:extLst>
      <p:ext uri="{BB962C8B-B14F-4D97-AF65-F5344CB8AC3E}">
        <p14:creationId xmlns:p14="http://schemas.microsoft.com/office/powerpoint/2010/main" val="26632753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Kybernetická bezpečnost</a:t>
            </a:r>
            <a:endParaRPr lang="cs-CZ"/>
          </a:p>
        </p:txBody>
      </p:sp>
      <p:sp>
        <p:nvSpPr>
          <p:cNvPr id="3" name="Content Placeholder 2"/>
          <p:cNvSpPr>
            <a:spLocks noGrp="1"/>
          </p:cNvSpPr>
          <p:nvPr>
            <p:ph idx="1"/>
          </p:nvPr>
        </p:nvSpPr>
        <p:spPr/>
        <p:txBody>
          <a:bodyPr>
            <a:normAutofit fontScale="92500" lnSpcReduction="10000"/>
          </a:bodyPr>
          <a:lstStyle/>
          <a:p>
            <a:r>
              <a:rPr lang="cs-CZ"/>
              <a:t>Kybernetická bezpečnost představuje podmnožinu bezpečnosti jako takové.</a:t>
            </a:r>
          </a:p>
          <a:p>
            <a:r>
              <a:rPr lang="cs-CZ" b="1"/>
              <a:t>Kybernetická bezpečnost představuje soubor opatření, která jsou přijata, aby byl ochráněn počítačový systém před neoprávněným přístupem či útokem.</a:t>
            </a:r>
          </a:p>
          <a:p>
            <a:r>
              <a:rPr lang="cs-CZ"/>
              <a:t>Oxford </a:t>
            </a:r>
            <a:r>
              <a:rPr lang="cs-CZ" err="1"/>
              <a:t>dictionary</a:t>
            </a:r>
            <a:r>
              <a:rPr lang="cs-CZ"/>
              <a:t> uvádí, že </a:t>
            </a:r>
            <a:r>
              <a:rPr lang="cs-CZ" b="1"/>
              <a:t>kybernetická bezpečnost představuje stav, kdy dochází k ochraně před kriminálním či neautorizovaným užitím elektronických dat.</a:t>
            </a:r>
          </a:p>
          <a:p>
            <a:r>
              <a:rPr lang="cs-CZ"/>
              <a:t>Dle Jiráska a kol. představuje </a:t>
            </a:r>
            <a:r>
              <a:rPr lang="cs-CZ" b="1"/>
              <a:t>kybernetická bezpečnost (</a:t>
            </a:r>
            <a:r>
              <a:rPr lang="cs-CZ" b="1" err="1"/>
              <a:t>Cyber</a:t>
            </a:r>
            <a:r>
              <a:rPr lang="cs-CZ" b="1"/>
              <a:t> </a:t>
            </a:r>
            <a:r>
              <a:rPr lang="cs-CZ" b="1" err="1"/>
              <a:t>Security</a:t>
            </a:r>
            <a:r>
              <a:rPr lang="cs-CZ" b="1"/>
              <a:t>) </a:t>
            </a:r>
            <a:r>
              <a:rPr lang="cs-CZ" i="1"/>
              <a:t>„</a:t>
            </a:r>
            <a:r>
              <a:rPr lang="cs-CZ" b="1" i="1"/>
              <a:t>souhrn</a:t>
            </a:r>
            <a:r>
              <a:rPr lang="cs-CZ" b="1"/>
              <a:t> </a:t>
            </a:r>
            <a:r>
              <a:rPr lang="cs-CZ" b="1" i="1"/>
              <a:t>právních, organizačních, technických a vzdělávacích prostředků směřujících k zajištění ochrany</a:t>
            </a:r>
            <a:r>
              <a:rPr lang="cs-CZ" b="1"/>
              <a:t> </a:t>
            </a:r>
            <a:r>
              <a:rPr lang="cs-CZ" b="1" i="1"/>
              <a:t>kybernetického prostoru.“ </a:t>
            </a:r>
            <a:br>
              <a:rPr lang="cs-CZ" b="1"/>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16</a:t>
            </a:fld>
            <a:endParaRPr lang="cs-CZ"/>
          </a:p>
        </p:txBody>
      </p:sp>
    </p:spTree>
    <p:extLst>
      <p:ext uri="{BB962C8B-B14F-4D97-AF65-F5344CB8AC3E}">
        <p14:creationId xmlns:p14="http://schemas.microsoft.com/office/powerpoint/2010/main" val="2482539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Kybernetická bezpečnost</a:t>
            </a:r>
            <a:endParaRPr lang="cs-CZ"/>
          </a:p>
        </p:txBody>
      </p:sp>
      <p:sp>
        <p:nvSpPr>
          <p:cNvPr id="3" name="Content Placeholder 2"/>
          <p:cNvSpPr>
            <a:spLocks noGrp="1"/>
          </p:cNvSpPr>
          <p:nvPr>
            <p:ph idx="1"/>
          </p:nvPr>
        </p:nvSpPr>
        <p:spPr/>
        <p:txBody>
          <a:bodyPr>
            <a:normAutofit lnSpcReduction="10000"/>
          </a:bodyPr>
          <a:lstStyle/>
          <a:p>
            <a:pPr marL="0" indent="0">
              <a:buNone/>
            </a:pPr>
            <a:r>
              <a:rPr lang="cs-CZ"/>
              <a:t>Kybernetickou bezpečnost je možné vymezit jako:</a:t>
            </a:r>
          </a:p>
          <a:p>
            <a:r>
              <a:rPr lang="cs-CZ" b="1"/>
              <a:t>souhrn právních, organizačních, technických a vzdělávacích prostředků, které směřují</a:t>
            </a:r>
            <a:r>
              <a:rPr lang="cs-CZ"/>
              <a:t> </a:t>
            </a:r>
            <a:r>
              <a:rPr lang="cs-CZ" b="1"/>
              <a:t>k zajištění ochrany počítačových systémů a dalších prvků ICT, aplikací, dat a uživatelů,</a:t>
            </a:r>
          </a:p>
          <a:p>
            <a:r>
              <a:rPr lang="cs-CZ" b="1"/>
              <a:t>schopnost počítačových systémů a využívaných služeb reagovat na kybernetické hrozby</a:t>
            </a:r>
            <a:r>
              <a:rPr lang="cs-CZ"/>
              <a:t> </a:t>
            </a:r>
            <a:r>
              <a:rPr lang="cs-CZ" b="1"/>
              <a:t>či útoky a jejich následky, jakož i plánování obnovy funkčnosti počítačových systémů</a:t>
            </a:r>
            <a:r>
              <a:rPr lang="cs-CZ"/>
              <a:t> </a:t>
            </a:r>
            <a:r>
              <a:rPr lang="cs-CZ" b="1"/>
              <a:t>a služeb s nimi spojených.</a:t>
            </a:r>
            <a:br>
              <a:rPr lang="cs-CZ"/>
            </a:br>
            <a:br>
              <a:rPr lang="cs-CZ"/>
            </a:b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17</a:t>
            </a:fld>
            <a:endParaRPr lang="cs-CZ"/>
          </a:p>
        </p:txBody>
      </p:sp>
    </p:spTree>
    <p:extLst>
      <p:ext uri="{BB962C8B-B14F-4D97-AF65-F5344CB8AC3E}">
        <p14:creationId xmlns:p14="http://schemas.microsoft.com/office/powerpoint/2010/main" val="32996031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Principy kybernetické bezpečnosti</a:t>
            </a:r>
          </a:p>
        </p:txBody>
      </p:sp>
      <p:sp>
        <p:nvSpPr>
          <p:cNvPr id="3" name="Content Placeholder 2"/>
          <p:cNvSpPr>
            <a:spLocks noGrp="1"/>
          </p:cNvSpPr>
          <p:nvPr>
            <p:ph idx="1"/>
          </p:nvPr>
        </p:nvSpPr>
        <p:spPr/>
        <p:txBody>
          <a:bodyPr>
            <a:normAutofit/>
          </a:bodyPr>
          <a:lstStyle/>
          <a:p>
            <a:r>
              <a:rPr lang="cs-CZ" b="1"/>
              <a:t>Při uplatňování kybernetické bezpečnosti dochází k implementaci následujících principů,</a:t>
            </a:r>
            <a:r>
              <a:rPr lang="cs-CZ"/>
              <a:t> </a:t>
            </a:r>
            <a:r>
              <a:rPr lang="cs-CZ" b="1"/>
              <a:t>které jsou také nazývány triády kybernetické bezpečnosti.</a:t>
            </a:r>
          </a:p>
          <a:p>
            <a:pPr marL="514350" indent="-514350">
              <a:buFont typeface="+mj-lt"/>
              <a:buAutoNum type="arabicPeriod"/>
            </a:pPr>
            <a:r>
              <a:rPr lang="cs-CZ" b="1"/>
              <a:t>CIA </a:t>
            </a:r>
            <a:r>
              <a:rPr lang="cs-CZ"/>
              <a:t>[</a:t>
            </a:r>
            <a:r>
              <a:rPr lang="cs-CZ" b="1"/>
              <a:t>C</a:t>
            </a:r>
            <a:r>
              <a:rPr lang="cs-CZ"/>
              <a:t>– </a:t>
            </a:r>
            <a:r>
              <a:rPr lang="cs-CZ" b="1" err="1"/>
              <a:t>Confidentiality</a:t>
            </a:r>
            <a:r>
              <a:rPr lang="cs-CZ" b="1"/>
              <a:t> </a:t>
            </a:r>
            <a:r>
              <a:rPr lang="cs-CZ"/>
              <a:t>(důvěrnost); </a:t>
            </a:r>
            <a:r>
              <a:rPr lang="cs-CZ" b="1"/>
              <a:t>I</a:t>
            </a:r>
            <a:r>
              <a:rPr lang="cs-CZ"/>
              <a:t>– </a:t>
            </a:r>
            <a:r>
              <a:rPr lang="cs-CZ" b="1"/>
              <a:t>Integrity </a:t>
            </a:r>
            <a:r>
              <a:rPr lang="cs-CZ"/>
              <a:t>(celistvost); </a:t>
            </a:r>
            <a:r>
              <a:rPr lang="cs-CZ" b="1"/>
              <a:t>A – </a:t>
            </a:r>
            <a:r>
              <a:rPr lang="cs-CZ" b="1" err="1"/>
              <a:t>Availability</a:t>
            </a:r>
            <a:r>
              <a:rPr lang="cs-CZ"/>
              <a:t>(dostupnost)]</a:t>
            </a:r>
          </a:p>
          <a:p>
            <a:pPr marL="514350" indent="-514350">
              <a:buFont typeface="+mj-lt"/>
              <a:buAutoNum type="arabicPeriod"/>
            </a:pPr>
            <a:r>
              <a:rPr lang="cs-CZ" b="1"/>
              <a:t>Prvky kybernetické bezpečnosti </a:t>
            </a:r>
            <a:r>
              <a:rPr lang="cs-CZ"/>
              <a:t>(</a:t>
            </a:r>
            <a:r>
              <a:rPr lang="cs-CZ" b="1"/>
              <a:t>L</a:t>
            </a:r>
            <a:r>
              <a:rPr lang="cs-CZ"/>
              <a:t>idé, </a:t>
            </a:r>
            <a:r>
              <a:rPr lang="cs-CZ" b="1"/>
              <a:t>T</a:t>
            </a:r>
            <a:r>
              <a:rPr lang="cs-CZ"/>
              <a:t>echnologie, </a:t>
            </a:r>
            <a:r>
              <a:rPr lang="cs-CZ" b="1"/>
              <a:t>P</a:t>
            </a:r>
            <a:r>
              <a:rPr lang="cs-CZ"/>
              <a:t>rocesy)</a:t>
            </a:r>
          </a:p>
          <a:p>
            <a:pPr marL="514350" indent="-514350">
              <a:buFont typeface="+mj-lt"/>
              <a:buAutoNum type="arabicPeriod"/>
            </a:pPr>
            <a:r>
              <a:rPr lang="cs-CZ" b="1"/>
              <a:t>Životní cyklus kybernetické bezpečnosti </a:t>
            </a:r>
            <a:r>
              <a:rPr lang="cs-CZ"/>
              <a:t>(</a:t>
            </a:r>
            <a:r>
              <a:rPr lang="cs-CZ" b="1"/>
              <a:t>P</a:t>
            </a:r>
            <a:r>
              <a:rPr lang="cs-CZ"/>
              <a:t>revence, </a:t>
            </a:r>
            <a:r>
              <a:rPr lang="cs-CZ" b="1"/>
              <a:t>D</a:t>
            </a:r>
            <a:r>
              <a:rPr lang="cs-CZ"/>
              <a:t>etekce, </a:t>
            </a:r>
            <a:r>
              <a:rPr lang="cs-CZ" b="1"/>
              <a:t>R</a:t>
            </a:r>
            <a:r>
              <a:rPr lang="cs-CZ"/>
              <a:t>eakce)</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18</a:t>
            </a:fld>
            <a:endParaRPr lang="cs-CZ"/>
          </a:p>
        </p:txBody>
      </p:sp>
    </p:spTree>
    <p:extLst>
      <p:ext uri="{BB962C8B-B14F-4D97-AF65-F5344CB8AC3E}">
        <p14:creationId xmlns:p14="http://schemas.microsoft.com/office/powerpoint/2010/main" val="20686546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C8C88-10A1-480C-BB86-54E63E6242C5}"/>
              </a:ext>
            </a:extLst>
          </p:cNvPr>
          <p:cNvSpPr>
            <a:spLocks noGrp="1"/>
          </p:cNvSpPr>
          <p:nvPr>
            <p:ph type="title"/>
          </p:nvPr>
        </p:nvSpPr>
        <p:spPr/>
        <p:txBody>
          <a:bodyPr/>
          <a:lstStyle/>
          <a:p>
            <a:r>
              <a:rPr lang="cs-CZ" b="1"/>
              <a:t>CIA</a:t>
            </a:r>
            <a:endParaRPr lang="en-US" b="1"/>
          </a:p>
        </p:txBody>
      </p:sp>
      <p:sp>
        <p:nvSpPr>
          <p:cNvPr id="4" name="Date Placeholder 3">
            <a:extLst>
              <a:ext uri="{FF2B5EF4-FFF2-40B4-BE49-F238E27FC236}">
                <a16:creationId xmlns:a16="http://schemas.microsoft.com/office/drawing/2014/main" id="{F06E0F72-EDB1-4E13-BB0F-7E3C0EDC5261}"/>
              </a:ext>
            </a:extLst>
          </p:cNvPr>
          <p:cNvSpPr>
            <a:spLocks noGrp="1"/>
          </p:cNvSpPr>
          <p:nvPr>
            <p:ph type="dt" sz="half" idx="10"/>
          </p:nvPr>
        </p:nvSpPr>
        <p:spPr/>
        <p:txBody>
          <a:bodyPr/>
          <a:lstStyle/>
          <a:p>
            <a:r>
              <a:rPr lang="cs-CZ"/>
              <a:t>18.8.2022</a:t>
            </a:r>
          </a:p>
        </p:txBody>
      </p:sp>
      <p:sp>
        <p:nvSpPr>
          <p:cNvPr id="5" name="Slide Number Placeholder 4">
            <a:extLst>
              <a:ext uri="{FF2B5EF4-FFF2-40B4-BE49-F238E27FC236}">
                <a16:creationId xmlns:a16="http://schemas.microsoft.com/office/drawing/2014/main" id="{0A2B293F-B9B7-4A08-B44B-E1B38DA280D2}"/>
              </a:ext>
            </a:extLst>
          </p:cNvPr>
          <p:cNvSpPr>
            <a:spLocks noGrp="1"/>
          </p:cNvSpPr>
          <p:nvPr>
            <p:ph type="sldNum" sz="quarter" idx="12"/>
          </p:nvPr>
        </p:nvSpPr>
        <p:spPr/>
        <p:txBody>
          <a:bodyPr/>
          <a:lstStyle/>
          <a:p>
            <a:fld id="{AD9F5C5F-4392-49C5-81DD-37F176609E69}" type="slidenum">
              <a:rPr lang="cs-CZ" smtClean="0"/>
              <a:t>19</a:t>
            </a:fld>
            <a:endParaRPr lang="cs-CZ"/>
          </a:p>
        </p:txBody>
      </p:sp>
      <p:sp>
        <p:nvSpPr>
          <p:cNvPr id="9" name="Content Placeholder 8">
            <a:extLst>
              <a:ext uri="{FF2B5EF4-FFF2-40B4-BE49-F238E27FC236}">
                <a16:creationId xmlns:a16="http://schemas.microsoft.com/office/drawing/2014/main" id="{B8292265-BDE3-4450-AB96-24550B60DA41}"/>
              </a:ext>
            </a:extLst>
          </p:cNvPr>
          <p:cNvSpPr>
            <a:spLocks noGrp="1"/>
          </p:cNvSpPr>
          <p:nvPr>
            <p:ph idx="1"/>
          </p:nvPr>
        </p:nvSpPr>
        <p:spPr/>
        <p:txBody>
          <a:bodyPr/>
          <a:lstStyle/>
          <a:p>
            <a:pPr algn="l">
              <a:buFont typeface="Arial" panose="020B0604020202020204" pitchFamily="34" charset="0"/>
              <a:buChar char="•"/>
            </a:pPr>
            <a:r>
              <a:rPr lang="en-US" b="1" i="0">
                <a:solidFill>
                  <a:srgbClr val="58585B"/>
                </a:solidFill>
                <a:effectLst/>
                <a:latin typeface="CiscoSans"/>
              </a:rPr>
              <a:t>Confidentiality</a:t>
            </a:r>
            <a:r>
              <a:rPr lang="en-US" b="0" i="0">
                <a:solidFill>
                  <a:srgbClr val="58585B"/>
                </a:solidFill>
                <a:effectLst/>
                <a:latin typeface="CiscoSans"/>
              </a:rPr>
              <a:t> - Only authorized individuals, entities, or processes can access sensitive information. It may require using cryptographic encryption algorithms such as AES to encrypt and decrypt data.</a:t>
            </a:r>
          </a:p>
          <a:p>
            <a:pPr algn="l">
              <a:buFont typeface="Arial" panose="020B0604020202020204" pitchFamily="34" charset="0"/>
              <a:buChar char="•"/>
            </a:pPr>
            <a:r>
              <a:rPr lang="en-US" b="1" i="0">
                <a:solidFill>
                  <a:srgbClr val="58585B"/>
                </a:solidFill>
                <a:effectLst/>
                <a:latin typeface="CiscoSans"/>
              </a:rPr>
              <a:t>Integrity</a:t>
            </a:r>
            <a:r>
              <a:rPr lang="en-US" b="0" i="0">
                <a:solidFill>
                  <a:srgbClr val="58585B"/>
                </a:solidFill>
                <a:effectLst/>
                <a:latin typeface="CiscoSans"/>
              </a:rPr>
              <a:t> - Refers to protecting data from unauthorized alteration. It requires the use of cryptographic hashing algorithms such as SHA.</a:t>
            </a:r>
          </a:p>
          <a:p>
            <a:pPr algn="l">
              <a:buFont typeface="Arial" panose="020B0604020202020204" pitchFamily="34" charset="0"/>
              <a:buChar char="•"/>
            </a:pPr>
            <a:r>
              <a:rPr lang="en-US" b="1" i="0">
                <a:solidFill>
                  <a:srgbClr val="58585B"/>
                </a:solidFill>
                <a:effectLst/>
                <a:latin typeface="CiscoSans"/>
              </a:rPr>
              <a:t>Availability</a:t>
            </a:r>
            <a:r>
              <a:rPr lang="en-US" b="0" i="0">
                <a:solidFill>
                  <a:srgbClr val="58585B"/>
                </a:solidFill>
                <a:effectLst/>
                <a:latin typeface="CiscoSans"/>
              </a:rPr>
              <a:t> - Authorized users must have uninterrupted access to important resources and data. It requires implementing redundant services, gateways, and links.</a:t>
            </a:r>
          </a:p>
          <a:p>
            <a:endParaRPr lang="en-US"/>
          </a:p>
        </p:txBody>
      </p:sp>
    </p:spTree>
    <p:extLst>
      <p:ext uri="{BB962C8B-B14F-4D97-AF65-F5344CB8AC3E}">
        <p14:creationId xmlns:p14="http://schemas.microsoft.com/office/powerpoint/2010/main" val="32782504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2C167-1990-4A0C-A9F1-1870A64C7DEB}"/>
              </a:ext>
            </a:extLst>
          </p:cNvPr>
          <p:cNvSpPr>
            <a:spLocks noGrp="1"/>
          </p:cNvSpPr>
          <p:nvPr>
            <p:ph type="title"/>
          </p:nvPr>
        </p:nvSpPr>
        <p:spPr/>
        <p:txBody>
          <a:bodyPr/>
          <a:lstStyle/>
          <a:p>
            <a:r>
              <a:rPr lang="cs-CZ" b="1"/>
              <a:t>CIA</a:t>
            </a:r>
            <a:endParaRPr lang="en-US"/>
          </a:p>
        </p:txBody>
      </p:sp>
      <p:sp>
        <p:nvSpPr>
          <p:cNvPr id="4" name="Date Placeholder 3">
            <a:extLst>
              <a:ext uri="{FF2B5EF4-FFF2-40B4-BE49-F238E27FC236}">
                <a16:creationId xmlns:a16="http://schemas.microsoft.com/office/drawing/2014/main" id="{AE3D884B-6033-4024-9493-CDD1D2516DFF}"/>
              </a:ext>
            </a:extLst>
          </p:cNvPr>
          <p:cNvSpPr>
            <a:spLocks noGrp="1"/>
          </p:cNvSpPr>
          <p:nvPr>
            <p:ph type="dt" sz="half" idx="10"/>
          </p:nvPr>
        </p:nvSpPr>
        <p:spPr/>
        <p:txBody>
          <a:bodyPr/>
          <a:lstStyle/>
          <a:p>
            <a:r>
              <a:rPr lang="cs-CZ"/>
              <a:t>18.8.2022</a:t>
            </a:r>
          </a:p>
        </p:txBody>
      </p:sp>
      <p:sp>
        <p:nvSpPr>
          <p:cNvPr id="5" name="Slide Number Placeholder 4">
            <a:extLst>
              <a:ext uri="{FF2B5EF4-FFF2-40B4-BE49-F238E27FC236}">
                <a16:creationId xmlns:a16="http://schemas.microsoft.com/office/drawing/2014/main" id="{AFC16E9E-3D0A-4E50-A29F-D2743F7817D4}"/>
              </a:ext>
            </a:extLst>
          </p:cNvPr>
          <p:cNvSpPr>
            <a:spLocks noGrp="1"/>
          </p:cNvSpPr>
          <p:nvPr>
            <p:ph type="sldNum" sz="quarter" idx="12"/>
          </p:nvPr>
        </p:nvSpPr>
        <p:spPr/>
        <p:txBody>
          <a:bodyPr/>
          <a:lstStyle/>
          <a:p>
            <a:fld id="{AD9F5C5F-4392-49C5-81DD-37F176609E69}" type="slidenum">
              <a:rPr lang="cs-CZ" smtClean="0"/>
              <a:t>20</a:t>
            </a:fld>
            <a:endParaRPr lang="cs-CZ"/>
          </a:p>
        </p:txBody>
      </p:sp>
      <p:pic>
        <p:nvPicPr>
          <p:cNvPr id="7" name="Picture 6">
            <a:extLst>
              <a:ext uri="{FF2B5EF4-FFF2-40B4-BE49-F238E27FC236}">
                <a16:creationId xmlns:a16="http://schemas.microsoft.com/office/drawing/2014/main" id="{A1E1C5A0-0FA8-4ACF-99DB-8786BB6EE68E}"/>
              </a:ext>
            </a:extLst>
          </p:cNvPr>
          <p:cNvPicPr>
            <a:picLocks noChangeAspect="1"/>
          </p:cNvPicPr>
          <p:nvPr/>
        </p:nvPicPr>
        <p:blipFill>
          <a:blip r:embed="rId2"/>
          <a:stretch>
            <a:fillRect/>
          </a:stretch>
        </p:blipFill>
        <p:spPr>
          <a:xfrm>
            <a:off x="3223011" y="1690688"/>
            <a:ext cx="5745978" cy="4290432"/>
          </a:xfrm>
          <a:prstGeom prst="rect">
            <a:avLst/>
          </a:prstGeom>
        </p:spPr>
      </p:pic>
    </p:spTree>
    <p:extLst>
      <p:ext uri="{BB962C8B-B14F-4D97-AF65-F5344CB8AC3E}">
        <p14:creationId xmlns:p14="http://schemas.microsoft.com/office/powerpoint/2010/main" val="18575207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Triáda CIA: Důvěryhodnost</a:t>
            </a:r>
            <a:endParaRPr lang="cs-CZ"/>
          </a:p>
        </p:txBody>
      </p:sp>
      <p:sp>
        <p:nvSpPr>
          <p:cNvPr id="3" name="Content Placeholder 2"/>
          <p:cNvSpPr>
            <a:spLocks noGrp="1"/>
          </p:cNvSpPr>
          <p:nvPr>
            <p:ph idx="1"/>
          </p:nvPr>
        </p:nvSpPr>
        <p:spPr/>
        <p:txBody>
          <a:bodyPr>
            <a:normAutofit fontScale="92500"/>
          </a:bodyPr>
          <a:lstStyle/>
          <a:p>
            <a:r>
              <a:rPr lang="cs-CZ"/>
              <a:t>Pojem důvěrnost definuje tu skutečnost, že k informacím, datům, či ICT mají přístup pouze subjekty, které jsou k tomu autorizované (oprávněné)</a:t>
            </a:r>
          </a:p>
          <a:p>
            <a:pPr marL="514350" indent="-514350">
              <a:buFont typeface="+mj-lt"/>
              <a:buAutoNum type="arabicPeriod"/>
            </a:pPr>
            <a:r>
              <a:rPr lang="cs-CZ" b="1"/>
              <a:t>Klasifikace informací dle zákona 412/2005 Sb., o ochraně utajovaných informací</a:t>
            </a:r>
            <a:r>
              <a:rPr lang="cs-CZ"/>
              <a:t> </a:t>
            </a:r>
            <a:r>
              <a:rPr lang="cs-CZ" b="1"/>
              <a:t>a o bezpečnostní způsobilosti:</a:t>
            </a:r>
          </a:p>
          <a:p>
            <a:pPr lvl="1"/>
            <a:r>
              <a:rPr lang="cs-CZ" b="1"/>
              <a:t>Přísně tajné (Top </a:t>
            </a:r>
            <a:r>
              <a:rPr lang="cs-CZ" b="1" err="1"/>
              <a:t>secret</a:t>
            </a:r>
            <a:r>
              <a:rPr lang="cs-CZ" b="1"/>
              <a:t>) </a:t>
            </a:r>
            <a:r>
              <a:rPr lang="cs-CZ"/>
              <a:t>- neoprávněné nakládání s informacemi by mohlo způsobit mimořádně vážnou újmu zájmům České republiky.</a:t>
            </a:r>
          </a:p>
          <a:p>
            <a:pPr lvl="1"/>
            <a:r>
              <a:rPr lang="cs-CZ" b="1"/>
              <a:t>Tajné (</a:t>
            </a:r>
            <a:r>
              <a:rPr lang="cs-CZ" b="1" err="1"/>
              <a:t>Secret</a:t>
            </a:r>
            <a:r>
              <a:rPr lang="cs-CZ" b="1"/>
              <a:t>) </a:t>
            </a:r>
            <a:r>
              <a:rPr lang="cs-CZ"/>
              <a:t>- neoprávněné nakládání s informacemi by mohlo způsobit vážnou újmu zájmům České republiky.</a:t>
            </a:r>
          </a:p>
          <a:p>
            <a:pPr lvl="1"/>
            <a:r>
              <a:rPr lang="cs-CZ" b="1"/>
              <a:t>Důvěrné (</a:t>
            </a:r>
            <a:r>
              <a:rPr lang="cs-CZ" b="1" err="1"/>
              <a:t>Confidential</a:t>
            </a:r>
            <a:r>
              <a:rPr lang="cs-CZ" b="1"/>
              <a:t>) </a:t>
            </a:r>
            <a:r>
              <a:rPr lang="cs-CZ"/>
              <a:t>- neoprávněné nakládání s informacemi by mohlo způsobit</a:t>
            </a:r>
            <a:br>
              <a:rPr lang="cs-CZ"/>
            </a:br>
            <a:r>
              <a:rPr lang="cs-CZ"/>
              <a:t>prostou újmu zájmům České republiky.</a:t>
            </a:r>
          </a:p>
          <a:p>
            <a:pPr lvl="1"/>
            <a:r>
              <a:rPr lang="cs-CZ" b="1"/>
              <a:t>Vyhrazené (</a:t>
            </a:r>
            <a:r>
              <a:rPr lang="cs-CZ" b="1" err="1"/>
              <a:t>Restricted</a:t>
            </a:r>
            <a:r>
              <a:rPr lang="cs-CZ" b="1"/>
              <a:t>) - </a:t>
            </a:r>
            <a:r>
              <a:rPr lang="cs-CZ"/>
              <a:t>neoprávněné nakládání s informacemi by mohlo být nevýhodné pro zájmy České republiky.</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21</a:t>
            </a:fld>
            <a:endParaRPr lang="cs-CZ"/>
          </a:p>
        </p:txBody>
      </p:sp>
    </p:spTree>
    <p:extLst>
      <p:ext uri="{BB962C8B-B14F-4D97-AF65-F5344CB8AC3E}">
        <p14:creationId xmlns:p14="http://schemas.microsoft.com/office/powerpoint/2010/main" val="39028590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Triáda CIA: Důvěryhodnost</a:t>
            </a:r>
            <a:endParaRPr lang="cs-CZ"/>
          </a:p>
        </p:txBody>
      </p:sp>
      <p:sp>
        <p:nvSpPr>
          <p:cNvPr id="3" name="Content Placeholder 2"/>
          <p:cNvSpPr>
            <a:spLocks noGrp="1"/>
          </p:cNvSpPr>
          <p:nvPr>
            <p:ph idx="1"/>
          </p:nvPr>
        </p:nvSpPr>
        <p:spPr/>
        <p:txBody>
          <a:bodyPr>
            <a:normAutofit/>
          </a:bodyPr>
          <a:lstStyle/>
          <a:p>
            <a:pPr marL="514350" indent="-514350">
              <a:buFont typeface="+mj-lt"/>
              <a:buAutoNum type="arabicPeriod"/>
            </a:pPr>
            <a:r>
              <a:rPr lang="cs-CZ" b="1"/>
              <a:t>Klasifikace informací využívaná v komerční sféře</a:t>
            </a:r>
            <a:r>
              <a:rPr lang="cs-CZ"/>
              <a:t>:</a:t>
            </a:r>
          </a:p>
          <a:p>
            <a:pPr lvl="1"/>
            <a:r>
              <a:rPr lang="cs-CZ" b="1"/>
              <a:t>Chráněné - </a:t>
            </a:r>
            <a:r>
              <a:rPr lang="cs-CZ"/>
              <a:t>neoprávněné nakládání s informacemi by mohlo způsobit závažné poškození či zničení organizace (např. únik strategických informací, zdrojových kódů, schémat zabezpečení, hesel aj.).</a:t>
            </a:r>
          </a:p>
          <a:p>
            <a:pPr lvl="1"/>
            <a:r>
              <a:rPr lang="cs-CZ" b="1"/>
              <a:t>Interní - </a:t>
            </a:r>
            <a:r>
              <a:rPr lang="cs-CZ"/>
              <a:t>neoprávněné nakládání s informacemi by mohlo způsobit poškození organizace (např. únik osobních údajů, smluv aj.).</a:t>
            </a:r>
          </a:p>
          <a:p>
            <a:pPr lvl="1"/>
            <a:r>
              <a:rPr lang="cs-CZ" b="1"/>
              <a:t>Citlivé - </a:t>
            </a:r>
            <a:r>
              <a:rPr lang="cs-CZ"/>
              <a:t>neoprávněné nakládání s informacemi by mohlo mít negativní dopad na společnost (např. dosud nezveřejněné informace o projektech, plánovaných akcích aj.).</a:t>
            </a:r>
          </a:p>
          <a:p>
            <a:pPr lvl="1"/>
            <a:r>
              <a:rPr lang="cs-CZ" b="1"/>
              <a:t>Veřejné - </a:t>
            </a:r>
            <a:r>
              <a:rPr lang="cs-CZ"/>
              <a:t>neoprávněné nakládání s informacemi by nemělo nikoho poškodit a nemělo by mít jakýkoliv dopad na společnost (např. veřejně dostupné kontakty, prezentace projektů aj.).</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22</a:t>
            </a:fld>
            <a:endParaRPr lang="cs-CZ"/>
          </a:p>
        </p:txBody>
      </p:sp>
    </p:spTree>
    <p:extLst>
      <p:ext uri="{BB962C8B-B14F-4D97-AF65-F5344CB8AC3E}">
        <p14:creationId xmlns:p14="http://schemas.microsoft.com/office/powerpoint/2010/main" val="31707482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err="1"/>
              <a:t>Traffic</a:t>
            </a:r>
            <a:r>
              <a:rPr lang="cs-CZ" b="1"/>
              <a:t> </a:t>
            </a:r>
            <a:r>
              <a:rPr lang="cs-CZ" b="1" err="1"/>
              <a:t>Light</a:t>
            </a:r>
            <a:r>
              <a:rPr lang="cs-CZ" b="1"/>
              <a:t> </a:t>
            </a:r>
            <a:r>
              <a:rPr lang="cs-CZ" b="1" err="1"/>
              <a:t>Protocol</a:t>
            </a:r>
            <a:endParaRPr lang="cs-CZ"/>
          </a:p>
        </p:txBody>
      </p:sp>
      <p:sp>
        <p:nvSpPr>
          <p:cNvPr id="3" name="Content Placeholder 2"/>
          <p:cNvSpPr>
            <a:spLocks noGrp="1"/>
          </p:cNvSpPr>
          <p:nvPr>
            <p:ph idx="1"/>
          </p:nvPr>
        </p:nvSpPr>
        <p:spPr/>
        <p:txBody>
          <a:bodyPr>
            <a:normAutofit/>
          </a:bodyPr>
          <a:lstStyle/>
          <a:p>
            <a:r>
              <a:rPr lang="cs-CZ"/>
              <a:t>V rámci komunity kybernetické bezpečnosti vznikla v minulosti potřeba sdílet informace a data (typicky o kybernetických útocích), která mají citlivou povahu. </a:t>
            </a:r>
          </a:p>
          <a:p>
            <a:r>
              <a:rPr lang="cs-CZ"/>
              <a:t>Z tohoto důvodu byl v </a:t>
            </a:r>
            <a:r>
              <a:rPr lang="cs-CZ" err="1"/>
              <a:t>National</a:t>
            </a:r>
            <a:r>
              <a:rPr lang="cs-CZ"/>
              <a:t> </a:t>
            </a:r>
            <a:r>
              <a:rPr lang="cs-CZ" err="1"/>
              <a:t>Infrastructure</a:t>
            </a:r>
            <a:r>
              <a:rPr lang="cs-CZ"/>
              <a:t> </a:t>
            </a:r>
            <a:r>
              <a:rPr lang="cs-CZ" err="1"/>
              <a:t>Security</a:t>
            </a:r>
            <a:r>
              <a:rPr lang="cs-CZ"/>
              <a:t> </a:t>
            </a:r>
            <a:r>
              <a:rPr lang="cs-CZ" err="1"/>
              <a:t>Coordination</a:t>
            </a:r>
            <a:r>
              <a:rPr lang="cs-CZ"/>
              <a:t> Centre vytvořen na počátku roku 2000 </a:t>
            </a:r>
            <a:r>
              <a:rPr lang="cs-CZ" b="1"/>
              <a:t>protokol TLP </a:t>
            </a:r>
            <a:r>
              <a:rPr lang="cs-CZ"/>
              <a:t>(</a:t>
            </a:r>
            <a:r>
              <a:rPr lang="cs-CZ" b="1" i="1" err="1"/>
              <a:t>Traffic</a:t>
            </a:r>
            <a:r>
              <a:rPr lang="cs-CZ" b="1" i="1"/>
              <a:t> </a:t>
            </a:r>
            <a:r>
              <a:rPr lang="cs-CZ" b="1" i="1" err="1"/>
              <a:t>Light</a:t>
            </a:r>
            <a:r>
              <a:rPr lang="cs-CZ" b="1" i="1"/>
              <a:t> </a:t>
            </a:r>
            <a:r>
              <a:rPr lang="cs-CZ" b="1" i="1" err="1"/>
              <a:t>Protocol</a:t>
            </a:r>
            <a:r>
              <a:rPr lang="cs-CZ" b="1"/>
              <a:t>).</a:t>
            </a:r>
          </a:p>
          <a:p>
            <a:r>
              <a:rPr lang="cs-CZ"/>
              <a:t>Subjekt, který předává informace (zdroj informace), vždy označí</a:t>
            </a:r>
            <a:br>
              <a:rPr lang="cs-CZ"/>
            </a:br>
            <a:r>
              <a:rPr lang="cs-CZ"/>
              <a:t>informaci určitou barvou, která stanovuje, jak má daný příjemce s informací nakládat.</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23</a:t>
            </a:fld>
            <a:endParaRPr lang="cs-CZ"/>
          </a:p>
        </p:txBody>
      </p:sp>
    </p:spTree>
    <p:extLst>
      <p:ext uri="{BB962C8B-B14F-4D97-AF65-F5344CB8AC3E}">
        <p14:creationId xmlns:p14="http://schemas.microsoft.com/office/powerpoint/2010/main" val="4162235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err="1"/>
              <a:t>Traffic</a:t>
            </a:r>
            <a:r>
              <a:rPr lang="cs-CZ" b="1"/>
              <a:t> </a:t>
            </a:r>
            <a:r>
              <a:rPr lang="cs-CZ" b="1" err="1"/>
              <a:t>Light</a:t>
            </a:r>
            <a:r>
              <a:rPr lang="cs-CZ" b="1"/>
              <a:t> </a:t>
            </a:r>
            <a:r>
              <a:rPr lang="cs-CZ" b="1" err="1"/>
              <a:t>Protocol</a:t>
            </a:r>
            <a:endParaRPr lang="cs-CZ"/>
          </a:p>
        </p:txBody>
      </p:sp>
      <p:sp>
        <p:nvSpPr>
          <p:cNvPr id="3" name="Content Placeholder 2"/>
          <p:cNvSpPr>
            <a:spLocks noGrp="1"/>
          </p:cNvSpPr>
          <p:nvPr>
            <p:ph idx="1"/>
          </p:nvPr>
        </p:nvSpPr>
        <p:spPr/>
        <p:txBody>
          <a:bodyPr>
            <a:normAutofit fontScale="92500"/>
          </a:bodyPr>
          <a:lstStyle/>
          <a:p>
            <a:r>
              <a:rPr lang="cs-CZ" b="1"/>
              <a:t>TLP:RED</a:t>
            </a:r>
          </a:p>
          <a:p>
            <a:pPr lvl="1"/>
            <a:r>
              <a:rPr lang="cs-CZ"/>
              <a:t>Neurčeno k zveřejnění (pouze pro účastníky)</a:t>
            </a:r>
          </a:p>
          <a:p>
            <a:pPr lvl="1"/>
            <a:r>
              <a:rPr lang="cs-CZ"/>
              <a:t>Ve většině případů by informace označené TLP: RED měly být vyměňovány pouze verbálně nebo osobně.</a:t>
            </a:r>
          </a:p>
          <a:p>
            <a:r>
              <a:rPr lang="cs-CZ" b="1"/>
              <a:t>TLP:AMBER</a:t>
            </a:r>
          </a:p>
          <a:p>
            <a:pPr lvl="1"/>
            <a:r>
              <a:rPr lang="cs-CZ"/>
              <a:t>Omezené zveřejnění (jen v organizaci účastníků)</a:t>
            </a:r>
          </a:p>
          <a:p>
            <a:pPr lvl="1"/>
            <a:r>
              <a:rPr lang="cs-CZ"/>
              <a:t>Subjekty mohou volně stanovovat další pravidla sdílení, a tato musí být dodržována.</a:t>
            </a:r>
          </a:p>
          <a:p>
            <a:r>
              <a:rPr lang="cs-CZ" b="1"/>
              <a:t>TLP:GREEN</a:t>
            </a:r>
          </a:p>
          <a:p>
            <a:pPr lvl="1"/>
            <a:r>
              <a:rPr lang="cs-CZ"/>
              <a:t>Omezené zveřejnění (omezené na komunitu)</a:t>
            </a:r>
          </a:p>
          <a:p>
            <a:pPr lvl="1"/>
            <a:r>
              <a:rPr lang="cs-CZ"/>
              <a:t>Informace zařazené v kategorii TLP: GREEN nesmí být uvolněna mimo komunitu.</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24</a:t>
            </a:fld>
            <a:endParaRPr lang="cs-CZ"/>
          </a:p>
        </p:txBody>
      </p:sp>
      <p:pic>
        <p:nvPicPr>
          <p:cNvPr id="6" name="Picture 5"/>
          <p:cNvPicPr>
            <a:picLocks noChangeAspect="1"/>
          </p:cNvPicPr>
          <p:nvPr/>
        </p:nvPicPr>
        <p:blipFill>
          <a:blip r:embed="rId2"/>
          <a:stretch>
            <a:fillRect/>
          </a:stretch>
        </p:blipFill>
        <p:spPr>
          <a:xfrm>
            <a:off x="8301610" y="1706590"/>
            <a:ext cx="1829055" cy="866896"/>
          </a:xfrm>
          <a:prstGeom prst="rect">
            <a:avLst/>
          </a:prstGeom>
        </p:spPr>
      </p:pic>
      <p:pic>
        <p:nvPicPr>
          <p:cNvPr id="7" name="Picture 6"/>
          <p:cNvPicPr>
            <a:picLocks noChangeAspect="1"/>
          </p:cNvPicPr>
          <p:nvPr/>
        </p:nvPicPr>
        <p:blipFill>
          <a:blip r:embed="rId3"/>
          <a:stretch>
            <a:fillRect/>
          </a:stretch>
        </p:blipFill>
        <p:spPr>
          <a:xfrm>
            <a:off x="8301610" y="3164552"/>
            <a:ext cx="1857634" cy="828791"/>
          </a:xfrm>
          <a:prstGeom prst="rect">
            <a:avLst/>
          </a:prstGeom>
        </p:spPr>
      </p:pic>
      <p:pic>
        <p:nvPicPr>
          <p:cNvPr id="8" name="Picture 7"/>
          <p:cNvPicPr>
            <a:picLocks noChangeAspect="1"/>
          </p:cNvPicPr>
          <p:nvPr/>
        </p:nvPicPr>
        <p:blipFill>
          <a:blip r:embed="rId4"/>
          <a:stretch>
            <a:fillRect/>
          </a:stretch>
        </p:blipFill>
        <p:spPr>
          <a:xfrm>
            <a:off x="8301610" y="4583116"/>
            <a:ext cx="1867161" cy="800212"/>
          </a:xfrm>
          <a:prstGeom prst="rect">
            <a:avLst/>
          </a:prstGeom>
        </p:spPr>
      </p:pic>
    </p:spTree>
    <p:extLst>
      <p:ext uri="{BB962C8B-B14F-4D97-AF65-F5344CB8AC3E}">
        <p14:creationId xmlns:p14="http://schemas.microsoft.com/office/powerpoint/2010/main" val="10957021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err="1"/>
              <a:t>Traffic</a:t>
            </a:r>
            <a:r>
              <a:rPr lang="cs-CZ" b="1"/>
              <a:t> </a:t>
            </a:r>
            <a:r>
              <a:rPr lang="cs-CZ" b="1" err="1"/>
              <a:t>Light</a:t>
            </a:r>
            <a:r>
              <a:rPr lang="cs-CZ" b="1"/>
              <a:t> </a:t>
            </a:r>
            <a:r>
              <a:rPr lang="cs-CZ" b="1" err="1"/>
              <a:t>Protocol</a:t>
            </a:r>
            <a:endParaRPr lang="cs-CZ"/>
          </a:p>
        </p:txBody>
      </p:sp>
      <p:sp>
        <p:nvSpPr>
          <p:cNvPr id="3" name="Content Placeholder 2"/>
          <p:cNvSpPr>
            <a:spLocks noGrp="1"/>
          </p:cNvSpPr>
          <p:nvPr>
            <p:ph idx="1"/>
          </p:nvPr>
        </p:nvSpPr>
        <p:spPr/>
        <p:txBody>
          <a:bodyPr/>
          <a:lstStyle/>
          <a:p>
            <a:r>
              <a:rPr lang="cs-CZ" b="1"/>
              <a:t>TLP:WHITE</a:t>
            </a:r>
          </a:p>
          <a:p>
            <a:pPr lvl="1"/>
            <a:r>
              <a:rPr lang="cs-CZ"/>
              <a:t>Zveřejnění není nijak omezeno.</a:t>
            </a:r>
          </a:p>
          <a:p>
            <a:pPr lvl="1"/>
            <a:r>
              <a:rPr lang="cs-CZ"/>
              <a:t>Informace zařazené v kategorii TLP: WHITE distribuovány bez omezení.</a:t>
            </a:r>
          </a:p>
          <a:p>
            <a:r>
              <a:rPr lang="cs-CZ" i="1"/>
              <a:t>O nežádoucím zpřístupnění (</a:t>
            </a:r>
            <a:r>
              <a:rPr lang="cs-CZ" i="1" err="1"/>
              <a:t>disclosure</a:t>
            </a:r>
            <a:r>
              <a:rPr lang="cs-CZ" i="1"/>
              <a:t>) určitých informací se v kybernetické bezpečnosti hovoří jako</a:t>
            </a:r>
            <a:r>
              <a:rPr lang="cs-CZ"/>
              <a:t> </a:t>
            </a:r>
            <a:r>
              <a:rPr lang="cs-CZ" i="1"/>
              <a:t>o narušení jejich důvěrnosti, či úniku (</a:t>
            </a:r>
            <a:r>
              <a:rPr lang="cs-CZ" i="1" err="1"/>
              <a:t>leakage</a:t>
            </a:r>
            <a:r>
              <a:rPr lang="cs-CZ" i="1"/>
              <a:t>).“</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25</a:t>
            </a:fld>
            <a:endParaRPr lang="cs-CZ"/>
          </a:p>
        </p:txBody>
      </p:sp>
    </p:spTree>
    <p:extLst>
      <p:ext uri="{BB962C8B-B14F-4D97-AF65-F5344CB8AC3E}">
        <p14:creationId xmlns:p14="http://schemas.microsoft.com/office/powerpoint/2010/main" val="29139370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Triáda CIA: Integrita</a:t>
            </a:r>
            <a:endParaRPr lang="cs-CZ"/>
          </a:p>
        </p:txBody>
      </p:sp>
      <p:sp>
        <p:nvSpPr>
          <p:cNvPr id="3" name="Content Placeholder 2"/>
          <p:cNvSpPr>
            <a:spLocks noGrp="1"/>
          </p:cNvSpPr>
          <p:nvPr>
            <p:ph idx="1"/>
          </p:nvPr>
        </p:nvSpPr>
        <p:spPr/>
        <p:txBody>
          <a:bodyPr>
            <a:normAutofit fontScale="92500" lnSpcReduction="10000"/>
          </a:bodyPr>
          <a:lstStyle/>
          <a:p>
            <a:r>
              <a:rPr lang="cs-CZ" b="1"/>
              <a:t>Integrita dat </a:t>
            </a:r>
            <a:r>
              <a:rPr lang="cs-CZ"/>
              <a:t>je definována jako </a:t>
            </a:r>
            <a:r>
              <a:rPr lang="cs-CZ" i="1"/>
              <a:t>„jistota, že data nebyla změněna. Přeneseně označuje i platnost, konzistenci a přesnost dat, např. databází nebo systémů souborů.“</a:t>
            </a:r>
          </a:p>
          <a:p>
            <a:r>
              <a:rPr lang="cs-CZ"/>
              <a:t>Bývá zajišťována kontrolními součty, </a:t>
            </a:r>
            <a:r>
              <a:rPr lang="cs-CZ" err="1"/>
              <a:t>hašovacími</a:t>
            </a:r>
            <a:r>
              <a:rPr lang="cs-CZ"/>
              <a:t> funkcemi, </a:t>
            </a:r>
            <a:r>
              <a:rPr lang="cs-CZ" err="1"/>
              <a:t>samoopravnými</a:t>
            </a:r>
            <a:r>
              <a:rPr lang="cs-CZ"/>
              <a:t> kódy, redundancí atd.</a:t>
            </a:r>
          </a:p>
          <a:p>
            <a:r>
              <a:rPr lang="cs-CZ"/>
              <a:t>V kryptografii a v zabezpečení informací všeobecně integrita znamená</a:t>
            </a:r>
            <a:br>
              <a:rPr lang="cs-CZ"/>
            </a:br>
            <a:r>
              <a:rPr lang="cs-CZ"/>
              <a:t>platnost dat.</a:t>
            </a:r>
          </a:p>
          <a:p>
            <a:r>
              <a:rPr lang="cs-CZ" b="1"/>
              <a:t>Integrita systému </a:t>
            </a:r>
            <a:r>
              <a:rPr lang="cs-CZ"/>
              <a:t>pak je </a:t>
            </a:r>
            <a:r>
              <a:rPr lang="cs-CZ" i="1"/>
              <a:t>„vlastnost, že systém vykonává svou zamýšlenou funkci nenarušeným způsobem, bez záměrné nebo náhodné neautomatizované manipulace se systémem.“</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26</a:t>
            </a:fld>
            <a:endParaRPr lang="cs-CZ"/>
          </a:p>
        </p:txBody>
      </p:sp>
    </p:spTree>
    <p:extLst>
      <p:ext uri="{BB962C8B-B14F-4D97-AF65-F5344CB8AC3E}">
        <p14:creationId xmlns:p14="http://schemas.microsoft.com/office/powerpoint/2010/main" val="18271296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Stupnice pro hodnocení integrity</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27</a:t>
            </a:fld>
            <a:endParaRPr lang="cs-CZ"/>
          </a:p>
        </p:txBody>
      </p:sp>
      <p:pic>
        <p:nvPicPr>
          <p:cNvPr id="6" name="Picture 5"/>
          <p:cNvPicPr>
            <a:picLocks noChangeAspect="1"/>
          </p:cNvPicPr>
          <p:nvPr/>
        </p:nvPicPr>
        <p:blipFill>
          <a:blip r:embed="rId2"/>
          <a:stretch>
            <a:fillRect/>
          </a:stretch>
        </p:blipFill>
        <p:spPr>
          <a:xfrm>
            <a:off x="679731" y="1615437"/>
            <a:ext cx="10377348" cy="3788556"/>
          </a:xfrm>
          <a:prstGeom prst="rect">
            <a:avLst/>
          </a:prstGeom>
        </p:spPr>
      </p:pic>
    </p:spTree>
    <p:extLst>
      <p:ext uri="{BB962C8B-B14F-4D97-AF65-F5344CB8AC3E}">
        <p14:creationId xmlns:p14="http://schemas.microsoft.com/office/powerpoint/2010/main" val="17930807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557349" y="2258893"/>
            <a:ext cx="10363200" cy="3142937"/>
          </a:xfrm>
          <a:prstGeom prst="rect">
            <a:avLst/>
          </a:prstGeom>
        </p:spPr>
      </p:pic>
      <p:sp>
        <p:nvSpPr>
          <p:cNvPr id="2" name="Title 1"/>
          <p:cNvSpPr>
            <a:spLocks noGrp="1"/>
          </p:cNvSpPr>
          <p:nvPr>
            <p:ph type="title"/>
          </p:nvPr>
        </p:nvSpPr>
        <p:spPr/>
        <p:txBody>
          <a:bodyPr/>
          <a:lstStyle/>
          <a:p>
            <a:r>
              <a:rPr lang="cs-CZ" b="1"/>
              <a:t>Stupnice pro hodnocení integrity</a:t>
            </a: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28</a:t>
            </a:fld>
            <a:endParaRPr lang="cs-CZ"/>
          </a:p>
        </p:txBody>
      </p:sp>
      <p:pic>
        <p:nvPicPr>
          <p:cNvPr id="6" name="Picture 5"/>
          <p:cNvPicPr>
            <a:picLocks noChangeAspect="1"/>
          </p:cNvPicPr>
          <p:nvPr/>
        </p:nvPicPr>
        <p:blipFill>
          <a:blip r:embed="rId3"/>
          <a:stretch>
            <a:fillRect/>
          </a:stretch>
        </p:blipFill>
        <p:spPr>
          <a:xfrm>
            <a:off x="670560" y="1497870"/>
            <a:ext cx="10183981" cy="848076"/>
          </a:xfrm>
          <a:prstGeom prst="rect">
            <a:avLst/>
          </a:prstGeom>
        </p:spPr>
      </p:pic>
    </p:spTree>
    <p:extLst>
      <p:ext uri="{BB962C8B-B14F-4D97-AF65-F5344CB8AC3E}">
        <p14:creationId xmlns:p14="http://schemas.microsoft.com/office/powerpoint/2010/main" val="42820031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609597" y="2141302"/>
            <a:ext cx="10244944" cy="2288390"/>
          </a:xfrm>
          <a:prstGeom prst="rect">
            <a:avLst/>
          </a:prstGeom>
        </p:spPr>
      </p:pic>
      <p:sp>
        <p:nvSpPr>
          <p:cNvPr id="2" name="Title 1"/>
          <p:cNvSpPr>
            <a:spLocks noGrp="1"/>
          </p:cNvSpPr>
          <p:nvPr>
            <p:ph type="title"/>
          </p:nvPr>
        </p:nvSpPr>
        <p:spPr/>
        <p:txBody>
          <a:bodyPr/>
          <a:lstStyle/>
          <a:p>
            <a:r>
              <a:rPr lang="cs-CZ" b="1"/>
              <a:t>Stupnice pro hodnocení integrity</a:t>
            </a: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29</a:t>
            </a:fld>
            <a:endParaRPr lang="cs-CZ"/>
          </a:p>
        </p:txBody>
      </p:sp>
      <p:pic>
        <p:nvPicPr>
          <p:cNvPr id="6" name="Picture 5"/>
          <p:cNvPicPr>
            <a:picLocks noChangeAspect="1"/>
          </p:cNvPicPr>
          <p:nvPr/>
        </p:nvPicPr>
        <p:blipFill>
          <a:blip r:embed="rId3"/>
          <a:stretch>
            <a:fillRect/>
          </a:stretch>
        </p:blipFill>
        <p:spPr>
          <a:xfrm>
            <a:off x="670560" y="1497870"/>
            <a:ext cx="10183981" cy="848076"/>
          </a:xfrm>
          <a:prstGeom prst="rect">
            <a:avLst/>
          </a:prstGeom>
        </p:spPr>
      </p:pic>
    </p:spTree>
    <p:extLst>
      <p:ext uri="{BB962C8B-B14F-4D97-AF65-F5344CB8AC3E}">
        <p14:creationId xmlns:p14="http://schemas.microsoft.com/office/powerpoint/2010/main" val="42170666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Triáda CIA: Dostupnost</a:t>
            </a:r>
            <a:endParaRPr lang="cs-CZ"/>
          </a:p>
        </p:txBody>
      </p:sp>
      <p:sp>
        <p:nvSpPr>
          <p:cNvPr id="3" name="Content Placeholder 2"/>
          <p:cNvSpPr>
            <a:spLocks noGrp="1"/>
          </p:cNvSpPr>
          <p:nvPr>
            <p:ph idx="1"/>
          </p:nvPr>
        </p:nvSpPr>
        <p:spPr/>
        <p:txBody>
          <a:bodyPr>
            <a:normAutofit fontScale="85000" lnSpcReduction="10000"/>
          </a:bodyPr>
          <a:lstStyle/>
          <a:p>
            <a:r>
              <a:rPr lang="cs-CZ"/>
              <a:t>Dle Výkladového slovníku kybernetické bezpečnosti je </a:t>
            </a:r>
            <a:r>
              <a:rPr lang="cs-CZ" b="1"/>
              <a:t>dostupnost </a:t>
            </a:r>
            <a:r>
              <a:rPr lang="cs-CZ"/>
              <a:t>definována jako </a:t>
            </a:r>
            <a:r>
              <a:rPr lang="cs-CZ" i="1"/>
              <a:t>„vlastnost</a:t>
            </a:r>
            <a:r>
              <a:rPr lang="cs-CZ"/>
              <a:t> </a:t>
            </a:r>
            <a:r>
              <a:rPr lang="cs-CZ" i="1"/>
              <a:t>přístupnosti a použitelnosti na žádost oprávněné entity.“</a:t>
            </a:r>
          </a:p>
          <a:p>
            <a:r>
              <a:rPr lang="cs-CZ"/>
              <a:t>Dostupnost je tedy možné definovat jako garanci možnosti přístupu k informaci, datům, nebo počítačovému systému v okamžiku potřeby.</a:t>
            </a:r>
          </a:p>
          <a:p>
            <a:r>
              <a:rPr lang="cs-CZ"/>
              <a:t>Sebedokonalejší systém zajišťující integritu a umožňující přístup k systému samotnému, datům či informacím je nevyužitelný, pokud nebude zajišťovat spolehlivý přístup dle potřeby.</a:t>
            </a:r>
          </a:p>
          <a:p>
            <a:r>
              <a:rPr lang="cs-CZ" i="1"/>
              <a:t>„O zničení (</a:t>
            </a:r>
            <a:r>
              <a:rPr lang="cs-CZ" i="1" err="1"/>
              <a:t>destruction</a:t>
            </a:r>
            <a:r>
              <a:rPr lang="cs-CZ" i="1"/>
              <a:t>) určitých informací se v informační bezpečnosti hovoří jako o narušení jejich</a:t>
            </a:r>
            <a:r>
              <a:rPr lang="cs-CZ"/>
              <a:t> </a:t>
            </a:r>
            <a:r>
              <a:rPr lang="cs-CZ" i="1"/>
              <a:t>dostupnosti (</a:t>
            </a:r>
            <a:r>
              <a:rPr lang="cs-CZ" i="1" err="1"/>
              <a:t>availability</a:t>
            </a:r>
            <a:r>
              <a:rPr lang="cs-CZ" i="1"/>
              <a:t>).“ </a:t>
            </a:r>
            <a:br>
              <a:rPr lang="cs-CZ"/>
            </a:br>
            <a:br>
              <a:rPr lang="cs-CZ"/>
            </a:b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30</a:t>
            </a:fld>
            <a:endParaRPr lang="cs-CZ"/>
          </a:p>
        </p:txBody>
      </p:sp>
    </p:spTree>
    <p:extLst>
      <p:ext uri="{BB962C8B-B14F-4D97-AF65-F5344CB8AC3E}">
        <p14:creationId xmlns:p14="http://schemas.microsoft.com/office/powerpoint/2010/main" val="28285457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Triáda CIA</a:t>
            </a:r>
            <a:endParaRPr lang="cs-CZ"/>
          </a:p>
        </p:txBody>
      </p:sp>
      <p:sp>
        <p:nvSpPr>
          <p:cNvPr id="3" name="Content Placeholder 2"/>
          <p:cNvSpPr>
            <a:spLocks noGrp="1"/>
          </p:cNvSpPr>
          <p:nvPr>
            <p:ph idx="1"/>
          </p:nvPr>
        </p:nvSpPr>
        <p:spPr/>
        <p:txBody>
          <a:bodyPr/>
          <a:lstStyle/>
          <a:p>
            <a:r>
              <a:rPr lang="cs-CZ"/>
              <a:t>Triáda CIA bývá mnohdy pro lepší pochopení jejích jednotlivých atributů a vztahů znázorňována graficky.</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31</a:t>
            </a:fld>
            <a:endParaRPr lang="cs-CZ"/>
          </a:p>
        </p:txBody>
      </p:sp>
      <p:pic>
        <p:nvPicPr>
          <p:cNvPr id="6" name="Picture 5"/>
          <p:cNvPicPr>
            <a:picLocks noChangeAspect="1"/>
          </p:cNvPicPr>
          <p:nvPr/>
        </p:nvPicPr>
        <p:blipFill>
          <a:blip r:embed="rId2"/>
          <a:stretch>
            <a:fillRect/>
          </a:stretch>
        </p:blipFill>
        <p:spPr>
          <a:xfrm>
            <a:off x="775600" y="2988505"/>
            <a:ext cx="5320400" cy="2635044"/>
          </a:xfrm>
          <a:prstGeom prst="rect">
            <a:avLst/>
          </a:prstGeom>
        </p:spPr>
      </p:pic>
      <p:pic>
        <p:nvPicPr>
          <p:cNvPr id="7" name="Picture 6"/>
          <p:cNvPicPr>
            <a:picLocks noChangeAspect="1"/>
          </p:cNvPicPr>
          <p:nvPr/>
        </p:nvPicPr>
        <p:blipFill>
          <a:blip r:embed="rId3"/>
          <a:stretch>
            <a:fillRect/>
          </a:stretch>
        </p:blipFill>
        <p:spPr>
          <a:xfrm>
            <a:off x="6274003" y="2618793"/>
            <a:ext cx="4673194" cy="3374468"/>
          </a:xfrm>
          <a:prstGeom prst="rect">
            <a:avLst/>
          </a:prstGeom>
        </p:spPr>
      </p:pic>
    </p:spTree>
    <p:extLst>
      <p:ext uri="{BB962C8B-B14F-4D97-AF65-F5344CB8AC3E}">
        <p14:creationId xmlns:p14="http://schemas.microsoft.com/office/powerpoint/2010/main" val="5798781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Prvky kybernetické bezpečnosti</a:t>
            </a:r>
            <a:endParaRPr lang="cs-CZ"/>
          </a:p>
        </p:txBody>
      </p:sp>
      <p:sp>
        <p:nvSpPr>
          <p:cNvPr id="3" name="Content Placeholder 2"/>
          <p:cNvSpPr>
            <a:spLocks noGrp="1"/>
          </p:cNvSpPr>
          <p:nvPr>
            <p:ph idx="1"/>
          </p:nvPr>
        </p:nvSpPr>
        <p:spPr/>
        <p:txBody>
          <a:bodyPr>
            <a:normAutofit lnSpcReduction="10000"/>
          </a:bodyPr>
          <a:lstStyle/>
          <a:p>
            <a:r>
              <a:rPr lang="cs-CZ"/>
              <a:t>Následující tři prvky, respektive jejich vzájemná interakce, umožňují do určité míry vytvořit či nastolit kybernetickou bezpečnost. Těmito prvky jsou:</a:t>
            </a:r>
          </a:p>
          <a:p>
            <a:pPr lvl="1"/>
            <a:r>
              <a:rPr lang="cs-CZ"/>
              <a:t>Lidé</a:t>
            </a:r>
          </a:p>
          <a:p>
            <a:pPr lvl="1"/>
            <a:r>
              <a:rPr lang="cs-CZ"/>
              <a:t>Technologie</a:t>
            </a:r>
          </a:p>
          <a:p>
            <a:pPr lvl="1"/>
            <a:r>
              <a:rPr lang="cs-CZ"/>
              <a:t>Procesy</a:t>
            </a:r>
          </a:p>
          <a:p>
            <a:r>
              <a:rPr lang="cs-CZ"/>
              <a:t>Domníváme se, že je utopické si myslet, že je možné vytvořit absolutní kybernetickou bezpečnost či absolutně zabezpečený systém, v rámci něhož jsou využívány prvky ICT.</a:t>
            </a:r>
          </a:p>
          <a:p>
            <a:r>
              <a:rPr lang="cs-CZ"/>
              <a:t>Jakýkoliv systém je tak bezpečný, jak bezpečný je jeho nejslabší článek (prvek).</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32</a:t>
            </a:fld>
            <a:endParaRPr lang="cs-CZ"/>
          </a:p>
        </p:txBody>
      </p:sp>
    </p:spTree>
    <p:extLst>
      <p:ext uri="{BB962C8B-B14F-4D97-AF65-F5344CB8AC3E}">
        <p14:creationId xmlns:p14="http://schemas.microsoft.com/office/powerpoint/2010/main" val="27827879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Prvky kybernetické bezpečnosti: Lidé</a:t>
            </a:r>
            <a:endParaRPr lang="cs-CZ"/>
          </a:p>
        </p:txBody>
      </p:sp>
      <p:sp>
        <p:nvSpPr>
          <p:cNvPr id="3" name="Content Placeholder 2"/>
          <p:cNvSpPr>
            <a:spLocks noGrp="1"/>
          </p:cNvSpPr>
          <p:nvPr>
            <p:ph idx="1"/>
          </p:nvPr>
        </p:nvSpPr>
        <p:spPr/>
        <p:txBody>
          <a:bodyPr>
            <a:normAutofit fontScale="92500"/>
          </a:bodyPr>
          <a:lstStyle/>
          <a:p>
            <a:r>
              <a:rPr lang="cs-CZ" i="1"/>
              <a:t>„Lidé často představují nejslabší článek v bezpečnostním řetězci a jsou chronicky zodpovědní za selhání</a:t>
            </a:r>
            <a:r>
              <a:rPr lang="cs-CZ"/>
              <a:t> </a:t>
            </a:r>
            <a:r>
              <a:rPr lang="cs-CZ" i="1"/>
              <a:t>bezpečnostních systémů.“</a:t>
            </a:r>
          </a:p>
          <a:p>
            <a:r>
              <a:rPr lang="cs-CZ"/>
              <a:t>Na lidi v interakci s kybernetickou bezpečností je možné nahlížet jako na:</a:t>
            </a:r>
          </a:p>
          <a:p>
            <a:pPr lvl="1"/>
            <a:r>
              <a:rPr lang="cs-CZ" b="1"/>
              <a:t>strůjce (tvůrce) této bezpečnosti </a:t>
            </a:r>
            <a:r>
              <a:rPr lang="cs-CZ"/>
              <a:t>(tj. typicky osoby, které se snaží prosadit a implementovat jednotlivé prvky kybernetické bezpečnosti, ať již ve vztahu k sobě samotnému, či ve vztahu k organizaci),</a:t>
            </a:r>
          </a:p>
          <a:p>
            <a:pPr lvl="1"/>
            <a:r>
              <a:rPr lang="cs-CZ" b="1"/>
              <a:t>příjemce pravidel kybernetické bezpečnosti </a:t>
            </a:r>
            <a:r>
              <a:rPr lang="cs-CZ"/>
              <a:t>(tj. osoby, které se rozhodly či jsou nuceny implementovat již existující pravidla kybernetické bezpečnosti),</a:t>
            </a:r>
          </a:p>
          <a:p>
            <a:pPr lvl="1"/>
            <a:r>
              <a:rPr lang="cs-CZ" b="1"/>
              <a:t>subjekty, které je třeba chránit před kybernetickými útoky</a:t>
            </a:r>
            <a:r>
              <a:rPr lang="cs-CZ"/>
              <a:t>,</a:t>
            </a:r>
          </a:p>
          <a:p>
            <a:pPr lvl="1"/>
            <a:r>
              <a:rPr lang="cs-CZ" b="1"/>
              <a:t>subjekty, které je třeba informovat a proškolit o pravidlech a principech kybernetické</a:t>
            </a:r>
            <a:r>
              <a:rPr lang="cs-CZ"/>
              <a:t> </a:t>
            </a:r>
            <a:r>
              <a:rPr lang="cs-CZ" b="1"/>
              <a:t>bezpečnosti</a:t>
            </a:r>
            <a:r>
              <a:rPr lang="cs-CZ"/>
              <a:t>,</a:t>
            </a:r>
          </a:p>
          <a:p>
            <a:pPr lvl="1"/>
            <a:r>
              <a:rPr lang="cs-CZ" b="1"/>
              <a:t>riziko či hrozbu v rámci vytváření a udržování kybernetické bezpečnosti</a:t>
            </a:r>
            <a:r>
              <a:rPr lang="cs-CZ"/>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33</a:t>
            </a:fld>
            <a:endParaRPr lang="cs-CZ"/>
          </a:p>
        </p:txBody>
      </p:sp>
    </p:spTree>
    <p:extLst>
      <p:ext uri="{BB962C8B-B14F-4D97-AF65-F5344CB8AC3E}">
        <p14:creationId xmlns:p14="http://schemas.microsoft.com/office/powerpoint/2010/main" val="2083998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Prvky kybernetické bezpečnosti: Lidé</a:t>
            </a:r>
            <a:endParaRPr lang="cs-CZ"/>
          </a:p>
        </p:txBody>
      </p:sp>
      <p:sp>
        <p:nvSpPr>
          <p:cNvPr id="3" name="Content Placeholder 2"/>
          <p:cNvSpPr>
            <a:spLocks noGrp="1"/>
          </p:cNvSpPr>
          <p:nvPr>
            <p:ph idx="1"/>
          </p:nvPr>
        </p:nvSpPr>
        <p:spPr/>
        <p:txBody>
          <a:bodyPr/>
          <a:lstStyle/>
          <a:p>
            <a:r>
              <a:rPr lang="cs-CZ"/>
              <a:t>Lidé představují klíčový prvek jakékoliv bezpečnosti. V případě kybernetické bezpečnosti se jejich role ještě umocňuje a typicky jsou právě lidé oním nejslabším prvkem a současně nejčastějším cílem útočníků.</a:t>
            </a:r>
          </a:p>
          <a:p>
            <a:r>
              <a:rPr lang="cs-CZ" i="1"/>
              <a:t>„Amatéři </a:t>
            </a:r>
            <a:r>
              <a:rPr lang="cs-CZ" i="1" err="1"/>
              <a:t>hackují</a:t>
            </a:r>
            <a:r>
              <a:rPr lang="cs-CZ" i="1"/>
              <a:t> systémy, profesionálové ‚</a:t>
            </a:r>
            <a:r>
              <a:rPr lang="cs-CZ" i="1" err="1"/>
              <a:t>hackují</a:t>
            </a:r>
            <a:r>
              <a:rPr lang="cs-CZ" i="1"/>
              <a:t>‘ lidi.“</a:t>
            </a:r>
            <a:br>
              <a:rPr lang="cs-CZ"/>
            </a:b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34</a:t>
            </a:fld>
            <a:endParaRPr lang="cs-CZ"/>
          </a:p>
        </p:txBody>
      </p:sp>
    </p:spTree>
    <p:extLst>
      <p:ext uri="{BB962C8B-B14F-4D97-AF65-F5344CB8AC3E}">
        <p14:creationId xmlns:p14="http://schemas.microsoft.com/office/powerpoint/2010/main" val="29629462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Prvky kybernetické bezpečnosti: Lidé</a:t>
            </a:r>
            <a:endParaRPr lang="cs-CZ"/>
          </a:p>
        </p:txBody>
      </p:sp>
      <p:sp>
        <p:nvSpPr>
          <p:cNvPr id="3" name="Content Placeholder 2"/>
          <p:cNvSpPr>
            <a:spLocks noGrp="1"/>
          </p:cNvSpPr>
          <p:nvPr>
            <p:ph idx="1"/>
          </p:nvPr>
        </p:nvSpPr>
        <p:spPr/>
        <p:txBody>
          <a:bodyPr>
            <a:normAutofit/>
          </a:bodyPr>
          <a:lstStyle/>
          <a:p>
            <a:r>
              <a:rPr lang="cs-CZ"/>
              <a:t>Dle našeho názoru je nezbytné, aby lidé, kteří užívají ICT a rozhodli se pro interakci v kyberprostoru:</a:t>
            </a:r>
          </a:p>
          <a:p>
            <a:pPr lvl="1"/>
            <a:r>
              <a:rPr lang="cs-CZ" b="1"/>
              <a:t>pochopili </a:t>
            </a:r>
            <a:r>
              <a:rPr lang="cs-CZ"/>
              <a:t>alespoň </a:t>
            </a:r>
            <a:r>
              <a:rPr lang="cs-CZ" b="1"/>
              <a:t>základní principy a pravidla</a:t>
            </a:r>
            <a:r>
              <a:rPr lang="cs-CZ"/>
              <a:t>, která se vztahují ke kybernetické </a:t>
            </a:r>
            <a:r>
              <a:rPr lang="cs-CZ" b="1"/>
              <a:t>bezpečnosti</a:t>
            </a:r>
            <a:r>
              <a:rPr lang="cs-CZ"/>
              <a:t>,</a:t>
            </a:r>
          </a:p>
          <a:p>
            <a:pPr lvl="1"/>
            <a:r>
              <a:rPr lang="cs-CZ" b="1"/>
              <a:t>porozuměli </a:t>
            </a:r>
            <a:r>
              <a:rPr lang="cs-CZ"/>
              <a:t>alespoň </a:t>
            </a:r>
            <a:r>
              <a:rPr lang="cs-CZ" b="1"/>
              <a:t>základním funkcím počítačových systémů </a:t>
            </a:r>
            <a:r>
              <a:rPr lang="cs-CZ"/>
              <a:t>(např. PC, notebook, mobil, </a:t>
            </a:r>
            <a:r>
              <a:rPr lang="cs-CZ" err="1"/>
              <a:t>smart</a:t>
            </a:r>
            <a:r>
              <a:rPr lang="cs-CZ"/>
              <a:t> TV aj.), </a:t>
            </a:r>
            <a:r>
              <a:rPr lang="cs-CZ" b="1"/>
              <a:t>které </a:t>
            </a:r>
            <a:r>
              <a:rPr lang="cs-CZ"/>
              <a:t>k této interakci </a:t>
            </a:r>
            <a:r>
              <a:rPr lang="cs-CZ" b="1"/>
              <a:t>používají</a:t>
            </a:r>
            <a:r>
              <a:rPr lang="cs-CZ"/>
              <a:t>,</a:t>
            </a:r>
          </a:p>
          <a:p>
            <a:pPr lvl="1"/>
            <a:r>
              <a:rPr lang="cs-CZ" b="1"/>
              <a:t>zanalyzovali si aplikace, které </a:t>
            </a:r>
            <a:r>
              <a:rPr lang="cs-CZ"/>
              <a:t>k této interakci </a:t>
            </a:r>
            <a:r>
              <a:rPr lang="cs-CZ" b="1"/>
              <a:t>používají</a:t>
            </a:r>
            <a:r>
              <a:rPr lang="cs-CZ"/>
              <a:t>, a případně, pokud jim činnost</a:t>
            </a:r>
            <a:br>
              <a:rPr lang="cs-CZ"/>
            </a:br>
            <a:r>
              <a:rPr lang="cs-CZ"/>
              <a:t>těchto aplikací či jejich smluvní podmínky nevyhovují, aplikace nevyužívali,</a:t>
            </a:r>
          </a:p>
          <a:p>
            <a:pPr lvl="1"/>
            <a:r>
              <a:rPr lang="cs-CZ" b="1"/>
              <a:t>vzdělávali se </a:t>
            </a:r>
            <a:r>
              <a:rPr lang="cs-CZ"/>
              <a:t>v oblasti kybernetické bezpečnosti.</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35</a:t>
            </a:fld>
            <a:endParaRPr lang="cs-CZ"/>
          </a:p>
        </p:txBody>
      </p:sp>
    </p:spTree>
    <p:extLst>
      <p:ext uri="{BB962C8B-B14F-4D97-AF65-F5344CB8AC3E}">
        <p14:creationId xmlns:p14="http://schemas.microsoft.com/office/powerpoint/2010/main" val="41044223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Prvky kybernetické bezpečnosti: Technologie</a:t>
            </a:r>
            <a:endParaRPr lang="cs-CZ"/>
          </a:p>
        </p:txBody>
      </p:sp>
      <p:sp>
        <p:nvSpPr>
          <p:cNvPr id="3" name="Content Placeholder 2"/>
          <p:cNvSpPr>
            <a:spLocks noGrp="1"/>
          </p:cNvSpPr>
          <p:nvPr>
            <p:ph idx="1"/>
          </p:nvPr>
        </p:nvSpPr>
        <p:spPr/>
        <p:txBody>
          <a:bodyPr>
            <a:normAutofit/>
          </a:bodyPr>
          <a:lstStyle/>
          <a:p>
            <a:r>
              <a:rPr lang="cs-CZ" sz="2400" i="1"/>
              <a:t>„Pokud se domníváte, že technologie dokáže vyřešit vaše bezpečnostní problémy, nerozumíte problémům</a:t>
            </a:r>
            <a:r>
              <a:rPr lang="cs-CZ" sz="2400"/>
              <a:t> </a:t>
            </a:r>
            <a:r>
              <a:rPr lang="cs-CZ" sz="2400" i="1"/>
              <a:t>a nerozumíte technologii.“</a:t>
            </a:r>
          </a:p>
          <a:p>
            <a:r>
              <a:rPr lang="cs-CZ" sz="2400"/>
              <a:t>Technologie pro uživatele zpravidla představují prostředek, který mu umožní připojit se k Internetu, sociálním sítím a dalším aplikacím.</a:t>
            </a:r>
          </a:p>
          <a:p>
            <a:r>
              <a:rPr lang="cs-CZ" sz="2400"/>
              <a:t>Technologie pro uživatele zpravidla představují prostředek, který mu umožní připojit se k Internetu, sociálním sítím a dalším aplikacím.</a:t>
            </a:r>
          </a:p>
          <a:p>
            <a:r>
              <a:rPr lang="cs-CZ" sz="2400"/>
              <a:t>Běžný uživatel zpravidla vnímá a interaguje s koncovými technologiemi (PC, tablet, mobilní telefon aj.)</a:t>
            </a:r>
          </a:p>
          <a:p>
            <a:pPr marL="0" indent="0">
              <a:buNone/>
            </a:pPr>
            <a:endParaRPr lang="cs-CZ" sz="2400"/>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36</a:t>
            </a:fld>
            <a:endParaRPr lang="cs-CZ"/>
          </a:p>
        </p:txBody>
      </p:sp>
    </p:spTree>
    <p:extLst>
      <p:ext uri="{BB962C8B-B14F-4D97-AF65-F5344CB8AC3E}">
        <p14:creationId xmlns:p14="http://schemas.microsoft.com/office/powerpoint/2010/main" val="15479823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Prvky kybernetické bezpečnosti: Technologie</a:t>
            </a:r>
            <a:endParaRPr lang="cs-CZ"/>
          </a:p>
        </p:txBody>
      </p:sp>
      <p:sp>
        <p:nvSpPr>
          <p:cNvPr id="3" name="Content Placeholder 2"/>
          <p:cNvSpPr>
            <a:spLocks noGrp="1"/>
          </p:cNvSpPr>
          <p:nvPr>
            <p:ph idx="1"/>
          </p:nvPr>
        </p:nvSpPr>
        <p:spPr/>
        <p:txBody>
          <a:bodyPr>
            <a:normAutofit/>
          </a:bodyPr>
          <a:lstStyle/>
          <a:p>
            <a:r>
              <a:rPr lang="cs-CZ"/>
              <a:t>Pro organizace pak technologie představují celou škálu zařízení od technologií určených pro uživatele (desktop, mobilní zařízení aj.), přes kompletní infrastrukturu sítě (LAN, aktivní prvky, Wi-Fi prvky aj.) a služeb (servery, aplikace aj.), po prvky, které slouží k zajištění zabezpečení ať již na perimetru (firewall, IDS/IPS, </a:t>
            </a:r>
            <a:r>
              <a:rPr lang="cs-CZ" err="1"/>
              <a:t>honeypot</a:t>
            </a:r>
            <a:r>
              <a:rPr lang="cs-CZ"/>
              <a:t> aj.), tak v rámci infrastruktury (prvky určené k autentizaci a autorizaci, monitoringu, analýze aj.)</a:t>
            </a:r>
            <a:br>
              <a:rPr lang="cs-CZ"/>
            </a:br>
            <a:br>
              <a:rPr lang="cs-CZ"/>
            </a:b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37</a:t>
            </a:fld>
            <a:endParaRPr lang="cs-CZ"/>
          </a:p>
        </p:txBody>
      </p:sp>
    </p:spTree>
    <p:extLst>
      <p:ext uri="{BB962C8B-B14F-4D97-AF65-F5344CB8AC3E}">
        <p14:creationId xmlns:p14="http://schemas.microsoft.com/office/powerpoint/2010/main" val="25668886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Prvky kybernetické bezpečnosti: Technologie</a:t>
            </a:r>
            <a:endParaRPr lang="cs-CZ"/>
          </a:p>
        </p:txBody>
      </p:sp>
      <p:sp>
        <p:nvSpPr>
          <p:cNvPr id="3" name="Content Placeholder 2"/>
          <p:cNvSpPr>
            <a:spLocks noGrp="1"/>
          </p:cNvSpPr>
          <p:nvPr>
            <p:ph idx="1"/>
          </p:nvPr>
        </p:nvSpPr>
        <p:spPr/>
        <p:txBody>
          <a:bodyPr>
            <a:normAutofit fontScale="92500" lnSpcReduction="10000"/>
          </a:bodyPr>
          <a:lstStyle/>
          <a:p>
            <a:r>
              <a:rPr lang="cs-CZ"/>
              <a:t>V rámci technologií by měly být nedílnou součástí ICT organizace, s ohledem na specifika té které organizace, následující prvky:</a:t>
            </a:r>
          </a:p>
          <a:p>
            <a:pPr lvl="1"/>
            <a:r>
              <a:rPr lang="cs-CZ"/>
              <a:t>detekční systémy - </a:t>
            </a:r>
            <a:r>
              <a:rPr lang="cs-CZ" err="1"/>
              <a:t>Intrusion</a:t>
            </a:r>
            <a:r>
              <a:rPr lang="cs-CZ"/>
              <a:t> </a:t>
            </a:r>
            <a:r>
              <a:rPr lang="cs-CZ" err="1"/>
              <a:t>Detection</a:t>
            </a:r>
            <a:r>
              <a:rPr lang="cs-CZ"/>
              <a:t> </a:t>
            </a:r>
            <a:r>
              <a:rPr lang="cs-CZ" err="1"/>
              <a:t>System</a:t>
            </a:r>
            <a:r>
              <a:rPr lang="cs-CZ"/>
              <a:t> (</a:t>
            </a:r>
            <a:r>
              <a:rPr lang="cs-CZ" b="1"/>
              <a:t>IDS</a:t>
            </a:r>
            <a:r>
              <a:rPr lang="cs-CZ"/>
              <a:t>)/</a:t>
            </a:r>
            <a:r>
              <a:rPr lang="cs-CZ" err="1"/>
              <a:t>Intrusion</a:t>
            </a:r>
            <a:r>
              <a:rPr lang="cs-CZ"/>
              <a:t> </a:t>
            </a:r>
            <a:r>
              <a:rPr lang="cs-CZ" err="1"/>
              <a:t>Prevention</a:t>
            </a:r>
            <a:r>
              <a:rPr lang="cs-CZ"/>
              <a:t> </a:t>
            </a:r>
            <a:r>
              <a:rPr lang="cs-CZ" err="1"/>
              <a:t>System</a:t>
            </a:r>
            <a:r>
              <a:rPr lang="cs-CZ"/>
              <a:t> (</a:t>
            </a:r>
            <a:r>
              <a:rPr lang="cs-CZ" b="1"/>
              <a:t>IPS</a:t>
            </a:r>
            <a:r>
              <a:rPr lang="cs-CZ"/>
              <a:t>),</a:t>
            </a:r>
          </a:p>
          <a:p>
            <a:pPr lvl="1"/>
            <a:r>
              <a:rPr lang="cs-CZ"/>
              <a:t>centrální správa uživatelů a rolí,</a:t>
            </a:r>
          </a:p>
          <a:p>
            <a:pPr lvl="1"/>
            <a:r>
              <a:rPr lang="cs-CZ"/>
              <a:t>ochrana před škodlivým kódem (aplikační firewall, antivirové, antispamové a jiné řešení),</a:t>
            </a:r>
          </a:p>
          <a:p>
            <a:pPr lvl="1"/>
            <a:r>
              <a:rPr lang="cs-CZ"/>
              <a:t>technologie pro zaznamenávání činností jednotlivých prvků ICT, administrátorů a uživatelů (</a:t>
            </a:r>
            <a:r>
              <a:rPr lang="cs-CZ" b="1"/>
              <a:t>log </a:t>
            </a:r>
            <a:r>
              <a:rPr lang="cs-CZ" b="1" err="1"/>
              <a:t>system</a:t>
            </a:r>
            <a:r>
              <a:rPr lang="cs-CZ"/>
              <a:t>),</a:t>
            </a:r>
          </a:p>
          <a:p>
            <a:pPr lvl="1"/>
            <a:r>
              <a:rPr lang="cs-CZ"/>
              <a:t>aktivní a </a:t>
            </a:r>
            <a:r>
              <a:rPr lang="cs-CZ" err="1"/>
              <a:t>offline</a:t>
            </a:r>
            <a:r>
              <a:rPr lang="cs-CZ"/>
              <a:t> zálohovací systémy; zálohy vitálních serverů, aplikací a databází (</a:t>
            </a:r>
            <a:r>
              <a:rPr lang="cs-CZ" b="1" err="1"/>
              <a:t>recovery</a:t>
            </a:r>
            <a:r>
              <a:rPr lang="cs-CZ"/>
              <a:t> </a:t>
            </a:r>
            <a:r>
              <a:rPr lang="cs-CZ" b="1" err="1"/>
              <a:t>system</a:t>
            </a:r>
            <a:r>
              <a:rPr lang="cs-CZ"/>
              <a:t>),</a:t>
            </a:r>
          </a:p>
          <a:p>
            <a:pPr lvl="1"/>
            <a:r>
              <a:rPr lang="cs-CZ"/>
              <a:t> správa síťové bezpečnosti (VLAN, DMZ, firewall aj.)</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38</a:t>
            </a:fld>
            <a:endParaRPr lang="cs-CZ"/>
          </a:p>
        </p:txBody>
      </p:sp>
    </p:spTree>
    <p:extLst>
      <p:ext uri="{BB962C8B-B14F-4D97-AF65-F5344CB8AC3E}">
        <p14:creationId xmlns:p14="http://schemas.microsoft.com/office/powerpoint/2010/main" val="28254966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Prvky kybernetické bezpečnosti: Technologie</a:t>
            </a:r>
            <a:endParaRPr lang="cs-CZ"/>
          </a:p>
        </p:txBody>
      </p:sp>
      <p:sp>
        <p:nvSpPr>
          <p:cNvPr id="3" name="Content Placeholder 2"/>
          <p:cNvSpPr>
            <a:spLocks noGrp="1"/>
          </p:cNvSpPr>
          <p:nvPr>
            <p:ph idx="1"/>
          </p:nvPr>
        </p:nvSpPr>
        <p:spPr/>
        <p:txBody>
          <a:bodyPr>
            <a:normAutofit fontScale="92500"/>
          </a:bodyPr>
          <a:lstStyle/>
          <a:p>
            <a:r>
              <a:rPr lang="cs-CZ"/>
              <a:t>Technologie jsou zpravidla tou součástí kybernetické bezpečnosti, na které, ať již jako sami uživatelé či organizace, nešetříme. </a:t>
            </a:r>
          </a:p>
          <a:p>
            <a:r>
              <a:rPr lang="cs-CZ"/>
              <a:t>Za technologie jsme ochotni zaplatit nemalou část finančních prostředků, buď z důvodu, že „potřebujeme nejnovější telefon“, či z reálného a opodstatněného důvodu spočívajícího v zastaralosti a dalším nepodporování (aktualizaci) daného počítačového systému.</a:t>
            </a:r>
          </a:p>
          <a:p>
            <a:r>
              <a:rPr lang="cs-CZ"/>
              <a:t>Proto, aby bylo možné zajistit kybernetickou bezpečnost, je třeba udržovat technologie v takovém stavu, aby byly schopny reagovat na změny, které se k vývoji ICT pojí. </a:t>
            </a:r>
            <a:r>
              <a:rPr lang="cs-CZ" b="1"/>
              <a:t>Zejména by měly být technologie (jak hardware, tak software) udržovány aktualizované a zabezpečené.</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39</a:t>
            </a:fld>
            <a:endParaRPr lang="cs-CZ"/>
          </a:p>
        </p:txBody>
      </p:sp>
    </p:spTree>
    <p:extLst>
      <p:ext uri="{BB962C8B-B14F-4D97-AF65-F5344CB8AC3E}">
        <p14:creationId xmlns:p14="http://schemas.microsoft.com/office/powerpoint/2010/main" val="39425762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Prvky kybernetické bezpečnosti: Technologie</a:t>
            </a:r>
            <a:endParaRPr lang="cs-CZ"/>
          </a:p>
        </p:txBody>
      </p:sp>
      <p:sp>
        <p:nvSpPr>
          <p:cNvPr id="3" name="Content Placeholder 2"/>
          <p:cNvSpPr>
            <a:spLocks noGrp="1"/>
          </p:cNvSpPr>
          <p:nvPr>
            <p:ph idx="1"/>
          </p:nvPr>
        </p:nvSpPr>
        <p:spPr/>
        <p:txBody>
          <a:bodyPr/>
          <a:lstStyle/>
          <a:p>
            <a:r>
              <a:rPr lang="cs-CZ"/>
              <a:t>Byť jsou technologie jistě významnou součástí procesu tvorby a udržování kybernetické bezpečnosti, mnohem významnějšími</a:t>
            </a:r>
            <a:br>
              <a:rPr lang="cs-CZ"/>
            </a:br>
            <a:r>
              <a:rPr lang="cs-CZ"/>
              <a:t>prvky kybernetické bezpečnosti jsou vhodně nastavené procesy a lidé, kteří umějí dané procesy v praxi aplikovat či modifikovat a předem dohodnutá pravidla dodržovat.</a:t>
            </a:r>
            <a:br>
              <a:rPr lang="cs-CZ"/>
            </a:br>
            <a:br>
              <a:rPr lang="cs-CZ"/>
            </a:b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40</a:t>
            </a:fld>
            <a:endParaRPr lang="cs-CZ"/>
          </a:p>
        </p:txBody>
      </p:sp>
    </p:spTree>
    <p:extLst>
      <p:ext uri="{BB962C8B-B14F-4D97-AF65-F5344CB8AC3E}">
        <p14:creationId xmlns:p14="http://schemas.microsoft.com/office/powerpoint/2010/main" val="8318448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Prvky kybernetické bezpečnosti: Procesy</a:t>
            </a:r>
            <a:endParaRPr lang="cs-CZ"/>
          </a:p>
        </p:txBody>
      </p:sp>
      <p:sp>
        <p:nvSpPr>
          <p:cNvPr id="3" name="Content Placeholder 2"/>
          <p:cNvSpPr>
            <a:spLocks noGrp="1"/>
          </p:cNvSpPr>
          <p:nvPr>
            <p:ph idx="1"/>
          </p:nvPr>
        </p:nvSpPr>
        <p:spPr/>
        <p:txBody>
          <a:bodyPr>
            <a:normAutofit/>
          </a:bodyPr>
          <a:lstStyle/>
          <a:p>
            <a:r>
              <a:rPr lang="cs-CZ" i="1"/>
              <a:t>„Mantrou dobrého bezpečnostního inženýra je: ‚</a:t>
            </a:r>
            <a:r>
              <a:rPr lang="cs-CZ" b="1" i="1"/>
              <a:t>Bezpečnost není produkt, ale proces. Je to víc než</a:t>
            </a:r>
            <a:r>
              <a:rPr lang="cs-CZ" b="1"/>
              <a:t> </a:t>
            </a:r>
            <a:r>
              <a:rPr lang="cs-CZ" b="1" i="1"/>
              <a:t>navrhnout silnou kryptografii do systému; je to o tom navrhnout celý systém tak, aby všechna bezpečnostní</a:t>
            </a:r>
            <a:r>
              <a:rPr lang="cs-CZ" b="1"/>
              <a:t> </a:t>
            </a:r>
            <a:r>
              <a:rPr lang="cs-CZ" b="1" i="1"/>
              <a:t>opatření, včetně kryptografie, spolupracovala.“</a:t>
            </a:r>
          </a:p>
          <a:p>
            <a:r>
              <a:rPr lang="cs-CZ"/>
              <a:t>Procesy představují činnost, kterou je třeba vynaložit, aby bylo možné technologie a s nimi spojené služby používat lidmi.</a:t>
            </a:r>
            <a:br>
              <a:rPr lang="cs-CZ"/>
            </a:br>
            <a:br>
              <a:rPr lang="cs-CZ"/>
            </a:br>
            <a:br>
              <a:rPr lang="cs-CZ" b="1"/>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41</a:t>
            </a:fld>
            <a:endParaRPr lang="cs-CZ"/>
          </a:p>
        </p:txBody>
      </p:sp>
    </p:spTree>
    <p:extLst>
      <p:ext uri="{BB962C8B-B14F-4D97-AF65-F5344CB8AC3E}">
        <p14:creationId xmlns:p14="http://schemas.microsoft.com/office/powerpoint/2010/main" val="12145909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Prvky kybernetické bezpečnosti: Procesy</a:t>
            </a:r>
            <a:endParaRPr lang="cs-CZ"/>
          </a:p>
        </p:txBody>
      </p:sp>
      <p:sp>
        <p:nvSpPr>
          <p:cNvPr id="3" name="Content Placeholder 2"/>
          <p:cNvSpPr>
            <a:spLocks noGrp="1"/>
          </p:cNvSpPr>
          <p:nvPr>
            <p:ph idx="1"/>
          </p:nvPr>
        </p:nvSpPr>
        <p:spPr/>
        <p:txBody>
          <a:bodyPr>
            <a:normAutofit lnSpcReduction="10000"/>
          </a:bodyPr>
          <a:lstStyle/>
          <a:p>
            <a:r>
              <a:rPr lang="cs-CZ"/>
              <a:t>Z hlediska plynutí času je možné sledovat procesy:</a:t>
            </a:r>
          </a:p>
          <a:p>
            <a:pPr lvl="1"/>
            <a:r>
              <a:rPr lang="cs-CZ"/>
              <a:t>řízení aktiv a rizik,</a:t>
            </a:r>
          </a:p>
          <a:p>
            <a:pPr lvl="2"/>
            <a:r>
              <a:rPr lang="cs-CZ"/>
              <a:t>definování a kategorizace aktiv,</a:t>
            </a:r>
          </a:p>
          <a:p>
            <a:pPr lvl="2"/>
            <a:r>
              <a:rPr lang="cs-CZ"/>
              <a:t>analýza a kategorizace rizik,</a:t>
            </a:r>
          </a:p>
          <a:p>
            <a:pPr lvl="1"/>
            <a:r>
              <a:rPr lang="cs-CZ"/>
              <a:t>implementace ICT a aplikací,</a:t>
            </a:r>
          </a:p>
          <a:p>
            <a:pPr lvl="1"/>
            <a:r>
              <a:rPr lang="cs-CZ"/>
              <a:t>správa uživatelů a rolí,</a:t>
            </a:r>
          </a:p>
          <a:p>
            <a:pPr lvl="1"/>
            <a:r>
              <a:rPr lang="cs-CZ"/>
              <a:t>autorizace a autentizace,</a:t>
            </a:r>
          </a:p>
          <a:p>
            <a:pPr lvl="1"/>
            <a:r>
              <a:rPr lang="cs-CZ"/>
              <a:t>údržby (aktualizace) systémů a služeb,</a:t>
            </a:r>
          </a:p>
          <a:p>
            <a:pPr lvl="1"/>
            <a:r>
              <a:rPr lang="cs-CZ"/>
              <a:t>testování zabezpečení jednotlivých počítačových systémů a služeb,</a:t>
            </a:r>
          </a:p>
          <a:p>
            <a:pPr lvl="1"/>
            <a:r>
              <a:rPr lang="cs-CZ"/>
              <a:t>analýza nápravných opatření,</a:t>
            </a:r>
          </a:p>
          <a:p>
            <a:pPr lvl="1"/>
            <a:r>
              <a:rPr lang="cs-CZ"/>
              <a:t>realizace nápravných opatření,</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42</a:t>
            </a:fld>
            <a:endParaRPr lang="cs-CZ"/>
          </a:p>
        </p:txBody>
      </p:sp>
    </p:spTree>
    <p:extLst>
      <p:ext uri="{BB962C8B-B14F-4D97-AF65-F5344CB8AC3E}">
        <p14:creationId xmlns:p14="http://schemas.microsoft.com/office/powerpoint/2010/main" val="10200447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Prvky kybernetické bezpečnosti: Procesy</a:t>
            </a:r>
            <a:endParaRPr lang="cs-CZ"/>
          </a:p>
        </p:txBody>
      </p:sp>
      <p:sp>
        <p:nvSpPr>
          <p:cNvPr id="3" name="Content Placeholder 2"/>
          <p:cNvSpPr>
            <a:spLocks noGrp="1"/>
          </p:cNvSpPr>
          <p:nvPr>
            <p:ph idx="1"/>
          </p:nvPr>
        </p:nvSpPr>
        <p:spPr/>
        <p:txBody>
          <a:bodyPr>
            <a:normAutofit fontScale="85000" lnSpcReduction="20000"/>
          </a:bodyPr>
          <a:lstStyle/>
          <a:p>
            <a:pPr lvl="1"/>
            <a:r>
              <a:rPr lang="cs-CZ" sz="2600"/>
              <a:t>audit kybernetické bezpečnosti,</a:t>
            </a:r>
          </a:p>
          <a:p>
            <a:pPr lvl="1"/>
            <a:r>
              <a:rPr lang="cs-CZ" sz="2600"/>
              <a:t>detekce anomálií či kybernetických útoků,</a:t>
            </a:r>
          </a:p>
          <a:p>
            <a:pPr lvl="1"/>
            <a:r>
              <a:rPr lang="cs-CZ" sz="2600"/>
              <a:t>reakce na kybernetické útoky či jiné incidenty,</a:t>
            </a:r>
          </a:p>
          <a:p>
            <a:pPr lvl="1"/>
            <a:r>
              <a:rPr lang="cs-CZ" sz="2600"/>
              <a:t>procesy k zajištění kontinuity,</a:t>
            </a:r>
          </a:p>
          <a:p>
            <a:pPr lvl="1"/>
            <a:r>
              <a:rPr lang="cs-CZ" sz="2600"/>
              <a:t>školení a cvičení atd.</a:t>
            </a:r>
          </a:p>
          <a:p>
            <a:r>
              <a:rPr lang="cs-CZ"/>
              <a:t>Pokud je to možné, je vhodné v organizaci provádět i simulace typických kybernetických útoků (např. </a:t>
            </a:r>
            <a:r>
              <a:rPr lang="cs-CZ" err="1"/>
              <a:t>phishing</a:t>
            </a:r>
            <a:r>
              <a:rPr lang="cs-CZ"/>
              <a:t>, business e-mail </a:t>
            </a:r>
            <a:r>
              <a:rPr lang="cs-CZ" err="1"/>
              <a:t>compromise</a:t>
            </a:r>
            <a:r>
              <a:rPr lang="cs-CZ"/>
              <a:t> aj.) z důvodu reálné demonstrace těchto útoků a možných dopadů, pokud se osoba stane obětí takovýchto útoků.</a:t>
            </a:r>
          </a:p>
          <a:p>
            <a:r>
              <a:rPr lang="cs-CZ"/>
              <a:t>Organizace by se však již při tvorbě a nastavování pravidel kybernetické bezpečnosti měla primárně zaměřit zejména na oblast lidských zdrojů a jejich edukaci.</a:t>
            </a:r>
          </a:p>
          <a:p>
            <a:r>
              <a:rPr lang="cs-CZ"/>
              <a:t>Penetrační testování zároveň umožňuje nalézt chyby v již nastavených procesech.</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43</a:t>
            </a:fld>
            <a:endParaRPr lang="cs-CZ"/>
          </a:p>
        </p:txBody>
      </p:sp>
    </p:spTree>
    <p:extLst>
      <p:ext uri="{BB962C8B-B14F-4D97-AF65-F5344CB8AC3E}">
        <p14:creationId xmlns:p14="http://schemas.microsoft.com/office/powerpoint/2010/main" val="34005349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Prvky kybernetické bezpečnosti: triáda CIA</a:t>
            </a: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44</a:t>
            </a:fld>
            <a:endParaRPr lang="cs-CZ"/>
          </a:p>
        </p:txBody>
      </p:sp>
      <p:pic>
        <p:nvPicPr>
          <p:cNvPr id="6" name="Picture 5"/>
          <p:cNvPicPr>
            <a:picLocks noChangeAspect="1"/>
          </p:cNvPicPr>
          <p:nvPr/>
        </p:nvPicPr>
        <p:blipFill>
          <a:blip r:embed="rId2"/>
          <a:stretch>
            <a:fillRect/>
          </a:stretch>
        </p:blipFill>
        <p:spPr>
          <a:xfrm>
            <a:off x="2718738" y="1748781"/>
            <a:ext cx="6600192" cy="4607569"/>
          </a:xfrm>
          <a:prstGeom prst="rect">
            <a:avLst/>
          </a:prstGeom>
        </p:spPr>
      </p:pic>
    </p:spTree>
    <p:extLst>
      <p:ext uri="{BB962C8B-B14F-4D97-AF65-F5344CB8AC3E}">
        <p14:creationId xmlns:p14="http://schemas.microsoft.com/office/powerpoint/2010/main" val="13299143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Životní cyklus kybernetické bezpečnosti</a:t>
            </a:r>
            <a:endParaRPr lang="cs-CZ"/>
          </a:p>
        </p:txBody>
      </p:sp>
      <p:sp>
        <p:nvSpPr>
          <p:cNvPr id="3" name="Content Placeholder 2"/>
          <p:cNvSpPr>
            <a:spLocks noGrp="1"/>
          </p:cNvSpPr>
          <p:nvPr>
            <p:ph idx="1"/>
          </p:nvPr>
        </p:nvSpPr>
        <p:spPr/>
        <p:txBody>
          <a:bodyPr/>
          <a:lstStyle/>
          <a:p>
            <a:r>
              <a:rPr lang="cs-CZ"/>
              <a:t>Velmi často je životní cyklus kybernetické bezpečnosti zobrazován pomocí různých diagramů. </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45</a:t>
            </a:fld>
            <a:endParaRPr lang="cs-CZ"/>
          </a:p>
        </p:txBody>
      </p:sp>
      <p:pic>
        <p:nvPicPr>
          <p:cNvPr id="6" name="Picture 5"/>
          <p:cNvPicPr>
            <a:picLocks noChangeAspect="1"/>
          </p:cNvPicPr>
          <p:nvPr/>
        </p:nvPicPr>
        <p:blipFill>
          <a:blip r:embed="rId2"/>
          <a:stretch>
            <a:fillRect/>
          </a:stretch>
        </p:blipFill>
        <p:spPr>
          <a:xfrm>
            <a:off x="1432289" y="3287424"/>
            <a:ext cx="8767105" cy="2434177"/>
          </a:xfrm>
          <a:prstGeom prst="rect">
            <a:avLst/>
          </a:prstGeom>
        </p:spPr>
      </p:pic>
    </p:spTree>
    <p:extLst>
      <p:ext uri="{BB962C8B-B14F-4D97-AF65-F5344CB8AC3E}">
        <p14:creationId xmlns:p14="http://schemas.microsoft.com/office/powerpoint/2010/main" val="12857391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Životní cyklus kybernetické bezpečnosti</a:t>
            </a:r>
            <a:endParaRPr lang="cs-CZ"/>
          </a:p>
        </p:txBody>
      </p:sp>
      <p:sp>
        <p:nvSpPr>
          <p:cNvPr id="3" name="Content Placeholder 2"/>
          <p:cNvSpPr>
            <a:spLocks noGrp="1"/>
          </p:cNvSpPr>
          <p:nvPr>
            <p:ph idx="1"/>
          </p:nvPr>
        </p:nvSpPr>
        <p:spPr/>
        <p:txBody>
          <a:bodyPr/>
          <a:lstStyle/>
          <a:p>
            <a:r>
              <a:rPr lang="cs-CZ"/>
              <a:t>Budování a udržování kybernetické bezpečnosti je možné přirovnat k nikdy nekončící analýze rizik.</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46</a:t>
            </a:fld>
            <a:endParaRPr lang="cs-CZ"/>
          </a:p>
        </p:txBody>
      </p:sp>
      <p:pic>
        <p:nvPicPr>
          <p:cNvPr id="7" name="Picture 6"/>
          <p:cNvPicPr>
            <a:picLocks noChangeAspect="1"/>
          </p:cNvPicPr>
          <p:nvPr/>
        </p:nvPicPr>
        <p:blipFill>
          <a:blip r:embed="rId2"/>
          <a:stretch>
            <a:fillRect/>
          </a:stretch>
        </p:blipFill>
        <p:spPr>
          <a:xfrm>
            <a:off x="2071948" y="2624647"/>
            <a:ext cx="8288602" cy="4233353"/>
          </a:xfrm>
          <a:prstGeom prst="rect">
            <a:avLst/>
          </a:prstGeom>
        </p:spPr>
      </p:pic>
    </p:spTree>
    <p:extLst>
      <p:ext uri="{BB962C8B-B14F-4D97-AF65-F5344CB8AC3E}">
        <p14:creationId xmlns:p14="http://schemas.microsoft.com/office/powerpoint/2010/main" val="35948333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Evoluce kybernetické bezpečnosti</a:t>
            </a: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47</a:t>
            </a:fld>
            <a:endParaRPr lang="cs-CZ"/>
          </a:p>
        </p:txBody>
      </p:sp>
      <p:pic>
        <p:nvPicPr>
          <p:cNvPr id="6" name="Picture 5"/>
          <p:cNvPicPr>
            <a:picLocks noChangeAspect="1"/>
          </p:cNvPicPr>
          <p:nvPr/>
        </p:nvPicPr>
        <p:blipFill>
          <a:blip r:embed="rId2"/>
          <a:stretch>
            <a:fillRect/>
          </a:stretch>
        </p:blipFill>
        <p:spPr>
          <a:xfrm>
            <a:off x="1152938" y="1598088"/>
            <a:ext cx="8905461" cy="4683667"/>
          </a:xfrm>
          <a:prstGeom prst="rect">
            <a:avLst/>
          </a:prstGeom>
        </p:spPr>
      </p:pic>
    </p:spTree>
    <p:extLst>
      <p:ext uri="{BB962C8B-B14F-4D97-AF65-F5344CB8AC3E}">
        <p14:creationId xmlns:p14="http://schemas.microsoft.com/office/powerpoint/2010/main" val="7194209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solidFill>
                  <a:srgbClr val="FF0000"/>
                </a:solidFill>
              </a:rPr>
              <a:t>Riziko</a:t>
            </a:r>
            <a:r>
              <a:rPr lang="cs-CZ" b="1"/>
              <a:t>, aktivum, zranitelnost</a:t>
            </a:r>
            <a:endParaRPr lang="cs-CZ"/>
          </a:p>
        </p:txBody>
      </p:sp>
      <p:sp>
        <p:nvSpPr>
          <p:cNvPr id="3" name="Content Placeholder 2"/>
          <p:cNvSpPr>
            <a:spLocks noGrp="1"/>
          </p:cNvSpPr>
          <p:nvPr>
            <p:ph idx="1"/>
          </p:nvPr>
        </p:nvSpPr>
        <p:spPr/>
        <p:txBody>
          <a:bodyPr>
            <a:normAutofit/>
          </a:bodyPr>
          <a:lstStyle/>
          <a:p>
            <a:r>
              <a:rPr lang="cs-CZ"/>
              <a:t>Výkladový slovník kybernetické bezpečnosti definuje riziko jako: </a:t>
            </a:r>
            <a:r>
              <a:rPr lang="cs-CZ" i="1"/>
              <a:t>„Nebezpečí, možnost</a:t>
            </a:r>
            <a:r>
              <a:rPr lang="cs-CZ"/>
              <a:t> </a:t>
            </a:r>
            <a:r>
              <a:rPr lang="cs-CZ" i="1"/>
              <a:t>škody, ztráty, nezdaru.“</a:t>
            </a:r>
          </a:p>
          <a:p>
            <a:r>
              <a:rPr lang="cs-CZ"/>
              <a:t>Valášek a kol. uvádějí, že se při stanovení rizik obvykle vychází ze tří základních otázek:</a:t>
            </a:r>
          </a:p>
          <a:p>
            <a:pPr lvl="1"/>
            <a:r>
              <a:rPr lang="cs-CZ" b="1"/>
              <a:t>Co špatného (nežádoucího) se může stát? Co může selhat?</a:t>
            </a:r>
            <a:endParaRPr lang="cs-CZ"/>
          </a:p>
          <a:p>
            <a:pPr lvl="1"/>
            <a:r>
              <a:rPr lang="cs-CZ" b="1"/>
              <a:t>Jaká je možnost / pravděpodobnost, že se to stane?</a:t>
            </a:r>
            <a:endParaRPr lang="cs-CZ"/>
          </a:p>
          <a:p>
            <a:pPr lvl="1"/>
            <a:r>
              <a:rPr lang="cs-CZ" b="1"/>
              <a:t>Jak závažné (intenzita, velikost apod.) mohou být účinky (dopady, následky)?</a:t>
            </a:r>
            <a:br>
              <a:rPr lang="cs-CZ"/>
            </a:b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48</a:t>
            </a:fld>
            <a:endParaRPr lang="cs-CZ"/>
          </a:p>
        </p:txBody>
      </p:sp>
    </p:spTree>
    <p:extLst>
      <p:ext uri="{BB962C8B-B14F-4D97-AF65-F5344CB8AC3E}">
        <p14:creationId xmlns:p14="http://schemas.microsoft.com/office/powerpoint/2010/main" val="14283731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Riziko, </a:t>
            </a:r>
            <a:r>
              <a:rPr lang="cs-CZ" b="1">
                <a:solidFill>
                  <a:srgbClr val="FF0000"/>
                </a:solidFill>
              </a:rPr>
              <a:t>aktivum</a:t>
            </a:r>
            <a:r>
              <a:rPr lang="cs-CZ" b="1"/>
              <a:t>, zranitelnost</a:t>
            </a:r>
            <a:endParaRPr lang="cs-CZ"/>
          </a:p>
        </p:txBody>
      </p:sp>
      <p:sp>
        <p:nvSpPr>
          <p:cNvPr id="3" name="Content Placeholder 2"/>
          <p:cNvSpPr>
            <a:spLocks noGrp="1"/>
          </p:cNvSpPr>
          <p:nvPr>
            <p:ph idx="1"/>
          </p:nvPr>
        </p:nvSpPr>
        <p:spPr/>
        <p:txBody>
          <a:bodyPr>
            <a:normAutofit/>
          </a:bodyPr>
          <a:lstStyle/>
          <a:p>
            <a:r>
              <a:rPr lang="cs-CZ"/>
              <a:t>Aktivem se rozumí cokoliv, co má určitou hodnotu pro osobu, organizaci či stát.</a:t>
            </a:r>
          </a:p>
          <a:p>
            <a:r>
              <a:rPr lang="cs-CZ"/>
              <a:t>Aktivum může být věcí </a:t>
            </a:r>
            <a:r>
              <a:rPr lang="cs-CZ" b="1"/>
              <a:t>hmotnou </a:t>
            </a:r>
            <a:r>
              <a:rPr lang="cs-CZ"/>
              <a:t>(budova, počítačový systém, sítě, energie, zboží aj.) </a:t>
            </a:r>
            <a:r>
              <a:rPr lang="cs-CZ" b="1"/>
              <a:t>či</a:t>
            </a:r>
            <a:r>
              <a:rPr lang="cs-CZ"/>
              <a:t> </a:t>
            </a:r>
            <a:r>
              <a:rPr lang="cs-CZ" b="1"/>
              <a:t>nehmotnou </a:t>
            </a:r>
            <a:r>
              <a:rPr lang="cs-CZ"/>
              <a:t>(informace, znalosti, data, programy aj.) z pohledu občanského práva.</a:t>
            </a:r>
          </a:p>
          <a:p>
            <a:r>
              <a:rPr lang="cs-CZ"/>
              <a:t>Aktivem však může být i </a:t>
            </a:r>
            <a:r>
              <a:rPr lang="cs-CZ" b="1"/>
              <a:t>vlastnost </a:t>
            </a:r>
            <a:r>
              <a:rPr lang="cs-CZ"/>
              <a:t>(např. dostupnost a funkčnost systému a dat aj.) či </a:t>
            </a:r>
            <a:r>
              <a:rPr lang="cs-CZ" b="1"/>
              <a:t>dobré</a:t>
            </a:r>
            <a:r>
              <a:rPr lang="cs-CZ"/>
              <a:t> </a:t>
            </a:r>
            <a:r>
              <a:rPr lang="cs-CZ" b="1"/>
              <a:t>jméno</a:t>
            </a:r>
            <a:r>
              <a:rPr lang="cs-CZ"/>
              <a:t>, reputace atd. </a:t>
            </a:r>
            <a:r>
              <a:rPr lang="cs-CZ" b="1"/>
              <a:t>Lidé </a:t>
            </a:r>
            <a:r>
              <a:rPr lang="cs-CZ"/>
              <a:t>(uživatelé, administrátoři aj.) a jejich znalosti a zkušenosti jsou také z pohledu kybernetické bezpečnosti aktivem.</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49</a:t>
            </a:fld>
            <a:endParaRPr lang="cs-CZ"/>
          </a:p>
        </p:txBody>
      </p:sp>
    </p:spTree>
    <p:extLst>
      <p:ext uri="{BB962C8B-B14F-4D97-AF65-F5344CB8AC3E}">
        <p14:creationId xmlns:p14="http://schemas.microsoft.com/office/powerpoint/2010/main" val="6775134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Riziko, aktivum, </a:t>
            </a:r>
            <a:r>
              <a:rPr lang="cs-CZ" b="1">
                <a:solidFill>
                  <a:srgbClr val="FF0000"/>
                </a:solidFill>
              </a:rPr>
              <a:t>zranitelnost</a:t>
            </a:r>
            <a:endParaRPr lang="cs-CZ">
              <a:solidFill>
                <a:srgbClr val="FF0000"/>
              </a:solidFill>
            </a:endParaRPr>
          </a:p>
        </p:txBody>
      </p:sp>
      <p:sp>
        <p:nvSpPr>
          <p:cNvPr id="3" name="Content Placeholder 2"/>
          <p:cNvSpPr>
            <a:spLocks noGrp="1"/>
          </p:cNvSpPr>
          <p:nvPr>
            <p:ph idx="1"/>
          </p:nvPr>
        </p:nvSpPr>
        <p:spPr/>
        <p:txBody>
          <a:bodyPr>
            <a:normAutofit/>
          </a:bodyPr>
          <a:lstStyle/>
          <a:p>
            <a:r>
              <a:rPr lang="cs-CZ"/>
              <a:t>Zranitelnost (vulnerability) označuje slabé místo aktiva, softwaru, zabezpečení, které je využito jednou nebo více hrozbami.</a:t>
            </a:r>
          </a:p>
          <a:p>
            <a:r>
              <a:rPr lang="cs-CZ"/>
              <a:t>V oblasti kybernetické bezpečnosti se zranitelnosti dělí na:</a:t>
            </a:r>
          </a:p>
          <a:p>
            <a:r>
              <a:rPr lang="cs-CZ" sz="2400" b="1"/>
              <a:t>zranitelnosti známé </a:t>
            </a:r>
            <a:r>
              <a:rPr lang="cs-CZ" sz="2400"/>
              <a:t>(publikované)</a:t>
            </a:r>
          </a:p>
          <a:p>
            <a:pPr lvl="1"/>
            <a:r>
              <a:rPr lang="cs-CZ" b="1"/>
              <a:t>opravené </a:t>
            </a:r>
            <a:r>
              <a:rPr lang="cs-CZ"/>
              <a:t>(ošetřené) – typickým případem jsou zranitelnosti softwaru, na který již výrobce vydal aktualizaci</a:t>
            </a:r>
          </a:p>
          <a:p>
            <a:pPr marL="182563" lvl="1" indent="-182563">
              <a:tabLst>
                <a:tab pos="182563" algn="l"/>
              </a:tabLst>
            </a:pPr>
            <a:r>
              <a:rPr lang="cs-CZ" b="1"/>
              <a:t>neopravené </a:t>
            </a:r>
            <a:r>
              <a:rPr lang="cs-CZ"/>
              <a:t>(neošetřené) – dotčený subjekt (výrobce, správce aj.) o zranitelnosti ví, ale nezajistil její opravu</a:t>
            </a:r>
          </a:p>
          <a:p>
            <a:pPr marL="182563" lvl="1" indent="-182563">
              <a:tabLst>
                <a:tab pos="182563" algn="l"/>
              </a:tabLst>
            </a:pPr>
            <a:r>
              <a:rPr lang="cs-CZ" b="1"/>
              <a:t>zranitelnosti neznámé</a:t>
            </a:r>
            <a:endParaRPr lang="cs-CZ"/>
          </a:p>
          <a:p>
            <a:pPr marL="639763" lvl="2" indent="-182563">
              <a:tabLst>
                <a:tab pos="182563" algn="l"/>
              </a:tabLst>
            </a:pPr>
            <a:r>
              <a:rPr lang="cs-CZ"/>
              <a:t>skryté</a:t>
            </a:r>
          </a:p>
          <a:p>
            <a:pPr marL="639763" lvl="2" indent="-182563">
              <a:tabLst>
                <a:tab pos="182563" algn="l"/>
              </a:tabLst>
            </a:pPr>
            <a:r>
              <a:rPr lang="cs-CZ"/>
              <a:t>neobjevené</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50</a:t>
            </a:fld>
            <a:endParaRPr lang="cs-CZ"/>
          </a:p>
        </p:txBody>
      </p:sp>
    </p:spTree>
    <p:extLst>
      <p:ext uri="{BB962C8B-B14F-4D97-AF65-F5344CB8AC3E}">
        <p14:creationId xmlns:p14="http://schemas.microsoft.com/office/powerpoint/2010/main" val="1291733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solidFill>
                  <a:srgbClr val="FF0000"/>
                </a:solidFill>
              </a:rPr>
              <a:t>Kybernetické hrozby</a:t>
            </a:r>
            <a:r>
              <a:rPr lang="cs-CZ" b="1"/>
              <a:t>, události, incidenty a útoky</a:t>
            </a:r>
            <a:endParaRPr lang="cs-CZ"/>
          </a:p>
        </p:txBody>
      </p:sp>
      <p:sp>
        <p:nvSpPr>
          <p:cNvPr id="3" name="Content Placeholder 2"/>
          <p:cNvSpPr>
            <a:spLocks noGrp="1"/>
          </p:cNvSpPr>
          <p:nvPr>
            <p:ph idx="1"/>
          </p:nvPr>
        </p:nvSpPr>
        <p:spPr/>
        <p:txBody>
          <a:bodyPr/>
          <a:lstStyle/>
          <a:p>
            <a:r>
              <a:rPr lang="cs-CZ"/>
              <a:t>Oxford </a:t>
            </a:r>
            <a:r>
              <a:rPr lang="cs-CZ" err="1"/>
              <a:t>dictionary</a:t>
            </a:r>
            <a:r>
              <a:rPr lang="cs-CZ"/>
              <a:t> uvádí, že </a:t>
            </a:r>
            <a:r>
              <a:rPr lang="cs-CZ" b="1"/>
              <a:t>kybernetickou hrozbou je možnost škodlivého pokusu</a:t>
            </a:r>
            <a:r>
              <a:rPr lang="cs-CZ"/>
              <a:t> </a:t>
            </a:r>
            <a:r>
              <a:rPr lang="cs-CZ" b="1"/>
              <a:t>o poškození nebo narušení počítačové sítě nebo systému.</a:t>
            </a:r>
            <a:endParaRPr lang="cs-CZ"/>
          </a:p>
          <a:p>
            <a:r>
              <a:rPr lang="cs-CZ"/>
              <a:t>Jirovský vymezuje čtyři skupiny základních hrozeb a zároveň charakterizuje jejich vztah:</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51</a:t>
            </a:fld>
            <a:endParaRPr lang="cs-CZ"/>
          </a:p>
        </p:txBody>
      </p:sp>
    </p:spTree>
    <p:extLst>
      <p:ext uri="{BB962C8B-B14F-4D97-AF65-F5344CB8AC3E}">
        <p14:creationId xmlns:p14="http://schemas.microsoft.com/office/powerpoint/2010/main" val="42334970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solidFill>
                  <a:srgbClr val="FF0000"/>
                </a:solidFill>
              </a:rPr>
              <a:t>Kybernetické hrozby</a:t>
            </a:r>
            <a:r>
              <a:rPr lang="cs-CZ" b="1"/>
              <a:t>, události, incidenty a útoky</a:t>
            </a: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52</a:t>
            </a:fld>
            <a:endParaRPr lang="cs-CZ"/>
          </a:p>
        </p:txBody>
      </p:sp>
      <p:pic>
        <p:nvPicPr>
          <p:cNvPr id="6" name="Picture 5"/>
          <p:cNvPicPr>
            <a:picLocks noChangeAspect="1"/>
          </p:cNvPicPr>
          <p:nvPr/>
        </p:nvPicPr>
        <p:blipFill>
          <a:blip r:embed="rId2"/>
          <a:stretch>
            <a:fillRect/>
          </a:stretch>
        </p:blipFill>
        <p:spPr>
          <a:xfrm>
            <a:off x="2099526" y="1799599"/>
            <a:ext cx="8523417" cy="4921876"/>
          </a:xfrm>
          <a:prstGeom prst="rect">
            <a:avLst/>
          </a:prstGeom>
        </p:spPr>
      </p:pic>
    </p:spTree>
    <p:extLst>
      <p:ext uri="{BB962C8B-B14F-4D97-AF65-F5344CB8AC3E}">
        <p14:creationId xmlns:p14="http://schemas.microsoft.com/office/powerpoint/2010/main" val="18092828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Útoky na triádu CIA</a:t>
            </a:r>
          </a:p>
        </p:txBody>
      </p:sp>
      <p:sp>
        <p:nvSpPr>
          <p:cNvPr id="3" name="Content Placeholder 2"/>
          <p:cNvSpPr>
            <a:spLocks noGrp="1"/>
          </p:cNvSpPr>
          <p:nvPr>
            <p:ph idx="1"/>
          </p:nvPr>
        </p:nvSpPr>
        <p:spPr/>
        <p:txBody>
          <a:bodyPr/>
          <a:lstStyle/>
          <a:p>
            <a:r>
              <a:rPr lang="cs-CZ" b="1" err="1"/>
              <a:t>Confidentiality</a:t>
            </a:r>
            <a:r>
              <a:rPr lang="cs-CZ" b="1"/>
              <a:t> </a:t>
            </a:r>
            <a:r>
              <a:rPr lang="cs-CZ"/>
              <a:t>(důvěrnost) – např. krádeže dat, přístupových údajů a klíčů, hardware aj.</a:t>
            </a:r>
          </a:p>
          <a:p>
            <a:r>
              <a:rPr lang="cs-CZ" b="1"/>
              <a:t>Integrity </a:t>
            </a:r>
            <a:r>
              <a:rPr lang="cs-CZ"/>
              <a:t>(celistvost) – chyby v databázích, v nastavení oprávnění aj.</a:t>
            </a:r>
          </a:p>
          <a:p>
            <a:r>
              <a:rPr lang="cs-CZ" b="1" err="1"/>
              <a:t>Availability</a:t>
            </a:r>
            <a:r>
              <a:rPr lang="cs-CZ" b="1"/>
              <a:t> </a:t>
            </a:r>
            <a:r>
              <a:rPr lang="cs-CZ"/>
              <a:t>(dostupnost) – např. </a:t>
            </a:r>
            <a:r>
              <a:rPr lang="cs-CZ" err="1"/>
              <a:t>DoS</a:t>
            </a:r>
            <a:r>
              <a:rPr lang="cs-CZ"/>
              <a:t> a </a:t>
            </a:r>
            <a:r>
              <a:rPr lang="cs-CZ" err="1"/>
              <a:t>DDoS</a:t>
            </a:r>
            <a:r>
              <a:rPr lang="cs-CZ"/>
              <a:t> útoky; fyzické útoky na servery a strukturovanou kabeláž; výpadky proudu aj.</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53</a:t>
            </a:fld>
            <a:endParaRPr lang="cs-CZ"/>
          </a:p>
        </p:txBody>
      </p:sp>
    </p:spTree>
    <p:extLst>
      <p:ext uri="{BB962C8B-B14F-4D97-AF65-F5344CB8AC3E}">
        <p14:creationId xmlns:p14="http://schemas.microsoft.com/office/powerpoint/2010/main" val="32072324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Útok na některý z prvků kybernetické bezpečnosti</a:t>
            </a:r>
            <a:endParaRPr lang="cs-CZ"/>
          </a:p>
        </p:txBody>
      </p:sp>
      <p:sp>
        <p:nvSpPr>
          <p:cNvPr id="3" name="Content Placeholder 2"/>
          <p:cNvSpPr>
            <a:spLocks noGrp="1"/>
          </p:cNvSpPr>
          <p:nvPr>
            <p:ph idx="1"/>
          </p:nvPr>
        </p:nvSpPr>
        <p:spPr/>
        <p:txBody>
          <a:bodyPr>
            <a:normAutofit/>
          </a:bodyPr>
          <a:lstStyle/>
          <a:p>
            <a:r>
              <a:rPr lang="cs-CZ" b="1"/>
              <a:t>Lidé – </a:t>
            </a:r>
            <a:r>
              <a:rPr lang="cs-CZ"/>
              <a:t>útoky sociálním inženýrstvím (ve světě reálném, ale i kyberprostoru), </a:t>
            </a:r>
            <a:r>
              <a:rPr lang="cs-CZ" err="1"/>
              <a:t>phishing</a:t>
            </a:r>
            <a:r>
              <a:rPr lang="cs-CZ"/>
              <a:t>, </a:t>
            </a:r>
            <a:r>
              <a:rPr lang="cs-CZ" err="1"/>
              <a:t>malware</a:t>
            </a:r>
            <a:r>
              <a:rPr lang="cs-CZ"/>
              <a:t>, krádeže aj.</a:t>
            </a:r>
          </a:p>
          <a:p>
            <a:r>
              <a:rPr lang="cs-CZ" b="1"/>
              <a:t>Technologie – </a:t>
            </a:r>
            <a:r>
              <a:rPr lang="cs-CZ"/>
              <a:t>veškeré hrozby uvedené v bodě 1 této klasifikace. Typicky mohou hrozby působit na:</a:t>
            </a:r>
          </a:p>
          <a:p>
            <a:pPr lvl="1"/>
            <a:r>
              <a:rPr lang="cs-CZ"/>
              <a:t>hardware (koncové počítačové systémy, servery, řídící prvky sítě, </a:t>
            </a:r>
            <a:r>
              <a:rPr lang="cs-CZ" err="1"/>
              <a:t>IoT</a:t>
            </a:r>
            <a:r>
              <a:rPr lang="cs-CZ"/>
              <a:t> aj.),</a:t>
            </a:r>
          </a:p>
          <a:p>
            <a:pPr lvl="1"/>
            <a:r>
              <a:rPr lang="cs-CZ"/>
              <a:t>databáze,</a:t>
            </a:r>
          </a:p>
          <a:p>
            <a:pPr lvl="1"/>
            <a:r>
              <a:rPr lang="cs-CZ"/>
              <a:t>síť a síťovou infrastrukturu,</a:t>
            </a:r>
          </a:p>
          <a:p>
            <a:pPr lvl="1"/>
            <a:r>
              <a:rPr lang="cs-CZ"/>
              <a:t>software (operační systém či jiné aplikace),</a:t>
            </a:r>
          </a:p>
          <a:p>
            <a:pPr lvl="1"/>
            <a:r>
              <a:rPr lang="cs-CZ"/>
              <a:t>informace a data uložená v počítačových systémech.</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54</a:t>
            </a:fld>
            <a:endParaRPr lang="cs-CZ"/>
          </a:p>
        </p:txBody>
      </p:sp>
    </p:spTree>
    <p:extLst>
      <p:ext uri="{BB962C8B-B14F-4D97-AF65-F5344CB8AC3E}">
        <p14:creationId xmlns:p14="http://schemas.microsoft.com/office/powerpoint/2010/main" val="17482667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6929163" y="2202511"/>
            <a:ext cx="4626158" cy="4153839"/>
          </a:xfrm>
          <a:prstGeom prst="rect">
            <a:avLst/>
          </a:prstGeom>
        </p:spPr>
      </p:pic>
      <p:sp>
        <p:nvSpPr>
          <p:cNvPr id="2" name="Title 1"/>
          <p:cNvSpPr>
            <a:spLocks noGrp="1"/>
          </p:cNvSpPr>
          <p:nvPr>
            <p:ph type="title"/>
          </p:nvPr>
        </p:nvSpPr>
        <p:spPr/>
        <p:txBody>
          <a:bodyPr/>
          <a:lstStyle/>
          <a:p>
            <a:r>
              <a:rPr lang="cs-CZ" b="1"/>
              <a:t>Motivace útoků</a:t>
            </a:r>
          </a:p>
        </p:txBody>
      </p:sp>
      <p:sp>
        <p:nvSpPr>
          <p:cNvPr id="3" name="Content Placeholder 2"/>
          <p:cNvSpPr>
            <a:spLocks noGrp="1"/>
          </p:cNvSpPr>
          <p:nvPr>
            <p:ph idx="1"/>
          </p:nvPr>
        </p:nvSpPr>
        <p:spPr/>
        <p:txBody>
          <a:bodyPr/>
          <a:lstStyle/>
          <a:p>
            <a:r>
              <a:rPr lang="cs-CZ"/>
              <a:t>Dle motivace lze sledovat:</a:t>
            </a:r>
          </a:p>
          <a:p>
            <a:pPr lvl="1"/>
            <a:r>
              <a:rPr lang="cs-CZ"/>
              <a:t>hrozby za účelem získání finančního prospěchu,</a:t>
            </a:r>
          </a:p>
          <a:p>
            <a:pPr lvl="1"/>
            <a:r>
              <a:rPr lang="cs-CZ"/>
              <a:t>hrozby za účelem získání konkurenční převahy,</a:t>
            </a:r>
          </a:p>
          <a:p>
            <a:pPr lvl="1"/>
            <a:r>
              <a:rPr lang="cs-CZ"/>
              <a:t>hrozby za účelem dokázání svých schopností,</a:t>
            </a:r>
          </a:p>
          <a:p>
            <a:pPr lvl="1"/>
            <a:r>
              <a:rPr lang="cs-CZ"/>
              <a:t>hrozby za účelem odplaty,</a:t>
            </a:r>
          </a:p>
          <a:p>
            <a:pPr lvl="1"/>
            <a:r>
              <a:rPr lang="cs-CZ"/>
              <a:t>hrozby z důvodu neplnění povinností.</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55</a:t>
            </a:fld>
            <a:endParaRPr lang="cs-CZ"/>
          </a:p>
        </p:txBody>
      </p:sp>
    </p:spTree>
    <p:extLst>
      <p:ext uri="{BB962C8B-B14F-4D97-AF65-F5344CB8AC3E}">
        <p14:creationId xmlns:p14="http://schemas.microsoft.com/office/powerpoint/2010/main" val="36399366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Typy hrozeb</a:t>
            </a:r>
          </a:p>
        </p:txBody>
      </p:sp>
      <p:sp>
        <p:nvSpPr>
          <p:cNvPr id="3" name="Content Placeholder 2"/>
          <p:cNvSpPr>
            <a:spLocks noGrp="1"/>
          </p:cNvSpPr>
          <p:nvPr>
            <p:ph idx="1"/>
          </p:nvPr>
        </p:nvSpPr>
        <p:spPr/>
        <p:txBody>
          <a:bodyPr>
            <a:normAutofit fontScale="62500" lnSpcReduction="20000"/>
          </a:bodyPr>
          <a:lstStyle/>
          <a:p>
            <a:r>
              <a:rPr lang="cs-CZ"/>
              <a:t>sociální inženýrství,</a:t>
            </a:r>
          </a:p>
          <a:p>
            <a:r>
              <a:rPr lang="cs-CZ" err="1"/>
              <a:t>botnet</a:t>
            </a:r>
            <a:r>
              <a:rPr lang="cs-CZ"/>
              <a:t>,</a:t>
            </a:r>
          </a:p>
          <a:p>
            <a:r>
              <a:rPr lang="cs-CZ" err="1"/>
              <a:t>malware</a:t>
            </a:r>
            <a:r>
              <a:rPr lang="cs-CZ"/>
              <a:t>,</a:t>
            </a:r>
          </a:p>
          <a:p>
            <a:r>
              <a:rPr lang="cs-CZ" err="1"/>
              <a:t>ransomware</a:t>
            </a:r>
            <a:r>
              <a:rPr lang="cs-CZ"/>
              <a:t>,</a:t>
            </a:r>
          </a:p>
          <a:p>
            <a:r>
              <a:rPr lang="cs-CZ"/>
              <a:t>spam/</a:t>
            </a:r>
            <a:r>
              <a:rPr lang="cs-CZ" err="1"/>
              <a:t>scam</a:t>
            </a:r>
            <a:r>
              <a:rPr lang="cs-CZ"/>
              <a:t>,</a:t>
            </a:r>
          </a:p>
          <a:p>
            <a:r>
              <a:rPr lang="cs-CZ"/>
              <a:t>podvodné nabídky,</a:t>
            </a:r>
          </a:p>
          <a:p>
            <a:r>
              <a:rPr lang="cs-CZ" err="1"/>
              <a:t>phishing</a:t>
            </a:r>
            <a:r>
              <a:rPr lang="cs-CZ"/>
              <a:t>, </a:t>
            </a:r>
            <a:r>
              <a:rPr lang="cs-CZ" err="1"/>
              <a:t>pharming</a:t>
            </a:r>
            <a:r>
              <a:rPr lang="cs-CZ"/>
              <a:t>, </a:t>
            </a:r>
            <a:r>
              <a:rPr lang="cs-CZ" err="1"/>
              <a:t>spear</a:t>
            </a:r>
            <a:r>
              <a:rPr lang="cs-CZ"/>
              <a:t> </a:t>
            </a:r>
            <a:r>
              <a:rPr lang="cs-CZ" err="1"/>
              <a:t>phishing</a:t>
            </a:r>
            <a:r>
              <a:rPr lang="cs-CZ"/>
              <a:t>, </a:t>
            </a:r>
            <a:r>
              <a:rPr lang="cs-CZ" err="1"/>
              <a:t>vishing</a:t>
            </a:r>
            <a:r>
              <a:rPr lang="cs-CZ"/>
              <a:t>, </a:t>
            </a:r>
            <a:r>
              <a:rPr lang="cs-CZ" err="1"/>
              <a:t>smishing</a:t>
            </a:r>
            <a:r>
              <a:rPr lang="cs-CZ"/>
              <a:t>,</a:t>
            </a:r>
          </a:p>
          <a:p>
            <a:r>
              <a:rPr lang="cs-CZ" err="1"/>
              <a:t>hacking</a:t>
            </a:r>
            <a:r>
              <a:rPr lang="cs-CZ"/>
              <a:t>,</a:t>
            </a:r>
          </a:p>
          <a:p>
            <a:r>
              <a:rPr lang="cs-CZ" err="1"/>
              <a:t>DoS</a:t>
            </a:r>
            <a:r>
              <a:rPr lang="cs-CZ"/>
              <a:t>, </a:t>
            </a:r>
            <a:r>
              <a:rPr lang="cs-CZ" err="1"/>
              <a:t>DDoS</a:t>
            </a:r>
            <a:r>
              <a:rPr lang="cs-CZ"/>
              <a:t> útoky,</a:t>
            </a:r>
          </a:p>
          <a:p>
            <a:r>
              <a:rPr lang="cs-CZ"/>
              <a:t>šíření závadového obsahu,</a:t>
            </a:r>
          </a:p>
          <a:p>
            <a:r>
              <a:rPr lang="cs-CZ"/>
              <a:t>identity </a:t>
            </a:r>
            <a:r>
              <a:rPr lang="cs-CZ" err="1"/>
              <a:t>theft</a:t>
            </a:r>
            <a:r>
              <a:rPr lang="cs-CZ"/>
              <a:t>,</a:t>
            </a:r>
          </a:p>
          <a:p>
            <a:r>
              <a:rPr lang="cs-CZ"/>
              <a:t>kyberterorismus,</a:t>
            </a:r>
          </a:p>
          <a:p>
            <a:r>
              <a:rPr lang="cs-CZ"/>
              <a:t>kybernetické výpalné či vydírání (</a:t>
            </a:r>
            <a:r>
              <a:rPr lang="cs-CZ" err="1"/>
              <a:t>cyber</a:t>
            </a:r>
            <a:r>
              <a:rPr lang="cs-CZ"/>
              <a:t> </a:t>
            </a:r>
            <a:r>
              <a:rPr lang="cs-CZ" err="1"/>
              <a:t>extortion</a:t>
            </a:r>
            <a:r>
              <a:rPr lang="cs-CZ"/>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56</a:t>
            </a:fld>
            <a:endParaRPr lang="cs-CZ"/>
          </a:p>
        </p:txBody>
      </p:sp>
    </p:spTree>
    <p:extLst>
      <p:ext uri="{BB962C8B-B14F-4D97-AF65-F5344CB8AC3E}">
        <p14:creationId xmlns:p14="http://schemas.microsoft.com/office/powerpoint/2010/main" val="6947132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Kybernetická bezpečnostní událost/incident </a:t>
            </a:r>
            <a:endParaRPr lang="cs-CZ"/>
          </a:p>
        </p:txBody>
      </p:sp>
      <p:sp>
        <p:nvSpPr>
          <p:cNvPr id="3" name="Content Placeholder 2"/>
          <p:cNvSpPr>
            <a:spLocks noGrp="1"/>
          </p:cNvSpPr>
          <p:nvPr>
            <p:ph idx="1"/>
          </p:nvPr>
        </p:nvSpPr>
        <p:spPr/>
        <p:txBody>
          <a:bodyPr>
            <a:normAutofit fontScale="92500" lnSpcReduction="10000"/>
          </a:bodyPr>
          <a:lstStyle/>
          <a:p>
            <a:r>
              <a:rPr lang="cs-CZ"/>
              <a:t>událost, která může způsobit narušení bezpečnosti informací v informačních systémech nebo narušení bezpečnosti služeb anebo bezpečnosti a integrity sítí elektronických komunikací.</a:t>
            </a:r>
          </a:p>
          <a:p>
            <a:r>
              <a:rPr lang="cs-CZ"/>
              <a:t>narušení bezpečnosti informací v informačních systémech nebo narušení bezpečnosti služeb anebo bezpečnosti a integrity sítí elektronických komunikací v důsledku kybernetické bezpečnostní události.</a:t>
            </a:r>
            <a:br>
              <a:rPr lang="cs-CZ" b="1"/>
            </a:br>
            <a:br>
              <a:rPr lang="cs-CZ" b="1"/>
            </a:br>
            <a:br>
              <a:rPr lang="cs-CZ"/>
            </a:br>
            <a:br>
              <a:rPr lang="cs-CZ"/>
            </a:br>
            <a:br>
              <a:rPr lang="cs-CZ" b="1"/>
            </a:br>
            <a:br>
              <a:rPr lang="cs-CZ" b="1"/>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57</a:t>
            </a:fld>
            <a:endParaRPr lang="cs-CZ"/>
          </a:p>
        </p:txBody>
      </p:sp>
    </p:spTree>
    <p:extLst>
      <p:ext uri="{BB962C8B-B14F-4D97-AF65-F5344CB8AC3E}">
        <p14:creationId xmlns:p14="http://schemas.microsoft.com/office/powerpoint/2010/main" val="3328267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Kybernetický útok (</a:t>
            </a:r>
            <a:r>
              <a:rPr lang="cs-CZ" b="1" err="1"/>
              <a:t>Cyber</a:t>
            </a:r>
            <a:r>
              <a:rPr lang="cs-CZ" b="1"/>
              <a:t> </a:t>
            </a:r>
            <a:r>
              <a:rPr lang="cs-CZ" b="1" err="1"/>
              <a:t>Attack</a:t>
            </a:r>
            <a:r>
              <a:rPr lang="cs-CZ" b="1"/>
              <a:t>)</a:t>
            </a:r>
            <a:endParaRPr lang="cs-CZ"/>
          </a:p>
        </p:txBody>
      </p:sp>
      <p:sp>
        <p:nvSpPr>
          <p:cNvPr id="3" name="Content Placeholder 2"/>
          <p:cNvSpPr>
            <a:spLocks noGrp="1"/>
          </p:cNvSpPr>
          <p:nvPr>
            <p:ph idx="1"/>
          </p:nvPr>
        </p:nvSpPr>
        <p:spPr/>
        <p:txBody>
          <a:bodyPr>
            <a:normAutofit/>
          </a:bodyPr>
          <a:lstStyle/>
          <a:p>
            <a:r>
              <a:rPr lang="cs-CZ" i="1"/>
              <a:t>„Útok na IT infrastrukturu za účelem způsobit</a:t>
            </a:r>
            <a:br>
              <a:rPr lang="cs-CZ"/>
            </a:br>
            <a:r>
              <a:rPr lang="cs-CZ" i="1"/>
              <a:t>poškození a získat citlivé či strategicky důležité informace. Používá se nejčastěji v kontextu politicky či</a:t>
            </a:r>
            <a:r>
              <a:rPr lang="cs-CZ"/>
              <a:t> </a:t>
            </a:r>
            <a:r>
              <a:rPr lang="cs-CZ" i="1"/>
              <a:t>vojensky motivovaných útoků.“</a:t>
            </a:r>
          </a:p>
          <a:p>
            <a:r>
              <a:rPr lang="cs-CZ"/>
              <a:t>Na základě výše uvedeného je tedy možné </a:t>
            </a:r>
            <a:r>
              <a:rPr lang="cs-CZ" b="1"/>
              <a:t>kybernetický útok</a:t>
            </a:r>
            <a:r>
              <a:rPr lang="cs-CZ"/>
              <a:t> definovat jako </a:t>
            </a:r>
            <a:r>
              <a:rPr lang="cs-CZ" b="1"/>
              <a:t>jakékoli</a:t>
            </a:r>
            <a:r>
              <a:rPr lang="cs-CZ"/>
              <a:t> </a:t>
            </a:r>
            <a:r>
              <a:rPr lang="cs-CZ" b="1"/>
              <a:t>úmyslné jednání útočníka v kyberprostoru, které směřuje proti zájmům jiné osoby</a:t>
            </a:r>
            <a:r>
              <a:rPr lang="cs-CZ"/>
              <a:t>.</a:t>
            </a:r>
            <a:br>
              <a:rPr lang="cs-CZ"/>
            </a:br>
            <a:br>
              <a:rPr lang="cs-CZ"/>
            </a:b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58</a:t>
            </a:fld>
            <a:endParaRPr lang="cs-CZ"/>
          </a:p>
        </p:txBody>
      </p:sp>
    </p:spTree>
    <p:extLst>
      <p:ext uri="{BB962C8B-B14F-4D97-AF65-F5344CB8AC3E}">
        <p14:creationId xmlns:p14="http://schemas.microsoft.com/office/powerpoint/2010/main" val="29935182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err="1"/>
              <a:t>Kyberkriminalita</a:t>
            </a:r>
            <a:r>
              <a:rPr lang="cs-CZ" b="1"/>
              <a:t> (</a:t>
            </a:r>
            <a:r>
              <a:rPr lang="cs-CZ" b="1" err="1"/>
              <a:t>Cybercrime</a:t>
            </a:r>
            <a:r>
              <a:rPr lang="cs-CZ" b="1"/>
              <a:t>)</a:t>
            </a:r>
            <a:endParaRPr lang="cs-CZ"/>
          </a:p>
        </p:txBody>
      </p:sp>
      <p:sp>
        <p:nvSpPr>
          <p:cNvPr id="3" name="Content Placeholder 2"/>
          <p:cNvSpPr>
            <a:spLocks noGrp="1"/>
          </p:cNvSpPr>
          <p:nvPr>
            <p:ph idx="1"/>
          </p:nvPr>
        </p:nvSpPr>
        <p:spPr/>
        <p:txBody>
          <a:bodyPr/>
          <a:lstStyle/>
          <a:p>
            <a:r>
              <a:rPr lang="cs-CZ"/>
              <a:t>Nejobecněji je možné </a:t>
            </a:r>
            <a:r>
              <a:rPr lang="cs-CZ" err="1"/>
              <a:t>kyberkriminalitu</a:t>
            </a:r>
            <a:r>
              <a:rPr lang="cs-CZ"/>
              <a:t> definovat </a:t>
            </a:r>
            <a:r>
              <a:rPr lang="cs-CZ" b="1"/>
              <a:t>jako jednání namířené proti počítačovému</a:t>
            </a:r>
            <a:r>
              <a:rPr lang="cs-CZ"/>
              <a:t> </a:t>
            </a:r>
            <a:r>
              <a:rPr lang="cs-CZ" b="1"/>
              <a:t>systému, počítačové síti, datům či uživatelům nebo jako jednání, při němž je počítačový</a:t>
            </a:r>
            <a:r>
              <a:rPr lang="cs-CZ"/>
              <a:t> </a:t>
            </a:r>
            <a:r>
              <a:rPr lang="cs-CZ" b="1"/>
              <a:t>systém použit jako nástroj pro spáchání trestného činu.</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59</a:t>
            </a:fld>
            <a:endParaRPr lang="cs-CZ"/>
          </a:p>
        </p:txBody>
      </p:sp>
    </p:spTree>
    <p:extLst>
      <p:ext uri="{BB962C8B-B14F-4D97-AF65-F5344CB8AC3E}">
        <p14:creationId xmlns:p14="http://schemas.microsoft.com/office/powerpoint/2010/main" val="25691114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cs-CZ" b="1"/>
              <a:t>2. Legislativa</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60</a:t>
            </a:fld>
            <a:endParaRPr lang="cs-CZ"/>
          </a:p>
        </p:txBody>
      </p:sp>
    </p:spTree>
    <p:extLst>
      <p:ext uri="{BB962C8B-B14F-4D97-AF65-F5344CB8AC3E}">
        <p14:creationId xmlns:p14="http://schemas.microsoft.com/office/powerpoint/2010/main" val="6969989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Vznik legislativy v ČR</a:t>
            </a:r>
          </a:p>
        </p:txBody>
      </p:sp>
      <p:sp>
        <p:nvSpPr>
          <p:cNvPr id="3" name="Content Placeholder 2"/>
          <p:cNvSpPr>
            <a:spLocks noGrp="1"/>
          </p:cNvSpPr>
          <p:nvPr>
            <p:ph idx="1"/>
          </p:nvPr>
        </p:nvSpPr>
        <p:spPr/>
        <p:txBody>
          <a:bodyPr>
            <a:normAutofit/>
          </a:bodyPr>
          <a:lstStyle/>
          <a:p>
            <a:r>
              <a:rPr lang="cs-CZ"/>
              <a:t>Problematika kybernetické bezpečnosti začala být poprvé systémově státem řešena v roce </a:t>
            </a:r>
            <a:r>
              <a:rPr lang="cs-CZ" b="1"/>
              <a:t>2000</a:t>
            </a:r>
            <a:r>
              <a:rPr lang="cs-CZ"/>
              <a:t>.</a:t>
            </a:r>
          </a:p>
          <a:p>
            <a:r>
              <a:rPr lang="cs-CZ"/>
              <a:t>V tomto roce vznikla na Ministerstvu vnitra ČR: </a:t>
            </a:r>
            <a:r>
              <a:rPr lang="cs-CZ" b="1"/>
              <a:t>Koncepce boje proti trestné činnosti</a:t>
            </a:r>
            <a:r>
              <a:rPr lang="cs-CZ"/>
              <a:t> </a:t>
            </a:r>
            <a:r>
              <a:rPr lang="cs-CZ" b="1"/>
              <a:t>v oblasti informačních technologií včetně Harmonogramu opatření.</a:t>
            </a:r>
          </a:p>
          <a:p>
            <a:r>
              <a:rPr lang="cs-CZ"/>
              <a:t>Vláda ČR zřídila v roce 2011 </a:t>
            </a:r>
            <a:r>
              <a:rPr lang="cs-CZ" b="1"/>
              <a:t>Radu pro kybernetickou bezpečnost </a:t>
            </a:r>
            <a:r>
              <a:rPr lang="cs-CZ"/>
              <a:t>a schválila vznik </a:t>
            </a:r>
            <a:r>
              <a:rPr lang="cs-CZ" b="1"/>
              <a:t>Národního centra kybernetické bezpečnosti </a:t>
            </a:r>
            <a:r>
              <a:rPr lang="cs-CZ"/>
              <a:t>(jakožto součásti NBÚ). </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61</a:t>
            </a:fld>
            <a:endParaRPr lang="cs-CZ"/>
          </a:p>
        </p:txBody>
      </p:sp>
    </p:spTree>
    <p:extLst>
      <p:ext uri="{BB962C8B-B14F-4D97-AF65-F5344CB8AC3E}">
        <p14:creationId xmlns:p14="http://schemas.microsoft.com/office/powerpoint/2010/main" val="27853847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Vznik legislativy v ČR</a:t>
            </a:r>
            <a:endParaRPr lang="cs-CZ"/>
          </a:p>
        </p:txBody>
      </p:sp>
      <p:sp>
        <p:nvSpPr>
          <p:cNvPr id="3" name="Content Placeholder 2"/>
          <p:cNvSpPr>
            <a:spLocks noGrp="1"/>
          </p:cNvSpPr>
          <p:nvPr>
            <p:ph idx="1"/>
          </p:nvPr>
        </p:nvSpPr>
        <p:spPr>
          <a:xfrm>
            <a:off x="838200" y="1825624"/>
            <a:ext cx="10515600" cy="4530725"/>
          </a:xfrm>
        </p:spPr>
        <p:txBody>
          <a:bodyPr>
            <a:normAutofit fontScale="92500" lnSpcReduction="10000"/>
          </a:bodyPr>
          <a:lstStyle/>
          <a:p>
            <a:r>
              <a:rPr lang="cs-CZ" b="1"/>
              <a:t>vybudovat do 31. prosince 2015 plně funkční Národní centrum kybernetické</a:t>
            </a:r>
            <a:r>
              <a:rPr lang="cs-CZ"/>
              <a:t> </a:t>
            </a:r>
            <a:r>
              <a:rPr lang="cs-CZ" b="1"/>
              <a:t>bezpečnosti a </a:t>
            </a:r>
            <a:r>
              <a:rPr lang="cs-CZ"/>
              <a:t>jako jeho součást vládní koordinační místo pro okamžitou reakci na počítačové incidenty (</a:t>
            </a:r>
            <a:r>
              <a:rPr lang="cs-CZ" b="1"/>
              <a:t>vládní CERT </a:t>
            </a:r>
            <a:r>
              <a:rPr lang="cs-CZ"/>
              <a:t>- </a:t>
            </a:r>
            <a:r>
              <a:rPr lang="cs-CZ" err="1"/>
              <a:t>Computer</a:t>
            </a:r>
            <a:r>
              <a:rPr lang="cs-CZ"/>
              <a:t> </a:t>
            </a:r>
            <a:r>
              <a:rPr lang="cs-CZ" err="1"/>
              <a:t>Emergency</a:t>
            </a:r>
            <a:r>
              <a:rPr lang="cs-CZ"/>
              <a:t> Response Team)</a:t>
            </a:r>
          </a:p>
          <a:p>
            <a:r>
              <a:rPr lang="cs-CZ"/>
              <a:t>obsahově významnější novelizace byla provedena zákonem č. 205/2017 Sb.,141 s účinností od 1. srpna 2017. Touto novelou byla do </a:t>
            </a:r>
            <a:r>
              <a:rPr lang="cs-CZ" err="1"/>
              <a:t>ZoKB</a:t>
            </a:r>
            <a:r>
              <a:rPr lang="cs-CZ"/>
              <a:t> implementována </a:t>
            </a:r>
            <a:r>
              <a:rPr lang="cs-CZ" b="1"/>
              <a:t>Směrnice Evropského</a:t>
            </a:r>
            <a:r>
              <a:rPr lang="cs-CZ"/>
              <a:t> </a:t>
            </a:r>
            <a:r>
              <a:rPr lang="cs-CZ" b="1"/>
              <a:t>parlamentu a Rady (EU) 2016/1148 ze dne 6. července 2016 o opatřeních k zajištění vysoké</a:t>
            </a:r>
            <a:r>
              <a:rPr lang="cs-CZ"/>
              <a:t> </a:t>
            </a:r>
            <a:r>
              <a:rPr lang="cs-CZ" b="1"/>
              <a:t>společné úrovně bezpečnosti sítí a informačních systémů v Unii (NIS) </a:t>
            </a:r>
            <a:r>
              <a:rPr lang="cs-CZ"/>
              <a:t>a zároveň byl zřízen </a:t>
            </a:r>
            <a:r>
              <a:rPr lang="cs-CZ" b="1"/>
              <a:t>Národní úřad pro kybernetickou a informační bezpečnost (NÚKIB)</a:t>
            </a:r>
            <a:r>
              <a:rPr lang="cs-CZ"/>
              <a:t>, který po NBÚ převzal práva a povinnosti v oblasti kybernetické bezpečnosti včetně ochrany utajovaných informací v oblasti informačních a komunikačních systémů a kryptografické ochrany.</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62</a:t>
            </a:fld>
            <a:endParaRPr lang="cs-CZ"/>
          </a:p>
        </p:txBody>
      </p:sp>
    </p:spTree>
    <p:extLst>
      <p:ext uri="{BB962C8B-B14F-4D97-AF65-F5344CB8AC3E}">
        <p14:creationId xmlns:p14="http://schemas.microsoft.com/office/powerpoint/2010/main" val="108961363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pl-PL" b="1" i="1"/>
              <a:t>Směrnice Evropského parlamentu a Rady</a:t>
            </a:r>
            <a:endParaRPr lang="cs-CZ"/>
          </a:p>
        </p:txBody>
      </p:sp>
      <p:sp>
        <p:nvSpPr>
          <p:cNvPr id="3" name="Content Placeholder 2"/>
          <p:cNvSpPr>
            <a:spLocks noGrp="1"/>
          </p:cNvSpPr>
          <p:nvPr>
            <p:ph idx="1"/>
          </p:nvPr>
        </p:nvSpPr>
        <p:spPr/>
        <p:txBody>
          <a:bodyPr>
            <a:normAutofit lnSpcReduction="10000"/>
          </a:bodyPr>
          <a:lstStyle/>
          <a:p>
            <a:r>
              <a:rPr lang="cs-CZ"/>
              <a:t>526/2013 o Agentuře Evropské unie pro bezpečnost sítí a informací (</a:t>
            </a:r>
            <a:r>
              <a:rPr lang="cs-CZ" b="1"/>
              <a:t>ENISA</a:t>
            </a:r>
            <a:r>
              <a:rPr lang="cs-CZ"/>
              <a:t>) a o zrušení nařízení (ES) č. 460/2004 Text s významem pro EHP</a:t>
            </a:r>
          </a:p>
          <a:p>
            <a:r>
              <a:rPr lang="cs-CZ"/>
              <a:t>transakce na vnitřním trhu a o zrušení směrnice 1999/93/ES (</a:t>
            </a:r>
            <a:r>
              <a:rPr lang="cs-CZ" b="1"/>
              <a:t>eIDAS</a:t>
            </a:r>
            <a:r>
              <a:rPr lang="cs-CZ"/>
              <a:t>145)</a:t>
            </a:r>
          </a:p>
          <a:p>
            <a:r>
              <a:rPr lang="cs-CZ"/>
              <a:t>679/2016 o ochraně fyzických osob v souvislosti se zpracováním osobních údajů a o volném pohybu těchto údajů a o zrušení směrnice 95/46/ES (obecné nařízení o ochraně osobních údajů - </a:t>
            </a:r>
            <a:r>
              <a:rPr lang="cs-CZ" b="1"/>
              <a:t>GDPR</a:t>
            </a:r>
            <a:r>
              <a:rPr lang="cs-CZ"/>
              <a:t>)</a:t>
            </a:r>
          </a:p>
          <a:p>
            <a:r>
              <a:rPr lang="cs-CZ" b="1"/>
              <a:t>Návrh nařízení </a:t>
            </a:r>
            <a:r>
              <a:rPr lang="cs-CZ"/>
              <a:t>o respektování soukromého života a ochraně osobních údajů v elektronických komunikacích a o zrušení směrnice 2002/58/ES (nařízení o soukromí a elektronických komunikacích – </a:t>
            </a:r>
            <a:r>
              <a:rPr lang="cs-CZ" b="1" err="1"/>
              <a:t>ePrivacy</a:t>
            </a:r>
            <a:r>
              <a:rPr lang="cs-CZ"/>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63</a:t>
            </a:fld>
            <a:endParaRPr lang="cs-CZ"/>
          </a:p>
        </p:txBody>
      </p:sp>
    </p:spTree>
    <p:extLst>
      <p:ext uri="{BB962C8B-B14F-4D97-AF65-F5344CB8AC3E}">
        <p14:creationId xmlns:p14="http://schemas.microsoft.com/office/powerpoint/2010/main" val="24909414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Právní normy ČR</a:t>
            </a:r>
            <a:endParaRPr lang="cs-CZ"/>
          </a:p>
        </p:txBody>
      </p:sp>
      <p:sp>
        <p:nvSpPr>
          <p:cNvPr id="3" name="Content Placeholder 2"/>
          <p:cNvSpPr>
            <a:spLocks noGrp="1"/>
          </p:cNvSpPr>
          <p:nvPr>
            <p:ph idx="1"/>
          </p:nvPr>
        </p:nvSpPr>
        <p:spPr/>
        <p:txBody>
          <a:bodyPr/>
          <a:lstStyle/>
          <a:p>
            <a:r>
              <a:rPr lang="cs-CZ" b="1"/>
              <a:t>zákon č. 181/2014 Sb., o kybernetické bezpečnosti a o změně souvisejících zákonů (zákon</a:t>
            </a:r>
            <a:r>
              <a:rPr lang="cs-CZ"/>
              <a:t> </a:t>
            </a:r>
            <a:r>
              <a:rPr lang="cs-CZ" b="1"/>
              <a:t>o kybernetické bezpečnosti)</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dirty="0" smtClean="0"/>
              <a:t>64</a:t>
            </a:fld>
            <a:endParaRPr lang="cs-CZ"/>
          </a:p>
        </p:txBody>
      </p:sp>
    </p:spTree>
    <p:extLst>
      <p:ext uri="{BB962C8B-B14F-4D97-AF65-F5344CB8AC3E}">
        <p14:creationId xmlns:p14="http://schemas.microsoft.com/office/powerpoint/2010/main" val="38887259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65</a:t>
            </a:fld>
            <a:endParaRPr lang="cs-CZ"/>
          </a:p>
        </p:txBody>
      </p:sp>
      <p:pic>
        <p:nvPicPr>
          <p:cNvPr id="6" name="Picture 5"/>
          <p:cNvPicPr>
            <a:picLocks noChangeAspect="1"/>
          </p:cNvPicPr>
          <p:nvPr/>
        </p:nvPicPr>
        <p:blipFill>
          <a:blip r:embed="rId2"/>
          <a:stretch>
            <a:fillRect/>
          </a:stretch>
        </p:blipFill>
        <p:spPr>
          <a:xfrm>
            <a:off x="1273935" y="0"/>
            <a:ext cx="9644130" cy="6454379"/>
          </a:xfrm>
          <a:prstGeom prst="rect">
            <a:avLst/>
          </a:prstGeom>
        </p:spPr>
      </p:pic>
    </p:spTree>
    <p:extLst>
      <p:ext uri="{BB962C8B-B14F-4D97-AF65-F5344CB8AC3E}">
        <p14:creationId xmlns:p14="http://schemas.microsoft.com/office/powerpoint/2010/main" val="5798149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GDPR</a:t>
            </a:r>
            <a:endParaRPr lang="cs-CZ"/>
          </a:p>
        </p:txBody>
      </p:sp>
      <p:sp>
        <p:nvSpPr>
          <p:cNvPr id="3" name="Content Placeholder 2"/>
          <p:cNvSpPr>
            <a:spLocks noGrp="1"/>
          </p:cNvSpPr>
          <p:nvPr>
            <p:ph idx="1"/>
          </p:nvPr>
        </p:nvSpPr>
        <p:spPr/>
        <p:txBody>
          <a:bodyPr>
            <a:normAutofit/>
          </a:bodyPr>
          <a:lstStyle/>
          <a:p>
            <a:r>
              <a:rPr lang="cs-CZ"/>
              <a:t>Obecné nařízení o ochraně osobních údajů (EU) 2016/679 (anglicky: General Data </a:t>
            </a:r>
            <a:r>
              <a:rPr lang="cs-CZ" err="1"/>
              <a:t>Protection</a:t>
            </a:r>
            <a:r>
              <a:rPr lang="cs-CZ"/>
              <a:t> </a:t>
            </a:r>
            <a:r>
              <a:rPr lang="cs-CZ" err="1"/>
              <a:t>Regulation</a:t>
            </a:r>
            <a:r>
              <a:rPr lang="cs-CZ"/>
              <a:t> neboli GDPR) je jedním z významných mezinárodních právních dokumentů, který s problematikou kybernetické bezpečnosti bezprostředně souvisí, byť není primárně cílen do oblasti ICT.</a:t>
            </a:r>
          </a:p>
          <a:p>
            <a:r>
              <a:rPr lang="cs-CZ" i="1"/>
              <a:t>„</a:t>
            </a:r>
            <a:r>
              <a:rPr lang="cs-CZ" b="1" i="1"/>
              <a:t>GDPR ≠ IT + software.</a:t>
            </a:r>
            <a:br>
              <a:rPr lang="cs-CZ" b="1"/>
            </a:br>
            <a:r>
              <a:rPr lang="cs-CZ" i="1"/>
              <a:t>Nové nařízení o ochraně osobních údajů má 778 řádků a z toho jen 26 se přímo týká IT bezpečnosti.</a:t>
            </a:r>
            <a:r>
              <a:rPr lang="cs-CZ"/>
              <a:t> </a:t>
            </a:r>
            <a:r>
              <a:rPr lang="cs-CZ" i="1"/>
              <a:t>Máte představu, co obsahují ty ostatní?“</a:t>
            </a: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66</a:t>
            </a:fld>
            <a:endParaRPr lang="cs-CZ"/>
          </a:p>
        </p:txBody>
      </p:sp>
    </p:spTree>
    <p:extLst>
      <p:ext uri="{BB962C8B-B14F-4D97-AF65-F5344CB8AC3E}">
        <p14:creationId xmlns:p14="http://schemas.microsoft.com/office/powerpoint/2010/main" val="360123348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Zajímavé paradoxy</a:t>
            </a:r>
          </a:p>
        </p:txBody>
      </p:sp>
      <p:sp>
        <p:nvSpPr>
          <p:cNvPr id="3" name="Content Placeholder 2"/>
          <p:cNvSpPr>
            <a:spLocks noGrp="1"/>
          </p:cNvSpPr>
          <p:nvPr>
            <p:ph idx="1"/>
          </p:nvPr>
        </p:nvSpPr>
        <p:spPr/>
        <p:txBody>
          <a:bodyPr>
            <a:normAutofit fontScale="92500" lnSpcReduction="10000"/>
          </a:bodyPr>
          <a:lstStyle/>
          <a:p>
            <a:r>
              <a:rPr lang="cs-CZ" b="1"/>
              <a:t>fyzické osoby samy a dobrovolně o sobě zveřejňují stále větší množství dat </a:t>
            </a:r>
            <a:r>
              <a:rPr lang="cs-CZ"/>
              <a:t>(fotografie, videa aj.), přičemž k distribuci těchto dat typicky využívají služby informační společnosti, které jsou založeny na EULA161 či SLA162 mezi uživatelem a poskytovatelem služby,</a:t>
            </a:r>
          </a:p>
          <a:p>
            <a:r>
              <a:rPr lang="cs-CZ" b="1"/>
              <a:t>nejvíce jsou osobní údaje zveřejňovány v rámci sociálních sítí</a:t>
            </a:r>
            <a:r>
              <a:rPr lang="cs-CZ"/>
              <a:t>, které z podstaty své funkce takovéto zveřejňování předpokládají a zakotvují ve smluvních podmínkách pravidla, na základě kterých je s takovýmito daty zacházeno,</a:t>
            </a:r>
          </a:p>
          <a:p>
            <a:r>
              <a:rPr lang="cs-CZ" b="1"/>
              <a:t>fyzické osoby při využívání řady služeb informační společnosti předpokládají, a mnohdy</a:t>
            </a:r>
            <a:r>
              <a:rPr lang="cs-CZ"/>
              <a:t> </a:t>
            </a:r>
            <a:r>
              <a:rPr lang="cs-CZ" b="1"/>
              <a:t>i očekávají interakci mezi těmito technologiemi a jejich </a:t>
            </a:r>
            <a:r>
              <a:rPr lang="cs-CZ" b="1" err="1"/>
              <a:t>kyberosobností</a:t>
            </a:r>
            <a:r>
              <a:rPr lang="cs-CZ" b="1"/>
              <a:t>,</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67</a:t>
            </a:fld>
            <a:endParaRPr lang="cs-CZ"/>
          </a:p>
        </p:txBody>
      </p:sp>
    </p:spTree>
    <p:extLst>
      <p:ext uri="{BB962C8B-B14F-4D97-AF65-F5344CB8AC3E}">
        <p14:creationId xmlns:p14="http://schemas.microsoft.com/office/powerpoint/2010/main" val="18187246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Osobní údaj</a:t>
            </a:r>
            <a:endParaRPr lang="cs-CZ"/>
          </a:p>
        </p:txBody>
      </p:sp>
      <p:sp>
        <p:nvSpPr>
          <p:cNvPr id="3" name="Content Placeholder 2"/>
          <p:cNvSpPr>
            <a:spLocks noGrp="1"/>
          </p:cNvSpPr>
          <p:nvPr>
            <p:ph idx="1"/>
          </p:nvPr>
        </p:nvSpPr>
        <p:spPr/>
        <p:txBody>
          <a:bodyPr>
            <a:normAutofit/>
          </a:bodyPr>
          <a:lstStyle/>
          <a:p>
            <a:r>
              <a:rPr lang="cs-CZ"/>
              <a:t>Osobním údajem dle čl. 4 odst. 1 GDPR jsou </a:t>
            </a:r>
            <a:r>
              <a:rPr lang="cs-CZ" i="1"/>
              <a:t>„</a:t>
            </a:r>
            <a:r>
              <a:rPr lang="cs-CZ" b="1" i="1"/>
              <a:t>veškeré informace o identifikované nebo</a:t>
            </a:r>
            <a:r>
              <a:rPr lang="cs-CZ" b="1"/>
              <a:t> </a:t>
            </a:r>
            <a:r>
              <a:rPr lang="cs-CZ" b="1" i="1"/>
              <a:t>identifikovatelné fyzické osobě. </a:t>
            </a:r>
          </a:p>
          <a:p>
            <a:r>
              <a:rPr lang="cs-CZ"/>
              <a:t>Osobním údajem je dle GDRP </a:t>
            </a:r>
            <a:r>
              <a:rPr lang="cs-CZ" b="1"/>
              <a:t>jakákoliv informace </a:t>
            </a:r>
            <a:r>
              <a:rPr lang="cs-CZ"/>
              <a:t>(např. obrazová, písemná, slovní, digitální, genetická, zdravotnická aj.), která </a:t>
            </a:r>
            <a:r>
              <a:rPr lang="cs-CZ" b="1"/>
              <a:t>má vztah </a:t>
            </a:r>
            <a:r>
              <a:rPr lang="cs-CZ"/>
              <a:t>(obsahem – např. jméno, adresa, pracovní zařazení, e-mail aj.), </a:t>
            </a:r>
            <a:r>
              <a:rPr lang="cs-CZ" b="1"/>
              <a:t>k subjektu údajů.</a:t>
            </a:r>
            <a:br>
              <a:rPr lang="cs-CZ"/>
            </a:br>
            <a:br>
              <a:rPr lang="cs-CZ"/>
            </a:br>
            <a:br>
              <a:rPr lang="cs-CZ" b="1"/>
            </a:br>
            <a:br>
              <a:rPr lang="cs-CZ" b="1"/>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68</a:t>
            </a:fld>
            <a:endParaRPr lang="cs-CZ"/>
          </a:p>
        </p:txBody>
      </p:sp>
    </p:spTree>
    <p:extLst>
      <p:ext uri="{BB962C8B-B14F-4D97-AF65-F5344CB8AC3E}">
        <p14:creationId xmlns:p14="http://schemas.microsoft.com/office/powerpoint/2010/main" val="85369969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69</a:t>
            </a:fld>
            <a:endParaRPr lang="cs-CZ"/>
          </a:p>
        </p:txBody>
      </p:sp>
      <p:pic>
        <p:nvPicPr>
          <p:cNvPr id="6" name="Picture 5"/>
          <p:cNvPicPr>
            <a:picLocks noChangeAspect="1"/>
          </p:cNvPicPr>
          <p:nvPr/>
        </p:nvPicPr>
        <p:blipFill>
          <a:blip r:embed="rId2"/>
          <a:stretch>
            <a:fillRect/>
          </a:stretch>
        </p:blipFill>
        <p:spPr>
          <a:xfrm>
            <a:off x="754613" y="113070"/>
            <a:ext cx="10053210" cy="6243280"/>
          </a:xfrm>
          <a:prstGeom prst="rect">
            <a:avLst/>
          </a:prstGeom>
        </p:spPr>
      </p:pic>
    </p:spTree>
    <p:extLst>
      <p:ext uri="{BB962C8B-B14F-4D97-AF65-F5344CB8AC3E}">
        <p14:creationId xmlns:p14="http://schemas.microsoft.com/office/powerpoint/2010/main" val="409209160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Osobní údaj</a:t>
            </a:r>
            <a:endParaRPr lang="cs-CZ"/>
          </a:p>
        </p:txBody>
      </p:sp>
      <p:sp>
        <p:nvSpPr>
          <p:cNvPr id="3" name="Content Placeholder 2"/>
          <p:cNvSpPr>
            <a:spLocks noGrp="1"/>
          </p:cNvSpPr>
          <p:nvPr>
            <p:ph idx="1"/>
          </p:nvPr>
        </p:nvSpPr>
        <p:spPr/>
        <p:txBody>
          <a:bodyPr>
            <a:normAutofit fontScale="92500"/>
          </a:bodyPr>
          <a:lstStyle/>
          <a:p>
            <a:r>
              <a:rPr lang="cs-CZ"/>
              <a:t>Pokud se zaměříme na </a:t>
            </a:r>
            <a:r>
              <a:rPr lang="cs-CZ" b="1"/>
              <a:t>položku síťových identifikátorů a ověřovacích identifikačních údajů,</a:t>
            </a:r>
            <a:r>
              <a:rPr lang="cs-CZ"/>
              <a:t> </a:t>
            </a:r>
            <a:r>
              <a:rPr lang="cs-CZ" b="1"/>
              <a:t>zjistíme, že za osobní údaj může a zřejmě i bude považována řada dat umožňujících základní</a:t>
            </a:r>
            <a:r>
              <a:rPr lang="cs-CZ"/>
              <a:t> </a:t>
            </a:r>
            <a:r>
              <a:rPr lang="cs-CZ" b="1"/>
              <a:t>fungování počítačového systému v síti.</a:t>
            </a:r>
          </a:p>
          <a:p>
            <a:r>
              <a:rPr lang="cs-CZ"/>
              <a:t>Velmi často byla v praxi diskutována otázka - je IP adresa osobním údajem?</a:t>
            </a:r>
          </a:p>
          <a:p>
            <a:r>
              <a:rPr lang="cs-CZ" b="1"/>
              <a:t>„Objektivní“ kritérium </a:t>
            </a:r>
            <a:r>
              <a:rPr lang="cs-CZ"/>
              <a:t>znamená, že údaje, jako jsou </a:t>
            </a:r>
            <a:r>
              <a:rPr lang="cs-CZ" b="1"/>
              <a:t>IP adresy</a:t>
            </a:r>
            <a:r>
              <a:rPr lang="cs-CZ"/>
              <a:t>, </a:t>
            </a:r>
            <a:r>
              <a:rPr lang="cs-CZ" b="1"/>
              <a:t>by mohly být považovány za</a:t>
            </a:r>
            <a:r>
              <a:rPr lang="cs-CZ"/>
              <a:t> </a:t>
            </a:r>
            <a:r>
              <a:rPr lang="cs-CZ" b="1"/>
              <a:t>osobní údaje </a:t>
            </a:r>
            <a:r>
              <a:rPr lang="cs-CZ"/>
              <a:t>zpracovávané ISP jiných služeb než připojení (např. provozovatelem internetové stránky), </a:t>
            </a:r>
            <a:r>
              <a:rPr lang="cs-CZ" b="1"/>
              <a:t>a to i tehdy, pokud by byla schopna identifikovat konkrétního uživatele jen třetí</a:t>
            </a:r>
            <a:r>
              <a:rPr lang="cs-CZ"/>
              <a:t> </a:t>
            </a:r>
            <a:r>
              <a:rPr lang="cs-CZ" b="1"/>
              <a:t>osoba </a:t>
            </a:r>
            <a:r>
              <a:rPr lang="cs-CZ"/>
              <a:t>(typicky ISP připojení).</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70</a:t>
            </a:fld>
            <a:endParaRPr lang="cs-CZ"/>
          </a:p>
        </p:txBody>
      </p:sp>
    </p:spTree>
    <p:extLst>
      <p:ext uri="{BB962C8B-B14F-4D97-AF65-F5344CB8AC3E}">
        <p14:creationId xmlns:p14="http://schemas.microsoft.com/office/powerpoint/2010/main" val="308245244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Osobní údaj</a:t>
            </a:r>
            <a:endParaRPr lang="cs-CZ"/>
          </a:p>
        </p:txBody>
      </p:sp>
      <p:sp>
        <p:nvSpPr>
          <p:cNvPr id="3" name="Content Placeholder 2"/>
          <p:cNvSpPr>
            <a:spLocks noGrp="1"/>
          </p:cNvSpPr>
          <p:nvPr>
            <p:ph idx="1"/>
          </p:nvPr>
        </p:nvSpPr>
        <p:spPr/>
        <p:txBody>
          <a:bodyPr/>
          <a:lstStyle/>
          <a:p>
            <a:r>
              <a:rPr lang="cs-CZ"/>
              <a:t>Dynamická IP adresa může být dle tohoto rozsudku, z 19. října 2016, za určitých okolností osobním údajem</a:t>
            </a:r>
          </a:p>
          <a:p>
            <a:r>
              <a:rPr lang="cs-CZ"/>
              <a:t>Dopad té skutečnosti, že </a:t>
            </a:r>
            <a:r>
              <a:rPr lang="cs-CZ" b="1"/>
              <a:t>IP adresa, jakožto i další síťové identifikátory mohou být osobním</a:t>
            </a:r>
            <a:br>
              <a:rPr lang="cs-CZ"/>
            </a:br>
            <a:r>
              <a:rPr lang="cs-CZ" b="1"/>
              <a:t>údajem, </a:t>
            </a:r>
            <a:r>
              <a:rPr lang="cs-CZ"/>
              <a:t>demonstrujeme na dvou příkladech.</a:t>
            </a:r>
            <a:br>
              <a:rPr lang="cs-CZ"/>
            </a:br>
            <a:br>
              <a:rPr lang="cs-CZ"/>
            </a:b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71</a:t>
            </a:fld>
            <a:endParaRPr lang="cs-CZ"/>
          </a:p>
        </p:txBody>
      </p:sp>
    </p:spTree>
    <p:extLst>
      <p:ext uri="{BB962C8B-B14F-4D97-AF65-F5344CB8AC3E}">
        <p14:creationId xmlns:p14="http://schemas.microsoft.com/office/powerpoint/2010/main" val="69070237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72</a:t>
            </a:fld>
            <a:endParaRPr lang="cs-CZ"/>
          </a:p>
        </p:txBody>
      </p:sp>
      <p:pic>
        <p:nvPicPr>
          <p:cNvPr id="6" name="Picture 5"/>
          <p:cNvPicPr>
            <a:picLocks noChangeAspect="1"/>
          </p:cNvPicPr>
          <p:nvPr/>
        </p:nvPicPr>
        <p:blipFill>
          <a:blip r:embed="rId2"/>
          <a:stretch>
            <a:fillRect/>
          </a:stretch>
        </p:blipFill>
        <p:spPr>
          <a:xfrm>
            <a:off x="1185177" y="447259"/>
            <a:ext cx="9821646" cy="5963482"/>
          </a:xfrm>
          <a:prstGeom prst="rect">
            <a:avLst/>
          </a:prstGeom>
        </p:spPr>
      </p:pic>
    </p:spTree>
    <p:extLst>
      <p:ext uri="{BB962C8B-B14F-4D97-AF65-F5344CB8AC3E}">
        <p14:creationId xmlns:p14="http://schemas.microsoft.com/office/powerpoint/2010/main" val="197496014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Osobní údaj</a:t>
            </a:r>
            <a:endParaRPr lang="cs-CZ"/>
          </a:p>
        </p:txBody>
      </p:sp>
      <p:sp>
        <p:nvSpPr>
          <p:cNvPr id="3" name="Content Placeholder 2"/>
          <p:cNvSpPr>
            <a:spLocks noGrp="1"/>
          </p:cNvSpPr>
          <p:nvPr>
            <p:ph idx="1"/>
          </p:nvPr>
        </p:nvSpPr>
        <p:spPr/>
        <p:txBody>
          <a:bodyPr>
            <a:normAutofit lnSpcReduction="10000"/>
          </a:bodyPr>
          <a:lstStyle/>
          <a:p>
            <a:r>
              <a:rPr lang="cs-CZ"/>
              <a:t>Pokud se důsledně zaměříme na </a:t>
            </a:r>
            <a:r>
              <a:rPr lang="cs-CZ" b="1"/>
              <a:t>data </a:t>
            </a:r>
            <a:r>
              <a:rPr lang="cs-CZ"/>
              <a:t>(informace)</a:t>
            </a:r>
            <a:r>
              <a:rPr lang="cs-CZ" b="1"/>
              <a:t>, která mají vztah k subjektu údajů a jsou</a:t>
            </a:r>
            <a:r>
              <a:rPr lang="cs-CZ"/>
              <a:t> </a:t>
            </a:r>
            <a:r>
              <a:rPr lang="cs-CZ" b="1"/>
              <a:t>jej schopny identifikovat</a:t>
            </a:r>
            <a:r>
              <a:rPr lang="cs-CZ"/>
              <a:t>, pak osobním údajem v tomto případě nebude pouze IP adresa připojovacího prvku a IP adresa DHCP serveru.</a:t>
            </a:r>
          </a:p>
          <a:p>
            <a:r>
              <a:rPr lang="cs-CZ"/>
              <a:t>Osobním údajem je teoreticky i čas daného požadavku, neboť se jedná o stopu, která může být zejména v kombinaci s jedinečnými identifikátory a dalšími informacemi, které servery získávají, použita k identifikaci fyzické osoby. Zároveň se jedná o velmi podstatnou informaci, neboť bez přesného času není možné identifikovat, komu (jakému počítačovému systému) byla přidělena konkrétní IP adresa.</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73</a:t>
            </a:fld>
            <a:endParaRPr lang="cs-CZ"/>
          </a:p>
        </p:txBody>
      </p:sp>
    </p:spTree>
    <p:extLst>
      <p:ext uri="{BB962C8B-B14F-4D97-AF65-F5344CB8AC3E}">
        <p14:creationId xmlns:p14="http://schemas.microsoft.com/office/powerpoint/2010/main" val="63806157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74</a:t>
            </a:fld>
            <a:endParaRPr lang="cs-CZ"/>
          </a:p>
        </p:txBody>
      </p:sp>
      <p:pic>
        <p:nvPicPr>
          <p:cNvPr id="8" name="Picture 7"/>
          <p:cNvPicPr>
            <a:picLocks noChangeAspect="1"/>
          </p:cNvPicPr>
          <p:nvPr/>
        </p:nvPicPr>
        <p:blipFill>
          <a:blip r:embed="rId2"/>
          <a:stretch>
            <a:fillRect/>
          </a:stretch>
        </p:blipFill>
        <p:spPr>
          <a:xfrm>
            <a:off x="1986832" y="283649"/>
            <a:ext cx="8218336" cy="6437826"/>
          </a:xfrm>
          <a:prstGeom prst="rect">
            <a:avLst/>
          </a:prstGeom>
        </p:spPr>
      </p:pic>
    </p:spTree>
    <p:extLst>
      <p:ext uri="{BB962C8B-B14F-4D97-AF65-F5344CB8AC3E}">
        <p14:creationId xmlns:p14="http://schemas.microsoft.com/office/powerpoint/2010/main" val="30638005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Osobní údaj</a:t>
            </a:r>
            <a:endParaRPr lang="cs-CZ"/>
          </a:p>
        </p:txBody>
      </p:sp>
      <p:sp>
        <p:nvSpPr>
          <p:cNvPr id="3" name="Content Placeholder 2"/>
          <p:cNvSpPr>
            <a:spLocks noGrp="1"/>
          </p:cNvSpPr>
          <p:nvPr>
            <p:ph idx="1"/>
          </p:nvPr>
        </p:nvSpPr>
        <p:spPr/>
        <p:txBody>
          <a:bodyPr/>
          <a:lstStyle/>
          <a:p>
            <a:r>
              <a:rPr lang="cs-CZ"/>
              <a:t>Pokud se opět důsledně zaměříme na </a:t>
            </a:r>
            <a:r>
              <a:rPr lang="cs-CZ" b="1"/>
              <a:t>data </a:t>
            </a:r>
            <a:r>
              <a:rPr lang="cs-CZ"/>
              <a:t>(informace)</a:t>
            </a:r>
            <a:r>
              <a:rPr lang="cs-CZ" b="1"/>
              <a:t>, která mají vztah k subjektu údajů</a:t>
            </a:r>
            <a:r>
              <a:rPr lang="cs-CZ"/>
              <a:t> </a:t>
            </a:r>
            <a:r>
              <a:rPr lang="cs-CZ" b="1"/>
              <a:t>a jsou schopna jej identifikovat</a:t>
            </a:r>
            <a:r>
              <a:rPr lang="cs-CZ"/>
              <a:t>, pak osobním údajem v tomto případě nebude pouze IP adresa serveru.</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75</a:t>
            </a:fld>
            <a:endParaRPr lang="cs-CZ"/>
          </a:p>
        </p:txBody>
      </p:sp>
    </p:spTree>
    <p:extLst>
      <p:ext uri="{BB962C8B-B14F-4D97-AF65-F5344CB8AC3E}">
        <p14:creationId xmlns:p14="http://schemas.microsoft.com/office/powerpoint/2010/main" val="122875309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Zabezpečení osobních údajů</a:t>
            </a:r>
            <a:endParaRPr lang="cs-CZ"/>
          </a:p>
        </p:txBody>
      </p:sp>
      <p:sp>
        <p:nvSpPr>
          <p:cNvPr id="3" name="Content Placeholder 2"/>
          <p:cNvSpPr>
            <a:spLocks noGrp="1"/>
          </p:cNvSpPr>
          <p:nvPr>
            <p:ph idx="1"/>
          </p:nvPr>
        </p:nvSpPr>
        <p:spPr/>
        <p:txBody>
          <a:bodyPr>
            <a:normAutofit fontScale="77500" lnSpcReduction="20000"/>
          </a:bodyPr>
          <a:lstStyle/>
          <a:p>
            <a:r>
              <a:rPr lang="cs-CZ"/>
              <a:t>V čl. 32 GDPR je uvedeno, že </a:t>
            </a:r>
            <a:r>
              <a:rPr lang="cs-CZ" b="1"/>
              <a:t>správce </a:t>
            </a:r>
            <a:r>
              <a:rPr lang="cs-CZ"/>
              <a:t>(případně zpracovatel) </a:t>
            </a:r>
            <a:r>
              <a:rPr lang="cs-CZ" b="1"/>
              <a:t>musí </a:t>
            </a:r>
            <a:r>
              <a:rPr lang="cs-CZ"/>
              <a:t>s přihlédnutím ke stavu techniky, nákladům na provedení, povaze, rozsahu, kontextu a účelům zpracování i k různě</a:t>
            </a:r>
            <a:br>
              <a:rPr lang="cs-CZ"/>
            </a:br>
            <a:r>
              <a:rPr lang="cs-CZ"/>
              <a:t>pravděpodobným a různě závažným rizikům pro práva a svobody fyzických osob, </a:t>
            </a:r>
            <a:r>
              <a:rPr lang="cs-CZ" b="1"/>
              <a:t>přijmout</a:t>
            </a:r>
            <a:r>
              <a:rPr lang="cs-CZ"/>
              <a:t> </a:t>
            </a:r>
            <a:r>
              <a:rPr lang="cs-CZ" b="1"/>
              <a:t>vhodná technická a organizační opatření, aby zajistil úroveň zabezpečení odpovídající</a:t>
            </a:r>
            <a:r>
              <a:rPr lang="cs-CZ"/>
              <a:t> </a:t>
            </a:r>
            <a:r>
              <a:rPr lang="cs-CZ" b="1"/>
              <a:t>danému riziku</a:t>
            </a:r>
            <a:r>
              <a:rPr lang="cs-CZ"/>
              <a:t>, případně včetně:</a:t>
            </a:r>
          </a:p>
          <a:p>
            <a:r>
              <a:rPr lang="cs-CZ" b="1" err="1"/>
              <a:t>pseudonymizace</a:t>
            </a:r>
            <a:r>
              <a:rPr lang="cs-CZ" b="1"/>
              <a:t> a šifrování osobních údajů,</a:t>
            </a:r>
            <a:endParaRPr lang="cs-CZ"/>
          </a:p>
          <a:p>
            <a:r>
              <a:rPr lang="cs-CZ" b="1"/>
              <a:t>schopnosti zajistit neustálou důvěrnost, integritu, dostupnost a odolnost systémů</a:t>
            </a:r>
            <a:br>
              <a:rPr lang="cs-CZ"/>
            </a:br>
            <a:r>
              <a:rPr lang="cs-CZ" b="1"/>
              <a:t>a služeb zpracování,</a:t>
            </a:r>
            <a:endParaRPr lang="cs-CZ"/>
          </a:p>
          <a:p>
            <a:r>
              <a:rPr lang="cs-CZ" b="1"/>
              <a:t>schopnosti obnovit dostupnost osobních údajů a přístup k nim včas v případě fyzických</a:t>
            </a:r>
            <a:br>
              <a:rPr lang="cs-CZ"/>
            </a:br>
            <a:r>
              <a:rPr lang="cs-CZ" b="1"/>
              <a:t>či technických incidentů,</a:t>
            </a:r>
            <a:endParaRPr lang="cs-CZ"/>
          </a:p>
          <a:p>
            <a:r>
              <a:rPr lang="cs-CZ" b="1"/>
              <a:t>procesu pravidelného testování, posuzování a hodnocení účinnosti zavedených</a:t>
            </a:r>
            <a:br>
              <a:rPr lang="cs-CZ"/>
            </a:br>
            <a:r>
              <a:rPr lang="cs-CZ" b="1"/>
              <a:t>technických a organizačních opatření pro zajištění bezpečnosti zpracování.</a:t>
            </a: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76</a:t>
            </a:fld>
            <a:endParaRPr lang="cs-CZ"/>
          </a:p>
        </p:txBody>
      </p:sp>
    </p:spTree>
    <p:extLst>
      <p:ext uri="{BB962C8B-B14F-4D97-AF65-F5344CB8AC3E}">
        <p14:creationId xmlns:p14="http://schemas.microsoft.com/office/powerpoint/2010/main" val="3609715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err="1"/>
              <a:t>ePrivacy</a:t>
            </a:r>
            <a:endParaRPr lang="cs-CZ"/>
          </a:p>
        </p:txBody>
      </p:sp>
      <p:sp>
        <p:nvSpPr>
          <p:cNvPr id="3" name="Content Placeholder 2"/>
          <p:cNvSpPr>
            <a:spLocks noGrp="1"/>
          </p:cNvSpPr>
          <p:nvPr>
            <p:ph idx="1"/>
          </p:nvPr>
        </p:nvSpPr>
        <p:spPr/>
        <p:txBody>
          <a:bodyPr/>
          <a:lstStyle/>
          <a:p>
            <a:r>
              <a:rPr lang="cs-CZ"/>
              <a:t>Nařízení </a:t>
            </a:r>
            <a:r>
              <a:rPr lang="cs-CZ" err="1"/>
              <a:t>ePrivacy</a:t>
            </a:r>
            <a:r>
              <a:rPr lang="cs-CZ"/>
              <a:t> stanoví pravidla </a:t>
            </a:r>
            <a:r>
              <a:rPr lang="cs-CZ" b="1"/>
              <a:t>ochrany základních práv a svobod fyzických a právnických</a:t>
            </a:r>
            <a:r>
              <a:rPr lang="cs-CZ"/>
              <a:t> </a:t>
            </a:r>
            <a:r>
              <a:rPr lang="cs-CZ" b="1"/>
              <a:t>osob při poskytování a využívání služeb elektronických komunikací, </a:t>
            </a:r>
            <a:r>
              <a:rPr lang="cs-CZ"/>
              <a:t>a zejména práv na respektování soukromého života a komunikace a ochranu fyzických osob v souvislosti se zpracováním osobních údajů.</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77</a:t>
            </a:fld>
            <a:endParaRPr lang="cs-CZ"/>
          </a:p>
        </p:txBody>
      </p:sp>
    </p:spTree>
    <p:extLst>
      <p:ext uri="{BB962C8B-B14F-4D97-AF65-F5344CB8AC3E}">
        <p14:creationId xmlns:p14="http://schemas.microsoft.com/office/powerpoint/2010/main" val="52320198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78</a:t>
            </a:fld>
            <a:endParaRPr lang="cs-CZ"/>
          </a:p>
        </p:txBody>
      </p:sp>
      <p:pic>
        <p:nvPicPr>
          <p:cNvPr id="7" name="Picture 6"/>
          <p:cNvPicPr>
            <a:picLocks noChangeAspect="1"/>
          </p:cNvPicPr>
          <p:nvPr/>
        </p:nvPicPr>
        <p:blipFill>
          <a:blip r:embed="rId2"/>
          <a:stretch>
            <a:fillRect/>
          </a:stretch>
        </p:blipFill>
        <p:spPr>
          <a:xfrm>
            <a:off x="756492" y="723522"/>
            <a:ext cx="10679015" cy="5410955"/>
          </a:xfrm>
          <a:prstGeom prst="rect">
            <a:avLst/>
          </a:prstGeom>
        </p:spPr>
      </p:pic>
    </p:spTree>
    <p:extLst>
      <p:ext uri="{BB962C8B-B14F-4D97-AF65-F5344CB8AC3E}">
        <p14:creationId xmlns:p14="http://schemas.microsoft.com/office/powerpoint/2010/main" val="389586629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Zpracování dat</a:t>
            </a:r>
            <a:endParaRPr lang="cs-CZ"/>
          </a:p>
        </p:txBody>
      </p:sp>
      <p:sp>
        <p:nvSpPr>
          <p:cNvPr id="3" name="Content Placeholder 2"/>
          <p:cNvSpPr>
            <a:spLocks noGrp="1"/>
          </p:cNvSpPr>
          <p:nvPr>
            <p:ph idx="1"/>
          </p:nvPr>
        </p:nvSpPr>
        <p:spPr/>
        <p:txBody>
          <a:bodyPr>
            <a:normAutofit/>
          </a:bodyPr>
          <a:lstStyle/>
          <a:p>
            <a:r>
              <a:rPr lang="cs-CZ"/>
              <a:t>Dle čl. 6 </a:t>
            </a:r>
            <a:r>
              <a:rPr lang="cs-CZ" err="1"/>
              <a:t>ePrivacy</a:t>
            </a:r>
            <a:r>
              <a:rPr lang="cs-CZ"/>
              <a:t> </a:t>
            </a:r>
            <a:r>
              <a:rPr lang="cs-CZ" b="1"/>
              <a:t>mohou poskytovatelé </a:t>
            </a:r>
            <a:r>
              <a:rPr lang="cs-CZ"/>
              <a:t>služeb a sítí elektronických komunikací </a:t>
            </a:r>
            <a:r>
              <a:rPr lang="cs-CZ" b="1"/>
              <a:t>zpracovávat</a:t>
            </a:r>
            <a:r>
              <a:rPr lang="cs-CZ"/>
              <a:t> </a:t>
            </a:r>
            <a:r>
              <a:rPr lang="cs-CZ" b="1"/>
              <a:t>data </a:t>
            </a:r>
            <a:r>
              <a:rPr lang="cs-CZ"/>
              <a:t>elektronických komunikací, </a:t>
            </a:r>
            <a:r>
              <a:rPr lang="cs-CZ" b="1"/>
              <a:t>pokud:</a:t>
            </a:r>
          </a:p>
          <a:p>
            <a:pPr lvl="1"/>
            <a:r>
              <a:rPr lang="cs-CZ" b="1"/>
              <a:t>je to nezbytné pro přenos komunikace, po dobu nutnou pro tento účel, nebo</a:t>
            </a:r>
            <a:endParaRPr lang="cs-CZ"/>
          </a:p>
          <a:p>
            <a:pPr lvl="1"/>
            <a:r>
              <a:rPr lang="cs-CZ" b="1"/>
              <a:t>je to nezbytné pro zachování nebo obnovení bezpečnosti služeb a sítí </a:t>
            </a:r>
            <a:r>
              <a:rPr lang="cs-CZ"/>
              <a:t>elektronických komunikací nebo </a:t>
            </a:r>
            <a:r>
              <a:rPr lang="cs-CZ" b="1"/>
              <a:t>pro odhalení technických závad </a:t>
            </a:r>
            <a:r>
              <a:rPr lang="cs-CZ"/>
              <a:t>a/nebo </a:t>
            </a:r>
            <a:r>
              <a:rPr lang="cs-CZ" b="1"/>
              <a:t>chyb v přenosu elektronických</a:t>
            </a:r>
            <a:r>
              <a:rPr lang="cs-CZ"/>
              <a:t> </a:t>
            </a:r>
            <a:r>
              <a:rPr lang="cs-CZ" b="1"/>
              <a:t>komunikací</a:t>
            </a:r>
            <a:r>
              <a:rPr lang="cs-CZ"/>
              <a:t>, po dobu nutnou pro tento účel.</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79</a:t>
            </a:fld>
            <a:endParaRPr lang="cs-CZ"/>
          </a:p>
        </p:txBody>
      </p:sp>
    </p:spTree>
    <p:extLst>
      <p:ext uri="{BB962C8B-B14F-4D97-AF65-F5344CB8AC3E}">
        <p14:creationId xmlns:p14="http://schemas.microsoft.com/office/powerpoint/2010/main" val="141397439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Digitální služba</a:t>
            </a:r>
            <a:endParaRPr lang="cs-CZ"/>
          </a:p>
        </p:txBody>
      </p:sp>
      <p:sp>
        <p:nvSpPr>
          <p:cNvPr id="3" name="Content Placeholder 2"/>
          <p:cNvSpPr>
            <a:spLocks noGrp="1"/>
          </p:cNvSpPr>
          <p:nvPr>
            <p:ph idx="1"/>
          </p:nvPr>
        </p:nvSpPr>
        <p:spPr/>
        <p:txBody>
          <a:bodyPr>
            <a:normAutofit fontScale="92500" lnSpcReduction="10000"/>
          </a:bodyPr>
          <a:lstStyle/>
          <a:p>
            <a:r>
              <a:rPr lang="cs-CZ" b="1"/>
              <a:t>Digitální službou </a:t>
            </a:r>
            <a:r>
              <a:rPr lang="cs-CZ"/>
              <a:t>se rozumí </a:t>
            </a:r>
            <a:r>
              <a:rPr lang="cs-CZ" b="1"/>
              <a:t>služba informační společnosti</a:t>
            </a:r>
            <a:r>
              <a:rPr lang="cs-CZ"/>
              <a:t>, která </a:t>
            </a:r>
            <a:r>
              <a:rPr lang="cs-CZ" b="1"/>
              <a:t>spočívá v provozování</a:t>
            </a:r>
            <a:r>
              <a:rPr lang="cs-CZ"/>
              <a:t> </a:t>
            </a:r>
            <a:r>
              <a:rPr lang="cs-CZ" b="1"/>
              <a:t>jedné ze tří níže uvedených služeb </a:t>
            </a:r>
            <a:r>
              <a:rPr lang="cs-CZ"/>
              <a:t>(on-line tržiště, internetový vyhledávač, či </a:t>
            </a:r>
            <a:r>
              <a:rPr lang="cs-CZ" err="1"/>
              <a:t>cloud</a:t>
            </a:r>
            <a:r>
              <a:rPr lang="cs-CZ"/>
              <a:t> </a:t>
            </a:r>
            <a:r>
              <a:rPr lang="cs-CZ" err="1"/>
              <a:t>computing</a:t>
            </a:r>
            <a:r>
              <a:rPr lang="cs-CZ"/>
              <a:t>).</a:t>
            </a:r>
          </a:p>
          <a:p>
            <a:r>
              <a:rPr lang="cs-CZ" b="1"/>
              <a:t>On-line tržištěm </a:t>
            </a:r>
            <a:r>
              <a:rPr lang="cs-CZ"/>
              <a:t>se dle čl. 4 odst. 17 NIS </a:t>
            </a:r>
            <a:r>
              <a:rPr lang="cs-CZ" b="1"/>
              <a:t>rozumí digitální služba, která spotřebitelům</a:t>
            </a:r>
            <a:r>
              <a:rPr lang="cs-CZ"/>
              <a:t> a </a:t>
            </a:r>
            <a:r>
              <a:rPr lang="cs-CZ" b="1"/>
              <a:t>obchodníkům </a:t>
            </a:r>
            <a:r>
              <a:rPr lang="cs-CZ"/>
              <a:t>umožňuje uzavírat s obchodníky on-line smlouvy o prodeji a o poskytnutí služeb, a to prostřednictvím internetových stránek on-line tržiště nebo prostřednictvím internetových stránek obchodníka, jež využívají výpočetních služeb poskytovaných on-line tržištěm.</a:t>
            </a:r>
            <a:br>
              <a:rPr lang="cs-CZ"/>
            </a:b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80</a:t>
            </a:fld>
            <a:endParaRPr lang="cs-CZ"/>
          </a:p>
        </p:txBody>
      </p:sp>
    </p:spTree>
    <p:extLst>
      <p:ext uri="{BB962C8B-B14F-4D97-AF65-F5344CB8AC3E}">
        <p14:creationId xmlns:p14="http://schemas.microsoft.com/office/powerpoint/2010/main" val="281423347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Digitální služba</a:t>
            </a:r>
            <a:endParaRPr lang="cs-CZ"/>
          </a:p>
        </p:txBody>
      </p:sp>
      <p:sp>
        <p:nvSpPr>
          <p:cNvPr id="3" name="Content Placeholder 2"/>
          <p:cNvSpPr>
            <a:spLocks noGrp="1"/>
          </p:cNvSpPr>
          <p:nvPr>
            <p:ph idx="1"/>
          </p:nvPr>
        </p:nvSpPr>
        <p:spPr/>
        <p:txBody>
          <a:bodyPr/>
          <a:lstStyle/>
          <a:p>
            <a:r>
              <a:rPr lang="cs-CZ" b="1"/>
              <a:t>Internetovým vyhledávačem </a:t>
            </a:r>
            <a:r>
              <a:rPr lang="cs-CZ"/>
              <a:t>se dle čl. 4 odst. 18 NIS </a:t>
            </a:r>
            <a:r>
              <a:rPr lang="cs-CZ" b="1"/>
              <a:t>rozumí </a:t>
            </a:r>
            <a:r>
              <a:rPr lang="cs-CZ"/>
              <a:t>digitální </a:t>
            </a:r>
            <a:r>
              <a:rPr lang="cs-CZ" b="1"/>
              <a:t>služba, která</a:t>
            </a:r>
            <a:r>
              <a:rPr lang="cs-CZ"/>
              <a:t> </a:t>
            </a:r>
            <a:r>
              <a:rPr lang="cs-CZ" b="1"/>
              <a:t>uživatelům umožňuje provádět vyhledávání v zásadě na všech internetových stránkách</a:t>
            </a:r>
            <a:r>
              <a:rPr lang="cs-CZ"/>
              <a:t> nebo na internetových stránkách v určitém jazyce, a to </a:t>
            </a:r>
            <a:r>
              <a:rPr lang="cs-CZ" b="1"/>
              <a:t>na základě dotazu </a:t>
            </a:r>
            <a:r>
              <a:rPr lang="cs-CZ"/>
              <a:t>na jakékoli téma v podobě klíčového slova, sousloví nebo jiného zadání, </a:t>
            </a:r>
            <a:r>
              <a:rPr lang="cs-CZ" b="1"/>
              <a:t>přičemž služba poskytuje odkazy</a:t>
            </a:r>
            <a:r>
              <a:rPr lang="cs-CZ"/>
              <a:t>, na nichž lze nalézt informace související s požadovaným obsahem.</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81</a:t>
            </a:fld>
            <a:endParaRPr lang="cs-CZ"/>
          </a:p>
        </p:txBody>
      </p:sp>
    </p:spTree>
    <p:extLst>
      <p:ext uri="{BB962C8B-B14F-4D97-AF65-F5344CB8AC3E}">
        <p14:creationId xmlns:p14="http://schemas.microsoft.com/office/powerpoint/2010/main" val="116977162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Digitální služba</a:t>
            </a:r>
            <a:endParaRPr lang="cs-CZ"/>
          </a:p>
        </p:txBody>
      </p:sp>
      <p:sp>
        <p:nvSpPr>
          <p:cNvPr id="3" name="Content Placeholder 2"/>
          <p:cNvSpPr>
            <a:spLocks noGrp="1"/>
          </p:cNvSpPr>
          <p:nvPr>
            <p:ph idx="1"/>
          </p:nvPr>
        </p:nvSpPr>
        <p:spPr/>
        <p:txBody>
          <a:bodyPr>
            <a:normAutofit/>
          </a:bodyPr>
          <a:lstStyle/>
          <a:p>
            <a:r>
              <a:rPr lang="cs-CZ" b="1" err="1"/>
              <a:t>Cloud</a:t>
            </a:r>
            <a:r>
              <a:rPr lang="cs-CZ" b="1"/>
              <a:t> </a:t>
            </a:r>
            <a:r>
              <a:rPr lang="cs-CZ" b="1" err="1"/>
              <a:t>computing</a:t>
            </a:r>
            <a:r>
              <a:rPr lang="cs-CZ" b="1"/>
              <a:t> </a:t>
            </a:r>
            <a:r>
              <a:rPr lang="cs-CZ"/>
              <a:t>umožňuje užívání (sdílené) informačních technologií </a:t>
            </a:r>
            <a:r>
              <a:rPr lang="cs-CZ" err="1"/>
              <a:t>technologií</a:t>
            </a:r>
            <a:r>
              <a:rPr lang="cs-CZ"/>
              <a:t> (jak počítačových systémů, tak i softwaru) více uživateli (prostřednictvím sítě) formou poskytované služby. Smyslem </a:t>
            </a:r>
            <a:r>
              <a:rPr lang="cs-CZ" err="1"/>
              <a:t>cloud</a:t>
            </a:r>
            <a:r>
              <a:rPr lang="cs-CZ"/>
              <a:t> </a:t>
            </a:r>
            <a:r>
              <a:rPr lang="cs-CZ" err="1"/>
              <a:t>computingu</a:t>
            </a:r>
            <a:r>
              <a:rPr lang="cs-CZ"/>
              <a:t> je efektivnější utilizace výpočetního výkonu a aplikací.</a:t>
            </a:r>
            <a:br>
              <a:rPr lang="cs-CZ"/>
            </a:br>
            <a:r>
              <a:rPr lang="cs-CZ"/>
              <a:t>Další možnou definicí </a:t>
            </a:r>
            <a:r>
              <a:rPr lang="cs-CZ" err="1"/>
              <a:t>cloud</a:t>
            </a:r>
            <a:r>
              <a:rPr lang="cs-CZ"/>
              <a:t> </a:t>
            </a:r>
            <a:r>
              <a:rPr lang="cs-CZ" err="1"/>
              <a:t>computingu</a:t>
            </a:r>
            <a:r>
              <a:rPr lang="cs-CZ"/>
              <a:t> je, že jde o </a:t>
            </a:r>
            <a:r>
              <a:rPr lang="cs-CZ" i="1"/>
              <a:t>„poskytování výpočetních služeb uživatelům,</a:t>
            </a:r>
            <a:r>
              <a:rPr lang="cs-CZ"/>
              <a:t> </a:t>
            </a:r>
            <a:r>
              <a:rPr lang="cs-CZ" i="1"/>
              <a:t>skrze síťovou architekturu, která umožňují vzdálený přístup k těmto službám. Tyto služby jsou</a:t>
            </a:r>
            <a:br>
              <a:rPr lang="cs-CZ"/>
            </a:br>
            <a:r>
              <a:rPr lang="cs-CZ" i="1"/>
              <a:t>zpravidla poskytovány třetí stranou.“</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82</a:t>
            </a:fld>
            <a:endParaRPr lang="cs-CZ"/>
          </a:p>
        </p:txBody>
      </p:sp>
    </p:spTree>
    <p:extLst>
      <p:ext uri="{BB962C8B-B14F-4D97-AF65-F5344CB8AC3E}">
        <p14:creationId xmlns:p14="http://schemas.microsoft.com/office/powerpoint/2010/main" val="99454154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Rozdělení </a:t>
            </a:r>
            <a:r>
              <a:rPr lang="cs-CZ" b="1" err="1"/>
              <a:t>cloud</a:t>
            </a:r>
            <a:r>
              <a:rPr lang="cs-CZ" b="1"/>
              <a:t> </a:t>
            </a:r>
            <a:r>
              <a:rPr lang="cs-CZ" b="1" err="1"/>
              <a:t>computingu</a:t>
            </a:r>
            <a:endParaRPr lang="cs-CZ" b="1"/>
          </a:p>
        </p:txBody>
      </p:sp>
      <p:sp>
        <p:nvSpPr>
          <p:cNvPr id="3" name="Content Placeholder 2"/>
          <p:cNvSpPr>
            <a:spLocks noGrp="1"/>
          </p:cNvSpPr>
          <p:nvPr>
            <p:ph idx="1"/>
          </p:nvPr>
        </p:nvSpPr>
        <p:spPr/>
        <p:txBody>
          <a:bodyPr>
            <a:normAutofit/>
          </a:bodyPr>
          <a:lstStyle/>
          <a:p>
            <a:r>
              <a:rPr lang="cs-CZ" b="1"/>
              <a:t>Podle služby jakou </a:t>
            </a:r>
            <a:r>
              <a:rPr lang="cs-CZ" b="1" err="1"/>
              <a:t>cloud</a:t>
            </a:r>
            <a:r>
              <a:rPr lang="cs-CZ" b="1"/>
              <a:t> </a:t>
            </a:r>
            <a:r>
              <a:rPr lang="cs-CZ" b="1" err="1"/>
              <a:t>computing</a:t>
            </a:r>
            <a:br>
              <a:rPr lang="cs-CZ"/>
            </a:br>
            <a:r>
              <a:rPr lang="cs-CZ" b="1"/>
              <a:t>poskytuje </a:t>
            </a:r>
            <a:r>
              <a:rPr lang="cs-CZ"/>
              <a:t>je možné definovat tři hlavní typy služeb (distribuční modely). Jedná se o:</a:t>
            </a:r>
          </a:p>
          <a:p>
            <a:pPr lvl="1"/>
            <a:r>
              <a:rPr lang="cs-CZ" b="1" err="1"/>
              <a:t>Infrastructure</a:t>
            </a:r>
            <a:r>
              <a:rPr lang="cs-CZ" b="1"/>
              <a:t>-as-a-</a:t>
            </a:r>
            <a:r>
              <a:rPr lang="cs-CZ" b="1" err="1"/>
              <a:t>Service</a:t>
            </a:r>
            <a:r>
              <a:rPr lang="cs-CZ" b="1"/>
              <a:t> (</a:t>
            </a:r>
            <a:r>
              <a:rPr lang="cs-CZ" b="1" err="1"/>
              <a:t>IaaS</a:t>
            </a:r>
            <a:r>
              <a:rPr lang="cs-CZ" b="1"/>
              <a:t>). Infrastruktura jako služba </a:t>
            </a:r>
            <a:r>
              <a:rPr lang="cs-CZ"/>
              <a:t>zavazuje poskytovatele poskytnout infrastrukturu (hardware) jiným uživatelům (typickým příkladem </a:t>
            </a:r>
            <a:r>
              <a:rPr lang="cs-CZ" err="1"/>
              <a:t>IaaS</a:t>
            </a:r>
            <a:r>
              <a:rPr lang="cs-CZ"/>
              <a:t> je vizualizace). V případech </a:t>
            </a:r>
            <a:r>
              <a:rPr lang="cs-CZ" err="1"/>
              <a:t>IaaS</a:t>
            </a:r>
            <a:r>
              <a:rPr lang="cs-CZ"/>
              <a:t> uživatel běžně platí za to, co využívá. Tento systém je také nazýván „</a:t>
            </a:r>
            <a:r>
              <a:rPr lang="cs-CZ" i="1"/>
              <a:t>utility </a:t>
            </a:r>
            <a:r>
              <a:rPr lang="cs-CZ" i="1" err="1"/>
              <a:t>computing</a:t>
            </a:r>
            <a:r>
              <a:rPr lang="cs-CZ"/>
              <a:t>“. Typickými příklady </a:t>
            </a:r>
            <a:r>
              <a:rPr lang="cs-CZ" err="1"/>
              <a:t>IaaS</a:t>
            </a:r>
            <a:r>
              <a:rPr lang="cs-CZ"/>
              <a:t> jsou Amazon WS, </a:t>
            </a:r>
            <a:r>
              <a:rPr lang="cs-CZ" err="1"/>
              <a:t>Rackspace</a:t>
            </a:r>
            <a:r>
              <a:rPr lang="cs-CZ"/>
              <a:t> aj.</a:t>
            </a:r>
            <a:br>
              <a:rPr lang="cs-CZ"/>
            </a:br>
            <a:br>
              <a:rPr lang="cs-CZ"/>
            </a:b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83</a:t>
            </a:fld>
            <a:endParaRPr lang="cs-CZ"/>
          </a:p>
        </p:txBody>
      </p:sp>
    </p:spTree>
    <p:extLst>
      <p:ext uri="{BB962C8B-B14F-4D97-AF65-F5344CB8AC3E}">
        <p14:creationId xmlns:p14="http://schemas.microsoft.com/office/powerpoint/2010/main" val="105942230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Rozdělení </a:t>
            </a:r>
            <a:r>
              <a:rPr lang="cs-CZ" b="1" err="1"/>
              <a:t>cloud</a:t>
            </a:r>
            <a:r>
              <a:rPr lang="cs-CZ" b="1"/>
              <a:t> </a:t>
            </a:r>
            <a:r>
              <a:rPr lang="cs-CZ" b="1" err="1"/>
              <a:t>computingu</a:t>
            </a:r>
            <a:endParaRPr lang="cs-CZ"/>
          </a:p>
        </p:txBody>
      </p:sp>
      <p:sp>
        <p:nvSpPr>
          <p:cNvPr id="3" name="Content Placeholder 2"/>
          <p:cNvSpPr>
            <a:spLocks noGrp="1"/>
          </p:cNvSpPr>
          <p:nvPr>
            <p:ph idx="1"/>
          </p:nvPr>
        </p:nvSpPr>
        <p:spPr/>
        <p:txBody>
          <a:bodyPr/>
          <a:lstStyle/>
          <a:p>
            <a:r>
              <a:rPr lang="cs-CZ" b="1" err="1"/>
              <a:t>Platform</a:t>
            </a:r>
            <a:r>
              <a:rPr lang="cs-CZ" b="1"/>
              <a:t>-as-a-</a:t>
            </a:r>
            <a:r>
              <a:rPr lang="cs-CZ" b="1" err="1"/>
              <a:t>Service</a:t>
            </a:r>
            <a:r>
              <a:rPr lang="cs-CZ" b="1"/>
              <a:t> (</a:t>
            </a:r>
            <a:r>
              <a:rPr lang="cs-CZ" b="1" err="1"/>
              <a:t>PaaS</a:t>
            </a:r>
            <a:r>
              <a:rPr lang="cs-CZ" b="1"/>
              <a:t>). Platforma jako služba </a:t>
            </a:r>
            <a:r>
              <a:rPr lang="cs-CZ"/>
              <a:t>je také nazývána „</a:t>
            </a:r>
            <a:r>
              <a:rPr lang="cs-CZ" b="1" err="1"/>
              <a:t>cloudware</a:t>
            </a:r>
            <a:r>
              <a:rPr lang="cs-CZ"/>
              <a:t>“ a poskytuje uživateli „</a:t>
            </a:r>
            <a:r>
              <a:rPr lang="cs-CZ" err="1"/>
              <a:t>computing</a:t>
            </a:r>
            <a:r>
              <a:rPr lang="cs-CZ"/>
              <a:t> </a:t>
            </a:r>
            <a:r>
              <a:rPr lang="cs-CZ" err="1"/>
              <a:t>platform</a:t>
            </a:r>
            <a:r>
              <a:rPr lang="cs-CZ"/>
              <a:t>“ (v podobě jak hardwarové architektury, tak softwaru – v rámci této služby je možné kombinovat, modifikovat a vyvíjet software, respektive aplikace) a „</a:t>
            </a:r>
            <a:r>
              <a:rPr lang="cs-CZ" i="1" err="1"/>
              <a:t>solution</a:t>
            </a:r>
            <a:r>
              <a:rPr lang="cs-CZ" i="1"/>
              <a:t> </a:t>
            </a:r>
            <a:r>
              <a:rPr lang="cs-CZ" i="1" err="1"/>
              <a:t>stack</a:t>
            </a:r>
            <a:r>
              <a:rPr lang="cs-CZ"/>
              <a:t>“. Jako příklady </a:t>
            </a:r>
            <a:r>
              <a:rPr lang="cs-CZ" err="1"/>
              <a:t>PaaS</a:t>
            </a:r>
            <a:r>
              <a:rPr lang="cs-CZ"/>
              <a:t> je možné uvést Google </a:t>
            </a:r>
            <a:r>
              <a:rPr lang="cs-CZ" err="1"/>
              <a:t>App</a:t>
            </a:r>
            <a:r>
              <a:rPr lang="cs-CZ"/>
              <a:t> </a:t>
            </a:r>
            <a:r>
              <a:rPr lang="cs-CZ" err="1"/>
              <a:t>Engine</a:t>
            </a:r>
            <a:r>
              <a:rPr lang="cs-CZ"/>
              <a:t>.</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84</a:t>
            </a:fld>
            <a:endParaRPr lang="cs-CZ"/>
          </a:p>
        </p:txBody>
      </p:sp>
    </p:spTree>
    <p:extLst>
      <p:ext uri="{BB962C8B-B14F-4D97-AF65-F5344CB8AC3E}">
        <p14:creationId xmlns:p14="http://schemas.microsoft.com/office/powerpoint/2010/main" val="119869655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Rozdělení </a:t>
            </a:r>
            <a:r>
              <a:rPr lang="cs-CZ" b="1" err="1"/>
              <a:t>cloud</a:t>
            </a:r>
            <a:r>
              <a:rPr lang="cs-CZ" b="1"/>
              <a:t> </a:t>
            </a:r>
            <a:r>
              <a:rPr lang="cs-CZ" b="1" err="1"/>
              <a:t>computingu</a:t>
            </a:r>
            <a:endParaRPr lang="cs-CZ"/>
          </a:p>
        </p:txBody>
      </p:sp>
      <p:sp>
        <p:nvSpPr>
          <p:cNvPr id="3" name="Content Placeholder 2"/>
          <p:cNvSpPr>
            <a:spLocks noGrp="1"/>
          </p:cNvSpPr>
          <p:nvPr>
            <p:ph idx="1"/>
          </p:nvPr>
        </p:nvSpPr>
        <p:spPr/>
        <p:txBody>
          <a:bodyPr/>
          <a:lstStyle/>
          <a:p>
            <a:r>
              <a:rPr lang="cs-CZ" b="1"/>
              <a:t>Software-as-a-</a:t>
            </a:r>
            <a:r>
              <a:rPr lang="cs-CZ" b="1" err="1"/>
              <a:t>Service</a:t>
            </a:r>
            <a:r>
              <a:rPr lang="cs-CZ" b="1"/>
              <a:t> (</a:t>
            </a:r>
            <a:r>
              <a:rPr lang="cs-CZ" b="1" err="1"/>
              <a:t>SaaS</a:t>
            </a:r>
            <a:r>
              <a:rPr lang="cs-CZ" b="1"/>
              <a:t>)</a:t>
            </a:r>
            <a:r>
              <a:rPr lang="cs-CZ"/>
              <a:t>. </a:t>
            </a:r>
            <a:r>
              <a:rPr lang="cs-CZ" b="1"/>
              <a:t>Software jako služba </a:t>
            </a:r>
            <a:r>
              <a:rPr lang="cs-CZ"/>
              <a:t>je vlastně způsobem poskytování aplikace uživateli. Aplikace je zpravidla licencována a uživatelé si tak „kupují“ přístup k aplikaci, nikoli aplikaci jako dílo. Příkladem jsou např. Google </a:t>
            </a:r>
            <a:r>
              <a:rPr lang="cs-CZ" err="1"/>
              <a:t>Apps</a:t>
            </a:r>
            <a:r>
              <a:rPr lang="cs-CZ"/>
              <a:t>. Nejčastějšími příklady </a:t>
            </a:r>
            <a:r>
              <a:rPr lang="cs-CZ" err="1"/>
              <a:t>SaaS</a:t>
            </a:r>
            <a:r>
              <a:rPr lang="cs-CZ"/>
              <a:t> aplikací jsou: desktop as a </a:t>
            </a:r>
            <a:r>
              <a:rPr lang="cs-CZ" err="1"/>
              <a:t>service</a:t>
            </a:r>
            <a:r>
              <a:rPr lang="cs-CZ"/>
              <a:t>, business </a:t>
            </a:r>
            <a:r>
              <a:rPr lang="cs-CZ" err="1"/>
              <a:t>process</a:t>
            </a:r>
            <a:r>
              <a:rPr lang="cs-CZ"/>
              <a:t> as a </a:t>
            </a:r>
            <a:r>
              <a:rPr lang="cs-CZ" err="1"/>
              <a:t>service</a:t>
            </a:r>
            <a:r>
              <a:rPr lang="cs-CZ"/>
              <a:t>, </a:t>
            </a:r>
            <a:r>
              <a:rPr lang="cs-CZ" err="1"/>
              <a:t>communication</a:t>
            </a:r>
            <a:r>
              <a:rPr lang="cs-CZ"/>
              <a:t> as a </a:t>
            </a:r>
            <a:r>
              <a:rPr lang="cs-CZ" err="1"/>
              <a:t>service</a:t>
            </a:r>
            <a:r>
              <a:rPr lang="cs-CZ"/>
              <a:t> aj.</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85</a:t>
            </a:fld>
            <a:endParaRPr lang="cs-CZ"/>
          </a:p>
        </p:txBody>
      </p:sp>
    </p:spTree>
    <p:extLst>
      <p:ext uri="{BB962C8B-B14F-4D97-AF65-F5344CB8AC3E}">
        <p14:creationId xmlns:p14="http://schemas.microsoft.com/office/powerpoint/2010/main" val="157960871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Rozdělení </a:t>
            </a:r>
            <a:r>
              <a:rPr lang="cs-CZ" b="1" err="1"/>
              <a:t>cloud</a:t>
            </a:r>
            <a:r>
              <a:rPr lang="cs-CZ" b="1"/>
              <a:t> </a:t>
            </a:r>
            <a:r>
              <a:rPr lang="cs-CZ" b="1" err="1"/>
              <a:t>computingu</a:t>
            </a:r>
            <a:endParaRPr lang="cs-CZ"/>
          </a:p>
        </p:txBody>
      </p:sp>
      <p:sp>
        <p:nvSpPr>
          <p:cNvPr id="3" name="Content Placeholder 2"/>
          <p:cNvSpPr>
            <a:spLocks noGrp="1"/>
          </p:cNvSpPr>
          <p:nvPr>
            <p:ph idx="1"/>
          </p:nvPr>
        </p:nvSpPr>
        <p:spPr/>
        <p:txBody>
          <a:bodyPr/>
          <a:lstStyle/>
          <a:p>
            <a:pPr lvl="1"/>
            <a:r>
              <a:rPr lang="cs-CZ" b="1"/>
              <a:t>Hybridní </a:t>
            </a:r>
            <a:r>
              <a:rPr lang="cs-CZ" b="1" err="1"/>
              <a:t>cloud</a:t>
            </a:r>
            <a:r>
              <a:rPr lang="cs-CZ" b="1"/>
              <a:t> </a:t>
            </a:r>
            <a:r>
              <a:rPr lang="cs-CZ"/>
              <a:t>je příkladem </a:t>
            </a:r>
            <a:r>
              <a:rPr lang="cs-CZ" err="1"/>
              <a:t>cloudu</a:t>
            </a:r>
            <a:r>
              <a:rPr lang="cs-CZ"/>
              <a:t>, kdy je infrastruktura </a:t>
            </a:r>
            <a:r>
              <a:rPr lang="cs-CZ" err="1"/>
              <a:t>cloudu</a:t>
            </a:r>
            <a:r>
              <a:rPr lang="cs-CZ"/>
              <a:t> sdílena několika firmami, společnostmi, skupinami jedinců aj. V současnosti se jedná o nejběžnější formu </a:t>
            </a:r>
            <a:r>
              <a:rPr lang="cs-CZ" err="1"/>
              <a:t>cloud</a:t>
            </a:r>
            <a:r>
              <a:rPr lang="cs-CZ"/>
              <a:t> </a:t>
            </a:r>
            <a:r>
              <a:rPr lang="cs-CZ" err="1"/>
              <a:t>computingu</a:t>
            </a:r>
            <a:r>
              <a:rPr lang="cs-CZ"/>
              <a:t>.</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86</a:t>
            </a:fld>
            <a:endParaRPr lang="cs-CZ"/>
          </a:p>
        </p:txBody>
      </p:sp>
    </p:spTree>
    <p:extLst>
      <p:ext uri="{BB962C8B-B14F-4D97-AF65-F5344CB8AC3E}">
        <p14:creationId xmlns:p14="http://schemas.microsoft.com/office/powerpoint/2010/main" val="286853917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Zkratky</a:t>
            </a:r>
          </a:p>
        </p:txBody>
      </p:sp>
      <p:sp>
        <p:nvSpPr>
          <p:cNvPr id="3" name="Content Placeholder 2"/>
          <p:cNvSpPr>
            <a:spLocks noGrp="1"/>
          </p:cNvSpPr>
          <p:nvPr>
            <p:ph idx="1"/>
          </p:nvPr>
        </p:nvSpPr>
        <p:spPr/>
        <p:txBody>
          <a:bodyPr/>
          <a:lstStyle/>
          <a:p>
            <a:r>
              <a:rPr lang="cs-CZ"/>
              <a:t>Zkratky </a:t>
            </a:r>
            <a:r>
              <a:rPr lang="cs-CZ" b="1"/>
              <a:t>CERT </a:t>
            </a:r>
            <a:r>
              <a:rPr lang="cs-CZ"/>
              <a:t>(</a:t>
            </a:r>
            <a:r>
              <a:rPr lang="cs-CZ" b="1" err="1"/>
              <a:t>C</a:t>
            </a:r>
            <a:r>
              <a:rPr lang="cs-CZ" err="1"/>
              <a:t>omputer</a:t>
            </a:r>
            <a:r>
              <a:rPr lang="cs-CZ"/>
              <a:t> </a:t>
            </a:r>
            <a:r>
              <a:rPr lang="cs-CZ" b="1" err="1"/>
              <a:t>E</a:t>
            </a:r>
            <a:r>
              <a:rPr lang="cs-CZ" err="1"/>
              <a:t>mergency</a:t>
            </a:r>
            <a:r>
              <a:rPr lang="cs-CZ"/>
              <a:t> </a:t>
            </a:r>
            <a:r>
              <a:rPr lang="cs-CZ" b="1"/>
              <a:t>R</a:t>
            </a:r>
            <a:r>
              <a:rPr lang="cs-CZ"/>
              <a:t>esponse </a:t>
            </a:r>
            <a:r>
              <a:rPr lang="cs-CZ" b="1"/>
              <a:t>T</a:t>
            </a:r>
            <a:r>
              <a:rPr lang="cs-CZ"/>
              <a:t>eam) či </a:t>
            </a:r>
            <a:r>
              <a:rPr lang="cs-CZ" b="1"/>
              <a:t>CSIRT </a:t>
            </a:r>
            <a:r>
              <a:rPr lang="cs-CZ"/>
              <a:t>(</a:t>
            </a:r>
            <a:r>
              <a:rPr lang="cs-CZ" b="1" err="1"/>
              <a:t>C</a:t>
            </a:r>
            <a:r>
              <a:rPr lang="cs-CZ" err="1"/>
              <a:t>omputer</a:t>
            </a:r>
            <a:r>
              <a:rPr lang="cs-CZ"/>
              <a:t> </a:t>
            </a:r>
            <a:r>
              <a:rPr lang="cs-CZ" b="1" err="1"/>
              <a:t>S</a:t>
            </a:r>
            <a:r>
              <a:rPr lang="cs-CZ" err="1"/>
              <a:t>ecurity</a:t>
            </a:r>
            <a:r>
              <a:rPr lang="cs-CZ"/>
              <a:t> </a:t>
            </a:r>
            <a:r>
              <a:rPr lang="cs-CZ" b="1"/>
              <a:t>I</a:t>
            </a:r>
            <a:r>
              <a:rPr lang="cs-CZ"/>
              <a:t>ncident </a:t>
            </a:r>
            <a:r>
              <a:rPr lang="cs-CZ" b="1"/>
              <a:t>R</a:t>
            </a:r>
            <a:r>
              <a:rPr lang="cs-CZ"/>
              <a:t>esponse </a:t>
            </a:r>
            <a:r>
              <a:rPr lang="cs-CZ" b="1"/>
              <a:t>T</a:t>
            </a:r>
            <a:r>
              <a:rPr lang="cs-CZ"/>
              <a:t>eam) jsou využívány pro označení týmů, které jsou zodpovědné za řešení bezpečnostních incidentů, z pohledu uživatelů nebo jiných bezpečnostních týmů. Podstatné je, aby tyto týmy měly předem jasně vymezenou oblast své působnosti.</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87</a:t>
            </a:fld>
            <a:endParaRPr lang="cs-CZ"/>
          </a:p>
        </p:txBody>
      </p:sp>
    </p:spTree>
    <p:extLst>
      <p:ext uri="{BB962C8B-B14F-4D97-AF65-F5344CB8AC3E}">
        <p14:creationId xmlns:p14="http://schemas.microsoft.com/office/powerpoint/2010/main" val="362760061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625996" y="3088641"/>
            <a:ext cx="8896944" cy="1440191"/>
          </a:xfrm>
        </p:spPr>
        <p:txBody>
          <a:bodyPr/>
          <a:lstStyle/>
          <a:p>
            <a:r>
              <a:rPr lang="en-US">
                <a:solidFill>
                  <a:schemeClr val="accent5">
                    <a:lumMod val="40000"/>
                    <a:lumOff val="60000"/>
                  </a:schemeClr>
                </a:solidFill>
              </a:rPr>
              <a:t>Module 3: Network Security Concepts</a:t>
            </a:r>
          </a:p>
        </p:txBody>
      </p:sp>
      <p:sp>
        <p:nvSpPr>
          <p:cNvPr id="7" name="Subtitle 6"/>
          <p:cNvSpPr>
            <a:spLocks noGrp="1"/>
          </p:cNvSpPr>
          <p:nvPr>
            <p:ph type="subTitle" idx="1"/>
          </p:nvPr>
        </p:nvSpPr>
        <p:spPr>
          <a:xfrm>
            <a:off x="625995" y="5079368"/>
            <a:ext cx="5073055" cy="1202899"/>
          </a:xfrm>
        </p:spPr>
        <p:txBody>
          <a:bodyPr/>
          <a:lstStyle/>
          <a:p>
            <a:pPr>
              <a:spcBef>
                <a:spcPts val="0"/>
              </a:spcBef>
            </a:pPr>
            <a:r>
              <a:rPr lang="en-US">
                <a:solidFill>
                  <a:schemeClr val="accent5">
                    <a:lumMod val="40000"/>
                    <a:lumOff val="60000"/>
                  </a:schemeClr>
                </a:solidFill>
              </a:rPr>
              <a:t>Enterprise Networking, Security, and Automation v7.0</a:t>
            </a:r>
          </a:p>
          <a:p>
            <a:pPr>
              <a:spcBef>
                <a:spcPts val="0"/>
              </a:spcBef>
            </a:pPr>
            <a:r>
              <a:rPr lang="en-US">
                <a:solidFill>
                  <a:schemeClr val="accent5">
                    <a:lumMod val="40000"/>
                    <a:lumOff val="60000"/>
                  </a:schemeClr>
                </a:solidFill>
              </a:rPr>
              <a:t>(ENSA)</a:t>
            </a:r>
          </a:p>
          <a:p>
            <a:endParaRPr lang="en-US"/>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302001" y="0"/>
            <a:ext cx="11127317" cy="975783"/>
          </a:xfrm>
        </p:spPr>
        <p:txBody>
          <a:bodyPr/>
          <a:lstStyle/>
          <a:p>
            <a:r>
              <a:rPr lang="en-US" sz="2133"/>
              <a:t>Cryptography</a:t>
            </a:r>
            <a:br>
              <a:rPr lang="en-US"/>
            </a:br>
            <a:r>
              <a:rPr lang="en-US" sz="3200"/>
              <a:t>Securing Communications</a:t>
            </a:r>
          </a:p>
        </p:txBody>
      </p:sp>
      <p:sp>
        <p:nvSpPr>
          <p:cNvPr id="4" name="Content Placeholder 3">
            <a:extLst>
              <a:ext uri="{FF2B5EF4-FFF2-40B4-BE49-F238E27FC236}">
                <a16:creationId xmlns:a16="http://schemas.microsoft.com/office/drawing/2014/main" id="{26FC2A05-0E2C-1D41-A2E1-DADF0EB8DA11}"/>
              </a:ext>
            </a:extLst>
          </p:cNvPr>
          <p:cNvSpPr>
            <a:spLocks noGrp="1"/>
          </p:cNvSpPr>
          <p:nvPr>
            <p:ph idx="1"/>
          </p:nvPr>
        </p:nvSpPr>
        <p:spPr>
          <a:xfrm>
            <a:off x="632883" y="975783"/>
            <a:ext cx="11040076" cy="4919863"/>
          </a:xfrm>
        </p:spPr>
        <p:txBody>
          <a:bodyPr/>
          <a:lstStyle/>
          <a:p>
            <a:pPr marL="457189" indent="-457189" algn="l">
              <a:buFont typeface="Arial" panose="020B0604020202020204" pitchFamily="34" charset="0"/>
              <a:buChar char="•"/>
            </a:pPr>
            <a:r>
              <a:rPr lang="en-US" sz="2133">
                <a:solidFill>
                  <a:srgbClr val="000000"/>
                </a:solidFill>
              </a:rPr>
              <a:t>Organizations must provide support to secure the data as it travels across links. This may include internal traffic, but it is even more important to protect the data that travels outside of the organization.</a:t>
            </a:r>
          </a:p>
          <a:p>
            <a:pPr marL="457189" indent="-457189" algn="l">
              <a:buFont typeface="Arial" panose="020B0604020202020204" pitchFamily="34" charset="0"/>
              <a:buChar char="•"/>
            </a:pPr>
            <a:r>
              <a:rPr lang="en-US" sz="2133">
                <a:solidFill>
                  <a:srgbClr val="000000"/>
                </a:solidFill>
              </a:rPr>
              <a:t>These are the four elements of secure communications:</a:t>
            </a:r>
          </a:p>
          <a:p>
            <a:pPr marL="554633" lvl="1" indent="-457189"/>
            <a:r>
              <a:rPr lang="en-US" sz="1600" b="1">
                <a:solidFill>
                  <a:srgbClr val="000000"/>
                </a:solidFill>
              </a:rPr>
              <a:t>Data Integrity</a:t>
            </a:r>
            <a:r>
              <a:rPr lang="en-US" sz="1600">
                <a:solidFill>
                  <a:srgbClr val="000000"/>
                </a:solidFill>
              </a:rPr>
              <a:t> - Guarantees that the message was not altered. Integrity is ensured by implementing either Message Digest version 5 (MD5) or Secure Hash Algorithm (SHA) hash-generating algorithms.</a:t>
            </a:r>
          </a:p>
          <a:p>
            <a:pPr marL="554633" lvl="1" indent="-457189"/>
            <a:r>
              <a:rPr lang="en-US" sz="1600" b="1">
                <a:solidFill>
                  <a:srgbClr val="000000"/>
                </a:solidFill>
              </a:rPr>
              <a:t>Origin Authentication</a:t>
            </a:r>
            <a:r>
              <a:rPr lang="en-US" sz="1600">
                <a:solidFill>
                  <a:srgbClr val="000000"/>
                </a:solidFill>
              </a:rPr>
              <a:t> - Guarantees that the message is not a forgery and does come from whom it states. Many modern networks ensure authentication with protocols, such as hash message authentication code (HMAC).</a:t>
            </a:r>
          </a:p>
          <a:p>
            <a:pPr marL="554633" lvl="1" indent="-457189"/>
            <a:r>
              <a:rPr lang="en-US" sz="1600" b="1">
                <a:solidFill>
                  <a:srgbClr val="000000"/>
                </a:solidFill>
              </a:rPr>
              <a:t>Data Confidentiality</a:t>
            </a:r>
            <a:r>
              <a:rPr lang="en-US" sz="1600">
                <a:solidFill>
                  <a:srgbClr val="000000"/>
                </a:solidFill>
              </a:rPr>
              <a:t> - Guarantees that only authorized users can read the message. Data confidentiality is implemented using symmetric and asymmetric encryption algorithms.</a:t>
            </a:r>
          </a:p>
          <a:p>
            <a:pPr marL="554633" lvl="1" indent="-457189"/>
            <a:r>
              <a:rPr lang="en-US" sz="1600" b="1">
                <a:solidFill>
                  <a:srgbClr val="000000"/>
                </a:solidFill>
              </a:rPr>
              <a:t>Data Non-Repudiation</a:t>
            </a:r>
            <a:r>
              <a:rPr lang="en-US" sz="1600">
                <a:solidFill>
                  <a:srgbClr val="000000"/>
                </a:solidFill>
              </a:rPr>
              <a:t> - Guarantees that the sender cannot repudiate, or refute, the validity of a message sent. Nonrepudiation relies on the fact that only the sender has the unique characteristics or signature for how that message is treated.</a:t>
            </a:r>
          </a:p>
          <a:p>
            <a:pPr marL="457189" indent="-457189" algn="l">
              <a:buFont typeface="Arial" panose="020B0604020202020204" pitchFamily="34" charset="0"/>
              <a:buChar char="•"/>
            </a:pPr>
            <a:r>
              <a:rPr lang="en-US" sz="2133">
                <a:solidFill>
                  <a:srgbClr val="000000"/>
                </a:solidFill>
              </a:rPr>
              <a:t>Cryptography can be used almost anywhere that there is data communication. In fact, the trend is toward all communication being encrypted.</a:t>
            </a:r>
          </a:p>
          <a:p>
            <a:pPr marL="457189" indent="-457189" algn="l">
              <a:buFont typeface="Arial" panose="020B0604020202020204" pitchFamily="34" charset="0"/>
              <a:buChar char="•"/>
            </a:pPr>
            <a:endParaRPr lang="en-US" sz="2133">
              <a:solidFill>
                <a:srgbClr val="000000"/>
              </a:solidFill>
            </a:endParaRPr>
          </a:p>
        </p:txBody>
      </p:sp>
    </p:spTree>
    <p:extLst>
      <p:ext uri="{BB962C8B-B14F-4D97-AF65-F5344CB8AC3E}">
        <p14:creationId xmlns:p14="http://schemas.microsoft.com/office/powerpoint/2010/main" val="2899621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US" sz="2133"/>
              <a:t>Cryptography</a:t>
            </a:r>
            <a:br>
              <a:rPr lang="en-US"/>
            </a:br>
            <a:r>
              <a:rPr lang="en-US" sz="3200"/>
              <a:t>Data Integrity</a:t>
            </a:r>
          </a:p>
        </p:txBody>
      </p:sp>
      <p:sp>
        <p:nvSpPr>
          <p:cNvPr id="5" name="Content Placeholder 4">
            <a:extLst>
              <a:ext uri="{FF2B5EF4-FFF2-40B4-BE49-F238E27FC236}">
                <a16:creationId xmlns:a16="http://schemas.microsoft.com/office/drawing/2014/main" id="{F71588E5-395F-0346-9E8C-9E9C4463AA55}"/>
              </a:ext>
            </a:extLst>
          </p:cNvPr>
          <p:cNvSpPr>
            <a:spLocks noGrp="1"/>
          </p:cNvSpPr>
          <p:nvPr>
            <p:ph idx="1"/>
          </p:nvPr>
        </p:nvSpPr>
        <p:spPr>
          <a:xfrm>
            <a:off x="632883" y="975784"/>
            <a:ext cx="11040076" cy="3362301"/>
          </a:xfrm>
        </p:spPr>
        <p:txBody>
          <a:bodyPr/>
          <a:lstStyle/>
          <a:p>
            <a:pPr marL="457189" indent="-457189" algn="l">
              <a:buFont typeface="Arial" panose="020B0604020202020204" pitchFamily="34" charset="0"/>
              <a:buChar char="•"/>
            </a:pPr>
            <a:r>
              <a:rPr lang="en-US" sz="1867">
                <a:solidFill>
                  <a:srgbClr val="000000"/>
                </a:solidFill>
              </a:rPr>
              <a:t>Hash functions are used to ensure the integrity of a message. They guarantee that message data has not changed accidentally or intentionally.</a:t>
            </a:r>
          </a:p>
          <a:p>
            <a:pPr marL="457189" indent="-457189" algn="l">
              <a:buFont typeface="Arial" panose="020B0604020202020204" pitchFamily="34" charset="0"/>
              <a:buChar char="•"/>
            </a:pPr>
            <a:r>
              <a:rPr lang="en-US" sz="1867">
                <a:solidFill>
                  <a:srgbClr val="000000"/>
                </a:solidFill>
              </a:rPr>
              <a:t>In the figure, the sender is sending a $100 money transfer to Alex. The sender wants to ensure that the message is not altered on its way to the receiver.</a:t>
            </a:r>
          </a:p>
          <a:p>
            <a:pPr marL="554633" lvl="1" indent="-457189">
              <a:buFont typeface="+mj-lt"/>
              <a:buAutoNum type="arabicPeriod"/>
            </a:pPr>
            <a:r>
              <a:rPr lang="en-US" sz="1600">
                <a:solidFill>
                  <a:srgbClr val="000000"/>
                </a:solidFill>
              </a:rPr>
              <a:t>The sending device inputs the message into a hashing algorithm and computes its fixed-length hash of 4ehiDx67NMop9.</a:t>
            </a:r>
          </a:p>
          <a:p>
            <a:pPr marL="554633" lvl="1" indent="-457189">
              <a:buFont typeface="+mj-lt"/>
              <a:buAutoNum type="arabicPeriod"/>
            </a:pPr>
            <a:r>
              <a:rPr lang="en-US" sz="1600">
                <a:solidFill>
                  <a:srgbClr val="000000"/>
                </a:solidFill>
              </a:rPr>
              <a:t>This hash is then attached to the message and sent to the receiver. Both the message and the hash are in plaintext.</a:t>
            </a:r>
          </a:p>
          <a:p>
            <a:pPr marL="554633" lvl="1" indent="-457189">
              <a:buFont typeface="+mj-lt"/>
              <a:buAutoNum type="arabicPeriod"/>
            </a:pPr>
            <a:r>
              <a:rPr lang="en-US" sz="1600">
                <a:solidFill>
                  <a:srgbClr val="000000"/>
                </a:solidFill>
              </a:rPr>
              <a:t>The receiving device removes the hash from the message and inputs the message into the same hashing algorithm. If the computed hash is equal to the one that is attached to the message, the message has not been altered during transit. If the hashes are not equal, then the integrity of the message can no longer be trusted.</a:t>
            </a:r>
          </a:p>
          <a:p>
            <a:pPr marL="457189" indent="-457189" algn="l">
              <a:buFont typeface="Arial" panose="020B0604020202020204" pitchFamily="34" charset="0"/>
              <a:buChar char="•"/>
            </a:pPr>
            <a:endParaRPr lang="en-US" sz="1867">
              <a:solidFill>
                <a:srgbClr val="000000"/>
              </a:solidFill>
            </a:endParaRPr>
          </a:p>
        </p:txBody>
      </p:sp>
      <p:pic>
        <p:nvPicPr>
          <p:cNvPr id="7" name="Picture 6">
            <a:extLst>
              <a:ext uri="{FF2B5EF4-FFF2-40B4-BE49-F238E27FC236}">
                <a16:creationId xmlns:a16="http://schemas.microsoft.com/office/drawing/2014/main" id="{8E13228B-6D53-D14B-8847-D5A58A57A2E6}"/>
              </a:ext>
            </a:extLst>
          </p:cNvPr>
          <p:cNvPicPr>
            <a:picLocks noChangeAspect="1"/>
          </p:cNvPicPr>
          <p:nvPr/>
        </p:nvPicPr>
        <p:blipFill>
          <a:blip r:embed="rId3"/>
          <a:stretch>
            <a:fillRect/>
          </a:stretch>
        </p:blipFill>
        <p:spPr>
          <a:xfrm>
            <a:off x="2241317" y="4478668"/>
            <a:ext cx="6644684" cy="1773275"/>
          </a:xfrm>
          <a:prstGeom prst="rect">
            <a:avLst/>
          </a:prstGeom>
        </p:spPr>
      </p:pic>
    </p:spTree>
    <p:extLst>
      <p:ext uri="{BB962C8B-B14F-4D97-AF65-F5344CB8AC3E}">
        <p14:creationId xmlns:p14="http://schemas.microsoft.com/office/powerpoint/2010/main" val="2727617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US" sz="2133"/>
              <a:t>Cryptography</a:t>
            </a:r>
            <a:br>
              <a:rPr lang="en-US"/>
            </a:br>
            <a:r>
              <a:rPr lang="en-US" sz="3200"/>
              <a:t>Hash Functions</a:t>
            </a:r>
          </a:p>
        </p:txBody>
      </p:sp>
      <p:sp>
        <p:nvSpPr>
          <p:cNvPr id="4" name="Content Placeholder 3">
            <a:extLst>
              <a:ext uri="{FF2B5EF4-FFF2-40B4-BE49-F238E27FC236}">
                <a16:creationId xmlns:a16="http://schemas.microsoft.com/office/drawing/2014/main" id="{A4BD8232-D439-B443-9793-46B1F6A26CE3}"/>
              </a:ext>
            </a:extLst>
          </p:cNvPr>
          <p:cNvSpPr>
            <a:spLocks noGrp="1"/>
          </p:cNvSpPr>
          <p:nvPr>
            <p:ph idx="1"/>
          </p:nvPr>
        </p:nvSpPr>
        <p:spPr>
          <a:xfrm>
            <a:off x="632883" y="975783"/>
            <a:ext cx="11040076" cy="4919863"/>
          </a:xfrm>
        </p:spPr>
        <p:txBody>
          <a:bodyPr/>
          <a:lstStyle/>
          <a:p>
            <a:pPr marL="380990" indent="-380990" algn="l">
              <a:buFont typeface="Arial" panose="020B0604020202020204" pitchFamily="34" charset="0"/>
              <a:buChar char="•"/>
            </a:pPr>
            <a:r>
              <a:rPr lang="en-US" sz="2133">
                <a:solidFill>
                  <a:srgbClr val="000000"/>
                </a:solidFill>
              </a:rPr>
              <a:t>There are three well-known hash functions.</a:t>
            </a:r>
          </a:p>
          <a:p>
            <a:pPr marL="478435" lvl="1" indent="-380990"/>
            <a:r>
              <a:rPr lang="en-US" b="1">
                <a:solidFill>
                  <a:srgbClr val="000000"/>
                </a:solidFill>
              </a:rPr>
              <a:t>MD5 with 128-bit Digest: </a:t>
            </a:r>
            <a:r>
              <a:rPr lang="en-US">
                <a:solidFill>
                  <a:srgbClr val="000000"/>
                </a:solidFill>
              </a:rPr>
              <a:t>MD5 is a one-way function that produces a 128-bit hashed message. MD5 is a legacy algorithm that should only be used when no better alternatives are available. Use SHA-2 instead.</a:t>
            </a:r>
          </a:p>
          <a:p>
            <a:pPr marL="478435" lvl="1" indent="-380990"/>
            <a:r>
              <a:rPr lang="en-US" b="1">
                <a:solidFill>
                  <a:srgbClr val="000000"/>
                </a:solidFill>
              </a:rPr>
              <a:t>SHA Hashing Algorithm: </a:t>
            </a:r>
            <a:r>
              <a:rPr lang="en-US">
                <a:solidFill>
                  <a:srgbClr val="000000"/>
                </a:solidFill>
              </a:rPr>
              <a:t>SHA-1 is very similar to the MD5 hash functions. SHA-1 creates a 160-bit hashed message and is slightly slower than MD5. SHA-1 has known flaws and is a legacy algorithm. Use SHA-2 when possible.</a:t>
            </a:r>
          </a:p>
          <a:p>
            <a:pPr marL="478435" lvl="1" indent="-380990"/>
            <a:r>
              <a:rPr lang="en-US" b="1">
                <a:solidFill>
                  <a:srgbClr val="000000"/>
                </a:solidFill>
              </a:rPr>
              <a:t>SHA-2: </a:t>
            </a:r>
            <a:r>
              <a:rPr lang="en-US">
                <a:solidFill>
                  <a:srgbClr val="000000"/>
                </a:solidFill>
              </a:rPr>
              <a:t>This includes SHA-224 (224 bit), SHA-256 (256 bit), SHA-384 (384 bit), and SHA-512 (512 bit). SHA-256, SHA-384, and SHA-512 are next-generation algorithms and should be used whenever possible.</a:t>
            </a:r>
          </a:p>
          <a:p>
            <a:pPr marL="380990" indent="-380990" algn="l">
              <a:buFont typeface="Arial" panose="020B0604020202020204" pitchFamily="34" charset="0"/>
              <a:buChar char="•"/>
            </a:pPr>
            <a:r>
              <a:rPr lang="en-US" sz="2133">
                <a:solidFill>
                  <a:srgbClr val="000000"/>
                </a:solidFill>
              </a:rPr>
              <a:t>While hashing can be used to detect accidental changes, it cannot be used to guard against deliberate changes. This means that anyone can compute a hash for any data, if they have the correct hash function.</a:t>
            </a:r>
          </a:p>
          <a:p>
            <a:pPr marL="380990" indent="-380990" algn="l">
              <a:buFont typeface="Arial" panose="020B0604020202020204" pitchFamily="34" charset="0"/>
              <a:buChar char="•"/>
            </a:pPr>
            <a:r>
              <a:rPr lang="en-US" sz="2133">
                <a:solidFill>
                  <a:srgbClr val="000000"/>
                </a:solidFill>
              </a:rPr>
              <a:t>Therefore, hashing is vulnerable to man-in-the-middle attacks and does not provide security to transmitted data. </a:t>
            </a:r>
          </a:p>
          <a:p>
            <a:pPr marL="380990" indent="-380990" algn="l">
              <a:buFont typeface="Arial" panose="020B0604020202020204" pitchFamily="34" charset="0"/>
              <a:buChar char="•"/>
            </a:pPr>
            <a:endParaRPr lang="en-US" sz="2133">
              <a:solidFill>
                <a:srgbClr val="000000"/>
              </a:solidFill>
            </a:endParaRPr>
          </a:p>
          <a:p>
            <a:pPr marL="380990" indent="-380990" algn="l">
              <a:buFont typeface="Arial" panose="020B0604020202020204" pitchFamily="34" charset="0"/>
              <a:buChar char="•"/>
            </a:pPr>
            <a:endParaRPr lang="en-US" sz="2133">
              <a:solidFill>
                <a:srgbClr val="000000"/>
              </a:solidFill>
            </a:endParaRPr>
          </a:p>
        </p:txBody>
      </p:sp>
    </p:spTree>
    <p:extLst>
      <p:ext uri="{BB962C8B-B14F-4D97-AF65-F5344CB8AC3E}">
        <p14:creationId xmlns:p14="http://schemas.microsoft.com/office/powerpoint/2010/main" val="2148199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US" sz="2133"/>
              <a:t>Cryptography</a:t>
            </a:r>
            <a:br>
              <a:rPr lang="en-US"/>
            </a:br>
            <a:r>
              <a:rPr lang="en-US" sz="3200"/>
              <a:t>Origin Authentication</a:t>
            </a:r>
          </a:p>
        </p:txBody>
      </p:sp>
      <p:sp>
        <p:nvSpPr>
          <p:cNvPr id="5" name="Content Placeholder 4">
            <a:extLst>
              <a:ext uri="{FF2B5EF4-FFF2-40B4-BE49-F238E27FC236}">
                <a16:creationId xmlns:a16="http://schemas.microsoft.com/office/drawing/2014/main" id="{71C04A61-9B2A-C144-B6FF-D6DB7E828B4C}"/>
              </a:ext>
            </a:extLst>
          </p:cNvPr>
          <p:cNvSpPr>
            <a:spLocks noGrp="1"/>
          </p:cNvSpPr>
          <p:nvPr>
            <p:ph idx="1"/>
          </p:nvPr>
        </p:nvSpPr>
        <p:spPr>
          <a:xfrm>
            <a:off x="575962" y="975783"/>
            <a:ext cx="6243052" cy="4919863"/>
          </a:xfrm>
        </p:spPr>
        <p:txBody>
          <a:bodyPr/>
          <a:lstStyle/>
          <a:p>
            <a:pPr marL="457189" indent="-457189" algn="l">
              <a:buFont typeface="Arial" panose="020B0604020202020204" pitchFamily="34" charset="0"/>
              <a:buChar char="•"/>
            </a:pPr>
            <a:r>
              <a:rPr lang="en-US" sz="2133">
                <a:solidFill>
                  <a:srgbClr val="000000"/>
                </a:solidFill>
              </a:rPr>
              <a:t>To add authentication to integrity assurance, use a keyed-hash message authentication code (HMAC). </a:t>
            </a:r>
          </a:p>
          <a:p>
            <a:pPr marL="457189" indent="-457189" algn="l">
              <a:buFont typeface="Arial" panose="020B0604020202020204" pitchFamily="34" charset="0"/>
              <a:buChar char="•"/>
            </a:pPr>
            <a:r>
              <a:rPr lang="en-US" sz="2133">
                <a:solidFill>
                  <a:srgbClr val="000000"/>
                </a:solidFill>
              </a:rPr>
              <a:t>An HMAC is calculated using any cryptographic algorithm that combines a cryptographic hash function with a secret key. </a:t>
            </a:r>
          </a:p>
          <a:p>
            <a:pPr marL="457189" indent="-457189" algn="l">
              <a:buFont typeface="Arial" panose="020B0604020202020204" pitchFamily="34" charset="0"/>
              <a:buChar char="•"/>
            </a:pPr>
            <a:r>
              <a:rPr lang="en-US" sz="2133">
                <a:solidFill>
                  <a:srgbClr val="000000"/>
                </a:solidFill>
              </a:rPr>
              <a:t>Only parties who have access to that secret key can compute the digest of an HMAC function. This defeats man-in-the-middle attacks and provides authentication of the data origin.</a:t>
            </a:r>
          </a:p>
          <a:p>
            <a:pPr marL="457189" indent="-457189" algn="l">
              <a:buFont typeface="Arial" panose="020B0604020202020204" pitchFamily="34" charset="0"/>
              <a:buChar char="•"/>
            </a:pPr>
            <a:endParaRPr lang="en-US" sz="2133">
              <a:solidFill>
                <a:srgbClr val="000000"/>
              </a:solidFill>
            </a:endParaRPr>
          </a:p>
        </p:txBody>
      </p:sp>
      <p:pic>
        <p:nvPicPr>
          <p:cNvPr id="7" name="Picture 6">
            <a:extLst>
              <a:ext uri="{FF2B5EF4-FFF2-40B4-BE49-F238E27FC236}">
                <a16:creationId xmlns:a16="http://schemas.microsoft.com/office/drawing/2014/main" id="{29D04771-F99B-684A-8331-D96D49E98FA2}"/>
              </a:ext>
            </a:extLst>
          </p:cNvPr>
          <p:cNvPicPr>
            <a:picLocks noChangeAspect="1"/>
          </p:cNvPicPr>
          <p:nvPr/>
        </p:nvPicPr>
        <p:blipFill>
          <a:blip r:embed="rId3"/>
          <a:stretch>
            <a:fillRect/>
          </a:stretch>
        </p:blipFill>
        <p:spPr>
          <a:xfrm>
            <a:off x="6902665" y="1446047"/>
            <a:ext cx="4656667" cy="3979333"/>
          </a:xfrm>
          <a:prstGeom prst="rect">
            <a:avLst/>
          </a:prstGeom>
        </p:spPr>
      </p:pic>
    </p:spTree>
    <p:extLst>
      <p:ext uri="{BB962C8B-B14F-4D97-AF65-F5344CB8AC3E}">
        <p14:creationId xmlns:p14="http://schemas.microsoft.com/office/powerpoint/2010/main" val="991538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US" sz="2133"/>
              <a:t>Cryptography</a:t>
            </a:r>
            <a:br>
              <a:rPr lang="en-US"/>
            </a:br>
            <a:r>
              <a:rPr lang="en-US" sz="3200"/>
              <a:t>Data Confidentiality</a:t>
            </a:r>
          </a:p>
        </p:txBody>
      </p:sp>
      <p:sp>
        <p:nvSpPr>
          <p:cNvPr id="4" name="Content Placeholder 3">
            <a:extLst>
              <a:ext uri="{FF2B5EF4-FFF2-40B4-BE49-F238E27FC236}">
                <a16:creationId xmlns:a16="http://schemas.microsoft.com/office/drawing/2014/main" id="{5B44D7FC-50A1-3241-921B-9FBDB406A7FE}"/>
              </a:ext>
            </a:extLst>
          </p:cNvPr>
          <p:cNvSpPr>
            <a:spLocks noGrp="1"/>
          </p:cNvSpPr>
          <p:nvPr>
            <p:ph idx="1"/>
          </p:nvPr>
        </p:nvSpPr>
        <p:spPr>
          <a:xfrm>
            <a:off x="632883" y="975784"/>
            <a:ext cx="11040076" cy="2511696"/>
          </a:xfrm>
        </p:spPr>
        <p:txBody>
          <a:bodyPr/>
          <a:lstStyle/>
          <a:p>
            <a:pPr marL="457189" indent="-457189" algn="l">
              <a:buFont typeface="Arial" panose="020B0604020202020204" pitchFamily="34" charset="0"/>
              <a:buChar char="•"/>
            </a:pPr>
            <a:r>
              <a:rPr lang="en-US" sz="2133">
                <a:solidFill>
                  <a:srgbClr val="000000"/>
                </a:solidFill>
              </a:rPr>
              <a:t>There are two classes of encryption used to provide data confidentiality. These two classes differ in how they use keys.</a:t>
            </a:r>
          </a:p>
          <a:p>
            <a:pPr marL="457189" indent="-457189" algn="l">
              <a:buFont typeface="Arial" panose="020B0604020202020204" pitchFamily="34" charset="0"/>
              <a:buChar char="•"/>
            </a:pPr>
            <a:r>
              <a:rPr lang="en-US" sz="2133">
                <a:solidFill>
                  <a:srgbClr val="000000"/>
                </a:solidFill>
              </a:rPr>
              <a:t>Symmetric encryption algorithms such as (DES), 3DES, and Advanced Encryption Standard (AES) are based on the premise that each communicating party knows the pre-shared key. Data confidentiality can also be ensured using asymmetric algorithms, including </a:t>
            </a:r>
            <a:r>
              <a:rPr lang="en-US" sz="2133" err="1">
                <a:solidFill>
                  <a:srgbClr val="000000"/>
                </a:solidFill>
              </a:rPr>
              <a:t>Rivest</a:t>
            </a:r>
            <a:r>
              <a:rPr lang="en-US" sz="2133">
                <a:solidFill>
                  <a:srgbClr val="000000"/>
                </a:solidFill>
              </a:rPr>
              <a:t>, Shamir, and </a:t>
            </a:r>
            <a:r>
              <a:rPr lang="en-US" sz="2133" err="1">
                <a:solidFill>
                  <a:srgbClr val="000000"/>
                </a:solidFill>
              </a:rPr>
              <a:t>Adleman</a:t>
            </a:r>
            <a:r>
              <a:rPr lang="en-US" sz="2133">
                <a:solidFill>
                  <a:srgbClr val="000000"/>
                </a:solidFill>
              </a:rPr>
              <a:t> (RSA) and the public key infrastructure (PKI).</a:t>
            </a:r>
          </a:p>
          <a:p>
            <a:pPr marL="457189" indent="-457189" algn="l">
              <a:buFont typeface="Arial" panose="020B0604020202020204" pitchFamily="34" charset="0"/>
              <a:buChar char="•"/>
            </a:pPr>
            <a:r>
              <a:rPr lang="en-US" sz="2133">
                <a:solidFill>
                  <a:srgbClr val="000000"/>
                </a:solidFill>
              </a:rPr>
              <a:t>The figure highlights some differences between each encryption algorithm method.</a:t>
            </a:r>
          </a:p>
          <a:p>
            <a:pPr marL="0" indent="0" algn="l"/>
            <a:br>
              <a:rPr lang="en-US" sz="2133">
                <a:solidFill>
                  <a:srgbClr val="000000"/>
                </a:solidFill>
              </a:rPr>
            </a:br>
            <a:endParaRPr lang="en-US" sz="2133">
              <a:solidFill>
                <a:srgbClr val="000000"/>
              </a:solidFill>
            </a:endParaRPr>
          </a:p>
        </p:txBody>
      </p:sp>
      <p:pic>
        <p:nvPicPr>
          <p:cNvPr id="8" name="Picture 7">
            <a:extLst>
              <a:ext uri="{FF2B5EF4-FFF2-40B4-BE49-F238E27FC236}">
                <a16:creationId xmlns:a16="http://schemas.microsoft.com/office/drawing/2014/main" id="{8BCDB622-2CA4-224F-9C60-AD6574E65379}"/>
              </a:ext>
            </a:extLst>
          </p:cNvPr>
          <p:cNvPicPr>
            <a:picLocks noChangeAspect="1"/>
          </p:cNvPicPr>
          <p:nvPr/>
        </p:nvPicPr>
        <p:blipFill>
          <a:blip r:embed="rId3"/>
          <a:stretch>
            <a:fillRect/>
          </a:stretch>
        </p:blipFill>
        <p:spPr>
          <a:xfrm>
            <a:off x="1264796" y="3590851"/>
            <a:ext cx="9662408" cy="2304795"/>
          </a:xfrm>
          <a:prstGeom prst="rect">
            <a:avLst/>
          </a:prstGeom>
        </p:spPr>
      </p:pic>
    </p:spTree>
    <p:extLst>
      <p:ext uri="{BB962C8B-B14F-4D97-AF65-F5344CB8AC3E}">
        <p14:creationId xmlns:p14="http://schemas.microsoft.com/office/powerpoint/2010/main" val="1527397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US" sz="2133"/>
              <a:t>Cryptography</a:t>
            </a:r>
            <a:br>
              <a:rPr lang="en-US"/>
            </a:br>
            <a:r>
              <a:rPr lang="en-US" sz="3200"/>
              <a:t>Symmetric Encryption</a:t>
            </a:r>
          </a:p>
        </p:txBody>
      </p:sp>
      <p:sp>
        <p:nvSpPr>
          <p:cNvPr id="5" name="Content Placeholder 4">
            <a:extLst>
              <a:ext uri="{FF2B5EF4-FFF2-40B4-BE49-F238E27FC236}">
                <a16:creationId xmlns:a16="http://schemas.microsoft.com/office/drawing/2014/main" id="{2304E692-5E43-3E4D-9DCD-3EAE7A84C7D7}"/>
              </a:ext>
            </a:extLst>
          </p:cNvPr>
          <p:cNvSpPr>
            <a:spLocks noGrp="1"/>
          </p:cNvSpPr>
          <p:nvPr>
            <p:ph idx="1"/>
          </p:nvPr>
        </p:nvSpPr>
        <p:spPr>
          <a:xfrm>
            <a:off x="632883" y="975783"/>
            <a:ext cx="11040076" cy="2880292"/>
          </a:xfrm>
        </p:spPr>
        <p:txBody>
          <a:bodyPr/>
          <a:lstStyle/>
          <a:p>
            <a:pPr marL="380990" indent="-380990" algn="l">
              <a:buFont typeface="Arial" panose="020B0604020202020204" pitchFamily="34" charset="0"/>
              <a:buChar char="•"/>
            </a:pPr>
            <a:r>
              <a:rPr lang="en-US" sz="2133">
                <a:solidFill>
                  <a:srgbClr val="000000"/>
                </a:solidFill>
              </a:rPr>
              <a:t>Symmetric algorithms use the same pre-shared key, also called a secret key, to encrypt and decrypt data. A pre-shared key is known by the sender and receiver before any encrypted communications can take place.</a:t>
            </a:r>
          </a:p>
          <a:p>
            <a:pPr marL="380990" indent="-380990" algn="l">
              <a:buFont typeface="Arial" panose="020B0604020202020204" pitchFamily="34" charset="0"/>
              <a:buChar char="•"/>
            </a:pPr>
            <a:r>
              <a:rPr lang="en-US" sz="2133">
                <a:solidFill>
                  <a:srgbClr val="000000"/>
                </a:solidFill>
              </a:rPr>
              <a:t>Symmetric encryption algorithms are commonly used with VPN traffic because they  use less CPU resources than asymmetric encryption algorithms. </a:t>
            </a:r>
          </a:p>
          <a:p>
            <a:pPr marL="380990" indent="-380990" algn="l">
              <a:buFont typeface="Arial" panose="020B0604020202020204" pitchFamily="34" charset="0"/>
              <a:buChar char="•"/>
            </a:pPr>
            <a:r>
              <a:rPr lang="en-US" sz="2133">
                <a:solidFill>
                  <a:srgbClr val="000000"/>
                </a:solidFill>
              </a:rPr>
              <a:t>When using symmetric encryption algorithms, the longer the key, the longer it will take for someone to discover the key. To ensure that the encryption is safe, use a minimum key length of 128 bits.</a:t>
            </a:r>
          </a:p>
        </p:txBody>
      </p:sp>
      <p:pic>
        <p:nvPicPr>
          <p:cNvPr id="7" name="Picture 6">
            <a:extLst>
              <a:ext uri="{FF2B5EF4-FFF2-40B4-BE49-F238E27FC236}">
                <a16:creationId xmlns:a16="http://schemas.microsoft.com/office/drawing/2014/main" id="{448C24AA-1687-4846-AB47-DEF74E5D041C}"/>
              </a:ext>
            </a:extLst>
          </p:cNvPr>
          <p:cNvPicPr>
            <a:picLocks noChangeAspect="1"/>
          </p:cNvPicPr>
          <p:nvPr/>
        </p:nvPicPr>
        <p:blipFill>
          <a:blip r:embed="rId3"/>
          <a:stretch>
            <a:fillRect/>
          </a:stretch>
        </p:blipFill>
        <p:spPr>
          <a:xfrm>
            <a:off x="2314493" y="4068726"/>
            <a:ext cx="6498332" cy="2287575"/>
          </a:xfrm>
          <a:prstGeom prst="rect">
            <a:avLst/>
          </a:prstGeom>
        </p:spPr>
      </p:pic>
    </p:spTree>
    <p:extLst>
      <p:ext uri="{BB962C8B-B14F-4D97-AF65-F5344CB8AC3E}">
        <p14:creationId xmlns:p14="http://schemas.microsoft.com/office/powerpoint/2010/main" val="2861363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US" sz="2133"/>
              <a:t>Cryptography</a:t>
            </a:r>
            <a:br>
              <a:rPr lang="en-US"/>
            </a:br>
            <a:r>
              <a:rPr lang="en-US" sz="3200"/>
              <a:t>Symmetric Encryption (Cont.)</a:t>
            </a:r>
          </a:p>
        </p:txBody>
      </p:sp>
      <p:graphicFrame>
        <p:nvGraphicFramePr>
          <p:cNvPr id="6" name="Content Placeholder 5">
            <a:extLst>
              <a:ext uri="{FF2B5EF4-FFF2-40B4-BE49-F238E27FC236}">
                <a16:creationId xmlns:a16="http://schemas.microsoft.com/office/drawing/2014/main" id="{341A9DE2-957A-3841-978C-6386105104E6}"/>
              </a:ext>
            </a:extLst>
          </p:cNvPr>
          <p:cNvGraphicFramePr>
            <a:graphicFrameLocks noGrp="1"/>
          </p:cNvGraphicFramePr>
          <p:nvPr>
            <p:ph idx="1"/>
          </p:nvPr>
        </p:nvGraphicFramePr>
        <p:xfrm>
          <a:off x="632884" y="975784"/>
          <a:ext cx="11040533" cy="4787053"/>
        </p:xfrm>
        <a:graphic>
          <a:graphicData uri="http://schemas.openxmlformats.org/drawingml/2006/table">
            <a:tbl>
              <a:tblPr firstRow="1" bandRow="1">
                <a:tableStyleId>{5C22544A-7EE6-4342-B048-85BDC9FD1C3A}</a:tableStyleId>
              </a:tblPr>
              <a:tblGrid>
                <a:gridCol w="3393312">
                  <a:extLst>
                    <a:ext uri="{9D8B030D-6E8A-4147-A177-3AD203B41FA5}">
                      <a16:colId xmlns:a16="http://schemas.microsoft.com/office/drawing/2014/main" val="4147586010"/>
                    </a:ext>
                  </a:extLst>
                </a:gridCol>
                <a:gridCol w="7647221">
                  <a:extLst>
                    <a:ext uri="{9D8B030D-6E8A-4147-A177-3AD203B41FA5}">
                      <a16:colId xmlns:a16="http://schemas.microsoft.com/office/drawing/2014/main" val="3070932338"/>
                    </a:ext>
                  </a:extLst>
                </a:gridCol>
              </a:tblGrid>
              <a:tr h="494453">
                <a:tc>
                  <a:txBody>
                    <a:bodyPr/>
                    <a:lstStyle/>
                    <a:p>
                      <a:pPr algn="l" fontAlgn="ctr"/>
                      <a:r>
                        <a:rPr lang="en-US" sz="1600" b="1">
                          <a:effectLst/>
                        </a:rPr>
                        <a:t>Symmetric Encryption Algorithms</a:t>
                      </a:r>
                      <a:endParaRPr lang="en-US" sz="1600">
                        <a:effectLst/>
                      </a:endParaRPr>
                    </a:p>
                  </a:txBody>
                  <a:tcPr marL="63500" marR="63500" marT="63500" marB="63500" anchor="ctr"/>
                </a:tc>
                <a:tc>
                  <a:txBody>
                    <a:bodyPr/>
                    <a:lstStyle/>
                    <a:p>
                      <a:pPr algn="l" fontAlgn="ctr"/>
                      <a:r>
                        <a:rPr lang="en-US" sz="1600" b="1">
                          <a:effectLst/>
                        </a:rPr>
                        <a:t>Description</a:t>
                      </a:r>
                      <a:endParaRPr lang="en-US" sz="1600">
                        <a:effectLst/>
                      </a:endParaRPr>
                    </a:p>
                  </a:txBody>
                  <a:tcPr marL="63500" marR="63500" marT="63500" marB="63500" anchor="ctr"/>
                </a:tc>
                <a:extLst>
                  <a:ext uri="{0D108BD9-81ED-4DB2-BD59-A6C34878D82A}">
                    <a16:rowId xmlns:a16="http://schemas.microsoft.com/office/drawing/2014/main" val="3892308028"/>
                  </a:ext>
                </a:extLst>
              </a:tr>
              <a:tr h="858520">
                <a:tc>
                  <a:txBody>
                    <a:bodyPr/>
                    <a:lstStyle/>
                    <a:p>
                      <a:pPr fontAlgn="ctr"/>
                      <a:r>
                        <a:rPr lang="en-US" sz="1600" b="1">
                          <a:effectLst/>
                        </a:rPr>
                        <a:t>Data Encryption Algorithm</a:t>
                      </a:r>
                      <a:br>
                        <a:rPr lang="en-US" sz="1600" b="1">
                          <a:effectLst/>
                        </a:rPr>
                      </a:br>
                      <a:r>
                        <a:rPr lang="en-US" sz="1600" b="1">
                          <a:effectLst/>
                        </a:rPr>
                        <a:t>(DES)</a:t>
                      </a:r>
                      <a:endParaRPr lang="en-US" sz="1600" b="0">
                        <a:effectLst/>
                      </a:endParaRPr>
                    </a:p>
                  </a:txBody>
                  <a:tcPr marL="63500" marR="63500" marT="63500" marB="63500" anchor="ctr"/>
                </a:tc>
                <a:tc>
                  <a:txBody>
                    <a:bodyPr/>
                    <a:lstStyle/>
                    <a:p>
                      <a:pPr fontAlgn="ctr"/>
                      <a:r>
                        <a:rPr lang="en-US" sz="1600" b="0">
                          <a:effectLst/>
                        </a:rPr>
                        <a:t>This is a legacy symmetric encryption algorithm. It can be used in stream cipher mode but usually operates in block mode by encrypting data in 64-bit block size. A stream cipher encrypts one byte or one bit at a time.</a:t>
                      </a:r>
                    </a:p>
                  </a:txBody>
                  <a:tcPr marL="63500" marR="63500" marT="63500" marB="63500" anchor="ctr"/>
                </a:tc>
                <a:extLst>
                  <a:ext uri="{0D108BD9-81ED-4DB2-BD59-A6C34878D82A}">
                    <a16:rowId xmlns:a16="http://schemas.microsoft.com/office/drawing/2014/main" val="3686240316"/>
                  </a:ext>
                </a:extLst>
              </a:tr>
              <a:tr h="614680">
                <a:tc>
                  <a:txBody>
                    <a:bodyPr/>
                    <a:lstStyle/>
                    <a:p>
                      <a:pPr fontAlgn="ctr"/>
                      <a:r>
                        <a:rPr lang="en-US" sz="1600" b="1">
                          <a:effectLst/>
                        </a:rPr>
                        <a:t>3DES</a:t>
                      </a:r>
                      <a:br>
                        <a:rPr lang="en-US" sz="1600" b="1">
                          <a:effectLst/>
                        </a:rPr>
                      </a:br>
                      <a:r>
                        <a:rPr lang="en-US" sz="1600" b="1">
                          <a:effectLst/>
                        </a:rPr>
                        <a:t>(Triple DES)</a:t>
                      </a:r>
                      <a:endParaRPr lang="en-US" sz="1600" b="0">
                        <a:effectLst/>
                      </a:endParaRPr>
                    </a:p>
                  </a:txBody>
                  <a:tcPr marL="63500" marR="63500" marT="63500" marB="63500" anchor="ctr"/>
                </a:tc>
                <a:tc>
                  <a:txBody>
                    <a:bodyPr/>
                    <a:lstStyle/>
                    <a:p>
                      <a:pPr fontAlgn="ctr"/>
                      <a:r>
                        <a:rPr lang="en-US" sz="1600" b="0">
                          <a:effectLst/>
                        </a:rPr>
                        <a:t>This is a newer version of DES, but it repeats the DES algorithm process three times. It is considered very trustworthy when implemented using very short key lifetimes.</a:t>
                      </a:r>
                    </a:p>
                  </a:txBody>
                  <a:tcPr marL="63500" marR="63500" marT="63500" marB="63500" anchor="ctr"/>
                </a:tc>
                <a:extLst>
                  <a:ext uri="{0D108BD9-81ED-4DB2-BD59-A6C34878D82A}">
                    <a16:rowId xmlns:a16="http://schemas.microsoft.com/office/drawing/2014/main" val="1531584342"/>
                  </a:ext>
                </a:extLst>
              </a:tr>
              <a:tr h="1102360">
                <a:tc>
                  <a:txBody>
                    <a:bodyPr/>
                    <a:lstStyle/>
                    <a:p>
                      <a:pPr fontAlgn="ctr"/>
                      <a:r>
                        <a:rPr lang="en-US" sz="1600" b="1">
                          <a:effectLst/>
                        </a:rPr>
                        <a:t>Advanced Encryption Standard</a:t>
                      </a:r>
                      <a:br>
                        <a:rPr lang="en-US" sz="1600" b="1">
                          <a:effectLst/>
                        </a:rPr>
                      </a:br>
                      <a:r>
                        <a:rPr lang="en-US" sz="1600" b="1">
                          <a:effectLst/>
                        </a:rPr>
                        <a:t>(AES)</a:t>
                      </a:r>
                      <a:endParaRPr lang="en-US" sz="1600" b="0">
                        <a:effectLst/>
                      </a:endParaRPr>
                    </a:p>
                  </a:txBody>
                  <a:tcPr marL="63500" marR="63500" marT="63500" marB="63500" anchor="ctr"/>
                </a:tc>
                <a:tc>
                  <a:txBody>
                    <a:bodyPr/>
                    <a:lstStyle/>
                    <a:p>
                      <a:pPr fontAlgn="ctr"/>
                      <a:r>
                        <a:rPr lang="en-US" sz="1600" b="0">
                          <a:effectLst/>
                        </a:rPr>
                        <a:t>AES is a secure and more efficient algorithm than 3DES.</a:t>
                      </a:r>
                    </a:p>
                    <a:p>
                      <a:pPr fontAlgn="ctr"/>
                      <a:r>
                        <a:rPr lang="en-US" sz="1600" b="0">
                          <a:effectLst/>
                        </a:rPr>
                        <a:t>It is a popular and recommended symmetric encryption algorithm. It offers nine combinations of key and block length by using a variable key length of 128-, 192-, or 256-bit key to encrypt data blocks that are 128, 192, or 256 bits long.</a:t>
                      </a:r>
                    </a:p>
                  </a:txBody>
                  <a:tcPr marL="63500" marR="63500" marT="63500" marB="63500" anchor="ctr"/>
                </a:tc>
                <a:extLst>
                  <a:ext uri="{0D108BD9-81ED-4DB2-BD59-A6C34878D82A}">
                    <a16:rowId xmlns:a16="http://schemas.microsoft.com/office/drawing/2014/main" val="3133339701"/>
                  </a:ext>
                </a:extLst>
              </a:tr>
              <a:tr h="858520">
                <a:tc>
                  <a:txBody>
                    <a:bodyPr/>
                    <a:lstStyle/>
                    <a:p>
                      <a:pPr fontAlgn="ctr"/>
                      <a:r>
                        <a:rPr lang="en-US" sz="1600" b="1">
                          <a:effectLst/>
                        </a:rPr>
                        <a:t>Software-Optimized Encryption Algorithm</a:t>
                      </a:r>
                      <a:br>
                        <a:rPr lang="en-US" sz="1600" b="1">
                          <a:effectLst/>
                        </a:rPr>
                      </a:br>
                      <a:r>
                        <a:rPr lang="en-US" sz="1600" b="1">
                          <a:effectLst/>
                        </a:rPr>
                        <a:t>(SEAL)</a:t>
                      </a:r>
                      <a:endParaRPr lang="en-US" sz="1600" b="0">
                        <a:effectLst/>
                      </a:endParaRPr>
                    </a:p>
                  </a:txBody>
                  <a:tcPr marL="63500" marR="63500" marT="63500" marB="63500" anchor="ctr"/>
                </a:tc>
                <a:tc>
                  <a:txBody>
                    <a:bodyPr/>
                    <a:lstStyle/>
                    <a:p>
                      <a:pPr fontAlgn="ctr"/>
                      <a:r>
                        <a:rPr lang="en-US" sz="1600" b="0">
                          <a:effectLst/>
                        </a:rPr>
                        <a:t>SEAL is a faster alternative symmetric encryption algorithm to DES, 3DES, and AES. It uses a 160-bit encryption key and has a lower impact on the CPU compared to other software-based algorithms.</a:t>
                      </a:r>
                    </a:p>
                  </a:txBody>
                  <a:tcPr marL="63500" marR="63500" marT="63500" marB="63500" anchor="ctr"/>
                </a:tc>
                <a:extLst>
                  <a:ext uri="{0D108BD9-81ED-4DB2-BD59-A6C34878D82A}">
                    <a16:rowId xmlns:a16="http://schemas.microsoft.com/office/drawing/2014/main" val="546547349"/>
                  </a:ext>
                </a:extLst>
              </a:tr>
              <a:tr h="858520">
                <a:tc>
                  <a:txBody>
                    <a:bodyPr/>
                    <a:lstStyle/>
                    <a:p>
                      <a:pPr fontAlgn="ctr"/>
                      <a:r>
                        <a:rPr lang="en-US" sz="1600" b="1">
                          <a:effectLst/>
                        </a:rPr>
                        <a:t>Rivest ciphers</a:t>
                      </a:r>
                      <a:br>
                        <a:rPr lang="en-US" sz="1600" b="1">
                          <a:effectLst/>
                        </a:rPr>
                      </a:br>
                      <a:r>
                        <a:rPr lang="en-US" sz="1600" b="1">
                          <a:effectLst/>
                        </a:rPr>
                        <a:t>(RC) series algorithms</a:t>
                      </a:r>
                      <a:endParaRPr lang="en-US" sz="1600" b="0">
                        <a:effectLst/>
                      </a:endParaRPr>
                    </a:p>
                  </a:txBody>
                  <a:tcPr marL="63500" marR="63500" marT="63500" marB="63500" anchor="ctr"/>
                </a:tc>
                <a:tc>
                  <a:txBody>
                    <a:bodyPr/>
                    <a:lstStyle/>
                    <a:p>
                      <a:pPr fontAlgn="ctr"/>
                      <a:r>
                        <a:rPr lang="en-US" sz="1600" b="0">
                          <a:effectLst/>
                        </a:rPr>
                        <a:t>This algorithm was developed by Ron </a:t>
                      </a:r>
                      <a:r>
                        <a:rPr lang="en-US" sz="1600" b="0" err="1">
                          <a:effectLst/>
                        </a:rPr>
                        <a:t>Rivest</a:t>
                      </a:r>
                      <a:r>
                        <a:rPr lang="en-US" sz="1600" b="0">
                          <a:effectLst/>
                        </a:rPr>
                        <a:t>. Several variations have been developed, but RC4 is the most prevalent in use. RC4 is a stream cipher and is used to secure web traffic in SSL and TLS.</a:t>
                      </a:r>
                    </a:p>
                  </a:txBody>
                  <a:tcPr marL="63500" marR="63500" marT="63500" marB="63500" anchor="ctr"/>
                </a:tc>
                <a:extLst>
                  <a:ext uri="{0D108BD9-81ED-4DB2-BD59-A6C34878D82A}">
                    <a16:rowId xmlns:a16="http://schemas.microsoft.com/office/drawing/2014/main" val="3745754845"/>
                  </a:ext>
                </a:extLst>
              </a:tr>
            </a:tbl>
          </a:graphicData>
        </a:graphic>
      </p:graphicFrame>
    </p:spTree>
    <p:extLst>
      <p:ext uri="{BB962C8B-B14F-4D97-AF65-F5344CB8AC3E}">
        <p14:creationId xmlns:p14="http://schemas.microsoft.com/office/powerpoint/2010/main" val="4012330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US" sz="2133"/>
              <a:t>Cryptography</a:t>
            </a:r>
            <a:br>
              <a:rPr lang="en-US"/>
            </a:br>
            <a:r>
              <a:rPr lang="en-US" sz="3200"/>
              <a:t>Asymmetric Encryption</a:t>
            </a:r>
          </a:p>
        </p:txBody>
      </p:sp>
      <p:sp>
        <p:nvSpPr>
          <p:cNvPr id="4" name="Content Placeholder 3">
            <a:extLst>
              <a:ext uri="{FF2B5EF4-FFF2-40B4-BE49-F238E27FC236}">
                <a16:creationId xmlns:a16="http://schemas.microsoft.com/office/drawing/2014/main" id="{891ABAE8-27AC-394A-A252-E70376FFE5CA}"/>
              </a:ext>
            </a:extLst>
          </p:cNvPr>
          <p:cNvSpPr>
            <a:spLocks noGrp="1"/>
          </p:cNvSpPr>
          <p:nvPr>
            <p:ph idx="1"/>
          </p:nvPr>
        </p:nvSpPr>
        <p:spPr>
          <a:xfrm>
            <a:off x="632883" y="975783"/>
            <a:ext cx="11040076" cy="4919863"/>
          </a:xfrm>
        </p:spPr>
        <p:txBody>
          <a:bodyPr/>
          <a:lstStyle/>
          <a:p>
            <a:pPr marL="380990" indent="-380990" algn="l">
              <a:buFont typeface="Arial" panose="020B0604020202020204" pitchFamily="34" charset="0"/>
              <a:buChar char="•"/>
            </a:pPr>
            <a:r>
              <a:rPr lang="en-US" sz="2133">
                <a:solidFill>
                  <a:srgbClr val="000000"/>
                </a:solidFill>
              </a:rPr>
              <a:t>Asymmetric algorithms, also called public-key algorithms, are designed so that the key that is used for encryption is different from the key that is used for decryption. </a:t>
            </a:r>
          </a:p>
          <a:p>
            <a:pPr marL="380990" indent="-380990" algn="l">
              <a:buFont typeface="Arial" panose="020B0604020202020204" pitchFamily="34" charset="0"/>
              <a:buChar char="•"/>
            </a:pPr>
            <a:r>
              <a:rPr lang="en-US" sz="2133">
                <a:solidFill>
                  <a:srgbClr val="000000"/>
                </a:solidFill>
              </a:rPr>
              <a:t>Asymmetric algorithms use a public key and a private key. The complementary paired key is required for decryption. Data encrypted with the public key requires the private key to decrypt. Asymmetric algorithms achieve confidentiality, authentication, and integrity by using this process.</a:t>
            </a:r>
          </a:p>
          <a:p>
            <a:pPr marL="380990" indent="-380990" algn="l">
              <a:buFont typeface="Arial" panose="020B0604020202020204" pitchFamily="34" charset="0"/>
              <a:buChar char="•"/>
            </a:pPr>
            <a:r>
              <a:rPr lang="en-US" sz="2133">
                <a:solidFill>
                  <a:srgbClr val="000000"/>
                </a:solidFill>
              </a:rPr>
              <a:t>Because neither party has a shared secret, very long key lengths must be used. Asymmetric encryption can use key lengths between 512 to 4,096 bits. Key lengths greater than or equal to 1,024 bits can be trusted while shorter key lengths are considered unreliable.</a:t>
            </a:r>
          </a:p>
        </p:txBody>
      </p:sp>
    </p:spTree>
    <p:extLst>
      <p:ext uri="{BB962C8B-B14F-4D97-AF65-F5344CB8AC3E}">
        <p14:creationId xmlns:p14="http://schemas.microsoft.com/office/powerpoint/2010/main" val="1756603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US" sz="2133"/>
              <a:t>Cryptography</a:t>
            </a:r>
            <a:br>
              <a:rPr lang="en-US"/>
            </a:br>
            <a:r>
              <a:rPr lang="en-US" sz="3200"/>
              <a:t>Asymmetric Encryption (Cont.)</a:t>
            </a:r>
          </a:p>
        </p:txBody>
      </p:sp>
      <p:sp>
        <p:nvSpPr>
          <p:cNvPr id="5" name="Content Placeholder 4">
            <a:extLst>
              <a:ext uri="{FF2B5EF4-FFF2-40B4-BE49-F238E27FC236}">
                <a16:creationId xmlns:a16="http://schemas.microsoft.com/office/drawing/2014/main" id="{6C44E2E6-517C-8F46-A2AF-ED3DF437565A}"/>
              </a:ext>
            </a:extLst>
          </p:cNvPr>
          <p:cNvSpPr>
            <a:spLocks noGrp="1"/>
          </p:cNvSpPr>
          <p:nvPr>
            <p:ph idx="1"/>
          </p:nvPr>
        </p:nvSpPr>
        <p:spPr>
          <a:xfrm>
            <a:off x="632883" y="975783"/>
            <a:ext cx="11040076" cy="4919863"/>
          </a:xfrm>
        </p:spPr>
        <p:txBody>
          <a:bodyPr/>
          <a:lstStyle/>
          <a:p>
            <a:pPr marL="457189" indent="-457189" algn="l">
              <a:buFont typeface="Arial" panose="020B0604020202020204" pitchFamily="34" charset="0"/>
              <a:buChar char="•"/>
            </a:pPr>
            <a:r>
              <a:rPr lang="en-US" sz="2133">
                <a:solidFill>
                  <a:srgbClr val="000000"/>
                </a:solidFill>
              </a:rPr>
              <a:t>Examples of protocols that use asymmetric key algorithms include:</a:t>
            </a:r>
          </a:p>
          <a:p>
            <a:pPr marL="554633" lvl="1" indent="-457189"/>
            <a:r>
              <a:rPr lang="en-US" b="1">
                <a:solidFill>
                  <a:srgbClr val="000000"/>
                </a:solidFill>
              </a:rPr>
              <a:t>Internet Key Exchange (IKE) -</a:t>
            </a:r>
            <a:r>
              <a:rPr lang="en-US">
                <a:solidFill>
                  <a:srgbClr val="000000"/>
                </a:solidFill>
              </a:rPr>
              <a:t> This is a fundamental component of IPsec VPNs.</a:t>
            </a:r>
          </a:p>
          <a:p>
            <a:pPr marL="554633" lvl="1" indent="-457189"/>
            <a:r>
              <a:rPr lang="en-US" b="1">
                <a:solidFill>
                  <a:srgbClr val="000000"/>
                </a:solidFill>
              </a:rPr>
              <a:t>Secure Socket Layer (SSL) -</a:t>
            </a:r>
            <a:r>
              <a:rPr lang="en-US">
                <a:solidFill>
                  <a:srgbClr val="000000"/>
                </a:solidFill>
              </a:rPr>
              <a:t> This is now implemented as IETF standard Transport Layer Security (TLS).</a:t>
            </a:r>
          </a:p>
          <a:p>
            <a:pPr marL="554633" lvl="1" indent="-457189"/>
            <a:r>
              <a:rPr lang="en-US" b="1">
                <a:solidFill>
                  <a:srgbClr val="000000"/>
                </a:solidFill>
              </a:rPr>
              <a:t>Secure Shell (SSH) -</a:t>
            </a:r>
            <a:r>
              <a:rPr lang="en-US">
                <a:solidFill>
                  <a:srgbClr val="000000"/>
                </a:solidFill>
              </a:rPr>
              <a:t> This protocol provides a secure remote access connection to network devices.</a:t>
            </a:r>
          </a:p>
          <a:p>
            <a:pPr marL="554633" lvl="1" indent="-457189"/>
            <a:r>
              <a:rPr lang="en-US" b="1">
                <a:solidFill>
                  <a:srgbClr val="000000"/>
                </a:solidFill>
              </a:rPr>
              <a:t>Pretty Good Privacy (PGP) -</a:t>
            </a:r>
            <a:r>
              <a:rPr lang="en-US">
                <a:solidFill>
                  <a:srgbClr val="000000"/>
                </a:solidFill>
              </a:rPr>
              <a:t> This computer program provides cryptographic privacy and authentication. It is often used to increase the security of email communications</a:t>
            </a:r>
            <a:r>
              <a:rPr lang="en-US" sz="1333">
                <a:solidFill>
                  <a:srgbClr val="000000"/>
                </a:solidFill>
              </a:rPr>
              <a:t>.</a:t>
            </a:r>
          </a:p>
          <a:p>
            <a:pPr marL="457189" indent="-457189" algn="l">
              <a:buFont typeface="Arial" panose="020B0604020202020204" pitchFamily="34" charset="0"/>
              <a:buChar char="•"/>
            </a:pPr>
            <a:r>
              <a:rPr lang="en-US" sz="2133">
                <a:solidFill>
                  <a:srgbClr val="000000"/>
                </a:solidFill>
              </a:rPr>
              <a:t>Asymmetric algorithms are substantially slower than symmetric algorithms. Their design is based on computational problems, such as factoring extremely large numbers or computing discrete logarithms of extremely large numbers.</a:t>
            </a:r>
          </a:p>
          <a:p>
            <a:pPr marL="457189" indent="-457189" algn="l">
              <a:buFont typeface="Arial" panose="020B0604020202020204" pitchFamily="34" charset="0"/>
              <a:buChar char="•"/>
            </a:pPr>
            <a:r>
              <a:rPr lang="en-US" sz="2133">
                <a:solidFill>
                  <a:srgbClr val="000000"/>
                </a:solidFill>
              </a:rPr>
              <a:t>Because they are slow, asymmetric algorithms are typically used in low-volume cryptographic mechanisms, such as digital signatures and key exchange. </a:t>
            </a:r>
          </a:p>
          <a:p>
            <a:pPr marL="457189" indent="-457189" algn="l">
              <a:buFont typeface="Arial" panose="020B0604020202020204" pitchFamily="34" charset="0"/>
              <a:buChar char="•"/>
            </a:pPr>
            <a:endParaRPr lang="en-US" sz="2133">
              <a:solidFill>
                <a:srgbClr val="000000"/>
              </a:solidFill>
            </a:endParaRPr>
          </a:p>
        </p:txBody>
      </p:sp>
    </p:spTree>
    <p:extLst>
      <p:ext uri="{BB962C8B-B14F-4D97-AF65-F5344CB8AC3E}">
        <p14:creationId xmlns:p14="http://schemas.microsoft.com/office/powerpoint/2010/main" val="1453713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US" sz="2133"/>
              <a:t>Cryptography</a:t>
            </a:r>
            <a:br>
              <a:rPr lang="en-US"/>
            </a:br>
            <a:r>
              <a:rPr lang="en-US" sz="3200"/>
              <a:t>Asymmetric Encryption (Cont.)</a:t>
            </a:r>
          </a:p>
        </p:txBody>
      </p:sp>
      <p:graphicFrame>
        <p:nvGraphicFramePr>
          <p:cNvPr id="6" name="Content Placeholder 5">
            <a:extLst>
              <a:ext uri="{FF2B5EF4-FFF2-40B4-BE49-F238E27FC236}">
                <a16:creationId xmlns:a16="http://schemas.microsoft.com/office/drawing/2014/main" id="{1463EBC9-E905-924E-97BF-8E0EAB654EBE}"/>
              </a:ext>
            </a:extLst>
          </p:cNvPr>
          <p:cNvGraphicFramePr>
            <a:graphicFrameLocks noGrp="1"/>
          </p:cNvGraphicFramePr>
          <p:nvPr>
            <p:ph idx="1"/>
          </p:nvPr>
        </p:nvGraphicFramePr>
        <p:xfrm>
          <a:off x="632885" y="975783"/>
          <a:ext cx="11040532" cy="4898399"/>
        </p:xfrm>
        <a:graphic>
          <a:graphicData uri="http://schemas.openxmlformats.org/drawingml/2006/table">
            <a:tbl>
              <a:tblPr firstRow="1" bandRow="1">
                <a:tableStyleId>{5C22544A-7EE6-4342-B048-85BDC9FD1C3A}</a:tableStyleId>
              </a:tblPr>
              <a:tblGrid>
                <a:gridCol w="3010539">
                  <a:extLst>
                    <a:ext uri="{9D8B030D-6E8A-4147-A177-3AD203B41FA5}">
                      <a16:colId xmlns:a16="http://schemas.microsoft.com/office/drawing/2014/main" val="3996511865"/>
                    </a:ext>
                  </a:extLst>
                </a:gridCol>
                <a:gridCol w="1587796">
                  <a:extLst>
                    <a:ext uri="{9D8B030D-6E8A-4147-A177-3AD203B41FA5}">
                      <a16:colId xmlns:a16="http://schemas.microsoft.com/office/drawing/2014/main" val="1012834394"/>
                    </a:ext>
                  </a:extLst>
                </a:gridCol>
                <a:gridCol w="6442197">
                  <a:extLst>
                    <a:ext uri="{9D8B030D-6E8A-4147-A177-3AD203B41FA5}">
                      <a16:colId xmlns:a16="http://schemas.microsoft.com/office/drawing/2014/main" val="2323758169"/>
                    </a:ext>
                  </a:extLst>
                </a:gridCol>
              </a:tblGrid>
              <a:tr h="420804">
                <a:tc>
                  <a:txBody>
                    <a:bodyPr/>
                    <a:lstStyle/>
                    <a:p>
                      <a:pPr algn="l" fontAlgn="ctr"/>
                      <a:r>
                        <a:rPr lang="en-US" sz="1300" b="1">
                          <a:effectLst/>
                        </a:rPr>
                        <a:t>Asymmetric Encryption Algorithm</a:t>
                      </a:r>
                      <a:endParaRPr lang="en-US" sz="1300">
                        <a:effectLst/>
                      </a:endParaRPr>
                    </a:p>
                  </a:txBody>
                  <a:tcPr marL="63500" marR="63500" marT="63500" marB="63500" anchor="ctr"/>
                </a:tc>
                <a:tc>
                  <a:txBody>
                    <a:bodyPr/>
                    <a:lstStyle/>
                    <a:p>
                      <a:pPr algn="l" fontAlgn="ctr"/>
                      <a:r>
                        <a:rPr lang="en-US" sz="1300" b="1">
                          <a:effectLst/>
                        </a:rPr>
                        <a:t>Key Length</a:t>
                      </a:r>
                      <a:endParaRPr lang="en-US" sz="1300">
                        <a:effectLst/>
                      </a:endParaRPr>
                    </a:p>
                  </a:txBody>
                  <a:tcPr marL="63500" marR="63500" marT="63500" marB="63500" anchor="ctr"/>
                </a:tc>
                <a:tc>
                  <a:txBody>
                    <a:bodyPr/>
                    <a:lstStyle/>
                    <a:p>
                      <a:pPr algn="l" fontAlgn="ctr"/>
                      <a:r>
                        <a:rPr lang="en-US" sz="1300" b="1">
                          <a:effectLst/>
                        </a:rPr>
                        <a:t>Description</a:t>
                      </a:r>
                      <a:endParaRPr lang="en-US" sz="1300">
                        <a:effectLst/>
                      </a:endParaRPr>
                    </a:p>
                  </a:txBody>
                  <a:tcPr marL="63500" marR="63500" marT="63500" marB="63500" anchor="ctr"/>
                </a:tc>
                <a:extLst>
                  <a:ext uri="{0D108BD9-81ED-4DB2-BD59-A6C34878D82A}">
                    <a16:rowId xmlns:a16="http://schemas.microsoft.com/office/drawing/2014/main" val="313461226"/>
                  </a:ext>
                </a:extLst>
              </a:tr>
              <a:tr h="939800">
                <a:tc>
                  <a:txBody>
                    <a:bodyPr/>
                    <a:lstStyle/>
                    <a:p>
                      <a:pPr fontAlgn="ctr"/>
                      <a:r>
                        <a:rPr lang="en-US" sz="1300" b="1">
                          <a:effectLst/>
                        </a:rPr>
                        <a:t>Diffie-Hellman</a:t>
                      </a:r>
                      <a:br>
                        <a:rPr lang="en-US" sz="1300" b="1">
                          <a:effectLst/>
                        </a:rPr>
                      </a:br>
                      <a:r>
                        <a:rPr lang="en-US" sz="1300" b="1">
                          <a:effectLst/>
                        </a:rPr>
                        <a:t>(DH)</a:t>
                      </a:r>
                      <a:endParaRPr lang="en-US" sz="1300" b="0">
                        <a:effectLst/>
                      </a:endParaRPr>
                    </a:p>
                  </a:txBody>
                  <a:tcPr marL="63500" marR="63500" marT="63500" marB="63500" anchor="ctr"/>
                </a:tc>
                <a:tc>
                  <a:txBody>
                    <a:bodyPr/>
                    <a:lstStyle/>
                    <a:p>
                      <a:pPr fontAlgn="ctr"/>
                      <a:r>
                        <a:rPr lang="en-US" sz="1300" b="0">
                          <a:effectLst/>
                        </a:rPr>
                        <a:t>512, 1024, 2048, 3072, 4096</a:t>
                      </a:r>
                    </a:p>
                  </a:txBody>
                  <a:tcPr marL="63500" marR="63500" marT="63500" marB="63500" anchor="ctr"/>
                </a:tc>
                <a:tc>
                  <a:txBody>
                    <a:bodyPr/>
                    <a:lstStyle/>
                    <a:p>
                      <a:pPr fontAlgn="ctr"/>
                      <a:r>
                        <a:rPr lang="en-US" sz="1300" b="0">
                          <a:effectLst/>
                        </a:rPr>
                        <a:t>The Diffie-Hellman algorithm allows two parties to agree on a key that they can use to encrypt messages they want to send to each other. The security of this algorithm depends on the assumption that it is easy to raise a number to a certain power, but difficult to compute which power was used given the number and the outcome.</a:t>
                      </a:r>
                    </a:p>
                  </a:txBody>
                  <a:tcPr marL="63500" marR="63500" marT="63500" marB="63500" anchor="ctr"/>
                </a:tc>
                <a:extLst>
                  <a:ext uri="{0D108BD9-81ED-4DB2-BD59-A6C34878D82A}">
                    <a16:rowId xmlns:a16="http://schemas.microsoft.com/office/drawing/2014/main" val="2148606628"/>
                  </a:ext>
                </a:extLst>
              </a:tr>
              <a:tr h="921595">
                <a:tc>
                  <a:txBody>
                    <a:bodyPr/>
                    <a:lstStyle/>
                    <a:p>
                      <a:pPr fontAlgn="ctr"/>
                      <a:r>
                        <a:rPr lang="en-US" sz="1300" b="1">
                          <a:effectLst/>
                        </a:rPr>
                        <a:t>Digital Signature Standard (DSS)</a:t>
                      </a:r>
                      <a:br>
                        <a:rPr lang="en-US" sz="1300" b="1">
                          <a:effectLst/>
                        </a:rPr>
                      </a:br>
                      <a:r>
                        <a:rPr lang="en-US" sz="1300" b="1">
                          <a:effectLst/>
                        </a:rPr>
                        <a:t>and</a:t>
                      </a:r>
                      <a:br>
                        <a:rPr lang="en-US" sz="1300" b="1">
                          <a:effectLst/>
                        </a:rPr>
                      </a:br>
                      <a:r>
                        <a:rPr lang="en-US" sz="1300" b="1">
                          <a:effectLst/>
                        </a:rPr>
                        <a:t>Digital Signature Algorithm (DSA)</a:t>
                      </a:r>
                      <a:endParaRPr lang="en-US" sz="1300" b="0">
                        <a:effectLst/>
                      </a:endParaRPr>
                    </a:p>
                  </a:txBody>
                  <a:tcPr marL="63500" marR="63500" marT="63500" marB="63500" anchor="ctr"/>
                </a:tc>
                <a:tc>
                  <a:txBody>
                    <a:bodyPr/>
                    <a:lstStyle/>
                    <a:p>
                      <a:pPr fontAlgn="ctr"/>
                      <a:r>
                        <a:rPr lang="en-US" sz="1300" b="0">
                          <a:effectLst/>
                        </a:rPr>
                        <a:t>512 - 1024</a:t>
                      </a:r>
                    </a:p>
                  </a:txBody>
                  <a:tcPr marL="63500" marR="63500" marT="63500" marB="63500" anchor="ctr"/>
                </a:tc>
                <a:tc>
                  <a:txBody>
                    <a:bodyPr/>
                    <a:lstStyle/>
                    <a:p>
                      <a:pPr fontAlgn="ctr"/>
                      <a:r>
                        <a:rPr lang="en-US" sz="1300" b="0">
                          <a:effectLst/>
                        </a:rPr>
                        <a:t>DSS specifies DSA as the algorithm for digital signatures. DSA is a public key algorithm based on the </a:t>
                      </a:r>
                      <a:r>
                        <a:rPr lang="en-US" sz="1300" b="0" err="1">
                          <a:effectLst/>
                        </a:rPr>
                        <a:t>ElGamal</a:t>
                      </a:r>
                      <a:r>
                        <a:rPr lang="en-US" sz="1300" b="0">
                          <a:effectLst/>
                        </a:rPr>
                        <a:t> signature scheme. Signature creation speed is similar to RSA but is 10 to 40 times slower for verification.</a:t>
                      </a:r>
                    </a:p>
                  </a:txBody>
                  <a:tcPr marL="63500" marR="63500" marT="63500" marB="63500" anchor="ctr"/>
                </a:tc>
                <a:extLst>
                  <a:ext uri="{0D108BD9-81ED-4DB2-BD59-A6C34878D82A}">
                    <a16:rowId xmlns:a16="http://schemas.microsoft.com/office/drawing/2014/main" val="2866571815"/>
                  </a:ext>
                </a:extLst>
              </a:tr>
              <a:tr h="939800">
                <a:tc>
                  <a:txBody>
                    <a:bodyPr/>
                    <a:lstStyle/>
                    <a:p>
                      <a:pPr fontAlgn="ctr"/>
                      <a:r>
                        <a:rPr lang="en-US" sz="1300" b="1">
                          <a:effectLst/>
                        </a:rPr>
                        <a:t>Rivest, Shamir, and Adleman encryption algorithms</a:t>
                      </a:r>
                      <a:br>
                        <a:rPr lang="en-US" sz="1300" b="1">
                          <a:effectLst/>
                        </a:rPr>
                      </a:br>
                      <a:r>
                        <a:rPr lang="en-US" sz="1300" b="1">
                          <a:effectLst/>
                        </a:rPr>
                        <a:t>(RSA)</a:t>
                      </a:r>
                      <a:endParaRPr lang="en-US" sz="1300" b="0">
                        <a:effectLst/>
                      </a:endParaRPr>
                    </a:p>
                  </a:txBody>
                  <a:tcPr marL="63500" marR="63500" marT="63500" marB="63500" anchor="ctr"/>
                </a:tc>
                <a:tc>
                  <a:txBody>
                    <a:bodyPr/>
                    <a:lstStyle/>
                    <a:p>
                      <a:pPr fontAlgn="ctr"/>
                      <a:r>
                        <a:rPr lang="en-US" sz="1300" b="0">
                          <a:effectLst/>
                        </a:rPr>
                        <a:t>512 to 2048</a:t>
                      </a:r>
                    </a:p>
                  </a:txBody>
                  <a:tcPr marL="63500" marR="63500" marT="63500" marB="63500" anchor="ctr"/>
                </a:tc>
                <a:tc>
                  <a:txBody>
                    <a:bodyPr/>
                    <a:lstStyle/>
                    <a:p>
                      <a:pPr fontAlgn="ctr"/>
                      <a:r>
                        <a:rPr lang="en-US" sz="1300" b="0">
                          <a:effectLst/>
                        </a:rPr>
                        <a:t>RSA is for public-key cryptography that is based on the current difficulty of factoring very large numbers. It is the first algorithm known to be suitable for signing as well as encryption. It is widely used in electronic commerce protocols and is believed to be secure given sufficiently long keys and the use of up-to-date implementations.</a:t>
                      </a:r>
                    </a:p>
                  </a:txBody>
                  <a:tcPr marL="63500" marR="63500" marT="63500" marB="63500" anchor="ctr"/>
                </a:tc>
                <a:extLst>
                  <a:ext uri="{0D108BD9-81ED-4DB2-BD59-A6C34878D82A}">
                    <a16:rowId xmlns:a16="http://schemas.microsoft.com/office/drawing/2014/main" val="2358129322"/>
                  </a:ext>
                </a:extLst>
              </a:tr>
              <a:tr h="939800">
                <a:tc>
                  <a:txBody>
                    <a:bodyPr/>
                    <a:lstStyle/>
                    <a:p>
                      <a:pPr fontAlgn="ctr"/>
                      <a:r>
                        <a:rPr lang="en-US" sz="1300" b="1">
                          <a:effectLst/>
                        </a:rPr>
                        <a:t>EIGamal</a:t>
                      </a:r>
                      <a:endParaRPr lang="en-US" sz="1300" b="0">
                        <a:effectLst/>
                      </a:endParaRPr>
                    </a:p>
                  </a:txBody>
                  <a:tcPr marL="63500" marR="63500" marT="63500" marB="63500" anchor="ctr"/>
                </a:tc>
                <a:tc>
                  <a:txBody>
                    <a:bodyPr/>
                    <a:lstStyle/>
                    <a:p>
                      <a:pPr fontAlgn="ctr"/>
                      <a:r>
                        <a:rPr lang="en-US" sz="1300" b="0">
                          <a:effectLst/>
                        </a:rPr>
                        <a:t>512 - 1024</a:t>
                      </a:r>
                    </a:p>
                  </a:txBody>
                  <a:tcPr marL="63500" marR="63500" marT="63500" marB="63500" anchor="ctr"/>
                </a:tc>
                <a:tc>
                  <a:txBody>
                    <a:bodyPr/>
                    <a:lstStyle/>
                    <a:p>
                      <a:pPr fontAlgn="ctr"/>
                      <a:r>
                        <a:rPr lang="en-US" sz="1300" b="0">
                          <a:effectLst/>
                        </a:rPr>
                        <a:t>An asymmetric key encryption algorithm for public-key cryptography which is based on the Diffie-Hellman key agreement. A disadvantage of the ElGamal system is that the encrypted message becomes very big, about twice the size of the original message and for this reason it is only used for small messages such as secret keys.</a:t>
                      </a:r>
                    </a:p>
                  </a:txBody>
                  <a:tcPr marL="63500" marR="63500" marT="63500" marB="63500" anchor="ctr"/>
                </a:tc>
                <a:extLst>
                  <a:ext uri="{0D108BD9-81ED-4DB2-BD59-A6C34878D82A}">
                    <a16:rowId xmlns:a16="http://schemas.microsoft.com/office/drawing/2014/main" val="2368773845"/>
                  </a:ext>
                </a:extLst>
              </a:tr>
              <a:tr h="736600">
                <a:tc>
                  <a:txBody>
                    <a:bodyPr/>
                    <a:lstStyle/>
                    <a:p>
                      <a:pPr fontAlgn="ctr"/>
                      <a:r>
                        <a:rPr lang="en-US" sz="1300" b="1">
                          <a:effectLst/>
                        </a:rPr>
                        <a:t>Elliptical curve techniques</a:t>
                      </a:r>
                      <a:endParaRPr lang="en-US" sz="1300" b="0">
                        <a:effectLst/>
                      </a:endParaRPr>
                    </a:p>
                  </a:txBody>
                  <a:tcPr marL="63500" marR="63500" marT="63500" marB="63500" anchor="ctr"/>
                </a:tc>
                <a:tc>
                  <a:txBody>
                    <a:bodyPr/>
                    <a:lstStyle/>
                    <a:p>
                      <a:pPr fontAlgn="ctr"/>
                      <a:r>
                        <a:rPr lang="en-US" sz="1300" b="0">
                          <a:effectLst/>
                        </a:rPr>
                        <a:t>160</a:t>
                      </a:r>
                    </a:p>
                  </a:txBody>
                  <a:tcPr marL="63500" marR="63500" marT="63500" marB="63500" anchor="ctr"/>
                </a:tc>
                <a:tc>
                  <a:txBody>
                    <a:bodyPr/>
                    <a:lstStyle/>
                    <a:p>
                      <a:pPr fontAlgn="ctr"/>
                      <a:r>
                        <a:rPr lang="en-US" sz="1300" b="0">
                          <a:effectLst/>
                        </a:rPr>
                        <a:t>Elliptic curve cryptography can be used to adapt many cryptographic algorithms, such as Diffie-Hellman or </a:t>
                      </a:r>
                      <a:r>
                        <a:rPr lang="en-US" sz="1300" b="0" err="1">
                          <a:effectLst/>
                        </a:rPr>
                        <a:t>ElGamal</a:t>
                      </a:r>
                      <a:r>
                        <a:rPr lang="en-US" sz="1300" b="0">
                          <a:effectLst/>
                        </a:rPr>
                        <a:t>. The main advantage of elliptic curve cryptography is that the keys can be much smaller.</a:t>
                      </a:r>
                    </a:p>
                  </a:txBody>
                  <a:tcPr marL="63500" marR="63500" marT="63500" marB="63500" anchor="ctr"/>
                </a:tc>
                <a:extLst>
                  <a:ext uri="{0D108BD9-81ED-4DB2-BD59-A6C34878D82A}">
                    <a16:rowId xmlns:a16="http://schemas.microsoft.com/office/drawing/2014/main" val="2295999212"/>
                  </a:ext>
                </a:extLst>
              </a:tr>
            </a:tbl>
          </a:graphicData>
        </a:graphic>
      </p:graphicFrame>
    </p:spTree>
    <p:extLst>
      <p:ext uri="{BB962C8B-B14F-4D97-AF65-F5344CB8AC3E}">
        <p14:creationId xmlns:p14="http://schemas.microsoft.com/office/powerpoint/2010/main" val="3695303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US" sz="2133"/>
              <a:t>Cryptography</a:t>
            </a:r>
            <a:br>
              <a:rPr lang="en-US"/>
            </a:br>
            <a:r>
              <a:rPr lang="en-US" sz="3200"/>
              <a:t>Diffie-Hellman</a:t>
            </a:r>
          </a:p>
        </p:txBody>
      </p:sp>
      <p:sp>
        <p:nvSpPr>
          <p:cNvPr id="4" name="Content Placeholder 3">
            <a:extLst>
              <a:ext uri="{FF2B5EF4-FFF2-40B4-BE49-F238E27FC236}">
                <a16:creationId xmlns:a16="http://schemas.microsoft.com/office/drawing/2014/main" id="{029FDF38-4407-C847-9211-10EA40A630FE}"/>
              </a:ext>
            </a:extLst>
          </p:cNvPr>
          <p:cNvSpPr>
            <a:spLocks noGrp="1"/>
          </p:cNvSpPr>
          <p:nvPr>
            <p:ph idx="1"/>
          </p:nvPr>
        </p:nvSpPr>
        <p:spPr>
          <a:xfrm>
            <a:off x="632883" y="975783"/>
            <a:ext cx="11040076" cy="4919863"/>
          </a:xfrm>
        </p:spPr>
        <p:txBody>
          <a:bodyPr/>
          <a:lstStyle/>
          <a:p>
            <a:pPr marL="457189" indent="-457189" algn="l">
              <a:buFont typeface="Arial" panose="020B0604020202020204" pitchFamily="34" charset="0"/>
              <a:buChar char="•"/>
            </a:pPr>
            <a:r>
              <a:rPr lang="en-US" sz="1867">
                <a:solidFill>
                  <a:srgbClr val="000000"/>
                </a:solidFill>
              </a:rPr>
              <a:t>Diffie-Hellman (DH) is an asymmetric mathematical algorithm where two computers generate an identical shared secret key without having communicated before. The new shared key is never actually exchanged between the sender and receiver.</a:t>
            </a:r>
          </a:p>
          <a:p>
            <a:pPr marL="457189" indent="-457189" algn="l">
              <a:buFont typeface="Arial" panose="020B0604020202020204" pitchFamily="34" charset="0"/>
              <a:buChar char="•"/>
            </a:pPr>
            <a:r>
              <a:rPr lang="en-US" sz="1867">
                <a:solidFill>
                  <a:srgbClr val="000000"/>
                </a:solidFill>
              </a:rPr>
              <a:t>Here are three examples of instances when DH is commonly used:</a:t>
            </a:r>
          </a:p>
          <a:p>
            <a:pPr marL="554633" lvl="1" indent="-457189"/>
            <a:r>
              <a:rPr lang="en-US">
                <a:solidFill>
                  <a:srgbClr val="000000"/>
                </a:solidFill>
              </a:rPr>
              <a:t>Data is exchanged using an IPsec VPN.</a:t>
            </a:r>
          </a:p>
          <a:p>
            <a:pPr marL="554633" lvl="1" indent="-457189"/>
            <a:r>
              <a:rPr lang="en-US">
                <a:solidFill>
                  <a:srgbClr val="000000"/>
                </a:solidFill>
              </a:rPr>
              <a:t>Data is encrypted on the internet using either SSL or TLS.</a:t>
            </a:r>
          </a:p>
          <a:p>
            <a:pPr marL="554633" lvl="1" indent="-457189"/>
            <a:r>
              <a:rPr lang="en-US">
                <a:solidFill>
                  <a:srgbClr val="000000"/>
                </a:solidFill>
              </a:rPr>
              <a:t>SSH data is exchanged.</a:t>
            </a:r>
          </a:p>
          <a:p>
            <a:pPr marL="457189" indent="-457189" algn="l">
              <a:buFont typeface="Arial" panose="020B0604020202020204" pitchFamily="34" charset="0"/>
              <a:buChar char="•"/>
            </a:pPr>
            <a:r>
              <a:rPr lang="en-US" sz="1867">
                <a:solidFill>
                  <a:srgbClr val="000000"/>
                </a:solidFill>
              </a:rPr>
              <a:t>DH security uses unbelievably large numbers in its calculations. </a:t>
            </a:r>
          </a:p>
          <a:p>
            <a:pPr marL="457189" indent="-457189" algn="l">
              <a:buFont typeface="Arial" panose="020B0604020202020204" pitchFamily="34" charset="0"/>
              <a:buChar char="•"/>
            </a:pPr>
            <a:r>
              <a:rPr lang="en-US" sz="1867">
                <a:solidFill>
                  <a:srgbClr val="000000"/>
                </a:solidFill>
              </a:rPr>
              <a:t>Unfortunately, asymmetric key systems are extremely slow for any sort of bulk encryption. Therefore, it is common to encrypt the bulk of the traffic using a symmetric algorithm, such as 3DES or AES and then use the DH algorithm to create keys that will be used by the encryption algorithm.</a:t>
            </a:r>
          </a:p>
          <a:p>
            <a:pPr marL="478435" lvl="1" indent="-380990"/>
            <a:endParaRPr lang="en-US">
              <a:solidFill>
                <a:srgbClr val="000000"/>
              </a:solidFill>
            </a:endParaRPr>
          </a:p>
          <a:p>
            <a:pPr marL="457189" indent="-457189" algn="l">
              <a:buFont typeface="Arial" panose="020B0604020202020204" pitchFamily="34" charset="0"/>
              <a:buChar char="•"/>
            </a:pPr>
            <a:endParaRPr lang="en-US" sz="1867">
              <a:solidFill>
                <a:srgbClr val="000000"/>
              </a:solidFill>
            </a:endParaRPr>
          </a:p>
        </p:txBody>
      </p:sp>
    </p:spTree>
    <p:extLst>
      <p:ext uri="{BB962C8B-B14F-4D97-AF65-F5344CB8AC3E}">
        <p14:creationId xmlns:p14="http://schemas.microsoft.com/office/powerpoint/2010/main" val="30903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US" sz="2133"/>
              <a:t>Cryptography</a:t>
            </a:r>
            <a:br>
              <a:rPr lang="en-US"/>
            </a:br>
            <a:r>
              <a:rPr lang="en-US" sz="3200"/>
              <a:t>Diffie-Hellman (Cont.)</a:t>
            </a:r>
          </a:p>
        </p:txBody>
      </p:sp>
      <p:sp>
        <p:nvSpPr>
          <p:cNvPr id="5" name="Content Placeholder 4">
            <a:extLst>
              <a:ext uri="{FF2B5EF4-FFF2-40B4-BE49-F238E27FC236}">
                <a16:creationId xmlns:a16="http://schemas.microsoft.com/office/drawing/2014/main" id="{3EEDFADD-64B1-4445-9DF7-EFB13FAEE90E}"/>
              </a:ext>
            </a:extLst>
          </p:cNvPr>
          <p:cNvSpPr>
            <a:spLocks noGrp="1"/>
          </p:cNvSpPr>
          <p:nvPr>
            <p:ph idx="1"/>
          </p:nvPr>
        </p:nvSpPr>
        <p:spPr>
          <a:xfrm>
            <a:off x="297713" y="975783"/>
            <a:ext cx="6733953" cy="4919863"/>
          </a:xfrm>
        </p:spPr>
        <p:txBody>
          <a:bodyPr/>
          <a:lstStyle/>
          <a:p>
            <a:pPr marL="457189" indent="-457189" algn="l">
              <a:buFont typeface="Arial" panose="020B0604020202020204" pitchFamily="34" charset="0"/>
              <a:buChar char="•"/>
            </a:pPr>
            <a:r>
              <a:rPr lang="en-US" sz="1600">
                <a:solidFill>
                  <a:srgbClr val="000000"/>
                </a:solidFill>
              </a:rPr>
              <a:t>The colors in the figure will be used instead of numbers to simplify the DH key agreement process. The DH key exchange begins with Alice and Bob agreeing on an arbitrary common color that does not need to be kept secret. The agreed upon color in our example is yellow.</a:t>
            </a:r>
          </a:p>
          <a:p>
            <a:pPr marL="457189" indent="-457189" algn="l">
              <a:buFont typeface="Arial" panose="020B0604020202020204" pitchFamily="34" charset="0"/>
              <a:buChar char="•"/>
            </a:pPr>
            <a:r>
              <a:rPr lang="en-US" sz="1600">
                <a:solidFill>
                  <a:srgbClr val="000000"/>
                </a:solidFill>
              </a:rPr>
              <a:t>Next, Alice and Bob will each select a secret color. Alice chose red while Bob chose blue. These secret colors will never be shared with anyone. The secret color represents the chosen secret private key of each party.</a:t>
            </a:r>
          </a:p>
          <a:p>
            <a:pPr marL="457189" indent="-457189" algn="l">
              <a:buFont typeface="Arial" panose="020B0604020202020204" pitchFamily="34" charset="0"/>
              <a:buChar char="•"/>
            </a:pPr>
            <a:r>
              <a:rPr lang="en-US" sz="1600">
                <a:solidFill>
                  <a:srgbClr val="000000"/>
                </a:solidFill>
              </a:rPr>
              <a:t>Alice and Bob now mix the shared common color (yellow) with their respective secret color to produce a private color. Therefore, Alice will mix the yellow with her red color to produce a private color of orange. Bob will mix the yellow and the blue to produce a private color of green.</a:t>
            </a:r>
          </a:p>
          <a:p>
            <a:pPr marL="457189" indent="-457189" algn="l">
              <a:buFont typeface="Arial" panose="020B0604020202020204" pitchFamily="34" charset="0"/>
              <a:buChar char="•"/>
            </a:pPr>
            <a:r>
              <a:rPr lang="en-US" sz="1600">
                <a:solidFill>
                  <a:srgbClr val="000000"/>
                </a:solidFill>
              </a:rPr>
              <a:t>Alice sends her private color (orange) to Bob and Bob sends his private color (green) to Alice.</a:t>
            </a:r>
          </a:p>
          <a:p>
            <a:pPr marL="457189" indent="-457189" algn="l">
              <a:buFont typeface="Arial" panose="020B0604020202020204" pitchFamily="34" charset="0"/>
              <a:buChar char="•"/>
            </a:pPr>
            <a:r>
              <a:rPr lang="en-US" sz="1600">
                <a:solidFill>
                  <a:srgbClr val="000000"/>
                </a:solidFill>
              </a:rPr>
              <a:t>Alice and Bob each mix the color they received with their own, original secret color (Red for Alice and blue for Bob.). The result is a final brown color mixture that is identical to the other’s final color mixture. The brown color represents the resulting shared secret key between Bob and Alice.</a:t>
            </a:r>
          </a:p>
          <a:p>
            <a:pPr marL="457189" indent="-457189" algn="l">
              <a:buFont typeface="Arial" panose="020B0604020202020204" pitchFamily="34" charset="0"/>
              <a:buChar char="•"/>
            </a:pPr>
            <a:endParaRPr lang="en-US" sz="1600">
              <a:solidFill>
                <a:srgbClr val="000000"/>
              </a:solidFill>
            </a:endParaRPr>
          </a:p>
        </p:txBody>
      </p:sp>
      <p:pic>
        <p:nvPicPr>
          <p:cNvPr id="7" name="Picture 6">
            <a:extLst>
              <a:ext uri="{FF2B5EF4-FFF2-40B4-BE49-F238E27FC236}">
                <a16:creationId xmlns:a16="http://schemas.microsoft.com/office/drawing/2014/main" id="{565AB422-70F6-CC49-BAE7-8B193970E5FE}"/>
              </a:ext>
            </a:extLst>
          </p:cNvPr>
          <p:cNvPicPr>
            <a:picLocks noChangeAspect="1"/>
          </p:cNvPicPr>
          <p:nvPr/>
        </p:nvPicPr>
        <p:blipFill>
          <a:blip r:embed="rId3"/>
          <a:stretch>
            <a:fillRect/>
          </a:stretch>
        </p:blipFill>
        <p:spPr>
          <a:xfrm>
            <a:off x="7195880" y="1987276"/>
            <a:ext cx="4698409" cy="2883448"/>
          </a:xfrm>
          <a:prstGeom prst="rect">
            <a:avLst/>
          </a:prstGeom>
        </p:spPr>
      </p:pic>
    </p:spTree>
    <p:extLst>
      <p:ext uri="{BB962C8B-B14F-4D97-AF65-F5344CB8AC3E}">
        <p14:creationId xmlns:p14="http://schemas.microsoft.com/office/powerpoint/2010/main" val="1903613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Fyzická bezpečnost</a:t>
            </a:r>
            <a:endParaRPr lang="cs-CZ"/>
          </a:p>
        </p:txBody>
      </p:sp>
      <p:sp>
        <p:nvSpPr>
          <p:cNvPr id="3" name="Content Placeholder 2"/>
          <p:cNvSpPr>
            <a:spLocks noGrp="1"/>
          </p:cNvSpPr>
          <p:nvPr>
            <p:ph idx="1"/>
          </p:nvPr>
        </p:nvSpPr>
        <p:spPr/>
        <p:txBody>
          <a:bodyPr>
            <a:normAutofit lnSpcReduction="10000"/>
          </a:bodyPr>
          <a:lstStyle/>
          <a:p>
            <a:r>
              <a:rPr lang="cs-CZ"/>
              <a:t>Fyzická bezpečnost je nedílnou, důležitou a bohužel mnohdy podceňovanou součástí kybernetické bezpečnosti.</a:t>
            </a:r>
          </a:p>
          <a:p>
            <a:r>
              <a:rPr lang="cs-CZ"/>
              <a:t>K čemu jsou drahé firewally, antiviry nebo SIEM </a:t>
            </a:r>
            <a:r>
              <a:rPr lang="en-US"/>
              <a:t>(Security Information and Event Management)</a:t>
            </a:r>
            <a:r>
              <a:rPr lang="cs-CZ"/>
              <a:t> – monitoring, řešení, když může útočník fyzicky dojít až k serveru, připojit k němu USB disk a zkopírovat z něj </a:t>
            </a:r>
            <a:r>
              <a:rPr lang="cs-CZ" err="1"/>
              <a:t>malware</a:t>
            </a:r>
            <a:r>
              <a:rPr lang="cs-CZ"/>
              <a:t> přímo do serveru, či si naopak ze serveru odnést důležitá data.</a:t>
            </a:r>
            <a:br>
              <a:rPr lang="cs-CZ"/>
            </a:br>
            <a:br>
              <a:rPr lang="cs-CZ"/>
            </a:b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102</a:t>
            </a:fld>
            <a:endParaRPr lang="cs-CZ"/>
          </a:p>
        </p:txBody>
      </p:sp>
    </p:spTree>
    <p:extLst>
      <p:ext uri="{BB962C8B-B14F-4D97-AF65-F5344CB8AC3E}">
        <p14:creationId xmlns:p14="http://schemas.microsoft.com/office/powerpoint/2010/main" val="426476309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Fyzická bezpečnost</a:t>
            </a:r>
            <a:endParaRPr lang="cs-CZ"/>
          </a:p>
        </p:txBody>
      </p:sp>
      <p:sp>
        <p:nvSpPr>
          <p:cNvPr id="3" name="Content Placeholder 2"/>
          <p:cNvSpPr>
            <a:spLocks noGrp="1"/>
          </p:cNvSpPr>
          <p:nvPr>
            <p:ph idx="1"/>
          </p:nvPr>
        </p:nvSpPr>
        <p:spPr/>
        <p:txBody>
          <a:bodyPr/>
          <a:lstStyle/>
          <a:p>
            <a:r>
              <a:rPr lang="cs-CZ"/>
              <a:t>Fyzická bezpečnost v sobě zahrnuje řadu opatření, mezi které patří:</a:t>
            </a:r>
          </a:p>
          <a:p>
            <a:pPr lvl="1"/>
            <a:r>
              <a:rPr lang="cs-CZ" b="1"/>
              <a:t>zajištění perimetru</a:t>
            </a:r>
            <a:r>
              <a:rPr lang="cs-CZ"/>
              <a:t>,</a:t>
            </a:r>
          </a:p>
          <a:p>
            <a:pPr lvl="1"/>
            <a:r>
              <a:rPr lang="cs-CZ" b="1"/>
              <a:t>kontrola přístupu</a:t>
            </a:r>
            <a:r>
              <a:rPr lang="cs-CZ"/>
              <a:t>,</a:t>
            </a:r>
          </a:p>
          <a:p>
            <a:pPr lvl="1"/>
            <a:r>
              <a:rPr lang="cs-CZ" b="1"/>
              <a:t>vnitřní bezpečnost</a:t>
            </a:r>
            <a:r>
              <a:rPr lang="cs-CZ"/>
              <a:t>,</a:t>
            </a:r>
          </a:p>
          <a:p>
            <a:pPr lvl="1"/>
            <a:r>
              <a:rPr lang="cs-CZ" b="1"/>
              <a:t>ochrana počítačových systémů </a:t>
            </a:r>
            <a:r>
              <a:rPr lang="cs-CZ"/>
              <a:t>před rozebráním, úpravou, nebo připojením periférií k vstupně výstupním portům.</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103</a:t>
            </a:fld>
            <a:endParaRPr lang="cs-CZ"/>
          </a:p>
        </p:txBody>
      </p:sp>
    </p:spTree>
    <p:extLst>
      <p:ext uri="{BB962C8B-B14F-4D97-AF65-F5344CB8AC3E}">
        <p14:creationId xmlns:p14="http://schemas.microsoft.com/office/powerpoint/2010/main" val="176137390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Zajištění perimetru</a:t>
            </a:r>
            <a:endParaRPr lang="cs-CZ"/>
          </a:p>
        </p:txBody>
      </p:sp>
      <p:sp>
        <p:nvSpPr>
          <p:cNvPr id="3" name="Content Placeholder 2"/>
          <p:cNvSpPr>
            <a:spLocks noGrp="1"/>
          </p:cNvSpPr>
          <p:nvPr>
            <p:ph idx="1"/>
          </p:nvPr>
        </p:nvSpPr>
        <p:spPr/>
        <p:txBody>
          <a:bodyPr>
            <a:normAutofit lnSpcReduction="10000"/>
          </a:bodyPr>
          <a:lstStyle/>
          <a:p>
            <a:r>
              <a:rPr lang="cs-CZ"/>
              <a:t>V pojetí fyzické bezpečnosti se obvykle za perimetr považuje oblast, která bezprostředně obklopuje prostor, ve kterém jsou chráněná aktiva (data, informace ale i prvky ICT aj.).</a:t>
            </a:r>
          </a:p>
          <a:p>
            <a:r>
              <a:rPr lang="cs-CZ"/>
              <a:t>Perimetr je možné zajistit například elektronickými systémy detekce pohybu, kamerovými systémy, či například společnou recepcí, která je schopna identifikovat návštěvu a monitorovat její pohyb v rámci chráněného prostoru.</a:t>
            </a:r>
          </a:p>
          <a:p>
            <a:r>
              <a:rPr lang="cs-CZ"/>
              <a:t>V případě využívání kamerových systémů je však třeba respektovat podmínky (zejména v rovině práva na ochranu osobních údajů) stanovené právními předpisy pro využívání těchto systémů.</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104</a:t>
            </a:fld>
            <a:endParaRPr lang="cs-CZ"/>
          </a:p>
        </p:txBody>
      </p:sp>
    </p:spTree>
    <p:extLst>
      <p:ext uri="{BB962C8B-B14F-4D97-AF65-F5344CB8AC3E}">
        <p14:creationId xmlns:p14="http://schemas.microsoft.com/office/powerpoint/2010/main" val="390344959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Kontrola přístupu</a:t>
            </a:r>
            <a:endParaRPr lang="cs-CZ"/>
          </a:p>
        </p:txBody>
      </p:sp>
      <p:sp>
        <p:nvSpPr>
          <p:cNvPr id="3" name="Content Placeholder 2"/>
          <p:cNvSpPr>
            <a:spLocks noGrp="1"/>
          </p:cNvSpPr>
          <p:nvPr>
            <p:ph idx="1"/>
          </p:nvPr>
        </p:nvSpPr>
        <p:spPr/>
        <p:txBody>
          <a:bodyPr>
            <a:normAutofit lnSpcReduction="10000"/>
          </a:bodyPr>
          <a:lstStyle/>
          <a:p>
            <a:r>
              <a:rPr lang="cs-CZ"/>
              <a:t>Kontrola přístupu zajišťuje, aby se přes perimetr dostaly pouze osoby k tomu oprávněné. Cílem kontroly přístupu je chránit aktiva (ICT systémy, data aj.) před neoprávněnými zásahy do nich.</a:t>
            </a:r>
          </a:p>
          <a:p>
            <a:r>
              <a:rPr lang="cs-CZ"/>
              <a:t>Mechanismů pro kontrolu přístupu a jejich kombinací existuje celá řada. Počínaje klasickými zámky, přes elektronické systémy schopné registrovat docházku zaměstnanců, až po kontrolu lidskou ostrahou. Výše </a:t>
            </a:r>
            <a:r>
              <a:rPr lang="cs-CZ" b="1"/>
              <a:t>uvedená řešení je možné kombinovat</a:t>
            </a:r>
            <a:r>
              <a:rPr lang="cs-CZ"/>
              <a:t>, avšak při implementaci je třeba vždy zohlednit výhody a nevýhody toho kterého řešení kontroly přístupu.</a:t>
            </a:r>
            <a:br>
              <a:rPr lang="cs-CZ"/>
            </a:b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105</a:t>
            </a:fld>
            <a:endParaRPr lang="cs-CZ"/>
          </a:p>
        </p:txBody>
      </p:sp>
    </p:spTree>
    <p:extLst>
      <p:ext uri="{BB962C8B-B14F-4D97-AF65-F5344CB8AC3E}">
        <p14:creationId xmlns:p14="http://schemas.microsoft.com/office/powerpoint/2010/main" val="273402688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Kontrola přístupu</a:t>
            </a:r>
            <a:endParaRPr lang="cs-CZ"/>
          </a:p>
        </p:txBody>
      </p:sp>
      <p:sp>
        <p:nvSpPr>
          <p:cNvPr id="3" name="Content Placeholder 2"/>
          <p:cNvSpPr>
            <a:spLocks noGrp="1"/>
          </p:cNvSpPr>
          <p:nvPr>
            <p:ph idx="1"/>
          </p:nvPr>
        </p:nvSpPr>
        <p:spPr/>
        <p:txBody>
          <a:bodyPr>
            <a:normAutofit fontScale="92500" lnSpcReduction="10000"/>
          </a:bodyPr>
          <a:lstStyle/>
          <a:p>
            <a:r>
              <a:rPr lang="cs-CZ"/>
              <a:t>V případě</a:t>
            </a:r>
            <a:r>
              <a:rPr lang="cs-CZ" b="1"/>
              <a:t> výběru zámku </a:t>
            </a:r>
            <a:r>
              <a:rPr lang="cs-CZ"/>
              <a:t>je třeba pamatovat na to, že existuje šest bezpečnostních tříd, které jsou definovány časem, který je potřeba k jejich překonání za použití určité síly, zkušenosti a nástrojů. Důležité je také neopomenout, že bezpečnostní třída zámku by měla být v souladu s bezpečnostní třídou dveří, kováním, vložkami.</a:t>
            </a:r>
          </a:p>
          <a:p>
            <a:r>
              <a:rPr lang="cs-CZ"/>
              <a:t>V určitých případech je vhodné využívat </a:t>
            </a:r>
            <a:r>
              <a:rPr lang="cs-CZ" b="1"/>
              <a:t>systém generálního klíče</a:t>
            </a:r>
            <a:r>
              <a:rPr lang="cs-CZ"/>
              <a:t>, kdy zaměstnanec disponuje klíčem, který odemyká pouze jeho kancelář, ředitel daného úseku pak může mít klíč, který mu umožní přístup do všech kanceláří jeho podřízených a ostraha objektu či ředitel firmy může mít</a:t>
            </a:r>
            <a:br>
              <a:rPr lang="cs-CZ"/>
            </a:br>
            <a:r>
              <a:rPr lang="cs-CZ"/>
              <a:t>k dispozici generální klíč, kterým v případě nouze odemkne jakékoliv dveře ve firmě.</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106</a:t>
            </a:fld>
            <a:endParaRPr lang="cs-CZ"/>
          </a:p>
        </p:txBody>
      </p:sp>
    </p:spTree>
    <p:extLst>
      <p:ext uri="{BB962C8B-B14F-4D97-AF65-F5344CB8AC3E}">
        <p14:creationId xmlns:p14="http://schemas.microsoft.com/office/powerpoint/2010/main" val="120256432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107</a:t>
            </a:fld>
            <a:endParaRPr lang="cs-CZ"/>
          </a:p>
        </p:txBody>
      </p:sp>
      <p:pic>
        <p:nvPicPr>
          <p:cNvPr id="6" name="Picture 5"/>
          <p:cNvPicPr>
            <a:picLocks noChangeAspect="1"/>
          </p:cNvPicPr>
          <p:nvPr/>
        </p:nvPicPr>
        <p:blipFill>
          <a:blip r:embed="rId2"/>
          <a:stretch>
            <a:fillRect/>
          </a:stretch>
        </p:blipFill>
        <p:spPr>
          <a:xfrm>
            <a:off x="1904343" y="341624"/>
            <a:ext cx="8383315" cy="6072890"/>
          </a:xfrm>
          <a:prstGeom prst="rect">
            <a:avLst/>
          </a:prstGeom>
        </p:spPr>
      </p:pic>
    </p:spTree>
    <p:extLst>
      <p:ext uri="{BB962C8B-B14F-4D97-AF65-F5344CB8AC3E}">
        <p14:creationId xmlns:p14="http://schemas.microsoft.com/office/powerpoint/2010/main" val="39333221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108</a:t>
            </a:fld>
            <a:endParaRPr lang="cs-CZ"/>
          </a:p>
        </p:txBody>
      </p:sp>
      <p:pic>
        <p:nvPicPr>
          <p:cNvPr id="6" name="Picture 5"/>
          <p:cNvPicPr>
            <a:picLocks noChangeAspect="1"/>
          </p:cNvPicPr>
          <p:nvPr/>
        </p:nvPicPr>
        <p:blipFill>
          <a:blip r:embed="rId2"/>
          <a:stretch>
            <a:fillRect/>
          </a:stretch>
        </p:blipFill>
        <p:spPr>
          <a:xfrm>
            <a:off x="1732090" y="369272"/>
            <a:ext cx="8493288" cy="6053459"/>
          </a:xfrm>
          <a:prstGeom prst="rect">
            <a:avLst/>
          </a:prstGeom>
        </p:spPr>
      </p:pic>
    </p:spTree>
    <p:extLst>
      <p:ext uri="{BB962C8B-B14F-4D97-AF65-F5344CB8AC3E}">
        <p14:creationId xmlns:p14="http://schemas.microsoft.com/office/powerpoint/2010/main" val="167536072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Kontrola přístupu</a:t>
            </a:r>
            <a:endParaRPr lang="cs-CZ"/>
          </a:p>
        </p:txBody>
      </p:sp>
      <p:sp>
        <p:nvSpPr>
          <p:cNvPr id="3" name="Content Placeholder 2"/>
          <p:cNvSpPr>
            <a:spLocks noGrp="1"/>
          </p:cNvSpPr>
          <p:nvPr>
            <p:ph idx="1"/>
          </p:nvPr>
        </p:nvSpPr>
        <p:spPr/>
        <p:txBody>
          <a:bodyPr/>
          <a:lstStyle/>
          <a:p>
            <a:r>
              <a:rPr lang="cs-CZ" b="1"/>
              <a:t>Z hlediska zajištění bezpečnosti aktiv je vhodné využívat kombinované systémy umožňující</a:t>
            </a:r>
            <a:r>
              <a:rPr lang="cs-CZ"/>
              <a:t> </a:t>
            </a:r>
            <a:r>
              <a:rPr lang="cs-CZ" b="1"/>
              <a:t>kontrolu přístupu za pomoci tokenu a druhotné autentizace (např. zadáním kódu, využitím</a:t>
            </a:r>
            <a:br>
              <a:rPr lang="cs-CZ"/>
            </a:br>
            <a:r>
              <a:rPr lang="cs-CZ" b="1"/>
              <a:t>biometrických údajů oprávněné osoby aj.). </a:t>
            </a:r>
            <a:r>
              <a:rPr lang="cs-CZ"/>
              <a:t>Kombinovaný systém může zabránit zneužití tokenu například při jeho ztrátě či krádeži a zároveň eliminuje případy, kdy oprávněný uživatel například půjčí token jiné osobě.</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109</a:t>
            </a:fld>
            <a:endParaRPr lang="cs-CZ"/>
          </a:p>
        </p:txBody>
      </p:sp>
    </p:spTree>
    <p:extLst>
      <p:ext uri="{BB962C8B-B14F-4D97-AF65-F5344CB8AC3E}">
        <p14:creationId xmlns:p14="http://schemas.microsoft.com/office/powerpoint/2010/main" val="162234186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Vnitřní bezpečnost</a:t>
            </a:r>
            <a:endParaRPr lang="cs-CZ"/>
          </a:p>
        </p:txBody>
      </p:sp>
      <p:sp>
        <p:nvSpPr>
          <p:cNvPr id="3" name="Content Placeholder 2"/>
          <p:cNvSpPr>
            <a:spLocks noGrp="1"/>
          </p:cNvSpPr>
          <p:nvPr>
            <p:ph idx="1"/>
          </p:nvPr>
        </p:nvSpPr>
        <p:spPr/>
        <p:txBody>
          <a:bodyPr>
            <a:normAutofit fontScale="92500" lnSpcReduction="10000"/>
          </a:bodyPr>
          <a:lstStyle/>
          <a:p>
            <a:r>
              <a:rPr lang="cs-CZ"/>
              <a:t>V rámci vnitřní bezpečnosti je pozornost věnována samotné ochraně prostor, ve kterých se nacházejí aktiva (tj. data, ICT aj.). Jde tedy o řízení přístupů do jednotlivých místností, zajištění prostoru v době, kdy je budova prázdná, či třeba zajištění vhodných podmínek pro provoz ICT zařízení.</a:t>
            </a:r>
          </a:p>
          <a:p>
            <a:r>
              <a:rPr lang="cs-CZ"/>
              <a:t>V tomto kontextu jistě stojí za připomenutí, že část bezpečnosti je třeba řešit prostřednictvím interních politik. Jedna z politik, které by neměly v organizaci chybět, je </a:t>
            </a:r>
            <a:r>
              <a:rPr lang="cs-CZ" b="1"/>
              <a:t>politika čistého stolu</a:t>
            </a:r>
            <a:r>
              <a:rPr lang="cs-CZ"/>
              <a:t> </a:t>
            </a:r>
            <a:r>
              <a:rPr lang="cs-CZ" b="1"/>
              <a:t>a prázdné obrazovky</a:t>
            </a:r>
            <a:r>
              <a:rPr lang="cs-CZ"/>
              <a:t>, která uvádí, že by zaměstnanec neměl v době své nepřítomnosti v kanceláři</a:t>
            </a:r>
            <a:br>
              <a:rPr lang="cs-CZ"/>
            </a:br>
            <a:r>
              <a:rPr lang="cs-CZ"/>
              <a:t>nechávat na stole žádné pracovní dokumenty a měl by mít vždy uzamčený počítačový systém tak, aby z něj nebylo možné nic přečíst či jej jinak zneužít.</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110</a:t>
            </a:fld>
            <a:endParaRPr lang="cs-CZ"/>
          </a:p>
        </p:txBody>
      </p:sp>
    </p:spTree>
    <p:extLst>
      <p:ext uri="{BB962C8B-B14F-4D97-AF65-F5344CB8AC3E}">
        <p14:creationId xmlns:p14="http://schemas.microsoft.com/office/powerpoint/2010/main" val="389102726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Vnitřní bezpečnost</a:t>
            </a:r>
            <a:endParaRPr lang="cs-CZ"/>
          </a:p>
        </p:txBody>
      </p:sp>
      <p:sp>
        <p:nvSpPr>
          <p:cNvPr id="3" name="Content Placeholder 2"/>
          <p:cNvSpPr>
            <a:spLocks noGrp="1"/>
          </p:cNvSpPr>
          <p:nvPr>
            <p:ph idx="1"/>
          </p:nvPr>
        </p:nvSpPr>
        <p:spPr/>
        <p:txBody>
          <a:bodyPr>
            <a:normAutofit/>
          </a:bodyPr>
          <a:lstStyle/>
          <a:p>
            <a:r>
              <a:rPr lang="cs-CZ" b="1"/>
              <a:t>Prostory určené pro provoz serverů a dalších významných prvků ICT je vhodné vybavit:</a:t>
            </a:r>
            <a:endParaRPr lang="cs-CZ"/>
          </a:p>
          <a:p>
            <a:pPr lvl="1"/>
            <a:r>
              <a:rPr lang="cs-CZ" b="1"/>
              <a:t>kombinovaným systémem přístupu</a:t>
            </a:r>
            <a:r>
              <a:rPr lang="cs-CZ"/>
              <a:t>, který současně zaznamenává na jiný počítačový systém (umístěný mimo </a:t>
            </a:r>
            <a:r>
              <a:rPr lang="cs-CZ" err="1"/>
              <a:t>serverovnu</a:t>
            </a:r>
            <a:r>
              <a:rPr lang="cs-CZ"/>
              <a:t>) jednotlivé přístupy,</a:t>
            </a:r>
          </a:p>
          <a:p>
            <a:pPr lvl="1"/>
            <a:r>
              <a:rPr lang="cs-CZ" b="1"/>
              <a:t>kamerovým systémem </a:t>
            </a:r>
            <a:r>
              <a:rPr lang="cs-CZ"/>
              <a:t>s automatickým zaznamenáváním při detekci pohybu</a:t>
            </a:r>
          </a:p>
          <a:p>
            <a:pPr lvl="1"/>
            <a:r>
              <a:rPr lang="cs-CZ" b="1"/>
              <a:t>EZS </a:t>
            </a:r>
            <a:r>
              <a:rPr lang="cs-CZ"/>
              <a:t>napojeným na pult centrální ochrany (PCO),</a:t>
            </a:r>
          </a:p>
          <a:p>
            <a:pPr lvl="1"/>
            <a:r>
              <a:rPr lang="cs-CZ" b="1"/>
              <a:t>klimatizací a zdrojem nepřerušovaného napájení </a:t>
            </a:r>
            <a:r>
              <a:rPr lang="cs-CZ"/>
              <a:t>(UPS),</a:t>
            </a:r>
          </a:p>
          <a:p>
            <a:pPr lvl="1"/>
            <a:r>
              <a:rPr lang="cs-CZ" b="1"/>
              <a:t>redundantním připojením na jiný záložní zdroj energie </a:t>
            </a:r>
            <a:r>
              <a:rPr lang="cs-CZ"/>
              <a:t>v případě déletrvajícího výpadku proudu (např. diesel agregát aj.),</a:t>
            </a:r>
          </a:p>
          <a:p>
            <a:pPr lvl="1"/>
            <a:r>
              <a:rPr lang="cs-CZ" b="1"/>
              <a:t>vhodným hasícím systémem </a:t>
            </a:r>
            <a:r>
              <a:rPr lang="cs-CZ"/>
              <a:t>(např. inertní hasivo IG-541 aj.).</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111</a:t>
            </a:fld>
            <a:endParaRPr lang="cs-CZ"/>
          </a:p>
        </p:txBody>
      </p:sp>
    </p:spTree>
    <p:extLst>
      <p:ext uri="{BB962C8B-B14F-4D97-AF65-F5344CB8AC3E}">
        <p14:creationId xmlns:p14="http://schemas.microsoft.com/office/powerpoint/2010/main" val="300826895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Ochrana počítačových systémů</a:t>
            </a:r>
            <a:endParaRPr lang="cs-CZ"/>
          </a:p>
        </p:txBody>
      </p:sp>
      <p:sp>
        <p:nvSpPr>
          <p:cNvPr id="3" name="Content Placeholder 2"/>
          <p:cNvSpPr>
            <a:spLocks noGrp="1"/>
          </p:cNvSpPr>
          <p:nvPr>
            <p:ph idx="1"/>
          </p:nvPr>
        </p:nvSpPr>
        <p:spPr/>
        <p:txBody>
          <a:bodyPr>
            <a:normAutofit/>
          </a:bodyPr>
          <a:lstStyle/>
          <a:p>
            <a:r>
              <a:rPr lang="cs-CZ"/>
              <a:t>Fyzickou bezpečnost počítačových systémů lze rozdělit na ochranu před krádeží, rozebráním, úpravou, nebo připojením periférií. I když by dodržování opatření zmiňovaných v předchozích částech této kapitoly mělo zabránit nepozorovanému průniku cizích osob až k počítačovým systémům v rámci vaší správy, je třeba mít na paměti, že </a:t>
            </a:r>
            <a:r>
              <a:rPr lang="cs-CZ" b="1"/>
              <a:t>bezpečnost je třeba vnímat jako celek</a:t>
            </a:r>
            <a:r>
              <a:rPr lang="cs-CZ"/>
              <a:t> </a:t>
            </a:r>
            <a:r>
              <a:rPr lang="cs-CZ" b="1"/>
              <a:t>složený z jednotlivých vrstev</a:t>
            </a:r>
            <a:r>
              <a:rPr lang="cs-CZ"/>
              <a:t>, přičemž není vhodné spoléhat se pouze na jednu vrstvu ochrany.</a:t>
            </a:r>
            <a:br>
              <a:rPr lang="cs-CZ"/>
            </a:br>
            <a:r>
              <a:rPr lang="cs-CZ"/>
              <a:t>Případným útočníkem navíc může být interní zaměstnanec, nebo zaměstnanec dodavatele, který řadu bezpečnostních opatření legálně obejde.</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112</a:t>
            </a:fld>
            <a:endParaRPr lang="cs-CZ"/>
          </a:p>
        </p:txBody>
      </p:sp>
    </p:spTree>
    <p:extLst>
      <p:ext uri="{BB962C8B-B14F-4D97-AF65-F5344CB8AC3E}">
        <p14:creationId xmlns:p14="http://schemas.microsoft.com/office/powerpoint/2010/main" val="285061201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Ochrana počítačových systémů</a:t>
            </a:r>
            <a:endParaRPr lang="cs-CZ"/>
          </a:p>
        </p:txBody>
      </p:sp>
      <p:sp>
        <p:nvSpPr>
          <p:cNvPr id="3" name="Content Placeholder 2"/>
          <p:cNvSpPr>
            <a:spLocks noGrp="1"/>
          </p:cNvSpPr>
          <p:nvPr>
            <p:ph idx="1"/>
          </p:nvPr>
        </p:nvSpPr>
        <p:spPr/>
        <p:txBody>
          <a:bodyPr>
            <a:normAutofit lnSpcReduction="10000"/>
          </a:bodyPr>
          <a:lstStyle/>
          <a:p>
            <a:r>
              <a:rPr lang="cs-CZ" b="1"/>
              <a:t>Ochrana serverů a klíčových prvků ICT</a:t>
            </a:r>
            <a:br>
              <a:rPr lang="cs-CZ"/>
            </a:br>
            <a:r>
              <a:rPr lang="cs-CZ"/>
              <a:t>Servery by vždy měly být umístěny ve zvlášť k tomu určené, uzamykatelné části organizace (</a:t>
            </a:r>
            <a:r>
              <a:rPr lang="cs-CZ" err="1"/>
              <a:t>serverovně</a:t>
            </a:r>
            <a:r>
              <a:rPr lang="cs-CZ"/>
              <a:t>), nebo přímo ve střeženém </a:t>
            </a:r>
            <a:r>
              <a:rPr lang="cs-CZ" err="1"/>
              <a:t>hostingovém</a:t>
            </a:r>
            <a:r>
              <a:rPr lang="cs-CZ"/>
              <a:t> centru.</a:t>
            </a:r>
          </a:p>
          <a:p>
            <a:r>
              <a:rPr lang="cs-CZ" b="1"/>
              <a:t>Ochrana ostatních počítačových systémů</a:t>
            </a:r>
            <a:br>
              <a:rPr lang="cs-CZ"/>
            </a:br>
            <a:r>
              <a:rPr lang="cs-CZ"/>
              <a:t>Proti krádeži lze zabezpečit i většinu notebooků, monitorů a desktopů pomocí zámků využívajících např. </a:t>
            </a:r>
            <a:r>
              <a:rPr lang="cs-CZ" err="1"/>
              <a:t>Kensington</a:t>
            </a:r>
            <a:r>
              <a:rPr lang="cs-CZ"/>
              <a:t> </a:t>
            </a:r>
            <a:r>
              <a:rPr lang="cs-CZ" err="1"/>
              <a:t>Security</a:t>
            </a:r>
            <a:r>
              <a:rPr lang="cs-CZ"/>
              <a:t> Slot. </a:t>
            </a:r>
            <a:r>
              <a:rPr lang="cs-CZ" err="1"/>
              <a:t>Kensington</a:t>
            </a:r>
            <a:r>
              <a:rPr lang="cs-CZ"/>
              <a:t> </a:t>
            </a:r>
            <a:r>
              <a:rPr lang="cs-CZ" err="1"/>
              <a:t>Security</a:t>
            </a:r>
            <a:r>
              <a:rPr lang="cs-CZ"/>
              <a:t> Slot je malá, kovem zesílená zdířka, která se používá spolu s příslušným kabelem a zámkem.</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113</a:t>
            </a:fld>
            <a:endParaRPr lang="cs-CZ"/>
          </a:p>
        </p:txBody>
      </p:sp>
    </p:spTree>
    <p:extLst>
      <p:ext uri="{BB962C8B-B14F-4D97-AF65-F5344CB8AC3E}">
        <p14:creationId xmlns:p14="http://schemas.microsoft.com/office/powerpoint/2010/main" val="398985940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E22D3-91E0-46D8-9A71-94ED9FC03EDC}"/>
              </a:ext>
            </a:extLst>
          </p:cNvPr>
          <p:cNvSpPr>
            <a:spLocks noGrp="1"/>
          </p:cNvSpPr>
          <p:nvPr>
            <p:ph type="title"/>
          </p:nvPr>
        </p:nvSpPr>
        <p:spPr/>
        <p:txBody>
          <a:bodyPr/>
          <a:lstStyle/>
          <a:p>
            <a:r>
              <a:rPr lang="en-US" b="1" i="0">
                <a:solidFill>
                  <a:srgbClr val="58585B"/>
                </a:solidFill>
                <a:effectLst/>
                <a:latin typeface="CiscoSans"/>
              </a:rPr>
              <a:t>Protecting Against Network Attacks</a:t>
            </a:r>
            <a:endParaRPr lang="en-US" b="1"/>
          </a:p>
        </p:txBody>
      </p:sp>
      <p:sp>
        <p:nvSpPr>
          <p:cNvPr id="4" name="Date Placeholder 3">
            <a:extLst>
              <a:ext uri="{FF2B5EF4-FFF2-40B4-BE49-F238E27FC236}">
                <a16:creationId xmlns:a16="http://schemas.microsoft.com/office/drawing/2014/main" id="{866C2CA9-2279-415C-81D7-C41981A3034A}"/>
              </a:ext>
            </a:extLst>
          </p:cNvPr>
          <p:cNvSpPr>
            <a:spLocks noGrp="1"/>
          </p:cNvSpPr>
          <p:nvPr>
            <p:ph type="dt" sz="half" idx="10"/>
          </p:nvPr>
        </p:nvSpPr>
        <p:spPr/>
        <p:txBody>
          <a:bodyPr/>
          <a:lstStyle/>
          <a:p>
            <a:r>
              <a:rPr lang="cs-CZ"/>
              <a:t>18.8.2022</a:t>
            </a:r>
          </a:p>
        </p:txBody>
      </p:sp>
      <p:sp>
        <p:nvSpPr>
          <p:cNvPr id="5" name="Slide Number Placeholder 4">
            <a:extLst>
              <a:ext uri="{FF2B5EF4-FFF2-40B4-BE49-F238E27FC236}">
                <a16:creationId xmlns:a16="http://schemas.microsoft.com/office/drawing/2014/main" id="{4C81EECD-4D49-430C-B271-4A7F9677EB76}"/>
              </a:ext>
            </a:extLst>
          </p:cNvPr>
          <p:cNvSpPr>
            <a:spLocks noGrp="1"/>
          </p:cNvSpPr>
          <p:nvPr>
            <p:ph type="sldNum" sz="quarter" idx="12"/>
          </p:nvPr>
        </p:nvSpPr>
        <p:spPr/>
        <p:txBody>
          <a:bodyPr/>
          <a:lstStyle/>
          <a:p>
            <a:fld id="{AD9F5C5F-4392-49C5-81DD-37F176609E69}" type="slidenum">
              <a:rPr lang="cs-CZ" smtClean="0"/>
              <a:t>114</a:t>
            </a:fld>
            <a:endParaRPr lang="cs-CZ"/>
          </a:p>
        </p:txBody>
      </p:sp>
      <p:pic>
        <p:nvPicPr>
          <p:cNvPr id="9" name="Picture 8">
            <a:extLst>
              <a:ext uri="{FF2B5EF4-FFF2-40B4-BE49-F238E27FC236}">
                <a16:creationId xmlns:a16="http://schemas.microsoft.com/office/drawing/2014/main" id="{C2987602-D4BB-4AAA-A202-39E728E3139D}"/>
              </a:ext>
            </a:extLst>
          </p:cNvPr>
          <p:cNvPicPr>
            <a:picLocks noChangeAspect="1"/>
          </p:cNvPicPr>
          <p:nvPr/>
        </p:nvPicPr>
        <p:blipFill>
          <a:blip r:embed="rId2"/>
          <a:stretch>
            <a:fillRect/>
          </a:stretch>
        </p:blipFill>
        <p:spPr>
          <a:xfrm>
            <a:off x="147124" y="2314776"/>
            <a:ext cx="12086158" cy="3350734"/>
          </a:xfrm>
          <a:prstGeom prst="rect">
            <a:avLst/>
          </a:prstGeom>
        </p:spPr>
      </p:pic>
    </p:spTree>
    <p:extLst>
      <p:ext uri="{BB962C8B-B14F-4D97-AF65-F5344CB8AC3E}">
        <p14:creationId xmlns:p14="http://schemas.microsoft.com/office/powerpoint/2010/main" val="337299973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7F000FD-4DA8-46C9-8203-3572CBFE4639}"/>
              </a:ext>
            </a:extLst>
          </p:cNvPr>
          <p:cNvSpPr>
            <a:spLocks noGrp="1"/>
          </p:cNvSpPr>
          <p:nvPr>
            <p:ph type="dt" sz="half" idx="10"/>
          </p:nvPr>
        </p:nvSpPr>
        <p:spPr/>
        <p:txBody>
          <a:bodyPr/>
          <a:lstStyle/>
          <a:p>
            <a:r>
              <a:rPr lang="cs-CZ"/>
              <a:t>18.8.2022</a:t>
            </a:r>
          </a:p>
        </p:txBody>
      </p:sp>
      <p:sp>
        <p:nvSpPr>
          <p:cNvPr id="5" name="Slide Number Placeholder 4">
            <a:extLst>
              <a:ext uri="{FF2B5EF4-FFF2-40B4-BE49-F238E27FC236}">
                <a16:creationId xmlns:a16="http://schemas.microsoft.com/office/drawing/2014/main" id="{CF137677-396B-40F6-9BEA-DA8986CD9364}"/>
              </a:ext>
            </a:extLst>
          </p:cNvPr>
          <p:cNvSpPr>
            <a:spLocks noGrp="1"/>
          </p:cNvSpPr>
          <p:nvPr>
            <p:ph type="sldNum" sz="quarter" idx="12"/>
          </p:nvPr>
        </p:nvSpPr>
        <p:spPr/>
        <p:txBody>
          <a:bodyPr/>
          <a:lstStyle/>
          <a:p>
            <a:fld id="{AD9F5C5F-4392-49C5-81DD-37F176609E69}" type="slidenum">
              <a:rPr lang="cs-CZ" smtClean="0"/>
              <a:t>115</a:t>
            </a:fld>
            <a:endParaRPr lang="cs-CZ"/>
          </a:p>
        </p:txBody>
      </p:sp>
      <p:pic>
        <p:nvPicPr>
          <p:cNvPr id="7" name="Picture 6">
            <a:extLst>
              <a:ext uri="{FF2B5EF4-FFF2-40B4-BE49-F238E27FC236}">
                <a16:creationId xmlns:a16="http://schemas.microsoft.com/office/drawing/2014/main" id="{F553A36F-1724-4B33-B12E-9A2A6DF13F9B}"/>
              </a:ext>
            </a:extLst>
          </p:cNvPr>
          <p:cNvPicPr>
            <a:picLocks noChangeAspect="1"/>
          </p:cNvPicPr>
          <p:nvPr/>
        </p:nvPicPr>
        <p:blipFill>
          <a:blip r:embed="rId2"/>
          <a:stretch>
            <a:fillRect/>
          </a:stretch>
        </p:blipFill>
        <p:spPr>
          <a:xfrm>
            <a:off x="1406846" y="502666"/>
            <a:ext cx="8756139" cy="5852667"/>
          </a:xfrm>
          <a:prstGeom prst="rect">
            <a:avLst/>
          </a:prstGeom>
        </p:spPr>
      </p:pic>
    </p:spTree>
    <p:extLst>
      <p:ext uri="{BB962C8B-B14F-4D97-AF65-F5344CB8AC3E}">
        <p14:creationId xmlns:p14="http://schemas.microsoft.com/office/powerpoint/2010/main" val="59237558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Ochrana ostatních počítačových systémů</a:t>
            </a:r>
            <a:endParaRPr lang="cs-CZ"/>
          </a:p>
        </p:txBody>
      </p:sp>
      <p:sp>
        <p:nvSpPr>
          <p:cNvPr id="3" name="Content Placeholder 2"/>
          <p:cNvSpPr>
            <a:spLocks noGrp="1"/>
          </p:cNvSpPr>
          <p:nvPr>
            <p:ph idx="1"/>
          </p:nvPr>
        </p:nvSpPr>
        <p:spPr/>
        <p:txBody>
          <a:bodyPr>
            <a:normAutofit/>
          </a:bodyPr>
          <a:lstStyle/>
          <a:p>
            <a:r>
              <a:rPr lang="cs-CZ"/>
              <a:t>Výrazně složitější je situace v případě ochrany před rozebráním a úpravou u „běžných“ počítačových systémů, jako jsou notebooky, desktopy a tiskárny. Tato zařízení se zpravidla nenachází v permanentně zabezpečeném prostoru.</a:t>
            </a:r>
          </a:p>
          <a:p>
            <a:r>
              <a:rPr lang="cs-CZ"/>
              <a:t>V případě desktopů je možné zakoupit počítačovou skříň s možností uzamčení bočnice či je dnes možné využít možnosti uzamčení pevného disku v </a:t>
            </a:r>
            <a:r>
              <a:rPr lang="cs-CZ" err="1"/>
              <a:t>BIOSu</a:t>
            </a:r>
            <a:r>
              <a:rPr lang="cs-CZ"/>
              <a:t>. Útočník tak sice může pevný disk vymontovat a odnést, ale bez znalosti hesla se k datům nedostane. Další možností je používat šifrování disků.</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116</a:t>
            </a:fld>
            <a:endParaRPr lang="cs-CZ"/>
          </a:p>
        </p:txBody>
      </p:sp>
    </p:spTree>
    <p:extLst>
      <p:ext uri="{BB962C8B-B14F-4D97-AF65-F5344CB8AC3E}">
        <p14:creationId xmlns:p14="http://schemas.microsoft.com/office/powerpoint/2010/main" val="287057795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Ochrana ostatních počítačových systémů</a:t>
            </a:r>
            <a:endParaRPr lang="cs-CZ"/>
          </a:p>
        </p:txBody>
      </p:sp>
      <p:sp>
        <p:nvSpPr>
          <p:cNvPr id="3" name="Content Placeholder 2"/>
          <p:cNvSpPr>
            <a:spLocks noGrp="1"/>
          </p:cNvSpPr>
          <p:nvPr>
            <p:ph idx="1"/>
          </p:nvPr>
        </p:nvSpPr>
        <p:spPr/>
        <p:txBody>
          <a:bodyPr/>
          <a:lstStyle/>
          <a:p>
            <a:r>
              <a:rPr lang="cs-CZ"/>
              <a:t>Samozřejmostí je, že i samotný přístup do </a:t>
            </a:r>
            <a:r>
              <a:rPr lang="cs-CZ" err="1"/>
              <a:t>BIOSu</a:t>
            </a:r>
            <a:r>
              <a:rPr lang="cs-CZ"/>
              <a:t> (resp. nastavení BIOS) bude chráněn heslem. V případě tiskáren jsou si jejich výrobci vědomi, že tiskové úlohy uložené na pevném disku v tiskárně mohou obsahovat citlivá data, a proto nabízejí tiskárny umožňující šifrování těchto dat. Avšak aby toto opatření splnilo očekávání, je třeba v nastavení tiskárny také změnit výchozí heslo pro šifrování dat.</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117</a:t>
            </a:fld>
            <a:endParaRPr lang="cs-CZ"/>
          </a:p>
        </p:txBody>
      </p:sp>
    </p:spTree>
    <p:extLst>
      <p:ext uri="{BB962C8B-B14F-4D97-AF65-F5344CB8AC3E}">
        <p14:creationId xmlns:p14="http://schemas.microsoft.com/office/powerpoint/2010/main" val="399058497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Ochrana ostatních počítačových systémů</a:t>
            </a:r>
            <a:endParaRPr lang="cs-CZ"/>
          </a:p>
        </p:txBody>
      </p:sp>
      <p:sp>
        <p:nvSpPr>
          <p:cNvPr id="3" name="Content Placeholder 2"/>
          <p:cNvSpPr>
            <a:spLocks noGrp="1"/>
          </p:cNvSpPr>
          <p:nvPr>
            <p:ph idx="1"/>
          </p:nvPr>
        </p:nvSpPr>
        <p:spPr/>
        <p:txBody>
          <a:bodyPr>
            <a:normAutofit/>
          </a:bodyPr>
          <a:lstStyle/>
          <a:p>
            <a:r>
              <a:rPr lang="cs-CZ"/>
              <a:t>Z pohledu fyzické bezpečnosti je ještě vhodné explicitně zmínit zařízení, která umožňují odposlech všech dat, která uživatel předává počítačovému systému prostřednictvím klávesnice. Existují různé varianty těchto zařízení využívající vstupy PS2 a USB. </a:t>
            </a:r>
          </a:p>
          <a:p>
            <a:r>
              <a:rPr lang="cs-CZ"/>
              <a:t>Zařízení se zapojí do počítačového systému jako mezikus a v případě, že uživatel fyzicky nekontroluje počítačový systém, je toto zařízení běžnými prostředky neidentifikovatelné. Tato zařízení mohou data ukládat lokálně či je mohou odesílat skrze počítačovou síť. Kromě toho existují také zařízení umožňující sledovat provoz na RS-232, DVI, HDMI, VGA, </a:t>
            </a:r>
            <a:r>
              <a:rPr lang="cs-CZ" err="1"/>
              <a:t>thunderbolt</a:t>
            </a:r>
            <a:r>
              <a:rPr lang="cs-CZ"/>
              <a:t> aj. kabelech.</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118</a:t>
            </a:fld>
            <a:endParaRPr lang="cs-CZ"/>
          </a:p>
        </p:txBody>
      </p:sp>
    </p:spTree>
    <p:extLst>
      <p:ext uri="{BB962C8B-B14F-4D97-AF65-F5344CB8AC3E}">
        <p14:creationId xmlns:p14="http://schemas.microsoft.com/office/powerpoint/2010/main" val="7688424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Ochrana ostatních počítačových systémů</a:t>
            </a: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119</a:t>
            </a:fld>
            <a:endParaRPr lang="cs-CZ"/>
          </a:p>
        </p:txBody>
      </p:sp>
      <p:pic>
        <p:nvPicPr>
          <p:cNvPr id="6" name="Picture 5"/>
          <p:cNvPicPr>
            <a:picLocks noChangeAspect="1"/>
          </p:cNvPicPr>
          <p:nvPr/>
        </p:nvPicPr>
        <p:blipFill>
          <a:blip r:embed="rId2"/>
          <a:stretch>
            <a:fillRect/>
          </a:stretch>
        </p:blipFill>
        <p:spPr>
          <a:xfrm>
            <a:off x="2638590" y="1752137"/>
            <a:ext cx="6123748" cy="4326643"/>
          </a:xfrm>
          <a:prstGeom prst="rect">
            <a:avLst/>
          </a:prstGeom>
        </p:spPr>
      </p:pic>
    </p:spTree>
    <p:extLst>
      <p:ext uri="{BB962C8B-B14F-4D97-AF65-F5344CB8AC3E}">
        <p14:creationId xmlns:p14="http://schemas.microsoft.com/office/powerpoint/2010/main" val="193825661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Ochrana ostatních počítačových systémů</a:t>
            </a:r>
            <a:endParaRPr lang="cs-CZ"/>
          </a:p>
        </p:txBody>
      </p:sp>
      <p:sp>
        <p:nvSpPr>
          <p:cNvPr id="3" name="Content Placeholder 2"/>
          <p:cNvSpPr>
            <a:spLocks noGrp="1"/>
          </p:cNvSpPr>
          <p:nvPr>
            <p:ph idx="1"/>
          </p:nvPr>
        </p:nvSpPr>
        <p:spPr/>
        <p:txBody>
          <a:bodyPr>
            <a:normAutofit fontScale="92500" lnSpcReduction="10000"/>
          </a:bodyPr>
          <a:lstStyle/>
          <a:p>
            <a:r>
              <a:rPr lang="cs-CZ"/>
              <a:t>Možnosti ochrany proti tomuto druhu zařízení jsou dnes poměrně malé.</a:t>
            </a:r>
          </a:p>
          <a:p>
            <a:r>
              <a:rPr lang="cs-CZ"/>
              <a:t>U serverů a dalších významných počítačových systémů je to další z důvodů pro jejich umístění do míst k tomu určených.</a:t>
            </a:r>
          </a:p>
          <a:p>
            <a:r>
              <a:rPr lang="cs-CZ"/>
              <a:t>U běžných desktopů a notebooků je však na uživateli, aby provedl fyzickou kontrolu, zda mezi jeho klávesnicí a počítačovým systémem není přidáno nové zařízení. Další možností je využívat USB Port </a:t>
            </a:r>
            <a:r>
              <a:rPr lang="cs-CZ" err="1"/>
              <a:t>Lock</a:t>
            </a:r>
            <a:r>
              <a:rPr lang="cs-CZ"/>
              <a:t> </a:t>
            </a:r>
            <a:r>
              <a:rPr lang="cs-CZ" err="1"/>
              <a:t>with</a:t>
            </a:r>
            <a:r>
              <a:rPr lang="cs-CZ"/>
              <a:t> </a:t>
            </a:r>
            <a:r>
              <a:rPr lang="cs-CZ" err="1"/>
              <a:t>Rectangular</a:t>
            </a:r>
            <a:r>
              <a:rPr lang="cs-CZ"/>
              <a:t> </a:t>
            </a:r>
            <a:r>
              <a:rPr lang="cs-CZ" err="1"/>
              <a:t>Cable</a:t>
            </a:r>
            <a:r>
              <a:rPr lang="cs-CZ"/>
              <a:t> </a:t>
            </a:r>
            <a:r>
              <a:rPr lang="cs-CZ" err="1"/>
              <a:t>Guard</a:t>
            </a:r>
            <a:r>
              <a:rPr lang="cs-CZ"/>
              <a:t> od společnosti </a:t>
            </a:r>
            <a:r>
              <a:rPr lang="cs-CZ" err="1"/>
              <a:t>Kensington</a:t>
            </a:r>
            <a:r>
              <a:rPr lang="cs-CZ"/>
              <a:t>. </a:t>
            </a:r>
          </a:p>
          <a:p>
            <a:r>
              <a:rPr lang="cs-CZ"/>
              <a:t>Toto zařízení umožňuje mechanickou cestou připevnit USB kabel do portu. Kabel pak není možné vyjmout bez speciálního klíče. Nevýhodou tohoto řešení je využití USB portů pouze k zamčení USB kabelů (na jeden připojený USB kabel jsou využity dva USB sloty).</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120</a:t>
            </a:fld>
            <a:endParaRPr lang="cs-CZ"/>
          </a:p>
        </p:txBody>
      </p:sp>
    </p:spTree>
    <p:extLst>
      <p:ext uri="{BB962C8B-B14F-4D97-AF65-F5344CB8AC3E}">
        <p14:creationId xmlns:p14="http://schemas.microsoft.com/office/powerpoint/2010/main" val="64847730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121</a:t>
            </a:fld>
            <a:endParaRPr lang="cs-CZ"/>
          </a:p>
        </p:txBody>
      </p:sp>
      <p:pic>
        <p:nvPicPr>
          <p:cNvPr id="6" name="Picture 5"/>
          <p:cNvPicPr>
            <a:picLocks noChangeAspect="1"/>
          </p:cNvPicPr>
          <p:nvPr/>
        </p:nvPicPr>
        <p:blipFill>
          <a:blip r:embed="rId2"/>
          <a:stretch>
            <a:fillRect/>
          </a:stretch>
        </p:blipFill>
        <p:spPr>
          <a:xfrm>
            <a:off x="2134076" y="575221"/>
            <a:ext cx="7487004" cy="5597832"/>
          </a:xfrm>
          <a:prstGeom prst="rect">
            <a:avLst/>
          </a:prstGeom>
        </p:spPr>
      </p:pic>
    </p:spTree>
    <p:extLst>
      <p:ext uri="{BB962C8B-B14F-4D97-AF65-F5344CB8AC3E}">
        <p14:creationId xmlns:p14="http://schemas.microsoft.com/office/powerpoint/2010/main" val="352501413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Ochrana před připojením cizích periferií k počítačovým systémům</a:t>
            </a:r>
            <a:endParaRPr lang="cs-CZ"/>
          </a:p>
        </p:txBody>
      </p:sp>
      <p:sp>
        <p:nvSpPr>
          <p:cNvPr id="3" name="Content Placeholder 2"/>
          <p:cNvSpPr>
            <a:spLocks noGrp="1"/>
          </p:cNvSpPr>
          <p:nvPr>
            <p:ph idx="1"/>
          </p:nvPr>
        </p:nvSpPr>
        <p:spPr/>
        <p:txBody>
          <a:bodyPr>
            <a:normAutofit/>
          </a:bodyPr>
          <a:lstStyle/>
          <a:p>
            <a:r>
              <a:rPr lang="cs-CZ"/>
              <a:t>Pokud v současnosti hovoříme o připojení cizích periférií, obvykle máme na mysli různá USB zařízení. Dnes lze již pořídit celou řadu zařízení umožňujících útok na počítačový systém, která jsou přímo za tímto účelem vyráběna. </a:t>
            </a:r>
            <a:r>
              <a:rPr lang="cs-CZ" b="1"/>
              <a:t>Útok tak může provést i průměrně schopný uživatel.</a:t>
            </a:r>
          </a:p>
          <a:p>
            <a:r>
              <a:rPr lang="cs-CZ"/>
              <a:t>Část těchto zařízení zneužívá protokol HID (</a:t>
            </a:r>
            <a:r>
              <a:rPr lang="cs-CZ" err="1"/>
              <a:t>Human</a:t>
            </a:r>
            <a:r>
              <a:rPr lang="cs-CZ"/>
              <a:t> Interface </a:t>
            </a:r>
            <a:r>
              <a:rPr lang="cs-CZ" err="1"/>
              <a:t>Device</a:t>
            </a:r>
            <a:r>
              <a:rPr lang="cs-CZ"/>
              <a:t>), který byl vytvořen kvůli usnadnění vývoje zařízení fungujících jako vstupně výstupní zařízení pro počítačový systém a také k usnadnění procesu instalace těchto zařízení. Typickými představiteli těchto zařízení jsou periferní zařízení (např. myši a klávesnice).</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122</a:t>
            </a:fld>
            <a:endParaRPr lang="cs-CZ"/>
          </a:p>
        </p:txBody>
      </p:sp>
    </p:spTree>
    <p:extLst>
      <p:ext uri="{BB962C8B-B14F-4D97-AF65-F5344CB8AC3E}">
        <p14:creationId xmlns:p14="http://schemas.microsoft.com/office/powerpoint/2010/main" val="103493665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5497376" y="3585120"/>
            <a:ext cx="5117615" cy="2953792"/>
          </a:xfrm>
          <a:prstGeom prst="rect">
            <a:avLst/>
          </a:prstGeom>
        </p:spPr>
      </p:pic>
      <p:sp>
        <p:nvSpPr>
          <p:cNvPr id="2" name="Title 1"/>
          <p:cNvSpPr>
            <a:spLocks noGrp="1"/>
          </p:cNvSpPr>
          <p:nvPr>
            <p:ph type="title"/>
          </p:nvPr>
        </p:nvSpPr>
        <p:spPr/>
        <p:txBody>
          <a:bodyPr/>
          <a:lstStyle/>
          <a:p>
            <a:r>
              <a:rPr lang="cs-CZ" b="1"/>
              <a:t>Ochrana před připojením cizích periferií k počítačovým systémům</a:t>
            </a:r>
            <a:endParaRPr lang="cs-CZ"/>
          </a:p>
        </p:txBody>
      </p:sp>
      <p:sp>
        <p:nvSpPr>
          <p:cNvPr id="3" name="Content Placeholder 2"/>
          <p:cNvSpPr>
            <a:spLocks noGrp="1"/>
          </p:cNvSpPr>
          <p:nvPr>
            <p:ph idx="1"/>
          </p:nvPr>
        </p:nvSpPr>
        <p:spPr/>
        <p:txBody>
          <a:bodyPr/>
          <a:lstStyle/>
          <a:p>
            <a:r>
              <a:rPr lang="cs-CZ"/>
              <a:t>Prvním z nich je </a:t>
            </a:r>
            <a:r>
              <a:rPr lang="cs-CZ" b="1"/>
              <a:t>USB </a:t>
            </a:r>
            <a:r>
              <a:rPr lang="cs-CZ" b="1" err="1"/>
              <a:t>Rubber</a:t>
            </a:r>
            <a:r>
              <a:rPr lang="cs-CZ" b="1"/>
              <a:t> </a:t>
            </a:r>
            <a:r>
              <a:rPr lang="cs-CZ" b="1" err="1"/>
              <a:t>Ducky</a:t>
            </a:r>
            <a:r>
              <a:rPr lang="cs-CZ"/>
              <a:t>, který lze pořídit za cenu kolem 45 USD. Jeho </a:t>
            </a:r>
            <a:r>
              <a:rPr lang="cs-CZ" err="1"/>
              <a:t>výhodouje</a:t>
            </a:r>
            <a:r>
              <a:rPr lang="cs-CZ"/>
              <a:t> především jednoduchý skriptovací jazyk, se kterým lze vytvářet vlastní </a:t>
            </a:r>
            <a:r>
              <a:rPr lang="cs-CZ" err="1"/>
              <a:t>payloady</a:t>
            </a:r>
            <a:r>
              <a:rPr lang="cs-CZ"/>
              <a:t>, dále pak</a:t>
            </a:r>
            <a:br>
              <a:rPr lang="cs-CZ"/>
            </a:br>
            <a:r>
              <a:rPr lang="cs-CZ"/>
              <a:t>možnost rozšířit paměť pomocí </a:t>
            </a:r>
            <a:r>
              <a:rPr lang="cs-CZ" err="1"/>
              <a:t>micro</a:t>
            </a:r>
            <a:r>
              <a:rPr lang="cs-CZ"/>
              <a:t> SD karty a podpora komunity. Toto zařízení je přímo</a:t>
            </a:r>
            <a:br>
              <a:rPr lang="cs-CZ"/>
            </a:br>
            <a:r>
              <a:rPr lang="cs-CZ"/>
              <a:t>určené k penetračnímu testování a </a:t>
            </a:r>
            <a:r>
              <a:rPr lang="cs-CZ" err="1"/>
              <a:t>hackingu</a:t>
            </a:r>
            <a:r>
              <a:rPr lang="cs-CZ"/>
              <a:t>.</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123</a:t>
            </a:fld>
            <a:endParaRPr lang="cs-CZ"/>
          </a:p>
        </p:txBody>
      </p:sp>
    </p:spTree>
    <p:extLst>
      <p:ext uri="{BB962C8B-B14F-4D97-AF65-F5344CB8AC3E}">
        <p14:creationId xmlns:p14="http://schemas.microsoft.com/office/powerpoint/2010/main" val="170138658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Ochrana před připojením cizích periferií k počítačovým systémům</a:t>
            </a:r>
            <a:endParaRPr lang="cs-CZ"/>
          </a:p>
        </p:txBody>
      </p:sp>
      <p:sp>
        <p:nvSpPr>
          <p:cNvPr id="3" name="Content Placeholder 2"/>
          <p:cNvSpPr>
            <a:spLocks noGrp="1"/>
          </p:cNvSpPr>
          <p:nvPr>
            <p:ph idx="1"/>
          </p:nvPr>
        </p:nvSpPr>
        <p:spPr/>
        <p:txBody>
          <a:bodyPr>
            <a:normAutofit/>
          </a:bodyPr>
          <a:lstStyle/>
          <a:p>
            <a:r>
              <a:rPr lang="cs-CZ"/>
              <a:t>Dalším zařízením, které je pro tyto účely používáno, je </a:t>
            </a:r>
            <a:r>
              <a:rPr lang="cs-CZ" b="1"/>
              <a:t>jednočipový počítač </a:t>
            </a:r>
            <a:r>
              <a:rPr lang="cs-CZ" b="1" err="1"/>
              <a:t>Teensy</a:t>
            </a:r>
            <a:r>
              <a:rPr lang="cs-CZ"/>
              <a:t>. Pro programování </a:t>
            </a:r>
            <a:r>
              <a:rPr lang="cs-CZ" err="1"/>
              <a:t>Teensy</a:t>
            </a:r>
            <a:r>
              <a:rPr lang="cs-CZ"/>
              <a:t> je dostupné </a:t>
            </a:r>
            <a:r>
              <a:rPr lang="cs-CZ" err="1"/>
              <a:t>Teensyduino</a:t>
            </a:r>
            <a:r>
              <a:rPr lang="cs-CZ"/>
              <a:t> IDE, které je rozšířením pro klasické </a:t>
            </a:r>
            <a:r>
              <a:rPr lang="cs-CZ" err="1"/>
              <a:t>Arduino</a:t>
            </a:r>
            <a:r>
              <a:rPr lang="cs-CZ"/>
              <a:t> IDE. </a:t>
            </a:r>
            <a:r>
              <a:rPr lang="cs-CZ" err="1"/>
              <a:t>Teensy</a:t>
            </a:r>
            <a:r>
              <a:rPr lang="cs-CZ"/>
              <a:t> je také kompatibilní s většinou knihoven pro </a:t>
            </a:r>
            <a:r>
              <a:rPr lang="cs-CZ" err="1"/>
              <a:t>Arduino</a:t>
            </a:r>
            <a:r>
              <a:rPr lang="cs-CZ"/>
              <a:t>.</a:t>
            </a:r>
          </a:p>
          <a:p>
            <a:r>
              <a:rPr lang="cs-CZ"/>
              <a:t>Pro nováčky, kteří by si chtěli </a:t>
            </a:r>
            <a:r>
              <a:rPr lang="cs-CZ" err="1"/>
              <a:t>Teensy</a:t>
            </a:r>
            <a:r>
              <a:rPr lang="cs-CZ"/>
              <a:t> vyzkoušet pro penetrační testování, vytvořil známý hacker a penetrační tester </a:t>
            </a:r>
            <a:r>
              <a:rPr lang="cs-CZ" err="1"/>
              <a:t>Nikhil</a:t>
            </a:r>
            <a:r>
              <a:rPr lang="cs-CZ"/>
              <a:t> Mittal software </a:t>
            </a:r>
            <a:r>
              <a:rPr lang="cs-CZ" err="1"/>
              <a:t>Kautylia</a:t>
            </a:r>
            <a:r>
              <a:rPr lang="cs-CZ"/>
              <a:t>. S jeho pomocí lze generovat celou řadu kódů, které dokáží například získat uložená hesla k bezdrátovým sítím, kopírovat databázi SAM, stáhnout a spustit kód, změnit v systému nastavení DNS serveru, v OS Linux pak lze například otevřít reverzní </a:t>
            </a:r>
            <a:r>
              <a:rPr lang="cs-CZ" err="1"/>
              <a:t>shell</a:t>
            </a: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124</a:t>
            </a:fld>
            <a:endParaRPr lang="cs-CZ"/>
          </a:p>
        </p:txBody>
      </p:sp>
    </p:spTree>
    <p:extLst>
      <p:ext uri="{BB962C8B-B14F-4D97-AF65-F5344CB8AC3E}">
        <p14:creationId xmlns:p14="http://schemas.microsoft.com/office/powerpoint/2010/main" val="331744004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Ochrana před připojením cizích periferií k počítačovým systémům</a:t>
            </a:r>
            <a:endParaRPr lang="cs-CZ"/>
          </a:p>
        </p:txBody>
      </p:sp>
      <p:sp>
        <p:nvSpPr>
          <p:cNvPr id="3" name="Content Placeholder 2"/>
          <p:cNvSpPr>
            <a:spLocks noGrp="1"/>
          </p:cNvSpPr>
          <p:nvPr>
            <p:ph idx="1"/>
          </p:nvPr>
        </p:nvSpPr>
        <p:spPr/>
        <p:txBody>
          <a:bodyPr>
            <a:normAutofit fontScale="92500" lnSpcReduction="10000"/>
          </a:bodyPr>
          <a:lstStyle/>
          <a:p>
            <a:r>
              <a:rPr lang="cs-CZ"/>
              <a:t>Jiným příkladem útoku využívajícího USB portu je </a:t>
            </a:r>
            <a:r>
              <a:rPr lang="cs-CZ" b="1"/>
              <a:t>emulace </a:t>
            </a:r>
            <a:r>
              <a:rPr lang="cs-CZ" b="1" err="1"/>
              <a:t>Ethernetu</a:t>
            </a:r>
            <a:r>
              <a:rPr lang="cs-CZ" b="1"/>
              <a:t> přes USB</a:t>
            </a:r>
            <a:r>
              <a:rPr lang="cs-CZ"/>
              <a:t>. Pokud je zařízení s „USB-to-</a:t>
            </a:r>
            <a:r>
              <a:rPr lang="cs-CZ" err="1"/>
              <a:t>Ethernet</a:t>
            </a:r>
            <a:r>
              <a:rPr lang="cs-CZ"/>
              <a:t>“ adaptérem připojeno, dokonce i do počítačového systému, který je uživatelem uzamčen, počítačový systém odešle DHCP </a:t>
            </a:r>
            <a:r>
              <a:rPr lang="cs-CZ" err="1"/>
              <a:t>request</a:t>
            </a:r>
            <a:r>
              <a:rPr lang="cs-CZ"/>
              <a:t>. Zařízení pak může vrátit DHCP odpověď upravenou tak, aby napadený počítačový systém věděl, že na LAN470 síti zařízení připojeného do USB se nachází celý IPv4 rozsah, tedy 0.0.0.0 – 255.255.255.0.</a:t>
            </a:r>
          </a:p>
          <a:p>
            <a:r>
              <a:rPr lang="cs-CZ"/>
              <a:t>To by za normálních okolností nevadilo, protože nové LAN připojení má menší prioritu, než primární LAN. Nicméně provoz na lokální síti má prioritu před internetovým provozem. A protože napadený počítačový systém byl právě „přesvědčen“, že nová LAN obsahuje všechny</a:t>
            </a:r>
            <a:br>
              <a:rPr lang="cs-CZ"/>
            </a:br>
            <a:r>
              <a:rPr lang="cs-CZ"/>
              <a:t>známé IPv4 adresy, bude další komunikace směrovat k zařízení útočníka.</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125</a:t>
            </a:fld>
            <a:endParaRPr lang="cs-CZ"/>
          </a:p>
        </p:txBody>
      </p:sp>
    </p:spTree>
    <p:extLst>
      <p:ext uri="{BB962C8B-B14F-4D97-AF65-F5344CB8AC3E}">
        <p14:creationId xmlns:p14="http://schemas.microsoft.com/office/powerpoint/2010/main" val="199650667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Bezpečnost sítí a služeb</a:t>
            </a:r>
            <a:endParaRPr lang="cs-CZ"/>
          </a:p>
        </p:txBody>
      </p:sp>
      <p:sp>
        <p:nvSpPr>
          <p:cNvPr id="3" name="Content Placeholder 2"/>
          <p:cNvSpPr>
            <a:spLocks noGrp="1"/>
          </p:cNvSpPr>
          <p:nvPr>
            <p:ph idx="1"/>
          </p:nvPr>
        </p:nvSpPr>
        <p:spPr/>
        <p:txBody>
          <a:bodyPr>
            <a:normAutofit/>
          </a:bodyPr>
          <a:lstStyle/>
          <a:p>
            <a:r>
              <a:rPr lang="cs-CZ"/>
              <a:t>Následující kapitola se věnuje mnoha různým aspektům kybernetické bezpečnosti, počínaje rozdělením sítí, přes ochranu proti nejčastějším útokům na síťové vrstvě, ochranu na rozhraní sítí, až po doporučení, jak se vypořádat s nastalým incidentem.</a:t>
            </a:r>
            <a:br>
              <a:rPr lang="cs-CZ"/>
            </a:br>
            <a:endParaRPr lang="cs-CZ"/>
          </a:p>
          <a:p>
            <a:r>
              <a:rPr lang="cs-CZ"/>
              <a:t>V jednotlivých subkapitolách budou popsány jak některé známé útoky a zranitelnosti, tak i doporučení, jak se lze proti nim bránit. </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126</a:t>
            </a:fld>
            <a:endParaRPr lang="cs-CZ"/>
          </a:p>
        </p:txBody>
      </p:sp>
    </p:spTree>
    <p:extLst>
      <p:ext uri="{BB962C8B-B14F-4D97-AF65-F5344CB8AC3E}">
        <p14:creationId xmlns:p14="http://schemas.microsoft.com/office/powerpoint/2010/main" val="423905429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Bezpečnost sítí a služeb</a:t>
            </a:r>
            <a:endParaRPr lang="cs-CZ"/>
          </a:p>
        </p:txBody>
      </p:sp>
      <p:sp>
        <p:nvSpPr>
          <p:cNvPr id="3" name="Content Placeholder 2"/>
          <p:cNvSpPr>
            <a:spLocks noGrp="1"/>
          </p:cNvSpPr>
          <p:nvPr>
            <p:ph idx="1"/>
          </p:nvPr>
        </p:nvSpPr>
        <p:spPr/>
        <p:txBody>
          <a:bodyPr>
            <a:normAutofit/>
          </a:bodyPr>
          <a:lstStyle/>
          <a:p>
            <a:r>
              <a:rPr lang="cs-CZ" b="1"/>
              <a:t>Příklad: </a:t>
            </a:r>
            <a:r>
              <a:rPr lang="cs-CZ" i="1"/>
              <a:t>Organizace provozuje CCTV kamery bez jejich dostatečného zabezpečení. Vlastní kamery</a:t>
            </a:r>
            <a:r>
              <a:rPr lang="cs-CZ"/>
              <a:t> </a:t>
            </a:r>
            <a:r>
              <a:rPr lang="cs-CZ" i="1"/>
              <a:t>nejsou po instalaci spravovány, jsou volně dostupné přes Internet atd. Tyto kamery se pak podílely na</a:t>
            </a:r>
            <a:r>
              <a:rPr lang="cs-CZ"/>
              <a:t> </a:t>
            </a:r>
            <a:r>
              <a:rPr lang="cs-CZ" i="1" err="1"/>
              <a:t>DDoS</a:t>
            </a:r>
            <a:r>
              <a:rPr lang="cs-CZ" i="1"/>
              <a:t> útocích na jinou síť v Internetu. Vlastní zneužití kamer k </a:t>
            </a:r>
            <a:r>
              <a:rPr lang="cs-CZ" i="1" err="1"/>
              <a:t>DDoS</a:t>
            </a:r>
            <a:r>
              <a:rPr lang="cs-CZ" i="1"/>
              <a:t> útokům organizaci, která je</a:t>
            </a:r>
            <a:r>
              <a:rPr lang="cs-CZ"/>
              <a:t> </a:t>
            </a:r>
            <a:r>
              <a:rPr lang="cs-CZ" i="1"/>
              <a:t>provozuje, nezajímá.</a:t>
            </a:r>
          </a:p>
          <a:p>
            <a:r>
              <a:rPr lang="cs-CZ"/>
              <a:t>Při implementaci bezpečnostních prvků vlastní sítě či počítačových systémů bychom neměli myslet pouze na bezpečnost našich systémů a dat, ale také na bezpečnost systémů a dat jiných osob, jakož i na bezpečnost celého Internetu. (Příklad na dalším </a:t>
            </a:r>
            <a:r>
              <a:rPr lang="cs-CZ" err="1"/>
              <a:t>slidu</a:t>
            </a:r>
            <a:r>
              <a:rPr lang="cs-CZ"/>
              <a:t>)</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127</a:t>
            </a:fld>
            <a:endParaRPr lang="cs-CZ"/>
          </a:p>
        </p:txBody>
      </p:sp>
    </p:spTree>
    <p:extLst>
      <p:ext uri="{BB962C8B-B14F-4D97-AF65-F5344CB8AC3E}">
        <p14:creationId xmlns:p14="http://schemas.microsoft.com/office/powerpoint/2010/main" val="378048865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Bezpečnost sítí a služeb</a:t>
            </a:r>
            <a:endParaRPr lang="cs-CZ"/>
          </a:p>
        </p:txBody>
      </p:sp>
      <p:sp>
        <p:nvSpPr>
          <p:cNvPr id="3" name="Content Placeholder 2"/>
          <p:cNvSpPr>
            <a:spLocks noGrp="1"/>
          </p:cNvSpPr>
          <p:nvPr>
            <p:ph idx="1"/>
          </p:nvPr>
        </p:nvSpPr>
        <p:spPr/>
        <p:txBody>
          <a:bodyPr/>
          <a:lstStyle/>
          <a:p>
            <a:r>
              <a:rPr lang="cs-CZ" b="1"/>
              <a:t>Příklad: </a:t>
            </a:r>
            <a:r>
              <a:rPr lang="cs-CZ" i="1"/>
              <a:t>Provozovat lokální rekurzivní DNS server pro vlastní zaměstnance dává smysl; nechat jej</a:t>
            </a:r>
            <a:r>
              <a:rPr lang="cs-CZ"/>
              <a:t> </a:t>
            </a:r>
            <a:r>
              <a:rPr lang="cs-CZ" i="1"/>
              <a:t>dostupný pro všechny, tak aby mohl být zneužíván k amplifikačním útokům, je naopak zcela zbytečné.</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128</a:t>
            </a:fld>
            <a:endParaRPr lang="cs-CZ"/>
          </a:p>
        </p:txBody>
      </p:sp>
    </p:spTree>
    <p:extLst>
      <p:ext uri="{BB962C8B-B14F-4D97-AF65-F5344CB8AC3E}">
        <p14:creationId xmlns:p14="http://schemas.microsoft.com/office/powerpoint/2010/main" val="96083969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Ochrana sítí</a:t>
            </a:r>
            <a:endParaRPr lang="cs-CZ"/>
          </a:p>
        </p:txBody>
      </p:sp>
      <p:sp>
        <p:nvSpPr>
          <p:cNvPr id="3" name="Content Placeholder 2"/>
          <p:cNvSpPr>
            <a:spLocks noGrp="1"/>
          </p:cNvSpPr>
          <p:nvPr>
            <p:ph idx="1"/>
          </p:nvPr>
        </p:nvSpPr>
        <p:spPr/>
        <p:txBody>
          <a:bodyPr/>
          <a:lstStyle/>
          <a:p>
            <a:r>
              <a:rPr lang="cs-CZ"/>
              <a:t>Zajištění bezpečnosti počítačových sítí je jedním ze základních prvků, na kterých je vybudována kybernetická bezpečnost. Bez účinné ochrany počítačových sítí není možné efektivně zajistit ochranu počítačových systémů a dat v nich uložených.</a:t>
            </a:r>
          </a:p>
          <a:p>
            <a:r>
              <a:rPr lang="cs-CZ"/>
              <a:t>Výjimku z tohoto tvrzení samozřejmě představují zcela izolované počítačové systémy, jež nejsou úmyslně zapojeny do počítačové sítě.</a:t>
            </a:r>
            <a:br>
              <a:rPr lang="cs-CZ"/>
            </a:b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129</a:t>
            </a:fld>
            <a:endParaRPr lang="cs-CZ"/>
          </a:p>
        </p:txBody>
      </p:sp>
    </p:spTree>
    <p:extLst>
      <p:ext uri="{BB962C8B-B14F-4D97-AF65-F5344CB8AC3E}">
        <p14:creationId xmlns:p14="http://schemas.microsoft.com/office/powerpoint/2010/main" val="351755535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Rozdělení sítě jako základní prvek zajištění bezpečnosti</a:t>
            </a:r>
            <a:endParaRPr lang="cs-CZ"/>
          </a:p>
        </p:txBody>
      </p:sp>
      <p:sp>
        <p:nvSpPr>
          <p:cNvPr id="3" name="Content Placeholder 2"/>
          <p:cNvSpPr>
            <a:spLocks noGrp="1"/>
          </p:cNvSpPr>
          <p:nvPr>
            <p:ph idx="1"/>
          </p:nvPr>
        </p:nvSpPr>
        <p:spPr/>
        <p:txBody>
          <a:bodyPr>
            <a:normAutofit lnSpcReduction="10000"/>
          </a:bodyPr>
          <a:lstStyle/>
          <a:p>
            <a:r>
              <a:rPr lang="cs-CZ"/>
              <a:t>Správné rozdělení počítačové sítě je z pohledu kybernetické bezpečnosti velmi důležité a jedná se o základní prvek bezpečnosti v případě jejich správy.</a:t>
            </a:r>
          </a:p>
          <a:p>
            <a:r>
              <a:rPr lang="cs-CZ"/>
              <a:t>Při rozdělování počítačové sítě je vhodné zaměřit se na:</a:t>
            </a:r>
          </a:p>
          <a:p>
            <a:pPr lvl="1"/>
            <a:r>
              <a:rPr lang="cs-CZ" b="1"/>
              <a:t>oddělení systémů se zvýšeným rizikem kompromitace od zbytku sítě</a:t>
            </a:r>
            <a:r>
              <a:rPr lang="cs-CZ"/>
              <a:t>,</a:t>
            </a:r>
            <a:br>
              <a:rPr lang="cs-CZ"/>
            </a:br>
            <a:r>
              <a:rPr lang="cs-CZ"/>
              <a:t>V tomto případě využíváme </a:t>
            </a:r>
            <a:r>
              <a:rPr lang="cs-CZ" b="1"/>
              <a:t>demilitarizované zóny (DMZ)</a:t>
            </a:r>
            <a:r>
              <a:rPr lang="cs-CZ"/>
              <a:t>.</a:t>
            </a:r>
          </a:p>
          <a:p>
            <a:pPr lvl="1"/>
            <a:r>
              <a:rPr lang="cs-CZ"/>
              <a:t> </a:t>
            </a:r>
            <a:r>
              <a:rPr lang="cs-CZ" b="1"/>
              <a:t>potřebu rozdělení provozu v síti.</a:t>
            </a:r>
            <a:br>
              <a:rPr lang="cs-CZ"/>
            </a:br>
            <a:r>
              <a:rPr lang="cs-CZ"/>
              <a:t>Je vhodné oddělit provoz např. jednotlivých oddělení, informačních systémů aj. Dále je vhodné oddělit provoz přicházející z veřejné Wi-Fi sítě určené např. pro návštěvy od ostatního síťového provozu. V případě rozdělování provozu sítě si obvykle vystačíme s logickým rozdělením sítě pomocí </a:t>
            </a:r>
            <a:r>
              <a:rPr lang="cs-CZ" b="1"/>
              <a:t>Virtuální LAN (VLAN)</a:t>
            </a:r>
            <a:r>
              <a:rPr lang="cs-CZ"/>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130</a:t>
            </a:fld>
            <a:endParaRPr lang="cs-CZ"/>
          </a:p>
        </p:txBody>
      </p:sp>
    </p:spTree>
    <p:extLst>
      <p:ext uri="{BB962C8B-B14F-4D97-AF65-F5344CB8AC3E}">
        <p14:creationId xmlns:p14="http://schemas.microsoft.com/office/powerpoint/2010/main" val="158819996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DMZ</a:t>
            </a:r>
            <a:endParaRPr lang="cs-CZ"/>
          </a:p>
        </p:txBody>
      </p:sp>
      <p:sp>
        <p:nvSpPr>
          <p:cNvPr id="3" name="Content Placeholder 2"/>
          <p:cNvSpPr>
            <a:spLocks noGrp="1"/>
          </p:cNvSpPr>
          <p:nvPr>
            <p:ph idx="1"/>
          </p:nvPr>
        </p:nvSpPr>
        <p:spPr/>
        <p:txBody>
          <a:bodyPr>
            <a:normAutofit lnSpcReduction="10000"/>
          </a:bodyPr>
          <a:lstStyle/>
          <a:p>
            <a:r>
              <a:rPr lang="cs-CZ"/>
              <a:t>Demilitarizovaná zóna tvoří většinou samostatnou fyzickou síť, která je oddělena od ostatních počítačových systémů.</a:t>
            </a:r>
          </a:p>
          <a:p>
            <a:r>
              <a:rPr lang="cs-CZ"/>
              <a:t>Obvykle jsou v DMZ umístěny servery, na kterých jsou provozované služby, které mají být dostupné uživatelům z jiných sítí. Může se jednat například o webový server, mail server, </a:t>
            </a:r>
            <a:r>
              <a:rPr lang="cs-CZ" err="1"/>
              <a:t>ftp</a:t>
            </a:r>
            <a:r>
              <a:rPr lang="cs-CZ"/>
              <a:t> server a další. </a:t>
            </a:r>
          </a:p>
          <a:p>
            <a:r>
              <a:rPr lang="cs-CZ"/>
              <a:t>Smyslem DMZ je ochránit lokální síť v případě, kdy se útočníkovi podaří kompromitovat některý z veřejně dostupných serverů. Demilitarizovaná zóna se zpravidla implementuje pomocí firewallu, který oddělí jednotlivé sítě WAN, DMZ a LAN.</a:t>
            </a:r>
          </a:p>
          <a:p>
            <a:r>
              <a:rPr lang="cs-CZ"/>
              <a:t>Pro vytvoření DMZ lze také využít i virtuální sítě.</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131</a:t>
            </a:fld>
            <a:endParaRPr lang="cs-CZ"/>
          </a:p>
        </p:txBody>
      </p:sp>
    </p:spTree>
    <p:extLst>
      <p:ext uri="{BB962C8B-B14F-4D97-AF65-F5344CB8AC3E}">
        <p14:creationId xmlns:p14="http://schemas.microsoft.com/office/powerpoint/2010/main" val="292326502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VLAN</a:t>
            </a:r>
            <a:endParaRPr lang="cs-CZ"/>
          </a:p>
        </p:txBody>
      </p:sp>
      <p:sp>
        <p:nvSpPr>
          <p:cNvPr id="3" name="Content Placeholder 2"/>
          <p:cNvSpPr>
            <a:spLocks noGrp="1"/>
          </p:cNvSpPr>
          <p:nvPr>
            <p:ph idx="1"/>
          </p:nvPr>
        </p:nvSpPr>
        <p:spPr/>
        <p:txBody>
          <a:bodyPr>
            <a:normAutofit fontScale="92500" lnSpcReduction="20000"/>
          </a:bodyPr>
          <a:lstStyle/>
          <a:p>
            <a:r>
              <a:rPr lang="cs-CZ" b="1"/>
              <a:t>Virtuální LAN umožňuje provést logické rozdělení sítě nezávisle na jejím fyzickém</a:t>
            </a:r>
            <a:r>
              <a:rPr lang="cs-CZ"/>
              <a:t> </a:t>
            </a:r>
            <a:r>
              <a:rPr lang="cs-CZ" b="1"/>
              <a:t>uspořádání.</a:t>
            </a:r>
          </a:p>
          <a:p>
            <a:r>
              <a:rPr lang="cs-CZ" b="1"/>
              <a:t>Příklad: </a:t>
            </a:r>
            <a:r>
              <a:rPr lang="cs-CZ" i="1"/>
              <a:t>VLAN může být využita pro IP telefonii v rámci menší organizace. V této organizaci není</a:t>
            </a:r>
            <a:r>
              <a:rPr lang="cs-CZ"/>
              <a:t> </a:t>
            </a:r>
            <a:r>
              <a:rPr lang="cs-CZ" i="1"/>
              <a:t>potřeba oddělovat jednotlivá oddělení do podsítí, nicméně každý zaměstnanec má vlastní IP telefon.</a:t>
            </a:r>
            <a:endParaRPr lang="cs-CZ"/>
          </a:p>
          <a:p>
            <a:r>
              <a:rPr lang="cs-CZ" i="1"/>
              <a:t>Z bezpečnostních i praktických důvodů se doporučuje vytvořit pro IP telefonii vlastní síť. Bylo by však</a:t>
            </a:r>
            <a:r>
              <a:rPr lang="cs-CZ"/>
              <a:t> </a:t>
            </a:r>
            <a:r>
              <a:rPr lang="cs-CZ" i="1"/>
              <a:t>poměrně komplikované po celé budově a na každém patře budovat separátní fyzickou síť.</a:t>
            </a:r>
            <a:r>
              <a:rPr lang="cs-CZ"/>
              <a:t> </a:t>
            </a:r>
          </a:p>
          <a:p>
            <a:r>
              <a:rPr lang="cs-CZ" i="1"/>
              <a:t>Pomocí VLAN lze tento problém snadno vyřešit a na stejném </a:t>
            </a:r>
            <a:r>
              <a:rPr lang="cs-CZ" i="1" err="1"/>
              <a:t>switchi</a:t>
            </a:r>
            <a:r>
              <a:rPr lang="cs-CZ" i="1"/>
              <a:t> tak mohou být připojeny jak</a:t>
            </a:r>
            <a:r>
              <a:rPr lang="cs-CZ"/>
              <a:t> </a:t>
            </a:r>
            <a:r>
              <a:rPr lang="cs-CZ" i="1"/>
              <a:t>telefony, tak ostatní zařízení v rámci například jednoho patra budovy. Všechna tato zařízení budou ve</a:t>
            </a:r>
            <a:br>
              <a:rPr lang="cs-CZ"/>
            </a:br>
            <a:r>
              <a:rPr lang="cs-CZ" i="1"/>
              <a:t>dvou samostatných sítích a vzájemně se nebudou schopny detekovat.</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132</a:t>
            </a:fld>
            <a:endParaRPr lang="cs-CZ"/>
          </a:p>
        </p:txBody>
      </p:sp>
    </p:spTree>
    <p:extLst>
      <p:ext uri="{BB962C8B-B14F-4D97-AF65-F5344CB8AC3E}">
        <p14:creationId xmlns:p14="http://schemas.microsoft.com/office/powerpoint/2010/main" val="333397408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VLAN</a:t>
            </a:r>
            <a:endParaRPr lang="cs-CZ"/>
          </a:p>
        </p:txBody>
      </p:sp>
      <p:sp>
        <p:nvSpPr>
          <p:cNvPr id="3" name="Content Placeholder 2"/>
          <p:cNvSpPr>
            <a:spLocks noGrp="1"/>
          </p:cNvSpPr>
          <p:nvPr>
            <p:ph idx="1"/>
          </p:nvPr>
        </p:nvSpPr>
        <p:spPr/>
        <p:txBody>
          <a:bodyPr>
            <a:normAutofit lnSpcReduction="10000"/>
          </a:bodyPr>
          <a:lstStyle/>
          <a:p>
            <a:r>
              <a:rPr lang="cs-CZ"/>
              <a:t>implementace VLAN má několik výhod spočívajících například v:</a:t>
            </a:r>
          </a:p>
          <a:p>
            <a:pPr lvl="1"/>
            <a:r>
              <a:rPr lang="cs-CZ"/>
              <a:t>snížení počtu potřebného hardware,</a:t>
            </a:r>
          </a:p>
          <a:p>
            <a:pPr lvl="1"/>
            <a:r>
              <a:rPr lang="cs-CZ"/>
              <a:t>omezení počtu </a:t>
            </a:r>
            <a:r>
              <a:rPr lang="cs-CZ" err="1"/>
              <a:t>broadcastů</a:t>
            </a:r>
            <a:r>
              <a:rPr lang="cs-CZ"/>
              <a:t>,</a:t>
            </a:r>
          </a:p>
          <a:p>
            <a:pPr lvl="1"/>
            <a:r>
              <a:rPr lang="cs-CZ"/>
              <a:t>oddělení speciálního provozu,</a:t>
            </a:r>
          </a:p>
          <a:p>
            <a:pPr lvl="1"/>
            <a:r>
              <a:rPr lang="cs-CZ"/>
              <a:t>zvýšení bezpečnosti,</a:t>
            </a:r>
          </a:p>
          <a:p>
            <a:pPr lvl="1"/>
            <a:r>
              <a:rPr lang="cs-CZ"/>
              <a:t>jednodušším přesouvání počítačových systémů mezi sítěmi (místo fyzického přepojování datového kabelu stačí překonfigurovat zapojení do jednotlivých VLAN).</a:t>
            </a:r>
          </a:p>
          <a:p>
            <a:r>
              <a:rPr lang="cs-CZ"/>
              <a:t>Z výše uvedeného vyplývá, že počítačové systémy mohou přímo komunikovat pouze s jinými počítačovými systémy, které jsou ve stejné VLAN. </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133</a:t>
            </a:fld>
            <a:endParaRPr lang="cs-CZ"/>
          </a:p>
        </p:txBody>
      </p:sp>
    </p:spTree>
    <p:extLst>
      <p:ext uri="{BB962C8B-B14F-4D97-AF65-F5344CB8AC3E}">
        <p14:creationId xmlns:p14="http://schemas.microsoft.com/office/powerpoint/2010/main" val="186200475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VLAN</a:t>
            </a:r>
            <a:endParaRPr lang="cs-CZ"/>
          </a:p>
        </p:txBody>
      </p:sp>
      <p:sp>
        <p:nvSpPr>
          <p:cNvPr id="3" name="Content Placeholder 2"/>
          <p:cNvSpPr>
            <a:spLocks noGrp="1"/>
          </p:cNvSpPr>
          <p:nvPr>
            <p:ph idx="1"/>
          </p:nvPr>
        </p:nvSpPr>
        <p:spPr/>
        <p:txBody>
          <a:bodyPr>
            <a:normAutofit fontScale="92500" lnSpcReduction="10000"/>
          </a:bodyPr>
          <a:lstStyle/>
          <a:p>
            <a:r>
              <a:rPr lang="cs-CZ"/>
              <a:t>Krom oddělení provozu z veřejné Wi-Fi, oddělení sítě pro IP telefonii či správu serverů, existují i další důvody pro implementaci VLAN v organizaci.</a:t>
            </a:r>
          </a:p>
          <a:p>
            <a:r>
              <a:rPr lang="cs-CZ" b="1"/>
              <a:t>Příklad: </a:t>
            </a:r>
            <a:r>
              <a:rPr lang="cs-CZ" i="1"/>
              <a:t>Praktickým důvodem může být omezení přístupu k internetovým službám na základě</a:t>
            </a:r>
            <a:r>
              <a:rPr lang="cs-CZ"/>
              <a:t> </a:t>
            </a:r>
            <a:r>
              <a:rPr lang="cs-CZ" i="1"/>
              <a:t>oddělení. Řekněme, že v organizaci existuje oddělení technické podpory, které řeší širokou škálu</a:t>
            </a:r>
            <a:r>
              <a:rPr lang="cs-CZ"/>
              <a:t> </a:t>
            </a:r>
            <a:r>
              <a:rPr lang="cs-CZ" i="1"/>
              <a:t>technických dotazů. U tohoto oddělení nelze předem definovat, na jaké porty serverů v Internetu se</a:t>
            </a:r>
            <a:br>
              <a:rPr lang="cs-CZ"/>
            </a:br>
            <a:r>
              <a:rPr lang="cs-CZ" i="1"/>
              <a:t>bude potřebovat připojit. Pro toto oddělení je vhodné vytvořit separátní VLAN, ze které bude povolena</a:t>
            </a:r>
            <a:r>
              <a:rPr lang="cs-CZ"/>
              <a:t> </a:t>
            </a:r>
            <a:r>
              <a:rPr lang="cs-CZ" i="1"/>
              <a:t>jakákoliv odchozí komunikace, zatímco zbytku organizace je možné omezit odchozí komunikaci pouze</a:t>
            </a:r>
            <a:br>
              <a:rPr lang="cs-CZ"/>
            </a:br>
            <a:r>
              <a:rPr lang="cs-CZ" i="1"/>
              <a:t>na porty, které pro svou práci běžní uživatelé potřebují.</a:t>
            </a:r>
            <a:br>
              <a:rPr lang="cs-CZ"/>
            </a:b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134</a:t>
            </a:fld>
            <a:endParaRPr lang="cs-CZ"/>
          </a:p>
        </p:txBody>
      </p:sp>
    </p:spTree>
    <p:extLst>
      <p:ext uri="{BB962C8B-B14F-4D97-AF65-F5344CB8AC3E}">
        <p14:creationId xmlns:p14="http://schemas.microsoft.com/office/powerpoint/2010/main" val="154138671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VLAN</a:t>
            </a:r>
            <a:endParaRPr lang="cs-CZ"/>
          </a:p>
        </p:txBody>
      </p:sp>
      <p:sp>
        <p:nvSpPr>
          <p:cNvPr id="3" name="Content Placeholder 2"/>
          <p:cNvSpPr>
            <a:spLocks noGrp="1"/>
          </p:cNvSpPr>
          <p:nvPr>
            <p:ph idx="1"/>
          </p:nvPr>
        </p:nvSpPr>
        <p:spPr/>
        <p:txBody>
          <a:bodyPr/>
          <a:lstStyle/>
          <a:p>
            <a:r>
              <a:rPr lang="cs-CZ"/>
              <a:t>Samotné zařazení počítačového systému do VLAN může být provedeno podle portu </a:t>
            </a:r>
            <a:r>
              <a:rPr lang="cs-CZ" err="1"/>
              <a:t>switche</a:t>
            </a:r>
            <a:r>
              <a:rPr lang="cs-CZ"/>
              <a:t>, podle MAC adresy počítačového systému, podle protokolu a podle autentizace za pomoci 802.1x. Poslední variantu lze považovat za velice bezpečnou, pokud nedojde ke kompromitaci uživatelského přihlášení.</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135</a:t>
            </a:fld>
            <a:endParaRPr lang="cs-CZ"/>
          </a:p>
        </p:txBody>
      </p:sp>
    </p:spTree>
    <p:extLst>
      <p:ext uri="{BB962C8B-B14F-4D97-AF65-F5344CB8AC3E}">
        <p14:creationId xmlns:p14="http://schemas.microsoft.com/office/powerpoint/2010/main" val="308880117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Útoky na VLAN</a:t>
            </a:r>
            <a:endParaRPr lang="cs-CZ"/>
          </a:p>
        </p:txBody>
      </p:sp>
      <p:sp>
        <p:nvSpPr>
          <p:cNvPr id="3" name="Content Placeholder 2"/>
          <p:cNvSpPr>
            <a:spLocks noGrp="1"/>
          </p:cNvSpPr>
          <p:nvPr>
            <p:ph idx="1"/>
          </p:nvPr>
        </p:nvSpPr>
        <p:spPr/>
        <p:txBody>
          <a:bodyPr>
            <a:normAutofit lnSpcReduction="10000"/>
          </a:bodyPr>
          <a:lstStyle/>
          <a:p>
            <a:r>
              <a:rPr lang="cs-CZ"/>
              <a:t>Existuje několik útoků, ve kterých se útočník může snažit o proniknutí z jedné VLAN do druhé. Může se jednat například o:</a:t>
            </a:r>
          </a:p>
          <a:p>
            <a:pPr lvl="1"/>
            <a:r>
              <a:rPr lang="cs-CZ" b="1"/>
              <a:t>VLAN </a:t>
            </a:r>
            <a:r>
              <a:rPr lang="cs-CZ" b="1" err="1"/>
              <a:t>hopping</a:t>
            </a:r>
            <a:r>
              <a:rPr lang="cs-CZ"/>
              <a:t>,</a:t>
            </a:r>
          </a:p>
          <a:p>
            <a:pPr lvl="1"/>
            <a:r>
              <a:rPr lang="cs-CZ" b="1"/>
              <a:t>Double </a:t>
            </a:r>
            <a:r>
              <a:rPr lang="cs-CZ" b="1" err="1"/>
              <a:t>tagging</a:t>
            </a:r>
            <a:r>
              <a:rPr lang="cs-CZ"/>
              <a:t>,</a:t>
            </a:r>
          </a:p>
          <a:p>
            <a:pPr lvl="1"/>
            <a:r>
              <a:rPr lang="cs-CZ" b="1" err="1"/>
              <a:t>Spanning</a:t>
            </a:r>
            <a:r>
              <a:rPr lang="cs-CZ" b="1"/>
              <a:t> </a:t>
            </a:r>
            <a:r>
              <a:rPr lang="cs-CZ" b="1" err="1"/>
              <a:t>Tree</a:t>
            </a:r>
            <a:r>
              <a:rPr lang="cs-CZ" b="1"/>
              <a:t> </a:t>
            </a:r>
            <a:r>
              <a:rPr lang="cs-CZ" b="1" err="1"/>
              <a:t>attack</a:t>
            </a:r>
            <a:r>
              <a:rPr lang="cs-CZ"/>
              <a:t>,</a:t>
            </a:r>
          </a:p>
          <a:p>
            <a:pPr lvl="1"/>
            <a:r>
              <a:rPr lang="cs-CZ" b="1"/>
              <a:t>VLAN </a:t>
            </a:r>
            <a:r>
              <a:rPr lang="cs-CZ" b="1" err="1"/>
              <a:t>Trunking</a:t>
            </a:r>
            <a:r>
              <a:rPr lang="cs-CZ" b="1"/>
              <a:t> </a:t>
            </a:r>
            <a:r>
              <a:rPr lang="cs-CZ" b="1" err="1"/>
              <a:t>Protocol</a:t>
            </a:r>
            <a:r>
              <a:rPr lang="cs-CZ" b="1"/>
              <a:t> </a:t>
            </a:r>
            <a:r>
              <a:rPr lang="cs-CZ" b="1" err="1"/>
              <a:t>attack</a:t>
            </a:r>
            <a:r>
              <a:rPr lang="cs-CZ"/>
              <a:t>,</a:t>
            </a:r>
          </a:p>
          <a:p>
            <a:pPr lvl="1"/>
            <a:r>
              <a:rPr lang="cs-CZ" b="1"/>
              <a:t>VMPS/VQP </a:t>
            </a:r>
            <a:r>
              <a:rPr lang="cs-CZ" b="1" err="1"/>
              <a:t>attack</a:t>
            </a:r>
            <a:r>
              <a:rPr lang="cs-CZ" b="1"/>
              <a:t> </a:t>
            </a:r>
            <a:r>
              <a:rPr lang="cs-CZ"/>
              <a:t>aj.</a:t>
            </a:r>
            <a:endParaRPr lang="cs-CZ" b="1"/>
          </a:p>
          <a:p>
            <a:r>
              <a:rPr lang="cs-CZ" b="1"/>
              <a:t>Bližší informace o jednotlivých útocích, obraně a nápravných krocích je možné nalézt na:</a:t>
            </a:r>
            <a:r>
              <a:rPr lang="cs-CZ"/>
              <a:t> </a:t>
            </a:r>
            <a:r>
              <a:rPr lang="cs-CZ" b="1"/>
              <a:t>https://kyberbezpecnost.csirt.cz/</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136</a:t>
            </a:fld>
            <a:endParaRPr lang="cs-CZ"/>
          </a:p>
        </p:txBody>
      </p:sp>
    </p:spTree>
    <p:extLst>
      <p:ext uri="{BB962C8B-B14F-4D97-AF65-F5344CB8AC3E}">
        <p14:creationId xmlns:p14="http://schemas.microsoft.com/office/powerpoint/2010/main" val="33811624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Ochrana sítě LAN</a:t>
            </a:r>
            <a:endParaRPr lang="cs-CZ"/>
          </a:p>
        </p:txBody>
      </p:sp>
      <p:sp>
        <p:nvSpPr>
          <p:cNvPr id="3" name="Content Placeholder 2"/>
          <p:cNvSpPr>
            <a:spLocks noGrp="1"/>
          </p:cNvSpPr>
          <p:nvPr>
            <p:ph idx="1"/>
          </p:nvPr>
        </p:nvSpPr>
        <p:spPr/>
        <p:txBody>
          <a:bodyPr>
            <a:normAutofit lnSpcReduction="10000"/>
          </a:bodyPr>
          <a:lstStyle/>
          <a:p>
            <a:r>
              <a:rPr lang="cs-CZ"/>
              <a:t>Koncept lokálních sítí je závislý na řadě mechanismů, které jsou zranitelné již samy o sobě. Především mechanismy pro získání MAC adres ostatních počítačových systémů v síti (ARP protokol), pro získání IP adresy a dalších důležitých síťových nastavení (DHCP protokol), nebo pro získání informací o IP adrese určitého hostitele (DNS protokol), dokázaly v minulosti potrápit nejednoho administrátora. </a:t>
            </a:r>
          </a:p>
          <a:p>
            <a:r>
              <a:rPr lang="cs-CZ"/>
              <a:t>V této části publikace se proto primárně zaměříme na možné</a:t>
            </a:r>
            <a:br>
              <a:rPr lang="cs-CZ"/>
            </a:br>
            <a:r>
              <a:rPr lang="cs-CZ"/>
              <a:t>útoky na tyto protokoly a na ochranu proti nim, jakož i na některé bezpečnostní mechanismy. Opomenuta nebude ani problematika bezpečnosti IPv6 a bezdrátových sítí.</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137</a:t>
            </a:fld>
            <a:endParaRPr lang="cs-CZ"/>
          </a:p>
        </p:txBody>
      </p:sp>
    </p:spTree>
    <p:extLst>
      <p:ext uri="{BB962C8B-B14F-4D97-AF65-F5344CB8AC3E}">
        <p14:creationId xmlns:p14="http://schemas.microsoft.com/office/powerpoint/2010/main" val="404120982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DHCP protokol</a:t>
            </a:r>
            <a:endParaRPr lang="cs-CZ"/>
          </a:p>
        </p:txBody>
      </p:sp>
      <p:sp>
        <p:nvSpPr>
          <p:cNvPr id="3" name="Content Placeholder 2"/>
          <p:cNvSpPr>
            <a:spLocks noGrp="1"/>
          </p:cNvSpPr>
          <p:nvPr>
            <p:ph idx="1"/>
          </p:nvPr>
        </p:nvSpPr>
        <p:spPr/>
        <p:txBody>
          <a:bodyPr>
            <a:normAutofit fontScale="92500" lnSpcReduction="20000"/>
          </a:bodyPr>
          <a:lstStyle/>
          <a:p>
            <a:r>
              <a:rPr lang="cs-CZ" b="1"/>
              <a:t>Příklad: </a:t>
            </a:r>
            <a:r>
              <a:rPr lang="cs-CZ" i="1"/>
              <a:t>Traduje se historka o ISP, který byl de facto ihned po vybudování své první sítě v Praze</a:t>
            </a:r>
            <a:r>
              <a:rPr lang="cs-CZ"/>
              <a:t> </a:t>
            </a:r>
            <a:r>
              <a:rPr lang="cs-CZ" i="1"/>
              <a:t>nucen řešit „kybernetický útok“. Na </a:t>
            </a:r>
            <a:r>
              <a:rPr lang="cs-CZ" i="1" err="1"/>
              <a:t>hotline</a:t>
            </a:r>
            <a:r>
              <a:rPr lang="cs-CZ" i="1"/>
              <a:t> tohoto ISP se začalo obracet velké množství jeho zákazníků</a:t>
            </a:r>
            <a:br>
              <a:rPr lang="cs-CZ"/>
            </a:br>
            <a:r>
              <a:rPr lang="cs-CZ" i="1"/>
              <a:t>s tím, že jim jde Internet tak pomalu, že v podstatě nejde vůbec.</a:t>
            </a:r>
          </a:p>
          <a:p>
            <a:r>
              <a:rPr lang="cs-CZ" i="1"/>
              <a:t>K vlastnímu incidentu došlo v době, kdy SOHO </a:t>
            </a:r>
            <a:r>
              <a:rPr lang="cs-CZ" i="1" err="1"/>
              <a:t>routery</a:t>
            </a:r>
            <a:r>
              <a:rPr lang="cs-CZ" i="1"/>
              <a:t>, jak je známe dnes, v podstatě neexistovaly</a:t>
            </a:r>
            <a:r>
              <a:rPr lang="cs-CZ"/>
              <a:t> </a:t>
            </a:r>
            <a:r>
              <a:rPr lang="cs-CZ" i="1"/>
              <a:t>a kdo chtěl mít doma připojen více než jeden počítač, musel si sám postavit na nějakém starém počítači</a:t>
            </a:r>
            <a:r>
              <a:rPr lang="cs-CZ"/>
              <a:t> </a:t>
            </a:r>
            <a:r>
              <a:rPr lang="cs-CZ" i="1" err="1"/>
              <a:t>router</a:t>
            </a:r>
            <a:r>
              <a:rPr lang="cs-CZ" i="1"/>
              <a:t> a přes něj pak připojit svou privátní síť k Internetu.</a:t>
            </a:r>
          </a:p>
          <a:p>
            <a:r>
              <a:rPr lang="cs-CZ" i="1"/>
              <a:t>Právě to, jak se později ukázalo, bylo příčinou výpadku u jmenovaného ISP. Jeden z jeho zákazníků si</a:t>
            </a:r>
            <a:r>
              <a:rPr lang="cs-CZ"/>
              <a:t> </a:t>
            </a:r>
            <a:r>
              <a:rPr lang="cs-CZ" i="1"/>
              <a:t>postavil takovýto </a:t>
            </a:r>
            <a:r>
              <a:rPr lang="cs-CZ" i="1" err="1"/>
              <a:t>router</a:t>
            </a:r>
            <a:r>
              <a:rPr lang="cs-CZ" i="1"/>
              <a:t> na OS Linux, ale popletl konfiguraci DHCP a začal všem zákazníkům onoho</a:t>
            </a:r>
            <a:r>
              <a:rPr lang="cs-CZ"/>
              <a:t> </a:t>
            </a:r>
            <a:r>
              <a:rPr lang="cs-CZ" i="1"/>
              <a:t>ISP přidělovat svou veřejnou IP adresu jako výchozí bránu. Všechny počítače v dané síti pak následně</a:t>
            </a:r>
            <a:r>
              <a:rPr lang="cs-CZ"/>
              <a:t> </a:t>
            </a:r>
            <a:r>
              <a:rPr lang="cs-CZ" i="1"/>
              <a:t>začaly posílat svá data přes jeho </a:t>
            </a:r>
            <a:r>
              <a:rPr lang="cs-CZ" i="1" err="1"/>
              <a:t>router</a:t>
            </a:r>
            <a:r>
              <a:rPr lang="cs-CZ" i="1"/>
              <a:t>.</a:t>
            </a: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138</a:t>
            </a:fld>
            <a:endParaRPr lang="cs-CZ"/>
          </a:p>
        </p:txBody>
      </p:sp>
    </p:spTree>
    <p:extLst>
      <p:ext uri="{BB962C8B-B14F-4D97-AF65-F5344CB8AC3E}">
        <p14:creationId xmlns:p14="http://schemas.microsoft.com/office/powerpoint/2010/main" val="59730529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BF4E162-7201-4790-BF5E-B568FEC50973}"/>
              </a:ext>
            </a:extLst>
          </p:cNvPr>
          <p:cNvSpPr>
            <a:spLocks noGrp="1"/>
          </p:cNvSpPr>
          <p:nvPr>
            <p:ph type="dt" sz="half" idx="10"/>
          </p:nvPr>
        </p:nvSpPr>
        <p:spPr/>
        <p:txBody>
          <a:bodyPr/>
          <a:lstStyle/>
          <a:p>
            <a:r>
              <a:rPr lang="cs-CZ"/>
              <a:t>18.8.2022</a:t>
            </a:r>
          </a:p>
        </p:txBody>
      </p:sp>
      <p:sp>
        <p:nvSpPr>
          <p:cNvPr id="5" name="Slide Number Placeholder 4">
            <a:extLst>
              <a:ext uri="{FF2B5EF4-FFF2-40B4-BE49-F238E27FC236}">
                <a16:creationId xmlns:a16="http://schemas.microsoft.com/office/drawing/2014/main" id="{F8AD4492-F2B2-4468-BCCA-99099477FAB2}"/>
              </a:ext>
            </a:extLst>
          </p:cNvPr>
          <p:cNvSpPr>
            <a:spLocks noGrp="1"/>
          </p:cNvSpPr>
          <p:nvPr>
            <p:ph type="sldNum" sz="quarter" idx="12"/>
          </p:nvPr>
        </p:nvSpPr>
        <p:spPr/>
        <p:txBody>
          <a:bodyPr/>
          <a:lstStyle/>
          <a:p>
            <a:fld id="{AD9F5C5F-4392-49C5-81DD-37F176609E69}" type="slidenum">
              <a:rPr lang="cs-CZ" smtClean="0"/>
              <a:t>139</a:t>
            </a:fld>
            <a:endParaRPr lang="cs-CZ"/>
          </a:p>
        </p:txBody>
      </p:sp>
      <p:pic>
        <p:nvPicPr>
          <p:cNvPr id="7" name="Picture 6">
            <a:extLst>
              <a:ext uri="{FF2B5EF4-FFF2-40B4-BE49-F238E27FC236}">
                <a16:creationId xmlns:a16="http://schemas.microsoft.com/office/drawing/2014/main" id="{0B78B105-7F5D-4E71-9BA6-A2FC7FCED684}"/>
              </a:ext>
            </a:extLst>
          </p:cNvPr>
          <p:cNvPicPr>
            <a:picLocks noChangeAspect="1"/>
          </p:cNvPicPr>
          <p:nvPr/>
        </p:nvPicPr>
        <p:blipFill>
          <a:blip r:embed="rId2"/>
          <a:stretch>
            <a:fillRect/>
          </a:stretch>
        </p:blipFill>
        <p:spPr>
          <a:xfrm>
            <a:off x="2158686" y="622169"/>
            <a:ext cx="7874628" cy="5352353"/>
          </a:xfrm>
          <a:prstGeom prst="rect">
            <a:avLst/>
          </a:prstGeom>
        </p:spPr>
      </p:pic>
    </p:spTree>
    <p:extLst>
      <p:ext uri="{BB962C8B-B14F-4D97-AF65-F5344CB8AC3E}">
        <p14:creationId xmlns:p14="http://schemas.microsoft.com/office/powerpoint/2010/main" val="231050409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ROGUE DHCP</a:t>
            </a:r>
            <a:endParaRPr lang="cs-CZ"/>
          </a:p>
        </p:txBody>
      </p:sp>
      <p:sp>
        <p:nvSpPr>
          <p:cNvPr id="3" name="Content Placeholder 2"/>
          <p:cNvSpPr>
            <a:spLocks noGrp="1"/>
          </p:cNvSpPr>
          <p:nvPr>
            <p:ph idx="1"/>
          </p:nvPr>
        </p:nvSpPr>
        <p:spPr/>
        <p:txBody>
          <a:bodyPr>
            <a:normAutofit fontScale="92500" lnSpcReduction="10000"/>
          </a:bodyPr>
          <a:lstStyle/>
          <a:p>
            <a:r>
              <a:rPr lang="cs-CZ"/>
              <a:t>Je možné samozřejmě polemizovat nad tím, do jaké míry je tato historka pravdivá, avšak výše popsaný děj odpovídá útoku známému jako </a:t>
            </a:r>
            <a:r>
              <a:rPr lang="cs-CZ" b="1" err="1"/>
              <a:t>Rogue</a:t>
            </a:r>
            <a:r>
              <a:rPr lang="cs-CZ" b="1"/>
              <a:t> DHCP</a:t>
            </a:r>
            <a:r>
              <a:rPr lang="cs-CZ"/>
              <a:t>.</a:t>
            </a:r>
          </a:p>
          <a:p>
            <a:r>
              <a:rPr lang="cs-CZ"/>
              <a:t>V rámci tohoto útoku si útočník v síti LAN, která je pod správou napadené osoby, spustí vlastní DHCP server a přiděluje počítačovým systémům v této síti vlastní </a:t>
            </a:r>
            <a:r>
              <a:rPr lang="cs-CZ" err="1"/>
              <a:t>gateway</a:t>
            </a:r>
            <a:r>
              <a:rPr lang="cs-CZ"/>
              <a:t> pro přístup do Internetu. Tím docílí toho, že jsou všechna data posílána přes jím ovládaný počítačový systém a útočník tak může tato data a informace získat a zneužít (samozřejmě za předpokladu, že tyto nejsou spolehlivým způsobem šifrovány).</a:t>
            </a:r>
            <a:br>
              <a:rPr lang="cs-CZ"/>
            </a:b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140</a:t>
            </a:fld>
            <a:endParaRPr lang="cs-CZ"/>
          </a:p>
        </p:txBody>
      </p:sp>
    </p:spTree>
    <p:extLst>
      <p:ext uri="{BB962C8B-B14F-4D97-AF65-F5344CB8AC3E}">
        <p14:creationId xmlns:p14="http://schemas.microsoft.com/office/powerpoint/2010/main" val="39487306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ROGUE DHCP</a:t>
            </a:r>
            <a:endParaRPr lang="cs-CZ"/>
          </a:p>
        </p:txBody>
      </p:sp>
      <p:sp>
        <p:nvSpPr>
          <p:cNvPr id="3" name="Content Placeholder 2"/>
          <p:cNvSpPr>
            <a:spLocks noGrp="1"/>
          </p:cNvSpPr>
          <p:nvPr>
            <p:ph idx="1"/>
          </p:nvPr>
        </p:nvSpPr>
        <p:spPr/>
        <p:txBody>
          <a:bodyPr>
            <a:normAutofit fontScale="92500" lnSpcReduction="10000"/>
          </a:bodyPr>
          <a:lstStyle/>
          <a:p>
            <a:r>
              <a:rPr lang="cs-CZ" err="1"/>
              <a:t>Rogue</a:t>
            </a:r>
            <a:r>
              <a:rPr lang="cs-CZ"/>
              <a:t> DHCP je možné rozpoznat pomocí signatur v IDS (</a:t>
            </a:r>
            <a:r>
              <a:rPr lang="cs-CZ" err="1"/>
              <a:t>Intrusion</a:t>
            </a:r>
            <a:r>
              <a:rPr lang="cs-CZ"/>
              <a:t> </a:t>
            </a:r>
            <a:r>
              <a:rPr lang="cs-CZ" err="1"/>
              <a:t>Detection</a:t>
            </a:r>
            <a:r>
              <a:rPr lang="cs-CZ"/>
              <a:t> </a:t>
            </a:r>
            <a:r>
              <a:rPr lang="cs-CZ" err="1"/>
              <a:t>System</a:t>
            </a:r>
            <a:r>
              <a:rPr lang="cs-CZ"/>
              <a:t>), ale i pokud IDS není v počítačové síti provozováno, lze tomuto útoku obvykle předejít i správnou</a:t>
            </a:r>
            <a:br>
              <a:rPr lang="cs-CZ"/>
            </a:br>
            <a:r>
              <a:rPr lang="cs-CZ"/>
              <a:t>konfigurací síťového prostředí.</a:t>
            </a:r>
          </a:p>
          <a:p>
            <a:r>
              <a:rPr lang="cs-CZ"/>
              <a:t>Například u </a:t>
            </a:r>
            <a:r>
              <a:rPr lang="cs-CZ" err="1"/>
              <a:t>switchů</a:t>
            </a:r>
            <a:r>
              <a:rPr lang="cs-CZ"/>
              <a:t> Cisco či </a:t>
            </a:r>
            <a:r>
              <a:rPr lang="cs-CZ" err="1"/>
              <a:t>Juniper</a:t>
            </a:r>
            <a:r>
              <a:rPr lang="cs-CZ"/>
              <a:t> je možné zapnout funkci DHCP </a:t>
            </a:r>
            <a:r>
              <a:rPr lang="cs-CZ" err="1"/>
              <a:t>snooping</a:t>
            </a:r>
            <a:r>
              <a:rPr lang="cs-CZ"/>
              <a:t>. Jako správce si určíme takzvané důvěryhodné (</a:t>
            </a:r>
            <a:r>
              <a:rPr lang="cs-CZ" err="1"/>
              <a:t>trusted</a:t>
            </a:r>
            <a:r>
              <a:rPr lang="cs-CZ"/>
              <a:t>) porty, těmi budou porty, do kterých je připojen DHCP server, a porty, kterými jsou propojeny </a:t>
            </a:r>
            <a:r>
              <a:rPr lang="cs-CZ" err="1"/>
              <a:t>switche</a:t>
            </a:r>
            <a:r>
              <a:rPr lang="cs-CZ"/>
              <a:t>. Výhodou je, že při zapnutí této funkce je zároveň</a:t>
            </a:r>
            <a:br>
              <a:rPr lang="cs-CZ"/>
            </a:br>
            <a:r>
              <a:rPr lang="cs-CZ"/>
              <a:t>vytvářena databáze DHCP </a:t>
            </a:r>
            <a:r>
              <a:rPr lang="cs-CZ" err="1"/>
              <a:t>Snooping</a:t>
            </a:r>
            <a:r>
              <a:rPr lang="cs-CZ"/>
              <a:t> </a:t>
            </a:r>
            <a:r>
              <a:rPr lang="cs-CZ" err="1"/>
              <a:t>Binding</a:t>
            </a:r>
            <a:r>
              <a:rPr lang="cs-CZ"/>
              <a:t> Database, která obsahuje informace o přidělených IP adresách zároveň s MAC, VLAN, dobou pronájmu a informací o portu.</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141</a:t>
            </a:fld>
            <a:endParaRPr lang="cs-CZ"/>
          </a:p>
        </p:txBody>
      </p:sp>
    </p:spTree>
    <p:extLst>
      <p:ext uri="{BB962C8B-B14F-4D97-AF65-F5344CB8AC3E}">
        <p14:creationId xmlns:p14="http://schemas.microsoft.com/office/powerpoint/2010/main" val="180578445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ROGUE DHCP</a:t>
            </a: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142</a:t>
            </a:fld>
            <a:endParaRPr lang="cs-CZ"/>
          </a:p>
        </p:txBody>
      </p:sp>
      <p:pic>
        <p:nvPicPr>
          <p:cNvPr id="6" name="Picture 5"/>
          <p:cNvPicPr>
            <a:picLocks noChangeAspect="1"/>
          </p:cNvPicPr>
          <p:nvPr/>
        </p:nvPicPr>
        <p:blipFill>
          <a:blip r:embed="rId2"/>
          <a:stretch>
            <a:fillRect/>
          </a:stretch>
        </p:blipFill>
        <p:spPr>
          <a:xfrm>
            <a:off x="1027992" y="1857155"/>
            <a:ext cx="10136015" cy="3143689"/>
          </a:xfrm>
          <a:prstGeom prst="rect">
            <a:avLst/>
          </a:prstGeom>
        </p:spPr>
      </p:pic>
    </p:spTree>
    <p:extLst>
      <p:ext uri="{BB962C8B-B14F-4D97-AF65-F5344CB8AC3E}">
        <p14:creationId xmlns:p14="http://schemas.microsoft.com/office/powerpoint/2010/main" val="291543316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DHCP </a:t>
            </a:r>
            <a:r>
              <a:rPr lang="cs-CZ" b="1" err="1"/>
              <a:t>Starvation</a:t>
            </a:r>
            <a:endParaRPr lang="cs-CZ"/>
          </a:p>
        </p:txBody>
      </p:sp>
      <p:sp>
        <p:nvSpPr>
          <p:cNvPr id="3" name="Content Placeholder 2"/>
          <p:cNvSpPr>
            <a:spLocks noGrp="1"/>
          </p:cNvSpPr>
          <p:nvPr>
            <p:ph idx="1"/>
          </p:nvPr>
        </p:nvSpPr>
        <p:spPr/>
        <p:txBody>
          <a:bodyPr>
            <a:normAutofit/>
          </a:bodyPr>
          <a:lstStyle/>
          <a:p>
            <a:r>
              <a:rPr lang="cs-CZ"/>
              <a:t>Dalším z možných útoků na DHCP je útok </a:t>
            </a:r>
            <a:r>
              <a:rPr lang="cs-CZ" b="1"/>
              <a:t>DHCP </a:t>
            </a:r>
            <a:r>
              <a:rPr lang="cs-CZ" b="1" err="1"/>
              <a:t>Starvation</a:t>
            </a:r>
            <a:r>
              <a:rPr lang="cs-CZ"/>
              <a:t>, který spočívá ve vyčerpání dostupných IP adres. Útočník pouze vhodným nástrojem generuje do sítě velké množství DHCP požadavků z podvržených MAC adres a tak vyčerpá administrátorem definovaný rozsah IP adres.</a:t>
            </a:r>
          </a:p>
          <a:p>
            <a:r>
              <a:rPr lang="cs-CZ"/>
              <a:t>S útokem DHCP </a:t>
            </a:r>
            <a:r>
              <a:rPr lang="cs-CZ" err="1"/>
              <a:t>starvation</a:t>
            </a:r>
            <a:r>
              <a:rPr lang="cs-CZ"/>
              <a:t> se mohla setkat většina z čtenářů, pokud se někdy připojila do nevhodně nakonfigurované sítě.</a:t>
            </a:r>
            <a:br>
              <a:rPr lang="cs-CZ"/>
            </a:b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143</a:t>
            </a:fld>
            <a:endParaRPr lang="cs-CZ"/>
          </a:p>
        </p:txBody>
      </p:sp>
    </p:spTree>
    <p:extLst>
      <p:ext uri="{BB962C8B-B14F-4D97-AF65-F5344CB8AC3E}">
        <p14:creationId xmlns:p14="http://schemas.microsoft.com/office/powerpoint/2010/main" val="129705990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DHCP </a:t>
            </a:r>
            <a:r>
              <a:rPr lang="cs-CZ" b="1" err="1"/>
              <a:t>Starvation</a:t>
            </a:r>
            <a:endParaRPr lang="cs-CZ"/>
          </a:p>
        </p:txBody>
      </p:sp>
      <p:sp>
        <p:nvSpPr>
          <p:cNvPr id="3" name="Content Placeholder 2"/>
          <p:cNvSpPr>
            <a:spLocks noGrp="1"/>
          </p:cNvSpPr>
          <p:nvPr>
            <p:ph idx="1"/>
          </p:nvPr>
        </p:nvSpPr>
        <p:spPr/>
        <p:txBody>
          <a:bodyPr>
            <a:normAutofit/>
          </a:bodyPr>
          <a:lstStyle/>
          <a:p>
            <a:r>
              <a:rPr lang="cs-CZ" b="1"/>
              <a:t>Příklad: </a:t>
            </a:r>
            <a:r>
              <a:rPr lang="cs-CZ" i="1"/>
              <a:t>Autorovi této publikace se například na dovolené stalo to, že pravidelně přestávala fungovat</a:t>
            </a:r>
            <a:r>
              <a:rPr lang="cs-CZ"/>
              <a:t> </a:t>
            </a:r>
            <a:r>
              <a:rPr lang="cs-CZ" i="1"/>
              <a:t>veřejně přístupná bezdrátová síť určená pro hosty hotelu. Síť byla viditelná, došlo k inicializaci spojení,</a:t>
            </a:r>
            <a:r>
              <a:rPr lang="cs-CZ"/>
              <a:t> </a:t>
            </a:r>
            <a:r>
              <a:rPr lang="cs-CZ" i="1"/>
              <a:t>avšak nedošlo k přidělení IP adresy koncovému počítači. Po restartu </a:t>
            </a:r>
            <a:r>
              <a:rPr lang="cs-CZ" i="1" err="1"/>
              <a:t>routeru</a:t>
            </a:r>
            <a:r>
              <a:rPr lang="cs-CZ" i="1"/>
              <a:t> bylo vše zase na krátký</a:t>
            </a:r>
            <a:r>
              <a:rPr lang="cs-CZ"/>
              <a:t> </a:t>
            </a:r>
            <a:r>
              <a:rPr lang="cs-CZ" i="1"/>
              <a:t>čas v pořádku a připojení fungovalo bezchybně. Jak se později ukázalo, problém byl v tom, že technik</a:t>
            </a:r>
            <a:r>
              <a:rPr lang="cs-CZ"/>
              <a:t> </a:t>
            </a:r>
            <a:r>
              <a:rPr lang="cs-CZ" i="1"/>
              <a:t>společnosti, která </a:t>
            </a:r>
            <a:r>
              <a:rPr lang="cs-CZ" i="1" err="1"/>
              <a:t>router</a:t>
            </a:r>
            <a:r>
              <a:rPr lang="cs-CZ" i="1"/>
              <a:t> pro hotel spravovala, nastavil omylem příliš malý rozsah IP adres a zařízení</a:t>
            </a:r>
            <a:r>
              <a:rPr lang="cs-CZ"/>
              <a:t> </a:t>
            </a:r>
            <a:r>
              <a:rPr lang="cs-CZ" i="1"/>
              <a:t>hostů je vždy velmi rychle vyčerpala. I když se v tomto případě nejednalo ze strany hotelových hostů</a:t>
            </a:r>
            <a:br>
              <a:rPr lang="cs-CZ"/>
            </a:br>
            <a:r>
              <a:rPr lang="cs-CZ" i="1"/>
              <a:t>o úmysl, důsledky byly stejné, jako v případě útoku DHCP </a:t>
            </a:r>
            <a:r>
              <a:rPr lang="cs-CZ" i="1" err="1"/>
              <a:t>Starvation</a:t>
            </a:r>
            <a:r>
              <a:rPr lang="cs-CZ" i="1"/>
              <a:t>.</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144</a:t>
            </a:fld>
            <a:endParaRPr lang="cs-CZ"/>
          </a:p>
        </p:txBody>
      </p:sp>
    </p:spTree>
    <p:extLst>
      <p:ext uri="{BB962C8B-B14F-4D97-AF65-F5344CB8AC3E}">
        <p14:creationId xmlns:p14="http://schemas.microsoft.com/office/powerpoint/2010/main" val="146241760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DHCP </a:t>
            </a:r>
            <a:r>
              <a:rPr lang="cs-CZ" b="1" err="1"/>
              <a:t>Starvation</a:t>
            </a:r>
            <a:endParaRPr lang="cs-CZ"/>
          </a:p>
        </p:txBody>
      </p:sp>
      <p:sp>
        <p:nvSpPr>
          <p:cNvPr id="3" name="Content Placeholder 2"/>
          <p:cNvSpPr>
            <a:spLocks noGrp="1"/>
          </p:cNvSpPr>
          <p:nvPr>
            <p:ph idx="1"/>
          </p:nvPr>
        </p:nvSpPr>
        <p:spPr/>
        <p:txBody>
          <a:bodyPr>
            <a:normAutofit/>
          </a:bodyPr>
          <a:lstStyle/>
          <a:p>
            <a:r>
              <a:rPr lang="cs-CZ" sz="2400"/>
              <a:t>Proti DHCP </a:t>
            </a:r>
            <a:r>
              <a:rPr lang="cs-CZ" sz="2400" err="1"/>
              <a:t>Starvation</a:t>
            </a:r>
            <a:r>
              <a:rPr lang="cs-CZ" sz="2400"/>
              <a:t> útoku se je možné například bránit tak, že bude omezeno množství MAC adres, které se mohou nacházet za jedním portem </a:t>
            </a:r>
            <a:r>
              <a:rPr lang="cs-CZ" sz="2400" err="1"/>
              <a:t>switche</a:t>
            </a:r>
            <a:r>
              <a:rPr lang="cs-CZ" sz="2400"/>
              <a:t>. Pokud zapnete funkci Port </a:t>
            </a:r>
            <a:r>
              <a:rPr lang="cs-CZ" sz="2400" err="1"/>
              <a:t>Security</a:t>
            </a:r>
            <a:r>
              <a:rPr lang="cs-CZ" sz="2400"/>
              <a:t>, můžete buď pouze omezit počet možných MAC adres na portu a jejich definování nechat na automatice, nebo lze dokonce vymezit konkrétní MAC adresy, které jediné mohou být k portu připojené. Rámce s jinou než definovanou MAC adresou pak budou </a:t>
            </a:r>
            <a:r>
              <a:rPr lang="cs-CZ" sz="2400" err="1"/>
              <a:t>switchem</a:t>
            </a:r>
            <a:r>
              <a:rPr lang="cs-CZ" sz="2400"/>
              <a:t> automaticky zahozeny, nebo dojde k úplnému vypnutí portu až do zásahu administrátora.</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145</a:t>
            </a:fld>
            <a:endParaRPr lang="cs-CZ"/>
          </a:p>
        </p:txBody>
      </p:sp>
    </p:spTree>
    <p:extLst>
      <p:ext uri="{BB962C8B-B14F-4D97-AF65-F5344CB8AC3E}">
        <p14:creationId xmlns:p14="http://schemas.microsoft.com/office/powerpoint/2010/main" val="285268813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ARP protokol</a:t>
            </a:r>
            <a:endParaRPr lang="cs-CZ"/>
          </a:p>
        </p:txBody>
      </p:sp>
      <p:sp>
        <p:nvSpPr>
          <p:cNvPr id="3" name="Content Placeholder 2"/>
          <p:cNvSpPr>
            <a:spLocks noGrp="1"/>
          </p:cNvSpPr>
          <p:nvPr>
            <p:ph idx="1"/>
          </p:nvPr>
        </p:nvSpPr>
        <p:spPr/>
        <p:txBody>
          <a:bodyPr>
            <a:normAutofit fontScale="92500" lnSpcReduction="20000"/>
          </a:bodyPr>
          <a:lstStyle/>
          <a:p>
            <a:r>
              <a:rPr lang="cs-CZ"/>
              <a:t>Protokol ARP slouží v TCP/IP k získání linkové (</a:t>
            </a:r>
            <a:r>
              <a:rPr lang="cs-CZ" err="1"/>
              <a:t>ethernet</a:t>
            </a:r>
            <a:r>
              <a:rPr lang="cs-CZ"/>
              <a:t>) adresy síťového rozhraní cílového počítačového systému ve stejné podsíti pomocí známé IP adresy.</a:t>
            </a:r>
          </a:p>
          <a:p>
            <a:r>
              <a:rPr lang="cs-CZ"/>
              <a:t>V případě, že chce počítačový systém odeslat jinému systému ve stejné počítačové síti data, musí krom cílové IP adresy znát i cílovou </a:t>
            </a:r>
            <a:r>
              <a:rPr lang="cs-CZ" err="1"/>
              <a:t>ethernetovou</a:t>
            </a:r>
            <a:r>
              <a:rPr lang="cs-CZ"/>
              <a:t> adresu. Z tohoto důvodu je odeslán ARP dotaz, který obsahuje hledanou IP adresu a údaje o odesílajícím počítačovém systému, tedy vlastní IP adresu a MAC adresu.</a:t>
            </a:r>
          </a:p>
          <a:p>
            <a:r>
              <a:rPr lang="cs-CZ"/>
              <a:t>Protože však odesílající počítačový systém zatím nezná MAC adresu cílového počítačového systému, pošle dotaz linkovým </a:t>
            </a:r>
            <a:r>
              <a:rPr lang="cs-CZ" err="1"/>
              <a:t>broadcastem</a:t>
            </a:r>
            <a:r>
              <a:rPr lang="cs-CZ"/>
              <a:t> na MAC adresu, která je společná všem účastníkům dané lokální sítě (u </a:t>
            </a:r>
            <a:r>
              <a:rPr lang="cs-CZ" err="1"/>
              <a:t>Ethernetu</a:t>
            </a:r>
            <a:r>
              <a:rPr lang="cs-CZ"/>
              <a:t> se jedná o adresu </a:t>
            </a:r>
            <a:r>
              <a:rPr lang="cs-CZ" err="1"/>
              <a:t>ff:ff:ff:ff:ff:ff</a:t>
            </a:r>
            <a:r>
              <a:rPr lang="cs-CZ"/>
              <a:t>).</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146</a:t>
            </a:fld>
            <a:endParaRPr lang="cs-CZ"/>
          </a:p>
        </p:txBody>
      </p:sp>
    </p:spTree>
    <p:extLst>
      <p:ext uri="{BB962C8B-B14F-4D97-AF65-F5344CB8AC3E}">
        <p14:creationId xmlns:p14="http://schemas.microsoft.com/office/powerpoint/2010/main" val="66021349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ARP protokol</a:t>
            </a: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147</a:t>
            </a:fld>
            <a:endParaRPr lang="cs-CZ"/>
          </a:p>
        </p:txBody>
      </p:sp>
      <p:pic>
        <p:nvPicPr>
          <p:cNvPr id="7" name="Picture 6"/>
          <p:cNvPicPr>
            <a:picLocks noChangeAspect="1"/>
          </p:cNvPicPr>
          <p:nvPr/>
        </p:nvPicPr>
        <p:blipFill>
          <a:blip r:embed="rId2"/>
          <a:stretch>
            <a:fillRect/>
          </a:stretch>
        </p:blipFill>
        <p:spPr>
          <a:xfrm>
            <a:off x="1927912" y="1690688"/>
            <a:ext cx="7820387" cy="4337988"/>
          </a:xfrm>
          <a:prstGeom prst="rect">
            <a:avLst/>
          </a:prstGeom>
        </p:spPr>
      </p:pic>
    </p:spTree>
    <p:extLst>
      <p:ext uri="{BB962C8B-B14F-4D97-AF65-F5344CB8AC3E}">
        <p14:creationId xmlns:p14="http://schemas.microsoft.com/office/powerpoint/2010/main" val="12774050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ARP protokol</a:t>
            </a:r>
            <a:endParaRPr lang="cs-CZ"/>
          </a:p>
        </p:txBody>
      </p:sp>
      <p:sp>
        <p:nvSpPr>
          <p:cNvPr id="3" name="Content Placeholder 2"/>
          <p:cNvSpPr>
            <a:spLocks noGrp="1"/>
          </p:cNvSpPr>
          <p:nvPr>
            <p:ph idx="1"/>
          </p:nvPr>
        </p:nvSpPr>
        <p:spPr/>
        <p:txBody>
          <a:bodyPr/>
          <a:lstStyle/>
          <a:p>
            <a:r>
              <a:rPr lang="cs-CZ"/>
              <a:t>Na obrázku 50 je třeba věnovat pozornost položce </a:t>
            </a:r>
            <a:r>
              <a:rPr lang="cs-CZ" b="1" err="1"/>
              <a:t>Destination</a:t>
            </a:r>
            <a:r>
              <a:rPr lang="cs-CZ" b="1"/>
              <a:t> </a:t>
            </a:r>
            <a:r>
              <a:rPr lang="cs-CZ"/>
              <a:t>a </a:t>
            </a:r>
            <a:r>
              <a:rPr lang="cs-CZ" b="1"/>
              <a:t>Target MAC </a:t>
            </a:r>
            <a:r>
              <a:rPr lang="cs-CZ" b="1" err="1"/>
              <a:t>address</a:t>
            </a:r>
            <a:r>
              <a:rPr lang="cs-CZ"/>
              <a:t>. Protože byl paket odeslán na adresu </a:t>
            </a:r>
            <a:r>
              <a:rPr lang="cs-CZ" err="1"/>
              <a:t>Broadcastu</a:t>
            </a:r>
            <a:r>
              <a:rPr lang="cs-CZ"/>
              <a:t>, vyzvednou si jej síťová rozhraní všech zařízení v dané lokální síti. Avšak pouze držitel hledané IP adresy odpoví původnímu tazateli zprávou, ve které bude informace o jeho IP adrese a MAC adrese. Tuto informaci si dotazující se počítačový systém zanese do své ARP </a:t>
            </a:r>
            <a:r>
              <a:rPr lang="cs-CZ" err="1"/>
              <a:t>Cache</a:t>
            </a:r>
            <a:r>
              <a:rPr lang="cs-CZ"/>
              <a:t>.</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148</a:t>
            </a:fld>
            <a:endParaRPr lang="cs-CZ"/>
          </a:p>
        </p:txBody>
      </p:sp>
    </p:spTree>
    <p:extLst>
      <p:ext uri="{BB962C8B-B14F-4D97-AF65-F5344CB8AC3E}">
        <p14:creationId xmlns:p14="http://schemas.microsoft.com/office/powerpoint/2010/main" val="386831228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ARP protokol</a:t>
            </a: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149</a:t>
            </a:fld>
            <a:endParaRPr lang="cs-CZ"/>
          </a:p>
        </p:txBody>
      </p:sp>
      <p:pic>
        <p:nvPicPr>
          <p:cNvPr id="6" name="Picture 5"/>
          <p:cNvPicPr>
            <a:picLocks noChangeAspect="1"/>
          </p:cNvPicPr>
          <p:nvPr/>
        </p:nvPicPr>
        <p:blipFill>
          <a:blip r:embed="rId2"/>
          <a:stretch>
            <a:fillRect/>
          </a:stretch>
        </p:blipFill>
        <p:spPr>
          <a:xfrm>
            <a:off x="2046802" y="1917124"/>
            <a:ext cx="7319836" cy="4169059"/>
          </a:xfrm>
          <a:prstGeom prst="rect">
            <a:avLst/>
          </a:prstGeom>
        </p:spPr>
      </p:pic>
    </p:spTree>
    <p:extLst>
      <p:ext uri="{BB962C8B-B14F-4D97-AF65-F5344CB8AC3E}">
        <p14:creationId xmlns:p14="http://schemas.microsoft.com/office/powerpoint/2010/main" val="171177580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ARP protokol - útoky</a:t>
            </a:r>
            <a:endParaRPr lang="cs-CZ"/>
          </a:p>
        </p:txBody>
      </p:sp>
      <p:sp>
        <p:nvSpPr>
          <p:cNvPr id="3" name="Content Placeholder 2"/>
          <p:cNvSpPr>
            <a:spLocks noGrp="1"/>
          </p:cNvSpPr>
          <p:nvPr>
            <p:ph idx="1"/>
          </p:nvPr>
        </p:nvSpPr>
        <p:spPr/>
        <p:txBody>
          <a:bodyPr/>
          <a:lstStyle/>
          <a:p>
            <a:r>
              <a:rPr lang="cs-CZ"/>
              <a:t>Problém s ARP protokolem je ten, že se nijak nehlídá, zda byl požadavek opravdu odeslán, jinými slovy, je akceptována a do ARP </a:t>
            </a:r>
            <a:r>
              <a:rPr lang="cs-CZ" err="1"/>
              <a:t>Cache</a:t>
            </a:r>
            <a:r>
              <a:rPr lang="cs-CZ"/>
              <a:t> zapsána i odpověď, na kterou se nikdo neptal. Útočník tak může snadno generovat vlastní ARP odpovědi, ve kterých bude cílovému počítačovému systému tvrdit, že určitá IP adresa v síti, typicky </a:t>
            </a:r>
            <a:r>
              <a:rPr lang="cs-CZ" err="1"/>
              <a:t>gateway</a:t>
            </a:r>
            <a:r>
              <a:rPr lang="cs-CZ"/>
              <a:t>, má jeho, tedy útočníkovu MAC adresu.</a:t>
            </a: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150</a:t>
            </a:fld>
            <a:endParaRPr lang="cs-CZ"/>
          </a:p>
        </p:txBody>
      </p:sp>
    </p:spTree>
    <p:extLst>
      <p:ext uri="{BB962C8B-B14F-4D97-AF65-F5344CB8AC3E}">
        <p14:creationId xmlns:p14="http://schemas.microsoft.com/office/powerpoint/2010/main" val="259079444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ARP protokol - útoky</a:t>
            </a: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151</a:t>
            </a:fld>
            <a:endParaRPr lang="cs-CZ"/>
          </a:p>
        </p:txBody>
      </p:sp>
      <p:pic>
        <p:nvPicPr>
          <p:cNvPr id="6" name="Picture 5"/>
          <p:cNvPicPr>
            <a:picLocks noChangeAspect="1"/>
          </p:cNvPicPr>
          <p:nvPr/>
        </p:nvPicPr>
        <p:blipFill>
          <a:blip r:embed="rId2"/>
          <a:stretch>
            <a:fillRect/>
          </a:stretch>
        </p:blipFill>
        <p:spPr>
          <a:xfrm>
            <a:off x="1585817" y="1522403"/>
            <a:ext cx="8408974" cy="4572431"/>
          </a:xfrm>
          <a:prstGeom prst="rect">
            <a:avLst/>
          </a:prstGeom>
        </p:spPr>
      </p:pic>
    </p:spTree>
    <p:extLst>
      <p:ext uri="{BB962C8B-B14F-4D97-AF65-F5344CB8AC3E}">
        <p14:creationId xmlns:p14="http://schemas.microsoft.com/office/powerpoint/2010/main" val="782465433"/>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ARP protokol - útoky</a:t>
            </a:r>
            <a:endParaRPr lang="cs-CZ"/>
          </a:p>
        </p:txBody>
      </p:sp>
      <p:sp>
        <p:nvSpPr>
          <p:cNvPr id="3" name="Content Placeholder 2"/>
          <p:cNvSpPr>
            <a:spLocks noGrp="1"/>
          </p:cNvSpPr>
          <p:nvPr>
            <p:ph idx="1"/>
          </p:nvPr>
        </p:nvSpPr>
        <p:spPr/>
        <p:txBody>
          <a:bodyPr>
            <a:normAutofit fontScale="92500" lnSpcReduction="10000"/>
          </a:bodyPr>
          <a:lstStyle/>
          <a:p>
            <a:r>
              <a:rPr lang="cs-CZ"/>
              <a:t>Na obrázku 52 je demonstrován útok </a:t>
            </a:r>
            <a:r>
              <a:rPr lang="cs-CZ" b="1"/>
              <a:t>ARP </a:t>
            </a:r>
            <a:r>
              <a:rPr lang="cs-CZ" b="1" err="1"/>
              <a:t>Cache</a:t>
            </a:r>
            <a:r>
              <a:rPr lang="cs-CZ" b="1"/>
              <a:t> </a:t>
            </a:r>
            <a:r>
              <a:rPr lang="cs-CZ" b="1" err="1"/>
              <a:t>Poisoning</a:t>
            </a:r>
            <a:r>
              <a:rPr lang="cs-CZ"/>
              <a:t>, v rámci kterého útočník posílá Bobovi podvržené ARP odpovědi, ve kterých tvrdí, že počítačový systém Alice, tedy IP 10.0.0.7 má MAC adresu útočníka </a:t>
            </a:r>
            <a:r>
              <a:rPr lang="cs-CZ" err="1"/>
              <a:t>cc:cc:cc:cc:cc:cc</a:t>
            </a:r>
            <a:r>
              <a:rPr lang="cs-CZ"/>
              <a:t>. Zároveň posílá počítačovému systému Alice</a:t>
            </a:r>
            <a:br>
              <a:rPr lang="cs-CZ"/>
            </a:br>
            <a:r>
              <a:rPr lang="cs-CZ"/>
              <a:t>ARP odpovědi, ve kterých tvrdí, že IP adresa Boba (10.0.0.1) má MAC adresu útočníka </a:t>
            </a:r>
            <a:r>
              <a:rPr lang="cs-CZ" err="1"/>
              <a:t>cc:cc:cc:cc:cc:cc</a:t>
            </a:r>
            <a:r>
              <a:rPr lang="cs-CZ"/>
              <a:t>. </a:t>
            </a:r>
          </a:p>
          <a:p>
            <a:r>
              <a:rPr lang="cs-CZ"/>
              <a:t>Pokud tedy chce Bob komunikovat s Alicí, jeho počítač převezme data, přidá k nim správnou cílovou IP adresu 10.0.0.7, avšak špatnou MAC adresu </a:t>
            </a:r>
            <a:r>
              <a:rPr lang="cs-CZ" err="1"/>
              <a:t>cc:cc:cc:cc:cc:cc</a:t>
            </a:r>
            <a:r>
              <a:rPr lang="cs-CZ"/>
              <a:t>. Když rámec dorazí na </a:t>
            </a:r>
            <a:r>
              <a:rPr lang="cs-CZ" err="1"/>
              <a:t>switch</a:t>
            </a:r>
            <a:r>
              <a:rPr lang="cs-CZ"/>
              <a:t>, ten zkontroluje, pro koho jsou data určena a na základě MAC adresy </a:t>
            </a:r>
            <a:r>
              <a:rPr lang="cs-CZ" err="1"/>
              <a:t>cc:cc:cc:cc:cc:cc</a:t>
            </a:r>
            <a:r>
              <a:rPr lang="cs-CZ"/>
              <a:t>, pošle data na port, kde je připojen počítačový systém útočníka. Útočník data přijme a následně je opatří již správnou MAC adresou a pošle je dál.</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152</a:t>
            </a:fld>
            <a:endParaRPr lang="cs-CZ"/>
          </a:p>
        </p:txBody>
      </p:sp>
    </p:spTree>
    <p:extLst>
      <p:ext uri="{BB962C8B-B14F-4D97-AF65-F5344CB8AC3E}">
        <p14:creationId xmlns:p14="http://schemas.microsoft.com/office/powerpoint/2010/main" val="7803719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ARP protokol - útoky</a:t>
            </a:r>
            <a:endParaRPr lang="cs-CZ"/>
          </a:p>
        </p:txBody>
      </p:sp>
      <p:sp>
        <p:nvSpPr>
          <p:cNvPr id="3" name="Content Placeholder 2"/>
          <p:cNvSpPr>
            <a:spLocks noGrp="1"/>
          </p:cNvSpPr>
          <p:nvPr>
            <p:ph idx="1"/>
          </p:nvPr>
        </p:nvSpPr>
        <p:spPr/>
        <p:txBody>
          <a:bodyPr>
            <a:normAutofit/>
          </a:bodyPr>
          <a:lstStyle/>
          <a:p>
            <a:r>
              <a:rPr lang="cs-CZ"/>
              <a:t>Existuje celá řada programů, které lze pro provedení útoku ARP </a:t>
            </a:r>
            <a:r>
              <a:rPr lang="cs-CZ" err="1"/>
              <a:t>Cache</a:t>
            </a:r>
            <a:r>
              <a:rPr lang="cs-CZ"/>
              <a:t> </a:t>
            </a:r>
            <a:r>
              <a:rPr lang="cs-CZ" err="1"/>
              <a:t>Poisoning</a:t>
            </a:r>
            <a:r>
              <a:rPr lang="cs-CZ"/>
              <a:t> využít, namátkou jmenujme programy </a:t>
            </a:r>
            <a:r>
              <a:rPr lang="cs-CZ" b="1" i="1" err="1"/>
              <a:t>Cain</a:t>
            </a:r>
            <a:r>
              <a:rPr lang="cs-CZ" b="1" err="1"/>
              <a:t>&amp;</a:t>
            </a:r>
            <a:r>
              <a:rPr lang="cs-CZ" b="1" i="1" err="1"/>
              <a:t>Abel</a:t>
            </a:r>
            <a:r>
              <a:rPr lang="cs-CZ" b="1"/>
              <a:t>, </a:t>
            </a:r>
            <a:r>
              <a:rPr lang="cs-CZ" b="1" i="1" err="1"/>
              <a:t>Ettercap</a:t>
            </a:r>
            <a:r>
              <a:rPr lang="cs-CZ" b="1" i="1"/>
              <a:t> </a:t>
            </a:r>
            <a:r>
              <a:rPr lang="cs-CZ" b="1"/>
              <a:t>nebo </a:t>
            </a:r>
            <a:r>
              <a:rPr lang="cs-CZ" b="1" i="1" err="1"/>
              <a:t>arpspoof</a:t>
            </a:r>
            <a:r>
              <a:rPr lang="cs-CZ" b="1"/>
              <a:t>. </a:t>
            </a:r>
            <a:r>
              <a:rPr lang="cs-CZ"/>
              <a:t>Některé z těchto programů se i automaticky postarají o předávání paketů do správné destinace, u některých je třeba zapnout předávání paketů v operačním systému </a:t>
            </a:r>
          </a:p>
          <a:p>
            <a:r>
              <a:rPr lang="cs-CZ"/>
              <a:t>Pokud by to útočník neudělal, vyvolal by pouze </a:t>
            </a:r>
            <a:r>
              <a:rPr lang="cs-CZ" err="1"/>
              <a:t>DoS</a:t>
            </a:r>
            <a:r>
              <a:rPr lang="cs-CZ"/>
              <a:t>,</a:t>
            </a:r>
            <a:br>
              <a:rPr lang="cs-CZ"/>
            </a:br>
            <a:r>
              <a:rPr lang="cs-CZ"/>
              <a:t>kdy by oba počítačové systémy nebyly schopny spolu komunikovat, protože by jejich pakety končily u útočníka, jehož počítačový systém by je ale již dále neodesílal.</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153</a:t>
            </a:fld>
            <a:endParaRPr lang="cs-CZ"/>
          </a:p>
        </p:txBody>
      </p:sp>
    </p:spTree>
    <p:extLst>
      <p:ext uri="{BB962C8B-B14F-4D97-AF65-F5344CB8AC3E}">
        <p14:creationId xmlns:p14="http://schemas.microsoft.com/office/powerpoint/2010/main" val="395239618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ARP protokol - útoky</a:t>
            </a: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154</a:t>
            </a:fld>
            <a:endParaRPr lang="cs-CZ"/>
          </a:p>
        </p:txBody>
      </p:sp>
      <p:pic>
        <p:nvPicPr>
          <p:cNvPr id="6" name="Picture 5"/>
          <p:cNvPicPr>
            <a:picLocks noChangeAspect="1"/>
          </p:cNvPicPr>
          <p:nvPr/>
        </p:nvPicPr>
        <p:blipFill>
          <a:blip r:embed="rId2"/>
          <a:stretch>
            <a:fillRect/>
          </a:stretch>
        </p:blipFill>
        <p:spPr>
          <a:xfrm>
            <a:off x="1810485" y="1940627"/>
            <a:ext cx="8184305" cy="3996986"/>
          </a:xfrm>
          <a:prstGeom prst="rect">
            <a:avLst/>
          </a:prstGeom>
        </p:spPr>
      </p:pic>
    </p:spTree>
    <p:extLst>
      <p:ext uri="{BB962C8B-B14F-4D97-AF65-F5344CB8AC3E}">
        <p14:creationId xmlns:p14="http://schemas.microsoft.com/office/powerpoint/2010/main" val="295985020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ARP protokol - útoky</a:t>
            </a:r>
            <a:endParaRPr lang="cs-CZ"/>
          </a:p>
        </p:txBody>
      </p:sp>
      <p:sp>
        <p:nvSpPr>
          <p:cNvPr id="3" name="Content Placeholder 2"/>
          <p:cNvSpPr>
            <a:spLocks noGrp="1"/>
          </p:cNvSpPr>
          <p:nvPr>
            <p:ph idx="1"/>
          </p:nvPr>
        </p:nvSpPr>
        <p:spPr/>
        <p:txBody>
          <a:bodyPr/>
          <a:lstStyle/>
          <a:p>
            <a:r>
              <a:rPr lang="cs-CZ"/>
              <a:t>ARP </a:t>
            </a:r>
            <a:r>
              <a:rPr lang="cs-CZ" err="1"/>
              <a:t>Cache</a:t>
            </a:r>
            <a:r>
              <a:rPr lang="cs-CZ"/>
              <a:t> </a:t>
            </a:r>
            <a:r>
              <a:rPr lang="cs-CZ" err="1"/>
              <a:t>poisoning</a:t>
            </a:r>
            <a:r>
              <a:rPr lang="cs-CZ"/>
              <a:t> představuje útok man-in-</a:t>
            </a:r>
            <a:r>
              <a:rPr lang="cs-CZ" err="1"/>
              <a:t>the</a:t>
            </a:r>
            <a:r>
              <a:rPr lang="cs-CZ"/>
              <a:t>-</a:t>
            </a:r>
            <a:r>
              <a:rPr lang="cs-CZ" err="1"/>
              <a:t>middle</a:t>
            </a:r>
            <a:r>
              <a:rPr lang="cs-CZ"/>
              <a:t> (MITM), neboť útočník stojí uprostřed mezi oběma počítačovými systémy. V rámci tohoto útoku se však </a:t>
            </a:r>
            <a:r>
              <a:rPr lang="cs-CZ" b="1"/>
              <a:t>útočník nemusí omezovat pouze na čtení dat, ale může do nich i aktivně zasahovat, například vkládat do</a:t>
            </a:r>
            <a:br>
              <a:rPr lang="cs-CZ" b="1"/>
            </a:br>
            <a:r>
              <a:rPr lang="cs-CZ" b="1"/>
              <a:t>webových stránek vlastní skripty a v případě šifrované komunikace se může pokusit o její narušení.</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155</a:t>
            </a:fld>
            <a:endParaRPr lang="cs-CZ"/>
          </a:p>
        </p:txBody>
      </p:sp>
    </p:spTree>
    <p:extLst>
      <p:ext uri="{BB962C8B-B14F-4D97-AF65-F5344CB8AC3E}">
        <p14:creationId xmlns:p14="http://schemas.microsoft.com/office/powerpoint/2010/main" val="2938183131"/>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ARP protokol - útoky</a:t>
            </a:r>
            <a:endParaRPr lang="cs-CZ"/>
          </a:p>
        </p:txBody>
      </p:sp>
      <p:sp>
        <p:nvSpPr>
          <p:cNvPr id="3" name="Content Placeholder 2"/>
          <p:cNvSpPr>
            <a:spLocks noGrp="1"/>
          </p:cNvSpPr>
          <p:nvPr>
            <p:ph idx="1"/>
          </p:nvPr>
        </p:nvSpPr>
        <p:spPr/>
        <p:txBody>
          <a:bodyPr>
            <a:normAutofit fontScale="92500"/>
          </a:bodyPr>
          <a:lstStyle/>
          <a:p>
            <a:r>
              <a:rPr lang="cs-CZ"/>
              <a:t>Ochranu proti ARP </a:t>
            </a:r>
            <a:r>
              <a:rPr lang="cs-CZ" err="1"/>
              <a:t>Cache</a:t>
            </a:r>
            <a:r>
              <a:rPr lang="cs-CZ"/>
              <a:t> </a:t>
            </a:r>
            <a:r>
              <a:rPr lang="cs-CZ" err="1"/>
              <a:t>poisoning</a:t>
            </a:r>
            <a:r>
              <a:rPr lang="cs-CZ"/>
              <a:t> útoku lze rozdělit do dvou částí:</a:t>
            </a:r>
          </a:p>
          <a:p>
            <a:pPr lvl="1"/>
            <a:r>
              <a:rPr lang="cs-CZ" b="1"/>
              <a:t>ochranu koncových počítačových systémů,</a:t>
            </a:r>
            <a:endParaRPr lang="cs-CZ"/>
          </a:p>
          <a:p>
            <a:pPr lvl="1"/>
            <a:r>
              <a:rPr lang="cs-CZ" b="1"/>
              <a:t>ochranu na úrovni sítě.</a:t>
            </a:r>
            <a:endParaRPr lang="cs-CZ"/>
          </a:p>
          <a:p>
            <a:r>
              <a:rPr lang="cs-CZ"/>
              <a:t>Pokud tedy uživatelé používají přenosné počítačové systémy a organizace chce mít jistotu, že se tito uživatelé nestanou cílem ARP </a:t>
            </a:r>
            <a:r>
              <a:rPr lang="cs-CZ" err="1"/>
              <a:t>Cache</a:t>
            </a:r>
            <a:r>
              <a:rPr lang="cs-CZ"/>
              <a:t> </a:t>
            </a:r>
            <a:r>
              <a:rPr lang="cs-CZ" err="1"/>
              <a:t>poisoning</a:t>
            </a:r>
            <a:r>
              <a:rPr lang="cs-CZ"/>
              <a:t> útoku mimo počítačovou síť organizace, je možné využít některého ze softwarů, který dokáže detekovat ARP </a:t>
            </a:r>
            <a:r>
              <a:rPr lang="cs-CZ" err="1"/>
              <a:t>spoofing</a:t>
            </a:r>
            <a:r>
              <a:rPr lang="cs-CZ"/>
              <a:t>. Jedním z takovýchto nástrojů, který lze nasadit přímo do počítačového systému, je </a:t>
            </a:r>
            <a:r>
              <a:rPr lang="cs-CZ" b="1" i="1" err="1"/>
              <a:t>XArp</a:t>
            </a:r>
            <a:r>
              <a:rPr lang="cs-CZ" b="1"/>
              <a:t>. Detekovat ARP </a:t>
            </a:r>
            <a:r>
              <a:rPr lang="cs-CZ" b="1" err="1"/>
              <a:t>spoofing</a:t>
            </a:r>
            <a:r>
              <a:rPr lang="cs-CZ" b="1"/>
              <a:t> na úrovni koncového počítačového systému umí ale i některá antivirová řešení.</a:t>
            </a:r>
            <a:br>
              <a:rPr lang="cs-CZ" b="1"/>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156</a:t>
            </a:fld>
            <a:endParaRPr lang="cs-CZ"/>
          </a:p>
        </p:txBody>
      </p:sp>
    </p:spTree>
    <p:extLst>
      <p:ext uri="{BB962C8B-B14F-4D97-AF65-F5344CB8AC3E}">
        <p14:creationId xmlns:p14="http://schemas.microsoft.com/office/powerpoint/2010/main" val="357655125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ARP protokol - útoky</a:t>
            </a:r>
            <a:endParaRPr lang="cs-CZ"/>
          </a:p>
        </p:txBody>
      </p:sp>
      <p:sp>
        <p:nvSpPr>
          <p:cNvPr id="3" name="Content Placeholder 2"/>
          <p:cNvSpPr>
            <a:spLocks noGrp="1"/>
          </p:cNvSpPr>
          <p:nvPr>
            <p:ph idx="1"/>
          </p:nvPr>
        </p:nvSpPr>
        <p:spPr/>
        <p:txBody>
          <a:bodyPr/>
          <a:lstStyle/>
          <a:p>
            <a:r>
              <a:rPr lang="cs-CZ"/>
              <a:t>Pokud jde o ochranu na úrovni počítačové sítě, lze pro detekci pokusů o ARP </a:t>
            </a:r>
            <a:r>
              <a:rPr lang="cs-CZ" err="1"/>
              <a:t>Cache</a:t>
            </a:r>
            <a:r>
              <a:rPr lang="cs-CZ"/>
              <a:t> </a:t>
            </a:r>
            <a:r>
              <a:rPr lang="cs-CZ" err="1"/>
              <a:t>poisoning</a:t>
            </a:r>
            <a:r>
              <a:rPr lang="cs-CZ"/>
              <a:t> využít program </a:t>
            </a:r>
            <a:r>
              <a:rPr lang="cs-CZ" b="1" i="1" err="1"/>
              <a:t>ARPWatch</a:t>
            </a:r>
            <a:r>
              <a:rPr lang="cs-CZ"/>
              <a:t>, či ochranu na úrovni síťových prvků. </a:t>
            </a:r>
            <a:r>
              <a:rPr lang="cs-CZ" i="1" err="1"/>
              <a:t>Dynamic</a:t>
            </a:r>
            <a:r>
              <a:rPr lang="cs-CZ" i="1"/>
              <a:t> ARP </a:t>
            </a:r>
            <a:r>
              <a:rPr lang="cs-CZ" i="1" err="1"/>
              <a:t>Inspection</a:t>
            </a:r>
            <a:r>
              <a:rPr lang="cs-CZ"/>
              <a:t> je bezpečnostní funkce síťových prvků, která využívá databázi DHCP </a:t>
            </a:r>
            <a:r>
              <a:rPr lang="cs-CZ" err="1"/>
              <a:t>Snooping</a:t>
            </a:r>
            <a:r>
              <a:rPr lang="cs-CZ"/>
              <a:t> </a:t>
            </a:r>
            <a:r>
              <a:rPr lang="cs-CZ" err="1"/>
              <a:t>Binding</a:t>
            </a:r>
            <a:r>
              <a:rPr lang="cs-CZ"/>
              <a:t> Database.</a:t>
            </a:r>
            <a:br>
              <a:rPr lang="cs-CZ" b="1"/>
            </a:br>
            <a:br>
              <a:rPr lang="cs-CZ" b="1"/>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157</a:t>
            </a:fld>
            <a:endParaRPr lang="cs-CZ"/>
          </a:p>
        </p:txBody>
      </p:sp>
    </p:spTree>
    <p:extLst>
      <p:ext uri="{BB962C8B-B14F-4D97-AF65-F5344CB8AC3E}">
        <p14:creationId xmlns:p14="http://schemas.microsoft.com/office/powerpoint/2010/main" val="1293136360"/>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err="1"/>
              <a:t>Dynamic</a:t>
            </a:r>
            <a:r>
              <a:rPr lang="cs-CZ" b="1"/>
              <a:t> ARP </a:t>
            </a:r>
            <a:r>
              <a:rPr lang="cs-CZ" b="1" err="1"/>
              <a:t>Inspection</a:t>
            </a:r>
            <a:endParaRPr lang="cs-CZ" b="1"/>
          </a:p>
        </p:txBody>
      </p:sp>
      <p:sp>
        <p:nvSpPr>
          <p:cNvPr id="3" name="Content Placeholder 2"/>
          <p:cNvSpPr>
            <a:spLocks noGrp="1"/>
          </p:cNvSpPr>
          <p:nvPr>
            <p:ph idx="1"/>
          </p:nvPr>
        </p:nvSpPr>
        <p:spPr/>
        <p:txBody>
          <a:bodyPr>
            <a:normAutofit fontScale="92500" lnSpcReduction="10000"/>
          </a:bodyPr>
          <a:lstStyle/>
          <a:p>
            <a:r>
              <a:rPr lang="cs-CZ" err="1"/>
              <a:t>Dynamic</a:t>
            </a:r>
            <a:r>
              <a:rPr lang="cs-CZ"/>
              <a:t> ARP </a:t>
            </a:r>
            <a:r>
              <a:rPr lang="cs-CZ" err="1"/>
              <a:t>Inspection</a:t>
            </a:r>
            <a:r>
              <a:rPr lang="cs-CZ"/>
              <a:t> porovnává informace z hlaviček rámců, které přicházejí na určitém portu vůči informacím z této databáze. Pokud se kombinace zdrojová IP adresa a zdrojová MAC adresa shodují, bude rámec propuštěn, v opačném případě bude zahozen.</a:t>
            </a:r>
          </a:p>
          <a:p>
            <a:r>
              <a:rPr lang="cs-CZ" err="1"/>
              <a:t>Switch</a:t>
            </a:r>
            <a:r>
              <a:rPr lang="cs-CZ"/>
              <a:t>, na kterém je spuštěno </a:t>
            </a:r>
            <a:r>
              <a:rPr lang="cs-CZ" err="1"/>
              <a:t>Dynamic</a:t>
            </a:r>
            <a:r>
              <a:rPr lang="cs-CZ"/>
              <a:t> ARP </a:t>
            </a:r>
            <a:r>
              <a:rPr lang="cs-CZ" err="1"/>
              <a:t>Inspection</a:t>
            </a:r>
            <a:r>
              <a:rPr lang="cs-CZ"/>
              <a:t>, provádí také zároveň </a:t>
            </a:r>
            <a:r>
              <a:rPr lang="cs-CZ" err="1"/>
              <a:t>rate</a:t>
            </a:r>
            <a:r>
              <a:rPr lang="cs-CZ"/>
              <a:t> </a:t>
            </a:r>
            <a:r>
              <a:rPr lang="cs-CZ" err="1"/>
              <a:t>limitingARP</a:t>
            </a:r>
            <a:r>
              <a:rPr lang="cs-CZ"/>
              <a:t> paketů kvůli ochraně před </a:t>
            </a:r>
            <a:r>
              <a:rPr lang="cs-CZ" err="1"/>
              <a:t>DoS</a:t>
            </a:r>
            <a:r>
              <a:rPr lang="cs-CZ"/>
              <a:t> útoky. V případě, že po zapnutí funkce </a:t>
            </a:r>
            <a:r>
              <a:rPr lang="cs-CZ" err="1"/>
              <a:t>Dynamic</a:t>
            </a:r>
            <a:r>
              <a:rPr lang="cs-CZ"/>
              <a:t> ARP </a:t>
            </a:r>
            <a:r>
              <a:rPr lang="cs-CZ" err="1"/>
              <a:t>Inspection</a:t>
            </a:r>
            <a:r>
              <a:rPr lang="cs-CZ"/>
              <a:t> dochází k zahazování ARP paketů, je potřeba změnit výchozí hodnotu tohoto limitu.</a:t>
            </a:r>
            <a:br>
              <a:rPr lang="cs-CZ"/>
            </a:br>
            <a:br>
              <a:rPr lang="cs-CZ"/>
            </a:b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158</a:t>
            </a:fld>
            <a:endParaRPr lang="cs-CZ"/>
          </a:p>
        </p:txBody>
      </p:sp>
    </p:spTree>
    <p:extLst>
      <p:ext uri="{BB962C8B-B14F-4D97-AF65-F5344CB8AC3E}">
        <p14:creationId xmlns:p14="http://schemas.microsoft.com/office/powerpoint/2010/main" val="81141362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ARP protokol - útoky</a:t>
            </a:r>
            <a:endParaRPr lang="cs-CZ"/>
          </a:p>
        </p:txBody>
      </p:sp>
      <p:sp>
        <p:nvSpPr>
          <p:cNvPr id="3" name="Content Placeholder 2"/>
          <p:cNvSpPr>
            <a:spLocks noGrp="1"/>
          </p:cNvSpPr>
          <p:nvPr>
            <p:ph idx="1"/>
          </p:nvPr>
        </p:nvSpPr>
        <p:spPr/>
        <p:txBody>
          <a:bodyPr>
            <a:normAutofit/>
          </a:bodyPr>
          <a:lstStyle/>
          <a:p>
            <a:r>
              <a:rPr lang="cs-CZ"/>
              <a:t>Vedle ARP </a:t>
            </a:r>
            <a:r>
              <a:rPr lang="cs-CZ" err="1"/>
              <a:t>Chache</a:t>
            </a:r>
            <a:r>
              <a:rPr lang="cs-CZ"/>
              <a:t> </a:t>
            </a:r>
            <a:r>
              <a:rPr lang="cs-CZ" err="1"/>
              <a:t>Poisoningu</a:t>
            </a:r>
            <a:r>
              <a:rPr lang="cs-CZ"/>
              <a:t> se lze setkat s dalším útokem, při kterém útočník získá přístup k datům počítačových systémů připojených do jiného portu switche. </a:t>
            </a:r>
          </a:p>
          <a:p>
            <a:r>
              <a:rPr lang="cs-CZ"/>
              <a:t>Vlastní útok spočívá v přepnutí switche do stavu, ve kterém se bude chovat jako hub. Po tomto přepnutí nebudou posílána data pouze na port, za kterým se nachází cílová MAC adresa, ale budou poslána na všechny porty, s výjimkou toho, ze kterého rámec přišel. </a:t>
            </a:r>
          </a:p>
          <a:p>
            <a:r>
              <a:rPr lang="cs-CZ"/>
              <a:t>Toho může útočník dosáhnout útokem známým jako </a:t>
            </a:r>
            <a:r>
              <a:rPr lang="cs-CZ" b="1"/>
              <a:t>MAC </a:t>
            </a:r>
            <a:r>
              <a:rPr lang="cs-CZ" b="1" err="1"/>
              <a:t>flooding</a:t>
            </a:r>
            <a:r>
              <a:rPr lang="cs-CZ"/>
              <a:t>.</a:t>
            </a: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159</a:t>
            </a:fld>
            <a:endParaRPr lang="cs-CZ"/>
          </a:p>
        </p:txBody>
      </p:sp>
    </p:spTree>
    <p:extLst>
      <p:ext uri="{BB962C8B-B14F-4D97-AF65-F5344CB8AC3E}">
        <p14:creationId xmlns:p14="http://schemas.microsoft.com/office/powerpoint/2010/main" val="294612405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ARP protokol – útoky (</a:t>
            </a:r>
            <a:r>
              <a:rPr lang="cs-CZ" b="1" err="1"/>
              <a:t>flooding</a:t>
            </a:r>
            <a:r>
              <a:rPr lang="cs-CZ" b="1"/>
              <a:t>)</a:t>
            </a:r>
            <a:endParaRPr lang="cs-CZ"/>
          </a:p>
        </p:txBody>
      </p:sp>
      <p:sp>
        <p:nvSpPr>
          <p:cNvPr id="3" name="Content Placeholder 2"/>
          <p:cNvSpPr>
            <a:spLocks noGrp="1"/>
          </p:cNvSpPr>
          <p:nvPr>
            <p:ph idx="1"/>
          </p:nvPr>
        </p:nvSpPr>
        <p:spPr/>
        <p:txBody>
          <a:bodyPr>
            <a:normAutofit/>
          </a:bodyPr>
          <a:lstStyle/>
          <a:p>
            <a:r>
              <a:rPr lang="cs-CZ"/>
              <a:t>Cílem tohoto útoku je zaplnit vnitřní tabulku switche, do které si switch ukládá právě informaci o tom, za kterým portem switche se nachází konkrétní MAC adresy. </a:t>
            </a:r>
          </a:p>
          <a:p>
            <a:r>
              <a:rPr lang="cs-CZ"/>
              <a:t>Cílem útočníka je dosáhnout, aby switch začal pro MAC adresy, které se již nevejdou do jeho paměti, fungovat jako HUB, tedy aby příchozí rámce přeposílal na všechny porty.</a:t>
            </a:r>
          </a:p>
          <a:p>
            <a:r>
              <a:rPr lang="cs-CZ"/>
              <a:t>Existuje více způsobů, jak se s tímto rizikem vypořádat, z těch již dříve zmiňovaných připomeňme funkci port </a:t>
            </a:r>
            <a:r>
              <a:rPr lang="cs-CZ" err="1"/>
              <a:t>security</a:t>
            </a:r>
            <a:r>
              <a:rPr lang="cs-CZ"/>
              <a:t>, </a:t>
            </a:r>
            <a:r>
              <a:rPr lang="cs-CZ" err="1"/>
              <a:t>kteráomezí</a:t>
            </a:r>
            <a:r>
              <a:rPr lang="cs-CZ"/>
              <a:t> množství MAC adres, které mohou být za jedním portem. Útočník tak nemůže zaplnit paměť </a:t>
            </a:r>
            <a:r>
              <a:rPr lang="cs-CZ" err="1"/>
              <a:t>switche</a:t>
            </a:r>
            <a:r>
              <a:rPr lang="cs-CZ"/>
              <a:t> záplavou nesmyslných záznamů.</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160</a:t>
            </a:fld>
            <a:endParaRPr lang="cs-CZ"/>
          </a:p>
        </p:txBody>
      </p:sp>
    </p:spTree>
    <p:extLst>
      <p:ext uri="{BB962C8B-B14F-4D97-AF65-F5344CB8AC3E}">
        <p14:creationId xmlns:p14="http://schemas.microsoft.com/office/powerpoint/2010/main" val="3314207457"/>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DNS protokol</a:t>
            </a:r>
            <a:endParaRPr lang="cs-CZ"/>
          </a:p>
        </p:txBody>
      </p:sp>
      <p:sp>
        <p:nvSpPr>
          <p:cNvPr id="3" name="Content Placeholder 2"/>
          <p:cNvSpPr>
            <a:spLocks noGrp="1"/>
          </p:cNvSpPr>
          <p:nvPr>
            <p:ph idx="1"/>
          </p:nvPr>
        </p:nvSpPr>
        <p:spPr/>
        <p:txBody>
          <a:bodyPr>
            <a:normAutofit/>
          </a:bodyPr>
          <a:lstStyle/>
          <a:p>
            <a:r>
              <a:rPr lang="cs-CZ"/>
              <a:t>Při napadení DNS je obvykle cílem útočníka přesměrovat oběti na jeho vlastní verzi webových stránek. Pro tyto útoky se používá souhrnné označení </a:t>
            </a:r>
            <a:r>
              <a:rPr lang="cs-CZ" err="1"/>
              <a:t>pharming</a:t>
            </a:r>
            <a:r>
              <a:rPr lang="cs-CZ"/>
              <a:t>.</a:t>
            </a:r>
          </a:p>
          <a:p>
            <a:r>
              <a:rPr lang="cs-CZ"/>
              <a:t>V případě útoků na systém DNS se lze typicky setkat s:</a:t>
            </a:r>
          </a:p>
          <a:p>
            <a:pPr marL="914400" lvl="1" indent="-457200">
              <a:buFont typeface="+mj-lt"/>
              <a:buAutoNum type="arabicPeriod"/>
            </a:pPr>
            <a:r>
              <a:rPr lang="cs-CZ" b="1"/>
              <a:t>DNS </a:t>
            </a:r>
            <a:r>
              <a:rPr lang="cs-CZ" b="1" err="1"/>
              <a:t>Cache</a:t>
            </a:r>
            <a:r>
              <a:rPr lang="cs-CZ" b="1"/>
              <a:t> </a:t>
            </a:r>
            <a:r>
              <a:rPr lang="cs-CZ" b="1" err="1"/>
              <a:t>Poisoning</a:t>
            </a:r>
            <a:endParaRPr lang="cs-CZ"/>
          </a:p>
          <a:p>
            <a:pPr marL="914400" lvl="1" indent="-457200">
              <a:buFont typeface="+mj-lt"/>
              <a:buAutoNum type="arabicPeriod"/>
            </a:pPr>
            <a:r>
              <a:rPr lang="cs-CZ" b="1"/>
              <a:t>Útoky </a:t>
            </a:r>
            <a:r>
              <a:rPr lang="cs-CZ" b="1" err="1"/>
              <a:t>malware</a:t>
            </a:r>
            <a:endParaRPr lang="cs-CZ"/>
          </a:p>
          <a:p>
            <a:pPr marL="914400" lvl="1" indent="-457200">
              <a:buFont typeface="+mj-lt"/>
              <a:buAutoNum type="arabicPeriod"/>
            </a:pPr>
            <a:r>
              <a:rPr lang="cs-CZ" b="1"/>
              <a:t>Útoky na SOHO </a:t>
            </a:r>
            <a:r>
              <a:rPr lang="cs-CZ" b="1" err="1"/>
              <a:t>routery</a:t>
            </a:r>
            <a:br>
              <a:rPr lang="cs-CZ"/>
            </a:br>
            <a:br>
              <a:rPr lang="cs-CZ"/>
            </a:b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161</a:t>
            </a:fld>
            <a:endParaRPr lang="cs-CZ"/>
          </a:p>
        </p:txBody>
      </p:sp>
    </p:spTree>
    <p:extLst>
      <p:ext uri="{BB962C8B-B14F-4D97-AF65-F5344CB8AC3E}">
        <p14:creationId xmlns:p14="http://schemas.microsoft.com/office/powerpoint/2010/main" val="255548791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s-CZ" b="1"/>
              <a:t>DNS protokol - </a:t>
            </a:r>
            <a:r>
              <a:rPr lang="cs-CZ" b="1" err="1"/>
              <a:t>Cache</a:t>
            </a:r>
            <a:r>
              <a:rPr lang="cs-CZ" b="1"/>
              <a:t> </a:t>
            </a:r>
            <a:r>
              <a:rPr lang="cs-CZ" b="1" err="1"/>
              <a:t>Poisoning</a:t>
            </a:r>
            <a:endParaRPr lang="cs-CZ"/>
          </a:p>
        </p:txBody>
      </p:sp>
      <p:sp>
        <p:nvSpPr>
          <p:cNvPr id="3" name="Content Placeholder 2"/>
          <p:cNvSpPr>
            <a:spLocks noGrp="1"/>
          </p:cNvSpPr>
          <p:nvPr>
            <p:ph idx="1"/>
          </p:nvPr>
        </p:nvSpPr>
        <p:spPr/>
        <p:txBody>
          <a:bodyPr>
            <a:normAutofit/>
          </a:bodyPr>
          <a:lstStyle/>
          <a:p>
            <a:r>
              <a:rPr lang="cs-CZ"/>
              <a:t>V podstatě se jedná o útok, při kterém útočník do dočasné paměti DNS serveru umístí falešnou informaci o doméně. Může tak například pozměnit IP adresu, kterou server vrací pro stránku internetového bankovnictví, a přesměrovat tak všechny uživatele, kteří DNS server používají, na svou vlastní webovou stránku. Díky zlepšení bezpečnosti v implementaci DNS serverů a zavedení technologie DNSSEC se dnes už s tímto útokem na systém DNS nepotkáváme.</a:t>
            </a:r>
            <a:br>
              <a:rPr lang="cs-CZ"/>
            </a:br>
            <a:br>
              <a:rPr lang="cs-CZ"/>
            </a:br>
            <a:br>
              <a:rPr lang="cs-CZ"/>
            </a:br>
            <a:br>
              <a:rPr lang="cs-CZ"/>
            </a:b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162</a:t>
            </a:fld>
            <a:endParaRPr lang="cs-CZ"/>
          </a:p>
        </p:txBody>
      </p:sp>
    </p:spTree>
    <p:extLst>
      <p:ext uri="{BB962C8B-B14F-4D97-AF65-F5344CB8AC3E}">
        <p14:creationId xmlns:p14="http://schemas.microsoft.com/office/powerpoint/2010/main" val="25851820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DNS protokol - </a:t>
            </a:r>
            <a:r>
              <a:rPr lang="cs-CZ" b="1" err="1"/>
              <a:t>Malware</a:t>
            </a:r>
            <a:endParaRPr lang="cs-CZ"/>
          </a:p>
        </p:txBody>
      </p:sp>
      <p:sp>
        <p:nvSpPr>
          <p:cNvPr id="3" name="Content Placeholder 2"/>
          <p:cNvSpPr>
            <a:spLocks noGrp="1"/>
          </p:cNvSpPr>
          <p:nvPr>
            <p:ph idx="1"/>
          </p:nvPr>
        </p:nvSpPr>
        <p:spPr/>
        <p:txBody>
          <a:bodyPr>
            <a:normAutofit lnSpcReduction="10000"/>
          </a:bodyPr>
          <a:lstStyle/>
          <a:p>
            <a:r>
              <a:rPr lang="en-US" b="0" i="0">
                <a:solidFill>
                  <a:srgbClr val="000000"/>
                </a:solidFill>
                <a:effectLst/>
              </a:rPr>
              <a:t>Na </a:t>
            </a:r>
            <a:r>
              <a:rPr lang="en-US" b="0" i="0" err="1">
                <a:solidFill>
                  <a:srgbClr val="000000"/>
                </a:solidFill>
                <a:effectLst/>
              </a:rPr>
              <a:t>úrovni</a:t>
            </a:r>
            <a:r>
              <a:rPr lang="en-US" b="0" i="0">
                <a:solidFill>
                  <a:srgbClr val="000000"/>
                </a:solidFill>
                <a:effectLst/>
              </a:rPr>
              <a:t> </a:t>
            </a:r>
            <a:r>
              <a:rPr lang="en-US" b="0" i="0" err="1">
                <a:solidFill>
                  <a:srgbClr val="000000"/>
                </a:solidFill>
                <a:effectLst/>
              </a:rPr>
              <a:t>lokálního</a:t>
            </a:r>
            <a:r>
              <a:rPr lang="en-US" b="0" i="0">
                <a:solidFill>
                  <a:srgbClr val="000000"/>
                </a:solidFill>
                <a:effectLst/>
              </a:rPr>
              <a:t> </a:t>
            </a:r>
            <a:r>
              <a:rPr lang="en-US" b="0" i="0" err="1">
                <a:solidFill>
                  <a:srgbClr val="000000"/>
                </a:solidFill>
                <a:effectLst/>
              </a:rPr>
              <a:t>počítačového</a:t>
            </a:r>
            <a:r>
              <a:rPr lang="en-US" b="0" i="0">
                <a:solidFill>
                  <a:srgbClr val="000000"/>
                </a:solidFill>
                <a:effectLst/>
              </a:rPr>
              <a:t> </a:t>
            </a:r>
            <a:r>
              <a:rPr lang="en-US" b="0" i="0" err="1">
                <a:solidFill>
                  <a:srgbClr val="000000"/>
                </a:solidFill>
                <a:effectLst/>
              </a:rPr>
              <a:t>systému</a:t>
            </a:r>
            <a:r>
              <a:rPr lang="en-US" b="0" i="0">
                <a:solidFill>
                  <a:srgbClr val="000000"/>
                </a:solidFill>
                <a:effectLst/>
              </a:rPr>
              <a:t> </a:t>
            </a:r>
            <a:r>
              <a:rPr lang="en-US" b="0" i="0" err="1">
                <a:solidFill>
                  <a:srgbClr val="000000"/>
                </a:solidFill>
                <a:effectLst/>
              </a:rPr>
              <a:t>stanice</a:t>
            </a:r>
            <a:r>
              <a:rPr lang="en-US" b="0" i="0">
                <a:solidFill>
                  <a:srgbClr val="000000"/>
                </a:solidFill>
                <a:effectLst/>
              </a:rPr>
              <a:t> je </a:t>
            </a:r>
            <a:r>
              <a:rPr lang="en-US" b="0" i="0" err="1">
                <a:solidFill>
                  <a:srgbClr val="000000"/>
                </a:solidFill>
                <a:effectLst/>
              </a:rPr>
              <a:t>příčinou</a:t>
            </a:r>
            <a:r>
              <a:rPr lang="en-US" b="0" i="0">
                <a:solidFill>
                  <a:srgbClr val="000000"/>
                </a:solidFill>
                <a:effectLst/>
              </a:rPr>
              <a:t> </a:t>
            </a:r>
            <a:r>
              <a:rPr lang="en-US" b="0" i="0" err="1">
                <a:solidFill>
                  <a:srgbClr val="000000"/>
                </a:solidFill>
                <a:effectLst/>
              </a:rPr>
              <a:t>napadení</a:t>
            </a:r>
            <a:r>
              <a:rPr lang="en-US" b="0" i="0">
                <a:solidFill>
                  <a:srgbClr val="000000"/>
                </a:solidFill>
                <a:effectLst/>
              </a:rPr>
              <a:t> DNS </a:t>
            </a:r>
            <a:r>
              <a:rPr lang="en-US" b="0" i="0" err="1">
                <a:solidFill>
                  <a:srgbClr val="000000"/>
                </a:solidFill>
                <a:effectLst/>
              </a:rPr>
              <a:t>zpravidla</a:t>
            </a:r>
            <a:r>
              <a:rPr lang="cs-CZ">
                <a:solidFill>
                  <a:srgbClr val="000000"/>
                </a:solidFill>
              </a:rPr>
              <a:t> </a:t>
            </a:r>
            <a:r>
              <a:rPr lang="en-US" b="0" i="0" err="1">
                <a:solidFill>
                  <a:srgbClr val="000000"/>
                </a:solidFill>
                <a:effectLst/>
              </a:rPr>
              <a:t>škodlivý</a:t>
            </a:r>
            <a:r>
              <a:rPr lang="en-US" b="0" i="0">
                <a:solidFill>
                  <a:srgbClr val="000000"/>
                </a:solidFill>
                <a:effectLst/>
              </a:rPr>
              <a:t> </a:t>
            </a:r>
            <a:r>
              <a:rPr lang="en-US" b="0" i="0" err="1">
                <a:solidFill>
                  <a:srgbClr val="000000"/>
                </a:solidFill>
                <a:effectLst/>
              </a:rPr>
              <a:t>kód</a:t>
            </a:r>
            <a:r>
              <a:rPr lang="en-US" b="0" i="0">
                <a:solidFill>
                  <a:srgbClr val="000000"/>
                </a:solidFill>
                <a:effectLst/>
              </a:rPr>
              <a:t> (malware). </a:t>
            </a:r>
            <a:endParaRPr lang="cs-CZ" b="0" i="0">
              <a:solidFill>
                <a:srgbClr val="000000"/>
              </a:solidFill>
              <a:effectLst/>
            </a:endParaRPr>
          </a:p>
          <a:p>
            <a:r>
              <a:rPr lang="en-US" b="0" i="0">
                <a:solidFill>
                  <a:srgbClr val="000000"/>
                </a:solidFill>
                <a:effectLst/>
              </a:rPr>
              <a:t>Malware </a:t>
            </a:r>
            <a:r>
              <a:rPr lang="en-US" b="0" i="0" err="1">
                <a:solidFill>
                  <a:srgbClr val="000000"/>
                </a:solidFill>
                <a:effectLst/>
              </a:rPr>
              <a:t>může</a:t>
            </a:r>
            <a:r>
              <a:rPr lang="en-US" b="0" i="0">
                <a:solidFill>
                  <a:srgbClr val="000000"/>
                </a:solidFill>
                <a:effectLst/>
              </a:rPr>
              <a:t> </a:t>
            </a:r>
            <a:r>
              <a:rPr lang="en-US" b="0" i="0" err="1">
                <a:solidFill>
                  <a:srgbClr val="000000"/>
                </a:solidFill>
                <a:effectLst/>
              </a:rPr>
              <a:t>buď</a:t>
            </a:r>
            <a:r>
              <a:rPr lang="en-US" b="0" i="0">
                <a:solidFill>
                  <a:srgbClr val="000000"/>
                </a:solidFill>
                <a:effectLst/>
              </a:rPr>
              <a:t> </a:t>
            </a:r>
            <a:r>
              <a:rPr lang="en-US" b="0" i="0" err="1">
                <a:solidFill>
                  <a:srgbClr val="000000"/>
                </a:solidFill>
                <a:effectLst/>
              </a:rPr>
              <a:t>pozměnit</a:t>
            </a:r>
            <a:r>
              <a:rPr lang="en-US" b="0" i="0">
                <a:solidFill>
                  <a:srgbClr val="000000"/>
                </a:solidFill>
                <a:effectLst/>
              </a:rPr>
              <a:t> </a:t>
            </a:r>
            <a:r>
              <a:rPr lang="en-US" b="0" i="0" err="1">
                <a:solidFill>
                  <a:srgbClr val="000000"/>
                </a:solidFill>
                <a:effectLst/>
              </a:rPr>
              <a:t>nastavení</a:t>
            </a:r>
            <a:r>
              <a:rPr lang="en-US" b="0" i="0">
                <a:solidFill>
                  <a:srgbClr val="000000"/>
                </a:solidFill>
                <a:effectLst/>
              </a:rPr>
              <a:t> DNS </a:t>
            </a:r>
            <a:r>
              <a:rPr lang="en-US" b="0" i="0" err="1">
                <a:solidFill>
                  <a:srgbClr val="000000"/>
                </a:solidFill>
                <a:effectLst/>
              </a:rPr>
              <a:t>serverů</a:t>
            </a:r>
            <a:r>
              <a:rPr lang="en-US" b="0" i="0">
                <a:solidFill>
                  <a:srgbClr val="000000"/>
                </a:solidFill>
                <a:effectLst/>
              </a:rPr>
              <a:t>, </a:t>
            </a:r>
            <a:r>
              <a:rPr lang="en-US" b="0" i="0" err="1">
                <a:solidFill>
                  <a:srgbClr val="000000"/>
                </a:solidFill>
                <a:effectLst/>
              </a:rPr>
              <a:t>kterých</a:t>
            </a:r>
            <a:r>
              <a:rPr lang="cs-CZ">
                <a:solidFill>
                  <a:srgbClr val="000000"/>
                </a:solidFill>
              </a:rPr>
              <a:t> </a:t>
            </a:r>
            <a:r>
              <a:rPr lang="en-US" b="0" i="0">
                <a:solidFill>
                  <a:srgbClr val="000000"/>
                </a:solidFill>
                <a:effectLst/>
              </a:rPr>
              <a:t>se </a:t>
            </a:r>
            <a:r>
              <a:rPr lang="en-US" b="0" i="0" err="1">
                <a:solidFill>
                  <a:srgbClr val="000000"/>
                </a:solidFill>
                <a:effectLst/>
              </a:rPr>
              <a:t>bude</a:t>
            </a:r>
            <a:r>
              <a:rPr lang="en-US" b="0" i="0">
                <a:solidFill>
                  <a:srgbClr val="000000"/>
                </a:solidFill>
                <a:effectLst/>
              </a:rPr>
              <a:t> </a:t>
            </a:r>
            <a:r>
              <a:rPr lang="en-US" b="0" i="0" err="1">
                <a:solidFill>
                  <a:srgbClr val="000000"/>
                </a:solidFill>
                <a:effectLst/>
              </a:rPr>
              <a:t>koncový</a:t>
            </a:r>
            <a:r>
              <a:rPr lang="en-US" b="0" i="0">
                <a:solidFill>
                  <a:srgbClr val="000000"/>
                </a:solidFill>
                <a:effectLst/>
              </a:rPr>
              <a:t> </a:t>
            </a:r>
            <a:r>
              <a:rPr lang="en-US" b="0" i="0" err="1">
                <a:solidFill>
                  <a:srgbClr val="000000"/>
                </a:solidFill>
                <a:effectLst/>
              </a:rPr>
              <a:t>počítačový</a:t>
            </a:r>
            <a:r>
              <a:rPr lang="en-US" b="0" i="0">
                <a:solidFill>
                  <a:srgbClr val="000000"/>
                </a:solidFill>
                <a:effectLst/>
              </a:rPr>
              <a:t> </a:t>
            </a:r>
            <a:r>
              <a:rPr lang="en-US" b="0" i="0" err="1">
                <a:solidFill>
                  <a:srgbClr val="000000"/>
                </a:solidFill>
                <a:effectLst/>
              </a:rPr>
              <a:t>systém</a:t>
            </a:r>
            <a:r>
              <a:rPr lang="en-US" b="0" i="0">
                <a:solidFill>
                  <a:srgbClr val="000000"/>
                </a:solidFill>
                <a:effectLst/>
              </a:rPr>
              <a:t> </a:t>
            </a:r>
            <a:r>
              <a:rPr lang="en-US" b="0" i="0" err="1">
                <a:solidFill>
                  <a:srgbClr val="000000"/>
                </a:solidFill>
                <a:effectLst/>
              </a:rPr>
              <a:t>dotazovat</a:t>
            </a:r>
            <a:r>
              <a:rPr lang="en-US" b="0" i="0">
                <a:solidFill>
                  <a:srgbClr val="000000"/>
                </a:solidFill>
                <a:effectLst/>
              </a:rPr>
              <a:t>, </a:t>
            </a:r>
            <a:r>
              <a:rPr lang="en-US" b="0" i="0" err="1">
                <a:solidFill>
                  <a:srgbClr val="000000"/>
                </a:solidFill>
                <a:effectLst/>
              </a:rPr>
              <a:t>nebo</a:t>
            </a:r>
            <a:r>
              <a:rPr lang="en-US" b="0" i="0">
                <a:solidFill>
                  <a:srgbClr val="000000"/>
                </a:solidFill>
                <a:effectLst/>
              </a:rPr>
              <a:t> </a:t>
            </a:r>
            <a:r>
              <a:rPr lang="en-US" b="0" i="0" err="1">
                <a:solidFill>
                  <a:srgbClr val="000000"/>
                </a:solidFill>
                <a:effectLst/>
              </a:rPr>
              <a:t>zasáhnout</a:t>
            </a:r>
            <a:r>
              <a:rPr lang="en-US" b="0" i="0">
                <a:solidFill>
                  <a:srgbClr val="000000"/>
                </a:solidFill>
                <a:effectLst/>
              </a:rPr>
              <a:t> do </a:t>
            </a:r>
            <a:r>
              <a:rPr lang="en-US" b="0" i="0" err="1">
                <a:solidFill>
                  <a:srgbClr val="000000"/>
                </a:solidFill>
                <a:effectLst/>
              </a:rPr>
              <a:t>souboru</a:t>
            </a:r>
            <a:r>
              <a:rPr lang="en-US" b="0" i="0">
                <a:solidFill>
                  <a:srgbClr val="000000"/>
                </a:solidFill>
                <a:effectLst/>
              </a:rPr>
              <a:t> hosts. </a:t>
            </a:r>
            <a:endParaRPr lang="cs-CZ" b="0" i="0">
              <a:solidFill>
                <a:srgbClr val="000000"/>
              </a:solidFill>
              <a:effectLst/>
            </a:endParaRPr>
          </a:p>
          <a:p>
            <a:r>
              <a:rPr lang="en-US" b="0" i="0" err="1">
                <a:solidFill>
                  <a:srgbClr val="000000"/>
                </a:solidFill>
                <a:effectLst/>
              </a:rPr>
              <a:t>Změnou</a:t>
            </a:r>
            <a:r>
              <a:rPr lang="cs-CZ">
                <a:solidFill>
                  <a:srgbClr val="000000"/>
                </a:solidFill>
              </a:rPr>
              <a:t> </a:t>
            </a:r>
            <a:r>
              <a:rPr lang="en-US" b="0" i="0" err="1">
                <a:solidFill>
                  <a:srgbClr val="000000"/>
                </a:solidFill>
                <a:effectLst/>
              </a:rPr>
              <a:t>nastavení</a:t>
            </a:r>
            <a:r>
              <a:rPr lang="en-US" b="0" i="0">
                <a:solidFill>
                  <a:srgbClr val="000000"/>
                </a:solidFill>
                <a:effectLst/>
              </a:rPr>
              <a:t> DNS </a:t>
            </a:r>
            <a:r>
              <a:rPr lang="en-US" b="0" i="0" err="1">
                <a:solidFill>
                  <a:srgbClr val="000000"/>
                </a:solidFill>
                <a:effectLst/>
              </a:rPr>
              <a:t>serverů</a:t>
            </a:r>
            <a:r>
              <a:rPr lang="en-US" b="0" i="0">
                <a:solidFill>
                  <a:srgbClr val="000000"/>
                </a:solidFill>
                <a:effectLst/>
              </a:rPr>
              <a:t> </a:t>
            </a:r>
            <a:r>
              <a:rPr lang="en-US" b="0" i="0" err="1">
                <a:solidFill>
                  <a:srgbClr val="000000"/>
                </a:solidFill>
                <a:effectLst/>
              </a:rPr>
              <a:t>proslul</a:t>
            </a:r>
            <a:r>
              <a:rPr lang="en-US" b="0" i="0">
                <a:solidFill>
                  <a:srgbClr val="000000"/>
                </a:solidFill>
                <a:effectLst/>
              </a:rPr>
              <a:t> malware </a:t>
            </a:r>
            <a:r>
              <a:rPr lang="en-US" b="1" i="0" err="1">
                <a:solidFill>
                  <a:srgbClr val="000000"/>
                </a:solidFill>
                <a:effectLst/>
              </a:rPr>
              <a:t>DNSChanger</a:t>
            </a:r>
            <a:r>
              <a:rPr lang="en-US" b="0" i="0">
                <a:solidFill>
                  <a:srgbClr val="000000"/>
                </a:solidFill>
                <a:effectLst/>
              </a:rPr>
              <a:t>. </a:t>
            </a:r>
            <a:endParaRPr lang="cs-CZ" b="0" i="0">
              <a:solidFill>
                <a:srgbClr val="000000"/>
              </a:solidFill>
              <a:effectLst/>
            </a:endParaRPr>
          </a:p>
          <a:p>
            <a:r>
              <a:rPr lang="en-US" sz="2600" b="0" i="0" err="1">
                <a:solidFill>
                  <a:srgbClr val="000000"/>
                </a:solidFill>
                <a:effectLst/>
                <a:latin typeface="ACaslonPro-Regular"/>
              </a:rPr>
              <a:t>Příkladem</a:t>
            </a:r>
            <a:r>
              <a:rPr lang="en-US" sz="2600" b="0" i="0">
                <a:solidFill>
                  <a:srgbClr val="000000"/>
                </a:solidFill>
                <a:effectLst/>
                <a:latin typeface="ACaslonPro-Regular"/>
              </a:rPr>
              <a:t> malware, </a:t>
            </a:r>
            <a:r>
              <a:rPr lang="en-US" sz="2600" b="0" i="0" err="1">
                <a:solidFill>
                  <a:srgbClr val="000000"/>
                </a:solidFill>
                <a:effectLst/>
                <a:latin typeface="ACaslonPro-Regular"/>
              </a:rPr>
              <a:t>který</a:t>
            </a:r>
            <a:r>
              <a:rPr lang="en-US" sz="2600" b="0" i="0">
                <a:solidFill>
                  <a:srgbClr val="000000"/>
                </a:solidFill>
                <a:effectLst/>
                <a:latin typeface="ACaslonPro-Regular"/>
              </a:rPr>
              <a:t> </a:t>
            </a:r>
            <a:r>
              <a:rPr lang="en-US" sz="2600" b="0" i="0" err="1">
                <a:solidFill>
                  <a:srgbClr val="000000"/>
                </a:solidFill>
                <a:effectLst/>
                <a:latin typeface="ACaslonPro-Regular"/>
              </a:rPr>
              <a:t>mění</a:t>
            </a:r>
            <a:r>
              <a:rPr lang="en-US" sz="2600" b="0" i="0">
                <a:solidFill>
                  <a:srgbClr val="000000"/>
                </a:solidFill>
                <a:effectLst/>
                <a:latin typeface="ACaslonPro-Regular"/>
              </a:rPr>
              <a:t> </a:t>
            </a:r>
            <a:r>
              <a:rPr lang="en-US" sz="2600" b="0" i="0" err="1">
                <a:solidFill>
                  <a:srgbClr val="000000"/>
                </a:solidFill>
                <a:effectLst/>
                <a:latin typeface="ACaslonPro-Regular"/>
              </a:rPr>
              <a:t>obsah</a:t>
            </a:r>
            <a:r>
              <a:rPr lang="en-US" sz="2600" b="0" i="0">
                <a:solidFill>
                  <a:srgbClr val="000000"/>
                </a:solidFill>
                <a:effectLst/>
                <a:latin typeface="ACaslonPro-Regular"/>
              </a:rPr>
              <a:t> </a:t>
            </a:r>
            <a:r>
              <a:rPr lang="en-US" sz="2600" b="0" i="0" err="1">
                <a:solidFill>
                  <a:srgbClr val="000000"/>
                </a:solidFill>
                <a:effectLst/>
                <a:latin typeface="ACaslonPro-Regular"/>
              </a:rPr>
              <a:t>souboru</a:t>
            </a:r>
            <a:r>
              <a:rPr lang="en-US" sz="2600" b="0" i="0">
                <a:solidFill>
                  <a:srgbClr val="000000"/>
                </a:solidFill>
                <a:effectLst/>
                <a:latin typeface="ACaslonPro-Regular"/>
              </a:rPr>
              <a:t> hosts, </a:t>
            </a:r>
            <a:r>
              <a:rPr lang="en-US" sz="2600" b="0" i="0" err="1">
                <a:solidFill>
                  <a:srgbClr val="000000"/>
                </a:solidFill>
                <a:effectLst/>
                <a:latin typeface="ACaslonPro-Regular"/>
              </a:rPr>
              <a:t>byl</a:t>
            </a:r>
            <a:r>
              <a:rPr lang="en-US" sz="2600" b="0" i="0">
                <a:solidFill>
                  <a:srgbClr val="000000"/>
                </a:solidFill>
                <a:effectLst/>
                <a:latin typeface="ACaslonPro-Regular"/>
              </a:rPr>
              <a:t> </a:t>
            </a:r>
            <a:r>
              <a:rPr lang="en-US" sz="2600" b="1" i="0" err="1">
                <a:solidFill>
                  <a:srgbClr val="000000"/>
                </a:solidFill>
                <a:effectLst/>
                <a:latin typeface="ACaslonPro-Bold"/>
              </a:rPr>
              <a:t>Trojan.Qhost</a:t>
            </a:r>
            <a:r>
              <a:rPr lang="en-US" sz="2600" b="0" i="0">
                <a:solidFill>
                  <a:srgbClr val="000000"/>
                </a:solidFill>
                <a:effectLst/>
                <a:latin typeface="ACaslonPro-Regular"/>
              </a:rPr>
              <a:t>, </a:t>
            </a:r>
            <a:r>
              <a:rPr lang="en-US" sz="2600" b="0" i="0" err="1">
                <a:solidFill>
                  <a:srgbClr val="000000"/>
                </a:solidFill>
                <a:effectLst/>
                <a:latin typeface="ACaslonPro-Regular"/>
              </a:rPr>
              <a:t>který</a:t>
            </a:r>
            <a:r>
              <a:rPr lang="en-US" sz="2600" b="0" i="0">
                <a:solidFill>
                  <a:srgbClr val="000000"/>
                </a:solidFill>
                <a:effectLst/>
                <a:latin typeface="ACaslonPro-Regular"/>
              </a:rPr>
              <a:t> do </a:t>
            </a:r>
            <a:r>
              <a:rPr lang="en-US" sz="2600" b="0" i="0" err="1">
                <a:solidFill>
                  <a:srgbClr val="000000"/>
                </a:solidFill>
                <a:effectLst/>
                <a:latin typeface="ACaslonPro-Regular"/>
              </a:rPr>
              <a:t>uvedeného</a:t>
            </a:r>
            <a:r>
              <a:rPr lang="cs-CZ" sz="2600" b="0" i="0">
                <a:solidFill>
                  <a:srgbClr val="000000"/>
                </a:solidFill>
                <a:effectLst/>
                <a:latin typeface="ACaslonPro-Regular"/>
              </a:rPr>
              <a:t> </a:t>
            </a:r>
            <a:r>
              <a:rPr lang="en-US" sz="2600" b="0" i="0" err="1">
                <a:solidFill>
                  <a:srgbClr val="000000"/>
                </a:solidFill>
                <a:effectLst/>
                <a:latin typeface="ACaslonPro-Regular"/>
              </a:rPr>
              <a:t>souboru</a:t>
            </a:r>
            <a:r>
              <a:rPr lang="en-US" sz="2600" b="0" i="0">
                <a:solidFill>
                  <a:srgbClr val="000000"/>
                </a:solidFill>
                <a:effectLst/>
                <a:latin typeface="ACaslonPro-Regular"/>
              </a:rPr>
              <a:t> </a:t>
            </a:r>
            <a:r>
              <a:rPr lang="en-US" sz="2600" b="0" i="0" err="1">
                <a:solidFill>
                  <a:srgbClr val="000000"/>
                </a:solidFill>
                <a:effectLst/>
                <a:latin typeface="ACaslonPro-Regular"/>
              </a:rPr>
              <a:t>vkládal</a:t>
            </a:r>
            <a:r>
              <a:rPr lang="en-US" sz="2600" b="0" i="0">
                <a:solidFill>
                  <a:srgbClr val="000000"/>
                </a:solidFill>
                <a:effectLst/>
                <a:latin typeface="ACaslonPro-Regular"/>
              </a:rPr>
              <a:t> </a:t>
            </a:r>
            <a:r>
              <a:rPr lang="en-US" sz="2600" b="0" i="0" err="1">
                <a:solidFill>
                  <a:srgbClr val="000000"/>
                </a:solidFill>
                <a:effectLst/>
                <a:latin typeface="ACaslonPro-Regular"/>
              </a:rPr>
              <a:t>falešné</a:t>
            </a:r>
            <a:r>
              <a:rPr lang="en-US" sz="2600" b="0" i="0">
                <a:solidFill>
                  <a:srgbClr val="000000"/>
                </a:solidFill>
                <a:effectLst/>
                <a:latin typeface="ACaslonPro-Regular"/>
              </a:rPr>
              <a:t> </a:t>
            </a:r>
            <a:r>
              <a:rPr lang="en-US" sz="2600" b="0" i="0" err="1">
                <a:solidFill>
                  <a:srgbClr val="000000"/>
                </a:solidFill>
                <a:effectLst/>
                <a:latin typeface="ACaslonPro-Regular"/>
              </a:rPr>
              <a:t>informace</a:t>
            </a:r>
            <a:r>
              <a:rPr lang="en-US" sz="2600" b="0" i="0">
                <a:solidFill>
                  <a:srgbClr val="000000"/>
                </a:solidFill>
                <a:effectLst/>
                <a:latin typeface="ACaslonPro-Regular"/>
              </a:rPr>
              <a:t> pro </a:t>
            </a:r>
            <a:r>
              <a:rPr lang="en-US" sz="2600" b="0" i="0" err="1">
                <a:solidFill>
                  <a:srgbClr val="000000"/>
                </a:solidFill>
                <a:effectLst/>
                <a:latin typeface="ACaslonPro-Regular"/>
              </a:rPr>
              <a:t>domény</a:t>
            </a:r>
            <a:r>
              <a:rPr lang="en-US" sz="2600" b="0" i="0">
                <a:solidFill>
                  <a:srgbClr val="000000"/>
                </a:solidFill>
                <a:effectLst/>
                <a:latin typeface="ACaslonPro-Regular"/>
              </a:rPr>
              <a:t> </a:t>
            </a:r>
            <a:r>
              <a:rPr lang="en-US" sz="2600" b="0" i="0" err="1">
                <a:solidFill>
                  <a:srgbClr val="000000"/>
                </a:solidFill>
                <a:effectLst/>
                <a:latin typeface="ACaslonPro-Regular"/>
              </a:rPr>
              <a:t>patřící</a:t>
            </a:r>
            <a:r>
              <a:rPr lang="cs-CZ" sz="2600">
                <a:solidFill>
                  <a:srgbClr val="000000"/>
                </a:solidFill>
                <a:latin typeface="ACaslonPro-Regular"/>
              </a:rPr>
              <a:t> </a:t>
            </a:r>
            <a:r>
              <a:rPr lang="en-US" sz="2600" b="0" i="0" err="1">
                <a:solidFill>
                  <a:srgbClr val="000000"/>
                </a:solidFill>
                <a:effectLst/>
                <a:latin typeface="ACaslonPro-Regular"/>
              </a:rPr>
              <a:t>antivirovým</a:t>
            </a:r>
            <a:r>
              <a:rPr lang="en-US" sz="2600" b="0" i="0">
                <a:solidFill>
                  <a:srgbClr val="000000"/>
                </a:solidFill>
                <a:effectLst/>
                <a:latin typeface="ACaslonPro-Regular"/>
              </a:rPr>
              <a:t> </a:t>
            </a:r>
            <a:r>
              <a:rPr lang="en-US" sz="2600" b="0" i="0" err="1">
                <a:solidFill>
                  <a:srgbClr val="000000"/>
                </a:solidFill>
                <a:effectLst/>
                <a:latin typeface="ACaslonPro-Regular"/>
              </a:rPr>
              <a:t>společnostem</a:t>
            </a:r>
            <a:r>
              <a:rPr lang="en-US" sz="2600" b="0" i="0">
                <a:solidFill>
                  <a:srgbClr val="000000"/>
                </a:solidFill>
                <a:effectLst/>
                <a:latin typeface="ACaslonPro-Regular"/>
              </a:rPr>
              <a:t>. </a:t>
            </a:r>
            <a:endParaRPr lang="cs-CZ" sz="2600" b="0" i="0">
              <a:solidFill>
                <a:srgbClr val="000000"/>
              </a:solidFill>
              <a:effectLst/>
              <a:latin typeface="ACaslonPro-Regular"/>
            </a:endParaRPr>
          </a:p>
          <a:p>
            <a:r>
              <a:rPr lang="en-US" sz="2600" b="0" i="0" err="1">
                <a:solidFill>
                  <a:srgbClr val="000000"/>
                </a:solidFill>
                <a:effectLst/>
                <a:latin typeface="ACaslonPro-Regular"/>
              </a:rPr>
              <a:t>Cílem</a:t>
            </a:r>
            <a:r>
              <a:rPr lang="cs-CZ" sz="2600">
                <a:solidFill>
                  <a:srgbClr val="000000"/>
                </a:solidFill>
                <a:latin typeface="ACaslonPro-Regular"/>
              </a:rPr>
              <a:t> </a:t>
            </a:r>
            <a:r>
              <a:rPr lang="en-US" sz="2600" b="0" i="0" err="1">
                <a:solidFill>
                  <a:srgbClr val="000000"/>
                </a:solidFill>
                <a:effectLst/>
                <a:latin typeface="ACaslonPro-Regular"/>
              </a:rPr>
              <a:t>útoku</a:t>
            </a:r>
            <a:r>
              <a:rPr lang="en-US" sz="2600" b="0" i="0">
                <a:solidFill>
                  <a:srgbClr val="000000"/>
                </a:solidFill>
                <a:effectLst/>
                <a:latin typeface="ACaslonPro-Regular"/>
              </a:rPr>
              <a:t> </a:t>
            </a:r>
            <a:r>
              <a:rPr lang="en-US" sz="2600" b="0" i="0" err="1">
                <a:solidFill>
                  <a:srgbClr val="000000"/>
                </a:solidFill>
                <a:effectLst/>
                <a:latin typeface="ACaslonPro-Regular"/>
              </a:rPr>
              <a:t>bylo</a:t>
            </a:r>
            <a:r>
              <a:rPr lang="en-US" sz="2600" b="0" i="0">
                <a:solidFill>
                  <a:srgbClr val="000000"/>
                </a:solidFill>
                <a:effectLst/>
                <a:latin typeface="ACaslonPro-Regular"/>
              </a:rPr>
              <a:t> </a:t>
            </a:r>
            <a:r>
              <a:rPr lang="en-US" sz="2600" b="0" i="0" err="1">
                <a:solidFill>
                  <a:srgbClr val="000000"/>
                </a:solidFill>
                <a:effectLst/>
                <a:latin typeface="ACaslonPro-Regular"/>
              </a:rPr>
              <a:t>neumožnit</a:t>
            </a:r>
            <a:r>
              <a:rPr lang="en-US" sz="2600" b="0" i="0">
                <a:solidFill>
                  <a:srgbClr val="000000"/>
                </a:solidFill>
                <a:effectLst/>
                <a:latin typeface="ACaslonPro-Regular"/>
              </a:rPr>
              <a:t> </a:t>
            </a:r>
            <a:r>
              <a:rPr lang="en-US" sz="2600" b="0" i="0" err="1">
                <a:solidFill>
                  <a:srgbClr val="000000"/>
                </a:solidFill>
                <a:effectLst/>
                <a:latin typeface="ACaslonPro-Regular"/>
              </a:rPr>
              <a:t>antivirovým</a:t>
            </a:r>
            <a:r>
              <a:rPr lang="cs-CZ" sz="2600">
                <a:solidFill>
                  <a:srgbClr val="000000"/>
                </a:solidFill>
                <a:latin typeface="ACaslonPro-Regular"/>
              </a:rPr>
              <a:t> </a:t>
            </a:r>
            <a:r>
              <a:rPr lang="en-US" sz="2600" b="0" i="0" err="1">
                <a:solidFill>
                  <a:srgbClr val="000000"/>
                </a:solidFill>
                <a:effectLst/>
                <a:latin typeface="ACaslonPro-Regular"/>
              </a:rPr>
              <a:t>programům</a:t>
            </a:r>
            <a:r>
              <a:rPr lang="en-US" sz="2600" b="0" i="0">
                <a:solidFill>
                  <a:srgbClr val="000000"/>
                </a:solidFill>
                <a:effectLst/>
                <a:latin typeface="ACaslonPro-Regular"/>
              </a:rPr>
              <a:t> </a:t>
            </a:r>
            <a:r>
              <a:rPr lang="en-US" sz="2600" b="0" i="0" err="1">
                <a:solidFill>
                  <a:srgbClr val="000000"/>
                </a:solidFill>
                <a:effectLst/>
                <a:latin typeface="ACaslonPro-Regular"/>
              </a:rPr>
              <a:t>provést</a:t>
            </a:r>
            <a:r>
              <a:rPr lang="en-US" sz="2600" b="0" i="0">
                <a:solidFill>
                  <a:srgbClr val="000000"/>
                </a:solidFill>
                <a:effectLst/>
                <a:latin typeface="ACaslonPro-Regular"/>
              </a:rPr>
              <a:t> update.</a:t>
            </a:r>
            <a:r>
              <a:rPr lang="en-US" sz="3900"/>
              <a:t> </a:t>
            </a:r>
            <a:endParaRPr lang="cs-CZ" sz="4000"/>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163</a:t>
            </a:fld>
            <a:endParaRPr lang="cs-CZ"/>
          </a:p>
        </p:txBody>
      </p:sp>
    </p:spTree>
    <p:extLst>
      <p:ext uri="{BB962C8B-B14F-4D97-AF65-F5344CB8AC3E}">
        <p14:creationId xmlns:p14="http://schemas.microsoft.com/office/powerpoint/2010/main" val="2881496905"/>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DNS protokol - Malware</a:t>
            </a:r>
            <a:endParaRPr lang="cs-CZ"/>
          </a:p>
        </p:txBody>
      </p:sp>
      <p:sp>
        <p:nvSpPr>
          <p:cNvPr id="3" name="Content Placeholder 2"/>
          <p:cNvSpPr>
            <a:spLocks noGrp="1"/>
          </p:cNvSpPr>
          <p:nvPr>
            <p:ph idx="1"/>
          </p:nvPr>
        </p:nvSpPr>
        <p:spPr/>
        <p:txBody>
          <a:bodyPr/>
          <a:lstStyle/>
          <a:p>
            <a:r>
              <a:rPr lang="cs-CZ"/>
              <a:t>Ještě dále zašel malware známý jako </a:t>
            </a:r>
            <a:r>
              <a:rPr lang="cs-CZ" b="1" err="1"/>
              <a:t>Shopperz</a:t>
            </a:r>
            <a:r>
              <a:rPr lang="cs-CZ"/>
              <a:t>. Některé varianty tohoto malware měnily přímo knihovnu </a:t>
            </a:r>
            <a:r>
              <a:rPr lang="cs-CZ" b="1"/>
              <a:t>dnsapi.dll </a:t>
            </a:r>
            <a:r>
              <a:rPr lang="cs-CZ"/>
              <a:t>za vlastní verzi. V původní knihovně byla změněna pouze cesta k souboru </a:t>
            </a:r>
            <a:r>
              <a:rPr lang="cs-CZ" err="1"/>
              <a:t>hosts</a:t>
            </a:r>
            <a:r>
              <a:rPr lang="cs-CZ"/>
              <a:t>. </a:t>
            </a:r>
          </a:p>
          <a:p>
            <a:r>
              <a:rPr lang="cs-CZ"/>
              <a:t>Díky tomu zůstal originální soubor </a:t>
            </a:r>
            <a:r>
              <a:rPr lang="cs-CZ" b="1" err="1"/>
              <a:t>hosts</a:t>
            </a:r>
            <a:r>
              <a:rPr lang="cs-CZ"/>
              <a:t> nedotčen a při jeho případné kontrole tak nebyly změny identifikovány. </a:t>
            </a:r>
          </a:p>
          <a:p>
            <a:r>
              <a:rPr lang="cs-CZ"/>
              <a:t>Tento malware byl svými tvůrci využíván především k injektování vlastní reklamy do webových stránek, proto do souboru </a:t>
            </a:r>
            <a:r>
              <a:rPr lang="cs-CZ" b="1" err="1"/>
              <a:t>hosts</a:t>
            </a:r>
            <a:r>
              <a:rPr lang="cs-CZ"/>
              <a:t> přidával vlastní záznamy pro domény jako google-analytics.com</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164</a:t>
            </a:fld>
            <a:endParaRPr lang="cs-CZ"/>
          </a:p>
        </p:txBody>
      </p:sp>
    </p:spTree>
    <p:extLst>
      <p:ext uri="{BB962C8B-B14F-4D97-AF65-F5344CB8AC3E}">
        <p14:creationId xmlns:p14="http://schemas.microsoft.com/office/powerpoint/2010/main" val="1503499971"/>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DNS protokol -  Útoky na SOHO routery</a:t>
            </a:r>
            <a:endParaRPr lang="cs-CZ"/>
          </a:p>
        </p:txBody>
      </p:sp>
      <p:sp>
        <p:nvSpPr>
          <p:cNvPr id="3" name="Content Placeholder 2"/>
          <p:cNvSpPr>
            <a:spLocks noGrp="1"/>
          </p:cNvSpPr>
          <p:nvPr>
            <p:ph idx="1"/>
          </p:nvPr>
        </p:nvSpPr>
        <p:spPr/>
        <p:txBody>
          <a:bodyPr/>
          <a:lstStyle/>
          <a:p>
            <a:r>
              <a:rPr lang="cs-CZ"/>
              <a:t>Útoky na SOHO routery mají podobu komplexního útoku, při němž musí útočník nejprve proniknout do vlastního routeru.</a:t>
            </a:r>
          </a:p>
          <a:p>
            <a:r>
              <a:rPr lang="cs-CZ"/>
              <a:t>Útočníci přitom využívají jak špatně zabezpečené routery, které mají dostupné přihlašovací rozhraní a jednoduché či výchozí heslo pro přihlášení, tak také různé zranitelnosti SOHO routerů.</a:t>
            </a:r>
          </a:p>
          <a:p>
            <a:r>
              <a:rPr lang="cs-CZ"/>
              <a:t>V dalším kroku pak útočník na napadeném routeru změní nastavení DNS tak, aby router navázal komunikaci s útočníkovými DNS servery.</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165</a:t>
            </a:fld>
            <a:endParaRPr lang="cs-CZ"/>
          </a:p>
        </p:txBody>
      </p:sp>
    </p:spTree>
    <p:extLst>
      <p:ext uri="{BB962C8B-B14F-4D97-AF65-F5344CB8AC3E}">
        <p14:creationId xmlns:p14="http://schemas.microsoft.com/office/powerpoint/2010/main" val="179899704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DNS protokol -  Útoky na SOHO routery</a:t>
            </a:r>
            <a:endParaRPr lang="cs-CZ"/>
          </a:p>
        </p:txBody>
      </p:sp>
      <p:sp>
        <p:nvSpPr>
          <p:cNvPr id="3" name="Content Placeholder 2"/>
          <p:cNvSpPr>
            <a:spLocks noGrp="1"/>
          </p:cNvSpPr>
          <p:nvPr>
            <p:ph idx="1"/>
          </p:nvPr>
        </p:nvSpPr>
        <p:spPr/>
        <p:txBody>
          <a:bodyPr/>
          <a:lstStyle/>
          <a:p>
            <a:r>
              <a:rPr lang="cs-CZ"/>
              <a:t>Útok na SOHO routery nemusí být nutně veden pouze přes WAN port. Skript známý jako </a:t>
            </a:r>
            <a:r>
              <a:rPr lang="cs-CZ" b="1"/>
              <a:t>JS_ JITON </a:t>
            </a:r>
            <a:r>
              <a:rPr lang="cs-CZ"/>
              <a:t>umožňuje tento útok provést zevnitř sítě. Stačí, aby uživatel otevřel webovou stránku, která má v sobě tento skript zakomponovaný. </a:t>
            </a:r>
          </a:p>
          <a:p>
            <a:r>
              <a:rPr lang="cs-CZ"/>
              <a:t>Skript se následně zkouší přihlásit k routeru přes LAN rozhraní předdefinovaným seznamem uživatelských jmen a hesel.</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166</a:t>
            </a:fld>
            <a:endParaRPr lang="cs-CZ"/>
          </a:p>
        </p:txBody>
      </p:sp>
    </p:spTree>
    <p:extLst>
      <p:ext uri="{BB962C8B-B14F-4D97-AF65-F5344CB8AC3E}">
        <p14:creationId xmlns:p14="http://schemas.microsoft.com/office/powerpoint/2010/main" val="355843898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 IEEE 802.1X</a:t>
            </a:r>
          </a:p>
        </p:txBody>
      </p:sp>
      <p:sp>
        <p:nvSpPr>
          <p:cNvPr id="3" name="Content Placeholder 2"/>
          <p:cNvSpPr>
            <a:spLocks noGrp="1"/>
          </p:cNvSpPr>
          <p:nvPr>
            <p:ph idx="1"/>
          </p:nvPr>
        </p:nvSpPr>
        <p:spPr/>
        <p:txBody>
          <a:bodyPr>
            <a:normAutofit/>
          </a:bodyPr>
          <a:lstStyle/>
          <a:p>
            <a:r>
              <a:rPr lang="cs-CZ"/>
              <a:t>V případě lokálních sítí a jejich zabezpečení není možné vynechat protokol IEEE 802.1X, který v sítích typu ethernet umožňuje realizovat řízení přístupu.</a:t>
            </a:r>
          </a:p>
          <a:p>
            <a:r>
              <a:rPr lang="cs-CZ"/>
              <a:t>Pokud se uživatel připojí na síťový port, může komunikovat pouze prostřednictvím EAP protokolu</a:t>
            </a:r>
            <a:r>
              <a:rPr lang="pt-BR"/>
              <a:t>, který se stará o autentizaci.</a:t>
            </a:r>
            <a:endParaRPr lang="cs-CZ"/>
          </a:p>
          <a:p>
            <a:r>
              <a:rPr lang="cs-CZ"/>
              <a:t>Každý koncový počítačový systém má za tímto účelem speciální kus softwaru, známý jako </a:t>
            </a:r>
            <a:r>
              <a:rPr lang="cs-CZ" err="1"/>
              <a:t>suplikant</a:t>
            </a:r>
            <a:r>
              <a:rPr lang="cs-CZ"/>
              <a:t>.</a:t>
            </a:r>
          </a:p>
          <a:p>
            <a:r>
              <a:rPr lang="cs-CZ"/>
              <a:t>Počítačový systém, do kterého se uživatel připojil, přepošle přihlašovací údaje na RADIUS server, který uživatele ověří. </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167</a:t>
            </a:fld>
            <a:endParaRPr lang="cs-CZ"/>
          </a:p>
        </p:txBody>
      </p:sp>
    </p:spTree>
    <p:extLst>
      <p:ext uri="{BB962C8B-B14F-4D97-AF65-F5344CB8AC3E}">
        <p14:creationId xmlns:p14="http://schemas.microsoft.com/office/powerpoint/2010/main" val="312355566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 Bezdrátové sítě </a:t>
            </a:r>
            <a:endParaRPr lang="cs-CZ"/>
          </a:p>
        </p:txBody>
      </p:sp>
      <p:sp>
        <p:nvSpPr>
          <p:cNvPr id="3" name="Content Placeholder 2"/>
          <p:cNvSpPr>
            <a:spLocks noGrp="1"/>
          </p:cNvSpPr>
          <p:nvPr>
            <p:ph idx="1"/>
          </p:nvPr>
        </p:nvSpPr>
        <p:spPr/>
        <p:txBody>
          <a:bodyPr/>
          <a:lstStyle/>
          <a:p>
            <a:r>
              <a:rPr lang="cs-CZ"/>
              <a:t>Základní problém bezdrátových sítí představuje relativně nízká schopnost ovlivnit či kontrolovat šíření signálu.</a:t>
            </a:r>
          </a:p>
          <a:p>
            <a:r>
              <a:rPr lang="cs-CZ"/>
              <a:t>Dalším ze základních problémů, který bezprostředně souvisí s provozem bezdrátových sítí </a:t>
            </a:r>
            <a:r>
              <a:rPr lang="cs-CZ" err="1"/>
              <a:t>WiFi</a:t>
            </a:r>
            <a:r>
              <a:rPr lang="cs-CZ"/>
              <a:t> (krom výše uvedené omezené možnosti regulace signálu), je absence ochrany důležité síťové komunikace.</a:t>
            </a:r>
          </a:p>
          <a:p>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168</a:t>
            </a:fld>
            <a:endParaRPr lang="cs-CZ"/>
          </a:p>
        </p:txBody>
      </p:sp>
    </p:spTree>
    <p:extLst>
      <p:ext uri="{BB962C8B-B14F-4D97-AF65-F5344CB8AC3E}">
        <p14:creationId xmlns:p14="http://schemas.microsoft.com/office/powerpoint/2010/main" val="2074793203"/>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 Bezdrátové sítě </a:t>
            </a:r>
            <a:endParaRPr lang="cs-CZ"/>
          </a:p>
        </p:txBody>
      </p:sp>
      <p:sp>
        <p:nvSpPr>
          <p:cNvPr id="3" name="Content Placeholder 2"/>
          <p:cNvSpPr>
            <a:spLocks noGrp="1"/>
          </p:cNvSpPr>
          <p:nvPr>
            <p:ph idx="1"/>
          </p:nvPr>
        </p:nvSpPr>
        <p:spPr/>
        <p:txBody>
          <a:bodyPr/>
          <a:lstStyle/>
          <a:p>
            <a:r>
              <a:rPr lang="cs-CZ"/>
              <a:t>V rámci Wi-Fi sítí nejsou nijak chráněny následující rámce:</a:t>
            </a:r>
          </a:p>
          <a:p>
            <a:r>
              <a:rPr lang="cs-CZ" err="1"/>
              <a:t>Control</a:t>
            </a:r>
            <a:endParaRPr lang="cs-CZ"/>
          </a:p>
          <a:p>
            <a:pPr lvl="1"/>
            <a:r>
              <a:rPr lang="cs-CZ" err="1"/>
              <a:t>Control</a:t>
            </a:r>
            <a:r>
              <a:rPr lang="cs-CZ"/>
              <a:t> rámec se stará například o rezervaci časového pásma RTS (</a:t>
            </a:r>
            <a:r>
              <a:rPr lang="cs-CZ" err="1"/>
              <a:t>Request</a:t>
            </a:r>
            <a:r>
              <a:rPr lang="cs-CZ"/>
              <a:t>-To-</a:t>
            </a:r>
            <a:r>
              <a:rPr lang="cs-CZ" err="1"/>
              <a:t>Send</a:t>
            </a:r>
            <a:r>
              <a:rPr lang="cs-CZ"/>
              <a:t>),</a:t>
            </a:r>
          </a:p>
          <a:p>
            <a:pPr lvl="1"/>
            <a:r>
              <a:rPr lang="cs-CZ"/>
              <a:t>potvrzení přijetí rámce ACK (</a:t>
            </a:r>
            <a:r>
              <a:rPr lang="cs-CZ" err="1"/>
              <a:t>Acknowledgement</a:t>
            </a:r>
            <a:r>
              <a:rPr lang="cs-CZ"/>
              <a:t>), nebo o povolení vysílání CTS (</a:t>
            </a:r>
            <a:r>
              <a:rPr lang="cs-CZ" err="1"/>
              <a:t>ClearTo-Send</a:t>
            </a:r>
            <a:r>
              <a:rPr lang="cs-CZ"/>
              <a:t>).</a:t>
            </a:r>
          </a:p>
          <a:p>
            <a:r>
              <a:rPr lang="cs-CZ"/>
              <a:t>Management</a:t>
            </a:r>
          </a:p>
          <a:p>
            <a:pPr lvl="1"/>
            <a:r>
              <a:rPr lang="cs-CZ"/>
              <a:t>Management rámce řídí připojování k AP, autentizaci, asociaci, ale také </a:t>
            </a:r>
            <a:r>
              <a:rPr lang="cs-CZ" err="1"/>
              <a:t>deautentizaci</a:t>
            </a:r>
            <a:r>
              <a:rPr lang="cs-CZ"/>
              <a:t> a </a:t>
            </a:r>
            <a:r>
              <a:rPr lang="cs-CZ" err="1"/>
              <a:t>deasociaci</a:t>
            </a:r>
            <a:r>
              <a:rPr lang="cs-CZ"/>
              <a:t>.</a:t>
            </a:r>
          </a:p>
          <a:p>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169</a:t>
            </a:fld>
            <a:endParaRPr lang="cs-CZ"/>
          </a:p>
        </p:txBody>
      </p:sp>
    </p:spTree>
    <p:extLst>
      <p:ext uri="{BB962C8B-B14F-4D97-AF65-F5344CB8AC3E}">
        <p14:creationId xmlns:p14="http://schemas.microsoft.com/office/powerpoint/2010/main" val="254594223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 Bezdrátové sítě </a:t>
            </a:r>
            <a:endParaRPr lang="cs-CZ"/>
          </a:p>
        </p:txBody>
      </p:sp>
      <p:sp>
        <p:nvSpPr>
          <p:cNvPr id="3" name="Content Placeholder 2"/>
          <p:cNvSpPr>
            <a:spLocks noGrp="1"/>
          </p:cNvSpPr>
          <p:nvPr>
            <p:ph idx="1"/>
          </p:nvPr>
        </p:nvSpPr>
        <p:spPr/>
        <p:txBody>
          <a:bodyPr/>
          <a:lstStyle/>
          <a:p>
            <a:r>
              <a:rPr lang="cs-CZ"/>
              <a:t>Příkladem managementu rámce je </a:t>
            </a:r>
            <a:r>
              <a:rPr lang="cs-CZ" b="1" err="1"/>
              <a:t>Probe</a:t>
            </a:r>
            <a:r>
              <a:rPr lang="cs-CZ" b="1"/>
              <a:t> </a:t>
            </a:r>
            <a:r>
              <a:rPr lang="cs-CZ" b="1" err="1"/>
              <a:t>request</a:t>
            </a:r>
            <a:r>
              <a:rPr lang="cs-CZ" b="1"/>
              <a:t> </a:t>
            </a:r>
            <a:r>
              <a:rPr lang="cs-CZ"/>
              <a:t>(počítačový systém zjišťuje, jaká AP jsou v dosahu) a </a:t>
            </a:r>
            <a:r>
              <a:rPr lang="cs-CZ" b="1" err="1"/>
              <a:t>Probe</a:t>
            </a:r>
            <a:r>
              <a:rPr lang="cs-CZ" b="1"/>
              <a:t> response </a:t>
            </a:r>
            <a:r>
              <a:rPr lang="cs-CZ"/>
              <a:t>(což je odpověď na </a:t>
            </a:r>
            <a:r>
              <a:rPr lang="cs-CZ" err="1"/>
              <a:t>request</a:t>
            </a:r>
            <a:r>
              <a:rPr lang="cs-CZ"/>
              <a:t> a </a:t>
            </a:r>
            <a:r>
              <a:rPr lang="cs-CZ" err="1"/>
              <a:t>beacon</a:t>
            </a:r>
            <a:r>
              <a:rPr lang="cs-CZ"/>
              <a:t> rámce).</a:t>
            </a:r>
          </a:p>
          <a:p>
            <a:r>
              <a:rPr lang="cs-CZ"/>
              <a:t>Významným management rámcem je </a:t>
            </a:r>
            <a:r>
              <a:rPr lang="cs-CZ" err="1"/>
              <a:t>Beacon</a:t>
            </a:r>
            <a:r>
              <a:rPr lang="cs-CZ"/>
              <a:t> rámec, kterými dává přístupový bod vědět ostatním počítačovým systémům či prvkům sítě o své existenci. </a:t>
            </a:r>
          </a:p>
          <a:p>
            <a:r>
              <a:rPr lang="cs-CZ"/>
              <a:t>Tyto </a:t>
            </a:r>
            <a:r>
              <a:rPr lang="cs-CZ" err="1"/>
              <a:t>beacon</a:t>
            </a:r>
            <a:r>
              <a:rPr lang="cs-CZ"/>
              <a:t> rámce obsahují mimo jiné informaci o SSID sítě (pokud nebylo zvoleno nastavení: „skrýt SSID“).</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170</a:t>
            </a:fld>
            <a:endParaRPr lang="cs-CZ"/>
          </a:p>
        </p:txBody>
      </p:sp>
    </p:spTree>
    <p:extLst>
      <p:ext uri="{BB962C8B-B14F-4D97-AF65-F5344CB8AC3E}">
        <p14:creationId xmlns:p14="http://schemas.microsoft.com/office/powerpoint/2010/main" val="4211846549"/>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 Bezdrátové sítě </a:t>
            </a:r>
            <a:endParaRPr lang="cs-CZ"/>
          </a:p>
        </p:txBody>
      </p:sp>
      <p:pic>
        <p:nvPicPr>
          <p:cNvPr id="7" name="Zástupný obsah 6">
            <a:extLst>
              <a:ext uri="{FF2B5EF4-FFF2-40B4-BE49-F238E27FC236}">
                <a16:creationId xmlns:a16="http://schemas.microsoft.com/office/drawing/2014/main" id="{BC493045-824B-1AD8-7A2A-36E67046C1D3}"/>
              </a:ext>
            </a:extLst>
          </p:cNvPr>
          <p:cNvPicPr>
            <a:picLocks noGrp="1" noChangeAspect="1"/>
          </p:cNvPicPr>
          <p:nvPr>
            <p:ph idx="1"/>
          </p:nvPr>
        </p:nvPicPr>
        <p:blipFill>
          <a:blip r:embed="rId2"/>
          <a:stretch>
            <a:fillRect/>
          </a:stretch>
        </p:blipFill>
        <p:spPr>
          <a:xfrm>
            <a:off x="1394052" y="1848457"/>
            <a:ext cx="9403895" cy="4305673"/>
          </a:xfrm>
        </p:spPr>
      </p:pic>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171</a:t>
            </a:fld>
            <a:endParaRPr lang="cs-CZ"/>
          </a:p>
        </p:txBody>
      </p:sp>
    </p:spTree>
    <p:extLst>
      <p:ext uri="{BB962C8B-B14F-4D97-AF65-F5344CB8AC3E}">
        <p14:creationId xmlns:p14="http://schemas.microsoft.com/office/powerpoint/2010/main" val="1282791589"/>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cs-CZ" b="1"/>
              <a:t> Bezdrátové sítě </a:t>
            </a:r>
            <a:endParaRPr lang="cs-CZ"/>
          </a:p>
        </p:txBody>
      </p:sp>
      <p:sp>
        <p:nvSpPr>
          <p:cNvPr id="4" name="Date Placeholder 3"/>
          <p:cNvSpPr>
            <a:spLocks noGrp="1"/>
          </p:cNvSpPr>
          <p:nvPr>
            <p:ph type="dt" sz="half" idx="10"/>
          </p:nvPr>
        </p:nvSpPr>
        <p:spPr>
          <a:xfrm>
            <a:off x="838200" y="6356350"/>
            <a:ext cx="2743200" cy="365125"/>
          </a:xfrm>
        </p:spPr>
        <p:txBody>
          <a:bodyPr anchor="ctr">
            <a:normAutofit/>
          </a:bodyPr>
          <a:lstStyle/>
          <a:p>
            <a:pPr>
              <a:spcAft>
                <a:spcPts val="600"/>
              </a:spcAft>
            </a:pPr>
            <a:r>
              <a:rPr lang="cs-CZ"/>
              <a:t>18.8.2022</a:t>
            </a:r>
          </a:p>
        </p:txBody>
      </p:sp>
      <p:sp>
        <p:nvSpPr>
          <p:cNvPr id="5" name="Slide Number Placeholder 4"/>
          <p:cNvSpPr>
            <a:spLocks noGrp="1"/>
          </p:cNvSpPr>
          <p:nvPr>
            <p:ph type="sldNum" sz="quarter" idx="12"/>
          </p:nvPr>
        </p:nvSpPr>
        <p:spPr>
          <a:xfrm>
            <a:off x="8610600" y="6356350"/>
            <a:ext cx="2743200" cy="365125"/>
          </a:xfrm>
        </p:spPr>
        <p:txBody>
          <a:bodyPr anchor="ctr">
            <a:normAutofit/>
          </a:bodyPr>
          <a:lstStyle/>
          <a:p>
            <a:pPr>
              <a:spcAft>
                <a:spcPts val="600"/>
              </a:spcAft>
            </a:pPr>
            <a:fld id="{AD9F5C5F-4392-49C5-81DD-37F176609E69}" type="slidenum">
              <a:rPr lang="cs-CZ" smtClean="0"/>
              <a:pPr>
                <a:spcAft>
                  <a:spcPts val="600"/>
                </a:spcAft>
              </a:pPr>
              <a:t>172</a:t>
            </a:fld>
            <a:endParaRPr lang="cs-CZ"/>
          </a:p>
        </p:txBody>
      </p:sp>
      <p:graphicFrame>
        <p:nvGraphicFramePr>
          <p:cNvPr id="7" name="Content Placeholder 2">
            <a:extLst>
              <a:ext uri="{FF2B5EF4-FFF2-40B4-BE49-F238E27FC236}">
                <a16:creationId xmlns:a16="http://schemas.microsoft.com/office/drawing/2014/main" id="{63E03CB9-8472-A29F-D365-52D434027F0B}"/>
              </a:ext>
            </a:extLst>
          </p:cNvPr>
          <p:cNvGraphicFramePr>
            <a:graphicFrameLocks noGrp="1"/>
          </p:cNvGraphicFramePr>
          <p:nvPr>
            <p:ph idx="1"/>
            <p:extLst>
              <p:ext uri="{D42A27DB-BD31-4B8C-83A1-F6EECF244321}">
                <p14:modId xmlns:p14="http://schemas.microsoft.com/office/powerpoint/2010/main" val="402218297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55018419"/>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Bezdrátové sítě:  Filtrace přístupu podle MAC adres</a:t>
            </a:r>
            <a:endParaRPr lang="cs-CZ"/>
          </a:p>
        </p:txBody>
      </p:sp>
      <p:sp>
        <p:nvSpPr>
          <p:cNvPr id="3" name="Content Placeholder 2"/>
          <p:cNvSpPr>
            <a:spLocks noGrp="1"/>
          </p:cNvSpPr>
          <p:nvPr>
            <p:ph idx="1"/>
          </p:nvPr>
        </p:nvSpPr>
        <p:spPr/>
        <p:txBody>
          <a:bodyPr/>
          <a:lstStyle/>
          <a:p>
            <a:r>
              <a:rPr lang="cs-CZ"/>
              <a:t>Filtrace přístupu podle MAC adres není vhodným způsobem zabezpečení Wi-Fi sítí, neboť při tomto zabezpečení dochází k přenosu nezašifrovaných dat (data jsou čitelná).</a:t>
            </a:r>
          </a:p>
          <a:p>
            <a:r>
              <a:rPr lang="cs-CZ"/>
              <a:t>Průměrně schopný útočník si může zjistit MAC adresy počítačových systémů, které mají přístup k počítačové síti. </a:t>
            </a:r>
          </a:p>
          <a:p>
            <a:r>
              <a:rPr lang="cs-CZ"/>
              <a:t>Díky tomu si útočník může nastavit stejnou MAC adresu a vydávat se tak za legitimního uživatele (resp. počítačový systém).</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173</a:t>
            </a:fld>
            <a:endParaRPr lang="cs-CZ"/>
          </a:p>
        </p:txBody>
      </p:sp>
    </p:spTree>
    <p:extLst>
      <p:ext uri="{BB962C8B-B14F-4D97-AF65-F5344CB8AC3E}">
        <p14:creationId xmlns:p14="http://schemas.microsoft.com/office/powerpoint/2010/main" val="92208222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Bezdrátové sítě:  </a:t>
            </a:r>
            <a:r>
              <a:rPr lang="cs-CZ" b="1" err="1"/>
              <a:t>Wired</a:t>
            </a:r>
            <a:r>
              <a:rPr lang="cs-CZ" b="1"/>
              <a:t> </a:t>
            </a:r>
            <a:r>
              <a:rPr lang="cs-CZ" b="1" err="1"/>
              <a:t>Equivalent</a:t>
            </a:r>
            <a:r>
              <a:rPr lang="cs-CZ" b="1"/>
              <a:t> </a:t>
            </a:r>
            <a:r>
              <a:rPr lang="cs-CZ" b="1" err="1"/>
              <a:t>Privacy</a:t>
            </a:r>
            <a:r>
              <a:rPr lang="cs-CZ" b="1"/>
              <a:t> (WEP)</a:t>
            </a:r>
            <a:endParaRPr lang="cs-CZ"/>
          </a:p>
        </p:txBody>
      </p:sp>
      <p:sp>
        <p:nvSpPr>
          <p:cNvPr id="3" name="Content Placeholder 2"/>
          <p:cNvSpPr>
            <a:spLocks noGrp="1"/>
          </p:cNvSpPr>
          <p:nvPr>
            <p:ph idx="1"/>
          </p:nvPr>
        </p:nvSpPr>
        <p:spPr/>
        <p:txBody>
          <a:bodyPr/>
          <a:lstStyle/>
          <a:p>
            <a:r>
              <a:rPr lang="cs-CZ" err="1"/>
              <a:t>Wired</a:t>
            </a:r>
            <a:r>
              <a:rPr lang="cs-CZ"/>
              <a:t> </a:t>
            </a:r>
            <a:r>
              <a:rPr lang="cs-CZ" err="1"/>
              <a:t>Equivalent</a:t>
            </a:r>
            <a:r>
              <a:rPr lang="cs-CZ"/>
              <a:t> </a:t>
            </a:r>
            <a:r>
              <a:rPr lang="cs-CZ" err="1"/>
              <a:t>Privacy</a:t>
            </a:r>
            <a:r>
              <a:rPr lang="cs-CZ"/>
              <a:t> (WEP) představuje v současnosti již naprosto nedostatečný způsob zabezpečení. </a:t>
            </a:r>
          </a:p>
          <a:p>
            <a:r>
              <a:rPr lang="cs-CZ"/>
              <a:t>Toto zabezpečení bylo prolomeno již v roce 2001. </a:t>
            </a:r>
          </a:p>
          <a:p>
            <a:r>
              <a:rPr lang="cs-CZ"/>
              <a:t>Problém WEP spočívá v použití stream šifry RC4. </a:t>
            </a:r>
          </a:p>
          <a:p>
            <a:r>
              <a:rPr lang="cs-CZ"/>
              <a:t>V případě této šifry by neměl být nikdy použit stejný klíč dvakrát, jinak se šifra stává prolomitelnou. </a:t>
            </a:r>
          </a:p>
          <a:p>
            <a:r>
              <a:rPr lang="cs-CZ"/>
              <a:t>Klíč pro šifrování dat se však u WEP vytváří ze společného klíče, který může být buď 40 bitový, nebo 104 bitový.</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174</a:t>
            </a:fld>
            <a:endParaRPr lang="cs-CZ"/>
          </a:p>
        </p:txBody>
      </p:sp>
    </p:spTree>
    <p:extLst>
      <p:ext uri="{BB962C8B-B14F-4D97-AF65-F5344CB8AC3E}">
        <p14:creationId xmlns:p14="http://schemas.microsoft.com/office/powerpoint/2010/main" val="3859108577"/>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Bezdrátové sítě: WPA (Wi-Fi </a:t>
            </a:r>
            <a:r>
              <a:rPr lang="cs-CZ" b="1" err="1"/>
              <a:t>Protected</a:t>
            </a:r>
            <a:r>
              <a:rPr lang="cs-CZ" b="1"/>
              <a:t> Access)</a:t>
            </a:r>
            <a:endParaRPr lang="cs-CZ"/>
          </a:p>
        </p:txBody>
      </p:sp>
      <p:sp>
        <p:nvSpPr>
          <p:cNvPr id="3" name="Content Placeholder 2"/>
          <p:cNvSpPr>
            <a:spLocks noGrp="1"/>
          </p:cNvSpPr>
          <p:nvPr>
            <p:ph idx="1"/>
          </p:nvPr>
        </p:nvSpPr>
        <p:spPr/>
        <p:txBody>
          <a:bodyPr>
            <a:normAutofit/>
          </a:bodyPr>
          <a:lstStyle/>
          <a:p>
            <a:r>
              <a:rPr lang="cs-CZ"/>
              <a:t>Další možností zabezpečení Wi-Fi sítě je použití protokolu WPA, který vznikl v reakci na prolomení WEP.</a:t>
            </a:r>
          </a:p>
          <a:p>
            <a:r>
              <a:rPr lang="cs-CZ"/>
              <a:t>Díky tomuto požadavku WPA používá stejnou šifru RC4 jako WEP, avšak pro WPA byl vyvinut </a:t>
            </a:r>
            <a:r>
              <a:rPr lang="cs-CZ" err="1"/>
              <a:t>Temporal</a:t>
            </a:r>
            <a:r>
              <a:rPr lang="cs-CZ"/>
              <a:t> </a:t>
            </a:r>
            <a:r>
              <a:rPr lang="cs-CZ" err="1"/>
              <a:t>Key</a:t>
            </a:r>
            <a:r>
              <a:rPr lang="cs-CZ"/>
              <a:t> Integrity </a:t>
            </a:r>
            <a:r>
              <a:rPr lang="cs-CZ" err="1"/>
              <a:t>Protocol</a:t>
            </a:r>
            <a:r>
              <a:rPr lang="cs-CZ"/>
              <a:t> (TKIP) protokol, který řeší nedostatky, které vedly k prolomení WEP.</a:t>
            </a:r>
          </a:p>
          <a:p>
            <a:r>
              <a:rPr lang="cs-CZ"/>
              <a:t>Díky TKIP je v rámci WPA každý paket šifrován skutečně jedinečným klíčem.</a:t>
            </a:r>
          </a:p>
          <a:p>
            <a:r>
              <a:rPr lang="cs-CZ"/>
              <a:t>I přes výše uvedené se objevily dva útoky (Beck-</a:t>
            </a:r>
            <a:r>
              <a:rPr lang="cs-CZ" err="1"/>
              <a:t>Tews</a:t>
            </a:r>
            <a:r>
              <a:rPr lang="cs-CZ"/>
              <a:t> a </a:t>
            </a:r>
            <a:r>
              <a:rPr lang="cs-CZ" err="1"/>
              <a:t>Ohigashi-Morii</a:t>
            </a:r>
            <a:r>
              <a:rPr lang="cs-CZ"/>
              <a:t>), které umožňují prolomit určitou část dat zabezpečených WPA.</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175</a:t>
            </a:fld>
            <a:endParaRPr lang="cs-CZ"/>
          </a:p>
        </p:txBody>
      </p:sp>
    </p:spTree>
    <p:extLst>
      <p:ext uri="{BB962C8B-B14F-4D97-AF65-F5344CB8AC3E}">
        <p14:creationId xmlns:p14="http://schemas.microsoft.com/office/powerpoint/2010/main" val="4086919464"/>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4E9248C-50CD-6D4C-310C-956C5373EB6A}"/>
              </a:ext>
            </a:extLst>
          </p:cNvPr>
          <p:cNvSpPr>
            <a:spLocks noGrp="1"/>
          </p:cNvSpPr>
          <p:nvPr>
            <p:ph type="title"/>
          </p:nvPr>
        </p:nvSpPr>
        <p:spPr/>
        <p:txBody>
          <a:bodyPr/>
          <a:lstStyle/>
          <a:p>
            <a:r>
              <a:rPr lang="cs-CZ" b="1"/>
              <a:t>Bezdrátové sítě: WPA2 (Wi-Fi </a:t>
            </a:r>
            <a:r>
              <a:rPr lang="cs-CZ" b="1" err="1"/>
              <a:t>Protected</a:t>
            </a:r>
            <a:r>
              <a:rPr lang="cs-CZ" b="1"/>
              <a:t> Access2)</a:t>
            </a:r>
            <a:endParaRPr lang="en-US"/>
          </a:p>
        </p:txBody>
      </p:sp>
      <p:sp>
        <p:nvSpPr>
          <p:cNvPr id="3" name="Zástupný obsah 2">
            <a:extLst>
              <a:ext uri="{FF2B5EF4-FFF2-40B4-BE49-F238E27FC236}">
                <a16:creationId xmlns:a16="http://schemas.microsoft.com/office/drawing/2014/main" id="{055C1504-DC54-5ED3-8EC6-79B13D76D801}"/>
              </a:ext>
            </a:extLst>
          </p:cNvPr>
          <p:cNvSpPr>
            <a:spLocks noGrp="1"/>
          </p:cNvSpPr>
          <p:nvPr>
            <p:ph idx="1"/>
          </p:nvPr>
        </p:nvSpPr>
        <p:spPr/>
        <p:txBody>
          <a:bodyPr/>
          <a:lstStyle/>
          <a:p>
            <a:r>
              <a:rPr lang="en-US"/>
              <a:t>V </a:t>
            </a:r>
            <a:r>
              <a:rPr lang="en-US" err="1"/>
              <a:t>současnosti</a:t>
            </a:r>
            <a:r>
              <a:rPr lang="en-US"/>
              <a:t> je </a:t>
            </a:r>
            <a:r>
              <a:rPr lang="en-US" err="1"/>
              <a:t>nejvyužívanějším</a:t>
            </a:r>
            <a:r>
              <a:rPr lang="en-US"/>
              <a:t> </a:t>
            </a:r>
            <a:r>
              <a:rPr lang="en-US" err="1"/>
              <a:t>standardem</a:t>
            </a:r>
            <a:r>
              <a:rPr lang="en-US"/>
              <a:t> pro </a:t>
            </a:r>
            <a:r>
              <a:rPr lang="en-US" err="1"/>
              <a:t>zajištění</a:t>
            </a:r>
            <a:r>
              <a:rPr lang="en-US"/>
              <a:t> </a:t>
            </a:r>
            <a:r>
              <a:rPr lang="en-US" err="1"/>
              <a:t>bezpečnosti</a:t>
            </a:r>
            <a:r>
              <a:rPr lang="en-US"/>
              <a:t> </a:t>
            </a:r>
            <a:r>
              <a:rPr lang="en-US" err="1"/>
              <a:t>bezdrátových</a:t>
            </a:r>
            <a:r>
              <a:rPr lang="en-US"/>
              <a:t> </a:t>
            </a:r>
            <a:r>
              <a:rPr lang="en-US" err="1"/>
              <a:t>sítí</a:t>
            </a:r>
            <a:r>
              <a:rPr lang="cs-CZ"/>
              <a:t> </a:t>
            </a:r>
            <a:r>
              <a:rPr lang="en-US" err="1"/>
              <a:t>protokol</a:t>
            </a:r>
            <a:r>
              <a:rPr lang="en-US"/>
              <a:t> WPA2, </a:t>
            </a:r>
            <a:r>
              <a:rPr lang="en-US" err="1"/>
              <a:t>který</a:t>
            </a:r>
            <a:r>
              <a:rPr lang="en-US"/>
              <a:t> </a:t>
            </a:r>
            <a:r>
              <a:rPr lang="en-US" err="1"/>
              <a:t>má</a:t>
            </a:r>
            <a:r>
              <a:rPr lang="en-US"/>
              <a:t> </a:t>
            </a:r>
            <a:r>
              <a:rPr lang="en-US" err="1"/>
              <a:t>podporu</a:t>
            </a:r>
            <a:r>
              <a:rPr lang="en-US"/>
              <a:t> de facto </a:t>
            </a:r>
            <a:r>
              <a:rPr lang="en-US" err="1"/>
              <a:t>ve</a:t>
            </a:r>
            <a:r>
              <a:rPr lang="en-US"/>
              <a:t> </a:t>
            </a:r>
            <a:r>
              <a:rPr lang="en-US" err="1"/>
              <a:t>všech</a:t>
            </a:r>
            <a:r>
              <a:rPr lang="en-US"/>
              <a:t> </a:t>
            </a:r>
            <a:r>
              <a:rPr lang="en-US" err="1"/>
              <a:t>počítačových</a:t>
            </a:r>
            <a:r>
              <a:rPr lang="en-US"/>
              <a:t> </a:t>
            </a:r>
            <a:r>
              <a:rPr lang="en-US" err="1"/>
              <a:t>systémech</a:t>
            </a:r>
            <a:r>
              <a:rPr lang="en-US"/>
              <a:t>. </a:t>
            </a:r>
            <a:endParaRPr lang="cs-CZ"/>
          </a:p>
          <a:p>
            <a:r>
              <a:rPr lang="en-US" err="1"/>
              <a:t>Protokol</a:t>
            </a:r>
            <a:r>
              <a:rPr lang="en-US"/>
              <a:t> WPA2</a:t>
            </a:r>
            <a:r>
              <a:rPr lang="cs-CZ"/>
              <a:t> </a:t>
            </a:r>
            <a:r>
              <a:rPr lang="en-US" err="1"/>
              <a:t>používá</a:t>
            </a:r>
            <a:r>
              <a:rPr lang="en-US"/>
              <a:t> k </a:t>
            </a:r>
            <a:r>
              <a:rPr lang="en-US" err="1"/>
              <a:t>šifrování</a:t>
            </a:r>
            <a:r>
              <a:rPr lang="en-US"/>
              <a:t> </a:t>
            </a:r>
            <a:r>
              <a:rPr lang="en-US" err="1"/>
              <a:t>protokol</a:t>
            </a:r>
            <a:r>
              <a:rPr lang="en-US"/>
              <a:t> CCMP, </a:t>
            </a:r>
            <a:r>
              <a:rPr lang="en-US" err="1"/>
              <a:t>který</a:t>
            </a:r>
            <a:r>
              <a:rPr lang="en-US"/>
              <a:t> je </a:t>
            </a:r>
            <a:r>
              <a:rPr lang="en-US" err="1"/>
              <a:t>odvozen</a:t>
            </a:r>
            <a:r>
              <a:rPr lang="en-US"/>
              <a:t> od </a:t>
            </a:r>
            <a:r>
              <a:rPr lang="en-US" err="1"/>
              <a:t>standardu</a:t>
            </a:r>
            <a:r>
              <a:rPr lang="en-US"/>
              <a:t> AES</a:t>
            </a:r>
          </a:p>
        </p:txBody>
      </p:sp>
      <p:sp>
        <p:nvSpPr>
          <p:cNvPr id="4" name="Zástupný symbol pro datum 3">
            <a:extLst>
              <a:ext uri="{FF2B5EF4-FFF2-40B4-BE49-F238E27FC236}">
                <a16:creationId xmlns:a16="http://schemas.microsoft.com/office/drawing/2014/main" id="{7F1A2A06-B031-BED1-E4E2-2BCB5D867830}"/>
              </a:ext>
            </a:extLst>
          </p:cNvPr>
          <p:cNvSpPr>
            <a:spLocks noGrp="1"/>
          </p:cNvSpPr>
          <p:nvPr>
            <p:ph type="dt" sz="half" idx="10"/>
          </p:nvPr>
        </p:nvSpPr>
        <p:spPr/>
        <p:txBody>
          <a:bodyPr/>
          <a:lstStyle/>
          <a:p>
            <a:r>
              <a:rPr lang="cs-CZ"/>
              <a:t>18.8.2022</a:t>
            </a:r>
          </a:p>
        </p:txBody>
      </p:sp>
      <p:sp>
        <p:nvSpPr>
          <p:cNvPr id="5" name="Zástupný symbol pro číslo snímku 4">
            <a:extLst>
              <a:ext uri="{FF2B5EF4-FFF2-40B4-BE49-F238E27FC236}">
                <a16:creationId xmlns:a16="http://schemas.microsoft.com/office/drawing/2014/main" id="{B6BD0F0B-C290-8BF4-8ACB-166481E9E7CB}"/>
              </a:ext>
            </a:extLst>
          </p:cNvPr>
          <p:cNvSpPr>
            <a:spLocks noGrp="1"/>
          </p:cNvSpPr>
          <p:nvPr>
            <p:ph type="sldNum" sz="quarter" idx="12"/>
          </p:nvPr>
        </p:nvSpPr>
        <p:spPr/>
        <p:txBody>
          <a:bodyPr/>
          <a:lstStyle/>
          <a:p>
            <a:fld id="{AD9F5C5F-4392-49C5-81DD-37F176609E69}" type="slidenum">
              <a:rPr lang="cs-CZ" smtClean="0"/>
              <a:t>176</a:t>
            </a:fld>
            <a:endParaRPr lang="cs-CZ"/>
          </a:p>
        </p:txBody>
      </p:sp>
    </p:spTree>
    <p:extLst>
      <p:ext uri="{BB962C8B-B14F-4D97-AF65-F5344CB8AC3E}">
        <p14:creationId xmlns:p14="http://schemas.microsoft.com/office/powerpoint/2010/main" val="580813139"/>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Visací zámek na základní desce počítače">
            <a:extLst>
              <a:ext uri="{FF2B5EF4-FFF2-40B4-BE49-F238E27FC236}">
                <a16:creationId xmlns:a16="http://schemas.microsoft.com/office/drawing/2014/main" id="{29672ED0-E684-D0AF-0503-6066860B57DE}"/>
              </a:ext>
            </a:extLst>
          </p:cNvPr>
          <p:cNvPicPr>
            <a:picLocks noChangeAspect="1"/>
          </p:cNvPicPr>
          <p:nvPr/>
        </p:nvPicPr>
        <p:blipFill rotWithShape="1">
          <a:blip r:embed="rId2"/>
          <a:srcRect r="5882" b="-1"/>
          <a:stretch/>
        </p:blipFill>
        <p:spPr>
          <a:xfrm>
            <a:off x="1" y="10"/>
            <a:ext cx="7531609" cy="6857990"/>
          </a:xfrm>
          <a:prstGeom prst="rect">
            <a:avLst/>
          </a:prstGeom>
        </p:spPr>
      </p:pic>
      <p:sp>
        <p:nvSpPr>
          <p:cNvPr id="2" name="Title 1"/>
          <p:cNvSpPr>
            <a:spLocks noGrp="1"/>
          </p:cNvSpPr>
          <p:nvPr>
            <p:ph type="title"/>
          </p:nvPr>
        </p:nvSpPr>
        <p:spPr>
          <a:xfrm>
            <a:off x="7531610" y="365125"/>
            <a:ext cx="3822189" cy="1899912"/>
          </a:xfrm>
        </p:spPr>
        <p:txBody>
          <a:bodyPr>
            <a:normAutofit/>
          </a:bodyPr>
          <a:lstStyle/>
          <a:p>
            <a:r>
              <a:rPr lang="cs-CZ" sz="3100" b="1"/>
              <a:t>Bezdrátové sítě: WPA2 (Wi-Fi Protected Access2), rizika</a:t>
            </a:r>
            <a:endParaRPr lang="cs-CZ" sz="3100"/>
          </a:p>
        </p:txBody>
      </p:sp>
      <p:sp>
        <p:nvSpPr>
          <p:cNvPr id="3" name="Content Placeholder 2"/>
          <p:cNvSpPr>
            <a:spLocks noGrp="1"/>
          </p:cNvSpPr>
          <p:nvPr>
            <p:ph idx="1"/>
          </p:nvPr>
        </p:nvSpPr>
        <p:spPr>
          <a:xfrm>
            <a:off x="7531610" y="2434201"/>
            <a:ext cx="3822189" cy="3742762"/>
          </a:xfrm>
        </p:spPr>
        <p:txBody>
          <a:bodyPr>
            <a:normAutofit/>
          </a:bodyPr>
          <a:lstStyle/>
          <a:p>
            <a:pPr marL="514350" indent="-514350">
              <a:buFont typeface="+mj-lt"/>
              <a:buAutoNum type="arabicPeriod"/>
            </a:pPr>
            <a:r>
              <a:rPr lang="cs-CZ" sz="2000"/>
              <a:t>Možnost získání hesla slovníkovým útokem</a:t>
            </a:r>
          </a:p>
          <a:p>
            <a:pPr marL="514350" indent="-514350">
              <a:buFont typeface="+mj-lt"/>
              <a:buAutoNum type="arabicPeriod"/>
            </a:pPr>
            <a:r>
              <a:rPr lang="cs-CZ" sz="2000"/>
              <a:t>Chyba WPS</a:t>
            </a:r>
          </a:p>
          <a:p>
            <a:pPr marL="514350" indent="-514350">
              <a:buFont typeface="+mj-lt"/>
              <a:buAutoNum type="arabicPeriod"/>
            </a:pPr>
            <a:r>
              <a:rPr lang="cs-CZ" sz="2000"/>
              <a:t>Technický útok spojený se sociálním inženýrstvím</a:t>
            </a:r>
          </a:p>
          <a:p>
            <a:pPr marL="514350" indent="-514350">
              <a:buFont typeface="+mj-lt"/>
              <a:buAutoNum type="arabicPeriod"/>
            </a:pPr>
            <a:r>
              <a:rPr lang="cs-CZ" sz="2000"/>
              <a:t>Permanentně zapnuté Wi-Fi rozhraní</a:t>
            </a:r>
          </a:p>
        </p:txBody>
      </p:sp>
      <p:sp>
        <p:nvSpPr>
          <p:cNvPr id="4" name="Date Placeholder 3"/>
          <p:cNvSpPr>
            <a:spLocks noGrp="1"/>
          </p:cNvSpPr>
          <p:nvPr>
            <p:ph type="dt" sz="half" idx="10"/>
          </p:nvPr>
        </p:nvSpPr>
        <p:spPr/>
        <p:txBody>
          <a:bodyPr>
            <a:normAutofit/>
          </a:bodyPr>
          <a:lstStyle/>
          <a:p>
            <a:pPr>
              <a:spcAft>
                <a:spcPts val="600"/>
              </a:spcAft>
            </a:pPr>
            <a:r>
              <a:rPr lang="cs-CZ">
                <a:solidFill>
                  <a:srgbClr val="FFFFFF"/>
                </a:solidFill>
              </a:rPr>
              <a:t>18.8.2022</a:t>
            </a:r>
          </a:p>
        </p:txBody>
      </p:sp>
      <p:sp>
        <p:nvSpPr>
          <p:cNvPr id="5" name="Slide Number Placeholder 4"/>
          <p:cNvSpPr>
            <a:spLocks noGrp="1"/>
          </p:cNvSpPr>
          <p:nvPr>
            <p:ph type="sldNum" sz="quarter" idx="12"/>
          </p:nvPr>
        </p:nvSpPr>
        <p:spPr/>
        <p:txBody>
          <a:bodyPr>
            <a:normAutofit/>
          </a:bodyPr>
          <a:lstStyle/>
          <a:p>
            <a:pPr>
              <a:spcAft>
                <a:spcPts val="600"/>
              </a:spcAft>
            </a:pPr>
            <a:fld id="{AD9F5C5F-4392-49C5-81DD-37F176609E69}" type="slidenum">
              <a:rPr lang="cs-CZ" smtClean="0"/>
              <a:pPr>
                <a:spcAft>
                  <a:spcPts val="600"/>
                </a:spcAft>
              </a:pPr>
              <a:t>177</a:t>
            </a:fld>
            <a:endParaRPr lang="cs-CZ"/>
          </a:p>
        </p:txBody>
      </p:sp>
    </p:spTree>
    <p:extLst>
      <p:ext uri="{BB962C8B-B14F-4D97-AF65-F5344CB8AC3E}">
        <p14:creationId xmlns:p14="http://schemas.microsoft.com/office/powerpoint/2010/main" val="1420217953"/>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7546531-30EA-5740-91D8-A3A80F479383}"/>
              </a:ext>
            </a:extLst>
          </p:cNvPr>
          <p:cNvSpPr>
            <a:spLocks noGrp="1"/>
          </p:cNvSpPr>
          <p:nvPr>
            <p:ph type="title"/>
          </p:nvPr>
        </p:nvSpPr>
        <p:spPr>
          <a:xfrm>
            <a:off x="7320466" y="609600"/>
            <a:ext cx="4140014" cy="1330839"/>
          </a:xfrm>
        </p:spPr>
        <p:txBody>
          <a:bodyPr>
            <a:normAutofit/>
          </a:bodyPr>
          <a:lstStyle/>
          <a:p>
            <a:r>
              <a:rPr lang="en-US" b="1" err="1"/>
              <a:t>Chyba</a:t>
            </a:r>
            <a:r>
              <a:rPr lang="en-US" b="1"/>
              <a:t> WPS</a:t>
            </a:r>
          </a:p>
        </p:txBody>
      </p:sp>
      <p:sp>
        <p:nvSpPr>
          <p:cNvPr id="3" name="Zástupný obsah 2">
            <a:extLst>
              <a:ext uri="{FF2B5EF4-FFF2-40B4-BE49-F238E27FC236}">
                <a16:creationId xmlns:a16="http://schemas.microsoft.com/office/drawing/2014/main" id="{3614D00D-363E-456F-1EB2-8E4A6565DC3B}"/>
              </a:ext>
            </a:extLst>
          </p:cNvPr>
          <p:cNvSpPr>
            <a:spLocks noGrp="1"/>
          </p:cNvSpPr>
          <p:nvPr>
            <p:ph idx="1"/>
          </p:nvPr>
        </p:nvSpPr>
        <p:spPr>
          <a:xfrm>
            <a:off x="7320465" y="2194102"/>
            <a:ext cx="4140013" cy="3908586"/>
          </a:xfrm>
        </p:spPr>
        <p:txBody>
          <a:bodyPr>
            <a:normAutofit/>
          </a:bodyPr>
          <a:lstStyle/>
          <a:p>
            <a:r>
              <a:rPr lang="en-US" sz="2000"/>
              <a:t>Wi-Fi Protected Setup (WPS) </a:t>
            </a:r>
            <a:r>
              <a:rPr lang="en-US" sz="2000" err="1"/>
              <a:t>měl</a:t>
            </a:r>
            <a:r>
              <a:rPr lang="en-US" sz="2000"/>
              <a:t> </a:t>
            </a:r>
            <a:r>
              <a:rPr lang="en-US" sz="2000" err="1"/>
              <a:t>uživatelům</a:t>
            </a:r>
            <a:r>
              <a:rPr lang="en-US" sz="2000"/>
              <a:t> </a:t>
            </a:r>
            <a:r>
              <a:rPr lang="en-US" sz="2000" err="1"/>
              <a:t>usnadnit</a:t>
            </a:r>
            <a:r>
              <a:rPr lang="en-US" sz="2000"/>
              <a:t> </a:t>
            </a:r>
            <a:r>
              <a:rPr lang="en-US" sz="2000" err="1"/>
              <a:t>připojování</a:t>
            </a:r>
            <a:r>
              <a:rPr lang="en-US" sz="2000"/>
              <a:t> </a:t>
            </a:r>
            <a:r>
              <a:rPr lang="en-US" sz="2000" err="1"/>
              <a:t>nových</a:t>
            </a:r>
            <a:r>
              <a:rPr lang="en-US" sz="2000"/>
              <a:t> </a:t>
            </a:r>
            <a:r>
              <a:rPr lang="en-US" sz="2000" err="1"/>
              <a:t>počítačových</a:t>
            </a:r>
            <a:r>
              <a:rPr lang="cs-CZ" sz="2000"/>
              <a:t> </a:t>
            </a:r>
            <a:r>
              <a:rPr lang="en-US" sz="2000" err="1"/>
              <a:t>systémů</a:t>
            </a:r>
            <a:r>
              <a:rPr lang="en-US" sz="2000"/>
              <a:t> k </a:t>
            </a:r>
            <a:r>
              <a:rPr lang="en-US" sz="2000" err="1"/>
              <a:t>jejich</a:t>
            </a:r>
            <a:r>
              <a:rPr lang="en-US" sz="2000"/>
              <a:t> Wi-Fi </a:t>
            </a:r>
            <a:r>
              <a:rPr lang="en-US" sz="2000" err="1"/>
              <a:t>sítím</a:t>
            </a:r>
            <a:r>
              <a:rPr lang="en-US" sz="2000"/>
              <a:t>. </a:t>
            </a:r>
            <a:endParaRPr lang="cs-CZ" sz="2000"/>
          </a:p>
          <a:p>
            <a:r>
              <a:rPr lang="en-US" sz="2000"/>
              <a:t>Pro </a:t>
            </a:r>
            <a:r>
              <a:rPr lang="en-US" sz="2000" err="1"/>
              <a:t>připojení</a:t>
            </a:r>
            <a:r>
              <a:rPr lang="en-US" sz="2000"/>
              <a:t> </a:t>
            </a:r>
            <a:r>
              <a:rPr lang="en-US" sz="2000" err="1"/>
              <a:t>nového</a:t>
            </a:r>
            <a:r>
              <a:rPr lang="en-US" sz="2000"/>
              <a:t> </a:t>
            </a:r>
            <a:r>
              <a:rPr lang="en-US" sz="2000" err="1"/>
              <a:t>počítačového</a:t>
            </a:r>
            <a:r>
              <a:rPr lang="en-US" sz="2000"/>
              <a:t> </a:t>
            </a:r>
            <a:r>
              <a:rPr lang="en-US" sz="2000" err="1"/>
              <a:t>systému</a:t>
            </a:r>
            <a:r>
              <a:rPr lang="en-US" sz="2000"/>
              <a:t> k </a:t>
            </a:r>
            <a:r>
              <a:rPr lang="en-US" sz="2000" err="1"/>
              <a:t>síti</a:t>
            </a:r>
            <a:r>
              <a:rPr lang="en-US" sz="2000"/>
              <a:t> je v </a:t>
            </a:r>
            <a:r>
              <a:rPr lang="en-US" sz="2000" err="1"/>
              <a:t>rámci</a:t>
            </a:r>
            <a:r>
              <a:rPr lang="cs-CZ" sz="2000"/>
              <a:t> </a:t>
            </a:r>
            <a:r>
              <a:rPr lang="en-US" sz="2000"/>
              <a:t>WPS </a:t>
            </a:r>
            <a:r>
              <a:rPr lang="en-US" sz="2000" err="1"/>
              <a:t>třeba</a:t>
            </a:r>
            <a:r>
              <a:rPr lang="en-US" sz="2000"/>
              <a:t> </a:t>
            </a:r>
            <a:r>
              <a:rPr lang="en-US" sz="2000" err="1"/>
              <a:t>zadat</a:t>
            </a:r>
            <a:r>
              <a:rPr lang="en-US" sz="2000"/>
              <a:t> </a:t>
            </a:r>
            <a:r>
              <a:rPr lang="en-US" sz="2000" err="1"/>
              <a:t>speciální</a:t>
            </a:r>
            <a:r>
              <a:rPr lang="en-US" sz="2000"/>
              <a:t> </a:t>
            </a:r>
            <a:r>
              <a:rPr lang="en-US" sz="2000" err="1"/>
              <a:t>osmimístný</a:t>
            </a:r>
            <a:r>
              <a:rPr lang="en-US" sz="2000"/>
              <a:t> PIN, </a:t>
            </a:r>
            <a:r>
              <a:rPr lang="en-US" sz="2000" err="1"/>
              <a:t>který</a:t>
            </a:r>
            <a:r>
              <a:rPr lang="en-US" sz="2000"/>
              <a:t> je </a:t>
            </a:r>
            <a:r>
              <a:rPr lang="en-US" sz="2000" err="1"/>
              <a:t>možné</a:t>
            </a:r>
            <a:r>
              <a:rPr lang="en-US" sz="2000"/>
              <a:t> </a:t>
            </a:r>
            <a:r>
              <a:rPr lang="en-US" sz="2000" err="1"/>
              <a:t>nalézt</a:t>
            </a:r>
            <a:r>
              <a:rPr lang="en-US" sz="2000"/>
              <a:t> </a:t>
            </a:r>
            <a:r>
              <a:rPr lang="en-US" sz="2000" err="1"/>
              <a:t>na</a:t>
            </a:r>
            <a:r>
              <a:rPr lang="en-US" sz="2000"/>
              <a:t> </a:t>
            </a:r>
            <a:r>
              <a:rPr lang="en-US" sz="2000" err="1"/>
              <a:t>routeru</a:t>
            </a:r>
            <a:r>
              <a:rPr lang="en-US" sz="2000"/>
              <a:t>.</a:t>
            </a:r>
          </a:p>
        </p:txBody>
      </p:sp>
      <p:sp>
        <p:nvSpPr>
          <p:cNvPr id="4" name="Zástupný symbol pro datum 3">
            <a:extLst>
              <a:ext uri="{FF2B5EF4-FFF2-40B4-BE49-F238E27FC236}">
                <a16:creationId xmlns:a16="http://schemas.microsoft.com/office/drawing/2014/main" id="{8B45B4E2-5023-7BED-B5EE-E9A51D53652F}"/>
              </a:ext>
            </a:extLst>
          </p:cNvPr>
          <p:cNvSpPr>
            <a:spLocks noGrp="1"/>
          </p:cNvSpPr>
          <p:nvPr>
            <p:ph type="dt" sz="half" idx="10"/>
          </p:nvPr>
        </p:nvSpPr>
        <p:spPr/>
        <p:txBody>
          <a:bodyPr>
            <a:normAutofit/>
          </a:bodyPr>
          <a:lstStyle/>
          <a:p>
            <a:pPr>
              <a:spcAft>
                <a:spcPts val="600"/>
              </a:spcAft>
            </a:pPr>
            <a:r>
              <a:rPr lang="cs-CZ" sz="1000">
                <a:solidFill>
                  <a:srgbClr val="FFFFFF"/>
                </a:solidFill>
              </a:rPr>
              <a:t>18.8.2022</a:t>
            </a:r>
          </a:p>
        </p:txBody>
      </p:sp>
      <p:sp>
        <p:nvSpPr>
          <p:cNvPr id="5" name="Zástupný symbol pro číslo snímku 4">
            <a:extLst>
              <a:ext uri="{FF2B5EF4-FFF2-40B4-BE49-F238E27FC236}">
                <a16:creationId xmlns:a16="http://schemas.microsoft.com/office/drawing/2014/main" id="{C83F472C-356B-480C-E364-CE3C67DE4B97}"/>
              </a:ext>
            </a:extLst>
          </p:cNvPr>
          <p:cNvSpPr>
            <a:spLocks noGrp="1"/>
          </p:cNvSpPr>
          <p:nvPr>
            <p:ph type="sldNum" sz="quarter" idx="12"/>
          </p:nvPr>
        </p:nvSpPr>
        <p:spPr/>
        <p:txBody>
          <a:bodyPr>
            <a:normAutofit/>
          </a:bodyPr>
          <a:lstStyle/>
          <a:p>
            <a:pPr>
              <a:spcAft>
                <a:spcPts val="600"/>
              </a:spcAft>
            </a:pPr>
            <a:fld id="{AD9F5C5F-4392-49C5-81DD-37F176609E69}" type="slidenum">
              <a:rPr lang="cs-CZ" sz="1000">
                <a:solidFill>
                  <a:schemeClr val="tx1">
                    <a:lumMod val="50000"/>
                    <a:lumOff val="50000"/>
                  </a:schemeClr>
                </a:solidFill>
              </a:rPr>
              <a:pPr>
                <a:spcAft>
                  <a:spcPts val="600"/>
                </a:spcAft>
              </a:pPr>
              <a:t>178</a:t>
            </a:fld>
            <a:endParaRPr lang="cs-CZ" sz="1000">
              <a:solidFill>
                <a:schemeClr val="tx1">
                  <a:lumMod val="50000"/>
                  <a:lumOff val="50000"/>
                </a:schemeClr>
              </a:solidFill>
            </a:endParaRPr>
          </a:p>
        </p:txBody>
      </p:sp>
      <p:pic>
        <p:nvPicPr>
          <p:cNvPr id="7" name="Picture 6" descr="Ethernetové kabely připojené k síťovým rozhraním">
            <a:extLst>
              <a:ext uri="{FF2B5EF4-FFF2-40B4-BE49-F238E27FC236}">
                <a16:creationId xmlns:a16="http://schemas.microsoft.com/office/drawing/2014/main" id="{15E4152B-89DD-FC2C-A4A6-454E2B8E7470}"/>
              </a:ext>
            </a:extLst>
          </p:cNvPr>
          <p:cNvPicPr>
            <a:picLocks noChangeAspect="1"/>
          </p:cNvPicPr>
          <p:nvPr/>
        </p:nvPicPr>
        <p:blipFill rotWithShape="1">
          <a:blip r:embed="rId2"/>
          <a:srcRect t="633" r="-2" b="-2"/>
          <a:stretch/>
        </p:blipFill>
        <p:spPr>
          <a:xfrm>
            <a:off x="20" y="10"/>
            <a:ext cx="6901711" cy="6857990"/>
          </a:xfrm>
          <a:custGeom>
            <a:avLst/>
            <a:gdLst/>
            <a:ahLst/>
            <a:cxnLst/>
            <a:rect l="l" t="t" r="r" b="b"/>
            <a:pathLst>
              <a:path w="6901731" h="6858000">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p:spPr>
      </p:pic>
    </p:spTree>
    <p:extLst>
      <p:ext uri="{BB962C8B-B14F-4D97-AF65-F5344CB8AC3E}">
        <p14:creationId xmlns:p14="http://schemas.microsoft.com/office/powerpoint/2010/main" val="3431753659"/>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Obrázek 8" descr="Obsah obrázku text&#10;&#10;Popis byl vytvořen automaticky">
            <a:extLst>
              <a:ext uri="{FF2B5EF4-FFF2-40B4-BE49-F238E27FC236}">
                <a16:creationId xmlns:a16="http://schemas.microsoft.com/office/drawing/2014/main" id="{E0507043-A845-B8D4-C0FE-EA988DB475DD}"/>
              </a:ext>
            </a:extLst>
          </p:cNvPr>
          <p:cNvPicPr>
            <a:picLocks noChangeAspect="1"/>
          </p:cNvPicPr>
          <p:nvPr/>
        </p:nvPicPr>
        <p:blipFill>
          <a:blip r:embed="rId2"/>
          <a:stretch>
            <a:fillRect/>
          </a:stretch>
        </p:blipFill>
        <p:spPr>
          <a:xfrm>
            <a:off x="2760032" y="643466"/>
            <a:ext cx="6671935" cy="5571067"/>
          </a:xfrm>
          <a:prstGeom prst="rect">
            <a:avLst/>
          </a:prstGeom>
        </p:spPr>
      </p:pic>
      <p:sp>
        <p:nvSpPr>
          <p:cNvPr id="4" name="Zástupný symbol pro datum 3">
            <a:extLst>
              <a:ext uri="{FF2B5EF4-FFF2-40B4-BE49-F238E27FC236}">
                <a16:creationId xmlns:a16="http://schemas.microsoft.com/office/drawing/2014/main" id="{FC19E063-B10F-962D-E4D9-B9CCC7FFF984}"/>
              </a:ext>
            </a:extLst>
          </p:cNvPr>
          <p:cNvSpPr>
            <a:spLocks noGrp="1"/>
          </p:cNvSpPr>
          <p:nvPr>
            <p:ph type="dt" sz="half" idx="10"/>
          </p:nvPr>
        </p:nvSpPr>
        <p:spPr/>
        <p:txBody>
          <a:bodyPr vert="horz" lIns="91440" tIns="45720" rIns="91440" bIns="45720" rtlCol="0" anchor="ctr">
            <a:normAutofit/>
          </a:bodyPr>
          <a:lstStyle/>
          <a:p>
            <a:pPr>
              <a:spcAft>
                <a:spcPts val="600"/>
              </a:spcAft>
            </a:pPr>
            <a:r>
              <a:rPr lang="en-US"/>
              <a:t>18.8.2022</a:t>
            </a:r>
          </a:p>
        </p:txBody>
      </p:sp>
      <p:sp>
        <p:nvSpPr>
          <p:cNvPr id="5" name="Zástupný symbol pro číslo snímku 4">
            <a:extLst>
              <a:ext uri="{FF2B5EF4-FFF2-40B4-BE49-F238E27FC236}">
                <a16:creationId xmlns:a16="http://schemas.microsoft.com/office/drawing/2014/main" id="{B9E474FD-BE0F-D0EE-7EA7-0CEED111245B}"/>
              </a:ext>
            </a:extLst>
          </p:cNvPr>
          <p:cNvSpPr>
            <a:spLocks noGrp="1"/>
          </p:cNvSpPr>
          <p:nvPr>
            <p:ph type="sldNum" sz="quarter" idx="12"/>
          </p:nvPr>
        </p:nvSpPr>
        <p:spPr/>
        <p:txBody>
          <a:bodyPr vert="horz" lIns="91440" tIns="45720" rIns="91440" bIns="45720" rtlCol="0" anchor="ctr">
            <a:normAutofit/>
          </a:bodyPr>
          <a:lstStyle/>
          <a:p>
            <a:pPr>
              <a:spcAft>
                <a:spcPts val="600"/>
              </a:spcAft>
            </a:pPr>
            <a:fld id="{AD9F5C5F-4392-49C5-81DD-37F176609E69}" type="slidenum">
              <a:rPr lang="en-US" smtClean="0"/>
              <a:pPr>
                <a:spcAft>
                  <a:spcPts val="600"/>
                </a:spcAft>
              </a:pPr>
              <a:t>179</a:t>
            </a:fld>
            <a:endParaRPr lang="en-US"/>
          </a:p>
        </p:txBody>
      </p:sp>
    </p:spTree>
    <p:extLst>
      <p:ext uri="{BB962C8B-B14F-4D97-AF65-F5344CB8AC3E}">
        <p14:creationId xmlns:p14="http://schemas.microsoft.com/office/powerpoint/2010/main" val="1915140110"/>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187987A-1C53-0479-27F4-48F3720D3434}"/>
              </a:ext>
            </a:extLst>
          </p:cNvPr>
          <p:cNvSpPr>
            <a:spLocks noGrp="1"/>
          </p:cNvSpPr>
          <p:nvPr>
            <p:ph type="title"/>
          </p:nvPr>
        </p:nvSpPr>
        <p:spPr/>
        <p:txBody>
          <a:bodyPr/>
          <a:lstStyle/>
          <a:p>
            <a:r>
              <a:rPr lang="en-US" b="1"/>
              <a:t>Chyba WPS</a:t>
            </a:r>
            <a:endParaRPr lang="en-US"/>
          </a:p>
        </p:txBody>
      </p:sp>
      <p:sp>
        <p:nvSpPr>
          <p:cNvPr id="3" name="Zástupný obsah 2">
            <a:extLst>
              <a:ext uri="{FF2B5EF4-FFF2-40B4-BE49-F238E27FC236}">
                <a16:creationId xmlns:a16="http://schemas.microsoft.com/office/drawing/2014/main" id="{42AC6EEF-7E2B-FE81-8F9B-00D6F026A0B5}"/>
              </a:ext>
            </a:extLst>
          </p:cNvPr>
          <p:cNvSpPr>
            <a:spLocks noGrp="1"/>
          </p:cNvSpPr>
          <p:nvPr>
            <p:ph idx="1"/>
          </p:nvPr>
        </p:nvSpPr>
        <p:spPr/>
        <p:txBody>
          <a:bodyPr>
            <a:normAutofit lnSpcReduction="10000"/>
          </a:bodyPr>
          <a:lstStyle/>
          <a:p>
            <a:r>
              <a:rPr lang="en-US" err="1"/>
              <a:t>Problém</a:t>
            </a:r>
            <a:r>
              <a:rPr lang="en-US"/>
              <a:t> WPS je, </a:t>
            </a:r>
            <a:r>
              <a:rPr lang="en-US" err="1"/>
              <a:t>že</a:t>
            </a:r>
            <a:r>
              <a:rPr lang="en-US"/>
              <a:t> </a:t>
            </a:r>
            <a:r>
              <a:rPr lang="en-US" err="1"/>
              <a:t>ačkoliv</a:t>
            </a:r>
            <a:r>
              <a:rPr lang="en-US"/>
              <a:t> WPS </a:t>
            </a:r>
            <a:r>
              <a:rPr lang="en-US" err="1"/>
              <a:t>používá</a:t>
            </a:r>
            <a:r>
              <a:rPr lang="en-US"/>
              <a:t> </a:t>
            </a:r>
            <a:r>
              <a:rPr lang="en-US" err="1"/>
              <a:t>unikátní</a:t>
            </a:r>
            <a:r>
              <a:rPr lang="en-US"/>
              <a:t> 8 </a:t>
            </a:r>
            <a:r>
              <a:rPr lang="en-US" err="1"/>
              <a:t>místný</a:t>
            </a:r>
            <a:r>
              <a:rPr lang="en-US"/>
              <a:t> PIN, </a:t>
            </a:r>
            <a:r>
              <a:rPr lang="en-US" err="1"/>
              <a:t>samotný</a:t>
            </a:r>
            <a:r>
              <a:rPr lang="en-US"/>
              <a:t> </a:t>
            </a:r>
            <a:r>
              <a:rPr lang="en-US" err="1"/>
              <a:t>systém</a:t>
            </a:r>
            <a:r>
              <a:rPr lang="en-US"/>
              <a:t> WPS</a:t>
            </a:r>
            <a:r>
              <a:rPr lang="cs-CZ"/>
              <a:t> </a:t>
            </a:r>
            <a:r>
              <a:rPr lang="en-US" err="1"/>
              <a:t>část</a:t>
            </a:r>
            <a:r>
              <a:rPr lang="en-US"/>
              <a:t> </a:t>
            </a:r>
            <a:r>
              <a:rPr lang="en-US" err="1"/>
              <a:t>tohoto</a:t>
            </a:r>
            <a:r>
              <a:rPr lang="en-US"/>
              <a:t> </a:t>
            </a:r>
            <a:r>
              <a:rPr lang="en-US" err="1"/>
              <a:t>PINu</a:t>
            </a:r>
            <a:r>
              <a:rPr lang="en-US"/>
              <a:t> </a:t>
            </a:r>
            <a:r>
              <a:rPr lang="en-US" err="1"/>
              <a:t>prozrazuje</a:t>
            </a:r>
            <a:endParaRPr lang="cs-CZ"/>
          </a:p>
          <a:p>
            <a:r>
              <a:rPr lang="en-US"/>
              <a:t>V </a:t>
            </a:r>
            <a:r>
              <a:rPr lang="en-US" err="1"/>
              <a:t>případě</a:t>
            </a:r>
            <a:r>
              <a:rPr lang="en-US"/>
              <a:t>, </a:t>
            </a:r>
            <a:r>
              <a:rPr lang="en-US" err="1"/>
              <a:t>kdy</a:t>
            </a:r>
            <a:r>
              <a:rPr lang="en-US"/>
              <a:t> router </a:t>
            </a:r>
            <a:r>
              <a:rPr lang="en-US" err="1"/>
              <a:t>posílá</a:t>
            </a:r>
            <a:r>
              <a:rPr lang="en-US"/>
              <a:t> </a:t>
            </a:r>
            <a:r>
              <a:rPr lang="en-US" err="1"/>
              <a:t>zamítavou</a:t>
            </a:r>
            <a:r>
              <a:rPr lang="en-US"/>
              <a:t> </a:t>
            </a:r>
            <a:r>
              <a:rPr lang="en-US" err="1"/>
              <a:t>odpověď</a:t>
            </a:r>
            <a:r>
              <a:rPr lang="en-US"/>
              <a:t>, </a:t>
            </a:r>
            <a:r>
              <a:rPr lang="en-US" err="1"/>
              <a:t>totiž</a:t>
            </a:r>
            <a:r>
              <a:rPr lang="en-US"/>
              <a:t> </a:t>
            </a:r>
            <a:r>
              <a:rPr lang="en-US" err="1"/>
              <a:t>přidá</a:t>
            </a:r>
            <a:r>
              <a:rPr lang="en-US"/>
              <a:t> do </a:t>
            </a:r>
            <a:r>
              <a:rPr lang="en-US" err="1"/>
              <a:t>této</a:t>
            </a:r>
            <a:r>
              <a:rPr lang="en-US"/>
              <a:t> </a:t>
            </a:r>
            <a:r>
              <a:rPr lang="en-US" err="1"/>
              <a:t>odpovědi</a:t>
            </a:r>
            <a:r>
              <a:rPr lang="en-US"/>
              <a:t> </a:t>
            </a:r>
            <a:r>
              <a:rPr lang="en-US" err="1"/>
              <a:t>informaci</a:t>
            </a:r>
            <a:r>
              <a:rPr lang="en-US"/>
              <a:t>,</a:t>
            </a:r>
            <a:r>
              <a:rPr lang="cs-CZ"/>
              <a:t> </a:t>
            </a:r>
            <a:r>
              <a:rPr lang="en-US" err="1"/>
              <a:t>zda</a:t>
            </a:r>
            <a:r>
              <a:rPr lang="en-US"/>
              <a:t> </a:t>
            </a:r>
            <a:r>
              <a:rPr lang="en-US" err="1"/>
              <a:t>náhodou</a:t>
            </a:r>
            <a:r>
              <a:rPr lang="en-US"/>
              <a:t> </a:t>
            </a:r>
            <a:r>
              <a:rPr lang="en-US" err="1"/>
              <a:t>nebyla</a:t>
            </a:r>
            <a:r>
              <a:rPr lang="en-US"/>
              <a:t> </a:t>
            </a:r>
            <a:r>
              <a:rPr lang="en-US" err="1"/>
              <a:t>první</a:t>
            </a:r>
            <a:r>
              <a:rPr lang="en-US"/>
              <a:t> </a:t>
            </a:r>
            <a:r>
              <a:rPr lang="en-US" err="1"/>
              <a:t>či</a:t>
            </a:r>
            <a:r>
              <a:rPr lang="en-US"/>
              <a:t> </a:t>
            </a:r>
            <a:r>
              <a:rPr lang="en-US" err="1"/>
              <a:t>druhá</a:t>
            </a:r>
            <a:r>
              <a:rPr lang="en-US"/>
              <a:t> </a:t>
            </a:r>
            <a:r>
              <a:rPr lang="en-US" err="1"/>
              <a:t>část</a:t>
            </a:r>
            <a:r>
              <a:rPr lang="en-US"/>
              <a:t> </a:t>
            </a:r>
            <a:r>
              <a:rPr lang="en-US" err="1"/>
              <a:t>PINu</a:t>
            </a:r>
            <a:r>
              <a:rPr lang="en-US"/>
              <a:t> </a:t>
            </a:r>
            <a:r>
              <a:rPr lang="en-US" err="1"/>
              <a:t>správně</a:t>
            </a:r>
            <a:r>
              <a:rPr lang="en-US"/>
              <a:t>.</a:t>
            </a:r>
            <a:endParaRPr lang="cs-CZ"/>
          </a:p>
          <a:p>
            <a:r>
              <a:rPr lang="en-US" err="1"/>
              <a:t>Zároveň</a:t>
            </a:r>
            <a:r>
              <a:rPr lang="en-US"/>
              <a:t> </a:t>
            </a:r>
            <a:r>
              <a:rPr lang="en-US" err="1"/>
              <a:t>poslední</a:t>
            </a:r>
            <a:r>
              <a:rPr lang="en-US"/>
              <a:t> </a:t>
            </a:r>
            <a:r>
              <a:rPr lang="en-US" err="1"/>
              <a:t>číslo</a:t>
            </a:r>
            <a:r>
              <a:rPr lang="en-US"/>
              <a:t> v </a:t>
            </a:r>
            <a:r>
              <a:rPr lang="en-US" err="1"/>
              <a:t>PINu</a:t>
            </a:r>
            <a:r>
              <a:rPr lang="cs-CZ"/>
              <a:t> </a:t>
            </a:r>
            <a:r>
              <a:rPr lang="en-US" err="1"/>
              <a:t>představuje</a:t>
            </a:r>
            <a:r>
              <a:rPr lang="en-US"/>
              <a:t> </a:t>
            </a:r>
            <a:r>
              <a:rPr lang="en-US" err="1"/>
              <a:t>kontrolní</a:t>
            </a:r>
            <a:r>
              <a:rPr lang="en-US"/>
              <a:t> </a:t>
            </a:r>
            <a:r>
              <a:rPr lang="en-US" err="1"/>
              <a:t>součet</a:t>
            </a:r>
            <a:r>
              <a:rPr lang="en-US"/>
              <a:t>.</a:t>
            </a:r>
            <a:endParaRPr lang="cs-CZ"/>
          </a:p>
          <a:p>
            <a:r>
              <a:rPr lang="en-US" err="1"/>
              <a:t>Útočníkovi</a:t>
            </a:r>
            <a:r>
              <a:rPr lang="en-US"/>
              <a:t> pro </a:t>
            </a:r>
            <a:r>
              <a:rPr lang="en-US" err="1"/>
              <a:t>prolomení</a:t>
            </a:r>
            <a:r>
              <a:rPr lang="en-US"/>
              <a:t> WPS </a:t>
            </a:r>
            <a:r>
              <a:rPr lang="en-US" err="1"/>
              <a:t>stačí</a:t>
            </a:r>
            <a:r>
              <a:rPr lang="en-US"/>
              <a:t> </a:t>
            </a:r>
            <a:r>
              <a:rPr lang="en-US" err="1"/>
              <a:t>uhodnout</a:t>
            </a:r>
            <a:r>
              <a:rPr lang="en-US"/>
              <a:t> </a:t>
            </a:r>
            <a:r>
              <a:rPr lang="en-US" err="1"/>
              <a:t>první</a:t>
            </a:r>
            <a:r>
              <a:rPr lang="en-US"/>
              <a:t> 4 a </a:t>
            </a:r>
            <a:r>
              <a:rPr lang="en-US" err="1"/>
              <a:t>pak</a:t>
            </a:r>
            <a:r>
              <a:rPr lang="cs-CZ"/>
              <a:t> </a:t>
            </a:r>
          </a:p>
          <a:p>
            <a:r>
              <a:rPr lang="en-US" err="1"/>
              <a:t>další</a:t>
            </a:r>
            <a:r>
              <a:rPr lang="en-US"/>
              <a:t> 3 </a:t>
            </a:r>
            <a:r>
              <a:rPr lang="en-US" err="1"/>
              <a:t>číslice</a:t>
            </a:r>
            <a:r>
              <a:rPr lang="en-US"/>
              <a:t>. Tato </a:t>
            </a:r>
            <a:r>
              <a:rPr lang="en-US" err="1"/>
              <a:t>skutečnost</a:t>
            </a:r>
            <a:r>
              <a:rPr lang="en-US"/>
              <a:t> </a:t>
            </a:r>
            <a:r>
              <a:rPr lang="en-US" err="1"/>
              <a:t>významně</a:t>
            </a:r>
            <a:r>
              <a:rPr lang="en-US"/>
              <a:t> </a:t>
            </a:r>
            <a:r>
              <a:rPr lang="en-US" err="1"/>
              <a:t>zmenšuje</a:t>
            </a:r>
            <a:r>
              <a:rPr lang="en-US"/>
              <a:t> </a:t>
            </a:r>
            <a:r>
              <a:rPr lang="en-US" err="1"/>
              <a:t>množství</a:t>
            </a:r>
            <a:r>
              <a:rPr lang="en-US"/>
              <a:t> </a:t>
            </a:r>
            <a:r>
              <a:rPr lang="en-US" err="1"/>
              <a:t>kombinací</a:t>
            </a:r>
            <a:r>
              <a:rPr lang="en-US"/>
              <a:t> a </a:t>
            </a:r>
            <a:r>
              <a:rPr lang="en-US" err="1"/>
              <a:t>pokusů</a:t>
            </a:r>
            <a:r>
              <a:rPr lang="en-US"/>
              <a:t> </a:t>
            </a:r>
            <a:r>
              <a:rPr lang="en-US" err="1"/>
              <a:t>nutných</a:t>
            </a:r>
            <a:r>
              <a:rPr lang="cs-CZ"/>
              <a:t> </a:t>
            </a:r>
            <a:r>
              <a:rPr lang="en-US"/>
              <a:t>pro </a:t>
            </a:r>
            <a:r>
              <a:rPr lang="en-US" err="1"/>
              <a:t>prolomení</a:t>
            </a:r>
            <a:r>
              <a:rPr lang="en-US"/>
              <a:t> </a:t>
            </a:r>
            <a:r>
              <a:rPr lang="en-US" err="1"/>
              <a:t>zabezpečení</a:t>
            </a:r>
            <a:r>
              <a:rPr lang="en-US"/>
              <a:t>, ze </a:t>
            </a:r>
            <a:r>
              <a:rPr lang="en-US" err="1"/>
              <a:t>zhruba</a:t>
            </a:r>
            <a:r>
              <a:rPr lang="en-US"/>
              <a:t> 100 000 000 </a:t>
            </a:r>
            <a:r>
              <a:rPr lang="en-US" err="1"/>
              <a:t>na</a:t>
            </a:r>
            <a:r>
              <a:rPr lang="en-US"/>
              <a:t> 20 000.</a:t>
            </a:r>
          </a:p>
        </p:txBody>
      </p:sp>
      <p:sp>
        <p:nvSpPr>
          <p:cNvPr id="4" name="Zástupný symbol pro datum 3">
            <a:extLst>
              <a:ext uri="{FF2B5EF4-FFF2-40B4-BE49-F238E27FC236}">
                <a16:creationId xmlns:a16="http://schemas.microsoft.com/office/drawing/2014/main" id="{C54FF238-A4A4-6DE4-E493-4505BF9B7CBB}"/>
              </a:ext>
            </a:extLst>
          </p:cNvPr>
          <p:cNvSpPr>
            <a:spLocks noGrp="1"/>
          </p:cNvSpPr>
          <p:nvPr>
            <p:ph type="dt" sz="half" idx="10"/>
          </p:nvPr>
        </p:nvSpPr>
        <p:spPr/>
        <p:txBody>
          <a:bodyPr/>
          <a:lstStyle/>
          <a:p>
            <a:r>
              <a:rPr lang="cs-CZ"/>
              <a:t>18.8.2022</a:t>
            </a:r>
          </a:p>
        </p:txBody>
      </p:sp>
      <p:sp>
        <p:nvSpPr>
          <p:cNvPr id="5" name="Zástupný symbol pro číslo snímku 4">
            <a:extLst>
              <a:ext uri="{FF2B5EF4-FFF2-40B4-BE49-F238E27FC236}">
                <a16:creationId xmlns:a16="http://schemas.microsoft.com/office/drawing/2014/main" id="{9D94D1B3-D331-3D1D-FE0A-3619646EB447}"/>
              </a:ext>
            </a:extLst>
          </p:cNvPr>
          <p:cNvSpPr>
            <a:spLocks noGrp="1"/>
          </p:cNvSpPr>
          <p:nvPr>
            <p:ph type="sldNum" sz="quarter" idx="12"/>
          </p:nvPr>
        </p:nvSpPr>
        <p:spPr/>
        <p:txBody>
          <a:bodyPr/>
          <a:lstStyle/>
          <a:p>
            <a:fld id="{AD9F5C5F-4392-49C5-81DD-37F176609E69}" type="slidenum">
              <a:rPr lang="cs-CZ" smtClean="0"/>
              <a:t>180</a:t>
            </a:fld>
            <a:endParaRPr lang="cs-CZ"/>
          </a:p>
        </p:txBody>
      </p:sp>
    </p:spTree>
    <p:extLst>
      <p:ext uri="{BB962C8B-B14F-4D97-AF65-F5344CB8AC3E}">
        <p14:creationId xmlns:p14="http://schemas.microsoft.com/office/powerpoint/2010/main" val="2406575279"/>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8B4A5C7-D816-699C-0319-BF0ACA061009}"/>
              </a:ext>
            </a:extLst>
          </p:cNvPr>
          <p:cNvSpPr>
            <a:spLocks noGrp="1"/>
          </p:cNvSpPr>
          <p:nvPr>
            <p:ph type="title"/>
          </p:nvPr>
        </p:nvSpPr>
        <p:spPr>
          <a:xfrm>
            <a:off x="5297762" y="329184"/>
            <a:ext cx="6251110" cy="1783080"/>
          </a:xfrm>
        </p:spPr>
        <p:txBody>
          <a:bodyPr anchor="b">
            <a:normAutofit/>
          </a:bodyPr>
          <a:lstStyle/>
          <a:p>
            <a:r>
              <a:rPr lang="en-US" sz="5400" b="1"/>
              <a:t>Chyba WPS</a:t>
            </a:r>
            <a:endParaRPr lang="en-US" sz="5400"/>
          </a:p>
        </p:txBody>
      </p:sp>
      <p:sp>
        <p:nvSpPr>
          <p:cNvPr id="3" name="Zástupný obsah 2">
            <a:extLst>
              <a:ext uri="{FF2B5EF4-FFF2-40B4-BE49-F238E27FC236}">
                <a16:creationId xmlns:a16="http://schemas.microsoft.com/office/drawing/2014/main" id="{D177392F-B9C4-9FE4-D4A2-CB0DFA7BFB3F}"/>
              </a:ext>
            </a:extLst>
          </p:cNvPr>
          <p:cNvSpPr>
            <a:spLocks noGrp="1"/>
          </p:cNvSpPr>
          <p:nvPr>
            <p:ph idx="1"/>
          </p:nvPr>
        </p:nvSpPr>
        <p:spPr>
          <a:xfrm>
            <a:off x="5297762" y="2706624"/>
            <a:ext cx="6251110" cy="3483864"/>
          </a:xfrm>
        </p:spPr>
        <p:txBody>
          <a:bodyPr>
            <a:normAutofit/>
          </a:bodyPr>
          <a:lstStyle/>
          <a:p>
            <a:r>
              <a:rPr lang="en-US" sz="2200"/>
              <a:t>Jako protiopatření se doporučuje uživatelům deaktivovat WPS a výrobcům zavést nějakou</a:t>
            </a:r>
            <a:r>
              <a:rPr lang="cs-CZ" sz="2200"/>
              <a:t> </a:t>
            </a:r>
            <a:r>
              <a:rPr lang="en-US" sz="2200"/>
              <a:t>formu blokace po více nepodařených pokusech.</a:t>
            </a:r>
          </a:p>
        </p:txBody>
      </p:sp>
      <p:sp>
        <p:nvSpPr>
          <p:cNvPr id="4" name="Zástupný symbol pro datum 3">
            <a:extLst>
              <a:ext uri="{FF2B5EF4-FFF2-40B4-BE49-F238E27FC236}">
                <a16:creationId xmlns:a16="http://schemas.microsoft.com/office/drawing/2014/main" id="{DE9ACDE3-D5EE-D28F-8EBE-E8993D017F6B}"/>
              </a:ext>
            </a:extLst>
          </p:cNvPr>
          <p:cNvSpPr>
            <a:spLocks noGrp="1"/>
          </p:cNvSpPr>
          <p:nvPr>
            <p:ph type="dt" sz="half" idx="10"/>
          </p:nvPr>
        </p:nvSpPr>
        <p:spPr/>
        <p:txBody>
          <a:bodyPr>
            <a:normAutofit/>
          </a:bodyPr>
          <a:lstStyle/>
          <a:p>
            <a:pPr>
              <a:spcAft>
                <a:spcPts val="600"/>
              </a:spcAft>
            </a:pPr>
            <a:r>
              <a:rPr lang="cs-CZ">
                <a:solidFill>
                  <a:srgbClr val="FFFFFF"/>
                </a:solidFill>
              </a:rPr>
              <a:t>18.8.2022</a:t>
            </a:r>
          </a:p>
        </p:txBody>
      </p:sp>
      <p:sp>
        <p:nvSpPr>
          <p:cNvPr id="5" name="Zástupný symbol pro číslo snímku 4">
            <a:extLst>
              <a:ext uri="{FF2B5EF4-FFF2-40B4-BE49-F238E27FC236}">
                <a16:creationId xmlns:a16="http://schemas.microsoft.com/office/drawing/2014/main" id="{FC1F36FB-A7BE-98AC-FC82-981EC8A762BD}"/>
              </a:ext>
            </a:extLst>
          </p:cNvPr>
          <p:cNvSpPr>
            <a:spLocks noGrp="1"/>
          </p:cNvSpPr>
          <p:nvPr>
            <p:ph type="sldNum" sz="quarter" idx="12"/>
          </p:nvPr>
        </p:nvSpPr>
        <p:spPr>
          <a:xfrm>
            <a:off x="10052978" y="6356350"/>
            <a:ext cx="1300821" cy="365125"/>
          </a:xfrm>
        </p:spPr>
        <p:txBody>
          <a:bodyPr>
            <a:normAutofit/>
          </a:bodyPr>
          <a:lstStyle/>
          <a:p>
            <a:pPr>
              <a:spcAft>
                <a:spcPts val="600"/>
              </a:spcAft>
            </a:pPr>
            <a:fld id="{AD9F5C5F-4392-49C5-81DD-37F176609E69}" type="slidenum">
              <a:rPr lang="cs-CZ" smtClean="0"/>
              <a:pPr>
                <a:spcAft>
                  <a:spcPts val="600"/>
                </a:spcAft>
              </a:pPr>
              <a:t>181</a:t>
            </a:fld>
            <a:endParaRPr lang="cs-CZ"/>
          </a:p>
        </p:txBody>
      </p:sp>
      <p:pic>
        <p:nvPicPr>
          <p:cNvPr id="7" name="Picture 6" descr="Mnoho otazníků na černém pozadí">
            <a:extLst>
              <a:ext uri="{FF2B5EF4-FFF2-40B4-BE49-F238E27FC236}">
                <a16:creationId xmlns:a16="http://schemas.microsoft.com/office/drawing/2014/main" id="{C2911531-3E09-0A83-8423-437EBA6F728D}"/>
              </a:ext>
            </a:extLst>
          </p:cNvPr>
          <p:cNvPicPr>
            <a:picLocks noChangeAspect="1"/>
          </p:cNvPicPr>
          <p:nvPr/>
        </p:nvPicPr>
        <p:blipFill rotWithShape="1">
          <a:blip r:embed="rId2"/>
          <a:srcRect l="58573" r="2" b="2"/>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Tree>
    <p:extLst>
      <p:ext uri="{BB962C8B-B14F-4D97-AF65-F5344CB8AC3E}">
        <p14:creationId xmlns:p14="http://schemas.microsoft.com/office/powerpoint/2010/main" val="789125941"/>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26077B3-8D72-42D0-953C-6756607AA18A}"/>
              </a:ext>
            </a:extLst>
          </p:cNvPr>
          <p:cNvSpPr>
            <a:spLocks noGrp="1"/>
          </p:cNvSpPr>
          <p:nvPr>
            <p:ph type="title"/>
          </p:nvPr>
        </p:nvSpPr>
        <p:spPr/>
        <p:txBody>
          <a:bodyPr/>
          <a:lstStyle/>
          <a:p>
            <a:r>
              <a:rPr lang="en-US" b="1" err="1"/>
              <a:t>Technický</a:t>
            </a:r>
            <a:r>
              <a:rPr lang="en-US" b="1"/>
              <a:t> </a:t>
            </a:r>
            <a:r>
              <a:rPr lang="en-US" b="1" err="1"/>
              <a:t>útok</a:t>
            </a:r>
            <a:r>
              <a:rPr lang="en-US" b="1"/>
              <a:t> </a:t>
            </a:r>
            <a:r>
              <a:rPr lang="en-US" b="1" err="1"/>
              <a:t>spojený</a:t>
            </a:r>
            <a:r>
              <a:rPr lang="en-US" b="1"/>
              <a:t> se </a:t>
            </a:r>
            <a:r>
              <a:rPr lang="en-US" b="1" err="1"/>
              <a:t>sociálním</a:t>
            </a:r>
            <a:r>
              <a:rPr lang="en-US" b="1"/>
              <a:t> </a:t>
            </a:r>
            <a:r>
              <a:rPr lang="en-US" b="1" err="1"/>
              <a:t>inženýrstvím</a:t>
            </a:r>
            <a:endParaRPr lang="en-US" b="1"/>
          </a:p>
        </p:txBody>
      </p:sp>
      <p:sp>
        <p:nvSpPr>
          <p:cNvPr id="3" name="Zástupný obsah 2">
            <a:extLst>
              <a:ext uri="{FF2B5EF4-FFF2-40B4-BE49-F238E27FC236}">
                <a16:creationId xmlns:a16="http://schemas.microsoft.com/office/drawing/2014/main" id="{F407A88E-4C19-4CF3-0481-D05F12D7DE7C}"/>
              </a:ext>
            </a:extLst>
          </p:cNvPr>
          <p:cNvSpPr>
            <a:spLocks noGrp="1"/>
          </p:cNvSpPr>
          <p:nvPr>
            <p:ph idx="1"/>
          </p:nvPr>
        </p:nvSpPr>
        <p:spPr/>
        <p:txBody>
          <a:bodyPr>
            <a:normAutofit/>
          </a:bodyPr>
          <a:lstStyle/>
          <a:p>
            <a:r>
              <a:rPr lang="en-US"/>
              <a:t>V </a:t>
            </a:r>
            <a:r>
              <a:rPr lang="en-US" err="1"/>
              <a:t>případě</a:t>
            </a:r>
            <a:r>
              <a:rPr lang="en-US"/>
              <a:t> </a:t>
            </a:r>
            <a:r>
              <a:rPr lang="en-US" err="1"/>
              <a:t>tohoto</a:t>
            </a:r>
            <a:r>
              <a:rPr lang="en-US"/>
              <a:t> </a:t>
            </a:r>
            <a:r>
              <a:rPr lang="en-US" err="1"/>
              <a:t>útoku</a:t>
            </a:r>
            <a:r>
              <a:rPr lang="en-US"/>
              <a:t> se </a:t>
            </a:r>
            <a:r>
              <a:rPr lang="en-US" err="1"/>
              <a:t>jedná</a:t>
            </a:r>
            <a:r>
              <a:rPr lang="en-US"/>
              <a:t> o </a:t>
            </a:r>
            <a:r>
              <a:rPr lang="en-US" err="1"/>
              <a:t>modifikaci</a:t>
            </a:r>
            <a:r>
              <a:rPr lang="en-US"/>
              <a:t> </a:t>
            </a:r>
            <a:r>
              <a:rPr lang="en-US" err="1"/>
              <a:t>útoku</a:t>
            </a:r>
            <a:r>
              <a:rPr lang="en-US"/>
              <a:t> </a:t>
            </a:r>
            <a:r>
              <a:rPr lang="en-US" err="1"/>
              <a:t>známého</a:t>
            </a:r>
            <a:r>
              <a:rPr lang="en-US"/>
              <a:t> </a:t>
            </a:r>
            <a:r>
              <a:rPr lang="en-US" err="1"/>
              <a:t>jako</a:t>
            </a:r>
            <a:r>
              <a:rPr lang="en-US"/>
              <a:t> Evil Twin.</a:t>
            </a:r>
            <a:endParaRPr lang="cs-CZ"/>
          </a:p>
          <a:p>
            <a:r>
              <a:rPr lang="en-US" err="1"/>
              <a:t>Vlastní</a:t>
            </a:r>
            <a:r>
              <a:rPr lang="en-US"/>
              <a:t> </a:t>
            </a:r>
            <a:r>
              <a:rPr lang="en-US" err="1"/>
              <a:t>útok</a:t>
            </a:r>
            <a:r>
              <a:rPr lang="en-US"/>
              <a:t> je </a:t>
            </a:r>
            <a:r>
              <a:rPr lang="en-US" err="1"/>
              <a:t>proveden</a:t>
            </a:r>
            <a:r>
              <a:rPr lang="en-US"/>
              <a:t> </a:t>
            </a:r>
            <a:r>
              <a:rPr lang="en-US" err="1"/>
              <a:t>tak</a:t>
            </a:r>
            <a:r>
              <a:rPr lang="en-US"/>
              <a:t>, </a:t>
            </a:r>
            <a:r>
              <a:rPr lang="en-US" err="1"/>
              <a:t>že</a:t>
            </a:r>
            <a:r>
              <a:rPr lang="en-US"/>
              <a:t> </a:t>
            </a:r>
            <a:r>
              <a:rPr lang="en-US" err="1"/>
              <a:t>si</a:t>
            </a:r>
            <a:r>
              <a:rPr lang="en-US"/>
              <a:t> </a:t>
            </a:r>
            <a:r>
              <a:rPr lang="en-US" err="1"/>
              <a:t>útočník</a:t>
            </a:r>
            <a:r>
              <a:rPr lang="en-US"/>
              <a:t> </a:t>
            </a:r>
            <a:r>
              <a:rPr lang="en-US" err="1"/>
              <a:t>vytvoří</a:t>
            </a:r>
            <a:r>
              <a:rPr lang="en-US"/>
              <a:t> </a:t>
            </a:r>
            <a:r>
              <a:rPr lang="en-US" err="1"/>
              <a:t>vlastní</a:t>
            </a:r>
            <a:r>
              <a:rPr lang="en-US"/>
              <a:t> Wi-Fi </a:t>
            </a:r>
            <a:r>
              <a:rPr lang="en-US" err="1"/>
              <a:t>síť</a:t>
            </a:r>
            <a:r>
              <a:rPr lang="en-US"/>
              <a:t> se </a:t>
            </a:r>
            <a:r>
              <a:rPr lang="en-US" err="1"/>
              <a:t>stejným</a:t>
            </a:r>
            <a:r>
              <a:rPr lang="en-US"/>
              <a:t> SSID</a:t>
            </a:r>
            <a:r>
              <a:rPr lang="cs-CZ"/>
              <a:t> </a:t>
            </a:r>
            <a:r>
              <a:rPr lang="en-US" err="1"/>
              <a:t>již</a:t>
            </a:r>
            <a:r>
              <a:rPr lang="en-US"/>
              <a:t> </a:t>
            </a:r>
            <a:r>
              <a:rPr lang="en-US" err="1"/>
              <a:t>existující</a:t>
            </a:r>
            <a:r>
              <a:rPr lang="en-US"/>
              <a:t> </a:t>
            </a:r>
            <a:r>
              <a:rPr lang="en-US" err="1"/>
              <a:t>sítě</a:t>
            </a:r>
            <a:r>
              <a:rPr lang="en-US"/>
              <a:t> a </a:t>
            </a:r>
            <a:r>
              <a:rPr lang="en-US" err="1"/>
              <a:t>vytvoří</a:t>
            </a:r>
            <a:r>
              <a:rPr lang="en-US"/>
              <a:t> </a:t>
            </a:r>
            <a:r>
              <a:rPr lang="en-US" err="1"/>
              <a:t>webovou</a:t>
            </a:r>
            <a:r>
              <a:rPr lang="en-US"/>
              <a:t> </a:t>
            </a:r>
            <a:r>
              <a:rPr lang="en-US" err="1"/>
              <a:t>stránku</a:t>
            </a:r>
            <a:r>
              <a:rPr lang="en-US"/>
              <a:t>, </a:t>
            </a:r>
            <a:r>
              <a:rPr lang="en-US" err="1"/>
              <a:t>která</a:t>
            </a:r>
            <a:r>
              <a:rPr lang="en-US"/>
              <a:t> </a:t>
            </a:r>
            <a:r>
              <a:rPr lang="en-US" err="1"/>
              <a:t>bude</a:t>
            </a:r>
            <a:r>
              <a:rPr lang="en-US"/>
              <a:t> </a:t>
            </a:r>
            <a:r>
              <a:rPr lang="en-US" err="1"/>
              <a:t>vzhledem</a:t>
            </a:r>
            <a:r>
              <a:rPr lang="en-US"/>
              <a:t> </a:t>
            </a:r>
            <a:r>
              <a:rPr lang="en-US" err="1"/>
              <a:t>napodobovat</a:t>
            </a:r>
            <a:r>
              <a:rPr lang="en-US"/>
              <a:t> web</a:t>
            </a:r>
            <a:r>
              <a:rPr lang="cs-CZ"/>
              <a:t> </a:t>
            </a:r>
            <a:r>
              <a:rPr lang="en-US" err="1"/>
              <a:t>počítačového</a:t>
            </a:r>
            <a:r>
              <a:rPr lang="en-US"/>
              <a:t> </a:t>
            </a:r>
            <a:r>
              <a:rPr lang="en-US" err="1"/>
              <a:t>systému</a:t>
            </a:r>
            <a:r>
              <a:rPr lang="en-US"/>
              <a:t> (</a:t>
            </a:r>
            <a:r>
              <a:rPr lang="en-US" err="1"/>
              <a:t>routeru</a:t>
            </a:r>
            <a:r>
              <a:rPr lang="en-US"/>
              <a:t>), </a:t>
            </a:r>
            <a:r>
              <a:rPr lang="en-US" err="1"/>
              <a:t>který</a:t>
            </a:r>
            <a:r>
              <a:rPr lang="en-US"/>
              <a:t> </a:t>
            </a:r>
            <a:r>
              <a:rPr lang="en-US" err="1"/>
              <a:t>organizace</a:t>
            </a:r>
            <a:r>
              <a:rPr lang="en-US"/>
              <a:t> </a:t>
            </a:r>
            <a:r>
              <a:rPr lang="en-US" err="1"/>
              <a:t>používá</a:t>
            </a:r>
            <a:r>
              <a:rPr lang="en-US"/>
              <a:t>. </a:t>
            </a:r>
            <a:endParaRPr lang="cs-CZ"/>
          </a:p>
          <a:p>
            <a:r>
              <a:rPr lang="en-US"/>
              <a:t> </a:t>
            </a:r>
            <a:r>
              <a:rPr lang="en-US" err="1"/>
              <a:t>Útočníkem</a:t>
            </a:r>
            <a:r>
              <a:rPr lang="en-US"/>
              <a:t> </a:t>
            </a:r>
            <a:r>
              <a:rPr lang="en-US" err="1"/>
              <a:t>vytvořená</a:t>
            </a:r>
            <a:r>
              <a:rPr lang="en-US"/>
              <a:t> </a:t>
            </a:r>
            <a:r>
              <a:rPr lang="en-US" err="1"/>
              <a:t>webová</a:t>
            </a:r>
            <a:r>
              <a:rPr lang="cs-CZ"/>
              <a:t> </a:t>
            </a:r>
            <a:r>
              <a:rPr lang="en-US" err="1"/>
              <a:t>stránka</a:t>
            </a:r>
            <a:r>
              <a:rPr lang="en-US"/>
              <a:t> </a:t>
            </a:r>
            <a:r>
              <a:rPr lang="en-US" err="1"/>
              <a:t>bude</a:t>
            </a:r>
            <a:r>
              <a:rPr lang="en-US"/>
              <a:t> </a:t>
            </a:r>
            <a:r>
              <a:rPr lang="en-US" err="1"/>
              <a:t>požadovat</a:t>
            </a:r>
            <a:r>
              <a:rPr lang="en-US"/>
              <a:t> </a:t>
            </a:r>
            <a:r>
              <a:rPr lang="en-US" err="1"/>
              <a:t>zadání</a:t>
            </a:r>
            <a:r>
              <a:rPr lang="en-US"/>
              <a:t> </a:t>
            </a:r>
            <a:r>
              <a:rPr lang="en-US" err="1"/>
              <a:t>hesla</a:t>
            </a:r>
            <a:r>
              <a:rPr lang="en-US"/>
              <a:t> k Wi-Fi </a:t>
            </a:r>
            <a:r>
              <a:rPr lang="en-US" err="1"/>
              <a:t>síti</a:t>
            </a:r>
            <a:r>
              <a:rPr lang="en-US"/>
              <a:t> s </a:t>
            </a:r>
            <a:r>
              <a:rPr lang="en-US" err="1"/>
              <a:t>tím</a:t>
            </a:r>
            <a:r>
              <a:rPr lang="en-US"/>
              <a:t>, </a:t>
            </a:r>
            <a:r>
              <a:rPr lang="en-US" err="1"/>
              <a:t>že</a:t>
            </a:r>
            <a:r>
              <a:rPr lang="en-US"/>
              <a:t> po </a:t>
            </a:r>
            <a:r>
              <a:rPr lang="en-US" err="1"/>
              <a:t>jeho</a:t>
            </a:r>
            <a:r>
              <a:rPr lang="en-US"/>
              <a:t> </a:t>
            </a:r>
            <a:r>
              <a:rPr lang="en-US" err="1"/>
              <a:t>zadání</a:t>
            </a:r>
            <a:r>
              <a:rPr lang="en-US"/>
              <a:t> </a:t>
            </a:r>
            <a:r>
              <a:rPr lang="en-US" err="1"/>
              <a:t>bude</a:t>
            </a:r>
            <a:r>
              <a:rPr lang="en-US"/>
              <a:t> </a:t>
            </a:r>
            <a:r>
              <a:rPr lang="en-US" err="1"/>
              <a:t>mít</a:t>
            </a:r>
            <a:r>
              <a:rPr lang="en-US"/>
              <a:t> </a:t>
            </a:r>
            <a:r>
              <a:rPr lang="en-US" err="1"/>
              <a:t>uživatel</a:t>
            </a:r>
            <a:r>
              <a:rPr lang="cs-CZ"/>
              <a:t> </a:t>
            </a:r>
            <a:r>
              <a:rPr lang="en-US" err="1"/>
              <a:t>opět</a:t>
            </a:r>
            <a:r>
              <a:rPr lang="en-US"/>
              <a:t> </a:t>
            </a:r>
            <a:r>
              <a:rPr lang="en-US" err="1"/>
              <a:t>přístupnou</a:t>
            </a:r>
            <a:r>
              <a:rPr lang="en-US"/>
              <a:t> </a:t>
            </a:r>
            <a:r>
              <a:rPr lang="en-US" err="1"/>
              <a:t>celou</a:t>
            </a:r>
            <a:r>
              <a:rPr lang="en-US"/>
              <a:t> </a:t>
            </a:r>
            <a:r>
              <a:rPr lang="en-US" err="1"/>
              <a:t>počítačovou</a:t>
            </a:r>
            <a:r>
              <a:rPr lang="en-US"/>
              <a:t> </a:t>
            </a:r>
            <a:r>
              <a:rPr lang="en-US" err="1"/>
              <a:t>síť</a:t>
            </a:r>
            <a:r>
              <a:rPr lang="en-US"/>
              <a:t>.</a:t>
            </a:r>
          </a:p>
        </p:txBody>
      </p:sp>
      <p:sp>
        <p:nvSpPr>
          <p:cNvPr id="4" name="Zástupný symbol pro datum 3">
            <a:extLst>
              <a:ext uri="{FF2B5EF4-FFF2-40B4-BE49-F238E27FC236}">
                <a16:creationId xmlns:a16="http://schemas.microsoft.com/office/drawing/2014/main" id="{5B206F53-AF65-E719-D126-286E523A1259}"/>
              </a:ext>
            </a:extLst>
          </p:cNvPr>
          <p:cNvSpPr>
            <a:spLocks noGrp="1"/>
          </p:cNvSpPr>
          <p:nvPr>
            <p:ph type="dt" sz="half" idx="10"/>
          </p:nvPr>
        </p:nvSpPr>
        <p:spPr/>
        <p:txBody>
          <a:bodyPr/>
          <a:lstStyle/>
          <a:p>
            <a:r>
              <a:rPr lang="cs-CZ"/>
              <a:t>18.8.2022</a:t>
            </a:r>
          </a:p>
        </p:txBody>
      </p:sp>
      <p:sp>
        <p:nvSpPr>
          <p:cNvPr id="5" name="Zástupný symbol pro číslo snímku 4">
            <a:extLst>
              <a:ext uri="{FF2B5EF4-FFF2-40B4-BE49-F238E27FC236}">
                <a16:creationId xmlns:a16="http://schemas.microsoft.com/office/drawing/2014/main" id="{7D582E24-3778-2EDC-D60C-C23B1887F114}"/>
              </a:ext>
            </a:extLst>
          </p:cNvPr>
          <p:cNvSpPr>
            <a:spLocks noGrp="1"/>
          </p:cNvSpPr>
          <p:nvPr>
            <p:ph type="sldNum" sz="quarter" idx="12"/>
          </p:nvPr>
        </p:nvSpPr>
        <p:spPr/>
        <p:txBody>
          <a:bodyPr/>
          <a:lstStyle/>
          <a:p>
            <a:fld id="{AD9F5C5F-4392-49C5-81DD-37F176609E69}" type="slidenum">
              <a:rPr lang="cs-CZ" smtClean="0"/>
              <a:t>182</a:t>
            </a:fld>
            <a:endParaRPr lang="cs-CZ"/>
          </a:p>
        </p:txBody>
      </p:sp>
    </p:spTree>
    <p:extLst>
      <p:ext uri="{BB962C8B-B14F-4D97-AF65-F5344CB8AC3E}">
        <p14:creationId xmlns:p14="http://schemas.microsoft.com/office/powerpoint/2010/main" val="3747537568"/>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F21074A-1A05-8A4E-AF7C-7F2BC145D641}"/>
              </a:ext>
            </a:extLst>
          </p:cNvPr>
          <p:cNvSpPr>
            <a:spLocks noGrp="1"/>
          </p:cNvSpPr>
          <p:nvPr>
            <p:ph type="title"/>
          </p:nvPr>
        </p:nvSpPr>
        <p:spPr/>
        <p:txBody>
          <a:bodyPr/>
          <a:lstStyle/>
          <a:p>
            <a:r>
              <a:rPr lang="en-US" b="1" err="1"/>
              <a:t>Technický</a:t>
            </a:r>
            <a:r>
              <a:rPr lang="en-US" b="1"/>
              <a:t> </a:t>
            </a:r>
            <a:r>
              <a:rPr lang="en-US" b="1" err="1"/>
              <a:t>útok</a:t>
            </a:r>
            <a:r>
              <a:rPr lang="en-US" b="1"/>
              <a:t> </a:t>
            </a:r>
            <a:r>
              <a:rPr lang="en-US" b="1" err="1"/>
              <a:t>spojený</a:t>
            </a:r>
            <a:r>
              <a:rPr lang="en-US" b="1"/>
              <a:t> se </a:t>
            </a:r>
            <a:r>
              <a:rPr lang="en-US" b="1" err="1"/>
              <a:t>sociálním</a:t>
            </a:r>
            <a:r>
              <a:rPr lang="en-US" b="1"/>
              <a:t> </a:t>
            </a:r>
            <a:r>
              <a:rPr lang="en-US" b="1" err="1"/>
              <a:t>inženýrstvím</a:t>
            </a:r>
            <a:endParaRPr lang="en-US"/>
          </a:p>
        </p:txBody>
      </p:sp>
      <p:sp>
        <p:nvSpPr>
          <p:cNvPr id="3" name="Zástupný obsah 2">
            <a:extLst>
              <a:ext uri="{FF2B5EF4-FFF2-40B4-BE49-F238E27FC236}">
                <a16:creationId xmlns:a16="http://schemas.microsoft.com/office/drawing/2014/main" id="{0DBA8F7D-3D49-AF1F-59E9-9BC523F1EE5E}"/>
              </a:ext>
            </a:extLst>
          </p:cNvPr>
          <p:cNvSpPr>
            <a:spLocks noGrp="1"/>
          </p:cNvSpPr>
          <p:nvPr>
            <p:ph idx="1"/>
          </p:nvPr>
        </p:nvSpPr>
        <p:spPr/>
        <p:txBody>
          <a:bodyPr>
            <a:normAutofit/>
          </a:bodyPr>
          <a:lstStyle/>
          <a:p>
            <a:r>
              <a:rPr lang="en-US" err="1"/>
              <a:t>Následně</a:t>
            </a:r>
            <a:r>
              <a:rPr lang="en-US"/>
              <a:t> </a:t>
            </a:r>
            <a:r>
              <a:rPr lang="en-US" err="1"/>
              <a:t>začne</a:t>
            </a:r>
            <a:r>
              <a:rPr lang="en-US"/>
              <a:t> </a:t>
            </a:r>
            <a:r>
              <a:rPr lang="en-US" err="1"/>
              <a:t>útočník</a:t>
            </a:r>
            <a:r>
              <a:rPr lang="en-US"/>
              <a:t> z </a:t>
            </a:r>
            <a:r>
              <a:rPr lang="en-US" err="1"/>
              <a:t>nepodvržené</a:t>
            </a:r>
            <a:r>
              <a:rPr lang="en-US"/>
              <a:t> (</a:t>
            </a:r>
            <a:r>
              <a:rPr lang="en-US" err="1"/>
              <a:t>originální</a:t>
            </a:r>
            <a:r>
              <a:rPr lang="en-US"/>
              <a:t>) Wi-Fi </a:t>
            </a:r>
            <a:r>
              <a:rPr lang="en-US" err="1"/>
              <a:t>sítě</a:t>
            </a:r>
            <a:r>
              <a:rPr lang="en-US"/>
              <a:t> </a:t>
            </a:r>
            <a:r>
              <a:rPr lang="en-US" err="1"/>
              <a:t>odpojovat</a:t>
            </a:r>
            <a:r>
              <a:rPr lang="en-US"/>
              <a:t> </a:t>
            </a:r>
            <a:r>
              <a:rPr lang="en-US" err="1"/>
              <a:t>jednotlivé</a:t>
            </a:r>
            <a:r>
              <a:rPr lang="en-US"/>
              <a:t> </a:t>
            </a:r>
            <a:r>
              <a:rPr lang="en-US" err="1"/>
              <a:t>počítačové</a:t>
            </a:r>
            <a:r>
              <a:rPr lang="cs-CZ"/>
              <a:t> </a:t>
            </a:r>
            <a:r>
              <a:rPr lang="en-US" err="1"/>
              <a:t>systémy</a:t>
            </a:r>
            <a:r>
              <a:rPr lang="en-US"/>
              <a:t> a </a:t>
            </a:r>
            <a:r>
              <a:rPr lang="en-US" err="1"/>
              <a:t>vyčká</a:t>
            </a:r>
            <a:r>
              <a:rPr lang="en-US"/>
              <a:t>, </a:t>
            </a:r>
            <a:r>
              <a:rPr lang="en-US" err="1"/>
              <a:t>zda</a:t>
            </a:r>
            <a:r>
              <a:rPr lang="en-US"/>
              <a:t> se </a:t>
            </a:r>
            <a:r>
              <a:rPr lang="en-US" err="1"/>
              <a:t>některý</a:t>
            </a:r>
            <a:r>
              <a:rPr lang="en-US"/>
              <a:t> z </a:t>
            </a:r>
            <a:r>
              <a:rPr lang="en-US" err="1"/>
              <a:t>uživatelů</a:t>
            </a:r>
            <a:r>
              <a:rPr lang="en-US"/>
              <a:t> </a:t>
            </a:r>
            <a:r>
              <a:rPr lang="en-US" err="1"/>
              <a:t>nebude</a:t>
            </a:r>
            <a:r>
              <a:rPr lang="en-US"/>
              <a:t> </a:t>
            </a:r>
            <a:r>
              <a:rPr lang="en-US" err="1"/>
              <a:t>snažit</a:t>
            </a:r>
            <a:r>
              <a:rPr lang="en-US"/>
              <a:t> </a:t>
            </a:r>
            <a:r>
              <a:rPr lang="en-US" err="1"/>
              <a:t>zkontrolovat</a:t>
            </a:r>
            <a:r>
              <a:rPr lang="en-US"/>
              <a:t> </a:t>
            </a:r>
            <a:r>
              <a:rPr lang="en-US" err="1"/>
              <a:t>seznam</a:t>
            </a:r>
            <a:r>
              <a:rPr lang="en-US"/>
              <a:t> </a:t>
            </a:r>
            <a:r>
              <a:rPr lang="en-US" err="1"/>
              <a:t>dostupných</a:t>
            </a:r>
            <a:r>
              <a:rPr lang="cs-CZ"/>
              <a:t> </a:t>
            </a:r>
            <a:r>
              <a:rPr lang="en-US"/>
              <a:t>Wi-Fi </a:t>
            </a:r>
            <a:r>
              <a:rPr lang="en-US" err="1"/>
              <a:t>sítí</a:t>
            </a:r>
            <a:r>
              <a:rPr lang="en-US"/>
              <a:t>.</a:t>
            </a:r>
            <a:endParaRPr lang="cs-CZ"/>
          </a:p>
          <a:p>
            <a:r>
              <a:rPr lang="en-US" err="1"/>
              <a:t>Uživateli</a:t>
            </a:r>
            <a:r>
              <a:rPr lang="en-US"/>
              <a:t> se v </a:t>
            </a:r>
            <a:r>
              <a:rPr lang="en-US" err="1"/>
              <a:t>seznamu</a:t>
            </a:r>
            <a:r>
              <a:rPr lang="en-US"/>
              <a:t> </a:t>
            </a:r>
            <a:r>
              <a:rPr lang="en-US" err="1"/>
              <a:t>dostupných</a:t>
            </a:r>
            <a:r>
              <a:rPr lang="en-US"/>
              <a:t> Wi-Fi </a:t>
            </a:r>
            <a:r>
              <a:rPr lang="en-US" err="1"/>
              <a:t>sítí</a:t>
            </a:r>
            <a:r>
              <a:rPr lang="en-US"/>
              <a:t> </a:t>
            </a:r>
            <a:r>
              <a:rPr lang="en-US" err="1"/>
              <a:t>zobrazí</a:t>
            </a:r>
            <a:r>
              <a:rPr lang="en-US"/>
              <a:t> </a:t>
            </a:r>
            <a:r>
              <a:rPr lang="en-US" err="1"/>
              <a:t>útočníkem</a:t>
            </a:r>
            <a:r>
              <a:rPr lang="en-US"/>
              <a:t> </a:t>
            </a:r>
            <a:r>
              <a:rPr lang="en-US" err="1"/>
              <a:t>vytvořená</a:t>
            </a:r>
            <a:r>
              <a:rPr lang="en-US"/>
              <a:t> </a:t>
            </a:r>
            <a:r>
              <a:rPr lang="en-US" err="1"/>
              <a:t>síť</a:t>
            </a:r>
            <a:r>
              <a:rPr lang="en-US"/>
              <a:t> se</a:t>
            </a:r>
            <a:r>
              <a:rPr lang="cs-CZ"/>
              <a:t> </a:t>
            </a:r>
            <a:r>
              <a:rPr lang="en-US" err="1"/>
              <a:t>stejným</a:t>
            </a:r>
            <a:r>
              <a:rPr lang="en-US"/>
              <a:t> SSID </a:t>
            </a:r>
            <a:r>
              <a:rPr lang="en-US" err="1"/>
              <a:t>jako</a:t>
            </a:r>
            <a:r>
              <a:rPr lang="en-US"/>
              <a:t> </a:t>
            </a:r>
            <a:r>
              <a:rPr lang="en-US" err="1"/>
              <a:t>síť</a:t>
            </a:r>
            <a:r>
              <a:rPr lang="en-US"/>
              <a:t> </a:t>
            </a:r>
            <a:r>
              <a:rPr lang="en-US" err="1"/>
              <a:t>původní</a:t>
            </a:r>
            <a:r>
              <a:rPr lang="en-US"/>
              <a:t>. </a:t>
            </a:r>
            <a:endParaRPr lang="cs-CZ"/>
          </a:p>
          <a:p>
            <a:r>
              <a:rPr lang="en-US"/>
              <a:t>V </a:t>
            </a:r>
            <a:r>
              <a:rPr lang="en-US" err="1"/>
              <a:t>případě</a:t>
            </a:r>
            <a:r>
              <a:rPr lang="en-US"/>
              <a:t>, </a:t>
            </a:r>
            <a:r>
              <a:rPr lang="en-US" err="1"/>
              <a:t>že</a:t>
            </a:r>
            <a:r>
              <a:rPr lang="en-US"/>
              <a:t> </a:t>
            </a:r>
            <a:r>
              <a:rPr lang="en-US" err="1"/>
              <a:t>si</a:t>
            </a:r>
            <a:r>
              <a:rPr lang="en-US"/>
              <a:t> </a:t>
            </a:r>
            <a:r>
              <a:rPr lang="en-US" err="1"/>
              <a:t>uživatel</a:t>
            </a:r>
            <a:r>
              <a:rPr lang="en-US"/>
              <a:t> </a:t>
            </a:r>
            <a:r>
              <a:rPr lang="en-US" err="1"/>
              <a:t>vybere</a:t>
            </a:r>
            <a:r>
              <a:rPr lang="en-US"/>
              <a:t> </a:t>
            </a:r>
            <a:r>
              <a:rPr lang="en-US" err="1"/>
              <a:t>útočníkovu</a:t>
            </a:r>
            <a:r>
              <a:rPr lang="en-US"/>
              <a:t> Wi-Fi </a:t>
            </a:r>
            <a:r>
              <a:rPr lang="en-US" err="1"/>
              <a:t>síť</a:t>
            </a:r>
            <a:r>
              <a:rPr lang="en-US"/>
              <a:t> </a:t>
            </a:r>
            <a:r>
              <a:rPr lang="en-US" err="1"/>
              <a:t>bude</a:t>
            </a:r>
            <a:r>
              <a:rPr lang="cs-CZ"/>
              <a:t> </a:t>
            </a:r>
            <a:r>
              <a:rPr lang="en-US" err="1"/>
              <a:t>přesměrován</a:t>
            </a:r>
            <a:r>
              <a:rPr lang="en-US"/>
              <a:t> </a:t>
            </a:r>
            <a:r>
              <a:rPr lang="en-US" err="1"/>
              <a:t>na</a:t>
            </a:r>
            <a:r>
              <a:rPr lang="en-US"/>
              <a:t> </a:t>
            </a:r>
            <a:r>
              <a:rPr lang="en-US" err="1"/>
              <a:t>podvrženou</a:t>
            </a:r>
            <a:r>
              <a:rPr lang="en-US"/>
              <a:t> </a:t>
            </a:r>
            <a:r>
              <a:rPr lang="en-US" err="1"/>
              <a:t>webovou</a:t>
            </a:r>
            <a:r>
              <a:rPr lang="en-US"/>
              <a:t> </a:t>
            </a:r>
            <a:r>
              <a:rPr lang="en-US" err="1"/>
              <a:t>stránku</a:t>
            </a:r>
            <a:r>
              <a:rPr lang="en-US"/>
              <a:t> s </a:t>
            </a:r>
            <a:r>
              <a:rPr lang="en-US" err="1"/>
              <a:t>výzvou</a:t>
            </a:r>
            <a:r>
              <a:rPr lang="en-US"/>
              <a:t> k </a:t>
            </a:r>
            <a:r>
              <a:rPr lang="en-US" err="1"/>
              <a:t>zadání</a:t>
            </a:r>
            <a:r>
              <a:rPr lang="en-US"/>
              <a:t> </a:t>
            </a:r>
            <a:r>
              <a:rPr lang="en-US" err="1"/>
              <a:t>hesla</a:t>
            </a:r>
            <a:r>
              <a:rPr lang="en-US"/>
              <a:t>.</a:t>
            </a:r>
          </a:p>
        </p:txBody>
      </p:sp>
      <p:sp>
        <p:nvSpPr>
          <p:cNvPr id="4" name="Zástupný symbol pro datum 3">
            <a:extLst>
              <a:ext uri="{FF2B5EF4-FFF2-40B4-BE49-F238E27FC236}">
                <a16:creationId xmlns:a16="http://schemas.microsoft.com/office/drawing/2014/main" id="{B616D8C7-47EA-30F2-6FB2-2A6C3150BB9F}"/>
              </a:ext>
            </a:extLst>
          </p:cNvPr>
          <p:cNvSpPr>
            <a:spLocks noGrp="1"/>
          </p:cNvSpPr>
          <p:nvPr>
            <p:ph type="dt" sz="half" idx="10"/>
          </p:nvPr>
        </p:nvSpPr>
        <p:spPr/>
        <p:txBody>
          <a:bodyPr/>
          <a:lstStyle/>
          <a:p>
            <a:r>
              <a:rPr lang="cs-CZ"/>
              <a:t>18.8.2022</a:t>
            </a:r>
          </a:p>
        </p:txBody>
      </p:sp>
      <p:sp>
        <p:nvSpPr>
          <p:cNvPr id="5" name="Zástupný symbol pro číslo snímku 4">
            <a:extLst>
              <a:ext uri="{FF2B5EF4-FFF2-40B4-BE49-F238E27FC236}">
                <a16:creationId xmlns:a16="http://schemas.microsoft.com/office/drawing/2014/main" id="{6DB7FF00-16BC-2A58-D98B-AD65148EC2FD}"/>
              </a:ext>
            </a:extLst>
          </p:cNvPr>
          <p:cNvSpPr>
            <a:spLocks noGrp="1"/>
          </p:cNvSpPr>
          <p:nvPr>
            <p:ph type="sldNum" sz="quarter" idx="12"/>
          </p:nvPr>
        </p:nvSpPr>
        <p:spPr/>
        <p:txBody>
          <a:bodyPr/>
          <a:lstStyle/>
          <a:p>
            <a:fld id="{AD9F5C5F-4392-49C5-81DD-37F176609E69}" type="slidenum">
              <a:rPr lang="cs-CZ" smtClean="0"/>
              <a:t>183</a:t>
            </a:fld>
            <a:endParaRPr lang="cs-CZ"/>
          </a:p>
        </p:txBody>
      </p:sp>
    </p:spTree>
    <p:extLst>
      <p:ext uri="{BB962C8B-B14F-4D97-AF65-F5344CB8AC3E}">
        <p14:creationId xmlns:p14="http://schemas.microsoft.com/office/powerpoint/2010/main" val="287702541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5B978F0-6BB2-260C-B53A-62E8C0E95D63}"/>
              </a:ext>
            </a:extLst>
          </p:cNvPr>
          <p:cNvSpPr>
            <a:spLocks noGrp="1"/>
          </p:cNvSpPr>
          <p:nvPr>
            <p:ph type="title"/>
          </p:nvPr>
        </p:nvSpPr>
        <p:spPr/>
        <p:txBody>
          <a:bodyPr/>
          <a:lstStyle/>
          <a:p>
            <a:r>
              <a:rPr lang="en-US" b="1" err="1"/>
              <a:t>Permanentně</a:t>
            </a:r>
            <a:r>
              <a:rPr lang="en-US" b="1"/>
              <a:t> </a:t>
            </a:r>
            <a:r>
              <a:rPr lang="en-US" b="1" err="1"/>
              <a:t>zapnuté</a:t>
            </a:r>
            <a:r>
              <a:rPr lang="en-US" b="1"/>
              <a:t> Wi-Fi </a:t>
            </a:r>
            <a:r>
              <a:rPr lang="en-US" b="1" err="1"/>
              <a:t>rozhraní</a:t>
            </a:r>
            <a:endParaRPr lang="en-US" b="1"/>
          </a:p>
        </p:txBody>
      </p:sp>
      <p:sp>
        <p:nvSpPr>
          <p:cNvPr id="3" name="Zástupný obsah 2">
            <a:extLst>
              <a:ext uri="{FF2B5EF4-FFF2-40B4-BE49-F238E27FC236}">
                <a16:creationId xmlns:a16="http://schemas.microsoft.com/office/drawing/2014/main" id="{D1CF028E-CBE6-7617-89CA-D9EA447A772D}"/>
              </a:ext>
            </a:extLst>
          </p:cNvPr>
          <p:cNvSpPr>
            <a:spLocks noGrp="1"/>
          </p:cNvSpPr>
          <p:nvPr>
            <p:ph idx="1"/>
          </p:nvPr>
        </p:nvSpPr>
        <p:spPr/>
        <p:txBody>
          <a:bodyPr/>
          <a:lstStyle/>
          <a:p>
            <a:r>
              <a:rPr lang="en-US"/>
              <a:t>V </a:t>
            </a:r>
            <a:r>
              <a:rPr lang="en-US" err="1"/>
              <a:t>případech</a:t>
            </a:r>
            <a:r>
              <a:rPr lang="en-US"/>
              <a:t>, </a:t>
            </a:r>
            <a:r>
              <a:rPr lang="en-US" err="1"/>
              <a:t>kdy</a:t>
            </a:r>
            <a:r>
              <a:rPr lang="en-US"/>
              <a:t> </a:t>
            </a:r>
            <a:r>
              <a:rPr lang="en-US" err="1"/>
              <a:t>uživatel</a:t>
            </a:r>
            <a:r>
              <a:rPr lang="en-US"/>
              <a:t> </a:t>
            </a:r>
            <a:r>
              <a:rPr lang="en-US" err="1"/>
              <a:t>nechává</a:t>
            </a:r>
            <a:r>
              <a:rPr lang="en-US"/>
              <a:t> </a:t>
            </a:r>
            <a:r>
              <a:rPr lang="en-US" err="1"/>
              <a:t>na</a:t>
            </a:r>
            <a:r>
              <a:rPr lang="en-US"/>
              <a:t> </a:t>
            </a:r>
            <a:r>
              <a:rPr lang="en-US" err="1"/>
              <a:t>svém</a:t>
            </a:r>
            <a:r>
              <a:rPr lang="en-US"/>
              <a:t> </a:t>
            </a:r>
            <a:r>
              <a:rPr lang="en-US" err="1"/>
              <a:t>počítačovém</a:t>
            </a:r>
            <a:r>
              <a:rPr lang="en-US"/>
              <a:t> </a:t>
            </a:r>
            <a:r>
              <a:rPr lang="en-US" err="1"/>
              <a:t>systému</a:t>
            </a:r>
            <a:r>
              <a:rPr lang="en-US"/>
              <a:t> </a:t>
            </a:r>
            <a:r>
              <a:rPr lang="en-US" err="1"/>
              <a:t>stále</a:t>
            </a:r>
            <a:r>
              <a:rPr lang="en-US"/>
              <a:t> </a:t>
            </a:r>
            <a:r>
              <a:rPr lang="en-US" err="1"/>
              <a:t>zapnuté</a:t>
            </a:r>
            <a:r>
              <a:rPr lang="en-US"/>
              <a:t> Wi-Fi </a:t>
            </a:r>
            <a:r>
              <a:rPr lang="en-US" err="1"/>
              <a:t>rozhraní</a:t>
            </a:r>
            <a:r>
              <a:rPr lang="en-US"/>
              <a:t>, </a:t>
            </a:r>
            <a:r>
              <a:rPr lang="en-US" err="1"/>
              <a:t>vystavuje</a:t>
            </a:r>
            <a:r>
              <a:rPr lang="en-US"/>
              <a:t> se </a:t>
            </a:r>
            <a:r>
              <a:rPr lang="en-US" err="1"/>
              <a:t>riziku</a:t>
            </a:r>
            <a:r>
              <a:rPr lang="en-US"/>
              <a:t>, </a:t>
            </a:r>
            <a:r>
              <a:rPr lang="en-US" err="1"/>
              <a:t>že</a:t>
            </a:r>
            <a:r>
              <a:rPr lang="en-US"/>
              <a:t> se </a:t>
            </a:r>
            <a:r>
              <a:rPr lang="en-US" err="1"/>
              <a:t>jeho</a:t>
            </a:r>
            <a:r>
              <a:rPr lang="en-US"/>
              <a:t> </a:t>
            </a:r>
            <a:r>
              <a:rPr lang="en-US" err="1"/>
              <a:t>počítačový</a:t>
            </a:r>
            <a:r>
              <a:rPr lang="en-US"/>
              <a:t> system</a:t>
            </a:r>
            <a:r>
              <a:rPr lang="cs-CZ"/>
              <a:t> </a:t>
            </a:r>
            <a:r>
              <a:rPr lang="en-US" err="1"/>
              <a:t>bude</a:t>
            </a:r>
            <a:r>
              <a:rPr lang="en-US"/>
              <a:t> </a:t>
            </a:r>
            <a:r>
              <a:rPr lang="en-US" err="1"/>
              <a:t>pokoušet</a:t>
            </a:r>
            <a:r>
              <a:rPr lang="en-US"/>
              <a:t> </a:t>
            </a:r>
            <a:r>
              <a:rPr lang="en-US" err="1"/>
              <a:t>připojit</a:t>
            </a:r>
            <a:r>
              <a:rPr lang="en-US"/>
              <a:t> </a:t>
            </a:r>
            <a:r>
              <a:rPr lang="en-US" err="1"/>
              <a:t>přímo</a:t>
            </a:r>
            <a:r>
              <a:rPr lang="en-US"/>
              <a:t> </a:t>
            </a:r>
            <a:r>
              <a:rPr lang="en-US" err="1"/>
              <a:t>na</a:t>
            </a:r>
            <a:r>
              <a:rPr lang="en-US"/>
              <a:t> </a:t>
            </a:r>
            <a:r>
              <a:rPr lang="en-US" err="1"/>
              <a:t>konkrétní</a:t>
            </a:r>
            <a:r>
              <a:rPr lang="en-US"/>
              <a:t> Wi-Fi </a:t>
            </a:r>
            <a:r>
              <a:rPr lang="en-US" err="1"/>
              <a:t>sítě</a:t>
            </a:r>
            <a:r>
              <a:rPr lang="en-US"/>
              <a:t>, </a:t>
            </a:r>
            <a:r>
              <a:rPr lang="en-US" err="1"/>
              <a:t>které</a:t>
            </a:r>
            <a:r>
              <a:rPr lang="en-US"/>
              <a:t> v </a:t>
            </a:r>
            <a:r>
              <a:rPr lang="en-US" err="1"/>
              <a:t>minulosti</a:t>
            </a:r>
            <a:r>
              <a:rPr lang="en-US"/>
              <a:t> </a:t>
            </a:r>
            <a:r>
              <a:rPr lang="en-US" err="1"/>
              <a:t>navštívil</a:t>
            </a:r>
            <a:r>
              <a:rPr lang="en-US"/>
              <a:t> (za</a:t>
            </a:r>
            <a:r>
              <a:rPr lang="cs-CZ"/>
              <a:t> </a:t>
            </a:r>
            <a:r>
              <a:rPr lang="en-US" err="1"/>
              <a:t>předpokladu</a:t>
            </a:r>
            <a:r>
              <a:rPr lang="en-US"/>
              <a:t>, </a:t>
            </a:r>
            <a:r>
              <a:rPr lang="en-US" err="1"/>
              <a:t>že</a:t>
            </a:r>
            <a:r>
              <a:rPr lang="en-US"/>
              <a:t> </a:t>
            </a:r>
            <a:r>
              <a:rPr lang="en-US" err="1"/>
              <a:t>zůstaly</a:t>
            </a:r>
            <a:r>
              <a:rPr lang="en-US"/>
              <a:t> </a:t>
            </a:r>
            <a:r>
              <a:rPr lang="en-US" err="1"/>
              <a:t>přístupové</a:t>
            </a:r>
            <a:r>
              <a:rPr lang="en-US"/>
              <a:t> </a:t>
            </a:r>
            <a:r>
              <a:rPr lang="en-US" err="1"/>
              <a:t>údaje</a:t>
            </a:r>
            <a:r>
              <a:rPr lang="en-US"/>
              <a:t> k </a:t>
            </a:r>
            <a:r>
              <a:rPr lang="en-US" err="1"/>
              <a:t>těmto</a:t>
            </a:r>
            <a:r>
              <a:rPr lang="en-US"/>
              <a:t> </a:t>
            </a:r>
            <a:r>
              <a:rPr lang="en-US" err="1"/>
              <a:t>sítím</a:t>
            </a:r>
            <a:r>
              <a:rPr lang="en-US"/>
              <a:t> v </a:t>
            </a:r>
            <a:r>
              <a:rPr lang="en-US" err="1"/>
              <a:t>telefonu</a:t>
            </a:r>
            <a:r>
              <a:rPr lang="en-US"/>
              <a:t> </a:t>
            </a:r>
            <a:r>
              <a:rPr lang="en-US" err="1"/>
              <a:t>uloženy</a:t>
            </a:r>
            <a:r>
              <a:rPr lang="en-US"/>
              <a:t>).</a:t>
            </a:r>
            <a:endParaRPr lang="cs-CZ"/>
          </a:p>
          <a:p>
            <a:r>
              <a:rPr lang="en-US" err="1"/>
              <a:t>Koncový</a:t>
            </a:r>
            <a:r>
              <a:rPr lang="en-US"/>
              <a:t> </a:t>
            </a:r>
            <a:r>
              <a:rPr lang="en-US" err="1"/>
              <a:t>počítačový</a:t>
            </a:r>
            <a:r>
              <a:rPr lang="en-US"/>
              <a:t> </a:t>
            </a:r>
            <a:r>
              <a:rPr lang="en-US" err="1"/>
              <a:t>systém</a:t>
            </a:r>
            <a:r>
              <a:rPr lang="en-US"/>
              <a:t> se </a:t>
            </a:r>
            <a:r>
              <a:rPr lang="en-US" err="1"/>
              <a:t>na</a:t>
            </a:r>
            <a:r>
              <a:rPr lang="en-US"/>
              <a:t> </a:t>
            </a:r>
            <a:r>
              <a:rPr lang="en-US" err="1"/>
              <a:t>dostupné</a:t>
            </a:r>
            <a:r>
              <a:rPr lang="en-US"/>
              <a:t> Wi-Fi </a:t>
            </a:r>
            <a:r>
              <a:rPr lang="en-US" err="1"/>
              <a:t>sítě</a:t>
            </a:r>
            <a:r>
              <a:rPr lang="en-US"/>
              <a:t> </a:t>
            </a:r>
            <a:r>
              <a:rPr lang="en-US" err="1"/>
              <a:t>ptá</a:t>
            </a:r>
            <a:r>
              <a:rPr lang="en-US"/>
              <a:t> </a:t>
            </a:r>
            <a:r>
              <a:rPr lang="en-US" err="1"/>
              <a:t>pomocí</a:t>
            </a:r>
            <a:r>
              <a:rPr lang="en-US"/>
              <a:t> </a:t>
            </a:r>
            <a:r>
              <a:rPr lang="en-US" err="1"/>
              <a:t>broadcastového</a:t>
            </a:r>
            <a:r>
              <a:rPr lang="en-US"/>
              <a:t> </a:t>
            </a:r>
            <a:r>
              <a:rPr lang="en-US" err="1"/>
              <a:t>dotazu</a:t>
            </a:r>
            <a:r>
              <a:rPr lang="en-US"/>
              <a:t>,</a:t>
            </a:r>
            <a:r>
              <a:rPr lang="cs-CZ"/>
              <a:t> </a:t>
            </a:r>
            <a:r>
              <a:rPr lang="en-US" err="1"/>
              <a:t>na</a:t>
            </a:r>
            <a:r>
              <a:rPr lang="en-US"/>
              <a:t> </a:t>
            </a:r>
            <a:r>
              <a:rPr lang="en-US" err="1"/>
              <a:t>který</a:t>
            </a:r>
            <a:r>
              <a:rPr lang="en-US"/>
              <a:t> </a:t>
            </a:r>
            <a:r>
              <a:rPr lang="en-US" err="1"/>
              <a:t>pak</a:t>
            </a:r>
            <a:r>
              <a:rPr lang="en-US"/>
              <a:t> </a:t>
            </a:r>
            <a:r>
              <a:rPr lang="en-US" err="1"/>
              <a:t>jednotlivé</a:t>
            </a:r>
            <a:r>
              <a:rPr lang="en-US"/>
              <a:t> </a:t>
            </a:r>
            <a:r>
              <a:rPr lang="en-US" err="1"/>
              <a:t>přístupové</a:t>
            </a:r>
            <a:r>
              <a:rPr lang="en-US"/>
              <a:t> body </a:t>
            </a:r>
            <a:r>
              <a:rPr lang="en-US" err="1"/>
              <a:t>odpoví</a:t>
            </a:r>
            <a:r>
              <a:rPr lang="en-US"/>
              <a:t> </a:t>
            </a:r>
            <a:r>
              <a:rPr lang="en-US" err="1"/>
              <a:t>ohlášením</a:t>
            </a:r>
            <a:r>
              <a:rPr lang="en-US"/>
              <a:t> </a:t>
            </a:r>
            <a:r>
              <a:rPr lang="en-US" err="1"/>
              <a:t>svého</a:t>
            </a:r>
            <a:r>
              <a:rPr lang="en-US"/>
              <a:t> SSID a </a:t>
            </a:r>
            <a:r>
              <a:rPr lang="en-US" err="1"/>
              <a:t>dalšími</a:t>
            </a:r>
            <a:r>
              <a:rPr lang="en-US"/>
              <a:t> </a:t>
            </a:r>
            <a:r>
              <a:rPr lang="en-US" err="1"/>
              <a:t>údaji</a:t>
            </a:r>
            <a:r>
              <a:rPr lang="cs-CZ"/>
              <a:t> </a:t>
            </a:r>
            <a:r>
              <a:rPr lang="en-US"/>
              <a:t>o </a:t>
            </a:r>
            <a:r>
              <a:rPr lang="en-US" err="1"/>
              <a:t>bezdrátové</a:t>
            </a:r>
            <a:r>
              <a:rPr lang="en-US"/>
              <a:t> </a:t>
            </a:r>
            <a:r>
              <a:rPr lang="en-US" err="1"/>
              <a:t>počítačové</a:t>
            </a:r>
            <a:r>
              <a:rPr lang="en-US"/>
              <a:t> </a:t>
            </a:r>
            <a:r>
              <a:rPr lang="en-US" err="1"/>
              <a:t>síti</a:t>
            </a:r>
            <a:r>
              <a:rPr lang="en-US"/>
              <a:t>. </a:t>
            </a:r>
          </a:p>
        </p:txBody>
      </p:sp>
      <p:sp>
        <p:nvSpPr>
          <p:cNvPr id="4" name="Zástupný symbol pro datum 3">
            <a:extLst>
              <a:ext uri="{FF2B5EF4-FFF2-40B4-BE49-F238E27FC236}">
                <a16:creationId xmlns:a16="http://schemas.microsoft.com/office/drawing/2014/main" id="{347CCCE2-D333-A02A-0754-52A84BE3C1D1}"/>
              </a:ext>
            </a:extLst>
          </p:cNvPr>
          <p:cNvSpPr>
            <a:spLocks noGrp="1"/>
          </p:cNvSpPr>
          <p:nvPr>
            <p:ph type="dt" sz="half" idx="10"/>
          </p:nvPr>
        </p:nvSpPr>
        <p:spPr/>
        <p:txBody>
          <a:bodyPr/>
          <a:lstStyle/>
          <a:p>
            <a:r>
              <a:rPr lang="cs-CZ"/>
              <a:t>18.8.2022</a:t>
            </a:r>
          </a:p>
        </p:txBody>
      </p:sp>
      <p:sp>
        <p:nvSpPr>
          <p:cNvPr id="5" name="Zástupný symbol pro číslo snímku 4">
            <a:extLst>
              <a:ext uri="{FF2B5EF4-FFF2-40B4-BE49-F238E27FC236}">
                <a16:creationId xmlns:a16="http://schemas.microsoft.com/office/drawing/2014/main" id="{D98673BB-0588-1F85-8DC5-22019BC8CD87}"/>
              </a:ext>
            </a:extLst>
          </p:cNvPr>
          <p:cNvSpPr>
            <a:spLocks noGrp="1"/>
          </p:cNvSpPr>
          <p:nvPr>
            <p:ph type="sldNum" sz="quarter" idx="12"/>
          </p:nvPr>
        </p:nvSpPr>
        <p:spPr/>
        <p:txBody>
          <a:bodyPr/>
          <a:lstStyle/>
          <a:p>
            <a:fld id="{AD9F5C5F-4392-49C5-81DD-37F176609E69}" type="slidenum">
              <a:rPr lang="cs-CZ" smtClean="0"/>
              <a:t>184</a:t>
            </a:fld>
            <a:endParaRPr lang="cs-CZ"/>
          </a:p>
        </p:txBody>
      </p:sp>
    </p:spTree>
    <p:extLst>
      <p:ext uri="{BB962C8B-B14F-4D97-AF65-F5344CB8AC3E}">
        <p14:creationId xmlns:p14="http://schemas.microsoft.com/office/powerpoint/2010/main" val="4062010067"/>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185</a:t>
            </a:fld>
            <a:endParaRPr lang="cs-CZ"/>
          </a:p>
        </p:txBody>
      </p:sp>
      <p:pic>
        <p:nvPicPr>
          <p:cNvPr id="7" name="Obrázek 6">
            <a:extLst>
              <a:ext uri="{FF2B5EF4-FFF2-40B4-BE49-F238E27FC236}">
                <a16:creationId xmlns:a16="http://schemas.microsoft.com/office/drawing/2014/main" id="{D6601B90-2D7E-58B5-8A17-B3225A4217D9}"/>
              </a:ext>
            </a:extLst>
          </p:cNvPr>
          <p:cNvPicPr>
            <a:picLocks noChangeAspect="1"/>
          </p:cNvPicPr>
          <p:nvPr/>
        </p:nvPicPr>
        <p:blipFill>
          <a:blip r:embed="rId2"/>
          <a:stretch>
            <a:fillRect/>
          </a:stretch>
        </p:blipFill>
        <p:spPr>
          <a:xfrm>
            <a:off x="1837852" y="534706"/>
            <a:ext cx="8366463" cy="5788587"/>
          </a:xfrm>
          <a:prstGeom prst="rect">
            <a:avLst/>
          </a:prstGeom>
        </p:spPr>
      </p:pic>
    </p:spTree>
    <p:extLst>
      <p:ext uri="{BB962C8B-B14F-4D97-AF65-F5344CB8AC3E}">
        <p14:creationId xmlns:p14="http://schemas.microsoft.com/office/powerpoint/2010/main" val="2802665108"/>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DF33D0C-E30E-9C6F-2E73-A48D456A1265}"/>
              </a:ext>
            </a:extLst>
          </p:cNvPr>
          <p:cNvSpPr>
            <a:spLocks noGrp="1"/>
          </p:cNvSpPr>
          <p:nvPr>
            <p:ph type="title"/>
          </p:nvPr>
        </p:nvSpPr>
        <p:spPr/>
        <p:txBody>
          <a:bodyPr/>
          <a:lstStyle/>
          <a:p>
            <a:r>
              <a:rPr lang="en-US" b="1" err="1"/>
              <a:t>Permanentně</a:t>
            </a:r>
            <a:r>
              <a:rPr lang="en-US" b="1"/>
              <a:t> </a:t>
            </a:r>
            <a:r>
              <a:rPr lang="en-US" b="1" err="1"/>
              <a:t>zapnuté</a:t>
            </a:r>
            <a:r>
              <a:rPr lang="en-US" b="1"/>
              <a:t> Wi-Fi </a:t>
            </a:r>
            <a:r>
              <a:rPr lang="en-US" b="1" err="1"/>
              <a:t>rozhraní</a:t>
            </a:r>
            <a:endParaRPr lang="en-US"/>
          </a:p>
        </p:txBody>
      </p:sp>
      <p:sp>
        <p:nvSpPr>
          <p:cNvPr id="3" name="Zástupný obsah 2">
            <a:extLst>
              <a:ext uri="{FF2B5EF4-FFF2-40B4-BE49-F238E27FC236}">
                <a16:creationId xmlns:a16="http://schemas.microsoft.com/office/drawing/2014/main" id="{7100E6AD-A733-A90E-6389-9E76B5148EE5}"/>
              </a:ext>
            </a:extLst>
          </p:cNvPr>
          <p:cNvSpPr>
            <a:spLocks noGrp="1"/>
          </p:cNvSpPr>
          <p:nvPr>
            <p:ph idx="1"/>
          </p:nvPr>
        </p:nvSpPr>
        <p:spPr/>
        <p:txBody>
          <a:bodyPr>
            <a:normAutofit/>
          </a:bodyPr>
          <a:lstStyle/>
          <a:p>
            <a:r>
              <a:rPr lang="en-US"/>
              <a:t>Z </a:t>
            </a:r>
            <a:r>
              <a:rPr lang="en-US" err="1"/>
              <a:t>bezpečnostního</a:t>
            </a:r>
            <a:r>
              <a:rPr lang="en-US"/>
              <a:t> </a:t>
            </a:r>
            <a:r>
              <a:rPr lang="en-US" err="1"/>
              <a:t>hlediska</a:t>
            </a:r>
            <a:r>
              <a:rPr lang="en-US"/>
              <a:t> je </a:t>
            </a:r>
            <a:r>
              <a:rPr lang="en-US" err="1"/>
              <a:t>rizikem</a:t>
            </a:r>
            <a:r>
              <a:rPr lang="en-US"/>
              <a:t> </a:t>
            </a:r>
            <a:r>
              <a:rPr lang="en-US" err="1"/>
              <a:t>skutečnost</a:t>
            </a:r>
            <a:r>
              <a:rPr lang="en-US"/>
              <a:t>, </a:t>
            </a:r>
            <a:r>
              <a:rPr lang="en-US" err="1"/>
              <a:t>že</a:t>
            </a:r>
            <a:r>
              <a:rPr lang="en-US"/>
              <a:t> se v </a:t>
            </a:r>
            <a:r>
              <a:rPr lang="en-US" err="1"/>
              <a:t>uvedeném</a:t>
            </a:r>
            <a:r>
              <a:rPr lang="en-US"/>
              <a:t> </a:t>
            </a:r>
            <a:r>
              <a:rPr lang="en-US" err="1"/>
              <a:t>seznamu</a:t>
            </a:r>
            <a:r>
              <a:rPr lang="en-US"/>
              <a:t> </a:t>
            </a:r>
            <a:r>
              <a:rPr lang="en-US" err="1"/>
              <a:t>hledaných</a:t>
            </a:r>
            <a:r>
              <a:rPr lang="cs-CZ"/>
              <a:t> </a:t>
            </a:r>
            <a:r>
              <a:rPr lang="en-US" err="1"/>
              <a:t>sítí</a:t>
            </a:r>
            <a:r>
              <a:rPr lang="en-US"/>
              <a:t> </a:t>
            </a:r>
            <a:r>
              <a:rPr lang="en-US" err="1"/>
              <a:t>bude</a:t>
            </a:r>
            <a:r>
              <a:rPr lang="en-US"/>
              <a:t> </a:t>
            </a:r>
            <a:r>
              <a:rPr lang="en-US" err="1"/>
              <a:t>nacházet</a:t>
            </a:r>
            <a:r>
              <a:rPr lang="en-US"/>
              <a:t> </a:t>
            </a:r>
            <a:r>
              <a:rPr lang="en-US" err="1"/>
              <a:t>otevřená</a:t>
            </a:r>
            <a:r>
              <a:rPr lang="en-US"/>
              <a:t> Wi-Fi </a:t>
            </a:r>
            <a:r>
              <a:rPr lang="en-US" err="1"/>
              <a:t>síť</a:t>
            </a:r>
            <a:r>
              <a:rPr lang="en-US"/>
              <a:t> (</a:t>
            </a:r>
            <a:r>
              <a:rPr lang="en-US" err="1"/>
              <a:t>což</a:t>
            </a:r>
            <a:r>
              <a:rPr lang="en-US"/>
              <a:t> </a:t>
            </a:r>
            <a:r>
              <a:rPr lang="en-US" err="1"/>
              <a:t>lze</a:t>
            </a:r>
            <a:r>
              <a:rPr lang="en-US"/>
              <a:t> </a:t>
            </a:r>
            <a:r>
              <a:rPr lang="en-US" err="1"/>
              <a:t>často</a:t>
            </a:r>
            <a:r>
              <a:rPr lang="en-US"/>
              <a:t> </a:t>
            </a:r>
            <a:r>
              <a:rPr lang="en-US" err="1"/>
              <a:t>odhadnout</a:t>
            </a:r>
            <a:r>
              <a:rPr lang="en-US"/>
              <a:t>), </a:t>
            </a:r>
            <a:endParaRPr lang="cs-CZ"/>
          </a:p>
          <a:p>
            <a:r>
              <a:rPr lang="en-US" err="1"/>
              <a:t>nebo</a:t>
            </a:r>
            <a:r>
              <a:rPr lang="en-US"/>
              <a:t> Wi-Fi </a:t>
            </a:r>
            <a:r>
              <a:rPr lang="en-US" err="1"/>
              <a:t>síť</a:t>
            </a:r>
            <a:r>
              <a:rPr lang="en-US"/>
              <a:t>, </a:t>
            </a:r>
            <a:r>
              <a:rPr lang="en-US" err="1"/>
              <a:t>která</a:t>
            </a:r>
            <a:r>
              <a:rPr lang="en-US"/>
              <a:t> </a:t>
            </a:r>
            <a:r>
              <a:rPr lang="en-US" err="1"/>
              <a:t>sice</a:t>
            </a:r>
            <a:r>
              <a:rPr lang="cs-CZ"/>
              <a:t> </a:t>
            </a:r>
            <a:r>
              <a:rPr lang="en-US" err="1"/>
              <a:t>vyžaduje</a:t>
            </a:r>
            <a:r>
              <a:rPr lang="en-US"/>
              <a:t> </a:t>
            </a:r>
            <a:r>
              <a:rPr lang="en-US" err="1"/>
              <a:t>heslo</a:t>
            </a:r>
            <a:r>
              <a:rPr lang="en-US"/>
              <a:t>, ale toto </a:t>
            </a:r>
            <a:r>
              <a:rPr lang="en-US" err="1"/>
              <a:t>heslo</a:t>
            </a:r>
            <a:r>
              <a:rPr lang="en-US"/>
              <a:t> </a:t>
            </a:r>
            <a:r>
              <a:rPr lang="en-US" err="1"/>
              <a:t>lze</a:t>
            </a:r>
            <a:r>
              <a:rPr lang="en-US"/>
              <a:t> </a:t>
            </a:r>
            <a:r>
              <a:rPr lang="en-US" err="1"/>
              <a:t>snadno</a:t>
            </a:r>
            <a:r>
              <a:rPr lang="en-US"/>
              <a:t> </a:t>
            </a:r>
            <a:r>
              <a:rPr lang="en-US" err="1"/>
              <a:t>zjistit</a:t>
            </a:r>
            <a:r>
              <a:rPr lang="en-US"/>
              <a:t> (</a:t>
            </a:r>
            <a:r>
              <a:rPr lang="en-US" err="1"/>
              <a:t>například</a:t>
            </a:r>
            <a:r>
              <a:rPr lang="en-US"/>
              <a:t> </a:t>
            </a:r>
            <a:r>
              <a:rPr lang="en-US" err="1"/>
              <a:t>heslo</a:t>
            </a:r>
            <a:r>
              <a:rPr lang="en-US"/>
              <a:t> k Wi-Fi </a:t>
            </a:r>
            <a:r>
              <a:rPr lang="en-US" err="1"/>
              <a:t>ve</a:t>
            </a:r>
            <a:r>
              <a:rPr lang="en-US"/>
              <a:t> </a:t>
            </a:r>
            <a:r>
              <a:rPr lang="en-US" err="1"/>
              <a:t>vaší</a:t>
            </a:r>
            <a:r>
              <a:rPr lang="en-US"/>
              <a:t> </a:t>
            </a:r>
            <a:r>
              <a:rPr lang="en-US" err="1"/>
              <a:t>oblíbené</a:t>
            </a:r>
            <a:r>
              <a:rPr lang="cs-CZ"/>
              <a:t> </a:t>
            </a:r>
            <a:r>
              <a:rPr lang="en-US" err="1"/>
              <a:t>restauraci</a:t>
            </a:r>
            <a:r>
              <a:rPr lang="en-US"/>
              <a:t>).</a:t>
            </a:r>
            <a:endParaRPr lang="cs-CZ"/>
          </a:p>
          <a:p>
            <a:r>
              <a:rPr lang="en-US" err="1"/>
              <a:t>Díky</a:t>
            </a:r>
            <a:r>
              <a:rPr lang="en-US"/>
              <a:t> </a:t>
            </a:r>
            <a:r>
              <a:rPr lang="en-US" err="1"/>
              <a:t>tomu</a:t>
            </a:r>
            <a:r>
              <a:rPr lang="en-US"/>
              <a:t> </a:t>
            </a:r>
            <a:r>
              <a:rPr lang="en-US" err="1"/>
              <a:t>může</a:t>
            </a:r>
            <a:r>
              <a:rPr lang="en-US"/>
              <a:t> </a:t>
            </a:r>
            <a:r>
              <a:rPr lang="en-US" err="1"/>
              <a:t>útočník</a:t>
            </a:r>
            <a:r>
              <a:rPr lang="en-US"/>
              <a:t> </a:t>
            </a:r>
            <a:r>
              <a:rPr lang="en-US" err="1"/>
              <a:t>připravit</a:t>
            </a:r>
            <a:r>
              <a:rPr lang="en-US"/>
              <a:t> </a:t>
            </a:r>
            <a:r>
              <a:rPr lang="en-US" err="1"/>
              <a:t>falešnou</a:t>
            </a:r>
            <a:r>
              <a:rPr lang="en-US"/>
              <a:t> </a:t>
            </a:r>
            <a:r>
              <a:rPr lang="en-US" err="1"/>
              <a:t>síť</a:t>
            </a:r>
            <a:r>
              <a:rPr lang="en-US"/>
              <a:t> se </a:t>
            </a:r>
            <a:r>
              <a:rPr lang="en-US" err="1"/>
              <a:t>stejným</a:t>
            </a:r>
            <a:r>
              <a:rPr lang="en-US"/>
              <a:t> SSI</a:t>
            </a:r>
            <a:r>
              <a:rPr lang="cs-CZ"/>
              <a:t>D.</a:t>
            </a:r>
          </a:p>
          <a:p>
            <a:r>
              <a:rPr lang="en-US" err="1"/>
              <a:t>Následně</a:t>
            </a:r>
            <a:r>
              <a:rPr lang="cs-CZ"/>
              <a:t> </a:t>
            </a:r>
            <a:r>
              <a:rPr lang="en-US" err="1"/>
              <a:t>může</a:t>
            </a:r>
            <a:r>
              <a:rPr lang="en-US"/>
              <a:t> </a:t>
            </a:r>
            <a:r>
              <a:rPr lang="en-US" err="1"/>
              <a:t>útočník</a:t>
            </a:r>
            <a:r>
              <a:rPr lang="en-US"/>
              <a:t> </a:t>
            </a:r>
            <a:r>
              <a:rPr lang="en-US" err="1"/>
              <a:t>odposlouchávat</a:t>
            </a:r>
            <a:r>
              <a:rPr lang="en-US"/>
              <a:t> </a:t>
            </a:r>
            <a:r>
              <a:rPr lang="en-US" err="1"/>
              <a:t>veškerou</a:t>
            </a:r>
            <a:r>
              <a:rPr lang="en-US"/>
              <a:t> </a:t>
            </a:r>
            <a:r>
              <a:rPr lang="en-US" err="1"/>
              <a:t>nešifrovanou</a:t>
            </a:r>
            <a:r>
              <a:rPr lang="en-US"/>
              <a:t> </a:t>
            </a:r>
            <a:r>
              <a:rPr lang="en-US" err="1"/>
              <a:t>komunikaci</a:t>
            </a:r>
            <a:r>
              <a:rPr lang="en-US"/>
              <a:t> </a:t>
            </a:r>
            <a:r>
              <a:rPr lang="en-US" err="1"/>
              <a:t>připojeného</a:t>
            </a:r>
            <a:r>
              <a:rPr lang="en-US"/>
              <a:t> </a:t>
            </a:r>
            <a:r>
              <a:rPr lang="en-US" err="1"/>
              <a:t>koncového</a:t>
            </a:r>
            <a:r>
              <a:rPr lang="cs-CZ"/>
              <a:t> </a:t>
            </a:r>
            <a:r>
              <a:rPr lang="en-US" err="1"/>
              <a:t>počítačového</a:t>
            </a:r>
            <a:r>
              <a:rPr lang="en-US"/>
              <a:t> </a:t>
            </a:r>
            <a:r>
              <a:rPr lang="en-US" err="1"/>
              <a:t>systému</a:t>
            </a:r>
            <a:r>
              <a:rPr lang="en-US"/>
              <a:t>.</a:t>
            </a:r>
          </a:p>
        </p:txBody>
      </p:sp>
      <p:sp>
        <p:nvSpPr>
          <p:cNvPr id="4" name="Zástupný symbol pro datum 3">
            <a:extLst>
              <a:ext uri="{FF2B5EF4-FFF2-40B4-BE49-F238E27FC236}">
                <a16:creationId xmlns:a16="http://schemas.microsoft.com/office/drawing/2014/main" id="{A1E92777-81C2-85FF-C9CA-EBF3798F7D9A}"/>
              </a:ext>
            </a:extLst>
          </p:cNvPr>
          <p:cNvSpPr>
            <a:spLocks noGrp="1"/>
          </p:cNvSpPr>
          <p:nvPr>
            <p:ph type="dt" sz="half" idx="10"/>
          </p:nvPr>
        </p:nvSpPr>
        <p:spPr/>
        <p:txBody>
          <a:bodyPr/>
          <a:lstStyle/>
          <a:p>
            <a:r>
              <a:rPr lang="cs-CZ"/>
              <a:t>18.8.2022</a:t>
            </a:r>
          </a:p>
        </p:txBody>
      </p:sp>
      <p:sp>
        <p:nvSpPr>
          <p:cNvPr id="5" name="Zástupný symbol pro číslo snímku 4">
            <a:extLst>
              <a:ext uri="{FF2B5EF4-FFF2-40B4-BE49-F238E27FC236}">
                <a16:creationId xmlns:a16="http://schemas.microsoft.com/office/drawing/2014/main" id="{986F8E4C-305B-61CB-D019-4883AE083725}"/>
              </a:ext>
            </a:extLst>
          </p:cNvPr>
          <p:cNvSpPr>
            <a:spLocks noGrp="1"/>
          </p:cNvSpPr>
          <p:nvPr>
            <p:ph type="sldNum" sz="quarter" idx="12"/>
          </p:nvPr>
        </p:nvSpPr>
        <p:spPr/>
        <p:txBody>
          <a:bodyPr/>
          <a:lstStyle/>
          <a:p>
            <a:fld id="{AD9F5C5F-4392-49C5-81DD-37F176609E69}" type="slidenum">
              <a:rPr lang="cs-CZ" smtClean="0"/>
              <a:t>186</a:t>
            </a:fld>
            <a:endParaRPr lang="cs-CZ"/>
          </a:p>
        </p:txBody>
      </p:sp>
    </p:spTree>
    <p:extLst>
      <p:ext uri="{BB962C8B-B14F-4D97-AF65-F5344CB8AC3E}">
        <p14:creationId xmlns:p14="http://schemas.microsoft.com/office/powerpoint/2010/main" val="3987704073"/>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Bezdrátové sítě: WPA2 (Wi-Fi Protected Access2) - riziko</a:t>
            </a:r>
            <a:endParaRPr lang="en-US"/>
          </a:p>
        </p:txBody>
      </p:sp>
      <p:sp>
        <p:nvSpPr>
          <p:cNvPr id="3" name="Content Placeholder 2"/>
          <p:cNvSpPr>
            <a:spLocks noGrp="1"/>
          </p:cNvSpPr>
          <p:nvPr>
            <p:ph idx="1"/>
          </p:nvPr>
        </p:nvSpPr>
        <p:spPr/>
        <p:txBody>
          <a:bodyPr/>
          <a:lstStyle/>
          <a:p>
            <a:r>
              <a:rPr lang="en-US"/>
              <a:t>V </a:t>
            </a:r>
            <a:r>
              <a:rPr lang="en-US" err="1"/>
              <a:t>roce</a:t>
            </a:r>
            <a:r>
              <a:rPr lang="en-US"/>
              <a:t> 2017 </a:t>
            </a:r>
            <a:r>
              <a:rPr lang="en-US" err="1"/>
              <a:t>byla</a:t>
            </a:r>
            <a:r>
              <a:rPr lang="en-US"/>
              <a:t> </a:t>
            </a:r>
            <a:r>
              <a:rPr lang="en-US" err="1"/>
              <a:t>odhalena</a:t>
            </a:r>
            <a:r>
              <a:rPr lang="en-US"/>
              <a:t> </a:t>
            </a:r>
            <a:r>
              <a:rPr lang="en-US" err="1"/>
              <a:t>řada</a:t>
            </a:r>
            <a:r>
              <a:rPr lang="en-US"/>
              <a:t> </a:t>
            </a:r>
            <a:r>
              <a:rPr lang="en-US" err="1"/>
              <a:t>nových</a:t>
            </a:r>
            <a:r>
              <a:rPr lang="en-US"/>
              <a:t> </a:t>
            </a:r>
            <a:r>
              <a:rPr lang="en-US" err="1"/>
              <a:t>bezpečnostních</a:t>
            </a:r>
            <a:r>
              <a:rPr lang="en-US"/>
              <a:t> </a:t>
            </a:r>
            <a:r>
              <a:rPr lang="en-US" err="1"/>
              <a:t>chyb</a:t>
            </a:r>
            <a:r>
              <a:rPr lang="en-US"/>
              <a:t> </a:t>
            </a:r>
            <a:r>
              <a:rPr lang="en-US" err="1"/>
              <a:t>týkajících</a:t>
            </a:r>
            <a:r>
              <a:rPr lang="en-US"/>
              <a:t> se </a:t>
            </a:r>
            <a:r>
              <a:rPr lang="en-US" err="1"/>
              <a:t>protokolu</a:t>
            </a:r>
            <a:r>
              <a:rPr lang="en-US"/>
              <a:t> WPA2.</a:t>
            </a:r>
          </a:p>
          <a:p>
            <a:r>
              <a:rPr lang="en-US" err="1"/>
              <a:t>Prezentován</a:t>
            </a:r>
            <a:r>
              <a:rPr lang="en-US"/>
              <a:t> </a:t>
            </a:r>
            <a:r>
              <a:rPr lang="en-US" err="1"/>
              <a:t>byl</a:t>
            </a:r>
            <a:r>
              <a:rPr lang="en-US"/>
              <a:t> </a:t>
            </a:r>
            <a:r>
              <a:rPr lang="en-US" err="1"/>
              <a:t>také</a:t>
            </a:r>
            <a:r>
              <a:rPr lang="en-US"/>
              <a:t> </a:t>
            </a:r>
            <a:r>
              <a:rPr lang="en-US" b="1"/>
              <a:t>KRACK (Key Reinstallation Attacks), </a:t>
            </a:r>
            <a:r>
              <a:rPr lang="en-US" err="1"/>
              <a:t>který</a:t>
            </a:r>
            <a:r>
              <a:rPr lang="en-US"/>
              <a:t> </a:t>
            </a:r>
            <a:r>
              <a:rPr lang="en-US" err="1"/>
              <a:t>manipuluje</a:t>
            </a:r>
            <a:r>
              <a:rPr lang="en-US"/>
              <a:t> s </a:t>
            </a:r>
            <a:r>
              <a:rPr lang="en-US" err="1"/>
              <a:t>úvodním</a:t>
            </a:r>
            <a:r>
              <a:rPr lang="en-US"/>
              <a:t> </a:t>
            </a:r>
            <a:r>
              <a:rPr lang="en-US" err="1"/>
              <a:t>Fourway</a:t>
            </a:r>
            <a:r>
              <a:rPr lang="en-US"/>
              <a:t> handshake. KRACK </a:t>
            </a:r>
            <a:r>
              <a:rPr lang="en-US" err="1"/>
              <a:t>zneužívá</a:t>
            </a:r>
            <a:r>
              <a:rPr lang="en-US"/>
              <a:t> </a:t>
            </a:r>
            <a:r>
              <a:rPr lang="en-US" err="1"/>
              <a:t>chyby</a:t>
            </a:r>
            <a:r>
              <a:rPr lang="en-US"/>
              <a:t> </a:t>
            </a:r>
            <a:r>
              <a:rPr lang="en-US" err="1"/>
              <a:t>ve</a:t>
            </a:r>
            <a:r>
              <a:rPr lang="en-US"/>
              <a:t> </a:t>
            </a:r>
            <a:r>
              <a:rPr lang="en-US" err="1"/>
              <a:t>třetím</a:t>
            </a:r>
            <a:r>
              <a:rPr lang="en-US"/>
              <a:t> </a:t>
            </a:r>
            <a:r>
              <a:rPr lang="en-US" err="1"/>
              <a:t>kroku</a:t>
            </a:r>
            <a:r>
              <a:rPr lang="en-US"/>
              <a:t>, </a:t>
            </a:r>
            <a:r>
              <a:rPr lang="en-US" err="1"/>
              <a:t>kdy</a:t>
            </a:r>
            <a:r>
              <a:rPr lang="en-US"/>
              <a:t> je </a:t>
            </a:r>
            <a:r>
              <a:rPr lang="en-US" err="1"/>
              <a:t>možné</a:t>
            </a:r>
            <a:r>
              <a:rPr lang="en-US"/>
              <a:t> </a:t>
            </a:r>
            <a:r>
              <a:rPr lang="en-US" err="1"/>
              <a:t>šifrovací</a:t>
            </a:r>
            <a:r>
              <a:rPr lang="en-US"/>
              <a:t> </a:t>
            </a:r>
            <a:r>
              <a:rPr lang="en-US" err="1"/>
              <a:t>klíč</a:t>
            </a:r>
            <a:r>
              <a:rPr lang="en-US"/>
              <a:t> </a:t>
            </a:r>
            <a:r>
              <a:rPr lang="en-US" err="1"/>
              <a:t>poslat</a:t>
            </a:r>
            <a:r>
              <a:rPr lang="cs-CZ"/>
              <a:t> </a:t>
            </a:r>
            <a:r>
              <a:rPr lang="en-US" err="1"/>
              <a:t>několikrát</a:t>
            </a:r>
            <a:r>
              <a:rPr lang="en-US"/>
              <a:t>. </a:t>
            </a:r>
            <a:endParaRPr lang="cs-CZ"/>
          </a:p>
          <a:p>
            <a:r>
              <a:rPr lang="en-US" err="1"/>
              <a:t>Pokud</a:t>
            </a:r>
            <a:r>
              <a:rPr lang="en-US"/>
              <a:t> je </a:t>
            </a:r>
            <a:r>
              <a:rPr lang="en-US" err="1"/>
              <a:t>útok</a:t>
            </a:r>
            <a:r>
              <a:rPr lang="en-US"/>
              <a:t> </a:t>
            </a:r>
            <a:r>
              <a:rPr lang="en-US" err="1"/>
              <a:t>proveden</a:t>
            </a:r>
            <a:r>
              <a:rPr lang="en-US"/>
              <a:t> </a:t>
            </a:r>
            <a:r>
              <a:rPr lang="en-US" err="1"/>
              <a:t>správným</a:t>
            </a:r>
            <a:r>
              <a:rPr lang="en-US"/>
              <a:t> </a:t>
            </a:r>
            <a:r>
              <a:rPr lang="en-US" err="1"/>
              <a:t>způsobem</a:t>
            </a:r>
            <a:r>
              <a:rPr lang="en-US"/>
              <a:t>, </a:t>
            </a:r>
            <a:r>
              <a:rPr lang="en-US" err="1"/>
              <a:t>může</a:t>
            </a:r>
            <a:r>
              <a:rPr lang="en-US"/>
              <a:t> </a:t>
            </a:r>
            <a:r>
              <a:rPr lang="en-US" err="1"/>
              <a:t>být</a:t>
            </a:r>
            <a:r>
              <a:rPr lang="en-US"/>
              <a:t> </a:t>
            </a:r>
            <a:r>
              <a:rPr lang="en-US" err="1"/>
              <a:t>úvodní</a:t>
            </a:r>
            <a:r>
              <a:rPr lang="en-US"/>
              <a:t> nonce </a:t>
            </a:r>
            <a:r>
              <a:rPr lang="en-US" err="1"/>
              <a:t>použit</a:t>
            </a:r>
            <a:r>
              <a:rPr lang="en-US"/>
              <a:t> </a:t>
            </a:r>
            <a:r>
              <a:rPr lang="en-US" err="1"/>
              <a:t>tak</a:t>
            </a:r>
            <a:r>
              <a:rPr lang="en-US"/>
              <a:t>, </a:t>
            </a:r>
            <a:r>
              <a:rPr lang="en-US" err="1"/>
              <a:t>že</a:t>
            </a:r>
            <a:r>
              <a:rPr lang="cs-CZ"/>
              <a:t> </a:t>
            </a:r>
            <a:r>
              <a:rPr lang="en-US"/>
              <a:t>to </a:t>
            </a:r>
            <a:r>
              <a:rPr lang="en-US" err="1"/>
              <a:t>kompletně</a:t>
            </a:r>
            <a:r>
              <a:rPr lang="en-US"/>
              <a:t> </a:t>
            </a:r>
            <a:r>
              <a:rPr lang="en-US" err="1"/>
              <a:t>boří</a:t>
            </a:r>
            <a:r>
              <a:rPr lang="en-US"/>
              <a:t> </a:t>
            </a:r>
            <a:r>
              <a:rPr lang="en-US" err="1"/>
              <a:t>bezpečnost</a:t>
            </a:r>
            <a:r>
              <a:rPr lang="en-US"/>
              <a:t> </a:t>
            </a:r>
            <a:r>
              <a:rPr lang="en-US" err="1"/>
              <a:t>šifrování</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187</a:t>
            </a:fld>
            <a:endParaRPr lang="cs-CZ"/>
          </a:p>
        </p:txBody>
      </p:sp>
    </p:spTree>
    <p:extLst>
      <p:ext uri="{BB962C8B-B14F-4D97-AF65-F5344CB8AC3E}">
        <p14:creationId xmlns:p14="http://schemas.microsoft.com/office/powerpoint/2010/main" val="4292544486"/>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188</a:t>
            </a:fld>
            <a:endParaRPr lang="cs-CZ"/>
          </a:p>
        </p:txBody>
      </p:sp>
      <p:pic>
        <p:nvPicPr>
          <p:cNvPr id="1026" name="Picture 2" descr="The scheme of a KRACK atta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7329" y="1428762"/>
            <a:ext cx="7456611" cy="4464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4984154"/>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D6F1B25-51D5-4C74-6CBB-57D5E78AB705}"/>
              </a:ext>
            </a:extLst>
          </p:cNvPr>
          <p:cNvSpPr>
            <a:spLocks noGrp="1"/>
          </p:cNvSpPr>
          <p:nvPr>
            <p:ph type="title"/>
          </p:nvPr>
        </p:nvSpPr>
        <p:spPr/>
        <p:txBody>
          <a:bodyPr/>
          <a:lstStyle/>
          <a:p>
            <a:r>
              <a:rPr lang="cs-CZ" b="1"/>
              <a:t>Bezdrátové sítě: WPA3 (Wi-Fi Protected Access3)</a:t>
            </a:r>
            <a:endParaRPr lang="en-US"/>
          </a:p>
        </p:txBody>
      </p:sp>
      <p:sp>
        <p:nvSpPr>
          <p:cNvPr id="3" name="Zástupný obsah 2">
            <a:extLst>
              <a:ext uri="{FF2B5EF4-FFF2-40B4-BE49-F238E27FC236}">
                <a16:creationId xmlns:a16="http://schemas.microsoft.com/office/drawing/2014/main" id="{E3DF157E-7DD4-CE66-9887-CB0906CAF2CF}"/>
              </a:ext>
            </a:extLst>
          </p:cNvPr>
          <p:cNvSpPr>
            <a:spLocks noGrp="1"/>
          </p:cNvSpPr>
          <p:nvPr>
            <p:ph idx="1"/>
          </p:nvPr>
        </p:nvSpPr>
        <p:spPr/>
        <p:txBody>
          <a:bodyPr/>
          <a:lstStyle/>
          <a:p>
            <a:r>
              <a:rPr lang="en-US" err="1"/>
              <a:t>Ačkoliv</a:t>
            </a:r>
            <a:r>
              <a:rPr lang="en-US"/>
              <a:t> je v </a:t>
            </a:r>
            <a:r>
              <a:rPr lang="en-US" err="1"/>
              <a:t>současnosti</a:t>
            </a:r>
            <a:r>
              <a:rPr lang="en-US"/>
              <a:t> </a:t>
            </a:r>
            <a:r>
              <a:rPr lang="en-US" err="1"/>
              <a:t>protokol</a:t>
            </a:r>
            <a:r>
              <a:rPr lang="en-US"/>
              <a:t> WPA2 </a:t>
            </a:r>
            <a:r>
              <a:rPr lang="en-US" err="1"/>
              <a:t>při</a:t>
            </a:r>
            <a:r>
              <a:rPr lang="en-US"/>
              <a:t> </a:t>
            </a:r>
            <a:r>
              <a:rPr lang="en-US" err="1"/>
              <a:t>správné</a:t>
            </a:r>
            <a:r>
              <a:rPr lang="en-US"/>
              <a:t> </a:t>
            </a:r>
            <a:r>
              <a:rPr lang="en-US" err="1"/>
              <a:t>konfiguraci</a:t>
            </a:r>
            <a:r>
              <a:rPr lang="en-US"/>
              <a:t> </a:t>
            </a:r>
            <a:r>
              <a:rPr lang="en-US" err="1"/>
              <a:t>stále</a:t>
            </a:r>
            <a:r>
              <a:rPr lang="en-US"/>
              <a:t> </a:t>
            </a:r>
            <a:r>
              <a:rPr lang="en-US" err="1"/>
              <a:t>považován</a:t>
            </a:r>
            <a:r>
              <a:rPr lang="en-US"/>
              <a:t> </a:t>
            </a:r>
            <a:r>
              <a:rPr lang="en-US" err="1"/>
              <a:t>za</a:t>
            </a:r>
            <a:r>
              <a:rPr lang="en-US"/>
              <a:t> </a:t>
            </a:r>
            <a:r>
              <a:rPr lang="en-US" err="1"/>
              <a:t>dostatečně</a:t>
            </a:r>
            <a:r>
              <a:rPr lang="cs-CZ"/>
              <a:t> </a:t>
            </a:r>
            <a:r>
              <a:rPr lang="en-US" err="1"/>
              <a:t>bezpečný</a:t>
            </a:r>
            <a:r>
              <a:rPr lang="en-US"/>
              <a:t>, </a:t>
            </a:r>
            <a:r>
              <a:rPr lang="en-US" err="1"/>
              <a:t>stejně</a:t>
            </a:r>
            <a:r>
              <a:rPr lang="en-US"/>
              <a:t> se v </a:t>
            </a:r>
            <a:r>
              <a:rPr lang="en-US" err="1"/>
              <a:t>jeho</a:t>
            </a:r>
            <a:r>
              <a:rPr lang="en-US"/>
              <a:t> </a:t>
            </a:r>
            <a:r>
              <a:rPr lang="en-US" err="1"/>
              <a:t>implementacích</a:t>
            </a:r>
            <a:r>
              <a:rPr lang="en-US"/>
              <a:t> v </a:t>
            </a:r>
            <a:r>
              <a:rPr lang="en-US" err="1"/>
              <a:t>minulosti</a:t>
            </a:r>
            <a:r>
              <a:rPr lang="en-US"/>
              <a:t> </a:t>
            </a:r>
            <a:r>
              <a:rPr lang="en-US" err="1"/>
              <a:t>objevily</a:t>
            </a:r>
            <a:r>
              <a:rPr lang="en-US"/>
              <a:t> </a:t>
            </a:r>
            <a:r>
              <a:rPr lang="en-US" err="1"/>
              <a:t>chyby</a:t>
            </a:r>
            <a:r>
              <a:rPr lang="en-US"/>
              <a:t>, </a:t>
            </a:r>
            <a:r>
              <a:rPr lang="en-US" err="1"/>
              <a:t>kterým</a:t>
            </a:r>
            <a:r>
              <a:rPr lang="en-US"/>
              <a:t> se </a:t>
            </a:r>
            <a:r>
              <a:rPr lang="en-US" err="1"/>
              <a:t>snaží</a:t>
            </a:r>
            <a:r>
              <a:rPr lang="en-US"/>
              <a:t> </a:t>
            </a:r>
            <a:r>
              <a:rPr lang="en-US" err="1"/>
              <a:t>předejít</a:t>
            </a:r>
            <a:r>
              <a:rPr lang="cs-CZ"/>
              <a:t> </a:t>
            </a:r>
            <a:r>
              <a:rPr lang="en-US" err="1"/>
              <a:t>nový</a:t>
            </a:r>
            <a:r>
              <a:rPr lang="en-US"/>
              <a:t> </a:t>
            </a:r>
            <a:r>
              <a:rPr lang="en-US" err="1"/>
              <a:t>protokol</a:t>
            </a:r>
            <a:r>
              <a:rPr lang="en-US"/>
              <a:t> WPA3.</a:t>
            </a:r>
            <a:endParaRPr lang="cs-CZ"/>
          </a:p>
          <a:p>
            <a:r>
              <a:rPr lang="en-US"/>
              <a:t>Ten </a:t>
            </a:r>
            <a:r>
              <a:rPr lang="en-US" err="1"/>
              <a:t>byl</a:t>
            </a:r>
            <a:r>
              <a:rPr lang="en-US"/>
              <a:t> </a:t>
            </a:r>
            <a:r>
              <a:rPr lang="en-US" err="1"/>
              <a:t>uvolněn</a:t>
            </a:r>
            <a:r>
              <a:rPr lang="en-US"/>
              <a:t> v </a:t>
            </a:r>
            <a:r>
              <a:rPr lang="en-US" err="1"/>
              <a:t>červnu</a:t>
            </a:r>
            <a:r>
              <a:rPr lang="en-US"/>
              <a:t> 2018 a </a:t>
            </a:r>
            <a:r>
              <a:rPr lang="en-US" err="1"/>
              <a:t>odstraňuje</a:t>
            </a:r>
            <a:r>
              <a:rPr lang="en-US"/>
              <a:t> </a:t>
            </a:r>
            <a:r>
              <a:rPr lang="en-US" err="1"/>
              <a:t>některé</a:t>
            </a:r>
            <a:r>
              <a:rPr lang="en-US"/>
              <a:t> </a:t>
            </a:r>
            <a:r>
              <a:rPr lang="en-US" err="1"/>
              <a:t>problémy</a:t>
            </a:r>
            <a:r>
              <a:rPr lang="en-US"/>
              <a:t> </a:t>
            </a:r>
            <a:r>
              <a:rPr lang="en-US" err="1"/>
              <a:t>svého</a:t>
            </a:r>
            <a:r>
              <a:rPr lang="cs-CZ"/>
              <a:t> </a:t>
            </a:r>
            <a:r>
              <a:rPr lang="en-US" err="1"/>
              <a:t>předchůdce</a:t>
            </a:r>
            <a:r>
              <a:rPr lang="en-US"/>
              <a:t>.</a:t>
            </a:r>
          </a:p>
        </p:txBody>
      </p:sp>
      <p:sp>
        <p:nvSpPr>
          <p:cNvPr id="4" name="Zástupný symbol pro datum 3">
            <a:extLst>
              <a:ext uri="{FF2B5EF4-FFF2-40B4-BE49-F238E27FC236}">
                <a16:creationId xmlns:a16="http://schemas.microsoft.com/office/drawing/2014/main" id="{6896D9C3-19EF-1358-6E69-300BC4EC3B56}"/>
              </a:ext>
            </a:extLst>
          </p:cNvPr>
          <p:cNvSpPr>
            <a:spLocks noGrp="1"/>
          </p:cNvSpPr>
          <p:nvPr>
            <p:ph type="dt" sz="half" idx="10"/>
          </p:nvPr>
        </p:nvSpPr>
        <p:spPr/>
        <p:txBody>
          <a:bodyPr/>
          <a:lstStyle/>
          <a:p>
            <a:r>
              <a:rPr lang="cs-CZ"/>
              <a:t>18.8.2022</a:t>
            </a:r>
          </a:p>
        </p:txBody>
      </p:sp>
      <p:sp>
        <p:nvSpPr>
          <p:cNvPr id="5" name="Zástupný symbol pro číslo snímku 4">
            <a:extLst>
              <a:ext uri="{FF2B5EF4-FFF2-40B4-BE49-F238E27FC236}">
                <a16:creationId xmlns:a16="http://schemas.microsoft.com/office/drawing/2014/main" id="{E6342F49-CC80-37AF-A523-6B7403CB01C2}"/>
              </a:ext>
            </a:extLst>
          </p:cNvPr>
          <p:cNvSpPr>
            <a:spLocks noGrp="1"/>
          </p:cNvSpPr>
          <p:nvPr>
            <p:ph type="sldNum" sz="quarter" idx="12"/>
          </p:nvPr>
        </p:nvSpPr>
        <p:spPr/>
        <p:txBody>
          <a:bodyPr/>
          <a:lstStyle/>
          <a:p>
            <a:fld id="{AD9F5C5F-4392-49C5-81DD-37F176609E69}" type="slidenum">
              <a:rPr lang="cs-CZ" smtClean="0"/>
              <a:t>189</a:t>
            </a:fld>
            <a:endParaRPr lang="cs-CZ"/>
          </a:p>
        </p:txBody>
      </p:sp>
    </p:spTree>
    <p:extLst>
      <p:ext uri="{BB962C8B-B14F-4D97-AF65-F5344CB8AC3E}">
        <p14:creationId xmlns:p14="http://schemas.microsoft.com/office/powerpoint/2010/main" val="981403507"/>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CCC1BB4-3916-CA27-1052-E50CCBAF95E0}"/>
              </a:ext>
            </a:extLst>
          </p:cNvPr>
          <p:cNvSpPr>
            <a:spLocks noGrp="1"/>
          </p:cNvSpPr>
          <p:nvPr>
            <p:ph type="title"/>
          </p:nvPr>
        </p:nvSpPr>
        <p:spPr/>
        <p:txBody>
          <a:bodyPr/>
          <a:lstStyle/>
          <a:p>
            <a:r>
              <a:rPr lang="cs-CZ" b="1"/>
              <a:t>Bezdrátové sítě: WPA3 (Wi-Fi Protected Access3)</a:t>
            </a:r>
            <a:endParaRPr lang="en-US"/>
          </a:p>
        </p:txBody>
      </p:sp>
      <p:sp>
        <p:nvSpPr>
          <p:cNvPr id="3" name="Zástupný obsah 2">
            <a:extLst>
              <a:ext uri="{FF2B5EF4-FFF2-40B4-BE49-F238E27FC236}">
                <a16:creationId xmlns:a16="http://schemas.microsoft.com/office/drawing/2014/main" id="{D0F426A8-8A51-FE83-C90E-D53550ADBE3A}"/>
              </a:ext>
            </a:extLst>
          </p:cNvPr>
          <p:cNvSpPr>
            <a:spLocks noGrp="1"/>
          </p:cNvSpPr>
          <p:nvPr>
            <p:ph idx="1"/>
          </p:nvPr>
        </p:nvSpPr>
        <p:spPr/>
        <p:txBody>
          <a:bodyPr/>
          <a:lstStyle/>
          <a:p>
            <a:r>
              <a:rPr lang="en-US" b="1"/>
              <a:t>WPA3-Personal </a:t>
            </a:r>
            <a:r>
              <a:rPr lang="en-US" err="1"/>
              <a:t>přináší</a:t>
            </a:r>
            <a:r>
              <a:rPr lang="en-US"/>
              <a:t> </a:t>
            </a:r>
            <a:r>
              <a:rPr lang="en-US" err="1"/>
              <a:t>autentizaci</a:t>
            </a:r>
            <a:r>
              <a:rPr lang="en-US"/>
              <a:t>, </a:t>
            </a:r>
            <a:r>
              <a:rPr lang="en-US" err="1"/>
              <a:t>která</a:t>
            </a:r>
            <a:r>
              <a:rPr lang="en-US"/>
              <a:t> je </a:t>
            </a:r>
            <a:r>
              <a:rPr lang="en-US" err="1"/>
              <a:t>odolná</a:t>
            </a:r>
            <a:r>
              <a:rPr lang="en-US"/>
              <a:t> </a:t>
            </a:r>
            <a:r>
              <a:rPr lang="en-US" err="1"/>
              <a:t>i</a:t>
            </a:r>
            <a:r>
              <a:rPr lang="en-US"/>
              <a:t> </a:t>
            </a:r>
            <a:r>
              <a:rPr lang="en-US" err="1"/>
              <a:t>pokud</a:t>
            </a:r>
            <a:r>
              <a:rPr lang="en-US"/>
              <a:t> </a:t>
            </a:r>
            <a:r>
              <a:rPr lang="en-US" err="1"/>
              <a:t>uživatel</a:t>
            </a:r>
            <a:r>
              <a:rPr lang="en-US"/>
              <a:t> </a:t>
            </a:r>
            <a:r>
              <a:rPr lang="en-US" err="1"/>
              <a:t>zvolí</a:t>
            </a:r>
            <a:r>
              <a:rPr lang="en-US"/>
              <a:t> </a:t>
            </a:r>
            <a:r>
              <a:rPr lang="en-US" err="1"/>
              <a:t>jednoduché</a:t>
            </a:r>
            <a:r>
              <a:rPr lang="en-US"/>
              <a:t> </a:t>
            </a:r>
            <a:r>
              <a:rPr lang="en-US" err="1"/>
              <a:t>heslo</a:t>
            </a:r>
            <a:r>
              <a:rPr lang="en-US"/>
              <a:t>.</a:t>
            </a:r>
          </a:p>
          <a:p>
            <a:r>
              <a:rPr lang="en-US" err="1"/>
              <a:t>Součástí</a:t>
            </a:r>
            <a:r>
              <a:rPr lang="en-US"/>
              <a:t> WPA3 je </a:t>
            </a:r>
            <a:r>
              <a:rPr lang="en-US" err="1"/>
              <a:t>také</a:t>
            </a:r>
            <a:r>
              <a:rPr lang="en-US"/>
              <a:t> </a:t>
            </a:r>
            <a:r>
              <a:rPr lang="en-US" err="1"/>
              <a:t>protokol</a:t>
            </a:r>
            <a:r>
              <a:rPr lang="en-US"/>
              <a:t> Simultaneous Authentication of Equals (SAE), </a:t>
            </a:r>
            <a:r>
              <a:rPr lang="en-US" err="1"/>
              <a:t>který</a:t>
            </a:r>
            <a:r>
              <a:rPr lang="en-US"/>
              <a:t> </a:t>
            </a:r>
            <a:r>
              <a:rPr lang="en-US" err="1"/>
              <a:t>poskytuje</a:t>
            </a:r>
            <a:r>
              <a:rPr lang="cs-CZ"/>
              <a:t> </a:t>
            </a:r>
            <a:r>
              <a:rPr lang="en-US" err="1"/>
              <a:t>vyšší</a:t>
            </a:r>
            <a:r>
              <a:rPr lang="en-US"/>
              <a:t> </a:t>
            </a:r>
            <a:r>
              <a:rPr lang="en-US" err="1"/>
              <a:t>odolnost</a:t>
            </a:r>
            <a:r>
              <a:rPr lang="en-US"/>
              <a:t> </a:t>
            </a:r>
            <a:r>
              <a:rPr lang="en-US" err="1"/>
              <a:t>vůči</a:t>
            </a:r>
            <a:r>
              <a:rPr lang="en-US"/>
              <a:t> </a:t>
            </a:r>
            <a:r>
              <a:rPr lang="en-US" err="1"/>
              <a:t>slovníkovým</a:t>
            </a:r>
            <a:r>
              <a:rPr lang="en-US"/>
              <a:t> </a:t>
            </a:r>
            <a:r>
              <a:rPr lang="en-US" err="1"/>
              <a:t>útokům</a:t>
            </a:r>
            <a:r>
              <a:rPr lang="en-US"/>
              <a:t> a </a:t>
            </a:r>
            <a:r>
              <a:rPr lang="en-US" err="1"/>
              <a:t>útokům</a:t>
            </a:r>
            <a:r>
              <a:rPr lang="en-US"/>
              <a:t> </a:t>
            </a:r>
            <a:r>
              <a:rPr lang="en-US" err="1"/>
              <a:t>hrubou</a:t>
            </a:r>
            <a:r>
              <a:rPr lang="en-US"/>
              <a:t> </a:t>
            </a:r>
            <a:r>
              <a:rPr lang="en-US" err="1"/>
              <a:t>silou</a:t>
            </a:r>
            <a:r>
              <a:rPr lang="en-US"/>
              <a:t>.</a:t>
            </a:r>
          </a:p>
        </p:txBody>
      </p:sp>
      <p:sp>
        <p:nvSpPr>
          <p:cNvPr id="4" name="Zástupný symbol pro datum 3">
            <a:extLst>
              <a:ext uri="{FF2B5EF4-FFF2-40B4-BE49-F238E27FC236}">
                <a16:creationId xmlns:a16="http://schemas.microsoft.com/office/drawing/2014/main" id="{920C6B5A-0BDF-4993-DB0A-BFBDD48428E6}"/>
              </a:ext>
            </a:extLst>
          </p:cNvPr>
          <p:cNvSpPr>
            <a:spLocks noGrp="1"/>
          </p:cNvSpPr>
          <p:nvPr>
            <p:ph type="dt" sz="half" idx="10"/>
          </p:nvPr>
        </p:nvSpPr>
        <p:spPr/>
        <p:txBody>
          <a:bodyPr/>
          <a:lstStyle/>
          <a:p>
            <a:r>
              <a:rPr lang="cs-CZ"/>
              <a:t>18.8.2022</a:t>
            </a:r>
          </a:p>
        </p:txBody>
      </p:sp>
      <p:sp>
        <p:nvSpPr>
          <p:cNvPr id="5" name="Zástupný symbol pro číslo snímku 4">
            <a:extLst>
              <a:ext uri="{FF2B5EF4-FFF2-40B4-BE49-F238E27FC236}">
                <a16:creationId xmlns:a16="http://schemas.microsoft.com/office/drawing/2014/main" id="{F5BF6B76-FEA4-0CE5-40BC-D7D004927CD6}"/>
              </a:ext>
            </a:extLst>
          </p:cNvPr>
          <p:cNvSpPr>
            <a:spLocks noGrp="1"/>
          </p:cNvSpPr>
          <p:nvPr>
            <p:ph type="sldNum" sz="quarter" idx="12"/>
          </p:nvPr>
        </p:nvSpPr>
        <p:spPr/>
        <p:txBody>
          <a:bodyPr/>
          <a:lstStyle/>
          <a:p>
            <a:fld id="{AD9F5C5F-4392-49C5-81DD-37F176609E69}" type="slidenum">
              <a:rPr lang="cs-CZ" smtClean="0"/>
              <a:t>190</a:t>
            </a:fld>
            <a:endParaRPr lang="cs-CZ"/>
          </a:p>
        </p:txBody>
      </p:sp>
    </p:spTree>
    <p:extLst>
      <p:ext uri="{BB962C8B-B14F-4D97-AF65-F5344CB8AC3E}">
        <p14:creationId xmlns:p14="http://schemas.microsoft.com/office/powerpoint/2010/main" val="3357090047"/>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EFE28C5-F676-522E-E019-4066FDAE7154}"/>
              </a:ext>
            </a:extLst>
          </p:cNvPr>
          <p:cNvSpPr>
            <a:spLocks noGrp="1"/>
          </p:cNvSpPr>
          <p:nvPr>
            <p:ph type="title"/>
          </p:nvPr>
        </p:nvSpPr>
        <p:spPr/>
        <p:txBody>
          <a:bodyPr/>
          <a:lstStyle/>
          <a:p>
            <a:r>
              <a:rPr lang="cs-CZ" b="1"/>
              <a:t>Bezdrátové sítě: WPA3 (Wi-Fi Protected Access3)</a:t>
            </a:r>
            <a:endParaRPr lang="en-US"/>
          </a:p>
        </p:txBody>
      </p:sp>
      <p:sp>
        <p:nvSpPr>
          <p:cNvPr id="3" name="Zástupný obsah 2">
            <a:extLst>
              <a:ext uri="{FF2B5EF4-FFF2-40B4-BE49-F238E27FC236}">
                <a16:creationId xmlns:a16="http://schemas.microsoft.com/office/drawing/2014/main" id="{A644F981-BD9F-B4EB-527A-8E3B685F0176}"/>
              </a:ext>
            </a:extLst>
          </p:cNvPr>
          <p:cNvSpPr>
            <a:spLocks noGrp="1"/>
          </p:cNvSpPr>
          <p:nvPr>
            <p:ph idx="1"/>
          </p:nvPr>
        </p:nvSpPr>
        <p:spPr/>
        <p:txBody>
          <a:bodyPr/>
          <a:lstStyle/>
          <a:p>
            <a:r>
              <a:rPr lang="en-US" b="1"/>
              <a:t>WPA3-Enterprise</a:t>
            </a:r>
            <a:r>
              <a:rPr lang="en-US"/>
              <a:t> </a:t>
            </a:r>
            <a:r>
              <a:rPr lang="en-US" err="1"/>
              <a:t>nabízí</a:t>
            </a:r>
            <a:r>
              <a:rPr lang="en-US"/>
              <a:t> 192 </a:t>
            </a:r>
            <a:r>
              <a:rPr lang="en-US" err="1"/>
              <a:t>bitové</a:t>
            </a:r>
            <a:r>
              <a:rPr lang="en-US"/>
              <a:t> </a:t>
            </a:r>
            <a:r>
              <a:rPr lang="en-US" err="1"/>
              <a:t>šifrování</a:t>
            </a:r>
            <a:r>
              <a:rPr lang="en-US"/>
              <a:t>, </a:t>
            </a:r>
            <a:r>
              <a:rPr lang="en-US" err="1"/>
              <a:t>silnější</a:t>
            </a:r>
            <a:r>
              <a:rPr lang="en-US"/>
              <a:t> </a:t>
            </a:r>
            <a:r>
              <a:rPr lang="en-US" err="1"/>
              <a:t>šifrování</a:t>
            </a:r>
            <a:r>
              <a:rPr lang="en-US"/>
              <a:t> </a:t>
            </a:r>
            <a:r>
              <a:rPr lang="en-US" err="1"/>
              <a:t>při</a:t>
            </a:r>
            <a:r>
              <a:rPr lang="en-US"/>
              <a:t> </a:t>
            </a:r>
            <a:r>
              <a:rPr lang="en-US" err="1"/>
              <a:t>přihlašování</a:t>
            </a:r>
            <a:r>
              <a:rPr lang="en-US"/>
              <a:t>, pro </a:t>
            </a:r>
            <a:r>
              <a:rPr lang="en-US" err="1"/>
              <a:t>odvození</a:t>
            </a:r>
            <a:r>
              <a:rPr lang="cs-CZ"/>
              <a:t> </a:t>
            </a:r>
            <a:r>
              <a:rPr lang="en-US"/>
              <a:t>a </a:t>
            </a:r>
            <a:r>
              <a:rPr lang="en-US" err="1"/>
              <a:t>potvrzení</a:t>
            </a:r>
            <a:r>
              <a:rPr lang="en-US"/>
              <a:t> </a:t>
            </a:r>
            <a:r>
              <a:rPr lang="en-US" err="1"/>
              <a:t>klíče</a:t>
            </a:r>
            <a:r>
              <a:rPr lang="en-US"/>
              <a:t> </a:t>
            </a:r>
            <a:r>
              <a:rPr lang="en-US" err="1"/>
              <a:t>používá</a:t>
            </a:r>
            <a:r>
              <a:rPr lang="en-US"/>
              <a:t> 384-bit Hashed Message Authentication Mode (HMAC) se Secure</a:t>
            </a:r>
            <a:r>
              <a:rPr lang="cs-CZ"/>
              <a:t> </a:t>
            </a:r>
            <a:r>
              <a:rPr lang="en-US"/>
              <a:t>Hash Algorithm (HMAC-SHA384) a </a:t>
            </a:r>
            <a:r>
              <a:rPr lang="en-US" err="1"/>
              <a:t>přináší</a:t>
            </a:r>
            <a:r>
              <a:rPr lang="en-US"/>
              <a:t> </a:t>
            </a:r>
            <a:r>
              <a:rPr lang="en-US" err="1"/>
              <a:t>robustní</a:t>
            </a:r>
            <a:r>
              <a:rPr lang="en-US"/>
              <a:t> </a:t>
            </a:r>
            <a:r>
              <a:rPr lang="en-US" err="1"/>
              <a:t>ochranu</a:t>
            </a:r>
            <a:r>
              <a:rPr lang="en-US"/>
              <a:t> management </a:t>
            </a:r>
            <a:r>
              <a:rPr lang="en-US" err="1"/>
              <a:t>rámců</a:t>
            </a:r>
            <a:r>
              <a:rPr lang="en-US"/>
              <a:t>.</a:t>
            </a:r>
            <a:endParaRPr lang="cs-CZ"/>
          </a:p>
          <a:p>
            <a:r>
              <a:rPr lang="cs-CZ"/>
              <a:t>První </a:t>
            </a:r>
            <a:r>
              <a:rPr lang="en-US" err="1"/>
              <a:t>počítačové</a:t>
            </a:r>
            <a:r>
              <a:rPr lang="en-US"/>
              <a:t> </a:t>
            </a:r>
            <a:r>
              <a:rPr lang="en-US" err="1"/>
              <a:t>systémy</a:t>
            </a:r>
            <a:r>
              <a:rPr lang="en-US"/>
              <a:t> s </a:t>
            </a:r>
            <a:r>
              <a:rPr lang="en-US" err="1"/>
              <a:t>podporou</a:t>
            </a:r>
            <a:r>
              <a:rPr lang="en-US"/>
              <a:t> WPA3 by se </a:t>
            </a:r>
            <a:r>
              <a:rPr lang="en-US" err="1"/>
              <a:t>na</a:t>
            </a:r>
            <a:r>
              <a:rPr lang="en-US"/>
              <a:t> </a:t>
            </a:r>
            <a:r>
              <a:rPr lang="en-US" err="1"/>
              <a:t>trhu</a:t>
            </a:r>
            <a:r>
              <a:rPr lang="en-US"/>
              <a:t> </a:t>
            </a:r>
            <a:r>
              <a:rPr lang="en-US" err="1"/>
              <a:t>objevi</a:t>
            </a:r>
            <a:r>
              <a:rPr lang="cs-CZ"/>
              <a:t>ly </a:t>
            </a:r>
            <a:r>
              <a:rPr lang="en-US" err="1"/>
              <a:t>koncem</a:t>
            </a:r>
            <a:r>
              <a:rPr lang="cs-CZ"/>
              <a:t> </a:t>
            </a:r>
            <a:r>
              <a:rPr lang="en-US" err="1"/>
              <a:t>roku</a:t>
            </a:r>
            <a:r>
              <a:rPr lang="en-US"/>
              <a:t> 2018 </a:t>
            </a:r>
            <a:r>
              <a:rPr lang="en-US" err="1"/>
              <a:t>nebo</a:t>
            </a:r>
            <a:r>
              <a:rPr lang="en-US"/>
              <a:t> </a:t>
            </a:r>
            <a:r>
              <a:rPr lang="en-US" err="1"/>
              <a:t>začátkem</a:t>
            </a:r>
            <a:r>
              <a:rPr lang="en-US"/>
              <a:t> </a:t>
            </a:r>
            <a:r>
              <a:rPr lang="en-US" err="1"/>
              <a:t>roku</a:t>
            </a:r>
            <a:r>
              <a:rPr lang="en-US"/>
              <a:t> 2019.</a:t>
            </a:r>
          </a:p>
        </p:txBody>
      </p:sp>
      <p:sp>
        <p:nvSpPr>
          <p:cNvPr id="4" name="Zástupný symbol pro datum 3">
            <a:extLst>
              <a:ext uri="{FF2B5EF4-FFF2-40B4-BE49-F238E27FC236}">
                <a16:creationId xmlns:a16="http://schemas.microsoft.com/office/drawing/2014/main" id="{5D00A10B-C648-1BE3-4170-F44629738979}"/>
              </a:ext>
            </a:extLst>
          </p:cNvPr>
          <p:cNvSpPr>
            <a:spLocks noGrp="1"/>
          </p:cNvSpPr>
          <p:nvPr>
            <p:ph type="dt" sz="half" idx="10"/>
          </p:nvPr>
        </p:nvSpPr>
        <p:spPr/>
        <p:txBody>
          <a:bodyPr/>
          <a:lstStyle/>
          <a:p>
            <a:r>
              <a:rPr lang="cs-CZ"/>
              <a:t>18.8.2022</a:t>
            </a:r>
          </a:p>
        </p:txBody>
      </p:sp>
      <p:sp>
        <p:nvSpPr>
          <p:cNvPr id="5" name="Zástupný symbol pro číslo snímku 4">
            <a:extLst>
              <a:ext uri="{FF2B5EF4-FFF2-40B4-BE49-F238E27FC236}">
                <a16:creationId xmlns:a16="http://schemas.microsoft.com/office/drawing/2014/main" id="{87100B71-E01B-EE6D-4C00-5627CA342218}"/>
              </a:ext>
            </a:extLst>
          </p:cNvPr>
          <p:cNvSpPr>
            <a:spLocks noGrp="1"/>
          </p:cNvSpPr>
          <p:nvPr>
            <p:ph type="sldNum" sz="quarter" idx="12"/>
          </p:nvPr>
        </p:nvSpPr>
        <p:spPr/>
        <p:txBody>
          <a:bodyPr/>
          <a:lstStyle/>
          <a:p>
            <a:fld id="{AD9F5C5F-4392-49C5-81DD-37F176609E69}" type="slidenum">
              <a:rPr lang="cs-CZ" smtClean="0"/>
              <a:t>191</a:t>
            </a:fld>
            <a:endParaRPr lang="cs-CZ"/>
          </a:p>
        </p:txBody>
      </p:sp>
    </p:spTree>
    <p:extLst>
      <p:ext uri="{BB962C8B-B14F-4D97-AF65-F5344CB8AC3E}">
        <p14:creationId xmlns:p14="http://schemas.microsoft.com/office/powerpoint/2010/main" val="556935692"/>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0A47E23-E6FB-A040-82B1-3FB5510E0B6A}"/>
              </a:ext>
            </a:extLst>
          </p:cNvPr>
          <p:cNvSpPr>
            <a:spLocks noGrp="1"/>
          </p:cNvSpPr>
          <p:nvPr>
            <p:ph type="title"/>
          </p:nvPr>
        </p:nvSpPr>
        <p:spPr/>
        <p:txBody>
          <a:bodyPr/>
          <a:lstStyle/>
          <a:p>
            <a:r>
              <a:rPr lang="en-US" b="1"/>
              <a:t>IPv6</a:t>
            </a:r>
          </a:p>
        </p:txBody>
      </p:sp>
      <p:sp>
        <p:nvSpPr>
          <p:cNvPr id="3" name="Zástupný obsah 2">
            <a:extLst>
              <a:ext uri="{FF2B5EF4-FFF2-40B4-BE49-F238E27FC236}">
                <a16:creationId xmlns:a16="http://schemas.microsoft.com/office/drawing/2014/main" id="{A9356953-BFB5-6E9B-AB2B-CD0546DED1E5}"/>
              </a:ext>
            </a:extLst>
          </p:cNvPr>
          <p:cNvSpPr>
            <a:spLocks noGrp="1"/>
          </p:cNvSpPr>
          <p:nvPr>
            <p:ph idx="1"/>
          </p:nvPr>
        </p:nvSpPr>
        <p:spPr/>
        <p:txBody>
          <a:bodyPr>
            <a:normAutofit/>
          </a:bodyPr>
          <a:lstStyle/>
          <a:p>
            <a:r>
              <a:rPr lang="en-US"/>
              <a:t>S </a:t>
            </a:r>
            <a:r>
              <a:rPr lang="en-US" err="1"/>
              <a:t>postupným</a:t>
            </a:r>
            <a:r>
              <a:rPr lang="en-US"/>
              <a:t> </a:t>
            </a:r>
            <a:r>
              <a:rPr lang="en-US" err="1"/>
              <a:t>vyčerpáváním</a:t>
            </a:r>
            <a:r>
              <a:rPr lang="en-US"/>
              <a:t> </a:t>
            </a:r>
            <a:r>
              <a:rPr lang="en-US" err="1"/>
              <a:t>rozsahu</a:t>
            </a:r>
            <a:r>
              <a:rPr lang="en-US"/>
              <a:t> IPv4 </a:t>
            </a:r>
            <a:r>
              <a:rPr lang="en-US" err="1"/>
              <a:t>adres</a:t>
            </a:r>
            <a:r>
              <a:rPr lang="en-US"/>
              <a:t> </a:t>
            </a:r>
            <a:r>
              <a:rPr lang="en-US" err="1"/>
              <a:t>dochází</a:t>
            </a:r>
            <a:r>
              <a:rPr lang="en-US"/>
              <a:t> </a:t>
            </a:r>
            <a:r>
              <a:rPr lang="en-US" err="1"/>
              <a:t>ke</a:t>
            </a:r>
            <a:r>
              <a:rPr lang="en-US"/>
              <a:t> </a:t>
            </a:r>
            <a:r>
              <a:rPr lang="en-US" err="1"/>
              <a:t>stále</a:t>
            </a:r>
            <a:r>
              <a:rPr lang="en-US"/>
              <a:t> </a:t>
            </a:r>
            <a:r>
              <a:rPr lang="en-US" err="1"/>
              <a:t>většímu</a:t>
            </a:r>
            <a:r>
              <a:rPr lang="en-US"/>
              <a:t> </a:t>
            </a:r>
            <a:r>
              <a:rPr lang="en-US" err="1"/>
              <a:t>rozmachu</a:t>
            </a:r>
            <a:r>
              <a:rPr lang="en-US"/>
              <a:t> </a:t>
            </a:r>
            <a:r>
              <a:rPr lang="en-US" err="1"/>
              <a:t>protokolu</a:t>
            </a:r>
            <a:r>
              <a:rPr lang="cs-CZ"/>
              <a:t> </a:t>
            </a:r>
            <a:r>
              <a:rPr lang="en-US"/>
              <a:t>IPv6, </a:t>
            </a:r>
            <a:r>
              <a:rPr lang="en-US" err="1"/>
              <a:t>ačkoliv</a:t>
            </a:r>
            <a:r>
              <a:rPr lang="en-US"/>
              <a:t> </a:t>
            </a:r>
            <a:r>
              <a:rPr lang="en-US" err="1"/>
              <a:t>jeho</a:t>
            </a:r>
            <a:r>
              <a:rPr lang="en-US"/>
              <a:t> </a:t>
            </a:r>
            <a:r>
              <a:rPr lang="en-US" err="1"/>
              <a:t>nasazování</a:t>
            </a:r>
            <a:r>
              <a:rPr lang="en-US"/>
              <a:t> </a:t>
            </a:r>
            <a:r>
              <a:rPr lang="en-US" err="1"/>
              <a:t>neprobíhá</a:t>
            </a:r>
            <a:r>
              <a:rPr lang="en-US"/>
              <a:t> </a:t>
            </a:r>
            <a:r>
              <a:rPr lang="en-US" err="1"/>
              <a:t>tak</a:t>
            </a:r>
            <a:r>
              <a:rPr lang="en-US"/>
              <a:t> </a:t>
            </a:r>
            <a:r>
              <a:rPr lang="en-US" err="1"/>
              <a:t>rychle</a:t>
            </a:r>
            <a:r>
              <a:rPr lang="en-US"/>
              <a:t>, </a:t>
            </a:r>
            <a:r>
              <a:rPr lang="en-US" err="1"/>
              <a:t>jak</a:t>
            </a:r>
            <a:r>
              <a:rPr lang="en-US"/>
              <a:t> by </a:t>
            </a:r>
            <a:r>
              <a:rPr lang="en-US" err="1"/>
              <a:t>bylo</a:t>
            </a:r>
            <a:r>
              <a:rPr lang="en-US"/>
              <a:t> </a:t>
            </a:r>
            <a:r>
              <a:rPr lang="en-US" err="1"/>
              <a:t>vhodné</a:t>
            </a:r>
            <a:r>
              <a:rPr lang="en-US"/>
              <a:t>.</a:t>
            </a:r>
            <a:endParaRPr lang="cs-CZ"/>
          </a:p>
          <a:p>
            <a:r>
              <a:rPr lang="cs-CZ"/>
              <a:t>Jedním z důvodů, které mohou stát za pomalejším nástupem IPv6 sítí, jsou obavy o bezpečnost sítě a o to, zda nebude při nasazení IPv6 opomenut některý důležitý bezpečnostní aspekt. </a:t>
            </a:r>
          </a:p>
          <a:p>
            <a:r>
              <a:rPr lang="cs-CZ"/>
              <a:t>Na druhou stranu je třeba uvést, že protokol IPv6 je na většině operačních systémů ve výchozím stavu podporován a některé z útoků je tak možné provést bez ohledu na to, zda je v síti IPv6 nasazeno či nikoliv.</a:t>
            </a:r>
          </a:p>
          <a:p>
            <a:endParaRPr lang="en-US"/>
          </a:p>
        </p:txBody>
      </p:sp>
      <p:sp>
        <p:nvSpPr>
          <p:cNvPr id="4" name="Zástupný symbol pro datum 3">
            <a:extLst>
              <a:ext uri="{FF2B5EF4-FFF2-40B4-BE49-F238E27FC236}">
                <a16:creationId xmlns:a16="http://schemas.microsoft.com/office/drawing/2014/main" id="{A784BCE0-D65A-3D1F-D4FE-6B5ACE49E6EC}"/>
              </a:ext>
            </a:extLst>
          </p:cNvPr>
          <p:cNvSpPr>
            <a:spLocks noGrp="1"/>
          </p:cNvSpPr>
          <p:nvPr>
            <p:ph type="dt" sz="half" idx="10"/>
          </p:nvPr>
        </p:nvSpPr>
        <p:spPr/>
        <p:txBody>
          <a:bodyPr/>
          <a:lstStyle/>
          <a:p>
            <a:r>
              <a:rPr lang="cs-CZ"/>
              <a:t>18.8.2022</a:t>
            </a:r>
          </a:p>
        </p:txBody>
      </p:sp>
      <p:sp>
        <p:nvSpPr>
          <p:cNvPr id="5" name="Zástupný symbol pro číslo snímku 4">
            <a:extLst>
              <a:ext uri="{FF2B5EF4-FFF2-40B4-BE49-F238E27FC236}">
                <a16:creationId xmlns:a16="http://schemas.microsoft.com/office/drawing/2014/main" id="{8EEF9D7C-DE06-C56F-DEBF-DC2FADF97701}"/>
              </a:ext>
            </a:extLst>
          </p:cNvPr>
          <p:cNvSpPr>
            <a:spLocks noGrp="1"/>
          </p:cNvSpPr>
          <p:nvPr>
            <p:ph type="sldNum" sz="quarter" idx="12"/>
          </p:nvPr>
        </p:nvSpPr>
        <p:spPr/>
        <p:txBody>
          <a:bodyPr/>
          <a:lstStyle/>
          <a:p>
            <a:fld id="{AD9F5C5F-4392-49C5-81DD-37F176609E69}" type="slidenum">
              <a:rPr lang="cs-CZ" smtClean="0"/>
              <a:t>192</a:t>
            </a:fld>
            <a:endParaRPr lang="cs-CZ"/>
          </a:p>
        </p:txBody>
      </p:sp>
    </p:spTree>
    <p:extLst>
      <p:ext uri="{BB962C8B-B14F-4D97-AF65-F5344CB8AC3E}">
        <p14:creationId xmlns:p14="http://schemas.microsoft.com/office/powerpoint/2010/main" val="610392085"/>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85683D7-3890-E75C-5EF3-B88165A5BD81}"/>
              </a:ext>
            </a:extLst>
          </p:cNvPr>
          <p:cNvSpPr>
            <a:spLocks noGrp="1"/>
          </p:cNvSpPr>
          <p:nvPr>
            <p:ph type="title"/>
          </p:nvPr>
        </p:nvSpPr>
        <p:spPr/>
        <p:txBody>
          <a:bodyPr/>
          <a:lstStyle/>
          <a:p>
            <a:r>
              <a:rPr lang="en-US" b="1"/>
              <a:t>IPv6</a:t>
            </a:r>
            <a:r>
              <a:rPr lang="cs-CZ" b="1"/>
              <a:t> - bezpečnost</a:t>
            </a:r>
            <a:endParaRPr lang="en-US"/>
          </a:p>
        </p:txBody>
      </p:sp>
      <p:sp>
        <p:nvSpPr>
          <p:cNvPr id="3" name="Zástupný obsah 2">
            <a:extLst>
              <a:ext uri="{FF2B5EF4-FFF2-40B4-BE49-F238E27FC236}">
                <a16:creationId xmlns:a16="http://schemas.microsoft.com/office/drawing/2014/main" id="{DB373EFA-923F-680E-EC76-24D553949451}"/>
              </a:ext>
            </a:extLst>
          </p:cNvPr>
          <p:cNvSpPr>
            <a:spLocks noGrp="1"/>
          </p:cNvSpPr>
          <p:nvPr>
            <p:ph idx="1"/>
          </p:nvPr>
        </p:nvSpPr>
        <p:spPr/>
        <p:txBody>
          <a:bodyPr/>
          <a:lstStyle/>
          <a:p>
            <a:r>
              <a:rPr lang="en-US" err="1"/>
              <a:t>Jedním</a:t>
            </a:r>
            <a:r>
              <a:rPr lang="en-US"/>
              <a:t> z </a:t>
            </a:r>
            <a:r>
              <a:rPr lang="en-US" err="1"/>
              <a:t>nejznámějších</a:t>
            </a:r>
            <a:r>
              <a:rPr lang="en-US"/>
              <a:t> </a:t>
            </a:r>
            <a:r>
              <a:rPr lang="en-US" err="1"/>
              <a:t>útoků</a:t>
            </a:r>
            <a:r>
              <a:rPr lang="en-US"/>
              <a:t> v </a:t>
            </a:r>
            <a:r>
              <a:rPr lang="en-US" err="1"/>
              <a:t>rámci</a:t>
            </a:r>
            <a:r>
              <a:rPr lang="en-US"/>
              <a:t> </a:t>
            </a:r>
            <a:r>
              <a:rPr lang="en-US" err="1"/>
              <a:t>počítačových</a:t>
            </a:r>
            <a:r>
              <a:rPr lang="en-US"/>
              <a:t> </a:t>
            </a:r>
            <a:r>
              <a:rPr lang="en-US" err="1"/>
              <a:t>sítí</a:t>
            </a:r>
            <a:r>
              <a:rPr lang="en-US"/>
              <a:t>, </a:t>
            </a:r>
            <a:r>
              <a:rPr lang="en-US" err="1"/>
              <a:t>které</a:t>
            </a:r>
            <a:r>
              <a:rPr lang="en-US"/>
              <a:t> </a:t>
            </a:r>
            <a:r>
              <a:rPr lang="en-US" err="1"/>
              <a:t>využívají</a:t>
            </a:r>
            <a:r>
              <a:rPr lang="en-US"/>
              <a:t> IPv6, je </a:t>
            </a:r>
            <a:r>
              <a:rPr lang="en-US" err="1"/>
              <a:t>útok</a:t>
            </a:r>
            <a:r>
              <a:rPr lang="en-US"/>
              <a:t> </a:t>
            </a:r>
            <a:r>
              <a:rPr lang="en-US" b="1"/>
              <a:t>Router</a:t>
            </a:r>
            <a:r>
              <a:rPr lang="cs-CZ" b="1"/>
              <a:t> </a:t>
            </a:r>
            <a:r>
              <a:rPr lang="en-US" b="1"/>
              <a:t>Advertisement (RA) </a:t>
            </a:r>
            <a:r>
              <a:rPr lang="en-US"/>
              <a:t>– </a:t>
            </a:r>
            <a:r>
              <a:rPr lang="en-US" err="1"/>
              <a:t>útok</a:t>
            </a:r>
            <a:r>
              <a:rPr lang="en-US"/>
              <a:t> </a:t>
            </a:r>
            <a:r>
              <a:rPr lang="en-US" err="1"/>
              <a:t>na</a:t>
            </a:r>
            <a:r>
              <a:rPr lang="en-US"/>
              <a:t> </a:t>
            </a:r>
            <a:r>
              <a:rPr lang="en-US" err="1"/>
              <a:t>oznámení</a:t>
            </a:r>
            <a:r>
              <a:rPr lang="en-US"/>
              <a:t> </a:t>
            </a:r>
            <a:r>
              <a:rPr lang="en-US" err="1"/>
              <a:t>směrovače</a:t>
            </a:r>
            <a:r>
              <a:rPr lang="en-US"/>
              <a:t>.</a:t>
            </a:r>
            <a:endParaRPr lang="cs-CZ"/>
          </a:p>
          <a:p>
            <a:r>
              <a:rPr lang="en-US" err="1"/>
              <a:t>Oznámení</a:t>
            </a:r>
            <a:r>
              <a:rPr lang="en-US"/>
              <a:t> </a:t>
            </a:r>
            <a:r>
              <a:rPr lang="en-US" err="1"/>
              <a:t>směrovače</a:t>
            </a:r>
            <a:r>
              <a:rPr lang="en-US"/>
              <a:t> </a:t>
            </a:r>
            <a:r>
              <a:rPr lang="en-US" err="1"/>
              <a:t>hraje</a:t>
            </a:r>
            <a:r>
              <a:rPr lang="en-US"/>
              <a:t> </a:t>
            </a:r>
            <a:r>
              <a:rPr lang="en-US" err="1"/>
              <a:t>důležitou</a:t>
            </a:r>
            <a:r>
              <a:rPr lang="cs-CZ"/>
              <a:t> </a:t>
            </a:r>
            <a:r>
              <a:rPr lang="en-US" err="1"/>
              <a:t>roli</a:t>
            </a:r>
            <a:r>
              <a:rPr lang="en-US"/>
              <a:t> </a:t>
            </a:r>
            <a:r>
              <a:rPr lang="en-US" err="1"/>
              <a:t>při</a:t>
            </a:r>
            <a:r>
              <a:rPr lang="en-US"/>
              <a:t> </a:t>
            </a:r>
            <a:r>
              <a:rPr lang="en-US" err="1"/>
              <a:t>autokonfiguraci</a:t>
            </a:r>
            <a:r>
              <a:rPr lang="en-US"/>
              <a:t> </a:t>
            </a:r>
            <a:r>
              <a:rPr lang="en-US" err="1"/>
              <a:t>koncových</a:t>
            </a:r>
            <a:r>
              <a:rPr lang="en-US"/>
              <a:t> </a:t>
            </a:r>
            <a:r>
              <a:rPr lang="en-US" err="1"/>
              <a:t>počítačových</a:t>
            </a:r>
            <a:r>
              <a:rPr lang="en-US"/>
              <a:t> </a:t>
            </a:r>
            <a:r>
              <a:rPr lang="en-US" err="1"/>
              <a:t>systémů</a:t>
            </a:r>
            <a:r>
              <a:rPr lang="en-US"/>
              <a:t> v IPv6 </a:t>
            </a:r>
            <a:r>
              <a:rPr lang="en-US" err="1"/>
              <a:t>sítích</a:t>
            </a:r>
            <a:r>
              <a:rPr lang="en-US"/>
              <a:t>. </a:t>
            </a:r>
            <a:r>
              <a:rPr lang="en-US" err="1"/>
              <a:t>Pokud</a:t>
            </a:r>
            <a:r>
              <a:rPr lang="en-US"/>
              <a:t> se </a:t>
            </a:r>
            <a:r>
              <a:rPr lang="en-US" err="1"/>
              <a:t>počítačový</a:t>
            </a:r>
            <a:r>
              <a:rPr lang="cs-CZ"/>
              <a:t> </a:t>
            </a:r>
            <a:r>
              <a:rPr lang="en-US" err="1"/>
              <a:t>systém</a:t>
            </a:r>
            <a:r>
              <a:rPr lang="en-US"/>
              <a:t> </a:t>
            </a:r>
            <a:r>
              <a:rPr lang="en-US" err="1"/>
              <a:t>připojuje</a:t>
            </a:r>
            <a:r>
              <a:rPr lang="en-US"/>
              <a:t> do </a:t>
            </a:r>
            <a:r>
              <a:rPr lang="en-US" err="1"/>
              <a:t>počítačové</a:t>
            </a:r>
            <a:r>
              <a:rPr lang="en-US"/>
              <a:t> </a:t>
            </a:r>
            <a:r>
              <a:rPr lang="en-US" err="1"/>
              <a:t>sítě</a:t>
            </a:r>
            <a:r>
              <a:rPr lang="en-US"/>
              <a:t>, </a:t>
            </a:r>
            <a:r>
              <a:rPr lang="en-US" err="1"/>
              <a:t>probíhá</a:t>
            </a:r>
            <a:r>
              <a:rPr lang="en-US"/>
              <a:t> </a:t>
            </a:r>
            <a:r>
              <a:rPr lang="en-US" err="1"/>
              <a:t>celý</a:t>
            </a:r>
            <a:r>
              <a:rPr lang="en-US"/>
              <a:t> </a:t>
            </a:r>
            <a:r>
              <a:rPr lang="en-US" err="1"/>
              <a:t>proces</a:t>
            </a:r>
            <a:r>
              <a:rPr lang="en-US"/>
              <a:t> </a:t>
            </a:r>
            <a:r>
              <a:rPr lang="en-US" err="1"/>
              <a:t>tak</a:t>
            </a:r>
            <a:r>
              <a:rPr lang="en-US"/>
              <a:t>, </a:t>
            </a:r>
            <a:r>
              <a:rPr lang="en-US" err="1"/>
              <a:t>že</a:t>
            </a:r>
            <a:r>
              <a:rPr lang="en-US"/>
              <a:t> </a:t>
            </a:r>
            <a:r>
              <a:rPr lang="en-US" err="1"/>
              <a:t>si</a:t>
            </a:r>
            <a:r>
              <a:rPr lang="en-US"/>
              <a:t> </a:t>
            </a:r>
            <a:r>
              <a:rPr lang="en-US" err="1"/>
              <a:t>nejdříve</a:t>
            </a:r>
            <a:r>
              <a:rPr lang="en-US"/>
              <a:t> s </a:t>
            </a:r>
            <a:r>
              <a:rPr lang="en-US" err="1"/>
              <a:t>pomocí</a:t>
            </a:r>
            <a:r>
              <a:rPr lang="en-US"/>
              <a:t> </a:t>
            </a:r>
            <a:r>
              <a:rPr lang="en-US" err="1"/>
              <a:t>vybrané</a:t>
            </a:r>
            <a:r>
              <a:rPr lang="cs-CZ"/>
              <a:t> </a:t>
            </a:r>
            <a:r>
              <a:rPr lang="en-US" err="1"/>
              <a:t>procedury</a:t>
            </a:r>
            <a:r>
              <a:rPr lang="en-US"/>
              <a:t> </a:t>
            </a:r>
            <a:r>
              <a:rPr lang="en-US" err="1"/>
              <a:t>vytvoří</a:t>
            </a:r>
            <a:r>
              <a:rPr lang="en-US"/>
              <a:t> ID </a:t>
            </a:r>
            <a:r>
              <a:rPr lang="en-US" err="1"/>
              <a:t>rozhraní</a:t>
            </a:r>
            <a:r>
              <a:rPr lang="en-US"/>
              <a:t>. </a:t>
            </a:r>
          </a:p>
        </p:txBody>
      </p:sp>
      <p:sp>
        <p:nvSpPr>
          <p:cNvPr id="4" name="Zástupný symbol pro datum 3">
            <a:extLst>
              <a:ext uri="{FF2B5EF4-FFF2-40B4-BE49-F238E27FC236}">
                <a16:creationId xmlns:a16="http://schemas.microsoft.com/office/drawing/2014/main" id="{BE1D15E7-4AD3-FDF8-555F-DCC42338915A}"/>
              </a:ext>
            </a:extLst>
          </p:cNvPr>
          <p:cNvSpPr>
            <a:spLocks noGrp="1"/>
          </p:cNvSpPr>
          <p:nvPr>
            <p:ph type="dt" sz="half" idx="10"/>
          </p:nvPr>
        </p:nvSpPr>
        <p:spPr/>
        <p:txBody>
          <a:bodyPr/>
          <a:lstStyle/>
          <a:p>
            <a:r>
              <a:rPr lang="cs-CZ"/>
              <a:t>18.8.2022</a:t>
            </a:r>
          </a:p>
        </p:txBody>
      </p:sp>
      <p:sp>
        <p:nvSpPr>
          <p:cNvPr id="5" name="Zástupný symbol pro číslo snímku 4">
            <a:extLst>
              <a:ext uri="{FF2B5EF4-FFF2-40B4-BE49-F238E27FC236}">
                <a16:creationId xmlns:a16="http://schemas.microsoft.com/office/drawing/2014/main" id="{0CF4E7B9-124F-6C2B-5502-86768C998EDC}"/>
              </a:ext>
            </a:extLst>
          </p:cNvPr>
          <p:cNvSpPr>
            <a:spLocks noGrp="1"/>
          </p:cNvSpPr>
          <p:nvPr>
            <p:ph type="sldNum" sz="quarter" idx="12"/>
          </p:nvPr>
        </p:nvSpPr>
        <p:spPr/>
        <p:txBody>
          <a:bodyPr/>
          <a:lstStyle/>
          <a:p>
            <a:fld id="{AD9F5C5F-4392-49C5-81DD-37F176609E69}" type="slidenum">
              <a:rPr lang="cs-CZ" smtClean="0"/>
              <a:t>193</a:t>
            </a:fld>
            <a:endParaRPr lang="cs-CZ"/>
          </a:p>
        </p:txBody>
      </p:sp>
    </p:spTree>
    <p:extLst>
      <p:ext uri="{BB962C8B-B14F-4D97-AF65-F5344CB8AC3E}">
        <p14:creationId xmlns:p14="http://schemas.microsoft.com/office/powerpoint/2010/main" val="651615502"/>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08BBF66-FB05-1232-90B0-025101193AC9}"/>
              </a:ext>
            </a:extLst>
          </p:cNvPr>
          <p:cNvSpPr>
            <a:spLocks noGrp="1"/>
          </p:cNvSpPr>
          <p:nvPr>
            <p:ph type="title"/>
          </p:nvPr>
        </p:nvSpPr>
        <p:spPr/>
        <p:txBody>
          <a:bodyPr/>
          <a:lstStyle/>
          <a:p>
            <a:r>
              <a:rPr lang="en-US" b="1"/>
              <a:t>IPv6</a:t>
            </a:r>
            <a:endParaRPr lang="en-US"/>
          </a:p>
        </p:txBody>
      </p:sp>
      <p:sp>
        <p:nvSpPr>
          <p:cNvPr id="4" name="Zástupný symbol pro datum 3">
            <a:extLst>
              <a:ext uri="{FF2B5EF4-FFF2-40B4-BE49-F238E27FC236}">
                <a16:creationId xmlns:a16="http://schemas.microsoft.com/office/drawing/2014/main" id="{347941C1-2C5A-51E6-A1EB-7F90E46097FF}"/>
              </a:ext>
            </a:extLst>
          </p:cNvPr>
          <p:cNvSpPr>
            <a:spLocks noGrp="1"/>
          </p:cNvSpPr>
          <p:nvPr>
            <p:ph type="dt" sz="half" idx="10"/>
          </p:nvPr>
        </p:nvSpPr>
        <p:spPr/>
        <p:txBody>
          <a:bodyPr/>
          <a:lstStyle/>
          <a:p>
            <a:r>
              <a:rPr lang="cs-CZ"/>
              <a:t>18.8.2022</a:t>
            </a:r>
          </a:p>
        </p:txBody>
      </p:sp>
      <p:sp>
        <p:nvSpPr>
          <p:cNvPr id="5" name="Zástupný symbol pro číslo snímku 4">
            <a:extLst>
              <a:ext uri="{FF2B5EF4-FFF2-40B4-BE49-F238E27FC236}">
                <a16:creationId xmlns:a16="http://schemas.microsoft.com/office/drawing/2014/main" id="{692E18A7-5865-2265-CFC5-201A2007D4E5}"/>
              </a:ext>
            </a:extLst>
          </p:cNvPr>
          <p:cNvSpPr>
            <a:spLocks noGrp="1"/>
          </p:cNvSpPr>
          <p:nvPr>
            <p:ph type="sldNum" sz="quarter" idx="12"/>
          </p:nvPr>
        </p:nvSpPr>
        <p:spPr/>
        <p:txBody>
          <a:bodyPr/>
          <a:lstStyle/>
          <a:p>
            <a:fld id="{AD9F5C5F-4392-49C5-81DD-37F176609E69}" type="slidenum">
              <a:rPr lang="cs-CZ" smtClean="0"/>
              <a:t>194</a:t>
            </a:fld>
            <a:endParaRPr lang="cs-CZ"/>
          </a:p>
        </p:txBody>
      </p:sp>
      <p:pic>
        <p:nvPicPr>
          <p:cNvPr id="6" name="Picture 5"/>
          <p:cNvPicPr>
            <a:picLocks noChangeAspect="1"/>
          </p:cNvPicPr>
          <p:nvPr/>
        </p:nvPicPr>
        <p:blipFill>
          <a:blip r:embed="rId2"/>
          <a:stretch>
            <a:fillRect/>
          </a:stretch>
        </p:blipFill>
        <p:spPr>
          <a:xfrm>
            <a:off x="2184888" y="2408625"/>
            <a:ext cx="7568711" cy="2679190"/>
          </a:xfrm>
          <a:prstGeom prst="rect">
            <a:avLst/>
          </a:prstGeom>
        </p:spPr>
      </p:pic>
    </p:spTree>
    <p:extLst>
      <p:ext uri="{BB962C8B-B14F-4D97-AF65-F5344CB8AC3E}">
        <p14:creationId xmlns:p14="http://schemas.microsoft.com/office/powerpoint/2010/main" val="577641648"/>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6D1BABE-DD2A-6101-857C-32C45C85CB1A}"/>
              </a:ext>
            </a:extLst>
          </p:cNvPr>
          <p:cNvSpPr>
            <a:spLocks noGrp="1"/>
          </p:cNvSpPr>
          <p:nvPr>
            <p:ph type="title"/>
          </p:nvPr>
        </p:nvSpPr>
        <p:spPr/>
        <p:txBody>
          <a:bodyPr/>
          <a:lstStyle/>
          <a:p>
            <a:r>
              <a:rPr lang="en-US" b="1"/>
              <a:t>IPv6</a:t>
            </a:r>
            <a:endParaRPr lang="en-US"/>
          </a:p>
        </p:txBody>
      </p:sp>
      <p:sp>
        <p:nvSpPr>
          <p:cNvPr id="3" name="Zástupný obsah 2">
            <a:extLst>
              <a:ext uri="{FF2B5EF4-FFF2-40B4-BE49-F238E27FC236}">
                <a16:creationId xmlns:a16="http://schemas.microsoft.com/office/drawing/2014/main" id="{BB19A8D7-5EDD-10AB-FD79-7296A5D735BE}"/>
              </a:ext>
            </a:extLst>
          </p:cNvPr>
          <p:cNvSpPr>
            <a:spLocks noGrp="1"/>
          </p:cNvSpPr>
          <p:nvPr>
            <p:ph idx="1"/>
          </p:nvPr>
        </p:nvSpPr>
        <p:spPr/>
        <p:txBody>
          <a:bodyPr>
            <a:normAutofit/>
          </a:bodyPr>
          <a:lstStyle/>
          <a:p>
            <a:r>
              <a:rPr lang="en-US" err="1"/>
              <a:t>Následně</a:t>
            </a:r>
            <a:r>
              <a:rPr lang="en-US"/>
              <a:t> </a:t>
            </a:r>
            <a:r>
              <a:rPr lang="en-US" err="1"/>
              <a:t>si</a:t>
            </a:r>
            <a:r>
              <a:rPr lang="en-US"/>
              <a:t> </a:t>
            </a:r>
            <a:r>
              <a:rPr lang="en-US" err="1"/>
              <a:t>vytvoří</a:t>
            </a:r>
            <a:r>
              <a:rPr lang="en-US"/>
              <a:t> </a:t>
            </a:r>
            <a:r>
              <a:rPr lang="en-US" err="1"/>
              <a:t>linkovou</a:t>
            </a:r>
            <a:r>
              <a:rPr lang="en-US"/>
              <a:t> </a:t>
            </a:r>
            <a:r>
              <a:rPr lang="en-US" err="1"/>
              <a:t>lokální</a:t>
            </a:r>
            <a:r>
              <a:rPr lang="en-US"/>
              <a:t> </a:t>
            </a:r>
            <a:r>
              <a:rPr lang="en-US" err="1"/>
              <a:t>adresu</a:t>
            </a:r>
            <a:r>
              <a:rPr lang="en-US"/>
              <a:t>, a to </a:t>
            </a:r>
            <a:r>
              <a:rPr lang="en-US" err="1"/>
              <a:t>tak</a:t>
            </a:r>
            <a:r>
              <a:rPr lang="en-US"/>
              <a:t>, </a:t>
            </a:r>
            <a:r>
              <a:rPr lang="en-US" err="1"/>
              <a:t>že</a:t>
            </a:r>
            <a:r>
              <a:rPr lang="en-US"/>
              <a:t> k </a:t>
            </a:r>
            <a:r>
              <a:rPr lang="en-US" err="1"/>
              <a:t>prefixu</a:t>
            </a:r>
            <a:r>
              <a:rPr lang="cs-CZ"/>
              <a:t>   </a:t>
            </a:r>
            <a:r>
              <a:rPr lang="en-US"/>
              <a:t>FE80::/10 </a:t>
            </a:r>
            <a:r>
              <a:rPr lang="en-US" err="1"/>
              <a:t>přidá</a:t>
            </a:r>
            <a:r>
              <a:rPr lang="en-US"/>
              <a:t> ID </a:t>
            </a:r>
            <a:r>
              <a:rPr lang="en-US" err="1"/>
              <a:t>rozhraní</a:t>
            </a:r>
            <a:r>
              <a:rPr lang="en-US"/>
              <a:t>, </a:t>
            </a:r>
            <a:r>
              <a:rPr lang="en-US" err="1"/>
              <a:t>které</a:t>
            </a:r>
            <a:r>
              <a:rPr lang="en-US"/>
              <a:t> </a:t>
            </a:r>
            <a:r>
              <a:rPr lang="en-US" err="1"/>
              <a:t>si</a:t>
            </a:r>
            <a:r>
              <a:rPr lang="en-US"/>
              <a:t> </a:t>
            </a:r>
            <a:r>
              <a:rPr lang="en-US" err="1"/>
              <a:t>vytvořil</a:t>
            </a:r>
            <a:r>
              <a:rPr lang="en-US"/>
              <a:t> v </a:t>
            </a:r>
            <a:r>
              <a:rPr lang="en-US" err="1"/>
              <a:t>prvním</a:t>
            </a:r>
            <a:r>
              <a:rPr lang="en-US"/>
              <a:t> </a:t>
            </a:r>
            <a:r>
              <a:rPr lang="en-US" err="1"/>
              <a:t>kroku</a:t>
            </a:r>
            <a:r>
              <a:rPr lang="en-US"/>
              <a:t>.</a:t>
            </a:r>
            <a:endParaRPr lang="cs-CZ"/>
          </a:p>
          <a:p>
            <a:r>
              <a:rPr lang="en-US" err="1"/>
              <a:t>Počítačový</a:t>
            </a:r>
            <a:r>
              <a:rPr lang="en-US"/>
              <a:t> </a:t>
            </a:r>
            <a:r>
              <a:rPr lang="en-US" err="1"/>
              <a:t>systém</a:t>
            </a:r>
            <a:r>
              <a:rPr lang="en-US"/>
              <a:t> </a:t>
            </a:r>
            <a:r>
              <a:rPr lang="en-US" err="1"/>
              <a:t>následně</a:t>
            </a:r>
            <a:r>
              <a:rPr lang="cs-CZ"/>
              <a:t> </a:t>
            </a:r>
            <a:r>
              <a:rPr lang="en-US" err="1"/>
              <a:t>pošle</a:t>
            </a:r>
            <a:r>
              <a:rPr lang="en-US"/>
              <a:t> do </a:t>
            </a:r>
            <a:r>
              <a:rPr lang="en-US" err="1"/>
              <a:t>počítačové</a:t>
            </a:r>
            <a:r>
              <a:rPr lang="en-US"/>
              <a:t> </a:t>
            </a:r>
            <a:r>
              <a:rPr lang="en-US" err="1"/>
              <a:t>sítě</a:t>
            </a:r>
            <a:r>
              <a:rPr lang="en-US"/>
              <a:t> </a:t>
            </a:r>
            <a:r>
              <a:rPr lang="en-US" err="1"/>
              <a:t>dotaz</a:t>
            </a:r>
            <a:r>
              <a:rPr lang="en-US"/>
              <a:t> </a:t>
            </a:r>
            <a:r>
              <a:rPr lang="en-US" b="1"/>
              <a:t>Router Solicitation</a:t>
            </a:r>
            <a:r>
              <a:rPr lang="en-US"/>
              <a:t>, a </a:t>
            </a:r>
            <a:r>
              <a:rPr lang="en-US" err="1"/>
              <a:t>pokud</a:t>
            </a:r>
            <a:r>
              <a:rPr lang="en-US"/>
              <a:t> je v </a:t>
            </a:r>
            <a:r>
              <a:rPr lang="en-US" err="1"/>
              <a:t>síti</a:t>
            </a:r>
            <a:r>
              <a:rPr lang="en-US"/>
              <a:t> router, </a:t>
            </a:r>
            <a:r>
              <a:rPr lang="en-US" err="1"/>
              <a:t>tuto</a:t>
            </a:r>
            <a:r>
              <a:rPr lang="en-US"/>
              <a:t> </a:t>
            </a:r>
            <a:r>
              <a:rPr lang="en-US" err="1"/>
              <a:t>zprávu</a:t>
            </a:r>
            <a:r>
              <a:rPr lang="en-US"/>
              <a:t> </a:t>
            </a:r>
            <a:r>
              <a:rPr lang="en-US" err="1"/>
              <a:t>přijme</a:t>
            </a:r>
            <a:r>
              <a:rPr lang="cs-CZ"/>
              <a:t> </a:t>
            </a:r>
            <a:r>
              <a:rPr lang="en-US"/>
              <a:t>a </a:t>
            </a:r>
            <a:r>
              <a:rPr lang="en-US" err="1"/>
              <a:t>odpoví</a:t>
            </a:r>
            <a:r>
              <a:rPr lang="en-US"/>
              <a:t> </a:t>
            </a:r>
            <a:r>
              <a:rPr lang="en-US" err="1"/>
              <a:t>zprávou</a:t>
            </a:r>
            <a:r>
              <a:rPr lang="en-US"/>
              <a:t> </a:t>
            </a:r>
            <a:r>
              <a:rPr lang="en-US" b="1"/>
              <a:t>Router Advertisement</a:t>
            </a:r>
            <a:r>
              <a:rPr lang="en-US"/>
              <a:t>, </a:t>
            </a:r>
            <a:r>
              <a:rPr lang="en-US" err="1"/>
              <a:t>ve</a:t>
            </a:r>
            <a:r>
              <a:rPr lang="en-US"/>
              <a:t> </a:t>
            </a:r>
            <a:r>
              <a:rPr lang="en-US" err="1"/>
              <a:t>které</a:t>
            </a:r>
            <a:r>
              <a:rPr lang="en-US"/>
              <a:t> je </a:t>
            </a:r>
            <a:r>
              <a:rPr lang="en-US" err="1"/>
              <a:t>oznamovaný</a:t>
            </a:r>
            <a:r>
              <a:rPr lang="en-US"/>
              <a:t> prefix, router lifetime (</a:t>
            </a:r>
            <a:r>
              <a:rPr lang="en-US" err="1"/>
              <a:t>tedy</a:t>
            </a:r>
            <a:r>
              <a:rPr lang="cs-CZ"/>
              <a:t> </a:t>
            </a:r>
            <a:r>
              <a:rPr lang="en-US" err="1"/>
              <a:t>čas</a:t>
            </a:r>
            <a:r>
              <a:rPr lang="en-US"/>
              <a:t>, </a:t>
            </a:r>
            <a:r>
              <a:rPr lang="en-US" err="1"/>
              <a:t>po</a:t>
            </a:r>
            <a:r>
              <a:rPr lang="en-US"/>
              <a:t> </a:t>
            </a:r>
            <a:r>
              <a:rPr lang="en-US" err="1"/>
              <a:t>který</a:t>
            </a:r>
            <a:r>
              <a:rPr lang="en-US"/>
              <a:t> </a:t>
            </a:r>
            <a:r>
              <a:rPr lang="en-US" err="1"/>
              <a:t>bude</a:t>
            </a:r>
            <a:r>
              <a:rPr lang="en-US"/>
              <a:t> </a:t>
            </a:r>
            <a:r>
              <a:rPr lang="en-US" err="1"/>
              <a:t>daný</a:t>
            </a:r>
            <a:r>
              <a:rPr lang="en-US"/>
              <a:t> router </a:t>
            </a:r>
            <a:r>
              <a:rPr lang="en-US" err="1"/>
              <a:t>figurovat</a:t>
            </a:r>
            <a:r>
              <a:rPr lang="en-US"/>
              <a:t> </a:t>
            </a:r>
            <a:r>
              <a:rPr lang="en-US" err="1"/>
              <a:t>jako</a:t>
            </a:r>
            <a:r>
              <a:rPr lang="en-US"/>
              <a:t> </a:t>
            </a:r>
            <a:r>
              <a:rPr lang="en-US" err="1"/>
              <a:t>výchozí</a:t>
            </a:r>
            <a:r>
              <a:rPr lang="en-US"/>
              <a:t> </a:t>
            </a:r>
            <a:r>
              <a:rPr lang="en-US" err="1"/>
              <a:t>brána</a:t>
            </a:r>
            <a:r>
              <a:rPr lang="en-US"/>
              <a:t>) a </a:t>
            </a:r>
            <a:r>
              <a:rPr lang="en-US" err="1"/>
              <a:t>další</a:t>
            </a:r>
            <a:r>
              <a:rPr lang="en-US"/>
              <a:t> </a:t>
            </a:r>
            <a:r>
              <a:rPr lang="en-US" err="1"/>
              <a:t>parametry</a:t>
            </a:r>
            <a:r>
              <a:rPr lang="en-US"/>
              <a:t>, </a:t>
            </a:r>
            <a:r>
              <a:rPr lang="en-US" err="1"/>
              <a:t>jako</a:t>
            </a:r>
            <a:r>
              <a:rPr lang="en-US"/>
              <a:t> je </a:t>
            </a:r>
            <a:r>
              <a:rPr lang="en-US" b="1"/>
              <a:t>MTU</a:t>
            </a:r>
            <a:r>
              <a:rPr lang="en-US"/>
              <a:t>.</a:t>
            </a:r>
            <a:br>
              <a:rPr lang="en-US"/>
            </a:br>
            <a:br>
              <a:rPr lang="en-US"/>
            </a:br>
            <a:endParaRPr lang="en-US"/>
          </a:p>
        </p:txBody>
      </p:sp>
      <p:sp>
        <p:nvSpPr>
          <p:cNvPr id="4" name="Zástupný symbol pro datum 3">
            <a:extLst>
              <a:ext uri="{FF2B5EF4-FFF2-40B4-BE49-F238E27FC236}">
                <a16:creationId xmlns:a16="http://schemas.microsoft.com/office/drawing/2014/main" id="{96D7ED78-303A-52FF-5BC7-E36BCF1CBBF0}"/>
              </a:ext>
            </a:extLst>
          </p:cNvPr>
          <p:cNvSpPr>
            <a:spLocks noGrp="1"/>
          </p:cNvSpPr>
          <p:nvPr>
            <p:ph type="dt" sz="half" idx="10"/>
          </p:nvPr>
        </p:nvSpPr>
        <p:spPr/>
        <p:txBody>
          <a:bodyPr/>
          <a:lstStyle/>
          <a:p>
            <a:r>
              <a:rPr lang="cs-CZ"/>
              <a:t>18.8.2022</a:t>
            </a:r>
          </a:p>
        </p:txBody>
      </p:sp>
      <p:sp>
        <p:nvSpPr>
          <p:cNvPr id="5" name="Zástupný symbol pro číslo snímku 4">
            <a:extLst>
              <a:ext uri="{FF2B5EF4-FFF2-40B4-BE49-F238E27FC236}">
                <a16:creationId xmlns:a16="http://schemas.microsoft.com/office/drawing/2014/main" id="{7A6C84F3-0F16-D4B6-AF4F-B7C9443B1ABF}"/>
              </a:ext>
            </a:extLst>
          </p:cNvPr>
          <p:cNvSpPr>
            <a:spLocks noGrp="1"/>
          </p:cNvSpPr>
          <p:nvPr>
            <p:ph type="sldNum" sz="quarter" idx="12"/>
          </p:nvPr>
        </p:nvSpPr>
        <p:spPr/>
        <p:txBody>
          <a:bodyPr/>
          <a:lstStyle/>
          <a:p>
            <a:fld id="{AD9F5C5F-4392-49C5-81DD-37F176609E69}" type="slidenum">
              <a:rPr lang="cs-CZ" smtClean="0"/>
              <a:t>195</a:t>
            </a:fld>
            <a:endParaRPr lang="cs-CZ"/>
          </a:p>
        </p:txBody>
      </p:sp>
    </p:spTree>
    <p:extLst>
      <p:ext uri="{BB962C8B-B14F-4D97-AF65-F5344CB8AC3E}">
        <p14:creationId xmlns:p14="http://schemas.microsoft.com/office/powerpoint/2010/main" val="2792543329"/>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86F309B-7263-080B-84B0-4185A5DB9E7B}"/>
              </a:ext>
            </a:extLst>
          </p:cNvPr>
          <p:cNvSpPr>
            <a:spLocks noGrp="1"/>
          </p:cNvSpPr>
          <p:nvPr>
            <p:ph type="title"/>
          </p:nvPr>
        </p:nvSpPr>
        <p:spPr/>
        <p:txBody>
          <a:bodyPr/>
          <a:lstStyle/>
          <a:p>
            <a:r>
              <a:rPr lang="en-US" b="1"/>
              <a:t>IPv6</a:t>
            </a:r>
            <a:endParaRPr lang="en-US"/>
          </a:p>
        </p:txBody>
      </p:sp>
      <p:sp>
        <p:nvSpPr>
          <p:cNvPr id="3" name="Zástupný obsah 2">
            <a:extLst>
              <a:ext uri="{FF2B5EF4-FFF2-40B4-BE49-F238E27FC236}">
                <a16:creationId xmlns:a16="http://schemas.microsoft.com/office/drawing/2014/main" id="{B7EA8962-6736-4994-A240-62741C266CC4}"/>
              </a:ext>
            </a:extLst>
          </p:cNvPr>
          <p:cNvSpPr>
            <a:spLocks noGrp="1"/>
          </p:cNvSpPr>
          <p:nvPr>
            <p:ph idx="1"/>
          </p:nvPr>
        </p:nvSpPr>
        <p:spPr/>
        <p:txBody>
          <a:bodyPr>
            <a:normAutofit/>
          </a:bodyPr>
          <a:lstStyle/>
          <a:p>
            <a:r>
              <a:rPr lang="en-US" err="1"/>
              <a:t>Koncový</a:t>
            </a:r>
            <a:r>
              <a:rPr lang="en-US"/>
              <a:t> </a:t>
            </a:r>
            <a:r>
              <a:rPr lang="en-US" err="1"/>
              <a:t>počítačový</a:t>
            </a:r>
            <a:r>
              <a:rPr lang="en-US"/>
              <a:t> </a:t>
            </a:r>
            <a:r>
              <a:rPr lang="en-US" err="1"/>
              <a:t>systém</a:t>
            </a:r>
            <a:r>
              <a:rPr lang="en-US"/>
              <a:t> </a:t>
            </a:r>
            <a:r>
              <a:rPr lang="en-US" err="1"/>
              <a:t>si</a:t>
            </a:r>
            <a:r>
              <a:rPr lang="en-US"/>
              <a:t> </a:t>
            </a:r>
            <a:r>
              <a:rPr lang="en-US" err="1"/>
              <a:t>na</a:t>
            </a:r>
            <a:r>
              <a:rPr lang="en-US"/>
              <a:t> </a:t>
            </a:r>
            <a:r>
              <a:rPr lang="en-US" err="1"/>
              <a:t>základě</a:t>
            </a:r>
            <a:r>
              <a:rPr lang="en-US"/>
              <a:t> </a:t>
            </a:r>
            <a:r>
              <a:rPr lang="en-US" err="1"/>
              <a:t>zaslaného</a:t>
            </a:r>
            <a:r>
              <a:rPr lang="en-US"/>
              <a:t> </a:t>
            </a:r>
            <a:r>
              <a:rPr lang="en-US" err="1"/>
              <a:t>prefixu</a:t>
            </a:r>
            <a:r>
              <a:rPr lang="en-US"/>
              <a:t> a ID </a:t>
            </a:r>
            <a:r>
              <a:rPr lang="en-US" err="1"/>
              <a:t>rozhraní</a:t>
            </a:r>
            <a:r>
              <a:rPr lang="en-US"/>
              <a:t> </a:t>
            </a:r>
            <a:r>
              <a:rPr lang="en-US" err="1"/>
              <a:t>vytvoří</a:t>
            </a:r>
            <a:r>
              <a:rPr lang="en-US"/>
              <a:t> </a:t>
            </a:r>
            <a:r>
              <a:rPr lang="en-US" err="1"/>
              <a:t>unikátní</a:t>
            </a:r>
            <a:r>
              <a:rPr lang="cs-CZ"/>
              <a:t> </a:t>
            </a:r>
            <a:r>
              <a:rPr lang="en-US" err="1"/>
              <a:t>globální</a:t>
            </a:r>
            <a:r>
              <a:rPr lang="en-US"/>
              <a:t> IPv6 </a:t>
            </a:r>
            <a:r>
              <a:rPr lang="en-US" err="1"/>
              <a:t>adresu</a:t>
            </a:r>
            <a:r>
              <a:rPr lang="en-US"/>
              <a:t> a </a:t>
            </a:r>
            <a:r>
              <a:rPr lang="en-US" err="1"/>
              <a:t>pokud</a:t>
            </a:r>
            <a:r>
              <a:rPr lang="en-US"/>
              <a:t> je lifetime </a:t>
            </a:r>
            <a:r>
              <a:rPr lang="en-US" err="1"/>
              <a:t>routeru</a:t>
            </a:r>
            <a:r>
              <a:rPr lang="en-US"/>
              <a:t> </a:t>
            </a:r>
            <a:r>
              <a:rPr lang="en-US" err="1"/>
              <a:t>větší</a:t>
            </a:r>
            <a:r>
              <a:rPr lang="en-US"/>
              <a:t> </a:t>
            </a:r>
            <a:r>
              <a:rPr lang="en-US" err="1"/>
              <a:t>než</a:t>
            </a:r>
            <a:r>
              <a:rPr lang="en-US"/>
              <a:t> </a:t>
            </a:r>
            <a:r>
              <a:rPr lang="en-US" err="1"/>
              <a:t>nula</a:t>
            </a:r>
            <a:r>
              <a:rPr lang="en-US"/>
              <a:t>, </a:t>
            </a:r>
            <a:r>
              <a:rPr lang="en-US" err="1"/>
              <a:t>zařadí</a:t>
            </a:r>
            <a:r>
              <a:rPr lang="en-US"/>
              <a:t> </a:t>
            </a:r>
            <a:r>
              <a:rPr lang="en-US" err="1"/>
              <a:t>si</a:t>
            </a:r>
            <a:r>
              <a:rPr lang="en-US"/>
              <a:t> </a:t>
            </a:r>
            <a:r>
              <a:rPr lang="en-US" err="1"/>
              <a:t>jeho</a:t>
            </a:r>
            <a:r>
              <a:rPr lang="en-US"/>
              <a:t> IPv6 </a:t>
            </a:r>
            <a:r>
              <a:rPr lang="en-US" err="1"/>
              <a:t>adresu</a:t>
            </a:r>
            <a:r>
              <a:rPr lang="cs-CZ"/>
              <a:t> </a:t>
            </a:r>
            <a:r>
              <a:rPr lang="en-US"/>
              <a:t>do </a:t>
            </a:r>
            <a:r>
              <a:rPr lang="en-US" err="1"/>
              <a:t>seznamu</a:t>
            </a:r>
            <a:r>
              <a:rPr lang="en-US"/>
              <a:t> </a:t>
            </a:r>
            <a:r>
              <a:rPr lang="en-US" err="1"/>
              <a:t>výchozích</a:t>
            </a:r>
            <a:r>
              <a:rPr lang="en-US"/>
              <a:t> bran. </a:t>
            </a:r>
            <a:endParaRPr lang="cs-CZ"/>
          </a:p>
          <a:p>
            <a:r>
              <a:rPr lang="en-US" err="1"/>
              <a:t>Oznámení</a:t>
            </a:r>
            <a:r>
              <a:rPr lang="en-US"/>
              <a:t> </a:t>
            </a:r>
            <a:r>
              <a:rPr lang="en-US" err="1"/>
              <a:t>směrovače</a:t>
            </a:r>
            <a:r>
              <a:rPr lang="en-US"/>
              <a:t> je </a:t>
            </a:r>
            <a:r>
              <a:rPr lang="en-US" err="1"/>
              <a:t>posíláno</a:t>
            </a:r>
            <a:r>
              <a:rPr lang="en-US"/>
              <a:t> </a:t>
            </a:r>
            <a:r>
              <a:rPr lang="en-US" err="1"/>
              <a:t>všem</a:t>
            </a:r>
            <a:r>
              <a:rPr lang="en-US"/>
              <a:t> </a:t>
            </a:r>
            <a:r>
              <a:rPr lang="en-US" err="1"/>
              <a:t>počítačovým</a:t>
            </a:r>
            <a:r>
              <a:rPr lang="en-US"/>
              <a:t> </a:t>
            </a:r>
            <a:r>
              <a:rPr lang="en-US" err="1"/>
              <a:t>systémům</a:t>
            </a:r>
            <a:r>
              <a:rPr lang="cs-CZ"/>
              <a:t> </a:t>
            </a:r>
            <a:r>
              <a:rPr lang="en-US"/>
              <a:t>v </a:t>
            </a:r>
            <a:r>
              <a:rPr lang="en-US" err="1"/>
              <a:t>síti</a:t>
            </a:r>
            <a:r>
              <a:rPr lang="en-US"/>
              <a:t> (ale </a:t>
            </a:r>
            <a:r>
              <a:rPr lang="en-US" err="1"/>
              <a:t>může</a:t>
            </a:r>
            <a:r>
              <a:rPr lang="en-US"/>
              <a:t> </a:t>
            </a:r>
            <a:r>
              <a:rPr lang="en-US" err="1"/>
              <a:t>být</a:t>
            </a:r>
            <a:r>
              <a:rPr lang="en-US"/>
              <a:t> </a:t>
            </a:r>
            <a:r>
              <a:rPr lang="en-US" err="1"/>
              <a:t>posláno</a:t>
            </a:r>
            <a:r>
              <a:rPr lang="en-US"/>
              <a:t> </a:t>
            </a:r>
            <a:r>
              <a:rPr lang="en-US" err="1"/>
              <a:t>i</a:t>
            </a:r>
            <a:r>
              <a:rPr lang="en-US"/>
              <a:t> </a:t>
            </a:r>
            <a:r>
              <a:rPr lang="en-US" err="1"/>
              <a:t>cíleně</a:t>
            </a:r>
            <a:r>
              <a:rPr lang="en-US"/>
              <a:t> </a:t>
            </a:r>
            <a:r>
              <a:rPr lang="en-US" err="1"/>
              <a:t>jen</a:t>
            </a:r>
            <a:r>
              <a:rPr lang="en-US"/>
              <a:t> </a:t>
            </a:r>
            <a:r>
              <a:rPr lang="en-US" err="1"/>
              <a:t>jednomu</a:t>
            </a:r>
            <a:r>
              <a:rPr lang="en-US"/>
              <a:t> </a:t>
            </a:r>
            <a:r>
              <a:rPr lang="en-US" err="1"/>
              <a:t>zařízení</a:t>
            </a:r>
            <a:r>
              <a:rPr lang="en-US"/>
              <a:t>), </a:t>
            </a:r>
            <a:r>
              <a:rPr lang="en-US" err="1"/>
              <a:t>což</a:t>
            </a:r>
            <a:r>
              <a:rPr lang="en-US"/>
              <a:t> </a:t>
            </a:r>
            <a:r>
              <a:rPr lang="en-US" err="1"/>
              <a:t>představuje</a:t>
            </a:r>
            <a:r>
              <a:rPr lang="en-US"/>
              <a:t> </a:t>
            </a:r>
            <a:r>
              <a:rPr lang="en-US" err="1"/>
              <a:t>oproti</a:t>
            </a:r>
            <a:r>
              <a:rPr lang="en-US"/>
              <a:t> </a:t>
            </a:r>
            <a:r>
              <a:rPr lang="en-US" err="1"/>
              <a:t>klasickému</a:t>
            </a:r>
            <a:r>
              <a:rPr lang="cs-CZ"/>
              <a:t> </a:t>
            </a:r>
            <a:r>
              <a:rPr lang="en-US"/>
              <a:t>DHCP </a:t>
            </a:r>
            <a:r>
              <a:rPr lang="en-US" err="1"/>
              <a:t>výhodu</a:t>
            </a:r>
            <a:r>
              <a:rPr lang="en-US"/>
              <a:t> v tom, </a:t>
            </a:r>
            <a:r>
              <a:rPr lang="en-US" err="1"/>
              <a:t>že</a:t>
            </a:r>
            <a:r>
              <a:rPr lang="en-US"/>
              <a:t> je </a:t>
            </a:r>
            <a:r>
              <a:rPr lang="en-US" err="1"/>
              <a:t>možné</a:t>
            </a:r>
            <a:r>
              <a:rPr lang="en-US"/>
              <a:t> </a:t>
            </a:r>
            <a:r>
              <a:rPr lang="en-US" err="1"/>
              <a:t>rychle</a:t>
            </a:r>
            <a:r>
              <a:rPr lang="en-US"/>
              <a:t> </a:t>
            </a:r>
            <a:r>
              <a:rPr lang="en-US" err="1"/>
              <a:t>informovat</a:t>
            </a:r>
            <a:r>
              <a:rPr lang="en-US"/>
              <a:t> </a:t>
            </a:r>
            <a:r>
              <a:rPr lang="en-US" err="1"/>
              <a:t>všechny</a:t>
            </a:r>
            <a:r>
              <a:rPr lang="en-US"/>
              <a:t> </a:t>
            </a:r>
            <a:r>
              <a:rPr lang="en-US" err="1"/>
              <a:t>koncové</a:t>
            </a:r>
            <a:r>
              <a:rPr lang="en-US"/>
              <a:t> </a:t>
            </a:r>
            <a:r>
              <a:rPr lang="en-US" err="1"/>
              <a:t>počítačové</a:t>
            </a:r>
            <a:r>
              <a:rPr lang="en-US"/>
              <a:t> </a:t>
            </a:r>
            <a:r>
              <a:rPr lang="en-US" err="1"/>
              <a:t>systémy</a:t>
            </a:r>
            <a:r>
              <a:rPr lang="en-US"/>
              <a:t> v </a:t>
            </a:r>
            <a:r>
              <a:rPr lang="en-US" err="1"/>
              <a:t>síti</a:t>
            </a:r>
            <a:r>
              <a:rPr lang="cs-CZ"/>
              <a:t> </a:t>
            </a:r>
            <a:r>
              <a:rPr lang="en-US" err="1"/>
              <a:t>například</a:t>
            </a:r>
            <a:r>
              <a:rPr lang="en-US"/>
              <a:t> o </a:t>
            </a:r>
            <a:r>
              <a:rPr lang="en-US" err="1"/>
              <a:t>změně</a:t>
            </a:r>
            <a:r>
              <a:rPr lang="en-US"/>
              <a:t> </a:t>
            </a:r>
            <a:r>
              <a:rPr lang="en-US" err="1"/>
              <a:t>směrovače</a:t>
            </a:r>
            <a:r>
              <a:rPr lang="en-US"/>
              <a:t>.</a:t>
            </a:r>
          </a:p>
        </p:txBody>
      </p:sp>
      <p:sp>
        <p:nvSpPr>
          <p:cNvPr id="4" name="Zástupný symbol pro datum 3">
            <a:extLst>
              <a:ext uri="{FF2B5EF4-FFF2-40B4-BE49-F238E27FC236}">
                <a16:creationId xmlns:a16="http://schemas.microsoft.com/office/drawing/2014/main" id="{CA73BB09-66E9-EE32-F215-6627E038A28F}"/>
              </a:ext>
            </a:extLst>
          </p:cNvPr>
          <p:cNvSpPr>
            <a:spLocks noGrp="1"/>
          </p:cNvSpPr>
          <p:nvPr>
            <p:ph type="dt" sz="half" idx="10"/>
          </p:nvPr>
        </p:nvSpPr>
        <p:spPr/>
        <p:txBody>
          <a:bodyPr/>
          <a:lstStyle/>
          <a:p>
            <a:r>
              <a:rPr lang="cs-CZ"/>
              <a:t>18.8.2022</a:t>
            </a:r>
          </a:p>
        </p:txBody>
      </p:sp>
      <p:sp>
        <p:nvSpPr>
          <p:cNvPr id="5" name="Zástupný symbol pro číslo snímku 4">
            <a:extLst>
              <a:ext uri="{FF2B5EF4-FFF2-40B4-BE49-F238E27FC236}">
                <a16:creationId xmlns:a16="http://schemas.microsoft.com/office/drawing/2014/main" id="{855626A1-A71B-7B48-4BD1-5838F2E32452}"/>
              </a:ext>
            </a:extLst>
          </p:cNvPr>
          <p:cNvSpPr>
            <a:spLocks noGrp="1"/>
          </p:cNvSpPr>
          <p:nvPr>
            <p:ph type="sldNum" sz="quarter" idx="12"/>
          </p:nvPr>
        </p:nvSpPr>
        <p:spPr/>
        <p:txBody>
          <a:bodyPr/>
          <a:lstStyle/>
          <a:p>
            <a:fld id="{AD9F5C5F-4392-49C5-81DD-37F176609E69}" type="slidenum">
              <a:rPr lang="cs-CZ" smtClean="0"/>
              <a:t>196</a:t>
            </a:fld>
            <a:endParaRPr lang="cs-CZ"/>
          </a:p>
        </p:txBody>
      </p:sp>
    </p:spTree>
    <p:extLst>
      <p:ext uri="{BB962C8B-B14F-4D97-AF65-F5344CB8AC3E}">
        <p14:creationId xmlns:p14="http://schemas.microsoft.com/office/powerpoint/2010/main" val="706927667"/>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65BBDED-E5DB-BD0E-F6B8-FF67033ABB8C}"/>
              </a:ext>
            </a:extLst>
          </p:cNvPr>
          <p:cNvSpPr>
            <a:spLocks noGrp="1"/>
          </p:cNvSpPr>
          <p:nvPr>
            <p:ph type="title"/>
          </p:nvPr>
        </p:nvSpPr>
        <p:spPr/>
        <p:txBody>
          <a:bodyPr/>
          <a:lstStyle/>
          <a:p>
            <a:r>
              <a:rPr lang="en-US" b="1"/>
              <a:t>IPv6</a:t>
            </a:r>
            <a:endParaRPr lang="en-US"/>
          </a:p>
        </p:txBody>
      </p:sp>
      <p:sp>
        <p:nvSpPr>
          <p:cNvPr id="3" name="Zástupný obsah 2">
            <a:extLst>
              <a:ext uri="{FF2B5EF4-FFF2-40B4-BE49-F238E27FC236}">
                <a16:creationId xmlns:a16="http://schemas.microsoft.com/office/drawing/2014/main" id="{3E06A2AD-03C1-C7EE-A097-ECA1C3455C79}"/>
              </a:ext>
            </a:extLst>
          </p:cNvPr>
          <p:cNvSpPr>
            <a:spLocks noGrp="1"/>
          </p:cNvSpPr>
          <p:nvPr>
            <p:ph idx="1"/>
          </p:nvPr>
        </p:nvSpPr>
        <p:spPr/>
        <p:txBody>
          <a:bodyPr/>
          <a:lstStyle/>
          <a:p>
            <a:r>
              <a:rPr lang="en-US" err="1"/>
              <a:t>Problém</a:t>
            </a:r>
            <a:r>
              <a:rPr lang="en-US"/>
              <a:t> z </a:t>
            </a:r>
            <a:r>
              <a:rPr lang="en-US" err="1"/>
              <a:t>pohledu</a:t>
            </a:r>
            <a:r>
              <a:rPr lang="en-US"/>
              <a:t> </a:t>
            </a:r>
            <a:r>
              <a:rPr lang="en-US" err="1"/>
              <a:t>bezpečnosti</a:t>
            </a:r>
            <a:r>
              <a:rPr lang="en-US"/>
              <a:t> </a:t>
            </a:r>
            <a:r>
              <a:rPr lang="en-US" err="1"/>
              <a:t>představuje</a:t>
            </a:r>
            <a:r>
              <a:rPr lang="en-US"/>
              <a:t> </a:t>
            </a:r>
            <a:r>
              <a:rPr lang="en-US" err="1"/>
              <a:t>skutečnost</a:t>
            </a:r>
            <a:r>
              <a:rPr lang="en-US"/>
              <a:t>, </a:t>
            </a:r>
            <a:r>
              <a:rPr lang="en-US" err="1"/>
              <a:t>že</a:t>
            </a:r>
            <a:r>
              <a:rPr lang="en-US"/>
              <a:t> </a:t>
            </a:r>
            <a:r>
              <a:rPr lang="en-US" err="1"/>
              <a:t>za</a:t>
            </a:r>
            <a:r>
              <a:rPr lang="en-US"/>
              <a:t> </a:t>
            </a:r>
            <a:r>
              <a:rPr lang="en-US" err="1"/>
              <a:t>směrovač</a:t>
            </a:r>
            <a:r>
              <a:rPr lang="en-US"/>
              <a:t> se </a:t>
            </a:r>
            <a:r>
              <a:rPr lang="en-US" err="1"/>
              <a:t>může</a:t>
            </a:r>
            <a:r>
              <a:rPr lang="en-US"/>
              <a:t> </a:t>
            </a:r>
            <a:r>
              <a:rPr lang="en-US" err="1"/>
              <a:t>vydávat</a:t>
            </a:r>
            <a:r>
              <a:rPr lang="cs-CZ"/>
              <a:t> </a:t>
            </a:r>
            <a:r>
              <a:rPr lang="en-US" err="1"/>
              <a:t>kterýkoliv</a:t>
            </a:r>
            <a:r>
              <a:rPr lang="en-US"/>
              <a:t> </a:t>
            </a:r>
            <a:r>
              <a:rPr lang="en-US" err="1"/>
              <a:t>počítačový</a:t>
            </a:r>
            <a:r>
              <a:rPr lang="en-US"/>
              <a:t> </a:t>
            </a:r>
            <a:r>
              <a:rPr lang="en-US" err="1"/>
              <a:t>systém</a:t>
            </a:r>
            <a:r>
              <a:rPr lang="en-US"/>
              <a:t>. </a:t>
            </a:r>
            <a:endParaRPr lang="cs-CZ"/>
          </a:p>
          <a:p>
            <a:r>
              <a:rPr lang="en-US" err="1"/>
              <a:t>Tento</a:t>
            </a:r>
            <a:r>
              <a:rPr lang="en-US"/>
              <a:t> </a:t>
            </a:r>
            <a:r>
              <a:rPr lang="en-US" err="1"/>
              <a:t>může</a:t>
            </a:r>
            <a:r>
              <a:rPr lang="en-US"/>
              <a:t> do </a:t>
            </a:r>
            <a:r>
              <a:rPr lang="en-US" err="1"/>
              <a:t>počítačové</a:t>
            </a:r>
            <a:r>
              <a:rPr lang="en-US"/>
              <a:t> </a:t>
            </a:r>
            <a:r>
              <a:rPr lang="en-US" err="1"/>
              <a:t>sítě</a:t>
            </a:r>
            <a:r>
              <a:rPr lang="en-US"/>
              <a:t> </a:t>
            </a:r>
            <a:r>
              <a:rPr lang="en-US" err="1"/>
              <a:t>poslat</a:t>
            </a:r>
            <a:r>
              <a:rPr lang="en-US"/>
              <a:t> </a:t>
            </a:r>
            <a:r>
              <a:rPr lang="en-US" err="1"/>
              <a:t>vlastní</a:t>
            </a:r>
            <a:r>
              <a:rPr lang="en-US"/>
              <a:t> </a:t>
            </a:r>
            <a:r>
              <a:rPr lang="en-US" err="1"/>
              <a:t>oznámení</a:t>
            </a:r>
            <a:r>
              <a:rPr lang="en-US"/>
              <a:t> </a:t>
            </a:r>
            <a:r>
              <a:rPr lang="en-US" err="1"/>
              <a:t>směrovače</a:t>
            </a:r>
            <a:r>
              <a:rPr lang="en-US"/>
              <a:t>,</a:t>
            </a:r>
            <a:r>
              <a:rPr lang="cs-CZ"/>
              <a:t> </a:t>
            </a:r>
            <a:r>
              <a:rPr lang="en-US"/>
              <a:t>a </a:t>
            </a:r>
            <a:r>
              <a:rPr lang="en-US" err="1"/>
              <a:t>tím</a:t>
            </a:r>
            <a:r>
              <a:rPr lang="en-US"/>
              <a:t> </a:t>
            </a:r>
            <a:r>
              <a:rPr lang="en-US" err="1"/>
              <a:t>tak</a:t>
            </a:r>
            <a:r>
              <a:rPr lang="en-US"/>
              <a:t> </a:t>
            </a:r>
            <a:r>
              <a:rPr lang="en-US" err="1"/>
              <a:t>koncovým</a:t>
            </a:r>
            <a:r>
              <a:rPr lang="en-US"/>
              <a:t> </a:t>
            </a:r>
            <a:r>
              <a:rPr lang="en-US" err="1"/>
              <a:t>počítačovým</a:t>
            </a:r>
            <a:r>
              <a:rPr lang="en-US"/>
              <a:t> </a:t>
            </a:r>
            <a:r>
              <a:rPr lang="en-US" err="1"/>
              <a:t>systémům</a:t>
            </a:r>
            <a:r>
              <a:rPr lang="en-US"/>
              <a:t> v </a:t>
            </a:r>
            <a:r>
              <a:rPr lang="en-US" err="1"/>
              <a:t>síti</a:t>
            </a:r>
            <a:r>
              <a:rPr lang="en-US"/>
              <a:t> </a:t>
            </a:r>
            <a:r>
              <a:rPr lang="en-US" err="1"/>
              <a:t>vnutit</a:t>
            </a:r>
            <a:r>
              <a:rPr lang="en-US"/>
              <a:t> </a:t>
            </a:r>
            <a:r>
              <a:rPr lang="en-US" err="1"/>
              <a:t>například</a:t>
            </a:r>
            <a:r>
              <a:rPr lang="en-US"/>
              <a:t> </a:t>
            </a:r>
            <a:r>
              <a:rPr lang="en-US" err="1"/>
              <a:t>útočníkovu</a:t>
            </a:r>
            <a:r>
              <a:rPr lang="en-US"/>
              <a:t> „</a:t>
            </a:r>
            <a:r>
              <a:rPr lang="en-US" err="1"/>
              <a:t>výchozí</a:t>
            </a:r>
            <a:r>
              <a:rPr lang="en-US"/>
              <a:t> </a:t>
            </a:r>
            <a:r>
              <a:rPr lang="en-US" err="1"/>
              <a:t>bránu</a:t>
            </a:r>
            <a:r>
              <a:rPr lang="en-US"/>
              <a:t>“.</a:t>
            </a:r>
          </a:p>
          <a:p>
            <a:r>
              <a:rPr lang="en-US" err="1"/>
              <a:t>Uvedený</a:t>
            </a:r>
            <a:r>
              <a:rPr lang="en-US"/>
              <a:t> </a:t>
            </a:r>
            <a:r>
              <a:rPr lang="en-US" err="1"/>
              <a:t>útok</a:t>
            </a:r>
            <a:r>
              <a:rPr lang="en-US"/>
              <a:t> </a:t>
            </a:r>
            <a:r>
              <a:rPr lang="en-US" err="1"/>
              <a:t>umožňuje</a:t>
            </a:r>
            <a:r>
              <a:rPr lang="en-US"/>
              <a:t> </a:t>
            </a:r>
            <a:r>
              <a:rPr lang="en-US" err="1"/>
              <a:t>útočníkovi</a:t>
            </a:r>
            <a:r>
              <a:rPr lang="en-US"/>
              <a:t> </a:t>
            </a:r>
            <a:r>
              <a:rPr lang="en-US" err="1"/>
              <a:t>sledovat</a:t>
            </a:r>
            <a:r>
              <a:rPr lang="en-US"/>
              <a:t> </a:t>
            </a:r>
            <a:r>
              <a:rPr lang="en-US" err="1"/>
              <a:t>provoz</a:t>
            </a:r>
            <a:r>
              <a:rPr lang="en-US"/>
              <a:t>, </a:t>
            </a:r>
            <a:r>
              <a:rPr lang="en-US" err="1"/>
              <a:t>případně</a:t>
            </a:r>
            <a:r>
              <a:rPr lang="en-US"/>
              <a:t> do </a:t>
            </a:r>
            <a:r>
              <a:rPr lang="en-US" err="1"/>
              <a:t>něj</a:t>
            </a:r>
            <a:r>
              <a:rPr lang="en-US"/>
              <a:t> </a:t>
            </a:r>
            <a:r>
              <a:rPr lang="en-US" err="1"/>
              <a:t>zasahovat</a:t>
            </a:r>
            <a:r>
              <a:rPr lang="en-US"/>
              <a:t>, </a:t>
            </a:r>
            <a:r>
              <a:rPr lang="en-US" err="1"/>
              <a:t>jak</a:t>
            </a:r>
            <a:r>
              <a:rPr lang="en-US"/>
              <a:t> </a:t>
            </a:r>
            <a:r>
              <a:rPr lang="en-US" err="1"/>
              <a:t>tomu</a:t>
            </a:r>
            <a:r>
              <a:rPr lang="en-US"/>
              <a:t> </a:t>
            </a:r>
            <a:r>
              <a:rPr lang="en-US" err="1"/>
              <a:t>bylo</a:t>
            </a:r>
            <a:r>
              <a:rPr lang="cs-CZ"/>
              <a:t> </a:t>
            </a:r>
            <a:r>
              <a:rPr lang="en-US" err="1"/>
              <a:t>i</a:t>
            </a:r>
            <a:r>
              <a:rPr lang="en-US"/>
              <a:t> v </a:t>
            </a:r>
            <a:r>
              <a:rPr lang="en-US" err="1"/>
              <a:t>případě</a:t>
            </a:r>
            <a:r>
              <a:rPr lang="en-US"/>
              <a:t> ARP Cache Poisoning u IPv4.</a:t>
            </a:r>
          </a:p>
        </p:txBody>
      </p:sp>
      <p:sp>
        <p:nvSpPr>
          <p:cNvPr id="4" name="Zástupný symbol pro datum 3">
            <a:extLst>
              <a:ext uri="{FF2B5EF4-FFF2-40B4-BE49-F238E27FC236}">
                <a16:creationId xmlns:a16="http://schemas.microsoft.com/office/drawing/2014/main" id="{9A4941C7-34CE-96DF-9A20-1A02388AB600}"/>
              </a:ext>
            </a:extLst>
          </p:cNvPr>
          <p:cNvSpPr>
            <a:spLocks noGrp="1"/>
          </p:cNvSpPr>
          <p:nvPr>
            <p:ph type="dt" sz="half" idx="10"/>
          </p:nvPr>
        </p:nvSpPr>
        <p:spPr/>
        <p:txBody>
          <a:bodyPr/>
          <a:lstStyle/>
          <a:p>
            <a:r>
              <a:rPr lang="cs-CZ"/>
              <a:t>18.8.2022</a:t>
            </a:r>
          </a:p>
        </p:txBody>
      </p:sp>
      <p:sp>
        <p:nvSpPr>
          <p:cNvPr id="5" name="Zástupný symbol pro číslo snímku 4">
            <a:extLst>
              <a:ext uri="{FF2B5EF4-FFF2-40B4-BE49-F238E27FC236}">
                <a16:creationId xmlns:a16="http://schemas.microsoft.com/office/drawing/2014/main" id="{7DB9DB59-E8BD-740B-8DF6-8CDA24EFC64A}"/>
              </a:ext>
            </a:extLst>
          </p:cNvPr>
          <p:cNvSpPr>
            <a:spLocks noGrp="1"/>
          </p:cNvSpPr>
          <p:nvPr>
            <p:ph type="sldNum" sz="quarter" idx="12"/>
          </p:nvPr>
        </p:nvSpPr>
        <p:spPr/>
        <p:txBody>
          <a:bodyPr/>
          <a:lstStyle/>
          <a:p>
            <a:fld id="{AD9F5C5F-4392-49C5-81DD-37F176609E69}" type="slidenum">
              <a:rPr lang="cs-CZ" smtClean="0"/>
              <a:t>197</a:t>
            </a:fld>
            <a:endParaRPr lang="cs-CZ"/>
          </a:p>
        </p:txBody>
      </p:sp>
    </p:spTree>
    <p:extLst>
      <p:ext uri="{BB962C8B-B14F-4D97-AF65-F5344CB8AC3E}">
        <p14:creationId xmlns:p14="http://schemas.microsoft.com/office/powerpoint/2010/main" val="3920882374"/>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C7D1FC6-7D11-1351-08BE-A55E32DA51D3}"/>
              </a:ext>
            </a:extLst>
          </p:cNvPr>
          <p:cNvSpPr>
            <a:spLocks noGrp="1"/>
          </p:cNvSpPr>
          <p:nvPr>
            <p:ph type="title"/>
          </p:nvPr>
        </p:nvSpPr>
        <p:spPr/>
        <p:txBody>
          <a:bodyPr/>
          <a:lstStyle/>
          <a:p>
            <a:r>
              <a:rPr lang="en-US" b="1"/>
              <a:t>IPv6</a:t>
            </a:r>
            <a:endParaRPr lang="en-US"/>
          </a:p>
        </p:txBody>
      </p:sp>
      <p:sp>
        <p:nvSpPr>
          <p:cNvPr id="3" name="Zástupný obsah 2">
            <a:extLst>
              <a:ext uri="{FF2B5EF4-FFF2-40B4-BE49-F238E27FC236}">
                <a16:creationId xmlns:a16="http://schemas.microsoft.com/office/drawing/2014/main" id="{F998ED8D-3121-496D-FBD3-DAA4684DD9EC}"/>
              </a:ext>
            </a:extLst>
          </p:cNvPr>
          <p:cNvSpPr>
            <a:spLocks noGrp="1"/>
          </p:cNvSpPr>
          <p:nvPr>
            <p:ph idx="1"/>
          </p:nvPr>
        </p:nvSpPr>
        <p:spPr/>
        <p:txBody>
          <a:bodyPr>
            <a:normAutofit/>
          </a:bodyPr>
          <a:lstStyle/>
          <a:p>
            <a:r>
              <a:rPr lang="en-US"/>
              <a:t>V </a:t>
            </a:r>
            <a:r>
              <a:rPr lang="en-US" err="1"/>
              <a:t>praxi</a:t>
            </a:r>
            <a:r>
              <a:rPr lang="en-US"/>
              <a:t> je </a:t>
            </a:r>
            <a:r>
              <a:rPr lang="en-US" err="1"/>
              <a:t>možné</a:t>
            </a:r>
            <a:r>
              <a:rPr lang="en-US"/>
              <a:t> se </a:t>
            </a:r>
            <a:r>
              <a:rPr lang="en-US" err="1"/>
              <a:t>setkat</a:t>
            </a:r>
            <a:r>
              <a:rPr lang="en-US"/>
              <a:t> s </a:t>
            </a:r>
            <a:r>
              <a:rPr lang="en-US" err="1"/>
              <a:t>různými</a:t>
            </a:r>
            <a:r>
              <a:rPr lang="en-US"/>
              <a:t> </a:t>
            </a:r>
            <a:r>
              <a:rPr lang="en-US" err="1"/>
              <a:t>variantami</a:t>
            </a:r>
            <a:r>
              <a:rPr lang="en-US"/>
              <a:t> </a:t>
            </a:r>
            <a:r>
              <a:rPr lang="en-US" err="1"/>
              <a:t>tohoto</a:t>
            </a:r>
            <a:r>
              <a:rPr lang="en-US"/>
              <a:t> </a:t>
            </a:r>
            <a:r>
              <a:rPr lang="en-US" err="1"/>
              <a:t>útoku</a:t>
            </a:r>
            <a:r>
              <a:rPr lang="en-US"/>
              <a:t>, </a:t>
            </a:r>
            <a:r>
              <a:rPr lang="en-US" err="1"/>
              <a:t>přičemž</a:t>
            </a:r>
            <a:r>
              <a:rPr lang="en-US"/>
              <a:t> </a:t>
            </a:r>
            <a:r>
              <a:rPr lang="en-US" err="1"/>
              <a:t>útočník</a:t>
            </a:r>
            <a:r>
              <a:rPr lang="en-US"/>
              <a:t> se </a:t>
            </a:r>
            <a:r>
              <a:rPr lang="en-US" err="1"/>
              <a:t>může</a:t>
            </a:r>
            <a:r>
              <a:rPr lang="cs-CZ"/>
              <a:t> </a:t>
            </a:r>
            <a:r>
              <a:rPr lang="en-US"/>
              <a:t>v </a:t>
            </a:r>
            <a:r>
              <a:rPr lang="en-US" err="1"/>
              <a:t>lokální</a:t>
            </a:r>
            <a:r>
              <a:rPr lang="en-US"/>
              <a:t> </a:t>
            </a:r>
            <a:r>
              <a:rPr lang="en-US" err="1"/>
              <a:t>síti</a:t>
            </a:r>
            <a:r>
              <a:rPr lang="en-US"/>
              <a:t> </a:t>
            </a:r>
            <a:r>
              <a:rPr lang="en-US" err="1"/>
              <a:t>vydávat</a:t>
            </a:r>
            <a:r>
              <a:rPr lang="en-US"/>
              <a:t> </a:t>
            </a:r>
            <a:r>
              <a:rPr lang="en-US" err="1"/>
              <a:t>například</a:t>
            </a:r>
            <a:r>
              <a:rPr lang="en-US"/>
              <a:t> </a:t>
            </a:r>
            <a:r>
              <a:rPr lang="en-US" err="1"/>
              <a:t>za</a:t>
            </a:r>
            <a:r>
              <a:rPr lang="en-US"/>
              <a:t> </a:t>
            </a:r>
            <a:r>
              <a:rPr lang="en-US" err="1"/>
              <a:t>servery</a:t>
            </a:r>
            <a:r>
              <a:rPr lang="en-US"/>
              <a:t> Google, </a:t>
            </a:r>
            <a:r>
              <a:rPr lang="en-US" err="1"/>
              <a:t>což</a:t>
            </a:r>
            <a:r>
              <a:rPr lang="en-US"/>
              <a:t> </a:t>
            </a:r>
            <a:r>
              <a:rPr lang="en-US" err="1"/>
              <a:t>uskuteční</a:t>
            </a:r>
            <a:r>
              <a:rPr lang="en-US"/>
              <a:t> </a:t>
            </a:r>
            <a:r>
              <a:rPr lang="en-US" err="1"/>
              <a:t>tak</a:t>
            </a:r>
            <a:r>
              <a:rPr lang="en-US"/>
              <a:t>, </a:t>
            </a:r>
            <a:r>
              <a:rPr lang="en-US" err="1"/>
              <a:t>že</a:t>
            </a:r>
            <a:r>
              <a:rPr lang="en-US"/>
              <a:t> v </a:t>
            </a:r>
            <a:r>
              <a:rPr lang="en-US" b="1"/>
              <a:t>RA</a:t>
            </a:r>
            <a:r>
              <a:rPr lang="en-US"/>
              <a:t> </a:t>
            </a:r>
            <a:r>
              <a:rPr lang="en-US" err="1"/>
              <a:t>paketu</a:t>
            </a:r>
            <a:r>
              <a:rPr lang="en-US"/>
              <a:t> </a:t>
            </a:r>
            <a:r>
              <a:rPr lang="en-US" err="1"/>
              <a:t>oznámí</a:t>
            </a:r>
            <a:r>
              <a:rPr lang="cs-CZ"/>
              <a:t> </a:t>
            </a:r>
            <a:r>
              <a:rPr lang="en-US" err="1"/>
              <a:t>počítačovým</a:t>
            </a:r>
            <a:r>
              <a:rPr lang="en-US"/>
              <a:t> </a:t>
            </a:r>
            <a:r>
              <a:rPr lang="en-US" err="1"/>
              <a:t>systémům</a:t>
            </a:r>
            <a:r>
              <a:rPr lang="en-US"/>
              <a:t> v </a:t>
            </a:r>
            <a:r>
              <a:rPr lang="en-US" err="1"/>
              <a:t>síti</a:t>
            </a:r>
            <a:r>
              <a:rPr lang="en-US"/>
              <a:t> prefix, </a:t>
            </a:r>
            <a:r>
              <a:rPr lang="en-US" err="1"/>
              <a:t>který</a:t>
            </a:r>
            <a:r>
              <a:rPr lang="en-US"/>
              <a:t> je </a:t>
            </a:r>
            <a:r>
              <a:rPr lang="en-US" err="1"/>
              <a:t>ve</a:t>
            </a:r>
            <a:r>
              <a:rPr lang="en-US"/>
              <a:t> </a:t>
            </a:r>
            <a:r>
              <a:rPr lang="en-US" err="1"/>
              <a:t>skutečnosti</a:t>
            </a:r>
            <a:r>
              <a:rPr lang="en-US"/>
              <a:t> </a:t>
            </a:r>
            <a:r>
              <a:rPr lang="en-US" err="1"/>
              <a:t>prefixem</a:t>
            </a:r>
            <a:r>
              <a:rPr lang="en-US"/>
              <a:t> </a:t>
            </a:r>
            <a:r>
              <a:rPr lang="en-US" err="1"/>
              <a:t>používaným</a:t>
            </a:r>
            <a:r>
              <a:rPr lang="en-US"/>
              <a:t> </a:t>
            </a:r>
            <a:r>
              <a:rPr lang="en-US" err="1"/>
              <a:t>skutečnou</a:t>
            </a:r>
            <a:r>
              <a:rPr lang="en-US"/>
              <a:t> </a:t>
            </a:r>
            <a:r>
              <a:rPr lang="en-US" err="1"/>
              <a:t>sítí</a:t>
            </a:r>
            <a:r>
              <a:rPr lang="cs-CZ"/>
              <a:t> </a:t>
            </a:r>
            <a:r>
              <a:rPr lang="en-US"/>
              <a:t>Google pro </a:t>
            </a:r>
            <a:r>
              <a:rPr lang="en-US" err="1"/>
              <a:t>servery</a:t>
            </a:r>
            <a:r>
              <a:rPr lang="en-US"/>
              <a:t>. </a:t>
            </a:r>
            <a:endParaRPr lang="cs-CZ"/>
          </a:p>
          <a:p>
            <a:r>
              <a:rPr lang="en-US" err="1"/>
              <a:t>Následně</a:t>
            </a:r>
            <a:r>
              <a:rPr lang="en-US"/>
              <a:t> </a:t>
            </a:r>
            <a:r>
              <a:rPr lang="en-US" err="1"/>
              <a:t>svému</a:t>
            </a:r>
            <a:r>
              <a:rPr lang="en-US"/>
              <a:t> </a:t>
            </a:r>
            <a:r>
              <a:rPr lang="en-US" err="1"/>
              <a:t>počítačovému</a:t>
            </a:r>
            <a:r>
              <a:rPr lang="en-US"/>
              <a:t> </a:t>
            </a:r>
            <a:r>
              <a:rPr lang="en-US" err="1"/>
              <a:t>systému</a:t>
            </a:r>
            <a:r>
              <a:rPr lang="en-US"/>
              <a:t> </a:t>
            </a:r>
            <a:r>
              <a:rPr lang="en-US" err="1"/>
              <a:t>nastaví</a:t>
            </a:r>
            <a:r>
              <a:rPr lang="en-US"/>
              <a:t> IPv6 </a:t>
            </a:r>
            <a:r>
              <a:rPr lang="en-US" err="1"/>
              <a:t>adresy</a:t>
            </a:r>
            <a:r>
              <a:rPr lang="en-US"/>
              <a:t>, </a:t>
            </a:r>
            <a:r>
              <a:rPr lang="en-US" err="1"/>
              <a:t>které</a:t>
            </a:r>
            <a:r>
              <a:rPr lang="en-US"/>
              <a:t> </a:t>
            </a:r>
            <a:r>
              <a:rPr lang="en-US" err="1"/>
              <a:t>používá</a:t>
            </a:r>
            <a:r>
              <a:rPr lang="cs-CZ"/>
              <a:t> </a:t>
            </a:r>
            <a:r>
              <a:rPr lang="en-US" err="1"/>
              <a:t>například</a:t>
            </a:r>
            <a:r>
              <a:rPr lang="en-US"/>
              <a:t> gmail.com. </a:t>
            </a:r>
            <a:endParaRPr lang="cs-CZ"/>
          </a:p>
          <a:p>
            <a:r>
              <a:rPr lang="en-US" err="1"/>
              <a:t>Protože</a:t>
            </a:r>
            <a:r>
              <a:rPr lang="en-US"/>
              <a:t> se </a:t>
            </a:r>
            <a:r>
              <a:rPr lang="en-US" err="1"/>
              <a:t>počítačové</a:t>
            </a:r>
            <a:r>
              <a:rPr lang="en-US"/>
              <a:t> </a:t>
            </a:r>
            <a:r>
              <a:rPr lang="en-US" err="1"/>
              <a:t>systémy</a:t>
            </a:r>
            <a:r>
              <a:rPr lang="en-US"/>
              <a:t> v </a:t>
            </a:r>
            <a:r>
              <a:rPr lang="en-US" err="1"/>
              <a:t>síti</a:t>
            </a:r>
            <a:r>
              <a:rPr lang="en-US"/>
              <a:t> </a:t>
            </a:r>
            <a:r>
              <a:rPr lang="en-US" err="1"/>
              <a:t>domnívají</a:t>
            </a:r>
            <a:r>
              <a:rPr lang="en-US"/>
              <a:t>, </a:t>
            </a:r>
            <a:r>
              <a:rPr lang="en-US" err="1"/>
              <a:t>že</a:t>
            </a:r>
            <a:r>
              <a:rPr lang="en-US"/>
              <a:t> </a:t>
            </a:r>
            <a:r>
              <a:rPr lang="en-US" err="1"/>
              <a:t>jsou</a:t>
            </a:r>
            <a:r>
              <a:rPr lang="en-US"/>
              <a:t> </a:t>
            </a:r>
            <a:r>
              <a:rPr lang="en-US" err="1"/>
              <a:t>ve</a:t>
            </a:r>
            <a:r>
              <a:rPr lang="en-US"/>
              <a:t> </a:t>
            </a:r>
            <a:r>
              <a:rPr lang="en-US" err="1"/>
              <a:t>stejné</a:t>
            </a:r>
            <a:r>
              <a:rPr lang="en-US"/>
              <a:t> </a:t>
            </a:r>
            <a:r>
              <a:rPr lang="en-US" err="1"/>
              <a:t>počítačové</a:t>
            </a:r>
            <a:r>
              <a:rPr lang="cs-CZ"/>
              <a:t> </a:t>
            </a:r>
            <a:r>
              <a:rPr lang="en-US" err="1"/>
              <a:t>síti</a:t>
            </a:r>
            <a:r>
              <a:rPr lang="en-US"/>
              <a:t> </a:t>
            </a:r>
            <a:r>
              <a:rPr lang="en-US" err="1"/>
              <a:t>jako</a:t>
            </a:r>
            <a:r>
              <a:rPr lang="en-US"/>
              <a:t> </a:t>
            </a:r>
            <a:r>
              <a:rPr lang="en-US" err="1"/>
              <a:t>servery</a:t>
            </a:r>
            <a:r>
              <a:rPr lang="en-US"/>
              <a:t> Google, </a:t>
            </a:r>
            <a:r>
              <a:rPr lang="en-US" err="1"/>
              <a:t>budou</a:t>
            </a:r>
            <a:r>
              <a:rPr lang="en-US"/>
              <a:t> </a:t>
            </a:r>
            <a:r>
              <a:rPr lang="en-US" err="1"/>
              <a:t>posílat</a:t>
            </a:r>
            <a:r>
              <a:rPr lang="en-US"/>
              <a:t> </a:t>
            </a:r>
            <a:r>
              <a:rPr lang="en-US" err="1"/>
              <a:t>své</a:t>
            </a:r>
            <a:r>
              <a:rPr lang="en-US"/>
              <a:t> </a:t>
            </a:r>
            <a:r>
              <a:rPr lang="en-US" err="1"/>
              <a:t>požadavky</a:t>
            </a:r>
            <a:r>
              <a:rPr lang="en-US"/>
              <a:t> </a:t>
            </a:r>
            <a:r>
              <a:rPr lang="en-US" err="1"/>
              <a:t>na</a:t>
            </a:r>
            <a:r>
              <a:rPr lang="en-US"/>
              <a:t> gmail.com </a:t>
            </a:r>
            <a:r>
              <a:rPr lang="en-US" err="1"/>
              <a:t>po</a:t>
            </a:r>
            <a:r>
              <a:rPr lang="en-US"/>
              <a:t> </a:t>
            </a:r>
            <a:r>
              <a:rPr lang="en-US" err="1"/>
              <a:t>lokální</a:t>
            </a:r>
            <a:r>
              <a:rPr lang="en-US"/>
              <a:t> </a:t>
            </a:r>
            <a:r>
              <a:rPr lang="en-US" err="1"/>
              <a:t>síti</a:t>
            </a:r>
            <a:r>
              <a:rPr lang="en-US"/>
              <a:t> a </a:t>
            </a:r>
            <a:r>
              <a:rPr lang="en-US" err="1"/>
              <a:t>ty</a:t>
            </a:r>
            <a:r>
              <a:rPr lang="en-US"/>
              <a:t> </a:t>
            </a:r>
            <a:r>
              <a:rPr lang="en-US" err="1"/>
              <a:t>tak</a:t>
            </a:r>
            <a:r>
              <a:rPr lang="en-US"/>
              <a:t> </a:t>
            </a:r>
            <a:r>
              <a:rPr lang="en-US" err="1"/>
              <a:t>skončí</a:t>
            </a:r>
            <a:r>
              <a:rPr lang="cs-CZ"/>
              <a:t> </a:t>
            </a:r>
            <a:r>
              <a:rPr lang="en-US" err="1"/>
              <a:t>na</a:t>
            </a:r>
            <a:r>
              <a:rPr lang="en-US"/>
              <a:t> </a:t>
            </a:r>
            <a:r>
              <a:rPr lang="en-US" err="1"/>
              <a:t>serveru</a:t>
            </a:r>
            <a:r>
              <a:rPr lang="en-US"/>
              <a:t> </a:t>
            </a:r>
            <a:r>
              <a:rPr lang="en-US" err="1"/>
              <a:t>útočníka</a:t>
            </a:r>
            <a:r>
              <a:rPr lang="en-US"/>
              <a:t>.</a:t>
            </a:r>
          </a:p>
        </p:txBody>
      </p:sp>
      <p:sp>
        <p:nvSpPr>
          <p:cNvPr id="4" name="Zástupný symbol pro datum 3">
            <a:extLst>
              <a:ext uri="{FF2B5EF4-FFF2-40B4-BE49-F238E27FC236}">
                <a16:creationId xmlns:a16="http://schemas.microsoft.com/office/drawing/2014/main" id="{EE595764-038A-9EE9-3F4E-C3F040B7D277}"/>
              </a:ext>
            </a:extLst>
          </p:cNvPr>
          <p:cNvSpPr>
            <a:spLocks noGrp="1"/>
          </p:cNvSpPr>
          <p:nvPr>
            <p:ph type="dt" sz="half" idx="10"/>
          </p:nvPr>
        </p:nvSpPr>
        <p:spPr/>
        <p:txBody>
          <a:bodyPr/>
          <a:lstStyle/>
          <a:p>
            <a:r>
              <a:rPr lang="cs-CZ"/>
              <a:t>18.8.2022</a:t>
            </a:r>
          </a:p>
        </p:txBody>
      </p:sp>
      <p:sp>
        <p:nvSpPr>
          <p:cNvPr id="5" name="Zástupný symbol pro číslo snímku 4">
            <a:extLst>
              <a:ext uri="{FF2B5EF4-FFF2-40B4-BE49-F238E27FC236}">
                <a16:creationId xmlns:a16="http://schemas.microsoft.com/office/drawing/2014/main" id="{ED5A289E-CF51-9D14-3E28-A6B27658D118}"/>
              </a:ext>
            </a:extLst>
          </p:cNvPr>
          <p:cNvSpPr>
            <a:spLocks noGrp="1"/>
          </p:cNvSpPr>
          <p:nvPr>
            <p:ph type="sldNum" sz="quarter" idx="12"/>
          </p:nvPr>
        </p:nvSpPr>
        <p:spPr/>
        <p:txBody>
          <a:bodyPr/>
          <a:lstStyle/>
          <a:p>
            <a:fld id="{AD9F5C5F-4392-49C5-81DD-37F176609E69}" type="slidenum">
              <a:rPr lang="cs-CZ" smtClean="0"/>
              <a:t>198</a:t>
            </a:fld>
            <a:endParaRPr lang="cs-CZ"/>
          </a:p>
        </p:txBody>
      </p:sp>
    </p:spTree>
    <p:extLst>
      <p:ext uri="{BB962C8B-B14F-4D97-AF65-F5344CB8AC3E}">
        <p14:creationId xmlns:p14="http://schemas.microsoft.com/office/powerpoint/2010/main" val="4125191675"/>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2C7260D-B7DC-9A63-CAAE-E0235EC6396E}"/>
              </a:ext>
            </a:extLst>
          </p:cNvPr>
          <p:cNvSpPr>
            <a:spLocks noGrp="1"/>
          </p:cNvSpPr>
          <p:nvPr>
            <p:ph type="title"/>
          </p:nvPr>
        </p:nvSpPr>
        <p:spPr/>
        <p:txBody>
          <a:bodyPr/>
          <a:lstStyle/>
          <a:p>
            <a:r>
              <a:rPr lang="en-US" b="1"/>
              <a:t>IPv6</a:t>
            </a:r>
            <a:endParaRPr lang="en-US"/>
          </a:p>
        </p:txBody>
      </p:sp>
      <p:sp>
        <p:nvSpPr>
          <p:cNvPr id="3" name="Zástupný obsah 2">
            <a:extLst>
              <a:ext uri="{FF2B5EF4-FFF2-40B4-BE49-F238E27FC236}">
                <a16:creationId xmlns:a16="http://schemas.microsoft.com/office/drawing/2014/main" id="{184C3181-B02C-E660-DE31-D40E80AE9986}"/>
              </a:ext>
            </a:extLst>
          </p:cNvPr>
          <p:cNvSpPr>
            <a:spLocks noGrp="1"/>
          </p:cNvSpPr>
          <p:nvPr>
            <p:ph idx="1"/>
          </p:nvPr>
        </p:nvSpPr>
        <p:spPr/>
        <p:txBody>
          <a:bodyPr>
            <a:normAutofit/>
          </a:bodyPr>
          <a:lstStyle/>
          <a:p>
            <a:r>
              <a:rPr lang="en-US" err="1"/>
              <a:t>Jiná</a:t>
            </a:r>
            <a:r>
              <a:rPr lang="en-US"/>
              <a:t> </a:t>
            </a:r>
            <a:r>
              <a:rPr lang="en-US" err="1"/>
              <a:t>varianta</a:t>
            </a:r>
            <a:r>
              <a:rPr lang="en-US"/>
              <a:t> </a:t>
            </a:r>
            <a:r>
              <a:rPr lang="en-US" err="1"/>
              <a:t>tohoto</a:t>
            </a:r>
            <a:r>
              <a:rPr lang="en-US"/>
              <a:t> </a:t>
            </a:r>
            <a:r>
              <a:rPr lang="en-US" err="1"/>
              <a:t>útoku</a:t>
            </a:r>
            <a:r>
              <a:rPr lang="en-US"/>
              <a:t> </a:t>
            </a:r>
            <a:r>
              <a:rPr lang="en-US" err="1"/>
              <a:t>může</a:t>
            </a:r>
            <a:r>
              <a:rPr lang="en-US"/>
              <a:t> </a:t>
            </a:r>
            <a:r>
              <a:rPr lang="en-US" err="1"/>
              <a:t>způsobit</a:t>
            </a:r>
            <a:r>
              <a:rPr lang="en-US"/>
              <a:t> </a:t>
            </a:r>
            <a:r>
              <a:rPr lang="en-US" b="1" err="1"/>
              <a:t>DoS</a:t>
            </a:r>
            <a:r>
              <a:rPr lang="en-US"/>
              <a:t> (</a:t>
            </a:r>
            <a:r>
              <a:rPr lang="en-US" err="1"/>
              <a:t>nedostupnost</a:t>
            </a:r>
            <a:r>
              <a:rPr lang="en-US"/>
              <a:t> </a:t>
            </a:r>
            <a:r>
              <a:rPr lang="en-US" err="1"/>
              <a:t>připojení</a:t>
            </a:r>
            <a:r>
              <a:rPr lang="cs-CZ"/>
              <a:t> </a:t>
            </a:r>
            <a:r>
              <a:rPr lang="en-US"/>
              <a:t>k </a:t>
            </a:r>
            <a:r>
              <a:rPr lang="en-US" err="1"/>
              <a:t>Internetu</a:t>
            </a:r>
            <a:r>
              <a:rPr lang="en-US"/>
              <a:t>), a to v </a:t>
            </a:r>
            <a:r>
              <a:rPr lang="en-US" err="1"/>
              <a:t>případě</a:t>
            </a:r>
            <a:r>
              <a:rPr lang="en-US"/>
              <a:t>, </a:t>
            </a:r>
            <a:r>
              <a:rPr lang="en-US" err="1"/>
              <a:t>že</a:t>
            </a:r>
            <a:r>
              <a:rPr lang="en-US"/>
              <a:t> </a:t>
            </a:r>
            <a:r>
              <a:rPr lang="en-US" err="1"/>
              <a:t>útočník</a:t>
            </a:r>
            <a:r>
              <a:rPr lang="en-US"/>
              <a:t> </a:t>
            </a:r>
            <a:r>
              <a:rPr lang="en-US" err="1"/>
              <a:t>donutí</a:t>
            </a:r>
            <a:r>
              <a:rPr lang="en-US"/>
              <a:t> </a:t>
            </a:r>
            <a:r>
              <a:rPr lang="en-US" err="1"/>
              <a:t>počítačové</a:t>
            </a:r>
            <a:r>
              <a:rPr lang="en-US"/>
              <a:t> </a:t>
            </a:r>
            <a:r>
              <a:rPr lang="en-US" err="1"/>
              <a:t>systémy</a:t>
            </a:r>
            <a:r>
              <a:rPr lang="en-US"/>
              <a:t> </a:t>
            </a:r>
            <a:r>
              <a:rPr lang="en-US" err="1"/>
              <a:t>odstranit</a:t>
            </a:r>
            <a:r>
              <a:rPr lang="en-US"/>
              <a:t> </a:t>
            </a:r>
            <a:r>
              <a:rPr lang="en-US" err="1"/>
              <a:t>ze</a:t>
            </a:r>
            <a:r>
              <a:rPr lang="en-US"/>
              <a:t> </a:t>
            </a:r>
            <a:r>
              <a:rPr lang="en-US" err="1"/>
              <a:t>seznamu</a:t>
            </a:r>
            <a:r>
              <a:rPr lang="en-US"/>
              <a:t> </a:t>
            </a:r>
            <a:r>
              <a:rPr lang="en-US" err="1"/>
              <a:t>výchozích</a:t>
            </a:r>
            <a:r>
              <a:rPr lang="cs-CZ"/>
              <a:t> </a:t>
            </a:r>
            <a:r>
              <a:rPr lang="en-US"/>
              <a:t>bran </a:t>
            </a:r>
            <a:r>
              <a:rPr lang="en-US" err="1"/>
              <a:t>všechny</a:t>
            </a:r>
            <a:r>
              <a:rPr lang="en-US"/>
              <a:t> </a:t>
            </a:r>
            <a:r>
              <a:rPr lang="en-US" err="1"/>
              <a:t>dostupné</a:t>
            </a:r>
            <a:r>
              <a:rPr lang="en-US"/>
              <a:t> </a:t>
            </a:r>
            <a:r>
              <a:rPr lang="en-US" err="1"/>
              <a:t>routery</a:t>
            </a:r>
            <a:r>
              <a:rPr lang="en-US"/>
              <a:t>.</a:t>
            </a:r>
            <a:endParaRPr lang="cs-CZ"/>
          </a:p>
          <a:p>
            <a:r>
              <a:rPr lang="en-US" err="1"/>
              <a:t>Dalším</a:t>
            </a:r>
            <a:r>
              <a:rPr lang="en-US"/>
              <a:t> </a:t>
            </a:r>
            <a:r>
              <a:rPr lang="en-US" err="1"/>
              <a:t>útokem</a:t>
            </a:r>
            <a:r>
              <a:rPr lang="en-US"/>
              <a:t>, v </a:t>
            </a:r>
            <a:r>
              <a:rPr lang="en-US" err="1"/>
              <a:t>rámci</a:t>
            </a:r>
            <a:r>
              <a:rPr lang="en-US"/>
              <a:t> </a:t>
            </a:r>
            <a:r>
              <a:rPr lang="en-US" err="1"/>
              <a:t>něhož</a:t>
            </a:r>
            <a:r>
              <a:rPr lang="en-US"/>
              <a:t> je </a:t>
            </a:r>
            <a:r>
              <a:rPr lang="en-US" err="1"/>
              <a:t>zneužit</a:t>
            </a:r>
            <a:r>
              <a:rPr lang="en-US"/>
              <a:t> </a:t>
            </a:r>
            <a:r>
              <a:rPr lang="en-US" b="1"/>
              <a:t>RA</a:t>
            </a:r>
            <a:r>
              <a:rPr lang="en-US"/>
              <a:t> </a:t>
            </a:r>
            <a:r>
              <a:rPr lang="en-US" err="1"/>
              <a:t>paket</a:t>
            </a:r>
            <a:r>
              <a:rPr lang="en-US"/>
              <a:t>, se </a:t>
            </a:r>
            <a:r>
              <a:rPr lang="en-US" err="1"/>
              <a:t>nazývá</a:t>
            </a:r>
            <a:r>
              <a:rPr lang="en-US"/>
              <a:t> </a:t>
            </a:r>
            <a:r>
              <a:rPr lang="en-US" b="1"/>
              <a:t>Router Advertisement flooding</a:t>
            </a:r>
            <a:r>
              <a:rPr lang="en-US"/>
              <a:t>,</a:t>
            </a:r>
            <a:r>
              <a:rPr lang="cs-CZ"/>
              <a:t> </a:t>
            </a:r>
            <a:r>
              <a:rPr lang="en-US"/>
              <a:t>v </a:t>
            </a:r>
            <a:r>
              <a:rPr lang="en-US" err="1"/>
              <a:t>rámci</a:t>
            </a:r>
            <a:r>
              <a:rPr lang="en-US"/>
              <a:t> </a:t>
            </a:r>
            <a:r>
              <a:rPr lang="en-US" err="1"/>
              <a:t>něhož</a:t>
            </a:r>
            <a:r>
              <a:rPr lang="en-US"/>
              <a:t> </a:t>
            </a:r>
            <a:r>
              <a:rPr lang="en-US" err="1"/>
              <a:t>útočník</a:t>
            </a:r>
            <a:r>
              <a:rPr lang="en-US"/>
              <a:t> </a:t>
            </a:r>
            <a:r>
              <a:rPr lang="en-US" err="1"/>
              <a:t>opakovaně</a:t>
            </a:r>
            <a:r>
              <a:rPr lang="en-US"/>
              <a:t> </a:t>
            </a:r>
            <a:r>
              <a:rPr lang="en-US" err="1"/>
              <a:t>generuje</a:t>
            </a:r>
            <a:r>
              <a:rPr lang="en-US"/>
              <a:t> </a:t>
            </a:r>
            <a:r>
              <a:rPr lang="en-US" err="1"/>
              <a:t>pakety</a:t>
            </a:r>
            <a:r>
              <a:rPr lang="en-US"/>
              <a:t> s </a:t>
            </a:r>
            <a:r>
              <a:rPr lang="en-US" err="1"/>
              <a:t>oznámením</a:t>
            </a:r>
            <a:r>
              <a:rPr lang="en-US"/>
              <a:t> </a:t>
            </a:r>
            <a:r>
              <a:rPr lang="en-US" err="1"/>
              <a:t>směrovače</a:t>
            </a:r>
            <a:r>
              <a:rPr lang="en-US"/>
              <a:t> s </a:t>
            </a:r>
            <a:r>
              <a:rPr lang="en-US" err="1"/>
              <a:t>novými</a:t>
            </a:r>
            <a:r>
              <a:rPr lang="en-US"/>
              <a:t> </a:t>
            </a:r>
            <a:r>
              <a:rPr lang="en-US" err="1"/>
              <a:t>náhodně</a:t>
            </a:r>
            <a:r>
              <a:rPr lang="cs-CZ"/>
              <a:t> </a:t>
            </a:r>
            <a:r>
              <a:rPr lang="en-US" err="1"/>
              <a:t>zvolenými</a:t>
            </a:r>
            <a:r>
              <a:rPr lang="en-US"/>
              <a:t> </a:t>
            </a:r>
            <a:r>
              <a:rPr lang="en-US" err="1"/>
              <a:t>prefixy</a:t>
            </a:r>
            <a:r>
              <a:rPr lang="en-US"/>
              <a:t>.</a:t>
            </a:r>
            <a:endParaRPr lang="cs-CZ"/>
          </a:p>
          <a:p>
            <a:r>
              <a:rPr lang="en-US" err="1"/>
              <a:t>Současné</a:t>
            </a:r>
            <a:r>
              <a:rPr lang="en-US"/>
              <a:t> </a:t>
            </a:r>
            <a:r>
              <a:rPr lang="en-US" err="1"/>
              <a:t>operační</a:t>
            </a:r>
            <a:r>
              <a:rPr lang="en-US"/>
              <a:t> </a:t>
            </a:r>
            <a:r>
              <a:rPr lang="en-US" err="1"/>
              <a:t>systémy</a:t>
            </a:r>
            <a:r>
              <a:rPr lang="en-US"/>
              <a:t> </a:t>
            </a:r>
            <a:r>
              <a:rPr lang="en-US" err="1"/>
              <a:t>jsou</a:t>
            </a:r>
            <a:r>
              <a:rPr lang="en-US"/>
              <a:t> </a:t>
            </a:r>
            <a:r>
              <a:rPr lang="en-US" err="1"/>
              <a:t>proti</a:t>
            </a:r>
            <a:r>
              <a:rPr lang="en-US"/>
              <a:t> </a:t>
            </a:r>
            <a:r>
              <a:rPr lang="en-US" err="1"/>
              <a:t>tomuto</a:t>
            </a:r>
            <a:r>
              <a:rPr lang="en-US"/>
              <a:t> </a:t>
            </a:r>
            <a:r>
              <a:rPr lang="en-US" err="1"/>
              <a:t>útoku</a:t>
            </a:r>
            <a:r>
              <a:rPr lang="en-US"/>
              <a:t> </a:t>
            </a:r>
            <a:r>
              <a:rPr lang="en-US" err="1"/>
              <a:t>většinou</a:t>
            </a:r>
            <a:r>
              <a:rPr lang="en-US"/>
              <a:t> </a:t>
            </a:r>
            <a:r>
              <a:rPr lang="en-US" err="1"/>
              <a:t>chráněny</a:t>
            </a:r>
            <a:r>
              <a:rPr lang="en-US"/>
              <a:t>,</a:t>
            </a:r>
            <a:r>
              <a:rPr lang="cs-CZ"/>
              <a:t> </a:t>
            </a:r>
            <a:r>
              <a:rPr lang="en-US" err="1"/>
              <a:t>nicméně</a:t>
            </a:r>
            <a:r>
              <a:rPr lang="en-US"/>
              <a:t> </a:t>
            </a:r>
            <a:r>
              <a:rPr lang="en-US" err="1"/>
              <a:t>problém</a:t>
            </a:r>
            <a:r>
              <a:rPr lang="en-US"/>
              <a:t> se </a:t>
            </a:r>
            <a:r>
              <a:rPr lang="en-US" err="1"/>
              <a:t>může</a:t>
            </a:r>
            <a:r>
              <a:rPr lang="en-US"/>
              <a:t> </a:t>
            </a:r>
            <a:r>
              <a:rPr lang="en-US" err="1"/>
              <a:t>týkat</a:t>
            </a:r>
            <a:r>
              <a:rPr lang="en-US"/>
              <a:t> </a:t>
            </a:r>
            <a:r>
              <a:rPr lang="en-US" err="1"/>
              <a:t>i</a:t>
            </a:r>
            <a:r>
              <a:rPr lang="en-US"/>
              <a:t> </a:t>
            </a:r>
            <a:r>
              <a:rPr lang="en-US" err="1"/>
              <a:t>různých</a:t>
            </a:r>
            <a:r>
              <a:rPr lang="en-US"/>
              <a:t> </a:t>
            </a:r>
            <a:r>
              <a:rPr lang="en-US" err="1"/>
              <a:t>starších</a:t>
            </a:r>
            <a:r>
              <a:rPr lang="en-US"/>
              <a:t> </a:t>
            </a:r>
            <a:r>
              <a:rPr lang="en-US" err="1"/>
              <a:t>síťových</a:t>
            </a:r>
            <a:r>
              <a:rPr lang="en-US"/>
              <a:t> </a:t>
            </a:r>
            <a:r>
              <a:rPr lang="en-US" err="1"/>
              <a:t>počítačových</a:t>
            </a:r>
            <a:r>
              <a:rPr lang="en-US"/>
              <a:t> </a:t>
            </a:r>
            <a:r>
              <a:rPr lang="en-US" err="1"/>
              <a:t>systémů</a:t>
            </a:r>
            <a:r>
              <a:rPr lang="en-US"/>
              <a:t>.</a:t>
            </a:r>
          </a:p>
        </p:txBody>
      </p:sp>
      <p:sp>
        <p:nvSpPr>
          <p:cNvPr id="4" name="Zástupný symbol pro datum 3">
            <a:extLst>
              <a:ext uri="{FF2B5EF4-FFF2-40B4-BE49-F238E27FC236}">
                <a16:creationId xmlns:a16="http://schemas.microsoft.com/office/drawing/2014/main" id="{C1E0E7F8-81AA-D5E5-9925-A34DA984E52D}"/>
              </a:ext>
            </a:extLst>
          </p:cNvPr>
          <p:cNvSpPr>
            <a:spLocks noGrp="1"/>
          </p:cNvSpPr>
          <p:nvPr>
            <p:ph type="dt" sz="half" idx="10"/>
          </p:nvPr>
        </p:nvSpPr>
        <p:spPr/>
        <p:txBody>
          <a:bodyPr/>
          <a:lstStyle/>
          <a:p>
            <a:r>
              <a:rPr lang="cs-CZ"/>
              <a:t>18.8.2022</a:t>
            </a:r>
          </a:p>
        </p:txBody>
      </p:sp>
      <p:sp>
        <p:nvSpPr>
          <p:cNvPr id="5" name="Zástupný symbol pro číslo snímku 4">
            <a:extLst>
              <a:ext uri="{FF2B5EF4-FFF2-40B4-BE49-F238E27FC236}">
                <a16:creationId xmlns:a16="http://schemas.microsoft.com/office/drawing/2014/main" id="{626C6B2D-9520-0468-BBB2-7E4E6E7D2E01}"/>
              </a:ext>
            </a:extLst>
          </p:cNvPr>
          <p:cNvSpPr>
            <a:spLocks noGrp="1"/>
          </p:cNvSpPr>
          <p:nvPr>
            <p:ph type="sldNum" sz="quarter" idx="12"/>
          </p:nvPr>
        </p:nvSpPr>
        <p:spPr/>
        <p:txBody>
          <a:bodyPr/>
          <a:lstStyle/>
          <a:p>
            <a:fld id="{AD9F5C5F-4392-49C5-81DD-37F176609E69}" type="slidenum">
              <a:rPr lang="cs-CZ" smtClean="0"/>
              <a:t>199</a:t>
            </a:fld>
            <a:endParaRPr lang="cs-CZ"/>
          </a:p>
        </p:txBody>
      </p:sp>
    </p:spTree>
    <p:extLst>
      <p:ext uri="{BB962C8B-B14F-4D97-AF65-F5344CB8AC3E}">
        <p14:creationId xmlns:p14="http://schemas.microsoft.com/office/powerpoint/2010/main" val="1081924295"/>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40D6BA0-3D3A-292D-6EC7-3C3FEEC58193}"/>
              </a:ext>
            </a:extLst>
          </p:cNvPr>
          <p:cNvSpPr>
            <a:spLocks noGrp="1"/>
          </p:cNvSpPr>
          <p:nvPr>
            <p:ph type="title"/>
          </p:nvPr>
        </p:nvSpPr>
        <p:spPr/>
        <p:txBody>
          <a:bodyPr/>
          <a:lstStyle/>
          <a:p>
            <a:r>
              <a:rPr lang="en-US" b="1"/>
              <a:t>IPv6</a:t>
            </a:r>
            <a:endParaRPr lang="en-US"/>
          </a:p>
        </p:txBody>
      </p:sp>
      <p:sp>
        <p:nvSpPr>
          <p:cNvPr id="3" name="Zástupný obsah 2">
            <a:extLst>
              <a:ext uri="{FF2B5EF4-FFF2-40B4-BE49-F238E27FC236}">
                <a16:creationId xmlns:a16="http://schemas.microsoft.com/office/drawing/2014/main" id="{BCF4D220-36C7-03C3-7FAD-8F01349B5E5D}"/>
              </a:ext>
            </a:extLst>
          </p:cNvPr>
          <p:cNvSpPr>
            <a:spLocks noGrp="1"/>
          </p:cNvSpPr>
          <p:nvPr>
            <p:ph idx="1"/>
          </p:nvPr>
        </p:nvSpPr>
        <p:spPr/>
        <p:txBody>
          <a:bodyPr/>
          <a:lstStyle/>
          <a:p>
            <a:r>
              <a:rPr lang="en-US" err="1"/>
              <a:t>Další</a:t>
            </a:r>
            <a:r>
              <a:rPr lang="en-US"/>
              <a:t> </a:t>
            </a:r>
            <a:r>
              <a:rPr lang="en-US" err="1"/>
              <a:t>variantou</a:t>
            </a:r>
            <a:r>
              <a:rPr lang="en-US"/>
              <a:t> </a:t>
            </a:r>
            <a:r>
              <a:rPr lang="en-US" err="1"/>
              <a:t>výše</a:t>
            </a:r>
            <a:r>
              <a:rPr lang="en-US"/>
              <a:t> </a:t>
            </a:r>
            <a:r>
              <a:rPr lang="en-US" err="1"/>
              <a:t>popsaného</a:t>
            </a:r>
            <a:r>
              <a:rPr lang="en-US"/>
              <a:t> </a:t>
            </a:r>
            <a:r>
              <a:rPr lang="en-US" err="1"/>
              <a:t>útoku</a:t>
            </a:r>
            <a:r>
              <a:rPr lang="en-US"/>
              <a:t> je </a:t>
            </a:r>
            <a:r>
              <a:rPr lang="en-US" err="1"/>
              <a:t>zahlcení</a:t>
            </a:r>
            <a:r>
              <a:rPr lang="en-US"/>
              <a:t> </a:t>
            </a:r>
            <a:r>
              <a:rPr lang="en-US" err="1"/>
              <a:t>směrovací</a:t>
            </a:r>
            <a:r>
              <a:rPr lang="en-US"/>
              <a:t> </a:t>
            </a:r>
            <a:r>
              <a:rPr lang="en-US" err="1"/>
              <a:t>tabulky</a:t>
            </a:r>
            <a:r>
              <a:rPr lang="en-US"/>
              <a:t> s </a:t>
            </a:r>
            <a:r>
              <a:rPr lang="en-US" err="1"/>
              <a:t>pomocí</a:t>
            </a:r>
            <a:r>
              <a:rPr lang="en-US"/>
              <a:t> </a:t>
            </a:r>
            <a:r>
              <a:rPr lang="en-US" err="1"/>
              <a:t>volby</a:t>
            </a:r>
            <a:r>
              <a:rPr lang="en-US"/>
              <a:t> </a:t>
            </a:r>
            <a:r>
              <a:rPr lang="en-US" b="1"/>
              <a:t>Route</a:t>
            </a:r>
            <a:r>
              <a:rPr lang="cs-CZ" b="1"/>
              <a:t> </a:t>
            </a:r>
            <a:r>
              <a:rPr lang="en-US" b="1"/>
              <a:t>Information Option</a:t>
            </a:r>
            <a:r>
              <a:rPr lang="en-US"/>
              <a:t>, </a:t>
            </a:r>
            <a:r>
              <a:rPr lang="en-US" err="1"/>
              <a:t>která</a:t>
            </a:r>
            <a:r>
              <a:rPr lang="en-US"/>
              <a:t> </a:t>
            </a:r>
            <a:r>
              <a:rPr lang="en-US" err="1"/>
              <a:t>rozšiřuje</a:t>
            </a:r>
            <a:r>
              <a:rPr lang="en-US"/>
              <a:t> </a:t>
            </a:r>
            <a:r>
              <a:rPr lang="en-US" err="1"/>
              <a:t>možnosti</a:t>
            </a:r>
            <a:r>
              <a:rPr lang="en-US"/>
              <a:t> </a:t>
            </a:r>
            <a:r>
              <a:rPr lang="en-US" b="1"/>
              <a:t>RA</a:t>
            </a:r>
            <a:r>
              <a:rPr lang="en-US"/>
              <a:t> </a:t>
            </a:r>
            <a:r>
              <a:rPr lang="en-US" err="1"/>
              <a:t>paketů</a:t>
            </a:r>
            <a:r>
              <a:rPr lang="en-US"/>
              <a:t>. </a:t>
            </a:r>
            <a:endParaRPr lang="cs-CZ"/>
          </a:p>
          <a:p>
            <a:r>
              <a:rPr lang="en-US" err="1"/>
              <a:t>Dopady</a:t>
            </a:r>
            <a:r>
              <a:rPr lang="en-US"/>
              <a:t> </a:t>
            </a:r>
            <a:r>
              <a:rPr lang="en-US" err="1"/>
              <a:t>těchto</a:t>
            </a:r>
            <a:r>
              <a:rPr lang="en-US"/>
              <a:t> </a:t>
            </a:r>
            <a:r>
              <a:rPr lang="en-US" err="1"/>
              <a:t>útoků</a:t>
            </a:r>
            <a:r>
              <a:rPr lang="en-US"/>
              <a:t> </a:t>
            </a:r>
            <a:r>
              <a:rPr lang="en-US" err="1"/>
              <a:t>jsou</a:t>
            </a:r>
            <a:r>
              <a:rPr lang="en-US"/>
              <a:t> u </a:t>
            </a:r>
            <a:r>
              <a:rPr lang="en-US" err="1"/>
              <a:t>různých</a:t>
            </a:r>
            <a:r>
              <a:rPr lang="cs-CZ"/>
              <a:t> </a:t>
            </a:r>
            <a:r>
              <a:rPr lang="en-US" err="1"/>
              <a:t>systémů</a:t>
            </a:r>
            <a:r>
              <a:rPr lang="en-US"/>
              <a:t> </a:t>
            </a:r>
            <a:r>
              <a:rPr lang="en-US" err="1"/>
              <a:t>různě</a:t>
            </a:r>
            <a:r>
              <a:rPr lang="en-US"/>
              <a:t> </a:t>
            </a:r>
            <a:r>
              <a:rPr lang="en-US" err="1"/>
              <a:t>závažné</a:t>
            </a:r>
            <a:r>
              <a:rPr lang="en-US"/>
              <a:t>.</a:t>
            </a:r>
            <a:endParaRPr lang="cs-CZ"/>
          </a:p>
          <a:p>
            <a:r>
              <a:rPr lang="en-US" err="1"/>
              <a:t>Možnou</a:t>
            </a:r>
            <a:r>
              <a:rPr lang="en-US"/>
              <a:t> </a:t>
            </a:r>
            <a:r>
              <a:rPr lang="en-US" err="1"/>
              <a:t>ochranou</a:t>
            </a:r>
            <a:r>
              <a:rPr lang="en-US"/>
              <a:t> </a:t>
            </a:r>
            <a:r>
              <a:rPr lang="en-US" err="1"/>
              <a:t>proti</a:t>
            </a:r>
            <a:r>
              <a:rPr lang="en-US"/>
              <a:t> </a:t>
            </a:r>
            <a:r>
              <a:rPr lang="en-US" err="1"/>
              <a:t>manipulaci</a:t>
            </a:r>
            <a:r>
              <a:rPr lang="en-US"/>
              <a:t> s </a:t>
            </a:r>
            <a:r>
              <a:rPr lang="en-US" b="1"/>
              <a:t>Router </a:t>
            </a:r>
            <a:r>
              <a:rPr lang="en-US" b="1" err="1"/>
              <a:t>Advertisiment</a:t>
            </a:r>
            <a:r>
              <a:rPr lang="en-US" b="1"/>
              <a:t> </a:t>
            </a:r>
            <a:r>
              <a:rPr lang="en-US" err="1"/>
              <a:t>pakety</a:t>
            </a:r>
            <a:r>
              <a:rPr lang="en-US"/>
              <a:t> </a:t>
            </a:r>
            <a:r>
              <a:rPr lang="en-US" err="1"/>
              <a:t>představuje</a:t>
            </a:r>
            <a:r>
              <a:rPr lang="en-US"/>
              <a:t> </a:t>
            </a:r>
            <a:r>
              <a:rPr lang="en-US" err="1"/>
              <a:t>nasazení</a:t>
            </a:r>
            <a:r>
              <a:rPr lang="cs-CZ"/>
              <a:t> </a:t>
            </a:r>
            <a:r>
              <a:rPr lang="en-US" err="1"/>
              <a:t>technologií</a:t>
            </a:r>
            <a:r>
              <a:rPr lang="en-US"/>
              <a:t> </a:t>
            </a:r>
            <a:r>
              <a:rPr lang="en-US" b="1"/>
              <a:t>RA-Guard</a:t>
            </a:r>
            <a:r>
              <a:rPr lang="en-US"/>
              <a:t> a </a:t>
            </a:r>
            <a:r>
              <a:rPr lang="en-US" b="1"/>
              <a:t>ND-Snooping</a:t>
            </a:r>
            <a:r>
              <a:rPr lang="en-US"/>
              <a:t>.</a:t>
            </a:r>
          </a:p>
        </p:txBody>
      </p:sp>
      <p:sp>
        <p:nvSpPr>
          <p:cNvPr id="4" name="Zástupný symbol pro datum 3">
            <a:extLst>
              <a:ext uri="{FF2B5EF4-FFF2-40B4-BE49-F238E27FC236}">
                <a16:creationId xmlns:a16="http://schemas.microsoft.com/office/drawing/2014/main" id="{30767FFE-F7A1-9C98-BA2D-0281FC935023}"/>
              </a:ext>
            </a:extLst>
          </p:cNvPr>
          <p:cNvSpPr>
            <a:spLocks noGrp="1"/>
          </p:cNvSpPr>
          <p:nvPr>
            <p:ph type="dt" sz="half" idx="10"/>
          </p:nvPr>
        </p:nvSpPr>
        <p:spPr/>
        <p:txBody>
          <a:bodyPr/>
          <a:lstStyle/>
          <a:p>
            <a:r>
              <a:rPr lang="cs-CZ"/>
              <a:t>18.8.2022</a:t>
            </a:r>
          </a:p>
        </p:txBody>
      </p:sp>
      <p:sp>
        <p:nvSpPr>
          <p:cNvPr id="5" name="Zástupný symbol pro číslo snímku 4">
            <a:extLst>
              <a:ext uri="{FF2B5EF4-FFF2-40B4-BE49-F238E27FC236}">
                <a16:creationId xmlns:a16="http://schemas.microsoft.com/office/drawing/2014/main" id="{95249878-D305-91AA-4CB1-FB3C86C0C5B5}"/>
              </a:ext>
            </a:extLst>
          </p:cNvPr>
          <p:cNvSpPr>
            <a:spLocks noGrp="1"/>
          </p:cNvSpPr>
          <p:nvPr>
            <p:ph type="sldNum" sz="quarter" idx="12"/>
          </p:nvPr>
        </p:nvSpPr>
        <p:spPr/>
        <p:txBody>
          <a:bodyPr/>
          <a:lstStyle/>
          <a:p>
            <a:fld id="{AD9F5C5F-4392-49C5-81DD-37F176609E69}" type="slidenum">
              <a:rPr lang="cs-CZ" smtClean="0"/>
              <a:t>200</a:t>
            </a:fld>
            <a:endParaRPr lang="cs-CZ"/>
          </a:p>
        </p:txBody>
      </p:sp>
    </p:spTree>
    <p:extLst>
      <p:ext uri="{BB962C8B-B14F-4D97-AF65-F5344CB8AC3E}">
        <p14:creationId xmlns:p14="http://schemas.microsoft.com/office/powerpoint/2010/main" val="3648612594"/>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IPv6</a:t>
            </a:r>
            <a:r>
              <a:rPr lang="cs-CZ" b="1"/>
              <a:t> - </a:t>
            </a:r>
            <a:r>
              <a:rPr lang="en-US" b="1"/>
              <a:t>RA-Guard</a:t>
            </a:r>
          </a:p>
        </p:txBody>
      </p:sp>
      <p:sp>
        <p:nvSpPr>
          <p:cNvPr id="3" name="Content Placeholder 2"/>
          <p:cNvSpPr>
            <a:spLocks noGrp="1"/>
          </p:cNvSpPr>
          <p:nvPr>
            <p:ph idx="1"/>
          </p:nvPr>
        </p:nvSpPr>
        <p:spPr/>
        <p:txBody>
          <a:bodyPr/>
          <a:lstStyle/>
          <a:p>
            <a:r>
              <a:rPr lang="en-US" b="1"/>
              <a:t>RA-Guard</a:t>
            </a:r>
            <a:r>
              <a:rPr lang="en-US"/>
              <a:t> </a:t>
            </a:r>
            <a:r>
              <a:rPr lang="en-US" err="1"/>
              <a:t>funguje</a:t>
            </a:r>
            <a:r>
              <a:rPr lang="en-US"/>
              <a:t> </a:t>
            </a:r>
            <a:r>
              <a:rPr lang="en-US" err="1"/>
              <a:t>na</a:t>
            </a:r>
            <a:r>
              <a:rPr lang="en-US"/>
              <a:t> </a:t>
            </a:r>
            <a:r>
              <a:rPr lang="en-US" err="1"/>
              <a:t>podobném</a:t>
            </a:r>
            <a:r>
              <a:rPr lang="en-US"/>
              <a:t> </a:t>
            </a:r>
            <a:r>
              <a:rPr lang="en-US" err="1"/>
              <a:t>principu</a:t>
            </a:r>
            <a:r>
              <a:rPr lang="en-US"/>
              <a:t>, </a:t>
            </a:r>
            <a:r>
              <a:rPr lang="en-US" err="1"/>
              <a:t>jako</a:t>
            </a:r>
            <a:r>
              <a:rPr lang="en-US"/>
              <a:t> </a:t>
            </a:r>
            <a:r>
              <a:rPr lang="en-US" b="1"/>
              <a:t>DHCP Snooping </a:t>
            </a:r>
            <a:r>
              <a:rPr lang="en-US"/>
              <a:t>v IPv4. </a:t>
            </a:r>
            <a:endParaRPr lang="cs-CZ"/>
          </a:p>
          <a:p>
            <a:r>
              <a:rPr lang="en-US"/>
              <a:t>Switch je </a:t>
            </a:r>
            <a:r>
              <a:rPr lang="en-US" err="1"/>
              <a:t>správcem</a:t>
            </a:r>
            <a:r>
              <a:rPr lang="cs-CZ"/>
              <a:t> </a:t>
            </a:r>
            <a:r>
              <a:rPr lang="en-US" err="1"/>
              <a:t>nakonfigurován</a:t>
            </a:r>
            <a:r>
              <a:rPr lang="en-US"/>
              <a:t> </a:t>
            </a:r>
            <a:r>
              <a:rPr lang="en-US" err="1"/>
              <a:t>tak</a:t>
            </a:r>
            <a:r>
              <a:rPr lang="en-US"/>
              <a:t>, </a:t>
            </a:r>
            <a:r>
              <a:rPr lang="en-US" err="1"/>
              <a:t>aby</a:t>
            </a:r>
            <a:r>
              <a:rPr lang="en-US"/>
              <a:t> </a:t>
            </a:r>
            <a:r>
              <a:rPr lang="en-US" err="1"/>
              <a:t>pakety</a:t>
            </a:r>
            <a:r>
              <a:rPr lang="en-US"/>
              <a:t> </a:t>
            </a:r>
            <a:r>
              <a:rPr lang="en-US" err="1"/>
              <a:t>obsahující</a:t>
            </a:r>
            <a:r>
              <a:rPr lang="en-US"/>
              <a:t> </a:t>
            </a:r>
            <a:r>
              <a:rPr lang="en-US" err="1"/>
              <a:t>oznámení</a:t>
            </a:r>
            <a:r>
              <a:rPr lang="en-US"/>
              <a:t> </a:t>
            </a:r>
            <a:r>
              <a:rPr lang="en-US" err="1"/>
              <a:t>směrovače</a:t>
            </a:r>
            <a:r>
              <a:rPr lang="en-US"/>
              <a:t> </a:t>
            </a:r>
            <a:r>
              <a:rPr lang="en-US" err="1"/>
              <a:t>akceptoval</a:t>
            </a:r>
            <a:r>
              <a:rPr lang="en-US"/>
              <a:t> </a:t>
            </a:r>
            <a:r>
              <a:rPr lang="en-US" err="1"/>
              <a:t>pouze</a:t>
            </a:r>
            <a:r>
              <a:rPr lang="en-US"/>
              <a:t> </a:t>
            </a:r>
            <a:r>
              <a:rPr lang="en-US" err="1"/>
              <a:t>na</a:t>
            </a:r>
            <a:r>
              <a:rPr lang="en-US"/>
              <a:t> </a:t>
            </a:r>
            <a:r>
              <a:rPr lang="en-US" err="1"/>
              <a:t>portu</a:t>
            </a:r>
            <a:r>
              <a:rPr lang="en-US"/>
              <a:t>,</a:t>
            </a:r>
            <a:r>
              <a:rPr lang="cs-CZ"/>
              <a:t> </a:t>
            </a:r>
            <a:r>
              <a:rPr lang="en-US" err="1"/>
              <a:t>na</a:t>
            </a:r>
            <a:r>
              <a:rPr lang="en-US"/>
              <a:t> </a:t>
            </a:r>
            <a:r>
              <a:rPr lang="en-US" err="1"/>
              <a:t>kterém</a:t>
            </a:r>
            <a:r>
              <a:rPr lang="en-US"/>
              <a:t> je </a:t>
            </a:r>
            <a:r>
              <a:rPr lang="en-US" err="1"/>
              <a:t>připojen</a:t>
            </a:r>
            <a:r>
              <a:rPr lang="en-US"/>
              <a:t> </a:t>
            </a:r>
            <a:r>
              <a:rPr lang="en-US" err="1"/>
              <a:t>směrovač</a:t>
            </a:r>
            <a:r>
              <a:rPr lang="en-US"/>
              <a:t>. </a:t>
            </a:r>
            <a:endParaRPr lang="cs-CZ"/>
          </a:p>
          <a:p>
            <a:r>
              <a:rPr lang="en-US" err="1"/>
              <a:t>Útočník</a:t>
            </a:r>
            <a:r>
              <a:rPr lang="en-US"/>
              <a:t> </a:t>
            </a:r>
            <a:r>
              <a:rPr lang="en-US" err="1"/>
              <a:t>tak</a:t>
            </a:r>
            <a:r>
              <a:rPr lang="en-US"/>
              <a:t> </a:t>
            </a:r>
            <a:r>
              <a:rPr lang="en-US" err="1"/>
              <a:t>ze</a:t>
            </a:r>
            <a:r>
              <a:rPr lang="en-US"/>
              <a:t> </a:t>
            </a:r>
            <a:r>
              <a:rPr lang="en-US" err="1"/>
              <a:t>svého</a:t>
            </a:r>
            <a:r>
              <a:rPr lang="en-US"/>
              <a:t> </a:t>
            </a:r>
            <a:r>
              <a:rPr lang="en-US" err="1"/>
              <a:t>počítačového</a:t>
            </a:r>
            <a:r>
              <a:rPr lang="en-US"/>
              <a:t> </a:t>
            </a:r>
            <a:r>
              <a:rPr lang="en-US" err="1"/>
              <a:t>systému</a:t>
            </a:r>
            <a:r>
              <a:rPr lang="en-US"/>
              <a:t> </a:t>
            </a:r>
            <a:r>
              <a:rPr lang="en-US" err="1"/>
              <a:t>může</a:t>
            </a:r>
            <a:r>
              <a:rPr lang="en-US"/>
              <a:t> </a:t>
            </a:r>
            <a:r>
              <a:rPr lang="en-US" err="1"/>
              <a:t>i</a:t>
            </a:r>
            <a:r>
              <a:rPr lang="en-US"/>
              <a:t> </a:t>
            </a:r>
            <a:r>
              <a:rPr lang="en-US" err="1"/>
              <a:t>nadále</a:t>
            </a:r>
            <a:r>
              <a:rPr lang="cs-CZ"/>
              <a:t> </a:t>
            </a:r>
            <a:r>
              <a:rPr lang="en-US" err="1"/>
              <a:t>zasílat</a:t>
            </a:r>
            <a:r>
              <a:rPr lang="en-US"/>
              <a:t> </a:t>
            </a:r>
            <a:r>
              <a:rPr lang="en-US" err="1"/>
              <a:t>falešné</a:t>
            </a:r>
            <a:r>
              <a:rPr lang="en-US" b="1"/>
              <a:t> RA </a:t>
            </a:r>
            <a:r>
              <a:rPr lang="en-US" err="1"/>
              <a:t>pakety</a:t>
            </a:r>
            <a:r>
              <a:rPr lang="en-US"/>
              <a:t>, </a:t>
            </a:r>
            <a:r>
              <a:rPr lang="en-US" err="1"/>
              <a:t>ty</a:t>
            </a:r>
            <a:r>
              <a:rPr lang="en-US"/>
              <a:t> </a:t>
            </a:r>
            <a:r>
              <a:rPr lang="en-US" err="1"/>
              <a:t>však</a:t>
            </a:r>
            <a:r>
              <a:rPr lang="en-US"/>
              <a:t> </a:t>
            </a:r>
            <a:r>
              <a:rPr lang="en-US" err="1"/>
              <a:t>neprojdou</a:t>
            </a:r>
            <a:r>
              <a:rPr lang="en-US"/>
              <a:t> </a:t>
            </a:r>
            <a:r>
              <a:rPr lang="en-US" err="1"/>
              <a:t>přes</a:t>
            </a:r>
            <a:r>
              <a:rPr lang="en-US"/>
              <a:t> port </a:t>
            </a:r>
            <a:r>
              <a:rPr lang="en-US" err="1"/>
              <a:t>switche</a:t>
            </a:r>
            <a:r>
              <a:rPr lang="en-US"/>
              <a:t> a </a:t>
            </a:r>
            <a:r>
              <a:rPr lang="en-US" err="1"/>
              <a:t>nedostanou</a:t>
            </a:r>
            <a:r>
              <a:rPr lang="en-US"/>
              <a:t> se </a:t>
            </a:r>
            <a:r>
              <a:rPr lang="en-US" err="1"/>
              <a:t>tak</a:t>
            </a:r>
            <a:r>
              <a:rPr lang="en-US"/>
              <a:t> k </a:t>
            </a:r>
            <a:r>
              <a:rPr lang="en-US" err="1"/>
              <a:t>ostatním</a:t>
            </a:r>
            <a:r>
              <a:rPr lang="cs-CZ"/>
              <a:t> </a:t>
            </a:r>
            <a:r>
              <a:rPr lang="en-US" err="1"/>
              <a:t>počítačovým</a:t>
            </a:r>
            <a:r>
              <a:rPr lang="en-US"/>
              <a:t> </a:t>
            </a:r>
            <a:r>
              <a:rPr lang="en-US" err="1"/>
              <a:t>systémům</a:t>
            </a:r>
            <a:r>
              <a:rPr lang="en-US"/>
              <a:t> v </a:t>
            </a:r>
            <a:r>
              <a:rPr lang="en-US" err="1"/>
              <a:t>síti</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201</a:t>
            </a:fld>
            <a:endParaRPr lang="cs-CZ"/>
          </a:p>
        </p:txBody>
      </p:sp>
    </p:spTree>
    <p:extLst>
      <p:ext uri="{BB962C8B-B14F-4D97-AF65-F5344CB8AC3E}">
        <p14:creationId xmlns:p14="http://schemas.microsoft.com/office/powerpoint/2010/main" val="2259007055"/>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IPv6</a:t>
            </a:r>
            <a:r>
              <a:rPr lang="cs-CZ" b="1"/>
              <a:t> - </a:t>
            </a:r>
            <a:r>
              <a:rPr lang="en-US" b="1"/>
              <a:t>ND-Snooping </a:t>
            </a:r>
            <a:endParaRPr lang="en-US"/>
          </a:p>
        </p:txBody>
      </p:sp>
      <p:sp>
        <p:nvSpPr>
          <p:cNvPr id="3" name="Content Placeholder 2"/>
          <p:cNvSpPr>
            <a:spLocks noGrp="1"/>
          </p:cNvSpPr>
          <p:nvPr>
            <p:ph idx="1"/>
          </p:nvPr>
        </p:nvSpPr>
        <p:spPr/>
        <p:txBody>
          <a:bodyPr/>
          <a:lstStyle/>
          <a:p>
            <a:r>
              <a:rPr lang="en-US" b="1"/>
              <a:t>ND-Snooping </a:t>
            </a:r>
            <a:r>
              <a:rPr lang="en-US" err="1"/>
              <a:t>brání</a:t>
            </a:r>
            <a:r>
              <a:rPr lang="en-US"/>
              <a:t> </a:t>
            </a:r>
            <a:r>
              <a:rPr lang="en-US" err="1"/>
              <a:t>tomu</a:t>
            </a:r>
            <a:r>
              <a:rPr lang="en-US"/>
              <a:t>, </a:t>
            </a:r>
            <a:r>
              <a:rPr lang="en-US" err="1"/>
              <a:t>aby</a:t>
            </a:r>
            <a:r>
              <a:rPr lang="en-US"/>
              <a:t> </a:t>
            </a:r>
            <a:r>
              <a:rPr lang="en-US" err="1"/>
              <a:t>útočník</a:t>
            </a:r>
            <a:r>
              <a:rPr lang="en-US"/>
              <a:t> </a:t>
            </a:r>
            <a:r>
              <a:rPr lang="en-US" err="1"/>
              <a:t>nepodvrhl</a:t>
            </a:r>
            <a:r>
              <a:rPr lang="en-US"/>
              <a:t> </a:t>
            </a:r>
            <a:r>
              <a:rPr lang="en-US" err="1"/>
              <a:t>záznamy</a:t>
            </a:r>
            <a:r>
              <a:rPr lang="en-US"/>
              <a:t> v </a:t>
            </a:r>
            <a:r>
              <a:rPr lang="en-US" b="1"/>
              <a:t>CAM</a:t>
            </a:r>
            <a:r>
              <a:rPr lang="en-US"/>
              <a:t> </a:t>
            </a:r>
            <a:r>
              <a:rPr lang="en-US" err="1"/>
              <a:t>tabulce</a:t>
            </a:r>
            <a:r>
              <a:rPr lang="en-US"/>
              <a:t> </a:t>
            </a:r>
            <a:r>
              <a:rPr lang="en-US" err="1"/>
              <a:t>na</a:t>
            </a:r>
            <a:r>
              <a:rPr lang="en-US"/>
              <a:t> </a:t>
            </a:r>
            <a:r>
              <a:rPr lang="en-US" err="1"/>
              <a:t>switchi</a:t>
            </a:r>
            <a:r>
              <a:rPr lang="en-US"/>
              <a:t>. Switch</a:t>
            </a:r>
            <a:r>
              <a:rPr lang="cs-CZ"/>
              <a:t> </a:t>
            </a:r>
            <a:r>
              <a:rPr lang="en-US" err="1"/>
              <a:t>přitom</a:t>
            </a:r>
            <a:r>
              <a:rPr lang="en-US"/>
              <a:t> </a:t>
            </a:r>
            <a:r>
              <a:rPr lang="en-US" err="1"/>
              <a:t>sleduje</a:t>
            </a:r>
            <a:r>
              <a:rPr lang="en-US"/>
              <a:t> </a:t>
            </a:r>
            <a:r>
              <a:rPr lang="en-US" err="1"/>
              <a:t>dotazy</a:t>
            </a:r>
            <a:r>
              <a:rPr lang="en-US"/>
              <a:t> </a:t>
            </a:r>
            <a:r>
              <a:rPr lang="en-US" err="1"/>
              <a:t>jednotlivých</a:t>
            </a:r>
            <a:r>
              <a:rPr lang="en-US"/>
              <a:t> </a:t>
            </a:r>
            <a:r>
              <a:rPr lang="en-US" err="1"/>
              <a:t>zařízení</a:t>
            </a:r>
            <a:r>
              <a:rPr lang="en-US"/>
              <a:t> </a:t>
            </a:r>
            <a:r>
              <a:rPr lang="en-US" err="1"/>
              <a:t>připojujících</a:t>
            </a:r>
            <a:r>
              <a:rPr lang="en-US"/>
              <a:t> se do </a:t>
            </a:r>
            <a:r>
              <a:rPr lang="en-US" err="1"/>
              <a:t>sítě</a:t>
            </a:r>
            <a:r>
              <a:rPr lang="en-US"/>
              <a:t>, </a:t>
            </a:r>
            <a:r>
              <a:rPr lang="en-US" err="1"/>
              <a:t>kterými</a:t>
            </a:r>
            <a:r>
              <a:rPr lang="en-US"/>
              <a:t> </a:t>
            </a:r>
            <a:r>
              <a:rPr lang="en-US" err="1"/>
              <a:t>tato</a:t>
            </a:r>
            <a:r>
              <a:rPr lang="en-US"/>
              <a:t> </a:t>
            </a:r>
            <a:r>
              <a:rPr lang="en-US" err="1"/>
              <a:t>zařízení</a:t>
            </a:r>
            <a:r>
              <a:rPr lang="en-US"/>
              <a:t> </a:t>
            </a:r>
            <a:r>
              <a:rPr lang="en-US" err="1"/>
              <a:t>ověřují</a:t>
            </a:r>
            <a:r>
              <a:rPr lang="cs-CZ"/>
              <a:t> </a:t>
            </a:r>
            <a:r>
              <a:rPr lang="en-US" err="1"/>
              <a:t>unikátnost</a:t>
            </a:r>
            <a:r>
              <a:rPr lang="en-US"/>
              <a:t> </a:t>
            </a:r>
            <a:r>
              <a:rPr lang="en-US" err="1"/>
              <a:t>zvolené</a:t>
            </a:r>
            <a:r>
              <a:rPr lang="en-US"/>
              <a:t> IPv6 </a:t>
            </a:r>
            <a:r>
              <a:rPr lang="en-US" err="1"/>
              <a:t>adresy</a:t>
            </a:r>
            <a:r>
              <a:rPr lang="en-US"/>
              <a:t>. </a:t>
            </a:r>
            <a:endParaRPr lang="cs-CZ"/>
          </a:p>
          <a:p>
            <a:r>
              <a:rPr lang="en-US" err="1"/>
              <a:t>Problémem</a:t>
            </a:r>
            <a:r>
              <a:rPr lang="en-US"/>
              <a:t> </a:t>
            </a:r>
            <a:r>
              <a:rPr lang="en-US" err="1"/>
              <a:t>nasazení</a:t>
            </a:r>
            <a:r>
              <a:rPr lang="en-US"/>
              <a:t> </a:t>
            </a:r>
            <a:r>
              <a:rPr lang="en-US" err="1"/>
              <a:t>této</a:t>
            </a:r>
            <a:r>
              <a:rPr lang="en-US"/>
              <a:t> </a:t>
            </a:r>
            <a:r>
              <a:rPr lang="en-US" err="1"/>
              <a:t>techniky</a:t>
            </a:r>
            <a:r>
              <a:rPr lang="en-US"/>
              <a:t> je </a:t>
            </a:r>
            <a:r>
              <a:rPr lang="en-US" err="1"/>
              <a:t>možný</a:t>
            </a:r>
            <a:r>
              <a:rPr lang="en-US"/>
              <a:t> </a:t>
            </a:r>
            <a:r>
              <a:rPr lang="en-US" err="1"/>
              <a:t>útok</a:t>
            </a:r>
            <a:r>
              <a:rPr lang="en-US"/>
              <a:t> </a:t>
            </a:r>
            <a:r>
              <a:rPr lang="en-US" err="1"/>
              <a:t>typu</a:t>
            </a:r>
            <a:r>
              <a:rPr lang="en-US"/>
              <a:t> </a:t>
            </a:r>
            <a:r>
              <a:rPr lang="en-US" b="1" err="1"/>
              <a:t>DoS</a:t>
            </a:r>
            <a:r>
              <a:rPr lang="en-US"/>
              <a:t>,</a:t>
            </a:r>
            <a:r>
              <a:rPr lang="cs-CZ"/>
              <a:t> </a:t>
            </a:r>
            <a:r>
              <a:rPr lang="en-US" err="1"/>
              <a:t>kdy</a:t>
            </a:r>
            <a:r>
              <a:rPr lang="en-US"/>
              <a:t> </a:t>
            </a:r>
            <a:r>
              <a:rPr lang="en-US" err="1"/>
              <a:t>si</a:t>
            </a:r>
            <a:r>
              <a:rPr lang="en-US"/>
              <a:t> </a:t>
            </a:r>
            <a:r>
              <a:rPr lang="en-US" err="1"/>
              <a:t>útočník</a:t>
            </a:r>
            <a:r>
              <a:rPr lang="en-US"/>
              <a:t> </a:t>
            </a:r>
            <a:r>
              <a:rPr lang="en-US" err="1"/>
              <a:t>dopředu</a:t>
            </a:r>
            <a:r>
              <a:rPr lang="en-US"/>
              <a:t> </a:t>
            </a:r>
            <a:r>
              <a:rPr lang="en-US" err="1"/>
              <a:t>zjistí</a:t>
            </a:r>
            <a:r>
              <a:rPr lang="en-US"/>
              <a:t>, </a:t>
            </a:r>
            <a:r>
              <a:rPr lang="en-US" err="1"/>
              <a:t>jakou</a:t>
            </a:r>
            <a:r>
              <a:rPr lang="en-US"/>
              <a:t> IPv6 </a:t>
            </a:r>
            <a:r>
              <a:rPr lang="en-US" err="1"/>
              <a:t>adresu</a:t>
            </a:r>
            <a:r>
              <a:rPr lang="en-US"/>
              <a:t> </a:t>
            </a:r>
            <a:r>
              <a:rPr lang="en-US" err="1"/>
              <a:t>používá</a:t>
            </a:r>
            <a:r>
              <a:rPr lang="en-US"/>
              <a:t> </a:t>
            </a:r>
            <a:r>
              <a:rPr lang="en-US" err="1"/>
              <a:t>konkrétní</a:t>
            </a:r>
            <a:r>
              <a:rPr lang="en-US"/>
              <a:t> </a:t>
            </a:r>
            <a:r>
              <a:rPr lang="en-US" err="1"/>
              <a:t>zařízení</a:t>
            </a:r>
            <a:r>
              <a:rPr lang="en-US"/>
              <a:t> v </a:t>
            </a:r>
            <a:r>
              <a:rPr lang="en-US" err="1"/>
              <a:t>síti</a:t>
            </a:r>
            <a:r>
              <a:rPr lang="en-US"/>
              <a:t>, a </a:t>
            </a:r>
            <a:r>
              <a:rPr lang="en-US" err="1"/>
              <a:t>když</a:t>
            </a:r>
            <a:r>
              <a:rPr lang="en-US"/>
              <a:t> se</a:t>
            </a:r>
            <a:r>
              <a:rPr lang="cs-CZ"/>
              <a:t> </a:t>
            </a:r>
            <a:r>
              <a:rPr lang="en-US" err="1"/>
              <a:t>odpojí</a:t>
            </a:r>
            <a:r>
              <a:rPr lang="en-US"/>
              <a:t>, </a:t>
            </a:r>
            <a:r>
              <a:rPr lang="en-US" err="1"/>
              <a:t>zaregistruje</a:t>
            </a:r>
            <a:r>
              <a:rPr lang="en-US"/>
              <a:t> </a:t>
            </a:r>
            <a:r>
              <a:rPr lang="en-US" err="1"/>
              <a:t>si</a:t>
            </a:r>
            <a:r>
              <a:rPr lang="en-US"/>
              <a:t> </a:t>
            </a:r>
            <a:r>
              <a:rPr lang="en-US" err="1"/>
              <a:t>jeho</a:t>
            </a:r>
            <a:r>
              <a:rPr lang="en-US"/>
              <a:t> IPv6 </a:t>
            </a:r>
            <a:r>
              <a:rPr lang="en-US" err="1"/>
              <a:t>adresu</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202</a:t>
            </a:fld>
            <a:endParaRPr lang="cs-CZ"/>
          </a:p>
        </p:txBody>
      </p:sp>
    </p:spTree>
    <p:extLst>
      <p:ext uri="{BB962C8B-B14F-4D97-AF65-F5344CB8AC3E}">
        <p14:creationId xmlns:p14="http://schemas.microsoft.com/office/powerpoint/2010/main" val="1543604563"/>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IPv6</a:t>
            </a: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203</a:t>
            </a:fld>
            <a:endParaRPr lang="cs-CZ"/>
          </a:p>
        </p:txBody>
      </p:sp>
      <p:pic>
        <p:nvPicPr>
          <p:cNvPr id="2050" name="Picture 2" descr="enter image description he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94036" y="1489808"/>
            <a:ext cx="4772025" cy="421957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nvPicPr>
        <p:blipFill>
          <a:blip r:embed="rId3"/>
          <a:stretch>
            <a:fillRect/>
          </a:stretch>
        </p:blipFill>
        <p:spPr>
          <a:xfrm>
            <a:off x="838200" y="2247900"/>
            <a:ext cx="5876925" cy="3228975"/>
          </a:xfrm>
          <a:prstGeom prst="rect">
            <a:avLst/>
          </a:prstGeom>
        </p:spPr>
      </p:pic>
    </p:spTree>
    <p:extLst>
      <p:ext uri="{BB962C8B-B14F-4D97-AF65-F5344CB8AC3E}">
        <p14:creationId xmlns:p14="http://schemas.microsoft.com/office/powerpoint/2010/main" val="3814578749"/>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IPv6</a:t>
            </a:r>
            <a:endParaRPr lang="en-US"/>
          </a:p>
        </p:txBody>
      </p:sp>
      <p:sp>
        <p:nvSpPr>
          <p:cNvPr id="3" name="Content Placeholder 2"/>
          <p:cNvSpPr>
            <a:spLocks noGrp="1"/>
          </p:cNvSpPr>
          <p:nvPr>
            <p:ph idx="1"/>
          </p:nvPr>
        </p:nvSpPr>
        <p:spPr/>
        <p:txBody>
          <a:bodyPr>
            <a:normAutofit lnSpcReduction="10000"/>
          </a:bodyPr>
          <a:lstStyle/>
          <a:p>
            <a:r>
              <a:rPr lang="en-US" err="1"/>
              <a:t>Pokud</a:t>
            </a:r>
            <a:r>
              <a:rPr lang="en-US"/>
              <a:t> se v </a:t>
            </a:r>
            <a:r>
              <a:rPr lang="en-US" err="1"/>
              <a:t>počítačové</a:t>
            </a:r>
            <a:r>
              <a:rPr lang="en-US"/>
              <a:t> </a:t>
            </a:r>
            <a:r>
              <a:rPr lang="en-US" err="1"/>
              <a:t>síti</a:t>
            </a:r>
            <a:r>
              <a:rPr lang="en-US"/>
              <a:t> </a:t>
            </a:r>
            <a:r>
              <a:rPr lang="en-US" err="1"/>
              <a:t>využívá</a:t>
            </a:r>
            <a:r>
              <a:rPr lang="en-US"/>
              <a:t> DHCPv6, je </a:t>
            </a:r>
            <a:r>
              <a:rPr lang="en-US" err="1"/>
              <a:t>doporučeno</a:t>
            </a:r>
            <a:r>
              <a:rPr lang="en-US"/>
              <a:t> </a:t>
            </a:r>
            <a:r>
              <a:rPr lang="en-US" err="1"/>
              <a:t>implementovat</a:t>
            </a:r>
            <a:r>
              <a:rPr lang="en-US"/>
              <a:t> </a:t>
            </a:r>
            <a:r>
              <a:rPr lang="en-US" err="1"/>
              <a:t>funkci</a:t>
            </a:r>
            <a:r>
              <a:rPr lang="en-US"/>
              <a:t> </a:t>
            </a:r>
            <a:r>
              <a:rPr lang="en-US" b="1"/>
              <a:t>DHCPv6</a:t>
            </a:r>
            <a:r>
              <a:rPr lang="cs-CZ" b="1"/>
              <a:t> </a:t>
            </a:r>
            <a:r>
              <a:rPr lang="en-US" b="1"/>
              <a:t>Snooping</a:t>
            </a:r>
            <a:r>
              <a:rPr lang="en-US"/>
              <a:t>, </a:t>
            </a:r>
            <a:r>
              <a:rPr lang="en-US" err="1"/>
              <a:t>která</a:t>
            </a:r>
            <a:r>
              <a:rPr lang="en-US"/>
              <a:t> </a:t>
            </a:r>
            <a:r>
              <a:rPr lang="en-US" err="1"/>
              <a:t>odposlouchává</a:t>
            </a:r>
            <a:r>
              <a:rPr lang="en-US"/>
              <a:t> DHCPv6 </a:t>
            </a:r>
            <a:r>
              <a:rPr lang="en-US" err="1"/>
              <a:t>komunikaci</a:t>
            </a:r>
            <a:r>
              <a:rPr lang="en-US"/>
              <a:t> a </a:t>
            </a:r>
            <a:r>
              <a:rPr lang="en-US" err="1"/>
              <a:t>na</a:t>
            </a:r>
            <a:r>
              <a:rPr lang="en-US"/>
              <a:t> </a:t>
            </a:r>
            <a:r>
              <a:rPr lang="en-US" err="1"/>
              <a:t>základě</a:t>
            </a:r>
            <a:r>
              <a:rPr lang="en-US"/>
              <a:t> </a:t>
            </a:r>
            <a:r>
              <a:rPr lang="en-US" err="1"/>
              <a:t>zjištěných</a:t>
            </a:r>
            <a:r>
              <a:rPr lang="en-US"/>
              <a:t> </a:t>
            </a:r>
            <a:r>
              <a:rPr lang="en-US" err="1"/>
              <a:t>informací</a:t>
            </a:r>
            <a:r>
              <a:rPr lang="en-US"/>
              <a:t> </a:t>
            </a:r>
            <a:r>
              <a:rPr lang="en-US" err="1"/>
              <a:t>vytváří</a:t>
            </a:r>
            <a:r>
              <a:rPr lang="cs-CZ"/>
              <a:t> </a:t>
            </a:r>
            <a:r>
              <a:rPr lang="en-US" err="1"/>
              <a:t>tabulku</a:t>
            </a:r>
            <a:r>
              <a:rPr lang="en-US"/>
              <a:t>, </a:t>
            </a:r>
            <a:r>
              <a:rPr lang="en-US" err="1"/>
              <a:t>ze</a:t>
            </a:r>
            <a:r>
              <a:rPr lang="en-US"/>
              <a:t> </a:t>
            </a:r>
            <a:r>
              <a:rPr lang="en-US" err="1"/>
              <a:t>které</a:t>
            </a:r>
            <a:r>
              <a:rPr lang="en-US"/>
              <a:t> switch </a:t>
            </a:r>
            <a:r>
              <a:rPr lang="en-US" err="1"/>
              <a:t>pozná</a:t>
            </a:r>
            <a:r>
              <a:rPr lang="en-US"/>
              <a:t>, </a:t>
            </a:r>
            <a:r>
              <a:rPr lang="en-US" err="1"/>
              <a:t>zda</a:t>
            </a:r>
            <a:r>
              <a:rPr lang="en-US"/>
              <a:t> </a:t>
            </a:r>
            <a:r>
              <a:rPr lang="en-US" err="1"/>
              <a:t>jsou</a:t>
            </a:r>
            <a:r>
              <a:rPr lang="en-US"/>
              <a:t> </a:t>
            </a:r>
            <a:r>
              <a:rPr lang="en-US" err="1"/>
              <a:t>informace</a:t>
            </a:r>
            <a:r>
              <a:rPr lang="en-US"/>
              <a:t> v </a:t>
            </a:r>
            <a:r>
              <a:rPr lang="en-US" err="1"/>
              <a:t>odesílaném</a:t>
            </a:r>
            <a:r>
              <a:rPr lang="en-US"/>
              <a:t> </a:t>
            </a:r>
            <a:r>
              <a:rPr lang="en-US" err="1"/>
              <a:t>paketu</a:t>
            </a:r>
            <a:r>
              <a:rPr lang="en-US"/>
              <a:t> </a:t>
            </a:r>
            <a:r>
              <a:rPr lang="en-US" err="1"/>
              <a:t>validní</a:t>
            </a:r>
            <a:r>
              <a:rPr lang="en-US"/>
              <a:t> </a:t>
            </a:r>
            <a:r>
              <a:rPr lang="en-US" err="1"/>
              <a:t>kombinací</a:t>
            </a:r>
            <a:r>
              <a:rPr lang="en-US"/>
              <a:t>.</a:t>
            </a:r>
            <a:endParaRPr lang="cs-CZ"/>
          </a:p>
          <a:p>
            <a:r>
              <a:rPr lang="en-US"/>
              <a:t>V </a:t>
            </a:r>
            <a:r>
              <a:rPr lang="en-US" err="1"/>
              <a:t>souvislosti</a:t>
            </a:r>
            <a:r>
              <a:rPr lang="en-US"/>
              <a:t> s </a:t>
            </a:r>
            <a:r>
              <a:rPr lang="en-US" err="1"/>
              <a:t>bezpečným</a:t>
            </a:r>
            <a:r>
              <a:rPr lang="en-US"/>
              <a:t> </a:t>
            </a:r>
            <a:r>
              <a:rPr lang="en-US" err="1"/>
              <a:t>provozováním</a:t>
            </a:r>
            <a:r>
              <a:rPr lang="en-US"/>
              <a:t> IPv6 </a:t>
            </a:r>
            <a:r>
              <a:rPr lang="en-US" err="1"/>
              <a:t>sítě</a:t>
            </a:r>
            <a:r>
              <a:rPr lang="en-US"/>
              <a:t> je </a:t>
            </a:r>
            <a:r>
              <a:rPr lang="en-US" err="1"/>
              <a:t>vhodné</a:t>
            </a:r>
            <a:r>
              <a:rPr lang="en-US"/>
              <a:t> </a:t>
            </a:r>
            <a:r>
              <a:rPr lang="en-US" err="1"/>
              <a:t>upozornit</a:t>
            </a:r>
            <a:r>
              <a:rPr lang="en-US"/>
              <a:t> </a:t>
            </a:r>
            <a:r>
              <a:rPr lang="en-US" err="1"/>
              <a:t>také</a:t>
            </a:r>
            <a:r>
              <a:rPr lang="en-US"/>
              <a:t> </a:t>
            </a:r>
            <a:r>
              <a:rPr lang="en-US" err="1"/>
              <a:t>na</a:t>
            </a:r>
            <a:r>
              <a:rPr lang="en-US"/>
              <a:t> </a:t>
            </a:r>
            <a:r>
              <a:rPr lang="en-US" err="1"/>
              <a:t>problematiku</a:t>
            </a:r>
            <a:r>
              <a:rPr lang="cs-CZ"/>
              <a:t> </a:t>
            </a:r>
            <a:r>
              <a:rPr lang="en-US"/>
              <a:t>cache </a:t>
            </a:r>
            <a:r>
              <a:rPr lang="en-US" err="1"/>
              <a:t>sousedů</a:t>
            </a:r>
            <a:r>
              <a:rPr lang="en-US"/>
              <a:t> (neighbor cache). </a:t>
            </a:r>
            <a:endParaRPr lang="cs-CZ"/>
          </a:p>
          <a:p>
            <a:r>
              <a:rPr lang="en-US"/>
              <a:t>Ta je </a:t>
            </a:r>
            <a:r>
              <a:rPr lang="en-US" err="1"/>
              <a:t>obdobou</a:t>
            </a:r>
            <a:r>
              <a:rPr lang="en-US"/>
              <a:t> ARP cache z IPv4 a </a:t>
            </a:r>
            <a:r>
              <a:rPr lang="en-US" err="1"/>
              <a:t>obsahuje</a:t>
            </a:r>
            <a:r>
              <a:rPr lang="en-US"/>
              <a:t> </a:t>
            </a:r>
            <a:r>
              <a:rPr lang="en-US" err="1"/>
              <a:t>vždy</a:t>
            </a:r>
            <a:r>
              <a:rPr lang="en-US"/>
              <a:t> IPv6 </a:t>
            </a:r>
            <a:r>
              <a:rPr lang="en-US" err="1"/>
              <a:t>adresu</a:t>
            </a:r>
            <a:r>
              <a:rPr lang="cs-CZ"/>
              <a:t> </a:t>
            </a:r>
            <a:r>
              <a:rPr lang="en-US"/>
              <a:t>a k </a:t>
            </a:r>
            <a:r>
              <a:rPr lang="en-US" err="1"/>
              <a:t>ní</a:t>
            </a:r>
            <a:r>
              <a:rPr lang="en-US"/>
              <a:t> </a:t>
            </a:r>
            <a:r>
              <a:rPr lang="en-US" err="1"/>
              <a:t>relevantní</a:t>
            </a:r>
            <a:r>
              <a:rPr lang="en-US"/>
              <a:t> MAC </a:t>
            </a:r>
            <a:r>
              <a:rPr lang="en-US" err="1"/>
              <a:t>adresu</a:t>
            </a:r>
            <a:r>
              <a:rPr lang="en-US"/>
              <a:t>. </a:t>
            </a:r>
            <a:endParaRPr lang="cs-CZ"/>
          </a:p>
          <a:p>
            <a:r>
              <a:rPr lang="en-US" err="1"/>
              <a:t>Samotné</a:t>
            </a:r>
            <a:r>
              <a:rPr lang="en-US"/>
              <a:t> </a:t>
            </a:r>
            <a:r>
              <a:rPr lang="en-US" err="1"/>
              <a:t>naplnění</a:t>
            </a:r>
            <a:r>
              <a:rPr lang="en-US"/>
              <a:t> </a:t>
            </a:r>
            <a:r>
              <a:rPr lang="en-US" err="1"/>
              <a:t>této</a:t>
            </a:r>
            <a:r>
              <a:rPr lang="en-US"/>
              <a:t> cache se </a:t>
            </a:r>
            <a:r>
              <a:rPr lang="en-US" err="1"/>
              <a:t>provádí</a:t>
            </a:r>
            <a:r>
              <a:rPr lang="en-US"/>
              <a:t> </a:t>
            </a:r>
            <a:r>
              <a:rPr lang="en-US" err="1"/>
              <a:t>pomocí</a:t>
            </a:r>
            <a:r>
              <a:rPr lang="en-US"/>
              <a:t> </a:t>
            </a:r>
            <a:r>
              <a:rPr lang="en-US" err="1"/>
              <a:t>dvojice</a:t>
            </a:r>
            <a:r>
              <a:rPr lang="en-US"/>
              <a:t> </a:t>
            </a:r>
            <a:r>
              <a:rPr lang="en-US" err="1"/>
              <a:t>zpráv</a:t>
            </a:r>
            <a:r>
              <a:rPr lang="cs-CZ"/>
              <a:t> </a:t>
            </a:r>
            <a:r>
              <a:rPr lang="en-US" err="1"/>
              <a:t>výzva</a:t>
            </a:r>
            <a:r>
              <a:rPr lang="en-US"/>
              <a:t> </a:t>
            </a:r>
            <a:r>
              <a:rPr lang="en-US" err="1"/>
              <a:t>sousedovi</a:t>
            </a:r>
            <a:r>
              <a:rPr lang="en-US"/>
              <a:t> a </a:t>
            </a:r>
            <a:r>
              <a:rPr lang="en-US" err="1"/>
              <a:t>ohlášení</a:t>
            </a:r>
            <a:r>
              <a:rPr lang="en-US"/>
              <a:t> </a:t>
            </a:r>
            <a:r>
              <a:rPr lang="en-US" err="1"/>
              <a:t>souseda</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204</a:t>
            </a:fld>
            <a:endParaRPr lang="cs-CZ"/>
          </a:p>
        </p:txBody>
      </p:sp>
    </p:spTree>
    <p:extLst>
      <p:ext uri="{BB962C8B-B14F-4D97-AF65-F5344CB8AC3E}">
        <p14:creationId xmlns:p14="http://schemas.microsoft.com/office/powerpoint/2010/main" val="962655660"/>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IPv6</a:t>
            </a:r>
            <a:endParaRPr lang="en-US"/>
          </a:p>
        </p:txBody>
      </p:sp>
      <p:sp>
        <p:nvSpPr>
          <p:cNvPr id="3" name="Content Placeholder 2"/>
          <p:cNvSpPr>
            <a:spLocks noGrp="1"/>
          </p:cNvSpPr>
          <p:nvPr>
            <p:ph idx="1"/>
          </p:nvPr>
        </p:nvSpPr>
        <p:spPr/>
        <p:txBody>
          <a:bodyPr>
            <a:normAutofit/>
          </a:bodyPr>
          <a:lstStyle/>
          <a:p>
            <a:r>
              <a:rPr lang="en-US"/>
              <a:t>V </a:t>
            </a:r>
            <a:r>
              <a:rPr lang="en-US" err="1"/>
              <a:t>případě</a:t>
            </a:r>
            <a:r>
              <a:rPr lang="en-US" b="1"/>
              <a:t> IPv6 cache </a:t>
            </a:r>
            <a:r>
              <a:rPr lang="en-US" err="1"/>
              <a:t>sousedů</a:t>
            </a:r>
            <a:r>
              <a:rPr lang="en-US"/>
              <a:t> se </a:t>
            </a:r>
            <a:r>
              <a:rPr lang="en-US" err="1"/>
              <a:t>může</a:t>
            </a:r>
            <a:r>
              <a:rPr lang="en-US"/>
              <a:t> </a:t>
            </a:r>
            <a:r>
              <a:rPr lang="en-US" err="1"/>
              <a:t>útočník</a:t>
            </a:r>
            <a:r>
              <a:rPr lang="en-US"/>
              <a:t> </a:t>
            </a:r>
            <a:r>
              <a:rPr lang="en-US" err="1"/>
              <a:t>pokusit</a:t>
            </a:r>
            <a:r>
              <a:rPr lang="en-US"/>
              <a:t> o </a:t>
            </a:r>
            <a:r>
              <a:rPr lang="en-US" err="1"/>
              <a:t>útok</a:t>
            </a:r>
            <a:r>
              <a:rPr lang="en-US"/>
              <a:t> </a:t>
            </a:r>
            <a:r>
              <a:rPr lang="en-US" err="1"/>
              <a:t>tak</a:t>
            </a:r>
            <a:r>
              <a:rPr lang="en-US"/>
              <a:t>, </a:t>
            </a:r>
            <a:r>
              <a:rPr lang="en-US" err="1"/>
              <a:t>že</a:t>
            </a:r>
            <a:r>
              <a:rPr lang="en-US"/>
              <a:t> </a:t>
            </a:r>
            <a:r>
              <a:rPr lang="en-US" err="1"/>
              <a:t>využije</a:t>
            </a:r>
            <a:r>
              <a:rPr lang="en-US"/>
              <a:t> </a:t>
            </a:r>
            <a:r>
              <a:rPr lang="en-US" err="1"/>
              <a:t>tohoto</a:t>
            </a:r>
            <a:r>
              <a:rPr lang="en-US"/>
              <a:t> </a:t>
            </a:r>
            <a:r>
              <a:rPr lang="en-US" err="1"/>
              <a:t>mechanismu</a:t>
            </a:r>
            <a:r>
              <a:rPr lang="cs-CZ"/>
              <a:t> </a:t>
            </a:r>
            <a:r>
              <a:rPr lang="en-US"/>
              <a:t>k </a:t>
            </a:r>
            <a:r>
              <a:rPr lang="en-US" err="1"/>
              <a:t>tomu</a:t>
            </a:r>
            <a:r>
              <a:rPr lang="en-US"/>
              <a:t>, </a:t>
            </a:r>
            <a:r>
              <a:rPr lang="en-US" err="1"/>
              <a:t>aby</a:t>
            </a:r>
            <a:r>
              <a:rPr lang="en-US"/>
              <a:t> </a:t>
            </a:r>
            <a:r>
              <a:rPr lang="en-US" err="1"/>
              <a:t>na</a:t>
            </a:r>
            <a:r>
              <a:rPr lang="en-US"/>
              <a:t> </a:t>
            </a:r>
            <a:r>
              <a:rPr lang="en-US" err="1"/>
              <a:t>routeru</a:t>
            </a:r>
            <a:r>
              <a:rPr lang="en-US"/>
              <a:t> v </a:t>
            </a:r>
            <a:r>
              <a:rPr lang="en-US" err="1"/>
              <a:t>síti</a:t>
            </a:r>
            <a:r>
              <a:rPr lang="en-US"/>
              <a:t> (</a:t>
            </a:r>
            <a:r>
              <a:rPr lang="en-US" err="1"/>
              <a:t>nejlépe</a:t>
            </a:r>
            <a:r>
              <a:rPr lang="en-US"/>
              <a:t> </a:t>
            </a:r>
            <a:r>
              <a:rPr lang="en-US" err="1"/>
              <a:t>routeru</a:t>
            </a:r>
            <a:r>
              <a:rPr lang="en-US"/>
              <a:t> </a:t>
            </a:r>
            <a:r>
              <a:rPr lang="en-US" err="1"/>
              <a:t>starajícímu</a:t>
            </a:r>
            <a:r>
              <a:rPr lang="en-US"/>
              <a:t> se o </a:t>
            </a:r>
            <a:r>
              <a:rPr lang="en-US" err="1"/>
              <a:t>připojení</a:t>
            </a:r>
            <a:r>
              <a:rPr lang="en-US"/>
              <a:t> </a:t>
            </a:r>
            <a:r>
              <a:rPr lang="en-US" err="1"/>
              <a:t>celé</a:t>
            </a:r>
            <a:r>
              <a:rPr lang="en-US"/>
              <a:t> </a:t>
            </a:r>
            <a:r>
              <a:rPr lang="en-US" err="1"/>
              <a:t>sítě</a:t>
            </a:r>
            <a:r>
              <a:rPr lang="en-US"/>
              <a:t>) </a:t>
            </a:r>
            <a:r>
              <a:rPr lang="en-US" err="1"/>
              <a:t>zaplnil</a:t>
            </a:r>
            <a:r>
              <a:rPr lang="en-US"/>
              <a:t> </a:t>
            </a:r>
            <a:r>
              <a:rPr lang="en-US" err="1"/>
              <a:t>tuto</a:t>
            </a:r>
            <a:r>
              <a:rPr lang="cs-CZ"/>
              <a:t> </a:t>
            </a:r>
            <a:r>
              <a:rPr lang="en-US" err="1"/>
              <a:t>tabulku</a:t>
            </a:r>
            <a:r>
              <a:rPr lang="en-US"/>
              <a:t>. </a:t>
            </a:r>
            <a:endParaRPr lang="cs-CZ"/>
          </a:p>
          <a:p>
            <a:r>
              <a:rPr lang="en-US"/>
              <a:t>K </a:t>
            </a:r>
            <a:r>
              <a:rPr lang="en-US" err="1"/>
              <a:t>vlastnímu</a:t>
            </a:r>
            <a:r>
              <a:rPr lang="en-US"/>
              <a:t> </a:t>
            </a:r>
            <a:r>
              <a:rPr lang="en-US" err="1"/>
              <a:t>útoku</a:t>
            </a:r>
            <a:r>
              <a:rPr lang="en-US"/>
              <a:t> </a:t>
            </a:r>
            <a:r>
              <a:rPr lang="en-US" err="1"/>
              <a:t>stačí</a:t>
            </a:r>
            <a:r>
              <a:rPr lang="en-US"/>
              <a:t> </a:t>
            </a:r>
            <a:r>
              <a:rPr lang="en-US" err="1"/>
              <a:t>generování</a:t>
            </a:r>
            <a:r>
              <a:rPr lang="en-US"/>
              <a:t> </a:t>
            </a:r>
            <a:r>
              <a:rPr lang="en-US" err="1"/>
              <a:t>paketů</a:t>
            </a:r>
            <a:r>
              <a:rPr lang="en-US"/>
              <a:t> s </a:t>
            </a:r>
            <a:r>
              <a:rPr lang="en-US" err="1"/>
              <a:t>různými</a:t>
            </a:r>
            <a:r>
              <a:rPr lang="en-US"/>
              <a:t> </a:t>
            </a:r>
            <a:r>
              <a:rPr lang="en-US" err="1"/>
              <a:t>zdrojovými</a:t>
            </a:r>
            <a:r>
              <a:rPr lang="en-US"/>
              <a:t> IPv6 </a:t>
            </a:r>
            <a:r>
              <a:rPr lang="en-US" err="1"/>
              <a:t>adresami</a:t>
            </a:r>
            <a:r>
              <a:rPr lang="en-US"/>
              <a:t>.</a:t>
            </a:r>
          </a:p>
          <a:p>
            <a:r>
              <a:rPr lang="en-US"/>
              <a:t>V </a:t>
            </a:r>
            <a:r>
              <a:rPr lang="en-US" err="1"/>
              <a:t>okamžiku</a:t>
            </a:r>
            <a:r>
              <a:rPr lang="en-US"/>
              <a:t>, </a:t>
            </a:r>
            <a:r>
              <a:rPr lang="en-US" err="1"/>
              <a:t>kdy</a:t>
            </a:r>
            <a:r>
              <a:rPr lang="en-US"/>
              <a:t> router </a:t>
            </a:r>
            <a:r>
              <a:rPr lang="en-US" err="1"/>
              <a:t>obdrží</a:t>
            </a:r>
            <a:r>
              <a:rPr lang="en-US"/>
              <a:t> </a:t>
            </a:r>
            <a:r>
              <a:rPr lang="en-US" err="1"/>
              <a:t>tento</a:t>
            </a:r>
            <a:r>
              <a:rPr lang="en-US"/>
              <a:t> </a:t>
            </a:r>
            <a:r>
              <a:rPr lang="en-US" err="1"/>
              <a:t>dotaz</a:t>
            </a:r>
            <a:r>
              <a:rPr lang="en-US"/>
              <a:t>, </a:t>
            </a:r>
            <a:r>
              <a:rPr lang="en-US" err="1"/>
              <a:t>musí</a:t>
            </a:r>
            <a:r>
              <a:rPr lang="en-US"/>
              <a:t> </a:t>
            </a:r>
            <a:r>
              <a:rPr lang="en-US" err="1"/>
              <a:t>zjistit</a:t>
            </a:r>
            <a:r>
              <a:rPr lang="en-US"/>
              <a:t> MAC </a:t>
            </a:r>
            <a:r>
              <a:rPr lang="en-US" err="1"/>
              <a:t>adresu</a:t>
            </a:r>
            <a:r>
              <a:rPr lang="en-US"/>
              <a:t> </a:t>
            </a:r>
            <a:r>
              <a:rPr lang="en-US" err="1"/>
              <a:t>daného</a:t>
            </a:r>
            <a:r>
              <a:rPr lang="en-US"/>
              <a:t> </a:t>
            </a:r>
            <a:r>
              <a:rPr lang="en-US" err="1"/>
              <a:t>souseda</a:t>
            </a:r>
            <a:r>
              <a:rPr lang="en-US"/>
              <a:t>. Proto</a:t>
            </a:r>
            <a:r>
              <a:rPr lang="cs-CZ"/>
              <a:t> </a:t>
            </a:r>
            <a:r>
              <a:rPr lang="en-US" err="1"/>
              <a:t>odešle</a:t>
            </a:r>
            <a:r>
              <a:rPr lang="en-US"/>
              <a:t> do </a:t>
            </a:r>
            <a:r>
              <a:rPr lang="en-US" err="1"/>
              <a:t>sítě</a:t>
            </a:r>
            <a:r>
              <a:rPr lang="en-US"/>
              <a:t> </a:t>
            </a:r>
            <a:r>
              <a:rPr lang="en-US" err="1"/>
              <a:t>výzvu</a:t>
            </a:r>
            <a:r>
              <a:rPr lang="en-US"/>
              <a:t> </a:t>
            </a:r>
            <a:r>
              <a:rPr lang="en-US" err="1"/>
              <a:t>sousedovi</a:t>
            </a:r>
            <a:r>
              <a:rPr lang="en-US"/>
              <a:t>, </a:t>
            </a:r>
            <a:r>
              <a:rPr lang="en-US" err="1"/>
              <a:t>na</a:t>
            </a:r>
            <a:r>
              <a:rPr lang="en-US"/>
              <a:t> </a:t>
            </a:r>
            <a:r>
              <a:rPr lang="en-US" err="1"/>
              <a:t>kterou</a:t>
            </a:r>
            <a:r>
              <a:rPr lang="en-US"/>
              <a:t> </a:t>
            </a:r>
            <a:r>
              <a:rPr lang="en-US" err="1"/>
              <a:t>útočník</a:t>
            </a:r>
            <a:r>
              <a:rPr lang="en-US"/>
              <a:t> </a:t>
            </a:r>
            <a:r>
              <a:rPr lang="en-US" err="1"/>
              <a:t>odpoví</a:t>
            </a:r>
            <a:r>
              <a:rPr lang="en-US"/>
              <a:t> </a:t>
            </a:r>
            <a:r>
              <a:rPr lang="en-US" err="1"/>
              <a:t>zprávou</a:t>
            </a:r>
            <a:r>
              <a:rPr lang="en-US"/>
              <a:t> </a:t>
            </a:r>
            <a:r>
              <a:rPr lang="en-US" err="1"/>
              <a:t>ohlášení</a:t>
            </a:r>
            <a:r>
              <a:rPr lang="en-US"/>
              <a:t> </a:t>
            </a:r>
            <a:r>
              <a:rPr lang="en-US" err="1"/>
              <a:t>souseda</a:t>
            </a:r>
            <a:r>
              <a:rPr lang="en-US"/>
              <a:t>. </a:t>
            </a:r>
            <a:endParaRPr lang="cs-CZ"/>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205</a:t>
            </a:fld>
            <a:endParaRPr lang="cs-CZ"/>
          </a:p>
        </p:txBody>
      </p:sp>
    </p:spTree>
    <p:extLst>
      <p:ext uri="{BB962C8B-B14F-4D97-AF65-F5344CB8AC3E}">
        <p14:creationId xmlns:p14="http://schemas.microsoft.com/office/powerpoint/2010/main" val="4121019776"/>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IPv6</a:t>
            </a:r>
            <a:endParaRPr lang="en-US"/>
          </a:p>
        </p:txBody>
      </p:sp>
      <p:sp>
        <p:nvSpPr>
          <p:cNvPr id="3" name="Content Placeholder 2"/>
          <p:cNvSpPr>
            <a:spLocks noGrp="1"/>
          </p:cNvSpPr>
          <p:nvPr>
            <p:ph idx="1"/>
          </p:nvPr>
        </p:nvSpPr>
        <p:spPr/>
        <p:txBody>
          <a:bodyPr/>
          <a:lstStyle/>
          <a:p>
            <a:r>
              <a:rPr lang="en-US" err="1"/>
              <a:t>Tímto</a:t>
            </a:r>
            <a:r>
              <a:rPr lang="en-US"/>
              <a:t> </a:t>
            </a:r>
            <a:r>
              <a:rPr lang="en-US" err="1"/>
              <a:t>způsobem</a:t>
            </a:r>
            <a:r>
              <a:rPr lang="en-US"/>
              <a:t> </a:t>
            </a:r>
            <a:r>
              <a:rPr lang="en-US" err="1"/>
              <a:t>postupně</a:t>
            </a:r>
            <a:r>
              <a:rPr lang="en-US"/>
              <a:t> </a:t>
            </a:r>
            <a:r>
              <a:rPr lang="en-US" err="1"/>
              <a:t>zaplní</a:t>
            </a:r>
            <a:r>
              <a:rPr lang="en-US"/>
              <a:t> cache </a:t>
            </a:r>
            <a:r>
              <a:rPr lang="en-US" err="1"/>
              <a:t>sousedů</a:t>
            </a:r>
            <a:r>
              <a:rPr lang="en-US"/>
              <a:t> </a:t>
            </a:r>
            <a:r>
              <a:rPr lang="en-US" err="1"/>
              <a:t>na</a:t>
            </a:r>
            <a:r>
              <a:rPr lang="en-US"/>
              <a:t> </a:t>
            </a:r>
            <a:r>
              <a:rPr lang="en-US" err="1"/>
              <a:t>cílovém</a:t>
            </a:r>
            <a:r>
              <a:rPr lang="en-US"/>
              <a:t> </a:t>
            </a:r>
            <a:r>
              <a:rPr lang="en-US" err="1"/>
              <a:t>počítačovém</a:t>
            </a:r>
            <a:r>
              <a:rPr lang="en-US"/>
              <a:t> </a:t>
            </a:r>
            <a:r>
              <a:rPr lang="en-US" err="1"/>
              <a:t>systému</a:t>
            </a:r>
            <a:r>
              <a:rPr lang="en-US"/>
              <a:t>. </a:t>
            </a:r>
            <a:endParaRPr lang="cs-CZ"/>
          </a:p>
          <a:p>
            <a:r>
              <a:rPr lang="en-US" err="1"/>
              <a:t>Pokud</a:t>
            </a:r>
            <a:r>
              <a:rPr lang="en-US"/>
              <a:t> je </a:t>
            </a:r>
            <a:r>
              <a:rPr lang="en-US" err="1"/>
              <a:t>cílem</a:t>
            </a:r>
            <a:r>
              <a:rPr lang="cs-CZ"/>
              <a:t> </a:t>
            </a:r>
            <a:r>
              <a:rPr lang="en-US" err="1"/>
              <a:t>útoku</a:t>
            </a:r>
            <a:r>
              <a:rPr lang="en-US"/>
              <a:t> router, </a:t>
            </a:r>
            <a:r>
              <a:rPr lang="en-US" err="1"/>
              <a:t>může</a:t>
            </a:r>
            <a:r>
              <a:rPr lang="en-US"/>
              <a:t> </a:t>
            </a:r>
            <a:r>
              <a:rPr lang="en-US" err="1"/>
              <a:t>útok</a:t>
            </a:r>
            <a:r>
              <a:rPr lang="en-US"/>
              <a:t> </a:t>
            </a:r>
            <a:r>
              <a:rPr lang="en-US" err="1"/>
              <a:t>vést</a:t>
            </a:r>
            <a:r>
              <a:rPr lang="en-US"/>
              <a:t> k </a:t>
            </a:r>
            <a:r>
              <a:rPr lang="en-US" err="1"/>
              <a:t>různým</a:t>
            </a:r>
            <a:r>
              <a:rPr lang="en-US"/>
              <a:t> </a:t>
            </a:r>
            <a:r>
              <a:rPr lang="en-US" err="1"/>
              <a:t>následkům</a:t>
            </a:r>
            <a:r>
              <a:rPr lang="en-US"/>
              <a:t> v </a:t>
            </a:r>
            <a:r>
              <a:rPr lang="en-US" err="1"/>
              <a:t>závislosti</a:t>
            </a:r>
            <a:r>
              <a:rPr lang="en-US"/>
              <a:t> </a:t>
            </a:r>
            <a:r>
              <a:rPr lang="en-US" err="1"/>
              <a:t>na</a:t>
            </a:r>
            <a:r>
              <a:rPr lang="en-US"/>
              <a:t> </a:t>
            </a:r>
            <a:r>
              <a:rPr lang="en-US" err="1"/>
              <a:t>konkrétní</a:t>
            </a:r>
            <a:r>
              <a:rPr lang="en-US"/>
              <a:t> </a:t>
            </a:r>
            <a:r>
              <a:rPr lang="en-US" err="1"/>
              <a:t>implementaci</a:t>
            </a:r>
            <a:r>
              <a:rPr lang="en-US"/>
              <a:t> (</a:t>
            </a:r>
            <a:r>
              <a:rPr lang="en-US" err="1"/>
              <a:t>např</a:t>
            </a:r>
            <a:r>
              <a:rPr lang="en-US"/>
              <a:t>.</a:t>
            </a:r>
            <a:r>
              <a:rPr lang="cs-CZ"/>
              <a:t> </a:t>
            </a:r>
            <a:r>
              <a:rPr lang="en-US" err="1"/>
              <a:t>nepřipojení</a:t>
            </a:r>
            <a:r>
              <a:rPr lang="en-US"/>
              <a:t> </a:t>
            </a:r>
            <a:r>
              <a:rPr lang="en-US" err="1"/>
              <a:t>dalších</a:t>
            </a:r>
            <a:r>
              <a:rPr lang="en-US"/>
              <a:t> </a:t>
            </a:r>
            <a:r>
              <a:rPr lang="en-US" err="1"/>
              <a:t>počítačových</a:t>
            </a:r>
            <a:r>
              <a:rPr lang="en-US"/>
              <a:t> </a:t>
            </a:r>
            <a:r>
              <a:rPr lang="en-US" err="1"/>
              <a:t>systémů</a:t>
            </a:r>
            <a:r>
              <a:rPr lang="en-US"/>
              <a:t>, </a:t>
            </a:r>
            <a:r>
              <a:rPr lang="en-US" err="1"/>
              <a:t>či</a:t>
            </a:r>
            <a:r>
              <a:rPr lang="en-US"/>
              <a:t> </a:t>
            </a:r>
            <a:r>
              <a:rPr lang="en-US" err="1"/>
              <a:t>přetížení</a:t>
            </a:r>
            <a:r>
              <a:rPr lang="en-US"/>
              <a:t> </a:t>
            </a:r>
            <a:r>
              <a:rPr lang="en-US" err="1"/>
              <a:t>počítačového</a:t>
            </a:r>
            <a:r>
              <a:rPr lang="en-US"/>
              <a:t> </a:t>
            </a:r>
            <a:r>
              <a:rPr lang="en-US" err="1"/>
              <a:t>systému</a:t>
            </a:r>
            <a:r>
              <a:rPr lang="en-US"/>
              <a:t> </a:t>
            </a:r>
            <a:r>
              <a:rPr lang="en-US" err="1"/>
              <a:t>aj</a:t>
            </a:r>
            <a:r>
              <a:rPr lang="en-US"/>
              <a:t>.).</a:t>
            </a:r>
          </a:p>
          <a:p>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206</a:t>
            </a:fld>
            <a:endParaRPr lang="cs-CZ"/>
          </a:p>
        </p:txBody>
      </p:sp>
    </p:spTree>
    <p:extLst>
      <p:ext uri="{BB962C8B-B14F-4D97-AF65-F5344CB8AC3E}">
        <p14:creationId xmlns:p14="http://schemas.microsoft.com/office/powerpoint/2010/main" val="1924177421"/>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IPv6</a:t>
            </a:r>
            <a:endParaRPr lang="en-US"/>
          </a:p>
        </p:txBody>
      </p:sp>
      <p:sp>
        <p:nvSpPr>
          <p:cNvPr id="3" name="Content Placeholder 2"/>
          <p:cNvSpPr>
            <a:spLocks noGrp="1"/>
          </p:cNvSpPr>
          <p:nvPr>
            <p:ph idx="1"/>
          </p:nvPr>
        </p:nvSpPr>
        <p:spPr/>
        <p:txBody>
          <a:bodyPr/>
          <a:lstStyle/>
          <a:p>
            <a:r>
              <a:rPr lang="en-US" err="1"/>
              <a:t>Možnou</a:t>
            </a:r>
            <a:r>
              <a:rPr lang="en-US"/>
              <a:t> </a:t>
            </a:r>
            <a:r>
              <a:rPr lang="en-US" err="1"/>
              <a:t>ochranu</a:t>
            </a:r>
            <a:r>
              <a:rPr lang="en-US"/>
              <a:t> </a:t>
            </a:r>
            <a:r>
              <a:rPr lang="en-US" err="1"/>
              <a:t>proti</a:t>
            </a:r>
            <a:r>
              <a:rPr lang="en-US"/>
              <a:t> </a:t>
            </a:r>
            <a:r>
              <a:rPr lang="en-US" err="1"/>
              <a:t>tomuto</a:t>
            </a:r>
            <a:r>
              <a:rPr lang="en-US"/>
              <a:t> </a:t>
            </a:r>
            <a:r>
              <a:rPr lang="en-US" err="1"/>
              <a:t>útoku</a:t>
            </a:r>
            <a:r>
              <a:rPr lang="en-US"/>
              <a:t> </a:t>
            </a:r>
            <a:r>
              <a:rPr lang="en-US" err="1"/>
              <a:t>představuje</a:t>
            </a:r>
            <a:r>
              <a:rPr lang="en-US"/>
              <a:t> </a:t>
            </a:r>
            <a:r>
              <a:rPr lang="en-US" err="1"/>
              <a:t>například</a:t>
            </a:r>
            <a:r>
              <a:rPr lang="en-US"/>
              <a:t> </a:t>
            </a:r>
            <a:r>
              <a:rPr lang="en-US" err="1"/>
              <a:t>funkce</a:t>
            </a:r>
            <a:r>
              <a:rPr lang="en-US"/>
              <a:t> </a:t>
            </a:r>
            <a:r>
              <a:rPr lang="en-US" b="1"/>
              <a:t>IPv6 Destination Guard</a:t>
            </a:r>
            <a:r>
              <a:rPr lang="en-US"/>
              <a:t>,</a:t>
            </a:r>
            <a:r>
              <a:rPr lang="cs-CZ"/>
              <a:t> </a:t>
            </a:r>
            <a:r>
              <a:rPr lang="en-US" b="1"/>
              <a:t>SEND (Secure Neighbor Discovery), </a:t>
            </a:r>
            <a:r>
              <a:rPr lang="en-US" err="1"/>
              <a:t>omezení</a:t>
            </a:r>
            <a:r>
              <a:rPr lang="en-US"/>
              <a:t> </a:t>
            </a:r>
            <a:r>
              <a:rPr lang="en-US" err="1"/>
              <a:t>počtu</a:t>
            </a:r>
            <a:r>
              <a:rPr lang="en-US"/>
              <a:t> IPv6 </a:t>
            </a:r>
            <a:r>
              <a:rPr lang="en-US" err="1"/>
              <a:t>adres</a:t>
            </a:r>
            <a:r>
              <a:rPr lang="en-US"/>
              <a:t> v cache </a:t>
            </a:r>
            <a:r>
              <a:rPr lang="en-US" err="1"/>
              <a:t>sousedů</a:t>
            </a:r>
            <a:r>
              <a:rPr lang="en-US"/>
              <a:t> </a:t>
            </a:r>
            <a:r>
              <a:rPr lang="en-US" err="1"/>
              <a:t>na</a:t>
            </a:r>
            <a:r>
              <a:rPr lang="en-US"/>
              <a:t> </a:t>
            </a:r>
            <a:r>
              <a:rPr lang="en-US" err="1"/>
              <a:t>síťovém</a:t>
            </a:r>
            <a:r>
              <a:rPr lang="cs-CZ"/>
              <a:t> </a:t>
            </a:r>
            <a:r>
              <a:rPr lang="en-US" err="1"/>
              <a:t>rozhraní</a:t>
            </a:r>
            <a:r>
              <a:rPr lang="en-US"/>
              <a:t>, </a:t>
            </a:r>
            <a:r>
              <a:rPr lang="en-US" err="1"/>
              <a:t>použití</a:t>
            </a:r>
            <a:r>
              <a:rPr lang="en-US"/>
              <a:t> </a:t>
            </a:r>
            <a:r>
              <a:rPr lang="en-US" err="1"/>
              <a:t>statických</a:t>
            </a:r>
            <a:r>
              <a:rPr lang="en-US"/>
              <a:t> </a:t>
            </a:r>
            <a:r>
              <a:rPr lang="en-US" err="1"/>
              <a:t>položek</a:t>
            </a:r>
            <a:r>
              <a:rPr lang="en-US"/>
              <a:t> v cache </a:t>
            </a:r>
            <a:r>
              <a:rPr lang="en-US" err="1"/>
              <a:t>sousedů</a:t>
            </a:r>
            <a:r>
              <a:rPr lang="en-US"/>
              <a:t> </a:t>
            </a:r>
            <a:r>
              <a:rPr lang="en-US" err="1"/>
              <a:t>nebo</a:t>
            </a:r>
            <a:r>
              <a:rPr lang="en-US"/>
              <a:t> </a:t>
            </a:r>
            <a:r>
              <a:rPr lang="en-US" err="1"/>
              <a:t>omezení</a:t>
            </a:r>
            <a:r>
              <a:rPr lang="en-US"/>
              <a:t> </a:t>
            </a:r>
            <a:r>
              <a:rPr lang="en-US" err="1"/>
              <a:t>času</a:t>
            </a:r>
            <a:r>
              <a:rPr lang="en-US"/>
              <a:t>, </a:t>
            </a:r>
            <a:r>
              <a:rPr lang="en-US" err="1"/>
              <a:t>po</a:t>
            </a:r>
            <a:r>
              <a:rPr lang="en-US"/>
              <a:t> </a:t>
            </a:r>
            <a:r>
              <a:rPr lang="en-US" err="1"/>
              <a:t>který</a:t>
            </a:r>
            <a:r>
              <a:rPr lang="en-US"/>
              <a:t> je </a:t>
            </a:r>
            <a:r>
              <a:rPr lang="en-US" err="1"/>
              <a:t>záznam</a:t>
            </a:r>
            <a:r>
              <a:rPr lang="cs-CZ"/>
              <a:t> </a:t>
            </a:r>
            <a:r>
              <a:rPr lang="en-US"/>
              <a:t>v cache </a:t>
            </a:r>
            <a:r>
              <a:rPr lang="en-US" err="1"/>
              <a:t>sousedů</a:t>
            </a:r>
            <a:r>
              <a:rPr lang="en-US"/>
              <a:t> </a:t>
            </a:r>
            <a:r>
              <a:rPr lang="en-US" err="1"/>
              <a:t>platný</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207</a:t>
            </a:fld>
            <a:endParaRPr lang="cs-CZ"/>
          </a:p>
        </p:txBody>
      </p:sp>
    </p:spTree>
    <p:extLst>
      <p:ext uri="{BB962C8B-B14F-4D97-AF65-F5344CB8AC3E}">
        <p14:creationId xmlns:p14="http://schemas.microsoft.com/office/powerpoint/2010/main" val="1639539187"/>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IPv6</a:t>
            </a:r>
            <a:endParaRPr lang="en-US"/>
          </a:p>
        </p:txBody>
      </p:sp>
      <p:sp>
        <p:nvSpPr>
          <p:cNvPr id="3" name="Content Placeholder 2"/>
          <p:cNvSpPr>
            <a:spLocks noGrp="1"/>
          </p:cNvSpPr>
          <p:nvPr>
            <p:ph idx="1"/>
          </p:nvPr>
        </p:nvSpPr>
        <p:spPr/>
        <p:txBody>
          <a:bodyPr>
            <a:normAutofit/>
          </a:bodyPr>
          <a:lstStyle/>
          <a:p>
            <a:r>
              <a:rPr lang="en-US" err="1"/>
              <a:t>Kromě</a:t>
            </a:r>
            <a:r>
              <a:rPr lang="en-US"/>
              <a:t> </a:t>
            </a:r>
            <a:r>
              <a:rPr lang="en-US" err="1"/>
              <a:t>již</a:t>
            </a:r>
            <a:r>
              <a:rPr lang="en-US"/>
              <a:t> </a:t>
            </a:r>
            <a:r>
              <a:rPr lang="en-US" err="1"/>
              <a:t>výše</a:t>
            </a:r>
            <a:r>
              <a:rPr lang="en-US"/>
              <a:t> </a:t>
            </a:r>
            <a:r>
              <a:rPr lang="en-US" err="1"/>
              <a:t>popsaných</a:t>
            </a:r>
            <a:r>
              <a:rPr lang="en-US"/>
              <a:t> </a:t>
            </a:r>
            <a:r>
              <a:rPr lang="en-US" err="1"/>
              <a:t>způsobů</a:t>
            </a:r>
            <a:r>
              <a:rPr lang="en-US"/>
              <a:t> </a:t>
            </a:r>
            <a:r>
              <a:rPr lang="en-US" err="1"/>
              <a:t>ochrany</a:t>
            </a:r>
            <a:r>
              <a:rPr lang="en-US"/>
              <a:t> </a:t>
            </a:r>
            <a:r>
              <a:rPr lang="en-US" err="1"/>
              <a:t>lze</a:t>
            </a:r>
            <a:r>
              <a:rPr lang="en-US"/>
              <a:t> v </a:t>
            </a:r>
            <a:r>
              <a:rPr lang="en-US" err="1"/>
              <a:t>případě</a:t>
            </a:r>
            <a:r>
              <a:rPr lang="en-US"/>
              <a:t> </a:t>
            </a:r>
            <a:r>
              <a:rPr lang="en-US" err="1"/>
              <a:t>vzdálené</a:t>
            </a:r>
            <a:r>
              <a:rPr lang="en-US"/>
              <a:t> </a:t>
            </a:r>
            <a:r>
              <a:rPr lang="en-US" err="1"/>
              <a:t>varianty</a:t>
            </a:r>
            <a:r>
              <a:rPr lang="en-US"/>
              <a:t> </a:t>
            </a:r>
            <a:r>
              <a:rPr lang="en-US" err="1"/>
              <a:t>útoku</a:t>
            </a:r>
            <a:r>
              <a:rPr lang="en-US"/>
              <a:t> </a:t>
            </a:r>
            <a:r>
              <a:rPr lang="en-US" err="1"/>
              <a:t>na</a:t>
            </a:r>
            <a:r>
              <a:rPr lang="en-US"/>
              <a:t> cache</a:t>
            </a:r>
            <a:r>
              <a:rPr lang="cs-CZ"/>
              <a:t> </a:t>
            </a:r>
            <a:r>
              <a:rPr lang="en-US" err="1"/>
              <a:t>sousedů</a:t>
            </a:r>
            <a:r>
              <a:rPr lang="en-US"/>
              <a:t> </a:t>
            </a:r>
            <a:r>
              <a:rPr lang="en-US" err="1"/>
              <a:t>využít</a:t>
            </a:r>
            <a:r>
              <a:rPr lang="en-US"/>
              <a:t> </a:t>
            </a:r>
            <a:r>
              <a:rPr lang="en-US" err="1"/>
              <a:t>i</a:t>
            </a:r>
            <a:r>
              <a:rPr lang="en-US"/>
              <a:t> </a:t>
            </a:r>
            <a:r>
              <a:rPr lang="en-US" err="1"/>
              <a:t>možnosti</a:t>
            </a:r>
            <a:r>
              <a:rPr lang="en-US"/>
              <a:t> </a:t>
            </a:r>
            <a:r>
              <a:rPr lang="en-US" err="1"/>
              <a:t>filtrace</a:t>
            </a:r>
            <a:r>
              <a:rPr lang="en-US"/>
              <a:t> </a:t>
            </a:r>
            <a:r>
              <a:rPr lang="en-US" err="1"/>
              <a:t>podle</a:t>
            </a:r>
            <a:r>
              <a:rPr lang="en-US"/>
              <a:t> IP </a:t>
            </a:r>
            <a:r>
              <a:rPr lang="en-US" err="1"/>
              <a:t>adresy</a:t>
            </a:r>
            <a:r>
              <a:rPr lang="en-US"/>
              <a:t>. </a:t>
            </a:r>
            <a:endParaRPr lang="cs-CZ"/>
          </a:p>
          <a:p>
            <a:r>
              <a:rPr lang="en-US" err="1"/>
              <a:t>Díky</a:t>
            </a:r>
            <a:r>
              <a:rPr lang="en-US"/>
              <a:t> </a:t>
            </a:r>
            <a:r>
              <a:rPr lang="en-US" err="1"/>
              <a:t>znalosti</a:t>
            </a:r>
            <a:r>
              <a:rPr lang="en-US"/>
              <a:t> IPv6 </a:t>
            </a:r>
            <a:r>
              <a:rPr lang="en-US" err="1"/>
              <a:t>adres</a:t>
            </a:r>
            <a:r>
              <a:rPr lang="en-US"/>
              <a:t> </a:t>
            </a:r>
            <a:r>
              <a:rPr lang="en-US" err="1"/>
              <a:t>ve</a:t>
            </a:r>
            <a:r>
              <a:rPr lang="en-US"/>
              <a:t> </a:t>
            </a:r>
            <a:r>
              <a:rPr lang="en-US" err="1"/>
              <a:t>spravované</a:t>
            </a:r>
            <a:r>
              <a:rPr lang="cs-CZ"/>
              <a:t> </a:t>
            </a:r>
            <a:r>
              <a:rPr lang="en-US" err="1"/>
              <a:t>počítačové</a:t>
            </a:r>
            <a:r>
              <a:rPr lang="en-US"/>
              <a:t> </a:t>
            </a:r>
            <a:r>
              <a:rPr lang="en-US" err="1"/>
              <a:t>síti</a:t>
            </a:r>
            <a:r>
              <a:rPr lang="en-US"/>
              <a:t> je </a:t>
            </a:r>
            <a:r>
              <a:rPr lang="en-US" err="1"/>
              <a:t>možné</a:t>
            </a:r>
            <a:r>
              <a:rPr lang="en-US"/>
              <a:t> </a:t>
            </a:r>
            <a:r>
              <a:rPr lang="en-US" err="1"/>
              <a:t>pakety</a:t>
            </a:r>
            <a:r>
              <a:rPr lang="en-US"/>
              <a:t> </a:t>
            </a:r>
            <a:r>
              <a:rPr lang="en-US" err="1"/>
              <a:t>na</a:t>
            </a:r>
            <a:r>
              <a:rPr lang="en-US"/>
              <a:t> </a:t>
            </a:r>
            <a:r>
              <a:rPr lang="en-US" err="1"/>
              <a:t>vstupu</a:t>
            </a:r>
            <a:r>
              <a:rPr lang="en-US"/>
              <a:t> </a:t>
            </a:r>
            <a:r>
              <a:rPr lang="en-US" err="1"/>
              <a:t>filtrovat</a:t>
            </a:r>
            <a:r>
              <a:rPr lang="en-US"/>
              <a:t> a </a:t>
            </a:r>
            <a:r>
              <a:rPr lang="en-US" err="1"/>
              <a:t>ty</a:t>
            </a:r>
            <a:r>
              <a:rPr lang="en-US"/>
              <a:t>, </a:t>
            </a:r>
            <a:r>
              <a:rPr lang="en-US" err="1"/>
              <a:t>které</a:t>
            </a:r>
            <a:r>
              <a:rPr lang="en-US"/>
              <a:t> </a:t>
            </a:r>
            <a:r>
              <a:rPr lang="en-US" err="1"/>
              <a:t>směřují</a:t>
            </a:r>
            <a:r>
              <a:rPr lang="en-US"/>
              <a:t> </a:t>
            </a:r>
            <a:r>
              <a:rPr lang="en-US" err="1"/>
              <a:t>na</a:t>
            </a:r>
            <a:r>
              <a:rPr lang="en-US"/>
              <a:t> </a:t>
            </a:r>
            <a:r>
              <a:rPr lang="en-US" err="1"/>
              <a:t>neexistující</a:t>
            </a:r>
            <a:r>
              <a:rPr lang="en-US"/>
              <a:t> </a:t>
            </a:r>
            <a:r>
              <a:rPr lang="en-US" err="1"/>
              <a:t>adresy</a:t>
            </a:r>
            <a:r>
              <a:rPr lang="en-US"/>
              <a:t>,</a:t>
            </a:r>
            <a:r>
              <a:rPr lang="cs-CZ"/>
              <a:t> </a:t>
            </a:r>
            <a:r>
              <a:rPr lang="en-US" err="1"/>
              <a:t>rovnou</a:t>
            </a:r>
            <a:r>
              <a:rPr lang="en-US"/>
              <a:t> </a:t>
            </a:r>
            <a:r>
              <a:rPr lang="en-US" err="1"/>
              <a:t>zahodit</a:t>
            </a:r>
            <a:r>
              <a:rPr lang="en-US"/>
              <a:t>.</a:t>
            </a:r>
            <a:endParaRPr lang="cs-CZ"/>
          </a:p>
          <a:p>
            <a:r>
              <a:rPr lang="en-US" err="1"/>
              <a:t>Další</a:t>
            </a:r>
            <a:r>
              <a:rPr lang="en-US"/>
              <a:t> </a:t>
            </a:r>
            <a:r>
              <a:rPr lang="en-US" err="1"/>
              <a:t>problém</a:t>
            </a:r>
            <a:r>
              <a:rPr lang="en-US"/>
              <a:t>, se </a:t>
            </a:r>
            <a:r>
              <a:rPr lang="en-US" err="1"/>
              <a:t>kterým</a:t>
            </a:r>
            <a:r>
              <a:rPr lang="en-US"/>
              <a:t> se </a:t>
            </a:r>
            <a:r>
              <a:rPr lang="en-US" err="1"/>
              <a:t>mohou</a:t>
            </a:r>
            <a:r>
              <a:rPr lang="en-US"/>
              <a:t> </a:t>
            </a:r>
            <a:r>
              <a:rPr lang="en-US" err="1"/>
              <a:t>správci</a:t>
            </a:r>
            <a:r>
              <a:rPr lang="en-US"/>
              <a:t> </a:t>
            </a:r>
            <a:r>
              <a:rPr lang="en-US" err="1"/>
              <a:t>počítačových</a:t>
            </a:r>
            <a:r>
              <a:rPr lang="en-US"/>
              <a:t> </a:t>
            </a:r>
            <a:r>
              <a:rPr lang="en-US" err="1"/>
              <a:t>sítí</a:t>
            </a:r>
            <a:r>
              <a:rPr lang="en-US"/>
              <a:t> </a:t>
            </a:r>
            <a:r>
              <a:rPr lang="en-US" err="1"/>
              <a:t>setkat</a:t>
            </a:r>
            <a:r>
              <a:rPr lang="en-US"/>
              <a:t>, je </a:t>
            </a:r>
            <a:r>
              <a:rPr lang="en-US" err="1"/>
              <a:t>zneužití</a:t>
            </a:r>
            <a:r>
              <a:rPr lang="en-US"/>
              <a:t> </a:t>
            </a:r>
            <a:r>
              <a:rPr lang="en-US" err="1"/>
              <a:t>protokolu</a:t>
            </a:r>
            <a:r>
              <a:rPr lang="en-US"/>
              <a:t> </a:t>
            </a:r>
            <a:r>
              <a:rPr lang="en-US" b="1"/>
              <a:t>MLD</a:t>
            </a:r>
            <a:r>
              <a:rPr lang="cs-CZ" b="1"/>
              <a:t> </a:t>
            </a:r>
            <a:r>
              <a:rPr lang="en-US" b="1"/>
              <a:t>(Multicast Listener Discovery) </a:t>
            </a:r>
            <a:r>
              <a:rPr lang="en-US"/>
              <a:t>k </a:t>
            </a:r>
            <a:r>
              <a:rPr lang="en-US" err="1"/>
              <a:t>přetížení</a:t>
            </a:r>
            <a:r>
              <a:rPr lang="en-US"/>
              <a:t> </a:t>
            </a:r>
            <a:r>
              <a:rPr lang="en-US" err="1"/>
              <a:t>síťových</a:t>
            </a:r>
            <a:r>
              <a:rPr lang="en-US"/>
              <a:t> </a:t>
            </a:r>
            <a:r>
              <a:rPr lang="en-US" err="1"/>
              <a:t>počítačových</a:t>
            </a:r>
            <a:r>
              <a:rPr lang="en-US"/>
              <a:t> </a:t>
            </a:r>
            <a:r>
              <a:rPr lang="en-US" err="1"/>
              <a:t>systémů</a:t>
            </a:r>
            <a:r>
              <a:rPr lang="en-US"/>
              <a:t>, </a:t>
            </a:r>
            <a:r>
              <a:rPr lang="en-US" err="1"/>
              <a:t>ke</a:t>
            </a:r>
            <a:r>
              <a:rPr lang="en-US"/>
              <a:t> </a:t>
            </a:r>
            <a:r>
              <a:rPr lang="en-US" err="1"/>
              <a:t>zjištění</a:t>
            </a:r>
            <a:r>
              <a:rPr lang="en-US"/>
              <a:t>, </a:t>
            </a:r>
            <a:r>
              <a:rPr lang="en-US" err="1"/>
              <a:t>které</a:t>
            </a:r>
            <a:r>
              <a:rPr lang="cs-CZ"/>
              <a:t> </a:t>
            </a:r>
            <a:r>
              <a:rPr lang="en-US"/>
              <a:t>IP </a:t>
            </a:r>
            <a:r>
              <a:rPr lang="en-US" err="1"/>
              <a:t>adresy</a:t>
            </a:r>
            <a:r>
              <a:rPr lang="en-US"/>
              <a:t> </a:t>
            </a:r>
            <a:r>
              <a:rPr lang="en-US" err="1"/>
              <a:t>jsou</a:t>
            </a:r>
            <a:r>
              <a:rPr lang="en-US"/>
              <a:t> v </a:t>
            </a:r>
            <a:r>
              <a:rPr lang="en-US" err="1"/>
              <a:t>síti</a:t>
            </a:r>
            <a:r>
              <a:rPr lang="en-US"/>
              <a:t> </a:t>
            </a:r>
            <a:r>
              <a:rPr lang="en-US" err="1"/>
              <a:t>aktivní</a:t>
            </a:r>
            <a:r>
              <a:rPr lang="en-US"/>
              <a:t>, </a:t>
            </a:r>
            <a:r>
              <a:rPr lang="en-US" err="1"/>
              <a:t>případně</a:t>
            </a:r>
            <a:r>
              <a:rPr lang="en-US"/>
              <a:t> k </a:t>
            </a:r>
            <a:r>
              <a:rPr lang="en-US" err="1"/>
              <a:t>DoS</a:t>
            </a:r>
            <a:r>
              <a:rPr lang="en-US"/>
              <a:t> </a:t>
            </a:r>
            <a:r>
              <a:rPr lang="en-US" err="1"/>
              <a:t>útoku</a:t>
            </a:r>
            <a:r>
              <a:rPr lang="en-US"/>
              <a:t> </a:t>
            </a:r>
            <a:r>
              <a:rPr lang="en-US" err="1"/>
              <a:t>na</a:t>
            </a:r>
            <a:r>
              <a:rPr lang="en-US"/>
              <a:t> multicast </a:t>
            </a:r>
            <a:r>
              <a:rPr lang="en-US" err="1"/>
              <a:t>provoz</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208</a:t>
            </a:fld>
            <a:endParaRPr lang="cs-CZ"/>
          </a:p>
        </p:txBody>
      </p:sp>
    </p:spTree>
    <p:extLst>
      <p:ext uri="{BB962C8B-B14F-4D97-AF65-F5344CB8AC3E}">
        <p14:creationId xmlns:p14="http://schemas.microsoft.com/office/powerpoint/2010/main" val="1463372975"/>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IPv6</a:t>
            </a:r>
            <a:endParaRPr lang="en-US"/>
          </a:p>
        </p:txBody>
      </p:sp>
      <p:sp>
        <p:nvSpPr>
          <p:cNvPr id="3" name="Content Placeholder 2"/>
          <p:cNvSpPr>
            <a:spLocks noGrp="1"/>
          </p:cNvSpPr>
          <p:nvPr>
            <p:ph idx="1"/>
          </p:nvPr>
        </p:nvSpPr>
        <p:spPr/>
        <p:txBody>
          <a:bodyPr/>
          <a:lstStyle/>
          <a:p>
            <a:r>
              <a:rPr lang="en-US"/>
              <a:t>K </a:t>
            </a:r>
            <a:r>
              <a:rPr lang="en-US" err="1"/>
              <a:t>otestování</a:t>
            </a:r>
            <a:r>
              <a:rPr lang="en-US"/>
              <a:t> </a:t>
            </a:r>
            <a:r>
              <a:rPr lang="en-US" err="1"/>
              <a:t>odolnosti</a:t>
            </a:r>
            <a:r>
              <a:rPr lang="en-US"/>
              <a:t> </a:t>
            </a:r>
            <a:r>
              <a:rPr lang="en-US" err="1"/>
              <a:t>počítačové</a:t>
            </a:r>
            <a:r>
              <a:rPr lang="en-US"/>
              <a:t> </a:t>
            </a:r>
            <a:r>
              <a:rPr lang="en-US" err="1"/>
              <a:t>sítě</a:t>
            </a:r>
            <a:r>
              <a:rPr lang="en-US"/>
              <a:t> a </a:t>
            </a:r>
            <a:r>
              <a:rPr lang="en-US" err="1"/>
              <a:t>síťových</a:t>
            </a:r>
            <a:r>
              <a:rPr lang="en-US"/>
              <a:t> </a:t>
            </a:r>
            <a:r>
              <a:rPr lang="en-US" err="1"/>
              <a:t>počítačových</a:t>
            </a:r>
            <a:r>
              <a:rPr lang="en-US"/>
              <a:t> </a:t>
            </a:r>
            <a:r>
              <a:rPr lang="en-US" err="1"/>
              <a:t>systémů</a:t>
            </a:r>
            <a:r>
              <a:rPr lang="en-US"/>
              <a:t> </a:t>
            </a:r>
            <a:r>
              <a:rPr lang="en-US" err="1"/>
              <a:t>vůči</a:t>
            </a:r>
            <a:r>
              <a:rPr lang="en-US"/>
              <a:t> </a:t>
            </a:r>
            <a:r>
              <a:rPr lang="en-US" err="1"/>
              <a:t>známým</a:t>
            </a:r>
            <a:r>
              <a:rPr lang="en-US"/>
              <a:t> </a:t>
            </a:r>
            <a:r>
              <a:rPr lang="en-US" err="1"/>
              <a:t>útokům</a:t>
            </a:r>
            <a:r>
              <a:rPr lang="en-US"/>
              <a:t> </a:t>
            </a:r>
            <a:r>
              <a:rPr lang="en-US" err="1"/>
              <a:t>na</a:t>
            </a:r>
            <a:r>
              <a:rPr lang="cs-CZ"/>
              <a:t> </a:t>
            </a:r>
            <a:r>
              <a:rPr lang="en-US"/>
              <a:t>IPv6 </a:t>
            </a:r>
            <a:r>
              <a:rPr lang="en-US" err="1"/>
              <a:t>lze</a:t>
            </a:r>
            <a:r>
              <a:rPr lang="en-US"/>
              <a:t> </a:t>
            </a:r>
            <a:r>
              <a:rPr lang="en-US" err="1"/>
              <a:t>využít</a:t>
            </a:r>
            <a:r>
              <a:rPr lang="en-US"/>
              <a:t> </a:t>
            </a:r>
            <a:r>
              <a:rPr lang="en-US" err="1"/>
              <a:t>nástroj</a:t>
            </a:r>
            <a:r>
              <a:rPr lang="en-US"/>
              <a:t> pro </a:t>
            </a:r>
            <a:r>
              <a:rPr lang="en-US" err="1"/>
              <a:t>penetrační</a:t>
            </a:r>
            <a:r>
              <a:rPr lang="en-US"/>
              <a:t> </a:t>
            </a:r>
            <a:r>
              <a:rPr lang="en-US" err="1"/>
              <a:t>testování</a:t>
            </a:r>
            <a:r>
              <a:rPr lang="en-US"/>
              <a:t> </a:t>
            </a:r>
            <a:r>
              <a:rPr lang="en-US" b="1" err="1"/>
              <a:t>Metasploit</a:t>
            </a:r>
            <a:r>
              <a:rPr lang="en-US"/>
              <a:t>, </a:t>
            </a:r>
            <a:r>
              <a:rPr lang="en-US" err="1"/>
              <a:t>nebo</a:t>
            </a:r>
            <a:r>
              <a:rPr lang="en-US"/>
              <a:t> </a:t>
            </a:r>
            <a:r>
              <a:rPr lang="en-US" err="1"/>
              <a:t>přímo</a:t>
            </a:r>
            <a:r>
              <a:rPr lang="en-US"/>
              <a:t> </a:t>
            </a:r>
            <a:r>
              <a:rPr lang="en-US" err="1"/>
              <a:t>balíky</a:t>
            </a:r>
            <a:r>
              <a:rPr lang="en-US"/>
              <a:t> </a:t>
            </a:r>
            <a:r>
              <a:rPr lang="en-US" err="1"/>
              <a:t>nástrojů</a:t>
            </a:r>
            <a:r>
              <a:rPr lang="en-US"/>
              <a:t> </a:t>
            </a:r>
            <a:r>
              <a:rPr lang="en-US" b="1"/>
              <a:t>THCIPV6</a:t>
            </a:r>
            <a:r>
              <a:rPr lang="cs-CZ"/>
              <a:t> </a:t>
            </a:r>
            <a:r>
              <a:rPr lang="en-US"/>
              <a:t>a </a:t>
            </a:r>
            <a:r>
              <a:rPr lang="en-US" b="1"/>
              <a:t>SI6 Networks IPv6 Toolkit</a:t>
            </a:r>
            <a:r>
              <a:rPr lang="en-US"/>
              <a:t>.</a:t>
            </a:r>
            <a:endParaRPr lang="cs-CZ"/>
          </a:p>
          <a:p>
            <a:endParaRPr lang="cs-CZ"/>
          </a:p>
          <a:p>
            <a:r>
              <a:rPr lang="cs-CZ"/>
              <a:t>URL: </a:t>
            </a:r>
            <a:r>
              <a:rPr lang="en-US">
                <a:hlinkClick r:id="rId2"/>
              </a:rPr>
              <a:t>https://www.metasploit.com/</a:t>
            </a:r>
            <a:r>
              <a:rPr lang="cs-CZ"/>
              <a:t> (Open Source)</a:t>
            </a:r>
          </a:p>
          <a:p>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209</a:t>
            </a:fld>
            <a:endParaRPr lang="cs-CZ"/>
          </a:p>
        </p:txBody>
      </p:sp>
      <p:pic>
        <p:nvPicPr>
          <p:cNvPr id="6" name="Picture 5"/>
          <p:cNvPicPr>
            <a:picLocks noChangeAspect="1"/>
          </p:cNvPicPr>
          <p:nvPr/>
        </p:nvPicPr>
        <p:blipFill>
          <a:blip r:embed="rId3"/>
          <a:stretch>
            <a:fillRect/>
          </a:stretch>
        </p:blipFill>
        <p:spPr>
          <a:xfrm>
            <a:off x="8182708" y="3312441"/>
            <a:ext cx="2954215" cy="2954215"/>
          </a:xfrm>
          <a:prstGeom prst="rect">
            <a:avLst/>
          </a:prstGeom>
        </p:spPr>
      </p:pic>
    </p:spTree>
    <p:extLst>
      <p:ext uri="{BB962C8B-B14F-4D97-AF65-F5344CB8AC3E}">
        <p14:creationId xmlns:p14="http://schemas.microsoft.com/office/powerpoint/2010/main" val="845254480"/>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US" b="1" err="1"/>
              <a:t>Ochrana</a:t>
            </a:r>
            <a:r>
              <a:rPr lang="en-US" b="1"/>
              <a:t> </a:t>
            </a:r>
            <a:r>
              <a:rPr lang="en-US" b="1" err="1"/>
              <a:t>na</a:t>
            </a:r>
            <a:r>
              <a:rPr lang="en-US" b="1"/>
              <a:t> </a:t>
            </a:r>
            <a:r>
              <a:rPr lang="en-US" b="1" err="1"/>
              <a:t>rozhraní</a:t>
            </a:r>
            <a:r>
              <a:rPr lang="en-US" b="1"/>
              <a:t> </a:t>
            </a:r>
            <a:r>
              <a:rPr lang="en-US" b="1" err="1"/>
              <a:t>sítí</a:t>
            </a:r>
            <a:r>
              <a:rPr lang="cs-CZ" b="1"/>
              <a:t> - </a:t>
            </a:r>
            <a:r>
              <a:rPr lang="en-US" b="1"/>
              <a:t>Access Control List (ACL)</a:t>
            </a:r>
          </a:p>
        </p:txBody>
      </p:sp>
      <p:sp>
        <p:nvSpPr>
          <p:cNvPr id="4" name="Date Placeholder 3"/>
          <p:cNvSpPr>
            <a:spLocks noGrp="1"/>
          </p:cNvSpPr>
          <p:nvPr>
            <p:ph type="dt" sz="half" idx="10"/>
          </p:nvPr>
        </p:nvSpPr>
        <p:spPr>
          <a:xfrm>
            <a:off x="838200" y="6356350"/>
            <a:ext cx="2743200" cy="365125"/>
          </a:xfrm>
        </p:spPr>
        <p:txBody>
          <a:bodyPr anchor="ctr">
            <a:normAutofit/>
          </a:bodyPr>
          <a:lstStyle/>
          <a:p>
            <a:pPr>
              <a:spcAft>
                <a:spcPts val="600"/>
              </a:spcAft>
            </a:pPr>
            <a:r>
              <a:rPr lang="cs-CZ"/>
              <a:t>18.8.2022</a:t>
            </a:r>
          </a:p>
        </p:txBody>
      </p:sp>
      <p:sp>
        <p:nvSpPr>
          <p:cNvPr id="5" name="Slide Number Placeholder 4"/>
          <p:cNvSpPr>
            <a:spLocks noGrp="1"/>
          </p:cNvSpPr>
          <p:nvPr>
            <p:ph type="sldNum" sz="quarter" idx="12"/>
          </p:nvPr>
        </p:nvSpPr>
        <p:spPr>
          <a:xfrm>
            <a:off x="8610600" y="6356350"/>
            <a:ext cx="2743200" cy="365125"/>
          </a:xfrm>
        </p:spPr>
        <p:txBody>
          <a:bodyPr anchor="ctr">
            <a:normAutofit/>
          </a:bodyPr>
          <a:lstStyle/>
          <a:p>
            <a:pPr>
              <a:spcAft>
                <a:spcPts val="600"/>
              </a:spcAft>
            </a:pPr>
            <a:fld id="{AD9F5C5F-4392-49C5-81DD-37F176609E69}" type="slidenum">
              <a:rPr lang="cs-CZ" smtClean="0"/>
              <a:pPr>
                <a:spcAft>
                  <a:spcPts val="600"/>
                </a:spcAft>
              </a:pPr>
              <a:t>210</a:t>
            </a:fld>
            <a:endParaRPr lang="cs-CZ"/>
          </a:p>
        </p:txBody>
      </p:sp>
      <p:graphicFrame>
        <p:nvGraphicFramePr>
          <p:cNvPr id="7" name="Content Placeholder 2">
            <a:extLst>
              <a:ext uri="{FF2B5EF4-FFF2-40B4-BE49-F238E27FC236}">
                <a16:creationId xmlns:a16="http://schemas.microsoft.com/office/drawing/2014/main" id="{18D00DB1-A6F8-CB26-5073-850EAE6A4A60}"/>
              </a:ext>
            </a:extLst>
          </p:cNvPr>
          <p:cNvGraphicFramePr>
            <a:graphicFrameLocks noGrp="1"/>
          </p:cNvGraphicFramePr>
          <p:nvPr>
            <p:ph idx="1"/>
            <p:extLst>
              <p:ext uri="{D42A27DB-BD31-4B8C-83A1-F6EECF244321}">
                <p14:modId xmlns:p14="http://schemas.microsoft.com/office/powerpoint/2010/main" val="286252643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77560920"/>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err="1"/>
              <a:t>Ochrana</a:t>
            </a:r>
            <a:r>
              <a:rPr lang="en-US" b="1"/>
              <a:t> </a:t>
            </a:r>
            <a:r>
              <a:rPr lang="en-US" b="1" err="1"/>
              <a:t>na</a:t>
            </a:r>
            <a:r>
              <a:rPr lang="en-US" b="1"/>
              <a:t> </a:t>
            </a:r>
            <a:r>
              <a:rPr lang="en-US" b="1" err="1"/>
              <a:t>rozhraní</a:t>
            </a:r>
            <a:r>
              <a:rPr lang="en-US" b="1"/>
              <a:t> </a:t>
            </a:r>
            <a:r>
              <a:rPr lang="en-US" b="1" err="1"/>
              <a:t>sítí</a:t>
            </a:r>
            <a:r>
              <a:rPr lang="cs-CZ" b="1"/>
              <a:t> - Firewall</a:t>
            </a:r>
            <a:endParaRPr lang="en-US"/>
          </a:p>
        </p:txBody>
      </p:sp>
      <p:sp>
        <p:nvSpPr>
          <p:cNvPr id="3" name="Content Placeholder 2"/>
          <p:cNvSpPr>
            <a:spLocks noGrp="1"/>
          </p:cNvSpPr>
          <p:nvPr>
            <p:ph idx="1"/>
          </p:nvPr>
        </p:nvSpPr>
        <p:spPr/>
        <p:txBody>
          <a:bodyPr/>
          <a:lstStyle/>
          <a:p>
            <a:r>
              <a:rPr lang="en-US" err="1"/>
              <a:t>Smyslem</a:t>
            </a:r>
            <a:r>
              <a:rPr lang="en-US"/>
              <a:t> </a:t>
            </a:r>
            <a:r>
              <a:rPr lang="en-US" err="1"/>
              <a:t>firewallu</a:t>
            </a:r>
            <a:r>
              <a:rPr lang="en-US"/>
              <a:t> je </a:t>
            </a:r>
            <a:r>
              <a:rPr lang="en-US" err="1"/>
              <a:t>zabránit</a:t>
            </a:r>
            <a:r>
              <a:rPr lang="en-US"/>
              <a:t> </a:t>
            </a:r>
            <a:r>
              <a:rPr lang="en-US" err="1"/>
              <a:t>nechtěné</a:t>
            </a:r>
            <a:r>
              <a:rPr lang="en-US"/>
              <a:t> </a:t>
            </a:r>
            <a:r>
              <a:rPr lang="en-US" err="1"/>
              <a:t>síťové</a:t>
            </a:r>
            <a:r>
              <a:rPr lang="en-US"/>
              <a:t> </a:t>
            </a:r>
            <a:r>
              <a:rPr lang="en-US" err="1"/>
              <a:t>komunikaci</a:t>
            </a:r>
            <a:r>
              <a:rPr lang="en-US"/>
              <a:t> </a:t>
            </a:r>
            <a:r>
              <a:rPr lang="en-US" err="1"/>
              <a:t>mezi</a:t>
            </a:r>
            <a:r>
              <a:rPr lang="en-US"/>
              <a:t> </a:t>
            </a:r>
            <a:r>
              <a:rPr lang="en-US" err="1"/>
              <a:t>dvěma</a:t>
            </a:r>
            <a:r>
              <a:rPr lang="en-US"/>
              <a:t> </a:t>
            </a:r>
            <a:r>
              <a:rPr lang="en-US" err="1"/>
              <a:t>různými</a:t>
            </a:r>
            <a:r>
              <a:rPr lang="en-US"/>
              <a:t> </a:t>
            </a:r>
            <a:r>
              <a:rPr lang="en-US" err="1"/>
              <a:t>zónami</a:t>
            </a:r>
            <a:r>
              <a:rPr lang="en-US"/>
              <a:t>, </a:t>
            </a:r>
            <a:r>
              <a:rPr lang="en-US" err="1"/>
              <a:t>kterými</a:t>
            </a:r>
            <a:r>
              <a:rPr lang="cs-CZ"/>
              <a:t> </a:t>
            </a:r>
            <a:r>
              <a:rPr lang="en-US" err="1"/>
              <a:t>mohou</a:t>
            </a:r>
            <a:r>
              <a:rPr lang="en-US"/>
              <a:t> </a:t>
            </a:r>
            <a:r>
              <a:rPr lang="en-US" err="1"/>
              <a:t>být</a:t>
            </a:r>
            <a:r>
              <a:rPr lang="en-US"/>
              <a:t> </a:t>
            </a:r>
            <a:r>
              <a:rPr lang="en-US" err="1"/>
              <a:t>dvě</a:t>
            </a:r>
            <a:r>
              <a:rPr lang="en-US"/>
              <a:t> </a:t>
            </a:r>
            <a:r>
              <a:rPr lang="en-US" err="1"/>
              <a:t>či</a:t>
            </a:r>
            <a:r>
              <a:rPr lang="en-US"/>
              <a:t> </a:t>
            </a:r>
            <a:r>
              <a:rPr lang="en-US" err="1"/>
              <a:t>více</a:t>
            </a:r>
            <a:r>
              <a:rPr lang="en-US"/>
              <a:t> </a:t>
            </a:r>
            <a:r>
              <a:rPr lang="en-US" err="1"/>
              <a:t>různých</a:t>
            </a:r>
            <a:r>
              <a:rPr lang="en-US"/>
              <a:t> </a:t>
            </a:r>
            <a:r>
              <a:rPr lang="en-US" err="1"/>
              <a:t>počítačových</a:t>
            </a:r>
            <a:r>
              <a:rPr lang="en-US"/>
              <a:t> </a:t>
            </a:r>
            <a:r>
              <a:rPr lang="en-US" err="1"/>
              <a:t>sítí</a:t>
            </a:r>
            <a:r>
              <a:rPr lang="en-US"/>
              <a:t>, </a:t>
            </a:r>
            <a:r>
              <a:rPr lang="en-US" err="1"/>
              <a:t>nebo</a:t>
            </a:r>
            <a:r>
              <a:rPr lang="en-US"/>
              <a:t> </a:t>
            </a:r>
            <a:r>
              <a:rPr lang="en-US" err="1"/>
              <a:t>rozhraní</a:t>
            </a:r>
            <a:r>
              <a:rPr lang="en-US"/>
              <a:t> </a:t>
            </a:r>
            <a:r>
              <a:rPr lang="en-US" err="1"/>
              <a:t>sítě</a:t>
            </a:r>
            <a:r>
              <a:rPr lang="en-US"/>
              <a:t> a </a:t>
            </a:r>
            <a:r>
              <a:rPr lang="en-US" err="1"/>
              <a:t>koncového</a:t>
            </a:r>
            <a:r>
              <a:rPr lang="en-US"/>
              <a:t> </a:t>
            </a:r>
            <a:r>
              <a:rPr lang="en-US" err="1"/>
              <a:t>počítačového</a:t>
            </a:r>
            <a:r>
              <a:rPr lang="cs-CZ"/>
              <a:t> </a:t>
            </a:r>
            <a:r>
              <a:rPr lang="en-US" err="1"/>
              <a:t>systému</a:t>
            </a:r>
            <a:r>
              <a:rPr lang="en-US"/>
              <a:t>.</a:t>
            </a:r>
            <a:endParaRPr lang="cs-CZ"/>
          </a:p>
          <a:p>
            <a:r>
              <a:rPr lang="en-US" err="1"/>
              <a:t>Rozhodnutí</a:t>
            </a:r>
            <a:r>
              <a:rPr lang="en-US"/>
              <a:t>, </a:t>
            </a:r>
            <a:r>
              <a:rPr lang="en-US" err="1"/>
              <a:t>jaká</a:t>
            </a:r>
            <a:r>
              <a:rPr lang="en-US"/>
              <a:t> </a:t>
            </a:r>
            <a:r>
              <a:rPr lang="en-US" err="1"/>
              <a:t>komunikace</a:t>
            </a:r>
            <a:r>
              <a:rPr lang="en-US"/>
              <a:t> </a:t>
            </a:r>
            <a:r>
              <a:rPr lang="en-US" err="1"/>
              <a:t>bude</a:t>
            </a:r>
            <a:r>
              <a:rPr lang="en-US"/>
              <a:t> </a:t>
            </a:r>
            <a:r>
              <a:rPr lang="en-US" err="1"/>
              <a:t>povolena</a:t>
            </a:r>
            <a:r>
              <a:rPr lang="en-US"/>
              <a:t> </a:t>
            </a:r>
            <a:r>
              <a:rPr lang="en-US" err="1"/>
              <a:t>či</a:t>
            </a:r>
            <a:r>
              <a:rPr lang="en-US"/>
              <a:t> </a:t>
            </a:r>
            <a:r>
              <a:rPr lang="en-US" err="1"/>
              <a:t>zakázána</a:t>
            </a:r>
            <a:r>
              <a:rPr lang="en-US"/>
              <a:t> se </a:t>
            </a:r>
            <a:r>
              <a:rPr lang="en-US" err="1"/>
              <a:t>řídí</a:t>
            </a:r>
            <a:r>
              <a:rPr lang="en-US"/>
              <a:t> </a:t>
            </a:r>
            <a:r>
              <a:rPr lang="en-US" err="1"/>
              <a:t>bezpečnostní</a:t>
            </a:r>
            <a:r>
              <a:rPr lang="en-US"/>
              <a:t> </a:t>
            </a:r>
            <a:r>
              <a:rPr lang="en-US" err="1"/>
              <a:t>politikou</a:t>
            </a:r>
            <a:r>
              <a:rPr lang="en-US"/>
              <a:t>, </a:t>
            </a:r>
            <a:r>
              <a:rPr lang="en-US" err="1"/>
              <a:t>jejíž</a:t>
            </a:r>
            <a:r>
              <a:rPr lang="cs-CZ"/>
              <a:t> </a:t>
            </a:r>
            <a:r>
              <a:rPr lang="en-US" err="1"/>
              <a:t>pravidla</a:t>
            </a:r>
            <a:r>
              <a:rPr lang="en-US"/>
              <a:t> </a:t>
            </a:r>
            <a:r>
              <a:rPr lang="en-US" err="1"/>
              <a:t>jsou</a:t>
            </a:r>
            <a:r>
              <a:rPr lang="en-US"/>
              <a:t> </a:t>
            </a:r>
            <a:r>
              <a:rPr lang="en-US" err="1"/>
              <a:t>aplikována</a:t>
            </a:r>
            <a:r>
              <a:rPr lang="en-US"/>
              <a:t> </a:t>
            </a:r>
            <a:r>
              <a:rPr lang="en-US" err="1"/>
              <a:t>na</a:t>
            </a:r>
            <a:r>
              <a:rPr lang="en-US"/>
              <a:t> </a:t>
            </a:r>
            <a:r>
              <a:rPr lang="en-US" err="1"/>
              <a:t>každý</a:t>
            </a:r>
            <a:r>
              <a:rPr lang="en-US"/>
              <a:t> </a:t>
            </a:r>
            <a:r>
              <a:rPr lang="en-US" err="1"/>
              <a:t>paket</a:t>
            </a:r>
            <a:r>
              <a:rPr lang="en-US"/>
              <a:t>, </a:t>
            </a:r>
            <a:r>
              <a:rPr lang="en-US" err="1"/>
              <a:t>procházející</a:t>
            </a:r>
            <a:r>
              <a:rPr lang="en-US"/>
              <a:t> </a:t>
            </a:r>
            <a:r>
              <a:rPr lang="en-US" err="1"/>
              <a:t>firewallem</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211</a:t>
            </a:fld>
            <a:endParaRPr lang="cs-CZ"/>
          </a:p>
        </p:txBody>
      </p:sp>
    </p:spTree>
    <p:extLst>
      <p:ext uri="{BB962C8B-B14F-4D97-AF65-F5344CB8AC3E}">
        <p14:creationId xmlns:p14="http://schemas.microsoft.com/office/powerpoint/2010/main" val="1041285543"/>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err="1"/>
              <a:t>Ochrana</a:t>
            </a:r>
            <a:r>
              <a:rPr lang="en-US" b="1"/>
              <a:t> </a:t>
            </a:r>
            <a:r>
              <a:rPr lang="en-US" b="1" err="1"/>
              <a:t>na</a:t>
            </a:r>
            <a:r>
              <a:rPr lang="en-US" b="1"/>
              <a:t> </a:t>
            </a:r>
            <a:r>
              <a:rPr lang="en-US" b="1" err="1"/>
              <a:t>rozhraní</a:t>
            </a:r>
            <a:r>
              <a:rPr lang="en-US" b="1"/>
              <a:t> </a:t>
            </a:r>
            <a:r>
              <a:rPr lang="en-US" b="1" err="1"/>
              <a:t>sítí</a:t>
            </a:r>
            <a:r>
              <a:rPr lang="cs-CZ" b="1"/>
              <a:t> - Firewall</a:t>
            </a:r>
            <a:endParaRPr lang="en-US"/>
          </a:p>
        </p:txBody>
      </p:sp>
      <p:sp>
        <p:nvSpPr>
          <p:cNvPr id="3" name="Content Placeholder 2"/>
          <p:cNvSpPr>
            <a:spLocks noGrp="1"/>
          </p:cNvSpPr>
          <p:nvPr>
            <p:ph idx="1"/>
          </p:nvPr>
        </p:nvSpPr>
        <p:spPr/>
        <p:txBody>
          <a:bodyPr/>
          <a:lstStyle/>
          <a:p>
            <a:r>
              <a:rPr lang="en-US" err="1"/>
              <a:t>Firewally</a:t>
            </a:r>
            <a:r>
              <a:rPr lang="en-US"/>
              <a:t> </a:t>
            </a:r>
            <a:r>
              <a:rPr lang="en-US" err="1"/>
              <a:t>lze</a:t>
            </a:r>
            <a:r>
              <a:rPr lang="en-US"/>
              <a:t> </a:t>
            </a:r>
            <a:r>
              <a:rPr lang="en-US" err="1"/>
              <a:t>rozdělit</a:t>
            </a:r>
            <a:r>
              <a:rPr lang="en-US"/>
              <a:t> </a:t>
            </a:r>
            <a:r>
              <a:rPr lang="en-US" b="1" err="1"/>
              <a:t>podle</a:t>
            </a:r>
            <a:r>
              <a:rPr lang="cs-CZ"/>
              <a:t> </a:t>
            </a:r>
            <a:r>
              <a:rPr lang="en-US" b="1" err="1"/>
              <a:t>způsobu</a:t>
            </a:r>
            <a:r>
              <a:rPr lang="en-US" b="1"/>
              <a:t> </a:t>
            </a:r>
            <a:r>
              <a:rPr lang="en-US" b="1" err="1"/>
              <a:t>jejich</a:t>
            </a:r>
            <a:r>
              <a:rPr lang="en-US" b="1"/>
              <a:t> </a:t>
            </a:r>
            <a:r>
              <a:rPr lang="en-US" b="1" err="1"/>
              <a:t>fungování</a:t>
            </a:r>
            <a:r>
              <a:rPr lang="en-US" b="1"/>
              <a:t> a </a:t>
            </a:r>
            <a:r>
              <a:rPr lang="en-US" b="1" err="1"/>
              <a:t>síťové</a:t>
            </a:r>
            <a:r>
              <a:rPr lang="en-US" b="1"/>
              <a:t> </a:t>
            </a:r>
            <a:r>
              <a:rPr lang="en-US" b="1" err="1"/>
              <a:t>vrstvy</a:t>
            </a:r>
            <a:r>
              <a:rPr lang="en-US"/>
              <a:t>, </a:t>
            </a:r>
            <a:r>
              <a:rPr lang="en-US" err="1"/>
              <a:t>kterou</a:t>
            </a:r>
            <a:r>
              <a:rPr lang="en-US"/>
              <a:t> </a:t>
            </a:r>
            <a:r>
              <a:rPr lang="en-US" err="1"/>
              <a:t>sledují</a:t>
            </a:r>
            <a:r>
              <a:rPr lang="en-US"/>
              <a:t>, </a:t>
            </a:r>
            <a:r>
              <a:rPr lang="en-US" err="1"/>
              <a:t>na</a:t>
            </a:r>
            <a:r>
              <a:rPr lang="en-US"/>
              <a:t>:</a:t>
            </a:r>
            <a:endParaRPr lang="cs-CZ"/>
          </a:p>
          <a:p>
            <a:pPr lvl="1"/>
            <a:r>
              <a:rPr lang="en-US" err="1"/>
              <a:t>paketové</a:t>
            </a:r>
            <a:r>
              <a:rPr lang="en-US"/>
              <a:t> </a:t>
            </a:r>
            <a:r>
              <a:rPr lang="en-US" err="1"/>
              <a:t>filtry</a:t>
            </a:r>
            <a:r>
              <a:rPr lang="en-US"/>
              <a:t>,</a:t>
            </a:r>
            <a:endParaRPr lang="cs-CZ"/>
          </a:p>
          <a:p>
            <a:pPr lvl="1"/>
            <a:r>
              <a:rPr lang="en-US" err="1"/>
              <a:t>stavové</a:t>
            </a:r>
            <a:r>
              <a:rPr lang="en-US"/>
              <a:t> </a:t>
            </a:r>
            <a:r>
              <a:rPr lang="en-US" err="1"/>
              <a:t>paketové</a:t>
            </a:r>
            <a:r>
              <a:rPr lang="en-US"/>
              <a:t> </a:t>
            </a:r>
            <a:r>
              <a:rPr lang="en-US" err="1"/>
              <a:t>filtry</a:t>
            </a:r>
            <a:r>
              <a:rPr lang="en-US"/>
              <a:t>.</a:t>
            </a:r>
            <a:endParaRPr lang="cs-CZ"/>
          </a:p>
          <a:p>
            <a:r>
              <a:rPr lang="cs-CZ"/>
              <a:t>Někdy se dále rozlišují stavové paketové filtry s deep packet inspection, či s kontrolou protokolů.</a:t>
            </a:r>
            <a:br>
              <a:rPr lang="en-US"/>
            </a:br>
            <a:br>
              <a:rPr lang="en-US"/>
            </a:b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212</a:t>
            </a:fld>
            <a:endParaRPr lang="cs-CZ"/>
          </a:p>
        </p:txBody>
      </p:sp>
    </p:spTree>
    <p:extLst>
      <p:ext uri="{BB962C8B-B14F-4D97-AF65-F5344CB8AC3E}">
        <p14:creationId xmlns:p14="http://schemas.microsoft.com/office/powerpoint/2010/main" val="3538525656"/>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err="1"/>
              <a:t>Ochrana</a:t>
            </a:r>
            <a:r>
              <a:rPr lang="en-US" b="1"/>
              <a:t> </a:t>
            </a:r>
            <a:r>
              <a:rPr lang="en-US" b="1" err="1"/>
              <a:t>na</a:t>
            </a:r>
            <a:r>
              <a:rPr lang="en-US" b="1"/>
              <a:t> </a:t>
            </a:r>
            <a:r>
              <a:rPr lang="en-US" b="1" err="1"/>
              <a:t>rozhraní</a:t>
            </a:r>
            <a:r>
              <a:rPr lang="en-US" b="1"/>
              <a:t> </a:t>
            </a:r>
            <a:r>
              <a:rPr lang="en-US" b="1" err="1"/>
              <a:t>sítí</a:t>
            </a:r>
            <a:r>
              <a:rPr lang="cs-CZ" b="1"/>
              <a:t> - Firewall</a:t>
            </a:r>
            <a:endParaRPr lang="en-US"/>
          </a:p>
        </p:txBody>
      </p:sp>
      <p:sp>
        <p:nvSpPr>
          <p:cNvPr id="3" name="Content Placeholder 2"/>
          <p:cNvSpPr>
            <a:spLocks noGrp="1"/>
          </p:cNvSpPr>
          <p:nvPr>
            <p:ph idx="1"/>
          </p:nvPr>
        </p:nvSpPr>
        <p:spPr/>
        <p:txBody>
          <a:bodyPr/>
          <a:lstStyle/>
          <a:p>
            <a:r>
              <a:rPr lang="en-US" err="1"/>
              <a:t>Firewally</a:t>
            </a:r>
            <a:r>
              <a:rPr lang="en-US"/>
              <a:t> </a:t>
            </a:r>
            <a:r>
              <a:rPr lang="en-US" err="1"/>
              <a:t>lze</a:t>
            </a:r>
            <a:r>
              <a:rPr lang="en-US"/>
              <a:t> </a:t>
            </a:r>
            <a:r>
              <a:rPr lang="en-US" err="1"/>
              <a:t>také</a:t>
            </a:r>
            <a:r>
              <a:rPr lang="en-US"/>
              <a:t> </a:t>
            </a:r>
            <a:r>
              <a:rPr lang="en-US" err="1"/>
              <a:t>rozdělit</a:t>
            </a:r>
            <a:r>
              <a:rPr lang="en-US"/>
              <a:t> </a:t>
            </a:r>
            <a:r>
              <a:rPr lang="en-US" err="1"/>
              <a:t>dle</a:t>
            </a:r>
            <a:r>
              <a:rPr lang="en-US"/>
              <a:t> </a:t>
            </a:r>
            <a:r>
              <a:rPr lang="en-US" err="1"/>
              <a:t>jejich</a:t>
            </a:r>
            <a:r>
              <a:rPr lang="en-US"/>
              <a:t> </a:t>
            </a:r>
            <a:r>
              <a:rPr lang="en-US" err="1"/>
              <a:t>určení</a:t>
            </a:r>
            <a:r>
              <a:rPr lang="en-US"/>
              <a:t> </a:t>
            </a:r>
            <a:r>
              <a:rPr lang="en-US" err="1"/>
              <a:t>na</a:t>
            </a:r>
            <a:r>
              <a:rPr lang="en-US"/>
              <a:t>:</a:t>
            </a:r>
            <a:endParaRPr lang="cs-CZ"/>
          </a:p>
          <a:p>
            <a:pPr lvl="1"/>
            <a:r>
              <a:rPr lang="en-US" err="1"/>
              <a:t>osobní</a:t>
            </a:r>
            <a:r>
              <a:rPr lang="en-US"/>
              <a:t> </a:t>
            </a:r>
            <a:r>
              <a:rPr lang="en-US" err="1"/>
              <a:t>firewally</a:t>
            </a:r>
            <a:r>
              <a:rPr lang="en-US"/>
              <a:t>,</a:t>
            </a:r>
            <a:endParaRPr lang="cs-CZ"/>
          </a:p>
          <a:p>
            <a:pPr lvl="1"/>
            <a:r>
              <a:rPr lang="en-US"/>
              <a:t>SOHO </a:t>
            </a:r>
            <a:r>
              <a:rPr lang="en-US" err="1"/>
              <a:t>firewally</a:t>
            </a:r>
            <a:r>
              <a:rPr lang="en-US"/>
              <a:t>,</a:t>
            </a:r>
          </a:p>
          <a:p>
            <a:pPr lvl="1"/>
            <a:r>
              <a:rPr lang="en-US"/>
              <a:t>Enterprise </a:t>
            </a:r>
            <a:r>
              <a:rPr lang="en-US" err="1"/>
              <a:t>firewally</a:t>
            </a:r>
            <a:r>
              <a:rPr lang="en-US"/>
              <a:t>,</a:t>
            </a:r>
          </a:p>
          <a:p>
            <a:pPr lvl="1"/>
            <a:r>
              <a:rPr lang="en-US" err="1"/>
              <a:t>specializované</a:t>
            </a:r>
            <a:r>
              <a:rPr lang="en-US"/>
              <a:t> </a:t>
            </a:r>
            <a:r>
              <a:rPr lang="en-US" err="1"/>
              <a:t>firewally</a:t>
            </a:r>
            <a:r>
              <a:rPr lang="en-US"/>
              <a:t>,</a:t>
            </a:r>
          </a:p>
          <a:p>
            <a:pPr lvl="1"/>
            <a:r>
              <a:rPr lang="en-US" err="1"/>
              <a:t>aplikační</a:t>
            </a:r>
            <a:r>
              <a:rPr lang="en-US"/>
              <a:t> </a:t>
            </a:r>
            <a:r>
              <a:rPr lang="en-US" err="1"/>
              <a:t>firewally</a:t>
            </a:r>
            <a:r>
              <a:rPr lang="en-US"/>
              <a:t>.</a:t>
            </a:r>
            <a:endParaRPr lang="cs-CZ"/>
          </a:p>
          <a:p>
            <a:r>
              <a:rPr lang="en-US" err="1"/>
              <a:t>Dle</a:t>
            </a:r>
            <a:r>
              <a:rPr lang="en-US"/>
              <a:t> </a:t>
            </a:r>
            <a:r>
              <a:rPr lang="en-US" err="1"/>
              <a:t>způsobu</a:t>
            </a:r>
            <a:r>
              <a:rPr lang="en-US"/>
              <a:t> </a:t>
            </a:r>
            <a:r>
              <a:rPr lang="en-US" err="1"/>
              <a:t>nasazení</a:t>
            </a:r>
            <a:r>
              <a:rPr lang="en-US"/>
              <a:t> </a:t>
            </a:r>
            <a:r>
              <a:rPr lang="en-US" err="1"/>
              <a:t>jsou</a:t>
            </a:r>
            <a:r>
              <a:rPr lang="en-US"/>
              <a:t> </a:t>
            </a:r>
            <a:r>
              <a:rPr lang="en-US" err="1"/>
              <a:t>rozeznávány</a:t>
            </a:r>
            <a:r>
              <a:rPr lang="en-US"/>
              <a:t>:</a:t>
            </a:r>
            <a:endParaRPr lang="cs-CZ"/>
          </a:p>
          <a:p>
            <a:pPr lvl="1"/>
            <a:r>
              <a:rPr lang="en-US" err="1"/>
              <a:t>firewally</a:t>
            </a:r>
            <a:r>
              <a:rPr lang="en-US"/>
              <a:t> </a:t>
            </a:r>
            <a:r>
              <a:rPr lang="en-US" err="1"/>
              <a:t>softwarové</a:t>
            </a:r>
            <a:r>
              <a:rPr lang="en-US"/>
              <a:t>,</a:t>
            </a:r>
          </a:p>
          <a:p>
            <a:pPr lvl="1"/>
            <a:r>
              <a:rPr lang="en-US" err="1"/>
              <a:t>firewally</a:t>
            </a:r>
            <a:r>
              <a:rPr lang="en-US"/>
              <a:t> </a:t>
            </a:r>
            <a:r>
              <a:rPr lang="en-US" err="1"/>
              <a:t>hardwarové</a:t>
            </a: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213</a:t>
            </a:fld>
            <a:endParaRPr lang="cs-CZ"/>
          </a:p>
        </p:txBody>
      </p:sp>
    </p:spTree>
    <p:extLst>
      <p:ext uri="{BB962C8B-B14F-4D97-AF65-F5344CB8AC3E}">
        <p14:creationId xmlns:p14="http://schemas.microsoft.com/office/powerpoint/2010/main" val="1082864614"/>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92088" y="84489"/>
            <a:ext cx="11999913" cy="1010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121920" tIns="60960" rIns="121920" bIns="6096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2133"/>
              <a:t>Security Devices</a:t>
            </a:r>
            <a:br>
              <a:rPr lang="en-US" altLang="en-US" sz="3200"/>
            </a:br>
            <a:r>
              <a:rPr lang="en-IN" sz="3200"/>
              <a:t>Firewall Type Descriptions</a:t>
            </a:r>
            <a:endParaRPr lang="en-US" altLang="en-US" sz="3200"/>
          </a:p>
        </p:txBody>
      </p:sp>
      <p:sp>
        <p:nvSpPr>
          <p:cNvPr id="2" name="Content Placeholder 1"/>
          <p:cNvSpPr>
            <a:spLocks noGrp="1"/>
          </p:cNvSpPr>
          <p:nvPr>
            <p:ph idx="1"/>
          </p:nvPr>
        </p:nvSpPr>
        <p:spPr>
          <a:xfrm>
            <a:off x="192087" y="1065260"/>
            <a:ext cx="5377108" cy="4629907"/>
          </a:xfrm>
        </p:spPr>
        <p:txBody>
          <a:bodyPr/>
          <a:lstStyle/>
          <a:p>
            <a:pPr marL="0" indent="0">
              <a:buNone/>
            </a:pPr>
            <a:r>
              <a:rPr lang="en-US" sz="2133"/>
              <a:t>The different types of firewalls are:</a:t>
            </a:r>
          </a:p>
          <a:p>
            <a:pPr marL="361942">
              <a:buFont typeface="Arial" panose="020B0604020202020204" pitchFamily="34" charset="0"/>
              <a:buChar char="•"/>
            </a:pPr>
            <a:r>
              <a:rPr lang="en-US" sz="2133" b="1"/>
              <a:t>Packet Filtering (Stateless) Firewall</a:t>
            </a:r>
            <a:endParaRPr lang="en-US" sz="2133"/>
          </a:p>
          <a:p>
            <a:pPr marL="603236">
              <a:buFont typeface="Arial" panose="020B0604020202020204" pitchFamily="34" charset="0"/>
              <a:buChar char="•"/>
            </a:pPr>
            <a:r>
              <a:rPr lang="en-US" sz="2133"/>
              <a:t>Packet Filtering firewalls are part of a router firewall, which permits or denies traffic based on Layer 3 and Layer 4 information. </a:t>
            </a:r>
          </a:p>
          <a:p>
            <a:pPr marL="603236">
              <a:buFont typeface="Arial" panose="020B0604020202020204" pitchFamily="34" charset="0"/>
              <a:buChar char="•"/>
            </a:pPr>
            <a:r>
              <a:rPr lang="en-US" sz="2133"/>
              <a:t>They are stateless firewalls that use a simple policy table look-up that filters traffic based on specific criteria.</a:t>
            </a:r>
          </a:p>
          <a:p>
            <a:pPr marL="241294" indent="0">
              <a:buNone/>
            </a:pPr>
            <a:endParaRPr lang="en-US" sz="2133"/>
          </a:p>
        </p:txBody>
      </p:sp>
      <p:pic>
        <p:nvPicPr>
          <p:cNvPr id="9218"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3745" t="6502"/>
          <a:stretch/>
        </p:blipFill>
        <p:spPr bwMode="auto">
          <a:xfrm>
            <a:off x="5605552" y="1307793"/>
            <a:ext cx="6340411" cy="4452379"/>
          </a:xfrm>
          <a:prstGeom prst="rect">
            <a:avLst/>
          </a:prstGeom>
          <a:noFill/>
          <a:ln w="317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spTree>
    <p:custDataLst>
      <p:tags r:id="rId1"/>
    </p:custDataLst>
    <p:extLst>
      <p:ext uri="{BB962C8B-B14F-4D97-AF65-F5344CB8AC3E}">
        <p14:creationId xmlns:p14="http://schemas.microsoft.com/office/powerpoint/2010/main" val="3171951605"/>
      </p:ext>
    </p:extLst>
  </p:cSld>
  <p:clrMapOvr>
    <a:masterClrMapping/>
  </p:clrMapOvr>
  <p:transition spd="slow">
    <p:wipe/>
  </p:transition>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A7E249FF-01FC-487E-B05D-F7C27AD56CB5}"/>
              </a:ext>
            </a:extLst>
          </p:cNvPr>
          <p:cNvSpPr txBox="1">
            <a:spLocks noChangeArrowheads="1"/>
          </p:cNvSpPr>
          <p:nvPr/>
        </p:nvSpPr>
        <p:spPr bwMode="auto">
          <a:xfrm>
            <a:off x="192088" y="84489"/>
            <a:ext cx="11999913" cy="1010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121920" tIns="60960" rIns="121920" bIns="6096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2133"/>
              <a:t>Security Devices</a:t>
            </a:r>
            <a:br>
              <a:rPr lang="en-US" altLang="en-US" sz="3200"/>
            </a:br>
            <a:r>
              <a:rPr lang="en-IN" sz="3200"/>
              <a:t>Firewall Type Descriptions (Contd.)</a:t>
            </a:r>
            <a:endParaRPr lang="en-US" altLang="en-US" sz="3200"/>
          </a:p>
        </p:txBody>
      </p:sp>
      <p:sp>
        <p:nvSpPr>
          <p:cNvPr id="2" name="Content Placeholder 1"/>
          <p:cNvSpPr>
            <a:spLocks noGrp="1"/>
          </p:cNvSpPr>
          <p:nvPr>
            <p:ph idx="1"/>
          </p:nvPr>
        </p:nvSpPr>
        <p:spPr>
          <a:xfrm>
            <a:off x="143804" y="1125613"/>
            <a:ext cx="6211739" cy="4922099"/>
          </a:xfrm>
        </p:spPr>
        <p:txBody>
          <a:bodyPr/>
          <a:lstStyle/>
          <a:p>
            <a:pPr marL="622284" indent="-380990">
              <a:buFont typeface="Arial" panose="020B0604020202020204" pitchFamily="34" charset="0"/>
              <a:buChar char="•"/>
            </a:pPr>
            <a:r>
              <a:rPr lang="en-US" sz="2133" b="1"/>
              <a:t>Stateful Firewalls</a:t>
            </a:r>
          </a:p>
          <a:p>
            <a:pPr marL="1075240" indent="-364058">
              <a:buFont typeface="Arial" panose="020B0604020202020204" pitchFamily="34" charset="0"/>
              <a:buChar char="•"/>
            </a:pPr>
            <a:r>
              <a:rPr lang="en-US" sz="2133"/>
              <a:t>Stateful firewalls are the most versatile and the most common firewall technologies in use.</a:t>
            </a:r>
          </a:p>
          <a:p>
            <a:pPr marL="1075240" indent="-364058">
              <a:buFont typeface="Arial" panose="020B0604020202020204" pitchFamily="34" charset="0"/>
              <a:buChar char="•"/>
            </a:pPr>
            <a:r>
              <a:rPr lang="en-US" sz="2133"/>
              <a:t>These firewalls provide stateful packet filtering by using connection information maintained in a state table.</a:t>
            </a:r>
          </a:p>
        </p:txBody>
      </p:sp>
      <p:pic>
        <p:nvPicPr>
          <p:cNvPr id="1024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5543" y="1256832"/>
            <a:ext cx="5082011" cy="4921613"/>
          </a:xfrm>
          <a:prstGeom prst="rect">
            <a:avLst/>
          </a:prstGeom>
          <a:noFill/>
          <a:ln w="317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spTree>
    <p:custDataLst>
      <p:tags r:id="rId1"/>
    </p:custDataLst>
    <p:extLst>
      <p:ext uri="{BB962C8B-B14F-4D97-AF65-F5344CB8AC3E}">
        <p14:creationId xmlns:p14="http://schemas.microsoft.com/office/powerpoint/2010/main" val="2460565362"/>
      </p:ext>
    </p:extLst>
  </p:cSld>
  <p:clrMapOvr>
    <a:masterClrMapping/>
  </p:clrMapOvr>
  <p:transition spd="slow">
    <p:wipe/>
  </p:transition>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A7E249FF-01FC-487E-B05D-F7C27AD56CB5}"/>
              </a:ext>
            </a:extLst>
          </p:cNvPr>
          <p:cNvSpPr txBox="1">
            <a:spLocks noChangeArrowheads="1"/>
          </p:cNvSpPr>
          <p:nvPr/>
        </p:nvSpPr>
        <p:spPr bwMode="auto">
          <a:xfrm>
            <a:off x="192088" y="84489"/>
            <a:ext cx="11999913" cy="1010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121920" tIns="60960" rIns="121920" bIns="6096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2133"/>
              <a:t>Security Devices</a:t>
            </a:r>
            <a:br>
              <a:rPr lang="en-US" altLang="en-US" sz="3200"/>
            </a:br>
            <a:r>
              <a:rPr lang="en-IN" sz="3200"/>
              <a:t>Firewall Type Descriptions (Contd.)</a:t>
            </a:r>
            <a:endParaRPr lang="en-US" altLang="en-US" sz="3200"/>
          </a:p>
        </p:txBody>
      </p:sp>
      <p:sp>
        <p:nvSpPr>
          <p:cNvPr id="2" name="Content Placeholder 1"/>
          <p:cNvSpPr>
            <a:spLocks noGrp="1"/>
          </p:cNvSpPr>
          <p:nvPr>
            <p:ph idx="1"/>
          </p:nvPr>
        </p:nvSpPr>
        <p:spPr>
          <a:xfrm>
            <a:off x="192087" y="1149755"/>
            <a:ext cx="5861168" cy="4943964"/>
          </a:xfrm>
        </p:spPr>
        <p:txBody>
          <a:bodyPr/>
          <a:lstStyle/>
          <a:p>
            <a:pPr marL="622284" indent="-380990">
              <a:buFont typeface="Arial" panose="020B0604020202020204" pitchFamily="34" charset="0"/>
              <a:buChar char="•"/>
            </a:pPr>
            <a:r>
              <a:rPr lang="en-US" sz="2133" b="1"/>
              <a:t>Application gateway firewall (proxy firewall)</a:t>
            </a:r>
          </a:p>
          <a:p>
            <a:pPr marL="950360" indent="-380990">
              <a:buFont typeface="Arial" panose="020B0604020202020204" pitchFamily="34" charset="0"/>
              <a:buChar char="•"/>
            </a:pPr>
            <a:r>
              <a:rPr lang="en-US" sz="2133"/>
              <a:t>Application gateway firewall filters information at Layers 3, 4, 5, and 7 of the OSI reference model.</a:t>
            </a:r>
          </a:p>
          <a:p>
            <a:pPr marL="950360" indent="-380990">
              <a:buFont typeface="Arial" panose="020B0604020202020204" pitchFamily="34" charset="0"/>
              <a:buChar char="•"/>
            </a:pPr>
            <a:r>
              <a:rPr lang="en-US" sz="2133"/>
              <a:t>Most of the firewall control and filtering is done in the software. </a:t>
            </a:r>
          </a:p>
        </p:txBody>
      </p:sp>
      <p:pic>
        <p:nvPicPr>
          <p:cNvPr id="1126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53255" y="1379907"/>
            <a:ext cx="5517459" cy="4267197"/>
          </a:xfrm>
          <a:prstGeom prst="rect">
            <a:avLst/>
          </a:prstGeom>
          <a:noFill/>
          <a:ln w="317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spTree>
    <p:custDataLst>
      <p:tags r:id="rId1"/>
    </p:custDataLst>
    <p:extLst>
      <p:ext uri="{BB962C8B-B14F-4D97-AF65-F5344CB8AC3E}">
        <p14:creationId xmlns:p14="http://schemas.microsoft.com/office/powerpoint/2010/main" val="468232559"/>
      </p:ext>
    </p:extLst>
  </p:cSld>
  <p:clrMapOvr>
    <a:masterClrMapping/>
  </p:clrMapOvr>
  <p:transition spd="slow">
    <p:wipe/>
  </p:transition>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err="1"/>
              <a:t>Paketové</a:t>
            </a:r>
            <a:r>
              <a:rPr lang="en-US" b="1"/>
              <a:t> </a:t>
            </a:r>
            <a:r>
              <a:rPr lang="en-US" b="1" err="1"/>
              <a:t>filtry</a:t>
            </a:r>
            <a:endParaRPr lang="en-US" b="1"/>
          </a:p>
        </p:txBody>
      </p:sp>
      <p:sp>
        <p:nvSpPr>
          <p:cNvPr id="3" name="Content Placeholder 2"/>
          <p:cNvSpPr>
            <a:spLocks noGrp="1"/>
          </p:cNvSpPr>
          <p:nvPr>
            <p:ph idx="1"/>
          </p:nvPr>
        </p:nvSpPr>
        <p:spPr/>
        <p:txBody>
          <a:bodyPr/>
          <a:lstStyle/>
          <a:p>
            <a:r>
              <a:rPr lang="en-US" err="1"/>
              <a:t>pracují</a:t>
            </a:r>
            <a:r>
              <a:rPr lang="en-US"/>
              <a:t> </a:t>
            </a:r>
            <a:r>
              <a:rPr lang="en-US" err="1"/>
              <a:t>na</a:t>
            </a:r>
            <a:r>
              <a:rPr lang="en-US"/>
              <a:t> </a:t>
            </a:r>
            <a:r>
              <a:rPr lang="en-US" err="1"/>
              <a:t>síťové</a:t>
            </a:r>
            <a:r>
              <a:rPr lang="en-US"/>
              <a:t> </a:t>
            </a:r>
            <a:r>
              <a:rPr lang="en-US" err="1"/>
              <a:t>vrstvě</a:t>
            </a:r>
            <a:r>
              <a:rPr lang="en-US"/>
              <a:t> a </a:t>
            </a:r>
            <a:r>
              <a:rPr lang="en-US" err="1"/>
              <a:t>umožňují</a:t>
            </a:r>
            <a:r>
              <a:rPr lang="en-US"/>
              <a:t> </a:t>
            </a:r>
            <a:r>
              <a:rPr lang="en-US" err="1"/>
              <a:t>pouze</a:t>
            </a:r>
            <a:r>
              <a:rPr lang="en-US"/>
              <a:t> </a:t>
            </a:r>
            <a:r>
              <a:rPr lang="en-US" err="1"/>
              <a:t>povrchní</a:t>
            </a:r>
            <a:r>
              <a:rPr lang="en-US"/>
              <a:t> </a:t>
            </a:r>
            <a:r>
              <a:rPr lang="en-US" err="1"/>
              <a:t>filtrování</a:t>
            </a:r>
            <a:r>
              <a:rPr lang="en-US"/>
              <a:t> </a:t>
            </a:r>
            <a:r>
              <a:rPr lang="en-US" err="1"/>
              <a:t>na</a:t>
            </a:r>
            <a:r>
              <a:rPr lang="en-US"/>
              <a:t> </a:t>
            </a:r>
            <a:r>
              <a:rPr lang="en-US" err="1"/>
              <a:t>základě</a:t>
            </a:r>
            <a:r>
              <a:rPr lang="cs-CZ"/>
              <a:t> </a:t>
            </a:r>
            <a:r>
              <a:rPr lang="en-US" err="1"/>
              <a:t>informací</a:t>
            </a:r>
            <a:r>
              <a:rPr lang="en-US"/>
              <a:t> z 3 a 4 </a:t>
            </a:r>
            <a:r>
              <a:rPr lang="en-US" err="1"/>
              <a:t>síťové</a:t>
            </a:r>
            <a:r>
              <a:rPr lang="en-US"/>
              <a:t> </a:t>
            </a:r>
            <a:r>
              <a:rPr lang="en-US" err="1"/>
              <a:t>vrstvy</a:t>
            </a:r>
            <a:r>
              <a:rPr lang="en-US"/>
              <a:t>. </a:t>
            </a:r>
            <a:endParaRPr lang="cs-CZ"/>
          </a:p>
          <a:p>
            <a:r>
              <a:rPr lang="en-US" err="1"/>
              <a:t>Tyto</a:t>
            </a:r>
            <a:r>
              <a:rPr lang="en-US"/>
              <a:t> </a:t>
            </a:r>
            <a:r>
              <a:rPr lang="en-US" err="1"/>
              <a:t>filtry</a:t>
            </a:r>
            <a:r>
              <a:rPr lang="en-US"/>
              <a:t> </a:t>
            </a:r>
            <a:r>
              <a:rPr lang="en-US" err="1"/>
              <a:t>představují</a:t>
            </a:r>
            <a:r>
              <a:rPr lang="en-US"/>
              <a:t> </a:t>
            </a:r>
            <a:r>
              <a:rPr lang="en-US" err="1"/>
              <a:t>velmi</a:t>
            </a:r>
            <a:r>
              <a:rPr lang="en-US"/>
              <a:t> </a:t>
            </a:r>
            <a:r>
              <a:rPr lang="en-US" err="1"/>
              <a:t>rychlou</a:t>
            </a:r>
            <a:r>
              <a:rPr lang="en-US"/>
              <a:t> a </a:t>
            </a:r>
            <a:r>
              <a:rPr lang="en-US" err="1"/>
              <a:t>levnou</a:t>
            </a:r>
            <a:r>
              <a:rPr lang="en-US"/>
              <a:t> </a:t>
            </a:r>
            <a:r>
              <a:rPr lang="en-US" err="1"/>
              <a:t>variantu</a:t>
            </a:r>
            <a:r>
              <a:rPr lang="en-US"/>
              <a:t> </a:t>
            </a:r>
            <a:r>
              <a:rPr lang="en-US" err="1"/>
              <a:t>firewallu</a:t>
            </a:r>
            <a:r>
              <a:rPr lang="en-US"/>
              <a:t>.</a:t>
            </a:r>
          </a:p>
          <a:p>
            <a:r>
              <a:rPr lang="en-US" err="1"/>
              <a:t>Příkladem</a:t>
            </a:r>
            <a:r>
              <a:rPr lang="en-US"/>
              <a:t> </a:t>
            </a:r>
            <a:r>
              <a:rPr lang="en-US" err="1"/>
              <a:t>mohou</a:t>
            </a:r>
            <a:r>
              <a:rPr lang="en-US"/>
              <a:t> </a:t>
            </a:r>
            <a:r>
              <a:rPr lang="en-US" err="1"/>
              <a:t>být</a:t>
            </a:r>
            <a:r>
              <a:rPr lang="en-US"/>
              <a:t> </a:t>
            </a:r>
            <a:r>
              <a:rPr lang="en-US" err="1"/>
              <a:t>starší</a:t>
            </a:r>
            <a:r>
              <a:rPr lang="en-US"/>
              <a:t> </a:t>
            </a:r>
            <a:r>
              <a:rPr lang="en-US" err="1"/>
              <a:t>implementace</a:t>
            </a:r>
            <a:r>
              <a:rPr lang="en-US"/>
              <a:t> Access Control List </a:t>
            </a:r>
            <a:r>
              <a:rPr lang="en-US" err="1"/>
              <a:t>na</a:t>
            </a:r>
            <a:r>
              <a:rPr lang="en-US"/>
              <a:t> </a:t>
            </a:r>
            <a:r>
              <a:rPr lang="en-US" err="1"/>
              <a:t>zařízeních</a:t>
            </a:r>
            <a:r>
              <a:rPr lang="en-US"/>
              <a:t> Cisco, </a:t>
            </a:r>
            <a:r>
              <a:rPr lang="en-US" err="1"/>
              <a:t>nebo</a:t>
            </a:r>
            <a:r>
              <a:rPr lang="en-US"/>
              <a:t> </a:t>
            </a:r>
            <a:r>
              <a:rPr lang="en-US" err="1"/>
              <a:t>starší</a:t>
            </a:r>
            <a:r>
              <a:rPr lang="cs-CZ"/>
              <a:t> </a:t>
            </a:r>
            <a:r>
              <a:rPr lang="en-US"/>
              <a:t>implementace </a:t>
            </a:r>
            <a:r>
              <a:rPr lang="en-US" err="1"/>
              <a:t>firewallu</a:t>
            </a:r>
            <a:r>
              <a:rPr lang="en-US"/>
              <a:t> v </a:t>
            </a:r>
            <a:r>
              <a:rPr lang="en-US" err="1"/>
              <a:t>jádru</a:t>
            </a:r>
            <a:r>
              <a:rPr lang="en-US"/>
              <a:t> OS Linux.</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217</a:t>
            </a:fld>
            <a:endParaRPr lang="cs-CZ"/>
          </a:p>
        </p:txBody>
      </p:sp>
    </p:spTree>
    <p:extLst>
      <p:ext uri="{BB962C8B-B14F-4D97-AF65-F5344CB8AC3E}">
        <p14:creationId xmlns:p14="http://schemas.microsoft.com/office/powerpoint/2010/main" val="2153360870"/>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err="1"/>
              <a:t>Stavové</a:t>
            </a:r>
            <a:r>
              <a:rPr lang="en-US" b="1"/>
              <a:t> </a:t>
            </a:r>
            <a:r>
              <a:rPr lang="en-US" b="1" err="1"/>
              <a:t>paketové</a:t>
            </a:r>
            <a:r>
              <a:rPr lang="en-US" b="1"/>
              <a:t> </a:t>
            </a:r>
            <a:r>
              <a:rPr lang="en-US" b="1" err="1"/>
              <a:t>filtry</a:t>
            </a:r>
            <a:endParaRPr lang="en-US" b="1"/>
          </a:p>
        </p:txBody>
      </p:sp>
      <p:sp>
        <p:nvSpPr>
          <p:cNvPr id="3" name="Content Placeholder 2"/>
          <p:cNvSpPr>
            <a:spLocks noGrp="1"/>
          </p:cNvSpPr>
          <p:nvPr>
            <p:ph idx="1"/>
          </p:nvPr>
        </p:nvSpPr>
        <p:spPr/>
        <p:txBody>
          <a:bodyPr>
            <a:normAutofit/>
          </a:bodyPr>
          <a:lstStyle/>
          <a:p>
            <a:r>
              <a:rPr lang="cs-CZ" err="1"/>
              <a:t>F</a:t>
            </a:r>
            <a:r>
              <a:rPr lang="en-US" err="1"/>
              <a:t>ungují</a:t>
            </a:r>
            <a:r>
              <a:rPr lang="en-US"/>
              <a:t> </a:t>
            </a:r>
            <a:r>
              <a:rPr lang="en-US" err="1"/>
              <a:t>podobně</a:t>
            </a:r>
            <a:r>
              <a:rPr lang="en-US"/>
              <a:t> </a:t>
            </a:r>
            <a:r>
              <a:rPr lang="en-US" err="1"/>
              <a:t>jako</a:t>
            </a:r>
            <a:r>
              <a:rPr lang="en-US"/>
              <a:t> </a:t>
            </a:r>
            <a:r>
              <a:rPr lang="en-US" err="1"/>
              <a:t>paketové</a:t>
            </a:r>
            <a:r>
              <a:rPr lang="en-US"/>
              <a:t> </a:t>
            </a:r>
            <a:r>
              <a:rPr lang="en-US" err="1"/>
              <a:t>filtry</a:t>
            </a:r>
            <a:r>
              <a:rPr lang="en-US"/>
              <a:t>, </a:t>
            </a:r>
            <a:r>
              <a:rPr lang="en-US" err="1"/>
              <a:t>avšak</a:t>
            </a:r>
            <a:r>
              <a:rPr lang="en-US"/>
              <a:t> </a:t>
            </a:r>
            <a:r>
              <a:rPr lang="en-US" err="1"/>
              <a:t>navíc</a:t>
            </a:r>
            <a:r>
              <a:rPr lang="en-US"/>
              <a:t> </a:t>
            </a:r>
            <a:r>
              <a:rPr lang="en-US" err="1"/>
              <a:t>umožňují</a:t>
            </a:r>
            <a:r>
              <a:rPr lang="en-US"/>
              <a:t> </a:t>
            </a:r>
            <a:r>
              <a:rPr lang="en-US" err="1"/>
              <a:t>ukládání</a:t>
            </a:r>
            <a:r>
              <a:rPr lang="cs-CZ"/>
              <a:t> </a:t>
            </a:r>
            <a:r>
              <a:rPr lang="en-US" err="1"/>
              <a:t>informací</a:t>
            </a:r>
            <a:r>
              <a:rPr lang="en-US"/>
              <a:t> o </a:t>
            </a:r>
            <a:r>
              <a:rPr lang="en-US" err="1"/>
              <a:t>povolených</a:t>
            </a:r>
            <a:r>
              <a:rPr lang="en-US"/>
              <a:t> </a:t>
            </a:r>
            <a:r>
              <a:rPr lang="en-US" err="1"/>
              <a:t>spojeních</a:t>
            </a:r>
            <a:r>
              <a:rPr lang="en-US"/>
              <a:t>. </a:t>
            </a:r>
            <a:endParaRPr lang="cs-CZ"/>
          </a:p>
          <a:p>
            <a:r>
              <a:rPr lang="en-US"/>
              <a:t>Firewall </a:t>
            </a:r>
            <a:r>
              <a:rPr lang="en-US" err="1"/>
              <a:t>tak</a:t>
            </a:r>
            <a:r>
              <a:rPr lang="en-US"/>
              <a:t> </a:t>
            </a:r>
            <a:r>
              <a:rPr lang="en-US" err="1"/>
              <a:t>nemusí</a:t>
            </a:r>
            <a:r>
              <a:rPr lang="en-US"/>
              <a:t> </a:t>
            </a:r>
            <a:r>
              <a:rPr lang="en-US" err="1"/>
              <a:t>vždy</a:t>
            </a:r>
            <a:r>
              <a:rPr lang="en-US"/>
              <a:t> </a:t>
            </a:r>
            <a:r>
              <a:rPr lang="en-US" err="1"/>
              <a:t>znovu</a:t>
            </a:r>
            <a:r>
              <a:rPr lang="en-US"/>
              <a:t> </a:t>
            </a:r>
            <a:r>
              <a:rPr lang="en-US" err="1"/>
              <a:t>odesílat</a:t>
            </a:r>
            <a:r>
              <a:rPr lang="en-US"/>
              <a:t> </a:t>
            </a:r>
            <a:r>
              <a:rPr lang="en-US" err="1"/>
              <a:t>všechny</a:t>
            </a:r>
            <a:r>
              <a:rPr lang="en-US"/>
              <a:t> </a:t>
            </a:r>
            <a:r>
              <a:rPr lang="en-US" err="1"/>
              <a:t>pakety</a:t>
            </a:r>
            <a:r>
              <a:rPr lang="cs-CZ"/>
              <a:t> </a:t>
            </a:r>
            <a:r>
              <a:rPr lang="en-US"/>
              <a:t>do </a:t>
            </a:r>
            <a:r>
              <a:rPr lang="en-US" err="1"/>
              <a:t>rozhodovacího</a:t>
            </a:r>
            <a:r>
              <a:rPr lang="en-US"/>
              <a:t> </a:t>
            </a:r>
            <a:r>
              <a:rPr lang="en-US" err="1"/>
              <a:t>procesu</a:t>
            </a:r>
            <a:r>
              <a:rPr lang="en-US"/>
              <a:t>, ale </a:t>
            </a:r>
            <a:r>
              <a:rPr lang="en-US" err="1"/>
              <a:t>může</a:t>
            </a:r>
            <a:r>
              <a:rPr lang="en-US"/>
              <a:t> </a:t>
            </a:r>
            <a:r>
              <a:rPr lang="en-US" err="1"/>
              <a:t>využít</a:t>
            </a:r>
            <a:r>
              <a:rPr lang="en-US"/>
              <a:t> </a:t>
            </a:r>
            <a:r>
              <a:rPr lang="en-US" err="1"/>
              <a:t>informace</a:t>
            </a:r>
            <a:r>
              <a:rPr lang="en-US"/>
              <a:t> o </a:t>
            </a:r>
            <a:r>
              <a:rPr lang="en-US" err="1"/>
              <a:t>již</a:t>
            </a:r>
            <a:r>
              <a:rPr lang="en-US"/>
              <a:t> </a:t>
            </a:r>
            <a:r>
              <a:rPr lang="en-US" err="1"/>
              <a:t>povolených</a:t>
            </a:r>
            <a:r>
              <a:rPr lang="en-US"/>
              <a:t> </a:t>
            </a:r>
            <a:r>
              <a:rPr lang="en-US" err="1"/>
              <a:t>spojeních</a:t>
            </a:r>
            <a:r>
              <a:rPr lang="en-US"/>
              <a:t> a </a:t>
            </a:r>
            <a:r>
              <a:rPr lang="en-US" err="1"/>
              <a:t>pakety</a:t>
            </a:r>
            <a:r>
              <a:rPr lang="cs-CZ"/>
              <a:t> </a:t>
            </a:r>
            <a:r>
              <a:rPr lang="en-US" err="1"/>
              <a:t>rovnou</a:t>
            </a:r>
            <a:r>
              <a:rPr lang="en-US"/>
              <a:t> </a:t>
            </a:r>
            <a:r>
              <a:rPr lang="en-US" err="1"/>
              <a:t>propustit</a:t>
            </a:r>
            <a:r>
              <a:rPr lang="en-US"/>
              <a:t>. </a:t>
            </a:r>
            <a:endParaRPr lang="cs-CZ"/>
          </a:p>
          <a:p>
            <a:r>
              <a:rPr lang="en-US" err="1"/>
              <a:t>Ke</a:t>
            </a:r>
            <a:r>
              <a:rPr lang="en-US"/>
              <a:t> </a:t>
            </a:r>
            <a:r>
              <a:rPr lang="en-US" err="1"/>
              <a:t>zvýšení</a:t>
            </a:r>
            <a:r>
              <a:rPr lang="en-US"/>
              <a:t> </a:t>
            </a:r>
            <a:r>
              <a:rPr lang="en-US" err="1"/>
              <a:t>bezpečnosti</a:t>
            </a:r>
            <a:r>
              <a:rPr lang="en-US"/>
              <a:t> </a:t>
            </a:r>
            <a:r>
              <a:rPr lang="en-US" err="1"/>
              <a:t>přispívá</a:t>
            </a:r>
            <a:r>
              <a:rPr lang="en-US"/>
              <a:t> </a:t>
            </a:r>
            <a:r>
              <a:rPr lang="en-US" err="1"/>
              <a:t>možnost</a:t>
            </a:r>
            <a:r>
              <a:rPr lang="en-US"/>
              <a:t> </a:t>
            </a:r>
            <a:r>
              <a:rPr lang="en-US" err="1"/>
              <a:t>nastavit</a:t>
            </a:r>
            <a:r>
              <a:rPr lang="en-US"/>
              <a:t>, z </a:t>
            </a:r>
            <a:r>
              <a:rPr lang="en-US" err="1"/>
              <a:t>které</a:t>
            </a:r>
            <a:r>
              <a:rPr lang="en-US"/>
              <a:t> </a:t>
            </a:r>
            <a:r>
              <a:rPr lang="en-US" err="1"/>
              <a:t>strany</a:t>
            </a:r>
            <a:r>
              <a:rPr lang="en-US"/>
              <a:t> </a:t>
            </a:r>
            <a:r>
              <a:rPr lang="en-US" err="1"/>
              <a:t>může</a:t>
            </a:r>
            <a:r>
              <a:rPr lang="en-US"/>
              <a:t> </a:t>
            </a:r>
            <a:r>
              <a:rPr lang="en-US" err="1"/>
              <a:t>být</a:t>
            </a:r>
            <a:r>
              <a:rPr lang="cs-CZ"/>
              <a:t> </a:t>
            </a:r>
            <a:r>
              <a:rPr lang="en-US" err="1"/>
              <a:t>spojení</a:t>
            </a:r>
            <a:r>
              <a:rPr lang="en-US"/>
              <a:t> </a:t>
            </a:r>
            <a:r>
              <a:rPr lang="en-US" err="1"/>
              <a:t>zahájeno</a:t>
            </a:r>
            <a:r>
              <a:rPr lang="en-US"/>
              <a:t>. </a:t>
            </a:r>
            <a:endParaRPr lang="cs-CZ"/>
          </a:p>
          <a:p>
            <a:r>
              <a:rPr lang="en-US" err="1"/>
              <a:t>Pakety</a:t>
            </a:r>
            <a:r>
              <a:rPr lang="en-US"/>
              <a:t> </a:t>
            </a:r>
            <a:r>
              <a:rPr lang="en-US" err="1"/>
              <a:t>odcházející</a:t>
            </a:r>
            <a:r>
              <a:rPr lang="en-US"/>
              <a:t> z </a:t>
            </a:r>
            <a:r>
              <a:rPr lang="en-US" err="1"/>
              <a:t>druhé</a:t>
            </a:r>
            <a:r>
              <a:rPr lang="en-US"/>
              <a:t> </a:t>
            </a:r>
            <a:r>
              <a:rPr lang="en-US" err="1"/>
              <a:t>strany</a:t>
            </a:r>
            <a:r>
              <a:rPr lang="en-US"/>
              <a:t> </a:t>
            </a:r>
            <a:r>
              <a:rPr lang="en-US" err="1"/>
              <a:t>jako</a:t>
            </a:r>
            <a:r>
              <a:rPr lang="en-US"/>
              <a:t> </a:t>
            </a:r>
            <a:r>
              <a:rPr lang="en-US" err="1"/>
              <a:t>odpovědi</a:t>
            </a:r>
            <a:r>
              <a:rPr lang="en-US"/>
              <a:t> firewall </a:t>
            </a:r>
            <a:r>
              <a:rPr lang="en-US" err="1"/>
              <a:t>povolí</a:t>
            </a:r>
            <a:r>
              <a:rPr lang="en-US"/>
              <a:t> </a:t>
            </a:r>
            <a:r>
              <a:rPr lang="en-US" err="1"/>
              <a:t>až</a:t>
            </a:r>
            <a:r>
              <a:rPr lang="en-US"/>
              <a:t> </a:t>
            </a:r>
            <a:r>
              <a:rPr lang="en-US" err="1"/>
              <a:t>po</a:t>
            </a:r>
            <a:r>
              <a:rPr lang="en-US"/>
              <a:t> </a:t>
            </a:r>
            <a:r>
              <a:rPr lang="en-US" err="1"/>
              <a:t>zahájení</a:t>
            </a:r>
            <a:r>
              <a:rPr lang="cs-CZ"/>
              <a:t> </a:t>
            </a:r>
            <a:r>
              <a:rPr lang="en-US" err="1"/>
              <a:t>komunikace</a:t>
            </a:r>
            <a:r>
              <a:rPr lang="en-US"/>
              <a:t> </a:t>
            </a:r>
            <a:r>
              <a:rPr lang="en-US" err="1"/>
              <a:t>první</a:t>
            </a:r>
            <a:r>
              <a:rPr lang="en-US"/>
              <a:t> </a:t>
            </a:r>
            <a:r>
              <a:rPr lang="en-US" err="1"/>
              <a:t>stranou</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218</a:t>
            </a:fld>
            <a:endParaRPr lang="cs-CZ"/>
          </a:p>
        </p:txBody>
      </p:sp>
    </p:spTree>
    <p:extLst>
      <p:ext uri="{BB962C8B-B14F-4D97-AF65-F5344CB8AC3E}">
        <p14:creationId xmlns:p14="http://schemas.microsoft.com/office/powerpoint/2010/main" val="1155508773"/>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err="1"/>
              <a:t>Stavové</a:t>
            </a:r>
            <a:r>
              <a:rPr lang="en-US" b="1"/>
              <a:t> </a:t>
            </a:r>
            <a:r>
              <a:rPr lang="en-US" b="1" err="1"/>
              <a:t>paketové</a:t>
            </a:r>
            <a:r>
              <a:rPr lang="en-US" b="1"/>
              <a:t> </a:t>
            </a:r>
            <a:r>
              <a:rPr lang="en-US" b="1" err="1"/>
              <a:t>filtry</a:t>
            </a: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219</a:t>
            </a:fld>
            <a:endParaRPr lang="cs-CZ"/>
          </a:p>
        </p:txBody>
      </p:sp>
      <p:pic>
        <p:nvPicPr>
          <p:cNvPr id="1026" name="Picture 2" descr="složenost potrošača Ukinut stateless packet filtering - theingenioustv.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7757" y="1949121"/>
            <a:ext cx="6365997" cy="4407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3007237"/>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err="1"/>
              <a:t>Stavové</a:t>
            </a:r>
            <a:r>
              <a:rPr lang="en-US" b="1"/>
              <a:t> </a:t>
            </a:r>
            <a:r>
              <a:rPr lang="en-US" b="1" err="1"/>
              <a:t>paketové</a:t>
            </a:r>
            <a:r>
              <a:rPr lang="en-US" b="1"/>
              <a:t> </a:t>
            </a:r>
            <a:r>
              <a:rPr lang="en-US" b="1" err="1"/>
              <a:t>filtry</a:t>
            </a:r>
            <a:endParaRPr lang="en-US"/>
          </a:p>
        </p:txBody>
      </p:sp>
      <p:sp>
        <p:nvSpPr>
          <p:cNvPr id="3" name="Content Placeholder 2"/>
          <p:cNvSpPr>
            <a:spLocks noGrp="1"/>
          </p:cNvSpPr>
          <p:nvPr>
            <p:ph idx="1"/>
          </p:nvPr>
        </p:nvSpPr>
        <p:spPr/>
        <p:txBody>
          <a:bodyPr/>
          <a:lstStyle/>
          <a:p>
            <a:r>
              <a:rPr lang="en-US" err="1"/>
              <a:t>Současné</a:t>
            </a:r>
            <a:r>
              <a:rPr lang="en-US"/>
              <a:t> </a:t>
            </a:r>
            <a:r>
              <a:rPr lang="en-US" err="1"/>
              <a:t>stavové</a:t>
            </a:r>
            <a:r>
              <a:rPr lang="en-US"/>
              <a:t> </a:t>
            </a:r>
            <a:r>
              <a:rPr lang="en-US" err="1"/>
              <a:t>paketové</a:t>
            </a:r>
            <a:r>
              <a:rPr lang="en-US"/>
              <a:t> </a:t>
            </a:r>
            <a:r>
              <a:rPr lang="en-US" err="1"/>
              <a:t>filtry</a:t>
            </a:r>
            <a:r>
              <a:rPr lang="en-US"/>
              <a:t> se </a:t>
            </a:r>
            <a:r>
              <a:rPr lang="en-US" err="1"/>
              <a:t>obvykle</a:t>
            </a:r>
            <a:r>
              <a:rPr lang="en-US"/>
              <a:t> </a:t>
            </a:r>
            <a:r>
              <a:rPr lang="en-US" err="1"/>
              <a:t>neomezují</a:t>
            </a:r>
            <a:r>
              <a:rPr lang="en-US"/>
              <a:t> </a:t>
            </a:r>
            <a:r>
              <a:rPr lang="en-US" err="1"/>
              <a:t>pouze</a:t>
            </a:r>
            <a:r>
              <a:rPr lang="en-US"/>
              <a:t> </a:t>
            </a:r>
            <a:r>
              <a:rPr lang="en-US" err="1"/>
              <a:t>na</a:t>
            </a:r>
            <a:r>
              <a:rPr lang="en-US"/>
              <a:t> </a:t>
            </a:r>
            <a:r>
              <a:rPr lang="en-US" err="1"/>
              <a:t>výše</a:t>
            </a:r>
            <a:r>
              <a:rPr lang="en-US"/>
              <a:t> </a:t>
            </a:r>
            <a:r>
              <a:rPr lang="en-US" err="1"/>
              <a:t>popsané</a:t>
            </a:r>
            <a:r>
              <a:rPr lang="en-US"/>
              <a:t> </a:t>
            </a:r>
            <a:r>
              <a:rPr lang="en-US" err="1"/>
              <a:t>funkce</a:t>
            </a:r>
            <a:r>
              <a:rPr lang="en-US"/>
              <a:t>, ale</a:t>
            </a:r>
            <a:r>
              <a:rPr lang="cs-CZ"/>
              <a:t> </a:t>
            </a:r>
            <a:r>
              <a:rPr lang="en-US" err="1"/>
              <a:t>přidávají</a:t>
            </a:r>
            <a:r>
              <a:rPr lang="en-US"/>
              <a:t> </a:t>
            </a:r>
            <a:r>
              <a:rPr lang="en-US" err="1"/>
              <a:t>možnosti</a:t>
            </a:r>
            <a:r>
              <a:rPr lang="en-US"/>
              <a:t> </a:t>
            </a:r>
            <a:r>
              <a:rPr lang="en-US" err="1"/>
              <a:t>kontroly</a:t>
            </a:r>
            <a:r>
              <a:rPr lang="en-US"/>
              <a:t> </a:t>
            </a:r>
            <a:r>
              <a:rPr lang="en-US" err="1"/>
              <a:t>obsahu</a:t>
            </a:r>
            <a:r>
              <a:rPr lang="en-US"/>
              <a:t> </a:t>
            </a:r>
            <a:r>
              <a:rPr lang="en-US" err="1"/>
              <a:t>paketů</a:t>
            </a:r>
            <a:r>
              <a:rPr lang="en-US"/>
              <a:t> </a:t>
            </a:r>
            <a:r>
              <a:rPr lang="en-US" err="1"/>
              <a:t>nebo</a:t>
            </a:r>
            <a:r>
              <a:rPr lang="en-US"/>
              <a:t> </a:t>
            </a:r>
            <a:r>
              <a:rPr lang="en-US" err="1"/>
              <a:t>analýzu</a:t>
            </a:r>
            <a:r>
              <a:rPr lang="en-US"/>
              <a:t> </a:t>
            </a:r>
            <a:r>
              <a:rPr lang="en-US" err="1"/>
              <a:t>dat</a:t>
            </a:r>
            <a:r>
              <a:rPr lang="en-US"/>
              <a:t> </a:t>
            </a:r>
            <a:r>
              <a:rPr lang="en-US" err="1"/>
              <a:t>konkrétního</a:t>
            </a:r>
            <a:r>
              <a:rPr lang="en-US"/>
              <a:t> </a:t>
            </a:r>
            <a:r>
              <a:rPr lang="en-US" err="1"/>
              <a:t>aplikačního</a:t>
            </a:r>
            <a:r>
              <a:rPr lang="en-US"/>
              <a:t> </a:t>
            </a:r>
            <a:r>
              <a:rPr lang="en-US" err="1"/>
              <a:t>protokolu</a:t>
            </a:r>
            <a:r>
              <a:rPr lang="en-US"/>
              <a:t>.</a:t>
            </a:r>
          </a:p>
          <a:p>
            <a:r>
              <a:rPr lang="en-US" err="1"/>
              <a:t>Díky</a:t>
            </a:r>
            <a:r>
              <a:rPr lang="en-US"/>
              <a:t> </a:t>
            </a:r>
            <a:r>
              <a:rPr lang="en-US" err="1"/>
              <a:t>tomu</a:t>
            </a:r>
            <a:r>
              <a:rPr lang="en-US"/>
              <a:t> </a:t>
            </a:r>
            <a:r>
              <a:rPr lang="en-US" err="1"/>
              <a:t>tak</a:t>
            </a:r>
            <a:r>
              <a:rPr lang="en-US"/>
              <a:t> </a:t>
            </a:r>
            <a:r>
              <a:rPr lang="en-US" err="1"/>
              <a:t>například</a:t>
            </a:r>
            <a:r>
              <a:rPr lang="en-US"/>
              <a:t> </a:t>
            </a:r>
            <a:r>
              <a:rPr lang="en-US" err="1"/>
              <a:t>dokáží</a:t>
            </a:r>
            <a:r>
              <a:rPr lang="en-US"/>
              <a:t> </a:t>
            </a:r>
            <a:r>
              <a:rPr lang="en-US" err="1"/>
              <a:t>rozpoznat</a:t>
            </a:r>
            <a:r>
              <a:rPr lang="en-US"/>
              <a:t> </a:t>
            </a:r>
            <a:r>
              <a:rPr lang="en-US" err="1"/>
              <a:t>pokus</a:t>
            </a:r>
            <a:r>
              <a:rPr lang="en-US"/>
              <a:t> o </a:t>
            </a:r>
            <a:r>
              <a:rPr lang="en-US" err="1"/>
              <a:t>tunelování</a:t>
            </a:r>
            <a:r>
              <a:rPr lang="en-US"/>
              <a:t> </a:t>
            </a:r>
            <a:r>
              <a:rPr lang="en-US" err="1"/>
              <a:t>nějakého</a:t>
            </a:r>
            <a:r>
              <a:rPr lang="en-US"/>
              <a:t> </a:t>
            </a:r>
            <a:r>
              <a:rPr lang="en-US" err="1"/>
              <a:t>protokolu</a:t>
            </a:r>
            <a:r>
              <a:rPr lang="en-US"/>
              <a:t> </a:t>
            </a:r>
            <a:r>
              <a:rPr lang="en-US" err="1"/>
              <a:t>skrz</a:t>
            </a:r>
            <a:r>
              <a:rPr lang="en-US"/>
              <a:t> HTTP</a:t>
            </a:r>
            <a:r>
              <a:rPr lang="cs-CZ"/>
              <a:t> </a:t>
            </a:r>
            <a:r>
              <a:rPr lang="en-US" err="1"/>
              <a:t>protokol</a:t>
            </a:r>
            <a:r>
              <a:rPr lang="en-US"/>
              <a:t>. </a:t>
            </a:r>
            <a:endParaRPr lang="cs-CZ"/>
          </a:p>
          <a:p>
            <a:r>
              <a:rPr lang="en-US" err="1"/>
              <a:t>Moderní</a:t>
            </a:r>
            <a:r>
              <a:rPr lang="en-US"/>
              <a:t> </a:t>
            </a:r>
            <a:r>
              <a:rPr lang="en-US" err="1"/>
              <a:t>firewally</a:t>
            </a:r>
            <a:r>
              <a:rPr lang="en-US"/>
              <a:t> </a:t>
            </a:r>
            <a:r>
              <a:rPr lang="en-US" err="1"/>
              <a:t>dokáží</a:t>
            </a:r>
            <a:r>
              <a:rPr lang="en-US"/>
              <a:t> </a:t>
            </a:r>
            <a:r>
              <a:rPr lang="en-US" err="1"/>
              <a:t>také</a:t>
            </a:r>
            <a:r>
              <a:rPr lang="en-US"/>
              <a:t> </a:t>
            </a:r>
            <a:r>
              <a:rPr lang="en-US" err="1"/>
              <a:t>rozpoznat</a:t>
            </a:r>
            <a:r>
              <a:rPr lang="en-US"/>
              <a:t> </a:t>
            </a:r>
            <a:r>
              <a:rPr lang="en-US" err="1"/>
              <a:t>některé</a:t>
            </a:r>
            <a:r>
              <a:rPr lang="en-US"/>
              <a:t> </a:t>
            </a:r>
            <a:r>
              <a:rPr lang="en-US" err="1"/>
              <a:t>pokusy</a:t>
            </a:r>
            <a:r>
              <a:rPr lang="en-US"/>
              <a:t> o </a:t>
            </a:r>
            <a:r>
              <a:rPr lang="en-US" err="1"/>
              <a:t>útok</a:t>
            </a:r>
            <a:r>
              <a:rPr lang="en-US"/>
              <a:t> </a:t>
            </a:r>
            <a:r>
              <a:rPr lang="en-US" err="1"/>
              <a:t>podle</a:t>
            </a:r>
            <a:r>
              <a:rPr lang="en-US"/>
              <a:t> </a:t>
            </a:r>
            <a:r>
              <a:rPr lang="en-US" err="1"/>
              <a:t>známých</a:t>
            </a:r>
            <a:r>
              <a:rPr lang="cs-CZ"/>
              <a:t> </a:t>
            </a:r>
            <a:r>
              <a:rPr lang="en-US" err="1"/>
              <a:t>signatur</a:t>
            </a:r>
            <a:r>
              <a:rPr lang="en-US"/>
              <a:t> </a:t>
            </a:r>
            <a:r>
              <a:rPr lang="en-US" err="1"/>
              <a:t>nebo</a:t>
            </a:r>
            <a:r>
              <a:rPr lang="en-US"/>
              <a:t> </a:t>
            </a:r>
            <a:r>
              <a:rPr lang="en-US" err="1"/>
              <a:t>na</a:t>
            </a:r>
            <a:r>
              <a:rPr lang="en-US"/>
              <a:t> </a:t>
            </a:r>
            <a:r>
              <a:rPr lang="en-US" err="1"/>
              <a:t>základě</a:t>
            </a:r>
            <a:r>
              <a:rPr lang="en-US"/>
              <a:t> </a:t>
            </a:r>
            <a:r>
              <a:rPr lang="en-US" err="1"/>
              <a:t>vlastní</a:t>
            </a:r>
            <a:r>
              <a:rPr lang="en-US"/>
              <a:t> </a:t>
            </a:r>
            <a:r>
              <a:rPr lang="en-US" err="1"/>
              <a:t>heuristiky</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220</a:t>
            </a:fld>
            <a:endParaRPr lang="cs-CZ"/>
          </a:p>
        </p:txBody>
      </p:sp>
    </p:spTree>
    <p:extLst>
      <p:ext uri="{BB962C8B-B14F-4D97-AF65-F5344CB8AC3E}">
        <p14:creationId xmlns:p14="http://schemas.microsoft.com/office/powerpoint/2010/main" val="1267510232"/>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Aplikační brány</a:t>
            </a:r>
            <a:endParaRPr lang="en-US"/>
          </a:p>
        </p:txBody>
      </p:sp>
      <p:sp>
        <p:nvSpPr>
          <p:cNvPr id="3" name="Content Placeholder 2"/>
          <p:cNvSpPr>
            <a:spLocks noGrp="1"/>
          </p:cNvSpPr>
          <p:nvPr>
            <p:ph idx="1"/>
          </p:nvPr>
        </p:nvSpPr>
        <p:spPr/>
        <p:txBody>
          <a:bodyPr/>
          <a:lstStyle/>
          <a:p>
            <a:r>
              <a:rPr lang="en-US" err="1"/>
              <a:t>Speciálním</a:t>
            </a:r>
            <a:r>
              <a:rPr lang="en-US"/>
              <a:t> </a:t>
            </a:r>
            <a:r>
              <a:rPr lang="en-US" err="1"/>
              <a:t>druhem</a:t>
            </a:r>
            <a:r>
              <a:rPr lang="en-US"/>
              <a:t> </a:t>
            </a:r>
            <a:r>
              <a:rPr lang="en-US" err="1"/>
              <a:t>firewallu</a:t>
            </a:r>
            <a:r>
              <a:rPr lang="en-US"/>
              <a:t> </a:t>
            </a:r>
            <a:r>
              <a:rPr lang="en-US" err="1"/>
              <a:t>jsou</a:t>
            </a:r>
            <a:r>
              <a:rPr lang="en-US"/>
              <a:t> </a:t>
            </a:r>
            <a:r>
              <a:rPr lang="en-US" err="1"/>
              <a:t>pak</a:t>
            </a:r>
            <a:r>
              <a:rPr lang="en-US"/>
              <a:t> </a:t>
            </a:r>
            <a:r>
              <a:rPr lang="en-US" i="1" err="1"/>
              <a:t>aplikační</a:t>
            </a:r>
            <a:r>
              <a:rPr lang="en-US" i="1"/>
              <a:t> </a:t>
            </a:r>
            <a:r>
              <a:rPr lang="en-US" i="1" err="1"/>
              <a:t>brány</a:t>
            </a:r>
            <a:r>
              <a:rPr lang="en-US"/>
              <a:t>, </a:t>
            </a:r>
            <a:r>
              <a:rPr lang="en-US" err="1"/>
              <a:t>někdy</a:t>
            </a:r>
            <a:r>
              <a:rPr lang="en-US"/>
              <a:t> </a:t>
            </a:r>
            <a:r>
              <a:rPr lang="en-US" err="1"/>
              <a:t>také</a:t>
            </a:r>
            <a:r>
              <a:rPr lang="en-US"/>
              <a:t> </a:t>
            </a:r>
            <a:r>
              <a:rPr lang="en-US" err="1"/>
              <a:t>nazývané</a:t>
            </a:r>
            <a:r>
              <a:rPr lang="en-US"/>
              <a:t> proxy </a:t>
            </a:r>
            <a:r>
              <a:rPr lang="en-US" err="1"/>
              <a:t>firewally</a:t>
            </a:r>
            <a:r>
              <a:rPr lang="cs-CZ"/>
              <a:t> </a:t>
            </a:r>
            <a:r>
              <a:rPr lang="en-US" err="1"/>
              <a:t>nebo</a:t>
            </a:r>
            <a:r>
              <a:rPr lang="en-US"/>
              <a:t> </a:t>
            </a:r>
            <a:r>
              <a:rPr lang="en-US" err="1"/>
              <a:t>aplikační</a:t>
            </a:r>
            <a:r>
              <a:rPr lang="en-US"/>
              <a:t> proxy. </a:t>
            </a:r>
            <a:endParaRPr lang="cs-CZ"/>
          </a:p>
          <a:p>
            <a:r>
              <a:rPr lang="en-US" err="1"/>
              <a:t>Tyto</a:t>
            </a:r>
            <a:r>
              <a:rPr lang="en-US"/>
              <a:t> </a:t>
            </a:r>
            <a:r>
              <a:rPr lang="en-US" err="1"/>
              <a:t>firewally</a:t>
            </a:r>
            <a:r>
              <a:rPr lang="en-US"/>
              <a:t> </a:t>
            </a:r>
            <a:r>
              <a:rPr lang="en-US" err="1"/>
              <a:t>oddělují</a:t>
            </a:r>
            <a:r>
              <a:rPr lang="en-US"/>
              <a:t> </a:t>
            </a:r>
            <a:r>
              <a:rPr lang="en-US" err="1"/>
              <a:t>komunikaci</a:t>
            </a:r>
            <a:r>
              <a:rPr lang="en-US"/>
              <a:t> </a:t>
            </a:r>
            <a:r>
              <a:rPr lang="en-US" err="1"/>
              <a:t>mezi</a:t>
            </a:r>
            <a:r>
              <a:rPr lang="en-US"/>
              <a:t> </a:t>
            </a:r>
            <a:r>
              <a:rPr lang="en-US" err="1"/>
              <a:t>sítěmi</a:t>
            </a:r>
            <a:r>
              <a:rPr lang="en-US"/>
              <a:t>. </a:t>
            </a:r>
            <a:endParaRPr lang="cs-CZ"/>
          </a:p>
          <a:p>
            <a:r>
              <a:rPr lang="en-US" err="1"/>
              <a:t>Aplikační</a:t>
            </a:r>
            <a:r>
              <a:rPr lang="en-US"/>
              <a:t> </a:t>
            </a:r>
            <a:r>
              <a:rPr lang="en-US" err="1"/>
              <a:t>brána</a:t>
            </a:r>
            <a:r>
              <a:rPr lang="en-US"/>
              <a:t> </a:t>
            </a:r>
            <a:r>
              <a:rPr lang="en-US" err="1"/>
              <a:t>přijme</a:t>
            </a:r>
            <a:r>
              <a:rPr lang="cs-CZ"/>
              <a:t> </a:t>
            </a:r>
            <a:r>
              <a:rPr lang="en-US" err="1"/>
              <a:t>požadavek</a:t>
            </a:r>
            <a:r>
              <a:rPr lang="en-US"/>
              <a:t> </a:t>
            </a:r>
            <a:r>
              <a:rPr lang="en-US" err="1"/>
              <a:t>počítačového</a:t>
            </a:r>
            <a:r>
              <a:rPr lang="en-US"/>
              <a:t> </a:t>
            </a:r>
            <a:r>
              <a:rPr lang="en-US" err="1"/>
              <a:t>systému</a:t>
            </a:r>
            <a:r>
              <a:rPr lang="en-US"/>
              <a:t>, </a:t>
            </a:r>
            <a:r>
              <a:rPr lang="en-US" err="1"/>
              <a:t>zpracuje</a:t>
            </a:r>
            <a:r>
              <a:rPr lang="en-US"/>
              <a:t> </a:t>
            </a:r>
            <a:r>
              <a:rPr lang="en-US" err="1"/>
              <a:t>jej</a:t>
            </a:r>
            <a:r>
              <a:rPr lang="en-US"/>
              <a:t> a </a:t>
            </a:r>
            <a:r>
              <a:rPr lang="en-US" err="1"/>
              <a:t>předá</a:t>
            </a:r>
            <a:r>
              <a:rPr lang="en-US"/>
              <a:t> </a:t>
            </a:r>
            <a:r>
              <a:rPr lang="en-US" err="1"/>
              <a:t>serveru</a:t>
            </a:r>
            <a:r>
              <a:rPr lang="en-US"/>
              <a:t>, </a:t>
            </a:r>
            <a:r>
              <a:rPr lang="en-US" err="1"/>
              <a:t>který</a:t>
            </a:r>
            <a:r>
              <a:rPr lang="en-US"/>
              <a:t> </a:t>
            </a:r>
            <a:r>
              <a:rPr lang="en-US" err="1"/>
              <a:t>vrátí</a:t>
            </a:r>
            <a:r>
              <a:rPr lang="en-US"/>
              <a:t> </a:t>
            </a:r>
            <a:r>
              <a:rPr lang="en-US" err="1"/>
              <a:t>odpověď</a:t>
            </a:r>
            <a:r>
              <a:rPr lang="en-US"/>
              <a:t> </a:t>
            </a:r>
            <a:r>
              <a:rPr lang="en-US" err="1"/>
              <a:t>aplikační</a:t>
            </a:r>
            <a:r>
              <a:rPr lang="cs-CZ"/>
              <a:t> </a:t>
            </a:r>
            <a:r>
              <a:rPr lang="en-US" err="1"/>
              <a:t>bráně</a:t>
            </a:r>
            <a:r>
              <a:rPr lang="en-US"/>
              <a:t> a ta </a:t>
            </a:r>
            <a:r>
              <a:rPr lang="en-US" err="1"/>
              <a:t>ji</a:t>
            </a:r>
            <a:r>
              <a:rPr lang="en-US"/>
              <a:t> </a:t>
            </a:r>
            <a:r>
              <a:rPr lang="en-US" err="1"/>
              <a:t>následně</a:t>
            </a:r>
            <a:r>
              <a:rPr lang="en-US"/>
              <a:t> </a:t>
            </a:r>
            <a:r>
              <a:rPr lang="en-US" err="1"/>
              <a:t>vrátí</a:t>
            </a:r>
            <a:r>
              <a:rPr lang="en-US"/>
              <a:t> </a:t>
            </a:r>
            <a:r>
              <a:rPr lang="en-US" err="1"/>
              <a:t>počítačovému</a:t>
            </a:r>
            <a:r>
              <a:rPr lang="en-US"/>
              <a:t> </a:t>
            </a:r>
            <a:r>
              <a:rPr lang="en-US" err="1"/>
              <a:t>systému</a:t>
            </a:r>
            <a:r>
              <a:rPr lang="en-US"/>
              <a:t>.</a:t>
            </a:r>
            <a:br>
              <a:rPr lang="en-US"/>
            </a:b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221</a:t>
            </a:fld>
            <a:endParaRPr lang="cs-CZ"/>
          </a:p>
        </p:txBody>
      </p:sp>
    </p:spTree>
    <p:extLst>
      <p:ext uri="{BB962C8B-B14F-4D97-AF65-F5344CB8AC3E}">
        <p14:creationId xmlns:p14="http://schemas.microsoft.com/office/powerpoint/2010/main" val="3384616542"/>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Aplikační brány</a:t>
            </a:r>
            <a:endParaRPr lang="en-US"/>
          </a:p>
        </p:txBody>
      </p:sp>
      <p:sp>
        <p:nvSpPr>
          <p:cNvPr id="3" name="Content Placeholder 2"/>
          <p:cNvSpPr>
            <a:spLocks noGrp="1"/>
          </p:cNvSpPr>
          <p:nvPr>
            <p:ph idx="1"/>
          </p:nvPr>
        </p:nvSpPr>
        <p:spPr/>
        <p:txBody>
          <a:bodyPr/>
          <a:lstStyle/>
          <a:p>
            <a:r>
              <a:rPr lang="en-US" err="1"/>
              <a:t>Aplikační</a:t>
            </a:r>
            <a:r>
              <a:rPr lang="en-US"/>
              <a:t> </a:t>
            </a:r>
            <a:r>
              <a:rPr lang="en-US" err="1"/>
              <a:t>brána</a:t>
            </a:r>
            <a:r>
              <a:rPr lang="en-US"/>
              <a:t> </a:t>
            </a:r>
            <a:r>
              <a:rPr lang="en-US" err="1"/>
              <a:t>rozumí</a:t>
            </a:r>
            <a:r>
              <a:rPr lang="en-US"/>
              <a:t> </a:t>
            </a:r>
            <a:r>
              <a:rPr lang="en-US" err="1"/>
              <a:t>protokolu</a:t>
            </a:r>
            <a:r>
              <a:rPr lang="en-US"/>
              <a:t>, pro </a:t>
            </a:r>
            <a:r>
              <a:rPr lang="en-US" err="1"/>
              <a:t>který</a:t>
            </a:r>
            <a:r>
              <a:rPr lang="cs-CZ"/>
              <a:t> </a:t>
            </a:r>
            <a:r>
              <a:rPr lang="en-US" err="1"/>
              <a:t>byla</a:t>
            </a:r>
            <a:r>
              <a:rPr lang="en-US"/>
              <a:t> </a:t>
            </a:r>
            <a:r>
              <a:rPr lang="en-US" err="1"/>
              <a:t>postavena</a:t>
            </a:r>
            <a:r>
              <a:rPr lang="en-US"/>
              <a:t>, a </a:t>
            </a:r>
            <a:r>
              <a:rPr lang="en-US" err="1"/>
              <a:t>dokáže</a:t>
            </a:r>
            <a:r>
              <a:rPr lang="en-US"/>
              <a:t> v </a:t>
            </a:r>
            <a:r>
              <a:rPr lang="en-US" err="1"/>
              <a:t>tomto</a:t>
            </a:r>
            <a:r>
              <a:rPr lang="en-US"/>
              <a:t> </a:t>
            </a:r>
            <a:r>
              <a:rPr lang="en-US" err="1"/>
              <a:t>protokolu</a:t>
            </a:r>
            <a:r>
              <a:rPr lang="en-US"/>
              <a:t> </a:t>
            </a:r>
            <a:r>
              <a:rPr lang="en-US" err="1"/>
              <a:t>detekovat</a:t>
            </a:r>
            <a:r>
              <a:rPr lang="en-US"/>
              <a:t> </a:t>
            </a:r>
            <a:r>
              <a:rPr lang="en-US" err="1"/>
              <a:t>nejrůznější</a:t>
            </a:r>
            <a:r>
              <a:rPr lang="en-US"/>
              <a:t> </a:t>
            </a:r>
            <a:r>
              <a:rPr lang="en-US" err="1"/>
              <a:t>chyby</a:t>
            </a:r>
            <a:r>
              <a:rPr lang="en-US"/>
              <a:t> </a:t>
            </a:r>
            <a:r>
              <a:rPr lang="en-US" err="1"/>
              <a:t>i</a:t>
            </a:r>
            <a:r>
              <a:rPr lang="en-US"/>
              <a:t> </a:t>
            </a:r>
            <a:r>
              <a:rPr lang="en-US" err="1"/>
              <a:t>útoky</a:t>
            </a:r>
            <a:r>
              <a:rPr lang="en-US"/>
              <a:t>. </a:t>
            </a:r>
            <a:endParaRPr lang="cs-CZ"/>
          </a:p>
          <a:p>
            <a:r>
              <a:rPr lang="en-US"/>
              <a:t>V </a:t>
            </a:r>
            <a:r>
              <a:rPr lang="en-US" err="1"/>
              <a:t>případě</a:t>
            </a:r>
            <a:r>
              <a:rPr lang="cs-CZ"/>
              <a:t> </a:t>
            </a:r>
            <a:r>
              <a:rPr lang="en-US"/>
              <a:t>HTTP </a:t>
            </a:r>
            <a:r>
              <a:rPr lang="en-US" err="1"/>
              <a:t>serveru</a:t>
            </a:r>
            <a:r>
              <a:rPr lang="en-US"/>
              <a:t> </a:t>
            </a:r>
            <a:r>
              <a:rPr lang="en-US" err="1"/>
              <a:t>tak</a:t>
            </a:r>
            <a:r>
              <a:rPr lang="en-US"/>
              <a:t> </a:t>
            </a:r>
            <a:r>
              <a:rPr lang="en-US" err="1"/>
              <a:t>může</a:t>
            </a:r>
            <a:r>
              <a:rPr lang="en-US"/>
              <a:t> </a:t>
            </a:r>
            <a:r>
              <a:rPr lang="en-US" err="1"/>
              <a:t>rozpoznat</a:t>
            </a:r>
            <a:r>
              <a:rPr lang="en-US"/>
              <a:t> </a:t>
            </a:r>
            <a:r>
              <a:rPr lang="en-US" err="1"/>
              <a:t>pokusy</a:t>
            </a:r>
            <a:r>
              <a:rPr lang="en-US"/>
              <a:t> o SQL injection, XSS, </a:t>
            </a:r>
            <a:r>
              <a:rPr lang="en-US" err="1"/>
              <a:t>nebo</a:t>
            </a:r>
            <a:r>
              <a:rPr lang="en-US"/>
              <a:t> </a:t>
            </a:r>
            <a:r>
              <a:rPr lang="en-US" err="1"/>
              <a:t>rozpoznat</a:t>
            </a:r>
            <a:r>
              <a:rPr lang="en-US"/>
              <a:t> </a:t>
            </a:r>
            <a:r>
              <a:rPr lang="en-US" err="1"/>
              <a:t>pokusy</a:t>
            </a:r>
            <a:r>
              <a:rPr lang="cs-CZ"/>
              <a:t> </a:t>
            </a:r>
            <a:r>
              <a:rPr lang="en-US"/>
              <a:t>o </a:t>
            </a:r>
            <a:r>
              <a:rPr lang="en-US" err="1"/>
              <a:t>útoky</a:t>
            </a:r>
            <a:r>
              <a:rPr lang="en-US"/>
              <a:t> </a:t>
            </a:r>
            <a:r>
              <a:rPr lang="en-US" err="1"/>
              <a:t>hrubou</a:t>
            </a:r>
            <a:r>
              <a:rPr lang="en-US"/>
              <a:t> </a:t>
            </a:r>
            <a:r>
              <a:rPr lang="en-US" err="1"/>
              <a:t>silou</a:t>
            </a:r>
            <a:r>
              <a:rPr lang="en-US"/>
              <a:t> </a:t>
            </a:r>
            <a:r>
              <a:rPr lang="en-US" err="1"/>
              <a:t>na</a:t>
            </a:r>
            <a:r>
              <a:rPr lang="en-US"/>
              <a:t> </a:t>
            </a:r>
            <a:r>
              <a:rPr lang="en-US" err="1"/>
              <a:t>uživatelské</a:t>
            </a:r>
            <a:r>
              <a:rPr lang="en-US"/>
              <a:t> </a:t>
            </a:r>
            <a:r>
              <a:rPr lang="en-US" err="1"/>
              <a:t>účty</a:t>
            </a:r>
            <a:r>
              <a:rPr lang="en-US"/>
              <a:t> a </a:t>
            </a:r>
            <a:r>
              <a:rPr lang="en-US" err="1"/>
              <a:t>takovéto</a:t>
            </a:r>
            <a:r>
              <a:rPr lang="en-US"/>
              <a:t> </a:t>
            </a:r>
            <a:r>
              <a:rPr lang="en-US" err="1"/>
              <a:t>dotazy</a:t>
            </a:r>
            <a:r>
              <a:rPr lang="en-US"/>
              <a:t> </a:t>
            </a:r>
            <a:r>
              <a:rPr lang="en-US" err="1"/>
              <a:t>rovnou</a:t>
            </a:r>
            <a:r>
              <a:rPr lang="en-US"/>
              <a:t> </a:t>
            </a:r>
            <a:r>
              <a:rPr lang="en-US" err="1"/>
              <a:t>zahodit</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222</a:t>
            </a:fld>
            <a:endParaRPr lang="cs-CZ"/>
          </a:p>
        </p:txBody>
      </p:sp>
    </p:spTree>
    <p:extLst>
      <p:ext uri="{BB962C8B-B14F-4D97-AF65-F5344CB8AC3E}">
        <p14:creationId xmlns:p14="http://schemas.microsoft.com/office/powerpoint/2010/main" val="1440965021"/>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Aplikační brány</a:t>
            </a: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223</a:t>
            </a:fld>
            <a:endParaRPr lang="cs-CZ"/>
          </a:p>
        </p:txBody>
      </p:sp>
      <p:pic>
        <p:nvPicPr>
          <p:cNvPr id="6" name="Picture 5"/>
          <p:cNvPicPr>
            <a:picLocks noChangeAspect="1"/>
          </p:cNvPicPr>
          <p:nvPr/>
        </p:nvPicPr>
        <p:blipFill>
          <a:blip r:embed="rId2"/>
          <a:stretch>
            <a:fillRect/>
          </a:stretch>
        </p:blipFill>
        <p:spPr>
          <a:xfrm>
            <a:off x="1541712" y="1800104"/>
            <a:ext cx="9280517" cy="4665662"/>
          </a:xfrm>
          <a:prstGeom prst="rect">
            <a:avLst/>
          </a:prstGeom>
        </p:spPr>
      </p:pic>
    </p:spTree>
    <p:extLst>
      <p:ext uri="{BB962C8B-B14F-4D97-AF65-F5344CB8AC3E}">
        <p14:creationId xmlns:p14="http://schemas.microsoft.com/office/powerpoint/2010/main" val="2732160136"/>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Výběr vhodného firewallu</a:t>
            </a:r>
            <a:endParaRPr lang="en-US" b="1"/>
          </a:p>
        </p:txBody>
      </p:sp>
      <p:sp>
        <p:nvSpPr>
          <p:cNvPr id="3" name="Content Placeholder 2"/>
          <p:cNvSpPr>
            <a:spLocks noGrp="1"/>
          </p:cNvSpPr>
          <p:nvPr>
            <p:ph idx="1"/>
          </p:nvPr>
        </p:nvSpPr>
        <p:spPr/>
        <p:txBody>
          <a:bodyPr/>
          <a:lstStyle/>
          <a:p>
            <a:r>
              <a:rPr lang="en-US" err="1"/>
              <a:t>Při</a:t>
            </a:r>
            <a:r>
              <a:rPr lang="en-US"/>
              <a:t> </a:t>
            </a:r>
            <a:r>
              <a:rPr lang="en-US" err="1"/>
              <a:t>výběru</a:t>
            </a:r>
            <a:r>
              <a:rPr lang="en-US"/>
              <a:t> </a:t>
            </a:r>
            <a:r>
              <a:rPr lang="en-US" err="1"/>
              <a:t>vhodného</a:t>
            </a:r>
            <a:r>
              <a:rPr lang="en-US"/>
              <a:t> </a:t>
            </a:r>
            <a:r>
              <a:rPr lang="en-US" err="1"/>
              <a:t>firewallu</a:t>
            </a:r>
            <a:r>
              <a:rPr lang="en-US"/>
              <a:t> je </a:t>
            </a:r>
            <a:r>
              <a:rPr lang="en-US" err="1"/>
              <a:t>vhodné</a:t>
            </a:r>
            <a:r>
              <a:rPr lang="en-US"/>
              <a:t> </a:t>
            </a:r>
            <a:r>
              <a:rPr lang="en-US" err="1"/>
              <a:t>předem</a:t>
            </a:r>
            <a:r>
              <a:rPr lang="en-US"/>
              <a:t> </a:t>
            </a:r>
            <a:r>
              <a:rPr lang="en-US" err="1"/>
              <a:t>definovat</a:t>
            </a:r>
            <a:r>
              <a:rPr lang="en-US"/>
              <a:t> </a:t>
            </a:r>
            <a:r>
              <a:rPr lang="en-US" err="1"/>
              <a:t>účel</a:t>
            </a:r>
            <a:r>
              <a:rPr lang="en-US"/>
              <a:t>, k </a:t>
            </a:r>
            <a:r>
              <a:rPr lang="en-US" err="1"/>
              <a:t>jakému</a:t>
            </a:r>
            <a:r>
              <a:rPr lang="en-US"/>
              <a:t> </a:t>
            </a:r>
            <a:r>
              <a:rPr lang="en-US" err="1"/>
              <a:t>bude</a:t>
            </a:r>
            <a:r>
              <a:rPr lang="en-US"/>
              <a:t> firewall </a:t>
            </a:r>
            <a:r>
              <a:rPr lang="en-US" err="1"/>
              <a:t>využíván</a:t>
            </a:r>
            <a:r>
              <a:rPr lang="en-US"/>
              <a:t>.</a:t>
            </a:r>
          </a:p>
          <a:p>
            <a:r>
              <a:rPr lang="en-US" err="1"/>
              <a:t>Bezpečnostní</a:t>
            </a:r>
            <a:r>
              <a:rPr lang="en-US"/>
              <a:t> </a:t>
            </a:r>
            <a:r>
              <a:rPr lang="en-US" err="1"/>
              <a:t>politika</a:t>
            </a:r>
            <a:r>
              <a:rPr lang="en-US"/>
              <a:t> </a:t>
            </a:r>
            <a:r>
              <a:rPr lang="en-US" err="1"/>
              <a:t>vztahující</a:t>
            </a:r>
            <a:r>
              <a:rPr lang="en-US"/>
              <a:t> se k </a:t>
            </a:r>
            <a:r>
              <a:rPr lang="en-US" err="1"/>
              <a:t>počítačové</a:t>
            </a:r>
            <a:r>
              <a:rPr lang="en-US"/>
              <a:t> </a:t>
            </a:r>
            <a:r>
              <a:rPr lang="en-US" err="1"/>
              <a:t>síti</a:t>
            </a:r>
            <a:r>
              <a:rPr lang="en-US"/>
              <a:t> a </a:t>
            </a:r>
            <a:r>
              <a:rPr lang="en-US" err="1"/>
              <a:t>službám</a:t>
            </a:r>
            <a:r>
              <a:rPr lang="en-US"/>
              <a:t> by </a:t>
            </a:r>
            <a:r>
              <a:rPr lang="en-US" err="1"/>
              <a:t>měla</a:t>
            </a:r>
            <a:r>
              <a:rPr lang="en-US"/>
              <a:t> </a:t>
            </a:r>
            <a:r>
              <a:rPr lang="en-US" err="1"/>
              <a:t>definovat</a:t>
            </a:r>
            <a:r>
              <a:rPr lang="en-US"/>
              <a:t>:</a:t>
            </a:r>
            <a:endParaRPr lang="cs-CZ"/>
          </a:p>
          <a:p>
            <a:pPr lvl="1"/>
            <a:r>
              <a:rPr lang="en-US" err="1"/>
              <a:t>povolené</a:t>
            </a:r>
            <a:r>
              <a:rPr lang="en-US"/>
              <a:t> </a:t>
            </a:r>
            <a:r>
              <a:rPr lang="en-US" err="1"/>
              <a:t>služby</a:t>
            </a:r>
            <a:r>
              <a:rPr lang="en-US"/>
              <a:t> a </a:t>
            </a:r>
            <a:r>
              <a:rPr lang="en-US" err="1"/>
              <a:t>aplikace</a:t>
            </a:r>
            <a:r>
              <a:rPr lang="en-US"/>
              <a:t>,</a:t>
            </a:r>
          </a:p>
          <a:p>
            <a:pPr lvl="1"/>
            <a:r>
              <a:rPr lang="en-US" err="1"/>
              <a:t>rozsah</a:t>
            </a:r>
            <a:r>
              <a:rPr lang="en-US"/>
              <a:t> </a:t>
            </a:r>
            <a:r>
              <a:rPr lang="en-US" err="1"/>
              <a:t>filtrovaného</a:t>
            </a:r>
            <a:r>
              <a:rPr lang="en-US"/>
              <a:t> </a:t>
            </a:r>
            <a:r>
              <a:rPr lang="en-US" err="1"/>
              <a:t>provozu</a:t>
            </a:r>
            <a:r>
              <a:rPr lang="en-US"/>
              <a:t>,</a:t>
            </a:r>
          </a:p>
          <a:p>
            <a:pPr lvl="1"/>
            <a:r>
              <a:rPr lang="en-US" err="1"/>
              <a:t>rozsah</a:t>
            </a:r>
            <a:r>
              <a:rPr lang="en-US"/>
              <a:t> </a:t>
            </a:r>
            <a:r>
              <a:rPr lang="en-US" err="1"/>
              <a:t>údajů</a:t>
            </a:r>
            <a:r>
              <a:rPr lang="en-US"/>
              <a:t>, </a:t>
            </a:r>
            <a:r>
              <a:rPr lang="en-US" err="1"/>
              <a:t>jež</a:t>
            </a:r>
            <a:r>
              <a:rPr lang="en-US"/>
              <a:t> </a:t>
            </a:r>
            <a:r>
              <a:rPr lang="en-US" err="1"/>
              <a:t>budou</a:t>
            </a:r>
            <a:r>
              <a:rPr lang="en-US"/>
              <a:t> </a:t>
            </a:r>
            <a:r>
              <a:rPr lang="en-US" err="1"/>
              <a:t>logovány</a:t>
            </a:r>
            <a:r>
              <a:rPr lang="en-US"/>
              <a:t> </a:t>
            </a:r>
            <a:r>
              <a:rPr lang="en-US" err="1"/>
              <a:t>aj</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224</a:t>
            </a:fld>
            <a:endParaRPr lang="cs-CZ"/>
          </a:p>
        </p:txBody>
      </p:sp>
    </p:spTree>
    <p:extLst>
      <p:ext uri="{BB962C8B-B14F-4D97-AF65-F5344CB8AC3E}">
        <p14:creationId xmlns:p14="http://schemas.microsoft.com/office/powerpoint/2010/main" val="3130708857"/>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Výběr vhodného firewallu</a:t>
            </a:r>
            <a:endParaRPr lang="en-US"/>
          </a:p>
        </p:txBody>
      </p:sp>
      <p:sp>
        <p:nvSpPr>
          <p:cNvPr id="3" name="Content Placeholder 2"/>
          <p:cNvSpPr>
            <a:spLocks noGrp="1"/>
          </p:cNvSpPr>
          <p:nvPr>
            <p:ph idx="1"/>
          </p:nvPr>
        </p:nvSpPr>
        <p:spPr/>
        <p:txBody>
          <a:bodyPr>
            <a:normAutofit/>
          </a:bodyPr>
          <a:lstStyle/>
          <a:p>
            <a:r>
              <a:rPr lang="en-US" err="1"/>
              <a:t>Krom</a:t>
            </a:r>
            <a:r>
              <a:rPr lang="en-US"/>
              <a:t> </a:t>
            </a:r>
            <a:r>
              <a:rPr lang="en-US" err="1"/>
              <a:t>příchozího</a:t>
            </a:r>
            <a:r>
              <a:rPr lang="en-US"/>
              <a:t> </a:t>
            </a:r>
            <a:r>
              <a:rPr lang="en-US" err="1"/>
              <a:t>provozu</a:t>
            </a:r>
            <a:r>
              <a:rPr lang="en-US"/>
              <a:t> je </a:t>
            </a:r>
            <a:r>
              <a:rPr lang="en-US" err="1"/>
              <a:t>také</a:t>
            </a:r>
            <a:r>
              <a:rPr lang="en-US"/>
              <a:t> </a:t>
            </a:r>
            <a:r>
              <a:rPr lang="en-US" err="1"/>
              <a:t>třeba</a:t>
            </a:r>
            <a:r>
              <a:rPr lang="en-US"/>
              <a:t> </a:t>
            </a:r>
            <a:r>
              <a:rPr lang="en-US" err="1"/>
              <a:t>nastavit</a:t>
            </a:r>
            <a:r>
              <a:rPr lang="en-US"/>
              <a:t> </a:t>
            </a:r>
            <a:r>
              <a:rPr lang="en-US" err="1"/>
              <a:t>pravidla</a:t>
            </a:r>
            <a:r>
              <a:rPr lang="en-US"/>
              <a:t> </a:t>
            </a:r>
            <a:r>
              <a:rPr lang="en-US" err="1"/>
              <a:t>i</a:t>
            </a:r>
            <a:r>
              <a:rPr lang="en-US"/>
              <a:t> pro </a:t>
            </a:r>
            <a:r>
              <a:rPr lang="en-US" err="1"/>
              <a:t>provoz</a:t>
            </a:r>
            <a:r>
              <a:rPr lang="en-US"/>
              <a:t> </a:t>
            </a:r>
            <a:r>
              <a:rPr lang="en-US" err="1"/>
              <a:t>odchozí</a:t>
            </a:r>
            <a:r>
              <a:rPr lang="en-US"/>
              <a:t>. </a:t>
            </a:r>
            <a:endParaRPr lang="cs-CZ"/>
          </a:p>
          <a:p>
            <a:r>
              <a:rPr lang="en-US" err="1"/>
              <a:t>Kontrola</a:t>
            </a:r>
            <a:r>
              <a:rPr lang="cs-CZ"/>
              <a:t> </a:t>
            </a:r>
            <a:r>
              <a:rPr lang="en-US" err="1"/>
              <a:t>odchozího</a:t>
            </a:r>
            <a:r>
              <a:rPr lang="en-US"/>
              <a:t> </a:t>
            </a:r>
            <a:r>
              <a:rPr lang="en-US" err="1"/>
              <a:t>provozu</a:t>
            </a:r>
            <a:r>
              <a:rPr lang="en-US"/>
              <a:t> </a:t>
            </a:r>
            <a:r>
              <a:rPr lang="en-US" err="1"/>
              <a:t>může</a:t>
            </a:r>
            <a:r>
              <a:rPr lang="en-US"/>
              <a:t> </a:t>
            </a:r>
            <a:r>
              <a:rPr lang="en-US" err="1"/>
              <a:t>správce</a:t>
            </a:r>
            <a:r>
              <a:rPr lang="en-US"/>
              <a:t> </a:t>
            </a:r>
            <a:r>
              <a:rPr lang="en-US" err="1"/>
              <a:t>sítě</a:t>
            </a:r>
            <a:r>
              <a:rPr lang="en-US"/>
              <a:t> </a:t>
            </a:r>
            <a:r>
              <a:rPr lang="en-US" err="1"/>
              <a:t>včas</a:t>
            </a:r>
            <a:r>
              <a:rPr lang="en-US"/>
              <a:t> </a:t>
            </a:r>
            <a:r>
              <a:rPr lang="en-US" err="1"/>
              <a:t>upozornit</a:t>
            </a:r>
            <a:r>
              <a:rPr lang="en-US"/>
              <a:t> </a:t>
            </a:r>
            <a:r>
              <a:rPr lang="en-US" err="1"/>
              <a:t>na</a:t>
            </a:r>
            <a:r>
              <a:rPr lang="en-US"/>
              <a:t> </a:t>
            </a:r>
            <a:r>
              <a:rPr lang="en-US" err="1"/>
              <a:t>nevhodné</a:t>
            </a:r>
            <a:r>
              <a:rPr lang="en-US"/>
              <a:t> </a:t>
            </a:r>
            <a:r>
              <a:rPr lang="en-US" err="1"/>
              <a:t>chování</a:t>
            </a:r>
            <a:r>
              <a:rPr lang="en-US"/>
              <a:t> </a:t>
            </a:r>
            <a:r>
              <a:rPr lang="en-US" err="1"/>
              <a:t>uživatele</a:t>
            </a:r>
            <a:r>
              <a:rPr lang="en-US"/>
              <a:t> (</a:t>
            </a:r>
            <a:r>
              <a:rPr lang="en-US" err="1"/>
              <a:t>např</a:t>
            </a:r>
            <a:r>
              <a:rPr lang="en-US"/>
              <a:t>.</a:t>
            </a:r>
            <a:r>
              <a:rPr lang="cs-CZ"/>
              <a:t> </a:t>
            </a:r>
            <a:r>
              <a:rPr lang="en-US" err="1"/>
              <a:t>rozesílání</a:t>
            </a:r>
            <a:r>
              <a:rPr lang="en-US"/>
              <a:t> </a:t>
            </a:r>
            <a:r>
              <a:rPr lang="en-US" err="1"/>
              <a:t>spamu</a:t>
            </a:r>
            <a:r>
              <a:rPr lang="en-US"/>
              <a:t>, </a:t>
            </a:r>
            <a:r>
              <a:rPr lang="en-US" err="1"/>
              <a:t>stahování</a:t>
            </a:r>
            <a:r>
              <a:rPr lang="en-US"/>
              <a:t> </a:t>
            </a:r>
            <a:r>
              <a:rPr lang="en-US" err="1"/>
              <a:t>torrentů</a:t>
            </a:r>
            <a:r>
              <a:rPr lang="en-US"/>
              <a:t> </a:t>
            </a:r>
            <a:r>
              <a:rPr lang="en-US" err="1"/>
              <a:t>aj</a:t>
            </a:r>
            <a:r>
              <a:rPr lang="en-US"/>
              <a:t>.), ale </a:t>
            </a:r>
            <a:r>
              <a:rPr lang="en-US" err="1"/>
              <a:t>také</a:t>
            </a:r>
            <a:r>
              <a:rPr lang="en-US"/>
              <a:t> </a:t>
            </a:r>
            <a:r>
              <a:rPr lang="en-US" err="1"/>
              <a:t>může</a:t>
            </a:r>
            <a:r>
              <a:rPr lang="en-US"/>
              <a:t> </a:t>
            </a:r>
            <a:r>
              <a:rPr lang="en-US" err="1"/>
              <a:t>pomoci</a:t>
            </a:r>
            <a:r>
              <a:rPr lang="en-US"/>
              <a:t> s </a:t>
            </a:r>
            <a:r>
              <a:rPr lang="en-US" err="1"/>
              <a:t>ochranou</a:t>
            </a:r>
            <a:r>
              <a:rPr lang="en-US"/>
              <a:t> v </a:t>
            </a:r>
            <a:r>
              <a:rPr lang="en-US" err="1"/>
              <a:t>případě</a:t>
            </a:r>
            <a:r>
              <a:rPr lang="en-US"/>
              <a:t> </a:t>
            </a:r>
            <a:r>
              <a:rPr lang="en-US" err="1"/>
              <a:t>napadení</a:t>
            </a:r>
            <a:br>
              <a:rPr lang="en-US"/>
            </a:br>
            <a:r>
              <a:rPr lang="en-US" err="1"/>
              <a:t>počítačové</a:t>
            </a:r>
            <a:r>
              <a:rPr lang="en-US"/>
              <a:t> </a:t>
            </a:r>
            <a:r>
              <a:rPr lang="en-US" err="1"/>
              <a:t>sítě</a:t>
            </a:r>
            <a:r>
              <a:rPr lang="en-US"/>
              <a:t> </a:t>
            </a:r>
            <a:r>
              <a:rPr lang="en-US" err="1"/>
              <a:t>škodlivým</a:t>
            </a:r>
            <a:r>
              <a:rPr lang="en-US"/>
              <a:t> </a:t>
            </a:r>
            <a:r>
              <a:rPr lang="en-US" err="1"/>
              <a:t>softwarem</a:t>
            </a:r>
            <a:r>
              <a:rPr lang="en-US"/>
              <a:t> (malware).</a:t>
            </a:r>
            <a:endParaRPr lang="cs-CZ"/>
          </a:p>
          <a:p>
            <a:r>
              <a:rPr lang="en-US" err="1"/>
              <a:t>Při</a:t>
            </a:r>
            <a:r>
              <a:rPr lang="en-US"/>
              <a:t> </a:t>
            </a:r>
            <a:r>
              <a:rPr lang="en-US" err="1"/>
              <a:t>výběru</a:t>
            </a:r>
            <a:r>
              <a:rPr lang="en-US"/>
              <a:t> </a:t>
            </a:r>
            <a:r>
              <a:rPr lang="en-US" err="1"/>
              <a:t>firewallu</a:t>
            </a:r>
            <a:r>
              <a:rPr lang="en-US"/>
              <a:t> s </a:t>
            </a:r>
            <a:r>
              <a:rPr lang="en-US" err="1"/>
              <a:t>pokročilými</a:t>
            </a:r>
            <a:r>
              <a:rPr lang="en-US"/>
              <a:t> </a:t>
            </a:r>
            <a:r>
              <a:rPr lang="en-US" err="1"/>
              <a:t>funkcemi</a:t>
            </a:r>
            <a:r>
              <a:rPr lang="en-US"/>
              <a:t> je </a:t>
            </a:r>
            <a:r>
              <a:rPr lang="en-US" err="1"/>
              <a:t>vhodné</a:t>
            </a:r>
            <a:r>
              <a:rPr lang="en-US"/>
              <a:t> se </a:t>
            </a:r>
            <a:r>
              <a:rPr lang="en-US" err="1"/>
              <a:t>předem</a:t>
            </a:r>
            <a:r>
              <a:rPr lang="en-US"/>
              <a:t> </a:t>
            </a:r>
            <a:r>
              <a:rPr lang="en-US" err="1"/>
              <a:t>seznámit</a:t>
            </a:r>
            <a:r>
              <a:rPr lang="en-US"/>
              <a:t> s </a:t>
            </a:r>
            <a:r>
              <a:rPr lang="en-US" err="1"/>
              <a:t>jejich</a:t>
            </a:r>
            <a:r>
              <a:rPr lang="en-US"/>
              <a:t> </a:t>
            </a:r>
            <a:r>
              <a:rPr lang="en-US" err="1"/>
              <a:t>možnostmi</a:t>
            </a:r>
            <a:r>
              <a:rPr lang="cs-CZ"/>
              <a:t> </a:t>
            </a:r>
            <a:r>
              <a:rPr lang="en-US" err="1"/>
              <a:t>i</a:t>
            </a:r>
            <a:r>
              <a:rPr lang="en-US"/>
              <a:t> </a:t>
            </a:r>
            <a:r>
              <a:rPr lang="en-US" err="1"/>
              <a:t>případnými</a:t>
            </a:r>
            <a:r>
              <a:rPr lang="en-US"/>
              <a:t> </a:t>
            </a:r>
            <a:r>
              <a:rPr lang="en-US" err="1"/>
              <a:t>limity</a:t>
            </a:r>
            <a:r>
              <a:rPr lang="en-US"/>
              <a:t>.</a:t>
            </a:r>
            <a:br>
              <a:rPr lang="en-US"/>
            </a:b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225</a:t>
            </a:fld>
            <a:endParaRPr lang="cs-CZ"/>
          </a:p>
        </p:txBody>
      </p:sp>
    </p:spTree>
    <p:extLst>
      <p:ext uri="{BB962C8B-B14F-4D97-AF65-F5344CB8AC3E}">
        <p14:creationId xmlns:p14="http://schemas.microsoft.com/office/powerpoint/2010/main" val="3974389691"/>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Proxy servery</a:t>
            </a:r>
            <a:endParaRPr lang="en-US" b="1"/>
          </a:p>
        </p:txBody>
      </p:sp>
      <p:sp>
        <p:nvSpPr>
          <p:cNvPr id="3" name="Content Placeholder 2"/>
          <p:cNvSpPr>
            <a:spLocks noGrp="1"/>
          </p:cNvSpPr>
          <p:nvPr>
            <p:ph idx="1"/>
          </p:nvPr>
        </p:nvSpPr>
        <p:spPr/>
        <p:txBody>
          <a:bodyPr/>
          <a:lstStyle/>
          <a:p>
            <a:r>
              <a:rPr lang="en-US" b="1"/>
              <a:t>Proxy server</a:t>
            </a:r>
            <a:r>
              <a:rPr lang="en-US"/>
              <a:t> </a:t>
            </a:r>
            <a:r>
              <a:rPr lang="en-US" err="1"/>
              <a:t>funguje</a:t>
            </a:r>
            <a:r>
              <a:rPr lang="en-US"/>
              <a:t> </a:t>
            </a:r>
            <a:r>
              <a:rPr lang="en-US" err="1"/>
              <a:t>jako</a:t>
            </a:r>
            <a:r>
              <a:rPr lang="en-US"/>
              <a:t> </a:t>
            </a:r>
            <a:r>
              <a:rPr lang="en-US" err="1"/>
              <a:t>prostředník</a:t>
            </a:r>
            <a:r>
              <a:rPr lang="en-US"/>
              <a:t> </a:t>
            </a:r>
            <a:r>
              <a:rPr lang="en-US" err="1"/>
              <a:t>mezi</a:t>
            </a:r>
            <a:r>
              <a:rPr lang="cs-CZ"/>
              <a:t> klientem</a:t>
            </a:r>
            <a:r>
              <a:rPr lang="en-US"/>
              <a:t> a </a:t>
            </a:r>
            <a:r>
              <a:rPr lang="en-US" err="1"/>
              <a:t>cílovým</a:t>
            </a:r>
            <a:r>
              <a:rPr lang="en-US"/>
              <a:t> </a:t>
            </a:r>
            <a:r>
              <a:rPr lang="cs-CZ"/>
              <a:t>počítačem</a:t>
            </a:r>
            <a:r>
              <a:rPr lang="en-US"/>
              <a:t> (</a:t>
            </a:r>
            <a:r>
              <a:rPr lang="cs-CZ"/>
              <a:t>serverem</a:t>
            </a:r>
            <a:r>
              <a:rPr lang="en-US"/>
              <a:t>), </a:t>
            </a:r>
            <a:r>
              <a:rPr lang="en-US" err="1"/>
              <a:t>překládá</a:t>
            </a:r>
            <a:r>
              <a:rPr lang="en-US"/>
              <a:t> </a:t>
            </a:r>
            <a:r>
              <a:rPr lang="en-US" err="1"/>
              <a:t>klientské</a:t>
            </a:r>
            <a:r>
              <a:rPr lang="en-US"/>
              <a:t> </a:t>
            </a:r>
            <a:r>
              <a:rPr lang="en-US" err="1"/>
              <a:t>požadavky</a:t>
            </a:r>
            <a:r>
              <a:rPr lang="en-US"/>
              <a:t> a </a:t>
            </a:r>
            <a:r>
              <a:rPr lang="en-US" err="1"/>
              <a:t>vůči</a:t>
            </a:r>
            <a:r>
              <a:rPr lang="en-US"/>
              <a:t> </a:t>
            </a:r>
            <a:r>
              <a:rPr lang="en-US" err="1"/>
              <a:t>cílovému</a:t>
            </a:r>
            <a:r>
              <a:rPr lang="en-US"/>
              <a:t> </a:t>
            </a:r>
            <a:r>
              <a:rPr lang="en-US" err="1"/>
              <a:t>počítači</a:t>
            </a:r>
            <a:r>
              <a:rPr lang="en-US"/>
              <a:t> </a:t>
            </a:r>
            <a:r>
              <a:rPr lang="en-US" err="1"/>
              <a:t>vystupuje</a:t>
            </a:r>
            <a:r>
              <a:rPr lang="en-US"/>
              <a:t> </a:t>
            </a:r>
            <a:r>
              <a:rPr lang="en-US" err="1"/>
              <a:t>sám</a:t>
            </a:r>
            <a:r>
              <a:rPr lang="en-US"/>
              <a:t> </a:t>
            </a:r>
            <a:r>
              <a:rPr lang="en-US" err="1"/>
              <a:t>jako</a:t>
            </a:r>
            <a:r>
              <a:rPr lang="en-US"/>
              <a:t> </a:t>
            </a:r>
            <a:r>
              <a:rPr lang="en-US" err="1"/>
              <a:t>klient</a:t>
            </a:r>
            <a:r>
              <a:rPr lang="en-US"/>
              <a:t>. </a:t>
            </a:r>
            <a:endParaRPr lang="cs-CZ"/>
          </a:p>
          <a:p>
            <a:r>
              <a:rPr lang="en-US" err="1"/>
              <a:t>Přijatou</a:t>
            </a:r>
            <a:r>
              <a:rPr lang="en-US"/>
              <a:t> </a:t>
            </a:r>
            <a:r>
              <a:rPr lang="en-US" err="1"/>
              <a:t>odpověď</a:t>
            </a:r>
            <a:r>
              <a:rPr lang="en-US"/>
              <a:t> </a:t>
            </a:r>
            <a:r>
              <a:rPr lang="en-US" err="1"/>
              <a:t>následně</a:t>
            </a:r>
            <a:r>
              <a:rPr lang="en-US"/>
              <a:t> </a:t>
            </a:r>
            <a:r>
              <a:rPr lang="en-US" err="1"/>
              <a:t>odesílá</a:t>
            </a:r>
            <a:r>
              <a:rPr lang="en-US"/>
              <a:t> </a:t>
            </a:r>
            <a:r>
              <a:rPr lang="en-US" err="1"/>
              <a:t>zpět</a:t>
            </a:r>
            <a:r>
              <a:rPr lang="en-US"/>
              <a:t> </a:t>
            </a:r>
            <a:r>
              <a:rPr lang="en-US" err="1"/>
              <a:t>klientovi</a:t>
            </a:r>
            <a:r>
              <a:rPr lang="en-US"/>
              <a:t>.</a:t>
            </a:r>
            <a:endParaRPr lang="cs-CZ"/>
          </a:p>
          <a:p>
            <a:r>
              <a:rPr lang="en-US"/>
              <a:t>S </a:t>
            </a:r>
            <a:r>
              <a:rPr lang="en-US" err="1"/>
              <a:t>kontrolou</a:t>
            </a:r>
            <a:r>
              <a:rPr lang="en-US"/>
              <a:t> </a:t>
            </a:r>
            <a:r>
              <a:rPr lang="en-US" err="1"/>
              <a:t>síťové</a:t>
            </a:r>
            <a:r>
              <a:rPr lang="en-US"/>
              <a:t> </a:t>
            </a:r>
            <a:r>
              <a:rPr lang="en-US" err="1"/>
              <a:t>komunikace</a:t>
            </a:r>
            <a:r>
              <a:rPr lang="en-US"/>
              <a:t> </a:t>
            </a:r>
            <a:r>
              <a:rPr lang="en-US" err="1"/>
              <a:t>úzce</a:t>
            </a:r>
            <a:r>
              <a:rPr lang="en-US"/>
              <a:t> </a:t>
            </a:r>
            <a:r>
              <a:rPr lang="en-US" err="1"/>
              <a:t>souvisí</a:t>
            </a:r>
            <a:r>
              <a:rPr lang="en-US"/>
              <a:t> proxy server, </a:t>
            </a:r>
            <a:r>
              <a:rPr lang="en-US" err="1"/>
              <a:t>který</a:t>
            </a:r>
            <a:r>
              <a:rPr lang="en-US"/>
              <a:t> </a:t>
            </a:r>
            <a:r>
              <a:rPr lang="en-US" err="1"/>
              <a:t>umožňuje</a:t>
            </a:r>
            <a:r>
              <a:rPr lang="en-US"/>
              <a:t> </a:t>
            </a:r>
            <a:r>
              <a:rPr lang="en-US" err="1"/>
              <a:t>kontrolovat</a:t>
            </a:r>
            <a:r>
              <a:rPr lang="en-US"/>
              <a:t> </a:t>
            </a:r>
            <a:r>
              <a:rPr lang="en-US" err="1"/>
              <a:t>obsah</a:t>
            </a:r>
            <a:r>
              <a:rPr lang="en-US"/>
              <a:t>,</a:t>
            </a:r>
            <a:r>
              <a:rPr lang="cs-CZ"/>
              <a:t> </a:t>
            </a:r>
            <a:r>
              <a:rPr lang="en-US"/>
              <a:t>k </a:t>
            </a:r>
            <a:r>
              <a:rPr lang="en-US" err="1"/>
              <a:t>němuž</a:t>
            </a:r>
            <a:r>
              <a:rPr lang="en-US"/>
              <a:t> </a:t>
            </a:r>
            <a:r>
              <a:rPr lang="en-US" err="1"/>
              <a:t>budou</a:t>
            </a:r>
            <a:r>
              <a:rPr lang="en-US"/>
              <a:t> </a:t>
            </a:r>
            <a:r>
              <a:rPr lang="en-US" err="1"/>
              <a:t>uživatelé</a:t>
            </a:r>
            <a:r>
              <a:rPr lang="en-US"/>
              <a:t> </a:t>
            </a:r>
            <a:r>
              <a:rPr lang="en-US" err="1"/>
              <a:t>přistupovat</a:t>
            </a:r>
            <a:r>
              <a:rPr lang="en-US"/>
              <a:t>, </a:t>
            </a:r>
            <a:r>
              <a:rPr lang="en-US" err="1"/>
              <a:t>stejně</a:t>
            </a:r>
            <a:r>
              <a:rPr lang="en-US"/>
              <a:t> </a:t>
            </a:r>
            <a:r>
              <a:rPr lang="en-US" err="1"/>
              <a:t>jako</a:t>
            </a:r>
            <a:r>
              <a:rPr lang="en-US"/>
              <a:t> </a:t>
            </a:r>
            <a:r>
              <a:rPr lang="en-US" err="1"/>
              <a:t>kontrolovat</a:t>
            </a:r>
            <a:r>
              <a:rPr lang="en-US"/>
              <a:t> </a:t>
            </a:r>
            <a:r>
              <a:rPr lang="en-US" err="1"/>
              <a:t>obsah</a:t>
            </a:r>
            <a:r>
              <a:rPr lang="en-US"/>
              <a:t> </a:t>
            </a:r>
            <a:r>
              <a:rPr lang="en-US" err="1"/>
              <a:t>přenášených</a:t>
            </a:r>
            <a:r>
              <a:rPr lang="en-US"/>
              <a:t> </a:t>
            </a:r>
            <a:r>
              <a:rPr lang="en-US" err="1"/>
              <a:t>dat</a:t>
            </a:r>
            <a:r>
              <a:rPr lang="en-US"/>
              <a:t>, neb</a:t>
            </a:r>
            <a:r>
              <a:rPr lang="cs-CZ"/>
              <a:t>o </a:t>
            </a:r>
            <a:r>
              <a:rPr lang="en-US" err="1"/>
              <a:t>cachovat</a:t>
            </a:r>
            <a:r>
              <a:rPr lang="en-US"/>
              <a:t> </a:t>
            </a:r>
            <a:r>
              <a:rPr lang="en-US" err="1"/>
              <a:t>přenášená</a:t>
            </a:r>
            <a:r>
              <a:rPr lang="en-US"/>
              <a:t> data a </a:t>
            </a:r>
            <a:r>
              <a:rPr lang="en-US" err="1"/>
              <a:t>tím</a:t>
            </a:r>
            <a:r>
              <a:rPr lang="en-US"/>
              <a:t> </a:t>
            </a:r>
            <a:r>
              <a:rPr lang="en-US" err="1"/>
              <a:t>šetřit</a:t>
            </a:r>
            <a:r>
              <a:rPr lang="en-US"/>
              <a:t> </a:t>
            </a:r>
            <a:r>
              <a:rPr lang="en-US" err="1"/>
              <a:t>síťový</a:t>
            </a:r>
            <a:r>
              <a:rPr lang="en-US"/>
              <a:t> </a:t>
            </a:r>
            <a:r>
              <a:rPr lang="en-US" err="1"/>
              <a:t>provoz</a:t>
            </a:r>
            <a:r>
              <a:rPr lang="en-US"/>
              <a:t>. </a:t>
            </a:r>
            <a:br>
              <a:rPr lang="en-US"/>
            </a:br>
            <a:br>
              <a:rPr lang="en-US"/>
            </a:b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226</a:t>
            </a:fld>
            <a:endParaRPr lang="cs-CZ"/>
          </a:p>
        </p:txBody>
      </p:sp>
    </p:spTree>
    <p:extLst>
      <p:ext uri="{BB962C8B-B14F-4D97-AF65-F5344CB8AC3E}">
        <p14:creationId xmlns:p14="http://schemas.microsoft.com/office/powerpoint/2010/main" val="4282474904"/>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Typy proxy serverů</a:t>
            </a:r>
            <a:endParaRPr lang="en-US" b="1"/>
          </a:p>
        </p:txBody>
      </p:sp>
      <p:sp>
        <p:nvSpPr>
          <p:cNvPr id="3" name="Content Placeholder 2"/>
          <p:cNvSpPr>
            <a:spLocks noGrp="1"/>
          </p:cNvSpPr>
          <p:nvPr>
            <p:ph idx="1"/>
          </p:nvPr>
        </p:nvSpPr>
        <p:spPr/>
        <p:txBody>
          <a:bodyPr/>
          <a:lstStyle/>
          <a:p>
            <a:r>
              <a:rPr lang="en-US" err="1"/>
              <a:t>Reverzní</a:t>
            </a:r>
            <a:r>
              <a:rPr lang="en-US"/>
              <a:t> proxy server</a:t>
            </a:r>
            <a:endParaRPr lang="cs-CZ"/>
          </a:p>
          <a:p>
            <a:r>
              <a:rPr lang="en-US"/>
              <a:t>Forward proxy server</a:t>
            </a:r>
            <a:endParaRPr lang="cs-CZ"/>
          </a:p>
          <a:p>
            <a:r>
              <a:rPr lang="en-US"/>
              <a:t>Open proxy server</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227</a:t>
            </a:fld>
            <a:endParaRPr lang="cs-CZ"/>
          </a:p>
        </p:txBody>
      </p:sp>
    </p:spTree>
    <p:extLst>
      <p:ext uri="{BB962C8B-B14F-4D97-AF65-F5344CB8AC3E}">
        <p14:creationId xmlns:p14="http://schemas.microsoft.com/office/powerpoint/2010/main" val="1340303276"/>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err="1"/>
              <a:t>Reverzní</a:t>
            </a:r>
            <a:r>
              <a:rPr lang="en-US" b="1"/>
              <a:t> proxy server</a:t>
            </a:r>
          </a:p>
        </p:txBody>
      </p:sp>
      <p:sp>
        <p:nvSpPr>
          <p:cNvPr id="3" name="Content Placeholder 2"/>
          <p:cNvSpPr>
            <a:spLocks noGrp="1"/>
          </p:cNvSpPr>
          <p:nvPr>
            <p:ph idx="1"/>
          </p:nvPr>
        </p:nvSpPr>
        <p:spPr/>
        <p:txBody>
          <a:bodyPr/>
          <a:lstStyle/>
          <a:p>
            <a:r>
              <a:rPr lang="en-US" err="1"/>
              <a:t>Reverzní</a:t>
            </a:r>
            <a:r>
              <a:rPr lang="en-US"/>
              <a:t> proxy server je </a:t>
            </a:r>
            <a:r>
              <a:rPr lang="en-US" err="1"/>
              <a:t>nasazován</a:t>
            </a:r>
            <a:r>
              <a:rPr lang="en-US"/>
              <a:t> </a:t>
            </a:r>
            <a:r>
              <a:rPr lang="en-US" err="1"/>
              <a:t>na</a:t>
            </a:r>
            <a:r>
              <a:rPr lang="en-US"/>
              <a:t> </a:t>
            </a:r>
            <a:r>
              <a:rPr lang="en-US" err="1"/>
              <a:t>stejné</a:t>
            </a:r>
            <a:r>
              <a:rPr lang="en-US"/>
              <a:t> </a:t>
            </a:r>
            <a:r>
              <a:rPr lang="en-US" err="1"/>
              <a:t>místo</a:t>
            </a:r>
            <a:r>
              <a:rPr lang="en-US"/>
              <a:t>, </a:t>
            </a:r>
            <a:r>
              <a:rPr lang="en-US" err="1"/>
              <a:t>jako</a:t>
            </a:r>
            <a:r>
              <a:rPr lang="en-US"/>
              <a:t> </a:t>
            </a:r>
            <a:r>
              <a:rPr lang="en-US" err="1"/>
              <a:t>výše</a:t>
            </a:r>
            <a:r>
              <a:rPr lang="en-US"/>
              <a:t> </a:t>
            </a:r>
            <a:r>
              <a:rPr lang="en-US" err="1"/>
              <a:t>popsaná</a:t>
            </a:r>
            <a:r>
              <a:rPr lang="en-US"/>
              <a:t> </a:t>
            </a:r>
            <a:r>
              <a:rPr lang="en-US" err="1"/>
              <a:t>aplikační</a:t>
            </a:r>
            <a:r>
              <a:rPr lang="en-US"/>
              <a:t> gateway,</a:t>
            </a:r>
            <a:r>
              <a:rPr lang="cs-CZ"/>
              <a:t> </a:t>
            </a:r>
            <a:r>
              <a:rPr lang="en-US"/>
              <a:t>a </a:t>
            </a:r>
            <a:r>
              <a:rPr lang="en-US" err="1"/>
              <a:t>některé</a:t>
            </a:r>
            <a:r>
              <a:rPr lang="en-US"/>
              <a:t> </a:t>
            </a:r>
            <a:r>
              <a:rPr lang="en-US" err="1"/>
              <a:t>poskytované</a:t>
            </a:r>
            <a:r>
              <a:rPr lang="en-US"/>
              <a:t> </a:t>
            </a:r>
            <a:r>
              <a:rPr lang="en-US" err="1"/>
              <a:t>funkce</a:t>
            </a:r>
            <a:r>
              <a:rPr lang="en-US"/>
              <a:t> </a:t>
            </a:r>
            <a:r>
              <a:rPr lang="en-US" err="1"/>
              <a:t>jsou</a:t>
            </a:r>
            <a:r>
              <a:rPr lang="en-US"/>
              <a:t> </a:t>
            </a:r>
            <a:r>
              <a:rPr lang="en-US" err="1"/>
              <a:t>obdobné</a:t>
            </a:r>
            <a:r>
              <a:rPr lang="en-US"/>
              <a:t>.</a:t>
            </a:r>
            <a:endParaRPr lang="cs-CZ"/>
          </a:p>
          <a:p>
            <a:r>
              <a:rPr lang="en-US" err="1"/>
              <a:t>Reverzní</a:t>
            </a:r>
            <a:r>
              <a:rPr lang="en-US"/>
              <a:t> proxy server </a:t>
            </a:r>
            <a:r>
              <a:rPr lang="en-US" err="1"/>
              <a:t>bývá</a:t>
            </a:r>
            <a:r>
              <a:rPr lang="en-US"/>
              <a:t> </a:t>
            </a:r>
            <a:r>
              <a:rPr lang="en-US" err="1"/>
              <a:t>nasazován</a:t>
            </a:r>
            <a:r>
              <a:rPr lang="en-US"/>
              <a:t> </a:t>
            </a:r>
            <a:r>
              <a:rPr lang="en-US" err="1"/>
              <a:t>například</a:t>
            </a:r>
            <a:r>
              <a:rPr lang="cs-CZ"/>
              <a:t> </a:t>
            </a:r>
            <a:r>
              <a:rPr lang="en-US" err="1"/>
              <a:t>před</a:t>
            </a:r>
            <a:r>
              <a:rPr lang="en-US"/>
              <a:t> </a:t>
            </a:r>
            <a:r>
              <a:rPr lang="en-US" err="1"/>
              <a:t>webovými</a:t>
            </a:r>
            <a:r>
              <a:rPr lang="en-US"/>
              <a:t> </a:t>
            </a:r>
            <a:r>
              <a:rPr lang="en-US" err="1"/>
              <a:t>servery</a:t>
            </a:r>
            <a:r>
              <a:rPr lang="en-US"/>
              <a:t> a </a:t>
            </a:r>
            <a:r>
              <a:rPr lang="en-US" err="1"/>
              <a:t>jednotlivé</a:t>
            </a:r>
            <a:r>
              <a:rPr lang="en-US"/>
              <a:t> </a:t>
            </a:r>
            <a:r>
              <a:rPr lang="en-US" err="1"/>
              <a:t>požadavky</a:t>
            </a:r>
            <a:r>
              <a:rPr lang="en-US"/>
              <a:t> od </a:t>
            </a:r>
            <a:r>
              <a:rPr lang="en-US" err="1"/>
              <a:t>klientů</a:t>
            </a:r>
            <a:r>
              <a:rPr lang="en-US"/>
              <a:t> </a:t>
            </a:r>
            <a:r>
              <a:rPr lang="en-US" err="1"/>
              <a:t>buď</a:t>
            </a:r>
            <a:r>
              <a:rPr lang="en-US"/>
              <a:t> </a:t>
            </a:r>
            <a:r>
              <a:rPr lang="en-US" err="1"/>
              <a:t>zpracuje</a:t>
            </a:r>
            <a:r>
              <a:rPr lang="en-US"/>
              <a:t> </a:t>
            </a:r>
            <a:r>
              <a:rPr lang="en-US" err="1"/>
              <a:t>sám</a:t>
            </a:r>
            <a:r>
              <a:rPr lang="en-US"/>
              <a:t> (</a:t>
            </a:r>
            <a:r>
              <a:rPr lang="en-US" err="1"/>
              <a:t>pokud</a:t>
            </a:r>
            <a:r>
              <a:rPr lang="en-US"/>
              <a:t> </a:t>
            </a:r>
            <a:r>
              <a:rPr lang="en-US" err="1"/>
              <a:t>má</a:t>
            </a:r>
            <a:r>
              <a:rPr lang="cs-CZ"/>
              <a:t> </a:t>
            </a:r>
            <a:r>
              <a:rPr lang="en-US" err="1"/>
              <a:t>požadovaný</a:t>
            </a:r>
            <a:r>
              <a:rPr lang="en-US"/>
              <a:t> </a:t>
            </a:r>
            <a:r>
              <a:rPr lang="en-US" err="1"/>
              <a:t>obsah</a:t>
            </a:r>
            <a:r>
              <a:rPr lang="en-US"/>
              <a:t> v cache a je </a:t>
            </a:r>
            <a:r>
              <a:rPr lang="en-US" err="1"/>
              <a:t>tak</a:t>
            </a:r>
            <a:r>
              <a:rPr lang="en-US"/>
              <a:t> </a:t>
            </a:r>
            <a:r>
              <a:rPr lang="en-US" err="1"/>
              <a:t>nastaven</a:t>
            </a:r>
            <a:r>
              <a:rPr lang="en-US"/>
              <a:t>, </a:t>
            </a:r>
            <a:r>
              <a:rPr lang="en-US" err="1"/>
              <a:t>typicky</a:t>
            </a:r>
            <a:r>
              <a:rPr lang="en-US"/>
              <a:t> se </a:t>
            </a:r>
            <a:r>
              <a:rPr lang="en-US" err="1"/>
              <a:t>jedná</a:t>
            </a:r>
            <a:r>
              <a:rPr lang="en-US"/>
              <a:t> o </a:t>
            </a:r>
            <a:r>
              <a:rPr lang="en-US" err="1"/>
              <a:t>statický</a:t>
            </a:r>
            <a:r>
              <a:rPr lang="en-US"/>
              <a:t> </a:t>
            </a:r>
            <a:r>
              <a:rPr lang="en-US" err="1"/>
              <a:t>obsah</a:t>
            </a:r>
            <a:r>
              <a:rPr lang="en-US"/>
              <a:t>), </a:t>
            </a:r>
            <a:r>
              <a:rPr lang="en-US" err="1"/>
              <a:t>nebo</a:t>
            </a:r>
            <a:r>
              <a:rPr lang="en-US"/>
              <a:t> </a:t>
            </a:r>
            <a:r>
              <a:rPr lang="en-US" err="1"/>
              <a:t>jej</a:t>
            </a:r>
            <a:r>
              <a:rPr lang="cs-CZ"/>
              <a:t> </a:t>
            </a:r>
            <a:r>
              <a:rPr lang="en-US" err="1"/>
              <a:t>předá</a:t>
            </a:r>
            <a:r>
              <a:rPr lang="en-US"/>
              <a:t> </a:t>
            </a:r>
            <a:r>
              <a:rPr lang="en-US" err="1"/>
              <a:t>dalším</a:t>
            </a:r>
            <a:r>
              <a:rPr lang="en-US"/>
              <a:t> </a:t>
            </a:r>
            <a:r>
              <a:rPr lang="en-US" err="1"/>
              <a:t>serverům</a:t>
            </a:r>
            <a:r>
              <a:rPr lang="en-US"/>
              <a:t>.</a:t>
            </a:r>
            <a:endParaRPr lang="cs-CZ"/>
          </a:p>
          <a:p>
            <a:r>
              <a:rPr lang="en-US" err="1"/>
              <a:t>Reverzní</a:t>
            </a:r>
            <a:r>
              <a:rPr lang="en-US"/>
              <a:t> proxy server </a:t>
            </a:r>
            <a:r>
              <a:rPr lang="en-US" err="1"/>
              <a:t>také</a:t>
            </a:r>
            <a:r>
              <a:rPr lang="en-US"/>
              <a:t> </a:t>
            </a:r>
            <a:r>
              <a:rPr lang="en-US" err="1"/>
              <a:t>umožňuje</a:t>
            </a:r>
            <a:r>
              <a:rPr lang="en-US"/>
              <a:t> </a:t>
            </a:r>
            <a:r>
              <a:rPr lang="en-US" err="1"/>
              <a:t>balancování</a:t>
            </a:r>
            <a:r>
              <a:rPr lang="en-US"/>
              <a:t> </a:t>
            </a:r>
            <a:r>
              <a:rPr lang="en-US" err="1"/>
              <a:t>zátěže</a:t>
            </a:r>
            <a:r>
              <a:rPr lang="cs-CZ"/>
              <a:t> </a:t>
            </a:r>
            <a:r>
              <a:rPr lang="en-US" err="1"/>
              <a:t>jednotlivých</a:t>
            </a:r>
            <a:r>
              <a:rPr lang="en-US"/>
              <a:t> </a:t>
            </a:r>
            <a:r>
              <a:rPr lang="en-US" err="1"/>
              <a:t>serverů</a:t>
            </a:r>
            <a:r>
              <a:rPr lang="en-US"/>
              <a:t>, </a:t>
            </a:r>
            <a:r>
              <a:rPr lang="en-US" err="1"/>
              <a:t>akceleraci</a:t>
            </a:r>
            <a:r>
              <a:rPr lang="en-US"/>
              <a:t> </a:t>
            </a:r>
            <a:r>
              <a:rPr lang="en-US" err="1"/>
              <a:t>šifrování</a:t>
            </a:r>
            <a:r>
              <a:rPr lang="en-US"/>
              <a:t>, </a:t>
            </a:r>
            <a:r>
              <a:rPr lang="en-US" err="1"/>
              <a:t>provádění</a:t>
            </a:r>
            <a:r>
              <a:rPr lang="en-US"/>
              <a:t> </a:t>
            </a:r>
            <a:r>
              <a:rPr lang="en-US" err="1"/>
              <a:t>komprese</a:t>
            </a:r>
            <a:r>
              <a:rPr lang="en-US"/>
              <a:t> </a:t>
            </a:r>
            <a:r>
              <a:rPr lang="en-US" err="1"/>
              <a:t>dat</a:t>
            </a:r>
            <a:r>
              <a:rPr lang="en-US"/>
              <a:t> </a:t>
            </a:r>
            <a:r>
              <a:rPr lang="en-US" err="1"/>
              <a:t>aj</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228</a:t>
            </a:fld>
            <a:endParaRPr lang="cs-CZ"/>
          </a:p>
        </p:txBody>
      </p:sp>
    </p:spTree>
    <p:extLst>
      <p:ext uri="{BB962C8B-B14F-4D97-AF65-F5344CB8AC3E}">
        <p14:creationId xmlns:p14="http://schemas.microsoft.com/office/powerpoint/2010/main" val="3965624771"/>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Forward proxy server</a:t>
            </a:r>
            <a:endParaRPr lang="en-US"/>
          </a:p>
        </p:txBody>
      </p:sp>
      <p:sp>
        <p:nvSpPr>
          <p:cNvPr id="3" name="Content Placeholder 2"/>
          <p:cNvSpPr>
            <a:spLocks noGrp="1"/>
          </p:cNvSpPr>
          <p:nvPr>
            <p:ph idx="1"/>
          </p:nvPr>
        </p:nvSpPr>
        <p:spPr/>
        <p:txBody>
          <a:bodyPr/>
          <a:lstStyle/>
          <a:p>
            <a:r>
              <a:rPr lang="en-US"/>
              <a:t>Forward proxy server </a:t>
            </a:r>
            <a:r>
              <a:rPr lang="en-US" err="1"/>
              <a:t>umožňuje</a:t>
            </a:r>
            <a:r>
              <a:rPr lang="en-US"/>
              <a:t> </a:t>
            </a:r>
            <a:r>
              <a:rPr lang="en-US" err="1"/>
              <a:t>velmi</a:t>
            </a:r>
            <a:r>
              <a:rPr lang="en-US"/>
              <a:t> </a:t>
            </a:r>
            <a:r>
              <a:rPr lang="en-US" err="1"/>
              <a:t>přesně</a:t>
            </a:r>
            <a:r>
              <a:rPr lang="en-US"/>
              <a:t> </a:t>
            </a:r>
            <a:r>
              <a:rPr lang="en-US" err="1"/>
              <a:t>řídit</a:t>
            </a:r>
            <a:r>
              <a:rPr lang="en-US"/>
              <a:t> </a:t>
            </a:r>
            <a:r>
              <a:rPr lang="en-US" err="1"/>
              <a:t>přístup</a:t>
            </a:r>
            <a:r>
              <a:rPr lang="en-US"/>
              <a:t> </a:t>
            </a:r>
            <a:r>
              <a:rPr lang="en-US" err="1"/>
              <a:t>jednotlivých</a:t>
            </a:r>
            <a:r>
              <a:rPr lang="en-US"/>
              <a:t> </a:t>
            </a:r>
            <a:r>
              <a:rPr lang="en-US" err="1"/>
              <a:t>uživatelů</a:t>
            </a:r>
            <a:r>
              <a:rPr lang="en-US"/>
              <a:t> k </a:t>
            </a:r>
            <a:r>
              <a:rPr lang="en-US" err="1"/>
              <a:t>cílovému</a:t>
            </a:r>
            <a:r>
              <a:rPr lang="cs-CZ"/>
              <a:t> </a:t>
            </a:r>
            <a:r>
              <a:rPr lang="en-US" err="1"/>
              <a:t>serveru</a:t>
            </a:r>
            <a:r>
              <a:rPr lang="en-US"/>
              <a:t> (</a:t>
            </a:r>
            <a:r>
              <a:rPr lang="en-US" err="1"/>
              <a:t>např</a:t>
            </a:r>
            <a:r>
              <a:rPr lang="en-US"/>
              <a:t>. </a:t>
            </a:r>
            <a:r>
              <a:rPr lang="en-US" err="1"/>
              <a:t>webovým</a:t>
            </a:r>
            <a:r>
              <a:rPr lang="en-US"/>
              <a:t> </a:t>
            </a:r>
            <a:r>
              <a:rPr lang="en-US" err="1"/>
              <a:t>stránkám</a:t>
            </a:r>
            <a:r>
              <a:rPr lang="en-US"/>
              <a:t>).</a:t>
            </a:r>
            <a:endParaRPr lang="cs-CZ"/>
          </a:p>
          <a:p>
            <a:r>
              <a:rPr lang="en-US" err="1"/>
              <a:t>Pokud</a:t>
            </a:r>
            <a:r>
              <a:rPr lang="en-US"/>
              <a:t> se </a:t>
            </a:r>
            <a:r>
              <a:rPr lang="en-US" err="1"/>
              <a:t>uživatelé</a:t>
            </a:r>
            <a:r>
              <a:rPr lang="en-US"/>
              <a:t> k proxy </a:t>
            </a:r>
            <a:r>
              <a:rPr lang="en-US" err="1"/>
              <a:t>serveru</a:t>
            </a:r>
            <a:r>
              <a:rPr lang="en-US"/>
              <a:t> </a:t>
            </a:r>
            <a:r>
              <a:rPr lang="en-US" err="1"/>
              <a:t>autentizují</a:t>
            </a:r>
            <a:r>
              <a:rPr lang="en-US"/>
              <a:t>, </a:t>
            </a:r>
            <a:r>
              <a:rPr lang="en-US" err="1"/>
              <a:t>může</a:t>
            </a:r>
            <a:r>
              <a:rPr lang="cs-CZ"/>
              <a:t> </a:t>
            </a:r>
            <a:r>
              <a:rPr lang="en-US" err="1"/>
              <a:t>mít</a:t>
            </a:r>
            <a:r>
              <a:rPr lang="en-US"/>
              <a:t> </a:t>
            </a:r>
            <a:r>
              <a:rPr lang="en-US" err="1"/>
              <a:t>každý</a:t>
            </a:r>
            <a:r>
              <a:rPr lang="en-US"/>
              <a:t> </a:t>
            </a:r>
            <a:r>
              <a:rPr lang="en-US" err="1"/>
              <a:t>uživatel</a:t>
            </a:r>
            <a:r>
              <a:rPr lang="en-US"/>
              <a:t> </a:t>
            </a:r>
            <a:r>
              <a:rPr lang="en-US" err="1"/>
              <a:t>povolen</a:t>
            </a:r>
            <a:r>
              <a:rPr lang="en-US"/>
              <a:t> </a:t>
            </a:r>
            <a:r>
              <a:rPr lang="en-US" err="1"/>
              <a:t>přístup</a:t>
            </a:r>
            <a:r>
              <a:rPr lang="en-US"/>
              <a:t> k </a:t>
            </a:r>
            <a:r>
              <a:rPr lang="en-US" err="1"/>
              <a:t>jinému</a:t>
            </a:r>
            <a:r>
              <a:rPr lang="en-US"/>
              <a:t> </a:t>
            </a:r>
            <a:r>
              <a:rPr lang="en-US" err="1"/>
              <a:t>rozsahu</a:t>
            </a:r>
            <a:r>
              <a:rPr lang="en-US"/>
              <a:t> </a:t>
            </a:r>
            <a:r>
              <a:rPr lang="en-US" err="1"/>
              <a:t>webových</a:t>
            </a:r>
            <a:r>
              <a:rPr lang="en-US"/>
              <a:t> </a:t>
            </a:r>
            <a:r>
              <a:rPr lang="en-US" err="1"/>
              <a:t>stránek</a:t>
            </a:r>
            <a:r>
              <a:rPr lang="en-US"/>
              <a:t>. </a:t>
            </a:r>
            <a:endParaRPr lang="cs-CZ"/>
          </a:p>
          <a:p>
            <a:r>
              <a:rPr lang="en-US" err="1"/>
              <a:t>Stránky</a:t>
            </a:r>
            <a:r>
              <a:rPr lang="en-US"/>
              <a:t> </a:t>
            </a:r>
            <a:r>
              <a:rPr lang="en-US" err="1"/>
              <a:t>lze</a:t>
            </a:r>
            <a:r>
              <a:rPr lang="en-US"/>
              <a:t> </a:t>
            </a:r>
            <a:r>
              <a:rPr lang="en-US" err="1"/>
              <a:t>také</a:t>
            </a:r>
            <a:r>
              <a:rPr lang="cs-CZ"/>
              <a:t> </a:t>
            </a:r>
            <a:r>
              <a:rPr lang="en-US" err="1"/>
              <a:t>filtrovat</a:t>
            </a:r>
            <a:r>
              <a:rPr lang="en-US"/>
              <a:t> </a:t>
            </a:r>
            <a:r>
              <a:rPr lang="en-US" err="1"/>
              <a:t>podle</a:t>
            </a:r>
            <a:r>
              <a:rPr lang="en-US"/>
              <a:t> </a:t>
            </a:r>
            <a:r>
              <a:rPr lang="en-US" err="1"/>
              <a:t>obsahu</a:t>
            </a:r>
            <a:r>
              <a:rPr lang="en-US"/>
              <a:t> </a:t>
            </a:r>
            <a:r>
              <a:rPr lang="en-US" err="1"/>
              <a:t>určitých</a:t>
            </a:r>
            <a:r>
              <a:rPr lang="en-US"/>
              <a:t> </a:t>
            </a:r>
            <a:r>
              <a:rPr lang="en-US" err="1"/>
              <a:t>slov</a:t>
            </a:r>
            <a:r>
              <a:rPr lang="en-US"/>
              <a:t>, </a:t>
            </a:r>
            <a:r>
              <a:rPr lang="en-US" err="1"/>
              <a:t>podle</a:t>
            </a:r>
            <a:r>
              <a:rPr lang="en-US"/>
              <a:t> </a:t>
            </a:r>
            <a:r>
              <a:rPr lang="en-US" err="1"/>
              <a:t>obsahu</a:t>
            </a:r>
            <a:r>
              <a:rPr lang="en-US"/>
              <a:t> URL a </a:t>
            </a:r>
            <a:r>
              <a:rPr lang="en-US" err="1"/>
              <a:t>dle</a:t>
            </a:r>
            <a:r>
              <a:rPr lang="en-US"/>
              <a:t> </a:t>
            </a:r>
            <a:r>
              <a:rPr lang="en-US" err="1"/>
              <a:t>dalších</a:t>
            </a:r>
            <a:r>
              <a:rPr lang="en-US"/>
              <a:t> </a:t>
            </a:r>
            <a:r>
              <a:rPr lang="en-US" err="1"/>
              <a:t>parametrů</a:t>
            </a:r>
            <a:r>
              <a:rPr lang="en-US"/>
              <a:t>. </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229</a:t>
            </a:fld>
            <a:endParaRPr lang="cs-CZ"/>
          </a:p>
        </p:txBody>
      </p:sp>
    </p:spTree>
    <p:extLst>
      <p:ext uri="{BB962C8B-B14F-4D97-AF65-F5344CB8AC3E}">
        <p14:creationId xmlns:p14="http://schemas.microsoft.com/office/powerpoint/2010/main" val="4280793031"/>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Forward proxy server</a:t>
            </a:r>
            <a:endParaRPr lang="en-US"/>
          </a:p>
        </p:txBody>
      </p:sp>
      <p:sp>
        <p:nvSpPr>
          <p:cNvPr id="3" name="Content Placeholder 2"/>
          <p:cNvSpPr>
            <a:spLocks noGrp="1"/>
          </p:cNvSpPr>
          <p:nvPr>
            <p:ph idx="1"/>
          </p:nvPr>
        </p:nvSpPr>
        <p:spPr/>
        <p:txBody>
          <a:bodyPr/>
          <a:lstStyle/>
          <a:p>
            <a:r>
              <a:rPr lang="en-US"/>
              <a:t>Z </a:t>
            </a:r>
            <a:r>
              <a:rPr lang="en-US" err="1"/>
              <a:t>pohledu</a:t>
            </a:r>
            <a:r>
              <a:rPr lang="cs-CZ"/>
              <a:t> </a:t>
            </a:r>
            <a:r>
              <a:rPr lang="en-US" err="1"/>
              <a:t>bezpečnosti</a:t>
            </a:r>
            <a:r>
              <a:rPr lang="en-US"/>
              <a:t> je </a:t>
            </a:r>
            <a:r>
              <a:rPr lang="en-US" err="1"/>
              <a:t>vhodné</a:t>
            </a:r>
            <a:r>
              <a:rPr lang="en-US"/>
              <a:t> </a:t>
            </a:r>
            <a:r>
              <a:rPr lang="en-US" err="1"/>
              <a:t>uvést</a:t>
            </a:r>
            <a:r>
              <a:rPr lang="en-US"/>
              <a:t>, </a:t>
            </a:r>
            <a:r>
              <a:rPr lang="en-US" err="1"/>
              <a:t>že</a:t>
            </a:r>
            <a:r>
              <a:rPr lang="en-US"/>
              <a:t> </a:t>
            </a:r>
            <a:r>
              <a:rPr lang="en-US" err="1"/>
              <a:t>funkci</a:t>
            </a:r>
            <a:r>
              <a:rPr lang="en-US"/>
              <a:t> proxy </a:t>
            </a:r>
            <a:r>
              <a:rPr lang="en-US" err="1"/>
              <a:t>serveru</a:t>
            </a:r>
            <a:r>
              <a:rPr lang="en-US"/>
              <a:t> </a:t>
            </a:r>
            <a:r>
              <a:rPr lang="en-US" err="1"/>
              <a:t>lze</a:t>
            </a:r>
            <a:r>
              <a:rPr lang="en-US"/>
              <a:t> </a:t>
            </a:r>
            <a:r>
              <a:rPr lang="en-US" err="1"/>
              <a:t>spojit</a:t>
            </a:r>
            <a:r>
              <a:rPr lang="en-US"/>
              <a:t> s </a:t>
            </a:r>
            <a:r>
              <a:rPr lang="en-US" err="1"/>
              <a:t>dalšími</a:t>
            </a:r>
            <a:r>
              <a:rPr lang="en-US"/>
              <a:t> </a:t>
            </a:r>
            <a:r>
              <a:rPr lang="en-US" err="1"/>
              <a:t>bezpečnostními</a:t>
            </a:r>
            <a:r>
              <a:rPr lang="cs-CZ"/>
              <a:t> </a:t>
            </a:r>
            <a:r>
              <a:rPr lang="en-US" err="1"/>
              <a:t>prvky</a:t>
            </a:r>
            <a:r>
              <a:rPr lang="en-US"/>
              <a:t> a </a:t>
            </a:r>
            <a:r>
              <a:rPr lang="en-US" err="1"/>
              <a:t>lze</a:t>
            </a:r>
            <a:r>
              <a:rPr lang="en-US"/>
              <a:t> </a:t>
            </a:r>
            <a:r>
              <a:rPr lang="en-US" err="1"/>
              <a:t>tak</a:t>
            </a:r>
            <a:r>
              <a:rPr lang="en-US"/>
              <a:t> </a:t>
            </a:r>
            <a:r>
              <a:rPr lang="en-US" err="1"/>
              <a:t>například</a:t>
            </a:r>
            <a:r>
              <a:rPr lang="en-US"/>
              <a:t> s </a:t>
            </a:r>
            <a:r>
              <a:rPr lang="en-US" err="1"/>
              <a:t>pomocí</a:t>
            </a:r>
            <a:r>
              <a:rPr lang="en-US"/>
              <a:t> </a:t>
            </a:r>
            <a:r>
              <a:rPr lang="en-US" err="1"/>
              <a:t>antiviru</a:t>
            </a:r>
            <a:r>
              <a:rPr lang="en-US"/>
              <a:t> </a:t>
            </a:r>
            <a:r>
              <a:rPr lang="en-US" err="1"/>
              <a:t>kontrolovat</a:t>
            </a:r>
            <a:r>
              <a:rPr lang="en-US"/>
              <a:t> </a:t>
            </a:r>
            <a:r>
              <a:rPr lang="en-US" err="1"/>
              <a:t>přenášená</a:t>
            </a:r>
            <a:r>
              <a:rPr lang="en-US"/>
              <a:t> data a v </a:t>
            </a:r>
            <a:r>
              <a:rPr lang="en-US" err="1"/>
              <a:t>případě</a:t>
            </a:r>
            <a:r>
              <a:rPr lang="en-US"/>
              <a:t> </a:t>
            </a:r>
            <a:r>
              <a:rPr lang="en-US" err="1"/>
              <a:t>nebezpečí</a:t>
            </a:r>
            <a:r>
              <a:rPr lang="cs-CZ"/>
              <a:t> </a:t>
            </a:r>
            <a:r>
              <a:rPr lang="en-US" err="1"/>
              <a:t>tato</a:t>
            </a:r>
            <a:r>
              <a:rPr lang="en-US"/>
              <a:t> data </a:t>
            </a:r>
            <a:r>
              <a:rPr lang="en-US" err="1"/>
              <a:t>zablokovat</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230</a:t>
            </a:fld>
            <a:endParaRPr lang="cs-CZ"/>
          </a:p>
        </p:txBody>
      </p:sp>
    </p:spTree>
    <p:extLst>
      <p:ext uri="{BB962C8B-B14F-4D97-AF65-F5344CB8AC3E}">
        <p14:creationId xmlns:p14="http://schemas.microsoft.com/office/powerpoint/2010/main" val="3658172577"/>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Open proxy server</a:t>
            </a:r>
            <a:endParaRPr lang="en-US"/>
          </a:p>
        </p:txBody>
      </p:sp>
      <p:sp>
        <p:nvSpPr>
          <p:cNvPr id="3" name="Content Placeholder 2"/>
          <p:cNvSpPr>
            <a:spLocks noGrp="1"/>
          </p:cNvSpPr>
          <p:nvPr>
            <p:ph idx="1"/>
          </p:nvPr>
        </p:nvSpPr>
        <p:spPr/>
        <p:txBody>
          <a:bodyPr>
            <a:normAutofit/>
          </a:bodyPr>
          <a:lstStyle/>
          <a:p>
            <a:r>
              <a:rPr lang="en-US"/>
              <a:t>Open proxy server je forward proxy server, </a:t>
            </a:r>
            <a:r>
              <a:rPr lang="en-US" err="1"/>
              <a:t>který</a:t>
            </a:r>
            <a:r>
              <a:rPr lang="en-US"/>
              <a:t> je </a:t>
            </a:r>
            <a:r>
              <a:rPr lang="en-US" err="1"/>
              <a:t>dostupný</a:t>
            </a:r>
            <a:r>
              <a:rPr lang="en-US"/>
              <a:t> </a:t>
            </a:r>
            <a:r>
              <a:rPr lang="en-US" err="1"/>
              <a:t>kterémukoliv</a:t>
            </a:r>
            <a:r>
              <a:rPr lang="en-US"/>
              <a:t> </a:t>
            </a:r>
            <a:r>
              <a:rPr lang="en-US" err="1"/>
              <a:t>uživateli</a:t>
            </a:r>
            <a:r>
              <a:rPr lang="en-US"/>
              <a:t> </a:t>
            </a:r>
            <a:r>
              <a:rPr lang="en-US" err="1"/>
              <a:t>na</a:t>
            </a:r>
            <a:r>
              <a:rPr lang="cs-CZ"/>
              <a:t> </a:t>
            </a:r>
            <a:r>
              <a:rPr lang="en-US" err="1"/>
              <a:t>Internetu</a:t>
            </a:r>
            <a:r>
              <a:rPr lang="en-US"/>
              <a:t>. </a:t>
            </a:r>
            <a:endParaRPr lang="cs-CZ"/>
          </a:p>
          <a:p>
            <a:r>
              <a:rPr lang="en-US" err="1"/>
              <a:t>Některé</a:t>
            </a:r>
            <a:r>
              <a:rPr lang="en-US"/>
              <a:t> open proxy </a:t>
            </a:r>
            <a:r>
              <a:rPr lang="en-US" err="1"/>
              <a:t>servery</a:t>
            </a:r>
            <a:r>
              <a:rPr lang="en-US"/>
              <a:t> je </a:t>
            </a:r>
            <a:r>
              <a:rPr lang="en-US" err="1"/>
              <a:t>třeba</a:t>
            </a:r>
            <a:r>
              <a:rPr lang="en-US"/>
              <a:t> </a:t>
            </a:r>
            <a:r>
              <a:rPr lang="en-US" err="1"/>
              <a:t>nakonfigurovat</a:t>
            </a:r>
            <a:r>
              <a:rPr lang="en-US"/>
              <a:t> v </a:t>
            </a:r>
            <a:r>
              <a:rPr lang="en-US" err="1"/>
              <a:t>rozhraní</a:t>
            </a:r>
            <a:r>
              <a:rPr lang="en-US"/>
              <a:t> </a:t>
            </a:r>
            <a:r>
              <a:rPr lang="en-US" err="1"/>
              <a:t>prohlížeče</a:t>
            </a:r>
            <a:r>
              <a:rPr lang="en-US"/>
              <a:t>, </a:t>
            </a:r>
            <a:r>
              <a:rPr lang="en-US" err="1"/>
              <a:t>jiné</a:t>
            </a:r>
            <a:r>
              <a:rPr lang="cs-CZ"/>
              <a:t> </a:t>
            </a:r>
            <a:r>
              <a:rPr lang="en-US" err="1"/>
              <a:t>umožňují</a:t>
            </a:r>
            <a:r>
              <a:rPr lang="en-US"/>
              <a:t> </a:t>
            </a:r>
            <a:r>
              <a:rPr lang="en-US" err="1"/>
              <a:t>použití</a:t>
            </a:r>
            <a:r>
              <a:rPr lang="en-US"/>
              <a:t> </a:t>
            </a:r>
            <a:r>
              <a:rPr lang="en-US" err="1"/>
              <a:t>prostým</a:t>
            </a:r>
            <a:r>
              <a:rPr lang="en-US"/>
              <a:t> </a:t>
            </a:r>
            <a:r>
              <a:rPr lang="en-US" err="1"/>
              <a:t>přistoupením</a:t>
            </a:r>
            <a:r>
              <a:rPr lang="en-US"/>
              <a:t> </a:t>
            </a:r>
            <a:r>
              <a:rPr lang="en-US" err="1"/>
              <a:t>na</a:t>
            </a:r>
            <a:r>
              <a:rPr lang="en-US"/>
              <a:t> </a:t>
            </a:r>
            <a:r>
              <a:rPr lang="en-US" err="1"/>
              <a:t>jejich</a:t>
            </a:r>
            <a:r>
              <a:rPr lang="en-US"/>
              <a:t> </a:t>
            </a:r>
            <a:r>
              <a:rPr lang="en-US" err="1"/>
              <a:t>stránky</a:t>
            </a:r>
            <a:r>
              <a:rPr lang="en-US"/>
              <a:t>.</a:t>
            </a:r>
            <a:endParaRPr lang="cs-CZ"/>
          </a:p>
          <a:p>
            <a:r>
              <a:rPr lang="en-US" err="1"/>
              <a:t>Existují</a:t>
            </a:r>
            <a:r>
              <a:rPr lang="en-US"/>
              <a:t> </a:t>
            </a:r>
            <a:r>
              <a:rPr lang="en-US" err="1"/>
              <a:t>seznamy</a:t>
            </a:r>
            <a:r>
              <a:rPr lang="en-US"/>
              <a:t> open proxy, </a:t>
            </a:r>
            <a:r>
              <a:rPr lang="en-US" err="1"/>
              <a:t>na</a:t>
            </a:r>
            <a:r>
              <a:rPr lang="en-US"/>
              <a:t> </a:t>
            </a:r>
            <a:r>
              <a:rPr lang="en-US" err="1"/>
              <a:t>kterých</a:t>
            </a:r>
            <a:r>
              <a:rPr lang="en-US"/>
              <a:t> </a:t>
            </a:r>
            <a:r>
              <a:rPr lang="en-US" err="1"/>
              <a:t>si</a:t>
            </a:r>
            <a:r>
              <a:rPr lang="en-US"/>
              <a:t> </a:t>
            </a:r>
            <a:r>
              <a:rPr lang="en-US" err="1"/>
              <a:t>může</a:t>
            </a:r>
            <a:r>
              <a:rPr lang="en-US"/>
              <a:t> </a:t>
            </a:r>
            <a:r>
              <a:rPr lang="en-US" err="1"/>
              <a:t>uživatel</a:t>
            </a:r>
            <a:r>
              <a:rPr lang="en-US"/>
              <a:t> </a:t>
            </a:r>
            <a:r>
              <a:rPr lang="en-US" err="1"/>
              <a:t>vybrat</a:t>
            </a:r>
            <a:r>
              <a:rPr lang="en-US"/>
              <a:t> proxy server </a:t>
            </a:r>
            <a:r>
              <a:rPr lang="en-US" err="1"/>
              <a:t>podle</a:t>
            </a:r>
            <a:r>
              <a:rPr lang="en-US"/>
              <a:t> </a:t>
            </a:r>
            <a:r>
              <a:rPr lang="en-US" err="1"/>
              <a:t>jeho</a:t>
            </a:r>
            <a:r>
              <a:rPr lang="cs-CZ"/>
              <a:t> </a:t>
            </a:r>
            <a:r>
              <a:rPr lang="en-US" err="1"/>
              <a:t>fyzického</a:t>
            </a:r>
            <a:r>
              <a:rPr lang="en-US"/>
              <a:t> </a:t>
            </a:r>
            <a:r>
              <a:rPr lang="en-US" err="1"/>
              <a:t>umístění</a:t>
            </a:r>
            <a:r>
              <a:rPr lang="en-US"/>
              <a:t>, </a:t>
            </a:r>
            <a:r>
              <a:rPr lang="en-US" err="1"/>
              <a:t>například</a:t>
            </a:r>
            <a:r>
              <a:rPr lang="en-US"/>
              <a:t> </a:t>
            </a:r>
            <a:r>
              <a:rPr lang="en-US" err="1"/>
              <a:t>pokud</a:t>
            </a:r>
            <a:r>
              <a:rPr lang="en-US"/>
              <a:t> </a:t>
            </a:r>
            <a:r>
              <a:rPr lang="en-US" err="1"/>
              <a:t>potřebuje</a:t>
            </a:r>
            <a:r>
              <a:rPr lang="en-US"/>
              <a:t> </a:t>
            </a:r>
            <a:r>
              <a:rPr lang="en-US" err="1"/>
              <a:t>přistupovat</a:t>
            </a:r>
            <a:r>
              <a:rPr lang="en-US"/>
              <a:t> k </a:t>
            </a:r>
            <a:r>
              <a:rPr lang="en-US" err="1"/>
              <a:t>obsahu</a:t>
            </a:r>
            <a:r>
              <a:rPr lang="en-US"/>
              <a:t>, </a:t>
            </a:r>
            <a:r>
              <a:rPr lang="en-US" err="1"/>
              <a:t>který</a:t>
            </a:r>
            <a:r>
              <a:rPr lang="en-US"/>
              <a:t> je </a:t>
            </a:r>
            <a:r>
              <a:rPr lang="en-US" err="1"/>
              <a:t>dostupný</a:t>
            </a:r>
            <a:r>
              <a:rPr lang="cs-CZ"/>
              <a:t> </a:t>
            </a:r>
            <a:r>
              <a:rPr lang="en-US" err="1"/>
              <a:t>pouze</a:t>
            </a:r>
            <a:r>
              <a:rPr lang="en-US"/>
              <a:t> </a:t>
            </a:r>
            <a:r>
              <a:rPr lang="en-US" err="1"/>
              <a:t>uživatelům</a:t>
            </a:r>
            <a:r>
              <a:rPr lang="en-US"/>
              <a:t> </a:t>
            </a:r>
            <a:r>
              <a:rPr lang="en-US" err="1"/>
              <a:t>daného</a:t>
            </a:r>
            <a:r>
              <a:rPr lang="en-US"/>
              <a:t> </a:t>
            </a:r>
            <a:r>
              <a:rPr lang="en-US" err="1"/>
              <a:t>státu</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231</a:t>
            </a:fld>
            <a:endParaRPr lang="cs-CZ"/>
          </a:p>
        </p:txBody>
      </p:sp>
    </p:spTree>
    <p:extLst>
      <p:ext uri="{BB962C8B-B14F-4D97-AF65-F5344CB8AC3E}">
        <p14:creationId xmlns:p14="http://schemas.microsoft.com/office/powerpoint/2010/main" val="1938291481"/>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Open proxy server</a:t>
            </a:r>
            <a:endParaRPr lang="en-US"/>
          </a:p>
        </p:txBody>
      </p:sp>
      <p:sp>
        <p:nvSpPr>
          <p:cNvPr id="3" name="Content Placeholder 2"/>
          <p:cNvSpPr>
            <a:spLocks noGrp="1"/>
          </p:cNvSpPr>
          <p:nvPr>
            <p:ph idx="1"/>
          </p:nvPr>
        </p:nvSpPr>
        <p:spPr/>
        <p:txBody>
          <a:bodyPr/>
          <a:lstStyle/>
          <a:p>
            <a:r>
              <a:rPr lang="en-US" err="1"/>
              <a:t>Následující</a:t>
            </a:r>
            <a:r>
              <a:rPr lang="en-US"/>
              <a:t> </a:t>
            </a:r>
            <a:r>
              <a:rPr lang="en-US" err="1"/>
              <a:t>dva</a:t>
            </a:r>
            <a:r>
              <a:rPr lang="en-US"/>
              <a:t> </a:t>
            </a:r>
            <a:r>
              <a:rPr lang="en-US" err="1"/>
              <a:t>obrázky</a:t>
            </a:r>
            <a:r>
              <a:rPr lang="en-US"/>
              <a:t> </a:t>
            </a:r>
            <a:r>
              <a:rPr lang="en-US" err="1"/>
              <a:t>byly</a:t>
            </a:r>
            <a:r>
              <a:rPr lang="en-US"/>
              <a:t> </a:t>
            </a:r>
            <a:r>
              <a:rPr lang="en-US" err="1"/>
              <a:t>pořízeny</a:t>
            </a:r>
            <a:r>
              <a:rPr lang="en-US"/>
              <a:t> </a:t>
            </a:r>
            <a:r>
              <a:rPr lang="en-US" err="1"/>
              <a:t>ve</a:t>
            </a:r>
            <a:r>
              <a:rPr lang="en-US"/>
              <a:t> </a:t>
            </a:r>
            <a:r>
              <a:rPr lang="en-US" err="1"/>
              <a:t>stejné</a:t>
            </a:r>
            <a:r>
              <a:rPr lang="en-US"/>
              <a:t> </a:t>
            </a:r>
            <a:r>
              <a:rPr lang="en-US" err="1"/>
              <a:t>době</a:t>
            </a:r>
            <a:r>
              <a:rPr lang="en-US"/>
              <a:t> </a:t>
            </a:r>
            <a:r>
              <a:rPr lang="en-US" err="1"/>
              <a:t>na</a:t>
            </a:r>
            <a:r>
              <a:rPr lang="en-US"/>
              <a:t> </a:t>
            </a:r>
            <a:r>
              <a:rPr lang="en-US" err="1"/>
              <a:t>stejném</a:t>
            </a:r>
            <a:r>
              <a:rPr lang="en-US"/>
              <a:t> </a:t>
            </a:r>
            <a:r>
              <a:rPr lang="en-US" err="1"/>
              <a:t>počítačovém</a:t>
            </a:r>
            <a:r>
              <a:rPr lang="en-US"/>
              <a:t> </a:t>
            </a:r>
            <a:r>
              <a:rPr lang="en-US" err="1"/>
              <a:t>systému</a:t>
            </a:r>
            <a:r>
              <a:rPr lang="en-US"/>
              <a:t>. </a:t>
            </a:r>
            <a:endParaRPr lang="cs-CZ"/>
          </a:p>
          <a:p>
            <a:r>
              <a:rPr lang="en-US" err="1"/>
              <a:t>První</a:t>
            </a:r>
            <a:r>
              <a:rPr lang="cs-CZ"/>
              <a:t> </a:t>
            </a:r>
            <a:r>
              <a:rPr lang="en-US" err="1"/>
              <a:t>byl</a:t>
            </a:r>
            <a:r>
              <a:rPr lang="en-US"/>
              <a:t> </a:t>
            </a:r>
            <a:r>
              <a:rPr lang="en-US" err="1"/>
              <a:t>pořízen</a:t>
            </a:r>
            <a:r>
              <a:rPr lang="en-US"/>
              <a:t> </a:t>
            </a:r>
            <a:r>
              <a:rPr lang="en-US" err="1"/>
              <a:t>při</a:t>
            </a:r>
            <a:r>
              <a:rPr lang="en-US"/>
              <a:t> </a:t>
            </a:r>
            <a:r>
              <a:rPr lang="en-US" err="1"/>
              <a:t>přímém</a:t>
            </a:r>
            <a:r>
              <a:rPr lang="en-US"/>
              <a:t> </a:t>
            </a:r>
            <a:r>
              <a:rPr lang="en-US" err="1"/>
              <a:t>navštívení</a:t>
            </a:r>
            <a:r>
              <a:rPr lang="en-US"/>
              <a:t> </a:t>
            </a:r>
            <a:r>
              <a:rPr lang="en-US" err="1"/>
              <a:t>adresy</a:t>
            </a:r>
            <a:r>
              <a:rPr lang="en-US"/>
              <a:t> ip.cesnet.cz, </a:t>
            </a:r>
            <a:r>
              <a:rPr lang="en-US" err="1"/>
              <a:t>což</a:t>
            </a:r>
            <a:r>
              <a:rPr lang="en-US"/>
              <a:t> je </a:t>
            </a:r>
            <a:r>
              <a:rPr lang="en-US" err="1"/>
              <a:t>jedna</a:t>
            </a:r>
            <a:r>
              <a:rPr lang="en-US"/>
              <a:t> z </a:t>
            </a:r>
            <a:r>
              <a:rPr lang="en-US" err="1"/>
              <a:t>webových</a:t>
            </a:r>
            <a:r>
              <a:rPr lang="en-US"/>
              <a:t> </a:t>
            </a:r>
            <a:r>
              <a:rPr lang="en-US" err="1"/>
              <a:t>stránek</a:t>
            </a:r>
            <a:r>
              <a:rPr lang="en-US"/>
              <a:t>, </a:t>
            </a:r>
            <a:r>
              <a:rPr lang="en-US" err="1"/>
              <a:t>na</a:t>
            </a:r>
            <a:r>
              <a:rPr lang="cs-CZ"/>
              <a:t> </a:t>
            </a:r>
            <a:r>
              <a:rPr lang="en-US" err="1"/>
              <a:t>nichž</a:t>
            </a:r>
            <a:r>
              <a:rPr lang="en-US"/>
              <a:t> </a:t>
            </a:r>
            <a:r>
              <a:rPr lang="en-US" err="1"/>
              <a:t>si</a:t>
            </a:r>
            <a:r>
              <a:rPr lang="en-US"/>
              <a:t> </a:t>
            </a:r>
            <a:r>
              <a:rPr lang="en-US" err="1"/>
              <a:t>může</a:t>
            </a:r>
            <a:r>
              <a:rPr lang="en-US"/>
              <a:t> </a:t>
            </a:r>
            <a:r>
              <a:rPr lang="en-US" err="1"/>
              <a:t>uživatel</a:t>
            </a:r>
            <a:r>
              <a:rPr lang="en-US"/>
              <a:t> </a:t>
            </a:r>
            <a:r>
              <a:rPr lang="en-US" err="1"/>
              <a:t>snadno</a:t>
            </a:r>
            <a:r>
              <a:rPr lang="en-US"/>
              <a:t> </a:t>
            </a:r>
            <a:r>
              <a:rPr lang="en-US" err="1"/>
              <a:t>zjistit</a:t>
            </a:r>
            <a:r>
              <a:rPr lang="en-US"/>
              <a:t>, pod </a:t>
            </a:r>
            <a:r>
              <a:rPr lang="en-US" err="1"/>
              <a:t>jakou</a:t>
            </a:r>
            <a:r>
              <a:rPr lang="en-US"/>
              <a:t> IP </a:t>
            </a:r>
            <a:r>
              <a:rPr lang="en-US" err="1"/>
              <a:t>adresou</a:t>
            </a:r>
            <a:r>
              <a:rPr lang="en-US"/>
              <a:t> </a:t>
            </a:r>
            <a:r>
              <a:rPr lang="en-US" err="1"/>
              <a:t>vystupuje</a:t>
            </a:r>
            <a:r>
              <a:rPr lang="en-US"/>
              <a:t> </a:t>
            </a:r>
            <a:r>
              <a:rPr lang="en-US" err="1"/>
              <a:t>na</a:t>
            </a:r>
            <a:r>
              <a:rPr lang="en-US"/>
              <a:t> </a:t>
            </a:r>
            <a:r>
              <a:rPr lang="en-US" err="1"/>
              <a:t>Internetu</a:t>
            </a:r>
            <a:r>
              <a:rPr lang="en-US"/>
              <a:t>, </a:t>
            </a:r>
            <a:r>
              <a:rPr lang="en-US" err="1"/>
              <a:t>tedy</a:t>
            </a:r>
            <a:r>
              <a:rPr lang="en-US"/>
              <a:t> </a:t>
            </a:r>
            <a:r>
              <a:rPr lang="en-US" err="1"/>
              <a:t>jak</a:t>
            </a:r>
            <a:r>
              <a:rPr lang="cs-CZ"/>
              <a:t> </a:t>
            </a:r>
            <a:r>
              <a:rPr lang="en-US" err="1"/>
              <a:t>jej</a:t>
            </a:r>
            <a:r>
              <a:rPr lang="en-US"/>
              <a:t> </a:t>
            </a:r>
            <a:r>
              <a:rPr lang="en-US" err="1"/>
              <a:t>vidí</a:t>
            </a:r>
            <a:r>
              <a:rPr lang="en-US"/>
              <a:t> </a:t>
            </a:r>
            <a:r>
              <a:rPr lang="en-US" err="1"/>
              <a:t>servery</a:t>
            </a:r>
            <a:r>
              <a:rPr lang="en-US"/>
              <a:t>, </a:t>
            </a:r>
            <a:r>
              <a:rPr lang="en-US" err="1"/>
              <a:t>které</a:t>
            </a:r>
            <a:r>
              <a:rPr lang="en-US"/>
              <a:t> </a:t>
            </a:r>
            <a:r>
              <a:rPr lang="en-US" err="1"/>
              <a:t>navštíví</a:t>
            </a:r>
            <a:r>
              <a:rPr lang="en-US"/>
              <a:t>.</a:t>
            </a:r>
            <a:br>
              <a:rPr lang="en-US"/>
            </a:br>
            <a:br>
              <a:rPr lang="en-US"/>
            </a:br>
            <a:br>
              <a:rPr lang="en-US"/>
            </a:br>
            <a:br>
              <a:rPr lang="en-US"/>
            </a:b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232</a:t>
            </a:fld>
            <a:endParaRPr lang="cs-CZ"/>
          </a:p>
        </p:txBody>
      </p:sp>
    </p:spTree>
    <p:extLst>
      <p:ext uri="{BB962C8B-B14F-4D97-AF65-F5344CB8AC3E}">
        <p14:creationId xmlns:p14="http://schemas.microsoft.com/office/powerpoint/2010/main" val="1510279593"/>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Open proxy server</a:t>
            </a: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233</a:t>
            </a:fld>
            <a:endParaRPr lang="cs-CZ"/>
          </a:p>
        </p:txBody>
      </p:sp>
      <p:pic>
        <p:nvPicPr>
          <p:cNvPr id="6" name="Picture 5"/>
          <p:cNvPicPr>
            <a:picLocks noChangeAspect="1"/>
          </p:cNvPicPr>
          <p:nvPr/>
        </p:nvPicPr>
        <p:blipFill>
          <a:blip r:embed="rId2"/>
          <a:stretch>
            <a:fillRect/>
          </a:stretch>
        </p:blipFill>
        <p:spPr>
          <a:xfrm>
            <a:off x="1180414" y="1985761"/>
            <a:ext cx="9831172" cy="2886478"/>
          </a:xfrm>
          <a:prstGeom prst="rect">
            <a:avLst/>
          </a:prstGeom>
        </p:spPr>
      </p:pic>
    </p:spTree>
    <p:extLst>
      <p:ext uri="{BB962C8B-B14F-4D97-AF65-F5344CB8AC3E}">
        <p14:creationId xmlns:p14="http://schemas.microsoft.com/office/powerpoint/2010/main" val="3902284814"/>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Open proxy server</a:t>
            </a:r>
            <a:endParaRPr lang="en-US"/>
          </a:p>
        </p:txBody>
      </p:sp>
      <p:sp>
        <p:nvSpPr>
          <p:cNvPr id="3" name="Content Placeholder 2"/>
          <p:cNvSpPr>
            <a:spLocks noGrp="1"/>
          </p:cNvSpPr>
          <p:nvPr>
            <p:ph idx="1"/>
          </p:nvPr>
        </p:nvSpPr>
        <p:spPr/>
        <p:txBody>
          <a:bodyPr/>
          <a:lstStyle/>
          <a:p>
            <a:r>
              <a:rPr lang="en-US" err="1"/>
              <a:t>Druhý</a:t>
            </a:r>
            <a:r>
              <a:rPr lang="en-US"/>
              <a:t> </a:t>
            </a:r>
            <a:r>
              <a:rPr lang="en-US" err="1"/>
              <a:t>obrázek</a:t>
            </a:r>
            <a:r>
              <a:rPr lang="en-US"/>
              <a:t> </a:t>
            </a:r>
            <a:r>
              <a:rPr lang="en-US" err="1"/>
              <a:t>pak</a:t>
            </a:r>
            <a:r>
              <a:rPr lang="en-US"/>
              <a:t> </a:t>
            </a:r>
            <a:r>
              <a:rPr lang="en-US" err="1"/>
              <a:t>zobrazuje</a:t>
            </a:r>
            <a:r>
              <a:rPr lang="en-US"/>
              <a:t> </a:t>
            </a:r>
            <a:r>
              <a:rPr lang="en-US" err="1"/>
              <a:t>stejnou</a:t>
            </a:r>
            <a:r>
              <a:rPr lang="en-US"/>
              <a:t> </a:t>
            </a:r>
            <a:r>
              <a:rPr lang="en-US" err="1"/>
              <a:t>stránku</a:t>
            </a:r>
            <a:r>
              <a:rPr lang="en-US"/>
              <a:t>, </a:t>
            </a:r>
            <a:r>
              <a:rPr lang="en-US" err="1"/>
              <a:t>ovšem</a:t>
            </a:r>
            <a:r>
              <a:rPr lang="en-US"/>
              <a:t> </a:t>
            </a:r>
            <a:r>
              <a:rPr lang="en-US" err="1"/>
              <a:t>navštívenou</a:t>
            </a:r>
            <a:r>
              <a:rPr lang="en-US"/>
              <a:t> s </a:t>
            </a:r>
            <a:r>
              <a:rPr lang="en-US" err="1"/>
              <a:t>využitím</a:t>
            </a:r>
            <a:r>
              <a:rPr lang="en-US"/>
              <a:t> open proxy</a:t>
            </a:r>
            <a:r>
              <a:rPr lang="cs-CZ"/>
              <a:t> </a:t>
            </a:r>
            <a:r>
              <a:rPr lang="en-US" err="1"/>
              <a:t>umístěné</a:t>
            </a:r>
            <a:r>
              <a:rPr lang="en-US"/>
              <a:t> </a:t>
            </a:r>
            <a:r>
              <a:rPr lang="en-US" err="1"/>
              <a:t>ve</a:t>
            </a:r>
            <a:r>
              <a:rPr lang="en-US"/>
              <a:t> </a:t>
            </a:r>
            <a:r>
              <a:rPr lang="en-US" err="1"/>
              <a:t>Francii</a:t>
            </a:r>
            <a:r>
              <a:rPr lang="en-US"/>
              <a:t>.</a:t>
            </a:r>
            <a:br>
              <a:rPr lang="en-US"/>
            </a:br>
            <a:br>
              <a:rPr lang="en-US"/>
            </a:b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234</a:t>
            </a:fld>
            <a:endParaRPr lang="cs-CZ"/>
          </a:p>
        </p:txBody>
      </p:sp>
      <p:pic>
        <p:nvPicPr>
          <p:cNvPr id="6" name="Picture 5"/>
          <p:cNvPicPr>
            <a:picLocks noChangeAspect="1"/>
          </p:cNvPicPr>
          <p:nvPr/>
        </p:nvPicPr>
        <p:blipFill>
          <a:blip r:embed="rId2"/>
          <a:stretch>
            <a:fillRect/>
          </a:stretch>
        </p:blipFill>
        <p:spPr>
          <a:xfrm>
            <a:off x="1298987" y="2675854"/>
            <a:ext cx="9197076" cy="3501109"/>
          </a:xfrm>
          <a:prstGeom prst="rect">
            <a:avLst/>
          </a:prstGeom>
        </p:spPr>
      </p:pic>
    </p:spTree>
    <p:extLst>
      <p:ext uri="{BB962C8B-B14F-4D97-AF65-F5344CB8AC3E}">
        <p14:creationId xmlns:p14="http://schemas.microsoft.com/office/powerpoint/2010/main" val="3829202029"/>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Open proxy server</a:t>
            </a:r>
            <a:endParaRPr lang="en-US"/>
          </a:p>
        </p:txBody>
      </p:sp>
      <p:sp>
        <p:nvSpPr>
          <p:cNvPr id="3" name="Content Placeholder 2"/>
          <p:cNvSpPr>
            <a:spLocks noGrp="1"/>
          </p:cNvSpPr>
          <p:nvPr>
            <p:ph idx="1"/>
          </p:nvPr>
        </p:nvSpPr>
        <p:spPr/>
        <p:txBody>
          <a:bodyPr/>
          <a:lstStyle/>
          <a:p>
            <a:r>
              <a:rPr lang="en-US"/>
              <a:t>V </a:t>
            </a:r>
            <a:r>
              <a:rPr lang="en-US" err="1"/>
              <a:t>druhém</a:t>
            </a:r>
            <a:r>
              <a:rPr lang="en-US"/>
              <a:t> </a:t>
            </a:r>
            <a:r>
              <a:rPr lang="en-US" err="1"/>
              <a:t>případě</a:t>
            </a:r>
            <a:r>
              <a:rPr lang="en-US"/>
              <a:t> </a:t>
            </a:r>
            <a:r>
              <a:rPr lang="en-US" err="1"/>
              <a:t>má</a:t>
            </a:r>
            <a:r>
              <a:rPr lang="en-US"/>
              <a:t> z </a:t>
            </a:r>
            <a:r>
              <a:rPr lang="en-US" err="1"/>
              <a:t>pohledu</a:t>
            </a:r>
            <a:r>
              <a:rPr lang="en-US"/>
              <a:t> </a:t>
            </a:r>
            <a:r>
              <a:rPr lang="en-US" err="1"/>
              <a:t>serveru</a:t>
            </a:r>
            <a:r>
              <a:rPr lang="en-US"/>
              <a:t> </a:t>
            </a:r>
            <a:r>
              <a:rPr lang="en-US" err="1"/>
              <a:t>uživatel</a:t>
            </a:r>
            <a:r>
              <a:rPr lang="en-US"/>
              <a:t> IP </a:t>
            </a:r>
            <a:r>
              <a:rPr lang="en-US" err="1"/>
              <a:t>adresu</a:t>
            </a:r>
            <a:r>
              <a:rPr lang="en-US"/>
              <a:t> 62.210.105.242, </a:t>
            </a:r>
            <a:r>
              <a:rPr lang="en-US" err="1"/>
              <a:t>která</a:t>
            </a:r>
            <a:r>
              <a:rPr lang="en-US"/>
              <a:t> je </a:t>
            </a:r>
            <a:r>
              <a:rPr lang="en-US" err="1"/>
              <a:t>dle</a:t>
            </a:r>
            <a:r>
              <a:rPr lang="cs-CZ"/>
              <a:t> </a:t>
            </a:r>
            <a:r>
              <a:rPr lang="en-US" err="1"/>
              <a:t>údajů</a:t>
            </a:r>
            <a:r>
              <a:rPr lang="en-US"/>
              <a:t> z RIPE </a:t>
            </a:r>
            <a:r>
              <a:rPr lang="en-US" err="1"/>
              <a:t>alokována</a:t>
            </a:r>
            <a:r>
              <a:rPr lang="en-US"/>
              <a:t> do </a:t>
            </a:r>
            <a:r>
              <a:rPr lang="en-US" err="1"/>
              <a:t>Francie</a:t>
            </a:r>
            <a:r>
              <a:rPr lang="en-US"/>
              <a:t>. </a:t>
            </a:r>
            <a:endParaRPr lang="cs-CZ"/>
          </a:p>
          <a:p>
            <a:r>
              <a:rPr lang="en-US" err="1"/>
              <a:t>Za</a:t>
            </a:r>
            <a:r>
              <a:rPr lang="en-US"/>
              <a:t> </a:t>
            </a:r>
            <a:r>
              <a:rPr lang="en-US" err="1"/>
              <a:t>zmínku</a:t>
            </a:r>
            <a:r>
              <a:rPr lang="en-US"/>
              <a:t> </a:t>
            </a:r>
            <a:r>
              <a:rPr lang="en-US" err="1"/>
              <a:t>také</a:t>
            </a:r>
            <a:r>
              <a:rPr lang="en-US"/>
              <a:t> </a:t>
            </a:r>
            <a:r>
              <a:rPr lang="en-US" err="1"/>
              <a:t>stojí</a:t>
            </a:r>
            <a:r>
              <a:rPr lang="en-US"/>
              <a:t> </a:t>
            </a:r>
            <a:r>
              <a:rPr lang="en-US" err="1"/>
              <a:t>skutečnost</a:t>
            </a:r>
            <a:r>
              <a:rPr lang="en-US"/>
              <a:t>, </a:t>
            </a:r>
            <a:r>
              <a:rPr lang="en-US" err="1"/>
              <a:t>že</a:t>
            </a:r>
            <a:r>
              <a:rPr lang="en-US"/>
              <a:t> ne </a:t>
            </a:r>
            <a:r>
              <a:rPr lang="en-US" err="1"/>
              <a:t>každý</a:t>
            </a:r>
            <a:r>
              <a:rPr lang="en-US"/>
              <a:t> proxy</a:t>
            </a:r>
            <a:r>
              <a:rPr lang="cs-CZ"/>
              <a:t> </a:t>
            </a:r>
            <a:r>
              <a:rPr lang="en-US"/>
              <a:t>server </a:t>
            </a:r>
            <a:r>
              <a:rPr lang="en-US" err="1"/>
              <a:t>pozměňuje</a:t>
            </a:r>
            <a:r>
              <a:rPr lang="en-US"/>
              <a:t> </a:t>
            </a:r>
            <a:r>
              <a:rPr lang="en-US" err="1"/>
              <a:t>i</a:t>
            </a:r>
            <a:r>
              <a:rPr lang="en-US"/>
              <a:t> </a:t>
            </a:r>
            <a:r>
              <a:rPr lang="en-US" err="1"/>
              <a:t>informace</a:t>
            </a:r>
            <a:r>
              <a:rPr lang="en-US"/>
              <a:t> o </a:t>
            </a:r>
            <a:r>
              <a:rPr lang="en-US" err="1"/>
              <a:t>prohlížeči</a:t>
            </a:r>
            <a:r>
              <a:rPr lang="en-US"/>
              <a:t> </a:t>
            </a:r>
            <a:r>
              <a:rPr lang="en-US" err="1"/>
              <a:t>uživatele</a:t>
            </a:r>
            <a:r>
              <a:rPr lang="en-US"/>
              <a:t>. </a:t>
            </a:r>
            <a:endParaRPr lang="cs-CZ"/>
          </a:p>
          <a:p>
            <a:r>
              <a:rPr lang="en-US" err="1"/>
              <a:t>Například</a:t>
            </a:r>
            <a:r>
              <a:rPr lang="en-US"/>
              <a:t> v </a:t>
            </a:r>
            <a:r>
              <a:rPr lang="en-US" err="1"/>
              <a:t>tomto</a:t>
            </a:r>
            <a:r>
              <a:rPr lang="en-US"/>
              <a:t> </a:t>
            </a:r>
            <a:r>
              <a:rPr lang="en-US" err="1"/>
              <a:t>případě</a:t>
            </a:r>
            <a:r>
              <a:rPr lang="en-US"/>
              <a:t> </a:t>
            </a:r>
            <a:r>
              <a:rPr lang="en-US" err="1"/>
              <a:t>jsou</a:t>
            </a:r>
            <a:r>
              <a:rPr lang="en-US"/>
              <a:t> </a:t>
            </a:r>
            <a:r>
              <a:rPr lang="en-US" err="1"/>
              <a:t>tyto</a:t>
            </a:r>
            <a:r>
              <a:rPr lang="cs-CZ"/>
              <a:t> </a:t>
            </a:r>
            <a:r>
              <a:rPr lang="en-US" err="1"/>
              <a:t>informace</a:t>
            </a:r>
            <a:r>
              <a:rPr lang="en-US"/>
              <a:t> </a:t>
            </a:r>
            <a:r>
              <a:rPr lang="en-US" err="1"/>
              <a:t>zachovány</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235</a:t>
            </a:fld>
            <a:endParaRPr lang="cs-CZ"/>
          </a:p>
        </p:txBody>
      </p:sp>
    </p:spTree>
    <p:extLst>
      <p:ext uri="{BB962C8B-B14F-4D97-AF65-F5344CB8AC3E}">
        <p14:creationId xmlns:p14="http://schemas.microsoft.com/office/powerpoint/2010/main" val="571586596"/>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Open proxy server</a:t>
            </a:r>
            <a:r>
              <a:rPr lang="cs-CZ" b="1"/>
              <a:t> - útok</a:t>
            </a:r>
            <a:endParaRPr lang="en-US"/>
          </a:p>
        </p:txBody>
      </p:sp>
      <p:sp>
        <p:nvSpPr>
          <p:cNvPr id="3" name="Content Placeholder 2"/>
          <p:cNvSpPr>
            <a:spLocks noGrp="1"/>
          </p:cNvSpPr>
          <p:nvPr>
            <p:ph idx="1"/>
          </p:nvPr>
        </p:nvSpPr>
        <p:spPr/>
        <p:txBody>
          <a:bodyPr/>
          <a:lstStyle/>
          <a:p>
            <a:r>
              <a:rPr lang="en-US" i="1" err="1"/>
              <a:t>Někteří</a:t>
            </a:r>
            <a:r>
              <a:rPr lang="en-US" i="1"/>
              <a:t> </a:t>
            </a:r>
            <a:r>
              <a:rPr lang="en-US" i="1" err="1"/>
              <a:t>útočníci</a:t>
            </a:r>
            <a:r>
              <a:rPr lang="en-US" i="1"/>
              <a:t> v </a:t>
            </a:r>
            <a:r>
              <a:rPr lang="en-US" i="1" err="1"/>
              <a:t>případě</a:t>
            </a:r>
            <a:r>
              <a:rPr lang="en-US" i="1"/>
              <a:t>, </a:t>
            </a:r>
            <a:r>
              <a:rPr lang="en-US" i="1" err="1"/>
              <a:t>že</a:t>
            </a:r>
            <a:r>
              <a:rPr lang="en-US" i="1"/>
              <a:t> se </a:t>
            </a:r>
            <a:r>
              <a:rPr lang="en-US" i="1" err="1"/>
              <a:t>jim</a:t>
            </a:r>
            <a:r>
              <a:rPr lang="en-US" i="1"/>
              <a:t> </a:t>
            </a:r>
            <a:r>
              <a:rPr lang="en-US" i="1" err="1"/>
              <a:t>podaří</a:t>
            </a:r>
            <a:r>
              <a:rPr lang="en-US" i="1"/>
              <a:t> </a:t>
            </a:r>
            <a:r>
              <a:rPr lang="en-US" i="1" err="1"/>
              <a:t>napadnout</a:t>
            </a:r>
            <a:r>
              <a:rPr lang="en-US" i="1"/>
              <a:t> </a:t>
            </a:r>
            <a:r>
              <a:rPr lang="en-US" i="1" err="1"/>
              <a:t>webový</a:t>
            </a:r>
            <a:r>
              <a:rPr lang="en-US" i="1"/>
              <a:t> server a </a:t>
            </a:r>
            <a:r>
              <a:rPr lang="en-US" i="1" err="1"/>
              <a:t>inicializují</a:t>
            </a:r>
            <a:r>
              <a:rPr lang="cs-CZ"/>
              <a:t> </a:t>
            </a:r>
            <a:r>
              <a:rPr lang="en-US" i="1" err="1"/>
              <a:t>na</a:t>
            </a:r>
            <a:r>
              <a:rPr lang="en-US" i="1"/>
              <a:t> </a:t>
            </a:r>
            <a:r>
              <a:rPr lang="en-US" i="1" err="1"/>
              <a:t>něm</a:t>
            </a:r>
            <a:r>
              <a:rPr lang="en-US" i="1"/>
              <a:t> </a:t>
            </a:r>
            <a:r>
              <a:rPr lang="en-US" i="1" err="1"/>
              <a:t>například</a:t>
            </a:r>
            <a:r>
              <a:rPr lang="en-US" i="1"/>
              <a:t> </a:t>
            </a:r>
            <a:r>
              <a:rPr lang="en-US" i="1" err="1"/>
              <a:t>phishingovou</a:t>
            </a:r>
            <a:r>
              <a:rPr lang="en-US" i="1"/>
              <a:t> </a:t>
            </a:r>
            <a:r>
              <a:rPr lang="en-US" i="1" err="1"/>
              <a:t>stránku</a:t>
            </a:r>
            <a:r>
              <a:rPr lang="en-US" i="1"/>
              <a:t>, </a:t>
            </a:r>
            <a:r>
              <a:rPr lang="en-US" i="1" err="1"/>
              <a:t>překonfigurují</a:t>
            </a:r>
            <a:r>
              <a:rPr lang="en-US" i="1"/>
              <a:t> server </a:t>
            </a:r>
            <a:r>
              <a:rPr lang="en-US" i="1" err="1"/>
              <a:t>tak</a:t>
            </a:r>
            <a:r>
              <a:rPr lang="en-US" i="1"/>
              <a:t>, </a:t>
            </a:r>
            <a:r>
              <a:rPr lang="en-US" i="1" err="1"/>
              <a:t>aby</a:t>
            </a:r>
            <a:r>
              <a:rPr lang="en-US" i="1"/>
              <a:t> k </a:t>
            </a:r>
            <a:r>
              <a:rPr lang="en-US" i="1" err="1"/>
              <a:t>dané</a:t>
            </a:r>
            <a:r>
              <a:rPr lang="en-US" i="1"/>
              <a:t> </a:t>
            </a:r>
            <a:r>
              <a:rPr lang="en-US" i="1" err="1"/>
              <a:t>phishingové</a:t>
            </a:r>
            <a:r>
              <a:rPr lang="cs-CZ"/>
              <a:t> </a:t>
            </a:r>
            <a:r>
              <a:rPr lang="en-US" i="1" err="1"/>
              <a:t>stránce</a:t>
            </a:r>
            <a:r>
              <a:rPr lang="en-US" i="1"/>
              <a:t> </a:t>
            </a:r>
            <a:r>
              <a:rPr lang="en-US" i="1" err="1"/>
              <a:t>měli</a:t>
            </a:r>
            <a:r>
              <a:rPr lang="en-US" i="1"/>
              <a:t> </a:t>
            </a:r>
            <a:r>
              <a:rPr lang="en-US" i="1" err="1"/>
              <a:t>přístup</a:t>
            </a:r>
            <a:r>
              <a:rPr lang="en-US" i="1"/>
              <a:t> </a:t>
            </a:r>
            <a:r>
              <a:rPr lang="en-US" i="1" err="1"/>
              <a:t>pouze</a:t>
            </a:r>
            <a:r>
              <a:rPr lang="en-US" i="1"/>
              <a:t> </a:t>
            </a:r>
            <a:r>
              <a:rPr lang="en-US" i="1" err="1"/>
              <a:t>uživatelé</a:t>
            </a:r>
            <a:r>
              <a:rPr lang="en-US" i="1"/>
              <a:t> z IP </a:t>
            </a:r>
            <a:r>
              <a:rPr lang="en-US" i="1" err="1"/>
              <a:t>adres</a:t>
            </a:r>
            <a:r>
              <a:rPr lang="en-US" i="1"/>
              <a:t>, </a:t>
            </a:r>
            <a:r>
              <a:rPr lang="en-US" i="1" err="1"/>
              <a:t>které</a:t>
            </a:r>
            <a:r>
              <a:rPr lang="en-US" i="1"/>
              <a:t> </a:t>
            </a:r>
            <a:r>
              <a:rPr lang="en-US" i="1" err="1"/>
              <a:t>jsou</a:t>
            </a:r>
            <a:r>
              <a:rPr lang="en-US" i="1"/>
              <a:t> </a:t>
            </a:r>
            <a:r>
              <a:rPr lang="en-US" i="1" err="1"/>
              <a:t>alokovány</a:t>
            </a:r>
            <a:r>
              <a:rPr lang="en-US" i="1"/>
              <a:t> do </a:t>
            </a:r>
            <a:r>
              <a:rPr lang="en-US" i="1" err="1"/>
              <a:t>země</a:t>
            </a:r>
            <a:r>
              <a:rPr lang="en-US" i="1"/>
              <a:t>, </a:t>
            </a:r>
            <a:r>
              <a:rPr lang="en-US" i="1" err="1"/>
              <a:t>na</a:t>
            </a:r>
            <a:r>
              <a:rPr lang="en-US" i="1"/>
              <a:t> </a:t>
            </a:r>
            <a:r>
              <a:rPr lang="en-US" i="1" err="1"/>
              <a:t>jejíž</a:t>
            </a:r>
            <a:r>
              <a:rPr lang="en-US" i="1"/>
              <a:t> </a:t>
            </a:r>
            <a:r>
              <a:rPr lang="en-US" i="1" err="1"/>
              <a:t>uživatele</a:t>
            </a:r>
            <a:br>
              <a:rPr lang="en-US"/>
            </a:br>
            <a:r>
              <a:rPr lang="en-US" i="1" err="1"/>
              <a:t>útok</a:t>
            </a:r>
            <a:r>
              <a:rPr lang="en-US" i="1"/>
              <a:t> </a:t>
            </a:r>
            <a:r>
              <a:rPr lang="en-US" i="1" err="1"/>
              <a:t>cílí</a:t>
            </a:r>
            <a:r>
              <a:rPr lang="en-US" i="1"/>
              <a:t>. </a:t>
            </a:r>
            <a:endParaRPr lang="cs-CZ" i="1"/>
          </a:p>
          <a:p>
            <a:r>
              <a:rPr lang="en-US" i="1" err="1"/>
              <a:t>Touto</a:t>
            </a:r>
            <a:r>
              <a:rPr lang="en-US" i="1"/>
              <a:t> </a:t>
            </a:r>
            <a:r>
              <a:rPr lang="en-US" i="1" err="1"/>
              <a:t>změnou</a:t>
            </a:r>
            <a:r>
              <a:rPr lang="en-US" i="1"/>
              <a:t> </a:t>
            </a:r>
            <a:r>
              <a:rPr lang="en-US" i="1" err="1"/>
              <a:t>útočníci</a:t>
            </a:r>
            <a:r>
              <a:rPr lang="en-US" i="1"/>
              <a:t> </a:t>
            </a:r>
            <a:r>
              <a:rPr lang="en-US" i="1" err="1"/>
              <a:t>oddálí</a:t>
            </a:r>
            <a:r>
              <a:rPr lang="en-US" i="1"/>
              <a:t> </a:t>
            </a:r>
            <a:r>
              <a:rPr lang="en-US" i="1" err="1"/>
              <a:t>objevení</a:t>
            </a:r>
            <a:r>
              <a:rPr lang="en-US" i="1"/>
              <a:t> </a:t>
            </a:r>
            <a:r>
              <a:rPr lang="en-US" i="1" err="1"/>
              <a:t>podvodné</a:t>
            </a:r>
            <a:r>
              <a:rPr lang="en-US" i="1"/>
              <a:t> </a:t>
            </a:r>
            <a:r>
              <a:rPr lang="en-US" i="1" err="1"/>
              <a:t>stránky</a:t>
            </a:r>
            <a:r>
              <a:rPr lang="en-US" i="1"/>
              <a:t> </a:t>
            </a:r>
            <a:r>
              <a:rPr lang="en-US" i="1" err="1"/>
              <a:t>administrátorem</a:t>
            </a:r>
            <a:r>
              <a:rPr lang="en-US" i="1"/>
              <a:t> </a:t>
            </a:r>
            <a:r>
              <a:rPr lang="en-US" i="1" err="1"/>
              <a:t>serveru</a:t>
            </a:r>
            <a:r>
              <a:rPr lang="cs-CZ"/>
              <a:t> </a:t>
            </a:r>
            <a:r>
              <a:rPr lang="en-US" i="1"/>
              <a:t>a </a:t>
            </a:r>
            <a:r>
              <a:rPr lang="en-US" i="1" err="1"/>
              <a:t>může</a:t>
            </a:r>
            <a:r>
              <a:rPr lang="en-US" i="1"/>
              <a:t> se </a:t>
            </a:r>
            <a:r>
              <a:rPr lang="en-US" i="1" err="1"/>
              <a:t>také</a:t>
            </a:r>
            <a:r>
              <a:rPr lang="en-US" i="1"/>
              <a:t> </a:t>
            </a:r>
            <a:r>
              <a:rPr lang="en-US" i="1" err="1"/>
              <a:t>prodloužit</a:t>
            </a:r>
            <a:r>
              <a:rPr lang="en-US" i="1"/>
              <a:t> </a:t>
            </a:r>
            <a:r>
              <a:rPr lang="en-US" i="1" err="1"/>
              <a:t>proces</a:t>
            </a:r>
            <a:r>
              <a:rPr lang="en-US" i="1"/>
              <a:t> </a:t>
            </a:r>
            <a:r>
              <a:rPr lang="en-US" i="1" err="1"/>
              <a:t>řešení</a:t>
            </a:r>
            <a:r>
              <a:rPr lang="en-US" i="1"/>
              <a:t> </a:t>
            </a:r>
            <a:r>
              <a:rPr lang="en-US" i="1" err="1"/>
              <a:t>incidentu</a:t>
            </a:r>
            <a:r>
              <a:rPr lang="en-US" i="1"/>
              <a:t>.</a:t>
            </a:r>
            <a:br>
              <a:rPr lang="en-US"/>
            </a:b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236</a:t>
            </a:fld>
            <a:endParaRPr lang="cs-CZ"/>
          </a:p>
        </p:txBody>
      </p:sp>
    </p:spTree>
    <p:extLst>
      <p:ext uri="{BB962C8B-B14F-4D97-AF65-F5344CB8AC3E}">
        <p14:creationId xmlns:p14="http://schemas.microsoft.com/office/powerpoint/2010/main" val="3874274171"/>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Open proxy server</a:t>
            </a:r>
            <a:endParaRPr lang="en-US"/>
          </a:p>
        </p:txBody>
      </p:sp>
      <p:sp>
        <p:nvSpPr>
          <p:cNvPr id="3" name="Content Placeholder 2"/>
          <p:cNvSpPr>
            <a:spLocks noGrp="1"/>
          </p:cNvSpPr>
          <p:nvPr>
            <p:ph idx="1"/>
          </p:nvPr>
        </p:nvSpPr>
        <p:spPr/>
        <p:txBody>
          <a:bodyPr/>
          <a:lstStyle/>
          <a:p>
            <a:r>
              <a:rPr lang="en-US"/>
              <a:t>V CSIRT.CZ je </a:t>
            </a:r>
            <a:r>
              <a:rPr lang="en-US" err="1"/>
              <a:t>využíván</a:t>
            </a:r>
            <a:r>
              <a:rPr lang="en-US"/>
              <a:t> open proxy server </a:t>
            </a:r>
            <a:r>
              <a:rPr lang="en-US" err="1"/>
              <a:t>právě</a:t>
            </a:r>
            <a:r>
              <a:rPr lang="en-US"/>
              <a:t> k </a:t>
            </a:r>
            <a:r>
              <a:rPr lang="en-US" err="1"/>
              <a:t>ověření</a:t>
            </a:r>
            <a:r>
              <a:rPr lang="en-US"/>
              <a:t>, </a:t>
            </a:r>
            <a:r>
              <a:rPr lang="en-US" err="1"/>
              <a:t>zda</a:t>
            </a:r>
            <a:r>
              <a:rPr lang="en-US"/>
              <a:t> </a:t>
            </a:r>
            <a:r>
              <a:rPr lang="en-US" err="1"/>
              <a:t>nedošlo</a:t>
            </a:r>
            <a:r>
              <a:rPr lang="en-US"/>
              <a:t> k </a:t>
            </a:r>
            <a:r>
              <a:rPr lang="en-US" err="1"/>
              <a:t>výše</a:t>
            </a:r>
            <a:r>
              <a:rPr lang="en-US"/>
              <a:t> </a:t>
            </a:r>
            <a:r>
              <a:rPr lang="en-US" err="1"/>
              <a:t>popsanému</a:t>
            </a:r>
            <a:r>
              <a:rPr lang="cs-CZ"/>
              <a:t> </a:t>
            </a:r>
            <a:r>
              <a:rPr lang="en-US" err="1"/>
              <a:t>zablokování</a:t>
            </a:r>
            <a:r>
              <a:rPr lang="en-US"/>
              <a:t> </a:t>
            </a:r>
            <a:r>
              <a:rPr lang="en-US" err="1"/>
              <a:t>přístupu</a:t>
            </a:r>
            <a:r>
              <a:rPr lang="en-US"/>
              <a:t>. </a:t>
            </a:r>
            <a:endParaRPr lang="cs-CZ"/>
          </a:p>
          <a:p>
            <a:r>
              <a:rPr lang="en-US" err="1"/>
              <a:t>Používání</a:t>
            </a:r>
            <a:r>
              <a:rPr lang="en-US"/>
              <a:t> open proxy </a:t>
            </a:r>
            <a:r>
              <a:rPr lang="en-US" err="1"/>
              <a:t>serveru</a:t>
            </a:r>
            <a:r>
              <a:rPr lang="en-US"/>
              <a:t> </a:t>
            </a:r>
            <a:r>
              <a:rPr lang="en-US" err="1"/>
              <a:t>může</a:t>
            </a:r>
            <a:r>
              <a:rPr lang="en-US"/>
              <a:t> </a:t>
            </a:r>
            <a:r>
              <a:rPr lang="en-US" err="1"/>
              <a:t>na</a:t>
            </a:r>
            <a:r>
              <a:rPr lang="en-US"/>
              <a:t> </a:t>
            </a:r>
            <a:r>
              <a:rPr lang="en-US" err="1"/>
              <a:t>druhou</a:t>
            </a:r>
            <a:r>
              <a:rPr lang="en-US"/>
              <a:t> </a:t>
            </a:r>
            <a:r>
              <a:rPr lang="en-US" err="1"/>
              <a:t>stranu</a:t>
            </a:r>
            <a:r>
              <a:rPr lang="en-US"/>
              <a:t> </a:t>
            </a:r>
            <a:r>
              <a:rPr lang="en-US" err="1"/>
              <a:t>představovat</a:t>
            </a:r>
            <a:br>
              <a:rPr lang="en-US"/>
            </a:br>
            <a:r>
              <a:rPr lang="en-US" err="1"/>
              <a:t>i</a:t>
            </a:r>
            <a:r>
              <a:rPr lang="en-US"/>
              <a:t> </a:t>
            </a:r>
            <a:r>
              <a:rPr lang="en-US" err="1"/>
              <a:t>bezpečnostní</a:t>
            </a:r>
            <a:r>
              <a:rPr lang="en-US"/>
              <a:t> </a:t>
            </a:r>
            <a:r>
              <a:rPr lang="en-US" err="1"/>
              <a:t>riziko</a:t>
            </a:r>
            <a:r>
              <a:rPr lang="en-US"/>
              <a:t>, </a:t>
            </a:r>
            <a:r>
              <a:rPr lang="en-US" err="1"/>
              <a:t>neboť</a:t>
            </a:r>
            <a:r>
              <a:rPr lang="en-US"/>
              <a:t> </a:t>
            </a:r>
            <a:r>
              <a:rPr lang="en-US" err="1"/>
              <a:t>nemusí</a:t>
            </a:r>
            <a:r>
              <a:rPr lang="en-US"/>
              <a:t> </a:t>
            </a:r>
            <a:r>
              <a:rPr lang="en-US" err="1"/>
              <a:t>být</a:t>
            </a:r>
            <a:r>
              <a:rPr lang="en-US"/>
              <a:t> </a:t>
            </a:r>
            <a:r>
              <a:rPr lang="en-US" err="1"/>
              <a:t>známo</a:t>
            </a:r>
            <a:r>
              <a:rPr lang="en-US"/>
              <a:t>, </a:t>
            </a:r>
            <a:r>
              <a:rPr lang="en-US" err="1"/>
              <a:t>kdo</a:t>
            </a:r>
            <a:r>
              <a:rPr lang="en-US"/>
              <a:t> </a:t>
            </a:r>
            <a:r>
              <a:rPr lang="en-US" err="1"/>
              <a:t>má</a:t>
            </a:r>
            <a:r>
              <a:rPr lang="en-US"/>
              <a:t> </a:t>
            </a:r>
            <a:r>
              <a:rPr lang="en-US" err="1"/>
              <a:t>daný</a:t>
            </a:r>
            <a:r>
              <a:rPr lang="en-US"/>
              <a:t> open proxy server pod </a:t>
            </a:r>
            <a:r>
              <a:rPr lang="en-US" err="1"/>
              <a:t>kontrolou</a:t>
            </a:r>
            <a:r>
              <a:rPr lang="cs-CZ"/>
              <a:t>.</a:t>
            </a:r>
          </a:p>
          <a:p>
            <a:r>
              <a:rPr lang="cs-CZ"/>
              <a:t>A</a:t>
            </a:r>
            <a:r>
              <a:rPr lang="en-US"/>
              <a:t> </a:t>
            </a:r>
            <a:r>
              <a:rPr lang="en-US" err="1"/>
              <a:t>správce</a:t>
            </a:r>
            <a:r>
              <a:rPr lang="en-US"/>
              <a:t> proxy </a:t>
            </a:r>
            <a:r>
              <a:rPr lang="en-US" err="1"/>
              <a:t>serveru</a:t>
            </a:r>
            <a:r>
              <a:rPr lang="en-US"/>
              <a:t> </a:t>
            </a:r>
            <a:r>
              <a:rPr lang="en-US" err="1"/>
              <a:t>může</a:t>
            </a:r>
            <a:r>
              <a:rPr lang="en-US"/>
              <a:t> do </a:t>
            </a:r>
            <a:r>
              <a:rPr lang="en-US" err="1"/>
              <a:t>webových</a:t>
            </a:r>
            <a:r>
              <a:rPr lang="en-US"/>
              <a:t> </a:t>
            </a:r>
            <a:r>
              <a:rPr lang="en-US" err="1"/>
              <a:t>stránek</a:t>
            </a:r>
            <a:r>
              <a:rPr lang="en-US"/>
              <a:t> </a:t>
            </a:r>
            <a:r>
              <a:rPr lang="en-US" err="1"/>
              <a:t>přidat</a:t>
            </a:r>
            <a:r>
              <a:rPr lang="en-US"/>
              <a:t> </a:t>
            </a:r>
            <a:r>
              <a:rPr lang="en-US" err="1"/>
              <a:t>vlastní</a:t>
            </a:r>
            <a:r>
              <a:rPr lang="en-US"/>
              <a:t> </a:t>
            </a:r>
            <a:r>
              <a:rPr lang="en-US" err="1"/>
              <a:t>obsah</a:t>
            </a:r>
            <a:r>
              <a:rPr lang="en-US"/>
              <a:t>, od </a:t>
            </a:r>
            <a:r>
              <a:rPr lang="en-US" err="1"/>
              <a:t>falešné</a:t>
            </a:r>
            <a:r>
              <a:rPr lang="en-US"/>
              <a:t> </a:t>
            </a:r>
            <a:r>
              <a:rPr lang="en-US" err="1"/>
              <a:t>zprávy</a:t>
            </a:r>
            <a:r>
              <a:rPr lang="en-US"/>
              <a:t> do</a:t>
            </a:r>
            <a:r>
              <a:rPr lang="cs-CZ"/>
              <a:t> </a:t>
            </a:r>
            <a:r>
              <a:rPr lang="en-US" err="1"/>
              <a:t>zpravodajského</a:t>
            </a:r>
            <a:r>
              <a:rPr lang="en-US"/>
              <a:t> </a:t>
            </a:r>
            <a:r>
              <a:rPr lang="en-US" err="1"/>
              <a:t>portálu</a:t>
            </a:r>
            <a:r>
              <a:rPr lang="en-US"/>
              <a:t> </a:t>
            </a:r>
            <a:r>
              <a:rPr lang="en-US" err="1"/>
              <a:t>až</a:t>
            </a:r>
            <a:r>
              <a:rPr lang="en-US"/>
              <a:t> </a:t>
            </a:r>
            <a:r>
              <a:rPr lang="en-US" err="1"/>
              <a:t>po</a:t>
            </a:r>
            <a:r>
              <a:rPr lang="en-US"/>
              <a:t> </a:t>
            </a:r>
            <a:r>
              <a:rPr lang="en-US" err="1"/>
              <a:t>odkaz</a:t>
            </a:r>
            <a:r>
              <a:rPr lang="en-US"/>
              <a:t> </a:t>
            </a:r>
            <a:r>
              <a:rPr lang="en-US" err="1"/>
              <a:t>na</a:t>
            </a:r>
            <a:r>
              <a:rPr lang="en-US"/>
              <a:t> </a:t>
            </a:r>
            <a:r>
              <a:rPr lang="en-US" err="1"/>
              <a:t>stažení</a:t>
            </a:r>
            <a:r>
              <a:rPr lang="en-US"/>
              <a:t> malware.</a:t>
            </a:r>
            <a:br>
              <a:rPr lang="en-US"/>
            </a:b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237</a:t>
            </a:fld>
            <a:endParaRPr lang="cs-CZ"/>
          </a:p>
        </p:txBody>
      </p:sp>
    </p:spTree>
    <p:extLst>
      <p:ext uri="{BB962C8B-B14F-4D97-AF65-F5344CB8AC3E}">
        <p14:creationId xmlns:p14="http://schemas.microsoft.com/office/powerpoint/2010/main" val="1606079174"/>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Intrusion Detection System (IDS) a Intrusion Prevention System (IPS)</a:t>
            </a:r>
          </a:p>
        </p:txBody>
      </p:sp>
      <p:sp>
        <p:nvSpPr>
          <p:cNvPr id="3" name="Content Placeholder 2"/>
          <p:cNvSpPr>
            <a:spLocks noGrp="1"/>
          </p:cNvSpPr>
          <p:nvPr>
            <p:ph idx="1"/>
          </p:nvPr>
        </p:nvSpPr>
        <p:spPr/>
        <p:txBody>
          <a:bodyPr/>
          <a:lstStyle/>
          <a:p>
            <a:r>
              <a:rPr lang="en-US"/>
              <a:t>Intrusion detection system </a:t>
            </a:r>
            <a:r>
              <a:rPr lang="en-US" err="1"/>
              <a:t>představuje</a:t>
            </a:r>
            <a:r>
              <a:rPr lang="en-US"/>
              <a:t> </a:t>
            </a:r>
            <a:r>
              <a:rPr lang="en-US" err="1"/>
              <a:t>systém</a:t>
            </a:r>
            <a:r>
              <a:rPr lang="en-US"/>
              <a:t>, </a:t>
            </a:r>
            <a:r>
              <a:rPr lang="en-US" err="1"/>
              <a:t>který</a:t>
            </a:r>
            <a:r>
              <a:rPr lang="en-US"/>
              <a:t> se </a:t>
            </a:r>
            <a:r>
              <a:rPr lang="en-US" err="1"/>
              <a:t>na</a:t>
            </a:r>
            <a:r>
              <a:rPr lang="en-US"/>
              <a:t> </a:t>
            </a:r>
            <a:r>
              <a:rPr lang="en-US" err="1"/>
              <a:t>základě</a:t>
            </a:r>
            <a:r>
              <a:rPr lang="en-US"/>
              <a:t> </a:t>
            </a:r>
            <a:r>
              <a:rPr lang="en-US" err="1"/>
              <a:t>sledování</a:t>
            </a:r>
            <a:r>
              <a:rPr lang="en-US"/>
              <a:t> </a:t>
            </a:r>
            <a:r>
              <a:rPr lang="en-US" err="1"/>
              <a:t>síťového</a:t>
            </a:r>
            <a:r>
              <a:rPr lang="en-US"/>
              <a:t> </a:t>
            </a:r>
            <a:r>
              <a:rPr lang="en-US" err="1"/>
              <a:t>provozu</a:t>
            </a:r>
            <a:r>
              <a:rPr lang="cs-CZ"/>
              <a:t>. </a:t>
            </a:r>
          </a:p>
          <a:p>
            <a:r>
              <a:rPr lang="cs-CZ"/>
              <a:t>Popř. </a:t>
            </a:r>
            <a:r>
              <a:rPr lang="en-US" err="1"/>
              <a:t>na</a:t>
            </a:r>
            <a:r>
              <a:rPr lang="en-US"/>
              <a:t> </a:t>
            </a:r>
            <a:r>
              <a:rPr lang="en-US" err="1"/>
              <a:t>základě</a:t>
            </a:r>
            <a:r>
              <a:rPr lang="en-US"/>
              <a:t> </a:t>
            </a:r>
            <a:r>
              <a:rPr lang="en-US" err="1"/>
              <a:t>chování</a:t>
            </a:r>
            <a:r>
              <a:rPr lang="en-US"/>
              <a:t> </a:t>
            </a:r>
            <a:r>
              <a:rPr lang="en-US" err="1"/>
              <a:t>procesů</a:t>
            </a:r>
            <a:r>
              <a:rPr lang="en-US"/>
              <a:t> a </a:t>
            </a:r>
            <a:r>
              <a:rPr lang="en-US" err="1"/>
              <a:t>operačního</a:t>
            </a:r>
            <a:r>
              <a:rPr lang="en-US"/>
              <a:t> </a:t>
            </a:r>
            <a:r>
              <a:rPr lang="en-US" err="1"/>
              <a:t>systému</a:t>
            </a:r>
            <a:r>
              <a:rPr lang="en-US"/>
              <a:t> </a:t>
            </a:r>
            <a:r>
              <a:rPr lang="en-US" err="1"/>
              <a:t>na</a:t>
            </a:r>
            <a:r>
              <a:rPr lang="en-US"/>
              <a:t> </a:t>
            </a:r>
            <a:r>
              <a:rPr lang="en-US" err="1"/>
              <a:t>konkrétním</a:t>
            </a:r>
            <a:r>
              <a:rPr lang="en-US"/>
              <a:t> </a:t>
            </a:r>
            <a:r>
              <a:rPr lang="en-US" err="1"/>
              <a:t>počítačovém</a:t>
            </a:r>
            <a:r>
              <a:rPr lang="en-US"/>
              <a:t> </a:t>
            </a:r>
            <a:r>
              <a:rPr lang="en-US" err="1"/>
              <a:t>systému</a:t>
            </a:r>
            <a:r>
              <a:rPr lang="en-US"/>
              <a:t>,</a:t>
            </a:r>
            <a:r>
              <a:rPr lang="cs-CZ"/>
              <a:t> </a:t>
            </a:r>
            <a:r>
              <a:rPr lang="en-US" err="1"/>
              <a:t>snaží</a:t>
            </a:r>
            <a:r>
              <a:rPr lang="en-US"/>
              <a:t> </a:t>
            </a:r>
            <a:r>
              <a:rPr lang="en-US" err="1"/>
              <a:t>identifikovat</a:t>
            </a:r>
            <a:r>
              <a:rPr lang="en-US"/>
              <a:t> </a:t>
            </a:r>
            <a:r>
              <a:rPr lang="en-US" err="1"/>
              <a:t>případné</a:t>
            </a:r>
            <a:r>
              <a:rPr lang="en-US"/>
              <a:t> </a:t>
            </a:r>
            <a:r>
              <a:rPr lang="en-US" err="1"/>
              <a:t>pokusy</a:t>
            </a:r>
            <a:r>
              <a:rPr lang="en-US"/>
              <a:t> o </a:t>
            </a:r>
            <a:r>
              <a:rPr lang="en-US" err="1"/>
              <a:t>útok</a:t>
            </a:r>
            <a:r>
              <a:rPr lang="en-US"/>
              <a:t> a </a:t>
            </a:r>
            <a:r>
              <a:rPr lang="en-US" err="1"/>
              <a:t>další</a:t>
            </a:r>
            <a:r>
              <a:rPr lang="en-US"/>
              <a:t> </a:t>
            </a:r>
            <a:r>
              <a:rPr lang="en-US" err="1"/>
              <a:t>podezřelé</a:t>
            </a:r>
            <a:r>
              <a:rPr lang="en-US"/>
              <a:t> </a:t>
            </a:r>
            <a:r>
              <a:rPr lang="en-US" err="1"/>
              <a:t>jevy</a:t>
            </a:r>
            <a:r>
              <a:rPr lang="en-US"/>
              <a:t>. </a:t>
            </a:r>
            <a:endParaRPr lang="cs-CZ"/>
          </a:p>
          <a:p>
            <a:r>
              <a:rPr lang="en-US"/>
              <a:t>IDS </a:t>
            </a:r>
            <a:r>
              <a:rPr lang="en-US" err="1"/>
              <a:t>dokáže</a:t>
            </a:r>
            <a:r>
              <a:rPr lang="en-US"/>
              <a:t> </a:t>
            </a:r>
            <a:r>
              <a:rPr lang="en-US" err="1"/>
              <a:t>zjistit</a:t>
            </a:r>
            <a:r>
              <a:rPr lang="en-US"/>
              <a:t> </a:t>
            </a:r>
            <a:r>
              <a:rPr lang="en-US" err="1"/>
              <a:t>pokusy</a:t>
            </a:r>
            <a:r>
              <a:rPr lang="cs-CZ"/>
              <a:t> </a:t>
            </a:r>
            <a:r>
              <a:rPr lang="en-US"/>
              <a:t>o </a:t>
            </a:r>
            <a:r>
              <a:rPr lang="en-US" err="1"/>
              <a:t>skenování</a:t>
            </a:r>
            <a:r>
              <a:rPr lang="en-US"/>
              <a:t> </a:t>
            </a:r>
            <a:r>
              <a:rPr lang="en-US" err="1"/>
              <a:t>portů</a:t>
            </a:r>
            <a:r>
              <a:rPr lang="en-US"/>
              <a:t>, </a:t>
            </a:r>
            <a:r>
              <a:rPr lang="en-US" err="1"/>
              <a:t>exfiltraci</a:t>
            </a:r>
            <a:r>
              <a:rPr lang="en-US"/>
              <a:t> </a:t>
            </a:r>
            <a:r>
              <a:rPr lang="en-US" err="1"/>
              <a:t>dat</a:t>
            </a:r>
            <a:r>
              <a:rPr lang="en-US"/>
              <a:t>, </a:t>
            </a:r>
            <a:r>
              <a:rPr lang="en-US" err="1"/>
              <a:t>exploitaci</a:t>
            </a:r>
            <a:r>
              <a:rPr lang="en-US"/>
              <a:t> </a:t>
            </a:r>
            <a:r>
              <a:rPr lang="en-US" err="1"/>
              <a:t>zranitelností</a:t>
            </a:r>
            <a:r>
              <a:rPr lang="en-US"/>
              <a:t> </a:t>
            </a:r>
            <a:r>
              <a:rPr lang="en-US" err="1"/>
              <a:t>aj</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238</a:t>
            </a:fld>
            <a:endParaRPr lang="cs-CZ"/>
          </a:p>
        </p:txBody>
      </p:sp>
    </p:spTree>
    <p:extLst>
      <p:ext uri="{BB962C8B-B14F-4D97-AF65-F5344CB8AC3E}">
        <p14:creationId xmlns:p14="http://schemas.microsoft.com/office/powerpoint/2010/main" val="3914765524"/>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Typy IDS</a:t>
            </a:r>
            <a:endParaRPr lang="en-US" b="1"/>
          </a:p>
        </p:txBody>
      </p:sp>
      <p:sp>
        <p:nvSpPr>
          <p:cNvPr id="3" name="Content Placeholder 2"/>
          <p:cNvSpPr>
            <a:spLocks noGrp="1"/>
          </p:cNvSpPr>
          <p:nvPr>
            <p:ph idx="1"/>
          </p:nvPr>
        </p:nvSpPr>
        <p:spPr/>
        <p:txBody>
          <a:bodyPr>
            <a:normAutofit/>
          </a:bodyPr>
          <a:lstStyle/>
          <a:p>
            <a:r>
              <a:rPr lang="en-US" err="1"/>
              <a:t>Existují</a:t>
            </a:r>
            <a:r>
              <a:rPr lang="en-US"/>
              <a:t> </a:t>
            </a:r>
            <a:r>
              <a:rPr lang="en-US" err="1"/>
              <a:t>dva</a:t>
            </a:r>
            <a:r>
              <a:rPr lang="en-US"/>
              <a:t> </a:t>
            </a:r>
            <a:r>
              <a:rPr lang="en-US" err="1"/>
              <a:t>základní</a:t>
            </a:r>
            <a:r>
              <a:rPr lang="en-US"/>
              <a:t> </a:t>
            </a:r>
            <a:r>
              <a:rPr lang="en-US" err="1"/>
              <a:t>typy</a:t>
            </a:r>
            <a:r>
              <a:rPr lang="en-US"/>
              <a:t> IDS:</a:t>
            </a:r>
            <a:endParaRPr lang="cs-CZ" b="1"/>
          </a:p>
          <a:p>
            <a:pPr lvl="1"/>
            <a:r>
              <a:rPr lang="en-US" b="1"/>
              <a:t>HIDS (Host-based Intrusion Detection System)</a:t>
            </a:r>
            <a:endParaRPr lang="cs-CZ" b="1"/>
          </a:p>
          <a:p>
            <a:pPr lvl="1"/>
            <a:r>
              <a:rPr lang="en-US" b="1"/>
              <a:t>NIDS (Network Intrusion Detection System)</a:t>
            </a:r>
            <a:endParaRPr lang="cs-CZ" b="1"/>
          </a:p>
          <a:p>
            <a:r>
              <a:rPr lang="pl-PL"/>
              <a:t>Dle architektury se IDS systémy dělí na:</a:t>
            </a:r>
          </a:p>
          <a:p>
            <a:pPr lvl="1"/>
            <a:r>
              <a:rPr lang="pl-PL"/>
              <a:t>monolitické (všechny části IDS jsou provozovány v jednom počítačovém systému),</a:t>
            </a:r>
          </a:p>
          <a:p>
            <a:pPr lvl="1"/>
            <a:r>
              <a:rPr lang="pl-PL"/>
              <a:t>hierarchické.</a:t>
            </a:r>
            <a:br>
              <a:rPr lang="pl-PL"/>
            </a:br>
            <a:br>
              <a:rPr lang="pl-PL"/>
            </a:br>
            <a:br>
              <a:rPr lang="en-US"/>
            </a:br>
            <a:br>
              <a:rPr lang="en-US"/>
            </a:b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239</a:t>
            </a:fld>
            <a:endParaRPr lang="cs-CZ"/>
          </a:p>
        </p:txBody>
      </p:sp>
    </p:spTree>
    <p:extLst>
      <p:ext uri="{BB962C8B-B14F-4D97-AF65-F5344CB8AC3E}">
        <p14:creationId xmlns:p14="http://schemas.microsoft.com/office/powerpoint/2010/main" val="1909928433"/>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HIDS (Host-based Intrusion Detection System)</a:t>
            </a:r>
            <a:endParaRPr lang="en-US"/>
          </a:p>
        </p:txBody>
      </p:sp>
      <p:sp>
        <p:nvSpPr>
          <p:cNvPr id="3" name="Content Placeholder 2"/>
          <p:cNvSpPr>
            <a:spLocks noGrp="1"/>
          </p:cNvSpPr>
          <p:nvPr>
            <p:ph idx="1"/>
          </p:nvPr>
        </p:nvSpPr>
        <p:spPr/>
        <p:txBody>
          <a:bodyPr/>
          <a:lstStyle/>
          <a:p>
            <a:r>
              <a:rPr lang="en-US"/>
              <a:t>HIDS je </a:t>
            </a:r>
            <a:r>
              <a:rPr lang="en-US" err="1"/>
              <a:t>obvykle</a:t>
            </a:r>
            <a:r>
              <a:rPr lang="en-US"/>
              <a:t> </a:t>
            </a:r>
            <a:r>
              <a:rPr lang="en-US" err="1"/>
              <a:t>nainstalován</a:t>
            </a:r>
            <a:r>
              <a:rPr lang="en-US"/>
              <a:t> </a:t>
            </a:r>
            <a:r>
              <a:rPr lang="en-US" err="1"/>
              <a:t>přímo</a:t>
            </a:r>
            <a:r>
              <a:rPr lang="en-US"/>
              <a:t> v </a:t>
            </a:r>
            <a:r>
              <a:rPr lang="en-US" err="1"/>
              <a:t>koncovém</a:t>
            </a:r>
            <a:r>
              <a:rPr lang="en-US"/>
              <a:t> </a:t>
            </a:r>
            <a:r>
              <a:rPr lang="en-US" err="1"/>
              <a:t>počítačovém</a:t>
            </a:r>
            <a:r>
              <a:rPr lang="en-US"/>
              <a:t> </a:t>
            </a:r>
            <a:r>
              <a:rPr lang="en-US" err="1"/>
              <a:t>systému</a:t>
            </a:r>
            <a:r>
              <a:rPr lang="en-US"/>
              <a:t>, </a:t>
            </a:r>
            <a:r>
              <a:rPr lang="en-US" err="1"/>
              <a:t>kde</a:t>
            </a:r>
            <a:r>
              <a:rPr lang="en-US"/>
              <a:t> </a:t>
            </a:r>
            <a:r>
              <a:rPr lang="en-US" err="1"/>
              <a:t>kontroluje</a:t>
            </a:r>
            <a:r>
              <a:rPr lang="cs-CZ"/>
              <a:t>: </a:t>
            </a:r>
          </a:p>
          <a:p>
            <a:pPr lvl="1"/>
            <a:r>
              <a:rPr lang="en-US" err="1"/>
              <a:t>obsah</a:t>
            </a:r>
            <a:r>
              <a:rPr lang="en-US"/>
              <a:t> </a:t>
            </a:r>
            <a:r>
              <a:rPr lang="en-US" err="1"/>
              <a:t>logů</a:t>
            </a:r>
            <a:r>
              <a:rPr lang="en-US"/>
              <a:t>, </a:t>
            </a:r>
            <a:endParaRPr lang="cs-CZ"/>
          </a:p>
          <a:p>
            <a:pPr lvl="1"/>
            <a:r>
              <a:rPr lang="en-US" err="1"/>
              <a:t>chování</a:t>
            </a:r>
            <a:r>
              <a:rPr lang="en-US"/>
              <a:t> </a:t>
            </a:r>
            <a:r>
              <a:rPr lang="en-US" err="1"/>
              <a:t>aplikací</a:t>
            </a:r>
            <a:r>
              <a:rPr lang="en-US"/>
              <a:t>, </a:t>
            </a:r>
            <a:endParaRPr lang="cs-CZ"/>
          </a:p>
          <a:p>
            <a:pPr lvl="1"/>
            <a:r>
              <a:rPr lang="en-US" err="1"/>
              <a:t>monitoruje</a:t>
            </a:r>
            <a:r>
              <a:rPr lang="en-US"/>
              <a:t> </a:t>
            </a:r>
            <a:r>
              <a:rPr lang="en-US" err="1"/>
              <a:t>různé</a:t>
            </a:r>
            <a:r>
              <a:rPr lang="en-US"/>
              <a:t> </a:t>
            </a:r>
            <a:r>
              <a:rPr lang="en-US" err="1"/>
              <a:t>změny</a:t>
            </a:r>
            <a:r>
              <a:rPr lang="en-US"/>
              <a:t> v </a:t>
            </a:r>
            <a:r>
              <a:rPr lang="en-US" err="1"/>
              <a:t>systému</a:t>
            </a:r>
            <a:r>
              <a:rPr lang="en-US"/>
              <a:t>, </a:t>
            </a:r>
            <a:endParaRPr lang="cs-CZ"/>
          </a:p>
          <a:p>
            <a:pPr lvl="1"/>
            <a:r>
              <a:rPr lang="en-US" err="1"/>
              <a:t>integritu</a:t>
            </a:r>
            <a:r>
              <a:rPr lang="en-US"/>
              <a:t> </a:t>
            </a:r>
            <a:r>
              <a:rPr lang="en-US" err="1"/>
              <a:t>souborů</a:t>
            </a:r>
            <a:r>
              <a:rPr lang="en-US"/>
              <a:t>, </a:t>
            </a:r>
            <a:endParaRPr lang="cs-CZ"/>
          </a:p>
          <a:p>
            <a:pPr lvl="1"/>
            <a:r>
              <a:rPr lang="en-US" err="1"/>
              <a:t>sledují</a:t>
            </a:r>
            <a:r>
              <a:rPr lang="cs-CZ"/>
              <a:t> </a:t>
            </a:r>
            <a:r>
              <a:rPr lang="en-US"/>
              <a:t>se </a:t>
            </a:r>
            <a:r>
              <a:rPr lang="en-US" err="1"/>
              <a:t>některá</a:t>
            </a:r>
            <a:r>
              <a:rPr lang="en-US"/>
              <a:t> </a:t>
            </a:r>
            <a:r>
              <a:rPr lang="en-US" err="1"/>
              <a:t>systémová</a:t>
            </a:r>
            <a:r>
              <a:rPr lang="en-US"/>
              <a:t> </a:t>
            </a:r>
            <a:r>
              <a:rPr lang="en-US" err="1"/>
              <a:t>volání</a:t>
            </a:r>
            <a:r>
              <a:rPr lang="en-US"/>
              <a:t> a </a:t>
            </a:r>
            <a:r>
              <a:rPr lang="en-US" err="1"/>
              <a:t>další</a:t>
            </a:r>
            <a:r>
              <a:rPr lang="en-US"/>
              <a:t> </a:t>
            </a:r>
            <a:r>
              <a:rPr lang="en-US" err="1"/>
              <a:t>parametry</a:t>
            </a:r>
            <a:r>
              <a:rPr lang="en-US"/>
              <a:t>, </a:t>
            </a:r>
            <a:r>
              <a:rPr lang="en-US" err="1"/>
              <a:t>které</a:t>
            </a:r>
            <a:r>
              <a:rPr lang="en-US"/>
              <a:t> by </a:t>
            </a:r>
            <a:r>
              <a:rPr lang="en-US" err="1"/>
              <a:t>mohly</a:t>
            </a:r>
            <a:r>
              <a:rPr lang="en-US"/>
              <a:t> </a:t>
            </a:r>
            <a:r>
              <a:rPr lang="en-US" err="1"/>
              <a:t>poukázat</a:t>
            </a:r>
            <a:r>
              <a:rPr lang="en-US"/>
              <a:t> </a:t>
            </a:r>
            <a:r>
              <a:rPr lang="en-US" err="1"/>
              <a:t>na</a:t>
            </a:r>
            <a:r>
              <a:rPr lang="en-US"/>
              <a:t> </a:t>
            </a:r>
            <a:r>
              <a:rPr lang="en-US" err="1"/>
              <a:t>probíhající</a:t>
            </a:r>
            <a:r>
              <a:rPr lang="en-US"/>
              <a:t>, </a:t>
            </a:r>
            <a:r>
              <a:rPr lang="en-US" err="1"/>
              <a:t>či</a:t>
            </a:r>
            <a:r>
              <a:rPr lang="en-US"/>
              <a:t> </a:t>
            </a:r>
            <a:r>
              <a:rPr lang="en-US" err="1"/>
              <a:t>již</a:t>
            </a:r>
            <a:r>
              <a:rPr lang="cs-CZ"/>
              <a:t> </a:t>
            </a:r>
            <a:r>
              <a:rPr lang="en-US" err="1"/>
              <a:t>provedený</a:t>
            </a:r>
            <a:r>
              <a:rPr lang="en-US"/>
              <a:t> </a:t>
            </a:r>
            <a:r>
              <a:rPr lang="en-US" err="1"/>
              <a:t>útok</a:t>
            </a:r>
            <a:r>
              <a:rPr lang="en-US"/>
              <a:t>.</a:t>
            </a:r>
            <a:br>
              <a:rPr lang="en-US"/>
            </a:b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240</a:t>
            </a:fld>
            <a:endParaRPr lang="cs-CZ"/>
          </a:p>
        </p:txBody>
      </p:sp>
    </p:spTree>
    <p:extLst>
      <p:ext uri="{BB962C8B-B14F-4D97-AF65-F5344CB8AC3E}">
        <p14:creationId xmlns:p14="http://schemas.microsoft.com/office/powerpoint/2010/main" val="3960614177"/>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NIDS (Network Intrusion Detection System)</a:t>
            </a:r>
            <a:endParaRPr lang="en-US"/>
          </a:p>
        </p:txBody>
      </p:sp>
      <p:sp>
        <p:nvSpPr>
          <p:cNvPr id="3" name="Content Placeholder 2"/>
          <p:cNvSpPr>
            <a:spLocks noGrp="1"/>
          </p:cNvSpPr>
          <p:nvPr>
            <p:ph idx="1"/>
          </p:nvPr>
        </p:nvSpPr>
        <p:spPr/>
        <p:txBody>
          <a:bodyPr/>
          <a:lstStyle/>
          <a:p>
            <a:r>
              <a:rPr lang="en-US"/>
              <a:t>NIDS </a:t>
            </a:r>
            <a:r>
              <a:rPr lang="en-US" err="1"/>
              <a:t>bývá</a:t>
            </a:r>
            <a:r>
              <a:rPr lang="en-US"/>
              <a:t> </a:t>
            </a:r>
            <a:r>
              <a:rPr lang="en-US" err="1"/>
              <a:t>umístěn</a:t>
            </a:r>
            <a:r>
              <a:rPr lang="en-US"/>
              <a:t> </a:t>
            </a:r>
            <a:r>
              <a:rPr lang="en-US" err="1"/>
              <a:t>na</a:t>
            </a:r>
            <a:r>
              <a:rPr lang="en-US"/>
              <a:t> </a:t>
            </a:r>
            <a:r>
              <a:rPr lang="en-US" err="1"/>
              <a:t>síťových</a:t>
            </a:r>
            <a:r>
              <a:rPr lang="en-US"/>
              <a:t> </a:t>
            </a:r>
            <a:r>
              <a:rPr lang="en-US" err="1"/>
              <a:t>prvcích</a:t>
            </a:r>
            <a:r>
              <a:rPr lang="en-US"/>
              <a:t>, </a:t>
            </a:r>
            <a:r>
              <a:rPr lang="en-US" err="1"/>
              <a:t>nebo</a:t>
            </a:r>
            <a:r>
              <a:rPr lang="en-US"/>
              <a:t> je v </a:t>
            </a:r>
            <a:r>
              <a:rPr lang="en-US" err="1"/>
              <a:t>síti</a:t>
            </a:r>
            <a:r>
              <a:rPr lang="en-US"/>
              <a:t> </a:t>
            </a:r>
            <a:r>
              <a:rPr lang="en-US" err="1"/>
              <a:t>umístěn</a:t>
            </a:r>
            <a:r>
              <a:rPr lang="en-US"/>
              <a:t> v </a:t>
            </a:r>
            <a:r>
              <a:rPr lang="en-US" err="1"/>
              <a:t>podobě</a:t>
            </a:r>
            <a:r>
              <a:rPr lang="en-US"/>
              <a:t> </a:t>
            </a:r>
            <a:r>
              <a:rPr lang="en-US" err="1"/>
              <a:t>specializované</a:t>
            </a:r>
            <a:r>
              <a:rPr lang="cs-CZ"/>
              <a:t> </a:t>
            </a:r>
            <a:r>
              <a:rPr lang="en-US" err="1"/>
              <a:t>sondy</a:t>
            </a:r>
            <a:r>
              <a:rPr lang="en-US"/>
              <a:t>. </a:t>
            </a:r>
            <a:endParaRPr lang="cs-CZ"/>
          </a:p>
          <a:p>
            <a:r>
              <a:rPr lang="en-US" err="1"/>
              <a:t>Tento</a:t>
            </a:r>
            <a:r>
              <a:rPr lang="en-US"/>
              <a:t> </a:t>
            </a:r>
            <a:r>
              <a:rPr lang="en-US" err="1"/>
              <a:t>systém</a:t>
            </a:r>
            <a:r>
              <a:rPr lang="en-US"/>
              <a:t> </a:t>
            </a:r>
            <a:r>
              <a:rPr lang="en-US" err="1"/>
              <a:t>monitoruje</a:t>
            </a:r>
            <a:r>
              <a:rPr lang="en-US"/>
              <a:t> </a:t>
            </a:r>
            <a:r>
              <a:rPr lang="en-US" err="1"/>
              <a:t>síťový</a:t>
            </a:r>
            <a:r>
              <a:rPr lang="en-US"/>
              <a:t> </a:t>
            </a:r>
            <a:r>
              <a:rPr lang="en-US" err="1"/>
              <a:t>provoz</a:t>
            </a:r>
            <a:r>
              <a:rPr lang="en-US"/>
              <a:t>, </a:t>
            </a:r>
            <a:r>
              <a:rPr lang="en-US" err="1"/>
              <a:t>ve</a:t>
            </a:r>
            <a:r>
              <a:rPr lang="en-US"/>
              <a:t> </a:t>
            </a:r>
            <a:r>
              <a:rPr lang="en-US" err="1"/>
              <a:t>kterém</a:t>
            </a:r>
            <a:r>
              <a:rPr lang="en-US"/>
              <a:t> </a:t>
            </a:r>
            <a:r>
              <a:rPr lang="en-US" err="1"/>
              <a:t>hledá</a:t>
            </a:r>
            <a:r>
              <a:rPr lang="en-US"/>
              <a:t> </a:t>
            </a:r>
            <a:r>
              <a:rPr lang="en-US" err="1"/>
              <a:t>známé</a:t>
            </a:r>
            <a:r>
              <a:rPr lang="en-US"/>
              <a:t> </a:t>
            </a:r>
            <a:r>
              <a:rPr lang="en-US" err="1"/>
              <a:t>signatury</a:t>
            </a:r>
            <a:r>
              <a:rPr lang="en-US"/>
              <a:t> </a:t>
            </a:r>
            <a:r>
              <a:rPr lang="en-US" err="1"/>
              <a:t>útoků</a:t>
            </a:r>
            <a:r>
              <a:rPr lang="en-US"/>
              <a:t>,</a:t>
            </a:r>
            <a:r>
              <a:rPr lang="cs-CZ"/>
              <a:t> </a:t>
            </a:r>
            <a:r>
              <a:rPr lang="en-US" err="1"/>
              <a:t>anomálie</a:t>
            </a:r>
            <a:r>
              <a:rPr lang="en-US"/>
              <a:t> v </a:t>
            </a:r>
            <a:r>
              <a:rPr lang="en-US" err="1"/>
              <a:t>provozu</a:t>
            </a:r>
            <a:r>
              <a:rPr lang="en-US"/>
              <a:t> a z </a:t>
            </a:r>
            <a:r>
              <a:rPr lang="en-US" err="1"/>
              <a:t>nich</a:t>
            </a:r>
            <a:r>
              <a:rPr lang="en-US"/>
              <a:t> </a:t>
            </a:r>
            <a:r>
              <a:rPr lang="en-US" err="1"/>
              <a:t>detekuje</a:t>
            </a:r>
            <a:r>
              <a:rPr lang="en-US"/>
              <a:t> </a:t>
            </a:r>
            <a:r>
              <a:rPr lang="en-US" err="1"/>
              <a:t>případný</a:t>
            </a:r>
            <a:r>
              <a:rPr lang="en-US"/>
              <a:t> </a:t>
            </a:r>
            <a:r>
              <a:rPr lang="en-US" err="1"/>
              <a:t>útok</a:t>
            </a:r>
            <a:r>
              <a:rPr lang="en-US"/>
              <a:t>. </a:t>
            </a:r>
            <a:endParaRPr lang="cs-CZ"/>
          </a:p>
          <a:p>
            <a:r>
              <a:rPr lang="en-US"/>
              <a:t>NIDS </a:t>
            </a:r>
            <a:r>
              <a:rPr lang="en-US" err="1"/>
              <a:t>také</a:t>
            </a:r>
            <a:r>
              <a:rPr lang="en-US"/>
              <a:t> </a:t>
            </a:r>
            <a:r>
              <a:rPr lang="en-US" err="1"/>
              <a:t>dokáže</a:t>
            </a:r>
            <a:r>
              <a:rPr lang="en-US"/>
              <a:t> </a:t>
            </a:r>
            <a:r>
              <a:rPr lang="en-US" err="1"/>
              <a:t>upozornit</a:t>
            </a:r>
            <a:r>
              <a:rPr lang="en-US"/>
              <a:t> </a:t>
            </a:r>
            <a:r>
              <a:rPr lang="en-US" err="1"/>
              <a:t>i</a:t>
            </a:r>
            <a:r>
              <a:rPr lang="en-US"/>
              <a:t> </a:t>
            </a:r>
            <a:r>
              <a:rPr lang="en-US" err="1"/>
              <a:t>na</a:t>
            </a:r>
            <a:r>
              <a:rPr lang="cs-CZ"/>
              <a:t> </a:t>
            </a:r>
            <a:r>
              <a:rPr lang="en-US" err="1"/>
              <a:t>nežádoucí</a:t>
            </a:r>
            <a:r>
              <a:rPr lang="en-US"/>
              <a:t> </a:t>
            </a:r>
            <a:r>
              <a:rPr lang="en-US" err="1"/>
              <a:t>odchozí</a:t>
            </a:r>
            <a:r>
              <a:rPr lang="en-US"/>
              <a:t> </a:t>
            </a:r>
            <a:r>
              <a:rPr lang="en-US" err="1"/>
              <a:t>provoz</a:t>
            </a:r>
            <a:r>
              <a:rPr lang="en-US"/>
              <a:t>, </a:t>
            </a:r>
            <a:r>
              <a:rPr lang="en-US" err="1"/>
              <a:t>odesílání</a:t>
            </a:r>
            <a:r>
              <a:rPr lang="en-US"/>
              <a:t> </a:t>
            </a:r>
            <a:r>
              <a:rPr lang="en-US" err="1"/>
              <a:t>definovaných</a:t>
            </a:r>
            <a:r>
              <a:rPr lang="en-US"/>
              <a:t> </a:t>
            </a:r>
            <a:r>
              <a:rPr lang="en-US" err="1"/>
              <a:t>dokumentů</a:t>
            </a:r>
            <a:r>
              <a:rPr lang="en-US"/>
              <a:t> a </a:t>
            </a:r>
            <a:r>
              <a:rPr lang="en-US" err="1"/>
              <a:t>další</a:t>
            </a:r>
            <a:r>
              <a:rPr lang="en-US"/>
              <a:t> </a:t>
            </a:r>
            <a:r>
              <a:rPr lang="en-US" err="1"/>
              <a:t>podezřelé</a:t>
            </a:r>
            <a:r>
              <a:rPr lang="en-US"/>
              <a:t> </a:t>
            </a:r>
            <a:r>
              <a:rPr lang="en-US" err="1"/>
              <a:t>aktivity</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241</a:t>
            </a:fld>
            <a:endParaRPr lang="cs-CZ"/>
          </a:p>
        </p:txBody>
      </p:sp>
    </p:spTree>
    <p:extLst>
      <p:ext uri="{BB962C8B-B14F-4D97-AF65-F5344CB8AC3E}">
        <p14:creationId xmlns:p14="http://schemas.microsoft.com/office/powerpoint/2010/main" val="2699006770"/>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Intrusion Detection System (IDS) a Intrusion Prevention System (IPS)</a:t>
            </a:r>
            <a:endParaRPr lang="en-US"/>
          </a:p>
        </p:txBody>
      </p:sp>
      <p:sp>
        <p:nvSpPr>
          <p:cNvPr id="3" name="Content Placeholder 2"/>
          <p:cNvSpPr>
            <a:spLocks noGrp="1"/>
          </p:cNvSpPr>
          <p:nvPr>
            <p:ph idx="1"/>
          </p:nvPr>
        </p:nvSpPr>
        <p:spPr/>
        <p:txBody>
          <a:bodyPr>
            <a:normAutofit/>
          </a:bodyPr>
          <a:lstStyle/>
          <a:p>
            <a:r>
              <a:rPr lang="en-US"/>
              <a:t>IPS </a:t>
            </a:r>
            <a:r>
              <a:rPr lang="en-US" err="1"/>
              <a:t>představuje</a:t>
            </a:r>
            <a:r>
              <a:rPr lang="en-US"/>
              <a:t> </a:t>
            </a:r>
            <a:r>
              <a:rPr lang="en-US" err="1"/>
              <a:t>systém</a:t>
            </a:r>
            <a:r>
              <a:rPr lang="en-US"/>
              <a:t>, </a:t>
            </a:r>
            <a:r>
              <a:rPr lang="en-US" err="1"/>
              <a:t>který</a:t>
            </a:r>
            <a:r>
              <a:rPr lang="en-US"/>
              <a:t> </a:t>
            </a:r>
            <a:r>
              <a:rPr lang="en-US" err="1"/>
              <a:t>na</a:t>
            </a:r>
            <a:r>
              <a:rPr lang="en-US"/>
              <a:t> </a:t>
            </a:r>
            <a:r>
              <a:rPr lang="en-US" err="1"/>
              <a:t>rozdíl</a:t>
            </a:r>
            <a:r>
              <a:rPr lang="en-US"/>
              <a:t> od IDS </a:t>
            </a:r>
            <a:r>
              <a:rPr lang="en-US" err="1"/>
              <a:t>sám</a:t>
            </a:r>
            <a:r>
              <a:rPr lang="en-US"/>
              <a:t> </a:t>
            </a:r>
            <a:r>
              <a:rPr lang="en-US" err="1"/>
              <a:t>aktivně</a:t>
            </a:r>
            <a:r>
              <a:rPr lang="cs-CZ"/>
              <a:t> </a:t>
            </a:r>
            <a:r>
              <a:rPr lang="en-US" err="1"/>
              <a:t>zasáhne</a:t>
            </a:r>
            <a:r>
              <a:rPr lang="en-US"/>
              <a:t> </a:t>
            </a:r>
            <a:r>
              <a:rPr lang="en-US" err="1"/>
              <a:t>proti</a:t>
            </a:r>
            <a:r>
              <a:rPr lang="en-US"/>
              <a:t> </a:t>
            </a:r>
            <a:r>
              <a:rPr lang="en-US" err="1"/>
              <a:t>rozpoznanému</a:t>
            </a:r>
            <a:r>
              <a:rPr lang="en-US"/>
              <a:t> </a:t>
            </a:r>
            <a:r>
              <a:rPr lang="en-US" err="1"/>
              <a:t>útoku</a:t>
            </a:r>
            <a:r>
              <a:rPr lang="en-US"/>
              <a:t>, </a:t>
            </a:r>
            <a:r>
              <a:rPr lang="en-US" err="1"/>
              <a:t>například</a:t>
            </a:r>
            <a:r>
              <a:rPr lang="en-US"/>
              <a:t> </a:t>
            </a:r>
            <a:r>
              <a:rPr lang="en-US" err="1"/>
              <a:t>resetováním</a:t>
            </a:r>
            <a:r>
              <a:rPr lang="en-US"/>
              <a:t> </a:t>
            </a:r>
            <a:r>
              <a:rPr lang="en-US" err="1"/>
              <a:t>síťového</a:t>
            </a:r>
            <a:r>
              <a:rPr lang="en-US"/>
              <a:t> </a:t>
            </a:r>
            <a:r>
              <a:rPr lang="en-US" err="1"/>
              <a:t>spojení</a:t>
            </a:r>
            <a:r>
              <a:rPr lang="en-US"/>
              <a:t>, </a:t>
            </a:r>
            <a:r>
              <a:rPr lang="en-US" err="1"/>
              <a:t>zablokováním</a:t>
            </a:r>
            <a:r>
              <a:rPr lang="cs-CZ"/>
              <a:t> </a:t>
            </a:r>
            <a:r>
              <a:rPr lang="en-US" err="1"/>
              <a:t>provozu</a:t>
            </a:r>
            <a:r>
              <a:rPr lang="en-US"/>
              <a:t> z </a:t>
            </a:r>
            <a:r>
              <a:rPr lang="en-US" err="1"/>
              <a:t>podezřelé</a:t>
            </a:r>
            <a:r>
              <a:rPr lang="en-US"/>
              <a:t> IP </a:t>
            </a:r>
            <a:r>
              <a:rPr lang="en-US" err="1"/>
              <a:t>adresy</a:t>
            </a:r>
            <a:r>
              <a:rPr lang="en-US"/>
              <a:t>, </a:t>
            </a:r>
            <a:r>
              <a:rPr lang="en-US" err="1"/>
              <a:t>nebo</a:t>
            </a:r>
            <a:r>
              <a:rPr lang="en-US"/>
              <a:t> </a:t>
            </a:r>
            <a:r>
              <a:rPr lang="en-US" err="1"/>
              <a:t>zahozením</a:t>
            </a:r>
            <a:r>
              <a:rPr lang="en-US"/>
              <a:t> </a:t>
            </a:r>
            <a:r>
              <a:rPr lang="en-US" err="1"/>
              <a:t>závadných</a:t>
            </a:r>
            <a:r>
              <a:rPr lang="en-US"/>
              <a:t> </a:t>
            </a:r>
            <a:r>
              <a:rPr lang="en-US" err="1"/>
              <a:t>paketů</a:t>
            </a:r>
            <a:r>
              <a:rPr lang="en-US"/>
              <a:t>.</a:t>
            </a:r>
            <a:endParaRPr lang="cs-CZ"/>
          </a:p>
          <a:p>
            <a:r>
              <a:rPr lang="en-US" err="1"/>
              <a:t>Výstupy</a:t>
            </a:r>
            <a:r>
              <a:rPr lang="en-US"/>
              <a:t> </a:t>
            </a:r>
            <a:r>
              <a:rPr lang="en-US" err="1"/>
              <a:t>ze</a:t>
            </a:r>
            <a:r>
              <a:rPr lang="en-US"/>
              <a:t> </a:t>
            </a:r>
            <a:r>
              <a:rPr lang="en-US" err="1"/>
              <a:t>systémů</a:t>
            </a:r>
            <a:r>
              <a:rPr lang="en-US"/>
              <a:t> IDS/IPS </a:t>
            </a:r>
            <a:r>
              <a:rPr lang="en-US" err="1"/>
              <a:t>nemusí</a:t>
            </a:r>
            <a:r>
              <a:rPr lang="en-US"/>
              <a:t> </a:t>
            </a:r>
            <a:r>
              <a:rPr lang="en-US" err="1"/>
              <a:t>sloužit</a:t>
            </a:r>
            <a:r>
              <a:rPr lang="en-US"/>
              <a:t> </a:t>
            </a:r>
            <a:r>
              <a:rPr lang="en-US" err="1"/>
              <a:t>pouze</a:t>
            </a:r>
            <a:r>
              <a:rPr lang="en-US"/>
              <a:t> </a:t>
            </a:r>
            <a:r>
              <a:rPr lang="en-US" err="1"/>
              <a:t>jako</a:t>
            </a:r>
            <a:r>
              <a:rPr lang="en-US"/>
              <a:t> </a:t>
            </a:r>
            <a:r>
              <a:rPr lang="en-US" err="1"/>
              <a:t>prvky</a:t>
            </a:r>
            <a:r>
              <a:rPr lang="en-US"/>
              <a:t> </a:t>
            </a:r>
            <a:r>
              <a:rPr lang="en-US" err="1"/>
              <a:t>upozorňující</a:t>
            </a:r>
            <a:r>
              <a:rPr lang="en-US"/>
              <a:t> </a:t>
            </a:r>
            <a:r>
              <a:rPr lang="en-US" err="1"/>
              <a:t>na</a:t>
            </a:r>
            <a:r>
              <a:rPr lang="en-US"/>
              <a:t> </a:t>
            </a:r>
            <a:r>
              <a:rPr lang="en-US" err="1"/>
              <a:t>útok</a:t>
            </a:r>
            <a:r>
              <a:rPr lang="en-US"/>
              <a:t>, </a:t>
            </a:r>
            <a:r>
              <a:rPr lang="en-US" err="1"/>
              <a:t>či</a:t>
            </a:r>
            <a:r>
              <a:rPr lang="en-US"/>
              <a:t> </a:t>
            </a:r>
            <a:r>
              <a:rPr lang="en-US" err="1"/>
              <a:t>anomálie</a:t>
            </a:r>
            <a:r>
              <a:rPr lang="cs-CZ"/>
              <a:t> </a:t>
            </a:r>
            <a:r>
              <a:rPr lang="en-US"/>
              <a:t>v </a:t>
            </a:r>
            <a:r>
              <a:rPr lang="en-US" err="1"/>
              <a:t>počítačové</a:t>
            </a:r>
            <a:r>
              <a:rPr lang="en-US"/>
              <a:t> </a:t>
            </a:r>
            <a:r>
              <a:rPr lang="en-US" err="1"/>
              <a:t>sítí</a:t>
            </a:r>
            <a:r>
              <a:rPr lang="en-US"/>
              <a:t> a </a:t>
            </a:r>
            <a:r>
              <a:rPr lang="en-US" err="1"/>
              <a:t>počítačových</a:t>
            </a:r>
            <a:r>
              <a:rPr lang="en-US"/>
              <a:t> </a:t>
            </a:r>
            <a:r>
              <a:rPr lang="en-US" err="1"/>
              <a:t>systémech</a:t>
            </a:r>
            <a:r>
              <a:rPr lang="en-US"/>
              <a:t>, ale </a:t>
            </a:r>
            <a:r>
              <a:rPr lang="en-US" err="1"/>
              <a:t>mohou</a:t>
            </a:r>
            <a:r>
              <a:rPr lang="en-US"/>
              <a:t> </a:t>
            </a:r>
            <a:r>
              <a:rPr lang="en-US" err="1"/>
              <a:t>být</a:t>
            </a:r>
            <a:r>
              <a:rPr lang="en-US"/>
              <a:t> </a:t>
            </a:r>
            <a:r>
              <a:rPr lang="en-US" err="1"/>
              <a:t>také</a:t>
            </a:r>
            <a:r>
              <a:rPr lang="en-US"/>
              <a:t> </a:t>
            </a:r>
            <a:r>
              <a:rPr lang="en-US" err="1"/>
              <a:t>použity</a:t>
            </a:r>
            <a:r>
              <a:rPr lang="en-US"/>
              <a:t> </a:t>
            </a:r>
            <a:r>
              <a:rPr lang="en-US" err="1"/>
              <a:t>jako</a:t>
            </a:r>
            <a:r>
              <a:rPr lang="en-US"/>
              <a:t> </a:t>
            </a:r>
            <a:r>
              <a:rPr lang="en-US" err="1"/>
              <a:t>jeden</a:t>
            </a:r>
            <a:r>
              <a:rPr lang="en-US"/>
              <a:t> </a:t>
            </a:r>
            <a:r>
              <a:rPr lang="en-US" err="1"/>
              <a:t>ze</a:t>
            </a:r>
            <a:r>
              <a:rPr lang="en-US"/>
              <a:t> </a:t>
            </a:r>
            <a:r>
              <a:rPr lang="en-US" err="1"/>
              <a:t>vstupů</a:t>
            </a:r>
            <a:r>
              <a:rPr lang="en-US"/>
              <a:t> pro</a:t>
            </a:r>
            <a:br>
              <a:rPr lang="en-US"/>
            </a:br>
            <a:r>
              <a:rPr lang="en-US" err="1"/>
              <a:t>systémy</a:t>
            </a:r>
            <a:r>
              <a:rPr lang="en-US"/>
              <a:t> SIEM.</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242</a:t>
            </a:fld>
            <a:endParaRPr lang="cs-CZ"/>
          </a:p>
        </p:txBody>
      </p:sp>
    </p:spTree>
    <p:extLst>
      <p:ext uri="{BB962C8B-B14F-4D97-AF65-F5344CB8AC3E}">
        <p14:creationId xmlns:p14="http://schemas.microsoft.com/office/powerpoint/2010/main" val="2742897169"/>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Security Information and Event Management (SIEM)</a:t>
            </a:r>
            <a:endParaRPr lang="en-US"/>
          </a:p>
        </p:txBody>
      </p:sp>
      <p:sp>
        <p:nvSpPr>
          <p:cNvPr id="3" name="Content Placeholder 2"/>
          <p:cNvSpPr>
            <a:spLocks noGrp="1"/>
          </p:cNvSpPr>
          <p:nvPr>
            <p:ph idx="1"/>
          </p:nvPr>
        </p:nvSpPr>
        <p:spPr/>
        <p:txBody>
          <a:bodyPr/>
          <a:lstStyle/>
          <a:p>
            <a:r>
              <a:rPr lang="en-US"/>
              <a:t>SIEM </a:t>
            </a:r>
            <a:r>
              <a:rPr lang="en-US" err="1"/>
              <a:t>umožňuje</a:t>
            </a:r>
            <a:r>
              <a:rPr lang="en-US"/>
              <a:t> </a:t>
            </a:r>
            <a:r>
              <a:rPr lang="en-US" err="1"/>
              <a:t>monitorování</a:t>
            </a:r>
            <a:r>
              <a:rPr lang="en-US"/>
              <a:t>, </a:t>
            </a:r>
            <a:r>
              <a:rPr lang="en-US" err="1"/>
              <a:t>ukládání</a:t>
            </a:r>
            <a:r>
              <a:rPr lang="en-US"/>
              <a:t>, </a:t>
            </a:r>
            <a:r>
              <a:rPr lang="en-US" err="1"/>
              <a:t>agregaci</a:t>
            </a:r>
            <a:r>
              <a:rPr lang="en-US"/>
              <a:t>, </a:t>
            </a:r>
            <a:r>
              <a:rPr lang="en-US" err="1"/>
              <a:t>korelaci</a:t>
            </a:r>
            <a:r>
              <a:rPr lang="en-US"/>
              <a:t> </a:t>
            </a:r>
            <a:r>
              <a:rPr lang="en-US" err="1"/>
              <a:t>bezpečnostních</a:t>
            </a:r>
            <a:r>
              <a:rPr lang="en-US"/>
              <a:t> </a:t>
            </a:r>
            <a:r>
              <a:rPr lang="en-US" err="1"/>
              <a:t>informací</a:t>
            </a:r>
            <a:r>
              <a:rPr lang="en-US"/>
              <a:t> a z </a:t>
            </a:r>
            <a:r>
              <a:rPr lang="en-US" err="1"/>
              <a:t>nich</a:t>
            </a:r>
            <a:r>
              <a:rPr lang="cs-CZ"/>
              <a:t> </a:t>
            </a:r>
            <a:r>
              <a:rPr lang="en-US" err="1"/>
              <a:t>plynoucích</a:t>
            </a:r>
            <a:r>
              <a:rPr lang="en-US"/>
              <a:t> </a:t>
            </a:r>
            <a:r>
              <a:rPr lang="en-US" err="1"/>
              <a:t>incidentů</a:t>
            </a:r>
            <a:r>
              <a:rPr lang="en-US"/>
              <a:t> a </a:t>
            </a:r>
            <a:r>
              <a:rPr lang="en-US" err="1"/>
              <a:t>jejich</a:t>
            </a:r>
            <a:r>
              <a:rPr lang="en-US"/>
              <a:t> </a:t>
            </a:r>
            <a:r>
              <a:rPr lang="en-US" err="1"/>
              <a:t>zobrazování</a:t>
            </a:r>
            <a:r>
              <a:rPr lang="en-US"/>
              <a:t>, </a:t>
            </a:r>
            <a:r>
              <a:rPr lang="en-US" err="1"/>
              <a:t>reportování</a:t>
            </a:r>
            <a:r>
              <a:rPr lang="en-US"/>
              <a:t> a </a:t>
            </a:r>
            <a:r>
              <a:rPr lang="en-US" err="1"/>
              <a:t>vydávání</a:t>
            </a:r>
            <a:r>
              <a:rPr lang="en-US"/>
              <a:t> </a:t>
            </a:r>
            <a:r>
              <a:rPr lang="en-US" err="1"/>
              <a:t>varování</a:t>
            </a:r>
            <a:r>
              <a:rPr lang="en-US"/>
              <a:t>. </a:t>
            </a:r>
            <a:endParaRPr lang="cs-CZ"/>
          </a:p>
          <a:p>
            <a:r>
              <a:rPr lang="en-US"/>
              <a:t>SIEM </a:t>
            </a:r>
            <a:r>
              <a:rPr lang="en-US" err="1"/>
              <a:t>technologie</a:t>
            </a:r>
            <a:r>
              <a:rPr lang="cs-CZ"/>
              <a:t> </a:t>
            </a:r>
            <a:r>
              <a:rPr lang="en-US" err="1"/>
              <a:t>sbírá</a:t>
            </a:r>
            <a:r>
              <a:rPr lang="en-US"/>
              <a:t> v </a:t>
            </a:r>
            <a:r>
              <a:rPr lang="en-US" err="1"/>
              <a:t>reálném</a:t>
            </a:r>
            <a:r>
              <a:rPr lang="en-US"/>
              <a:t> </a:t>
            </a:r>
            <a:r>
              <a:rPr lang="en-US" err="1"/>
              <a:t>čase</a:t>
            </a:r>
            <a:r>
              <a:rPr lang="en-US"/>
              <a:t> </a:t>
            </a:r>
            <a:r>
              <a:rPr lang="en-US" err="1"/>
              <a:t>informace</a:t>
            </a:r>
            <a:r>
              <a:rPr lang="en-US"/>
              <a:t> </a:t>
            </a:r>
            <a:r>
              <a:rPr lang="en-US" err="1"/>
              <a:t>ze</a:t>
            </a:r>
            <a:r>
              <a:rPr lang="en-US"/>
              <a:t> </a:t>
            </a:r>
            <a:r>
              <a:rPr lang="en-US" err="1"/>
              <a:t>síťových</a:t>
            </a:r>
            <a:r>
              <a:rPr lang="en-US"/>
              <a:t> </a:t>
            </a:r>
            <a:r>
              <a:rPr lang="en-US" err="1"/>
              <a:t>počítačových</a:t>
            </a:r>
            <a:r>
              <a:rPr lang="en-US"/>
              <a:t> </a:t>
            </a:r>
            <a:r>
              <a:rPr lang="en-US" err="1"/>
              <a:t>systémů</a:t>
            </a:r>
            <a:r>
              <a:rPr lang="en-US"/>
              <a:t>, </a:t>
            </a:r>
            <a:r>
              <a:rPr lang="en-US" err="1"/>
              <a:t>aplikací</a:t>
            </a:r>
            <a:r>
              <a:rPr lang="en-US"/>
              <a:t>, </a:t>
            </a:r>
            <a:r>
              <a:rPr lang="en-US" err="1"/>
              <a:t>systémových</a:t>
            </a:r>
            <a:r>
              <a:rPr lang="en-US"/>
              <a:t> </a:t>
            </a:r>
            <a:r>
              <a:rPr lang="en-US" err="1"/>
              <a:t>logů</a:t>
            </a:r>
            <a:r>
              <a:rPr lang="en-US"/>
              <a:t>,</a:t>
            </a:r>
            <a:r>
              <a:rPr lang="cs-CZ"/>
              <a:t> </a:t>
            </a:r>
            <a:r>
              <a:rPr lang="en-US" err="1"/>
              <a:t>jejichž</a:t>
            </a:r>
            <a:r>
              <a:rPr lang="en-US"/>
              <a:t> </a:t>
            </a:r>
            <a:r>
              <a:rPr lang="en-US" err="1"/>
              <a:t>vyhodnocení</a:t>
            </a:r>
            <a:r>
              <a:rPr lang="en-US"/>
              <a:t> </a:t>
            </a:r>
            <a:r>
              <a:rPr lang="en-US" err="1"/>
              <a:t>umožňuje</a:t>
            </a:r>
            <a:r>
              <a:rPr lang="en-US"/>
              <a:t> </a:t>
            </a:r>
            <a:r>
              <a:rPr lang="en-US" err="1"/>
              <a:t>identifikovat</a:t>
            </a:r>
            <a:r>
              <a:rPr lang="en-US"/>
              <a:t> </a:t>
            </a:r>
            <a:r>
              <a:rPr lang="en-US" err="1"/>
              <a:t>potenciální</a:t>
            </a:r>
            <a:r>
              <a:rPr lang="en-US"/>
              <a:t> </a:t>
            </a:r>
            <a:r>
              <a:rPr lang="en-US" err="1"/>
              <a:t>bezpečnostní</a:t>
            </a:r>
            <a:r>
              <a:rPr lang="en-US"/>
              <a:t> </a:t>
            </a:r>
            <a:r>
              <a:rPr lang="en-US" err="1"/>
              <a:t>hrozby</a:t>
            </a:r>
            <a:r>
              <a:rPr lang="en-US"/>
              <a:t>.</a:t>
            </a:r>
            <a:br>
              <a:rPr lang="en-US"/>
            </a:b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243</a:t>
            </a:fld>
            <a:endParaRPr lang="cs-CZ"/>
          </a:p>
        </p:txBody>
      </p:sp>
    </p:spTree>
    <p:extLst>
      <p:ext uri="{BB962C8B-B14F-4D97-AF65-F5344CB8AC3E}">
        <p14:creationId xmlns:p14="http://schemas.microsoft.com/office/powerpoint/2010/main" val="3238777919"/>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Security Information and Event Management (SIEM)</a:t>
            </a: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244</a:t>
            </a:fld>
            <a:endParaRPr lang="cs-CZ"/>
          </a:p>
        </p:txBody>
      </p:sp>
      <p:pic>
        <p:nvPicPr>
          <p:cNvPr id="1026" name="Picture 2" descr="What is SIEM? A complete guide to SIEM - its benefits and importanc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09800" y="1745661"/>
            <a:ext cx="7431210" cy="49758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226901"/>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Security Information and Event Management (SIEM)</a:t>
            </a:r>
            <a:endParaRPr lang="en-US"/>
          </a:p>
        </p:txBody>
      </p:sp>
      <p:sp>
        <p:nvSpPr>
          <p:cNvPr id="3" name="Content Placeholder 2"/>
          <p:cNvSpPr>
            <a:spLocks noGrp="1"/>
          </p:cNvSpPr>
          <p:nvPr>
            <p:ph idx="1"/>
          </p:nvPr>
        </p:nvSpPr>
        <p:spPr/>
        <p:txBody>
          <a:bodyPr>
            <a:normAutofit fontScale="92500" lnSpcReduction="10000"/>
          </a:bodyPr>
          <a:lstStyle/>
          <a:p>
            <a:r>
              <a:rPr lang="en-US"/>
              <a:t>Data </a:t>
            </a:r>
            <a:r>
              <a:rPr lang="en-US" err="1"/>
              <a:t>mohou</a:t>
            </a:r>
            <a:r>
              <a:rPr lang="en-US"/>
              <a:t> </a:t>
            </a:r>
            <a:r>
              <a:rPr lang="en-US" err="1"/>
              <a:t>být</a:t>
            </a:r>
            <a:r>
              <a:rPr lang="en-US"/>
              <a:t> </a:t>
            </a:r>
            <a:r>
              <a:rPr lang="en-US" err="1"/>
              <a:t>sbírána</a:t>
            </a:r>
            <a:r>
              <a:rPr lang="en-US"/>
              <a:t> z </a:t>
            </a:r>
            <a:r>
              <a:rPr lang="en-US" err="1"/>
              <a:t>webových</a:t>
            </a:r>
            <a:r>
              <a:rPr lang="en-US"/>
              <a:t> </a:t>
            </a:r>
            <a:r>
              <a:rPr lang="en-US" err="1"/>
              <a:t>serverů</a:t>
            </a:r>
            <a:r>
              <a:rPr lang="en-US"/>
              <a:t>, </a:t>
            </a:r>
            <a:r>
              <a:rPr lang="en-US" err="1"/>
              <a:t>routerů</a:t>
            </a:r>
            <a:r>
              <a:rPr lang="en-US"/>
              <a:t>, </a:t>
            </a:r>
            <a:r>
              <a:rPr lang="en-US" err="1"/>
              <a:t>firewallů</a:t>
            </a:r>
            <a:r>
              <a:rPr lang="en-US"/>
              <a:t>, Active Directory </a:t>
            </a:r>
            <a:r>
              <a:rPr lang="en-US" err="1"/>
              <a:t>serverů</a:t>
            </a:r>
            <a:r>
              <a:rPr lang="en-US"/>
              <a:t>,</a:t>
            </a:r>
            <a:r>
              <a:rPr lang="cs-CZ"/>
              <a:t> </a:t>
            </a:r>
            <a:r>
              <a:rPr lang="en-US" err="1"/>
              <a:t>databázových</a:t>
            </a:r>
            <a:r>
              <a:rPr lang="en-US"/>
              <a:t> </a:t>
            </a:r>
            <a:r>
              <a:rPr lang="en-US" err="1"/>
              <a:t>serverů</a:t>
            </a:r>
            <a:r>
              <a:rPr lang="en-US"/>
              <a:t> a </a:t>
            </a:r>
            <a:r>
              <a:rPr lang="en-US" err="1"/>
              <a:t>tyto</a:t>
            </a:r>
            <a:r>
              <a:rPr lang="en-US"/>
              <a:t> </a:t>
            </a:r>
            <a:r>
              <a:rPr lang="en-US" err="1"/>
              <a:t>informace</a:t>
            </a:r>
            <a:r>
              <a:rPr lang="en-US"/>
              <a:t> </a:t>
            </a:r>
            <a:r>
              <a:rPr lang="en-US" err="1"/>
              <a:t>mohou</a:t>
            </a:r>
            <a:r>
              <a:rPr lang="en-US"/>
              <a:t> </a:t>
            </a:r>
            <a:r>
              <a:rPr lang="en-US" err="1"/>
              <a:t>být</a:t>
            </a:r>
            <a:r>
              <a:rPr lang="en-US"/>
              <a:t> </a:t>
            </a:r>
            <a:r>
              <a:rPr lang="en-US" err="1"/>
              <a:t>dále</a:t>
            </a:r>
            <a:r>
              <a:rPr lang="en-US"/>
              <a:t> </a:t>
            </a:r>
            <a:r>
              <a:rPr lang="en-US" err="1"/>
              <a:t>doplněny</a:t>
            </a:r>
            <a:r>
              <a:rPr lang="en-US"/>
              <a:t> o </a:t>
            </a:r>
            <a:r>
              <a:rPr lang="en-US" err="1"/>
              <a:t>informace</a:t>
            </a:r>
            <a:r>
              <a:rPr lang="en-US"/>
              <a:t> </a:t>
            </a:r>
            <a:r>
              <a:rPr lang="en-US" err="1"/>
              <a:t>dávající</a:t>
            </a:r>
            <a:r>
              <a:rPr lang="en-US"/>
              <a:t> </a:t>
            </a:r>
            <a:r>
              <a:rPr lang="en-US" err="1"/>
              <a:t>těmto</a:t>
            </a:r>
            <a:br>
              <a:rPr lang="en-US"/>
            </a:br>
            <a:r>
              <a:rPr lang="en-US" err="1"/>
              <a:t>datům</a:t>
            </a:r>
            <a:r>
              <a:rPr lang="en-US"/>
              <a:t> </a:t>
            </a:r>
            <a:r>
              <a:rPr lang="en-US" err="1"/>
              <a:t>kontext</a:t>
            </a:r>
            <a:r>
              <a:rPr lang="en-US"/>
              <a:t>, </a:t>
            </a:r>
            <a:r>
              <a:rPr lang="en-US" err="1"/>
              <a:t>jako</a:t>
            </a:r>
            <a:r>
              <a:rPr lang="en-US"/>
              <a:t> </a:t>
            </a:r>
            <a:r>
              <a:rPr lang="en-US" err="1"/>
              <a:t>jsou</a:t>
            </a:r>
            <a:r>
              <a:rPr lang="en-US"/>
              <a:t> </a:t>
            </a:r>
            <a:r>
              <a:rPr lang="en-US" err="1"/>
              <a:t>informace</a:t>
            </a:r>
            <a:r>
              <a:rPr lang="en-US"/>
              <a:t> o </a:t>
            </a:r>
            <a:r>
              <a:rPr lang="en-US" err="1"/>
              <a:t>uživatelích</a:t>
            </a:r>
            <a:r>
              <a:rPr lang="en-US"/>
              <a:t>, </a:t>
            </a:r>
            <a:r>
              <a:rPr lang="en-US" err="1"/>
              <a:t>výsledcích</a:t>
            </a:r>
            <a:r>
              <a:rPr lang="en-US"/>
              <a:t> </a:t>
            </a:r>
            <a:r>
              <a:rPr lang="en-US" err="1"/>
              <a:t>bezpečnostních</a:t>
            </a:r>
            <a:r>
              <a:rPr lang="en-US"/>
              <a:t> </a:t>
            </a:r>
            <a:r>
              <a:rPr lang="en-US" err="1"/>
              <a:t>skenů</a:t>
            </a:r>
            <a:r>
              <a:rPr lang="en-US"/>
              <a:t>.</a:t>
            </a:r>
            <a:endParaRPr lang="cs-CZ"/>
          </a:p>
          <a:p>
            <a:r>
              <a:rPr lang="en-US" err="1"/>
              <a:t>Získané</a:t>
            </a:r>
            <a:r>
              <a:rPr lang="en-US"/>
              <a:t> </a:t>
            </a:r>
            <a:r>
              <a:rPr lang="en-US" err="1"/>
              <a:t>informace</a:t>
            </a:r>
            <a:r>
              <a:rPr lang="en-US"/>
              <a:t> </a:t>
            </a:r>
            <a:r>
              <a:rPr lang="en-US" err="1"/>
              <a:t>jsou</a:t>
            </a:r>
            <a:r>
              <a:rPr lang="en-US"/>
              <a:t> </a:t>
            </a:r>
            <a:r>
              <a:rPr lang="en-US" err="1"/>
              <a:t>následn</a:t>
            </a:r>
            <a:r>
              <a:rPr lang="cs-CZ"/>
              <a:t>ě </a:t>
            </a:r>
            <a:r>
              <a:rPr lang="en-US" err="1"/>
              <a:t>agregovány</a:t>
            </a:r>
            <a:r>
              <a:rPr lang="en-US"/>
              <a:t>, </a:t>
            </a:r>
            <a:r>
              <a:rPr lang="en-US" err="1"/>
              <a:t>korelovány</a:t>
            </a:r>
            <a:r>
              <a:rPr lang="en-US"/>
              <a:t> a je </a:t>
            </a:r>
            <a:r>
              <a:rPr lang="en-US" err="1"/>
              <a:t>nad</a:t>
            </a:r>
            <a:r>
              <a:rPr lang="en-US"/>
              <a:t> </a:t>
            </a:r>
            <a:r>
              <a:rPr lang="en-US" err="1"/>
              <a:t>nimi</a:t>
            </a:r>
            <a:r>
              <a:rPr lang="en-US"/>
              <a:t> </a:t>
            </a:r>
            <a:r>
              <a:rPr lang="en-US" err="1"/>
              <a:t>prováděna</a:t>
            </a:r>
            <a:r>
              <a:rPr lang="en-US"/>
              <a:t> </a:t>
            </a:r>
            <a:r>
              <a:rPr lang="en-US" err="1"/>
              <a:t>analýza</a:t>
            </a:r>
            <a:r>
              <a:rPr lang="en-US"/>
              <a:t>, </a:t>
            </a:r>
            <a:r>
              <a:rPr lang="en-US" err="1"/>
              <a:t>která</a:t>
            </a:r>
            <a:r>
              <a:rPr lang="en-US"/>
              <a:t> </a:t>
            </a:r>
            <a:r>
              <a:rPr lang="en-US" err="1"/>
              <a:t>má</a:t>
            </a:r>
            <a:r>
              <a:rPr lang="en-US"/>
              <a:t> </a:t>
            </a:r>
            <a:r>
              <a:rPr lang="en-US" err="1"/>
              <a:t>ukázat</a:t>
            </a:r>
            <a:r>
              <a:rPr lang="en-US"/>
              <a:t> </a:t>
            </a:r>
            <a:r>
              <a:rPr lang="en-US" err="1"/>
              <a:t>na</a:t>
            </a:r>
            <a:r>
              <a:rPr lang="en-US"/>
              <a:t> </a:t>
            </a:r>
            <a:r>
              <a:rPr lang="en-US" err="1"/>
              <a:t>možné</a:t>
            </a:r>
            <a:r>
              <a:rPr lang="en-US"/>
              <a:t> </a:t>
            </a:r>
            <a:r>
              <a:rPr lang="en-US" err="1"/>
              <a:t>bezpečnostní</a:t>
            </a:r>
            <a:r>
              <a:rPr lang="cs-CZ"/>
              <a:t> </a:t>
            </a:r>
            <a:r>
              <a:rPr lang="en-US" err="1"/>
              <a:t>problémy</a:t>
            </a:r>
            <a:r>
              <a:rPr lang="en-US"/>
              <a:t>.</a:t>
            </a:r>
            <a:br>
              <a:rPr lang="en-US"/>
            </a:br>
            <a:br>
              <a:rPr lang="en-US"/>
            </a:br>
            <a:br>
              <a:rPr lang="en-US"/>
            </a:br>
            <a:br>
              <a:rPr lang="en-US"/>
            </a:br>
            <a:br>
              <a:rPr lang="en-US"/>
            </a:b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245</a:t>
            </a:fld>
            <a:endParaRPr lang="cs-CZ"/>
          </a:p>
        </p:txBody>
      </p:sp>
    </p:spTree>
    <p:extLst>
      <p:ext uri="{BB962C8B-B14F-4D97-AF65-F5344CB8AC3E}">
        <p14:creationId xmlns:p14="http://schemas.microsoft.com/office/powerpoint/2010/main" val="1789854866"/>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Security Information and Event Management (SIEM)</a:t>
            </a:r>
            <a:endParaRPr lang="en-US"/>
          </a:p>
        </p:txBody>
      </p:sp>
      <p:sp>
        <p:nvSpPr>
          <p:cNvPr id="3" name="Content Placeholder 2"/>
          <p:cNvSpPr>
            <a:spLocks noGrp="1"/>
          </p:cNvSpPr>
          <p:nvPr>
            <p:ph idx="1"/>
          </p:nvPr>
        </p:nvSpPr>
        <p:spPr/>
        <p:txBody>
          <a:bodyPr>
            <a:normAutofit lnSpcReduction="10000"/>
          </a:bodyPr>
          <a:lstStyle/>
          <a:p>
            <a:r>
              <a:rPr lang="en-US"/>
              <a:t>Je </a:t>
            </a:r>
            <a:r>
              <a:rPr lang="en-US" err="1"/>
              <a:t>však</a:t>
            </a:r>
            <a:r>
              <a:rPr lang="en-US"/>
              <a:t> </a:t>
            </a:r>
            <a:r>
              <a:rPr lang="en-US" err="1"/>
              <a:t>třeba</a:t>
            </a:r>
            <a:r>
              <a:rPr lang="en-US"/>
              <a:t> </a:t>
            </a:r>
            <a:r>
              <a:rPr lang="en-US" err="1"/>
              <a:t>říci</a:t>
            </a:r>
            <a:r>
              <a:rPr lang="en-US"/>
              <a:t>, </a:t>
            </a:r>
            <a:r>
              <a:rPr lang="en-US" err="1"/>
              <a:t>že</a:t>
            </a:r>
            <a:r>
              <a:rPr lang="en-US"/>
              <a:t> SIEM </a:t>
            </a:r>
            <a:r>
              <a:rPr lang="en-US" err="1"/>
              <a:t>řešení</a:t>
            </a:r>
            <a:r>
              <a:rPr lang="en-US"/>
              <a:t> </a:t>
            </a:r>
            <a:r>
              <a:rPr lang="en-US" err="1"/>
              <a:t>není</a:t>
            </a:r>
            <a:r>
              <a:rPr lang="en-US"/>
              <a:t> </a:t>
            </a:r>
            <a:r>
              <a:rPr lang="en-US" err="1"/>
              <a:t>vhodné</a:t>
            </a:r>
            <a:r>
              <a:rPr lang="en-US"/>
              <a:t> pro </a:t>
            </a:r>
            <a:r>
              <a:rPr lang="en-US" err="1"/>
              <a:t>každou</a:t>
            </a:r>
            <a:r>
              <a:rPr lang="en-US"/>
              <a:t> </a:t>
            </a:r>
            <a:r>
              <a:rPr lang="en-US" err="1"/>
              <a:t>situaci</a:t>
            </a:r>
            <a:r>
              <a:rPr lang="en-US"/>
              <a:t>. </a:t>
            </a:r>
            <a:r>
              <a:rPr lang="en-US" err="1"/>
              <a:t>Zatímco</a:t>
            </a:r>
            <a:r>
              <a:rPr lang="en-US"/>
              <a:t> firewall </a:t>
            </a:r>
            <a:r>
              <a:rPr lang="en-US" err="1"/>
              <a:t>nebo</a:t>
            </a:r>
            <a:r>
              <a:rPr lang="cs-CZ"/>
              <a:t> </a:t>
            </a:r>
            <a:r>
              <a:rPr lang="en-US" err="1"/>
              <a:t>antispam</a:t>
            </a:r>
            <a:r>
              <a:rPr lang="en-US"/>
              <a:t> </a:t>
            </a:r>
            <a:r>
              <a:rPr lang="en-US" err="1"/>
              <a:t>mají</a:t>
            </a:r>
            <a:r>
              <a:rPr lang="en-US"/>
              <a:t> </a:t>
            </a:r>
            <a:r>
              <a:rPr lang="en-US" err="1"/>
              <a:t>smysl</a:t>
            </a:r>
            <a:r>
              <a:rPr lang="en-US"/>
              <a:t> v </a:t>
            </a:r>
            <a:r>
              <a:rPr lang="en-US" err="1"/>
              <a:t>podstatě</a:t>
            </a:r>
            <a:r>
              <a:rPr lang="en-US"/>
              <a:t> v </a:t>
            </a:r>
            <a:r>
              <a:rPr lang="en-US" err="1"/>
              <a:t>každé</a:t>
            </a:r>
            <a:r>
              <a:rPr lang="en-US"/>
              <a:t> </a:t>
            </a:r>
            <a:r>
              <a:rPr lang="en-US" err="1"/>
              <a:t>organizaci</a:t>
            </a:r>
            <a:r>
              <a:rPr lang="en-US"/>
              <a:t>, SIEM </a:t>
            </a:r>
            <a:r>
              <a:rPr lang="en-US" err="1"/>
              <a:t>představuje</a:t>
            </a:r>
            <a:r>
              <a:rPr lang="en-US"/>
              <a:t> </a:t>
            </a:r>
            <a:r>
              <a:rPr lang="en-US" err="1"/>
              <a:t>robustní</a:t>
            </a:r>
            <a:r>
              <a:rPr lang="en-US"/>
              <a:t> </a:t>
            </a:r>
            <a:r>
              <a:rPr lang="en-US" err="1"/>
              <a:t>řešení</a:t>
            </a:r>
            <a:r>
              <a:rPr lang="en-US"/>
              <a:t>, </a:t>
            </a:r>
            <a:r>
              <a:rPr lang="en-US" err="1"/>
              <a:t>které</a:t>
            </a:r>
            <a:r>
              <a:rPr lang="cs-CZ"/>
              <a:t> </a:t>
            </a:r>
            <a:r>
              <a:rPr lang="en-US" err="1"/>
              <a:t>vyžaduje</a:t>
            </a:r>
            <a:r>
              <a:rPr lang="en-US"/>
              <a:t> </a:t>
            </a:r>
            <a:r>
              <a:rPr lang="en-US" err="1"/>
              <a:t>poměrně</a:t>
            </a:r>
            <a:r>
              <a:rPr lang="en-US"/>
              <a:t> dost </a:t>
            </a:r>
            <a:r>
              <a:rPr lang="en-US" err="1"/>
              <a:t>zdrojů</a:t>
            </a:r>
            <a:r>
              <a:rPr lang="en-US"/>
              <a:t>.</a:t>
            </a:r>
            <a:endParaRPr lang="cs-CZ"/>
          </a:p>
          <a:p>
            <a:r>
              <a:rPr lang="en-US" err="1"/>
              <a:t>Kromě</a:t>
            </a:r>
            <a:r>
              <a:rPr lang="en-US"/>
              <a:t> </a:t>
            </a:r>
            <a:r>
              <a:rPr lang="en-US" err="1"/>
              <a:t>samotné</a:t>
            </a:r>
            <a:r>
              <a:rPr lang="en-US"/>
              <a:t> </a:t>
            </a:r>
            <a:r>
              <a:rPr lang="en-US" err="1"/>
              <a:t>implementace</a:t>
            </a:r>
            <a:r>
              <a:rPr lang="en-US"/>
              <a:t> je </a:t>
            </a:r>
            <a:r>
              <a:rPr lang="en-US" err="1"/>
              <a:t>třeba</a:t>
            </a:r>
            <a:r>
              <a:rPr lang="en-US"/>
              <a:t> </a:t>
            </a:r>
            <a:r>
              <a:rPr lang="en-US" err="1"/>
              <a:t>počítat</a:t>
            </a:r>
            <a:r>
              <a:rPr lang="en-US"/>
              <a:t> </a:t>
            </a:r>
            <a:r>
              <a:rPr lang="en-US" err="1"/>
              <a:t>také</a:t>
            </a:r>
            <a:r>
              <a:rPr lang="en-US"/>
              <a:t> v </a:t>
            </a:r>
            <a:r>
              <a:rPr lang="en-US" err="1"/>
              <a:t>podstatě</a:t>
            </a:r>
            <a:r>
              <a:rPr lang="en-US"/>
              <a:t> s </a:t>
            </a:r>
            <a:r>
              <a:rPr lang="en-US" err="1"/>
              <a:t>každodenní</a:t>
            </a:r>
            <a:r>
              <a:rPr lang="en-US"/>
              <a:t> </a:t>
            </a:r>
            <a:r>
              <a:rPr lang="en-US" err="1"/>
              <a:t>údržbou</a:t>
            </a:r>
            <a:r>
              <a:rPr lang="en-US"/>
              <a:t>, </a:t>
            </a:r>
            <a:r>
              <a:rPr lang="en-US" err="1"/>
              <a:t>přičemž</a:t>
            </a:r>
            <a:r>
              <a:rPr lang="cs-CZ"/>
              <a:t> </a:t>
            </a:r>
            <a:r>
              <a:rPr lang="en-US" err="1"/>
              <a:t>čím</a:t>
            </a:r>
            <a:r>
              <a:rPr lang="en-US"/>
              <a:t> </a:t>
            </a:r>
            <a:r>
              <a:rPr lang="en-US" err="1"/>
              <a:t>složitější</a:t>
            </a:r>
            <a:r>
              <a:rPr lang="en-US"/>
              <a:t> je </a:t>
            </a:r>
            <a:r>
              <a:rPr lang="en-US" err="1"/>
              <a:t>prostředí</a:t>
            </a:r>
            <a:r>
              <a:rPr lang="en-US"/>
              <a:t>, </a:t>
            </a:r>
            <a:r>
              <a:rPr lang="en-US" err="1"/>
              <a:t>tím</a:t>
            </a:r>
            <a:r>
              <a:rPr lang="en-US"/>
              <a:t> </a:t>
            </a:r>
            <a:r>
              <a:rPr lang="en-US" err="1"/>
              <a:t>větší</a:t>
            </a:r>
            <a:r>
              <a:rPr lang="en-US"/>
              <a:t> </a:t>
            </a:r>
            <a:r>
              <a:rPr lang="en-US" err="1"/>
              <a:t>jsou</a:t>
            </a:r>
            <a:r>
              <a:rPr lang="en-US"/>
              <a:t> </a:t>
            </a:r>
            <a:r>
              <a:rPr lang="en-US" err="1"/>
              <a:t>nároky</a:t>
            </a:r>
            <a:r>
              <a:rPr lang="en-US"/>
              <a:t> </a:t>
            </a:r>
            <a:r>
              <a:rPr lang="en-US" err="1"/>
              <a:t>na</a:t>
            </a:r>
            <a:r>
              <a:rPr lang="en-US"/>
              <a:t> </a:t>
            </a:r>
            <a:r>
              <a:rPr lang="en-US" err="1"/>
              <a:t>údržbu</a:t>
            </a:r>
            <a:r>
              <a:rPr lang="en-US"/>
              <a:t>. </a:t>
            </a:r>
            <a:r>
              <a:rPr lang="en-US" err="1"/>
              <a:t>Stačí</a:t>
            </a:r>
            <a:r>
              <a:rPr lang="en-US"/>
              <a:t> </a:t>
            </a:r>
            <a:r>
              <a:rPr lang="en-US" err="1"/>
              <a:t>totiž</a:t>
            </a:r>
            <a:r>
              <a:rPr lang="en-US"/>
              <a:t> </a:t>
            </a:r>
            <a:r>
              <a:rPr lang="en-US" err="1"/>
              <a:t>poměrně</a:t>
            </a:r>
            <a:r>
              <a:rPr lang="en-US"/>
              <a:t> </a:t>
            </a:r>
            <a:r>
              <a:rPr lang="en-US" err="1"/>
              <a:t>malá</a:t>
            </a:r>
            <a:r>
              <a:rPr lang="en-US"/>
              <a:t> </a:t>
            </a:r>
            <a:r>
              <a:rPr lang="en-US" err="1"/>
              <a:t>změna</a:t>
            </a:r>
            <a:r>
              <a:rPr lang="cs-CZ"/>
              <a:t> </a:t>
            </a:r>
            <a:r>
              <a:rPr lang="en-US"/>
              <a:t>v </a:t>
            </a:r>
            <a:r>
              <a:rPr lang="en-US" err="1"/>
              <a:t>části</a:t>
            </a:r>
            <a:r>
              <a:rPr lang="en-US"/>
              <a:t> </a:t>
            </a:r>
            <a:r>
              <a:rPr lang="en-US" err="1"/>
              <a:t>počítačové</a:t>
            </a:r>
            <a:r>
              <a:rPr lang="en-US"/>
              <a:t> </a:t>
            </a:r>
            <a:r>
              <a:rPr lang="en-US" err="1"/>
              <a:t>sítě</a:t>
            </a:r>
            <a:r>
              <a:rPr lang="en-US"/>
              <a:t> </a:t>
            </a:r>
            <a:r>
              <a:rPr lang="en-US" err="1"/>
              <a:t>či</a:t>
            </a:r>
            <a:r>
              <a:rPr lang="en-US"/>
              <a:t> </a:t>
            </a:r>
            <a:r>
              <a:rPr lang="en-US" err="1"/>
              <a:t>počítačovém</a:t>
            </a:r>
            <a:r>
              <a:rPr lang="en-US"/>
              <a:t> </a:t>
            </a:r>
            <a:r>
              <a:rPr lang="en-US" err="1"/>
              <a:t>systému</a:t>
            </a:r>
            <a:r>
              <a:rPr lang="en-US"/>
              <a:t> a </a:t>
            </a:r>
            <a:r>
              <a:rPr lang="en-US" err="1"/>
              <a:t>již</a:t>
            </a:r>
            <a:r>
              <a:rPr lang="en-US"/>
              <a:t> </a:t>
            </a:r>
            <a:r>
              <a:rPr lang="en-US" err="1"/>
              <a:t>nakonfigurovaný</a:t>
            </a:r>
            <a:r>
              <a:rPr lang="en-US"/>
              <a:t> SIEM </a:t>
            </a:r>
            <a:r>
              <a:rPr lang="en-US" err="1"/>
              <a:t>může</a:t>
            </a:r>
            <a:r>
              <a:rPr lang="en-US"/>
              <a:t> </a:t>
            </a:r>
            <a:r>
              <a:rPr lang="en-US" err="1"/>
              <a:t>začít</a:t>
            </a:r>
            <a:r>
              <a:rPr lang="en-US"/>
              <a:t> </a:t>
            </a:r>
            <a:r>
              <a:rPr lang="en-US" err="1"/>
              <a:t>generovat</a:t>
            </a:r>
            <a:r>
              <a:rPr lang="cs-CZ"/>
              <a:t> </a:t>
            </a:r>
            <a:r>
              <a:rPr lang="en-US" err="1"/>
              <a:t>řadu</a:t>
            </a:r>
            <a:r>
              <a:rPr lang="en-US"/>
              <a:t> false positive </a:t>
            </a:r>
            <a:r>
              <a:rPr lang="en-US" err="1"/>
              <a:t>hlášení</a:t>
            </a:r>
            <a:r>
              <a:rPr lang="en-US"/>
              <a:t>. </a:t>
            </a:r>
            <a:br>
              <a:rPr lang="en-US"/>
            </a:br>
            <a:br>
              <a:rPr lang="en-US"/>
            </a:b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246</a:t>
            </a:fld>
            <a:endParaRPr lang="cs-CZ"/>
          </a:p>
        </p:txBody>
      </p:sp>
    </p:spTree>
    <p:extLst>
      <p:ext uri="{BB962C8B-B14F-4D97-AF65-F5344CB8AC3E}">
        <p14:creationId xmlns:p14="http://schemas.microsoft.com/office/powerpoint/2010/main" val="1248790647"/>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err="1"/>
              <a:t>Antivir</a:t>
            </a:r>
            <a:r>
              <a:rPr lang="en-US" b="1"/>
              <a:t>, </a:t>
            </a:r>
            <a:r>
              <a:rPr lang="en-US" b="1" err="1"/>
              <a:t>Antispam</a:t>
            </a:r>
            <a:endParaRPr lang="en-US"/>
          </a:p>
        </p:txBody>
      </p:sp>
      <p:sp>
        <p:nvSpPr>
          <p:cNvPr id="3" name="Content Placeholder 2"/>
          <p:cNvSpPr>
            <a:spLocks noGrp="1"/>
          </p:cNvSpPr>
          <p:nvPr>
            <p:ph idx="1"/>
          </p:nvPr>
        </p:nvSpPr>
        <p:spPr/>
        <p:txBody>
          <a:bodyPr>
            <a:normAutofit lnSpcReduction="10000"/>
          </a:bodyPr>
          <a:lstStyle/>
          <a:p>
            <a:r>
              <a:rPr lang="en-US" err="1"/>
              <a:t>Možnosti</a:t>
            </a:r>
            <a:r>
              <a:rPr lang="en-US"/>
              <a:t> </a:t>
            </a:r>
            <a:r>
              <a:rPr lang="en-US" err="1"/>
              <a:t>ochrany</a:t>
            </a:r>
            <a:r>
              <a:rPr lang="en-US"/>
              <a:t> </a:t>
            </a:r>
            <a:r>
              <a:rPr lang="en-US" err="1"/>
              <a:t>na</a:t>
            </a:r>
            <a:r>
              <a:rPr lang="en-US"/>
              <a:t> </a:t>
            </a:r>
            <a:r>
              <a:rPr lang="en-US" err="1"/>
              <a:t>rozhraní</a:t>
            </a:r>
            <a:r>
              <a:rPr lang="en-US"/>
              <a:t> </a:t>
            </a:r>
            <a:r>
              <a:rPr lang="en-US" err="1"/>
              <a:t>sítí</a:t>
            </a:r>
            <a:r>
              <a:rPr lang="en-US"/>
              <a:t> </a:t>
            </a:r>
            <a:r>
              <a:rPr lang="en-US" err="1"/>
              <a:t>doplňme</a:t>
            </a:r>
            <a:r>
              <a:rPr lang="en-US"/>
              <a:t> </a:t>
            </a:r>
            <a:r>
              <a:rPr lang="en-US" err="1"/>
              <a:t>ještě</a:t>
            </a:r>
            <a:r>
              <a:rPr lang="en-US"/>
              <a:t> </a:t>
            </a:r>
            <a:r>
              <a:rPr lang="en-US" err="1"/>
              <a:t>informací</a:t>
            </a:r>
            <a:r>
              <a:rPr lang="en-US"/>
              <a:t> o </a:t>
            </a:r>
            <a:r>
              <a:rPr lang="en-US" err="1"/>
              <a:t>vhodnosti</a:t>
            </a:r>
            <a:r>
              <a:rPr lang="en-US"/>
              <a:t> </a:t>
            </a:r>
            <a:r>
              <a:rPr lang="en-US" err="1"/>
              <a:t>provozovat</a:t>
            </a:r>
            <a:r>
              <a:rPr lang="en-US"/>
              <a:t> </a:t>
            </a:r>
            <a:r>
              <a:rPr lang="en-US" err="1"/>
              <a:t>na</a:t>
            </a:r>
            <a:r>
              <a:rPr lang="en-US"/>
              <a:t> mail</a:t>
            </a:r>
            <a:r>
              <a:rPr lang="cs-CZ"/>
              <a:t> </a:t>
            </a:r>
            <a:r>
              <a:rPr lang="en-US" err="1"/>
              <a:t>serveru</a:t>
            </a:r>
            <a:r>
              <a:rPr lang="en-US"/>
              <a:t> </a:t>
            </a:r>
            <a:r>
              <a:rPr lang="en-US" err="1"/>
              <a:t>antivirové</a:t>
            </a:r>
            <a:r>
              <a:rPr lang="en-US"/>
              <a:t> a </a:t>
            </a:r>
            <a:r>
              <a:rPr lang="en-US" err="1"/>
              <a:t>antispamové</a:t>
            </a:r>
            <a:r>
              <a:rPr lang="en-US"/>
              <a:t> </a:t>
            </a:r>
            <a:r>
              <a:rPr lang="en-US" err="1"/>
              <a:t>řešení</a:t>
            </a:r>
            <a:r>
              <a:rPr lang="en-US"/>
              <a:t>.</a:t>
            </a:r>
            <a:endParaRPr lang="cs-CZ"/>
          </a:p>
          <a:p>
            <a:r>
              <a:rPr lang="en-US" err="1"/>
              <a:t>Antivirové</a:t>
            </a:r>
            <a:r>
              <a:rPr lang="en-US"/>
              <a:t> </a:t>
            </a:r>
            <a:r>
              <a:rPr lang="en-US" err="1"/>
              <a:t>řešení</a:t>
            </a:r>
            <a:r>
              <a:rPr lang="en-US"/>
              <a:t> v </a:t>
            </a:r>
            <a:r>
              <a:rPr lang="en-US" err="1"/>
              <a:t>rámci</a:t>
            </a:r>
            <a:r>
              <a:rPr lang="en-US"/>
              <a:t> mail </a:t>
            </a:r>
            <a:r>
              <a:rPr lang="en-US" err="1"/>
              <a:t>serveru</a:t>
            </a:r>
            <a:r>
              <a:rPr lang="en-US"/>
              <a:t> </a:t>
            </a:r>
            <a:r>
              <a:rPr lang="en-US" err="1"/>
              <a:t>prohledává</a:t>
            </a:r>
            <a:r>
              <a:rPr lang="en-US"/>
              <a:t> </a:t>
            </a:r>
            <a:r>
              <a:rPr lang="en-US" err="1"/>
              <a:t>přílohy</a:t>
            </a:r>
            <a:r>
              <a:rPr lang="en-US"/>
              <a:t> e-</a:t>
            </a:r>
            <a:r>
              <a:rPr lang="en-US" err="1"/>
              <a:t>mailových</a:t>
            </a:r>
            <a:r>
              <a:rPr lang="en-US"/>
              <a:t> </a:t>
            </a:r>
            <a:r>
              <a:rPr lang="en-US" err="1"/>
              <a:t>zpráv</a:t>
            </a:r>
            <a:r>
              <a:rPr lang="en-US"/>
              <a:t> a </a:t>
            </a:r>
            <a:r>
              <a:rPr lang="en-US" err="1"/>
              <a:t>hledá</a:t>
            </a:r>
            <a:r>
              <a:rPr lang="en-US"/>
              <a:t> v </a:t>
            </a:r>
            <a:r>
              <a:rPr lang="en-US" err="1"/>
              <a:t>nich</a:t>
            </a:r>
            <a:r>
              <a:rPr lang="cs-CZ"/>
              <a:t> </a:t>
            </a:r>
            <a:r>
              <a:rPr lang="en-US" err="1"/>
              <a:t>škodlivý</a:t>
            </a:r>
            <a:r>
              <a:rPr lang="en-US"/>
              <a:t> </a:t>
            </a:r>
            <a:r>
              <a:rPr lang="en-US" err="1"/>
              <a:t>kód</a:t>
            </a:r>
            <a:r>
              <a:rPr lang="en-US"/>
              <a:t>. </a:t>
            </a:r>
            <a:endParaRPr lang="cs-CZ"/>
          </a:p>
          <a:p>
            <a:r>
              <a:rPr lang="en-US" err="1"/>
              <a:t>Antispamové</a:t>
            </a:r>
            <a:r>
              <a:rPr lang="en-US"/>
              <a:t> </a:t>
            </a:r>
            <a:r>
              <a:rPr lang="en-US" err="1"/>
              <a:t>řešení</a:t>
            </a:r>
            <a:r>
              <a:rPr lang="en-US"/>
              <a:t> </a:t>
            </a:r>
            <a:r>
              <a:rPr lang="en-US" err="1"/>
              <a:t>pak</a:t>
            </a:r>
            <a:r>
              <a:rPr lang="en-US"/>
              <a:t> </a:t>
            </a:r>
            <a:r>
              <a:rPr lang="en-US" err="1"/>
              <a:t>chrání</a:t>
            </a:r>
            <a:r>
              <a:rPr lang="en-US"/>
              <a:t> </a:t>
            </a:r>
            <a:r>
              <a:rPr lang="en-US" err="1"/>
              <a:t>koncové</a:t>
            </a:r>
            <a:r>
              <a:rPr lang="en-US"/>
              <a:t> </a:t>
            </a:r>
            <a:r>
              <a:rPr lang="en-US" err="1"/>
              <a:t>uživatele</a:t>
            </a:r>
            <a:r>
              <a:rPr lang="en-US"/>
              <a:t> </a:t>
            </a:r>
            <a:r>
              <a:rPr lang="en-US" err="1"/>
              <a:t>před</a:t>
            </a:r>
            <a:r>
              <a:rPr lang="en-US"/>
              <a:t> </a:t>
            </a:r>
            <a:r>
              <a:rPr lang="en-US" err="1"/>
              <a:t>nevyžádanou</a:t>
            </a:r>
            <a:r>
              <a:rPr lang="en-US"/>
              <a:t> </a:t>
            </a:r>
            <a:r>
              <a:rPr lang="en-US" err="1"/>
              <a:t>poštou</a:t>
            </a:r>
            <a:r>
              <a:rPr lang="en-US"/>
              <a:t>.</a:t>
            </a:r>
            <a:endParaRPr lang="cs-CZ"/>
          </a:p>
          <a:p>
            <a:r>
              <a:rPr lang="en-US" err="1"/>
              <a:t>Nevyžádaná</a:t>
            </a:r>
            <a:r>
              <a:rPr lang="en-US"/>
              <a:t> </a:t>
            </a:r>
            <a:r>
              <a:rPr lang="en-US" err="1"/>
              <a:t>pošta</a:t>
            </a:r>
            <a:r>
              <a:rPr lang="en-US"/>
              <a:t> </a:t>
            </a:r>
            <a:r>
              <a:rPr lang="en-US" err="1"/>
              <a:t>nemusí</a:t>
            </a:r>
            <a:r>
              <a:rPr lang="en-US"/>
              <a:t> </a:t>
            </a:r>
            <a:r>
              <a:rPr lang="en-US" err="1"/>
              <a:t>znamenat</a:t>
            </a:r>
            <a:r>
              <a:rPr lang="en-US"/>
              <a:t> </a:t>
            </a:r>
            <a:r>
              <a:rPr lang="en-US" err="1"/>
              <a:t>pouze</a:t>
            </a:r>
            <a:r>
              <a:rPr lang="en-US"/>
              <a:t> </a:t>
            </a:r>
            <a:r>
              <a:rPr lang="en-US" err="1"/>
              <a:t>nevyžádaná</a:t>
            </a:r>
            <a:r>
              <a:rPr lang="en-US"/>
              <a:t> </a:t>
            </a:r>
            <a:r>
              <a:rPr lang="en-US" err="1"/>
              <a:t>obchodní</a:t>
            </a:r>
            <a:r>
              <a:rPr lang="en-US"/>
              <a:t> </a:t>
            </a:r>
            <a:r>
              <a:rPr lang="en-US" err="1"/>
              <a:t>sdělení</a:t>
            </a:r>
            <a:r>
              <a:rPr lang="en-US"/>
              <a:t>, ale </a:t>
            </a:r>
            <a:r>
              <a:rPr lang="en-US" err="1"/>
              <a:t>také</a:t>
            </a:r>
            <a:r>
              <a:rPr lang="en-US"/>
              <a:t> </a:t>
            </a:r>
            <a:r>
              <a:rPr lang="en-US" err="1"/>
              <a:t>phishingové</a:t>
            </a:r>
            <a:r>
              <a:rPr lang="cs-CZ"/>
              <a:t> </a:t>
            </a:r>
            <a:r>
              <a:rPr lang="en-US"/>
              <a:t>e-</a:t>
            </a:r>
            <a:r>
              <a:rPr lang="en-US" err="1"/>
              <a:t>maily</a:t>
            </a:r>
            <a:r>
              <a:rPr lang="en-US"/>
              <a:t>, </a:t>
            </a:r>
            <a:r>
              <a:rPr lang="en-US" err="1"/>
              <a:t>nebo</a:t>
            </a:r>
            <a:r>
              <a:rPr lang="en-US"/>
              <a:t> e-</a:t>
            </a:r>
            <a:r>
              <a:rPr lang="en-US" err="1"/>
              <a:t>maily</a:t>
            </a:r>
            <a:r>
              <a:rPr lang="en-US"/>
              <a:t> </a:t>
            </a:r>
            <a:r>
              <a:rPr lang="en-US" err="1"/>
              <a:t>obsahující</a:t>
            </a:r>
            <a:r>
              <a:rPr lang="en-US"/>
              <a:t> </a:t>
            </a:r>
            <a:r>
              <a:rPr lang="en-US" err="1"/>
              <a:t>odkaz</a:t>
            </a:r>
            <a:r>
              <a:rPr lang="en-US"/>
              <a:t> </a:t>
            </a:r>
            <a:r>
              <a:rPr lang="en-US" err="1"/>
              <a:t>ke</a:t>
            </a:r>
            <a:r>
              <a:rPr lang="en-US"/>
              <a:t> </a:t>
            </a:r>
            <a:r>
              <a:rPr lang="en-US" err="1"/>
              <a:t>stažení</a:t>
            </a:r>
            <a:r>
              <a:rPr lang="en-US"/>
              <a:t> malware. </a:t>
            </a:r>
            <a:br>
              <a:rPr lang="en-US"/>
            </a:b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247</a:t>
            </a:fld>
            <a:endParaRPr lang="cs-CZ"/>
          </a:p>
        </p:txBody>
      </p:sp>
    </p:spTree>
    <p:extLst>
      <p:ext uri="{BB962C8B-B14F-4D97-AF65-F5344CB8AC3E}">
        <p14:creationId xmlns:p14="http://schemas.microsoft.com/office/powerpoint/2010/main" val="2359523420"/>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err="1"/>
              <a:t>Aplikační</a:t>
            </a:r>
            <a:r>
              <a:rPr lang="en-US" b="1"/>
              <a:t> </a:t>
            </a:r>
            <a:r>
              <a:rPr lang="en-US" b="1" err="1"/>
              <a:t>bezpečnost</a:t>
            </a:r>
            <a:endParaRPr lang="en-US"/>
          </a:p>
        </p:txBody>
      </p:sp>
      <p:sp>
        <p:nvSpPr>
          <p:cNvPr id="3" name="Content Placeholder 2"/>
          <p:cNvSpPr>
            <a:spLocks noGrp="1"/>
          </p:cNvSpPr>
          <p:nvPr>
            <p:ph idx="1"/>
          </p:nvPr>
        </p:nvSpPr>
        <p:spPr/>
        <p:txBody>
          <a:bodyPr/>
          <a:lstStyle/>
          <a:p>
            <a:r>
              <a:rPr lang="en-US" err="1"/>
              <a:t>Aplikační</a:t>
            </a:r>
            <a:r>
              <a:rPr lang="en-US"/>
              <a:t> </a:t>
            </a:r>
            <a:r>
              <a:rPr lang="en-US" err="1"/>
              <a:t>bezpečnost</a:t>
            </a:r>
            <a:r>
              <a:rPr lang="en-US"/>
              <a:t> v </a:t>
            </a:r>
            <a:r>
              <a:rPr lang="en-US" err="1"/>
              <a:t>sobě</a:t>
            </a:r>
            <a:r>
              <a:rPr lang="en-US"/>
              <a:t> </a:t>
            </a:r>
            <a:r>
              <a:rPr lang="en-US" err="1"/>
              <a:t>zahrnuje</a:t>
            </a:r>
            <a:r>
              <a:rPr lang="en-US"/>
              <a:t> </a:t>
            </a:r>
            <a:r>
              <a:rPr lang="en-US" err="1"/>
              <a:t>řízení</a:t>
            </a:r>
            <a:r>
              <a:rPr lang="en-US"/>
              <a:t> </a:t>
            </a:r>
            <a:r>
              <a:rPr lang="en-US" err="1"/>
              <a:t>přístupů</a:t>
            </a:r>
            <a:r>
              <a:rPr lang="en-US"/>
              <a:t>, </a:t>
            </a:r>
            <a:r>
              <a:rPr lang="en-US" err="1"/>
              <a:t>ověřování</a:t>
            </a:r>
            <a:r>
              <a:rPr lang="en-US"/>
              <a:t> </a:t>
            </a:r>
            <a:r>
              <a:rPr lang="en-US" err="1"/>
              <a:t>uživatelů</a:t>
            </a:r>
            <a:r>
              <a:rPr lang="en-US"/>
              <a:t>, </a:t>
            </a:r>
            <a:r>
              <a:rPr lang="en-US" err="1"/>
              <a:t>hesla</a:t>
            </a:r>
            <a:r>
              <a:rPr lang="en-US"/>
              <a:t>, </a:t>
            </a:r>
            <a:r>
              <a:rPr lang="en-US" err="1"/>
              <a:t>logování</a:t>
            </a:r>
            <a:r>
              <a:rPr lang="en-US"/>
              <a:t>,</a:t>
            </a:r>
            <a:r>
              <a:rPr lang="cs-CZ"/>
              <a:t> </a:t>
            </a:r>
            <a:r>
              <a:rPr lang="en-US" err="1"/>
              <a:t>zranitelnosti</a:t>
            </a:r>
            <a:r>
              <a:rPr lang="en-US"/>
              <a:t>, </a:t>
            </a:r>
            <a:r>
              <a:rPr lang="en-US" err="1"/>
              <a:t>šifrovanou</a:t>
            </a:r>
            <a:r>
              <a:rPr lang="en-US"/>
              <a:t> </a:t>
            </a:r>
            <a:r>
              <a:rPr lang="en-US" err="1"/>
              <a:t>komunikaci</a:t>
            </a:r>
            <a:r>
              <a:rPr lang="en-US"/>
              <a:t> </a:t>
            </a:r>
            <a:r>
              <a:rPr lang="en-US" err="1"/>
              <a:t>aj</a:t>
            </a:r>
            <a:r>
              <a:rPr lang="en-US"/>
              <a:t>. </a:t>
            </a:r>
            <a:endParaRPr lang="cs-CZ"/>
          </a:p>
          <a:p>
            <a:r>
              <a:rPr lang="en-US"/>
              <a:t>V </a:t>
            </a:r>
            <a:r>
              <a:rPr lang="en-US" err="1"/>
              <a:t>této</a:t>
            </a:r>
            <a:r>
              <a:rPr lang="en-US"/>
              <a:t> </a:t>
            </a:r>
            <a:r>
              <a:rPr lang="en-US" err="1"/>
              <a:t>subkapitole</a:t>
            </a:r>
            <a:r>
              <a:rPr lang="en-US"/>
              <a:t> se </a:t>
            </a:r>
            <a:r>
              <a:rPr lang="en-US" err="1"/>
              <a:t>zaměříme</a:t>
            </a:r>
            <a:r>
              <a:rPr lang="en-US"/>
              <a:t> </a:t>
            </a:r>
            <a:r>
              <a:rPr lang="en-US" err="1"/>
              <a:t>na</a:t>
            </a:r>
            <a:r>
              <a:rPr lang="en-US"/>
              <a:t> </a:t>
            </a:r>
            <a:r>
              <a:rPr lang="en-US" err="1"/>
              <a:t>některá</a:t>
            </a:r>
            <a:r>
              <a:rPr lang="en-US"/>
              <a:t> </a:t>
            </a:r>
            <a:r>
              <a:rPr lang="en-US" err="1"/>
              <a:t>nastíněná</a:t>
            </a:r>
            <a:r>
              <a:rPr lang="cs-CZ"/>
              <a:t> </a:t>
            </a:r>
            <a:r>
              <a:rPr lang="en-US" err="1"/>
              <a:t>témata</a:t>
            </a:r>
            <a:r>
              <a:rPr lang="en-US"/>
              <a:t> z </a:t>
            </a:r>
            <a:r>
              <a:rPr lang="en-US" err="1"/>
              <a:t>pohledu</a:t>
            </a:r>
            <a:r>
              <a:rPr lang="en-US"/>
              <a:t> </a:t>
            </a:r>
            <a:r>
              <a:rPr lang="en-US" err="1"/>
              <a:t>jejich</a:t>
            </a:r>
            <a:r>
              <a:rPr lang="en-US"/>
              <a:t> </a:t>
            </a:r>
            <a:r>
              <a:rPr lang="en-US" err="1"/>
              <a:t>zranitelnosti</a:t>
            </a:r>
            <a:r>
              <a:rPr lang="en-US"/>
              <a:t> a </a:t>
            </a:r>
            <a:r>
              <a:rPr lang="en-US" err="1"/>
              <a:t>zvýšení</a:t>
            </a:r>
            <a:r>
              <a:rPr lang="en-US"/>
              <a:t> </a:t>
            </a:r>
            <a:r>
              <a:rPr lang="en-US" err="1"/>
              <a:t>kybernetické</a:t>
            </a:r>
            <a:r>
              <a:rPr lang="en-US"/>
              <a:t> </a:t>
            </a:r>
            <a:r>
              <a:rPr lang="en-US" err="1"/>
              <a:t>bezpečnosti</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248</a:t>
            </a:fld>
            <a:endParaRPr lang="cs-CZ"/>
          </a:p>
        </p:txBody>
      </p:sp>
    </p:spTree>
    <p:extLst>
      <p:ext uri="{BB962C8B-B14F-4D97-AF65-F5344CB8AC3E}">
        <p14:creationId xmlns:p14="http://schemas.microsoft.com/office/powerpoint/2010/main" val="4069224096"/>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err="1"/>
              <a:t>Řízení</a:t>
            </a:r>
            <a:r>
              <a:rPr lang="en-US" b="1"/>
              <a:t> </a:t>
            </a:r>
            <a:r>
              <a:rPr lang="en-US" b="1" err="1"/>
              <a:t>přístupů</a:t>
            </a:r>
            <a:endParaRPr lang="en-US"/>
          </a:p>
        </p:txBody>
      </p:sp>
      <p:sp>
        <p:nvSpPr>
          <p:cNvPr id="3" name="Content Placeholder 2"/>
          <p:cNvSpPr>
            <a:spLocks noGrp="1"/>
          </p:cNvSpPr>
          <p:nvPr>
            <p:ph idx="1"/>
          </p:nvPr>
        </p:nvSpPr>
        <p:spPr/>
        <p:txBody>
          <a:bodyPr>
            <a:normAutofit/>
          </a:bodyPr>
          <a:lstStyle/>
          <a:p>
            <a:r>
              <a:rPr lang="en-US" err="1"/>
              <a:t>Při</a:t>
            </a:r>
            <a:r>
              <a:rPr lang="en-US"/>
              <a:t> </a:t>
            </a:r>
            <a:r>
              <a:rPr lang="en-US" err="1"/>
              <a:t>řízení</a:t>
            </a:r>
            <a:r>
              <a:rPr lang="en-US"/>
              <a:t> </a:t>
            </a:r>
            <a:r>
              <a:rPr lang="en-US" err="1"/>
              <a:t>přístupu</a:t>
            </a:r>
            <a:r>
              <a:rPr lang="en-US"/>
              <a:t> je </a:t>
            </a:r>
            <a:r>
              <a:rPr lang="en-US" err="1"/>
              <a:t>ověřována</a:t>
            </a:r>
            <a:r>
              <a:rPr lang="en-US"/>
              <a:t> </a:t>
            </a:r>
            <a:r>
              <a:rPr lang="en-US" err="1"/>
              <a:t>úroveň</a:t>
            </a:r>
            <a:r>
              <a:rPr lang="en-US"/>
              <a:t> </a:t>
            </a:r>
            <a:r>
              <a:rPr lang="en-US" err="1"/>
              <a:t>oprávnění</a:t>
            </a:r>
            <a:r>
              <a:rPr lang="en-US"/>
              <a:t> a </a:t>
            </a:r>
            <a:r>
              <a:rPr lang="en-US" err="1"/>
              <a:t>práv</a:t>
            </a:r>
            <a:r>
              <a:rPr lang="en-US"/>
              <a:t> </a:t>
            </a:r>
            <a:r>
              <a:rPr lang="en-US" err="1"/>
              <a:t>uživatele</a:t>
            </a:r>
            <a:r>
              <a:rPr lang="en-US"/>
              <a:t> k </a:t>
            </a:r>
            <a:r>
              <a:rPr lang="en-US" err="1"/>
              <a:t>určitému</a:t>
            </a:r>
            <a:r>
              <a:rPr lang="en-US"/>
              <a:t> </a:t>
            </a:r>
            <a:r>
              <a:rPr lang="en-US" err="1"/>
              <a:t>zdroji</a:t>
            </a:r>
            <a:r>
              <a:rPr lang="en-US"/>
              <a:t> </a:t>
            </a:r>
            <a:r>
              <a:rPr lang="en-US" err="1"/>
              <a:t>nebo</a:t>
            </a:r>
            <a:r>
              <a:rPr lang="en-US"/>
              <a:t> </a:t>
            </a:r>
            <a:r>
              <a:rPr lang="en-US" err="1"/>
              <a:t>objektu</a:t>
            </a:r>
            <a:r>
              <a:rPr lang="en-US"/>
              <a:t>.</a:t>
            </a:r>
            <a:endParaRPr lang="cs-CZ"/>
          </a:p>
          <a:p>
            <a:r>
              <a:rPr lang="en-US" err="1"/>
              <a:t>Zdrojem</a:t>
            </a:r>
            <a:r>
              <a:rPr lang="en-US"/>
              <a:t> </a:t>
            </a:r>
            <a:r>
              <a:rPr lang="en-US" err="1"/>
              <a:t>může</a:t>
            </a:r>
            <a:r>
              <a:rPr lang="en-US"/>
              <a:t> </a:t>
            </a:r>
            <a:r>
              <a:rPr lang="en-US" err="1"/>
              <a:t>být</a:t>
            </a:r>
            <a:r>
              <a:rPr lang="en-US"/>
              <a:t> </a:t>
            </a:r>
            <a:r>
              <a:rPr lang="en-US" err="1"/>
              <a:t>připojení</a:t>
            </a:r>
            <a:r>
              <a:rPr lang="en-US"/>
              <a:t> k </a:t>
            </a:r>
            <a:r>
              <a:rPr lang="en-US" err="1"/>
              <a:t>síti</a:t>
            </a:r>
            <a:r>
              <a:rPr lang="en-US"/>
              <a:t>, </a:t>
            </a:r>
            <a:r>
              <a:rPr lang="en-US" err="1"/>
              <a:t>využití</a:t>
            </a:r>
            <a:r>
              <a:rPr lang="en-US"/>
              <a:t> </a:t>
            </a:r>
            <a:r>
              <a:rPr lang="en-US" err="1"/>
              <a:t>kapacity</a:t>
            </a:r>
            <a:r>
              <a:rPr lang="en-US"/>
              <a:t> </a:t>
            </a:r>
            <a:r>
              <a:rPr lang="en-US" err="1"/>
              <a:t>paměťového</a:t>
            </a:r>
            <a:r>
              <a:rPr lang="en-US"/>
              <a:t> </a:t>
            </a:r>
            <a:r>
              <a:rPr lang="en-US" err="1"/>
              <a:t>média</a:t>
            </a:r>
            <a:r>
              <a:rPr lang="en-US"/>
              <a:t>, </a:t>
            </a:r>
            <a:r>
              <a:rPr lang="en-US" err="1"/>
              <a:t>přístup</a:t>
            </a:r>
            <a:r>
              <a:rPr lang="en-US"/>
              <a:t> k </a:t>
            </a:r>
            <a:r>
              <a:rPr lang="en-US" err="1"/>
              <a:t>počítačovým</a:t>
            </a:r>
            <a:r>
              <a:rPr lang="cs-CZ"/>
              <a:t> </a:t>
            </a:r>
            <a:r>
              <a:rPr lang="en-US" err="1"/>
              <a:t>systémům</a:t>
            </a:r>
            <a:r>
              <a:rPr lang="en-US"/>
              <a:t> (</a:t>
            </a:r>
            <a:r>
              <a:rPr lang="en-US" err="1"/>
              <a:t>serverům</a:t>
            </a:r>
            <a:r>
              <a:rPr lang="en-US"/>
              <a:t>, </a:t>
            </a:r>
            <a:r>
              <a:rPr lang="en-US" err="1"/>
              <a:t>síťovým</a:t>
            </a:r>
            <a:r>
              <a:rPr lang="en-US"/>
              <a:t> </a:t>
            </a:r>
            <a:r>
              <a:rPr lang="en-US" err="1"/>
              <a:t>prvkům</a:t>
            </a:r>
            <a:r>
              <a:rPr lang="en-US"/>
              <a:t>, </a:t>
            </a:r>
            <a:r>
              <a:rPr lang="en-US" err="1"/>
              <a:t>tiskárnám</a:t>
            </a:r>
            <a:r>
              <a:rPr lang="en-US"/>
              <a:t> </a:t>
            </a:r>
            <a:r>
              <a:rPr lang="en-US" err="1"/>
              <a:t>aj</a:t>
            </a:r>
            <a:r>
              <a:rPr lang="en-US"/>
              <a:t>.) </a:t>
            </a:r>
            <a:r>
              <a:rPr lang="en-US" err="1"/>
              <a:t>atd</a:t>
            </a:r>
            <a:r>
              <a:rPr lang="en-US"/>
              <a:t>. </a:t>
            </a:r>
            <a:endParaRPr lang="cs-CZ"/>
          </a:p>
          <a:p>
            <a:r>
              <a:rPr lang="cs-CZ"/>
              <a:t>Z</a:t>
            </a:r>
            <a:r>
              <a:rPr lang="en-US" err="1"/>
              <a:t>atímco</a:t>
            </a:r>
            <a:r>
              <a:rPr lang="en-US"/>
              <a:t> </a:t>
            </a:r>
            <a:r>
              <a:rPr lang="en-US" err="1"/>
              <a:t>objektem</a:t>
            </a:r>
            <a:r>
              <a:rPr lang="en-US"/>
              <a:t> </a:t>
            </a:r>
            <a:r>
              <a:rPr lang="en-US" err="1"/>
              <a:t>jsou</a:t>
            </a:r>
            <a:r>
              <a:rPr lang="en-US"/>
              <a:t> </a:t>
            </a:r>
            <a:r>
              <a:rPr lang="en-US" err="1"/>
              <a:t>například</a:t>
            </a:r>
            <a:r>
              <a:rPr lang="en-US"/>
              <a:t> data</a:t>
            </a:r>
            <a:r>
              <a:rPr lang="cs-CZ"/>
              <a:t> </a:t>
            </a:r>
            <a:r>
              <a:rPr lang="en-US" err="1"/>
              <a:t>uložená</a:t>
            </a:r>
            <a:r>
              <a:rPr lang="en-US"/>
              <a:t> v </a:t>
            </a:r>
            <a:r>
              <a:rPr lang="en-US" err="1"/>
              <a:t>určitém</a:t>
            </a:r>
            <a:r>
              <a:rPr lang="en-US"/>
              <a:t> </a:t>
            </a:r>
            <a:r>
              <a:rPr lang="en-US" err="1"/>
              <a:t>adresáři</a:t>
            </a:r>
            <a:r>
              <a:rPr lang="en-US"/>
              <a:t>, </a:t>
            </a:r>
            <a:r>
              <a:rPr lang="en-US" err="1"/>
              <a:t>nebo</a:t>
            </a:r>
            <a:r>
              <a:rPr lang="en-US"/>
              <a:t> </a:t>
            </a:r>
            <a:r>
              <a:rPr lang="en-US" err="1"/>
              <a:t>samostatný</a:t>
            </a:r>
            <a:r>
              <a:rPr lang="en-US"/>
              <a:t> </a:t>
            </a:r>
            <a:r>
              <a:rPr lang="en-US" err="1"/>
              <a:t>soubo</a:t>
            </a:r>
            <a:r>
              <a:rPr lang="cs-CZ"/>
              <a:t>r.</a:t>
            </a:r>
          </a:p>
          <a:p>
            <a:r>
              <a:rPr lang="en-US" err="1"/>
              <a:t>Ověřovaným</a:t>
            </a:r>
            <a:r>
              <a:rPr lang="en-US"/>
              <a:t> </a:t>
            </a:r>
            <a:r>
              <a:rPr lang="en-US" err="1"/>
              <a:t>objektem</a:t>
            </a:r>
            <a:r>
              <a:rPr lang="en-US"/>
              <a:t> </a:t>
            </a:r>
            <a:r>
              <a:rPr lang="en-US" err="1"/>
              <a:t>může</a:t>
            </a:r>
            <a:r>
              <a:rPr lang="en-US"/>
              <a:t> </a:t>
            </a:r>
            <a:r>
              <a:rPr lang="en-US" err="1"/>
              <a:t>být</a:t>
            </a:r>
            <a:r>
              <a:rPr lang="en-US"/>
              <a:t> </a:t>
            </a:r>
            <a:r>
              <a:rPr lang="en-US" err="1"/>
              <a:t>oprávnění</a:t>
            </a:r>
            <a:r>
              <a:rPr lang="cs-CZ"/>
              <a:t> </a:t>
            </a:r>
            <a:r>
              <a:rPr lang="en-US" err="1"/>
              <a:t>uživatele</a:t>
            </a:r>
            <a:r>
              <a:rPr lang="en-US"/>
              <a:t>, </a:t>
            </a:r>
            <a:r>
              <a:rPr lang="en-US" err="1"/>
              <a:t>skupiny</a:t>
            </a:r>
            <a:r>
              <a:rPr lang="en-US"/>
              <a:t>, ale </a:t>
            </a:r>
            <a:r>
              <a:rPr lang="en-US" err="1"/>
              <a:t>i</a:t>
            </a:r>
            <a:r>
              <a:rPr lang="en-US"/>
              <a:t> </a:t>
            </a:r>
            <a:r>
              <a:rPr lang="en-US" err="1"/>
              <a:t>samotných</a:t>
            </a:r>
            <a:r>
              <a:rPr lang="en-US"/>
              <a:t> </a:t>
            </a:r>
            <a:r>
              <a:rPr lang="en-US" err="1"/>
              <a:t>počítačových</a:t>
            </a:r>
            <a:r>
              <a:rPr lang="en-US"/>
              <a:t> </a:t>
            </a:r>
            <a:r>
              <a:rPr lang="en-US" err="1"/>
              <a:t>systémů</a:t>
            </a:r>
            <a:r>
              <a:rPr lang="en-US"/>
              <a:t>. </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249</a:t>
            </a:fld>
            <a:endParaRPr lang="cs-CZ"/>
          </a:p>
        </p:txBody>
      </p:sp>
    </p:spTree>
    <p:extLst>
      <p:ext uri="{BB962C8B-B14F-4D97-AF65-F5344CB8AC3E}">
        <p14:creationId xmlns:p14="http://schemas.microsoft.com/office/powerpoint/2010/main" val="3111742431"/>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err="1"/>
              <a:t>Řízení</a:t>
            </a:r>
            <a:r>
              <a:rPr lang="en-US" b="1"/>
              <a:t> </a:t>
            </a:r>
            <a:r>
              <a:rPr lang="en-US" b="1" err="1"/>
              <a:t>přístupů</a:t>
            </a:r>
            <a:endParaRPr lang="en-US"/>
          </a:p>
        </p:txBody>
      </p:sp>
      <p:sp>
        <p:nvSpPr>
          <p:cNvPr id="3" name="Content Placeholder 2"/>
          <p:cNvSpPr>
            <a:spLocks noGrp="1"/>
          </p:cNvSpPr>
          <p:nvPr>
            <p:ph idx="1"/>
          </p:nvPr>
        </p:nvSpPr>
        <p:spPr/>
        <p:txBody>
          <a:bodyPr/>
          <a:lstStyle/>
          <a:p>
            <a:r>
              <a:rPr lang="en-US" i="1"/>
              <a:t>Je </a:t>
            </a:r>
            <a:r>
              <a:rPr lang="en-US" i="1" err="1"/>
              <a:t>možné</a:t>
            </a:r>
            <a:r>
              <a:rPr lang="en-US" i="1"/>
              <a:t> </a:t>
            </a:r>
            <a:r>
              <a:rPr lang="en-US" i="1" err="1"/>
              <a:t>vytvořit</a:t>
            </a:r>
            <a:r>
              <a:rPr lang="en-US" i="1"/>
              <a:t> </a:t>
            </a:r>
            <a:r>
              <a:rPr lang="en-US" i="1" err="1"/>
              <a:t>například</a:t>
            </a:r>
            <a:r>
              <a:rPr lang="en-US" i="1"/>
              <a:t> </a:t>
            </a:r>
            <a:r>
              <a:rPr lang="en-US" i="1" err="1"/>
              <a:t>skupinu</a:t>
            </a:r>
            <a:r>
              <a:rPr lang="en-US" i="1"/>
              <a:t> Marketing, </a:t>
            </a:r>
            <a:r>
              <a:rPr lang="en-US" i="1" err="1"/>
              <a:t>jejíž</a:t>
            </a:r>
            <a:r>
              <a:rPr lang="en-US" i="1"/>
              <a:t> </a:t>
            </a:r>
            <a:r>
              <a:rPr lang="en-US" i="1" err="1"/>
              <a:t>členové</a:t>
            </a:r>
            <a:r>
              <a:rPr lang="en-US" i="1"/>
              <a:t> </a:t>
            </a:r>
            <a:r>
              <a:rPr lang="en-US" i="1" err="1"/>
              <a:t>budou</a:t>
            </a:r>
            <a:r>
              <a:rPr lang="en-US" i="1"/>
              <a:t> </a:t>
            </a:r>
            <a:r>
              <a:rPr lang="en-US" i="1" err="1"/>
              <a:t>po</a:t>
            </a:r>
            <a:r>
              <a:rPr lang="en-US" i="1"/>
              <a:t> </a:t>
            </a:r>
            <a:r>
              <a:rPr lang="en-US" i="1" err="1"/>
              <a:t>přihlášení</a:t>
            </a:r>
            <a:r>
              <a:rPr lang="en-US" i="1"/>
              <a:t> k </a:t>
            </a:r>
            <a:r>
              <a:rPr lang="en-US" i="1" err="1"/>
              <a:t>síti</a:t>
            </a:r>
            <a:r>
              <a:rPr lang="cs-CZ"/>
              <a:t> </a:t>
            </a:r>
            <a:r>
              <a:rPr lang="en-US" i="1" err="1"/>
              <a:t>zařazeni</a:t>
            </a:r>
            <a:r>
              <a:rPr lang="en-US" i="1"/>
              <a:t> do </a:t>
            </a:r>
            <a:r>
              <a:rPr lang="en-US" i="1" err="1"/>
              <a:t>společné</a:t>
            </a:r>
            <a:r>
              <a:rPr lang="en-US" i="1"/>
              <a:t> VLAN, </a:t>
            </a:r>
            <a:r>
              <a:rPr lang="en-US" i="1" err="1"/>
              <a:t>případně</a:t>
            </a:r>
            <a:r>
              <a:rPr lang="en-US" i="1"/>
              <a:t> </a:t>
            </a:r>
            <a:r>
              <a:rPr lang="en-US" i="1" err="1"/>
              <a:t>budou</a:t>
            </a:r>
            <a:r>
              <a:rPr lang="en-US" i="1"/>
              <a:t> </a:t>
            </a:r>
            <a:r>
              <a:rPr lang="en-US" i="1" err="1"/>
              <a:t>mít</a:t>
            </a:r>
            <a:r>
              <a:rPr lang="en-US" i="1"/>
              <a:t> </a:t>
            </a:r>
            <a:r>
              <a:rPr lang="en-US" i="1" err="1"/>
              <a:t>všichni</a:t>
            </a:r>
            <a:r>
              <a:rPr lang="en-US" i="1"/>
              <a:t> </a:t>
            </a:r>
            <a:r>
              <a:rPr lang="en-US" i="1" err="1"/>
              <a:t>přístup</a:t>
            </a:r>
            <a:r>
              <a:rPr lang="en-US" i="1"/>
              <a:t> do </a:t>
            </a:r>
            <a:r>
              <a:rPr lang="en-US" i="1" err="1"/>
              <a:t>společného</a:t>
            </a:r>
            <a:r>
              <a:rPr lang="en-US" i="1"/>
              <a:t> </a:t>
            </a:r>
            <a:r>
              <a:rPr lang="en-US" i="1" err="1"/>
              <a:t>adresáře</a:t>
            </a:r>
            <a:r>
              <a:rPr lang="en-US" i="1"/>
              <a:t> </a:t>
            </a:r>
            <a:r>
              <a:rPr lang="en-US" i="1" err="1"/>
              <a:t>na</a:t>
            </a:r>
            <a:r>
              <a:rPr lang="en-US" i="1"/>
              <a:t> </a:t>
            </a:r>
            <a:r>
              <a:rPr lang="en-US" i="1" err="1"/>
              <a:t>sdíleném</a:t>
            </a:r>
            <a:r>
              <a:rPr lang="cs-CZ"/>
              <a:t> </a:t>
            </a:r>
            <a:r>
              <a:rPr lang="en-US" i="1" err="1"/>
              <a:t>síťovém</a:t>
            </a:r>
            <a:r>
              <a:rPr lang="en-US" i="1"/>
              <a:t> </a:t>
            </a:r>
            <a:r>
              <a:rPr lang="en-US" i="1" err="1"/>
              <a:t>úložišti</a:t>
            </a:r>
            <a:r>
              <a:rPr lang="en-US" i="1"/>
              <a:t>.</a:t>
            </a:r>
            <a:endParaRPr lang="cs-CZ" i="1"/>
          </a:p>
          <a:p>
            <a:r>
              <a:rPr lang="en-US" err="1"/>
              <a:t>Granularita</a:t>
            </a:r>
            <a:r>
              <a:rPr lang="en-US"/>
              <a:t> </a:t>
            </a:r>
            <a:r>
              <a:rPr lang="en-US" err="1"/>
              <a:t>nastavení</a:t>
            </a:r>
            <a:r>
              <a:rPr lang="en-US"/>
              <a:t> </a:t>
            </a:r>
            <a:r>
              <a:rPr lang="en-US" err="1"/>
              <a:t>práv</a:t>
            </a:r>
            <a:r>
              <a:rPr lang="en-US"/>
              <a:t> </a:t>
            </a:r>
            <a:r>
              <a:rPr lang="en-US" err="1"/>
              <a:t>závisí</a:t>
            </a:r>
            <a:r>
              <a:rPr lang="en-US"/>
              <a:t> </a:t>
            </a:r>
            <a:r>
              <a:rPr lang="en-US" err="1"/>
              <a:t>na</a:t>
            </a:r>
            <a:r>
              <a:rPr lang="en-US"/>
              <a:t> </a:t>
            </a:r>
            <a:r>
              <a:rPr lang="en-US" err="1"/>
              <a:t>používaném</a:t>
            </a:r>
            <a:r>
              <a:rPr lang="en-US"/>
              <a:t> </a:t>
            </a:r>
            <a:r>
              <a:rPr lang="en-US" err="1"/>
              <a:t>systému</a:t>
            </a:r>
            <a:r>
              <a:rPr lang="en-US"/>
              <a:t>. </a:t>
            </a:r>
            <a:r>
              <a:rPr lang="en-US" err="1"/>
              <a:t>Obvykle</a:t>
            </a:r>
            <a:r>
              <a:rPr lang="en-US"/>
              <a:t> je </a:t>
            </a:r>
            <a:r>
              <a:rPr lang="en-US" err="1"/>
              <a:t>možné</a:t>
            </a:r>
            <a:r>
              <a:rPr lang="en-US"/>
              <a:t> pro </a:t>
            </a:r>
            <a:r>
              <a:rPr lang="en-US" err="1"/>
              <a:t>soubory</a:t>
            </a:r>
            <a:r>
              <a:rPr lang="cs-CZ"/>
              <a:t> </a:t>
            </a:r>
            <a:r>
              <a:rPr lang="en-US"/>
              <a:t>a </a:t>
            </a:r>
            <a:r>
              <a:rPr lang="en-US" err="1"/>
              <a:t>adresáře</a:t>
            </a:r>
            <a:r>
              <a:rPr lang="en-US"/>
              <a:t> </a:t>
            </a:r>
            <a:r>
              <a:rPr lang="en-US" err="1"/>
              <a:t>určit</a:t>
            </a:r>
            <a:r>
              <a:rPr lang="en-US"/>
              <a:t> </a:t>
            </a:r>
            <a:r>
              <a:rPr lang="en-US" err="1"/>
              <a:t>minimálně</a:t>
            </a:r>
            <a:r>
              <a:rPr lang="en-US"/>
              <a:t> </a:t>
            </a:r>
            <a:r>
              <a:rPr lang="en-US" err="1"/>
              <a:t>oprávnění</a:t>
            </a:r>
            <a:r>
              <a:rPr lang="en-US"/>
              <a:t> pro </a:t>
            </a:r>
            <a:r>
              <a:rPr lang="en-US" err="1"/>
              <a:t>čtení</a:t>
            </a:r>
            <a:r>
              <a:rPr lang="en-US"/>
              <a:t>, </a:t>
            </a:r>
            <a:r>
              <a:rPr lang="en-US" err="1"/>
              <a:t>zápis</a:t>
            </a:r>
            <a:r>
              <a:rPr lang="en-US"/>
              <a:t>, </a:t>
            </a:r>
            <a:r>
              <a:rPr lang="en-US" err="1"/>
              <a:t>odstranění</a:t>
            </a:r>
            <a:r>
              <a:rPr lang="en-US"/>
              <a:t>, </a:t>
            </a:r>
            <a:r>
              <a:rPr lang="en-US" err="1"/>
              <a:t>spuštění</a:t>
            </a:r>
            <a:r>
              <a:rPr lang="en-US"/>
              <a:t> a </a:t>
            </a:r>
            <a:r>
              <a:rPr lang="en-US" err="1"/>
              <a:t>změnu</a:t>
            </a:r>
            <a:r>
              <a:rPr lang="en-US"/>
              <a:t> </a:t>
            </a:r>
            <a:r>
              <a:rPr lang="en-US" err="1"/>
              <a:t>vlastníka</a:t>
            </a:r>
            <a:r>
              <a:rPr lang="cs-CZ"/>
              <a:t> </a:t>
            </a:r>
            <a:r>
              <a:rPr lang="en-US" err="1"/>
              <a:t>souboru</a:t>
            </a:r>
            <a:r>
              <a:rPr lang="en-US"/>
              <a:t> </a:t>
            </a:r>
            <a:r>
              <a:rPr lang="en-US" err="1"/>
              <a:t>či</a:t>
            </a:r>
            <a:r>
              <a:rPr lang="en-US"/>
              <a:t> </a:t>
            </a:r>
            <a:r>
              <a:rPr lang="en-US" err="1"/>
              <a:t>adresáře</a:t>
            </a:r>
            <a:r>
              <a:rPr lang="en-US"/>
              <a:t>.</a:t>
            </a:r>
            <a:br>
              <a:rPr lang="en-US"/>
            </a:b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250</a:t>
            </a:fld>
            <a:endParaRPr lang="cs-CZ"/>
          </a:p>
        </p:txBody>
      </p:sp>
    </p:spTree>
    <p:extLst>
      <p:ext uri="{BB962C8B-B14F-4D97-AF65-F5344CB8AC3E}">
        <p14:creationId xmlns:p14="http://schemas.microsoft.com/office/powerpoint/2010/main" val="2212902869"/>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err="1"/>
              <a:t>Ověřování</a:t>
            </a:r>
            <a:r>
              <a:rPr lang="en-US" b="1"/>
              <a:t> </a:t>
            </a:r>
            <a:r>
              <a:rPr lang="en-US" b="1" err="1"/>
              <a:t>uživatelů</a:t>
            </a:r>
            <a:endParaRPr lang="en-US"/>
          </a:p>
        </p:txBody>
      </p:sp>
      <p:sp>
        <p:nvSpPr>
          <p:cNvPr id="3" name="Content Placeholder 2"/>
          <p:cNvSpPr>
            <a:spLocks noGrp="1"/>
          </p:cNvSpPr>
          <p:nvPr>
            <p:ph idx="1"/>
          </p:nvPr>
        </p:nvSpPr>
        <p:spPr/>
        <p:txBody>
          <a:bodyPr/>
          <a:lstStyle/>
          <a:p>
            <a:r>
              <a:rPr lang="en-US" err="1"/>
              <a:t>Aby</a:t>
            </a:r>
            <a:r>
              <a:rPr lang="en-US"/>
              <a:t> </a:t>
            </a:r>
            <a:r>
              <a:rPr lang="en-US" err="1"/>
              <a:t>vůbec</a:t>
            </a:r>
            <a:r>
              <a:rPr lang="en-US"/>
              <a:t> </a:t>
            </a:r>
            <a:r>
              <a:rPr lang="en-US" err="1"/>
              <a:t>mohlo</a:t>
            </a:r>
            <a:r>
              <a:rPr lang="en-US"/>
              <a:t> </a:t>
            </a:r>
            <a:r>
              <a:rPr lang="en-US" err="1"/>
              <a:t>dojít</a:t>
            </a:r>
            <a:r>
              <a:rPr lang="en-US"/>
              <a:t> k </a:t>
            </a:r>
            <a:r>
              <a:rPr lang="en-US" err="1"/>
              <a:t>řízení</a:t>
            </a:r>
            <a:r>
              <a:rPr lang="en-US"/>
              <a:t> </a:t>
            </a:r>
            <a:r>
              <a:rPr lang="en-US" err="1"/>
              <a:t>uživatelských</a:t>
            </a:r>
            <a:r>
              <a:rPr lang="en-US"/>
              <a:t> </a:t>
            </a:r>
            <a:r>
              <a:rPr lang="en-US" err="1"/>
              <a:t>přístupů</a:t>
            </a:r>
            <a:r>
              <a:rPr lang="en-US"/>
              <a:t>, </a:t>
            </a:r>
            <a:r>
              <a:rPr lang="en-US" err="1"/>
              <a:t>musí</a:t>
            </a:r>
            <a:r>
              <a:rPr lang="en-US"/>
              <a:t> </a:t>
            </a:r>
            <a:r>
              <a:rPr lang="en-US" err="1"/>
              <a:t>být</a:t>
            </a:r>
            <a:r>
              <a:rPr lang="en-US"/>
              <a:t> </a:t>
            </a:r>
            <a:r>
              <a:rPr lang="en-US" err="1"/>
              <a:t>nejprve</a:t>
            </a:r>
            <a:r>
              <a:rPr lang="en-US"/>
              <a:t> </a:t>
            </a:r>
            <a:r>
              <a:rPr lang="en-US" err="1"/>
              <a:t>systémem</a:t>
            </a:r>
            <a:r>
              <a:rPr lang="en-US"/>
              <a:t> </a:t>
            </a:r>
            <a:r>
              <a:rPr lang="en-US" err="1"/>
              <a:t>ověřena</a:t>
            </a:r>
            <a:r>
              <a:rPr lang="cs-CZ"/>
              <a:t> </a:t>
            </a:r>
            <a:r>
              <a:rPr lang="en-US" err="1"/>
              <a:t>identita</a:t>
            </a:r>
            <a:r>
              <a:rPr lang="en-US"/>
              <a:t> </a:t>
            </a:r>
            <a:r>
              <a:rPr lang="en-US" err="1"/>
              <a:t>uživatele</a:t>
            </a:r>
            <a:r>
              <a:rPr lang="en-US"/>
              <a:t>. </a:t>
            </a:r>
            <a:r>
              <a:rPr lang="en-US" err="1"/>
              <a:t>Nejčastěji</a:t>
            </a:r>
            <a:r>
              <a:rPr lang="en-US"/>
              <a:t> </a:t>
            </a:r>
            <a:r>
              <a:rPr lang="en-US" err="1"/>
              <a:t>lze</a:t>
            </a:r>
            <a:r>
              <a:rPr lang="en-US"/>
              <a:t> </a:t>
            </a:r>
            <a:r>
              <a:rPr lang="en-US" err="1"/>
              <a:t>ověřit</a:t>
            </a:r>
            <a:r>
              <a:rPr lang="en-US"/>
              <a:t> </a:t>
            </a:r>
            <a:r>
              <a:rPr lang="en-US" err="1"/>
              <a:t>identitu</a:t>
            </a:r>
            <a:r>
              <a:rPr lang="en-US"/>
              <a:t> </a:t>
            </a:r>
            <a:r>
              <a:rPr lang="en-US" err="1"/>
              <a:t>uživatele</a:t>
            </a:r>
            <a:r>
              <a:rPr lang="en-US"/>
              <a:t> </a:t>
            </a:r>
            <a:r>
              <a:rPr lang="en-US" err="1"/>
              <a:t>na</a:t>
            </a:r>
            <a:r>
              <a:rPr lang="en-US"/>
              <a:t> </a:t>
            </a:r>
            <a:r>
              <a:rPr lang="en-US" err="1"/>
              <a:t>základě</a:t>
            </a:r>
            <a:r>
              <a:rPr lang="en-US"/>
              <a:t> </a:t>
            </a:r>
            <a:r>
              <a:rPr lang="en-US" err="1"/>
              <a:t>toho</a:t>
            </a:r>
            <a:r>
              <a:rPr lang="en-US"/>
              <a:t>:</a:t>
            </a:r>
            <a:endParaRPr lang="cs-CZ"/>
          </a:p>
          <a:p>
            <a:pPr lvl="1"/>
            <a:r>
              <a:rPr lang="pl-PL"/>
              <a:t>co zná,</a:t>
            </a:r>
          </a:p>
          <a:p>
            <a:pPr lvl="1"/>
            <a:r>
              <a:rPr lang="pl-PL"/>
              <a:t>co vlastní,</a:t>
            </a:r>
          </a:p>
          <a:p>
            <a:pPr lvl="1"/>
            <a:r>
              <a:rPr lang="pl-PL"/>
              <a:t>čím je.</a:t>
            </a: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251</a:t>
            </a:fld>
            <a:endParaRPr lang="cs-CZ"/>
          </a:p>
        </p:txBody>
      </p:sp>
    </p:spTree>
    <p:extLst>
      <p:ext uri="{BB962C8B-B14F-4D97-AF65-F5344CB8AC3E}">
        <p14:creationId xmlns:p14="http://schemas.microsoft.com/office/powerpoint/2010/main" val="2699518538"/>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err="1"/>
              <a:t>Ověřování</a:t>
            </a:r>
            <a:r>
              <a:rPr lang="en-US" b="1"/>
              <a:t> </a:t>
            </a:r>
            <a:r>
              <a:rPr lang="en-US" b="1" err="1"/>
              <a:t>uživatelů</a:t>
            </a:r>
            <a:endParaRPr lang="en-US"/>
          </a:p>
        </p:txBody>
      </p:sp>
      <p:sp>
        <p:nvSpPr>
          <p:cNvPr id="3" name="Content Placeholder 2"/>
          <p:cNvSpPr>
            <a:spLocks noGrp="1"/>
          </p:cNvSpPr>
          <p:nvPr>
            <p:ph idx="1"/>
          </p:nvPr>
        </p:nvSpPr>
        <p:spPr/>
        <p:txBody>
          <a:bodyPr/>
          <a:lstStyle/>
          <a:p>
            <a:r>
              <a:rPr lang="en-US" err="1"/>
              <a:t>Nejběžnějším</a:t>
            </a:r>
            <a:r>
              <a:rPr lang="en-US"/>
              <a:t> je </a:t>
            </a:r>
            <a:r>
              <a:rPr lang="en-US" b="1" err="1"/>
              <a:t>ověření</a:t>
            </a:r>
            <a:r>
              <a:rPr lang="en-US" b="1"/>
              <a:t> </a:t>
            </a:r>
            <a:r>
              <a:rPr lang="en-US" b="1" err="1"/>
              <a:t>uživatele</a:t>
            </a:r>
            <a:r>
              <a:rPr lang="en-US" b="1"/>
              <a:t> </a:t>
            </a:r>
            <a:r>
              <a:rPr lang="en-US" b="1" err="1"/>
              <a:t>na</a:t>
            </a:r>
            <a:r>
              <a:rPr lang="en-US" b="1"/>
              <a:t> </a:t>
            </a:r>
            <a:r>
              <a:rPr lang="en-US" b="1" err="1"/>
              <a:t>základě</a:t>
            </a:r>
            <a:r>
              <a:rPr lang="en-US" b="1"/>
              <a:t> </a:t>
            </a:r>
            <a:r>
              <a:rPr lang="en-US" b="1" err="1"/>
              <a:t>toho</a:t>
            </a:r>
            <a:r>
              <a:rPr lang="en-US" b="1"/>
              <a:t>, co </a:t>
            </a:r>
            <a:r>
              <a:rPr lang="en-US" b="1" err="1"/>
              <a:t>zná</a:t>
            </a:r>
            <a:r>
              <a:rPr lang="en-US" b="1"/>
              <a:t> </a:t>
            </a:r>
            <a:r>
              <a:rPr lang="en-US"/>
              <a:t>v </a:t>
            </a:r>
            <a:r>
              <a:rPr lang="en-US" err="1"/>
              <a:t>podobě</a:t>
            </a:r>
            <a:r>
              <a:rPr lang="en-US"/>
              <a:t> </a:t>
            </a:r>
            <a:r>
              <a:rPr lang="en-US" err="1"/>
              <a:t>hesla</a:t>
            </a:r>
            <a:r>
              <a:rPr lang="en-US"/>
              <a:t> (</a:t>
            </a:r>
            <a:r>
              <a:rPr lang="en-US" err="1"/>
              <a:t>určitého</a:t>
            </a:r>
            <a:r>
              <a:rPr lang="en-US"/>
              <a:t> </a:t>
            </a:r>
            <a:r>
              <a:rPr lang="en-US" err="1"/>
              <a:t>řetězce</a:t>
            </a:r>
            <a:r>
              <a:rPr lang="cs-CZ"/>
              <a:t> </a:t>
            </a:r>
            <a:r>
              <a:rPr lang="en-US" err="1"/>
              <a:t>znaků</a:t>
            </a:r>
            <a:r>
              <a:rPr lang="en-US"/>
              <a:t>), </a:t>
            </a:r>
            <a:r>
              <a:rPr lang="en-US" err="1"/>
              <a:t>který</a:t>
            </a:r>
            <a:r>
              <a:rPr lang="en-US"/>
              <a:t> </a:t>
            </a:r>
            <a:r>
              <a:rPr lang="en-US" err="1"/>
              <a:t>uživatel</a:t>
            </a:r>
            <a:r>
              <a:rPr lang="en-US"/>
              <a:t> </a:t>
            </a:r>
            <a:r>
              <a:rPr lang="en-US" err="1"/>
              <a:t>obvykle</a:t>
            </a:r>
            <a:r>
              <a:rPr lang="en-US"/>
              <a:t> </a:t>
            </a:r>
            <a:r>
              <a:rPr lang="en-US" err="1"/>
              <a:t>na</a:t>
            </a:r>
            <a:r>
              <a:rPr lang="en-US"/>
              <a:t> </a:t>
            </a:r>
            <a:r>
              <a:rPr lang="en-US" err="1"/>
              <a:t>základě</a:t>
            </a:r>
            <a:r>
              <a:rPr lang="en-US"/>
              <a:t> </a:t>
            </a:r>
            <a:r>
              <a:rPr lang="en-US" err="1"/>
              <a:t>výzvy</a:t>
            </a:r>
            <a:r>
              <a:rPr lang="en-US"/>
              <a:t> </a:t>
            </a:r>
            <a:r>
              <a:rPr lang="en-US" err="1"/>
              <a:t>systému</a:t>
            </a:r>
            <a:r>
              <a:rPr lang="en-US"/>
              <a:t> </a:t>
            </a:r>
            <a:r>
              <a:rPr lang="en-US" err="1"/>
              <a:t>zadá</a:t>
            </a:r>
            <a:r>
              <a:rPr lang="en-US"/>
              <a:t>. </a:t>
            </a:r>
            <a:endParaRPr lang="cs-CZ"/>
          </a:p>
          <a:p>
            <a:r>
              <a:rPr lang="en-US" err="1"/>
              <a:t>Zadané</a:t>
            </a:r>
            <a:r>
              <a:rPr lang="en-US"/>
              <a:t> </a:t>
            </a:r>
            <a:r>
              <a:rPr lang="en-US" err="1"/>
              <a:t>heslo</a:t>
            </a:r>
            <a:r>
              <a:rPr lang="en-US"/>
              <a:t> je </a:t>
            </a:r>
            <a:r>
              <a:rPr lang="en-US" err="1"/>
              <a:t>následně</a:t>
            </a:r>
            <a:r>
              <a:rPr lang="cs-CZ"/>
              <a:t> </a:t>
            </a:r>
            <a:r>
              <a:rPr lang="en-US" err="1"/>
              <a:t>porovnáno</a:t>
            </a:r>
            <a:r>
              <a:rPr lang="en-US"/>
              <a:t> s </a:t>
            </a:r>
            <a:r>
              <a:rPr lang="en-US" err="1"/>
              <a:t>heslem</a:t>
            </a:r>
            <a:r>
              <a:rPr lang="en-US"/>
              <a:t> </a:t>
            </a:r>
            <a:r>
              <a:rPr lang="en-US" err="1"/>
              <a:t>již</a:t>
            </a:r>
            <a:r>
              <a:rPr lang="en-US"/>
              <a:t> </a:t>
            </a:r>
            <a:r>
              <a:rPr lang="en-US" err="1"/>
              <a:t>dříve</a:t>
            </a:r>
            <a:r>
              <a:rPr lang="en-US"/>
              <a:t> </a:t>
            </a:r>
            <a:r>
              <a:rPr lang="en-US" err="1"/>
              <a:t>uloženým</a:t>
            </a:r>
            <a:r>
              <a:rPr lang="en-US"/>
              <a:t> </a:t>
            </a:r>
            <a:r>
              <a:rPr lang="en-US" err="1"/>
              <a:t>uživatelem</a:t>
            </a:r>
            <a:r>
              <a:rPr lang="en-US"/>
              <a:t> do </a:t>
            </a:r>
            <a:r>
              <a:rPr lang="en-US" err="1"/>
              <a:t>systému</a:t>
            </a:r>
            <a:r>
              <a:rPr lang="en-US"/>
              <a:t>. </a:t>
            </a:r>
            <a:endParaRPr lang="cs-CZ"/>
          </a:p>
          <a:p>
            <a:r>
              <a:rPr lang="en-US" err="1"/>
              <a:t>Pokud</a:t>
            </a:r>
            <a:r>
              <a:rPr lang="en-US"/>
              <a:t> se </a:t>
            </a:r>
            <a:r>
              <a:rPr lang="en-US" err="1"/>
              <a:t>hesla</a:t>
            </a:r>
            <a:r>
              <a:rPr lang="en-US"/>
              <a:t> </a:t>
            </a:r>
            <a:r>
              <a:rPr lang="en-US" err="1"/>
              <a:t>shodují</a:t>
            </a:r>
            <a:r>
              <a:rPr lang="en-US"/>
              <a:t>, je </a:t>
            </a:r>
            <a:r>
              <a:rPr lang="en-US" err="1"/>
              <a:t>uživatel</a:t>
            </a:r>
            <a:r>
              <a:rPr lang="cs-CZ"/>
              <a:t> </a:t>
            </a:r>
            <a:r>
              <a:rPr lang="en-US" err="1"/>
              <a:t>přihlášen</a:t>
            </a:r>
            <a:r>
              <a:rPr lang="en-US"/>
              <a:t> a </a:t>
            </a:r>
            <a:r>
              <a:rPr lang="en-US" err="1"/>
              <a:t>jsou</a:t>
            </a:r>
            <a:r>
              <a:rPr lang="en-US"/>
              <a:t> mu </a:t>
            </a:r>
            <a:r>
              <a:rPr lang="en-US" err="1"/>
              <a:t>přidělena</a:t>
            </a:r>
            <a:r>
              <a:rPr lang="en-US"/>
              <a:t> </a:t>
            </a:r>
            <a:r>
              <a:rPr lang="en-US" err="1"/>
              <a:t>oprávnění</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252</a:t>
            </a:fld>
            <a:endParaRPr lang="cs-CZ"/>
          </a:p>
        </p:txBody>
      </p:sp>
    </p:spTree>
    <p:extLst>
      <p:ext uri="{BB962C8B-B14F-4D97-AF65-F5344CB8AC3E}">
        <p14:creationId xmlns:p14="http://schemas.microsoft.com/office/powerpoint/2010/main" val="3178097778"/>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err="1"/>
              <a:t>Ověřování</a:t>
            </a:r>
            <a:r>
              <a:rPr lang="en-US" b="1"/>
              <a:t> </a:t>
            </a:r>
            <a:r>
              <a:rPr lang="en-US" b="1" err="1"/>
              <a:t>uživatelů</a:t>
            </a:r>
            <a:endParaRPr lang="en-US"/>
          </a:p>
        </p:txBody>
      </p:sp>
      <p:sp>
        <p:nvSpPr>
          <p:cNvPr id="3" name="Content Placeholder 2"/>
          <p:cNvSpPr>
            <a:spLocks noGrp="1"/>
          </p:cNvSpPr>
          <p:nvPr>
            <p:ph idx="1"/>
          </p:nvPr>
        </p:nvSpPr>
        <p:spPr/>
        <p:txBody>
          <a:bodyPr/>
          <a:lstStyle/>
          <a:p>
            <a:r>
              <a:rPr lang="en-US" b="1" err="1"/>
              <a:t>Výhodou</a:t>
            </a:r>
            <a:r>
              <a:rPr lang="en-US" b="1"/>
              <a:t> </a:t>
            </a:r>
            <a:r>
              <a:rPr lang="en-US" b="1" err="1"/>
              <a:t>hesel</a:t>
            </a:r>
            <a:r>
              <a:rPr lang="en-US" b="1"/>
              <a:t> je </a:t>
            </a:r>
            <a:r>
              <a:rPr lang="en-US" b="1" err="1"/>
              <a:t>jejich</a:t>
            </a:r>
            <a:r>
              <a:rPr lang="en-US" b="1"/>
              <a:t> </a:t>
            </a:r>
            <a:r>
              <a:rPr lang="en-US" b="1" err="1"/>
              <a:t>snadné</a:t>
            </a:r>
            <a:r>
              <a:rPr lang="en-US" b="1"/>
              <a:t> </a:t>
            </a:r>
            <a:r>
              <a:rPr lang="en-US" b="1" err="1"/>
              <a:t>použití</a:t>
            </a:r>
            <a:r>
              <a:rPr lang="en-US" b="1"/>
              <a:t> a </a:t>
            </a:r>
            <a:r>
              <a:rPr lang="en-US" b="1" err="1"/>
              <a:t>snadná</a:t>
            </a:r>
            <a:r>
              <a:rPr lang="en-US" b="1"/>
              <a:t> </a:t>
            </a:r>
            <a:r>
              <a:rPr lang="en-US" b="1" err="1"/>
              <a:t>implementace</a:t>
            </a:r>
            <a:r>
              <a:rPr lang="en-US" b="1"/>
              <a:t> do </a:t>
            </a:r>
            <a:r>
              <a:rPr lang="en-US" b="1" err="1"/>
              <a:t>systému</a:t>
            </a:r>
            <a:r>
              <a:rPr lang="en-US"/>
              <a:t>. </a:t>
            </a:r>
            <a:endParaRPr lang="cs-CZ"/>
          </a:p>
          <a:p>
            <a:r>
              <a:rPr lang="en-US" err="1"/>
              <a:t>Čím</a:t>
            </a:r>
            <a:r>
              <a:rPr lang="en-US"/>
              <a:t> je </a:t>
            </a:r>
            <a:r>
              <a:rPr lang="en-US" err="1"/>
              <a:t>však</a:t>
            </a:r>
            <a:r>
              <a:rPr lang="en-US"/>
              <a:t> </a:t>
            </a:r>
            <a:r>
              <a:rPr lang="en-US" err="1"/>
              <a:t>heslo</a:t>
            </a:r>
            <a:r>
              <a:rPr lang="cs-CZ"/>
              <a:t> </a:t>
            </a:r>
            <a:r>
              <a:rPr lang="en-US" err="1"/>
              <a:t>kvalitnější</a:t>
            </a:r>
            <a:r>
              <a:rPr lang="en-US"/>
              <a:t>, </a:t>
            </a:r>
            <a:r>
              <a:rPr lang="en-US" err="1"/>
              <a:t>tím</a:t>
            </a:r>
            <a:r>
              <a:rPr lang="en-US"/>
              <a:t> je </a:t>
            </a:r>
            <a:r>
              <a:rPr lang="en-US" err="1"/>
              <a:t>obvykle</a:t>
            </a:r>
            <a:r>
              <a:rPr lang="en-US"/>
              <a:t> pro </a:t>
            </a:r>
            <a:r>
              <a:rPr lang="en-US" err="1"/>
              <a:t>uživatele</a:t>
            </a:r>
            <a:r>
              <a:rPr lang="en-US"/>
              <a:t> </a:t>
            </a:r>
            <a:r>
              <a:rPr lang="en-US" err="1"/>
              <a:t>hůře</a:t>
            </a:r>
            <a:r>
              <a:rPr lang="en-US"/>
              <a:t> </a:t>
            </a:r>
            <a:r>
              <a:rPr lang="en-US" err="1"/>
              <a:t>zapamatovatelné</a:t>
            </a:r>
            <a:r>
              <a:rPr lang="en-US"/>
              <a:t>. </a:t>
            </a:r>
            <a:r>
              <a:rPr lang="en-US" err="1"/>
              <a:t>Nevýhodou</a:t>
            </a:r>
            <a:r>
              <a:rPr lang="en-US"/>
              <a:t> </a:t>
            </a:r>
            <a:r>
              <a:rPr lang="en-US" err="1"/>
              <a:t>hesla</a:t>
            </a:r>
            <a:r>
              <a:rPr lang="en-US"/>
              <a:t> je, </a:t>
            </a:r>
            <a:r>
              <a:rPr lang="en-US" err="1"/>
              <a:t>že</a:t>
            </a:r>
            <a:r>
              <a:rPr lang="en-US"/>
              <a:t> je </a:t>
            </a:r>
            <a:r>
              <a:rPr lang="en-US" err="1"/>
              <a:t>lze</a:t>
            </a:r>
            <a:r>
              <a:rPr lang="cs-CZ"/>
              <a:t> </a:t>
            </a:r>
            <a:r>
              <a:rPr lang="en-US" err="1"/>
              <a:t>odpozorovat</a:t>
            </a:r>
            <a:r>
              <a:rPr lang="en-US"/>
              <a:t> </a:t>
            </a:r>
            <a:r>
              <a:rPr lang="en-US" err="1"/>
              <a:t>či</a:t>
            </a:r>
            <a:r>
              <a:rPr lang="en-US"/>
              <a:t> </a:t>
            </a:r>
            <a:r>
              <a:rPr lang="en-US" err="1"/>
              <a:t>předat</a:t>
            </a:r>
            <a:r>
              <a:rPr lang="en-US"/>
              <a:t>. </a:t>
            </a:r>
            <a:br>
              <a:rPr lang="en-US"/>
            </a:br>
            <a:br>
              <a:rPr lang="en-US"/>
            </a:b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253</a:t>
            </a:fld>
            <a:endParaRPr lang="cs-CZ"/>
          </a:p>
        </p:txBody>
      </p:sp>
    </p:spTree>
    <p:extLst>
      <p:ext uri="{BB962C8B-B14F-4D97-AF65-F5344CB8AC3E}">
        <p14:creationId xmlns:p14="http://schemas.microsoft.com/office/powerpoint/2010/main" val="3111416574"/>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err="1"/>
              <a:t>Ověřování</a:t>
            </a:r>
            <a:r>
              <a:rPr lang="en-US" b="1"/>
              <a:t> </a:t>
            </a:r>
            <a:r>
              <a:rPr lang="en-US" b="1" err="1"/>
              <a:t>uživatelů</a:t>
            </a:r>
            <a:endParaRPr lang="en-US"/>
          </a:p>
        </p:txBody>
      </p:sp>
      <p:sp>
        <p:nvSpPr>
          <p:cNvPr id="3" name="Content Placeholder 2"/>
          <p:cNvSpPr>
            <a:spLocks noGrp="1"/>
          </p:cNvSpPr>
          <p:nvPr>
            <p:ph idx="1"/>
          </p:nvPr>
        </p:nvSpPr>
        <p:spPr/>
        <p:txBody>
          <a:bodyPr/>
          <a:lstStyle/>
          <a:p>
            <a:r>
              <a:rPr lang="en-US" b="1" err="1"/>
              <a:t>Ověření</a:t>
            </a:r>
            <a:r>
              <a:rPr lang="en-US" b="1"/>
              <a:t> </a:t>
            </a:r>
            <a:r>
              <a:rPr lang="en-US" b="1" err="1"/>
              <a:t>uživatele</a:t>
            </a:r>
            <a:r>
              <a:rPr lang="en-US" b="1"/>
              <a:t> </a:t>
            </a:r>
            <a:r>
              <a:rPr lang="en-US" b="1" err="1"/>
              <a:t>na</a:t>
            </a:r>
            <a:r>
              <a:rPr lang="en-US" b="1"/>
              <a:t> </a:t>
            </a:r>
            <a:r>
              <a:rPr lang="en-US" b="1" err="1"/>
              <a:t>základě</a:t>
            </a:r>
            <a:r>
              <a:rPr lang="en-US" b="1"/>
              <a:t> </a:t>
            </a:r>
            <a:r>
              <a:rPr lang="en-US" b="1" err="1"/>
              <a:t>vlastnictví</a:t>
            </a:r>
            <a:r>
              <a:rPr lang="en-US" b="1"/>
              <a:t> </a:t>
            </a:r>
            <a:r>
              <a:rPr lang="en-US" b="1" err="1"/>
              <a:t>předmětu</a:t>
            </a:r>
            <a:r>
              <a:rPr lang="en-US" b="1"/>
              <a:t> </a:t>
            </a:r>
            <a:r>
              <a:rPr lang="en-US" err="1"/>
              <a:t>bývá</a:t>
            </a:r>
            <a:r>
              <a:rPr lang="en-US"/>
              <a:t> </a:t>
            </a:r>
            <a:r>
              <a:rPr lang="en-US" err="1"/>
              <a:t>realizováno</a:t>
            </a:r>
            <a:r>
              <a:rPr lang="en-US"/>
              <a:t> </a:t>
            </a:r>
            <a:r>
              <a:rPr lang="en-US" err="1"/>
              <a:t>díky</a:t>
            </a:r>
            <a:r>
              <a:rPr lang="en-US"/>
              <a:t> </a:t>
            </a:r>
            <a:r>
              <a:rPr lang="en-US" err="1"/>
              <a:t>držení</a:t>
            </a:r>
            <a:r>
              <a:rPr lang="en-US"/>
              <a:t> </a:t>
            </a:r>
            <a:r>
              <a:rPr lang="en-US" err="1"/>
              <a:t>určitého</a:t>
            </a:r>
            <a:r>
              <a:rPr lang="cs-CZ"/>
              <a:t> </a:t>
            </a:r>
            <a:r>
              <a:rPr lang="en-US" err="1"/>
              <a:t>tokenu</a:t>
            </a:r>
            <a:r>
              <a:rPr lang="en-US"/>
              <a:t> </a:t>
            </a:r>
            <a:r>
              <a:rPr lang="en-US" err="1"/>
              <a:t>uživatelem</a:t>
            </a:r>
            <a:r>
              <a:rPr lang="en-US"/>
              <a:t> (</a:t>
            </a:r>
            <a:r>
              <a:rPr lang="en-US" err="1"/>
              <a:t>např</a:t>
            </a:r>
            <a:r>
              <a:rPr lang="en-US"/>
              <a:t>. </a:t>
            </a:r>
            <a:r>
              <a:rPr lang="en-US" err="1"/>
              <a:t>čipové</a:t>
            </a:r>
            <a:r>
              <a:rPr lang="en-US"/>
              <a:t> </a:t>
            </a:r>
            <a:r>
              <a:rPr lang="en-US" err="1"/>
              <a:t>karty</a:t>
            </a:r>
            <a:r>
              <a:rPr lang="en-US"/>
              <a:t>, </a:t>
            </a:r>
            <a:r>
              <a:rPr lang="en-US" err="1"/>
              <a:t>klíče</a:t>
            </a:r>
            <a:r>
              <a:rPr lang="en-US"/>
              <a:t>, </a:t>
            </a:r>
            <a:r>
              <a:rPr lang="en-US" err="1"/>
              <a:t>aj</a:t>
            </a:r>
            <a:r>
              <a:rPr lang="en-US"/>
              <a:t>.).</a:t>
            </a:r>
            <a:endParaRPr lang="cs-CZ"/>
          </a:p>
          <a:p>
            <a:r>
              <a:rPr lang="en-US" err="1"/>
              <a:t>Tuto</a:t>
            </a:r>
            <a:r>
              <a:rPr lang="en-US"/>
              <a:t> </a:t>
            </a:r>
            <a:r>
              <a:rPr lang="en-US" err="1"/>
              <a:t>funkci</a:t>
            </a:r>
            <a:r>
              <a:rPr lang="en-US"/>
              <a:t> </a:t>
            </a:r>
            <a:r>
              <a:rPr lang="en-US" err="1"/>
              <a:t>dnes</a:t>
            </a:r>
            <a:r>
              <a:rPr lang="en-US"/>
              <a:t> </a:t>
            </a:r>
            <a:r>
              <a:rPr lang="en-US" err="1"/>
              <a:t>může</a:t>
            </a:r>
            <a:r>
              <a:rPr lang="en-US"/>
              <a:t> </a:t>
            </a:r>
            <a:r>
              <a:rPr lang="en-US" err="1"/>
              <a:t>převzít</a:t>
            </a:r>
            <a:r>
              <a:rPr lang="en-US"/>
              <a:t> </a:t>
            </a:r>
            <a:r>
              <a:rPr lang="en-US" err="1"/>
              <a:t>například</a:t>
            </a:r>
            <a:r>
              <a:rPr lang="cs-CZ"/>
              <a:t> </a:t>
            </a:r>
            <a:r>
              <a:rPr lang="en-US" err="1"/>
              <a:t>i</a:t>
            </a:r>
            <a:r>
              <a:rPr lang="en-US"/>
              <a:t> </a:t>
            </a:r>
            <a:r>
              <a:rPr lang="en-US" err="1"/>
              <a:t>mobilní</a:t>
            </a:r>
            <a:r>
              <a:rPr lang="en-US"/>
              <a:t> </a:t>
            </a:r>
            <a:r>
              <a:rPr lang="en-US" err="1"/>
              <a:t>telefon</a:t>
            </a:r>
            <a:r>
              <a:rPr lang="en-US"/>
              <a:t>. </a:t>
            </a:r>
            <a:endParaRPr lang="cs-CZ"/>
          </a:p>
          <a:p>
            <a:r>
              <a:rPr lang="en-US" err="1"/>
              <a:t>Nevýhodou</a:t>
            </a:r>
            <a:r>
              <a:rPr lang="en-US"/>
              <a:t> </a:t>
            </a:r>
            <a:r>
              <a:rPr lang="en-US" err="1"/>
              <a:t>ověření</a:t>
            </a:r>
            <a:r>
              <a:rPr lang="en-US"/>
              <a:t> </a:t>
            </a:r>
            <a:r>
              <a:rPr lang="en-US" err="1"/>
              <a:t>na</a:t>
            </a:r>
            <a:r>
              <a:rPr lang="en-US"/>
              <a:t> </a:t>
            </a:r>
            <a:r>
              <a:rPr lang="en-US" err="1"/>
              <a:t>základě</a:t>
            </a:r>
            <a:r>
              <a:rPr lang="en-US"/>
              <a:t> </a:t>
            </a:r>
            <a:r>
              <a:rPr lang="en-US" err="1"/>
              <a:t>vlastnictví</a:t>
            </a:r>
            <a:r>
              <a:rPr lang="en-US"/>
              <a:t> </a:t>
            </a:r>
            <a:r>
              <a:rPr lang="en-US" err="1"/>
              <a:t>předmětu</a:t>
            </a:r>
            <a:r>
              <a:rPr lang="en-US"/>
              <a:t> je </a:t>
            </a:r>
            <a:r>
              <a:rPr lang="en-US" err="1"/>
              <a:t>skutečnost</a:t>
            </a:r>
            <a:r>
              <a:rPr lang="en-US"/>
              <a:t>, </a:t>
            </a:r>
            <a:r>
              <a:rPr lang="en-US" err="1"/>
              <a:t>že</a:t>
            </a:r>
            <a:r>
              <a:rPr lang="en-US"/>
              <a:t> </a:t>
            </a:r>
            <a:r>
              <a:rPr lang="en-US" err="1"/>
              <a:t>i</a:t>
            </a:r>
            <a:r>
              <a:rPr lang="en-US"/>
              <a:t> </a:t>
            </a:r>
            <a:r>
              <a:rPr lang="en-US" err="1"/>
              <a:t>tato</a:t>
            </a:r>
            <a:r>
              <a:rPr lang="cs-CZ"/>
              <a:t> </a:t>
            </a:r>
            <a:r>
              <a:rPr lang="en-US" err="1"/>
              <a:t>zařízení</a:t>
            </a:r>
            <a:r>
              <a:rPr lang="en-US"/>
              <a:t> je </a:t>
            </a:r>
            <a:r>
              <a:rPr lang="en-US" err="1"/>
              <a:t>možné</a:t>
            </a:r>
            <a:r>
              <a:rPr lang="en-US"/>
              <a:t> </a:t>
            </a:r>
            <a:r>
              <a:rPr lang="en-US" err="1"/>
              <a:t>předat</a:t>
            </a:r>
            <a:r>
              <a:rPr lang="en-US"/>
              <a:t>, </a:t>
            </a:r>
            <a:r>
              <a:rPr lang="en-US" err="1"/>
              <a:t>zcizit</a:t>
            </a:r>
            <a:r>
              <a:rPr lang="en-US"/>
              <a:t>, </a:t>
            </a:r>
            <a:r>
              <a:rPr lang="en-US" err="1"/>
              <a:t>ztratit</a:t>
            </a:r>
            <a:r>
              <a:rPr lang="en-US"/>
              <a:t>. </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254</a:t>
            </a:fld>
            <a:endParaRPr lang="cs-CZ"/>
          </a:p>
        </p:txBody>
      </p:sp>
    </p:spTree>
    <p:extLst>
      <p:ext uri="{BB962C8B-B14F-4D97-AF65-F5344CB8AC3E}">
        <p14:creationId xmlns:p14="http://schemas.microsoft.com/office/powerpoint/2010/main" val="2385518761"/>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err="1"/>
              <a:t>Ověřování</a:t>
            </a:r>
            <a:r>
              <a:rPr lang="en-US" b="1"/>
              <a:t> </a:t>
            </a:r>
            <a:r>
              <a:rPr lang="en-US" b="1" err="1"/>
              <a:t>uživatelů</a:t>
            </a:r>
            <a:endParaRPr lang="en-US"/>
          </a:p>
        </p:txBody>
      </p:sp>
      <p:sp>
        <p:nvSpPr>
          <p:cNvPr id="3" name="Content Placeholder 2"/>
          <p:cNvSpPr>
            <a:spLocks noGrp="1"/>
          </p:cNvSpPr>
          <p:nvPr>
            <p:ph idx="1"/>
          </p:nvPr>
        </p:nvSpPr>
        <p:spPr/>
        <p:txBody>
          <a:bodyPr/>
          <a:lstStyle/>
          <a:p>
            <a:r>
              <a:rPr lang="en-US" b="1" err="1"/>
              <a:t>Ověřením</a:t>
            </a:r>
            <a:r>
              <a:rPr lang="en-US" b="1"/>
              <a:t> </a:t>
            </a:r>
            <a:r>
              <a:rPr lang="en-US" b="1" err="1"/>
              <a:t>uživatele</a:t>
            </a:r>
            <a:r>
              <a:rPr lang="en-US" b="1"/>
              <a:t> </a:t>
            </a:r>
            <a:r>
              <a:rPr lang="en-US" b="1" err="1"/>
              <a:t>na</a:t>
            </a:r>
            <a:r>
              <a:rPr lang="en-US" b="1"/>
              <a:t> </a:t>
            </a:r>
            <a:r>
              <a:rPr lang="en-US" b="1" err="1"/>
              <a:t>základě</a:t>
            </a:r>
            <a:r>
              <a:rPr lang="en-US" b="1"/>
              <a:t> </a:t>
            </a:r>
            <a:r>
              <a:rPr lang="en-US" b="1" err="1"/>
              <a:t>toho</a:t>
            </a:r>
            <a:r>
              <a:rPr lang="en-US" b="1"/>
              <a:t> </a:t>
            </a:r>
            <a:r>
              <a:rPr lang="en-US" b="1" err="1"/>
              <a:t>čím</a:t>
            </a:r>
            <a:r>
              <a:rPr lang="en-US" b="1"/>
              <a:t> je </a:t>
            </a:r>
            <a:r>
              <a:rPr lang="en-US"/>
              <a:t>se </a:t>
            </a:r>
            <a:r>
              <a:rPr lang="en-US" err="1"/>
              <a:t>zabývá</a:t>
            </a:r>
            <a:r>
              <a:rPr lang="en-US"/>
              <a:t> </a:t>
            </a:r>
            <a:r>
              <a:rPr lang="en-US" err="1"/>
              <a:t>biometrie</a:t>
            </a:r>
            <a:r>
              <a:rPr lang="en-US"/>
              <a:t>, </a:t>
            </a:r>
            <a:r>
              <a:rPr lang="en-US" err="1"/>
              <a:t>která</a:t>
            </a:r>
            <a:r>
              <a:rPr lang="en-US"/>
              <a:t> </a:t>
            </a:r>
            <a:r>
              <a:rPr lang="en-US" err="1"/>
              <a:t>rozpoznává</a:t>
            </a:r>
            <a:r>
              <a:rPr lang="en-US"/>
              <a:t> </a:t>
            </a:r>
            <a:r>
              <a:rPr lang="en-US" err="1"/>
              <a:t>jedinečné</a:t>
            </a:r>
            <a:r>
              <a:rPr lang="cs-CZ"/>
              <a:t> </a:t>
            </a:r>
            <a:r>
              <a:rPr lang="en-US" err="1"/>
              <a:t>biologické</a:t>
            </a:r>
            <a:r>
              <a:rPr lang="en-US"/>
              <a:t> </a:t>
            </a:r>
            <a:r>
              <a:rPr lang="en-US" err="1"/>
              <a:t>charakteristiky</a:t>
            </a:r>
            <a:r>
              <a:rPr lang="en-US"/>
              <a:t> </a:t>
            </a:r>
            <a:r>
              <a:rPr lang="en-US" err="1"/>
              <a:t>daného</a:t>
            </a:r>
            <a:r>
              <a:rPr lang="en-US"/>
              <a:t> </a:t>
            </a:r>
            <a:r>
              <a:rPr lang="en-US" err="1"/>
              <a:t>uživatele</a:t>
            </a:r>
            <a:r>
              <a:rPr lang="en-US"/>
              <a:t>.</a:t>
            </a:r>
            <a:endParaRPr lang="cs-CZ"/>
          </a:p>
          <a:p>
            <a:r>
              <a:rPr lang="en-US" err="1"/>
              <a:t>Existuje</a:t>
            </a:r>
            <a:r>
              <a:rPr lang="en-US"/>
              <a:t> </a:t>
            </a:r>
            <a:r>
              <a:rPr lang="en-US" err="1"/>
              <a:t>několik</a:t>
            </a:r>
            <a:r>
              <a:rPr lang="en-US"/>
              <a:t> </a:t>
            </a:r>
            <a:r>
              <a:rPr lang="en-US" err="1"/>
              <a:t>charakteristik</a:t>
            </a:r>
            <a:r>
              <a:rPr lang="en-US"/>
              <a:t>, u </a:t>
            </a:r>
            <a:r>
              <a:rPr lang="en-US" err="1"/>
              <a:t>nichž</a:t>
            </a:r>
            <a:r>
              <a:rPr lang="en-US"/>
              <a:t> se</a:t>
            </a:r>
            <a:r>
              <a:rPr lang="cs-CZ"/>
              <a:t> </a:t>
            </a:r>
            <a:r>
              <a:rPr lang="en-US" err="1"/>
              <a:t>předpokládá</a:t>
            </a:r>
            <a:r>
              <a:rPr lang="en-US"/>
              <a:t> </a:t>
            </a:r>
            <a:r>
              <a:rPr lang="en-US" err="1"/>
              <a:t>nebo</a:t>
            </a:r>
            <a:r>
              <a:rPr lang="en-US"/>
              <a:t> je </a:t>
            </a:r>
            <a:r>
              <a:rPr lang="en-US" err="1"/>
              <a:t>matematicky</a:t>
            </a:r>
            <a:r>
              <a:rPr lang="en-US"/>
              <a:t> </a:t>
            </a:r>
            <a:r>
              <a:rPr lang="en-US" err="1"/>
              <a:t>prokázáno</a:t>
            </a:r>
            <a:r>
              <a:rPr lang="en-US"/>
              <a:t>, </a:t>
            </a:r>
            <a:r>
              <a:rPr lang="en-US" err="1"/>
              <a:t>že</a:t>
            </a:r>
            <a:r>
              <a:rPr lang="en-US"/>
              <a:t> </a:t>
            </a:r>
            <a:r>
              <a:rPr lang="en-US" err="1"/>
              <a:t>jsou</a:t>
            </a:r>
            <a:r>
              <a:rPr lang="en-US"/>
              <a:t> pro </a:t>
            </a:r>
            <a:r>
              <a:rPr lang="en-US" err="1"/>
              <a:t>každého</a:t>
            </a:r>
            <a:r>
              <a:rPr lang="en-US"/>
              <a:t> </a:t>
            </a:r>
            <a:r>
              <a:rPr lang="en-US" err="1"/>
              <a:t>člověka</a:t>
            </a:r>
            <a:r>
              <a:rPr lang="en-US"/>
              <a:t> </a:t>
            </a:r>
            <a:r>
              <a:rPr lang="en-US" err="1"/>
              <a:t>unikátní</a:t>
            </a:r>
            <a:r>
              <a:rPr lang="en-US"/>
              <a:t>.</a:t>
            </a:r>
            <a:endParaRPr lang="cs-CZ"/>
          </a:p>
          <a:p>
            <a:r>
              <a:rPr lang="en-US" err="1"/>
              <a:t>Uvedené</a:t>
            </a:r>
            <a:r>
              <a:rPr lang="cs-CZ"/>
              <a:t> </a:t>
            </a:r>
            <a:r>
              <a:rPr lang="en-US" err="1"/>
              <a:t>charakteristiky</a:t>
            </a:r>
            <a:r>
              <a:rPr lang="en-US"/>
              <a:t> </a:t>
            </a:r>
            <a:r>
              <a:rPr lang="en-US" err="1"/>
              <a:t>jsou</a:t>
            </a:r>
            <a:r>
              <a:rPr lang="en-US"/>
              <a:t> </a:t>
            </a:r>
            <a:r>
              <a:rPr lang="en-US" err="1"/>
              <a:t>často</a:t>
            </a:r>
            <a:r>
              <a:rPr lang="en-US"/>
              <a:t> </a:t>
            </a:r>
            <a:r>
              <a:rPr lang="en-US" err="1"/>
              <a:t>využívány</a:t>
            </a:r>
            <a:r>
              <a:rPr lang="en-US"/>
              <a:t> </a:t>
            </a:r>
            <a:r>
              <a:rPr lang="en-US" err="1"/>
              <a:t>jinými</a:t>
            </a:r>
            <a:r>
              <a:rPr lang="en-US"/>
              <a:t> </a:t>
            </a:r>
            <a:r>
              <a:rPr lang="en-US" err="1"/>
              <a:t>vědními</a:t>
            </a:r>
            <a:r>
              <a:rPr lang="en-US"/>
              <a:t> </a:t>
            </a:r>
            <a:r>
              <a:rPr lang="en-US" err="1"/>
              <a:t>obory</a:t>
            </a:r>
            <a:r>
              <a:rPr lang="en-US"/>
              <a:t> (</a:t>
            </a:r>
            <a:r>
              <a:rPr lang="en-US" err="1"/>
              <a:t>např</a:t>
            </a:r>
            <a:r>
              <a:rPr lang="en-US"/>
              <a:t>. </a:t>
            </a:r>
            <a:r>
              <a:rPr lang="en-US" err="1"/>
              <a:t>kriminalistika</a:t>
            </a:r>
            <a:r>
              <a:rPr lang="en-US"/>
              <a:t>) k </a:t>
            </a:r>
            <a:r>
              <a:rPr lang="en-US" err="1"/>
              <a:t>jedinečné</a:t>
            </a:r>
            <a:r>
              <a:rPr lang="cs-CZ"/>
              <a:t> </a:t>
            </a:r>
            <a:r>
              <a:rPr lang="en-US" err="1"/>
              <a:t>identifikaci</a:t>
            </a:r>
            <a:r>
              <a:rPr lang="en-US"/>
              <a:t> </a:t>
            </a:r>
            <a:r>
              <a:rPr lang="en-US" err="1"/>
              <a:t>člověka</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255</a:t>
            </a:fld>
            <a:endParaRPr lang="cs-CZ"/>
          </a:p>
        </p:txBody>
      </p:sp>
    </p:spTree>
    <p:extLst>
      <p:ext uri="{BB962C8B-B14F-4D97-AF65-F5344CB8AC3E}">
        <p14:creationId xmlns:p14="http://schemas.microsoft.com/office/powerpoint/2010/main" val="998854611"/>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err="1"/>
              <a:t>Ověřování</a:t>
            </a:r>
            <a:r>
              <a:rPr lang="en-US" b="1"/>
              <a:t> </a:t>
            </a:r>
            <a:r>
              <a:rPr lang="en-US" b="1" err="1"/>
              <a:t>uživatelů</a:t>
            </a:r>
            <a:endParaRPr lang="en-US"/>
          </a:p>
        </p:txBody>
      </p:sp>
      <p:sp>
        <p:nvSpPr>
          <p:cNvPr id="3" name="Content Placeholder 2"/>
          <p:cNvSpPr>
            <a:spLocks noGrp="1"/>
          </p:cNvSpPr>
          <p:nvPr>
            <p:ph idx="1"/>
          </p:nvPr>
        </p:nvSpPr>
        <p:spPr/>
        <p:txBody>
          <a:bodyPr/>
          <a:lstStyle/>
          <a:p>
            <a:r>
              <a:rPr lang="en-US" err="1"/>
              <a:t>Uživatele</a:t>
            </a:r>
            <a:r>
              <a:rPr lang="en-US"/>
              <a:t> je </a:t>
            </a:r>
            <a:r>
              <a:rPr lang="en-US" err="1"/>
              <a:t>možné</a:t>
            </a:r>
            <a:r>
              <a:rPr lang="en-US"/>
              <a:t> </a:t>
            </a:r>
            <a:r>
              <a:rPr lang="en-US" err="1"/>
              <a:t>ověřovat</a:t>
            </a:r>
            <a:r>
              <a:rPr lang="en-US"/>
              <a:t> </a:t>
            </a:r>
            <a:r>
              <a:rPr lang="en-US" err="1"/>
              <a:t>podle</a:t>
            </a:r>
            <a:r>
              <a:rPr lang="en-US"/>
              <a:t> </a:t>
            </a:r>
            <a:r>
              <a:rPr lang="en-US" err="1"/>
              <a:t>otisku</a:t>
            </a:r>
            <a:r>
              <a:rPr lang="en-US"/>
              <a:t> </a:t>
            </a:r>
            <a:r>
              <a:rPr lang="en-US" err="1"/>
              <a:t>prstu</a:t>
            </a:r>
            <a:r>
              <a:rPr lang="en-US"/>
              <a:t>, </a:t>
            </a:r>
            <a:r>
              <a:rPr lang="en-US" err="1"/>
              <a:t>podle</a:t>
            </a:r>
            <a:r>
              <a:rPr lang="en-US"/>
              <a:t> </a:t>
            </a:r>
            <a:r>
              <a:rPr lang="en-US" err="1"/>
              <a:t>obličeje</a:t>
            </a:r>
            <a:r>
              <a:rPr lang="en-US"/>
              <a:t>, </a:t>
            </a:r>
            <a:r>
              <a:rPr lang="en-US" err="1"/>
              <a:t>dynamiky</a:t>
            </a:r>
            <a:r>
              <a:rPr lang="en-US"/>
              <a:t> </a:t>
            </a:r>
            <a:r>
              <a:rPr lang="en-US" err="1"/>
              <a:t>při</a:t>
            </a:r>
            <a:r>
              <a:rPr lang="en-US"/>
              <a:t> </a:t>
            </a:r>
            <a:r>
              <a:rPr lang="en-US" err="1"/>
              <a:t>psaní</a:t>
            </a:r>
            <a:r>
              <a:rPr lang="en-US"/>
              <a:t>, </a:t>
            </a:r>
            <a:r>
              <a:rPr lang="en-US" err="1"/>
              <a:t>hlasu</a:t>
            </a:r>
            <a:r>
              <a:rPr lang="en-US"/>
              <a:t>,</a:t>
            </a:r>
            <a:r>
              <a:rPr lang="cs-CZ"/>
              <a:t> </a:t>
            </a:r>
            <a:r>
              <a:rPr lang="en-US" err="1"/>
              <a:t>mozkových</a:t>
            </a:r>
            <a:r>
              <a:rPr lang="en-US"/>
              <a:t> </a:t>
            </a:r>
            <a:r>
              <a:rPr lang="en-US" err="1"/>
              <a:t>vln</a:t>
            </a:r>
            <a:r>
              <a:rPr lang="en-US"/>
              <a:t>, </a:t>
            </a:r>
            <a:r>
              <a:rPr lang="en-US" err="1"/>
              <a:t>oční</a:t>
            </a:r>
            <a:r>
              <a:rPr lang="en-US"/>
              <a:t> </a:t>
            </a:r>
            <a:r>
              <a:rPr lang="en-US" err="1"/>
              <a:t>duhovky</a:t>
            </a:r>
            <a:r>
              <a:rPr lang="en-US"/>
              <a:t>, </a:t>
            </a:r>
            <a:r>
              <a:rPr lang="en-US" err="1"/>
              <a:t>krevního</a:t>
            </a:r>
            <a:r>
              <a:rPr lang="en-US"/>
              <a:t> </a:t>
            </a:r>
            <a:r>
              <a:rPr lang="en-US" err="1"/>
              <a:t>řečiště</a:t>
            </a:r>
            <a:r>
              <a:rPr lang="en-US"/>
              <a:t> </a:t>
            </a:r>
            <a:r>
              <a:rPr lang="en-US" err="1"/>
              <a:t>atd</a:t>
            </a:r>
            <a:r>
              <a:rPr lang="en-US"/>
              <a:t>.</a:t>
            </a:r>
            <a:endParaRPr lang="cs-CZ"/>
          </a:p>
          <a:p>
            <a:r>
              <a:rPr lang="en-US" err="1"/>
              <a:t>Pokud</a:t>
            </a:r>
            <a:r>
              <a:rPr lang="en-US"/>
              <a:t> </a:t>
            </a:r>
            <a:r>
              <a:rPr lang="en-US" err="1"/>
              <a:t>někdo</a:t>
            </a:r>
            <a:r>
              <a:rPr lang="en-US"/>
              <a:t> </a:t>
            </a:r>
            <a:r>
              <a:rPr lang="en-US" err="1"/>
              <a:t>ukradne</a:t>
            </a:r>
            <a:r>
              <a:rPr lang="en-US"/>
              <a:t> </a:t>
            </a:r>
            <a:r>
              <a:rPr lang="en-US" err="1"/>
              <a:t>vaše</a:t>
            </a:r>
            <a:r>
              <a:rPr lang="en-US"/>
              <a:t> </a:t>
            </a:r>
            <a:r>
              <a:rPr lang="en-US" err="1"/>
              <a:t>heslo</a:t>
            </a:r>
            <a:r>
              <a:rPr lang="en-US"/>
              <a:t>, </a:t>
            </a:r>
            <a:r>
              <a:rPr lang="en-US" err="1"/>
              <a:t>můžete</a:t>
            </a:r>
            <a:r>
              <a:rPr lang="en-US"/>
              <a:t> </a:t>
            </a:r>
            <a:r>
              <a:rPr lang="en-US" err="1"/>
              <a:t>jej</a:t>
            </a:r>
            <a:r>
              <a:rPr lang="en-US"/>
              <a:t> </a:t>
            </a:r>
            <a:r>
              <a:rPr lang="en-US" err="1"/>
              <a:t>změnit</a:t>
            </a:r>
            <a:r>
              <a:rPr lang="en-US"/>
              <a:t>.</a:t>
            </a:r>
            <a:r>
              <a:rPr lang="cs-CZ"/>
              <a:t> </a:t>
            </a:r>
          </a:p>
          <a:p>
            <a:r>
              <a:rPr lang="en-US"/>
              <a:t>Ale </a:t>
            </a:r>
            <a:r>
              <a:rPr lang="en-US" err="1"/>
              <a:t>pokud</a:t>
            </a:r>
            <a:r>
              <a:rPr lang="en-US"/>
              <a:t> </a:t>
            </a:r>
            <a:r>
              <a:rPr lang="en-US" err="1"/>
              <a:t>někdo</a:t>
            </a:r>
            <a:r>
              <a:rPr lang="en-US"/>
              <a:t> </a:t>
            </a:r>
            <a:r>
              <a:rPr lang="en-US" err="1"/>
              <a:t>ukradne</a:t>
            </a:r>
            <a:r>
              <a:rPr lang="en-US"/>
              <a:t> </a:t>
            </a:r>
            <a:r>
              <a:rPr lang="en-US" err="1"/>
              <a:t>vaše</a:t>
            </a:r>
            <a:r>
              <a:rPr lang="en-US"/>
              <a:t> </a:t>
            </a:r>
            <a:r>
              <a:rPr lang="en-US" err="1"/>
              <a:t>otisky</a:t>
            </a:r>
            <a:r>
              <a:rPr lang="en-US"/>
              <a:t>, </a:t>
            </a:r>
            <a:r>
              <a:rPr lang="en-US" err="1"/>
              <a:t>nemůžete</a:t>
            </a:r>
            <a:r>
              <a:rPr lang="en-US"/>
              <a:t> </a:t>
            </a:r>
            <a:r>
              <a:rPr lang="en-US" err="1"/>
              <a:t>získat</a:t>
            </a:r>
            <a:r>
              <a:rPr lang="en-US"/>
              <a:t> </a:t>
            </a:r>
            <a:r>
              <a:rPr lang="en-US" err="1"/>
              <a:t>nový</a:t>
            </a:r>
            <a:r>
              <a:rPr lang="en-US"/>
              <a:t> </a:t>
            </a:r>
            <a:r>
              <a:rPr lang="en-US" err="1"/>
              <a:t>palec</a:t>
            </a:r>
            <a:r>
              <a:rPr lang="en-US"/>
              <a:t>.</a:t>
            </a:r>
            <a:endParaRPr lang="cs-CZ"/>
          </a:p>
          <a:p>
            <a:r>
              <a:rPr lang="en-US" err="1"/>
              <a:t>Režimy</a:t>
            </a:r>
            <a:r>
              <a:rPr lang="en-US"/>
              <a:t> </a:t>
            </a:r>
            <a:r>
              <a:rPr lang="en-US" err="1"/>
              <a:t>selhání</a:t>
            </a:r>
            <a:r>
              <a:rPr lang="en-US"/>
              <a:t> </a:t>
            </a:r>
            <a:r>
              <a:rPr lang="en-US" err="1"/>
              <a:t>jsou</a:t>
            </a:r>
            <a:r>
              <a:rPr lang="en-US"/>
              <a:t> </a:t>
            </a:r>
            <a:r>
              <a:rPr lang="en-US" err="1"/>
              <a:t>velmi</a:t>
            </a:r>
            <a:r>
              <a:rPr lang="en-US"/>
              <a:t> </a:t>
            </a:r>
            <a:r>
              <a:rPr lang="en-US" err="1"/>
              <a:t>odlišné</a:t>
            </a:r>
            <a:r>
              <a:rPr lang="en-US"/>
              <a:t>.</a:t>
            </a:r>
            <a:br>
              <a:rPr lang="en-US"/>
            </a:br>
            <a:br>
              <a:rPr lang="en-US"/>
            </a:b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256</a:t>
            </a:fld>
            <a:endParaRPr lang="cs-CZ"/>
          </a:p>
        </p:txBody>
      </p:sp>
    </p:spTree>
    <p:extLst>
      <p:ext uri="{BB962C8B-B14F-4D97-AF65-F5344CB8AC3E}">
        <p14:creationId xmlns:p14="http://schemas.microsoft.com/office/powerpoint/2010/main" val="227413415"/>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err="1"/>
              <a:t>Hesla</a:t>
            </a:r>
            <a:endParaRPr lang="en-US"/>
          </a:p>
        </p:txBody>
      </p:sp>
      <p:sp>
        <p:nvSpPr>
          <p:cNvPr id="3" name="Content Placeholder 2"/>
          <p:cNvSpPr>
            <a:spLocks noGrp="1"/>
          </p:cNvSpPr>
          <p:nvPr>
            <p:ph idx="1"/>
          </p:nvPr>
        </p:nvSpPr>
        <p:spPr/>
        <p:txBody>
          <a:bodyPr>
            <a:normAutofit/>
          </a:bodyPr>
          <a:lstStyle/>
          <a:p>
            <a:r>
              <a:rPr lang="en-US" err="1"/>
              <a:t>Hesla</a:t>
            </a:r>
            <a:r>
              <a:rPr lang="en-US"/>
              <a:t> </a:t>
            </a:r>
            <a:r>
              <a:rPr lang="en-US" err="1"/>
              <a:t>stále</a:t>
            </a:r>
            <a:r>
              <a:rPr lang="en-US"/>
              <a:t> </a:t>
            </a:r>
            <a:r>
              <a:rPr lang="en-US" err="1"/>
              <a:t>představují</a:t>
            </a:r>
            <a:r>
              <a:rPr lang="en-US"/>
              <a:t> </a:t>
            </a:r>
            <a:r>
              <a:rPr lang="en-US" err="1"/>
              <a:t>nejrozšířenější</a:t>
            </a:r>
            <a:r>
              <a:rPr lang="en-US"/>
              <a:t> </a:t>
            </a:r>
            <a:r>
              <a:rPr lang="en-US" err="1"/>
              <a:t>způsob</a:t>
            </a:r>
            <a:r>
              <a:rPr lang="en-US"/>
              <a:t> </a:t>
            </a:r>
            <a:r>
              <a:rPr lang="en-US" err="1"/>
              <a:t>autentizace</a:t>
            </a:r>
            <a:r>
              <a:rPr lang="en-US"/>
              <a:t> </a:t>
            </a:r>
            <a:r>
              <a:rPr lang="en-US" err="1"/>
              <a:t>uživatelů</a:t>
            </a:r>
            <a:r>
              <a:rPr lang="en-US"/>
              <a:t>, a proto je </a:t>
            </a:r>
            <a:r>
              <a:rPr lang="en-US" err="1"/>
              <a:t>vhodné</a:t>
            </a:r>
            <a:r>
              <a:rPr lang="en-US"/>
              <a:t> </a:t>
            </a:r>
            <a:r>
              <a:rPr lang="en-US" err="1"/>
              <a:t>jim</a:t>
            </a:r>
            <a:r>
              <a:rPr lang="cs-CZ"/>
              <a:t> </a:t>
            </a:r>
            <a:r>
              <a:rPr lang="en-US" err="1"/>
              <a:t>věnovat</a:t>
            </a:r>
            <a:r>
              <a:rPr lang="en-US"/>
              <a:t> </a:t>
            </a:r>
            <a:r>
              <a:rPr lang="en-US" err="1"/>
              <a:t>větší</a:t>
            </a:r>
            <a:r>
              <a:rPr lang="en-US"/>
              <a:t> </a:t>
            </a:r>
            <a:r>
              <a:rPr lang="en-US" err="1"/>
              <a:t>pozornost</a:t>
            </a:r>
            <a:r>
              <a:rPr lang="en-US"/>
              <a:t>. </a:t>
            </a:r>
            <a:endParaRPr lang="cs-CZ"/>
          </a:p>
          <a:p>
            <a:r>
              <a:rPr lang="en-US" err="1"/>
              <a:t>Jak</a:t>
            </a:r>
            <a:r>
              <a:rPr lang="en-US"/>
              <a:t> </a:t>
            </a:r>
            <a:r>
              <a:rPr lang="en-US" err="1"/>
              <a:t>již</a:t>
            </a:r>
            <a:r>
              <a:rPr lang="en-US"/>
              <a:t> </a:t>
            </a:r>
            <a:r>
              <a:rPr lang="en-US" err="1"/>
              <a:t>bylo</a:t>
            </a:r>
            <a:r>
              <a:rPr lang="en-US"/>
              <a:t> </a:t>
            </a:r>
            <a:r>
              <a:rPr lang="en-US" err="1"/>
              <a:t>uvedeno</a:t>
            </a:r>
            <a:r>
              <a:rPr lang="en-US"/>
              <a:t>, </a:t>
            </a:r>
            <a:r>
              <a:rPr lang="en-US" err="1"/>
              <a:t>heslo</a:t>
            </a:r>
            <a:r>
              <a:rPr lang="en-US"/>
              <a:t> je </a:t>
            </a:r>
            <a:r>
              <a:rPr lang="en-US" err="1"/>
              <a:t>po</a:t>
            </a:r>
            <a:r>
              <a:rPr lang="en-US"/>
              <a:t> </a:t>
            </a:r>
            <a:r>
              <a:rPr lang="en-US" err="1"/>
              <a:t>zadání</a:t>
            </a:r>
            <a:r>
              <a:rPr lang="en-US"/>
              <a:t> </a:t>
            </a:r>
            <a:r>
              <a:rPr lang="en-US" err="1"/>
              <a:t>uživatelem</a:t>
            </a:r>
            <a:r>
              <a:rPr lang="en-US"/>
              <a:t> </a:t>
            </a:r>
            <a:r>
              <a:rPr lang="en-US" err="1"/>
              <a:t>porovnáno</a:t>
            </a:r>
            <a:r>
              <a:rPr lang="en-US"/>
              <a:t> s </a:t>
            </a:r>
            <a:r>
              <a:rPr lang="en-US" err="1"/>
              <a:t>heslem</a:t>
            </a:r>
            <a:r>
              <a:rPr lang="en-US"/>
              <a:t>,</a:t>
            </a:r>
            <a:r>
              <a:rPr lang="cs-CZ"/>
              <a:t> </a:t>
            </a:r>
            <a:r>
              <a:rPr lang="en-US" err="1"/>
              <a:t>které</a:t>
            </a:r>
            <a:r>
              <a:rPr lang="en-US"/>
              <a:t> </a:t>
            </a:r>
            <a:r>
              <a:rPr lang="en-US" err="1"/>
              <a:t>uživatel</a:t>
            </a:r>
            <a:r>
              <a:rPr lang="en-US"/>
              <a:t> </a:t>
            </a:r>
            <a:r>
              <a:rPr lang="en-US" err="1"/>
              <a:t>zadal</a:t>
            </a:r>
            <a:r>
              <a:rPr lang="en-US"/>
              <a:t> do </a:t>
            </a:r>
            <a:r>
              <a:rPr lang="en-US" err="1"/>
              <a:t>systému</a:t>
            </a:r>
            <a:r>
              <a:rPr lang="en-US"/>
              <a:t> </a:t>
            </a:r>
            <a:r>
              <a:rPr lang="en-US" err="1"/>
              <a:t>již</a:t>
            </a:r>
            <a:r>
              <a:rPr lang="en-US"/>
              <a:t> </a:t>
            </a:r>
            <a:r>
              <a:rPr lang="en-US" err="1"/>
              <a:t>dříve</a:t>
            </a:r>
            <a:r>
              <a:rPr lang="en-US"/>
              <a:t>.</a:t>
            </a:r>
            <a:endParaRPr lang="cs-CZ"/>
          </a:p>
          <a:p>
            <a:r>
              <a:rPr lang="en-US" err="1"/>
              <a:t>Tím</a:t>
            </a:r>
            <a:r>
              <a:rPr lang="en-US"/>
              <a:t> </a:t>
            </a:r>
            <a:r>
              <a:rPr lang="en-US" err="1"/>
              <a:t>vzniká</a:t>
            </a:r>
            <a:r>
              <a:rPr lang="en-US"/>
              <a:t> </a:t>
            </a:r>
            <a:r>
              <a:rPr lang="en-US" err="1"/>
              <a:t>první</a:t>
            </a:r>
            <a:r>
              <a:rPr lang="en-US"/>
              <a:t> </a:t>
            </a:r>
            <a:r>
              <a:rPr lang="en-US" err="1"/>
              <a:t>problém</a:t>
            </a:r>
            <a:r>
              <a:rPr lang="en-US"/>
              <a:t>, </a:t>
            </a:r>
            <a:r>
              <a:rPr lang="en-US" err="1"/>
              <a:t>který</a:t>
            </a:r>
            <a:r>
              <a:rPr lang="en-US"/>
              <a:t> </a:t>
            </a:r>
            <a:r>
              <a:rPr lang="en-US" err="1"/>
              <a:t>spočívá</a:t>
            </a:r>
            <a:r>
              <a:rPr lang="en-US"/>
              <a:t> v </a:t>
            </a:r>
            <a:r>
              <a:rPr lang="en-US" b="1" err="1"/>
              <a:t>procesu</a:t>
            </a:r>
            <a:r>
              <a:rPr lang="en-US"/>
              <a:t> </a:t>
            </a:r>
            <a:r>
              <a:rPr lang="en-US" b="1" err="1"/>
              <a:t>uložení</a:t>
            </a:r>
            <a:r>
              <a:rPr lang="en-US" b="1"/>
              <a:t> </a:t>
            </a:r>
            <a:r>
              <a:rPr lang="en-US" b="1" err="1"/>
              <a:t>hesla</a:t>
            </a:r>
            <a:r>
              <a:rPr lang="en-US" b="1"/>
              <a:t> do </a:t>
            </a:r>
            <a:r>
              <a:rPr lang="en-US" b="1" err="1"/>
              <a:t>systému</a:t>
            </a:r>
            <a:r>
              <a:rPr lang="en-US" b="1"/>
              <a:t> </a:t>
            </a:r>
            <a:r>
              <a:rPr lang="en-US" err="1"/>
              <a:t>tak</a:t>
            </a:r>
            <a:r>
              <a:rPr lang="en-US"/>
              <a:t>, </a:t>
            </a:r>
            <a:r>
              <a:rPr lang="en-US" err="1"/>
              <a:t>aby</a:t>
            </a:r>
            <a:r>
              <a:rPr lang="en-US"/>
              <a:t> </a:t>
            </a:r>
            <a:r>
              <a:rPr lang="en-US" err="1"/>
              <a:t>sek</a:t>
            </a:r>
            <a:r>
              <a:rPr lang="en-US"/>
              <a:t> </a:t>
            </a:r>
            <a:r>
              <a:rPr lang="en-US" err="1"/>
              <a:t>němu</a:t>
            </a:r>
            <a:r>
              <a:rPr lang="en-US"/>
              <a:t> </a:t>
            </a:r>
            <a:r>
              <a:rPr lang="en-US" err="1"/>
              <a:t>nedostal</a:t>
            </a:r>
            <a:r>
              <a:rPr lang="en-US"/>
              <a:t> </a:t>
            </a:r>
            <a:r>
              <a:rPr lang="en-US" err="1"/>
              <a:t>útočník</a:t>
            </a:r>
            <a:r>
              <a:rPr lang="en-US"/>
              <a:t>, </a:t>
            </a:r>
            <a:r>
              <a:rPr lang="en-US" err="1"/>
              <a:t>pokud</a:t>
            </a:r>
            <a:r>
              <a:rPr lang="en-US"/>
              <a:t> se mu </a:t>
            </a:r>
            <a:r>
              <a:rPr lang="en-US" err="1"/>
              <a:t>podaří</a:t>
            </a:r>
            <a:r>
              <a:rPr lang="en-US"/>
              <a:t> do </a:t>
            </a:r>
            <a:r>
              <a:rPr lang="en-US" err="1"/>
              <a:t>systému</a:t>
            </a:r>
            <a:r>
              <a:rPr lang="en-US"/>
              <a:t> </a:t>
            </a:r>
            <a:r>
              <a:rPr lang="en-US" err="1"/>
              <a:t>proniknout</a:t>
            </a:r>
            <a:r>
              <a:rPr lang="en-US"/>
              <a:t>. </a:t>
            </a:r>
            <a:endParaRPr lang="cs-CZ"/>
          </a:p>
          <a:p>
            <a:r>
              <a:rPr lang="en-US" err="1"/>
              <a:t>Další</a:t>
            </a:r>
            <a:r>
              <a:rPr lang="en-US"/>
              <a:t> </a:t>
            </a:r>
            <a:r>
              <a:rPr lang="en-US" err="1"/>
              <a:t>potencionální</a:t>
            </a:r>
            <a:r>
              <a:rPr lang="cs-CZ"/>
              <a:t> </a:t>
            </a:r>
            <a:r>
              <a:rPr lang="en-US" err="1"/>
              <a:t>riziko</a:t>
            </a:r>
            <a:r>
              <a:rPr lang="en-US"/>
              <a:t> </a:t>
            </a:r>
            <a:r>
              <a:rPr lang="en-US" err="1"/>
              <a:t>představuje</a:t>
            </a:r>
            <a:r>
              <a:rPr lang="en-US"/>
              <a:t> </a:t>
            </a:r>
            <a:r>
              <a:rPr lang="en-US" err="1"/>
              <a:t>i</a:t>
            </a:r>
            <a:r>
              <a:rPr lang="en-US"/>
              <a:t> </a:t>
            </a:r>
            <a:r>
              <a:rPr lang="en-US" err="1"/>
              <a:t>oprávněný</a:t>
            </a:r>
            <a:r>
              <a:rPr lang="en-US"/>
              <a:t> </a:t>
            </a:r>
            <a:r>
              <a:rPr lang="en-US" err="1"/>
              <a:t>správce</a:t>
            </a:r>
            <a:r>
              <a:rPr lang="en-US"/>
              <a:t> </a:t>
            </a:r>
            <a:r>
              <a:rPr lang="en-US" err="1"/>
              <a:t>systému</a:t>
            </a:r>
            <a:r>
              <a:rPr lang="en-US"/>
              <a:t>, </a:t>
            </a:r>
            <a:r>
              <a:rPr lang="en-US" err="1"/>
              <a:t>který</a:t>
            </a:r>
            <a:r>
              <a:rPr lang="en-US"/>
              <a:t> </a:t>
            </a:r>
            <a:r>
              <a:rPr lang="en-US" err="1"/>
              <a:t>má</a:t>
            </a:r>
            <a:r>
              <a:rPr lang="en-US"/>
              <a:t> z </a:t>
            </a:r>
            <a:r>
              <a:rPr lang="en-US" err="1"/>
              <a:t>principu</a:t>
            </a:r>
            <a:r>
              <a:rPr lang="en-US"/>
              <a:t> </a:t>
            </a:r>
            <a:r>
              <a:rPr lang="en-US" err="1"/>
              <a:t>přístup</a:t>
            </a:r>
            <a:r>
              <a:rPr lang="en-US"/>
              <a:t> do </a:t>
            </a:r>
            <a:r>
              <a:rPr lang="en-US" err="1"/>
              <a:t>celého</a:t>
            </a:r>
            <a:r>
              <a:rPr lang="en-US"/>
              <a:t> </a:t>
            </a:r>
            <a:r>
              <a:rPr lang="en-US" err="1"/>
              <a:t>systému</a:t>
            </a:r>
            <a:r>
              <a:rPr lang="cs-CZ"/>
              <a:t> </a:t>
            </a:r>
            <a:r>
              <a:rPr lang="en-US"/>
              <a:t>a </a:t>
            </a:r>
            <a:r>
              <a:rPr lang="en-US" err="1"/>
              <a:t>mohl</a:t>
            </a:r>
            <a:r>
              <a:rPr lang="en-US"/>
              <a:t> by </a:t>
            </a:r>
            <a:r>
              <a:rPr lang="en-US" err="1"/>
              <a:t>si</a:t>
            </a:r>
            <a:r>
              <a:rPr lang="en-US"/>
              <a:t> </a:t>
            </a:r>
            <a:r>
              <a:rPr lang="en-US" err="1"/>
              <a:t>tak</a:t>
            </a:r>
            <a:r>
              <a:rPr lang="en-US"/>
              <a:t> </a:t>
            </a:r>
            <a:r>
              <a:rPr lang="en-US" err="1"/>
              <a:t>přečíst</a:t>
            </a:r>
            <a:r>
              <a:rPr lang="en-US"/>
              <a:t> </a:t>
            </a:r>
            <a:r>
              <a:rPr lang="en-US" err="1"/>
              <a:t>heslo</a:t>
            </a:r>
            <a:r>
              <a:rPr lang="en-US"/>
              <a:t> </a:t>
            </a:r>
            <a:r>
              <a:rPr lang="en-US" err="1"/>
              <a:t>uživatele</a:t>
            </a:r>
            <a:r>
              <a:rPr lang="en-US"/>
              <a:t> a </a:t>
            </a:r>
            <a:r>
              <a:rPr lang="en-US" err="1"/>
              <a:t>následně</a:t>
            </a:r>
            <a:r>
              <a:rPr lang="en-US"/>
              <a:t> je </a:t>
            </a:r>
            <a:r>
              <a:rPr lang="en-US" err="1"/>
              <a:t>zneužít</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257</a:t>
            </a:fld>
            <a:endParaRPr lang="cs-CZ"/>
          </a:p>
        </p:txBody>
      </p:sp>
    </p:spTree>
    <p:extLst>
      <p:ext uri="{BB962C8B-B14F-4D97-AF65-F5344CB8AC3E}">
        <p14:creationId xmlns:p14="http://schemas.microsoft.com/office/powerpoint/2010/main" val="3617913341"/>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err="1"/>
              <a:t>Hesla</a:t>
            </a:r>
            <a:endParaRPr lang="en-US"/>
          </a:p>
        </p:txBody>
      </p:sp>
      <p:sp>
        <p:nvSpPr>
          <p:cNvPr id="3" name="Content Placeholder 2"/>
          <p:cNvSpPr>
            <a:spLocks noGrp="1"/>
          </p:cNvSpPr>
          <p:nvPr>
            <p:ph idx="1"/>
          </p:nvPr>
        </p:nvSpPr>
        <p:spPr/>
        <p:txBody>
          <a:bodyPr/>
          <a:lstStyle/>
          <a:p>
            <a:r>
              <a:rPr lang="en-US" err="1"/>
              <a:t>Dříve</a:t>
            </a:r>
            <a:r>
              <a:rPr lang="en-US"/>
              <a:t> se </a:t>
            </a:r>
            <a:r>
              <a:rPr lang="en-US" err="1"/>
              <a:t>hesla</a:t>
            </a:r>
            <a:r>
              <a:rPr lang="en-US"/>
              <a:t> v </a:t>
            </a:r>
            <a:r>
              <a:rPr lang="en-US" err="1"/>
              <a:t>systémech</a:t>
            </a:r>
            <a:r>
              <a:rPr lang="en-US"/>
              <a:t> </a:t>
            </a:r>
            <a:r>
              <a:rPr lang="en-US" err="1"/>
              <a:t>někdy</a:t>
            </a:r>
            <a:r>
              <a:rPr lang="en-US"/>
              <a:t> </a:t>
            </a:r>
            <a:r>
              <a:rPr lang="en-US" err="1"/>
              <a:t>ukládala</a:t>
            </a:r>
            <a:r>
              <a:rPr lang="en-US"/>
              <a:t> </a:t>
            </a:r>
            <a:r>
              <a:rPr lang="en-US" err="1"/>
              <a:t>i</a:t>
            </a:r>
            <a:r>
              <a:rPr lang="en-US"/>
              <a:t> v </a:t>
            </a:r>
            <a:r>
              <a:rPr lang="en-US" err="1"/>
              <a:t>původní</a:t>
            </a:r>
            <a:r>
              <a:rPr lang="en-US"/>
              <a:t> </a:t>
            </a:r>
            <a:r>
              <a:rPr lang="en-US" err="1"/>
              <a:t>čitelné</a:t>
            </a:r>
            <a:r>
              <a:rPr lang="en-US"/>
              <a:t> </a:t>
            </a:r>
            <a:r>
              <a:rPr lang="en-US" err="1"/>
              <a:t>podobě</a:t>
            </a:r>
            <a:r>
              <a:rPr lang="en-US"/>
              <a:t>, </a:t>
            </a:r>
            <a:r>
              <a:rPr lang="en-US" err="1"/>
              <a:t>některé</a:t>
            </a:r>
            <a:r>
              <a:rPr lang="en-US"/>
              <a:t> </a:t>
            </a:r>
            <a:r>
              <a:rPr lang="en-US" err="1"/>
              <a:t>systémy</a:t>
            </a:r>
            <a:r>
              <a:rPr lang="en-US"/>
              <a:t> se </a:t>
            </a:r>
            <a:r>
              <a:rPr lang="en-US" err="1"/>
              <a:t>snažily</a:t>
            </a:r>
            <a:r>
              <a:rPr lang="cs-CZ"/>
              <a:t> </a:t>
            </a:r>
            <a:r>
              <a:rPr lang="en-US" err="1"/>
              <a:t>řešit</a:t>
            </a:r>
            <a:r>
              <a:rPr lang="en-US"/>
              <a:t> </a:t>
            </a:r>
            <a:r>
              <a:rPr lang="en-US" err="1"/>
              <a:t>uvedený</a:t>
            </a:r>
            <a:r>
              <a:rPr lang="en-US"/>
              <a:t> </a:t>
            </a:r>
            <a:r>
              <a:rPr lang="en-US" err="1"/>
              <a:t>problém</a:t>
            </a:r>
            <a:r>
              <a:rPr lang="en-US"/>
              <a:t> </a:t>
            </a:r>
            <a:r>
              <a:rPr lang="en-US" err="1"/>
              <a:t>šifrováním</a:t>
            </a:r>
            <a:r>
              <a:rPr lang="en-US"/>
              <a:t> </a:t>
            </a:r>
            <a:r>
              <a:rPr lang="en-US" err="1"/>
              <a:t>hesel</a:t>
            </a:r>
            <a:r>
              <a:rPr lang="en-US"/>
              <a:t>. </a:t>
            </a:r>
            <a:endParaRPr lang="cs-CZ"/>
          </a:p>
          <a:p>
            <a:r>
              <a:rPr lang="en-US"/>
              <a:t>V </a:t>
            </a:r>
            <a:r>
              <a:rPr lang="en-US" err="1"/>
              <a:t>případě</a:t>
            </a:r>
            <a:r>
              <a:rPr lang="en-US"/>
              <a:t>, </a:t>
            </a:r>
            <a:r>
              <a:rPr lang="en-US" err="1"/>
              <a:t>že</a:t>
            </a:r>
            <a:r>
              <a:rPr lang="en-US"/>
              <a:t> </a:t>
            </a:r>
            <a:r>
              <a:rPr lang="en-US" err="1"/>
              <a:t>však</a:t>
            </a:r>
            <a:r>
              <a:rPr lang="en-US"/>
              <a:t> </a:t>
            </a:r>
            <a:r>
              <a:rPr lang="en-US" err="1"/>
              <a:t>útočník</a:t>
            </a:r>
            <a:r>
              <a:rPr lang="en-US"/>
              <a:t> </a:t>
            </a:r>
            <a:r>
              <a:rPr lang="en-US" err="1"/>
              <a:t>dokázal</a:t>
            </a:r>
            <a:r>
              <a:rPr lang="en-US"/>
              <a:t> </a:t>
            </a:r>
            <a:r>
              <a:rPr lang="en-US" err="1"/>
              <a:t>proniknout</a:t>
            </a:r>
            <a:r>
              <a:rPr lang="en-US"/>
              <a:t> do</a:t>
            </a:r>
            <a:r>
              <a:rPr lang="cs-CZ"/>
              <a:t> </a:t>
            </a:r>
            <a:r>
              <a:rPr lang="en-US" err="1"/>
              <a:t>systému</a:t>
            </a:r>
            <a:r>
              <a:rPr lang="en-US"/>
              <a:t>, </a:t>
            </a:r>
            <a:r>
              <a:rPr lang="en-US" err="1"/>
              <a:t>získal</a:t>
            </a:r>
            <a:r>
              <a:rPr lang="en-US"/>
              <a:t> </a:t>
            </a:r>
            <a:r>
              <a:rPr lang="en-US" err="1"/>
              <a:t>přístup</a:t>
            </a:r>
            <a:r>
              <a:rPr lang="en-US"/>
              <a:t> </a:t>
            </a:r>
            <a:r>
              <a:rPr lang="en-US" err="1"/>
              <a:t>nejenom</a:t>
            </a:r>
            <a:r>
              <a:rPr lang="en-US"/>
              <a:t> k </a:t>
            </a:r>
            <a:r>
              <a:rPr lang="en-US" err="1"/>
              <a:t>zašifrovaným</a:t>
            </a:r>
            <a:r>
              <a:rPr lang="en-US"/>
              <a:t> </a:t>
            </a:r>
            <a:r>
              <a:rPr lang="en-US" err="1"/>
              <a:t>heslům</a:t>
            </a:r>
            <a:r>
              <a:rPr lang="en-US"/>
              <a:t>, ale </a:t>
            </a:r>
            <a:r>
              <a:rPr lang="en-US" err="1"/>
              <a:t>obvykle</a:t>
            </a:r>
            <a:r>
              <a:rPr lang="en-US"/>
              <a:t> </a:t>
            </a:r>
            <a:r>
              <a:rPr lang="en-US" err="1"/>
              <a:t>i</a:t>
            </a:r>
            <a:r>
              <a:rPr lang="en-US"/>
              <a:t> k </a:t>
            </a:r>
            <a:r>
              <a:rPr lang="en-US" err="1"/>
              <a:t>šifrovacímu</a:t>
            </a:r>
            <a:r>
              <a:rPr lang="en-US"/>
              <a:t> </a:t>
            </a:r>
            <a:r>
              <a:rPr lang="en-US" err="1"/>
              <a:t>klíči</a:t>
            </a:r>
            <a:r>
              <a:rPr lang="en-US"/>
              <a:t>. </a:t>
            </a:r>
            <a:endParaRPr lang="cs-CZ"/>
          </a:p>
          <a:p>
            <a:r>
              <a:rPr lang="en-US" err="1"/>
              <a:t>Díky</a:t>
            </a:r>
            <a:r>
              <a:rPr lang="cs-CZ"/>
              <a:t> </a:t>
            </a:r>
            <a:r>
              <a:rPr lang="en-US" err="1"/>
              <a:t>této</a:t>
            </a:r>
            <a:r>
              <a:rPr lang="en-US"/>
              <a:t> </a:t>
            </a:r>
            <a:r>
              <a:rPr lang="en-US" err="1"/>
              <a:t>zjevné</a:t>
            </a:r>
            <a:r>
              <a:rPr lang="en-US"/>
              <a:t> </a:t>
            </a:r>
            <a:r>
              <a:rPr lang="en-US" err="1"/>
              <a:t>zranitelnosti</a:t>
            </a:r>
            <a:r>
              <a:rPr lang="en-US"/>
              <a:t> se </a:t>
            </a:r>
            <a:r>
              <a:rPr lang="en-US" err="1"/>
              <a:t>ve</a:t>
            </a:r>
            <a:r>
              <a:rPr lang="en-US"/>
              <a:t> </a:t>
            </a:r>
            <a:r>
              <a:rPr lang="en-US" err="1"/>
              <a:t>velkém</a:t>
            </a:r>
            <a:r>
              <a:rPr lang="en-US"/>
              <a:t> </a:t>
            </a:r>
            <a:r>
              <a:rPr lang="en-US" err="1"/>
              <a:t>prosadily</a:t>
            </a:r>
            <a:r>
              <a:rPr lang="en-US"/>
              <a:t> </a:t>
            </a:r>
            <a:r>
              <a:rPr lang="en-US" err="1"/>
              <a:t>hashovací</a:t>
            </a:r>
            <a:r>
              <a:rPr lang="en-US"/>
              <a:t> </a:t>
            </a:r>
            <a:r>
              <a:rPr lang="en-US" err="1"/>
              <a:t>funkce</a:t>
            </a:r>
            <a:r>
              <a:rPr lang="en-US"/>
              <a:t>.</a:t>
            </a:r>
            <a:br>
              <a:rPr lang="en-US"/>
            </a:b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258</a:t>
            </a:fld>
            <a:endParaRPr lang="cs-CZ"/>
          </a:p>
        </p:txBody>
      </p:sp>
    </p:spTree>
    <p:extLst>
      <p:ext uri="{BB962C8B-B14F-4D97-AF65-F5344CB8AC3E}">
        <p14:creationId xmlns:p14="http://schemas.microsoft.com/office/powerpoint/2010/main" val="1966754449"/>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err="1"/>
              <a:t>Hashovací</a:t>
            </a:r>
            <a:r>
              <a:rPr lang="en-US" b="1"/>
              <a:t> </a:t>
            </a:r>
            <a:r>
              <a:rPr lang="en-US" b="1" err="1"/>
              <a:t>funkce</a:t>
            </a:r>
            <a:r>
              <a:rPr lang="en-US" b="1"/>
              <a:t> </a:t>
            </a:r>
            <a:endParaRPr lang="en-US"/>
          </a:p>
        </p:txBody>
      </p:sp>
      <p:sp>
        <p:nvSpPr>
          <p:cNvPr id="3" name="Content Placeholder 2"/>
          <p:cNvSpPr>
            <a:spLocks noGrp="1"/>
          </p:cNvSpPr>
          <p:nvPr>
            <p:ph idx="1"/>
          </p:nvPr>
        </p:nvSpPr>
        <p:spPr/>
        <p:txBody>
          <a:bodyPr>
            <a:normAutofit/>
          </a:bodyPr>
          <a:lstStyle/>
          <a:p>
            <a:r>
              <a:rPr lang="en-US" err="1"/>
              <a:t>Hashovací</a:t>
            </a:r>
            <a:r>
              <a:rPr lang="en-US"/>
              <a:t> </a:t>
            </a:r>
            <a:r>
              <a:rPr lang="en-US" err="1"/>
              <a:t>funkce</a:t>
            </a:r>
            <a:r>
              <a:rPr lang="en-US"/>
              <a:t> </a:t>
            </a:r>
            <a:r>
              <a:rPr lang="en-US" err="1"/>
              <a:t>mají</a:t>
            </a:r>
            <a:r>
              <a:rPr lang="en-US"/>
              <a:t> </a:t>
            </a:r>
            <a:r>
              <a:rPr lang="en-US" err="1"/>
              <a:t>následující</a:t>
            </a:r>
            <a:r>
              <a:rPr lang="en-US"/>
              <a:t> </a:t>
            </a:r>
            <a:r>
              <a:rPr lang="en-US" err="1"/>
              <a:t>vlastnosti</a:t>
            </a:r>
            <a:r>
              <a:rPr lang="en-US"/>
              <a:t>, </a:t>
            </a:r>
            <a:r>
              <a:rPr lang="en-US" err="1"/>
              <a:t>které</a:t>
            </a:r>
            <a:r>
              <a:rPr lang="en-US"/>
              <a:t> je </a:t>
            </a:r>
            <a:r>
              <a:rPr lang="en-US" err="1"/>
              <a:t>činí</a:t>
            </a:r>
            <a:r>
              <a:rPr lang="en-US"/>
              <a:t> </a:t>
            </a:r>
            <a:r>
              <a:rPr lang="en-US" err="1"/>
              <a:t>vhodnými</a:t>
            </a:r>
            <a:r>
              <a:rPr lang="en-US"/>
              <a:t> pro </a:t>
            </a:r>
            <a:r>
              <a:rPr lang="en-US" err="1"/>
              <a:t>vytváření</a:t>
            </a:r>
            <a:r>
              <a:rPr lang="en-US"/>
              <a:t> </a:t>
            </a:r>
            <a:r>
              <a:rPr lang="en-US" err="1"/>
              <a:t>otisků</a:t>
            </a:r>
            <a:r>
              <a:rPr lang="cs-CZ"/>
              <a:t> </a:t>
            </a:r>
            <a:r>
              <a:rPr lang="en-US"/>
              <a:t>(</a:t>
            </a:r>
            <a:r>
              <a:rPr lang="en-US" err="1"/>
              <a:t>hashů</a:t>
            </a:r>
            <a:r>
              <a:rPr lang="en-US"/>
              <a:t>) </a:t>
            </a:r>
            <a:r>
              <a:rPr lang="en-US" err="1"/>
              <a:t>hesel</a:t>
            </a:r>
            <a:r>
              <a:rPr lang="en-US"/>
              <a:t>:</a:t>
            </a:r>
            <a:endParaRPr lang="cs-CZ"/>
          </a:p>
          <a:p>
            <a:pPr lvl="1"/>
            <a:r>
              <a:rPr lang="en-US" err="1"/>
              <a:t>jedná</a:t>
            </a:r>
            <a:r>
              <a:rPr lang="en-US"/>
              <a:t> se o </a:t>
            </a:r>
            <a:r>
              <a:rPr lang="en-US" err="1"/>
              <a:t>funkce</a:t>
            </a:r>
            <a:r>
              <a:rPr lang="en-US"/>
              <a:t> </a:t>
            </a:r>
            <a:r>
              <a:rPr lang="en-US" err="1"/>
              <a:t>jednocestné</a:t>
            </a:r>
            <a:r>
              <a:rPr lang="en-US"/>
              <a:t> (z </a:t>
            </a:r>
            <a:r>
              <a:rPr lang="en-US" err="1"/>
              <a:t>hashe</a:t>
            </a:r>
            <a:r>
              <a:rPr lang="en-US"/>
              <a:t> </a:t>
            </a:r>
            <a:r>
              <a:rPr lang="en-US" err="1"/>
              <a:t>není</a:t>
            </a:r>
            <a:r>
              <a:rPr lang="en-US"/>
              <a:t> </a:t>
            </a:r>
            <a:r>
              <a:rPr lang="en-US" err="1"/>
              <a:t>matematickými</a:t>
            </a:r>
            <a:r>
              <a:rPr lang="en-US"/>
              <a:t> </a:t>
            </a:r>
            <a:r>
              <a:rPr lang="en-US" err="1"/>
              <a:t>metodami</a:t>
            </a:r>
            <a:r>
              <a:rPr lang="en-US"/>
              <a:t> </a:t>
            </a:r>
            <a:r>
              <a:rPr lang="en-US" err="1"/>
              <a:t>možné</a:t>
            </a:r>
            <a:r>
              <a:rPr lang="en-US"/>
              <a:t> </a:t>
            </a:r>
            <a:r>
              <a:rPr lang="en-US" err="1"/>
              <a:t>získat</a:t>
            </a:r>
            <a:r>
              <a:rPr lang="en-US"/>
              <a:t> </a:t>
            </a:r>
            <a:r>
              <a:rPr lang="en-US" err="1"/>
              <a:t>zpět</a:t>
            </a:r>
            <a:r>
              <a:rPr lang="cs-CZ"/>
              <a:t> </a:t>
            </a:r>
            <a:r>
              <a:rPr lang="en-US" err="1"/>
              <a:t>původní</a:t>
            </a:r>
            <a:r>
              <a:rPr lang="en-US"/>
              <a:t> text),</a:t>
            </a:r>
            <a:endParaRPr lang="cs-CZ"/>
          </a:p>
          <a:p>
            <a:pPr lvl="1"/>
            <a:r>
              <a:rPr lang="en-US" err="1"/>
              <a:t>jakákoliv</a:t>
            </a:r>
            <a:r>
              <a:rPr lang="en-US"/>
              <a:t> </a:t>
            </a:r>
            <a:r>
              <a:rPr lang="en-US" err="1"/>
              <a:t>drobná</a:t>
            </a:r>
            <a:r>
              <a:rPr lang="en-US"/>
              <a:t> </a:t>
            </a:r>
            <a:r>
              <a:rPr lang="en-US" err="1"/>
              <a:t>změna</a:t>
            </a:r>
            <a:r>
              <a:rPr lang="en-US"/>
              <a:t> </a:t>
            </a:r>
            <a:r>
              <a:rPr lang="en-US" err="1"/>
              <a:t>textu</a:t>
            </a:r>
            <a:r>
              <a:rPr lang="en-US"/>
              <a:t> </a:t>
            </a:r>
            <a:r>
              <a:rPr lang="en-US" err="1"/>
              <a:t>na</a:t>
            </a:r>
            <a:r>
              <a:rPr lang="en-US"/>
              <a:t> </a:t>
            </a:r>
            <a:r>
              <a:rPr lang="en-US" err="1"/>
              <a:t>vstupu</a:t>
            </a:r>
            <a:r>
              <a:rPr lang="en-US"/>
              <a:t> </a:t>
            </a:r>
            <a:r>
              <a:rPr lang="en-US" err="1"/>
              <a:t>funkce</a:t>
            </a:r>
            <a:r>
              <a:rPr lang="en-US"/>
              <a:t> </a:t>
            </a:r>
            <a:r>
              <a:rPr lang="en-US" err="1"/>
              <a:t>vyvolá</a:t>
            </a:r>
            <a:r>
              <a:rPr lang="en-US"/>
              <a:t> </a:t>
            </a:r>
            <a:r>
              <a:rPr lang="en-US" err="1"/>
              <a:t>dramatickou</a:t>
            </a:r>
            <a:r>
              <a:rPr lang="en-US"/>
              <a:t> </a:t>
            </a:r>
            <a:r>
              <a:rPr lang="en-US" err="1"/>
              <a:t>změnu</a:t>
            </a:r>
            <a:r>
              <a:rPr lang="en-US"/>
              <a:t> </a:t>
            </a:r>
            <a:r>
              <a:rPr lang="en-US" err="1"/>
              <a:t>na</a:t>
            </a:r>
            <a:r>
              <a:rPr lang="en-US"/>
              <a:t> </a:t>
            </a:r>
            <a:r>
              <a:rPr lang="en-US" err="1"/>
              <a:t>výstupu</a:t>
            </a:r>
            <a:r>
              <a:rPr lang="en-US"/>
              <a:t> (</a:t>
            </a:r>
            <a:r>
              <a:rPr lang="en-US" err="1"/>
              <a:t>dva</a:t>
            </a:r>
            <a:r>
              <a:rPr lang="cs-CZ"/>
              <a:t> </a:t>
            </a:r>
            <a:r>
              <a:rPr lang="en-US" err="1"/>
              <a:t>otisky</a:t>
            </a:r>
            <a:r>
              <a:rPr lang="en-US"/>
              <a:t> </a:t>
            </a:r>
            <a:r>
              <a:rPr lang="en-US" err="1"/>
              <a:t>stejného</a:t>
            </a:r>
            <a:r>
              <a:rPr lang="en-US"/>
              <a:t> </a:t>
            </a:r>
            <a:r>
              <a:rPr lang="en-US" err="1"/>
              <a:t>textu</a:t>
            </a:r>
            <a:r>
              <a:rPr lang="en-US"/>
              <a:t>, </a:t>
            </a:r>
            <a:r>
              <a:rPr lang="en-US" err="1"/>
              <a:t>na</a:t>
            </a:r>
            <a:r>
              <a:rPr lang="en-US"/>
              <a:t> </a:t>
            </a:r>
            <a:r>
              <a:rPr lang="en-US" err="1"/>
              <a:t>kterém</a:t>
            </a:r>
            <a:r>
              <a:rPr lang="en-US"/>
              <a:t> </a:t>
            </a:r>
            <a:r>
              <a:rPr lang="en-US" err="1"/>
              <a:t>došlo</a:t>
            </a:r>
            <a:r>
              <a:rPr lang="en-US"/>
              <a:t> </a:t>
            </a:r>
            <a:r>
              <a:rPr lang="en-US" err="1"/>
              <a:t>jen</a:t>
            </a:r>
            <a:r>
              <a:rPr lang="en-US"/>
              <a:t> k </a:t>
            </a:r>
            <a:r>
              <a:rPr lang="en-US" err="1"/>
              <a:t>drobné</a:t>
            </a:r>
            <a:r>
              <a:rPr lang="en-US"/>
              <a:t> </a:t>
            </a:r>
            <a:r>
              <a:rPr lang="en-US" err="1"/>
              <a:t>úpravě</a:t>
            </a:r>
            <a:r>
              <a:rPr lang="en-US"/>
              <a:t>, </a:t>
            </a:r>
            <a:r>
              <a:rPr lang="en-US" err="1"/>
              <a:t>budou</a:t>
            </a:r>
            <a:r>
              <a:rPr lang="en-US"/>
              <a:t> </a:t>
            </a:r>
            <a:r>
              <a:rPr lang="en-US" err="1"/>
              <a:t>vypadat</a:t>
            </a:r>
            <a:r>
              <a:rPr lang="en-US"/>
              <a:t> </a:t>
            </a:r>
            <a:r>
              <a:rPr lang="en-US" err="1"/>
              <a:t>zcela</a:t>
            </a:r>
            <a:r>
              <a:rPr lang="en-US"/>
              <a:t> </a:t>
            </a:r>
            <a:r>
              <a:rPr lang="en-US" err="1"/>
              <a:t>odlišně</a:t>
            </a:r>
            <a:r>
              <a:rPr lang="en-US"/>
              <a:t>),</a:t>
            </a:r>
            <a:endParaRPr lang="cs-CZ"/>
          </a:p>
          <a:p>
            <a:pPr lvl="1"/>
            <a:r>
              <a:rPr lang="en-US"/>
              <a:t>je </a:t>
            </a:r>
            <a:r>
              <a:rPr lang="en-US" err="1"/>
              <a:t>prakticky</a:t>
            </a:r>
            <a:r>
              <a:rPr lang="en-US"/>
              <a:t> </a:t>
            </a:r>
            <a:r>
              <a:rPr lang="en-US" err="1"/>
              <a:t>nemožné</a:t>
            </a:r>
            <a:r>
              <a:rPr lang="en-US"/>
              <a:t> </a:t>
            </a:r>
            <a:r>
              <a:rPr lang="en-US" err="1"/>
              <a:t>nalézt</a:t>
            </a:r>
            <a:r>
              <a:rPr lang="en-US"/>
              <a:t> </a:t>
            </a:r>
            <a:r>
              <a:rPr lang="en-US" err="1"/>
              <a:t>dva</a:t>
            </a:r>
            <a:r>
              <a:rPr lang="en-US"/>
              <a:t> </a:t>
            </a:r>
            <a:r>
              <a:rPr lang="en-US" err="1"/>
              <a:t>vstupy</a:t>
            </a:r>
            <a:r>
              <a:rPr lang="en-US"/>
              <a:t>, pro </a:t>
            </a:r>
            <a:r>
              <a:rPr lang="en-US" err="1"/>
              <a:t>které</a:t>
            </a:r>
            <a:r>
              <a:rPr lang="en-US"/>
              <a:t> </a:t>
            </a:r>
            <a:r>
              <a:rPr lang="en-US" err="1"/>
              <a:t>bude</a:t>
            </a:r>
            <a:r>
              <a:rPr lang="en-US"/>
              <a:t> </a:t>
            </a:r>
            <a:r>
              <a:rPr lang="en-US" err="1"/>
              <a:t>stejný</a:t>
            </a:r>
            <a:r>
              <a:rPr lang="en-US"/>
              <a:t> </a:t>
            </a:r>
            <a:r>
              <a:rPr lang="en-US" err="1"/>
              <a:t>výstup</a:t>
            </a:r>
            <a:r>
              <a:rPr lang="en-US"/>
              <a:t>,</a:t>
            </a:r>
            <a:endParaRPr lang="cs-CZ"/>
          </a:p>
          <a:p>
            <a:pPr lvl="1"/>
            <a:r>
              <a:rPr lang="en-US" err="1"/>
              <a:t>výstup</a:t>
            </a:r>
            <a:r>
              <a:rPr lang="en-US"/>
              <a:t> </a:t>
            </a:r>
            <a:r>
              <a:rPr lang="en-US" err="1"/>
              <a:t>funkce</a:t>
            </a:r>
            <a:r>
              <a:rPr lang="en-US"/>
              <a:t> je </a:t>
            </a:r>
            <a:r>
              <a:rPr lang="en-US" err="1"/>
              <a:t>vždy</a:t>
            </a:r>
            <a:r>
              <a:rPr lang="en-US"/>
              <a:t> </a:t>
            </a:r>
            <a:r>
              <a:rPr lang="en-US" err="1"/>
              <a:t>stejně</a:t>
            </a:r>
            <a:r>
              <a:rPr lang="en-US"/>
              <a:t> </a:t>
            </a:r>
            <a:r>
              <a:rPr lang="en-US" err="1"/>
              <a:t>dlouhý</a:t>
            </a:r>
            <a:r>
              <a:rPr lang="en-US"/>
              <a:t> </a:t>
            </a:r>
            <a:r>
              <a:rPr lang="en-US" err="1"/>
              <a:t>bez</a:t>
            </a:r>
            <a:r>
              <a:rPr lang="en-US"/>
              <a:t> </a:t>
            </a:r>
            <a:r>
              <a:rPr lang="en-US" err="1"/>
              <a:t>ohledu</a:t>
            </a:r>
            <a:r>
              <a:rPr lang="en-US"/>
              <a:t> </a:t>
            </a:r>
            <a:r>
              <a:rPr lang="en-US" err="1"/>
              <a:t>na</a:t>
            </a:r>
            <a:r>
              <a:rPr lang="en-US"/>
              <a:t> </a:t>
            </a:r>
            <a:r>
              <a:rPr lang="en-US" err="1"/>
              <a:t>velikost</a:t>
            </a:r>
            <a:r>
              <a:rPr lang="en-US"/>
              <a:t> </a:t>
            </a:r>
            <a:r>
              <a:rPr lang="en-US" err="1"/>
              <a:t>vstupních</a:t>
            </a:r>
            <a:r>
              <a:rPr lang="en-US"/>
              <a:t> dat.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259</a:t>
            </a:fld>
            <a:endParaRPr lang="cs-CZ"/>
          </a:p>
        </p:txBody>
      </p:sp>
    </p:spTree>
    <p:extLst>
      <p:ext uri="{BB962C8B-B14F-4D97-AF65-F5344CB8AC3E}">
        <p14:creationId xmlns:p14="http://schemas.microsoft.com/office/powerpoint/2010/main" val="4263745282"/>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err="1"/>
              <a:t>Hashovací</a:t>
            </a:r>
            <a:r>
              <a:rPr lang="en-US" b="1"/>
              <a:t> </a:t>
            </a:r>
            <a:r>
              <a:rPr lang="en-US" b="1" err="1"/>
              <a:t>funkce</a:t>
            </a:r>
            <a:r>
              <a:rPr lang="en-US" b="1"/>
              <a:t> </a:t>
            </a:r>
            <a:endParaRPr lang="en-US"/>
          </a:p>
        </p:txBody>
      </p:sp>
      <p:sp>
        <p:nvSpPr>
          <p:cNvPr id="3" name="Content Placeholder 2"/>
          <p:cNvSpPr>
            <a:spLocks noGrp="1"/>
          </p:cNvSpPr>
          <p:nvPr>
            <p:ph idx="1"/>
          </p:nvPr>
        </p:nvSpPr>
        <p:spPr/>
        <p:txBody>
          <a:bodyPr>
            <a:normAutofit/>
          </a:bodyPr>
          <a:lstStyle/>
          <a:p>
            <a:r>
              <a:rPr lang="en-US" err="1"/>
              <a:t>Pří</a:t>
            </a:r>
            <a:r>
              <a:rPr lang="en-US"/>
              <a:t> </a:t>
            </a:r>
            <a:r>
              <a:rPr lang="en-US" err="1"/>
              <a:t>výběru</a:t>
            </a:r>
            <a:r>
              <a:rPr lang="en-US"/>
              <a:t> </a:t>
            </a:r>
            <a:r>
              <a:rPr lang="en-US" err="1"/>
              <a:t>vhodné</a:t>
            </a:r>
            <a:r>
              <a:rPr lang="en-US"/>
              <a:t> </a:t>
            </a:r>
            <a:r>
              <a:rPr lang="en-US" err="1"/>
              <a:t>hashovací</a:t>
            </a:r>
            <a:r>
              <a:rPr lang="en-US"/>
              <a:t> </a:t>
            </a:r>
            <a:r>
              <a:rPr lang="en-US" err="1"/>
              <a:t>funkce</a:t>
            </a:r>
            <a:r>
              <a:rPr lang="en-US"/>
              <a:t> je </a:t>
            </a:r>
            <a:r>
              <a:rPr lang="en-US" err="1"/>
              <a:t>možné</a:t>
            </a:r>
            <a:r>
              <a:rPr lang="en-US"/>
              <a:t> </a:t>
            </a:r>
            <a:r>
              <a:rPr lang="en-US" err="1"/>
              <a:t>využít</a:t>
            </a:r>
            <a:r>
              <a:rPr lang="en-US"/>
              <a:t> </a:t>
            </a:r>
            <a:r>
              <a:rPr lang="en-US" err="1"/>
              <a:t>jako</a:t>
            </a:r>
            <a:r>
              <a:rPr lang="en-US"/>
              <a:t> </a:t>
            </a:r>
            <a:r>
              <a:rPr lang="en-US" err="1"/>
              <a:t>vodítko</a:t>
            </a:r>
            <a:r>
              <a:rPr lang="en-US"/>
              <a:t> </a:t>
            </a:r>
            <a:r>
              <a:rPr lang="en-US" err="1"/>
              <a:t>například</a:t>
            </a:r>
            <a:r>
              <a:rPr lang="en-US"/>
              <a:t> </a:t>
            </a:r>
            <a:r>
              <a:rPr lang="en-US" err="1"/>
              <a:t>minimální</a:t>
            </a:r>
            <a:r>
              <a:rPr lang="cs-CZ"/>
              <a:t> </a:t>
            </a:r>
            <a:r>
              <a:rPr lang="en-US" err="1"/>
              <a:t>požadavky</a:t>
            </a:r>
            <a:r>
              <a:rPr lang="en-US"/>
              <a:t> </a:t>
            </a:r>
            <a:r>
              <a:rPr lang="en-US" err="1"/>
              <a:t>na</a:t>
            </a:r>
            <a:r>
              <a:rPr lang="en-US"/>
              <a:t> </a:t>
            </a:r>
            <a:r>
              <a:rPr lang="en-US" err="1"/>
              <a:t>kryptografické</a:t>
            </a:r>
            <a:r>
              <a:rPr lang="en-US"/>
              <a:t> </a:t>
            </a:r>
            <a:r>
              <a:rPr lang="en-US" err="1"/>
              <a:t>algoritmy</a:t>
            </a:r>
            <a:r>
              <a:rPr lang="en-US"/>
              <a:t>, </a:t>
            </a:r>
            <a:r>
              <a:rPr lang="en-US" err="1"/>
              <a:t>které</a:t>
            </a:r>
            <a:r>
              <a:rPr lang="en-US"/>
              <a:t> </a:t>
            </a:r>
            <a:r>
              <a:rPr lang="en-US" err="1"/>
              <a:t>jsou</a:t>
            </a:r>
            <a:r>
              <a:rPr lang="en-US"/>
              <a:t> </a:t>
            </a:r>
            <a:r>
              <a:rPr lang="en-US" err="1"/>
              <a:t>definovány</a:t>
            </a:r>
            <a:r>
              <a:rPr lang="en-US"/>
              <a:t> </a:t>
            </a:r>
            <a:r>
              <a:rPr lang="en-US" err="1"/>
              <a:t>ve</a:t>
            </a:r>
            <a:r>
              <a:rPr lang="en-US"/>
              <a:t> </a:t>
            </a:r>
            <a:r>
              <a:rPr lang="en-US" err="1"/>
              <a:t>vyhlášce</a:t>
            </a:r>
            <a:r>
              <a:rPr lang="en-US"/>
              <a:t> o </a:t>
            </a:r>
            <a:r>
              <a:rPr lang="en-US" err="1"/>
              <a:t>kybernetické</a:t>
            </a:r>
            <a:r>
              <a:rPr lang="cs-CZ"/>
              <a:t> </a:t>
            </a:r>
            <a:r>
              <a:rPr lang="en-US" err="1"/>
              <a:t>bezpečnosti</a:t>
            </a:r>
            <a:r>
              <a:rPr lang="en-US"/>
              <a:t>.</a:t>
            </a:r>
            <a:endParaRPr lang="cs-CZ"/>
          </a:p>
          <a:p>
            <a:r>
              <a:rPr lang="en-US" err="1"/>
              <a:t>Pokud</a:t>
            </a:r>
            <a:r>
              <a:rPr lang="en-US"/>
              <a:t> se </a:t>
            </a:r>
            <a:r>
              <a:rPr lang="en-US" err="1"/>
              <a:t>uživatel</a:t>
            </a:r>
            <a:r>
              <a:rPr lang="en-US"/>
              <a:t> </a:t>
            </a:r>
            <a:r>
              <a:rPr lang="en-US" err="1"/>
              <a:t>přihlašuje</a:t>
            </a:r>
            <a:r>
              <a:rPr lang="en-US"/>
              <a:t> do </a:t>
            </a:r>
            <a:r>
              <a:rPr lang="en-US" err="1"/>
              <a:t>systému</a:t>
            </a:r>
            <a:r>
              <a:rPr lang="en-US"/>
              <a:t>, je z </a:t>
            </a:r>
            <a:r>
              <a:rPr lang="en-US" err="1"/>
              <a:t>jeho</a:t>
            </a:r>
            <a:r>
              <a:rPr lang="en-US"/>
              <a:t> </a:t>
            </a:r>
            <a:r>
              <a:rPr lang="en-US" err="1"/>
              <a:t>hesla</a:t>
            </a:r>
            <a:r>
              <a:rPr lang="en-US"/>
              <a:t> </a:t>
            </a:r>
            <a:r>
              <a:rPr lang="en-US" err="1"/>
              <a:t>nejdříve</a:t>
            </a:r>
            <a:r>
              <a:rPr lang="en-US"/>
              <a:t> </a:t>
            </a:r>
            <a:r>
              <a:rPr lang="en-US" err="1"/>
              <a:t>vytvořen</a:t>
            </a:r>
            <a:r>
              <a:rPr lang="en-US"/>
              <a:t> hash, </a:t>
            </a:r>
            <a:r>
              <a:rPr lang="en-US" err="1"/>
              <a:t>který</a:t>
            </a:r>
            <a:r>
              <a:rPr lang="en-US"/>
              <a:t> je </a:t>
            </a:r>
            <a:r>
              <a:rPr lang="en-US" err="1"/>
              <a:t>následně</a:t>
            </a:r>
            <a:r>
              <a:rPr lang="cs-CZ"/>
              <a:t> </a:t>
            </a:r>
            <a:r>
              <a:rPr lang="en-US" err="1"/>
              <a:t>porovnán</a:t>
            </a:r>
            <a:r>
              <a:rPr lang="en-US"/>
              <a:t> s </a:t>
            </a:r>
            <a:r>
              <a:rPr lang="en-US" err="1"/>
              <a:t>uloženou</a:t>
            </a:r>
            <a:r>
              <a:rPr lang="en-US"/>
              <a:t> </a:t>
            </a:r>
            <a:r>
              <a:rPr lang="en-US" err="1"/>
              <a:t>hodnotou</a:t>
            </a:r>
            <a:r>
              <a:rPr lang="en-US"/>
              <a:t>. </a:t>
            </a:r>
            <a:r>
              <a:rPr lang="en-US" err="1"/>
              <a:t>Pokud</a:t>
            </a:r>
            <a:r>
              <a:rPr lang="en-US"/>
              <a:t> se </a:t>
            </a:r>
            <a:r>
              <a:rPr lang="en-US" err="1"/>
              <a:t>hashe</a:t>
            </a:r>
            <a:r>
              <a:rPr lang="en-US"/>
              <a:t> </a:t>
            </a:r>
            <a:r>
              <a:rPr lang="en-US" err="1"/>
              <a:t>shodují</a:t>
            </a:r>
            <a:r>
              <a:rPr lang="en-US"/>
              <a:t>, je </a:t>
            </a:r>
            <a:r>
              <a:rPr lang="en-US" err="1"/>
              <a:t>ověřeno</a:t>
            </a:r>
            <a:r>
              <a:rPr lang="en-US"/>
              <a:t>, </a:t>
            </a:r>
            <a:r>
              <a:rPr lang="en-US" err="1"/>
              <a:t>že</a:t>
            </a:r>
            <a:r>
              <a:rPr lang="en-US"/>
              <a:t> </a:t>
            </a:r>
            <a:r>
              <a:rPr lang="en-US" err="1"/>
              <a:t>uživatel</a:t>
            </a:r>
            <a:r>
              <a:rPr lang="en-US"/>
              <a:t> „</a:t>
            </a:r>
            <a:r>
              <a:rPr lang="en-US" err="1"/>
              <a:t>něco</a:t>
            </a:r>
            <a:r>
              <a:rPr lang="en-US"/>
              <a:t> </a:t>
            </a:r>
            <a:r>
              <a:rPr lang="en-US" err="1"/>
              <a:t>zná</a:t>
            </a:r>
            <a:r>
              <a:rPr lang="en-US"/>
              <a:t>“, a </a:t>
            </a:r>
            <a:r>
              <a:rPr lang="en-US" err="1"/>
              <a:t>na</a:t>
            </a:r>
            <a:br>
              <a:rPr lang="en-US"/>
            </a:br>
            <a:r>
              <a:rPr lang="en-US" err="1"/>
              <a:t>základě</a:t>
            </a:r>
            <a:r>
              <a:rPr lang="en-US"/>
              <a:t> </a:t>
            </a:r>
            <a:r>
              <a:rPr lang="en-US" err="1"/>
              <a:t>této</a:t>
            </a:r>
            <a:r>
              <a:rPr lang="en-US"/>
              <a:t> </a:t>
            </a:r>
            <a:r>
              <a:rPr lang="en-US" err="1"/>
              <a:t>znalosti</a:t>
            </a:r>
            <a:r>
              <a:rPr lang="en-US"/>
              <a:t> je </a:t>
            </a:r>
            <a:r>
              <a:rPr lang="en-US" err="1"/>
              <a:t>ověřen</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260</a:t>
            </a:fld>
            <a:endParaRPr lang="cs-CZ"/>
          </a:p>
        </p:txBody>
      </p:sp>
    </p:spTree>
    <p:extLst>
      <p:ext uri="{BB962C8B-B14F-4D97-AF65-F5344CB8AC3E}">
        <p14:creationId xmlns:p14="http://schemas.microsoft.com/office/powerpoint/2010/main" val="2901932952"/>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Prolomení hesla</a:t>
            </a:r>
            <a:endParaRPr lang="en-US"/>
          </a:p>
        </p:txBody>
      </p:sp>
      <p:sp>
        <p:nvSpPr>
          <p:cNvPr id="3" name="Content Placeholder 2"/>
          <p:cNvSpPr>
            <a:spLocks noGrp="1"/>
          </p:cNvSpPr>
          <p:nvPr>
            <p:ph idx="1"/>
          </p:nvPr>
        </p:nvSpPr>
        <p:spPr/>
        <p:txBody>
          <a:bodyPr/>
          <a:lstStyle/>
          <a:p>
            <a:r>
              <a:rPr lang="en-US" b="1"/>
              <a:t>V </a:t>
            </a:r>
            <a:r>
              <a:rPr lang="en-US" b="1" err="1"/>
              <a:t>současnosti</a:t>
            </a:r>
            <a:r>
              <a:rPr lang="en-US" b="1"/>
              <a:t> </a:t>
            </a:r>
            <a:r>
              <a:rPr lang="en-US" b="1" err="1"/>
              <a:t>rozeznáváme</a:t>
            </a:r>
            <a:r>
              <a:rPr lang="en-US" b="1"/>
              <a:t> </a:t>
            </a:r>
            <a:r>
              <a:rPr lang="en-US" b="1" err="1"/>
              <a:t>řadu</a:t>
            </a:r>
            <a:r>
              <a:rPr lang="en-US" b="1"/>
              <a:t> </a:t>
            </a:r>
            <a:r>
              <a:rPr lang="en-US" b="1" err="1"/>
              <a:t>útoků</a:t>
            </a:r>
            <a:r>
              <a:rPr lang="en-US" b="1"/>
              <a:t> </a:t>
            </a:r>
            <a:r>
              <a:rPr lang="en-US" b="1" err="1"/>
              <a:t>na</a:t>
            </a:r>
            <a:r>
              <a:rPr lang="en-US" b="1"/>
              <a:t> </a:t>
            </a:r>
            <a:r>
              <a:rPr lang="en-US" b="1" err="1"/>
              <a:t>hesla</a:t>
            </a:r>
            <a:r>
              <a:rPr lang="en-US" b="1"/>
              <a:t>. </a:t>
            </a:r>
            <a:r>
              <a:rPr lang="en-US" b="1" err="1"/>
              <a:t>Heslo</a:t>
            </a:r>
            <a:r>
              <a:rPr lang="en-US" b="1"/>
              <a:t> </a:t>
            </a:r>
            <a:r>
              <a:rPr lang="en-US" b="1" err="1"/>
              <a:t>může</a:t>
            </a:r>
            <a:r>
              <a:rPr lang="en-US" b="1"/>
              <a:t> </a:t>
            </a:r>
            <a:r>
              <a:rPr lang="en-US" b="1" err="1"/>
              <a:t>být</a:t>
            </a:r>
            <a:r>
              <a:rPr lang="en-US" b="1"/>
              <a:t>:</a:t>
            </a:r>
            <a:endParaRPr lang="cs-CZ"/>
          </a:p>
          <a:p>
            <a:pPr marL="914400" lvl="1" indent="-457200">
              <a:buFont typeface="+mj-lt"/>
              <a:buAutoNum type="arabicPeriod"/>
            </a:pPr>
            <a:r>
              <a:rPr lang="en-US" err="1"/>
              <a:t>odchyceno</a:t>
            </a:r>
            <a:r>
              <a:rPr lang="en-US"/>
              <a:t> z </a:t>
            </a:r>
            <a:r>
              <a:rPr lang="en-US" err="1"/>
              <a:t>provozu</a:t>
            </a:r>
            <a:r>
              <a:rPr lang="en-US"/>
              <a:t> </a:t>
            </a:r>
            <a:r>
              <a:rPr lang="en-US" err="1"/>
              <a:t>na</a:t>
            </a:r>
            <a:r>
              <a:rPr lang="en-US"/>
              <a:t> </a:t>
            </a:r>
            <a:r>
              <a:rPr lang="en-US" err="1"/>
              <a:t>počítačové</a:t>
            </a:r>
            <a:r>
              <a:rPr lang="en-US"/>
              <a:t> </a:t>
            </a:r>
            <a:r>
              <a:rPr lang="en-US" err="1"/>
              <a:t>síti</a:t>
            </a:r>
            <a:r>
              <a:rPr lang="en-US"/>
              <a:t>,</a:t>
            </a:r>
          </a:p>
          <a:p>
            <a:pPr marL="914400" lvl="1" indent="-457200">
              <a:buFont typeface="+mj-lt"/>
              <a:buAutoNum type="arabicPeriod"/>
            </a:pPr>
            <a:r>
              <a:rPr lang="en-US"/>
              <a:t>z </a:t>
            </a:r>
            <a:r>
              <a:rPr lang="en-US" err="1"/>
              <a:t>uživatele</a:t>
            </a:r>
            <a:r>
              <a:rPr lang="en-US"/>
              <a:t> </a:t>
            </a:r>
            <a:r>
              <a:rPr lang="en-US" err="1"/>
              <a:t>vylákáno</a:t>
            </a:r>
            <a:r>
              <a:rPr lang="en-US"/>
              <a:t> </a:t>
            </a:r>
            <a:r>
              <a:rPr lang="en-US" err="1"/>
              <a:t>sociálním</a:t>
            </a:r>
            <a:r>
              <a:rPr lang="en-US"/>
              <a:t> </a:t>
            </a:r>
            <a:r>
              <a:rPr lang="en-US" err="1"/>
              <a:t>inženýrstvím</a:t>
            </a:r>
            <a:r>
              <a:rPr lang="en-US"/>
              <a:t> (</a:t>
            </a:r>
            <a:r>
              <a:rPr lang="en-US" err="1"/>
              <a:t>např</a:t>
            </a:r>
            <a:r>
              <a:rPr lang="en-US"/>
              <a:t>. </a:t>
            </a:r>
            <a:r>
              <a:rPr lang="en-US" err="1"/>
              <a:t>phishingovým</a:t>
            </a:r>
            <a:r>
              <a:rPr lang="en-US"/>
              <a:t> </a:t>
            </a:r>
            <a:r>
              <a:rPr lang="en-US" err="1"/>
              <a:t>útokem</a:t>
            </a:r>
            <a:r>
              <a:rPr lang="en-US"/>
              <a:t> </a:t>
            </a:r>
            <a:r>
              <a:rPr lang="en-US" err="1"/>
              <a:t>aj</a:t>
            </a:r>
            <a:r>
              <a:rPr lang="en-US"/>
              <a:t>.),</a:t>
            </a:r>
          </a:p>
          <a:p>
            <a:pPr marL="914400" lvl="1" indent="-457200">
              <a:buFont typeface="+mj-lt"/>
              <a:buAutoNum type="arabicPeriod"/>
            </a:pPr>
            <a:r>
              <a:rPr lang="en-US" err="1"/>
              <a:t>získáno</a:t>
            </a:r>
            <a:r>
              <a:rPr lang="en-US"/>
              <a:t> z </a:t>
            </a:r>
            <a:r>
              <a:rPr lang="en-US" err="1"/>
              <a:t>počítačového</a:t>
            </a:r>
            <a:r>
              <a:rPr lang="en-US"/>
              <a:t> </a:t>
            </a:r>
            <a:r>
              <a:rPr lang="en-US" err="1"/>
              <a:t>systému</a:t>
            </a:r>
            <a:r>
              <a:rPr lang="en-US"/>
              <a:t> </a:t>
            </a:r>
            <a:r>
              <a:rPr lang="en-US" err="1"/>
              <a:t>za</a:t>
            </a:r>
            <a:r>
              <a:rPr lang="en-US"/>
              <a:t> </a:t>
            </a:r>
            <a:r>
              <a:rPr lang="en-US" err="1"/>
              <a:t>použití</a:t>
            </a:r>
            <a:r>
              <a:rPr lang="en-US"/>
              <a:t> malware (</a:t>
            </a:r>
            <a:r>
              <a:rPr lang="en-US" err="1"/>
              <a:t>např</a:t>
            </a:r>
            <a:r>
              <a:rPr lang="en-US"/>
              <a:t>. </a:t>
            </a:r>
            <a:r>
              <a:rPr lang="en-US" err="1"/>
              <a:t>pomocí</a:t>
            </a:r>
            <a:r>
              <a:rPr lang="en-US"/>
              <a:t> </a:t>
            </a:r>
            <a:r>
              <a:rPr lang="en-US" err="1"/>
              <a:t>keylogeru</a:t>
            </a:r>
            <a:r>
              <a:rPr lang="en-US"/>
              <a:t> </a:t>
            </a:r>
            <a:r>
              <a:rPr lang="en-US" err="1"/>
              <a:t>aj</a:t>
            </a:r>
            <a:r>
              <a:rPr lang="en-US"/>
              <a:t>.),</a:t>
            </a:r>
          </a:p>
          <a:p>
            <a:pPr marL="914400" lvl="1" indent="-457200">
              <a:buFont typeface="+mj-lt"/>
              <a:buAutoNum type="arabicPeriod"/>
            </a:pPr>
            <a:r>
              <a:rPr lang="en-US" err="1"/>
              <a:t>uhádnuto</a:t>
            </a:r>
            <a:r>
              <a:rPr lang="en-US"/>
              <a:t>,</a:t>
            </a:r>
          </a:p>
          <a:p>
            <a:pPr marL="914400" lvl="1" indent="-457200">
              <a:buFont typeface="+mj-lt"/>
              <a:buAutoNum type="arabicPeriod"/>
            </a:pPr>
            <a:r>
              <a:rPr lang="en-US"/>
              <a:t>„</a:t>
            </a:r>
            <a:r>
              <a:rPr lang="en-US" err="1"/>
              <a:t>lámáno</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261</a:t>
            </a:fld>
            <a:endParaRPr lang="cs-CZ"/>
          </a:p>
        </p:txBody>
      </p:sp>
    </p:spTree>
    <p:extLst>
      <p:ext uri="{BB962C8B-B14F-4D97-AF65-F5344CB8AC3E}">
        <p14:creationId xmlns:p14="http://schemas.microsoft.com/office/powerpoint/2010/main" val="3651801616"/>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Prolomení hesla</a:t>
            </a:r>
            <a:endParaRPr lang="en-US"/>
          </a:p>
        </p:txBody>
      </p:sp>
      <p:sp>
        <p:nvSpPr>
          <p:cNvPr id="3" name="Content Placeholder 2"/>
          <p:cNvSpPr>
            <a:spLocks noGrp="1"/>
          </p:cNvSpPr>
          <p:nvPr>
            <p:ph idx="1"/>
          </p:nvPr>
        </p:nvSpPr>
        <p:spPr/>
        <p:txBody>
          <a:bodyPr/>
          <a:lstStyle/>
          <a:p>
            <a:r>
              <a:rPr lang="en-US" err="1"/>
              <a:t>Lámání</a:t>
            </a:r>
            <a:r>
              <a:rPr lang="en-US"/>
              <a:t> on-line </a:t>
            </a:r>
            <a:r>
              <a:rPr lang="en-US" err="1"/>
              <a:t>představuje</a:t>
            </a:r>
            <a:r>
              <a:rPr lang="en-US"/>
              <a:t> </a:t>
            </a:r>
            <a:r>
              <a:rPr lang="en-US" err="1"/>
              <a:t>situaci</a:t>
            </a:r>
            <a:r>
              <a:rPr lang="en-US"/>
              <a:t>, </a:t>
            </a:r>
            <a:r>
              <a:rPr lang="en-US" err="1"/>
              <a:t>kdy</a:t>
            </a:r>
            <a:r>
              <a:rPr lang="en-US"/>
              <a:t> </a:t>
            </a:r>
            <a:r>
              <a:rPr lang="en-US" err="1"/>
              <a:t>útočník</a:t>
            </a:r>
            <a:r>
              <a:rPr lang="en-US"/>
              <a:t> </a:t>
            </a:r>
            <a:r>
              <a:rPr lang="en-US" err="1"/>
              <a:t>zasílá</a:t>
            </a:r>
            <a:r>
              <a:rPr lang="en-US"/>
              <a:t> </a:t>
            </a:r>
            <a:r>
              <a:rPr lang="en-US" err="1"/>
              <a:t>různá</a:t>
            </a:r>
            <a:r>
              <a:rPr lang="en-US"/>
              <a:t> </a:t>
            </a:r>
            <a:r>
              <a:rPr lang="en-US" err="1"/>
              <a:t>hesla</a:t>
            </a:r>
            <a:r>
              <a:rPr lang="en-US"/>
              <a:t> a </a:t>
            </a:r>
            <a:r>
              <a:rPr lang="en-US" err="1"/>
              <a:t>čeká</a:t>
            </a:r>
            <a:r>
              <a:rPr lang="en-US"/>
              <a:t> </a:t>
            </a:r>
            <a:r>
              <a:rPr lang="en-US" err="1"/>
              <a:t>na</a:t>
            </a:r>
            <a:r>
              <a:rPr lang="en-US"/>
              <a:t> </a:t>
            </a:r>
            <a:r>
              <a:rPr lang="en-US" err="1"/>
              <a:t>jejich</a:t>
            </a:r>
            <a:r>
              <a:rPr lang="en-US"/>
              <a:t> </a:t>
            </a:r>
            <a:r>
              <a:rPr lang="en-US" err="1"/>
              <a:t>ověření</a:t>
            </a:r>
            <a:r>
              <a:rPr lang="cs-CZ"/>
              <a:t> </a:t>
            </a:r>
            <a:r>
              <a:rPr lang="en-US"/>
              <a:t>v </a:t>
            </a:r>
            <a:r>
              <a:rPr lang="en-US" err="1"/>
              <a:t>počítačovém</a:t>
            </a:r>
            <a:r>
              <a:rPr lang="en-US"/>
              <a:t> </a:t>
            </a:r>
            <a:r>
              <a:rPr lang="en-US" err="1"/>
              <a:t>systému</a:t>
            </a:r>
            <a:r>
              <a:rPr lang="en-US"/>
              <a:t>. </a:t>
            </a:r>
            <a:endParaRPr lang="cs-CZ"/>
          </a:p>
          <a:p>
            <a:r>
              <a:rPr lang="en-US" err="1"/>
              <a:t>Obecně</a:t>
            </a:r>
            <a:r>
              <a:rPr lang="en-US"/>
              <a:t> je </a:t>
            </a:r>
            <a:r>
              <a:rPr lang="en-US" err="1"/>
              <a:t>tento</a:t>
            </a:r>
            <a:r>
              <a:rPr lang="en-US"/>
              <a:t> </a:t>
            </a:r>
            <a:r>
              <a:rPr lang="en-US" err="1"/>
              <a:t>způsob</a:t>
            </a:r>
            <a:r>
              <a:rPr lang="en-US"/>
              <a:t> </a:t>
            </a:r>
            <a:r>
              <a:rPr lang="en-US" err="1"/>
              <a:t>útoku</a:t>
            </a:r>
            <a:r>
              <a:rPr lang="en-US"/>
              <a:t> </a:t>
            </a:r>
            <a:r>
              <a:rPr lang="en-US" err="1"/>
              <a:t>relativně</a:t>
            </a:r>
            <a:r>
              <a:rPr lang="en-US"/>
              <a:t> </a:t>
            </a:r>
            <a:r>
              <a:rPr lang="en-US" err="1"/>
              <a:t>pomalý</a:t>
            </a:r>
            <a:r>
              <a:rPr lang="en-US"/>
              <a:t> a </a:t>
            </a:r>
            <a:r>
              <a:rPr lang="en-US" err="1"/>
              <a:t>útočníkovi</a:t>
            </a:r>
            <a:r>
              <a:rPr lang="en-US"/>
              <a:t> </a:t>
            </a:r>
            <a:r>
              <a:rPr lang="en-US" err="1"/>
              <a:t>hrozí</a:t>
            </a:r>
            <a:r>
              <a:rPr lang="en-US"/>
              <a:t>,</a:t>
            </a:r>
            <a:r>
              <a:rPr lang="cs-CZ"/>
              <a:t> </a:t>
            </a:r>
            <a:r>
              <a:rPr lang="en-US" err="1"/>
              <a:t>že</a:t>
            </a:r>
            <a:r>
              <a:rPr lang="en-US"/>
              <a:t> </a:t>
            </a:r>
            <a:r>
              <a:rPr lang="en-US" err="1"/>
              <a:t>si</a:t>
            </a:r>
            <a:r>
              <a:rPr lang="en-US"/>
              <a:t> </a:t>
            </a:r>
            <a:r>
              <a:rPr lang="en-US" err="1"/>
              <a:t>jeho</a:t>
            </a:r>
            <a:r>
              <a:rPr lang="en-US"/>
              <a:t> </a:t>
            </a:r>
            <a:r>
              <a:rPr lang="en-US" err="1"/>
              <a:t>počínání</a:t>
            </a:r>
            <a:r>
              <a:rPr lang="en-US"/>
              <a:t> </a:t>
            </a:r>
            <a:r>
              <a:rPr lang="en-US" err="1"/>
              <a:t>někdo</a:t>
            </a:r>
            <a:r>
              <a:rPr lang="en-US"/>
              <a:t> </a:t>
            </a:r>
            <a:r>
              <a:rPr lang="en-US" err="1"/>
              <a:t>všimne</a:t>
            </a:r>
            <a:r>
              <a:rPr lang="en-US"/>
              <a:t> a v </a:t>
            </a:r>
            <a:r>
              <a:rPr lang="en-US" err="1"/>
              <a:t>logu</a:t>
            </a:r>
            <a:r>
              <a:rPr lang="en-US"/>
              <a:t> se </a:t>
            </a:r>
            <a:r>
              <a:rPr lang="en-US" err="1"/>
              <a:t>objeví</a:t>
            </a:r>
            <a:r>
              <a:rPr lang="en-US"/>
              <a:t> </a:t>
            </a:r>
            <a:r>
              <a:rPr lang="en-US" err="1"/>
              <a:t>příliš</a:t>
            </a:r>
            <a:r>
              <a:rPr lang="en-US"/>
              <a:t> </a:t>
            </a:r>
            <a:r>
              <a:rPr lang="en-US" err="1"/>
              <a:t>mnoho</a:t>
            </a:r>
            <a:r>
              <a:rPr lang="en-US"/>
              <a:t> </a:t>
            </a:r>
            <a:r>
              <a:rPr lang="en-US" err="1"/>
              <a:t>pokusů</a:t>
            </a:r>
            <a:r>
              <a:rPr lang="en-US"/>
              <a:t> o </a:t>
            </a:r>
            <a:r>
              <a:rPr lang="en-US" err="1"/>
              <a:t>přihlášení</a:t>
            </a:r>
            <a:r>
              <a:rPr lang="en-US"/>
              <a:t> z </a:t>
            </a:r>
            <a:r>
              <a:rPr lang="en-US" err="1"/>
              <a:t>jedné</a:t>
            </a:r>
            <a:r>
              <a:rPr lang="cs-CZ"/>
              <a:t> </a:t>
            </a:r>
            <a:r>
              <a:rPr lang="en-US"/>
              <a:t>IP </a:t>
            </a:r>
            <a:r>
              <a:rPr lang="en-US" err="1"/>
              <a:t>adresy</a:t>
            </a:r>
            <a:r>
              <a:rPr lang="en-US"/>
              <a:t>, </a:t>
            </a:r>
            <a:r>
              <a:rPr lang="en-US" err="1"/>
              <a:t>případně</a:t>
            </a:r>
            <a:r>
              <a:rPr lang="en-US"/>
              <a:t> </a:t>
            </a:r>
            <a:r>
              <a:rPr lang="en-US" err="1"/>
              <a:t>na</a:t>
            </a:r>
            <a:r>
              <a:rPr lang="en-US"/>
              <a:t> </a:t>
            </a:r>
            <a:r>
              <a:rPr lang="en-US" err="1"/>
              <a:t>více</a:t>
            </a:r>
            <a:r>
              <a:rPr lang="en-US"/>
              <a:t> </a:t>
            </a:r>
            <a:r>
              <a:rPr lang="en-US" err="1"/>
              <a:t>účtů</a:t>
            </a:r>
            <a:r>
              <a:rPr lang="en-US"/>
              <a:t>.</a:t>
            </a:r>
            <a:endParaRPr lang="cs-CZ"/>
          </a:p>
          <a:p>
            <a:r>
              <a:rPr lang="en-US"/>
              <a:t>V </a:t>
            </a:r>
            <a:r>
              <a:rPr lang="en-US" err="1"/>
              <a:t>následujícím</a:t>
            </a:r>
            <a:r>
              <a:rPr lang="en-US"/>
              <a:t> </a:t>
            </a:r>
            <a:r>
              <a:rPr lang="en-US" err="1"/>
              <a:t>výpisu</a:t>
            </a:r>
            <a:r>
              <a:rPr lang="en-US"/>
              <a:t> z </a:t>
            </a:r>
            <a:r>
              <a:rPr lang="en-US" err="1"/>
              <a:t>logu</a:t>
            </a:r>
            <a:r>
              <a:rPr lang="en-US"/>
              <a:t> </a:t>
            </a:r>
            <a:r>
              <a:rPr lang="en-US" err="1"/>
              <a:t>routeru</a:t>
            </a:r>
            <a:r>
              <a:rPr lang="en-US"/>
              <a:t> </a:t>
            </a:r>
            <a:r>
              <a:rPr lang="en-US" err="1"/>
              <a:t>lze</a:t>
            </a:r>
            <a:r>
              <a:rPr lang="en-US"/>
              <a:t> </a:t>
            </a:r>
            <a:r>
              <a:rPr lang="en-US" err="1"/>
              <a:t>pozorovat</a:t>
            </a:r>
            <a:r>
              <a:rPr lang="en-US"/>
              <a:t> </a:t>
            </a:r>
            <a:r>
              <a:rPr lang="en-US" err="1"/>
              <a:t>pokus</a:t>
            </a:r>
            <a:r>
              <a:rPr lang="en-US"/>
              <a:t> </a:t>
            </a:r>
            <a:r>
              <a:rPr lang="en-US" err="1"/>
              <a:t>útočníka</a:t>
            </a:r>
            <a:r>
              <a:rPr lang="en-US"/>
              <a:t> o </a:t>
            </a:r>
            <a:r>
              <a:rPr lang="en-US" err="1"/>
              <a:t>uhodnutí</a:t>
            </a:r>
            <a:r>
              <a:rPr lang="en-US"/>
              <a:t> </a:t>
            </a:r>
            <a:r>
              <a:rPr lang="en-US" err="1"/>
              <a:t>jména</a:t>
            </a:r>
            <a:r>
              <a:rPr lang="en-US"/>
              <a:t> </a:t>
            </a:r>
            <a:r>
              <a:rPr lang="en-US" err="1"/>
              <a:t>uživatele</a:t>
            </a:r>
            <a:r>
              <a:rPr lang="en-US"/>
              <a:t>.</a:t>
            </a:r>
            <a:endParaRPr lang="cs-CZ"/>
          </a:p>
          <a:p>
            <a:r>
              <a:rPr lang="en-US" err="1"/>
              <a:t>Výpis</a:t>
            </a:r>
            <a:r>
              <a:rPr lang="en-US"/>
              <a:t> </a:t>
            </a:r>
            <a:r>
              <a:rPr lang="en-US" err="1"/>
              <a:t>představuje</a:t>
            </a:r>
            <a:r>
              <a:rPr lang="en-US"/>
              <a:t> </a:t>
            </a:r>
            <a:r>
              <a:rPr lang="en-US" err="1"/>
              <a:t>minutovou</a:t>
            </a:r>
            <a:r>
              <a:rPr lang="en-US"/>
              <a:t> </a:t>
            </a:r>
            <a:r>
              <a:rPr lang="en-US" err="1"/>
              <a:t>sekvenci</a:t>
            </a:r>
            <a:r>
              <a:rPr lang="en-US"/>
              <a:t> </a:t>
            </a:r>
            <a:r>
              <a:rPr lang="en-US" err="1"/>
              <a:t>pokusů</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262</a:t>
            </a:fld>
            <a:endParaRPr lang="cs-CZ"/>
          </a:p>
        </p:txBody>
      </p:sp>
    </p:spTree>
    <p:extLst>
      <p:ext uri="{BB962C8B-B14F-4D97-AF65-F5344CB8AC3E}">
        <p14:creationId xmlns:p14="http://schemas.microsoft.com/office/powerpoint/2010/main" val="3297863151"/>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Prolomení hesla</a:t>
            </a: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263</a:t>
            </a:fld>
            <a:endParaRPr lang="cs-CZ"/>
          </a:p>
        </p:txBody>
      </p:sp>
      <p:pic>
        <p:nvPicPr>
          <p:cNvPr id="6" name="Picture 5"/>
          <p:cNvPicPr>
            <a:picLocks noChangeAspect="1"/>
          </p:cNvPicPr>
          <p:nvPr/>
        </p:nvPicPr>
        <p:blipFill>
          <a:blip r:embed="rId2"/>
          <a:stretch>
            <a:fillRect/>
          </a:stretch>
        </p:blipFill>
        <p:spPr>
          <a:xfrm>
            <a:off x="838200" y="1690688"/>
            <a:ext cx="10953660" cy="4187952"/>
          </a:xfrm>
          <a:prstGeom prst="rect">
            <a:avLst/>
          </a:prstGeom>
        </p:spPr>
      </p:pic>
    </p:spTree>
    <p:extLst>
      <p:ext uri="{BB962C8B-B14F-4D97-AF65-F5344CB8AC3E}">
        <p14:creationId xmlns:p14="http://schemas.microsoft.com/office/powerpoint/2010/main" val="1555130210"/>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Prolomení hesla</a:t>
            </a:r>
            <a:endParaRPr lang="en-US"/>
          </a:p>
        </p:txBody>
      </p:sp>
      <p:sp>
        <p:nvSpPr>
          <p:cNvPr id="3" name="Content Placeholder 2"/>
          <p:cNvSpPr>
            <a:spLocks noGrp="1"/>
          </p:cNvSpPr>
          <p:nvPr>
            <p:ph idx="1"/>
          </p:nvPr>
        </p:nvSpPr>
        <p:spPr/>
        <p:txBody>
          <a:bodyPr>
            <a:normAutofit/>
          </a:bodyPr>
          <a:lstStyle/>
          <a:p>
            <a:r>
              <a:rPr lang="en-US" err="1"/>
              <a:t>Obranou</a:t>
            </a:r>
            <a:r>
              <a:rPr lang="en-US"/>
              <a:t> </a:t>
            </a:r>
            <a:r>
              <a:rPr lang="en-US" err="1"/>
              <a:t>proti</a:t>
            </a:r>
            <a:r>
              <a:rPr lang="en-US"/>
              <a:t> on-line </a:t>
            </a:r>
            <a:r>
              <a:rPr lang="en-US" err="1"/>
              <a:t>lámání</a:t>
            </a:r>
            <a:r>
              <a:rPr lang="en-US"/>
              <a:t> </a:t>
            </a:r>
            <a:r>
              <a:rPr lang="en-US" err="1"/>
              <a:t>hesel</a:t>
            </a:r>
            <a:r>
              <a:rPr lang="en-US"/>
              <a:t> </a:t>
            </a:r>
            <a:r>
              <a:rPr lang="en-US" err="1"/>
              <a:t>může</a:t>
            </a:r>
            <a:r>
              <a:rPr lang="en-US"/>
              <a:t> </a:t>
            </a:r>
            <a:r>
              <a:rPr lang="en-US" err="1"/>
              <a:t>být</a:t>
            </a:r>
            <a:r>
              <a:rPr lang="en-US"/>
              <a:t> </a:t>
            </a:r>
            <a:r>
              <a:rPr lang="en-US" err="1"/>
              <a:t>zamčení</a:t>
            </a:r>
            <a:r>
              <a:rPr lang="en-US"/>
              <a:t> </a:t>
            </a:r>
            <a:r>
              <a:rPr lang="en-US" err="1"/>
              <a:t>účtu</a:t>
            </a:r>
            <a:r>
              <a:rPr lang="en-US"/>
              <a:t> </a:t>
            </a:r>
            <a:r>
              <a:rPr lang="en-US" err="1"/>
              <a:t>po</a:t>
            </a:r>
            <a:r>
              <a:rPr lang="en-US"/>
              <a:t> </a:t>
            </a:r>
            <a:r>
              <a:rPr lang="en-US" err="1"/>
              <a:t>několika</a:t>
            </a:r>
            <a:r>
              <a:rPr lang="en-US"/>
              <a:t> </a:t>
            </a:r>
            <a:r>
              <a:rPr lang="en-US" err="1"/>
              <a:t>neúspěšných</a:t>
            </a:r>
            <a:r>
              <a:rPr lang="en-US"/>
              <a:t> </a:t>
            </a:r>
            <a:r>
              <a:rPr lang="en-US" err="1"/>
              <a:t>pokusech</a:t>
            </a:r>
            <a:r>
              <a:rPr lang="cs-CZ"/>
              <a:t> </a:t>
            </a:r>
            <a:r>
              <a:rPr lang="en-US" err="1"/>
              <a:t>nebo</a:t>
            </a:r>
            <a:r>
              <a:rPr lang="en-US"/>
              <a:t> </a:t>
            </a:r>
            <a:r>
              <a:rPr lang="en-US" err="1"/>
              <a:t>zpomalení</a:t>
            </a:r>
            <a:r>
              <a:rPr lang="en-US"/>
              <a:t> </a:t>
            </a:r>
            <a:r>
              <a:rPr lang="en-US" err="1"/>
              <a:t>vyhodnocování</a:t>
            </a:r>
            <a:r>
              <a:rPr lang="en-US"/>
              <a:t> </a:t>
            </a:r>
            <a:r>
              <a:rPr lang="en-US" err="1"/>
              <a:t>hesel</a:t>
            </a:r>
            <a:r>
              <a:rPr lang="en-US"/>
              <a:t> v </a:t>
            </a:r>
            <a:r>
              <a:rPr lang="en-US" err="1"/>
              <a:t>systému</a:t>
            </a:r>
            <a:r>
              <a:rPr lang="en-US"/>
              <a:t>.</a:t>
            </a:r>
            <a:endParaRPr lang="cs-CZ"/>
          </a:p>
          <a:p>
            <a:r>
              <a:rPr lang="en-US" err="1"/>
              <a:t>Protože</a:t>
            </a:r>
            <a:r>
              <a:rPr lang="en-US"/>
              <a:t> je on-line </a:t>
            </a:r>
            <a:r>
              <a:rPr lang="en-US" err="1"/>
              <a:t>lámání</a:t>
            </a:r>
            <a:r>
              <a:rPr lang="en-US"/>
              <a:t> </a:t>
            </a:r>
            <a:r>
              <a:rPr lang="en-US" err="1"/>
              <a:t>hesel</a:t>
            </a:r>
            <a:r>
              <a:rPr lang="en-US"/>
              <a:t> </a:t>
            </a:r>
            <a:r>
              <a:rPr lang="en-US" err="1"/>
              <a:t>pomalé</a:t>
            </a:r>
            <a:r>
              <a:rPr lang="en-US"/>
              <a:t> a </a:t>
            </a:r>
            <a:r>
              <a:rPr lang="en-US" err="1"/>
              <a:t>relativně</a:t>
            </a:r>
            <a:r>
              <a:rPr lang="en-US"/>
              <a:t> </a:t>
            </a:r>
            <a:r>
              <a:rPr lang="en-US" err="1"/>
              <a:t>snadno</a:t>
            </a:r>
            <a:r>
              <a:rPr lang="en-US"/>
              <a:t> </a:t>
            </a:r>
            <a:r>
              <a:rPr lang="en-US" err="1"/>
              <a:t>zjistitelné</a:t>
            </a:r>
            <a:r>
              <a:rPr lang="en-US"/>
              <a:t>, je pro </a:t>
            </a:r>
            <a:r>
              <a:rPr lang="en-US" err="1"/>
              <a:t>útočníka</a:t>
            </a:r>
            <a:r>
              <a:rPr lang="en-US"/>
              <a:t> </a:t>
            </a:r>
            <a:r>
              <a:rPr lang="en-US" err="1"/>
              <a:t>lepší</a:t>
            </a:r>
            <a:r>
              <a:rPr lang="cs-CZ"/>
              <a:t> </a:t>
            </a:r>
            <a:r>
              <a:rPr lang="en-US" err="1"/>
              <a:t>variantou</a:t>
            </a:r>
            <a:r>
              <a:rPr lang="en-US"/>
              <a:t>, </a:t>
            </a:r>
            <a:r>
              <a:rPr lang="en-US" err="1"/>
              <a:t>pokud</a:t>
            </a:r>
            <a:r>
              <a:rPr lang="en-US"/>
              <a:t> se </a:t>
            </a:r>
            <a:r>
              <a:rPr lang="en-US" err="1"/>
              <a:t>dokáže</a:t>
            </a:r>
            <a:r>
              <a:rPr lang="en-US"/>
              <a:t> </a:t>
            </a:r>
            <a:r>
              <a:rPr lang="en-US" err="1"/>
              <a:t>dostat</a:t>
            </a:r>
            <a:r>
              <a:rPr lang="en-US"/>
              <a:t> </a:t>
            </a:r>
            <a:r>
              <a:rPr lang="en-US" err="1"/>
              <a:t>přímo</a:t>
            </a:r>
            <a:r>
              <a:rPr lang="en-US"/>
              <a:t> k </a:t>
            </a:r>
            <a:r>
              <a:rPr lang="en-US" err="1"/>
              <a:t>heslům</a:t>
            </a:r>
            <a:r>
              <a:rPr lang="en-US"/>
              <a:t> </a:t>
            </a:r>
            <a:r>
              <a:rPr lang="en-US" err="1"/>
              <a:t>uživatelů</a:t>
            </a:r>
            <a:r>
              <a:rPr lang="en-US"/>
              <a:t>. </a:t>
            </a:r>
            <a:endParaRPr lang="cs-CZ"/>
          </a:p>
          <a:p>
            <a:r>
              <a:rPr lang="en-US"/>
              <a:t>Ta by </a:t>
            </a:r>
            <a:r>
              <a:rPr lang="en-US" err="1"/>
              <a:t>však</a:t>
            </a:r>
            <a:r>
              <a:rPr lang="en-US"/>
              <a:t> </a:t>
            </a:r>
            <a:r>
              <a:rPr lang="en-US" err="1"/>
              <a:t>měla</a:t>
            </a:r>
            <a:r>
              <a:rPr lang="en-US"/>
              <a:t> </a:t>
            </a:r>
            <a:r>
              <a:rPr lang="en-US" err="1"/>
              <a:t>být</a:t>
            </a:r>
            <a:r>
              <a:rPr lang="en-US"/>
              <a:t> </a:t>
            </a:r>
            <a:r>
              <a:rPr lang="en-US" err="1"/>
              <a:t>ukládána</a:t>
            </a:r>
            <a:r>
              <a:rPr lang="en-US"/>
              <a:t> </a:t>
            </a:r>
            <a:r>
              <a:rPr lang="en-US" err="1"/>
              <a:t>ve</a:t>
            </a:r>
            <a:r>
              <a:rPr lang="cs-CZ"/>
              <a:t> </a:t>
            </a:r>
            <a:r>
              <a:rPr lang="en-US" err="1"/>
              <a:t>formě</a:t>
            </a:r>
            <a:r>
              <a:rPr lang="en-US"/>
              <a:t>, </a:t>
            </a:r>
            <a:r>
              <a:rPr lang="en-US" err="1"/>
              <a:t>která</a:t>
            </a:r>
            <a:r>
              <a:rPr lang="en-US"/>
              <a:t> </a:t>
            </a:r>
            <a:r>
              <a:rPr lang="en-US" err="1"/>
              <a:t>neumožní</a:t>
            </a:r>
            <a:r>
              <a:rPr lang="en-US"/>
              <a:t> </a:t>
            </a:r>
            <a:r>
              <a:rPr lang="en-US" err="1"/>
              <a:t>jejich</a:t>
            </a:r>
            <a:r>
              <a:rPr lang="en-US"/>
              <a:t> </a:t>
            </a:r>
            <a:r>
              <a:rPr lang="en-US" err="1"/>
              <a:t>snadné</a:t>
            </a:r>
            <a:r>
              <a:rPr lang="en-US"/>
              <a:t> </a:t>
            </a:r>
            <a:r>
              <a:rPr lang="en-US" err="1"/>
              <a:t>přečtení</a:t>
            </a:r>
            <a:r>
              <a:rPr lang="en-US"/>
              <a:t>, </a:t>
            </a:r>
            <a:r>
              <a:rPr lang="en-US" err="1"/>
              <a:t>tedy</a:t>
            </a:r>
            <a:r>
              <a:rPr lang="en-US"/>
              <a:t> v </a:t>
            </a:r>
            <a:r>
              <a:rPr lang="en-US" err="1"/>
              <a:t>podobě</a:t>
            </a:r>
            <a:r>
              <a:rPr lang="en-US"/>
              <a:t> </a:t>
            </a:r>
            <a:r>
              <a:rPr lang="en-US" err="1"/>
              <a:t>hashe</a:t>
            </a:r>
            <a:r>
              <a:rPr lang="en-US"/>
              <a:t> </a:t>
            </a:r>
            <a:r>
              <a:rPr lang="en-US" err="1"/>
              <a:t>hesla</a:t>
            </a:r>
            <a:r>
              <a:rPr lang="en-US"/>
              <a:t>. </a:t>
            </a:r>
            <a:endParaRPr lang="cs-CZ"/>
          </a:p>
          <a:p>
            <a:r>
              <a:rPr lang="en-US" err="1"/>
              <a:t>Pokud</a:t>
            </a:r>
            <a:r>
              <a:rPr lang="en-US"/>
              <a:t> </a:t>
            </a:r>
            <a:r>
              <a:rPr lang="en-US" err="1"/>
              <a:t>útočník</a:t>
            </a:r>
            <a:r>
              <a:rPr lang="en-US"/>
              <a:t> </a:t>
            </a:r>
            <a:r>
              <a:rPr lang="en-US" err="1"/>
              <a:t>hashe</a:t>
            </a:r>
            <a:r>
              <a:rPr lang="cs-CZ"/>
              <a:t> </a:t>
            </a:r>
            <a:r>
              <a:rPr lang="en-US" err="1"/>
              <a:t>získá</a:t>
            </a:r>
            <a:r>
              <a:rPr lang="en-US"/>
              <a:t>, </a:t>
            </a:r>
            <a:r>
              <a:rPr lang="en-US" err="1"/>
              <a:t>má</a:t>
            </a:r>
            <a:r>
              <a:rPr lang="en-US"/>
              <a:t> </a:t>
            </a:r>
            <a:r>
              <a:rPr lang="en-US" err="1"/>
              <a:t>několik</a:t>
            </a:r>
            <a:r>
              <a:rPr lang="en-US"/>
              <a:t> </a:t>
            </a:r>
            <a:r>
              <a:rPr lang="en-US" err="1"/>
              <a:t>možností</a:t>
            </a:r>
            <a:r>
              <a:rPr lang="en-US"/>
              <a:t>, </a:t>
            </a:r>
            <a:r>
              <a:rPr lang="en-US" err="1"/>
              <a:t>jak</a:t>
            </a:r>
            <a:r>
              <a:rPr lang="en-US"/>
              <a:t> </a:t>
            </a:r>
            <a:r>
              <a:rPr lang="en-US" err="1"/>
              <a:t>na</a:t>
            </a:r>
            <a:r>
              <a:rPr lang="en-US"/>
              <a:t> </a:t>
            </a:r>
            <a:r>
              <a:rPr lang="en-US" err="1"/>
              <a:t>ně</a:t>
            </a:r>
            <a:r>
              <a:rPr lang="en-US"/>
              <a:t> </a:t>
            </a:r>
            <a:r>
              <a:rPr lang="en-US" err="1"/>
              <a:t>zaútočit</a:t>
            </a:r>
            <a:r>
              <a:rPr lang="en-US"/>
              <a:t>.</a:t>
            </a:r>
            <a:br>
              <a:rPr lang="en-US"/>
            </a:b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264</a:t>
            </a:fld>
            <a:endParaRPr lang="cs-CZ"/>
          </a:p>
        </p:txBody>
      </p:sp>
    </p:spTree>
    <p:extLst>
      <p:ext uri="{BB962C8B-B14F-4D97-AF65-F5344CB8AC3E}">
        <p14:creationId xmlns:p14="http://schemas.microsoft.com/office/powerpoint/2010/main" val="100939252"/>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Prolomení hesla</a:t>
            </a:r>
            <a:endParaRPr lang="en-US"/>
          </a:p>
        </p:txBody>
      </p:sp>
      <p:sp>
        <p:nvSpPr>
          <p:cNvPr id="3" name="Content Placeholder 2"/>
          <p:cNvSpPr>
            <a:spLocks noGrp="1"/>
          </p:cNvSpPr>
          <p:nvPr>
            <p:ph idx="1"/>
          </p:nvPr>
        </p:nvSpPr>
        <p:spPr/>
        <p:txBody>
          <a:bodyPr/>
          <a:lstStyle/>
          <a:p>
            <a:r>
              <a:rPr lang="en-US" err="1"/>
              <a:t>Než</a:t>
            </a:r>
            <a:r>
              <a:rPr lang="en-US"/>
              <a:t> se </a:t>
            </a:r>
            <a:r>
              <a:rPr lang="en-US" err="1"/>
              <a:t>pustíme</a:t>
            </a:r>
            <a:r>
              <a:rPr lang="en-US"/>
              <a:t> do </a:t>
            </a:r>
            <a:r>
              <a:rPr lang="en-US" err="1"/>
              <a:t>popisu</a:t>
            </a:r>
            <a:r>
              <a:rPr lang="en-US"/>
              <a:t> </a:t>
            </a:r>
            <a:r>
              <a:rPr lang="en-US" err="1"/>
              <a:t>jednotlivých</a:t>
            </a:r>
            <a:r>
              <a:rPr lang="en-US"/>
              <a:t> </a:t>
            </a:r>
            <a:r>
              <a:rPr lang="en-US" err="1"/>
              <a:t>možností</a:t>
            </a:r>
            <a:r>
              <a:rPr lang="en-US"/>
              <a:t> </a:t>
            </a:r>
            <a:r>
              <a:rPr lang="en-US" err="1"/>
              <a:t>útočníka</a:t>
            </a:r>
            <a:r>
              <a:rPr lang="en-US"/>
              <a:t>, je </a:t>
            </a:r>
            <a:r>
              <a:rPr lang="en-US" err="1"/>
              <a:t>potřeba</a:t>
            </a:r>
            <a:r>
              <a:rPr lang="en-US"/>
              <a:t> </a:t>
            </a:r>
            <a:r>
              <a:rPr lang="en-US" err="1"/>
              <a:t>připomenout</a:t>
            </a:r>
            <a:r>
              <a:rPr lang="en-US"/>
              <a:t>, </a:t>
            </a:r>
            <a:r>
              <a:rPr lang="en-US" err="1"/>
              <a:t>že</a:t>
            </a:r>
            <a:r>
              <a:rPr lang="en-US"/>
              <a:t> hash</a:t>
            </a:r>
            <a:r>
              <a:rPr lang="cs-CZ"/>
              <a:t> </a:t>
            </a:r>
            <a:r>
              <a:rPr lang="en-US"/>
              <a:t>je </a:t>
            </a:r>
            <a:r>
              <a:rPr lang="en-US" err="1"/>
              <a:t>jednocestná</a:t>
            </a:r>
            <a:r>
              <a:rPr lang="en-US"/>
              <a:t> </a:t>
            </a:r>
            <a:r>
              <a:rPr lang="en-US" err="1"/>
              <a:t>funkce</a:t>
            </a:r>
            <a:r>
              <a:rPr lang="en-US"/>
              <a:t>. </a:t>
            </a:r>
            <a:endParaRPr lang="cs-CZ"/>
          </a:p>
          <a:p>
            <a:r>
              <a:rPr lang="en-US" err="1"/>
              <a:t>Útočník</a:t>
            </a:r>
            <a:r>
              <a:rPr lang="en-US"/>
              <a:t> </a:t>
            </a:r>
            <a:r>
              <a:rPr lang="en-US" err="1"/>
              <a:t>tedy</a:t>
            </a:r>
            <a:r>
              <a:rPr lang="en-US"/>
              <a:t> </a:t>
            </a:r>
            <a:r>
              <a:rPr lang="en-US" err="1"/>
              <a:t>vždy</a:t>
            </a:r>
            <a:r>
              <a:rPr lang="en-US"/>
              <a:t> </a:t>
            </a:r>
            <a:r>
              <a:rPr lang="en-US" err="1"/>
              <a:t>postupuje</a:t>
            </a:r>
            <a:r>
              <a:rPr lang="en-US"/>
              <a:t> </a:t>
            </a:r>
            <a:r>
              <a:rPr lang="en-US" err="1"/>
              <a:t>tak</a:t>
            </a:r>
            <a:r>
              <a:rPr lang="en-US"/>
              <a:t>, </a:t>
            </a:r>
            <a:r>
              <a:rPr lang="en-US" err="1"/>
              <a:t>že</a:t>
            </a:r>
            <a:r>
              <a:rPr lang="en-US"/>
              <a:t> </a:t>
            </a:r>
            <a:r>
              <a:rPr lang="en-US" err="1"/>
              <a:t>nejdříve</a:t>
            </a:r>
            <a:r>
              <a:rPr lang="en-US"/>
              <a:t> </a:t>
            </a:r>
            <a:r>
              <a:rPr lang="en-US" err="1"/>
              <a:t>vytvoří</a:t>
            </a:r>
            <a:r>
              <a:rPr lang="en-US"/>
              <a:t> z </a:t>
            </a:r>
            <a:r>
              <a:rPr lang="en-US" err="1"/>
              <a:t>hesla</a:t>
            </a:r>
            <a:r>
              <a:rPr lang="en-US"/>
              <a:t> hash a ten</a:t>
            </a:r>
            <a:r>
              <a:rPr lang="cs-CZ"/>
              <a:t> </a:t>
            </a:r>
            <a:r>
              <a:rPr lang="en-US" err="1"/>
              <a:t>pak</a:t>
            </a:r>
            <a:r>
              <a:rPr lang="en-US"/>
              <a:t> </a:t>
            </a:r>
            <a:r>
              <a:rPr lang="en-US" err="1"/>
              <a:t>porovná</a:t>
            </a:r>
            <a:r>
              <a:rPr lang="en-US"/>
              <a:t> s </a:t>
            </a:r>
            <a:r>
              <a:rPr lang="en-US" err="1"/>
              <a:t>hashem</a:t>
            </a:r>
            <a:r>
              <a:rPr lang="en-US"/>
              <a:t> </a:t>
            </a:r>
            <a:r>
              <a:rPr lang="en-US" err="1"/>
              <a:t>získaným</a:t>
            </a:r>
            <a:r>
              <a:rPr lang="en-US"/>
              <a:t> </a:t>
            </a:r>
            <a:r>
              <a:rPr lang="en-US" err="1"/>
              <a:t>útokem</a:t>
            </a:r>
            <a:r>
              <a:rPr lang="en-US"/>
              <a:t>. </a:t>
            </a:r>
            <a:endParaRPr lang="cs-CZ"/>
          </a:p>
          <a:p>
            <a:r>
              <a:rPr lang="en-US" err="1"/>
              <a:t>Liší</a:t>
            </a:r>
            <a:r>
              <a:rPr lang="en-US"/>
              <a:t> se </a:t>
            </a:r>
            <a:r>
              <a:rPr lang="en-US" err="1"/>
              <a:t>tedy</a:t>
            </a:r>
            <a:r>
              <a:rPr lang="en-US"/>
              <a:t> </a:t>
            </a:r>
            <a:r>
              <a:rPr lang="en-US" err="1"/>
              <a:t>hlavně</a:t>
            </a:r>
            <a:r>
              <a:rPr lang="en-US"/>
              <a:t> </a:t>
            </a:r>
            <a:r>
              <a:rPr lang="en-US" err="1"/>
              <a:t>způsoby</a:t>
            </a:r>
            <a:r>
              <a:rPr lang="en-US"/>
              <a:t>, </a:t>
            </a:r>
            <a:r>
              <a:rPr lang="en-US" err="1"/>
              <a:t>kterými</a:t>
            </a:r>
            <a:r>
              <a:rPr lang="en-US"/>
              <a:t> </a:t>
            </a:r>
            <a:r>
              <a:rPr lang="en-US" err="1"/>
              <a:t>útočník</a:t>
            </a:r>
            <a:r>
              <a:rPr lang="en-US"/>
              <a:t> </a:t>
            </a:r>
            <a:r>
              <a:rPr lang="en-US" err="1"/>
              <a:t>vybírá</a:t>
            </a:r>
            <a:r>
              <a:rPr lang="cs-CZ"/>
              <a:t> </a:t>
            </a:r>
            <a:r>
              <a:rPr lang="en-US" err="1"/>
              <a:t>vhodné</a:t>
            </a:r>
            <a:r>
              <a:rPr lang="en-US"/>
              <a:t> </a:t>
            </a:r>
            <a:r>
              <a:rPr lang="en-US" err="1"/>
              <a:t>kandidáty</a:t>
            </a:r>
            <a:r>
              <a:rPr lang="en-US"/>
              <a:t> </a:t>
            </a:r>
            <a:r>
              <a:rPr lang="en-US" err="1"/>
              <a:t>na</a:t>
            </a:r>
            <a:r>
              <a:rPr lang="en-US"/>
              <a:t> </a:t>
            </a:r>
            <a:r>
              <a:rPr lang="en-US" err="1"/>
              <a:t>heslo</a:t>
            </a:r>
            <a:r>
              <a:rPr lang="en-US"/>
              <a:t>, </a:t>
            </a:r>
            <a:r>
              <a:rPr lang="en-US" err="1"/>
              <a:t>jehož</a:t>
            </a:r>
            <a:r>
              <a:rPr lang="en-US"/>
              <a:t> hash </a:t>
            </a:r>
            <a:r>
              <a:rPr lang="en-US" err="1"/>
              <a:t>bude</a:t>
            </a:r>
            <a:r>
              <a:rPr lang="en-US"/>
              <a:t> </a:t>
            </a:r>
            <a:r>
              <a:rPr lang="en-US" err="1"/>
              <a:t>porovnáván</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265</a:t>
            </a:fld>
            <a:endParaRPr lang="cs-CZ"/>
          </a:p>
        </p:txBody>
      </p:sp>
    </p:spTree>
    <p:extLst>
      <p:ext uri="{BB962C8B-B14F-4D97-AF65-F5344CB8AC3E}">
        <p14:creationId xmlns:p14="http://schemas.microsoft.com/office/powerpoint/2010/main" val="622591402"/>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Keyspace</a:t>
            </a:r>
            <a:endParaRPr lang="en-US"/>
          </a:p>
        </p:txBody>
      </p:sp>
      <p:sp>
        <p:nvSpPr>
          <p:cNvPr id="3" name="Content Placeholder 2"/>
          <p:cNvSpPr>
            <a:spLocks noGrp="1"/>
          </p:cNvSpPr>
          <p:nvPr>
            <p:ph idx="1"/>
          </p:nvPr>
        </p:nvSpPr>
        <p:spPr/>
        <p:txBody>
          <a:bodyPr>
            <a:normAutofit/>
          </a:bodyPr>
          <a:lstStyle/>
          <a:p>
            <a:r>
              <a:rPr lang="en-US" err="1"/>
              <a:t>Důležitým</a:t>
            </a:r>
            <a:r>
              <a:rPr lang="en-US"/>
              <a:t> </a:t>
            </a:r>
            <a:r>
              <a:rPr lang="en-US" err="1"/>
              <a:t>pojmem</a:t>
            </a:r>
            <a:r>
              <a:rPr lang="en-US"/>
              <a:t>, </a:t>
            </a:r>
            <a:r>
              <a:rPr lang="en-US" err="1"/>
              <a:t>který</a:t>
            </a:r>
            <a:r>
              <a:rPr lang="en-US"/>
              <a:t> </a:t>
            </a:r>
            <a:r>
              <a:rPr lang="en-US" err="1"/>
              <a:t>souvisí</a:t>
            </a:r>
            <a:r>
              <a:rPr lang="en-US"/>
              <a:t> s </a:t>
            </a:r>
            <a:r>
              <a:rPr lang="en-US" err="1"/>
              <a:t>útoky</a:t>
            </a:r>
            <a:r>
              <a:rPr lang="en-US"/>
              <a:t> </a:t>
            </a:r>
            <a:r>
              <a:rPr lang="en-US" err="1"/>
              <a:t>na</a:t>
            </a:r>
            <a:r>
              <a:rPr lang="en-US"/>
              <a:t> </a:t>
            </a:r>
            <a:r>
              <a:rPr lang="en-US" err="1"/>
              <a:t>hesla</a:t>
            </a:r>
            <a:r>
              <a:rPr lang="en-US"/>
              <a:t>, je </a:t>
            </a:r>
            <a:r>
              <a:rPr lang="en-US" err="1"/>
              <a:t>pojem</a:t>
            </a:r>
            <a:r>
              <a:rPr lang="en-US"/>
              <a:t> </a:t>
            </a:r>
            <a:r>
              <a:rPr lang="en-US" err="1"/>
              <a:t>keyspace</a:t>
            </a:r>
            <a:r>
              <a:rPr lang="en-US"/>
              <a:t>, </a:t>
            </a:r>
            <a:r>
              <a:rPr lang="en-US" err="1"/>
              <a:t>který</a:t>
            </a:r>
            <a:r>
              <a:rPr lang="en-US"/>
              <a:t> v </a:t>
            </a:r>
            <a:r>
              <a:rPr lang="en-US" err="1"/>
              <a:t>kryptografii</a:t>
            </a:r>
            <a:r>
              <a:rPr lang="cs-CZ"/>
              <a:t> </a:t>
            </a:r>
            <a:r>
              <a:rPr lang="en-US" err="1"/>
              <a:t>označuje</a:t>
            </a:r>
            <a:r>
              <a:rPr lang="en-US"/>
              <a:t> </a:t>
            </a:r>
            <a:r>
              <a:rPr lang="en-US" err="1"/>
              <a:t>množinu</a:t>
            </a:r>
            <a:r>
              <a:rPr lang="en-US"/>
              <a:t> </a:t>
            </a:r>
            <a:r>
              <a:rPr lang="en-US" err="1"/>
              <a:t>všech</a:t>
            </a:r>
            <a:r>
              <a:rPr lang="en-US"/>
              <a:t> </a:t>
            </a:r>
            <a:r>
              <a:rPr lang="en-US" err="1"/>
              <a:t>možných</a:t>
            </a:r>
            <a:r>
              <a:rPr lang="en-US"/>
              <a:t> </a:t>
            </a:r>
            <a:r>
              <a:rPr lang="en-US" err="1"/>
              <a:t>klíčů</a:t>
            </a:r>
            <a:r>
              <a:rPr lang="en-US"/>
              <a:t>, </a:t>
            </a:r>
            <a:r>
              <a:rPr lang="en-US" err="1"/>
              <a:t>které</a:t>
            </a:r>
            <a:r>
              <a:rPr lang="en-US"/>
              <a:t> </a:t>
            </a:r>
            <a:r>
              <a:rPr lang="en-US" err="1"/>
              <a:t>konkrétní</a:t>
            </a:r>
            <a:r>
              <a:rPr lang="en-US"/>
              <a:t> </a:t>
            </a:r>
            <a:r>
              <a:rPr lang="en-US" err="1"/>
              <a:t>šifrovací</a:t>
            </a:r>
            <a:r>
              <a:rPr lang="en-US"/>
              <a:t> </a:t>
            </a:r>
            <a:r>
              <a:rPr lang="en-US" err="1"/>
              <a:t>algoritmus</a:t>
            </a:r>
            <a:r>
              <a:rPr lang="en-US"/>
              <a:t> </a:t>
            </a:r>
            <a:r>
              <a:rPr lang="en-US" err="1"/>
              <a:t>může</a:t>
            </a:r>
            <a:r>
              <a:rPr lang="en-US"/>
              <a:t> </a:t>
            </a:r>
            <a:r>
              <a:rPr lang="en-US" err="1"/>
              <a:t>využít</a:t>
            </a:r>
            <a:r>
              <a:rPr lang="en-US"/>
              <a:t>.</a:t>
            </a:r>
          </a:p>
          <a:p>
            <a:r>
              <a:rPr lang="en-US"/>
              <a:t>V </a:t>
            </a:r>
            <a:r>
              <a:rPr lang="en-US" err="1"/>
              <a:t>případě</a:t>
            </a:r>
            <a:r>
              <a:rPr lang="en-US"/>
              <a:t> </a:t>
            </a:r>
            <a:r>
              <a:rPr lang="en-US" err="1"/>
              <a:t>hesel</a:t>
            </a:r>
            <a:r>
              <a:rPr lang="en-US"/>
              <a:t> </a:t>
            </a:r>
            <a:r>
              <a:rPr lang="en-US" err="1"/>
              <a:t>pak</a:t>
            </a:r>
            <a:r>
              <a:rPr lang="en-US"/>
              <a:t> </a:t>
            </a:r>
            <a:r>
              <a:rPr lang="en-US" err="1"/>
              <a:t>jako</a:t>
            </a:r>
            <a:r>
              <a:rPr lang="en-US"/>
              <a:t> </a:t>
            </a:r>
            <a:r>
              <a:rPr lang="en-US" b="1" err="1"/>
              <a:t>keyspace</a:t>
            </a:r>
            <a:r>
              <a:rPr lang="en-US"/>
              <a:t> </a:t>
            </a:r>
            <a:r>
              <a:rPr lang="en-US" err="1"/>
              <a:t>označujeme</a:t>
            </a:r>
            <a:r>
              <a:rPr lang="en-US"/>
              <a:t> </a:t>
            </a:r>
            <a:r>
              <a:rPr lang="en-US" err="1"/>
              <a:t>množství</a:t>
            </a:r>
            <a:r>
              <a:rPr lang="en-US"/>
              <a:t> </a:t>
            </a:r>
            <a:r>
              <a:rPr lang="en-US" err="1"/>
              <a:t>znaků</a:t>
            </a:r>
            <a:r>
              <a:rPr lang="en-US"/>
              <a:t>, </a:t>
            </a:r>
            <a:r>
              <a:rPr lang="en-US" err="1"/>
              <a:t>ze</a:t>
            </a:r>
            <a:r>
              <a:rPr lang="en-US"/>
              <a:t> </a:t>
            </a:r>
            <a:r>
              <a:rPr lang="en-US" err="1"/>
              <a:t>kterých</a:t>
            </a:r>
            <a:r>
              <a:rPr lang="en-US"/>
              <a:t> je </a:t>
            </a:r>
            <a:r>
              <a:rPr lang="en-US" err="1"/>
              <a:t>možné</a:t>
            </a:r>
            <a:r>
              <a:rPr lang="en-US"/>
              <a:t> </a:t>
            </a:r>
            <a:r>
              <a:rPr lang="en-US" err="1"/>
              <a:t>heslo</a:t>
            </a:r>
            <a:r>
              <a:rPr lang="cs-CZ"/>
              <a:t> </a:t>
            </a:r>
            <a:r>
              <a:rPr lang="en-US" err="1"/>
              <a:t>vytvořit</a:t>
            </a:r>
            <a:r>
              <a:rPr lang="en-US"/>
              <a:t>. </a:t>
            </a:r>
            <a:endParaRPr lang="cs-CZ"/>
          </a:p>
          <a:p>
            <a:r>
              <a:rPr lang="en-US"/>
              <a:t>Na </a:t>
            </a:r>
            <a:r>
              <a:rPr lang="en-US" err="1"/>
              <a:t>české</a:t>
            </a:r>
            <a:r>
              <a:rPr lang="en-US"/>
              <a:t> </a:t>
            </a:r>
            <a:r>
              <a:rPr lang="en-US" err="1"/>
              <a:t>klávesnici</a:t>
            </a:r>
            <a:r>
              <a:rPr lang="en-US"/>
              <a:t> </a:t>
            </a:r>
            <a:r>
              <a:rPr lang="en-US" err="1"/>
              <a:t>máme</a:t>
            </a:r>
            <a:r>
              <a:rPr lang="en-US"/>
              <a:t> pro </a:t>
            </a:r>
            <a:r>
              <a:rPr lang="en-US" err="1"/>
              <a:t>jejich</a:t>
            </a:r>
            <a:r>
              <a:rPr lang="en-US"/>
              <a:t> </a:t>
            </a:r>
            <a:r>
              <a:rPr lang="en-US" err="1"/>
              <a:t>vytvoření</a:t>
            </a:r>
            <a:r>
              <a:rPr lang="en-US"/>
              <a:t> k </a:t>
            </a:r>
            <a:r>
              <a:rPr lang="en-US" err="1"/>
              <a:t>dispozici</a:t>
            </a:r>
            <a:r>
              <a:rPr lang="en-US"/>
              <a:t> </a:t>
            </a:r>
            <a:r>
              <a:rPr lang="en-US" err="1"/>
              <a:t>celkem</a:t>
            </a:r>
            <a:r>
              <a:rPr lang="en-US"/>
              <a:t> </a:t>
            </a:r>
            <a:r>
              <a:rPr lang="en-US" err="1"/>
              <a:t>deset</a:t>
            </a:r>
            <a:r>
              <a:rPr lang="en-US"/>
              <a:t> </a:t>
            </a:r>
            <a:r>
              <a:rPr lang="en-US" err="1"/>
              <a:t>číslic</a:t>
            </a:r>
            <a:r>
              <a:rPr lang="en-US"/>
              <a:t>, </a:t>
            </a:r>
            <a:r>
              <a:rPr lang="en-US" err="1"/>
              <a:t>dvacet</a:t>
            </a:r>
            <a:r>
              <a:rPr lang="cs-CZ"/>
              <a:t> </a:t>
            </a:r>
            <a:r>
              <a:rPr lang="en-US" err="1"/>
              <a:t>šest</a:t>
            </a:r>
            <a:r>
              <a:rPr lang="en-US"/>
              <a:t> </a:t>
            </a:r>
            <a:r>
              <a:rPr lang="en-US" err="1"/>
              <a:t>malých</a:t>
            </a:r>
            <a:r>
              <a:rPr lang="en-US"/>
              <a:t> a </a:t>
            </a:r>
            <a:r>
              <a:rPr lang="en-US" err="1"/>
              <a:t>velkých</a:t>
            </a:r>
            <a:r>
              <a:rPr lang="en-US"/>
              <a:t> </a:t>
            </a:r>
            <a:r>
              <a:rPr lang="en-US" err="1"/>
              <a:t>písmen</a:t>
            </a:r>
            <a:r>
              <a:rPr lang="en-US"/>
              <a:t> </a:t>
            </a:r>
            <a:r>
              <a:rPr lang="en-US" err="1"/>
              <a:t>abecedy</a:t>
            </a:r>
            <a:r>
              <a:rPr lang="en-US"/>
              <a:t> a </a:t>
            </a:r>
            <a:r>
              <a:rPr lang="en-US" err="1"/>
              <a:t>třiatřicet</a:t>
            </a:r>
            <a:r>
              <a:rPr lang="en-US"/>
              <a:t> </a:t>
            </a:r>
            <a:r>
              <a:rPr lang="en-US" err="1"/>
              <a:t>speciálních</a:t>
            </a:r>
            <a:r>
              <a:rPr lang="en-US"/>
              <a:t> </a:t>
            </a:r>
            <a:r>
              <a:rPr lang="en-US" err="1"/>
              <a:t>symbolů</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266</a:t>
            </a:fld>
            <a:endParaRPr lang="cs-CZ"/>
          </a:p>
        </p:txBody>
      </p:sp>
    </p:spTree>
    <p:extLst>
      <p:ext uri="{BB962C8B-B14F-4D97-AF65-F5344CB8AC3E}">
        <p14:creationId xmlns:p14="http://schemas.microsoft.com/office/powerpoint/2010/main" val="87811523"/>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Keyspace</a:t>
            </a:r>
            <a:endParaRPr lang="en-US"/>
          </a:p>
        </p:txBody>
      </p:sp>
      <p:sp>
        <p:nvSpPr>
          <p:cNvPr id="3" name="Content Placeholder 2"/>
          <p:cNvSpPr>
            <a:spLocks noGrp="1"/>
          </p:cNvSpPr>
          <p:nvPr>
            <p:ph idx="1"/>
          </p:nvPr>
        </p:nvSpPr>
        <p:spPr/>
        <p:txBody>
          <a:bodyPr>
            <a:normAutofit/>
          </a:bodyPr>
          <a:lstStyle/>
          <a:p>
            <a:r>
              <a:rPr lang="en-US" b="1" err="1"/>
              <a:t>Počet</a:t>
            </a:r>
            <a:r>
              <a:rPr lang="en-US" b="1"/>
              <a:t> </a:t>
            </a:r>
            <a:r>
              <a:rPr lang="en-US" b="1" err="1"/>
              <a:t>možných</a:t>
            </a:r>
            <a:r>
              <a:rPr lang="en-US" b="1"/>
              <a:t> </a:t>
            </a:r>
            <a:r>
              <a:rPr lang="en-US" b="1" err="1"/>
              <a:t>variací</a:t>
            </a:r>
            <a:r>
              <a:rPr lang="en-US" b="1"/>
              <a:t> je </a:t>
            </a:r>
            <a:r>
              <a:rPr lang="en-US" b="1" err="1"/>
              <a:t>dán</a:t>
            </a:r>
            <a:r>
              <a:rPr lang="en-US" b="1"/>
              <a:t>: </a:t>
            </a:r>
            <a:endParaRPr lang="cs-CZ" b="1"/>
          </a:p>
          <a:p>
            <a:pPr marL="0" indent="0">
              <a:buNone/>
            </a:pPr>
            <a:r>
              <a:rPr lang="cs-CZ" b="1"/>
              <a:t>		</a:t>
            </a:r>
            <a:r>
              <a:rPr lang="en-US" b="1"/>
              <a:t>V (</a:t>
            </a:r>
            <a:r>
              <a:rPr lang="en-US" b="1" err="1"/>
              <a:t>počet</a:t>
            </a:r>
            <a:r>
              <a:rPr lang="en-US" b="1"/>
              <a:t> </a:t>
            </a:r>
            <a:r>
              <a:rPr lang="en-US" b="1" err="1"/>
              <a:t>variací</a:t>
            </a:r>
            <a:r>
              <a:rPr lang="en-US" b="1"/>
              <a:t>) = </a:t>
            </a:r>
            <a:r>
              <a:rPr lang="en-US" b="1" err="1"/>
              <a:t>Keyspace^délka</a:t>
            </a:r>
            <a:r>
              <a:rPr lang="en-US" b="1"/>
              <a:t> </a:t>
            </a:r>
            <a:r>
              <a:rPr lang="en-US" b="1" err="1"/>
              <a:t>hesla</a:t>
            </a:r>
            <a:r>
              <a:rPr lang="en-US"/>
              <a:t>.</a:t>
            </a:r>
            <a:endParaRPr lang="cs-CZ"/>
          </a:p>
          <a:p>
            <a:pPr marL="0" indent="0">
              <a:buNone/>
            </a:pPr>
            <a:endParaRPr lang="cs-CZ"/>
          </a:p>
          <a:p>
            <a:r>
              <a:rPr lang="en-US" err="1"/>
              <a:t>Pokud</a:t>
            </a:r>
            <a:r>
              <a:rPr lang="en-US"/>
              <a:t> </a:t>
            </a:r>
            <a:r>
              <a:rPr lang="en-US" err="1"/>
              <a:t>správce</a:t>
            </a:r>
            <a:r>
              <a:rPr lang="en-US"/>
              <a:t> </a:t>
            </a:r>
            <a:r>
              <a:rPr lang="en-US" err="1"/>
              <a:t>po</a:t>
            </a:r>
            <a:r>
              <a:rPr lang="en-US"/>
              <a:t> </a:t>
            </a:r>
            <a:r>
              <a:rPr lang="en-US" err="1"/>
              <a:t>uživatelích</a:t>
            </a:r>
            <a:r>
              <a:rPr lang="en-US"/>
              <a:t> </a:t>
            </a:r>
            <a:r>
              <a:rPr lang="en-US" err="1"/>
              <a:t>vyžaduje</a:t>
            </a:r>
            <a:r>
              <a:rPr lang="en-US"/>
              <a:t> </a:t>
            </a:r>
            <a:r>
              <a:rPr lang="en-US" err="1"/>
              <a:t>pouze</a:t>
            </a:r>
            <a:r>
              <a:rPr lang="en-US"/>
              <a:t> </a:t>
            </a:r>
            <a:r>
              <a:rPr lang="en-US" err="1"/>
              <a:t>hesla</a:t>
            </a:r>
            <a:r>
              <a:rPr lang="en-US"/>
              <a:t> </a:t>
            </a:r>
            <a:r>
              <a:rPr lang="en-US" err="1"/>
              <a:t>složená</a:t>
            </a:r>
            <a:r>
              <a:rPr lang="en-US"/>
              <a:t> z </a:t>
            </a:r>
            <a:r>
              <a:rPr lang="en-US" err="1"/>
              <a:t>malých</a:t>
            </a:r>
            <a:r>
              <a:rPr lang="en-US"/>
              <a:t> </a:t>
            </a:r>
            <a:r>
              <a:rPr lang="en-US" err="1"/>
              <a:t>písmen</a:t>
            </a:r>
            <a:r>
              <a:rPr lang="en-US"/>
              <a:t> a </a:t>
            </a:r>
            <a:r>
              <a:rPr lang="en-US" err="1"/>
              <a:t>maximální</a:t>
            </a:r>
            <a:r>
              <a:rPr lang="en-US"/>
              <a:t> </a:t>
            </a:r>
            <a:r>
              <a:rPr lang="en-US" err="1"/>
              <a:t>možná</a:t>
            </a:r>
            <a:r>
              <a:rPr lang="cs-CZ"/>
              <a:t> </a:t>
            </a:r>
            <a:r>
              <a:rPr lang="en-US" err="1"/>
              <a:t>délka</a:t>
            </a:r>
            <a:r>
              <a:rPr lang="en-US"/>
              <a:t> </a:t>
            </a:r>
            <a:r>
              <a:rPr lang="en-US" err="1"/>
              <a:t>hesla</a:t>
            </a:r>
            <a:r>
              <a:rPr lang="en-US"/>
              <a:t> je 7 </a:t>
            </a:r>
            <a:r>
              <a:rPr lang="en-US" err="1"/>
              <a:t>znaků</a:t>
            </a:r>
            <a:r>
              <a:rPr lang="en-US"/>
              <a:t>, </a:t>
            </a:r>
            <a:r>
              <a:rPr lang="en-US" err="1"/>
              <a:t>pak</a:t>
            </a:r>
            <a:r>
              <a:rPr lang="en-US"/>
              <a:t> je </a:t>
            </a:r>
            <a:r>
              <a:rPr lang="en-US" err="1"/>
              <a:t>počet</a:t>
            </a:r>
            <a:r>
              <a:rPr lang="en-US"/>
              <a:t> </a:t>
            </a:r>
            <a:r>
              <a:rPr lang="en-US" err="1"/>
              <a:t>variací</a:t>
            </a:r>
            <a:r>
              <a:rPr lang="en-US"/>
              <a:t> </a:t>
            </a:r>
            <a:r>
              <a:rPr lang="en-US" err="1"/>
              <a:t>roven</a:t>
            </a:r>
            <a:r>
              <a:rPr lang="en-US"/>
              <a:t> 267, </a:t>
            </a:r>
            <a:r>
              <a:rPr lang="en-US" err="1"/>
              <a:t>což</a:t>
            </a:r>
            <a:r>
              <a:rPr lang="en-US"/>
              <a:t> je 8</a:t>
            </a:r>
            <a:r>
              <a:rPr lang="cs-CZ"/>
              <a:t> </a:t>
            </a:r>
            <a:r>
              <a:rPr lang="en-US"/>
              <a:t>031</a:t>
            </a:r>
            <a:r>
              <a:rPr lang="cs-CZ"/>
              <a:t> </a:t>
            </a:r>
            <a:r>
              <a:rPr lang="en-US"/>
              <a:t>810</a:t>
            </a:r>
            <a:r>
              <a:rPr lang="cs-CZ"/>
              <a:t> </a:t>
            </a:r>
            <a:r>
              <a:rPr lang="en-US"/>
              <a:t>176 </a:t>
            </a:r>
            <a:r>
              <a:rPr lang="en-US" err="1"/>
              <a:t>možných</a:t>
            </a:r>
            <a:r>
              <a:rPr lang="en-US"/>
              <a:t> </a:t>
            </a:r>
            <a:r>
              <a:rPr lang="en-US" err="1"/>
              <a:t>variací</a:t>
            </a:r>
            <a:r>
              <a:rPr lang="en-US"/>
              <a:t>.</a:t>
            </a:r>
            <a:br>
              <a:rPr lang="en-US"/>
            </a:br>
            <a:br>
              <a:rPr lang="en-US"/>
            </a:br>
            <a:br>
              <a:rPr lang="en-US"/>
            </a:br>
            <a:br>
              <a:rPr lang="en-US"/>
            </a:b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267</a:t>
            </a:fld>
            <a:endParaRPr lang="cs-CZ"/>
          </a:p>
        </p:txBody>
      </p:sp>
    </p:spTree>
    <p:extLst>
      <p:ext uri="{BB962C8B-B14F-4D97-AF65-F5344CB8AC3E}">
        <p14:creationId xmlns:p14="http://schemas.microsoft.com/office/powerpoint/2010/main" val="1165510574"/>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Útoky na hashe</a:t>
            </a:r>
            <a:endParaRPr lang="en-US"/>
          </a:p>
        </p:txBody>
      </p:sp>
      <p:sp>
        <p:nvSpPr>
          <p:cNvPr id="3" name="Content Placeholder 2"/>
          <p:cNvSpPr>
            <a:spLocks noGrp="1"/>
          </p:cNvSpPr>
          <p:nvPr>
            <p:ph idx="1"/>
          </p:nvPr>
        </p:nvSpPr>
        <p:spPr/>
        <p:txBody>
          <a:bodyPr>
            <a:normAutofit/>
          </a:bodyPr>
          <a:lstStyle/>
          <a:p>
            <a:r>
              <a:rPr lang="en-US" err="1"/>
              <a:t>Útočník</a:t>
            </a:r>
            <a:r>
              <a:rPr lang="en-US"/>
              <a:t> </a:t>
            </a:r>
            <a:r>
              <a:rPr lang="en-US" err="1"/>
              <a:t>spoléhá</a:t>
            </a:r>
            <a:r>
              <a:rPr lang="en-US"/>
              <a:t> </a:t>
            </a:r>
            <a:r>
              <a:rPr lang="en-US" err="1"/>
              <a:t>na</a:t>
            </a:r>
            <a:r>
              <a:rPr lang="en-US"/>
              <a:t> to, </a:t>
            </a:r>
            <a:r>
              <a:rPr lang="en-US" err="1"/>
              <a:t>že</a:t>
            </a:r>
            <a:r>
              <a:rPr lang="en-US"/>
              <a:t> </a:t>
            </a:r>
            <a:r>
              <a:rPr lang="en-US" err="1"/>
              <a:t>člověk</a:t>
            </a:r>
            <a:r>
              <a:rPr lang="en-US"/>
              <a:t> je </a:t>
            </a:r>
            <a:r>
              <a:rPr lang="en-US" err="1"/>
              <a:t>tvor</a:t>
            </a:r>
            <a:r>
              <a:rPr lang="en-US"/>
              <a:t> </a:t>
            </a:r>
            <a:r>
              <a:rPr lang="en-US" err="1"/>
              <a:t>pohodlný</a:t>
            </a:r>
            <a:r>
              <a:rPr lang="en-US"/>
              <a:t>, a proto se </a:t>
            </a:r>
            <a:r>
              <a:rPr lang="en-US" err="1"/>
              <a:t>bude</a:t>
            </a:r>
            <a:r>
              <a:rPr lang="en-US"/>
              <a:t> </a:t>
            </a:r>
            <a:r>
              <a:rPr lang="en-US" err="1"/>
              <a:t>většina</a:t>
            </a:r>
            <a:r>
              <a:rPr lang="en-US"/>
              <a:t> </a:t>
            </a:r>
            <a:r>
              <a:rPr lang="en-US" err="1"/>
              <a:t>uživatelů</a:t>
            </a:r>
            <a:r>
              <a:rPr lang="en-US"/>
              <a:t> </a:t>
            </a:r>
            <a:r>
              <a:rPr lang="en-US" err="1"/>
              <a:t>snažit</a:t>
            </a:r>
            <a:r>
              <a:rPr lang="en-US"/>
              <a:t> </a:t>
            </a:r>
            <a:r>
              <a:rPr lang="en-US" err="1"/>
              <a:t>naplnit</a:t>
            </a:r>
            <a:r>
              <a:rPr lang="cs-CZ"/>
              <a:t> </a:t>
            </a:r>
            <a:r>
              <a:rPr lang="en-US" err="1"/>
              <a:t>pouze</a:t>
            </a:r>
            <a:r>
              <a:rPr lang="en-US"/>
              <a:t> </a:t>
            </a:r>
            <a:r>
              <a:rPr lang="en-US" err="1"/>
              <a:t>minimální</a:t>
            </a:r>
            <a:r>
              <a:rPr lang="en-US"/>
              <a:t> </a:t>
            </a:r>
            <a:r>
              <a:rPr lang="en-US" err="1"/>
              <a:t>požadavky</a:t>
            </a:r>
            <a:r>
              <a:rPr lang="en-US"/>
              <a:t> </a:t>
            </a:r>
            <a:r>
              <a:rPr lang="en-US" err="1"/>
              <a:t>na</a:t>
            </a:r>
            <a:r>
              <a:rPr lang="en-US"/>
              <a:t> </a:t>
            </a:r>
            <a:r>
              <a:rPr lang="en-US" err="1"/>
              <a:t>heslo</a:t>
            </a:r>
            <a:r>
              <a:rPr lang="en-US"/>
              <a:t>, </a:t>
            </a:r>
            <a:r>
              <a:rPr lang="en-US" err="1"/>
              <a:t>aby</a:t>
            </a:r>
            <a:r>
              <a:rPr lang="en-US"/>
              <a:t> </a:t>
            </a:r>
            <a:r>
              <a:rPr lang="en-US" err="1"/>
              <a:t>si</a:t>
            </a:r>
            <a:r>
              <a:rPr lang="en-US"/>
              <a:t> </a:t>
            </a:r>
            <a:r>
              <a:rPr lang="en-US" err="1"/>
              <a:t>nemuseli</a:t>
            </a:r>
            <a:r>
              <a:rPr lang="en-US"/>
              <a:t> </a:t>
            </a:r>
            <a:r>
              <a:rPr lang="en-US" err="1"/>
              <a:t>pamatovat</a:t>
            </a:r>
            <a:r>
              <a:rPr lang="en-US"/>
              <a:t> </a:t>
            </a:r>
            <a:r>
              <a:rPr lang="en-US" err="1"/>
              <a:t>složitá</a:t>
            </a:r>
            <a:r>
              <a:rPr lang="en-US"/>
              <a:t> a </a:t>
            </a:r>
            <a:r>
              <a:rPr lang="en-US" err="1"/>
              <a:t>dlouhá</a:t>
            </a:r>
            <a:r>
              <a:rPr lang="en-US"/>
              <a:t> </a:t>
            </a:r>
            <a:r>
              <a:rPr lang="en-US" err="1"/>
              <a:t>hesla</a:t>
            </a:r>
            <a:r>
              <a:rPr lang="en-US"/>
              <a:t>.</a:t>
            </a:r>
            <a:endParaRPr lang="cs-CZ"/>
          </a:p>
          <a:p>
            <a:r>
              <a:rPr lang="en-US" err="1"/>
              <a:t>Mezi</a:t>
            </a:r>
            <a:r>
              <a:rPr lang="en-US"/>
              <a:t> </a:t>
            </a:r>
            <a:r>
              <a:rPr lang="en-US" err="1"/>
              <a:t>nejčastější</a:t>
            </a:r>
            <a:r>
              <a:rPr lang="en-US"/>
              <a:t> </a:t>
            </a:r>
            <a:r>
              <a:rPr lang="en-US" err="1"/>
              <a:t>útoky</a:t>
            </a:r>
            <a:r>
              <a:rPr lang="en-US"/>
              <a:t> </a:t>
            </a:r>
            <a:r>
              <a:rPr lang="en-US" err="1"/>
              <a:t>na</a:t>
            </a:r>
            <a:r>
              <a:rPr lang="en-US"/>
              <a:t> </a:t>
            </a:r>
            <a:r>
              <a:rPr lang="en-US" err="1"/>
              <a:t>hashe</a:t>
            </a:r>
            <a:r>
              <a:rPr lang="en-US"/>
              <a:t> se </a:t>
            </a:r>
            <a:r>
              <a:rPr lang="en-US" err="1"/>
              <a:t>řadí</a:t>
            </a:r>
            <a:r>
              <a:rPr lang="en-US"/>
              <a:t>:</a:t>
            </a:r>
            <a:endParaRPr lang="cs-CZ"/>
          </a:p>
          <a:p>
            <a:pPr lvl="1"/>
            <a:r>
              <a:rPr lang="en-US" b="1" err="1"/>
              <a:t>Útok</a:t>
            </a:r>
            <a:r>
              <a:rPr lang="en-US" b="1"/>
              <a:t> </a:t>
            </a:r>
            <a:r>
              <a:rPr lang="en-US" b="1" err="1"/>
              <a:t>hrubou</a:t>
            </a:r>
            <a:r>
              <a:rPr lang="en-US" b="1"/>
              <a:t> </a:t>
            </a:r>
            <a:r>
              <a:rPr lang="en-US" b="1" err="1"/>
              <a:t>silou</a:t>
            </a:r>
            <a:r>
              <a:rPr lang="en-US" b="1"/>
              <a:t> (Brute force)</a:t>
            </a:r>
            <a:endParaRPr lang="cs-CZ" b="1"/>
          </a:p>
          <a:p>
            <a:pPr lvl="1"/>
            <a:r>
              <a:rPr lang="en-US" b="1" err="1"/>
              <a:t>Distribuce</a:t>
            </a:r>
            <a:r>
              <a:rPr lang="en-US" b="1"/>
              <a:t> </a:t>
            </a:r>
            <a:r>
              <a:rPr lang="en-US" b="1" err="1"/>
              <a:t>útoku</a:t>
            </a:r>
            <a:r>
              <a:rPr lang="en-US" b="1"/>
              <a:t> </a:t>
            </a:r>
            <a:r>
              <a:rPr lang="en-US" b="1" err="1"/>
              <a:t>na</a:t>
            </a:r>
            <a:r>
              <a:rPr lang="en-US" b="1"/>
              <a:t> </a:t>
            </a:r>
            <a:r>
              <a:rPr lang="en-US" b="1" err="1"/>
              <a:t>více</a:t>
            </a:r>
            <a:r>
              <a:rPr lang="en-US" b="1"/>
              <a:t> </a:t>
            </a:r>
            <a:r>
              <a:rPr lang="en-US" b="1" err="1"/>
              <a:t>počítačových</a:t>
            </a:r>
            <a:r>
              <a:rPr lang="en-US" b="1"/>
              <a:t> </a:t>
            </a:r>
            <a:r>
              <a:rPr lang="en-US" b="1" err="1"/>
              <a:t>systémů</a:t>
            </a:r>
            <a:r>
              <a:rPr lang="en-US" b="1"/>
              <a:t> v </a:t>
            </a:r>
            <a:r>
              <a:rPr lang="en-US" b="1" err="1"/>
              <a:t>počítačové</a:t>
            </a:r>
            <a:r>
              <a:rPr lang="en-US" b="1"/>
              <a:t> </a:t>
            </a:r>
            <a:r>
              <a:rPr lang="en-US" b="1" err="1"/>
              <a:t>síti</a:t>
            </a:r>
            <a:endParaRPr lang="cs-CZ"/>
          </a:p>
          <a:p>
            <a:pPr lvl="1"/>
            <a:r>
              <a:rPr lang="en-US" b="1" err="1"/>
              <a:t>Slovníkový</a:t>
            </a:r>
            <a:r>
              <a:rPr lang="en-US" b="1"/>
              <a:t> </a:t>
            </a:r>
            <a:r>
              <a:rPr lang="en-US" b="1" err="1"/>
              <a:t>útok</a:t>
            </a:r>
            <a:endParaRPr lang="cs-CZ"/>
          </a:p>
          <a:p>
            <a:pPr lvl="1"/>
            <a:r>
              <a:rPr lang="en-US" b="1" err="1"/>
              <a:t>Použití</a:t>
            </a:r>
            <a:r>
              <a:rPr lang="en-US" b="1"/>
              <a:t> rainbow tables</a:t>
            </a: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268</a:t>
            </a:fld>
            <a:endParaRPr lang="cs-CZ"/>
          </a:p>
        </p:txBody>
      </p:sp>
    </p:spTree>
    <p:extLst>
      <p:ext uri="{BB962C8B-B14F-4D97-AF65-F5344CB8AC3E}">
        <p14:creationId xmlns:p14="http://schemas.microsoft.com/office/powerpoint/2010/main" val="1305447671"/>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err="1"/>
              <a:t>Útok</a:t>
            </a:r>
            <a:r>
              <a:rPr lang="en-US" b="1"/>
              <a:t> </a:t>
            </a:r>
            <a:r>
              <a:rPr lang="en-US" b="1" err="1"/>
              <a:t>hrubou</a:t>
            </a:r>
            <a:r>
              <a:rPr lang="en-US" b="1"/>
              <a:t> </a:t>
            </a:r>
            <a:r>
              <a:rPr lang="en-US" b="1" err="1"/>
              <a:t>silou</a:t>
            </a:r>
            <a:r>
              <a:rPr lang="en-US" b="1"/>
              <a:t> (Brute force)</a:t>
            </a:r>
            <a:endParaRPr lang="en-US"/>
          </a:p>
        </p:txBody>
      </p:sp>
      <p:sp>
        <p:nvSpPr>
          <p:cNvPr id="3" name="Content Placeholder 2"/>
          <p:cNvSpPr>
            <a:spLocks noGrp="1"/>
          </p:cNvSpPr>
          <p:nvPr>
            <p:ph idx="1"/>
          </p:nvPr>
        </p:nvSpPr>
        <p:spPr/>
        <p:txBody>
          <a:bodyPr/>
          <a:lstStyle/>
          <a:p>
            <a:r>
              <a:rPr lang="en-US" err="1"/>
              <a:t>Při</a:t>
            </a:r>
            <a:r>
              <a:rPr lang="en-US"/>
              <a:t> </a:t>
            </a:r>
            <a:r>
              <a:rPr lang="en-US" err="1"/>
              <a:t>tomto</a:t>
            </a:r>
            <a:r>
              <a:rPr lang="en-US"/>
              <a:t> </a:t>
            </a:r>
            <a:r>
              <a:rPr lang="en-US" err="1"/>
              <a:t>útoku</a:t>
            </a:r>
            <a:r>
              <a:rPr lang="en-US"/>
              <a:t> </a:t>
            </a:r>
            <a:r>
              <a:rPr lang="en-US" err="1"/>
              <a:t>útočník</a:t>
            </a:r>
            <a:r>
              <a:rPr lang="en-US"/>
              <a:t> </a:t>
            </a:r>
            <a:r>
              <a:rPr lang="en-US" err="1"/>
              <a:t>generuje</a:t>
            </a:r>
            <a:r>
              <a:rPr lang="en-US"/>
              <a:t> </a:t>
            </a:r>
            <a:r>
              <a:rPr lang="en-US" err="1"/>
              <a:t>postupně</a:t>
            </a:r>
            <a:r>
              <a:rPr lang="en-US"/>
              <a:t> </a:t>
            </a:r>
            <a:r>
              <a:rPr lang="en-US" err="1"/>
              <a:t>všechna</a:t>
            </a:r>
            <a:r>
              <a:rPr lang="en-US"/>
              <a:t> </a:t>
            </a:r>
            <a:r>
              <a:rPr lang="en-US" err="1"/>
              <a:t>možná</a:t>
            </a:r>
            <a:r>
              <a:rPr lang="en-US"/>
              <a:t> </a:t>
            </a:r>
            <a:r>
              <a:rPr lang="en-US" err="1"/>
              <a:t>hesla</a:t>
            </a:r>
            <a:r>
              <a:rPr lang="en-US"/>
              <a:t>, </a:t>
            </a:r>
            <a:r>
              <a:rPr lang="en-US" err="1"/>
              <a:t>která</a:t>
            </a:r>
            <a:r>
              <a:rPr lang="en-US"/>
              <a:t> </a:t>
            </a:r>
            <a:r>
              <a:rPr lang="en-US" err="1"/>
              <a:t>právě</a:t>
            </a:r>
            <a:r>
              <a:rPr lang="en-US"/>
              <a:t> </a:t>
            </a:r>
            <a:r>
              <a:rPr lang="en-US" err="1"/>
              <a:t>splňují</a:t>
            </a:r>
            <a:r>
              <a:rPr lang="cs-CZ"/>
              <a:t> </a:t>
            </a:r>
            <a:r>
              <a:rPr lang="en-US" err="1"/>
              <a:t>požadavky</a:t>
            </a:r>
            <a:r>
              <a:rPr lang="en-US"/>
              <a:t> </a:t>
            </a:r>
            <a:r>
              <a:rPr lang="en-US" err="1"/>
              <a:t>daného</a:t>
            </a:r>
            <a:r>
              <a:rPr lang="en-US"/>
              <a:t> </a:t>
            </a:r>
            <a:r>
              <a:rPr lang="en-US" err="1"/>
              <a:t>systému</a:t>
            </a:r>
            <a:r>
              <a:rPr lang="en-US"/>
              <a:t> </a:t>
            </a:r>
            <a:r>
              <a:rPr lang="en-US" err="1"/>
              <a:t>na</a:t>
            </a:r>
            <a:r>
              <a:rPr lang="en-US"/>
              <a:t> </a:t>
            </a:r>
            <a:r>
              <a:rPr lang="en-US" err="1"/>
              <a:t>tvorbu</a:t>
            </a:r>
            <a:r>
              <a:rPr lang="en-US"/>
              <a:t> </a:t>
            </a:r>
            <a:r>
              <a:rPr lang="en-US" err="1"/>
              <a:t>hesel</a:t>
            </a:r>
            <a:r>
              <a:rPr lang="en-US"/>
              <a:t>. </a:t>
            </a:r>
            <a:endParaRPr lang="cs-CZ"/>
          </a:p>
          <a:p>
            <a:r>
              <a:rPr lang="en-US" err="1"/>
              <a:t>Tento</a:t>
            </a:r>
            <a:r>
              <a:rPr lang="en-US"/>
              <a:t> </a:t>
            </a:r>
            <a:r>
              <a:rPr lang="en-US" err="1"/>
              <a:t>způsob</a:t>
            </a:r>
            <a:r>
              <a:rPr lang="en-US"/>
              <a:t> </a:t>
            </a:r>
            <a:r>
              <a:rPr lang="en-US" err="1"/>
              <a:t>útoku</a:t>
            </a:r>
            <a:r>
              <a:rPr lang="en-US"/>
              <a:t> se </a:t>
            </a:r>
            <a:r>
              <a:rPr lang="en-US" err="1"/>
              <a:t>vyplatí</a:t>
            </a:r>
            <a:r>
              <a:rPr lang="en-US"/>
              <a:t> </a:t>
            </a:r>
            <a:r>
              <a:rPr lang="en-US" err="1"/>
              <a:t>pouze</a:t>
            </a:r>
            <a:r>
              <a:rPr lang="en-US"/>
              <a:t> u </a:t>
            </a:r>
            <a:r>
              <a:rPr lang="en-US" err="1"/>
              <a:t>systémů</a:t>
            </a:r>
            <a:r>
              <a:rPr lang="en-US"/>
              <a:t>,</a:t>
            </a:r>
            <a:r>
              <a:rPr lang="cs-CZ"/>
              <a:t> </a:t>
            </a:r>
            <a:r>
              <a:rPr lang="en-US" err="1"/>
              <a:t>které</a:t>
            </a:r>
            <a:r>
              <a:rPr lang="en-US"/>
              <a:t> </a:t>
            </a:r>
            <a:r>
              <a:rPr lang="en-US" err="1"/>
              <a:t>nemají</a:t>
            </a:r>
            <a:r>
              <a:rPr lang="en-US"/>
              <a:t> </a:t>
            </a:r>
            <a:r>
              <a:rPr lang="en-US" err="1"/>
              <a:t>nijak</a:t>
            </a:r>
            <a:r>
              <a:rPr lang="en-US"/>
              <a:t> </a:t>
            </a:r>
            <a:r>
              <a:rPr lang="en-US" err="1"/>
              <a:t>definovanou</a:t>
            </a:r>
            <a:r>
              <a:rPr lang="en-US"/>
              <a:t> </a:t>
            </a:r>
            <a:r>
              <a:rPr lang="en-US" err="1"/>
              <a:t>délku</a:t>
            </a:r>
            <a:r>
              <a:rPr lang="en-US"/>
              <a:t> </a:t>
            </a:r>
            <a:r>
              <a:rPr lang="en-US" err="1"/>
              <a:t>hesla</a:t>
            </a:r>
            <a:r>
              <a:rPr lang="en-US"/>
              <a:t> </a:t>
            </a:r>
            <a:r>
              <a:rPr lang="en-US" err="1"/>
              <a:t>nebo</a:t>
            </a:r>
            <a:r>
              <a:rPr lang="en-US"/>
              <a:t> </a:t>
            </a:r>
            <a:r>
              <a:rPr lang="en-US" err="1"/>
              <a:t>mají</a:t>
            </a:r>
            <a:r>
              <a:rPr lang="en-US"/>
              <a:t> </a:t>
            </a:r>
            <a:r>
              <a:rPr lang="en-US" err="1"/>
              <a:t>na</a:t>
            </a:r>
            <a:r>
              <a:rPr lang="en-US"/>
              <a:t> </a:t>
            </a:r>
            <a:r>
              <a:rPr lang="en-US" err="1"/>
              <a:t>heslo</a:t>
            </a:r>
            <a:r>
              <a:rPr lang="en-US"/>
              <a:t> </a:t>
            </a:r>
            <a:r>
              <a:rPr lang="en-US" err="1"/>
              <a:t>příliš</a:t>
            </a:r>
            <a:r>
              <a:rPr lang="en-US"/>
              <a:t> </a:t>
            </a:r>
            <a:r>
              <a:rPr lang="en-US" err="1"/>
              <a:t>malé</a:t>
            </a:r>
            <a:r>
              <a:rPr lang="en-US"/>
              <a:t> </a:t>
            </a:r>
            <a:r>
              <a:rPr lang="en-US" err="1"/>
              <a:t>nároky</a:t>
            </a:r>
            <a:r>
              <a:rPr lang="en-US"/>
              <a:t>. </a:t>
            </a:r>
            <a:endParaRPr lang="cs-CZ"/>
          </a:p>
          <a:p>
            <a:r>
              <a:rPr lang="en-US" err="1"/>
              <a:t>Při</a:t>
            </a:r>
            <a:r>
              <a:rPr lang="cs-CZ"/>
              <a:t> </a:t>
            </a:r>
            <a:r>
              <a:rPr lang="en-US" err="1"/>
              <a:t>dostatečně</a:t>
            </a:r>
            <a:r>
              <a:rPr lang="en-US"/>
              <a:t> </a:t>
            </a:r>
            <a:r>
              <a:rPr lang="en-US" err="1"/>
              <a:t>dlouhém</a:t>
            </a:r>
            <a:r>
              <a:rPr lang="en-US"/>
              <a:t> </a:t>
            </a:r>
            <a:r>
              <a:rPr lang="en-US" err="1"/>
              <a:t>hesle</a:t>
            </a:r>
            <a:r>
              <a:rPr lang="en-US"/>
              <a:t> a </a:t>
            </a:r>
            <a:r>
              <a:rPr lang="en-US" err="1"/>
              <a:t>velkém</a:t>
            </a:r>
            <a:r>
              <a:rPr lang="en-US"/>
              <a:t> </a:t>
            </a:r>
            <a:r>
              <a:rPr lang="en-US" err="1"/>
              <a:t>keyspace</a:t>
            </a:r>
            <a:r>
              <a:rPr lang="en-US"/>
              <a:t> </a:t>
            </a:r>
            <a:r>
              <a:rPr lang="en-US" err="1"/>
              <a:t>může</a:t>
            </a:r>
            <a:r>
              <a:rPr lang="en-US"/>
              <a:t> </a:t>
            </a:r>
            <a:r>
              <a:rPr lang="en-US" err="1"/>
              <a:t>prolomení</a:t>
            </a:r>
            <a:r>
              <a:rPr lang="en-US"/>
              <a:t> </a:t>
            </a:r>
            <a:r>
              <a:rPr lang="en-US" err="1"/>
              <a:t>hesla</a:t>
            </a:r>
            <a:r>
              <a:rPr lang="en-US"/>
              <a:t> </a:t>
            </a:r>
            <a:r>
              <a:rPr lang="en-US" err="1"/>
              <a:t>trvat</a:t>
            </a:r>
            <a:r>
              <a:rPr lang="en-US"/>
              <a:t> </a:t>
            </a:r>
            <a:r>
              <a:rPr lang="en-US" err="1"/>
              <a:t>i</a:t>
            </a:r>
            <a:r>
              <a:rPr lang="en-US"/>
              <a:t> </a:t>
            </a:r>
            <a:r>
              <a:rPr lang="en-US" err="1"/>
              <a:t>řadu</a:t>
            </a:r>
            <a:r>
              <a:rPr lang="en-US"/>
              <a:t> let.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269</a:t>
            </a:fld>
            <a:endParaRPr lang="cs-CZ"/>
          </a:p>
        </p:txBody>
      </p:sp>
    </p:spTree>
    <p:extLst>
      <p:ext uri="{BB962C8B-B14F-4D97-AF65-F5344CB8AC3E}">
        <p14:creationId xmlns:p14="http://schemas.microsoft.com/office/powerpoint/2010/main" val="3653111582"/>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err="1"/>
              <a:t>Útok</a:t>
            </a:r>
            <a:r>
              <a:rPr lang="en-US" b="1"/>
              <a:t> </a:t>
            </a:r>
            <a:r>
              <a:rPr lang="en-US" b="1" err="1"/>
              <a:t>hrubou</a:t>
            </a:r>
            <a:r>
              <a:rPr lang="en-US" b="1"/>
              <a:t> </a:t>
            </a:r>
            <a:r>
              <a:rPr lang="en-US" b="1" err="1"/>
              <a:t>silou</a:t>
            </a:r>
            <a:r>
              <a:rPr lang="en-US" b="1"/>
              <a:t> (Brute force)</a:t>
            </a:r>
            <a:endParaRPr lang="en-US"/>
          </a:p>
        </p:txBody>
      </p:sp>
      <p:sp>
        <p:nvSpPr>
          <p:cNvPr id="3" name="Content Placeholder 2"/>
          <p:cNvSpPr>
            <a:spLocks noGrp="1"/>
          </p:cNvSpPr>
          <p:nvPr>
            <p:ph idx="1"/>
          </p:nvPr>
        </p:nvSpPr>
        <p:spPr/>
        <p:txBody>
          <a:bodyPr>
            <a:normAutofit/>
          </a:bodyPr>
          <a:lstStyle/>
          <a:p>
            <a:r>
              <a:rPr lang="en-US" err="1"/>
              <a:t>Útočníci</a:t>
            </a:r>
            <a:r>
              <a:rPr lang="en-US"/>
              <a:t> </a:t>
            </a:r>
            <a:r>
              <a:rPr lang="en-US" err="1"/>
              <a:t>například</a:t>
            </a:r>
            <a:r>
              <a:rPr lang="en-US"/>
              <a:t> </a:t>
            </a:r>
            <a:r>
              <a:rPr lang="en-US" err="1"/>
              <a:t>při</a:t>
            </a:r>
            <a:r>
              <a:rPr lang="cs-CZ"/>
              <a:t> </a:t>
            </a:r>
            <a:r>
              <a:rPr lang="en-US" err="1"/>
              <a:t>hádání</a:t>
            </a:r>
            <a:r>
              <a:rPr lang="en-US"/>
              <a:t> </a:t>
            </a:r>
            <a:r>
              <a:rPr lang="en-US" err="1"/>
              <a:t>hesel</a:t>
            </a:r>
            <a:r>
              <a:rPr lang="en-US"/>
              <a:t> </a:t>
            </a:r>
            <a:r>
              <a:rPr lang="en-US" err="1"/>
              <a:t>mohou</a:t>
            </a:r>
            <a:r>
              <a:rPr lang="en-US"/>
              <a:t> </a:t>
            </a:r>
            <a:r>
              <a:rPr lang="en-US" err="1"/>
              <a:t>vynechat</a:t>
            </a:r>
            <a:r>
              <a:rPr lang="en-US"/>
              <a:t> </a:t>
            </a:r>
            <a:r>
              <a:rPr lang="en-US" err="1"/>
              <a:t>znaky</a:t>
            </a:r>
            <a:r>
              <a:rPr lang="en-US"/>
              <a:t>, o </a:t>
            </a:r>
            <a:r>
              <a:rPr lang="en-US" err="1"/>
              <a:t>kterých</a:t>
            </a:r>
            <a:r>
              <a:rPr lang="en-US"/>
              <a:t> </a:t>
            </a:r>
            <a:r>
              <a:rPr lang="en-US" err="1"/>
              <a:t>vědí</a:t>
            </a:r>
            <a:r>
              <a:rPr lang="en-US"/>
              <a:t>, </a:t>
            </a:r>
            <a:r>
              <a:rPr lang="en-US" err="1"/>
              <a:t>že</a:t>
            </a:r>
            <a:r>
              <a:rPr lang="en-US"/>
              <a:t> </a:t>
            </a:r>
            <a:r>
              <a:rPr lang="en-US" err="1"/>
              <a:t>jsou</a:t>
            </a:r>
            <a:r>
              <a:rPr lang="en-US"/>
              <a:t> </a:t>
            </a:r>
            <a:r>
              <a:rPr lang="en-US" err="1"/>
              <a:t>mezi</a:t>
            </a:r>
            <a:r>
              <a:rPr lang="en-US"/>
              <a:t> </a:t>
            </a:r>
            <a:r>
              <a:rPr lang="en-US" err="1"/>
              <a:t>uživateli</a:t>
            </a:r>
            <a:r>
              <a:rPr lang="en-US"/>
              <a:t> </a:t>
            </a:r>
            <a:r>
              <a:rPr lang="en-US" err="1"/>
              <a:t>nepopulární</a:t>
            </a:r>
            <a:r>
              <a:rPr lang="en-US"/>
              <a:t> (pro</a:t>
            </a:r>
            <a:r>
              <a:rPr lang="cs-CZ"/>
              <a:t> </a:t>
            </a:r>
            <a:r>
              <a:rPr lang="en-US" err="1"/>
              <a:t>české</a:t>
            </a:r>
            <a:r>
              <a:rPr lang="en-US"/>
              <a:t> </a:t>
            </a:r>
            <a:r>
              <a:rPr lang="en-US" err="1"/>
              <a:t>uživatele</a:t>
            </a:r>
            <a:r>
              <a:rPr lang="en-US"/>
              <a:t> to </a:t>
            </a:r>
            <a:r>
              <a:rPr lang="en-US" err="1"/>
              <a:t>jsou</a:t>
            </a:r>
            <a:r>
              <a:rPr lang="en-US"/>
              <a:t> </a:t>
            </a:r>
            <a:r>
              <a:rPr lang="en-US" err="1"/>
              <a:t>znaky</a:t>
            </a:r>
            <a:r>
              <a:rPr lang="en-US"/>
              <a:t> z/y a Z/Y, </a:t>
            </a:r>
            <a:r>
              <a:rPr lang="en-US" err="1"/>
              <a:t>kterým</a:t>
            </a:r>
            <a:r>
              <a:rPr lang="en-US"/>
              <a:t> se </a:t>
            </a:r>
            <a:r>
              <a:rPr lang="en-US" err="1"/>
              <a:t>někteří</a:t>
            </a:r>
            <a:r>
              <a:rPr lang="en-US"/>
              <a:t> </a:t>
            </a:r>
            <a:r>
              <a:rPr lang="en-US" err="1"/>
              <a:t>uživatelé</a:t>
            </a:r>
            <a:r>
              <a:rPr lang="en-US"/>
              <a:t> </a:t>
            </a:r>
            <a:r>
              <a:rPr lang="en-US" err="1"/>
              <a:t>snaží</a:t>
            </a:r>
            <a:r>
              <a:rPr lang="en-US"/>
              <a:t> </a:t>
            </a:r>
            <a:r>
              <a:rPr lang="en-US" err="1"/>
              <a:t>vyhnout</a:t>
            </a:r>
            <a:r>
              <a:rPr lang="en-US"/>
              <a:t> </a:t>
            </a:r>
            <a:r>
              <a:rPr lang="en-US" err="1"/>
              <a:t>kvůli</a:t>
            </a:r>
            <a:r>
              <a:rPr lang="cs-CZ"/>
              <a:t> </a:t>
            </a:r>
            <a:r>
              <a:rPr lang="en-US" err="1"/>
              <a:t>možnému</a:t>
            </a:r>
            <a:r>
              <a:rPr lang="en-US"/>
              <a:t> </a:t>
            </a:r>
            <a:r>
              <a:rPr lang="en-US" err="1"/>
              <a:t>prohození</a:t>
            </a:r>
            <a:r>
              <a:rPr lang="en-US"/>
              <a:t> </a:t>
            </a:r>
            <a:r>
              <a:rPr lang="en-US" err="1"/>
              <a:t>těchto</a:t>
            </a:r>
            <a:r>
              <a:rPr lang="en-US"/>
              <a:t> </a:t>
            </a:r>
            <a:r>
              <a:rPr lang="en-US" err="1"/>
              <a:t>dvou</a:t>
            </a:r>
            <a:r>
              <a:rPr lang="en-US"/>
              <a:t> </a:t>
            </a:r>
            <a:r>
              <a:rPr lang="en-US" err="1"/>
              <a:t>znaků</a:t>
            </a:r>
            <a:r>
              <a:rPr lang="en-US"/>
              <a:t> </a:t>
            </a:r>
            <a:r>
              <a:rPr lang="en-US" err="1"/>
              <a:t>na</a:t>
            </a:r>
            <a:r>
              <a:rPr lang="en-US"/>
              <a:t> </a:t>
            </a:r>
            <a:r>
              <a:rPr lang="en-US" err="1"/>
              <a:t>klávesnicích</a:t>
            </a:r>
            <a:r>
              <a:rPr lang="en-US"/>
              <a:t> </a:t>
            </a:r>
            <a:r>
              <a:rPr lang="en-US" err="1"/>
              <a:t>na</a:t>
            </a:r>
            <a:r>
              <a:rPr lang="en-US"/>
              <a:t> </a:t>
            </a:r>
            <a:r>
              <a:rPr lang="en-US" err="1"/>
              <a:t>různých</a:t>
            </a:r>
            <a:r>
              <a:rPr lang="en-US"/>
              <a:t> </a:t>
            </a:r>
            <a:r>
              <a:rPr lang="en-US" err="1"/>
              <a:t>systémech</a:t>
            </a:r>
            <a:r>
              <a:rPr lang="en-US"/>
              <a:t>.). </a:t>
            </a:r>
            <a:endParaRPr lang="cs-CZ"/>
          </a:p>
          <a:p>
            <a:r>
              <a:rPr lang="en-US" err="1"/>
              <a:t>Útočníci</a:t>
            </a:r>
            <a:r>
              <a:rPr lang="cs-CZ"/>
              <a:t> </a:t>
            </a:r>
            <a:r>
              <a:rPr lang="en-US" err="1"/>
              <a:t>také</a:t>
            </a:r>
            <a:r>
              <a:rPr lang="en-US"/>
              <a:t> </a:t>
            </a:r>
            <a:r>
              <a:rPr lang="en-US" err="1"/>
              <a:t>berou</a:t>
            </a:r>
            <a:r>
              <a:rPr lang="en-US"/>
              <a:t> v </a:t>
            </a:r>
            <a:r>
              <a:rPr lang="en-US" err="1"/>
              <a:t>potaz</a:t>
            </a:r>
            <a:r>
              <a:rPr lang="en-US"/>
              <a:t> </a:t>
            </a:r>
            <a:r>
              <a:rPr lang="en-US" err="1"/>
              <a:t>skutečnost</a:t>
            </a:r>
            <a:r>
              <a:rPr lang="en-US"/>
              <a:t>, </a:t>
            </a:r>
            <a:r>
              <a:rPr lang="en-US" err="1"/>
              <a:t>že</a:t>
            </a:r>
            <a:r>
              <a:rPr lang="en-US"/>
              <a:t> </a:t>
            </a:r>
            <a:r>
              <a:rPr lang="en-US" err="1"/>
              <a:t>mnohdy</a:t>
            </a:r>
            <a:r>
              <a:rPr lang="en-US"/>
              <a:t> se </a:t>
            </a:r>
            <a:r>
              <a:rPr lang="en-US" err="1"/>
              <a:t>uživatelé</a:t>
            </a:r>
            <a:r>
              <a:rPr lang="en-US"/>
              <a:t> </a:t>
            </a:r>
            <a:r>
              <a:rPr lang="en-US" err="1"/>
              <a:t>snaží</a:t>
            </a:r>
            <a:r>
              <a:rPr lang="en-US"/>
              <a:t> </a:t>
            </a:r>
            <a:r>
              <a:rPr lang="en-US" err="1"/>
              <a:t>pouze</a:t>
            </a:r>
            <a:r>
              <a:rPr lang="en-US"/>
              <a:t> </a:t>
            </a:r>
            <a:r>
              <a:rPr lang="en-US" err="1"/>
              <a:t>vyhovět</a:t>
            </a:r>
            <a:r>
              <a:rPr lang="en-US"/>
              <a:t> </a:t>
            </a:r>
            <a:r>
              <a:rPr lang="en-US" err="1"/>
              <a:t>určité</a:t>
            </a:r>
            <a:r>
              <a:rPr lang="en-US"/>
              <a:t> </a:t>
            </a:r>
            <a:r>
              <a:rPr lang="en-US" err="1"/>
              <a:t>politice</a:t>
            </a:r>
            <a:r>
              <a:rPr lang="en-US"/>
              <a:t>,</a:t>
            </a:r>
            <a:r>
              <a:rPr lang="cs-CZ"/>
              <a:t> </a:t>
            </a:r>
            <a:r>
              <a:rPr lang="en-US"/>
              <a:t>a proto </a:t>
            </a:r>
            <a:r>
              <a:rPr lang="en-US" err="1"/>
              <a:t>lze</a:t>
            </a:r>
            <a:r>
              <a:rPr lang="en-US"/>
              <a:t> </a:t>
            </a:r>
            <a:r>
              <a:rPr lang="en-US" err="1"/>
              <a:t>očekávat</a:t>
            </a:r>
            <a:r>
              <a:rPr lang="en-US"/>
              <a:t>, </a:t>
            </a:r>
            <a:r>
              <a:rPr lang="en-US" err="1"/>
              <a:t>že</a:t>
            </a:r>
            <a:r>
              <a:rPr lang="en-US"/>
              <a:t> </a:t>
            </a:r>
            <a:r>
              <a:rPr lang="en-US" err="1"/>
              <a:t>číslice</a:t>
            </a:r>
            <a:r>
              <a:rPr lang="en-US"/>
              <a:t> a </a:t>
            </a:r>
            <a:r>
              <a:rPr lang="en-US" err="1"/>
              <a:t>další</a:t>
            </a:r>
            <a:r>
              <a:rPr lang="en-US"/>
              <a:t> </a:t>
            </a:r>
            <a:r>
              <a:rPr lang="en-US" err="1"/>
              <a:t>speciální</a:t>
            </a:r>
            <a:r>
              <a:rPr lang="en-US"/>
              <a:t> </a:t>
            </a:r>
            <a:r>
              <a:rPr lang="en-US" err="1"/>
              <a:t>znaky</a:t>
            </a:r>
            <a:r>
              <a:rPr lang="en-US"/>
              <a:t> </a:t>
            </a:r>
            <a:r>
              <a:rPr lang="en-US" err="1"/>
              <a:t>budou</a:t>
            </a:r>
            <a:r>
              <a:rPr lang="en-US"/>
              <a:t> </a:t>
            </a:r>
            <a:r>
              <a:rPr lang="en-US" err="1"/>
              <a:t>až</a:t>
            </a:r>
            <a:r>
              <a:rPr lang="en-US"/>
              <a:t> </a:t>
            </a:r>
            <a:r>
              <a:rPr lang="en-US" err="1"/>
              <a:t>na</a:t>
            </a:r>
            <a:r>
              <a:rPr lang="en-US"/>
              <a:t> </a:t>
            </a:r>
            <a:r>
              <a:rPr lang="en-US" err="1"/>
              <a:t>konci</a:t>
            </a:r>
            <a:r>
              <a:rPr lang="en-US"/>
              <a:t> </a:t>
            </a:r>
            <a:r>
              <a:rPr lang="en-US" err="1"/>
              <a:t>hesla</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270</a:t>
            </a:fld>
            <a:endParaRPr lang="cs-CZ"/>
          </a:p>
        </p:txBody>
      </p:sp>
    </p:spTree>
    <p:extLst>
      <p:ext uri="{BB962C8B-B14F-4D97-AF65-F5344CB8AC3E}">
        <p14:creationId xmlns:p14="http://schemas.microsoft.com/office/powerpoint/2010/main" val="2785590551"/>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err="1"/>
              <a:t>Distribuce</a:t>
            </a:r>
            <a:r>
              <a:rPr lang="en-US" b="1"/>
              <a:t> </a:t>
            </a:r>
            <a:r>
              <a:rPr lang="en-US" b="1" err="1"/>
              <a:t>útoku</a:t>
            </a:r>
            <a:r>
              <a:rPr lang="en-US" b="1"/>
              <a:t> </a:t>
            </a:r>
            <a:r>
              <a:rPr lang="en-US" b="1" err="1"/>
              <a:t>na</a:t>
            </a:r>
            <a:r>
              <a:rPr lang="en-US" b="1"/>
              <a:t> </a:t>
            </a:r>
            <a:r>
              <a:rPr lang="en-US" b="1" err="1"/>
              <a:t>více</a:t>
            </a:r>
            <a:r>
              <a:rPr lang="en-US" b="1"/>
              <a:t> </a:t>
            </a:r>
            <a:r>
              <a:rPr lang="en-US" b="1" err="1"/>
              <a:t>počítačových</a:t>
            </a:r>
            <a:r>
              <a:rPr lang="en-US" b="1"/>
              <a:t> </a:t>
            </a:r>
            <a:r>
              <a:rPr lang="en-US" b="1" err="1"/>
              <a:t>systémů</a:t>
            </a:r>
            <a:r>
              <a:rPr lang="en-US" b="1"/>
              <a:t> v </a:t>
            </a:r>
            <a:r>
              <a:rPr lang="en-US" b="1" err="1"/>
              <a:t>počítačové</a:t>
            </a:r>
            <a:r>
              <a:rPr lang="en-US" b="1"/>
              <a:t> </a:t>
            </a:r>
            <a:r>
              <a:rPr lang="en-US" b="1" err="1"/>
              <a:t>síti</a:t>
            </a:r>
            <a:endParaRPr lang="en-US"/>
          </a:p>
        </p:txBody>
      </p:sp>
      <p:sp>
        <p:nvSpPr>
          <p:cNvPr id="3" name="Content Placeholder 2"/>
          <p:cNvSpPr>
            <a:spLocks noGrp="1"/>
          </p:cNvSpPr>
          <p:nvPr>
            <p:ph idx="1"/>
          </p:nvPr>
        </p:nvSpPr>
        <p:spPr/>
        <p:txBody>
          <a:bodyPr>
            <a:normAutofit/>
          </a:bodyPr>
          <a:lstStyle/>
          <a:p>
            <a:r>
              <a:rPr lang="en-US" err="1"/>
              <a:t>Další</a:t>
            </a:r>
            <a:r>
              <a:rPr lang="en-US"/>
              <a:t> </a:t>
            </a:r>
            <a:r>
              <a:rPr lang="en-US" err="1"/>
              <a:t>možnost</a:t>
            </a:r>
            <a:r>
              <a:rPr lang="en-US"/>
              <a:t> </a:t>
            </a:r>
            <a:r>
              <a:rPr lang="en-US" err="1"/>
              <a:t>útoku</a:t>
            </a:r>
            <a:r>
              <a:rPr lang="en-US"/>
              <a:t> </a:t>
            </a:r>
            <a:r>
              <a:rPr lang="en-US" err="1"/>
              <a:t>představuje</a:t>
            </a:r>
            <a:r>
              <a:rPr lang="en-US"/>
              <a:t> </a:t>
            </a:r>
            <a:r>
              <a:rPr lang="en-US" err="1"/>
              <a:t>distribuce</a:t>
            </a:r>
            <a:r>
              <a:rPr lang="en-US"/>
              <a:t> </a:t>
            </a:r>
            <a:r>
              <a:rPr lang="en-US" err="1"/>
              <a:t>útoku</a:t>
            </a:r>
            <a:r>
              <a:rPr lang="en-US"/>
              <a:t> </a:t>
            </a:r>
            <a:r>
              <a:rPr lang="en-US" err="1"/>
              <a:t>na</a:t>
            </a:r>
            <a:r>
              <a:rPr lang="en-US"/>
              <a:t> </a:t>
            </a:r>
            <a:r>
              <a:rPr lang="en-US" err="1"/>
              <a:t>více</a:t>
            </a:r>
            <a:r>
              <a:rPr lang="en-US"/>
              <a:t> </a:t>
            </a:r>
            <a:r>
              <a:rPr lang="en-US" err="1"/>
              <a:t>počítačových</a:t>
            </a:r>
            <a:r>
              <a:rPr lang="en-US"/>
              <a:t> </a:t>
            </a:r>
            <a:r>
              <a:rPr lang="en-US" err="1"/>
              <a:t>systémů</a:t>
            </a:r>
            <a:r>
              <a:rPr lang="en-US"/>
              <a:t> v </a:t>
            </a:r>
            <a:r>
              <a:rPr lang="en-US" err="1"/>
              <a:t>počítačové</a:t>
            </a:r>
            <a:r>
              <a:rPr lang="cs-CZ"/>
              <a:t> </a:t>
            </a:r>
            <a:r>
              <a:rPr lang="en-US" err="1"/>
              <a:t>síti</a:t>
            </a:r>
            <a:r>
              <a:rPr lang="en-US"/>
              <a:t>, v </a:t>
            </a:r>
            <a:r>
              <a:rPr lang="en-US" err="1"/>
              <a:t>rámci</a:t>
            </a:r>
            <a:r>
              <a:rPr lang="en-US"/>
              <a:t> </a:t>
            </a:r>
            <a:r>
              <a:rPr lang="en-US" err="1"/>
              <a:t>nějž</a:t>
            </a:r>
            <a:r>
              <a:rPr lang="en-US"/>
              <a:t> </a:t>
            </a:r>
            <a:r>
              <a:rPr lang="en-US" err="1"/>
              <a:t>jeden</a:t>
            </a:r>
            <a:r>
              <a:rPr lang="en-US"/>
              <a:t> z </a:t>
            </a:r>
            <a:r>
              <a:rPr lang="en-US" err="1"/>
              <a:t>počítačových</a:t>
            </a:r>
            <a:r>
              <a:rPr lang="en-US"/>
              <a:t> </a:t>
            </a:r>
            <a:r>
              <a:rPr lang="en-US" err="1"/>
              <a:t>systémů</a:t>
            </a:r>
            <a:r>
              <a:rPr lang="en-US"/>
              <a:t> </a:t>
            </a:r>
            <a:r>
              <a:rPr lang="en-US" err="1"/>
              <a:t>řídí</a:t>
            </a:r>
            <a:r>
              <a:rPr lang="en-US"/>
              <a:t> </a:t>
            </a:r>
            <a:r>
              <a:rPr lang="en-US" err="1"/>
              <a:t>práci</a:t>
            </a:r>
            <a:r>
              <a:rPr lang="en-US"/>
              <a:t> a </a:t>
            </a:r>
            <a:r>
              <a:rPr lang="en-US" err="1"/>
              <a:t>rozděluje</a:t>
            </a:r>
            <a:r>
              <a:rPr lang="en-US"/>
              <a:t> </a:t>
            </a:r>
            <a:r>
              <a:rPr lang="en-US" err="1"/>
              <a:t>hesla</a:t>
            </a:r>
            <a:r>
              <a:rPr lang="en-US"/>
              <a:t>, </a:t>
            </a:r>
            <a:r>
              <a:rPr lang="en-US" err="1"/>
              <a:t>která</a:t>
            </a:r>
            <a:r>
              <a:rPr lang="en-US"/>
              <a:t> je </a:t>
            </a:r>
            <a:r>
              <a:rPr lang="en-US" err="1"/>
              <a:t>ještě</a:t>
            </a:r>
            <a:r>
              <a:rPr lang="cs-CZ"/>
              <a:t> </a:t>
            </a:r>
            <a:r>
              <a:rPr lang="en-US" err="1"/>
              <a:t>potřeba</a:t>
            </a:r>
            <a:r>
              <a:rPr lang="en-US"/>
              <a:t> </a:t>
            </a:r>
            <a:r>
              <a:rPr lang="en-US" err="1"/>
              <a:t>vyzkoušet</a:t>
            </a:r>
            <a:r>
              <a:rPr lang="en-US"/>
              <a:t>. </a:t>
            </a:r>
            <a:endParaRPr lang="cs-CZ"/>
          </a:p>
          <a:p>
            <a:r>
              <a:rPr lang="en-US"/>
              <a:t>K </a:t>
            </a:r>
            <a:r>
              <a:rPr lang="en-US" err="1"/>
              <a:t>tomuto</a:t>
            </a:r>
            <a:r>
              <a:rPr lang="en-US"/>
              <a:t> </a:t>
            </a:r>
            <a:r>
              <a:rPr lang="en-US" err="1"/>
              <a:t>útoku</a:t>
            </a:r>
            <a:r>
              <a:rPr lang="en-US"/>
              <a:t> </a:t>
            </a:r>
            <a:r>
              <a:rPr lang="en-US" err="1"/>
              <a:t>lze</a:t>
            </a:r>
            <a:r>
              <a:rPr lang="en-US"/>
              <a:t> </a:t>
            </a:r>
            <a:r>
              <a:rPr lang="en-US" err="1"/>
              <a:t>využít</a:t>
            </a:r>
            <a:r>
              <a:rPr lang="en-US"/>
              <a:t> </a:t>
            </a:r>
            <a:r>
              <a:rPr lang="en-US" err="1"/>
              <a:t>různé</a:t>
            </a:r>
            <a:r>
              <a:rPr lang="en-US"/>
              <a:t> </a:t>
            </a:r>
            <a:r>
              <a:rPr lang="en-US" err="1"/>
              <a:t>specializované</a:t>
            </a:r>
            <a:r>
              <a:rPr lang="en-US"/>
              <a:t> </a:t>
            </a:r>
            <a:r>
              <a:rPr lang="en-US" err="1"/>
              <a:t>čipové</a:t>
            </a:r>
            <a:r>
              <a:rPr lang="en-US"/>
              <a:t> </a:t>
            </a:r>
            <a:r>
              <a:rPr lang="en-US" err="1"/>
              <a:t>sady</a:t>
            </a:r>
            <a:r>
              <a:rPr lang="en-US"/>
              <a:t>. </a:t>
            </a:r>
            <a:r>
              <a:rPr lang="en-US" err="1"/>
              <a:t>Útočníci</a:t>
            </a:r>
            <a:br>
              <a:rPr lang="en-US"/>
            </a:br>
            <a:r>
              <a:rPr lang="en-US" err="1"/>
              <a:t>zjistili</a:t>
            </a:r>
            <a:r>
              <a:rPr lang="en-US"/>
              <a:t>, </a:t>
            </a:r>
            <a:r>
              <a:rPr lang="en-US" err="1"/>
              <a:t>že</a:t>
            </a:r>
            <a:r>
              <a:rPr lang="en-US"/>
              <a:t> pro </a:t>
            </a:r>
            <a:r>
              <a:rPr lang="en-US" err="1"/>
              <a:t>prolamování</a:t>
            </a:r>
            <a:r>
              <a:rPr lang="en-US"/>
              <a:t> </a:t>
            </a:r>
            <a:r>
              <a:rPr lang="en-US" err="1"/>
              <a:t>hesel</a:t>
            </a:r>
            <a:r>
              <a:rPr lang="en-US"/>
              <a:t> </a:t>
            </a:r>
            <a:r>
              <a:rPr lang="en-US" err="1"/>
              <a:t>jsou</a:t>
            </a:r>
            <a:r>
              <a:rPr lang="en-US"/>
              <a:t> </a:t>
            </a:r>
            <a:r>
              <a:rPr lang="en-US" err="1"/>
              <a:t>velmi</a:t>
            </a:r>
            <a:r>
              <a:rPr lang="en-US"/>
              <a:t> </a:t>
            </a:r>
            <a:r>
              <a:rPr lang="en-US" err="1"/>
              <a:t>dobře</a:t>
            </a:r>
            <a:r>
              <a:rPr lang="en-US"/>
              <a:t> </a:t>
            </a:r>
            <a:r>
              <a:rPr lang="en-US" err="1"/>
              <a:t>využitelné</a:t>
            </a:r>
            <a:r>
              <a:rPr lang="en-US"/>
              <a:t> GPU (Graphic Processing</a:t>
            </a:r>
            <a:r>
              <a:rPr lang="cs-CZ"/>
              <a:t> </a:t>
            </a:r>
            <a:r>
              <a:rPr lang="en-US"/>
              <a:t>Unit) </a:t>
            </a:r>
            <a:r>
              <a:rPr lang="en-US" err="1"/>
              <a:t>čipy</a:t>
            </a:r>
            <a:r>
              <a:rPr lang="en-US"/>
              <a:t>, </a:t>
            </a:r>
            <a:r>
              <a:rPr lang="en-US" err="1"/>
              <a:t>které</a:t>
            </a:r>
            <a:r>
              <a:rPr lang="en-US"/>
              <a:t> </a:t>
            </a:r>
            <a:r>
              <a:rPr lang="en-US" err="1"/>
              <a:t>najdeme</a:t>
            </a:r>
            <a:r>
              <a:rPr lang="en-US"/>
              <a:t> v </a:t>
            </a:r>
            <a:r>
              <a:rPr lang="en-US" err="1"/>
              <a:t>grafických</a:t>
            </a:r>
            <a:r>
              <a:rPr lang="en-US"/>
              <a:t> </a:t>
            </a:r>
            <a:r>
              <a:rPr lang="en-US" err="1"/>
              <a:t>kartách</a:t>
            </a:r>
            <a:r>
              <a:rPr lang="en-US"/>
              <a:t> NVIDIA </a:t>
            </a:r>
            <a:r>
              <a:rPr lang="en-US" err="1"/>
              <a:t>nebo</a:t>
            </a:r>
            <a:r>
              <a:rPr lang="en-US"/>
              <a:t> AMD. </a:t>
            </a:r>
            <a:endParaRPr lang="cs-CZ"/>
          </a:p>
          <a:p>
            <a:r>
              <a:rPr lang="en-US" err="1"/>
              <a:t>Pokud</a:t>
            </a:r>
            <a:r>
              <a:rPr lang="en-US"/>
              <a:t> se </a:t>
            </a:r>
            <a:r>
              <a:rPr lang="en-US" err="1"/>
              <a:t>výkon</a:t>
            </a:r>
            <a:r>
              <a:rPr lang="cs-CZ"/>
              <a:t> </a:t>
            </a:r>
            <a:r>
              <a:rPr lang="en-US" err="1"/>
              <a:t>karet</a:t>
            </a:r>
            <a:r>
              <a:rPr lang="en-US"/>
              <a:t> </a:t>
            </a:r>
            <a:r>
              <a:rPr lang="en-US" err="1"/>
              <a:t>zřetězí</a:t>
            </a:r>
            <a:r>
              <a:rPr lang="en-US"/>
              <a:t>, </a:t>
            </a:r>
            <a:r>
              <a:rPr lang="en-US" err="1"/>
              <a:t>může</a:t>
            </a:r>
            <a:r>
              <a:rPr lang="en-US"/>
              <a:t> </a:t>
            </a:r>
            <a:r>
              <a:rPr lang="en-US" err="1"/>
              <a:t>útočník</a:t>
            </a:r>
            <a:r>
              <a:rPr lang="en-US"/>
              <a:t> </a:t>
            </a:r>
            <a:r>
              <a:rPr lang="en-US" err="1"/>
              <a:t>lámat</a:t>
            </a:r>
            <a:r>
              <a:rPr lang="en-US"/>
              <a:t> </a:t>
            </a:r>
            <a:r>
              <a:rPr lang="en-US" err="1"/>
              <a:t>hashe</a:t>
            </a:r>
            <a:r>
              <a:rPr lang="en-US"/>
              <a:t> </a:t>
            </a:r>
            <a:r>
              <a:rPr lang="en-US" err="1"/>
              <a:t>rychlostmi</a:t>
            </a:r>
            <a:r>
              <a:rPr lang="en-US"/>
              <a:t> </a:t>
            </a:r>
            <a:r>
              <a:rPr lang="en-US" err="1"/>
              <a:t>dosahujícími</a:t>
            </a:r>
            <a:r>
              <a:rPr lang="en-US"/>
              <a:t> </a:t>
            </a:r>
            <a:r>
              <a:rPr lang="en-US" err="1"/>
              <a:t>stovek</a:t>
            </a:r>
            <a:r>
              <a:rPr lang="en-US"/>
              <a:t> </a:t>
            </a:r>
            <a:r>
              <a:rPr lang="en-US" err="1"/>
              <a:t>miliard</a:t>
            </a:r>
            <a:r>
              <a:rPr lang="en-US"/>
              <a:t> </a:t>
            </a:r>
            <a:r>
              <a:rPr lang="en-US" err="1"/>
              <a:t>pokusů</a:t>
            </a:r>
            <a:r>
              <a:rPr lang="en-US"/>
              <a:t> </a:t>
            </a:r>
            <a:r>
              <a:rPr lang="en-US" err="1"/>
              <a:t>za</a:t>
            </a:r>
            <a:r>
              <a:rPr lang="cs-CZ"/>
              <a:t> </a:t>
            </a:r>
            <a:r>
              <a:rPr lang="en-US" err="1"/>
              <a:t>sekundu</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271</a:t>
            </a:fld>
            <a:endParaRPr lang="cs-CZ"/>
          </a:p>
        </p:txBody>
      </p:sp>
    </p:spTree>
    <p:extLst>
      <p:ext uri="{BB962C8B-B14F-4D97-AF65-F5344CB8AC3E}">
        <p14:creationId xmlns:p14="http://schemas.microsoft.com/office/powerpoint/2010/main" val="3945790628"/>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err="1"/>
              <a:t>Slovníkový</a:t>
            </a:r>
            <a:r>
              <a:rPr lang="en-US" b="1"/>
              <a:t> </a:t>
            </a:r>
            <a:r>
              <a:rPr lang="en-US" b="1" err="1"/>
              <a:t>úto</a:t>
            </a:r>
            <a:r>
              <a:rPr lang="cs-CZ" b="1"/>
              <a:t>k</a:t>
            </a:r>
            <a:endParaRPr lang="en-US"/>
          </a:p>
        </p:txBody>
      </p:sp>
      <p:sp>
        <p:nvSpPr>
          <p:cNvPr id="3" name="Content Placeholder 2"/>
          <p:cNvSpPr>
            <a:spLocks noGrp="1"/>
          </p:cNvSpPr>
          <p:nvPr>
            <p:ph idx="1"/>
          </p:nvPr>
        </p:nvSpPr>
        <p:spPr/>
        <p:txBody>
          <a:bodyPr>
            <a:normAutofit/>
          </a:bodyPr>
          <a:lstStyle/>
          <a:p>
            <a:r>
              <a:rPr lang="en-US" err="1"/>
              <a:t>Algoritmy</a:t>
            </a:r>
            <a:r>
              <a:rPr lang="en-US"/>
              <a:t> pro </a:t>
            </a:r>
            <a:r>
              <a:rPr lang="en-US" err="1"/>
              <a:t>slovníkové</a:t>
            </a:r>
            <a:r>
              <a:rPr lang="en-US"/>
              <a:t> </a:t>
            </a:r>
            <a:r>
              <a:rPr lang="en-US" err="1"/>
              <a:t>útoky</a:t>
            </a:r>
            <a:r>
              <a:rPr lang="en-US"/>
              <a:t> </a:t>
            </a:r>
            <a:r>
              <a:rPr lang="en-US" err="1"/>
              <a:t>počítají</a:t>
            </a:r>
            <a:r>
              <a:rPr lang="en-US"/>
              <a:t> s </a:t>
            </a:r>
            <a:r>
              <a:rPr lang="en-US" err="1"/>
              <a:t>tím</a:t>
            </a:r>
            <a:r>
              <a:rPr lang="en-US"/>
              <a:t>, </a:t>
            </a:r>
            <a:r>
              <a:rPr lang="en-US" err="1"/>
              <a:t>že</a:t>
            </a:r>
            <a:r>
              <a:rPr lang="en-US"/>
              <a:t> je </a:t>
            </a:r>
            <a:r>
              <a:rPr lang="en-US" err="1"/>
              <a:t>potřeba</a:t>
            </a:r>
            <a:r>
              <a:rPr lang="en-US"/>
              <a:t> </a:t>
            </a:r>
            <a:r>
              <a:rPr lang="en-US" err="1"/>
              <a:t>vyzkoušet</a:t>
            </a:r>
            <a:r>
              <a:rPr lang="en-US"/>
              <a:t> </a:t>
            </a:r>
            <a:r>
              <a:rPr lang="en-US" err="1"/>
              <a:t>různé</a:t>
            </a:r>
            <a:r>
              <a:rPr lang="en-US"/>
              <a:t> </a:t>
            </a:r>
            <a:r>
              <a:rPr lang="en-US" err="1"/>
              <a:t>kombinace</a:t>
            </a:r>
            <a:r>
              <a:rPr lang="cs-CZ"/>
              <a:t> </a:t>
            </a:r>
            <a:r>
              <a:rPr lang="en-US" err="1"/>
              <a:t>daného</a:t>
            </a:r>
            <a:r>
              <a:rPr lang="en-US"/>
              <a:t> </a:t>
            </a:r>
            <a:r>
              <a:rPr lang="en-US" err="1"/>
              <a:t>slova</a:t>
            </a:r>
            <a:r>
              <a:rPr lang="en-US"/>
              <a:t>. </a:t>
            </a:r>
            <a:endParaRPr lang="cs-CZ"/>
          </a:p>
          <a:p>
            <a:r>
              <a:rPr lang="en-US" err="1"/>
              <a:t>Běžné</a:t>
            </a:r>
            <a:r>
              <a:rPr lang="en-US"/>
              <a:t> je </a:t>
            </a:r>
            <a:r>
              <a:rPr lang="en-US" err="1"/>
              <a:t>zkoušet</a:t>
            </a:r>
            <a:r>
              <a:rPr lang="en-US"/>
              <a:t> </a:t>
            </a:r>
            <a:r>
              <a:rPr lang="en-US" err="1"/>
              <a:t>různé</a:t>
            </a:r>
            <a:r>
              <a:rPr lang="en-US"/>
              <a:t> </a:t>
            </a:r>
            <a:r>
              <a:rPr lang="en-US" err="1"/>
              <a:t>kombinace</a:t>
            </a:r>
            <a:r>
              <a:rPr lang="en-US"/>
              <a:t> </a:t>
            </a:r>
            <a:r>
              <a:rPr lang="en-US" err="1"/>
              <a:t>malých</a:t>
            </a:r>
            <a:r>
              <a:rPr lang="en-US"/>
              <a:t> a </a:t>
            </a:r>
            <a:r>
              <a:rPr lang="en-US" err="1"/>
              <a:t>velkých</a:t>
            </a:r>
            <a:r>
              <a:rPr lang="en-US"/>
              <a:t> </a:t>
            </a:r>
            <a:r>
              <a:rPr lang="en-US" err="1"/>
              <a:t>písmen</a:t>
            </a:r>
            <a:r>
              <a:rPr lang="en-US"/>
              <a:t>, </a:t>
            </a:r>
            <a:r>
              <a:rPr lang="en-US" err="1"/>
              <a:t>přidávat</a:t>
            </a:r>
            <a:r>
              <a:rPr lang="en-US"/>
              <a:t> do</a:t>
            </a:r>
            <a:r>
              <a:rPr lang="cs-CZ"/>
              <a:t> </a:t>
            </a:r>
            <a:r>
              <a:rPr lang="en-US" err="1"/>
              <a:t>zkoumaného</a:t>
            </a:r>
            <a:r>
              <a:rPr lang="en-US"/>
              <a:t> </a:t>
            </a:r>
            <a:r>
              <a:rPr lang="en-US" err="1"/>
              <a:t>slova</a:t>
            </a:r>
            <a:r>
              <a:rPr lang="en-US"/>
              <a:t> </a:t>
            </a:r>
            <a:r>
              <a:rPr lang="en-US" err="1"/>
              <a:t>čísla</a:t>
            </a:r>
            <a:r>
              <a:rPr lang="en-US"/>
              <a:t> a </a:t>
            </a:r>
            <a:r>
              <a:rPr lang="en-US" err="1"/>
              <a:t>speciální</a:t>
            </a:r>
            <a:r>
              <a:rPr lang="en-US"/>
              <a:t> </a:t>
            </a:r>
            <a:r>
              <a:rPr lang="en-US" err="1"/>
              <a:t>znaky</a:t>
            </a:r>
            <a:r>
              <a:rPr lang="en-US"/>
              <a:t>. </a:t>
            </a:r>
            <a:endParaRPr lang="cs-CZ"/>
          </a:p>
          <a:p>
            <a:r>
              <a:rPr lang="en-US" err="1"/>
              <a:t>Heslo</a:t>
            </a:r>
            <a:r>
              <a:rPr lang="en-US"/>
              <a:t> „PaSSword1.“ </a:t>
            </a:r>
            <a:r>
              <a:rPr lang="en-US" err="1"/>
              <a:t>není</a:t>
            </a:r>
            <a:r>
              <a:rPr lang="en-US"/>
              <a:t> </a:t>
            </a:r>
            <a:r>
              <a:rPr lang="en-US" err="1"/>
              <a:t>tedy</a:t>
            </a:r>
            <a:r>
              <a:rPr lang="en-US"/>
              <a:t> z </a:t>
            </a:r>
            <a:r>
              <a:rPr lang="en-US" err="1"/>
              <a:t>tohoto</a:t>
            </a:r>
            <a:r>
              <a:rPr lang="en-US"/>
              <a:t> </a:t>
            </a:r>
            <a:r>
              <a:rPr lang="en-US" err="1"/>
              <a:t>pohledu</a:t>
            </a:r>
            <a:r>
              <a:rPr lang="cs-CZ"/>
              <a:t> </a:t>
            </a:r>
            <a:r>
              <a:rPr lang="en-US"/>
              <a:t>o </a:t>
            </a:r>
            <a:r>
              <a:rPr lang="en-US" err="1"/>
              <a:t>nic</a:t>
            </a:r>
            <a:r>
              <a:rPr lang="en-US"/>
              <a:t> </a:t>
            </a:r>
            <a:r>
              <a:rPr lang="en-US" err="1"/>
              <a:t>bezpečnější</a:t>
            </a:r>
            <a:r>
              <a:rPr lang="en-US"/>
              <a:t> </a:t>
            </a:r>
            <a:r>
              <a:rPr lang="en-US" err="1"/>
              <a:t>než</a:t>
            </a:r>
            <a:r>
              <a:rPr lang="en-US"/>
              <a:t> „password“. </a:t>
            </a:r>
            <a:endParaRPr lang="cs-CZ"/>
          </a:p>
          <a:p>
            <a:r>
              <a:rPr lang="en-US" err="1"/>
              <a:t>Jeden</a:t>
            </a:r>
            <a:r>
              <a:rPr lang="en-US"/>
              <a:t> z </a:t>
            </a:r>
            <a:r>
              <a:rPr lang="en-US" err="1"/>
              <a:t>velmi</a:t>
            </a:r>
            <a:r>
              <a:rPr lang="en-US"/>
              <a:t> </a:t>
            </a:r>
            <a:r>
              <a:rPr lang="en-US" err="1"/>
              <a:t>známých</a:t>
            </a:r>
            <a:r>
              <a:rPr lang="en-US"/>
              <a:t> </a:t>
            </a:r>
            <a:r>
              <a:rPr lang="en-US" err="1"/>
              <a:t>slovníků</a:t>
            </a:r>
            <a:r>
              <a:rPr lang="en-US"/>
              <a:t>, </a:t>
            </a:r>
            <a:r>
              <a:rPr lang="en-US" err="1"/>
              <a:t>Rockyou</a:t>
            </a:r>
            <a:r>
              <a:rPr lang="en-US"/>
              <a:t>, je </a:t>
            </a:r>
            <a:r>
              <a:rPr lang="en-US" err="1"/>
              <a:t>postupně</a:t>
            </a:r>
            <a:r>
              <a:rPr lang="cs-CZ"/>
              <a:t> </a:t>
            </a:r>
            <a:r>
              <a:rPr lang="en-US" err="1"/>
              <a:t>vytvářen</a:t>
            </a:r>
            <a:r>
              <a:rPr lang="en-US"/>
              <a:t> s </a:t>
            </a:r>
            <a:r>
              <a:rPr lang="en-US" err="1"/>
              <a:t>využitím</a:t>
            </a:r>
            <a:r>
              <a:rPr lang="en-US"/>
              <a:t> </a:t>
            </a:r>
            <a:r>
              <a:rPr lang="en-US" err="1"/>
              <a:t>hesel</a:t>
            </a:r>
            <a:r>
              <a:rPr lang="en-US"/>
              <a:t>, </a:t>
            </a:r>
            <a:r>
              <a:rPr lang="en-US" err="1"/>
              <a:t>která</a:t>
            </a:r>
            <a:r>
              <a:rPr lang="en-US"/>
              <a:t> </a:t>
            </a:r>
            <a:r>
              <a:rPr lang="en-US" err="1"/>
              <a:t>unikla</a:t>
            </a:r>
            <a:r>
              <a:rPr lang="en-US"/>
              <a:t> z </a:t>
            </a:r>
            <a:r>
              <a:rPr lang="en-US" err="1"/>
              <a:t>nejrůznějších</a:t>
            </a:r>
            <a:r>
              <a:rPr lang="en-US"/>
              <a:t> </a:t>
            </a:r>
            <a:r>
              <a:rPr lang="en-US" err="1"/>
              <a:t>systémů</a:t>
            </a:r>
            <a:r>
              <a:rPr lang="en-US"/>
              <a:t>. </a:t>
            </a:r>
            <a:endParaRPr lang="cs-CZ"/>
          </a:p>
          <a:p>
            <a:r>
              <a:rPr lang="en-US" err="1"/>
              <a:t>Obsahuje</a:t>
            </a:r>
            <a:r>
              <a:rPr lang="en-US"/>
              <a:t> </a:t>
            </a:r>
            <a:r>
              <a:rPr lang="en-US" err="1"/>
              <a:t>tak</a:t>
            </a:r>
            <a:r>
              <a:rPr lang="en-US"/>
              <a:t> </a:t>
            </a:r>
            <a:r>
              <a:rPr lang="en-US" err="1"/>
              <a:t>veliké</a:t>
            </a:r>
            <a:r>
              <a:rPr lang="en-US"/>
              <a:t> </a:t>
            </a:r>
            <a:r>
              <a:rPr lang="en-US" err="1"/>
              <a:t>množství</a:t>
            </a:r>
            <a:r>
              <a:rPr lang="cs-CZ"/>
              <a:t> </a:t>
            </a:r>
            <a:r>
              <a:rPr lang="en-US" err="1"/>
              <a:t>hesel</a:t>
            </a:r>
            <a:r>
              <a:rPr lang="en-US"/>
              <a:t> </a:t>
            </a:r>
            <a:r>
              <a:rPr lang="en-US" err="1"/>
              <a:t>reálně</a:t>
            </a:r>
            <a:r>
              <a:rPr lang="en-US"/>
              <a:t> </a:t>
            </a:r>
            <a:r>
              <a:rPr lang="en-US" err="1"/>
              <a:t>používaných</a:t>
            </a:r>
            <a:r>
              <a:rPr lang="en-US"/>
              <a:t> </a:t>
            </a:r>
            <a:r>
              <a:rPr lang="en-US" err="1"/>
              <a:t>uživateli</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272</a:t>
            </a:fld>
            <a:endParaRPr lang="cs-CZ"/>
          </a:p>
        </p:txBody>
      </p:sp>
    </p:spTree>
    <p:extLst>
      <p:ext uri="{BB962C8B-B14F-4D97-AF65-F5344CB8AC3E}">
        <p14:creationId xmlns:p14="http://schemas.microsoft.com/office/powerpoint/2010/main" val="3260587713"/>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Slovníkový úto</a:t>
            </a:r>
            <a:r>
              <a:rPr lang="cs-CZ" b="1"/>
              <a:t>k</a:t>
            </a:r>
            <a:endParaRPr lang="en-US"/>
          </a:p>
        </p:txBody>
      </p:sp>
      <p:sp>
        <p:nvSpPr>
          <p:cNvPr id="3" name="Content Placeholder 2"/>
          <p:cNvSpPr>
            <a:spLocks noGrp="1"/>
          </p:cNvSpPr>
          <p:nvPr>
            <p:ph idx="1"/>
          </p:nvPr>
        </p:nvSpPr>
        <p:spPr/>
        <p:txBody>
          <a:bodyPr>
            <a:normAutofit/>
          </a:bodyPr>
          <a:lstStyle/>
          <a:p>
            <a:r>
              <a:rPr lang="en-US" err="1"/>
              <a:t>Vedle</a:t>
            </a:r>
            <a:r>
              <a:rPr lang="en-US"/>
              <a:t> </a:t>
            </a:r>
            <a:r>
              <a:rPr lang="en-US" err="1"/>
              <a:t>již</a:t>
            </a:r>
            <a:r>
              <a:rPr lang="en-US"/>
              <a:t> </a:t>
            </a:r>
            <a:r>
              <a:rPr lang="en-US" err="1"/>
              <a:t>existujících</a:t>
            </a:r>
            <a:r>
              <a:rPr lang="en-US"/>
              <a:t> </a:t>
            </a:r>
            <a:r>
              <a:rPr lang="en-US" err="1"/>
              <a:t>slovníků</a:t>
            </a:r>
            <a:r>
              <a:rPr lang="en-US"/>
              <a:t> </a:t>
            </a:r>
            <a:r>
              <a:rPr lang="en-US" err="1"/>
              <a:t>jsou</a:t>
            </a:r>
            <a:r>
              <a:rPr lang="en-US"/>
              <a:t> </a:t>
            </a:r>
            <a:r>
              <a:rPr lang="en-US" err="1"/>
              <a:t>dostupné</a:t>
            </a:r>
            <a:r>
              <a:rPr lang="en-US"/>
              <a:t> </a:t>
            </a:r>
            <a:r>
              <a:rPr lang="en-US" err="1"/>
              <a:t>nástroje</a:t>
            </a:r>
            <a:r>
              <a:rPr lang="en-US"/>
              <a:t>, </a:t>
            </a:r>
            <a:r>
              <a:rPr lang="en-US" err="1"/>
              <a:t>které</a:t>
            </a:r>
            <a:r>
              <a:rPr lang="en-US"/>
              <a:t> </a:t>
            </a:r>
            <a:r>
              <a:rPr lang="en-US" err="1"/>
              <a:t>umožňují</a:t>
            </a:r>
            <a:r>
              <a:rPr lang="en-US"/>
              <a:t> </a:t>
            </a:r>
            <a:r>
              <a:rPr lang="en-US" err="1"/>
              <a:t>vytvořit</a:t>
            </a:r>
            <a:r>
              <a:rPr lang="en-US"/>
              <a:t> </a:t>
            </a:r>
            <a:r>
              <a:rPr lang="en-US" err="1"/>
              <a:t>slovník</a:t>
            </a:r>
            <a:r>
              <a:rPr lang="en-US"/>
              <a:t> </a:t>
            </a:r>
            <a:r>
              <a:rPr lang="en-US" err="1"/>
              <a:t>na</a:t>
            </a:r>
            <a:r>
              <a:rPr lang="cs-CZ"/>
              <a:t> </a:t>
            </a:r>
            <a:r>
              <a:rPr lang="en-US" err="1"/>
              <a:t>míru</a:t>
            </a:r>
            <a:r>
              <a:rPr lang="en-US"/>
              <a:t> </a:t>
            </a:r>
            <a:r>
              <a:rPr lang="en-US" err="1"/>
              <a:t>dle</a:t>
            </a:r>
            <a:r>
              <a:rPr lang="en-US"/>
              <a:t> </a:t>
            </a:r>
            <a:r>
              <a:rPr lang="en-US" err="1"/>
              <a:t>informací</a:t>
            </a:r>
            <a:r>
              <a:rPr lang="en-US"/>
              <a:t>, </a:t>
            </a:r>
            <a:r>
              <a:rPr lang="en-US" err="1"/>
              <a:t>jež</a:t>
            </a:r>
            <a:r>
              <a:rPr lang="en-US"/>
              <a:t> </a:t>
            </a:r>
            <a:r>
              <a:rPr lang="en-US" err="1"/>
              <a:t>má</a:t>
            </a:r>
            <a:r>
              <a:rPr lang="en-US"/>
              <a:t> </a:t>
            </a:r>
            <a:r>
              <a:rPr lang="en-US" err="1"/>
              <a:t>útočník</a:t>
            </a:r>
            <a:r>
              <a:rPr lang="en-US"/>
              <a:t> o </a:t>
            </a:r>
            <a:r>
              <a:rPr lang="en-US" err="1"/>
              <a:t>své</a:t>
            </a:r>
            <a:r>
              <a:rPr lang="en-US"/>
              <a:t> </a:t>
            </a:r>
            <a:r>
              <a:rPr lang="en-US" err="1"/>
              <a:t>oběti</a:t>
            </a:r>
            <a:r>
              <a:rPr lang="en-US"/>
              <a:t>.</a:t>
            </a:r>
            <a:endParaRPr lang="cs-CZ"/>
          </a:p>
          <a:p>
            <a:r>
              <a:rPr lang="en-US" err="1"/>
              <a:t>Nástrojem</a:t>
            </a:r>
            <a:r>
              <a:rPr lang="en-US"/>
              <a:t> </a:t>
            </a:r>
            <a:r>
              <a:rPr lang="en-US" err="1"/>
              <a:t>umožňujícím</a:t>
            </a:r>
            <a:r>
              <a:rPr lang="en-US"/>
              <a:t> </a:t>
            </a:r>
            <a:r>
              <a:rPr lang="en-US" err="1"/>
              <a:t>vytvořit</a:t>
            </a:r>
            <a:r>
              <a:rPr lang="en-US"/>
              <a:t> </a:t>
            </a:r>
            <a:r>
              <a:rPr lang="en-US" err="1"/>
              <a:t>specifický</a:t>
            </a:r>
            <a:r>
              <a:rPr lang="cs-CZ"/>
              <a:t> </a:t>
            </a:r>
            <a:r>
              <a:rPr lang="en-US" err="1"/>
              <a:t>slovník</a:t>
            </a:r>
            <a:r>
              <a:rPr lang="en-US"/>
              <a:t> </a:t>
            </a:r>
            <a:r>
              <a:rPr lang="en-US" err="1"/>
              <a:t>dle</a:t>
            </a:r>
            <a:r>
              <a:rPr lang="en-US"/>
              <a:t> </a:t>
            </a:r>
            <a:r>
              <a:rPr lang="en-US" err="1"/>
              <a:t>obsahu</a:t>
            </a:r>
            <a:r>
              <a:rPr lang="en-US"/>
              <a:t> </a:t>
            </a:r>
            <a:r>
              <a:rPr lang="en-US" err="1"/>
              <a:t>webových</a:t>
            </a:r>
            <a:r>
              <a:rPr lang="en-US"/>
              <a:t> </a:t>
            </a:r>
            <a:r>
              <a:rPr lang="en-US" err="1"/>
              <a:t>stránek</a:t>
            </a:r>
            <a:r>
              <a:rPr lang="en-US"/>
              <a:t> je </a:t>
            </a:r>
            <a:r>
              <a:rPr lang="en-US" err="1"/>
              <a:t>například</a:t>
            </a:r>
            <a:r>
              <a:rPr lang="en-US"/>
              <a:t> program </a:t>
            </a:r>
            <a:r>
              <a:rPr lang="en-US" err="1"/>
              <a:t>cewl</a:t>
            </a:r>
            <a:r>
              <a:rPr lang="en-US"/>
              <a:t>. </a:t>
            </a:r>
            <a:endParaRPr lang="cs-CZ"/>
          </a:p>
          <a:p>
            <a:r>
              <a:rPr lang="en-US" err="1"/>
              <a:t>Jiným</a:t>
            </a:r>
            <a:r>
              <a:rPr lang="en-US"/>
              <a:t> </a:t>
            </a:r>
            <a:r>
              <a:rPr lang="en-US" err="1"/>
              <a:t>nástrojem</a:t>
            </a:r>
            <a:r>
              <a:rPr lang="en-US"/>
              <a:t>, </a:t>
            </a:r>
            <a:r>
              <a:rPr lang="en-US" err="1"/>
              <a:t>který</a:t>
            </a:r>
            <a:r>
              <a:rPr lang="en-US"/>
              <a:t> </a:t>
            </a:r>
            <a:r>
              <a:rPr lang="en-US" err="1"/>
              <a:t>lze</a:t>
            </a:r>
            <a:r>
              <a:rPr lang="cs-CZ"/>
              <a:t> </a:t>
            </a:r>
            <a:r>
              <a:rPr lang="en-US" err="1"/>
              <a:t>využít</a:t>
            </a:r>
            <a:r>
              <a:rPr lang="en-US"/>
              <a:t> pro </a:t>
            </a:r>
            <a:r>
              <a:rPr lang="en-US" err="1"/>
              <a:t>generování</a:t>
            </a:r>
            <a:r>
              <a:rPr lang="en-US"/>
              <a:t> </a:t>
            </a:r>
            <a:r>
              <a:rPr lang="en-US" err="1"/>
              <a:t>slovníku</a:t>
            </a:r>
            <a:r>
              <a:rPr lang="en-US"/>
              <a:t> </a:t>
            </a:r>
            <a:r>
              <a:rPr lang="en-US" err="1"/>
              <a:t>na</a:t>
            </a:r>
            <a:r>
              <a:rPr lang="en-US"/>
              <a:t> </a:t>
            </a:r>
            <a:r>
              <a:rPr lang="en-US" err="1"/>
              <a:t>míru</a:t>
            </a:r>
            <a:r>
              <a:rPr lang="en-US"/>
              <a:t>, je program </a:t>
            </a:r>
            <a:r>
              <a:rPr lang="en-US" err="1"/>
              <a:t>cupp</a:t>
            </a:r>
            <a:r>
              <a:rPr lang="en-US"/>
              <a:t>. </a:t>
            </a:r>
            <a:endParaRPr lang="cs-CZ"/>
          </a:p>
          <a:p>
            <a:r>
              <a:rPr lang="en-US" err="1"/>
              <a:t>Tento</a:t>
            </a:r>
            <a:r>
              <a:rPr lang="en-US"/>
              <a:t> program </a:t>
            </a:r>
            <a:r>
              <a:rPr lang="en-US" err="1"/>
              <a:t>umí</a:t>
            </a:r>
            <a:r>
              <a:rPr lang="en-US"/>
              <a:t> </a:t>
            </a:r>
            <a:r>
              <a:rPr lang="en-US" err="1"/>
              <a:t>vygenerovat</a:t>
            </a:r>
            <a:r>
              <a:rPr lang="cs-CZ"/>
              <a:t> </a:t>
            </a:r>
            <a:r>
              <a:rPr lang="en-US" err="1"/>
              <a:t>slovník</a:t>
            </a:r>
            <a:r>
              <a:rPr lang="en-US"/>
              <a:t> </a:t>
            </a:r>
            <a:r>
              <a:rPr lang="en-US" err="1"/>
              <a:t>na</a:t>
            </a:r>
            <a:r>
              <a:rPr lang="en-US"/>
              <a:t> </a:t>
            </a:r>
            <a:r>
              <a:rPr lang="en-US" err="1"/>
              <a:t>míru</a:t>
            </a:r>
            <a:r>
              <a:rPr lang="en-US"/>
              <a:t> </a:t>
            </a:r>
            <a:r>
              <a:rPr lang="en-US" err="1"/>
              <a:t>konkrétní</a:t>
            </a:r>
            <a:r>
              <a:rPr lang="en-US"/>
              <a:t> </a:t>
            </a:r>
            <a:r>
              <a:rPr lang="en-US" err="1"/>
              <a:t>osobě</a:t>
            </a:r>
            <a:r>
              <a:rPr lang="en-US"/>
              <a:t>, </a:t>
            </a:r>
            <a:r>
              <a:rPr lang="en-US" err="1"/>
              <a:t>jak</a:t>
            </a:r>
            <a:r>
              <a:rPr lang="en-US"/>
              <a:t> </a:t>
            </a:r>
            <a:r>
              <a:rPr lang="en-US" err="1"/>
              <a:t>můžete</a:t>
            </a:r>
            <a:r>
              <a:rPr lang="en-US"/>
              <a:t> </a:t>
            </a:r>
            <a:r>
              <a:rPr lang="en-US" err="1"/>
              <a:t>vidět</a:t>
            </a:r>
            <a:r>
              <a:rPr lang="en-US"/>
              <a:t> </a:t>
            </a:r>
            <a:r>
              <a:rPr lang="en-US" err="1"/>
              <a:t>na</a:t>
            </a:r>
            <a:r>
              <a:rPr lang="en-US"/>
              <a:t> </a:t>
            </a:r>
            <a:r>
              <a:rPr lang="en-US" err="1"/>
              <a:t>následujícím</a:t>
            </a:r>
            <a:r>
              <a:rPr lang="en-US"/>
              <a:t> </a:t>
            </a:r>
            <a:r>
              <a:rPr lang="en-US" err="1"/>
              <a:t>obrázku</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273</a:t>
            </a:fld>
            <a:endParaRPr lang="cs-CZ"/>
          </a:p>
        </p:txBody>
      </p:sp>
    </p:spTree>
    <p:extLst>
      <p:ext uri="{BB962C8B-B14F-4D97-AF65-F5344CB8AC3E}">
        <p14:creationId xmlns:p14="http://schemas.microsoft.com/office/powerpoint/2010/main" val="4216073532"/>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Cupp</a:t>
            </a: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274</a:t>
            </a:fld>
            <a:endParaRPr lang="cs-CZ"/>
          </a:p>
        </p:txBody>
      </p:sp>
      <p:pic>
        <p:nvPicPr>
          <p:cNvPr id="6" name="Picture 5"/>
          <p:cNvPicPr>
            <a:picLocks noChangeAspect="1"/>
          </p:cNvPicPr>
          <p:nvPr/>
        </p:nvPicPr>
        <p:blipFill>
          <a:blip r:embed="rId2"/>
          <a:stretch>
            <a:fillRect/>
          </a:stretch>
        </p:blipFill>
        <p:spPr>
          <a:xfrm>
            <a:off x="2757713" y="1460938"/>
            <a:ext cx="6116797" cy="5077974"/>
          </a:xfrm>
          <a:prstGeom prst="rect">
            <a:avLst/>
          </a:prstGeom>
        </p:spPr>
      </p:pic>
    </p:spTree>
    <p:extLst>
      <p:ext uri="{BB962C8B-B14F-4D97-AF65-F5344CB8AC3E}">
        <p14:creationId xmlns:p14="http://schemas.microsoft.com/office/powerpoint/2010/main" val="413209391"/>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Cupp</a:t>
            </a: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275</a:t>
            </a:fld>
            <a:endParaRPr lang="cs-CZ"/>
          </a:p>
        </p:txBody>
      </p:sp>
      <p:pic>
        <p:nvPicPr>
          <p:cNvPr id="6" name="Picture 5"/>
          <p:cNvPicPr>
            <a:picLocks noChangeAspect="1"/>
          </p:cNvPicPr>
          <p:nvPr/>
        </p:nvPicPr>
        <p:blipFill>
          <a:blip r:embed="rId2"/>
          <a:stretch>
            <a:fillRect/>
          </a:stretch>
        </p:blipFill>
        <p:spPr>
          <a:xfrm>
            <a:off x="2652505" y="1289863"/>
            <a:ext cx="5958095" cy="5322196"/>
          </a:xfrm>
          <a:prstGeom prst="rect">
            <a:avLst/>
          </a:prstGeom>
        </p:spPr>
      </p:pic>
    </p:spTree>
    <p:extLst>
      <p:ext uri="{BB962C8B-B14F-4D97-AF65-F5344CB8AC3E}">
        <p14:creationId xmlns:p14="http://schemas.microsoft.com/office/powerpoint/2010/main" val="922691641"/>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276</a:t>
            </a:fld>
            <a:endParaRPr lang="cs-CZ"/>
          </a:p>
        </p:txBody>
      </p:sp>
      <mc:AlternateContent xmlns:mc="http://schemas.openxmlformats.org/markup-compatibility/2006" xmlns:p14="http://schemas.microsoft.com/office/powerpoint/2010/main">
        <mc:Choice Requires="p14">
          <p:contentPart p14:bwMode="auto" r:id="rId2">
            <p14:nvContentPartPr>
              <p14:cNvPr id="6" name="Rukopis 5">
                <a:extLst>
                  <a:ext uri="{FF2B5EF4-FFF2-40B4-BE49-F238E27FC236}">
                    <a16:creationId xmlns:a16="http://schemas.microsoft.com/office/drawing/2014/main" id="{00F9FE99-150B-2B29-9D53-9FFA864A9EA4}"/>
                  </a:ext>
                </a:extLst>
              </p14:cNvPr>
              <p14:cNvContentPartPr/>
              <p14:nvPr/>
            </p14:nvContentPartPr>
            <p14:xfrm>
              <a:off x="2224366" y="3270812"/>
              <a:ext cx="360" cy="1800"/>
            </p14:xfrm>
          </p:contentPart>
        </mc:Choice>
        <mc:Fallback xmlns="">
          <p:pic>
            <p:nvPicPr>
              <p:cNvPr id="6" name="Rukopis 5">
                <a:extLst>
                  <a:ext uri="{FF2B5EF4-FFF2-40B4-BE49-F238E27FC236}">
                    <a16:creationId xmlns:a16="http://schemas.microsoft.com/office/drawing/2014/main" id="{00F9FE99-150B-2B29-9D53-9FFA864A9EA4}"/>
                  </a:ext>
                </a:extLst>
              </p:cNvPr>
              <p:cNvPicPr/>
              <p:nvPr/>
            </p:nvPicPr>
            <p:blipFill>
              <a:blip r:embed="rId3"/>
              <a:stretch>
                <a:fillRect/>
              </a:stretch>
            </p:blipFill>
            <p:spPr>
              <a:xfrm>
                <a:off x="2215366" y="3263312"/>
                <a:ext cx="18000" cy="165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Rukopis 6">
                <a:extLst>
                  <a:ext uri="{FF2B5EF4-FFF2-40B4-BE49-F238E27FC236}">
                    <a16:creationId xmlns:a16="http://schemas.microsoft.com/office/drawing/2014/main" id="{C0B189BF-3C58-D4C0-FA9B-20A04AA87469}"/>
                  </a:ext>
                </a:extLst>
              </p14:cNvPr>
              <p14:cNvContentPartPr/>
              <p14:nvPr/>
            </p14:nvContentPartPr>
            <p14:xfrm>
              <a:off x="2205286" y="2086772"/>
              <a:ext cx="5216040" cy="2882520"/>
            </p14:xfrm>
          </p:contentPart>
        </mc:Choice>
        <mc:Fallback xmlns="">
          <p:pic>
            <p:nvPicPr>
              <p:cNvPr id="7" name="Rukopis 6">
                <a:extLst>
                  <a:ext uri="{FF2B5EF4-FFF2-40B4-BE49-F238E27FC236}">
                    <a16:creationId xmlns:a16="http://schemas.microsoft.com/office/drawing/2014/main" id="{C0B189BF-3C58-D4C0-FA9B-20A04AA87469}"/>
                  </a:ext>
                </a:extLst>
              </p:cNvPr>
              <p:cNvPicPr/>
              <p:nvPr/>
            </p:nvPicPr>
            <p:blipFill>
              <a:blip r:embed="rId5"/>
              <a:stretch>
                <a:fillRect/>
              </a:stretch>
            </p:blipFill>
            <p:spPr>
              <a:xfrm>
                <a:off x="2196286" y="2077773"/>
                <a:ext cx="5233680" cy="2900158"/>
              </a:xfrm>
              <a:prstGeom prst="rect">
                <a:avLst/>
              </a:prstGeom>
            </p:spPr>
          </p:pic>
        </mc:Fallback>
      </mc:AlternateContent>
      <p:grpSp>
        <p:nvGrpSpPr>
          <p:cNvPr id="17" name="Skupina 16">
            <a:extLst>
              <a:ext uri="{FF2B5EF4-FFF2-40B4-BE49-F238E27FC236}">
                <a16:creationId xmlns:a16="http://schemas.microsoft.com/office/drawing/2014/main" id="{A6C05013-D081-3509-75EA-32066AC1F827}"/>
              </a:ext>
            </a:extLst>
          </p:cNvPr>
          <p:cNvGrpSpPr/>
          <p:nvPr/>
        </p:nvGrpSpPr>
        <p:grpSpPr>
          <a:xfrm>
            <a:off x="2526139" y="3657812"/>
            <a:ext cx="3245400" cy="1311480"/>
            <a:chOff x="2563846" y="3657092"/>
            <a:chExt cx="3245400" cy="1311480"/>
          </a:xfrm>
        </p:grpSpPr>
        <mc:AlternateContent xmlns:mc="http://schemas.openxmlformats.org/markup-compatibility/2006" xmlns:p14="http://schemas.microsoft.com/office/powerpoint/2010/main">
          <mc:Choice Requires="p14">
            <p:contentPart p14:bwMode="auto" r:id="rId6">
              <p14:nvContentPartPr>
                <p14:cNvPr id="8" name="Rukopis 7">
                  <a:extLst>
                    <a:ext uri="{FF2B5EF4-FFF2-40B4-BE49-F238E27FC236}">
                      <a16:creationId xmlns:a16="http://schemas.microsoft.com/office/drawing/2014/main" id="{9AEBC721-9E25-CEE0-BCE7-ACA0B96608F4}"/>
                    </a:ext>
                  </a:extLst>
                </p14:cNvPr>
                <p14:cNvContentPartPr/>
                <p14:nvPr/>
              </p14:nvContentPartPr>
              <p14:xfrm>
                <a:off x="4109686" y="3657092"/>
                <a:ext cx="360" cy="9720"/>
              </p14:xfrm>
            </p:contentPart>
          </mc:Choice>
          <mc:Fallback xmlns="">
            <p:pic>
              <p:nvPicPr>
                <p:cNvPr id="8" name="Rukopis 7">
                  <a:extLst>
                    <a:ext uri="{FF2B5EF4-FFF2-40B4-BE49-F238E27FC236}">
                      <a16:creationId xmlns:a16="http://schemas.microsoft.com/office/drawing/2014/main" id="{9AEBC721-9E25-CEE0-BCE7-ACA0B96608F4}"/>
                    </a:ext>
                  </a:extLst>
                </p:cNvPr>
                <p:cNvPicPr/>
                <p:nvPr/>
              </p:nvPicPr>
              <p:blipFill>
                <a:blip r:embed="rId7"/>
                <a:stretch>
                  <a:fillRect/>
                </a:stretch>
              </p:blipFill>
              <p:spPr>
                <a:xfrm>
                  <a:off x="4100686" y="3648092"/>
                  <a:ext cx="1800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Rukopis 8">
                  <a:extLst>
                    <a:ext uri="{FF2B5EF4-FFF2-40B4-BE49-F238E27FC236}">
                      <a16:creationId xmlns:a16="http://schemas.microsoft.com/office/drawing/2014/main" id="{1E675A56-E270-879D-59FD-4A77F8D90605}"/>
                    </a:ext>
                  </a:extLst>
                </p14:cNvPr>
                <p14:cNvContentPartPr/>
                <p14:nvPr/>
              </p14:nvContentPartPr>
              <p14:xfrm>
                <a:off x="4006006" y="3864812"/>
                <a:ext cx="360" cy="360"/>
              </p14:xfrm>
            </p:contentPart>
          </mc:Choice>
          <mc:Fallback xmlns="">
            <p:pic>
              <p:nvPicPr>
                <p:cNvPr id="9" name="Rukopis 8">
                  <a:extLst>
                    <a:ext uri="{FF2B5EF4-FFF2-40B4-BE49-F238E27FC236}">
                      <a16:creationId xmlns:a16="http://schemas.microsoft.com/office/drawing/2014/main" id="{1E675A56-E270-879D-59FD-4A77F8D90605}"/>
                    </a:ext>
                  </a:extLst>
                </p:cNvPr>
                <p:cNvPicPr/>
                <p:nvPr/>
              </p:nvPicPr>
              <p:blipFill>
                <a:blip r:embed="rId9"/>
                <a:stretch>
                  <a:fillRect/>
                </a:stretch>
              </p:blipFill>
              <p:spPr>
                <a:xfrm>
                  <a:off x="3997006" y="385581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Rukopis 11">
                  <a:extLst>
                    <a:ext uri="{FF2B5EF4-FFF2-40B4-BE49-F238E27FC236}">
                      <a16:creationId xmlns:a16="http://schemas.microsoft.com/office/drawing/2014/main" id="{595AECFF-8A9C-4AD3-E098-8F26243656B0}"/>
                    </a:ext>
                  </a:extLst>
                </p14:cNvPr>
                <p14:cNvContentPartPr/>
                <p14:nvPr/>
              </p14:nvContentPartPr>
              <p14:xfrm>
                <a:off x="4043806" y="3816212"/>
                <a:ext cx="1765440" cy="332640"/>
              </p14:xfrm>
            </p:contentPart>
          </mc:Choice>
          <mc:Fallback xmlns="">
            <p:pic>
              <p:nvPicPr>
                <p:cNvPr id="12" name="Rukopis 11">
                  <a:extLst>
                    <a:ext uri="{FF2B5EF4-FFF2-40B4-BE49-F238E27FC236}">
                      <a16:creationId xmlns:a16="http://schemas.microsoft.com/office/drawing/2014/main" id="{595AECFF-8A9C-4AD3-E098-8F26243656B0}"/>
                    </a:ext>
                  </a:extLst>
                </p:cNvPr>
                <p:cNvPicPr/>
                <p:nvPr/>
              </p:nvPicPr>
              <p:blipFill>
                <a:blip r:embed="rId11"/>
                <a:stretch>
                  <a:fillRect/>
                </a:stretch>
              </p:blipFill>
              <p:spPr>
                <a:xfrm>
                  <a:off x="4034806" y="3807222"/>
                  <a:ext cx="1783080" cy="350261"/>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Rukopis 12">
                  <a:extLst>
                    <a:ext uri="{FF2B5EF4-FFF2-40B4-BE49-F238E27FC236}">
                      <a16:creationId xmlns:a16="http://schemas.microsoft.com/office/drawing/2014/main" id="{45B35F5C-2715-185B-ABFE-D5F7ED8E2B47}"/>
                    </a:ext>
                  </a:extLst>
                </p14:cNvPr>
                <p14:cNvContentPartPr/>
                <p14:nvPr/>
              </p14:nvContentPartPr>
              <p14:xfrm>
                <a:off x="3072886" y="3949412"/>
                <a:ext cx="360" cy="360"/>
              </p14:xfrm>
            </p:contentPart>
          </mc:Choice>
          <mc:Fallback xmlns="">
            <p:pic>
              <p:nvPicPr>
                <p:cNvPr id="13" name="Rukopis 12">
                  <a:extLst>
                    <a:ext uri="{FF2B5EF4-FFF2-40B4-BE49-F238E27FC236}">
                      <a16:creationId xmlns:a16="http://schemas.microsoft.com/office/drawing/2014/main" id="{45B35F5C-2715-185B-ABFE-D5F7ED8E2B47}"/>
                    </a:ext>
                  </a:extLst>
                </p:cNvPr>
                <p:cNvPicPr/>
                <p:nvPr/>
              </p:nvPicPr>
              <p:blipFill>
                <a:blip r:embed="rId9"/>
                <a:stretch>
                  <a:fillRect/>
                </a:stretch>
              </p:blipFill>
              <p:spPr>
                <a:xfrm>
                  <a:off x="3063886" y="394041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4" name="Rukopis 13">
                  <a:extLst>
                    <a:ext uri="{FF2B5EF4-FFF2-40B4-BE49-F238E27FC236}">
                      <a16:creationId xmlns:a16="http://schemas.microsoft.com/office/drawing/2014/main" id="{6AA19412-A4E3-A220-AAFA-FCE28ACEE820}"/>
                    </a:ext>
                  </a:extLst>
                </p14:cNvPr>
                <p14:cNvContentPartPr/>
                <p14:nvPr/>
              </p14:nvContentPartPr>
              <p14:xfrm>
                <a:off x="2778406" y="3949412"/>
                <a:ext cx="578520" cy="1019160"/>
              </p14:xfrm>
            </p:contentPart>
          </mc:Choice>
          <mc:Fallback xmlns="">
            <p:pic>
              <p:nvPicPr>
                <p:cNvPr id="14" name="Rukopis 13">
                  <a:extLst>
                    <a:ext uri="{FF2B5EF4-FFF2-40B4-BE49-F238E27FC236}">
                      <a16:creationId xmlns:a16="http://schemas.microsoft.com/office/drawing/2014/main" id="{6AA19412-A4E3-A220-AAFA-FCE28ACEE820}"/>
                    </a:ext>
                  </a:extLst>
                </p:cNvPr>
                <p:cNvPicPr/>
                <p:nvPr/>
              </p:nvPicPr>
              <p:blipFill>
                <a:blip r:embed="rId14"/>
                <a:stretch>
                  <a:fillRect/>
                </a:stretch>
              </p:blipFill>
              <p:spPr>
                <a:xfrm>
                  <a:off x="2769406" y="3940412"/>
                  <a:ext cx="596160" cy="10368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5" name="Rukopis 14">
                  <a:extLst>
                    <a:ext uri="{FF2B5EF4-FFF2-40B4-BE49-F238E27FC236}">
                      <a16:creationId xmlns:a16="http://schemas.microsoft.com/office/drawing/2014/main" id="{C32C8A97-240F-3E3F-256A-CE24705594B4}"/>
                    </a:ext>
                  </a:extLst>
                </p14:cNvPr>
                <p14:cNvContentPartPr/>
                <p14:nvPr/>
              </p14:nvContentPartPr>
              <p14:xfrm>
                <a:off x="2563846" y="4260812"/>
                <a:ext cx="141480" cy="272160"/>
              </p14:xfrm>
            </p:contentPart>
          </mc:Choice>
          <mc:Fallback xmlns="">
            <p:pic>
              <p:nvPicPr>
                <p:cNvPr id="15" name="Rukopis 14">
                  <a:extLst>
                    <a:ext uri="{FF2B5EF4-FFF2-40B4-BE49-F238E27FC236}">
                      <a16:creationId xmlns:a16="http://schemas.microsoft.com/office/drawing/2014/main" id="{C32C8A97-240F-3E3F-256A-CE24705594B4}"/>
                    </a:ext>
                  </a:extLst>
                </p:cNvPr>
                <p:cNvPicPr/>
                <p:nvPr/>
              </p:nvPicPr>
              <p:blipFill>
                <a:blip r:embed="rId16"/>
                <a:stretch>
                  <a:fillRect/>
                </a:stretch>
              </p:blipFill>
              <p:spPr>
                <a:xfrm>
                  <a:off x="2554869" y="4251812"/>
                  <a:ext cx="159075" cy="289800"/>
                </a:xfrm>
                <a:prstGeom prst="rect">
                  <a:avLst/>
                </a:prstGeom>
              </p:spPr>
            </p:pic>
          </mc:Fallback>
        </mc:AlternateContent>
      </p:grpSp>
    </p:spTree>
    <p:extLst>
      <p:ext uri="{BB962C8B-B14F-4D97-AF65-F5344CB8AC3E}">
        <p14:creationId xmlns:p14="http://schemas.microsoft.com/office/powerpoint/2010/main" val="4137119971"/>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b="1"/>
              <a:t>Operační systémy a jejich zranitelnost</a:t>
            </a:r>
            <a:endParaRPr lang="en-US" b="1"/>
          </a:p>
        </p:txBody>
      </p:sp>
      <p:sp>
        <p:nvSpPr>
          <p:cNvPr id="3" name="Content Placeholder 2"/>
          <p:cNvSpPr>
            <a:spLocks noGrp="1"/>
          </p:cNvSpPr>
          <p:nvPr>
            <p:ph idx="1"/>
          </p:nvPr>
        </p:nvSpPr>
        <p:spPr>
          <a:xfrm>
            <a:off x="838200" y="1825625"/>
            <a:ext cx="10515600" cy="4667250"/>
          </a:xfrm>
        </p:spPr>
        <p:txBody>
          <a:bodyPr>
            <a:normAutofit fontScale="92500" lnSpcReduction="10000"/>
          </a:bodyPr>
          <a:lstStyle/>
          <a:p>
            <a:r>
              <a:rPr lang="cs-CZ"/>
              <a:t>Historicky:</a:t>
            </a:r>
          </a:p>
          <a:p>
            <a:pPr lvl="1"/>
            <a:r>
              <a:rPr lang="en-US" err="1"/>
              <a:t>Zaostával</a:t>
            </a:r>
            <a:r>
              <a:rPr lang="en-US"/>
              <a:t> za </a:t>
            </a:r>
            <a:r>
              <a:rPr lang="en-US" err="1"/>
              <a:t>vývojem</a:t>
            </a:r>
            <a:r>
              <a:rPr lang="en-US"/>
              <a:t> </a:t>
            </a:r>
            <a:r>
              <a:rPr lang="en-US" err="1"/>
              <a:t>potřeb</a:t>
            </a:r>
            <a:r>
              <a:rPr lang="en-US"/>
              <a:t> </a:t>
            </a:r>
            <a:r>
              <a:rPr lang="en-US" err="1"/>
              <a:t>uživatelů</a:t>
            </a:r>
            <a:r>
              <a:rPr lang="cs-CZ"/>
              <a:t> - Např.: Bezpečnostní řešení byla zaměřena na firemní („</a:t>
            </a:r>
            <a:r>
              <a:rPr lang="cs-CZ" err="1"/>
              <a:t>enterprise</a:t>
            </a:r>
            <a:r>
              <a:rPr lang="cs-CZ"/>
              <a:t>“) zákazníky</a:t>
            </a:r>
          </a:p>
          <a:p>
            <a:pPr lvl="1"/>
            <a:r>
              <a:rPr lang="cs-CZ"/>
              <a:t>Zaostával za objevujícími se hrozbami - Zaměření na ochranu uživatelů mezi sebou (práva k souborům na disku), ne na ochranu uživatelů před nedůvěryhodnými aplikacemi</a:t>
            </a:r>
          </a:p>
          <a:p>
            <a:r>
              <a:rPr lang="cs-CZ"/>
              <a:t>V některých ohledech se zlepšuje:</a:t>
            </a:r>
          </a:p>
          <a:p>
            <a:pPr lvl="1"/>
            <a:r>
              <a:rPr lang="cs-CZ"/>
              <a:t>Např. OS chytrých telefonů používají důkladnější zabezpečení než desktopy</a:t>
            </a:r>
          </a:p>
          <a:p>
            <a:pPr lvl="1"/>
            <a:r>
              <a:rPr lang="cs-CZ"/>
              <a:t>Méně kritické bezpečnostní díry v běžných OS</a:t>
            </a:r>
          </a:p>
          <a:p>
            <a:r>
              <a:rPr lang="cs-CZ"/>
              <a:t>V jiných se zhoršuje:</a:t>
            </a:r>
          </a:p>
          <a:p>
            <a:pPr lvl="1"/>
            <a:r>
              <a:rPr lang="en-US" err="1"/>
              <a:t>Velikost</a:t>
            </a:r>
            <a:r>
              <a:rPr lang="en-US"/>
              <a:t>, </a:t>
            </a:r>
            <a:r>
              <a:rPr lang="en-US" err="1"/>
              <a:t>funkcionalita</a:t>
            </a:r>
            <a:r>
              <a:rPr lang="en-US"/>
              <a:t> a </a:t>
            </a:r>
            <a:r>
              <a:rPr lang="en-US" err="1"/>
              <a:t>složitost</a:t>
            </a:r>
            <a:r>
              <a:rPr lang="en-US"/>
              <a:t> OS </a:t>
            </a:r>
            <a:r>
              <a:rPr lang="en-US" err="1"/>
              <a:t>stále</a:t>
            </a:r>
            <a:r>
              <a:rPr lang="en-US"/>
              <a:t> </a:t>
            </a:r>
            <a:r>
              <a:rPr lang="en-US" err="1"/>
              <a:t>roste</a:t>
            </a:r>
            <a:endParaRPr lang="cs-CZ"/>
          </a:p>
          <a:p>
            <a:pPr lvl="1"/>
            <a:r>
              <a:rPr lang="en-US"/>
              <a:t>Jen </a:t>
            </a:r>
            <a:r>
              <a:rPr lang="en-US" err="1"/>
              <a:t>málo</a:t>
            </a:r>
            <a:r>
              <a:rPr lang="en-US"/>
              <a:t> </a:t>
            </a:r>
            <a:r>
              <a:rPr lang="en-US" err="1"/>
              <a:t>lidí</a:t>
            </a:r>
            <a:r>
              <a:rPr lang="en-US"/>
              <a:t> </a:t>
            </a:r>
            <a:r>
              <a:rPr lang="en-US" err="1"/>
              <a:t>skutečné</a:t>
            </a:r>
            <a:r>
              <a:rPr lang="en-US"/>
              <a:t> </a:t>
            </a:r>
            <a:r>
              <a:rPr lang="en-US" err="1"/>
              <a:t>ví</a:t>
            </a:r>
            <a:r>
              <a:rPr lang="en-US"/>
              <a:t>, jak </a:t>
            </a:r>
            <a:r>
              <a:rPr lang="en-US" err="1"/>
              <a:t>psát</a:t>
            </a:r>
            <a:r>
              <a:rPr lang="en-US"/>
              <a:t> </a:t>
            </a:r>
            <a:r>
              <a:rPr lang="en-US" err="1"/>
              <a:t>bezpečný</a:t>
            </a:r>
            <a:r>
              <a:rPr lang="en-US"/>
              <a:t> </a:t>
            </a:r>
            <a:r>
              <a:rPr lang="en-US" err="1"/>
              <a:t>kód</a:t>
            </a:r>
            <a:endParaRPr lang="cs-CZ"/>
          </a:p>
          <a:p>
            <a:pPr lvl="1"/>
            <a:r>
              <a:rPr lang="cs-CZ"/>
              <a:t>Stále více lidí umí na systémy útočit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277</a:t>
            </a:fld>
            <a:endParaRPr lang="cs-CZ"/>
          </a:p>
        </p:txBody>
      </p:sp>
    </p:spTree>
    <p:extLst>
      <p:ext uri="{BB962C8B-B14F-4D97-AF65-F5344CB8AC3E}">
        <p14:creationId xmlns:p14="http://schemas.microsoft.com/office/powerpoint/2010/main" val="3383413469"/>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err="1"/>
              <a:t>Běžné</a:t>
            </a:r>
            <a:r>
              <a:rPr lang="en-US" b="1"/>
              <a:t> </a:t>
            </a:r>
            <a:r>
              <a:rPr lang="en-US" b="1" err="1"/>
              <a:t>mechanismy</a:t>
            </a:r>
            <a:r>
              <a:rPr lang="en-US" b="1"/>
              <a:t> </a:t>
            </a:r>
            <a:r>
              <a:rPr lang="en-US" b="1" err="1"/>
              <a:t>zabezpečení</a:t>
            </a:r>
            <a:r>
              <a:rPr lang="en-US" b="1"/>
              <a:t> v OS</a:t>
            </a:r>
          </a:p>
        </p:txBody>
      </p:sp>
      <p:sp>
        <p:nvSpPr>
          <p:cNvPr id="3" name="Content Placeholder 2"/>
          <p:cNvSpPr>
            <a:spLocks noGrp="1"/>
          </p:cNvSpPr>
          <p:nvPr>
            <p:ph idx="1"/>
          </p:nvPr>
        </p:nvSpPr>
        <p:spPr/>
        <p:txBody>
          <a:bodyPr>
            <a:normAutofit fontScale="92500"/>
          </a:bodyPr>
          <a:lstStyle/>
          <a:p>
            <a:r>
              <a:rPr lang="en-US" err="1"/>
              <a:t>Systémy</a:t>
            </a:r>
            <a:r>
              <a:rPr lang="en-US"/>
              <a:t> pro </a:t>
            </a:r>
            <a:r>
              <a:rPr lang="en-US" err="1"/>
              <a:t>kontrolu</a:t>
            </a:r>
            <a:r>
              <a:rPr lang="en-US"/>
              <a:t> </a:t>
            </a:r>
            <a:r>
              <a:rPr lang="en-US" err="1"/>
              <a:t>přístupu</a:t>
            </a:r>
            <a:endParaRPr lang="cs-CZ"/>
          </a:p>
          <a:p>
            <a:pPr lvl="1"/>
            <a:r>
              <a:rPr lang="cs-CZ"/>
              <a:t>kontrola, k čemu může daný proces přistupovat</a:t>
            </a:r>
          </a:p>
          <a:p>
            <a:r>
              <a:rPr lang="en-US" err="1"/>
              <a:t>Autentizační</a:t>
            </a:r>
            <a:r>
              <a:rPr lang="en-US"/>
              <a:t> </a:t>
            </a:r>
            <a:r>
              <a:rPr lang="en-US" err="1"/>
              <a:t>systémy</a:t>
            </a:r>
            <a:endParaRPr lang="cs-CZ"/>
          </a:p>
          <a:p>
            <a:pPr lvl="1"/>
            <a:r>
              <a:rPr lang="cs-CZ"/>
              <a:t>potvrzení identity toho, jehož „jménem“ proces běží</a:t>
            </a:r>
          </a:p>
          <a:p>
            <a:r>
              <a:rPr lang="en-US" err="1"/>
              <a:t>Logování</a:t>
            </a:r>
            <a:endParaRPr lang="cs-CZ"/>
          </a:p>
          <a:p>
            <a:pPr lvl="1"/>
            <a:r>
              <a:rPr lang="cs-CZ"/>
              <a:t>Kvůli auditům, detekci útoků, vyšetřování a obnovu</a:t>
            </a:r>
          </a:p>
          <a:p>
            <a:r>
              <a:rPr lang="en-US" err="1"/>
              <a:t>Šifrování</a:t>
            </a:r>
            <a:r>
              <a:rPr lang="en-US"/>
              <a:t> </a:t>
            </a:r>
            <a:r>
              <a:rPr lang="en-US" err="1"/>
              <a:t>souborových</a:t>
            </a:r>
            <a:r>
              <a:rPr lang="en-US"/>
              <a:t> </a:t>
            </a:r>
            <a:r>
              <a:rPr lang="en-US" err="1"/>
              <a:t>systémů</a:t>
            </a:r>
            <a:endParaRPr lang="cs-CZ"/>
          </a:p>
          <a:p>
            <a:pPr lvl="1"/>
            <a:r>
              <a:rPr lang="en-US"/>
              <a:t>HW </a:t>
            </a:r>
            <a:r>
              <a:rPr lang="en-US" err="1"/>
              <a:t>lze</a:t>
            </a:r>
            <a:r>
              <a:rPr lang="en-US"/>
              <a:t> </a:t>
            </a:r>
            <a:r>
              <a:rPr lang="en-US" err="1"/>
              <a:t>šifrovat</a:t>
            </a:r>
            <a:r>
              <a:rPr lang="en-US"/>
              <a:t> </a:t>
            </a:r>
            <a:r>
              <a:rPr lang="en-US" err="1"/>
              <a:t>celý</a:t>
            </a:r>
            <a:r>
              <a:rPr lang="en-US"/>
              <a:t> disk, SW </a:t>
            </a:r>
            <a:r>
              <a:rPr lang="en-US" err="1"/>
              <a:t>jen</a:t>
            </a:r>
            <a:r>
              <a:rPr lang="en-US"/>
              <a:t> </a:t>
            </a:r>
            <a:r>
              <a:rPr lang="en-US" err="1"/>
              <a:t>souborový</a:t>
            </a:r>
            <a:r>
              <a:rPr lang="en-US"/>
              <a:t> </a:t>
            </a:r>
            <a:r>
              <a:rPr lang="en-US" err="1"/>
              <a:t>systém</a:t>
            </a:r>
            <a:r>
              <a:rPr lang="en-US"/>
              <a:t> (</a:t>
            </a:r>
            <a:r>
              <a:rPr lang="en-US" err="1"/>
              <a:t>nelze</a:t>
            </a:r>
            <a:r>
              <a:rPr lang="en-US"/>
              <a:t> </a:t>
            </a:r>
            <a:r>
              <a:rPr lang="en-US" err="1"/>
              <a:t>šifrovat</a:t>
            </a:r>
            <a:r>
              <a:rPr lang="cs-CZ"/>
              <a:t> </a:t>
            </a:r>
            <a:r>
              <a:rPr lang="en-US"/>
              <a:t>partition table)</a:t>
            </a:r>
            <a:endParaRPr lang="cs-CZ"/>
          </a:p>
          <a:p>
            <a:r>
              <a:rPr lang="en-US" err="1"/>
              <a:t>Správa</a:t>
            </a:r>
            <a:r>
              <a:rPr lang="en-US"/>
              <a:t> </a:t>
            </a:r>
            <a:r>
              <a:rPr lang="en-US" err="1"/>
              <a:t>pověření</a:t>
            </a:r>
            <a:r>
              <a:rPr lang="en-US"/>
              <a:t> (credentials)</a:t>
            </a:r>
            <a:endParaRPr lang="cs-CZ"/>
          </a:p>
          <a:p>
            <a:r>
              <a:rPr lang="en-US" err="1"/>
              <a:t>Automatické</a:t>
            </a:r>
            <a:r>
              <a:rPr lang="en-US"/>
              <a:t> </a:t>
            </a:r>
            <a:r>
              <a:rPr lang="en-US" err="1"/>
              <a:t>aktualizace</a:t>
            </a:r>
            <a:endParaRPr lang="en-US"/>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278</a:t>
            </a:fld>
            <a:endParaRPr lang="cs-CZ"/>
          </a:p>
        </p:txBody>
      </p:sp>
    </p:spTree>
    <p:extLst>
      <p:ext uri="{BB962C8B-B14F-4D97-AF65-F5344CB8AC3E}">
        <p14:creationId xmlns:p14="http://schemas.microsoft.com/office/powerpoint/2010/main" val="244663972"/>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A</a:t>
            </a:r>
            <a:r>
              <a:rPr lang="cs-CZ" b="1" err="1"/>
              <a:t>ktuální</a:t>
            </a:r>
            <a:r>
              <a:rPr lang="en-US" b="1"/>
              <a:t> </a:t>
            </a:r>
            <a:r>
              <a:rPr lang="cs-CZ" b="1"/>
              <a:t>zranitelnosti systémů</a:t>
            </a:r>
            <a:endParaRPr lang="en-US" b="1"/>
          </a:p>
        </p:txBody>
      </p:sp>
      <p:sp>
        <p:nvSpPr>
          <p:cNvPr id="3" name="Content Placeholder 2"/>
          <p:cNvSpPr>
            <a:spLocks noGrp="1"/>
          </p:cNvSpPr>
          <p:nvPr>
            <p:ph idx="1"/>
          </p:nvPr>
        </p:nvSpPr>
        <p:spPr/>
        <p:txBody>
          <a:bodyPr>
            <a:normAutofit/>
          </a:bodyPr>
          <a:lstStyle/>
          <a:p>
            <a:r>
              <a:rPr lang="en-US" err="1"/>
              <a:t>Každý</a:t>
            </a:r>
            <a:r>
              <a:rPr lang="en-US"/>
              <a:t> </a:t>
            </a:r>
            <a:r>
              <a:rPr lang="en-US" err="1"/>
              <a:t>operační</a:t>
            </a:r>
            <a:r>
              <a:rPr lang="en-US"/>
              <a:t> </a:t>
            </a:r>
            <a:r>
              <a:rPr lang="en-US" err="1"/>
              <a:t>systém</a:t>
            </a:r>
            <a:r>
              <a:rPr lang="en-US"/>
              <a:t> </a:t>
            </a:r>
            <a:r>
              <a:rPr lang="en-US" err="1"/>
              <a:t>nebo</a:t>
            </a:r>
            <a:r>
              <a:rPr lang="en-US"/>
              <a:t> </a:t>
            </a:r>
            <a:r>
              <a:rPr lang="en-US" err="1"/>
              <a:t>aplikaci</a:t>
            </a:r>
            <a:r>
              <a:rPr lang="en-US"/>
              <a:t> </a:t>
            </a:r>
            <a:r>
              <a:rPr lang="en-US" err="1"/>
              <a:t>vytváří</a:t>
            </a:r>
            <a:r>
              <a:rPr lang="en-US"/>
              <a:t> </a:t>
            </a:r>
            <a:r>
              <a:rPr lang="en-US" err="1"/>
              <a:t>lidé</a:t>
            </a:r>
            <a:r>
              <a:rPr lang="en-US"/>
              <a:t> a</a:t>
            </a:r>
            <a:r>
              <a:rPr lang="cs-CZ"/>
              <a:t> </a:t>
            </a:r>
            <a:r>
              <a:rPr lang="en-US" err="1"/>
              <a:t>tím</a:t>
            </a:r>
            <a:r>
              <a:rPr lang="en-US"/>
              <a:t> </a:t>
            </a:r>
            <a:r>
              <a:rPr lang="en-US" err="1"/>
              <a:t>pádem</a:t>
            </a:r>
            <a:r>
              <a:rPr lang="en-US"/>
              <a:t> </a:t>
            </a:r>
            <a:r>
              <a:rPr lang="en-US" err="1"/>
              <a:t>zde</a:t>
            </a:r>
            <a:r>
              <a:rPr lang="en-US"/>
              <a:t> </a:t>
            </a:r>
            <a:r>
              <a:rPr lang="en-US" err="1"/>
              <a:t>mohou</a:t>
            </a:r>
            <a:r>
              <a:rPr lang="en-US"/>
              <a:t> </a:t>
            </a:r>
            <a:r>
              <a:rPr lang="en-US" err="1"/>
              <a:t>vzniknout</a:t>
            </a:r>
            <a:r>
              <a:rPr lang="en-US"/>
              <a:t> </a:t>
            </a:r>
            <a:r>
              <a:rPr lang="en-US" err="1"/>
              <a:t>určitá</a:t>
            </a:r>
            <a:r>
              <a:rPr lang="en-US"/>
              <a:t> </a:t>
            </a:r>
            <a:r>
              <a:rPr lang="en-US" err="1"/>
              <a:t>slabá</a:t>
            </a:r>
            <a:r>
              <a:rPr lang="en-US"/>
              <a:t> </a:t>
            </a:r>
            <a:r>
              <a:rPr lang="en-US" err="1"/>
              <a:t>místa</a:t>
            </a:r>
            <a:r>
              <a:rPr lang="en-US"/>
              <a:t>.</a:t>
            </a:r>
            <a:endParaRPr lang="cs-CZ"/>
          </a:p>
          <a:p>
            <a:r>
              <a:rPr lang="en-US"/>
              <a:t>Tyto </a:t>
            </a:r>
            <a:r>
              <a:rPr lang="en-US" err="1"/>
              <a:t>slabá</a:t>
            </a:r>
            <a:r>
              <a:rPr lang="en-US"/>
              <a:t> </a:t>
            </a:r>
            <a:r>
              <a:rPr lang="en-US" err="1"/>
              <a:t>místa</a:t>
            </a:r>
            <a:r>
              <a:rPr lang="en-US"/>
              <a:t> </a:t>
            </a:r>
            <a:r>
              <a:rPr lang="en-US" err="1"/>
              <a:t>vznikají</a:t>
            </a:r>
            <a:r>
              <a:rPr lang="en-US"/>
              <a:t> </a:t>
            </a:r>
            <a:r>
              <a:rPr lang="en-US" err="1"/>
              <a:t>nejvíce</a:t>
            </a:r>
            <a:r>
              <a:rPr lang="en-US"/>
              <a:t> </a:t>
            </a:r>
            <a:r>
              <a:rPr lang="en-US" err="1"/>
              <a:t>už</a:t>
            </a:r>
            <a:r>
              <a:rPr lang="en-US"/>
              <a:t> </a:t>
            </a:r>
            <a:r>
              <a:rPr lang="en-US" err="1"/>
              <a:t>při</a:t>
            </a:r>
            <a:r>
              <a:rPr lang="cs-CZ"/>
              <a:t> </a:t>
            </a:r>
            <a:r>
              <a:rPr lang="en-US" err="1"/>
              <a:t>samotném</a:t>
            </a:r>
            <a:r>
              <a:rPr lang="en-US"/>
              <a:t> </a:t>
            </a:r>
            <a:r>
              <a:rPr lang="en-US" err="1"/>
              <a:t>vývoji</a:t>
            </a:r>
            <a:r>
              <a:rPr lang="en-US"/>
              <a:t>, </a:t>
            </a:r>
            <a:r>
              <a:rPr lang="en-US" err="1"/>
              <a:t>kdy</a:t>
            </a:r>
            <a:r>
              <a:rPr lang="en-US"/>
              <a:t> </a:t>
            </a:r>
            <a:r>
              <a:rPr lang="en-US" err="1"/>
              <a:t>vývojáři</a:t>
            </a:r>
            <a:r>
              <a:rPr lang="en-US"/>
              <a:t> </a:t>
            </a:r>
            <a:r>
              <a:rPr lang="en-US" err="1"/>
              <a:t>mohou</a:t>
            </a:r>
            <a:r>
              <a:rPr lang="en-US"/>
              <a:t> v </a:t>
            </a:r>
            <a:r>
              <a:rPr lang="en-US" err="1"/>
              <a:t>samotném</a:t>
            </a:r>
            <a:r>
              <a:rPr lang="en-US"/>
              <a:t> </a:t>
            </a:r>
            <a:r>
              <a:rPr lang="en-US" err="1"/>
              <a:t>kódu</a:t>
            </a:r>
            <a:r>
              <a:rPr lang="en-US"/>
              <a:t> </a:t>
            </a:r>
            <a:r>
              <a:rPr lang="en-US" err="1"/>
              <a:t>operačního</a:t>
            </a:r>
            <a:r>
              <a:rPr lang="en-US"/>
              <a:t> </a:t>
            </a:r>
            <a:r>
              <a:rPr lang="en-US" err="1"/>
              <a:t>systému</a:t>
            </a:r>
            <a:r>
              <a:rPr lang="en-US"/>
              <a:t> </a:t>
            </a:r>
            <a:r>
              <a:rPr lang="en-US" err="1"/>
              <a:t>nebo</a:t>
            </a:r>
            <a:r>
              <a:rPr lang="en-US"/>
              <a:t> </a:t>
            </a:r>
            <a:r>
              <a:rPr lang="en-US" err="1"/>
              <a:t>aplikace</a:t>
            </a:r>
            <a:r>
              <a:rPr lang="cs-CZ"/>
              <a:t> </a:t>
            </a:r>
            <a:r>
              <a:rPr lang="en-US" err="1"/>
              <a:t>udělat</a:t>
            </a:r>
            <a:r>
              <a:rPr lang="en-US"/>
              <a:t> </a:t>
            </a:r>
            <a:r>
              <a:rPr lang="en-US" err="1"/>
              <a:t>chybu</a:t>
            </a:r>
            <a:r>
              <a:rPr lang="en-US"/>
              <a:t> a </a:t>
            </a:r>
            <a:r>
              <a:rPr lang="en-US" err="1"/>
              <a:t>hrozí</a:t>
            </a:r>
            <a:r>
              <a:rPr lang="en-US"/>
              <a:t> </a:t>
            </a:r>
            <a:r>
              <a:rPr lang="en-US" err="1"/>
              <a:t>zde</a:t>
            </a:r>
            <a:r>
              <a:rPr lang="en-US"/>
              <a:t> </a:t>
            </a:r>
            <a:r>
              <a:rPr lang="en-US" err="1"/>
              <a:t>riziko</a:t>
            </a:r>
            <a:r>
              <a:rPr lang="en-US"/>
              <a:t>, </a:t>
            </a:r>
            <a:r>
              <a:rPr lang="en-US" err="1"/>
              <a:t>že</a:t>
            </a:r>
            <a:r>
              <a:rPr lang="en-US"/>
              <a:t> </a:t>
            </a:r>
            <a:r>
              <a:rPr lang="en-US" err="1"/>
              <a:t>tyto</a:t>
            </a:r>
            <a:r>
              <a:rPr lang="en-US"/>
              <a:t> </a:t>
            </a:r>
            <a:r>
              <a:rPr lang="en-US" err="1"/>
              <a:t>slabá</a:t>
            </a:r>
            <a:r>
              <a:rPr lang="en-US"/>
              <a:t> </a:t>
            </a:r>
            <a:r>
              <a:rPr lang="en-US" err="1"/>
              <a:t>místa</a:t>
            </a:r>
            <a:r>
              <a:rPr lang="en-US"/>
              <a:t> </a:t>
            </a:r>
            <a:r>
              <a:rPr lang="en-US" err="1"/>
              <a:t>nebudou</a:t>
            </a:r>
            <a:r>
              <a:rPr lang="en-US"/>
              <a:t> </a:t>
            </a:r>
            <a:r>
              <a:rPr lang="en-US" err="1"/>
              <a:t>rychle</a:t>
            </a:r>
            <a:r>
              <a:rPr lang="en-US"/>
              <a:t> </a:t>
            </a:r>
            <a:r>
              <a:rPr lang="en-US" err="1"/>
              <a:t>odhalena</a:t>
            </a:r>
            <a:r>
              <a:rPr lang="en-US"/>
              <a:t> a </a:t>
            </a:r>
            <a:r>
              <a:rPr lang="en-US" err="1"/>
              <a:t>opravena</a:t>
            </a:r>
            <a:r>
              <a:rPr lang="cs-CZ"/>
              <a:t>.</a:t>
            </a:r>
            <a:endParaRPr lang="en-US"/>
          </a:p>
          <a:p>
            <a:r>
              <a:rPr lang="cs-CZ"/>
              <a:t>O</a:t>
            </a:r>
            <a:r>
              <a:rPr lang="en-US" err="1"/>
              <a:t>všem</a:t>
            </a:r>
            <a:r>
              <a:rPr lang="en-US"/>
              <a:t> </a:t>
            </a:r>
            <a:r>
              <a:rPr lang="en-US" err="1"/>
              <a:t>zařízení</a:t>
            </a:r>
            <a:r>
              <a:rPr lang="en-US"/>
              <a:t> </a:t>
            </a:r>
            <a:r>
              <a:rPr lang="en-US" err="1"/>
              <a:t>může</a:t>
            </a:r>
            <a:r>
              <a:rPr lang="en-US"/>
              <a:t> </a:t>
            </a:r>
            <a:r>
              <a:rPr lang="en-US" err="1"/>
              <a:t>být</a:t>
            </a:r>
            <a:r>
              <a:rPr lang="en-US"/>
              <a:t> </a:t>
            </a:r>
            <a:r>
              <a:rPr lang="en-US" err="1"/>
              <a:t>také</a:t>
            </a:r>
            <a:r>
              <a:rPr lang="en-US"/>
              <a:t> </a:t>
            </a:r>
            <a:r>
              <a:rPr lang="en-US" err="1"/>
              <a:t>napadeno</a:t>
            </a:r>
            <a:r>
              <a:rPr lang="en-US"/>
              <a:t> z </a:t>
            </a:r>
            <a:r>
              <a:rPr lang="en-US" err="1"/>
              <a:t>důvodu</a:t>
            </a:r>
            <a:r>
              <a:rPr lang="en-US"/>
              <a:t> </a:t>
            </a:r>
            <a:r>
              <a:rPr lang="en-US" err="1"/>
              <a:t>špatného</a:t>
            </a:r>
            <a:r>
              <a:rPr lang="en-US"/>
              <a:t> </a:t>
            </a:r>
            <a:r>
              <a:rPr lang="en-US" err="1"/>
              <a:t>zabezpečení</a:t>
            </a:r>
            <a:r>
              <a:rPr lang="en-US"/>
              <a:t> </a:t>
            </a:r>
            <a:r>
              <a:rPr lang="en-US" err="1"/>
              <a:t>zařízení</a:t>
            </a:r>
            <a:r>
              <a:rPr lang="en-US"/>
              <a:t> </a:t>
            </a:r>
            <a:r>
              <a:rPr lang="en-US" err="1"/>
              <a:t>vinnou</a:t>
            </a:r>
            <a:r>
              <a:rPr lang="cs-CZ"/>
              <a:t> </a:t>
            </a:r>
            <a:r>
              <a:rPr lang="en-US" err="1"/>
              <a:t>vlastníka</a:t>
            </a:r>
            <a:r>
              <a:rPr lang="en-US"/>
              <a:t> </a:t>
            </a:r>
            <a:r>
              <a:rPr lang="en-US" err="1"/>
              <a:t>tohoto</a:t>
            </a:r>
            <a:r>
              <a:rPr lang="en-US"/>
              <a:t> </a:t>
            </a:r>
            <a:r>
              <a:rPr lang="en-US" err="1"/>
              <a:t>zařízení</a:t>
            </a:r>
            <a:r>
              <a:rPr lang="en-US"/>
              <a:t>.</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279</a:t>
            </a:fld>
            <a:endParaRPr lang="cs-CZ"/>
          </a:p>
        </p:txBody>
      </p:sp>
    </p:spTree>
    <p:extLst>
      <p:ext uri="{BB962C8B-B14F-4D97-AF65-F5344CB8AC3E}">
        <p14:creationId xmlns:p14="http://schemas.microsoft.com/office/powerpoint/2010/main" val="1112585680"/>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A</a:t>
            </a:r>
            <a:r>
              <a:rPr lang="cs-CZ" b="1" err="1"/>
              <a:t>ktuální</a:t>
            </a:r>
            <a:r>
              <a:rPr lang="en-US" b="1"/>
              <a:t> </a:t>
            </a:r>
            <a:r>
              <a:rPr lang="cs-CZ" b="1"/>
              <a:t>zranitelnosti systémů</a:t>
            </a:r>
            <a:endParaRPr lang="en-US"/>
          </a:p>
        </p:txBody>
      </p:sp>
      <p:sp>
        <p:nvSpPr>
          <p:cNvPr id="3" name="Content Placeholder 2"/>
          <p:cNvSpPr>
            <a:spLocks noGrp="1"/>
          </p:cNvSpPr>
          <p:nvPr>
            <p:ph idx="1"/>
          </p:nvPr>
        </p:nvSpPr>
        <p:spPr/>
        <p:txBody>
          <a:bodyPr/>
          <a:lstStyle/>
          <a:p>
            <a:r>
              <a:rPr lang="en-US" err="1"/>
              <a:t>Každou</a:t>
            </a:r>
            <a:r>
              <a:rPr lang="en-US"/>
              <a:t> </a:t>
            </a:r>
            <a:r>
              <a:rPr lang="en-US" err="1"/>
              <a:t>novou</a:t>
            </a:r>
            <a:r>
              <a:rPr lang="en-US"/>
              <a:t> </a:t>
            </a:r>
            <a:r>
              <a:rPr lang="en-US" err="1"/>
              <a:t>verzí</a:t>
            </a:r>
            <a:r>
              <a:rPr lang="en-US"/>
              <a:t> </a:t>
            </a:r>
            <a:r>
              <a:rPr lang="en-US" err="1"/>
              <a:t>operačního</a:t>
            </a:r>
            <a:r>
              <a:rPr lang="en-US"/>
              <a:t> </a:t>
            </a:r>
            <a:r>
              <a:rPr lang="en-US" err="1"/>
              <a:t>systému</a:t>
            </a:r>
            <a:r>
              <a:rPr lang="en-US"/>
              <a:t> </a:t>
            </a:r>
            <a:r>
              <a:rPr lang="en-US" err="1"/>
              <a:t>nebo</a:t>
            </a:r>
            <a:r>
              <a:rPr lang="en-US"/>
              <a:t> </a:t>
            </a:r>
            <a:r>
              <a:rPr lang="en-US" err="1"/>
              <a:t>aplikace</a:t>
            </a:r>
            <a:r>
              <a:rPr lang="en-US"/>
              <a:t> se </a:t>
            </a:r>
            <a:r>
              <a:rPr lang="en-US" err="1"/>
              <a:t>vývojáři</a:t>
            </a:r>
            <a:r>
              <a:rPr lang="cs-CZ"/>
              <a:t> </a:t>
            </a:r>
            <a:r>
              <a:rPr lang="en-US" err="1"/>
              <a:t>snaží</a:t>
            </a:r>
            <a:r>
              <a:rPr lang="en-US"/>
              <a:t> </a:t>
            </a:r>
            <a:r>
              <a:rPr lang="en-US" err="1"/>
              <a:t>opravit</a:t>
            </a:r>
            <a:r>
              <a:rPr lang="en-US"/>
              <a:t> </a:t>
            </a:r>
            <a:r>
              <a:rPr lang="en-US" err="1"/>
              <a:t>předešlé</a:t>
            </a:r>
            <a:r>
              <a:rPr lang="en-US"/>
              <a:t> </a:t>
            </a:r>
            <a:r>
              <a:rPr lang="en-US" err="1"/>
              <a:t>chyby</a:t>
            </a:r>
            <a:r>
              <a:rPr lang="en-US"/>
              <a:t> a </a:t>
            </a:r>
            <a:r>
              <a:rPr lang="en-US" err="1"/>
              <a:t>snaží</a:t>
            </a:r>
            <a:r>
              <a:rPr lang="en-US"/>
              <a:t> se </a:t>
            </a:r>
            <a:r>
              <a:rPr lang="en-US" err="1"/>
              <a:t>najít</a:t>
            </a:r>
            <a:r>
              <a:rPr lang="en-US"/>
              <a:t> </a:t>
            </a:r>
            <a:r>
              <a:rPr lang="en-US" err="1"/>
              <a:t>ony</a:t>
            </a:r>
            <a:r>
              <a:rPr lang="en-US"/>
              <a:t> </a:t>
            </a:r>
            <a:r>
              <a:rPr lang="en-US" err="1"/>
              <a:t>slabá</a:t>
            </a:r>
            <a:r>
              <a:rPr lang="en-US"/>
              <a:t> </a:t>
            </a:r>
            <a:r>
              <a:rPr lang="en-US" err="1"/>
              <a:t>místa</a:t>
            </a:r>
            <a:r>
              <a:rPr lang="en-US"/>
              <a:t>, </a:t>
            </a:r>
            <a:r>
              <a:rPr lang="en-US" err="1"/>
              <a:t>ovšem</a:t>
            </a:r>
            <a:r>
              <a:rPr lang="en-US"/>
              <a:t> </a:t>
            </a:r>
            <a:r>
              <a:rPr lang="en-US" err="1"/>
              <a:t>nalezení</a:t>
            </a:r>
            <a:r>
              <a:rPr lang="en-US"/>
              <a:t> </a:t>
            </a:r>
            <a:r>
              <a:rPr lang="en-US" err="1"/>
              <a:t>všech</a:t>
            </a:r>
            <a:r>
              <a:rPr lang="cs-CZ"/>
              <a:t> </a:t>
            </a:r>
            <a:r>
              <a:rPr lang="en-US" err="1"/>
              <a:t>dosavadních</a:t>
            </a:r>
            <a:r>
              <a:rPr lang="en-US"/>
              <a:t> </a:t>
            </a:r>
            <a:r>
              <a:rPr lang="en-US" err="1"/>
              <a:t>chyb</a:t>
            </a:r>
            <a:r>
              <a:rPr lang="en-US"/>
              <a:t> </a:t>
            </a:r>
            <a:r>
              <a:rPr lang="en-US" err="1"/>
              <a:t>nebo</a:t>
            </a:r>
            <a:r>
              <a:rPr lang="en-US"/>
              <a:t> </a:t>
            </a:r>
            <a:r>
              <a:rPr lang="en-US" err="1"/>
              <a:t>slabých</a:t>
            </a:r>
            <a:r>
              <a:rPr lang="en-US"/>
              <a:t> </a:t>
            </a:r>
            <a:r>
              <a:rPr lang="en-US" err="1"/>
              <a:t>míst</a:t>
            </a:r>
            <a:r>
              <a:rPr lang="en-US"/>
              <a:t> je v </a:t>
            </a:r>
            <a:r>
              <a:rPr lang="en-US" err="1"/>
              <a:t>podstatě</a:t>
            </a:r>
            <a:r>
              <a:rPr lang="en-US"/>
              <a:t> </a:t>
            </a:r>
            <a:r>
              <a:rPr lang="en-US" err="1"/>
              <a:t>nemožné</a:t>
            </a:r>
            <a:r>
              <a:rPr lang="en-US"/>
              <a:t>, </a:t>
            </a:r>
            <a:r>
              <a:rPr lang="en-US" err="1"/>
              <a:t>protože</a:t>
            </a:r>
            <a:r>
              <a:rPr lang="en-US"/>
              <a:t> </a:t>
            </a:r>
            <a:r>
              <a:rPr lang="en-US" err="1"/>
              <a:t>vždy</a:t>
            </a:r>
            <a:r>
              <a:rPr lang="en-US"/>
              <a:t> se </a:t>
            </a:r>
            <a:r>
              <a:rPr lang="en-US" err="1"/>
              <a:t>nějaká</a:t>
            </a:r>
            <a:r>
              <a:rPr lang="en-US"/>
              <a:t> </a:t>
            </a:r>
            <a:r>
              <a:rPr lang="en-US" err="1"/>
              <a:t>chyba</a:t>
            </a:r>
            <a:r>
              <a:rPr lang="cs-CZ"/>
              <a:t> </a:t>
            </a:r>
            <a:r>
              <a:rPr lang="en-US" err="1"/>
              <a:t>nebo</a:t>
            </a:r>
            <a:r>
              <a:rPr lang="en-US"/>
              <a:t> </a:t>
            </a:r>
            <a:r>
              <a:rPr lang="en-US" err="1"/>
              <a:t>slabé</a:t>
            </a:r>
            <a:r>
              <a:rPr lang="en-US"/>
              <a:t> </a:t>
            </a:r>
            <a:r>
              <a:rPr lang="en-US" err="1"/>
              <a:t>místo</a:t>
            </a:r>
            <a:r>
              <a:rPr lang="en-US"/>
              <a:t> </a:t>
            </a:r>
            <a:r>
              <a:rPr lang="en-US" err="1"/>
              <a:t>najde</a:t>
            </a:r>
            <a:r>
              <a:rPr lang="en-US"/>
              <a:t>.</a:t>
            </a:r>
            <a:endParaRPr lang="cs-CZ"/>
          </a:p>
          <a:p>
            <a:r>
              <a:rPr lang="en-US" err="1"/>
              <a:t>Důležitá</a:t>
            </a:r>
            <a:r>
              <a:rPr lang="en-US"/>
              <a:t> </a:t>
            </a:r>
            <a:r>
              <a:rPr lang="en-US" err="1"/>
              <a:t>ochrana</a:t>
            </a:r>
            <a:r>
              <a:rPr lang="en-US"/>
              <a:t> </a:t>
            </a:r>
            <a:r>
              <a:rPr lang="en-US" err="1"/>
              <a:t>proti</a:t>
            </a:r>
            <a:r>
              <a:rPr lang="en-US"/>
              <a:t> </a:t>
            </a:r>
            <a:r>
              <a:rPr lang="en-US" err="1"/>
              <a:t>těmto</a:t>
            </a:r>
            <a:r>
              <a:rPr lang="en-US"/>
              <a:t> </a:t>
            </a:r>
            <a:r>
              <a:rPr lang="en-US" err="1"/>
              <a:t>zranitelnostem</a:t>
            </a:r>
            <a:r>
              <a:rPr lang="en-US"/>
              <a:t> je </a:t>
            </a:r>
            <a:r>
              <a:rPr lang="en-US" err="1"/>
              <a:t>mít</a:t>
            </a:r>
            <a:r>
              <a:rPr lang="en-US"/>
              <a:t> </a:t>
            </a:r>
            <a:r>
              <a:rPr lang="en-US" err="1"/>
              <a:t>vždy</a:t>
            </a:r>
            <a:r>
              <a:rPr lang="en-US"/>
              <a:t> </a:t>
            </a:r>
            <a:r>
              <a:rPr lang="en-US" err="1"/>
              <a:t>na</a:t>
            </a:r>
            <a:r>
              <a:rPr lang="en-US"/>
              <a:t> </a:t>
            </a:r>
            <a:r>
              <a:rPr lang="en-US" err="1"/>
              <a:t>svém</a:t>
            </a:r>
            <a:r>
              <a:rPr lang="cs-CZ"/>
              <a:t> </a:t>
            </a:r>
            <a:r>
              <a:rPr lang="en-US" err="1"/>
              <a:t>zařízení</a:t>
            </a:r>
            <a:r>
              <a:rPr lang="en-US"/>
              <a:t> </a:t>
            </a:r>
            <a:r>
              <a:rPr lang="en-US" err="1"/>
              <a:t>nejaktuálnější</a:t>
            </a:r>
            <a:r>
              <a:rPr lang="en-US"/>
              <a:t> </a:t>
            </a:r>
            <a:r>
              <a:rPr lang="en-US" err="1"/>
              <a:t>verzi</a:t>
            </a:r>
            <a:r>
              <a:rPr lang="en-US"/>
              <a:t> </a:t>
            </a:r>
            <a:r>
              <a:rPr lang="en-US" err="1"/>
              <a:t>operačního</a:t>
            </a:r>
            <a:r>
              <a:rPr lang="en-US"/>
              <a:t> </a:t>
            </a:r>
            <a:r>
              <a:rPr lang="en-US" err="1"/>
              <a:t>systému</a:t>
            </a:r>
            <a:r>
              <a:rPr lang="en-US"/>
              <a:t> a </a:t>
            </a:r>
            <a:r>
              <a:rPr lang="en-US" err="1"/>
              <a:t>aplikace</a:t>
            </a:r>
            <a:r>
              <a:rPr lang="en-US"/>
              <a:t>, </a:t>
            </a:r>
            <a:r>
              <a:rPr lang="en-US" err="1"/>
              <a:t>neméně</a:t>
            </a:r>
            <a:r>
              <a:rPr lang="en-US"/>
              <a:t> </a:t>
            </a:r>
            <a:r>
              <a:rPr lang="en-US" err="1"/>
              <a:t>důležité</a:t>
            </a:r>
            <a:r>
              <a:rPr lang="en-US"/>
              <a:t> </a:t>
            </a:r>
            <a:r>
              <a:rPr lang="en-US" err="1"/>
              <a:t>jsou</a:t>
            </a:r>
            <a:r>
              <a:rPr lang="en-US"/>
              <a:t> take</a:t>
            </a:r>
            <a:r>
              <a:rPr lang="cs-CZ"/>
              <a:t> </a:t>
            </a:r>
            <a:r>
              <a:rPr lang="en-US" err="1"/>
              <a:t>nejaktuálnější</a:t>
            </a:r>
            <a:r>
              <a:rPr lang="en-US"/>
              <a:t> </a:t>
            </a:r>
            <a:r>
              <a:rPr lang="en-US" err="1"/>
              <a:t>bezpečnostní</a:t>
            </a:r>
            <a:r>
              <a:rPr lang="en-US"/>
              <a:t> </a:t>
            </a:r>
            <a:r>
              <a:rPr lang="en-US" err="1"/>
              <a:t>záplaty</a:t>
            </a:r>
            <a:r>
              <a:rPr lang="en-US"/>
              <a:t>, </a:t>
            </a:r>
            <a:r>
              <a:rPr lang="en-US" err="1"/>
              <a:t>vhodné</a:t>
            </a:r>
            <a:r>
              <a:rPr lang="en-US"/>
              <a:t> je </a:t>
            </a:r>
            <a:r>
              <a:rPr lang="en-US" err="1"/>
              <a:t>také</a:t>
            </a:r>
            <a:r>
              <a:rPr lang="en-US"/>
              <a:t> </a:t>
            </a:r>
            <a:r>
              <a:rPr lang="en-US" err="1"/>
              <a:t>používat</a:t>
            </a:r>
            <a:r>
              <a:rPr lang="en-US"/>
              <a:t> </a:t>
            </a:r>
            <a:r>
              <a:rPr lang="en-US" err="1"/>
              <a:t>ověřené</a:t>
            </a:r>
            <a:r>
              <a:rPr lang="en-US"/>
              <a:t> </a:t>
            </a:r>
            <a:r>
              <a:rPr lang="en-US" err="1"/>
              <a:t>aplikace</a:t>
            </a:r>
            <a:r>
              <a:rPr lang="en-US"/>
              <a:t>. </a:t>
            </a:r>
          </a:p>
        </p:txBody>
      </p:sp>
      <p:sp>
        <p:nvSpPr>
          <p:cNvPr id="4" name="Date Placeholder 3"/>
          <p:cNvSpPr>
            <a:spLocks noGrp="1"/>
          </p:cNvSpPr>
          <p:nvPr>
            <p:ph type="dt" sz="half" idx="10"/>
          </p:nvPr>
        </p:nvSpPr>
        <p:spPr/>
        <p:txBody>
          <a:bodyPr/>
          <a:lstStyle/>
          <a:p>
            <a:r>
              <a:rPr lang="cs-CZ"/>
              <a:t>18.8.2022</a:t>
            </a:r>
          </a:p>
        </p:txBody>
      </p:sp>
      <p:sp>
        <p:nvSpPr>
          <p:cNvPr id="5" name="Slide Number Placeholder 4"/>
          <p:cNvSpPr>
            <a:spLocks noGrp="1"/>
          </p:cNvSpPr>
          <p:nvPr>
            <p:ph type="sldNum" sz="quarter" idx="12"/>
          </p:nvPr>
        </p:nvSpPr>
        <p:spPr/>
        <p:txBody>
          <a:bodyPr/>
          <a:lstStyle/>
          <a:p>
            <a:fld id="{AD9F5C5F-4392-49C5-81DD-37F176609E69}" type="slidenum">
              <a:rPr lang="cs-CZ" smtClean="0"/>
              <a:t>280</a:t>
            </a:fld>
            <a:endParaRPr lang="cs-CZ"/>
          </a:p>
        </p:txBody>
      </p:sp>
    </p:spTree>
    <p:extLst>
      <p:ext uri="{BB962C8B-B14F-4D97-AF65-F5344CB8AC3E}">
        <p14:creationId xmlns:p14="http://schemas.microsoft.com/office/powerpoint/2010/main" val="3700394199"/>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FC03C4A-BF42-6187-5C00-35D7CDD0BADA}"/>
              </a:ext>
            </a:extLst>
          </p:cNvPr>
          <p:cNvSpPr>
            <a:spLocks noGrp="1"/>
          </p:cNvSpPr>
          <p:nvPr>
            <p:ph type="title"/>
          </p:nvPr>
        </p:nvSpPr>
        <p:spPr>
          <a:xfrm>
            <a:off x="838200" y="365125"/>
            <a:ext cx="10515600" cy="1325563"/>
          </a:xfrm>
        </p:spPr>
        <p:txBody>
          <a:bodyPr anchor="ctr">
            <a:normAutofit/>
          </a:bodyPr>
          <a:lstStyle/>
          <a:p>
            <a:r>
              <a:rPr lang="en-US" b="1" err="1"/>
              <a:t>Obecné</a:t>
            </a:r>
            <a:r>
              <a:rPr lang="en-US" b="1"/>
              <a:t> </a:t>
            </a:r>
            <a:r>
              <a:rPr lang="en-US" b="1" err="1"/>
              <a:t>hrozby</a:t>
            </a:r>
            <a:r>
              <a:rPr lang="cs-CZ" b="1"/>
              <a:t> OS mobilních zařízení</a:t>
            </a:r>
            <a:endParaRPr lang="en-US" b="1"/>
          </a:p>
        </p:txBody>
      </p:sp>
      <p:sp>
        <p:nvSpPr>
          <p:cNvPr id="4" name="Zástupný symbol pro datum 3">
            <a:extLst>
              <a:ext uri="{FF2B5EF4-FFF2-40B4-BE49-F238E27FC236}">
                <a16:creationId xmlns:a16="http://schemas.microsoft.com/office/drawing/2014/main" id="{BD7FF99C-B910-0BEF-A1FD-09D408CE4EB2}"/>
              </a:ext>
            </a:extLst>
          </p:cNvPr>
          <p:cNvSpPr>
            <a:spLocks noGrp="1"/>
          </p:cNvSpPr>
          <p:nvPr>
            <p:ph type="dt" sz="half" idx="10"/>
          </p:nvPr>
        </p:nvSpPr>
        <p:spPr>
          <a:xfrm>
            <a:off x="838200" y="6356350"/>
            <a:ext cx="2743200" cy="365125"/>
          </a:xfrm>
        </p:spPr>
        <p:txBody>
          <a:bodyPr anchor="ctr">
            <a:normAutofit/>
          </a:bodyPr>
          <a:lstStyle/>
          <a:p>
            <a:pPr>
              <a:spcAft>
                <a:spcPts val="600"/>
              </a:spcAft>
            </a:pPr>
            <a:r>
              <a:rPr lang="cs-CZ"/>
              <a:t>18.8.2022</a:t>
            </a:r>
          </a:p>
        </p:txBody>
      </p:sp>
      <p:sp>
        <p:nvSpPr>
          <p:cNvPr id="5" name="Zástupný symbol pro číslo snímku 4">
            <a:extLst>
              <a:ext uri="{FF2B5EF4-FFF2-40B4-BE49-F238E27FC236}">
                <a16:creationId xmlns:a16="http://schemas.microsoft.com/office/drawing/2014/main" id="{38A400E9-CC5C-4ADB-E410-4F2B87C43E20}"/>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AD9F5C5F-4392-49C5-81DD-37F176609E69}" type="slidenum">
              <a:rPr lang="cs-CZ" smtClean="0"/>
              <a:pPr>
                <a:spcAft>
                  <a:spcPts val="600"/>
                </a:spcAft>
              </a:pPr>
              <a:t>281</a:t>
            </a:fld>
            <a:endParaRPr lang="cs-CZ"/>
          </a:p>
        </p:txBody>
      </p:sp>
      <p:graphicFrame>
        <p:nvGraphicFramePr>
          <p:cNvPr id="7" name="Zástupný obsah 2">
            <a:extLst>
              <a:ext uri="{FF2B5EF4-FFF2-40B4-BE49-F238E27FC236}">
                <a16:creationId xmlns:a16="http://schemas.microsoft.com/office/drawing/2014/main" id="{68A0CD6C-07B0-FCA4-D394-B3E8D2DB8F9A}"/>
              </a:ext>
            </a:extLst>
          </p:cNvPr>
          <p:cNvGraphicFramePr>
            <a:graphicFrameLocks noGrp="1"/>
          </p:cNvGraphicFramePr>
          <p:nvPr>
            <p:ph idx="1"/>
            <p:extLst>
              <p:ext uri="{D42A27DB-BD31-4B8C-83A1-F6EECF244321}">
                <p14:modId xmlns:p14="http://schemas.microsoft.com/office/powerpoint/2010/main" val="405951702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58593487"/>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1487C34-AF2F-F9C3-0590-760AB42A3B1A}"/>
              </a:ext>
            </a:extLst>
          </p:cNvPr>
          <p:cNvSpPr>
            <a:spLocks noGrp="1"/>
          </p:cNvSpPr>
          <p:nvPr>
            <p:ph type="title"/>
          </p:nvPr>
        </p:nvSpPr>
        <p:spPr/>
        <p:txBody>
          <a:bodyPr/>
          <a:lstStyle/>
          <a:p>
            <a:r>
              <a:rPr lang="en-US"/>
              <a:t> </a:t>
            </a:r>
            <a:r>
              <a:rPr lang="en-US" b="1" err="1"/>
              <a:t>Únik</a:t>
            </a:r>
            <a:r>
              <a:rPr lang="en-US" b="1"/>
              <a:t> </a:t>
            </a:r>
            <a:r>
              <a:rPr lang="en-US" b="1" err="1"/>
              <a:t>dat</a:t>
            </a:r>
            <a:endParaRPr lang="en-US" b="1"/>
          </a:p>
        </p:txBody>
      </p:sp>
      <p:sp>
        <p:nvSpPr>
          <p:cNvPr id="3" name="Zástupný obsah 2">
            <a:extLst>
              <a:ext uri="{FF2B5EF4-FFF2-40B4-BE49-F238E27FC236}">
                <a16:creationId xmlns:a16="http://schemas.microsoft.com/office/drawing/2014/main" id="{6B70097B-1F7F-1DF9-4173-044DF5916F0D}"/>
              </a:ext>
            </a:extLst>
          </p:cNvPr>
          <p:cNvSpPr>
            <a:spLocks noGrp="1"/>
          </p:cNvSpPr>
          <p:nvPr>
            <p:ph idx="1"/>
          </p:nvPr>
        </p:nvSpPr>
        <p:spPr/>
        <p:txBody>
          <a:bodyPr/>
          <a:lstStyle/>
          <a:p>
            <a:r>
              <a:rPr lang="en-US" err="1"/>
              <a:t>Přes</a:t>
            </a:r>
            <a:r>
              <a:rPr lang="en-US"/>
              <a:t> </a:t>
            </a:r>
            <a:r>
              <a:rPr lang="en-US" err="1"/>
              <a:t>mobilní</a:t>
            </a:r>
            <a:r>
              <a:rPr lang="en-US"/>
              <a:t> </a:t>
            </a:r>
            <a:r>
              <a:rPr lang="en-US" err="1"/>
              <a:t>aplikace</a:t>
            </a:r>
            <a:r>
              <a:rPr lang="en-US"/>
              <a:t> </a:t>
            </a:r>
            <a:r>
              <a:rPr lang="en-US" err="1"/>
              <a:t>často</a:t>
            </a:r>
            <a:r>
              <a:rPr lang="en-US"/>
              <a:t> </a:t>
            </a:r>
            <a:r>
              <a:rPr lang="en-US" err="1"/>
              <a:t>dochází</a:t>
            </a:r>
            <a:r>
              <a:rPr lang="en-US"/>
              <a:t> k </a:t>
            </a:r>
            <a:r>
              <a:rPr lang="en-US" err="1"/>
              <a:t>nechtěným</a:t>
            </a:r>
            <a:r>
              <a:rPr lang="en-US"/>
              <a:t> </a:t>
            </a:r>
            <a:r>
              <a:rPr lang="en-US" err="1"/>
              <a:t>únikům</a:t>
            </a:r>
            <a:r>
              <a:rPr lang="en-US"/>
              <a:t> dat. </a:t>
            </a:r>
            <a:r>
              <a:rPr lang="en-US" err="1"/>
              <a:t>Častý</a:t>
            </a:r>
            <a:r>
              <a:rPr lang="en-US"/>
              <a:t> </a:t>
            </a:r>
            <a:r>
              <a:rPr lang="en-US" err="1"/>
              <a:t>důvod</a:t>
            </a:r>
            <a:r>
              <a:rPr lang="en-US"/>
              <a:t> </a:t>
            </a:r>
            <a:r>
              <a:rPr lang="en-US" err="1"/>
              <a:t>úniku</a:t>
            </a:r>
            <a:r>
              <a:rPr lang="en-US"/>
              <a:t> </a:t>
            </a:r>
            <a:r>
              <a:rPr lang="en-US" err="1"/>
              <a:t>těchto</a:t>
            </a:r>
            <a:r>
              <a:rPr lang="en-US"/>
              <a:t> </a:t>
            </a:r>
            <a:r>
              <a:rPr lang="en-US" err="1"/>
              <a:t>dat</a:t>
            </a:r>
            <a:r>
              <a:rPr lang="cs-CZ"/>
              <a:t> </a:t>
            </a:r>
            <a:r>
              <a:rPr lang="en-US"/>
              <a:t>je </a:t>
            </a:r>
            <a:r>
              <a:rPr lang="en-US" err="1"/>
              <a:t>zapříčiněno</a:t>
            </a:r>
            <a:r>
              <a:rPr lang="en-US"/>
              <a:t> </a:t>
            </a:r>
            <a:r>
              <a:rPr lang="en-US" err="1"/>
              <a:t>povoleními</a:t>
            </a:r>
            <a:r>
              <a:rPr lang="en-US"/>
              <a:t> </a:t>
            </a:r>
            <a:r>
              <a:rPr lang="en-US" err="1"/>
              <a:t>neboli</a:t>
            </a:r>
            <a:r>
              <a:rPr lang="en-US"/>
              <a:t> </a:t>
            </a:r>
            <a:r>
              <a:rPr lang="en-US" err="1"/>
              <a:t>oprávněními</a:t>
            </a:r>
            <a:r>
              <a:rPr lang="en-US"/>
              <a:t> </a:t>
            </a:r>
            <a:r>
              <a:rPr lang="en-US" err="1"/>
              <a:t>aplikace</a:t>
            </a:r>
            <a:r>
              <a:rPr lang="en-US"/>
              <a:t> </a:t>
            </a:r>
            <a:r>
              <a:rPr lang="en-US" err="1"/>
              <a:t>přístupu</a:t>
            </a:r>
            <a:r>
              <a:rPr lang="en-US"/>
              <a:t> k </a:t>
            </a:r>
            <a:r>
              <a:rPr lang="en-US" err="1"/>
              <a:t>částem</a:t>
            </a:r>
            <a:r>
              <a:rPr lang="en-US"/>
              <a:t> </a:t>
            </a:r>
            <a:r>
              <a:rPr lang="en-US" err="1"/>
              <a:t>zařízení</a:t>
            </a:r>
            <a:r>
              <a:rPr lang="en-US"/>
              <a:t> </a:t>
            </a:r>
            <a:r>
              <a:rPr lang="en-US" err="1"/>
              <a:t>např</a:t>
            </a:r>
            <a:r>
              <a:rPr lang="en-US"/>
              <a:t>. do</a:t>
            </a:r>
            <a:r>
              <a:rPr lang="cs-CZ"/>
              <a:t> </a:t>
            </a:r>
            <a:r>
              <a:rPr lang="en-US" err="1"/>
              <a:t>úložiště</a:t>
            </a:r>
            <a:r>
              <a:rPr lang="en-US"/>
              <a:t>. </a:t>
            </a:r>
            <a:endParaRPr lang="cs-CZ"/>
          </a:p>
          <a:p>
            <a:r>
              <a:rPr lang="en-US"/>
              <a:t>Tyto </a:t>
            </a:r>
            <a:r>
              <a:rPr lang="en-US" err="1"/>
              <a:t>aplikace</a:t>
            </a:r>
            <a:r>
              <a:rPr lang="en-US"/>
              <a:t> </a:t>
            </a:r>
            <a:r>
              <a:rPr lang="en-US" err="1"/>
              <a:t>pak</a:t>
            </a:r>
            <a:r>
              <a:rPr lang="en-US"/>
              <a:t> </a:t>
            </a:r>
            <a:r>
              <a:rPr lang="en-US" err="1"/>
              <a:t>mohou</a:t>
            </a:r>
            <a:r>
              <a:rPr lang="en-US"/>
              <a:t> </a:t>
            </a:r>
            <a:r>
              <a:rPr lang="en-US" err="1"/>
              <a:t>posílat</a:t>
            </a:r>
            <a:r>
              <a:rPr lang="en-US"/>
              <a:t> </a:t>
            </a:r>
            <a:r>
              <a:rPr lang="en-US" err="1"/>
              <a:t>osobní</a:t>
            </a:r>
            <a:r>
              <a:rPr lang="en-US"/>
              <a:t> </a:t>
            </a:r>
            <a:r>
              <a:rPr lang="en-US" err="1"/>
              <a:t>případně</a:t>
            </a:r>
            <a:r>
              <a:rPr lang="en-US"/>
              <a:t> </a:t>
            </a:r>
            <a:r>
              <a:rPr lang="en-US" err="1"/>
              <a:t>firemní</a:t>
            </a:r>
            <a:r>
              <a:rPr lang="en-US"/>
              <a:t> data </a:t>
            </a:r>
            <a:r>
              <a:rPr lang="en-US" err="1"/>
              <a:t>na</a:t>
            </a:r>
            <a:r>
              <a:rPr lang="en-US"/>
              <a:t> </a:t>
            </a:r>
            <a:r>
              <a:rPr lang="en-US" err="1"/>
              <a:t>vzdálené</a:t>
            </a:r>
            <a:r>
              <a:rPr lang="en-US"/>
              <a:t> </a:t>
            </a:r>
            <a:r>
              <a:rPr lang="en-US" err="1"/>
              <a:t>servery</a:t>
            </a:r>
            <a:r>
              <a:rPr lang="en-US"/>
              <a:t>,</a:t>
            </a:r>
            <a:r>
              <a:rPr lang="cs-CZ"/>
              <a:t> </a:t>
            </a:r>
            <a:r>
              <a:rPr lang="en-US" err="1"/>
              <a:t>kde</a:t>
            </a:r>
            <a:r>
              <a:rPr lang="en-US"/>
              <a:t> s </a:t>
            </a:r>
            <a:r>
              <a:rPr lang="en-US" err="1"/>
              <a:t>nimi</a:t>
            </a:r>
            <a:r>
              <a:rPr lang="en-US"/>
              <a:t> </a:t>
            </a:r>
            <a:r>
              <a:rPr lang="en-US" err="1"/>
              <a:t>mohou</a:t>
            </a:r>
            <a:r>
              <a:rPr lang="en-US"/>
              <a:t> </a:t>
            </a:r>
            <a:r>
              <a:rPr lang="en-US" err="1"/>
              <a:t>pracovat</a:t>
            </a:r>
            <a:r>
              <a:rPr lang="en-US"/>
              <a:t> </a:t>
            </a:r>
            <a:r>
              <a:rPr lang="en-US" err="1"/>
              <a:t>inzerenti</a:t>
            </a:r>
            <a:r>
              <a:rPr lang="en-US"/>
              <a:t> </a:t>
            </a:r>
            <a:r>
              <a:rPr lang="en-US" err="1"/>
              <a:t>nebo</a:t>
            </a:r>
            <a:r>
              <a:rPr lang="en-US"/>
              <a:t> </a:t>
            </a:r>
            <a:r>
              <a:rPr lang="en-US" err="1"/>
              <a:t>už</a:t>
            </a:r>
            <a:r>
              <a:rPr lang="en-US"/>
              <a:t> </a:t>
            </a:r>
            <a:r>
              <a:rPr lang="en-US" err="1"/>
              <a:t>dokonce</a:t>
            </a:r>
            <a:r>
              <a:rPr lang="en-US"/>
              <a:t> </a:t>
            </a:r>
            <a:r>
              <a:rPr lang="en-US" err="1"/>
              <a:t>počítačoví</a:t>
            </a:r>
            <a:r>
              <a:rPr lang="en-US"/>
              <a:t> </a:t>
            </a:r>
            <a:r>
              <a:rPr lang="en-US" err="1"/>
              <a:t>zločinci</a:t>
            </a:r>
            <a:r>
              <a:rPr lang="en-US"/>
              <a:t>.</a:t>
            </a:r>
            <a:endParaRPr lang="cs-CZ"/>
          </a:p>
          <a:p>
            <a:r>
              <a:rPr lang="en-US" err="1"/>
              <a:t>Jako</a:t>
            </a:r>
            <a:r>
              <a:rPr lang="en-US"/>
              <a:t> </a:t>
            </a:r>
            <a:r>
              <a:rPr lang="en-US" err="1"/>
              <a:t>obrana</a:t>
            </a:r>
            <a:r>
              <a:rPr lang="en-US"/>
              <a:t> </a:t>
            </a:r>
            <a:r>
              <a:rPr lang="en-US" err="1"/>
              <a:t>proti</a:t>
            </a:r>
            <a:r>
              <a:rPr lang="en-US"/>
              <a:t> </a:t>
            </a:r>
            <a:r>
              <a:rPr lang="en-US" err="1"/>
              <a:t>nechtěnému</a:t>
            </a:r>
            <a:r>
              <a:rPr lang="en-US"/>
              <a:t> </a:t>
            </a:r>
            <a:r>
              <a:rPr lang="en-US" err="1"/>
              <a:t>úniku</a:t>
            </a:r>
            <a:r>
              <a:rPr lang="en-US"/>
              <a:t> </a:t>
            </a:r>
            <a:r>
              <a:rPr lang="en-US" err="1"/>
              <a:t>dat</a:t>
            </a:r>
            <a:r>
              <a:rPr lang="en-US"/>
              <a:t> je </a:t>
            </a:r>
            <a:r>
              <a:rPr lang="en-US" err="1"/>
              <a:t>nutné</a:t>
            </a:r>
            <a:r>
              <a:rPr lang="en-US"/>
              <a:t> </a:t>
            </a:r>
            <a:r>
              <a:rPr lang="en-US" err="1"/>
              <a:t>při</a:t>
            </a:r>
            <a:r>
              <a:rPr lang="en-US"/>
              <a:t> </a:t>
            </a:r>
            <a:r>
              <a:rPr lang="en-US" err="1"/>
              <a:t>povolení</a:t>
            </a:r>
            <a:r>
              <a:rPr lang="en-US"/>
              <a:t> </a:t>
            </a:r>
            <a:r>
              <a:rPr lang="en-US" err="1"/>
              <a:t>oprávnění</a:t>
            </a:r>
            <a:r>
              <a:rPr lang="en-US"/>
              <a:t> </a:t>
            </a:r>
            <a:r>
              <a:rPr lang="en-US" err="1"/>
              <a:t>dávat</a:t>
            </a:r>
            <a:r>
              <a:rPr lang="en-US"/>
              <a:t> </a:t>
            </a:r>
            <a:r>
              <a:rPr lang="en-US" err="1"/>
              <a:t>pozor</a:t>
            </a:r>
            <a:r>
              <a:rPr lang="en-US"/>
              <a:t>, </a:t>
            </a:r>
            <a:r>
              <a:rPr lang="en-US" err="1"/>
              <a:t>jestli</a:t>
            </a:r>
            <a:r>
              <a:rPr lang="cs-CZ"/>
              <a:t> </a:t>
            </a:r>
            <a:r>
              <a:rPr lang="en-US" err="1"/>
              <a:t>opravdu</a:t>
            </a:r>
            <a:r>
              <a:rPr lang="en-US"/>
              <a:t> toto </a:t>
            </a:r>
            <a:r>
              <a:rPr lang="en-US" err="1"/>
              <a:t>povolení</a:t>
            </a:r>
            <a:r>
              <a:rPr lang="en-US"/>
              <a:t> </a:t>
            </a:r>
            <a:r>
              <a:rPr lang="en-US" err="1"/>
              <a:t>udělit</a:t>
            </a:r>
            <a:r>
              <a:rPr lang="en-US"/>
              <a:t> </a:t>
            </a:r>
            <a:r>
              <a:rPr lang="en-US" err="1"/>
              <a:t>či</a:t>
            </a:r>
            <a:r>
              <a:rPr lang="en-US"/>
              <a:t> </a:t>
            </a:r>
            <a:r>
              <a:rPr lang="en-US" err="1"/>
              <a:t>nikoliv</a:t>
            </a:r>
            <a:r>
              <a:rPr lang="en-US"/>
              <a:t>.</a:t>
            </a:r>
          </a:p>
        </p:txBody>
      </p:sp>
      <p:sp>
        <p:nvSpPr>
          <p:cNvPr id="4" name="Zástupný symbol pro datum 3">
            <a:extLst>
              <a:ext uri="{FF2B5EF4-FFF2-40B4-BE49-F238E27FC236}">
                <a16:creationId xmlns:a16="http://schemas.microsoft.com/office/drawing/2014/main" id="{4690C335-863D-36E2-BE53-121CE4F650F9}"/>
              </a:ext>
            </a:extLst>
          </p:cNvPr>
          <p:cNvSpPr>
            <a:spLocks noGrp="1"/>
          </p:cNvSpPr>
          <p:nvPr>
            <p:ph type="dt" sz="half" idx="10"/>
          </p:nvPr>
        </p:nvSpPr>
        <p:spPr/>
        <p:txBody>
          <a:bodyPr/>
          <a:lstStyle/>
          <a:p>
            <a:r>
              <a:rPr lang="cs-CZ"/>
              <a:t>18.8.2022</a:t>
            </a:r>
          </a:p>
        </p:txBody>
      </p:sp>
      <p:sp>
        <p:nvSpPr>
          <p:cNvPr id="5" name="Zástupný symbol pro číslo snímku 4">
            <a:extLst>
              <a:ext uri="{FF2B5EF4-FFF2-40B4-BE49-F238E27FC236}">
                <a16:creationId xmlns:a16="http://schemas.microsoft.com/office/drawing/2014/main" id="{51635136-5A44-FE50-4D04-9D99286D0B79}"/>
              </a:ext>
            </a:extLst>
          </p:cNvPr>
          <p:cNvSpPr>
            <a:spLocks noGrp="1"/>
          </p:cNvSpPr>
          <p:nvPr>
            <p:ph type="sldNum" sz="quarter" idx="12"/>
          </p:nvPr>
        </p:nvSpPr>
        <p:spPr/>
        <p:txBody>
          <a:bodyPr/>
          <a:lstStyle/>
          <a:p>
            <a:fld id="{AD9F5C5F-4392-49C5-81DD-37F176609E69}" type="slidenum">
              <a:rPr lang="cs-CZ" smtClean="0"/>
              <a:t>282</a:t>
            </a:fld>
            <a:endParaRPr lang="cs-CZ"/>
          </a:p>
        </p:txBody>
      </p:sp>
    </p:spTree>
    <p:extLst>
      <p:ext uri="{BB962C8B-B14F-4D97-AF65-F5344CB8AC3E}">
        <p14:creationId xmlns:p14="http://schemas.microsoft.com/office/powerpoint/2010/main" val="1529230929"/>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102A986-5204-089E-2540-7DDFE439CD33}"/>
              </a:ext>
            </a:extLst>
          </p:cNvPr>
          <p:cNvSpPr>
            <a:spLocks noGrp="1"/>
          </p:cNvSpPr>
          <p:nvPr>
            <p:ph type="title"/>
          </p:nvPr>
        </p:nvSpPr>
        <p:spPr/>
        <p:txBody>
          <a:bodyPr/>
          <a:lstStyle/>
          <a:p>
            <a:r>
              <a:rPr lang="en-US" b="1" err="1"/>
              <a:t>Nezabezpečené</a:t>
            </a:r>
            <a:r>
              <a:rPr lang="en-US" b="1"/>
              <a:t> Wi-Fi </a:t>
            </a:r>
            <a:r>
              <a:rPr lang="en-US" b="1" err="1"/>
              <a:t>sítě</a:t>
            </a:r>
            <a:endParaRPr lang="en-US" b="1"/>
          </a:p>
        </p:txBody>
      </p:sp>
      <p:sp>
        <p:nvSpPr>
          <p:cNvPr id="3" name="Zástupný obsah 2">
            <a:extLst>
              <a:ext uri="{FF2B5EF4-FFF2-40B4-BE49-F238E27FC236}">
                <a16:creationId xmlns:a16="http://schemas.microsoft.com/office/drawing/2014/main" id="{425F0637-DFA2-7611-5BEA-2DD30CE2912F}"/>
              </a:ext>
            </a:extLst>
          </p:cNvPr>
          <p:cNvSpPr>
            <a:spLocks noGrp="1"/>
          </p:cNvSpPr>
          <p:nvPr>
            <p:ph idx="1"/>
          </p:nvPr>
        </p:nvSpPr>
        <p:spPr/>
        <p:txBody>
          <a:bodyPr/>
          <a:lstStyle/>
          <a:p>
            <a:r>
              <a:rPr lang="en-US" err="1"/>
              <a:t>Když</a:t>
            </a:r>
            <a:r>
              <a:rPr lang="en-US"/>
              <a:t> </a:t>
            </a:r>
            <a:r>
              <a:rPr lang="en-US" err="1"/>
              <a:t>jsou</a:t>
            </a:r>
            <a:r>
              <a:rPr lang="en-US"/>
              <a:t> k </a:t>
            </a:r>
            <a:r>
              <a:rPr lang="en-US" err="1"/>
              <a:t>dispozici</a:t>
            </a:r>
            <a:r>
              <a:rPr lang="en-US"/>
              <a:t> </a:t>
            </a:r>
            <a:r>
              <a:rPr lang="en-US" err="1"/>
              <a:t>veřejné</a:t>
            </a:r>
            <a:r>
              <a:rPr lang="en-US"/>
              <a:t> Wi-Fi </a:t>
            </a:r>
            <a:r>
              <a:rPr lang="en-US" err="1"/>
              <a:t>si</a:t>
            </a:r>
            <a:r>
              <a:rPr lang="en-US"/>
              <a:t> </a:t>
            </a:r>
            <a:r>
              <a:rPr lang="en-US" err="1"/>
              <a:t>můžeme</a:t>
            </a:r>
            <a:r>
              <a:rPr lang="en-US"/>
              <a:t> </a:t>
            </a:r>
            <a:r>
              <a:rPr lang="en-US" err="1"/>
              <a:t>říct</a:t>
            </a:r>
            <a:r>
              <a:rPr lang="en-US"/>
              <a:t> </a:t>
            </a:r>
            <a:r>
              <a:rPr lang="en-US" err="1"/>
              <a:t>proč</a:t>
            </a:r>
            <a:r>
              <a:rPr lang="en-US"/>
              <a:t> </a:t>
            </a:r>
            <a:r>
              <a:rPr lang="en-US" err="1"/>
              <a:t>nevyužít</a:t>
            </a:r>
            <a:r>
              <a:rPr lang="en-US"/>
              <a:t> internet </a:t>
            </a:r>
            <a:r>
              <a:rPr lang="en-US" err="1"/>
              <a:t>zadarmo</a:t>
            </a:r>
            <a:r>
              <a:rPr lang="en-US"/>
              <a:t> a</a:t>
            </a:r>
            <a:r>
              <a:rPr lang="cs-CZ"/>
              <a:t> </a:t>
            </a:r>
            <a:r>
              <a:rPr lang="en-US" err="1"/>
              <a:t>zbytečně</a:t>
            </a:r>
            <a:r>
              <a:rPr lang="en-US"/>
              <a:t> </a:t>
            </a:r>
            <a:r>
              <a:rPr lang="en-US" err="1"/>
              <a:t>si</a:t>
            </a:r>
            <a:r>
              <a:rPr lang="en-US"/>
              <a:t> </a:t>
            </a:r>
            <a:r>
              <a:rPr lang="en-US" err="1"/>
              <a:t>nečerpat</a:t>
            </a:r>
            <a:r>
              <a:rPr lang="en-US"/>
              <a:t> </a:t>
            </a:r>
            <a:r>
              <a:rPr lang="en-US" err="1"/>
              <a:t>svá</a:t>
            </a:r>
            <a:r>
              <a:rPr lang="en-US"/>
              <a:t> </a:t>
            </a:r>
            <a:r>
              <a:rPr lang="en-US" err="1"/>
              <a:t>mobilní</a:t>
            </a:r>
            <a:r>
              <a:rPr lang="en-US"/>
              <a:t> data </a:t>
            </a:r>
            <a:r>
              <a:rPr lang="en-US" err="1"/>
              <a:t>na</a:t>
            </a:r>
            <a:r>
              <a:rPr lang="en-US"/>
              <a:t> </a:t>
            </a:r>
            <a:r>
              <a:rPr lang="en-US" err="1"/>
              <a:t>zařízení</a:t>
            </a:r>
            <a:r>
              <a:rPr lang="en-US"/>
              <a:t>, ale </a:t>
            </a:r>
            <a:r>
              <a:rPr lang="en-US" err="1"/>
              <a:t>právě</a:t>
            </a:r>
            <a:r>
              <a:rPr lang="en-US"/>
              <a:t> </a:t>
            </a:r>
            <a:r>
              <a:rPr lang="en-US" err="1"/>
              <a:t>tyto</a:t>
            </a:r>
            <a:r>
              <a:rPr lang="en-US"/>
              <a:t> </a:t>
            </a:r>
            <a:r>
              <a:rPr lang="en-US" err="1"/>
              <a:t>veřejné</a:t>
            </a:r>
            <a:r>
              <a:rPr lang="en-US"/>
              <a:t> Wi-Fi </a:t>
            </a:r>
            <a:r>
              <a:rPr lang="en-US" err="1"/>
              <a:t>sítě</a:t>
            </a:r>
            <a:r>
              <a:rPr lang="en-US"/>
              <a:t> </a:t>
            </a:r>
            <a:r>
              <a:rPr lang="en-US" err="1"/>
              <a:t>jsou</a:t>
            </a:r>
            <a:r>
              <a:rPr lang="en-US"/>
              <a:t> </a:t>
            </a:r>
            <a:r>
              <a:rPr lang="en-US" err="1"/>
              <a:t>často</a:t>
            </a:r>
            <a:r>
              <a:rPr lang="cs-CZ"/>
              <a:t> </a:t>
            </a:r>
            <a:r>
              <a:rPr lang="en-US" err="1"/>
              <a:t>nezabezpečeny</a:t>
            </a:r>
            <a:r>
              <a:rPr lang="en-US"/>
              <a:t>, </a:t>
            </a:r>
            <a:r>
              <a:rPr lang="en-US" err="1"/>
              <a:t>takže</a:t>
            </a:r>
            <a:r>
              <a:rPr lang="en-US"/>
              <a:t> </a:t>
            </a:r>
            <a:r>
              <a:rPr lang="en-US" err="1"/>
              <a:t>jsou</a:t>
            </a:r>
            <a:r>
              <a:rPr lang="en-US"/>
              <a:t> </a:t>
            </a:r>
            <a:r>
              <a:rPr lang="en-US" err="1"/>
              <a:t>další</a:t>
            </a:r>
            <a:r>
              <a:rPr lang="en-US"/>
              <a:t> </a:t>
            </a:r>
            <a:r>
              <a:rPr lang="en-US" err="1"/>
              <a:t>hrozbou</a:t>
            </a:r>
            <a:r>
              <a:rPr lang="en-US"/>
              <a:t> pro </a:t>
            </a:r>
            <a:r>
              <a:rPr lang="en-US" err="1"/>
              <a:t>naše</a:t>
            </a:r>
            <a:r>
              <a:rPr lang="en-US"/>
              <a:t> </a:t>
            </a:r>
            <a:r>
              <a:rPr lang="en-US" err="1"/>
              <a:t>zařízení</a:t>
            </a:r>
            <a:r>
              <a:rPr lang="en-US"/>
              <a:t>.</a:t>
            </a:r>
            <a:endParaRPr lang="cs-CZ"/>
          </a:p>
          <a:p>
            <a:r>
              <a:rPr lang="en-US"/>
              <a:t>Proto je </a:t>
            </a:r>
            <a:r>
              <a:rPr lang="en-US" err="1"/>
              <a:t>vhodné</a:t>
            </a:r>
            <a:r>
              <a:rPr lang="en-US"/>
              <a:t> </a:t>
            </a:r>
            <a:r>
              <a:rPr lang="en-US" err="1"/>
              <a:t>při</a:t>
            </a:r>
            <a:r>
              <a:rPr lang="en-US"/>
              <a:t> </a:t>
            </a:r>
            <a:r>
              <a:rPr lang="en-US" err="1"/>
              <a:t>používání</a:t>
            </a:r>
            <a:r>
              <a:rPr lang="en-US"/>
              <a:t> </a:t>
            </a:r>
            <a:r>
              <a:rPr lang="en-US" err="1"/>
              <a:t>těchto</a:t>
            </a:r>
            <a:r>
              <a:rPr lang="en-US"/>
              <a:t> </a:t>
            </a:r>
            <a:r>
              <a:rPr lang="en-US" err="1"/>
              <a:t>veřejných</a:t>
            </a:r>
            <a:r>
              <a:rPr lang="en-US"/>
              <a:t> Wi-Fi </a:t>
            </a:r>
            <a:r>
              <a:rPr lang="en-US" err="1"/>
              <a:t>sítí</a:t>
            </a:r>
            <a:r>
              <a:rPr lang="en-US"/>
              <a:t> </a:t>
            </a:r>
            <a:r>
              <a:rPr lang="en-US" err="1"/>
              <a:t>nechodit</a:t>
            </a:r>
            <a:r>
              <a:rPr lang="en-US"/>
              <a:t> do </a:t>
            </a:r>
            <a:r>
              <a:rPr lang="en-US" err="1"/>
              <a:t>internetového</a:t>
            </a:r>
            <a:r>
              <a:rPr lang="cs-CZ"/>
              <a:t> </a:t>
            </a:r>
            <a:r>
              <a:rPr lang="en-US" err="1"/>
              <a:t>bankovnictví</a:t>
            </a:r>
            <a:r>
              <a:rPr lang="en-US"/>
              <a:t> </a:t>
            </a:r>
            <a:r>
              <a:rPr lang="en-US" err="1"/>
              <a:t>apod</a:t>
            </a:r>
            <a:r>
              <a:rPr lang="en-US"/>
              <a:t>. </a:t>
            </a:r>
            <a:r>
              <a:rPr lang="en-US" err="1"/>
              <a:t>kde</a:t>
            </a:r>
            <a:r>
              <a:rPr lang="en-US"/>
              <a:t> by </a:t>
            </a:r>
            <a:r>
              <a:rPr lang="en-US" err="1"/>
              <a:t>vzniklo</a:t>
            </a:r>
            <a:r>
              <a:rPr lang="en-US"/>
              <a:t> </a:t>
            </a:r>
            <a:r>
              <a:rPr lang="en-US" err="1"/>
              <a:t>riziko</a:t>
            </a:r>
            <a:r>
              <a:rPr lang="en-US"/>
              <a:t> </a:t>
            </a:r>
            <a:r>
              <a:rPr lang="en-US" err="1"/>
              <a:t>vyzrazení</a:t>
            </a:r>
            <a:r>
              <a:rPr lang="en-US"/>
              <a:t> </a:t>
            </a:r>
            <a:r>
              <a:rPr lang="en-US" err="1"/>
              <a:t>vašich</a:t>
            </a:r>
            <a:r>
              <a:rPr lang="en-US"/>
              <a:t> </a:t>
            </a:r>
            <a:r>
              <a:rPr lang="en-US" err="1"/>
              <a:t>hesel</a:t>
            </a:r>
            <a:r>
              <a:rPr lang="en-US"/>
              <a:t> a </a:t>
            </a:r>
            <a:r>
              <a:rPr lang="en-US" err="1"/>
              <a:t>údajích</a:t>
            </a:r>
            <a:r>
              <a:rPr lang="en-US"/>
              <a:t> </a:t>
            </a:r>
            <a:r>
              <a:rPr lang="en-US" err="1"/>
              <a:t>vaší</a:t>
            </a:r>
            <a:r>
              <a:rPr lang="en-US"/>
              <a:t> </a:t>
            </a:r>
            <a:r>
              <a:rPr lang="en-US" err="1"/>
              <a:t>kreditní</a:t>
            </a:r>
            <a:r>
              <a:rPr lang="en-US"/>
              <a:t> </a:t>
            </a:r>
            <a:r>
              <a:rPr lang="en-US" err="1"/>
              <a:t>karty</a:t>
            </a:r>
            <a:r>
              <a:rPr lang="en-US"/>
              <a:t>.</a:t>
            </a:r>
          </a:p>
        </p:txBody>
      </p:sp>
      <p:sp>
        <p:nvSpPr>
          <p:cNvPr id="4" name="Zástupný symbol pro datum 3">
            <a:extLst>
              <a:ext uri="{FF2B5EF4-FFF2-40B4-BE49-F238E27FC236}">
                <a16:creationId xmlns:a16="http://schemas.microsoft.com/office/drawing/2014/main" id="{C0517B66-3A91-B3D9-4ADE-820DB9047719}"/>
              </a:ext>
            </a:extLst>
          </p:cNvPr>
          <p:cNvSpPr>
            <a:spLocks noGrp="1"/>
          </p:cNvSpPr>
          <p:nvPr>
            <p:ph type="dt" sz="half" idx="10"/>
          </p:nvPr>
        </p:nvSpPr>
        <p:spPr/>
        <p:txBody>
          <a:bodyPr/>
          <a:lstStyle/>
          <a:p>
            <a:r>
              <a:rPr lang="cs-CZ"/>
              <a:t>18.8.2022</a:t>
            </a:r>
          </a:p>
        </p:txBody>
      </p:sp>
      <p:sp>
        <p:nvSpPr>
          <p:cNvPr id="5" name="Zástupný symbol pro číslo snímku 4">
            <a:extLst>
              <a:ext uri="{FF2B5EF4-FFF2-40B4-BE49-F238E27FC236}">
                <a16:creationId xmlns:a16="http://schemas.microsoft.com/office/drawing/2014/main" id="{E217FD14-B9F7-72CD-80FB-F28E7920DD2C}"/>
              </a:ext>
            </a:extLst>
          </p:cNvPr>
          <p:cNvSpPr>
            <a:spLocks noGrp="1"/>
          </p:cNvSpPr>
          <p:nvPr>
            <p:ph type="sldNum" sz="quarter" idx="12"/>
          </p:nvPr>
        </p:nvSpPr>
        <p:spPr/>
        <p:txBody>
          <a:bodyPr/>
          <a:lstStyle/>
          <a:p>
            <a:fld id="{AD9F5C5F-4392-49C5-81DD-37F176609E69}" type="slidenum">
              <a:rPr lang="cs-CZ" smtClean="0"/>
              <a:t>283</a:t>
            </a:fld>
            <a:endParaRPr lang="cs-CZ"/>
          </a:p>
        </p:txBody>
      </p:sp>
    </p:spTree>
    <p:extLst>
      <p:ext uri="{BB962C8B-B14F-4D97-AF65-F5344CB8AC3E}">
        <p14:creationId xmlns:p14="http://schemas.microsoft.com/office/powerpoint/2010/main" val="794229714"/>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612A786-1A18-0FEF-9168-D53D0FE30768}"/>
              </a:ext>
            </a:extLst>
          </p:cNvPr>
          <p:cNvSpPr>
            <a:spLocks noGrp="1"/>
          </p:cNvSpPr>
          <p:nvPr>
            <p:ph type="title"/>
          </p:nvPr>
        </p:nvSpPr>
        <p:spPr/>
        <p:txBody>
          <a:bodyPr/>
          <a:lstStyle/>
          <a:p>
            <a:r>
              <a:rPr lang="en-US" b="1"/>
              <a:t>Spoofing </a:t>
            </a:r>
            <a:r>
              <a:rPr lang="en-US" b="1" err="1"/>
              <a:t>sítí</a:t>
            </a:r>
            <a:endParaRPr lang="en-US" b="1"/>
          </a:p>
        </p:txBody>
      </p:sp>
      <p:sp>
        <p:nvSpPr>
          <p:cNvPr id="3" name="Zástupný obsah 2">
            <a:extLst>
              <a:ext uri="{FF2B5EF4-FFF2-40B4-BE49-F238E27FC236}">
                <a16:creationId xmlns:a16="http://schemas.microsoft.com/office/drawing/2014/main" id="{F5D8AE74-42B7-3DF5-8586-A7CC4348798F}"/>
              </a:ext>
            </a:extLst>
          </p:cNvPr>
          <p:cNvSpPr>
            <a:spLocks noGrp="1"/>
          </p:cNvSpPr>
          <p:nvPr>
            <p:ph idx="1"/>
          </p:nvPr>
        </p:nvSpPr>
        <p:spPr/>
        <p:txBody>
          <a:bodyPr/>
          <a:lstStyle/>
          <a:p>
            <a:r>
              <a:rPr lang="en-US" err="1"/>
              <a:t>Při</a:t>
            </a:r>
            <a:r>
              <a:rPr lang="en-US"/>
              <a:t> </a:t>
            </a:r>
            <a:r>
              <a:rPr lang="en-US" err="1"/>
              <a:t>spoofingu</a:t>
            </a:r>
            <a:r>
              <a:rPr lang="en-US"/>
              <a:t> </a:t>
            </a:r>
            <a:r>
              <a:rPr lang="en-US" err="1"/>
              <a:t>sítí</a:t>
            </a:r>
            <a:r>
              <a:rPr lang="en-US"/>
              <a:t> </a:t>
            </a:r>
            <a:r>
              <a:rPr lang="en-US" err="1"/>
              <a:t>dochází</a:t>
            </a:r>
            <a:r>
              <a:rPr lang="en-US"/>
              <a:t> v </a:t>
            </a:r>
            <a:r>
              <a:rPr lang="en-US" err="1"/>
              <a:t>podstatě</a:t>
            </a:r>
            <a:r>
              <a:rPr lang="en-US"/>
              <a:t> k </a:t>
            </a:r>
            <a:r>
              <a:rPr lang="en-US" err="1"/>
              <a:t>vytvoření</a:t>
            </a:r>
            <a:r>
              <a:rPr lang="en-US"/>
              <a:t> </a:t>
            </a:r>
            <a:r>
              <a:rPr lang="en-US" err="1"/>
              <a:t>falešných</a:t>
            </a:r>
            <a:r>
              <a:rPr lang="en-US"/>
              <a:t> </a:t>
            </a:r>
            <a:r>
              <a:rPr lang="en-US" err="1"/>
              <a:t>přístupových</a:t>
            </a:r>
            <a:r>
              <a:rPr lang="en-US"/>
              <a:t> </a:t>
            </a:r>
            <a:r>
              <a:rPr lang="en-US" err="1"/>
              <a:t>bodů</a:t>
            </a:r>
            <a:r>
              <a:rPr lang="en-US"/>
              <a:t> pro </a:t>
            </a:r>
            <a:r>
              <a:rPr lang="en-US" err="1"/>
              <a:t>připojení</a:t>
            </a:r>
            <a:r>
              <a:rPr lang="en-US"/>
              <a:t>,</a:t>
            </a:r>
            <a:r>
              <a:rPr lang="cs-CZ"/>
              <a:t> </a:t>
            </a:r>
            <a:r>
              <a:rPr lang="en-US" err="1"/>
              <a:t>která</a:t>
            </a:r>
            <a:r>
              <a:rPr lang="en-US"/>
              <a:t> </a:t>
            </a:r>
            <a:r>
              <a:rPr lang="en-US" err="1"/>
              <a:t>zároveň</a:t>
            </a:r>
            <a:r>
              <a:rPr lang="en-US"/>
              <a:t> </a:t>
            </a:r>
            <a:r>
              <a:rPr lang="en-US" err="1"/>
              <a:t>vypadají</a:t>
            </a:r>
            <a:r>
              <a:rPr lang="en-US"/>
              <a:t> </a:t>
            </a:r>
            <a:r>
              <a:rPr lang="en-US" err="1"/>
              <a:t>jako</a:t>
            </a:r>
            <a:r>
              <a:rPr lang="en-US"/>
              <a:t> </a:t>
            </a:r>
            <a:r>
              <a:rPr lang="en-US" err="1"/>
              <a:t>veřejné</a:t>
            </a:r>
            <a:r>
              <a:rPr lang="en-US"/>
              <a:t> Wi-Fi </a:t>
            </a:r>
            <a:r>
              <a:rPr lang="en-US" err="1"/>
              <a:t>sítě</a:t>
            </a:r>
            <a:r>
              <a:rPr lang="en-US"/>
              <a:t>, ale </a:t>
            </a:r>
            <a:r>
              <a:rPr lang="en-US" err="1"/>
              <a:t>ve</a:t>
            </a:r>
            <a:r>
              <a:rPr lang="en-US"/>
              <a:t> </a:t>
            </a:r>
            <a:r>
              <a:rPr lang="en-US" err="1"/>
              <a:t>skutečnosti</a:t>
            </a:r>
            <a:r>
              <a:rPr lang="en-US"/>
              <a:t> se </a:t>
            </a:r>
            <a:r>
              <a:rPr lang="en-US" err="1"/>
              <a:t>jedná</a:t>
            </a:r>
            <a:r>
              <a:rPr lang="en-US"/>
              <a:t> o past. </a:t>
            </a:r>
            <a:endParaRPr lang="cs-CZ"/>
          </a:p>
          <a:p>
            <a:r>
              <a:rPr lang="en-US"/>
              <a:t>Tyto </a:t>
            </a:r>
            <a:r>
              <a:rPr lang="en-US" err="1"/>
              <a:t>sítě</a:t>
            </a:r>
            <a:r>
              <a:rPr lang="cs-CZ"/>
              <a:t> </a:t>
            </a:r>
            <a:r>
              <a:rPr lang="en-US" err="1"/>
              <a:t>můžeme</a:t>
            </a:r>
            <a:r>
              <a:rPr lang="en-US"/>
              <a:t> </a:t>
            </a:r>
            <a:r>
              <a:rPr lang="en-US" err="1"/>
              <a:t>nalézt</a:t>
            </a:r>
            <a:r>
              <a:rPr lang="en-US"/>
              <a:t> </a:t>
            </a:r>
            <a:r>
              <a:rPr lang="en-US" err="1"/>
              <a:t>na</a:t>
            </a:r>
            <a:r>
              <a:rPr lang="en-US"/>
              <a:t> </a:t>
            </a:r>
            <a:r>
              <a:rPr lang="en-US" err="1"/>
              <a:t>veřejných</a:t>
            </a:r>
            <a:r>
              <a:rPr lang="en-US"/>
              <a:t> </a:t>
            </a:r>
            <a:r>
              <a:rPr lang="en-US" err="1"/>
              <a:t>místech</a:t>
            </a:r>
            <a:r>
              <a:rPr lang="en-US"/>
              <a:t> </a:t>
            </a:r>
            <a:r>
              <a:rPr lang="en-US" err="1"/>
              <a:t>jakými</a:t>
            </a:r>
            <a:r>
              <a:rPr lang="en-US"/>
              <a:t> </a:t>
            </a:r>
            <a:r>
              <a:rPr lang="en-US" err="1"/>
              <a:t>jsou</a:t>
            </a:r>
            <a:r>
              <a:rPr lang="en-US"/>
              <a:t> </a:t>
            </a:r>
            <a:r>
              <a:rPr lang="en-US" err="1"/>
              <a:t>např</a:t>
            </a:r>
            <a:r>
              <a:rPr lang="en-US"/>
              <a:t>. </a:t>
            </a:r>
            <a:r>
              <a:rPr lang="en-US" err="1"/>
              <a:t>kavárny</a:t>
            </a:r>
            <a:r>
              <a:rPr lang="en-US"/>
              <a:t>, </a:t>
            </a:r>
            <a:r>
              <a:rPr lang="en-US" err="1"/>
              <a:t>letiště</a:t>
            </a:r>
            <a:r>
              <a:rPr lang="en-US"/>
              <a:t> </a:t>
            </a:r>
            <a:r>
              <a:rPr lang="en-US" err="1"/>
              <a:t>apod</a:t>
            </a:r>
            <a:r>
              <a:rPr lang="en-US"/>
              <a:t>. V </a:t>
            </a:r>
            <a:r>
              <a:rPr lang="en-US" err="1"/>
              <a:t>některých</a:t>
            </a:r>
            <a:r>
              <a:rPr lang="cs-CZ"/>
              <a:t> </a:t>
            </a:r>
            <a:r>
              <a:rPr lang="en-US" err="1"/>
              <a:t>případech</a:t>
            </a:r>
            <a:r>
              <a:rPr lang="en-US"/>
              <a:t> </a:t>
            </a:r>
            <a:r>
              <a:rPr lang="en-US" err="1"/>
              <a:t>útočníci</a:t>
            </a:r>
            <a:r>
              <a:rPr lang="en-US"/>
              <a:t> </a:t>
            </a:r>
            <a:r>
              <a:rPr lang="en-US" err="1"/>
              <a:t>vyžadují</a:t>
            </a:r>
            <a:r>
              <a:rPr lang="en-US"/>
              <a:t> po </a:t>
            </a:r>
            <a:r>
              <a:rPr lang="en-US" err="1"/>
              <a:t>uživateli</a:t>
            </a:r>
            <a:r>
              <a:rPr lang="en-US"/>
              <a:t> </a:t>
            </a:r>
            <a:r>
              <a:rPr lang="en-US" err="1"/>
              <a:t>vytvoření</a:t>
            </a:r>
            <a:r>
              <a:rPr lang="en-US"/>
              <a:t> </a:t>
            </a:r>
            <a:r>
              <a:rPr lang="en-US" err="1"/>
              <a:t>jakéhosi</a:t>
            </a:r>
            <a:r>
              <a:rPr lang="en-US"/>
              <a:t> „</a:t>
            </a:r>
            <a:r>
              <a:rPr lang="en-US" err="1"/>
              <a:t>účtu</a:t>
            </a:r>
            <a:r>
              <a:rPr lang="en-US"/>
              <a:t>“ </a:t>
            </a:r>
            <a:r>
              <a:rPr lang="en-US" err="1"/>
              <a:t>doplněného</a:t>
            </a:r>
            <a:r>
              <a:rPr lang="en-US"/>
              <a:t> </a:t>
            </a:r>
            <a:r>
              <a:rPr lang="en-US" err="1"/>
              <a:t>heslem</a:t>
            </a:r>
            <a:r>
              <a:rPr lang="en-US"/>
              <a:t>.</a:t>
            </a:r>
          </a:p>
        </p:txBody>
      </p:sp>
      <p:sp>
        <p:nvSpPr>
          <p:cNvPr id="4" name="Zástupný symbol pro datum 3">
            <a:extLst>
              <a:ext uri="{FF2B5EF4-FFF2-40B4-BE49-F238E27FC236}">
                <a16:creationId xmlns:a16="http://schemas.microsoft.com/office/drawing/2014/main" id="{540C84F9-422C-9469-2270-20E461598258}"/>
              </a:ext>
            </a:extLst>
          </p:cNvPr>
          <p:cNvSpPr>
            <a:spLocks noGrp="1"/>
          </p:cNvSpPr>
          <p:nvPr>
            <p:ph type="dt" sz="half" idx="10"/>
          </p:nvPr>
        </p:nvSpPr>
        <p:spPr/>
        <p:txBody>
          <a:bodyPr/>
          <a:lstStyle/>
          <a:p>
            <a:r>
              <a:rPr lang="cs-CZ"/>
              <a:t>18.8.2022</a:t>
            </a:r>
          </a:p>
        </p:txBody>
      </p:sp>
      <p:sp>
        <p:nvSpPr>
          <p:cNvPr id="5" name="Zástupný symbol pro číslo snímku 4">
            <a:extLst>
              <a:ext uri="{FF2B5EF4-FFF2-40B4-BE49-F238E27FC236}">
                <a16:creationId xmlns:a16="http://schemas.microsoft.com/office/drawing/2014/main" id="{B882F999-3637-4F30-1704-001698D04879}"/>
              </a:ext>
            </a:extLst>
          </p:cNvPr>
          <p:cNvSpPr>
            <a:spLocks noGrp="1"/>
          </p:cNvSpPr>
          <p:nvPr>
            <p:ph type="sldNum" sz="quarter" idx="12"/>
          </p:nvPr>
        </p:nvSpPr>
        <p:spPr/>
        <p:txBody>
          <a:bodyPr/>
          <a:lstStyle/>
          <a:p>
            <a:fld id="{AD9F5C5F-4392-49C5-81DD-37F176609E69}" type="slidenum">
              <a:rPr lang="cs-CZ" smtClean="0"/>
              <a:t>284</a:t>
            </a:fld>
            <a:endParaRPr lang="cs-CZ"/>
          </a:p>
        </p:txBody>
      </p:sp>
    </p:spTree>
    <p:extLst>
      <p:ext uri="{BB962C8B-B14F-4D97-AF65-F5344CB8AC3E}">
        <p14:creationId xmlns:p14="http://schemas.microsoft.com/office/powerpoint/2010/main" val="2104819923"/>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AC59DC9-0037-35AE-FB20-725F10AABA18}"/>
              </a:ext>
            </a:extLst>
          </p:cNvPr>
          <p:cNvSpPr>
            <a:spLocks noGrp="1"/>
          </p:cNvSpPr>
          <p:nvPr>
            <p:ph type="title"/>
          </p:nvPr>
        </p:nvSpPr>
        <p:spPr/>
        <p:txBody>
          <a:bodyPr/>
          <a:lstStyle/>
          <a:p>
            <a:r>
              <a:rPr lang="en-US" b="1" err="1"/>
              <a:t>Phishingové</a:t>
            </a:r>
            <a:r>
              <a:rPr lang="en-US" b="1"/>
              <a:t> </a:t>
            </a:r>
            <a:r>
              <a:rPr lang="en-US" b="1" err="1"/>
              <a:t>útoky</a:t>
            </a:r>
            <a:endParaRPr lang="en-US" b="1"/>
          </a:p>
        </p:txBody>
      </p:sp>
      <p:sp>
        <p:nvSpPr>
          <p:cNvPr id="3" name="Zástupný obsah 2">
            <a:extLst>
              <a:ext uri="{FF2B5EF4-FFF2-40B4-BE49-F238E27FC236}">
                <a16:creationId xmlns:a16="http://schemas.microsoft.com/office/drawing/2014/main" id="{2C6E3DA9-0FE2-4F78-0427-576E4ED75F19}"/>
              </a:ext>
            </a:extLst>
          </p:cNvPr>
          <p:cNvSpPr>
            <a:spLocks noGrp="1"/>
          </p:cNvSpPr>
          <p:nvPr>
            <p:ph idx="1"/>
          </p:nvPr>
        </p:nvSpPr>
        <p:spPr/>
        <p:txBody>
          <a:bodyPr/>
          <a:lstStyle/>
          <a:p>
            <a:r>
              <a:rPr lang="en-US"/>
              <a:t>Tyto </a:t>
            </a:r>
            <a:r>
              <a:rPr lang="en-US" err="1"/>
              <a:t>útoky</a:t>
            </a:r>
            <a:r>
              <a:rPr lang="en-US"/>
              <a:t> </a:t>
            </a:r>
            <a:r>
              <a:rPr lang="en-US" err="1"/>
              <a:t>jsou</a:t>
            </a:r>
            <a:r>
              <a:rPr lang="en-US"/>
              <a:t> </a:t>
            </a:r>
            <a:r>
              <a:rPr lang="en-US" err="1"/>
              <a:t>známé</a:t>
            </a:r>
            <a:r>
              <a:rPr lang="en-US"/>
              <a:t> </a:t>
            </a:r>
            <a:r>
              <a:rPr lang="en-US" err="1"/>
              <a:t>tím</a:t>
            </a:r>
            <a:r>
              <a:rPr lang="en-US"/>
              <a:t>, </a:t>
            </a:r>
            <a:r>
              <a:rPr lang="en-US" err="1"/>
              <a:t>že</a:t>
            </a:r>
            <a:r>
              <a:rPr lang="en-US"/>
              <a:t> </a:t>
            </a:r>
            <a:r>
              <a:rPr lang="en-US" err="1"/>
              <a:t>vám</a:t>
            </a:r>
            <a:r>
              <a:rPr lang="en-US"/>
              <a:t> </a:t>
            </a:r>
            <a:r>
              <a:rPr lang="en-US" err="1"/>
              <a:t>na</a:t>
            </a:r>
            <a:r>
              <a:rPr lang="en-US"/>
              <a:t> e-mail </a:t>
            </a:r>
            <a:r>
              <a:rPr lang="en-US" err="1"/>
              <a:t>dojde</a:t>
            </a:r>
            <a:r>
              <a:rPr lang="en-US"/>
              <a:t> </a:t>
            </a:r>
            <a:r>
              <a:rPr lang="en-US" err="1"/>
              <a:t>na</a:t>
            </a:r>
            <a:r>
              <a:rPr lang="en-US"/>
              <a:t> </a:t>
            </a:r>
            <a:r>
              <a:rPr lang="en-US" err="1"/>
              <a:t>první</a:t>
            </a:r>
            <a:r>
              <a:rPr lang="en-US"/>
              <a:t> </a:t>
            </a:r>
            <a:r>
              <a:rPr lang="en-US" err="1"/>
              <a:t>pohled</a:t>
            </a:r>
            <a:r>
              <a:rPr lang="en-US"/>
              <a:t> </a:t>
            </a:r>
            <a:r>
              <a:rPr lang="en-US" err="1"/>
              <a:t>důvěrný</a:t>
            </a:r>
            <a:r>
              <a:rPr lang="en-US"/>
              <a:t> e-mail </a:t>
            </a:r>
            <a:r>
              <a:rPr lang="en-US" err="1"/>
              <a:t>ovšem</a:t>
            </a:r>
            <a:r>
              <a:rPr lang="cs-CZ"/>
              <a:t> </a:t>
            </a:r>
            <a:r>
              <a:rPr lang="en-US" err="1"/>
              <a:t>zdání</a:t>
            </a:r>
            <a:r>
              <a:rPr lang="en-US"/>
              <a:t> </a:t>
            </a:r>
            <a:r>
              <a:rPr lang="en-US" err="1"/>
              <a:t>může</a:t>
            </a:r>
            <a:r>
              <a:rPr lang="en-US"/>
              <a:t> </a:t>
            </a:r>
            <a:r>
              <a:rPr lang="en-US" err="1"/>
              <a:t>klamat</a:t>
            </a:r>
            <a:r>
              <a:rPr lang="en-US"/>
              <a:t> a </a:t>
            </a:r>
            <a:r>
              <a:rPr lang="en-US" err="1"/>
              <a:t>tento</a:t>
            </a:r>
            <a:r>
              <a:rPr lang="en-US"/>
              <a:t> e-mail </a:t>
            </a:r>
            <a:r>
              <a:rPr lang="en-US" err="1"/>
              <a:t>může</a:t>
            </a:r>
            <a:r>
              <a:rPr lang="en-US"/>
              <a:t> </a:t>
            </a:r>
            <a:r>
              <a:rPr lang="en-US" err="1"/>
              <a:t>být</a:t>
            </a:r>
            <a:r>
              <a:rPr lang="en-US"/>
              <a:t> </a:t>
            </a:r>
            <a:r>
              <a:rPr lang="en-US" err="1"/>
              <a:t>použit</a:t>
            </a:r>
            <a:r>
              <a:rPr lang="en-US"/>
              <a:t> </a:t>
            </a:r>
            <a:r>
              <a:rPr lang="en-US" err="1"/>
              <a:t>jako</a:t>
            </a:r>
            <a:r>
              <a:rPr lang="en-US"/>
              <a:t> </a:t>
            </a:r>
            <a:r>
              <a:rPr lang="en-US" err="1"/>
              <a:t>návnada</a:t>
            </a:r>
            <a:r>
              <a:rPr lang="en-US"/>
              <a:t> pro </a:t>
            </a:r>
            <a:r>
              <a:rPr lang="en-US" err="1"/>
              <a:t>napadení</a:t>
            </a:r>
            <a:r>
              <a:rPr lang="en-US"/>
              <a:t> </a:t>
            </a:r>
            <a:r>
              <a:rPr lang="en-US" err="1"/>
              <a:t>vašeho</a:t>
            </a:r>
            <a:r>
              <a:rPr lang="cs-CZ"/>
              <a:t> </a:t>
            </a:r>
            <a:r>
              <a:rPr lang="en-US" err="1"/>
              <a:t>zařízení</a:t>
            </a:r>
            <a:r>
              <a:rPr lang="en-US"/>
              <a:t>, </a:t>
            </a:r>
            <a:r>
              <a:rPr lang="en-US" err="1"/>
              <a:t>při</a:t>
            </a:r>
            <a:r>
              <a:rPr lang="en-US"/>
              <a:t> </a:t>
            </a:r>
            <a:r>
              <a:rPr lang="en-US" err="1"/>
              <a:t>kliknutí</a:t>
            </a:r>
            <a:r>
              <a:rPr lang="en-US"/>
              <a:t> </a:t>
            </a:r>
            <a:r>
              <a:rPr lang="en-US" err="1"/>
              <a:t>např</a:t>
            </a:r>
            <a:r>
              <a:rPr lang="en-US"/>
              <a:t>. </a:t>
            </a:r>
            <a:r>
              <a:rPr lang="en-US" err="1"/>
              <a:t>na</a:t>
            </a:r>
            <a:r>
              <a:rPr lang="en-US"/>
              <a:t> </a:t>
            </a:r>
            <a:r>
              <a:rPr lang="en-US" err="1"/>
              <a:t>odkaz</a:t>
            </a:r>
            <a:r>
              <a:rPr lang="en-US"/>
              <a:t> v </a:t>
            </a:r>
            <a:r>
              <a:rPr lang="en-US" err="1"/>
              <a:t>tomto</a:t>
            </a:r>
            <a:r>
              <a:rPr lang="en-US"/>
              <a:t> e-</a:t>
            </a:r>
            <a:r>
              <a:rPr lang="en-US" err="1"/>
              <a:t>mailu</a:t>
            </a:r>
            <a:r>
              <a:rPr lang="en-US"/>
              <a:t>.</a:t>
            </a:r>
            <a:endParaRPr lang="cs-CZ"/>
          </a:p>
          <a:p>
            <a:r>
              <a:rPr lang="en-US" err="1"/>
              <a:t>Jako</a:t>
            </a:r>
            <a:r>
              <a:rPr lang="en-US"/>
              <a:t> </a:t>
            </a:r>
            <a:r>
              <a:rPr lang="en-US" err="1"/>
              <a:t>ochrana</a:t>
            </a:r>
            <a:r>
              <a:rPr lang="en-US"/>
              <a:t> </a:t>
            </a:r>
            <a:r>
              <a:rPr lang="en-US" err="1"/>
              <a:t>proti</a:t>
            </a:r>
            <a:r>
              <a:rPr lang="en-US"/>
              <a:t> </a:t>
            </a:r>
            <a:r>
              <a:rPr lang="en-US" err="1"/>
              <a:t>phishingovému</a:t>
            </a:r>
            <a:r>
              <a:rPr lang="en-US"/>
              <a:t> </a:t>
            </a:r>
            <a:r>
              <a:rPr lang="en-US" err="1"/>
              <a:t>útoku</a:t>
            </a:r>
            <a:r>
              <a:rPr lang="en-US"/>
              <a:t> se </a:t>
            </a:r>
            <a:r>
              <a:rPr lang="en-US" err="1"/>
              <a:t>jeví</a:t>
            </a:r>
            <a:r>
              <a:rPr lang="en-US"/>
              <a:t> </a:t>
            </a:r>
            <a:r>
              <a:rPr lang="en-US" err="1"/>
              <a:t>jednoduché</a:t>
            </a:r>
            <a:r>
              <a:rPr lang="en-US"/>
              <a:t> </a:t>
            </a:r>
            <a:r>
              <a:rPr lang="en-US" err="1"/>
              <a:t>ověření</a:t>
            </a:r>
            <a:r>
              <a:rPr lang="en-US"/>
              <a:t> e-</a:t>
            </a:r>
            <a:r>
              <a:rPr lang="en-US" err="1"/>
              <a:t>mailové</a:t>
            </a:r>
            <a:r>
              <a:rPr lang="en-US"/>
              <a:t> </a:t>
            </a:r>
            <a:r>
              <a:rPr lang="en-US" err="1"/>
              <a:t>adresy</a:t>
            </a:r>
            <a:r>
              <a:rPr lang="cs-CZ"/>
              <a:t> </a:t>
            </a:r>
            <a:r>
              <a:rPr lang="en-US" err="1"/>
              <a:t>odesílatele</a:t>
            </a:r>
            <a:r>
              <a:rPr lang="en-US"/>
              <a:t> </a:t>
            </a:r>
            <a:r>
              <a:rPr lang="en-US" err="1"/>
              <a:t>např</a:t>
            </a:r>
            <a:r>
              <a:rPr lang="en-US"/>
              <a:t>. </a:t>
            </a:r>
            <a:r>
              <a:rPr lang="en-US" err="1"/>
              <a:t>na</a:t>
            </a:r>
            <a:r>
              <a:rPr lang="en-US"/>
              <a:t> </a:t>
            </a:r>
            <a:r>
              <a:rPr lang="en-US" err="1"/>
              <a:t>webu</a:t>
            </a:r>
            <a:r>
              <a:rPr lang="en-US"/>
              <a:t>. </a:t>
            </a:r>
          </a:p>
        </p:txBody>
      </p:sp>
      <p:sp>
        <p:nvSpPr>
          <p:cNvPr id="4" name="Zástupný symbol pro datum 3">
            <a:extLst>
              <a:ext uri="{FF2B5EF4-FFF2-40B4-BE49-F238E27FC236}">
                <a16:creationId xmlns:a16="http://schemas.microsoft.com/office/drawing/2014/main" id="{263ECF20-1D55-BBB6-B3CA-B8851F11231A}"/>
              </a:ext>
            </a:extLst>
          </p:cNvPr>
          <p:cNvSpPr>
            <a:spLocks noGrp="1"/>
          </p:cNvSpPr>
          <p:nvPr>
            <p:ph type="dt" sz="half" idx="10"/>
          </p:nvPr>
        </p:nvSpPr>
        <p:spPr/>
        <p:txBody>
          <a:bodyPr/>
          <a:lstStyle/>
          <a:p>
            <a:r>
              <a:rPr lang="cs-CZ"/>
              <a:t>18.8.2022</a:t>
            </a:r>
          </a:p>
        </p:txBody>
      </p:sp>
      <p:sp>
        <p:nvSpPr>
          <p:cNvPr id="5" name="Zástupný symbol pro číslo snímku 4">
            <a:extLst>
              <a:ext uri="{FF2B5EF4-FFF2-40B4-BE49-F238E27FC236}">
                <a16:creationId xmlns:a16="http://schemas.microsoft.com/office/drawing/2014/main" id="{2688D9DA-64E0-B5A5-C4F0-7BAF43519C81}"/>
              </a:ext>
            </a:extLst>
          </p:cNvPr>
          <p:cNvSpPr>
            <a:spLocks noGrp="1"/>
          </p:cNvSpPr>
          <p:nvPr>
            <p:ph type="sldNum" sz="quarter" idx="12"/>
          </p:nvPr>
        </p:nvSpPr>
        <p:spPr/>
        <p:txBody>
          <a:bodyPr/>
          <a:lstStyle/>
          <a:p>
            <a:fld id="{AD9F5C5F-4392-49C5-81DD-37F176609E69}" type="slidenum">
              <a:rPr lang="cs-CZ" smtClean="0"/>
              <a:t>285</a:t>
            </a:fld>
            <a:endParaRPr lang="cs-CZ"/>
          </a:p>
        </p:txBody>
      </p:sp>
    </p:spTree>
    <p:extLst>
      <p:ext uri="{BB962C8B-B14F-4D97-AF65-F5344CB8AC3E}">
        <p14:creationId xmlns:p14="http://schemas.microsoft.com/office/powerpoint/2010/main" val="2795354402"/>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012500D-2797-9D2D-7458-88B49640C48E}"/>
              </a:ext>
            </a:extLst>
          </p:cNvPr>
          <p:cNvSpPr>
            <a:spLocks noGrp="1"/>
          </p:cNvSpPr>
          <p:nvPr>
            <p:ph type="title"/>
          </p:nvPr>
        </p:nvSpPr>
        <p:spPr/>
        <p:txBody>
          <a:bodyPr/>
          <a:lstStyle/>
          <a:p>
            <a:r>
              <a:rPr lang="en-US" b="1"/>
              <a:t>Spyware</a:t>
            </a:r>
          </a:p>
        </p:txBody>
      </p:sp>
      <p:sp>
        <p:nvSpPr>
          <p:cNvPr id="3" name="Zástupný obsah 2">
            <a:extLst>
              <a:ext uri="{FF2B5EF4-FFF2-40B4-BE49-F238E27FC236}">
                <a16:creationId xmlns:a16="http://schemas.microsoft.com/office/drawing/2014/main" id="{FD50747C-7FBE-5A17-E498-9E0486F3BA39}"/>
              </a:ext>
            </a:extLst>
          </p:cNvPr>
          <p:cNvSpPr>
            <a:spLocks noGrp="1"/>
          </p:cNvSpPr>
          <p:nvPr>
            <p:ph idx="1"/>
          </p:nvPr>
        </p:nvSpPr>
        <p:spPr/>
        <p:txBody>
          <a:bodyPr/>
          <a:lstStyle/>
          <a:p>
            <a:r>
              <a:rPr lang="en-US" err="1"/>
              <a:t>Jedná</a:t>
            </a:r>
            <a:r>
              <a:rPr lang="en-US"/>
              <a:t> se o software </a:t>
            </a:r>
            <a:r>
              <a:rPr lang="en-US" err="1"/>
              <a:t>navržený</a:t>
            </a:r>
            <a:r>
              <a:rPr lang="en-US"/>
              <a:t> pro </a:t>
            </a:r>
            <a:r>
              <a:rPr lang="en-US" err="1"/>
              <a:t>shromažďování</a:t>
            </a:r>
            <a:r>
              <a:rPr lang="en-US"/>
              <a:t> </a:t>
            </a:r>
            <a:r>
              <a:rPr lang="en-US" err="1"/>
              <a:t>dat</a:t>
            </a:r>
            <a:r>
              <a:rPr lang="en-US"/>
              <a:t> z </a:t>
            </a:r>
            <a:r>
              <a:rPr lang="en-US" err="1"/>
              <a:t>vašeho</a:t>
            </a:r>
            <a:r>
              <a:rPr lang="en-US"/>
              <a:t> </a:t>
            </a:r>
            <a:r>
              <a:rPr lang="en-US" err="1"/>
              <a:t>zařízení</a:t>
            </a:r>
            <a:r>
              <a:rPr lang="en-US"/>
              <a:t> a </a:t>
            </a:r>
            <a:r>
              <a:rPr lang="en-US" err="1"/>
              <a:t>zasílání</a:t>
            </a:r>
            <a:r>
              <a:rPr lang="en-US"/>
              <a:t> ho </a:t>
            </a:r>
            <a:r>
              <a:rPr lang="en-US" err="1"/>
              <a:t>třetí</a:t>
            </a:r>
            <a:r>
              <a:rPr lang="cs-CZ"/>
              <a:t> </a:t>
            </a:r>
            <a:r>
              <a:rPr lang="en-US" err="1"/>
              <a:t>straně</a:t>
            </a:r>
            <a:r>
              <a:rPr lang="en-US"/>
              <a:t> bez </a:t>
            </a:r>
            <a:r>
              <a:rPr lang="en-US" err="1"/>
              <a:t>vašeho</a:t>
            </a:r>
            <a:r>
              <a:rPr lang="en-US"/>
              <a:t> </a:t>
            </a:r>
            <a:r>
              <a:rPr lang="en-US" err="1"/>
              <a:t>souhlasu</a:t>
            </a:r>
            <a:r>
              <a:rPr lang="en-US"/>
              <a:t> </a:t>
            </a:r>
            <a:r>
              <a:rPr lang="en-US" err="1"/>
              <a:t>nebo</a:t>
            </a:r>
            <a:r>
              <a:rPr lang="en-US"/>
              <a:t> </a:t>
            </a:r>
            <a:r>
              <a:rPr lang="en-US" err="1"/>
              <a:t>znalosti</a:t>
            </a:r>
            <a:r>
              <a:rPr lang="en-US"/>
              <a:t> </a:t>
            </a:r>
            <a:r>
              <a:rPr lang="en-US" err="1"/>
              <a:t>uživatele</a:t>
            </a:r>
            <a:r>
              <a:rPr lang="en-US"/>
              <a:t>. </a:t>
            </a:r>
            <a:r>
              <a:rPr lang="en-US" err="1"/>
              <a:t>Dochází</a:t>
            </a:r>
            <a:r>
              <a:rPr lang="en-US"/>
              <a:t> k </a:t>
            </a:r>
            <a:r>
              <a:rPr lang="en-US" err="1"/>
              <a:t>shromažďování</a:t>
            </a:r>
            <a:r>
              <a:rPr lang="en-US"/>
              <a:t> </a:t>
            </a:r>
            <a:r>
              <a:rPr lang="en-US" err="1"/>
              <a:t>dat</a:t>
            </a:r>
            <a:r>
              <a:rPr lang="en-US"/>
              <a:t>, </a:t>
            </a:r>
            <a:r>
              <a:rPr lang="en-US" err="1"/>
              <a:t>jakými</a:t>
            </a:r>
            <a:r>
              <a:rPr lang="cs-CZ"/>
              <a:t> </a:t>
            </a:r>
            <a:r>
              <a:rPr lang="en-US" err="1"/>
              <a:t>jsou</a:t>
            </a:r>
            <a:r>
              <a:rPr lang="en-US"/>
              <a:t> </a:t>
            </a:r>
            <a:r>
              <a:rPr lang="en-US" err="1"/>
              <a:t>např</a:t>
            </a:r>
            <a:r>
              <a:rPr lang="en-US"/>
              <a:t>. </a:t>
            </a:r>
            <a:r>
              <a:rPr lang="en-US" err="1"/>
              <a:t>hesla</a:t>
            </a:r>
            <a:r>
              <a:rPr lang="en-US"/>
              <a:t>, </a:t>
            </a:r>
            <a:r>
              <a:rPr lang="en-US" err="1"/>
              <a:t>PINy</a:t>
            </a:r>
            <a:r>
              <a:rPr lang="en-US"/>
              <a:t>, </a:t>
            </a:r>
            <a:r>
              <a:rPr lang="en-US" err="1"/>
              <a:t>čísla</a:t>
            </a:r>
            <a:r>
              <a:rPr lang="en-US"/>
              <a:t> </a:t>
            </a:r>
            <a:r>
              <a:rPr lang="en-US" err="1"/>
              <a:t>kreditních</a:t>
            </a:r>
            <a:r>
              <a:rPr lang="en-US"/>
              <a:t> </a:t>
            </a:r>
            <a:r>
              <a:rPr lang="en-US" err="1"/>
              <a:t>karet</a:t>
            </a:r>
            <a:r>
              <a:rPr lang="en-US"/>
              <a:t> </a:t>
            </a:r>
            <a:r>
              <a:rPr lang="en-US" err="1"/>
              <a:t>apod</a:t>
            </a:r>
            <a:r>
              <a:rPr lang="en-US"/>
              <a:t>.</a:t>
            </a:r>
          </a:p>
        </p:txBody>
      </p:sp>
      <p:sp>
        <p:nvSpPr>
          <p:cNvPr id="4" name="Zástupný symbol pro datum 3">
            <a:extLst>
              <a:ext uri="{FF2B5EF4-FFF2-40B4-BE49-F238E27FC236}">
                <a16:creationId xmlns:a16="http://schemas.microsoft.com/office/drawing/2014/main" id="{5D4CB21E-C2C3-0CF7-346E-80F87247D0D2}"/>
              </a:ext>
            </a:extLst>
          </p:cNvPr>
          <p:cNvSpPr>
            <a:spLocks noGrp="1"/>
          </p:cNvSpPr>
          <p:nvPr>
            <p:ph type="dt" sz="half" idx="10"/>
          </p:nvPr>
        </p:nvSpPr>
        <p:spPr/>
        <p:txBody>
          <a:bodyPr/>
          <a:lstStyle/>
          <a:p>
            <a:r>
              <a:rPr lang="cs-CZ"/>
              <a:t>18.8.2022</a:t>
            </a:r>
          </a:p>
        </p:txBody>
      </p:sp>
      <p:sp>
        <p:nvSpPr>
          <p:cNvPr id="5" name="Zástupný symbol pro číslo snímku 4">
            <a:extLst>
              <a:ext uri="{FF2B5EF4-FFF2-40B4-BE49-F238E27FC236}">
                <a16:creationId xmlns:a16="http://schemas.microsoft.com/office/drawing/2014/main" id="{87B36773-14D1-6EF2-319A-C22337BF055A}"/>
              </a:ext>
            </a:extLst>
          </p:cNvPr>
          <p:cNvSpPr>
            <a:spLocks noGrp="1"/>
          </p:cNvSpPr>
          <p:nvPr>
            <p:ph type="sldNum" sz="quarter" idx="12"/>
          </p:nvPr>
        </p:nvSpPr>
        <p:spPr/>
        <p:txBody>
          <a:bodyPr/>
          <a:lstStyle/>
          <a:p>
            <a:fld id="{AD9F5C5F-4392-49C5-81DD-37F176609E69}" type="slidenum">
              <a:rPr lang="cs-CZ" smtClean="0"/>
              <a:t>286</a:t>
            </a:fld>
            <a:endParaRPr lang="cs-CZ"/>
          </a:p>
        </p:txBody>
      </p:sp>
    </p:spTree>
    <p:extLst>
      <p:ext uri="{BB962C8B-B14F-4D97-AF65-F5344CB8AC3E}">
        <p14:creationId xmlns:p14="http://schemas.microsoft.com/office/powerpoint/2010/main" val="1541268799"/>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9401E33-B8D9-51E0-63D7-ABCF371AD060}"/>
              </a:ext>
            </a:extLst>
          </p:cNvPr>
          <p:cNvSpPr>
            <a:spLocks noGrp="1"/>
          </p:cNvSpPr>
          <p:nvPr>
            <p:ph type="title"/>
          </p:nvPr>
        </p:nvSpPr>
        <p:spPr>
          <a:xfrm>
            <a:off x="838200" y="365125"/>
            <a:ext cx="10515600" cy="1325563"/>
          </a:xfrm>
        </p:spPr>
        <p:txBody>
          <a:bodyPr anchor="ctr">
            <a:normAutofit/>
          </a:bodyPr>
          <a:lstStyle/>
          <a:p>
            <a:r>
              <a:rPr lang="en-US" b="1" err="1"/>
              <a:t>Struktura</a:t>
            </a:r>
            <a:r>
              <a:rPr lang="en-US" b="1"/>
              <a:t> </a:t>
            </a:r>
            <a:r>
              <a:rPr lang="en-US" b="1" err="1"/>
              <a:t>Androidu</a:t>
            </a:r>
            <a:endParaRPr lang="en-US" b="1"/>
          </a:p>
        </p:txBody>
      </p:sp>
      <p:pic>
        <p:nvPicPr>
          <p:cNvPr id="7" name="Obrázek 6">
            <a:extLst>
              <a:ext uri="{FF2B5EF4-FFF2-40B4-BE49-F238E27FC236}">
                <a16:creationId xmlns:a16="http://schemas.microsoft.com/office/drawing/2014/main" id="{E643A34B-0979-C401-5EB9-5314275E6C53}"/>
              </a:ext>
            </a:extLst>
          </p:cNvPr>
          <p:cNvPicPr>
            <a:picLocks noChangeAspect="1"/>
          </p:cNvPicPr>
          <p:nvPr/>
        </p:nvPicPr>
        <p:blipFill>
          <a:blip r:embed="rId2"/>
          <a:stretch>
            <a:fillRect/>
          </a:stretch>
        </p:blipFill>
        <p:spPr>
          <a:xfrm>
            <a:off x="3063709" y="1825625"/>
            <a:ext cx="6064582" cy="4351338"/>
          </a:xfrm>
          <a:prstGeom prst="rect">
            <a:avLst/>
          </a:prstGeom>
          <a:noFill/>
        </p:spPr>
      </p:pic>
      <p:sp>
        <p:nvSpPr>
          <p:cNvPr id="4" name="Zástupný symbol pro datum 3">
            <a:extLst>
              <a:ext uri="{FF2B5EF4-FFF2-40B4-BE49-F238E27FC236}">
                <a16:creationId xmlns:a16="http://schemas.microsoft.com/office/drawing/2014/main" id="{16944F6C-D5AB-63A8-8B16-E5ABE35630D5}"/>
              </a:ext>
            </a:extLst>
          </p:cNvPr>
          <p:cNvSpPr>
            <a:spLocks noGrp="1"/>
          </p:cNvSpPr>
          <p:nvPr>
            <p:ph type="dt" sz="half" idx="10"/>
          </p:nvPr>
        </p:nvSpPr>
        <p:spPr>
          <a:xfrm>
            <a:off x="838200" y="6356350"/>
            <a:ext cx="2743200" cy="365125"/>
          </a:xfrm>
        </p:spPr>
        <p:txBody>
          <a:bodyPr anchor="ctr">
            <a:normAutofit/>
          </a:bodyPr>
          <a:lstStyle/>
          <a:p>
            <a:pPr>
              <a:spcAft>
                <a:spcPts val="600"/>
              </a:spcAft>
            </a:pPr>
            <a:r>
              <a:rPr lang="cs-CZ"/>
              <a:t>18.8.2022</a:t>
            </a:r>
          </a:p>
        </p:txBody>
      </p:sp>
      <p:sp>
        <p:nvSpPr>
          <p:cNvPr id="5" name="Zástupný symbol pro číslo snímku 4">
            <a:extLst>
              <a:ext uri="{FF2B5EF4-FFF2-40B4-BE49-F238E27FC236}">
                <a16:creationId xmlns:a16="http://schemas.microsoft.com/office/drawing/2014/main" id="{9A2CAA5A-5732-FFFD-0979-5DD3BDA18BDC}"/>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AD9F5C5F-4392-49C5-81DD-37F176609E69}" type="slidenum">
              <a:rPr lang="cs-CZ" smtClean="0"/>
              <a:pPr>
                <a:spcAft>
                  <a:spcPts val="600"/>
                </a:spcAft>
              </a:pPr>
              <a:t>287</a:t>
            </a:fld>
            <a:endParaRPr lang="cs-CZ"/>
          </a:p>
        </p:txBody>
      </p:sp>
    </p:spTree>
    <p:extLst>
      <p:ext uri="{BB962C8B-B14F-4D97-AF65-F5344CB8AC3E}">
        <p14:creationId xmlns:p14="http://schemas.microsoft.com/office/powerpoint/2010/main" val="1206231390"/>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5BB8C32-53DE-CB98-4CF0-435D85566F68}"/>
              </a:ext>
            </a:extLst>
          </p:cNvPr>
          <p:cNvSpPr>
            <a:spLocks noGrp="1"/>
          </p:cNvSpPr>
          <p:nvPr>
            <p:ph type="title"/>
          </p:nvPr>
        </p:nvSpPr>
        <p:spPr>
          <a:xfrm>
            <a:off x="838200" y="365125"/>
            <a:ext cx="10515600" cy="1325563"/>
          </a:xfrm>
        </p:spPr>
        <p:txBody>
          <a:bodyPr anchor="ctr">
            <a:normAutofit/>
          </a:bodyPr>
          <a:lstStyle/>
          <a:p>
            <a:r>
              <a:rPr lang="en-US" b="1" err="1"/>
              <a:t>Struktura</a:t>
            </a:r>
            <a:r>
              <a:rPr lang="en-US" b="1"/>
              <a:t> iOS</a:t>
            </a:r>
          </a:p>
        </p:txBody>
      </p:sp>
      <p:pic>
        <p:nvPicPr>
          <p:cNvPr id="7" name="Obrázek 6">
            <a:extLst>
              <a:ext uri="{FF2B5EF4-FFF2-40B4-BE49-F238E27FC236}">
                <a16:creationId xmlns:a16="http://schemas.microsoft.com/office/drawing/2014/main" id="{4E7FABC4-0CE5-12B3-7588-97053ED30F1A}"/>
              </a:ext>
            </a:extLst>
          </p:cNvPr>
          <p:cNvPicPr>
            <a:picLocks noChangeAspect="1"/>
          </p:cNvPicPr>
          <p:nvPr/>
        </p:nvPicPr>
        <p:blipFill>
          <a:blip r:embed="rId2"/>
          <a:stretch>
            <a:fillRect/>
          </a:stretch>
        </p:blipFill>
        <p:spPr>
          <a:xfrm>
            <a:off x="4012797" y="1825625"/>
            <a:ext cx="4166405" cy="4351338"/>
          </a:xfrm>
          <a:prstGeom prst="rect">
            <a:avLst/>
          </a:prstGeom>
          <a:noFill/>
        </p:spPr>
      </p:pic>
      <p:sp>
        <p:nvSpPr>
          <p:cNvPr id="4" name="Zástupný symbol pro datum 3">
            <a:extLst>
              <a:ext uri="{FF2B5EF4-FFF2-40B4-BE49-F238E27FC236}">
                <a16:creationId xmlns:a16="http://schemas.microsoft.com/office/drawing/2014/main" id="{DB880221-4F24-7643-3D29-629B3983FA8C}"/>
              </a:ext>
            </a:extLst>
          </p:cNvPr>
          <p:cNvSpPr>
            <a:spLocks noGrp="1"/>
          </p:cNvSpPr>
          <p:nvPr>
            <p:ph type="dt" sz="half" idx="10"/>
          </p:nvPr>
        </p:nvSpPr>
        <p:spPr>
          <a:xfrm>
            <a:off x="838200" y="6356350"/>
            <a:ext cx="2743200" cy="365125"/>
          </a:xfrm>
        </p:spPr>
        <p:txBody>
          <a:bodyPr anchor="ctr">
            <a:normAutofit/>
          </a:bodyPr>
          <a:lstStyle/>
          <a:p>
            <a:pPr>
              <a:spcAft>
                <a:spcPts val="600"/>
              </a:spcAft>
            </a:pPr>
            <a:r>
              <a:rPr lang="cs-CZ"/>
              <a:t>18.8.2022</a:t>
            </a:r>
          </a:p>
        </p:txBody>
      </p:sp>
      <p:sp>
        <p:nvSpPr>
          <p:cNvPr id="5" name="Zástupný symbol pro číslo snímku 4">
            <a:extLst>
              <a:ext uri="{FF2B5EF4-FFF2-40B4-BE49-F238E27FC236}">
                <a16:creationId xmlns:a16="http://schemas.microsoft.com/office/drawing/2014/main" id="{4DF1442D-2958-3638-A32C-6CFEE1B6D3C9}"/>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AD9F5C5F-4392-49C5-81DD-37F176609E69}" type="slidenum">
              <a:rPr lang="cs-CZ" smtClean="0"/>
              <a:pPr>
                <a:spcAft>
                  <a:spcPts val="600"/>
                </a:spcAft>
              </a:pPr>
              <a:t>288</a:t>
            </a:fld>
            <a:endParaRPr lang="cs-CZ"/>
          </a:p>
        </p:txBody>
      </p:sp>
    </p:spTree>
    <p:extLst>
      <p:ext uri="{BB962C8B-B14F-4D97-AF65-F5344CB8AC3E}">
        <p14:creationId xmlns:p14="http://schemas.microsoft.com/office/powerpoint/2010/main" val="268425275"/>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DDAA68C-203E-BC30-ED7C-31D2C7457A53}"/>
              </a:ext>
            </a:extLst>
          </p:cNvPr>
          <p:cNvSpPr>
            <a:spLocks noGrp="1"/>
          </p:cNvSpPr>
          <p:nvPr>
            <p:ph type="title"/>
          </p:nvPr>
        </p:nvSpPr>
        <p:spPr>
          <a:xfrm>
            <a:off x="838200" y="365125"/>
            <a:ext cx="10515600" cy="1325563"/>
          </a:xfrm>
        </p:spPr>
        <p:txBody>
          <a:bodyPr anchor="ctr">
            <a:normAutofit/>
          </a:bodyPr>
          <a:lstStyle/>
          <a:p>
            <a:r>
              <a:rPr lang="cs-CZ" b="1"/>
              <a:t>Zranitelnosti mobilních OS</a:t>
            </a:r>
            <a:endParaRPr lang="en-US" b="1"/>
          </a:p>
        </p:txBody>
      </p:sp>
      <p:pic>
        <p:nvPicPr>
          <p:cNvPr id="7" name="Obrázek 6">
            <a:extLst>
              <a:ext uri="{FF2B5EF4-FFF2-40B4-BE49-F238E27FC236}">
                <a16:creationId xmlns:a16="http://schemas.microsoft.com/office/drawing/2014/main" id="{38F9FB28-75DD-70A6-1966-2EFF4B3DA414}"/>
              </a:ext>
            </a:extLst>
          </p:cNvPr>
          <p:cNvPicPr>
            <a:picLocks noChangeAspect="1"/>
          </p:cNvPicPr>
          <p:nvPr/>
        </p:nvPicPr>
        <p:blipFill>
          <a:blip r:embed="rId2"/>
          <a:stretch>
            <a:fillRect/>
          </a:stretch>
        </p:blipFill>
        <p:spPr>
          <a:xfrm>
            <a:off x="1044177" y="1690688"/>
            <a:ext cx="5074445" cy="4351338"/>
          </a:xfrm>
          <a:prstGeom prst="rect">
            <a:avLst/>
          </a:prstGeom>
          <a:noFill/>
        </p:spPr>
      </p:pic>
      <p:sp>
        <p:nvSpPr>
          <p:cNvPr id="4" name="Zástupný symbol pro datum 3">
            <a:extLst>
              <a:ext uri="{FF2B5EF4-FFF2-40B4-BE49-F238E27FC236}">
                <a16:creationId xmlns:a16="http://schemas.microsoft.com/office/drawing/2014/main" id="{EC738EDC-64CC-7BAE-FA56-542F973564AC}"/>
              </a:ext>
            </a:extLst>
          </p:cNvPr>
          <p:cNvSpPr>
            <a:spLocks noGrp="1"/>
          </p:cNvSpPr>
          <p:nvPr>
            <p:ph type="dt" sz="half" idx="10"/>
          </p:nvPr>
        </p:nvSpPr>
        <p:spPr>
          <a:xfrm>
            <a:off x="838200" y="6356350"/>
            <a:ext cx="2743200" cy="365125"/>
          </a:xfrm>
        </p:spPr>
        <p:txBody>
          <a:bodyPr anchor="ctr">
            <a:normAutofit/>
          </a:bodyPr>
          <a:lstStyle/>
          <a:p>
            <a:pPr>
              <a:spcAft>
                <a:spcPts val="600"/>
              </a:spcAft>
            </a:pPr>
            <a:r>
              <a:rPr lang="cs-CZ"/>
              <a:t>18.8.2022</a:t>
            </a:r>
          </a:p>
        </p:txBody>
      </p:sp>
      <p:sp>
        <p:nvSpPr>
          <p:cNvPr id="5" name="Zástupný symbol pro číslo snímku 4">
            <a:extLst>
              <a:ext uri="{FF2B5EF4-FFF2-40B4-BE49-F238E27FC236}">
                <a16:creationId xmlns:a16="http://schemas.microsoft.com/office/drawing/2014/main" id="{592A87F8-E45C-CC9B-28DB-98DE116E3860}"/>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AD9F5C5F-4392-49C5-81DD-37F176609E69}" type="slidenum">
              <a:rPr lang="cs-CZ" smtClean="0"/>
              <a:pPr>
                <a:spcAft>
                  <a:spcPts val="600"/>
                </a:spcAft>
              </a:pPr>
              <a:t>289</a:t>
            </a:fld>
            <a:endParaRPr lang="cs-CZ"/>
          </a:p>
        </p:txBody>
      </p:sp>
      <p:pic>
        <p:nvPicPr>
          <p:cNvPr id="9" name="Obrázek 8">
            <a:extLst>
              <a:ext uri="{FF2B5EF4-FFF2-40B4-BE49-F238E27FC236}">
                <a16:creationId xmlns:a16="http://schemas.microsoft.com/office/drawing/2014/main" id="{36EFE93A-67DD-B3B9-32C9-E8069FF19465}"/>
              </a:ext>
            </a:extLst>
          </p:cNvPr>
          <p:cNvPicPr>
            <a:picLocks noChangeAspect="1"/>
          </p:cNvPicPr>
          <p:nvPr/>
        </p:nvPicPr>
        <p:blipFill>
          <a:blip r:embed="rId3"/>
          <a:stretch>
            <a:fillRect/>
          </a:stretch>
        </p:blipFill>
        <p:spPr>
          <a:xfrm>
            <a:off x="6279355" y="1828049"/>
            <a:ext cx="5074445" cy="4131118"/>
          </a:xfrm>
          <a:prstGeom prst="rect">
            <a:avLst/>
          </a:prstGeom>
        </p:spPr>
      </p:pic>
    </p:spTree>
    <p:extLst>
      <p:ext uri="{BB962C8B-B14F-4D97-AF65-F5344CB8AC3E}">
        <p14:creationId xmlns:p14="http://schemas.microsoft.com/office/powerpoint/2010/main" val="2159078013"/>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FF39C38-DD99-B790-AFF7-0FFFC1E2E78F}"/>
              </a:ext>
            </a:extLst>
          </p:cNvPr>
          <p:cNvSpPr>
            <a:spLocks noGrp="1"/>
          </p:cNvSpPr>
          <p:nvPr>
            <p:ph type="title"/>
          </p:nvPr>
        </p:nvSpPr>
        <p:spPr>
          <a:xfrm>
            <a:off x="838200" y="365125"/>
            <a:ext cx="10515600" cy="1325563"/>
          </a:xfrm>
        </p:spPr>
        <p:txBody>
          <a:bodyPr anchor="ctr">
            <a:normAutofit/>
          </a:bodyPr>
          <a:lstStyle/>
          <a:p>
            <a:r>
              <a:rPr lang="cs-CZ" b="1"/>
              <a:t>Zranitelnosti mobilních OS</a:t>
            </a:r>
            <a:endParaRPr lang="en-US"/>
          </a:p>
        </p:txBody>
      </p:sp>
      <p:pic>
        <p:nvPicPr>
          <p:cNvPr id="7" name="Obrázek 6">
            <a:extLst>
              <a:ext uri="{FF2B5EF4-FFF2-40B4-BE49-F238E27FC236}">
                <a16:creationId xmlns:a16="http://schemas.microsoft.com/office/drawing/2014/main" id="{D11B19A8-5AF5-E158-FA0E-D9F99D0FC6FB}"/>
              </a:ext>
            </a:extLst>
          </p:cNvPr>
          <p:cNvPicPr>
            <a:picLocks noChangeAspect="1"/>
          </p:cNvPicPr>
          <p:nvPr/>
        </p:nvPicPr>
        <p:blipFill>
          <a:blip r:embed="rId2"/>
          <a:stretch>
            <a:fillRect/>
          </a:stretch>
        </p:blipFill>
        <p:spPr>
          <a:xfrm>
            <a:off x="2469884" y="1825625"/>
            <a:ext cx="7252231" cy="4351338"/>
          </a:xfrm>
          <a:prstGeom prst="rect">
            <a:avLst/>
          </a:prstGeom>
          <a:noFill/>
        </p:spPr>
      </p:pic>
      <p:sp>
        <p:nvSpPr>
          <p:cNvPr id="4" name="Zástupný symbol pro datum 3">
            <a:extLst>
              <a:ext uri="{FF2B5EF4-FFF2-40B4-BE49-F238E27FC236}">
                <a16:creationId xmlns:a16="http://schemas.microsoft.com/office/drawing/2014/main" id="{48D523A2-7A6C-D9D1-1BDC-6FF6DE9561B9}"/>
              </a:ext>
            </a:extLst>
          </p:cNvPr>
          <p:cNvSpPr>
            <a:spLocks noGrp="1"/>
          </p:cNvSpPr>
          <p:nvPr>
            <p:ph type="dt" sz="half" idx="10"/>
          </p:nvPr>
        </p:nvSpPr>
        <p:spPr>
          <a:xfrm>
            <a:off x="838200" y="6356350"/>
            <a:ext cx="2743200" cy="365125"/>
          </a:xfrm>
        </p:spPr>
        <p:txBody>
          <a:bodyPr anchor="ctr">
            <a:normAutofit/>
          </a:bodyPr>
          <a:lstStyle/>
          <a:p>
            <a:pPr>
              <a:spcAft>
                <a:spcPts val="600"/>
              </a:spcAft>
            </a:pPr>
            <a:r>
              <a:rPr lang="cs-CZ"/>
              <a:t>18.8.2022</a:t>
            </a:r>
          </a:p>
        </p:txBody>
      </p:sp>
      <p:sp>
        <p:nvSpPr>
          <p:cNvPr id="5" name="Zástupný symbol pro číslo snímku 4">
            <a:extLst>
              <a:ext uri="{FF2B5EF4-FFF2-40B4-BE49-F238E27FC236}">
                <a16:creationId xmlns:a16="http://schemas.microsoft.com/office/drawing/2014/main" id="{2E0486F2-2DAD-D5EB-4E07-751AECD60248}"/>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AD9F5C5F-4392-49C5-81DD-37F176609E69}" type="slidenum">
              <a:rPr lang="cs-CZ" smtClean="0"/>
              <a:pPr>
                <a:spcAft>
                  <a:spcPts val="600"/>
                </a:spcAft>
              </a:pPr>
              <a:t>290</a:t>
            </a:fld>
            <a:endParaRPr lang="cs-CZ"/>
          </a:p>
        </p:txBody>
      </p:sp>
    </p:spTree>
    <p:extLst>
      <p:ext uri="{BB962C8B-B14F-4D97-AF65-F5344CB8AC3E}">
        <p14:creationId xmlns:p14="http://schemas.microsoft.com/office/powerpoint/2010/main" val="36394143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Motiv">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tiv" id="{E1FBE689-BF54-4B4F-8DB1-99A2A28419B4}" vid="{0E845156-C62D-4927-BF2E-675B40C9FDA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Motiv</Template>
  <Application>Microsoft Office PowerPoint</Application>
  <PresentationFormat>Širokoúhlá obrazovka</PresentationFormat>
  <Slides>290</Slides>
  <Notes>18</Notes>
  <HiddenSlides>0</HiddenSlides>
  <ScaleCrop>false</ScaleCrop>
  <HeadingPairs>
    <vt:vector size="4" baseType="variant">
      <vt:variant>
        <vt:lpstr>Motiv</vt:lpstr>
      </vt:variant>
      <vt:variant>
        <vt:i4>1</vt:i4>
      </vt:variant>
      <vt:variant>
        <vt:lpstr>Nadpisy snímků</vt:lpstr>
      </vt:variant>
      <vt:variant>
        <vt:i4>290</vt:i4>
      </vt:variant>
    </vt:vector>
  </HeadingPairs>
  <TitlesOfParts>
    <vt:vector size="291" baseType="lpstr">
      <vt:lpstr>Motiv</vt:lpstr>
      <vt:lpstr>Kyberbezpečnost</vt:lpstr>
      <vt:lpstr>Úvod</vt:lpstr>
      <vt:lpstr>Úvod</vt:lpstr>
      <vt:lpstr>Základní terminologie</vt:lpstr>
      <vt:lpstr>Kyberprostor</vt:lpstr>
      <vt:lpstr>Kyberprostor</vt:lpstr>
      <vt:lpstr>Fyzická vrstva kyberprostoru</vt:lpstr>
      <vt:lpstr>Logická vrstva kyberprostoru</vt:lpstr>
      <vt:lpstr>Sociální vrstva kyberprostoru</vt:lpstr>
      <vt:lpstr>Další dělení Kyberprostoru dle dohledatelnosti pro uživatele</vt:lpstr>
      <vt:lpstr>Pojem kybernetické bezpečnosti a pojmy související</vt:lpstr>
      <vt:lpstr>Kybernetická bezpečnost</vt:lpstr>
      <vt:lpstr>Bezpečnost</vt:lpstr>
      <vt:lpstr>Bezpečnost</vt:lpstr>
      <vt:lpstr>Bezpečnost není pouze otázkou státu!</vt:lpstr>
      <vt:lpstr>Kybernetická bezpečnost</vt:lpstr>
      <vt:lpstr>Kybernetická bezpečnost</vt:lpstr>
      <vt:lpstr>Principy kybernetické bezpečnosti</vt:lpstr>
      <vt:lpstr>CIA</vt:lpstr>
      <vt:lpstr>CIA</vt:lpstr>
      <vt:lpstr>Triáda CIA: Důvěryhodnost</vt:lpstr>
      <vt:lpstr>Triáda CIA: Důvěryhodnost</vt:lpstr>
      <vt:lpstr>Traffic Light Protocol</vt:lpstr>
      <vt:lpstr>Traffic Light Protocol</vt:lpstr>
      <vt:lpstr>Traffic Light Protocol</vt:lpstr>
      <vt:lpstr>Triáda CIA: Integrita</vt:lpstr>
      <vt:lpstr>Stupnice pro hodnocení integrity</vt:lpstr>
      <vt:lpstr>Stupnice pro hodnocení integrity</vt:lpstr>
      <vt:lpstr>Stupnice pro hodnocení integrity</vt:lpstr>
      <vt:lpstr>Triáda CIA: Dostupnost</vt:lpstr>
      <vt:lpstr>Triáda CIA</vt:lpstr>
      <vt:lpstr>Prvky kybernetické bezpečnosti</vt:lpstr>
      <vt:lpstr>Prvky kybernetické bezpečnosti: Lidé</vt:lpstr>
      <vt:lpstr>Prvky kybernetické bezpečnosti: Lidé</vt:lpstr>
      <vt:lpstr>Prvky kybernetické bezpečnosti: Lidé</vt:lpstr>
      <vt:lpstr>Prvky kybernetické bezpečnosti: Technologie</vt:lpstr>
      <vt:lpstr>Prvky kybernetické bezpečnosti: Technologie</vt:lpstr>
      <vt:lpstr>Prvky kybernetické bezpečnosti: Technologie</vt:lpstr>
      <vt:lpstr>Prvky kybernetické bezpečnosti: Technologie</vt:lpstr>
      <vt:lpstr>Prvky kybernetické bezpečnosti: Technologie</vt:lpstr>
      <vt:lpstr>Prvky kybernetické bezpečnosti: Procesy</vt:lpstr>
      <vt:lpstr>Prvky kybernetické bezpečnosti: Procesy</vt:lpstr>
      <vt:lpstr>Prvky kybernetické bezpečnosti: Procesy</vt:lpstr>
      <vt:lpstr>Prvky kybernetické bezpečnosti: triáda CIA</vt:lpstr>
      <vt:lpstr>Životní cyklus kybernetické bezpečnosti</vt:lpstr>
      <vt:lpstr>Životní cyklus kybernetické bezpečnosti</vt:lpstr>
      <vt:lpstr>Evoluce kybernetické bezpečnosti</vt:lpstr>
      <vt:lpstr>Riziko, aktivum, zranitelnost</vt:lpstr>
      <vt:lpstr>Riziko, aktivum, zranitelnost</vt:lpstr>
      <vt:lpstr>Riziko, aktivum, zranitelnost</vt:lpstr>
      <vt:lpstr>Kybernetické hrozby, události, incidenty a útoky</vt:lpstr>
      <vt:lpstr>Kybernetické hrozby, události, incidenty a útoky</vt:lpstr>
      <vt:lpstr>Útoky na triádu CIA</vt:lpstr>
      <vt:lpstr>Útok na některý z prvků kybernetické bezpečnosti</vt:lpstr>
      <vt:lpstr>Motivace útoků</vt:lpstr>
      <vt:lpstr>Typy hrozeb</vt:lpstr>
      <vt:lpstr>Kybernetická bezpečnostní událost/incident </vt:lpstr>
      <vt:lpstr>Kybernetický útok (Cyber Attack)</vt:lpstr>
      <vt:lpstr>Kyberkriminalita (Cybercrime)</vt:lpstr>
      <vt:lpstr>2. Legislativa</vt:lpstr>
      <vt:lpstr>Vznik legislativy v ČR</vt:lpstr>
      <vt:lpstr>Vznik legislativy v ČR</vt:lpstr>
      <vt:lpstr>Směrnice Evropského parlamentu a Rady</vt:lpstr>
      <vt:lpstr>Právní normy ČR</vt:lpstr>
      <vt:lpstr>Prezentace aplikace PowerPoint</vt:lpstr>
      <vt:lpstr>GDPR</vt:lpstr>
      <vt:lpstr>Zajímavé paradoxy</vt:lpstr>
      <vt:lpstr>Osobní údaj</vt:lpstr>
      <vt:lpstr>Prezentace aplikace PowerPoint</vt:lpstr>
      <vt:lpstr>Osobní údaj</vt:lpstr>
      <vt:lpstr>Osobní údaj</vt:lpstr>
      <vt:lpstr>Prezentace aplikace PowerPoint</vt:lpstr>
      <vt:lpstr>Osobní údaj</vt:lpstr>
      <vt:lpstr>Prezentace aplikace PowerPoint</vt:lpstr>
      <vt:lpstr>Osobní údaj</vt:lpstr>
      <vt:lpstr>Zabezpečení osobních údajů</vt:lpstr>
      <vt:lpstr>ePrivacy</vt:lpstr>
      <vt:lpstr>Prezentace aplikace PowerPoint</vt:lpstr>
      <vt:lpstr>Zpracování dat</vt:lpstr>
      <vt:lpstr>Digitální služba</vt:lpstr>
      <vt:lpstr>Digitální služba</vt:lpstr>
      <vt:lpstr>Digitální služba</vt:lpstr>
      <vt:lpstr>Rozdělení cloud computingu</vt:lpstr>
      <vt:lpstr>Rozdělení cloud computingu</vt:lpstr>
      <vt:lpstr>Rozdělení cloud computingu</vt:lpstr>
      <vt:lpstr>Rozdělení cloud computingu</vt:lpstr>
      <vt:lpstr>Zkratky</vt:lpstr>
      <vt:lpstr>Module 3: Network Security Concepts</vt:lpstr>
      <vt:lpstr>Cryptography Securing Communications</vt:lpstr>
      <vt:lpstr>Cryptography Data Integrity</vt:lpstr>
      <vt:lpstr>Cryptography Hash Functions</vt:lpstr>
      <vt:lpstr>Cryptography Origin Authentication</vt:lpstr>
      <vt:lpstr>Cryptography Data Confidentiality</vt:lpstr>
      <vt:lpstr>Cryptography Symmetric Encryption</vt:lpstr>
      <vt:lpstr>Cryptography Symmetric Encryption (Cont.)</vt:lpstr>
      <vt:lpstr>Cryptography Asymmetric Encryption</vt:lpstr>
      <vt:lpstr>Cryptography Asymmetric Encryption (Cont.)</vt:lpstr>
      <vt:lpstr>Cryptography Asymmetric Encryption (Cont.)</vt:lpstr>
      <vt:lpstr>Cryptography Diffie-Hellman</vt:lpstr>
      <vt:lpstr>Cryptography Diffie-Hellman (Cont.)</vt:lpstr>
      <vt:lpstr>Prezentace aplikace PowerPoint</vt:lpstr>
      <vt:lpstr>Fyzická bezpečnost</vt:lpstr>
      <vt:lpstr>Fyzická bezpečnost</vt:lpstr>
      <vt:lpstr>Zajištění perimetru</vt:lpstr>
      <vt:lpstr>Kontrola přístupu</vt:lpstr>
      <vt:lpstr>Kontrola přístupu</vt:lpstr>
      <vt:lpstr>Prezentace aplikace PowerPoint</vt:lpstr>
      <vt:lpstr>Prezentace aplikace PowerPoint</vt:lpstr>
      <vt:lpstr>Kontrola přístupu</vt:lpstr>
      <vt:lpstr>Vnitřní bezpečnost</vt:lpstr>
      <vt:lpstr>Vnitřní bezpečnost</vt:lpstr>
      <vt:lpstr>Ochrana počítačových systémů</vt:lpstr>
      <vt:lpstr>Ochrana počítačových systémů</vt:lpstr>
      <vt:lpstr>Protecting Against Network Attacks</vt:lpstr>
      <vt:lpstr>Prezentace aplikace PowerPoint</vt:lpstr>
      <vt:lpstr>Ochrana ostatních počítačových systémů</vt:lpstr>
      <vt:lpstr>Ochrana ostatních počítačových systémů</vt:lpstr>
      <vt:lpstr>Ochrana ostatních počítačových systémů</vt:lpstr>
      <vt:lpstr>Ochrana ostatních počítačových systémů</vt:lpstr>
      <vt:lpstr>Ochrana ostatních počítačových systémů</vt:lpstr>
      <vt:lpstr>Prezentace aplikace PowerPoint</vt:lpstr>
      <vt:lpstr>Ochrana před připojením cizích periferií k počítačovým systémům</vt:lpstr>
      <vt:lpstr>Ochrana před připojením cizích periferií k počítačovým systémům</vt:lpstr>
      <vt:lpstr>Ochrana před připojením cizích periferií k počítačovým systémům</vt:lpstr>
      <vt:lpstr>Ochrana před připojením cizích periferií k počítačovým systémům</vt:lpstr>
      <vt:lpstr>Bezpečnost sítí a služeb</vt:lpstr>
      <vt:lpstr>Bezpečnost sítí a služeb</vt:lpstr>
      <vt:lpstr>Bezpečnost sítí a služeb</vt:lpstr>
      <vt:lpstr>Ochrana sítí</vt:lpstr>
      <vt:lpstr>Rozdělení sítě jako základní prvek zajištění bezpečnosti</vt:lpstr>
      <vt:lpstr>DMZ</vt:lpstr>
      <vt:lpstr>VLAN</vt:lpstr>
      <vt:lpstr>VLAN</vt:lpstr>
      <vt:lpstr>VLAN</vt:lpstr>
      <vt:lpstr>VLAN</vt:lpstr>
      <vt:lpstr>Útoky na VLAN</vt:lpstr>
      <vt:lpstr>Ochrana sítě LAN</vt:lpstr>
      <vt:lpstr>DHCP protokol</vt:lpstr>
      <vt:lpstr>Prezentace aplikace PowerPoint</vt:lpstr>
      <vt:lpstr>ROGUE DHCP</vt:lpstr>
      <vt:lpstr>ROGUE DHCP</vt:lpstr>
      <vt:lpstr>ROGUE DHCP</vt:lpstr>
      <vt:lpstr>DHCP Starvation</vt:lpstr>
      <vt:lpstr>DHCP Starvation</vt:lpstr>
      <vt:lpstr>DHCP Starvation</vt:lpstr>
      <vt:lpstr>ARP protokol</vt:lpstr>
      <vt:lpstr>ARP protokol</vt:lpstr>
      <vt:lpstr>ARP protokol</vt:lpstr>
      <vt:lpstr>ARP protokol</vt:lpstr>
      <vt:lpstr>ARP protokol - útoky</vt:lpstr>
      <vt:lpstr>ARP protokol - útoky</vt:lpstr>
      <vt:lpstr>ARP protokol - útoky</vt:lpstr>
      <vt:lpstr>ARP protokol - útoky</vt:lpstr>
      <vt:lpstr>ARP protokol - útoky</vt:lpstr>
      <vt:lpstr>ARP protokol - útoky</vt:lpstr>
      <vt:lpstr>ARP protokol - útoky</vt:lpstr>
      <vt:lpstr>ARP protokol - útoky</vt:lpstr>
      <vt:lpstr>Dynamic ARP Inspection</vt:lpstr>
      <vt:lpstr>ARP protokol - útoky</vt:lpstr>
      <vt:lpstr>ARP protokol – útoky (flooding)</vt:lpstr>
      <vt:lpstr>DNS protokol</vt:lpstr>
      <vt:lpstr>DNS protokol - Cache Poisoning</vt:lpstr>
      <vt:lpstr>DNS protokol - Malware</vt:lpstr>
      <vt:lpstr>DNS protokol - Malware</vt:lpstr>
      <vt:lpstr>DNS protokol -  Útoky na SOHO routery</vt:lpstr>
      <vt:lpstr>DNS protokol -  Útoky na SOHO routery</vt:lpstr>
      <vt:lpstr> IEEE 802.1X</vt:lpstr>
      <vt:lpstr> Bezdrátové sítě </vt:lpstr>
      <vt:lpstr> Bezdrátové sítě </vt:lpstr>
      <vt:lpstr> Bezdrátové sítě </vt:lpstr>
      <vt:lpstr> Bezdrátové sítě </vt:lpstr>
      <vt:lpstr> Bezdrátové sítě </vt:lpstr>
      <vt:lpstr>Bezdrátové sítě:  Filtrace přístupu podle MAC adres</vt:lpstr>
      <vt:lpstr>Bezdrátové sítě:  Wired Equivalent Privacy (WEP)</vt:lpstr>
      <vt:lpstr>Bezdrátové sítě: WPA (Wi-Fi Protected Access)</vt:lpstr>
      <vt:lpstr>Bezdrátové sítě: WPA2 (Wi-Fi Protected Access2)</vt:lpstr>
      <vt:lpstr>Bezdrátové sítě: WPA2 (Wi-Fi Protected Access2), rizika</vt:lpstr>
      <vt:lpstr>Chyba WPS</vt:lpstr>
      <vt:lpstr>Prezentace aplikace PowerPoint</vt:lpstr>
      <vt:lpstr>Chyba WPS</vt:lpstr>
      <vt:lpstr>Chyba WPS</vt:lpstr>
      <vt:lpstr>Technický útok spojený se sociálním inženýrstvím</vt:lpstr>
      <vt:lpstr>Technický útok spojený se sociálním inženýrstvím</vt:lpstr>
      <vt:lpstr>Permanentně zapnuté Wi-Fi rozhraní</vt:lpstr>
      <vt:lpstr>Prezentace aplikace PowerPoint</vt:lpstr>
      <vt:lpstr>Permanentně zapnuté Wi-Fi rozhraní</vt:lpstr>
      <vt:lpstr>Bezdrátové sítě: WPA2 (Wi-Fi Protected Access2) - riziko</vt:lpstr>
      <vt:lpstr>Prezentace aplikace PowerPoint</vt:lpstr>
      <vt:lpstr>Bezdrátové sítě: WPA3 (Wi-Fi Protected Access3)</vt:lpstr>
      <vt:lpstr>Bezdrátové sítě: WPA3 (Wi-Fi Protected Access3)</vt:lpstr>
      <vt:lpstr>Bezdrátové sítě: WPA3 (Wi-Fi Protected Access3)</vt:lpstr>
      <vt:lpstr>IPv6</vt:lpstr>
      <vt:lpstr>IPv6 - bezpečnost</vt:lpstr>
      <vt:lpstr>IPv6</vt:lpstr>
      <vt:lpstr>IPv6</vt:lpstr>
      <vt:lpstr>IPv6</vt:lpstr>
      <vt:lpstr>IPv6</vt:lpstr>
      <vt:lpstr>IPv6</vt:lpstr>
      <vt:lpstr>IPv6</vt:lpstr>
      <vt:lpstr>IPv6</vt:lpstr>
      <vt:lpstr>IPv6 - RA-Guard</vt:lpstr>
      <vt:lpstr>IPv6 - ND-Snooping </vt:lpstr>
      <vt:lpstr>IPv6</vt:lpstr>
      <vt:lpstr>IPv6</vt:lpstr>
      <vt:lpstr>IPv6</vt:lpstr>
      <vt:lpstr>IPv6</vt:lpstr>
      <vt:lpstr>IPv6</vt:lpstr>
      <vt:lpstr>IPv6</vt:lpstr>
      <vt:lpstr>IPv6</vt:lpstr>
      <vt:lpstr>Ochrana na rozhraní sítí - Access Control List (ACL)</vt:lpstr>
      <vt:lpstr>Ochrana na rozhraní sítí - Firewall</vt:lpstr>
      <vt:lpstr>Ochrana na rozhraní sítí - Firewall</vt:lpstr>
      <vt:lpstr>Ochrana na rozhraní sítí - Firewall</vt:lpstr>
      <vt:lpstr>Prezentace aplikace PowerPoint</vt:lpstr>
      <vt:lpstr>Prezentace aplikace PowerPoint</vt:lpstr>
      <vt:lpstr>Prezentace aplikace PowerPoint</vt:lpstr>
      <vt:lpstr>Paketové filtry</vt:lpstr>
      <vt:lpstr>Stavové paketové filtry</vt:lpstr>
      <vt:lpstr>Stavové paketové filtry</vt:lpstr>
      <vt:lpstr>Stavové paketové filtry</vt:lpstr>
      <vt:lpstr>Aplikační brány</vt:lpstr>
      <vt:lpstr>Aplikační brány</vt:lpstr>
      <vt:lpstr>Aplikační brány</vt:lpstr>
      <vt:lpstr>Výběr vhodného firewallu</vt:lpstr>
      <vt:lpstr>Výběr vhodného firewallu</vt:lpstr>
      <vt:lpstr>Proxy servery</vt:lpstr>
      <vt:lpstr>Typy proxy serverů</vt:lpstr>
      <vt:lpstr>Reverzní proxy server</vt:lpstr>
      <vt:lpstr>Forward proxy server</vt:lpstr>
      <vt:lpstr>Forward proxy server</vt:lpstr>
      <vt:lpstr>Open proxy server</vt:lpstr>
      <vt:lpstr>Open proxy server</vt:lpstr>
      <vt:lpstr>Open proxy server</vt:lpstr>
      <vt:lpstr>Open proxy server</vt:lpstr>
      <vt:lpstr>Open proxy server</vt:lpstr>
      <vt:lpstr>Open proxy server - útok</vt:lpstr>
      <vt:lpstr>Open proxy server</vt:lpstr>
      <vt:lpstr>Intrusion Detection System (IDS) a Intrusion Prevention System (IPS)</vt:lpstr>
      <vt:lpstr>Typy IDS</vt:lpstr>
      <vt:lpstr>HIDS (Host-based Intrusion Detection System)</vt:lpstr>
      <vt:lpstr>NIDS (Network Intrusion Detection System)</vt:lpstr>
      <vt:lpstr>Intrusion Detection System (IDS) a Intrusion Prevention System (IPS)</vt:lpstr>
      <vt:lpstr>Security Information and Event Management (SIEM)</vt:lpstr>
      <vt:lpstr>Security Information and Event Management (SIEM)</vt:lpstr>
      <vt:lpstr>Security Information and Event Management (SIEM)</vt:lpstr>
      <vt:lpstr>Security Information and Event Management (SIEM)</vt:lpstr>
      <vt:lpstr>Antivir, Antispam</vt:lpstr>
      <vt:lpstr>Aplikační bezpečnost</vt:lpstr>
      <vt:lpstr>Řízení přístupů</vt:lpstr>
      <vt:lpstr>Řízení přístupů</vt:lpstr>
      <vt:lpstr>Ověřování uživatelů</vt:lpstr>
      <vt:lpstr>Ověřování uživatelů</vt:lpstr>
      <vt:lpstr>Ověřování uživatelů</vt:lpstr>
      <vt:lpstr>Ověřování uživatelů</vt:lpstr>
      <vt:lpstr>Ověřování uživatelů</vt:lpstr>
      <vt:lpstr>Ověřování uživatelů</vt:lpstr>
      <vt:lpstr>Hesla</vt:lpstr>
      <vt:lpstr>Hesla</vt:lpstr>
      <vt:lpstr>Hashovací funkce </vt:lpstr>
      <vt:lpstr>Hashovací funkce </vt:lpstr>
      <vt:lpstr>Prolomení hesla</vt:lpstr>
      <vt:lpstr>Prolomení hesla</vt:lpstr>
      <vt:lpstr>Prolomení hesla</vt:lpstr>
      <vt:lpstr>Prolomení hesla</vt:lpstr>
      <vt:lpstr>Prolomení hesla</vt:lpstr>
      <vt:lpstr>Keyspace</vt:lpstr>
      <vt:lpstr>Keyspace</vt:lpstr>
      <vt:lpstr>Útoky na hashe</vt:lpstr>
      <vt:lpstr>Útok hrubou silou (Brute force)</vt:lpstr>
      <vt:lpstr>Útok hrubou silou (Brute force)</vt:lpstr>
      <vt:lpstr>Distribuce útoku na více počítačových systémů v počítačové síti</vt:lpstr>
      <vt:lpstr>Slovníkový útok</vt:lpstr>
      <vt:lpstr>Slovníkový útok</vt:lpstr>
      <vt:lpstr>Cupp</vt:lpstr>
      <vt:lpstr>Cupp</vt:lpstr>
      <vt:lpstr>Prezentace aplikace PowerPoint</vt:lpstr>
      <vt:lpstr>Operační systémy a jejich zranitelnost</vt:lpstr>
      <vt:lpstr>Běžné mechanismy zabezpečení v OS</vt:lpstr>
      <vt:lpstr>Aktuální zranitelnosti systémů</vt:lpstr>
      <vt:lpstr>Aktuální zranitelnosti systémů</vt:lpstr>
      <vt:lpstr>Obecné hrozby OS mobilních zařízení</vt:lpstr>
      <vt:lpstr> Únik dat</vt:lpstr>
      <vt:lpstr>Nezabezpečené Wi-Fi sítě</vt:lpstr>
      <vt:lpstr>Spoofing sítí</vt:lpstr>
      <vt:lpstr>Phishingové útoky</vt:lpstr>
      <vt:lpstr>Spyware</vt:lpstr>
      <vt:lpstr>Struktura Androidu</vt:lpstr>
      <vt:lpstr>Struktura iOS</vt:lpstr>
      <vt:lpstr>Zranitelnosti mobilních OS</vt:lpstr>
      <vt:lpstr>Zranitelnosti mobilních 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cp:coreProperties>
</file>

<file path=docProps/custom.xml><?xml version="1.0" encoding="utf-8"?>
<Properties xmlns="http://schemas.openxmlformats.org/officeDocument/2006/custom-properties" xmlns:vt="http://schemas.openxmlformats.org/officeDocument/2006/docPropsVTypes"/>
</file>