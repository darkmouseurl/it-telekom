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15.xml" ContentType="application/vnd.openxmlformats-officedocument.presentationml.tags+xml"/>
  <Override PartName="/ppt/notesSlides/notesSlide16.xml" ContentType="application/vnd.openxmlformats-officedocument.presentationml.notesSlide+xml"/>
  <Override PartName="/ppt/tags/tag16.xml" ContentType="application/vnd.openxmlformats-officedocument.presentationml.tags+xml"/>
  <Override PartName="/ppt/notesSlides/notesSlide17.xml" ContentType="application/vnd.openxmlformats-officedocument.presentationml.notesSlide+xml"/>
  <Override PartName="/ppt/tags/tag17.xml" ContentType="application/vnd.openxmlformats-officedocument.presentationml.tags+xml"/>
  <Override PartName="/ppt/notesSlides/notesSlide18.xml" ContentType="application/vnd.openxmlformats-officedocument.presentationml.notesSlide+xml"/>
  <Override PartName="/ppt/tags/tag18.xml" ContentType="application/vnd.openxmlformats-officedocument.presentationml.tags+xml"/>
  <Override PartName="/ppt/notesSlides/notesSlide19.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ags/tag19.xml" ContentType="application/vnd.openxmlformats-officedocument.presentationml.tags+xml"/>
  <Override PartName="/ppt/notesSlides/notesSlide20.xml" ContentType="application/vnd.openxmlformats-officedocument.presentationml.notesSlide+xml"/>
  <Override PartName="/ppt/tags/tag20.xml" ContentType="application/vnd.openxmlformats-officedocument.presentationml.tags+xml"/>
  <Override PartName="/ppt/notesSlides/notesSlide21.xml" ContentType="application/vnd.openxmlformats-officedocument.presentationml.notesSlide+xml"/>
  <Override PartName="/ppt/tags/tag21.xml" ContentType="application/vnd.openxmlformats-officedocument.presentationml.tags+xml"/>
  <Override PartName="/ppt/notesSlides/notesSlide22.xml" ContentType="application/vnd.openxmlformats-officedocument.presentationml.notesSlide+xml"/>
  <Override PartName="/ppt/tags/tag22.xml" ContentType="application/vnd.openxmlformats-officedocument.presentationml.tags+xml"/>
  <Override PartName="/ppt/notesSlides/notesSlide23.xml" ContentType="application/vnd.openxmlformats-officedocument.presentationml.notesSlide+xml"/>
  <Override PartName="/ppt/tags/tag23.xml" ContentType="application/vnd.openxmlformats-officedocument.presentationml.tags+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tags/tag24.xml" ContentType="application/vnd.openxmlformats-officedocument.presentationml.tags+xml"/>
  <Override PartName="/ppt/notesSlides/notesSlide26.xml" ContentType="application/vnd.openxmlformats-officedocument.presentationml.notesSlide+xml"/>
  <Override PartName="/ppt/tags/tag25.xml" ContentType="application/vnd.openxmlformats-officedocument.presentationml.tags+xml"/>
  <Override PartName="/ppt/notesSlides/notesSlide2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tags/tag26.xml" ContentType="application/vnd.openxmlformats-officedocument.presentationml.tags+xml"/>
  <Override PartName="/ppt/notesSlides/notesSlide28.xml" ContentType="application/vnd.openxmlformats-officedocument.presentationml.notesSlide+xml"/>
  <Override PartName="/ppt/tags/tag27.xml" ContentType="application/vnd.openxmlformats-officedocument.presentationml.tags+xml"/>
  <Override PartName="/ppt/notesSlides/notesSlide29.xml" ContentType="application/vnd.openxmlformats-officedocument.presentationml.notesSlide+xml"/>
  <Override PartName="/ppt/tags/tag28.xml" ContentType="application/vnd.openxmlformats-officedocument.presentationml.tags+xml"/>
  <Override PartName="/ppt/notesSlides/notesSlide30.xml" ContentType="application/vnd.openxmlformats-officedocument.presentationml.notesSlide+xml"/>
  <Override PartName="/ppt/tags/tag29.xml" ContentType="application/vnd.openxmlformats-officedocument.presentationml.tags+xml"/>
  <Override PartName="/ppt/notesSlides/notesSlide31.xml" ContentType="application/vnd.openxmlformats-officedocument.presentationml.notesSlide+xml"/>
  <Override PartName="/ppt/tags/tag30.xml" ContentType="application/vnd.openxmlformats-officedocument.presentationml.tags+xml"/>
  <Override PartName="/ppt/notesSlides/notesSlide32.xml" ContentType="application/vnd.openxmlformats-officedocument.presentationml.notesSlide+xml"/>
  <Override PartName="/ppt/tags/tag31.xml" ContentType="application/vnd.openxmlformats-officedocument.presentationml.tags+xml"/>
  <Override PartName="/ppt/notesSlides/notesSlide33.xml" ContentType="application/vnd.openxmlformats-officedocument.presentationml.notesSlide+xml"/>
  <Override PartName="/ppt/tags/tag32.xml" ContentType="application/vnd.openxmlformats-officedocument.presentationml.tags+xml"/>
  <Override PartName="/ppt/notesSlides/notesSlide34.xml" ContentType="application/vnd.openxmlformats-officedocument.presentationml.notesSlide+xml"/>
  <Override PartName="/ppt/tags/tag33.xml" ContentType="application/vnd.openxmlformats-officedocument.presentationml.tags+xml"/>
  <Override PartName="/ppt/notesSlides/notesSlide35.xml" ContentType="application/vnd.openxmlformats-officedocument.presentationml.notesSlide+xml"/>
  <Override PartName="/ppt/tags/tag34.xml" ContentType="application/vnd.openxmlformats-officedocument.presentationml.tags+xml"/>
  <Override PartName="/ppt/notesSlides/notesSlide36.xml" ContentType="application/vnd.openxmlformats-officedocument.presentationml.notesSlide+xml"/>
  <Override PartName="/ppt/tags/tag35.xml" ContentType="application/vnd.openxmlformats-officedocument.presentationml.tags+xml"/>
  <Override PartName="/ppt/notesSlides/notesSlide37.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tags/tag36.xml" ContentType="application/vnd.openxmlformats-officedocument.presentationml.tags+xml"/>
  <Override PartName="/ppt/notesSlides/notesSlide38.xml" ContentType="application/vnd.openxmlformats-officedocument.presentationml.notesSlide+xml"/>
  <Override PartName="/ppt/tags/tag37.xml" ContentType="application/vnd.openxmlformats-officedocument.presentationml.tags+xml"/>
  <Override PartName="/ppt/notesSlides/notesSlide39.xml" ContentType="application/vnd.openxmlformats-officedocument.presentationml.notesSlide+xml"/>
  <Override PartName="/ppt/tags/tag38.xml" ContentType="application/vnd.openxmlformats-officedocument.presentationml.tags+xml"/>
  <Override PartName="/ppt/notesSlides/notesSlide40.xml" ContentType="application/vnd.openxmlformats-officedocument.presentationml.notesSlide+xml"/>
  <Override PartName="/ppt/tags/tag39.xml" ContentType="application/vnd.openxmlformats-officedocument.presentationml.tags+xml"/>
  <Override PartName="/ppt/notesSlides/notesSlide41.xml" ContentType="application/vnd.openxmlformats-officedocument.presentationml.notesSlide+xml"/>
  <Override PartName="/ppt/tags/tag40.xml" ContentType="application/vnd.openxmlformats-officedocument.presentationml.tags+xml"/>
  <Override PartName="/ppt/notesSlides/notesSlide42.xml" ContentType="application/vnd.openxmlformats-officedocument.presentationml.notesSlide+xml"/>
  <Override PartName="/ppt/tags/tag41.xml" ContentType="application/vnd.openxmlformats-officedocument.presentationml.tags+xml"/>
  <Override PartName="/ppt/notesSlides/notesSlide43.xml" ContentType="application/vnd.openxmlformats-officedocument.presentationml.notesSlide+xml"/>
  <Override PartName="/ppt/tags/tag42.xml" ContentType="application/vnd.openxmlformats-officedocument.presentationml.tags+xml"/>
  <Override PartName="/ppt/notesSlides/notesSlide44.xml" ContentType="application/vnd.openxmlformats-officedocument.presentationml.notesSlide+xml"/>
  <Override PartName="/ppt/tags/tag43.xml" ContentType="application/vnd.openxmlformats-officedocument.presentationml.tags+xml"/>
  <Override PartName="/ppt/notesSlides/notesSlide45.xml" ContentType="application/vnd.openxmlformats-officedocument.presentationml.notesSlide+xml"/>
  <Override PartName="/ppt/tags/tag44.xml" ContentType="application/vnd.openxmlformats-officedocument.presentationml.tags+xml"/>
  <Override PartName="/ppt/notesSlides/notesSlide46.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tags/tag45.xml" ContentType="application/vnd.openxmlformats-officedocument.presentationml.tags+xml"/>
  <Override PartName="/ppt/notesSlides/notesSlide47.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31" r:id="rId1"/>
  </p:sldMasterIdLst>
  <p:notesMasterIdLst>
    <p:notesMasterId r:id="rId49"/>
  </p:notesMasterIdLst>
  <p:handoutMasterIdLst>
    <p:handoutMasterId r:id="rId50"/>
  </p:handoutMasterIdLst>
  <p:sldIdLst>
    <p:sldId id="290" r:id="rId2"/>
    <p:sldId id="323" r:id="rId3"/>
    <p:sldId id="312" r:id="rId4"/>
    <p:sldId id="327" r:id="rId5"/>
    <p:sldId id="328" r:id="rId6"/>
    <p:sldId id="408" r:id="rId7"/>
    <p:sldId id="407" r:id="rId8"/>
    <p:sldId id="333" r:id="rId9"/>
    <p:sldId id="433" r:id="rId10"/>
    <p:sldId id="366" r:id="rId11"/>
    <p:sldId id="435" r:id="rId12"/>
    <p:sldId id="342" r:id="rId13"/>
    <p:sldId id="432" r:id="rId14"/>
    <p:sldId id="445" r:id="rId15"/>
    <p:sldId id="449" r:id="rId16"/>
    <p:sldId id="438" r:id="rId17"/>
    <p:sldId id="443" r:id="rId18"/>
    <p:sldId id="410" r:id="rId19"/>
    <p:sldId id="397" r:id="rId20"/>
    <p:sldId id="345" r:id="rId21"/>
    <p:sldId id="436" r:id="rId22"/>
    <p:sldId id="376" r:id="rId23"/>
    <p:sldId id="349" r:id="rId24"/>
    <p:sldId id="350" r:id="rId25"/>
    <p:sldId id="444" r:id="rId26"/>
    <p:sldId id="401" r:id="rId27"/>
    <p:sldId id="398" r:id="rId28"/>
    <p:sldId id="351" r:id="rId29"/>
    <p:sldId id="437" r:id="rId30"/>
    <p:sldId id="423" r:id="rId31"/>
    <p:sldId id="390" r:id="rId32"/>
    <p:sldId id="393" r:id="rId33"/>
    <p:sldId id="420" r:id="rId34"/>
    <p:sldId id="421" r:id="rId35"/>
    <p:sldId id="448" r:id="rId36"/>
    <p:sldId id="402" r:id="rId37"/>
    <p:sldId id="399" r:id="rId38"/>
    <p:sldId id="380" r:id="rId39"/>
    <p:sldId id="409" r:id="rId40"/>
    <p:sldId id="394" r:id="rId41"/>
    <p:sldId id="425" r:id="rId42"/>
    <p:sldId id="426" r:id="rId43"/>
    <p:sldId id="358" r:id="rId44"/>
    <p:sldId id="446" r:id="rId45"/>
    <p:sldId id="403" r:id="rId46"/>
    <p:sldId id="405" r:id="rId47"/>
    <p:sldId id="360" r:id="rId48"/>
  </p:sldIdLst>
  <p:sldSz cx="12188825" cy="6858000"/>
  <p:notesSz cx="7315200" cy="9601200"/>
  <p:custDataLst>
    <p:tags r:id="rId5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96" userDrawn="1">
          <p15:clr>
            <a:srgbClr val="A4A3A4"/>
          </p15:clr>
        </p15:guide>
        <p15:guide id="2" pos="2880" userDrawn="1">
          <p15:clr>
            <a:srgbClr val="A4A3A4"/>
          </p15:clr>
        </p15:guide>
        <p15:guide id="3" orient="horz" pos="4189">
          <p15:clr>
            <a:srgbClr val="A4A3A4"/>
          </p15:clr>
        </p15:guide>
        <p15:guide id="4" orient="horz" pos="622">
          <p15:clr>
            <a:srgbClr val="A4A3A4"/>
          </p15:clr>
        </p15:guide>
        <p15:guide id="5" orient="horz" pos="979">
          <p15:clr>
            <a:srgbClr val="A4A3A4"/>
          </p15:clr>
        </p15:guide>
        <p15:guide id="6" pos="3839">
          <p15:clr>
            <a:srgbClr val="A4A3A4"/>
          </p15:clr>
        </p15:guide>
      </p15:sldGuideLst>
    </p:ext>
    <p:ext uri="{2D200454-40CA-4A62-9FC3-DE9A4176ACB9}">
      <p15:notesGuideLst xmlns:p15="http://schemas.microsoft.com/office/powerpoint/2012/main">
        <p15:guide id="1" orient="horz" pos="3024" userDrawn="1">
          <p15:clr>
            <a:srgbClr val="A4A3A4"/>
          </p15:clr>
        </p15:guide>
        <p15:guide id="2" pos="2304" userDrawn="1">
          <p15:clr>
            <a:srgbClr val="A4A3A4"/>
          </p15:clr>
        </p15:guide>
        <p15:guide id="3" orient="horz" pos="3123" userDrawn="1">
          <p15:clr>
            <a:srgbClr val="A4A3A4"/>
          </p15:clr>
        </p15:guide>
        <p15:guide id="4" pos="2404"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DC731AF-233F-0055-F69C-C202260E6269}" name="Anjana Elzabeth Joseph" initials="AEJ" userId="S::josepha@fortinet-us.com::17db2c0b-eea9-4331-9dda-2990a14c2322"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0" name="Ahsan Ali" initials="A A" lastIdx="37" clrIdx="0"/>
  <p:cmAuthor id="1" name="Microsoft" initials="M" lastIdx="1" clrIdx="1"/>
  <p:cmAuthor id="2" name="Robyn Kinnaird" initials="RK" lastIdx="1" clrIdx="2"/>
</p:cmAuthorLst>
</file>

<file path=ppt/presProps.xml><?xml version="1.0" encoding="utf-8"?>
<p:presentationPr xmlns:a="http://schemas.openxmlformats.org/drawingml/2006/main" xmlns:r="http://schemas.openxmlformats.org/officeDocument/2006/relationships" xmlns:p="http://schemas.openxmlformats.org/presentationml/2006/main">
  <p:prnPr prnWhat="notes"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C291E"/>
    <a:srgbClr val="86F490"/>
    <a:srgbClr val="FFFFFF"/>
    <a:srgbClr val="AD4C22"/>
    <a:srgbClr val="173D64"/>
    <a:srgbClr val="0A0A0A"/>
    <a:srgbClr val="BFBFBF"/>
    <a:srgbClr val="DADADA"/>
    <a:srgbClr val="D9D9D9"/>
    <a:srgbClr val="323E4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1E4AEA4-8DFA-4A89-87EB-49C32662AFE0}">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771" autoAdjust="0"/>
    <p:restoredTop sz="73302" autoAdjust="0"/>
  </p:normalViewPr>
  <p:slideViewPr>
    <p:cSldViewPr snapToGrid="0">
      <p:cViewPr varScale="1">
        <p:scale>
          <a:sx n="79" d="100"/>
          <a:sy n="79" d="100"/>
        </p:scale>
        <p:origin x="1650" y="78"/>
      </p:cViewPr>
      <p:guideLst>
        <p:guide orient="horz" pos="1596"/>
        <p:guide pos="2880"/>
        <p:guide orient="horz" pos="4189"/>
        <p:guide orient="horz" pos="622"/>
        <p:guide orient="horz" pos="979"/>
        <p:guide pos="3839"/>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0"/>
    </p:cViewPr>
  </p:sorterViewPr>
  <p:notesViewPr>
    <p:cSldViewPr snapToGrid="0">
      <p:cViewPr varScale="1">
        <p:scale>
          <a:sx n="79" d="100"/>
          <a:sy n="79" d="100"/>
        </p:scale>
        <p:origin x="3828" y="90"/>
      </p:cViewPr>
      <p:guideLst>
        <p:guide orient="horz" pos="3024"/>
        <p:guide pos="2304"/>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handoutMaster" Target="handoutMasters/handoutMaster1.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tags" Target="tags/tag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 Id="rId57" Type="http://schemas.microsoft.com/office/2018/10/relationships/authors" Target="author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commentAuthors" Target="commentAuthors.xml"/></Relationships>
</file>

<file path=ppt/diagrams/colors1.xml><?xml version="1.0" encoding="utf-8"?>
<dgm:colorsDef xmlns:dgm="http://schemas.openxmlformats.org/drawingml/2006/diagram" xmlns:a="http://schemas.openxmlformats.org/drawingml/2006/main" uniqueId="urn:microsoft.com/office/officeart/2005/8/colors/accent3_1">
  <dgm:title val=""/>
  <dgm:desc val=""/>
  <dgm:catLst>
    <dgm:cat type="accent3" pri="11100"/>
  </dgm:catLst>
  <dgm:styleLbl name="node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3">
        <a:shade val="80000"/>
      </a:schemeClr>
    </dgm:linClrLst>
    <dgm:effectClrLst/>
    <dgm:txLinClrLst/>
    <dgm:txFillClrLst/>
    <dgm:txEffectClrLst/>
  </dgm:styleLbl>
  <dgm:styleLbl name="node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f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align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b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dgm:txEffectClrLst/>
  </dgm:styleLbl>
  <dgm:styleLbl name="parChTrans2D2">
    <dgm:fillClrLst meth="repeat">
      <a:schemeClr val="accent3"/>
    </dgm:fillClrLst>
    <dgm:linClrLst meth="repeat">
      <a:schemeClr val="accent3"/>
    </dgm:linClrLst>
    <dgm:effectClrLst/>
    <dgm:txLinClrLst/>
    <dgm:txFillClrLst/>
    <dgm:txEffectClrLst/>
  </dgm:styleLbl>
  <dgm:styleLbl name="parChTrans2D3">
    <dgm:fillClrLst meth="repeat">
      <a:schemeClr val="accent3"/>
    </dgm:fillClrLst>
    <dgm:linClrLst meth="repeat">
      <a:schemeClr val="accent3"/>
    </dgm:linClrLst>
    <dgm:effectClrLst/>
    <dgm:txLinClrLst/>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con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align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trAlignAcc1">
    <dgm:fillClrLst meth="repeat">
      <a:schemeClr val="accent3">
        <a:alpha val="40000"/>
        <a:tint val="40000"/>
      </a:schemeClr>
    </dgm:fillClrLst>
    <dgm:linClrLst meth="repeat">
      <a:schemeClr val="accent3"/>
    </dgm:linClrLst>
    <dgm:effectClrLst/>
    <dgm:txLinClrLst/>
    <dgm:txFillClrLst meth="repeat">
      <a:schemeClr val="dk1"/>
    </dgm:txFillClrLst>
    <dgm:txEffectClrLst/>
  </dgm:styleLbl>
  <dgm:styleLbl name="b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fgAcc0">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2">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3">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4">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1">
  <dgm:title val=""/>
  <dgm:desc val=""/>
  <dgm:catLst>
    <dgm:cat type="accent3" pri="11100"/>
  </dgm:catLst>
  <dgm:styleLbl name="node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3">
        <a:shade val="80000"/>
      </a:schemeClr>
    </dgm:linClrLst>
    <dgm:effectClrLst/>
    <dgm:txLinClrLst/>
    <dgm:txFillClrLst/>
    <dgm:txEffectClrLst/>
  </dgm:styleLbl>
  <dgm:styleLbl name="node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f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align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b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dgm:txEffectClrLst/>
  </dgm:styleLbl>
  <dgm:styleLbl name="parChTrans2D2">
    <dgm:fillClrLst meth="repeat">
      <a:schemeClr val="accent3"/>
    </dgm:fillClrLst>
    <dgm:linClrLst meth="repeat">
      <a:schemeClr val="accent3"/>
    </dgm:linClrLst>
    <dgm:effectClrLst/>
    <dgm:txLinClrLst/>
    <dgm:txFillClrLst/>
    <dgm:txEffectClrLst/>
  </dgm:styleLbl>
  <dgm:styleLbl name="parChTrans2D3">
    <dgm:fillClrLst meth="repeat">
      <a:schemeClr val="accent3"/>
    </dgm:fillClrLst>
    <dgm:linClrLst meth="repeat">
      <a:schemeClr val="accent3"/>
    </dgm:linClrLst>
    <dgm:effectClrLst/>
    <dgm:txLinClrLst/>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con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align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trAlignAcc1">
    <dgm:fillClrLst meth="repeat">
      <a:schemeClr val="accent3">
        <a:alpha val="40000"/>
        <a:tint val="40000"/>
      </a:schemeClr>
    </dgm:fillClrLst>
    <dgm:linClrLst meth="repeat">
      <a:schemeClr val="accent3"/>
    </dgm:linClrLst>
    <dgm:effectClrLst/>
    <dgm:txLinClrLst/>
    <dgm:txFillClrLst meth="repeat">
      <a:schemeClr val="dk1"/>
    </dgm:txFillClrLst>
    <dgm:txEffectClrLst/>
  </dgm:styleLbl>
  <dgm:styleLbl name="b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fgAcc0">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2">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3">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4">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3_1">
  <dgm:title val=""/>
  <dgm:desc val=""/>
  <dgm:catLst>
    <dgm:cat type="accent3" pri="11100"/>
  </dgm:catLst>
  <dgm:styleLbl name="node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3">
        <a:shade val="80000"/>
      </a:schemeClr>
    </dgm:linClrLst>
    <dgm:effectClrLst/>
    <dgm:txLinClrLst/>
    <dgm:txFillClrLst/>
    <dgm:txEffectClrLst/>
  </dgm:styleLbl>
  <dgm:styleLbl name="node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f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align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b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dgm:txEffectClrLst/>
  </dgm:styleLbl>
  <dgm:styleLbl name="parChTrans2D2">
    <dgm:fillClrLst meth="repeat">
      <a:schemeClr val="accent3"/>
    </dgm:fillClrLst>
    <dgm:linClrLst meth="repeat">
      <a:schemeClr val="accent3"/>
    </dgm:linClrLst>
    <dgm:effectClrLst/>
    <dgm:txLinClrLst/>
    <dgm:txFillClrLst/>
    <dgm:txEffectClrLst/>
  </dgm:styleLbl>
  <dgm:styleLbl name="parChTrans2D3">
    <dgm:fillClrLst meth="repeat">
      <a:schemeClr val="accent3"/>
    </dgm:fillClrLst>
    <dgm:linClrLst meth="repeat">
      <a:schemeClr val="accent3"/>
    </dgm:linClrLst>
    <dgm:effectClrLst/>
    <dgm:txLinClrLst/>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con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align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trAlignAcc1">
    <dgm:fillClrLst meth="repeat">
      <a:schemeClr val="accent3">
        <a:alpha val="40000"/>
        <a:tint val="40000"/>
      </a:schemeClr>
    </dgm:fillClrLst>
    <dgm:linClrLst meth="repeat">
      <a:schemeClr val="accent3"/>
    </dgm:linClrLst>
    <dgm:effectClrLst/>
    <dgm:txLinClrLst/>
    <dgm:txFillClrLst meth="repeat">
      <a:schemeClr val="dk1"/>
    </dgm:txFillClrLst>
    <dgm:txEffectClrLst/>
  </dgm:styleLbl>
  <dgm:styleLbl name="b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fgAcc0">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2">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3">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4">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3_1">
  <dgm:title val=""/>
  <dgm:desc val=""/>
  <dgm:catLst>
    <dgm:cat type="accent3" pri="11100"/>
  </dgm:catLst>
  <dgm:styleLbl name="node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3">
        <a:shade val="80000"/>
      </a:schemeClr>
    </dgm:linClrLst>
    <dgm:effectClrLst/>
    <dgm:txLinClrLst/>
    <dgm:txFillClrLst/>
    <dgm:txEffectClrLst/>
  </dgm:styleLbl>
  <dgm:styleLbl name="node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f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align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b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dgm:txEffectClrLst/>
  </dgm:styleLbl>
  <dgm:styleLbl name="parChTrans2D2">
    <dgm:fillClrLst meth="repeat">
      <a:schemeClr val="accent3"/>
    </dgm:fillClrLst>
    <dgm:linClrLst meth="repeat">
      <a:schemeClr val="accent3"/>
    </dgm:linClrLst>
    <dgm:effectClrLst/>
    <dgm:txLinClrLst/>
    <dgm:txFillClrLst/>
    <dgm:txEffectClrLst/>
  </dgm:styleLbl>
  <dgm:styleLbl name="parChTrans2D3">
    <dgm:fillClrLst meth="repeat">
      <a:schemeClr val="accent3"/>
    </dgm:fillClrLst>
    <dgm:linClrLst meth="repeat">
      <a:schemeClr val="accent3"/>
    </dgm:linClrLst>
    <dgm:effectClrLst/>
    <dgm:txLinClrLst/>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con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align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trAlignAcc1">
    <dgm:fillClrLst meth="repeat">
      <a:schemeClr val="accent3">
        <a:alpha val="40000"/>
        <a:tint val="40000"/>
      </a:schemeClr>
    </dgm:fillClrLst>
    <dgm:linClrLst meth="repeat">
      <a:schemeClr val="accent3"/>
    </dgm:linClrLst>
    <dgm:effectClrLst/>
    <dgm:txLinClrLst/>
    <dgm:txFillClrLst meth="repeat">
      <a:schemeClr val="dk1"/>
    </dgm:txFillClrLst>
    <dgm:txEffectClrLst/>
  </dgm:styleLbl>
  <dgm:styleLbl name="b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fgAcc0">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2">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3">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4">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3_1">
  <dgm:title val=""/>
  <dgm:desc val=""/>
  <dgm:catLst>
    <dgm:cat type="accent3" pri="11100"/>
  </dgm:catLst>
  <dgm:styleLbl name="node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3">
        <a:shade val="80000"/>
      </a:schemeClr>
    </dgm:linClrLst>
    <dgm:effectClrLst/>
    <dgm:txLinClrLst/>
    <dgm:txFillClrLst/>
    <dgm:txEffectClrLst/>
  </dgm:styleLbl>
  <dgm:styleLbl name="node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f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align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b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dgm:txEffectClrLst/>
  </dgm:styleLbl>
  <dgm:styleLbl name="parChTrans2D2">
    <dgm:fillClrLst meth="repeat">
      <a:schemeClr val="accent3"/>
    </dgm:fillClrLst>
    <dgm:linClrLst meth="repeat">
      <a:schemeClr val="accent3"/>
    </dgm:linClrLst>
    <dgm:effectClrLst/>
    <dgm:txLinClrLst/>
    <dgm:txFillClrLst/>
    <dgm:txEffectClrLst/>
  </dgm:styleLbl>
  <dgm:styleLbl name="parChTrans2D3">
    <dgm:fillClrLst meth="repeat">
      <a:schemeClr val="accent3"/>
    </dgm:fillClrLst>
    <dgm:linClrLst meth="repeat">
      <a:schemeClr val="accent3"/>
    </dgm:linClrLst>
    <dgm:effectClrLst/>
    <dgm:txLinClrLst/>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con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align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trAlignAcc1">
    <dgm:fillClrLst meth="repeat">
      <a:schemeClr val="accent3">
        <a:alpha val="40000"/>
        <a:tint val="40000"/>
      </a:schemeClr>
    </dgm:fillClrLst>
    <dgm:linClrLst meth="repeat">
      <a:schemeClr val="accent3"/>
    </dgm:linClrLst>
    <dgm:effectClrLst/>
    <dgm:txLinClrLst/>
    <dgm:txFillClrLst meth="repeat">
      <a:schemeClr val="dk1"/>
    </dgm:txFillClrLst>
    <dgm:txEffectClrLst/>
  </dgm:styleLbl>
  <dgm:styleLbl name="b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fgAcc0">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2">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3">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4">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043F5CB-BC5D-4A11-AB32-2960081BEC2E}" type="doc">
      <dgm:prSet loTypeId="urn:microsoft.com/office/officeart/2008/layout/VerticalCurvedList" loCatId="list" qsTypeId="urn:microsoft.com/office/officeart/2005/8/quickstyle/simple1" qsCatId="simple" csTypeId="urn:microsoft.com/office/officeart/2005/8/colors/accent3_1" csCatId="accent3" phldr="1"/>
      <dgm:spPr/>
      <dgm:t>
        <a:bodyPr/>
        <a:lstStyle/>
        <a:p>
          <a:endParaRPr lang="en-CA"/>
        </a:p>
      </dgm:t>
    </dgm:pt>
    <dgm:pt modelId="{A5A548B3-6AC7-4528-ADEB-4C80B2EB9FE1}">
      <dgm:prSet phldrT="[Text]"/>
      <dgm:spPr/>
      <dgm:t>
        <a:bodyPr/>
        <a:lstStyle/>
        <a:p>
          <a:r>
            <a:rPr lang="en-CA" dirty="0"/>
            <a:t>Firewall Policies</a:t>
          </a:r>
        </a:p>
      </dgm:t>
    </dgm:pt>
    <dgm:pt modelId="{1635DA8A-138F-48A1-9C85-52947E284BC8}" type="parTrans" cxnId="{91CDDA45-F03D-4B20-B354-C78068DC480D}">
      <dgm:prSet/>
      <dgm:spPr/>
      <dgm:t>
        <a:bodyPr/>
        <a:lstStyle/>
        <a:p>
          <a:endParaRPr lang="en-CA"/>
        </a:p>
      </dgm:t>
    </dgm:pt>
    <dgm:pt modelId="{5B1B9221-1044-403A-81A4-A41C0E0449B9}" type="sibTrans" cxnId="{91CDDA45-F03D-4B20-B354-C78068DC480D}">
      <dgm:prSet/>
      <dgm:spPr/>
      <dgm:t>
        <a:bodyPr/>
        <a:lstStyle/>
        <a:p>
          <a:endParaRPr lang="en-CA"/>
        </a:p>
      </dgm:t>
    </dgm:pt>
    <dgm:pt modelId="{5E715238-0243-4B0E-84F0-3572BED2843B}">
      <dgm:prSet phldrT="[Text]"/>
      <dgm:spPr/>
      <dgm:t>
        <a:bodyPr/>
        <a:lstStyle/>
        <a:p>
          <a:r>
            <a:rPr lang="en-CA" dirty="0"/>
            <a:t>Configuring Firewall Policies</a:t>
          </a:r>
        </a:p>
      </dgm:t>
    </dgm:pt>
    <dgm:pt modelId="{37C7220A-1F26-46EF-B19E-0F6F41572631}" type="parTrans" cxnId="{933FC1C8-14D2-45E6-9D75-DFEE73C4AF3D}">
      <dgm:prSet/>
      <dgm:spPr/>
      <dgm:t>
        <a:bodyPr/>
        <a:lstStyle/>
        <a:p>
          <a:endParaRPr lang="en-CA"/>
        </a:p>
      </dgm:t>
    </dgm:pt>
    <dgm:pt modelId="{18820F0F-724D-4DC1-9209-8C14E64BDBE5}" type="sibTrans" cxnId="{933FC1C8-14D2-45E6-9D75-DFEE73C4AF3D}">
      <dgm:prSet/>
      <dgm:spPr/>
      <dgm:t>
        <a:bodyPr/>
        <a:lstStyle/>
        <a:p>
          <a:endParaRPr lang="en-CA"/>
        </a:p>
      </dgm:t>
    </dgm:pt>
    <dgm:pt modelId="{310E8F2C-89DE-4BA5-97DA-F646BC52F749}">
      <dgm:prSet phldrT="[Text]"/>
      <dgm:spPr/>
      <dgm:t>
        <a:bodyPr/>
        <a:lstStyle/>
        <a:p>
          <a:r>
            <a:rPr lang="en-CA" dirty="0"/>
            <a:t>Managing Firewall Policies</a:t>
          </a:r>
        </a:p>
      </dgm:t>
    </dgm:pt>
    <dgm:pt modelId="{CE5653AB-9867-430F-83A4-4D43B9255EAA}" type="parTrans" cxnId="{873FB72E-8684-4E1F-A702-6347BB0BAFE6}">
      <dgm:prSet/>
      <dgm:spPr/>
      <dgm:t>
        <a:bodyPr/>
        <a:lstStyle/>
        <a:p>
          <a:endParaRPr lang="en-CA"/>
        </a:p>
      </dgm:t>
    </dgm:pt>
    <dgm:pt modelId="{AB853960-23F8-4467-9195-EBC196F92A59}" type="sibTrans" cxnId="{873FB72E-8684-4E1F-A702-6347BB0BAFE6}">
      <dgm:prSet/>
      <dgm:spPr/>
      <dgm:t>
        <a:bodyPr/>
        <a:lstStyle/>
        <a:p>
          <a:endParaRPr lang="en-CA"/>
        </a:p>
      </dgm:t>
    </dgm:pt>
    <dgm:pt modelId="{06E6807D-080D-4E89-A439-4AF435BF088B}">
      <dgm:prSet/>
      <dgm:spPr/>
      <dgm:t>
        <a:bodyPr/>
        <a:lstStyle/>
        <a:p>
          <a:r>
            <a:rPr lang="en-CA" dirty="0"/>
            <a:t>Best Practices and Troubleshooting</a:t>
          </a:r>
        </a:p>
      </dgm:t>
    </dgm:pt>
    <dgm:pt modelId="{D32E3D5F-AE6D-49CE-BC3F-5452764B91DE}" type="parTrans" cxnId="{03A8153F-010C-4B35-A360-7F21EE16794D}">
      <dgm:prSet/>
      <dgm:spPr/>
      <dgm:t>
        <a:bodyPr/>
        <a:lstStyle/>
        <a:p>
          <a:endParaRPr lang="en-CA"/>
        </a:p>
      </dgm:t>
    </dgm:pt>
    <dgm:pt modelId="{C748F5BF-0AE4-448C-AD63-A82F391F0106}" type="sibTrans" cxnId="{03A8153F-010C-4B35-A360-7F21EE16794D}">
      <dgm:prSet/>
      <dgm:spPr/>
      <dgm:t>
        <a:bodyPr/>
        <a:lstStyle/>
        <a:p>
          <a:endParaRPr lang="en-CA"/>
        </a:p>
      </dgm:t>
    </dgm:pt>
    <dgm:pt modelId="{3FB16CE5-CAA2-4957-8C7B-4DB8F06B5FE6}" type="pres">
      <dgm:prSet presAssocID="{D043F5CB-BC5D-4A11-AB32-2960081BEC2E}" presName="Name0" presStyleCnt="0">
        <dgm:presLayoutVars>
          <dgm:chMax val="7"/>
          <dgm:chPref val="7"/>
          <dgm:dir/>
        </dgm:presLayoutVars>
      </dgm:prSet>
      <dgm:spPr/>
    </dgm:pt>
    <dgm:pt modelId="{741DC565-FE42-4ACF-8359-44981FFC1B12}" type="pres">
      <dgm:prSet presAssocID="{D043F5CB-BC5D-4A11-AB32-2960081BEC2E}" presName="Name1" presStyleCnt="0"/>
      <dgm:spPr/>
    </dgm:pt>
    <dgm:pt modelId="{006628EE-2672-4E73-AF80-C2FA6DA0F245}" type="pres">
      <dgm:prSet presAssocID="{D043F5CB-BC5D-4A11-AB32-2960081BEC2E}" presName="cycle" presStyleCnt="0"/>
      <dgm:spPr/>
    </dgm:pt>
    <dgm:pt modelId="{83CBCA6B-4523-45AB-8C5C-5DCAC4D94B22}" type="pres">
      <dgm:prSet presAssocID="{D043F5CB-BC5D-4A11-AB32-2960081BEC2E}" presName="srcNode" presStyleLbl="node1" presStyleIdx="0" presStyleCnt="4"/>
      <dgm:spPr/>
    </dgm:pt>
    <dgm:pt modelId="{D593A696-9230-4ACA-9D52-83E05F9F38F7}" type="pres">
      <dgm:prSet presAssocID="{D043F5CB-BC5D-4A11-AB32-2960081BEC2E}" presName="conn" presStyleLbl="parChTrans1D2" presStyleIdx="0" presStyleCnt="1"/>
      <dgm:spPr/>
    </dgm:pt>
    <dgm:pt modelId="{2CD41FF4-48CE-42E3-8206-C4D806851A54}" type="pres">
      <dgm:prSet presAssocID="{D043F5CB-BC5D-4A11-AB32-2960081BEC2E}" presName="extraNode" presStyleLbl="node1" presStyleIdx="0" presStyleCnt="4"/>
      <dgm:spPr/>
    </dgm:pt>
    <dgm:pt modelId="{BC70810A-B28C-4236-8A87-6A2163164CC9}" type="pres">
      <dgm:prSet presAssocID="{D043F5CB-BC5D-4A11-AB32-2960081BEC2E}" presName="dstNode" presStyleLbl="node1" presStyleIdx="0" presStyleCnt="4"/>
      <dgm:spPr/>
    </dgm:pt>
    <dgm:pt modelId="{4F10BD40-3D78-480D-9C3C-DEEAA6B532C0}" type="pres">
      <dgm:prSet presAssocID="{A5A548B3-6AC7-4528-ADEB-4C80B2EB9FE1}" presName="text_1" presStyleLbl="node1" presStyleIdx="0" presStyleCnt="4">
        <dgm:presLayoutVars>
          <dgm:bulletEnabled val="1"/>
        </dgm:presLayoutVars>
      </dgm:prSet>
      <dgm:spPr/>
    </dgm:pt>
    <dgm:pt modelId="{35D0FE1D-F306-4BA6-BA98-7A522EF93A6B}" type="pres">
      <dgm:prSet presAssocID="{A5A548B3-6AC7-4528-ADEB-4C80B2EB9FE1}" presName="accent_1" presStyleCnt="0"/>
      <dgm:spPr/>
    </dgm:pt>
    <dgm:pt modelId="{9538A860-37A9-47C9-89B1-15B5ED1C3C45}" type="pres">
      <dgm:prSet presAssocID="{A5A548B3-6AC7-4528-ADEB-4C80B2EB9FE1}" presName="accentRepeatNode" presStyleLbl="solidFgAcc1" presStyleIdx="0" presStyleCnt="4"/>
      <dgm:spPr/>
    </dgm:pt>
    <dgm:pt modelId="{10C2ADB5-FB0D-4752-B06B-69F09CC2A46D}" type="pres">
      <dgm:prSet presAssocID="{5E715238-0243-4B0E-84F0-3572BED2843B}" presName="text_2" presStyleLbl="node1" presStyleIdx="1" presStyleCnt="4">
        <dgm:presLayoutVars>
          <dgm:bulletEnabled val="1"/>
        </dgm:presLayoutVars>
      </dgm:prSet>
      <dgm:spPr/>
    </dgm:pt>
    <dgm:pt modelId="{C0CAC0D3-EF99-4C9D-8A19-17647A156FC1}" type="pres">
      <dgm:prSet presAssocID="{5E715238-0243-4B0E-84F0-3572BED2843B}" presName="accent_2" presStyleCnt="0"/>
      <dgm:spPr/>
    </dgm:pt>
    <dgm:pt modelId="{4878E8A0-0F62-483E-9C85-41A7D184C6F2}" type="pres">
      <dgm:prSet presAssocID="{5E715238-0243-4B0E-84F0-3572BED2843B}" presName="accentRepeatNode" presStyleLbl="solidFgAcc1" presStyleIdx="1" presStyleCnt="4"/>
      <dgm:spPr/>
    </dgm:pt>
    <dgm:pt modelId="{A63D8216-A541-4DFA-963D-37F99664E5CA}" type="pres">
      <dgm:prSet presAssocID="{310E8F2C-89DE-4BA5-97DA-F646BC52F749}" presName="text_3" presStyleLbl="node1" presStyleIdx="2" presStyleCnt="4">
        <dgm:presLayoutVars>
          <dgm:bulletEnabled val="1"/>
        </dgm:presLayoutVars>
      </dgm:prSet>
      <dgm:spPr/>
    </dgm:pt>
    <dgm:pt modelId="{0DAD6A51-E37D-47F7-9190-791ADE01403A}" type="pres">
      <dgm:prSet presAssocID="{310E8F2C-89DE-4BA5-97DA-F646BC52F749}" presName="accent_3" presStyleCnt="0"/>
      <dgm:spPr/>
    </dgm:pt>
    <dgm:pt modelId="{0B3E8BE0-A7F0-4C2D-9FEB-4C59B0782F15}" type="pres">
      <dgm:prSet presAssocID="{310E8F2C-89DE-4BA5-97DA-F646BC52F749}" presName="accentRepeatNode" presStyleLbl="solidFgAcc1" presStyleIdx="2" presStyleCnt="4"/>
      <dgm:spPr/>
    </dgm:pt>
    <dgm:pt modelId="{F0D5C52C-DE7D-4089-AE4A-0B5E73A2C228}" type="pres">
      <dgm:prSet presAssocID="{06E6807D-080D-4E89-A439-4AF435BF088B}" presName="text_4" presStyleLbl="node1" presStyleIdx="3" presStyleCnt="4">
        <dgm:presLayoutVars>
          <dgm:bulletEnabled val="1"/>
        </dgm:presLayoutVars>
      </dgm:prSet>
      <dgm:spPr/>
    </dgm:pt>
    <dgm:pt modelId="{46C6F717-69BD-4444-81C4-B0883AE05220}" type="pres">
      <dgm:prSet presAssocID="{06E6807D-080D-4E89-A439-4AF435BF088B}" presName="accent_4" presStyleCnt="0"/>
      <dgm:spPr/>
    </dgm:pt>
    <dgm:pt modelId="{DE29320D-229B-415F-AAC2-B1CB2C284E5A}" type="pres">
      <dgm:prSet presAssocID="{06E6807D-080D-4E89-A439-4AF435BF088B}" presName="accentRepeatNode" presStyleLbl="solidFgAcc1" presStyleIdx="3" presStyleCnt="4"/>
      <dgm:spPr/>
    </dgm:pt>
  </dgm:ptLst>
  <dgm:cxnLst>
    <dgm:cxn modelId="{97B94B1B-B3B6-4A3E-B94B-CD7F9F3481A9}" type="presOf" srcId="{D043F5CB-BC5D-4A11-AB32-2960081BEC2E}" destId="{3FB16CE5-CAA2-4957-8C7B-4DB8F06B5FE6}" srcOrd="0" destOrd="0" presId="urn:microsoft.com/office/officeart/2008/layout/VerticalCurvedList"/>
    <dgm:cxn modelId="{92A1351C-63F2-4EAC-984A-9CCAE0D67E1E}" type="presOf" srcId="{310E8F2C-89DE-4BA5-97DA-F646BC52F749}" destId="{A63D8216-A541-4DFA-963D-37F99664E5CA}" srcOrd="0" destOrd="0" presId="urn:microsoft.com/office/officeart/2008/layout/VerticalCurvedList"/>
    <dgm:cxn modelId="{FB14B326-0931-4927-9E4B-A5DB989A3621}" type="presOf" srcId="{5E715238-0243-4B0E-84F0-3572BED2843B}" destId="{10C2ADB5-FB0D-4752-B06B-69F09CC2A46D}" srcOrd="0" destOrd="0" presId="urn:microsoft.com/office/officeart/2008/layout/VerticalCurvedList"/>
    <dgm:cxn modelId="{873FB72E-8684-4E1F-A702-6347BB0BAFE6}" srcId="{D043F5CB-BC5D-4A11-AB32-2960081BEC2E}" destId="{310E8F2C-89DE-4BA5-97DA-F646BC52F749}" srcOrd="2" destOrd="0" parTransId="{CE5653AB-9867-430F-83A4-4D43B9255EAA}" sibTransId="{AB853960-23F8-4467-9195-EBC196F92A59}"/>
    <dgm:cxn modelId="{03A8153F-010C-4B35-A360-7F21EE16794D}" srcId="{D043F5CB-BC5D-4A11-AB32-2960081BEC2E}" destId="{06E6807D-080D-4E89-A439-4AF435BF088B}" srcOrd="3" destOrd="0" parTransId="{D32E3D5F-AE6D-49CE-BC3F-5452764B91DE}" sibTransId="{C748F5BF-0AE4-448C-AD63-A82F391F0106}"/>
    <dgm:cxn modelId="{91CDDA45-F03D-4B20-B354-C78068DC480D}" srcId="{D043F5CB-BC5D-4A11-AB32-2960081BEC2E}" destId="{A5A548B3-6AC7-4528-ADEB-4C80B2EB9FE1}" srcOrd="0" destOrd="0" parTransId="{1635DA8A-138F-48A1-9C85-52947E284BC8}" sibTransId="{5B1B9221-1044-403A-81A4-A41C0E0449B9}"/>
    <dgm:cxn modelId="{69FB1466-B596-4ED9-BF7A-8ED6550E7F1D}" type="presOf" srcId="{5B1B9221-1044-403A-81A4-A41C0E0449B9}" destId="{D593A696-9230-4ACA-9D52-83E05F9F38F7}" srcOrd="0" destOrd="0" presId="urn:microsoft.com/office/officeart/2008/layout/VerticalCurvedList"/>
    <dgm:cxn modelId="{8FDAFF5A-EA48-4A8C-A651-24FD893106D2}" type="presOf" srcId="{A5A548B3-6AC7-4528-ADEB-4C80B2EB9FE1}" destId="{4F10BD40-3D78-480D-9C3C-DEEAA6B532C0}" srcOrd="0" destOrd="0" presId="urn:microsoft.com/office/officeart/2008/layout/VerticalCurvedList"/>
    <dgm:cxn modelId="{933FC1C8-14D2-45E6-9D75-DFEE73C4AF3D}" srcId="{D043F5CB-BC5D-4A11-AB32-2960081BEC2E}" destId="{5E715238-0243-4B0E-84F0-3572BED2843B}" srcOrd="1" destOrd="0" parTransId="{37C7220A-1F26-46EF-B19E-0F6F41572631}" sibTransId="{18820F0F-724D-4DC1-9209-8C14E64BDBE5}"/>
    <dgm:cxn modelId="{A8DB15ED-37DF-4A54-A96C-78977ABAFA63}" type="presOf" srcId="{06E6807D-080D-4E89-A439-4AF435BF088B}" destId="{F0D5C52C-DE7D-4089-AE4A-0B5E73A2C228}" srcOrd="0" destOrd="0" presId="urn:microsoft.com/office/officeart/2008/layout/VerticalCurvedList"/>
    <dgm:cxn modelId="{3E36745C-3362-4D98-9EC3-11B971521220}" type="presParOf" srcId="{3FB16CE5-CAA2-4957-8C7B-4DB8F06B5FE6}" destId="{741DC565-FE42-4ACF-8359-44981FFC1B12}" srcOrd="0" destOrd="0" presId="urn:microsoft.com/office/officeart/2008/layout/VerticalCurvedList"/>
    <dgm:cxn modelId="{C88CCC78-8C68-4B7A-887E-6562F47C8AC4}" type="presParOf" srcId="{741DC565-FE42-4ACF-8359-44981FFC1B12}" destId="{006628EE-2672-4E73-AF80-C2FA6DA0F245}" srcOrd="0" destOrd="0" presId="urn:microsoft.com/office/officeart/2008/layout/VerticalCurvedList"/>
    <dgm:cxn modelId="{0659AA66-67C9-4E67-B373-6B65BF53E440}" type="presParOf" srcId="{006628EE-2672-4E73-AF80-C2FA6DA0F245}" destId="{83CBCA6B-4523-45AB-8C5C-5DCAC4D94B22}" srcOrd="0" destOrd="0" presId="urn:microsoft.com/office/officeart/2008/layout/VerticalCurvedList"/>
    <dgm:cxn modelId="{C797136F-DE45-417A-9339-9B3773B9E164}" type="presParOf" srcId="{006628EE-2672-4E73-AF80-C2FA6DA0F245}" destId="{D593A696-9230-4ACA-9D52-83E05F9F38F7}" srcOrd="1" destOrd="0" presId="urn:microsoft.com/office/officeart/2008/layout/VerticalCurvedList"/>
    <dgm:cxn modelId="{8C083F9E-1021-4C31-89B6-C7813E662CD4}" type="presParOf" srcId="{006628EE-2672-4E73-AF80-C2FA6DA0F245}" destId="{2CD41FF4-48CE-42E3-8206-C4D806851A54}" srcOrd="2" destOrd="0" presId="urn:microsoft.com/office/officeart/2008/layout/VerticalCurvedList"/>
    <dgm:cxn modelId="{26ED9EA9-9F11-4D3F-B913-C9DBA9632D66}" type="presParOf" srcId="{006628EE-2672-4E73-AF80-C2FA6DA0F245}" destId="{BC70810A-B28C-4236-8A87-6A2163164CC9}" srcOrd="3" destOrd="0" presId="urn:microsoft.com/office/officeart/2008/layout/VerticalCurvedList"/>
    <dgm:cxn modelId="{C3C703F0-4F86-47A8-A5BD-053495029775}" type="presParOf" srcId="{741DC565-FE42-4ACF-8359-44981FFC1B12}" destId="{4F10BD40-3D78-480D-9C3C-DEEAA6B532C0}" srcOrd="1" destOrd="0" presId="urn:microsoft.com/office/officeart/2008/layout/VerticalCurvedList"/>
    <dgm:cxn modelId="{FB053EE5-49D6-484C-BFEB-7A2E97AB056B}" type="presParOf" srcId="{741DC565-FE42-4ACF-8359-44981FFC1B12}" destId="{35D0FE1D-F306-4BA6-BA98-7A522EF93A6B}" srcOrd="2" destOrd="0" presId="urn:microsoft.com/office/officeart/2008/layout/VerticalCurvedList"/>
    <dgm:cxn modelId="{92B02DB2-1546-4674-86DF-4234F7B0302F}" type="presParOf" srcId="{35D0FE1D-F306-4BA6-BA98-7A522EF93A6B}" destId="{9538A860-37A9-47C9-89B1-15B5ED1C3C45}" srcOrd="0" destOrd="0" presId="urn:microsoft.com/office/officeart/2008/layout/VerticalCurvedList"/>
    <dgm:cxn modelId="{97C87ABB-BD59-4A21-BBD1-04BAC0A933F0}" type="presParOf" srcId="{741DC565-FE42-4ACF-8359-44981FFC1B12}" destId="{10C2ADB5-FB0D-4752-B06B-69F09CC2A46D}" srcOrd="3" destOrd="0" presId="urn:microsoft.com/office/officeart/2008/layout/VerticalCurvedList"/>
    <dgm:cxn modelId="{EDD25883-59C4-4048-9E28-008EF6DE3DE3}" type="presParOf" srcId="{741DC565-FE42-4ACF-8359-44981FFC1B12}" destId="{C0CAC0D3-EF99-4C9D-8A19-17647A156FC1}" srcOrd="4" destOrd="0" presId="urn:microsoft.com/office/officeart/2008/layout/VerticalCurvedList"/>
    <dgm:cxn modelId="{828E57BC-8598-425B-B56B-B8820297E65F}" type="presParOf" srcId="{C0CAC0D3-EF99-4C9D-8A19-17647A156FC1}" destId="{4878E8A0-0F62-483E-9C85-41A7D184C6F2}" srcOrd="0" destOrd="0" presId="urn:microsoft.com/office/officeart/2008/layout/VerticalCurvedList"/>
    <dgm:cxn modelId="{3C7C8D6E-985D-4526-A6D0-4C4C7CB3B4EB}" type="presParOf" srcId="{741DC565-FE42-4ACF-8359-44981FFC1B12}" destId="{A63D8216-A541-4DFA-963D-37F99664E5CA}" srcOrd="5" destOrd="0" presId="urn:microsoft.com/office/officeart/2008/layout/VerticalCurvedList"/>
    <dgm:cxn modelId="{822CFD5B-7621-4CFC-A70F-76DF6F847C82}" type="presParOf" srcId="{741DC565-FE42-4ACF-8359-44981FFC1B12}" destId="{0DAD6A51-E37D-47F7-9190-791ADE01403A}" srcOrd="6" destOrd="0" presId="urn:microsoft.com/office/officeart/2008/layout/VerticalCurvedList"/>
    <dgm:cxn modelId="{495F0821-140F-4CC7-ADD0-25FDF1A992F4}" type="presParOf" srcId="{0DAD6A51-E37D-47F7-9190-791ADE01403A}" destId="{0B3E8BE0-A7F0-4C2D-9FEB-4C59B0782F15}" srcOrd="0" destOrd="0" presId="urn:microsoft.com/office/officeart/2008/layout/VerticalCurvedList"/>
    <dgm:cxn modelId="{29D49876-3465-49F2-A61A-9C0A65F96925}" type="presParOf" srcId="{741DC565-FE42-4ACF-8359-44981FFC1B12}" destId="{F0D5C52C-DE7D-4089-AE4A-0B5E73A2C228}" srcOrd="7" destOrd="0" presId="urn:microsoft.com/office/officeart/2008/layout/VerticalCurvedList"/>
    <dgm:cxn modelId="{FC39E464-8FA7-438B-94B6-26E9D3A875AD}" type="presParOf" srcId="{741DC565-FE42-4ACF-8359-44981FFC1B12}" destId="{46C6F717-69BD-4444-81C4-B0883AE05220}" srcOrd="8" destOrd="0" presId="urn:microsoft.com/office/officeart/2008/layout/VerticalCurvedList"/>
    <dgm:cxn modelId="{F145D3B2-E71E-44D6-B848-7BAF025A511E}" type="presParOf" srcId="{46C6F717-69BD-4444-81C4-B0883AE05220}" destId="{DE29320D-229B-415F-AAC2-B1CB2C284E5A}" srcOrd="0" destOrd="0" presId="urn:microsoft.com/office/officeart/2008/layout/VerticalCurv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043F5CB-BC5D-4A11-AB32-2960081BEC2E}" type="doc">
      <dgm:prSet loTypeId="urn:microsoft.com/office/officeart/2008/layout/VerticalCurvedList" loCatId="list" qsTypeId="urn:microsoft.com/office/officeart/2005/8/quickstyle/simple1" qsCatId="simple" csTypeId="urn:microsoft.com/office/officeart/2005/8/colors/accent3_1" csCatId="accent3" phldr="1"/>
      <dgm:spPr/>
      <dgm:t>
        <a:bodyPr/>
        <a:lstStyle/>
        <a:p>
          <a:endParaRPr lang="en-CA"/>
        </a:p>
      </dgm:t>
    </dgm:pt>
    <dgm:pt modelId="{A5A548B3-6AC7-4528-ADEB-4C80B2EB9FE1}">
      <dgm:prSet phldrT="[Text]"/>
      <dgm:spPr/>
      <dgm:t>
        <a:bodyPr/>
        <a:lstStyle/>
        <a:p>
          <a:r>
            <a:rPr lang="en-CA" dirty="0"/>
            <a:t>Firewall Policies</a:t>
          </a:r>
        </a:p>
      </dgm:t>
    </dgm:pt>
    <dgm:pt modelId="{1635DA8A-138F-48A1-9C85-52947E284BC8}" type="parTrans" cxnId="{91CDDA45-F03D-4B20-B354-C78068DC480D}">
      <dgm:prSet/>
      <dgm:spPr/>
      <dgm:t>
        <a:bodyPr/>
        <a:lstStyle/>
        <a:p>
          <a:endParaRPr lang="en-CA"/>
        </a:p>
      </dgm:t>
    </dgm:pt>
    <dgm:pt modelId="{5B1B9221-1044-403A-81A4-A41C0E0449B9}" type="sibTrans" cxnId="{91CDDA45-F03D-4B20-B354-C78068DC480D}">
      <dgm:prSet/>
      <dgm:spPr/>
      <dgm:t>
        <a:bodyPr/>
        <a:lstStyle/>
        <a:p>
          <a:endParaRPr lang="en-CA"/>
        </a:p>
      </dgm:t>
    </dgm:pt>
    <dgm:pt modelId="{5E715238-0243-4B0E-84F0-3572BED2843B}">
      <dgm:prSet phldrT="[Text]"/>
      <dgm:spPr/>
      <dgm:t>
        <a:bodyPr/>
        <a:lstStyle/>
        <a:p>
          <a:r>
            <a:rPr lang="en-CA" dirty="0"/>
            <a:t>Configuring Firewall Policies</a:t>
          </a:r>
        </a:p>
      </dgm:t>
    </dgm:pt>
    <dgm:pt modelId="{37C7220A-1F26-46EF-B19E-0F6F41572631}" type="parTrans" cxnId="{933FC1C8-14D2-45E6-9D75-DFEE73C4AF3D}">
      <dgm:prSet/>
      <dgm:spPr/>
      <dgm:t>
        <a:bodyPr/>
        <a:lstStyle/>
        <a:p>
          <a:endParaRPr lang="en-CA"/>
        </a:p>
      </dgm:t>
    </dgm:pt>
    <dgm:pt modelId="{18820F0F-724D-4DC1-9209-8C14E64BDBE5}" type="sibTrans" cxnId="{933FC1C8-14D2-45E6-9D75-DFEE73C4AF3D}">
      <dgm:prSet/>
      <dgm:spPr/>
      <dgm:t>
        <a:bodyPr/>
        <a:lstStyle/>
        <a:p>
          <a:endParaRPr lang="en-CA"/>
        </a:p>
      </dgm:t>
    </dgm:pt>
    <dgm:pt modelId="{310E8F2C-89DE-4BA5-97DA-F646BC52F749}">
      <dgm:prSet phldrT="[Text]"/>
      <dgm:spPr/>
      <dgm:t>
        <a:bodyPr/>
        <a:lstStyle/>
        <a:p>
          <a:r>
            <a:rPr lang="en-CA" dirty="0"/>
            <a:t>Managing Firewall Policies</a:t>
          </a:r>
        </a:p>
      </dgm:t>
    </dgm:pt>
    <dgm:pt modelId="{CE5653AB-9867-430F-83A4-4D43B9255EAA}" type="parTrans" cxnId="{873FB72E-8684-4E1F-A702-6347BB0BAFE6}">
      <dgm:prSet/>
      <dgm:spPr/>
      <dgm:t>
        <a:bodyPr/>
        <a:lstStyle/>
        <a:p>
          <a:endParaRPr lang="en-CA"/>
        </a:p>
      </dgm:t>
    </dgm:pt>
    <dgm:pt modelId="{AB853960-23F8-4467-9195-EBC196F92A59}" type="sibTrans" cxnId="{873FB72E-8684-4E1F-A702-6347BB0BAFE6}">
      <dgm:prSet/>
      <dgm:spPr/>
      <dgm:t>
        <a:bodyPr/>
        <a:lstStyle/>
        <a:p>
          <a:endParaRPr lang="en-CA"/>
        </a:p>
      </dgm:t>
    </dgm:pt>
    <dgm:pt modelId="{06E6807D-080D-4E89-A439-4AF435BF088B}">
      <dgm:prSet/>
      <dgm:spPr/>
      <dgm:t>
        <a:bodyPr/>
        <a:lstStyle/>
        <a:p>
          <a:r>
            <a:rPr lang="en-CA" dirty="0"/>
            <a:t>Best Practices and Troubleshooting</a:t>
          </a:r>
        </a:p>
      </dgm:t>
    </dgm:pt>
    <dgm:pt modelId="{D32E3D5F-AE6D-49CE-BC3F-5452764B91DE}" type="parTrans" cxnId="{03A8153F-010C-4B35-A360-7F21EE16794D}">
      <dgm:prSet/>
      <dgm:spPr/>
      <dgm:t>
        <a:bodyPr/>
        <a:lstStyle/>
        <a:p>
          <a:endParaRPr lang="en-CA"/>
        </a:p>
      </dgm:t>
    </dgm:pt>
    <dgm:pt modelId="{C748F5BF-0AE4-448C-AD63-A82F391F0106}" type="sibTrans" cxnId="{03A8153F-010C-4B35-A360-7F21EE16794D}">
      <dgm:prSet/>
      <dgm:spPr/>
      <dgm:t>
        <a:bodyPr/>
        <a:lstStyle/>
        <a:p>
          <a:endParaRPr lang="en-CA"/>
        </a:p>
      </dgm:t>
    </dgm:pt>
    <dgm:pt modelId="{3FB16CE5-CAA2-4957-8C7B-4DB8F06B5FE6}" type="pres">
      <dgm:prSet presAssocID="{D043F5CB-BC5D-4A11-AB32-2960081BEC2E}" presName="Name0" presStyleCnt="0">
        <dgm:presLayoutVars>
          <dgm:chMax val="7"/>
          <dgm:chPref val="7"/>
          <dgm:dir/>
        </dgm:presLayoutVars>
      </dgm:prSet>
      <dgm:spPr/>
    </dgm:pt>
    <dgm:pt modelId="{741DC565-FE42-4ACF-8359-44981FFC1B12}" type="pres">
      <dgm:prSet presAssocID="{D043F5CB-BC5D-4A11-AB32-2960081BEC2E}" presName="Name1" presStyleCnt="0"/>
      <dgm:spPr/>
    </dgm:pt>
    <dgm:pt modelId="{006628EE-2672-4E73-AF80-C2FA6DA0F245}" type="pres">
      <dgm:prSet presAssocID="{D043F5CB-BC5D-4A11-AB32-2960081BEC2E}" presName="cycle" presStyleCnt="0"/>
      <dgm:spPr/>
    </dgm:pt>
    <dgm:pt modelId="{83CBCA6B-4523-45AB-8C5C-5DCAC4D94B22}" type="pres">
      <dgm:prSet presAssocID="{D043F5CB-BC5D-4A11-AB32-2960081BEC2E}" presName="srcNode" presStyleLbl="node1" presStyleIdx="0" presStyleCnt="4"/>
      <dgm:spPr/>
    </dgm:pt>
    <dgm:pt modelId="{D593A696-9230-4ACA-9D52-83E05F9F38F7}" type="pres">
      <dgm:prSet presAssocID="{D043F5CB-BC5D-4A11-AB32-2960081BEC2E}" presName="conn" presStyleLbl="parChTrans1D2" presStyleIdx="0" presStyleCnt="1"/>
      <dgm:spPr/>
    </dgm:pt>
    <dgm:pt modelId="{2CD41FF4-48CE-42E3-8206-C4D806851A54}" type="pres">
      <dgm:prSet presAssocID="{D043F5CB-BC5D-4A11-AB32-2960081BEC2E}" presName="extraNode" presStyleLbl="node1" presStyleIdx="0" presStyleCnt="4"/>
      <dgm:spPr/>
    </dgm:pt>
    <dgm:pt modelId="{BC70810A-B28C-4236-8A87-6A2163164CC9}" type="pres">
      <dgm:prSet presAssocID="{D043F5CB-BC5D-4A11-AB32-2960081BEC2E}" presName="dstNode" presStyleLbl="node1" presStyleIdx="0" presStyleCnt="4"/>
      <dgm:spPr/>
    </dgm:pt>
    <dgm:pt modelId="{4F10BD40-3D78-480D-9C3C-DEEAA6B532C0}" type="pres">
      <dgm:prSet presAssocID="{A5A548B3-6AC7-4528-ADEB-4C80B2EB9FE1}" presName="text_1" presStyleLbl="node1" presStyleIdx="0" presStyleCnt="4">
        <dgm:presLayoutVars>
          <dgm:bulletEnabled val="1"/>
        </dgm:presLayoutVars>
      </dgm:prSet>
      <dgm:spPr/>
    </dgm:pt>
    <dgm:pt modelId="{35D0FE1D-F306-4BA6-BA98-7A522EF93A6B}" type="pres">
      <dgm:prSet presAssocID="{A5A548B3-6AC7-4528-ADEB-4C80B2EB9FE1}" presName="accent_1" presStyleCnt="0"/>
      <dgm:spPr/>
    </dgm:pt>
    <dgm:pt modelId="{9538A860-37A9-47C9-89B1-15B5ED1C3C45}" type="pres">
      <dgm:prSet presAssocID="{A5A548B3-6AC7-4528-ADEB-4C80B2EB9FE1}" presName="accentRepeatNode" presStyleLbl="solidFgAcc1" presStyleIdx="0" presStyleCnt="4"/>
      <dgm:spPr/>
    </dgm:pt>
    <dgm:pt modelId="{10C2ADB5-FB0D-4752-B06B-69F09CC2A46D}" type="pres">
      <dgm:prSet presAssocID="{5E715238-0243-4B0E-84F0-3572BED2843B}" presName="text_2" presStyleLbl="node1" presStyleIdx="1" presStyleCnt="4">
        <dgm:presLayoutVars>
          <dgm:bulletEnabled val="1"/>
        </dgm:presLayoutVars>
      </dgm:prSet>
      <dgm:spPr/>
    </dgm:pt>
    <dgm:pt modelId="{C0CAC0D3-EF99-4C9D-8A19-17647A156FC1}" type="pres">
      <dgm:prSet presAssocID="{5E715238-0243-4B0E-84F0-3572BED2843B}" presName="accent_2" presStyleCnt="0"/>
      <dgm:spPr/>
    </dgm:pt>
    <dgm:pt modelId="{4878E8A0-0F62-483E-9C85-41A7D184C6F2}" type="pres">
      <dgm:prSet presAssocID="{5E715238-0243-4B0E-84F0-3572BED2843B}" presName="accentRepeatNode" presStyleLbl="solidFgAcc1" presStyleIdx="1" presStyleCnt="4"/>
      <dgm:spPr/>
    </dgm:pt>
    <dgm:pt modelId="{A63D8216-A541-4DFA-963D-37F99664E5CA}" type="pres">
      <dgm:prSet presAssocID="{310E8F2C-89DE-4BA5-97DA-F646BC52F749}" presName="text_3" presStyleLbl="node1" presStyleIdx="2" presStyleCnt="4">
        <dgm:presLayoutVars>
          <dgm:bulletEnabled val="1"/>
        </dgm:presLayoutVars>
      </dgm:prSet>
      <dgm:spPr/>
    </dgm:pt>
    <dgm:pt modelId="{0DAD6A51-E37D-47F7-9190-791ADE01403A}" type="pres">
      <dgm:prSet presAssocID="{310E8F2C-89DE-4BA5-97DA-F646BC52F749}" presName="accent_3" presStyleCnt="0"/>
      <dgm:spPr/>
    </dgm:pt>
    <dgm:pt modelId="{0B3E8BE0-A7F0-4C2D-9FEB-4C59B0782F15}" type="pres">
      <dgm:prSet presAssocID="{310E8F2C-89DE-4BA5-97DA-F646BC52F749}" presName="accentRepeatNode" presStyleLbl="solidFgAcc1" presStyleIdx="2" presStyleCnt="4"/>
      <dgm:spPr/>
    </dgm:pt>
    <dgm:pt modelId="{F0D5C52C-DE7D-4089-AE4A-0B5E73A2C228}" type="pres">
      <dgm:prSet presAssocID="{06E6807D-080D-4E89-A439-4AF435BF088B}" presName="text_4" presStyleLbl="node1" presStyleIdx="3" presStyleCnt="4">
        <dgm:presLayoutVars>
          <dgm:bulletEnabled val="1"/>
        </dgm:presLayoutVars>
      </dgm:prSet>
      <dgm:spPr/>
    </dgm:pt>
    <dgm:pt modelId="{46C6F717-69BD-4444-81C4-B0883AE05220}" type="pres">
      <dgm:prSet presAssocID="{06E6807D-080D-4E89-A439-4AF435BF088B}" presName="accent_4" presStyleCnt="0"/>
      <dgm:spPr/>
    </dgm:pt>
    <dgm:pt modelId="{DE29320D-229B-415F-AAC2-B1CB2C284E5A}" type="pres">
      <dgm:prSet presAssocID="{06E6807D-080D-4E89-A439-4AF435BF088B}" presName="accentRepeatNode" presStyleLbl="solidFgAcc1" presStyleIdx="3" presStyleCnt="4"/>
      <dgm:spPr/>
    </dgm:pt>
  </dgm:ptLst>
  <dgm:cxnLst>
    <dgm:cxn modelId="{73DA9C11-7E27-4C63-97F3-8B46BBA30FD6}" type="presOf" srcId="{5B1B9221-1044-403A-81A4-A41C0E0449B9}" destId="{D593A696-9230-4ACA-9D52-83E05F9F38F7}" srcOrd="0" destOrd="0" presId="urn:microsoft.com/office/officeart/2008/layout/VerticalCurvedList"/>
    <dgm:cxn modelId="{873FB72E-8684-4E1F-A702-6347BB0BAFE6}" srcId="{D043F5CB-BC5D-4A11-AB32-2960081BEC2E}" destId="{310E8F2C-89DE-4BA5-97DA-F646BC52F749}" srcOrd="2" destOrd="0" parTransId="{CE5653AB-9867-430F-83A4-4D43B9255EAA}" sibTransId="{AB853960-23F8-4467-9195-EBC196F92A59}"/>
    <dgm:cxn modelId="{03A8153F-010C-4B35-A360-7F21EE16794D}" srcId="{D043F5CB-BC5D-4A11-AB32-2960081BEC2E}" destId="{06E6807D-080D-4E89-A439-4AF435BF088B}" srcOrd="3" destOrd="0" parTransId="{D32E3D5F-AE6D-49CE-BC3F-5452764B91DE}" sibTransId="{C748F5BF-0AE4-448C-AD63-A82F391F0106}"/>
    <dgm:cxn modelId="{91CDDA45-F03D-4B20-B354-C78068DC480D}" srcId="{D043F5CB-BC5D-4A11-AB32-2960081BEC2E}" destId="{A5A548B3-6AC7-4528-ADEB-4C80B2EB9FE1}" srcOrd="0" destOrd="0" parTransId="{1635DA8A-138F-48A1-9C85-52947E284BC8}" sibTransId="{5B1B9221-1044-403A-81A4-A41C0E0449B9}"/>
    <dgm:cxn modelId="{DE4AE380-EBFD-4A19-8D94-C515467BE291}" type="presOf" srcId="{5E715238-0243-4B0E-84F0-3572BED2843B}" destId="{10C2ADB5-FB0D-4752-B06B-69F09CC2A46D}" srcOrd="0" destOrd="0" presId="urn:microsoft.com/office/officeart/2008/layout/VerticalCurvedList"/>
    <dgm:cxn modelId="{C4C0B183-3E50-478C-9A84-043F87CCE041}" type="presOf" srcId="{310E8F2C-89DE-4BA5-97DA-F646BC52F749}" destId="{A63D8216-A541-4DFA-963D-37F99664E5CA}" srcOrd="0" destOrd="0" presId="urn:microsoft.com/office/officeart/2008/layout/VerticalCurvedList"/>
    <dgm:cxn modelId="{191963A0-A6B5-4421-A0D6-8DEB71BB5C29}" type="presOf" srcId="{06E6807D-080D-4E89-A439-4AF435BF088B}" destId="{F0D5C52C-DE7D-4089-AE4A-0B5E73A2C228}" srcOrd="0" destOrd="0" presId="urn:microsoft.com/office/officeart/2008/layout/VerticalCurvedList"/>
    <dgm:cxn modelId="{A9A0B6B7-3DB0-474D-815D-649BAEF19783}" type="presOf" srcId="{D043F5CB-BC5D-4A11-AB32-2960081BEC2E}" destId="{3FB16CE5-CAA2-4957-8C7B-4DB8F06B5FE6}" srcOrd="0" destOrd="0" presId="urn:microsoft.com/office/officeart/2008/layout/VerticalCurvedList"/>
    <dgm:cxn modelId="{4D99EFC6-7D2C-4696-9F9A-C6EB4ABA583C}" type="presOf" srcId="{A5A548B3-6AC7-4528-ADEB-4C80B2EB9FE1}" destId="{4F10BD40-3D78-480D-9C3C-DEEAA6B532C0}" srcOrd="0" destOrd="0" presId="urn:microsoft.com/office/officeart/2008/layout/VerticalCurvedList"/>
    <dgm:cxn modelId="{933FC1C8-14D2-45E6-9D75-DFEE73C4AF3D}" srcId="{D043F5CB-BC5D-4A11-AB32-2960081BEC2E}" destId="{5E715238-0243-4B0E-84F0-3572BED2843B}" srcOrd="1" destOrd="0" parTransId="{37C7220A-1F26-46EF-B19E-0F6F41572631}" sibTransId="{18820F0F-724D-4DC1-9209-8C14E64BDBE5}"/>
    <dgm:cxn modelId="{114EC1F7-1841-4B13-9C4E-CEEE802A50F1}" type="presParOf" srcId="{3FB16CE5-CAA2-4957-8C7B-4DB8F06B5FE6}" destId="{741DC565-FE42-4ACF-8359-44981FFC1B12}" srcOrd="0" destOrd="0" presId="urn:microsoft.com/office/officeart/2008/layout/VerticalCurvedList"/>
    <dgm:cxn modelId="{8D376CBE-5277-4097-B9BC-46A614D6A276}" type="presParOf" srcId="{741DC565-FE42-4ACF-8359-44981FFC1B12}" destId="{006628EE-2672-4E73-AF80-C2FA6DA0F245}" srcOrd="0" destOrd="0" presId="urn:microsoft.com/office/officeart/2008/layout/VerticalCurvedList"/>
    <dgm:cxn modelId="{9A31B6B1-F1AC-4836-B474-C27E3BEF3ED0}" type="presParOf" srcId="{006628EE-2672-4E73-AF80-C2FA6DA0F245}" destId="{83CBCA6B-4523-45AB-8C5C-5DCAC4D94B22}" srcOrd="0" destOrd="0" presId="urn:microsoft.com/office/officeart/2008/layout/VerticalCurvedList"/>
    <dgm:cxn modelId="{3749A43C-0EE2-4F86-B949-7016624AB2A6}" type="presParOf" srcId="{006628EE-2672-4E73-AF80-C2FA6DA0F245}" destId="{D593A696-9230-4ACA-9D52-83E05F9F38F7}" srcOrd="1" destOrd="0" presId="urn:microsoft.com/office/officeart/2008/layout/VerticalCurvedList"/>
    <dgm:cxn modelId="{BD1213AE-1973-4E5E-A694-9D172207A89F}" type="presParOf" srcId="{006628EE-2672-4E73-AF80-C2FA6DA0F245}" destId="{2CD41FF4-48CE-42E3-8206-C4D806851A54}" srcOrd="2" destOrd="0" presId="urn:microsoft.com/office/officeart/2008/layout/VerticalCurvedList"/>
    <dgm:cxn modelId="{FF7633DE-F166-49A4-8339-B352777929C0}" type="presParOf" srcId="{006628EE-2672-4E73-AF80-C2FA6DA0F245}" destId="{BC70810A-B28C-4236-8A87-6A2163164CC9}" srcOrd="3" destOrd="0" presId="urn:microsoft.com/office/officeart/2008/layout/VerticalCurvedList"/>
    <dgm:cxn modelId="{E235D4C5-D27B-44B9-B891-A68EF284FED4}" type="presParOf" srcId="{741DC565-FE42-4ACF-8359-44981FFC1B12}" destId="{4F10BD40-3D78-480D-9C3C-DEEAA6B532C0}" srcOrd="1" destOrd="0" presId="urn:microsoft.com/office/officeart/2008/layout/VerticalCurvedList"/>
    <dgm:cxn modelId="{AE8AEB4E-B860-4ACD-B39D-B5D144F41A7A}" type="presParOf" srcId="{741DC565-FE42-4ACF-8359-44981FFC1B12}" destId="{35D0FE1D-F306-4BA6-BA98-7A522EF93A6B}" srcOrd="2" destOrd="0" presId="urn:microsoft.com/office/officeart/2008/layout/VerticalCurvedList"/>
    <dgm:cxn modelId="{0785B1E6-0E6D-4561-9007-BDD46C36F575}" type="presParOf" srcId="{35D0FE1D-F306-4BA6-BA98-7A522EF93A6B}" destId="{9538A860-37A9-47C9-89B1-15B5ED1C3C45}" srcOrd="0" destOrd="0" presId="urn:microsoft.com/office/officeart/2008/layout/VerticalCurvedList"/>
    <dgm:cxn modelId="{D7948B98-642A-4498-996C-75D336F2CFDC}" type="presParOf" srcId="{741DC565-FE42-4ACF-8359-44981FFC1B12}" destId="{10C2ADB5-FB0D-4752-B06B-69F09CC2A46D}" srcOrd="3" destOrd="0" presId="urn:microsoft.com/office/officeart/2008/layout/VerticalCurvedList"/>
    <dgm:cxn modelId="{CD48D061-B791-407D-BA0E-CF166C5806E8}" type="presParOf" srcId="{741DC565-FE42-4ACF-8359-44981FFC1B12}" destId="{C0CAC0D3-EF99-4C9D-8A19-17647A156FC1}" srcOrd="4" destOrd="0" presId="urn:microsoft.com/office/officeart/2008/layout/VerticalCurvedList"/>
    <dgm:cxn modelId="{FB061D5D-3E56-4784-9C74-023E04C3DF52}" type="presParOf" srcId="{C0CAC0D3-EF99-4C9D-8A19-17647A156FC1}" destId="{4878E8A0-0F62-483E-9C85-41A7D184C6F2}" srcOrd="0" destOrd="0" presId="urn:microsoft.com/office/officeart/2008/layout/VerticalCurvedList"/>
    <dgm:cxn modelId="{EACC1D28-5EBF-4411-B371-1051ECCF72FB}" type="presParOf" srcId="{741DC565-FE42-4ACF-8359-44981FFC1B12}" destId="{A63D8216-A541-4DFA-963D-37F99664E5CA}" srcOrd="5" destOrd="0" presId="urn:microsoft.com/office/officeart/2008/layout/VerticalCurvedList"/>
    <dgm:cxn modelId="{C9058600-D340-45A4-84DE-1A592B5C4F23}" type="presParOf" srcId="{741DC565-FE42-4ACF-8359-44981FFC1B12}" destId="{0DAD6A51-E37D-47F7-9190-791ADE01403A}" srcOrd="6" destOrd="0" presId="urn:microsoft.com/office/officeart/2008/layout/VerticalCurvedList"/>
    <dgm:cxn modelId="{06B55859-E704-46DC-B24A-63B4F4E9C626}" type="presParOf" srcId="{0DAD6A51-E37D-47F7-9190-791ADE01403A}" destId="{0B3E8BE0-A7F0-4C2D-9FEB-4C59B0782F15}" srcOrd="0" destOrd="0" presId="urn:microsoft.com/office/officeart/2008/layout/VerticalCurvedList"/>
    <dgm:cxn modelId="{315414B5-1C21-44AB-9711-8251B9BD9B1D}" type="presParOf" srcId="{741DC565-FE42-4ACF-8359-44981FFC1B12}" destId="{F0D5C52C-DE7D-4089-AE4A-0B5E73A2C228}" srcOrd="7" destOrd="0" presId="urn:microsoft.com/office/officeart/2008/layout/VerticalCurvedList"/>
    <dgm:cxn modelId="{6D5A056E-987A-4178-AACA-3575659C9B35}" type="presParOf" srcId="{741DC565-FE42-4ACF-8359-44981FFC1B12}" destId="{46C6F717-69BD-4444-81C4-B0883AE05220}" srcOrd="8" destOrd="0" presId="urn:microsoft.com/office/officeart/2008/layout/VerticalCurvedList"/>
    <dgm:cxn modelId="{A27F2093-9610-4F7C-BBA9-E6AF753C0CD6}" type="presParOf" srcId="{46C6F717-69BD-4444-81C4-B0883AE05220}" destId="{DE29320D-229B-415F-AAC2-B1CB2C284E5A}" srcOrd="0" destOrd="0" presId="urn:microsoft.com/office/officeart/2008/layout/VerticalCurv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043F5CB-BC5D-4A11-AB32-2960081BEC2E}" type="doc">
      <dgm:prSet loTypeId="urn:microsoft.com/office/officeart/2008/layout/VerticalCurvedList" loCatId="list" qsTypeId="urn:microsoft.com/office/officeart/2005/8/quickstyle/simple1" qsCatId="simple" csTypeId="urn:microsoft.com/office/officeart/2005/8/colors/accent3_1" csCatId="accent3" phldr="1"/>
      <dgm:spPr/>
      <dgm:t>
        <a:bodyPr/>
        <a:lstStyle/>
        <a:p>
          <a:endParaRPr lang="en-CA"/>
        </a:p>
      </dgm:t>
    </dgm:pt>
    <dgm:pt modelId="{A5A548B3-6AC7-4528-ADEB-4C80B2EB9FE1}">
      <dgm:prSet phldrT="[Text]"/>
      <dgm:spPr/>
      <dgm:t>
        <a:bodyPr/>
        <a:lstStyle/>
        <a:p>
          <a:r>
            <a:rPr lang="en-CA" dirty="0"/>
            <a:t>Firewall Policies</a:t>
          </a:r>
        </a:p>
      </dgm:t>
    </dgm:pt>
    <dgm:pt modelId="{1635DA8A-138F-48A1-9C85-52947E284BC8}" type="parTrans" cxnId="{91CDDA45-F03D-4B20-B354-C78068DC480D}">
      <dgm:prSet/>
      <dgm:spPr/>
      <dgm:t>
        <a:bodyPr/>
        <a:lstStyle/>
        <a:p>
          <a:endParaRPr lang="en-CA"/>
        </a:p>
      </dgm:t>
    </dgm:pt>
    <dgm:pt modelId="{5B1B9221-1044-403A-81A4-A41C0E0449B9}" type="sibTrans" cxnId="{91CDDA45-F03D-4B20-B354-C78068DC480D}">
      <dgm:prSet/>
      <dgm:spPr/>
      <dgm:t>
        <a:bodyPr/>
        <a:lstStyle/>
        <a:p>
          <a:endParaRPr lang="en-CA"/>
        </a:p>
      </dgm:t>
    </dgm:pt>
    <dgm:pt modelId="{5E715238-0243-4B0E-84F0-3572BED2843B}">
      <dgm:prSet phldrT="[Text]"/>
      <dgm:spPr/>
      <dgm:t>
        <a:bodyPr/>
        <a:lstStyle/>
        <a:p>
          <a:r>
            <a:rPr lang="en-CA" dirty="0"/>
            <a:t>Configuring Firewall Policies</a:t>
          </a:r>
        </a:p>
      </dgm:t>
    </dgm:pt>
    <dgm:pt modelId="{37C7220A-1F26-46EF-B19E-0F6F41572631}" type="parTrans" cxnId="{933FC1C8-14D2-45E6-9D75-DFEE73C4AF3D}">
      <dgm:prSet/>
      <dgm:spPr/>
      <dgm:t>
        <a:bodyPr/>
        <a:lstStyle/>
        <a:p>
          <a:endParaRPr lang="en-CA"/>
        </a:p>
      </dgm:t>
    </dgm:pt>
    <dgm:pt modelId="{18820F0F-724D-4DC1-9209-8C14E64BDBE5}" type="sibTrans" cxnId="{933FC1C8-14D2-45E6-9D75-DFEE73C4AF3D}">
      <dgm:prSet/>
      <dgm:spPr/>
      <dgm:t>
        <a:bodyPr/>
        <a:lstStyle/>
        <a:p>
          <a:endParaRPr lang="en-CA"/>
        </a:p>
      </dgm:t>
    </dgm:pt>
    <dgm:pt modelId="{310E8F2C-89DE-4BA5-97DA-F646BC52F749}">
      <dgm:prSet phldrT="[Text]"/>
      <dgm:spPr/>
      <dgm:t>
        <a:bodyPr/>
        <a:lstStyle/>
        <a:p>
          <a:r>
            <a:rPr lang="en-CA" dirty="0"/>
            <a:t>Managing Firewall Policies</a:t>
          </a:r>
        </a:p>
      </dgm:t>
    </dgm:pt>
    <dgm:pt modelId="{CE5653AB-9867-430F-83A4-4D43B9255EAA}" type="parTrans" cxnId="{873FB72E-8684-4E1F-A702-6347BB0BAFE6}">
      <dgm:prSet/>
      <dgm:spPr/>
      <dgm:t>
        <a:bodyPr/>
        <a:lstStyle/>
        <a:p>
          <a:endParaRPr lang="en-CA"/>
        </a:p>
      </dgm:t>
    </dgm:pt>
    <dgm:pt modelId="{AB853960-23F8-4467-9195-EBC196F92A59}" type="sibTrans" cxnId="{873FB72E-8684-4E1F-A702-6347BB0BAFE6}">
      <dgm:prSet/>
      <dgm:spPr/>
      <dgm:t>
        <a:bodyPr/>
        <a:lstStyle/>
        <a:p>
          <a:endParaRPr lang="en-CA"/>
        </a:p>
      </dgm:t>
    </dgm:pt>
    <dgm:pt modelId="{06E6807D-080D-4E89-A439-4AF435BF088B}">
      <dgm:prSet/>
      <dgm:spPr/>
      <dgm:t>
        <a:bodyPr/>
        <a:lstStyle/>
        <a:p>
          <a:r>
            <a:rPr lang="en-CA" dirty="0"/>
            <a:t>Best Practices and Troubleshooting</a:t>
          </a:r>
        </a:p>
      </dgm:t>
    </dgm:pt>
    <dgm:pt modelId="{D32E3D5F-AE6D-49CE-BC3F-5452764B91DE}" type="parTrans" cxnId="{03A8153F-010C-4B35-A360-7F21EE16794D}">
      <dgm:prSet/>
      <dgm:spPr/>
      <dgm:t>
        <a:bodyPr/>
        <a:lstStyle/>
        <a:p>
          <a:endParaRPr lang="en-CA"/>
        </a:p>
      </dgm:t>
    </dgm:pt>
    <dgm:pt modelId="{C748F5BF-0AE4-448C-AD63-A82F391F0106}" type="sibTrans" cxnId="{03A8153F-010C-4B35-A360-7F21EE16794D}">
      <dgm:prSet/>
      <dgm:spPr/>
      <dgm:t>
        <a:bodyPr/>
        <a:lstStyle/>
        <a:p>
          <a:endParaRPr lang="en-CA"/>
        </a:p>
      </dgm:t>
    </dgm:pt>
    <dgm:pt modelId="{3FB16CE5-CAA2-4957-8C7B-4DB8F06B5FE6}" type="pres">
      <dgm:prSet presAssocID="{D043F5CB-BC5D-4A11-AB32-2960081BEC2E}" presName="Name0" presStyleCnt="0">
        <dgm:presLayoutVars>
          <dgm:chMax val="7"/>
          <dgm:chPref val="7"/>
          <dgm:dir/>
        </dgm:presLayoutVars>
      </dgm:prSet>
      <dgm:spPr/>
    </dgm:pt>
    <dgm:pt modelId="{741DC565-FE42-4ACF-8359-44981FFC1B12}" type="pres">
      <dgm:prSet presAssocID="{D043F5CB-BC5D-4A11-AB32-2960081BEC2E}" presName="Name1" presStyleCnt="0"/>
      <dgm:spPr/>
    </dgm:pt>
    <dgm:pt modelId="{006628EE-2672-4E73-AF80-C2FA6DA0F245}" type="pres">
      <dgm:prSet presAssocID="{D043F5CB-BC5D-4A11-AB32-2960081BEC2E}" presName="cycle" presStyleCnt="0"/>
      <dgm:spPr/>
    </dgm:pt>
    <dgm:pt modelId="{83CBCA6B-4523-45AB-8C5C-5DCAC4D94B22}" type="pres">
      <dgm:prSet presAssocID="{D043F5CB-BC5D-4A11-AB32-2960081BEC2E}" presName="srcNode" presStyleLbl="node1" presStyleIdx="0" presStyleCnt="4"/>
      <dgm:spPr/>
    </dgm:pt>
    <dgm:pt modelId="{D593A696-9230-4ACA-9D52-83E05F9F38F7}" type="pres">
      <dgm:prSet presAssocID="{D043F5CB-BC5D-4A11-AB32-2960081BEC2E}" presName="conn" presStyleLbl="parChTrans1D2" presStyleIdx="0" presStyleCnt="1"/>
      <dgm:spPr/>
    </dgm:pt>
    <dgm:pt modelId="{2CD41FF4-48CE-42E3-8206-C4D806851A54}" type="pres">
      <dgm:prSet presAssocID="{D043F5CB-BC5D-4A11-AB32-2960081BEC2E}" presName="extraNode" presStyleLbl="node1" presStyleIdx="0" presStyleCnt="4"/>
      <dgm:spPr/>
    </dgm:pt>
    <dgm:pt modelId="{BC70810A-B28C-4236-8A87-6A2163164CC9}" type="pres">
      <dgm:prSet presAssocID="{D043F5CB-BC5D-4A11-AB32-2960081BEC2E}" presName="dstNode" presStyleLbl="node1" presStyleIdx="0" presStyleCnt="4"/>
      <dgm:spPr/>
    </dgm:pt>
    <dgm:pt modelId="{4F10BD40-3D78-480D-9C3C-DEEAA6B532C0}" type="pres">
      <dgm:prSet presAssocID="{A5A548B3-6AC7-4528-ADEB-4C80B2EB9FE1}" presName="text_1" presStyleLbl="node1" presStyleIdx="0" presStyleCnt="4">
        <dgm:presLayoutVars>
          <dgm:bulletEnabled val="1"/>
        </dgm:presLayoutVars>
      </dgm:prSet>
      <dgm:spPr/>
    </dgm:pt>
    <dgm:pt modelId="{35D0FE1D-F306-4BA6-BA98-7A522EF93A6B}" type="pres">
      <dgm:prSet presAssocID="{A5A548B3-6AC7-4528-ADEB-4C80B2EB9FE1}" presName="accent_1" presStyleCnt="0"/>
      <dgm:spPr/>
    </dgm:pt>
    <dgm:pt modelId="{9538A860-37A9-47C9-89B1-15B5ED1C3C45}" type="pres">
      <dgm:prSet presAssocID="{A5A548B3-6AC7-4528-ADEB-4C80B2EB9FE1}" presName="accentRepeatNode" presStyleLbl="solidFgAcc1" presStyleIdx="0" presStyleCnt="4"/>
      <dgm:spPr/>
    </dgm:pt>
    <dgm:pt modelId="{10C2ADB5-FB0D-4752-B06B-69F09CC2A46D}" type="pres">
      <dgm:prSet presAssocID="{5E715238-0243-4B0E-84F0-3572BED2843B}" presName="text_2" presStyleLbl="node1" presStyleIdx="1" presStyleCnt="4">
        <dgm:presLayoutVars>
          <dgm:bulletEnabled val="1"/>
        </dgm:presLayoutVars>
      </dgm:prSet>
      <dgm:spPr/>
    </dgm:pt>
    <dgm:pt modelId="{C0CAC0D3-EF99-4C9D-8A19-17647A156FC1}" type="pres">
      <dgm:prSet presAssocID="{5E715238-0243-4B0E-84F0-3572BED2843B}" presName="accent_2" presStyleCnt="0"/>
      <dgm:spPr/>
    </dgm:pt>
    <dgm:pt modelId="{4878E8A0-0F62-483E-9C85-41A7D184C6F2}" type="pres">
      <dgm:prSet presAssocID="{5E715238-0243-4B0E-84F0-3572BED2843B}" presName="accentRepeatNode" presStyleLbl="solidFgAcc1" presStyleIdx="1" presStyleCnt="4"/>
      <dgm:spPr/>
    </dgm:pt>
    <dgm:pt modelId="{A63D8216-A541-4DFA-963D-37F99664E5CA}" type="pres">
      <dgm:prSet presAssocID="{310E8F2C-89DE-4BA5-97DA-F646BC52F749}" presName="text_3" presStyleLbl="node1" presStyleIdx="2" presStyleCnt="4">
        <dgm:presLayoutVars>
          <dgm:bulletEnabled val="1"/>
        </dgm:presLayoutVars>
      </dgm:prSet>
      <dgm:spPr/>
    </dgm:pt>
    <dgm:pt modelId="{0DAD6A51-E37D-47F7-9190-791ADE01403A}" type="pres">
      <dgm:prSet presAssocID="{310E8F2C-89DE-4BA5-97DA-F646BC52F749}" presName="accent_3" presStyleCnt="0"/>
      <dgm:spPr/>
    </dgm:pt>
    <dgm:pt modelId="{0B3E8BE0-A7F0-4C2D-9FEB-4C59B0782F15}" type="pres">
      <dgm:prSet presAssocID="{310E8F2C-89DE-4BA5-97DA-F646BC52F749}" presName="accentRepeatNode" presStyleLbl="solidFgAcc1" presStyleIdx="2" presStyleCnt="4"/>
      <dgm:spPr/>
    </dgm:pt>
    <dgm:pt modelId="{F0D5C52C-DE7D-4089-AE4A-0B5E73A2C228}" type="pres">
      <dgm:prSet presAssocID="{06E6807D-080D-4E89-A439-4AF435BF088B}" presName="text_4" presStyleLbl="node1" presStyleIdx="3" presStyleCnt="4">
        <dgm:presLayoutVars>
          <dgm:bulletEnabled val="1"/>
        </dgm:presLayoutVars>
      </dgm:prSet>
      <dgm:spPr/>
    </dgm:pt>
    <dgm:pt modelId="{46C6F717-69BD-4444-81C4-B0883AE05220}" type="pres">
      <dgm:prSet presAssocID="{06E6807D-080D-4E89-A439-4AF435BF088B}" presName="accent_4" presStyleCnt="0"/>
      <dgm:spPr/>
    </dgm:pt>
    <dgm:pt modelId="{DE29320D-229B-415F-AAC2-B1CB2C284E5A}" type="pres">
      <dgm:prSet presAssocID="{06E6807D-080D-4E89-A439-4AF435BF088B}" presName="accentRepeatNode" presStyleLbl="solidFgAcc1" presStyleIdx="3" presStyleCnt="4"/>
      <dgm:spPr/>
    </dgm:pt>
  </dgm:ptLst>
  <dgm:cxnLst>
    <dgm:cxn modelId="{BA899D12-6A69-416A-A64C-CDA975A80F2C}" type="presOf" srcId="{A5A548B3-6AC7-4528-ADEB-4C80B2EB9FE1}" destId="{4F10BD40-3D78-480D-9C3C-DEEAA6B532C0}" srcOrd="0" destOrd="0" presId="urn:microsoft.com/office/officeart/2008/layout/VerticalCurvedList"/>
    <dgm:cxn modelId="{873FB72E-8684-4E1F-A702-6347BB0BAFE6}" srcId="{D043F5CB-BC5D-4A11-AB32-2960081BEC2E}" destId="{310E8F2C-89DE-4BA5-97DA-F646BC52F749}" srcOrd="2" destOrd="0" parTransId="{CE5653AB-9867-430F-83A4-4D43B9255EAA}" sibTransId="{AB853960-23F8-4467-9195-EBC196F92A59}"/>
    <dgm:cxn modelId="{03A8153F-010C-4B35-A360-7F21EE16794D}" srcId="{D043F5CB-BC5D-4A11-AB32-2960081BEC2E}" destId="{06E6807D-080D-4E89-A439-4AF435BF088B}" srcOrd="3" destOrd="0" parTransId="{D32E3D5F-AE6D-49CE-BC3F-5452764B91DE}" sibTransId="{C748F5BF-0AE4-448C-AD63-A82F391F0106}"/>
    <dgm:cxn modelId="{91CDDA45-F03D-4B20-B354-C78068DC480D}" srcId="{D043F5CB-BC5D-4A11-AB32-2960081BEC2E}" destId="{A5A548B3-6AC7-4528-ADEB-4C80B2EB9FE1}" srcOrd="0" destOrd="0" parTransId="{1635DA8A-138F-48A1-9C85-52947E284BC8}" sibTransId="{5B1B9221-1044-403A-81A4-A41C0E0449B9}"/>
    <dgm:cxn modelId="{4399A075-D024-40E5-A1DD-6B5E49755A9F}" type="presOf" srcId="{06E6807D-080D-4E89-A439-4AF435BF088B}" destId="{F0D5C52C-DE7D-4089-AE4A-0B5E73A2C228}" srcOrd="0" destOrd="0" presId="urn:microsoft.com/office/officeart/2008/layout/VerticalCurvedList"/>
    <dgm:cxn modelId="{6857C083-66E5-4A11-A8A0-1DA2BE41BFEF}" type="presOf" srcId="{310E8F2C-89DE-4BA5-97DA-F646BC52F749}" destId="{A63D8216-A541-4DFA-963D-37F99664E5CA}" srcOrd="0" destOrd="0" presId="urn:microsoft.com/office/officeart/2008/layout/VerticalCurvedList"/>
    <dgm:cxn modelId="{933FC1C8-14D2-45E6-9D75-DFEE73C4AF3D}" srcId="{D043F5CB-BC5D-4A11-AB32-2960081BEC2E}" destId="{5E715238-0243-4B0E-84F0-3572BED2843B}" srcOrd="1" destOrd="0" parTransId="{37C7220A-1F26-46EF-B19E-0F6F41572631}" sibTransId="{18820F0F-724D-4DC1-9209-8C14E64BDBE5}"/>
    <dgm:cxn modelId="{7002ADD8-8769-44FB-A458-EE16E9C76652}" type="presOf" srcId="{5B1B9221-1044-403A-81A4-A41C0E0449B9}" destId="{D593A696-9230-4ACA-9D52-83E05F9F38F7}" srcOrd="0" destOrd="0" presId="urn:microsoft.com/office/officeart/2008/layout/VerticalCurvedList"/>
    <dgm:cxn modelId="{DEA340F5-EDA8-4214-A31F-89A63F6DD7F0}" type="presOf" srcId="{D043F5CB-BC5D-4A11-AB32-2960081BEC2E}" destId="{3FB16CE5-CAA2-4957-8C7B-4DB8F06B5FE6}" srcOrd="0" destOrd="0" presId="urn:microsoft.com/office/officeart/2008/layout/VerticalCurvedList"/>
    <dgm:cxn modelId="{50CFB7F5-67FA-44DF-95ED-446AA1EA4E7A}" type="presOf" srcId="{5E715238-0243-4B0E-84F0-3572BED2843B}" destId="{10C2ADB5-FB0D-4752-B06B-69F09CC2A46D}" srcOrd="0" destOrd="0" presId="urn:microsoft.com/office/officeart/2008/layout/VerticalCurvedList"/>
    <dgm:cxn modelId="{FF9806C0-24A8-4060-AFE7-CAB8B18635DB}" type="presParOf" srcId="{3FB16CE5-CAA2-4957-8C7B-4DB8F06B5FE6}" destId="{741DC565-FE42-4ACF-8359-44981FFC1B12}" srcOrd="0" destOrd="0" presId="urn:microsoft.com/office/officeart/2008/layout/VerticalCurvedList"/>
    <dgm:cxn modelId="{EEC59071-E360-4454-A119-D654F96668C3}" type="presParOf" srcId="{741DC565-FE42-4ACF-8359-44981FFC1B12}" destId="{006628EE-2672-4E73-AF80-C2FA6DA0F245}" srcOrd="0" destOrd="0" presId="urn:microsoft.com/office/officeart/2008/layout/VerticalCurvedList"/>
    <dgm:cxn modelId="{79C008E3-2A8E-401D-86FE-B6D0952CD654}" type="presParOf" srcId="{006628EE-2672-4E73-AF80-C2FA6DA0F245}" destId="{83CBCA6B-4523-45AB-8C5C-5DCAC4D94B22}" srcOrd="0" destOrd="0" presId="urn:microsoft.com/office/officeart/2008/layout/VerticalCurvedList"/>
    <dgm:cxn modelId="{3A25E483-E700-4178-AD81-2F1DAC157B28}" type="presParOf" srcId="{006628EE-2672-4E73-AF80-C2FA6DA0F245}" destId="{D593A696-9230-4ACA-9D52-83E05F9F38F7}" srcOrd="1" destOrd="0" presId="urn:microsoft.com/office/officeart/2008/layout/VerticalCurvedList"/>
    <dgm:cxn modelId="{56DBA208-DFD2-4EB3-9B76-DC25B0DD26F7}" type="presParOf" srcId="{006628EE-2672-4E73-AF80-C2FA6DA0F245}" destId="{2CD41FF4-48CE-42E3-8206-C4D806851A54}" srcOrd="2" destOrd="0" presId="urn:microsoft.com/office/officeart/2008/layout/VerticalCurvedList"/>
    <dgm:cxn modelId="{D56129D2-22F3-4310-8D9E-133E05DF1B70}" type="presParOf" srcId="{006628EE-2672-4E73-AF80-C2FA6DA0F245}" destId="{BC70810A-B28C-4236-8A87-6A2163164CC9}" srcOrd="3" destOrd="0" presId="urn:microsoft.com/office/officeart/2008/layout/VerticalCurvedList"/>
    <dgm:cxn modelId="{BA0998F8-E918-4B7F-A16E-2CEA3C547E71}" type="presParOf" srcId="{741DC565-FE42-4ACF-8359-44981FFC1B12}" destId="{4F10BD40-3D78-480D-9C3C-DEEAA6B532C0}" srcOrd="1" destOrd="0" presId="urn:microsoft.com/office/officeart/2008/layout/VerticalCurvedList"/>
    <dgm:cxn modelId="{236A199A-D663-441E-BF96-901613EDA1ED}" type="presParOf" srcId="{741DC565-FE42-4ACF-8359-44981FFC1B12}" destId="{35D0FE1D-F306-4BA6-BA98-7A522EF93A6B}" srcOrd="2" destOrd="0" presId="urn:microsoft.com/office/officeart/2008/layout/VerticalCurvedList"/>
    <dgm:cxn modelId="{AC300652-5D98-437A-B339-B84A3D27F67A}" type="presParOf" srcId="{35D0FE1D-F306-4BA6-BA98-7A522EF93A6B}" destId="{9538A860-37A9-47C9-89B1-15B5ED1C3C45}" srcOrd="0" destOrd="0" presId="urn:microsoft.com/office/officeart/2008/layout/VerticalCurvedList"/>
    <dgm:cxn modelId="{2C607354-494D-4111-A432-B3DC89AEF6FE}" type="presParOf" srcId="{741DC565-FE42-4ACF-8359-44981FFC1B12}" destId="{10C2ADB5-FB0D-4752-B06B-69F09CC2A46D}" srcOrd="3" destOrd="0" presId="urn:microsoft.com/office/officeart/2008/layout/VerticalCurvedList"/>
    <dgm:cxn modelId="{5FD47DAB-641F-42AF-BBF1-83975041C4B1}" type="presParOf" srcId="{741DC565-FE42-4ACF-8359-44981FFC1B12}" destId="{C0CAC0D3-EF99-4C9D-8A19-17647A156FC1}" srcOrd="4" destOrd="0" presId="urn:microsoft.com/office/officeart/2008/layout/VerticalCurvedList"/>
    <dgm:cxn modelId="{6C7DD1CE-7756-4C57-ADAA-BC67E907601C}" type="presParOf" srcId="{C0CAC0D3-EF99-4C9D-8A19-17647A156FC1}" destId="{4878E8A0-0F62-483E-9C85-41A7D184C6F2}" srcOrd="0" destOrd="0" presId="urn:microsoft.com/office/officeart/2008/layout/VerticalCurvedList"/>
    <dgm:cxn modelId="{3C061F95-DE0C-415A-B478-78AC8244A6FE}" type="presParOf" srcId="{741DC565-FE42-4ACF-8359-44981FFC1B12}" destId="{A63D8216-A541-4DFA-963D-37F99664E5CA}" srcOrd="5" destOrd="0" presId="urn:microsoft.com/office/officeart/2008/layout/VerticalCurvedList"/>
    <dgm:cxn modelId="{B1F94735-07C9-40CE-BB9C-799282F242CE}" type="presParOf" srcId="{741DC565-FE42-4ACF-8359-44981FFC1B12}" destId="{0DAD6A51-E37D-47F7-9190-791ADE01403A}" srcOrd="6" destOrd="0" presId="urn:microsoft.com/office/officeart/2008/layout/VerticalCurvedList"/>
    <dgm:cxn modelId="{789594C5-CABB-495E-BDA2-0BE92248403B}" type="presParOf" srcId="{0DAD6A51-E37D-47F7-9190-791ADE01403A}" destId="{0B3E8BE0-A7F0-4C2D-9FEB-4C59B0782F15}" srcOrd="0" destOrd="0" presId="urn:microsoft.com/office/officeart/2008/layout/VerticalCurvedList"/>
    <dgm:cxn modelId="{37DF9FEC-69C5-453C-AC30-DF64556E2467}" type="presParOf" srcId="{741DC565-FE42-4ACF-8359-44981FFC1B12}" destId="{F0D5C52C-DE7D-4089-AE4A-0B5E73A2C228}" srcOrd="7" destOrd="0" presId="urn:microsoft.com/office/officeart/2008/layout/VerticalCurvedList"/>
    <dgm:cxn modelId="{B980F691-C0D7-400B-8329-93E64958D38B}" type="presParOf" srcId="{741DC565-FE42-4ACF-8359-44981FFC1B12}" destId="{46C6F717-69BD-4444-81C4-B0883AE05220}" srcOrd="8" destOrd="0" presId="urn:microsoft.com/office/officeart/2008/layout/VerticalCurvedList"/>
    <dgm:cxn modelId="{E6158C36-8562-4A08-93A6-DC3FC45DAD1A}" type="presParOf" srcId="{46C6F717-69BD-4444-81C4-B0883AE05220}" destId="{DE29320D-229B-415F-AAC2-B1CB2C284E5A}" srcOrd="0" destOrd="0" presId="urn:microsoft.com/office/officeart/2008/layout/VerticalCurv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043F5CB-BC5D-4A11-AB32-2960081BEC2E}" type="doc">
      <dgm:prSet loTypeId="urn:microsoft.com/office/officeart/2008/layout/VerticalCurvedList" loCatId="list" qsTypeId="urn:microsoft.com/office/officeart/2005/8/quickstyle/simple1" qsCatId="simple" csTypeId="urn:microsoft.com/office/officeart/2005/8/colors/accent3_1" csCatId="accent3" phldr="1"/>
      <dgm:spPr/>
      <dgm:t>
        <a:bodyPr/>
        <a:lstStyle/>
        <a:p>
          <a:endParaRPr lang="en-CA"/>
        </a:p>
      </dgm:t>
    </dgm:pt>
    <dgm:pt modelId="{A5A548B3-6AC7-4528-ADEB-4C80B2EB9FE1}">
      <dgm:prSet phldrT="[Text]"/>
      <dgm:spPr/>
      <dgm:t>
        <a:bodyPr/>
        <a:lstStyle/>
        <a:p>
          <a:r>
            <a:rPr lang="en-CA" dirty="0"/>
            <a:t>Firewall Policies</a:t>
          </a:r>
        </a:p>
      </dgm:t>
    </dgm:pt>
    <dgm:pt modelId="{1635DA8A-138F-48A1-9C85-52947E284BC8}" type="parTrans" cxnId="{91CDDA45-F03D-4B20-B354-C78068DC480D}">
      <dgm:prSet/>
      <dgm:spPr/>
      <dgm:t>
        <a:bodyPr/>
        <a:lstStyle/>
        <a:p>
          <a:endParaRPr lang="en-CA"/>
        </a:p>
      </dgm:t>
    </dgm:pt>
    <dgm:pt modelId="{5B1B9221-1044-403A-81A4-A41C0E0449B9}" type="sibTrans" cxnId="{91CDDA45-F03D-4B20-B354-C78068DC480D}">
      <dgm:prSet/>
      <dgm:spPr/>
      <dgm:t>
        <a:bodyPr/>
        <a:lstStyle/>
        <a:p>
          <a:endParaRPr lang="en-CA"/>
        </a:p>
      </dgm:t>
    </dgm:pt>
    <dgm:pt modelId="{5E715238-0243-4B0E-84F0-3572BED2843B}">
      <dgm:prSet phldrT="[Text]"/>
      <dgm:spPr/>
      <dgm:t>
        <a:bodyPr/>
        <a:lstStyle/>
        <a:p>
          <a:r>
            <a:rPr lang="en-CA" dirty="0"/>
            <a:t>Configuring Firewall Policies</a:t>
          </a:r>
        </a:p>
      </dgm:t>
    </dgm:pt>
    <dgm:pt modelId="{37C7220A-1F26-46EF-B19E-0F6F41572631}" type="parTrans" cxnId="{933FC1C8-14D2-45E6-9D75-DFEE73C4AF3D}">
      <dgm:prSet/>
      <dgm:spPr/>
      <dgm:t>
        <a:bodyPr/>
        <a:lstStyle/>
        <a:p>
          <a:endParaRPr lang="en-CA"/>
        </a:p>
      </dgm:t>
    </dgm:pt>
    <dgm:pt modelId="{18820F0F-724D-4DC1-9209-8C14E64BDBE5}" type="sibTrans" cxnId="{933FC1C8-14D2-45E6-9D75-DFEE73C4AF3D}">
      <dgm:prSet/>
      <dgm:spPr/>
      <dgm:t>
        <a:bodyPr/>
        <a:lstStyle/>
        <a:p>
          <a:endParaRPr lang="en-CA"/>
        </a:p>
      </dgm:t>
    </dgm:pt>
    <dgm:pt modelId="{310E8F2C-89DE-4BA5-97DA-F646BC52F749}">
      <dgm:prSet phldrT="[Text]"/>
      <dgm:spPr/>
      <dgm:t>
        <a:bodyPr/>
        <a:lstStyle/>
        <a:p>
          <a:r>
            <a:rPr lang="en-CA" dirty="0"/>
            <a:t>Managing Firewall Policies</a:t>
          </a:r>
        </a:p>
      </dgm:t>
    </dgm:pt>
    <dgm:pt modelId="{CE5653AB-9867-430F-83A4-4D43B9255EAA}" type="parTrans" cxnId="{873FB72E-8684-4E1F-A702-6347BB0BAFE6}">
      <dgm:prSet/>
      <dgm:spPr/>
      <dgm:t>
        <a:bodyPr/>
        <a:lstStyle/>
        <a:p>
          <a:endParaRPr lang="en-CA"/>
        </a:p>
      </dgm:t>
    </dgm:pt>
    <dgm:pt modelId="{AB853960-23F8-4467-9195-EBC196F92A59}" type="sibTrans" cxnId="{873FB72E-8684-4E1F-A702-6347BB0BAFE6}">
      <dgm:prSet/>
      <dgm:spPr/>
      <dgm:t>
        <a:bodyPr/>
        <a:lstStyle/>
        <a:p>
          <a:endParaRPr lang="en-CA"/>
        </a:p>
      </dgm:t>
    </dgm:pt>
    <dgm:pt modelId="{06E6807D-080D-4E89-A439-4AF435BF088B}">
      <dgm:prSet/>
      <dgm:spPr/>
      <dgm:t>
        <a:bodyPr/>
        <a:lstStyle/>
        <a:p>
          <a:r>
            <a:rPr lang="en-CA" dirty="0"/>
            <a:t>Best Practices and Troubleshooting</a:t>
          </a:r>
        </a:p>
      </dgm:t>
    </dgm:pt>
    <dgm:pt modelId="{D32E3D5F-AE6D-49CE-BC3F-5452764B91DE}" type="parTrans" cxnId="{03A8153F-010C-4B35-A360-7F21EE16794D}">
      <dgm:prSet/>
      <dgm:spPr/>
      <dgm:t>
        <a:bodyPr/>
        <a:lstStyle/>
        <a:p>
          <a:endParaRPr lang="en-CA"/>
        </a:p>
      </dgm:t>
    </dgm:pt>
    <dgm:pt modelId="{C748F5BF-0AE4-448C-AD63-A82F391F0106}" type="sibTrans" cxnId="{03A8153F-010C-4B35-A360-7F21EE16794D}">
      <dgm:prSet/>
      <dgm:spPr/>
      <dgm:t>
        <a:bodyPr/>
        <a:lstStyle/>
        <a:p>
          <a:endParaRPr lang="en-CA"/>
        </a:p>
      </dgm:t>
    </dgm:pt>
    <dgm:pt modelId="{3FB16CE5-CAA2-4957-8C7B-4DB8F06B5FE6}" type="pres">
      <dgm:prSet presAssocID="{D043F5CB-BC5D-4A11-AB32-2960081BEC2E}" presName="Name0" presStyleCnt="0">
        <dgm:presLayoutVars>
          <dgm:chMax val="7"/>
          <dgm:chPref val="7"/>
          <dgm:dir/>
        </dgm:presLayoutVars>
      </dgm:prSet>
      <dgm:spPr/>
    </dgm:pt>
    <dgm:pt modelId="{741DC565-FE42-4ACF-8359-44981FFC1B12}" type="pres">
      <dgm:prSet presAssocID="{D043F5CB-BC5D-4A11-AB32-2960081BEC2E}" presName="Name1" presStyleCnt="0"/>
      <dgm:spPr/>
    </dgm:pt>
    <dgm:pt modelId="{006628EE-2672-4E73-AF80-C2FA6DA0F245}" type="pres">
      <dgm:prSet presAssocID="{D043F5CB-BC5D-4A11-AB32-2960081BEC2E}" presName="cycle" presStyleCnt="0"/>
      <dgm:spPr/>
    </dgm:pt>
    <dgm:pt modelId="{83CBCA6B-4523-45AB-8C5C-5DCAC4D94B22}" type="pres">
      <dgm:prSet presAssocID="{D043F5CB-BC5D-4A11-AB32-2960081BEC2E}" presName="srcNode" presStyleLbl="node1" presStyleIdx="0" presStyleCnt="4"/>
      <dgm:spPr/>
    </dgm:pt>
    <dgm:pt modelId="{D593A696-9230-4ACA-9D52-83E05F9F38F7}" type="pres">
      <dgm:prSet presAssocID="{D043F5CB-BC5D-4A11-AB32-2960081BEC2E}" presName="conn" presStyleLbl="parChTrans1D2" presStyleIdx="0" presStyleCnt="1"/>
      <dgm:spPr/>
    </dgm:pt>
    <dgm:pt modelId="{2CD41FF4-48CE-42E3-8206-C4D806851A54}" type="pres">
      <dgm:prSet presAssocID="{D043F5CB-BC5D-4A11-AB32-2960081BEC2E}" presName="extraNode" presStyleLbl="node1" presStyleIdx="0" presStyleCnt="4"/>
      <dgm:spPr/>
    </dgm:pt>
    <dgm:pt modelId="{BC70810A-B28C-4236-8A87-6A2163164CC9}" type="pres">
      <dgm:prSet presAssocID="{D043F5CB-BC5D-4A11-AB32-2960081BEC2E}" presName="dstNode" presStyleLbl="node1" presStyleIdx="0" presStyleCnt="4"/>
      <dgm:spPr/>
    </dgm:pt>
    <dgm:pt modelId="{4F10BD40-3D78-480D-9C3C-DEEAA6B532C0}" type="pres">
      <dgm:prSet presAssocID="{A5A548B3-6AC7-4528-ADEB-4C80B2EB9FE1}" presName="text_1" presStyleLbl="node1" presStyleIdx="0" presStyleCnt="4">
        <dgm:presLayoutVars>
          <dgm:bulletEnabled val="1"/>
        </dgm:presLayoutVars>
      </dgm:prSet>
      <dgm:spPr/>
    </dgm:pt>
    <dgm:pt modelId="{35D0FE1D-F306-4BA6-BA98-7A522EF93A6B}" type="pres">
      <dgm:prSet presAssocID="{A5A548B3-6AC7-4528-ADEB-4C80B2EB9FE1}" presName="accent_1" presStyleCnt="0"/>
      <dgm:spPr/>
    </dgm:pt>
    <dgm:pt modelId="{9538A860-37A9-47C9-89B1-15B5ED1C3C45}" type="pres">
      <dgm:prSet presAssocID="{A5A548B3-6AC7-4528-ADEB-4C80B2EB9FE1}" presName="accentRepeatNode" presStyleLbl="solidFgAcc1" presStyleIdx="0" presStyleCnt="4"/>
      <dgm:spPr/>
    </dgm:pt>
    <dgm:pt modelId="{10C2ADB5-FB0D-4752-B06B-69F09CC2A46D}" type="pres">
      <dgm:prSet presAssocID="{5E715238-0243-4B0E-84F0-3572BED2843B}" presName="text_2" presStyleLbl="node1" presStyleIdx="1" presStyleCnt="4">
        <dgm:presLayoutVars>
          <dgm:bulletEnabled val="1"/>
        </dgm:presLayoutVars>
      </dgm:prSet>
      <dgm:spPr/>
    </dgm:pt>
    <dgm:pt modelId="{C0CAC0D3-EF99-4C9D-8A19-17647A156FC1}" type="pres">
      <dgm:prSet presAssocID="{5E715238-0243-4B0E-84F0-3572BED2843B}" presName="accent_2" presStyleCnt="0"/>
      <dgm:spPr/>
    </dgm:pt>
    <dgm:pt modelId="{4878E8A0-0F62-483E-9C85-41A7D184C6F2}" type="pres">
      <dgm:prSet presAssocID="{5E715238-0243-4B0E-84F0-3572BED2843B}" presName="accentRepeatNode" presStyleLbl="solidFgAcc1" presStyleIdx="1" presStyleCnt="4"/>
      <dgm:spPr/>
    </dgm:pt>
    <dgm:pt modelId="{A63D8216-A541-4DFA-963D-37F99664E5CA}" type="pres">
      <dgm:prSet presAssocID="{310E8F2C-89DE-4BA5-97DA-F646BC52F749}" presName="text_3" presStyleLbl="node1" presStyleIdx="2" presStyleCnt="4">
        <dgm:presLayoutVars>
          <dgm:bulletEnabled val="1"/>
        </dgm:presLayoutVars>
      </dgm:prSet>
      <dgm:spPr/>
    </dgm:pt>
    <dgm:pt modelId="{0DAD6A51-E37D-47F7-9190-791ADE01403A}" type="pres">
      <dgm:prSet presAssocID="{310E8F2C-89DE-4BA5-97DA-F646BC52F749}" presName="accent_3" presStyleCnt="0"/>
      <dgm:spPr/>
    </dgm:pt>
    <dgm:pt modelId="{0B3E8BE0-A7F0-4C2D-9FEB-4C59B0782F15}" type="pres">
      <dgm:prSet presAssocID="{310E8F2C-89DE-4BA5-97DA-F646BC52F749}" presName="accentRepeatNode" presStyleLbl="solidFgAcc1" presStyleIdx="2" presStyleCnt="4"/>
      <dgm:spPr/>
    </dgm:pt>
    <dgm:pt modelId="{F0D5C52C-DE7D-4089-AE4A-0B5E73A2C228}" type="pres">
      <dgm:prSet presAssocID="{06E6807D-080D-4E89-A439-4AF435BF088B}" presName="text_4" presStyleLbl="node1" presStyleIdx="3" presStyleCnt="4">
        <dgm:presLayoutVars>
          <dgm:bulletEnabled val="1"/>
        </dgm:presLayoutVars>
      </dgm:prSet>
      <dgm:spPr/>
    </dgm:pt>
    <dgm:pt modelId="{46C6F717-69BD-4444-81C4-B0883AE05220}" type="pres">
      <dgm:prSet presAssocID="{06E6807D-080D-4E89-A439-4AF435BF088B}" presName="accent_4" presStyleCnt="0"/>
      <dgm:spPr/>
    </dgm:pt>
    <dgm:pt modelId="{DE29320D-229B-415F-AAC2-B1CB2C284E5A}" type="pres">
      <dgm:prSet presAssocID="{06E6807D-080D-4E89-A439-4AF435BF088B}" presName="accentRepeatNode" presStyleLbl="solidFgAcc1" presStyleIdx="3" presStyleCnt="4"/>
      <dgm:spPr/>
    </dgm:pt>
  </dgm:ptLst>
  <dgm:cxnLst>
    <dgm:cxn modelId="{32B9B41B-F6A4-4F0A-9D53-857EBE2E5AC5}" type="presOf" srcId="{06E6807D-080D-4E89-A439-4AF435BF088B}" destId="{F0D5C52C-DE7D-4089-AE4A-0B5E73A2C228}" srcOrd="0" destOrd="0" presId="urn:microsoft.com/office/officeart/2008/layout/VerticalCurvedList"/>
    <dgm:cxn modelId="{873FB72E-8684-4E1F-A702-6347BB0BAFE6}" srcId="{D043F5CB-BC5D-4A11-AB32-2960081BEC2E}" destId="{310E8F2C-89DE-4BA5-97DA-F646BC52F749}" srcOrd="2" destOrd="0" parTransId="{CE5653AB-9867-430F-83A4-4D43B9255EAA}" sibTransId="{AB853960-23F8-4467-9195-EBC196F92A59}"/>
    <dgm:cxn modelId="{03A8153F-010C-4B35-A360-7F21EE16794D}" srcId="{D043F5CB-BC5D-4A11-AB32-2960081BEC2E}" destId="{06E6807D-080D-4E89-A439-4AF435BF088B}" srcOrd="3" destOrd="0" parTransId="{D32E3D5F-AE6D-49CE-BC3F-5452764B91DE}" sibTransId="{C748F5BF-0AE4-448C-AD63-A82F391F0106}"/>
    <dgm:cxn modelId="{91CDDA45-F03D-4B20-B354-C78068DC480D}" srcId="{D043F5CB-BC5D-4A11-AB32-2960081BEC2E}" destId="{A5A548B3-6AC7-4528-ADEB-4C80B2EB9FE1}" srcOrd="0" destOrd="0" parTransId="{1635DA8A-138F-48A1-9C85-52947E284BC8}" sibTransId="{5B1B9221-1044-403A-81A4-A41C0E0449B9}"/>
    <dgm:cxn modelId="{A9D7E766-4A21-44B4-BFC2-41F18A6E8E0B}" type="presOf" srcId="{5B1B9221-1044-403A-81A4-A41C0E0449B9}" destId="{D593A696-9230-4ACA-9D52-83E05F9F38F7}" srcOrd="0" destOrd="0" presId="urn:microsoft.com/office/officeart/2008/layout/VerticalCurvedList"/>
    <dgm:cxn modelId="{783FAC6E-3765-4881-A759-B8B341116385}" type="presOf" srcId="{5E715238-0243-4B0E-84F0-3572BED2843B}" destId="{10C2ADB5-FB0D-4752-B06B-69F09CC2A46D}" srcOrd="0" destOrd="0" presId="urn:microsoft.com/office/officeart/2008/layout/VerticalCurvedList"/>
    <dgm:cxn modelId="{5EE6AC4E-5E8C-4D2C-955C-D1F3B8965433}" type="presOf" srcId="{A5A548B3-6AC7-4528-ADEB-4C80B2EB9FE1}" destId="{4F10BD40-3D78-480D-9C3C-DEEAA6B532C0}" srcOrd="0" destOrd="0" presId="urn:microsoft.com/office/officeart/2008/layout/VerticalCurvedList"/>
    <dgm:cxn modelId="{65A2C27A-BD74-46D5-9762-3D82EC39F336}" type="presOf" srcId="{310E8F2C-89DE-4BA5-97DA-F646BC52F749}" destId="{A63D8216-A541-4DFA-963D-37F99664E5CA}" srcOrd="0" destOrd="0" presId="urn:microsoft.com/office/officeart/2008/layout/VerticalCurvedList"/>
    <dgm:cxn modelId="{933FC1C8-14D2-45E6-9D75-DFEE73C4AF3D}" srcId="{D043F5CB-BC5D-4A11-AB32-2960081BEC2E}" destId="{5E715238-0243-4B0E-84F0-3572BED2843B}" srcOrd="1" destOrd="0" parTransId="{37C7220A-1F26-46EF-B19E-0F6F41572631}" sibTransId="{18820F0F-724D-4DC1-9209-8C14E64BDBE5}"/>
    <dgm:cxn modelId="{A41D56CF-983E-4C19-949D-50BE4404E95B}" type="presOf" srcId="{D043F5CB-BC5D-4A11-AB32-2960081BEC2E}" destId="{3FB16CE5-CAA2-4957-8C7B-4DB8F06B5FE6}" srcOrd="0" destOrd="0" presId="urn:microsoft.com/office/officeart/2008/layout/VerticalCurvedList"/>
    <dgm:cxn modelId="{17CBF4BA-E236-4414-8020-FD1482EDDEF6}" type="presParOf" srcId="{3FB16CE5-CAA2-4957-8C7B-4DB8F06B5FE6}" destId="{741DC565-FE42-4ACF-8359-44981FFC1B12}" srcOrd="0" destOrd="0" presId="urn:microsoft.com/office/officeart/2008/layout/VerticalCurvedList"/>
    <dgm:cxn modelId="{AC4EE53F-6C95-4EFE-87C0-191536AEDA54}" type="presParOf" srcId="{741DC565-FE42-4ACF-8359-44981FFC1B12}" destId="{006628EE-2672-4E73-AF80-C2FA6DA0F245}" srcOrd="0" destOrd="0" presId="urn:microsoft.com/office/officeart/2008/layout/VerticalCurvedList"/>
    <dgm:cxn modelId="{1772F6DE-B65C-4F0C-AB53-5E987D68631E}" type="presParOf" srcId="{006628EE-2672-4E73-AF80-C2FA6DA0F245}" destId="{83CBCA6B-4523-45AB-8C5C-5DCAC4D94B22}" srcOrd="0" destOrd="0" presId="urn:microsoft.com/office/officeart/2008/layout/VerticalCurvedList"/>
    <dgm:cxn modelId="{EFB8AD48-2401-48CC-8D70-9072B71A9E9E}" type="presParOf" srcId="{006628EE-2672-4E73-AF80-C2FA6DA0F245}" destId="{D593A696-9230-4ACA-9D52-83E05F9F38F7}" srcOrd="1" destOrd="0" presId="urn:microsoft.com/office/officeart/2008/layout/VerticalCurvedList"/>
    <dgm:cxn modelId="{B1B0FF4A-3669-431B-AD48-0FC73D05911B}" type="presParOf" srcId="{006628EE-2672-4E73-AF80-C2FA6DA0F245}" destId="{2CD41FF4-48CE-42E3-8206-C4D806851A54}" srcOrd="2" destOrd="0" presId="urn:microsoft.com/office/officeart/2008/layout/VerticalCurvedList"/>
    <dgm:cxn modelId="{C167AFA4-61AB-4679-889D-97F29D097A55}" type="presParOf" srcId="{006628EE-2672-4E73-AF80-C2FA6DA0F245}" destId="{BC70810A-B28C-4236-8A87-6A2163164CC9}" srcOrd="3" destOrd="0" presId="urn:microsoft.com/office/officeart/2008/layout/VerticalCurvedList"/>
    <dgm:cxn modelId="{E18D5FD7-18AB-4D5B-8752-006056318C0A}" type="presParOf" srcId="{741DC565-FE42-4ACF-8359-44981FFC1B12}" destId="{4F10BD40-3D78-480D-9C3C-DEEAA6B532C0}" srcOrd="1" destOrd="0" presId="urn:microsoft.com/office/officeart/2008/layout/VerticalCurvedList"/>
    <dgm:cxn modelId="{625DC3FE-1841-4A37-B39F-30A16BB2CB63}" type="presParOf" srcId="{741DC565-FE42-4ACF-8359-44981FFC1B12}" destId="{35D0FE1D-F306-4BA6-BA98-7A522EF93A6B}" srcOrd="2" destOrd="0" presId="urn:microsoft.com/office/officeart/2008/layout/VerticalCurvedList"/>
    <dgm:cxn modelId="{0330C7CB-04C1-430B-ABE1-A6B5AEC7BA05}" type="presParOf" srcId="{35D0FE1D-F306-4BA6-BA98-7A522EF93A6B}" destId="{9538A860-37A9-47C9-89B1-15B5ED1C3C45}" srcOrd="0" destOrd="0" presId="urn:microsoft.com/office/officeart/2008/layout/VerticalCurvedList"/>
    <dgm:cxn modelId="{BDD4646B-E728-49D2-BD16-5581DF605D74}" type="presParOf" srcId="{741DC565-FE42-4ACF-8359-44981FFC1B12}" destId="{10C2ADB5-FB0D-4752-B06B-69F09CC2A46D}" srcOrd="3" destOrd="0" presId="urn:microsoft.com/office/officeart/2008/layout/VerticalCurvedList"/>
    <dgm:cxn modelId="{D675CEE1-413D-41B8-9183-1F7DA352A096}" type="presParOf" srcId="{741DC565-FE42-4ACF-8359-44981FFC1B12}" destId="{C0CAC0D3-EF99-4C9D-8A19-17647A156FC1}" srcOrd="4" destOrd="0" presId="urn:microsoft.com/office/officeart/2008/layout/VerticalCurvedList"/>
    <dgm:cxn modelId="{63C1E09B-2A6C-41CF-AF90-E2FCE3D46447}" type="presParOf" srcId="{C0CAC0D3-EF99-4C9D-8A19-17647A156FC1}" destId="{4878E8A0-0F62-483E-9C85-41A7D184C6F2}" srcOrd="0" destOrd="0" presId="urn:microsoft.com/office/officeart/2008/layout/VerticalCurvedList"/>
    <dgm:cxn modelId="{6D803CF1-7EF7-475E-A4E7-0B0CE0A7DFE2}" type="presParOf" srcId="{741DC565-FE42-4ACF-8359-44981FFC1B12}" destId="{A63D8216-A541-4DFA-963D-37F99664E5CA}" srcOrd="5" destOrd="0" presId="urn:microsoft.com/office/officeart/2008/layout/VerticalCurvedList"/>
    <dgm:cxn modelId="{53EAB6C8-4273-4DB2-A768-AEEF7866E7D1}" type="presParOf" srcId="{741DC565-FE42-4ACF-8359-44981FFC1B12}" destId="{0DAD6A51-E37D-47F7-9190-791ADE01403A}" srcOrd="6" destOrd="0" presId="urn:microsoft.com/office/officeart/2008/layout/VerticalCurvedList"/>
    <dgm:cxn modelId="{B3B08AAE-008D-44C7-A931-4EDF00BE5118}" type="presParOf" srcId="{0DAD6A51-E37D-47F7-9190-791ADE01403A}" destId="{0B3E8BE0-A7F0-4C2D-9FEB-4C59B0782F15}" srcOrd="0" destOrd="0" presId="urn:microsoft.com/office/officeart/2008/layout/VerticalCurvedList"/>
    <dgm:cxn modelId="{473EC4C2-0382-432B-A6D6-240773A298D7}" type="presParOf" srcId="{741DC565-FE42-4ACF-8359-44981FFC1B12}" destId="{F0D5C52C-DE7D-4089-AE4A-0B5E73A2C228}" srcOrd="7" destOrd="0" presId="urn:microsoft.com/office/officeart/2008/layout/VerticalCurvedList"/>
    <dgm:cxn modelId="{E00514A0-0983-4652-B91A-3F449A0AEA38}" type="presParOf" srcId="{741DC565-FE42-4ACF-8359-44981FFC1B12}" destId="{46C6F717-69BD-4444-81C4-B0883AE05220}" srcOrd="8" destOrd="0" presId="urn:microsoft.com/office/officeart/2008/layout/VerticalCurvedList"/>
    <dgm:cxn modelId="{58108F5A-C2F7-4388-B60F-D631E96ADF8F}" type="presParOf" srcId="{46C6F717-69BD-4444-81C4-B0883AE05220}" destId="{DE29320D-229B-415F-AAC2-B1CB2C284E5A}" srcOrd="0" destOrd="0" presId="urn:microsoft.com/office/officeart/2008/layout/VerticalCurv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043F5CB-BC5D-4A11-AB32-2960081BEC2E}" type="doc">
      <dgm:prSet loTypeId="urn:microsoft.com/office/officeart/2008/layout/VerticalCurvedList" loCatId="list" qsTypeId="urn:microsoft.com/office/officeart/2005/8/quickstyle/simple1" qsCatId="simple" csTypeId="urn:microsoft.com/office/officeart/2005/8/colors/accent3_1" csCatId="accent3" phldr="1"/>
      <dgm:spPr/>
      <dgm:t>
        <a:bodyPr/>
        <a:lstStyle/>
        <a:p>
          <a:endParaRPr lang="en-CA"/>
        </a:p>
      </dgm:t>
    </dgm:pt>
    <dgm:pt modelId="{A5A548B3-6AC7-4528-ADEB-4C80B2EB9FE1}">
      <dgm:prSet phldrT="[Text]"/>
      <dgm:spPr/>
      <dgm:t>
        <a:bodyPr/>
        <a:lstStyle/>
        <a:p>
          <a:r>
            <a:rPr lang="en-CA" dirty="0"/>
            <a:t>Firewall Policies</a:t>
          </a:r>
        </a:p>
      </dgm:t>
    </dgm:pt>
    <dgm:pt modelId="{1635DA8A-138F-48A1-9C85-52947E284BC8}" type="parTrans" cxnId="{91CDDA45-F03D-4B20-B354-C78068DC480D}">
      <dgm:prSet/>
      <dgm:spPr/>
      <dgm:t>
        <a:bodyPr/>
        <a:lstStyle/>
        <a:p>
          <a:endParaRPr lang="en-CA"/>
        </a:p>
      </dgm:t>
    </dgm:pt>
    <dgm:pt modelId="{5B1B9221-1044-403A-81A4-A41C0E0449B9}" type="sibTrans" cxnId="{91CDDA45-F03D-4B20-B354-C78068DC480D}">
      <dgm:prSet/>
      <dgm:spPr/>
      <dgm:t>
        <a:bodyPr/>
        <a:lstStyle/>
        <a:p>
          <a:endParaRPr lang="en-CA"/>
        </a:p>
      </dgm:t>
    </dgm:pt>
    <dgm:pt modelId="{5E715238-0243-4B0E-84F0-3572BED2843B}">
      <dgm:prSet phldrT="[Text]"/>
      <dgm:spPr/>
      <dgm:t>
        <a:bodyPr/>
        <a:lstStyle/>
        <a:p>
          <a:r>
            <a:rPr lang="en-CA" dirty="0"/>
            <a:t>Configuring Firewall Policies</a:t>
          </a:r>
        </a:p>
      </dgm:t>
    </dgm:pt>
    <dgm:pt modelId="{37C7220A-1F26-46EF-B19E-0F6F41572631}" type="parTrans" cxnId="{933FC1C8-14D2-45E6-9D75-DFEE73C4AF3D}">
      <dgm:prSet/>
      <dgm:spPr/>
      <dgm:t>
        <a:bodyPr/>
        <a:lstStyle/>
        <a:p>
          <a:endParaRPr lang="en-CA"/>
        </a:p>
      </dgm:t>
    </dgm:pt>
    <dgm:pt modelId="{18820F0F-724D-4DC1-9209-8C14E64BDBE5}" type="sibTrans" cxnId="{933FC1C8-14D2-45E6-9D75-DFEE73C4AF3D}">
      <dgm:prSet/>
      <dgm:spPr/>
      <dgm:t>
        <a:bodyPr/>
        <a:lstStyle/>
        <a:p>
          <a:endParaRPr lang="en-CA"/>
        </a:p>
      </dgm:t>
    </dgm:pt>
    <dgm:pt modelId="{310E8F2C-89DE-4BA5-97DA-F646BC52F749}">
      <dgm:prSet phldrT="[Text]"/>
      <dgm:spPr/>
      <dgm:t>
        <a:bodyPr/>
        <a:lstStyle/>
        <a:p>
          <a:r>
            <a:rPr lang="en-CA" dirty="0"/>
            <a:t>Managing Firewall Policies</a:t>
          </a:r>
        </a:p>
      </dgm:t>
    </dgm:pt>
    <dgm:pt modelId="{CE5653AB-9867-430F-83A4-4D43B9255EAA}" type="parTrans" cxnId="{873FB72E-8684-4E1F-A702-6347BB0BAFE6}">
      <dgm:prSet/>
      <dgm:spPr/>
      <dgm:t>
        <a:bodyPr/>
        <a:lstStyle/>
        <a:p>
          <a:endParaRPr lang="en-CA"/>
        </a:p>
      </dgm:t>
    </dgm:pt>
    <dgm:pt modelId="{AB853960-23F8-4467-9195-EBC196F92A59}" type="sibTrans" cxnId="{873FB72E-8684-4E1F-A702-6347BB0BAFE6}">
      <dgm:prSet/>
      <dgm:spPr/>
      <dgm:t>
        <a:bodyPr/>
        <a:lstStyle/>
        <a:p>
          <a:endParaRPr lang="en-CA"/>
        </a:p>
      </dgm:t>
    </dgm:pt>
    <dgm:pt modelId="{06E6807D-080D-4E89-A439-4AF435BF088B}">
      <dgm:prSet/>
      <dgm:spPr/>
      <dgm:t>
        <a:bodyPr/>
        <a:lstStyle/>
        <a:p>
          <a:r>
            <a:rPr lang="en-CA" dirty="0"/>
            <a:t>Best Practices and Troubleshooting</a:t>
          </a:r>
        </a:p>
      </dgm:t>
    </dgm:pt>
    <dgm:pt modelId="{D32E3D5F-AE6D-49CE-BC3F-5452764B91DE}" type="parTrans" cxnId="{03A8153F-010C-4B35-A360-7F21EE16794D}">
      <dgm:prSet/>
      <dgm:spPr/>
      <dgm:t>
        <a:bodyPr/>
        <a:lstStyle/>
        <a:p>
          <a:endParaRPr lang="en-CA"/>
        </a:p>
      </dgm:t>
    </dgm:pt>
    <dgm:pt modelId="{C748F5BF-0AE4-448C-AD63-A82F391F0106}" type="sibTrans" cxnId="{03A8153F-010C-4B35-A360-7F21EE16794D}">
      <dgm:prSet/>
      <dgm:spPr/>
      <dgm:t>
        <a:bodyPr/>
        <a:lstStyle/>
        <a:p>
          <a:endParaRPr lang="en-CA"/>
        </a:p>
      </dgm:t>
    </dgm:pt>
    <dgm:pt modelId="{3FB16CE5-CAA2-4957-8C7B-4DB8F06B5FE6}" type="pres">
      <dgm:prSet presAssocID="{D043F5CB-BC5D-4A11-AB32-2960081BEC2E}" presName="Name0" presStyleCnt="0">
        <dgm:presLayoutVars>
          <dgm:chMax val="7"/>
          <dgm:chPref val="7"/>
          <dgm:dir/>
        </dgm:presLayoutVars>
      </dgm:prSet>
      <dgm:spPr/>
    </dgm:pt>
    <dgm:pt modelId="{741DC565-FE42-4ACF-8359-44981FFC1B12}" type="pres">
      <dgm:prSet presAssocID="{D043F5CB-BC5D-4A11-AB32-2960081BEC2E}" presName="Name1" presStyleCnt="0"/>
      <dgm:spPr/>
    </dgm:pt>
    <dgm:pt modelId="{006628EE-2672-4E73-AF80-C2FA6DA0F245}" type="pres">
      <dgm:prSet presAssocID="{D043F5CB-BC5D-4A11-AB32-2960081BEC2E}" presName="cycle" presStyleCnt="0"/>
      <dgm:spPr/>
    </dgm:pt>
    <dgm:pt modelId="{83CBCA6B-4523-45AB-8C5C-5DCAC4D94B22}" type="pres">
      <dgm:prSet presAssocID="{D043F5CB-BC5D-4A11-AB32-2960081BEC2E}" presName="srcNode" presStyleLbl="node1" presStyleIdx="0" presStyleCnt="4"/>
      <dgm:spPr/>
    </dgm:pt>
    <dgm:pt modelId="{D593A696-9230-4ACA-9D52-83E05F9F38F7}" type="pres">
      <dgm:prSet presAssocID="{D043F5CB-BC5D-4A11-AB32-2960081BEC2E}" presName="conn" presStyleLbl="parChTrans1D2" presStyleIdx="0" presStyleCnt="1"/>
      <dgm:spPr/>
    </dgm:pt>
    <dgm:pt modelId="{2CD41FF4-48CE-42E3-8206-C4D806851A54}" type="pres">
      <dgm:prSet presAssocID="{D043F5CB-BC5D-4A11-AB32-2960081BEC2E}" presName="extraNode" presStyleLbl="node1" presStyleIdx="0" presStyleCnt="4"/>
      <dgm:spPr/>
    </dgm:pt>
    <dgm:pt modelId="{BC70810A-B28C-4236-8A87-6A2163164CC9}" type="pres">
      <dgm:prSet presAssocID="{D043F5CB-BC5D-4A11-AB32-2960081BEC2E}" presName="dstNode" presStyleLbl="node1" presStyleIdx="0" presStyleCnt="4"/>
      <dgm:spPr/>
    </dgm:pt>
    <dgm:pt modelId="{4F10BD40-3D78-480D-9C3C-DEEAA6B532C0}" type="pres">
      <dgm:prSet presAssocID="{A5A548B3-6AC7-4528-ADEB-4C80B2EB9FE1}" presName="text_1" presStyleLbl="node1" presStyleIdx="0" presStyleCnt="4">
        <dgm:presLayoutVars>
          <dgm:bulletEnabled val="1"/>
        </dgm:presLayoutVars>
      </dgm:prSet>
      <dgm:spPr/>
    </dgm:pt>
    <dgm:pt modelId="{35D0FE1D-F306-4BA6-BA98-7A522EF93A6B}" type="pres">
      <dgm:prSet presAssocID="{A5A548B3-6AC7-4528-ADEB-4C80B2EB9FE1}" presName="accent_1" presStyleCnt="0"/>
      <dgm:spPr/>
    </dgm:pt>
    <dgm:pt modelId="{9538A860-37A9-47C9-89B1-15B5ED1C3C45}" type="pres">
      <dgm:prSet presAssocID="{A5A548B3-6AC7-4528-ADEB-4C80B2EB9FE1}" presName="accentRepeatNode" presStyleLbl="solidFgAcc1" presStyleIdx="0" presStyleCnt="4"/>
      <dgm:spPr/>
    </dgm:pt>
    <dgm:pt modelId="{10C2ADB5-FB0D-4752-B06B-69F09CC2A46D}" type="pres">
      <dgm:prSet presAssocID="{5E715238-0243-4B0E-84F0-3572BED2843B}" presName="text_2" presStyleLbl="node1" presStyleIdx="1" presStyleCnt="4">
        <dgm:presLayoutVars>
          <dgm:bulletEnabled val="1"/>
        </dgm:presLayoutVars>
      </dgm:prSet>
      <dgm:spPr/>
    </dgm:pt>
    <dgm:pt modelId="{C0CAC0D3-EF99-4C9D-8A19-17647A156FC1}" type="pres">
      <dgm:prSet presAssocID="{5E715238-0243-4B0E-84F0-3572BED2843B}" presName="accent_2" presStyleCnt="0"/>
      <dgm:spPr/>
    </dgm:pt>
    <dgm:pt modelId="{4878E8A0-0F62-483E-9C85-41A7D184C6F2}" type="pres">
      <dgm:prSet presAssocID="{5E715238-0243-4B0E-84F0-3572BED2843B}" presName="accentRepeatNode" presStyleLbl="solidFgAcc1" presStyleIdx="1" presStyleCnt="4"/>
      <dgm:spPr/>
    </dgm:pt>
    <dgm:pt modelId="{A63D8216-A541-4DFA-963D-37F99664E5CA}" type="pres">
      <dgm:prSet presAssocID="{310E8F2C-89DE-4BA5-97DA-F646BC52F749}" presName="text_3" presStyleLbl="node1" presStyleIdx="2" presStyleCnt="4">
        <dgm:presLayoutVars>
          <dgm:bulletEnabled val="1"/>
        </dgm:presLayoutVars>
      </dgm:prSet>
      <dgm:spPr/>
    </dgm:pt>
    <dgm:pt modelId="{0DAD6A51-E37D-47F7-9190-791ADE01403A}" type="pres">
      <dgm:prSet presAssocID="{310E8F2C-89DE-4BA5-97DA-F646BC52F749}" presName="accent_3" presStyleCnt="0"/>
      <dgm:spPr/>
    </dgm:pt>
    <dgm:pt modelId="{0B3E8BE0-A7F0-4C2D-9FEB-4C59B0782F15}" type="pres">
      <dgm:prSet presAssocID="{310E8F2C-89DE-4BA5-97DA-F646BC52F749}" presName="accentRepeatNode" presStyleLbl="solidFgAcc1" presStyleIdx="2" presStyleCnt="4"/>
      <dgm:spPr/>
    </dgm:pt>
    <dgm:pt modelId="{F0D5C52C-DE7D-4089-AE4A-0B5E73A2C228}" type="pres">
      <dgm:prSet presAssocID="{06E6807D-080D-4E89-A439-4AF435BF088B}" presName="text_4" presStyleLbl="node1" presStyleIdx="3" presStyleCnt="4">
        <dgm:presLayoutVars>
          <dgm:bulletEnabled val="1"/>
        </dgm:presLayoutVars>
      </dgm:prSet>
      <dgm:spPr/>
    </dgm:pt>
    <dgm:pt modelId="{46C6F717-69BD-4444-81C4-B0883AE05220}" type="pres">
      <dgm:prSet presAssocID="{06E6807D-080D-4E89-A439-4AF435BF088B}" presName="accent_4" presStyleCnt="0"/>
      <dgm:spPr/>
    </dgm:pt>
    <dgm:pt modelId="{DE29320D-229B-415F-AAC2-B1CB2C284E5A}" type="pres">
      <dgm:prSet presAssocID="{06E6807D-080D-4E89-A439-4AF435BF088B}" presName="accentRepeatNode" presStyleLbl="solidFgAcc1" presStyleIdx="3" presStyleCnt="4"/>
      <dgm:spPr/>
    </dgm:pt>
  </dgm:ptLst>
  <dgm:cxnLst>
    <dgm:cxn modelId="{C21EF206-5A72-41E6-AA26-241BFD1B596A}" type="presOf" srcId="{06E6807D-080D-4E89-A439-4AF435BF088B}" destId="{F0D5C52C-DE7D-4089-AE4A-0B5E73A2C228}" srcOrd="0" destOrd="0" presId="urn:microsoft.com/office/officeart/2008/layout/VerticalCurvedList"/>
    <dgm:cxn modelId="{873FB72E-8684-4E1F-A702-6347BB0BAFE6}" srcId="{D043F5CB-BC5D-4A11-AB32-2960081BEC2E}" destId="{310E8F2C-89DE-4BA5-97DA-F646BC52F749}" srcOrd="2" destOrd="0" parTransId="{CE5653AB-9867-430F-83A4-4D43B9255EAA}" sibTransId="{AB853960-23F8-4467-9195-EBC196F92A59}"/>
    <dgm:cxn modelId="{0C13DB3B-89AB-4D83-83E9-1685A9E6DAAE}" type="presOf" srcId="{A5A548B3-6AC7-4528-ADEB-4C80B2EB9FE1}" destId="{4F10BD40-3D78-480D-9C3C-DEEAA6B532C0}" srcOrd="0" destOrd="0" presId="urn:microsoft.com/office/officeart/2008/layout/VerticalCurvedList"/>
    <dgm:cxn modelId="{03A8153F-010C-4B35-A360-7F21EE16794D}" srcId="{D043F5CB-BC5D-4A11-AB32-2960081BEC2E}" destId="{06E6807D-080D-4E89-A439-4AF435BF088B}" srcOrd="3" destOrd="0" parTransId="{D32E3D5F-AE6D-49CE-BC3F-5452764B91DE}" sibTransId="{C748F5BF-0AE4-448C-AD63-A82F391F0106}"/>
    <dgm:cxn modelId="{91CDDA45-F03D-4B20-B354-C78068DC480D}" srcId="{D043F5CB-BC5D-4A11-AB32-2960081BEC2E}" destId="{A5A548B3-6AC7-4528-ADEB-4C80B2EB9FE1}" srcOrd="0" destOrd="0" parTransId="{1635DA8A-138F-48A1-9C85-52947E284BC8}" sibTransId="{5B1B9221-1044-403A-81A4-A41C0E0449B9}"/>
    <dgm:cxn modelId="{C54CBA4A-30EF-47AD-88C6-FC5A3D3FC99C}" type="presOf" srcId="{5B1B9221-1044-403A-81A4-A41C0E0449B9}" destId="{D593A696-9230-4ACA-9D52-83E05F9F38F7}" srcOrd="0" destOrd="0" presId="urn:microsoft.com/office/officeart/2008/layout/VerticalCurvedList"/>
    <dgm:cxn modelId="{1AB4D781-EB1B-4833-91FF-BBAC236BB6F7}" type="presOf" srcId="{D043F5CB-BC5D-4A11-AB32-2960081BEC2E}" destId="{3FB16CE5-CAA2-4957-8C7B-4DB8F06B5FE6}" srcOrd="0" destOrd="0" presId="urn:microsoft.com/office/officeart/2008/layout/VerticalCurvedList"/>
    <dgm:cxn modelId="{92A921C0-BDF6-4517-A193-0E390DD7EBD8}" type="presOf" srcId="{310E8F2C-89DE-4BA5-97DA-F646BC52F749}" destId="{A63D8216-A541-4DFA-963D-37F99664E5CA}" srcOrd="0" destOrd="0" presId="urn:microsoft.com/office/officeart/2008/layout/VerticalCurvedList"/>
    <dgm:cxn modelId="{933FC1C8-14D2-45E6-9D75-DFEE73C4AF3D}" srcId="{D043F5CB-BC5D-4A11-AB32-2960081BEC2E}" destId="{5E715238-0243-4B0E-84F0-3572BED2843B}" srcOrd="1" destOrd="0" parTransId="{37C7220A-1F26-46EF-B19E-0F6F41572631}" sibTransId="{18820F0F-724D-4DC1-9209-8C14E64BDBE5}"/>
    <dgm:cxn modelId="{F31919CB-1FC8-441A-8066-EC59498F438E}" type="presOf" srcId="{5E715238-0243-4B0E-84F0-3572BED2843B}" destId="{10C2ADB5-FB0D-4752-B06B-69F09CC2A46D}" srcOrd="0" destOrd="0" presId="urn:microsoft.com/office/officeart/2008/layout/VerticalCurvedList"/>
    <dgm:cxn modelId="{3C899D66-67EE-434A-90C4-9AE005A656DF}" type="presParOf" srcId="{3FB16CE5-CAA2-4957-8C7B-4DB8F06B5FE6}" destId="{741DC565-FE42-4ACF-8359-44981FFC1B12}" srcOrd="0" destOrd="0" presId="urn:microsoft.com/office/officeart/2008/layout/VerticalCurvedList"/>
    <dgm:cxn modelId="{6D9C6438-D082-4236-BD1E-B5F1F6330A3F}" type="presParOf" srcId="{741DC565-FE42-4ACF-8359-44981FFC1B12}" destId="{006628EE-2672-4E73-AF80-C2FA6DA0F245}" srcOrd="0" destOrd="0" presId="urn:microsoft.com/office/officeart/2008/layout/VerticalCurvedList"/>
    <dgm:cxn modelId="{B9368B48-792E-4101-AC49-E1BF7498508E}" type="presParOf" srcId="{006628EE-2672-4E73-AF80-C2FA6DA0F245}" destId="{83CBCA6B-4523-45AB-8C5C-5DCAC4D94B22}" srcOrd="0" destOrd="0" presId="urn:microsoft.com/office/officeart/2008/layout/VerticalCurvedList"/>
    <dgm:cxn modelId="{0FC8AB72-F77B-4B99-A6F8-0069B4D16C43}" type="presParOf" srcId="{006628EE-2672-4E73-AF80-C2FA6DA0F245}" destId="{D593A696-9230-4ACA-9D52-83E05F9F38F7}" srcOrd="1" destOrd="0" presId="urn:microsoft.com/office/officeart/2008/layout/VerticalCurvedList"/>
    <dgm:cxn modelId="{BE93B56D-0FEB-459B-8DB6-1D360F5F8984}" type="presParOf" srcId="{006628EE-2672-4E73-AF80-C2FA6DA0F245}" destId="{2CD41FF4-48CE-42E3-8206-C4D806851A54}" srcOrd="2" destOrd="0" presId="urn:microsoft.com/office/officeart/2008/layout/VerticalCurvedList"/>
    <dgm:cxn modelId="{5F782C03-8618-4802-A663-BBB41F2044F8}" type="presParOf" srcId="{006628EE-2672-4E73-AF80-C2FA6DA0F245}" destId="{BC70810A-B28C-4236-8A87-6A2163164CC9}" srcOrd="3" destOrd="0" presId="urn:microsoft.com/office/officeart/2008/layout/VerticalCurvedList"/>
    <dgm:cxn modelId="{7A1C6398-7D76-4926-9093-2055714E2B46}" type="presParOf" srcId="{741DC565-FE42-4ACF-8359-44981FFC1B12}" destId="{4F10BD40-3D78-480D-9C3C-DEEAA6B532C0}" srcOrd="1" destOrd="0" presId="urn:microsoft.com/office/officeart/2008/layout/VerticalCurvedList"/>
    <dgm:cxn modelId="{5E523389-3507-4230-952A-4C617A3CC212}" type="presParOf" srcId="{741DC565-FE42-4ACF-8359-44981FFC1B12}" destId="{35D0FE1D-F306-4BA6-BA98-7A522EF93A6B}" srcOrd="2" destOrd="0" presId="urn:microsoft.com/office/officeart/2008/layout/VerticalCurvedList"/>
    <dgm:cxn modelId="{B8BB9497-D09B-4A2B-A448-1A3DDDA5BBE1}" type="presParOf" srcId="{35D0FE1D-F306-4BA6-BA98-7A522EF93A6B}" destId="{9538A860-37A9-47C9-89B1-15B5ED1C3C45}" srcOrd="0" destOrd="0" presId="urn:microsoft.com/office/officeart/2008/layout/VerticalCurvedList"/>
    <dgm:cxn modelId="{2FEA558B-B3B8-4155-AB0C-7F19581DCE4A}" type="presParOf" srcId="{741DC565-FE42-4ACF-8359-44981FFC1B12}" destId="{10C2ADB5-FB0D-4752-B06B-69F09CC2A46D}" srcOrd="3" destOrd="0" presId="urn:microsoft.com/office/officeart/2008/layout/VerticalCurvedList"/>
    <dgm:cxn modelId="{3981DE96-7595-4BA9-80A3-B7BE4BB051BC}" type="presParOf" srcId="{741DC565-FE42-4ACF-8359-44981FFC1B12}" destId="{C0CAC0D3-EF99-4C9D-8A19-17647A156FC1}" srcOrd="4" destOrd="0" presId="urn:microsoft.com/office/officeart/2008/layout/VerticalCurvedList"/>
    <dgm:cxn modelId="{1689BFAC-CFA4-4CD5-9A54-C0DA8DEED3BF}" type="presParOf" srcId="{C0CAC0D3-EF99-4C9D-8A19-17647A156FC1}" destId="{4878E8A0-0F62-483E-9C85-41A7D184C6F2}" srcOrd="0" destOrd="0" presId="urn:microsoft.com/office/officeart/2008/layout/VerticalCurvedList"/>
    <dgm:cxn modelId="{7C731F88-8E47-4DC4-B54B-CF106CE373E2}" type="presParOf" srcId="{741DC565-FE42-4ACF-8359-44981FFC1B12}" destId="{A63D8216-A541-4DFA-963D-37F99664E5CA}" srcOrd="5" destOrd="0" presId="urn:microsoft.com/office/officeart/2008/layout/VerticalCurvedList"/>
    <dgm:cxn modelId="{BE61F5E6-2850-46F4-8AF8-88CAC197CCB5}" type="presParOf" srcId="{741DC565-FE42-4ACF-8359-44981FFC1B12}" destId="{0DAD6A51-E37D-47F7-9190-791ADE01403A}" srcOrd="6" destOrd="0" presId="urn:microsoft.com/office/officeart/2008/layout/VerticalCurvedList"/>
    <dgm:cxn modelId="{EEE2D2E9-5FF5-46F6-BA1F-E2716F109F6F}" type="presParOf" srcId="{0DAD6A51-E37D-47F7-9190-791ADE01403A}" destId="{0B3E8BE0-A7F0-4C2D-9FEB-4C59B0782F15}" srcOrd="0" destOrd="0" presId="urn:microsoft.com/office/officeart/2008/layout/VerticalCurvedList"/>
    <dgm:cxn modelId="{01578A7C-9D20-428B-9AB5-F429B840809F}" type="presParOf" srcId="{741DC565-FE42-4ACF-8359-44981FFC1B12}" destId="{F0D5C52C-DE7D-4089-AE4A-0B5E73A2C228}" srcOrd="7" destOrd="0" presId="urn:microsoft.com/office/officeart/2008/layout/VerticalCurvedList"/>
    <dgm:cxn modelId="{AF25EAF8-A983-419B-B5FB-DE7AAD8D4732}" type="presParOf" srcId="{741DC565-FE42-4ACF-8359-44981FFC1B12}" destId="{46C6F717-69BD-4444-81C4-B0883AE05220}" srcOrd="8" destOrd="0" presId="urn:microsoft.com/office/officeart/2008/layout/VerticalCurvedList"/>
    <dgm:cxn modelId="{07954CF3-280A-4E1E-8887-3DE390FAC60F}" type="presParOf" srcId="{46C6F717-69BD-4444-81C4-B0883AE05220}" destId="{DE29320D-229B-415F-AAC2-B1CB2C284E5A}" srcOrd="0" destOrd="0" presId="urn:microsoft.com/office/officeart/2008/layout/VerticalCurv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93A696-9230-4ACA-9D52-83E05F9F38F7}">
      <dsp:nvSpPr>
        <dsp:cNvPr id="0" name=""/>
        <dsp:cNvSpPr/>
      </dsp:nvSpPr>
      <dsp:spPr>
        <a:xfrm>
          <a:off x="-5616298" y="-859773"/>
          <a:ext cx="6686833" cy="6686833"/>
        </a:xfrm>
        <a:prstGeom prst="blockArc">
          <a:avLst>
            <a:gd name="adj1" fmla="val 18900000"/>
            <a:gd name="adj2" fmla="val 2700000"/>
            <a:gd name="adj3" fmla="val 323"/>
          </a:avLst>
        </a:prstGeom>
        <a:noFill/>
        <a:ln w="12700" cap="flat" cmpd="sng" algn="ctr">
          <a:solidFill>
            <a:schemeClr val="accent3">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F10BD40-3D78-480D-9C3C-DEEAA6B532C0}">
      <dsp:nvSpPr>
        <dsp:cNvPr id="0" name=""/>
        <dsp:cNvSpPr/>
      </dsp:nvSpPr>
      <dsp:spPr>
        <a:xfrm>
          <a:off x="560398" y="381885"/>
          <a:ext cx="10757286" cy="764167"/>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6558" tIns="104140" rIns="104140" bIns="104140" numCol="1" spcCol="1270" anchor="ctr" anchorCtr="0">
          <a:noAutofit/>
        </a:bodyPr>
        <a:lstStyle/>
        <a:p>
          <a:pPr marL="0" lvl="0" indent="0" algn="l" defTabSz="1822450">
            <a:lnSpc>
              <a:spcPct val="90000"/>
            </a:lnSpc>
            <a:spcBef>
              <a:spcPct val="0"/>
            </a:spcBef>
            <a:spcAft>
              <a:spcPct val="35000"/>
            </a:spcAft>
            <a:buNone/>
          </a:pPr>
          <a:r>
            <a:rPr lang="en-CA" sz="4100" kern="1200" dirty="0"/>
            <a:t>Firewall Policies</a:t>
          </a:r>
        </a:p>
      </dsp:txBody>
      <dsp:txXfrm>
        <a:off x="560398" y="381885"/>
        <a:ext cx="10757286" cy="764167"/>
      </dsp:txXfrm>
    </dsp:sp>
    <dsp:sp modelId="{9538A860-37A9-47C9-89B1-15B5ED1C3C45}">
      <dsp:nvSpPr>
        <dsp:cNvPr id="0" name=""/>
        <dsp:cNvSpPr/>
      </dsp:nvSpPr>
      <dsp:spPr>
        <a:xfrm>
          <a:off x="82794" y="286364"/>
          <a:ext cx="955209" cy="955209"/>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0C2ADB5-FB0D-4752-B06B-69F09CC2A46D}">
      <dsp:nvSpPr>
        <dsp:cNvPr id="0" name=""/>
        <dsp:cNvSpPr/>
      </dsp:nvSpPr>
      <dsp:spPr>
        <a:xfrm>
          <a:off x="998513" y="1528334"/>
          <a:ext cx="10319171" cy="764167"/>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6558" tIns="104140" rIns="104140" bIns="104140" numCol="1" spcCol="1270" anchor="ctr" anchorCtr="0">
          <a:noAutofit/>
        </a:bodyPr>
        <a:lstStyle/>
        <a:p>
          <a:pPr marL="0" lvl="0" indent="0" algn="l" defTabSz="1822450">
            <a:lnSpc>
              <a:spcPct val="90000"/>
            </a:lnSpc>
            <a:spcBef>
              <a:spcPct val="0"/>
            </a:spcBef>
            <a:spcAft>
              <a:spcPct val="35000"/>
            </a:spcAft>
            <a:buNone/>
          </a:pPr>
          <a:r>
            <a:rPr lang="en-CA" sz="4100" kern="1200" dirty="0"/>
            <a:t>Configuring Firewall Policies</a:t>
          </a:r>
        </a:p>
      </dsp:txBody>
      <dsp:txXfrm>
        <a:off x="998513" y="1528334"/>
        <a:ext cx="10319171" cy="764167"/>
      </dsp:txXfrm>
    </dsp:sp>
    <dsp:sp modelId="{4878E8A0-0F62-483E-9C85-41A7D184C6F2}">
      <dsp:nvSpPr>
        <dsp:cNvPr id="0" name=""/>
        <dsp:cNvSpPr/>
      </dsp:nvSpPr>
      <dsp:spPr>
        <a:xfrm>
          <a:off x="520909" y="1432813"/>
          <a:ext cx="955209" cy="955209"/>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63D8216-A541-4DFA-963D-37F99664E5CA}">
      <dsp:nvSpPr>
        <dsp:cNvPr id="0" name=""/>
        <dsp:cNvSpPr/>
      </dsp:nvSpPr>
      <dsp:spPr>
        <a:xfrm>
          <a:off x="998513" y="2674784"/>
          <a:ext cx="10319171" cy="764167"/>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6558" tIns="104140" rIns="104140" bIns="104140" numCol="1" spcCol="1270" anchor="ctr" anchorCtr="0">
          <a:noAutofit/>
        </a:bodyPr>
        <a:lstStyle/>
        <a:p>
          <a:pPr marL="0" lvl="0" indent="0" algn="l" defTabSz="1822450">
            <a:lnSpc>
              <a:spcPct val="90000"/>
            </a:lnSpc>
            <a:spcBef>
              <a:spcPct val="0"/>
            </a:spcBef>
            <a:spcAft>
              <a:spcPct val="35000"/>
            </a:spcAft>
            <a:buNone/>
          </a:pPr>
          <a:r>
            <a:rPr lang="en-CA" sz="4100" kern="1200" dirty="0"/>
            <a:t>Managing Firewall Policies</a:t>
          </a:r>
        </a:p>
      </dsp:txBody>
      <dsp:txXfrm>
        <a:off x="998513" y="2674784"/>
        <a:ext cx="10319171" cy="764167"/>
      </dsp:txXfrm>
    </dsp:sp>
    <dsp:sp modelId="{0B3E8BE0-A7F0-4C2D-9FEB-4C59B0782F15}">
      <dsp:nvSpPr>
        <dsp:cNvPr id="0" name=""/>
        <dsp:cNvSpPr/>
      </dsp:nvSpPr>
      <dsp:spPr>
        <a:xfrm>
          <a:off x="520909" y="2579263"/>
          <a:ext cx="955209" cy="955209"/>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0D5C52C-DE7D-4089-AE4A-0B5E73A2C228}">
      <dsp:nvSpPr>
        <dsp:cNvPr id="0" name=""/>
        <dsp:cNvSpPr/>
      </dsp:nvSpPr>
      <dsp:spPr>
        <a:xfrm>
          <a:off x="560398" y="3821234"/>
          <a:ext cx="10757286" cy="764167"/>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6558" tIns="104140" rIns="104140" bIns="104140" numCol="1" spcCol="1270" anchor="ctr" anchorCtr="0">
          <a:noAutofit/>
        </a:bodyPr>
        <a:lstStyle/>
        <a:p>
          <a:pPr marL="0" lvl="0" indent="0" algn="l" defTabSz="1822450">
            <a:lnSpc>
              <a:spcPct val="90000"/>
            </a:lnSpc>
            <a:spcBef>
              <a:spcPct val="0"/>
            </a:spcBef>
            <a:spcAft>
              <a:spcPct val="35000"/>
            </a:spcAft>
            <a:buNone/>
          </a:pPr>
          <a:r>
            <a:rPr lang="en-CA" sz="4100" kern="1200" dirty="0"/>
            <a:t>Best Practices and Troubleshooting</a:t>
          </a:r>
        </a:p>
      </dsp:txBody>
      <dsp:txXfrm>
        <a:off x="560398" y="3821234"/>
        <a:ext cx="10757286" cy="764167"/>
      </dsp:txXfrm>
    </dsp:sp>
    <dsp:sp modelId="{DE29320D-229B-415F-AAC2-B1CB2C284E5A}">
      <dsp:nvSpPr>
        <dsp:cNvPr id="0" name=""/>
        <dsp:cNvSpPr/>
      </dsp:nvSpPr>
      <dsp:spPr>
        <a:xfrm>
          <a:off x="82794" y="3725713"/>
          <a:ext cx="955209" cy="955209"/>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93A696-9230-4ACA-9D52-83E05F9F38F7}">
      <dsp:nvSpPr>
        <dsp:cNvPr id="0" name=""/>
        <dsp:cNvSpPr/>
      </dsp:nvSpPr>
      <dsp:spPr>
        <a:xfrm>
          <a:off x="-5323539" y="-815266"/>
          <a:ext cx="6339057" cy="6339057"/>
        </a:xfrm>
        <a:prstGeom prst="blockArc">
          <a:avLst>
            <a:gd name="adj1" fmla="val 18900000"/>
            <a:gd name="adj2" fmla="val 2700000"/>
            <a:gd name="adj3" fmla="val 341"/>
          </a:avLst>
        </a:prstGeom>
        <a:noFill/>
        <a:ln w="12700" cap="flat" cmpd="sng" algn="ctr">
          <a:solidFill>
            <a:schemeClr val="accent3">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F10BD40-3D78-480D-9C3C-DEEAA6B532C0}">
      <dsp:nvSpPr>
        <dsp:cNvPr id="0" name=""/>
        <dsp:cNvSpPr/>
      </dsp:nvSpPr>
      <dsp:spPr>
        <a:xfrm>
          <a:off x="531674" y="361991"/>
          <a:ext cx="10790097" cy="724359"/>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4960" tIns="99060" rIns="99060" bIns="99060" numCol="1" spcCol="1270" anchor="ctr" anchorCtr="0">
          <a:noAutofit/>
        </a:bodyPr>
        <a:lstStyle/>
        <a:p>
          <a:pPr marL="0" lvl="0" indent="0" algn="l" defTabSz="1733550">
            <a:lnSpc>
              <a:spcPct val="90000"/>
            </a:lnSpc>
            <a:spcBef>
              <a:spcPct val="0"/>
            </a:spcBef>
            <a:spcAft>
              <a:spcPct val="35000"/>
            </a:spcAft>
            <a:buNone/>
          </a:pPr>
          <a:r>
            <a:rPr lang="en-CA" sz="3900" kern="1200" dirty="0"/>
            <a:t>Firewall Policies</a:t>
          </a:r>
        </a:p>
      </dsp:txBody>
      <dsp:txXfrm>
        <a:off x="531674" y="361991"/>
        <a:ext cx="10790097" cy="724359"/>
      </dsp:txXfrm>
    </dsp:sp>
    <dsp:sp modelId="{9538A860-37A9-47C9-89B1-15B5ED1C3C45}">
      <dsp:nvSpPr>
        <dsp:cNvPr id="0" name=""/>
        <dsp:cNvSpPr/>
      </dsp:nvSpPr>
      <dsp:spPr>
        <a:xfrm>
          <a:off x="78950" y="271446"/>
          <a:ext cx="905449" cy="905449"/>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0C2ADB5-FB0D-4752-B06B-69F09CC2A46D}">
      <dsp:nvSpPr>
        <dsp:cNvPr id="0" name=""/>
        <dsp:cNvSpPr/>
      </dsp:nvSpPr>
      <dsp:spPr>
        <a:xfrm>
          <a:off x="946966" y="1448718"/>
          <a:ext cx="10374805" cy="724359"/>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4960" tIns="99060" rIns="99060" bIns="99060" numCol="1" spcCol="1270" anchor="ctr" anchorCtr="0">
          <a:noAutofit/>
        </a:bodyPr>
        <a:lstStyle/>
        <a:p>
          <a:pPr marL="0" lvl="0" indent="0" algn="l" defTabSz="1733550">
            <a:lnSpc>
              <a:spcPct val="90000"/>
            </a:lnSpc>
            <a:spcBef>
              <a:spcPct val="0"/>
            </a:spcBef>
            <a:spcAft>
              <a:spcPct val="35000"/>
            </a:spcAft>
            <a:buNone/>
          </a:pPr>
          <a:r>
            <a:rPr lang="en-CA" sz="3900" kern="1200" dirty="0"/>
            <a:t>Configuring Firewall Policies</a:t>
          </a:r>
        </a:p>
      </dsp:txBody>
      <dsp:txXfrm>
        <a:off x="946966" y="1448718"/>
        <a:ext cx="10374805" cy="724359"/>
      </dsp:txXfrm>
    </dsp:sp>
    <dsp:sp modelId="{4878E8A0-0F62-483E-9C85-41A7D184C6F2}">
      <dsp:nvSpPr>
        <dsp:cNvPr id="0" name=""/>
        <dsp:cNvSpPr/>
      </dsp:nvSpPr>
      <dsp:spPr>
        <a:xfrm>
          <a:off x="494242" y="1358174"/>
          <a:ext cx="905449" cy="905449"/>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63D8216-A541-4DFA-963D-37F99664E5CA}">
      <dsp:nvSpPr>
        <dsp:cNvPr id="0" name=""/>
        <dsp:cNvSpPr/>
      </dsp:nvSpPr>
      <dsp:spPr>
        <a:xfrm>
          <a:off x="946966" y="2535446"/>
          <a:ext cx="10374805" cy="724359"/>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4960" tIns="99060" rIns="99060" bIns="99060" numCol="1" spcCol="1270" anchor="ctr" anchorCtr="0">
          <a:noAutofit/>
        </a:bodyPr>
        <a:lstStyle/>
        <a:p>
          <a:pPr marL="0" lvl="0" indent="0" algn="l" defTabSz="1733550">
            <a:lnSpc>
              <a:spcPct val="90000"/>
            </a:lnSpc>
            <a:spcBef>
              <a:spcPct val="0"/>
            </a:spcBef>
            <a:spcAft>
              <a:spcPct val="35000"/>
            </a:spcAft>
            <a:buNone/>
          </a:pPr>
          <a:r>
            <a:rPr lang="en-CA" sz="3900" kern="1200" dirty="0"/>
            <a:t>Managing Firewall Policies</a:t>
          </a:r>
        </a:p>
      </dsp:txBody>
      <dsp:txXfrm>
        <a:off x="946966" y="2535446"/>
        <a:ext cx="10374805" cy="724359"/>
      </dsp:txXfrm>
    </dsp:sp>
    <dsp:sp modelId="{0B3E8BE0-A7F0-4C2D-9FEB-4C59B0782F15}">
      <dsp:nvSpPr>
        <dsp:cNvPr id="0" name=""/>
        <dsp:cNvSpPr/>
      </dsp:nvSpPr>
      <dsp:spPr>
        <a:xfrm>
          <a:off x="494242" y="2444901"/>
          <a:ext cx="905449" cy="905449"/>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0D5C52C-DE7D-4089-AE4A-0B5E73A2C228}">
      <dsp:nvSpPr>
        <dsp:cNvPr id="0" name=""/>
        <dsp:cNvSpPr/>
      </dsp:nvSpPr>
      <dsp:spPr>
        <a:xfrm>
          <a:off x="531674" y="3622174"/>
          <a:ext cx="10790097" cy="724359"/>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4960" tIns="99060" rIns="99060" bIns="99060" numCol="1" spcCol="1270" anchor="ctr" anchorCtr="0">
          <a:noAutofit/>
        </a:bodyPr>
        <a:lstStyle/>
        <a:p>
          <a:pPr marL="0" lvl="0" indent="0" algn="l" defTabSz="1733550">
            <a:lnSpc>
              <a:spcPct val="90000"/>
            </a:lnSpc>
            <a:spcBef>
              <a:spcPct val="0"/>
            </a:spcBef>
            <a:spcAft>
              <a:spcPct val="35000"/>
            </a:spcAft>
            <a:buNone/>
          </a:pPr>
          <a:r>
            <a:rPr lang="en-CA" sz="3900" kern="1200" dirty="0"/>
            <a:t>Best Practices and Troubleshooting</a:t>
          </a:r>
        </a:p>
      </dsp:txBody>
      <dsp:txXfrm>
        <a:off x="531674" y="3622174"/>
        <a:ext cx="10790097" cy="724359"/>
      </dsp:txXfrm>
    </dsp:sp>
    <dsp:sp modelId="{DE29320D-229B-415F-AAC2-B1CB2C284E5A}">
      <dsp:nvSpPr>
        <dsp:cNvPr id="0" name=""/>
        <dsp:cNvSpPr/>
      </dsp:nvSpPr>
      <dsp:spPr>
        <a:xfrm>
          <a:off x="78950" y="3531629"/>
          <a:ext cx="905449" cy="905449"/>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93A696-9230-4ACA-9D52-83E05F9F38F7}">
      <dsp:nvSpPr>
        <dsp:cNvPr id="0" name=""/>
        <dsp:cNvSpPr/>
      </dsp:nvSpPr>
      <dsp:spPr>
        <a:xfrm>
          <a:off x="-5323539" y="-815266"/>
          <a:ext cx="6339057" cy="6339057"/>
        </a:xfrm>
        <a:prstGeom prst="blockArc">
          <a:avLst>
            <a:gd name="adj1" fmla="val 18900000"/>
            <a:gd name="adj2" fmla="val 2700000"/>
            <a:gd name="adj3" fmla="val 341"/>
          </a:avLst>
        </a:prstGeom>
        <a:noFill/>
        <a:ln w="12700" cap="flat" cmpd="sng" algn="ctr">
          <a:solidFill>
            <a:schemeClr val="accent3">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F10BD40-3D78-480D-9C3C-DEEAA6B532C0}">
      <dsp:nvSpPr>
        <dsp:cNvPr id="0" name=""/>
        <dsp:cNvSpPr/>
      </dsp:nvSpPr>
      <dsp:spPr>
        <a:xfrm>
          <a:off x="531674" y="361991"/>
          <a:ext cx="10790097" cy="724359"/>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4960" tIns="99060" rIns="99060" bIns="99060" numCol="1" spcCol="1270" anchor="ctr" anchorCtr="0">
          <a:noAutofit/>
        </a:bodyPr>
        <a:lstStyle/>
        <a:p>
          <a:pPr marL="0" lvl="0" indent="0" algn="l" defTabSz="1733550">
            <a:lnSpc>
              <a:spcPct val="90000"/>
            </a:lnSpc>
            <a:spcBef>
              <a:spcPct val="0"/>
            </a:spcBef>
            <a:spcAft>
              <a:spcPct val="35000"/>
            </a:spcAft>
            <a:buNone/>
          </a:pPr>
          <a:r>
            <a:rPr lang="en-CA" sz="3900" kern="1200" dirty="0"/>
            <a:t>Firewall Policies</a:t>
          </a:r>
        </a:p>
      </dsp:txBody>
      <dsp:txXfrm>
        <a:off x="531674" y="361991"/>
        <a:ext cx="10790097" cy="724359"/>
      </dsp:txXfrm>
    </dsp:sp>
    <dsp:sp modelId="{9538A860-37A9-47C9-89B1-15B5ED1C3C45}">
      <dsp:nvSpPr>
        <dsp:cNvPr id="0" name=""/>
        <dsp:cNvSpPr/>
      </dsp:nvSpPr>
      <dsp:spPr>
        <a:xfrm>
          <a:off x="78950" y="271446"/>
          <a:ext cx="905449" cy="905449"/>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0C2ADB5-FB0D-4752-B06B-69F09CC2A46D}">
      <dsp:nvSpPr>
        <dsp:cNvPr id="0" name=""/>
        <dsp:cNvSpPr/>
      </dsp:nvSpPr>
      <dsp:spPr>
        <a:xfrm>
          <a:off x="946966" y="1448718"/>
          <a:ext cx="10374805" cy="724359"/>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4960" tIns="99060" rIns="99060" bIns="99060" numCol="1" spcCol="1270" anchor="ctr" anchorCtr="0">
          <a:noAutofit/>
        </a:bodyPr>
        <a:lstStyle/>
        <a:p>
          <a:pPr marL="0" lvl="0" indent="0" algn="l" defTabSz="1733550">
            <a:lnSpc>
              <a:spcPct val="90000"/>
            </a:lnSpc>
            <a:spcBef>
              <a:spcPct val="0"/>
            </a:spcBef>
            <a:spcAft>
              <a:spcPct val="35000"/>
            </a:spcAft>
            <a:buNone/>
          </a:pPr>
          <a:r>
            <a:rPr lang="en-CA" sz="3900" kern="1200" dirty="0"/>
            <a:t>Configuring Firewall Policies</a:t>
          </a:r>
        </a:p>
      </dsp:txBody>
      <dsp:txXfrm>
        <a:off x="946966" y="1448718"/>
        <a:ext cx="10374805" cy="724359"/>
      </dsp:txXfrm>
    </dsp:sp>
    <dsp:sp modelId="{4878E8A0-0F62-483E-9C85-41A7D184C6F2}">
      <dsp:nvSpPr>
        <dsp:cNvPr id="0" name=""/>
        <dsp:cNvSpPr/>
      </dsp:nvSpPr>
      <dsp:spPr>
        <a:xfrm>
          <a:off x="494242" y="1358174"/>
          <a:ext cx="905449" cy="905449"/>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63D8216-A541-4DFA-963D-37F99664E5CA}">
      <dsp:nvSpPr>
        <dsp:cNvPr id="0" name=""/>
        <dsp:cNvSpPr/>
      </dsp:nvSpPr>
      <dsp:spPr>
        <a:xfrm>
          <a:off x="946966" y="2535446"/>
          <a:ext cx="10374805" cy="724359"/>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4960" tIns="99060" rIns="99060" bIns="99060" numCol="1" spcCol="1270" anchor="ctr" anchorCtr="0">
          <a:noAutofit/>
        </a:bodyPr>
        <a:lstStyle/>
        <a:p>
          <a:pPr marL="0" lvl="0" indent="0" algn="l" defTabSz="1733550">
            <a:lnSpc>
              <a:spcPct val="90000"/>
            </a:lnSpc>
            <a:spcBef>
              <a:spcPct val="0"/>
            </a:spcBef>
            <a:spcAft>
              <a:spcPct val="35000"/>
            </a:spcAft>
            <a:buNone/>
          </a:pPr>
          <a:r>
            <a:rPr lang="en-CA" sz="3900" kern="1200" dirty="0"/>
            <a:t>Managing Firewall Policies</a:t>
          </a:r>
        </a:p>
      </dsp:txBody>
      <dsp:txXfrm>
        <a:off x="946966" y="2535446"/>
        <a:ext cx="10374805" cy="724359"/>
      </dsp:txXfrm>
    </dsp:sp>
    <dsp:sp modelId="{0B3E8BE0-A7F0-4C2D-9FEB-4C59B0782F15}">
      <dsp:nvSpPr>
        <dsp:cNvPr id="0" name=""/>
        <dsp:cNvSpPr/>
      </dsp:nvSpPr>
      <dsp:spPr>
        <a:xfrm>
          <a:off x="494242" y="2444901"/>
          <a:ext cx="905449" cy="905449"/>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0D5C52C-DE7D-4089-AE4A-0B5E73A2C228}">
      <dsp:nvSpPr>
        <dsp:cNvPr id="0" name=""/>
        <dsp:cNvSpPr/>
      </dsp:nvSpPr>
      <dsp:spPr>
        <a:xfrm>
          <a:off x="531674" y="3622174"/>
          <a:ext cx="10790097" cy="724359"/>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4960" tIns="99060" rIns="99060" bIns="99060" numCol="1" spcCol="1270" anchor="ctr" anchorCtr="0">
          <a:noAutofit/>
        </a:bodyPr>
        <a:lstStyle/>
        <a:p>
          <a:pPr marL="0" lvl="0" indent="0" algn="l" defTabSz="1733550">
            <a:lnSpc>
              <a:spcPct val="90000"/>
            </a:lnSpc>
            <a:spcBef>
              <a:spcPct val="0"/>
            </a:spcBef>
            <a:spcAft>
              <a:spcPct val="35000"/>
            </a:spcAft>
            <a:buNone/>
          </a:pPr>
          <a:r>
            <a:rPr lang="en-CA" sz="3900" kern="1200" dirty="0"/>
            <a:t>Best Practices and Troubleshooting</a:t>
          </a:r>
        </a:p>
      </dsp:txBody>
      <dsp:txXfrm>
        <a:off x="531674" y="3622174"/>
        <a:ext cx="10790097" cy="724359"/>
      </dsp:txXfrm>
    </dsp:sp>
    <dsp:sp modelId="{DE29320D-229B-415F-AAC2-B1CB2C284E5A}">
      <dsp:nvSpPr>
        <dsp:cNvPr id="0" name=""/>
        <dsp:cNvSpPr/>
      </dsp:nvSpPr>
      <dsp:spPr>
        <a:xfrm>
          <a:off x="78950" y="3531629"/>
          <a:ext cx="905449" cy="905449"/>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93A696-9230-4ACA-9D52-83E05F9F38F7}">
      <dsp:nvSpPr>
        <dsp:cNvPr id="0" name=""/>
        <dsp:cNvSpPr/>
      </dsp:nvSpPr>
      <dsp:spPr>
        <a:xfrm>
          <a:off x="-5323539" y="-815266"/>
          <a:ext cx="6339057" cy="6339057"/>
        </a:xfrm>
        <a:prstGeom prst="blockArc">
          <a:avLst>
            <a:gd name="adj1" fmla="val 18900000"/>
            <a:gd name="adj2" fmla="val 2700000"/>
            <a:gd name="adj3" fmla="val 341"/>
          </a:avLst>
        </a:prstGeom>
        <a:noFill/>
        <a:ln w="12700" cap="flat" cmpd="sng" algn="ctr">
          <a:solidFill>
            <a:schemeClr val="accent3">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F10BD40-3D78-480D-9C3C-DEEAA6B532C0}">
      <dsp:nvSpPr>
        <dsp:cNvPr id="0" name=""/>
        <dsp:cNvSpPr/>
      </dsp:nvSpPr>
      <dsp:spPr>
        <a:xfrm>
          <a:off x="531674" y="361991"/>
          <a:ext cx="10790097" cy="724359"/>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4960" tIns="99060" rIns="99060" bIns="99060" numCol="1" spcCol="1270" anchor="ctr" anchorCtr="0">
          <a:noAutofit/>
        </a:bodyPr>
        <a:lstStyle/>
        <a:p>
          <a:pPr marL="0" lvl="0" indent="0" algn="l" defTabSz="1733550">
            <a:lnSpc>
              <a:spcPct val="90000"/>
            </a:lnSpc>
            <a:spcBef>
              <a:spcPct val="0"/>
            </a:spcBef>
            <a:spcAft>
              <a:spcPct val="35000"/>
            </a:spcAft>
            <a:buNone/>
          </a:pPr>
          <a:r>
            <a:rPr lang="en-CA" sz="3900" kern="1200" dirty="0"/>
            <a:t>Firewall Policies</a:t>
          </a:r>
        </a:p>
      </dsp:txBody>
      <dsp:txXfrm>
        <a:off x="531674" y="361991"/>
        <a:ext cx="10790097" cy="724359"/>
      </dsp:txXfrm>
    </dsp:sp>
    <dsp:sp modelId="{9538A860-37A9-47C9-89B1-15B5ED1C3C45}">
      <dsp:nvSpPr>
        <dsp:cNvPr id="0" name=""/>
        <dsp:cNvSpPr/>
      </dsp:nvSpPr>
      <dsp:spPr>
        <a:xfrm>
          <a:off x="78950" y="271446"/>
          <a:ext cx="905449" cy="905449"/>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0C2ADB5-FB0D-4752-B06B-69F09CC2A46D}">
      <dsp:nvSpPr>
        <dsp:cNvPr id="0" name=""/>
        <dsp:cNvSpPr/>
      </dsp:nvSpPr>
      <dsp:spPr>
        <a:xfrm>
          <a:off x="946966" y="1448718"/>
          <a:ext cx="10374805" cy="724359"/>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4960" tIns="99060" rIns="99060" bIns="99060" numCol="1" spcCol="1270" anchor="ctr" anchorCtr="0">
          <a:noAutofit/>
        </a:bodyPr>
        <a:lstStyle/>
        <a:p>
          <a:pPr marL="0" lvl="0" indent="0" algn="l" defTabSz="1733550">
            <a:lnSpc>
              <a:spcPct val="90000"/>
            </a:lnSpc>
            <a:spcBef>
              <a:spcPct val="0"/>
            </a:spcBef>
            <a:spcAft>
              <a:spcPct val="35000"/>
            </a:spcAft>
            <a:buNone/>
          </a:pPr>
          <a:r>
            <a:rPr lang="en-CA" sz="3900" kern="1200" dirty="0"/>
            <a:t>Configuring Firewall Policies</a:t>
          </a:r>
        </a:p>
      </dsp:txBody>
      <dsp:txXfrm>
        <a:off x="946966" y="1448718"/>
        <a:ext cx="10374805" cy="724359"/>
      </dsp:txXfrm>
    </dsp:sp>
    <dsp:sp modelId="{4878E8A0-0F62-483E-9C85-41A7D184C6F2}">
      <dsp:nvSpPr>
        <dsp:cNvPr id="0" name=""/>
        <dsp:cNvSpPr/>
      </dsp:nvSpPr>
      <dsp:spPr>
        <a:xfrm>
          <a:off x="494242" y="1358174"/>
          <a:ext cx="905449" cy="905449"/>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63D8216-A541-4DFA-963D-37F99664E5CA}">
      <dsp:nvSpPr>
        <dsp:cNvPr id="0" name=""/>
        <dsp:cNvSpPr/>
      </dsp:nvSpPr>
      <dsp:spPr>
        <a:xfrm>
          <a:off x="946966" y="2535446"/>
          <a:ext cx="10374805" cy="724359"/>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4960" tIns="99060" rIns="99060" bIns="99060" numCol="1" spcCol="1270" anchor="ctr" anchorCtr="0">
          <a:noAutofit/>
        </a:bodyPr>
        <a:lstStyle/>
        <a:p>
          <a:pPr marL="0" lvl="0" indent="0" algn="l" defTabSz="1733550">
            <a:lnSpc>
              <a:spcPct val="90000"/>
            </a:lnSpc>
            <a:spcBef>
              <a:spcPct val="0"/>
            </a:spcBef>
            <a:spcAft>
              <a:spcPct val="35000"/>
            </a:spcAft>
            <a:buNone/>
          </a:pPr>
          <a:r>
            <a:rPr lang="en-CA" sz="3900" kern="1200" dirty="0"/>
            <a:t>Managing Firewall Policies</a:t>
          </a:r>
        </a:p>
      </dsp:txBody>
      <dsp:txXfrm>
        <a:off x="946966" y="2535446"/>
        <a:ext cx="10374805" cy="724359"/>
      </dsp:txXfrm>
    </dsp:sp>
    <dsp:sp modelId="{0B3E8BE0-A7F0-4C2D-9FEB-4C59B0782F15}">
      <dsp:nvSpPr>
        <dsp:cNvPr id="0" name=""/>
        <dsp:cNvSpPr/>
      </dsp:nvSpPr>
      <dsp:spPr>
        <a:xfrm>
          <a:off x="494242" y="2444901"/>
          <a:ext cx="905449" cy="905449"/>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0D5C52C-DE7D-4089-AE4A-0B5E73A2C228}">
      <dsp:nvSpPr>
        <dsp:cNvPr id="0" name=""/>
        <dsp:cNvSpPr/>
      </dsp:nvSpPr>
      <dsp:spPr>
        <a:xfrm>
          <a:off x="531674" y="3622174"/>
          <a:ext cx="10790097" cy="724359"/>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4960" tIns="99060" rIns="99060" bIns="99060" numCol="1" spcCol="1270" anchor="ctr" anchorCtr="0">
          <a:noAutofit/>
        </a:bodyPr>
        <a:lstStyle/>
        <a:p>
          <a:pPr marL="0" lvl="0" indent="0" algn="l" defTabSz="1733550">
            <a:lnSpc>
              <a:spcPct val="90000"/>
            </a:lnSpc>
            <a:spcBef>
              <a:spcPct val="0"/>
            </a:spcBef>
            <a:spcAft>
              <a:spcPct val="35000"/>
            </a:spcAft>
            <a:buNone/>
          </a:pPr>
          <a:r>
            <a:rPr lang="en-CA" sz="3900" kern="1200" dirty="0"/>
            <a:t>Best Practices and Troubleshooting</a:t>
          </a:r>
        </a:p>
      </dsp:txBody>
      <dsp:txXfrm>
        <a:off x="531674" y="3622174"/>
        <a:ext cx="10790097" cy="724359"/>
      </dsp:txXfrm>
    </dsp:sp>
    <dsp:sp modelId="{DE29320D-229B-415F-AAC2-B1CB2C284E5A}">
      <dsp:nvSpPr>
        <dsp:cNvPr id="0" name=""/>
        <dsp:cNvSpPr/>
      </dsp:nvSpPr>
      <dsp:spPr>
        <a:xfrm>
          <a:off x="78950" y="3531629"/>
          <a:ext cx="905449" cy="905449"/>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93A696-9230-4ACA-9D52-83E05F9F38F7}">
      <dsp:nvSpPr>
        <dsp:cNvPr id="0" name=""/>
        <dsp:cNvSpPr/>
      </dsp:nvSpPr>
      <dsp:spPr>
        <a:xfrm>
          <a:off x="-5323539" y="-815266"/>
          <a:ext cx="6339057" cy="6339057"/>
        </a:xfrm>
        <a:prstGeom prst="blockArc">
          <a:avLst>
            <a:gd name="adj1" fmla="val 18900000"/>
            <a:gd name="adj2" fmla="val 2700000"/>
            <a:gd name="adj3" fmla="val 341"/>
          </a:avLst>
        </a:prstGeom>
        <a:noFill/>
        <a:ln w="12700" cap="flat" cmpd="sng" algn="ctr">
          <a:solidFill>
            <a:schemeClr val="accent3">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F10BD40-3D78-480D-9C3C-DEEAA6B532C0}">
      <dsp:nvSpPr>
        <dsp:cNvPr id="0" name=""/>
        <dsp:cNvSpPr/>
      </dsp:nvSpPr>
      <dsp:spPr>
        <a:xfrm>
          <a:off x="531674" y="361991"/>
          <a:ext cx="10790097" cy="724359"/>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4960" tIns="99060" rIns="99060" bIns="99060" numCol="1" spcCol="1270" anchor="ctr" anchorCtr="0">
          <a:noAutofit/>
        </a:bodyPr>
        <a:lstStyle/>
        <a:p>
          <a:pPr marL="0" lvl="0" indent="0" algn="l" defTabSz="1733550">
            <a:lnSpc>
              <a:spcPct val="90000"/>
            </a:lnSpc>
            <a:spcBef>
              <a:spcPct val="0"/>
            </a:spcBef>
            <a:spcAft>
              <a:spcPct val="35000"/>
            </a:spcAft>
            <a:buNone/>
          </a:pPr>
          <a:r>
            <a:rPr lang="en-CA" sz="3900" kern="1200" dirty="0"/>
            <a:t>Firewall Policies</a:t>
          </a:r>
        </a:p>
      </dsp:txBody>
      <dsp:txXfrm>
        <a:off x="531674" y="361991"/>
        <a:ext cx="10790097" cy="724359"/>
      </dsp:txXfrm>
    </dsp:sp>
    <dsp:sp modelId="{9538A860-37A9-47C9-89B1-15B5ED1C3C45}">
      <dsp:nvSpPr>
        <dsp:cNvPr id="0" name=""/>
        <dsp:cNvSpPr/>
      </dsp:nvSpPr>
      <dsp:spPr>
        <a:xfrm>
          <a:off x="78950" y="271446"/>
          <a:ext cx="905449" cy="905449"/>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0C2ADB5-FB0D-4752-B06B-69F09CC2A46D}">
      <dsp:nvSpPr>
        <dsp:cNvPr id="0" name=""/>
        <dsp:cNvSpPr/>
      </dsp:nvSpPr>
      <dsp:spPr>
        <a:xfrm>
          <a:off x="946966" y="1448718"/>
          <a:ext cx="10374805" cy="724359"/>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4960" tIns="99060" rIns="99060" bIns="99060" numCol="1" spcCol="1270" anchor="ctr" anchorCtr="0">
          <a:noAutofit/>
        </a:bodyPr>
        <a:lstStyle/>
        <a:p>
          <a:pPr marL="0" lvl="0" indent="0" algn="l" defTabSz="1733550">
            <a:lnSpc>
              <a:spcPct val="90000"/>
            </a:lnSpc>
            <a:spcBef>
              <a:spcPct val="0"/>
            </a:spcBef>
            <a:spcAft>
              <a:spcPct val="35000"/>
            </a:spcAft>
            <a:buNone/>
          </a:pPr>
          <a:r>
            <a:rPr lang="en-CA" sz="3900" kern="1200" dirty="0"/>
            <a:t>Configuring Firewall Policies</a:t>
          </a:r>
        </a:p>
      </dsp:txBody>
      <dsp:txXfrm>
        <a:off x="946966" y="1448718"/>
        <a:ext cx="10374805" cy="724359"/>
      </dsp:txXfrm>
    </dsp:sp>
    <dsp:sp modelId="{4878E8A0-0F62-483E-9C85-41A7D184C6F2}">
      <dsp:nvSpPr>
        <dsp:cNvPr id="0" name=""/>
        <dsp:cNvSpPr/>
      </dsp:nvSpPr>
      <dsp:spPr>
        <a:xfrm>
          <a:off x="494242" y="1358174"/>
          <a:ext cx="905449" cy="905449"/>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63D8216-A541-4DFA-963D-37F99664E5CA}">
      <dsp:nvSpPr>
        <dsp:cNvPr id="0" name=""/>
        <dsp:cNvSpPr/>
      </dsp:nvSpPr>
      <dsp:spPr>
        <a:xfrm>
          <a:off x="946966" y="2535446"/>
          <a:ext cx="10374805" cy="724359"/>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4960" tIns="99060" rIns="99060" bIns="99060" numCol="1" spcCol="1270" anchor="ctr" anchorCtr="0">
          <a:noAutofit/>
        </a:bodyPr>
        <a:lstStyle/>
        <a:p>
          <a:pPr marL="0" lvl="0" indent="0" algn="l" defTabSz="1733550">
            <a:lnSpc>
              <a:spcPct val="90000"/>
            </a:lnSpc>
            <a:spcBef>
              <a:spcPct val="0"/>
            </a:spcBef>
            <a:spcAft>
              <a:spcPct val="35000"/>
            </a:spcAft>
            <a:buNone/>
          </a:pPr>
          <a:r>
            <a:rPr lang="en-CA" sz="3900" kern="1200" dirty="0"/>
            <a:t>Managing Firewall Policies</a:t>
          </a:r>
        </a:p>
      </dsp:txBody>
      <dsp:txXfrm>
        <a:off x="946966" y="2535446"/>
        <a:ext cx="10374805" cy="724359"/>
      </dsp:txXfrm>
    </dsp:sp>
    <dsp:sp modelId="{0B3E8BE0-A7F0-4C2D-9FEB-4C59B0782F15}">
      <dsp:nvSpPr>
        <dsp:cNvPr id="0" name=""/>
        <dsp:cNvSpPr/>
      </dsp:nvSpPr>
      <dsp:spPr>
        <a:xfrm>
          <a:off x="494242" y="2444901"/>
          <a:ext cx="905449" cy="905449"/>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0D5C52C-DE7D-4089-AE4A-0B5E73A2C228}">
      <dsp:nvSpPr>
        <dsp:cNvPr id="0" name=""/>
        <dsp:cNvSpPr/>
      </dsp:nvSpPr>
      <dsp:spPr>
        <a:xfrm>
          <a:off x="531674" y="3622174"/>
          <a:ext cx="10790097" cy="724359"/>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4960" tIns="99060" rIns="99060" bIns="99060" numCol="1" spcCol="1270" anchor="ctr" anchorCtr="0">
          <a:noAutofit/>
        </a:bodyPr>
        <a:lstStyle/>
        <a:p>
          <a:pPr marL="0" lvl="0" indent="0" algn="l" defTabSz="1733550">
            <a:lnSpc>
              <a:spcPct val="90000"/>
            </a:lnSpc>
            <a:spcBef>
              <a:spcPct val="0"/>
            </a:spcBef>
            <a:spcAft>
              <a:spcPct val="35000"/>
            </a:spcAft>
            <a:buNone/>
          </a:pPr>
          <a:r>
            <a:rPr lang="en-CA" sz="3900" kern="1200" dirty="0"/>
            <a:t>Best Practices and Troubleshooting</a:t>
          </a:r>
        </a:p>
      </dsp:txBody>
      <dsp:txXfrm>
        <a:off x="531674" y="3622174"/>
        <a:ext cx="10790097" cy="724359"/>
      </dsp:txXfrm>
    </dsp:sp>
    <dsp:sp modelId="{DE29320D-229B-415F-AAC2-B1CB2C284E5A}">
      <dsp:nvSpPr>
        <dsp:cNvPr id="0" name=""/>
        <dsp:cNvSpPr/>
      </dsp:nvSpPr>
      <dsp:spPr>
        <a:xfrm>
          <a:off x="78950" y="3531629"/>
          <a:ext cx="905449" cy="905449"/>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2.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3.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4.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5.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169920" cy="481727"/>
          </a:xfrm>
          <a:prstGeom prst="rect">
            <a:avLst/>
          </a:prstGeom>
        </p:spPr>
        <p:txBody>
          <a:bodyPr vert="horz" lIns="96608" tIns="48304" rIns="96608" bIns="48304" rtlCol="0"/>
          <a:lstStyle>
            <a:lvl1pPr algn="l">
              <a:defRPr sz="1200"/>
            </a:lvl1pPr>
          </a:lstStyle>
          <a:p>
            <a:r>
              <a:rPr lang="en-US" dirty="0"/>
              <a:t> Firewall Policies</a:t>
            </a:r>
          </a:p>
        </p:txBody>
      </p:sp>
      <p:sp>
        <p:nvSpPr>
          <p:cNvPr id="3" name="Date Placeholder 2"/>
          <p:cNvSpPr>
            <a:spLocks noGrp="1"/>
          </p:cNvSpPr>
          <p:nvPr>
            <p:ph type="dt" sz="quarter" idx="1"/>
          </p:nvPr>
        </p:nvSpPr>
        <p:spPr>
          <a:xfrm>
            <a:off x="4143587" y="1"/>
            <a:ext cx="3169920" cy="481727"/>
          </a:xfrm>
          <a:prstGeom prst="rect">
            <a:avLst/>
          </a:prstGeom>
        </p:spPr>
        <p:txBody>
          <a:bodyPr vert="horz" lIns="96608" tIns="48304" rIns="96608" bIns="48304" rtlCol="0"/>
          <a:lstStyle>
            <a:lvl1pPr algn="r">
              <a:defRPr sz="1200"/>
            </a:lvl1pPr>
          </a:lstStyle>
          <a:p>
            <a:fld id="{A5865519-5FC2-4530-8949-194C152D6575}" type="datetimeFigureOut">
              <a:rPr lang="en-US" smtClean="0"/>
              <a:t>6/9/2022</a:t>
            </a:fld>
            <a:endParaRPr lang="en-US" dirty="0"/>
          </a:p>
        </p:txBody>
      </p:sp>
      <p:sp>
        <p:nvSpPr>
          <p:cNvPr id="4" name="Footer Placeholder 3"/>
          <p:cNvSpPr>
            <a:spLocks noGrp="1"/>
          </p:cNvSpPr>
          <p:nvPr>
            <p:ph type="ftr" sz="quarter" idx="2"/>
          </p:nvPr>
        </p:nvSpPr>
        <p:spPr>
          <a:xfrm>
            <a:off x="0" y="9119478"/>
            <a:ext cx="3169920" cy="481726"/>
          </a:xfrm>
          <a:prstGeom prst="rect">
            <a:avLst/>
          </a:prstGeom>
        </p:spPr>
        <p:txBody>
          <a:bodyPr vert="horz" lIns="96608" tIns="48304" rIns="96608" bIns="48304" rtlCol="0" anchor="b"/>
          <a:lstStyle>
            <a:lvl1pPr algn="l">
              <a:defRPr sz="1200"/>
            </a:lvl1pPr>
          </a:lstStyle>
          <a:p>
            <a:endParaRPr lang="en-US" dirty="0"/>
          </a:p>
        </p:txBody>
      </p:sp>
      <p:sp>
        <p:nvSpPr>
          <p:cNvPr id="5" name="Slide Number Placeholder 4"/>
          <p:cNvSpPr>
            <a:spLocks noGrp="1"/>
          </p:cNvSpPr>
          <p:nvPr>
            <p:ph type="sldNum" sz="quarter" idx="3"/>
          </p:nvPr>
        </p:nvSpPr>
        <p:spPr>
          <a:xfrm>
            <a:off x="4143587" y="9119478"/>
            <a:ext cx="3169920" cy="481726"/>
          </a:xfrm>
          <a:prstGeom prst="rect">
            <a:avLst/>
          </a:prstGeom>
        </p:spPr>
        <p:txBody>
          <a:bodyPr vert="horz" lIns="96608" tIns="48304" rIns="96608" bIns="48304" rtlCol="0" anchor="b"/>
          <a:lstStyle>
            <a:lvl1pPr algn="r">
              <a:defRPr sz="1200"/>
            </a:lvl1pPr>
          </a:lstStyle>
          <a:p>
            <a:fld id="{03DCDAE4-7BEE-42B7-934A-0AC54FC009EB}" type="slidenum">
              <a:rPr lang="en-US" smtClean="0"/>
              <a:t>‹#›</a:t>
            </a:fld>
            <a:endParaRPr lang="en-US" dirty="0"/>
          </a:p>
        </p:txBody>
      </p:sp>
    </p:spTree>
    <p:extLst>
      <p:ext uri="{BB962C8B-B14F-4D97-AF65-F5344CB8AC3E}">
        <p14:creationId xmlns:p14="http://schemas.microsoft.com/office/powerpoint/2010/main" val="3750624698"/>
      </p:ext>
    </p:extLst>
  </p:cSld>
  <p:clrMap bg1="lt1" tx1="dk1" bg2="lt2" tx2="dk2" accent1="accent1" accent2="accent2" accent3="accent3" accent4="accent4" accent5="accent5" accent6="accent6" hlink="hlink" folHlink="folHlink"/>
  <p:hf sldNum="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593725" y="704850"/>
            <a:ext cx="6346825" cy="3571875"/>
          </a:xfrm>
          <a:prstGeom prst="rect">
            <a:avLst/>
          </a:prstGeom>
          <a:noFill/>
          <a:ln w="12700">
            <a:solidFill>
              <a:prstClr val="black"/>
            </a:solidFill>
          </a:ln>
        </p:spPr>
        <p:txBody>
          <a:bodyPr vert="horz" lIns="96608" tIns="48304" rIns="96608" bIns="48304" rtlCol="0" anchor="ctr"/>
          <a:lstStyle/>
          <a:p>
            <a:endParaRPr lang="en-US" dirty="0"/>
          </a:p>
        </p:txBody>
      </p:sp>
      <p:sp>
        <p:nvSpPr>
          <p:cNvPr id="5" name="Notes Placeholder 4"/>
          <p:cNvSpPr>
            <a:spLocks noGrp="1"/>
          </p:cNvSpPr>
          <p:nvPr>
            <p:ph type="body" sz="quarter" idx="3"/>
          </p:nvPr>
        </p:nvSpPr>
        <p:spPr>
          <a:xfrm>
            <a:off x="601382" y="4685102"/>
            <a:ext cx="6342879" cy="3984179"/>
          </a:xfrm>
          <a:prstGeom prst="rect">
            <a:avLst/>
          </a:prstGeom>
        </p:spPr>
        <p:txBody>
          <a:bodyPr vert="horz" lIns="96608" tIns="48304" rIns="96608" bIns="48304"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Header Placeholder 1"/>
          <p:cNvSpPr>
            <a:spLocks noGrp="1"/>
          </p:cNvSpPr>
          <p:nvPr>
            <p:ph type="hdr" sz="quarter"/>
          </p:nvPr>
        </p:nvSpPr>
        <p:spPr>
          <a:xfrm>
            <a:off x="3767149" y="121816"/>
            <a:ext cx="3207281" cy="468510"/>
          </a:xfrm>
          <a:prstGeom prst="rect">
            <a:avLst/>
          </a:prstGeom>
          <a:noFill/>
        </p:spPr>
        <p:txBody>
          <a:bodyPr vert="horz" lIns="0" tIns="0" rIns="0" bIns="0" rtlCol="0"/>
          <a:lstStyle>
            <a:lvl1pPr algn="l">
              <a:defRPr sz="1300">
                <a:solidFill>
                  <a:schemeClr val="tx2"/>
                </a:solidFill>
                <a:latin typeface="+mn-lt"/>
              </a:defRPr>
            </a:lvl1pPr>
          </a:lstStyle>
          <a:p>
            <a:pPr algn="r"/>
            <a:r>
              <a:rPr lang="en-US" sz="1000" dirty="0">
                <a:solidFill>
                  <a:schemeClr val="bg1">
                    <a:lumMod val="50000"/>
                  </a:schemeClr>
                </a:solidFill>
                <a:sym typeface="Wingdings 3" panose="05040102010807070707" pitchFamily="18" charset="2"/>
              </a:rPr>
              <a:t>Firewall Policies</a:t>
            </a:r>
            <a:endParaRPr lang="en-US" sz="1000" dirty="0">
              <a:solidFill>
                <a:schemeClr val="bg1">
                  <a:lumMod val="50000"/>
                </a:schemeClr>
              </a:solidFill>
              <a:cs typeface="Arial" pitchFamily="34" charset="0"/>
            </a:endParaRPr>
          </a:p>
        </p:txBody>
      </p:sp>
    </p:spTree>
    <p:extLst>
      <p:ext uri="{BB962C8B-B14F-4D97-AF65-F5344CB8AC3E}">
        <p14:creationId xmlns:p14="http://schemas.microsoft.com/office/powerpoint/2010/main" val="2720063067"/>
      </p:ext>
    </p:extLst>
  </p:cSld>
  <p:clrMap bg1="lt1" tx1="dk1" bg2="lt2" tx2="dk2" accent1="accent1" accent2="accent2" accent3="accent3" accent4="accent4" accent5="accent5" accent6="accent6" hlink="hlink" folHlink="folHlink"/>
  <p:hf sldNum="0" ftr="0" dt="0"/>
  <p:notesStyle>
    <a:lvl1pPr marL="0" algn="l" defTabSz="914240" rtl="0" eaLnBrk="1" latinLnBrk="0" hangingPunct="1">
      <a:defRPr sz="1000" kern="1200">
        <a:solidFill>
          <a:schemeClr val="tx1"/>
        </a:solidFill>
        <a:latin typeface="Arial" panose="020B0604020202020204" pitchFamily="34" charset="0"/>
        <a:ea typeface="+mn-ea"/>
        <a:cs typeface="Arial" panose="020B0604020202020204" pitchFamily="34" charset="0"/>
      </a:defRPr>
    </a:lvl1pPr>
    <a:lvl2pPr marL="457120" algn="l" defTabSz="914240" rtl="0" eaLnBrk="1" latinLnBrk="0" hangingPunct="1">
      <a:defRPr sz="1000" kern="1200">
        <a:solidFill>
          <a:schemeClr val="tx1"/>
        </a:solidFill>
        <a:latin typeface="Arial" panose="020B0604020202020204" pitchFamily="34" charset="0"/>
        <a:ea typeface="+mn-ea"/>
        <a:cs typeface="Arial" panose="020B0604020202020204" pitchFamily="34" charset="0"/>
      </a:defRPr>
    </a:lvl2pPr>
    <a:lvl3pPr marL="914240" algn="l" defTabSz="914240" rtl="0" eaLnBrk="1" latinLnBrk="0" hangingPunct="1">
      <a:defRPr sz="1000" kern="1200">
        <a:solidFill>
          <a:schemeClr val="tx1"/>
        </a:solidFill>
        <a:latin typeface="Arial" panose="020B0604020202020204" pitchFamily="34" charset="0"/>
        <a:ea typeface="+mn-ea"/>
        <a:cs typeface="Arial" panose="020B0604020202020204" pitchFamily="34" charset="0"/>
      </a:defRPr>
    </a:lvl3pPr>
    <a:lvl4pPr marL="1371360" algn="l" defTabSz="914240" rtl="0" eaLnBrk="1" latinLnBrk="0" hangingPunct="1">
      <a:defRPr sz="1000" kern="1200">
        <a:solidFill>
          <a:schemeClr val="tx1"/>
        </a:solidFill>
        <a:latin typeface="Arial" panose="020B0604020202020204" pitchFamily="34" charset="0"/>
        <a:ea typeface="+mn-ea"/>
        <a:cs typeface="Arial" panose="020B0604020202020204" pitchFamily="34" charset="0"/>
      </a:defRPr>
    </a:lvl4pPr>
    <a:lvl5pPr marL="1828480" algn="l" defTabSz="914240" rtl="0" eaLnBrk="1" latinLnBrk="0" hangingPunct="1">
      <a:defRPr sz="1000" kern="1200">
        <a:solidFill>
          <a:schemeClr val="tx1"/>
        </a:solidFill>
        <a:latin typeface="Arial" panose="020B0604020202020204" pitchFamily="34" charset="0"/>
        <a:ea typeface="+mn-ea"/>
        <a:cs typeface="Arial" panose="020B0604020202020204" pitchFamily="34" charset="0"/>
      </a:defRPr>
    </a:lvl5pPr>
    <a:lvl6pPr marL="2285600" algn="l" defTabSz="914240" rtl="0" eaLnBrk="1" latinLnBrk="0" hangingPunct="1">
      <a:defRPr sz="1200" kern="1200">
        <a:solidFill>
          <a:schemeClr val="tx1"/>
        </a:solidFill>
        <a:latin typeface="+mn-lt"/>
        <a:ea typeface="+mn-ea"/>
        <a:cs typeface="+mn-cs"/>
      </a:defRPr>
    </a:lvl6pPr>
    <a:lvl7pPr marL="2742720" algn="l" defTabSz="914240" rtl="0" eaLnBrk="1" latinLnBrk="0" hangingPunct="1">
      <a:defRPr sz="1200" kern="1200">
        <a:solidFill>
          <a:schemeClr val="tx1"/>
        </a:solidFill>
        <a:latin typeface="+mn-lt"/>
        <a:ea typeface="+mn-ea"/>
        <a:cs typeface="+mn-cs"/>
      </a:defRPr>
    </a:lvl7pPr>
    <a:lvl8pPr marL="3199840" algn="l" defTabSz="914240" rtl="0" eaLnBrk="1" latinLnBrk="0" hangingPunct="1">
      <a:defRPr sz="1200" kern="1200">
        <a:solidFill>
          <a:schemeClr val="tx1"/>
        </a:solidFill>
        <a:latin typeface="+mn-lt"/>
        <a:ea typeface="+mn-ea"/>
        <a:cs typeface="+mn-cs"/>
      </a:defRPr>
    </a:lvl8pPr>
    <a:lvl9pPr marL="3656960" algn="l" defTabSz="91424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lesson, you will learn about firewall policies and how to apply</a:t>
            </a:r>
            <a:r>
              <a:rPr lang="en-US" baseline="0" dirty="0"/>
              <a:t> them</a:t>
            </a:r>
            <a:r>
              <a:rPr lang="en-US" dirty="0"/>
              <a:t> to allow and deny traffic passing through FortiGate. At its core, FortiGate is a firewall, so almost everything that it does to your traffic is linked to your firewall policies.</a:t>
            </a:r>
          </a:p>
        </p:txBody>
      </p:sp>
      <p:sp>
        <p:nvSpPr>
          <p:cNvPr id="4" name="Header Placeholder 3"/>
          <p:cNvSpPr>
            <a:spLocks noGrp="1"/>
          </p:cNvSpPr>
          <p:nvPr>
            <p:ph type="hdr" sz="quarter" idx="10"/>
          </p:nvPr>
        </p:nvSpPr>
        <p:spPr/>
        <p:txBody>
          <a:bodyPr/>
          <a:lstStyle/>
          <a:p>
            <a:pPr algn="r"/>
            <a:r>
              <a:rPr lang="en-US" sz="1000">
                <a:solidFill>
                  <a:schemeClr val="bg1">
                    <a:lumMod val="50000"/>
                  </a:schemeClr>
                </a:solidFill>
                <a:sym typeface="Wingdings 3" panose="05040102010807070707" pitchFamily="18" charset="2"/>
              </a:rPr>
              <a:t>Firewall Policies</a:t>
            </a:r>
            <a:endParaRPr lang="en-US" sz="1000" dirty="0">
              <a:solidFill>
                <a:schemeClr val="bg1">
                  <a:lumMod val="50000"/>
                </a:schemeClr>
              </a:solidFill>
              <a:cs typeface="Arial" pitchFamily="34" charset="0"/>
            </a:endParaRPr>
          </a:p>
        </p:txBody>
      </p:sp>
    </p:spTree>
    <p:extLst>
      <p:ext uri="{BB962C8B-B14F-4D97-AF65-F5344CB8AC3E}">
        <p14:creationId xmlns:p14="http://schemas.microsoft.com/office/powerpoint/2010/main" val="37840235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13838">
              <a:defRPr/>
            </a:pPr>
            <a:r>
              <a:rPr lang="en-CA" baseline="0" dirty="0"/>
              <a:t>In this lesson, you will learn about the topics shown on this slide.</a:t>
            </a:r>
          </a:p>
        </p:txBody>
      </p:sp>
      <p:sp>
        <p:nvSpPr>
          <p:cNvPr id="4" name="Header Placeholder 3"/>
          <p:cNvSpPr>
            <a:spLocks noGrp="1"/>
          </p:cNvSpPr>
          <p:nvPr>
            <p:ph type="hdr" sz="quarter" idx="10"/>
          </p:nvPr>
        </p:nvSpPr>
        <p:spPr/>
        <p:txBody>
          <a:bodyPr/>
          <a:lstStyle/>
          <a:p>
            <a:pPr algn="r"/>
            <a:r>
              <a:rPr lang="en-US" sz="1000">
                <a:solidFill>
                  <a:schemeClr val="bg1">
                    <a:lumMod val="50000"/>
                  </a:schemeClr>
                </a:solidFill>
                <a:sym typeface="Wingdings 3" panose="05040102010807070707" pitchFamily="18" charset="2"/>
              </a:rPr>
              <a:t>Firewall Policies</a:t>
            </a:r>
            <a:endParaRPr lang="en-US" sz="1000" dirty="0">
              <a:solidFill>
                <a:schemeClr val="bg1">
                  <a:lumMod val="50000"/>
                </a:schemeClr>
              </a:solidFill>
              <a:cs typeface="Arial" pitchFamily="34" charset="0"/>
            </a:endParaRPr>
          </a:p>
        </p:txBody>
      </p:sp>
    </p:spTree>
    <p:extLst>
      <p:ext uri="{BB962C8B-B14F-4D97-AF65-F5344CB8AC3E}">
        <p14:creationId xmlns:p14="http://schemas.microsoft.com/office/powerpoint/2010/main" val="22070139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13838">
              <a:defRPr/>
            </a:pPr>
            <a:r>
              <a:rPr lang="en-CA" baseline="0" dirty="0"/>
              <a:t>After completing this section, you should be able to achieve the objectives shown on this slide.</a:t>
            </a:r>
          </a:p>
          <a:p>
            <a:pPr defTabSz="913838">
              <a:defRPr/>
            </a:pPr>
            <a:endParaRPr lang="en-CA" baseline="0" dirty="0"/>
          </a:p>
          <a:p>
            <a:pPr defTabSz="913838">
              <a:defRPr/>
            </a:pPr>
            <a:r>
              <a:rPr lang="en-CA" baseline="0" dirty="0"/>
              <a:t>By demonstrating competence in</a:t>
            </a:r>
            <a:r>
              <a:rPr lang="en-US" dirty="0"/>
              <a:t> identifying the different components of firewall policies,</a:t>
            </a:r>
            <a:r>
              <a:rPr lang="en-US" baseline="0" dirty="0"/>
              <a:t> and recognizing </a:t>
            </a:r>
            <a:r>
              <a:rPr lang="en-CA" dirty="0"/>
              <a:t>how FortiGate matches traffic with firewall policies and takes appropriate action,</a:t>
            </a:r>
            <a:r>
              <a:rPr lang="en-CA" baseline="0" dirty="0"/>
              <a:t> you will have a better understanding of how firewall policies interact with network traffic</a:t>
            </a:r>
            <a:r>
              <a:rPr lang="en-CA" dirty="0"/>
              <a:t>.</a:t>
            </a:r>
          </a:p>
          <a:p>
            <a:pPr defTabSz="913838">
              <a:defRPr/>
            </a:pPr>
            <a:endParaRPr lang="en-CA" dirty="0"/>
          </a:p>
        </p:txBody>
      </p:sp>
      <p:sp>
        <p:nvSpPr>
          <p:cNvPr id="4" name="Header Placeholder 3"/>
          <p:cNvSpPr>
            <a:spLocks noGrp="1"/>
          </p:cNvSpPr>
          <p:nvPr>
            <p:ph type="hdr" sz="quarter" idx="10"/>
          </p:nvPr>
        </p:nvSpPr>
        <p:spPr/>
        <p:txBody>
          <a:bodyPr/>
          <a:lstStyle/>
          <a:p>
            <a:pPr algn="r"/>
            <a:r>
              <a:rPr lang="en-US" sz="1000">
                <a:solidFill>
                  <a:schemeClr val="bg1">
                    <a:lumMod val="50000"/>
                  </a:schemeClr>
                </a:solidFill>
                <a:sym typeface="Wingdings 3" panose="05040102010807070707" pitchFamily="18" charset="2"/>
              </a:rPr>
              <a:t>Firewall Policies</a:t>
            </a:r>
            <a:endParaRPr lang="en-US" sz="1000" dirty="0">
              <a:solidFill>
                <a:schemeClr val="bg1">
                  <a:lumMod val="50000"/>
                </a:schemeClr>
              </a:solidFill>
              <a:cs typeface="Arial" pitchFamily="34" charset="0"/>
            </a:endParaRPr>
          </a:p>
        </p:txBody>
      </p:sp>
    </p:spTree>
    <p:extLst>
      <p:ext uri="{BB962C8B-B14F-4D97-AF65-F5344CB8AC3E}">
        <p14:creationId xmlns:p14="http://schemas.microsoft.com/office/powerpoint/2010/main" val="7592094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begin, you will learn what firewall policies are.</a:t>
            </a:r>
          </a:p>
          <a:p>
            <a:endParaRPr lang="en-US" dirty="0"/>
          </a:p>
          <a:p>
            <a:pPr defTabSz="948341">
              <a:defRPr/>
            </a:pPr>
            <a:r>
              <a:rPr lang="en-US" dirty="0"/>
              <a:t>Any traffic passing through a FortiGate must be associated with a firewall policy. A policy is a set of instructions that controls traffic flow through the FortiGate. These instructions determine where the traffic goes, how it's handled, and whether it's allowed to pass through the FortiGate. In summary, firewall policies are sets of rules that specify which traffic is allowed through the FortiGate and what FortiGate should do when traffic matches a policy. </a:t>
            </a:r>
          </a:p>
          <a:p>
            <a:pPr defTabSz="948341">
              <a:defRPr/>
            </a:pPr>
            <a:endParaRPr lang="en-US" dirty="0"/>
          </a:p>
          <a:p>
            <a:pPr defTabSz="948063">
              <a:defRPr/>
            </a:pPr>
            <a:r>
              <a:rPr lang="en-US" dirty="0"/>
              <a:t>Should the traffic be allowed? </a:t>
            </a:r>
            <a:r>
              <a:rPr lang="en-US" baseline="0" dirty="0"/>
              <a:t>FortiGate</a:t>
            </a:r>
            <a:r>
              <a:rPr lang="en-US" dirty="0"/>
              <a:t> bases this decision on simple criteria. FortiGate analyzes the source of the traffic, the destination IP address, and the service. If the policy does not block the traffic, FortiGate begins a more computationally expensive security profile inspection</a:t>
            </a:r>
            <a:r>
              <a:rPr lang="en-CA" dirty="0"/>
              <a:t>—</a:t>
            </a:r>
            <a:r>
              <a:rPr lang="en-US" dirty="0"/>
              <a:t>often known as Unified Threat Management (UTM)</a:t>
            </a:r>
            <a:r>
              <a:rPr lang="en-CA" dirty="0"/>
              <a:t>—</a:t>
            </a:r>
            <a:r>
              <a:rPr lang="en-US" dirty="0"/>
              <a:t>such as antivirus, application control, and web filtering, if you’ve chosen it in the policy. These inspections block the traffic if there is a security risk, for example, if the traffic contains a virus. Otherwise, the traffic is allowed.</a:t>
            </a:r>
          </a:p>
          <a:p>
            <a:endParaRPr lang="en-US" dirty="0"/>
          </a:p>
          <a:p>
            <a:r>
              <a:rPr lang="en-US" dirty="0"/>
              <a:t>Will network address translation (NAT) be applied? Is authentication required? Firewall policies also determine the</a:t>
            </a:r>
            <a:r>
              <a:rPr lang="en-US" baseline="0" dirty="0"/>
              <a:t> answers to these questions</a:t>
            </a:r>
            <a:r>
              <a:rPr lang="en-US" dirty="0"/>
              <a:t>. After processing is finished, FortiGate forwards the packet toward its destination.</a:t>
            </a:r>
          </a:p>
          <a:p>
            <a:endParaRPr lang="en-US" dirty="0"/>
          </a:p>
          <a:p>
            <a:r>
              <a:rPr lang="en-US" dirty="0"/>
              <a:t>FortiGate looks for the matching firewall policy from </a:t>
            </a:r>
            <a:r>
              <a:rPr lang="en-US" i="1" dirty="0"/>
              <a:t>top to bottom</a:t>
            </a:r>
            <a:r>
              <a:rPr lang="en-US" dirty="0"/>
              <a:t> and, if a match is found, the traffic is processed based on the</a:t>
            </a:r>
            <a:r>
              <a:rPr lang="en-US" baseline="0" dirty="0"/>
              <a:t> </a:t>
            </a:r>
            <a:r>
              <a:rPr lang="en-US" dirty="0"/>
              <a:t>firewall policy. If no match is found, the traffic is dropped by the default </a:t>
            </a:r>
            <a:r>
              <a:rPr lang="en-US" b="1" dirty="0"/>
              <a:t>Implicit Deny</a:t>
            </a:r>
            <a:r>
              <a:rPr lang="en-US" dirty="0"/>
              <a:t> firewall policy.</a:t>
            </a:r>
          </a:p>
        </p:txBody>
      </p:sp>
      <p:sp>
        <p:nvSpPr>
          <p:cNvPr id="4" name="Header Placeholder 3"/>
          <p:cNvSpPr>
            <a:spLocks noGrp="1"/>
          </p:cNvSpPr>
          <p:nvPr>
            <p:ph type="hdr" sz="quarter" idx="10"/>
          </p:nvPr>
        </p:nvSpPr>
        <p:spPr/>
        <p:txBody>
          <a:bodyPr/>
          <a:lstStyle/>
          <a:p>
            <a:pPr algn="r"/>
            <a:r>
              <a:rPr lang="en-US" sz="1000">
                <a:solidFill>
                  <a:schemeClr val="bg1">
                    <a:lumMod val="50000"/>
                  </a:schemeClr>
                </a:solidFill>
                <a:sym typeface="Wingdings 3" panose="05040102010807070707" pitchFamily="18" charset="2"/>
              </a:rPr>
              <a:t>Firewall Policies</a:t>
            </a:r>
            <a:endParaRPr lang="en-US" sz="1000" dirty="0">
              <a:solidFill>
                <a:schemeClr val="bg1">
                  <a:lumMod val="50000"/>
                </a:schemeClr>
              </a:solidFill>
              <a:cs typeface="Arial" pitchFamily="34" charset="0"/>
            </a:endParaRPr>
          </a:p>
        </p:txBody>
      </p:sp>
    </p:spTree>
    <p:extLst>
      <p:ext uri="{BB962C8B-B14F-4D97-AF65-F5344CB8AC3E}">
        <p14:creationId xmlns:p14="http://schemas.microsoft.com/office/powerpoint/2010/main" val="41718177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policy matches traffic and applies security by referring to the objects that you’ve defined, such as addresses and profiles.</a:t>
            </a:r>
          </a:p>
          <a:p>
            <a:endParaRPr lang="en-US" dirty="0"/>
          </a:p>
          <a:p>
            <a:r>
              <a:rPr lang="en-US" dirty="0"/>
              <a:t>Common policy types are: </a:t>
            </a:r>
          </a:p>
          <a:p>
            <a:endParaRPr lang="en-US" dirty="0"/>
          </a:p>
          <a:p>
            <a:pPr marL="177845" indent="-177845" defTabSz="948341">
              <a:buFont typeface="Arial" panose="020B0604020202020204" pitchFamily="34" charset="0"/>
              <a:buChar char="•"/>
              <a:defRPr/>
            </a:pPr>
            <a:r>
              <a:rPr lang="en-US" dirty="0"/>
              <a:t>Firewall Policy: A firewall policy consists of set of rules that control traffic flow through FortiGate.</a:t>
            </a:r>
          </a:p>
          <a:p>
            <a:pPr marL="177845" indent="-177845" defTabSz="948341">
              <a:buFont typeface="Arial" panose="020B0604020202020204" pitchFamily="34" charset="0"/>
              <a:buChar char="•"/>
              <a:defRPr/>
            </a:pPr>
            <a:r>
              <a:rPr lang="en-US" dirty="0"/>
              <a:t>Firewall Virtual Wire Pair Policy: A virtual wire pair policy is used to control the traffic between the interfaces in a virtual wire pair.</a:t>
            </a:r>
          </a:p>
          <a:p>
            <a:pPr marL="177845" indent="-177845" defTabSz="948341">
              <a:buFont typeface="Arial" panose="020B0604020202020204" pitchFamily="34" charset="0"/>
              <a:buChar char="•"/>
              <a:defRPr/>
            </a:pPr>
            <a:r>
              <a:rPr lang="en-US" dirty="0"/>
              <a:t>Multicast Policy: A multicast policy allows multicast packets to pass from one interface to another.</a:t>
            </a:r>
          </a:p>
          <a:p>
            <a:pPr marL="177845" indent="-177845" defTabSz="948341">
              <a:buFont typeface="Arial" panose="020B0604020202020204" pitchFamily="34" charset="0"/>
              <a:buChar char="•"/>
              <a:defRPr/>
            </a:pPr>
            <a:r>
              <a:rPr lang="en-US" dirty="0"/>
              <a:t>Local In Policy: A </a:t>
            </a:r>
            <a:r>
              <a:rPr lang="en-US" b="0" i="0" dirty="0">
                <a:solidFill>
                  <a:srgbClr val="000000"/>
                </a:solidFill>
                <a:effectLst/>
                <a:latin typeface="HelveticaNeueLT-Light"/>
              </a:rPr>
              <a:t>local-in policy controls the traffic to a FortiGate interface and can be used to restrict administrative access.</a:t>
            </a:r>
          </a:p>
          <a:p>
            <a:pPr marL="177845" indent="-177845" defTabSz="948341">
              <a:buFont typeface="Arial" panose="020B0604020202020204" pitchFamily="34" charset="0"/>
              <a:buChar char="•"/>
              <a:defRPr/>
            </a:pPr>
            <a:r>
              <a:rPr lang="en-US" b="0" i="0" dirty="0">
                <a:solidFill>
                  <a:srgbClr val="000000"/>
                </a:solidFill>
                <a:effectLst/>
                <a:latin typeface="HelveticaNeueLT-Light"/>
              </a:rPr>
              <a:t>DoS Policy: </a:t>
            </a:r>
            <a:r>
              <a:rPr lang="en-US" dirty="0">
                <a:solidFill>
                  <a:srgbClr val="000000"/>
                </a:solidFill>
              </a:rPr>
              <a:t>A denial-of-service (DoS) policy checks for the anomalous patterns in the network traffic that arrives at a FortiGate interface.</a:t>
            </a:r>
          </a:p>
          <a:p>
            <a:pPr defTabSz="948341">
              <a:defRPr/>
            </a:pPr>
            <a:endParaRPr lang="en-US" b="0" i="0" dirty="0">
              <a:solidFill>
                <a:srgbClr val="000000"/>
              </a:solidFill>
              <a:effectLst/>
              <a:latin typeface="HelveticaNeueLT-Light"/>
            </a:endParaRPr>
          </a:p>
          <a:p>
            <a:r>
              <a:rPr lang="en-US" dirty="0"/>
              <a:t>By default, only </a:t>
            </a:r>
            <a:r>
              <a:rPr lang="en-US" b="1" dirty="0"/>
              <a:t>Firewall Policy </a:t>
            </a:r>
            <a:r>
              <a:rPr lang="en-US" dirty="0"/>
              <a:t>is visible under </a:t>
            </a:r>
            <a:r>
              <a:rPr lang="en-US" b="1" dirty="0"/>
              <a:t>Policy and Object</a:t>
            </a:r>
            <a:r>
              <a:rPr lang="en-US" dirty="0"/>
              <a:t>. Other policies are available based on the interface configurations and advanced features enabled through </a:t>
            </a:r>
            <a:r>
              <a:rPr lang="en-US" b="1" dirty="0"/>
              <a:t>Feature Visibility</a:t>
            </a:r>
            <a:r>
              <a:rPr lang="en-US" dirty="0"/>
              <a:t>.</a:t>
            </a:r>
          </a:p>
          <a:p>
            <a:r>
              <a:rPr lang="en-US" dirty="0"/>
              <a:t>In this lesson, you</a:t>
            </a:r>
            <a:r>
              <a:rPr lang="en-US" baseline="0" dirty="0"/>
              <a:t> will learn about </a:t>
            </a:r>
            <a:r>
              <a:rPr lang="en-US" dirty="0"/>
              <a:t>IPv4 firewall policies, because they are the most </a:t>
            </a:r>
            <a:r>
              <a:rPr lang="en-US" dirty="0">
                <a:solidFill>
                  <a:srgbClr val="000000"/>
                </a:solidFill>
              </a:rPr>
              <a:t>commonly used policies.</a:t>
            </a:r>
            <a:endParaRPr lang="en-CA" dirty="0"/>
          </a:p>
        </p:txBody>
      </p:sp>
      <p:sp>
        <p:nvSpPr>
          <p:cNvPr id="4" name="Header Placeholder 3"/>
          <p:cNvSpPr>
            <a:spLocks noGrp="1"/>
          </p:cNvSpPr>
          <p:nvPr>
            <p:ph type="hdr" sz="quarter" idx="10"/>
          </p:nvPr>
        </p:nvSpPr>
        <p:spPr/>
        <p:txBody>
          <a:bodyPr/>
          <a:lstStyle/>
          <a:p>
            <a:pPr algn="r"/>
            <a:r>
              <a:rPr lang="en-US" sz="1000">
                <a:solidFill>
                  <a:schemeClr val="bg1">
                    <a:lumMod val="50000"/>
                  </a:schemeClr>
                </a:solidFill>
                <a:sym typeface="Wingdings 3" panose="05040102010807070707" pitchFamily="18" charset="2"/>
              </a:rPr>
              <a:t>Firewall Policies</a:t>
            </a:r>
            <a:endParaRPr lang="en-US" sz="1000" dirty="0">
              <a:solidFill>
                <a:schemeClr val="bg1">
                  <a:lumMod val="50000"/>
                </a:schemeClr>
              </a:solidFill>
              <a:cs typeface="Arial" pitchFamily="34" charset="0"/>
            </a:endParaRPr>
          </a:p>
        </p:txBody>
      </p:sp>
    </p:spTree>
    <p:extLst>
      <p:ext uri="{BB962C8B-B14F-4D97-AF65-F5344CB8AC3E}">
        <p14:creationId xmlns:p14="http://schemas.microsoft.com/office/powerpoint/2010/main" val="38787282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 packet arrives, how does FortiGate find a matching policy? Each policy has match criteria, which you can define </a:t>
            </a:r>
            <a:r>
              <a:rPr lang="en-US" dirty="0">
                <a:solidFill>
                  <a:schemeClr val="tx1"/>
                </a:solidFill>
              </a:rPr>
              <a:t>using the</a:t>
            </a:r>
            <a:r>
              <a:rPr lang="en-US" baseline="0" dirty="0">
                <a:solidFill>
                  <a:schemeClr val="tx1"/>
                </a:solidFill>
              </a:rPr>
              <a:t> following</a:t>
            </a:r>
            <a:r>
              <a:rPr lang="en-US" dirty="0">
                <a:solidFill>
                  <a:schemeClr val="tx1"/>
                </a:solidFill>
              </a:rPr>
              <a:t> </a:t>
            </a:r>
            <a:r>
              <a:rPr lang="en-US" dirty="0"/>
              <a:t>objects:</a:t>
            </a:r>
          </a:p>
          <a:p>
            <a:pPr marL="177741" indent="-177741">
              <a:buFont typeface="Arial" panose="020B0604020202020204" pitchFamily="34" charset="0"/>
              <a:buChar char="•"/>
            </a:pPr>
            <a:r>
              <a:rPr lang="en-US" b="1" dirty="0"/>
              <a:t>Incoming Interface</a:t>
            </a:r>
          </a:p>
          <a:p>
            <a:pPr marL="177741" indent="-177741">
              <a:buFont typeface="Arial" panose="020B0604020202020204" pitchFamily="34" charset="0"/>
              <a:buChar char="•"/>
            </a:pPr>
            <a:r>
              <a:rPr lang="en-US" b="1" i="0" dirty="0"/>
              <a:t>Outgoing</a:t>
            </a:r>
            <a:r>
              <a:rPr lang="en-US" b="1" i="1" dirty="0"/>
              <a:t> </a:t>
            </a:r>
            <a:r>
              <a:rPr lang="en-US" b="1" i="0" dirty="0"/>
              <a:t>Interface</a:t>
            </a:r>
          </a:p>
          <a:p>
            <a:pPr marL="177741" indent="-177741">
              <a:buFont typeface="Arial" panose="020B0604020202020204" pitchFamily="34" charset="0"/>
              <a:buChar char="•"/>
            </a:pPr>
            <a:r>
              <a:rPr lang="en-US" b="1" dirty="0"/>
              <a:t>Source</a:t>
            </a:r>
            <a:r>
              <a:rPr lang="en-US" dirty="0"/>
              <a:t>:</a:t>
            </a:r>
            <a:r>
              <a:rPr lang="en-US" baseline="0" dirty="0"/>
              <a:t> </a:t>
            </a:r>
            <a:r>
              <a:rPr lang="en-US" dirty="0"/>
              <a:t>IP address, user, internet services</a:t>
            </a:r>
          </a:p>
          <a:p>
            <a:pPr marL="177741" indent="-177741" defTabSz="913838">
              <a:buFont typeface="Arial" panose="020B0604020202020204" pitchFamily="34" charset="0"/>
              <a:buChar char="•"/>
              <a:defRPr/>
            </a:pPr>
            <a:r>
              <a:rPr lang="en-US" b="1" dirty="0"/>
              <a:t>Destination</a:t>
            </a:r>
            <a:r>
              <a:rPr lang="en-US" dirty="0"/>
              <a:t>: IP address or internet services</a:t>
            </a:r>
          </a:p>
          <a:p>
            <a:pPr marL="177741" indent="-177741">
              <a:buFont typeface="Arial" panose="020B0604020202020204" pitchFamily="34" charset="0"/>
              <a:buChar char="•"/>
            </a:pPr>
            <a:r>
              <a:rPr lang="en-US" b="1" dirty="0"/>
              <a:t>Service</a:t>
            </a:r>
            <a:r>
              <a:rPr lang="en-US" dirty="0"/>
              <a:t>:</a:t>
            </a:r>
            <a:r>
              <a:rPr lang="en-US" baseline="0" dirty="0"/>
              <a:t> </a:t>
            </a:r>
            <a:r>
              <a:rPr lang="en-US" dirty="0"/>
              <a:t>IP protocol and port number</a:t>
            </a:r>
          </a:p>
          <a:p>
            <a:pPr marL="177741" indent="-177741" defTabSz="948341">
              <a:buFont typeface="Arial" panose="020B0604020202020204" pitchFamily="34" charset="0"/>
              <a:buChar char="•"/>
              <a:defRPr/>
            </a:pPr>
            <a:r>
              <a:rPr lang="en-US" b="1" dirty="0"/>
              <a:t>Schedule</a:t>
            </a:r>
            <a:r>
              <a:rPr lang="en-US" dirty="0"/>
              <a:t>: </a:t>
            </a:r>
            <a:r>
              <a:rPr lang="en-US" dirty="0">
                <a:solidFill>
                  <a:srgbClr val="000000"/>
                </a:solidFill>
              </a:rPr>
              <a:t>Specific times to apply policy</a:t>
            </a:r>
            <a:endParaRPr lang="en-US" dirty="0">
              <a:solidFill>
                <a:prstClr val="black"/>
              </a:solidFill>
            </a:endParaRPr>
          </a:p>
          <a:p>
            <a:pPr marL="177741" indent="-177741" defTabSz="948341">
              <a:buFont typeface="Arial" panose="020B0604020202020204" pitchFamily="34" charset="0"/>
              <a:buChar char="•"/>
              <a:defRPr/>
            </a:pPr>
            <a:endParaRPr lang="en-US" dirty="0"/>
          </a:p>
          <a:p>
            <a:r>
              <a:rPr lang="en-US" dirty="0"/>
              <a:t>If the traffic</a:t>
            </a:r>
            <a:r>
              <a:rPr lang="en-US" baseline="0" dirty="0"/>
              <a:t> matches a firewall policy, FortiGate applies the action configured in the firewall policy: </a:t>
            </a:r>
          </a:p>
          <a:p>
            <a:pPr marL="171400" indent="-171400">
              <a:buFont typeface="Arial" panose="020B0604020202020204" pitchFamily="34" charset="0"/>
              <a:buChar char="•"/>
            </a:pPr>
            <a:r>
              <a:rPr lang="en-US" baseline="0" dirty="0"/>
              <a:t>If the </a:t>
            </a:r>
            <a:r>
              <a:rPr lang="en-US" b="1" baseline="0" dirty="0"/>
              <a:t>Action</a:t>
            </a:r>
            <a:r>
              <a:rPr lang="en-US" baseline="0" dirty="0"/>
              <a:t> is set to </a:t>
            </a:r>
            <a:r>
              <a:rPr lang="en-US" b="1" baseline="0" dirty="0"/>
              <a:t>DENY</a:t>
            </a:r>
            <a:r>
              <a:rPr lang="en-US" b="0" baseline="0" dirty="0"/>
              <a:t>, FortiGate drops the session. </a:t>
            </a:r>
          </a:p>
          <a:p>
            <a:pPr marL="171400" indent="-171400">
              <a:buFont typeface="Arial" panose="020B0604020202020204" pitchFamily="34" charset="0"/>
              <a:buChar char="•"/>
            </a:pPr>
            <a:r>
              <a:rPr lang="en-US" b="0" baseline="0" dirty="0"/>
              <a:t>If the </a:t>
            </a:r>
            <a:r>
              <a:rPr lang="en-US" b="1" baseline="0" dirty="0"/>
              <a:t>Action</a:t>
            </a:r>
            <a:r>
              <a:rPr lang="en-US" baseline="0" dirty="0"/>
              <a:t> is set to </a:t>
            </a:r>
            <a:r>
              <a:rPr lang="en-US" b="1" baseline="0" dirty="0"/>
              <a:t>ACCEPT</a:t>
            </a:r>
            <a:r>
              <a:rPr lang="en-US" b="0" baseline="0" dirty="0"/>
              <a:t>, </a:t>
            </a:r>
            <a:r>
              <a:rPr lang="en-US" dirty="0"/>
              <a:t>FortiGate allows the session and applies other configured settings for packet processing</a:t>
            </a:r>
            <a:r>
              <a:rPr lang="en-CA" dirty="0"/>
              <a:t>, such as user authentication, source NAT, antivirus scanning, web filtering</a:t>
            </a:r>
            <a:r>
              <a:rPr lang="en-US" dirty="0">
                <a:solidFill>
                  <a:srgbClr val="000000"/>
                </a:solidFill>
              </a:rPr>
              <a:t>, and so on.</a:t>
            </a:r>
            <a:endParaRPr lang="en-US" i="1" dirty="0"/>
          </a:p>
          <a:p>
            <a:endParaRPr lang="en-US" baseline="0" dirty="0"/>
          </a:p>
          <a:p>
            <a:r>
              <a:rPr lang="en-US" baseline="0" dirty="0"/>
              <a:t>When FortiGate receives traffic, it evaluates the packet’s source IP address, destination IP address, and the requested service (protocol and port number). It also checks the incoming interface and the outgoing interface it needs to use. Based on this information, FortiGate identifies the firewall policy and evaluates the traffic. If the traffic matches the </a:t>
            </a:r>
            <a:r>
              <a:rPr lang="en-US" dirty="0"/>
              <a:t>policy, then </a:t>
            </a:r>
            <a:r>
              <a:rPr lang="en-US" dirty="0">
                <a:solidFill>
                  <a:srgbClr val="000000"/>
                </a:solidFill>
              </a:rPr>
              <a:t>FortiGate applies</a:t>
            </a:r>
            <a:r>
              <a:rPr lang="en-US" dirty="0"/>
              <a:t> the action (Accept</a:t>
            </a:r>
            <a:r>
              <a:rPr lang="en-US" baseline="0" dirty="0"/>
              <a:t>/Deny) defined in the policy.</a:t>
            </a:r>
          </a:p>
          <a:p>
            <a:r>
              <a:rPr lang="en-US" baseline="0"/>
              <a:t>For </a:t>
            </a:r>
            <a:r>
              <a:rPr lang="en-US" baseline="0" dirty="0"/>
              <a:t>example, to block incoming FTP traffic to all but a few FTP servers, define the addresses of the FTP servers as the destination, and select FTP as the service. You probably </a:t>
            </a:r>
            <a:r>
              <a:rPr lang="en-US" b="0" i="1" u="none" baseline="0" dirty="0"/>
              <a:t>wouldn’t</a:t>
            </a:r>
            <a:r>
              <a:rPr lang="en-US" b="1" baseline="0" dirty="0"/>
              <a:t> </a:t>
            </a:r>
            <a:r>
              <a:rPr lang="en-US" baseline="0" dirty="0"/>
              <a:t>specify a source (often any location on the internet is allowed) or schedule (FTP servers are usually always available, day or night). Finally, set the </a:t>
            </a:r>
            <a:r>
              <a:rPr lang="en-US" b="1" baseline="0" dirty="0"/>
              <a:t>Action </a:t>
            </a:r>
            <a:r>
              <a:rPr lang="en-US" baseline="0" dirty="0"/>
              <a:t>setting to </a:t>
            </a:r>
            <a:r>
              <a:rPr lang="en-US" b="1" baseline="0" dirty="0"/>
              <a:t>ACCEPT</a:t>
            </a:r>
            <a:r>
              <a:rPr lang="en-US" baseline="0" dirty="0"/>
              <a:t>.</a:t>
            </a:r>
          </a:p>
          <a:p>
            <a:endParaRPr lang="en-US" baseline="0" dirty="0"/>
          </a:p>
        </p:txBody>
      </p:sp>
      <p:sp>
        <p:nvSpPr>
          <p:cNvPr id="4" name="Header Placeholder 3"/>
          <p:cNvSpPr>
            <a:spLocks noGrp="1"/>
          </p:cNvSpPr>
          <p:nvPr>
            <p:ph type="hdr" sz="quarter" idx="10"/>
          </p:nvPr>
        </p:nvSpPr>
        <p:spPr/>
        <p:txBody>
          <a:bodyPr/>
          <a:lstStyle/>
          <a:p>
            <a:pPr algn="r"/>
            <a:r>
              <a:rPr lang="en-US" sz="1000">
                <a:solidFill>
                  <a:schemeClr val="bg1">
                    <a:lumMod val="50000"/>
                  </a:schemeClr>
                </a:solidFill>
                <a:sym typeface="Wingdings 3" panose="05040102010807070707" pitchFamily="18" charset="2"/>
              </a:rPr>
              <a:t>Firewall Policies</a:t>
            </a:r>
            <a:endParaRPr lang="en-US" sz="1000" dirty="0">
              <a:solidFill>
                <a:schemeClr val="bg1">
                  <a:lumMod val="50000"/>
                </a:schemeClr>
              </a:solidFill>
              <a:cs typeface="Arial" pitchFamily="34" charset="0"/>
            </a:endParaRPr>
          </a:p>
        </p:txBody>
      </p:sp>
    </p:spTree>
    <p:extLst>
      <p:ext uri="{BB962C8B-B14F-4D97-AF65-F5344CB8AC3E}">
        <p14:creationId xmlns:p14="http://schemas.microsoft.com/office/powerpoint/2010/main" val="39260276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trike="noStrike" dirty="0"/>
              <a:t>To begin describing how FortiGate finds a policy for each packet, let’s start with the interfaces. </a:t>
            </a:r>
          </a:p>
          <a:p>
            <a:endParaRPr lang="en-US" strike="noStrike" baseline="0" dirty="0"/>
          </a:p>
          <a:p>
            <a:r>
              <a:rPr lang="en-US" baseline="0" dirty="0"/>
              <a:t>Packets arrive on an incoming, or ingress, interface. Routing determines the outgoing, or egress, interface. In each policy, you </a:t>
            </a:r>
            <a:r>
              <a:rPr lang="en-US" b="0" i="1" baseline="0" dirty="0"/>
              <a:t>must</a:t>
            </a:r>
            <a:r>
              <a:rPr lang="en-US" b="1" baseline="0" dirty="0"/>
              <a:t> </a:t>
            </a:r>
            <a:r>
              <a:rPr lang="en-US" baseline="0" dirty="0"/>
              <a:t>set a source and destination interface; even if one or both are set to </a:t>
            </a:r>
            <a:r>
              <a:rPr lang="en-US" b="1" baseline="0" dirty="0"/>
              <a:t>any</a:t>
            </a:r>
            <a:r>
              <a:rPr lang="en-US" baseline="0" dirty="0"/>
              <a:t>. Both interfaces must match the policy’s interface criteria in order to be a successful match. </a:t>
            </a:r>
          </a:p>
          <a:p>
            <a:endParaRPr lang="en-US" strike="noStrike" baseline="0" dirty="0"/>
          </a:p>
          <a:p>
            <a:pPr defTabSz="913864">
              <a:defRPr/>
            </a:pPr>
            <a:r>
              <a:rPr lang="en-US" strike="noStrike" baseline="0" dirty="0"/>
              <a:t>For example, if you configure policies </a:t>
            </a:r>
            <a:r>
              <a:rPr lang="en-US" b="0" strike="noStrike" baseline="0" dirty="0"/>
              <a:t>between port3 (LAN) ingress and port1 (WAN) egress and a packet arrives on port2, the packet will </a:t>
            </a:r>
            <a:r>
              <a:rPr lang="en-US" b="0" i="1" strike="noStrike" baseline="0" dirty="0"/>
              <a:t>not</a:t>
            </a:r>
            <a:r>
              <a:rPr lang="en-US" b="0" strike="noStrike" baseline="0" dirty="0"/>
              <a:t> match your policies and, therefore, would be dropped because of the implicit deny policy at the end of the list. Even if the policy is from port3 (LAN) ingress to any</a:t>
            </a:r>
            <a:r>
              <a:rPr lang="en-US" b="0" i="0" strike="noStrike" baseline="0" dirty="0"/>
              <a:t> egress</a:t>
            </a:r>
            <a:r>
              <a:rPr lang="en-US" b="0" strike="noStrike" baseline="0" dirty="0"/>
              <a:t>, the packet would still be dropped because it did not match the incoming interface.</a:t>
            </a:r>
          </a:p>
          <a:p>
            <a:endParaRPr lang="en-US" b="0" baseline="0" dirty="0"/>
          </a:p>
          <a:p>
            <a:r>
              <a:rPr lang="en-US" b="0" i="0" strike="noStrike" baseline="0" dirty="0"/>
              <a:t>To simplify policy configuration, you can group interfaces into logical zones. </a:t>
            </a:r>
            <a:r>
              <a:rPr lang="en-US" b="0" baseline="0" dirty="0"/>
              <a:t>For example, you could group port4 to port7 as a DMZ. You can create zones on the </a:t>
            </a:r>
            <a:r>
              <a:rPr lang="en-US" b="1" baseline="0" dirty="0"/>
              <a:t>Interfaces</a:t>
            </a:r>
            <a:r>
              <a:rPr lang="en-US" b="0" baseline="0" dirty="0"/>
              <a:t> page. However, you should note that you cannot reference a</a:t>
            </a:r>
            <a:r>
              <a:rPr lang="en-US" b="0" dirty="0"/>
              <a:t>n interface in</a:t>
            </a:r>
            <a:r>
              <a:rPr lang="en-US" b="0" baseline="0" dirty="0"/>
              <a:t> a</a:t>
            </a:r>
            <a:r>
              <a:rPr lang="en-US" b="0" dirty="0"/>
              <a:t> zone</a:t>
            </a:r>
            <a:r>
              <a:rPr lang="en-US" b="0" baseline="0" dirty="0"/>
              <a:t> </a:t>
            </a:r>
            <a:r>
              <a:rPr lang="en-US" b="0" dirty="0"/>
              <a:t>individually, and, if</a:t>
            </a:r>
            <a:r>
              <a:rPr lang="en-US" b="0" baseline="0" dirty="0"/>
              <a:t> you need to add the interface to the zone, you must remove all references to that interface (for example, firewall policies, firewall addresses, and so on)</a:t>
            </a:r>
            <a:r>
              <a:rPr lang="en-US" b="0" dirty="0"/>
              <a:t>. </a:t>
            </a:r>
            <a:r>
              <a:rPr lang="en-US" b="0" strike="noStrike" dirty="0"/>
              <a:t>If</a:t>
            </a:r>
            <a:r>
              <a:rPr lang="en-US" b="0" strike="noStrike" baseline="0" dirty="0"/>
              <a:t> you think you might need to reference interfaces individually, you should </a:t>
            </a:r>
            <a:r>
              <a:rPr lang="en-US" b="0" baseline="0" dirty="0"/>
              <a:t>set multiple source and destination interfaces in the firewall policy, instead of using zones. </a:t>
            </a:r>
            <a:endParaRPr lang="en-US" b="0" i="0" baseline="0" dirty="0"/>
          </a:p>
          <a:p>
            <a:endParaRPr lang="en-CA" dirty="0"/>
          </a:p>
        </p:txBody>
      </p:sp>
      <p:sp>
        <p:nvSpPr>
          <p:cNvPr id="4" name="Header Placeholder 3"/>
          <p:cNvSpPr>
            <a:spLocks noGrp="1"/>
          </p:cNvSpPr>
          <p:nvPr>
            <p:ph type="hdr" sz="quarter" idx="10"/>
          </p:nvPr>
        </p:nvSpPr>
        <p:spPr/>
        <p:txBody>
          <a:bodyPr/>
          <a:lstStyle/>
          <a:p>
            <a:pPr algn="r"/>
            <a:r>
              <a:rPr lang="en-US" sz="1000">
                <a:solidFill>
                  <a:schemeClr val="bg1">
                    <a:lumMod val="50000"/>
                  </a:schemeClr>
                </a:solidFill>
                <a:sym typeface="Wingdings 3" panose="05040102010807070707" pitchFamily="18" charset="2"/>
              </a:rPr>
              <a:t>Firewall Policies</a:t>
            </a:r>
            <a:endParaRPr lang="en-US" sz="1000" dirty="0">
              <a:solidFill>
                <a:schemeClr val="bg1">
                  <a:lumMod val="50000"/>
                </a:schemeClr>
              </a:solidFill>
              <a:cs typeface="Arial" pitchFamily="34" charset="0"/>
            </a:endParaRPr>
          </a:p>
        </p:txBody>
      </p:sp>
    </p:spTree>
    <p:extLst>
      <p:ext uri="{BB962C8B-B14F-4D97-AF65-F5344CB8AC3E}">
        <p14:creationId xmlns:p14="http://schemas.microsoft.com/office/powerpoint/2010/main" val="41121543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13998">
              <a:defRPr/>
            </a:pPr>
            <a:r>
              <a:rPr lang="en-CA" dirty="0"/>
              <a:t>By default,</a:t>
            </a:r>
            <a:r>
              <a:rPr lang="en-CA" baseline="0" dirty="0"/>
              <a:t> you can select only a single interface as the incoming interface and a single interface as the outgoing interface. This is because the option to select multiple interfaces, or </a:t>
            </a:r>
            <a:r>
              <a:rPr lang="en-CA" b="1" baseline="0" dirty="0"/>
              <a:t>any </a:t>
            </a:r>
            <a:r>
              <a:rPr lang="en-CA" baseline="0" dirty="0"/>
              <a:t>interface in a firewall policy, is disabled on the GUI. However, you can enable the </a:t>
            </a:r>
            <a:r>
              <a:rPr lang="en-CA" b="1" baseline="0" dirty="0"/>
              <a:t>Multiple Interface Policies </a:t>
            </a:r>
            <a:r>
              <a:rPr lang="en-CA" b="0" baseline="0" dirty="0"/>
              <a:t>option</a:t>
            </a:r>
            <a:r>
              <a:rPr lang="en-CA" b="1" baseline="0" dirty="0"/>
              <a:t> </a:t>
            </a:r>
            <a:r>
              <a:rPr lang="en-CA" baseline="0" dirty="0"/>
              <a:t>on </a:t>
            </a:r>
            <a:r>
              <a:rPr lang="en-CA" b="0" baseline="0" dirty="0"/>
              <a:t>the </a:t>
            </a:r>
            <a:r>
              <a:rPr lang="en-CA" b="1" baseline="0" dirty="0"/>
              <a:t>Feature Visibility </a:t>
            </a:r>
            <a:r>
              <a:rPr lang="en-CA" b="0" baseline="0" dirty="0"/>
              <a:t>page to</a:t>
            </a:r>
            <a:r>
              <a:rPr lang="en-CA" b="1" baseline="0" dirty="0"/>
              <a:t> </a:t>
            </a:r>
            <a:r>
              <a:rPr lang="en-CA" baseline="0" dirty="0"/>
              <a:t>disable the single interface restriction.</a:t>
            </a:r>
          </a:p>
          <a:p>
            <a:endParaRPr lang="en-CA" baseline="0" dirty="0"/>
          </a:p>
          <a:p>
            <a:r>
              <a:rPr lang="en-CA" baseline="0" dirty="0"/>
              <a:t>You can also specify multiple interfaces, or use the </a:t>
            </a:r>
            <a:r>
              <a:rPr lang="en-CA" b="0" baseline="0" dirty="0">
                <a:latin typeface="Courier New" panose="02070309020205020404" pitchFamily="49" charset="0"/>
                <a:cs typeface="Courier New" panose="02070309020205020404" pitchFamily="49" charset="0"/>
              </a:rPr>
              <a:t>any</a:t>
            </a:r>
            <a:r>
              <a:rPr lang="en-CA" b="1" baseline="0" dirty="0"/>
              <a:t> </a:t>
            </a:r>
            <a:r>
              <a:rPr lang="en-CA" b="0" baseline="0" dirty="0"/>
              <a:t>option</a:t>
            </a:r>
            <a:r>
              <a:rPr lang="en-CA" baseline="0" dirty="0"/>
              <a:t>, if you configure a firewall policy on the CLI, regardless of the default GUI setting.</a:t>
            </a:r>
          </a:p>
          <a:p>
            <a:endParaRPr lang="en-CA" baseline="0" dirty="0"/>
          </a:p>
          <a:p>
            <a:r>
              <a:rPr lang="en-CA" baseline="0" dirty="0"/>
              <a:t>It is also worth mentioning that when you choose the </a:t>
            </a:r>
            <a:r>
              <a:rPr lang="en-CA" b="1" baseline="0" dirty="0"/>
              <a:t>any </a:t>
            </a:r>
            <a:r>
              <a:rPr lang="en-CA" baseline="0" dirty="0"/>
              <a:t>interface option, you cannot select multiple interfaces for that interface. In </a:t>
            </a:r>
            <a:r>
              <a:rPr lang="en-US" baseline="0" dirty="0"/>
              <a:t>the example shown on this slide</a:t>
            </a:r>
            <a:r>
              <a:rPr lang="en-CA" baseline="0" dirty="0"/>
              <a:t>, because </a:t>
            </a:r>
            <a:r>
              <a:rPr lang="en-CA" b="1" baseline="0" dirty="0"/>
              <a:t>any </a:t>
            </a:r>
            <a:r>
              <a:rPr lang="en-CA" baseline="0" dirty="0"/>
              <a:t>is selected as the outgoing interface, you cannot add any additional interfaces</a:t>
            </a:r>
            <a:r>
              <a:rPr lang="en-CA" i="0" baseline="0" dirty="0"/>
              <a:t>, because </a:t>
            </a:r>
            <a:r>
              <a:rPr lang="en-CA" b="1" i="0" baseline="0" dirty="0"/>
              <a:t>any</a:t>
            </a:r>
            <a:r>
              <a:rPr lang="en-CA" i="0" baseline="0" dirty="0"/>
              <a:t> interface implies that all interfaces have already been selected. </a:t>
            </a:r>
            <a:endParaRPr lang="en-CA" baseline="0" dirty="0"/>
          </a:p>
          <a:p>
            <a:endParaRPr lang="en-CA" dirty="0"/>
          </a:p>
          <a:p>
            <a:endParaRPr lang="en-CA" dirty="0"/>
          </a:p>
        </p:txBody>
      </p:sp>
      <p:sp>
        <p:nvSpPr>
          <p:cNvPr id="4" name="Header Placeholder 3"/>
          <p:cNvSpPr>
            <a:spLocks noGrp="1"/>
          </p:cNvSpPr>
          <p:nvPr>
            <p:ph type="hdr" sz="quarter" idx="10"/>
          </p:nvPr>
        </p:nvSpPr>
        <p:spPr/>
        <p:txBody>
          <a:bodyPr/>
          <a:lstStyle/>
          <a:p>
            <a:pPr algn="r"/>
            <a:r>
              <a:rPr lang="en-US" sz="1000">
                <a:solidFill>
                  <a:schemeClr val="bg1">
                    <a:lumMod val="50000"/>
                  </a:schemeClr>
                </a:solidFill>
                <a:sym typeface="Wingdings 3" panose="05040102010807070707" pitchFamily="18" charset="2"/>
              </a:rPr>
              <a:t>Firewall Policies</a:t>
            </a:r>
            <a:endParaRPr lang="en-US" sz="1000" dirty="0">
              <a:solidFill>
                <a:schemeClr val="bg1">
                  <a:lumMod val="50000"/>
                </a:schemeClr>
              </a:solidFill>
              <a:cs typeface="Arial" pitchFamily="34" charset="0"/>
            </a:endParaRPr>
          </a:p>
        </p:txBody>
      </p:sp>
    </p:spTree>
    <p:extLst>
      <p:ext uri="{BB962C8B-B14F-4D97-AF65-F5344CB8AC3E}">
        <p14:creationId xmlns:p14="http://schemas.microsoft.com/office/powerpoint/2010/main" val="1304151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next match criteria that FortiGate considers is the packet’s source.</a:t>
            </a:r>
          </a:p>
          <a:p>
            <a:endParaRPr lang="en-US" dirty="0"/>
          </a:p>
          <a:p>
            <a:r>
              <a:rPr lang="en-US" dirty="0"/>
              <a:t>In each firewall policy, you </a:t>
            </a:r>
            <a:r>
              <a:rPr lang="en-US" i="1" dirty="0"/>
              <a:t>must</a:t>
            </a:r>
            <a:r>
              <a:rPr lang="en-US" dirty="0"/>
              <a:t> select a source address object</a:t>
            </a:r>
            <a:r>
              <a:rPr lang="en-US" baseline="0" dirty="0"/>
              <a:t>. Optionally, you can refine your definition of the source address by </a:t>
            </a:r>
            <a:r>
              <a:rPr lang="en-US" b="0" i="1" baseline="0" dirty="0"/>
              <a:t>also</a:t>
            </a:r>
            <a:r>
              <a:rPr lang="en-US" b="1" baseline="0" dirty="0"/>
              <a:t> </a:t>
            </a:r>
            <a:r>
              <a:rPr lang="en-US" baseline="0" dirty="0"/>
              <a:t>selecting a user, or a user group, which provides a much more granular match, for increased security. You can also select </a:t>
            </a:r>
            <a:r>
              <a:rPr lang="en-US" dirty="0"/>
              <a:t>ISDB objects as the source</a:t>
            </a:r>
            <a:r>
              <a:rPr lang="en-US" baseline="0" dirty="0"/>
              <a:t> in the firewall policy, which you will learn about later in this lesson.</a:t>
            </a:r>
            <a:endParaRPr lang="en-US" i="1" baseline="0" dirty="0"/>
          </a:p>
          <a:p>
            <a:pPr marL="0" lvl="1" defTabSz="913864">
              <a:defRPr/>
            </a:pPr>
            <a:endParaRPr lang="en-US" b="1" dirty="0"/>
          </a:p>
          <a:p>
            <a:pPr marL="0" lvl="1" defTabSz="913864">
              <a:defRPr/>
            </a:pPr>
            <a:r>
              <a:rPr lang="en-US" dirty="0"/>
              <a:t>When selecting</a:t>
            </a:r>
            <a:r>
              <a:rPr lang="en-US" baseline="0" dirty="0"/>
              <a:t> a</a:t>
            </a:r>
            <a:r>
              <a:rPr lang="en-US" dirty="0"/>
              <a:t> </a:t>
            </a:r>
            <a:r>
              <a:rPr lang="en-US" baseline="0" dirty="0"/>
              <a:t>fully qualified domain name (</a:t>
            </a:r>
            <a:r>
              <a:rPr lang="en-US" dirty="0"/>
              <a:t>FQDN)</a:t>
            </a:r>
            <a:r>
              <a:rPr lang="en-US" baseline="0" dirty="0"/>
              <a:t> as the source address, it must be resolved by DNS and cached in FortiGate. Make sure FortiGate is configured properly for DNS settings. If FortiGate is not able to resolve an FQDN address, it will present a warning message, and a firewall policy configured with that FQDN may not function properly.</a:t>
            </a:r>
          </a:p>
          <a:p>
            <a:endParaRPr lang="en-CA" dirty="0"/>
          </a:p>
        </p:txBody>
      </p:sp>
      <p:sp>
        <p:nvSpPr>
          <p:cNvPr id="4" name="Header Placeholder 3"/>
          <p:cNvSpPr>
            <a:spLocks noGrp="1"/>
          </p:cNvSpPr>
          <p:nvPr>
            <p:ph type="hdr" sz="quarter" idx="10"/>
          </p:nvPr>
        </p:nvSpPr>
        <p:spPr/>
        <p:txBody>
          <a:bodyPr/>
          <a:lstStyle/>
          <a:p>
            <a:pPr algn="r"/>
            <a:r>
              <a:rPr lang="en-US" sz="1000">
                <a:solidFill>
                  <a:schemeClr val="bg1">
                    <a:lumMod val="50000"/>
                  </a:schemeClr>
                </a:solidFill>
                <a:sym typeface="Wingdings 3" panose="05040102010807070707" pitchFamily="18" charset="2"/>
              </a:rPr>
              <a:t>Firewall Policies</a:t>
            </a:r>
            <a:endParaRPr lang="en-US" sz="1000" dirty="0">
              <a:solidFill>
                <a:schemeClr val="bg1">
                  <a:lumMod val="50000"/>
                </a:schemeClr>
              </a:solidFill>
              <a:cs typeface="Arial" pitchFamily="34" charset="0"/>
            </a:endParaRPr>
          </a:p>
        </p:txBody>
      </p:sp>
    </p:spTree>
    <p:extLst>
      <p:ext uri="{BB962C8B-B14F-4D97-AF65-F5344CB8AC3E}">
        <p14:creationId xmlns:p14="http://schemas.microsoft.com/office/powerpoint/2010/main" val="7933680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If a user is added as part of the source, FortiGate must verify the user before allowing or denying access based on the firewall policy. There are different ways that a user can authenticate. </a:t>
            </a:r>
          </a:p>
          <a:p>
            <a:endParaRPr lang="en-CA" dirty="0"/>
          </a:p>
          <a:p>
            <a:r>
              <a:rPr lang="en-CA" dirty="0"/>
              <a:t>For</a:t>
            </a:r>
            <a:r>
              <a:rPr lang="en-CA" baseline="0" dirty="0"/>
              <a:t> local users,</a:t>
            </a:r>
            <a:r>
              <a:rPr lang="en-CA" dirty="0"/>
              <a:t> the username and password is configured </a:t>
            </a:r>
            <a:r>
              <a:rPr lang="en-CA" i="1" dirty="0"/>
              <a:t>locally</a:t>
            </a:r>
            <a:r>
              <a:rPr lang="en-CA" dirty="0"/>
              <a:t> on FortiGate. When a local user authenticates, the</a:t>
            </a:r>
            <a:r>
              <a:rPr lang="en-CA" baseline="0" dirty="0"/>
              <a:t> credentials that they enter </a:t>
            </a:r>
            <a:r>
              <a:rPr lang="en-CA" dirty="0"/>
              <a:t>must match the username and password configured locally on FortiGate. </a:t>
            </a:r>
          </a:p>
          <a:p>
            <a:endParaRPr lang="en-CA" dirty="0"/>
          </a:p>
          <a:p>
            <a:r>
              <a:rPr lang="en-CA" dirty="0"/>
              <a:t>For a remote user (for example, LDAP or RADIUS), FortiGate receives the username and password from the remote user and passes this information to the authentication server. The authentication server verifies the user login credentials and updates FortiGate. After FortiGate receives that information, it grants access to the network based on the firewall policy.</a:t>
            </a:r>
          </a:p>
          <a:p>
            <a:endParaRPr lang="en-CA" dirty="0"/>
          </a:p>
          <a:p>
            <a:r>
              <a:rPr lang="en-CA" dirty="0"/>
              <a:t>A Fortinet single sign-on (FSSO) user's information is retrieved from the domain controller. Access is granted based on the group information on FortiGate.  </a:t>
            </a:r>
          </a:p>
          <a:p>
            <a:endParaRPr lang="en-CA" dirty="0"/>
          </a:p>
        </p:txBody>
      </p:sp>
      <p:sp>
        <p:nvSpPr>
          <p:cNvPr id="4" name="Header Placeholder 3"/>
          <p:cNvSpPr>
            <a:spLocks noGrp="1"/>
          </p:cNvSpPr>
          <p:nvPr>
            <p:ph type="hdr" sz="quarter" idx="10"/>
          </p:nvPr>
        </p:nvSpPr>
        <p:spPr/>
        <p:txBody>
          <a:bodyPr/>
          <a:lstStyle/>
          <a:p>
            <a:pPr algn="r"/>
            <a:r>
              <a:rPr lang="en-US" sz="1000">
                <a:solidFill>
                  <a:schemeClr val="bg1">
                    <a:lumMod val="50000"/>
                  </a:schemeClr>
                </a:solidFill>
                <a:sym typeface="Wingdings 3" panose="05040102010807070707" pitchFamily="18" charset="2"/>
              </a:rPr>
              <a:t>Firewall Policies</a:t>
            </a:r>
            <a:endParaRPr lang="en-US" sz="1000" dirty="0">
              <a:solidFill>
                <a:schemeClr val="bg1">
                  <a:lumMod val="50000"/>
                </a:schemeClr>
              </a:solidFill>
              <a:cs typeface="Arial" pitchFamily="34" charset="0"/>
            </a:endParaRPr>
          </a:p>
        </p:txBody>
      </p:sp>
    </p:spTree>
    <p:extLst>
      <p:ext uri="{BB962C8B-B14F-4D97-AF65-F5344CB8AC3E}">
        <p14:creationId xmlns:p14="http://schemas.microsoft.com/office/powerpoint/2010/main" val="41259267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example shown on this slide, source selectors identify the specific subnet and</a:t>
            </a:r>
            <a:r>
              <a:rPr lang="en-US" baseline="0" dirty="0"/>
              <a:t> </a:t>
            </a:r>
            <a:r>
              <a:rPr lang="en-US" dirty="0"/>
              <a:t>user group</a:t>
            </a:r>
            <a:r>
              <a:rPr lang="en-US" baseline="0" dirty="0"/>
              <a:t>.</a:t>
            </a:r>
          </a:p>
          <a:p>
            <a:pPr defTabSz="948202">
              <a:defRPr/>
            </a:pPr>
            <a:r>
              <a:rPr lang="en-US" dirty="0"/>
              <a:t>Remember, </a:t>
            </a:r>
            <a:r>
              <a:rPr lang="en-US" b="0" dirty="0"/>
              <a:t>user</a:t>
            </a:r>
            <a:r>
              <a:rPr lang="en-US" dirty="0"/>
              <a:t> is an optional object. The user object is used here to make the policy more specific. If you wanted the policy to match more traffic, you would leave the </a:t>
            </a:r>
            <a:r>
              <a:rPr lang="en-US" b="0" dirty="0"/>
              <a:t>user</a:t>
            </a:r>
            <a:r>
              <a:rPr lang="en-US" dirty="0"/>
              <a:t> object undefined.</a:t>
            </a:r>
          </a:p>
          <a:p>
            <a:endParaRPr lang="en-US" baseline="0" dirty="0"/>
          </a:p>
          <a:p>
            <a:r>
              <a:rPr lang="en-US" baseline="0" dirty="0"/>
              <a:t>You can also use internet service (</a:t>
            </a:r>
            <a:r>
              <a:rPr lang="en-US" dirty="0"/>
              <a:t>ISDB) objects as a source</a:t>
            </a:r>
            <a:r>
              <a:rPr lang="en-US" baseline="0" dirty="0"/>
              <a:t> in the firewall policy. </a:t>
            </a:r>
            <a:r>
              <a:rPr lang="en-US" dirty="0"/>
              <a:t>There is an either/or relationship between internet service objects and source address objects in firewall policies. This means that</a:t>
            </a:r>
            <a:r>
              <a:rPr lang="en-US" baseline="0" dirty="0"/>
              <a:t> you can select</a:t>
            </a:r>
            <a:r>
              <a:rPr lang="en-US" dirty="0"/>
              <a:t> either</a:t>
            </a:r>
            <a:r>
              <a:rPr lang="en-US" baseline="0" dirty="0"/>
              <a:t> a </a:t>
            </a:r>
            <a:r>
              <a:rPr lang="en-US" dirty="0"/>
              <a:t>source address</a:t>
            </a:r>
            <a:r>
              <a:rPr lang="en-US" baseline="0" dirty="0"/>
              <a:t> </a:t>
            </a:r>
            <a:r>
              <a:rPr lang="en-US" dirty="0"/>
              <a:t>or an internet service, but not both.</a:t>
            </a:r>
            <a:endParaRPr lang="en-US" baseline="0" dirty="0"/>
          </a:p>
          <a:p>
            <a:endParaRPr lang="en-US" dirty="0"/>
          </a:p>
          <a:p>
            <a:endParaRPr lang="en-US" dirty="0"/>
          </a:p>
          <a:p>
            <a:endParaRPr lang="en-US" dirty="0"/>
          </a:p>
          <a:p>
            <a:endParaRPr lang="en-US" dirty="0"/>
          </a:p>
          <a:p>
            <a:endParaRPr lang="en-US" dirty="0"/>
          </a:p>
          <a:p>
            <a:endParaRPr lang="en-CA" dirty="0"/>
          </a:p>
        </p:txBody>
      </p:sp>
      <p:sp>
        <p:nvSpPr>
          <p:cNvPr id="4" name="Header Placeholder 3"/>
          <p:cNvSpPr>
            <a:spLocks noGrp="1"/>
          </p:cNvSpPr>
          <p:nvPr>
            <p:ph type="hdr" sz="quarter" idx="10"/>
          </p:nvPr>
        </p:nvSpPr>
        <p:spPr/>
        <p:txBody>
          <a:bodyPr/>
          <a:lstStyle/>
          <a:p>
            <a:pPr algn="r"/>
            <a:r>
              <a:rPr lang="en-US" sz="1000">
                <a:solidFill>
                  <a:schemeClr val="bg1">
                    <a:lumMod val="50000"/>
                  </a:schemeClr>
                </a:solidFill>
                <a:sym typeface="Wingdings 3" panose="05040102010807070707" pitchFamily="18" charset="2"/>
              </a:rPr>
              <a:t>Firewall Policies</a:t>
            </a:r>
            <a:endParaRPr lang="en-US" sz="1000" dirty="0">
              <a:solidFill>
                <a:schemeClr val="bg1">
                  <a:lumMod val="50000"/>
                </a:schemeClr>
              </a:solidFill>
              <a:cs typeface="Arial" pitchFamily="34" charset="0"/>
            </a:endParaRPr>
          </a:p>
        </p:txBody>
      </p:sp>
    </p:spTree>
    <p:extLst>
      <p:ext uri="{BB962C8B-B14F-4D97-AF65-F5344CB8AC3E}">
        <p14:creationId xmlns:p14="http://schemas.microsoft.com/office/powerpoint/2010/main" val="14036217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 the packet’s source, FortiGate also checks the destination address for a match.</a:t>
            </a:r>
          </a:p>
          <a:p>
            <a:endParaRPr lang="en-US" dirty="0"/>
          </a:p>
          <a:p>
            <a:r>
              <a:rPr lang="en-US" dirty="0"/>
              <a:t>You</a:t>
            </a:r>
            <a:r>
              <a:rPr lang="en-US" baseline="0" dirty="0"/>
              <a:t> can use </a:t>
            </a:r>
            <a:r>
              <a:rPr lang="en-US" dirty="0"/>
              <a:t>address objects or ISDB objects as destinations</a:t>
            </a:r>
            <a:r>
              <a:rPr lang="en-US" baseline="0" dirty="0"/>
              <a:t> in the firewall policy. The address object </a:t>
            </a:r>
            <a:r>
              <a:rPr lang="en-US" dirty="0"/>
              <a:t>may be a host name, IP subnet, or range. If you enter an FQDN as the address object, make sure that you’ve configured your FortiGate device with DNS servers. FortiGate uses DNS to resolve those FQDN host names to IP addresses, that appear in the IP header.</a:t>
            </a:r>
          </a:p>
          <a:p>
            <a:endParaRPr lang="en-US" dirty="0"/>
          </a:p>
          <a:p>
            <a:r>
              <a:rPr lang="en-US" dirty="0"/>
              <a:t>You can also choose geographic addresses, which are groups or ranges of addresses that are assigned to a country. FortiGuard is used to update these objects.</a:t>
            </a:r>
          </a:p>
          <a:p>
            <a:endParaRPr lang="en-US" dirty="0"/>
          </a:p>
          <a:p>
            <a:r>
              <a:rPr lang="en-US" dirty="0"/>
              <a:t>Why is there is no option to select a user? The user identification is determined at the ingress interface, and packets are forwarded only to the egress interface after the user is successfully authenticated.</a:t>
            </a:r>
          </a:p>
        </p:txBody>
      </p:sp>
      <p:sp>
        <p:nvSpPr>
          <p:cNvPr id="4" name="Header Placeholder 3"/>
          <p:cNvSpPr>
            <a:spLocks noGrp="1"/>
          </p:cNvSpPr>
          <p:nvPr>
            <p:ph type="hdr" sz="quarter" idx="10"/>
          </p:nvPr>
        </p:nvSpPr>
        <p:spPr/>
        <p:txBody>
          <a:bodyPr/>
          <a:lstStyle/>
          <a:p>
            <a:pPr algn="r"/>
            <a:r>
              <a:rPr lang="en-US" sz="1000">
                <a:solidFill>
                  <a:schemeClr val="bg1">
                    <a:lumMod val="50000"/>
                  </a:schemeClr>
                </a:solidFill>
                <a:sym typeface="Wingdings 3" panose="05040102010807070707" pitchFamily="18" charset="2"/>
              </a:rPr>
              <a:t>Firewall Policies</a:t>
            </a:r>
            <a:endParaRPr lang="en-US" sz="1000" dirty="0">
              <a:solidFill>
                <a:schemeClr val="bg1">
                  <a:lumMod val="50000"/>
                </a:schemeClr>
              </a:solidFill>
              <a:cs typeface="Arial" pitchFamily="34" charset="0"/>
            </a:endParaRPr>
          </a:p>
        </p:txBody>
      </p:sp>
    </p:spTree>
    <p:extLst>
      <p:ext uri="{BB962C8B-B14F-4D97-AF65-F5344CB8AC3E}">
        <p14:creationId xmlns:p14="http://schemas.microsoft.com/office/powerpoint/2010/main" val="20122874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Internet Service </a:t>
            </a:r>
            <a:r>
              <a:rPr lang="en-US" dirty="0"/>
              <a:t>is a database that contains a list of IP addresses, IP protocols, and port numbers used by the most common internet services. FortiGate periodically downloads the newest version of this database from FortiGuard. You can select these </a:t>
            </a:r>
            <a:r>
              <a:rPr lang="en-US" baseline="0" dirty="0"/>
              <a:t>as </a:t>
            </a:r>
            <a:r>
              <a:rPr lang="en-US" b="1" baseline="0" dirty="0"/>
              <a:t>Source</a:t>
            </a:r>
            <a:r>
              <a:rPr lang="en-US" baseline="0" dirty="0"/>
              <a:t> or </a:t>
            </a:r>
            <a:r>
              <a:rPr lang="en-US" b="1" baseline="0" dirty="0"/>
              <a:t>Destination</a:t>
            </a:r>
            <a:r>
              <a:rPr lang="en-US" dirty="0"/>
              <a:t> in the firewall policy.</a:t>
            </a:r>
            <a:endParaRPr lang="en-CA" dirty="0"/>
          </a:p>
          <a:p>
            <a:endParaRPr lang="en-US" dirty="0"/>
          </a:p>
          <a:p>
            <a:pPr marL="0" lvl="1" defTabSz="913838">
              <a:defRPr/>
            </a:pPr>
            <a:r>
              <a:rPr lang="en-US" dirty="0"/>
              <a:t>What happens if you need to allow traffic to only a few</a:t>
            </a:r>
            <a:r>
              <a:rPr lang="en-US" baseline="0" dirty="0"/>
              <a:t> well-known </a:t>
            </a:r>
            <a:r>
              <a:rPr lang="en-US" dirty="0"/>
              <a:t>public internet destinations, such as Dropbox or Facebook? </a:t>
            </a:r>
          </a:p>
          <a:p>
            <a:pPr marL="0" lvl="1" defTabSz="913838">
              <a:defRPr/>
            </a:pPr>
            <a:br>
              <a:rPr lang="en-US" dirty="0"/>
            </a:br>
            <a:r>
              <a:rPr lang="en-US" dirty="0"/>
              <a:t>When configuring your firewall policy, you</a:t>
            </a:r>
            <a:r>
              <a:rPr lang="en-US" baseline="0" dirty="0"/>
              <a:t> can use </a:t>
            </a:r>
            <a:r>
              <a:rPr lang="en-US" b="1" baseline="0" dirty="0"/>
              <a:t>Internet Service </a:t>
            </a:r>
            <a:r>
              <a:rPr lang="en-US" b="0" baseline="0" dirty="0"/>
              <a:t>as the destination in a firewall policy,</a:t>
            </a:r>
            <a:r>
              <a:rPr lang="en-US" baseline="0" dirty="0"/>
              <a:t> which contains all the IP addresses, ports, and protocols used by that service. For the same reason, </a:t>
            </a:r>
            <a:r>
              <a:rPr lang="en-CA" baseline="0" dirty="0"/>
              <a:t>you cannot mix regular address objects with ISDB objects, and you cannot select services on a firewall policy. The ISDB objects already have services information, which is hardcoded.</a:t>
            </a:r>
            <a:endParaRPr lang="en-US" baseline="0" dirty="0"/>
          </a:p>
          <a:p>
            <a:pPr defTabSz="913838">
              <a:defRPr/>
            </a:pPr>
            <a:endParaRPr lang="en-US" baseline="0" dirty="0"/>
          </a:p>
          <a:p>
            <a:pPr defTabSz="913838">
              <a:defRPr/>
            </a:pPr>
            <a:r>
              <a:rPr lang="en-US" baseline="0" dirty="0"/>
              <a:t>Compared with address objects, which you need to </a:t>
            </a:r>
            <a:r>
              <a:rPr lang="en-US" dirty="0"/>
              <a:t>check frequently to make sure that none of the IP addresses have changed or appropriate ports are allowed,</a:t>
            </a:r>
            <a:r>
              <a:rPr lang="en-US" baseline="0" dirty="0"/>
              <a:t> i</a:t>
            </a:r>
            <a:r>
              <a:rPr lang="en-US" dirty="0"/>
              <a:t>nternet services helps make this type of deployment easier and simpler.</a:t>
            </a:r>
          </a:p>
          <a:p>
            <a:endParaRPr lang="en-CA" dirty="0"/>
          </a:p>
        </p:txBody>
      </p:sp>
      <p:sp>
        <p:nvSpPr>
          <p:cNvPr id="4" name="Header Placeholder 3"/>
          <p:cNvSpPr>
            <a:spLocks noGrp="1"/>
          </p:cNvSpPr>
          <p:nvPr>
            <p:ph type="hdr" sz="quarter" idx="10"/>
          </p:nvPr>
        </p:nvSpPr>
        <p:spPr/>
        <p:txBody>
          <a:bodyPr/>
          <a:lstStyle/>
          <a:p>
            <a:pPr algn="r"/>
            <a:r>
              <a:rPr lang="en-US" sz="1000">
                <a:solidFill>
                  <a:schemeClr val="bg1">
                    <a:lumMod val="50000"/>
                  </a:schemeClr>
                </a:solidFill>
                <a:sym typeface="Wingdings 3" panose="05040102010807070707" pitchFamily="18" charset="2"/>
              </a:rPr>
              <a:t>Firewall Policies</a:t>
            </a:r>
            <a:endParaRPr lang="en-US" sz="1000" dirty="0">
              <a:solidFill>
                <a:schemeClr val="bg1">
                  <a:lumMod val="50000"/>
                </a:schemeClr>
              </a:solidFill>
              <a:cs typeface="Arial" pitchFamily="34" charset="0"/>
            </a:endParaRPr>
          </a:p>
        </p:txBody>
      </p:sp>
    </p:spTree>
    <p:extLst>
      <p:ext uri="{BB962C8B-B14F-4D97-AF65-F5344CB8AC3E}">
        <p14:creationId xmlns:p14="http://schemas.microsoft.com/office/powerpoint/2010/main" val="40504106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48202">
              <a:defRPr/>
            </a:pPr>
            <a:r>
              <a:rPr lang="en-US" dirty="0"/>
              <a:t>Geographic-based ISDB objects allow users to define a country, region, and city. These objects can be used in firewall policies for more granular control over the location of the parent ISDB object. </a:t>
            </a:r>
          </a:p>
          <a:p>
            <a:pPr defTabSz="948202">
              <a:defRPr/>
            </a:pPr>
            <a:endParaRPr lang="en-US" dirty="0"/>
          </a:p>
          <a:p>
            <a:pPr defTabSz="948202">
              <a:defRPr/>
            </a:pPr>
            <a:r>
              <a:rPr lang="en-US" dirty="0"/>
              <a:t>ISDB objects are referenced in policies by name, instead of by ID.</a:t>
            </a:r>
          </a:p>
        </p:txBody>
      </p:sp>
      <p:sp>
        <p:nvSpPr>
          <p:cNvPr id="4" name="Header Placeholder 3"/>
          <p:cNvSpPr>
            <a:spLocks noGrp="1"/>
          </p:cNvSpPr>
          <p:nvPr>
            <p:ph type="hdr" sz="quarter" idx="10"/>
          </p:nvPr>
        </p:nvSpPr>
        <p:spPr/>
        <p:txBody>
          <a:bodyPr/>
          <a:lstStyle/>
          <a:p>
            <a:pPr algn="r"/>
            <a:r>
              <a:rPr lang="en-US" sz="1000">
                <a:solidFill>
                  <a:schemeClr val="bg1">
                    <a:lumMod val="50000"/>
                  </a:schemeClr>
                </a:solidFill>
                <a:sym typeface="Wingdings 3" panose="05040102010807070707" pitchFamily="18" charset="2"/>
              </a:rPr>
              <a:t>Firewall Policies</a:t>
            </a:r>
            <a:endParaRPr lang="en-US" sz="1000" dirty="0">
              <a:solidFill>
                <a:schemeClr val="bg1">
                  <a:lumMod val="50000"/>
                </a:schemeClr>
              </a:solidFill>
              <a:cs typeface="Arial" pitchFamily="34" charset="0"/>
            </a:endParaRPr>
          </a:p>
        </p:txBody>
      </p:sp>
    </p:spTree>
    <p:extLst>
      <p:ext uri="{BB962C8B-B14F-4D97-AF65-F5344CB8AC3E}">
        <p14:creationId xmlns:p14="http://schemas.microsoft.com/office/powerpoint/2010/main" val="31242466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48341">
              <a:defRPr/>
            </a:pPr>
            <a:r>
              <a:rPr lang="en-US" dirty="0"/>
              <a:t>You can disable ISDB updates, so they occur only during a change control window. Once ISDB updates are disabled, other scheduled FortiGuard updates for IPS, AV,</a:t>
            </a:r>
            <a:r>
              <a:rPr lang="en-US" baseline="0" dirty="0"/>
              <a:t> and so on,</a:t>
            </a:r>
            <a:r>
              <a:rPr lang="en-US" dirty="0"/>
              <a:t> do not update ISDB. By default, ISDB updates are enabled.</a:t>
            </a:r>
          </a:p>
        </p:txBody>
      </p:sp>
      <p:sp>
        <p:nvSpPr>
          <p:cNvPr id="4" name="Header Placeholder 3"/>
          <p:cNvSpPr>
            <a:spLocks noGrp="1"/>
          </p:cNvSpPr>
          <p:nvPr>
            <p:ph type="hdr" sz="quarter" idx="10"/>
          </p:nvPr>
        </p:nvSpPr>
        <p:spPr/>
        <p:txBody>
          <a:bodyPr/>
          <a:lstStyle/>
          <a:p>
            <a:pPr algn="r"/>
            <a:r>
              <a:rPr lang="en-US" sz="1000">
                <a:solidFill>
                  <a:schemeClr val="bg1">
                    <a:lumMod val="50000"/>
                  </a:schemeClr>
                </a:solidFill>
                <a:sym typeface="Wingdings 3" panose="05040102010807070707" pitchFamily="18" charset="2"/>
              </a:rPr>
              <a:t>Firewall Policies</a:t>
            </a:r>
            <a:endParaRPr lang="en-US" sz="1000" dirty="0">
              <a:solidFill>
                <a:schemeClr val="bg1">
                  <a:lumMod val="50000"/>
                </a:schemeClr>
              </a:solidFill>
              <a:cs typeface="Arial" pitchFamily="34" charset="0"/>
            </a:endParaRPr>
          </a:p>
        </p:txBody>
      </p:sp>
    </p:spTree>
    <p:extLst>
      <p:ext uri="{BB962C8B-B14F-4D97-AF65-F5344CB8AC3E}">
        <p14:creationId xmlns:p14="http://schemas.microsoft.com/office/powerpoint/2010/main" val="39897053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48202">
              <a:defRPr/>
            </a:pPr>
            <a:r>
              <a:rPr lang="en-US" dirty="0"/>
              <a:t>Schedules add a time element to the policy. For example, you might use a policy to allow backup software to activate at night, or create a test window for a remote address that is allowed for testing purposes.</a:t>
            </a:r>
          </a:p>
          <a:p>
            <a:endParaRPr lang="en-US" dirty="0"/>
          </a:p>
          <a:p>
            <a:r>
              <a:rPr lang="en-US" dirty="0"/>
              <a:t>Schedules can be configured and use a 24-hour time clock. There are a few configuration settings worth mentioning:</a:t>
            </a:r>
          </a:p>
          <a:p>
            <a:endParaRPr lang="en-US" dirty="0"/>
          </a:p>
          <a:p>
            <a:pPr marL="171374" indent="-171374">
              <a:buFont typeface="Arial" panose="020B0604020202020204" pitchFamily="34" charset="0"/>
              <a:buChar char="•"/>
            </a:pPr>
            <a:r>
              <a:rPr lang="en-US" b="1" dirty="0"/>
              <a:t>Recurring</a:t>
            </a:r>
            <a:r>
              <a:rPr lang="en-US" dirty="0"/>
              <a:t>:</a:t>
            </a:r>
            <a:r>
              <a:rPr lang="en-US" baseline="0" dirty="0"/>
              <a:t> If you enable </a:t>
            </a:r>
            <a:r>
              <a:rPr lang="en-US" b="1" baseline="0" dirty="0"/>
              <a:t>All Day</a:t>
            </a:r>
            <a:r>
              <a:rPr lang="en-US" baseline="0" dirty="0"/>
              <a:t>, traffic will be allowed for 24 hours for the days selected. </a:t>
            </a:r>
            <a:r>
              <a:rPr lang="en-US" dirty="0"/>
              <a:t>When configuring recurring schedules, if you set the stop time earlier than the start time, the stop time will occur the next day. For example, if you select Sunday as the day, 10:00 as the start time, and 09:00 as the stop time, the schedule will stop on Monday at 09:00. If the start and stop time are identical, the schedule will run for 24 hours.</a:t>
            </a:r>
          </a:p>
          <a:p>
            <a:pPr marL="171374" indent="-171374">
              <a:buFont typeface="Arial" panose="020B0604020202020204" pitchFamily="34" charset="0"/>
              <a:buChar char="•"/>
            </a:pPr>
            <a:r>
              <a:rPr lang="en-US" b="1" dirty="0"/>
              <a:t>One-time</a:t>
            </a:r>
            <a:r>
              <a:rPr lang="en-US" dirty="0"/>
              <a:t>: The start date and time must be earlier than the stop date and time. You can also enable </a:t>
            </a:r>
            <a:r>
              <a:rPr lang="en-US" b="1" dirty="0"/>
              <a:t>Pre-expiration event log</a:t>
            </a:r>
            <a:r>
              <a:rPr lang="en-US" dirty="0"/>
              <a:t>, which will generate an event log N number of days before the schedule expires, where N can be from 1 to 100 days. </a:t>
            </a:r>
          </a:p>
        </p:txBody>
      </p:sp>
      <p:sp>
        <p:nvSpPr>
          <p:cNvPr id="5" name="Header Placeholder 4"/>
          <p:cNvSpPr>
            <a:spLocks noGrp="1"/>
          </p:cNvSpPr>
          <p:nvPr>
            <p:ph type="hdr" sz="quarter" idx="10"/>
          </p:nvPr>
        </p:nvSpPr>
        <p:spPr/>
        <p:txBody>
          <a:bodyPr/>
          <a:lstStyle/>
          <a:p>
            <a:pPr algn="r"/>
            <a:r>
              <a:rPr lang="en-US" sz="1000">
                <a:solidFill>
                  <a:schemeClr val="bg1">
                    <a:lumMod val="50000"/>
                  </a:schemeClr>
                </a:solidFill>
                <a:sym typeface="Wingdings 3" panose="05040102010807070707" pitchFamily="18" charset="2"/>
              </a:rPr>
              <a:t>Firewall Policies</a:t>
            </a:r>
            <a:endParaRPr lang="en-US" sz="1000" dirty="0">
              <a:solidFill>
                <a:schemeClr val="bg1">
                  <a:lumMod val="50000"/>
                </a:schemeClr>
              </a:solidFill>
              <a:cs typeface="Arial" pitchFamily="34" charset="0"/>
            </a:endParaRPr>
          </a:p>
        </p:txBody>
      </p:sp>
    </p:spTree>
    <p:extLst>
      <p:ext uri="{BB962C8B-B14F-4D97-AF65-F5344CB8AC3E}">
        <p14:creationId xmlns:p14="http://schemas.microsoft.com/office/powerpoint/2010/main" val="24973955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Another criterion that FortiGate uses to match policies is the packet’s service.</a:t>
            </a:r>
          </a:p>
          <a:p>
            <a:endParaRPr lang="en-US" dirty="0"/>
          </a:p>
          <a:p>
            <a:r>
              <a:rPr lang="en-US" dirty="0"/>
              <a:t>At the IP layer, protocol numbers (for example, TCP, UDP, SCTP, and so on) together with source and destination ports, define each network service. Generally, only a destination port (that is, the server’s listening port) is defined. Some legacy applications may use a specific source port, but in most modern applications, the source port is randomly identified at transmission time, and therefore is not a reliable way to define the service.</a:t>
            </a:r>
          </a:p>
          <a:p>
            <a:endParaRPr lang="en-US" dirty="0"/>
          </a:p>
          <a:p>
            <a:r>
              <a:rPr lang="en-US" dirty="0"/>
              <a:t>For example, the predefined service object named HTTP is TCP destination port 80, and the predefined service object named HTTPS is TCP destination port 443. However, the source ports last for only a short time and, therefore, are not defined.</a:t>
            </a:r>
          </a:p>
          <a:p>
            <a:endParaRPr lang="en-US" dirty="0"/>
          </a:p>
          <a:p>
            <a:r>
              <a:rPr lang="en-US" dirty="0"/>
              <a:t>By default, services are grouped together to simplify administration</a:t>
            </a:r>
            <a:r>
              <a:rPr lang="en-US" b="0" dirty="0"/>
              <a:t> by categories</a:t>
            </a:r>
            <a:r>
              <a:rPr lang="en-US" dirty="0"/>
              <a:t>. If the predefined services don’t meet your organizational needs, you can create one or more new services, service groups, and categories.</a:t>
            </a:r>
          </a:p>
          <a:p>
            <a:endParaRPr lang="en-CA" dirty="0"/>
          </a:p>
        </p:txBody>
      </p:sp>
      <p:sp>
        <p:nvSpPr>
          <p:cNvPr id="4" name="Header Placeholder 3"/>
          <p:cNvSpPr>
            <a:spLocks noGrp="1"/>
          </p:cNvSpPr>
          <p:nvPr>
            <p:ph type="hdr" sz="quarter" idx="10"/>
          </p:nvPr>
        </p:nvSpPr>
        <p:spPr/>
        <p:txBody>
          <a:bodyPr/>
          <a:lstStyle/>
          <a:p>
            <a:pPr algn="r"/>
            <a:r>
              <a:rPr lang="en-US" sz="1000">
                <a:solidFill>
                  <a:schemeClr val="bg1">
                    <a:lumMod val="50000"/>
                  </a:schemeClr>
                </a:solidFill>
                <a:sym typeface="Wingdings 3" panose="05040102010807070707" pitchFamily="18" charset="2"/>
              </a:rPr>
              <a:t>Firewall Policies</a:t>
            </a:r>
            <a:endParaRPr lang="en-US" sz="1000" dirty="0">
              <a:solidFill>
                <a:schemeClr val="bg1">
                  <a:lumMod val="50000"/>
                </a:schemeClr>
              </a:solidFill>
              <a:cs typeface="Arial" pitchFamily="34" charset="0"/>
            </a:endParaRPr>
          </a:p>
        </p:txBody>
      </p:sp>
    </p:spTree>
    <p:extLst>
      <p:ext uri="{BB962C8B-B14F-4D97-AF65-F5344CB8AC3E}">
        <p14:creationId xmlns:p14="http://schemas.microsoft.com/office/powerpoint/2010/main" val="35445408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Header Placeholder 3"/>
          <p:cNvSpPr>
            <a:spLocks noGrp="1"/>
          </p:cNvSpPr>
          <p:nvPr>
            <p:ph type="hdr" sz="quarter" idx="10"/>
          </p:nvPr>
        </p:nvSpPr>
        <p:spPr/>
        <p:txBody>
          <a:bodyPr/>
          <a:lstStyle/>
          <a:p>
            <a:pPr algn="r"/>
            <a:r>
              <a:rPr lang="en-US" sz="1000">
                <a:solidFill>
                  <a:schemeClr val="bg1">
                    <a:lumMod val="50000"/>
                  </a:schemeClr>
                </a:solidFill>
                <a:sym typeface="Wingdings 3" panose="05040102010807070707" pitchFamily="18" charset="2"/>
              </a:rPr>
              <a:t>Firewall Policies</a:t>
            </a:r>
            <a:endParaRPr lang="en-US" sz="1000" dirty="0">
              <a:solidFill>
                <a:schemeClr val="bg1">
                  <a:lumMod val="50000"/>
                </a:schemeClr>
              </a:solidFill>
              <a:cs typeface="Arial" pitchFamily="34" charset="0"/>
            </a:endParaRPr>
          </a:p>
        </p:txBody>
      </p:sp>
    </p:spTree>
    <p:extLst>
      <p:ext uri="{BB962C8B-B14F-4D97-AF65-F5344CB8AC3E}">
        <p14:creationId xmlns:p14="http://schemas.microsoft.com/office/powerpoint/2010/main" val="327064836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13838">
              <a:defRPr/>
            </a:pPr>
            <a:r>
              <a:rPr lang="en-CA" dirty="0"/>
              <a:t>Good job! You now understand the components</a:t>
            </a:r>
            <a:r>
              <a:rPr lang="en-CA" baseline="0" dirty="0"/>
              <a:t> used in firewall policies and matching criteria used by FortiGate</a:t>
            </a:r>
            <a:r>
              <a:rPr lang="en-CA" dirty="0"/>
              <a:t>.</a:t>
            </a:r>
          </a:p>
          <a:p>
            <a:pPr defTabSz="913838">
              <a:defRPr/>
            </a:pPr>
            <a:endParaRPr lang="en-CA" dirty="0"/>
          </a:p>
          <a:p>
            <a:pPr defTabSz="913838">
              <a:defRPr/>
            </a:pPr>
            <a:r>
              <a:rPr lang="en-CA" dirty="0"/>
              <a:t>Now, you’ll learn how to</a:t>
            </a:r>
            <a:r>
              <a:rPr lang="en-CA" baseline="0" dirty="0"/>
              <a:t> configure firewall policies</a:t>
            </a:r>
            <a:r>
              <a:rPr lang="en-CA" dirty="0"/>
              <a:t>.</a:t>
            </a:r>
          </a:p>
        </p:txBody>
      </p:sp>
      <p:sp>
        <p:nvSpPr>
          <p:cNvPr id="4" name="Header Placeholder 3"/>
          <p:cNvSpPr>
            <a:spLocks noGrp="1"/>
          </p:cNvSpPr>
          <p:nvPr>
            <p:ph type="hdr" sz="quarter" idx="10"/>
          </p:nvPr>
        </p:nvSpPr>
        <p:spPr/>
        <p:txBody>
          <a:bodyPr/>
          <a:lstStyle/>
          <a:p>
            <a:pPr algn="r"/>
            <a:r>
              <a:rPr lang="en-US" sz="1000" dirty="0">
                <a:solidFill>
                  <a:schemeClr val="bg1">
                    <a:lumMod val="50000"/>
                  </a:schemeClr>
                </a:solidFill>
                <a:sym typeface="Wingdings 3" panose="05040102010807070707" pitchFamily="18" charset="2"/>
              </a:rPr>
              <a:t>Firewall Policies</a:t>
            </a:r>
            <a:endParaRPr lang="en-US" sz="1000" dirty="0">
              <a:solidFill>
                <a:schemeClr val="bg1">
                  <a:lumMod val="50000"/>
                </a:schemeClr>
              </a:solidFill>
              <a:cs typeface="Arial" pitchFamily="34" charset="0"/>
            </a:endParaRPr>
          </a:p>
        </p:txBody>
      </p:sp>
    </p:spTree>
    <p:extLst>
      <p:ext uri="{BB962C8B-B14F-4D97-AF65-F5344CB8AC3E}">
        <p14:creationId xmlns:p14="http://schemas.microsoft.com/office/powerpoint/2010/main" val="220701399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13838">
              <a:defRPr/>
            </a:pPr>
            <a:r>
              <a:rPr lang="en-CA" baseline="0" dirty="0"/>
              <a:t>After completing this section, you should be able to achieve the objectives shown on this slide.</a:t>
            </a:r>
          </a:p>
          <a:p>
            <a:pPr defTabSz="913838">
              <a:defRPr/>
            </a:pPr>
            <a:endParaRPr lang="en-CA" baseline="0" dirty="0"/>
          </a:p>
          <a:p>
            <a:pPr defTabSz="913838">
              <a:defRPr/>
            </a:pPr>
            <a:r>
              <a:rPr lang="en-CA" baseline="0" dirty="0"/>
              <a:t>By demonstrating competence in configuring firewall policies, </a:t>
            </a:r>
            <a:r>
              <a:rPr lang="en-US" dirty="0"/>
              <a:t>you will be able to apply the correct setting</a:t>
            </a:r>
            <a:r>
              <a:rPr lang="en-US" baseline="0" dirty="0"/>
              <a:t>s, such as security profiles, logging, and traffic shaping, to firewall policies on FortiGate, and make your network more secure. </a:t>
            </a:r>
            <a:endParaRPr lang="en-CA" dirty="0"/>
          </a:p>
          <a:p>
            <a:endParaRPr lang="en-CA" dirty="0"/>
          </a:p>
        </p:txBody>
      </p:sp>
      <p:sp>
        <p:nvSpPr>
          <p:cNvPr id="4" name="Header Placeholder 3"/>
          <p:cNvSpPr>
            <a:spLocks noGrp="1"/>
          </p:cNvSpPr>
          <p:nvPr>
            <p:ph type="hdr" sz="quarter" idx="10"/>
          </p:nvPr>
        </p:nvSpPr>
        <p:spPr/>
        <p:txBody>
          <a:bodyPr/>
          <a:lstStyle/>
          <a:p>
            <a:pPr algn="r"/>
            <a:r>
              <a:rPr lang="en-US" sz="1000" dirty="0">
                <a:solidFill>
                  <a:schemeClr val="bg1">
                    <a:lumMod val="50000"/>
                  </a:schemeClr>
                </a:solidFill>
                <a:sym typeface="Wingdings 3" panose="05040102010807070707" pitchFamily="18" charset="2"/>
              </a:rPr>
              <a:t>Firewall Policies</a:t>
            </a:r>
            <a:endParaRPr lang="en-US" sz="1000" dirty="0">
              <a:solidFill>
                <a:schemeClr val="bg1">
                  <a:lumMod val="50000"/>
                </a:schemeClr>
              </a:solidFill>
              <a:cs typeface="Arial" pitchFamily="34" charset="0"/>
            </a:endParaRPr>
          </a:p>
        </p:txBody>
      </p:sp>
    </p:spTree>
    <p:extLst>
      <p:ext uri="{BB962C8B-B14F-4D97-AF65-F5344CB8AC3E}">
        <p14:creationId xmlns:p14="http://schemas.microsoft.com/office/powerpoint/2010/main" val="5543652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baseline="0" dirty="0"/>
              <a:t>When you configure a new firewall policy on the GUI, you </a:t>
            </a:r>
            <a:r>
              <a:rPr lang="en-CA" i="1" baseline="0" dirty="0"/>
              <a:t>must </a:t>
            </a:r>
            <a:r>
              <a:rPr lang="en-CA" b="0" baseline="0" dirty="0"/>
              <a:t>specify a unique name for the firewall policy </a:t>
            </a:r>
            <a:r>
              <a:rPr lang="en-CA" b="0" strike="noStrike" baseline="0" dirty="0"/>
              <a:t>because </a:t>
            </a:r>
            <a:r>
              <a:rPr lang="en-CA" b="0" baseline="0" dirty="0"/>
              <a:t>it is enabled by default, while it is optional on the CLI. This helps the administrator to quickly identify the policy that they are looking for. However, you can make this feature optional on the GUI on the </a:t>
            </a:r>
            <a:r>
              <a:rPr lang="en-CA" b="1" baseline="0" dirty="0"/>
              <a:t>Feature Visibility </a:t>
            </a:r>
            <a:r>
              <a:rPr lang="en-CA" b="0" baseline="0" dirty="0"/>
              <a:t>page</a:t>
            </a:r>
            <a:r>
              <a:rPr lang="en-CA" b="1" baseline="0" dirty="0"/>
              <a:t> </a:t>
            </a:r>
            <a:r>
              <a:rPr lang="en-CA" b="0" i="0" baseline="0" dirty="0"/>
              <a:t>by enabling </a:t>
            </a:r>
            <a:r>
              <a:rPr lang="en-CA" b="1" baseline="0" dirty="0"/>
              <a:t>Allow Unnamed Policies</a:t>
            </a:r>
            <a:r>
              <a:rPr lang="en-CA" b="0" i="0" baseline="0" dirty="0"/>
              <a:t>.</a:t>
            </a:r>
          </a:p>
          <a:p>
            <a:endParaRPr lang="en-CA" dirty="0">
              <a:latin typeface="Courier New" pitchFamily="49" charset="0"/>
              <a:cs typeface="Courier New" pitchFamily="49" charset="0"/>
            </a:endParaRPr>
          </a:p>
          <a:p>
            <a:r>
              <a:rPr lang="en-CA" b="0" i="0" baseline="0" dirty="0"/>
              <a:t>Note that if</a:t>
            </a:r>
            <a:r>
              <a:rPr lang="en-CA" b="0" baseline="0" dirty="0"/>
              <a:t> a policy is configured without a policy name on the CLI, and you modify that existing policy on the GUI, you </a:t>
            </a:r>
            <a:r>
              <a:rPr lang="en-CA" i="1" baseline="0" dirty="0"/>
              <a:t>must </a:t>
            </a:r>
            <a:r>
              <a:rPr lang="en-CA" b="0" baseline="0" dirty="0"/>
              <a:t>specify a unique name. </a:t>
            </a:r>
            <a:r>
              <a:rPr lang="en-CA" b="0" i="0" baseline="0" dirty="0"/>
              <a:t>The FortiGate flat GUI view allows you to select interfaces and other objects by clicking or dragging and dropping from the list populated on the right side.</a:t>
            </a:r>
          </a:p>
          <a:p>
            <a:endParaRPr lang="en-CA" b="0" i="0" baseline="0" dirty="0"/>
          </a:p>
          <a:p>
            <a:r>
              <a:rPr lang="en-CA" b="0" i="0" baseline="0" dirty="0"/>
              <a:t>You can select </a:t>
            </a:r>
            <a:r>
              <a:rPr lang="en-CA" b="1" i="0" baseline="0" dirty="0"/>
              <a:t>Internet Service </a:t>
            </a:r>
            <a:r>
              <a:rPr lang="en-CA" b="0" i="0" baseline="0" dirty="0"/>
              <a:t>as the source. </a:t>
            </a:r>
            <a:r>
              <a:rPr lang="en-US" b="1" dirty="0"/>
              <a:t>Internet Service </a:t>
            </a:r>
            <a:r>
              <a:rPr lang="en-US" dirty="0"/>
              <a:t>is a combination of one or more addresses and one or more services associated with a service found on the internet, such as an update service for software. </a:t>
            </a:r>
            <a:endParaRPr lang="en-CA" b="0" i="0" baseline="0" dirty="0"/>
          </a:p>
          <a:p>
            <a:endParaRPr lang="en-CA" b="0" i="0" baseline="0" dirty="0"/>
          </a:p>
          <a:p>
            <a:r>
              <a:rPr lang="en-CA" b="0" i="0" baseline="0" dirty="0"/>
              <a:t>There are many other options that you can configure in the firewall policy, such as firewall and network options, security profiles, logging options, and enabling or disabling a policy.</a:t>
            </a:r>
          </a:p>
          <a:p>
            <a:endParaRPr lang="en-CA" b="0" i="0" baseline="0" dirty="0"/>
          </a:p>
          <a:p>
            <a:r>
              <a:rPr lang="en-CA" b="0" i="0" baseline="0" dirty="0"/>
              <a:t>When creating firewall objects or policies, a universally unique identifier (UUID) attribute is added so that logs can record these UUIDs and improve functionality when integrating with FortiManager or FortiAnalyzer. </a:t>
            </a:r>
          </a:p>
          <a:p>
            <a:endParaRPr lang="en-CA" b="0" i="0" baseline="0" dirty="0"/>
          </a:p>
          <a:p>
            <a:r>
              <a:rPr lang="en-CA" b="0" i="0" baseline="0" dirty="0"/>
              <a:t>When creating firewall policies, remember that FortiGate is a stateful firewall. As a result, you need to create only one firewall policy that matches the direction of the traffic that initiates the session. FortiGate will automatically remember the source-destination pair and allow replies.</a:t>
            </a:r>
          </a:p>
          <a:p>
            <a:endParaRPr lang="en-CA" dirty="0"/>
          </a:p>
        </p:txBody>
      </p:sp>
      <p:sp>
        <p:nvSpPr>
          <p:cNvPr id="4" name="Header Placeholder 3"/>
          <p:cNvSpPr>
            <a:spLocks noGrp="1"/>
          </p:cNvSpPr>
          <p:nvPr>
            <p:ph type="hdr" sz="quarter" idx="10"/>
          </p:nvPr>
        </p:nvSpPr>
        <p:spPr/>
        <p:txBody>
          <a:bodyPr/>
          <a:lstStyle/>
          <a:p>
            <a:pPr algn="r"/>
            <a:r>
              <a:rPr lang="en-US" sz="1000" dirty="0">
                <a:solidFill>
                  <a:schemeClr val="bg1">
                    <a:lumMod val="50000"/>
                  </a:schemeClr>
                </a:solidFill>
                <a:sym typeface="Wingdings 3" panose="05040102010807070707" pitchFamily="18" charset="2"/>
              </a:rPr>
              <a:t>Firewall Policies</a:t>
            </a:r>
            <a:endParaRPr lang="en-US" sz="1000" dirty="0">
              <a:solidFill>
                <a:schemeClr val="bg1">
                  <a:lumMod val="50000"/>
                </a:schemeClr>
              </a:solidFill>
              <a:cs typeface="Arial" pitchFamily="34" charset="0"/>
            </a:endParaRPr>
          </a:p>
        </p:txBody>
      </p:sp>
    </p:spTree>
    <p:extLst>
      <p:ext uri="{BB962C8B-B14F-4D97-AF65-F5344CB8AC3E}">
        <p14:creationId xmlns:p14="http://schemas.microsoft.com/office/powerpoint/2010/main" val="188330100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One of the most important features that a firewall policy can apply is security profiles, such as IPS and antivirus. A security profile inspects each packet in the traffic flow, where the session has already been conditionally accepted by the firewall policy.</a:t>
            </a:r>
          </a:p>
          <a:p>
            <a:endParaRPr lang="en-CA" dirty="0"/>
          </a:p>
          <a:p>
            <a:r>
              <a:rPr lang="en-CA" dirty="0"/>
              <a:t>When inspecting traffic, FortiGate can use one of two methods: flow-based inspection or proxy-based inspection. Different security features are supported by each inspection type.</a:t>
            </a:r>
          </a:p>
          <a:p>
            <a:endParaRPr lang="en-CA" dirty="0"/>
          </a:p>
          <a:p>
            <a:r>
              <a:rPr lang="en-US" dirty="0"/>
              <a:t>Note that</a:t>
            </a:r>
            <a:r>
              <a:rPr lang="en-US" baseline="0" dirty="0"/>
              <a:t> b</a:t>
            </a:r>
            <a:r>
              <a:rPr lang="en-US" dirty="0"/>
              <a:t>y default, the </a:t>
            </a:r>
            <a:r>
              <a:rPr lang="en-US" b="1" dirty="0"/>
              <a:t>Video Filter</a:t>
            </a:r>
            <a:r>
              <a:rPr lang="en-US" b="0" dirty="0"/>
              <a:t>,</a:t>
            </a:r>
            <a:r>
              <a:rPr lang="en-US" b="1" dirty="0"/>
              <a:t> VOIP</a:t>
            </a:r>
            <a:r>
              <a:rPr lang="en-US" b="0" dirty="0"/>
              <a:t>,</a:t>
            </a:r>
            <a:r>
              <a:rPr lang="en-US" b="1" dirty="0"/>
              <a:t> and Web Application Firewall </a:t>
            </a:r>
            <a:r>
              <a:rPr lang="en-US" dirty="0"/>
              <a:t>security profile option is not visible in the policy page on the </a:t>
            </a:r>
            <a:r>
              <a:rPr lang="en-US" baseline="0" dirty="0"/>
              <a:t>GUI</a:t>
            </a:r>
            <a:r>
              <a:rPr lang="en-US" dirty="0"/>
              <a:t>. You need to enable </a:t>
            </a:r>
            <a:r>
              <a:rPr lang="en-US" b="0" dirty="0"/>
              <a:t>them</a:t>
            </a:r>
            <a:r>
              <a:rPr lang="en-US" dirty="0"/>
              <a:t> on the </a:t>
            </a:r>
            <a:r>
              <a:rPr lang="en-US" b="1" dirty="0"/>
              <a:t>Feature Visibility </a:t>
            </a:r>
            <a:r>
              <a:rPr lang="en-US" dirty="0"/>
              <a:t>page.</a:t>
            </a:r>
            <a:endParaRPr lang="en-CA" dirty="0"/>
          </a:p>
          <a:p>
            <a:endParaRPr lang="en-CA" dirty="0"/>
          </a:p>
          <a:p>
            <a:endParaRPr lang="en-CA" dirty="0"/>
          </a:p>
          <a:p>
            <a:endParaRPr lang="en-CA" dirty="0"/>
          </a:p>
          <a:p>
            <a:endParaRPr lang="en-CA" dirty="0"/>
          </a:p>
        </p:txBody>
      </p:sp>
      <p:sp>
        <p:nvSpPr>
          <p:cNvPr id="4" name="Header Placeholder 3"/>
          <p:cNvSpPr>
            <a:spLocks noGrp="1"/>
          </p:cNvSpPr>
          <p:nvPr>
            <p:ph type="hdr" sz="quarter" idx="10"/>
          </p:nvPr>
        </p:nvSpPr>
        <p:spPr/>
        <p:txBody>
          <a:bodyPr/>
          <a:lstStyle/>
          <a:p>
            <a:pPr algn="r"/>
            <a:r>
              <a:rPr lang="en-US" sz="1000" dirty="0">
                <a:solidFill>
                  <a:schemeClr val="bg1">
                    <a:lumMod val="50000"/>
                  </a:schemeClr>
                </a:solidFill>
                <a:sym typeface="Wingdings 3" panose="05040102010807070707" pitchFamily="18" charset="2"/>
              </a:rPr>
              <a:t>Firewall Policies</a:t>
            </a:r>
            <a:endParaRPr lang="en-US" sz="1000" dirty="0">
              <a:solidFill>
                <a:schemeClr val="bg1">
                  <a:lumMod val="50000"/>
                </a:schemeClr>
              </a:solidFill>
              <a:cs typeface="Arial" pitchFamily="34" charset="0"/>
            </a:endParaRPr>
          </a:p>
        </p:txBody>
      </p:sp>
    </p:spTree>
    <p:extLst>
      <p:ext uri="{BB962C8B-B14F-4D97-AF65-F5344CB8AC3E}">
        <p14:creationId xmlns:p14="http://schemas.microsoft.com/office/powerpoint/2010/main" val="28572570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47951">
              <a:defRPr/>
            </a:pPr>
            <a:r>
              <a:rPr lang="en-US" dirty="0"/>
              <a:t>If you have enabled logging in the policy, FortiGate</a:t>
            </a:r>
            <a:r>
              <a:rPr lang="en-US" baseline="0" dirty="0"/>
              <a:t> </a:t>
            </a:r>
            <a:r>
              <a:rPr lang="en-US" dirty="0"/>
              <a:t>generates traffic</a:t>
            </a:r>
            <a:r>
              <a:rPr lang="en-US" baseline="0" dirty="0"/>
              <a:t> logs after a firewall policy closes an IP session.</a:t>
            </a:r>
          </a:p>
          <a:p>
            <a:pPr defTabSz="947951">
              <a:defRPr/>
            </a:pPr>
            <a:endParaRPr lang="en-US" baseline="0" dirty="0"/>
          </a:p>
          <a:p>
            <a:pPr defTabSz="947951">
              <a:defRPr/>
            </a:pPr>
            <a:r>
              <a:rPr lang="en-US" baseline="0" dirty="0"/>
              <a:t>By default, </a:t>
            </a:r>
            <a:r>
              <a:rPr lang="en-US" b="1" baseline="0" dirty="0"/>
              <a:t>Log Allowed Traffic</a:t>
            </a:r>
            <a:r>
              <a:rPr lang="en-US" baseline="0" dirty="0"/>
              <a:t> is enabled and set to </a:t>
            </a:r>
            <a:r>
              <a:rPr lang="en-US" b="1" baseline="0" dirty="0"/>
              <a:t>Security Events</a:t>
            </a:r>
            <a:r>
              <a:rPr lang="en-US" baseline="0" dirty="0"/>
              <a:t> and generates logs for only the applied security profiles in the firewall policy. However, you can change the setting to </a:t>
            </a:r>
            <a:r>
              <a:rPr lang="en-US" b="1" baseline="0" dirty="0"/>
              <a:t>All Sessions</a:t>
            </a:r>
            <a:r>
              <a:rPr lang="en-US" b="0" baseline="0" dirty="0"/>
              <a:t>,</a:t>
            </a:r>
            <a:r>
              <a:rPr lang="en-US" baseline="0" dirty="0"/>
              <a:t> which generates logs for all sessions.</a:t>
            </a:r>
          </a:p>
          <a:p>
            <a:pPr defTabSz="947951">
              <a:defRPr/>
            </a:pPr>
            <a:r>
              <a:rPr lang="en-US" baseline="0" dirty="0"/>
              <a:t>  </a:t>
            </a:r>
          </a:p>
          <a:p>
            <a:pPr defTabSz="947951">
              <a:defRPr/>
            </a:pPr>
            <a:r>
              <a:rPr lang="en-US" baseline="0" dirty="0"/>
              <a:t>If you enable </a:t>
            </a:r>
            <a:r>
              <a:rPr lang="en-US" b="1" baseline="0" dirty="0"/>
              <a:t>Generate Logs when Session Starts</a:t>
            </a:r>
            <a:r>
              <a:rPr lang="en-US" baseline="0" dirty="0"/>
              <a:t>, FortiGate creates a traffic log when the session begins. FortiGate also</a:t>
            </a:r>
            <a:r>
              <a:rPr lang="en-CA" baseline="0" dirty="0"/>
              <a:t> generates a second log for the same session when it is closed.</a:t>
            </a:r>
            <a:r>
              <a:rPr lang="en-US" baseline="0" dirty="0"/>
              <a:t> But remember that increasing logging decreases performance, so use it only when necessary.</a:t>
            </a:r>
          </a:p>
          <a:p>
            <a:endParaRPr lang="en-US" baseline="0" dirty="0"/>
          </a:p>
          <a:p>
            <a:r>
              <a:rPr lang="en-US" baseline="0" dirty="0"/>
              <a:t>During the session, if a security profile detects a violation, FortiGate records the attack log immediately. To reduce the number of log messages generated and improve performance, you can enable a session table entry of dropped traffic. This creates the denied session in the session table and, if the session is denied, all packets of that session are also denied. </a:t>
            </a:r>
            <a:r>
              <a:rPr lang="en-CA" baseline="0" dirty="0"/>
              <a:t>This ensures that FortiGate does not have to do a policy lookup for each new packet matching the denied session, which reduces CPU usage and log generation.</a:t>
            </a:r>
            <a:endParaRPr lang="en-US" baseline="0" dirty="0"/>
          </a:p>
          <a:p>
            <a:endParaRPr lang="en-US" baseline="0" dirty="0"/>
          </a:p>
          <a:p>
            <a:r>
              <a:rPr lang="en-US" baseline="0" dirty="0"/>
              <a:t>This option is in the CLI, and is called </a:t>
            </a:r>
            <a:r>
              <a:rPr lang="en-US" i="0" baseline="0" dirty="0" err="1">
                <a:latin typeface="Courier New" panose="02070309020205020404" pitchFamily="49" charset="0"/>
                <a:cs typeface="Courier New" panose="02070309020205020404" pitchFamily="49" charset="0"/>
              </a:rPr>
              <a:t>ses</a:t>
            </a:r>
            <a:r>
              <a:rPr lang="en-US" i="0" baseline="0" dirty="0">
                <a:latin typeface="Courier New" panose="02070309020205020404" pitchFamily="49" charset="0"/>
                <a:cs typeface="Courier New" panose="02070309020205020404" pitchFamily="49" charset="0"/>
              </a:rPr>
              <a:t>-denied-traffic</a:t>
            </a:r>
            <a:r>
              <a:rPr lang="en-US" dirty="0">
                <a:cs typeface="Courier New" pitchFamily="49" charset="0"/>
              </a:rPr>
              <a:t>.</a:t>
            </a:r>
            <a:r>
              <a:rPr lang="en-US" b="1" baseline="0" dirty="0"/>
              <a:t> </a:t>
            </a:r>
            <a:r>
              <a:rPr lang="en-US" i="0" baseline="0" dirty="0"/>
              <a:t>You can also set the duration for block sessions. This determines how long a session will be kept in the session table by setting </a:t>
            </a:r>
            <a:r>
              <a:rPr lang="en-US" dirty="0">
                <a:latin typeface="Courier New" pitchFamily="49" charset="0"/>
                <a:cs typeface="Courier New" pitchFamily="49" charset="0"/>
              </a:rPr>
              <a:t>block-session-timer</a:t>
            </a:r>
            <a:r>
              <a:rPr lang="en-US" dirty="0">
                <a:cs typeface="Courier New" pitchFamily="49" charset="0"/>
              </a:rPr>
              <a:t> in the CLI. By default, it is set to 30 seconds. </a:t>
            </a:r>
            <a:endParaRPr lang="en-US" i="0" baseline="0" dirty="0"/>
          </a:p>
          <a:p>
            <a:r>
              <a:rPr lang="en-US" i="0" baseline="0" dirty="0"/>
              <a:t>If the GUI option </a:t>
            </a:r>
            <a:r>
              <a:rPr lang="en-US" b="1" baseline="0" dirty="0"/>
              <a:t>Generate Logs when Session Starts </a:t>
            </a:r>
            <a:r>
              <a:rPr lang="en-US" i="0" baseline="0" dirty="0"/>
              <a:t>is not displayed, this means that your FortiGate device does not have internal storage. This option is on the CLI, regardless of internal storage, and is called </a:t>
            </a:r>
            <a:r>
              <a:rPr lang="en-US" i="0" dirty="0">
                <a:latin typeface="Courier New" panose="02070309020205020404" pitchFamily="49" charset="0"/>
                <a:cs typeface="Courier New" panose="02070309020205020404" pitchFamily="49" charset="0"/>
              </a:rPr>
              <a:t>set </a:t>
            </a:r>
            <a:r>
              <a:rPr lang="en-US" i="0" dirty="0" err="1">
                <a:latin typeface="Courier New" panose="02070309020205020404" pitchFamily="49" charset="0"/>
                <a:cs typeface="Courier New" panose="02070309020205020404" pitchFamily="49" charset="0"/>
              </a:rPr>
              <a:t>logtraffic</a:t>
            </a:r>
            <a:r>
              <a:rPr lang="en-US" i="0" dirty="0">
                <a:latin typeface="Courier New" panose="02070309020205020404" pitchFamily="49" charset="0"/>
                <a:cs typeface="Courier New" panose="02070309020205020404" pitchFamily="49" charset="0"/>
              </a:rPr>
              <a:t>-start enable</a:t>
            </a:r>
            <a:r>
              <a:rPr lang="en-US" dirty="0">
                <a:cs typeface="Courier New" pitchFamily="49" charset="0"/>
              </a:rPr>
              <a:t>.</a:t>
            </a:r>
            <a:endParaRPr lang="en-US" b="1" baseline="0" dirty="0"/>
          </a:p>
          <a:p>
            <a:endParaRPr lang="en-CA" dirty="0"/>
          </a:p>
        </p:txBody>
      </p:sp>
      <p:sp>
        <p:nvSpPr>
          <p:cNvPr id="4" name="Header Placeholder 3"/>
          <p:cNvSpPr>
            <a:spLocks noGrp="1"/>
          </p:cNvSpPr>
          <p:nvPr>
            <p:ph type="hdr" sz="quarter" idx="10"/>
          </p:nvPr>
        </p:nvSpPr>
        <p:spPr/>
        <p:txBody>
          <a:bodyPr/>
          <a:lstStyle/>
          <a:p>
            <a:pPr algn="r"/>
            <a:r>
              <a:rPr lang="en-US" sz="1000">
                <a:solidFill>
                  <a:schemeClr val="bg1">
                    <a:lumMod val="50000"/>
                  </a:schemeClr>
                </a:solidFill>
                <a:sym typeface="Wingdings 3" panose="05040102010807070707" pitchFamily="18" charset="2"/>
              </a:rPr>
              <a:t>Firewall Policies</a:t>
            </a:r>
            <a:endParaRPr lang="en-US" sz="1000" dirty="0">
              <a:solidFill>
                <a:schemeClr val="bg1">
                  <a:lumMod val="50000"/>
                </a:schemeClr>
              </a:solidFill>
              <a:cs typeface="Arial" pitchFamily="34" charset="0"/>
            </a:endParaRPr>
          </a:p>
        </p:txBody>
      </p:sp>
    </p:spTree>
    <p:extLst>
      <p:ext uri="{BB962C8B-B14F-4D97-AF65-F5344CB8AC3E}">
        <p14:creationId xmlns:p14="http://schemas.microsoft.com/office/powerpoint/2010/main" val="20436483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 configure two types of traffic shapers:</a:t>
            </a:r>
            <a:r>
              <a:rPr lang="en-US" baseline="0" dirty="0"/>
              <a:t> shared and per IP.</a:t>
            </a:r>
          </a:p>
          <a:p>
            <a:endParaRPr lang="en-US" baseline="0" dirty="0"/>
          </a:p>
          <a:p>
            <a:r>
              <a:rPr lang="en-US" baseline="0" dirty="0"/>
              <a:t>A shared shaper a</a:t>
            </a:r>
            <a:r>
              <a:rPr lang="en-US" dirty="0"/>
              <a:t>pplies a total bandwidth to all traffic</a:t>
            </a:r>
            <a:r>
              <a:rPr lang="en-US" baseline="0" dirty="0"/>
              <a:t> using that shaper. The scope can be per policy or for all policies referencing that shaper. FortiGate can count the packet rates of ingress and egress to police traffic.</a:t>
            </a:r>
          </a:p>
          <a:p>
            <a:endParaRPr lang="en-US" dirty="0"/>
          </a:p>
          <a:p>
            <a:pPr defTabSz="913864">
              <a:defRPr/>
            </a:pPr>
            <a:r>
              <a:rPr lang="en-US" i="0" baseline="0" dirty="0"/>
              <a:t>FortiGate allows you to create three types of </a:t>
            </a:r>
            <a:r>
              <a:rPr lang="en-CA" dirty="0"/>
              <a:t>traffic shaping policies:</a:t>
            </a:r>
          </a:p>
          <a:p>
            <a:pPr defTabSz="913864">
              <a:defRPr/>
            </a:pPr>
            <a:endParaRPr lang="en-CA" dirty="0"/>
          </a:p>
          <a:p>
            <a:pPr marL="171348" indent="-171348" defTabSz="913864">
              <a:buFont typeface="Arial" panose="020B0604020202020204" pitchFamily="34" charset="0"/>
              <a:buChar char="•"/>
              <a:defRPr/>
            </a:pPr>
            <a:r>
              <a:rPr lang="en-CA" b="0" dirty="0"/>
              <a:t>Shared policy shaping</a:t>
            </a:r>
            <a:r>
              <a:rPr lang="en-CA" dirty="0"/>
              <a:t>: bandwidth management of security policies</a:t>
            </a:r>
          </a:p>
          <a:p>
            <a:pPr marL="171348" indent="-171348" defTabSz="913864">
              <a:buFont typeface="Arial" panose="020B0604020202020204" pitchFamily="34" charset="0"/>
              <a:buChar char="•"/>
              <a:defRPr/>
            </a:pPr>
            <a:r>
              <a:rPr lang="en-CA" b="0" dirty="0"/>
              <a:t>Per-IP shaping</a:t>
            </a:r>
            <a:r>
              <a:rPr lang="en-CA" dirty="0"/>
              <a:t>: bandwidth management of user IP addresses</a:t>
            </a:r>
          </a:p>
          <a:p>
            <a:pPr marL="171348" indent="-171348" defTabSz="913864">
              <a:buFont typeface="Arial" panose="020B0604020202020204" pitchFamily="34" charset="0"/>
              <a:buChar char="•"/>
              <a:defRPr/>
            </a:pPr>
            <a:r>
              <a:rPr lang="en-CA" b="0" dirty="0"/>
              <a:t>Application control shaping</a:t>
            </a:r>
            <a:r>
              <a:rPr lang="en-CA" dirty="0"/>
              <a:t>: bandwidth management by application</a:t>
            </a:r>
          </a:p>
          <a:p>
            <a:pPr defTabSz="913864">
              <a:defRPr/>
            </a:pPr>
            <a:endParaRPr lang="en-US" i="1" baseline="0" dirty="0"/>
          </a:p>
          <a:p>
            <a:r>
              <a:rPr lang="en-US" i="0" baseline="0" dirty="0"/>
              <a:t>When creating traffic shaping policies, </a:t>
            </a:r>
            <a:r>
              <a:rPr lang="en-CA" dirty="0"/>
              <a:t>you must ensure that the </a:t>
            </a:r>
            <a:r>
              <a:rPr lang="en-CA" i="0" dirty="0"/>
              <a:t>matching criteria </a:t>
            </a:r>
            <a:r>
              <a:rPr lang="en-CA" dirty="0"/>
              <a:t>is the </a:t>
            </a:r>
            <a:r>
              <a:rPr lang="en-CA" i="0" dirty="0"/>
              <a:t>same</a:t>
            </a:r>
            <a:r>
              <a:rPr lang="en-CA" i="1" dirty="0"/>
              <a:t> </a:t>
            </a:r>
            <a:r>
              <a:rPr lang="en-CA" dirty="0"/>
              <a:t>as the firewall policies you want to apply shaping to.</a:t>
            </a:r>
            <a:r>
              <a:rPr lang="en-US" i="0" baseline="0" dirty="0"/>
              <a:t> </a:t>
            </a:r>
            <a:r>
              <a:rPr lang="en-US" baseline="0" dirty="0"/>
              <a:t>Note that these apply equally to TCP and UDP, and UDP protocols may not recover as gracefully from packet loss.</a:t>
            </a:r>
            <a:endParaRPr lang="en-CA" dirty="0"/>
          </a:p>
        </p:txBody>
      </p:sp>
      <p:sp>
        <p:nvSpPr>
          <p:cNvPr id="4" name="Header Placeholder 3"/>
          <p:cNvSpPr>
            <a:spLocks noGrp="1"/>
          </p:cNvSpPr>
          <p:nvPr>
            <p:ph type="hdr" sz="quarter" idx="10"/>
          </p:nvPr>
        </p:nvSpPr>
        <p:spPr/>
        <p:txBody>
          <a:bodyPr/>
          <a:lstStyle/>
          <a:p>
            <a:pPr algn="r"/>
            <a:r>
              <a:rPr lang="en-US" sz="1000">
                <a:solidFill>
                  <a:schemeClr val="bg1">
                    <a:lumMod val="50000"/>
                  </a:schemeClr>
                </a:solidFill>
                <a:sym typeface="Wingdings 3" panose="05040102010807070707" pitchFamily="18" charset="2"/>
              </a:rPr>
              <a:t>Firewall Policies</a:t>
            </a:r>
            <a:endParaRPr lang="en-US" sz="1000" dirty="0">
              <a:solidFill>
                <a:schemeClr val="bg1">
                  <a:lumMod val="50000"/>
                </a:schemeClr>
              </a:solidFill>
              <a:cs typeface="Arial" pitchFamily="34" charset="0"/>
            </a:endParaRPr>
          </a:p>
        </p:txBody>
      </p:sp>
    </p:spTree>
    <p:extLst>
      <p:ext uri="{BB962C8B-B14F-4D97-AF65-F5344CB8AC3E}">
        <p14:creationId xmlns:p14="http://schemas.microsoft.com/office/powerpoint/2010/main" val="285283907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48341">
              <a:defRPr/>
            </a:pPr>
            <a:r>
              <a:rPr lang="en-US" dirty="0"/>
              <a:t>By default, IPv4 and IPv6 policies are combined into a single consolidated policy, rather than creating and maintaining two different policy sets for IPv4 and IPv6.</a:t>
            </a:r>
          </a:p>
          <a:p>
            <a:pPr defTabSz="948341">
              <a:defRPr/>
            </a:pPr>
            <a:r>
              <a:rPr lang="en-US" dirty="0"/>
              <a:t> </a:t>
            </a:r>
          </a:p>
          <a:p>
            <a:pPr defTabSz="948341">
              <a:defRPr/>
            </a:pPr>
            <a:r>
              <a:rPr lang="en-CA" dirty="0"/>
              <a:t>You can share the </a:t>
            </a:r>
            <a:r>
              <a:rPr lang="en-CA" b="1" dirty="0"/>
              <a:t>Incoming</a:t>
            </a:r>
            <a:r>
              <a:rPr lang="en-CA" dirty="0"/>
              <a:t> </a:t>
            </a:r>
            <a:r>
              <a:rPr lang="en-CA" b="1" dirty="0"/>
              <a:t>Interface</a:t>
            </a:r>
            <a:r>
              <a:rPr lang="en-CA" dirty="0"/>
              <a:t>, </a:t>
            </a:r>
            <a:r>
              <a:rPr lang="en-CA" b="1" dirty="0"/>
              <a:t>Outgoing</a:t>
            </a:r>
            <a:r>
              <a:rPr lang="en-CA" dirty="0"/>
              <a:t> </a:t>
            </a:r>
            <a:r>
              <a:rPr lang="en-CA" b="1" dirty="0"/>
              <a:t>Interface</a:t>
            </a:r>
            <a:r>
              <a:rPr lang="en-CA" dirty="0"/>
              <a:t>, </a:t>
            </a:r>
            <a:r>
              <a:rPr lang="en-CA" b="1" dirty="0"/>
              <a:t>Schedule</a:t>
            </a:r>
            <a:r>
              <a:rPr lang="en-CA" dirty="0"/>
              <a:t>, and </a:t>
            </a:r>
            <a:r>
              <a:rPr lang="en-CA" b="1" dirty="0"/>
              <a:t>Service</a:t>
            </a:r>
            <a:r>
              <a:rPr lang="en-CA" dirty="0"/>
              <a:t> fields with both IPv4 and IPv6. For source addresses,</a:t>
            </a:r>
            <a:r>
              <a:rPr lang="en-CA" baseline="0" dirty="0"/>
              <a:t> </a:t>
            </a:r>
            <a:r>
              <a:rPr lang="en-CA" dirty="0"/>
              <a:t>destination addresses, and IP pool, you must select addresses for both IPv4 and IPv6. </a:t>
            </a:r>
            <a:endParaRPr lang="en-US" dirty="0"/>
          </a:p>
          <a:p>
            <a:pPr defTabSz="948341">
              <a:defRPr/>
            </a:pPr>
            <a:r>
              <a:rPr lang="en-CA" dirty="0"/>
              <a:t>While configuring</a:t>
            </a:r>
            <a:r>
              <a:rPr lang="en-CA" baseline="0" dirty="0"/>
              <a:t> a </a:t>
            </a:r>
            <a:r>
              <a:rPr lang="en-CA" b="0" baseline="0" dirty="0"/>
              <a:t>consolidated firewall policy</a:t>
            </a:r>
            <a:r>
              <a:rPr lang="en-CA" baseline="0" dirty="0"/>
              <a:t>, you can configure a policy with IPv4 source addresses, IPv4 destination addresses, and an IPv4 IP pool, without specifying any IPv6 references. You can also configure the </a:t>
            </a:r>
            <a:r>
              <a:rPr lang="en-CA" b="0" baseline="0" dirty="0"/>
              <a:t>policy</a:t>
            </a:r>
            <a:r>
              <a:rPr lang="en-CA" b="1" baseline="0" dirty="0"/>
              <a:t> </a:t>
            </a:r>
            <a:r>
              <a:rPr lang="en-CA" baseline="0" dirty="0"/>
              <a:t>with the same behavior for IPv6. However, if you want to combine IPv4 and IPv6, you must select both IPv4 addresses </a:t>
            </a:r>
            <a:r>
              <a:rPr lang="en-CA" i="0" baseline="0" dirty="0"/>
              <a:t>and</a:t>
            </a:r>
            <a:r>
              <a:rPr lang="en-CA" baseline="0" dirty="0"/>
              <a:t> IPv6 addresses in the </a:t>
            </a:r>
            <a:r>
              <a:rPr lang="en-CA" b="1" baseline="0" dirty="0"/>
              <a:t>Source</a:t>
            </a:r>
            <a:r>
              <a:rPr lang="en-CA" baseline="0" dirty="0"/>
              <a:t> and </a:t>
            </a:r>
            <a:r>
              <a:rPr lang="en-CA" b="1" baseline="0" dirty="0"/>
              <a:t>Destination</a:t>
            </a:r>
            <a:r>
              <a:rPr lang="en-CA" baseline="0" dirty="0"/>
              <a:t> </a:t>
            </a:r>
            <a:r>
              <a:rPr lang="en-CA" b="0" baseline="0" dirty="0"/>
              <a:t>address</a:t>
            </a:r>
            <a:r>
              <a:rPr lang="en-CA" baseline="0" dirty="0"/>
              <a:t> fields in the </a:t>
            </a:r>
            <a:r>
              <a:rPr lang="en-CA" b="0" baseline="0" dirty="0"/>
              <a:t>firewall policy</a:t>
            </a:r>
            <a:r>
              <a:rPr lang="en-CA" baseline="0" dirty="0"/>
              <a:t>.</a:t>
            </a:r>
            <a:r>
              <a:rPr lang="en-US" baseline="0" dirty="0"/>
              <a:t>The IP version of the sources and destinations in a policy must match. For example, a policy cannot have only an IPv4 source and an IPv6 destination. </a:t>
            </a:r>
            <a:r>
              <a:rPr lang="en-US" dirty="0"/>
              <a:t>The policy table in the GUI can be filtered to show policies with IPv4, IPv6, or IPv4 and IPv6 sources and destinations.</a:t>
            </a:r>
          </a:p>
          <a:p>
            <a:endParaRPr lang="en-US" dirty="0"/>
          </a:p>
          <a:p>
            <a:r>
              <a:rPr lang="en-US" dirty="0"/>
              <a:t>Note that,</a:t>
            </a:r>
            <a:r>
              <a:rPr lang="en-US" baseline="0" dirty="0"/>
              <a:t> b</a:t>
            </a:r>
            <a:r>
              <a:rPr lang="en-US" dirty="0"/>
              <a:t>y default, the </a:t>
            </a:r>
            <a:r>
              <a:rPr lang="en-US" b="1" dirty="0"/>
              <a:t>IPv6</a:t>
            </a:r>
            <a:r>
              <a:rPr lang="en-US" dirty="0"/>
              <a:t> option is not visible in the policy table</a:t>
            </a:r>
            <a:r>
              <a:rPr lang="en-US" baseline="0" dirty="0"/>
              <a:t> on the GUI</a:t>
            </a:r>
            <a:r>
              <a:rPr lang="en-US" dirty="0"/>
              <a:t>. You must enable </a:t>
            </a:r>
            <a:r>
              <a:rPr lang="en-US" b="1" dirty="0"/>
              <a:t>IPv6</a:t>
            </a:r>
            <a:r>
              <a:rPr lang="en-US" dirty="0"/>
              <a:t> on the </a:t>
            </a:r>
            <a:r>
              <a:rPr lang="en-US" b="1" dirty="0"/>
              <a:t>Feature Visibility </a:t>
            </a:r>
            <a:r>
              <a:rPr lang="en-US" dirty="0"/>
              <a:t>page. </a:t>
            </a:r>
          </a:p>
          <a:p>
            <a:endParaRPr lang="en-US" dirty="0"/>
          </a:p>
          <a:p>
            <a:endParaRPr lang="en-US" dirty="0"/>
          </a:p>
          <a:p>
            <a:endParaRPr lang="en-US" dirty="0"/>
          </a:p>
        </p:txBody>
      </p:sp>
      <p:sp>
        <p:nvSpPr>
          <p:cNvPr id="4" name="Header Placeholder 3"/>
          <p:cNvSpPr>
            <a:spLocks noGrp="1"/>
          </p:cNvSpPr>
          <p:nvPr>
            <p:ph type="hdr" sz="quarter" idx="10"/>
          </p:nvPr>
        </p:nvSpPr>
        <p:spPr/>
        <p:txBody>
          <a:bodyPr/>
          <a:lstStyle/>
          <a:p>
            <a:pPr algn="r"/>
            <a:r>
              <a:rPr lang="en-US" sz="1000">
                <a:solidFill>
                  <a:schemeClr val="bg1">
                    <a:lumMod val="50000"/>
                  </a:schemeClr>
                </a:solidFill>
                <a:sym typeface="Wingdings 3" panose="05040102010807070707" pitchFamily="18" charset="2"/>
              </a:rPr>
              <a:t>Firewall Policies</a:t>
            </a:r>
            <a:endParaRPr lang="en-US" sz="1000" dirty="0">
              <a:solidFill>
                <a:schemeClr val="bg1">
                  <a:lumMod val="50000"/>
                </a:schemeClr>
              </a:solidFill>
              <a:cs typeface="Arial" pitchFamily="34" charset="0"/>
            </a:endParaRPr>
          </a:p>
        </p:txBody>
      </p:sp>
    </p:spTree>
    <p:extLst>
      <p:ext uri="{BB962C8B-B14F-4D97-AF65-F5344CB8AC3E}">
        <p14:creationId xmlns:p14="http://schemas.microsoft.com/office/powerpoint/2010/main" val="188446403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Header Placeholder 3"/>
          <p:cNvSpPr>
            <a:spLocks noGrp="1"/>
          </p:cNvSpPr>
          <p:nvPr>
            <p:ph type="hdr" sz="quarter" idx="10"/>
          </p:nvPr>
        </p:nvSpPr>
        <p:spPr/>
        <p:txBody>
          <a:bodyPr/>
          <a:lstStyle/>
          <a:p>
            <a:pPr algn="r"/>
            <a:r>
              <a:rPr lang="en-US" sz="1000">
                <a:solidFill>
                  <a:schemeClr val="bg1">
                    <a:lumMod val="50000"/>
                  </a:schemeClr>
                </a:solidFill>
                <a:sym typeface="Wingdings 3" panose="05040102010807070707" pitchFamily="18" charset="2"/>
              </a:rPr>
              <a:t>Firewall Policies</a:t>
            </a:r>
            <a:endParaRPr lang="en-US" sz="1000" dirty="0">
              <a:solidFill>
                <a:schemeClr val="bg1">
                  <a:lumMod val="50000"/>
                </a:schemeClr>
              </a:solidFill>
              <a:cs typeface="Arial" pitchFamily="34" charset="0"/>
            </a:endParaRPr>
          </a:p>
        </p:txBody>
      </p:sp>
    </p:spTree>
    <p:extLst>
      <p:ext uri="{BB962C8B-B14F-4D97-AF65-F5344CB8AC3E}">
        <p14:creationId xmlns:p14="http://schemas.microsoft.com/office/powerpoint/2010/main" val="327064836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13838">
              <a:defRPr/>
            </a:pPr>
            <a:r>
              <a:rPr lang="en-CA" dirty="0"/>
              <a:t>Good job! You now understand how to configure firewall policies on</a:t>
            </a:r>
            <a:r>
              <a:rPr lang="en-CA" baseline="0" dirty="0"/>
              <a:t> FortiGate</a:t>
            </a:r>
            <a:r>
              <a:rPr lang="en-CA" dirty="0"/>
              <a:t>.</a:t>
            </a:r>
          </a:p>
          <a:p>
            <a:pPr defTabSz="913838">
              <a:defRPr/>
            </a:pPr>
            <a:endParaRPr lang="en-CA" dirty="0"/>
          </a:p>
          <a:p>
            <a:pPr defTabSz="913838">
              <a:defRPr/>
            </a:pPr>
            <a:r>
              <a:rPr lang="en-CA" dirty="0"/>
              <a:t>Next, you’ll learn how to manage and fine-tune settings for firewall policies.</a:t>
            </a:r>
          </a:p>
        </p:txBody>
      </p:sp>
      <p:sp>
        <p:nvSpPr>
          <p:cNvPr id="4" name="Header Placeholder 3"/>
          <p:cNvSpPr>
            <a:spLocks noGrp="1"/>
          </p:cNvSpPr>
          <p:nvPr>
            <p:ph type="hdr" sz="quarter" idx="10"/>
          </p:nvPr>
        </p:nvSpPr>
        <p:spPr/>
        <p:txBody>
          <a:bodyPr/>
          <a:lstStyle/>
          <a:p>
            <a:pPr algn="r"/>
            <a:r>
              <a:rPr lang="en-US" sz="1000">
                <a:solidFill>
                  <a:schemeClr val="bg1">
                    <a:lumMod val="50000"/>
                  </a:schemeClr>
                </a:solidFill>
                <a:sym typeface="Wingdings 3" panose="05040102010807070707" pitchFamily="18" charset="2"/>
              </a:rPr>
              <a:t>Firewall Policies</a:t>
            </a:r>
            <a:endParaRPr lang="en-US" sz="1000" dirty="0">
              <a:solidFill>
                <a:schemeClr val="bg1">
                  <a:lumMod val="50000"/>
                </a:schemeClr>
              </a:solidFill>
              <a:cs typeface="Arial" pitchFamily="34" charset="0"/>
            </a:endParaRPr>
          </a:p>
        </p:txBody>
      </p:sp>
    </p:spTree>
    <p:extLst>
      <p:ext uri="{BB962C8B-B14F-4D97-AF65-F5344CB8AC3E}">
        <p14:creationId xmlns:p14="http://schemas.microsoft.com/office/powerpoint/2010/main" val="220701399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13838">
              <a:defRPr/>
            </a:pPr>
            <a:r>
              <a:rPr lang="en-CA" baseline="0" dirty="0"/>
              <a:t>After completing this section, you should be able to achieve the objectives shown on this slide.</a:t>
            </a:r>
          </a:p>
          <a:p>
            <a:pPr defTabSz="913838">
              <a:defRPr/>
            </a:pPr>
            <a:endParaRPr lang="en-CA" baseline="0" dirty="0"/>
          </a:p>
          <a:p>
            <a:pPr defTabSz="913838">
              <a:defRPr/>
            </a:pPr>
            <a:r>
              <a:rPr lang="en-CA" baseline="0" dirty="0"/>
              <a:t>By demonstrating competence in managing firewall policies, </a:t>
            </a:r>
            <a:r>
              <a:rPr lang="en-US" dirty="0"/>
              <a:t>you will be able to understand</a:t>
            </a:r>
            <a:r>
              <a:rPr lang="en-US" baseline="0" dirty="0"/>
              <a:t> the</a:t>
            </a:r>
            <a:r>
              <a:rPr lang="en-CA" baseline="0" dirty="0"/>
              <a:t> use of the policy</a:t>
            </a:r>
            <a:r>
              <a:rPr lang="en-US" baseline="0" dirty="0"/>
              <a:t> ID of a firewall policy. Also, you will be able to pinpoint object usage, and simplify policies using object groups.</a:t>
            </a:r>
            <a:endParaRPr lang="en-CA" dirty="0"/>
          </a:p>
        </p:txBody>
      </p:sp>
      <p:sp>
        <p:nvSpPr>
          <p:cNvPr id="4" name="Header Placeholder 3"/>
          <p:cNvSpPr>
            <a:spLocks noGrp="1"/>
          </p:cNvSpPr>
          <p:nvPr>
            <p:ph type="hdr" sz="quarter" idx="10"/>
          </p:nvPr>
        </p:nvSpPr>
        <p:spPr/>
        <p:txBody>
          <a:bodyPr/>
          <a:lstStyle/>
          <a:p>
            <a:pPr algn="r"/>
            <a:r>
              <a:rPr lang="en-US" sz="1000">
                <a:solidFill>
                  <a:schemeClr val="bg1">
                    <a:lumMod val="50000"/>
                  </a:schemeClr>
                </a:solidFill>
                <a:sym typeface="Wingdings 3" panose="05040102010807070707" pitchFamily="18" charset="2"/>
              </a:rPr>
              <a:t>Firewall Policies</a:t>
            </a:r>
            <a:endParaRPr lang="en-US" sz="1000" dirty="0">
              <a:solidFill>
                <a:schemeClr val="bg1">
                  <a:lumMod val="50000"/>
                </a:schemeClr>
              </a:solidFill>
              <a:cs typeface="Arial" pitchFamily="34" charset="0"/>
            </a:endParaRPr>
          </a:p>
        </p:txBody>
      </p:sp>
    </p:spTree>
    <p:extLst>
      <p:ext uri="{BB962C8B-B14F-4D97-AF65-F5344CB8AC3E}">
        <p14:creationId xmlns:p14="http://schemas.microsoft.com/office/powerpoint/2010/main" val="363134856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Firewall policies appear in an organized list. The list is organized either in</a:t>
            </a:r>
            <a:r>
              <a:rPr lang="en-US" baseline="0" dirty="0"/>
              <a:t> </a:t>
            </a:r>
            <a:r>
              <a:rPr lang="en-US" b="1" dirty="0"/>
              <a:t>Interface</a:t>
            </a:r>
            <a:r>
              <a:rPr lang="en-US" b="1" baseline="0" dirty="0"/>
              <a:t> Pair View</a:t>
            </a:r>
            <a:r>
              <a:rPr lang="en-US" dirty="0"/>
              <a:t> or </a:t>
            </a:r>
            <a:r>
              <a:rPr lang="en-US" b="1" dirty="0"/>
              <a:t>By Sequence</a:t>
            </a:r>
            <a:r>
              <a:rPr lang="en-US" dirty="0"/>
              <a:t>.</a:t>
            </a:r>
          </a:p>
          <a:p>
            <a:endParaRPr lang="en-US" dirty="0"/>
          </a:p>
          <a:p>
            <a:r>
              <a:rPr lang="en-US" dirty="0"/>
              <a:t>By default, the policy list appears in </a:t>
            </a:r>
            <a:r>
              <a:rPr lang="en-US" b="1" dirty="0"/>
              <a:t>Interface</a:t>
            </a:r>
            <a:r>
              <a:rPr lang="en-US" b="1" baseline="0" dirty="0"/>
              <a:t> Pair View</a:t>
            </a:r>
            <a:r>
              <a:rPr lang="en-US" dirty="0"/>
              <a:t>. Each section contains policies in the order that they are evaluated for matching traffic and are arranged by ingress-egress interface pair</a:t>
            </a:r>
            <a:r>
              <a:rPr lang="en-US" baseline="0" dirty="0"/>
              <a:t>. Alternatively, you can view your policies as a single, comprehensive list by selecting </a:t>
            </a:r>
            <a:r>
              <a:rPr lang="en-US" b="1" baseline="0" dirty="0"/>
              <a:t>By Sequence </a:t>
            </a:r>
            <a:r>
              <a:rPr lang="en-US" baseline="0" dirty="0"/>
              <a:t>at the top of the page. In this view the policies are also listed in the order in which they are evaluated for traffic matching, but they are not grouped.</a:t>
            </a:r>
          </a:p>
          <a:p>
            <a:pPr defTabSz="913864">
              <a:defRPr/>
            </a:pPr>
            <a:endParaRPr lang="en-US" baseline="0" dirty="0"/>
          </a:p>
          <a:p>
            <a:r>
              <a:rPr lang="en-US" dirty="0">
                <a:solidFill>
                  <a:srgbClr val="000000"/>
                </a:solidFill>
              </a:rPr>
              <a:t>In some cases, you cannot choose the view. For example, if </a:t>
            </a:r>
            <a:r>
              <a:rPr lang="en-CA" dirty="0"/>
              <a:t>you use multiple source or destination interfaces, or the </a:t>
            </a:r>
            <a:r>
              <a:rPr lang="en-CA" b="1" dirty="0"/>
              <a:t>any</a:t>
            </a:r>
            <a:r>
              <a:rPr lang="en-CA" dirty="0"/>
              <a:t> interface in a firewall policy, you cannot separate policies into sections by interface pairs—some would be triplets or more. </a:t>
            </a:r>
            <a:r>
              <a:rPr lang="en-US" dirty="0">
                <a:solidFill>
                  <a:srgbClr val="000000"/>
                </a:solidFill>
              </a:rPr>
              <a:t>In this case</a:t>
            </a:r>
            <a:r>
              <a:rPr lang="en-CA" dirty="0"/>
              <a:t>, policies </a:t>
            </a:r>
            <a:r>
              <a:rPr lang="en-US" dirty="0">
                <a:solidFill>
                  <a:srgbClr val="000000"/>
                </a:solidFill>
              </a:rPr>
              <a:t>always appear </a:t>
            </a:r>
            <a:r>
              <a:rPr lang="en-CA" dirty="0"/>
              <a:t>in a single list (</a:t>
            </a:r>
            <a:r>
              <a:rPr lang="en-CA" b="1" dirty="0"/>
              <a:t>By Sequence</a:t>
            </a:r>
            <a:r>
              <a:rPr lang="en-CA" dirty="0"/>
              <a:t>). </a:t>
            </a:r>
          </a:p>
          <a:p>
            <a:pPr defTabSz="913864">
              <a:defRPr/>
            </a:pPr>
            <a:endParaRPr lang="en-CA" baseline="0" dirty="0"/>
          </a:p>
          <a:p>
            <a:pPr defTabSz="913864">
              <a:defRPr/>
            </a:pPr>
            <a:r>
              <a:rPr lang="en-CA" baseline="0" dirty="0"/>
              <a:t>To help you remember the use of each interface, you add aliases by editing the interface on the </a:t>
            </a:r>
            <a:r>
              <a:rPr lang="en-CA" b="1" baseline="0" dirty="0"/>
              <a:t>Network</a:t>
            </a:r>
            <a:r>
              <a:rPr lang="en-CA" baseline="0" dirty="0"/>
              <a:t> page. For example, you could call port1 </a:t>
            </a:r>
            <a:r>
              <a:rPr lang="en-CA" i="1" baseline="0" dirty="0"/>
              <a:t>ISP1</a:t>
            </a:r>
            <a:r>
              <a:rPr lang="en-CA" baseline="0" dirty="0"/>
              <a:t>. This can help to make your list of policies easier to understand.</a:t>
            </a:r>
          </a:p>
          <a:p>
            <a:pPr defTabSz="913864">
              <a:defRPr/>
            </a:pPr>
            <a:endParaRPr lang="en-US" baseline="0" dirty="0"/>
          </a:p>
          <a:p>
            <a:endParaRPr lang="en-CA" dirty="0"/>
          </a:p>
        </p:txBody>
      </p:sp>
      <p:sp>
        <p:nvSpPr>
          <p:cNvPr id="4" name="Header Placeholder 3"/>
          <p:cNvSpPr>
            <a:spLocks noGrp="1"/>
          </p:cNvSpPr>
          <p:nvPr>
            <p:ph type="hdr" sz="quarter" idx="10"/>
          </p:nvPr>
        </p:nvSpPr>
        <p:spPr/>
        <p:txBody>
          <a:bodyPr/>
          <a:lstStyle/>
          <a:p>
            <a:pPr algn="r"/>
            <a:r>
              <a:rPr lang="en-US" sz="1000">
                <a:solidFill>
                  <a:schemeClr val="bg1">
                    <a:lumMod val="50000"/>
                  </a:schemeClr>
                </a:solidFill>
                <a:sym typeface="Wingdings 3" panose="05040102010807070707" pitchFamily="18" charset="2"/>
              </a:rPr>
              <a:t>Firewall Policies</a:t>
            </a:r>
            <a:endParaRPr lang="en-US" sz="1000" dirty="0">
              <a:solidFill>
                <a:schemeClr val="bg1">
                  <a:lumMod val="50000"/>
                </a:schemeClr>
              </a:solidFill>
              <a:cs typeface="Arial" pitchFamily="34" charset="0"/>
            </a:endParaRPr>
          </a:p>
        </p:txBody>
      </p:sp>
    </p:spTree>
    <p:extLst>
      <p:ext uri="{BB962C8B-B14F-4D97-AF65-F5344CB8AC3E}">
        <p14:creationId xmlns:p14="http://schemas.microsoft.com/office/powerpoint/2010/main" val="212570984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When you edit</a:t>
            </a:r>
            <a:r>
              <a:rPr lang="en-CA" baseline="0" dirty="0"/>
              <a:t> the policy, policy information will be visible.</a:t>
            </a:r>
          </a:p>
          <a:p>
            <a:endParaRPr lang="en-CA" baseline="0" dirty="0"/>
          </a:p>
          <a:p>
            <a:r>
              <a:rPr lang="en-CA" baseline="0" dirty="0"/>
              <a:t>This feature is very useful if an administrator wanted to check the policy usage, such as last used, first used, hit count, active sessions, and so on.</a:t>
            </a:r>
            <a:endParaRPr lang="en-CA" dirty="0"/>
          </a:p>
        </p:txBody>
      </p:sp>
      <p:sp>
        <p:nvSpPr>
          <p:cNvPr id="5" name="Header Placeholder 4"/>
          <p:cNvSpPr>
            <a:spLocks noGrp="1"/>
          </p:cNvSpPr>
          <p:nvPr>
            <p:ph type="hdr" sz="quarter" idx="10"/>
          </p:nvPr>
        </p:nvSpPr>
        <p:spPr/>
        <p:txBody>
          <a:bodyPr/>
          <a:lstStyle/>
          <a:p>
            <a:pPr algn="r"/>
            <a:r>
              <a:rPr lang="en-US" sz="1000">
                <a:solidFill>
                  <a:schemeClr val="bg1">
                    <a:lumMod val="50000"/>
                  </a:schemeClr>
                </a:solidFill>
                <a:sym typeface="Wingdings 3" panose="05040102010807070707" pitchFamily="18" charset="2"/>
              </a:rPr>
              <a:t>Firewall Policies</a:t>
            </a:r>
            <a:endParaRPr lang="en-US" sz="1000" dirty="0">
              <a:solidFill>
                <a:schemeClr val="bg1">
                  <a:lumMod val="50000"/>
                </a:schemeClr>
              </a:solidFill>
              <a:cs typeface="Arial" pitchFamily="34" charset="0"/>
            </a:endParaRPr>
          </a:p>
        </p:txBody>
      </p:sp>
    </p:spTree>
    <p:extLst>
      <p:ext uri="{BB962C8B-B14F-4D97-AF65-F5344CB8AC3E}">
        <p14:creationId xmlns:p14="http://schemas.microsoft.com/office/powerpoint/2010/main" val="261176981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13864">
              <a:defRPr/>
            </a:pPr>
            <a:r>
              <a:rPr lang="en-US" dirty="0"/>
              <a:t>An important concept to understand about how firewall policies work is the precedence of order, or, if you prefer a more recognizable term, </a:t>
            </a:r>
            <a:r>
              <a:rPr lang="en-US" dirty="0">
                <a:latin typeface="Arial" panose="020B0604020202020204" pitchFamily="34" charset="0"/>
                <a:cs typeface="Arial" panose="020B0604020202020204" pitchFamily="34" charset="0"/>
              </a:rPr>
              <a:t>first come, first served.</a:t>
            </a:r>
          </a:p>
          <a:p>
            <a:pPr defTabSz="913864">
              <a:defRPr/>
            </a:pPr>
            <a:endParaRPr lang="en-CA" baseline="0" dirty="0"/>
          </a:p>
          <a:p>
            <a:pPr defTabSz="913864">
              <a:defRPr/>
            </a:pPr>
            <a:r>
              <a:rPr lang="en-US" baseline="0" dirty="0"/>
              <a:t>Policy IDs are identifiers. By default, policy IDs are not displayed on the policy list GUI. You can add a policy </a:t>
            </a:r>
            <a:r>
              <a:rPr lang="en-US" b="1" baseline="0" dirty="0"/>
              <a:t>ID</a:t>
            </a:r>
            <a:r>
              <a:rPr lang="en-US" baseline="0" dirty="0"/>
              <a:t> column using the </a:t>
            </a:r>
            <a:r>
              <a:rPr lang="en-US" b="1" baseline="0" dirty="0"/>
              <a:t>Configure Table </a:t>
            </a:r>
            <a:r>
              <a:rPr lang="en-US" baseline="0" dirty="0"/>
              <a:t>settings icon.</a:t>
            </a:r>
          </a:p>
          <a:p>
            <a:endParaRPr lang="en-US" i="0" baseline="0" dirty="0"/>
          </a:p>
          <a:p>
            <a:r>
              <a:rPr lang="en-US" i="0" baseline="0" dirty="0"/>
              <a:t>FortiGate automatically assigns a policy ID when you create a new firewall policy on the GUI. The policy ID never changes, even if you move the rule higher or lower in the sequence. </a:t>
            </a:r>
          </a:p>
          <a:p>
            <a:endParaRPr lang="en-US" i="0" baseline="0" dirty="0"/>
          </a:p>
          <a:p>
            <a:r>
              <a:rPr lang="en-US" i="0" baseline="0" dirty="0"/>
              <a:t>If you enable </a:t>
            </a:r>
            <a:r>
              <a:rPr lang="en-US" b="1" i="0" baseline="0" dirty="0"/>
              <a:t>Policy Advanced Options, </a:t>
            </a:r>
            <a:r>
              <a:rPr lang="en-US" b="0" i="0" baseline="0" dirty="0"/>
              <a:t>then you can manually assign a policy ID, while creating a new policy. If a duplicate entry is found, the system produces an error, so you can assign a different available policy ID number.</a:t>
            </a:r>
          </a:p>
          <a:p>
            <a:endParaRPr lang="en-US" b="0" i="0" baseline="0" dirty="0"/>
          </a:p>
          <a:p>
            <a:r>
              <a:rPr lang="en-US" b="1" i="0" baseline="0" dirty="0"/>
              <a:t>Policy Advanced Options </a:t>
            </a:r>
            <a:r>
              <a:rPr lang="en-US" b="0" i="0" baseline="0" dirty="0"/>
              <a:t>is not available on the GUI by default, you must enable it on the </a:t>
            </a:r>
            <a:r>
              <a:rPr lang="en-US" b="1" i="0" baseline="0" dirty="0"/>
              <a:t>Feature Visibility </a:t>
            </a:r>
            <a:r>
              <a:rPr lang="en-US" b="0" i="0" baseline="0" dirty="0"/>
              <a:t>page.</a:t>
            </a:r>
          </a:p>
          <a:p>
            <a:endParaRPr lang="en-US" dirty="0"/>
          </a:p>
          <a:p>
            <a:endParaRPr lang="en-US" dirty="0"/>
          </a:p>
          <a:p>
            <a:endParaRPr lang="en-CA" dirty="0"/>
          </a:p>
        </p:txBody>
      </p:sp>
      <p:sp>
        <p:nvSpPr>
          <p:cNvPr id="4" name="Header Placeholder 3"/>
          <p:cNvSpPr>
            <a:spLocks noGrp="1"/>
          </p:cNvSpPr>
          <p:nvPr>
            <p:ph type="hdr" sz="quarter" idx="10"/>
          </p:nvPr>
        </p:nvSpPr>
        <p:spPr/>
        <p:txBody>
          <a:bodyPr/>
          <a:lstStyle/>
          <a:p>
            <a:pPr algn="r"/>
            <a:r>
              <a:rPr lang="en-US" sz="1000">
                <a:solidFill>
                  <a:schemeClr val="bg1">
                    <a:lumMod val="50000"/>
                  </a:schemeClr>
                </a:solidFill>
                <a:sym typeface="Wingdings 3" panose="05040102010807070707" pitchFamily="18" charset="2"/>
              </a:rPr>
              <a:t>Firewall Policies</a:t>
            </a:r>
            <a:endParaRPr lang="en-US" sz="1000" dirty="0">
              <a:solidFill>
                <a:schemeClr val="bg1">
                  <a:lumMod val="50000"/>
                </a:schemeClr>
              </a:solidFill>
              <a:cs typeface="Arial" pitchFamily="34" charset="0"/>
            </a:endParaRPr>
          </a:p>
        </p:txBody>
      </p:sp>
    </p:spTree>
    <p:extLst>
      <p:ext uri="{BB962C8B-B14F-4D97-AF65-F5344CB8AC3E}">
        <p14:creationId xmlns:p14="http://schemas.microsoft.com/office/powerpoint/2010/main" val="44758036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47951">
              <a:defRPr/>
            </a:pPr>
            <a:r>
              <a:rPr lang="en-US" dirty="0"/>
              <a:t>To simplify administration, you can group service and address</a:t>
            </a:r>
            <a:r>
              <a:rPr lang="en-US" baseline="0" dirty="0"/>
              <a:t> objects. Then, you can reference that group in the firewall policy, instead of selecting multiple objects each time, or making multiple policies.</a:t>
            </a:r>
          </a:p>
          <a:p>
            <a:pPr defTabSz="947951">
              <a:defRPr/>
            </a:pPr>
            <a:endParaRPr lang="en-US" baseline="0" dirty="0"/>
          </a:p>
          <a:p>
            <a:r>
              <a:rPr lang="en-US" dirty="0"/>
              <a:t>This slide shows that four services are used to configure </a:t>
            </a:r>
            <a:r>
              <a:rPr lang="en-US" baseline="0" dirty="0"/>
              <a:t>the policy: HTTP, HTTPS, FTP, and DNS. </a:t>
            </a:r>
            <a:r>
              <a:rPr lang="en-CA" dirty="0"/>
              <a:t>DNS is used by browsers to resolve URLs to IP addresses</a:t>
            </a:r>
            <a:r>
              <a:rPr lang="en-US" dirty="0"/>
              <a:t> because </a:t>
            </a:r>
            <a:r>
              <a:rPr lang="en-US" baseline="0" dirty="0"/>
              <a:t>people remember domain names for websites instead of IP addresses. If you need to make many policies for web and FTP traffic, then it makes sense to create a service object named </a:t>
            </a:r>
            <a:r>
              <a:rPr lang="en-US" b="1" baseline="0" dirty="0"/>
              <a:t>Web-FTP</a:t>
            </a:r>
            <a:r>
              <a:rPr lang="en-US" baseline="0" dirty="0"/>
              <a:t>. That way, you don’t have to manually select all four services each time you make a policy. Policies can reference the </a:t>
            </a:r>
            <a:r>
              <a:rPr lang="en-US" b="1" baseline="0" dirty="0"/>
              <a:t>Web-FTP</a:t>
            </a:r>
            <a:r>
              <a:rPr lang="en-US" baseline="0" dirty="0"/>
              <a:t> service group instead.</a:t>
            </a:r>
          </a:p>
          <a:p>
            <a:endParaRPr lang="en-US" baseline="0" dirty="0"/>
          </a:p>
          <a:p>
            <a:r>
              <a:rPr lang="en-US" baseline="0" dirty="0"/>
              <a:t>Also, you can consolidate source addresses in source groups. </a:t>
            </a:r>
          </a:p>
          <a:p>
            <a:endParaRPr lang="en-US" dirty="0"/>
          </a:p>
          <a:p>
            <a:endParaRPr lang="en-CA" dirty="0"/>
          </a:p>
        </p:txBody>
      </p:sp>
      <p:sp>
        <p:nvSpPr>
          <p:cNvPr id="4" name="Header Placeholder 3"/>
          <p:cNvSpPr>
            <a:spLocks noGrp="1"/>
          </p:cNvSpPr>
          <p:nvPr>
            <p:ph type="hdr" sz="quarter" idx="10"/>
          </p:nvPr>
        </p:nvSpPr>
        <p:spPr/>
        <p:txBody>
          <a:bodyPr/>
          <a:lstStyle/>
          <a:p>
            <a:pPr algn="r"/>
            <a:r>
              <a:rPr lang="en-US" sz="1000">
                <a:solidFill>
                  <a:schemeClr val="bg1">
                    <a:lumMod val="50000"/>
                  </a:schemeClr>
                </a:solidFill>
                <a:sym typeface="Wingdings 3" panose="05040102010807070707" pitchFamily="18" charset="2"/>
              </a:rPr>
              <a:t>Firewall Policies</a:t>
            </a:r>
            <a:endParaRPr lang="en-US" sz="1000" dirty="0">
              <a:solidFill>
                <a:schemeClr val="bg1">
                  <a:lumMod val="50000"/>
                </a:schemeClr>
              </a:solidFill>
              <a:cs typeface="Arial" pitchFamily="34" charset="0"/>
            </a:endParaRPr>
          </a:p>
        </p:txBody>
      </p:sp>
    </p:spTree>
    <p:extLst>
      <p:ext uri="{BB962C8B-B14F-4D97-AF65-F5344CB8AC3E}">
        <p14:creationId xmlns:p14="http://schemas.microsoft.com/office/powerpoint/2010/main" val="373945487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You've just seen several component objects that can be reused as you make policies. What if you want to delete an object?</a:t>
            </a:r>
          </a:p>
          <a:p>
            <a:endParaRPr lang="en-US" dirty="0"/>
          </a:p>
          <a:p>
            <a:r>
              <a:rPr lang="en-US" dirty="0"/>
              <a:t>If an object is being used, you can’t delete it. First, you </a:t>
            </a:r>
            <a:r>
              <a:rPr lang="en-US" i="1" dirty="0"/>
              <a:t>must</a:t>
            </a:r>
            <a:r>
              <a:rPr lang="en-US" dirty="0"/>
              <a:t> reconfigure the objects that are currently using it. The GUI provides a simple way to find out where in the FortiGate’s configuration an object is being referenced. Take a look at the numbers in the </a:t>
            </a:r>
            <a:r>
              <a:rPr lang="en-US" b="1" dirty="0"/>
              <a:t>Ref </a:t>
            </a:r>
            <a:r>
              <a:rPr lang="en-US" dirty="0"/>
              <a:t>column. They are the number of places where that object is being used. The number is actually a link, so if you click it, you can see which objects are using it.</a:t>
            </a:r>
          </a:p>
          <a:p>
            <a:endParaRPr lang="en-US" dirty="0"/>
          </a:p>
          <a:p>
            <a:pPr defTabSz="913998">
              <a:defRPr/>
            </a:pPr>
            <a:r>
              <a:rPr lang="en-US" dirty="0"/>
              <a:t>In</a:t>
            </a:r>
            <a:r>
              <a:rPr lang="en-US" baseline="0" dirty="0"/>
              <a:t> the example shown on this slide, the </a:t>
            </a:r>
            <a:r>
              <a:rPr lang="en-US" b="1" baseline="0" dirty="0"/>
              <a:t>all </a:t>
            </a:r>
            <a:r>
              <a:rPr lang="en-US" b="0" baseline="0" dirty="0"/>
              <a:t>address object </a:t>
            </a:r>
            <a:r>
              <a:rPr lang="en-US" i="0" baseline="0" dirty="0"/>
              <a:t>is being used by the </a:t>
            </a:r>
            <a:r>
              <a:rPr lang="en-US" b="1" i="0" baseline="0" dirty="0"/>
              <a:t>Training </a:t>
            </a:r>
            <a:r>
              <a:rPr lang="en-US" b="0" i="0" baseline="0" dirty="0"/>
              <a:t>address </a:t>
            </a:r>
            <a:r>
              <a:rPr lang="en-US" i="0" baseline="0" dirty="0"/>
              <a:t>group and three firewall policies. If you select a firewall policy, you can use the </a:t>
            </a:r>
            <a:r>
              <a:rPr lang="en-US" b="1" baseline="0" dirty="0"/>
              <a:t>Edit</a:t>
            </a:r>
            <a:r>
              <a:rPr lang="en-US" i="0" baseline="0" dirty="0"/>
              <a:t>, </a:t>
            </a:r>
            <a:r>
              <a:rPr lang="en-US" b="1" baseline="0" dirty="0"/>
              <a:t>View List</a:t>
            </a:r>
            <a:r>
              <a:rPr lang="en-US" i="0" baseline="0" dirty="0"/>
              <a:t>, and </a:t>
            </a:r>
            <a:r>
              <a:rPr lang="en-US" b="1" baseline="0" dirty="0"/>
              <a:t>View Properties </a:t>
            </a:r>
            <a:r>
              <a:rPr lang="en-US" i="0" baseline="0" dirty="0"/>
              <a:t>tabs.</a:t>
            </a:r>
          </a:p>
          <a:p>
            <a:pPr defTabSz="913998">
              <a:defRPr/>
            </a:pPr>
            <a:endParaRPr lang="en-US" i="0" baseline="0" dirty="0"/>
          </a:p>
          <a:p>
            <a:pPr marL="171374" indent="-171374" defTabSz="913998">
              <a:buFont typeface="Arial" panose="020B0604020202020204" pitchFamily="34" charset="0"/>
              <a:buChar char="•"/>
              <a:defRPr/>
            </a:pPr>
            <a:r>
              <a:rPr lang="en-US" b="1" i="0" baseline="0" dirty="0"/>
              <a:t>Edit</a:t>
            </a:r>
            <a:r>
              <a:rPr lang="en-US" i="0" baseline="0" dirty="0"/>
              <a:t>: allows you to edit the selected object. In this example, it shows the edit page for the firewall policy ID 1.</a:t>
            </a:r>
          </a:p>
          <a:p>
            <a:pPr marL="171374" indent="-171374" defTabSz="913998">
              <a:buFont typeface="Arial" panose="020B0604020202020204" pitchFamily="34" charset="0"/>
              <a:buChar char="•"/>
              <a:defRPr/>
            </a:pPr>
            <a:r>
              <a:rPr lang="en-US" b="1" i="0" baseline="0" dirty="0"/>
              <a:t>View List</a:t>
            </a:r>
            <a:r>
              <a:rPr lang="en-US" i="0" baseline="0" dirty="0"/>
              <a:t>: allows you to view selected objects in its category. In this example, it will show you the list of all the firewall policies. </a:t>
            </a:r>
          </a:p>
          <a:p>
            <a:pPr marL="171374" indent="-171374" defTabSz="913998">
              <a:buFont typeface="Arial" panose="020B0604020202020204" pitchFamily="34" charset="0"/>
              <a:buChar char="•"/>
              <a:defRPr/>
            </a:pPr>
            <a:r>
              <a:rPr lang="en-US" b="1" i="0" baseline="0" dirty="0"/>
              <a:t>View Properties</a:t>
            </a:r>
            <a:r>
              <a:rPr lang="en-US" i="0" baseline="0" dirty="0"/>
              <a:t>: shows where the object is used in that configuration. In this example, address object </a:t>
            </a:r>
            <a:r>
              <a:rPr lang="en-US" b="1" baseline="0" dirty="0"/>
              <a:t>all </a:t>
            </a:r>
            <a:r>
              <a:rPr lang="en-US" i="0" baseline="0" dirty="0"/>
              <a:t>is being used in the destination address and source address of that firewall policy.</a:t>
            </a:r>
          </a:p>
          <a:p>
            <a:endParaRPr lang="en-CA" dirty="0"/>
          </a:p>
        </p:txBody>
      </p:sp>
      <p:sp>
        <p:nvSpPr>
          <p:cNvPr id="4" name="Header Placeholder 3"/>
          <p:cNvSpPr>
            <a:spLocks noGrp="1"/>
          </p:cNvSpPr>
          <p:nvPr>
            <p:ph type="hdr" sz="quarter" idx="10"/>
          </p:nvPr>
        </p:nvSpPr>
        <p:spPr/>
        <p:txBody>
          <a:bodyPr/>
          <a:lstStyle/>
          <a:p>
            <a:pPr algn="r"/>
            <a:r>
              <a:rPr lang="en-US" sz="1000">
                <a:solidFill>
                  <a:schemeClr val="bg1">
                    <a:lumMod val="50000"/>
                  </a:schemeClr>
                </a:solidFill>
                <a:sym typeface="Wingdings 3" panose="05040102010807070707" pitchFamily="18" charset="2"/>
              </a:rPr>
              <a:t>Firewall Policies</a:t>
            </a:r>
            <a:endParaRPr lang="en-US" sz="1000" dirty="0">
              <a:solidFill>
                <a:schemeClr val="bg1">
                  <a:lumMod val="50000"/>
                </a:schemeClr>
              </a:solidFill>
              <a:cs typeface="Arial" pitchFamily="34" charset="0"/>
            </a:endParaRPr>
          </a:p>
        </p:txBody>
      </p:sp>
    </p:spTree>
    <p:extLst>
      <p:ext uri="{BB962C8B-B14F-4D97-AF65-F5344CB8AC3E}">
        <p14:creationId xmlns:p14="http://schemas.microsoft.com/office/powerpoint/2010/main" val="323564856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CA" dirty="0"/>
              <a:t>You can right-click any firewall policy to see different menu options to edit or modify the policy. The options include enabling or disabling a firewall policy, inserting firewall policies (above or below), copying and pasting policies, and cloning reverse (only if NAT is disabled on that policy). </a:t>
            </a:r>
          </a:p>
          <a:p>
            <a:pPr lvl="0"/>
            <a:endParaRPr lang="en-CA" dirty="0"/>
          </a:p>
          <a:p>
            <a:pPr lvl="0"/>
            <a:r>
              <a:rPr lang="en-CA" dirty="0"/>
              <a:t>Clicking </a:t>
            </a:r>
            <a:r>
              <a:rPr lang="en-CA" b="1" dirty="0"/>
              <a:t>Edit in CLI </a:t>
            </a:r>
            <a:r>
              <a:rPr lang="en-CA" dirty="0"/>
              <a:t>opens the CLI console for the selected firewall policy or object. It shows the configured</a:t>
            </a:r>
            <a:r>
              <a:rPr lang="en-CA" baseline="0" dirty="0"/>
              <a:t> </a:t>
            </a:r>
            <a:r>
              <a:rPr lang="en-CA" dirty="0"/>
              <a:t>settings on the CLI and can </a:t>
            </a:r>
            <a:r>
              <a:rPr lang="en-CA" baseline="0" dirty="0"/>
              <a:t>modify the selected firewall policy or object directly on the </a:t>
            </a:r>
            <a:r>
              <a:rPr lang="en-CA" b="1" baseline="0" dirty="0"/>
              <a:t>CLI Console</a:t>
            </a:r>
            <a:r>
              <a:rPr lang="en-CA" baseline="0" dirty="0"/>
              <a:t>.  </a:t>
            </a:r>
            <a:endParaRPr lang="en-CA" dirty="0"/>
          </a:p>
          <a:p>
            <a:pPr lvl="0"/>
            <a:endParaRPr lang="en-CA" dirty="0"/>
          </a:p>
          <a:p>
            <a:endParaRPr lang="en-CA" dirty="0"/>
          </a:p>
        </p:txBody>
      </p:sp>
      <p:sp>
        <p:nvSpPr>
          <p:cNvPr id="4" name="Header Placeholder 3"/>
          <p:cNvSpPr>
            <a:spLocks noGrp="1"/>
          </p:cNvSpPr>
          <p:nvPr>
            <p:ph type="hdr" sz="quarter" idx="10"/>
          </p:nvPr>
        </p:nvSpPr>
        <p:spPr/>
        <p:txBody>
          <a:bodyPr/>
          <a:lstStyle/>
          <a:p>
            <a:pPr algn="r"/>
            <a:r>
              <a:rPr lang="en-US" sz="1000">
                <a:solidFill>
                  <a:schemeClr val="bg1">
                    <a:lumMod val="50000"/>
                  </a:schemeClr>
                </a:solidFill>
                <a:sym typeface="Wingdings 3" panose="05040102010807070707" pitchFamily="18" charset="2"/>
              </a:rPr>
              <a:t>Firewall Policies</a:t>
            </a:r>
            <a:endParaRPr lang="en-US" sz="1000" dirty="0">
              <a:solidFill>
                <a:schemeClr val="bg1">
                  <a:lumMod val="50000"/>
                </a:schemeClr>
              </a:solidFill>
              <a:cs typeface="Arial" pitchFamily="34" charset="0"/>
            </a:endParaRPr>
          </a:p>
        </p:txBody>
      </p:sp>
    </p:spTree>
    <p:extLst>
      <p:ext uri="{BB962C8B-B14F-4D97-AF65-F5344CB8AC3E}">
        <p14:creationId xmlns:p14="http://schemas.microsoft.com/office/powerpoint/2010/main" val="206438670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baseline="0" dirty="0"/>
              <a:t>You can filter firewall policies on the GUI using filters in each column. You can add the </a:t>
            </a:r>
            <a:r>
              <a:rPr lang="en-CA" b="1" baseline="0" dirty="0"/>
              <a:t>ID</a:t>
            </a:r>
            <a:r>
              <a:rPr lang="en-CA" baseline="0" dirty="0"/>
              <a:t> column and then click the </a:t>
            </a:r>
            <a:r>
              <a:rPr lang="en-CA" b="1" baseline="0" dirty="0"/>
              <a:t>ID</a:t>
            </a:r>
            <a:r>
              <a:rPr lang="en-CA" baseline="0" dirty="0"/>
              <a:t> column filter icon to filter and search policies based on policy </a:t>
            </a:r>
            <a:r>
              <a:rPr lang="en-CA" b="0" baseline="0" dirty="0"/>
              <a:t>id</a:t>
            </a:r>
            <a:r>
              <a:rPr lang="en-CA" baseline="0" dirty="0"/>
              <a:t> numbers. You can click the </a:t>
            </a:r>
            <a:r>
              <a:rPr lang="en-CA" b="1" baseline="0" dirty="0"/>
              <a:t>Name</a:t>
            </a:r>
            <a:r>
              <a:rPr lang="en-CA" baseline="0" dirty="0"/>
              <a:t> filter icon to search policies based on policy name, and so on.</a:t>
            </a:r>
            <a:endParaRPr lang="en-CA" dirty="0"/>
          </a:p>
        </p:txBody>
      </p:sp>
      <p:sp>
        <p:nvSpPr>
          <p:cNvPr id="5" name="Header Placeholder 4"/>
          <p:cNvSpPr>
            <a:spLocks noGrp="1"/>
          </p:cNvSpPr>
          <p:nvPr>
            <p:ph type="hdr" sz="quarter" idx="10"/>
          </p:nvPr>
        </p:nvSpPr>
        <p:spPr/>
        <p:txBody>
          <a:bodyPr/>
          <a:lstStyle/>
          <a:p>
            <a:pPr algn="r"/>
            <a:r>
              <a:rPr lang="en-US" sz="1000">
                <a:solidFill>
                  <a:schemeClr val="bg1">
                    <a:lumMod val="50000"/>
                  </a:schemeClr>
                </a:solidFill>
                <a:sym typeface="Wingdings 3" panose="05040102010807070707" pitchFamily="18" charset="2"/>
              </a:rPr>
              <a:t>Firewall Policies</a:t>
            </a:r>
            <a:endParaRPr lang="en-US" sz="1000" dirty="0">
              <a:solidFill>
                <a:schemeClr val="bg1">
                  <a:lumMod val="50000"/>
                </a:schemeClr>
              </a:solidFill>
              <a:cs typeface="Arial" pitchFamily="34" charset="0"/>
            </a:endParaRPr>
          </a:p>
        </p:txBody>
      </p:sp>
    </p:spTree>
    <p:extLst>
      <p:ext uri="{BB962C8B-B14F-4D97-AF65-F5344CB8AC3E}">
        <p14:creationId xmlns:p14="http://schemas.microsoft.com/office/powerpoint/2010/main" val="171661490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Header Placeholder 3"/>
          <p:cNvSpPr>
            <a:spLocks noGrp="1"/>
          </p:cNvSpPr>
          <p:nvPr>
            <p:ph type="hdr" sz="quarter" idx="10"/>
          </p:nvPr>
        </p:nvSpPr>
        <p:spPr/>
        <p:txBody>
          <a:bodyPr/>
          <a:lstStyle/>
          <a:p>
            <a:pPr algn="r"/>
            <a:r>
              <a:rPr lang="en-US" sz="1000">
                <a:solidFill>
                  <a:schemeClr val="bg1">
                    <a:lumMod val="50000"/>
                  </a:schemeClr>
                </a:solidFill>
                <a:sym typeface="Wingdings 3" panose="05040102010807070707" pitchFamily="18" charset="2"/>
              </a:rPr>
              <a:t>Firewall Policies</a:t>
            </a:r>
            <a:endParaRPr lang="en-US" sz="1000" dirty="0">
              <a:solidFill>
                <a:schemeClr val="bg1">
                  <a:lumMod val="50000"/>
                </a:schemeClr>
              </a:solidFill>
              <a:cs typeface="Arial" pitchFamily="34" charset="0"/>
            </a:endParaRPr>
          </a:p>
        </p:txBody>
      </p:sp>
    </p:spTree>
    <p:extLst>
      <p:ext uri="{BB962C8B-B14F-4D97-AF65-F5344CB8AC3E}">
        <p14:creationId xmlns:p14="http://schemas.microsoft.com/office/powerpoint/2010/main" val="327064836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13838">
              <a:defRPr/>
            </a:pPr>
            <a:r>
              <a:rPr lang="en-CA" dirty="0"/>
              <a:t>Good job! You now understand how to manage firewall policies on</a:t>
            </a:r>
            <a:r>
              <a:rPr lang="en-CA" baseline="0" dirty="0"/>
              <a:t> FortiGate</a:t>
            </a:r>
            <a:r>
              <a:rPr lang="en-CA" dirty="0"/>
              <a:t>.</a:t>
            </a:r>
          </a:p>
          <a:p>
            <a:pPr defTabSz="913838">
              <a:defRPr/>
            </a:pPr>
            <a:endParaRPr lang="en-CA" dirty="0"/>
          </a:p>
          <a:p>
            <a:pPr defTabSz="913838">
              <a:defRPr/>
            </a:pPr>
            <a:r>
              <a:rPr lang="en-CA" dirty="0"/>
              <a:t>Now, you’ll learn about best practices and troubleshooting related to firewall</a:t>
            </a:r>
            <a:r>
              <a:rPr lang="en-CA" baseline="0" dirty="0"/>
              <a:t> policies.</a:t>
            </a:r>
            <a:endParaRPr lang="en-CA" dirty="0"/>
          </a:p>
        </p:txBody>
      </p:sp>
      <p:sp>
        <p:nvSpPr>
          <p:cNvPr id="4" name="Header Placeholder 3"/>
          <p:cNvSpPr>
            <a:spLocks noGrp="1"/>
          </p:cNvSpPr>
          <p:nvPr>
            <p:ph type="hdr" sz="quarter" idx="10"/>
          </p:nvPr>
        </p:nvSpPr>
        <p:spPr/>
        <p:txBody>
          <a:bodyPr/>
          <a:lstStyle/>
          <a:p>
            <a:pPr algn="r"/>
            <a:r>
              <a:rPr lang="en-US" sz="1000">
                <a:solidFill>
                  <a:schemeClr val="bg1">
                    <a:lumMod val="50000"/>
                  </a:schemeClr>
                </a:solidFill>
                <a:sym typeface="Wingdings 3" panose="05040102010807070707" pitchFamily="18" charset="2"/>
              </a:rPr>
              <a:t>Firewall Policies</a:t>
            </a:r>
            <a:endParaRPr lang="en-US" sz="1000" dirty="0">
              <a:solidFill>
                <a:schemeClr val="bg1">
                  <a:lumMod val="50000"/>
                </a:schemeClr>
              </a:solidFill>
              <a:cs typeface="Arial" pitchFamily="34" charset="0"/>
            </a:endParaRPr>
          </a:p>
        </p:txBody>
      </p:sp>
    </p:spTree>
    <p:extLst>
      <p:ext uri="{BB962C8B-B14F-4D97-AF65-F5344CB8AC3E}">
        <p14:creationId xmlns:p14="http://schemas.microsoft.com/office/powerpoint/2010/main" val="220701399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13838"/>
            <a:r>
              <a:rPr lang="en-CA" baseline="0" dirty="0"/>
              <a:t>After completing this section, you should be able to achieve the objectives shown on this slide.</a:t>
            </a:r>
          </a:p>
          <a:p>
            <a:pPr defTabSz="913838"/>
            <a:endParaRPr lang="en-CA" baseline="0" dirty="0"/>
          </a:p>
          <a:p>
            <a:pPr defTabSz="913838"/>
            <a:r>
              <a:rPr lang="en-CA" baseline="0" dirty="0"/>
              <a:t>By demonstrating competence in knowing firewall policy restrictions and using policy matching techniques, you will be able to apply best practices and basic troubleshooting techniques when working with firewall policies.</a:t>
            </a:r>
            <a:endParaRPr lang="en-CA" dirty="0"/>
          </a:p>
          <a:p>
            <a:endParaRPr lang="en-CA" dirty="0"/>
          </a:p>
        </p:txBody>
      </p:sp>
      <p:sp>
        <p:nvSpPr>
          <p:cNvPr id="4" name="Header Placeholder 3"/>
          <p:cNvSpPr>
            <a:spLocks noGrp="1"/>
          </p:cNvSpPr>
          <p:nvPr>
            <p:ph type="hdr" sz="quarter" idx="10"/>
          </p:nvPr>
        </p:nvSpPr>
        <p:spPr/>
        <p:txBody>
          <a:bodyPr/>
          <a:lstStyle/>
          <a:p>
            <a:pPr algn="r"/>
            <a:r>
              <a:rPr lang="en-US" sz="1000">
                <a:solidFill>
                  <a:schemeClr val="bg1">
                    <a:lumMod val="50000"/>
                  </a:schemeClr>
                </a:solidFill>
                <a:sym typeface="Wingdings 3" panose="05040102010807070707" pitchFamily="18" charset="2"/>
              </a:rPr>
              <a:t>Firewall Policies</a:t>
            </a:r>
            <a:endParaRPr lang="en-US" sz="1000" dirty="0">
              <a:solidFill>
                <a:schemeClr val="bg1">
                  <a:lumMod val="50000"/>
                </a:schemeClr>
              </a:solidFill>
              <a:cs typeface="Arial" pitchFamily="34" charset="0"/>
            </a:endParaRPr>
          </a:p>
        </p:txBody>
      </p:sp>
    </p:spTree>
    <p:extLst>
      <p:ext uri="{BB962C8B-B14F-4D97-AF65-F5344CB8AC3E}">
        <p14:creationId xmlns:p14="http://schemas.microsoft.com/office/powerpoint/2010/main" val="157680233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48063">
              <a:defRPr/>
            </a:pPr>
            <a:r>
              <a:rPr lang="en-CA" dirty="0"/>
              <a:t>When</a:t>
            </a:r>
            <a:r>
              <a:rPr lang="en-CA" baseline="0" dirty="0"/>
              <a:t> configuring names for firewall objects, only specific characters are supported. For example, </a:t>
            </a:r>
            <a:r>
              <a:rPr lang="en-CA" baseline="0" dirty="0">
                <a:latin typeface="Courier New" panose="02070309020205020404" pitchFamily="49" charset="0"/>
                <a:cs typeface="Courier New" panose="02070309020205020404" pitchFamily="49" charset="0"/>
              </a:rPr>
              <a:t>Training(LAN)</a:t>
            </a:r>
            <a:r>
              <a:rPr lang="en-CA" baseline="0" dirty="0"/>
              <a:t> is not a valid name for an address object because it includes special characters that are not supported. Although spaces are supported in the names, as a best practice, avoid using spaces in names. Instead, use a hyphen or underscore. Using spaces can cause issues when trying to modify on the CLI, or troubleshooting.</a:t>
            </a:r>
          </a:p>
          <a:p>
            <a:endParaRPr lang="en-CA" baseline="0" dirty="0"/>
          </a:p>
          <a:p>
            <a:r>
              <a:rPr lang="en-CA" baseline="0" dirty="0"/>
              <a:t>However, many special characters are supported in passwords, comments, replacement messages, and so on.</a:t>
            </a:r>
          </a:p>
          <a:p>
            <a:endParaRPr lang="en-CA" baseline="0" dirty="0"/>
          </a:p>
        </p:txBody>
      </p:sp>
      <p:sp>
        <p:nvSpPr>
          <p:cNvPr id="4" name="Header Placeholder 3"/>
          <p:cNvSpPr>
            <a:spLocks noGrp="1"/>
          </p:cNvSpPr>
          <p:nvPr>
            <p:ph type="hdr" sz="quarter" idx="10"/>
          </p:nvPr>
        </p:nvSpPr>
        <p:spPr/>
        <p:txBody>
          <a:bodyPr/>
          <a:lstStyle/>
          <a:p>
            <a:pPr algn="r"/>
            <a:r>
              <a:rPr lang="en-US" sz="1000">
                <a:solidFill>
                  <a:schemeClr val="bg1">
                    <a:lumMod val="50000"/>
                  </a:schemeClr>
                </a:solidFill>
                <a:sym typeface="Wingdings 3" panose="05040102010807070707" pitchFamily="18" charset="2"/>
              </a:rPr>
              <a:t>Firewall Policies</a:t>
            </a:r>
            <a:endParaRPr lang="en-US" sz="1000" dirty="0">
              <a:solidFill>
                <a:schemeClr val="bg1">
                  <a:lumMod val="50000"/>
                </a:schemeClr>
              </a:solidFill>
              <a:cs typeface="Arial" pitchFamily="34" charset="0"/>
            </a:endParaRPr>
          </a:p>
        </p:txBody>
      </p:sp>
    </p:spTree>
    <p:extLst>
      <p:ext uri="{BB962C8B-B14F-4D97-AF65-F5344CB8AC3E}">
        <p14:creationId xmlns:p14="http://schemas.microsoft.com/office/powerpoint/2010/main" val="366393617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Always</a:t>
            </a:r>
            <a:r>
              <a:rPr lang="en-CA" baseline="0" dirty="0"/>
              <a:t> plan a </a:t>
            </a:r>
            <a:r>
              <a:rPr lang="en-US" baseline="0" noProof="0" dirty="0"/>
              <a:t>maintenance window and create a test case for a few IP addresses and users, before implementing configuration changes in the production network. </a:t>
            </a:r>
            <a:r>
              <a:rPr lang="en-CA" baseline="0" noProof="0" dirty="0"/>
              <a:t>Any configuration changes made using the GUI or CLI take effect immediately, and can interrupt service.</a:t>
            </a:r>
          </a:p>
          <a:p>
            <a:endParaRPr lang="en-CA" baseline="0" noProof="0" dirty="0"/>
          </a:p>
          <a:p>
            <a:r>
              <a:rPr lang="en-US" baseline="0" noProof="0" dirty="0"/>
              <a:t>As a best practice, try to configure firewall policies as specifically as possible. This helps to restrict access to only those resources. For example, use correct subnets when configuring address objects. </a:t>
            </a:r>
          </a:p>
          <a:p>
            <a:endParaRPr lang="en-US" baseline="0" noProof="0" dirty="0"/>
          </a:p>
          <a:p>
            <a:r>
              <a:rPr lang="en-US" baseline="0" noProof="0" dirty="0"/>
              <a:t>Another setting worth mentioning is security profiles. Security profiles help to provide appropriate security for your network. Proper logging configuration can </a:t>
            </a:r>
            <a:r>
              <a:rPr lang="en-CA" baseline="0" noProof="0" dirty="0"/>
              <a:t>also help you to analyze, diagnose, and resolve common network issues. </a:t>
            </a:r>
            <a:endParaRPr lang="en-US" noProof="0" dirty="0"/>
          </a:p>
        </p:txBody>
      </p:sp>
      <p:sp>
        <p:nvSpPr>
          <p:cNvPr id="4" name="Header Placeholder 3"/>
          <p:cNvSpPr>
            <a:spLocks noGrp="1"/>
          </p:cNvSpPr>
          <p:nvPr>
            <p:ph type="hdr" sz="quarter" idx="10"/>
          </p:nvPr>
        </p:nvSpPr>
        <p:spPr/>
        <p:txBody>
          <a:bodyPr/>
          <a:lstStyle/>
          <a:p>
            <a:pPr algn="r"/>
            <a:r>
              <a:rPr lang="en-US" sz="1000">
                <a:solidFill>
                  <a:schemeClr val="bg1">
                    <a:lumMod val="50000"/>
                  </a:schemeClr>
                </a:solidFill>
                <a:sym typeface="Wingdings 3" panose="05040102010807070707" pitchFamily="18" charset="2"/>
              </a:rPr>
              <a:t>Firewall Policies</a:t>
            </a:r>
            <a:endParaRPr lang="en-US" sz="1000" dirty="0">
              <a:solidFill>
                <a:schemeClr val="bg1">
                  <a:lumMod val="50000"/>
                </a:schemeClr>
              </a:solidFill>
              <a:cs typeface="Arial" pitchFamily="34" charset="0"/>
            </a:endParaRPr>
          </a:p>
        </p:txBody>
      </p:sp>
    </p:spTree>
    <p:extLst>
      <p:ext uri="{BB962C8B-B14F-4D97-AF65-F5344CB8AC3E}">
        <p14:creationId xmlns:p14="http://schemas.microsoft.com/office/powerpoint/2010/main" val="137915979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Remember you learned</a:t>
            </a:r>
            <a:r>
              <a:rPr lang="en-US" baseline="0" dirty="0"/>
              <a:t> </a:t>
            </a:r>
            <a:r>
              <a:rPr lang="en-US" dirty="0"/>
              <a:t>that only the first matching policy applies? </a:t>
            </a:r>
            <a:r>
              <a:rPr lang="en-US" b="0" i="0" dirty="0"/>
              <a:t>Arranging your policies in the </a:t>
            </a:r>
            <a:r>
              <a:rPr lang="en-US" b="0" i="1" dirty="0"/>
              <a:t>correct position </a:t>
            </a:r>
            <a:r>
              <a:rPr lang="en-US" b="0" i="0" dirty="0"/>
              <a:t>is important</a:t>
            </a:r>
            <a:r>
              <a:rPr lang="en-US" b="0" i="1" dirty="0"/>
              <a:t>.</a:t>
            </a:r>
            <a:r>
              <a:rPr lang="en-US" b="1" dirty="0"/>
              <a:t> </a:t>
            </a:r>
            <a:r>
              <a:rPr lang="en-US" dirty="0"/>
              <a:t>It affects which traffic is blocked or allowed.</a:t>
            </a:r>
            <a:r>
              <a:rPr lang="en-US" baseline="0" dirty="0"/>
              <a:t> </a:t>
            </a:r>
            <a:r>
              <a:rPr lang="en-US" dirty="0"/>
              <a:t>In the section of the applicable interface pair, FortiGate looks for a matching policy, beginning at the top. So,</a:t>
            </a:r>
            <a:r>
              <a:rPr lang="en-US" baseline="0" dirty="0"/>
              <a:t> </a:t>
            </a:r>
            <a:r>
              <a:rPr lang="en-US" dirty="0"/>
              <a:t>you should put more specific policies at the top; otherwise, more general policies will match the traffic first, and more granular policies will never be applied.</a:t>
            </a:r>
          </a:p>
          <a:p>
            <a:endParaRPr lang="en-US" dirty="0"/>
          </a:p>
          <a:p>
            <a:r>
              <a:rPr lang="en-US" dirty="0"/>
              <a:t>In the example</a:t>
            </a:r>
            <a:r>
              <a:rPr lang="en-US" baseline="0" dirty="0"/>
              <a:t> shown on this slide</a:t>
            </a:r>
            <a:r>
              <a:rPr lang="en-US" dirty="0"/>
              <a:t>, you’re moving the  </a:t>
            </a:r>
            <a:r>
              <a:rPr lang="en-US" b="1" dirty="0"/>
              <a:t>Block_FTP</a:t>
            </a:r>
            <a:r>
              <a:rPr lang="en-US" dirty="0"/>
              <a:t> policy (</a:t>
            </a:r>
            <a:r>
              <a:rPr lang="en-US" baseline="0" dirty="0"/>
              <a:t>ID 2) </a:t>
            </a:r>
            <a:r>
              <a:rPr lang="en-US" dirty="0"/>
              <a:t>that matches only </a:t>
            </a:r>
            <a:r>
              <a:rPr lang="en-US" i="0" dirty="0"/>
              <a:t>FTP</a:t>
            </a:r>
            <a:r>
              <a:rPr lang="en-US" dirty="0"/>
              <a:t> traffic, to a</a:t>
            </a:r>
            <a:r>
              <a:rPr lang="en-US" baseline="0" dirty="0"/>
              <a:t> position</a:t>
            </a:r>
            <a:r>
              <a:rPr lang="en-US" dirty="0"/>
              <a:t> </a:t>
            </a:r>
            <a:r>
              <a:rPr lang="en-US" b="0" i="0" dirty="0"/>
              <a:t>above</a:t>
            </a:r>
            <a:r>
              <a:rPr lang="en-US" b="1" dirty="0"/>
              <a:t> </a:t>
            </a:r>
            <a:r>
              <a:rPr lang="en-US" dirty="0"/>
              <a:t>a more general </a:t>
            </a:r>
            <a:r>
              <a:rPr lang="en-US" b="1" dirty="0" err="1"/>
              <a:t>Full_Access</a:t>
            </a:r>
            <a:r>
              <a:rPr lang="en-US" dirty="0"/>
              <a:t> (</a:t>
            </a:r>
            <a:r>
              <a:rPr lang="en-US" i="0" dirty="0"/>
              <a:t>accept everything from everywhere</a:t>
            </a:r>
            <a:r>
              <a:rPr lang="en-US" i="1" dirty="0"/>
              <a:t>)</a:t>
            </a:r>
            <a:r>
              <a:rPr lang="en-US" i="0" baseline="0" dirty="0"/>
              <a:t> </a:t>
            </a:r>
            <a:r>
              <a:rPr lang="en-US" dirty="0"/>
              <a:t>policy. Otherwise, FortiGate would always apply the first matching policy in</a:t>
            </a:r>
            <a:r>
              <a:rPr lang="en-US" baseline="0" dirty="0"/>
              <a:t> the </a:t>
            </a:r>
            <a:r>
              <a:rPr lang="en-US" dirty="0"/>
              <a:t>applicable interface pairs—</a:t>
            </a:r>
            <a:r>
              <a:rPr lang="en-US" b="1" dirty="0" err="1"/>
              <a:t>Full_Access</a:t>
            </a:r>
            <a:r>
              <a:rPr lang="en-US" dirty="0"/>
              <a:t>–and never reach the </a:t>
            </a:r>
            <a:r>
              <a:rPr lang="en-US" b="1" i="0" dirty="0"/>
              <a:t>Block_FTP</a:t>
            </a:r>
            <a:r>
              <a:rPr lang="en-US" dirty="0"/>
              <a:t> policy.</a:t>
            </a:r>
          </a:p>
          <a:p>
            <a:endParaRPr lang="en-US" dirty="0"/>
          </a:p>
          <a:p>
            <a:r>
              <a:rPr lang="en-US" dirty="0"/>
              <a:t>When</a:t>
            </a:r>
            <a:r>
              <a:rPr lang="en-US" baseline="0" dirty="0"/>
              <a:t> moving the policies across the policy list, policy IDs remain unchanged. </a:t>
            </a:r>
          </a:p>
          <a:p>
            <a:endParaRPr lang="en-US" dirty="0"/>
          </a:p>
          <a:p>
            <a:pPr defTabSz="913972">
              <a:defRPr/>
            </a:pPr>
            <a:r>
              <a:rPr lang="en-CA" baseline="0" dirty="0"/>
              <a:t>Note that </a:t>
            </a:r>
            <a:r>
              <a:rPr lang="en-CA" baseline="0" dirty="0" err="1"/>
              <a:t>FortiGate</a:t>
            </a:r>
            <a:r>
              <a:rPr lang="en-CA" baseline="0" dirty="0"/>
              <a:t> assigns the next highest available ID number as policies are created. </a:t>
            </a:r>
            <a:endParaRPr lang="en-US" i="0" baseline="0" dirty="0"/>
          </a:p>
          <a:p>
            <a:endParaRPr lang="en-CA" dirty="0"/>
          </a:p>
          <a:p>
            <a:pPr defTabSz="948341">
              <a:defRPr/>
            </a:pPr>
            <a:r>
              <a:rPr lang="en-US" baseline="0" dirty="0"/>
              <a:t>Note that policy IDs are identifiers and are not displayed by default on the policy list GUI. You can add a policy </a:t>
            </a:r>
            <a:r>
              <a:rPr lang="en-US" b="1" baseline="0" dirty="0"/>
              <a:t>ID</a:t>
            </a:r>
            <a:r>
              <a:rPr lang="en-US" baseline="0" dirty="0"/>
              <a:t> column using the </a:t>
            </a:r>
            <a:r>
              <a:rPr lang="en-US" b="1" baseline="0" dirty="0"/>
              <a:t>Configure Table </a:t>
            </a:r>
            <a:r>
              <a:rPr lang="en-US" baseline="0" dirty="0"/>
              <a:t>settings icon.</a:t>
            </a:r>
          </a:p>
          <a:p>
            <a:endParaRPr lang="en-US" b="1" dirty="0"/>
          </a:p>
          <a:p>
            <a:endParaRPr lang="en-CA" dirty="0"/>
          </a:p>
        </p:txBody>
      </p:sp>
      <p:sp>
        <p:nvSpPr>
          <p:cNvPr id="4" name="Header Placeholder 3"/>
          <p:cNvSpPr>
            <a:spLocks noGrp="1"/>
          </p:cNvSpPr>
          <p:nvPr>
            <p:ph type="hdr" sz="quarter" idx="10"/>
          </p:nvPr>
        </p:nvSpPr>
        <p:spPr/>
        <p:txBody>
          <a:bodyPr/>
          <a:lstStyle/>
          <a:p>
            <a:pPr algn="r"/>
            <a:r>
              <a:rPr lang="en-US" sz="1000">
                <a:solidFill>
                  <a:schemeClr val="bg1">
                    <a:lumMod val="50000"/>
                  </a:schemeClr>
                </a:solidFill>
                <a:sym typeface="Wingdings 3" panose="05040102010807070707" pitchFamily="18" charset="2"/>
              </a:rPr>
              <a:t>Firewall Policies</a:t>
            </a:r>
            <a:endParaRPr lang="en-US" sz="1000" dirty="0">
              <a:solidFill>
                <a:schemeClr val="bg1">
                  <a:lumMod val="50000"/>
                </a:schemeClr>
              </a:solidFill>
              <a:cs typeface="Arial" pitchFamily="34" charset="0"/>
            </a:endParaRPr>
          </a:p>
        </p:txBody>
      </p:sp>
    </p:spTree>
    <p:extLst>
      <p:ext uri="{BB962C8B-B14F-4D97-AF65-F5344CB8AC3E}">
        <p14:creationId xmlns:p14="http://schemas.microsoft.com/office/powerpoint/2010/main" val="44758036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13838">
              <a:defRPr/>
            </a:pPr>
            <a:r>
              <a:rPr lang="en-CA" dirty="0"/>
              <a:t>In order to optimize and</a:t>
            </a:r>
            <a:r>
              <a:rPr lang="en-CA" baseline="0" dirty="0"/>
              <a:t> </a:t>
            </a:r>
            <a:r>
              <a:rPr lang="en-US" baseline="0" dirty="0"/>
              <a:t>consolidate firewall policies, always check all configured settings. In the example shown on this slide, the two firewall policies have differences in terms of services, security profiles, and logging settings. You can consolidate these two firewall policies by combining services and choosing appropriate logging settings.</a:t>
            </a:r>
          </a:p>
          <a:p>
            <a:pPr defTabSz="913838">
              <a:defRPr/>
            </a:pPr>
            <a:endParaRPr lang="en-US" baseline="0" dirty="0"/>
          </a:p>
          <a:p>
            <a:pPr defTabSz="913838">
              <a:defRPr/>
            </a:pPr>
            <a:r>
              <a:rPr lang="en-US" baseline="0" dirty="0"/>
              <a:t>If you select </a:t>
            </a:r>
            <a:r>
              <a:rPr lang="en-US" b="1" baseline="0" dirty="0"/>
              <a:t>Security Events</a:t>
            </a:r>
            <a:r>
              <a:rPr lang="en-US" baseline="0" dirty="0"/>
              <a:t> (UTM) for the logging settings, traffic logs will not be generated for </a:t>
            </a:r>
            <a:r>
              <a:rPr lang="en-US" b="1" baseline="0" dirty="0"/>
              <a:t>ALL_ICMP</a:t>
            </a:r>
            <a:r>
              <a:rPr lang="en-US" baseline="0" dirty="0"/>
              <a:t> traffic.</a:t>
            </a:r>
          </a:p>
          <a:p>
            <a:pPr defTabSz="913838">
              <a:defRPr/>
            </a:pPr>
            <a:endParaRPr lang="en-US" baseline="0" dirty="0"/>
          </a:p>
          <a:p>
            <a:pPr defTabSz="913838">
              <a:defRPr/>
            </a:pPr>
            <a:r>
              <a:rPr lang="en-US" b="0" baseline="0" dirty="0"/>
              <a:t>Note that t</a:t>
            </a:r>
            <a:r>
              <a:rPr lang="en-US" baseline="0" dirty="0"/>
              <a:t>he </a:t>
            </a:r>
            <a:r>
              <a:rPr lang="en-US" b="1" baseline="0" dirty="0"/>
              <a:t>ALL_ICMP</a:t>
            </a:r>
            <a:r>
              <a:rPr lang="en-US" baseline="0" dirty="0"/>
              <a:t> service is not subject to web filter and antivirus scans,</a:t>
            </a:r>
            <a:r>
              <a:rPr lang="en-US" dirty="0"/>
              <a:t> which means that applying these security profiles to the ICMP traffic will result in the traffic passing through without being inspected. </a:t>
            </a:r>
            <a:endParaRPr lang="en-US" b="0" baseline="0" dirty="0"/>
          </a:p>
          <a:p>
            <a:pPr defTabSz="913838">
              <a:defRPr/>
            </a:pPr>
            <a:endParaRPr lang="en-US" baseline="0" dirty="0"/>
          </a:p>
        </p:txBody>
      </p:sp>
      <p:sp>
        <p:nvSpPr>
          <p:cNvPr id="4" name="Header Placeholder 3"/>
          <p:cNvSpPr>
            <a:spLocks noGrp="1"/>
          </p:cNvSpPr>
          <p:nvPr>
            <p:ph type="hdr" sz="quarter" idx="10"/>
          </p:nvPr>
        </p:nvSpPr>
        <p:spPr/>
        <p:txBody>
          <a:bodyPr/>
          <a:lstStyle/>
          <a:p>
            <a:pPr algn="r"/>
            <a:r>
              <a:rPr lang="en-US" sz="1000">
                <a:solidFill>
                  <a:schemeClr val="bg1">
                    <a:lumMod val="50000"/>
                  </a:schemeClr>
                </a:solidFill>
                <a:sym typeface="Wingdings 3" panose="05040102010807070707" pitchFamily="18" charset="2"/>
              </a:rPr>
              <a:t>Firewall Policies</a:t>
            </a:r>
            <a:endParaRPr lang="en-US" sz="1000" dirty="0">
              <a:solidFill>
                <a:schemeClr val="bg1">
                  <a:lumMod val="50000"/>
                </a:schemeClr>
              </a:solidFill>
              <a:cs typeface="Arial" pitchFamily="34" charset="0"/>
            </a:endParaRPr>
          </a:p>
        </p:txBody>
      </p:sp>
    </p:spTree>
    <p:extLst>
      <p:ext uri="{BB962C8B-B14F-4D97-AF65-F5344CB8AC3E}">
        <p14:creationId xmlns:p14="http://schemas.microsoft.com/office/powerpoint/2010/main" val="153354963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You can find a matching firewall policy based on the policy lookup input criteria. Policy lookup creates a packet flow over FortiGate without real traffic. From this, policy lookup can extract a policy ID from the flow trace and highlight it on the GUI policy configuration page.</a:t>
            </a:r>
          </a:p>
          <a:p>
            <a:endParaRPr lang="en-CA" dirty="0"/>
          </a:p>
          <a:p>
            <a:r>
              <a:rPr lang="en-CA" dirty="0"/>
              <a:t>Depending on the protocol you select (for example, TCP, UDP, IP, ICMP, and so on), you need to define other input criteria. For example, when you select TCP as the protocol, you need to define the source address, source port (optional), destination port, and destination address. When you select ICMP as the protocol, you need to define the ICMP type/code, source address, and destination address. </a:t>
            </a:r>
          </a:p>
          <a:p>
            <a:endParaRPr lang="en-US" dirty="0"/>
          </a:p>
          <a:p>
            <a:r>
              <a:rPr lang="en-US" dirty="0"/>
              <a:t>When FortiGate is performing policy lookup, it performs a series of checks on ingress, stateful inspection, and egress, for the matching firewall policy, from top to bottom, before providing results for the matching policy. </a:t>
            </a:r>
          </a:p>
          <a:p>
            <a:endParaRPr lang="en-US" dirty="0"/>
          </a:p>
          <a:p>
            <a:r>
              <a:rPr lang="en-US" b="0" dirty="0"/>
              <a:t>Note</a:t>
            </a:r>
            <a:r>
              <a:rPr lang="en-US" b="0" baseline="0" dirty="0"/>
              <a:t> that i</a:t>
            </a:r>
            <a:r>
              <a:rPr lang="en-US" dirty="0"/>
              <a:t>f the firewall policy status is set to </a:t>
            </a:r>
            <a:r>
              <a:rPr lang="en-US" b="1" dirty="0"/>
              <a:t>disable</a:t>
            </a:r>
            <a:r>
              <a:rPr lang="en-US" dirty="0"/>
              <a:t>, the policy lookup skips the disabled policy and checks for the next matching policy in the list. </a:t>
            </a:r>
          </a:p>
          <a:p>
            <a:endParaRPr lang="en-US" dirty="0"/>
          </a:p>
          <a:p>
            <a:r>
              <a:rPr lang="en-US" dirty="0"/>
              <a:t>When FortiGate is in Transparent mode, it does not support the policy lookup function.</a:t>
            </a:r>
          </a:p>
          <a:p>
            <a:endParaRPr lang="en-US" dirty="0"/>
          </a:p>
          <a:p>
            <a:endParaRPr lang="en-CA" dirty="0"/>
          </a:p>
          <a:p>
            <a:endParaRPr lang="en-CA" dirty="0"/>
          </a:p>
        </p:txBody>
      </p:sp>
      <p:sp>
        <p:nvSpPr>
          <p:cNvPr id="4" name="Header Placeholder 3"/>
          <p:cNvSpPr>
            <a:spLocks noGrp="1"/>
          </p:cNvSpPr>
          <p:nvPr>
            <p:ph type="hdr" sz="quarter" idx="10"/>
          </p:nvPr>
        </p:nvSpPr>
        <p:spPr/>
        <p:txBody>
          <a:bodyPr/>
          <a:lstStyle/>
          <a:p>
            <a:pPr algn="r"/>
            <a:r>
              <a:rPr lang="en-US" sz="1000">
                <a:solidFill>
                  <a:schemeClr val="bg1">
                    <a:lumMod val="50000"/>
                  </a:schemeClr>
                </a:solidFill>
                <a:sym typeface="Wingdings 3" panose="05040102010807070707" pitchFamily="18" charset="2"/>
              </a:rPr>
              <a:t>Firewall Policies</a:t>
            </a:r>
            <a:endParaRPr lang="en-US" sz="1000" dirty="0">
              <a:solidFill>
                <a:schemeClr val="bg1">
                  <a:lumMod val="50000"/>
                </a:schemeClr>
              </a:solidFill>
              <a:cs typeface="Arial" pitchFamily="34" charset="0"/>
            </a:endParaRPr>
          </a:p>
        </p:txBody>
      </p:sp>
    </p:spTree>
    <p:extLst>
      <p:ext uri="{BB962C8B-B14F-4D97-AF65-F5344CB8AC3E}">
        <p14:creationId xmlns:p14="http://schemas.microsoft.com/office/powerpoint/2010/main" val="871576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Based on the input criteria, after clicking </a:t>
            </a:r>
            <a:r>
              <a:rPr lang="en-CA" b="1" dirty="0"/>
              <a:t>Search</a:t>
            </a:r>
            <a:r>
              <a:rPr lang="en-CA" dirty="0"/>
              <a:t>, the trace result is selected and highlighted on the </a:t>
            </a:r>
            <a:r>
              <a:rPr lang="en-CA" b="1" dirty="0"/>
              <a:t>Firewall Policy </a:t>
            </a:r>
            <a:r>
              <a:rPr lang="en-CA" dirty="0"/>
              <a:t>page.</a:t>
            </a:r>
          </a:p>
          <a:p>
            <a:endParaRPr lang="en-CA" dirty="0"/>
          </a:p>
          <a:p>
            <a:r>
              <a:rPr lang="en-CA" dirty="0"/>
              <a:t>Why didn’t </a:t>
            </a:r>
            <a:r>
              <a:rPr lang="en-CA" b="0" dirty="0"/>
              <a:t>policy</a:t>
            </a:r>
            <a:r>
              <a:rPr lang="en-CA" b="1" baseline="0" dirty="0"/>
              <a:t> ID </a:t>
            </a:r>
            <a:r>
              <a:rPr lang="en-CA" b="1" dirty="0"/>
              <a:t>#1 </a:t>
            </a:r>
            <a:r>
              <a:rPr lang="en-CA" dirty="0"/>
              <a:t>or </a:t>
            </a:r>
            <a:r>
              <a:rPr lang="en-CA" b="1" dirty="0"/>
              <a:t>ID #2 </a:t>
            </a:r>
            <a:r>
              <a:rPr lang="en-CA" dirty="0"/>
              <a:t> match the input criteria?</a:t>
            </a:r>
          </a:p>
          <a:p>
            <a:endParaRPr lang="en-CA" dirty="0"/>
          </a:p>
          <a:p>
            <a:r>
              <a:rPr lang="en-CA" dirty="0"/>
              <a:t>Because </a:t>
            </a:r>
            <a:r>
              <a:rPr lang="en-CA" b="0" dirty="0"/>
              <a:t>policy</a:t>
            </a:r>
            <a:r>
              <a:rPr lang="en-CA" b="1" baseline="0" dirty="0"/>
              <a:t> ID </a:t>
            </a:r>
            <a:r>
              <a:rPr lang="en-CA" b="1" dirty="0"/>
              <a:t>#1 </a:t>
            </a:r>
            <a:r>
              <a:rPr lang="en-CA" dirty="0"/>
              <a:t> status is set to </a:t>
            </a:r>
            <a:r>
              <a:rPr lang="en-CA" b="1" dirty="0"/>
              <a:t>disable</a:t>
            </a:r>
            <a:r>
              <a:rPr lang="en-CA" dirty="0"/>
              <a:t>, policy look</a:t>
            </a:r>
            <a:r>
              <a:rPr lang="en-CA" baseline="0" dirty="0"/>
              <a:t>up </a:t>
            </a:r>
            <a:r>
              <a:rPr lang="en-US" dirty="0"/>
              <a:t>skips the disabled policy. For firewall</a:t>
            </a:r>
            <a:r>
              <a:rPr lang="en-US" baseline="0" dirty="0"/>
              <a:t> policy </a:t>
            </a:r>
            <a:r>
              <a:rPr lang="en-US" dirty="0"/>
              <a:t> </a:t>
            </a:r>
            <a:r>
              <a:rPr lang="en-CA" b="1" dirty="0"/>
              <a:t>ID</a:t>
            </a:r>
            <a:r>
              <a:rPr lang="en-CA" b="1" baseline="0" dirty="0"/>
              <a:t> </a:t>
            </a:r>
            <a:r>
              <a:rPr lang="en-CA" b="1" dirty="0"/>
              <a:t>#2</a:t>
            </a:r>
            <a:r>
              <a:rPr lang="en-US" dirty="0"/>
              <a:t> </a:t>
            </a:r>
            <a:r>
              <a:rPr lang="en-CA" dirty="0"/>
              <a:t>,</a:t>
            </a:r>
            <a:r>
              <a:rPr lang="en-CA" baseline="0" dirty="0"/>
              <a:t> it doesn’t match the destination port specified in the policy lookup matching criteria. </a:t>
            </a:r>
            <a:endParaRPr lang="en-CA" dirty="0"/>
          </a:p>
          <a:p>
            <a:endParaRPr lang="en-CA" dirty="0"/>
          </a:p>
        </p:txBody>
      </p:sp>
      <p:sp>
        <p:nvSpPr>
          <p:cNvPr id="4" name="Header Placeholder 3"/>
          <p:cNvSpPr>
            <a:spLocks noGrp="1"/>
          </p:cNvSpPr>
          <p:nvPr>
            <p:ph type="hdr" sz="quarter" idx="10"/>
          </p:nvPr>
        </p:nvSpPr>
        <p:spPr/>
        <p:txBody>
          <a:bodyPr/>
          <a:lstStyle/>
          <a:p>
            <a:pPr algn="r"/>
            <a:r>
              <a:rPr lang="en-US" sz="1000">
                <a:solidFill>
                  <a:schemeClr val="bg1">
                    <a:lumMod val="50000"/>
                  </a:schemeClr>
                </a:solidFill>
                <a:sym typeface="Wingdings 3" panose="05040102010807070707" pitchFamily="18" charset="2"/>
              </a:rPr>
              <a:t>Firewall Policies</a:t>
            </a:r>
            <a:endParaRPr lang="en-US" sz="1000" dirty="0">
              <a:solidFill>
                <a:schemeClr val="bg1">
                  <a:lumMod val="50000"/>
                </a:schemeClr>
              </a:solidFill>
              <a:cs typeface="Arial" pitchFamily="34" charset="0"/>
            </a:endParaRPr>
          </a:p>
        </p:txBody>
      </p:sp>
    </p:spTree>
    <p:extLst>
      <p:ext uri="{BB962C8B-B14F-4D97-AF65-F5344CB8AC3E}">
        <p14:creationId xmlns:p14="http://schemas.microsoft.com/office/powerpoint/2010/main" val="274545125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Header Placeholder 3"/>
          <p:cNvSpPr>
            <a:spLocks noGrp="1"/>
          </p:cNvSpPr>
          <p:nvPr>
            <p:ph type="hdr" sz="quarter" idx="10"/>
          </p:nvPr>
        </p:nvSpPr>
        <p:spPr/>
        <p:txBody>
          <a:bodyPr/>
          <a:lstStyle/>
          <a:p>
            <a:pPr algn="r"/>
            <a:r>
              <a:rPr lang="en-US" sz="1000">
                <a:solidFill>
                  <a:schemeClr val="bg1">
                    <a:lumMod val="50000"/>
                  </a:schemeClr>
                </a:solidFill>
                <a:sym typeface="Wingdings 3" panose="05040102010807070707" pitchFamily="18" charset="2"/>
              </a:rPr>
              <a:t>Firewall Policies</a:t>
            </a:r>
            <a:endParaRPr lang="en-US" sz="1000" dirty="0">
              <a:solidFill>
                <a:schemeClr val="bg1">
                  <a:lumMod val="50000"/>
                </a:schemeClr>
              </a:solidFill>
              <a:cs typeface="Arial" pitchFamily="34" charset="0"/>
            </a:endParaRPr>
          </a:p>
        </p:txBody>
      </p:sp>
    </p:spTree>
    <p:extLst>
      <p:ext uri="{BB962C8B-B14F-4D97-AF65-F5344CB8AC3E}">
        <p14:creationId xmlns:p14="http://schemas.microsoft.com/office/powerpoint/2010/main" val="327064836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13838">
              <a:defRPr/>
            </a:pPr>
            <a:r>
              <a:rPr lang="en-CA" dirty="0"/>
              <a:t>Congratulations! You have completed this lesson.</a:t>
            </a:r>
          </a:p>
          <a:p>
            <a:pPr defTabSz="913838">
              <a:defRPr/>
            </a:pPr>
            <a:endParaRPr lang="en-CA" dirty="0"/>
          </a:p>
          <a:p>
            <a:pPr defTabSz="913838">
              <a:defRPr/>
            </a:pPr>
            <a:r>
              <a:rPr lang="en-CA" dirty="0"/>
              <a:t>Now, you will review the objectives that you covered in the lesson.</a:t>
            </a:r>
          </a:p>
        </p:txBody>
      </p:sp>
      <p:sp>
        <p:nvSpPr>
          <p:cNvPr id="4" name="Header Placeholder 3"/>
          <p:cNvSpPr>
            <a:spLocks noGrp="1"/>
          </p:cNvSpPr>
          <p:nvPr>
            <p:ph type="hdr" sz="quarter" idx="10"/>
          </p:nvPr>
        </p:nvSpPr>
        <p:spPr/>
        <p:txBody>
          <a:bodyPr/>
          <a:lstStyle/>
          <a:p>
            <a:pPr algn="r"/>
            <a:r>
              <a:rPr lang="en-US" sz="1000">
                <a:solidFill>
                  <a:schemeClr val="bg1">
                    <a:lumMod val="50000"/>
                  </a:schemeClr>
                </a:solidFill>
                <a:sym typeface="Wingdings 3" panose="05040102010807070707" pitchFamily="18" charset="2"/>
              </a:rPr>
              <a:t>Firewall Policies</a:t>
            </a:r>
            <a:endParaRPr lang="en-US" sz="1000" dirty="0">
              <a:solidFill>
                <a:schemeClr val="bg1">
                  <a:lumMod val="50000"/>
                </a:schemeClr>
              </a:solidFill>
              <a:cs typeface="Arial" pitchFamily="34" charset="0"/>
            </a:endParaRPr>
          </a:p>
        </p:txBody>
      </p:sp>
    </p:spTree>
    <p:extLst>
      <p:ext uri="{BB962C8B-B14F-4D97-AF65-F5344CB8AC3E}">
        <p14:creationId xmlns:p14="http://schemas.microsoft.com/office/powerpoint/2010/main" val="220701399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objectives that you covered in this </a:t>
            </a:r>
            <a:r>
              <a:rPr lang="en-US"/>
              <a:t>lesson.</a:t>
            </a:r>
          </a:p>
          <a:p>
            <a:endParaRPr lang="en-US" dirty="0"/>
          </a:p>
          <a:p>
            <a:r>
              <a:rPr lang="en-US" dirty="0"/>
              <a:t>By mastering the objectives covered in this lesson, you learned how to configure, use, and manage firewall policies.</a:t>
            </a:r>
          </a:p>
        </p:txBody>
      </p:sp>
      <p:sp>
        <p:nvSpPr>
          <p:cNvPr id="4" name="Header Placeholder 3"/>
          <p:cNvSpPr>
            <a:spLocks noGrp="1"/>
          </p:cNvSpPr>
          <p:nvPr>
            <p:ph type="hdr" sz="quarter" idx="10"/>
          </p:nvPr>
        </p:nvSpPr>
        <p:spPr/>
        <p:txBody>
          <a:bodyPr/>
          <a:lstStyle/>
          <a:p>
            <a:pPr algn="r"/>
            <a:r>
              <a:rPr lang="en-US" sz="1000">
                <a:solidFill>
                  <a:schemeClr val="bg1">
                    <a:lumMod val="50000"/>
                  </a:schemeClr>
                </a:solidFill>
                <a:sym typeface="Wingdings 3" panose="05040102010807070707" pitchFamily="18" charset="2"/>
              </a:rPr>
              <a:t>Firewall Policies</a:t>
            </a:r>
            <a:endParaRPr lang="en-US" sz="1000" dirty="0">
              <a:solidFill>
                <a:schemeClr val="bg1">
                  <a:lumMod val="50000"/>
                </a:schemeClr>
              </a:solidFill>
              <a:cs typeface="Arial" pitchFamily="34" charset="0"/>
            </a:endParaRPr>
          </a:p>
        </p:txBody>
      </p:sp>
    </p:spTree>
    <p:extLst>
      <p:ext uri="{BB962C8B-B14F-4D97-AF65-F5344CB8AC3E}">
        <p14:creationId xmlns:p14="http://schemas.microsoft.com/office/powerpoint/2010/main" val="36711931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9.png"/><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10.png"/><Relationship Id="rId1" Type="http://schemas.openxmlformats.org/officeDocument/2006/relationships/slideMaster" Target="../slideMasters/slideMaster1.xml"/><Relationship Id="rId5" Type="http://schemas.openxmlformats.org/officeDocument/2006/relationships/image" Target="../media/image11.png"/><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12.png"/><Relationship Id="rId1" Type="http://schemas.openxmlformats.org/officeDocument/2006/relationships/slideMaster" Target="../slideMasters/slideMaster1.xml"/><Relationship Id="rId5" Type="http://schemas.openxmlformats.org/officeDocument/2006/relationships/image" Target="../media/image13.png"/><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14.png"/><Relationship Id="rId1" Type="http://schemas.openxmlformats.org/officeDocument/2006/relationships/slideMaster" Target="../slideMasters/slideMaster1.xml"/><Relationship Id="rId5" Type="http://schemas.openxmlformats.org/officeDocument/2006/relationships/image" Target="../media/image15.png"/><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16.png"/><Relationship Id="rId1" Type="http://schemas.openxmlformats.org/officeDocument/2006/relationships/slideMaster" Target="../slideMasters/slideMaster1.xml"/><Relationship Id="rId5" Type="http://schemas.openxmlformats.org/officeDocument/2006/relationships/image" Target="../media/image17.png"/><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18.png"/><Relationship Id="rId1" Type="http://schemas.openxmlformats.org/officeDocument/2006/relationships/slideMaster" Target="../slideMasters/slideMaster1.xml"/><Relationship Id="rId5" Type="http://schemas.openxmlformats.org/officeDocument/2006/relationships/image" Target="../media/image19.png"/><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20.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1.emf"/><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1.emf"/><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cSld name="Title_Slide_NSE_1">
    <p:bg>
      <p:bgPr>
        <a:solidFill>
          <a:schemeClr val="bg1"/>
        </a:solidFill>
        <a:effectLst/>
      </p:bgPr>
    </p:bg>
    <p:spTree>
      <p:nvGrpSpPr>
        <p:cNvPr id="1" name=""/>
        <p:cNvGrpSpPr/>
        <p:nvPr/>
      </p:nvGrpSpPr>
      <p:grpSpPr>
        <a:xfrm>
          <a:off x="0" y="0"/>
          <a:ext cx="0" cy="0"/>
          <a:chOff x="0" y="0"/>
          <a:chExt cx="0" cy="0"/>
        </a:xfrm>
      </p:grpSpPr>
      <p:sp>
        <p:nvSpPr>
          <p:cNvPr id="17" name="Copyright"/>
          <p:cNvSpPr txBox="1"/>
          <p:nvPr/>
        </p:nvSpPr>
        <p:spPr>
          <a:xfrm>
            <a:off x="607109" y="6542690"/>
            <a:ext cx="3210658" cy="246221"/>
          </a:xfrm>
          <a:prstGeom prst="rect">
            <a:avLst/>
          </a:prstGeom>
          <a:noFill/>
        </p:spPr>
        <p:txBody>
          <a:bodyPr wrap="square" lIns="121899" tIns="60949" rIns="121899" bIns="60949" rtlCol="0">
            <a:spAutoFit/>
          </a:bodyPr>
          <a:lstStyle/>
          <a:p>
            <a:r>
              <a:rPr lang="en-US" sz="800" dirty="0">
                <a:solidFill>
                  <a:srgbClr val="FFFFFF"/>
                </a:solidFill>
              </a:rPr>
              <a:t>© Copyright Fortinet</a:t>
            </a:r>
            <a:r>
              <a:rPr lang="en-US" sz="800" baseline="0" dirty="0">
                <a:solidFill>
                  <a:srgbClr val="FFFFFF"/>
                </a:solidFill>
              </a:rPr>
              <a:t> Inc. All rights reserved.</a:t>
            </a:r>
            <a:r>
              <a:rPr lang="en-US" sz="800" dirty="0">
                <a:solidFill>
                  <a:srgbClr val="FFFFFF"/>
                </a:solidFill>
              </a:rPr>
              <a:t> </a:t>
            </a:r>
          </a:p>
        </p:txBody>
      </p:sp>
      <p:sp>
        <p:nvSpPr>
          <p:cNvPr id="18" name="Date"/>
          <p:cNvSpPr/>
          <p:nvPr/>
        </p:nvSpPr>
        <p:spPr>
          <a:xfrm>
            <a:off x="9192110" y="6542689"/>
            <a:ext cx="2377440" cy="246221"/>
          </a:xfrm>
          <a:prstGeom prst="rect">
            <a:avLst/>
          </a:prstGeom>
        </p:spPr>
        <p:txBody>
          <a:bodyPr wrap="square" lIns="0" rIns="0" anchor="ctr">
            <a:spAutoFit/>
          </a:bodyPr>
          <a:lstStyle/>
          <a:p>
            <a:pPr algn="r"/>
            <a:r>
              <a:rPr lang="en-US" sz="1000" dirty="0">
                <a:solidFill>
                  <a:schemeClr val="bg1"/>
                </a:solidFill>
              </a:rPr>
              <a:t>Last Modified: </a:t>
            </a:r>
            <a:fld id="{188C7AA7-C880-4ADA-8026-96176B03DB6F}" type="datetime3">
              <a:rPr lang="en-US" sz="1000" smtClean="0">
                <a:solidFill>
                  <a:schemeClr val="bg1"/>
                </a:solidFill>
              </a:rPr>
              <a:pPr algn="r"/>
              <a:t>9 June 2022</a:t>
            </a:fld>
            <a:endParaRPr lang="en-US" sz="1000" dirty="0">
              <a:solidFill>
                <a:schemeClr val="bg1"/>
              </a:solidFill>
            </a:endParaRPr>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3" y="1"/>
            <a:ext cx="12191408" cy="6858332"/>
          </a:xfrm>
          <a:prstGeom prst="rect">
            <a:avLst/>
          </a:prstGeom>
        </p:spPr>
      </p:pic>
      <p:pic>
        <p:nvPicPr>
          <p:cNvPr id="14" name="Picture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3" y="1408680"/>
            <a:ext cx="8648216" cy="3871942"/>
          </a:xfrm>
          <a:prstGeom prst="rect">
            <a:avLst/>
          </a:prstGeom>
        </p:spPr>
      </p:pic>
      <p:sp>
        <p:nvSpPr>
          <p:cNvPr id="10" name="Lesson_Name"/>
          <p:cNvSpPr>
            <a:spLocks noGrp="1"/>
          </p:cNvSpPr>
          <p:nvPr>
            <p:ph type="subTitle" idx="1" hasCustomPrompt="1"/>
          </p:nvPr>
        </p:nvSpPr>
        <p:spPr>
          <a:xfrm>
            <a:off x="114299" y="3726591"/>
            <a:ext cx="7596188" cy="830123"/>
          </a:xfrm>
          <a:prstGeom prst="rect">
            <a:avLst/>
          </a:prstGeom>
        </p:spPr>
        <p:txBody>
          <a:bodyPr>
            <a:normAutofit/>
          </a:bodyPr>
          <a:lstStyle>
            <a:lvl1pPr marL="0" indent="0">
              <a:buNone/>
              <a:defRPr sz="2800" baseline="0">
                <a:solidFill>
                  <a:schemeClr val="tx1"/>
                </a:solidFill>
              </a:defRPr>
            </a:lvl1pPr>
          </a:lstStyle>
          <a:p>
            <a:r>
              <a:rPr lang="en-US" dirty="0"/>
              <a:t>[Lesson Name]</a:t>
            </a:r>
          </a:p>
        </p:txBody>
      </p:sp>
      <p:sp>
        <p:nvSpPr>
          <p:cNvPr id="11" name="Course_Name"/>
          <p:cNvSpPr>
            <a:spLocks noGrp="1"/>
          </p:cNvSpPr>
          <p:nvPr>
            <p:ph type="ctrTitle" hasCustomPrompt="1"/>
          </p:nvPr>
        </p:nvSpPr>
        <p:spPr>
          <a:xfrm>
            <a:off x="97113" y="2697625"/>
            <a:ext cx="8337507" cy="901261"/>
          </a:xfrm>
          <a:prstGeom prst="rect">
            <a:avLst/>
          </a:prstGeom>
        </p:spPr>
        <p:txBody>
          <a:bodyPr>
            <a:normAutofit/>
          </a:bodyPr>
          <a:lstStyle>
            <a:lvl1pPr>
              <a:defRPr sz="3600" baseline="0">
                <a:solidFill>
                  <a:schemeClr val="tx1"/>
                </a:solidFill>
              </a:defRPr>
            </a:lvl1pPr>
          </a:lstStyle>
          <a:p>
            <a:r>
              <a:rPr lang="en-US" dirty="0"/>
              <a:t>[Course Name]</a:t>
            </a:r>
          </a:p>
        </p:txBody>
      </p:sp>
      <p:sp>
        <p:nvSpPr>
          <p:cNvPr id="12" name="Firmware"/>
          <p:cNvSpPr>
            <a:spLocks noGrp="1"/>
          </p:cNvSpPr>
          <p:nvPr>
            <p:ph type="body" sz="quarter" idx="10" hasCustomPrompt="1"/>
          </p:nvPr>
        </p:nvSpPr>
        <p:spPr>
          <a:xfrm>
            <a:off x="606427" y="6343344"/>
            <a:ext cx="2869200" cy="349200"/>
          </a:xfrm>
          <a:prstGeom prst="rect">
            <a:avLst/>
          </a:prstGeom>
        </p:spPr>
        <p:txBody>
          <a:bodyPr>
            <a:noAutofit/>
          </a:bodyPr>
          <a:lstStyle>
            <a:lvl1pPr marL="0" indent="0">
              <a:buNone/>
              <a:defRPr sz="1600" baseline="0">
                <a:solidFill>
                  <a:schemeClr val="tx1"/>
                </a:solidFill>
              </a:defRPr>
            </a:lvl1pPr>
          </a:lstStyle>
          <a:p>
            <a:r>
              <a:rPr lang="en-CA" dirty="0"/>
              <a:t>[Firmware Version]</a:t>
            </a:r>
          </a:p>
        </p:txBody>
      </p:sp>
      <p:sp>
        <p:nvSpPr>
          <p:cNvPr id="13" name="Date"/>
          <p:cNvSpPr/>
          <p:nvPr/>
        </p:nvSpPr>
        <p:spPr>
          <a:xfrm>
            <a:off x="9394332" y="6542698"/>
            <a:ext cx="2377440" cy="246221"/>
          </a:xfrm>
          <a:prstGeom prst="rect">
            <a:avLst/>
          </a:prstGeom>
        </p:spPr>
        <p:txBody>
          <a:bodyPr wrap="square" lIns="0" rIns="0" anchor="ctr">
            <a:spAutoFit/>
          </a:bodyPr>
          <a:lstStyle/>
          <a:p>
            <a:pPr algn="r"/>
            <a:r>
              <a:rPr lang="en-US" sz="1000" dirty="0">
                <a:solidFill>
                  <a:schemeClr val="tx1"/>
                </a:solidFill>
              </a:rPr>
              <a:t>Last Modified: </a:t>
            </a:r>
            <a:fld id="{188C7AA7-C880-4ADA-8026-96176B03DB6F}" type="datetime3">
              <a:rPr lang="en-US" sz="1000" smtClean="0">
                <a:solidFill>
                  <a:schemeClr val="tx1"/>
                </a:solidFill>
              </a:rPr>
              <a:pPr algn="r"/>
              <a:t>9 June 2022</a:t>
            </a:fld>
            <a:endParaRPr lang="en-US" sz="1000" dirty="0">
              <a:solidFill>
                <a:schemeClr val="tx1"/>
              </a:solidFill>
            </a:endParaRPr>
          </a:p>
        </p:txBody>
      </p:sp>
      <p:pic>
        <p:nvPicPr>
          <p:cNvPr id="15" name="Picture 1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0764" y="1629063"/>
            <a:ext cx="2090932" cy="621793"/>
          </a:xfrm>
          <a:prstGeom prst="rect">
            <a:avLst/>
          </a:prstGeom>
        </p:spPr>
      </p:pic>
      <p:pic>
        <p:nvPicPr>
          <p:cNvPr id="16" name="Picture 1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525035" y="1629063"/>
            <a:ext cx="933910" cy="933910"/>
          </a:xfrm>
          <a:prstGeom prst="rect">
            <a:avLst/>
          </a:prstGeom>
        </p:spPr>
      </p:pic>
    </p:spTree>
    <p:extLst>
      <p:ext uri="{BB962C8B-B14F-4D97-AF65-F5344CB8AC3E}">
        <p14:creationId xmlns:p14="http://schemas.microsoft.com/office/powerpoint/2010/main" val="389137174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cSld name="Title_Slide_NSE_2">
    <p:bg>
      <p:bgPr>
        <a:solidFill>
          <a:schemeClr val="bg1"/>
        </a:solidFill>
        <a:effectLst/>
      </p:bgPr>
    </p:bg>
    <p:spTree>
      <p:nvGrpSpPr>
        <p:cNvPr id="1" name=""/>
        <p:cNvGrpSpPr/>
        <p:nvPr/>
      </p:nvGrpSpPr>
      <p:grpSpPr>
        <a:xfrm>
          <a:off x="0" y="0"/>
          <a:ext cx="0" cy="0"/>
          <a:chOff x="0" y="0"/>
          <a:chExt cx="0" cy="0"/>
        </a:xfrm>
      </p:grpSpPr>
      <p:sp>
        <p:nvSpPr>
          <p:cNvPr id="17" name="Copyright"/>
          <p:cNvSpPr txBox="1"/>
          <p:nvPr/>
        </p:nvSpPr>
        <p:spPr>
          <a:xfrm>
            <a:off x="607109" y="6542690"/>
            <a:ext cx="3210658" cy="246221"/>
          </a:xfrm>
          <a:prstGeom prst="rect">
            <a:avLst/>
          </a:prstGeom>
          <a:noFill/>
        </p:spPr>
        <p:txBody>
          <a:bodyPr wrap="square" lIns="121899" tIns="60949" rIns="121899" bIns="60949" rtlCol="0">
            <a:spAutoFit/>
          </a:bodyPr>
          <a:lstStyle/>
          <a:p>
            <a:r>
              <a:rPr lang="en-US" sz="800" dirty="0">
                <a:solidFill>
                  <a:srgbClr val="FFFFFF"/>
                </a:solidFill>
              </a:rPr>
              <a:t>© Copyright Fortinet</a:t>
            </a:r>
            <a:r>
              <a:rPr lang="en-US" sz="800" baseline="0" dirty="0">
                <a:solidFill>
                  <a:srgbClr val="FFFFFF"/>
                </a:solidFill>
              </a:rPr>
              <a:t> Inc. All rights reserved.</a:t>
            </a:r>
            <a:r>
              <a:rPr lang="en-US" sz="800" dirty="0">
                <a:solidFill>
                  <a:srgbClr val="FFFFFF"/>
                </a:solidFill>
              </a:rPr>
              <a:t> </a:t>
            </a:r>
          </a:p>
        </p:txBody>
      </p:sp>
      <p:sp>
        <p:nvSpPr>
          <p:cNvPr id="18" name="Date"/>
          <p:cNvSpPr/>
          <p:nvPr/>
        </p:nvSpPr>
        <p:spPr>
          <a:xfrm>
            <a:off x="9192110" y="6542689"/>
            <a:ext cx="2377440" cy="246221"/>
          </a:xfrm>
          <a:prstGeom prst="rect">
            <a:avLst/>
          </a:prstGeom>
        </p:spPr>
        <p:txBody>
          <a:bodyPr wrap="square" lIns="0" rIns="0" anchor="ctr">
            <a:spAutoFit/>
          </a:bodyPr>
          <a:lstStyle/>
          <a:p>
            <a:pPr algn="r"/>
            <a:r>
              <a:rPr lang="en-US" sz="1000" dirty="0">
                <a:solidFill>
                  <a:schemeClr val="bg1"/>
                </a:solidFill>
              </a:rPr>
              <a:t>Last Modified: </a:t>
            </a:r>
            <a:fld id="{188C7AA7-C880-4ADA-8026-96176B03DB6F}" type="datetime3">
              <a:rPr lang="en-US" sz="1000" smtClean="0">
                <a:solidFill>
                  <a:schemeClr val="bg1"/>
                </a:solidFill>
              </a:rPr>
              <a:pPr algn="r"/>
              <a:t>9 June 2022</a:t>
            </a:fld>
            <a:endParaRPr lang="en-US" sz="1000" dirty="0">
              <a:solidFill>
                <a:schemeClr val="bg1"/>
              </a:solidFill>
            </a:endParaRPr>
          </a:p>
        </p:txBody>
      </p:sp>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3" y="1"/>
            <a:ext cx="12191408" cy="6858332"/>
          </a:xfrm>
          <a:prstGeom prst="rect">
            <a:avLst/>
          </a:prstGeom>
        </p:spPr>
      </p:pic>
      <p:sp>
        <p:nvSpPr>
          <p:cNvPr id="11" name="Date"/>
          <p:cNvSpPr/>
          <p:nvPr/>
        </p:nvSpPr>
        <p:spPr>
          <a:xfrm>
            <a:off x="9394332" y="6542698"/>
            <a:ext cx="2377440" cy="246221"/>
          </a:xfrm>
          <a:prstGeom prst="rect">
            <a:avLst/>
          </a:prstGeom>
        </p:spPr>
        <p:txBody>
          <a:bodyPr wrap="square" lIns="0" rIns="0" anchor="ctr">
            <a:spAutoFit/>
          </a:bodyPr>
          <a:lstStyle/>
          <a:p>
            <a:pPr algn="r"/>
            <a:r>
              <a:rPr lang="en-US" sz="1000" dirty="0">
                <a:solidFill>
                  <a:schemeClr val="tx1"/>
                </a:solidFill>
              </a:rPr>
              <a:t>Last Modified: </a:t>
            </a:r>
            <a:fld id="{188C7AA7-C880-4ADA-8026-96176B03DB6F}" type="datetime3">
              <a:rPr lang="en-US" sz="1000" smtClean="0">
                <a:solidFill>
                  <a:schemeClr val="tx1"/>
                </a:solidFill>
              </a:rPr>
              <a:pPr algn="r"/>
              <a:t>9 June 2022</a:t>
            </a:fld>
            <a:endParaRPr lang="en-US" sz="1000" dirty="0">
              <a:solidFill>
                <a:schemeClr val="tx1"/>
              </a:solidFill>
            </a:endParaRPr>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3" y="1408680"/>
            <a:ext cx="8648216" cy="3871942"/>
          </a:xfrm>
          <a:prstGeom prst="rect">
            <a:avLst/>
          </a:prstGeom>
        </p:spPr>
      </p:pic>
      <p:sp>
        <p:nvSpPr>
          <p:cNvPr id="12" name="Lesson_Name"/>
          <p:cNvSpPr>
            <a:spLocks noGrp="1"/>
          </p:cNvSpPr>
          <p:nvPr>
            <p:ph type="subTitle" idx="1" hasCustomPrompt="1"/>
          </p:nvPr>
        </p:nvSpPr>
        <p:spPr>
          <a:xfrm>
            <a:off x="114299" y="3726591"/>
            <a:ext cx="7596188" cy="830123"/>
          </a:xfrm>
          <a:prstGeom prst="rect">
            <a:avLst/>
          </a:prstGeom>
        </p:spPr>
        <p:txBody>
          <a:bodyPr>
            <a:normAutofit/>
          </a:bodyPr>
          <a:lstStyle>
            <a:lvl1pPr marL="0" indent="0">
              <a:buNone/>
              <a:defRPr sz="2800" baseline="0">
                <a:solidFill>
                  <a:schemeClr val="tx1"/>
                </a:solidFill>
              </a:defRPr>
            </a:lvl1pPr>
          </a:lstStyle>
          <a:p>
            <a:r>
              <a:rPr lang="en-US" dirty="0"/>
              <a:t>[Lesson Name]</a:t>
            </a:r>
          </a:p>
        </p:txBody>
      </p:sp>
      <p:sp>
        <p:nvSpPr>
          <p:cNvPr id="13" name="Course_Name"/>
          <p:cNvSpPr>
            <a:spLocks noGrp="1"/>
          </p:cNvSpPr>
          <p:nvPr>
            <p:ph type="ctrTitle" hasCustomPrompt="1"/>
          </p:nvPr>
        </p:nvSpPr>
        <p:spPr>
          <a:xfrm>
            <a:off x="97113" y="2697625"/>
            <a:ext cx="8337507" cy="901261"/>
          </a:xfrm>
          <a:prstGeom prst="rect">
            <a:avLst/>
          </a:prstGeom>
        </p:spPr>
        <p:txBody>
          <a:bodyPr>
            <a:normAutofit/>
          </a:bodyPr>
          <a:lstStyle>
            <a:lvl1pPr>
              <a:defRPr sz="3600" baseline="0">
                <a:solidFill>
                  <a:schemeClr val="tx1"/>
                </a:solidFill>
              </a:defRPr>
            </a:lvl1pPr>
          </a:lstStyle>
          <a:p>
            <a:r>
              <a:rPr lang="en-US" dirty="0"/>
              <a:t>[Course Name]</a:t>
            </a:r>
          </a:p>
        </p:txBody>
      </p:sp>
      <p:sp>
        <p:nvSpPr>
          <p:cNvPr id="19" name="Firmware"/>
          <p:cNvSpPr>
            <a:spLocks noGrp="1"/>
          </p:cNvSpPr>
          <p:nvPr>
            <p:ph type="body" sz="quarter" idx="10" hasCustomPrompt="1"/>
          </p:nvPr>
        </p:nvSpPr>
        <p:spPr>
          <a:xfrm>
            <a:off x="606427" y="6343344"/>
            <a:ext cx="2869200" cy="349200"/>
          </a:xfrm>
          <a:prstGeom prst="rect">
            <a:avLst/>
          </a:prstGeom>
        </p:spPr>
        <p:txBody>
          <a:bodyPr>
            <a:noAutofit/>
          </a:bodyPr>
          <a:lstStyle>
            <a:lvl1pPr marL="0" indent="0">
              <a:buNone/>
              <a:defRPr sz="1600" baseline="0">
                <a:solidFill>
                  <a:schemeClr val="tx1"/>
                </a:solidFill>
              </a:defRPr>
            </a:lvl1pPr>
          </a:lstStyle>
          <a:p>
            <a:r>
              <a:rPr lang="en-CA" dirty="0"/>
              <a:t>[Firmware Version]</a:t>
            </a:r>
          </a:p>
        </p:txBody>
      </p:sp>
      <p:pic>
        <p:nvPicPr>
          <p:cNvPr id="14" name="Picture 1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0764" y="1629063"/>
            <a:ext cx="2090932" cy="621793"/>
          </a:xfrm>
          <a:prstGeom prst="rect">
            <a:avLst/>
          </a:prstGeom>
        </p:spPr>
      </p:pic>
      <p:pic>
        <p:nvPicPr>
          <p:cNvPr id="15" name="Picture 1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525035" y="1629063"/>
            <a:ext cx="933910" cy="933910"/>
          </a:xfrm>
          <a:prstGeom prst="rect">
            <a:avLst/>
          </a:prstGeom>
        </p:spPr>
      </p:pic>
    </p:spTree>
    <p:extLst>
      <p:ext uri="{BB962C8B-B14F-4D97-AF65-F5344CB8AC3E}">
        <p14:creationId xmlns:p14="http://schemas.microsoft.com/office/powerpoint/2010/main" val="41379343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cSld name="Title_Slide_NSE_3">
    <p:bg>
      <p:bgPr>
        <a:solidFill>
          <a:schemeClr val="bg1"/>
        </a:solidFill>
        <a:effectLst/>
      </p:bgPr>
    </p:bg>
    <p:spTree>
      <p:nvGrpSpPr>
        <p:cNvPr id="1" name=""/>
        <p:cNvGrpSpPr/>
        <p:nvPr/>
      </p:nvGrpSpPr>
      <p:grpSpPr>
        <a:xfrm>
          <a:off x="0" y="0"/>
          <a:ext cx="0" cy="0"/>
          <a:chOff x="0" y="0"/>
          <a:chExt cx="0" cy="0"/>
        </a:xfrm>
      </p:grpSpPr>
      <p:sp>
        <p:nvSpPr>
          <p:cNvPr id="13" name="Date"/>
          <p:cNvSpPr/>
          <p:nvPr/>
        </p:nvSpPr>
        <p:spPr>
          <a:xfrm>
            <a:off x="9192110" y="6542689"/>
            <a:ext cx="2377440" cy="246221"/>
          </a:xfrm>
          <a:prstGeom prst="rect">
            <a:avLst/>
          </a:prstGeom>
        </p:spPr>
        <p:txBody>
          <a:bodyPr wrap="square" lIns="0" rIns="0" anchor="ctr">
            <a:spAutoFit/>
          </a:bodyPr>
          <a:lstStyle/>
          <a:p>
            <a:pPr algn="r"/>
            <a:r>
              <a:rPr lang="en-US" sz="1000" dirty="0">
                <a:solidFill>
                  <a:schemeClr val="bg1"/>
                </a:solidFill>
              </a:rPr>
              <a:t>Last Modified: </a:t>
            </a:r>
            <a:fld id="{188C7AA7-C880-4ADA-8026-96176B03DB6F}" type="datetime3">
              <a:rPr lang="en-US" sz="1000" smtClean="0">
                <a:solidFill>
                  <a:schemeClr val="bg1"/>
                </a:solidFill>
              </a:rPr>
              <a:pPr algn="r"/>
              <a:t>9 June 2022</a:t>
            </a:fld>
            <a:endParaRPr lang="en-US" sz="1000" dirty="0">
              <a:solidFill>
                <a:schemeClr val="bg1"/>
              </a:solidFill>
            </a:endParaRPr>
          </a:p>
        </p:txBody>
      </p:sp>
      <p:sp>
        <p:nvSpPr>
          <p:cNvPr id="14" name="Copyright"/>
          <p:cNvSpPr txBox="1"/>
          <p:nvPr/>
        </p:nvSpPr>
        <p:spPr>
          <a:xfrm>
            <a:off x="607109" y="6542690"/>
            <a:ext cx="3210658" cy="246221"/>
          </a:xfrm>
          <a:prstGeom prst="rect">
            <a:avLst/>
          </a:prstGeom>
          <a:noFill/>
        </p:spPr>
        <p:txBody>
          <a:bodyPr wrap="square" lIns="121899" tIns="60949" rIns="121899" bIns="60949" rtlCol="0">
            <a:spAutoFit/>
          </a:bodyPr>
          <a:lstStyle/>
          <a:p>
            <a:r>
              <a:rPr lang="en-US" sz="800" dirty="0">
                <a:solidFill>
                  <a:srgbClr val="FFFFFF"/>
                </a:solidFill>
              </a:rPr>
              <a:t>© Copyright Fortinet</a:t>
            </a:r>
            <a:r>
              <a:rPr lang="en-US" sz="800" baseline="0" dirty="0">
                <a:solidFill>
                  <a:srgbClr val="FFFFFF"/>
                </a:solidFill>
              </a:rPr>
              <a:t> Inc. All rights reserved.</a:t>
            </a:r>
            <a:r>
              <a:rPr lang="en-US" sz="800" dirty="0">
                <a:solidFill>
                  <a:srgbClr val="FFFFFF"/>
                </a:solidFill>
              </a:rPr>
              <a:t> </a:t>
            </a:r>
          </a:p>
        </p:txBody>
      </p:sp>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7" y="0"/>
            <a:ext cx="12190817" cy="6858000"/>
          </a:xfrm>
          <a:prstGeom prst="rect">
            <a:avLst/>
          </a:prstGeom>
        </p:spPr>
      </p:pic>
      <p:sp>
        <p:nvSpPr>
          <p:cNvPr id="11" name="Date"/>
          <p:cNvSpPr/>
          <p:nvPr/>
        </p:nvSpPr>
        <p:spPr>
          <a:xfrm>
            <a:off x="9394332" y="6542698"/>
            <a:ext cx="2377440" cy="246221"/>
          </a:xfrm>
          <a:prstGeom prst="rect">
            <a:avLst/>
          </a:prstGeom>
        </p:spPr>
        <p:txBody>
          <a:bodyPr wrap="square" lIns="0" rIns="0" anchor="ctr">
            <a:spAutoFit/>
          </a:bodyPr>
          <a:lstStyle/>
          <a:p>
            <a:pPr algn="r"/>
            <a:r>
              <a:rPr lang="en-US" sz="1000" dirty="0">
                <a:solidFill>
                  <a:schemeClr val="tx1"/>
                </a:solidFill>
              </a:rPr>
              <a:t>Last Modified: </a:t>
            </a:r>
            <a:fld id="{188C7AA7-C880-4ADA-8026-96176B03DB6F}" type="datetime3">
              <a:rPr lang="en-US" sz="1000" smtClean="0">
                <a:solidFill>
                  <a:schemeClr val="tx1"/>
                </a:solidFill>
              </a:rPr>
              <a:pPr algn="r"/>
              <a:t>9 June 2022</a:t>
            </a:fld>
            <a:endParaRPr lang="en-US" sz="1000" dirty="0">
              <a:solidFill>
                <a:schemeClr val="tx1"/>
              </a:solidFill>
            </a:endParaRPr>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3" y="1408680"/>
            <a:ext cx="8648216" cy="3871942"/>
          </a:xfrm>
          <a:prstGeom prst="rect">
            <a:avLst/>
          </a:prstGeom>
        </p:spPr>
      </p:pic>
      <p:sp>
        <p:nvSpPr>
          <p:cNvPr id="12" name="Lesson_Name"/>
          <p:cNvSpPr>
            <a:spLocks noGrp="1"/>
          </p:cNvSpPr>
          <p:nvPr>
            <p:ph type="subTitle" idx="1" hasCustomPrompt="1"/>
          </p:nvPr>
        </p:nvSpPr>
        <p:spPr>
          <a:xfrm>
            <a:off x="114299" y="3726591"/>
            <a:ext cx="7596188" cy="830123"/>
          </a:xfrm>
          <a:prstGeom prst="rect">
            <a:avLst/>
          </a:prstGeom>
        </p:spPr>
        <p:txBody>
          <a:bodyPr>
            <a:normAutofit/>
          </a:bodyPr>
          <a:lstStyle>
            <a:lvl1pPr marL="0" indent="0">
              <a:buNone/>
              <a:defRPr sz="2800" baseline="0">
                <a:solidFill>
                  <a:schemeClr val="tx1"/>
                </a:solidFill>
              </a:defRPr>
            </a:lvl1pPr>
          </a:lstStyle>
          <a:p>
            <a:r>
              <a:rPr lang="en-US" dirty="0"/>
              <a:t>[Lesson Name]</a:t>
            </a:r>
          </a:p>
        </p:txBody>
      </p:sp>
      <p:sp>
        <p:nvSpPr>
          <p:cNvPr id="16" name="Course_Name"/>
          <p:cNvSpPr>
            <a:spLocks noGrp="1"/>
          </p:cNvSpPr>
          <p:nvPr>
            <p:ph type="ctrTitle" hasCustomPrompt="1"/>
          </p:nvPr>
        </p:nvSpPr>
        <p:spPr>
          <a:xfrm>
            <a:off x="97113" y="2697625"/>
            <a:ext cx="8337507" cy="901261"/>
          </a:xfrm>
          <a:prstGeom prst="rect">
            <a:avLst/>
          </a:prstGeom>
        </p:spPr>
        <p:txBody>
          <a:bodyPr>
            <a:normAutofit/>
          </a:bodyPr>
          <a:lstStyle>
            <a:lvl1pPr>
              <a:defRPr sz="3600" baseline="0">
                <a:solidFill>
                  <a:schemeClr val="tx1"/>
                </a:solidFill>
              </a:defRPr>
            </a:lvl1pPr>
          </a:lstStyle>
          <a:p>
            <a:r>
              <a:rPr lang="en-US" dirty="0"/>
              <a:t>[Course Name]</a:t>
            </a:r>
          </a:p>
        </p:txBody>
      </p:sp>
      <p:sp>
        <p:nvSpPr>
          <p:cNvPr id="17" name="Firmware"/>
          <p:cNvSpPr>
            <a:spLocks noGrp="1"/>
          </p:cNvSpPr>
          <p:nvPr>
            <p:ph type="body" sz="quarter" idx="10" hasCustomPrompt="1"/>
          </p:nvPr>
        </p:nvSpPr>
        <p:spPr>
          <a:xfrm>
            <a:off x="606427" y="6343344"/>
            <a:ext cx="2869200" cy="349200"/>
          </a:xfrm>
          <a:prstGeom prst="rect">
            <a:avLst/>
          </a:prstGeom>
        </p:spPr>
        <p:txBody>
          <a:bodyPr>
            <a:noAutofit/>
          </a:bodyPr>
          <a:lstStyle>
            <a:lvl1pPr marL="0" indent="0">
              <a:buNone/>
              <a:defRPr sz="1600" baseline="0">
                <a:solidFill>
                  <a:schemeClr val="tx1"/>
                </a:solidFill>
              </a:defRPr>
            </a:lvl1pPr>
          </a:lstStyle>
          <a:p>
            <a:r>
              <a:rPr lang="en-CA" dirty="0"/>
              <a:t>[Firmware Version]</a:t>
            </a:r>
          </a:p>
        </p:txBody>
      </p:sp>
      <p:pic>
        <p:nvPicPr>
          <p:cNvPr id="15" name="Picture 1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0764" y="1629063"/>
            <a:ext cx="2090932" cy="621793"/>
          </a:xfrm>
          <a:prstGeom prst="rect">
            <a:avLst/>
          </a:prstGeom>
        </p:spPr>
      </p:pic>
      <p:pic>
        <p:nvPicPr>
          <p:cNvPr id="18" name="Picture 1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525035" y="1629063"/>
            <a:ext cx="933910" cy="933910"/>
          </a:xfrm>
          <a:prstGeom prst="rect">
            <a:avLst/>
          </a:prstGeom>
        </p:spPr>
      </p:pic>
    </p:spTree>
    <p:extLst>
      <p:ext uri="{BB962C8B-B14F-4D97-AF65-F5344CB8AC3E}">
        <p14:creationId xmlns:p14="http://schemas.microsoft.com/office/powerpoint/2010/main" val="53265852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cSld name="Title_Slide_NSE_4">
    <p:bg>
      <p:bgPr>
        <a:solidFill>
          <a:schemeClr val="bg1"/>
        </a:solidFill>
        <a:effectLst/>
      </p:bgPr>
    </p:bg>
    <p:spTree>
      <p:nvGrpSpPr>
        <p:cNvPr id="1" name=""/>
        <p:cNvGrpSpPr/>
        <p:nvPr/>
      </p:nvGrpSpPr>
      <p:grpSpPr>
        <a:xfrm>
          <a:off x="0" y="0"/>
          <a:ext cx="0" cy="0"/>
          <a:chOff x="0" y="0"/>
          <a:chExt cx="0" cy="0"/>
        </a:xfrm>
      </p:grpSpPr>
      <p:sp>
        <p:nvSpPr>
          <p:cNvPr id="13" name="Date"/>
          <p:cNvSpPr/>
          <p:nvPr/>
        </p:nvSpPr>
        <p:spPr>
          <a:xfrm>
            <a:off x="9192110" y="6542689"/>
            <a:ext cx="2377440" cy="246221"/>
          </a:xfrm>
          <a:prstGeom prst="rect">
            <a:avLst/>
          </a:prstGeom>
        </p:spPr>
        <p:txBody>
          <a:bodyPr wrap="square" lIns="0" rIns="0" anchor="ctr">
            <a:spAutoFit/>
          </a:bodyPr>
          <a:lstStyle/>
          <a:p>
            <a:pPr algn="r"/>
            <a:r>
              <a:rPr lang="en-US" sz="1000" dirty="0">
                <a:solidFill>
                  <a:schemeClr val="bg1"/>
                </a:solidFill>
              </a:rPr>
              <a:t>Last Modified: </a:t>
            </a:r>
            <a:fld id="{188C7AA7-C880-4ADA-8026-96176B03DB6F}" type="datetime3">
              <a:rPr lang="en-US" sz="1000" smtClean="0">
                <a:solidFill>
                  <a:schemeClr val="bg1"/>
                </a:solidFill>
              </a:rPr>
              <a:pPr algn="r"/>
              <a:t>9 June 2022</a:t>
            </a:fld>
            <a:endParaRPr lang="en-US" sz="1000" dirty="0">
              <a:solidFill>
                <a:schemeClr val="bg1"/>
              </a:solidFill>
            </a:endParaRPr>
          </a:p>
        </p:txBody>
      </p:sp>
      <p:sp>
        <p:nvSpPr>
          <p:cNvPr id="14" name="Copyright"/>
          <p:cNvSpPr txBox="1"/>
          <p:nvPr/>
        </p:nvSpPr>
        <p:spPr>
          <a:xfrm>
            <a:off x="607109" y="6542690"/>
            <a:ext cx="3210658" cy="246221"/>
          </a:xfrm>
          <a:prstGeom prst="rect">
            <a:avLst/>
          </a:prstGeom>
          <a:noFill/>
        </p:spPr>
        <p:txBody>
          <a:bodyPr wrap="square" lIns="121899" tIns="60949" rIns="121899" bIns="60949" rtlCol="0">
            <a:spAutoFit/>
          </a:bodyPr>
          <a:lstStyle/>
          <a:p>
            <a:r>
              <a:rPr lang="en-US" sz="800" dirty="0">
                <a:solidFill>
                  <a:srgbClr val="FFFFFF"/>
                </a:solidFill>
              </a:rPr>
              <a:t>© Copyright Fortinet</a:t>
            </a:r>
            <a:r>
              <a:rPr lang="en-US" sz="800" baseline="0" dirty="0">
                <a:solidFill>
                  <a:srgbClr val="FFFFFF"/>
                </a:solidFill>
              </a:rPr>
              <a:t> Inc. All rights reserved.</a:t>
            </a:r>
            <a:r>
              <a:rPr lang="en-US" sz="800" dirty="0">
                <a:solidFill>
                  <a:srgbClr val="FFFFFF"/>
                </a:solidFill>
              </a:rPr>
              <a:t> </a:t>
            </a:r>
          </a:p>
        </p:txBody>
      </p:sp>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7" y="0"/>
            <a:ext cx="12190817" cy="6858000"/>
          </a:xfrm>
          <a:prstGeom prst="rect">
            <a:avLst/>
          </a:prstGeom>
        </p:spPr>
      </p:pic>
      <p:sp>
        <p:nvSpPr>
          <p:cNvPr id="11" name="Date"/>
          <p:cNvSpPr/>
          <p:nvPr/>
        </p:nvSpPr>
        <p:spPr>
          <a:xfrm>
            <a:off x="9394332" y="6542698"/>
            <a:ext cx="2377440" cy="246221"/>
          </a:xfrm>
          <a:prstGeom prst="rect">
            <a:avLst/>
          </a:prstGeom>
        </p:spPr>
        <p:txBody>
          <a:bodyPr wrap="square" lIns="0" rIns="0" anchor="ctr">
            <a:spAutoFit/>
          </a:bodyPr>
          <a:lstStyle/>
          <a:p>
            <a:pPr algn="r"/>
            <a:r>
              <a:rPr lang="en-US" sz="1000" dirty="0">
                <a:solidFill>
                  <a:schemeClr val="tx1"/>
                </a:solidFill>
              </a:rPr>
              <a:t>Last Modified: </a:t>
            </a:r>
            <a:fld id="{188C7AA7-C880-4ADA-8026-96176B03DB6F}" type="datetime3">
              <a:rPr lang="en-US" sz="1000" smtClean="0">
                <a:solidFill>
                  <a:schemeClr val="tx1"/>
                </a:solidFill>
              </a:rPr>
              <a:pPr algn="r"/>
              <a:t>9 June 2022</a:t>
            </a:fld>
            <a:endParaRPr lang="en-US" sz="1000" dirty="0">
              <a:solidFill>
                <a:schemeClr val="tx1"/>
              </a:solidFill>
            </a:endParaRPr>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3" y="1408680"/>
            <a:ext cx="8648216" cy="3871942"/>
          </a:xfrm>
          <a:prstGeom prst="rect">
            <a:avLst/>
          </a:prstGeom>
        </p:spPr>
      </p:pic>
      <p:sp>
        <p:nvSpPr>
          <p:cNvPr id="12" name="Lesson_Name"/>
          <p:cNvSpPr>
            <a:spLocks noGrp="1"/>
          </p:cNvSpPr>
          <p:nvPr>
            <p:ph type="subTitle" idx="1" hasCustomPrompt="1"/>
          </p:nvPr>
        </p:nvSpPr>
        <p:spPr>
          <a:xfrm>
            <a:off x="114299" y="3726591"/>
            <a:ext cx="7596188" cy="830123"/>
          </a:xfrm>
          <a:prstGeom prst="rect">
            <a:avLst/>
          </a:prstGeom>
        </p:spPr>
        <p:txBody>
          <a:bodyPr>
            <a:normAutofit/>
          </a:bodyPr>
          <a:lstStyle>
            <a:lvl1pPr marL="0" indent="0">
              <a:buNone/>
              <a:defRPr sz="2800" baseline="0">
                <a:solidFill>
                  <a:schemeClr val="tx1"/>
                </a:solidFill>
              </a:defRPr>
            </a:lvl1pPr>
          </a:lstStyle>
          <a:p>
            <a:r>
              <a:rPr lang="en-US" dirty="0"/>
              <a:t>[Lesson Name]</a:t>
            </a:r>
          </a:p>
        </p:txBody>
      </p:sp>
      <p:sp>
        <p:nvSpPr>
          <p:cNvPr id="16" name="Course_Name"/>
          <p:cNvSpPr>
            <a:spLocks noGrp="1"/>
          </p:cNvSpPr>
          <p:nvPr>
            <p:ph type="ctrTitle" hasCustomPrompt="1"/>
          </p:nvPr>
        </p:nvSpPr>
        <p:spPr>
          <a:xfrm>
            <a:off x="97113" y="2697625"/>
            <a:ext cx="8337507" cy="901261"/>
          </a:xfrm>
          <a:prstGeom prst="rect">
            <a:avLst/>
          </a:prstGeom>
        </p:spPr>
        <p:txBody>
          <a:bodyPr>
            <a:normAutofit/>
          </a:bodyPr>
          <a:lstStyle>
            <a:lvl1pPr>
              <a:defRPr sz="3600" baseline="0">
                <a:solidFill>
                  <a:schemeClr val="tx1"/>
                </a:solidFill>
              </a:defRPr>
            </a:lvl1pPr>
          </a:lstStyle>
          <a:p>
            <a:r>
              <a:rPr lang="en-US" dirty="0"/>
              <a:t>[Course Name]</a:t>
            </a:r>
          </a:p>
        </p:txBody>
      </p:sp>
      <p:sp>
        <p:nvSpPr>
          <p:cNvPr id="17" name="Firmware"/>
          <p:cNvSpPr>
            <a:spLocks noGrp="1"/>
          </p:cNvSpPr>
          <p:nvPr>
            <p:ph type="body" sz="quarter" idx="10" hasCustomPrompt="1"/>
          </p:nvPr>
        </p:nvSpPr>
        <p:spPr>
          <a:xfrm>
            <a:off x="606427" y="6343344"/>
            <a:ext cx="2869200" cy="349200"/>
          </a:xfrm>
          <a:prstGeom prst="rect">
            <a:avLst/>
          </a:prstGeom>
        </p:spPr>
        <p:txBody>
          <a:bodyPr>
            <a:noAutofit/>
          </a:bodyPr>
          <a:lstStyle>
            <a:lvl1pPr marL="0" indent="0">
              <a:buNone/>
              <a:defRPr sz="1600" baseline="0">
                <a:solidFill>
                  <a:schemeClr val="tx1"/>
                </a:solidFill>
              </a:defRPr>
            </a:lvl1pPr>
          </a:lstStyle>
          <a:p>
            <a:r>
              <a:rPr lang="en-CA" dirty="0"/>
              <a:t>[Firmware Version]</a:t>
            </a:r>
          </a:p>
        </p:txBody>
      </p:sp>
      <p:pic>
        <p:nvPicPr>
          <p:cNvPr id="15" name="Picture 1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0764" y="1629063"/>
            <a:ext cx="2090932" cy="621793"/>
          </a:xfrm>
          <a:prstGeom prst="rect">
            <a:avLst/>
          </a:prstGeom>
        </p:spPr>
      </p:pic>
      <p:pic>
        <p:nvPicPr>
          <p:cNvPr id="18" name="Picture 1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525035" y="1629063"/>
            <a:ext cx="933910" cy="933910"/>
          </a:xfrm>
          <a:prstGeom prst="rect">
            <a:avLst/>
          </a:prstGeom>
        </p:spPr>
      </p:pic>
    </p:spTree>
    <p:extLst>
      <p:ext uri="{BB962C8B-B14F-4D97-AF65-F5344CB8AC3E}">
        <p14:creationId xmlns:p14="http://schemas.microsoft.com/office/powerpoint/2010/main" val="262232170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cSld name="Title_Slide_NSE_5">
    <p:bg>
      <p:bgPr>
        <a:solidFill>
          <a:schemeClr val="bg1"/>
        </a:solidFill>
        <a:effectLst/>
      </p:bgPr>
    </p:bg>
    <p:spTree>
      <p:nvGrpSpPr>
        <p:cNvPr id="1" name=""/>
        <p:cNvGrpSpPr/>
        <p:nvPr/>
      </p:nvGrpSpPr>
      <p:grpSpPr>
        <a:xfrm>
          <a:off x="0" y="0"/>
          <a:ext cx="0" cy="0"/>
          <a:chOff x="0" y="0"/>
          <a:chExt cx="0" cy="0"/>
        </a:xfrm>
      </p:grpSpPr>
      <p:sp>
        <p:nvSpPr>
          <p:cNvPr id="13" name="Date"/>
          <p:cNvSpPr/>
          <p:nvPr/>
        </p:nvSpPr>
        <p:spPr>
          <a:xfrm>
            <a:off x="9192110" y="6542689"/>
            <a:ext cx="2377440" cy="246221"/>
          </a:xfrm>
          <a:prstGeom prst="rect">
            <a:avLst/>
          </a:prstGeom>
        </p:spPr>
        <p:txBody>
          <a:bodyPr wrap="square" lIns="0" rIns="0" anchor="ctr">
            <a:spAutoFit/>
          </a:bodyPr>
          <a:lstStyle/>
          <a:p>
            <a:pPr algn="r"/>
            <a:r>
              <a:rPr lang="en-US" sz="1000" dirty="0">
                <a:solidFill>
                  <a:schemeClr val="bg1"/>
                </a:solidFill>
              </a:rPr>
              <a:t>Last Modified: </a:t>
            </a:r>
            <a:fld id="{188C7AA7-C880-4ADA-8026-96176B03DB6F}" type="datetime3">
              <a:rPr lang="en-US" sz="1000" smtClean="0">
                <a:solidFill>
                  <a:schemeClr val="bg1"/>
                </a:solidFill>
              </a:rPr>
              <a:pPr algn="r"/>
              <a:t>9 June 2022</a:t>
            </a:fld>
            <a:endParaRPr lang="en-US" sz="1000" dirty="0">
              <a:solidFill>
                <a:schemeClr val="bg1"/>
              </a:solidFill>
            </a:endParaRPr>
          </a:p>
        </p:txBody>
      </p:sp>
      <p:sp>
        <p:nvSpPr>
          <p:cNvPr id="14" name="Copyright"/>
          <p:cNvSpPr txBox="1"/>
          <p:nvPr/>
        </p:nvSpPr>
        <p:spPr>
          <a:xfrm>
            <a:off x="607109" y="6542690"/>
            <a:ext cx="3210658" cy="246221"/>
          </a:xfrm>
          <a:prstGeom prst="rect">
            <a:avLst/>
          </a:prstGeom>
          <a:noFill/>
        </p:spPr>
        <p:txBody>
          <a:bodyPr wrap="square" lIns="121899" tIns="60949" rIns="121899" bIns="60949" rtlCol="0">
            <a:spAutoFit/>
          </a:bodyPr>
          <a:lstStyle/>
          <a:p>
            <a:r>
              <a:rPr lang="en-US" sz="800" dirty="0">
                <a:solidFill>
                  <a:srgbClr val="FFFFFF"/>
                </a:solidFill>
              </a:rPr>
              <a:t>© Copyright Fortinet</a:t>
            </a:r>
            <a:r>
              <a:rPr lang="en-US" sz="800" baseline="0" dirty="0">
                <a:solidFill>
                  <a:srgbClr val="FFFFFF"/>
                </a:solidFill>
              </a:rPr>
              <a:t> Inc. All rights reserved.</a:t>
            </a:r>
            <a:r>
              <a:rPr lang="en-US" sz="800" dirty="0">
                <a:solidFill>
                  <a:srgbClr val="FFFFFF"/>
                </a:solidFill>
              </a:rPr>
              <a:t> </a:t>
            </a:r>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7" y="0"/>
            <a:ext cx="12190817" cy="6858000"/>
          </a:xfrm>
          <a:prstGeom prst="rect">
            <a:avLst/>
          </a:prstGeom>
        </p:spPr>
      </p:pic>
      <p:sp>
        <p:nvSpPr>
          <p:cNvPr id="11" name="Date"/>
          <p:cNvSpPr/>
          <p:nvPr/>
        </p:nvSpPr>
        <p:spPr>
          <a:xfrm>
            <a:off x="9394332" y="6542698"/>
            <a:ext cx="2377440" cy="246221"/>
          </a:xfrm>
          <a:prstGeom prst="rect">
            <a:avLst/>
          </a:prstGeom>
        </p:spPr>
        <p:txBody>
          <a:bodyPr wrap="square" lIns="0" rIns="0" anchor="ctr">
            <a:spAutoFit/>
          </a:bodyPr>
          <a:lstStyle/>
          <a:p>
            <a:pPr algn="r"/>
            <a:r>
              <a:rPr lang="en-US" sz="1000" dirty="0">
                <a:solidFill>
                  <a:schemeClr val="tx1"/>
                </a:solidFill>
              </a:rPr>
              <a:t>Last Modified: </a:t>
            </a:r>
            <a:fld id="{188C7AA7-C880-4ADA-8026-96176B03DB6F}" type="datetime3">
              <a:rPr lang="en-US" sz="1000" smtClean="0">
                <a:solidFill>
                  <a:schemeClr val="tx1"/>
                </a:solidFill>
              </a:rPr>
              <a:pPr algn="r"/>
              <a:t>9 June 2022</a:t>
            </a:fld>
            <a:endParaRPr lang="en-US" sz="1000" dirty="0">
              <a:solidFill>
                <a:schemeClr val="tx1"/>
              </a:solidFill>
            </a:endParaRPr>
          </a:p>
        </p:txBody>
      </p:sp>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3" y="1408680"/>
            <a:ext cx="8648216" cy="3871942"/>
          </a:xfrm>
          <a:prstGeom prst="rect">
            <a:avLst/>
          </a:prstGeom>
        </p:spPr>
      </p:pic>
      <p:sp>
        <p:nvSpPr>
          <p:cNvPr id="12" name="Lesson_Name"/>
          <p:cNvSpPr>
            <a:spLocks noGrp="1"/>
          </p:cNvSpPr>
          <p:nvPr>
            <p:ph type="subTitle" idx="1" hasCustomPrompt="1"/>
          </p:nvPr>
        </p:nvSpPr>
        <p:spPr>
          <a:xfrm>
            <a:off x="114299" y="3726591"/>
            <a:ext cx="7596188" cy="830123"/>
          </a:xfrm>
          <a:prstGeom prst="rect">
            <a:avLst/>
          </a:prstGeom>
        </p:spPr>
        <p:txBody>
          <a:bodyPr>
            <a:normAutofit/>
          </a:bodyPr>
          <a:lstStyle>
            <a:lvl1pPr marL="0" indent="0">
              <a:buNone/>
              <a:defRPr sz="2800" baseline="0">
                <a:solidFill>
                  <a:schemeClr val="tx1"/>
                </a:solidFill>
              </a:defRPr>
            </a:lvl1pPr>
          </a:lstStyle>
          <a:p>
            <a:r>
              <a:rPr lang="en-US" dirty="0"/>
              <a:t>[Lesson Name]</a:t>
            </a:r>
          </a:p>
        </p:txBody>
      </p:sp>
      <p:sp>
        <p:nvSpPr>
          <p:cNvPr id="16" name="Course_Name"/>
          <p:cNvSpPr>
            <a:spLocks noGrp="1"/>
          </p:cNvSpPr>
          <p:nvPr>
            <p:ph type="ctrTitle" hasCustomPrompt="1"/>
          </p:nvPr>
        </p:nvSpPr>
        <p:spPr>
          <a:xfrm>
            <a:off x="97113" y="2697625"/>
            <a:ext cx="8337507" cy="901261"/>
          </a:xfrm>
          <a:prstGeom prst="rect">
            <a:avLst/>
          </a:prstGeom>
        </p:spPr>
        <p:txBody>
          <a:bodyPr>
            <a:normAutofit/>
          </a:bodyPr>
          <a:lstStyle>
            <a:lvl1pPr>
              <a:defRPr sz="3600" baseline="0">
                <a:solidFill>
                  <a:schemeClr val="tx1"/>
                </a:solidFill>
              </a:defRPr>
            </a:lvl1pPr>
          </a:lstStyle>
          <a:p>
            <a:r>
              <a:rPr lang="en-US" dirty="0"/>
              <a:t>[Course Name]</a:t>
            </a:r>
          </a:p>
        </p:txBody>
      </p:sp>
      <p:sp>
        <p:nvSpPr>
          <p:cNvPr id="17" name="Firmware"/>
          <p:cNvSpPr>
            <a:spLocks noGrp="1"/>
          </p:cNvSpPr>
          <p:nvPr>
            <p:ph type="body" sz="quarter" idx="10" hasCustomPrompt="1"/>
          </p:nvPr>
        </p:nvSpPr>
        <p:spPr>
          <a:xfrm>
            <a:off x="606427" y="6343344"/>
            <a:ext cx="2869200" cy="349200"/>
          </a:xfrm>
          <a:prstGeom prst="rect">
            <a:avLst/>
          </a:prstGeom>
        </p:spPr>
        <p:txBody>
          <a:bodyPr>
            <a:noAutofit/>
          </a:bodyPr>
          <a:lstStyle>
            <a:lvl1pPr marL="0" indent="0">
              <a:buNone/>
              <a:defRPr sz="1600" baseline="0">
                <a:solidFill>
                  <a:schemeClr val="tx1"/>
                </a:solidFill>
              </a:defRPr>
            </a:lvl1pPr>
          </a:lstStyle>
          <a:p>
            <a:r>
              <a:rPr lang="en-CA" dirty="0"/>
              <a:t>[Firmware Version]</a:t>
            </a:r>
          </a:p>
        </p:txBody>
      </p:sp>
      <p:pic>
        <p:nvPicPr>
          <p:cNvPr id="15" name="Picture 1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0764" y="1629063"/>
            <a:ext cx="2090932" cy="621793"/>
          </a:xfrm>
          <a:prstGeom prst="rect">
            <a:avLst/>
          </a:prstGeom>
        </p:spPr>
      </p:pic>
      <p:pic>
        <p:nvPicPr>
          <p:cNvPr id="18" name="Picture 1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525035" y="1629063"/>
            <a:ext cx="933910" cy="933910"/>
          </a:xfrm>
          <a:prstGeom prst="rect">
            <a:avLst/>
          </a:prstGeom>
        </p:spPr>
      </p:pic>
    </p:spTree>
    <p:extLst>
      <p:ext uri="{BB962C8B-B14F-4D97-AF65-F5344CB8AC3E}">
        <p14:creationId xmlns:p14="http://schemas.microsoft.com/office/powerpoint/2010/main" val="261135414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cSld name="Title_Slide_NSE_6">
    <p:bg>
      <p:bgPr>
        <a:solidFill>
          <a:schemeClr val="bg1"/>
        </a:solidFill>
        <a:effectLst/>
      </p:bgPr>
    </p:bg>
    <p:spTree>
      <p:nvGrpSpPr>
        <p:cNvPr id="1" name=""/>
        <p:cNvGrpSpPr/>
        <p:nvPr/>
      </p:nvGrpSpPr>
      <p:grpSpPr>
        <a:xfrm>
          <a:off x="0" y="0"/>
          <a:ext cx="0" cy="0"/>
          <a:chOff x="0" y="0"/>
          <a:chExt cx="0" cy="0"/>
        </a:xfrm>
      </p:grpSpPr>
      <p:sp>
        <p:nvSpPr>
          <p:cNvPr id="13" name="Date"/>
          <p:cNvSpPr/>
          <p:nvPr/>
        </p:nvSpPr>
        <p:spPr>
          <a:xfrm>
            <a:off x="9192110" y="6542689"/>
            <a:ext cx="2377440" cy="246221"/>
          </a:xfrm>
          <a:prstGeom prst="rect">
            <a:avLst/>
          </a:prstGeom>
        </p:spPr>
        <p:txBody>
          <a:bodyPr wrap="square" lIns="0" rIns="0" anchor="ctr">
            <a:spAutoFit/>
          </a:bodyPr>
          <a:lstStyle/>
          <a:p>
            <a:pPr algn="r"/>
            <a:r>
              <a:rPr lang="en-US" sz="1000" dirty="0">
                <a:solidFill>
                  <a:schemeClr val="bg1"/>
                </a:solidFill>
              </a:rPr>
              <a:t>Last Modified: </a:t>
            </a:r>
            <a:fld id="{188C7AA7-C880-4ADA-8026-96176B03DB6F}" type="datetime3">
              <a:rPr lang="en-US" sz="1000" smtClean="0">
                <a:solidFill>
                  <a:schemeClr val="bg1"/>
                </a:solidFill>
              </a:rPr>
              <a:pPr algn="r"/>
              <a:t>9 June 2022</a:t>
            </a:fld>
            <a:endParaRPr lang="en-US" sz="1000" dirty="0">
              <a:solidFill>
                <a:schemeClr val="bg1"/>
              </a:solidFill>
            </a:endParaRPr>
          </a:p>
        </p:txBody>
      </p:sp>
      <p:sp>
        <p:nvSpPr>
          <p:cNvPr id="14" name="Copyright"/>
          <p:cNvSpPr txBox="1"/>
          <p:nvPr/>
        </p:nvSpPr>
        <p:spPr>
          <a:xfrm>
            <a:off x="607109" y="6542690"/>
            <a:ext cx="3210658" cy="246221"/>
          </a:xfrm>
          <a:prstGeom prst="rect">
            <a:avLst/>
          </a:prstGeom>
          <a:noFill/>
        </p:spPr>
        <p:txBody>
          <a:bodyPr wrap="square" lIns="121899" tIns="60949" rIns="121899" bIns="60949" rtlCol="0">
            <a:spAutoFit/>
          </a:bodyPr>
          <a:lstStyle/>
          <a:p>
            <a:r>
              <a:rPr lang="en-US" sz="800" dirty="0">
                <a:solidFill>
                  <a:srgbClr val="FFFFFF"/>
                </a:solidFill>
              </a:rPr>
              <a:t>© Copyright Fortinet</a:t>
            </a:r>
            <a:r>
              <a:rPr lang="en-US" sz="800" baseline="0" dirty="0">
                <a:solidFill>
                  <a:srgbClr val="FFFFFF"/>
                </a:solidFill>
              </a:rPr>
              <a:t> Inc. All rights reserved.</a:t>
            </a:r>
            <a:r>
              <a:rPr lang="en-US" sz="800" dirty="0">
                <a:solidFill>
                  <a:srgbClr val="FFFFFF"/>
                </a:solidFill>
              </a:rPr>
              <a:t> </a:t>
            </a:r>
          </a:p>
        </p:txBody>
      </p:sp>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7" y="0"/>
            <a:ext cx="12190817" cy="6858000"/>
          </a:xfrm>
          <a:prstGeom prst="rect">
            <a:avLst/>
          </a:prstGeom>
        </p:spPr>
      </p:pic>
      <p:sp>
        <p:nvSpPr>
          <p:cNvPr id="11" name="Date"/>
          <p:cNvSpPr/>
          <p:nvPr/>
        </p:nvSpPr>
        <p:spPr>
          <a:xfrm>
            <a:off x="9394332" y="6542698"/>
            <a:ext cx="2377440" cy="246221"/>
          </a:xfrm>
          <a:prstGeom prst="rect">
            <a:avLst/>
          </a:prstGeom>
        </p:spPr>
        <p:txBody>
          <a:bodyPr wrap="square" lIns="0" rIns="0" anchor="ctr">
            <a:spAutoFit/>
          </a:bodyPr>
          <a:lstStyle/>
          <a:p>
            <a:pPr algn="r"/>
            <a:r>
              <a:rPr lang="en-US" sz="1000" dirty="0">
                <a:solidFill>
                  <a:schemeClr val="tx1"/>
                </a:solidFill>
              </a:rPr>
              <a:t>Last Modified: </a:t>
            </a:r>
            <a:fld id="{188C7AA7-C880-4ADA-8026-96176B03DB6F}" type="datetime3">
              <a:rPr lang="en-US" sz="1000" smtClean="0">
                <a:solidFill>
                  <a:schemeClr val="tx1"/>
                </a:solidFill>
              </a:rPr>
              <a:pPr algn="r"/>
              <a:t>9 June 2022</a:t>
            </a:fld>
            <a:endParaRPr lang="en-US" sz="1000" dirty="0">
              <a:solidFill>
                <a:schemeClr val="tx1"/>
              </a:solidFill>
            </a:endParaRPr>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3" y="1408680"/>
            <a:ext cx="8648216" cy="3871942"/>
          </a:xfrm>
          <a:prstGeom prst="rect">
            <a:avLst/>
          </a:prstGeom>
        </p:spPr>
      </p:pic>
      <p:sp>
        <p:nvSpPr>
          <p:cNvPr id="12" name="Lesson_Name"/>
          <p:cNvSpPr>
            <a:spLocks noGrp="1"/>
          </p:cNvSpPr>
          <p:nvPr>
            <p:ph type="subTitle" idx="1" hasCustomPrompt="1"/>
          </p:nvPr>
        </p:nvSpPr>
        <p:spPr>
          <a:xfrm>
            <a:off x="114299" y="3726591"/>
            <a:ext cx="7596188" cy="830123"/>
          </a:xfrm>
          <a:prstGeom prst="rect">
            <a:avLst/>
          </a:prstGeom>
        </p:spPr>
        <p:txBody>
          <a:bodyPr>
            <a:normAutofit/>
          </a:bodyPr>
          <a:lstStyle>
            <a:lvl1pPr marL="0" indent="0">
              <a:buNone/>
              <a:defRPr sz="2800" baseline="0">
                <a:solidFill>
                  <a:schemeClr val="tx1"/>
                </a:solidFill>
              </a:defRPr>
            </a:lvl1pPr>
          </a:lstStyle>
          <a:p>
            <a:r>
              <a:rPr lang="en-US" dirty="0"/>
              <a:t>[Lesson Name]</a:t>
            </a:r>
          </a:p>
        </p:txBody>
      </p:sp>
      <p:sp>
        <p:nvSpPr>
          <p:cNvPr id="16" name="Course_Name"/>
          <p:cNvSpPr>
            <a:spLocks noGrp="1"/>
          </p:cNvSpPr>
          <p:nvPr>
            <p:ph type="ctrTitle" hasCustomPrompt="1"/>
          </p:nvPr>
        </p:nvSpPr>
        <p:spPr>
          <a:xfrm>
            <a:off x="97113" y="2697625"/>
            <a:ext cx="8337507" cy="901261"/>
          </a:xfrm>
          <a:prstGeom prst="rect">
            <a:avLst/>
          </a:prstGeom>
        </p:spPr>
        <p:txBody>
          <a:bodyPr>
            <a:normAutofit/>
          </a:bodyPr>
          <a:lstStyle>
            <a:lvl1pPr>
              <a:defRPr sz="3600" baseline="0">
                <a:solidFill>
                  <a:schemeClr val="tx1"/>
                </a:solidFill>
              </a:defRPr>
            </a:lvl1pPr>
          </a:lstStyle>
          <a:p>
            <a:r>
              <a:rPr lang="en-US" dirty="0"/>
              <a:t>[Course Name]</a:t>
            </a:r>
          </a:p>
        </p:txBody>
      </p:sp>
      <p:sp>
        <p:nvSpPr>
          <p:cNvPr id="17" name="Firmware"/>
          <p:cNvSpPr>
            <a:spLocks noGrp="1"/>
          </p:cNvSpPr>
          <p:nvPr>
            <p:ph type="body" sz="quarter" idx="10" hasCustomPrompt="1"/>
          </p:nvPr>
        </p:nvSpPr>
        <p:spPr>
          <a:xfrm>
            <a:off x="606427" y="6343344"/>
            <a:ext cx="2869200" cy="349200"/>
          </a:xfrm>
          <a:prstGeom prst="rect">
            <a:avLst/>
          </a:prstGeom>
        </p:spPr>
        <p:txBody>
          <a:bodyPr>
            <a:noAutofit/>
          </a:bodyPr>
          <a:lstStyle>
            <a:lvl1pPr marL="0" indent="0">
              <a:buNone/>
              <a:defRPr sz="1600" baseline="0">
                <a:solidFill>
                  <a:schemeClr val="tx1"/>
                </a:solidFill>
              </a:defRPr>
            </a:lvl1pPr>
          </a:lstStyle>
          <a:p>
            <a:r>
              <a:rPr lang="en-CA" dirty="0"/>
              <a:t>[Firmware Version]</a:t>
            </a:r>
          </a:p>
        </p:txBody>
      </p:sp>
      <p:pic>
        <p:nvPicPr>
          <p:cNvPr id="15" name="Picture 1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0764" y="1629063"/>
            <a:ext cx="2090932" cy="621793"/>
          </a:xfrm>
          <a:prstGeom prst="rect">
            <a:avLst/>
          </a:prstGeom>
        </p:spPr>
      </p:pic>
      <p:pic>
        <p:nvPicPr>
          <p:cNvPr id="18" name="Picture 1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525035" y="1629063"/>
            <a:ext cx="933910" cy="933910"/>
          </a:xfrm>
          <a:prstGeom prst="rect">
            <a:avLst/>
          </a:prstGeom>
        </p:spPr>
      </p:pic>
    </p:spTree>
    <p:extLst>
      <p:ext uri="{BB962C8B-B14F-4D97-AF65-F5344CB8AC3E}">
        <p14:creationId xmlns:p14="http://schemas.microsoft.com/office/powerpoint/2010/main" val="236598944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cSld name="Title_Slide_NSE_7">
    <p:bg>
      <p:bgPr>
        <a:solidFill>
          <a:schemeClr val="bg1"/>
        </a:solidFill>
        <a:effectLst/>
      </p:bgPr>
    </p:bg>
    <p:spTree>
      <p:nvGrpSpPr>
        <p:cNvPr id="1" name=""/>
        <p:cNvGrpSpPr/>
        <p:nvPr/>
      </p:nvGrpSpPr>
      <p:grpSpPr>
        <a:xfrm>
          <a:off x="0" y="0"/>
          <a:ext cx="0" cy="0"/>
          <a:chOff x="0" y="0"/>
          <a:chExt cx="0" cy="0"/>
        </a:xfrm>
      </p:grpSpPr>
      <p:sp>
        <p:nvSpPr>
          <p:cNvPr id="13" name="Date"/>
          <p:cNvSpPr/>
          <p:nvPr/>
        </p:nvSpPr>
        <p:spPr>
          <a:xfrm>
            <a:off x="9192110" y="6542689"/>
            <a:ext cx="2377440" cy="246221"/>
          </a:xfrm>
          <a:prstGeom prst="rect">
            <a:avLst/>
          </a:prstGeom>
        </p:spPr>
        <p:txBody>
          <a:bodyPr wrap="square" lIns="0" rIns="0" anchor="ctr">
            <a:spAutoFit/>
          </a:bodyPr>
          <a:lstStyle/>
          <a:p>
            <a:pPr algn="r"/>
            <a:r>
              <a:rPr lang="en-US" sz="1000" dirty="0">
                <a:solidFill>
                  <a:schemeClr val="bg1"/>
                </a:solidFill>
              </a:rPr>
              <a:t>Last Modified: </a:t>
            </a:r>
            <a:fld id="{188C7AA7-C880-4ADA-8026-96176B03DB6F}" type="datetime3">
              <a:rPr lang="en-US" sz="1000" smtClean="0">
                <a:solidFill>
                  <a:schemeClr val="bg1"/>
                </a:solidFill>
              </a:rPr>
              <a:pPr algn="r"/>
              <a:t>9 June 2022</a:t>
            </a:fld>
            <a:endParaRPr lang="en-US" sz="1000" dirty="0">
              <a:solidFill>
                <a:schemeClr val="bg1"/>
              </a:solidFill>
            </a:endParaRPr>
          </a:p>
        </p:txBody>
      </p:sp>
      <p:sp>
        <p:nvSpPr>
          <p:cNvPr id="14" name="Copyright"/>
          <p:cNvSpPr txBox="1"/>
          <p:nvPr/>
        </p:nvSpPr>
        <p:spPr>
          <a:xfrm>
            <a:off x="607109" y="6542690"/>
            <a:ext cx="3210658" cy="246221"/>
          </a:xfrm>
          <a:prstGeom prst="rect">
            <a:avLst/>
          </a:prstGeom>
          <a:noFill/>
        </p:spPr>
        <p:txBody>
          <a:bodyPr wrap="square" lIns="121899" tIns="60949" rIns="121899" bIns="60949" rtlCol="0">
            <a:spAutoFit/>
          </a:bodyPr>
          <a:lstStyle/>
          <a:p>
            <a:r>
              <a:rPr lang="en-US" sz="800" dirty="0">
                <a:solidFill>
                  <a:srgbClr val="FFFFFF"/>
                </a:solidFill>
              </a:rPr>
              <a:t>© Copyright Fortinet</a:t>
            </a:r>
            <a:r>
              <a:rPr lang="en-US" sz="800" baseline="0" dirty="0">
                <a:solidFill>
                  <a:srgbClr val="FFFFFF"/>
                </a:solidFill>
              </a:rPr>
              <a:t> Inc. All rights reserved.</a:t>
            </a:r>
            <a:r>
              <a:rPr lang="en-US" sz="800" dirty="0">
                <a:solidFill>
                  <a:srgbClr val="FFFFFF"/>
                </a:solidFill>
              </a:rPr>
              <a:t> </a:t>
            </a:r>
          </a:p>
        </p:txBody>
      </p:sp>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7" y="1"/>
            <a:ext cx="12190817" cy="6858000"/>
          </a:xfrm>
          <a:prstGeom prst="rect">
            <a:avLst/>
          </a:prstGeom>
        </p:spPr>
      </p:pic>
      <p:sp>
        <p:nvSpPr>
          <p:cNvPr id="11" name="Date"/>
          <p:cNvSpPr/>
          <p:nvPr/>
        </p:nvSpPr>
        <p:spPr>
          <a:xfrm>
            <a:off x="9394332" y="6542698"/>
            <a:ext cx="2377440" cy="246221"/>
          </a:xfrm>
          <a:prstGeom prst="rect">
            <a:avLst/>
          </a:prstGeom>
        </p:spPr>
        <p:txBody>
          <a:bodyPr wrap="square" lIns="0" rIns="0" anchor="ctr">
            <a:spAutoFit/>
          </a:bodyPr>
          <a:lstStyle/>
          <a:p>
            <a:pPr algn="r"/>
            <a:r>
              <a:rPr lang="en-US" sz="1000" dirty="0">
                <a:solidFill>
                  <a:schemeClr val="tx1"/>
                </a:solidFill>
              </a:rPr>
              <a:t>Last Modified: </a:t>
            </a:r>
            <a:fld id="{188C7AA7-C880-4ADA-8026-96176B03DB6F}" type="datetime3">
              <a:rPr lang="en-US" sz="1000" smtClean="0">
                <a:solidFill>
                  <a:schemeClr val="tx1"/>
                </a:solidFill>
              </a:rPr>
              <a:pPr algn="r"/>
              <a:t>9 June 2022</a:t>
            </a:fld>
            <a:endParaRPr lang="en-US" sz="1000" dirty="0">
              <a:solidFill>
                <a:schemeClr val="tx1"/>
              </a:solidFill>
            </a:endParaRPr>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3" y="1408680"/>
            <a:ext cx="8648216" cy="3871942"/>
          </a:xfrm>
          <a:prstGeom prst="rect">
            <a:avLst/>
          </a:prstGeom>
        </p:spPr>
      </p:pic>
      <p:sp>
        <p:nvSpPr>
          <p:cNvPr id="12" name="Lesson_Name"/>
          <p:cNvSpPr>
            <a:spLocks noGrp="1"/>
          </p:cNvSpPr>
          <p:nvPr>
            <p:ph type="subTitle" idx="1" hasCustomPrompt="1"/>
          </p:nvPr>
        </p:nvSpPr>
        <p:spPr>
          <a:xfrm>
            <a:off x="114299" y="3726591"/>
            <a:ext cx="7596188" cy="830123"/>
          </a:xfrm>
          <a:prstGeom prst="rect">
            <a:avLst/>
          </a:prstGeom>
        </p:spPr>
        <p:txBody>
          <a:bodyPr>
            <a:normAutofit/>
          </a:bodyPr>
          <a:lstStyle>
            <a:lvl1pPr marL="0" indent="0">
              <a:buNone/>
              <a:defRPr sz="2800" baseline="0">
                <a:solidFill>
                  <a:schemeClr val="tx1"/>
                </a:solidFill>
              </a:defRPr>
            </a:lvl1pPr>
          </a:lstStyle>
          <a:p>
            <a:r>
              <a:rPr lang="en-US" dirty="0"/>
              <a:t>[Lesson Name]</a:t>
            </a:r>
          </a:p>
        </p:txBody>
      </p:sp>
      <p:sp>
        <p:nvSpPr>
          <p:cNvPr id="16" name="Course_Name"/>
          <p:cNvSpPr>
            <a:spLocks noGrp="1"/>
          </p:cNvSpPr>
          <p:nvPr>
            <p:ph type="ctrTitle" hasCustomPrompt="1"/>
          </p:nvPr>
        </p:nvSpPr>
        <p:spPr>
          <a:xfrm>
            <a:off x="97113" y="2697625"/>
            <a:ext cx="8337507" cy="901261"/>
          </a:xfrm>
          <a:prstGeom prst="rect">
            <a:avLst/>
          </a:prstGeom>
        </p:spPr>
        <p:txBody>
          <a:bodyPr>
            <a:normAutofit/>
          </a:bodyPr>
          <a:lstStyle>
            <a:lvl1pPr>
              <a:defRPr sz="3600" baseline="0">
                <a:solidFill>
                  <a:schemeClr val="tx1"/>
                </a:solidFill>
              </a:defRPr>
            </a:lvl1pPr>
          </a:lstStyle>
          <a:p>
            <a:r>
              <a:rPr lang="en-US" dirty="0"/>
              <a:t>[Course Name]</a:t>
            </a:r>
          </a:p>
        </p:txBody>
      </p:sp>
      <p:sp>
        <p:nvSpPr>
          <p:cNvPr id="17" name="Firmware"/>
          <p:cNvSpPr>
            <a:spLocks noGrp="1"/>
          </p:cNvSpPr>
          <p:nvPr>
            <p:ph type="body" sz="quarter" idx="10" hasCustomPrompt="1"/>
          </p:nvPr>
        </p:nvSpPr>
        <p:spPr>
          <a:xfrm>
            <a:off x="606427" y="6343344"/>
            <a:ext cx="2869200" cy="349200"/>
          </a:xfrm>
          <a:prstGeom prst="rect">
            <a:avLst/>
          </a:prstGeom>
        </p:spPr>
        <p:txBody>
          <a:bodyPr>
            <a:noAutofit/>
          </a:bodyPr>
          <a:lstStyle>
            <a:lvl1pPr marL="0" indent="0">
              <a:buNone/>
              <a:defRPr sz="1600" baseline="0">
                <a:solidFill>
                  <a:schemeClr val="tx1"/>
                </a:solidFill>
              </a:defRPr>
            </a:lvl1pPr>
          </a:lstStyle>
          <a:p>
            <a:r>
              <a:rPr lang="en-CA" dirty="0"/>
              <a:t>[Firmware Version]</a:t>
            </a:r>
          </a:p>
        </p:txBody>
      </p:sp>
      <p:pic>
        <p:nvPicPr>
          <p:cNvPr id="15" name="Picture 1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0764" y="1629063"/>
            <a:ext cx="2090932" cy="621793"/>
          </a:xfrm>
          <a:prstGeom prst="rect">
            <a:avLst/>
          </a:prstGeom>
        </p:spPr>
      </p:pic>
      <p:pic>
        <p:nvPicPr>
          <p:cNvPr id="18" name="Picture 1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525035" y="1629063"/>
            <a:ext cx="933910" cy="933910"/>
          </a:xfrm>
          <a:prstGeom prst="rect">
            <a:avLst/>
          </a:prstGeom>
        </p:spPr>
      </p:pic>
    </p:spTree>
    <p:extLst>
      <p:ext uri="{BB962C8B-B14F-4D97-AF65-F5344CB8AC3E}">
        <p14:creationId xmlns:p14="http://schemas.microsoft.com/office/powerpoint/2010/main" val="131103465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cSld name="Title_Slide_NSE_8">
    <p:bg>
      <p:bgPr>
        <a:solidFill>
          <a:schemeClr val="bg1"/>
        </a:solidFill>
        <a:effectLst/>
      </p:bgPr>
    </p:bg>
    <p:spTree>
      <p:nvGrpSpPr>
        <p:cNvPr id="1" name=""/>
        <p:cNvGrpSpPr/>
        <p:nvPr/>
      </p:nvGrpSpPr>
      <p:grpSpPr>
        <a:xfrm>
          <a:off x="0" y="0"/>
          <a:ext cx="0" cy="0"/>
          <a:chOff x="0" y="0"/>
          <a:chExt cx="0" cy="0"/>
        </a:xfrm>
      </p:grpSpPr>
      <p:sp>
        <p:nvSpPr>
          <p:cNvPr id="13" name="Date"/>
          <p:cNvSpPr/>
          <p:nvPr/>
        </p:nvSpPr>
        <p:spPr>
          <a:xfrm>
            <a:off x="9192110" y="6542689"/>
            <a:ext cx="2377440" cy="246221"/>
          </a:xfrm>
          <a:prstGeom prst="rect">
            <a:avLst/>
          </a:prstGeom>
        </p:spPr>
        <p:txBody>
          <a:bodyPr wrap="square" lIns="0" rIns="0" anchor="ctr">
            <a:spAutoFit/>
          </a:bodyPr>
          <a:lstStyle/>
          <a:p>
            <a:pPr algn="r"/>
            <a:r>
              <a:rPr lang="en-US" sz="1000" dirty="0">
                <a:solidFill>
                  <a:schemeClr val="bg1"/>
                </a:solidFill>
              </a:rPr>
              <a:t>Last Modified: </a:t>
            </a:r>
            <a:fld id="{188C7AA7-C880-4ADA-8026-96176B03DB6F}" type="datetime3">
              <a:rPr lang="en-US" sz="1000" smtClean="0">
                <a:solidFill>
                  <a:schemeClr val="bg1"/>
                </a:solidFill>
              </a:rPr>
              <a:pPr algn="r"/>
              <a:t>9 June 2022</a:t>
            </a:fld>
            <a:endParaRPr lang="en-US" sz="1000" dirty="0">
              <a:solidFill>
                <a:schemeClr val="bg1"/>
              </a:solidFill>
            </a:endParaRPr>
          </a:p>
        </p:txBody>
      </p:sp>
      <p:sp>
        <p:nvSpPr>
          <p:cNvPr id="14" name="Copyright"/>
          <p:cNvSpPr txBox="1"/>
          <p:nvPr/>
        </p:nvSpPr>
        <p:spPr>
          <a:xfrm>
            <a:off x="607109" y="6542690"/>
            <a:ext cx="3210658" cy="246221"/>
          </a:xfrm>
          <a:prstGeom prst="rect">
            <a:avLst/>
          </a:prstGeom>
          <a:noFill/>
        </p:spPr>
        <p:txBody>
          <a:bodyPr wrap="square" lIns="121899" tIns="60949" rIns="121899" bIns="60949" rtlCol="0">
            <a:spAutoFit/>
          </a:bodyPr>
          <a:lstStyle/>
          <a:p>
            <a:r>
              <a:rPr lang="en-US" sz="800" dirty="0">
                <a:solidFill>
                  <a:srgbClr val="FFFFFF"/>
                </a:solidFill>
              </a:rPr>
              <a:t>© Copyright Fortinet</a:t>
            </a:r>
            <a:r>
              <a:rPr lang="en-US" sz="800" baseline="0" dirty="0">
                <a:solidFill>
                  <a:srgbClr val="FFFFFF"/>
                </a:solidFill>
              </a:rPr>
              <a:t> Inc. All rights reserved.</a:t>
            </a:r>
            <a:r>
              <a:rPr lang="en-US" sz="800" dirty="0">
                <a:solidFill>
                  <a:srgbClr val="FFFFFF"/>
                </a:solidFill>
              </a:rPr>
              <a:t> </a:t>
            </a:r>
          </a:p>
        </p:txBody>
      </p:sp>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7" y="0"/>
            <a:ext cx="12190817" cy="6858000"/>
          </a:xfrm>
          <a:prstGeom prst="rect">
            <a:avLst/>
          </a:prstGeom>
        </p:spPr>
      </p:pic>
      <p:sp>
        <p:nvSpPr>
          <p:cNvPr id="11" name="Date"/>
          <p:cNvSpPr/>
          <p:nvPr/>
        </p:nvSpPr>
        <p:spPr>
          <a:xfrm>
            <a:off x="9394332" y="6542698"/>
            <a:ext cx="2377440" cy="246221"/>
          </a:xfrm>
          <a:prstGeom prst="rect">
            <a:avLst/>
          </a:prstGeom>
        </p:spPr>
        <p:txBody>
          <a:bodyPr wrap="square" lIns="0" rIns="0" anchor="ctr">
            <a:spAutoFit/>
          </a:bodyPr>
          <a:lstStyle/>
          <a:p>
            <a:pPr algn="r"/>
            <a:r>
              <a:rPr lang="en-US" sz="1000" dirty="0">
                <a:solidFill>
                  <a:schemeClr val="tx1"/>
                </a:solidFill>
              </a:rPr>
              <a:t>Last Modified: </a:t>
            </a:r>
            <a:fld id="{188C7AA7-C880-4ADA-8026-96176B03DB6F}" type="datetime3">
              <a:rPr lang="en-US" sz="1000" smtClean="0">
                <a:solidFill>
                  <a:schemeClr val="tx1"/>
                </a:solidFill>
              </a:rPr>
              <a:pPr algn="r"/>
              <a:t>9 June 2022</a:t>
            </a:fld>
            <a:endParaRPr lang="en-US" sz="1000" dirty="0">
              <a:solidFill>
                <a:schemeClr val="tx1"/>
              </a:solidFill>
            </a:endParaRPr>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3" y="1408680"/>
            <a:ext cx="8648216" cy="3871942"/>
          </a:xfrm>
          <a:prstGeom prst="rect">
            <a:avLst/>
          </a:prstGeom>
        </p:spPr>
      </p:pic>
      <p:sp>
        <p:nvSpPr>
          <p:cNvPr id="12" name="Lesson_Name"/>
          <p:cNvSpPr>
            <a:spLocks noGrp="1"/>
          </p:cNvSpPr>
          <p:nvPr>
            <p:ph type="subTitle" idx="1" hasCustomPrompt="1"/>
          </p:nvPr>
        </p:nvSpPr>
        <p:spPr>
          <a:xfrm>
            <a:off x="114299" y="3726591"/>
            <a:ext cx="7596188" cy="830123"/>
          </a:xfrm>
          <a:prstGeom prst="rect">
            <a:avLst/>
          </a:prstGeom>
        </p:spPr>
        <p:txBody>
          <a:bodyPr>
            <a:normAutofit/>
          </a:bodyPr>
          <a:lstStyle>
            <a:lvl1pPr marL="0" indent="0">
              <a:buNone/>
              <a:defRPr sz="2800" baseline="0">
                <a:solidFill>
                  <a:schemeClr val="tx1"/>
                </a:solidFill>
              </a:defRPr>
            </a:lvl1pPr>
          </a:lstStyle>
          <a:p>
            <a:r>
              <a:rPr lang="en-US" dirty="0"/>
              <a:t>[Lesson Name]</a:t>
            </a:r>
          </a:p>
        </p:txBody>
      </p:sp>
      <p:sp>
        <p:nvSpPr>
          <p:cNvPr id="16" name="Course_Name"/>
          <p:cNvSpPr>
            <a:spLocks noGrp="1"/>
          </p:cNvSpPr>
          <p:nvPr>
            <p:ph type="ctrTitle" hasCustomPrompt="1"/>
          </p:nvPr>
        </p:nvSpPr>
        <p:spPr>
          <a:xfrm>
            <a:off x="97113" y="2697625"/>
            <a:ext cx="8337507" cy="901261"/>
          </a:xfrm>
          <a:prstGeom prst="rect">
            <a:avLst/>
          </a:prstGeom>
        </p:spPr>
        <p:txBody>
          <a:bodyPr>
            <a:normAutofit/>
          </a:bodyPr>
          <a:lstStyle>
            <a:lvl1pPr>
              <a:defRPr sz="3600" baseline="0">
                <a:solidFill>
                  <a:schemeClr val="tx1"/>
                </a:solidFill>
              </a:defRPr>
            </a:lvl1pPr>
          </a:lstStyle>
          <a:p>
            <a:r>
              <a:rPr lang="en-US" dirty="0"/>
              <a:t>[Course Name]</a:t>
            </a:r>
          </a:p>
        </p:txBody>
      </p:sp>
      <p:sp>
        <p:nvSpPr>
          <p:cNvPr id="17" name="Firmware"/>
          <p:cNvSpPr>
            <a:spLocks noGrp="1"/>
          </p:cNvSpPr>
          <p:nvPr>
            <p:ph type="body" sz="quarter" idx="10" hasCustomPrompt="1"/>
          </p:nvPr>
        </p:nvSpPr>
        <p:spPr>
          <a:xfrm>
            <a:off x="606427" y="6343344"/>
            <a:ext cx="2869200" cy="349200"/>
          </a:xfrm>
          <a:prstGeom prst="rect">
            <a:avLst/>
          </a:prstGeom>
        </p:spPr>
        <p:txBody>
          <a:bodyPr>
            <a:noAutofit/>
          </a:bodyPr>
          <a:lstStyle>
            <a:lvl1pPr marL="0" indent="0">
              <a:buNone/>
              <a:defRPr sz="1600" baseline="0">
                <a:solidFill>
                  <a:schemeClr val="tx1"/>
                </a:solidFill>
              </a:defRPr>
            </a:lvl1pPr>
          </a:lstStyle>
          <a:p>
            <a:r>
              <a:rPr lang="en-CA" dirty="0"/>
              <a:t>[Firmware Version]</a:t>
            </a:r>
          </a:p>
        </p:txBody>
      </p:sp>
      <p:pic>
        <p:nvPicPr>
          <p:cNvPr id="15" name="Picture 1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0764" y="1629063"/>
            <a:ext cx="2090932" cy="621793"/>
          </a:xfrm>
          <a:prstGeom prst="rect">
            <a:avLst/>
          </a:prstGeom>
        </p:spPr>
      </p:pic>
      <p:pic>
        <p:nvPicPr>
          <p:cNvPr id="18" name="Picture 1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525035" y="1629063"/>
            <a:ext cx="933910" cy="933910"/>
          </a:xfrm>
          <a:prstGeom prst="rect">
            <a:avLst/>
          </a:prstGeom>
        </p:spPr>
      </p:pic>
    </p:spTree>
    <p:extLst>
      <p:ext uri="{BB962C8B-B14F-4D97-AF65-F5344CB8AC3E}">
        <p14:creationId xmlns:p14="http://schemas.microsoft.com/office/powerpoint/2010/main" val="98687586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cSld name="Title_Slide_Non_NSE">
    <p:bg>
      <p:bgPr>
        <a:solidFill>
          <a:schemeClr val="bg1"/>
        </a:solidFill>
        <a:effectLst/>
      </p:bgPr>
    </p:bg>
    <p:spTree>
      <p:nvGrpSpPr>
        <p:cNvPr id="1" name=""/>
        <p:cNvGrpSpPr/>
        <p:nvPr/>
      </p:nvGrpSpPr>
      <p:grpSpPr>
        <a:xfrm>
          <a:off x="0" y="0"/>
          <a:ext cx="0" cy="0"/>
          <a:chOff x="0" y="0"/>
          <a:chExt cx="0" cy="0"/>
        </a:xfrm>
      </p:grpSpPr>
      <p:sp>
        <p:nvSpPr>
          <p:cNvPr id="17" name="Copyright"/>
          <p:cNvSpPr txBox="1"/>
          <p:nvPr/>
        </p:nvSpPr>
        <p:spPr>
          <a:xfrm>
            <a:off x="607109" y="6542690"/>
            <a:ext cx="3210658" cy="246221"/>
          </a:xfrm>
          <a:prstGeom prst="rect">
            <a:avLst/>
          </a:prstGeom>
          <a:noFill/>
        </p:spPr>
        <p:txBody>
          <a:bodyPr wrap="square" lIns="121899" tIns="60949" rIns="121899" bIns="60949" rtlCol="0">
            <a:spAutoFit/>
          </a:bodyPr>
          <a:lstStyle/>
          <a:p>
            <a:r>
              <a:rPr lang="en-US" sz="800" dirty="0">
                <a:solidFill>
                  <a:srgbClr val="FFFFFF"/>
                </a:solidFill>
              </a:rPr>
              <a:t>© Copyright Fortinet</a:t>
            </a:r>
            <a:r>
              <a:rPr lang="en-US" sz="800" baseline="0" dirty="0">
                <a:solidFill>
                  <a:srgbClr val="FFFFFF"/>
                </a:solidFill>
              </a:rPr>
              <a:t> Inc. All rights reserved.</a:t>
            </a:r>
            <a:r>
              <a:rPr lang="en-US" sz="800" dirty="0">
                <a:solidFill>
                  <a:srgbClr val="FFFFFF"/>
                </a:solidFill>
              </a:rPr>
              <a:t> </a:t>
            </a:r>
          </a:p>
        </p:txBody>
      </p:sp>
      <p:sp>
        <p:nvSpPr>
          <p:cNvPr id="18" name="Date"/>
          <p:cNvSpPr/>
          <p:nvPr/>
        </p:nvSpPr>
        <p:spPr>
          <a:xfrm>
            <a:off x="9192110" y="6542689"/>
            <a:ext cx="2377440" cy="246221"/>
          </a:xfrm>
          <a:prstGeom prst="rect">
            <a:avLst/>
          </a:prstGeom>
        </p:spPr>
        <p:txBody>
          <a:bodyPr wrap="square" lIns="0" rIns="0" anchor="ctr">
            <a:spAutoFit/>
          </a:bodyPr>
          <a:lstStyle/>
          <a:p>
            <a:pPr algn="r"/>
            <a:r>
              <a:rPr lang="en-US" sz="1000" dirty="0">
                <a:solidFill>
                  <a:schemeClr val="bg1"/>
                </a:solidFill>
              </a:rPr>
              <a:t>Last Modified: </a:t>
            </a:r>
            <a:fld id="{188C7AA7-C880-4ADA-8026-96176B03DB6F}" type="datetime3">
              <a:rPr lang="en-US" sz="1000" smtClean="0">
                <a:solidFill>
                  <a:schemeClr val="bg1"/>
                </a:solidFill>
              </a:rPr>
              <a:pPr algn="r"/>
              <a:t>9 June 2022</a:t>
            </a:fld>
            <a:endParaRPr lang="en-US" sz="1000" dirty="0">
              <a:solidFill>
                <a:schemeClr val="bg1"/>
              </a:solidFill>
            </a:endParaRP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7" y="0"/>
            <a:ext cx="12190817" cy="6858000"/>
          </a:xfrm>
          <a:prstGeom prst="rect">
            <a:avLst/>
          </a:prstGeom>
        </p:spPr>
      </p:pic>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3" y="1408680"/>
            <a:ext cx="8648216" cy="3871942"/>
          </a:xfrm>
          <a:prstGeom prst="rect">
            <a:avLst/>
          </a:prstGeom>
        </p:spPr>
      </p:pic>
      <p:sp>
        <p:nvSpPr>
          <p:cNvPr id="9" name="Lesson_Name"/>
          <p:cNvSpPr>
            <a:spLocks noGrp="1"/>
          </p:cNvSpPr>
          <p:nvPr>
            <p:ph type="subTitle" idx="1" hasCustomPrompt="1"/>
          </p:nvPr>
        </p:nvSpPr>
        <p:spPr>
          <a:xfrm>
            <a:off x="114299" y="3726591"/>
            <a:ext cx="7596188" cy="830123"/>
          </a:xfrm>
          <a:prstGeom prst="rect">
            <a:avLst/>
          </a:prstGeom>
        </p:spPr>
        <p:txBody>
          <a:bodyPr>
            <a:normAutofit/>
          </a:bodyPr>
          <a:lstStyle>
            <a:lvl1pPr marL="0" indent="0">
              <a:buNone/>
              <a:defRPr sz="2800" baseline="0">
                <a:solidFill>
                  <a:schemeClr val="tx1"/>
                </a:solidFill>
              </a:defRPr>
            </a:lvl1pPr>
          </a:lstStyle>
          <a:p>
            <a:r>
              <a:rPr lang="en-US" dirty="0"/>
              <a:t>[Lesson Name]</a:t>
            </a:r>
          </a:p>
        </p:txBody>
      </p:sp>
      <p:sp>
        <p:nvSpPr>
          <p:cNvPr id="10" name="Course_Name"/>
          <p:cNvSpPr>
            <a:spLocks noGrp="1"/>
          </p:cNvSpPr>
          <p:nvPr>
            <p:ph type="ctrTitle" hasCustomPrompt="1"/>
          </p:nvPr>
        </p:nvSpPr>
        <p:spPr>
          <a:xfrm>
            <a:off x="97113" y="2697625"/>
            <a:ext cx="8337507" cy="901261"/>
          </a:xfrm>
          <a:prstGeom prst="rect">
            <a:avLst/>
          </a:prstGeom>
        </p:spPr>
        <p:txBody>
          <a:bodyPr>
            <a:normAutofit/>
          </a:bodyPr>
          <a:lstStyle>
            <a:lvl1pPr>
              <a:defRPr sz="3600" baseline="0">
                <a:solidFill>
                  <a:schemeClr val="tx1"/>
                </a:solidFill>
              </a:defRPr>
            </a:lvl1pPr>
          </a:lstStyle>
          <a:p>
            <a:r>
              <a:rPr lang="en-US" dirty="0"/>
              <a:t>[Course Name]</a:t>
            </a:r>
          </a:p>
        </p:txBody>
      </p:sp>
      <p:sp>
        <p:nvSpPr>
          <p:cNvPr id="13" name="Firmware"/>
          <p:cNvSpPr>
            <a:spLocks noGrp="1"/>
          </p:cNvSpPr>
          <p:nvPr>
            <p:ph type="body" sz="quarter" idx="10" hasCustomPrompt="1"/>
          </p:nvPr>
        </p:nvSpPr>
        <p:spPr>
          <a:xfrm>
            <a:off x="606427" y="6343344"/>
            <a:ext cx="2869200" cy="349200"/>
          </a:xfrm>
          <a:prstGeom prst="rect">
            <a:avLst/>
          </a:prstGeom>
        </p:spPr>
        <p:txBody>
          <a:bodyPr>
            <a:noAutofit/>
          </a:bodyPr>
          <a:lstStyle>
            <a:lvl1pPr marL="0" indent="0">
              <a:buNone/>
              <a:defRPr sz="1600" baseline="0">
                <a:solidFill>
                  <a:schemeClr val="tx1"/>
                </a:solidFill>
              </a:defRPr>
            </a:lvl1pPr>
          </a:lstStyle>
          <a:p>
            <a:r>
              <a:rPr lang="en-CA" dirty="0"/>
              <a:t>[Firmware Version]</a:t>
            </a:r>
          </a:p>
        </p:txBody>
      </p:sp>
      <p:sp>
        <p:nvSpPr>
          <p:cNvPr id="14" name="Date"/>
          <p:cNvSpPr/>
          <p:nvPr/>
        </p:nvSpPr>
        <p:spPr>
          <a:xfrm>
            <a:off x="9394332" y="6542698"/>
            <a:ext cx="2377440" cy="246221"/>
          </a:xfrm>
          <a:prstGeom prst="rect">
            <a:avLst/>
          </a:prstGeom>
        </p:spPr>
        <p:txBody>
          <a:bodyPr wrap="square" lIns="0" rIns="0" anchor="ctr">
            <a:spAutoFit/>
          </a:bodyPr>
          <a:lstStyle/>
          <a:p>
            <a:pPr algn="r"/>
            <a:r>
              <a:rPr lang="en-US" sz="1000" dirty="0">
                <a:solidFill>
                  <a:schemeClr val="tx1"/>
                </a:solidFill>
              </a:rPr>
              <a:t>Last Modified: </a:t>
            </a:r>
            <a:fld id="{188C7AA7-C880-4ADA-8026-96176B03DB6F}" type="datetime3">
              <a:rPr lang="en-US" sz="1000" smtClean="0">
                <a:solidFill>
                  <a:schemeClr val="tx1"/>
                </a:solidFill>
              </a:rPr>
              <a:pPr algn="r"/>
              <a:t>9 June 2022</a:t>
            </a:fld>
            <a:endParaRPr lang="en-US" sz="1000" dirty="0">
              <a:solidFill>
                <a:schemeClr val="tx1"/>
              </a:solidFill>
            </a:endParaRPr>
          </a:p>
        </p:txBody>
      </p:sp>
      <p:pic>
        <p:nvPicPr>
          <p:cNvPr id="12" name="Picture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0764" y="1629063"/>
            <a:ext cx="2090932" cy="621793"/>
          </a:xfrm>
          <a:prstGeom prst="rect">
            <a:avLst/>
          </a:prstGeom>
        </p:spPr>
      </p:pic>
    </p:spTree>
    <p:extLst>
      <p:ext uri="{BB962C8B-B14F-4D97-AF65-F5344CB8AC3E}">
        <p14:creationId xmlns:p14="http://schemas.microsoft.com/office/powerpoint/2010/main" val="286055077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cSld name="Lesson_Overview">
    <p:bg>
      <p:bgPr>
        <a:solidFill>
          <a:srgbClr val="F0F0F0"/>
        </a:solidFill>
        <a:effectLst/>
      </p:bgPr>
    </p:bg>
    <p:spTree>
      <p:nvGrpSpPr>
        <p:cNvPr id="1" name=""/>
        <p:cNvGrpSpPr/>
        <p:nvPr/>
      </p:nvGrpSpPr>
      <p:grpSpPr>
        <a:xfrm>
          <a:off x="0" y="0"/>
          <a:ext cx="0" cy="0"/>
          <a:chOff x="0" y="0"/>
          <a:chExt cx="0" cy="0"/>
        </a:xfrm>
      </p:grpSpPr>
      <p:sp>
        <p:nvSpPr>
          <p:cNvPr id="5" name="TextBox 4"/>
          <p:cNvSpPr txBox="1"/>
          <p:nvPr/>
        </p:nvSpPr>
        <p:spPr>
          <a:xfrm>
            <a:off x="266400" y="273600"/>
            <a:ext cx="10803600" cy="748800"/>
          </a:xfrm>
          <a:prstGeom prst="rect">
            <a:avLst/>
          </a:prstGeom>
          <a:noFill/>
        </p:spPr>
        <p:txBody>
          <a:bodyPr wrap="square" rtlCol="0">
            <a:spAutoFit/>
          </a:bodyPr>
          <a:lstStyle/>
          <a:p>
            <a:r>
              <a:rPr lang="en-CA" sz="3600" b="0" dirty="0">
                <a:solidFill>
                  <a:schemeClr val="tx1"/>
                </a:solidFill>
                <a:latin typeface="+mj-lt"/>
              </a:rPr>
              <a:t>Lesson Overview</a:t>
            </a:r>
          </a:p>
        </p:txBody>
      </p:sp>
      <p:sp>
        <p:nvSpPr>
          <p:cNvPr id="9" name="SmartArt Placeholder 3"/>
          <p:cNvSpPr>
            <a:spLocks noGrp="1"/>
          </p:cNvSpPr>
          <p:nvPr>
            <p:ph type="dgm" sz="quarter" idx="10"/>
          </p:nvPr>
        </p:nvSpPr>
        <p:spPr>
          <a:xfrm>
            <a:off x="273600" y="1347536"/>
            <a:ext cx="11386800" cy="4968000"/>
          </a:xfrm>
          <a:prstGeom prst="rect">
            <a:avLst/>
          </a:prstGeom>
        </p:spPr>
        <p:txBody>
          <a:bodyPr/>
          <a:lstStyle/>
          <a:p>
            <a:r>
              <a:rPr lang="en-US"/>
              <a:t>Click icon to add SmartArt graphic</a:t>
            </a:r>
            <a:endParaRPr lang="en-CA" dirty="0"/>
          </a:p>
        </p:txBody>
      </p:sp>
      <p:sp>
        <p:nvSpPr>
          <p:cNvPr id="6" name="Rectangle 26">
            <a:extLst>
              <a:ext uri="{FF2B5EF4-FFF2-40B4-BE49-F238E27FC236}">
                <a16:creationId xmlns:a16="http://schemas.microsoft.com/office/drawing/2014/main" id="{B5346728-1A43-46F3-94F0-8646875C0BA6}"/>
              </a:ext>
            </a:extLst>
          </p:cNvPr>
          <p:cNvSpPr>
            <a:spLocks noChangeArrowheads="1"/>
          </p:cNvSpPr>
          <p:nvPr/>
        </p:nvSpPr>
        <p:spPr bwMode="black">
          <a:xfrm>
            <a:off x="11570077" y="6483142"/>
            <a:ext cx="372187" cy="276985"/>
          </a:xfrm>
          <a:prstGeom prst="rect">
            <a:avLst/>
          </a:prstGeom>
        </p:spPr>
        <p:txBody>
          <a:bodyPr/>
          <a:lstStyle/>
          <a:p>
            <a:pPr lvl="0" algn="r"/>
            <a:fld id="{5266C0E3-FCB2-4D10-9980-6DFC0D8FABCB}" type="slidenum">
              <a:rPr lang="en-US" sz="1100">
                <a:solidFill>
                  <a:srgbClr val="FF0000"/>
                </a:solidFill>
              </a:rPr>
              <a:pPr lvl="0" algn="r"/>
              <a:t>‹#›</a:t>
            </a:fld>
            <a:endParaRPr lang="en-US" sz="1100" dirty="0">
              <a:solidFill>
                <a:srgbClr val="FF0000"/>
              </a:solidFill>
            </a:endParaRPr>
          </a:p>
        </p:txBody>
      </p:sp>
      <p:sp>
        <p:nvSpPr>
          <p:cNvPr id="7" name="TextBox 6">
            <a:extLst>
              <a:ext uri="{FF2B5EF4-FFF2-40B4-BE49-F238E27FC236}">
                <a16:creationId xmlns:a16="http://schemas.microsoft.com/office/drawing/2014/main" id="{382FAB0E-0D04-4245-92D3-1C9E21FDA85E}"/>
              </a:ext>
            </a:extLst>
          </p:cNvPr>
          <p:cNvSpPr txBox="1"/>
          <p:nvPr/>
        </p:nvSpPr>
        <p:spPr>
          <a:xfrm>
            <a:off x="5059906" y="6513136"/>
            <a:ext cx="2180405" cy="230832"/>
          </a:xfrm>
          <a:prstGeom prst="rect">
            <a:avLst/>
          </a:prstGeom>
          <a:noFill/>
        </p:spPr>
        <p:txBody>
          <a:bodyPr wrap="none" rtlCol="0">
            <a:spAutoFit/>
          </a:bodyPr>
          <a:lstStyle/>
          <a:p>
            <a:pPr algn="l" defTabSz="257091">
              <a:lnSpc>
                <a:spcPct val="90000"/>
              </a:lnSpc>
              <a:spcBef>
                <a:spcPts val="169"/>
              </a:spcBef>
            </a:pPr>
            <a:r>
              <a:rPr lang="en-US" sz="1000" dirty="0">
                <a:solidFill>
                  <a:srgbClr val="000000"/>
                </a:solidFill>
                <a:latin typeface="+mj-lt"/>
                <a:ea typeface="Inter" panose="020B0502030000000004" pitchFamily="34" charset="0"/>
                <a:cs typeface="Arial" panose="020B0604020202020204" pitchFamily="34" charset="0"/>
              </a:rPr>
              <a:t>© Fortinet Inc. All Rights Reserved.</a:t>
            </a:r>
          </a:p>
        </p:txBody>
      </p:sp>
      <p:pic>
        <p:nvPicPr>
          <p:cNvPr id="8" name="Picture 7">
            <a:extLst>
              <a:ext uri="{FF2B5EF4-FFF2-40B4-BE49-F238E27FC236}">
                <a16:creationId xmlns:a16="http://schemas.microsoft.com/office/drawing/2014/main" id="{DAF13C7A-2ACA-3145-8E42-86979311783B}"/>
              </a:ext>
            </a:extLst>
          </p:cNvPr>
          <p:cNvPicPr>
            <a:picLocks noChangeAspect="1"/>
          </p:cNvPicPr>
          <p:nvPr/>
        </p:nvPicPr>
        <p:blipFill>
          <a:blip r:embed="rId2"/>
          <a:stretch>
            <a:fillRect/>
          </a:stretch>
        </p:blipFill>
        <p:spPr>
          <a:xfrm flipH="1" flipV="1">
            <a:off x="11216640" y="1"/>
            <a:ext cx="975360" cy="225084"/>
          </a:xfrm>
          <a:prstGeom prst="rect">
            <a:avLst/>
          </a:prstGeom>
        </p:spPr>
      </p:pic>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6400" y="6401687"/>
            <a:ext cx="1409595" cy="419180"/>
          </a:xfrm>
          <a:prstGeom prst="rect">
            <a:avLst/>
          </a:prstGeom>
        </p:spPr>
      </p:pic>
    </p:spTree>
    <p:extLst>
      <p:ext uri="{BB962C8B-B14F-4D97-AF65-F5344CB8AC3E}">
        <p14:creationId xmlns:p14="http://schemas.microsoft.com/office/powerpoint/2010/main" val="34460183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cSld name="NSE7_Lesson_Objectives">
    <p:bg>
      <p:bgPr>
        <a:solidFill>
          <a:srgbClr val="F0F0F0"/>
        </a:solidFill>
        <a:effectLst/>
      </p:bgPr>
    </p:bg>
    <p:spTree>
      <p:nvGrpSpPr>
        <p:cNvPr id="1" name=""/>
        <p:cNvGrpSpPr/>
        <p:nvPr/>
      </p:nvGrpSpPr>
      <p:grpSpPr>
        <a:xfrm>
          <a:off x="0" y="0"/>
          <a:ext cx="0" cy="0"/>
          <a:chOff x="0" y="0"/>
          <a:chExt cx="0" cy="0"/>
        </a:xfrm>
      </p:grpSpPr>
      <p:sp>
        <p:nvSpPr>
          <p:cNvPr id="6" name="Content Placeholder 2"/>
          <p:cNvSpPr>
            <a:spLocks noGrp="1"/>
          </p:cNvSpPr>
          <p:nvPr>
            <p:ph idx="1" hasCustomPrompt="1"/>
          </p:nvPr>
        </p:nvSpPr>
        <p:spPr>
          <a:xfrm>
            <a:off x="266400" y="1355270"/>
            <a:ext cx="11387357" cy="4959129"/>
          </a:xfrm>
          <a:prstGeom prst="rect">
            <a:avLst/>
          </a:prstGeom>
        </p:spPr>
        <p:txBody>
          <a:bodyPr/>
          <a:lstStyle>
            <a:lvl1pPr>
              <a:buClr>
                <a:schemeClr val="accent6"/>
              </a:buClr>
              <a:defRPr sz="2200"/>
            </a:lvl1pPr>
            <a:lvl2pPr>
              <a:buClr>
                <a:schemeClr val="accent6"/>
              </a:buClr>
              <a:defRPr sz="1800"/>
            </a:lvl2pPr>
            <a:lvl3pPr>
              <a:buClr>
                <a:schemeClr val="accent6"/>
              </a:buClr>
              <a:defRPr sz="1600"/>
            </a:lvl3pPr>
            <a:lvl4pPr>
              <a:buClr>
                <a:schemeClr val="accent6"/>
              </a:buClr>
              <a:defRPr sz="1400"/>
            </a:lvl4pPr>
            <a:lvl5pPr marL="814388" marR="0" indent="0" algn="l" defTabSz="685800" rtl="0" eaLnBrk="1" fontAlgn="base" latinLnBrk="0" hangingPunct="1">
              <a:lnSpc>
                <a:spcPct val="110000"/>
              </a:lnSpc>
              <a:spcBef>
                <a:spcPct val="20000"/>
              </a:spcBef>
              <a:spcAft>
                <a:spcPct val="0"/>
              </a:spcAft>
              <a:buClr>
                <a:srgbClr val="D81E05"/>
              </a:buClr>
              <a:buSzTx/>
              <a:buFont typeface="Arial"/>
              <a:buNone/>
              <a:tabLst/>
              <a:defRPr sz="1600"/>
            </a:lvl5pPr>
          </a:lstStyle>
          <a:p>
            <a:pPr lvl="0"/>
            <a:r>
              <a:rPr lang="en-US" dirty="0"/>
              <a:t>Click to add text</a:t>
            </a:r>
            <a:endParaRPr kumimoji="0" lang="en-US" sz="1200" b="0" i="1" u="none" strike="noStrike" kern="0" cap="none" spc="0" normalizeH="0" baseline="0" noProof="0" dirty="0">
              <a:ln>
                <a:noFill/>
              </a:ln>
              <a:solidFill>
                <a:prstClr val="white">
                  <a:lumMod val="50000"/>
                </a:prstClr>
              </a:solidFill>
              <a:effectLst/>
              <a:uLnTx/>
              <a:uFillTx/>
              <a:latin typeface="+mn-lt"/>
              <a:ea typeface="Arial Unicode MS"/>
              <a:cs typeface="Arial"/>
            </a:endParaRPr>
          </a:p>
        </p:txBody>
      </p:sp>
      <p:sp>
        <p:nvSpPr>
          <p:cNvPr id="5" name="TextBox 4"/>
          <p:cNvSpPr txBox="1"/>
          <p:nvPr/>
        </p:nvSpPr>
        <p:spPr>
          <a:xfrm>
            <a:off x="266400" y="273600"/>
            <a:ext cx="10803600" cy="748800"/>
          </a:xfrm>
          <a:prstGeom prst="rect">
            <a:avLst/>
          </a:prstGeom>
          <a:noFill/>
        </p:spPr>
        <p:txBody>
          <a:bodyPr wrap="square" rtlCol="0">
            <a:spAutoFit/>
          </a:bodyPr>
          <a:lstStyle/>
          <a:p>
            <a:r>
              <a:rPr lang="en-CA" sz="3600" b="0" dirty="0">
                <a:solidFill>
                  <a:schemeClr val="tx1"/>
                </a:solidFill>
                <a:latin typeface="+mj-lt"/>
              </a:rPr>
              <a:t>Objectives</a:t>
            </a:r>
          </a:p>
        </p:txBody>
      </p:sp>
      <p:sp>
        <p:nvSpPr>
          <p:cNvPr id="7" name="Rectangle 26">
            <a:extLst>
              <a:ext uri="{FF2B5EF4-FFF2-40B4-BE49-F238E27FC236}">
                <a16:creationId xmlns:a16="http://schemas.microsoft.com/office/drawing/2014/main" id="{B5346728-1A43-46F3-94F0-8646875C0BA6}"/>
              </a:ext>
            </a:extLst>
          </p:cNvPr>
          <p:cNvSpPr>
            <a:spLocks noChangeArrowheads="1"/>
          </p:cNvSpPr>
          <p:nvPr/>
        </p:nvSpPr>
        <p:spPr bwMode="black">
          <a:xfrm>
            <a:off x="11570077" y="6483142"/>
            <a:ext cx="372187" cy="276985"/>
          </a:xfrm>
          <a:prstGeom prst="rect">
            <a:avLst/>
          </a:prstGeom>
        </p:spPr>
        <p:txBody>
          <a:bodyPr/>
          <a:lstStyle/>
          <a:p>
            <a:pPr lvl="0" algn="r"/>
            <a:fld id="{5266C0E3-FCB2-4D10-9980-6DFC0D8FABCB}" type="slidenum">
              <a:rPr lang="en-US" sz="1100">
                <a:solidFill>
                  <a:srgbClr val="FF0000"/>
                </a:solidFill>
              </a:rPr>
              <a:pPr lvl="0" algn="r"/>
              <a:t>‹#›</a:t>
            </a:fld>
            <a:endParaRPr lang="en-US" sz="1100" dirty="0">
              <a:solidFill>
                <a:srgbClr val="FF0000"/>
              </a:solidFill>
            </a:endParaRPr>
          </a:p>
        </p:txBody>
      </p:sp>
      <p:sp>
        <p:nvSpPr>
          <p:cNvPr id="8" name="TextBox 7">
            <a:extLst>
              <a:ext uri="{FF2B5EF4-FFF2-40B4-BE49-F238E27FC236}">
                <a16:creationId xmlns:a16="http://schemas.microsoft.com/office/drawing/2014/main" id="{382FAB0E-0D04-4245-92D3-1C9E21FDA85E}"/>
              </a:ext>
            </a:extLst>
          </p:cNvPr>
          <p:cNvSpPr txBox="1"/>
          <p:nvPr/>
        </p:nvSpPr>
        <p:spPr>
          <a:xfrm>
            <a:off x="5059906" y="6513136"/>
            <a:ext cx="2180405" cy="230832"/>
          </a:xfrm>
          <a:prstGeom prst="rect">
            <a:avLst/>
          </a:prstGeom>
          <a:noFill/>
        </p:spPr>
        <p:txBody>
          <a:bodyPr wrap="none" rtlCol="0">
            <a:spAutoFit/>
          </a:bodyPr>
          <a:lstStyle/>
          <a:p>
            <a:pPr algn="l" defTabSz="257091">
              <a:lnSpc>
                <a:spcPct val="90000"/>
              </a:lnSpc>
              <a:spcBef>
                <a:spcPts val="169"/>
              </a:spcBef>
            </a:pPr>
            <a:r>
              <a:rPr lang="en-US" sz="1000" dirty="0">
                <a:solidFill>
                  <a:srgbClr val="000000"/>
                </a:solidFill>
                <a:latin typeface="+mj-lt"/>
                <a:ea typeface="Inter" panose="020B0502030000000004" pitchFamily="34" charset="0"/>
                <a:cs typeface="Arial" panose="020B0604020202020204" pitchFamily="34" charset="0"/>
              </a:rPr>
              <a:t>© Fortinet Inc. All Rights Reserved.</a:t>
            </a:r>
          </a:p>
        </p:txBody>
      </p:sp>
      <p:pic>
        <p:nvPicPr>
          <p:cNvPr id="9" name="Picture 8">
            <a:extLst>
              <a:ext uri="{FF2B5EF4-FFF2-40B4-BE49-F238E27FC236}">
                <a16:creationId xmlns:a16="http://schemas.microsoft.com/office/drawing/2014/main" id="{DAF13C7A-2ACA-3145-8E42-86979311783B}"/>
              </a:ext>
            </a:extLst>
          </p:cNvPr>
          <p:cNvPicPr>
            <a:picLocks noChangeAspect="1"/>
          </p:cNvPicPr>
          <p:nvPr/>
        </p:nvPicPr>
        <p:blipFill>
          <a:blip r:embed="rId2"/>
          <a:stretch>
            <a:fillRect/>
          </a:stretch>
        </p:blipFill>
        <p:spPr>
          <a:xfrm flipH="1" flipV="1">
            <a:off x="11216640" y="1"/>
            <a:ext cx="975360" cy="225084"/>
          </a:xfrm>
          <a:prstGeom prst="rect">
            <a:avLst/>
          </a:prstGeom>
        </p:spPr>
      </p:pic>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6400" y="6401687"/>
            <a:ext cx="1409595" cy="419180"/>
          </a:xfrm>
          <a:prstGeom prst="rect">
            <a:avLst/>
          </a:prstGeom>
        </p:spPr>
      </p:pic>
    </p:spTree>
    <p:extLst>
      <p:ext uri="{BB962C8B-B14F-4D97-AF65-F5344CB8AC3E}">
        <p14:creationId xmlns:p14="http://schemas.microsoft.com/office/powerpoint/2010/main" val="20798202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cSld name="Section_Title">
    <p:bg>
      <p:bgPr>
        <a:solidFill>
          <a:srgbClr val="F0F0F0"/>
        </a:solidFill>
        <a:effectLst/>
      </p:bgPr>
    </p:bg>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272961" y="577804"/>
            <a:ext cx="9363600" cy="781602"/>
          </a:xfrm>
          <a:prstGeom prst="rect">
            <a:avLst/>
          </a:prstGeom>
          <a:noFill/>
        </p:spPr>
        <p:txBody>
          <a:bodyPr anchor="b" anchorCtr="0"/>
          <a:lstStyle>
            <a:lvl1pPr algn="l">
              <a:defRPr sz="3200" b="0" cap="none" baseline="0">
                <a:solidFill>
                  <a:schemeClr val="tx1"/>
                </a:solidFill>
              </a:defRPr>
            </a:lvl1pPr>
          </a:lstStyle>
          <a:p>
            <a:r>
              <a:rPr lang="en-US" dirty="0"/>
              <a:t>[Section title]</a:t>
            </a:r>
          </a:p>
        </p:txBody>
      </p:sp>
      <p:pic>
        <p:nvPicPr>
          <p:cNvPr id="7" name="Picture 6">
            <a:extLst>
              <a:ext uri="{FF2B5EF4-FFF2-40B4-BE49-F238E27FC236}">
                <a16:creationId xmlns:a16="http://schemas.microsoft.com/office/drawing/2014/main" id="{18E79752-B1F1-7346-A6DB-8BF8980F8859}"/>
              </a:ext>
            </a:extLst>
          </p:cNvPr>
          <p:cNvPicPr>
            <a:picLocks noChangeAspect="1"/>
          </p:cNvPicPr>
          <p:nvPr/>
        </p:nvPicPr>
        <p:blipFill rotWithShape="1">
          <a:blip r:embed="rId2"/>
          <a:srcRect b="68122"/>
          <a:stretch/>
        </p:blipFill>
        <p:spPr>
          <a:xfrm>
            <a:off x="6407090" y="4989214"/>
            <a:ext cx="2529591" cy="683300"/>
          </a:xfrm>
          <a:prstGeom prst="rect">
            <a:avLst/>
          </a:prstGeom>
        </p:spPr>
      </p:pic>
      <p:sp>
        <p:nvSpPr>
          <p:cNvPr id="10" name="Rectangle 9">
            <a:extLst>
              <a:ext uri="{FF2B5EF4-FFF2-40B4-BE49-F238E27FC236}">
                <a16:creationId xmlns:a16="http://schemas.microsoft.com/office/drawing/2014/main" id="{E23D178B-7CD3-384F-B8E0-9BAFA865C639}"/>
              </a:ext>
            </a:extLst>
          </p:cNvPr>
          <p:cNvSpPr/>
          <p:nvPr/>
        </p:nvSpPr>
        <p:spPr>
          <a:xfrm>
            <a:off x="8412826" y="1712038"/>
            <a:ext cx="470593" cy="1707131"/>
          </a:xfrm>
          <a:prstGeom prst="rect">
            <a:avLst/>
          </a:prstGeom>
          <a:gradFill flip="none" rotWithShape="1">
            <a:gsLst>
              <a:gs pos="0">
                <a:schemeClr val="accent2"/>
              </a:gs>
              <a:gs pos="100000">
                <a:schemeClr val="accent2">
                  <a:alpha val="2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169"/>
              </a:spcBef>
            </a:pPr>
            <a:endParaRPr lang="en-US" sz="788" dirty="0" err="1"/>
          </a:p>
        </p:txBody>
      </p:sp>
      <p:pic>
        <p:nvPicPr>
          <p:cNvPr id="11" name="Picture 10">
            <a:extLst>
              <a:ext uri="{FF2B5EF4-FFF2-40B4-BE49-F238E27FC236}">
                <a16:creationId xmlns:a16="http://schemas.microsoft.com/office/drawing/2014/main" id="{91DA104C-489B-5645-A6BD-2AECCE933518}"/>
              </a:ext>
            </a:extLst>
          </p:cNvPr>
          <p:cNvPicPr>
            <a:picLocks noChangeAspect="1"/>
          </p:cNvPicPr>
          <p:nvPr/>
        </p:nvPicPr>
        <p:blipFill>
          <a:blip r:embed="rId3"/>
          <a:stretch>
            <a:fillRect/>
          </a:stretch>
        </p:blipFill>
        <p:spPr>
          <a:xfrm>
            <a:off x="8412826" y="1604647"/>
            <a:ext cx="470593" cy="108599"/>
          </a:xfrm>
          <a:prstGeom prst="rect">
            <a:avLst/>
          </a:prstGeom>
        </p:spPr>
      </p:pic>
      <p:sp>
        <p:nvSpPr>
          <p:cNvPr id="12" name="Rectangle 11">
            <a:extLst>
              <a:ext uri="{FF2B5EF4-FFF2-40B4-BE49-F238E27FC236}">
                <a16:creationId xmlns:a16="http://schemas.microsoft.com/office/drawing/2014/main" id="{149CDAD4-8CD1-C94B-A9CC-8046006859AC}"/>
              </a:ext>
            </a:extLst>
          </p:cNvPr>
          <p:cNvSpPr/>
          <p:nvPr/>
        </p:nvSpPr>
        <p:spPr>
          <a:xfrm>
            <a:off x="0" y="1994400"/>
            <a:ext cx="8591489" cy="428380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169"/>
              </a:spcBef>
            </a:pPr>
            <a:endParaRPr lang="en-US" sz="788" dirty="0" err="1"/>
          </a:p>
        </p:txBody>
      </p:sp>
      <p:pic>
        <p:nvPicPr>
          <p:cNvPr id="13" name="Picture 12">
            <a:extLst>
              <a:ext uri="{FF2B5EF4-FFF2-40B4-BE49-F238E27FC236}">
                <a16:creationId xmlns:a16="http://schemas.microsoft.com/office/drawing/2014/main" id="{8C786DED-EF6A-7142-AF1D-FFA8171EAB26}"/>
              </a:ext>
            </a:extLst>
          </p:cNvPr>
          <p:cNvPicPr>
            <a:picLocks noChangeAspect="1"/>
          </p:cNvPicPr>
          <p:nvPr/>
        </p:nvPicPr>
        <p:blipFill>
          <a:blip r:embed="rId3"/>
          <a:stretch>
            <a:fillRect/>
          </a:stretch>
        </p:blipFill>
        <p:spPr>
          <a:xfrm flipH="1" flipV="1">
            <a:off x="11216640" y="1"/>
            <a:ext cx="975360" cy="225084"/>
          </a:xfrm>
          <a:prstGeom prst="rect">
            <a:avLst/>
          </a:prstGeom>
        </p:spPr>
      </p:pic>
      <p:sp>
        <p:nvSpPr>
          <p:cNvPr id="14" name="Rectangle 13">
            <a:extLst>
              <a:ext uri="{FF2B5EF4-FFF2-40B4-BE49-F238E27FC236}">
                <a16:creationId xmlns:a16="http://schemas.microsoft.com/office/drawing/2014/main" id="{935F58C8-3EB0-EB45-B464-FCA88D948883}"/>
              </a:ext>
            </a:extLst>
          </p:cNvPr>
          <p:cNvSpPr/>
          <p:nvPr/>
        </p:nvSpPr>
        <p:spPr>
          <a:xfrm>
            <a:off x="10008681" y="3887404"/>
            <a:ext cx="172209" cy="2970605"/>
          </a:xfrm>
          <a:prstGeom prst="rect">
            <a:avLst/>
          </a:prstGeom>
          <a:solidFill>
            <a:schemeClr val="tx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169"/>
              </a:spcBef>
            </a:pPr>
            <a:endParaRPr lang="en-US" sz="788" dirty="0" err="1"/>
          </a:p>
        </p:txBody>
      </p:sp>
      <p:sp>
        <p:nvSpPr>
          <p:cNvPr id="15" name="Rectangle 14">
            <a:extLst>
              <a:ext uri="{FF2B5EF4-FFF2-40B4-BE49-F238E27FC236}">
                <a16:creationId xmlns:a16="http://schemas.microsoft.com/office/drawing/2014/main" id="{AFA58B45-CD47-534B-838F-BE5D87737B80}"/>
              </a:ext>
            </a:extLst>
          </p:cNvPr>
          <p:cNvSpPr/>
          <p:nvPr/>
        </p:nvSpPr>
        <p:spPr>
          <a:xfrm>
            <a:off x="11181289" y="2103609"/>
            <a:ext cx="1010715" cy="3057195"/>
          </a:xfrm>
          <a:prstGeom prst="rect">
            <a:avLst/>
          </a:prstGeom>
          <a:solidFill>
            <a:schemeClr val="tx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169"/>
              </a:spcBef>
            </a:pPr>
            <a:endParaRPr lang="en-US" sz="788" dirty="0" err="1"/>
          </a:p>
        </p:txBody>
      </p:sp>
      <p:sp>
        <p:nvSpPr>
          <p:cNvPr id="16" name="Rectangle 15">
            <a:extLst>
              <a:ext uri="{FF2B5EF4-FFF2-40B4-BE49-F238E27FC236}">
                <a16:creationId xmlns:a16="http://schemas.microsoft.com/office/drawing/2014/main" id="{FA3A8348-31F9-7E4E-9FCE-3EC03B020C2A}"/>
              </a:ext>
            </a:extLst>
          </p:cNvPr>
          <p:cNvSpPr/>
          <p:nvPr/>
        </p:nvSpPr>
        <p:spPr>
          <a:xfrm>
            <a:off x="9661931" y="225090"/>
            <a:ext cx="518957" cy="1497691"/>
          </a:xfrm>
          <a:prstGeom prst="rect">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169"/>
              </a:spcBef>
            </a:pPr>
            <a:endParaRPr lang="en-US" sz="788" dirty="0" err="1"/>
          </a:p>
        </p:txBody>
      </p:sp>
      <p:sp>
        <p:nvSpPr>
          <p:cNvPr id="20" name="Rectangle 26">
            <a:extLst>
              <a:ext uri="{FF2B5EF4-FFF2-40B4-BE49-F238E27FC236}">
                <a16:creationId xmlns:a16="http://schemas.microsoft.com/office/drawing/2014/main" id="{B5346728-1A43-46F3-94F0-8646875C0BA6}"/>
              </a:ext>
            </a:extLst>
          </p:cNvPr>
          <p:cNvSpPr>
            <a:spLocks noChangeArrowheads="1"/>
          </p:cNvSpPr>
          <p:nvPr/>
        </p:nvSpPr>
        <p:spPr bwMode="black">
          <a:xfrm>
            <a:off x="11570077" y="6483142"/>
            <a:ext cx="372187" cy="276985"/>
          </a:xfrm>
          <a:prstGeom prst="rect">
            <a:avLst/>
          </a:prstGeom>
        </p:spPr>
        <p:txBody>
          <a:bodyPr/>
          <a:lstStyle/>
          <a:p>
            <a:pPr lvl="0" algn="r"/>
            <a:fld id="{5266C0E3-FCB2-4D10-9980-6DFC0D8FABCB}" type="slidenum">
              <a:rPr lang="en-US" sz="1100">
                <a:solidFill>
                  <a:srgbClr val="FF0000"/>
                </a:solidFill>
              </a:rPr>
              <a:pPr lvl="0" algn="r"/>
              <a:t>‹#›</a:t>
            </a:fld>
            <a:endParaRPr lang="en-US" sz="1100" dirty="0">
              <a:solidFill>
                <a:srgbClr val="FF0000"/>
              </a:solidFill>
            </a:endParaRPr>
          </a:p>
        </p:txBody>
      </p:sp>
      <p:sp>
        <p:nvSpPr>
          <p:cNvPr id="9" name="Objectives list"/>
          <p:cNvSpPr>
            <a:spLocks noGrp="1"/>
          </p:cNvSpPr>
          <p:nvPr>
            <p:ph type="body" sz="quarter" idx="11" hasCustomPrompt="1"/>
          </p:nvPr>
        </p:nvSpPr>
        <p:spPr>
          <a:xfrm>
            <a:off x="272961" y="2624400"/>
            <a:ext cx="8319600" cy="3654000"/>
          </a:xfrm>
          <a:prstGeom prst="rect">
            <a:avLst/>
          </a:prstGeom>
        </p:spPr>
        <p:txBody>
          <a:bodyPr>
            <a:normAutofit/>
          </a:bodyPr>
          <a:lstStyle>
            <a:lvl1pPr>
              <a:defRPr sz="2200"/>
            </a:lvl1pPr>
          </a:lstStyle>
          <a:p>
            <a:pPr lvl="0"/>
            <a:r>
              <a:rPr lang="en-US" dirty="0"/>
              <a:t>[Objective]</a:t>
            </a:r>
          </a:p>
          <a:p>
            <a:pPr lvl="0"/>
            <a:r>
              <a:rPr lang="en-US" dirty="0"/>
              <a:t>[Objective]</a:t>
            </a:r>
          </a:p>
          <a:p>
            <a:pPr lvl="0"/>
            <a:r>
              <a:rPr lang="en-US" dirty="0"/>
              <a:t>[Objective]</a:t>
            </a:r>
          </a:p>
        </p:txBody>
      </p:sp>
      <p:sp>
        <p:nvSpPr>
          <p:cNvPr id="6" name="Objectives title"/>
          <p:cNvSpPr txBox="1"/>
          <p:nvPr/>
        </p:nvSpPr>
        <p:spPr>
          <a:xfrm>
            <a:off x="273600" y="2005200"/>
            <a:ext cx="10803600" cy="523220"/>
          </a:xfrm>
          <a:prstGeom prst="rect">
            <a:avLst/>
          </a:prstGeom>
          <a:noFill/>
        </p:spPr>
        <p:txBody>
          <a:bodyPr wrap="square" rtlCol="0">
            <a:spAutoFit/>
          </a:bodyPr>
          <a:lstStyle/>
          <a:p>
            <a:r>
              <a:rPr lang="en-CA" sz="2800" b="1" dirty="0"/>
              <a:t>Objectives</a:t>
            </a:r>
          </a:p>
        </p:txBody>
      </p:sp>
      <p:pic>
        <p:nvPicPr>
          <p:cNvPr id="18" name="Picture 1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6400" y="6401687"/>
            <a:ext cx="1409595" cy="419180"/>
          </a:xfrm>
          <a:prstGeom prst="rect">
            <a:avLst/>
          </a:prstGeom>
        </p:spPr>
      </p:pic>
    </p:spTree>
    <p:extLst>
      <p:ext uri="{BB962C8B-B14F-4D97-AF65-F5344CB8AC3E}">
        <p14:creationId xmlns:p14="http://schemas.microsoft.com/office/powerpoint/2010/main" val="22074022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cSld name="NSE7_Section_Title">
    <p:bg>
      <p:bgPr>
        <a:solidFill>
          <a:srgbClr val="F0F0F0"/>
        </a:solidFill>
        <a:effectLst/>
      </p:bgPr>
    </p:bg>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18E79752-B1F1-7346-A6DB-8BF8980F8859}"/>
              </a:ext>
            </a:extLst>
          </p:cNvPr>
          <p:cNvPicPr>
            <a:picLocks noChangeAspect="1"/>
          </p:cNvPicPr>
          <p:nvPr/>
        </p:nvPicPr>
        <p:blipFill rotWithShape="1">
          <a:blip r:embed="rId2"/>
          <a:srcRect b="68122"/>
          <a:stretch/>
        </p:blipFill>
        <p:spPr>
          <a:xfrm>
            <a:off x="6407090" y="4989214"/>
            <a:ext cx="2529591" cy="683300"/>
          </a:xfrm>
          <a:prstGeom prst="rect">
            <a:avLst/>
          </a:prstGeom>
        </p:spPr>
      </p:pic>
      <p:sp>
        <p:nvSpPr>
          <p:cNvPr id="18" name="Rectangle 17">
            <a:extLst>
              <a:ext uri="{FF2B5EF4-FFF2-40B4-BE49-F238E27FC236}">
                <a16:creationId xmlns:a16="http://schemas.microsoft.com/office/drawing/2014/main" id="{E23D178B-7CD3-384F-B8E0-9BAFA865C639}"/>
              </a:ext>
            </a:extLst>
          </p:cNvPr>
          <p:cNvSpPr/>
          <p:nvPr/>
        </p:nvSpPr>
        <p:spPr>
          <a:xfrm>
            <a:off x="8412826" y="1712038"/>
            <a:ext cx="470593" cy="1707131"/>
          </a:xfrm>
          <a:prstGeom prst="rect">
            <a:avLst/>
          </a:prstGeom>
          <a:gradFill flip="none" rotWithShape="1">
            <a:gsLst>
              <a:gs pos="0">
                <a:schemeClr val="accent2"/>
              </a:gs>
              <a:gs pos="100000">
                <a:schemeClr val="accent2">
                  <a:alpha val="2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169"/>
              </a:spcBef>
            </a:pPr>
            <a:endParaRPr lang="en-US" sz="788" dirty="0" err="1"/>
          </a:p>
        </p:txBody>
      </p:sp>
      <p:pic>
        <p:nvPicPr>
          <p:cNvPr id="19" name="Picture 18">
            <a:extLst>
              <a:ext uri="{FF2B5EF4-FFF2-40B4-BE49-F238E27FC236}">
                <a16:creationId xmlns:a16="http://schemas.microsoft.com/office/drawing/2014/main" id="{91DA104C-489B-5645-A6BD-2AECCE933518}"/>
              </a:ext>
            </a:extLst>
          </p:cNvPr>
          <p:cNvPicPr>
            <a:picLocks noChangeAspect="1"/>
          </p:cNvPicPr>
          <p:nvPr/>
        </p:nvPicPr>
        <p:blipFill>
          <a:blip r:embed="rId3"/>
          <a:stretch>
            <a:fillRect/>
          </a:stretch>
        </p:blipFill>
        <p:spPr>
          <a:xfrm>
            <a:off x="8412826" y="1604647"/>
            <a:ext cx="470593" cy="108599"/>
          </a:xfrm>
          <a:prstGeom prst="rect">
            <a:avLst/>
          </a:prstGeom>
        </p:spPr>
      </p:pic>
      <p:sp>
        <p:nvSpPr>
          <p:cNvPr id="20" name="Rectangle 19">
            <a:extLst>
              <a:ext uri="{FF2B5EF4-FFF2-40B4-BE49-F238E27FC236}">
                <a16:creationId xmlns:a16="http://schemas.microsoft.com/office/drawing/2014/main" id="{149CDAD4-8CD1-C94B-A9CC-8046006859AC}"/>
              </a:ext>
            </a:extLst>
          </p:cNvPr>
          <p:cNvSpPr/>
          <p:nvPr/>
        </p:nvSpPr>
        <p:spPr>
          <a:xfrm>
            <a:off x="-1" y="1993900"/>
            <a:ext cx="8591489" cy="428380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169"/>
              </a:spcBef>
            </a:pPr>
            <a:endParaRPr lang="en-US" sz="788" dirty="0" err="1"/>
          </a:p>
        </p:txBody>
      </p:sp>
      <p:pic>
        <p:nvPicPr>
          <p:cNvPr id="21" name="Picture 20">
            <a:extLst>
              <a:ext uri="{FF2B5EF4-FFF2-40B4-BE49-F238E27FC236}">
                <a16:creationId xmlns:a16="http://schemas.microsoft.com/office/drawing/2014/main" id="{8C786DED-EF6A-7142-AF1D-FFA8171EAB26}"/>
              </a:ext>
            </a:extLst>
          </p:cNvPr>
          <p:cNvPicPr>
            <a:picLocks noChangeAspect="1"/>
          </p:cNvPicPr>
          <p:nvPr/>
        </p:nvPicPr>
        <p:blipFill>
          <a:blip r:embed="rId3"/>
          <a:stretch>
            <a:fillRect/>
          </a:stretch>
        </p:blipFill>
        <p:spPr>
          <a:xfrm flipH="1" flipV="1">
            <a:off x="11216640" y="1"/>
            <a:ext cx="975360" cy="225084"/>
          </a:xfrm>
          <a:prstGeom prst="rect">
            <a:avLst/>
          </a:prstGeom>
        </p:spPr>
      </p:pic>
      <p:sp>
        <p:nvSpPr>
          <p:cNvPr id="22" name="Rectangle 21">
            <a:extLst>
              <a:ext uri="{FF2B5EF4-FFF2-40B4-BE49-F238E27FC236}">
                <a16:creationId xmlns:a16="http://schemas.microsoft.com/office/drawing/2014/main" id="{935F58C8-3EB0-EB45-B464-FCA88D948883}"/>
              </a:ext>
            </a:extLst>
          </p:cNvPr>
          <p:cNvSpPr/>
          <p:nvPr/>
        </p:nvSpPr>
        <p:spPr>
          <a:xfrm>
            <a:off x="10008681" y="3887404"/>
            <a:ext cx="172209" cy="2970605"/>
          </a:xfrm>
          <a:prstGeom prst="rect">
            <a:avLst/>
          </a:prstGeom>
          <a:solidFill>
            <a:schemeClr val="tx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169"/>
              </a:spcBef>
            </a:pPr>
            <a:endParaRPr lang="en-US" sz="788" dirty="0" err="1"/>
          </a:p>
        </p:txBody>
      </p:sp>
      <p:sp>
        <p:nvSpPr>
          <p:cNvPr id="23" name="Rectangle 22">
            <a:extLst>
              <a:ext uri="{FF2B5EF4-FFF2-40B4-BE49-F238E27FC236}">
                <a16:creationId xmlns:a16="http://schemas.microsoft.com/office/drawing/2014/main" id="{AFA58B45-CD47-534B-838F-BE5D87737B80}"/>
              </a:ext>
            </a:extLst>
          </p:cNvPr>
          <p:cNvSpPr/>
          <p:nvPr/>
        </p:nvSpPr>
        <p:spPr>
          <a:xfrm>
            <a:off x="11181289" y="2103609"/>
            <a:ext cx="1010715" cy="3057195"/>
          </a:xfrm>
          <a:prstGeom prst="rect">
            <a:avLst/>
          </a:prstGeom>
          <a:solidFill>
            <a:schemeClr val="tx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169"/>
              </a:spcBef>
            </a:pPr>
            <a:endParaRPr lang="en-US" sz="788" dirty="0" err="1"/>
          </a:p>
        </p:txBody>
      </p:sp>
      <p:sp>
        <p:nvSpPr>
          <p:cNvPr id="24" name="Rectangle 23">
            <a:extLst>
              <a:ext uri="{FF2B5EF4-FFF2-40B4-BE49-F238E27FC236}">
                <a16:creationId xmlns:a16="http://schemas.microsoft.com/office/drawing/2014/main" id="{FA3A8348-31F9-7E4E-9FCE-3EC03B020C2A}"/>
              </a:ext>
            </a:extLst>
          </p:cNvPr>
          <p:cNvSpPr/>
          <p:nvPr/>
        </p:nvSpPr>
        <p:spPr>
          <a:xfrm>
            <a:off x="9661931" y="225090"/>
            <a:ext cx="518957" cy="1497691"/>
          </a:xfrm>
          <a:prstGeom prst="rect">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169"/>
              </a:spcBef>
            </a:pPr>
            <a:endParaRPr lang="en-US" sz="788" dirty="0" err="1"/>
          </a:p>
        </p:txBody>
      </p:sp>
      <p:sp>
        <p:nvSpPr>
          <p:cNvPr id="26" name="Rectangle 26">
            <a:extLst>
              <a:ext uri="{FF2B5EF4-FFF2-40B4-BE49-F238E27FC236}">
                <a16:creationId xmlns:a16="http://schemas.microsoft.com/office/drawing/2014/main" id="{B5346728-1A43-46F3-94F0-8646875C0BA6}"/>
              </a:ext>
            </a:extLst>
          </p:cNvPr>
          <p:cNvSpPr>
            <a:spLocks noChangeArrowheads="1"/>
          </p:cNvSpPr>
          <p:nvPr/>
        </p:nvSpPr>
        <p:spPr bwMode="black">
          <a:xfrm>
            <a:off x="11570077" y="6483142"/>
            <a:ext cx="372187" cy="276985"/>
          </a:xfrm>
          <a:prstGeom prst="rect">
            <a:avLst/>
          </a:prstGeom>
        </p:spPr>
        <p:txBody>
          <a:bodyPr/>
          <a:lstStyle/>
          <a:p>
            <a:pPr lvl="0" algn="r"/>
            <a:fld id="{5266C0E3-FCB2-4D10-9980-6DFC0D8FABCB}" type="slidenum">
              <a:rPr lang="en-US" sz="1100">
                <a:solidFill>
                  <a:srgbClr val="FF0000"/>
                </a:solidFill>
              </a:rPr>
              <a:pPr lvl="0" algn="r"/>
              <a:t>‹#›</a:t>
            </a:fld>
            <a:endParaRPr lang="en-US" sz="1100" dirty="0">
              <a:solidFill>
                <a:srgbClr val="FF0000"/>
              </a:solidFill>
            </a:endParaRPr>
          </a:p>
        </p:txBody>
      </p:sp>
      <p:sp>
        <p:nvSpPr>
          <p:cNvPr id="8" name="Title 1"/>
          <p:cNvSpPr>
            <a:spLocks noGrp="1"/>
          </p:cNvSpPr>
          <p:nvPr>
            <p:ph type="title" hasCustomPrompt="1"/>
          </p:nvPr>
        </p:nvSpPr>
        <p:spPr>
          <a:xfrm>
            <a:off x="97200" y="2696400"/>
            <a:ext cx="8496000" cy="900000"/>
          </a:xfrm>
          <a:prstGeom prst="rect">
            <a:avLst/>
          </a:prstGeom>
          <a:noFill/>
        </p:spPr>
        <p:txBody>
          <a:bodyPr anchor="b" anchorCtr="0"/>
          <a:lstStyle>
            <a:lvl1pPr algn="l">
              <a:defRPr sz="3200" b="0" cap="none" baseline="0">
                <a:solidFill>
                  <a:schemeClr val="tx1"/>
                </a:solidFill>
              </a:defRPr>
            </a:lvl1pPr>
          </a:lstStyle>
          <a:p>
            <a:r>
              <a:rPr lang="en-US" dirty="0"/>
              <a:t>[Section title]</a:t>
            </a:r>
          </a:p>
        </p:txBody>
      </p:sp>
      <p:pic>
        <p:nvPicPr>
          <p:cNvPr id="13" name="Picture 1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6400" y="6401687"/>
            <a:ext cx="1409595" cy="419180"/>
          </a:xfrm>
          <a:prstGeom prst="rect">
            <a:avLst/>
          </a:prstGeom>
        </p:spPr>
      </p:pic>
    </p:spTree>
    <p:extLst>
      <p:ext uri="{BB962C8B-B14F-4D97-AF65-F5344CB8AC3E}">
        <p14:creationId xmlns:p14="http://schemas.microsoft.com/office/powerpoint/2010/main" val="15761618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Blank Whit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66400" y="273600"/>
            <a:ext cx="10836000" cy="748800"/>
          </a:xfrm>
          <a:prstGeom prst="rect">
            <a:avLst/>
          </a:prstGeom>
        </p:spPr>
        <p:txBody>
          <a:bodyPr>
            <a:normAutofit/>
          </a:bodyPr>
          <a:lstStyle>
            <a:lvl1pPr algn="l" defTabSz="914240" rtl="0" eaLnBrk="1" latinLnBrk="0" hangingPunct="1">
              <a:lnSpc>
                <a:spcPct val="94000"/>
              </a:lnSpc>
              <a:spcBef>
                <a:spcPct val="0"/>
              </a:spcBef>
              <a:buNone/>
              <a:defRPr lang="en-US" sz="3600" b="0" kern="1200" dirty="0">
                <a:solidFill>
                  <a:schemeClr val="tx1"/>
                </a:solidFill>
                <a:latin typeface="+mj-lt"/>
                <a:ea typeface="+mj-ea"/>
                <a:cs typeface="+mj-cs"/>
              </a:defRPr>
            </a:lvl1pPr>
          </a:lstStyle>
          <a:p>
            <a:r>
              <a:rPr lang="en-US" dirty="0"/>
              <a:t>Click to add title</a:t>
            </a:r>
          </a:p>
        </p:txBody>
      </p:sp>
    </p:spTree>
    <p:extLst>
      <p:ext uri="{BB962C8B-B14F-4D97-AF65-F5344CB8AC3E}">
        <p14:creationId xmlns:p14="http://schemas.microsoft.com/office/powerpoint/2010/main" val="1475647445"/>
      </p:ext>
    </p:extLst>
  </p:cSld>
  <p:clrMapOvr>
    <a:masterClrMapping/>
  </p:clrMapOvr>
  <p:transition spd="slow">
    <p:wip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Text on White">
    <p:spTree>
      <p:nvGrpSpPr>
        <p:cNvPr id="1" name=""/>
        <p:cNvGrpSpPr/>
        <p:nvPr/>
      </p:nvGrpSpPr>
      <p:grpSpPr>
        <a:xfrm>
          <a:off x="0" y="0"/>
          <a:ext cx="0" cy="0"/>
          <a:chOff x="0" y="0"/>
          <a:chExt cx="0" cy="0"/>
        </a:xfrm>
      </p:grpSpPr>
      <p:sp>
        <p:nvSpPr>
          <p:cNvPr id="4" name="Title 1"/>
          <p:cNvSpPr>
            <a:spLocks noGrp="1"/>
          </p:cNvSpPr>
          <p:nvPr>
            <p:ph type="title" hasCustomPrompt="1"/>
          </p:nvPr>
        </p:nvSpPr>
        <p:spPr>
          <a:xfrm>
            <a:off x="266400" y="273600"/>
            <a:ext cx="10835325" cy="748800"/>
          </a:xfrm>
          <a:prstGeom prst="rect">
            <a:avLst/>
          </a:prstGeom>
        </p:spPr>
        <p:txBody>
          <a:bodyPr>
            <a:normAutofit/>
          </a:bodyPr>
          <a:lstStyle>
            <a:lvl1pPr algn="l" defTabSz="914240" rtl="0" eaLnBrk="1" latinLnBrk="0" hangingPunct="1">
              <a:lnSpc>
                <a:spcPct val="94000"/>
              </a:lnSpc>
              <a:spcBef>
                <a:spcPct val="0"/>
              </a:spcBef>
              <a:buNone/>
              <a:defRPr lang="en-US" sz="3600" kern="1200" dirty="0">
                <a:solidFill>
                  <a:schemeClr val="tx1"/>
                </a:solidFill>
                <a:latin typeface="+mj-lt"/>
                <a:ea typeface="+mj-ea"/>
                <a:cs typeface="+mj-cs"/>
              </a:defRPr>
            </a:lvl1pPr>
          </a:lstStyle>
          <a:p>
            <a:r>
              <a:rPr lang="en-US" dirty="0"/>
              <a:t>Click to add title</a:t>
            </a:r>
          </a:p>
        </p:txBody>
      </p:sp>
      <p:sp>
        <p:nvSpPr>
          <p:cNvPr id="5" name="Content Placeholder 2"/>
          <p:cNvSpPr>
            <a:spLocks noGrp="1"/>
          </p:cNvSpPr>
          <p:nvPr>
            <p:ph idx="1" hasCustomPrompt="1"/>
          </p:nvPr>
        </p:nvSpPr>
        <p:spPr>
          <a:xfrm>
            <a:off x="266399" y="972000"/>
            <a:ext cx="11375703" cy="5338800"/>
          </a:xfrm>
          <a:prstGeom prst="rect">
            <a:avLst/>
          </a:prstGeom>
        </p:spPr>
        <p:txBody>
          <a:bodyPr/>
          <a:lstStyle>
            <a:lvl1pPr>
              <a:buClr>
                <a:schemeClr val="accent6"/>
              </a:buClr>
              <a:defRPr sz="2200"/>
            </a:lvl1pPr>
            <a:lvl2pPr>
              <a:buClr>
                <a:schemeClr val="accent6"/>
              </a:buClr>
              <a:defRPr sz="1800"/>
            </a:lvl2pPr>
            <a:lvl3pPr>
              <a:buClr>
                <a:schemeClr val="accent6"/>
              </a:buClr>
              <a:defRPr sz="1600"/>
            </a:lvl3pPr>
            <a:lvl4pPr>
              <a:buClr>
                <a:schemeClr val="accent6"/>
              </a:buClr>
              <a:defRPr sz="1400"/>
            </a:lvl4pPr>
            <a:lvl5pPr marL="814388" marR="0" indent="0" algn="l" defTabSz="685800" rtl="0" eaLnBrk="1" fontAlgn="base" latinLnBrk="0" hangingPunct="1">
              <a:lnSpc>
                <a:spcPct val="110000"/>
              </a:lnSpc>
              <a:spcBef>
                <a:spcPct val="20000"/>
              </a:spcBef>
              <a:spcAft>
                <a:spcPct val="0"/>
              </a:spcAft>
              <a:buClr>
                <a:srgbClr val="D81E05"/>
              </a:buClr>
              <a:buSzTx/>
              <a:buFont typeface="Arial"/>
              <a:buNone/>
              <a:tabLst/>
              <a:defRPr sz="1600"/>
            </a:lvl5pPr>
          </a:lstStyle>
          <a:p>
            <a:pPr lvl="0"/>
            <a:r>
              <a:rPr lang="en-US" dirty="0"/>
              <a:t>Click to add text</a:t>
            </a:r>
            <a:endParaRPr kumimoji="0" lang="en-US" sz="1200" b="0" i="1" u="none" strike="noStrike" kern="0" cap="none" spc="0" normalizeH="0" baseline="0" noProof="0" dirty="0">
              <a:ln>
                <a:noFill/>
              </a:ln>
              <a:solidFill>
                <a:prstClr val="white">
                  <a:lumMod val="50000"/>
                </a:prstClr>
              </a:solidFill>
              <a:effectLst/>
              <a:uLnTx/>
              <a:uFillTx/>
              <a:latin typeface="+mn-lt"/>
              <a:ea typeface="Arial Unicode MS"/>
              <a:cs typeface="Arial"/>
            </a:endParaRPr>
          </a:p>
        </p:txBody>
      </p:sp>
    </p:spTree>
    <p:extLst>
      <p:ext uri="{BB962C8B-B14F-4D97-AF65-F5344CB8AC3E}">
        <p14:creationId xmlns:p14="http://schemas.microsoft.com/office/powerpoint/2010/main" val="931057951"/>
      </p:ext>
    </p:extLst>
  </p:cSld>
  <p:clrMapOvr>
    <a:masterClrMapping/>
  </p:clrMapOvr>
  <p:transition spd="slow">
    <p:wip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Two Colum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66400" y="273600"/>
            <a:ext cx="10835325" cy="748800"/>
          </a:xfrm>
          <a:prstGeom prst="rect">
            <a:avLst/>
          </a:prstGeom>
        </p:spPr>
        <p:txBody>
          <a:bodyPr>
            <a:normAutofit/>
          </a:bodyPr>
          <a:lstStyle>
            <a:lvl1pPr algn="l" defTabSz="914240" rtl="0" eaLnBrk="1" latinLnBrk="0" hangingPunct="1">
              <a:lnSpc>
                <a:spcPct val="94000"/>
              </a:lnSpc>
              <a:spcBef>
                <a:spcPct val="0"/>
              </a:spcBef>
              <a:buNone/>
              <a:defRPr lang="en-US" sz="3600" kern="1200" dirty="0">
                <a:solidFill>
                  <a:schemeClr val="tx1"/>
                </a:solidFill>
                <a:latin typeface="+mj-lt"/>
                <a:ea typeface="+mj-ea"/>
                <a:cs typeface="+mj-cs"/>
              </a:defRPr>
            </a:lvl1pPr>
          </a:lstStyle>
          <a:p>
            <a:r>
              <a:rPr lang="en-US" dirty="0"/>
              <a:t>Click to add title</a:t>
            </a:r>
          </a:p>
        </p:txBody>
      </p:sp>
      <p:sp>
        <p:nvSpPr>
          <p:cNvPr id="5" name="Content Placeholder 2"/>
          <p:cNvSpPr>
            <a:spLocks noGrp="1"/>
          </p:cNvSpPr>
          <p:nvPr>
            <p:ph idx="15" hasCustomPrompt="1"/>
          </p:nvPr>
        </p:nvSpPr>
        <p:spPr>
          <a:xfrm>
            <a:off x="266400" y="975600"/>
            <a:ext cx="5565600" cy="5338800"/>
          </a:xfrm>
          <a:prstGeom prst="rect">
            <a:avLst/>
          </a:prstGeom>
        </p:spPr>
        <p:txBody>
          <a:bodyPr/>
          <a:lstStyle>
            <a:lvl1pPr>
              <a:buClr>
                <a:schemeClr val="accent6"/>
              </a:buClr>
              <a:defRPr sz="2200"/>
            </a:lvl1pPr>
            <a:lvl2pPr>
              <a:buClr>
                <a:schemeClr val="accent6"/>
              </a:buClr>
              <a:defRPr sz="1800"/>
            </a:lvl2pPr>
            <a:lvl3pPr>
              <a:buClr>
                <a:schemeClr val="accent6"/>
              </a:buClr>
              <a:defRPr sz="1600"/>
            </a:lvl3pPr>
            <a:lvl4pPr>
              <a:buClr>
                <a:schemeClr val="accent6"/>
              </a:buClr>
              <a:defRPr sz="1400"/>
            </a:lvl4pPr>
            <a:lvl5pPr>
              <a:buClr>
                <a:schemeClr val="accent6"/>
              </a:buClr>
              <a:defRPr sz="1200"/>
            </a:lvl5pPr>
          </a:lstStyle>
          <a:p>
            <a:pPr lvl="0"/>
            <a:r>
              <a:rPr lang="en-US" dirty="0"/>
              <a:t>Click to add text</a:t>
            </a:r>
          </a:p>
        </p:txBody>
      </p:sp>
      <p:sp>
        <p:nvSpPr>
          <p:cNvPr id="6" name="Content Placeholder 2"/>
          <p:cNvSpPr>
            <a:spLocks noGrp="1"/>
          </p:cNvSpPr>
          <p:nvPr>
            <p:ph idx="16" hasCustomPrompt="1"/>
          </p:nvPr>
        </p:nvSpPr>
        <p:spPr>
          <a:xfrm>
            <a:off x="6073200" y="975600"/>
            <a:ext cx="5565600" cy="5338800"/>
          </a:xfrm>
          <a:prstGeom prst="rect">
            <a:avLst/>
          </a:prstGeom>
        </p:spPr>
        <p:txBody>
          <a:bodyPr/>
          <a:lstStyle>
            <a:lvl1pPr>
              <a:buClr>
                <a:schemeClr val="accent6"/>
              </a:buClr>
              <a:defRPr sz="2200"/>
            </a:lvl1pPr>
            <a:lvl2pPr>
              <a:buClr>
                <a:schemeClr val="accent6"/>
              </a:buClr>
              <a:defRPr sz="1800"/>
            </a:lvl2pPr>
            <a:lvl3pPr>
              <a:buClr>
                <a:schemeClr val="accent6"/>
              </a:buClr>
              <a:defRPr sz="1600"/>
            </a:lvl3pPr>
            <a:lvl4pPr>
              <a:buClr>
                <a:schemeClr val="accent6"/>
              </a:buClr>
              <a:defRPr sz="1400"/>
            </a:lvl4pPr>
            <a:lvl5pPr>
              <a:buClr>
                <a:schemeClr val="accent6"/>
              </a:buClr>
              <a:defRPr sz="1200"/>
            </a:lvl5pPr>
          </a:lstStyle>
          <a:p>
            <a:pPr lvl="0"/>
            <a:r>
              <a:rPr lang="en-US" dirty="0"/>
              <a:t>Click to add text</a:t>
            </a:r>
          </a:p>
        </p:txBody>
      </p:sp>
    </p:spTree>
    <p:extLst>
      <p:ext uri="{BB962C8B-B14F-4D97-AF65-F5344CB8AC3E}">
        <p14:creationId xmlns:p14="http://schemas.microsoft.com/office/powerpoint/2010/main" val="3748764353"/>
      </p:ext>
    </p:extLst>
  </p:cSld>
  <p:clrMapOvr>
    <a:masterClrMapping/>
  </p:clrMapOvr>
  <p:transition spd="slow">
    <p:wip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Two Column w/ bottom">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66400" y="273600"/>
            <a:ext cx="10835325" cy="748800"/>
          </a:xfrm>
          <a:prstGeom prst="rect">
            <a:avLst/>
          </a:prstGeom>
        </p:spPr>
        <p:txBody>
          <a:bodyPr>
            <a:normAutofit/>
          </a:bodyPr>
          <a:lstStyle>
            <a:lvl1pPr algn="l" defTabSz="914240" rtl="0" eaLnBrk="1" latinLnBrk="0" hangingPunct="1">
              <a:lnSpc>
                <a:spcPct val="94000"/>
              </a:lnSpc>
              <a:spcBef>
                <a:spcPct val="0"/>
              </a:spcBef>
              <a:buNone/>
              <a:defRPr lang="en-US" sz="3600" kern="1200" dirty="0">
                <a:solidFill>
                  <a:schemeClr val="tx1"/>
                </a:solidFill>
                <a:latin typeface="+mj-lt"/>
                <a:ea typeface="+mj-ea"/>
                <a:cs typeface="+mj-cs"/>
              </a:defRPr>
            </a:lvl1pPr>
          </a:lstStyle>
          <a:p>
            <a:r>
              <a:rPr lang="en-US" dirty="0"/>
              <a:t>Click to add text</a:t>
            </a:r>
          </a:p>
        </p:txBody>
      </p:sp>
      <p:sp>
        <p:nvSpPr>
          <p:cNvPr id="5" name="Content Placeholder 2"/>
          <p:cNvSpPr>
            <a:spLocks noGrp="1"/>
          </p:cNvSpPr>
          <p:nvPr>
            <p:ph idx="15" hasCustomPrompt="1"/>
          </p:nvPr>
        </p:nvSpPr>
        <p:spPr>
          <a:xfrm>
            <a:off x="6070863" y="975600"/>
            <a:ext cx="5565600" cy="4620768"/>
          </a:xfrm>
          <a:prstGeom prst="rect">
            <a:avLst/>
          </a:prstGeom>
        </p:spPr>
        <p:txBody>
          <a:bodyPr/>
          <a:lstStyle>
            <a:lvl1pPr>
              <a:buClr>
                <a:schemeClr val="accent6"/>
              </a:buClr>
              <a:defRPr sz="2200" baseline="0"/>
            </a:lvl1pPr>
            <a:lvl2pPr>
              <a:buClr>
                <a:schemeClr val="accent6"/>
              </a:buClr>
              <a:defRPr sz="1800"/>
            </a:lvl2pPr>
            <a:lvl3pPr>
              <a:buClr>
                <a:schemeClr val="accent6"/>
              </a:buClr>
              <a:defRPr sz="1600"/>
            </a:lvl3pPr>
            <a:lvl4pPr>
              <a:buClr>
                <a:schemeClr val="accent6"/>
              </a:buClr>
              <a:defRPr sz="1400"/>
            </a:lvl4pPr>
            <a:lvl5pPr>
              <a:buClr>
                <a:schemeClr val="accent6"/>
              </a:buClr>
              <a:defRPr sz="1200"/>
            </a:lvl5pPr>
          </a:lstStyle>
          <a:p>
            <a:pPr lvl="0"/>
            <a:r>
              <a:rPr lang="en-US" dirty="0"/>
              <a:t>Click to add text</a:t>
            </a:r>
          </a:p>
        </p:txBody>
      </p:sp>
      <p:sp>
        <p:nvSpPr>
          <p:cNvPr id="6" name="Content Placeholder 2"/>
          <p:cNvSpPr>
            <a:spLocks noGrp="1"/>
          </p:cNvSpPr>
          <p:nvPr>
            <p:ph idx="16" hasCustomPrompt="1"/>
          </p:nvPr>
        </p:nvSpPr>
        <p:spPr>
          <a:xfrm>
            <a:off x="266400" y="5652000"/>
            <a:ext cx="11368800" cy="662400"/>
          </a:xfrm>
          <a:prstGeom prst="rect">
            <a:avLst/>
          </a:prstGeom>
        </p:spPr>
        <p:txBody>
          <a:bodyPr>
            <a:normAutofit/>
          </a:bodyPr>
          <a:lstStyle>
            <a:lvl1pPr marL="0" indent="0" algn="ctr">
              <a:buClr>
                <a:schemeClr val="accent6"/>
              </a:buClr>
              <a:buNone/>
              <a:defRPr sz="1800"/>
            </a:lvl1pPr>
            <a:lvl2pPr>
              <a:buClr>
                <a:schemeClr val="accent6"/>
              </a:buClr>
              <a:defRPr sz="1800"/>
            </a:lvl2pPr>
            <a:lvl3pPr>
              <a:buClr>
                <a:schemeClr val="accent6"/>
              </a:buClr>
              <a:defRPr sz="1600"/>
            </a:lvl3pPr>
            <a:lvl4pPr>
              <a:buClr>
                <a:schemeClr val="accent6"/>
              </a:buClr>
              <a:defRPr sz="1400"/>
            </a:lvl4pPr>
            <a:lvl5pPr>
              <a:buClr>
                <a:schemeClr val="accent6"/>
              </a:buClr>
              <a:defRPr sz="1200"/>
            </a:lvl5pPr>
          </a:lstStyle>
          <a:p>
            <a:pPr lvl="0"/>
            <a:r>
              <a:rPr lang="en-US" dirty="0"/>
              <a:t>Click to add text</a:t>
            </a:r>
          </a:p>
        </p:txBody>
      </p:sp>
      <p:sp>
        <p:nvSpPr>
          <p:cNvPr id="7" name="Content Placeholder 4"/>
          <p:cNvSpPr>
            <a:spLocks noGrp="1"/>
          </p:cNvSpPr>
          <p:nvPr>
            <p:ph sz="half" idx="13" hasCustomPrompt="1"/>
          </p:nvPr>
        </p:nvSpPr>
        <p:spPr>
          <a:xfrm>
            <a:off x="266399" y="975600"/>
            <a:ext cx="5565600" cy="4622400"/>
          </a:xfrm>
          <a:prstGeom prst="rect">
            <a:avLst/>
          </a:prstGeom>
        </p:spPr>
        <p:txBody>
          <a:bodyPr>
            <a:noAutofit/>
          </a:bodyPr>
          <a:lstStyle>
            <a:lvl1pPr marL="342900" indent="-342900" algn="l">
              <a:buFont typeface="Arial" panose="020B0604020202020204" pitchFamily="34" charset="0"/>
              <a:buChar char="•"/>
              <a:defRPr sz="2200" b="0" baseline="0"/>
            </a:lvl1pPr>
            <a:lvl2pPr>
              <a:defRPr sz="1800"/>
            </a:lvl2pPr>
            <a:lvl3pPr>
              <a:defRPr sz="1600"/>
            </a:lvl3pPr>
            <a:lvl4pPr>
              <a:defRPr sz="1400"/>
            </a:lvl4pPr>
            <a:lvl5pPr>
              <a:defRPr sz="1200"/>
            </a:lvl5pPr>
            <a:lvl6pPr>
              <a:defRPr sz="1350"/>
            </a:lvl6pPr>
            <a:lvl7pPr>
              <a:defRPr sz="1350"/>
            </a:lvl7pPr>
            <a:lvl8pPr>
              <a:defRPr sz="1350"/>
            </a:lvl8pPr>
            <a:lvl9pPr>
              <a:defRPr sz="1350"/>
            </a:lvl9pPr>
          </a:lstStyle>
          <a:p>
            <a:pPr lvl="0"/>
            <a:r>
              <a:rPr lang="en-US" dirty="0"/>
              <a:t>Click to add text</a:t>
            </a:r>
          </a:p>
        </p:txBody>
      </p:sp>
    </p:spTree>
    <p:extLst>
      <p:ext uri="{BB962C8B-B14F-4D97-AF65-F5344CB8AC3E}">
        <p14:creationId xmlns:p14="http://schemas.microsoft.com/office/powerpoint/2010/main" val="1687202316"/>
      </p:ext>
    </p:extLst>
  </p:cSld>
  <p:clrMapOvr>
    <a:masterClrMapping/>
  </p:clrMapOvr>
  <p:transition spd="slow">
    <p:wip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Two Column 40x60">
    <p:spTree>
      <p:nvGrpSpPr>
        <p:cNvPr id="1" name=""/>
        <p:cNvGrpSpPr/>
        <p:nvPr/>
      </p:nvGrpSpPr>
      <p:grpSpPr>
        <a:xfrm>
          <a:off x="0" y="0"/>
          <a:ext cx="0" cy="0"/>
          <a:chOff x="0" y="0"/>
          <a:chExt cx="0" cy="0"/>
        </a:xfrm>
      </p:grpSpPr>
      <p:sp>
        <p:nvSpPr>
          <p:cNvPr id="6" name="Content Placeholder 2"/>
          <p:cNvSpPr>
            <a:spLocks noGrp="1"/>
          </p:cNvSpPr>
          <p:nvPr>
            <p:ph idx="16" hasCustomPrompt="1"/>
          </p:nvPr>
        </p:nvSpPr>
        <p:spPr>
          <a:xfrm>
            <a:off x="5326143" y="975600"/>
            <a:ext cx="6314400" cy="5338800"/>
          </a:xfrm>
          <a:prstGeom prst="rect">
            <a:avLst/>
          </a:prstGeom>
        </p:spPr>
        <p:txBody>
          <a:bodyPr/>
          <a:lstStyle>
            <a:lvl1pPr>
              <a:buClr>
                <a:schemeClr val="accent6"/>
              </a:buClr>
              <a:defRPr sz="2200"/>
            </a:lvl1pPr>
            <a:lvl2pPr>
              <a:buClr>
                <a:schemeClr val="accent6"/>
              </a:buClr>
              <a:defRPr sz="1800"/>
            </a:lvl2pPr>
            <a:lvl3pPr>
              <a:buClr>
                <a:schemeClr val="accent6"/>
              </a:buClr>
              <a:defRPr sz="1600"/>
            </a:lvl3pPr>
            <a:lvl4pPr>
              <a:buClr>
                <a:schemeClr val="accent6"/>
              </a:buClr>
              <a:defRPr sz="1400"/>
            </a:lvl4pPr>
            <a:lvl5pPr>
              <a:buClr>
                <a:schemeClr val="accent6"/>
              </a:buClr>
              <a:defRPr sz="1200"/>
            </a:lvl5pPr>
          </a:lstStyle>
          <a:p>
            <a:pPr lvl="0"/>
            <a:r>
              <a:rPr lang="en-US" dirty="0"/>
              <a:t>Click to add text</a:t>
            </a:r>
          </a:p>
        </p:txBody>
      </p:sp>
      <p:sp>
        <p:nvSpPr>
          <p:cNvPr id="8" name="Content Placeholder 2"/>
          <p:cNvSpPr>
            <a:spLocks noGrp="1"/>
          </p:cNvSpPr>
          <p:nvPr>
            <p:ph idx="15" hasCustomPrompt="1"/>
          </p:nvPr>
        </p:nvSpPr>
        <p:spPr>
          <a:xfrm>
            <a:off x="266400" y="975600"/>
            <a:ext cx="4759200" cy="5338800"/>
          </a:xfrm>
          <a:prstGeom prst="rect">
            <a:avLst/>
          </a:prstGeom>
        </p:spPr>
        <p:txBody>
          <a:bodyPr/>
          <a:lstStyle>
            <a:lvl1pPr>
              <a:buClr>
                <a:schemeClr val="accent6"/>
              </a:buClr>
              <a:defRPr sz="2200"/>
            </a:lvl1pPr>
            <a:lvl2pPr>
              <a:buClr>
                <a:schemeClr val="accent6"/>
              </a:buClr>
              <a:defRPr sz="1800"/>
            </a:lvl2pPr>
            <a:lvl3pPr>
              <a:buClr>
                <a:schemeClr val="accent6"/>
              </a:buClr>
              <a:defRPr sz="1600"/>
            </a:lvl3pPr>
            <a:lvl4pPr>
              <a:buClr>
                <a:schemeClr val="accent6"/>
              </a:buClr>
              <a:defRPr sz="1400"/>
            </a:lvl4pPr>
            <a:lvl5pPr>
              <a:buClr>
                <a:schemeClr val="accent6"/>
              </a:buClr>
              <a:defRPr sz="1200"/>
            </a:lvl5pPr>
          </a:lstStyle>
          <a:p>
            <a:pPr lvl="0"/>
            <a:r>
              <a:rPr lang="en-US" dirty="0"/>
              <a:t>Click to add text</a:t>
            </a:r>
          </a:p>
        </p:txBody>
      </p:sp>
      <p:sp>
        <p:nvSpPr>
          <p:cNvPr id="7" name="Title 1"/>
          <p:cNvSpPr>
            <a:spLocks noGrp="1"/>
          </p:cNvSpPr>
          <p:nvPr>
            <p:ph type="title" hasCustomPrompt="1"/>
          </p:nvPr>
        </p:nvSpPr>
        <p:spPr>
          <a:xfrm>
            <a:off x="266400" y="273600"/>
            <a:ext cx="10835325" cy="748800"/>
          </a:xfrm>
          <a:prstGeom prst="rect">
            <a:avLst/>
          </a:prstGeom>
        </p:spPr>
        <p:txBody>
          <a:bodyPr>
            <a:normAutofit/>
          </a:bodyPr>
          <a:lstStyle>
            <a:lvl1pPr algn="l" defTabSz="914240" rtl="0" eaLnBrk="1" latinLnBrk="0" hangingPunct="1">
              <a:lnSpc>
                <a:spcPct val="94000"/>
              </a:lnSpc>
              <a:spcBef>
                <a:spcPct val="0"/>
              </a:spcBef>
              <a:buNone/>
              <a:defRPr lang="en-US" sz="3600" kern="1200" dirty="0">
                <a:solidFill>
                  <a:schemeClr val="tx1"/>
                </a:solidFill>
                <a:latin typeface="+mj-lt"/>
                <a:ea typeface="+mj-ea"/>
                <a:cs typeface="+mj-cs"/>
              </a:defRPr>
            </a:lvl1pPr>
          </a:lstStyle>
          <a:p>
            <a:r>
              <a:rPr lang="en-US" dirty="0"/>
              <a:t>Click to add text</a:t>
            </a:r>
          </a:p>
        </p:txBody>
      </p:sp>
    </p:spTree>
    <p:extLst>
      <p:ext uri="{BB962C8B-B14F-4D97-AF65-F5344CB8AC3E}">
        <p14:creationId xmlns:p14="http://schemas.microsoft.com/office/powerpoint/2010/main" val="2530876694"/>
      </p:ext>
    </p:extLst>
  </p:cSld>
  <p:clrMapOvr>
    <a:masterClrMapping/>
  </p:clrMapOvr>
  <p:transition spd="slow">
    <p:wip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Two Column 40x60 /w bottom">
    <p:spTree>
      <p:nvGrpSpPr>
        <p:cNvPr id="1" name=""/>
        <p:cNvGrpSpPr/>
        <p:nvPr/>
      </p:nvGrpSpPr>
      <p:grpSpPr>
        <a:xfrm>
          <a:off x="0" y="0"/>
          <a:ext cx="0" cy="0"/>
          <a:chOff x="0" y="0"/>
          <a:chExt cx="0" cy="0"/>
        </a:xfrm>
      </p:grpSpPr>
      <p:sp>
        <p:nvSpPr>
          <p:cNvPr id="6" name="Content Placeholder 2"/>
          <p:cNvSpPr>
            <a:spLocks noGrp="1"/>
          </p:cNvSpPr>
          <p:nvPr>
            <p:ph idx="16" hasCustomPrompt="1"/>
          </p:nvPr>
        </p:nvSpPr>
        <p:spPr>
          <a:xfrm>
            <a:off x="266400" y="5652000"/>
            <a:ext cx="11368800" cy="662400"/>
          </a:xfrm>
          <a:prstGeom prst="rect">
            <a:avLst/>
          </a:prstGeom>
        </p:spPr>
        <p:txBody>
          <a:bodyPr>
            <a:normAutofit/>
          </a:bodyPr>
          <a:lstStyle>
            <a:lvl1pPr marL="0" indent="0" algn="ctr">
              <a:buClr>
                <a:schemeClr val="accent6"/>
              </a:buClr>
              <a:buNone/>
              <a:defRPr sz="1800"/>
            </a:lvl1pPr>
            <a:lvl2pPr>
              <a:buClr>
                <a:schemeClr val="accent6"/>
              </a:buClr>
              <a:defRPr sz="1800"/>
            </a:lvl2pPr>
            <a:lvl3pPr>
              <a:buClr>
                <a:schemeClr val="accent6"/>
              </a:buClr>
              <a:defRPr sz="1600"/>
            </a:lvl3pPr>
            <a:lvl4pPr>
              <a:buClr>
                <a:schemeClr val="accent6"/>
              </a:buClr>
              <a:defRPr sz="1400"/>
            </a:lvl4pPr>
            <a:lvl5pPr>
              <a:buClr>
                <a:schemeClr val="accent6"/>
              </a:buClr>
              <a:defRPr sz="1200"/>
            </a:lvl5pPr>
          </a:lstStyle>
          <a:p>
            <a:pPr lvl="0"/>
            <a:r>
              <a:rPr lang="en-US" dirty="0"/>
              <a:t>Click to add text</a:t>
            </a:r>
          </a:p>
        </p:txBody>
      </p:sp>
      <p:sp>
        <p:nvSpPr>
          <p:cNvPr id="8" name="Content Placeholder 2"/>
          <p:cNvSpPr>
            <a:spLocks noGrp="1"/>
          </p:cNvSpPr>
          <p:nvPr>
            <p:ph idx="15" hasCustomPrompt="1"/>
          </p:nvPr>
        </p:nvSpPr>
        <p:spPr>
          <a:xfrm>
            <a:off x="5320800" y="975600"/>
            <a:ext cx="6314400" cy="4622400"/>
          </a:xfrm>
          <a:prstGeom prst="rect">
            <a:avLst/>
          </a:prstGeom>
        </p:spPr>
        <p:txBody>
          <a:bodyPr/>
          <a:lstStyle>
            <a:lvl1pPr>
              <a:buClr>
                <a:schemeClr val="accent6"/>
              </a:buClr>
              <a:defRPr sz="2200"/>
            </a:lvl1pPr>
            <a:lvl2pPr>
              <a:buClr>
                <a:schemeClr val="accent6"/>
              </a:buClr>
              <a:defRPr sz="1800"/>
            </a:lvl2pPr>
            <a:lvl3pPr>
              <a:buClr>
                <a:schemeClr val="accent6"/>
              </a:buClr>
              <a:defRPr sz="1600"/>
            </a:lvl3pPr>
            <a:lvl4pPr>
              <a:buClr>
                <a:schemeClr val="accent6"/>
              </a:buClr>
              <a:defRPr sz="1400"/>
            </a:lvl4pPr>
            <a:lvl5pPr>
              <a:buClr>
                <a:schemeClr val="accent6"/>
              </a:buClr>
              <a:defRPr sz="1200"/>
            </a:lvl5pPr>
          </a:lstStyle>
          <a:p>
            <a:pPr lvl="0"/>
            <a:r>
              <a:rPr lang="en-US" dirty="0"/>
              <a:t>Click to add text</a:t>
            </a:r>
          </a:p>
        </p:txBody>
      </p:sp>
      <p:sp>
        <p:nvSpPr>
          <p:cNvPr id="9" name="Content Placeholder 4"/>
          <p:cNvSpPr>
            <a:spLocks noGrp="1"/>
          </p:cNvSpPr>
          <p:nvPr>
            <p:ph sz="half" idx="13" hasCustomPrompt="1"/>
          </p:nvPr>
        </p:nvSpPr>
        <p:spPr>
          <a:xfrm>
            <a:off x="266400" y="975600"/>
            <a:ext cx="4759200" cy="4622400"/>
          </a:xfrm>
          <a:prstGeom prst="rect">
            <a:avLst/>
          </a:prstGeom>
        </p:spPr>
        <p:txBody>
          <a:bodyPr>
            <a:noAutofit/>
          </a:bodyPr>
          <a:lstStyle>
            <a:lvl1pPr marL="342900" indent="-342900" algn="l">
              <a:buFont typeface="Arial" panose="020B0604020202020204" pitchFamily="34" charset="0"/>
              <a:buChar char="•"/>
              <a:defRPr sz="2200" b="0" baseline="0"/>
            </a:lvl1pPr>
            <a:lvl2pPr>
              <a:defRPr sz="1800"/>
            </a:lvl2pPr>
            <a:lvl3pPr>
              <a:defRPr sz="1600"/>
            </a:lvl3pPr>
            <a:lvl4pPr>
              <a:defRPr sz="1400"/>
            </a:lvl4pPr>
            <a:lvl5pPr>
              <a:defRPr sz="1200"/>
            </a:lvl5pPr>
            <a:lvl6pPr>
              <a:defRPr sz="1350"/>
            </a:lvl6pPr>
            <a:lvl7pPr>
              <a:defRPr sz="1350"/>
            </a:lvl7pPr>
            <a:lvl8pPr>
              <a:defRPr sz="1350"/>
            </a:lvl8pPr>
            <a:lvl9pPr>
              <a:defRPr sz="1350"/>
            </a:lvl9pPr>
          </a:lstStyle>
          <a:p>
            <a:pPr lvl="0"/>
            <a:r>
              <a:rPr lang="en-US" dirty="0"/>
              <a:t>Click to add text</a:t>
            </a:r>
          </a:p>
        </p:txBody>
      </p:sp>
      <p:sp>
        <p:nvSpPr>
          <p:cNvPr id="7" name="Title 1"/>
          <p:cNvSpPr>
            <a:spLocks noGrp="1"/>
          </p:cNvSpPr>
          <p:nvPr>
            <p:ph type="title" hasCustomPrompt="1"/>
          </p:nvPr>
        </p:nvSpPr>
        <p:spPr>
          <a:xfrm>
            <a:off x="266400" y="273600"/>
            <a:ext cx="10835325" cy="748800"/>
          </a:xfrm>
          <a:prstGeom prst="rect">
            <a:avLst/>
          </a:prstGeom>
        </p:spPr>
        <p:txBody>
          <a:bodyPr>
            <a:normAutofit/>
          </a:bodyPr>
          <a:lstStyle>
            <a:lvl1pPr algn="l" defTabSz="914240" rtl="0" eaLnBrk="1" latinLnBrk="0" hangingPunct="1">
              <a:lnSpc>
                <a:spcPct val="94000"/>
              </a:lnSpc>
              <a:spcBef>
                <a:spcPct val="0"/>
              </a:spcBef>
              <a:buNone/>
              <a:defRPr lang="en-US" sz="3600" kern="1200" dirty="0">
                <a:solidFill>
                  <a:schemeClr val="tx1"/>
                </a:solidFill>
                <a:latin typeface="+mj-lt"/>
                <a:ea typeface="+mj-ea"/>
                <a:cs typeface="+mj-cs"/>
              </a:defRPr>
            </a:lvl1pPr>
          </a:lstStyle>
          <a:p>
            <a:r>
              <a:rPr lang="en-US" dirty="0"/>
              <a:t>Click to add text</a:t>
            </a:r>
          </a:p>
        </p:txBody>
      </p:sp>
    </p:spTree>
    <p:extLst>
      <p:ext uri="{BB962C8B-B14F-4D97-AF65-F5344CB8AC3E}">
        <p14:creationId xmlns:p14="http://schemas.microsoft.com/office/powerpoint/2010/main" val="3035349832"/>
      </p:ext>
    </p:extLst>
  </p:cSld>
  <p:clrMapOvr>
    <a:masterClrMapping/>
  </p:clrMapOvr>
  <p:transition spd="slow">
    <p:wip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Two Column 60x40">
    <p:spTree>
      <p:nvGrpSpPr>
        <p:cNvPr id="1" name=""/>
        <p:cNvGrpSpPr/>
        <p:nvPr/>
      </p:nvGrpSpPr>
      <p:grpSpPr>
        <a:xfrm>
          <a:off x="0" y="0"/>
          <a:ext cx="0" cy="0"/>
          <a:chOff x="0" y="0"/>
          <a:chExt cx="0" cy="0"/>
        </a:xfrm>
      </p:grpSpPr>
      <p:sp>
        <p:nvSpPr>
          <p:cNvPr id="6" name="Content Placeholder 2"/>
          <p:cNvSpPr>
            <a:spLocks noGrp="1"/>
          </p:cNvSpPr>
          <p:nvPr>
            <p:ph idx="16" hasCustomPrompt="1"/>
          </p:nvPr>
        </p:nvSpPr>
        <p:spPr>
          <a:xfrm>
            <a:off x="6894000" y="975600"/>
            <a:ext cx="4759200" cy="5338800"/>
          </a:xfrm>
          <a:prstGeom prst="rect">
            <a:avLst/>
          </a:prstGeom>
        </p:spPr>
        <p:txBody>
          <a:bodyPr/>
          <a:lstStyle>
            <a:lvl1pPr>
              <a:buClr>
                <a:schemeClr val="accent6"/>
              </a:buClr>
              <a:defRPr sz="2200"/>
            </a:lvl1pPr>
            <a:lvl2pPr>
              <a:buClr>
                <a:schemeClr val="accent6"/>
              </a:buClr>
              <a:defRPr sz="1800"/>
            </a:lvl2pPr>
            <a:lvl3pPr>
              <a:buClr>
                <a:schemeClr val="accent6"/>
              </a:buClr>
              <a:defRPr sz="1600"/>
            </a:lvl3pPr>
            <a:lvl4pPr>
              <a:buClr>
                <a:schemeClr val="accent6"/>
              </a:buClr>
              <a:defRPr sz="1400"/>
            </a:lvl4pPr>
            <a:lvl5pPr>
              <a:buClr>
                <a:schemeClr val="accent6"/>
              </a:buClr>
              <a:defRPr sz="1200"/>
            </a:lvl5pPr>
          </a:lstStyle>
          <a:p>
            <a:pPr lvl="0"/>
            <a:r>
              <a:rPr lang="en-US" dirty="0"/>
              <a:t>Click to add text</a:t>
            </a:r>
          </a:p>
        </p:txBody>
      </p:sp>
      <p:sp>
        <p:nvSpPr>
          <p:cNvPr id="8" name="Content Placeholder 2"/>
          <p:cNvSpPr>
            <a:spLocks noGrp="1"/>
          </p:cNvSpPr>
          <p:nvPr>
            <p:ph idx="15" hasCustomPrompt="1"/>
          </p:nvPr>
        </p:nvSpPr>
        <p:spPr>
          <a:xfrm>
            <a:off x="266400" y="975600"/>
            <a:ext cx="6314400" cy="5338800"/>
          </a:xfrm>
          <a:prstGeom prst="rect">
            <a:avLst/>
          </a:prstGeom>
        </p:spPr>
        <p:txBody>
          <a:bodyPr/>
          <a:lstStyle>
            <a:lvl1pPr>
              <a:buClr>
                <a:schemeClr val="accent6"/>
              </a:buClr>
              <a:defRPr sz="2200"/>
            </a:lvl1pPr>
            <a:lvl2pPr>
              <a:buClr>
                <a:schemeClr val="accent6"/>
              </a:buClr>
              <a:defRPr sz="1800"/>
            </a:lvl2pPr>
            <a:lvl3pPr>
              <a:buClr>
                <a:schemeClr val="accent6"/>
              </a:buClr>
              <a:defRPr sz="1600"/>
            </a:lvl3pPr>
            <a:lvl4pPr>
              <a:buClr>
                <a:schemeClr val="accent6"/>
              </a:buClr>
              <a:defRPr sz="1400"/>
            </a:lvl4pPr>
            <a:lvl5pPr>
              <a:buClr>
                <a:schemeClr val="accent6"/>
              </a:buClr>
              <a:defRPr sz="1200"/>
            </a:lvl5pPr>
          </a:lstStyle>
          <a:p>
            <a:pPr lvl="0"/>
            <a:r>
              <a:rPr lang="en-US" dirty="0"/>
              <a:t>Click to add text</a:t>
            </a:r>
          </a:p>
        </p:txBody>
      </p:sp>
      <p:sp>
        <p:nvSpPr>
          <p:cNvPr id="7" name="Title 1"/>
          <p:cNvSpPr>
            <a:spLocks noGrp="1"/>
          </p:cNvSpPr>
          <p:nvPr>
            <p:ph type="title" hasCustomPrompt="1"/>
          </p:nvPr>
        </p:nvSpPr>
        <p:spPr>
          <a:xfrm>
            <a:off x="266400" y="273600"/>
            <a:ext cx="10835325" cy="748800"/>
          </a:xfrm>
          <a:prstGeom prst="rect">
            <a:avLst/>
          </a:prstGeom>
        </p:spPr>
        <p:txBody>
          <a:bodyPr>
            <a:normAutofit/>
          </a:bodyPr>
          <a:lstStyle>
            <a:lvl1pPr algn="l" defTabSz="914240" rtl="0" eaLnBrk="1" latinLnBrk="0" hangingPunct="1">
              <a:lnSpc>
                <a:spcPct val="94000"/>
              </a:lnSpc>
              <a:spcBef>
                <a:spcPct val="0"/>
              </a:spcBef>
              <a:buNone/>
              <a:defRPr lang="en-US" sz="3600" kern="1200" dirty="0">
                <a:solidFill>
                  <a:schemeClr val="tx1"/>
                </a:solidFill>
                <a:latin typeface="+mj-lt"/>
                <a:ea typeface="+mj-ea"/>
                <a:cs typeface="+mj-cs"/>
              </a:defRPr>
            </a:lvl1pPr>
          </a:lstStyle>
          <a:p>
            <a:r>
              <a:rPr lang="en-US" dirty="0"/>
              <a:t>Click to add text</a:t>
            </a:r>
          </a:p>
        </p:txBody>
      </p:sp>
    </p:spTree>
    <p:extLst>
      <p:ext uri="{BB962C8B-B14F-4D97-AF65-F5344CB8AC3E}">
        <p14:creationId xmlns:p14="http://schemas.microsoft.com/office/powerpoint/2010/main" val="2338317149"/>
      </p:ext>
    </p:extLst>
  </p:cSld>
  <p:clrMapOvr>
    <a:masterClrMapping/>
  </p:clrMapOvr>
  <p:transition spd="slow">
    <p:wip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Two Column 60x40 /w bottom">
    <p:spTree>
      <p:nvGrpSpPr>
        <p:cNvPr id="1" name=""/>
        <p:cNvGrpSpPr/>
        <p:nvPr/>
      </p:nvGrpSpPr>
      <p:grpSpPr>
        <a:xfrm>
          <a:off x="0" y="0"/>
          <a:ext cx="0" cy="0"/>
          <a:chOff x="0" y="0"/>
          <a:chExt cx="0" cy="0"/>
        </a:xfrm>
      </p:grpSpPr>
      <p:sp>
        <p:nvSpPr>
          <p:cNvPr id="6" name="Content Placeholder 2"/>
          <p:cNvSpPr>
            <a:spLocks noGrp="1"/>
          </p:cNvSpPr>
          <p:nvPr>
            <p:ph idx="16" hasCustomPrompt="1"/>
          </p:nvPr>
        </p:nvSpPr>
        <p:spPr>
          <a:xfrm>
            <a:off x="266400" y="5652000"/>
            <a:ext cx="11390400" cy="662400"/>
          </a:xfrm>
          <a:prstGeom prst="rect">
            <a:avLst/>
          </a:prstGeom>
        </p:spPr>
        <p:txBody>
          <a:bodyPr>
            <a:normAutofit/>
          </a:bodyPr>
          <a:lstStyle>
            <a:lvl1pPr marL="0" indent="0" algn="ctr">
              <a:buClr>
                <a:schemeClr val="accent6"/>
              </a:buClr>
              <a:buNone/>
              <a:defRPr sz="1800"/>
            </a:lvl1pPr>
            <a:lvl2pPr>
              <a:buClr>
                <a:schemeClr val="accent6"/>
              </a:buClr>
              <a:defRPr sz="1800"/>
            </a:lvl2pPr>
            <a:lvl3pPr>
              <a:buClr>
                <a:schemeClr val="accent6"/>
              </a:buClr>
              <a:defRPr sz="1600"/>
            </a:lvl3pPr>
            <a:lvl4pPr>
              <a:buClr>
                <a:schemeClr val="accent6"/>
              </a:buClr>
              <a:defRPr sz="1400"/>
            </a:lvl4pPr>
            <a:lvl5pPr>
              <a:buClr>
                <a:schemeClr val="accent6"/>
              </a:buClr>
              <a:defRPr sz="1200"/>
            </a:lvl5pPr>
          </a:lstStyle>
          <a:p>
            <a:pPr lvl="0"/>
            <a:r>
              <a:rPr lang="en-US" dirty="0"/>
              <a:t>Click to add text</a:t>
            </a:r>
          </a:p>
        </p:txBody>
      </p:sp>
      <p:sp>
        <p:nvSpPr>
          <p:cNvPr id="8" name="Content Placeholder 2"/>
          <p:cNvSpPr>
            <a:spLocks noGrp="1"/>
          </p:cNvSpPr>
          <p:nvPr>
            <p:ph idx="15" hasCustomPrompt="1"/>
          </p:nvPr>
        </p:nvSpPr>
        <p:spPr>
          <a:xfrm>
            <a:off x="6900421" y="975598"/>
            <a:ext cx="4757342" cy="4622400"/>
          </a:xfrm>
          <a:prstGeom prst="rect">
            <a:avLst/>
          </a:prstGeom>
        </p:spPr>
        <p:txBody>
          <a:bodyPr/>
          <a:lstStyle>
            <a:lvl1pPr>
              <a:buClr>
                <a:schemeClr val="accent6"/>
              </a:buClr>
              <a:defRPr sz="2200"/>
            </a:lvl1pPr>
            <a:lvl2pPr>
              <a:buClr>
                <a:schemeClr val="accent6"/>
              </a:buClr>
              <a:defRPr sz="1800"/>
            </a:lvl2pPr>
            <a:lvl3pPr>
              <a:buClr>
                <a:schemeClr val="accent6"/>
              </a:buClr>
              <a:defRPr sz="1600"/>
            </a:lvl3pPr>
            <a:lvl4pPr>
              <a:buClr>
                <a:schemeClr val="accent6"/>
              </a:buClr>
              <a:defRPr sz="1400"/>
            </a:lvl4pPr>
            <a:lvl5pPr>
              <a:buClr>
                <a:schemeClr val="accent6"/>
              </a:buClr>
              <a:defRPr sz="1200"/>
            </a:lvl5pPr>
          </a:lstStyle>
          <a:p>
            <a:pPr lvl="0"/>
            <a:r>
              <a:rPr lang="en-US" dirty="0"/>
              <a:t>Click to add text</a:t>
            </a:r>
          </a:p>
        </p:txBody>
      </p:sp>
      <p:sp>
        <p:nvSpPr>
          <p:cNvPr id="9" name="Content Placeholder 4"/>
          <p:cNvSpPr>
            <a:spLocks noGrp="1"/>
          </p:cNvSpPr>
          <p:nvPr>
            <p:ph sz="half" idx="13" hasCustomPrompt="1"/>
          </p:nvPr>
        </p:nvSpPr>
        <p:spPr>
          <a:xfrm>
            <a:off x="266399" y="975600"/>
            <a:ext cx="6314400" cy="4622400"/>
          </a:xfrm>
          <a:prstGeom prst="rect">
            <a:avLst/>
          </a:prstGeom>
        </p:spPr>
        <p:txBody>
          <a:bodyPr>
            <a:noAutofit/>
          </a:bodyPr>
          <a:lstStyle>
            <a:lvl1pPr marL="342900" indent="-342900" algn="l">
              <a:buFont typeface="Arial" panose="020B0604020202020204" pitchFamily="34" charset="0"/>
              <a:buChar char="•"/>
              <a:defRPr sz="2200" b="0" baseline="0"/>
            </a:lvl1pPr>
            <a:lvl2pPr>
              <a:defRPr sz="1800"/>
            </a:lvl2pPr>
            <a:lvl3pPr>
              <a:defRPr sz="1600"/>
            </a:lvl3pPr>
            <a:lvl4pPr>
              <a:defRPr sz="1400"/>
            </a:lvl4pPr>
            <a:lvl5pPr>
              <a:defRPr sz="1200"/>
            </a:lvl5pPr>
            <a:lvl6pPr>
              <a:defRPr sz="1350"/>
            </a:lvl6pPr>
            <a:lvl7pPr>
              <a:defRPr sz="1350"/>
            </a:lvl7pPr>
            <a:lvl8pPr>
              <a:defRPr sz="1350"/>
            </a:lvl8pPr>
            <a:lvl9pPr>
              <a:defRPr sz="1350"/>
            </a:lvl9pPr>
          </a:lstStyle>
          <a:p>
            <a:pPr lvl="0"/>
            <a:r>
              <a:rPr lang="en-US" dirty="0"/>
              <a:t>Click to add text</a:t>
            </a:r>
          </a:p>
        </p:txBody>
      </p:sp>
      <p:sp>
        <p:nvSpPr>
          <p:cNvPr id="7" name="Title 1"/>
          <p:cNvSpPr>
            <a:spLocks noGrp="1"/>
          </p:cNvSpPr>
          <p:nvPr>
            <p:ph type="title" hasCustomPrompt="1"/>
          </p:nvPr>
        </p:nvSpPr>
        <p:spPr>
          <a:xfrm>
            <a:off x="266400" y="273600"/>
            <a:ext cx="10835325" cy="748800"/>
          </a:xfrm>
          <a:prstGeom prst="rect">
            <a:avLst/>
          </a:prstGeom>
        </p:spPr>
        <p:txBody>
          <a:bodyPr>
            <a:normAutofit/>
          </a:bodyPr>
          <a:lstStyle>
            <a:lvl1pPr algn="l" defTabSz="914240" rtl="0" eaLnBrk="1" latinLnBrk="0" hangingPunct="1">
              <a:lnSpc>
                <a:spcPct val="94000"/>
              </a:lnSpc>
              <a:spcBef>
                <a:spcPct val="0"/>
              </a:spcBef>
              <a:buNone/>
              <a:defRPr lang="en-US" sz="3600" kern="1200" dirty="0">
                <a:solidFill>
                  <a:schemeClr val="tx1"/>
                </a:solidFill>
                <a:latin typeface="+mj-lt"/>
                <a:ea typeface="+mj-ea"/>
                <a:cs typeface="+mj-cs"/>
              </a:defRPr>
            </a:lvl1pPr>
          </a:lstStyle>
          <a:p>
            <a:r>
              <a:rPr lang="en-US" dirty="0"/>
              <a:t>Click to add text</a:t>
            </a:r>
          </a:p>
        </p:txBody>
      </p:sp>
    </p:spTree>
    <p:extLst>
      <p:ext uri="{BB962C8B-B14F-4D97-AF65-F5344CB8AC3E}">
        <p14:creationId xmlns:p14="http://schemas.microsoft.com/office/powerpoint/2010/main" val="3859207868"/>
      </p:ext>
    </p:extLst>
  </p:cSld>
  <p:clrMapOvr>
    <a:masterClrMapping/>
  </p:clrMapOvr>
  <p:transition spd="slow">
    <p:wip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Three Colum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66400" y="273600"/>
            <a:ext cx="10835325" cy="748800"/>
          </a:xfrm>
          <a:prstGeom prst="rect">
            <a:avLst/>
          </a:prstGeom>
        </p:spPr>
        <p:txBody>
          <a:bodyPr>
            <a:normAutofit/>
          </a:bodyPr>
          <a:lstStyle>
            <a:lvl1pPr algn="l" defTabSz="914240" rtl="0" eaLnBrk="1" latinLnBrk="0" hangingPunct="1">
              <a:lnSpc>
                <a:spcPct val="94000"/>
              </a:lnSpc>
              <a:spcBef>
                <a:spcPct val="0"/>
              </a:spcBef>
              <a:buNone/>
              <a:defRPr lang="en-US" sz="3600" kern="1200" dirty="0">
                <a:solidFill>
                  <a:schemeClr val="tx1"/>
                </a:solidFill>
                <a:latin typeface="+mj-lt"/>
                <a:ea typeface="+mj-ea"/>
                <a:cs typeface="+mj-cs"/>
              </a:defRPr>
            </a:lvl1pPr>
          </a:lstStyle>
          <a:p>
            <a:r>
              <a:rPr lang="en-US" dirty="0"/>
              <a:t>Click to add text</a:t>
            </a:r>
          </a:p>
        </p:txBody>
      </p:sp>
      <p:sp>
        <p:nvSpPr>
          <p:cNvPr id="7" name="Content Placeholder 2"/>
          <p:cNvSpPr>
            <a:spLocks noGrp="1"/>
          </p:cNvSpPr>
          <p:nvPr>
            <p:ph idx="15" hasCustomPrompt="1"/>
          </p:nvPr>
        </p:nvSpPr>
        <p:spPr>
          <a:xfrm>
            <a:off x="266400" y="975600"/>
            <a:ext cx="3492000" cy="5324400"/>
          </a:xfrm>
          <a:prstGeom prst="rect">
            <a:avLst/>
          </a:prstGeom>
        </p:spPr>
        <p:txBody>
          <a:bodyPr/>
          <a:lstStyle>
            <a:lvl1pPr>
              <a:buClr>
                <a:schemeClr val="accent6"/>
              </a:buClr>
              <a:defRPr sz="2200"/>
            </a:lvl1pPr>
            <a:lvl2pPr>
              <a:buClr>
                <a:schemeClr val="accent6"/>
              </a:buClr>
              <a:defRPr sz="1800"/>
            </a:lvl2pPr>
            <a:lvl3pPr>
              <a:buClr>
                <a:schemeClr val="accent6"/>
              </a:buClr>
              <a:defRPr sz="1600"/>
            </a:lvl3pPr>
            <a:lvl4pPr>
              <a:buClr>
                <a:schemeClr val="accent6"/>
              </a:buClr>
              <a:defRPr sz="1400"/>
            </a:lvl4pPr>
            <a:lvl5pPr>
              <a:buClr>
                <a:schemeClr val="accent6"/>
              </a:buClr>
              <a:defRPr sz="1200"/>
            </a:lvl5pPr>
          </a:lstStyle>
          <a:p>
            <a:pPr lvl="0"/>
            <a:r>
              <a:rPr lang="en-US" dirty="0"/>
              <a:t>Click to add text</a:t>
            </a:r>
          </a:p>
        </p:txBody>
      </p:sp>
      <p:sp>
        <p:nvSpPr>
          <p:cNvPr id="9" name="Content Placeholder 2"/>
          <p:cNvSpPr>
            <a:spLocks noGrp="1"/>
          </p:cNvSpPr>
          <p:nvPr>
            <p:ph idx="17" hasCustomPrompt="1"/>
          </p:nvPr>
        </p:nvSpPr>
        <p:spPr>
          <a:xfrm>
            <a:off x="4216153" y="975600"/>
            <a:ext cx="3492000" cy="5324400"/>
          </a:xfrm>
          <a:prstGeom prst="rect">
            <a:avLst/>
          </a:prstGeom>
        </p:spPr>
        <p:txBody>
          <a:bodyPr/>
          <a:lstStyle>
            <a:lvl1pPr>
              <a:buClr>
                <a:schemeClr val="accent6"/>
              </a:buClr>
              <a:defRPr sz="2200"/>
            </a:lvl1pPr>
            <a:lvl2pPr>
              <a:buClr>
                <a:schemeClr val="accent6"/>
              </a:buClr>
              <a:defRPr sz="1800"/>
            </a:lvl2pPr>
            <a:lvl3pPr>
              <a:buClr>
                <a:schemeClr val="accent6"/>
              </a:buClr>
              <a:defRPr sz="1600"/>
            </a:lvl3pPr>
            <a:lvl4pPr>
              <a:buClr>
                <a:schemeClr val="accent6"/>
              </a:buClr>
              <a:defRPr sz="1400"/>
            </a:lvl4pPr>
            <a:lvl5pPr>
              <a:buClr>
                <a:schemeClr val="accent6"/>
              </a:buClr>
              <a:defRPr sz="1200"/>
            </a:lvl5pPr>
          </a:lstStyle>
          <a:p>
            <a:pPr lvl="0"/>
            <a:r>
              <a:rPr lang="en-US" dirty="0"/>
              <a:t>Click to add text</a:t>
            </a:r>
          </a:p>
        </p:txBody>
      </p:sp>
      <p:sp>
        <p:nvSpPr>
          <p:cNvPr id="10" name="Content Placeholder 2"/>
          <p:cNvSpPr>
            <a:spLocks noGrp="1"/>
          </p:cNvSpPr>
          <p:nvPr>
            <p:ph idx="18" hasCustomPrompt="1"/>
          </p:nvPr>
        </p:nvSpPr>
        <p:spPr>
          <a:xfrm>
            <a:off x="8164800" y="975600"/>
            <a:ext cx="3492000" cy="5324400"/>
          </a:xfrm>
          <a:prstGeom prst="rect">
            <a:avLst/>
          </a:prstGeom>
        </p:spPr>
        <p:txBody>
          <a:bodyPr/>
          <a:lstStyle>
            <a:lvl1pPr>
              <a:buClr>
                <a:schemeClr val="accent6"/>
              </a:buClr>
              <a:defRPr sz="2200"/>
            </a:lvl1pPr>
            <a:lvl2pPr>
              <a:buClr>
                <a:schemeClr val="accent6"/>
              </a:buClr>
              <a:defRPr sz="1800"/>
            </a:lvl2pPr>
            <a:lvl3pPr>
              <a:buClr>
                <a:schemeClr val="accent6"/>
              </a:buClr>
              <a:defRPr sz="1600"/>
            </a:lvl3pPr>
            <a:lvl4pPr>
              <a:buClr>
                <a:schemeClr val="accent6"/>
              </a:buClr>
              <a:defRPr sz="1400"/>
            </a:lvl4pPr>
            <a:lvl5pPr>
              <a:buClr>
                <a:schemeClr val="accent6"/>
              </a:buClr>
              <a:defRPr sz="1200"/>
            </a:lvl5pPr>
          </a:lstStyle>
          <a:p>
            <a:pPr lvl="0"/>
            <a:r>
              <a:rPr lang="en-US" dirty="0"/>
              <a:t>Click to add text</a:t>
            </a:r>
          </a:p>
        </p:txBody>
      </p:sp>
    </p:spTree>
    <p:extLst>
      <p:ext uri="{BB962C8B-B14F-4D97-AF65-F5344CB8AC3E}">
        <p14:creationId xmlns:p14="http://schemas.microsoft.com/office/powerpoint/2010/main" val="454832331"/>
      </p:ext>
    </p:extLst>
  </p:cSld>
  <p:clrMapOvr>
    <a:masterClrMapping/>
  </p:clrMapOvr>
  <p:transition spd="slow">
    <p:wip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Three Column /w bottom">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66400" y="273600"/>
            <a:ext cx="10835325" cy="748800"/>
          </a:xfrm>
          <a:prstGeom prst="rect">
            <a:avLst/>
          </a:prstGeom>
        </p:spPr>
        <p:txBody>
          <a:bodyPr>
            <a:normAutofit/>
          </a:bodyPr>
          <a:lstStyle>
            <a:lvl1pPr algn="l" defTabSz="914240" rtl="0" eaLnBrk="1" latinLnBrk="0" hangingPunct="1">
              <a:lnSpc>
                <a:spcPct val="94000"/>
              </a:lnSpc>
              <a:spcBef>
                <a:spcPct val="0"/>
              </a:spcBef>
              <a:buNone/>
              <a:defRPr lang="en-US" sz="3600" kern="1200" dirty="0">
                <a:solidFill>
                  <a:schemeClr val="tx1"/>
                </a:solidFill>
                <a:latin typeface="+mj-lt"/>
                <a:ea typeface="+mj-ea"/>
                <a:cs typeface="+mj-cs"/>
              </a:defRPr>
            </a:lvl1pPr>
          </a:lstStyle>
          <a:p>
            <a:r>
              <a:rPr lang="en-US" dirty="0"/>
              <a:t>Click to add text</a:t>
            </a:r>
          </a:p>
        </p:txBody>
      </p:sp>
      <p:sp>
        <p:nvSpPr>
          <p:cNvPr id="7" name="Content Placeholder 2"/>
          <p:cNvSpPr>
            <a:spLocks noGrp="1"/>
          </p:cNvSpPr>
          <p:nvPr>
            <p:ph idx="15" hasCustomPrompt="1"/>
          </p:nvPr>
        </p:nvSpPr>
        <p:spPr>
          <a:xfrm>
            <a:off x="4212000" y="963408"/>
            <a:ext cx="3492000" cy="4622400"/>
          </a:xfrm>
          <a:prstGeom prst="rect">
            <a:avLst/>
          </a:prstGeom>
        </p:spPr>
        <p:txBody>
          <a:bodyPr/>
          <a:lstStyle>
            <a:lvl1pPr>
              <a:buClr>
                <a:schemeClr val="accent6"/>
              </a:buClr>
              <a:defRPr sz="2200"/>
            </a:lvl1pPr>
            <a:lvl2pPr>
              <a:buClr>
                <a:schemeClr val="accent6"/>
              </a:buClr>
              <a:defRPr sz="1800"/>
            </a:lvl2pPr>
            <a:lvl3pPr>
              <a:buClr>
                <a:schemeClr val="accent6"/>
              </a:buClr>
              <a:defRPr sz="1600"/>
            </a:lvl3pPr>
            <a:lvl4pPr>
              <a:buClr>
                <a:schemeClr val="accent6"/>
              </a:buClr>
              <a:defRPr sz="1400"/>
            </a:lvl4pPr>
            <a:lvl5pPr>
              <a:buClr>
                <a:schemeClr val="accent6"/>
              </a:buClr>
              <a:defRPr sz="1200"/>
            </a:lvl5pPr>
          </a:lstStyle>
          <a:p>
            <a:pPr lvl="0"/>
            <a:r>
              <a:rPr lang="en-US" dirty="0"/>
              <a:t>Click to add text</a:t>
            </a:r>
          </a:p>
        </p:txBody>
      </p:sp>
      <p:sp>
        <p:nvSpPr>
          <p:cNvPr id="9" name="Content Placeholder 2"/>
          <p:cNvSpPr>
            <a:spLocks noGrp="1"/>
          </p:cNvSpPr>
          <p:nvPr>
            <p:ph idx="17" hasCustomPrompt="1"/>
          </p:nvPr>
        </p:nvSpPr>
        <p:spPr>
          <a:xfrm>
            <a:off x="8157600" y="963408"/>
            <a:ext cx="3492000" cy="4622400"/>
          </a:xfrm>
          <a:prstGeom prst="rect">
            <a:avLst/>
          </a:prstGeom>
        </p:spPr>
        <p:txBody>
          <a:bodyPr/>
          <a:lstStyle>
            <a:lvl1pPr>
              <a:buClr>
                <a:schemeClr val="accent6"/>
              </a:buClr>
              <a:defRPr sz="2200"/>
            </a:lvl1pPr>
            <a:lvl2pPr>
              <a:buClr>
                <a:schemeClr val="accent6"/>
              </a:buClr>
              <a:defRPr sz="1800"/>
            </a:lvl2pPr>
            <a:lvl3pPr>
              <a:buClr>
                <a:schemeClr val="accent6"/>
              </a:buClr>
              <a:defRPr sz="1600"/>
            </a:lvl3pPr>
            <a:lvl4pPr>
              <a:buClr>
                <a:schemeClr val="accent6"/>
              </a:buClr>
              <a:defRPr sz="1400"/>
            </a:lvl4pPr>
            <a:lvl5pPr>
              <a:buClr>
                <a:schemeClr val="accent6"/>
              </a:buClr>
              <a:defRPr sz="1200"/>
            </a:lvl5pPr>
          </a:lstStyle>
          <a:p>
            <a:pPr lvl="0"/>
            <a:r>
              <a:rPr lang="en-US" dirty="0"/>
              <a:t>Click to add text</a:t>
            </a:r>
          </a:p>
        </p:txBody>
      </p:sp>
      <p:sp>
        <p:nvSpPr>
          <p:cNvPr id="10" name="Content Placeholder 2"/>
          <p:cNvSpPr>
            <a:spLocks noGrp="1"/>
          </p:cNvSpPr>
          <p:nvPr>
            <p:ph idx="18" hasCustomPrompt="1"/>
          </p:nvPr>
        </p:nvSpPr>
        <p:spPr>
          <a:xfrm>
            <a:off x="266400" y="5652000"/>
            <a:ext cx="11383200" cy="662400"/>
          </a:xfrm>
          <a:prstGeom prst="rect">
            <a:avLst/>
          </a:prstGeom>
        </p:spPr>
        <p:txBody>
          <a:bodyPr>
            <a:normAutofit/>
          </a:bodyPr>
          <a:lstStyle>
            <a:lvl1pPr marL="0" indent="0" algn="ctr">
              <a:buClr>
                <a:schemeClr val="accent6"/>
              </a:buClr>
              <a:buNone/>
              <a:defRPr sz="1800"/>
            </a:lvl1pPr>
            <a:lvl2pPr>
              <a:buClr>
                <a:schemeClr val="accent6"/>
              </a:buClr>
              <a:defRPr sz="1800"/>
            </a:lvl2pPr>
            <a:lvl3pPr>
              <a:buClr>
                <a:schemeClr val="accent6"/>
              </a:buClr>
              <a:defRPr sz="1600"/>
            </a:lvl3pPr>
            <a:lvl4pPr>
              <a:buClr>
                <a:schemeClr val="accent6"/>
              </a:buClr>
              <a:defRPr sz="1400"/>
            </a:lvl4pPr>
            <a:lvl5pPr>
              <a:buClr>
                <a:schemeClr val="accent6"/>
              </a:buClr>
              <a:defRPr sz="1200"/>
            </a:lvl5pPr>
          </a:lstStyle>
          <a:p>
            <a:pPr lvl="0"/>
            <a:r>
              <a:rPr lang="en-US" dirty="0"/>
              <a:t>Click to add text</a:t>
            </a:r>
          </a:p>
        </p:txBody>
      </p:sp>
      <p:sp>
        <p:nvSpPr>
          <p:cNvPr id="8" name="Content Placeholder 4"/>
          <p:cNvSpPr>
            <a:spLocks noGrp="1"/>
          </p:cNvSpPr>
          <p:nvPr>
            <p:ph sz="half" idx="13" hasCustomPrompt="1"/>
          </p:nvPr>
        </p:nvSpPr>
        <p:spPr>
          <a:xfrm>
            <a:off x="266400" y="975600"/>
            <a:ext cx="3492000" cy="4622400"/>
          </a:xfrm>
          <a:prstGeom prst="rect">
            <a:avLst/>
          </a:prstGeom>
        </p:spPr>
        <p:txBody>
          <a:bodyPr>
            <a:noAutofit/>
          </a:bodyPr>
          <a:lstStyle>
            <a:lvl1pPr marL="342900" indent="-342900" algn="l">
              <a:buFont typeface="Arial" panose="020B0604020202020204" pitchFamily="34" charset="0"/>
              <a:buChar char="•"/>
              <a:defRPr sz="2200" b="0" baseline="0"/>
            </a:lvl1pPr>
            <a:lvl2pPr>
              <a:defRPr sz="1800"/>
            </a:lvl2pPr>
            <a:lvl3pPr>
              <a:defRPr sz="1600"/>
            </a:lvl3pPr>
            <a:lvl4pPr>
              <a:defRPr sz="1400"/>
            </a:lvl4pPr>
            <a:lvl5pPr>
              <a:defRPr sz="1200"/>
            </a:lvl5pPr>
            <a:lvl6pPr>
              <a:defRPr sz="1350"/>
            </a:lvl6pPr>
            <a:lvl7pPr>
              <a:defRPr sz="1350"/>
            </a:lvl7pPr>
            <a:lvl8pPr>
              <a:defRPr sz="1350"/>
            </a:lvl8pPr>
            <a:lvl9pPr>
              <a:defRPr sz="1350"/>
            </a:lvl9pPr>
          </a:lstStyle>
          <a:p>
            <a:pPr lvl="0"/>
            <a:r>
              <a:rPr lang="en-US" dirty="0"/>
              <a:t>Click to add text</a:t>
            </a:r>
          </a:p>
        </p:txBody>
      </p:sp>
    </p:spTree>
    <p:extLst>
      <p:ext uri="{BB962C8B-B14F-4D97-AF65-F5344CB8AC3E}">
        <p14:creationId xmlns:p14="http://schemas.microsoft.com/office/powerpoint/2010/main" val="1102320118"/>
      </p:ext>
    </p:extLst>
  </p:cSld>
  <p:clrMapOvr>
    <a:masterClrMapping/>
  </p:clrMapOvr>
  <p:transition spd="slow">
    <p:wip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Four Pictures with Captions">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266400" y="1812756"/>
            <a:ext cx="2533691" cy="2638927"/>
          </a:xfrm>
          <a:prstGeom prst="rect">
            <a:avLst/>
          </a:prstGeom>
        </p:spPr>
        <p:txBody>
          <a:bodyPr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8" name="Picture Placeholder 2"/>
          <p:cNvSpPr>
            <a:spLocks noGrp="1"/>
          </p:cNvSpPr>
          <p:nvPr>
            <p:ph type="pic" idx="13"/>
          </p:nvPr>
        </p:nvSpPr>
        <p:spPr>
          <a:xfrm>
            <a:off x="6199278" y="1812754"/>
            <a:ext cx="2533691" cy="2638927"/>
          </a:xfrm>
          <a:prstGeom prst="rect">
            <a:avLst/>
          </a:prstGeom>
        </p:spPr>
        <p:txBody>
          <a:bodyPr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hasCustomPrompt="1"/>
          </p:nvPr>
        </p:nvSpPr>
        <p:spPr>
          <a:xfrm>
            <a:off x="266400" y="4592052"/>
            <a:ext cx="2533691" cy="930442"/>
          </a:xfrm>
          <a:prstGeom prst="rect">
            <a:avLst/>
          </a:prstGeom>
        </p:spPr>
        <p:txBody>
          <a:bodyPr>
            <a:normAutofit/>
          </a:bodyPr>
          <a:lstStyle>
            <a:lvl1pPr marL="0" indent="0">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add text</a:t>
            </a:r>
          </a:p>
        </p:txBody>
      </p:sp>
      <p:sp>
        <p:nvSpPr>
          <p:cNvPr id="9" name="Text Placeholder 3"/>
          <p:cNvSpPr>
            <a:spLocks noGrp="1"/>
          </p:cNvSpPr>
          <p:nvPr>
            <p:ph type="body" sz="half" idx="14" hasCustomPrompt="1"/>
          </p:nvPr>
        </p:nvSpPr>
        <p:spPr>
          <a:xfrm>
            <a:off x="3232800" y="4592052"/>
            <a:ext cx="2533691" cy="930442"/>
          </a:xfrm>
          <a:prstGeom prst="rect">
            <a:avLst/>
          </a:prstGeom>
        </p:spPr>
        <p:txBody>
          <a:bodyPr>
            <a:normAutofit/>
          </a:bodyPr>
          <a:lstStyle>
            <a:lvl1pPr marL="0" indent="0">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add text</a:t>
            </a:r>
          </a:p>
        </p:txBody>
      </p:sp>
      <p:sp>
        <p:nvSpPr>
          <p:cNvPr id="7" name="Picture Placeholder 2"/>
          <p:cNvSpPr>
            <a:spLocks noGrp="1"/>
          </p:cNvSpPr>
          <p:nvPr>
            <p:ph type="pic" idx="15"/>
          </p:nvPr>
        </p:nvSpPr>
        <p:spPr>
          <a:xfrm>
            <a:off x="3232839" y="1812754"/>
            <a:ext cx="2533691" cy="2638927"/>
          </a:xfrm>
          <a:prstGeom prst="rect">
            <a:avLst/>
          </a:prstGeom>
        </p:spPr>
        <p:txBody>
          <a:bodyPr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10" name="Picture Placeholder 2"/>
          <p:cNvSpPr>
            <a:spLocks noGrp="1"/>
          </p:cNvSpPr>
          <p:nvPr>
            <p:ph type="pic" idx="16"/>
          </p:nvPr>
        </p:nvSpPr>
        <p:spPr>
          <a:xfrm>
            <a:off x="9124216" y="1812755"/>
            <a:ext cx="2533691" cy="2638927"/>
          </a:xfrm>
          <a:prstGeom prst="rect">
            <a:avLst/>
          </a:prstGeom>
        </p:spPr>
        <p:txBody>
          <a:bodyPr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12" name="Text Placeholder 3"/>
          <p:cNvSpPr>
            <a:spLocks noGrp="1"/>
          </p:cNvSpPr>
          <p:nvPr>
            <p:ph type="body" sz="half" idx="17" hasCustomPrompt="1"/>
          </p:nvPr>
        </p:nvSpPr>
        <p:spPr>
          <a:xfrm>
            <a:off x="6199200" y="4592052"/>
            <a:ext cx="2533691" cy="930442"/>
          </a:xfrm>
          <a:prstGeom prst="rect">
            <a:avLst/>
          </a:prstGeom>
        </p:spPr>
        <p:txBody>
          <a:bodyPr>
            <a:normAutofit/>
          </a:bodyPr>
          <a:lstStyle>
            <a:lvl1pPr marL="0" indent="0">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add text</a:t>
            </a:r>
          </a:p>
        </p:txBody>
      </p:sp>
      <p:sp>
        <p:nvSpPr>
          <p:cNvPr id="13" name="Text Placeholder 3"/>
          <p:cNvSpPr>
            <a:spLocks noGrp="1"/>
          </p:cNvSpPr>
          <p:nvPr>
            <p:ph type="body" sz="half" idx="18" hasCustomPrompt="1"/>
          </p:nvPr>
        </p:nvSpPr>
        <p:spPr>
          <a:xfrm>
            <a:off x="9124215" y="4592052"/>
            <a:ext cx="2533691" cy="930442"/>
          </a:xfrm>
          <a:prstGeom prst="rect">
            <a:avLst/>
          </a:prstGeom>
        </p:spPr>
        <p:txBody>
          <a:bodyPr>
            <a:normAutofit/>
          </a:bodyPr>
          <a:lstStyle>
            <a:lvl1pPr marL="0" indent="0">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add text</a:t>
            </a:r>
          </a:p>
        </p:txBody>
      </p:sp>
      <p:sp>
        <p:nvSpPr>
          <p:cNvPr id="14" name="Title 1"/>
          <p:cNvSpPr>
            <a:spLocks noGrp="1"/>
          </p:cNvSpPr>
          <p:nvPr>
            <p:ph type="title" hasCustomPrompt="1"/>
          </p:nvPr>
        </p:nvSpPr>
        <p:spPr>
          <a:xfrm>
            <a:off x="266400" y="273600"/>
            <a:ext cx="10835325" cy="748800"/>
          </a:xfrm>
          <a:prstGeom prst="rect">
            <a:avLst/>
          </a:prstGeom>
        </p:spPr>
        <p:txBody>
          <a:bodyPr>
            <a:normAutofit/>
          </a:bodyPr>
          <a:lstStyle>
            <a:lvl1pPr algn="l" defTabSz="914240" rtl="0" eaLnBrk="1" latinLnBrk="0" hangingPunct="1">
              <a:lnSpc>
                <a:spcPct val="94000"/>
              </a:lnSpc>
              <a:spcBef>
                <a:spcPct val="0"/>
              </a:spcBef>
              <a:buNone/>
              <a:defRPr lang="en-US" sz="3600" kern="1200" dirty="0">
                <a:solidFill>
                  <a:schemeClr val="tx1"/>
                </a:solidFill>
                <a:latin typeface="+mj-lt"/>
                <a:ea typeface="+mj-ea"/>
                <a:cs typeface="+mj-cs"/>
              </a:defRPr>
            </a:lvl1pPr>
          </a:lstStyle>
          <a:p>
            <a:r>
              <a:rPr lang="en-US" dirty="0"/>
              <a:t>Click to add text</a:t>
            </a:r>
          </a:p>
        </p:txBody>
      </p:sp>
    </p:spTree>
    <p:extLst>
      <p:ext uri="{BB962C8B-B14F-4D97-AF65-F5344CB8AC3E}">
        <p14:creationId xmlns:p14="http://schemas.microsoft.com/office/powerpoint/2010/main" val="1480635270"/>
      </p:ext>
    </p:extLst>
  </p:cSld>
  <p:clrMapOvr>
    <a:masterClrMapping/>
  </p:clrMapOvr>
  <p:transition spd="slow">
    <p:wip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CLI on White">
    <p:spTree>
      <p:nvGrpSpPr>
        <p:cNvPr id="1" name=""/>
        <p:cNvGrpSpPr/>
        <p:nvPr/>
      </p:nvGrpSpPr>
      <p:grpSpPr>
        <a:xfrm>
          <a:off x="0" y="0"/>
          <a:ext cx="0" cy="0"/>
          <a:chOff x="0" y="0"/>
          <a:chExt cx="0" cy="0"/>
        </a:xfrm>
      </p:grpSpPr>
      <p:sp>
        <p:nvSpPr>
          <p:cNvPr id="4" name="Title 1"/>
          <p:cNvSpPr>
            <a:spLocks noGrp="1"/>
          </p:cNvSpPr>
          <p:nvPr>
            <p:ph type="title" hasCustomPrompt="1"/>
          </p:nvPr>
        </p:nvSpPr>
        <p:spPr>
          <a:xfrm>
            <a:off x="266400" y="273600"/>
            <a:ext cx="10835325" cy="748800"/>
          </a:xfrm>
          <a:prstGeom prst="rect">
            <a:avLst/>
          </a:prstGeom>
        </p:spPr>
        <p:txBody>
          <a:bodyPr>
            <a:normAutofit/>
          </a:bodyPr>
          <a:lstStyle>
            <a:lvl1pPr algn="l" defTabSz="914240" rtl="0" eaLnBrk="1" latinLnBrk="0" hangingPunct="1">
              <a:lnSpc>
                <a:spcPct val="94000"/>
              </a:lnSpc>
              <a:spcBef>
                <a:spcPct val="0"/>
              </a:spcBef>
              <a:buNone/>
              <a:defRPr lang="en-US" sz="3600" kern="1200" baseline="0" dirty="0">
                <a:solidFill>
                  <a:schemeClr val="tx1"/>
                </a:solidFill>
                <a:latin typeface="+mj-lt"/>
                <a:ea typeface="+mj-ea"/>
                <a:cs typeface="+mj-cs"/>
              </a:defRPr>
            </a:lvl1pPr>
          </a:lstStyle>
          <a:p>
            <a:r>
              <a:rPr lang="en-US" dirty="0"/>
              <a:t>CLI on White</a:t>
            </a:r>
          </a:p>
        </p:txBody>
      </p:sp>
      <p:sp>
        <p:nvSpPr>
          <p:cNvPr id="5" name="Content Placeholder 2"/>
          <p:cNvSpPr>
            <a:spLocks noGrp="1"/>
          </p:cNvSpPr>
          <p:nvPr>
            <p:ph idx="1" hasCustomPrompt="1"/>
          </p:nvPr>
        </p:nvSpPr>
        <p:spPr>
          <a:xfrm>
            <a:off x="266400" y="975600"/>
            <a:ext cx="11394000" cy="5338800"/>
          </a:xfrm>
          <a:prstGeom prst="rect">
            <a:avLst/>
          </a:prstGeom>
        </p:spPr>
        <p:txBody>
          <a:bodyPr/>
          <a:lstStyle>
            <a:lvl1pPr marL="0" indent="0">
              <a:buClr>
                <a:schemeClr val="accent6"/>
              </a:buClr>
              <a:buNone/>
              <a:defRPr sz="1800">
                <a:solidFill>
                  <a:schemeClr val="tx1"/>
                </a:solidFill>
                <a:latin typeface="Courier New" panose="02070309020205020404" pitchFamily="49" charset="0"/>
                <a:cs typeface="Courier New" panose="02070309020205020404" pitchFamily="49" charset="0"/>
              </a:defRPr>
            </a:lvl1pPr>
            <a:lvl2pPr>
              <a:buClr>
                <a:schemeClr val="accent6"/>
              </a:buClr>
              <a:defRPr sz="2400">
                <a:solidFill>
                  <a:schemeClr val="bg1"/>
                </a:solidFill>
                <a:latin typeface="Courier New" panose="02070309020205020404" pitchFamily="49" charset="0"/>
                <a:cs typeface="Courier New" panose="02070309020205020404" pitchFamily="49" charset="0"/>
              </a:defRPr>
            </a:lvl2pPr>
            <a:lvl3pPr>
              <a:buClr>
                <a:schemeClr val="accent6"/>
              </a:buClr>
              <a:defRPr sz="2000">
                <a:solidFill>
                  <a:schemeClr val="bg1"/>
                </a:solidFill>
                <a:latin typeface="Courier New" panose="02070309020205020404" pitchFamily="49" charset="0"/>
                <a:cs typeface="Courier New" panose="02070309020205020404" pitchFamily="49" charset="0"/>
              </a:defRPr>
            </a:lvl3pPr>
            <a:lvl4pPr>
              <a:buClr>
                <a:schemeClr val="accent6"/>
              </a:buClr>
              <a:defRPr sz="1800">
                <a:solidFill>
                  <a:schemeClr val="bg1"/>
                </a:solidFill>
                <a:latin typeface="Courier New" panose="02070309020205020404" pitchFamily="49" charset="0"/>
                <a:cs typeface="Courier New" panose="02070309020205020404" pitchFamily="49" charset="0"/>
              </a:defRPr>
            </a:lvl4pPr>
            <a:lvl5pPr>
              <a:buClr>
                <a:schemeClr val="accent6"/>
              </a:buClr>
              <a:defRPr sz="1600">
                <a:solidFill>
                  <a:schemeClr val="bg1"/>
                </a:solidFill>
                <a:latin typeface="Courier New" panose="02070309020205020404" pitchFamily="49" charset="0"/>
                <a:cs typeface="Courier New" panose="02070309020205020404" pitchFamily="49" charset="0"/>
              </a:defRPr>
            </a:lvl5pPr>
          </a:lstStyle>
          <a:p>
            <a:pPr lvl="0"/>
            <a:r>
              <a:rPr lang="en-US" dirty="0"/>
              <a:t># Click to add CLI text</a:t>
            </a:r>
          </a:p>
        </p:txBody>
      </p:sp>
    </p:spTree>
    <p:extLst>
      <p:ext uri="{BB962C8B-B14F-4D97-AF65-F5344CB8AC3E}">
        <p14:creationId xmlns:p14="http://schemas.microsoft.com/office/powerpoint/2010/main" val="4021615382"/>
      </p:ext>
    </p:extLst>
  </p:cSld>
  <p:clrMapOvr>
    <a:masterClrMapping/>
  </p:clrMapOvr>
  <p:transition spd="slow">
    <p:wip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Knowledge_Check">
    <p:spTree>
      <p:nvGrpSpPr>
        <p:cNvPr id="1" name=""/>
        <p:cNvGrpSpPr/>
        <p:nvPr/>
      </p:nvGrpSpPr>
      <p:grpSpPr>
        <a:xfrm>
          <a:off x="0" y="0"/>
          <a:ext cx="0" cy="0"/>
          <a:chOff x="0" y="0"/>
          <a:chExt cx="0" cy="0"/>
        </a:xfrm>
      </p:grpSpPr>
      <p:sp>
        <p:nvSpPr>
          <p:cNvPr id="5" name="Content Placeholder 2"/>
          <p:cNvSpPr>
            <a:spLocks noGrp="1"/>
          </p:cNvSpPr>
          <p:nvPr>
            <p:ph idx="1" hasCustomPrompt="1"/>
          </p:nvPr>
        </p:nvSpPr>
        <p:spPr>
          <a:xfrm>
            <a:off x="266400" y="972000"/>
            <a:ext cx="11394000" cy="5335200"/>
          </a:xfrm>
          <a:prstGeom prst="rect">
            <a:avLst/>
          </a:prstGeom>
          <a:noFill/>
        </p:spPr>
        <p:txBody>
          <a:bodyPr/>
          <a:lstStyle>
            <a:lvl1pPr marL="685800" indent="-457200">
              <a:buClr>
                <a:schemeClr val="accent6"/>
              </a:buClr>
              <a:buFont typeface="+mj-lt"/>
              <a:buAutoNum type="arabicPeriod"/>
              <a:defRPr sz="2200" baseline="0"/>
            </a:lvl1pPr>
            <a:lvl2pPr marL="457200" indent="0">
              <a:buClr>
                <a:schemeClr val="accent6"/>
              </a:buClr>
              <a:buNone/>
              <a:defRPr sz="1800"/>
            </a:lvl2pPr>
            <a:lvl3pPr>
              <a:buClr>
                <a:schemeClr val="accent6"/>
              </a:buClr>
              <a:defRPr sz="1600"/>
            </a:lvl3pPr>
            <a:lvl4pPr>
              <a:buClr>
                <a:schemeClr val="accent6"/>
              </a:buClr>
              <a:defRPr sz="1400"/>
            </a:lvl4pPr>
            <a:lvl5pPr>
              <a:buClr>
                <a:schemeClr val="accent6"/>
              </a:buClr>
              <a:defRPr sz="1200"/>
            </a:lvl5pPr>
          </a:lstStyle>
          <a:p>
            <a:r>
              <a:rPr lang="en-CA" dirty="0"/>
              <a:t>&lt;Add question&gt;</a:t>
            </a:r>
          </a:p>
          <a:p>
            <a:pPr marL="800100" lvl="1" indent="-342900">
              <a:buFont typeface="+mj-lt"/>
              <a:buAutoNum type="alphaUcPeriod"/>
            </a:pPr>
            <a:r>
              <a:rPr lang="en-CA" dirty="0"/>
              <a:t>&lt;Add answer&gt;</a:t>
            </a:r>
          </a:p>
          <a:p>
            <a:pPr marL="800100" lvl="1" indent="-342900">
              <a:buFont typeface="+mj-lt"/>
              <a:buAutoNum type="alphaUcPeriod"/>
            </a:pPr>
            <a:r>
              <a:rPr lang="en-CA" dirty="0"/>
              <a:t>&lt;Add answer&gt;</a:t>
            </a:r>
          </a:p>
          <a:p>
            <a:pPr marL="800100" lvl="1" indent="-342900">
              <a:buFont typeface="+mj-lt"/>
              <a:buAutoNum type="alphaUcPeriod"/>
            </a:pPr>
            <a:endParaRPr lang="en-CA" dirty="0"/>
          </a:p>
          <a:p>
            <a:r>
              <a:rPr lang="en-CA" dirty="0"/>
              <a:t>&lt;Add question&gt;</a:t>
            </a:r>
          </a:p>
          <a:p>
            <a:pPr marL="800100" lvl="1" indent="-342900">
              <a:buFont typeface="+mj-lt"/>
              <a:buAutoNum type="alphaUcPeriod"/>
            </a:pPr>
            <a:r>
              <a:rPr lang="en-CA" dirty="0"/>
              <a:t>&lt;Add answer&gt;</a:t>
            </a:r>
          </a:p>
          <a:p>
            <a:pPr marL="800100" lvl="1" indent="-342900">
              <a:buFont typeface="+mj-lt"/>
              <a:buAutoNum type="alphaUcPeriod"/>
            </a:pPr>
            <a:r>
              <a:rPr lang="en-CA" dirty="0"/>
              <a:t>&lt;Add answer&gt;</a:t>
            </a:r>
          </a:p>
          <a:p>
            <a:pPr marL="800100" lvl="1" indent="-342900">
              <a:buFont typeface="+mj-lt"/>
              <a:buAutoNum type="alphaUcPeriod"/>
            </a:pPr>
            <a:endParaRPr lang="en-CA" dirty="0"/>
          </a:p>
          <a:p>
            <a:pPr marL="571500" lvl="0" indent="-342900">
              <a:buFont typeface="+mj-lt"/>
              <a:buAutoNum type="alphaUcPeriod"/>
            </a:pPr>
            <a:endParaRPr lang="en-CA" dirty="0"/>
          </a:p>
        </p:txBody>
      </p:sp>
      <p:sp>
        <p:nvSpPr>
          <p:cNvPr id="6" name="TextBox 5"/>
          <p:cNvSpPr txBox="1"/>
          <p:nvPr/>
        </p:nvSpPr>
        <p:spPr>
          <a:xfrm>
            <a:off x="266400" y="273600"/>
            <a:ext cx="10803600" cy="748800"/>
          </a:xfrm>
          <a:prstGeom prst="rect">
            <a:avLst/>
          </a:prstGeom>
          <a:noFill/>
        </p:spPr>
        <p:txBody>
          <a:bodyPr wrap="square" rtlCol="0">
            <a:spAutoFit/>
          </a:bodyPr>
          <a:lstStyle/>
          <a:p>
            <a:r>
              <a:rPr lang="en-CA" sz="3600" b="0" dirty="0">
                <a:solidFill>
                  <a:schemeClr val="tx1"/>
                </a:solidFill>
                <a:latin typeface="+mj-lt"/>
              </a:rPr>
              <a:t>Knowledge Check</a:t>
            </a:r>
          </a:p>
        </p:txBody>
      </p:sp>
    </p:spTree>
    <p:extLst>
      <p:ext uri="{BB962C8B-B14F-4D97-AF65-F5344CB8AC3E}">
        <p14:creationId xmlns:p14="http://schemas.microsoft.com/office/powerpoint/2010/main" val="2572927670"/>
      </p:ext>
    </p:extLst>
  </p:cSld>
  <p:clrMapOvr>
    <a:masterClrMapping/>
  </p:clrMapOvr>
  <p:transition spd="slow">
    <p:wip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cSld name="Lesson_Progress">
    <p:bg>
      <p:bgPr>
        <a:solidFill>
          <a:srgbClr val="F0F0F0"/>
        </a:solidFill>
        <a:effectLst/>
      </p:bgPr>
    </p:bg>
    <p:spTree>
      <p:nvGrpSpPr>
        <p:cNvPr id="1" name=""/>
        <p:cNvGrpSpPr/>
        <p:nvPr/>
      </p:nvGrpSpPr>
      <p:grpSpPr>
        <a:xfrm>
          <a:off x="0" y="0"/>
          <a:ext cx="0" cy="0"/>
          <a:chOff x="0" y="0"/>
          <a:chExt cx="0" cy="0"/>
        </a:xfrm>
      </p:grpSpPr>
      <p:sp>
        <p:nvSpPr>
          <p:cNvPr id="5" name="TextBox 4"/>
          <p:cNvSpPr txBox="1"/>
          <p:nvPr/>
        </p:nvSpPr>
        <p:spPr>
          <a:xfrm>
            <a:off x="266400" y="273600"/>
            <a:ext cx="10836000" cy="748800"/>
          </a:xfrm>
          <a:prstGeom prst="rect">
            <a:avLst/>
          </a:prstGeom>
          <a:noFill/>
        </p:spPr>
        <p:txBody>
          <a:bodyPr wrap="square" rtlCol="0">
            <a:spAutoFit/>
          </a:bodyPr>
          <a:lstStyle/>
          <a:p>
            <a:r>
              <a:rPr lang="en-CA" sz="3600" b="0" dirty="0">
                <a:solidFill>
                  <a:schemeClr val="tx1"/>
                </a:solidFill>
                <a:latin typeface="+mj-lt"/>
              </a:rPr>
              <a:t>Lesson Progress</a:t>
            </a:r>
          </a:p>
        </p:txBody>
      </p:sp>
      <p:sp>
        <p:nvSpPr>
          <p:cNvPr id="9" name="SmartArt Placeholder 3"/>
          <p:cNvSpPr>
            <a:spLocks noGrp="1"/>
          </p:cNvSpPr>
          <p:nvPr>
            <p:ph type="dgm" sz="quarter" idx="10"/>
          </p:nvPr>
        </p:nvSpPr>
        <p:spPr>
          <a:xfrm>
            <a:off x="266400" y="1346400"/>
            <a:ext cx="11386800" cy="4708800"/>
          </a:xfrm>
          <a:prstGeom prst="rect">
            <a:avLst/>
          </a:prstGeom>
        </p:spPr>
        <p:txBody>
          <a:bodyPr/>
          <a:lstStyle/>
          <a:p>
            <a:r>
              <a:rPr lang="en-US"/>
              <a:t>Click icon to add SmartArt graphic</a:t>
            </a:r>
            <a:endParaRPr lang="en-CA" dirty="0"/>
          </a:p>
        </p:txBody>
      </p:sp>
      <p:sp>
        <p:nvSpPr>
          <p:cNvPr id="6" name="Rectangle 26">
            <a:extLst>
              <a:ext uri="{FF2B5EF4-FFF2-40B4-BE49-F238E27FC236}">
                <a16:creationId xmlns:a16="http://schemas.microsoft.com/office/drawing/2014/main" id="{B5346728-1A43-46F3-94F0-8646875C0BA6}"/>
              </a:ext>
            </a:extLst>
          </p:cNvPr>
          <p:cNvSpPr>
            <a:spLocks noChangeArrowheads="1"/>
          </p:cNvSpPr>
          <p:nvPr/>
        </p:nvSpPr>
        <p:spPr bwMode="black">
          <a:xfrm>
            <a:off x="11570077" y="6483142"/>
            <a:ext cx="372187" cy="276985"/>
          </a:xfrm>
          <a:prstGeom prst="rect">
            <a:avLst/>
          </a:prstGeom>
        </p:spPr>
        <p:txBody>
          <a:bodyPr/>
          <a:lstStyle/>
          <a:p>
            <a:pPr lvl="0" algn="r"/>
            <a:fld id="{5266C0E3-FCB2-4D10-9980-6DFC0D8FABCB}" type="slidenum">
              <a:rPr lang="en-US" sz="1100">
                <a:solidFill>
                  <a:srgbClr val="FF0000"/>
                </a:solidFill>
              </a:rPr>
              <a:pPr lvl="0" algn="r"/>
              <a:t>‹#›</a:t>
            </a:fld>
            <a:endParaRPr lang="en-US" sz="1100" dirty="0">
              <a:solidFill>
                <a:srgbClr val="FF0000"/>
              </a:solidFill>
            </a:endParaRPr>
          </a:p>
        </p:txBody>
      </p:sp>
      <p:sp>
        <p:nvSpPr>
          <p:cNvPr id="7" name="TextBox 6">
            <a:extLst>
              <a:ext uri="{FF2B5EF4-FFF2-40B4-BE49-F238E27FC236}">
                <a16:creationId xmlns:a16="http://schemas.microsoft.com/office/drawing/2014/main" id="{382FAB0E-0D04-4245-92D3-1C9E21FDA85E}"/>
              </a:ext>
            </a:extLst>
          </p:cNvPr>
          <p:cNvSpPr txBox="1"/>
          <p:nvPr/>
        </p:nvSpPr>
        <p:spPr>
          <a:xfrm>
            <a:off x="5059906" y="6513136"/>
            <a:ext cx="2180405" cy="230832"/>
          </a:xfrm>
          <a:prstGeom prst="rect">
            <a:avLst/>
          </a:prstGeom>
          <a:noFill/>
        </p:spPr>
        <p:txBody>
          <a:bodyPr wrap="none" rtlCol="0">
            <a:spAutoFit/>
          </a:bodyPr>
          <a:lstStyle/>
          <a:p>
            <a:pPr algn="l" defTabSz="257091">
              <a:lnSpc>
                <a:spcPct val="90000"/>
              </a:lnSpc>
              <a:spcBef>
                <a:spcPts val="169"/>
              </a:spcBef>
            </a:pPr>
            <a:r>
              <a:rPr lang="en-US" sz="1000" dirty="0">
                <a:solidFill>
                  <a:srgbClr val="000000"/>
                </a:solidFill>
                <a:latin typeface="+mj-lt"/>
                <a:ea typeface="Inter" panose="020B0502030000000004" pitchFamily="34" charset="0"/>
                <a:cs typeface="Arial" panose="020B0604020202020204" pitchFamily="34" charset="0"/>
              </a:rPr>
              <a:t>© Fortinet Inc. All Rights Reserved.</a:t>
            </a:r>
          </a:p>
        </p:txBody>
      </p:sp>
      <p:pic>
        <p:nvPicPr>
          <p:cNvPr id="8" name="Picture 7">
            <a:extLst>
              <a:ext uri="{FF2B5EF4-FFF2-40B4-BE49-F238E27FC236}">
                <a16:creationId xmlns:a16="http://schemas.microsoft.com/office/drawing/2014/main" id="{DAF13C7A-2ACA-3145-8E42-86979311783B}"/>
              </a:ext>
            </a:extLst>
          </p:cNvPr>
          <p:cNvPicPr>
            <a:picLocks noChangeAspect="1"/>
          </p:cNvPicPr>
          <p:nvPr/>
        </p:nvPicPr>
        <p:blipFill>
          <a:blip r:embed="rId2"/>
          <a:stretch>
            <a:fillRect/>
          </a:stretch>
        </p:blipFill>
        <p:spPr>
          <a:xfrm flipH="1" flipV="1">
            <a:off x="11216640" y="1"/>
            <a:ext cx="975360" cy="225084"/>
          </a:xfrm>
          <a:prstGeom prst="rect">
            <a:avLst/>
          </a:prstGeom>
        </p:spPr>
      </p:pic>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6400" y="6401687"/>
            <a:ext cx="1409595" cy="419180"/>
          </a:xfrm>
          <a:prstGeom prst="rect">
            <a:avLst/>
          </a:prstGeom>
        </p:spPr>
      </p:pic>
    </p:spTree>
    <p:extLst>
      <p:ext uri="{BB962C8B-B14F-4D97-AF65-F5344CB8AC3E}">
        <p14:creationId xmlns:p14="http://schemas.microsoft.com/office/powerpoint/2010/main" val="14718155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cSld name="Review">
    <p:bg>
      <p:bgPr>
        <a:solidFill>
          <a:srgbClr val="F0F0F0"/>
        </a:solidFill>
        <a:effectLst/>
      </p:bgPr>
    </p:bg>
    <p:spTree>
      <p:nvGrpSpPr>
        <p:cNvPr id="1" name=""/>
        <p:cNvGrpSpPr/>
        <p:nvPr/>
      </p:nvGrpSpPr>
      <p:grpSpPr>
        <a:xfrm>
          <a:off x="0" y="0"/>
          <a:ext cx="0" cy="0"/>
          <a:chOff x="0" y="0"/>
          <a:chExt cx="0" cy="0"/>
        </a:xfrm>
      </p:grpSpPr>
      <p:sp>
        <p:nvSpPr>
          <p:cNvPr id="5" name="Text Placeholder 2"/>
          <p:cNvSpPr>
            <a:spLocks noGrp="1"/>
          </p:cNvSpPr>
          <p:nvPr>
            <p:ph type="body" idx="1" hasCustomPrompt="1"/>
          </p:nvPr>
        </p:nvSpPr>
        <p:spPr>
          <a:xfrm>
            <a:off x="266400" y="975600"/>
            <a:ext cx="11394000" cy="5338800"/>
          </a:xfrm>
          <a:prstGeom prst="rect">
            <a:avLst/>
          </a:prstGeom>
        </p:spPr>
        <p:txBody>
          <a:bodyPr anchor="t" anchorCtr="0"/>
          <a:lstStyle>
            <a:lvl1pPr marL="457200" indent="-457200" algn="l">
              <a:buClr>
                <a:srgbClr val="00B050"/>
              </a:buClr>
              <a:buFont typeface="Wingdings" panose="05000000000000000000" pitchFamily="2" charset="2"/>
              <a:buChar char="ü"/>
              <a:defRPr sz="2700" baseline="0">
                <a:solidFill>
                  <a:schemeClr val="tx1"/>
                </a:solidFill>
              </a:defRPr>
            </a:lvl1pPr>
            <a:lvl2pPr marL="457120" indent="0">
              <a:buNone/>
              <a:defRPr sz="1800">
                <a:solidFill>
                  <a:schemeClr val="tx1">
                    <a:tint val="75000"/>
                  </a:schemeClr>
                </a:solidFill>
              </a:defRPr>
            </a:lvl2pPr>
            <a:lvl3pPr marL="914240" indent="0">
              <a:buNone/>
              <a:defRPr sz="1600">
                <a:solidFill>
                  <a:schemeClr val="tx1">
                    <a:tint val="75000"/>
                  </a:schemeClr>
                </a:solidFill>
              </a:defRPr>
            </a:lvl3pPr>
            <a:lvl4pPr marL="1371360" indent="0">
              <a:buNone/>
              <a:defRPr sz="1400">
                <a:solidFill>
                  <a:schemeClr val="tx1">
                    <a:tint val="75000"/>
                  </a:schemeClr>
                </a:solidFill>
              </a:defRPr>
            </a:lvl4pPr>
            <a:lvl5pPr marL="1828480" indent="0">
              <a:buNone/>
              <a:defRPr sz="1400">
                <a:solidFill>
                  <a:schemeClr val="tx1">
                    <a:tint val="75000"/>
                  </a:schemeClr>
                </a:solidFill>
              </a:defRPr>
            </a:lvl5pPr>
            <a:lvl6pPr marL="2285600" indent="0">
              <a:buNone/>
              <a:defRPr sz="1400">
                <a:solidFill>
                  <a:schemeClr val="tx1">
                    <a:tint val="75000"/>
                  </a:schemeClr>
                </a:solidFill>
              </a:defRPr>
            </a:lvl6pPr>
            <a:lvl7pPr marL="2742720" indent="0">
              <a:buNone/>
              <a:defRPr sz="1400">
                <a:solidFill>
                  <a:schemeClr val="tx1">
                    <a:tint val="75000"/>
                  </a:schemeClr>
                </a:solidFill>
              </a:defRPr>
            </a:lvl7pPr>
            <a:lvl8pPr marL="3199840" indent="0">
              <a:buNone/>
              <a:defRPr sz="1400">
                <a:solidFill>
                  <a:schemeClr val="tx1">
                    <a:tint val="75000"/>
                  </a:schemeClr>
                </a:solidFill>
              </a:defRPr>
            </a:lvl8pPr>
            <a:lvl9pPr marL="3656960" indent="0">
              <a:buNone/>
              <a:defRPr sz="1400">
                <a:solidFill>
                  <a:schemeClr val="tx1">
                    <a:tint val="75000"/>
                  </a:schemeClr>
                </a:solidFill>
              </a:defRPr>
            </a:lvl9pPr>
          </a:lstStyle>
          <a:p>
            <a:pPr lvl="0"/>
            <a:r>
              <a:rPr lang="en-US" dirty="0"/>
              <a:t>[text]</a:t>
            </a:r>
          </a:p>
        </p:txBody>
      </p:sp>
      <p:sp>
        <p:nvSpPr>
          <p:cNvPr id="6" name="TextBox 5"/>
          <p:cNvSpPr txBox="1"/>
          <p:nvPr/>
        </p:nvSpPr>
        <p:spPr>
          <a:xfrm>
            <a:off x="266400" y="273600"/>
            <a:ext cx="10836000" cy="646331"/>
          </a:xfrm>
          <a:prstGeom prst="rect">
            <a:avLst/>
          </a:prstGeom>
          <a:noFill/>
        </p:spPr>
        <p:txBody>
          <a:bodyPr wrap="square" rtlCol="0">
            <a:spAutoFit/>
          </a:bodyPr>
          <a:lstStyle/>
          <a:p>
            <a:r>
              <a:rPr lang="en-CA" sz="3600" b="0" dirty="0">
                <a:solidFill>
                  <a:schemeClr val="tx1"/>
                </a:solidFill>
                <a:latin typeface="+mj-lt"/>
              </a:rPr>
              <a:t>Review</a:t>
            </a:r>
          </a:p>
        </p:txBody>
      </p:sp>
      <p:sp>
        <p:nvSpPr>
          <p:cNvPr id="7" name="Rectangle 26">
            <a:extLst>
              <a:ext uri="{FF2B5EF4-FFF2-40B4-BE49-F238E27FC236}">
                <a16:creationId xmlns:a16="http://schemas.microsoft.com/office/drawing/2014/main" id="{B5346728-1A43-46F3-94F0-8646875C0BA6}"/>
              </a:ext>
            </a:extLst>
          </p:cNvPr>
          <p:cNvSpPr>
            <a:spLocks noChangeArrowheads="1"/>
          </p:cNvSpPr>
          <p:nvPr/>
        </p:nvSpPr>
        <p:spPr bwMode="black">
          <a:xfrm>
            <a:off x="11570077" y="6483142"/>
            <a:ext cx="372187" cy="276985"/>
          </a:xfrm>
          <a:prstGeom prst="rect">
            <a:avLst/>
          </a:prstGeom>
        </p:spPr>
        <p:txBody>
          <a:bodyPr/>
          <a:lstStyle/>
          <a:p>
            <a:pPr lvl="0" algn="r"/>
            <a:fld id="{5266C0E3-FCB2-4D10-9980-6DFC0D8FABCB}" type="slidenum">
              <a:rPr lang="en-US" sz="1100">
                <a:solidFill>
                  <a:srgbClr val="FF0000"/>
                </a:solidFill>
              </a:rPr>
              <a:pPr lvl="0" algn="r"/>
              <a:t>‹#›</a:t>
            </a:fld>
            <a:endParaRPr lang="en-US" sz="1100" dirty="0">
              <a:solidFill>
                <a:srgbClr val="FF0000"/>
              </a:solidFill>
            </a:endParaRPr>
          </a:p>
        </p:txBody>
      </p:sp>
      <p:sp>
        <p:nvSpPr>
          <p:cNvPr id="8" name="TextBox 7">
            <a:extLst>
              <a:ext uri="{FF2B5EF4-FFF2-40B4-BE49-F238E27FC236}">
                <a16:creationId xmlns:a16="http://schemas.microsoft.com/office/drawing/2014/main" id="{382FAB0E-0D04-4245-92D3-1C9E21FDA85E}"/>
              </a:ext>
            </a:extLst>
          </p:cNvPr>
          <p:cNvSpPr txBox="1"/>
          <p:nvPr/>
        </p:nvSpPr>
        <p:spPr>
          <a:xfrm>
            <a:off x="5059906" y="6513136"/>
            <a:ext cx="2180405" cy="230832"/>
          </a:xfrm>
          <a:prstGeom prst="rect">
            <a:avLst/>
          </a:prstGeom>
          <a:noFill/>
        </p:spPr>
        <p:txBody>
          <a:bodyPr wrap="none" rtlCol="0">
            <a:spAutoFit/>
          </a:bodyPr>
          <a:lstStyle/>
          <a:p>
            <a:pPr algn="l" defTabSz="257091">
              <a:lnSpc>
                <a:spcPct val="90000"/>
              </a:lnSpc>
              <a:spcBef>
                <a:spcPts val="169"/>
              </a:spcBef>
            </a:pPr>
            <a:r>
              <a:rPr lang="en-US" sz="1000" dirty="0">
                <a:solidFill>
                  <a:srgbClr val="000000"/>
                </a:solidFill>
                <a:latin typeface="+mj-lt"/>
                <a:ea typeface="Inter" panose="020B0502030000000004" pitchFamily="34" charset="0"/>
                <a:cs typeface="Arial" panose="020B0604020202020204" pitchFamily="34" charset="0"/>
              </a:rPr>
              <a:t>© Fortinet Inc. All Rights Reserved.</a:t>
            </a:r>
          </a:p>
        </p:txBody>
      </p:sp>
      <p:pic>
        <p:nvPicPr>
          <p:cNvPr id="9" name="Picture 8">
            <a:extLst>
              <a:ext uri="{FF2B5EF4-FFF2-40B4-BE49-F238E27FC236}">
                <a16:creationId xmlns:a16="http://schemas.microsoft.com/office/drawing/2014/main" id="{DAF13C7A-2ACA-3145-8E42-86979311783B}"/>
              </a:ext>
            </a:extLst>
          </p:cNvPr>
          <p:cNvPicPr>
            <a:picLocks noChangeAspect="1"/>
          </p:cNvPicPr>
          <p:nvPr/>
        </p:nvPicPr>
        <p:blipFill>
          <a:blip r:embed="rId2"/>
          <a:stretch>
            <a:fillRect/>
          </a:stretch>
        </p:blipFill>
        <p:spPr>
          <a:xfrm flipH="1" flipV="1">
            <a:off x="11216640" y="1"/>
            <a:ext cx="975360" cy="225084"/>
          </a:xfrm>
          <a:prstGeom prst="rect">
            <a:avLst/>
          </a:prstGeom>
        </p:spPr>
      </p:pic>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6400" y="6401687"/>
            <a:ext cx="1409595" cy="419180"/>
          </a:xfrm>
          <a:prstGeom prst="rect">
            <a:avLst/>
          </a:prstGeom>
        </p:spPr>
      </p:pic>
    </p:spTree>
    <p:extLst>
      <p:ext uri="{BB962C8B-B14F-4D97-AF65-F5344CB8AC3E}">
        <p14:creationId xmlns:p14="http://schemas.microsoft.com/office/powerpoint/2010/main" val="18885243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End Slid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A058618-904A-5947-B84B-84EBE4EE0442}"/>
              </a:ext>
            </a:extLst>
          </p:cNvPr>
          <p:cNvPicPr>
            <a:picLocks noChangeAspect="1"/>
          </p:cNvPicPr>
          <p:nvPr/>
        </p:nvPicPr>
        <p:blipFill>
          <a:blip r:embed="rId2"/>
          <a:stretch>
            <a:fillRect/>
          </a:stretch>
        </p:blipFill>
        <p:spPr>
          <a:xfrm flipH="1" flipV="1">
            <a:off x="11213719" y="0"/>
            <a:ext cx="975106" cy="225084"/>
          </a:xfrm>
          <a:prstGeom prst="rect">
            <a:avLst/>
          </a:prstGeom>
        </p:spPr>
      </p:pic>
      <p:pic>
        <p:nvPicPr>
          <p:cNvPr id="7" name="Picture 6">
            <a:extLst>
              <a:ext uri="{FF2B5EF4-FFF2-40B4-BE49-F238E27FC236}">
                <a16:creationId xmlns:a16="http://schemas.microsoft.com/office/drawing/2014/main" id="{6EA200D6-D23B-B741-BC58-4374DA39A737}"/>
              </a:ext>
            </a:extLst>
          </p:cNvPr>
          <p:cNvPicPr>
            <a:picLocks noChangeAspect="1"/>
          </p:cNvPicPr>
          <p:nvPr/>
        </p:nvPicPr>
        <p:blipFill>
          <a:blip r:embed="rId3"/>
          <a:stretch>
            <a:fillRect/>
          </a:stretch>
        </p:blipFill>
        <p:spPr>
          <a:xfrm>
            <a:off x="4282182" y="3128211"/>
            <a:ext cx="3624462" cy="414848"/>
          </a:xfrm>
          <a:prstGeom prst="rect">
            <a:avLst/>
          </a:prstGeom>
        </p:spPr>
      </p:pic>
      <p:pic>
        <p:nvPicPr>
          <p:cNvPr id="5" name="Picture 4">
            <a:extLst>
              <a:ext uri="{FF2B5EF4-FFF2-40B4-BE49-F238E27FC236}">
                <a16:creationId xmlns:a16="http://schemas.microsoft.com/office/drawing/2014/main" id="{3A058618-904A-5947-B84B-84EBE4EE0442}"/>
              </a:ext>
            </a:extLst>
          </p:cNvPr>
          <p:cNvPicPr>
            <a:picLocks noChangeAspect="1"/>
          </p:cNvPicPr>
          <p:nvPr/>
        </p:nvPicPr>
        <p:blipFill>
          <a:blip r:embed="rId2"/>
          <a:stretch>
            <a:fillRect/>
          </a:stretch>
        </p:blipFill>
        <p:spPr>
          <a:xfrm flipH="1" flipV="1">
            <a:off x="11216640" y="1"/>
            <a:ext cx="975360" cy="225084"/>
          </a:xfrm>
          <a:prstGeom prst="rect">
            <a:avLst/>
          </a:prstGeom>
        </p:spPr>
      </p:pic>
      <p:pic>
        <p:nvPicPr>
          <p:cNvPr id="6" name="Picture 5">
            <a:extLst>
              <a:ext uri="{FF2B5EF4-FFF2-40B4-BE49-F238E27FC236}">
                <a16:creationId xmlns:a16="http://schemas.microsoft.com/office/drawing/2014/main" id="{6EA200D6-D23B-B741-BC58-4374DA39A737}"/>
              </a:ext>
            </a:extLst>
          </p:cNvPr>
          <p:cNvPicPr>
            <a:picLocks noChangeAspect="1"/>
          </p:cNvPicPr>
          <p:nvPr/>
        </p:nvPicPr>
        <p:blipFill>
          <a:blip r:embed="rId3"/>
          <a:stretch>
            <a:fillRect/>
          </a:stretch>
        </p:blipFill>
        <p:spPr>
          <a:xfrm>
            <a:off x="4283303" y="3128212"/>
            <a:ext cx="3625407" cy="414848"/>
          </a:xfrm>
          <a:prstGeom prst="rect">
            <a:avLst/>
          </a:prstGeom>
        </p:spPr>
      </p:pic>
    </p:spTree>
    <p:extLst>
      <p:ext uri="{BB962C8B-B14F-4D97-AF65-F5344CB8AC3E}">
        <p14:creationId xmlns:p14="http://schemas.microsoft.com/office/powerpoint/2010/main" val="12754760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104">
          <p15:clr>
            <a:srgbClr val="FBAE40"/>
          </p15:clr>
        </p15:guide>
        <p15:guide id="2" pos="456">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image" Target="../media/image2.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1.emf"/><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2">
            <a:lumMod val="20000"/>
            <a:lumOff val="80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AF13C7A-2ACA-3145-8E42-86979311783B}"/>
              </a:ext>
            </a:extLst>
          </p:cNvPr>
          <p:cNvPicPr>
            <a:picLocks noChangeAspect="1"/>
          </p:cNvPicPr>
          <p:nvPr/>
        </p:nvPicPr>
        <p:blipFill>
          <a:blip r:embed="rId31"/>
          <a:stretch>
            <a:fillRect/>
          </a:stretch>
        </p:blipFill>
        <p:spPr>
          <a:xfrm flipH="1" flipV="1">
            <a:off x="11213719" y="0"/>
            <a:ext cx="975106" cy="225084"/>
          </a:xfrm>
          <a:prstGeom prst="rect">
            <a:avLst/>
          </a:prstGeom>
        </p:spPr>
      </p:pic>
      <p:sp>
        <p:nvSpPr>
          <p:cNvPr id="8" name="Rectangle 26">
            <a:extLst>
              <a:ext uri="{FF2B5EF4-FFF2-40B4-BE49-F238E27FC236}">
                <a16:creationId xmlns:a16="http://schemas.microsoft.com/office/drawing/2014/main" id="{B5346728-1A43-46F3-94F0-8646875C0BA6}"/>
              </a:ext>
            </a:extLst>
          </p:cNvPr>
          <p:cNvSpPr>
            <a:spLocks noChangeArrowheads="1"/>
          </p:cNvSpPr>
          <p:nvPr/>
        </p:nvSpPr>
        <p:spPr bwMode="black">
          <a:xfrm>
            <a:off x="11570077" y="6483142"/>
            <a:ext cx="372187" cy="276985"/>
          </a:xfrm>
          <a:prstGeom prst="rect">
            <a:avLst/>
          </a:prstGeom>
        </p:spPr>
        <p:txBody>
          <a:bodyPr/>
          <a:lstStyle/>
          <a:p>
            <a:pPr lvl="0" algn="r"/>
            <a:fld id="{5266C0E3-FCB2-4D10-9980-6DFC0D8FABCB}" type="slidenum">
              <a:rPr lang="en-US" sz="1100">
                <a:solidFill>
                  <a:srgbClr val="FF0000"/>
                </a:solidFill>
              </a:rPr>
              <a:pPr lvl="0" algn="r"/>
              <a:t>‹#›</a:t>
            </a:fld>
            <a:endParaRPr lang="en-US" sz="1100" dirty="0">
              <a:solidFill>
                <a:srgbClr val="FF0000"/>
              </a:solidFill>
            </a:endParaRPr>
          </a:p>
        </p:txBody>
      </p:sp>
      <p:sp>
        <p:nvSpPr>
          <p:cNvPr id="10" name="TextBox 9">
            <a:extLst>
              <a:ext uri="{FF2B5EF4-FFF2-40B4-BE49-F238E27FC236}">
                <a16:creationId xmlns:a16="http://schemas.microsoft.com/office/drawing/2014/main" id="{382FAB0E-0D04-4245-92D3-1C9E21FDA85E}"/>
              </a:ext>
            </a:extLst>
          </p:cNvPr>
          <p:cNvSpPr txBox="1"/>
          <p:nvPr/>
        </p:nvSpPr>
        <p:spPr>
          <a:xfrm>
            <a:off x="5059906" y="6513136"/>
            <a:ext cx="2180405" cy="230832"/>
          </a:xfrm>
          <a:prstGeom prst="rect">
            <a:avLst/>
          </a:prstGeom>
          <a:noFill/>
        </p:spPr>
        <p:txBody>
          <a:bodyPr wrap="none" rtlCol="0">
            <a:spAutoFit/>
          </a:bodyPr>
          <a:lstStyle/>
          <a:p>
            <a:pPr algn="l" defTabSz="257091">
              <a:lnSpc>
                <a:spcPct val="90000"/>
              </a:lnSpc>
              <a:spcBef>
                <a:spcPts val="169"/>
              </a:spcBef>
            </a:pPr>
            <a:r>
              <a:rPr lang="en-US" sz="1000" dirty="0">
                <a:solidFill>
                  <a:srgbClr val="000000"/>
                </a:solidFill>
                <a:latin typeface="+mj-lt"/>
                <a:ea typeface="Inter" panose="020B0502030000000004" pitchFamily="34" charset="0"/>
                <a:cs typeface="Arial" panose="020B0604020202020204" pitchFamily="34" charset="0"/>
              </a:rPr>
              <a:t>© Fortinet Inc. All Rights Reserved.</a:t>
            </a:r>
          </a:p>
        </p:txBody>
      </p:sp>
      <p:pic>
        <p:nvPicPr>
          <p:cNvPr id="11" name="Picture 10">
            <a:extLst>
              <a:ext uri="{FF2B5EF4-FFF2-40B4-BE49-F238E27FC236}">
                <a16:creationId xmlns:a16="http://schemas.microsoft.com/office/drawing/2014/main" id="{DAF13C7A-2ACA-3145-8E42-86979311783B}"/>
              </a:ext>
            </a:extLst>
          </p:cNvPr>
          <p:cNvPicPr>
            <a:picLocks noChangeAspect="1"/>
          </p:cNvPicPr>
          <p:nvPr/>
        </p:nvPicPr>
        <p:blipFill>
          <a:blip r:embed="rId31"/>
          <a:stretch>
            <a:fillRect/>
          </a:stretch>
        </p:blipFill>
        <p:spPr>
          <a:xfrm flipH="1" flipV="1">
            <a:off x="11216640" y="1"/>
            <a:ext cx="975360" cy="225084"/>
          </a:xfrm>
          <a:prstGeom prst="rect">
            <a:avLst/>
          </a:prstGeom>
        </p:spPr>
      </p:pic>
      <p:sp>
        <p:nvSpPr>
          <p:cNvPr id="13" name="Text Placeholder 11"/>
          <p:cNvSpPr>
            <a:spLocks noGrp="1"/>
          </p:cNvSpPr>
          <p:nvPr>
            <p:ph type="body" idx="1"/>
          </p:nvPr>
        </p:nvSpPr>
        <p:spPr>
          <a:xfrm>
            <a:off x="266400" y="972000"/>
            <a:ext cx="11394000" cy="5335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9" name="Picture 8"/>
          <p:cNvPicPr>
            <a:picLocks noChangeAspect="1"/>
          </p:cNvPicPr>
          <p:nvPr/>
        </p:nvPicPr>
        <p:blipFill>
          <a:blip r:embed="rId32">
            <a:extLst>
              <a:ext uri="{28A0092B-C50C-407E-A947-70E740481C1C}">
                <a14:useLocalDpi xmlns:a14="http://schemas.microsoft.com/office/drawing/2010/main" val="0"/>
              </a:ext>
            </a:extLst>
          </a:blip>
          <a:stretch>
            <a:fillRect/>
          </a:stretch>
        </p:blipFill>
        <p:spPr>
          <a:xfrm>
            <a:off x="266400" y="6401687"/>
            <a:ext cx="1409595" cy="419180"/>
          </a:xfrm>
          <a:prstGeom prst="rect">
            <a:avLst/>
          </a:prstGeom>
        </p:spPr>
      </p:pic>
    </p:spTree>
    <p:extLst>
      <p:ext uri="{BB962C8B-B14F-4D97-AF65-F5344CB8AC3E}">
        <p14:creationId xmlns:p14="http://schemas.microsoft.com/office/powerpoint/2010/main" val="2943761042"/>
      </p:ext>
    </p:extLst>
  </p:cSld>
  <p:clrMap bg1="lt1" tx1="dk1" bg2="lt2" tx2="dk2" accent1="accent1" accent2="accent2" accent3="accent3" accent4="accent4" accent5="accent5" accent6="accent6" hlink="hlink" folHlink="folHlink"/>
  <p:sldLayoutIdLst>
    <p:sldLayoutId id="2147483832" r:id="rId1"/>
    <p:sldLayoutId id="2147483833" r:id="rId2"/>
    <p:sldLayoutId id="2147483834" r:id="rId3"/>
    <p:sldLayoutId id="2147483835" r:id="rId4"/>
    <p:sldLayoutId id="2147483836" r:id="rId5"/>
    <p:sldLayoutId id="2147483837" r:id="rId6"/>
    <p:sldLayoutId id="2147483838" r:id="rId7"/>
    <p:sldLayoutId id="2147483839" r:id="rId8"/>
    <p:sldLayoutId id="2147483840" r:id="rId9"/>
    <p:sldLayoutId id="2147483841" r:id="rId10"/>
    <p:sldLayoutId id="2147483842" r:id="rId11"/>
    <p:sldLayoutId id="2147483843" r:id="rId12"/>
    <p:sldLayoutId id="2147483844" r:id="rId13"/>
    <p:sldLayoutId id="2147483845" r:id="rId14"/>
    <p:sldLayoutId id="2147483846" r:id="rId15"/>
    <p:sldLayoutId id="2147483847" r:id="rId16"/>
    <p:sldLayoutId id="2147483848" r:id="rId17"/>
    <p:sldLayoutId id="2147483849" r:id="rId18"/>
    <p:sldLayoutId id="2147483850" r:id="rId19"/>
    <p:sldLayoutId id="2147483851" r:id="rId20"/>
    <p:sldLayoutId id="2147483852" r:id="rId21"/>
    <p:sldLayoutId id="2147483853" r:id="rId22"/>
    <p:sldLayoutId id="2147483854" r:id="rId23"/>
    <p:sldLayoutId id="2147483855" r:id="rId24"/>
    <p:sldLayoutId id="2147483856" r:id="rId25"/>
    <p:sldLayoutId id="2147483857" r:id="rId26"/>
    <p:sldLayoutId id="2147483858" r:id="rId27"/>
    <p:sldLayoutId id="2147483859" r:id="rId28"/>
    <p:sldLayoutId id="2147483860" r:id="rId29"/>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126" rtl="0" eaLnBrk="1" latinLnBrk="0" hangingPunct="1">
        <a:lnSpc>
          <a:spcPct val="90000"/>
        </a:lnSpc>
        <a:spcBef>
          <a:spcPct val="0"/>
        </a:spcBef>
        <a:buNone/>
        <a:defRPr sz="4399" kern="1200">
          <a:solidFill>
            <a:schemeClr val="tx1"/>
          </a:solidFill>
          <a:latin typeface="+mj-lt"/>
          <a:ea typeface="+mj-ea"/>
          <a:cs typeface="+mj-cs"/>
        </a:defRPr>
      </a:lvl1pPr>
    </p:titleStyle>
    <p:bodyStyle>
      <a:lvl1pPr marL="228531" indent="-228531" algn="l" defTabSz="914126" rtl="0" eaLnBrk="1" latinLnBrk="0" hangingPunct="1">
        <a:lnSpc>
          <a:spcPct val="90000"/>
        </a:lnSpc>
        <a:spcBef>
          <a:spcPts val="1000"/>
        </a:spcBef>
        <a:buClr>
          <a:srgbClr val="FF0000"/>
        </a:buClr>
        <a:buFont typeface="Arial" panose="020B0604020202020204" pitchFamily="34" charset="0"/>
        <a:buChar char="•"/>
        <a:defRPr sz="2799" kern="1200">
          <a:solidFill>
            <a:schemeClr val="tx1"/>
          </a:solidFill>
          <a:latin typeface="+mn-lt"/>
          <a:ea typeface="+mn-ea"/>
          <a:cs typeface="+mn-cs"/>
        </a:defRPr>
      </a:lvl1pPr>
      <a:lvl2pPr marL="685594" indent="-228531" algn="l" defTabSz="914126" rtl="0" eaLnBrk="1" latinLnBrk="0" hangingPunct="1">
        <a:lnSpc>
          <a:spcPct val="90000"/>
        </a:lnSpc>
        <a:spcBef>
          <a:spcPts val="500"/>
        </a:spcBef>
        <a:buClr>
          <a:srgbClr val="FF0000"/>
        </a:buClr>
        <a:buFont typeface="Arial" panose="020B0604020202020204" pitchFamily="34" charset="0"/>
        <a:buChar char="•"/>
        <a:defRPr sz="2399" kern="1200">
          <a:solidFill>
            <a:schemeClr val="tx1"/>
          </a:solidFill>
          <a:latin typeface="+mn-lt"/>
          <a:ea typeface="+mn-ea"/>
          <a:cs typeface="+mn-cs"/>
        </a:defRPr>
      </a:lvl2pPr>
      <a:lvl3pPr marL="1142657" indent="-228531" algn="l" defTabSz="914126" rtl="0" eaLnBrk="1" latinLnBrk="0" hangingPunct="1">
        <a:lnSpc>
          <a:spcPct val="90000"/>
        </a:lnSpc>
        <a:spcBef>
          <a:spcPts val="500"/>
        </a:spcBef>
        <a:buClr>
          <a:srgbClr val="FF0000"/>
        </a:buClr>
        <a:buFont typeface="Arial" panose="020B0604020202020204" pitchFamily="34" charset="0"/>
        <a:buChar char="•"/>
        <a:defRPr sz="1999" kern="1200">
          <a:solidFill>
            <a:schemeClr val="tx1"/>
          </a:solidFill>
          <a:latin typeface="+mn-lt"/>
          <a:ea typeface="+mn-ea"/>
          <a:cs typeface="+mn-cs"/>
        </a:defRPr>
      </a:lvl3pPr>
      <a:lvl4pPr marL="1599720" indent="-228531" algn="l" defTabSz="914126" rtl="0" eaLnBrk="1" latinLnBrk="0" hangingPunct="1">
        <a:lnSpc>
          <a:spcPct val="90000"/>
        </a:lnSpc>
        <a:spcBef>
          <a:spcPts val="500"/>
        </a:spcBef>
        <a:buClr>
          <a:srgbClr val="FF0000"/>
        </a:buClr>
        <a:buFont typeface="Arial" panose="020B0604020202020204" pitchFamily="34" charset="0"/>
        <a:buChar char="•"/>
        <a:defRPr sz="1799" kern="1200">
          <a:solidFill>
            <a:schemeClr val="tx1"/>
          </a:solidFill>
          <a:latin typeface="+mn-lt"/>
          <a:ea typeface="+mn-ea"/>
          <a:cs typeface="+mn-cs"/>
        </a:defRPr>
      </a:lvl4pPr>
      <a:lvl5pPr marL="2056783" indent="-228531" algn="l" defTabSz="914126" rtl="0" eaLnBrk="1" latinLnBrk="0" hangingPunct="1">
        <a:lnSpc>
          <a:spcPct val="90000"/>
        </a:lnSpc>
        <a:spcBef>
          <a:spcPts val="500"/>
        </a:spcBef>
        <a:buClr>
          <a:srgbClr val="FF0000"/>
        </a:buClr>
        <a:buFont typeface="Arial" panose="020B0604020202020204" pitchFamily="34" charset="0"/>
        <a:buChar char="•"/>
        <a:defRPr sz="1799" kern="1200">
          <a:solidFill>
            <a:schemeClr val="tx1"/>
          </a:solidFill>
          <a:latin typeface="+mn-lt"/>
          <a:ea typeface="+mn-ea"/>
          <a:cs typeface="+mn-cs"/>
        </a:defRPr>
      </a:lvl5pPr>
      <a:lvl6pPr marL="2513846"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908"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971"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5034"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en-US"/>
      </a:defPPr>
      <a:lvl1pPr marL="0" algn="l" defTabSz="914126" rtl="0" eaLnBrk="1" latinLnBrk="0" hangingPunct="1">
        <a:defRPr sz="1799" kern="1200">
          <a:solidFill>
            <a:schemeClr val="tx1"/>
          </a:solidFill>
          <a:latin typeface="+mn-lt"/>
          <a:ea typeface="+mn-ea"/>
          <a:cs typeface="+mn-cs"/>
        </a:defRPr>
      </a:lvl1pPr>
      <a:lvl2pPr marL="457063" algn="l" defTabSz="914126" rtl="0" eaLnBrk="1" latinLnBrk="0" hangingPunct="1">
        <a:defRPr sz="1799" kern="1200">
          <a:solidFill>
            <a:schemeClr val="tx1"/>
          </a:solidFill>
          <a:latin typeface="+mn-lt"/>
          <a:ea typeface="+mn-ea"/>
          <a:cs typeface="+mn-cs"/>
        </a:defRPr>
      </a:lvl2pPr>
      <a:lvl3pPr marL="914126" algn="l" defTabSz="914126" rtl="0" eaLnBrk="1" latinLnBrk="0" hangingPunct="1">
        <a:defRPr sz="1799" kern="1200">
          <a:solidFill>
            <a:schemeClr val="tx1"/>
          </a:solidFill>
          <a:latin typeface="+mn-lt"/>
          <a:ea typeface="+mn-ea"/>
          <a:cs typeface="+mn-cs"/>
        </a:defRPr>
      </a:lvl3pPr>
      <a:lvl4pPr marL="1371189" algn="l" defTabSz="914126" rtl="0" eaLnBrk="1" latinLnBrk="0" hangingPunct="1">
        <a:defRPr sz="1799" kern="1200">
          <a:solidFill>
            <a:schemeClr val="tx1"/>
          </a:solidFill>
          <a:latin typeface="+mn-lt"/>
          <a:ea typeface="+mn-ea"/>
          <a:cs typeface="+mn-cs"/>
        </a:defRPr>
      </a:lvl4pPr>
      <a:lvl5pPr marL="1828251" algn="l" defTabSz="914126" rtl="0" eaLnBrk="1" latinLnBrk="0" hangingPunct="1">
        <a:defRPr sz="1799" kern="1200">
          <a:solidFill>
            <a:schemeClr val="tx1"/>
          </a:solidFill>
          <a:latin typeface="+mn-lt"/>
          <a:ea typeface="+mn-ea"/>
          <a:cs typeface="+mn-cs"/>
        </a:defRPr>
      </a:lvl5pPr>
      <a:lvl6pPr marL="2285314" algn="l" defTabSz="914126" rtl="0" eaLnBrk="1" latinLnBrk="0" hangingPunct="1">
        <a:defRPr sz="1799" kern="1200">
          <a:solidFill>
            <a:schemeClr val="tx1"/>
          </a:solidFill>
          <a:latin typeface="+mn-lt"/>
          <a:ea typeface="+mn-ea"/>
          <a:cs typeface="+mn-cs"/>
        </a:defRPr>
      </a:lvl6pPr>
      <a:lvl7pPr marL="2742377" algn="l" defTabSz="914126" rtl="0" eaLnBrk="1" latinLnBrk="0" hangingPunct="1">
        <a:defRPr sz="1799" kern="1200">
          <a:solidFill>
            <a:schemeClr val="tx1"/>
          </a:solidFill>
          <a:latin typeface="+mn-lt"/>
          <a:ea typeface="+mn-ea"/>
          <a:cs typeface="+mn-cs"/>
        </a:defRPr>
      </a:lvl7pPr>
      <a:lvl8pPr marL="3199440" algn="l" defTabSz="914126" rtl="0" eaLnBrk="1" latinLnBrk="0" hangingPunct="1">
        <a:defRPr sz="1799" kern="1200">
          <a:solidFill>
            <a:schemeClr val="tx1"/>
          </a:solidFill>
          <a:latin typeface="+mn-lt"/>
          <a:ea typeface="+mn-ea"/>
          <a:cs typeface="+mn-cs"/>
        </a:defRPr>
      </a:lvl8pPr>
      <a:lvl9pPr marL="3656503" algn="l" defTabSz="914126" rtl="0" eaLnBrk="1" latinLnBrk="0" hangingPunct="1">
        <a:defRPr sz="1799"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16">
          <p15:clr>
            <a:srgbClr val="5ACBF0"/>
          </p15:clr>
        </p15:guide>
        <p15:guide id="4" pos="7464">
          <p15:clr>
            <a:srgbClr val="5ACBF0"/>
          </p15:clr>
        </p15:guide>
        <p15:guide id="37" pos="3840" userDrawn="1">
          <p15:clr>
            <a:srgbClr val="5ACBF0"/>
          </p15:clr>
        </p15:guide>
        <p15:guide id="38" orient="horz" pos="2160" userDrawn="1">
          <p15:clr>
            <a:srgbClr val="5ACBF0"/>
          </p15:clr>
        </p15:guide>
        <p15:guide id="39" pos="456" userDrawn="1">
          <p15:clr>
            <a:srgbClr val="5ACBF0"/>
          </p15:clr>
        </p15:guide>
        <p15:guide id="40" pos="7224" userDrawn="1">
          <p15:clr>
            <a:srgbClr val="5ACBF0"/>
          </p15:clr>
        </p15:guide>
        <p15:guide id="41" orient="horz" pos="840" userDrawn="1">
          <p15:clr>
            <a:srgbClr val="5ACBF0"/>
          </p15:clr>
        </p15:guide>
        <p15:guide id="42" orient="horz" pos="1864" userDrawn="1">
          <p15:clr>
            <a:srgbClr val="5ACBF0"/>
          </p15:clr>
        </p15:guide>
        <p15:guide id="43" orient="horz" pos="2886" userDrawn="1">
          <p15:clr>
            <a:srgbClr val="5ACBF0"/>
          </p15:clr>
        </p15:guide>
        <p15:guide id="44" orient="horz" pos="3893" userDrawn="1">
          <p15:clr>
            <a:srgbClr val="5ACBF0"/>
          </p15:clr>
        </p15:guide>
        <p15:guide id="45" pos="1498" userDrawn="1">
          <p15:clr>
            <a:srgbClr val="5ACBF0"/>
          </p15:clr>
        </p15:guide>
        <p15:guide id="46" pos="1600" userDrawn="1">
          <p15:clr>
            <a:srgbClr val="5ACBF0"/>
          </p15:clr>
        </p15:guide>
        <p15:guide id="47" pos="2644" userDrawn="1">
          <p15:clr>
            <a:srgbClr val="5ACBF0"/>
          </p15:clr>
        </p15:guide>
        <p15:guide id="48" pos="2747" userDrawn="1">
          <p15:clr>
            <a:srgbClr val="5ACBF0"/>
          </p15:clr>
        </p15:guide>
        <p15:guide id="49" pos="3792" userDrawn="1">
          <p15:clr>
            <a:srgbClr val="5ACBF0"/>
          </p15:clr>
        </p15:guide>
        <p15:guide id="50" pos="3888" userDrawn="1">
          <p15:clr>
            <a:srgbClr val="5ACBF0"/>
          </p15:clr>
        </p15:guide>
        <p15:guide id="51" pos="4934" userDrawn="1">
          <p15:clr>
            <a:srgbClr val="5ACBF0"/>
          </p15:clr>
        </p15:guide>
        <p15:guide id="52" pos="5034" userDrawn="1">
          <p15:clr>
            <a:srgbClr val="5ACBF0"/>
          </p15:clr>
        </p15:guide>
        <p15:guide id="53" pos="6081" userDrawn="1">
          <p15:clr>
            <a:srgbClr val="5ACBF0"/>
          </p15:clr>
        </p15:guide>
        <p15:guide id="54" pos="6183" userDrawn="1">
          <p15:clr>
            <a:srgbClr val="5ACBF0"/>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4.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notesSlide" Target="../notesSlides/notesSlide2.xml"/><Relationship Id="rId7" Type="http://schemas.openxmlformats.org/officeDocument/2006/relationships/diagramColors" Target="../diagrams/colors1.xml"/><Relationship Id="rId2" Type="http://schemas.openxmlformats.org/officeDocument/2006/relationships/slideLayout" Target="../slideLayouts/slideLayout10.xml"/><Relationship Id="rId1" Type="http://schemas.openxmlformats.org/officeDocument/2006/relationships/tags" Target="../tags/tag3.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2.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5.xml"/><Relationship Id="rId1" Type="http://schemas.openxmlformats.org/officeDocument/2006/relationships/tags" Target="../tags/tag5.xml"/><Relationship Id="rId4" Type="http://schemas.openxmlformats.org/officeDocument/2006/relationships/image" Target="../media/image23.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5.xml"/><Relationship Id="rId1" Type="http://schemas.openxmlformats.org/officeDocument/2006/relationships/tags" Target="../tags/tag6.xml"/><Relationship Id="rId4" Type="http://schemas.openxmlformats.org/officeDocument/2006/relationships/image" Target="../media/image24.png"/></Relationships>
</file>

<file path=ppt/slides/_rels/slide6.xml.rels><?xml version="1.0" encoding="UTF-8" standalone="yes"?>
<Relationships xmlns="http://schemas.openxmlformats.org/package/2006/relationships"><Relationship Id="rId8" Type="http://schemas.openxmlformats.org/officeDocument/2006/relationships/oleObject" Target="../embeddings/oleObject4.bin"/><Relationship Id="rId13" Type="http://schemas.openxmlformats.org/officeDocument/2006/relationships/image" Target="../media/image30.emf"/><Relationship Id="rId18" Type="http://schemas.openxmlformats.org/officeDocument/2006/relationships/image" Target="../media/image35.png"/><Relationship Id="rId3" Type="http://schemas.openxmlformats.org/officeDocument/2006/relationships/notesSlide" Target="../notesSlides/notesSlide6.xml"/><Relationship Id="rId21" Type="http://schemas.openxmlformats.org/officeDocument/2006/relationships/image" Target="../media/image37.png"/><Relationship Id="rId7" Type="http://schemas.openxmlformats.org/officeDocument/2006/relationships/oleObject" Target="../embeddings/oleObject3.bin"/><Relationship Id="rId12" Type="http://schemas.openxmlformats.org/officeDocument/2006/relationships/image" Target="../media/image29.emf"/><Relationship Id="rId17" Type="http://schemas.openxmlformats.org/officeDocument/2006/relationships/image" Target="../media/image34.emf"/><Relationship Id="rId2" Type="http://schemas.openxmlformats.org/officeDocument/2006/relationships/slideLayout" Target="../slideLayouts/slideLayout15.xml"/><Relationship Id="rId16" Type="http://schemas.openxmlformats.org/officeDocument/2006/relationships/image" Target="../media/image33.emf"/><Relationship Id="rId20" Type="http://schemas.openxmlformats.org/officeDocument/2006/relationships/oleObject" Target="../embeddings/oleObject5.bin"/><Relationship Id="rId1" Type="http://schemas.openxmlformats.org/officeDocument/2006/relationships/tags" Target="../tags/tag7.xml"/><Relationship Id="rId6" Type="http://schemas.openxmlformats.org/officeDocument/2006/relationships/oleObject" Target="../embeddings/oleObject2.bin"/><Relationship Id="rId11" Type="http://schemas.openxmlformats.org/officeDocument/2006/relationships/image" Target="../media/image28.png"/><Relationship Id="rId5" Type="http://schemas.openxmlformats.org/officeDocument/2006/relationships/image" Target="../media/image25.emf"/><Relationship Id="rId15" Type="http://schemas.openxmlformats.org/officeDocument/2006/relationships/image" Target="../media/image32.emf"/><Relationship Id="rId10" Type="http://schemas.openxmlformats.org/officeDocument/2006/relationships/image" Target="../media/image27.png"/><Relationship Id="rId19" Type="http://schemas.openxmlformats.org/officeDocument/2006/relationships/image" Target="../media/image36.png"/><Relationship Id="rId4" Type="http://schemas.openxmlformats.org/officeDocument/2006/relationships/oleObject" Target="../embeddings/oleObject1.bin"/><Relationship Id="rId9" Type="http://schemas.openxmlformats.org/officeDocument/2006/relationships/image" Target="../media/image26.png"/><Relationship Id="rId14" Type="http://schemas.openxmlformats.org/officeDocument/2006/relationships/image" Target="../media/image31.emf"/></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5.xml"/><Relationship Id="rId1" Type="http://schemas.openxmlformats.org/officeDocument/2006/relationships/tags" Target="../tags/tag8.xml"/><Relationship Id="rId5" Type="http://schemas.openxmlformats.org/officeDocument/2006/relationships/image" Target="../media/image39.png"/><Relationship Id="rId4" Type="http://schemas.openxmlformats.org/officeDocument/2006/relationships/image" Target="../media/image38.emf"/></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5.xml"/><Relationship Id="rId1" Type="http://schemas.openxmlformats.org/officeDocument/2006/relationships/tags" Target="../tags/tag9.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7" Type="http://schemas.openxmlformats.org/officeDocument/2006/relationships/image" Target="../media/image46.png"/><Relationship Id="rId2" Type="http://schemas.openxmlformats.org/officeDocument/2006/relationships/slideLayout" Target="../slideLayouts/slideLayout20.xml"/><Relationship Id="rId1" Type="http://schemas.openxmlformats.org/officeDocument/2006/relationships/tags" Target="../tags/tag10.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notesSlide" Target="../notesSlides/notesSlide10.xml"/><Relationship Id="rId7" Type="http://schemas.openxmlformats.org/officeDocument/2006/relationships/image" Target="../media/image50.png"/><Relationship Id="rId2" Type="http://schemas.openxmlformats.org/officeDocument/2006/relationships/slideLayout" Target="../slideLayouts/slideLayout15.xml"/><Relationship Id="rId1" Type="http://schemas.openxmlformats.org/officeDocument/2006/relationships/tags" Target="../tags/tag11.xml"/><Relationship Id="rId6" Type="http://schemas.openxmlformats.org/officeDocument/2006/relationships/image" Target="../media/image49.png"/><Relationship Id="rId5" Type="http://schemas.openxmlformats.org/officeDocument/2006/relationships/image" Target="../media/image48.png"/><Relationship Id="rId10" Type="http://schemas.openxmlformats.org/officeDocument/2006/relationships/image" Target="../media/image52.png"/><Relationship Id="rId4" Type="http://schemas.openxmlformats.org/officeDocument/2006/relationships/image" Target="../media/image47.png"/><Relationship Id="rId9" Type="http://schemas.openxmlformats.org/officeDocument/2006/relationships/image" Target="../media/image34.emf"/></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6.xml"/><Relationship Id="rId1" Type="http://schemas.openxmlformats.org/officeDocument/2006/relationships/tags" Target="../tags/tag12.xml"/><Relationship Id="rId5" Type="http://schemas.openxmlformats.org/officeDocument/2006/relationships/image" Target="../media/image54.png"/><Relationship Id="rId4" Type="http://schemas.openxmlformats.org/officeDocument/2006/relationships/image" Target="../media/image53.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5.xml"/><Relationship Id="rId1" Type="http://schemas.openxmlformats.org/officeDocument/2006/relationships/tags" Target="../tags/tag13.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6.xml"/><Relationship Id="rId1" Type="http://schemas.openxmlformats.org/officeDocument/2006/relationships/tags" Target="../tags/tag14.xml"/><Relationship Id="rId5" Type="http://schemas.openxmlformats.org/officeDocument/2006/relationships/image" Target="../media/image56.png"/><Relationship Id="rId4" Type="http://schemas.openxmlformats.org/officeDocument/2006/relationships/image" Target="../media/image55.png"/></Relationships>
</file>

<file path=ppt/slides/_rels/slide14.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4.xml"/><Relationship Id="rId1" Type="http://schemas.openxmlformats.org/officeDocument/2006/relationships/slideLayout" Target="../slideLayouts/slideLayout15.xml"/><Relationship Id="rId5" Type="http://schemas.openxmlformats.org/officeDocument/2006/relationships/image" Target="../media/image59.png"/><Relationship Id="rId4" Type="http://schemas.openxmlformats.org/officeDocument/2006/relationships/image" Target="../media/image58.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5.xml"/><Relationship Id="rId1" Type="http://schemas.openxmlformats.org/officeDocument/2006/relationships/tags" Target="../tags/tag15.x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60.jpeg"/></Relationships>
</file>

<file path=ppt/slides/_rels/slide17.xml.rels><?xml version="1.0" encoding="UTF-8" standalone="yes"?>
<Relationships xmlns="http://schemas.openxmlformats.org/package/2006/relationships"><Relationship Id="rId8" Type="http://schemas.openxmlformats.org/officeDocument/2006/relationships/image" Target="../media/image67.png"/><Relationship Id="rId3" Type="http://schemas.openxmlformats.org/officeDocument/2006/relationships/notesSlide" Target="../notesSlides/notesSlide17.xml"/><Relationship Id="rId7" Type="http://schemas.openxmlformats.org/officeDocument/2006/relationships/image" Target="../media/image66.png"/><Relationship Id="rId2" Type="http://schemas.openxmlformats.org/officeDocument/2006/relationships/slideLayout" Target="../slideLayouts/slideLayout15.xml"/><Relationship Id="rId1" Type="http://schemas.openxmlformats.org/officeDocument/2006/relationships/tags" Target="../tags/tag16.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63.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6.xml"/><Relationship Id="rId1" Type="http://schemas.openxmlformats.org/officeDocument/2006/relationships/tags" Target="../tags/tag17.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notesSlide" Target="../notesSlides/notesSlide19.xml"/><Relationship Id="rId7" Type="http://schemas.openxmlformats.org/officeDocument/2006/relationships/diagramColors" Target="../diagrams/colors2.xml"/><Relationship Id="rId2" Type="http://schemas.openxmlformats.org/officeDocument/2006/relationships/slideLayout" Target="../slideLayouts/slideLayout27.xml"/><Relationship Id="rId1" Type="http://schemas.openxmlformats.org/officeDocument/2006/relationships/tags" Target="../tags/tag18.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 Id="rId9" Type="http://schemas.openxmlformats.org/officeDocument/2006/relationships/image" Target="../media/image68.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2.xml"/><Relationship Id="rId1" Type="http://schemas.openxmlformats.org/officeDocument/2006/relationships/tags" Target="../tags/tag19.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5.xml"/><Relationship Id="rId1" Type="http://schemas.openxmlformats.org/officeDocument/2006/relationships/tags" Target="../tags/tag20.xml"/><Relationship Id="rId5" Type="http://schemas.openxmlformats.org/officeDocument/2006/relationships/image" Target="../media/image70.png"/><Relationship Id="rId4" Type="http://schemas.openxmlformats.org/officeDocument/2006/relationships/image" Target="../media/image69.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6.xml"/><Relationship Id="rId1" Type="http://schemas.openxmlformats.org/officeDocument/2006/relationships/tags" Target="../tags/tag21.xml"/><Relationship Id="rId4" Type="http://schemas.openxmlformats.org/officeDocument/2006/relationships/image" Target="../media/image71.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5.xml"/><Relationship Id="rId1" Type="http://schemas.openxmlformats.org/officeDocument/2006/relationships/tags" Target="../tags/tag22.xml"/><Relationship Id="rId5" Type="http://schemas.openxmlformats.org/officeDocument/2006/relationships/image" Target="../media/image73.png"/><Relationship Id="rId4" Type="http://schemas.openxmlformats.org/officeDocument/2006/relationships/image" Target="../media/image72.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5.xml"/><Relationship Id="rId1" Type="http://schemas.openxmlformats.org/officeDocument/2006/relationships/tags" Target="../tags/tag23.xml"/><Relationship Id="rId4" Type="http://schemas.openxmlformats.org/officeDocument/2006/relationships/image" Target="../media/image74.png"/></Relationships>
</file>

<file path=ppt/slides/_rels/slide25.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25.xml"/><Relationship Id="rId1" Type="http://schemas.openxmlformats.org/officeDocument/2006/relationships/slideLayout" Target="../slideLayouts/slideLayout15.xml"/><Relationship Id="rId4" Type="http://schemas.microsoft.com/office/2007/relationships/hdphoto" Target="../media/hdphoto1.wdp"/></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6.xml"/><Relationship Id="rId1" Type="http://schemas.openxmlformats.org/officeDocument/2006/relationships/tags" Target="../tags/tag24.xml"/><Relationship Id="rId4" Type="http://schemas.openxmlformats.org/officeDocument/2006/relationships/image" Target="../media/image68.png"/></Relationships>
</file>

<file path=ppt/slides/_rels/slide27.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notesSlide" Target="../notesSlides/notesSlide27.xml"/><Relationship Id="rId7" Type="http://schemas.openxmlformats.org/officeDocument/2006/relationships/diagramColors" Target="../diagrams/colors3.xml"/><Relationship Id="rId2" Type="http://schemas.openxmlformats.org/officeDocument/2006/relationships/slideLayout" Target="../slideLayouts/slideLayout27.xml"/><Relationship Id="rId1" Type="http://schemas.openxmlformats.org/officeDocument/2006/relationships/tags" Target="../tags/tag25.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 Id="rId9" Type="http://schemas.openxmlformats.org/officeDocument/2006/relationships/image" Target="../media/image68.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2.xml"/><Relationship Id="rId1" Type="http://schemas.openxmlformats.org/officeDocument/2006/relationships/tags" Target="../tags/tag26.xml"/></Relationships>
</file>

<file path=ppt/slides/_rels/slide29.xml.rels><?xml version="1.0" encoding="UTF-8" standalone="yes"?>
<Relationships xmlns="http://schemas.openxmlformats.org/package/2006/relationships"><Relationship Id="rId8" Type="http://schemas.openxmlformats.org/officeDocument/2006/relationships/image" Target="../media/image78.png"/><Relationship Id="rId3" Type="http://schemas.openxmlformats.org/officeDocument/2006/relationships/notesSlide" Target="../notesSlides/notesSlide29.xml"/><Relationship Id="rId7" Type="http://schemas.microsoft.com/office/2007/relationships/hdphoto" Target="../media/hdphoto3.wdp"/><Relationship Id="rId2" Type="http://schemas.openxmlformats.org/officeDocument/2006/relationships/slideLayout" Target="../slideLayouts/slideLayout15.xml"/><Relationship Id="rId1" Type="http://schemas.openxmlformats.org/officeDocument/2006/relationships/tags" Target="../tags/tag27.xml"/><Relationship Id="rId6" Type="http://schemas.openxmlformats.org/officeDocument/2006/relationships/image" Target="../media/image77.png"/><Relationship Id="rId5" Type="http://schemas.microsoft.com/office/2007/relationships/hdphoto" Target="../media/hdphoto2.wdp"/><Relationship Id="rId4" Type="http://schemas.openxmlformats.org/officeDocument/2006/relationships/image" Target="../media/image76.png"/><Relationship Id="rId9" Type="http://schemas.openxmlformats.org/officeDocument/2006/relationships/image" Target="../media/image79.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8.xml"/><Relationship Id="rId1" Type="http://schemas.openxmlformats.org/officeDocument/2006/relationships/tags" Target="../tags/tag28.xml"/><Relationship Id="rId4" Type="http://schemas.openxmlformats.org/officeDocument/2006/relationships/image" Target="../media/image80.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7" Type="http://schemas.openxmlformats.org/officeDocument/2006/relationships/image" Target="../media/image83.png"/><Relationship Id="rId2" Type="http://schemas.openxmlformats.org/officeDocument/2006/relationships/slideLayout" Target="../slideLayouts/slideLayout15.xml"/><Relationship Id="rId1" Type="http://schemas.openxmlformats.org/officeDocument/2006/relationships/tags" Target="../tags/tag29.xml"/><Relationship Id="rId6" Type="http://schemas.openxmlformats.org/officeDocument/2006/relationships/image" Target="../media/image82.png"/><Relationship Id="rId5" Type="http://schemas.microsoft.com/office/2007/relationships/hdphoto" Target="../media/hdphoto4.wdp"/><Relationship Id="rId4" Type="http://schemas.openxmlformats.org/officeDocument/2006/relationships/image" Target="../media/image81.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7" Type="http://schemas.openxmlformats.org/officeDocument/2006/relationships/image" Target="../media/image87.png"/><Relationship Id="rId2" Type="http://schemas.openxmlformats.org/officeDocument/2006/relationships/slideLayout" Target="../slideLayouts/slideLayout15.xml"/><Relationship Id="rId1" Type="http://schemas.openxmlformats.org/officeDocument/2006/relationships/tags" Target="../tags/tag30.xml"/><Relationship Id="rId6" Type="http://schemas.openxmlformats.org/officeDocument/2006/relationships/image" Target="../media/image86.png"/><Relationship Id="rId5" Type="http://schemas.openxmlformats.org/officeDocument/2006/relationships/image" Target="../media/image85.png"/><Relationship Id="rId4" Type="http://schemas.openxmlformats.org/officeDocument/2006/relationships/image" Target="../media/image84.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7" Type="http://schemas.openxmlformats.org/officeDocument/2006/relationships/image" Target="../media/image91.png"/><Relationship Id="rId2" Type="http://schemas.openxmlformats.org/officeDocument/2006/relationships/slideLayout" Target="../slideLayouts/slideLayout15.xml"/><Relationship Id="rId1" Type="http://schemas.openxmlformats.org/officeDocument/2006/relationships/tags" Target="../tags/tag31.xml"/><Relationship Id="rId6" Type="http://schemas.openxmlformats.org/officeDocument/2006/relationships/image" Target="../media/image90.png"/><Relationship Id="rId5" Type="http://schemas.openxmlformats.org/officeDocument/2006/relationships/image" Target="../media/image89.png"/><Relationship Id="rId4" Type="http://schemas.openxmlformats.org/officeDocument/2006/relationships/image" Target="../media/image88.png"/></Relationships>
</file>

<file path=ppt/slides/_rels/slide34.xml.rels><?xml version="1.0" encoding="UTF-8" standalone="yes"?>
<Relationships xmlns="http://schemas.openxmlformats.org/package/2006/relationships"><Relationship Id="rId8" Type="http://schemas.openxmlformats.org/officeDocument/2006/relationships/image" Target="../media/image96.png"/><Relationship Id="rId3" Type="http://schemas.openxmlformats.org/officeDocument/2006/relationships/notesSlide" Target="../notesSlides/notesSlide34.xml"/><Relationship Id="rId7" Type="http://schemas.openxmlformats.org/officeDocument/2006/relationships/image" Target="../media/image95.png"/><Relationship Id="rId2" Type="http://schemas.openxmlformats.org/officeDocument/2006/relationships/slideLayout" Target="../slideLayouts/slideLayout15.xml"/><Relationship Id="rId1" Type="http://schemas.openxmlformats.org/officeDocument/2006/relationships/tags" Target="../tags/tag32.xml"/><Relationship Id="rId6" Type="http://schemas.openxmlformats.org/officeDocument/2006/relationships/image" Target="../media/image94.png"/><Relationship Id="rId5" Type="http://schemas.openxmlformats.org/officeDocument/2006/relationships/image" Target="../media/image93.png"/><Relationship Id="rId4" Type="http://schemas.openxmlformats.org/officeDocument/2006/relationships/image" Target="../media/image92.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5.xml"/><Relationship Id="rId1" Type="http://schemas.openxmlformats.org/officeDocument/2006/relationships/tags" Target="../tags/tag33.xml"/><Relationship Id="rId5" Type="http://schemas.openxmlformats.org/officeDocument/2006/relationships/image" Target="../media/image98.png"/><Relationship Id="rId4" Type="http://schemas.openxmlformats.org/officeDocument/2006/relationships/image" Target="../media/image97.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26.xml"/><Relationship Id="rId1" Type="http://schemas.openxmlformats.org/officeDocument/2006/relationships/tags" Target="../tags/tag34.xml"/><Relationship Id="rId4" Type="http://schemas.openxmlformats.org/officeDocument/2006/relationships/image" Target="../media/image68.png"/></Relationships>
</file>

<file path=ppt/slides/_rels/slide37.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notesSlide" Target="../notesSlides/notesSlide37.xml"/><Relationship Id="rId7" Type="http://schemas.openxmlformats.org/officeDocument/2006/relationships/diagramColors" Target="../diagrams/colors4.xml"/><Relationship Id="rId2" Type="http://schemas.openxmlformats.org/officeDocument/2006/relationships/slideLayout" Target="../slideLayouts/slideLayout27.xml"/><Relationship Id="rId1" Type="http://schemas.openxmlformats.org/officeDocument/2006/relationships/tags" Target="../tags/tag35.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 Id="rId9" Type="http://schemas.openxmlformats.org/officeDocument/2006/relationships/image" Target="../media/image68.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12.xml"/><Relationship Id="rId1" Type="http://schemas.openxmlformats.org/officeDocument/2006/relationships/tags" Target="../tags/tag36.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18.xml"/><Relationship Id="rId1" Type="http://schemas.openxmlformats.org/officeDocument/2006/relationships/tags" Target="../tags/tag37.xml"/><Relationship Id="rId4" Type="http://schemas.openxmlformats.org/officeDocument/2006/relationships/image" Target="../media/image99.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15.xml"/><Relationship Id="rId1" Type="http://schemas.openxmlformats.org/officeDocument/2006/relationships/tags" Target="../tags/tag38.xml"/></Relationships>
</file>

<file path=ppt/slides/_rels/slide41.xml.rels><?xml version="1.0" encoding="UTF-8" standalone="yes"?>
<Relationships xmlns="http://schemas.openxmlformats.org/package/2006/relationships"><Relationship Id="rId8" Type="http://schemas.openxmlformats.org/officeDocument/2006/relationships/image" Target="../media/image102.png"/><Relationship Id="rId3" Type="http://schemas.openxmlformats.org/officeDocument/2006/relationships/notesSlide" Target="../notesSlides/notesSlide41.xml"/><Relationship Id="rId7" Type="http://schemas.microsoft.com/office/2007/relationships/hdphoto" Target="../media/hdphoto6.wdp"/><Relationship Id="rId2" Type="http://schemas.openxmlformats.org/officeDocument/2006/relationships/slideLayout" Target="../slideLayouts/slideLayout15.xml"/><Relationship Id="rId1" Type="http://schemas.openxmlformats.org/officeDocument/2006/relationships/tags" Target="../tags/tag39.xml"/><Relationship Id="rId6" Type="http://schemas.openxmlformats.org/officeDocument/2006/relationships/image" Target="../media/image101.png"/><Relationship Id="rId5" Type="http://schemas.microsoft.com/office/2007/relationships/hdphoto" Target="../media/hdphoto5.wdp"/><Relationship Id="rId4" Type="http://schemas.openxmlformats.org/officeDocument/2006/relationships/image" Target="../media/image100.pn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15.xml"/><Relationship Id="rId1" Type="http://schemas.openxmlformats.org/officeDocument/2006/relationships/tags" Target="../tags/tag40.xml"/><Relationship Id="rId6" Type="http://schemas.openxmlformats.org/officeDocument/2006/relationships/image" Target="../media/image79.png"/><Relationship Id="rId5" Type="http://schemas.microsoft.com/office/2007/relationships/hdphoto" Target="../media/hdphoto7.wdp"/><Relationship Id="rId4" Type="http://schemas.openxmlformats.org/officeDocument/2006/relationships/image" Target="../media/image103.pn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15.xml"/><Relationship Id="rId1" Type="http://schemas.openxmlformats.org/officeDocument/2006/relationships/tags" Target="../tags/tag41.xml"/><Relationship Id="rId4" Type="http://schemas.openxmlformats.org/officeDocument/2006/relationships/image" Target="../media/image104.pn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15.xml"/><Relationship Id="rId1" Type="http://schemas.openxmlformats.org/officeDocument/2006/relationships/tags" Target="../tags/tag42.xml"/><Relationship Id="rId6" Type="http://schemas.openxmlformats.org/officeDocument/2006/relationships/image" Target="../media/image107.png"/><Relationship Id="rId5" Type="http://schemas.openxmlformats.org/officeDocument/2006/relationships/image" Target="../media/image106.png"/><Relationship Id="rId4" Type="http://schemas.openxmlformats.org/officeDocument/2006/relationships/image" Target="../media/image105.pn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26.xml"/><Relationship Id="rId1" Type="http://schemas.openxmlformats.org/officeDocument/2006/relationships/tags" Target="../tags/tag43.xml"/><Relationship Id="rId4" Type="http://schemas.openxmlformats.org/officeDocument/2006/relationships/image" Target="../media/image68.png"/></Relationships>
</file>

<file path=ppt/slides/_rels/slide46.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notesSlide" Target="../notesSlides/notesSlide46.xml"/><Relationship Id="rId7" Type="http://schemas.openxmlformats.org/officeDocument/2006/relationships/diagramColors" Target="../diagrams/colors5.xml"/><Relationship Id="rId2" Type="http://schemas.openxmlformats.org/officeDocument/2006/relationships/slideLayout" Target="../slideLayouts/slideLayout27.xml"/><Relationship Id="rId1" Type="http://schemas.openxmlformats.org/officeDocument/2006/relationships/tags" Target="../tags/tag44.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 Id="rId9" Type="http://schemas.openxmlformats.org/officeDocument/2006/relationships/image" Target="../media/image68.png"/></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28.xml"/><Relationship Id="rId1" Type="http://schemas.openxmlformats.org/officeDocument/2006/relationships/tags" Target="../tags/tag4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lstStyle/>
          <a:p>
            <a:r>
              <a:rPr lang="en-CA" dirty="0"/>
              <a:t>Firewall Policies</a:t>
            </a:r>
          </a:p>
        </p:txBody>
      </p:sp>
      <p:sp>
        <p:nvSpPr>
          <p:cNvPr id="4" name="Title 3"/>
          <p:cNvSpPr>
            <a:spLocks noGrp="1"/>
          </p:cNvSpPr>
          <p:nvPr>
            <p:ph type="ctrTitle"/>
          </p:nvPr>
        </p:nvSpPr>
        <p:spPr/>
        <p:txBody>
          <a:bodyPr/>
          <a:lstStyle/>
          <a:p>
            <a:r>
              <a:rPr lang="en-CA" dirty="0"/>
              <a:t>FortiGate Security</a:t>
            </a:r>
          </a:p>
        </p:txBody>
      </p:sp>
      <p:sp>
        <p:nvSpPr>
          <p:cNvPr id="6" name="Text Placeholder 5"/>
          <p:cNvSpPr>
            <a:spLocks noGrp="1"/>
          </p:cNvSpPr>
          <p:nvPr>
            <p:ph type="body" sz="quarter" idx="10"/>
          </p:nvPr>
        </p:nvSpPr>
        <p:spPr/>
        <p:txBody>
          <a:bodyPr>
            <a:normAutofit/>
          </a:bodyPr>
          <a:lstStyle/>
          <a:p>
            <a:r>
              <a:rPr lang="en-CA" dirty="0" err="1"/>
              <a:t>FortiOS</a:t>
            </a:r>
            <a:r>
              <a:rPr lang="en-CA" dirty="0"/>
              <a:t> 7.2</a:t>
            </a:r>
          </a:p>
        </p:txBody>
      </p:sp>
    </p:spTree>
    <p:custDataLst>
      <p:tags r:id="rId1"/>
    </p:custDataLst>
    <p:extLst>
      <p:ext uri="{BB962C8B-B14F-4D97-AF65-F5344CB8AC3E}">
        <p14:creationId xmlns:p14="http://schemas.microsoft.com/office/powerpoint/2010/main" val="6632450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SmartArt Placeholder 2"/>
          <p:cNvGraphicFramePr>
            <a:graphicFrameLocks noGrp="1"/>
          </p:cNvGraphicFramePr>
          <p:nvPr>
            <p:ph type="dgm" sz="quarter" idx="10"/>
            <p:extLst>
              <p:ext uri="{D42A27DB-BD31-4B8C-83A1-F6EECF244321}">
                <p14:modId xmlns:p14="http://schemas.microsoft.com/office/powerpoint/2010/main" val="4176399016"/>
              </p:ext>
            </p:extLst>
          </p:nvPr>
        </p:nvGraphicFramePr>
        <p:xfrm>
          <a:off x="273050" y="1347788"/>
          <a:ext cx="11387138" cy="496728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ustDataLst>
      <p:tags r:id="rId1"/>
    </p:custDataLst>
    <p:extLst>
      <p:ext uri="{BB962C8B-B14F-4D97-AF65-F5344CB8AC3E}">
        <p14:creationId xmlns:p14="http://schemas.microsoft.com/office/powerpoint/2010/main" val="30814688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Firewall Policies</a:t>
            </a:r>
          </a:p>
        </p:txBody>
      </p:sp>
      <p:sp>
        <p:nvSpPr>
          <p:cNvPr id="3" name="Text Placeholder 2"/>
          <p:cNvSpPr>
            <a:spLocks noGrp="1"/>
          </p:cNvSpPr>
          <p:nvPr>
            <p:ph type="body" sz="quarter" idx="11"/>
          </p:nvPr>
        </p:nvSpPr>
        <p:spPr/>
        <p:txBody>
          <a:bodyPr>
            <a:normAutofit/>
          </a:bodyPr>
          <a:lstStyle/>
          <a:p>
            <a:r>
              <a:rPr lang="en-US" dirty="0"/>
              <a:t>Identify components of firewall policies</a:t>
            </a:r>
          </a:p>
          <a:p>
            <a:r>
              <a:rPr lang="en-CA" dirty="0"/>
              <a:t>Identify how FortiGate matches traffic to firewall policies</a:t>
            </a:r>
            <a:endParaRPr lang="en-US" dirty="0"/>
          </a:p>
          <a:p>
            <a:pPr marL="359770" lvl="1" indent="0">
              <a:buNone/>
            </a:pPr>
            <a:endParaRPr lang="en-US" dirty="0"/>
          </a:p>
          <a:p>
            <a:endParaRPr lang="en-CA" dirty="0"/>
          </a:p>
        </p:txBody>
      </p:sp>
    </p:spTree>
    <p:custDataLst>
      <p:tags r:id="rId1"/>
    </p:custDataLst>
    <p:extLst>
      <p:ext uri="{BB962C8B-B14F-4D97-AF65-F5344CB8AC3E}">
        <p14:creationId xmlns:p14="http://schemas.microsoft.com/office/powerpoint/2010/main" val="14119805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What Are Firewall Policies?</a:t>
            </a:r>
            <a:endParaRPr lang="en-CA" dirty="0"/>
          </a:p>
        </p:txBody>
      </p:sp>
      <p:sp>
        <p:nvSpPr>
          <p:cNvPr id="5" name="Content Placeholder 4"/>
          <p:cNvSpPr>
            <a:spLocks noGrp="1"/>
          </p:cNvSpPr>
          <p:nvPr>
            <p:ph idx="1"/>
          </p:nvPr>
        </p:nvSpPr>
        <p:spPr/>
        <p:txBody>
          <a:bodyPr/>
          <a:lstStyle/>
          <a:p>
            <a:r>
              <a:rPr lang="en-US" dirty="0"/>
              <a:t>Policies define:</a:t>
            </a:r>
          </a:p>
          <a:p>
            <a:pPr lvl="1"/>
            <a:r>
              <a:rPr lang="en-US" dirty="0"/>
              <a:t>Which traffic matches them</a:t>
            </a:r>
          </a:p>
          <a:p>
            <a:pPr lvl="1"/>
            <a:r>
              <a:rPr lang="en-US" dirty="0"/>
              <a:t>How to process matching traffic</a:t>
            </a:r>
          </a:p>
          <a:p>
            <a:r>
              <a:rPr lang="en-US" dirty="0"/>
              <a:t>When a new IP session packet arrives, FortiGate:</a:t>
            </a:r>
          </a:p>
          <a:p>
            <a:pPr lvl="1"/>
            <a:r>
              <a:rPr lang="en-US" dirty="0"/>
              <a:t>Starts at the top of the list to look for a policy match</a:t>
            </a:r>
          </a:p>
          <a:p>
            <a:pPr lvl="1"/>
            <a:r>
              <a:rPr lang="en-US" dirty="0"/>
              <a:t>Applies the first matching policy</a:t>
            </a:r>
          </a:p>
          <a:p>
            <a:r>
              <a:rPr lang="en-US" b="1" dirty="0"/>
              <a:t>Implicit Deny</a:t>
            </a:r>
          </a:p>
          <a:p>
            <a:pPr lvl="1"/>
            <a:r>
              <a:rPr lang="en-US" dirty="0"/>
              <a:t>No matching policy?</a:t>
            </a:r>
            <a:br>
              <a:rPr lang="en-US" dirty="0"/>
            </a:br>
            <a:r>
              <a:rPr lang="en-US" dirty="0"/>
              <a:t>FortiGate drops packet</a:t>
            </a:r>
          </a:p>
          <a:p>
            <a:endParaRPr lang="en-CA" dirty="0"/>
          </a:p>
        </p:txBody>
      </p:sp>
      <p:sp>
        <p:nvSpPr>
          <p:cNvPr id="9" name="Down Arrow 8"/>
          <p:cNvSpPr/>
          <p:nvPr/>
        </p:nvSpPr>
        <p:spPr bwMode="auto">
          <a:xfrm>
            <a:off x="11828585" y="3503076"/>
            <a:ext cx="257907" cy="632471"/>
          </a:xfrm>
          <a:prstGeom prst="downArrow">
            <a:avLst/>
          </a:prstGeom>
          <a:solidFill>
            <a:srgbClr val="FF0000"/>
          </a:solidFill>
          <a:ln w="38100"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20000"/>
              </a:spcBef>
              <a:spcAft>
                <a:spcPct val="0"/>
              </a:spcAft>
              <a:buClr>
                <a:schemeClr val="accent1"/>
              </a:buClr>
              <a:buSzPct val="90000"/>
              <a:buFont typeface="Wingdings" charset="2"/>
              <a:buNone/>
              <a:tabLst/>
            </a:pPr>
            <a:endParaRPr kumimoji="0" lang="en-CA" sz="2000" b="0" i="0" u="none" strike="noStrike" cap="none" normalizeH="0" baseline="0" dirty="0">
              <a:ln>
                <a:noFill/>
              </a:ln>
              <a:solidFill>
                <a:schemeClr val="accent2"/>
              </a:solidFill>
              <a:effectLst/>
              <a:latin typeface="Arial" charset="0"/>
            </a:endParaRPr>
          </a:p>
        </p:txBody>
      </p:sp>
      <p:sp>
        <p:nvSpPr>
          <p:cNvPr id="11" name="Rounded Rectangular Callout 10"/>
          <p:cNvSpPr/>
          <p:nvPr/>
        </p:nvSpPr>
        <p:spPr bwMode="auto">
          <a:xfrm>
            <a:off x="1393087" y="5717807"/>
            <a:ext cx="1242204" cy="280201"/>
          </a:xfrm>
          <a:prstGeom prst="wedgeRoundRectCallout">
            <a:avLst>
              <a:gd name="adj1" fmla="val 155453"/>
              <a:gd name="adj2" fmla="val 36661"/>
              <a:gd name="adj3" fmla="val 16667"/>
            </a:avLst>
          </a:prstGeom>
          <a:solidFill>
            <a:srgbClr val="00B0F0"/>
          </a:solidFill>
          <a:ln w="19050" cap="flat" cmpd="sng" algn="ctr">
            <a:no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20000"/>
              </a:spcBef>
              <a:spcAft>
                <a:spcPct val="0"/>
              </a:spcAft>
              <a:buClr>
                <a:schemeClr val="accent1"/>
              </a:buClr>
              <a:buSzPct val="90000"/>
              <a:buFont typeface="Wingdings" charset="2"/>
              <a:buNone/>
              <a:tabLst/>
            </a:pPr>
            <a:r>
              <a:rPr lang="en-CA" sz="1400" dirty="0"/>
              <a:t>Implicit Deny</a:t>
            </a:r>
            <a:endParaRPr kumimoji="0" lang="en-CA" sz="1400" u="none" strike="noStrike" cap="none" normalizeH="0" baseline="0" dirty="0">
              <a:ln>
                <a:noFill/>
              </a:ln>
              <a:effectLst/>
            </a:endParaRPr>
          </a:p>
        </p:txBody>
      </p:sp>
      <p:sp>
        <p:nvSpPr>
          <p:cNvPr id="8" name="TextBox 7"/>
          <p:cNvSpPr txBox="1"/>
          <p:nvPr/>
        </p:nvSpPr>
        <p:spPr>
          <a:xfrm>
            <a:off x="3786242" y="3128162"/>
            <a:ext cx="3469219" cy="338554"/>
          </a:xfrm>
          <a:prstGeom prst="rect">
            <a:avLst/>
          </a:prstGeom>
          <a:solidFill>
            <a:srgbClr val="00B0F0"/>
          </a:solidFill>
        </p:spPr>
        <p:txBody>
          <a:bodyPr wrap="none" rtlCol="0">
            <a:spAutoFit/>
          </a:bodyPr>
          <a:lstStyle/>
          <a:p>
            <a:r>
              <a:rPr lang="en-CA" sz="1600" b="1" dirty="0"/>
              <a:t>Policy &amp; Objects </a:t>
            </a:r>
            <a:r>
              <a:rPr lang="en-CA" sz="1600" dirty="0"/>
              <a:t>&gt; </a:t>
            </a:r>
            <a:r>
              <a:rPr lang="en-CA" sz="1600" b="1" dirty="0"/>
              <a:t>Firewall Policy</a:t>
            </a:r>
          </a:p>
        </p:txBody>
      </p:sp>
      <p:pic>
        <p:nvPicPr>
          <p:cNvPr id="2" name="Picture 1"/>
          <p:cNvPicPr>
            <a:picLocks noChangeAspect="1"/>
          </p:cNvPicPr>
          <p:nvPr/>
        </p:nvPicPr>
        <p:blipFill>
          <a:blip r:embed="rId4"/>
          <a:stretch>
            <a:fillRect/>
          </a:stretch>
        </p:blipFill>
        <p:spPr>
          <a:xfrm>
            <a:off x="3786241" y="3503076"/>
            <a:ext cx="7957887" cy="2542004"/>
          </a:xfrm>
          <a:prstGeom prst="rect">
            <a:avLst/>
          </a:prstGeom>
          <a:ln>
            <a:solidFill>
              <a:schemeClr val="tx1"/>
            </a:solidFill>
          </a:ln>
        </p:spPr>
      </p:pic>
      <p:sp>
        <p:nvSpPr>
          <p:cNvPr id="10" name="Rectangle 9"/>
          <p:cNvSpPr/>
          <p:nvPr/>
        </p:nvSpPr>
        <p:spPr bwMode="auto">
          <a:xfrm>
            <a:off x="3786242" y="5560754"/>
            <a:ext cx="7957887" cy="484325"/>
          </a:xfrm>
          <a:prstGeom prst="rect">
            <a:avLst/>
          </a:prstGeom>
          <a:noFill/>
          <a:ln w="38100" cap="flat" cmpd="sng" algn="ctr">
            <a:solidFill>
              <a:srgbClr val="FF0000"/>
            </a:solidFill>
            <a:prstDash val="solid"/>
            <a:round/>
            <a:headEnd type="none" w="med" len="med"/>
            <a:tailEnd type="none" w="med" len="med"/>
          </a:ln>
          <a:effectLst/>
        </p:spPr>
        <p:txBody>
          <a:bodyPr rtlCol="0" anchor="ctr"/>
          <a:lstStyle/>
          <a:p>
            <a:pPr algn="ctr"/>
            <a:endParaRPr lang="en-CA" dirty="0"/>
          </a:p>
        </p:txBody>
      </p:sp>
    </p:spTree>
    <p:custDataLst>
      <p:tags r:id="rId1"/>
    </p:custDataLst>
    <p:extLst>
      <p:ext uri="{BB962C8B-B14F-4D97-AF65-F5344CB8AC3E}">
        <p14:creationId xmlns:p14="http://schemas.microsoft.com/office/powerpoint/2010/main" val="600317759"/>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accel="50000" decel="50000" fill="hold" grpId="0" nodeType="withEffect">
                                  <p:stCondLst>
                                    <p:cond delay="0"/>
                                  </p:stCondLst>
                                  <p:childTnLst>
                                    <p:animMotion origin="layout" path="M -4.63141E-6 -4.44444E-6 L -4.63141E-6 0.27385 " pathEditMode="relative" rAng="0" ptsTypes="AA">
                                      <p:cBhvr>
                                        <p:cTn id="6" dur="2000" fill="hold"/>
                                        <p:tgtEl>
                                          <p:spTgt spid="9"/>
                                        </p:tgtEl>
                                        <p:attrNameLst>
                                          <p:attrName>ppt_x</p:attrName>
                                          <p:attrName>ppt_y</p:attrName>
                                        </p:attrNameLst>
                                      </p:cBhvr>
                                      <p:rCtr x="0" y="1368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Components and Policy Types</a:t>
            </a:r>
            <a:endParaRPr lang="en-CA" dirty="0"/>
          </a:p>
        </p:txBody>
      </p:sp>
      <p:sp>
        <p:nvSpPr>
          <p:cNvPr id="5" name="Content Placeholder 4"/>
          <p:cNvSpPr>
            <a:spLocks noGrp="1"/>
          </p:cNvSpPr>
          <p:nvPr>
            <p:ph idx="1"/>
          </p:nvPr>
        </p:nvSpPr>
        <p:spPr/>
        <p:txBody>
          <a:bodyPr>
            <a:normAutofit fontScale="92500" lnSpcReduction="20000"/>
          </a:bodyPr>
          <a:lstStyle/>
          <a:p>
            <a:pPr marL="0" indent="0">
              <a:buNone/>
            </a:pPr>
            <a:r>
              <a:rPr lang="en-US" b="1" u="sng" dirty="0"/>
              <a:t>Objects used by policies</a:t>
            </a:r>
            <a:endParaRPr lang="en-US" b="1" u="sng" dirty="0">
              <a:solidFill>
                <a:srgbClr val="7030A0"/>
              </a:solidFill>
            </a:endParaRPr>
          </a:p>
          <a:p>
            <a:r>
              <a:rPr lang="en-US" dirty="0"/>
              <a:t>Interface and zone</a:t>
            </a:r>
          </a:p>
          <a:p>
            <a:r>
              <a:rPr lang="en-US" dirty="0"/>
              <a:t>Address, user, and internet service objects</a:t>
            </a:r>
          </a:p>
          <a:p>
            <a:r>
              <a:rPr lang="en-US" dirty="0"/>
              <a:t>Service definitions</a:t>
            </a:r>
          </a:p>
          <a:p>
            <a:r>
              <a:rPr lang="en-US" dirty="0"/>
              <a:t>Schedules</a:t>
            </a:r>
          </a:p>
          <a:p>
            <a:r>
              <a:rPr lang="en-US" dirty="0"/>
              <a:t>NAT rules</a:t>
            </a:r>
          </a:p>
          <a:p>
            <a:r>
              <a:rPr lang="en-US" dirty="0"/>
              <a:t>Security profiles</a:t>
            </a:r>
          </a:p>
          <a:p>
            <a:pPr marL="0" indent="0">
              <a:buNone/>
            </a:pPr>
            <a:r>
              <a:rPr lang="en-US" b="1" u="sng" dirty="0"/>
              <a:t>Policy types</a:t>
            </a:r>
          </a:p>
          <a:p>
            <a:r>
              <a:rPr lang="en-US" dirty="0"/>
              <a:t>Firewall Policy (IPv4, IPv6)</a:t>
            </a:r>
          </a:p>
          <a:p>
            <a:r>
              <a:rPr lang="en-US" dirty="0"/>
              <a:t>Firewall Virtual Wire Pair  Policy (IPv4, IPv6)</a:t>
            </a:r>
          </a:p>
          <a:p>
            <a:r>
              <a:rPr lang="en-US" dirty="0"/>
              <a:t>Proxy Policy</a:t>
            </a:r>
          </a:p>
          <a:p>
            <a:r>
              <a:rPr lang="en-US" dirty="0"/>
              <a:t>Multicast Policy </a:t>
            </a:r>
          </a:p>
          <a:p>
            <a:r>
              <a:rPr lang="en-US" dirty="0"/>
              <a:t>Local-in Policy</a:t>
            </a:r>
          </a:p>
          <a:p>
            <a:r>
              <a:rPr lang="en-US" dirty="0"/>
              <a:t>DoS Policy (IPv4, IPv6)</a:t>
            </a:r>
          </a:p>
          <a:p>
            <a:r>
              <a:rPr lang="en-US" dirty="0"/>
              <a:t>Traffic Shaping</a:t>
            </a:r>
          </a:p>
          <a:p>
            <a:endParaRPr lang="en-CA" dirty="0"/>
          </a:p>
        </p:txBody>
      </p:sp>
      <p:pic>
        <p:nvPicPr>
          <p:cNvPr id="6" name="Picture 5">
            <a:extLst>
              <a:ext uri="{FF2B5EF4-FFF2-40B4-BE49-F238E27FC236}">
                <a16:creationId xmlns:a16="http://schemas.microsoft.com/office/drawing/2014/main" id="{DD21437E-663E-4B2B-A7DB-0B968693E48C}"/>
              </a:ext>
            </a:extLst>
          </p:cNvPr>
          <p:cNvPicPr>
            <a:picLocks noChangeAspect="1"/>
          </p:cNvPicPr>
          <p:nvPr/>
        </p:nvPicPr>
        <p:blipFill>
          <a:blip r:embed="rId4"/>
          <a:stretch>
            <a:fillRect/>
          </a:stretch>
        </p:blipFill>
        <p:spPr>
          <a:xfrm>
            <a:off x="7490419" y="810000"/>
            <a:ext cx="2407538" cy="5662800"/>
          </a:xfrm>
          <a:prstGeom prst="rect">
            <a:avLst/>
          </a:prstGeom>
          <a:ln w="12700">
            <a:solidFill>
              <a:schemeClr val="tx1"/>
            </a:solidFill>
          </a:ln>
        </p:spPr>
      </p:pic>
    </p:spTree>
    <p:custDataLst>
      <p:tags r:id="rId1"/>
    </p:custDataLst>
    <p:extLst>
      <p:ext uri="{BB962C8B-B14F-4D97-AF65-F5344CB8AC3E}">
        <p14:creationId xmlns:p14="http://schemas.microsoft.com/office/powerpoint/2010/main" val="2660755573"/>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How Are Policy Matches Determined?</a:t>
            </a:r>
            <a:endParaRPr lang="en-CA" dirty="0"/>
          </a:p>
        </p:txBody>
      </p:sp>
      <p:sp>
        <p:nvSpPr>
          <p:cNvPr id="6" name="Rectangle 11"/>
          <p:cNvSpPr>
            <a:spLocks noChangeArrowheads="1"/>
          </p:cNvSpPr>
          <p:nvPr/>
        </p:nvSpPr>
        <p:spPr bwMode="auto">
          <a:xfrm>
            <a:off x="620085" y="1060904"/>
            <a:ext cx="4625597" cy="315516"/>
          </a:xfrm>
          <a:prstGeom prst="rect">
            <a:avLst/>
          </a:prstGeom>
          <a:solidFill>
            <a:srgbClr val="00B0F0"/>
          </a:solidFill>
          <a:ln>
            <a:noFill/>
          </a:ln>
          <a:effectLst/>
        </p:spPr>
        <p:txBody>
          <a:bodyPr wrap="none" anchor="ctr"/>
          <a:lstStyle/>
          <a:p>
            <a:pPr algn="ctr" eaLnBrk="0" hangingPunct="0"/>
            <a:r>
              <a:rPr lang="en-US" sz="1600" dirty="0"/>
              <a:t>Incoming and</a:t>
            </a:r>
            <a:r>
              <a:rPr lang="en-US" sz="1600" dirty="0">
                <a:solidFill>
                  <a:srgbClr val="7030A0"/>
                </a:solidFill>
              </a:rPr>
              <a:t> </a:t>
            </a:r>
            <a:r>
              <a:rPr lang="en-US" sz="1600" dirty="0"/>
              <a:t>outgoing interfaces</a:t>
            </a:r>
          </a:p>
        </p:txBody>
      </p:sp>
      <p:sp>
        <p:nvSpPr>
          <p:cNvPr id="7" name="Rectangle 12"/>
          <p:cNvSpPr>
            <a:spLocks noChangeArrowheads="1"/>
          </p:cNvSpPr>
          <p:nvPr/>
        </p:nvSpPr>
        <p:spPr bwMode="auto">
          <a:xfrm>
            <a:off x="620087" y="1441501"/>
            <a:ext cx="4625597" cy="315516"/>
          </a:xfrm>
          <a:prstGeom prst="rect">
            <a:avLst/>
          </a:prstGeom>
          <a:solidFill>
            <a:srgbClr val="00B0F0"/>
          </a:solidFill>
          <a:ln>
            <a:noFill/>
          </a:ln>
          <a:effectLst/>
        </p:spPr>
        <p:txBody>
          <a:bodyPr wrap="none" anchor="ctr"/>
          <a:lstStyle/>
          <a:p>
            <a:pPr algn="ctr" eaLnBrk="0" hangingPunct="0"/>
            <a:r>
              <a:rPr lang="en-US" sz="1600" dirty="0"/>
              <a:t>Source: IP address, user, internet services</a:t>
            </a:r>
          </a:p>
        </p:txBody>
      </p:sp>
      <p:sp>
        <p:nvSpPr>
          <p:cNvPr id="8" name="Rectangle 13"/>
          <p:cNvSpPr>
            <a:spLocks noChangeArrowheads="1"/>
          </p:cNvSpPr>
          <p:nvPr/>
        </p:nvSpPr>
        <p:spPr bwMode="auto">
          <a:xfrm>
            <a:off x="620087" y="2278482"/>
            <a:ext cx="4625597" cy="315516"/>
          </a:xfrm>
          <a:prstGeom prst="rect">
            <a:avLst/>
          </a:prstGeom>
          <a:solidFill>
            <a:srgbClr val="00B0F0"/>
          </a:solidFill>
          <a:ln>
            <a:noFill/>
          </a:ln>
          <a:effectLst/>
        </p:spPr>
        <p:txBody>
          <a:bodyPr wrap="none" anchor="ctr"/>
          <a:lstStyle/>
          <a:p>
            <a:pPr algn="ctr" eaLnBrk="0" hangingPunct="0"/>
            <a:r>
              <a:rPr lang="en-US" sz="1600" dirty="0"/>
              <a:t>Services</a:t>
            </a:r>
          </a:p>
        </p:txBody>
      </p:sp>
      <p:sp>
        <p:nvSpPr>
          <p:cNvPr id="9" name="Rectangle 14"/>
          <p:cNvSpPr>
            <a:spLocks noChangeArrowheads="1"/>
          </p:cNvSpPr>
          <p:nvPr/>
        </p:nvSpPr>
        <p:spPr bwMode="auto">
          <a:xfrm>
            <a:off x="620087" y="2664606"/>
            <a:ext cx="4625597" cy="315515"/>
          </a:xfrm>
          <a:prstGeom prst="rect">
            <a:avLst/>
          </a:prstGeom>
          <a:solidFill>
            <a:srgbClr val="00B0F0"/>
          </a:solidFill>
          <a:ln>
            <a:noFill/>
          </a:ln>
          <a:effectLst/>
        </p:spPr>
        <p:txBody>
          <a:bodyPr wrap="none" anchor="ctr"/>
          <a:lstStyle/>
          <a:p>
            <a:pPr algn="ctr" eaLnBrk="0" hangingPunct="0"/>
            <a:r>
              <a:rPr lang="en-US" sz="1600" dirty="0"/>
              <a:t>Schedules</a:t>
            </a:r>
          </a:p>
        </p:txBody>
      </p:sp>
      <p:graphicFrame>
        <p:nvGraphicFramePr>
          <p:cNvPr id="10" name="Object 15"/>
          <p:cNvGraphicFramePr>
            <a:graphicFrameLocks noChangeAspect="1"/>
          </p:cNvGraphicFramePr>
          <p:nvPr>
            <p:extLst>
              <p:ext uri="{D42A27DB-BD31-4B8C-83A1-F6EECF244321}">
                <p14:modId xmlns:p14="http://schemas.microsoft.com/office/powerpoint/2010/main" val="1084321611"/>
              </p:ext>
            </p:extLst>
          </p:nvPr>
        </p:nvGraphicFramePr>
        <p:xfrm>
          <a:off x="5282408" y="1043050"/>
          <a:ext cx="394346" cy="280641"/>
        </p:xfrm>
        <a:graphic>
          <a:graphicData uri="http://schemas.openxmlformats.org/presentationml/2006/ole">
            <mc:AlternateContent xmlns:mc="http://schemas.openxmlformats.org/markup-compatibility/2006">
              <mc:Choice xmlns:v="urn:schemas-microsoft-com:vml" Requires="v">
                <p:oleObj name="CorelDRAW" r:id="rId4" imgW="1265760" imgH="1203120" progId="">
                  <p:embed/>
                </p:oleObj>
              </mc:Choice>
              <mc:Fallback>
                <p:oleObj name="CorelDRAW" r:id="rId4" imgW="1265760" imgH="1203120" progId="">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82408" y="1043050"/>
                        <a:ext cx="394346" cy="2806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 name="Object 16"/>
          <p:cNvGraphicFramePr>
            <a:graphicFrameLocks noChangeAspect="1"/>
          </p:cNvGraphicFramePr>
          <p:nvPr>
            <p:extLst>
              <p:ext uri="{D42A27DB-BD31-4B8C-83A1-F6EECF244321}">
                <p14:modId xmlns:p14="http://schemas.microsoft.com/office/powerpoint/2010/main" val="2494322410"/>
              </p:ext>
            </p:extLst>
          </p:nvPr>
        </p:nvGraphicFramePr>
        <p:xfrm>
          <a:off x="5280822" y="1428750"/>
          <a:ext cx="394345" cy="280641"/>
        </p:xfrm>
        <a:graphic>
          <a:graphicData uri="http://schemas.openxmlformats.org/presentationml/2006/ole">
            <mc:AlternateContent xmlns:mc="http://schemas.openxmlformats.org/markup-compatibility/2006">
              <mc:Choice xmlns:v="urn:schemas-microsoft-com:vml" Requires="v">
                <p:oleObj name="CorelDRAW" r:id="rId6" imgW="1265760" imgH="1203120" progId="">
                  <p:embed/>
                </p:oleObj>
              </mc:Choice>
              <mc:Fallback>
                <p:oleObj name="CorelDRAW" r:id="rId6" imgW="1265760" imgH="1203120" progId="">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80822" y="1428750"/>
                        <a:ext cx="394345" cy="2806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2" name="Object 17"/>
          <p:cNvGraphicFramePr>
            <a:graphicFrameLocks noChangeAspect="1"/>
          </p:cNvGraphicFramePr>
          <p:nvPr>
            <p:extLst>
              <p:ext uri="{D42A27DB-BD31-4B8C-83A1-F6EECF244321}">
                <p14:modId xmlns:p14="http://schemas.microsoft.com/office/powerpoint/2010/main" val="3362214983"/>
              </p:ext>
            </p:extLst>
          </p:nvPr>
        </p:nvGraphicFramePr>
        <p:xfrm>
          <a:off x="5282408" y="2271686"/>
          <a:ext cx="394346" cy="280640"/>
        </p:xfrm>
        <a:graphic>
          <a:graphicData uri="http://schemas.openxmlformats.org/presentationml/2006/ole">
            <mc:AlternateContent xmlns:mc="http://schemas.openxmlformats.org/markup-compatibility/2006">
              <mc:Choice xmlns:v="urn:schemas-microsoft-com:vml" Requires="v">
                <p:oleObj name="CorelDRAW" r:id="rId7" imgW="1265760" imgH="1203120" progId="">
                  <p:embed/>
                </p:oleObj>
              </mc:Choice>
              <mc:Fallback>
                <p:oleObj name="CorelDRAW" r:id="rId7" imgW="1265760" imgH="1203120" progId="">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82408" y="2271686"/>
                        <a:ext cx="394346" cy="2806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 name="Object 18"/>
          <p:cNvGraphicFramePr>
            <a:graphicFrameLocks noChangeAspect="1"/>
          </p:cNvGraphicFramePr>
          <p:nvPr>
            <p:extLst>
              <p:ext uri="{D42A27DB-BD31-4B8C-83A1-F6EECF244321}">
                <p14:modId xmlns:p14="http://schemas.microsoft.com/office/powerpoint/2010/main" val="3533423094"/>
              </p:ext>
            </p:extLst>
          </p:nvPr>
        </p:nvGraphicFramePr>
        <p:xfrm>
          <a:off x="5269946" y="2644712"/>
          <a:ext cx="394346" cy="280640"/>
        </p:xfrm>
        <a:graphic>
          <a:graphicData uri="http://schemas.openxmlformats.org/presentationml/2006/ole">
            <mc:AlternateContent xmlns:mc="http://schemas.openxmlformats.org/markup-compatibility/2006">
              <mc:Choice xmlns:v="urn:schemas-microsoft-com:vml" Requires="v">
                <p:oleObj name="CorelDRAW" r:id="rId8" imgW="1265760" imgH="1203120" progId="">
                  <p:embed/>
                </p:oleObj>
              </mc:Choice>
              <mc:Fallback>
                <p:oleObj name="CorelDRAW" r:id="rId8" imgW="1265760" imgH="1203120" progId="">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69946" y="2644712"/>
                        <a:ext cx="394346" cy="2806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4" name="Text Box 19"/>
          <p:cNvSpPr txBox="1">
            <a:spLocks noChangeArrowheads="1"/>
          </p:cNvSpPr>
          <p:nvPr/>
        </p:nvSpPr>
        <p:spPr bwMode="auto">
          <a:xfrm>
            <a:off x="1330115" y="3056544"/>
            <a:ext cx="329654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b="1">
                <a:solidFill>
                  <a:schemeClr val="tx1"/>
                </a:solidFill>
                <a:latin typeface="Arial" charset="0"/>
                <a:ea typeface="MS PGothic" pitchFamily="34" charset="-128"/>
              </a:defRPr>
            </a:lvl1pPr>
            <a:lvl2pPr marL="742950" indent="-285750" eaLnBrk="0" hangingPunct="0">
              <a:defRPr sz="2000" b="1">
                <a:solidFill>
                  <a:schemeClr val="tx1"/>
                </a:solidFill>
                <a:latin typeface="Arial" charset="0"/>
                <a:ea typeface="MS PGothic" pitchFamily="34" charset="-128"/>
              </a:defRPr>
            </a:lvl2pPr>
            <a:lvl3pPr marL="1143000" indent="-228600" eaLnBrk="0" hangingPunct="0">
              <a:defRPr sz="2000" b="1">
                <a:solidFill>
                  <a:schemeClr val="tx1"/>
                </a:solidFill>
                <a:latin typeface="Arial" charset="0"/>
                <a:ea typeface="MS PGothic" pitchFamily="34" charset="-128"/>
              </a:defRPr>
            </a:lvl3pPr>
            <a:lvl4pPr marL="1600200" indent="-228600" eaLnBrk="0" hangingPunct="0">
              <a:defRPr sz="2000" b="1">
                <a:solidFill>
                  <a:schemeClr val="tx1"/>
                </a:solidFill>
                <a:latin typeface="Arial" charset="0"/>
                <a:ea typeface="MS PGothic" pitchFamily="34" charset="-128"/>
              </a:defRPr>
            </a:lvl4pPr>
            <a:lvl5pPr marL="2057400" indent="-228600" eaLnBrk="0" hangingPunct="0">
              <a:defRPr sz="2000" b="1">
                <a:solidFill>
                  <a:schemeClr val="tx1"/>
                </a:solidFill>
                <a:latin typeface="Arial" charset="0"/>
                <a:ea typeface="MS PGothic" pitchFamily="34" charset="-128"/>
              </a:defRPr>
            </a:lvl5pPr>
            <a:lvl6pPr marL="2514600" indent="-228600" eaLnBrk="0" fontAlgn="base" hangingPunct="0">
              <a:spcBef>
                <a:spcPct val="0"/>
              </a:spcBef>
              <a:spcAft>
                <a:spcPct val="0"/>
              </a:spcAft>
              <a:defRPr sz="2000" b="1">
                <a:solidFill>
                  <a:schemeClr val="tx1"/>
                </a:solidFill>
                <a:latin typeface="Arial" charset="0"/>
                <a:ea typeface="MS PGothic" pitchFamily="34" charset="-128"/>
              </a:defRPr>
            </a:lvl6pPr>
            <a:lvl7pPr marL="2971800" indent="-228600" eaLnBrk="0" fontAlgn="base" hangingPunct="0">
              <a:spcBef>
                <a:spcPct val="0"/>
              </a:spcBef>
              <a:spcAft>
                <a:spcPct val="0"/>
              </a:spcAft>
              <a:defRPr sz="2000" b="1">
                <a:solidFill>
                  <a:schemeClr val="tx1"/>
                </a:solidFill>
                <a:latin typeface="Arial" charset="0"/>
                <a:ea typeface="MS PGothic" pitchFamily="34" charset="-128"/>
              </a:defRPr>
            </a:lvl7pPr>
            <a:lvl8pPr marL="3429000" indent="-228600" eaLnBrk="0" fontAlgn="base" hangingPunct="0">
              <a:spcBef>
                <a:spcPct val="0"/>
              </a:spcBef>
              <a:spcAft>
                <a:spcPct val="0"/>
              </a:spcAft>
              <a:defRPr sz="2000" b="1">
                <a:solidFill>
                  <a:schemeClr val="tx1"/>
                </a:solidFill>
                <a:latin typeface="Arial" charset="0"/>
                <a:ea typeface="MS PGothic" pitchFamily="34" charset="-128"/>
              </a:defRPr>
            </a:lvl8pPr>
            <a:lvl9pPr marL="3886200" indent="-228600" eaLnBrk="0" fontAlgn="base" hangingPunct="0">
              <a:spcBef>
                <a:spcPct val="0"/>
              </a:spcBef>
              <a:spcAft>
                <a:spcPct val="0"/>
              </a:spcAft>
              <a:defRPr sz="2000" b="1">
                <a:solidFill>
                  <a:schemeClr val="tx1"/>
                </a:solidFill>
                <a:latin typeface="Arial" charset="0"/>
                <a:ea typeface="MS PGothic" pitchFamily="34" charset="-128"/>
              </a:defRPr>
            </a:lvl9pPr>
          </a:lstStyle>
          <a:p>
            <a:r>
              <a:rPr lang="en-US" b="0" dirty="0">
                <a:latin typeface="+mn-lt"/>
              </a:rPr>
              <a:t>Action =</a:t>
            </a:r>
            <a:r>
              <a:rPr lang="en-US" b="0" dirty="0">
                <a:solidFill>
                  <a:srgbClr val="009900"/>
                </a:solidFill>
                <a:latin typeface="+mn-lt"/>
              </a:rPr>
              <a:t> </a:t>
            </a:r>
            <a:r>
              <a:rPr lang="en-US" b="0" dirty="0">
                <a:solidFill>
                  <a:srgbClr val="00B050"/>
                </a:solidFill>
                <a:latin typeface="+mn-lt"/>
              </a:rPr>
              <a:t>ACCEPT</a:t>
            </a:r>
            <a:r>
              <a:rPr lang="en-US" b="0" dirty="0">
                <a:solidFill>
                  <a:schemeClr val="accent2"/>
                </a:solidFill>
                <a:latin typeface="+mn-lt"/>
              </a:rPr>
              <a:t> </a:t>
            </a:r>
            <a:r>
              <a:rPr lang="en-US" b="0" dirty="0">
                <a:solidFill>
                  <a:schemeClr val="tx1">
                    <a:lumMod val="95000"/>
                    <a:lumOff val="5000"/>
                  </a:schemeClr>
                </a:solidFill>
                <a:latin typeface="+mn-lt"/>
              </a:rPr>
              <a:t>or</a:t>
            </a:r>
            <a:r>
              <a:rPr lang="en-US" b="0" dirty="0">
                <a:solidFill>
                  <a:schemeClr val="accent2"/>
                </a:solidFill>
                <a:latin typeface="+mn-lt"/>
              </a:rPr>
              <a:t> </a:t>
            </a:r>
            <a:r>
              <a:rPr lang="en-US" b="0" dirty="0">
                <a:solidFill>
                  <a:srgbClr val="FF0000"/>
                </a:solidFill>
                <a:latin typeface="+mn-lt"/>
              </a:rPr>
              <a:t>DENY</a:t>
            </a:r>
          </a:p>
        </p:txBody>
      </p:sp>
      <p:sp>
        <p:nvSpPr>
          <p:cNvPr id="15" name="Line 37"/>
          <p:cNvSpPr>
            <a:spLocks noChangeShapeType="1"/>
          </p:cNvSpPr>
          <p:nvPr/>
        </p:nvSpPr>
        <p:spPr bwMode="auto">
          <a:xfrm>
            <a:off x="2683283" y="4154372"/>
            <a:ext cx="3913187" cy="1593056"/>
          </a:xfrm>
          <a:prstGeom prst="line">
            <a:avLst/>
          </a:prstGeom>
          <a:noFill/>
          <a:ln w="19050">
            <a:solidFill>
              <a:srgbClr val="7F7F7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p>
        </p:txBody>
      </p:sp>
      <p:sp>
        <p:nvSpPr>
          <p:cNvPr id="16" name="Oval 42"/>
          <p:cNvSpPr>
            <a:spLocks noChangeArrowheads="1"/>
          </p:cNvSpPr>
          <p:nvPr/>
        </p:nvSpPr>
        <p:spPr bwMode="auto">
          <a:xfrm>
            <a:off x="2376895" y="3981731"/>
            <a:ext cx="195263" cy="146447"/>
          </a:xfrm>
          <a:prstGeom prst="ellipse">
            <a:avLst/>
          </a:prstGeom>
          <a:gradFill rotWithShape="1">
            <a:gsLst>
              <a:gs pos="0">
                <a:schemeClr val="accent2"/>
              </a:gs>
              <a:gs pos="100000">
                <a:schemeClr val="accent2">
                  <a:gamma/>
                  <a:shade val="46275"/>
                  <a:invGamma/>
                </a:schemeClr>
              </a:gs>
            </a:gsLst>
            <a:path path="rect">
              <a:fillToRect r="100000" b="100000"/>
            </a:path>
          </a:gradFill>
          <a:ln>
            <a:noFill/>
          </a:ln>
          <a:effectLst/>
          <a:extLst>
            <a:ext uri="{91240B29-F687-4F45-9708-019B960494DF}">
              <a14:hiddenLine xmlns:a14="http://schemas.microsoft.com/office/drawing/2010/main" w="12700">
                <a:solidFill>
                  <a:schemeClr val="accent2"/>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defRPr/>
            </a:pPr>
            <a:endParaRPr lang="en-US" dirty="0"/>
          </a:p>
        </p:txBody>
      </p:sp>
      <p:sp>
        <p:nvSpPr>
          <p:cNvPr id="17" name="Oval 51"/>
          <p:cNvSpPr>
            <a:spLocks noChangeArrowheads="1"/>
          </p:cNvSpPr>
          <p:nvPr/>
        </p:nvSpPr>
        <p:spPr bwMode="auto">
          <a:xfrm>
            <a:off x="4753382" y="4942565"/>
            <a:ext cx="195262" cy="146447"/>
          </a:xfrm>
          <a:prstGeom prst="ellipse">
            <a:avLst/>
          </a:prstGeom>
          <a:gradFill rotWithShape="1">
            <a:gsLst>
              <a:gs pos="0">
                <a:schemeClr val="accent2"/>
              </a:gs>
              <a:gs pos="100000">
                <a:schemeClr val="accent2">
                  <a:gamma/>
                  <a:shade val="46275"/>
                  <a:invGamma/>
                </a:schemeClr>
              </a:gs>
            </a:gsLst>
            <a:path path="rect">
              <a:fillToRect r="100000" b="100000"/>
            </a:path>
          </a:gradFill>
          <a:ln>
            <a:noFill/>
          </a:ln>
          <a:effectLst/>
          <a:extLst>
            <a:ext uri="{91240B29-F687-4F45-9708-019B960494DF}">
              <a14:hiddenLine xmlns:a14="http://schemas.microsoft.com/office/drawing/2010/main" w="12700">
                <a:solidFill>
                  <a:schemeClr val="accent2"/>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defRPr/>
            </a:pPr>
            <a:endParaRPr lang="en-US" dirty="0"/>
          </a:p>
        </p:txBody>
      </p:sp>
      <p:pic>
        <p:nvPicPr>
          <p:cNvPr id="18" name="Picture 17"/>
          <p:cNvPicPr>
            <a:picLocks noChangeAspect="1"/>
          </p:cNvPicPr>
          <p:nvPr/>
        </p:nvPicPr>
        <p:blipFill>
          <a:blip r:embed="rId9" cstate="print"/>
          <a:stretch>
            <a:fillRect/>
          </a:stretch>
        </p:blipFill>
        <p:spPr>
          <a:xfrm>
            <a:off x="3938191" y="4562207"/>
            <a:ext cx="1379807" cy="721044"/>
          </a:xfrm>
          <a:prstGeom prst="rect">
            <a:avLst/>
          </a:prstGeom>
        </p:spPr>
      </p:pic>
      <p:pic>
        <p:nvPicPr>
          <p:cNvPr id="19" name="Picture 18"/>
          <p:cNvPicPr>
            <a:picLocks noChangeAspect="1"/>
          </p:cNvPicPr>
          <p:nvPr/>
        </p:nvPicPr>
        <p:blipFill>
          <a:blip r:embed="rId10" cstate="print"/>
          <a:stretch>
            <a:fillRect/>
          </a:stretch>
        </p:blipFill>
        <p:spPr>
          <a:xfrm flipH="1">
            <a:off x="6439227" y="5418405"/>
            <a:ext cx="948086" cy="875594"/>
          </a:xfrm>
          <a:prstGeom prst="rect">
            <a:avLst/>
          </a:prstGeom>
        </p:spPr>
      </p:pic>
      <p:pic>
        <p:nvPicPr>
          <p:cNvPr id="20" name="Picture 19"/>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777197" y="3725812"/>
            <a:ext cx="1026529" cy="515409"/>
          </a:xfrm>
          <a:prstGeom prst="rect">
            <a:avLst/>
          </a:prstGeom>
        </p:spPr>
      </p:pic>
      <p:grpSp>
        <p:nvGrpSpPr>
          <p:cNvPr id="21" name="Group 20"/>
          <p:cNvGrpSpPr/>
          <p:nvPr/>
        </p:nvGrpSpPr>
        <p:grpSpPr>
          <a:xfrm>
            <a:off x="3075717" y="5250659"/>
            <a:ext cx="1428750" cy="1057462"/>
            <a:chOff x="1396103" y="4792162"/>
            <a:chExt cx="1428750" cy="1409950"/>
          </a:xfrm>
        </p:grpSpPr>
        <p:sp>
          <p:nvSpPr>
            <p:cNvPr id="22" name="Text Box 26"/>
            <p:cNvSpPr txBox="1">
              <a:spLocks noChangeArrowheads="1"/>
            </p:cNvSpPr>
            <p:nvPr/>
          </p:nvSpPr>
          <p:spPr bwMode="auto">
            <a:xfrm>
              <a:off x="1396103" y="5839620"/>
              <a:ext cx="1428750" cy="3624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charset="0"/>
                  <a:ea typeface="MS PGothic" pitchFamily="34" charset="-128"/>
                </a:defRPr>
              </a:lvl1pPr>
              <a:lvl2pPr marL="742950" indent="-285750" eaLnBrk="0" hangingPunct="0">
                <a:defRPr sz="2000" b="1">
                  <a:solidFill>
                    <a:schemeClr val="tx1"/>
                  </a:solidFill>
                  <a:latin typeface="Arial" charset="0"/>
                  <a:ea typeface="MS PGothic" pitchFamily="34" charset="-128"/>
                </a:defRPr>
              </a:lvl2pPr>
              <a:lvl3pPr marL="1143000" indent="-228600" eaLnBrk="0" hangingPunct="0">
                <a:defRPr sz="2000" b="1">
                  <a:solidFill>
                    <a:schemeClr val="tx1"/>
                  </a:solidFill>
                  <a:latin typeface="Arial" charset="0"/>
                  <a:ea typeface="MS PGothic" pitchFamily="34" charset="-128"/>
                </a:defRPr>
              </a:lvl3pPr>
              <a:lvl4pPr marL="1600200" indent="-228600" eaLnBrk="0" hangingPunct="0">
                <a:defRPr sz="2000" b="1">
                  <a:solidFill>
                    <a:schemeClr val="tx1"/>
                  </a:solidFill>
                  <a:latin typeface="Arial" charset="0"/>
                  <a:ea typeface="MS PGothic" pitchFamily="34" charset="-128"/>
                </a:defRPr>
              </a:lvl4pPr>
              <a:lvl5pPr marL="2057400" indent="-228600" eaLnBrk="0" hangingPunct="0">
                <a:defRPr sz="2000" b="1">
                  <a:solidFill>
                    <a:schemeClr val="tx1"/>
                  </a:solidFill>
                  <a:latin typeface="Arial" charset="0"/>
                  <a:ea typeface="MS PGothic" pitchFamily="34" charset="-128"/>
                </a:defRPr>
              </a:lvl5pPr>
              <a:lvl6pPr marL="2514600" indent="-228600" eaLnBrk="0" fontAlgn="base" hangingPunct="0">
                <a:spcBef>
                  <a:spcPct val="0"/>
                </a:spcBef>
                <a:spcAft>
                  <a:spcPct val="0"/>
                </a:spcAft>
                <a:defRPr sz="2000" b="1">
                  <a:solidFill>
                    <a:schemeClr val="tx1"/>
                  </a:solidFill>
                  <a:latin typeface="Arial" charset="0"/>
                  <a:ea typeface="MS PGothic" pitchFamily="34" charset="-128"/>
                </a:defRPr>
              </a:lvl6pPr>
              <a:lvl7pPr marL="2971800" indent="-228600" eaLnBrk="0" fontAlgn="base" hangingPunct="0">
                <a:spcBef>
                  <a:spcPct val="0"/>
                </a:spcBef>
                <a:spcAft>
                  <a:spcPct val="0"/>
                </a:spcAft>
                <a:defRPr sz="2000" b="1">
                  <a:solidFill>
                    <a:schemeClr val="tx1"/>
                  </a:solidFill>
                  <a:latin typeface="Arial" charset="0"/>
                  <a:ea typeface="MS PGothic" pitchFamily="34" charset="-128"/>
                </a:defRPr>
              </a:lvl7pPr>
              <a:lvl8pPr marL="3429000" indent="-228600" eaLnBrk="0" fontAlgn="base" hangingPunct="0">
                <a:spcBef>
                  <a:spcPct val="0"/>
                </a:spcBef>
                <a:spcAft>
                  <a:spcPct val="0"/>
                </a:spcAft>
                <a:defRPr sz="2000" b="1">
                  <a:solidFill>
                    <a:schemeClr val="tx1"/>
                  </a:solidFill>
                  <a:latin typeface="Arial" charset="0"/>
                  <a:ea typeface="MS PGothic" pitchFamily="34" charset="-128"/>
                </a:defRPr>
              </a:lvl8pPr>
              <a:lvl9pPr marL="3886200" indent="-228600" eaLnBrk="0" fontAlgn="base" hangingPunct="0">
                <a:spcBef>
                  <a:spcPct val="0"/>
                </a:spcBef>
                <a:spcAft>
                  <a:spcPct val="0"/>
                </a:spcAft>
                <a:defRPr sz="2000" b="1">
                  <a:solidFill>
                    <a:schemeClr val="tx1"/>
                  </a:solidFill>
                  <a:latin typeface="Arial" charset="0"/>
                  <a:ea typeface="MS PGothic" pitchFamily="34" charset="-128"/>
                </a:defRPr>
              </a:lvl9pPr>
            </a:lstStyle>
            <a:p>
              <a:pPr algn="ctr">
                <a:lnSpc>
                  <a:spcPts val="1400"/>
                </a:lnSpc>
              </a:pPr>
              <a:r>
                <a:rPr lang="en-US" sz="1400" b="0" dirty="0">
                  <a:latin typeface="+mn-lt"/>
                </a:rPr>
                <a:t>Security Profile</a:t>
              </a:r>
            </a:p>
          </p:txBody>
        </p:sp>
        <p:grpSp>
          <p:nvGrpSpPr>
            <p:cNvPr id="23" name="Group 22"/>
            <p:cNvGrpSpPr/>
            <p:nvPr/>
          </p:nvGrpSpPr>
          <p:grpSpPr>
            <a:xfrm>
              <a:off x="1469819" y="4792162"/>
              <a:ext cx="1281318" cy="950123"/>
              <a:chOff x="-1411947" y="3184520"/>
              <a:chExt cx="1281318" cy="950123"/>
            </a:xfrm>
          </p:grpSpPr>
          <p:sp>
            <p:nvSpPr>
              <p:cNvPr id="24" name="Rectangle 23"/>
              <p:cNvSpPr/>
              <p:nvPr/>
            </p:nvSpPr>
            <p:spPr bwMode="auto">
              <a:xfrm>
                <a:off x="-1411947" y="3184520"/>
                <a:ext cx="1281318" cy="950123"/>
              </a:xfrm>
              <a:prstGeom prst="rect">
                <a:avLst/>
              </a:prstGeom>
              <a:solidFill>
                <a:schemeClr val="bg1">
                  <a:lumMod val="85000"/>
                </a:schemeClr>
              </a:solidFill>
              <a:ln w="38100" cap="flat" cmpd="sng" algn="ctr">
                <a:solidFill>
                  <a:schemeClr val="bg1">
                    <a:lumMod val="75000"/>
                  </a:schemeClr>
                </a:solidFill>
                <a:prstDash val="solid"/>
                <a:round/>
                <a:headEnd type="none" w="med" len="med"/>
                <a:tailEnd type="none" w="med" len="med"/>
              </a:ln>
              <a:effectLst>
                <a:outerShdw blurRad="50800" dist="38100" dir="2700000" algn="tl" rotWithShape="0">
                  <a:prstClr val="black">
                    <a:alpha val="40000"/>
                  </a:prstClr>
                </a:outerShdw>
              </a:effectLst>
            </p:spPr>
            <p:txBody>
              <a:bodyPr rtlCol="0" anchor="ctr"/>
              <a:lstStyle/>
              <a:p>
                <a:pPr algn="ctr"/>
                <a:endParaRPr lang="en-CA" dirty="0"/>
              </a:p>
            </p:txBody>
          </p:sp>
          <p:pic>
            <p:nvPicPr>
              <p:cNvPr id="25" name="Picture 24"/>
              <p:cNvPicPr>
                <a:picLocks noChangeAspect="1"/>
              </p:cNvPicPr>
              <p:nvPr/>
            </p:nvPicPr>
            <p:blipFill>
              <a:blip r:embed="rId12" cstate="print"/>
              <a:stretch>
                <a:fillRect/>
              </a:stretch>
            </p:blipFill>
            <p:spPr>
              <a:xfrm>
                <a:off x="-876425" y="3227277"/>
                <a:ext cx="340378" cy="431989"/>
              </a:xfrm>
              <a:prstGeom prst="rect">
                <a:avLst/>
              </a:prstGeom>
            </p:spPr>
          </p:pic>
          <p:pic>
            <p:nvPicPr>
              <p:cNvPr id="26" name="Picture 25"/>
              <p:cNvPicPr>
                <a:picLocks noChangeAspect="1"/>
              </p:cNvPicPr>
              <p:nvPr/>
            </p:nvPicPr>
            <p:blipFill>
              <a:blip r:embed="rId13" cstate="print"/>
              <a:stretch>
                <a:fillRect/>
              </a:stretch>
            </p:blipFill>
            <p:spPr>
              <a:xfrm>
                <a:off x="-1293776" y="3234832"/>
                <a:ext cx="338969" cy="431989"/>
              </a:xfrm>
              <a:prstGeom prst="rect">
                <a:avLst/>
              </a:prstGeom>
            </p:spPr>
          </p:pic>
          <p:pic>
            <p:nvPicPr>
              <p:cNvPr id="27" name="Picture 26"/>
              <p:cNvPicPr>
                <a:picLocks noChangeAspect="1"/>
              </p:cNvPicPr>
              <p:nvPr/>
            </p:nvPicPr>
            <p:blipFill>
              <a:blip r:embed="rId14" cstate="print"/>
              <a:stretch>
                <a:fillRect/>
              </a:stretch>
            </p:blipFill>
            <p:spPr>
              <a:xfrm>
                <a:off x="-508350" y="3234831"/>
                <a:ext cx="338969" cy="431989"/>
              </a:xfrm>
              <a:prstGeom prst="rect">
                <a:avLst/>
              </a:prstGeom>
            </p:spPr>
          </p:pic>
          <p:pic>
            <p:nvPicPr>
              <p:cNvPr id="28" name="Picture 27"/>
              <p:cNvPicPr>
                <a:picLocks noChangeAspect="1"/>
              </p:cNvPicPr>
              <p:nvPr/>
            </p:nvPicPr>
            <p:blipFill>
              <a:blip r:embed="rId15" cstate="print"/>
              <a:stretch>
                <a:fillRect/>
              </a:stretch>
            </p:blipFill>
            <p:spPr>
              <a:xfrm>
                <a:off x="-1293776" y="3667792"/>
                <a:ext cx="339589" cy="431989"/>
              </a:xfrm>
              <a:prstGeom prst="rect">
                <a:avLst/>
              </a:prstGeom>
            </p:spPr>
          </p:pic>
          <p:pic>
            <p:nvPicPr>
              <p:cNvPr id="29" name="Picture 28"/>
              <p:cNvPicPr>
                <a:picLocks noChangeAspect="1"/>
              </p:cNvPicPr>
              <p:nvPr/>
            </p:nvPicPr>
            <p:blipFill>
              <a:blip r:embed="rId16" cstate="print"/>
              <a:stretch>
                <a:fillRect/>
              </a:stretch>
            </p:blipFill>
            <p:spPr>
              <a:xfrm>
                <a:off x="-661499" y="3678272"/>
                <a:ext cx="339757" cy="431989"/>
              </a:xfrm>
              <a:prstGeom prst="rect">
                <a:avLst/>
              </a:prstGeom>
            </p:spPr>
          </p:pic>
        </p:grpSp>
      </p:grpSp>
      <p:grpSp>
        <p:nvGrpSpPr>
          <p:cNvPr id="30" name="Group 29"/>
          <p:cNvGrpSpPr/>
          <p:nvPr/>
        </p:nvGrpSpPr>
        <p:grpSpPr>
          <a:xfrm>
            <a:off x="1692121" y="5516883"/>
            <a:ext cx="1428750" cy="683554"/>
            <a:chOff x="1251137" y="3856526"/>
            <a:chExt cx="1428750" cy="911404"/>
          </a:xfrm>
        </p:grpSpPr>
        <p:sp>
          <p:nvSpPr>
            <p:cNvPr id="31" name="Text Box 25"/>
            <p:cNvSpPr txBox="1">
              <a:spLocks noChangeArrowheads="1"/>
            </p:cNvSpPr>
            <p:nvPr/>
          </p:nvSpPr>
          <p:spPr bwMode="auto">
            <a:xfrm>
              <a:off x="1251137" y="4405439"/>
              <a:ext cx="1428750" cy="3624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charset="0"/>
                  <a:ea typeface="MS PGothic" pitchFamily="34" charset="-128"/>
                </a:defRPr>
              </a:lvl1pPr>
              <a:lvl2pPr marL="742950" indent="-285750" eaLnBrk="0" hangingPunct="0">
                <a:defRPr sz="2000" b="1">
                  <a:solidFill>
                    <a:schemeClr val="tx1"/>
                  </a:solidFill>
                  <a:latin typeface="Arial" charset="0"/>
                  <a:ea typeface="MS PGothic" pitchFamily="34" charset="-128"/>
                </a:defRPr>
              </a:lvl2pPr>
              <a:lvl3pPr marL="1143000" indent="-228600" eaLnBrk="0" hangingPunct="0">
                <a:defRPr sz="2000" b="1">
                  <a:solidFill>
                    <a:schemeClr val="tx1"/>
                  </a:solidFill>
                  <a:latin typeface="Arial" charset="0"/>
                  <a:ea typeface="MS PGothic" pitchFamily="34" charset="-128"/>
                </a:defRPr>
              </a:lvl3pPr>
              <a:lvl4pPr marL="1600200" indent="-228600" eaLnBrk="0" hangingPunct="0">
                <a:defRPr sz="2000" b="1">
                  <a:solidFill>
                    <a:schemeClr val="tx1"/>
                  </a:solidFill>
                  <a:latin typeface="Arial" charset="0"/>
                  <a:ea typeface="MS PGothic" pitchFamily="34" charset="-128"/>
                </a:defRPr>
              </a:lvl4pPr>
              <a:lvl5pPr marL="2057400" indent="-228600" eaLnBrk="0" hangingPunct="0">
                <a:defRPr sz="2000" b="1">
                  <a:solidFill>
                    <a:schemeClr val="tx1"/>
                  </a:solidFill>
                  <a:latin typeface="Arial" charset="0"/>
                  <a:ea typeface="MS PGothic" pitchFamily="34" charset="-128"/>
                </a:defRPr>
              </a:lvl5pPr>
              <a:lvl6pPr marL="2514600" indent="-228600" eaLnBrk="0" fontAlgn="base" hangingPunct="0">
                <a:spcBef>
                  <a:spcPct val="0"/>
                </a:spcBef>
                <a:spcAft>
                  <a:spcPct val="0"/>
                </a:spcAft>
                <a:defRPr sz="2000" b="1">
                  <a:solidFill>
                    <a:schemeClr val="tx1"/>
                  </a:solidFill>
                  <a:latin typeface="Arial" charset="0"/>
                  <a:ea typeface="MS PGothic" pitchFamily="34" charset="-128"/>
                </a:defRPr>
              </a:lvl6pPr>
              <a:lvl7pPr marL="2971800" indent="-228600" eaLnBrk="0" fontAlgn="base" hangingPunct="0">
                <a:spcBef>
                  <a:spcPct val="0"/>
                </a:spcBef>
                <a:spcAft>
                  <a:spcPct val="0"/>
                </a:spcAft>
                <a:defRPr sz="2000" b="1">
                  <a:solidFill>
                    <a:schemeClr val="tx1"/>
                  </a:solidFill>
                  <a:latin typeface="Arial" charset="0"/>
                  <a:ea typeface="MS PGothic" pitchFamily="34" charset="-128"/>
                </a:defRPr>
              </a:lvl7pPr>
              <a:lvl8pPr marL="3429000" indent="-228600" eaLnBrk="0" fontAlgn="base" hangingPunct="0">
                <a:spcBef>
                  <a:spcPct val="0"/>
                </a:spcBef>
                <a:spcAft>
                  <a:spcPct val="0"/>
                </a:spcAft>
                <a:defRPr sz="2000" b="1">
                  <a:solidFill>
                    <a:schemeClr val="tx1"/>
                  </a:solidFill>
                  <a:latin typeface="Arial" charset="0"/>
                  <a:ea typeface="MS PGothic" pitchFamily="34" charset="-128"/>
                </a:defRPr>
              </a:lvl8pPr>
              <a:lvl9pPr marL="3886200" indent="-228600" eaLnBrk="0" fontAlgn="base" hangingPunct="0">
                <a:spcBef>
                  <a:spcPct val="0"/>
                </a:spcBef>
                <a:spcAft>
                  <a:spcPct val="0"/>
                </a:spcAft>
                <a:defRPr sz="2000" b="1">
                  <a:solidFill>
                    <a:schemeClr val="tx1"/>
                  </a:solidFill>
                  <a:latin typeface="Arial" charset="0"/>
                  <a:ea typeface="MS PGothic" pitchFamily="34" charset="-128"/>
                </a:defRPr>
              </a:lvl9pPr>
            </a:lstStyle>
            <a:p>
              <a:pPr algn="ctr">
                <a:lnSpc>
                  <a:spcPts val="1400"/>
                </a:lnSpc>
              </a:pPr>
              <a:r>
                <a:rPr lang="en-US" sz="1400" b="0" dirty="0">
                  <a:latin typeface="+mn-lt"/>
                </a:rPr>
                <a:t>Authentication</a:t>
              </a:r>
            </a:p>
          </p:txBody>
        </p:sp>
        <p:grpSp>
          <p:nvGrpSpPr>
            <p:cNvPr id="32" name="Group 31"/>
            <p:cNvGrpSpPr/>
            <p:nvPr/>
          </p:nvGrpSpPr>
          <p:grpSpPr>
            <a:xfrm>
              <a:off x="1592262" y="3856526"/>
              <a:ext cx="546265" cy="462760"/>
              <a:chOff x="-1237775" y="4380937"/>
              <a:chExt cx="546265" cy="462760"/>
            </a:xfrm>
          </p:grpSpPr>
          <p:sp>
            <p:nvSpPr>
              <p:cNvPr id="33" name="Rectangle 32"/>
              <p:cNvSpPr/>
              <p:nvPr/>
            </p:nvSpPr>
            <p:spPr bwMode="auto">
              <a:xfrm>
                <a:off x="-1237775" y="4380937"/>
                <a:ext cx="546265" cy="462760"/>
              </a:xfrm>
              <a:prstGeom prst="rect">
                <a:avLst/>
              </a:prstGeom>
              <a:solidFill>
                <a:schemeClr val="bg1">
                  <a:lumMod val="85000"/>
                </a:schemeClr>
              </a:solidFill>
              <a:ln w="38100" cap="flat" cmpd="sng" algn="ctr">
                <a:solidFill>
                  <a:schemeClr val="bg1">
                    <a:lumMod val="75000"/>
                  </a:schemeClr>
                </a:solidFill>
                <a:prstDash val="solid"/>
                <a:round/>
                <a:headEnd type="none" w="med" len="med"/>
                <a:tailEnd type="none" w="med" len="med"/>
              </a:ln>
              <a:effectLst>
                <a:outerShdw blurRad="50800" dist="38100" dir="2700000" algn="tl" rotWithShape="0">
                  <a:prstClr val="black">
                    <a:alpha val="40000"/>
                  </a:prstClr>
                </a:outerShdw>
              </a:effectLst>
            </p:spPr>
            <p:txBody>
              <a:bodyPr rtlCol="0" anchor="ctr"/>
              <a:lstStyle/>
              <a:p>
                <a:pPr algn="ctr"/>
                <a:endParaRPr lang="en-CA" dirty="0"/>
              </a:p>
            </p:txBody>
          </p:sp>
          <p:pic>
            <p:nvPicPr>
              <p:cNvPr id="34" name="Picture 33"/>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1124292" y="4465368"/>
                <a:ext cx="330494" cy="350488"/>
              </a:xfrm>
              <a:prstGeom prst="rect">
                <a:avLst/>
              </a:prstGeom>
            </p:spPr>
          </p:pic>
        </p:grpSp>
      </p:grpSp>
      <p:grpSp>
        <p:nvGrpSpPr>
          <p:cNvPr id="35" name="Group 34"/>
          <p:cNvGrpSpPr/>
          <p:nvPr/>
        </p:nvGrpSpPr>
        <p:grpSpPr>
          <a:xfrm>
            <a:off x="4704169" y="5484298"/>
            <a:ext cx="882650" cy="649898"/>
            <a:chOff x="3919537" y="4929184"/>
            <a:chExt cx="882650" cy="866530"/>
          </a:xfrm>
        </p:grpSpPr>
        <p:sp>
          <p:nvSpPr>
            <p:cNvPr id="36" name="Text Box 29"/>
            <p:cNvSpPr txBox="1">
              <a:spLocks noChangeArrowheads="1"/>
            </p:cNvSpPr>
            <p:nvPr/>
          </p:nvSpPr>
          <p:spPr bwMode="auto">
            <a:xfrm>
              <a:off x="3919537" y="5433222"/>
              <a:ext cx="882650" cy="3624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b="1">
                  <a:solidFill>
                    <a:schemeClr val="tx1"/>
                  </a:solidFill>
                  <a:latin typeface="Arial" charset="0"/>
                  <a:ea typeface="MS PGothic" pitchFamily="34" charset="-128"/>
                </a:defRPr>
              </a:lvl1pPr>
              <a:lvl2pPr marL="742950" indent="-285750" eaLnBrk="0" hangingPunct="0">
                <a:defRPr sz="2000" b="1">
                  <a:solidFill>
                    <a:schemeClr val="tx1"/>
                  </a:solidFill>
                  <a:latin typeface="Arial" charset="0"/>
                  <a:ea typeface="MS PGothic" pitchFamily="34" charset="-128"/>
                </a:defRPr>
              </a:lvl2pPr>
              <a:lvl3pPr marL="1143000" indent="-228600" eaLnBrk="0" hangingPunct="0">
                <a:defRPr sz="2000" b="1">
                  <a:solidFill>
                    <a:schemeClr val="tx1"/>
                  </a:solidFill>
                  <a:latin typeface="Arial" charset="0"/>
                  <a:ea typeface="MS PGothic" pitchFamily="34" charset="-128"/>
                </a:defRPr>
              </a:lvl3pPr>
              <a:lvl4pPr marL="1600200" indent="-228600" eaLnBrk="0" hangingPunct="0">
                <a:defRPr sz="2000" b="1">
                  <a:solidFill>
                    <a:schemeClr val="tx1"/>
                  </a:solidFill>
                  <a:latin typeface="Arial" charset="0"/>
                  <a:ea typeface="MS PGothic" pitchFamily="34" charset="-128"/>
                </a:defRPr>
              </a:lvl4pPr>
              <a:lvl5pPr marL="2057400" indent="-228600" eaLnBrk="0" hangingPunct="0">
                <a:defRPr sz="2000" b="1">
                  <a:solidFill>
                    <a:schemeClr val="tx1"/>
                  </a:solidFill>
                  <a:latin typeface="Arial" charset="0"/>
                  <a:ea typeface="MS PGothic" pitchFamily="34" charset="-128"/>
                </a:defRPr>
              </a:lvl5pPr>
              <a:lvl6pPr marL="2514600" indent="-228600" eaLnBrk="0" fontAlgn="base" hangingPunct="0">
                <a:spcBef>
                  <a:spcPct val="0"/>
                </a:spcBef>
                <a:spcAft>
                  <a:spcPct val="0"/>
                </a:spcAft>
                <a:defRPr sz="2000" b="1">
                  <a:solidFill>
                    <a:schemeClr val="tx1"/>
                  </a:solidFill>
                  <a:latin typeface="Arial" charset="0"/>
                  <a:ea typeface="MS PGothic" pitchFamily="34" charset="-128"/>
                </a:defRPr>
              </a:lvl6pPr>
              <a:lvl7pPr marL="2971800" indent="-228600" eaLnBrk="0" fontAlgn="base" hangingPunct="0">
                <a:spcBef>
                  <a:spcPct val="0"/>
                </a:spcBef>
                <a:spcAft>
                  <a:spcPct val="0"/>
                </a:spcAft>
                <a:defRPr sz="2000" b="1">
                  <a:solidFill>
                    <a:schemeClr val="tx1"/>
                  </a:solidFill>
                  <a:latin typeface="Arial" charset="0"/>
                  <a:ea typeface="MS PGothic" pitchFamily="34" charset="-128"/>
                </a:defRPr>
              </a:lvl7pPr>
              <a:lvl8pPr marL="3429000" indent="-228600" eaLnBrk="0" fontAlgn="base" hangingPunct="0">
                <a:spcBef>
                  <a:spcPct val="0"/>
                </a:spcBef>
                <a:spcAft>
                  <a:spcPct val="0"/>
                </a:spcAft>
                <a:defRPr sz="2000" b="1">
                  <a:solidFill>
                    <a:schemeClr val="tx1"/>
                  </a:solidFill>
                  <a:latin typeface="Arial" charset="0"/>
                  <a:ea typeface="MS PGothic" pitchFamily="34" charset="-128"/>
                </a:defRPr>
              </a:lvl8pPr>
              <a:lvl9pPr marL="3886200" indent="-228600" eaLnBrk="0" fontAlgn="base" hangingPunct="0">
                <a:spcBef>
                  <a:spcPct val="0"/>
                </a:spcBef>
                <a:spcAft>
                  <a:spcPct val="0"/>
                </a:spcAft>
                <a:defRPr sz="2000" b="1">
                  <a:solidFill>
                    <a:schemeClr val="tx1"/>
                  </a:solidFill>
                  <a:latin typeface="Arial" charset="0"/>
                  <a:ea typeface="MS PGothic" pitchFamily="34" charset="-128"/>
                </a:defRPr>
              </a:lvl9pPr>
            </a:lstStyle>
            <a:p>
              <a:pPr algn="ctr">
                <a:lnSpc>
                  <a:spcPts val="1400"/>
                </a:lnSpc>
              </a:pPr>
              <a:r>
                <a:rPr lang="en-US" sz="1400" b="0" dirty="0">
                  <a:latin typeface="+mn-lt"/>
                </a:rPr>
                <a:t>Logging</a:t>
              </a:r>
            </a:p>
          </p:txBody>
        </p:sp>
        <p:grpSp>
          <p:nvGrpSpPr>
            <p:cNvPr id="37" name="Group 36"/>
            <p:cNvGrpSpPr/>
            <p:nvPr/>
          </p:nvGrpSpPr>
          <p:grpSpPr>
            <a:xfrm>
              <a:off x="4027995" y="4929184"/>
              <a:ext cx="546265" cy="462760"/>
              <a:chOff x="-1411947" y="5005494"/>
              <a:chExt cx="546265" cy="462760"/>
            </a:xfrm>
          </p:grpSpPr>
          <p:sp>
            <p:nvSpPr>
              <p:cNvPr id="38" name="Rectangle 37"/>
              <p:cNvSpPr/>
              <p:nvPr/>
            </p:nvSpPr>
            <p:spPr bwMode="auto">
              <a:xfrm>
                <a:off x="-1411947" y="5005494"/>
                <a:ext cx="546265" cy="462760"/>
              </a:xfrm>
              <a:prstGeom prst="rect">
                <a:avLst/>
              </a:prstGeom>
              <a:solidFill>
                <a:schemeClr val="bg1">
                  <a:lumMod val="85000"/>
                </a:schemeClr>
              </a:solidFill>
              <a:ln w="38100" cap="flat" cmpd="sng" algn="ctr">
                <a:solidFill>
                  <a:schemeClr val="bg1">
                    <a:lumMod val="75000"/>
                  </a:schemeClr>
                </a:solidFill>
                <a:prstDash val="solid"/>
                <a:round/>
                <a:headEnd type="none" w="med" len="med"/>
                <a:tailEnd type="none" w="med" len="med"/>
              </a:ln>
              <a:effectLst>
                <a:outerShdw blurRad="50800" dist="38100" dir="2700000" algn="tl" rotWithShape="0">
                  <a:prstClr val="black">
                    <a:alpha val="40000"/>
                  </a:prstClr>
                </a:outerShdw>
              </a:effectLst>
            </p:spPr>
            <p:txBody>
              <a:bodyPr rtlCol="0" anchor="ctr"/>
              <a:lstStyle/>
              <a:p>
                <a:pPr algn="ctr"/>
                <a:endParaRPr lang="en-CA" dirty="0"/>
              </a:p>
            </p:txBody>
          </p:sp>
          <p:pic>
            <p:nvPicPr>
              <p:cNvPr id="39" name="Picture 674" descr="C:\Users\Saurabh\Desktop\Project\DevelopmentResources\Network Icons\file-icon.png"/>
              <p:cNvPicPr>
                <a:picLocks noChangeAspect="1" noChangeArrowheads="1"/>
              </p:cNvPicPr>
              <p:nvPr/>
            </p:nvPicPr>
            <p:blipFill>
              <a:blip r:embed="rId18" cstate="print">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1349002" y="5048941"/>
                <a:ext cx="212173" cy="299345"/>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674" descr="C:\Users\Saurabh\Desktop\Project\DevelopmentResources\Network Icons\file-icon.png"/>
              <p:cNvPicPr>
                <a:picLocks noChangeAspect="1" noChangeArrowheads="1"/>
              </p:cNvPicPr>
              <p:nvPr/>
            </p:nvPicPr>
            <p:blipFill>
              <a:blip r:embed="rId18" cstate="print">
                <a:duotone>
                  <a:prstClr val="black"/>
                  <a:schemeClr val="accent3">
                    <a:tint val="45000"/>
                    <a:satMod val="400000"/>
                  </a:schemeClr>
                </a:duotone>
                <a:extLst>
                  <a:ext uri="{28A0092B-C50C-407E-A947-70E740481C1C}">
                    <a14:useLocalDpi xmlns:a14="http://schemas.microsoft.com/office/drawing/2010/main" val="0"/>
                  </a:ext>
                </a:extLst>
              </a:blip>
              <a:srcRect/>
              <a:stretch>
                <a:fillRect/>
              </a:stretch>
            </p:blipFill>
            <p:spPr bwMode="auto">
              <a:xfrm>
                <a:off x="-1218339" y="5155815"/>
                <a:ext cx="212173" cy="299345"/>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674" descr="C:\Users\Saurabh\Desktop\Project\DevelopmentResources\Network Icons\file-icon.png"/>
              <p:cNvPicPr>
                <a:picLocks noChangeAspect="1" noChangeArrowheads="1"/>
              </p:cNvPicPr>
              <p:nvPr/>
            </p:nvPicPr>
            <p:blipFill>
              <a:blip r:embed="rId18" cstate="print">
                <a:duotone>
                  <a:prstClr val="black"/>
                  <a:schemeClr val="accent4">
                    <a:tint val="45000"/>
                    <a:satMod val="400000"/>
                  </a:schemeClr>
                </a:duotone>
                <a:extLst>
                  <a:ext uri="{28A0092B-C50C-407E-A947-70E740481C1C}">
                    <a14:useLocalDpi xmlns:a14="http://schemas.microsoft.com/office/drawing/2010/main" val="0"/>
                  </a:ext>
                </a:extLst>
              </a:blip>
              <a:srcRect/>
              <a:stretch>
                <a:fillRect/>
              </a:stretch>
            </p:blipFill>
            <p:spPr bwMode="auto">
              <a:xfrm>
                <a:off x="-1110205" y="5048939"/>
                <a:ext cx="212173" cy="299345"/>
              </a:xfrm>
              <a:prstGeom prst="rect">
                <a:avLst/>
              </a:prstGeom>
              <a:noFill/>
              <a:extLst>
                <a:ext uri="{909E8E84-426E-40DD-AFC4-6F175D3DCCD1}">
                  <a14:hiddenFill xmlns:a14="http://schemas.microsoft.com/office/drawing/2010/main">
                    <a:solidFill>
                      <a:srgbClr val="FFFFFF"/>
                    </a:solidFill>
                  </a14:hiddenFill>
                </a:ext>
              </a:extLst>
            </p:spPr>
          </p:pic>
        </p:grpSp>
      </p:grpSp>
      <p:pic>
        <p:nvPicPr>
          <p:cNvPr id="42" name="Picture 40" descr="scan"/>
          <p:cNvPicPr>
            <a:picLocks noChangeAspect="1" noChangeArrowheads="1"/>
          </p:cNvPicPr>
          <p:nvPr/>
        </p:nvPicPr>
        <p:blipFill>
          <a:blip r:embed="rId19" cstate="print">
            <a:extLst>
              <a:ext uri="{28A0092B-C50C-407E-A947-70E740481C1C}">
                <a14:useLocalDpi xmlns:a14="http://schemas.microsoft.com/office/drawing/2010/main" val="0"/>
              </a:ext>
            </a:extLst>
          </a:blip>
          <a:srcRect/>
          <a:stretch>
            <a:fillRect/>
          </a:stretch>
        </p:blipFill>
        <p:spPr bwMode="auto">
          <a:xfrm>
            <a:off x="4305173" y="4371593"/>
            <a:ext cx="993775"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 name="Rectangle 12"/>
          <p:cNvSpPr>
            <a:spLocks noChangeArrowheads="1"/>
          </p:cNvSpPr>
          <p:nvPr/>
        </p:nvSpPr>
        <p:spPr bwMode="auto">
          <a:xfrm>
            <a:off x="620086" y="1861917"/>
            <a:ext cx="4625597" cy="315516"/>
          </a:xfrm>
          <a:prstGeom prst="rect">
            <a:avLst/>
          </a:prstGeom>
          <a:solidFill>
            <a:srgbClr val="00B0F0"/>
          </a:solidFill>
          <a:ln>
            <a:noFill/>
          </a:ln>
          <a:effectLst/>
        </p:spPr>
        <p:txBody>
          <a:bodyPr wrap="none" anchor="ctr"/>
          <a:lstStyle/>
          <a:p>
            <a:pPr algn="ctr" eaLnBrk="0" hangingPunct="0"/>
            <a:r>
              <a:rPr lang="en-US" sz="1600" dirty="0"/>
              <a:t>Destination: IP address or </a:t>
            </a:r>
            <a:r>
              <a:rPr lang="en-US" dirty="0"/>
              <a:t>internet services</a:t>
            </a:r>
            <a:endParaRPr lang="en-US" sz="1600" dirty="0"/>
          </a:p>
        </p:txBody>
      </p:sp>
      <p:graphicFrame>
        <p:nvGraphicFramePr>
          <p:cNvPr id="2" name="Object 1"/>
          <p:cNvGraphicFramePr>
            <a:graphicFrameLocks noChangeAspect="1"/>
          </p:cNvGraphicFramePr>
          <p:nvPr>
            <p:extLst>
              <p:ext uri="{D42A27DB-BD31-4B8C-83A1-F6EECF244321}">
                <p14:modId xmlns:p14="http://schemas.microsoft.com/office/powerpoint/2010/main" val="3462526453"/>
              </p:ext>
            </p:extLst>
          </p:nvPr>
        </p:nvGraphicFramePr>
        <p:xfrm>
          <a:off x="5307032" y="1879181"/>
          <a:ext cx="393700" cy="280988"/>
        </p:xfrm>
        <a:graphic>
          <a:graphicData uri="http://schemas.openxmlformats.org/presentationml/2006/ole">
            <mc:AlternateContent xmlns:mc="http://schemas.openxmlformats.org/markup-compatibility/2006">
              <mc:Choice xmlns:v="urn:schemas-microsoft-com:vml" Requires="v">
                <p:oleObj name="CorelDRAW" r:id="rId20" imgW="1265760" imgH="1203120" progId="">
                  <p:embed/>
                </p:oleObj>
              </mc:Choice>
              <mc:Fallback>
                <p:oleObj name="CorelDRAW" r:id="rId20" imgW="1265760" imgH="1203120" progId="">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07032" y="1879181"/>
                        <a:ext cx="393700" cy="280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5" name="TextBox 44"/>
          <p:cNvSpPr txBox="1"/>
          <p:nvPr/>
        </p:nvSpPr>
        <p:spPr>
          <a:xfrm>
            <a:off x="6248548" y="1254872"/>
            <a:ext cx="3469219" cy="338554"/>
          </a:xfrm>
          <a:prstGeom prst="rect">
            <a:avLst/>
          </a:prstGeom>
          <a:solidFill>
            <a:srgbClr val="00B0F0"/>
          </a:solidFill>
        </p:spPr>
        <p:txBody>
          <a:bodyPr wrap="none" rtlCol="0">
            <a:spAutoFit/>
          </a:bodyPr>
          <a:lstStyle/>
          <a:p>
            <a:r>
              <a:rPr lang="en-CA" sz="1600" b="1" dirty="0"/>
              <a:t>Policy &amp; Objects </a:t>
            </a:r>
            <a:r>
              <a:rPr lang="en-CA" sz="1600" dirty="0"/>
              <a:t>&gt; </a:t>
            </a:r>
            <a:r>
              <a:rPr lang="en-CA" sz="1600" b="1" dirty="0"/>
              <a:t>Firewall Policy</a:t>
            </a:r>
          </a:p>
        </p:txBody>
      </p:sp>
      <p:pic>
        <p:nvPicPr>
          <p:cNvPr id="47" name="Picture 46"/>
          <p:cNvPicPr>
            <a:picLocks noChangeAspect="1"/>
          </p:cNvPicPr>
          <p:nvPr/>
        </p:nvPicPr>
        <p:blipFill>
          <a:blip r:embed="rId21"/>
          <a:stretch>
            <a:fillRect/>
          </a:stretch>
        </p:blipFill>
        <p:spPr>
          <a:xfrm>
            <a:off x="6248548" y="1672441"/>
            <a:ext cx="5598551" cy="3052196"/>
          </a:xfrm>
          <a:prstGeom prst="rect">
            <a:avLst/>
          </a:prstGeom>
          <a:ln>
            <a:solidFill>
              <a:schemeClr val="tx1"/>
            </a:solidFill>
          </a:ln>
        </p:spPr>
      </p:pic>
      <p:sp>
        <p:nvSpPr>
          <p:cNvPr id="5" name="Rectangle 4"/>
          <p:cNvSpPr/>
          <p:nvPr/>
        </p:nvSpPr>
        <p:spPr bwMode="invGray">
          <a:xfrm>
            <a:off x="6307437" y="2141437"/>
            <a:ext cx="5368748" cy="2111507"/>
          </a:xfrm>
          <a:prstGeom prst="rect">
            <a:avLst/>
          </a:prstGeom>
          <a:noFill/>
          <a:ln w="38100">
            <a:solidFill>
              <a:srgbClr val="FF0000"/>
            </a:solidFill>
            <a:round/>
            <a:headEnd/>
            <a:tailE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Tree>
    <p:custDataLst>
      <p:tags r:id="rId1"/>
    </p:custDataLst>
    <p:extLst>
      <p:ext uri="{BB962C8B-B14F-4D97-AF65-F5344CB8AC3E}">
        <p14:creationId xmlns:p14="http://schemas.microsoft.com/office/powerpoint/2010/main" val="2111989657"/>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grpId="0" nodeType="afterEffect">
                                  <p:stCondLst>
                                    <p:cond delay="0"/>
                                  </p:stCondLst>
                                  <p:childTnLst>
                                    <p:animMotion origin="layout" path="M -0.04012 -0.02916 L 0.17353 0.12894 " pathEditMode="relative" rAng="0" ptsTypes="AA">
                                      <p:cBhvr>
                                        <p:cTn id="6" dur="750" spd="-100000" fill="hold"/>
                                        <p:tgtEl>
                                          <p:spTgt spid="17"/>
                                        </p:tgtEl>
                                        <p:attrNameLst>
                                          <p:attrName>ppt_x</p:attrName>
                                          <p:attrName>ppt_y</p:attrName>
                                        </p:attrNameLst>
                                      </p:cBhvr>
                                      <p:rCtr x="10683" y="7894"/>
                                    </p:animMotion>
                                  </p:childTnLst>
                                </p:cTn>
                              </p:par>
                            </p:childTnLst>
                          </p:cTn>
                        </p:par>
                        <p:par>
                          <p:cTn id="7" fill="hold">
                            <p:stCondLst>
                              <p:cond delay="750"/>
                            </p:stCondLst>
                            <p:childTnLst>
                              <p:par>
                                <p:cTn id="8" presetID="1" presetClass="entr" presetSubtype="0" fill="hold" nodeType="afterEffect">
                                  <p:stCondLst>
                                    <p:cond delay="0"/>
                                  </p:stCondLst>
                                  <p:childTnLst>
                                    <p:set>
                                      <p:cBhvr>
                                        <p:cTn id="9" dur="1" fill="hold">
                                          <p:stCondLst>
                                            <p:cond delay="0"/>
                                          </p:stCondLst>
                                        </p:cTn>
                                        <p:tgtEl>
                                          <p:spTgt spid="42"/>
                                        </p:tgtEl>
                                        <p:attrNameLst>
                                          <p:attrName>style.visibility</p:attrName>
                                        </p:attrNameLst>
                                      </p:cBhvr>
                                      <p:to>
                                        <p:strVal val="visible"/>
                                      </p:to>
                                    </p:set>
                                  </p:childTnLst>
                                </p:cTn>
                              </p:par>
                            </p:childTnLst>
                          </p:cTn>
                        </p:par>
                        <p:par>
                          <p:cTn id="10" fill="hold">
                            <p:stCondLst>
                              <p:cond delay="750"/>
                            </p:stCondLst>
                            <p:childTnLst>
                              <p:par>
                                <p:cTn id="11" presetID="1" presetClass="path" presetSubtype="0" accel="50000" decel="50000" fill="hold" nodeType="afterEffect">
                                  <p:stCondLst>
                                    <p:cond delay="0"/>
                                  </p:stCondLst>
                                  <p:childTnLst>
                                    <p:animMotion origin="layout" path="M -0.01562 -0.0301 C -0.00451 -0.0301 0.00486 -0.01852 0.00486 -0.00371 C 0.00486 0.01111 -0.00451 0.02314 -0.01562 0.02314 C -0.02691 0.02314 -0.03594 0.01111 -0.03594 -0.00371 C -0.03594 -0.01852 -0.02691 -0.0301 -0.01562 -0.0301 Z " pathEditMode="relative" rAng="0" ptsTypes="AAAAA">
                                      <p:cBhvr>
                                        <p:cTn id="12" dur="750" fill="hold"/>
                                        <p:tgtEl>
                                          <p:spTgt spid="42"/>
                                        </p:tgtEl>
                                        <p:attrNameLst>
                                          <p:attrName>ppt_x</p:attrName>
                                          <p:attrName>ppt_y</p:attrName>
                                        </p:attrNameLst>
                                      </p:cBhvr>
                                      <p:rCtr x="0" y="2662"/>
                                    </p:animMotion>
                                  </p:childTnLst>
                                </p:cTn>
                              </p:par>
                            </p:childTnLst>
                          </p:cTn>
                        </p:par>
                        <p:par>
                          <p:cTn id="13" fill="hold">
                            <p:stCondLst>
                              <p:cond delay="1500"/>
                            </p:stCondLst>
                            <p:childTnLst>
                              <p:par>
                                <p:cTn id="14" presetID="1" presetClass="exit" presetSubtype="0" fill="hold" nodeType="afterEffect">
                                  <p:stCondLst>
                                    <p:cond delay="0"/>
                                  </p:stCondLst>
                                  <p:childTnLst>
                                    <p:set>
                                      <p:cBhvr>
                                        <p:cTn id="15" dur="1" fill="hold">
                                          <p:stCondLst>
                                            <p:cond delay="0"/>
                                          </p:stCondLst>
                                        </p:cTn>
                                        <p:tgtEl>
                                          <p:spTgt spid="42"/>
                                        </p:tgtEl>
                                        <p:attrNameLst>
                                          <p:attrName>style.visibility</p:attrName>
                                        </p:attrNameLst>
                                      </p:cBhvr>
                                      <p:to>
                                        <p:strVal val="hidden"/>
                                      </p:to>
                                    </p:set>
                                  </p:childTnLst>
                                </p:cTn>
                              </p:par>
                            </p:childTnLst>
                          </p:cTn>
                        </p:par>
                        <p:par>
                          <p:cTn id="16" fill="hold">
                            <p:stCondLst>
                              <p:cond delay="1500"/>
                            </p:stCondLst>
                            <p:childTnLst>
                              <p:par>
                                <p:cTn id="17" presetID="23" presetClass="entr" presetSubtype="16" fill="hold" grpId="0" nodeType="after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p:cTn id="19" dur="500" fill="hold"/>
                                        <p:tgtEl>
                                          <p:spTgt spid="6"/>
                                        </p:tgtEl>
                                        <p:attrNameLst>
                                          <p:attrName>ppt_w</p:attrName>
                                        </p:attrNameLst>
                                      </p:cBhvr>
                                      <p:tavLst>
                                        <p:tav tm="0">
                                          <p:val>
                                            <p:fltVal val="0"/>
                                          </p:val>
                                        </p:tav>
                                        <p:tav tm="100000">
                                          <p:val>
                                            <p:strVal val="#ppt_w"/>
                                          </p:val>
                                        </p:tav>
                                      </p:tavLst>
                                    </p:anim>
                                    <p:anim calcmode="lin" valueType="num">
                                      <p:cBhvr>
                                        <p:cTn id="20" dur="500" fill="hold"/>
                                        <p:tgtEl>
                                          <p:spTgt spid="6"/>
                                        </p:tgtEl>
                                        <p:attrNameLst>
                                          <p:attrName>ppt_h</p:attrName>
                                        </p:attrNameLst>
                                      </p:cBhvr>
                                      <p:tavLst>
                                        <p:tav tm="0">
                                          <p:val>
                                            <p:fltVal val="0"/>
                                          </p:val>
                                        </p:tav>
                                        <p:tav tm="100000">
                                          <p:val>
                                            <p:strVal val="#ppt_h"/>
                                          </p:val>
                                        </p:tav>
                                      </p:tavLst>
                                    </p:anim>
                                  </p:childTnLst>
                                </p:cTn>
                              </p:par>
                            </p:childTnLst>
                          </p:cTn>
                        </p:par>
                        <p:par>
                          <p:cTn id="21" fill="hold">
                            <p:stCondLst>
                              <p:cond delay="2000"/>
                            </p:stCondLst>
                            <p:childTnLst>
                              <p:par>
                                <p:cTn id="22" presetID="23" presetClass="entr" presetSubtype="16" fill="hold" grpId="0" nodeType="afterEffect">
                                  <p:stCondLst>
                                    <p:cond delay="0"/>
                                  </p:stCondLst>
                                  <p:childTnLst>
                                    <p:set>
                                      <p:cBhvr>
                                        <p:cTn id="23" dur="1" fill="hold">
                                          <p:stCondLst>
                                            <p:cond delay="0"/>
                                          </p:stCondLst>
                                        </p:cTn>
                                        <p:tgtEl>
                                          <p:spTgt spid="7"/>
                                        </p:tgtEl>
                                        <p:attrNameLst>
                                          <p:attrName>style.visibility</p:attrName>
                                        </p:attrNameLst>
                                      </p:cBhvr>
                                      <p:to>
                                        <p:strVal val="visible"/>
                                      </p:to>
                                    </p:set>
                                    <p:anim calcmode="lin" valueType="num">
                                      <p:cBhvr>
                                        <p:cTn id="24" dur="500" fill="hold"/>
                                        <p:tgtEl>
                                          <p:spTgt spid="7"/>
                                        </p:tgtEl>
                                        <p:attrNameLst>
                                          <p:attrName>ppt_w</p:attrName>
                                        </p:attrNameLst>
                                      </p:cBhvr>
                                      <p:tavLst>
                                        <p:tav tm="0">
                                          <p:val>
                                            <p:fltVal val="0"/>
                                          </p:val>
                                        </p:tav>
                                        <p:tav tm="100000">
                                          <p:val>
                                            <p:strVal val="#ppt_w"/>
                                          </p:val>
                                        </p:tav>
                                      </p:tavLst>
                                    </p:anim>
                                    <p:anim calcmode="lin" valueType="num">
                                      <p:cBhvr>
                                        <p:cTn id="25" dur="500" fill="hold"/>
                                        <p:tgtEl>
                                          <p:spTgt spid="7"/>
                                        </p:tgtEl>
                                        <p:attrNameLst>
                                          <p:attrName>ppt_h</p:attrName>
                                        </p:attrNameLst>
                                      </p:cBhvr>
                                      <p:tavLst>
                                        <p:tav tm="0">
                                          <p:val>
                                            <p:fltVal val="0"/>
                                          </p:val>
                                        </p:tav>
                                        <p:tav tm="100000">
                                          <p:val>
                                            <p:strVal val="#ppt_h"/>
                                          </p:val>
                                        </p:tav>
                                      </p:tavLst>
                                    </p:anim>
                                  </p:childTnLst>
                                </p:cTn>
                              </p:par>
                            </p:childTnLst>
                          </p:cTn>
                        </p:par>
                        <p:par>
                          <p:cTn id="26" fill="hold">
                            <p:stCondLst>
                              <p:cond delay="2500"/>
                            </p:stCondLst>
                            <p:childTnLst>
                              <p:par>
                                <p:cTn id="27" presetID="23" presetClass="entr" presetSubtype="16" fill="hold" grpId="0" nodeType="afterEffect">
                                  <p:stCondLst>
                                    <p:cond delay="0"/>
                                  </p:stCondLst>
                                  <p:childTnLst>
                                    <p:set>
                                      <p:cBhvr>
                                        <p:cTn id="28" dur="1" fill="hold">
                                          <p:stCondLst>
                                            <p:cond delay="0"/>
                                          </p:stCondLst>
                                        </p:cTn>
                                        <p:tgtEl>
                                          <p:spTgt spid="44"/>
                                        </p:tgtEl>
                                        <p:attrNameLst>
                                          <p:attrName>style.visibility</p:attrName>
                                        </p:attrNameLst>
                                      </p:cBhvr>
                                      <p:to>
                                        <p:strVal val="visible"/>
                                      </p:to>
                                    </p:set>
                                    <p:anim calcmode="lin" valueType="num">
                                      <p:cBhvr>
                                        <p:cTn id="29" dur="500" fill="hold"/>
                                        <p:tgtEl>
                                          <p:spTgt spid="44"/>
                                        </p:tgtEl>
                                        <p:attrNameLst>
                                          <p:attrName>ppt_w</p:attrName>
                                        </p:attrNameLst>
                                      </p:cBhvr>
                                      <p:tavLst>
                                        <p:tav tm="0">
                                          <p:val>
                                            <p:fltVal val="0"/>
                                          </p:val>
                                        </p:tav>
                                        <p:tav tm="100000">
                                          <p:val>
                                            <p:strVal val="#ppt_w"/>
                                          </p:val>
                                        </p:tav>
                                      </p:tavLst>
                                    </p:anim>
                                    <p:anim calcmode="lin" valueType="num">
                                      <p:cBhvr>
                                        <p:cTn id="30" dur="500" fill="hold"/>
                                        <p:tgtEl>
                                          <p:spTgt spid="44"/>
                                        </p:tgtEl>
                                        <p:attrNameLst>
                                          <p:attrName>ppt_h</p:attrName>
                                        </p:attrNameLst>
                                      </p:cBhvr>
                                      <p:tavLst>
                                        <p:tav tm="0">
                                          <p:val>
                                            <p:fltVal val="0"/>
                                          </p:val>
                                        </p:tav>
                                        <p:tav tm="100000">
                                          <p:val>
                                            <p:strVal val="#ppt_h"/>
                                          </p:val>
                                        </p:tav>
                                      </p:tavLst>
                                    </p:anim>
                                  </p:childTnLst>
                                </p:cTn>
                              </p:par>
                            </p:childTnLst>
                          </p:cTn>
                        </p:par>
                        <p:par>
                          <p:cTn id="31" fill="hold">
                            <p:stCondLst>
                              <p:cond delay="3000"/>
                            </p:stCondLst>
                            <p:childTnLst>
                              <p:par>
                                <p:cTn id="32" presetID="23" presetClass="entr" presetSubtype="16" fill="hold" grpId="0" nodeType="afterEffect">
                                  <p:stCondLst>
                                    <p:cond delay="0"/>
                                  </p:stCondLst>
                                  <p:childTnLst>
                                    <p:set>
                                      <p:cBhvr>
                                        <p:cTn id="33" dur="1" fill="hold">
                                          <p:stCondLst>
                                            <p:cond delay="0"/>
                                          </p:stCondLst>
                                        </p:cTn>
                                        <p:tgtEl>
                                          <p:spTgt spid="8"/>
                                        </p:tgtEl>
                                        <p:attrNameLst>
                                          <p:attrName>style.visibility</p:attrName>
                                        </p:attrNameLst>
                                      </p:cBhvr>
                                      <p:to>
                                        <p:strVal val="visible"/>
                                      </p:to>
                                    </p:set>
                                    <p:anim calcmode="lin" valueType="num">
                                      <p:cBhvr>
                                        <p:cTn id="34" dur="500" fill="hold"/>
                                        <p:tgtEl>
                                          <p:spTgt spid="8"/>
                                        </p:tgtEl>
                                        <p:attrNameLst>
                                          <p:attrName>ppt_w</p:attrName>
                                        </p:attrNameLst>
                                      </p:cBhvr>
                                      <p:tavLst>
                                        <p:tav tm="0">
                                          <p:val>
                                            <p:fltVal val="0"/>
                                          </p:val>
                                        </p:tav>
                                        <p:tav tm="100000">
                                          <p:val>
                                            <p:strVal val="#ppt_w"/>
                                          </p:val>
                                        </p:tav>
                                      </p:tavLst>
                                    </p:anim>
                                    <p:anim calcmode="lin" valueType="num">
                                      <p:cBhvr>
                                        <p:cTn id="35" dur="500" fill="hold"/>
                                        <p:tgtEl>
                                          <p:spTgt spid="8"/>
                                        </p:tgtEl>
                                        <p:attrNameLst>
                                          <p:attrName>ppt_h</p:attrName>
                                        </p:attrNameLst>
                                      </p:cBhvr>
                                      <p:tavLst>
                                        <p:tav tm="0">
                                          <p:val>
                                            <p:fltVal val="0"/>
                                          </p:val>
                                        </p:tav>
                                        <p:tav tm="100000">
                                          <p:val>
                                            <p:strVal val="#ppt_h"/>
                                          </p:val>
                                        </p:tav>
                                      </p:tavLst>
                                    </p:anim>
                                  </p:childTnLst>
                                </p:cTn>
                              </p:par>
                            </p:childTnLst>
                          </p:cTn>
                        </p:par>
                        <p:par>
                          <p:cTn id="36" fill="hold">
                            <p:stCondLst>
                              <p:cond delay="3500"/>
                            </p:stCondLst>
                            <p:childTnLst>
                              <p:par>
                                <p:cTn id="37" presetID="23" presetClass="entr" presetSubtype="16" fill="hold" grpId="0" nodeType="afterEffect">
                                  <p:stCondLst>
                                    <p:cond delay="0"/>
                                  </p:stCondLst>
                                  <p:childTnLst>
                                    <p:set>
                                      <p:cBhvr>
                                        <p:cTn id="38" dur="1" fill="hold">
                                          <p:stCondLst>
                                            <p:cond delay="0"/>
                                          </p:stCondLst>
                                        </p:cTn>
                                        <p:tgtEl>
                                          <p:spTgt spid="9"/>
                                        </p:tgtEl>
                                        <p:attrNameLst>
                                          <p:attrName>style.visibility</p:attrName>
                                        </p:attrNameLst>
                                      </p:cBhvr>
                                      <p:to>
                                        <p:strVal val="visible"/>
                                      </p:to>
                                    </p:set>
                                    <p:anim calcmode="lin" valueType="num">
                                      <p:cBhvr>
                                        <p:cTn id="39" dur="500" fill="hold"/>
                                        <p:tgtEl>
                                          <p:spTgt spid="9"/>
                                        </p:tgtEl>
                                        <p:attrNameLst>
                                          <p:attrName>ppt_w</p:attrName>
                                        </p:attrNameLst>
                                      </p:cBhvr>
                                      <p:tavLst>
                                        <p:tav tm="0">
                                          <p:val>
                                            <p:fltVal val="0"/>
                                          </p:val>
                                        </p:tav>
                                        <p:tav tm="100000">
                                          <p:val>
                                            <p:strVal val="#ppt_w"/>
                                          </p:val>
                                        </p:tav>
                                      </p:tavLst>
                                    </p:anim>
                                    <p:anim calcmode="lin" valueType="num">
                                      <p:cBhvr>
                                        <p:cTn id="40" dur="500" fill="hold"/>
                                        <p:tgtEl>
                                          <p:spTgt spid="9"/>
                                        </p:tgtEl>
                                        <p:attrNameLst>
                                          <p:attrName>ppt_h</p:attrName>
                                        </p:attrNameLst>
                                      </p:cBhvr>
                                      <p:tavLst>
                                        <p:tav tm="0">
                                          <p:val>
                                            <p:fltVal val="0"/>
                                          </p:val>
                                        </p:tav>
                                        <p:tav tm="100000">
                                          <p:val>
                                            <p:strVal val="#ppt_h"/>
                                          </p:val>
                                        </p:tav>
                                      </p:tavLst>
                                    </p:anim>
                                  </p:childTnLst>
                                </p:cTn>
                              </p:par>
                            </p:childTnLst>
                          </p:cTn>
                        </p:par>
                        <p:par>
                          <p:cTn id="41" fill="hold">
                            <p:stCondLst>
                              <p:cond delay="4000"/>
                            </p:stCondLst>
                            <p:childTnLst>
                              <p:par>
                                <p:cTn id="42" presetID="1" presetClass="entr" presetSubtype="0" fill="hold" nodeType="afterEffect">
                                  <p:stCondLst>
                                    <p:cond delay="0"/>
                                  </p:stCondLst>
                                  <p:childTnLst>
                                    <p:set>
                                      <p:cBhvr>
                                        <p:cTn id="43" dur="1" fill="hold">
                                          <p:stCondLst>
                                            <p:cond delay="0"/>
                                          </p:stCondLst>
                                        </p:cTn>
                                        <p:tgtEl>
                                          <p:spTgt spid="10"/>
                                        </p:tgtEl>
                                        <p:attrNameLst>
                                          <p:attrName>style.visibility</p:attrName>
                                        </p:attrNameLst>
                                      </p:cBhvr>
                                      <p:to>
                                        <p:strVal val="visible"/>
                                      </p:to>
                                    </p:set>
                                  </p:childTnLst>
                                </p:cTn>
                              </p:par>
                            </p:childTnLst>
                          </p:cTn>
                        </p:par>
                        <p:par>
                          <p:cTn id="44" fill="hold">
                            <p:stCondLst>
                              <p:cond delay="4000"/>
                            </p:stCondLst>
                            <p:childTnLst>
                              <p:par>
                                <p:cTn id="45" presetID="1" presetClass="entr" presetSubtype="0" fill="hold" nodeType="afterEffect">
                                  <p:stCondLst>
                                    <p:cond delay="0"/>
                                  </p:stCondLst>
                                  <p:childTnLst>
                                    <p:set>
                                      <p:cBhvr>
                                        <p:cTn id="46" dur="1" fill="hold">
                                          <p:stCondLst>
                                            <p:cond delay="0"/>
                                          </p:stCondLst>
                                        </p:cTn>
                                        <p:tgtEl>
                                          <p:spTgt spid="11"/>
                                        </p:tgtEl>
                                        <p:attrNameLst>
                                          <p:attrName>style.visibility</p:attrName>
                                        </p:attrNameLst>
                                      </p:cBhvr>
                                      <p:to>
                                        <p:strVal val="visible"/>
                                      </p:to>
                                    </p:set>
                                  </p:childTnLst>
                                </p:cTn>
                              </p:par>
                            </p:childTnLst>
                          </p:cTn>
                        </p:par>
                        <p:par>
                          <p:cTn id="47" fill="hold">
                            <p:stCondLst>
                              <p:cond delay="4000"/>
                            </p:stCondLst>
                            <p:childTnLst>
                              <p:par>
                                <p:cTn id="48" presetID="1" presetClass="entr" presetSubtype="0" fill="hold" nodeType="afterEffect">
                                  <p:stCondLst>
                                    <p:cond delay="0"/>
                                  </p:stCondLst>
                                  <p:childTnLst>
                                    <p:set>
                                      <p:cBhvr>
                                        <p:cTn id="49" dur="1" fill="hold">
                                          <p:stCondLst>
                                            <p:cond delay="0"/>
                                          </p:stCondLst>
                                        </p:cTn>
                                        <p:tgtEl>
                                          <p:spTgt spid="2"/>
                                        </p:tgtEl>
                                        <p:attrNameLst>
                                          <p:attrName>style.visibility</p:attrName>
                                        </p:attrNameLst>
                                      </p:cBhvr>
                                      <p:to>
                                        <p:strVal val="visible"/>
                                      </p:to>
                                    </p:set>
                                  </p:childTnLst>
                                </p:cTn>
                              </p:par>
                            </p:childTnLst>
                          </p:cTn>
                        </p:par>
                        <p:par>
                          <p:cTn id="50" fill="hold">
                            <p:stCondLst>
                              <p:cond delay="4000"/>
                            </p:stCondLst>
                            <p:childTnLst>
                              <p:par>
                                <p:cTn id="51" presetID="1" presetClass="entr" presetSubtype="0" fill="hold" nodeType="afterEffect">
                                  <p:stCondLst>
                                    <p:cond delay="0"/>
                                  </p:stCondLst>
                                  <p:childTnLst>
                                    <p:set>
                                      <p:cBhvr>
                                        <p:cTn id="52" dur="1" fill="hold">
                                          <p:stCondLst>
                                            <p:cond delay="0"/>
                                          </p:stCondLst>
                                        </p:cTn>
                                        <p:tgtEl>
                                          <p:spTgt spid="12"/>
                                        </p:tgtEl>
                                        <p:attrNameLst>
                                          <p:attrName>style.visibility</p:attrName>
                                        </p:attrNameLst>
                                      </p:cBhvr>
                                      <p:to>
                                        <p:strVal val="visible"/>
                                      </p:to>
                                    </p:set>
                                  </p:childTnLst>
                                </p:cTn>
                              </p:par>
                            </p:childTnLst>
                          </p:cTn>
                        </p:par>
                        <p:par>
                          <p:cTn id="53" fill="hold">
                            <p:stCondLst>
                              <p:cond delay="4000"/>
                            </p:stCondLst>
                            <p:childTnLst>
                              <p:par>
                                <p:cTn id="54" presetID="1" presetClass="entr" presetSubtype="0" fill="hold" nodeType="afterEffect">
                                  <p:stCondLst>
                                    <p:cond delay="0"/>
                                  </p:stCondLst>
                                  <p:childTnLst>
                                    <p:set>
                                      <p:cBhvr>
                                        <p:cTn id="55" dur="1" fill="hold">
                                          <p:stCondLst>
                                            <p:cond delay="0"/>
                                          </p:stCondLst>
                                        </p:cTn>
                                        <p:tgtEl>
                                          <p:spTgt spid="13"/>
                                        </p:tgtEl>
                                        <p:attrNameLst>
                                          <p:attrName>style.visibility</p:attrName>
                                        </p:attrNameLst>
                                      </p:cBhvr>
                                      <p:to>
                                        <p:strVal val="visible"/>
                                      </p:to>
                                    </p:set>
                                  </p:childTnLst>
                                </p:cTn>
                              </p:par>
                            </p:childTnLst>
                          </p:cTn>
                        </p:par>
                        <p:par>
                          <p:cTn id="56" fill="hold">
                            <p:stCondLst>
                              <p:cond delay="4000"/>
                            </p:stCondLst>
                            <p:childTnLst>
                              <p:par>
                                <p:cTn id="57" presetID="10" presetClass="entr" presetSubtype="0" fill="hold" grpId="0" nodeType="afterEffect">
                                  <p:stCondLst>
                                    <p:cond delay="0"/>
                                  </p:stCondLst>
                                  <p:childTnLst>
                                    <p:set>
                                      <p:cBhvr>
                                        <p:cTn id="58" dur="1" fill="hold">
                                          <p:stCondLst>
                                            <p:cond delay="0"/>
                                          </p:stCondLst>
                                        </p:cTn>
                                        <p:tgtEl>
                                          <p:spTgt spid="14"/>
                                        </p:tgtEl>
                                        <p:attrNameLst>
                                          <p:attrName>style.visibility</p:attrName>
                                        </p:attrNameLst>
                                      </p:cBhvr>
                                      <p:to>
                                        <p:strVal val="visible"/>
                                      </p:to>
                                    </p:set>
                                    <p:animEffect transition="in" filter="fade">
                                      <p:cBhvr>
                                        <p:cTn id="59" dur="1000"/>
                                        <p:tgtEl>
                                          <p:spTgt spid="14"/>
                                        </p:tgtEl>
                                      </p:cBhvr>
                                    </p:animEffect>
                                  </p:childTnLst>
                                </p:cTn>
                              </p:par>
                            </p:childTnLst>
                          </p:cTn>
                        </p:par>
                        <p:par>
                          <p:cTn id="60" fill="hold">
                            <p:stCondLst>
                              <p:cond delay="5000"/>
                            </p:stCondLst>
                            <p:childTnLst>
                              <p:par>
                                <p:cTn id="61" presetID="53" presetClass="entr" presetSubtype="16" fill="hold" nodeType="afterEffect">
                                  <p:stCondLst>
                                    <p:cond delay="0"/>
                                  </p:stCondLst>
                                  <p:childTnLst>
                                    <p:set>
                                      <p:cBhvr>
                                        <p:cTn id="62" dur="1" fill="hold">
                                          <p:stCondLst>
                                            <p:cond delay="0"/>
                                          </p:stCondLst>
                                        </p:cTn>
                                        <p:tgtEl>
                                          <p:spTgt spid="30"/>
                                        </p:tgtEl>
                                        <p:attrNameLst>
                                          <p:attrName>style.visibility</p:attrName>
                                        </p:attrNameLst>
                                      </p:cBhvr>
                                      <p:to>
                                        <p:strVal val="visible"/>
                                      </p:to>
                                    </p:set>
                                    <p:anim calcmode="lin" valueType="num">
                                      <p:cBhvr>
                                        <p:cTn id="63" dur="500" fill="hold"/>
                                        <p:tgtEl>
                                          <p:spTgt spid="30"/>
                                        </p:tgtEl>
                                        <p:attrNameLst>
                                          <p:attrName>ppt_w</p:attrName>
                                        </p:attrNameLst>
                                      </p:cBhvr>
                                      <p:tavLst>
                                        <p:tav tm="0">
                                          <p:val>
                                            <p:fltVal val="0"/>
                                          </p:val>
                                        </p:tav>
                                        <p:tav tm="100000">
                                          <p:val>
                                            <p:strVal val="#ppt_w"/>
                                          </p:val>
                                        </p:tav>
                                      </p:tavLst>
                                    </p:anim>
                                    <p:anim calcmode="lin" valueType="num">
                                      <p:cBhvr>
                                        <p:cTn id="64" dur="500" fill="hold"/>
                                        <p:tgtEl>
                                          <p:spTgt spid="30"/>
                                        </p:tgtEl>
                                        <p:attrNameLst>
                                          <p:attrName>ppt_h</p:attrName>
                                        </p:attrNameLst>
                                      </p:cBhvr>
                                      <p:tavLst>
                                        <p:tav tm="0">
                                          <p:val>
                                            <p:fltVal val="0"/>
                                          </p:val>
                                        </p:tav>
                                        <p:tav tm="100000">
                                          <p:val>
                                            <p:strVal val="#ppt_h"/>
                                          </p:val>
                                        </p:tav>
                                      </p:tavLst>
                                    </p:anim>
                                    <p:animEffect transition="in" filter="fade">
                                      <p:cBhvr>
                                        <p:cTn id="65" dur="500"/>
                                        <p:tgtEl>
                                          <p:spTgt spid="30"/>
                                        </p:tgtEl>
                                      </p:cBhvr>
                                    </p:animEffect>
                                  </p:childTnLst>
                                </p:cTn>
                              </p:par>
                            </p:childTnLst>
                          </p:cTn>
                        </p:par>
                        <p:par>
                          <p:cTn id="66" fill="hold">
                            <p:stCondLst>
                              <p:cond delay="5500"/>
                            </p:stCondLst>
                            <p:childTnLst>
                              <p:par>
                                <p:cTn id="67" presetID="53" presetClass="entr" presetSubtype="16" fill="hold" nodeType="afterEffect">
                                  <p:stCondLst>
                                    <p:cond delay="0"/>
                                  </p:stCondLst>
                                  <p:childTnLst>
                                    <p:set>
                                      <p:cBhvr>
                                        <p:cTn id="68" dur="1" fill="hold">
                                          <p:stCondLst>
                                            <p:cond delay="0"/>
                                          </p:stCondLst>
                                        </p:cTn>
                                        <p:tgtEl>
                                          <p:spTgt spid="21"/>
                                        </p:tgtEl>
                                        <p:attrNameLst>
                                          <p:attrName>style.visibility</p:attrName>
                                        </p:attrNameLst>
                                      </p:cBhvr>
                                      <p:to>
                                        <p:strVal val="visible"/>
                                      </p:to>
                                    </p:set>
                                    <p:anim calcmode="lin" valueType="num">
                                      <p:cBhvr>
                                        <p:cTn id="69" dur="500" fill="hold"/>
                                        <p:tgtEl>
                                          <p:spTgt spid="21"/>
                                        </p:tgtEl>
                                        <p:attrNameLst>
                                          <p:attrName>ppt_w</p:attrName>
                                        </p:attrNameLst>
                                      </p:cBhvr>
                                      <p:tavLst>
                                        <p:tav tm="0">
                                          <p:val>
                                            <p:fltVal val="0"/>
                                          </p:val>
                                        </p:tav>
                                        <p:tav tm="100000">
                                          <p:val>
                                            <p:strVal val="#ppt_w"/>
                                          </p:val>
                                        </p:tav>
                                      </p:tavLst>
                                    </p:anim>
                                    <p:anim calcmode="lin" valueType="num">
                                      <p:cBhvr>
                                        <p:cTn id="70" dur="500" fill="hold"/>
                                        <p:tgtEl>
                                          <p:spTgt spid="21"/>
                                        </p:tgtEl>
                                        <p:attrNameLst>
                                          <p:attrName>ppt_h</p:attrName>
                                        </p:attrNameLst>
                                      </p:cBhvr>
                                      <p:tavLst>
                                        <p:tav tm="0">
                                          <p:val>
                                            <p:fltVal val="0"/>
                                          </p:val>
                                        </p:tav>
                                        <p:tav tm="100000">
                                          <p:val>
                                            <p:strVal val="#ppt_h"/>
                                          </p:val>
                                        </p:tav>
                                      </p:tavLst>
                                    </p:anim>
                                    <p:animEffect transition="in" filter="fade">
                                      <p:cBhvr>
                                        <p:cTn id="71" dur="500"/>
                                        <p:tgtEl>
                                          <p:spTgt spid="21"/>
                                        </p:tgtEl>
                                      </p:cBhvr>
                                    </p:animEffect>
                                  </p:childTnLst>
                                </p:cTn>
                              </p:par>
                            </p:childTnLst>
                          </p:cTn>
                        </p:par>
                        <p:par>
                          <p:cTn id="72" fill="hold">
                            <p:stCondLst>
                              <p:cond delay="6000"/>
                            </p:stCondLst>
                            <p:childTnLst>
                              <p:par>
                                <p:cTn id="73" presetID="53" presetClass="entr" presetSubtype="16" fill="hold" nodeType="afterEffect">
                                  <p:stCondLst>
                                    <p:cond delay="0"/>
                                  </p:stCondLst>
                                  <p:childTnLst>
                                    <p:set>
                                      <p:cBhvr>
                                        <p:cTn id="74" dur="1" fill="hold">
                                          <p:stCondLst>
                                            <p:cond delay="0"/>
                                          </p:stCondLst>
                                        </p:cTn>
                                        <p:tgtEl>
                                          <p:spTgt spid="35"/>
                                        </p:tgtEl>
                                        <p:attrNameLst>
                                          <p:attrName>style.visibility</p:attrName>
                                        </p:attrNameLst>
                                      </p:cBhvr>
                                      <p:to>
                                        <p:strVal val="visible"/>
                                      </p:to>
                                    </p:set>
                                    <p:anim calcmode="lin" valueType="num">
                                      <p:cBhvr>
                                        <p:cTn id="75" dur="500" fill="hold"/>
                                        <p:tgtEl>
                                          <p:spTgt spid="35"/>
                                        </p:tgtEl>
                                        <p:attrNameLst>
                                          <p:attrName>ppt_w</p:attrName>
                                        </p:attrNameLst>
                                      </p:cBhvr>
                                      <p:tavLst>
                                        <p:tav tm="0">
                                          <p:val>
                                            <p:fltVal val="0"/>
                                          </p:val>
                                        </p:tav>
                                        <p:tav tm="100000">
                                          <p:val>
                                            <p:strVal val="#ppt_w"/>
                                          </p:val>
                                        </p:tav>
                                      </p:tavLst>
                                    </p:anim>
                                    <p:anim calcmode="lin" valueType="num">
                                      <p:cBhvr>
                                        <p:cTn id="76" dur="500" fill="hold"/>
                                        <p:tgtEl>
                                          <p:spTgt spid="35"/>
                                        </p:tgtEl>
                                        <p:attrNameLst>
                                          <p:attrName>ppt_h</p:attrName>
                                        </p:attrNameLst>
                                      </p:cBhvr>
                                      <p:tavLst>
                                        <p:tav tm="0">
                                          <p:val>
                                            <p:fltVal val="0"/>
                                          </p:val>
                                        </p:tav>
                                        <p:tav tm="100000">
                                          <p:val>
                                            <p:strVal val="#ppt_h"/>
                                          </p:val>
                                        </p:tav>
                                      </p:tavLst>
                                    </p:anim>
                                    <p:animEffect transition="in" filter="fade">
                                      <p:cBhvr>
                                        <p:cTn id="77" dur="500"/>
                                        <p:tgtEl>
                                          <p:spTgt spid="35"/>
                                        </p:tgtEl>
                                      </p:cBhvr>
                                    </p:animEffect>
                                  </p:childTnLst>
                                </p:cTn>
                              </p:par>
                            </p:childTnLst>
                          </p:cTn>
                        </p:par>
                        <p:par>
                          <p:cTn id="78" fill="hold">
                            <p:stCondLst>
                              <p:cond delay="6500"/>
                            </p:stCondLst>
                            <p:childTnLst>
                              <p:par>
                                <p:cTn id="79" presetID="0" presetClass="path" presetSubtype="0" accel="50000" decel="50000" fill="hold" grpId="0" nodeType="afterEffect">
                                  <p:stCondLst>
                                    <p:cond delay="250"/>
                                  </p:stCondLst>
                                  <p:childTnLst>
                                    <p:animMotion origin="layout" path="M -2.22222E-6 -7.40741E-7 L 0.2 0.14815 " pathEditMode="relative" rAng="0" ptsTypes="AA">
                                      <p:cBhvr>
                                        <p:cTn id="80" dur="750" spd="-100000" fill="hold"/>
                                        <p:tgtEl>
                                          <p:spTgt spid="16"/>
                                        </p:tgtEl>
                                        <p:attrNameLst>
                                          <p:attrName>ppt_x</p:attrName>
                                          <p:attrName>ppt_y</p:attrName>
                                        </p:attrNameLst>
                                      </p:cBhvr>
                                      <p:rCtr x="10000" y="7407"/>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4" grpId="0"/>
      <p:bldP spid="16" grpId="0" animBg="1"/>
      <p:bldP spid="17" grpId="0" animBg="1"/>
      <p:bldP spid="4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Simplify—Interfaces and Zones</a:t>
            </a:r>
            <a:endParaRPr lang="en-CA" dirty="0"/>
          </a:p>
        </p:txBody>
      </p:sp>
      <p:sp>
        <p:nvSpPr>
          <p:cNvPr id="5" name="Content Placeholder 4"/>
          <p:cNvSpPr>
            <a:spLocks noGrp="1"/>
          </p:cNvSpPr>
          <p:nvPr>
            <p:ph idx="1"/>
          </p:nvPr>
        </p:nvSpPr>
        <p:spPr/>
        <p:txBody>
          <a:bodyPr/>
          <a:lstStyle/>
          <a:p>
            <a:r>
              <a:rPr lang="en-US" dirty="0"/>
              <a:t>The incoming and outgoing interfaces can function as individual interfaces or you can create a zone, which is a logical group of interfaces</a:t>
            </a:r>
          </a:p>
          <a:p>
            <a:r>
              <a:rPr lang="en-US" dirty="0"/>
              <a:t>To match policies with traffic, select one or more interfaces</a:t>
            </a:r>
          </a:p>
          <a:p>
            <a:endParaRPr lang="en-CA" dirty="0"/>
          </a:p>
        </p:txBody>
      </p:sp>
      <p:pic>
        <p:nvPicPr>
          <p:cNvPr id="6" name="Picture 5" descr="FG-Family-Midrange-1u.emf"/>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912712" y="3102654"/>
            <a:ext cx="3613161" cy="663842"/>
          </a:xfrm>
          <a:prstGeom prst="rect">
            <a:avLst/>
          </a:prstGeom>
        </p:spPr>
      </p:pic>
      <p:sp>
        <p:nvSpPr>
          <p:cNvPr id="8" name="Text Placeholder 2"/>
          <p:cNvSpPr txBox="1">
            <a:spLocks/>
          </p:cNvSpPr>
          <p:nvPr/>
        </p:nvSpPr>
        <p:spPr>
          <a:xfrm>
            <a:off x="4666454" y="4347916"/>
            <a:ext cx="2564488" cy="546639"/>
          </a:xfrm>
          <a:prstGeom prst="rect">
            <a:avLst/>
          </a:prstGeom>
        </p:spPr>
        <p:txBody>
          <a:bodyPr>
            <a:normAutofit/>
          </a:bodyPr>
          <a:lstStyle>
            <a:lvl1pPr marL="173038" marR="0" indent="-173038" algn="l" defTabSz="914400" rtl="0" eaLnBrk="1" fontAlgn="base" latinLnBrk="0" hangingPunct="1">
              <a:lnSpc>
                <a:spcPct val="100000"/>
              </a:lnSpc>
              <a:spcBef>
                <a:spcPct val="20000"/>
              </a:spcBef>
              <a:spcAft>
                <a:spcPct val="0"/>
              </a:spcAft>
              <a:buClr>
                <a:srgbClr val="FF0000"/>
              </a:buClr>
              <a:buSzPct val="100000"/>
              <a:buFont typeface="Arial"/>
              <a:buChar char="•"/>
              <a:tabLst/>
              <a:defRPr sz="2400" b="0" i="0">
                <a:solidFill>
                  <a:srgbClr val="1B232A"/>
                </a:solidFill>
                <a:latin typeface="Arial Narrow"/>
                <a:ea typeface="+mn-ea"/>
                <a:cs typeface="Arial Narrow"/>
              </a:defRPr>
            </a:lvl1pPr>
            <a:lvl2pPr marL="463550" marR="0" indent="-176213" algn="l" defTabSz="914400" rtl="0" eaLnBrk="1" fontAlgn="base" latinLnBrk="0" hangingPunct="1">
              <a:lnSpc>
                <a:spcPct val="110000"/>
              </a:lnSpc>
              <a:spcBef>
                <a:spcPct val="20000"/>
              </a:spcBef>
              <a:spcAft>
                <a:spcPct val="0"/>
              </a:spcAft>
              <a:buClr>
                <a:srgbClr val="FF0000"/>
              </a:buClr>
              <a:buSzTx/>
              <a:buFont typeface="Lucida Grande"/>
              <a:buChar char="»"/>
              <a:tabLst/>
              <a:defRPr sz="2000" b="0" i="0">
                <a:solidFill>
                  <a:srgbClr val="1B232A"/>
                </a:solidFill>
                <a:latin typeface="Arial Narrow"/>
                <a:ea typeface="+mn-ea"/>
                <a:cs typeface="Arial Narrow"/>
              </a:defRPr>
            </a:lvl2pPr>
            <a:lvl3pPr marL="747713" marR="0" indent="-169863" algn="l" defTabSz="914400" rtl="0" eaLnBrk="1" fontAlgn="base" latinLnBrk="0" hangingPunct="1">
              <a:lnSpc>
                <a:spcPct val="110000"/>
              </a:lnSpc>
              <a:spcBef>
                <a:spcPct val="20000"/>
              </a:spcBef>
              <a:spcAft>
                <a:spcPct val="0"/>
              </a:spcAft>
              <a:buClr>
                <a:srgbClr val="FF0000"/>
              </a:buClr>
              <a:buSzTx/>
              <a:buFont typeface="Arial"/>
              <a:buChar char="•"/>
              <a:tabLst/>
              <a:defRPr sz="1800" b="0" i="0">
                <a:solidFill>
                  <a:srgbClr val="1B232A"/>
                </a:solidFill>
                <a:latin typeface="Arial Narrow"/>
                <a:ea typeface="+mn-ea"/>
                <a:cs typeface="Arial Narrow"/>
              </a:defRPr>
            </a:lvl3pPr>
            <a:lvl4pPr marL="1139825" marR="0" indent="-228600" algn="l" defTabSz="914400" rtl="0" eaLnBrk="1" fontAlgn="base" latinLnBrk="0" hangingPunct="1">
              <a:lnSpc>
                <a:spcPct val="110000"/>
              </a:lnSpc>
              <a:spcBef>
                <a:spcPct val="20000"/>
              </a:spcBef>
              <a:spcAft>
                <a:spcPct val="0"/>
              </a:spcAft>
              <a:buClr>
                <a:srgbClr val="FF0000"/>
              </a:buClr>
              <a:buSzTx/>
              <a:buFont typeface="Lucida Grande"/>
              <a:buChar char="»"/>
              <a:tabLst/>
              <a:defRPr sz="1800" b="0" i="0">
                <a:solidFill>
                  <a:srgbClr val="1B232A"/>
                </a:solidFill>
                <a:latin typeface="Arial Narrow"/>
                <a:ea typeface="+mn-ea"/>
                <a:cs typeface="Arial Narrow"/>
              </a:defRPr>
            </a:lvl4pPr>
            <a:lvl5pPr marL="1492250" marR="0" indent="-228600" algn="l" defTabSz="914400" rtl="0" eaLnBrk="1" fontAlgn="base" latinLnBrk="0" hangingPunct="1">
              <a:lnSpc>
                <a:spcPct val="110000"/>
              </a:lnSpc>
              <a:spcBef>
                <a:spcPct val="20000"/>
              </a:spcBef>
              <a:spcAft>
                <a:spcPct val="0"/>
              </a:spcAft>
              <a:buClr>
                <a:srgbClr val="FF0000"/>
              </a:buClr>
              <a:buSzTx/>
              <a:buFont typeface="Arial"/>
              <a:buChar char="•"/>
              <a:tabLst/>
              <a:defRPr sz="1800" b="0" i="0">
                <a:solidFill>
                  <a:srgbClr val="1B232A"/>
                </a:solidFill>
                <a:latin typeface="Arial Narrow"/>
                <a:ea typeface="+mn-ea"/>
                <a:cs typeface="Arial Narrow"/>
              </a:defRPr>
            </a:lvl5pPr>
            <a:lvl6pPr marL="1963738" indent="-242888" algn="l" rtl="0" eaLnBrk="1" fontAlgn="base" hangingPunct="1">
              <a:lnSpc>
                <a:spcPct val="110000"/>
              </a:lnSpc>
              <a:spcBef>
                <a:spcPct val="15000"/>
              </a:spcBef>
              <a:spcAft>
                <a:spcPct val="0"/>
              </a:spcAft>
              <a:buClr>
                <a:schemeClr val="accent1"/>
              </a:buClr>
              <a:buSzPct val="90000"/>
              <a:buFont typeface="Arial" charset="0"/>
              <a:buChar char="―"/>
              <a:defRPr sz="1600">
                <a:solidFill>
                  <a:srgbClr val="717171"/>
                </a:solidFill>
                <a:latin typeface="+mn-lt"/>
                <a:ea typeface="+mn-ea"/>
                <a:cs typeface="+mn-cs"/>
              </a:defRPr>
            </a:lvl6pPr>
            <a:lvl7pPr marL="2420938" indent="-242888" algn="l" rtl="0" eaLnBrk="1" fontAlgn="base" hangingPunct="1">
              <a:lnSpc>
                <a:spcPct val="110000"/>
              </a:lnSpc>
              <a:spcBef>
                <a:spcPct val="15000"/>
              </a:spcBef>
              <a:spcAft>
                <a:spcPct val="0"/>
              </a:spcAft>
              <a:buClr>
                <a:schemeClr val="accent1"/>
              </a:buClr>
              <a:buSzPct val="90000"/>
              <a:buFont typeface="Arial" charset="0"/>
              <a:buChar char="―"/>
              <a:defRPr sz="1600">
                <a:solidFill>
                  <a:srgbClr val="717171"/>
                </a:solidFill>
                <a:latin typeface="+mn-lt"/>
                <a:ea typeface="+mn-ea"/>
                <a:cs typeface="+mn-cs"/>
              </a:defRPr>
            </a:lvl7pPr>
            <a:lvl8pPr marL="2878138" indent="-242888" algn="l" rtl="0" eaLnBrk="1" fontAlgn="base" hangingPunct="1">
              <a:lnSpc>
                <a:spcPct val="110000"/>
              </a:lnSpc>
              <a:spcBef>
                <a:spcPct val="15000"/>
              </a:spcBef>
              <a:spcAft>
                <a:spcPct val="0"/>
              </a:spcAft>
              <a:buClr>
                <a:schemeClr val="accent1"/>
              </a:buClr>
              <a:buSzPct val="90000"/>
              <a:buFont typeface="Arial" charset="0"/>
              <a:buChar char="―"/>
              <a:defRPr sz="1600">
                <a:solidFill>
                  <a:srgbClr val="717171"/>
                </a:solidFill>
                <a:latin typeface="+mn-lt"/>
                <a:ea typeface="+mn-ea"/>
                <a:cs typeface="+mn-cs"/>
              </a:defRPr>
            </a:lvl8pPr>
            <a:lvl9pPr marL="3335338" indent="-242888" algn="l" rtl="0" eaLnBrk="1" fontAlgn="base" hangingPunct="1">
              <a:lnSpc>
                <a:spcPct val="110000"/>
              </a:lnSpc>
              <a:spcBef>
                <a:spcPct val="15000"/>
              </a:spcBef>
              <a:spcAft>
                <a:spcPct val="0"/>
              </a:spcAft>
              <a:buClr>
                <a:schemeClr val="accent1"/>
              </a:buClr>
              <a:buSzPct val="90000"/>
              <a:buFont typeface="Arial" charset="0"/>
              <a:buChar char="―"/>
              <a:defRPr sz="1600">
                <a:solidFill>
                  <a:srgbClr val="717171"/>
                </a:solidFill>
                <a:latin typeface="+mn-lt"/>
                <a:ea typeface="+mn-ea"/>
                <a:cs typeface="+mn-cs"/>
              </a:defRPr>
            </a:lvl9pPr>
          </a:lstStyle>
          <a:p>
            <a:pPr marL="0" indent="0">
              <a:lnSpc>
                <a:spcPct val="90000"/>
              </a:lnSpc>
              <a:buNone/>
            </a:pPr>
            <a:endParaRPr lang="en-US" sz="2000" dirty="0">
              <a:solidFill>
                <a:schemeClr val="bg2"/>
              </a:solidFill>
              <a:latin typeface="+mn-lt"/>
              <a:cs typeface="Arial" charset="0"/>
            </a:endParaRPr>
          </a:p>
        </p:txBody>
      </p:sp>
      <p:sp>
        <p:nvSpPr>
          <p:cNvPr id="9" name="Rectangle 8"/>
          <p:cNvSpPr>
            <a:spLocks noChangeArrowheads="1"/>
          </p:cNvSpPr>
          <p:nvPr/>
        </p:nvSpPr>
        <p:spPr bwMode="auto">
          <a:xfrm>
            <a:off x="9936547" y="4397287"/>
            <a:ext cx="1016625" cy="338554"/>
          </a:xfrm>
          <a:prstGeom prst="rect">
            <a:avLst/>
          </a:prstGeom>
          <a:solidFill>
            <a:srgbClr val="00B0F0"/>
          </a:solidFill>
          <a:ln>
            <a:noFill/>
          </a:ln>
          <a:effectLst/>
        </p:spPr>
        <p:txBody>
          <a:bodyPr wrap="none" anchor="ctr">
            <a:spAutoFit/>
          </a:bodyPr>
          <a:lstStyle/>
          <a:p>
            <a:pPr algn="ctr" eaLnBrk="0" hangingPunct="0"/>
            <a:r>
              <a:rPr lang="en-US" sz="1600" dirty="0"/>
              <a:t>Outgoing</a:t>
            </a:r>
          </a:p>
        </p:txBody>
      </p:sp>
      <p:sp>
        <p:nvSpPr>
          <p:cNvPr id="10" name="Rectangle 6"/>
          <p:cNvSpPr>
            <a:spLocks noChangeArrowheads="1"/>
          </p:cNvSpPr>
          <p:nvPr/>
        </p:nvSpPr>
        <p:spPr bwMode="auto">
          <a:xfrm>
            <a:off x="8612946" y="4395735"/>
            <a:ext cx="1016625" cy="338554"/>
          </a:xfrm>
          <a:prstGeom prst="rect">
            <a:avLst/>
          </a:prstGeom>
          <a:solidFill>
            <a:srgbClr val="00B0F0"/>
          </a:solidFill>
          <a:ln>
            <a:noFill/>
          </a:ln>
          <a:effectLst/>
        </p:spPr>
        <p:txBody>
          <a:bodyPr wrap="none" anchor="ctr">
            <a:spAutoFit/>
          </a:bodyPr>
          <a:lstStyle/>
          <a:p>
            <a:pPr algn="ctr" eaLnBrk="0" hangingPunct="0"/>
            <a:r>
              <a:rPr lang="en-US" sz="1600" dirty="0"/>
              <a:t>Incoming	</a:t>
            </a:r>
          </a:p>
        </p:txBody>
      </p:sp>
      <p:sp>
        <p:nvSpPr>
          <p:cNvPr id="11" name="Rectangle 10"/>
          <p:cNvSpPr/>
          <p:nvPr/>
        </p:nvSpPr>
        <p:spPr bwMode="auto">
          <a:xfrm>
            <a:off x="8932701" y="3427285"/>
            <a:ext cx="377119" cy="265973"/>
          </a:xfrm>
          <a:prstGeom prst="rect">
            <a:avLst/>
          </a:prstGeom>
          <a:noFill/>
          <a:ln w="38100" cap="flat" cmpd="sng" algn="ctr">
            <a:solidFill>
              <a:srgbClr val="FF0000"/>
            </a:solidFill>
            <a:prstDash val="solid"/>
            <a:round/>
            <a:headEnd type="none" w="med" len="med"/>
            <a:tailEnd type="none" w="med" len="med"/>
          </a:ln>
          <a:effectLst>
            <a:outerShdw blurRad="50800" dist="38100" dir="2700000" algn="tl" rotWithShape="0">
              <a:prstClr val="black">
                <a:alpha val="40000"/>
              </a:prstClr>
            </a:outerShdw>
          </a:effectLst>
        </p:spPr>
        <p:txBody>
          <a:bodyPr rtlCol="0" anchor="ctr"/>
          <a:lstStyle/>
          <a:p>
            <a:pPr algn="ctr"/>
            <a:endParaRPr lang="en-CA" dirty="0"/>
          </a:p>
        </p:txBody>
      </p:sp>
      <p:sp>
        <p:nvSpPr>
          <p:cNvPr id="12" name="AutoShape 9"/>
          <p:cNvSpPr>
            <a:spLocks noChangeArrowheads="1"/>
          </p:cNvSpPr>
          <p:nvPr/>
        </p:nvSpPr>
        <p:spPr bwMode="auto">
          <a:xfrm rot="10800000">
            <a:off x="8991070" y="3766496"/>
            <a:ext cx="260379" cy="592925"/>
          </a:xfrm>
          <a:prstGeom prst="downArrow">
            <a:avLst>
              <a:gd name="adj1" fmla="val 50000"/>
              <a:gd name="adj2" fmla="val 25000"/>
            </a:avLst>
          </a:prstGeom>
          <a:solidFill>
            <a:srgbClr val="00B0F0"/>
          </a:solidFill>
          <a:ln>
            <a:noFill/>
          </a:ln>
          <a:effectLst/>
        </p:spPr>
        <p:txBody>
          <a:bodyPr wrap="none" anchor="ctr"/>
          <a:lstStyle/>
          <a:p>
            <a:pPr algn="ctr" eaLnBrk="0" hangingPunct="0"/>
            <a:endParaRPr lang="en-US" dirty="0"/>
          </a:p>
        </p:txBody>
      </p:sp>
      <p:sp>
        <p:nvSpPr>
          <p:cNvPr id="13" name="AutoShape 9"/>
          <p:cNvSpPr>
            <a:spLocks noChangeArrowheads="1"/>
          </p:cNvSpPr>
          <p:nvPr/>
        </p:nvSpPr>
        <p:spPr bwMode="auto">
          <a:xfrm>
            <a:off x="10301450" y="3786956"/>
            <a:ext cx="231156" cy="572465"/>
          </a:xfrm>
          <a:prstGeom prst="downArrow">
            <a:avLst>
              <a:gd name="adj1" fmla="val 50000"/>
              <a:gd name="adj2" fmla="val 25000"/>
            </a:avLst>
          </a:prstGeom>
          <a:solidFill>
            <a:srgbClr val="00B0F0"/>
          </a:solidFill>
          <a:ln>
            <a:noFill/>
          </a:ln>
          <a:effectLst/>
        </p:spPr>
        <p:txBody>
          <a:bodyPr wrap="none" anchor="ctr"/>
          <a:lstStyle/>
          <a:p>
            <a:pPr algn="ctr" eaLnBrk="0" hangingPunct="0"/>
            <a:endParaRPr lang="en-US" dirty="0"/>
          </a:p>
        </p:txBody>
      </p:sp>
      <p:sp>
        <p:nvSpPr>
          <p:cNvPr id="14" name="Rectangle 13"/>
          <p:cNvSpPr/>
          <p:nvPr/>
        </p:nvSpPr>
        <p:spPr bwMode="auto">
          <a:xfrm>
            <a:off x="10172605" y="3422200"/>
            <a:ext cx="391472" cy="263502"/>
          </a:xfrm>
          <a:prstGeom prst="rect">
            <a:avLst/>
          </a:prstGeom>
          <a:noFill/>
          <a:ln w="38100" cap="flat" cmpd="sng" algn="ctr">
            <a:solidFill>
              <a:srgbClr val="FF0000"/>
            </a:solidFill>
            <a:prstDash val="solid"/>
            <a:round/>
            <a:headEnd type="none" w="med" len="med"/>
            <a:tailEnd type="none" w="med" len="med"/>
          </a:ln>
          <a:effectLst>
            <a:outerShdw blurRad="50800" dist="38100" dir="2700000" algn="tl" rotWithShape="0">
              <a:prstClr val="black">
                <a:alpha val="40000"/>
              </a:prstClr>
            </a:outerShdw>
          </a:effectLst>
        </p:spPr>
        <p:txBody>
          <a:bodyPr rtlCol="0" anchor="ctr"/>
          <a:lstStyle/>
          <a:p>
            <a:pPr algn="ctr"/>
            <a:endParaRPr lang="en-CA" dirty="0"/>
          </a:p>
        </p:txBody>
      </p:sp>
      <p:sp>
        <p:nvSpPr>
          <p:cNvPr id="15" name="Rectangle 14"/>
          <p:cNvSpPr/>
          <p:nvPr/>
        </p:nvSpPr>
        <p:spPr bwMode="auto">
          <a:xfrm>
            <a:off x="843531" y="2129593"/>
            <a:ext cx="2586109" cy="247646"/>
          </a:xfrm>
          <a:prstGeom prst="rect">
            <a:avLst/>
          </a:prstGeom>
          <a:solidFill>
            <a:srgbClr val="00B0F0"/>
          </a:solidFill>
          <a:ln w="38100" cap="flat" cmpd="sng" algn="ctr">
            <a:no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20000"/>
              </a:spcBef>
              <a:spcAft>
                <a:spcPct val="0"/>
              </a:spcAft>
              <a:buClr>
                <a:schemeClr val="accent1"/>
              </a:buClr>
              <a:buSzPct val="90000"/>
              <a:buFont typeface="Wingdings" charset="2"/>
              <a:buNone/>
              <a:tabLst/>
            </a:pPr>
            <a:r>
              <a:rPr lang="en-CA" b="1" dirty="0"/>
              <a:t>Network </a:t>
            </a:r>
            <a:r>
              <a:rPr lang="en-CA" dirty="0"/>
              <a:t>&gt;</a:t>
            </a:r>
            <a:r>
              <a:rPr lang="en-CA" b="1" dirty="0"/>
              <a:t> Interfaces</a:t>
            </a:r>
            <a:endParaRPr kumimoji="0" lang="en-CA" b="1" u="none" strike="noStrike" cap="none" normalizeH="0" baseline="0" dirty="0">
              <a:ln>
                <a:noFill/>
              </a:ln>
              <a:effectLst/>
            </a:endParaRPr>
          </a:p>
        </p:txBody>
      </p:sp>
      <p:pic>
        <p:nvPicPr>
          <p:cNvPr id="7" name="Picture 6">
            <a:extLst>
              <a:ext uri="{FF2B5EF4-FFF2-40B4-BE49-F238E27FC236}">
                <a16:creationId xmlns:a16="http://schemas.microsoft.com/office/drawing/2014/main" id="{15FC1C40-5221-4A2E-AB77-8A28A3A9B274}"/>
              </a:ext>
            </a:extLst>
          </p:cNvPr>
          <p:cNvPicPr>
            <a:picLocks noChangeAspect="1"/>
          </p:cNvPicPr>
          <p:nvPr/>
        </p:nvPicPr>
        <p:blipFill>
          <a:blip r:embed="rId5"/>
          <a:stretch>
            <a:fillRect/>
          </a:stretch>
        </p:blipFill>
        <p:spPr>
          <a:xfrm>
            <a:off x="812651" y="2412756"/>
            <a:ext cx="6583613" cy="3675657"/>
          </a:xfrm>
          <a:prstGeom prst="rect">
            <a:avLst/>
          </a:prstGeom>
          <a:ln w="12700">
            <a:solidFill>
              <a:schemeClr val="tx1"/>
            </a:solidFill>
          </a:ln>
        </p:spPr>
      </p:pic>
      <p:sp>
        <p:nvSpPr>
          <p:cNvPr id="18" name="Rectangle 17"/>
          <p:cNvSpPr/>
          <p:nvPr/>
        </p:nvSpPr>
        <p:spPr bwMode="auto">
          <a:xfrm>
            <a:off x="843531" y="2755140"/>
            <a:ext cx="546858" cy="238582"/>
          </a:xfrm>
          <a:prstGeom prst="rect">
            <a:avLst/>
          </a:prstGeom>
          <a:noFill/>
          <a:ln w="38100" cap="flat" cmpd="sng" algn="ctr">
            <a:solidFill>
              <a:srgbClr val="FF0000"/>
            </a:solidFill>
            <a:prstDash val="solid"/>
            <a:round/>
            <a:headEnd type="none" w="med" len="med"/>
            <a:tailEnd type="none" w="med" len="med"/>
          </a:ln>
          <a:effectLst/>
        </p:spPr>
        <p:txBody>
          <a:bodyPr rtlCol="0" anchor="ctr"/>
          <a:lstStyle/>
          <a:p>
            <a:pPr algn="ctr"/>
            <a:endParaRPr lang="en-CA" dirty="0"/>
          </a:p>
        </p:txBody>
      </p:sp>
      <p:sp>
        <p:nvSpPr>
          <p:cNvPr id="17" name="Rectangle 16"/>
          <p:cNvSpPr/>
          <p:nvPr/>
        </p:nvSpPr>
        <p:spPr bwMode="auto">
          <a:xfrm>
            <a:off x="789168" y="5194249"/>
            <a:ext cx="4985331" cy="894163"/>
          </a:xfrm>
          <a:prstGeom prst="rect">
            <a:avLst/>
          </a:prstGeom>
          <a:noFill/>
          <a:ln w="38100" cap="flat" cmpd="sng" algn="ctr">
            <a:solidFill>
              <a:srgbClr val="FF0000"/>
            </a:solidFill>
            <a:prstDash val="solid"/>
            <a:round/>
            <a:headEnd type="none" w="med" len="med"/>
            <a:tailEnd type="none" w="med" len="med"/>
          </a:ln>
          <a:effectLst/>
        </p:spPr>
        <p:txBody>
          <a:bodyPr rtlCol="0" anchor="ctr"/>
          <a:lstStyle/>
          <a:p>
            <a:pPr algn="ctr"/>
            <a:endParaRPr lang="en-CA" dirty="0"/>
          </a:p>
        </p:txBody>
      </p:sp>
      <p:sp>
        <p:nvSpPr>
          <p:cNvPr id="19" name="Rounded Rectangular Callout 18"/>
          <p:cNvSpPr/>
          <p:nvPr/>
        </p:nvSpPr>
        <p:spPr bwMode="auto">
          <a:xfrm>
            <a:off x="7099731" y="5156852"/>
            <a:ext cx="812981" cy="297634"/>
          </a:xfrm>
          <a:prstGeom prst="wedgeRoundRectCallout">
            <a:avLst>
              <a:gd name="adj1" fmla="val -216951"/>
              <a:gd name="adj2" fmla="val 179452"/>
              <a:gd name="adj3" fmla="val 16667"/>
            </a:avLst>
          </a:prstGeom>
          <a:solidFill>
            <a:srgbClr val="00B0F0"/>
          </a:solidFill>
          <a:ln w="19050" cap="flat" cmpd="sng" algn="ctr">
            <a:no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20000"/>
              </a:spcBef>
              <a:spcAft>
                <a:spcPct val="0"/>
              </a:spcAft>
              <a:buClr>
                <a:schemeClr val="accent1"/>
              </a:buClr>
              <a:buSzPct val="90000"/>
              <a:buFont typeface="Wingdings" charset="2"/>
              <a:buNone/>
              <a:tabLst/>
            </a:pPr>
            <a:r>
              <a:rPr lang="en-CA" sz="1600" dirty="0"/>
              <a:t>Zone</a:t>
            </a:r>
            <a:endParaRPr kumimoji="0" lang="en-CA" sz="1600" u="none" strike="noStrike" cap="none" normalizeH="0" baseline="0" dirty="0">
              <a:ln>
                <a:noFill/>
              </a:ln>
              <a:effectLst/>
            </a:endParaRPr>
          </a:p>
        </p:txBody>
      </p:sp>
    </p:spTree>
    <p:custDataLst>
      <p:tags r:id="rId1"/>
    </p:custDataLst>
    <p:extLst>
      <p:ext uri="{BB962C8B-B14F-4D97-AF65-F5344CB8AC3E}">
        <p14:creationId xmlns:p14="http://schemas.microsoft.com/office/powerpoint/2010/main" val="2334233901"/>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CA" dirty="0"/>
              <a:t>Selecting Multiple Interfaces or Any Interface </a:t>
            </a:r>
          </a:p>
        </p:txBody>
      </p:sp>
      <p:sp>
        <p:nvSpPr>
          <p:cNvPr id="5" name="Content Placeholder 4"/>
          <p:cNvSpPr>
            <a:spLocks noGrp="1"/>
          </p:cNvSpPr>
          <p:nvPr>
            <p:ph idx="1"/>
          </p:nvPr>
        </p:nvSpPr>
        <p:spPr/>
        <p:txBody>
          <a:bodyPr/>
          <a:lstStyle/>
          <a:p>
            <a:r>
              <a:rPr lang="en-CA" dirty="0"/>
              <a:t>Disabled by default</a:t>
            </a:r>
          </a:p>
          <a:p>
            <a:pPr lvl="1"/>
            <a:r>
              <a:rPr lang="en-CA" dirty="0"/>
              <a:t>Cannot select multiple interfaces or any interface in firewall policy on the GUI</a:t>
            </a:r>
          </a:p>
          <a:p>
            <a:r>
              <a:rPr lang="en-CA" dirty="0"/>
              <a:t>Can be made visible in the GUI</a:t>
            </a:r>
          </a:p>
          <a:p>
            <a:endParaRPr lang="en-CA" dirty="0"/>
          </a:p>
          <a:p>
            <a:endParaRPr lang="en-CA" dirty="0"/>
          </a:p>
        </p:txBody>
      </p:sp>
      <p:sp>
        <p:nvSpPr>
          <p:cNvPr id="18" name="TextBox 17"/>
          <p:cNvSpPr txBox="1"/>
          <p:nvPr/>
        </p:nvSpPr>
        <p:spPr>
          <a:xfrm>
            <a:off x="6904233" y="2016993"/>
            <a:ext cx="2790636" cy="338554"/>
          </a:xfrm>
          <a:prstGeom prst="rect">
            <a:avLst/>
          </a:prstGeom>
          <a:solidFill>
            <a:srgbClr val="00B0F0"/>
          </a:solidFill>
        </p:spPr>
        <p:txBody>
          <a:bodyPr wrap="none" rtlCol="0">
            <a:spAutoFit/>
          </a:bodyPr>
          <a:lstStyle/>
          <a:p>
            <a:r>
              <a:rPr lang="en-CA" sz="1600" b="1" dirty="0"/>
              <a:t>System </a:t>
            </a:r>
            <a:r>
              <a:rPr lang="en-CA" sz="1600" dirty="0"/>
              <a:t>&gt; </a:t>
            </a:r>
            <a:r>
              <a:rPr lang="en-CA" sz="1600" b="1" dirty="0"/>
              <a:t>Feature Visibility</a:t>
            </a:r>
          </a:p>
        </p:txBody>
      </p:sp>
      <p:sp>
        <p:nvSpPr>
          <p:cNvPr id="22" name="TextBox 21"/>
          <p:cNvSpPr txBox="1"/>
          <p:nvPr/>
        </p:nvSpPr>
        <p:spPr>
          <a:xfrm>
            <a:off x="474596" y="2403901"/>
            <a:ext cx="3469219" cy="338554"/>
          </a:xfrm>
          <a:prstGeom prst="rect">
            <a:avLst/>
          </a:prstGeom>
          <a:solidFill>
            <a:srgbClr val="00B0F0"/>
          </a:solidFill>
        </p:spPr>
        <p:txBody>
          <a:bodyPr wrap="none" rtlCol="0">
            <a:spAutoFit/>
          </a:bodyPr>
          <a:lstStyle/>
          <a:p>
            <a:r>
              <a:rPr lang="en-CA" sz="1600" b="1" dirty="0"/>
              <a:t>Policy &amp; Objects </a:t>
            </a:r>
            <a:r>
              <a:rPr lang="en-CA" sz="1600" dirty="0"/>
              <a:t>&gt; </a:t>
            </a:r>
            <a:r>
              <a:rPr lang="en-CA" sz="1600" b="1" dirty="0"/>
              <a:t>Firewall Policy</a:t>
            </a:r>
          </a:p>
        </p:txBody>
      </p:sp>
      <p:sp>
        <p:nvSpPr>
          <p:cNvPr id="23" name="TextBox 22"/>
          <p:cNvSpPr txBox="1"/>
          <p:nvPr/>
        </p:nvSpPr>
        <p:spPr>
          <a:xfrm>
            <a:off x="6857477" y="3905673"/>
            <a:ext cx="3469219" cy="338554"/>
          </a:xfrm>
          <a:prstGeom prst="rect">
            <a:avLst/>
          </a:prstGeom>
          <a:solidFill>
            <a:srgbClr val="00B0F0"/>
          </a:solidFill>
        </p:spPr>
        <p:txBody>
          <a:bodyPr wrap="none" rtlCol="0">
            <a:spAutoFit/>
          </a:bodyPr>
          <a:lstStyle/>
          <a:p>
            <a:r>
              <a:rPr lang="en-CA" sz="1600" b="1" dirty="0"/>
              <a:t>Policy &amp; Objects </a:t>
            </a:r>
            <a:r>
              <a:rPr lang="en-CA" sz="1600" dirty="0"/>
              <a:t>&gt; </a:t>
            </a:r>
            <a:r>
              <a:rPr lang="en-CA" sz="1600" b="1" dirty="0"/>
              <a:t>Firewall Policy</a:t>
            </a:r>
          </a:p>
        </p:txBody>
      </p:sp>
      <p:pic>
        <p:nvPicPr>
          <p:cNvPr id="7" name="Picture 6"/>
          <p:cNvPicPr>
            <a:picLocks noChangeAspect="1"/>
          </p:cNvPicPr>
          <p:nvPr/>
        </p:nvPicPr>
        <p:blipFill>
          <a:blip r:embed="rId4"/>
          <a:stretch>
            <a:fillRect/>
          </a:stretch>
        </p:blipFill>
        <p:spPr>
          <a:xfrm>
            <a:off x="474595" y="2819676"/>
            <a:ext cx="5876013" cy="1983308"/>
          </a:xfrm>
          <a:prstGeom prst="rect">
            <a:avLst/>
          </a:prstGeom>
          <a:ln>
            <a:solidFill>
              <a:schemeClr val="tx1"/>
            </a:solidFill>
          </a:ln>
        </p:spPr>
      </p:pic>
      <p:sp>
        <p:nvSpPr>
          <p:cNvPr id="21" name="Rectangle 20"/>
          <p:cNvSpPr/>
          <p:nvPr/>
        </p:nvSpPr>
        <p:spPr bwMode="auto">
          <a:xfrm>
            <a:off x="2538964" y="4407877"/>
            <a:ext cx="3685989" cy="374170"/>
          </a:xfrm>
          <a:prstGeom prst="rect">
            <a:avLst/>
          </a:prstGeom>
          <a:noFill/>
          <a:ln w="38100" cap="flat" cmpd="sng" algn="ctr">
            <a:solidFill>
              <a:srgbClr val="FF0000"/>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20000"/>
              </a:spcBef>
              <a:spcAft>
                <a:spcPct val="0"/>
              </a:spcAft>
              <a:buClr>
                <a:schemeClr val="accent1"/>
              </a:buClr>
              <a:buSzPct val="90000"/>
              <a:buFont typeface="Wingdings" charset="2"/>
              <a:buNone/>
              <a:tabLst/>
            </a:pPr>
            <a:endParaRPr kumimoji="0" lang="en-CA" sz="1200" b="0" i="0" u="none" strike="noStrike" cap="none" normalizeH="0" baseline="0" dirty="0">
              <a:ln>
                <a:noFill/>
              </a:ln>
            </a:endParaRPr>
          </a:p>
        </p:txBody>
      </p:sp>
      <p:sp>
        <p:nvSpPr>
          <p:cNvPr id="20" name="Rectangle 19"/>
          <p:cNvSpPr/>
          <p:nvPr/>
        </p:nvSpPr>
        <p:spPr bwMode="auto">
          <a:xfrm>
            <a:off x="2538964" y="4058835"/>
            <a:ext cx="3685989" cy="349042"/>
          </a:xfrm>
          <a:prstGeom prst="rect">
            <a:avLst/>
          </a:prstGeom>
          <a:noFill/>
          <a:ln w="38100" cap="flat" cmpd="sng" algn="ctr">
            <a:solidFill>
              <a:srgbClr val="FF0000"/>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20000"/>
              </a:spcBef>
              <a:spcAft>
                <a:spcPct val="0"/>
              </a:spcAft>
              <a:buClr>
                <a:schemeClr val="accent1"/>
              </a:buClr>
              <a:buSzPct val="90000"/>
              <a:buFont typeface="Wingdings" charset="2"/>
              <a:buNone/>
              <a:tabLst/>
            </a:pPr>
            <a:endParaRPr kumimoji="0" lang="en-CA" sz="1200" b="0" i="0" u="none" strike="noStrike" cap="none" normalizeH="0" baseline="0" dirty="0">
              <a:ln>
                <a:noFill/>
              </a:ln>
            </a:endParaRPr>
          </a:p>
        </p:txBody>
      </p:sp>
      <p:sp>
        <p:nvSpPr>
          <p:cNvPr id="19" name="Rounded Rectangular Callout 18"/>
          <p:cNvSpPr/>
          <p:nvPr/>
        </p:nvSpPr>
        <p:spPr bwMode="auto">
          <a:xfrm>
            <a:off x="3249268" y="5291858"/>
            <a:ext cx="1754510" cy="530068"/>
          </a:xfrm>
          <a:prstGeom prst="wedgeRoundRectCallout">
            <a:avLst>
              <a:gd name="adj1" fmla="val 23488"/>
              <a:gd name="adj2" fmla="val -178462"/>
              <a:gd name="adj3" fmla="val 16667"/>
            </a:avLst>
          </a:prstGeom>
          <a:solidFill>
            <a:srgbClr val="00B0F0"/>
          </a:solidFill>
          <a:ln w="19050" cap="flat" cmpd="sng" algn="ctr">
            <a:no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14400" eaLnBrk="0" fontAlgn="base" hangingPunct="0">
              <a:spcBef>
                <a:spcPct val="20000"/>
              </a:spcBef>
              <a:spcAft>
                <a:spcPct val="0"/>
              </a:spcAft>
              <a:buClr>
                <a:schemeClr val="accent1"/>
              </a:buClr>
              <a:buSzPct val="90000"/>
            </a:pPr>
            <a:r>
              <a:rPr lang="en-CA" sz="1600" dirty="0"/>
              <a:t>Multiple interface policies disabled</a:t>
            </a:r>
          </a:p>
        </p:txBody>
      </p:sp>
      <p:pic>
        <p:nvPicPr>
          <p:cNvPr id="8" name="Picture 7"/>
          <p:cNvPicPr>
            <a:picLocks noChangeAspect="1"/>
          </p:cNvPicPr>
          <p:nvPr/>
        </p:nvPicPr>
        <p:blipFill>
          <a:blip r:embed="rId5"/>
          <a:stretch>
            <a:fillRect/>
          </a:stretch>
        </p:blipFill>
        <p:spPr>
          <a:xfrm>
            <a:off x="6904233" y="2409319"/>
            <a:ext cx="3516420" cy="1025622"/>
          </a:xfrm>
          <a:prstGeom prst="rect">
            <a:avLst/>
          </a:prstGeom>
          <a:ln>
            <a:solidFill>
              <a:schemeClr val="tx1"/>
            </a:solidFill>
          </a:ln>
        </p:spPr>
      </p:pic>
      <p:sp>
        <p:nvSpPr>
          <p:cNvPr id="2" name="Rectangle 1"/>
          <p:cNvSpPr/>
          <p:nvPr/>
        </p:nvSpPr>
        <p:spPr bwMode="invGray">
          <a:xfrm>
            <a:off x="7033837" y="2549732"/>
            <a:ext cx="309168" cy="216913"/>
          </a:xfrm>
          <a:prstGeom prst="rect">
            <a:avLst/>
          </a:prstGeom>
          <a:noFill/>
          <a:ln w="38100">
            <a:solidFill>
              <a:srgbClr val="FF0000"/>
            </a:solidFill>
            <a:round/>
            <a:headEnd/>
            <a:tailE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A" dirty="0"/>
          </a:p>
        </p:txBody>
      </p:sp>
      <p:pic>
        <p:nvPicPr>
          <p:cNvPr id="9" name="Picture 8"/>
          <p:cNvPicPr>
            <a:picLocks noChangeAspect="1"/>
          </p:cNvPicPr>
          <p:nvPr/>
        </p:nvPicPr>
        <p:blipFill>
          <a:blip r:embed="rId6"/>
          <a:stretch>
            <a:fillRect/>
          </a:stretch>
        </p:blipFill>
        <p:spPr>
          <a:xfrm>
            <a:off x="6857478" y="4311049"/>
            <a:ext cx="4428862" cy="1972519"/>
          </a:xfrm>
          <a:prstGeom prst="rect">
            <a:avLst/>
          </a:prstGeom>
          <a:ln>
            <a:solidFill>
              <a:schemeClr val="tx1"/>
            </a:solidFill>
          </a:ln>
        </p:spPr>
      </p:pic>
      <p:sp>
        <p:nvSpPr>
          <p:cNvPr id="15" name="Rectangle 14"/>
          <p:cNvSpPr/>
          <p:nvPr/>
        </p:nvSpPr>
        <p:spPr bwMode="auto">
          <a:xfrm>
            <a:off x="8447000" y="5023988"/>
            <a:ext cx="2748539" cy="519112"/>
          </a:xfrm>
          <a:prstGeom prst="rect">
            <a:avLst/>
          </a:prstGeom>
          <a:noFill/>
          <a:ln w="38100" cap="flat" cmpd="sng" algn="ctr">
            <a:solidFill>
              <a:srgbClr val="FF0000"/>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20000"/>
              </a:spcBef>
              <a:spcAft>
                <a:spcPct val="0"/>
              </a:spcAft>
              <a:buClr>
                <a:schemeClr val="accent1"/>
              </a:buClr>
              <a:buSzPct val="90000"/>
              <a:buFont typeface="Wingdings" charset="2"/>
              <a:buNone/>
              <a:tabLst/>
            </a:pPr>
            <a:endParaRPr kumimoji="0" lang="en-CA" sz="1200" b="0" i="0" u="none" strike="noStrike" cap="none" normalizeH="0" baseline="0" dirty="0">
              <a:ln>
                <a:noFill/>
              </a:ln>
            </a:endParaRPr>
          </a:p>
        </p:txBody>
      </p:sp>
      <p:sp>
        <p:nvSpPr>
          <p:cNvPr id="16" name="Rectangle 15"/>
          <p:cNvSpPr/>
          <p:nvPr/>
        </p:nvSpPr>
        <p:spPr bwMode="auto">
          <a:xfrm>
            <a:off x="8456042" y="5748660"/>
            <a:ext cx="2739497" cy="506716"/>
          </a:xfrm>
          <a:prstGeom prst="rect">
            <a:avLst/>
          </a:prstGeom>
          <a:noFill/>
          <a:ln w="38100" cap="flat" cmpd="sng" algn="ctr">
            <a:solidFill>
              <a:srgbClr val="FF0000"/>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20000"/>
              </a:spcBef>
              <a:spcAft>
                <a:spcPct val="0"/>
              </a:spcAft>
              <a:buClr>
                <a:schemeClr val="accent1"/>
              </a:buClr>
              <a:buSzPct val="90000"/>
              <a:buFont typeface="Wingdings" charset="2"/>
              <a:buNone/>
              <a:tabLst/>
            </a:pPr>
            <a:endParaRPr kumimoji="0" lang="en-CA" sz="1200" b="0" i="0" u="none" strike="noStrike" cap="none" normalizeH="0" baseline="0" dirty="0">
              <a:ln>
                <a:noFill/>
              </a:ln>
            </a:endParaRPr>
          </a:p>
        </p:txBody>
      </p:sp>
      <p:sp>
        <p:nvSpPr>
          <p:cNvPr id="24" name="Rounded Rectangular Callout 23"/>
          <p:cNvSpPr/>
          <p:nvPr/>
        </p:nvSpPr>
        <p:spPr bwMode="auto">
          <a:xfrm>
            <a:off x="10107240" y="4366700"/>
            <a:ext cx="1754510" cy="530068"/>
          </a:xfrm>
          <a:prstGeom prst="wedgeRoundRectCallout">
            <a:avLst>
              <a:gd name="adj1" fmla="val -27920"/>
              <a:gd name="adj2" fmla="val 117285"/>
              <a:gd name="adj3" fmla="val 16667"/>
            </a:avLst>
          </a:prstGeom>
          <a:solidFill>
            <a:srgbClr val="00B0F0"/>
          </a:solidFill>
          <a:ln w="19050" cap="flat" cmpd="sng" algn="ctr">
            <a:no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14400" eaLnBrk="0" fontAlgn="base" hangingPunct="0">
              <a:spcBef>
                <a:spcPct val="20000"/>
              </a:spcBef>
              <a:spcAft>
                <a:spcPct val="0"/>
              </a:spcAft>
              <a:buClr>
                <a:schemeClr val="accent1"/>
              </a:buClr>
              <a:buSzPct val="90000"/>
            </a:pPr>
            <a:r>
              <a:rPr lang="en-CA" sz="1600" dirty="0"/>
              <a:t>Multiple interface policies enabled</a:t>
            </a:r>
          </a:p>
        </p:txBody>
      </p:sp>
      <p:sp>
        <p:nvSpPr>
          <p:cNvPr id="25" name="Down Arrow 24"/>
          <p:cNvSpPr/>
          <p:nvPr/>
        </p:nvSpPr>
        <p:spPr bwMode="auto">
          <a:xfrm>
            <a:off x="8299551" y="3470287"/>
            <a:ext cx="298245" cy="353147"/>
          </a:xfrm>
          <a:prstGeom prst="downArrow">
            <a:avLst/>
          </a:prstGeom>
          <a:solidFill>
            <a:srgbClr val="FF0000"/>
          </a:solidFill>
          <a:ln w="38100"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20000"/>
              </a:spcBef>
              <a:spcAft>
                <a:spcPct val="0"/>
              </a:spcAft>
              <a:buClr>
                <a:schemeClr val="accent1"/>
              </a:buClr>
              <a:buSzPct val="90000"/>
              <a:buFont typeface="Wingdings" charset="2"/>
              <a:buNone/>
              <a:tabLst/>
            </a:pPr>
            <a:endParaRPr kumimoji="0" lang="en-CA" sz="2000" b="0" i="0" u="none" strike="noStrike" cap="none" normalizeH="0" baseline="0" dirty="0">
              <a:ln>
                <a:noFill/>
              </a:ln>
              <a:solidFill>
                <a:schemeClr val="accent2"/>
              </a:solidFill>
              <a:effectLst/>
              <a:latin typeface="Arial" charset="0"/>
            </a:endParaRPr>
          </a:p>
        </p:txBody>
      </p:sp>
    </p:spTree>
    <p:custDataLst>
      <p:tags r:id="rId1"/>
    </p:custDataLst>
    <p:extLst>
      <p:ext uri="{BB962C8B-B14F-4D97-AF65-F5344CB8AC3E}">
        <p14:creationId xmlns:p14="http://schemas.microsoft.com/office/powerpoint/2010/main" val="1677232829"/>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5"/>
          </p:nvPr>
        </p:nvSpPr>
        <p:spPr/>
        <p:txBody>
          <a:bodyPr>
            <a:normAutofit/>
          </a:bodyPr>
          <a:lstStyle/>
          <a:p>
            <a:r>
              <a:rPr lang="en-US" i="1" dirty="0"/>
              <a:t>Must</a:t>
            </a:r>
            <a:r>
              <a:rPr lang="en-US" dirty="0"/>
              <a:t> specify at least one source (address or internet service database (ISDB) object)</a:t>
            </a:r>
          </a:p>
          <a:p>
            <a:pPr lvl="1"/>
            <a:r>
              <a:rPr lang="en-US" dirty="0"/>
              <a:t>IP address or range</a:t>
            </a:r>
          </a:p>
          <a:p>
            <a:pPr lvl="1"/>
            <a:r>
              <a:rPr lang="en-US" dirty="0"/>
              <a:t>Subnet (IP/</a:t>
            </a:r>
            <a:r>
              <a:rPr lang="en-US" dirty="0" err="1"/>
              <a:t>netmask</a:t>
            </a:r>
            <a:r>
              <a:rPr lang="en-US" dirty="0"/>
              <a:t>)</a:t>
            </a:r>
          </a:p>
          <a:p>
            <a:pPr lvl="1"/>
            <a:r>
              <a:rPr lang="en-US" dirty="0"/>
              <a:t>FQDN</a:t>
            </a:r>
          </a:p>
          <a:p>
            <a:pPr lvl="1"/>
            <a:r>
              <a:rPr lang="en-US" dirty="0"/>
              <a:t>Geography</a:t>
            </a:r>
          </a:p>
          <a:p>
            <a:pPr lvl="1"/>
            <a:r>
              <a:rPr lang="en-US" dirty="0"/>
              <a:t>Dynamic</a:t>
            </a:r>
          </a:p>
          <a:p>
            <a:pPr lvl="2"/>
            <a:r>
              <a:rPr lang="en-US" dirty="0"/>
              <a:t>Fabric connector address</a:t>
            </a:r>
          </a:p>
          <a:p>
            <a:pPr lvl="1"/>
            <a:r>
              <a:rPr lang="en-US" dirty="0"/>
              <a:t>MAC Address Range</a:t>
            </a:r>
          </a:p>
          <a:p>
            <a:r>
              <a:rPr lang="en-US" i="1" dirty="0"/>
              <a:t>May</a:t>
            </a:r>
            <a:r>
              <a:rPr lang="en-US" dirty="0"/>
              <a:t> specify:</a:t>
            </a:r>
          </a:p>
          <a:p>
            <a:pPr lvl="1"/>
            <a:r>
              <a:rPr lang="en-US" dirty="0"/>
              <a:t>Source user—individual user or user group</a:t>
            </a:r>
          </a:p>
          <a:p>
            <a:pPr lvl="1"/>
            <a:r>
              <a:rPr lang="en-US" dirty="0"/>
              <a:t>This may refer to:</a:t>
            </a:r>
          </a:p>
          <a:p>
            <a:pPr lvl="2"/>
            <a:r>
              <a:rPr lang="en-US" dirty="0"/>
              <a:t>Local firewall accounts</a:t>
            </a:r>
          </a:p>
          <a:p>
            <a:pPr lvl="2"/>
            <a:r>
              <a:rPr lang="en-US" dirty="0"/>
              <a:t>Accounts on a remote server (for example, Active Directory, LDAP, RADIUS)</a:t>
            </a:r>
          </a:p>
          <a:p>
            <a:pPr lvl="2"/>
            <a:r>
              <a:rPr lang="en-US" dirty="0"/>
              <a:t>FSSO</a:t>
            </a:r>
          </a:p>
          <a:p>
            <a:pPr lvl="2"/>
            <a:r>
              <a:rPr lang="en-US" dirty="0"/>
              <a:t>Personal certificate (PKI-authenticated) users</a:t>
            </a:r>
          </a:p>
          <a:p>
            <a:endParaRPr lang="en-US" dirty="0"/>
          </a:p>
          <a:p>
            <a:endParaRPr lang="en-CA" dirty="0"/>
          </a:p>
          <a:p>
            <a:endParaRPr lang="en-CA" dirty="0"/>
          </a:p>
        </p:txBody>
      </p:sp>
      <p:sp>
        <p:nvSpPr>
          <p:cNvPr id="4" name="Title 3"/>
          <p:cNvSpPr>
            <a:spLocks noGrp="1"/>
          </p:cNvSpPr>
          <p:nvPr>
            <p:ph type="title"/>
          </p:nvPr>
        </p:nvSpPr>
        <p:spPr/>
        <p:txBody>
          <a:bodyPr/>
          <a:lstStyle/>
          <a:p>
            <a:r>
              <a:rPr lang="en-US" dirty="0"/>
              <a:t>Matching by Source</a:t>
            </a:r>
            <a:endParaRPr lang="en-CA" dirty="0"/>
          </a:p>
        </p:txBody>
      </p:sp>
      <p:sp>
        <p:nvSpPr>
          <p:cNvPr id="16" name="TextBox 15"/>
          <p:cNvSpPr txBox="1"/>
          <p:nvPr/>
        </p:nvSpPr>
        <p:spPr>
          <a:xfrm>
            <a:off x="5232601" y="1689127"/>
            <a:ext cx="3469219" cy="338554"/>
          </a:xfrm>
          <a:prstGeom prst="rect">
            <a:avLst/>
          </a:prstGeom>
          <a:solidFill>
            <a:srgbClr val="00B0F0"/>
          </a:solidFill>
        </p:spPr>
        <p:txBody>
          <a:bodyPr wrap="none" rtlCol="0">
            <a:spAutoFit/>
          </a:bodyPr>
          <a:lstStyle/>
          <a:p>
            <a:r>
              <a:rPr lang="en-CA" sz="1600" b="1" dirty="0"/>
              <a:t>Policy &amp; Objects </a:t>
            </a:r>
            <a:r>
              <a:rPr lang="en-CA" sz="1600" dirty="0"/>
              <a:t>&gt; </a:t>
            </a:r>
            <a:r>
              <a:rPr lang="en-CA" sz="1600" b="1" dirty="0"/>
              <a:t>Firewall Policy</a:t>
            </a:r>
          </a:p>
        </p:txBody>
      </p:sp>
      <p:pic>
        <p:nvPicPr>
          <p:cNvPr id="19" name="Picture 18"/>
          <p:cNvPicPr>
            <a:picLocks noChangeAspect="1"/>
          </p:cNvPicPr>
          <p:nvPr/>
        </p:nvPicPr>
        <p:blipFill>
          <a:blip r:embed="rId4"/>
          <a:stretch>
            <a:fillRect/>
          </a:stretch>
        </p:blipFill>
        <p:spPr>
          <a:xfrm>
            <a:off x="5232601" y="2091139"/>
            <a:ext cx="6732656" cy="1428873"/>
          </a:xfrm>
          <a:prstGeom prst="rect">
            <a:avLst/>
          </a:prstGeom>
          <a:ln>
            <a:solidFill>
              <a:schemeClr val="tx1"/>
            </a:solidFill>
          </a:ln>
        </p:spPr>
      </p:pic>
      <p:sp>
        <p:nvSpPr>
          <p:cNvPr id="34" name="Rectangle 33"/>
          <p:cNvSpPr/>
          <p:nvPr/>
        </p:nvSpPr>
        <p:spPr bwMode="auto">
          <a:xfrm>
            <a:off x="9278706" y="2388086"/>
            <a:ext cx="756248" cy="219169"/>
          </a:xfrm>
          <a:prstGeom prst="rect">
            <a:avLst/>
          </a:prstGeom>
          <a:noFill/>
          <a:ln w="38100" cap="flat" cmpd="sng" algn="ctr">
            <a:solidFill>
              <a:srgbClr val="FF0000"/>
            </a:solidFill>
            <a:prstDash val="solid"/>
            <a:round/>
            <a:headEnd type="none" w="med" len="med"/>
            <a:tailEnd type="none" w="med" len="med"/>
          </a:ln>
          <a:effectLst/>
        </p:spPr>
        <p:txBody>
          <a:bodyPr rtlCol="0" anchor="ctr"/>
          <a:lstStyle/>
          <a:p>
            <a:pPr algn="ctr"/>
            <a:endParaRPr lang="en-CA" dirty="0"/>
          </a:p>
        </p:txBody>
      </p:sp>
      <p:sp>
        <p:nvSpPr>
          <p:cNvPr id="35" name="Rectangle 34"/>
          <p:cNvSpPr/>
          <p:nvPr/>
        </p:nvSpPr>
        <p:spPr bwMode="auto">
          <a:xfrm>
            <a:off x="10138415" y="2376363"/>
            <a:ext cx="413435" cy="219169"/>
          </a:xfrm>
          <a:prstGeom prst="rect">
            <a:avLst/>
          </a:prstGeom>
          <a:noFill/>
          <a:ln w="38100" cap="flat" cmpd="sng" algn="ctr">
            <a:solidFill>
              <a:srgbClr val="FF0000"/>
            </a:solidFill>
            <a:prstDash val="solid"/>
            <a:round/>
            <a:headEnd type="none" w="med" len="med"/>
            <a:tailEnd type="none" w="med" len="med"/>
          </a:ln>
          <a:effectLst/>
        </p:spPr>
        <p:txBody>
          <a:bodyPr rtlCol="0" anchor="ctr"/>
          <a:lstStyle/>
          <a:p>
            <a:pPr algn="ctr"/>
            <a:endParaRPr lang="en-CA" dirty="0"/>
          </a:p>
        </p:txBody>
      </p:sp>
      <p:pic>
        <p:nvPicPr>
          <p:cNvPr id="6" name="Picture 5"/>
          <p:cNvPicPr>
            <a:picLocks noChangeAspect="1"/>
          </p:cNvPicPr>
          <p:nvPr/>
        </p:nvPicPr>
        <p:blipFill>
          <a:blip r:embed="rId5"/>
          <a:stretch>
            <a:fillRect/>
          </a:stretch>
        </p:blipFill>
        <p:spPr>
          <a:xfrm>
            <a:off x="6667459" y="3515142"/>
            <a:ext cx="4981011" cy="189825"/>
          </a:xfrm>
          <a:prstGeom prst="rect">
            <a:avLst/>
          </a:prstGeom>
          <a:ln>
            <a:solidFill>
              <a:schemeClr val="tx1"/>
            </a:solidFill>
          </a:ln>
        </p:spPr>
      </p:pic>
      <p:sp>
        <p:nvSpPr>
          <p:cNvPr id="33" name="Rectangle 32"/>
          <p:cNvSpPr/>
          <p:nvPr/>
        </p:nvSpPr>
        <p:spPr bwMode="auto">
          <a:xfrm>
            <a:off x="6667459" y="3498974"/>
            <a:ext cx="4989007" cy="232694"/>
          </a:xfrm>
          <a:prstGeom prst="rect">
            <a:avLst/>
          </a:prstGeom>
          <a:noFill/>
          <a:ln w="38100" cap="flat" cmpd="sng" algn="ctr">
            <a:solidFill>
              <a:srgbClr val="FF0000"/>
            </a:solidFill>
            <a:prstDash val="solid"/>
            <a:round/>
            <a:headEnd type="none" w="med" len="med"/>
            <a:tailEnd type="none" w="med" len="med"/>
          </a:ln>
          <a:effectLst/>
        </p:spPr>
        <p:txBody>
          <a:bodyPr rtlCol="0" anchor="ctr"/>
          <a:lstStyle/>
          <a:p>
            <a:pPr algn="ctr"/>
            <a:endParaRPr lang="en-CA" dirty="0"/>
          </a:p>
        </p:txBody>
      </p:sp>
      <p:sp>
        <p:nvSpPr>
          <p:cNvPr id="38" name="Rounded Rectangular Callout 37"/>
          <p:cNvSpPr/>
          <p:nvPr/>
        </p:nvSpPr>
        <p:spPr bwMode="auto">
          <a:xfrm>
            <a:off x="11002096" y="1289973"/>
            <a:ext cx="833883" cy="232101"/>
          </a:xfrm>
          <a:prstGeom prst="wedgeRoundRectCallout">
            <a:avLst>
              <a:gd name="adj1" fmla="val -112512"/>
              <a:gd name="adj2" fmla="val 413730"/>
              <a:gd name="adj3" fmla="val 16667"/>
            </a:avLst>
          </a:prstGeom>
          <a:solidFill>
            <a:srgbClr val="00B0F0"/>
          </a:solidFill>
          <a:ln w="19050" cap="flat" cmpd="sng" algn="ctr">
            <a:no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20000"/>
              </a:spcBef>
              <a:spcAft>
                <a:spcPct val="0"/>
              </a:spcAft>
              <a:buClr>
                <a:schemeClr val="accent1"/>
              </a:buClr>
              <a:buSzPct val="90000"/>
              <a:buFont typeface="Wingdings" charset="2"/>
              <a:buNone/>
              <a:tabLst/>
            </a:pPr>
            <a:r>
              <a:rPr lang="en-CA" sz="1400" dirty="0"/>
              <a:t>Optional</a:t>
            </a:r>
            <a:r>
              <a:rPr lang="en-CA" sz="1000" dirty="0">
                <a:latin typeface="Arial" charset="0"/>
              </a:rPr>
              <a:t> </a:t>
            </a:r>
            <a:endParaRPr kumimoji="0" lang="en-CA" sz="1000" u="none" strike="noStrike" cap="none" normalizeH="0" baseline="0" dirty="0">
              <a:ln>
                <a:noFill/>
              </a:ln>
              <a:effectLst/>
              <a:latin typeface="Arial" charset="0"/>
            </a:endParaRPr>
          </a:p>
        </p:txBody>
      </p:sp>
      <p:sp>
        <p:nvSpPr>
          <p:cNvPr id="36" name="Rounded Rectangular Callout 35"/>
          <p:cNvSpPr/>
          <p:nvPr/>
        </p:nvSpPr>
        <p:spPr bwMode="auto">
          <a:xfrm>
            <a:off x="7397428" y="2162894"/>
            <a:ext cx="1165970" cy="314140"/>
          </a:xfrm>
          <a:prstGeom prst="wedgeRoundRectCallout">
            <a:avLst>
              <a:gd name="adj1" fmla="val 17762"/>
              <a:gd name="adj2" fmla="val 392642"/>
              <a:gd name="adj3" fmla="val 16667"/>
            </a:avLst>
          </a:prstGeom>
          <a:solidFill>
            <a:srgbClr val="00B0F0"/>
          </a:solidFill>
          <a:ln w="19050" cap="flat" cmpd="sng" algn="ctr">
            <a:no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20000"/>
              </a:spcBef>
              <a:spcAft>
                <a:spcPct val="0"/>
              </a:spcAft>
              <a:buClr>
                <a:schemeClr val="accent1"/>
              </a:buClr>
              <a:buSzPct val="90000"/>
              <a:buFont typeface="Wingdings" charset="2"/>
              <a:buNone/>
              <a:tabLst/>
            </a:pPr>
            <a:endParaRPr kumimoji="0" lang="en-CA" sz="1000" b="0" i="0" u="none" strike="noStrike" cap="none" normalizeH="0" baseline="0" dirty="0">
              <a:ln>
                <a:noFill/>
              </a:ln>
              <a:effectLst/>
              <a:latin typeface="Arial" charset="0"/>
            </a:endParaRPr>
          </a:p>
        </p:txBody>
      </p:sp>
      <p:sp>
        <p:nvSpPr>
          <p:cNvPr id="37" name="Rounded Rectangular Callout 36"/>
          <p:cNvSpPr/>
          <p:nvPr/>
        </p:nvSpPr>
        <p:spPr bwMode="auto">
          <a:xfrm>
            <a:off x="7324360" y="2061754"/>
            <a:ext cx="1560636" cy="473358"/>
          </a:xfrm>
          <a:prstGeom prst="wedgeRoundRectCallout">
            <a:avLst>
              <a:gd name="adj1" fmla="val 73593"/>
              <a:gd name="adj2" fmla="val 32098"/>
              <a:gd name="adj3" fmla="val 16667"/>
            </a:avLst>
          </a:prstGeom>
          <a:solidFill>
            <a:srgbClr val="00B0F0"/>
          </a:solidFill>
          <a:ln w="19050" cap="flat" cmpd="sng" algn="ctr">
            <a:no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20000"/>
              </a:spcBef>
              <a:spcAft>
                <a:spcPct val="0"/>
              </a:spcAft>
              <a:buClr>
                <a:schemeClr val="accent1"/>
              </a:buClr>
              <a:buSzPct val="90000"/>
              <a:buFont typeface="Wingdings" charset="2"/>
              <a:buNone/>
              <a:tabLst/>
            </a:pPr>
            <a:r>
              <a:rPr lang="en-CA" sz="1400" dirty="0"/>
              <a:t>Mandatory source address field</a:t>
            </a:r>
            <a:endParaRPr kumimoji="0" lang="en-CA" sz="1400" u="none" strike="noStrike" cap="none" normalizeH="0" baseline="0" dirty="0">
              <a:ln>
                <a:noFill/>
              </a:ln>
              <a:effectLst/>
            </a:endParaRPr>
          </a:p>
        </p:txBody>
      </p:sp>
      <p:pic>
        <p:nvPicPr>
          <p:cNvPr id="9" name="Picture 8"/>
          <p:cNvPicPr>
            <a:picLocks noChangeAspect="1"/>
          </p:cNvPicPr>
          <p:nvPr/>
        </p:nvPicPr>
        <p:blipFill>
          <a:blip r:embed="rId6"/>
          <a:stretch>
            <a:fillRect/>
          </a:stretch>
        </p:blipFill>
        <p:spPr>
          <a:xfrm>
            <a:off x="6447306" y="4104348"/>
            <a:ext cx="5388673" cy="1087329"/>
          </a:xfrm>
          <a:prstGeom prst="rect">
            <a:avLst/>
          </a:prstGeom>
          <a:ln>
            <a:solidFill>
              <a:schemeClr val="tx1"/>
            </a:solidFill>
          </a:ln>
        </p:spPr>
      </p:pic>
      <p:sp>
        <p:nvSpPr>
          <p:cNvPr id="40" name="Rectangle 39"/>
          <p:cNvSpPr/>
          <p:nvPr/>
        </p:nvSpPr>
        <p:spPr bwMode="auto">
          <a:xfrm>
            <a:off x="8342495" y="4818667"/>
            <a:ext cx="3493484" cy="373010"/>
          </a:xfrm>
          <a:prstGeom prst="rect">
            <a:avLst/>
          </a:prstGeom>
          <a:noFill/>
          <a:ln w="38100" cap="flat" cmpd="sng" algn="ctr">
            <a:solidFill>
              <a:srgbClr val="FF0000"/>
            </a:solidFill>
            <a:prstDash val="solid"/>
            <a:round/>
            <a:headEnd type="none" w="med" len="med"/>
            <a:tailEnd type="none" w="med" len="med"/>
          </a:ln>
          <a:effectLst/>
        </p:spPr>
        <p:txBody>
          <a:bodyPr rtlCol="0" anchor="ctr"/>
          <a:lstStyle/>
          <a:p>
            <a:pPr algn="ctr"/>
            <a:endParaRPr lang="en-CA" dirty="0"/>
          </a:p>
        </p:txBody>
      </p:sp>
      <p:sp>
        <p:nvSpPr>
          <p:cNvPr id="41" name="Rounded Rectangular Callout 40"/>
          <p:cNvSpPr/>
          <p:nvPr/>
        </p:nvSpPr>
        <p:spPr bwMode="auto">
          <a:xfrm>
            <a:off x="9767626" y="5591058"/>
            <a:ext cx="1568447" cy="450512"/>
          </a:xfrm>
          <a:prstGeom prst="wedgeRoundRectCallout">
            <a:avLst>
              <a:gd name="adj1" fmla="val -99206"/>
              <a:gd name="adj2" fmla="val -164554"/>
              <a:gd name="adj3" fmla="val 16667"/>
            </a:avLst>
          </a:prstGeom>
          <a:solidFill>
            <a:srgbClr val="00B0F0"/>
          </a:solidFill>
          <a:ln w="19050" cap="flat" cmpd="sng" algn="ctr">
            <a:no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20000"/>
              </a:spcBef>
              <a:spcAft>
                <a:spcPct val="0"/>
              </a:spcAft>
              <a:buClr>
                <a:schemeClr val="accent1"/>
              </a:buClr>
              <a:buSzPct val="90000"/>
              <a:buFont typeface="Wingdings" charset="2"/>
              <a:buNone/>
              <a:tabLst/>
            </a:pPr>
            <a:r>
              <a:rPr lang="en-CA" sz="1400" dirty="0"/>
              <a:t>Warning for unresolved FQDN</a:t>
            </a:r>
            <a:endParaRPr kumimoji="0" lang="en-CA" sz="1400" u="none" strike="noStrike" cap="none" normalizeH="0" baseline="0" dirty="0">
              <a:ln>
                <a:noFill/>
              </a:ln>
              <a:effectLst/>
            </a:endParaRPr>
          </a:p>
        </p:txBody>
      </p:sp>
      <p:pic>
        <p:nvPicPr>
          <p:cNvPr id="10" name="Picture 9"/>
          <p:cNvPicPr>
            <a:picLocks noChangeAspect="1"/>
          </p:cNvPicPr>
          <p:nvPr/>
        </p:nvPicPr>
        <p:blipFill>
          <a:blip r:embed="rId7"/>
          <a:stretch>
            <a:fillRect/>
          </a:stretch>
        </p:blipFill>
        <p:spPr>
          <a:xfrm>
            <a:off x="8819367" y="4465348"/>
            <a:ext cx="2638095" cy="295238"/>
          </a:xfrm>
          <a:prstGeom prst="rect">
            <a:avLst/>
          </a:prstGeom>
        </p:spPr>
      </p:pic>
      <p:sp>
        <p:nvSpPr>
          <p:cNvPr id="42" name="Rectangle 41"/>
          <p:cNvSpPr/>
          <p:nvPr/>
        </p:nvSpPr>
        <p:spPr bwMode="auto">
          <a:xfrm>
            <a:off x="8712446" y="4471836"/>
            <a:ext cx="2745015" cy="288749"/>
          </a:xfrm>
          <a:prstGeom prst="rect">
            <a:avLst/>
          </a:prstGeom>
          <a:noFill/>
          <a:ln w="38100" cap="flat" cmpd="sng" algn="ctr">
            <a:solidFill>
              <a:srgbClr val="FF0000"/>
            </a:solidFill>
            <a:prstDash val="solid"/>
            <a:round/>
            <a:headEnd type="none" w="med" len="med"/>
            <a:tailEnd type="none" w="med" len="med"/>
          </a:ln>
          <a:effectLst/>
        </p:spPr>
        <p:txBody>
          <a:bodyPr rtlCol="0" anchor="ctr"/>
          <a:lstStyle/>
          <a:p>
            <a:pPr algn="ctr"/>
            <a:endParaRPr lang="en-CA" dirty="0"/>
          </a:p>
        </p:txBody>
      </p:sp>
    </p:spTree>
    <p:custDataLst>
      <p:tags r:id="rId1"/>
    </p:custDataLst>
    <p:extLst>
      <p:ext uri="{BB962C8B-B14F-4D97-AF65-F5344CB8AC3E}">
        <p14:creationId xmlns:p14="http://schemas.microsoft.com/office/powerpoint/2010/main" val="380210185"/>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CA" dirty="0"/>
              <a:t>Source—User Identification</a:t>
            </a:r>
          </a:p>
        </p:txBody>
      </p:sp>
      <p:sp>
        <p:nvSpPr>
          <p:cNvPr id="5" name="Content Placeholder 4"/>
          <p:cNvSpPr>
            <a:spLocks noGrp="1"/>
          </p:cNvSpPr>
          <p:nvPr>
            <p:ph idx="1"/>
          </p:nvPr>
        </p:nvSpPr>
        <p:spPr/>
        <p:txBody>
          <a:bodyPr/>
          <a:lstStyle/>
          <a:p>
            <a:r>
              <a:rPr lang="en-CA" dirty="0"/>
              <a:t>Confirms identity of user</a:t>
            </a:r>
          </a:p>
          <a:p>
            <a:r>
              <a:rPr lang="en-CA" dirty="0"/>
              <a:t>Access to network is provided after confirming user credentials</a:t>
            </a:r>
          </a:p>
          <a:p>
            <a:pPr lvl="1"/>
            <a:endParaRPr lang="en-CA" dirty="0"/>
          </a:p>
          <a:p>
            <a:endParaRPr lang="en-CA" dirty="0"/>
          </a:p>
        </p:txBody>
      </p:sp>
      <p:pic>
        <p:nvPicPr>
          <p:cNvPr id="6" name="Picture 2"/>
          <p:cNvPicPr>
            <a:picLocks noChangeAspect="1" noChangeArrowheads="1"/>
          </p:cNvPicPr>
          <p:nvPr/>
        </p:nvPicPr>
        <p:blipFill>
          <a:blip r:embed="rId4" cstate="print">
            <a:extLst>
              <a:ext uri="{28A0092B-C50C-407E-A947-70E740481C1C}">
                <a14:useLocalDpi xmlns:a14="http://schemas.microsoft.com/office/drawing/2010/main" val="0"/>
              </a:ext>
            </a:extLst>
          </a:blip>
          <a:stretch>
            <a:fillRect/>
          </a:stretch>
        </p:blipFill>
        <p:spPr bwMode="auto">
          <a:xfrm flipH="1">
            <a:off x="1055607" y="2921673"/>
            <a:ext cx="589404" cy="587029"/>
          </a:xfrm>
          <a:prstGeom prst="rect">
            <a:avLst/>
          </a:prstGeom>
          <a:noFill/>
        </p:spPr>
      </p:pic>
      <p:pic>
        <p:nvPicPr>
          <p:cNvPr id="8" name="Picture 2"/>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flipH="1">
            <a:off x="1171588" y="5046223"/>
            <a:ext cx="642804" cy="648985"/>
          </a:xfrm>
          <a:prstGeom prst="rect">
            <a:avLst/>
          </a:prstGeom>
          <a:noFill/>
        </p:spPr>
      </p:pic>
      <p:cxnSp>
        <p:nvCxnSpPr>
          <p:cNvPr id="10" name="Straight Connector 9"/>
          <p:cNvCxnSpPr/>
          <p:nvPr/>
        </p:nvCxnSpPr>
        <p:spPr bwMode="auto">
          <a:xfrm>
            <a:off x="2101755" y="3375633"/>
            <a:ext cx="3630535" cy="0"/>
          </a:xfrm>
          <a:prstGeom prst="line">
            <a:avLst/>
          </a:prstGeom>
          <a:solidFill>
            <a:schemeClr val="accent2">
              <a:alpha val="42000"/>
            </a:schemeClr>
          </a:solidFill>
          <a:ln w="38100" cap="flat" cmpd="sng" algn="ctr">
            <a:solidFill>
              <a:schemeClr val="bg1">
                <a:lumMod val="50000"/>
              </a:schemeClr>
            </a:solidFill>
            <a:prstDash val="solid"/>
            <a:round/>
            <a:headEnd type="none" w="med" len="med"/>
            <a:tailEnd type="none" w="med" len="med"/>
          </a:ln>
          <a:effectLst>
            <a:outerShdw blurRad="50800" dist="38100" dir="2700000" algn="tl" rotWithShape="0">
              <a:prstClr val="black">
                <a:alpha val="40000"/>
              </a:prstClr>
            </a:outerShdw>
          </a:effectLst>
        </p:spPr>
      </p:cxnSp>
      <p:grpSp>
        <p:nvGrpSpPr>
          <p:cNvPr id="11" name="Group 10"/>
          <p:cNvGrpSpPr/>
          <p:nvPr/>
        </p:nvGrpSpPr>
        <p:grpSpPr>
          <a:xfrm>
            <a:off x="3777589" y="2534873"/>
            <a:ext cx="1778875" cy="745949"/>
            <a:chOff x="3164600" y="2673739"/>
            <a:chExt cx="1440737" cy="620819"/>
          </a:xfrm>
        </p:grpSpPr>
        <p:pic>
          <p:nvPicPr>
            <p:cNvPr id="12" name="Picture 2"/>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586457" y="2673739"/>
              <a:ext cx="771525" cy="5388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3" name="Right Arrow 12"/>
            <p:cNvSpPr/>
            <p:nvPr/>
          </p:nvSpPr>
          <p:spPr bwMode="auto">
            <a:xfrm rot="10800000">
              <a:off x="3164600" y="3232238"/>
              <a:ext cx="1440737" cy="62320"/>
            </a:xfrm>
            <a:prstGeom prst="rightArrow">
              <a:avLst/>
            </a:prstGeom>
            <a:solidFill>
              <a:srgbClr val="00B0F0"/>
            </a:solidFill>
            <a:ln w="38100" cap="flat" cmpd="sng" algn="ctr">
              <a:solidFill>
                <a:srgbClr val="00B0F0"/>
              </a:solidFill>
              <a:prstDash val="solid"/>
              <a:round/>
              <a:headEnd type="none" w="med" len="med"/>
              <a:tailEnd type="none" w="med" len="med"/>
            </a:ln>
            <a:effectLst>
              <a:outerShdw blurRad="50800" dist="38100" dir="2700000" algn="tl" rotWithShape="0">
                <a:prstClr val="black">
                  <a:alpha val="40000"/>
                </a:prstClr>
              </a:outerShdw>
            </a:effectLst>
          </p:spPr>
          <p:txBody>
            <a:bodyPr rtlCol="0" anchor="ctr"/>
            <a:lstStyle/>
            <a:p>
              <a:pPr algn="ctr"/>
              <a:endParaRPr lang="en-CA" dirty="0"/>
            </a:p>
          </p:txBody>
        </p:sp>
      </p:grpSp>
      <p:grpSp>
        <p:nvGrpSpPr>
          <p:cNvPr id="14" name="Group 13"/>
          <p:cNvGrpSpPr/>
          <p:nvPr/>
        </p:nvGrpSpPr>
        <p:grpSpPr>
          <a:xfrm>
            <a:off x="2698978" y="3461557"/>
            <a:ext cx="2004075" cy="375666"/>
            <a:chOff x="2072088" y="3504381"/>
            <a:chExt cx="1727351" cy="272548"/>
          </a:xfrm>
        </p:grpSpPr>
        <p:sp>
          <p:nvSpPr>
            <p:cNvPr id="15" name="Right Arrow 14"/>
            <p:cNvSpPr/>
            <p:nvPr/>
          </p:nvSpPr>
          <p:spPr bwMode="auto">
            <a:xfrm>
              <a:off x="2099574" y="3504381"/>
              <a:ext cx="1641586" cy="45719"/>
            </a:xfrm>
            <a:prstGeom prst="rightArrow">
              <a:avLst/>
            </a:prstGeom>
            <a:solidFill>
              <a:srgbClr val="00B0F0"/>
            </a:solidFill>
            <a:ln w="38100" cap="flat" cmpd="sng" algn="ctr">
              <a:solidFill>
                <a:srgbClr val="00B0F0"/>
              </a:solidFill>
              <a:prstDash val="solid"/>
              <a:round/>
              <a:headEnd type="none" w="med" len="med"/>
              <a:tailEnd type="none" w="med" len="med"/>
            </a:ln>
            <a:effectLst>
              <a:outerShdw blurRad="50800" dist="38100" dir="2700000" algn="tl" rotWithShape="0">
                <a:prstClr val="black">
                  <a:alpha val="40000"/>
                </a:prstClr>
              </a:outerShdw>
            </a:effectLst>
          </p:spPr>
          <p:txBody>
            <a:bodyPr rtlCol="0" anchor="ctr"/>
            <a:lstStyle/>
            <a:p>
              <a:pPr algn="ctr"/>
              <a:endParaRPr lang="en-CA" dirty="0"/>
            </a:p>
          </p:txBody>
        </p:sp>
        <p:sp>
          <p:nvSpPr>
            <p:cNvPr id="16" name="TextBox 15"/>
            <p:cNvSpPr txBox="1"/>
            <p:nvPr/>
          </p:nvSpPr>
          <p:spPr>
            <a:xfrm>
              <a:off x="2072088" y="3575965"/>
              <a:ext cx="1727351" cy="200964"/>
            </a:xfrm>
            <a:prstGeom prst="rect">
              <a:avLst/>
            </a:prstGeom>
            <a:noFill/>
          </p:spPr>
          <p:txBody>
            <a:bodyPr wrap="none" rtlCol="0">
              <a:spAutoFit/>
            </a:bodyPr>
            <a:lstStyle/>
            <a:p>
              <a:r>
                <a:rPr lang="en-CA" sz="1200" b="1" dirty="0">
                  <a:solidFill>
                    <a:srgbClr val="404040"/>
                  </a:solidFill>
                  <a:cs typeface="Arial"/>
                </a:rPr>
                <a:t>Username and password</a:t>
              </a:r>
            </a:p>
          </p:txBody>
        </p:sp>
      </p:grpSp>
      <p:cxnSp>
        <p:nvCxnSpPr>
          <p:cNvPr id="17" name="Straight Connector 16"/>
          <p:cNvCxnSpPr/>
          <p:nvPr/>
        </p:nvCxnSpPr>
        <p:spPr bwMode="auto">
          <a:xfrm>
            <a:off x="2395955" y="5429428"/>
            <a:ext cx="3970351" cy="1"/>
          </a:xfrm>
          <a:prstGeom prst="line">
            <a:avLst/>
          </a:prstGeom>
          <a:solidFill>
            <a:schemeClr val="accent2">
              <a:alpha val="42000"/>
            </a:schemeClr>
          </a:solidFill>
          <a:ln w="38100" cap="flat" cmpd="sng" algn="ctr">
            <a:solidFill>
              <a:schemeClr val="bg1">
                <a:lumMod val="50000"/>
              </a:schemeClr>
            </a:solidFill>
            <a:prstDash val="solid"/>
            <a:round/>
            <a:headEnd type="none" w="med" len="med"/>
            <a:tailEnd type="none" w="med" len="med"/>
          </a:ln>
          <a:effectLst>
            <a:outerShdw blurRad="50800" dist="38100" dir="2700000" algn="tl" rotWithShape="0">
              <a:prstClr val="black">
                <a:alpha val="40000"/>
              </a:prstClr>
            </a:outerShdw>
          </a:effectLst>
        </p:spPr>
      </p:cxnSp>
      <p:cxnSp>
        <p:nvCxnSpPr>
          <p:cNvPr id="18" name="Straight Connector 17"/>
          <p:cNvCxnSpPr/>
          <p:nvPr/>
        </p:nvCxnSpPr>
        <p:spPr bwMode="auto">
          <a:xfrm>
            <a:off x="6366306" y="3706487"/>
            <a:ext cx="0" cy="1722941"/>
          </a:xfrm>
          <a:prstGeom prst="line">
            <a:avLst/>
          </a:prstGeom>
          <a:solidFill>
            <a:schemeClr val="accent2">
              <a:alpha val="42000"/>
            </a:schemeClr>
          </a:solidFill>
          <a:ln w="38100" cap="flat" cmpd="sng" algn="ctr">
            <a:solidFill>
              <a:schemeClr val="bg1">
                <a:lumMod val="50000"/>
              </a:schemeClr>
            </a:solidFill>
            <a:prstDash val="solid"/>
            <a:round/>
            <a:headEnd type="none" w="med" len="med"/>
            <a:tailEnd type="none" w="med" len="med"/>
          </a:ln>
          <a:effectLst>
            <a:outerShdw blurRad="50800" dist="38100" dir="2700000" algn="tl" rotWithShape="0">
              <a:prstClr val="black">
                <a:alpha val="40000"/>
              </a:prstClr>
            </a:outerShdw>
          </a:effectLst>
        </p:spPr>
      </p:cxnSp>
      <p:grpSp>
        <p:nvGrpSpPr>
          <p:cNvPr id="19" name="Group 18"/>
          <p:cNvGrpSpPr/>
          <p:nvPr/>
        </p:nvGrpSpPr>
        <p:grpSpPr>
          <a:xfrm>
            <a:off x="4488228" y="4540661"/>
            <a:ext cx="1780890" cy="802758"/>
            <a:chOff x="3752849" y="3875175"/>
            <a:chExt cx="1428749" cy="624010"/>
          </a:xfrm>
        </p:grpSpPr>
        <p:sp>
          <p:nvSpPr>
            <p:cNvPr id="20" name="Right Arrow 19"/>
            <p:cNvSpPr/>
            <p:nvPr/>
          </p:nvSpPr>
          <p:spPr bwMode="auto">
            <a:xfrm rot="10800000">
              <a:off x="3752849" y="4436863"/>
              <a:ext cx="1428749" cy="62322"/>
            </a:xfrm>
            <a:prstGeom prst="rightArrow">
              <a:avLst/>
            </a:prstGeom>
            <a:noFill/>
            <a:ln w="38100" cap="flat" cmpd="sng" algn="ctr">
              <a:solidFill>
                <a:srgbClr val="00B050"/>
              </a:solidFill>
              <a:prstDash val="solid"/>
              <a:round/>
              <a:headEnd type="none" w="med" len="med"/>
              <a:tailEnd type="none" w="med" len="med"/>
            </a:ln>
            <a:effectLst>
              <a:outerShdw blurRad="50800" dist="38100" dir="2700000" algn="tl" rotWithShape="0">
                <a:prstClr val="black">
                  <a:alpha val="40000"/>
                </a:prstClr>
              </a:outerShdw>
            </a:effectLst>
          </p:spPr>
          <p:txBody>
            <a:bodyPr rtlCol="0" anchor="ctr"/>
            <a:lstStyle/>
            <a:p>
              <a:pPr algn="ctr"/>
              <a:endParaRPr lang="en-CA" dirty="0"/>
            </a:p>
          </p:txBody>
        </p:sp>
        <p:pic>
          <p:nvPicPr>
            <p:cNvPr id="21" name="Picture 2"/>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171950" y="3875175"/>
              <a:ext cx="771525" cy="53884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cxnSp>
        <p:nvCxnSpPr>
          <p:cNvPr id="22" name="Straight Connector 21"/>
          <p:cNvCxnSpPr/>
          <p:nvPr/>
        </p:nvCxnSpPr>
        <p:spPr bwMode="auto">
          <a:xfrm>
            <a:off x="6594509" y="3397355"/>
            <a:ext cx="3890099" cy="0"/>
          </a:xfrm>
          <a:prstGeom prst="line">
            <a:avLst/>
          </a:prstGeom>
          <a:solidFill>
            <a:schemeClr val="accent2">
              <a:alpha val="42000"/>
            </a:schemeClr>
          </a:solidFill>
          <a:ln w="38100" cap="flat" cmpd="sng" algn="ctr">
            <a:solidFill>
              <a:schemeClr val="bg1">
                <a:lumMod val="50000"/>
              </a:schemeClr>
            </a:solidFill>
            <a:prstDash val="solid"/>
            <a:round/>
            <a:headEnd type="none" w="med" len="med"/>
            <a:tailEnd type="none" w="med" len="med"/>
          </a:ln>
          <a:effectLst>
            <a:outerShdw blurRad="50800" dist="38100" dir="2700000" algn="tl" rotWithShape="0">
              <a:prstClr val="black">
                <a:alpha val="40000"/>
              </a:prstClr>
            </a:outerShdw>
          </a:effectLst>
        </p:spPr>
      </p:cxnSp>
      <p:pic>
        <p:nvPicPr>
          <p:cNvPr id="23" name="Picture 22"/>
          <p:cNvPicPr>
            <a:picLocks noChangeAspect="1"/>
          </p:cNvPicPr>
          <p:nvPr/>
        </p:nvPicPr>
        <p:blipFill>
          <a:blip r:embed="rId7" cstate="print"/>
          <a:stretch>
            <a:fillRect/>
          </a:stretch>
        </p:blipFill>
        <p:spPr>
          <a:xfrm>
            <a:off x="5602262" y="3043162"/>
            <a:ext cx="1333712" cy="690619"/>
          </a:xfrm>
          <a:prstGeom prst="rect">
            <a:avLst/>
          </a:prstGeom>
        </p:spPr>
      </p:pic>
      <p:pic>
        <p:nvPicPr>
          <p:cNvPr id="24" name="Picture 23"/>
          <p:cNvPicPr>
            <a:picLocks noChangeAspect="1"/>
          </p:cNvPicPr>
          <p:nvPr/>
        </p:nvPicPr>
        <p:blipFill>
          <a:blip r:embed="rId8" cstate="print"/>
          <a:stretch>
            <a:fillRect/>
          </a:stretch>
        </p:blipFill>
        <p:spPr>
          <a:xfrm>
            <a:off x="10484607" y="2561577"/>
            <a:ext cx="929586" cy="1108914"/>
          </a:xfrm>
          <a:prstGeom prst="rect">
            <a:avLst/>
          </a:prstGeom>
        </p:spPr>
      </p:pic>
      <p:grpSp>
        <p:nvGrpSpPr>
          <p:cNvPr id="25" name="Group 24"/>
          <p:cNvGrpSpPr/>
          <p:nvPr/>
        </p:nvGrpSpPr>
        <p:grpSpPr>
          <a:xfrm>
            <a:off x="2738178" y="5524623"/>
            <a:ext cx="2004075" cy="313890"/>
            <a:chOff x="2714473" y="4671156"/>
            <a:chExt cx="2004075" cy="418519"/>
          </a:xfrm>
        </p:grpSpPr>
        <p:sp>
          <p:nvSpPr>
            <p:cNvPr id="26" name="Right Arrow 25"/>
            <p:cNvSpPr/>
            <p:nvPr/>
          </p:nvSpPr>
          <p:spPr bwMode="auto">
            <a:xfrm>
              <a:off x="2819399" y="4671156"/>
              <a:ext cx="1476375" cy="66471"/>
            </a:xfrm>
            <a:prstGeom prst="rightArrow">
              <a:avLst/>
            </a:prstGeom>
            <a:noFill/>
            <a:ln w="38100" cap="flat" cmpd="sng" algn="ctr">
              <a:solidFill>
                <a:srgbClr val="00B050"/>
              </a:solidFill>
              <a:prstDash val="solid"/>
              <a:round/>
              <a:headEnd type="none" w="med" len="med"/>
              <a:tailEnd type="none" w="med" len="med"/>
            </a:ln>
            <a:effectLst>
              <a:outerShdw blurRad="50800" dist="38100" dir="2700000" algn="tl" rotWithShape="0">
                <a:prstClr val="black">
                  <a:alpha val="40000"/>
                </a:prstClr>
              </a:outerShdw>
            </a:effectLst>
          </p:spPr>
          <p:txBody>
            <a:bodyPr rtlCol="0" anchor="ctr"/>
            <a:lstStyle/>
            <a:p>
              <a:pPr algn="ctr"/>
              <a:endParaRPr lang="en-CA" dirty="0"/>
            </a:p>
          </p:txBody>
        </p:sp>
        <p:sp>
          <p:nvSpPr>
            <p:cNvPr id="27" name="TextBox 26"/>
            <p:cNvSpPr txBox="1"/>
            <p:nvPr/>
          </p:nvSpPr>
          <p:spPr>
            <a:xfrm>
              <a:off x="2714473" y="4720344"/>
              <a:ext cx="2004075" cy="369331"/>
            </a:xfrm>
            <a:prstGeom prst="rect">
              <a:avLst/>
            </a:prstGeom>
            <a:noFill/>
          </p:spPr>
          <p:txBody>
            <a:bodyPr wrap="none" rtlCol="0">
              <a:spAutoFit/>
            </a:bodyPr>
            <a:lstStyle/>
            <a:p>
              <a:r>
                <a:rPr lang="en-CA" sz="1200" b="1" dirty="0">
                  <a:solidFill>
                    <a:srgbClr val="404040"/>
                  </a:solidFill>
                  <a:cs typeface="Arial"/>
                </a:rPr>
                <a:t>Username and password</a:t>
              </a:r>
            </a:p>
          </p:txBody>
        </p:sp>
      </p:grpSp>
      <p:sp>
        <p:nvSpPr>
          <p:cNvPr id="28" name="Oval 27"/>
          <p:cNvSpPr/>
          <p:nvPr/>
        </p:nvSpPr>
        <p:spPr bwMode="auto">
          <a:xfrm>
            <a:off x="2417226" y="5549549"/>
            <a:ext cx="313641" cy="221780"/>
          </a:xfrm>
          <a:prstGeom prst="ellipse">
            <a:avLst/>
          </a:prstGeom>
          <a:solidFill>
            <a:srgbClr val="00B050"/>
          </a:solidFill>
          <a:ln w="38100" cap="flat" cmpd="sng" algn="ctr">
            <a:solidFill>
              <a:srgbClr val="00B050"/>
            </a:solidFill>
            <a:prstDash val="solid"/>
            <a:round/>
            <a:headEnd type="none" w="med" len="med"/>
            <a:tailEnd type="none" w="med" len="med"/>
          </a:ln>
          <a:effectLst>
            <a:outerShdw blurRad="50800" dist="38100" dir="2700000" algn="tl" rotWithShape="0">
              <a:prstClr val="black">
                <a:alpha val="40000"/>
              </a:prstClr>
            </a:outerShdw>
          </a:effectLst>
        </p:spPr>
        <p:txBody>
          <a:bodyPr rtlCol="0" anchor="ctr"/>
          <a:lstStyle/>
          <a:p>
            <a:pPr algn="ctr"/>
            <a:r>
              <a:rPr lang="en-CA" dirty="0">
                <a:solidFill>
                  <a:schemeClr val="bg1"/>
                </a:solidFill>
              </a:rPr>
              <a:t>2</a:t>
            </a:r>
          </a:p>
        </p:txBody>
      </p:sp>
      <p:sp>
        <p:nvSpPr>
          <p:cNvPr id="29" name="Oval 28"/>
          <p:cNvSpPr/>
          <p:nvPr/>
        </p:nvSpPr>
        <p:spPr bwMode="auto">
          <a:xfrm>
            <a:off x="6011207" y="5052597"/>
            <a:ext cx="251175" cy="185354"/>
          </a:xfrm>
          <a:prstGeom prst="ellipse">
            <a:avLst/>
          </a:prstGeom>
          <a:solidFill>
            <a:srgbClr val="00B050"/>
          </a:solidFill>
          <a:ln w="38100" cap="flat" cmpd="sng" algn="ctr">
            <a:solidFill>
              <a:srgbClr val="00B050"/>
            </a:solidFill>
            <a:prstDash val="solid"/>
            <a:round/>
            <a:headEnd type="none" w="med" len="med"/>
            <a:tailEnd type="none" w="med" len="med"/>
          </a:ln>
          <a:effectLst>
            <a:outerShdw blurRad="50800" dist="38100" dir="2700000" algn="tl" rotWithShape="0">
              <a:prstClr val="black">
                <a:alpha val="40000"/>
              </a:prstClr>
            </a:outerShdw>
          </a:effectLst>
        </p:spPr>
        <p:txBody>
          <a:bodyPr rtlCol="0" anchor="ctr"/>
          <a:lstStyle/>
          <a:p>
            <a:pPr algn="ctr"/>
            <a:r>
              <a:rPr lang="en-CA" dirty="0">
                <a:solidFill>
                  <a:schemeClr val="bg1"/>
                </a:solidFill>
              </a:rPr>
              <a:t>1</a:t>
            </a:r>
          </a:p>
        </p:txBody>
      </p:sp>
      <p:sp>
        <p:nvSpPr>
          <p:cNvPr id="30" name="Oval 29"/>
          <p:cNvSpPr/>
          <p:nvPr/>
        </p:nvSpPr>
        <p:spPr bwMode="auto">
          <a:xfrm>
            <a:off x="2395955" y="3506625"/>
            <a:ext cx="298261" cy="213510"/>
          </a:xfrm>
          <a:prstGeom prst="ellipse">
            <a:avLst/>
          </a:prstGeom>
          <a:solidFill>
            <a:srgbClr val="00B0F0"/>
          </a:solidFill>
          <a:ln w="38100"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rtlCol="0" anchor="ctr"/>
          <a:lstStyle/>
          <a:p>
            <a:pPr algn="ctr"/>
            <a:r>
              <a:rPr lang="en-CA" dirty="0">
                <a:solidFill>
                  <a:schemeClr val="bg1"/>
                </a:solidFill>
              </a:rPr>
              <a:t>2</a:t>
            </a:r>
          </a:p>
        </p:txBody>
      </p:sp>
      <p:sp>
        <p:nvSpPr>
          <p:cNvPr id="31" name="Oval 30"/>
          <p:cNvSpPr/>
          <p:nvPr/>
        </p:nvSpPr>
        <p:spPr bwMode="auto">
          <a:xfrm>
            <a:off x="5251055" y="2977919"/>
            <a:ext cx="279619" cy="181335"/>
          </a:xfrm>
          <a:prstGeom prst="ellipse">
            <a:avLst/>
          </a:prstGeom>
          <a:solidFill>
            <a:srgbClr val="00B0F0"/>
          </a:solidFill>
          <a:ln w="38100"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rtlCol="0" anchor="ctr"/>
          <a:lstStyle/>
          <a:p>
            <a:pPr algn="ctr"/>
            <a:r>
              <a:rPr lang="en-CA" dirty="0">
                <a:solidFill>
                  <a:schemeClr val="bg1"/>
                </a:solidFill>
              </a:rPr>
              <a:t>1</a:t>
            </a:r>
          </a:p>
        </p:txBody>
      </p:sp>
      <p:sp>
        <p:nvSpPr>
          <p:cNvPr id="32" name="Oval 31"/>
          <p:cNvSpPr/>
          <p:nvPr/>
        </p:nvSpPr>
        <p:spPr bwMode="auto">
          <a:xfrm>
            <a:off x="6923403" y="2735736"/>
            <a:ext cx="310974" cy="206697"/>
          </a:xfrm>
          <a:prstGeom prst="ellipse">
            <a:avLst/>
          </a:prstGeom>
          <a:solidFill>
            <a:srgbClr val="00B050"/>
          </a:solidFill>
          <a:ln w="38100" cap="flat" cmpd="sng" algn="ctr">
            <a:solidFill>
              <a:srgbClr val="00B050"/>
            </a:solidFill>
            <a:prstDash val="solid"/>
            <a:round/>
            <a:headEnd type="none" w="med" len="med"/>
            <a:tailEnd type="none" w="med" len="med"/>
          </a:ln>
          <a:effectLst>
            <a:outerShdw blurRad="50800" dist="38100" dir="2700000" algn="tl" rotWithShape="0">
              <a:prstClr val="black">
                <a:alpha val="40000"/>
              </a:prstClr>
            </a:outerShdw>
          </a:effectLst>
        </p:spPr>
        <p:txBody>
          <a:bodyPr rtlCol="0" anchor="ctr"/>
          <a:lstStyle/>
          <a:p>
            <a:pPr algn="ctr"/>
            <a:r>
              <a:rPr lang="en-CA" dirty="0">
                <a:solidFill>
                  <a:schemeClr val="bg1"/>
                </a:solidFill>
              </a:rPr>
              <a:t>3</a:t>
            </a:r>
          </a:p>
        </p:txBody>
      </p:sp>
      <p:sp>
        <p:nvSpPr>
          <p:cNvPr id="33" name="Oval 32"/>
          <p:cNvSpPr/>
          <p:nvPr/>
        </p:nvSpPr>
        <p:spPr bwMode="auto">
          <a:xfrm>
            <a:off x="10047146" y="3619676"/>
            <a:ext cx="295427" cy="209413"/>
          </a:xfrm>
          <a:prstGeom prst="ellipse">
            <a:avLst/>
          </a:prstGeom>
          <a:solidFill>
            <a:srgbClr val="00B050"/>
          </a:solidFill>
          <a:ln w="38100" cap="flat" cmpd="sng" algn="ctr">
            <a:solidFill>
              <a:srgbClr val="00B050"/>
            </a:solidFill>
            <a:prstDash val="solid"/>
            <a:round/>
            <a:headEnd type="none" w="med" len="med"/>
            <a:tailEnd type="none" w="med" len="med"/>
          </a:ln>
          <a:effectLst>
            <a:outerShdw blurRad="50800" dist="38100" dir="2700000" algn="tl" rotWithShape="0">
              <a:prstClr val="black">
                <a:alpha val="40000"/>
              </a:prstClr>
            </a:outerShdw>
          </a:effectLst>
        </p:spPr>
        <p:txBody>
          <a:bodyPr rtlCol="0" anchor="ctr"/>
          <a:lstStyle/>
          <a:p>
            <a:pPr algn="ctr"/>
            <a:r>
              <a:rPr lang="en-CA" dirty="0">
                <a:solidFill>
                  <a:schemeClr val="bg1"/>
                </a:solidFill>
              </a:rPr>
              <a:t>4</a:t>
            </a:r>
          </a:p>
        </p:txBody>
      </p:sp>
      <p:grpSp>
        <p:nvGrpSpPr>
          <p:cNvPr id="34" name="Group 33"/>
          <p:cNvGrpSpPr/>
          <p:nvPr/>
        </p:nvGrpSpPr>
        <p:grpSpPr>
          <a:xfrm>
            <a:off x="6661184" y="2923488"/>
            <a:ext cx="2449260" cy="326672"/>
            <a:chOff x="5821674" y="2805605"/>
            <a:chExt cx="2449260" cy="435562"/>
          </a:xfrm>
        </p:grpSpPr>
        <p:sp>
          <p:nvSpPr>
            <p:cNvPr id="35" name="Right Arrow 34"/>
            <p:cNvSpPr/>
            <p:nvPr/>
          </p:nvSpPr>
          <p:spPr bwMode="auto">
            <a:xfrm>
              <a:off x="5862523" y="3180208"/>
              <a:ext cx="2296665" cy="60959"/>
            </a:xfrm>
            <a:prstGeom prst="rightArrow">
              <a:avLst/>
            </a:prstGeom>
            <a:noFill/>
            <a:ln w="38100" cap="flat" cmpd="sng" algn="ctr">
              <a:solidFill>
                <a:srgbClr val="00B050"/>
              </a:solidFill>
              <a:prstDash val="solid"/>
              <a:round/>
              <a:headEnd type="none" w="med" len="med"/>
              <a:tailEnd type="none" w="med" len="med"/>
            </a:ln>
            <a:effectLst>
              <a:outerShdw blurRad="50800" dist="38100" dir="2700000" algn="tl" rotWithShape="0">
                <a:prstClr val="black">
                  <a:alpha val="40000"/>
                </a:prstClr>
              </a:outerShdw>
            </a:effectLst>
          </p:spPr>
          <p:txBody>
            <a:bodyPr rtlCol="0" anchor="ctr"/>
            <a:lstStyle/>
            <a:p>
              <a:pPr algn="ctr"/>
              <a:endParaRPr lang="en-CA" dirty="0"/>
            </a:p>
          </p:txBody>
        </p:sp>
        <p:sp>
          <p:nvSpPr>
            <p:cNvPr id="36" name="TextBox 35"/>
            <p:cNvSpPr txBox="1"/>
            <p:nvPr/>
          </p:nvSpPr>
          <p:spPr>
            <a:xfrm>
              <a:off x="5821674" y="2805605"/>
              <a:ext cx="2449260" cy="369331"/>
            </a:xfrm>
            <a:prstGeom prst="rect">
              <a:avLst/>
            </a:prstGeom>
            <a:noFill/>
          </p:spPr>
          <p:txBody>
            <a:bodyPr wrap="none" rtlCol="0">
              <a:spAutoFit/>
            </a:bodyPr>
            <a:lstStyle/>
            <a:p>
              <a:r>
                <a:rPr lang="en-CA" sz="1200" b="1" dirty="0">
                  <a:solidFill>
                    <a:srgbClr val="404040"/>
                  </a:solidFill>
                  <a:cs typeface="Arial"/>
                </a:rPr>
                <a:t>Verify username and password</a:t>
              </a:r>
            </a:p>
          </p:txBody>
        </p:sp>
      </p:grpSp>
      <p:grpSp>
        <p:nvGrpSpPr>
          <p:cNvPr id="37" name="Group 36"/>
          <p:cNvGrpSpPr/>
          <p:nvPr/>
        </p:nvGrpSpPr>
        <p:grpSpPr>
          <a:xfrm>
            <a:off x="8954097" y="3533443"/>
            <a:ext cx="1093049" cy="346087"/>
            <a:chOff x="6848274" y="3527240"/>
            <a:chExt cx="1093049" cy="461449"/>
          </a:xfrm>
        </p:grpSpPr>
        <p:sp>
          <p:nvSpPr>
            <p:cNvPr id="38" name="Right Arrow 37"/>
            <p:cNvSpPr/>
            <p:nvPr/>
          </p:nvSpPr>
          <p:spPr bwMode="auto">
            <a:xfrm rot="10800000">
              <a:off x="6848274" y="3527240"/>
              <a:ext cx="1093049" cy="62321"/>
            </a:xfrm>
            <a:prstGeom prst="rightArrow">
              <a:avLst/>
            </a:prstGeom>
            <a:noFill/>
            <a:ln w="38100" cap="flat" cmpd="sng" algn="ctr">
              <a:solidFill>
                <a:srgbClr val="00B050"/>
              </a:solidFill>
              <a:prstDash val="solid"/>
              <a:round/>
              <a:headEnd type="none" w="med" len="med"/>
              <a:tailEnd type="none" w="med" len="med"/>
            </a:ln>
            <a:effectLst>
              <a:outerShdw blurRad="50800" dist="38100" dir="2700000" algn="tl" rotWithShape="0">
                <a:prstClr val="black">
                  <a:alpha val="40000"/>
                </a:prstClr>
              </a:outerShdw>
            </a:effectLst>
          </p:spPr>
          <p:txBody>
            <a:bodyPr rtlCol="0" anchor="ctr"/>
            <a:lstStyle/>
            <a:p>
              <a:pPr algn="ctr"/>
              <a:endParaRPr lang="en-CA" dirty="0"/>
            </a:p>
          </p:txBody>
        </p:sp>
        <p:sp>
          <p:nvSpPr>
            <p:cNvPr id="39" name="TextBox 38"/>
            <p:cNvSpPr txBox="1"/>
            <p:nvPr/>
          </p:nvSpPr>
          <p:spPr>
            <a:xfrm>
              <a:off x="7045788" y="3619357"/>
              <a:ext cx="740459" cy="369332"/>
            </a:xfrm>
            <a:prstGeom prst="rect">
              <a:avLst/>
            </a:prstGeom>
            <a:noFill/>
          </p:spPr>
          <p:txBody>
            <a:bodyPr wrap="none" rtlCol="0">
              <a:spAutoFit/>
            </a:bodyPr>
            <a:lstStyle/>
            <a:p>
              <a:r>
                <a:rPr lang="en-CA" sz="1200" b="1" dirty="0">
                  <a:solidFill>
                    <a:srgbClr val="404040"/>
                  </a:solidFill>
                  <a:cs typeface="Arial"/>
                </a:rPr>
                <a:t>Verified</a:t>
              </a:r>
            </a:p>
          </p:txBody>
        </p:sp>
      </p:grpSp>
      <p:sp>
        <p:nvSpPr>
          <p:cNvPr id="40" name="Rectangle 39"/>
          <p:cNvSpPr>
            <a:spLocks noChangeArrowheads="1"/>
          </p:cNvSpPr>
          <p:nvPr/>
        </p:nvSpPr>
        <p:spPr bwMode="auto">
          <a:xfrm>
            <a:off x="735249" y="3613380"/>
            <a:ext cx="1079143" cy="307777"/>
          </a:xfrm>
          <a:prstGeom prst="rect">
            <a:avLst/>
          </a:prstGeom>
          <a:solidFill>
            <a:srgbClr val="00B0F0"/>
          </a:solidFill>
          <a:ln>
            <a:noFill/>
          </a:ln>
          <a:effectLst/>
        </p:spPr>
        <p:txBody>
          <a:bodyPr wrap="none" anchor="ctr">
            <a:spAutoFit/>
          </a:bodyPr>
          <a:lstStyle/>
          <a:p>
            <a:pPr algn="ctr" eaLnBrk="0" hangingPunct="0"/>
            <a:r>
              <a:rPr lang="en-US" sz="1400" b="1" dirty="0"/>
              <a:t>Local user</a:t>
            </a:r>
          </a:p>
        </p:txBody>
      </p:sp>
      <p:sp>
        <p:nvSpPr>
          <p:cNvPr id="41" name="Rectangle 40"/>
          <p:cNvSpPr>
            <a:spLocks noChangeArrowheads="1"/>
          </p:cNvSpPr>
          <p:nvPr/>
        </p:nvSpPr>
        <p:spPr bwMode="auto">
          <a:xfrm>
            <a:off x="1015574" y="5799901"/>
            <a:ext cx="1269899" cy="307777"/>
          </a:xfrm>
          <a:prstGeom prst="rect">
            <a:avLst/>
          </a:prstGeom>
          <a:solidFill>
            <a:srgbClr val="00B050"/>
          </a:solidFill>
          <a:ln>
            <a:noFill/>
          </a:ln>
          <a:effectLst/>
        </p:spPr>
        <p:txBody>
          <a:bodyPr wrap="none" anchor="ctr">
            <a:spAutoFit/>
          </a:bodyPr>
          <a:lstStyle/>
          <a:p>
            <a:pPr algn="ctr" eaLnBrk="0" hangingPunct="0"/>
            <a:r>
              <a:rPr lang="en-US" sz="1400" b="1" dirty="0"/>
              <a:t>Remote user</a:t>
            </a:r>
          </a:p>
        </p:txBody>
      </p:sp>
      <p:sp>
        <p:nvSpPr>
          <p:cNvPr id="42" name="TextBox 41"/>
          <p:cNvSpPr txBox="1"/>
          <p:nvPr/>
        </p:nvSpPr>
        <p:spPr>
          <a:xfrm>
            <a:off x="10565657" y="3676342"/>
            <a:ext cx="1479294" cy="523220"/>
          </a:xfrm>
          <a:prstGeom prst="rect">
            <a:avLst/>
          </a:prstGeom>
          <a:noFill/>
        </p:spPr>
        <p:txBody>
          <a:bodyPr wrap="square" rtlCol="0">
            <a:spAutoFit/>
          </a:bodyPr>
          <a:lstStyle/>
          <a:p>
            <a:r>
              <a:rPr lang="en-CA" sz="1400" b="1" dirty="0">
                <a:solidFill>
                  <a:srgbClr val="404040"/>
                </a:solidFill>
                <a:cs typeface="Arial"/>
              </a:rPr>
              <a:t>Authentication Server</a:t>
            </a:r>
          </a:p>
        </p:txBody>
      </p:sp>
      <p:pic>
        <p:nvPicPr>
          <p:cNvPr id="43" name="Picture 42"/>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5796793" y="2554705"/>
            <a:ext cx="472326" cy="375675"/>
          </a:xfrm>
          <a:prstGeom prst="rect">
            <a:avLst/>
          </a:prstGeom>
        </p:spPr>
      </p:pic>
      <p:pic>
        <p:nvPicPr>
          <p:cNvPr id="44" name="Picture 43"/>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0597683" y="2141072"/>
            <a:ext cx="495114" cy="393801"/>
          </a:xfrm>
          <a:prstGeom prst="rect">
            <a:avLst/>
          </a:prstGeom>
        </p:spPr>
      </p:pic>
      <p:pic>
        <p:nvPicPr>
          <p:cNvPr id="7" name="Picture 6"/>
          <p:cNvPicPr>
            <a:picLocks noChangeAspect="1"/>
          </p:cNvPicPr>
          <p:nvPr/>
        </p:nvPicPr>
        <p:blipFill>
          <a:blip r:embed="rId10" cstate="print"/>
          <a:stretch>
            <a:fillRect/>
          </a:stretch>
        </p:blipFill>
        <p:spPr>
          <a:xfrm flipH="1">
            <a:off x="1586780" y="2858597"/>
            <a:ext cx="809175" cy="648028"/>
          </a:xfrm>
          <a:prstGeom prst="rect">
            <a:avLst/>
          </a:prstGeom>
        </p:spPr>
      </p:pic>
      <p:pic>
        <p:nvPicPr>
          <p:cNvPr id="9" name="Picture 8"/>
          <p:cNvPicPr>
            <a:picLocks noChangeAspect="1"/>
          </p:cNvPicPr>
          <p:nvPr/>
        </p:nvPicPr>
        <p:blipFill>
          <a:blip r:embed="rId10" cstate="print"/>
          <a:stretch>
            <a:fillRect/>
          </a:stretch>
        </p:blipFill>
        <p:spPr>
          <a:xfrm flipH="1">
            <a:off x="1729290" y="4944439"/>
            <a:ext cx="864335" cy="692203"/>
          </a:xfrm>
          <a:prstGeom prst="rect">
            <a:avLst/>
          </a:prstGeom>
        </p:spPr>
      </p:pic>
    </p:spTree>
    <p:custDataLst>
      <p:tags r:id="rId1"/>
    </p:custDataLst>
    <p:extLst>
      <p:ext uri="{BB962C8B-B14F-4D97-AF65-F5344CB8AC3E}">
        <p14:creationId xmlns:p14="http://schemas.microsoft.com/office/powerpoint/2010/main" val="2849120557"/>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40"/>
                                        </p:tgtEl>
                                        <p:attrNameLst>
                                          <p:attrName>style.visibility</p:attrName>
                                        </p:attrNameLst>
                                      </p:cBhvr>
                                      <p:to>
                                        <p:strVal val="visible"/>
                                      </p:to>
                                    </p:set>
                                    <p:anim calcmode="lin" valueType="num">
                                      <p:cBhvr>
                                        <p:cTn id="7" dur="500" fill="hold"/>
                                        <p:tgtEl>
                                          <p:spTgt spid="40"/>
                                        </p:tgtEl>
                                        <p:attrNameLst>
                                          <p:attrName>ppt_w</p:attrName>
                                        </p:attrNameLst>
                                      </p:cBhvr>
                                      <p:tavLst>
                                        <p:tav tm="0">
                                          <p:val>
                                            <p:fltVal val="0"/>
                                          </p:val>
                                        </p:tav>
                                        <p:tav tm="100000">
                                          <p:val>
                                            <p:strVal val="#ppt_w"/>
                                          </p:val>
                                        </p:tav>
                                      </p:tavLst>
                                    </p:anim>
                                    <p:anim calcmode="lin" valueType="num">
                                      <p:cBhvr>
                                        <p:cTn id="8" dur="500" fill="hold"/>
                                        <p:tgtEl>
                                          <p:spTgt spid="40"/>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ID="53" presetClass="entr" presetSubtype="16" fill="hold" grpId="0" nodeType="afterEffect">
                                  <p:stCondLst>
                                    <p:cond delay="0"/>
                                  </p:stCondLst>
                                  <p:childTnLst>
                                    <p:set>
                                      <p:cBhvr>
                                        <p:cTn id="11" dur="1" fill="hold">
                                          <p:stCondLst>
                                            <p:cond delay="0"/>
                                          </p:stCondLst>
                                        </p:cTn>
                                        <p:tgtEl>
                                          <p:spTgt spid="31"/>
                                        </p:tgtEl>
                                        <p:attrNameLst>
                                          <p:attrName>style.visibility</p:attrName>
                                        </p:attrNameLst>
                                      </p:cBhvr>
                                      <p:to>
                                        <p:strVal val="visible"/>
                                      </p:to>
                                    </p:set>
                                    <p:anim calcmode="lin" valueType="num">
                                      <p:cBhvr>
                                        <p:cTn id="12" dur="500" fill="hold"/>
                                        <p:tgtEl>
                                          <p:spTgt spid="31"/>
                                        </p:tgtEl>
                                        <p:attrNameLst>
                                          <p:attrName>ppt_w</p:attrName>
                                        </p:attrNameLst>
                                      </p:cBhvr>
                                      <p:tavLst>
                                        <p:tav tm="0">
                                          <p:val>
                                            <p:fltVal val="0"/>
                                          </p:val>
                                        </p:tav>
                                        <p:tav tm="100000">
                                          <p:val>
                                            <p:strVal val="#ppt_w"/>
                                          </p:val>
                                        </p:tav>
                                      </p:tavLst>
                                    </p:anim>
                                    <p:anim calcmode="lin" valueType="num">
                                      <p:cBhvr>
                                        <p:cTn id="13" dur="500" fill="hold"/>
                                        <p:tgtEl>
                                          <p:spTgt spid="31"/>
                                        </p:tgtEl>
                                        <p:attrNameLst>
                                          <p:attrName>ppt_h</p:attrName>
                                        </p:attrNameLst>
                                      </p:cBhvr>
                                      <p:tavLst>
                                        <p:tav tm="0">
                                          <p:val>
                                            <p:fltVal val="0"/>
                                          </p:val>
                                        </p:tav>
                                        <p:tav tm="100000">
                                          <p:val>
                                            <p:strVal val="#ppt_h"/>
                                          </p:val>
                                        </p:tav>
                                      </p:tavLst>
                                    </p:anim>
                                    <p:animEffect transition="in" filter="fade">
                                      <p:cBhvr>
                                        <p:cTn id="14" dur="500"/>
                                        <p:tgtEl>
                                          <p:spTgt spid="31"/>
                                        </p:tgtEl>
                                      </p:cBhvr>
                                    </p:animEffect>
                                  </p:childTnLst>
                                </p:cTn>
                              </p:par>
                            </p:childTnLst>
                          </p:cTn>
                        </p:par>
                        <p:par>
                          <p:cTn id="15" fill="hold">
                            <p:stCondLst>
                              <p:cond delay="1000"/>
                            </p:stCondLst>
                            <p:childTnLst>
                              <p:par>
                                <p:cTn id="16" presetID="42" presetClass="path" presetSubtype="0" accel="50000" decel="50000" fill="hold" nodeType="afterEffect">
                                  <p:stCondLst>
                                    <p:cond delay="0"/>
                                  </p:stCondLst>
                                  <p:childTnLst>
                                    <p:animMotion origin="layout" path="M -2.21672E-6 -4.07407E-6 L -0.11643 0.00324 " pathEditMode="relative" rAng="0" ptsTypes="AA">
                                      <p:cBhvr>
                                        <p:cTn id="17" dur="2000" fill="hold"/>
                                        <p:tgtEl>
                                          <p:spTgt spid="11"/>
                                        </p:tgtEl>
                                        <p:attrNameLst>
                                          <p:attrName>ppt_x</p:attrName>
                                          <p:attrName>ppt_y</p:attrName>
                                        </p:attrNameLst>
                                      </p:cBhvr>
                                      <p:rCtr x="-5822" y="162"/>
                                    </p:animMotion>
                                  </p:childTnLst>
                                </p:cTn>
                              </p:par>
                            </p:childTnLst>
                          </p:cTn>
                        </p:par>
                        <p:par>
                          <p:cTn id="18" fill="hold">
                            <p:stCondLst>
                              <p:cond delay="3000"/>
                            </p:stCondLst>
                            <p:childTnLst>
                              <p:par>
                                <p:cTn id="19" presetID="53" presetClass="entr" presetSubtype="16" fill="hold" grpId="0" nodeType="afterEffect">
                                  <p:stCondLst>
                                    <p:cond delay="0"/>
                                  </p:stCondLst>
                                  <p:childTnLst>
                                    <p:set>
                                      <p:cBhvr>
                                        <p:cTn id="20" dur="1" fill="hold">
                                          <p:stCondLst>
                                            <p:cond delay="0"/>
                                          </p:stCondLst>
                                        </p:cTn>
                                        <p:tgtEl>
                                          <p:spTgt spid="30"/>
                                        </p:tgtEl>
                                        <p:attrNameLst>
                                          <p:attrName>style.visibility</p:attrName>
                                        </p:attrNameLst>
                                      </p:cBhvr>
                                      <p:to>
                                        <p:strVal val="visible"/>
                                      </p:to>
                                    </p:set>
                                    <p:anim calcmode="lin" valueType="num">
                                      <p:cBhvr>
                                        <p:cTn id="21" dur="500" fill="hold"/>
                                        <p:tgtEl>
                                          <p:spTgt spid="30"/>
                                        </p:tgtEl>
                                        <p:attrNameLst>
                                          <p:attrName>ppt_w</p:attrName>
                                        </p:attrNameLst>
                                      </p:cBhvr>
                                      <p:tavLst>
                                        <p:tav tm="0">
                                          <p:val>
                                            <p:fltVal val="0"/>
                                          </p:val>
                                        </p:tav>
                                        <p:tav tm="100000">
                                          <p:val>
                                            <p:strVal val="#ppt_w"/>
                                          </p:val>
                                        </p:tav>
                                      </p:tavLst>
                                    </p:anim>
                                    <p:anim calcmode="lin" valueType="num">
                                      <p:cBhvr>
                                        <p:cTn id="22" dur="500" fill="hold"/>
                                        <p:tgtEl>
                                          <p:spTgt spid="30"/>
                                        </p:tgtEl>
                                        <p:attrNameLst>
                                          <p:attrName>ppt_h</p:attrName>
                                        </p:attrNameLst>
                                      </p:cBhvr>
                                      <p:tavLst>
                                        <p:tav tm="0">
                                          <p:val>
                                            <p:fltVal val="0"/>
                                          </p:val>
                                        </p:tav>
                                        <p:tav tm="100000">
                                          <p:val>
                                            <p:strVal val="#ppt_h"/>
                                          </p:val>
                                        </p:tav>
                                      </p:tavLst>
                                    </p:anim>
                                    <p:animEffect transition="in" filter="fade">
                                      <p:cBhvr>
                                        <p:cTn id="23" dur="500"/>
                                        <p:tgtEl>
                                          <p:spTgt spid="30"/>
                                        </p:tgtEl>
                                      </p:cBhvr>
                                    </p:animEffect>
                                  </p:childTnLst>
                                </p:cTn>
                              </p:par>
                            </p:childTnLst>
                          </p:cTn>
                        </p:par>
                        <p:par>
                          <p:cTn id="24" fill="hold">
                            <p:stCondLst>
                              <p:cond delay="3500"/>
                            </p:stCondLst>
                            <p:childTnLst>
                              <p:par>
                                <p:cTn id="25" presetID="42" presetClass="path" presetSubtype="0" accel="50000" decel="50000" fill="hold" nodeType="afterEffect">
                                  <p:stCondLst>
                                    <p:cond delay="0"/>
                                  </p:stCondLst>
                                  <p:childTnLst>
                                    <p:animMotion origin="layout" path="M -4.68612E-6 4.07407E-6 L 0.09391 0.00254 " pathEditMode="relative" rAng="0" ptsTypes="AA">
                                      <p:cBhvr>
                                        <p:cTn id="26" dur="2000" fill="hold"/>
                                        <p:tgtEl>
                                          <p:spTgt spid="14"/>
                                        </p:tgtEl>
                                        <p:attrNameLst>
                                          <p:attrName>ppt_x</p:attrName>
                                          <p:attrName>ppt_y</p:attrName>
                                        </p:attrNameLst>
                                      </p:cBhvr>
                                      <p:rCtr x="4689" y="116"/>
                                    </p:animMotion>
                                  </p:childTnLst>
                                </p:cTn>
                              </p:par>
                            </p:childTnLst>
                          </p:cTn>
                        </p:par>
                        <p:par>
                          <p:cTn id="27" fill="hold">
                            <p:stCondLst>
                              <p:cond delay="5500"/>
                            </p:stCondLst>
                            <p:childTnLst>
                              <p:par>
                                <p:cTn id="28" presetID="53" presetClass="entr" presetSubtype="16" fill="hold" nodeType="afterEffect">
                                  <p:stCondLst>
                                    <p:cond delay="0"/>
                                  </p:stCondLst>
                                  <p:childTnLst>
                                    <p:set>
                                      <p:cBhvr>
                                        <p:cTn id="29" dur="1" fill="hold">
                                          <p:stCondLst>
                                            <p:cond delay="0"/>
                                          </p:stCondLst>
                                        </p:cTn>
                                        <p:tgtEl>
                                          <p:spTgt spid="43"/>
                                        </p:tgtEl>
                                        <p:attrNameLst>
                                          <p:attrName>style.visibility</p:attrName>
                                        </p:attrNameLst>
                                      </p:cBhvr>
                                      <p:to>
                                        <p:strVal val="visible"/>
                                      </p:to>
                                    </p:set>
                                    <p:anim calcmode="lin" valueType="num">
                                      <p:cBhvr>
                                        <p:cTn id="30" dur="500" fill="hold"/>
                                        <p:tgtEl>
                                          <p:spTgt spid="43"/>
                                        </p:tgtEl>
                                        <p:attrNameLst>
                                          <p:attrName>ppt_w</p:attrName>
                                        </p:attrNameLst>
                                      </p:cBhvr>
                                      <p:tavLst>
                                        <p:tav tm="0">
                                          <p:val>
                                            <p:fltVal val="0"/>
                                          </p:val>
                                        </p:tav>
                                        <p:tav tm="100000">
                                          <p:val>
                                            <p:strVal val="#ppt_w"/>
                                          </p:val>
                                        </p:tav>
                                      </p:tavLst>
                                    </p:anim>
                                    <p:anim calcmode="lin" valueType="num">
                                      <p:cBhvr>
                                        <p:cTn id="31" dur="500" fill="hold"/>
                                        <p:tgtEl>
                                          <p:spTgt spid="43"/>
                                        </p:tgtEl>
                                        <p:attrNameLst>
                                          <p:attrName>ppt_h</p:attrName>
                                        </p:attrNameLst>
                                      </p:cBhvr>
                                      <p:tavLst>
                                        <p:tav tm="0">
                                          <p:val>
                                            <p:fltVal val="0"/>
                                          </p:val>
                                        </p:tav>
                                        <p:tav tm="100000">
                                          <p:val>
                                            <p:strVal val="#ppt_h"/>
                                          </p:val>
                                        </p:tav>
                                      </p:tavLst>
                                    </p:anim>
                                    <p:animEffect transition="in" filter="fade">
                                      <p:cBhvr>
                                        <p:cTn id="32" dur="500"/>
                                        <p:tgtEl>
                                          <p:spTgt spid="43"/>
                                        </p:tgtEl>
                                      </p:cBhvr>
                                    </p:animEffect>
                                  </p:childTnLst>
                                </p:cTn>
                              </p:par>
                            </p:childTnLst>
                          </p:cTn>
                        </p:par>
                        <p:par>
                          <p:cTn id="33" fill="hold">
                            <p:stCondLst>
                              <p:cond delay="6000"/>
                            </p:stCondLst>
                            <p:childTnLst>
                              <p:par>
                                <p:cTn id="34" presetID="23" presetClass="entr" presetSubtype="16" fill="hold" grpId="0" nodeType="afterEffect">
                                  <p:stCondLst>
                                    <p:cond delay="2000"/>
                                  </p:stCondLst>
                                  <p:childTnLst>
                                    <p:set>
                                      <p:cBhvr>
                                        <p:cTn id="35" dur="1" fill="hold">
                                          <p:stCondLst>
                                            <p:cond delay="0"/>
                                          </p:stCondLst>
                                        </p:cTn>
                                        <p:tgtEl>
                                          <p:spTgt spid="41"/>
                                        </p:tgtEl>
                                        <p:attrNameLst>
                                          <p:attrName>style.visibility</p:attrName>
                                        </p:attrNameLst>
                                      </p:cBhvr>
                                      <p:to>
                                        <p:strVal val="visible"/>
                                      </p:to>
                                    </p:set>
                                    <p:anim calcmode="lin" valueType="num">
                                      <p:cBhvr>
                                        <p:cTn id="36" dur="500" fill="hold"/>
                                        <p:tgtEl>
                                          <p:spTgt spid="41"/>
                                        </p:tgtEl>
                                        <p:attrNameLst>
                                          <p:attrName>ppt_w</p:attrName>
                                        </p:attrNameLst>
                                      </p:cBhvr>
                                      <p:tavLst>
                                        <p:tav tm="0">
                                          <p:val>
                                            <p:fltVal val="0"/>
                                          </p:val>
                                        </p:tav>
                                        <p:tav tm="100000">
                                          <p:val>
                                            <p:strVal val="#ppt_w"/>
                                          </p:val>
                                        </p:tav>
                                      </p:tavLst>
                                    </p:anim>
                                    <p:anim calcmode="lin" valueType="num">
                                      <p:cBhvr>
                                        <p:cTn id="37" dur="500" fill="hold"/>
                                        <p:tgtEl>
                                          <p:spTgt spid="41"/>
                                        </p:tgtEl>
                                        <p:attrNameLst>
                                          <p:attrName>ppt_h</p:attrName>
                                        </p:attrNameLst>
                                      </p:cBhvr>
                                      <p:tavLst>
                                        <p:tav tm="0">
                                          <p:val>
                                            <p:fltVal val="0"/>
                                          </p:val>
                                        </p:tav>
                                        <p:tav tm="100000">
                                          <p:val>
                                            <p:strVal val="#ppt_h"/>
                                          </p:val>
                                        </p:tav>
                                      </p:tavLst>
                                    </p:anim>
                                  </p:childTnLst>
                                </p:cTn>
                              </p:par>
                            </p:childTnLst>
                          </p:cTn>
                        </p:par>
                        <p:par>
                          <p:cTn id="38" fill="hold">
                            <p:stCondLst>
                              <p:cond delay="8500"/>
                            </p:stCondLst>
                            <p:childTnLst>
                              <p:par>
                                <p:cTn id="39" presetID="53" presetClass="entr" presetSubtype="16" fill="hold" grpId="0" nodeType="afterEffect">
                                  <p:stCondLst>
                                    <p:cond delay="0"/>
                                  </p:stCondLst>
                                  <p:childTnLst>
                                    <p:set>
                                      <p:cBhvr>
                                        <p:cTn id="40" dur="1" fill="hold">
                                          <p:stCondLst>
                                            <p:cond delay="0"/>
                                          </p:stCondLst>
                                        </p:cTn>
                                        <p:tgtEl>
                                          <p:spTgt spid="29"/>
                                        </p:tgtEl>
                                        <p:attrNameLst>
                                          <p:attrName>style.visibility</p:attrName>
                                        </p:attrNameLst>
                                      </p:cBhvr>
                                      <p:to>
                                        <p:strVal val="visible"/>
                                      </p:to>
                                    </p:set>
                                    <p:anim calcmode="lin" valueType="num">
                                      <p:cBhvr>
                                        <p:cTn id="41" dur="500" fill="hold"/>
                                        <p:tgtEl>
                                          <p:spTgt spid="29"/>
                                        </p:tgtEl>
                                        <p:attrNameLst>
                                          <p:attrName>ppt_w</p:attrName>
                                        </p:attrNameLst>
                                      </p:cBhvr>
                                      <p:tavLst>
                                        <p:tav tm="0">
                                          <p:val>
                                            <p:fltVal val="0"/>
                                          </p:val>
                                        </p:tav>
                                        <p:tav tm="100000">
                                          <p:val>
                                            <p:strVal val="#ppt_w"/>
                                          </p:val>
                                        </p:tav>
                                      </p:tavLst>
                                    </p:anim>
                                    <p:anim calcmode="lin" valueType="num">
                                      <p:cBhvr>
                                        <p:cTn id="42" dur="500" fill="hold"/>
                                        <p:tgtEl>
                                          <p:spTgt spid="29"/>
                                        </p:tgtEl>
                                        <p:attrNameLst>
                                          <p:attrName>ppt_h</p:attrName>
                                        </p:attrNameLst>
                                      </p:cBhvr>
                                      <p:tavLst>
                                        <p:tav tm="0">
                                          <p:val>
                                            <p:fltVal val="0"/>
                                          </p:val>
                                        </p:tav>
                                        <p:tav tm="100000">
                                          <p:val>
                                            <p:strVal val="#ppt_h"/>
                                          </p:val>
                                        </p:tav>
                                      </p:tavLst>
                                    </p:anim>
                                    <p:animEffect transition="in" filter="fade">
                                      <p:cBhvr>
                                        <p:cTn id="43" dur="500"/>
                                        <p:tgtEl>
                                          <p:spTgt spid="29"/>
                                        </p:tgtEl>
                                      </p:cBhvr>
                                    </p:animEffect>
                                  </p:childTnLst>
                                </p:cTn>
                              </p:par>
                            </p:childTnLst>
                          </p:cTn>
                        </p:par>
                        <p:par>
                          <p:cTn id="44" fill="hold">
                            <p:stCondLst>
                              <p:cond delay="9000"/>
                            </p:stCondLst>
                            <p:childTnLst>
                              <p:par>
                                <p:cTn id="45" presetID="42" presetClass="path" presetSubtype="0" accel="50000" decel="50000" fill="hold" nodeType="afterEffect">
                                  <p:stCondLst>
                                    <p:cond delay="0"/>
                                  </p:stCondLst>
                                  <p:childTnLst>
                                    <p:animMotion origin="layout" path="M -7.44986E-7 -1.85185E-6 L -0.1546 0.00046 " pathEditMode="relative" rAng="0" ptsTypes="AA">
                                      <p:cBhvr>
                                        <p:cTn id="46" dur="2000" fill="hold"/>
                                        <p:tgtEl>
                                          <p:spTgt spid="19"/>
                                        </p:tgtEl>
                                        <p:attrNameLst>
                                          <p:attrName>ppt_x</p:attrName>
                                          <p:attrName>ppt_y</p:attrName>
                                        </p:attrNameLst>
                                      </p:cBhvr>
                                      <p:rCtr x="-7736" y="23"/>
                                    </p:animMotion>
                                  </p:childTnLst>
                                </p:cTn>
                              </p:par>
                            </p:childTnLst>
                          </p:cTn>
                        </p:par>
                        <p:par>
                          <p:cTn id="47" fill="hold">
                            <p:stCondLst>
                              <p:cond delay="11000"/>
                            </p:stCondLst>
                            <p:childTnLst>
                              <p:par>
                                <p:cTn id="48" presetID="53" presetClass="entr" presetSubtype="16" fill="hold" grpId="0" nodeType="afterEffect">
                                  <p:stCondLst>
                                    <p:cond delay="0"/>
                                  </p:stCondLst>
                                  <p:childTnLst>
                                    <p:set>
                                      <p:cBhvr>
                                        <p:cTn id="49" dur="1" fill="hold">
                                          <p:stCondLst>
                                            <p:cond delay="0"/>
                                          </p:stCondLst>
                                        </p:cTn>
                                        <p:tgtEl>
                                          <p:spTgt spid="28"/>
                                        </p:tgtEl>
                                        <p:attrNameLst>
                                          <p:attrName>style.visibility</p:attrName>
                                        </p:attrNameLst>
                                      </p:cBhvr>
                                      <p:to>
                                        <p:strVal val="visible"/>
                                      </p:to>
                                    </p:set>
                                    <p:anim calcmode="lin" valueType="num">
                                      <p:cBhvr>
                                        <p:cTn id="50" dur="500" fill="hold"/>
                                        <p:tgtEl>
                                          <p:spTgt spid="28"/>
                                        </p:tgtEl>
                                        <p:attrNameLst>
                                          <p:attrName>ppt_w</p:attrName>
                                        </p:attrNameLst>
                                      </p:cBhvr>
                                      <p:tavLst>
                                        <p:tav tm="0">
                                          <p:val>
                                            <p:fltVal val="0"/>
                                          </p:val>
                                        </p:tav>
                                        <p:tav tm="100000">
                                          <p:val>
                                            <p:strVal val="#ppt_w"/>
                                          </p:val>
                                        </p:tav>
                                      </p:tavLst>
                                    </p:anim>
                                    <p:anim calcmode="lin" valueType="num">
                                      <p:cBhvr>
                                        <p:cTn id="51" dur="500" fill="hold"/>
                                        <p:tgtEl>
                                          <p:spTgt spid="28"/>
                                        </p:tgtEl>
                                        <p:attrNameLst>
                                          <p:attrName>ppt_h</p:attrName>
                                        </p:attrNameLst>
                                      </p:cBhvr>
                                      <p:tavLst>
                                        <p:tav tm="0">
                                          <p:val>
                                            <p:fltVal val="0"/>
                                          </p:val>
                                        </p:tav>
                                        <p:tav tm="100000">
                                          <p:val>
                                            <p:strVal val="#ppt_h"/>
                                          </p:val>
                                        </p:tav>
                                      </p:tavLst>
                                    </p:anim>
                                    <p:animEffect transition="in" filter="fade">
                                      <p:cBhvr>
                                        <p:cTn id="52" dur="500"/>
                                        <p:tgtEl>
                                          <p:spTgt spid="28"/>
                                        </p:tgtEl>
                                      </p:cBhvr>
                                    </p:animEffect>
                                  </p:childTnLst>
                                </p:cTn>
                              </p:par>
                            </p:childTnLst>
                          </p:cTn>
                        </p:par>
                        <p:par>
                          <p:cTn id="53" fill="hold">
                            <p:stCondLst>
                              <p:cond delay="11500"/>
                            </p:stCondLst>
                            <p:childTnLst>
                              <p:par>
                                <p:cTn id="54" presetID="42" presetClass="path" presetSubtype="0" accel="50000" decel="50000" fill="hold" nodeType="afterEffect">
                                  <p:stCondLst>
                                    <p:cond delay="0"/>
                                  </p:stCondLst>
                                  <p:childTnLst>
                                    <p:animMotion origin="layout" path="M 0.03751 -2.22222E-6 L 0.17088 0.00139 " pathEditMode="relative" rAng="0" ptsTypes="AA">
                                      <p:cBhvr>
                                        <p:cTn id="55" dur="2000" fill="hold"/>
                                        <p:tgtEl>
                                          <p:spTgt spid="25"/>
                                        </p:tgtEl>
                                        <p:attrNameLst>
                                          <p:attrName>ppt_x</p:attrName>
                                          <p:attrName>ppt_y</p:attrName>
                                        </p:attrNameLst>
                                      </p:cBhvr>
                                      <p:rCtr x="6668" y="69"/>
                                    </p:animMotion>
                                  </p:childTnLst>
                                </p:cTn>
                              </p:par>
                            </p:childTnLst>
                          </p:cTn>
                        </p:par>
                        <p:par>
                          <p:cTn id="56" fill="hold">
                            <p:stCondLst>
                              <p:cond delay="13500"/>
                            </p:stCondLst>
                            <p:childTnLst>
                              <p:par>
                                <p:cTn id="57" presetID="53" presetClass="entr" presetSubtype="16" fill="hold" grpId="0" nodeType="afterEffect">
                                  <p:stCondLst>
                                    <p:cond delay="0"/>
                                  </p:stCondLst>
                                  <p:childTnLst>
                                    <p:set>
                                      <p:cBhvr>
                                        <p:cTn id="58" dur="1" fill="hold">
                                          <p:stCondLst>
                                            <p:cond delay="0"/>
                                          </p:stCondLst>
                                        </p:cTn>
                                        <p:tgtEl>
                                          <p:spTgt spid="32"/>
                                        </p:tgtEl>
                                        <p:attrNameLst>
                                          <p:attrName>style.visibility</p:attrName>
                                        </p:attrNameLst>
                                      </p:cBhvr>
                                      <p:to>
                                        <p:strVal val="visible"/>
                                      </p:to>
                                    </p:set>
                                    <p:anim calcmode="lin" valueType="num">
                                      <p:cBhvr>
                                        <p:cTn id="59" dur="500" fill="hold"/>
                                        <p:tgtEl>
                                          <p:spTgt spid="32"/>
                                        </p:tgtEl>
                                        <p:attrNameLst>
                                          <p:attrName>ppt_w</p:attrName>
                                        </p:attrNameLst>
                                      </p:cBhvr>
                                      <p:tavLst>
                                        <p:tav tm="0">
                                          <p:val>
                                            <p:fltVal val="0"/>
                                          </p:val>
                                        </p:tav>
                                        <p:tav tm="100000">
                                          <p:val>
                                            <p:strVal val="#ppt_w"/>
                                          </p:val>
                                        </p:tav>
                                      </p:tavLst>
                                    </p:anim>
                                    <p:anim calcmode="lin" valueType="num">
                                      <p:cBhvr>
                                        <p:cTn id="60" dur="500" fill="hold"/>
                                        <p:tgtEl>
                                          <p:spTgt spid="32"/>
                                        </p:tgtEl>
                                        <p:attrNameLst>
                                          <p:attrName>ppt_h</p:attrName>
                                        </p:attrNameLst>
                                      </p:cBhvr>
                                      <p:tavLst>
                                        <p:tav tm="0">
                                          <p:val>
                                            <p:fltVal val="0"/>
                                          </p:val>
                                        </p:tav>
                                        <p:tav tm="100000">
                                          <p:val>
                                            <p:strVal val="#ppt_h"/>
                                          </p:val>
                                        </p:tav>
                                      </p:tavLst>
                                    </p:anim>
                                    <p:animEffect transition="in" filter="fade">
                                      <p:cBhvr>
                                        <p:cTn id="61" dur="500"/>
                                        <p:tgtEl>
                                          <p:spTgt spid="32"/>
                                        </p:tgtEl>
                                      </p:cBhvr>
                                    </p:animEffect>
                                  </p:childTnLst>
                                </p:cTn>
                              </p:par>
                            </p:childTnLst>
                          </p:cTn>
                        </p:par>
                        <p:par>
                          <p:cTn id="62" fill="hold">
                            <p:stCondLst>
                              <p:cond delay="14000"/>
                            </p:stCondLst>
                            <p:childTnLst>
                              <p:par>
                                <p:cTn id="63" presetID="42" presetClass="path" presetSubtype="0" accel="50000" decel="50000" fill="hold" nodeType="afterEffect">
                                  <p:stCondLst>
                                    <p:cond delay="0"/>
                                  </p:stCondLst>
                                  <p:childTnLst>
                                    <p:animMotion origin="layout" path="M 2.47493E-6 -3.71878E-6 L 0.11958 -3.71878E-6 " pathEditMode="relative" rAng="0" ptsTypes="AA">
                                      <p:cBhvr>
                                        <p:cTn id="64" dur="2000" fill="hold"/>
                                        <p:tgtEl>
                                          <p:spTgt spid="34"/>
                                        </p:tgtEl>
                                        <p:attrNameLst>
                                          <p:attrName>ppt_x</p:attrName>
                                          <p:attrName>ppt_y</p:attrName>
                                        </p:attrNameLst>
                                      </p:cBhvr>
                                      <p:rCtr x="5979" y="0"/>
                                    </p:animMotion>
                                  </p:childTnLst>
                                </p:cTn>
                              </p:par>
                            </p:childTnLst>
                          </p:cTn>
                        </p:par>
                        <p:par>
                          <p:cTn id="65" fill="hold">
                            <p:stCondLst>
                              <p:cond delay="16000"/>
                            </p:stCondLst>
                            <p:childTnLst>
                              <p:par>
                                <p:cTn id="66" presetID="53" presetClass="entr" presetSubtype="16" fill="hold" nodeType="afterEffect">
                                  <p:stCondLst>
                                    <p:cond delay="0"/>
                                  </p:stCondLst>
                                  <p:childTnLst>
                                    <p:set>
                                      <p:cBhvr>
                                        <p:cTn id="67" dur="1" fill="hold">
                                          <p:stCondLst>
                                            <p:cond delay="0"/>
                                          </p:stCondLst>
                                        </p:cTn>
                                        <p:tgtEl>
                                          <p:spTgt spid="44"/>
                                        </p:tgtEl>
                                        <p:attrNameLst>
                                          <p:attrName>style.visibility</p:attrName>
                                        </p:attrNameLst>
                                      </p:cBhvr>
                                      <p:to>
                                        <p:strVal val="visible"/>
                                      </p:to>
                                    </p:set>
                                    <p:anim calcmode="lin" valueType="num">
                                      <p:cBhvr>
                                        <p:cTn id="68" dur="500" fill="hold"/>
                                        <p:tgtEl>
                                          <p:spTgt spid="44"/>
                                        </p:tgtEl>
                                        <p:attrNameLst>
                                          <p:attrName>ppt_w</p:attrName>
                                        </p:attrNameLst>
                                      </p:cBhvr>
                                      <p:tavLst>
                                        <p:tav tm="0">
                                          <p:val>
                                            <p:fltVal val="0"/>
                                          </p:val>
                                        </p:tav>
                                        <p:tav tm="100000">
                                          <p:val>
                                            <p:strVal val="#ppt_w"/>
                                          </p:val>
                                        </p:tav>
                                      </p:tavLst>
                                    </p:anim>
                                    <p:anim calcmode="lin" valueType="num">
                                      <p:cBhvr>
                                        <p:cTn id="69" dur="500" fill="hold"/>
                                        <p:tgtEl>
                                          <p:spTgt spid="44"/>
                                        </p:tgtEl>
                                        <p:attrNameLst>
                                          <p:attrName>ppt_h</p:attrName>
                                        </p:attrNameLst>
                                      </p:cBhvr>
                                      <p:tavLst>
                                        <p:tav tm="0">
                                          <p:val>
                                            <p:fltVal val="0"/>
                                          </p:val>
                                        </p:tav>
                                        <p:tav tm="100000">
                                          <p:val>
                                            <p:strVal val="#ppt_h"/>
                                          </p:val>
                                        </p:tav>
                                      </p:tavLst>
                                    </p:anim>
                                    <p:animEffect transition="in" filter="fade">
                                      <p:cBhvr>
                                        <p:cTn id="70" dur="500"/>
                                        <p:tgtEl>
                                          <p:spTgt spid="44"/>
                                        </p:tgtEl>
                                      </p:cBhvr>
                                    </p:animEffect>
                                  </p:childTnLst>
                                </p:cTn>
                              </p:par>
                            </p:childTnLst>
                          </p:cTn>
                        </p:par>
                        <p:par>
                          <p:cTn id="71" fill="hold">
                            <p:stCondLst>
                              <p:cond delay="16500"/>
                            </p:stCondLst>
                            <p:childTnLst>
                              <p:par>
                                <p:cTn id="72" presetID="53" presetClass="entr" presetSubtype="16" fill="hold" grpId="0" nodeType="afterEffect">
                                  <p:stCondLst>
                                    <p:cond delay="0"/>
                                  </p:stCondLst>
                                  <p:childTnLst>
                                    <p:set>
                                      <p:cBhvr>
                                        <p:cTn id="73" dur="1" fill="hold">
                                          <p:stCondLst>
                                            <p:cond delay="0"/>
                                          </p:stCondLst>
                                        </p:cTn>
                                        <p:tgtEl>
                                          <p:spTgt spid="33"/>
                                        </p:tgtEl>
                                        <p:attrNameLst>
                                          <p:attrName>style.visibility</p:attrName>
                                        </p:attrNameLst>
                                      </p:cBhvr>
                                      <p:to>
                                        <p:strVal val="visible"/>
                                      </p:to>
                                    </p:set>
                                    <p:anim calcmode="lin" valueType="num">
                                      <p:cBhvr>
                                        <p:cTn id="74" dur="500" fill="hold"/>
                                        <p:tgtEl>
                                          <p:spTgt spid="33"/>
                                        </p:tgtEl>
                                        <p:attrNameLst>
                                          <p:attrName>ppt_w</p:attrName>
                                        </p:attrNameLst>
                                      </p:cBhvr>
                                      <p:tavLst>
                                        <p:tav tm="0">
                                          <p:val>
                                            <p:fltVal val="0"/>
                                          </p:val>
                                        </p:tav>
                                        <p:tav tm="100000">
                                          <p:val>
                                            <p:strVal val="#ppt_w"/>
                                          </p:val>
                                        </p:tav>
                                      </p:tavLst>
                                    </p:anim>
                                    <p:anim calcmode="lin" valueType="num">
                                      <p:cBhvr>
                                        <p:cTn id="75" dur="500" fill="hold"/>
                                        <p:tgtEl>
                                          <p:spTgt spid="33"/>
                                        </p:tgtEl>
                                        <p:attrNameLst>
                                          <p:attrName>ppt_h</p:attrName>
                                        </p:attrNameLst>
                                      </p:cBhvr>
                                      <p:tavLst>
                                        <p:tav tm="0">
                                          <p:val>
                                            <p:fltVal val="0"/>
                                          </p:val>
                                        </p:tav>
                                        <p:tav tm="100000">
                                          <p:val>
                                            <p:strVal val="#ppt_h"/>
                                          </p:val>
                                        </p:tav>
                                      </p:tavLst>
                                    </p:anim>
                                    <p:animEffect transition="in" filter="fade">
                                      <p:cBhvr>
                                        <p:cTn id="76" dur="500"/>
                                        <p:tgtEl>
                                          <p:spTgt spid="33"/>
                                        </p:tgtEl>
                                      </p:cBhvr>
                                    </p:animEffect>
                                  </p:childTnLst>
                                </p:cTn>
                              </p:par>
                            </p:childTnLst>
                          </p:cTn>
                        </p:par>
                        <p:par>
                          <p:cTn id="77" fill="hold">
                            <p:stCondLst>
                              <p:cond delay="17000"/>
                            </p:stCondLst>
                            <p:childTnLst>
                              <p:par>
                                <p:cTn id="78" presetID="42" presetClass="path" presetSubtype="0" accel="50000" decel="50000" fill="hold" nodeType="afterEffect">
                                  <p:stCondLst>
                                    <p:cond delay="0"/>
                                  </p:stCondLst>
                                  <p:childTnLst>
                                    <p:animMotion origin="layout" path="M -1.40662E-7 -1.85185E-6 L -0.16502 0.00139 " pathEditMode="relative" rAng="0" ptsTypes="AA">
                                      <p:cBhvr>
                                        <p:cTn id="79" dur="2000" fill="hold"/>
                                        <p:tgtEl>
                                          <p:spTgt spid="37"/>
                                        </p:tgtEl>
                                        <p:attrNameLst>
                                          <p:attrName>ppt_x</p:attrName>
                                          <p:attrName>ppt_y</p:attrName>
                                        </p:attrNameLst>
                                      </p:cBhvr>
                                      <p:rCtr x="-8257" y="6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9" grpId="0" animBg="1"/>
      <p:bldP spid="30" grpId="0" animBg="1"/>
      <p:bldP spid="31" grpId="0" animBg="1"/>
      <p:bldP spid="32" grpId="0" animBg="1"/>
      <p:bldP spid="33" grpId="0" animBg="1"/>
      <p:bldP spid="40" grpId="0" animBg="1"/>
      <p:bldP spid="4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Example—Matching Policy by Source</a:t>
            </a:r>
            <a:endParaRPr lang="en-CA" dirty="0"/>
          </a:p>
        </p:txBody>
      </p:sp>
      <p:sp>
        <p:nvSpPr>
          <p:cNvPr id="3" name="Content Placeholder 2"/>
          <p:cNvSpPr>
            <a:spLocks noGrp="1"/>
          </p:cNvSpPr>
          <p:nvPr>
            <p:ph idx="15"/>
          </p:nvPr>
        </p:nvSpPr>
        <p:spPr/>
        <p:txBody>
          <a:bodyPr/>
          <a:lstStyle/>
          <a:p>
            <a:r>
              <a:rPr lang="en-US" dirty="0"/>
              <a:t>Source as internet service database (ISDB) objects</a:t>
            </a:r>
          </a:p>
          <a:p>
            <a:endParaRPr lang="en-US" dirty="0"/>
          </a:p>
          <a:p>
            <a:endParaRPr lang="en-CA" dirty="0"/>
          </a:p>
        </p:txBody>
      </p:sp>
      <p:sp>
        <p:nvSpPr>
          <p:cNvPr id="12" name="Content Placeholder 11"/>
          <p:cNvSpPr>
            <a:spLocks noGrp="1"/>
          </p:cNvSpPr>
          <p:nvPr>
            <p:ph idx="16"/>
          </p:nvPr>
        </p:nvSpPr>
        <p:spPr/>
        <p:txBody>
          <a:bodyPr/>
          <a:lstStyle/>
          <a:p>
            <a:r>
              <a:rPr lang="en-US" dirty="0"/>
              <a:t>Matches by source address, user</a:t>
            </a:r>
            <a:endParaRPr lang="en-CA" dirty="0"/>
          </a:p>
        </p:txBody>
      </p:sp>
      <p:sp>
        <p:nvSpPr>
          <p:cNvPr id="11" name="TextBox 10"/>
          <p:cNvSpPr txBox="1"/>
          <p:nvPr/>
        </p:nvSpPr>
        <p:spPr>
          <a:xfrm>
            <a:off x="254242" y="2309432"/>
            <a:ext cx="3469219" cy="338554"/>
          </a:xfrm>
          <a:prstGeom prst="rect">
            <a:avLst/>
          </a:prstGeom>
          <a:solidFill>
            <a:srgbClr val="00B0F0"/>
          </a:solidFill>
        </p:spPr>
        <p:txBody>
          <a:bodyPr wrap="none" rtlCol="0">
            <a:spAutoFit/>
          </a:bodyPr>
          <a:lstStyle/>
          <a:p>
            <a:r>
              <a:rPr lang="en-CA" sz="1600" b="1" dirty="0"/>
              <a:t>Policy &amp; Objects </a:t>
            </a:r>
            <a:r>
              <a:rPr lang="en-CA" sz="1600" dirty="0"/>
              <a:t>&gt; </a:t>
            </a:r>
            <a:r>
              <a:rPr lang="en-CA" sz="1600" b="1" dirty="0"/>
              <a:t>Firewall Policy</a:t>
            </a:r>
          </a:p>
        </p:txBody>
      </p:sp>
      <p:sp>
        <p:nvSpPr>
          <p:cNvPr id="18" name="TextBox 17"/>
          <p:cNvSpPr txBox="1"/>
          <p:nvPr/>
        </p:nvSpPr>
        <p:spPr>
          <a:xfrm>
            <a:off x="6231793" y="2309432"/>
            <a:ext cx="3469219" cy="338554"/>
          </a:xfrm>
          <a:prstGeom prst="rect">
            <a:avLst/>
          </a:prstGeom>
          <a:solidFill>
            <a:srgbClr val="00B0F0"/>
          </a:solidFill>
        </p:spPr>
        <p:txBody>
          <a:bodyPr wrap="none" rtlCol="0">
            <a:spAutoFit/>
          </a:bodyPr>
          <a:lstStyle/>
          <a:p>
            <a:r>
              <a:rPr lang="en-CA" sz="1600" b="1" dirty="0"/>
              <a:t>Policy &amp; Objects </a:t>
            </a:r>
            <a:r>
              <a:rPr lang="en-CA" sz="1600" dirty="0"/>
              <a:t>&gt; </a:t>
            </a:r>
            <a:r>
              <a:rPr lang="en-CA" sz="1600" b="1" dirty="0"/>
              <a:t>Firewall Policy</a:t>
            </a:r>
          </a:p>
        </p:txBody>
      </p:sp>
      <p:pic>
        <p:nvPicPr>
          <p:cNvPr id="4" name="Picture 3"/>
          <p:cNvPicPr>
            <a:picLocks noChangeAspect="1"/>
          </p:cNvPicPr>
          <p:nvPr/>
        </p:nvPicPr>
        <p:blipFill>
          <a:blip r:embed="rId4"/>
          <a:stretch>
            <a:fillRect/>
          </a:stretch>
        </p:blipFill>
        <p:spPr>
          <a:xfrm>
            <a:off x="254242" y="2691737"/>
            <a:ext cx="5900617" cy="1516848"/>
          </a:xfrm>
          <a:prstGeom prst="rect">
            <a:avLst/>
          </a:prstGeom>
          <a:ln>
            <a:solidFill>
              <a:schemeClr val="tx1"/>
            </a:solidFill>
          </a:ln>
        </p:spPr>
      </p:pic>
      <p:sp>
        <p:nvSpPr>
          <p:cNvPr id="9" name="Rounded Rectangular Callout 8"/>
          <p:cNvSpPr/>
          <p:nvPr/>
        </p:nvSpPr>
        <p:spPr bwMode="auto">
          <a:xfrm>
            <a:off x="598747" y="4902159"/>
            <a:ext cx="1164685" cy="310278"/>
          </a:xfrm>
          <a:prstGeom prst="wedgeRoundRectCallout">
            <a:avLst>
              <a:gd name="adj1" fmla="val 37291"/>
              <a:gd name="adj2" fmla="val -360324"/>
              <a:gd name="adj3" fmla="val 16667"/>
            </a:avLst>
          </a:prstGeom>
          <a:solidFill>
            <a:srgbClr val="00B0F0"/>
          </a:solidFill>
          <a:ln w="19050" cap="flat" cmpd="sng" algn="ctr">
            <a:no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20000"/>
              </a:spcBef>
              <a:spcAft>
                <a:spcPct val="0"/>
              </a:spcAft>
              <a:buClr>
                <a:schemeClr val="accent1"/>
              </a:buClr>
              <a:buSzPct val="90000"/>
              <a:buFont typeface="Wingdings" charset="2"/>
              <a:buNone/>
              <a:tabLst/>
            </a:pPr>
            <a:r>
              <a:rPr lang="en-CA" sz="1600" dirty="0"/>
              <a:t>User</a:t>
            </a:r>
            <a:endParaRPr kumimoji="0" lang="en-CA" sz="1600" u="none" strike="noStrike" cap="none" normalizeH="0" baseline="0" dirty="0">
              <a:ln>
                <a:noFill/>
              </a:ln>
              <a:effectLst/>
            </a:endParaRPr>
          </a:p>
        </p:txBody>
      </p:sp>
      <p:sp>
        <p:nvSpPr>
          <p:cNvPr id="10" name="Rounded Rectangular Callout 9"/>
          <p:cNvSpPr/>
          <p:nvPr/>
        </p:nvSpPr>
        <p:spPr bwMode="auto">
          <a:xfrm>
            <a:off x="2401107" y="4670375"/>
            <a:ext cx="1164685" cy="394078"/>
          </a:xfrm>
          <a:prstGeom prst="wedgeRoundRectCallout">
            <a:avLst>
              <a:gd name="adj1" fmla="val -23337"/>
              <a:gd name="adj2" fmla="val -277274"/>
              <a:gd name="adj3" fmla="val 16667"/>
            </a:avLst>
          </a:prstGeom>
          <a:solidFill>
            <a:srgbClr val="00B0F0"/>
          </a:solidFill>
          <a:ln w="19050" cap="flat" cmpd="sng" algn="ctr">
            <a:no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20000"/>
              </a:spcBef>
              <a:spcAft>
                <a:spcPct val="0"/>
              </a:spcAft>
              <a:buClr>
                <a:schemeClr val="accent1"/>
              </a:buClr>
              <a:buSzPct val="90000"/>
              <a:buFont typeface="Wingdings" charset="2"/>
              <a:buNone/>
              <a:tabLst/>
            </a:pPr>
            <a:r>
              <a:rPr lang="en-CA" sz="1600" dirty="0"/>
              <a:t>Address</a:t>
            </a:r>
            <a:endParaRPr kumimoji="0" lang="en-CA" sz="1600" u="none" strike="noStrike" cap="none" normalizeH="0" baseline="0" dirty="0">
              <a:ln>
                <a:noFill/>
              </a:ln>
              <a:effectLst/>
            </a:endParaRPr>
          </a:p>
        </p:txBody>
      </p:sp>
      <p:sp>
        <p:nvSpPr>
          <p:cNvPr id="13" name="Rectangle 12"/>
          <p:cNvSpPr/>
          <p:nvPr/>
        </p:nvSpPr>
        <p:spPr>
          <a:xfrm>
            <a:off x="1489546" y="3562868"/>
            <a:ext cx="1230208" cy="176794"/>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dirty="0" err="1"/>
          </a:p>
        </p:txBody>
      </p:sp>
      <p:sp>
        <p:nvSpPr>
          <p:cNvPr id="16" name="Rectangle 15"/>
          <p:cNvSpPr/>
          <p:nvPr/>
        </p:nvSpPr>
        <p:spPr>
          <a:xfrm>
            <a:off x="1524716" y="3762160"/>
            <a:ext cx="876391" cy="172858"/>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dirty="0" err="1"/>
          </a:p>
        </p:txBody>
      </p:sp>
      <p:pic>
        <p:nvPicPr>
          <p:cNvPr id="6" name="Picture 5"/>
          <p:cNvPicPr>
            <a:picLocks noChangeAspect="1"/>
          </p:cNvPicPr>
          <p:nvPr/>
        </p:nvPicPr>
        <p:blipFill>
          <a:blip r:embed="rId5"/>
          <a:stretch>
            <a:fillRect/>
          </a:stretch>
        </p:blipFill>
        <p:spPr>
          <a:xfrm>
            <a:off x="6231793" y="2681166"/>
            <a:ext cx="5682980" cy="1879111"/>
          </a:xfrm>
          <a:prstGeom prst="rect">
            <a:avLst/>
          </a:prstGeom>
          <a:ln>
            <a:solidFill>
              <a:schemeClr val="tx1"/>
            </a:solidFill>
          </a:ln>
        </p:spPr>
      </p:pic>
      <p:sp>
        <p:nvSpPr>
          <p:cNvPr id="17" name="Rectangle 16"/>
          <p:cNvSpPr/>
          <p:nvPr/>
        </p:nvSpPr>
        <p:spPr>
          <a:xfrm>
            <a:off x="7405519" y="3511162"/>
            <a:ext cx="2101895" cy="40041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dirty="0" err="1"/>
          </a:p>
        </p:txBody>
      </p:sp>
      <p:sp>
        <p:nvSpPr>
          <p:cNvPr id="15" name="Rounded Rectangular Callout 14"/>
          <p:cNvSpPr/>
          <p:nvPr/>
        </p:nvSpPr>
        <p:spPr bwMode="auto">
          <a:xfrm>
            <a:off x="5752714" y="5482943"/>
            <a:ext cx="1608369" cy="399181"/>
          </a:xfrm>
          <a:prstGeom prst="wedgeRoundRectCallout">
            <a:avLst>
              <a:gd name="adj1" fmla="val 60885"/>
              <a:gd name="adj2" fmla="val -434490"/>
              <a:gd name="adj3" fmla="val 16667"/>
            </a:avLst>
          </a:prstGeom>
          <a:solidFill>
            <a:srgbClr val="00B0F0"/>
          </a:solidFill>
          <a:ln w="19050" cap="flat" cmpd="sng" algn="ctr">
            <a:no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20000"/>
              </a:spcBef>
              <a:spcAft>
                <a:spcPct val="0"/>
              </a:spcAft>
              <a:buClr>
                <a:schemeClr val="accent1"/>
              </a:buClr>
              <a:buSzPct val="90000"/>
              <a:buFont typeface="Wingdings" charset="2"/>
              <a:buNone/>
              <a:tabLst/>
            </a:pPr>
            <a:r>
              <a:rPr lang="en-CA" sz="1600" dirty="0"/>
              <a:t>Internet Service</a:t>
            </a:r>
            <a:endParaRPr kumimoji="0" lang="en-CA" sz="1600" u="none" strike="noStrike" cap="none" normalizeH="0" baseline="0" dirty="0">
              <a:ln>
                <a:noFill/>
              </a:ln>
              <a:effectLst/>
            </a:endParaRPr>
          </a:p>
        </p:txBody>
      </p:sp>
      <p:sp>
        <p:nvSpPr>
          <p:cNvPr id="19" name="Rectangle 18"/>
          <p:cNvSpPr/>
          <p:nvPr/>
        </p:nvSpPr>
        <p:spPr>
          <a:xfrm>
            <a:off x="10815897" y="2946492"/>
            <a:ext cx="1064103" cy="18357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dirty="0" err="1"/>
          </a:p>
        </p:txBody>
      </p:sp>
    </p:spTree>
    <p:custDataLst>
      <p:tags r:id="rId1"/>
    </p:custDataLst>
    <p:extLst>
      <p:ext uri="{BB962C8B-B14F-4D97-AF65-F5344CB8AC3E}">
        <p14:creationId xmlns:p14="http://schemas.microsoft.com/office/powerpoint/2010/main" val="1682826345"/>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Matching by Destination</a:t>
            </a:r>
            <a:endParaRPr lang="en-CA" dirty="0"/>
          </a:p>
        </p:txBody>
      </p:sp>
      <p:sp>
        <p:nvSpPr>
          <p:cNvPr id="3" name="Content Placeholder 2"/>
          <p:cNvSpPr>
            <a:spLocks noGrp="1"/>
          </p:cNvSpPr>
          <p:nvPr>
            <p:ph idx="1"/>
          </p:nvPr>
        </p:nvSpPr>
        <p:spPr/>
        <p:txBody>
          <a:bodyPr/>
          <a:lstStyle/>
          <a:p>
            <a:pPr marL="0" indent="0">
              <a:buNone/>
            </a:pPr>
            <a:r>
              <a:rPr lang="en-US" dirty="0"/>
              <a:t>Like source, destination criteria can use:</a:t>
            </a:r>
          </a:p>
          <a:p>
            <a:r>
              <a:rPr lang="en-US" dirty="0"/>
              <a:t>Address objects:</a:t>
            </a:r>
          </a:p>
          <a:p>
            <a:pPr lvl="1"/>
            <a:r>
              <a:rPr lang="en-US" dirty="0"/>
              <a:t>Subnet (IP or netmask)</a:t>
            </a:r>
          </a:p>
          <a:p>
            <a:pPr lvl="1"/>
            <a:r>
              <a:rPr lang="en-US" dirty="0"/>
              <a:t>IP address or address range</a:t>
            </a:r>
          </a:p>
          <a:p>
            <a:pPr lvl="1"/>
            <a:r>
              <a:rPr lang="en-US" dirty="0"/>
              <a:t>FQDN</a:t>
            </a:r>
          </a:p>
          <a:p>
            <a:pPr lvl="2"/>
            <a:r>
              <a:rPr lang="en-US" dirty="0"/>
              <a:t>DNS query used to resolve FQDN</a:t>
            </a:r>
          </a:p>
          <a:p>
            <a:pPr lvl="1"/>
            <a:r>
              <a:rPr lang="en-US" dirty="0"/>
              <a:t>Geography</a:t>
            </a:r>
          </a:p>
          <a:p>
            <a:pPr lvl="2"/>
            <a:r>
              <a:rPr lang="en-US" dirty="0"/>
              <a:t>Country defines addresses by ISP’s geographical location</a:t>
            </a:r>
          </a:p>
          <a:p>
            <a:pPr lvl="2"/>
            <a:r>
              <a:rPr lang="en-US" dirty="0"/>
              <a:t>Database updated periodically through FortiGuard</a:t>
            </a:r>
          </a:p>
          <a:p>
            <a:pPr lvl="1"/>
            <a:r>
              <a:rPr lang="en-US" dirty="0"/>
              <a:t>Dynamic </a:t>
            </a:r>
          </a:p>
          <a:p>
            <a:pPr lvl="2"/>
            <a:r>
              <a:rPr lang="en-US" dirty="0"/>
              <a:t>Fabric connector address</a:t>
            </a:r>
          </a:p>
          <a:p>
            <a:pPr marL="359770" lvl="1" indent="0">
              <a:buNone/>
            </a:pPr>
            <a:endParaRPr lang="en-US" dirty="0"/>
          </a:p>
          <a:p>
            <a:r>
              <a:rPr lang="en-US" dirty="0"/>
              <a:t>Internet service database (ISDB) objects</a:t>
            </a:r>
          </a:p>
          <a:p>
            <a:endParaRPr lang="en-US" dirty="0"/>
          </a:p>
          <a:p>
            <a:endParaRPr lang="en-CA" dirty="0"/>
          </a:p>
        </p:txBody>
      </p:sp>
    </p:spTree>
    <p:custDataLst>
      <p:tags r:id="rId1"/>
    </p:custDataLst>
    <p:extLst>
      <p:ext uri="{BB962C8B-B14F-4D97-AF65-F5344CB8AC3E}">
        <p14:creationId xmlns:p14="http://schemas.microsoft.com/office/powerpoint/2010/main" val="213082621"/>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Internet Service</a:t>
            </a:r>
          </a:p>
        </p:txBody>
      </p:sp>
      <p:sp>
        <p:nvSpPr>
          <p:cNvPr id="3" name="Content Placeholder 2"/>
          <p:cNvSpPr>
            <a:spLocks noGrp="1"/>
          </p:cNvSpPr>
          <p:nvPr>
            <p:ph idx="15"/>
          </p:nvPr>
        </p:nvSpPr>
        <p:spPr/>
        <p:txBody>
          <a:bodyPr/>
          <a:lstStyle/>
          <a:p>
            <a:r>
              <a:rPr lang="en-CA" sz="2000" dirty="0"/>
              <a:t>Database that contains IP addresses, IP protocols, and port numbers used by the most common internet services</a:t>
            </a:r>
          </a:p>
          <a:p>
            <a:pPr lvl="1"/>
            <a:r>
              <a:rPr lang="en-US" dirty="0"/>
              <a:t>Regularly updated through FortiGuard</a:t>
            </a:r>
          </a:p>
          <a:p>
            <a:pPr lvl="1"/>
            <a:endParaRPr lang="en-US" dirty="0"/>
          </a:p>
          <a:p>
            <a:r>
              <a:rPr lang="en-US" sz="2000" dirty="0"/>
              <a:t>Can be used as </a:t>
            </a:r>
            <a:r>
              <a:rPr lang="en-US" sz="2000" b="1" dirty="0"/>
              <a:t>Source</a:t>
            </a:r>
            <a:r>
              <a:rPr lang="en-US" sz="2000" dirty="0"/>
              <a:t> or </a:t>
            </a:r>
            <a:r>
              <a:rPr lang="en-US" sz="2000" b="1" dirty="0"/>
              <a:t>Destination</a:t>
            </a:r>
            <a:r>
              <a:rPr lang="en-US" sz="2000" dirty="0"/>
              <a:t> </a:t>
            </a:r>
            <a:r>
              <a:rPr lang="en-CA" sz="2000" dirty="0"/>
              <a:t>in the firewall policy</a:t>
            </a:r>
          </a:p>
          <a:p>
            <a:endParaRPr lang="en-CA" dirty="0"/>
          </a:p>
          <a:p>
            <a:r>
              <a:rPr lang="en-CA" sz="2000" dirty="0"/>
              <a:t>If </a:t>
            </a:r>
            <a:r>
              <a:rPr lang="en-CA" sz="2000" b="1" dirty="0"/>
              <a:t>Internet Service </a:t>
            </a:r>
            <a:r>
              <a:rPr lang="en-CA" sz="2000" dirty="0"/>
              <a:t>is selected as </a:t>
            </a:r>
            <a:r>
              <a:rPr lang="en-CA" sz="2000" b="1" dirty="0"/>
              <a:t>Source</a:t>
            </a:r>
            <a:r>
              <a:rPr lang="en-CA" dirty="0"/>
              <a:t>:</a:t>
            </a:r>
          </a:p>
          <a:p>
            <a:pPr lvl="1"/>
            <a:r>
              <a:rPr lang="en-CA" dirty="0"/>
              <a:t>You cannot use Address in the Source </a:t>
            </a:r>
          </a:p>
          <a:p>
            <a:pPr lvl="1"/>
            <a:endParaRPr lang="en-CA" dirty="0"/>
          </a:p>
          <a:p>
            <a:r>
              <a:rPr lang="en-CA" sz="2000" dirty="0"/>
              <a:t>If Internet Service is selected as </a:t>
            </a:r>
            <a:r>
              <a:rPr lang="en-CA" sz="2000" b="1" dirty="0"/>
              <a:t>Destination</a:t>
            </a:r>
            <a:r>
              <a:rPr lang="en-CA" dirty="0"/>
              <a:t>:</a:t>
            </a:r>
          </a:p>
          <a:p>
            <a:pPr lvl="1"/>
            <a:r>
              <a:rPr lang="en-CA" dirty="0"/>
              <a:t>You cannot use </a:t>
            </a:r>
            <a:r>
              <a:rPr lang="en-CA" b="1" dirty="0"/>
              <a:t>Address</a:t>
            </a:r>
            <a:r>
              <a:rPr lang="en-CA" dirty="0"/>
              <a:t> in the </a:t>
            </a:r>
            <a:r>
              <a:rPr lang="en-CA" b="1" dirty="0"/>
              <a:t>Destination</a:t>
            </a:r>
            <a:r>
              <a:rPr lang="en-CA" dirty="0"/>
              <a:t> </a:t>
            </a:r>
          </a:p>
          <a:p>
            <a:pPr lvl="1"/>
            <a:r>
              <a:rPr lang="en-CA" dirty="0"/>
              <a:t>You cannot select </a:t>
            </a:r>
            <a:r>
              <a:rPr lang="en-CA" b="1" dirty="0"/>
              <a:t>Service</a:t>
            </a:r>
            <a:r>
              <a:rPr lang="en-CA" dirty="0"/>
              <a:t> in the firewall policy</a:t>
            </a:r>
          </a:p>
          <a:p>
            <a:pPr lvl="1"/>
            <a:endParaRPr lang="en-CA" dirty="0"/>
          </a:p>
          <a:p>
            <a:endParaRPr lang="en-CA" dirty="0"/>
          </a:p>
          <a:p>
            <a:endParaRPr lang="en-CA" dirty="0"/>
          </a:p>
          <a:p>
            <a:endParaRPr lang="en-CA" dirty="0"/>
          </a:p>
          <a:p>
            <a:endParaRPr lang="en-US" dirty="0"/>
          </a:p>
          <a:p>
            <a:pPr marL="0" indent="0">
              <a:buNone/>
            </a:pPr>
            <a:endParaRPr lang="en-US" dirty="0"/>
          </a:p>
          <a:p>
            <a:pPr marL="0" indent="0">
              <a:buNone/>
            </a:pPr>
            <a:endParaRPr lang="en-US" dirty="0"/>
          </a:p>
        </p:txBody>
      </p:sp>
      <p:sp>
        <p:nvSpPr>
          <p:cNvPr id="10" name="Rectangle 9"/>
          <p:cNvSpPr/>
          <p:nvPr/>
        </p:nvSpPr>
        <p:spPr bwMode="auto">
          <a:xfrm>
            <a:off x="5960734" y="893265"/>
            <a:ext cx="4495575" cy="330596"/>
          </a:xfrm>
          <a:prstGeom prst="rect">
            <a:avLst/>
          </a:prstGeom>
          <a:solidFill>
            <a:srgbClr val="00B0F0"/>
          </a:solidFill>
          <a:ln w="38100" cap="flat" cmpd="sng" algn="ctr">
            <a:no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20000"/>
              </a:spcBef>
              <a:spcAft>
                <a:spcPct val="0"/>
              </a:spcAft>
              <a:buClr>
                <a:schemeClr val="accent1"/>
              </a:buClr>
              <a:buSzPct val="90000"/>
              <a:buFont typeface="Wingdings" charset="2"/>
              <a:buNone/>
              <a:tabLst/>
            </a:pPr>
            <a:r>
              <a:rPr lang="en-CA" sz="1600" b="1" dirty="0"/>
              <a:t>Policy &amp; Objects </a:t>
            </a:r>
            <a:r>
              <a:rPr lang="en-CA" sz="1600" dirty="0"/>
              <a:t>&gt;</a:t>
            </a:r>
            <a:r>
              <a:rPr lang="en-CA" sz="1600" b="1" dirty="0"/>
              <a:t> Internet Service Database</a:t>
            </a:r>
            <a:endParaRPr kumimoji="0" lang="en-CA" sz="1600" b="1" u="none" strike="noStrike" cap="none" normalizeH="0" baseline="0" dirty="0">
              <a:ln>
                <a:noFill/>
              </a:ln>
              <a:effectLst/>
            </a:endParaRPr>
          </a:p>
        </p:txBody>
      </p:sp>
      <p:sp>
        <p:nvSpPr>
          <p:cNvPr id="11" name="TextBox 10"/>
          <p:cNvSpPr txBox="1"/>
          <p:nvPr/>
        </p:nvSpPr>
        <p:spPr>
          <a:xfrm>
            <a:off x="5769027" y="3365015"/>
            <a:ext cx="3469219" cy="338554"/>
          </a:xfrm>
          <a:prstGeom prst="rect">
            <a:avLst/>
          </a:prstGeom>
          <a:solidFill>
            <a:srgbClr val="00B0F0"/>
          </a:solidFill>
          <a:effectLst/>
        </p:spPr>
        <p:txBody>
          <a:bodyPr wrap="none" rtlCol="0">
            <a:spAutoFit/>
          </a:bodyPr>
          <a:lstStyle/>
          <a:p>
            <a:r>
              <a:rPr lang="en-CA" sz="1600" b="1" dirty="0"/>
              <a:t>Policy &amp; Objects </a:t>
            </a:r>
            <a:r>
              <a:rPr lang="en-CA" sz="1600" dirty="0"/>
              <a:t>&gt; </a:t>
            </a:r>
            <a:r>
              <a:rPr lang="en-CA" sz="1600" b="1" dirty="0"/>
              <a:t>Firewall</a:t>
            </a:r>
            <a:r>
              <a:rPr lang="en-CA" sz="1600" dirty="0"/>
              <a:t> </a:t>
            </a:r>
            <a:r>
              <a:rPr lang="en-CA" sz="1600" b="1" dirty="0"/>
              <a:t>Policy</a:t>
            </a:r>
          </a:p>
        </p:txBody>
      </p:sp>
      <p:pic>
        <p:nvPicPr>
          <p:cNvPr id="4" name="Picture 3"/>
          <p:cNvPicPr>
            <a:picLocks noChangeAspect="1"/>
          </p:cNvPicPr>
          <p:nvPr/>
        </p:nvPicPr>
        <p:blipFill>
          <a:blip r:embed="rId4"/>
          <a:stretch>
            <a:fillRect/>
          </a:stretch>
        </p:blipFill>
        <p:spPr>
          <a:xfrm>
            <a:off x="5960734" y="1295546"/>
            <a:ext cx="5681194" cy="1846178"/>
          </a:xfrm>
          <a:prstGeom prst="rect">
            <a:avLst/>
          </a:prstGeom>
          <a:ln>
            <a:solidFill>
              <a:schemeClr val="tx1"/>
            </a:solidFill>
          </a:ln>
        </p:spPr>
      </p:pic>
      <p:sp>
        <p:nvSpPr>
          <p:cNvPr id="7" name="Rectangle 6"/>
          <p:cNvSpPr/>
          <p:nvPr/>
        </p:nvSpPr>
        <p:spPr>
          <a:xfrm>
            <a:off x="8305117" y="1310367"/>
            <a:ext cx="1535339" cy="183135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dirty="0" err="1"/>
          </a:p>
        </p:txBody>
      </p:sp>
      <p:pic>
        <p:nvPicPr>
          <p:cNvPr id="9" name="Picture 8"/>
          <p:cNvPicPr>
            <a:picLocks noChangeAspect="1"/>
          </p:cNvPicPr>
          <p:nvPr/>
        </p:nvPicPr>
        <p:blipFill>
          <a:blip r:embed="rId5"/>
          <a:stretch>
            <a:fillRect/>
          </a:stretch>
        </p:blipFill>
        <p:spPr>
          <a:xfrm>
            <a:off x="5769027" y="3773386"/>
            <a:ext cx="6148450" cy="2088153"/>
          </a:xfrm>
          <a:prstGeom prst="rect">
            <a:avLst/>
          </a:prstGeom>
          <a:ln>
            <a:solidFill>
              <a:schemeClr val="tx1"/>
            </a:solidFill>
          </a:ln>
        </p:spPr>
      </p:pic>
      <p:sp>
        <p:nvSpPr>
          <p:cNvPr id="14" name="Rectangle 13"/>
          <p:cNvSpPr/>
          <p:nvPr/>
        </p:nvSpPr>
        <p:spPr>
          <a:xfrm>
            <a:off x="9791608" y="4633114"/>
            <a:ext cx="911561" cy="196794"/>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dirty="0" err="1"/>
          </a:p>
        </p:txBody>
      </p:sp>
      <p:cxnSp>
        <p:nvCxnSpPr>
          <p:cNvPr id="13" name="Straight Arrow Connector 12"/>
          <p:cNvCxnSpPr/>
          <p:nvPr/>
        </p:nvCxnSpPr>
        <p:spPr>
          <a:xfrm flipH="1">
            <a:off x="9566031" y="4837690"/>
            <a:ext cx="266622" cy="62388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6869723" y="5470454"/>
            <a:ext cx="2801815" cy="22696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dirty="0" err="1"/>
          </a:p>
        </p:txBody>
      </p:sp>
    </p:spTree>
    <p:custDataLst>
      <p:tags r:id="rId1"/>
    </p:custDataLst>
    <p:extLst>
      <p:ext uri="{BB962C8B-B14F-4D97-AF65-F5344CB8AC3E}">
        <p14:creationId xmlns:p14="http://schemas.microsoft.com/office/powerpoint/2010/main" val="2246600872"/>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r>
              <a:rPr lang="en-US" dirty="0"/>
              <a:t>Geographic-Based Internet Service Database</a:t>
            </a:r>
          </a:p>
        </p:txBody>
      </p:sp>
      <p:sp>
        <p:nvSpPr>
          <p:cNvPr id="6" name="Content Placeholder 5"/>
          <p:cNvSpPr>
            <a:spLocks noGrp="1"/>
          </p:cNvSpPr>
          <p:nvPr>
            <p:ph idx="1"/>
          </p:nvPr>
        </p:nvSpPr>
        <p:spPr/>
        <p:txBody>
          <a:bodyPr/>
          <a:lstStyle/>
          <a:p>
            <a:r>
              <a:rPr lang="en-US" dirty="0"/>
              <a:t>Allows users to define ISDB objects based on a country, region, and city</a:t>
            </a:r>
          </a:p>
          <a:p>
            <a:r>
              <a:rPr lang="en-US" dirty="0"/>
              <a:t>Objects can be used in firewall policies for more granular control over the location of the parent ISDB object</a:t>
            </a:r>
          </a:p>
          <a:p>
            <a:endParaRPr lang="en-US" dirty="0"/>
          </a:p>
        </p:txBody>
      </p:sp>
      <p:sp>
        <p:nvSpPr>
          <p:cNvPr id="11" name="Rectangle 10"/>
          <p:cNvSpPr/>
          <p:nvPr/>
        </p:nvSpPr>
        <p:spPr bwMode="auto">
          <a:xfrm>
            <a:off x="460397" y="2256796"/>
            <a:ext cx="4495575" cy="330596"/>
          </a:xfrm>
          <a:prstGeom prst="rect">
            <a:avLst/>
          </a:prstGeom>
          <a:solidFill>
            <a:srgbClr val="00B0F0"/>
          </a:solidFill>
          <a:ln w="38100" cap="flat" cmpd="sng" algn="ctr">
            <a:no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20000"/>
              </a:spcBef>
              <a:spcAft>
                <a:spcPct val="0"/>
              </a:spcAft>
              <a:buClr>
                <a:schemeClr val="accent1"/>
              </a:buClr>
              <a:buSzPct val="90000"/>
              <a:buFont typeface="Wingdings" charset="2"/>
              <a:buNone/>
              <a:tabLst/>
            </a:pPr>
            <a:r>
              <a:rPr lang="en-CA" sz="1600" b="1" dirty="0"/>
              <a:t>Policy &amp; Objects </a:t>
            </a:r>
            <a:r>
              <a:rPr lang="en-CA" sz="1600" dirty="0"/>
              <a:t>&gt;</a:t>
            </a:r>
            <a:r>
              <a:rPr lang="en-CA" sz="1600" b="1" dirty="0"/>
              <a:t> Internet Service Database</a:t>
            </a:r>
            <a:endParaRPr kumimoji="0" lang="en-CA" sz="1600" b="1" u="none" strike="noStrike" cap="none" normalizeH="0" baseline="0" dirty="0">
              <a:ln>
                <a:noFill/>
              </a:ln>
              <a:effectLst/>
            </a:endParaRPr>
          </a:p>
        </p:txBody>
      </p:sp>
      <p:sp>
        <p:nvSpPr>
          <p:cNvPr id="12" name="Down Arrow 11"/>
          <p:cNvSpPr/>
          <p:nvPr/>
        </p:nvSpPr>
        <p:spPr bwMode="auto">
          <a:xfrm>
            <a:off x="1842539" y="3447973"/>
            <a:ext cx="298245" cy="353147"/>
          </a:xfrm>
          <a:prstGeom prst="downArrow">
            <a:avLst/>
          </a:prstGeom>
          <a:solidFill>
            <a:srgbClr val="FF0000"/>
          </a:solidFill>
          <a:ln w="38100"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20000"/>
              </a:spcBef>
              <a:spcAft>
                <a:spcPct val="0"/>
              </a:spcAft>
              <a:buClr>
                <a:schemeClr val="accent1"/>
              </a:buClr>
              <a:buSzPct val="90000"/>
              <a:buFont typeface="Wingdings" charset="2"/>
              <a:buNone/>
              <a:tabLst/>
            </a:pPr>
            <a:endParaRPr kumimoji="0" lang="en-CA" sz="2000" b="0" i="0" u="none" strike="noStrike" cap="none" normalizeH="0" baseline="0" dirty="0">
              <a:ln>
                <a:noFill/>
              </a:ln>
              <a:solidFill>
                <a:schemeClr val="accent2"/>
              </a:solidFill>
              <a:effectLst/>
              <a:latin typeface="Arial" charset="0"/>
            </a:endParaRPr>
          </a:p>
        </p:txBody>
      </p:sp>
      <p:pic>
        <p:nvPicPr>
          <p:cNvPr id="2" name="Picture 1"/>
          <p:cNvPicPr>
            <a:picLocks noChangeAspect="1"/>
          </p:cNvPicPr>
          <p:nvPr/>
        </p:nvPicPr>
        <p:blipFill>
          <a:blip r:embed="rId3"/>
          <a:stretch>
            <a:fillRect/>
          </a:stretch>
        </p:blipFill>
        <p:spPr>
          <a:xfrm>
            <a:off x="441687" y="2666738"/>
            <a:ext cx="3009524" cy="695238"/>
          </a:xfrm>
          <a:prstGeom prst="rect">
            <a:avLst/>
          </a:prstGeom>
          <a:ln>
            <a:solidFill>
              <a:schemeClr val="tx1"/>
            </a:solidFill>
          </a:ln>
        </p:spPr>
      </p:pic>
      <p:sp>
        <p:nvSpPr>
          <p:cNvPr id="13" name="Rectangle 12"/>
          <p:cNvSpPr/>
          <p:nvPr/>
        </p:nvSpPr>
        <p:spPr bwMode="auto">
          <a:xfrm>
            <a:off x="449924" y="3036362"/>
            <a:ext cx="3001287" cy="302330"/>
          </a:xfrm>
          <a:prstGeom prst="rect">
            <a:avLst/>
          </a:prstGeom>
          <a:noFill/>
          <a:ln w="38100" cap="flat" cmpd="sng" algn="ctr">
            <a:solidFill>
              <a:srgbClr val="FF0000"/>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20000"/>
              </a:spcBef>
              <a:spcAft>
                <a:spcPct val="0"/>
              </a:spcAft>
              <a:buClr>
                <a:schemeClr val="accent1"/>
              </a:buClr>
              <a:buSzPct val="90000"/>
              <a:buFont typeface="Wingdings" charset="2"/>
              <a:buNone/>
              <a:tabLst/>
            </a:pPr>
            <a:endParaRPr kumimoji="0" lang="en-CA" sz="1200" b="0" i="0" u="none" strike="noStrike" cap="none" normalizeH="0" baseline="0" dirty="0">
              <a:ln>
                <a:noFill/>
              </a:ln>
            </a:endParaRPr>
          </a:p>
        </p:txBody>
      </p:sp>
      <p:pic>
        <p:nvPicPr>
          <p:cNvPr id="3" name="Picture 2"/>
          <p:cNvPicPr>
            <a:picLocks noChangeAspect="1"/>
          </p:cNvPicPr>
          <p:nvPr/>
        </p:nvPicPr>
        <p:blipFill>
          <a:blip r:embed="rId4"/>
          <a:stretch>
            <a:fillRect/>
          </a:stretch>
        </p:blipFill>
        <p:spPr>
          <a:xfrm>
            <a:off x="460397" y="3871296"/>
            <a:ext cx="6390187" cy="2274088"/>
          </a:xfrm>
          <a:prstGeom prst="rect">
            <a:avLst/>
          </a:prstGeom>
          <a:ln>
            <a:solidFill>
              <a:schemeClr val="tx1"/>
            </a:solidFill>
          </a:ln>
        </p:spPr>
      </p:pic>
      <p:sp>
        <p:nvSpPr>
          <p:cNvPr id="15" name="Rectangle 14"/>
          <p:cNvSpPr/>
          <p:nvPr/>
        </p:nvSpPr>
        <p:spPr bwMode="auto">
          <a:xfrm>
            <a:off x="4955971" y="5889010"/>
            <a:ext cx="1446019" cy="228983"/>
          </a:xfrm>
          <a:prstGeom prst="rect">
            <a:avLst/>
          </a:prstGeom>
          <a:noFill/>
          <a:ln w="38100" cap="flat" cmpd="sng" algn="ctr">
            <a:solidFill>
              <a:srgbClr val="FF0000"/>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20000"/>
              </a:spcBef>
              <a:spcAft>
                <a:spcPct val="0"/>
              </a:spcAft>
              <a:buClr>
                <a:schemeClr val="accent1"/>
              </a:buClr>
              <a:buSzPct val="90000"/>
              <a:buFont typeface="Wingdings" charset="2"/>
              <a:buNone/>
              <a:tabLst/>
            </a:pPr>
            <a:endParaRPr kumimoji="0" lang="en-CA" sz="1200" b="0" i="0" u="none" strike="noStrike" cap="none" normalizeH="0" baseline="0" dirty="0">
              <a:ln>
                <a:noFill/>
              </a:ln>
            </a:endParaRPr>
          </a:p>
        </p:txBody>
      </p:sp>
      <p:pic>
        <p:nvPicPr>
          <p:cNvPr id="4" name="Picture 3"/>
          <p:cNvPicPr>
            <a:picLocks noChangeAspect="1"/>
          </p:cNvPicPr>
          <p:nvPr/>
        </p:nvPicPr>
        <p:blipFill>
          <a:blip r:embed="rId5"/>
          <a:stretch>
            <a:fillRect/>
          </a:stretch>
        </p:blipFill>
        <p:spPr>
          <a:xfrm>
            <a:off x="5748762" y="1930416"/>
            <a:ext cx="6232944" cy="1848273"/>
          </a:xfrm>
          <a:prstGeom prst="rect">
            <a:avLst/>
          </a:prstGeom>
          <a:ln>
            <a:solidFill>
              <a:schemeClr val="tx1"/>
            </a:solidFill>
          </a:ln>
        </p:spPr>
      </p:pic>
      <p:sp>
        <p:nvSpPr>
          <p:cNvPr id="14" name="Rectangle 13"/>
          <p:cNvSpPr/>
          <p:nvPr/>
        </p:nvSpPr>
        <p:spPr bwMode="auto">
          <a:xfrm>
            <a:off x="8921262" y="2192215"/>
            <a:ext cx="3060443" cy="300323"/>
          </a:xfrm>
          <a:prstGeom prst="rect">
            <a:avLst/>
          </a:prstGeom>
          <a:noFill/>
          <a:ln w="38100" cap="flat" cmpd="sng" algn="ctr">
            <a:solidFill>
              <a:srgbClr val="FF0000"/>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20000"/>
              </a:spcBef>
              <a:spcAft>
                <a:spcPct val="0"/>
              </a:spcAft>
              <a:buClr>
                <a:schemeClr val="accent1"/>
              </a:buClr>
              <a:buSzPct val="90000"/>
              <a:buFont typeface="Wingdings" charset="2"/>
              <a:buNone/>
              <a:tabLst/>
            </a:pPr>
            <a:endParaRPr kumimoji="0" lang="en-CA" sz="1200" b="0" i="0" u="none" strike="noStrike" cap="none" normalizeH="0" baseline="0" dirty="0">
              <a:ln>
                <a:noFill/>
              </a:ln>
            </a:endParaRPr>
          </a:p>
        </p:txBody>
      </p:sp>
      <p:cxnSp>
        <p:nvCxnSpPr>
          <p:cNvPr id="16" name="Straight Arrow Connector 15"/>
          <p:cNvCxnSpPr/>
          <p:nvPr/>
        </p:nvCxnSpPr>
        <p:spPr bwMode="auto">
          <a:xfrm flipV="1">
            <a:off x="6401990" y="3778689"/>
            <a:ext cx="1440748" cy="2110321"/>
          </a:xfrm>
          <a:prstGeom prst="straightConnector1">
            <a:avLst/>
          </a:prstGeom>
          <a:solidFill>
            <a:schemeClr val="accent2">
              <a:alpha val="42000"/>
            </a:schemeClr>
          </a:solidFill>
          <a:ln w="38100" cap="flat" cmpd="sng" algn="ctr">
            <a:solidFill>
              <a:srgbClr val="FF0000"/>
            </a:solidFill>
            <a:prstDash val="solid"/>
            <a:round/>
            <a:headEnd type="none" w="med" len="med"/>
            <a:tailEnd type="arrow"/>
          </a:ln>
          <a:effectLst/>
        </p:spPr>
      </p:cxnSp>
    </p:spTree>
    <p:extLst>
      <p:ext uri="{BB962C8B-B14F-4D97-AF65-F5344CB8AC3E}">
        <p14:creationId xmlns:p14="http://schemas.microsoft.com/office/powerpoint/2010/main" val="2590415742"/>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Internet Service Database (ISDB)—Updates</a:t>
            </a:r>
          </a:p>
        </p:txBody>
      </p:sp>
      <p:sp>
        <p:nvSpPr>
          <p:cNvPr id="3" name="Content Placeholder 2"/>
          <p:cNvSpPr>
            <a:spLocks noGrp="1"/>
          </p:cNvSpPr>
          <p:nvPr>
            <p:ph idx="1"/>
          </p:nvPr>
        </p:nvSpPr>
        <p:spPr/>
        <p:txBody>
          <a:bodyPr/>
          <a:lstStyle/>
          <a:p>
            <a:r>
              <a:rPr lang="en-US" dirty="0"/>
              <a:t>You can disable ISDB updates so they occur only during a change control window</a:t>
            </a:r>
          </a:p>
          <a:p>
            <a:pPr lvl="1"/>
            <a:r>
              <a:rPr lang="en-US" dirty="0"/>
              <a:t>Control ISDB updates by using CLI command:</a:t>
            </a:r>
          </a:p>
          <a:p>
            <a:endParaRPr lang="en-US" dirty="0"/>
          </a:p>
          <a:p>
            <a:endParaRPr lang="en-US" dirty="0"/>
          </a:p>
          <a:p>
            <a:endParaRPr lang="en-US" dirty="0"/>
          </a:p>
          <a:p>
            <a:endParaRPr lang="en-US" dirty="0"/>
          </a:p>
          <a:p>
            <a:endParaRPr lang="en-US" dirty="0"/>
          </a:p>
          <a:p>
            <a:r>
              <a:rPr lang="en-US" dirty="0"/>
              <a:t>Once ISDB updates are disabled, other scheduled FortiGuard updates do not update ISDB</a:t>
            </a:r>
          </a:p>
          <a:p>
            <a:r>
              <a:rPr lang="en-US" dirty="0"/>
              <a:t>By default, ISDB updates are enabled</a:t>
            </a:r>
          </a:p>
          <a:p>
            <a:endParaRPr lang="en-US" dirty="0"/>
          </a:p>
          <a:p>
            <a:endParaRPr lang="en-US" dirty="0"/>
          </a:p>
        </p:txBody>
      </p:sp>
      <p:sp>
        <p:nvSpPr>
          <p:cNvPr id="6" name="TextBox 5">
            <a:extLst>
              <a:ext uri="{FF2B5EF4-FFF2-40B4-BE49-F238E27FC236}">
                <a16:creationId xmlns:a16="http://schemas.microsoft.com/office/drawing/2014/main" id="{DFD9EE08-39F3-4F92-BFB1-8FCC7422849C}"/>
              </a:ext>
            </a:extLst>
          </p:cNvPr>
          <p:cNvSpPr txBox="1"/>
          <p:nvPr/>
        </p:nvSpPr>
        <p:spPr>
          <a:xfrm>
            <a:off x="1604974" y="2139225"/>
            <a:ext cx="8698552" cy="1315745"/>
          </a:xfrm>
          <a:prstGeom prst="rect">
            <a:avLst/>
          </a:prstGeom>
          <a:solidFill>
            <a:schemeClr val="bg1"/>
          </a:solidFill>
          <a:ln>
            <a:solidFill>
              <a:schemeClr val="tx1"/>
            </a:solidFill>
          </a:ln>
        </p:spPr>
        <p:txBody>
          <a:bodyPr wrap="square" rtlCol="0">
            <a:spAutoFit/>
          </a:bodyPr>
          <a:lstStyle/>
          <a:p>
            <a:pPr defTabSz="457189">
              <a:lnSpc>
                <a:spcPct val="90000"/>
              </a:lnSpc>
              <a:spcBef>
                <a:spcPts val="300"/>
              </a:spcBef>
            </a:pPr>
            <a:r>
              <a:rPr lang="en-US" sz="2000" dirty="0">
                <a:solidFill>
                  <a:srgbClr val="000000"/>
                </a:solidFill>
                <a:latin typeface="Courier New" panose="02070309020205020404" pitchFamily="49" charset="0"/>
                <a:cs typeface="Courier New" panose="02070309020205020404" pitchFamily="49" charset="0"/>
              </a:rPr>
              <a:t># </a:t>
            </a:r>
            <a:r>
              <a:rPr lang="en-US" sz="2000" dirty="0" err="1">
                <a:solidFill>
                  <a:srgbClr val="000000"/>
                </a:solidFill>
                <a:latin typeface="Courier New" panose="02070309020205020404" pitchFamily="49" charset="0"/>
                <a:cs typeface="Courier New" panose="02070309020205020404" pitchFamily="49" charset="0"/>
              </a:rPr>
              <a:t>config</a:t>
            </a:r>
            <a:r>
              <a:rPr lang="en-US" sz="2000" dirty="0">
                <a:solidFill>
                  <a:srgbClr val="000000"/>
                </a:solidFill>
                <a:latin typeface="Courier New" panose="02070309020205020404" pitchFamily="49" charset="0"/>
                <a:cs typeface="Courier New" panose="02070309020205020404" pitchFamily="49" charset="0"/>
              </a:rPr>
              <a:t> system </a:t>
            </a:r>
            <a:r>
              <a:rPr lang="en-US" sz="2000" dirty="0" err="1">
                <a:solidFill>
                  <a:srgbClr val="000000"/>
                </a:solidFill>
                <a:latin typeface="Courier New" panose="02070309020205020404" pitchFamily="49" charset="0"/>
                <a:cs typeface="Courier New" panose="02070309020205020404" pitchFamily="49" charset="0"/>
              </a:rPr>
              <a:t>fortiguard</a:t>
            </a:r>
            <a:endParaRPr lang="en-US" sz="2000" dirty="0">
              <a:solidFill>
                <a:srgbClr val="000000"/>
              </a:solidFill>
              <a:latin typeface="Courier New" panose="02070309020205020404" pitchFamily="49" charset="0"/>
              <a:cs typeface="Courier New" panose="02070309020205020404" pitchFamily="49" charset="0"/>
            </a:endParaRPr>
          </a:p>
          <a:p>
            <a:pPr defTabSz="457189">
              <a:lnSpc>
                <a:spcPct val="90000"/>
              </a:lnSpc>
              <a:spcBef>
                <a:spcPts val="300"/>
              </a:spcBef>
            </a:pPr>
            <a:r>
              <a:rPr lang="en-US" sz="2000">
                <a:solidFill>
                  <a:srgbClr val="000000"/>
                </a:solidFill>
                <a:latin typeface="Courier New" panose="02070309020205020404" pitchFamily="49" charset="0"/>
                <a:cs typeface="Courier New" panose="02070309020205020404" pitchFamily="49" charset="0"/>
              </a:rPr>
              <a:t>       set </a:t>
            </a:r>
            <a:r>
              <a:rPr lang="en-US" sz="2000" dirty="0">
                <a:solidFill>
                  <a:srgbClr val="000000"/>
                </a:solidFill>
                <a:latin typeface="Courier New" panose="02070309020205020404" pitchFamily="49" charset="0"/>
                <a:cs typeface="Courier New" panose="02070309020205020404" pitchFamily="49" charset="0"/>
              </a:rPr>
              <a:t>update-</a:t>
            </a:r>
            <a:r>
              <a:rPr lang="en-US" sz="2000" dirty="0" err="1">
                <a:solidFill>
                  <a:srgbClr val="000000"/>
                </a:solidFill>
                <a:latin typeface="Courier New" panose="02070309020205020404" pitchFamily="49" charset="0"/>
                <a:cs typeface="Courier New" panose="02070309020205020404" pitchFamily="49" charset="0"/>
              </a:rPr>
              <a:t>ffdb</a:t>
            </a:r>
            <a:r>
              <a:rPr lang="en-US" sz="2000" dirty="0">
                <a:solidFill>
                  <a:srgbClr val="000000"/>
                </a:solidFill>
                <a:latin typeface="Courier New" panose="02070309020205020404" pitchFamily="49" charset="0"/>
                <a:cs typeface="Courier New" panose="02070309020205020404" pitchFamily="49" charset="0"/>
              </a:rPr>
              <a:t> [enable | disable]</a:t>
            </a:r>
          </a:p>
          <a:p>
            <a:pPr defTabSz="457189">
              <a:lnSpc>
                <a:spcPct val="90000"/>
              </a:lnSpc>
              <a:spcBef>
                <a:spcPts val="300"/>
              </a:spcBef>
            </a:pPr>
            <a:r>
              <a:rPr lang="en-US" sz="2000" dirty="0">
                <a:solidFill>
                  <a:srgbClr val="000000"/>
                </a:solidFill>
                <a:latin typeface="Courier New" panose="02070309020205020404" pitchFamily="49" charset="0"/>
                <a:cs typeface="Courier New" panose="02070309020205020404" pitchFamily="49" charset="0"/>
              </a:rPr>
              <a:t>   next</a:t>
            </a:r>
          </a:p>
          <a:p>
            <a:pPr defTabSz="457189">
              <a:lnSpc>
                <a:spcPct val="90000"/>
              </a:lnSpc>
              <a:spcBef>
                <a:spcPts val="300"/>
              </a:spcBef>
            </a:pPr>
            <a:r>
              <a:rPr lang="en-US" sz="2000" dirty="0">
                <a:solidFill>
                  <a:srgbClr val="000000"/>
                </a:solidFill>
                <a:latin typeface="Courier New" panose="02070309020205020404" pitchFamily="49" charset="0"/>
                <a:cs typeface="Courier New" panose="02070309020205020404" pitchFamily="49" charset="0"/>
              </a:rPr>
              <a:t>end</a:t>
            </a:r>
          </a:p>
        </p:txBody>
      </p:sp>
    </p:spTree>
    <p:extLst>
      <p:ext uri="{BB962C8B-B14F-4D97-AF65-F5344CB8AC3E}">
        <p14:creationId xmlns:p14="http://schemas.microsoft.com/office/powerpoint/2010/main" val="2095760624"/>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Scheduling</a:t>
            </a:r>
            <a:endParaRPr lang="en-CA" dirty="0"/>
          </a:p>
        </p:txBody>
      </p:sp>
      <p:sp>
        <p:nvSpPr>
          <p:cNvPr id="3" name="Content Placeholder 2"/>
          <p:cNvSpPr>
            <a:spLocks noGrp="1"/>
          </p:cNvSpPr>
          <p:nvPr>
            <p:ph idx="1"/>
          </p:nvPr>
        </p:nvSpPr>
        <p:spPr/>
        <p:txBody>
          <a:bodyPr/>
          <a:lstStyle/>
          <a:p>
            <a:r>
              <a:rPr lang="en-US" dirty="0"/>
              <a:t>Policies apply only during specific times and on specific days</a:t>
            </a:r>
          </a:p>
          <a:p>
            <a:pPr lvl="1"/>
            <a:r>
              <a:rPr lang="en-US" dirty="0"/>
              <a:t>Example: A less restrictive </a:t>
            </a:r>
            <a:r>
              <a:rPr lang="en-US" i="1" dirty="0"/>
              <a:t>lunch time</a:t>
            </a:r>
            <a:r>
              <a:rPr lang="en-US" dirty="0"/>
              <a:t> policy</a:t>
            </a:r>
          </a:p>
          <a:p>
            <a:pPr lvl="1"/>
            <a:r>
              <a:rPr lang="en-US" dirty="0"/>
              <a:t>The default schedule applies all the time</a:t>
            </a:r>
          </a:p>
          <a:p>
            <a:pPr marL="285750" indent="-285750">
              <a:buClr>
                <a:srgbClr val="C00000"/>
              </a:buClr>
            </a:pPr>
            <a:r>
              <a:rPr lang="en-US" dirty="0"/>
              <a:t>Recurring</a:t>
            </a:r>
          </a:p>
          <a:p>
            <a:pPr marL="742870" lvl="2" indent="-285750">
              <a:buClr>
                <a:srgbClr val="C00000"/>
              </a:buClr>
            </a:pPr>
            <a:r>
              <a:rPr lang="en-US" sz="1800" dirty="0"/>
              <a:t>Happens at the same time during specified day(s)</a:t>
            </a:r>
            <a:br>
              <a:rPr lang="en-US" sz="1800" dirty="0"/>
            </a:br>
            <a:r>
              <a:rPr lang="en-US" sz="1800" dirty="0"/>
              <a:t>of the week</a:t>
            </a:r>
          </a:p>
          <a:p>
            <a:pPr lvl="1"/>
            <a:endParaRPr lang="en-US" dirty="0"/>
          </a:p>
          <a:p>
            <a:endParaRPr lang="en-US" dirty="0"/>
          </a:p>
          <a:p>
            <a:pPr marL="359770" lvl="1" indent="0">
              <a:buNone/>
            </a:pPr>
            <a:endParaRPr lang="en-US" dirty="0"/>
          </a:p>
          <a:p>
            <a:pPr marL="359770" lvl="1" indent="0">
              <a:buNone/>
            </a:pPr>
            <a:endParaRPr lang="en-US" dirty="0"/>
          </a:p>
          <a:p>
            <a:endParaRPr lang="en-US" dirty="0"/>
          </a:p>
          <a:p>
            <a:endParaRPr lang="en-CA" dirty="0"/>
          </a:p>
        </p:txBody>
      </p:sp>
      <p:sp>
        <p:nvSpPr>
          <p:cNvPr id="8" name="Rectangle 7"/>
          <p:cNvSpPr/>
          <p:nvPr/>
        </p:nvSpPr>
        <p:spPr bwMode="auto">
          <a:xfrm>
            <a:off x="471299" y="3007097"/>
            <a:ext cx="2792896" cy="283377"/>
          </a:xfrm>
          <a:prstGeom prst="rect">
            <a:avLst/>
          </a:prstGeom>
          <a:solidFill>
            <a:srgbClr val="00B0F0"/>
          </a:solidFill>
          <a:ln w="38100" cap="flat" cmpd="sng" algn="ctr">
            <a:no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400" b="1" dirty="0"/>
              <a:t>Policy &amp; Objects</a:t>
            </a:r>
            <a:r>
              <a:rPr lang="en-US" sz="1400" dirty="0"/>
              <a:t> &gt; </a:t>
            </a:r>
            <a:r>
              <a:rPr lang="en-US" sz="1400" b="1" dirty="0"/>
              <a:t>Schedules</a:t>
            </a:r>
          </a:p>
        </p:txBody>
      </p:sp>
      <p:sp>
        <p:nvSpPr>
          <p:cNvPr id="14" name="Rectangle 13"/>
          <p:cNvSpPr/>
          <p:nvPr/>
        </p:nvSpPr>
        <p:spPr bwMode="auto">
          <a:xfrm>
            <a:off x="6609863" y="3040241"/>
            <a:ext cx="2812810" cy="283377"/>
          </a:xfrm>
          <a:prstGeom prst="rect">
            <a:avLst/>
          </a:prstGeom>
          <a:solidFill>
            <a:srgbClr val="00B0F0"/>
          </a:solidFill>
          <a:ln w="38100" cap="flat" cmpd="sng" algn="ctr">
            <a:no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400" b="1" dirty="0"/>
              <a:t>Policy &amp; Objects</a:t>
            </a:r>
            <a:r>
              <a:rPr lang="en-US" sz="1400" dirty="0"/>
              <a:t> &gt; </a:t>
            </a:r>
            <a:r>
              <a:rPr lang="en-US" sz="1400" b="1" dirty="0"/>
              <a:t>Schedules</a:t>
            </a:r>
          </a:p>
        </p:txBody>
      </p:sp>
      <p:sp>
        <p:nvSpPr>
          <p:cNvPr id="20" name="TextBox 19"/>
          <p:cNvSpPr txBox="1"/>
          <p:nvPr/>
        </p:nvSpPr>
        <p:spPr>
          <a:xfrm>
            <a:off x="7641672" y="2246900"/>
            <a:ext cx="2909771" cy="1323439"/>
          </a:xfrm>
          <a:prstGeom prst="rect">
            <a:avLst/>
          </a:prstGeom>
          <a:noFill/>
        </p:spPr>
        <p:txBody>
          <a:bodyPr wrap="none" rtlCol="0">
            <a:spAutoFit/>
          </a:bodyPr>
          <a:lstStyle/>
          <a:p>
            <a:pPr marL="285750" indent="-285750">
              <a:buClr>
                <a:srgbClr val="C00000"/>
              </a:buClr>
              <a:buFont typeface="Arial" panose="020B0604020202020204" pitchFamily="34" charset="0"/>
              <a:buChar char="•"/>
            </a:pPr>
            <a:r>
              <a:rPr lang="en-US" sz="2200" dirty="0"/>
              <a:t>One-time</a:t>
            </a:r>
          </a:p>
          <a:p>
            <a:pPr marL="742870" lvl="1" indent="-285750">
              <a:buClr>
                <a:srgbClr val="C00000"/>
              </a:buClr>
              <a:buFont typeface="Arial" panose="020B0604020202020204" pitchFamily="34" charset="0"/>
              <a:buChar char="•"/>
            </a:pPr>
            <a:r>
              <a:rPr lang="en-US" dirty="0"/>
              <a:t>Happens only once</a:t>
            </a:r>
          </a:p>
          <a:p>
            <a:pPr marL="742870" lvl="1" indent="-285750">
              <a:buClr>
                <a:srgbClr val="C00000"/>
              </a:buClr>
              <a:buFont typeface="Arial" panose="020B0604020202020204" pitchFamily="34" charset="0"/>
              <a:buChar char="•"/>
            </a:pPr>
            <a:endParaRPr lang="en-US" sz="2200" dirty="0"/>
          </a:p>
          <a:p>
            <a:endParaRPr lang="en-CA" dirty="0"/>
          </a:p>
        </p:txBody>
      </p:sp>
      <p:pic>
        <p:nvPicPr>
          <p:cNvPr id="22" name="Content Placeholder 1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28624" y="1195398"/>
            <a:ext cx="1101513" cy="1101513"/>
          </a:xfrm>
          <a:prstGeom prst="rect">
            <a:avLst/>
          </a:prstGeom>
          <a:ln>
            <a:solidFill>
              <a:schemeClr val="tx1"/>
            </a:solidFill>
          </a:ln>
        </p:spPr>
      </p:pic>
      <p:pic>
        <p:nvPicPr>
          <p:cNvPr id="6" name="Picture 5"/>
          <p:cNvPicPr>
            <a:picLocks noChangeAspect="1"/>
          </p:cNvPicPr>
          <p:nvPr/>
        </p:nvPicPr>
        <p:blipFill>
          <a:blip r:embed="rId5"/>
          <a:stretch>
            <a:fillRect/>
          </a:stretch>
        </p:blipFill>
        <p:spPr>
          <a:xfrm>
            <a:off x="471299" y="3367331"/>
            <a:ext cx="5050270" cy="2960177"/>
          </a:xfrm>
          <a:prstGeom prst="rect">
            <a:avLst/>
          </a:prstGeom>
          <a:ln>
            <a:solidFill>
              <a:schemeClr val="tx1"/>
            </a:solidFill>
          </a:ln>
        </p:spPr>
      </p:pic>
      <p:sp>
        <p:nvSpPr>
          <p:cNvPr id="12" name="Rectangle 11"/>
          <p:cNvSpPr/>
          <p:nvPr/>
        </p:nvSpPr>
        <p:spPr bwMode="auto">
          <a:xfrm>
            <a:off x="1611842" y="4836669"/>
            <a:ext cx="3792496" cy="661845"/>
          </a:xfrm>
          <a:prstGeom prst="rect">
            <a:avLst/>
          </a:prstGeom>
          <a:noFill/>
          <a:ln w="38100" cap="flat" cmpd="sng" algn="ctr">
            <a:solidFill>
              <a:srgbClr val="FF0000"/>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20000"/>
              </a:spcBef>
              <a:spcAft>
                <a:spcPct val="0"/>
              </a:spcAft>
              <a:buClr>
                <a:schemeClr val="accent1"/>
              </a:buClr>
              <a:buSzPct val="90000"/>
              <a:buFont typeface="Wingdings" charset="2"/>
              <a:buNone/>
              <a:tabLst/>
            </a:pPr>
            <a:endParaRPr kumimoji="0" lang="en-CA" sz="1200" b="0" i="0" u="none" strike="noStrike" cap="none" normalizeH="0" baseline="0" dirty="0">
              <a:ln>
                <a:noFill/>
              </a:ln>
            </a:endParaRPr>
          </a:p>
        </p:txBody>
      </p:sp>
      <p:sp>
        <p:nvSpPr>
          <p:cNvPr id="4" name="Rectangle 3"/>
          <p:cNvSpPr/>
          <p:nvPr/>
        </p:nvSpPr>
        <p:spPr bwMode="invGray">
          <a:xfrm>
            <a:off x="502014" y="5498514"/>
            <a:ext cx="1365733" cy="279210"/>
          </a:xfrm>
          <a:prstGeom prst="rect">
            <a:avLst/>
          </a:prstGeom>
          <a:noFill/>
          <a:ln w="38100">
            <a:solidFill>
              <a:srgbClr val="FF0000"/>
            </a:solidFill>
            <a:round/>
            <a:headEnd/>
            <a:tailEn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1" name="Rectangle 10"/>
          <p:cNvSpPr/>
          <p:nvPr/>
        </p:nvSpPr>
        <p:spPr bwMode="auto">
          <a:xfrm>
            <a:off x="1086552" y="3817054"/>
            <a:ext cx="730525" cy="233927"/>
          </a:xfrm>
          <a:prstGeom prst="rect">
            <a:avLst/>
          </a:prstGeom>
          <a:noFill/>
          <a:ln w="38100" cap="flat" cmpd="sng" algn="ctr">
            <a:solidFill>
              <a:srgbClr val="FF0000"/>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20000"/>
              </a:spcBef>
              <a:spcAft>
                <a:spcPct val="0"/>
              </a:spcAft>
              <a:buClr>
                <a:schemeClr val="accent1"/>
              </a:buClr>
              <a:buSzPct val="90000"/>
              <a:buFont typeface="Wingdings" charset="2"/>
              <a:buNone/>
              <a:tabLst/>
            </a:pPr>
            <a:endParaRPr kumimoji="0" lang="en-CA" sz="1200" b="0" i="0" u="none" strike="noStrike" cap="none" normalizeH="0" baseline="0" dirty="0">
              <a:ln>
                <a:noFill/>
              </a:ln>
            </a:endParaRPr>
          </a:p>
        </p:txBody>
      </p:sp>
      <p:pic>
        <p:nvPicPr>
          <p:cNvPr id="13" name="Picture 12"/>
          <p:cNvPicPr>
            <a:picLocks noChangeAspect="1"/>
          </p:cNvPicPr>
          <p:nvPr/>
        </p:nvPicPr>
        <p:blipFill>
          <a:blip r:embed="rId6"/>
          <a:stretch>
            <a:fillRect/>
          </a:stretch>
        </p:blipFill>
        <p:spPr>
          <a:xfrm>
            <a:off x="6590715" y="3402500"/>
            <a:ext cx="5268010" cy="2775724"/>
          </a:xfrm>
          <a:prstGeom prst="rect">
            <a:avLst/>
          </a:prstGeom>
          <a:ln>
            <a:solidFill>
              <a:schemeClr val="tx1"/>
            </a:solidFill>
          </a:ln>
        </p:spPr>
      </p:pic>
      <p:sp>
        <p:nvSpPr>
          <p:cNvPr id="21" name="Rectangle 20"/>
          <p:cNvSpPr/>
          <p:nvPr/>
        </p:nvSpPr>
        <p:spPr bwMode="auto">
          <a:xfrm>
            <a:off x="6677212" y="5779866"/>
            <a:ext cx="2253845" cy="279210"/>
          </a:xfrm>
          <a:prstGeom prst="rect">
            <a:avLst/>
          </a:prstGeom>
          <a:noFill/>
          <a:ln w="38100" cap="flat" cmpd="sng" algn="ctr">
            <a:solidFill>
              <a:srgbClr val="FF0000"/>
            </a:solidFill>
            <a:prstDash val="solid"/>
            <a:round/>
            <a:headEnd type="none" w="med" len="med"/>
            <a:tailEnd type="none" w="med" len="med"/>
          </a:ln>
          <a:effectLst/>
        </p:spPr>
        <p:txBody>
          <a:bodyPr rtlCol="0" anchor="ctr"/>
          <a:lstStyle/>
          <a:p>
            <a:pPr algn="ctr"/>
            <a:endParaRPr lang="en-CA" dirty="0"/>
          </a:p>
        </p:txBody>
      </p:sp>
      <p:sp>
        <p:nvSpPr>
          <p:cNvPr id="7" name="Rectangle 6"/>
          <p:cNvSpPr/>
          <p:nvPr/>
        </p:nvSpPr>
        <p:spPr bwMode="invGray">
          <a:xfrm>
            <a:off x="8042926" y="3855373"/>
            <a:ext cx="761105" cy="238140"/>
          </a:xfrm>
          <a:prstGeom prst="rect">
            <a:avLst/>
          </a:prstGeom>
          <a:noFill/>
          <a:ln w="38100">
            <a:solidFill>
              <a:srgbClr val="FF0000"/>
            </a:solidFill>
            <a:round/>
            <a:headEnd/>
            <a:tailEn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A" dirty="0"/>
          </a:p>
        </p:txBody>
      </p:sp>
    </p:spTree>
    <p:custDataLst>
      <p:tags r:id="rId1"/>
    </p:custDataLst>
    <p:extLst>
      <p:ext uri="{BB962C8B-B14F-4D97-AF65-F5344CB8AC3E}">
        <p14:creationId xmlns:p14="http://schemas.microsoft.com/office/powerpoint/2010/main" val="648107284"/>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9" name="Straight Connector 18"/>
          <p:cNvCxnSpPr/>
          <p:nvPr/>
        </p:nvCxnSpPr>
        <p:spPr bwMode="auto">
          <a:xfrm flipV="1">
            <a:off x="6267938" y="2819864"/>
            <a:ext cx="3411002" cy="4306"/>
          </a:xfrm>
          <a:prstGeom prst="line">
            <a:avLst/>
          </a:prstGeom>
          <a:solidFill>
            <a:schemeClr val="accent2">
              <a:alpha val="42000"/>
            </a:schemeClr>
          </a:solidFill>
          <a:ln w="38100" cap="flat" cmpd="sng" algn="ctr">
            <a:solidFill>
              <a:schemeClr val="bg1">
                <a:lumMod val="50000"/>
              </a:schemeClr>
            </a:solidFill>
            <a:prstDash val="solid"/>
            <a:round/>
            <a:headEnd type="none" w="med" len="med"/>
            <a:tailEnd type="none" w="med" len="med"/>
          </a:ln>
          <a:effectLst>
            <a:outerShdw blurRad="50800" dist="38100" dir="2700000" algn="tl" rotWithShape="0">
              <a:prstClr val="black">
                <a:alpha val="40000"/>
              </a:prstClr>
            </a:outerShdw>
          </a:effectLst>
        </p:spPr>
      </p:cxnSp>
      <p:cxnSp>
        <p:nvCxnSpPr>
          <p:cNvPr id="18" name="Straight Connector 17"/>
          <p:cNvCxnSpPr/>
          <p:nvPr/>
        </p:nvCxnSpPr>
        <p:spPr bwMode="auto">
          <a:xfrm>
            <a:off x="3308985" y="2824170"/>
            <a:ext cx="2855284" cy="0"/>
          </a:xfrm>
          <a:prstGeom prst="line">
            <a:avLst/>
          </a:prstGeom>
          <a:solidFill>
            <a:schemeClr val="accent2">
              <a:alpha val="42000"/>
            </a:schemeClr>
          </a:solidFill>
          <a:ln w="38100" cap="flat" cmpd="sng" algn="ctr">
            <a:solidFill>
              <a:schemeClr val="bg1">
                <a:lumMod val="50000"/>
              </a:schemeClr>
            </a:solidFill>
            <a:prstDash val="solid"/>
            <a:round/>
            <a:headEnd type="none" w="med" len="med"/>
            <a:tailEnd type="none" w="med" len="med"/>
          </a:ln>
          <a:effectLst>
            <a:outerShdw blurRad="50800" dist="38100" dir="2700000" algn="tl" rotWithShape="0">
              <a:prstClr val="black">
                <a:alpha val="40000"/>
              </a:prstClr>
            </a:outerShdw>
          </a:effectLst>
        </p:spPr>
      </p:cxnSp>
      <p:sp>
        <p:nvSpPr>
          <p:cNvPr id="2" name="Title 1"/>
          <p:cNvSpPr>
            <a:spLocks noGrp="1"/>
          </p:cNvSpPr>
          <p:nvPr>
            <p:ph type="title"/>
          </p:nvPr>
        </p:nvSpPr>
        <p:spPr/>
        <p:txBody>
          <a:bodyPr/>
          <a:lstStyle/>
          <a:p>
            <a:r>
              <a:rPr lang="en-US" dirty="0"/>
              <a:t>Matching by Service</a:t>
            </a:r>
            <a:endParaRPr lang="en-CA" dirty="0"/>
          </a:p>
        </p:txBody>
      </p:sp>
      <p:sp>
        <p:nvSpPr>
          <p:cNvPr id="3" name="Content Placeholder 2"/>
          <p:cNvSpPr>
            <a:spLocks noGrp="1"/>
          </p:cNvSpPr>
          <p:nvPr>
            <p:ph idx="1"/>
          </p:nvPr>
        </p:nvSpPr>
        <p:spPr/>
        <p:txBody>
          <a:bodyPr/>
          <a:lstStyle/>
          <a:p>
            <a:r>
              <a:rPr lang="en-US" dirty="0"/>
              <a:t>Service determines matching transmission protocol (UDP, TCP, and so on) and port number</a:t>
            </a:r>
          </a:p>
          <a:p>
            <a:r>
              <a:rPr lang="en-US" dirty="0"/>
              <a:t>Can be predefined or custom</a:t>
            </a:r>
          </a:p>
          <a:p>
            <a:r>
              <a:rPr lang="en-US" b="1" dirty="0"/>
              <a:t>ALL</a:t>
            </a:r>
            <a:r>
              <a:rPr lang="en-US" dirty="0"/>
              <a:t> matches all ports and protocols</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4" name="Oval 31"/>
          <p:cNvSpPr>
            <a:spLocks noChangeArrowheads="1"/>
          </p:cNvSpPr>
          <p:nvPr/>
        </p:nvSpPr>
        <p:spPr bwMode="auto">
          <a:xfrm>
            <a:off x="6408954" y="2734168"/>
            <a:ext cx="195262" cy="146447"/>
          </a:xfrm>
          <a:prstGeom prst="ellipse">
            <a:avLst/>
          </a:prstGeom>
          <a:solidFill>
            <a:srgbClr val="00B050"/>
          </a:solidFill>
          <a:ln>
            <a:noFill/>
          </a:ln>
          <a:effectLst/>
        </p:spPr>
        <p:txBody>
          <a:bodyPr wrap="none" anchor="ctr"/>
          <a:lstStyle/>
          <a:p>
            <a:pPr algn="ctr" eaLnBrk="0" hangingPunct="0">
              <a:defRPr/>
            </a:pPr>
            <a:endParaRPr lang="en-US" dirty="0"/>
          </a:p>
        </p:txBody>
      </p:sp>
      <p:sp>
        <p:nvSpPr>
          <p:cNvPr id="5" name="Oval 28"/>
          <p:cNvSpPr>
            <a:spLocks noChangeArrowheads="1"/>
          </p:cNvSpPr>
          <p:nvPr/>
        </p:nvSpPr>
        <p:spPr bwMode="auto">
          <a:xfrm>
            <a:off x="2814745" y="2602690"/>
            <a:ext cx="195262" cy="146447"/>
          </a:xfrm>
          <a:prstGeom prst="ellipse">
            <a:avLst/>
          </a:prstGeom>
          <a:solidFill>
            <a:srgbClr val="00B050"/>
          </a:solidFill>
          <a:ln>
            <a:noFill/>
          </a:ln>
          <a:effectLst/>
        </p:spPr>
        <p:txBody>
          <a:bodyPr wrap="none" anchor="ctr"/>
          <a:lstStyle/>
          <a:p>
            <a:pPr algn="ctr" eaLnBrk="0" hangingPunct="0">
              <a:defRPr/>
            </a:pPr>
            <a:endParaRPr lang="en-US" dirty="0"/>
          </a:p>
        </p:txBody>
      </p:sp>
      <p:grpSp>
        <p:nvGrpSpPr>
          <p:cNvPr id="6" name="Group 16"/>
          <p:cNvGrpSpPr>
            <a:grpSpLocks/>
          </p:cNvGrpSpPr>
          <p:nvPr/>
        </p:nvGrpSpPr>
        <p:grpSpPr bwMode="auto">
          <a:xfrm>
            <a:off x="4532171" y="2947554"/>
            <a:ext cx="1638300" cy="548879"/>
            <a:chOff x="935" y="678"/>
            <a:chExt cx="1032" cy="461"/>
          </a:xfrm>
        </p:grpSpPr>
        <p:sp>
          <p:nvSpPr>
            <p:cNvPr id="7" name="Rectangle 17"/>
            <p:cNvSpPr>
              <a:spLocks noChangeArrowheads="1"/>
            </p:cNvSpPr>
            <p:nvPr/>
          </p:nvSpPr>
          <p:spPr bwMode="auto">
            <a:xfrm>
              <a:off x="935" y="911"/>
              <a:ext cx="1032" cy="228"/>
            </a:xfrm>
            <a:prstGeom prst="rect">
              <a:avLst/>
            </a:prstGeom>
            <a:solidFill>
              <a:srgbClr val="00B0F0"/>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sz="1400" b="1" dirty="0"/>
                <a:t>Protocol and Port</a:t>
              </a:r>
            </a:p>
          </p:txBody>
        </p:sp>
        <p:sp>
          <p:nvSpPr>
            <p:cNvPr id="8" name="Text Box 18"/>
            <p:cNvSpPr txBox="1">
              <a:spLocks noChangeArrowheads="1"/>
            </p:cNvSpPr>
            <p:nvPr/>
          </p:nvSpPr>
          <p:spPr bwMode="auto">
            <a:xfrm>
              <a:off x="1216" y="678"/>
              <a:ext cx="480" cy="2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b="1">
                  <a:solidFill>
                    <a:schemeClr val="tx1"/>
                  </a:solidFill>
                  <a:latin typeface="Arial" charset="0"/>
                  <a:ea typeface="MS PGothic" pitchFamily="34" charset="-128"/>
                </a:defRPr>
              </a:lvl1pPr>
              <a:lvl2pPr marL="742950" indent="-285750" eaLnBrk="0" hangingPunct="0">
                <a:defRPr sz="2000" b="1">
                  <a:solidFill>
                    <a:schemeClr val="tx1"/>
                  </a:solidFill>
                  <a:latin typeface="Arial" charset="0"/>
                  <a:ea typeface="MS PGothic" pitchFamily="34" charset="-128"/>
                </a:defRPr>
              </a:lvl2pPr>
              <a:lvl3pPr marL="1143000" indent="-228600" eaLnBrk="0" hangingPunct="0">
                <a:defRPr sz="2000" b="1">
                  <a:solidFill>
                    <a:schemeClr val="tx1"/>
                  </a:solidFill>
                  <a:latin typeface="Arial" charset="0"/>
                  <a:ea typeface="MS PGothic" pitchFamily="34" charset="-128"/>
                </a:defRPr>
              </a:lvl3pPr>
              <a:lvl4pPr marL="1600200" indent="-228600" eaLnBrk="0" hangingPunct="0">
                <a:defRPr sz="2000" b="1">
                  <a:solidFill>
                    <a:schemeClr val="tx1"/>
                  </a:solidFill>
                  <a:latin typeface="Arial" charset="0"/>
                  <a:ea typeface="MS PGothic" pitchFamily="34" charset="-128"/>
                </a:defRPr>
              </a:lvl4pPr>
              <a:lvl5pPr marL="2057400" indent="-228600" eaLnBrk="0" hangingPunct="0">
                <a:defRPr sz="2000" b="1">
                  <a:solidFill>
                    <a:schemeClr val="tx1"/>
                  </a:solidFill>
                  <a:latin typeface="Arial" charset="0"/>
                  <a:ea typeface="MS PGothic" pitchFamily="34" charset="-128"/>
                </a:defRPr>
              </a:lvl5pPr>
              <a:lvl6pPr marL="2514600" indent="-228600" eaLnBrk="0" fontAlgn="base" hangingPunct="0">
                <a:spcBef>
                  <a:spcPct val="0"/>
                </a:spcBef>
                <a:spcAft>
                  <a:spcPct val="0"/>
                </a:spcAft>
                <a:defRPr sz="2000" b="1">
                  <a:solidFill>
                    <a:schemeClr val="tx1"/>
                  </a:solidFill>
                  <a:latin typeface="Arial" charset="0"/>
                  <a:ea typeface="MS PGothic" pitchFamily="34" charset="-128"/>
                </a:defRPr>
              </a:lvl6pPr>
              <a:lvl7pPr marL="2971800" indent="-228600" eaLnBrk="0" fontAlgn="base" hangingPunct="0">
                <a:spcBef>
                  <a:spcPct val="0"/>
                </a:spcBef>
                <a:spcAft>
                  <a:spcPct val="0"/>
                </a:spcAft>
                <a:defRPr sz="2000" b="1">
                  <a:solidFill>
                    <a:schemeClr val="tx1"/>
                  </a:solidFill>
                  <a:latin typeface="Arial" charset="0"/>
                  <a:ea typeface="MS PGothic" pitchFamily="34" charset="-128"/>
                </a:defRPr>
              </a:lvl7pPr>
              <a:lvl8pPr marL="3429000" indent="-228600" eaLnBrk="0" fontAlgn="base" hangingPunct="0">
                <a:spcBef>
                  <a:spcPct val="0"/>
                </a:spcBef>
                <a:spcAft>
                  <a:spcPct val="0"/>
                </a:spcAft>
                <a:defRPr sz="2000" b="1">
                  <a:solidFill>
                    <a:schemeClr val="tx1"/>
                  </a:solidFill>
                  <a:latin typeface="Arial" charset="0"/>
                  <a:ea typeface="MS PGothic" pitchFamily="34" charset="-128"/>
                </a:defRPr>
              </a:lvl8pPr>
              <a:lvl9pPr marL="3886200" indent="-228600" eaLnBrk="0" fontAlgn="base" hangingPunct="0">
                <a:spcBef>
                  <a:spcPct val="0"/>
                </a:spcBef>
                <a:spcAft>
                  <a:spcPct val="0"/>
                </a:spcAft>
                <a:defRPr sz="2000" b="1">
                  <a:solidFill>
                    <a:schemeClr val="tx1"/>
                  </a:solidFill>
                  <a:latin typeface="Arial" charset="0"/>
                  <a:ea typeface="MS PGothic" pitchFamily="34" charset="-128"/>
                </a:defRPr>
              </a:lvl9pPr>
            </a:lstStyle>
            <a:p>
              <a:r>
                <a:rPr lang="en-US" sz="1400" dirty="0">
                  <a:latin typeface="+mn-lt"/>
                </a:rPr>
                <a:t>Packet</a:t>
              </a:r>
            </a:p>
          </p:txBody>
        </p:sp>
      </p:grpSp>
      <p:grpSp>
        <p:nvGrpSpPr>
          <p:cNvPr id="9" name="Group 19"/>
          <p:cNvGrpSpPr>
            <a:grpSpLocks/>
          </p:cNvGrpSpPr>
          <p:nvPr/>
        </p:nvGrpSpPr>
        <p:grpSpPr bwMode="auto">
          <a:xfrm>
            <a:off x="6709275" y="2950531"/>
            <a:ext cx="1724025" cy="548879"/>
            <a:chOff x="3068" y="678"/>
            <a:chExt cx="1086" cy="461"/>
          </a:xfrm>
        </p:grpSpPr>
        <p:sp>
          <p:nvSpPr>
            <p:cNvPr id="10" name="Rectangle 20"/>
            <p:cNvSpPr>
              <a:spLocks noChangeArrowheads="1"/>
            </p:cNvSpPr>
            <p:nvPr/>
          </p:nvSpPr>
          <p:spPr bwMode="auto">
            <a:xfrm>
              <a:off x="3068" y="911"/>
              <a:ext cx="1086" cy="228"/>
            </a:xfrm>
            <a:prstGeom prst="rect">
              <a:avLst/>
            </a:prstGeom>
            <a:solidFill>
              <a:srgbClr val="00B0F0"/>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sz="1400" b="1" dirty="0"/>
                <a:t>Protocol and Port</a:t>
              </a:r>
            </a:p>
          </p:txBody>
        </p:sp>
        <p:sp>
          <p:nvSpPr>
            <p:cNvPr id="11" name="Text Box 21"/>
            <p:cNvSpPr txBox="1">
              <a:spLocks noChangeArrowheads="1"/>
            </p:cNvSpPr>
            <p:nvPr/>
          </p:nvSpPr>
          <p:spPr bwMode="auto">
            <a:xfrm>
              <a:off x="3184" y="678"/>
              <a:ext cx="900" cy="2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000" b="1">
                  <a:solidFill>
                    <a:schemeClr val="tx1"/>
                  </a:solidFill>
                  <a:latin typeface="Arial" charset="0"/>
                  <a:ea typeface="MS PGothic" pitchFamily="34" charset="-128"/>
                </a:defRPr>
              </a:lvl1pPr>
              <a:lvl2pPr marL="742950" indent="-285750" eaLnBrk="0" hangingPunct="0">
                <a:defRPr sz="2000" b="1">
                  <a:solidFill>
                    <a:schemeClr val="tx1"/>
                  </a:solidFill>
                  <a:latin typeface="Arial" charset="0"/>
                  <a:ea typeface="MS PGothic" pitchFamily="34" charset="-128"/>
                </a:defRPr>
              </a:lvl2pPr>
              <a:lvl3pPr marL="1143000" indent="-228600" eaLnBrk="0" hangingPunct="0">
                <a:defRPr sz="2000" b="1">
                  <a:solidFill>
                    <a:schemeClr val="tx1"/>
                  </a:solidFill>
                  <a:latin typeface="Arial" charset="0"/>
                  <a:ea typeface="MS PGothic" pitchFamily="34" charset="-128"/>
                </a:defRPr>
              </a:lvl3pPr>
              <a:lvl4pPr marL="1600200" indent="-228600" eaLnBrk="0" hangingPunct="0">
                <a:defRPr sz="2000" b="1">
                  <a:solidFill>
                    <a:schemeClr val="tx1"/>
                  </a:solidFill>
                  <a:latin typeface="Arial" charset="0"/>
                  <a:ea typeface="MS PGothic" pitchFamily="34" charset="-128"/>
                </a:defRPr>
              </a:lvl4pPr>
              <a:lvl5pPr marL="2057400" indent="-228600" eaLnBrk="0" hangingPunct="0">
                <a:defRPr sz="2000" b="1">
                  <a:solidFill>
                    <a:schemeClr val="tx1"/>
                  </a:solidFill>
                  <a:latin typeface="Arial" charset="0"/>
                  <a:ea typeface="MS PGothic" pitchFamily="34" charset="-128"/>
                </a:defRPr>
              </a:lvl5pPr>
              <a:lvl6pPr marL="2514600" indent="-228600" eaLnBrk="0" fontAlgn="base" hangingPunct="0">
                <a:spcBef>
                  <a:spcPct val="0"/>
                </a:spcBef>
                <a:spcAft>
                  <a:spcPct val="0"/>
                </a:spcAft>
                <a:defRPr sz="2000" b="1">
                  <a:solidFill>
                    <a:schemeClr val="tx1"/>
                  </a:solidFill>
                  <a:latin typeface="Arial" charset="0"/>
                  <a:ea typeface="MS PGothic" pitchFamily="34" charset="-128"/>
                </a:defRPr>
              </a:lvl6pPr>
              <a:lvl7pPr marL="2971800" indent="-228600" eaLnBrk="0" fontAlgn="base" hangingPunct="0">
                <a:spcBef>
                  <a:spcPct val="0"/>
                </a:spcBef>
                <a:spcAft>
                  <a:spcPct val="0"/>
                </a:spcAft>
                <a:defRPr sz="2000" b="1">
                  <a:solidFill>
                    <a:schemeClr val="tx1"/>
                  </a:solidFill>
                  <a:latin typeface="Arial" charset="0"/>
                  <a:ea typeface="MS PGothic" pitchFamily="34" charset="-128"/>
                </a:defRPr>
              </a:lvl7pPr>
              <a:lvl8pPr marL="3429000" indent="-228600" eaLnBrk="0" fontAlgn="base" hangingPunct="0">
                <a:spcBef>
                  <a:spcPct val="0"/>
                </a:spcBef>
                <a:spcAft>
                  <a:spcPct val="0"/>
                </a:spcAft>
                <a:defRPr sz="2000" b="1">
                  <a:solidFill>
                    <a:schemeClr val="tx1"/>
                  </a:solidFill>
                  <a:latin typeface="Arial" charset="0"/>
                  <a:ea typeface="MS PGothic" pitchFamily="34" charset="-128"/>
                </a:defRPr>
              </a:lvl8pPr>
              <a:lvl9pPr marL="3886200" indent="-228600" eaLnBrk="0" fontAlgn="base" hangingPunct="0">
                <a:spcBef>
                  <a:spcPct val="0"/>
                </a:spcBef>
                <a:spcAft>
                  <a:spcPct val="0"/>
                </a:spcAft>
                <a:defRPr sz="2000" b="1">
                  <a:solidFill>
                    <a:schemeClr val="tx1"/>
                  </a:solidFill>
                  <a:latin typeface="Arial" charset="0"/>
                  <a:ea typeface="MS PGothic" pitchFamily="34" charset="-128"/>
                </a:defRPr>
              </a:lvl9pPr>
            </a:lstStyle>
            <a:p>
              <a:r>
                <a:rPr lang="en-US" sz="1400" dirty="0">
                  <a:latin typeface="+mn-lt"/>
                </a:rPr>
                <a:t>Firewall Policy</a:t>
              </a:r>
            </a:p>
          </p:txBody>
        </p:sp>
      </p:grpSp>
      <p:sp>
        <p:nvSpPr>
          <p:cNvPr id="12" name="Text Box 22"/>
          <p:cNvSpPr txBox="1">
            <a:spLocks noChangeArrowheads="1"/>
          </p:cNvSpPr>
          <p:nvPr/>
        </p:nvSpPr>
        <p:spPr bwMode="auto">
          <a:xfrm>
            <a:off x="6213582" y="3000838"/>
            <a:ext cx="50348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000" b="1">
                <a:solidFill>
                  <a:schemeClr val="tx1"/>
                </a:solidFill>
                <a:latin typeface="Arial" charset="0"/>
                <a:ea typeface="MS PGothic" pitchFamily="34" charset="-128"/>
              </a:defRPr>
            </a:lvl1pPr>
            <a:lvl2pPr marL="742950" indent="-285750" eaLnBrk="0" hangingPunct="0">
              <a:defRPr sz="2000" b="1">
                <a:solidFill>
                  <a:schemeClr val="tx1"/>
                </a:solidFill>
                <a:latin typeface="Arial" charset="0"/>
                <a:ea typeface="MS PGothic" pitchFamily="34" charset="-128"/>
              </a:defRPr>
            </a:lvl2pPr>
            <a:lvl3pPr marL="1143000" indent="-228600" eaLnBrk="0" hangingPunct="0">
              <a:defRPr sz="2000" b="1">
                <a:solidFill>
                  <a:schemeClr val="tx1"/>
                </a:solidFill>
                <a:latin typeface="Arial" charset="0"/>
                <a:ea typeface="MS PGothic" pitchFamily="34" charset="-128"/>
              </a:defRPr>
            </a:lvl3pPr>
            <a:lvl4pPr marL="1600200" indent="-228600" eaLnBrk="0" hangingPunct="0">
              <a:defRPr sz="2000" b="1">
                <a:solidFill>
                  <a:schemeClr val="tx1"/>
                </a:solidFill>
                <a:latin typeface="Arial" charset="0"/>
                <a:ea typeface="MS PGothic" pitchFamily="34" charset="-128"/>
              </a:defRPr>
            </a:lvl4pPr>
            <a:lvl5pPr marL="2057400" indent="-228600" eaLnBrk="0" hangingPunct="0">
              <a:defRPr sz="2000" b="1">
                <a:solidFill>
                  <a:schemeClr val="tx1"/>
                </a:solidFill>
                <a:latin typeface="Arial" charset="0"/>
                <a:ea typeface="MS PGothic" pitchFamily="34" charset="-128"/>
              </a:defRPr>
            </a:lvl5pPr>
            <a:lvl6pPr marL="2514600" indent="-228600" eaLnBrk="0" fontAlgn="base" hangingPunct="0">
              <a:spcBef>
                <a:spcPct val="0"/>
              </a:spcBef>
              <a:spcAft>
                <a:spcPct val="0"/>
              </a:spcAft>
              <a:defRPr sz="2000" b="1">
                <a:solidFill>
                  <a:schemeClr val="tx1"/>
                </a:solidFill>
                <a:latin typeface="Arial" charset="0"/>
                <a:ea typeface="MS PGothic" pitchFamily="34" charset="-128"/>
              </a:defRPr>
            </a:lvl6pPr>
            <a:lvl7pPr marL="2971800" indent="-228600" eaLnBrk="0" fontAlgn="base" hangingPunct="0">
              <a:spcBef>
                <a:spcPct val="0"/>
              </a:spcBef>
              <a:spcAft>
                <a:spcPct val="0"/>
              </a:spcAft>
              <a:defRPr sz="2000" b="1">
                <a:solidFill>
                  <a:schemeClr val="tx1"/>
                </a:solidFill>
                <a:latin typeface="Arial" charset="0"/>
                <a:ea typeface="MS PGothic" pitchFamily="34" charset="-128"/>
              </a:defRPr>
            </a:lvl7pPr>
            <a:lvl8pPr marL="3429000" indent="-228600" eaLnBrk="0" fontAlgn="base" hangingPunct="0">
              <a:spcBef>
                <a:spcPct val="0"/>
              </a:spcBef>
              <a:spcAft>
                <a:spcPct val="0"/>
              </a:spcAft>
              <a:defRPr sz="2000" b="1">
                <a:solidFill>
                  <a:schemeClr val="tx1"/>
                </a:solidFill>
                <a:latin typeface="Arial" charset="0"/>
                <a:ea typeface="MS PGothic" pitchFamily="34" charset="-128"/>
              </a:defRPr>
            </a:lvl8pPr>
            <a:lvl9pPr marL="3886200" indent="-228600" eaLnBrk="0" fontAlgn="base" hangingPunct="0">
              <a:spcBef>
                <a:spcPct val="0"/>
              </a:spcBef>
              <a:spcAft>
                <a:spcPct val="0"/>
              </a:spcAft>
              <a:defRPr sz="2000" b="1">
                <a:solidFill>
                  <a:schemeClr val="tx1"/>
                </a:solidFill>
                <a:latin typeface="Arial" charset="0"/>
                <a:ea typeface="MS PGothic" pitchFamily="34" charset="-128"/>
              </a:defRPr>
            </a:lvl9pPr>
          </a:lstStyle>
          <a:p>
            <a:r>
              <a:rPr lang="en-US" sz="3600" b="0" i="1" dirty="0">
                <a:solidFill>
                  <a:srgbClr val="00B050"/>
                </a:solidFill>
                <a:latin typeface="+mn-lt"/>
              </a:rPr>
              <a:t>=</a:t>
            </a:r>
          </a:p>
        </p:txBody>
      </p:sp>
      <p:pic>
        <p:nvPicPr>
          <p:cNvPr id="15" name="Picture 14" descr="LAN_Network.png"/>
          <p:cNvPicPr>
            <a:picLocks noChangeAspect="1"/>
          </p:cNvPicPr>
          <p:nvPr/>
        </p:nvPicPr>
        <p:blipFill>
          <a:blip r:embed="rId4" cstate="print"/>
          <a:stretch>
            <a:fillRect/>
          </a:stretch>
        </p:blipFill>
        <p:spPr>
          <a:xfrm flipH="1">
            <a:off x="9667217" y="2372492"/>
            <a:ext cx="1356958" cy="946550"/>
          </a:xfrm>
          <a:prstGeom prst="rect">
            <a:avLst/>
          </a:prstGeom>
        </p:spPr>
      </p:pic>
      <p:pic>
        <p:nvPicPr>
          <p:cNvPr id="16" name="Picture 15"/>
          <p:cNvPicPr>
            <a:picLocks noChangeAspect="1"/>
          </p:cNvPicPr>
          <p:nvPr/>
        </p:nvPicPr>
        <p:blipFill>
          <a:blip r:embed="rId5" cstate="print"/>
          <a:stretch>
            <a:fillRect/>
          </a:stretch>
        </p:blipFill>
        <p:spPr>
          <a:xfrm>
            <a:off x="5851183" y="2504337"/>
            <a:ext cx="1082742" cy="635360"/>
          </a:xfrm>
          <a:prstGeom prst="rect">
            <a:avLst/>
          </a:prstGeom>
        </p:spPr>
      </p:pic>
      <p:pic>
        <p:nvPicPr>
          <p:cNvPr id="17" name="Picture 33" descr="search"/>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201859" y="2336666"/>
            <a:ext cx="865187" cy="382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 name="Rectangle 23"/>
          <p:cNvSpPr/>
          <p:nvPr/>
        </p:nvSpPr>
        <p:spPr bwMode="auto">
          <a:xfrm>
            <a:off x="561006" y="3309802"/>
            <a:ext cx="2859331" cy="349508"/>
          </a:xfrm>
          <a:prstGeom prst="rect">
            <a:avLst/>
          </a:prstGeom>
          <a:solidFill>
            <a:srgbClr val="00B0F0"/>
          </a:solidFill>
          <a:ln w="38100" cap="flat" cmpd="sng" algn="ctr">
            <a:no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600" b="1" dirty="0"/>
              <a:t>Policy &amp; Objects</a:t>
            </a:r>
            <a:r>
              <a:rPr lang="en-US" sz="1600" dirty="0"/>
              <a:t> &gt; </a:t>
            </a:r>
            <a:r>
              <a:rPr lang="en-US" sz="1600" b="1" dirty="0"/>
              <a:t>Services</a:t>
            </a:r>
          </a:p>
        </p:txBody>
      </p:sp>
      <p:pic>
        <p:nvPicPr>
          <p:cNvPr id="21" name="Picture 20"/>
          <p:cNvPicPr>
            <a:picLocks noChangeAspect="1"/>
          </p:cNvPicPr>
          <p:nvPr/>
        </p:nvPicPr>
        <p:blipFill>
          <a:blip r:embed="rId7"/>
          <a:stretch>
            <a:fillRect/>
          </a:stretch>
        </p:blipFill>
        <p:spPr>
          <a:xfrm>
            <a:off x="561006" y="3718542"/>
            <a:ext cx="7595374" cy="2621092"/>
          </a:xfrm>
          <a:prstGeom prst="rect">
            <a:avLst/>
          </a:prstGeom>
          <a:ln>
            <a:solidFill>
              <a:schemeClr val="tx1"/>
            </a:solidFill>
          </a:ln>
        </p:spPr>
      </p:pic>
      <p:sp>
        <p:nvSpPr>
          <p:cNvPr id="34" name="Rectangle 33"/>
          <p:cNvSpPr/>
          <p:nvPr/>
        </p:nvSpPr>
        <p:spPr bwMode="invGray">
          <a:xfrm>
            <a:off x="564922" y="5882535"/>
            <a:ext cx="6152147" cy="204150"/>
          </a:xfrm>
          <a:prstGeom prst="rect">
            <a:avLst/>
          </a:prstGeom>
          <a:noFill/>
          <a:ln w="38100">
            <a:solidFill>
              <a:srgbClr val="FF0000"/>
            </a:solidFill>
            <a:round/>
            <a:headEnd/>
            <a:tailE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A" dirty="0"/>
          </a:p>
        </p:txBody>
      </p:sp>
      <p:sp>
        <p:nvSpPr>
          <p:cNvPr id="41" name="Rectangle 40"/>
          <p:cNvSpPr/>
          <p:nvPr/>
        </p:nvSpPr>
        <p:spPr bwMode="invGray">
          <a:xfrm>
            <a:off x="563598" y="6093008"/>
            <a:ext cx="6158203" cy="224586"/>
          </a:xfrm>
          <a:prstGeom prst="rect">
            <a:avLst/>
          </a:prstGeom>
          <a:noFill/>
          <a:ln w="38100">
            <a:solidFill>
              <a:srgbClr val="FF0000"/>
            </a:solidFill>
            <a:round/>
            <a:headEnd/>
            <a:tailE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A" dirty="0"/>
          </a:p>
        </p:txBody>
      </p:sp>
      <p:sp>
        <p:nvSpPr>
          <p:cNvPr id="13" name="Rectangle 12"/>
          <p:cNvSpPr/>
          <p:nvPr/>
        </p:nvSpPr>
        <p:spPr bwMode="invGray">
          <a:xfrm>
            <a:off x="561007" y="3711671"/>
            <a:ext cx="967542" cy="248832"/>
          </a:xfrm>
          <a:prstGeom prst="rect">
            <a:avLst/>
          </a:prstGeom>
          <a:noFill/>
          <a:ln w="38100">
            <a:solidFill>
              <a:srgbClr val="FF0000"/>
            </a:solidFill>
            <a:round/>
            <a:headEnd/>
            <a:tailE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pic>
        <p:nvPicPr>
          <p:cNvPr id="14" name="Picture 13" descr="LAN_Network.png"/>
          <p:cNvPicPr>
            <a:picLocks noChangeAspect="1"/>
          </p:cNvPicPr>
          <p:nvPr/>
        </p:nvPicPr>
        <p:blipFill>
          <a:blip r:embed="rId8" cstate="print"/>
          <a:stretch>
            <a:fillRect/>
          </a:stretch>
        </p:blipFill>
        <p:spPr>
          <a:xfrm>
            <a:off x="2313103" y="2472842"/>
            <a:ext cx="1044627" cy="728682"/>
          </a:xfrm>
          <a:prstGeom prst="rect">
            <a:avLst/>
          </a:prstGeom>
        </p:spPr>
      </p:pic>
    </p:spTree>
    <p:custDataLst>
      <p:tags r:id="rId1"/>
    </p:custDataLst>
    <p:extLst>
      <p:ext uri="{BB962C8B-B14F-4D97-AF65-F5344CB8AC3E}">
        <p14:creationId xmlns:p14="http://schemas.microsoft.com/office/powerpoint/2010/main" val="1409376314"/>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accel="50000" decel="50000" fill="hold" grpId="0" nodeType="afterEffect">
                                  <p:stCondLst>
                                    <p:cond delay="500"/>
                                  </p:stCondLst>
                                  <p:childTnLst>
                                    <p:animMotion origin="layout" path="M 0.03348 0.02592 L 0.26791 0.0243 " pathEditMode="relative" rAng="0" ptsTypes="AA">
                                      <p:cBhvr>
                                        <p:cTn id="6" dur="750" fill="hold"/>
                                        <p:tgtEl>
                                          <p:spTgt spid="5"/>
                                        </p:tgtEl>
                                        <p:attrNameLst>
                                          <p:attrName>ppt_x</p:attrName>
                                          <p:attrName>ppt_y</p:attrName>
                                        </p:attrNameLst>
                                      </p:cBhvr>
                                      <p:rCtr x="11722" y="-93"/>
                                    </p:animMotion>
                                  </p:childTnLst>
                                </p:cTn>
                              </p:par>
                            </p:childTnLst>
                          </p:cTn>
                        </p:par>
                        <p:par>
                          <p:cTn id="7" fill="hold">
                            <p:stCondLst>
                              <p:cond delay="1250"/>
                            </p:stCondLst>
                            <p:childTnLst>
                              <p:par>
                                <p:cTn id="8" presetID="10" presetClass="entr" presetSubtype="0" fill="hold" nodeType="after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750"/>
                                        <p:tgtEl>
                                          <p:spTgt spid="17"/>
                                        </p:tgtEl>
                                      </p:cBhvr>
                                    </p:animEffect>
                                  </p:childTnLst>
                                </p:cTn>
                              </p:par>
                            </p:childTnLst>
                          </p:cTn>
                        </p:par>
                        <p:par>
                          <p:cTn id="11" fill="hold">
                            <p:stCondLst>
                              <p:cond delay="2000"/>
                            </p:stCondLst>
                            <p:childTnLst>
                              <p:par>
                                <p:cTn id="12" presetID="1" presetClass="path" presetSubtype="0" accel="50000" decel="50000" fill="hold" nodeType="afterEffect">
                                  <p:stCondLst>
                                    <p:cond delay="500"/>
                                  </p:stCondLst>
                                  <p:childTnLst>
                                    <p:animMotion origin="layout" path="M -0.01185 -0.04537 C 0.01264 -0.04537 0.03269 -0.01898 0.03269 0.01412 C 0.03269 0.04676 0.01264 0.07361 -0.01185 0.07361 C -0.0366 0.07361 -0.05639 0.04676 -0.05639 0.01412 C -0.05639 -0.01898 -0.0366 -0.04537 -0.01185 -0.04537 Z " pathEditMode="relative" rAng="0" ptsTypes="AAAAA">
                                      <p:cBhvr>
                                        <p:cTn id="13" dur="1000" fill="hold"/>
                                        <p:tgtEl>
                                          <p:spTgt spid="17"/>
                                        </p:tgtEl>
                                        <p:attrNameLst>
                                          <p:attrName>ppt_x</p:attrName>
                                          <p:attrName>ppt_y</p:attrName>
                                        </p:attrNameLst>
                                      </p:cBhvr>
                                      <p:rCtr x="0" y="5949"/>
                                    </p:animMotion>
                                  </p:childTnLst>
                                </p:cTn>
                              </p:par>
                            </p:childTnLst>
                          </p:cTn>
                        </p:par>
                        <p:par>
                          <p:cTn id="14" fill="hold">
                            <p:stCondLst>
                              <p:cond delay="3500"/>
                            </p:stCondLst>
                            <p:childTnLst>
                              <p:par>
                                <p:cTn id="15" presetID="1" presetClass="exit" presetSubtype="0" fill="hold" nodeType="afterEffect">
                                  <p:stCondLst>
                                    <p:cond delay="0"/>
                                  </p:stCondLst>
                                  <p:childTnLst>
                                    <p:set>
                                      <p:cBhvr>
                                        <p:cTn id="16" dur="1" fill="hold">
                                          <p:stCondLst>
                                            <p:cond delay="9"/>
                                          </p:stCondLst>
                                        </p:cTn>
                                        <p:tgtEl>
                                          <p:spTgt spid="17"/>
                                        </p:tgtEl>
                                        <p:attrNameLst>
                                          <p:attrName>style.visibility</p:attrName>
                                        </p:attrNameLst>
                                      </p:cBhvr>
                                      <p:to>
                                        <p:strVal val="hidden"/>
                                      </p:to>
                                    </p:set>
                                  </p:childTnLst>
                                </p:cTn>
                              </p:par>
                            </p:childTnLst>
                          </p:cTn>
                        </p:par>
                        <p:par>
                          <p:cTn id="17" fill="hold">
                            <p:stCondLst>
                              <p:cond delay="3510"/>
                            </p:stCondLst>
                            <p:childTnLst>
                              <p:par>
                                <p:cTn id="18" presetID="23" presetClass="entr" presetSubtype="16" fill="hold" nodeType="afterEffect">
                                  <p:stCondLst>
                                    <p:cond delay="0"/>
                                  </p:stCondLst>
                                  <p:childTnLst>
                                    <p:set>
                                      <p:cBhvr>
                                        <p:cTn id="19" dur="1" fill="hold">
                                          <p:stCondLst>
                                            <p:cond delay="0"/>
                                          </p:stCondLst>
                                        </p:cTn>
                                        <p:tgtEl>
                                          <p:spTgt spid="6"/>
                                        </p:tgtEl>
                                        <p:attrNameLst>
                                          <p:attrName>style.visibility</p:attrName>
                                        </p:attrNameLst>
                                      </p:cBhvr>
                                      <p:to>
                                        <p:strVal val="visible"/>
                                      </p:to>
                                    </p:set>
                                    <p:anim calcmode="lin" valueType="num">
                                      <p:cBhvr>
                                        <p:cTn id="20" dur="500" fill="hold"/>
                                        <p:tgtEl>
                                          <p:spTgt spid="6"/>
                                        </p:tgtEl>
                                        <p:attrNameLst>
                                          <p:attrName>ppt_w</p:attrName>
                                        </p:attrNameLst>
                                      </p:cBhvr>
                                      <p:tavLst>
                                        <p:tav tm="0">
                                          <p:val>
                                            <p:fltVal val="0"/>
                                          </p:val>
                                        </p:tav>
                                        <p:tav tm="100000">
                                          <p:val>
                                            <p:strVal val="#ppt_w"/>
                                          </p:val>
                                        </p:tav>
                                      </p:tavLst>
                                    </p:anim>
                                    <p:anim calcmode="lin" valueType="num">
                                      <p:cBhvr>
                                        <p:cTn id="21" dur="500" fill="hold"/>
                                        <p:tgtEl>
                                          <p:spTgt spid="6"/>
                                        </p:tgtEl>
                                        <p:attrNameLst>
                                          <p:attrName>ppt_h</p:attrName>
                                        </p:attrNameLst>
                                      </p:cBhvr>
                                      <p:tavLst>
                                        <p:tav tm="0">
                                          <p:val>
                                            <p:fltVal val="0"/>
                                          </p:val>
                                        </p:tav>
                                        <p:tav tm="100000">
                                          <p:val>
                                            <p:strVal val="#ppt_h"/>
                                          </p:val>
                                        </p:tav>
                                      </p:tavLst>
                                    </p:anim>
                                  </p:childTnLst>
                                </p:cTn>
                              </p:par>
                            </p:childTnLst>
                          </p:cTn>
                        </p:par>
                        <p:par>
                          <p:cTn id="22" fill="hold">
                            <p:stCondLst>
                              <p:cond delay="4010"/>
                            </p:stCondLst>
                            <p:childTnLst>
                              <p:par>
                                <p:cTn id="23" presetID="23" presetClass="entr" presetSubtype="16" fill="hold" nodeType="afterEffect">
                                  <p:stCondLst>
                                    <p:cond delay="0"/>
                                  </p:stCondLst>
                                  <p:childTnLst>
                                    <p:set>
                                      <p:cBhvr>
                                        <p:cTn id="24" dur="1" fill="hold">
                                          <p:stCondLst>
                                            <p:cond delay="0"/>
                                          </p:stCondLst>
                                        </p:cTn>
                                        <p:tgtEl>
                                          <p:spTgt spid="9"/>
                                        </p:tgtEl>
                                        <p:attrNameLst>
                                          <p:attrName>style.visibility</p:attrName>
                                        </p:attrNameLst>
                                      </p:cBhvr>
                                      <p:to>
                                        <p:strVal val="visible"/>
                                      </p:to>
                                    </p:set>
                                    <p:anim calcmode="lin" valueType="num">
                                      <p:cBhvr>
                                        <p:cTn id="25" dur="500" fill="hold"/>
                                        <p:tgtEl>
                                          <p:spTgt spid="9"/>
                                        </p:tgtEl>
                                        <p:attrNameLst>
                                          <p:attrName>ppt_w</p:attrName>
                                        </p:attrNameLst>
                                      </p:cBhvr>
                                      <p:tavLst>
                                        <p:tav tm="0">
                                          <p:val>
                                            <p:fltVal val="0"/>
                                          </p:val>
                                        </p:tav>
                                        <p:tav tm="100000">
                                          <p:val>
                                            <p:strVal val="#ppt_w"/>
                                          </p:val>
                                        </p:tav>
                                      </p:tavLst>
                                    </p:anim>
                                    <p:anim calcmode="lin" valueType="num">
                                      <p:cBhvr>
                                        <p:cTn id="26" dur="500" fill="hold"/>
                                        <p:tgtEl>
                                          <p:spTgt spid="9"/>
                                        </p:tgtEl>
                                        <p:attrNameLst>
                                          <p:attrName>ppt_h</p:attrName>
                                        </p:attrNameLst>
                                      </p:cBhvr>
                                      <p:tavLst>
                                        <p:tav tm="0">
                                          <p:val>
                                            <p:fltVal val="0"/>
                                          </p:val>
                                        </p:tav>
                                        <p:tav tm="100000">
                                          <p:val>
                                            <p:strVal val="#ppt_h"/>
                                          </p:val>
                                        </p:tav>
                                      </p:tavLst>
                                    </p:anim>
                                  </p:childTnLst>
                                </p:cTn>
                              </p:par>
                            </p:childTnLst>
                          </p:cTn>
                        </p:par>
                        <p:par>
                          <p:cTn id="27" fill="hold">
                            <p:stCondLst>
                              <p:cond delay="4510"/>
                            </p:stCondLst>
                            <p:childTnLst>
                              <p:par>
                                <p:cTn id="28" presetID="1" presetClass="entr" presetSubtype="0" fill="hold" grpId="0" nodeType="afterEffect">
                                  <p:stCondLst>
                                    <p:cond delay="0"/>
                                  </p:stCondLst>
                                  <p:childTnLst>
                                    <p:set>
                                      <p:cBhvr>
                                        <p:cTn id="29" dur="1" fill="hold">
                                          <p:stCondLst>
                                            <p:cond delay="0"/>
                                          </p:stCondLst>
                                        </p:cTn>
                                        <p:tgtEl>
                                          <p:spTgt spid="12"/>
                                        </p:tgtEl>
                                        <p:attrNameLst>
                                          <p:attrName>style.visibility</p:attrName>
                                        </p:attrNameLst>
                                      </p:cBhvr>
                                      <p:to>
                                        <p:strVal val="visible"/>
                                      </p:to>
                                    </p:set>
                                  </p:childTnLst>
                                </p:cTn>
                              </p:par>
                            </p:childTnLst>
                          </p:cTn>
                        </p:par>
                        <p:par>
                          <p:cTn id="30" fill="hold">
                            <p:stCondLst>
                              <p:cond delay="4510"/>
                            </p:stCondLst>
                            <p:childTnLst>
                              <p:par>
                                <p:cTn id="31" presetID="42" presetClass="path" presetSubtype="0" accel="50000" decel="50000" fill="hold" grpId="0" nodeType="afterEffect">
                                  <p:stCondLst>
                                    <p:cond delay="250"/>
                                  </p:stCondLst>
                                  <p:childTnLst>
                                    <p:animMotion origin="layout" path="M -0.02448 0.00347 L 0.25905 0.00301 " pathEditMode="relative" rAng="0" ptsTypes="AA">
                                      <p:cBhvr>
                                        <p:cTn id="32" dur="1250" fill="hold"/>
                                        <p:tgtEl>
                                          <p:spTgt spid="4"/>
                                        </p:tgtEl>
                                        <p:attrNameLst>
                                          <p:attrName>ppt_x</p:attrName>
                                          <p:attrName>ppt_y</p:attrName>
                                        </p:attrNameLst>
                                      </p:cBhvr>
                                      <p:rCtr x="14170" y="-23"/>
                                    </p:animMotion>
                                  </p:childTnLst>
                                </p:cTn>
                              </p:par>
                            </p:childTnLst>
                          </p:cTn>
                        </p:par>
                        <p:par>
                          <p:cTn id="33" fill="hold">
                            <p:stCondLst>
                              <p:cond delay="6010"/>
                            </p:stCondLst>
                            <p:childTnLst>
                              <p:par>
                                <p:cTn id="34" presetID="53" presetClass="exit" presetSubtype="0" fill="hold" grpId="1" nodeType="afterEffect">
                                  <p:stCondLst>
                                    <p:cond delay="0"/>
                                  </p:stCondLst>
                                  <p:childTnLst>
                                    <p:anim calcmode="lin" valueType="num">
                                      <p:cBhvr>
                                        <p:cTn id="35" dur="500"/>
                                        <p:tgtEl>
                                          <p:spTgt spid="4"/>
                                        </p:tgtEl>
                                        <p:attrNameLst>
                                          <p:attrName>ppt_w</p:attrName>
                                        </p:attrNameLst>
                                      </p:cBhvr>
                                      <p:tavLst>
                                        <p:tav tm="0">
                                          <p:val>
                                            <p:strVal val="ppt_w"/>
                                          </p:val>
                                        </p:tav>
                                        <p:tav tm="100000">
                                          <p:val>
                                            <p:fltVal val="0"/>
                                          </p:val>
                                        </p:tav>
                                      </p:tavLst>
                                    </p:anim>
                                    <p:anim calcmode="lin" valueType="num">
                                      <p:cBhvr>
                                        <p:cTn id="36" dur="500"/>
                                        <p:tgtEl>
                                          <p:spTgt spid="4"/>
                                        </p:tgtEl>
                                        <p:attrNameLst>
                                          <p:attrName>ppt_h</p:attrName>
                                        </p:attrNameLst>
                                      </p:cBhvr>
                                      <p:tavLst>
                                        <p:tav tm="0">
                                          <p:val>
                                            <p:strVal val="ppt_h"/>
                                          </p:val>
                                        </p:tav>
                                        <p:tav tm="100000">
                                          <p:val>
                                            <p:fltVal val="0"/>
                                          </p:val>
                                        </p:tav>
                                      </p:tavLst>
                                    </p:anim>
                                    <p:animEffect transition="out" filter="fade">
                                      <p:cBhvr>
                                        <p:cTn id="37" dur="500"/>
                                        <p:tgtEl>
                                          <p:spTgt spid="4"/>
                                        </p:tgtEl>
                                      </p:cBhvr>
                                    </p:animEffect>
                                    <p:set>
                                      <p:cBhvr>
                                        <p:cTn id="38" dur="1" fill="hold">
                                          <p:stCondLst>
                                            <p:cond delay="499"/>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5" grpId="0" animBg="1"/>
      <p:bldP spid="1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457200" indent="-457200">
              <a:buFont typeface="+mj-lt"/>
              <a:buAutoNum type="arabicPeriod"/>
            </a:pPr>
            <a:r>
              <a:rPr lang="en-CA" dirty="0"/>
              <a:t>What criteria does FortiGate use to match traffic to a firewall policy? </a:t>
            </a:r>
          </a:p>
          <a:p>
            <a:pPr marL="838133" lvl="1" indent="-457200">
              <a:buFont typeface="+mj-lt"/>
              <a:buAutoNum type="alphaUcPeriod"/>
            </a:pPr>
            <a:r>
              <a:rPr lang="en-CA" dirty="0"/>
              <a:t>Source and destination interfaces</a:t>
            </a:r>
          </a:p>
          <a:p>
            <a:pPr marL="838133" lvl="1" indent="-457200">
              <a:buFont typeface="+mj-lt"/>
              <a:buAutoNum type="alphaUcPeriod"/>
            </a:pPr>
            <a:r>
              <a:rPr lang="en-CA" dirty="0"/>
              <a:t>Security profiles</a:t>
            </a:r>
          </a:p>
          <a:p>
            <a:pPr marL="380933" lvl="1" indent="0">
              <a:buNone/>
            </a:pPr>
            <a:endParaRPr lang="en-CA" dirty="0"/>
          </a:p>
          <a:p>
            <a:pPr marL="457200" indent="-457200">
              <a:buFont typeface="+mj-lt"/>
              <a:buAutoNum type="arabicPeriod"/>
            </a:pPr>
            <a:r>
              <a:rPr lang="en-CA" dirty="0"/>
              <a:t>What must be selected in the </a:t>
            </a:r>
            <a:r>
              <a:rPr lang="en-CA" b="1" dirty="0"/>
              <a:t>Source</a:t>
            </a:r>
            <a:r>
              <a:rPr lang="en-CA" dirty="0"/>
              <a:t> field of a firewall policy?</a:t>
            </a:r>
            <a:endParaRPr lang="en-US" dirty="0"/>
          </a:p>
          <a:p>
            <a:pPr marL="838133" lvl="1" indent="-457200">
              <a:buFont typeface="+mj-lt"/>
              <a:buAutoNum type="alphaUcPeriod"/>
            </a:pPr>
            <a:r>
              <a:rPr lang="en-CA" dirty="0"/>
              <a:t>At least one address object</a:t>
            </a:r>
            <a:r>
              <a:rPr lang="en-US" dirty="0"/>
              <a:t> or ISDB</a:t>
            </a:r>
          </a:p>
          <a:p>
            <a:pPr marL="838133" lvl="1" indent="-457200">
              <a:buFont typeface="+mj-lt"/>
              <a:buAutoNum type="alphaUcPeriod"/>
            </a:pPr>
            <a:r>
              <a:rPr lang="en-CA" dirty="0"/>
              <a:t>At least one source user and one source address object</a:t>
            </a:r>
            <a:endParaRPr lang="en-US" dirty="0"/>
          </a:p>
          <a:p>
            <a:pPr marL="457200" indent="-457200">
              <a:buFont typeface="+mj-lt"/>
              <a:buAutoNum type="arabicPeriod"/>
            </a:pPr>
            <a:endParaRPr lang="en-US" dirty="0"/>
          </a:p>
          <a:p>
            <a:pPr marL="0" indent="0">
              <a:buNone/>
            </a:pPr>
            <a:br>
              <a:rPr lang="en-US" dirty="0"/>
            </a:br>
            <a:endParaRPr lang="en-US" dirty="0"/>
          </a:p>
          <a:p>
            <a:endParaRPr lang="en-CA" dirty="0"/>
          </a:p>
        </p:txBody>
      </p:sp>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2244" y="1332424"/>
            <a:ext cx="301962" cy="322787"/>
          </a:xfrm>
          <a:prstGeom prst="rect">
            <a:avLst/>
          </a:prstGeom>
        </p:spPr>
      </p:pic>
      <p:pic>
        <p:nvPicPr>
          <p:cNvPr id="10" name="Picture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5395" y="2679689"/>
            <a:ext cx="301962" cy="322787"/>
          </a:xfrm>
          <a:prstGeom prst="rect">
            <a:avLst/>
          </a:prstGeom>
        </p:spPr>
      </p:pic>
    </p:spTree>
    <p:custDataLst>
      <p:tags r:id="rId1"/>
    </p:custDataLst>
    <p:extLst>
      <p:ext uri="{BB962C8B-B14F-4D97-AF65-F5344CB8AC3E}">
        <p14:creationId xmlns:p14="http://schemas.microsoft.com/office/powerpoint/2010/main" val="1372388247"/>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down)">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SmartArt Placeholder 2"/>
          <p:cNvGraphicFramePr>
            <a:graphicFrameLocks noGrp="1"/>
          </p:cNvGraphicFramePr>
          <p:nvPr>
            <p:ph type="dgm" sz="quarter" idx="10"/>
            <p:extLst>
              <p:ext uri="{D42A27DB-BD31-4B8C-83A1-F6EECF244321}">
                <p14:modId xmlns:p14="http://schemas.microsoft.com/office/powerpoint/2010/main" val="1632532098"/>
              </p:ext>
            </p:extLst>
          </p:nvPr>
        </p:nvGraphicFramePr>
        <p:xfrm>
          <a:off x="266700" y="1346200"/>
          <a:ext cx="11387138" cy="470852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5" name="Picture 4"/>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49426" y="1703563"/>
            <a:ext cx="648420" cy="693138"/>
          </a:xfrm>
          <a:prstGeom prst="rect">
            <a:avLst/>
          </a:prstGeom>
        </p:spPr>
      </p:pic>
    </p:spTree>
    <p:custDataLst>
      <p:tags r:id="rId1"/>
    </p:custDataLst>
    <p:extLst>
      <p:ext uri="{BB962C8B-B14F-4D97-AF65-F5344CB8AC3E}">
        <p14:creationId xmlns:p14="http://schemas.microsoft.com/office/powerpoint/2010/main" val="39195267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CA" dirty="0"/>
              <a:t>Configuring Firewall Policies</a:t>
            </a:r>
          </a:p>
        </p:txBody>
      </p:sp>
      <p:sp>
        <p:nvSpPr>
          <p:cNvPr id="5" name="Text Placeholder 4"/>
          <p:cNvSpPr>
            <a:spLocks noGrp="1"/>
          </p:cNvSpPr>
          <p:nvPr>
            <p:ph type="body" sz="quarter" idx="11"/>
          </p:nvPr>
        </p:nvSpPr>
        <p:spPr/>
        <p:txBody>
          <a:bodyPr/>
          <a:lstStyle/>
          <a:p>
            <a:r>
              <a:rPr lang="en-CA" dirty="0"/>
              <a:t>Restrict access and make your network more secure using security profiles </a:t>
            </a:r>
          </a:p>
          <a:p>
            <a:r>
              <a:rPr lang="en-US" dirty="0"/>
              <a:t>Configure logging</a:t>
            </a:r>
          </a:p>
        </p:txBody>
      </p:sp>
    </p:spTree>
    <p:custDataLst>
      <p:tags r:id="rId1"/>
    </p:custDataLst>
    <p:extLst>
      <p:ext uri="{BB962C8B-B14F-4D97-AF65-F5344CB8AC3E}">
        <p14:creationId xmlns:p14="http://schemas.microsoft.com/office/powerpoint/2010/main" val="21443638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Configuring Firewall Policies</a:t>
            </a:r>
          </a:p>
        </p:txBody>
      </p:sp>
      <p:sp>
        <p:nvSpPr>
          <p:cNvPr id="3" name="Content Placeholder 2"/>
          <p:cNvSpPr>
            <a:spLocks noGrp="1"/>
          </p:cNvSpPr>
          <p:nvPr>
            <p:ph idx="1"/>
          </p:nvPr>
        </p:nvSpPr>
        <p:spPr/>
        <p:txBody>
          <a:bodyPr/>
          <a:lstStyle/>
          <a:p>
            <a:r>
              <a:rPr lang="en-US" dirty="0"/>
              <a:t>Mandatory policy name when creating on GUI</a:t>
            </a:r>
          </a:p>
          <a:p>
            <a:pPr lvl="1"/>
            <a:r>
              <a:rPr lang="en-US" dirty="0"/>
              <a:t>Can relax the requirement by enabling </a:t>
            </a:r>
            <a:r>
              <a:rPr lang="en-US" b="1" dirty="0"/>
              <a:t>Allow Unnamed Policies</a:t>
            </a:r>
            <a:r>
              <a:rPr lang="en-US" dirty="0"/>
              <a:t>  </a:t>
            </a:r>
            <a:endParaRPr lang="en-US" b="1" dirty="0"/>
          </a:p>
          <a:p>
            <a:pPr lvl="2"/>
            <a:endParaRPr lang="en-US" b="1" dirty="0"/>
          </a:p>
          <a:p>
            <a:pPr marL="742820" lvl="2" indent="0">
              <a:buNone/>
            </a:pPr>
            <a:endParaRPr lang="en-US" dirty="0"/>
          </a:p>
          <a:p>
            <a:r>
              <a:rPr lang="en-US" dirty="0"/>
              <a:t>Flat GUI view allows:</a:t>
            </a:r>
          </a:p>
          <a:p>
            <a:pPr lvl="1"/>
            <a:r>
              <a:rPr lang="en-US" dirty="0"/>
              <a:t>Select by clicking</a:t>
            </a:r>
          </a:p>
          <a:p>
            <a:pPr lvl="1"/>
            <a:r>
              <a:rPr lang="en-US" dirty="0"/>
              <a:t>Drag-and-drop</a:t>
            </a:r>
          </a:p>
          <a:p>
            <a:pPr lvl="2"/>
            <a:endParaRPr lang="en-US" dirty="0"/>
          </a:p>
          <a:p>
            <a:pPr lvl="2"/>
            <a:endParaRPr lang="en-US" dirty="0"/>
          </a:p>
          <a:p>
            <a:pPr lvl="1"/>
            <a:endParaRPr lang="en-US" i="1" dirty="0"/>
          </a:p>
          <a:p>
            <a:pPr marL="0" indent="0">
              <a:buNone/>
            </a:pPr>
            <a:endParaRPr lang="en-CA" dirty="0"/>
          </a:p>
          <a:p>
            <a:endParaRPr lang="en-CA" dirty="0"/>
          </a:p>
        </p:txBody>
      </p:sp>
      <p:sp>
        <p:nvSpPr>
          <p:cNvPr id="11" name="TextBox 10"/>
          <p:cNvSpPr txBox="1"/>
          <p:nvPr/>
        </p:nvSpPr>
        <p:spPr>
          <a:xfrm>
            <a:off x="866899" y="3902657"/>
            <a:ext cx="3299301" cy="954107"/>
          </a:xfrm>
          <a:prstGeom prst="rect">
            <a:avLst/>
          </a:prstGeom>
          <a:solidFill>
            <a:schemeClr val="bg1"/>
          </a:solidFill>
          <a:ln>
            <a:solidFill>
              <a:schemeClr val="tx1"/>
            </a:solidFill>
          </a:ln>
        </p:spPr>
        <p:txBody>
          <a:bodyPr wrap="none" rtlCol="0">
            <a:spAutoFit/>
          </a:bodyPr>
          <a:lstStyle/>
          <a:p>
            <a:r>
              <a:rPr lang="en-CA" sz="1400" dirty="0">
                <a:latin typeface="Courier New" panose="02070309020205020404" pitchFamily="49" charset="0"/>
                <a:cs typeface="Courier New" panose="02070309020205020404" pitchFamily="49" charset="0"/>
              </a:rPr>
              <a:t>config firewall policy</a:t>
            </a:r>
          </a:p>
          <a:p>
            <a:r>
              <a:rPr lang="en-CA" sz="1400" dirty="0">
                <a:latin typeface="Courier New" panose="02070309020205020404" pitchFamily="49" charset="0"/>
                <a:cs typeface="Courier New" panose="02070309020205020404" pitchFamily="49" charset="0"/>
              </a:rPr>
              <a:t> edit 1</a:t>
            </a:r>
          </a:p>
          <a:p>
            <a:r>
              <a:rPr lang="en-CA" sz="1400" dirty="0">
                <a:latin typeface="Courier New" panose="02070309020205020404" pitchFamily="49" charset="0"/>
                <a:cs typeface="Courier New" panose="02070309020205020404" pitchFamily="49" charset="0"/>
              </a:rPr>
              <a:t>  set name “Training"</a:t>
            </a:r>
          </a:p>
          <a:p>
            <a:r>
              <a:rPr lang="en-CA" sz="1400" dirty="0">
                <a:latin typeface="Courier New" panose="02070309020205020404" pitchFamily="49" charset="0"/>
                <a:cs typeface="Courier New" panose="02070309020205020404" pitchFamily="49" charset="0"/>
              </a:rPr>
              <a:t>  set uuid 2204966e-47f7-51..</a:t>
            </a:r>
          </a:p>
        </p:txBody>
      </p:sp>
      <p:sp>
        <p:nvSpPr>
          <p:cNvPr id="12" name="Rounded Rectangular Callout 11"/>
          <p:cNvSpPr/>
          <p:nvPr/>
        </p:nvSpPr>
        <p:spPr bwMode="auto">
          <a:xfrm>
            <a:off x="526657" y="5051819"/>
            <a:ext cx="3099459" cy="301882"/>
          </a:xfrm>
          <a:prstGeom prst="wedgeRoundRectCallout">
            <a:avLst>
              <a:gd name="adj1" fmla="val 28731"/>
              <a:gd name="adj2" fmla="val -132928"/>
              <a:gd name="adj3" fmla="val 16667"/>
            </a:avLst>
          </a:prstGeom>
          <a:solidFill>
            <a:srgbClr val="00B0F0"/>
          </a:solidFill>
          <a:ln w="19050" cap="flat" cmpd="sng" algn="ctr">
            <a:no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eaLnBrk="0" fontAlgn="base" hangingPunct="0">
              <a:spcBef>
                <a:spcPct val="20000"/>
              </a:spcBef>
              <a:spcAft>
                <a:spcPct val="0"/>
              </a:spcAft>
              <a:buClr>
                <a:schemeClr val="accent1"/>
              </a:buClr>
              <a:buSzPct val="90000"/>
            </a:pPr>
            <a:r>
              <a:rPr lang="en-CA" sz="1400" dirty="0"/>
              <a:t>Universally unique identified (UUID)</a:t>
            </a:r>
            <a:endParaRPr kumimoji="0" lang="en-CA" sz="1400" b="0" i="0" u="none" strike="noStrike" cap="none" normalizeH="0" baseline="0" dirty="0">
              <a:ln>
                <a:noFill/>
              </a:ln>
              <a:effectLst/>
              <a:latin typeface="Arial" charset="0"/>
            </a:endParaRPr>
          </a:p>
        </p:txBody>
      </p:sp>
      <p:pic>
        <p:nvPicPr>
          <p:cNvPr id="5122" name="Picture 2"/>
          <p:cNvPicPr>
            <a:picLocks noChangeAspect="1" noChangeArrowheads="1"/>
          </p:cNvPicPr>
          <p:nvPr/>
        </p:nvPicPr>
        <p:blipFill rotWithShape="1">
          <a:blip r:embed="rId4">
            <a:extLst>
              <a:ext uri="{28A0092B-C50C-407E-A947-70E740481C1C}">
                <a14:useLocalDpi xmlns:a14="http://schemas.microsoft.com/office/drawing/2010/main" val="0"/>
              </a:ext>
            </a:extLst>
          </a:blip>
          <a:srcRect l="45670"/>
          <a:stretch/>
        </p:blipFill>
        <p:spPr bwMode="auto">
          <a:xfrm>
            <a:off x="9135860" y="1227596"/>
            <a:ext cx="2481942" cy="701560"/>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
        <p:nvSpPr>
          <p:cNvPr id="16" name="Rectangle 15"/>
          <p:cNvSpPr/>
          <p:nvPr/>
        </p:nvSpPr>
        <p:spPr bwMode="auto">
          <a:xfrm>
            <a:off x="9121665" y="909227"/>
            <a:ext cx="2384567" cy="248183"/>
          </a:xfrm>
          <a:prstGeom prst="rect">
            <a:avLst/>
          </a:prstGeom>
          <a:solidFill>
            <a:srgbClr val="00B0F0"/>
          </a:solidFill>
          <a:ln w="38100" cap="flat" cmpd="sng" algn="ctr">
            <a:no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20000"/>
              </a:spcBef>
              <a:spcAft>
                <a:spcPct val="0"/>
              </a:spcAft>
              <a:buClr>
                <a:schemeClr val="accent1"/>
              </a:buClr>
              <a:buSzPct val="90000"/>
              <a:buFont typeface="Wingdings" charset="2"/>
              <a:buNone/>
              <a:tabLst/>
            </a:pPr>
            <a:r>
              <a:rPr lang="en-CA" sz="1400" b="1" dirty="0"/>
              <a:t>System </a:t>
            </a:r>
            <a:r>
              <a:rPr lang="en-CA" sz="1400" dirty="0"/>
              <a:t>&gt;</a:t>
            </a:r>
            <a:r>
              <a:rPr lang="en-CA" sz="1400" b="1" dirty="0"/>
              <a:t> Feature Visibility</a:t>
            </a:r>
            <a:endParaRPr kumimoji="0" lang="en-CA" sz="1400" b="1" u="none" strike="noStrike" cap="none" normalizeH="0" baseline="0" dirty="0">
              <a:ln>
                <a:noFill/>
              </a:ln>
              <a:effectLst/>
            </a:endParaRPr>
          </a:p>
        </p:txBody>
      </p:sp>
      <p:sp>
        <p:nvSpPr>
          <p:cNvPr id="17" name="Rectangle 16"/>
          <p:cNvSpPr/>
          <p:nvPr/>
        </p:nvSpPr>
        <p:spPr bwMode="invGray">
          <a:xfrm>
            <a:off x="9274089" y="1296172"/>
            <a:ext cx="1660042" cy="185250"/>
          </a:xfrm>
          <a:prstGeom prst="rect">
            <a:avLst/>
          </a:prstGeom>
          <a:noFill/>
          <a:ln w="38100">
            <a:solidFill>
              <a:srgbClr val="FF0000"/>
            </a:solidFill>
            <a:round/>
            <a:headEnd/>
            <a:tailE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A" dirty="0"/>
          </a:p>
        </p:txBody>
      </p:sp>
      <p:pic>
        <p:nvPicPr>
          <p:cNvPr id="14" name="Picture 13"/>
          <p:cNvPicPr>
            <a:picLocks noChangeAspect="1"/>
          </p:cNvPicPr>
          <p:nvPr/>
        </p:nvPicPr>
        <p:blipFill>
          <a:blip r:embed="rId5"/>
          <a:stretch>
            <a:fillRect/>
          </a:stretch>
        </p:blipFill>
        <p:spPr>
          <a:xfrm>
            <a:off x="4615291" y="2761992"/>
            <a:ext cx="7142955" cy="3149998"/>
          </a:xfrm>
          <a:prstGeom prst="rect">
            <a:avLst/>
          </a:prstGeom>
          <a:ln>
            <a:solidFill>
              <a:schemeClr val="tx1"/>
            </a:solidFill>
          </a:ln>
        </p:spPr>
      </p:pic>
      <p:sp>
        <p:nvSpPr>
          <p:cNvPr id="5" name="Rounded Rectangular Callout 4"/>
          <p:cNvSpPr/>
          <p:nvPr/>
        </p:nvSpPr>
        <p:spPr bwMode="auto">
          <a:xfrm>
            <a:off x="4010519" y="1877658"/>
            <a:ext cx="2236058" cy="572401"/>
          </a:xfrm>
          <a:prstGeom prst="wedgeRoundRectCallout">
            <a:avLst>
              <a:gd name="adj1" fmla="val 44090"/>
              <a:gd name="adj2" fmla="val 149565"/>
              <a:gd name="adj3" fmla="val 16667"/>
            </a:avLst>
          </a:prstGeom>
          <a:solidFill>
            <a:srgbClr val="00B0F0"/>
          </a:solidFill>
          <a:ln w="19050" cap="flat" cmpd="sng" algn="ctr">
            <a:no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20000"/>
              </a:spcBef>
              <a:spcAft>
                <a:spcPct val="0"/>
              </a:spcAft>
              <a:buClr>
                <a:schemeClr val="accent1"/>
              </a:buClr>
              <a:buSzPct val="90000"/>
              <a:buFont typeface="Wingdings" charset="2"/>
              <a:buNone/>
              <a:tabLst/>
            </a:pPr>
            <a:r>
              <a:rPr lang="en-CA" sz="1400" dirty="0"/>
              <a:t>Enabled by default</a:t>
            </a:r>
          </a:p>
          <a:p>
            <a:pPr marL="0" marR="0" indent="0" algn="ctr" defTabSz="914400" rtl="0" eaLnBrk="0" fontAlgn="base" latinLnBrk="0" hangingPunct="0">
              <a:lnSpc>
                <a:spcPct val="100000"/>
              </a:lnSpc>
              <a:spcBef>
                <a:spcPct val="20000"/>
              </a:spcBef>
              <a:spcAft>
                <a:spcPct val="0"/>
              </a:spcAft>
              <a:buClr>
                <a:schemeClr val="accent1"/>
              </a:buClr>
              <a:buSzPct val="90000"/>
              <a:buFont typeface="Wingdings" charset="2"/>
              <a:buNone/>
              <a:tabLst/>
            </a:pPr>
            <a:r>
              <a:rPr lang="en-CA" sz="1400" i="1" dirty="0"/>
              <a:t>MUST </a:t>
            </a:r>
            <a:r>
              <a:rPr lang="en-CA" sz="1400" dirty="0"/>
              <a:t>specify unique name</a:t>
            </a:r>
            <a:endParaRPr kumimoji="0" lang="en-CA" sz="1400" b="0" i="0" u="none" strike="noStrike" cap="none" normalizeH="0" baseline="0" dirty="0">
              <a:ln>
                <a:noFill/>
              </a:ln>
              <a:effectLst/>
            </a:endParaRPr>
          </a:p>
        </p:txBody>
      </p:sp>
      <p:sp>
        <p:nvSpPr>
          <p:cNvPr id="6" name="Rectangle 5"/>
          <p:cNvSpPr/>
          <p:nvPr/>
        </p:nvSpPr>
        <p:spPr bwMode="auto">
          <a:xfrm>
            <a:off x="6046871" y="3016019"/>
            <a:ext cx="650559" cy="225188"/>
          </a:xfrm>
          <a:prstGeom prst="rect">
            <a:avLst/>
          </a:prstGeom>
          <a:noFill/>
          <a:ln w="38100" cap="flat" cmpd="sng" algn="ctr">
            <a:solidFill>
              <a:srgbClr val="FF0000"/>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A" dirty="0"/>
          </a:p>
        </p:txBody>
      </p:sp>
      <p:sp>
        <p:nvSpPr>
          <p:cNvPr id="7" name="Rectangle 6"/>
          <p:cNvSpPr/>
          <p:nvPr/>
        </p:nvSpPr>
        <p:spPr bwMode="auto">
          <a:xfrm>
            <a:off x="8898271" y="5377147"/>
            <a:ext cx="1358238" cy="261182"/>
          </a:xfrm>
          <a:prstGeom prst="rect">
            <a:avLst/>
          </a:prstGeom>
          <a:noFill/>
          <a:ln w="38100" cap="flat" cmpd="sng" algn="ctr">
            <a:solidFill>
              <a:srgbClr val="FF0000"/>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A" dirty="0"/>
          </a:p>
        </p:txBody>
      </p:sp>
      <p:sp>
        <p:nvSpPr>
          <p:cNvPr id="9" name="Rectangle 8"/>
          <p:cNvSpPr/>
          <p:nvPr/>
        </p:nvSpPr>
        <p:spPr bwMode="auto">
          <a:xfrm>
            <a:off x="6035148" y="3843094"/>
            <a:ext cx="1607250" cy="211547"/>
          </a:xfrm>
          <a:prstGeom prst="rect">
            <a:avLst/>
          </a:prstGeom>
          <a:noFill/>
          <a:ln w="38100" cap="flat" cmpd="sng" algn="ctr">
            <a:solidFill>
              <a:srgbClr val="FF0000"/>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20000"/>
              </a:spcBef>
              <a:spcAft>
                <a:spcPct val="0"/>
              </a:spcAft>
              <a:buClr>
                <a:schemeClr val="accent1"/>
              </a:buClr>
              <a:buSzPct val="90000"/>
              <a:buFont typeface="Wingdings" charset="2"/>
              <a:buNone/>
              <a:tabLst/>
            </a:pPr>
            <a:endParaRPr kumimoji="0" lang="en-CA" sz="1200" b="0" i="0" u="none" strike="noStrike" cap="none" normalizeH="0" baseline="0" dirty="0">
              <a:ln>
                <a:noFill/>
              </a:ln>
            </a:endParaRPr>
          </a:p>
        </p:txBody>
      </p:sp>
      <p:grpSp>
        <p:nvGrpSpPr>
          <p:cNvPr id="13" name="Group 12"/>
          <p:cNvGrpSpPr/>
          <p:nvPr/>
        </p:nvGrpSpPr>
        <p:grpSpPr>
          <a:xfrm>
            <a:off x="6821582" y="2165569"/>
            <a:ext cx="2074083" cy="360010"/>
            <a:chOff x="9250879" y="2446318"/>
            <a:chExt cx="2423132" cy="360010"/>
          </a:xfrm>
          <a:effectLst/>
        </p:grpSpPr>
        <p:sp>
          <p:nvSpPr>
            <p:cNvPr id="8" name="Rounded Rectangular Callout 7"/>
            <p:cNvSpPr/>
            <p:nvPr/>
          </p:nvSpPr>
          <p:spPr bwMode="auto">
            <a:xfrm>
              <a:off x="9634174" y="2524229"/>
              <a:ext cx="1656540" cy="278968"/>
            </a:xfrm>
            <a:prstGeom prst="wedgeRoundRectCallout">
              <a:avLst>
                <a:gd name="adj1" fmla="val -36964"/>
                <a:gd name="adj2" fmla="val 536753"/>
                <a:gd name="adj3" fmla="val 16667"/>
              </a:avLst>
            </a:prstGeom>
            <a:solidFill>
              <a:srgbClr val="00B0F0"/>
            </a:solidFill>
            <a:ln w="19050" cap="flat" cmpd="sng" algn="ctr">
              <a:no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20000"/>
                </a:spcBef>
                <a:spcAft>
                  <a:spcPct val="0"/>
                </a:spcAft>
                <a:buClr>
                  <a:schemeClr val="accent1"/>
                </a:buClr>
                <a:buSzPct val="90000"/>
                <a:buFont typeface="Wingdings" charset="2"/>
                <a:buNone/>
                <a:tabLst/>
              </a:pPr>
              <a:endParaRPr kumimoji="0" lang="en-CA" sz="1000" b="0" i="0" u="none" strike="noStrike" cap="none" normalizeH="0" baseline="0" dirty="0">
                <a:ln>
                  <a:noFill/>
                </a:ln>
                <a:effectLst/>
                <a:latin typeface="Arial" charset="0"/>
              </a:endParaRPr>
            </a:p>
          </p:txBody>
        </p:sp>
        <p:sp>
          <p:nvSpPr>
            <p:cNvPr id="10" name="Rounded Rectangular Callout 9"/>
            <p:cNvSpPr/>
            <p:nvPr/>
          </p:nvSpPr>
          <p:spPr bwMode="auto">
            <a:xfrm>
              <a:off x="9250879" y="2446318"/>
              <a:ext cx="2423132" cy="360010"/>
            </a:xfrm>
            <a:prstGeom prst="wedgeRoundRectCallout">
              <a:avLst>
                <a:gd name="adj1" fmla="val 51916"/>
                <a:gd name="adj2" fmla="val 871048"/>
                <a:gd name="adj3" fmla="val 16667"/>
              </a:avLst>
            </a:prstGeom>
            <a:solidFill>
              <a:srgbClr val="00B0F0"/>
            </a:solidFill>
            <a:ln w="19050" cap="flat" cmpd="sng" algn="ctr">
              <a:no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20000"/>
                </a:spcBef>
                <a:spcAft>
                  <a:spcPct val="0"/>
                </a:spcAft>
                <a:buClr>
                  <a:schemeClr val="accent1"/>
                </a:buClr>
                <a:buSzPct val="90000"/>
                <a:buFont typeface="Wingdings" charset="2"/>
                <a:buNone/>
                <a:tabLst/>
              </a:pPr>
              <a:r>
                <a:rPr lang="en-CA" sz="1400" dirty="0"/>
                <a:t> Highlights selected entry</a:t>
              </a:r>
              <a:endParaRPr kumimoji="0" lang="en-CA" sz="1400" b="0" i="0" u="none" strike="noStrike" cap="none" normalizeH="0" baseline="0" dirty="0">
                <a:ln>
                  <a:noFill/>
                </a:ln>
                <a:effectLst/>
              </a:endParaRPr>
            </a:p>
          </p:txBody>
        </p:sp>
      </p:grpSp>
    </p:spTree>
    <p:custDataLst>
      <p:tags r:id="rId1"/>
    </p:custDataLst>
    <p:extLst>
      <p:ext uri="{BB962C8B-B14F-4D97-AF65-F5344CB8AC3E}">
        <p14:creationId xmlns:p14="http://schemas.microsoft.com/office/powerpoint/2010/main" val="4155882630"/>
      </p:ext>
    </p:extLst>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Security Profiles</a:t>
            </a:r>
          </a:p>
        </p:txBody>
      </p:sp>
      <p:sp>
        <p:nvSpPr>
          <p:cNvPr id="3" name="Content Placeholder 2"/>
          <p:cNvSpPr>
            <a:spLocks noGrp="1"/>
          </p:cNvSpPr>
          <p:nvPr>
            <p:ph idx="15"/>
          </p:nvPr>
        </p:nvSpPr>
        <p:spPr/>
        <p:txBody>
          <a:bodyPr/>
          <a:lstStyle/>
          <a:p>
            <a:r>
              <a:rPr lang="en-CA" dirty="0"/>
              <a:t>Firewall policies limit access to configured networks </a:t>
            </a:r>
          </a:p>
          <a:p>
            <a:r>
              <a:rPr lang="en-CA" dirty="0"/>
              <a:t>Security profiles configured in firewall policies protect your network by:</a:t>
            </a:r>
          </a:p>
          <a:p>
            <a:pPr lvl="1"/>
            <a:r>
              <a:rPr lang="en-CA" dirty="0"/>
              <a:t>Blocking threats</a:t>
            </a:r>
          </a:p>
          <a:p>
            <a:pPr lvl="1"/>
            <a:r>
              <a:rPr lang="en-CA" dirty="0"/>
              <a:t>Controlling access to certain applications and URLs</a:t>
            </a:r>
          </a:p>
          <a:p>
            <a:pPr lvl="1"/>
            <a:r>
              <a:rPr lang="en-CA" dirty="0"/>
              <a:t>Preventing specific data from leaving your network</a:t>
            </a:r>
          </a:p>
          <a:p>
            <a:endParaRPr lang="en-CA" dirty="0"/>
          </a:p>
          <a:p>
            <a:endParaRPr lang="en-CA" dirty="0"/>
          </a:p>
        </p:txBody>
      </p:sp>
      <p:sp>
        <p:nvSpPr>
          <p:cNvPr id="5" name="TextBox 4"/>
          <p:cNvSpPr txBox="1"/>
          <p:nvPr/>
        </p:nvSpPr>
        <p:spPr>
          <a:xfrm>
            <a:off x="5832000" y="886172"/>
            <a:ext cx="3469219" cy="338554"/>
          </a:xfrm>
          <a:prstGeom prst="rect">
            <a:avLst/>
          </a:prstGeom>
          <a:solidFill>
            <a:srgbClr val="00B0F0"/>
          </a:solidFill>
        </p:spPr>
        <p:txBody>
          <a:bodyPr wrap="none" rtlCol="0">
            <a:spAutoFit/>
          </a:bodyPr>
          <a:lstStyle/>
          <a:p>
            <a:r>
              <a:rPr lang="en-CA" sz="1600" b="1" dirty="0"/>
              <a:t>Policy &amp; Objects </a:t>
            </a:r>
            <a:r>
              <a:rPr lang="en-CA" sz="1600" dirty="0"/>
              <a:t>&gt; </a:t>
            </a:r>
            <a:r>
              <a:rPr lang="en-CA" sz="1600" b="1" dirty="0"/>
              <a:t>Firewall Policy</a:t>
            </a:r>
          </a:p>
        </p:txBody>
      </p:sp>
      <p:pic>
        <p:nvPicPr>
          <p:cNvPr id="8" name="Picture 7"/>
          <p:cNvPicPr>
            <a:picLocks noChangeAspect="1"/>
          </p:cNvPicPr>
          <p:nvPr/>
        </p:nvPicPr>
        <p:blipFill>
          <a:blip r:embed="rId4"/>
          <a:stretch>
            <a:fillRect/>
          </a:stretch>
        </p:blipFill>
        <p:spPr>
          <a:xfrm>
            <a:off x="5832000" y="1295145"/>
            <a:ext cx="6102092" cy="3996309"/>
          </a:xfrm>
          <a:prstGeom prst="rect">
            <a:avLst/>
          </a:prstGeom>
          <a:ln>
            <a:solidFill>
              <a:schemeClr val="tx1"/>
            </a:solidFill>
          </a:ln>
        </p:spPr>
      </p:pic>
      <p:sp>
        <p:nvSpPr>
          <p:cNvPr id="10" name="Rectangle 9"/>
          <p:cNvSpPr/>
          <p:nvPr/>
        </p:nvSpPr>
        <p:spPr bwMode="invGray">
          <a:xfrm>
            <a:off x="8077200" y="2379786"/>
            <a:ext cx="3411415" cy="287949"/>
          </a:xfrm>
          <a:prstGeom prst="rect">
            <a:avLst/>
          </a:prstGeom>
          <a:noFill/>
          <a:ln w="38100">
            <a:solidFill>
              <a:srgbClr val="FF0000"/>
            </a:solidFill>
            <a:round/>
            <a:headEnd/>
            <a:tailEn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A" dirty="0"/>
          </a:p>
        </p:txBody>
      </p:sp>
      <p:sp>
        <p:nvSpPr>
          <p:cNvPr id="11" name="Rounded Rectangular Callout 10"/>
          <p:cNvSpPr/>
          <p:nvPr/>
        </p:nvSpPr>
        <p:spPr bwMode="auto">
          <a:xfrm>
            <a:off x="9282312" y="5350150"/>
            <a:ext cx="1819413" cy="976617"/>
          </a:xfrm>
          <a:prstGeom prst="wedgeRoundRectCallout">
            <a:avLst>
              <a:gd name="adj1" fmla="val 30779"/>
              <a:gd name="adj2" fmla="val -335003"/>
              <a:gd name="adj3" fmla="val 16667"/>
            </a:avLst>
          </a:prstGeom>
          <a:solidFill>
            <a:srgbClr val="00B0F0"/>
          </a:solidFill>
          <a:ln w="19050"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20000"/>
              </a:spcBef>
              <a:spcAft>
                <a:spcPct val="0"/>
              </a:spcAft>
              <a:buClr>
                <a:schemeClr val="accent1"/>
              </a:buClr>
              <a:buSzPct val="90000"/>
              <a:buFont typeface="Wingdings" charset="2"/>
              <a:buNone/>
              <a:tabLst/>
            </a:pPr>
            <a:r>
              <a:rPr lang="en-CA" sz="1600" dirty="0"/>
              <a:t>Default profile not available, you need to manually create a profile </a:t>
            </a:r>
            <a:endParaRPr kumimoji="0" lang="en-CA" sz="1600" u="none" strike="noStrike" cap="none" normalizeH="0" baseline="0" dirty="0">
              <a:ln>
                <a:noFill/>
              </a:ln>
              <a:effectLst/>
            </a:endParaRPr>
          </a:p>
        </p:txBody>
      </p:sp>
    </p:spTree>
    <p:custDataLst>
      <p:tags r:id="rId1"/>
    </p:custDataLst>
    <p:extLst>
      <p:ext uri="{BB962C8B-B14F-4D97-AF65-F5344CB8AC3E}">
        <p14:creationId xmlns:p14="http://schemas.microsoft.com/office/powerpoint/2010/main" val="183379258"/>
      </p:ext>
    </p:extLst>
  </p:cSld>
  <p:clrMapOvr>
    <a:masterClrMapping/>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Logging</a:t>
            </a:r>
            <a:endParaRPr lang="en-CA" dirty="0"/>
          </a:p>
        </p:txBody>
      </p:sp>
      <p:sp>
        <p:nvSpPr>
          <p:cNvPr id="3" name="Content Placeholder 2"/>
          <p:cNvSpPr>
            <a:spLocks noGrp="1"/>
          </p:cNvSpPr>
          <p:nvPr>
            <p:ph idx="1"/>
          </p:nvPr>
        </p:nvSpPr>
        <p:spPr/>
        <p:txBody>
          <a:bodyPr/>
          <a:lstStyle/>
          <a:p>
            <a:r>
              <a:rPr lang="en-CA" dirty="0"/>
              <a:t>By default, set to </a:t>
            </a:r>
            <a:r>
              <a:rPr lang="en-CA" b="1" dirty="0"/>
              <a:t>Security Events</a:t>
            </a:r>
          </a:p>
          <a:p>
            <a:pPr lvl="1"/>
            <a:r>
              <a:rPr lang="en-CA" dirty="0"/>
              <a:t>Generates logs based on applied security profile only </a:t>
            </a:r>
          </a:p>
          <a:p>
            <a:r>
              <a:rPr lang="en-CA" dirty="0"/>
              <a:t>Can change to </a:t>
            </a:r>
            <a:r>
              <a:rPr lang="en-CA" b="1" dirty="0"/>
              <a:t>All Sessions</a:t>
            </a:r>
          </a:p>
          <a:p>
            <a:pPr marL="359770" lvl="1" indent="0">
              <a:buNone/>
            </a:pPr>
            <a:endParaRPr lang="en-CA" dirty="0"/>
          </a:p>
          <a:p>
            <a:pPr lvl="1"/>
            <a:endParaRPr lang="en-CA" dirty="0"/>
          </a:p>
        </p:txBody>
      </p:sp>
      <p:sp>
        <p:nvSpPr>
          <p:cNvPr id="4" name="Rectangle 6"/>
          <p:cNvSpPr>
            <a:spLocks noChangeArrowheads="1"/>
          </p:cNvSpPr>
          <p:nvPr/>
        </p:nvSpPr>
        <p:spPr bwMode="auto">
          <a:xfrm>
            <a:off x="7819383" y="2390182"/>
            <a:ext cx="1593850" cy="416719"/>
          </a:xfrm>
          <a:prstGeom prst="rect">
            <a:avLst/>
          </a:prstGeom>
          <a:solidFill>
            <a:srgbClr val="FF0000"/>
          </a:solidFill>
          <a:ln>
            <a:noFill/>
          </a:ln>
          <a:effectLst/>
        </p:spPr>
        <p:txBody>
          <a:bodyPr wrap="none" anchor="ctr"/>
          <a:lstStyle/>
          <a:p>
            <a:pPr algn="ctr" eaLnBrk="0" hangingPunct="0"/>
            <a:r>
              <a:rPr lang="en-US" sz="2400" b="1" dirty="0"/>
              <a:t>Deny</a:t>
            </a:r>
          </a:p>
        </p:txBody>
      </p:sp>
      <p:sp>
        <p:nvSpPr>
          <p:cNvPr id="5" name="Rectangle 4"/>
          <p:cNvSpPr>
            <a:spLocks noChangeArrowheads="1"/>
          </p:cNvSpPr>
          <p:nvPr/>
        </p:nvSpPr>
        <p:spPr bwMode="auto">
          <a:xfrm>
            <a:off x="1615427" y="2390180"/>
            <a:ext cx="1593850" cy="416719"/>
          </a:xfrm>
          <a:prstGeom prst="rect">
            <a:avLst/>
          </a:prstGeom>
          <a:solidFill>
            <a:srgbClr val="00B050"/>
          </a:solidFill>
          <a:ln>
            <a:noFill/>
          </a:ln>
          <a:effectLst/>
        </p:spPr>
        <p:txBody>
          <a:bodyPr wrap="none" anchor="ctr"/>
          <a:lstStyle/>
          <a:p>
            <a:pPr algn="ctr" eaLnBrk="0" hangingPunct="0"/>
            <a:r>
              <a:rPr lang="en-US" sz="2400" b="1" dirty="0"/>
              <a:t>Accept</a:t>
            </a:r>
          </a:p>
        </p:txBody>
      </p:sp>
      <p:sp>
        <p:nvSpPr>
          <p:cNvPr id="6" name="AutoShape 9"/>
          <p:cNvSpPr>
            <a:spLocks noChangeArrowheads="1"/>
          </p:cNvSpPr>
          <p:nvPr/>
        </p:nvSpPr>
        <p:spPr bwMode="auto">
          <a:xfrm>
            <a:off x="1615427" y="3062885"/>
            <a:ext cx="1473200" cy="592931"/>
          </a:xfrm>
          <a:prstGeom prst="downArrow">
            <a:avLst>
              <a:gd name="adj1" fmla="val 50000"/>
              <a:gd name="adj2" fmla="val 25000"/>
            </a:avLst>
          </a:prstGeom>
          <a:solidFill>
            <a:srgbClr val="00B0F0"/>
          </a:solidFill>
          <a:ln>
            <a:noFill/>
          </a:ln>
          <a:effectLst/>
        </p:spPr>
        <p:txBody>
          <a:bodyPr wrap="none" anchor="ctr"/>
          <a:lstStyle/>
          <a:p>
            <a:pPr algn="ctr" eaLnBrk="0" hangingPunct="0"/>
            <a:endParaRPr lang="en-US" sz="2400" dirty="0"/>
          </a:p>
        </p:txBody>
      </p:sp>
      <p:sp>
        <p:nvSpPr>
          <p:cNvPr id="7" name="AutoShape 10"/>
          <p:cNvSpPr>
            <a:spLocks noChangeArrowheads="1"/>
          </p:cNvSpPr>
          <p:nvPr/>
        </p:nvSpPr>
        <p:spPr bwMode="auto">
          <a:xfrm>
            <a:off x="7930508" y="3062885"/>
            <a:ext cx="1473200" cy="592931"/>
          </a:xfrm>
          <a:prstGeom prst="downArrow">
            <a:avLst>
              <a:gd name="adj1" fmla="val 50000"/>
              <a:gd name="adj2" fmla="val 25000"/>
            </a:avLst>
          </a:prstGeom>
          <a:solidFill>
            <a:srgbClr val="00B0F0"/>
          </a:solidFill>
          <a:ln>
            <a:noFill/>
          </a:ln>
          <a:effectLst/>
        </p:spPr>
        <p:txBody>
          <a:bodyPr wrap="none" anchor="ctr"/>
          <a:lstStyle/>
          <a:p>
            <a:pPr algn="ctr" eaLnBrk="0" hangingPunct="0"/>
            <a:endParaRPr lang="en-US" sz="2400" dirty="0"/>
          </a:p>
        </p:txBody>
      </p:sp>
      <p:sp>
        <p:nvSpPr>
          <p:cNvPr id="8" name="TextBox 7"/>
          <p:cNvSpPr txBox="1"/>
          <p:nvPr/>
        </p:nvSpPr>
        <p:spPr>
          <a:xfrm>
            <a:off x="6387153" y="4642755"/>
            <a:ext cx="5622878" cy="1569660"/>
          </a:xfrm>
          <a:prstGeom prst="rect">
            <a:avLst/>
          </a:prstGeom>
          <a:solidFill>
            <a:schemeClr val="bg1"/>
          </a:solidFill>
          <a:ln>
            <a:solidFill>
              <a:schemeClr val="tx1"/>
            </a:solidFill>
          </a:ln>
        </p:spPr>
        <p:txBody>
          <a:bodyPr wrap="square" rtlCol="0">
            <a:spAutoFit/>
          </a:bodyPr>
          <a:lstStyle/>
          <a:p>
            <a:r>
              <a:rPr lang="en-US" sz="1600" dirty="0">
                <a:latin typeface="Courier New" pitchFamily="49" charset="0"/>
                <a:cs typeface="Courier New" pitchFamily="49" charset="0"/>
              </a:rPr>
              <a:t>config system setting</a:t>
            </a:r>
          </a:p>
          <a:p>
            <a:r>
              <a:rPr lang="en-US" sz="1600" dirty="0">
                <a:latin typeface="Courier New" pitchFamily="49" charset="0"/>
                <a:cs typeface="Courier New" pitchFamily="49" charset="0"/>
              </a:rPr>
              <a:t>  set </a:t>
            </a:r>
            <a:r>
              <a:rPr lang="en-US" sz="1600" dirty="0" err="1">
                <a:latin typeface="Courier New" pitchFamily="49" charset="0"/>
                <a:cs typeface="Courier New" pitchFamily="49" charset="0"/>
              </a:rPr>
              <a:t>ses</a:t>
            </a:r>
            <a:r>
              <a:rPr lang="en-US" sz="1600" dirty="0">
                <a:latin typeface="Courier New" pitchFamily="49" charset="0"/>
                <a:cs typeface="Courier New" pitchFamily="49" charset="0"/>
              </a:rPr>
              <a:t>-denied-traffic [disable | enable]</a:t>
            </a:r>
          </a:p>
          <a:p>
            <a:r>
              <a:rPr lang="en-US" sz="1600" dirty="0">
                <a:latin typeface="Courier New" pitchFamily="49" charset="0"/>
                <a:cs typeface="Courier New" pitchFamily="49" charset="0"/>
              </a:rPr>
              <a:t>end</a:t>
            </a:r>
          </a:p>
          <a:p>
            <a:r>
              <a:rPr lang="en-US" sz="1600" dirty="0">
                <a:latin typeface="Courier New" pitchFamily="49" charset="0"/>
                <a:cs typeface="Courier New" pitchFamily="49" charset="0"/>
              </a:rPr>
              <a:t>config system global</a:t>
            </a:r>
          </a:p>
          <a:p>
            <a:r>
              <a:rPr lang="en-US" sz="1600" dirty="0">
                <a:latin typeface="Courier New" pitchFamily="49" charset="0"/>
                <a:cs typeface="Courier New" pitchFamily="49" charset="0"/>
              </a:rPr>
              <a:t>  set block-session-timer</a:t>
            </a:r>
            <a:r>
              <a:rPr lang="fr-FR" sz="1600" i="1" dirty="0">
                <a:latin typeface="Courier New" pitchFamily="49" charset="0"/>
                <a:cs typeface="Courier New" pitchFamily="49" charset="0"/>
              </a:rPr>
              <a:t> </a:t>
            </a:r>
            <a:r>
              <a:rPr lang="fr-FR" sz="1600" dirty="0">
                <a:latin typeface="Courier New" pitchFamily="49" charset="0"/>
                <a:cs typeface="Courier New" pitchFamily="49" charset="0"/>
              </a:rPr>
              <a:t>[1-300]</a:t>
            </a:r>
          </a:p>
          <a:p>
            <a:r>
              <a:rPr lang="fr-FR" sz="1600" dirty="0">
                <a:latin typeface="Courier New" pitchFamily="49" charset="0"/>
                <a:cs typeface="Courier New" pitchFamily="49" charset="0"/>
              </a:rPr>
              <a:t>end</a:t>
            </a:r>
            <a:endParaRPr lang="en-US" sz="1000" dirty="0">
              <a:latin typeface="Arial"/>
              <a:cs typeface="Arial"/>
            </a:endParaRPr>
          </a:p>
        </p:txBody>
      </p:sp>
      <p:sp>
        <p:nvSpPr>
          <p:cNvPr id="10" name="Rectangle 9"/>
          <p:cNvSpPr/>
          <p:nvPr/>
        </p:nvSpPr>
        <p:spPr bwMode="invGray">
          <a:xfrm>
            <a:off x="7188245" y="4905375"/>
            <a:ext cx="4581525" cy="257175"/>
          </a:xfrm>
          <a:prstGeom prst="rect">
            <a:avLst/>
          </a:prstGeom>
          <a:noFill/>
          <a:ln w="38100">
            <a:solidFill>
              <a:srgbClr val="FF0000"/>
            </a:solidFill>
            <a:round/>
            <a:headEnd/>
            <a:tailE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A"/>
          </a:p>
        </p:txBody>
      </p:sp>
      <p:sp>
        <p:nvSpPr>
          <p:cNvPr id="13" name="Rectangle 12"/>
          <p:cNvSpPr/>
          <p:nvPr/>
        </p:nvSpPr>
        <p:spPr bwMode="invGray">
          <a:xfrm>
            <a:off x="7143750" y="5657850"/>
            <a:ext cx="3419475" cy="257175"/>
          </a:xfrm>
          <a:prstGeom prst="rect">
            <a:avLst/>
          </a:prstGeom>
          <a:noFill/>
          <a:ln w="38100">
            <a:solidFill>
              <a:srgbClr val="FF0000"/>
            </a:solidFill>
            <a:round/>
            <a:headEnd/>
            <a:tailEn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A"/>
          </a:p>
        </p:txBody>
      </p:sp>
      <p:pic>
        <p:nvPicPr>
          <p:cNvPr id="11" name="Picture 10"/>
          <p:cNvPicPr>
            <a:picLocks noChangeAspect="1"/>
          </p:cNvPicPr>
          <p:nvPr/>
        </p:nvPicPr>
        <p:blipFill>
          <a:blip r:embed="rId4"/>
          <a:stretch>
            <a:fillRect/>
          </a:stretch>
        </p:blipFill>
        <p:spPr>
          <a:xfrm>
            <a:off x="7571858" y="3747486"/>
            <a:ext cx="2685714" cy="647619"/>
          </a:xfrm>
          <a:prstGeom prst="rect">
            <a:avLst/>
          </a:prstGeom>
          <a:ln>
            <a:solidFill>
              <a:schemeClr val="tx1"/>
            </a:solidFill>
          </a:ln>
        </p:spPr>
      </p:pic>
      <p:sp>
        <p:nvSpPr>
          <p:cNvPr id="9" name="Rectangle 8"/>
          <p:cNvSpPr/>
          <p:nvPr/>
        </p:nvSpPr>
        <p:spPr bwMode="invGray">
          <a:xfrm>
            <a:off x="7696904" y="3930556"/>
            <a:ext cx="427189" cy="284823"/>
          </a:xfrm>
          <a:prstGeom prst="rect">
            <a:avLst/>
          </a:prstGeom>
          <a:noFill/>
          <a:ln w="38100">
            <a:solidFill>
              <a:srgbClr val="FF0000"/>
            </a:solidFill>
            <a:round/>
            <a:headEnd/>
            <a:tailE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A" dirty="0"/>
          </a:p>
        </p:txBody>
      </p:sp>
      <p:pic>
        <p:nvPicPr>
          <p:cNvPr id="12" name="Picture 11"/>
          <p:cNvPicPr>
            <a:picLocks noChangeAspect="1"/>
          </p:cNvPicPr>
          <p:nvPr/>
        </p:nvPicPr>
        <p:blipFill>
          <a:blip r:embed="rId5"/>
          <a:stretch>
            <a:fillRect/>
          </a:stretch>
        </p:blipFill>
        <p:spPr>
          <a:xfrm>
            <a:off x="334475" y="3866668"/>
            <a:ext cx="5276090" cy="1295882"/>
          </a:xfrm>
          <a:prstGeom prst="rect">
            <a:avLst/>
          </a:prstGeom>
          <a:ln>
            <a:solidFill>
              <a:schemeClr val="tx1"/>
            </a:solidFill>
          </a:ln>
        </p:spPr>
      </p:pic>
    </p:spTree>
    <p:custDataLst>
      <p:tags r:id="rId1"/>
    </p:custDataLst>
    <p:extLst>
      <p:ext uri="{BB962C8B-B14F-4D97-AF65-F5344CB8AC3E}">
        <p14:creationId xmlns:p14="http://schemas.microsoft.com/office/powerpoint/2010/main" val="3271595964"/>
      </p:ext>
    </p:extLst>
  </p:cSld>
  <p:clrMapOvr>
    <a:masterClrMapping/>
  </p:clrMapOvr>
  <p:transition spd="slow">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Traffic Shapers</a:t>
            </a:r>
            <a:endParaRPr lang="en-CA" dirty="0"/>
          </a:p>
        </p:txBody>
      </p:sp>
      <p:sp>
        <p:nvSpPr>
          <p:cNvPr id="3" name="Content Placeholder 2"/>
          <p:cNvSpPr>
            <a:spLocks noGrp="1"/>
          </p:cNvSpPr>
          <p:nvPr>
            <p:ph idx="1"/>
          </p:nvPr>
        </p:nvSpPr>
        <p:spPr/>
        <p:txBody>
          <a:bodyPr/>
          <a:lstStyle/>
          <a:p>
            <a:r>
              <a:rPr lang="en-US"/>
              <a:t>Rate limiting is configurable</a:t>
            </a:r>
          </a:p>
          <a:p>
            <a:pPr lvl="1"/>
            <a:r>
              <a:rPr lang="en-US"/>
              <a:t>In bandwidth and out bandwidth</a:t>
            </a:r>
          </a:p>
          <a:p>
            <a:pPr lvl="1"/>
            <a:r>
              <a:rPr lang="en-CA"/>
              <a:t>Defines maximum and guaranteed bandwidth</a:t>
            </a:r>
          </a:p>
          <a:p>
            <a:endParaRPr lang="en-CA" dirty="0"/>
          </a:p>
        </p:txBody>
      </p:sp>
      <p:sp>
        <p:nvSpPr>
          <p:cNvPr id="4" name="Rectangle 5"/>
          <p:cNvSpPr>
            <a:spLocks noChangeArrowheads="1"/>
          </p:cNvSpPr>
          <p:nvPr/>
        </p:nvSpPr>
        <p:spPr bwMode="auto">
          <a:xfrm>
            <a:off x="2379789" y="3131261"/>
            <a:ext cx="1813557" cy="294081"/>
          </a:xfrm>
          <a:prstGeom prst="rect">
            <a:avLst/>
          </a:prstGeom>
          <a:solidFill>
            <a:srgbClr val="00B0F0"/>
          </a:solidFill>
          <a:ln>
            <a:noFill/>
          </a:ln>
          <a:effectLst/>
        </p:spPr>
        <p:txBody>
          <a:bodyPr wrap="none" anchor="ctr"/>
          <a:lstStyle/>
          <a:p>
            <a:pPr algn="ctr" eaLnBrk="0" hangingPunct="0"/>
            <a:r>
              <a:rPr lang="en-US" sz="1400" dirty="0"/>
              <a:t>Shared Traffic Shaper</a:t>
            </a:r>
          </a:p>
        </p:txBody>
      </p:sp>
      <p:sp>
        <p:nvSpPr>
          <p:cNvPr id="5" name="Rectangle 6"/>
          <p:cNvSpPr>
            <a:spLocks noChangeArrowheads="1"/>
          </p:cNvSpPr>
          <p:nvPr/>
        </p:nvSpPr>
        <p:spPr bwMode="auto">
          <a:xfrm>
            <a:off x="7432434" y="3131262"/>
            <a:ext cx="1769140" cy="294080"/>
          </a:xfrm>
          <a:prstGeom prst="rect">
            <a:avLst/>
          </a:prstGeom>
          <a:solidFill>
            <a:srgbClr val="00B0F0"/>
          </a:solidFill>
          <a:ln>
            <a:noFill/>
          </a:ln>
          <a:effectLst/>
        </p:spPr>
        <p:txBody>
          <a:bodyPr wrap="none" anchor="ctr"/>
          <a:lstStyle/>
          <a:p>
            <a:pPr algn="ctr" eaLnBrk="0" hangingPunct="0"/>
            <a:r>
              <a:rPr lang="en-US" sz="1400" dirty="0"/>
              <a:t>Per-IP Traffic Shaper</a:t>
            </a:r>
          </a:p>
        </p:txBody>
      </p:sp>
      <p:sp>
        <p:nvSpPr>
          <p:cNvPr id="6" name="Oval 7"/>
          <p:cNvSpPr>
            <a:spLocks noChangeArrowheads="1"/>
          </p:cNvSpPr>
          <p:nvPr/>
        </p:nvSpPr>
        <p:spPr bwMode="auto">
          <a:xfrm>
            <a:off x="2493474" y="4256400"/>
            <a:ext cx="1592261" cy="772768"/>
          </a:xfrm>
          <a:prstGeom prst="ellipse">
            <a:avLst/>
          </a:prstGeom>
          <a:solidFill>
            <a:srgbClr val="92D050"/>
          </a:solidFill>
          <a:ln>
            <a:noFill/>
          </a:ln>
          <a:effectLst/>
        </p:spPr>
        <p:txBody>
          <a:bodyPr wrap="none" anchor="ctr"/>
          <a:lstStyle/>
          <a:p>
            <a:pPr algn="ctr" eaLnBrk="0" hangingPunct="0"/>
            <a:r>
              <a:rPr lang="en-US" sz="1100" dirty="0"/>
              <a:t>Guaranteed Bandwidth</a:t>
            </a:r>
          </a:p>
          <a:p>
            <a:pPr algn="ctr" eaLnBrk="0" hangingPunct="0"/>
            <a:r>
              <a:rPr lang="en-US" sz="1100" dirty="0"/>
              <a:t>Maximum Bandwidth</a:t>
            </a:r>
          </a:p>
        </p:txBody>
      </p:sp>
      <p:sp>
        <p:nvSpPr>
          <p:cNvPr id="7" name="Oval 27"/>
          <p:cNvSpPr>
            <a:spLocks noChangeArrowheads="1"/>
          </p:cNvSpPr>
          <p:nvPr/>
        </p:nvSpPr>
        <p:spPr bwMode="auto">
          <a:xfrm>
            <a:off x="6992321" y="3570031"/>
            <a:ext cx="1666875" cy="496544"/>
          </a:xfrm>
          <a:prstGeom prst="ellipse">
            <a:avLst/>
          </a:prstGeom>
          <a:solidFill>
            <a:srgbClr val="92D050"/>
          </a:solidFill>
          <a:ln>
            <a:noFill/>
          </a:ln>
          <a:effectLst/>
        </p:spPr>
        <p:txBody>
          <a:bodyPr wrap="none" anchor="ctr"/>
          <a:lstStyle/>
          <a:p>
            <a:pPr algn="ctr" eaLnBrk="0" hangingPunct="0"/>
            <a:r>
              <a:rPr lang="en-US" sz="1100" dirty="0"/>
              <a:t>Guaranteed Bandwidth</a:t>
            </a:r>
          </a:p>
          <a:p>
            <a:pPr algn="ctr" eaLnBrk="0" hangingPunct="0"/>
            <a:r>
              <a:rPr lang="en-US" sz="1100" dirty="0"/>
              <a:t>Maximum Bandwidth</a:t>
            </a:r>
          </a:p>
        </p:txBody>
      </p:sp>
      <p:grpSp>
        <p:nvGrpSpPr>
          <p:cNvPr id="8" name="Group 7"/>
          <p:cNvGrpSpPr/>
          <p:nvPr/>
        </p:nvGrpSpPr>
        <p:grpSpPr>
          <a:xfrm>
            <a:off x="2255616" y="3584394"/>
            <a:ext cx="694328" cy="655673"/>
            <a:chOff x="1255981" y="3374368"/>
            <a:chExt cx="694328" cy="874230"/>
          </a:xfrm>
        </p:grpSpPr>
        <p:sp>
          <p:nvSpPr>
            <p:cNvPr id="9" name="AutoShape 15"/>
            <p:cNvSpPr>
              <a:spLocks noChangeArrowheads="1"/>
            </p:cNvSpPr>
            <p:nvPr/>
          </p:nvSpPr>
          <p:spPr bwMode="auto">
            <a:xfrm rot="3282509">
              <a:off x="1695515" y="3993804"/>
              <a:ext cx="312738" cy="196850"/>
            </a:xfrm>
            <a:prstGeom prst="leftArrow">
              <a:avLst>
                <a:gd name="adj1" fmla="val 50000"/>
                <a:gd name="adj2" fmla="val 39718"/>
              </a:avLst>
            </a:prstGeom>
            <a:solidFill>
              <a:srgbClr val="00B0F0"/>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endParaRPr lang="en-US" dirty="0"/>
            </a:p>
          </p:txBody>
        </p:sp>
        <p:pic>
          <p:nvPicPr>
            <p:cNvPr id="10" name="Picture 9" descr="Monitor_Gray_Flat.png"/>
            <p:cNvPicPr>
              <a:picLocks noChangeAspect="1"/>
            </p:cNvPicPr>
            <p:nvPr/>
          </p:nvPicPr>
          <p:blipFill>
            <a:blip r:embed="rId4" cstate="print"/>
            <a:stretch>
              <a:fillRect/>
            </a:stretch>
          </p:blipFill>
          <p:spPr>
            <a:xfrm>
              <a:off x="1255981" y="3374368"/>
              <a:ext cx="595903" cy="499789"/>
            </a:xfrm>
            <a:prstGeom prst="rect">
              <a:avLst/>
            </a:prstGeom>
          </p:spPr>
        </p:pic>
      </p:grpSp>
      <p:grpSp>
        <p:nvGrpSpPr>
          <p:cNvPr id="11" name="Group 10"/>
          <p:cNvGrpSpPr/>
          <p:nvPr/>
        </p:nvGrpSpPr>
        <p:grpSpPr>
          <a:xfrm>
            <a:off x="2126172" y="5007241"/>
            <a:ext cx="636405" cy="630491"/>
            <a:chOff x="1126536" y="5271497"/>
            <a:chExt cx="636405" cy="840654"/>
          </a:xfrm>
        </p:grpSpPr>
        <p:sp>
          <p:nvSpPr>
            <p:cNvPr id="12" name="AutoShape 17"/>
            <p:cNvSpPr>
              <a:spLocks noChangeArrowheads="1"/>
            </p:cNvSpPr>
            <p:nvPr/>
          </p:nvSpPr>
          <p:spPr bwMode="auto">
            <a:xfrm rot="18317491" flipV="1">
              <a:off x="1508147" y="5329441"/>
              <a:ext cx="312738" cy="196850"/>
            </a:xfrm>
            <a:prstGeom prst="leftArrow">
              <a:avLst>
                <a:gd name="adj1" fmla="val 50000"/>
                <a:gd name="adj2" fmla="val 39718"/>
              </a:avLst>
            </a:prstGeom>
            <a:solidFill>
              <a:srgbClr val="00B0F0"/>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endParaRPr lang="en-US" dirty="0"/>
            </a:p>
          </p:txBody>
        </p:sp>
        <p:pic>
          <p:nvPicPr>
            <p:cNvPr id="13" name="Picture 12" descr="Monitor_Gray_Flat.png"/>
            <p:cNvPicPr>
              <a:picLocks noChangeAspect="1"/>
            </p:cNvPicPr>
            <p:nvPr/>
          </p:nvPicPr>
          <p:blipFill>
            <a:blip r:embed="rId4" cstate="print"/>
            <a:stretch>
              <a:fillRect/>
            </a:stretch>
          </p:blipFill>
          <p:spPr>
            <a:xfrm>
              <a:off x="1126536" y="5612362"/>
              <a:ext cx="595903" cy="499789"/>
            </a:xfrm>
            <a:prstGeom prst="rect">
              <a:avLst/>
            </a:prstGeom>
          </p:spPr>
        </p:pic>
      </p:grpSp>
      <p:grpSp>
        <p:nvGrpSpPr>
          <p:cNvPr id="14" name="Group 13"/>
          <p:cNvGrpSpPr/>
          <p:nvPr/>
        </p:nvGrpSpPr>
        <p:grpSpPr>
          <a:xfrm>
            <a:off x="3745465" y="4989901"/>
            <a:ext cx="595903" cy="630491"/>
            <a:chOff x="2745829" y="5248376"/>
            <a:chExt cx="595903" cy="840655"/>
          </a:xfrm>
        </p:grpSpPr>
        <p:sp>
          <p:nvSpPr>
            <p:cNvPr id="15" name="AutoShape 20"/>
            <p:cNvSpPr>
              <a:spLocks noChangeArrowheads="1"/>
            </p:cNvSpPr>
            <p:nvPr/>
          </p:nvSpPr>
          <p:spPr bwMode="auto">
            <a:xfrm rot="3282509" flipH="1" flipV="1">
              <a:off x="2716965" y="5306320"/>
              <a:ext cx="312738" cy="196850"/>
            </a:xfrm>
            <a:prstGeom prst="leftArrow">
              <a:avLst>
                <a:gd name="adj1" fmla="val 50000"/>
                <a:gd name="adj2" fmla="val 39718"/>
              </a:avLst>
            </a:prstGeom>
            <a:solidFill>
              <a:srgbClr val="00B0F0"/>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endParaRPr lang="en-US" dirty="0"/>
            </a:p>
          </p:txBody>
        </p:sp>
        <p:pic>
          <p:nvPicPr>
            <p:cNvPr id="16" name="Picture 15" descr="Monitor_Gray_Flat.png"/>
            <p:cNvPicPr>
              <a:picLocks noChangeAspect="1"/>
            </p:cNvPicPr>
            <p:nvPr/>
          </p:nvPicPr>
          <p:blipFill>
            <a:blip r:embed="rId4" cstate="print"/>
            <a:stretch>
              <a:fillRect/>
            </a:stretch>
          </p:blipFill>
          <p:spPr>
            <a:xfrm>
              <a:off x="2745829" y="5589242"/>
              <a:ext cx="595903" cy="499789"/>
            </a:xfrm>
            <a:prstGeom prst="rect">
              <a:avLst/>
            </a:prstGeom>
          </p:spPr>
        </p:pic>
      </p:grpSp>
      <p:grpSp>
        <p:nvGrpSpPr>
          <p:cNvPr id="17" name="Group 16"/>
          <p:cNvGrpSpPr/>
          <p:nvPr/>
        </p:nvGrpSpPr>
        <p:grpSpPr>
          <a:xfrm>
            <a:off x="4184999" y="4483859"/>
            <a:ext cx="964249" cy="374842"/>
            <a:chOff x="3185363" y="4573654"/>
            <a:chExt cx="964249" cy="499789"/>
          </a:xfrm>
        </p:grpSpPr>
        <p:sp>
          <p:nvSpPr>
            <p:cNvPr id="18" name="AutoShape 19"/>
            <p:cNvSpPr>
              <a:spLocks noChangeArrowheads="1"/>
            </p:cNvSpPr>
            <p:nvPr/>
          </p:nvSpPr>
          <p:spPr bwMode="auto">
            <a:xfrm rot="1525" flipH="1">
              <a:off x="3185363" y="4725124"/>
              <a:ext cx="312738" cy="196850"/>
            </a:xfrm>
            <a:prstGeom prst="leftArrow">
              <a:avLst>
                <a:gd name="adj1" fmla="val 50000"/>
                <a:gd name="adj2" fmla="val 39718"/>
              </a:avLst>
            </a:prstGeom>
            <a:solidFill>
              <a:srgbClr val="00B0F0"/>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endParaRPr lang="en-US" dirty="0"/>
            </a:p>
          </p:txBody>
        </p:sp>
        <p:pic>
          <p:nvPicPr>
            <p:cNvPr id="19" name="Picture 18" descr="Monitor_Gray_Flat.png"/>
            <p:cNvPicPr>
              <a:picLocks noChangeAspect="1"/>
            </p:cNvPicPr>
            <p:nvPr/>
          </p:nvPicPr>
          <p:blipFill>
            <a:blip r:embed="rId4" cstate="print"/>
            <a:stretch>
              <a:fillRect/>
            </a:stretch>
          </p:blipFill>
          <p:spPr>
            <a:xfrm>
              <a:off x="3553709" y="4573654"/>
              <a:ext cx="595903" cy="499789"/>
            </a:xfrm>
            <a:prstGeom prst="rect">
              <a:avLst/>
            </a:prstGeom>
          </p:spPr>
        </p:pic>
      </p:grpSp>
      <p:grpSp>
        <p:nvGrpSpPr>
          <p:cNvPr id="20" name="Group 19"/>
          <p:cNvGrpSpPr/>
          <p:nvPr/>
        </p:nvGrpSpPr>
        <p:grpSpPr>
          <a:xfrm>
            <a:off x="3780624" y="3622000"/>
            <a:ext cx="717157" cy="630491"/>
            <a:chOff x="2780988" y="3424510"/>
            <a:chExt cx="717157" cy="840654"/>
          </a:xfrm>
        </p:grpSpPr>
        <p:sp>
          <p:nvSpPr>
            <p:cNvPr id="21" name="AutoShape 18"/>
            <p:cNvSpPr>
              <a:spLocks noChangeArrowheads="1"/>
            </p:cNvSpPr>
            <p:nvPr/>
          </p:nvSpPr>
          <p:spPr bwMode="auto">
            <a:xfrm rot="18317491" flipH="1">
              <a:off x="2723044" y="4010370"/>
              <a:ext cx="312738" cy="196850"/>
            </a:xfrm>
            <a:prstGeom prst="leftArrow">
              <a:avLst>
                <a:gd name="adj1" fmla="val 50000"/>
                <a:gd name="adj2" fmla="val 39718"/>
              </a:avLst>
            </a:prstGeom>
            <a:solidFill>
              <a:srgbClr val="00B0F0"/>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endParaRPr lang="en-US" dirty="0"/>
            </a:p>
          </p:txBody>
        </p:sp>
        <p:pic>
          <p:nvPicPr>
            <p:cNvPr id="22" name="Picture 21" descr="Monitor_Gray_Flat.png"/>
            <p:cNvPicPr>
              <a:picLocks noChangeAspect="1"/>
            </p:cNvPicPr>
            <p:nvPr/>
          </p:nvPicPr>
          <p:blipFill>
            <a:blip r:embed="rId4" cstate="print"/>
            <a:stretch>
              <a:fillRect/>
            </a:stretch>
          </p:blipFill>
          <p:spPr>
            <a:xfrm>
              <a:off x="2902242" y="3424510"/>
              <a:ext cx="595903" cy="499789"/>
            </a:xfrm>
            <a:prstGeom prst="rect">
              <a:avLst/>
            </a:prstGeom>
          </p:spPr>
        </p:pic>
      </p:grpSp>
      <p:grpSp>
        <p:nvGrpSpPr>
          <p:cNvPr id="23" name="Group 22"/>
          <p:cNvGrpSpPr/>
          <p:nvPr/>
        </p:nvGrpSpPr>
        <p:grpSpPr>
          <a:xfrm>
            <a:off x="1464186" y="4530942"/>
            <a:ext cx="929277" cy="374842"/>
            <a:chOff x="464550" y="4636432"/>
            <a:chExt cx="929277" cy="499789"/>
          </a:xfrm>
        </p:grpSpPr>
        <p:sp>
          <p:nvSpPr>
            <p:cNvPr id="24" name="AutoShape 16"/>
            <p:cNvSpPr>
              <a:spLocks noChangeArrowheads="1"/>
            </p:cNvSpPr>
            <p:nvPr/>
          </p:nvSpPr>
          <p:spPr bwMode="auto">
            <a:xfrm>
              <a:off x="1081089" y="4778375"/>
              <a:ext cx="312738" cy="196850"/>
            </a:xfrm>
            <a:prstGeom prst="leftArrow">
              <a:avLst>
                <a:gd name="adj1" fmla="val 50000"/>
                <a:gd name="adj2" fmla="val 39718"/>
              </a:avLst>
            </a:prstGeom>
            <a:solidFill>
              <a:srgbClr val="00B0F0"/>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endParaRPr lang="en-US" dirty="0"/>
            </a:p>
          </p:txBody>
        </p:sp>
        <p:pic>
          <p:nvPicPr>
            <p:cNvPr id="25" name="Picture 24" descr="Monitor_Gray_Flat.png"/>
            <p:cNvPicPr>
              <a:picLocks noChangeAspect="1"/>
            </p:cNvPicPr>
            <p:nvPr/>
          </p:nvPicPr>
          <p:blipFill>
            <a:blip r:embed="rId4" cstate="print"/>
            <a:stretch>
              <a:fillRect/>
            </a:stretch>
          </p:blipFill>
          <p:spPr>
            <a:xfrm>
              <a:off x="464550" y="4636432"/>
              <a:ext cx="595903" cy="499789"/>
            </a:xfrm>
            <a:prstGeom prst="rect">
              <a:avLst/>
            </a:prstGeom>
          </p:spPr>
        </p:pic>
      </p:grpSp>
      <p:sp>
        <p:nvSpPr>
          <p:cNvPr id="26" name="Oval 27"/>
          <p:cNvSpPr>
            <a:spLocks noChangeArrowheads="1"/>
          </p:cNvSpPr>
          <p:nvPr/>
        </p:nvSpPr>
        <p:spPr bwMode="auto">
          <a:xfrm>
            <a:off x="6992321" y="4280653"/>
            <a:ext cx="1666875" cy="504384"/>
          </a:xfrm>
          <a:prstGeom prst="ellipse">
            <a:avLst/>
          </a:prstGeom>
          <a:solidFill>
            <a:srgbClr val="92D050"/>
          </a:solidFill>
          <a:ln>
            <a:noFill/>
          </a:ln>
          <a:effectLst/>
        </p:spPr>
        <p:txBody>
          <a:bodyPr wrap="none" anchor="ctr"/>
          <a:lstStyle/>
          <a:p>
            <a:pPr algn="ctr" eaLnBrk="0" hangingPunct="0"/>
            <a:r>
              <a:rPr lang="en-US" sz="1100" dirty="0"/>
              <a:t>Guaranteed Bandwidth</a:t>
            </a:r>
          </a:p>
          <a:p>
            <a:pPr algn="ctr" eaLnBrk="0" hangingPunct="0"/>
            <a:r>
              <a:rPr lang="en-US" sz="1100" dirty="0"/>
              <a:t>Maximum Bandwidth</a:t>
            </a:r>
          </a:p>
        </p:txBody>
      </p:sp>
      <p:sp>
        <p:nvSpPr>
          <p:cNvPr id="27" name="Oval 27"/>
          <p:cNvSpPr>
            <a:spLocks noChangeArrowheads="1"/>
          </p:cNvSpPr>
          <p:nvPr/>
        </p:nvSpPr>
        <p:spPr bwMode="auto">
          <a:xfrm>
            <a:off x="6992321" y="5029168"/>
            <a:ext cx="1666874" cy="496544"/>
          </a:xfrm>
          <a:prstGeom prst="ellipse">
            <a:avLst/>
          </a:prstGeom>
          <a:solidFill>
            <a:srgbClr val="92D050"/>
          </a:solidFill>
          <a:ln>
            <a:noFill/>
          </a:ln>
          <a:effectLst/>
        </p:spPr>
        <p:txBody>
          <a:bodyPr wrap="none" anchor="ctr"/>
          <a:lstStyle/>
          <a:p>
            <a:pPr algn="ctr" eaLnBrk="0" hangingPunct="0"/>
            <a:r>
              <a:rPr lang="en-US" sz="1100" dirty="0"/>
              <a:t>Guaranteed Bandwidth</a:t>
            </a:r>
          </a:p>
          <a:p>
            <a:pPr algn="ctr" eaLnBrk="0" hangingPunct="0"/>
            <a:r>
              <a:rPr lang="en-US" sz="1100" dirty="0"/>
              <a:t>Maximum Bandwidth</a:t>
            </a:r>
          </a:p>
        </p:txBody>
      </p:sp>
      <p:grpSp>
        <p:nvGrpSpPr>
          <p:cNvPr id="28" name="Group 27"/>
          <p:cNvGrpSpPr/>
          <p:nvPr/>
        </p:nvGrpSpPr>
        <p:grpSpPr>
          <a:xfrm>
            <a:off x="8775128" y="5090019"/>
            <a:ext cx="1185427" cy="374842"/>
            <a:chOff x="6954882" y="5381867"/>
            <a:chExt cx="1185427" cy="499789"/>
          </a:xfrm>
        </p:grpSpPr>
        <p:sp>
          <p:nvSpPr>
            <p:cNvPr id="29" name="AutoShape 38"/>
            <p:cNvSpPr>
              <a:spLocks noChangeArrowheads="1"/>
            </p:cNvSpPr>
            <p:nvPr/>
          </p:nvSpPr>
          <p:spPr bwMode="auto">
            <a:xfrm rot="1525" flipH="1">
              <a:off x="6954882" y="5519391"/>
              <a:ext cx="312737" cy="196850"/>
            </a:xfrm>
            <a:prstGeom prst="leftArrow">
              <a:avLst>
                <a:gd name="adj1" fmla="val 50000"/>
                <a:gd name="adj2" fmla="val 39718"/>
              </a:avLst>
            </a:prstGeom>
            <a:solidFill>
              <a:srgbClr val="00B0F0"/>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endParaRPr lang="en-US" sz="1600" dirty="0"/>
            </a:p>
          </p:txBody>
        </p:sp>
        <p:pic>
          <p:nvPicPr>
            <p:cNvPr id="30" name="Picture 29" descr="Monitor_Gray_Flat.png"/>
            <p:cNvPicPr>
              <a:picLocks noChangeAspect="1"/>
            </p:cNvPicPr>
            <p:nvPr/>
          </p:nvPicPr>
          <p:blipFill>
            <a:blip r:embed="rId4" cstate="print"/>
            <a:stretch>
              <a:fillRect/>
            </a:stretch>
          </p:blipFill>
          <p:spPr>
            <a:xfrm>
              <a:off x="7544406" y="5381867"/>
              <a:ext cx="595903" cy="499789"/>
            </a:xfrm>
            <a:prstGeom prst="rect">
              <a:avLst/>
            </a:prstGeom>
          </p:spPr>
        </p:pic>
      </p:grpSp>
      <p:grpSp>
        <p:nvGrpSpPr>
          <p:cNvPr id="31" name="Group 30"/>
          <p:cNvGrpSpPr/>
          <p:nvPr/>
        </p:nvGrpSpPr>
        <p:grpSpPr>
          <a:xfrm>
            <a:off x="8808420" y="4336377"/>
            <a:ext cx="1117166" cy="374842"/>
            <a:chOff x="6988175" y="4377011"/>
            <a:chExt cx="1117166" cy="499789"/>
          </a:xfrm>
        </p:grpSpPr>
        <p:sp>
          <p:nvSpPr>
            <p:cNvPr id="32" name="AutoShape 35"/>
            <p:cNvSpPr>
              <a:spLocks noChangeArrowheads="1"/>
            </p:cNvSpPr>
            <p:nvPr/>
          </p:nvSpPr>
          <p:spPr bwMode="auto">
            <a:xfrm rot="1525" flipH="1">
              <a:off x="6988175" y="4532138"/>
              <a:ext cx="312738" cy="196850"/>
            </a:xfrm>
            <a:prstGeom prst="leftArrow">
              <a:avLst>
                <a:gd name="adj1" fmla="val 50000"/>
                <a:gd name="adj2" fmla="val 39718"/>
              </a:avLst>
            </a:prstGeom>
            <a:solidFill>
              <a:srgbClr val="00B0F0"/>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endParaRPr lang="en-US" sz="1600" dirty="0"/>
            </a:p>
          </p:txBody>
        </p:sp>
        <p:pic>
          <p:nvPicPr>
            <p:cNvPr id="33" name="Picture 32" descr="Monitor_Gray_Flat.png"/>
            <p:cNvPicPr>
              <a:picLocks noChangeAspect="1"/>
            </p:cNvPicPr>
            <p:nvPr/>
          </p:nvPicPr>
          <p:blipFill>
            <a:blip r:embed="rId4" cstate="print"/>
            <a:stretch>
              <a:fillRect/>
            </a:stretch>
          </p:blipFill>
          <p:spPr>
            <a:xfrm>
              <a:off x="7509438" y="4377011"/>
              <a:ext cx="595903" cy="499789"/>
            </a:xfrm>
            <a:prstGeom prst="rect">
              <a:avLst/>
            </a:prstGeom>
          </p:spPr>
        </p:pic>
      </p:grpSp>
      <p:grpSp>
        <p:nvGrpSpPr>
          <p:cNvPr id="34" name="Group 33"/>
          <p:cNvGrpSpPr/>
          <p:nvPr/>
        </p:nvGrpSpPr>
        <p:grpSpPr>
          <a:xfrm>
            <a:off x="8789370" y="3630882"/>
            <a:ext cx="1132182" cy="374842"/>
            <a:chOff x="6969125" y="3436352"/>
            <a:chExt cx="1132182" cy="499789"/>
          </a:xfrm>
        </p:grpSpPr>
        <p:sp>
          <p:nvSpPr>
            <p:cNvPr id="35" name="AutoShape 30"/>
            <p:cNvSpPr>
              <a:spLocks noChangeArrowheads="1"/>
            </p:cNvSpPr>
            <p:nvPr/>
          </p:nvSpPr>
          <p:spPr bwMode="auto">
            <a:xfrm rot="1525" flipH="1">
              <a:off x="6969125" y="3582988"/>
              <a:ext cx="312738" cy="196850"/>
            </a:xfrm>
            <a:prstGeom prst="leftArrow">
              <a:avLst>
                <a:gd name="adj1" fmla="val 50000"/>
                <a:gd name="adj2" fmla="val 39718"/>
              </a:avLst>
            </a:prstGeom>
            <a:solidFill>
              <a:srgbClr val="00B0F0"/>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endParaRPr lang="en-US" sz="1600" dirty="0"/>
            </a:p>
          </p:txBody>
        </p:sp>
        <p:pic>
          <p:nvPicPr>
            <p:cNvPr id="36" name="Picture 35" descr="Monitor_Gray_Flat.png"/>
            <p:cNvPicPr>
              <a:picLocks noChangeAspect="1"/>
            </p:cNvPicPr>
            <p:nvPr/>
          </p:nvPicPr>
          <p:blipFill>
            <a:blip r:embed="rId4" cstate="print"/>
            <a:stretch>
              <a:fillRect/>
            </a:stretch>
          </p:blipFill>
          <p:spPr>
            <a:xfrm>
              <a:off x="7505404" y="3436352"/>
              <a:ext cx="595903" cy="499789"/>
            </a:xfrm>
            <a:prstGeom prst="rect">
              <a:avLst/>
            </a:prstGeom>
          </p:spPr>
        </p:pic>
      </p:grpSp>
      <p:sp>
        <p:nvSpPr>
          <p:cNvPr id="37" name="TextBox 36"/>
          <p:cNvSpPr txBox="1"/>
          <p:nvPr/>
        </p:nvSpPr>
        <p:spPr>
          <a:xfrm>
            <a:off x="3520317" y="2209353"/>
            <a:ext cx="4845627" cy="369332"/>
          </a:xfrm>
          <a:prstGeom prst="rect">
            <a:avLst/>
          </a:prstGeom>
          <a:solidFill>
            <a:srgbClr val="00B0F0"/>
          </a:solidFill>
        </p:spPr>
        <p:txBody>
          <a:bodyPr wrap="square" rtlCol="0">
            <a:spAutoFit/>
          </a:bodyPr>
          <a:lstStyle/>
          <a:p>
            <a:pPr algn="ctr"/>
            <a:r>
              <a:rPr lang="en-CA" b="1" dirty="0">
                <a:solidFill>
                  <a:schemeClr val="tx1"/>
                </a:solidFill>
                <a:cs typeface="Arial"/>
              </a:rPr>
              <a:t>Policies &amp; Objects </a:t>
            </a:r>
            <a:r>
              <a:rPr lang="en-CA" dirty="0">
                <a:solidFill>
                  <a:schemeClr val="tx1"/>
                </a:solidFill>
                <a:cs typeface="Arial"/>
              </a:rPr>
              <a:t>&gt; </a:t>
            </a:r>
            <a:r>
              <a:rPr lang="en-CA" b="1" dirty="0">
                <a:solidFill>
                  <a:schemeClr val="tx1"/>
                </a:solidFill>
                <a:cs typeface="Arial"/>
              </a:rPr>
              <a:t>Traffic Shaping Policy</a:t>
            </a:r>
          </a:p>
        </p:txBody>
      </p:sp>
    </p:spTree>
    <p:custDataLst>
      <p:tags r:id="rId1"/>
    </p:custDataLst>
    <p:extLst>
      <p:ext uri="{BB962C8B-B14F-4D97-AF65-F5344CB8AC3E}">
        <p14:creationId xmlns:p14="http://schemas.microsoft.com/office/powerpoint/2010/main" val="983936111"/>
      </p:ext>
    </p:extLst>
  </p:cSld>
  <p:clrMapOvr>
    <a:masterClrMapping/>
  </p:clrMapOvr>
  <p:transition spd="slow">
    <p:wip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Consolidated IPv4 and IPv6 Policy Configuration</a:t>
            </a:r>
          </a:p>
        </p:txBody>
      </p:sp>
      <p:sp>
        <p:nvSpPr>
          <p:cNvPr id="3" name="Content Placeholder 2"/>
          <p:cNvSpPr>
            <a:spLocks noGrp="1"/>
          </p:cNvSpPr>
          <p:nvPr>
            <p:ph idx="1"/>
          </p:nvPr>
        </p:nvSpPr>
        <p:spPr/>
        <p:txBody>
          <a:bodyPr/>
          <a:lstStyle/>
          <a:p>
            <a:r>
              <a:rPr lang="en-US" dirty="0"/>
              <a:t>IPv4 and IPv6 policies are combined into a single consolidated policy, instead of separate policies</a:t>
            </a:r>
          </a:p>
          <a:p>
            <a:r>
              <a:rPr lang="en-US" dirty="0"/>
              <a:t>The IP version of the sources and destinations in a policy must match</a:t>
            </a:r>
          </a:p>
          <a:p>
            <a:r>
              <a:rPr lang="en-US" dirty="0"/>
              <a:t>Single policy table for GUI</a:t>
            </a:r>
          </a:p>
          <a:p>
            <a:r>
              <a:rPr lang="en-CA" dirty="0"/>
              <a:t>Different IP addresses and IP pool for IPv4 and IPv6</a:t>
            </a:r>
          </a:p>
          <a:p>
            <a:endParaRPr lang="en-US" dirty="0"/>
          </a:p>
          <a:p>
            <a:endParaRPr lang="en-US" dirty="0"/>
          </a:p>
        </p:txBody>
      </p:sp>
      <p:sp>
        <p:nvSpPr>
          <p:cNvPr id="8" name="Content Placeholder 2"/>
          <p:cNvSpPr txBox="1">
            <a:spLocks/>
          </p:cNvSpPr>
          <p:nvPr/>
        </p:nvSpPr>
        <p:spPr>
          <a:xfrm>
            <a:off x="5856823" y="976184"/>
            <a:ext cx="5622878" cy="3880021"/>
          </a:xfrm>
          <a:prstGeom prst="rect">
            <a:avLst/>
          </a:prstGeom>
        </p:spPr>
        <p:txBody>
          <a:bodyPr/>
          <a:lstStyle>
            <a:lvl1pPr marL="228600" indent="-228600" algn="l" defTabSz="914400" rtl="0" eaLnBrk="1" latinLnBrk="0" hangingPunct="1">
              <a:lnSpc>
                <a:spcPct val="90000"/>
              </a:lnSpc>
              <a:spcBef>
                <a:spcPts val="1000"/>
              </a:spcBef>
              <a:buClr>
                <a:schemeClr val="accent6"/>
              </a:buClr>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6"/>
              </a:buClr>
              <a:buFont typeface="Arial" panose="020B0604020202020204" pitchFamily="34" charset="0"/>
              <a:buChar char="•"/>
              <a:defRPr sz="1400" kern="1200">
                <a:solidFill>
                  <a:schemeClr val="tx1"/>
                </a:solidFill>
                <a:latin typeface="+mn-lt"/>
                <a:ea typeface="+mn-ea"/>
                <a:cs typeface="+mn-cs"/>
              </a:defRPr>
            </a:lvl4pPr>
            <a:lvl5pPr marL="814388" marR="0" indent="0" algn="l" defTabSz="685800" rtl="0" eaLnBrk="1" fontAlgn="base" latinLnBrk="0" hangingPunct="1">
              <a:lnSpc>
                <a:spcPct val="110000"/>
              </a:lnSpc>
              <a:spcBef>
                <a:spcPct val="20000"/>
              </a:spcBef>
              <a:spcAft>
                <a:spcPct val="0"/>
              </a:spcAft>
              <a:buClr>
                <a:srgbClr val="D81E05"/>
              </a:buClr>
              <a:buSzTx/>
              <a:buFont typeface="Arial"/>
              <a:buNone/>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i="1" dirty="0"/>
          </a:p>
        </p:txBody>
      </p:sp>
      <p:pic>
        <p:nvPicPr>
          <p:cNvPr id="5" name="Picture 4"/>
          <p:cNvPicPr>
            <a:picLocks noChangeAspect="1"/>
          </p:cNvPicPr>
          <p:nvPr/>
        </p:nvPicPr>
        <p:blipFill>
          <a:blip r:embed="rId3">
            <a:extLst>
              <a:ext uri="{BEBA8EAE-BF5A-486C-A8C5-ECC9F3942E4B}">
                <a14:imgProps xmlns:a14="http://schemas.microsoft.com/office/drawing/2010/main">
                  <a14:imgLayer r:embed="rId4">
                    <a14:imgEffect>
                      <a14:saturation sat="66000"/>
                    </a14:imgEffect>
                  </a14:imgLayer>
                </a14:imgProps>
              </a:ext>
            </a:extLst>
          </a:blip>
          <a:stretch>
            <a:fillRect/>
          </a:stretch>
        </p:blipFill>
        <p:spPr>
          <a:xfrm>
            <a:off x="1120061" y="3357781"/>
            <a:ext cx="9473523" cy="2927469"/>
          </a:xfrm>
          <a:prstGeom prst="rect">
            <a:avLst/>
          </a:prstGeom>
          <a:ln>
            <a:solidFill>
              <a:schemeClr val="tx1"/>
            </a:solidFill>
          </a:ln>
        </p:spPr>
      </p:pic>
      <p:sp>
        <p:nvSpPr>
          <p:cNvPr id="7" name="Rectangle 6"/>
          <p:cNvSpPr/>
          <p:nvPr/>
        </p:nvSpPr>
        <p:spPr>
          <a:xfrm>
            <a:off x="9753600" y="3383424"/>
            <a:ext cx="811848" cy="870008"/>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dirty="0" err="1"/>
          </a:p>
        </p:txBody>
      </p:sp>
      <p:sp>
        <p:nvSpPr>
          <p:cNvPr id="9" name="TextBox 8"/>
          <p:cNvSpPr txBox="1"/>
          <p:nvPr/>
        </p:nvSpPr>
        <p:spPr>
          <a:xfrm>
            <a:off x="1105993" y="2949789"/>
            <a:ext cx="3469219" cy="338554"/>
          </a:xfrm>
          <a:prstGeom prst="rect">
            <a:avLst/>
          </a:prstGeom>
          <a:solidFill>
            <a:srgbClr val="00B0F0"/>
          </a:solidFill>
        </p:spPr>
        <p:txBody>
          <a:bodyPr wrap="none" rtlCol="0">
            <a:spAutoFit/>
          </a:bodyPr>
          <a:lstStyle/>
          <a:p>
            <a:r>
              <a:rPr lang="en-CA" sz="1600" b="1" dirty="0"/>
              <a:t>Policy &amp; Objects </a:t>
            </a:r>
            <a:r>
              <a:rPr lang="en-CA" sz="1600" dirty="0"/>
              <a:t>&gt; </a:t>
            </a:r>
            <a:r>
              <a:rPr lang="en-CA" sz="1600" b="1" dirty="0"/>
              <a:t>Firewall Policy</a:t>
            </a:r>
          </a:p>
        </p:txBody>
      </p:sp>
      <p:sp>
        <p:nvSpPr>
          <p:cNvPr id="10" name="Rectangle 9"/>
          <p:cNvSpPr/>
          <p:nvPr/>
        </p:nvSpPr>
        <p:spPr>
          <a:xfrm>
            <a:off x="7186246" y="5474677"/>
            <a:ext cx="917356" cy="433754"/>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dirty="0" err="1"/>
          </a:p>
        </p:txBody>
      </p:sp>
    </p:spTree>
    <p:extLst>
      <p:ext uri="{BB962C8B-B14F-4D97-AF65-F5344CB8AC3E}">
        <p14:creationId xmlns:p14="http://schemas.microsoft.com/office/powerpoint/2010/main" val="1269921090"/>
      </p:ext>
    </p:extLst>
  </p:cSld>
  <p:clrMapOvr>
    <a:masterClrMapping/>
  </p:clrMapOvr>
  <p:transition spd="slow">
    <p:wip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457200" indent="-457200">
              <a:buFont typeface="+mj-lt"/>
              <a:buAutoNum type="arabicPeriod"/>
            </a:pPr>
            <a:r>
              <a:rPr lang="en-CA" dirty="0"/>
              <a:t>To configure a firewall policy, you must include a firewall policy name when configuring using the _____.</a:t>
            </a:r>
          </a:p>
          <a:p>
            <a:pPr marL="838133" lvl="1" indent="-457200">
              <a:buFont typeface="+mj-lt"/>
              <a:buAutoNum type="alphaUcPeriod"/>
            </a:pPr>
            <a:r>
              <a:rPr lang="en-CA" dirty="0"/>
              <a:t>CLI</a:t>
            </a:r>
          </a:p>
          <a:p>
            <a:pPr marL="838133" lvl="1" indent="-457200">
              <a:buFont typeface="+mj-lt"/>
              <a:buAutoNum type="alphaUcPeriod"/>
            </a:pPr>
            <a:r>
              <a:rPr lang="en-CA" dirty="0"/>
              <a:t>GUI</a:t>
            </a:r>
          </a:p>
          <a:p>
            <a:pPr marL="380933" lvl="1" indent="0">
              <a:buNone/>
            </a:pPr>
            <a:endParaRPr lang="en-CA" dirty="0"/>
          </a:p>
          <a:p>
            <a:pPr marL="838133" lvl="1" indent="-457200">
              <a:buFont typeface="+mj-lt"/>
              <a:buAutoNum type="alphaUcPeriod"/>
            </a:pPr>
            <a:endParaRPr lang="en-US" dirty="0"/>
          </a:p>
          <a:p>
            <a:pPr marL="457200" indent="-457200">
              <a:buFont typeface="+mj-lt"/>
              <a:buAutoNum type="arabicPeriod"/>
            </a:pPr>
            <a:r>
              <a:rPr lang="en-US" dirty="0"/>
              <a:t>What is the purpose of applying security profiles to a firewall policy?</a:t>
            </a:r>
          </a:p>
          <a:p>
            <a:pPr marL="838133" lvl="1" indent="-457200">
              <a:buFont typeface="+mj-lt"/>
              <a:buAutoNum type="alphaUcPeriod"/>
            </a:pPr>
            <a:r>
              <a:rPr lang="en-CA" dirty="0"/>
              <a:t>To allow access to specific subnets</a:t>
            </a:r>
          </a:p>
          <a:p>
            <a:pPr marL="838133" lvl="1" indent="-457200">
              <a:buFont typeface="+mj-lt"/>
              <a:buAutoNum type="alphaUcPeriod"/>
            </a:pPr>
            <a:r>
              <a:rPr lang="en-CA" dirty="0"/>
              <a:t>To protect your network from threats, and control access to specific applications and URLs</a:t>
            </a:r>
          </a:p>
          <a:p>
            <a:pPr marL="838133" lvl="1" indent="-457200">
              <a:buFont typeface="+mj-lt"/>
              <a:buAutoNum type="alphaUcPeriod"/>
            </a:pPr>
            <a:endParaRPr lang="en-CA" dirty="0"/>
          </a:p>
          <a:p>
            <a:pPr marL="0" indent="0">
              <a:buNone/>
            </a:pPr>
            <a:endParaRPr lang="en-CA" dirty="0"/>
          </a:p>
        </p:txBody>
      </p:sp>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0044" y="1942178"/>
            <a:ext cx="301962" cy="322787"/>
          </a:xfrm>
          <a:prstGeom prst="rect">
            <a:avLst/>
          </a:prstGeom>
        </p:spPr>
      </p:pic>
      <p:pic>
        <p:nvPicPr>
          <p:cNvPr id="10" name="Picture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9490" y="3627381"/>
            <a:ext cx="301962" cy="322787"/>
          </a:xfrm>
          <a:prstGeom prst="rect">
            <a:avLst/>
          </a:prstGeom>
        </p:spPr>
      </p:pic>
    </p:spTree>
    <p:custDataLst>
      <p:tags r:id="rId1"/>
    </p:custDataLst>
    <p:extLst>
      <p:ext uri="{BB962C8B-B14F-4D97-AF65-F5344CB8AC3E}">
        <p14:creationId xmlns:p14="http://schemas.microsoft.com/office/powerpoint/2010/main" val="2732178810"/>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down)">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SmartArt Placeholder 2"/>
          <p:cNvGraphicFramePr>
            <a:graphicFrameLocks noGrp="1"/>
          </p:cNvGraphicFramePr>
          <p:nvPr>
            <p:ph type="dgm" sz="quarter" idx="10"/>
            <p:extLst>
              <p:ext uri="{D42A27DB-BD31-4B8C-83A1-F6EECF244321}">
                <p14:modId xmlns:p14="http://schemas.microsoft.com/office/powerpoint/2010/main" val="2757002648"/>
              </p:ext>
            </p:extLst>
          </p:nvPr>
        </p:nvGraphicFramePr>
        <p:xfrm>
          <a:off x="266700" y="1346200"/>
          <a:ext cx="11387138" cy="470852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5" name="Picture 4"/>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82350" y="2777220"/>
            <a:ext cx="648420" cy="693138"/>
          </a:xfrm>
          <a:prstGeom prst="rect">
            <a:avLst/>
          </a:prstGeom>
        </p:spPr>
      </p:pic>
      <p:pic>
        <p:nvPicPr>
          <p:cNvPr id="6" name="Picture 5"/>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72577" y="1715141"/>
            <a:ext cx="648420" cy="693138"/>
          </a:xfrm>
          <a:prstGeom prst="rect">
            <a:avLst/>
          </a:prstGeom>
        </p:spPr>
      </p:pic>
    </p:spTree>
    <p:custDataLst>
      <p:tags r:id="rId1"/>
    </p:custDataLst>
    <p:extLst>
      <p:ext uri="{BB962C8B-B14F-4D97-AF65-F5344CB8AC3E}">
        <p14:creationId xmlns:p14="http://schemas.microsoft.com/office/powerpoint/2010/main" val="21474092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CA" dirty="0"/>
              <a:t>Managing Firewall Policies</a:t>
            </a:r>
          </a:p>
        </p:txBody>
      </p:sp>
      <p:sp>
        <p:nvSpPr>
          <p:cNvPr id="5" name="Text Placeholder 4"/>
          <p:cNvSpPr>
            <a:spLocks noGrp="1"/>
          </p:cNvSpPr>
          <p:nvPr>
            <p:ph type="body" sz="quarter" idx="11"/>
          </p:nvPr>
        </p:nvSpPr>
        <p:spPr/>
        <p:txBody>
          <a:bodyPr/>
          <a:lstStyle/>
          <a:p>
            <a:r>
              <a:rPr lang="en-CA" dirty="0"/>
              <a:t>Identify policy list views</a:t>
            </a:r>
          </a:p>
          <a:p>
            <a:r>
              <a:rPr lang="en-CA" dirty="0"/>
              <a:t>Understand the use of policy IDs</a:t>
            </a:r>
          </a:p>
          <a:p>
            <a:r>
              <a:rPr lang="en-CA" dirty="0"/>
              <a:t>Identify where an object is referenced</a:t>
            </a:r>
          </a:p>
          <a:p>
            <a:endParaRPr lang="en-CA" dirty="0"/>
          </a:p>
          <a:p>
            <a:endParaRPr lang="en-CA" dirty="0"/>
          </a:p>
        </p:txBody>
      </p:sp>
    </p:spTree>
    <p:custDataLst>
      <p:tags r:id="rId1"/>
    </p:custDataLst>
    <p:extLst>
      <p:ext uri="{BB962C8B-B14F-4D97-AF65-F5344CB8AC3E}">
        <p14:creationId xmlns:p14="http://schemas.microsoft.com/office/powerpoint/2010/main" val="16762936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Policy List—Interface Pair View and By Sequence</a:t>
            </a:r>
            <a:endParaRPr lang="en-CA" dirty="0"/>
          </a:p>
        </p:txBody>
      </p:sp>
      <p:sp>
        <p:nvSpPr>
          <p:cNvPr id="3" name="Content Placeholder 2"/>
          <p:cNvSpPr>
            <a:spLocks noGrp="1"/>
          </p:cNvSpPr>
          <p:nvPr>
            <p:ph idx="1"/>
          </p:nvPr>
        </p:nvSpPr>
        <p:spPr/>
        <p:txBody>
          <a:bodyPr/>
          <a:lstStyle/>
          <a:p>
            <a:r>
              <a:rPr lang="en-US" b="1" dirty="0"/>
              <a:t>Interface Pair View</a:t>
            </a:r>
          </a:p>
          <a:p>
            <a:pPr lvl="1"/>
            <a:r>
              <a:rPr lang="en-US" dirty="0"/>
              <a:t>Lists policies by ingress and egress interfaces (or zone) pairings</a:t>
            </a:r>
          </a:p>
          <a:p>
            <a:pPr lvl="1"/>
            <a:endParaRPr lang="en-US" dirty="0"/>
          </a:p>
          <a:p>
            <a:pPr lvl="1"/>
            <a:endParaRPr lang="en-US" dirty="0"/>
          </a:p>
          <a:p>
            <a:endParaRPr lang="en-US" dirty="0"/>
          </a:p>
          <a:p>
            <a:endParaRPr lang="en-US" dirty="0"/>
          </a:p>
          <a:p>
            <a:endParaRPr lang="en-US" dirty="0"/>
          </a:p>
          <a:p>
            <a:r>
              <a:rPr lang="en-US" b="1" dirty="0"/>
              <a:t>By Sequence </a:t>
            </a:r>
            <a:r>
              <a:rPr lang="en-US" dirty="0"/>
              <a:t>(only)</a:t>
            </a:r>
          </a:p>
          <a:p>
            <a:pPr lvl="1"/>
            <a:r>
              <a:rPr lang="en-CA" dirty="0"/>
              <a:t>If policies are created using </a:t>
            </a:r>
            <a:r>
              <a:rPr lang="en-US" dirty="0"/>
              <a:t>multiple source and destination interfaces or any interface</a:t>
            </a:r>
          </a:p>
          <a:p>
            <a:pPr lvl="1"/>
            <a:endParaRPr lang="en-US" dirty="0"/>
          </a:p>
          <a:p>
            <a:endParaRPr lang="en-US" dirty="0"/>
          </a:p>
        </p:txBody>
      </p:sp>
      <p:sp>
        <p:nvSpPr>
          <p:cNvPr id="31" name="Rounded Rectangular Callout 30"/>
          <p:cNvSpPr/>
          <p:nvPr/>
        </p:nvSpPr>
        <p:spPr bwMode="auto">
          <a:xfrm>
            <a:off x="1264173" y="2650027"/>
            <a:ext cx="2054771" cy="356699"/>
          </a:xfrm>
          <a:prstGeom prst="wedgeRoundRectCallout">
            <a:avLst>
              <a:gd name="adj1" fmla="val 94334"/>
              <a:gd name="adj2" fmla="val 121751"/>
              <a:gd name="adj3" fmla="val 16667"/>
            </a:avLst>
          </a:prstGeom>
          <a:solidFill>
            <a:srgbClr val="00B0F0"/>
          </a:solidFill>
          <a:ln w="19050" cap="flat" cmpd="sng" algn="ctr">
            <a:no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20000"/>
              </a:spcBef>
              <a:spcAft>
                <a:spcPct val="0"/>
              </a:spcAft>
              <a:buClr>
                <a:schemeClr val="accent1"/>
              </a:buClr>
              <a:buSzPct val="90000"/>
              <a:buFont typeface="Wingdings" charset="2"/>
              <a:buNone/>
              <a:tabLst/>
            </a:pPr>
            <a:r>
              <a:rPr lang="en-CA" sz="1400" dirty="0"/>
              <a:t>Interface policy pairs</a:t>
            </a:r>
            <a:endParaRPr kumimoji="0" lang="en-CA" sz="1400" b="0" i="0" u="none" strike="noStrike" cap="none" normalizeH="0" baseline="0" dirty="0">
              <a:ln>
                <a:noFill/>
              </a:ln>
              <a:effectLst/>
            </a:endParaRPr>
          </a:p>
        </p:txBody>
      </p:sp>
      <p:sp>
        <p:nvSpPr>
          <p:cNvPr id="32" name="Rounded Rectangular Callout 31"/>
          <p:cNvSpPr/>
          <p:nvPr/>
        </p:nvSpPr>
        <p:spPr bwMode="auto">
          <a:xfrm>
            <a:off x="1253462" y="2652592"/>
            <a:ext cx="2065482" cy="354134"/>
          </a:xfrm>
          <a:prstGeom prst="wedgeRoundRectCallout">
            <a:avLst>
              <a:gd name="adj1" fmla="val 94050"/>
              <a:gd name="adj2" fmla="val -36189"/>
              <a:gd name="adj3" fmla="val 16667"/>
            </a:avLst>
          </a:prstGeom>
          <a:solidFill>
            <a:srgbClr val="00B0F0"/>
          </a:solidFill>
          <a:ln w="19050" cap="flat" cmpd="sng" algn="ctr">
            <a:no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20000"/>
              </a:spcBef>
              <a:spcAft>
                <a:spcPct val="0"/>
              </a:spcAft>
              <a:buClr>
                <a:schemeClr val="accent1"/>
              </a:buClr>
              <a:buSzPct val="90000"/>
              <a:buFont typeface="Wingdings" charset="2"/>
              <a:buNone/>
              <a:tabLst/>
            </a:pPr>
            <a:r>
              <a:rPr lang="en-CA" sz="1400" dirty="0"/>
              <a:t>Interface policy pairs</a:t>
            </a:r>
            <a:endParaRPr kumimoji="0" lang="en-CA" sz="1400" b="0" i="0" u="none" strike="noStrike" cap="none" normalizeH="0" baseline="0" dirty="0">
              <a:ln>
                <a:noFill/>
              </a:ln>
              <a:effectLst/>
            </a:endParaRPr>
          </a:p>
        </p:txBody>
      </p:sp>
      <p:sp>
        <p:nvSpPr>
          <p:cNvPr id="21" name="TextBox 20"/>
          <p:cNvSpPr txBox="1"/>
          <p:nvPr/>
        </p:nvSpPr>
        <p:spPr>
          <a:xfrm>
            <a:off x="4243457" y="1812556"/>
            <a:ext cx="3044423" cy="233910"/>
          </a:xfrm>
          <a:prstGeom prst="rect">
            <a:avLst/>
          </a:prstGeom>
          <a:solidFill>
            <a:srgbClr val="00B0F0"/>
          </a:solidFill>
        </p:spPr>
        <p:txBody>
          <a:bodyPr wrap="none" tIns="9144" bIns="9144" rtlCol="0">
            <a:spAutoFit/>
          </a:bodyPr>
          <a:lstStyle/>
          <a:p>
            <a:r>
              <a:rPr lang="en-CA" sz="1400" b="1" dirty="0"/>
              <a:t>Policy &amp; Objects </a:t>
            </a:r>
            <a:r>
              <a:rPr lang="en-CA" sz="1400" dirty="0"/>
              <a:t>&gt; </a:t>
            </a:r>
            <a:r>
              <a:rPr lang="en-CA" sz="1400" b="1" dirty="0"/>
              <a:t>Firewall Policy</a:t>
            </a:r>
          </a:p>
        </p:txBody>
      </p:sp>
      <p:sp>
        <p:nvSpPr>
          <p:cNvPr id="26" name="TextBox 25"/>
          <p:cNvSpPr txBox="1"/>
          <p:nvPr/>
        </p:nvSpPr>
        <p:spPr>
          <a:xfrm>
            <a:off x="2825833" y="4405607"/>
            <a:ext cx="3044423" cy="233910"/>
          </a:xfrm>
          <a:prstGeom prst="rect">
            <a:avLst/>
          </a:prstGeom>
          <a:solidFill>
            <a:srgbClr val="00B0F0"/>
          </a:solidFill>
        </p:spPr>
        <p:txBody>
          <a:bodyPr wrap="none" tIns="9144" bIns="9144" rtlCol="0">
            <a:spAutoFit/>
          </a:bodyPr>
          <a:lstStyle/>
          <a:p>
            <a:r>
              <a:rPr lang="en-CA" sz="1400" b="1" dirty="0"/>
              <a:t>Policy &amp; Objects </a:t>
            </a:r>
            <a:r>
              <a:rPr lang="en-CA" sz="1400" dirty="0"/>
              <a:t>&gt; </a:t>
            </a:r>
            <a:r>
              <a:rPr lang="en-CA" sz="1400" b="1" dirty="0"/>
              <a:t>Firewall Policy</a:t>
            </a:r>
          </a:p>
        </p:txBody>
      </p:sp>
      <p:pic>
        <p:nvPicPr>
          <p:cNvPr id="6" name="Picture 5"/>
          <p:cNvPicPr>
            <a:picLocks noChangeAspect="1"/>
          </p:cNvPicPr>
          <p:nvPr/>
        </p:nvPicPr>
        <p:blipFill>
          <a:blip r:embed="rId4">
            <a:extLst>
              <a:ext uri="{BEBA8EAE-BF5A-486C-A8C5-ECC9F3942E4B}">
                <a14:imgProps xmlns:a14="http://schemas.microsoft.com/office/drawing/2010/main">
                  <a14:imgLayer r:embed="rId5">
                    <a14:imgEffect>
                      <a14:saturation sat="66000"/>
                    </a14:imgEffect>
                  </a14:imgLayer>
                </a14:imgProps>
              </a:ext>
            </a:extLst>
          </a:blip>
          <a:stretch>
            <a:fillRect/>
          </a:stretch>
        </p:blipFill>
        <p:spPr>
          <a:xfrm>
            <a:off x="4274999" y="2100152"/>
            <a:ext cx="7674831" cy="1641097"/>
          </a:xfrm>
          <a:prstGeom prst="rect">
            <a:avLst/>
          </a:prstGeom>
          <a:ln>
            <a:solidFill>
              <a:schemeClr val="tx1"/>
            </a:solidFill>
          </a:ln>
        </p:spPr>
      </p:pic>
      <p:sp>
        <p:nvSpPr>
          <p:cNvPr id="24" name="Rectangle 23"/>
          <p:cNvSpPr/>
          <p:nvPr/>
        </p:nvSpPr>
        <p:spPr bwMode="auto">
          <a:xfrm>
            <a:off x="9824632" y="2111290"/>
            <a:ext cx="997856" cy="214376"/>
          </a:xfrm>
          <a:prstGeom prst="rect">
            <a:avLst/>
          </a:prstGeom>
          <a:noFill/>
          <a:ln w="38100" cap="flat" cmpd="sng" algn="ctr">
            <a:solidFill>
              <a:srgbClr val="FF0000"/>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A" dirty="0"/>
          </a:p>
        </p:txBody>
      </p:sp>
      <p:pic>
        <p:nvPicPr>
          <p:cNvPr id="8" name="Picture 7"/>
          <p:cNvPicPr>
            <a:picLocks noChangeAspect="1"/>
          </p:cNvPicPr>
          <p:nvPr/>
        </p:nvPicPr>
        <p:blipFill>
          <a:blip r:embed="rId6">
            <a:extLst>
              <a:ext uri="{BEBA8EAE-BF5A-486C-A8C5-ECC9F3942E4B}">
                <a14:imgProps xmlns:a14="http://schemas.microsoft.com/office/drawing/2010/main">
                  <a14:imgLayer r:embed="rId7">
                    <a14:imgEffect>
                      <a14:saturation sat="66000"/>
                    </a14:imgEffect>
                  </a14:imgLayer>
                </a14:imgProps>
              </a:ext>
            </a:extLst>
          </a:blip>
          <a:stretch>
            <a:fillRect/>
          </a:stretch>
        </p:blipFill>
        <p:spPr>
          <a:xfrm>
            <a:off x="2825833" y="4719256"/>
            <a:ext cx="9049315" cy="1445222"/>
          </a:xfrm>
          <a:prstGeom prst="rect">
            <a:avLst/>
          </a:prstGeom>
          <a:ln>
            <a:solidFill>
              <a:schemeClr val="tx1"/>
            </a:solidFill>
          </a:ln>
        </p:spPr>
      </p:pic>
      <p:sp>
        <p:nvSpPr>
          <p:cNvPr id="37" name="Rectangle 36"/>
          <p:cNvSpPr/>
          <p:nvPr/>
        </p:nvSpPr>
        <p:spPr bwMode="auto">
          <a:xfrm>
            <a:off x="3582443" y="5391545"/>
            <a:ext cx="513567" cy="314242"/>
          </a:xfrm>
          <a:prstGeom prst="rect">
            <a:avLst/>
          </a:prstGeom>
          <a:noFill/>
          <a:ln w="38100" cap="flat" cmpd="sng" algn="ctr">
            <a:solidFill>
              <a:srgbClr val="FF0000"/>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A" dirty="0"/>
          </a:p>
        </p:txBody>
      </p:sp>
      <p:sp>
        <p:nvSpPr>
          <p:cNvPr id="28" name="Rectangle 27"/>
          <p:cNvSpPr/>
          <p:nvPr/>
        </p:nvSpPr>
        <p:spPr bwMode="auto">
          <a:xfrm>
            <a:off x="10797435" y="4710009"/>
            <a:ext cx="640579" cy="209829"/>
          </a:xfrm>
          <a:prstGeom prst="rect">
            <a:avLst/>
          </a:prstGeom>
          <a:noFill/>
          <a:ln w="38100" cap="flat" cmpd="sng" algn="ctr">
            <a:solidFill>
              <a:srgbClr val="FF0000"/>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A" dirty="0"/>
          </a:p>
        </p:txBody>
      </p:sp>
      <p:sp>
        <p:nvSpPr>
          <p:cNvPr id="29" name="Rectangle 28"/>
          <p:cNvSpPr/>
          <p:nvPr/>
        </p:nvSpPr>
        <p:spPr bwMode="auto">
          <a:xfrm>
            <a:off x="4141323" y="5748749"/>
            <a:ext cx="488598" cy="182853"/>
          </a:xfrm>
          <a:prstGeom prst="rect">
            <a:avLst/>
          </a:prstGeom>
          <a:noFill/>
          <a:ln w="38100" cap="flat" cmpd="sng" algn="ctr">
            <a:solidFill>
              <a:srgbClr val="FF0000"/>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A" dirty="0"/>
          </a:p>
        </p:txBody>
      </p:sp>
      <p:sp>
        <p:nvSpPr>
          <p:cNvPr id="34" name="Rounded Rectangular Callout 33"/>
          <p:cNvSpPr/>
          <p:nvPr/>
        </p:nvSpPr>
        <p:spPr bwMode="auto">
          <a:xfrm>
            <a:off x="591818" y="5266242"/>
            <a:ext cx="1694385" cy="324899"/>
          </a:xfrm>
          <a:prstGeom prst="wedgeRoundRectCallout">
            <a:avLst>
              <a:gd name="adj1" fmla="val 127857"/>
              <a:gd name="adj2" fmla="val 71409"/>
              <a:gd name="adj3" fmla="val 16667"/>
            </a:avLst>
          </a:prstGeom>
          <a:solidFill>
            <a:srgbClr val="00B0F0"/>
          </a:solidFill>
          <a:ln w="19050" cap="flat" cmpd="sng" algn="ctr">
            <a:no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20000"/>
              </a:spcBef>
              <a:spcAft>
                <a:spcPct val="0"/>
              </a:spcAft>
              <a:buClr>
                <a:schemeClr val="accent1"/>
              </a:buClr>
              <a:buSzPct val="90000"/>
              <a:buFont typeface="Wingdings" charset="2"/>
              <a:buNone/>
              <a:tabLst/>
            </a:pPr>
            <a:r>
              <a:rPr lang="en-CA" sz="1400" dirty="0"/>
              <a:t>Multiple interfaces</a:t>
            </a:r>
            <a:endParaRPr kumimoji="0" lang="en-CA" sz="1400" b="0" i="0" u="none" strike="noStrike" cap="none" normalizeH="0" baseline="0" dirty="0">
              <a:ln>
                <a:noFill/>
              </a:ln>
              <a:effectLst/>
            </a:endParaRPr>
          </a:p>
        </p:txBody>
      </p:sp>
      <p:sp>
        <p:nvSpPr>
          <p:cNvPr id="35" name="Rounded Rectangular Callout 34"/>
          <p:cNvSpPr/>
          <p:nvPr/>
        </p:nvSpPr>
        <p:spPr bwMode="auto">
          <a:xfrm>
            <a:off x="591819" y="5718312"/>
            <a:ext cx="1694385" cy="281309"/>
          </a:xfrm>
          <a:prstGeom prst="wedgeRoundRectCallout">
            <a:avLst>
              <a:gd name="adj1" fmla="val 166724"/>
              <a:gd name="adj2" fmla="val 9428"/>
              <a:gd name="adj3" fmla="val 16667"/>
            </a:avLst>
          </a:prstGeom>
          <a:solidFill>
            <a:srgbClr val="00B0F0"/>
          </a:solidFill>
          <a:ln w="19050" cap="flat" cmpd="sng" algn="ctr">
            <a:no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20000"/>
              </a:spcBef>
              <a:spcAft>
                <a:spcPct val="0"/>
              </a:spcAft>
              <a:buClr>
                <a:schemeClr val="accent1"/>
              </a:buClr>
              <a:buSzPct val="90000"/>
              <a:buFont typeface="Wingdings" charset="2"/>
              <a:buNone/>
              <a:tabLst/>
            </a:pPr>
            <a:r>
              <a:rPr lang="en-CA" sz="1400" b="1" dirty="0"/>
              <a:t>any</a:t>
            </a:r>
            <a:r>
              <a:rPr lang="en-CA" sz="1400" dirty="0"/>
              <a:t> interface</a:t>
            </a:r>
            <a:endParaRPr kumimoji="0" lang="en-CA" sz="1400" b="0" i="0" u="none" strike="noStrike" cap="none" normalizeH="0" baseline="0" dirty="0">
              <a:ln>
                <a:noFill/>
              </a:ln>
              <a:effectLst/>
            </a:endParaRPr>
          </a:p>
        </p:txBody>
      </p:sp>
      <p:pic>
        <p:nvPicPr>
          <p:cNvPr id="7" name="Picture 6"/>
          <p:cNvPicPr>
            <a:picLocks noChangeAspect="1"/>
          </p:cNvPicPr>
          <p:nvPr/>
        </p:nvPicPr>
        <p:blipFill>
          <a:blip r:embed="rId8"/>
          <a:stretch>
            <a:fillRect/>
          </a:stretch>
        </p:blipFill>
        <p:spPr>
          <a:xfrm>
            <a:off x="4265982" y="3269338"/>
            <a:ext cx="7696373" cy="269472"/>
          </a:xfrm>
          <a:prstGeom prst="rect">
            <a:avLst/>
          </a:prstGeom>
        </p:spPr>
      </p:pic>
      <p:sp>
        <p:nvSpPr>
          <p:cNvPr id="41" name="Rectangle 40"/>
          <p:cNvSpPr/>
          <p:nvPr/>
        </p:nvSpPr>
        <p:spPr bwMode="auto">
          <a:xfrm>
            <a:off x="4274999" y="3262345"/>
            <a:ext cx="1832723" cy="276465"/>
          </a:xfrm>
          <a:prstGeom prst="rect">
            <a:avLst/>
          </a:prstGeom>
          <a:noFill/>
          <a:ln w="38100" cap="flat" cmpd="sng" algn="ctr">
            <a:solidFill>
              <a:srgbClr val="FF0000"/>
            </a:solidFill>
            <a:prstDash val="solid"/>
            <a:round/>
            <a:headEnd type="none" w="med" len="med"/>
            <a:tailEnd type="none" w="med" len="med"/>
          </a:ln>
          <a:effectLst/>
        </p:spPr>
        <p:txBody>
          <a:bodyPr rtlCol="0" anchor="ctr"/>
          <a:lstStyle/>
          <a:p>
            <a:pPr algn="ctr"/>
            <a:endParaRPr lang="en-CA" dirty="0"/>
          </a:p>
        </p:txBody>
      </p:sp>
      <p:pic>
        <p:nvPicPr>
          <p:cNvPr id="9" name="Picture 8"/>
          <p:cNvPicPr>
            <a:picLocks noChangeAspect="1"/>
          </p:cNvPicPr>
          <p:nvPr/>
        </p:nvPicPr>
        <p:blipFill>
          <a:blip r:embed="rId9"/>
          <a:stretch>
            <a:fillRect/>
          </a:stretch>
        </p:blipFill>
        <p:spPr>
          <a:xfrm>
            <a:off x="4270277" y="2577256"/>
            <a:ext cx="7679554" cy="268883"/>
          </a:xfrm>
          <a:prstGeom prst="rect">
            <a:avLst/>
          </a:prstGeom>
        </p:spPr>
      </p:pic>
      <p:sp>
        <p:nvSpPr>
          <p:cNvPr id="40" name="Rectangle 39"/>
          <p:cNvSpPr/>
          <p:nvPr/>
        </p:nvSpPr>
        <p:spPr bwMode="auto">
          <a:xfrm>
            <a:off x="4297642" y="2582143"/>
            <a:ext cx="1810080" cy="254479"/>
          </a:xfrm>
          <a:prstGeom prst="rect">
            <a:avLst/>
          </a:prstGeom>
          <a:noFill/>
          <a:ln w="38100" cap="flat" cmpd="sng" algn="ctr">
            <a:solidFill>
              <a:srgbClr val="FF0000"/>
            </a:solidFill>
            <a:prstDash val="solid"/>
            <a:round/>
            <a:headEnd type="none" w="med" len="med"/>
            <a:tailEnd type="none" w="med" len="med"/>
          </a:ln>
          <a:effectLst/>
        </p:spPr>
        <p:txBody>
          <a:bodyPr rtlCol="0" anchor="ctr"/>
          <a:lstStyle/>
          <a:p>
            <a:pPr algn="ctr"/>
            <a:endParaRPr lang="en-CA" dirty="0"/>
          </a:p>
        </p:txBody>
      </p:sp>
      <p:sp>
        <p:nvSpPr>
          <p:cNvPr id="25" name="Rounded Rectangular Callout 24"/>
          <p:cNvSpPr/>
          <p:nvPr/>
        </p:nvSpPr>
        <p:spPr bwMode="auto">
          <a:xfrm>
            <a:off x="8685501" y="1345968"/>
            <a:ext cx="2526066" cy="289425"/>
          </a:xfrm>
          <a:prstGeom prst="wedgeRoundRectCallout">
            <a:avLst>
              <a:gd name="adj1" fmla="val 52243"/>
              <a:gd name="adj2" fmla="val 231294"/>
              <a:gd name="adj3" fmla="val 16667"/>
            </a:avLst>
          </a:prstGeom>
          <a:solidFill>
            <a:srgbClr val="00B0F0"/>
          </a:solidFill>
          <a:ln w="19050" cap="flat" cmpd="sng" algn="ctr">
            <a:no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20000"/>
              </a:spcBef>
              <a:spcAft>
                <a:spcPct val="0"/>
              </a:spcAft>
              <a:buClr>
                <a:schemeClr val="accent1"/>
              </a:buClr>
              <a:buSzPct val="90000"/>
              <a:buFont typeface="Wingdings" charset="2"/>
              <a:buNone/>
              <a:tabLst/>
            </a:pPr>
            <a:r>
              <a:rPr lang="en-CA" sz="1400" dirty="0"/>
              <a:t>Can view </a:t>
            </a:r>
            <a:r>
              <a:rPr lang="en-CA" sz="1400" b="1" dirty="0"/>
              <a:t>By Sequence</a:t>
            </a:r>
            <a:r>
              <a:rPr lang="en-CA" sz="1400" i="1" dirty="0"/>
              <a:t> </a:t>
            </a:r>
            <a:r>
              <a:rPr lang="en-CA" sz="1400" dirty="0"/>
              <a:t>also </a:t>
            </a:r>
            <a:endParaRPr kumimoji="0" lang="en-CA" sz="1400" b="0" i="0" u="none" strike="noStrike" cap="none" normalizeH="0" baseline="0" dirty="0">
              <a:ln>
                <a:noFill/>
              </a:ln>
              <a:effectLst/>
            </a:endParaRPr>
          </a:p>
        </p:txBody>
      </p:sp>
    </p:spTree>
    <p:custDataLst>
      <p:tags r:id="rId1"/>
    </p:custDataLst>
    <p:extLst>
      <p:ext uri="{BB962C8B-B14F-4D97-AF65-F5344CB8AC3E}">
        <p14:creationId xmlns:p14="http://schemas.microsoft.com/office/powerpoint/2010/main" val="415864097"/>
      </p:ext>
    </p:extLst>
  </p:cSld>
  <p:clrMapOvr>
    <a:masterClrMapping/>
  </p:clrMapOvr>
  <p:transition spd="slow">
    <p:wip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5"/>
          </p:nvPr>
        </p:nvSpPr>
        <p:spPr/>
        <p:txBody>
          <a:bodyPr/>
          <a:lstStyle/>
          <a:p>
            <a:r>
              <a:rPr lang="en-CA" dirty="0"/>
              <a:t>Real-time policy status update </a:t>
            </a:r>
          </a:p>
          <a:p>
            <a:pPr lvl="1"/>
            <a:r>
              <a:rPr lang="en-CA" dirty="0"/>
              <a:t>ID</a:t>
            </a:r>
          </a:p>
          <a:p>
            <a:pPr lvl="1"/>
            <a:r>
              <a:rPr lang="en-CA" dirty="0"/>
              <a:t>Last used</a:t>
            </a:r>
          </a:p>
          <a:p>
            <a:pPr lvl="1"/>
            <a:r>
              <a:rPr lang="en-CA" dirty="0"/>
              <a:t>First used</a:t>
            </a:r>
          </a:p>
          <a:p>
            <a:pPr lvl="1"/>
            <a:r>
              <a:rPr lang="en-CA" dirty="0"/>
              <a:t>Active sessions</a:t>
            </a:r>
          </a:p>
          <a:p>
            <a:pPr lvl="1"/>
            <a:r>
              <a:rPr lang="en-CA" dirty="0"/>
              <a:t>Hit count</a:t>
            </a:r>
          </a:p>
          <a:p>
            <a:pPr lvl="1"/>
            <a:r>
              <a:rPr lang="en-CA" dirty="0"/>
              <a:t>Total bytes</a:t>
            </a:r>
          </a:p>
          <a:p>
            <a:pPr lvl="1"/>
            <a:r>
              <a:rPr lang="en-CA" dirty="0"/>
              <a:t>Current bandwidth</a:t>
            </a:r>
          </a:p>
          <a:p>
            <a:pPr lvl="1"/>
            <a:r>
              <a:rPr lang="en-CA" dirty="0"/>
              <a:t>Usage graph</a:t>
            </a:r>
          </a:p>
        </p:txBody>
      </p:sp>
      <p:sp>
        <p:nvSpPr>
          <p:cNvPr id="2" name="Title 1"/>
          <p:cNvSpPr>
            <a:spLocks noGrp="1"/>
          </p:cNvSpPr>
          <p:nvPr>
            <p:ph type="title"/>
          </p:nvPr>
        </p:nvSpPr>
        <p:spPr/>
        <p:txBody>
          <a:bodyPr/>
          <a:lstStyle/>
          <a:p>
            <a:r>
              <a:rPr lang="en-CA" dirty="0"/>
              <a:t>Real-Time Policy Status</a:t>
            </a:r>
          </a:p>
        </p:txBody>
      </p:sp>
      <p:sp>
        <p:nvSpPr>
          <p:cNvPr id="7" name="TextBox 6"/>
          <p:cNvSpPr txBox="1"/>
          <p:nvPr/>
        </p:nvSpPr>
        <p:spPr>
          <a:xfrm>
            <a:off x="3429235" y="1359487"/>
            <a:ext cx="3044423" cy="233910"/>
          </a:xfrm>
          <a:prstGeom prst="rect">
            <a:avLst/>
          </a:prstGeom>
          <a:solidFill>
            <a:srgbClr val="00B0F0"/>
          </a:solidFill>
        </p:spPr>
        <p:txBody>
          <a:bodyPr wrap="none" tIns="9144" bIns="9144" rtlCol="0">
            <a:spAutoFit/>
          </a:bodyPr>
          <a:lstStyle/>
          <a:p>
            <a:r>
              <a:rPr lang="en-CA" sz="1400" b="1" dirty="0"/>
              <a:t>Policy &amp; Objects </a:t>
            </a:r>
            <a:r>
              <a:rPr lang="en-CA" sz="1400" dirty="0"/>
              <a:t>&gt; </a:t>
            </a:r>
            <a:r>
              <a:rPr lang="en-CA" sz="1400" b="1" dirty="0"/>
              <a:t>Firewall Policy</a:t>
            </a:r>
          </a:p>
        </p:txBody>
      </p:sp>
      <p:pic>
        <p:nvPicPr>
          <p:cNvPr id="4" name="Picture 3"/>
          <p:cNvPicPr>
            <a:picLocks noChangeAspect="1"/>
          </p:cNvPicPr>
          <p:nvPr/>
        </p:nvPicPr>
        <p:blipFill>
          <a:blip r:embed="rId4"/>
          <a:stretch>
            <a:fillRect/>
          </a:stretch>
        </p:blipFill>
        <p:spPr>
          <a:xfrm>
            <a:off x="3452681" y="1665465"/>
            <a:ext cx="8189421" cy="4734322"/>
          </a:xfrm>
          <a:prstGeom prst="rect">
            <a:avLst/>
          </a:prstGeom>
          <a:ln>
            <a:solidFill>
              <a:schemeClr val="tx1"/>
            </a:solidFill>
          </a:ln>
        </p:spPr>
      </p:pic>
      <p:sp>
        <p:nvSpPr>
          <p:cNvPr id="6" name="Rectangle 5"/>
          <p:cNvSpPr/>
          <p:nvPr/>
        </p:nvSpPr>
        <p:spPr bwMode="invGray">
          <a:xfrm>
            <a:off x="7978054" y="1916832"/>
            <a:ext cx="2256191" cy="2608275"/>
          </a:xfrm>
          <a:prstGeom prst="rect">
            <a:avLst/>
          </a:prstGeom>
          <a:noFill/>
          <a:ln w="38100">
            <a:solidFill>
              <a:srgbClr val="FF0000"/>
            </a:solidFill>
            <a:round/>
            <a:headEnd/>
            <a:tailE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A"/>
          </a:p>
        </p:txBody>
      </p:sp>
      <p:sp>
        <p:nvSpPr>
          <p:cNvPr id="11" name="Rounded Rectangular Callout 10"/>
          <p:cNvSpPr/>
          <p:nvPr/>
        </p:nvSpPr>
        <p:spPr bwMode="auto">
          <a:xfrm>
            <a:off x="10339754" y="4163553"/>
            <a:ext cx="1473717" cy="290645"/>
          </a:xfrm>
          <a:prstGeom prst="wedgeRoundRectCallout">
            <a:avLst>
              <a:gd name="adj1" fmla="val -122410"/>
              <a:gd name="adj2" fmla="val 1062"/>
              <a:gd name="adj3" fmla="val 16667"/>
            </a:avLst>
          </a:prstGeom>
          <a:solidFill>
            <a:srgbClr val="00B0F0"/>
          </a:solidFill>
          <a:ln w="19050"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20000"/>
              </a:spcBef>
              <a:spcAft>
                <a:spcPct val="0"/>
              </a:spcAft>
              <a:buClr>
                <a:schemeClr val="accent1"/>
              </a:buClr>
              <a:buSzPct val="90000"/>
              <a:buFont typeface="Wingdings" charset="2"/>
              <a:buNone/>
              <a:tabLst/>
            </a:pPr>
            <a:r>
              <a:rPr lang="en-CA" sz="1600" dirty="0"/>
              <a:t>Reset Counters</a:t>
            </a:r>
            <a:endParaRPr kumimoji="0" lang="en-CA" sz="1600" u="none" strike="noStrike" cap="none" normalizeH="0" baseline="0" dirty="0">
              <a:ln>
                <a:noFill/>
              </a:ln>
              <a:effectLst/>
            </a:endParaRPr>
          </a:p>
        </p:txBody>
      </p:sp>
      <p:sp>
        <p:nvSpPr>
          <p:cNvPr id="12" name="Rectangle 11"/>
          <p:cNvSpPr/>
          <p:nvPr/>
        </p:nvSpPr>
        <p:spPr bwMode="invGray">
          <a:xfrm>
            <a:off x="8083563" y="4163553"/>
            <a:ext cx="1161213" cy="275384"/>
          </a:xfrm>
          <a:prstGeom prst="rect">
            <a:avLst/>
          </a:prstGeom>
          <a:noFill/>
          <a:ln w="38100">
            <a:solidFill>
              <a:srgbClr val="FF0000"/>
            </a:solidFill>
            <a:round/>
            <a:headEnd/>
            <a:tailE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A"/>
          </a:p>
        </p:txBody>
      </p:sp>
      <p:sp>
        <p:nvSpPr>
          <p:cNvPr id="13" name="Rounded Rectangular Callout 12"/>
          <p:cNvSpPr/>
          <p:nvPr/>
        </p:nvSpPr>
        <p:spPr bwMode="auto">
          <a:xfrm>
            <a:off x="6365631" y="4925553"/>
            <a:ext cx="1473717" cy="290645"/>
          </a:xfrm>
          <a:prstGeom prst="wedgeRoundRectCallout">
            <a:avLst>
              <a:gd name="adj1" fmla="val 191803"/>
              <a:gd name="adj2" fmla="val 41397"/>
              <a:gd name="adj3" fmla="val 16667"/>
            </a:avLst>
          </a:prstGeom>
          <a:solidFill>
            <a:srgbClr val="00B0F0"/>
          </a:solidFill>
          <a:ln w="19050"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20000"/>
              </a:spcBef>
              <a:spcAft>
                <a:spcPct val="0"/>
              </a:spcAft>
              <a:buClr>
                <a:schemeClr val="accent1"/>
              </a:buClr>
              <a:buSzPct val="90000"/>
              <a:buFont typeface="Wingdings" charset="2"/>
              <a:buNone/>
              <a:tabLst/>
            </a:pPr>
            <a:r>
              <a:rPr lang="en-CA" sz="1600" dirty="0"/>
              <a:t>Graph options</a:t>
            </a:r>
            <a:endParaRPr kumimoji="0" lang="en-CA" sz="1600" u="none" strike="noStrike" cap="none" normalizeH="0" baseline="0" dirty="0">
              <a:ln>
                <a:noFill/>
              </a:ln>
              <a:effectLst/>
            </a:endParaRPr>
          </a:p>
        </p:txBody>
      </p:sp>
      <p:sp>
        <p:nvSpPr>
          <p:cNvPr id="14" name="Rectangle 13"/>
          <p:cNvSpPr/>
          <p:nvPr/>
        </p:nvSpPr>
        <p:spPr bwMode="invGray">
          <a:xfrm>
            <a:off x="9940512" y="4940814"/>
            <a:ext cx="633703" cy="651094"/>
          </a:xfrm>
          <a:prstGeom prst="rect">
            <a:avLst/>
          </a:prstGeom>
          <a:noFill/>
          <a:ln w="38100">
            <a:solidFill>
              <a:srgbClr val="FF0000"/>
            </a:solidFill>
            <a:round/>
            <a:headEnd/>
            <a:tailE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A"/>
          </a:p>
        </p:txBody>
      </p:sp>
    </p:spTree>
    <p:custDataLst>
      <p:tags r:id="rId1"/>
    </p:custDataLst>
    <p:extLst>
      <p:ext uri="{BB962C8B-B14F-4D97-AF65-F5344CB8AC3E}">
        <p14:creationId xmlns:p14="http://schemas.microsoft.com/office/powerpoint/2010/main" val="319700545"/>
      </p:ext>
    </p:extLst>
  </p:cSld>
  <p:clrMapOvr>
    <a:masterClrMapping/>
  </p:clrMapOvr>
  <p:transition spd="slow">
    <p:wip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p:cNvPicPr>
            <a:picLocks noChangeAspect="1" noChangeArrowheads="1"/>
          </p:cNvPicPr>
          <p:nvPr/>
        </p:nvPicPr>
        <p:blipFill>
          <a:blip r:embed="rId4">
            <a:extLst>
              <a:ext uri="{BEBA8EAE-BF5A-486C-A8C5-ECC9F3942E4B}">
                <a14:imgProps xmlns:a14="http://schemas.microsoft.com/office/drawing/2010/main">
                  <a14:imgLayer r:embed="rId5">
                    <a14:imgEffect>
                      <a14:saturation sat="66000"/>
                    </a14:imgEffect>
                  </a14:imgLayer>
                </a14:imgProps>
              </a:ext>
              <a:ext uri="{28A0092B-C50C-407E-A947-70E740481C1C}">
                <a14:useLocalDpi xmlns:a14="http://schemas.microsoft.com/office/drawing/2010/main" val="0"/>
              </a:ext>
            </a:extLst>
          </a:blip>
          <a:srcRect/>
          <a:stretch>
            <a:fillRect/>
          </a:stretch>
        </p:blipFill>
        <p:spPr bwMode="auto">
          <a:xfrm>
            <a:off x="311747" y="3561409"/>
            <a:ext cx="7627938" cy="2209800"/>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
        <p:nvSpPr>
          <p:cNvPr id="2" name="Title 1"/>
          <p:cNvSpPr>
            <a:spLocks noGrp="1"/>
          </p:cNvSpPr>
          <p:nvPr>
            <p:ph type="title"/>
          </p:nvPr>
        </p:nvSpPr>
        <p:spPr/>
        <p:txBody>
          <a:bodyPr/>
          <a:lstStyle/>
          <a:p>
            <a:r>
              <a:rPr lang="en-US" dirty="0"/>
              <a:t>Policy ID</a:t>
            </a:r>
            <a:endParaRPr lang="en-CA" dirty="0"/>
          </a:p>
        </p:txBody>
      </p:sp>
      <p:sp>
        <p:nvSpPr>
          <p:cNvPr id="3" name="Content Placeholder 2"/>
          <p:cNvSpPr>
            <a:spLocks noGrp="1"/>
          </p:cNvSpPr>
          <p:nvPr>
            <p:ph idx="1"/>
          </p:nvPr>
        </p:nvSpPr>
        <p:spPr/>
        <p:txBody>
          <a:bodyPr/>
          <a:lstStyle/>
          <a:p>
            <a:r>
              <a:rPr lang="en-US" dirty="0"/>
              <a:t>Firewall policies are primarily ordered on a top-down basis</a:t>
            </a:r>
          </a:p>
          <a:p>
            <a:r>
              <a:rPr lang="en-US" dirty="0"/>
              <a:t>Policy IDs are identifiers:</a:t>
            </a:r>
          </a:p>
          <a:p>
            <a:pPr lvl="1"/>
            <a:r>
              <a:rPr lang="en-US" dirty="0"/>
              <a:t>The policy ID is assigned by the system when the rule is created</a:t>
            </a:r>
          </a:p>
          <a:p>
            <a:pPr lvl="1"/>
            <a:r>
              <a:rPr lang="en-US" dirty="0"/>
              <a:t>The ID number never changes as rules move higher or lower in the sequence</a:t>
            </a:r>
          </a:p>
          <a:p>
            <a:pPr lvl="1"/>
            <a:r>
              <a:rPr lang="en-US" dirty="0"/>
              <a:t>Policy IDs are not displayed by default on the GUI</a:t>
            </a:r>
          </a:p>
          <a:p>
            <a:endParaRPr lang="en-US" dirty="0"/>
          </a:p>
          <a:p>
            <a:endParaRPr lang="en-CA" dirty="0"/>
          </a:p>
        </p:txBody>
      </p:sp>
      <p:sp>
        <p:nvSpPr>
          <p:cNvPr id="23" name="TextBox 22"/>
          <p:cNvSpPr txBox="1"/>
          <p:nvPr/>
        </p:nvSpPr>
        <p:spPr>
          <a:xfrm>
            <a:off x="8039674" y="1301960"/>
            <a:ext cx="2547492" cy="738664"/>
          </a:xfrm>
          <a:prstGeom prst="rect">
            <a:avLst/>
          </a:prstGeom>
          <a:solidFill>
            <a:schemeClr val="bg1"/>
          </a:solidFill>
          <a:ln>
            <a:solidFill>
              <a:schemeClr val="tx1"/>
            </a:solidFill>
          </a:ln>
        </p:spPr>
        <p:txBody>
          <a:bodyPr wrap="none" rtlCol="0">
            <a:spAutoFit/>
          </a:bodyPr>
          <a:lstStyle/>
          <a:p>
            <a:r>
              <a:rPr lang="en-US" sz="1400" dirty="0">
                <a:latin typeface="Courier New" panose="02070309020205020404" pitchFamily="49" charset="0"/>
                <a:cs typeface="Courier New" panose="02070309020205020404" pitchFamily="49" charset="0"/>
              </a:rPr>
              <a:t>config firewall policy</a:t>
            </a:r>
          </a:p>
          <a:p>
            <a:r>
              <a:rPr lang="en-US" sz="1400" dirty="0">
                <a:latin typeface="Courier New" panose="02070309020205020404" pitchFamily="49" charset="0"/>
                <a:cs typeface="Courier New" panose="02070309020205020404" pitchFamily="49" charset="0"/>
              </a:rPr>
              <a:t>  edit &lt;policy_id&gt;</a:t>
            </a:r>
          </a:p>
          <a:p>
            <a:r>
              <a:rPr lang="en-US" sz="1400" dirty="0">
                <a:latin typeface="Courier New" panose="02070309020205020404" pitchFamily="49" charset="0"/>
                <a:cs typeface="Courier New" panose="02070309020205020404" pitchFamily="49" charset="0"/>
              </a:rPr>
              <a:t>end</a:t>
            </a:r>
          </a:p>
        </p:txBody>
      </p:sp>
      <p:sp>
        <p:nvSpPr>
          <p:cNvPr id="11" name="TextBox 10"/>
          <p:cNvSpPr txBox="1"/>
          <p:nvPr/>
        </p:nvSpPr>
        <p:spPr>
          <a:xfrm>
            <a:off x="311747" y="3135991"/>
            <a:ext cx="3469219" cy="338554"/>
          </a:xfrm>
          <a:prstGeom prst="rect">
            <a:avLst/>
          </a:prstGeom>
          <a:solidFill>
            <a:srgbClr val="00B0F0"/>
          </a:solidFill>
        </p:spPr>
        <p:txBody>
          <a:bodyPr wrap="none" rtlCol="0">
            <a:spAutoFit/>
          </a:bodyPr>
          <a:lstStyle/>
          <a:p>
            <a:r>
              <a:rPr lang="en-CA" sz="1600" b="1" dirty="0"/>
              <a:t>Policy &amp; Objects </a:t>
            </a:r>
            <a:r>
              <a:rPr lang="en-CA" sz="1600" dirty="0"/>
              <a:t>&gt; </a:t>
            </a:r>
            <a:r>
              <a:rPr lang="en-CA" sz="1600" b="1" dirty="0"/>
              <a:t>Firewall Policy</a:t>
            </a:r>
          </a:p>
        </p:txBody>
      </p:sp>
      <p:sp>
        <p:nvSpPr>
          <p:cNvPr id="19" name="Rectangle 18"/>
          <p:cNvSpPr/>
          <p:nvPr/>
        </p:nvSpPr>
        <p:spPr bwMode="auto">
          <a:xfrm>
            <a:off x="341519" y="4330104"/>
            <a:ext cx="378341" cy="253092"/>
          </a:xfrm>
          <a:prstGeom prst="rect">
            <a:avLst/>
          </a:prstGeom>
          <a:noFill/>
          <a:ln w="38100" cap="flat" cmpd="sng" algn="ctr">
            <a:solidFill>
              <a:srgbClr val="FF0000"/>
            </a:solidFill>
            <a:prstDash val="solid"/>
            <a:round/>
            <a:headEnd type="none" w="med" len="med"/>
            <a:tailEnd type="none" w="med" len="med"/>
          </a:ln>
          <a:effectLst/>
        </p:spPr>
        <p:txBody>
          <a:bodyPr rtlCol="0" anchor="ctr"/>
          <a:lstStyle/>
          <a:p>
            <a:pPr algn="ctr"/>
            <a:endParaRPr lang="en-CA" dirty="0"/>
          </a:p>
        </p:txBody>
      </p:sp>
      <p:sp>
        <p:nvSpPr>
          <p:cNvPr id="24" name="Rounded Rectangular Callout 23"/>
          <p:cNvSpPr/>
          <p:nvPr/>
        </p:nvSpPr>
        <p:spPr bwMode="auto">
          <a:xfrm>
            <a:off x="10144348" y="2700111"/>
            <a:ext cx="885637" cy="242481"/>
          </a:xfrm>
          <a:prstGeom prst="wedgeRoundRectCallout">
            <a:avLst>
              <a:gd name="adj1" fmla="val -166199"/>
              <a:gd name="adj2" fmla="val -437814"/>
              <a:gd name="adj3" fmla="val 16667"/>
            </a:avLst>
          </a:prstGeom>
          <a:solidFill>
            <a:srgbClr val="00B0F0"/>
          </a:solidFill>
          <a:ln w="19050"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20000"/>
              </a:spcBef>
              <a:spcAft>
                <a:spcPct val="0"/>
              </a:spcAft>
              <a:buClr>
                <a:schemeClr val="accent1"/>
              </a:buClr>
              <a:buSzPct val="90000"/>
              <a:buFont typeface="Wingdings" charset="2"/>
              <a:buNone/>
              <a:tabLst/>
            </a:pPr>
            <a:r>
              <a:rPr lang="en-CA" sz="1400" dirty="0"/>
              <a:t>Policy ID</a:t>
            </a:r>
            <a:endParaRPr kumimoji="0" lang="en-CA" sz="1400" b="0" i="0" u="none" strike="noStrike" cap="none" normalizeH="0" baseline="0" dirty="0">
              <a:ln>
                <a:noFill/>
              </a:ln>
              <a:effectLst/>
            </a:endParaRPr>
          </a:p>
        </p:txBody>
      </p:sp>
      <p:sp>
        <p:nvSpPr>
          <p:cNvPr id="12" name="TextBox 11"/>
          <p:cNvSpPr txBox="1"/>
          <p:nvPr/>
        </p:nvSpPr>
        <p:spPr>
          <a:xfrm>
            <a:off x="8425642" y="4236326"/>
            <a:ext cx="3084499" cy="1600438"/>
          </a:xfrm>
          <a:prstGeom prst="rect">
            <a:avLst/>
          </a:prstGeom>
          <a:solidFill>
            <a:schemeClr val="bg1"/>
          </a:solidFill>
          <a:ln>
            <a:solidFill>
              <a:schemeClr val="tx1"/>
            </a:solidFill>
          </a:ln>
        </p:spPr>
        <p:txBody>
          <a:bodyPr wrap="none" rtlCol="0">
            <a:spAutoFit/>
          </a:bodyPr>
          <a:lstStyle/>
          <a:p>
            <a:r>
              <a:rPr lang="en-CA" sz="1400" dirty="0">
                <a:latin typeface="Courier New" panose="02070309020205020404" pitchFamily="49" charset="0"/>
                <a:cs typeface="Courier New" panose="02070309020205020404" pitchFamily="49" charset="0"/>
              </a:rPr>
              <a:t>config firewall policy</a:t>
            </a:r>
          </a:p>
          <a:p>
            <a:r>
              <a:rPr lang="en-CA" sz="1400" dirty="0">
                <a:latin typeface="Courier New" panose="02070309020205020404" pitchFamily="49" charset="0"/>
                <a:cs typeface="Courier New" panose="02070309020205020404" pitchFamily="49" charset="0"/>
              </a:rPr>
              <a:t>  edit 2</a:t>
            </a:r>
          </a:p>
          <a:p>
            <a:r>
              <a:rPr lang="en-CA" sz="1400" dirty="0">
                <a:latin typeface="Courier New" panose="02070309020205020404" pitchFamily="49" charset="0"/>
                <a:cs typeface="Courier New" panose="02070309020205020404" pitchFamily="49" charset="0"/>
              </a:rPr>
              <a:t>    set name " </a:t>
            </a:r>
            <a:r>
              <a:rPr lang="en-CA" sz="1400" dirty="0" err="1">
                <a:latin typeface="Courier New" panose="02070309020205020404" pitchFamily="49" charset="0"/>
                <a:cs typeface="Courier New" panose="02070309020205020404" pitchFamily="49" charset="0"/>
              </a:rPr>
              <a:t>Block_FTP</a:t>
            </a:r>
            <a:r>
              <a:rPr lang="en-CA" sz="1400" dirty="0">
                <a:latin typeface="Courier New" panose="02070309020205020404" pitchFamily="49" charset="0"/>
                <a:cs typeface="Courier New" panose="02070309020205020404" pitchFamily="49" charset="0"/>
              </a:rPr>
              <a:t>"</a:t>
            </a:r>
          </a:p>
          <a:p>
            <a:r>
              <a:rPr lang="en-CA" sz="1400" dirty="0">
                <a:latin typeface="Courier New" panose="02070309020205020404" pitchFamily="49" charset="0"/>
                <a:cs typeface="Courier New" panose="02070309020205020404" pitchFamily="49" charset="0"/>
              </a:rPr>
              <a:t>...</a:t>
            </a:r>
          </a:p>
          <a:p>
            <a:r>
              <a:rPr lang="en-CA" sz="1400" dirty="0">
                <a:latin typeface="Courier New" panose="02070309020205020404" pitchFamily="49" charset="0"/>
                <a:cs typeface="Courier New" panose="02070309020205020404" pitchFamily="49" charset="0"/>
              </a:rPr>
              <a:t>next</a:t>
            </a:r>
          </a:p>
          <a:p>
            <a:r>
              <a:rPr lang="en-CA" sz="1400" dirty="0">
                <a:latin typeface="Courier New" panose="02070309020205020404" pitchFamily="49" charset="0"/>
                <a:cs typeface="Courier New" panose="02070309020205020404" pitchFamily="49" charset="0"/>
              </a:rPr>
              <a:t>  edit 1</a:t>
            </a:r>
          </a:p>
          <a:p>
            <a:r>
              <a:rPr lang="en-CA" sz="1400" dirty="0">
                <a:latin typeface="Courier New" panose="02070309020205020404" pitchFamily="49" charset="0"/>
                <a:cs typeface="Courier New" panose="02070309020205020404" pitchFamily="49" charset="0"/>
              </a:rPr>
              <a:t>     set name “</a:t>
            </a:r>
            <a:r>
              <a:rPr lang="en-CA" sz="1400" dirty="0" err="1">
                <a:latin typeface="Courier New" panose="02070309020205020404" pitchFamily="49" charset="0"/>
                <a:cs typeface="Courier New" panose="02070309020205020404" pitchFamily="49" charset="0"/>
              </a:rPr>
              <a:t>Full_Access</a:t>
            </a:r>
            <a:r>
              <a:rPr lang="en-CA" sz="1400" dirty="0">
                <a:latin typeface="Courier New" panose="02070309020205020404" pitchFamily="49" charset="0"/>
                <a:cs typeface="Courier New" panose="02070309020205020404" pitchFamily="49" charset="0"/>
              </a:rPr>
              <a:t>"</a:t>
            </a:r>
          </a:p>
        </p:txBody>
      </p:sp>
      <p:sp>
        <p:nvSpPr>
          <p:cNvPr id="13" name="Rectangle 12"/>
          <p:cNvSpPr/>
          <p:nvPr/>
        </p:nvSpPr>
        <p:spPr bwMode="auto">
          <a:xfrm>
            <a:off x="341519" y="4679780"/>
            <a:ext cx="378341" cy="253092"/>
          </a:xfrm>
          <a:prstGeom prst="rect">
            <a:avLst/>
          </a:prstGeom>
          <a:noFill/>
          <a:ln w="38100" cap="flat" cmpd="sng" algn="ctr">
            <a:solidFill>
              <a:srgbClr val="FF0000"/>
            </a:solidFill>
            <a:prstDash val="solid"/>
            <a:round/>
            <a:headEnd type="none" w="med" len="med"/>
            <a:tailEnd type="none" w="med" len="med"/>
          </a:ln>
          <a:effectLst/>
        </p:spPr>
        <p:txBody>
          <a:bodyPr rtlCol="0" anchor="ctr"/>
          <a:lstStyle/>
          <a:p>
            <a:pPr algn="ctr"/>
            <a:endParaRPr lang="en-CA" dirty="0"/>
          </a:p>
        </p:txBody>
      </p:sp>
      <p:sp>
        <p:nvSpPr>
          <p:cNvPr id="14" name="Rectangle 13"/>
          <p:cNvSpPr/>
          <p:nvPr/>
        </p:nvSpPr>
        <p:spPr bwMode="auto">
          <a:xfrm>
            <a:off x="304748" y="3583370"/>
            <a:ext cx="378341" cy="253092"/>
          </a:xfrm>
          <a:prstGeom prst="rect">
            <a:avLst/>
          </a:prstGeom>
          <a:noFill/>
          <a:ln w="38100" cap="flat" cmpd="sng" algn="ctr">
            <a:solidFill>
              <a:srgbClr val="FF0000"/>
            </a:solidFill>
            <a:prstDash val="solid"/>
            <a:round/>
            <a:headEnd type="none" w="med" len="med"/>
            <a:tailEnd type="none" w="med" len="med"/>
          </a:ln>
          <a:effectLst/>
        </p:spPr>
        <p:txBody>
          <a:bodyPr rtlCol="0" anchor="ctr"/>
          <a:lstStyle/>
          <a:p>
            <a:pPr algn="ctr"/>
            <a:endParaRPr lang="en-CA" dirty="0"/>
          </a:p>
        </p:txBody>
      </p:sp>
      <p:sp>
        <p:nvSpPr>
          <p:cNvPr id="28" name="Rounded Rectangular Callout 27"/>
          <p:cNvSpPr/>
          <p:nvPr/>
        </p:nvSpPr>
        <p:spPr bwMode="auto">
          <a:xfrm>
            <a:off x="10167995" y="2733703"/>
            <a:ext cx="885637" cy="242481"/>
          </a:xfrm>
          <a:prstGeom prst="wedgeRoundRectCallout">
            <a:avLst>
              <a:gd name="adj1" fmla="val -132711"/>
              <a:gd name="adj2" fmla="val 701023"/>
              <a:gd name="adj3" fmla="val 16667"/>
            </a:avLst>
          </a:prstGeom>
          <a:solidFill>
            <a:srgbClr val="00B0F0"/>
          </a:solidFill>
          <a:ln w="19050"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20000"/>
              </a:spcBef>
              <a:spcAft>
                <a:spcPct val="0"/>
              </a:spcAft>
              <a:buClr>
                <a:schemeClr val="accent1"/>
              </a:buClr>
              <a:buSzPct val="90000"/>
              <a:buFont typeface="Wingdings" charset="2"/>
              <a:buNone/>
              <a:tabLst/>
            </a:pPr>
            <a:r>
              <a:rPr lang="en-CA" sz="1400" dirty="0"/>
              <a:t>Policy ID</a:t>
            </a:r>
            <a:endParaRPr kumimoji="0" lang="en-CA" sz="1400" b="0" i="0" u="none" strike="noStrike" cap="none" normalizeH="0" baseline="0" dirty="0">
              <a:ln>
                <a:noFill/>
              </a:ln>
              <a:effectLst/>
            </a:endParaRPr>
          </a:p>
        </p:txBody>
      </p:sp>
      <p:pic>
        <p:nvPicPr>
          <p:cNvPr id="10" name="Picture 9"/>
          <p:cNvPicPr>
            <a:picLocks noChangeAspect="1"/>
          </p:cNvPicPr>
          <p:nvPr/>
        </p:nvPicPr>
        <p:blipFill>
          <a:blip r:embed="rId6"/>
          <a:stretch>
            <a:fillRect/>
          </a:stretch>
        </p:blipFill>
        <p:spPr>
          <a:xfrm>
            <a:off x="311747" y="3925134"/>
            <a:ext cx="7620450" cy="364998"/>
          </a:xfrm>
          <a:prstGeom prst="rect">
            <a:avLst/>
          </a:prstGeom>
        </p:spPr>
      </p:pic>
      <p:pic>
        <p:nvPicPr>
          <p:cNvPr id="15" name="Picture 14"/>
          <p:cNvPicPr>
            <a:picLocks noChangeAspect="1"/>
          </p:cNvPicPr>
          <p:nvPr/>
        </p:nvPicPr>
        <p:blipFill>
          <a:blip r:embed="rId7"/>
          <a:stretch>
            <a:fillRect/>
          </a:stretch>
        </p:blipFill>
        <p:spPr>
          <a:xfrm>
            <a:off x="311746" y="5052902"/>
            <a:ext cx="7620451" cy="340718"/>
          </a:xfrm>
          <a:prstGeom prst="rect">
            <a:avLst/>
          </a:prstGeom>
        </p:spPr>
      </p:pic>
    </p:spTree>
    <p:custDataLst>
      <p:tags r:id="rId1"/>
    </p:custDataLst>
    <p:extLst>
      <p:ext uri="{BB962C8B-B14F-4D97-AF65-F5344CB8AC3E}">
        <p14:creationId xmlns:p14="http://schemas.microsoft.com/office/powerpoint/2010/main" val="2737762847"/>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2000"/>
                                  </p:stCondLst>
                                  <p:childTnLst>
                                    <p:set>
                                      <p:cBhvr>
                                        <p:cTn id="6" dur="1" fill="hold">
                                          <p:stCondLst>
                                            <p:cond delay="0"/>
                                          </p:stCondLst>
                                        </p:cTn>
                                        <p:tgtEl>
                                          <p:spTgt spid="24"/>
                                        </p:tgtEl>
                                        <p:attrNameLst>
                                          <p:attrName>style.visibility</p:attrName>
                                        </p:attrNameLst>
                                      </p:cBhvr>
                                      <p:to>
                                        <p:strVal val="visible"/>
                                      </p:to>
                                    </p:set>
                                    <p:anim calcmode="lin" valueType="num">
                                      <p:cBhvr>
                                        <p:cTn id="7" dur="500" fill="hold"/>
                                        <p:tgtEl>
                                          <p:spTgt spid="24"/>
                                        </p:tgtEl>
                                        <p:attrNameLst>
                                          <p:attrName>ppt_w</p:attrName>
                                        </p:attrNameLst>
                                      </p:cBhvr>
                                      <p:tavLst>
                                        <p:tav tm="0">
                                          <p:val>
                                            <p:fltVal val="0"/>
                                          </p:val>
                                        </p:tav>
                                        <p:tav tm="100000">
                                          <p:val>
                                            <p:strVal val="#ppt_w"/>
                                          </p:val>
                                        </p:tav>
                                      </p:tavLst>
                                    </p:anim>
                                    <p:anim calcmode="lin" valueType="num">
                                      <p:cBhvr>
                                        <p:cTn id="8" dur="500" fill="hold"/>
                                        <p:tgtEl>
                                          <p:spTgt spid="24"/>
                                        </p:tgtEl>
                                        <p:attrNameLst>
                                          <p:attrName>ppt_h</p:attrName>
                                        </p:attrNameLst>
                                      </p:cBhvr>
                                      <p:tavLst>
                                        <p:tav tm="0">
                                          <p:val>
                                            <p:fltVal val="0"/>
                                          </p:val>
                                        </p:tav>
                                        <p:tav tm="100000">
                                          <p:val>
                                            <p:strVal val="#ppt_h"/>
                                          </p:val>
                                        </p:tav>
                                      </p:tavLst>
                                    </p:anim>
                                    <p:animEffect transition="in" filter="fade">
                                      <p:cBhvr>
                                        <p:cTn id="9" dur="500"/>
                                        <p:tgtEl>
                                          <p:spTgt spid="24"/>
                                        </p:tgtEl>
                                      </p:cBhvr>
                                    </p:animEffect>
                                  </p:childTnLst>
                                </p:cTn>
                              </p:par>
                            </p:childTnLst>
                          </p:cTn>
                        </p:par>
                        <p:par>
                          <p:cTn id="10" fill="hold">
                            <p:stCondLst>
                              <p:cond delay="2500"/>
                            </p:stCondLst>
                            <p:childTnLst>
                              <p:par>
                                <p:cTn id="11" presetID="53" presetClass="entr" presetSubtype="16" fill="hold" grpId="0" nodeType="afterEffect">
                                  <p:stCondLst>
                                    <p:cond delay="2000"/>
                                  </p:stCondLst>
                                  <p:childTnLst>
                                    <p:set>
                                      <p:cBhvr>
                                        <p:cTn id="12" dur="1" fill="hold">
                                          <p:stCondLst>
                                            <p:cond delay="0"/>
                                          </p:stCondLst>
                                        </p:cTn>
                                        <p:tgtEl>
                                          <p:spTgt spid="28"/>
                                        </p:tgtEl>
                                        <p:attrNameLst>
                                          <p:attrName>style.visibility</p:attrName>
                                        </p:attrNameLst>
                                      </p:cBhvr>
                                      <p:to>
                                        <p:strVal val="visible"/>
                                      </p:to>
                                    </p:set>
                                    <p:anim calcmode="lin" valueType="num">
                                      <p:cBhvr>
                                        <p:cTn id="13" dur="500" fill="hold"/>
                                        <p:tgtEl>
                                          <p:spTgt spid="28"/>
                                        </p:tgtEl>
                                        <p:attrNameLst>
                                          <p:attrName>ppt_w</p:attrName>
                                        </p:attrNameLst>
                                      </p:cBhvr>
                                      <p:tavLst>
                                        <p:tav tm="0">
                                          <p:val>
                                            <p:fltVal val="0"/>
                                          </p:val>
                                        </p:tav>
                                        <p:tav tm="100000">
                                          <p:val>
                                            <p:strVal val="#ppt_w"/>
                                          </p:val>
                                        </p:tav>
                                      </p:tavLst>
                                    </p:anim>
                                    <p:anim calcmode="lin" valueType="num">
                                      <p:cBhvr>
                                        <p:cTn id="14" dur="500" fill="hold"/>
                                        <p:tgtEl>
                                          <p:spTgt spid="28"/>
                                        </p:tgtEl>
                                        <p:attrNameLst>
                                          <p:attrName>ppt_h</p:attrName>
                                        </p:attrNameLst>
                                      </p:cBhvr>
                                      <p:tavLst>
                                        <p:tav tm="0">
                                          <p:val>
                                            <p:fltVal val="0"/>
                                          </p:val>
                                        </p:tav>
                                        <p:tav tm="100000">
                                          <p:val>
                                            <p:strVal val="#ppt_h"/>
                                          </p:val>
                                        </p:tav>
                                      </p:tavLst>
                                    </p:anim>
                                    <p:animEffect transition="in" filter="fade">
                                      <p:cBhvr>
                                        <p:cTn id="15"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8"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p:cNvPicPr>
            <a:picLocks noChangeAspect="1"/>
          </p:cNvPicPr>
          <p:nvPr/>
        </p:nvPicPr>
        <p:blipFill>
          <a:blip r:embed="rId4"/>
          <a:stretch>
            <a:fillRect/>
          </a:stretch>
        </p:blipFill>
        <p:spPr>
          <a:xfrm>
            <a:off x="1291824" y="3692468"/>
            <a:ext cx="2620592" cy="1657032"/>
          </a:xfrm>
          <a:prstGeom prst="rect">
            <a:avLst/>
          </a:prstGeom>
          <a:ln>
            <a:solidFill>
              <a:schemeClr val="tx1"/>
            </a:solidFill>
          </a:ln>
        </p:spPr>
      </p:pic>
      <p:pic>
        <p:nvPicPr>
          <p:cNvPr id="17" name="Picture 16"/>
          <p:cNvPicPr>
            <a:picLocks noChangeAspect="1"/>
          </p:cNvPicPr>
          <p:nvPr/>
        </p:nvPicPr>
        <p:blipFill>
          <a:blip r:embed="rId5"/>
          <a:stretch>
            <a:fillRect/>
          </a:stretch>
        </p:blipFill>
        <p:spPr>
          <a:xfrm>
            <a:off x="5684062" y="3732591"/>
            <a:ext cx="2064442" cy="1664680"/>
          </a:xfrm>
          <a:prstGeom prst="rect">
            <a:avLst/>
          </a:prstGeom>
          <a:ln>
            <a:solidFill>
              <a:schemeClr val="tx1"/>
            </a:solidFill>
          </a:ln>
        </p:spPr>
      </p:pic>
      <p:sp>
        <p:nvSpPr>
          <p:cNvPr id="2" name="Title 1"/>
          <p:cNvSpPr>
            <a:spLocks noGrp="1"/>
          </p:cNvSpPr>
          <p:nvPr>
            <p:ph type="title"/>
          </p:nvPr>
        </p:nvSpPr>
        <p:spPr/>
        <p:txBody>
          <a:bodyPr/>
          <a:lstStyle/>
          <a:p>
            <a:r>
              <a:rPr lang="en-US" dirty="0"/>
              <a:t>Simplify—Groups of Addresses or Services</a:t>
            </a:r>
            <a:endParaRPr lang="en-CA" dirty="0"/>
          </a:p>
        </p:txBody>
      </p:sp>
      <p:sp>
        <p:nvSpPr>
          <p:cNvPr id="3" name="Content Placeholder 2"/>
          <p:cNvSpPr>
            <a:spLocks noGrp="1"/>
          </p:cNvSpPr>
          <p:nvPr>
            <p:ph idx="1"/>
          </p:nvPr>
        </p:nvSpPr>
        <p:spPr/>
        <p:txBody>
          <a:bodyPr/>
          <a:lstStyle/>
          <a:p>
            <a:r>
              <a:rPr lang="en-US" dirty="0"/>
              <a:t>You can reference address and service objects individually, or u</a:t>
            </a:r>
            <a:r>
              <a:rPr lang="en-CA" dirty="0"/>
              <a:t>se groups to simplify policy configuration</a:t>
            </a:r>
            <a:endParaRPr lang="en-US" dirty="0"/>
          </a:p>
          <a:p>
            <a:endParaRPr lang="en-CA" dirty="0"/>
          </a:p>
        </p:txBody>
      </p:sp>
      <p:sp>
        <p:nvSpPr>
          <p:cNvPr id="14" name="TextBox 13"/>
          <p:cNvSpPr txBox="1"/>
          <p:nvPr/>
        </p:nvSpPr>
        <p:spPr>
          <a:xfrm>
            <a:off x="1693182" y="1742261"/>
            <a:ext cx="3469219" cy="338554"/>
          </a:xfrm>
          <a:prstGeom prst="rect">
            <a:avLst/>
          </a:prstGeom>
          <a:solidFill>
            <a:srgbClr val="00B0F0"/>
          </a:solidFill>
        </p:spPr>
        <p:txBody>
          <a:bodyPr wrap="none" rtlCol="0">
            <a:spAutoFit/>
          </a:bodyPr>
          <a:lstStyle/>
          <a:p>
            <a:r>
              <a:rPr lang="en-CA" sz="1600" b="1" dirty="0"/>
              <a:t>Policy &amp; Objects </a:t>
            </a:r>
            <a:r>
              <a:rPr lang="en-CA" sz="1600" dirty="0"/>
              <a:t>&gt; </a:t>
            </a:r>
            <a:r>
              <a:rPr lang="en-CA" sz="1600" b="1" dirty="0"/>
              <a:t>Firewall Policy</a:t>
            </a:r>
          </a:p>
        </p:txBody>
      </p:sp>
      <p:pic>
        <p:nvPicPr>
          <p:cNvPr id="20" name="Picture 19"/>
          <p:cNvPicPr>
            <a:picLocks noChangeAspect="1"/>
          </p:cNvPicPr>
          <p:nvPr/>
        </p:nvPicPr>
        <p:blipFill>
          <a:blip r:embed="rId6"/>
          <a:stretch>
            <a:fillRect/>
          </a:stretch>
        </p:blipFill>
        <p:spPr>
          <a:xfrm>
            <a:off x="1693182" y="2130463"/>
            <a:ext cx="7954984" cy="1416918"/>
          </a:xfrm>
          <a:prstGeom prst="rect">
            <a:avLst/>
          </a:prstGeom>
          <a:ln>
            <a:solidFill>
              <a:schemeClr val="tx1"/>
            </a:solidFill>
          </a:ln>
        </p:spPr>
      </p:pic>
      <p:sp>
        <p:nvSpPr>
          <p:cNvPr id="8" name="Rectangle 7"/>
          <p:cNvSpPr/>
          <p:nvPr/>
        </p:nvSpPr>
        <p:spPr bwMode="auto">
          <a:xfrm>
            <a:off x="3355176" y="2476075"/>
            <a:ext cx="829063" cy="637397"/>
          </a:xfrm>
          <a:prstGeom prst="rect">
            <a:avLst/>
          </a:prstGeom>
          <a:noFill/>
          <a:ln w="38100" cap="flat" cmpd="sng" algn="ctr">
            <a:solidFill>
              <a:srgbClr val="FF0000"/>
            </a:solidFill>
            <a:prstDash val="solid"/>
            <a:round/>
            <a:headEnd type="none" w="med" len="med"/>
            <a:tailEnd type="none" w="med" len="med"/>
          </a:ln>
          <a:effectLst/>
        </p:spPr>
        <p:txBody>
          <a:bodyPr rtlCol="0" anchor="ctr"/>
          <a:lstStyle/>
          <a:p>
            <a:pPr algn="ctr"/>
            <a:endParaRPr lang="en-CA" dirty="0"/>
          </a:p>
        </p:txBody>
      </p:sp>
      <p:sp>
        <p:nvSpPr>
          <p:cNvPr id="11" name="Rectangle 10"/>
          <p:cNvSpPr/>
          <p:nvPr/>
        </p:nvSpPr>
        <p:spPr bwMode="auto">
          <a:xfrm>
            <a:off x="6675297" y="2470778"/>
            <a:ext cx="806153" cy="1076603"/>
          </a:xfrm>
          <a:prstGeom prst="rect">
            <a:avLst/>
          </a:prstGeom>
          <a:noFill/>
          <a:ln w="38100" cap="flat" cmpd="sng" algn="ctr">
            <a:solidFill>
              <a:srgbClr val="FF0000"/>
            </a:solidFill>
            <a:prstDash val="solid"/>
            <a:round/>
            <a:headEnd type="none" w="med" len="med"/>
            <a:tailEnd type="none" w="med" len="med"/>
          </a:ln>
          <a:effectLst/>
        </p:spPr>
        <p:txBody>
          <a:bodyPr rtlCol="0" anchor="ctr"/>
          <a:lstStyle/>
          <a:p>
            <a:pPr algn="ctr"/>
            <a:endParaRPr lang="en-CA" dirty="0"/>
          </a:p>
        </p:txBody>
      </p:sp>
      <p:pic>
        <p:nvPicPr>
          <p:cNvPr id="21" name="Picture 20"/>
          <p:cNvPicPr>
            <a:picLocks noChangeAspect="1"/>
          </p:cNvPicPr>
          <p:nvPr/>
        </p:nvPicPr>
        <p:blipFill>
          <a:blip r:embed="rId7"/>
          <a:stretch>
            <a:fillRect/>
          </a:stretch>
        </p:blipFill>
        <p:spPr>
          <a:xfrm>
            <a:off x="1157639" y="5537570"/>
            <a:ext cx="8009524" cy="657143"/>
          </a:xfrm>
          <a:prstGeom prst="rect">
            <a:avLst/>
          </a:prstGeom>
          <a:ln>
            <a:solidFill>
              <a:schemeClr val="tx1"/>
            </a:solidFill>
          </a:ln>
        </p:spPr>
      </p:pic>
      <p:sp>
        <p:nvSpPr>
          <p:cNvPr id="9" name="Rectangle 8"/>
          <p:cNvSpPr/>
          <p:nvPr/>
        </p:nvSpPr>
        <p:spPr bwMode="auto">
          <a:xfrm>
            <a:off x="2836984" y="5857064"/>
            <a:ext cx="1107165" cy="308293"/>
          </a:xfrm>
          <a:prstGeom prst="rect">
            <a:avLst/>
          </a:prstGeom>
          <a:noFill/>
          <a:ln w="38100" cap="flat" cmpd="sng" algn="ctr">
            <a:solidFill>
              <a:srgbClr val="FF0000"/>
            </a:solidFill>
            <a:prstDash val="solid"/>
            <a:round/>
            <a:headEnd type="none" w="med" len="med"/>
            <a:tailEnd type="none" w="med" len="med"/>
          </a:ln>
          <a:effectLst/>
        </p:spPr>
        <p:txBody>
          <a:bodyPr rtlCol="0" anchor="ctr"/>
          <a:lstStyle/>
          <a:p>
            <a:pPr algn="ctr"/>
            <a:endParaRPr lang="en-CA" dirty="0"/>
          </a:p>
        </p:txBody>
      </p:sp>
      <p:sp>
        <p:nvSpPr>
          <p:cNvPr id="10" name="Rectangle 9"/>
          <p:cNvSpPr/>
          <p:nvPr/>
        </p:nvSpPr>
        <p:spPr bwMode="auto">
          <a:xfrm>
            <a:off x="6180748" y="5845341"/>
            <a:ext cx="982510" cy="337366"/>
          </a:xfrm>
          <a:prstGeom prst="rect">
            <a:avLst/>
          </a:prstGeom>
          <a:noFill/>
          <a:ln w="38100" cap="flat" cmpd="sng" algn="ctr">
            <a:solidFill>
              <a:srgbClr val="FF0000"/>
            </a:solidFill>
            <a:prstDash val="solid"/>
            <a:round/>
            <a:headEnd type="none" w="med" len="med"/>
            <a:tailEnd type="none" w="med" len="med"/>
          </a:ln>
          <a:effectLst/>
        </p:spPr>
        <p:txBody>
          <a:bodyPr rtlCol="0" anchor="ctr"/>
          <a:lstStyle/>
          <a:p>
            <a:pPr algn="ctr"/>
            <a:endParaRPr lang="en-CA" dirty="0"/>
          </a:p>
        </p:txBody>
      </p:sp>
      <p:sp>
        <p:nvSpPr>
          <p:cNvPr id="24" name="Down Arrow 23"/>
          <p:cNvSpPr/>
          <p:nvPr/>
        </p:nvSpPr>
        <p:spPr bwMode="auto">
          <a:xfrm>
            <a:off x="6951785" y="3582173"/>
            <a:ext cx="137377" cy="2185581"/>
          </a:xfrm>
          <a:prstGeom prst="downArrow">
            <a:avLst/>
          </a:prstGeom>
          <a:solidFill>
            <a:srgbClr val="FF0000"/>
          </a:solidFill>
          <a:ln w="38100" cap="flat" cmpd="sng" algn="ctr">
            <a:solidFill>
              <a:srgbClr val="FF0000"/>
            </a:solidFill>
            <a:prstDash val="solid"/>
            <a:round/>
            <a:headEnd type="none" w="med" len="med"/>
            <a:tailEnd type="none" w="med" len="med"/>
          </a:ln>
          <a:effectLst>
            <a:outerShdw blurRad="50800" dist="38100" dir="2700000" algn="tl" rotWithShape="0">
              <a:prstClr val="black">
                <a:alpha val="40000"/>
              </a:prstClr>
            </a:outerShdw>
          </a:effectLst>
        </p:spPr>
        <p:txBody>
          <a:bodyPr rtlCol="0" anchor="ctr"/>
          <a:lstStyle/>
          <a:p>
            <a:pPr algn="ctr"/>
            <a:endParaRPr lang="en-CA" dirty="0"/>
          </a:p>
        </p:txBody>
      </p:sp>
      <p:sp>
        <p:nvSpPr>
          <p:cNvPr id="12" name="Down Arrow 11"/>
          <p:cNvSpPr/>
          <p:nvPr/>
        </p:nvSpPr>
        <p:spPr bwMode="auto">
          <a:xfrm>
            <a:off x="3391875" y="3125498"/>
            <a:ext cx="125471" cy="2642255"/>
          </a:xfrm>
          <a:prstGeom prst="downArrow">
            <a:avLst/>
          </a:prstGeom>
          <a:solidFill>
            <a:srgbClr val="FF0000"/>
          </a:solidFill>
          <a:ln w="38100" cap="flat" cmpd="sng" algn="ctr">
            <a:solidFill>
              <a:srgbClr val="FF0000"/>
            </a:solidFill>
            <a:prstDash val="solid"/>
            <a:round/>
            <a:headEnd type="none" w="med" len="med"/>
            <a:tailEnd type="none" w="med" len="med"/>
          </a:ln>
          <a:effectLst>
            <a:outerShdw blurRad="50800" dist="38100" dir="2700000" algn="tl" rotWithShape="0">
              <a:prstClr val="black">
                <a:alpha val="40000"/>
              </a:prstClr>
            </a:outerShdw>
          </a:effectLst>
        </p:spPr>
        <p:txBody>
          <a:bodyPr rtlCol="0" anchor="ctr"/>
          <a:lstStyle/>
          <a:p>
            <a:pPr algn="ctr"/>
            <a:endParaRPr lang="en-CA" dirty="0"/>
          </a:p>
        </p:txBody>
      </p:sp>
    </p:spTree>
    <p:custDataLst>
      <p:tags r:id="rId1"/>
    </p:custDataLst>
    <p:extLst>
      <p:ext uri="{BB962C8B-B14F-4D97-AF65-F5344CB8AC3E}">
        <p14:creationId xmlns:p14="http://schemas.microsoft.com/office/powerpoint/2010/main" val="447869875"/>
      </p:ext>
    </p:extLst>
  </p:cSld>
  <p:clrMapOvr>
    <a:masterClrMapping/>
  </p:clrMapOvr>
  <p:transition spd="slow">
    <p:wip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 Usage</a:t>
            </a:r>
            <a:endParaRPr lang="en-CA" dirty="0"/>
          </a:p>
        </p:txBody>
      </p:sp>
      <p:sp>
        <p:nvSpPr>
          <p:cNvPr id="3" name="Content Placeholder 2"/>
          <p:cNvSpPr>
            <a:spLocks noGrp="1"/>
          </p:cNvSpPr>
          <p:nvPr>
            <p:ph idx="1"/>
          </p:nvPr>
        </p:nvSpPr>
        <p:spPr/>
        <p:txBody>
          <a:bodyPr/>
          <a:lstStyle/>
          <a:p>
            <a:r>
              <a:rPr lang="en-US" dirty="0"/>
              <a:t>Allows for faster changes to settings</a:t>
            </a:r>
          </a:p>
          <a:p>
            <a:r>
              <a:rPr lang="en-US" dirty="0"/>
              <a:t>Reference column shows if the object is being used</a:t>
            </a:r>
          </a:p>
          <a:p>
            <a:pPr lvl="1"/>
            <a:r>
              <a:rPr lang="en-US" dirty="0"/>
              <a:t>Links directly to the referencing object</a:t>
            </a:r>
          </a:p>
          <a:p>
            <a:endParaRPr lang="en-US" dirty="0"/>
          </a:p>
          <a:p>
            <a:endParaRPr lang="en-US" dirty="0"/>
          </a:p>
          <a:p>
            <a:endParaRPr lang="en-CA" dirty="0"/>
          </a:p>
        </p:txBody>
      </p:sp>
      <p:sp>
        <p:nvSpPr>
          <p:cNvPr id="18" name="TextBox 17"/>
          <p:cNvSpPr txBox="1"/>
          <p:nvPr/>
        </p:nvSpPr>
        <p:spPr>
          <a:xfrm>
            <a:off x="6157235" y="1839927"/>
            <a:ext cx="2715808" cy="233910"/>
          </a:xfrm>
          <a:prstGeom prst="rect">
            <a:avLst/>
          </a:prstGeom>
          <a:solidFill>
            <a:srgbClr val="00B0F0"/>
          </a:solidFill>
        </p:spPr>
        <p:txBody>
          <a:bodyPr wrap="none" tIns="9144" bIns="9144" rtlCol="0">
            <a:spAutoFit/>
          </a:bodyPr>
          <a:lstStyle/>
          <a:p>
            <a:r>
              <a:rPr lang="en-CA" sz="1400" b="1" dirty="0"/>
              <a:t>Policy &amp; Objects </a:t>
            </a:r>
            <a:r>
              <a:rPr lang="en-CA" sz="1400" dirty="0"/>
              <a:t>&gt; </a:t>
            </a:r>
            <a:r>
              <a:rPr lang="en-CA" sz="1400" b="1" dirty="0"/>
              <a:t>Addresses</a:t>
            </a:r>
          </a:p>
        </p:txBody>
      </p:sp>
      <p:pic>
        <p:nvPicPr>
          <p:cNvPr id="19" name="Picture 18"/>
          <p:cNvPicPr>
            <a:picLocks noChangeAspect="1"/>
          </p:cNvPicPr>
          <p:nvPr/>
        </p:nvPicPr>
        <p:blipFill>
          <a:blip r:embed="rId4"/>
          <a:stretch>
            <a:fillRect/>
          </a:stretch>
        </p:blipFill>
        <p:spPr>
          <a:xfrm>
            <a:off x="6171417" y="2122914"/>
            <a:ext cx="5744276" cy="1414605"/>
          </a:xfrm>
          <a:prstGeom prst="rect">
            <a:avLst/>
          </a:prstGeom>
          <a:ln>
            <a:solidFill>
              <a:schemeClr val="tx1"/>
            </a:solidFill>
          </a:ln>
        </p:spPr>
      </p:pic>
      <p:sp>
        <p:nvSpPr>
          <p:cNvPr id="5" name="Rectangle 4"/>
          <p:cNvSpPr/>
          <p:nvPr/>
        </p:nvSpPr>
        <p:spPr bwMode="auto">
          <a:xfrm>
            <a:off x="11340153" y="3230695"/>
            <a:ext cx="305911" cy="255681"/>
          </a:xfrm>
          <a:prstGeom prst="rect">
            <a:avLst/>
          </a:prstGeom>
          <a:noFill/>
          <a:ln w="38100" cap="flat" cmpd="sng" algn="ctr">
            <a:solidFill>
              <a:srgbClr val="FF0000"/>
            </a:solidFill>
            <a:prstDash val="solid"/>
            <a:round/>
            <a:headEnd type="none" w="med" len="med"/>
            <a:tailEnd type="none" w="med" len="med"/>
          </a:ln>
          <a:effectLst>
            <a:outerShdw blurRad="50800" dist="38100" dir="2700000" algn="tl" rotWithShape="0">
              <a:prstClr val="black">
                <a:alpha val="40000"/>
              </a:prstClr>
            </a:outerShdw>
          </a:effectLst>
        </p:spPr>
        <p:txBody>
          <a:bodyPr rtlCol="0" anchor="ctr"/>
          <a:lstStyle/>
          <a:p>
            <a:pPr algn="ctr"/>
            <a:endParaRPr lang="en-CA" dirty="0"/>
          </a:p>
        </p:txBody>
      </p:sp>
      <p:pic>
        <p:nvPicPr>
          <p:cNvPr id="22" name="Picture 21"/>
          <p:cNvPicPr>
            <a:picLocks noChangeAspect="1"/>
          </p:cNvPicPr>
          <p:nvPr/>
        </p:nvPicPr>
        <p:blipFill>
          <a:blip r:embed="rId5"/>
          <a:stretch>
            <a:fillRect/>
          </a:stretch>
        </p:blipFill>
        <p:spPr>
          <a:xfrm>
            <a:off x="2599004" y="3712513"/>
            <a:ext cx="6505803" cy="2512680"/>
          </a:xfrm>
          <a:prstGeom prst="rect">
            <a:avLst/>
          </a:prstGeom>
          <a:ln>
            <a:solidFill>
              <a:schemeClr val="tx1"/>
            </a:solidFill>
          </a:ln>
        </p:spPr>
      </p:pic>
      <p:sp>
        <p:nvSpPr>
          <p:cNvPr id="8" name="Rectangle 7"/>
          <p:cNvSpPr/>
          <p:nvPr/>
        </p:nvSpPr>
        <p:spPr bwMode="auto">
          <a:xfrm>
            <a:off x="3024554" y="5986201"/>
            <a:ext cx="172321" cy="238992"/>
          </a:xfrm>
          <a:prstGeom prst="rect">
            <a:avLst/>
          </a:prstGeom>
          <a:noFill/>
          <a:ln w="28575" cap="flat" cmpd="sng" algn="ctr">
            <a:solidFill>
              <a:srgbClr val="FF0000"/>
            </a:solidFill>
            <a:prstDash val="solid"/>
            <a:round/>
            <a:headEnd type="none" w="med" len="med"/>
            <a:tailEnd type="none" w="med" len="med"/>
          </a:ln>
          <a:effectLst/>
        </p:spPr>
        <p:txBody>
          <a:bodyPr rtlCol="0" anchor="ctr"/>
          <a:lstStyle/>
          <a:p>
            <a:pPr algn="ctr"/>
            <a:endParaRPr lang="en-CA" dirty="0"/>
          </a:p>
        </p:txBody>
      </p:sp>
      <p:sp>
        <p:nvSpPr>
          <p:cNvPr id="11" name="Rounded Rectangular Callout 10"/>
          <p:cNvSpPr/>
          <p:nvPr/>
        </p:nvSpPr>
        <p:spPr bwMode="auto">
          <a:xfrm>
            <a:off x="4870971" y="6043698"/>
            <a:ext cx="1961868" cy="368853"/>
          </a:xfrm>
          <a:prstGeom prst="wedgeRoundRectCallout">
            <a:avLst>
              <a:gd name="adj1" fmla="val -132804"/>
              <a:gd name="adj2" fmla="val -59965"/>
              <a:gd name="adj3" fmla="val 16667"/>
            </a:avLst>
          </a:prstGeom>
          <a:solidFill>
            <a:srgbClr val="00B0F0"/>
          </a:solidFill>
          <a:ln w="19050"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eaLnBrk="0" fontAlgn="base" hangingPunct="0">
              <a:spcBef>
                <a:spcPct val="20000"/>
              </a:spcBef>
              <a:spcAft>
                <a:spcPct val="0"/>
              </a:spcAft>
              <a:buClr>
                <a:schemeClr val="accent1"/>
              </a:buClr>
              <a:buSzPct val="90000"/>
            </a:pPr>
            <a:r>
              <a:rPr lang="en-CA" sz="1400" dirty="0"/>
              <a:t>Referenced by policy ID</a:t>
            </a:r>
          </a:p>
        </p:txBody>
      </p:sp>
      <p:sp>
        <p:nvSpPr>
          <p:cNvPr id="16" name="Rectangle 15"/>
          <p:cNvSpPr/>
          <p:nvPr/>
        </p:nvSpPr>
        <p:spPr bwMode="auto">
          <a:xfrm>
            <a:off x="5190483" y="4055981"/>
            <a:ext cx="1475756" cy="292042"/>
          </a:xfrm>
          <a:prstGeom prst="rect">
            <a:avLst/>
          </a:prstGeom>
          <a:noFill/>
          <a:ln w="38100" cap="flat" cmpd="sng" algn="ctr">
            <a:solidFill>
              <a:srgbClr val="FF0000"/>
            </a:solidFill>
            <a:prstDash val="solid"/>
            <a:round/>
            <a:headEnd type="none" w="med" len="med"/>
            <a:tailEnd type="none" w="med" len="med"/>
          </a:ln>
          <a:effectLst>
            <a:outerShdw blurRad="50800" dist="38100" dir="2700000" algn="tl" rotWithShape="0">
              <a:prstClr val="black">
                <a:alpha val="40000"/>
              </a:prstClr>
            </a:outerShdw>
          </a:effectLst>
        </p:spPr>
        <p:txBody>
          <a:bodyPr rtlCol="0" anchor="ctr"/>
          <a:lstStyle/>
          <a:p>
            <a:pPr algn="ctr"/>
            <a:endParaRPr lang="en-CA" dirty="0"/>
          </a:p>
        </p:txBody>
      </p:sp>
      <p:cxnSp>
        <p:nvCxnSpPr>
          <p:cNvPr id="17" name="Straight Arrow Connector 16"/>
          <p:cNvCxnSpPr>
            <a:stCxn id="16" idx="3"/>
          </p:cNvCxnSpPr>
          <p:nvPr/>
        </p:nvCxnSpPr>
        <p:spPr bwMode="auto">
          <a:xfrm>
            <a:off x="6666239" y="4202002"/>
            <a:ext cx="2674987" cy="571139"/>
          </a:xfrm>
          <a:prstGeom prst="straightConnector1">
            <a:avLst/>
          </a:prstGeom>
          <a:solidFill>
            <a:schemeClr val="accent2">
              <a:alpha val="42000"/>
            </a:schemeClr>
          </a:solidFill>
          <a:ln w="38100" cap="flat" cmpd="sng" algn="ctr">
            <a:solidFill>
              <a:srgbClr val="FF0000"/>
            </a:solidFill>
            <a:prstDash val="solid"/>
            <a:round/>
            <a:headEnd type="none" w="med" len="med"/>
            <a:tailEnd type="arrow"/>
          </a:ln>
          <a:effectLst>
            <a:outerShdw blurRad="50800" dist="38100" dir="2700000" algn="tl" rotWithShape="0">
              <a:prstClr val="black">
                <a:alpha val="40000"/>
              </a:prstClr>
            </a:outerShdw>
          </a:effectLst>
        </p:spPr>
      </p:cxnSp>
      <p:sp>
        <p:nvSpPr>
          <p:cNvPr id="25" name="Rectangle 24"/>
          <p:cNvSpPr/>
          <p:nvPr/>
        </p:nvSpPr>
        <p:spPr bwMode="invGray">
          <a:xfrm>
            <a:off x="4205440" y="5673374"/>
            <a:ext cx="938151" cy="218011"/>
          </a:xfrm>
          <a:prstGeom prst="rect">
            <a:avLst/>
          </a:prstGeom>
          <a:noFill/>
          <a:ln w="38100">
            <a:solidFill>
              <a:srgbClr val="FF0000"/>
            </a:solidFill>
            <a:round/>
            <a:headEnd/>
            <a:tailE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A" dirty="0"/>
          </a:p>
        </p:txBody>
      </p:sp>
      <p:pic>
        <p:nvPicPr>
          <p:cNvPr id="21" name="Picture 20"/>
          <p:cNvPicPr>
            <a:picLocks noChangeAspect="1"/>
          </p:cNvPicPr>
          <p:nvPr/>
        </p:nvPicPr>
        <p:blipFill>
          <a:blip r:embed="rId6"/>
          <a:stretch>
            <a:fillRect/>
          </a:stretch>
        </p:blipFill>
        <p:spPr>
          <a:xfrm>
            <a:off x="9345188" y="4115066"/>
            <a:ext cx="2665823" cy="2262673"/>
          </a:xfrm>
          <a:prstGeom prst="rect">
            <a:avLst/>
          </a:prstGeom>
          <a:ln>
            <a:solidFill>
              <a:schemeClr val="tx1"/>
            </a:solidFill>
          </a:ln>
        </p:spPr>
      </p:pic>
      <p:sp>
        <p:nvSpPr>
          <p:cNvPr id="7" name="Rectangle 6"/>
          <p:cNvSpPr/>
          <p:nvPr/>
        </p:nvSpPr>
        <p:spPr bwMode="auto">
          <a:xfrm>
            <a:off x="2673366" y="4052791"/>
            <a:ext cx="593881" cy="303144"/>
          </a:xfrm>
          <a:prstGeom prst="rect">
            <a:avLst/>
          </a:prstGeom>
          <a:noFill/>
          <a:ln w="38100" cap="flat" cmpd="sng" algn="ctr">
            <a:solidFill>
              <a:srgbClr val="FF0000"/>
            </a:solidFill>
            <a:prstDash val="solid"/>
            <a:round/>
            <a:headEnd type="none" w="med" len="med"/>
            <a:tailEnd type="none" w="med" len="med"/>
          </a:ln>
          <a:effectLst>
            <a:outerShdw blurRad="50800" dist="38100" dir="2700000" algn="tl" rotWithShape="0">
              <a:prstClr val="black">
                <a:alpha val="40000"/>
              </a:prstClr>
            </a:outerShdw>
          </a:effectLst>
        </p:spPr>
        <p:txBody>
          <a:bodyPr rtlCol="0" anchor="ctr"/>
          <a:lstStyle/>
          <a:p>
            <a:pPr algn="ctr"/>
            <a:endParaRPr lang="en-CA" dirty="0"/>
          </a:p>
        </p:txBody>
      </p:sp>
      <p:cxnSp>
        <p:nvCxnSpPr>
          <p:cNvPr id="13" name="Straight Arrow Connector 12"/>
          <p:cNvCxnSpPr/>
          <p:nvPr/>
        </p:nvCxnSpPr>
        <p:spPr bwMode="auto">
          <a:xfrm flipH="1">
            <a:off x="9104807" y="3486376"/>
            <a:ext cx="2231385" cy="226137"/>
          </a:xfrm>
          <a:prstGeom prst="straightConnector1">
            <a:avLst/>
          </a:prstGeom>
          <a:solidFill>
            <a:schemeClr val="accent2">
              <a:alpha val="42000"/>
            </a:schemeClr>
          </a:solidFill>
          <a:ln w="38100" cap="flat" cmpd="sng" algn="ctr">
            <a:solidFill>
              <a:srgbClr val="FF0000"/>
            </a:solidFill>
            <a:prstDash val="solid"/>
            <a:round/>
            <a:headEnd type="none" w="med" len="med"/>
            <a:tailEnd type="arrow"/>
          </a:ln>
          <a:effectLst>
            <a:outerShdw blurRad="50800" dist="38100" dir="2700000" algn="tl" rotWithShape="0">
              <a:prstClr val="black">
                <a:alpha val="40000"/>
              </a:prstClr>
            </a:outerShdw>
          </a:effectLst>
        </p:spPr>
      </p:cxnSp>
      <p:pic>
        <p:nvPicPr>
          <p:cNvPr id="27" name="Picture 26"/>
          <p:cNvPicPr>
            <a:picLocks noChangeAspect="1"/>
          </p:cNvPicPr>
          <p:nvPr/>
        </p:nvPicPr>
        <p:blipFill>
          <a:blip r:embed="rId7"/>
          <a:stretch>
            <a:fillRect/>
          </a:stretch>
        </p:blipFill>
        <p:spPr>
          <a:xfrm>
            <a:off x="155790" y="2937310"/>
            <a:ext cx="2074305" cy="1410713"/>
          </a:xfrm>
          <a:prstGeom prst="rect">
            <a:avLst/>
          </a:prstGeom>
          <a:ln>
            <a:solidFill>
              <a:schemeClr val="tx1"/>
            </a:solidFill>
          </a:ln>
        </p:spPr>
      </p:pic>
      <p:cxnSp>
        <p:nvCxnSpPr>
          <p:cNvPr id="14" name="Straight Arrow Connector 13"/>
          <p:cNvCxnSpPr>
            <a:stCxn id="7" idx="1"/>
          </p:cNvCxnSpPr>
          <p:nvPr/>
        </p:nvCxnSpPr>
        <p:spPr bwMode="auto">
          <a:xfrm flipH="1" flipV="1">
            <a:off x="2258707" y="3810000"/>
            <a:ext cx="414659" cy="394363"/>
          </a:xfrm>
          <a:prstGeom prst="straightConnector1">
            <a:avLst/>
          </a:prstGeom>
          <a:solidFill>
            <a:schemeClr val="accent2">
              <a:alpha val="42000"/>
            </a:schemeClr>
          </a:solidFill>
          <a:ln w="38100" cap="flat" cmpd="sng" algn="ctr">
            <a:solidFill>
              <a:srgbClr val="FF0000"/>
            </a:solidFill>
            <a:prstDash val="solid"/>
            <a:round/>
            <a:headEnd type="none" w="med" len="med"/>
            <a:tailEnd type="arrow"/>
          </a:ln>
          <a:effectLst>
            <a:outerShdw blurRad="50800" dist="38100" dir="2700000" algn="tl" rotWithShape="0">
              <a:prstClr val="black">
                <a:alpha val="40000"/>
              </a:prstClr>
            </a:outerShdw>
          </a:effectLst>
        </p:spPr>
      </p:cxnSp>
      <p:sp>
        <p:nvSpPr>
          <p:cNvPr id="10" name="Rounded Rectangular Callout 9"/>
          <p:cNvSpPr/>
          <p:nvPr/>
        </p:nvSpPr>
        <p:spPr bwMode="auto">
          <a:xfrm>
            <a:off x="3499123" y="2677171"/>
            <a:ext cx="2455127" cy="306090"/>
          </a:xfrm>
          <a:prstGeom prst="wedgeRoundRectCallout">
            <a:avLst>
              <a:gd name="adj1" fmla="val -8503"/>
              <a:gd name="adj2" fmla="val 939994"/>
              <a:gd name="adj3" fmla="val 16667"/>
            </a:avLst>
          </a:prstGeom>
          <a:solidFill>
            <a:srgbClr val="00B0F0"/>
          </a:solidFill>
          <a:ln w="19050"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20000"/>
              </a:spcBef>
              <a:spcAft>
                <a:spcPct val="0"/>
              </a:spcAft>
              <a:buClr>
                <a:schemeClr val="accent1"/>
              </a:buClr>
              <a:buSzPct val="90000"/>
              <a:buFont typeface="Wingdings" charset="2"/>
              <a:buNone/>
              <a:tabLst/>
            </a:pPr>
            <a:r>
              <a:rPr lang="en-CA" sz="1400" dirty="0"/>
              <a:t>Number of times object used</a:t>
            </a:r>
            <a:endParaRPr kumimoji="0" lang="en-CA" sz="1400" u="none" strike="noStrike" cap="none" normalizeH="0" baseline="0" dirty="0">
              <a:ln>
                <a:noFill/>
              </a:ln>
              <a:effectLst/>
            </a:endParaRPr>
          </a:p>
        </p:txBody>
      </p:sp>
      <p:sp>
        <p:nvSpPr>
          <p:cNvPr id="35" name="Rounded Rectangular Callout 34"/>
          <p:cNvSpPr/>
          <p:nvPr/>
        </p:nvSpPr>
        <p:spPr bwMode="auto">
          <a:xfrm>
            <a:off x="7240498" y="5262630"/>
            <a:ext cx="1632545" cy="330216"/>
          </a:xfrm>
          <a:prstGeom prst="wedgeRoundRectCallout">
            <a:avLst>
              <a:gd name="adj1" fmla="val -74129"/>
              <a:gd name="adj2" fmla="val -63143"/>
              <a:gd name="adj3" fmla="val 16667"/>
            </a:avLst>
          </a:prstGeom>
          <a:solidFill>
            <a:srgbClr val="00B0F0"/>
          </a:solidFill>
          <a:ln w="19050"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eaLnBrk="0" fontAlgn="base" hangingPunct="0">
              <a:spcBef>
                <a:spcPct val="20000"/>
              </a:spcBef>
              <a:spcAft>
                <a:spcPct val="0"/>
              </a:spcAft>
              <a:buClr>
                <a:schemeClr val="accent1"/>
              </a:buClr>
              <a:buSzPct val="90000"/>
            </a:pPr>
            <a:r>
              <a:rPr lang="en-CA" sz="1400" dirty="0"/>
              <a:t>Reference of group</a:t>
            </a:r>
          </a:p>
        </p:txBody>
      </p:sp>
      <p:sp>
        <p:nvSpPr>
          <p:cNvPr id="36" name="Rectangle 35"/>
          <p:cNvSpPr/>
          <p:nvPr/>
        </p:nvSpPr>
        <p:spPr bwMode="auto">
          <a:xfrm>
            <a:off x="6711509" y="5069934"/>
            <a:ext cx="172321" cy="238992"/>
          </a:xfrm>
          <a:prstGeom prst="rect">
            <a:avLst/>
          </a:prstGeom>
          <a:noFill/>
          <a:ln w="38100" cap="flat" cmpd="sng" algn="ctr">
            <a:solidFill>
              <a:srgbClr val="FF0000"/>
            </a:solidFill>
            <a:prstDash val="solid"/>
            <a:round/>
            <a:headEnd type="none" w="med" len="med"/>
            <a:tailEnd type="none" w="med" len="med"/>
          </a:ln>
          <a:effectLst/>
        </p:spPr>
        <p:txBody>
          <a:bodyPr rtlCol="0" anchor="ctr"/>
          <a:lstStyle/>
          <a:p>
            <a:pPr algn="ctr"/>
            <a:endParaRPr lang="en-CA" dirty="0"/>
          </a:p>
        </p:txBody>
      </p:sp>
    </p:spTree>
    <p:custDataLst>
      <p:tags r:id="rId1"/>
    </p:custDataLst>
    <p:extLst>
      <p:ext uri="{BB962C8B-B14F-4D97-AF65-F5344CB8AC3E}">
        <p14:creationId xmlns:p14="http://schemas.microsoft.com/office/powerpoint/2010/main" val="2553530400"/>
      </p:ext>
    </p:extLst>
  </p:cSld>
  <p:clrMapOvr>
    <a:masterClrMapping/>
  </p:clrMapOvr>
  <p:transition spd="slow">
    <p:wip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Firewall Policy—Fine Tuning</a:t>
            </a:r>
          </a:p>
        </p:txBody>
      </p:sp>
      <p:sp>
        <p:nvSpPr>
          <p:cNvPr id="3" name="Content Placeholder 2"/>
          <p:cNvSpPr>
            <a:spLocks noGrp="1"/>
          </p:cNvSpPr>
          <p:nvPr>
            <p:ph idx="1"/>
          </p:nvPr>
        </p:nvSpPr>
        <p:spPr/>
        <p:txBody>
          <a:bodyPr/>
          <a:lstStyle/>
          <a:p>
            <a:r>
              <a:rPr lang="en-CA" dirty="0"/>
              <a:t>Right-click menu contains various options to add and modify policies</a:t>
            </a:r>
          </a:p>
          <a:p>
            <a:endParaRPr lang="en-CA" dirty="0"/>
          </a:p>
          <a:p>
            <a:endParaRPr lang="en-CA" dirty="0"/>
          </a:p>
        </p:txBody>
      </p:sp>
      <p:sp>
        <p:nvSpPr>
          <p:cNvPr id="18" name="TextBox 17"/>
          <p:cNvSpPr txBox="1"/>
          <p:nvPr/>
        </p:nvSpPr>
        <p:spPr>
          <a:xfrm>
            <a:off x="609441" y="1446032"/>
            <a:ext cx="3044423" cy="233910"/>
          </a:xfrm>
          <a:prstGeom prst="rect">
            <a:avLst/>
          </a:prstGeom>
          <a:solidFill>
            <a:srgbClr val="00B0F0"/>
          </a:solidFill>
        </p:spPr>
        <p:txBody>
          <a:bodyPr wrap="none" tIns="9144" bIns="9144" rtlCol="0">
            <a:spAutoFit/>
          </a:bodyPr>
          <a:lstStyle/>
          <a:p>
            <a:r>
              <a:rPr lang="en-CA" sz="1400" b="1" dirty="0"/>
              <a:t>Policy &amp; Objects </a:t>
            </a:r>
            <a:r>
              <a:rPr lang="en-CA" sz="1400" dirty="0"/>
              <a:t>&gt; </a:t>
            </a:r>
            <a:r>
              <a:rPr lang="en-CA" sz="1400" b="1" dirty="0"/>
              <a:t>Firewall Policy</a:t>
            </a:r>
          </a:p>
        </p:txBody>
      </p:sp>
      <p:pic>
        <p:nvPicPr>
          <p:cNvPr id="7" name="Picture 6"/>
          <p:cNvPicPr>
            <a:picLocks noChangeAspect="1"/>
          </p:cNvPicPr>
          <p:nvPr/>
        </p:nvPicPr>
        <p:blipFill>
          <a:blip r:embed="rId4"/>
          <a:stretch>
            <a:fillRect/>
          </a:stretch>
        </p:blipFill>
        <p:spPr>
          <a:xfrm>
            <a:off x="609441" y="1753527"/>
            <a:ext cx="7573267" cy="974378"/>
          </a:xfrm>
          <a:prstGeom prst="rect">
            <a:avLst/>
          </a:prstGeom>
          <a:ln>
            <a:solidFill>
              <a:schemeClr val="tx1"/>
            </a:solidFill>
          </a:ln>
        </p:spPr>
      </p:pic>
      <p:sp>
        <p:nvSpPr>
          <p:cNvPr id="5" name="Rectangle 4"/>
          <p:cNvSpPr/>
          <p:nvPr/>
        </p:nvSpPr>
        <p:spPr bwMode="invGray">
          <a:xfrm>
            <a:off x="5108642" y="2078309"/>
            <a:ext cx="1102308" cy="341194"/>
          </a:xfrm>
          <a:prstGeom prst="rect">
            <a:avLst/>
          </a:prstGeom>
          <a:noFill/>
          <a:ln w="38100">
            <a:solidFill>
              <a:srgbClr val="FF0000"/>
            </a:solidFill>
            <a:round/>
            <a:headEnd/>
            <a:tailE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A"/>
          </a:p>
        </p:txBody>
      </p:sp>
      <p:pic>
        <p:nvPicPr>
          <p:cNvPr id="12" name="Picture 11"/>
          <p:cNvPicPr>
            <a:picLocks noChangeAspect="1"/>
          </p:cNvPicPr>
          <p:nvPr/>
        </p:nvPicPr>
        <p:blipFill>
          <a:blip r:embed="rId5"/>
          <a:stretch>
            <a:fillRect/>
          </a:stretch>
        </p:blipFill>
        <p:spPr>
          <a:xfrm>
            <a:off x="3394764" y="2915588"/>
            <a:ext cx="4578595" cy="3479175"/>
          </a:xfrm>
          <a:prstGeom prst="rect">
            <a:avLst/>
          </a:prstGeom>
          <a:ln>
            <a:solidFill>
              <a:schemeClr val="tx1"/>
            </a:solidFill>
          </a:ln>
        </p:spPr>
      </p:pic>
      <p:pic>
        <p:nvPicPr>
          <p:cNvPr id="13" name="Picture 12"/>
          <p:cNvPicPr>
            <a:picLocks noChangeAspect="1"/>
          </p:cNvPicPr>
          <p:nvPr/>
        </p:nvPicPr>
        <p:blipFill>
          <a:blip r:embed="rId6"/>
          <a:stretch>
            <a:fillRect/>
          </a:stretch>
        </p:blipFill>
        <p:spPr>
          <a:xfrm>
            <a:off x="1006156" y="2411519"/>
            <a:ext cx="2041965" cy="3577164"/>
          </a:xfrm>
          <a:prstGeom prst="rect">
            <a:avLst/>
          </a:prstGeom>
          <a:ln>
            <a:solidFill>
              <a:schemeClr val="tx1"/>
            </a:solidFill>
          </a:ln>
        </p:spPr>
      </p:pic>
      <p:cxnSp>
        <p:nvCxnSpPr>
          <p:cNvPr id="15" name="Straight Arrow Connector 14"/>
          <p:cNvCxnSpPr/>
          <p:nvPr/>
        </p:nvCxnSpPr>
        <p:spPr bwMode="auto">
          <a:xfrm flipV="1">
            <a:off x="2116899" y="5373281"/>
            <a:ext cx="1277865" cy="50489"/>
          </a:xfrm>
          <a:prstGeom prst="straightConnector1">
            <a:avLst/>
          </a:prstGeom>
          <a:solidFill>
            <a:schemeClr val="accent2">
              <a:alpha val="42000"/>
            </a:schemeClr>
          </a:solidFill>
          <a:ln w="38100" cap="flat" cmpd="sng" algn="ctr">
            <a:solidFill>
              <a:srgbClr val="FF0000"/>
            </a:solidFill>
            <a:prstDash val="solid"/>
            <a:round/>
            <a:headEnd type="none" w="med" len="med"/>
            <a:tailEnd type="arrow"/>
          </a:ln>
          <a:effectLst/>
        </p:spPr>
      </p:cxnSp>
      <p:sp>
        <p:nvSpPr>
          <p:cNvPr id="14" name="Rectangle 13"/>
          <p:cNvSpPr/>
          <p:nvPr/>
        </p:nvSpPr>
        <p:spPr bwMode="auto">
          <a:xfrm>
            <a:off x="1042382" y="5373281"/>
            <a:ext cx="1062794" cy="308395"/>
          </a:xfrm>
          <a:prstGeom prst="rect">
            <a:avLst/>
          </a:prstGeom>
          <a:noFill/>
          <a:ln w="38100" cap="flat" cmpd="sng" algn="ctr">
            <a:solidFill>
              <a:srgbClr val="FF0000"/>
            </a:solid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20000"/>
              </a:spcBef>
              <a:spcAft>
                <a:spcPct val="0"/>
              </a:spcAft>
              <a:buClr>
                <a:schemeClr val="accent1"/>
              </a:buClr>
              <a:buSzPct val="90000"/>
              <a:buFont typeface="Wingdings" charset="2"/>
              <a:buNone/>
              <a:tabLst/>
            </a:pPr>
            <a:endParaRPr kumimoji="0" lang="en-CA" sz="1200" b="0" i="0" u="none" strike="noStrike" cap="none" normalizeH="0" baseline="0" dirty="0">
              <a:ln>
                <a:noFill/>
              </a:ln>
            </a:endParaRPr>
          </a:p>
        </p:txBody>
      </p:sp>
      <p:pic>
        <p:nvPicPr>
          <p:cNvPr id="17" name="Picture 16"/>
          <p:cNvPicPr>
            <a:picLocks noChangeAspect="1"/>
          </p:cNvPicPr>
          <p:nvPr/>
        </p:nvPicPr>
        <p:blipFill>
          <a:blip r:embed="rId7"/>
          <a:stretch>
            <a:fillRect/>
          </a:stretch>
        </p:blipFill>
        <p:spPr>
          <a:xfrm>
            <a:off x="10678029" y="2914559"/>
            <a:ext cx="1397044" cy="1453681"/>
          </a:xfrm>
          <a:prstGeom prst="rect">
            <a:avLst/>
          </a:prstGeom>
          <a:ln>
            <a:solidFill>
              <a:schemeClr val="tx1"/>
            </a:solidFill>
          </a:ln>
        </p:spPr>
      </p:pic>
      <p:pic>
        <p:nvPicPr>
          <p:cNvPr id="19" name="Picture 18"/>
          <p:cNvPicPr>
            <a:picLocks noChangeAspect="1"/>
          </p:cNvPicPr>
          <p:nvPr/>
        </p:nvPicPr>
        <p:blipFill>
          <a:blip r:embed="rId8"/>
          <a:stretch>
            <a:fillRect/>
          </a:stretch>
        </p:blipFill>
        <p:spPr>
          <a:xfrm>
            <a:off x="8466915" y="2031960"/>
            <a:ext cx="2243235" cy="3922089"/>
          </a:xfrm>
          <a:prstGeom prst="rect">
            <a:avLst/>
          </a:prstGeom>
          <a:ln>
            <a:solidFill>
              <a:schemeClr val="tx1"/>
            </a:solidFill>
          </a:ln>
        </p:spPr>
      </p:pic>
      <p:sp>
        <p:nvSpPr>
          <p:cNvPr id="11" name="Rectangle 10"/>
          <p:cNvSpPr/>
          <p:nvPr/>
        </p:nvSpPr>
        <p:spPr>
          <a:xfrm>
            <a:off x="8505816" y="2782948"/>
            <a:ext cx="2172211" cy="33539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dirty="0" err="1"/>
          </a:p>
        </p:txBody>
      </p:sp>
      <p:cxnSp>
        <p:nvCxnSpPr>
          <p:cNvPr id="8" name="Straight Arrow Connector 7"/>
          <p:cNvCxnSpPr/>
          <p:nvPr/>
        </p:nvCxnSpPr>
        <p:spPr>
          <a:xfrm>
            <a:off x="6210950" y="2248906"/>
            <a:ext cx="2314800" cy="534042"/>
          </a:xfrm>
          <a:prstGeom prst="straightConnector1">
            <a:avLst/>
          </a:prstGeom>
          <a:ln w="38100">
            <a:solidFill>
              <a:srgbClr val="FF0000"/>
            </a:solidFill>
            <a:tailEnd type="arrow"/>
          </a:ln>
          <a:effectLst/>
        </p:spPr>
        <p:style>
          <a:lnRef idx="2">
            <a:schemeClr val="accent1"/>
          </a:lnRef>
          <a:fillRef idx="0">
            <a:schemeClr val="accent1"/>
          </a:fillRef>
          <a:effectRef idx="1">
            <a:schemeClr val="accent1"/>
          </a:effectRef>
          <a:fontRef idx="minor">
            <a:schemeClr val="tx1"/>
          </a:fontRef>
        </p:style>
      </p:cxnSp>
    </p:spTree>
    <p:custDataLst>
      <p:tags r:id="rId1"/>
    </p:custDataLst>
    <p:extLst>
      <p:ext uri="{BB962C8B-B14F-4D97-AF65-F5344CB8AC3E}">
        <p14:creationId xmlns:p14="http://schemas.microsoft.com/office/powerpoint/2010/main" val="267586042"/>
      </p:ext>
    </p:extLst>
  </p:cSld>
  <p:clrMapOvr>
    <a:masterClrMapping/>
  </p:clrMapOvr>
  <p:transition spd="slow">
    <p:wip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Filter Column</a:t>
            </a:r>
          </a:p>
        </p:txBody>
      </p:sp>
      <p:sp>
        <p:nvSpPr>
          <p:cNvPr id="9" name="Content Placeholder 2"/>
          <p:cNvSpPr>
            <a:spLocks noGrp="1"/>
          </p:cNvSpPr>
          <p:nvPr>
            <p:ph idx="1"/>
          </p:nvPr>
        </p:nvSpPr>
        <p:spPr/>
        <p:txBody>
          <a:bodyPr/>
          <a:lstStyle/>
          <a:p>
            <a:r>
              <a:rPr lang="en-US"/>
              <a:t>You can use filters in each column to filter firewall policies</a:t>
            </a:r>
            <a:endParaRPr lang="en-CA" dirty="0"/>
          </a:p>
        </p:txBody>
      </p:sp>
      <p:sp>
        <p:nvSpPr>
          <p:cNvPr id="16" name="TextBox 15"/>
          <p:cNvSpPr txBox="1"/>
          <p:nvPr/>
        </p:nvSpPr>
        <p:spPr>
          <a:xfrm>
            <a:off x="508749" y="1434558"/>
            <a:ext cx="3044423" cy="233910"/>
          </a:xfrm>
          <a:prstGeom prst="rect">
            <a:avLst/>
          </a:prstGeom>
          <a:solidFill>
            <a:srgbClr val="00B0F0"/>
          </a:solidFill>
        </p:spPr>
        <p:txBody>
          <a:bodyPr wrap="none" tIns="9144" bIns="9144" rtlCol="0">
            <a:spAutoFit/>
          </a:bodyPr>
          <a:lstStyle/>
          <a:p>
            <a:r>
              <a:rPr lang="en-CA" sz="1400" b="1" dirty="0"/>
              <a:t>Policy &amp; Objects </a:t>
            </a:r>
            <a:r>
              <a:rPr lang="en-CA" sz="1400" dirty="0"/>
              <a:t>&gt; </a:t>
            </a:r>
            <a:r>
              <a:rPr lang="en-CA" sz="1400" b="1" dirty="0"/>
              <a:t>Firewall Policy</a:t>
            </a:r>
          </a:p>
        </p:txBody>
      </p:sp>
      <p:pic>
        <p:nvPicPr>
          <p:cNvPr id="4" name="Picture 3"/>
          <p:cNvPicPr>
            <a:picLocks noChangeAspect="1"/>
          </p:cNvPicPr>
          <p:nvPr/>
        </p:nvPicPr>
        <p:blipFill>
          <a:blip r:embed="rId4"/>
          <a:stretch>
            <a:fillRect/>
          </a:stretch>
        </p:blipFill>
        <p:spPr>
          <a:xfrm>
            <a:off x="508749" y="1777240"/>
            <a:ext cx="7264483" cy="2457956"/>
          </a:xfrm>
          <a:prstGeom prst="rect">
            <a:avLst/>
          </a:prstGeom>
          <a:ln>
            <a:solidFill>
              <a:schemeClr val="tx1"/>
            </a:solidFill>
          </a:ln>
        </p:spPr>
      </p:pic>
      <p:pic>
        <p:nvPicPr>
          <p:cNvPr id="5" name="Picture 4"/>
          <p:cNvPicPr>
            <a:picLocks noChangeAspect="1"/>
          </p:cNvPicPr>
          <p:nvPr/>
        </p:nvPicPr>
        <p:blipFill>
          <a:blip r:embed="rId5"/>
          <a:stretch>
            <a:fillRect/>
          </a:stretch>
        </p:blipFill>
        <p:spPr>
          <a:xfrm>
            <a:off x="2602524" y="4562539"/>
            <a:ext cx="9164272" cy="1506051"/>
          </a:xfrm>
          <a:prstGeom prst="rect">
            <a:avLst/>
          </a:prstGeom>
          <a:ln>
            <a:solidFill>
              <a:schemeClr val="tx1"/>
            </a:solidFill>
          </a:ln>
        </p:spPr>
      </p:pic>
      <p:sp>
        <p:nvSpPr>
          <p:cNvPr id="7" name="Rectangle 6"/>
          <p:cNvSpPr/>
          <p:nvPr/>
        </p:nvSpPr>
        <p:spPr>
          <a:xfrm>
            <a:off x="3285584" y="4564547"/>
            <a:ext cx="1528180" cy="520752"/>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dirty="0" err="1"/>
          </a:p>
        </p:txBody>
      </p:sp>
      <p:cxnSp>
        <p:nvCxnSpPr>
          <p:cNvPr id="11" name="Straight Arrow Connector 10"/>
          <p:cNvCxnSpPr/>
          <p:nvPr/>
        </p:nvCxnSpPr>
        <p:spPr bwMode="auto">
          <a:xfrm>
            <a:off x="3868614" y="4044463"/>
            <a:ext cx="550986" cy="518076"/>
          </a:xfrm>
          <a:prstGeom prst="straightConnector1">
            <a:avLst/>
          </a:prstGeom>
          <a:solidFill>
            <a:schemeClr val="accent2">
              <a:alpha val="42000"/>
            </a:schemeClr>
          </a:solidFill>
          <a:ln w="38100" cap="flat" cmpd="sng" algn="ctr">
            <a:solidFill>
              <a:srgbClr val="FF0000"/>
            </a:solidFill>
            <a:prstDash val="solid"/>
            <a:round/>
            <a:headEnd type="none" w="med" len="med"/>
            <a:tailEnd type="arrow"/>
          </a:ln>
          <a:effectLst/>
        </p:spPr>
      </p:cxnSp>
      <p:sp>
        <p:nvSpPr>
          <p:cNvPr id="10" name="Rectangle 9"/>
          <p:cNvSpPr/>
          <p:nvPr/>
        </p:nvSpPr>
        <p:spPr bwMode="auto">
          <a:xfrm>
            <a:off x="1933362" y="2002090"/>
            <a:ext cx="2626915" cy="2124433"/>
          </a:xfrm>
          <a:prstGeom prst="rect">
            <a:avLst/>
          </a:prstGeom>
          <a:noFill/>
          <a:ln w="38100" cap="flat" cmpd="sng" algn="ctr">
            <a:solidFill>
              <a:srgbClr val="FF0000"/>
            </a:solidFill>
            <a:prstDash val="solid"/>
            <a:round/>
            <a:headEnd type="none" w="med" len="med"/>
            <a:tailEnd type="none" w="med" len="med"/>
          </a:ln>
          <a:effectLst/>
        </p:spPr>
        <p:txBody>
          <a:bodyPr rtlCol="0" anchor="ctr"/>
          <a:lstStyle/>
          <a:p>
            <a:pPr algn="ctr"/>
            <a:endParaRPr lang="en-CA" dirty="0"/>
          </a:p>
        </p:txBody>
      </p:sp>
      <p:sp>
        <p:nvSpPr>
          <p:cNvPr id="14" name="Rectangle 13"/>
          <p:cNvSpPr/>
          <p:nvPr/>
        </p:nvSpPr>
        <p:spPr>
          <a:xfrm>
            <a:off x="1989688" y="3045366"/>
            <a:ext cx="352589" cy="23006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dirty="0" err="1"/>
          </a:p>
        </p:txBody>
      </p:sp>
      <p:sp>
        <p:nvSpPr>
          <p:cNvPr id="18" name="Rectangle 17"/>
          <p:cNvSpPr/>
          <p:nvPr/>
        </p:nvSpPr>
        <p:spPr>
          <a:xfrm>
            <a:off x="1729690" y="1825386"/>
            <a:ext cx="203672" cy="18406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dirty="0" err="1"/>
          </a:p>
        </p:txBody>
      </p:sp>
      <p:sp>
        <p:nvSpPr>
          <p:cNvPr id="20" name="Rectangle 19"/>
          <p:cNvSpPr/>
          <p:nvPr/>
        </p:nvSpPr>
        <p:spPr>
          <a:xfrm>
            <a:off x="2646180" y="3751384"/>
            <a:ext cx="1210710" cy="31652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dirty="0" err="1"/>
          </a:p>
        </p:txBody>
      </p:sp>
      <p:sp>
        <p:nvSpPr>
          <p:cNvPr id="22" name="Rectangle 21"/>
          <p:cNvSpPr/>
          <p:nvPr/>
        </p:nvSpPr>
        <p:spPr>
          <a:xfrm>
            <a:off x="2612810" y="5536114"/>
            <a:ext cx="9153986" cy="53247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dirty="0" err="1"/>
          </a:p>
        </p:txBody>
      </p:sp>
    </p:spTree>
    <p:custDataLst>
      <p:tags r:id="rId1"/>
    </p:custDataLst>
    <p:extLst>
      <p:ext uri="{BB962C8B-B14F-4D97-AF65-F5344CB8AC3E}">
        <p14:creationId xmlns:p14="http://schemas.microsoft.com/office/powerpoint/2010/main" val="886615484"/>
      </p:ext>
    </p:extLst>
  </p:cSld>
  <p:clrMapOvr>
    <a:masterClrMapping/>
  </p:clrMapOvr>
  <p:transition spd="slow">
    <p:wip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457200"/>
            <a:r>
              <a:rPr lang="en-CA" dirty="0"/>
              <a:t>If you configure a firewall policy with the </a:t>
            </a:r>
            <a:r>
              <a:rPr lang="en-CA" b="1" dirty="0"/>
              <a:t>any</a:t>
            </a:r>
            <a:r>
              <a:rPr lang="en-CA" dirty="0"/>
              <a:t> interface, you can view the firewall policy list </a:t>
            </a:r>
            <a:r>
              <a:rPr lang="en-US" dirty="0"/>
              <a:t>only in which view?</a:t>
            </a:r>
            <a:r>
              <a:rPr lang="en-CA" dirty="0"/>
              <a:t>_____ .</a:t>
            </a:r>
          </a:p>
          <a:p>
            <a:pPr marL="838133" lvl="1" indent="-457200">
              <a:buFont typeface="+mj-lt"/>
              <a:buAutoNum type="alphaUcPeriod"/>
            </a:pPr>
            <a:r>
              <a:rPr lang="en-US" dirty="0"/>
              <a:t>The </a:t>
            </a:r>
            <a:r>
              <a:rPr lang="en-US" b="1" dirty="0"/>
              <a:t>By Sequence View</a:t>
            </a:r>
            <a:endParaRPr lang="en-CA" b="1" dirty="0"/>
          </a:p>
          <a:p>
            <a:pPr marL="838133" lvl="1" indent="-457200">
              <a:buFont typeface="+mj-lt"/>
              <a:buAutoNum type="alphaUcPeriod"/>
            </a:pPr>
            <a:r>
              <a:rPr lang="en-US" dirty="0"/>
              <a:t>The </a:t>
            </a:r>
            <a:r>
              <a:rPr lang="en-US" b="1" dirty="0"/>
              <a:t>Interface Pair View</a:t>
            </a:r>
          </a:p>
          <a:p>
            <a:pPr marL="838133" lvl="1" indent="-457200">
              <a:buFont typeface="+mj-lt"/>
              <a:buAutoNum type="alphaUcPeriod"/>
            </a:pPr>
            <a:endParaRPr lang="en-CA" dirty="0"/>
          </a:p>
        </p:txBody>
      </p:sp>
      <p:pic>
        <p:nvPicPr>
          <p:cNvPr id="10" name="Picture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6661" y="1624567"/>
            <a:ext cx="301962" cy="322787"/>
          </a:xfrm>
          <a:prstGeom prst="rect">
            <a:avLst/>
          </a:prstGeom>
        </p:spPr>
      </p:pic>
    </p:spTree>
    <p:custDataLst>
      <p:tags r:id="rId1"/>
    </p:custDataLst>
    <p:extLst>
      <p:ext uri="{BB962C8B-B14F-4D97-AF65-F5344CB8AC3E}">
        <p14:creationId xmlns:p14="http://schemas.microsoft.com/office/powerpoint/2010/main" val="771242741"/>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SmartArt Placeholder 2"/>
          <p:cNvGraphicFramePr>
            <a:graphicFrameLocks noGrp="1"/>
          </p:cNvGraphicFramePr>
          <p:nvPr>
            <p:ph type="dgm" sz="quarter" idx="10"/>
            <p:extLst>
              <p:ext uri="{D42A27DB-BD31-4B8C-83A1-F6EECF244321}">
                <p14:modId xmlns:p14="http://schemas.microsoft.com/office/powerpoint/2010/main" val="1647999120"/>
              </p:ext>
            </p:extLst>
          </p:nvPr>
        </p:nvGraphicFramePr>
        <p:xfrm>
          <a:off x="266700" y="1346200"/>
          <a:ext cx="11387138" cy="470852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6" name="Picture 5"/>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37381" y="1726086"/>
            <a:ext cx="648420" cy="693138"/>
          </a:xfrm>
          <a:prstGeom prst="rect">
            <a:avLst/>
          </a:prstGeom>
        </p:spPr>
      </p:pic>
      <p:pic>
        <p:nvPicPr>
          <p:cNvPr id="7" name="Picture 6"/>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11249" y="3890405"/>
            <a:ext cx="648420" cy="693138"/>
          </a:xfrm>
          <a:prstGeom prst="rect">
            <a:avLst/>
          </a:prstGeom>
        </p:spPr>
      </p:pic>
      <p:pic>
        <p:nvPicPr>
          <p:cNvPr id="8" name="Picture 7"/>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903847" y="2808245"/>
            <a:ext cx="648420" cy="693138"/>
          </a:xfrm>
          <a:prstGeom prst="rect">
            <a:avLst/>
          </a:prstGeom>
        </p:spPr>
      </p:pic>
    </p:spTree>
    <p:custDataLst>
      <p:tags r:id="rId1"/>
    </p:custDataLst>
    <p:extLst>
      <p:ext uri="{BB962C8B-B14F-4D97-AF65-F5344CB8AC3E}">
        <p14:creationId xmlns:p14="http://schemas.microsoft.com/office/powerpoint/2010/main" val="40238848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CA" dirty="0"/>
              <a:t>Best Practices and Troubleshooting</a:t>
            </a:r>
          </a:p>
        </p:txBody>
      </p:sp>
      <p:sp>
        <p:nvSpPr>
          <p:cNvPr id="5" name="Text Placeholder 4"/>
          <p:cNvSpPr>
            <a:spLocks noGrp="1"/>
          </p:cNvSpPr>
          <p:nvPr>
            <p:ph type="body" sz="quarter" idx="11"/>
          </p:nvPr>
        </p:nvSpPr>
        <p:spPr/>
        <p:txBody>
          <a:bodyPr/>
          <a:lstStyle/>
          <a:p>
            <a:r>
              <a:rPr lang="en-CA" dirty="0"/>
              <a:t>Identify naming restrictions for firewall policies and objects</a:t>
            </a:r>
          </a:p>
          <a:p>
            <a:r>
              <a:rPr lang="en-US" dirty="0"/>
              <a:t>Reorder firewall policies for correct matching</a:t>
            </a:r>
          </a:p>
          <a:p>
            <a:r>
              <a:rPr lang="en-CA" dirty="0"/>
              <a:t>Demonstrate how to find matching policies for traffic type</a:t>
            </a:r>
          </a:p>
          <a:p>
            <a:endParaRPr lang="en-US" dirty="0"/>
          </a:p>
          <a:p>
            <a:endParaRPr lang="en-CA" dirty="0"/>
          </a:p>
          <a:p>
            <a:endParaRPr lang="en-CA" dirty="0"/>
          </a:p>
        </p:txBody>
      </p:sp>
    </p:spTree>
    <p:custDataLst>
      <p:tags r:id="rId1"/>
    </p:custDataLst>
    <p:extLst>
      <p:ext uri="{BB962C8B-B14F-4D97-AF65-F5344CB8AC3E}">
        <p14:creationId xmlns:p14="http://schemas.microsoft.com/office/powerpoint/2010/main" val="13224855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idx="15"/>
          </p:nvPr>
        </p:nvSpPr>
        <p:spPr/>
        <p:txBody>
          <a:bodyPr>
            <a:normAutofit/>
          </a:bodyPr>
          <a:lstStyle/>
          <a:p>
            <a:r>
              <a:rPr lang="en-CA" dirty="0"/>
              <a:t>Most firewall object name fields accept up to 35 characters</a:t>
            </a:r>
          </a:p>
          <a:p>
            <a:r>
              <a:rPr lang="en-CA" dirty="0"/>
              <a:t>Supported characters in a firewall object name:</a:t>
            </a:r>
          </a:p>
          <a:p>
            <a:pPr lvl="1"/>
            <a:r>
              <a:rPr lang="en-CA" dirty="0"/>
              <a:t>Numbers: 0 to 9</a:t>
            </a:r>
          </a:p>
          <a:p>
            <a:pPr lvl="1"/>
            <a:r>
              <a:rPr lang="en-CA" dirty="0"/>
              <a:t>Letters: A to Z (uppercase and lower case)</a:t>
            </a:r>
          </a:p>
          <a:p>
            <a:pPr lvl="1"/>
            <a:r>
              <a:rPr lang="en-CA" dirty="0"/>
              <a:t>Special characters: hyphen - and underscore _</a:t>
            </a:r>
          </a:p>
          <a:p>
            <a:pPr lvl="1"/>
            <a:r>
              <a:rPr lang="en-CA" dirty="0"/>
              <a:t>Spaces</a:t>
            </a:r>
          </a:p>
          <a:p>
            <a:pPr lvl="2"/>
            <a:r>
              <a:rPr lang="en-CA" dirty="0"/>
              <a:t>Avoid using spaces in general </a:t>
            </a:r>
          </a:p>
          <a:p>
            <a:r>
              <a:rPr lang="en-CA" dirty="0"/>
              <a:t>Some special characters are supported in passwords, comments, replacement  messages, and so on</a:t>
            </a:r>
          </a:p>
          <a:p>
            <a:pPr lvl="1"/>
            <a:r>
              <a:rPr lang="en-CA" dirty="0"/>
              <a:t>&lt; &gt; ( )  #  “ ”  ‘ ’</a:t>
            </a:r>
          </a:p>
          <a:p>
            <a:endParaRPr lang="en-CA" dirty="0"/>
          </a:p>
          <a:p>
            <a:endParaRPr lang="en-CA" dirty="0"/>
          </a:p>
          <a:p>
            <a:endParaRPr lang="en-CA" dirty="0"/>
          </a:p>
          <a:p>
            <a:endParaRPr lang="en-CA" dirty="0"/>
          </a:p>
          <a:p>
            <a:pPr lvl="1"/>
            <a:endParaRPr lang="en-CA" dirty="0"/>
          </a:p>
          <a:p>
            <a:endParaRPr lang="en-US" dirty="0"/>
          </a:p>
        </p:txBody>
      </p:sp>
      <p:sp>
        <p:nvSpPr>
          <p:cNvPr id="2" name="Title 1"/>
          <p:cNvSpPr>
            <a:spLocks noGrp="1"/>
          </p:cNvSpPr>
          <p:nvPr>
            <p:ph type="title"/>
          </p:nvPr>
        </p:nvSpPr>
        <p:spPr/>
        <p:txBody>
          <a:bodyPr/>
          <a:lstStyle/>
          <a:p>
            <a:r>
              <a:rPr lang="en-CA" dirty="0"/>
              <a:t>Naming Rules and Restrictions</a:t>
            </a:r>
          </a:p>
        </p:txBody>
      </p:sp>
      <p:sp>
        <p:nvSpPr>
          <p:cNvPr id="6" name="TextBox 5"/>
          <p:cNvSpPr txBox="1"/>
          <p:nvPr/>
        </p:nvSpPr>
        <p:spPr>
          <a:xfrm>
            <a:off x="4933890" y="1689252"/>
            <a:ext cx="2715808" cy="274320"/>
          </a:xfrm>
          <a:prstGeom prst="rect">
            <a:avLst/>
          </a:prstGeom>
          <a:solidFill>
            <a:srgbClr val="00B0F0"/>
          </a:solidFill>
        </p:spPr>
        <p:txBody>
          <a:bodyPr wrap="none" tIns="9144" bIns="9144" rtlCol="0">
            <a:spAutoFit/>
          </a:bodyPr>
          <a:lstStyle/>
          <a:p>
            <a:r>
              <a:rPr lang="en-CA" sz="1400" b="1" dirty="0"/>
              <a:t>Policy &amp; Objects </a:t>
            </a:r>
            <a:r>
              <a:rPr lang="en-CA" sz="1400" dirty="0"/>
              <a:t>&gt; </a:t>
            </a:r>
            <a:r>
              <a:rPr lang="en-CA" sz="1400" b="1" dirty="0"/>
              <a:t>Addresses</a:t>
            </a:r>
          </a:p>
        </p:txBody>
      </p:sp>
      <p:grpSp>
        <p:nvGrpSpPr>
          <p:cNvPr id="11" name="Group 10"/>
          <p:cNvGrpSpPr/>
          <p:nvPr/>
        </p:nvGrpSpPr>
        <p:grpSpPr>
          <a:xfrm>
            <a:off x="4933890" y="2019139"/>
            <a:ext cx="6859526" cy="2822492"/>
            <a:chOff x="6106197" y="2558401"/>
            <a:chExt cx="5887549" cy="2482521"/>
          </a:xfrm>
        </p:grpSpPr>
        <p:pic>
          <p:nvPicPr>
            <p:cNvPr id="3" name="Picture 2"/>
            <p:cNvPicPr>
              <a:picLocks noChangeAspect="1"/>
            </p:cNvPicPr>
            <p:nvPr/>
          </p:nvPicPr>
          <p:blipFill>
            <a:blip r:embed="rId4"/>
            <a:stretch>
              <a:fillRect/>
            </a:stretch>
          </p:blipFill>
          <p:spPr>
            <a:xfrm>
              <a:off x="6106197" y="2558401"/>
              <a:ext cx="5887549" cy="2482521"/>
            </a:xfrm>
            <a:prstGeom prst="rect">
              <a:avLst/>
            </a:prstGeom>
            <a:ln>
              <a:solidFill>
                <a:schemeClr val="tx1"/>
              </a:solidFill>
            </a:ln>
          </p:spPr>
        </p:pic>
        <p:sp>
          <p:nvSpPr>
            <p:cNvPr id="4" name="Rectangle 3"/>
            <p:cNvSpPr/>
            <p:nvPr/>
          </p:nvSpPr>
          <p:spPr bwMode="invGray">
            <a:xfrm>
              <a:off x="7891397" y="3386208"/>
              <a:ext cx="1604295" cy="201054"/>
            </a:xfrm>
            <a:prstGeom prst="rect">
              <a:avLst/>
            </a:prstGeom>
            <a:noFill/>
            <a:ln w="38100">
              <a:solidFill>
                <a:srgbClr val="FF0000"/>
              </a:solidFill>
              <a:round/>
              <a:headEnd/>
              <a:tailE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A" dirty="0"/>
            </a:p>
          </p:txBody>
        </p:sp>
      </p:grpSp>
    </p:spTree>
    <p:custDataLst>
      <p:tags r:id="rId1"/>
    </p:custDataLst>
    <p:extLst>
      <p:ext uri="{BB962C8B-B14F-4D97-AF65-F5344CB8AC3E}">
        <p14:creationId xmlns:p14="http://schemas.microsoft.com/office/powerpoint/2010/main" val="3594136548"/>
      </p:ext>
    </p:extLst>
  </p:cSld>
  <p:clrMapOvr>
    <a:masterClrMapping/>
  </p:clrMapOvr>
  <p:transition spd="slow">
    <p:wip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Best Practices	</a:t>
            </a:r>
          </a:p>
        </p:txBody>
      </p:sp>
      <p:sp>
        <p:nvSpPr>
          <p:cNvPr id="3" name="Content Placeholder 2"/>
          <p:cNvSpPr>
            <a:spLocks noGrp="1"/>
          </p:cNvSpPr>
          <p:nvPr>
            <p:ph idx="1"/>
          </p:nvPr>
        </p:nvSpPr>
        <p:spPr/>
        <p:txBody>
          <a:bodyPr/>
          <a:lstStyle/>
          <a:p>
            <a:r>
              <a:rPr lang="en-CA" dirty="0"/>
              <a:t>Test policies in a maintenance window before deploying in production</a:t>
            </a:r>
          </a:p>
          <a:p>
            <a:pPr lvl="1"/>
            <a:r>
              <a:rPr lang="en-CA" dirty="0"/>
              <a:t>Test policy for a few IP addresses, users, and so on</a:t>
            </a:r>
          </a:p>
          <a:p>
            <a:r>
              <a:rPr lang="en-CA" dirty="0"/>
              <a:t>Be careful when editing, disabling, or deleting firewall policies and objects</a:t>
            </a:r>
          </a:p>
          <a:p>
            <a:pPr lvl="1"/>
            <a:r>
              <a:rPr lang="en-CA" dirty="0"/>
              <a:t>Changes are saved and activated immediately</a:t>
            </a:r>
          </a:p>
          <a:p>
            <a:pPr lvl="1"/>
            <a:r>
              <a:rPr lang="en-CA" dirty="0"/>
              <a:t>Resets active sessions</a:t>
            </a:r>
          </a:p>
          <a:p>
            <a:r>
              <a:rPr lang="en-CA" dirty="0"/>
              <a:t>Create firewall policies to match as specifically as possible</a:t>
            </a:r>
          </a:p>
          <a:p>
            <a:pPr lvl="1"/>
            <a:r>
              <a:rPr lang="en-CA" dirty="0"/>
              <a:t>Example: Restrict firewall policies based on source, destination, service  </a:t>
            </a:r>
          </a:p>
          <a:p>
            <a:pPr lvl="1"/>
            <a:r>
              <a:rPr lang="en-CA" dirty="0"/>
              <a:t>Use proper </a:t>
            </a:r>
            <a:r>
              <a:rPr lang="en-CA" dirty="0" err="1"/>
              <a:t>subnetting</a:t>
            </a:r>
            <a:r>
              <a:rPr lang="en-CA" dirty="0"/>
              <a:t> for address objects</a:t>
            </a:r>
          </a:p>
          <a:p>
            <a:r>
              <a:rPr lang="en-CA" dirty="0"/>
              <a:t>Analyze and enable appropriate settings on a per-policy basis</a:t>
            </a:r>
          </a:p>
          <a:p>
            <a:pPr lvl="1"/>
            <a:r>
              <a:rPr lang="en-CA" dirty="0"/>
              <a:t>Security profiles </a:t>
            </a:r>
          </a:p>
          <a:p>
            <a:pPr lvl="1"/>
            <a:r>
              <a:rPr lang="en-CA" dirty="0"/>
              <a:t>Logging settings</a:t>
            </a:r>
          </a:p>
          <a:p>
            <a:pPr lvl="1"/>
            <a:endParaRPr lang="en-CA" dirty="0"/>
          </a:p>
        </p:txBody>
      </p:sp>
    </p:spTree>
    <p:custDataLst>
      <p:tags r:id="rId1"/>
    </p:custDataLst>
    <p:extLst>
      <p:ext uri="{BB962C8B-B14F-4D97-AF65-F5344CB8AC3E}">
        <p14:creationId xmlns:p14="http://schemas.microsoft.com/office/powerpoint/2010/main" val="3327971464"/>
      </p:ext>
    </p:extLst>
  </p:cSld>
  <p:clrMapOvr>
    <a:masterClrMapping/>
  </p:clrMapOvr>
  <p:transition spd="slow">
    <p:wip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3" name="Picture 3"/>
          <p:cNvPicPr>
            <a:picLocks noChangeAspect="1" noChangeArrowheads="1"/>
          </p:cNvPicPr>
          <p:nvPr/>
        </p:nvPicPr>
        <p:blipFill>
          <a:blip r:embed="rId4">
            <a:extLst>
              <a:ext uri="{BEBA8EAE-BF5A-486C-A8C5-ECC9F3942E4B}">
                <a14:imgProps xmlns:a14="http://schemas.microsoft.com/office/drawing/2010/main">
                  <a14:imgLayer r:embed="rId5">
                    <a14:imgEffect>
                      <a14:saturation sat="66000"/>
                    </a14:imgEffect>
                  </a14:imgLayer>
                </a14:imgProps>
              </a:ext>
              <a:ext uri="{28A0092B-C50C-407E-A947-70E740481C1C}">
                <a14:useLocalDpi xmlns:a14="http://schemas.microsoft.com/office/drawing/2010/main" val="0"/>
              </a:ext>
            </a:extLst>
          </a:blip>
          <a:srcRect/>
          <a:stretch>
            <a:fillRect/>
          </a:stretch>
        </p:blipFill>
        <p:spPr bwMode="auto">
          <a:xfrm>
            <a:off x="6200465" y="2419620"/>
            <a:ext cx="5881367" cy="1265907"/>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pic>
        <p:nvPicPr>
          <p:cNvPr id="20482" name="Picture 2"/>
          <p:cNvPicPr>
            <a:picLocks noChangeAspect="1" noChangeArrowheads="1"/>
          </p:cNvPicPr>
          <p:nvPr/>
        </p:nvPicPr>
        <p:blipFill rotWithShape="1">
          <a:blip r:embed="rId6">
            <a:extLst>
              <a:ext uri="{BEBA8EAE-BF5A-486C-A8C5-ECC9F3942E4B}">
                <a14:imgProps xmlns:a14="http://schemas.microsoft.com/office/drawing/2010/main">
                  <a14:imgLayer r:embed="rId7">
                    <a14:imgEffect>
                      <a14:saturation sat="66000"/>
                    </a14:imgEffect>
                  </a14:imgLayer>
                </a14:imgProps>
              </a:ext>
              <a:ext uri="{28A0092B-C50C-407E-A947-70E740481C1C}">
                <a14:useLocalDpi xmlns:a14="http://schemas.microsoft.com/office/drawing/2010/main" val="0"/>
              </a:ext>
            </a:extLst>
          </a:blip>
          <a:srcRect r="11037"/>
          <a:stretch/>
        </p:blipFill>
        <p:spPr bwMode="auto">
          <a:xfrm>
            <a:off x="152621" y="2428313"/>
            <a:ext cx="5689439" cy="1235984"/>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
        <p:nvSpPr>
          <p:cNvPr id="25" name="Rounded Rectangular Callout 24"/>
          <p:cNvSpPr/>
          <p:nvPr/>
        </p:nvSpPr>
        <p:spPr bwMode="auto">
          <a:xfrm>
            <a:off x="5107245" y="4565823"/>
            <a:ext cx="641553" cy="279401"/>
          </a:xfrm>
          <a:prstGeom prst="wedgeRoundRectCallout">
            <a:avLst>
              <a:gd name="adj1" fmla="val 127935"/>
              <a:gd name="adj2" fmla="val -540882"/>
              <a:gd name="adj3" fmla="val 16667"/>
            </a:avLst>
          </a:prstGeom>
          <a:solidFill>
            <a:srgbClr val="00B0F0"/>
          </a:solidFill>
          <a:ln w="19050" cap="flat" cmpd="sng" algn="ctr">
            <a:solidFill>
              <a:srgbClr val="00B0F0"/>
            </a:solid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14400" eaLnBrk="0" fontAlgn="base" hangingPunct="0">
              <a:spcBef>
                <a:spcPct val="20000"/>
              </a:spcBef>
              <a:spcAft>
                <a:spcPct val="0"/>
              </a:spcAft>
              <a:buClr>
                <a:schemeClr val="accent1"/>
              </a:buClr>
              <a:buSzPct val="90000"/>
            </a:pPr>
            <a:endParaRPr lang="en-CA" sz="1400" dirty="0"/>
          </a:p>
        </p:txBody>
      </p:sp>
      <p:sp>
        <p:nvSpPr>
          <p:cNvPr id="29" name="TextBox 28"/>
          <p:cNvSpPr txBox="1"/>
          <p:nvPr/>
        </p:nvSpPr>
        <p:spPr>
          <a:xfrm>
            <a:off x="1492090" y="4713968"/>
            <a:ext cx="2977097" cy="1600438"/>
          </a:xfrm>
          <a:prstGeom prst="rect">
            <a:avLst/>
          </a:prstGeom>
          <a:solidFill>
            <a:schemeClr val="bg1"/>
          </a:solidFill>
          <a:ln>
            <a:solidFill>
              <a:schemeClr val="tx1"/>
            </a:solidFill>
          </a:ln>
          <a:effectLst/>
        </p:spPr>
        <p:txBody>
          <a:bodyPr wrap="none" rtlCol="0">
            <a:spAutoFit/>
          </a:bodyPr>
          <a:lstStyle/>
          <a:p>
            <a:r>
              <a:rPr lang="en-CA" sz="1400" dirty="0">
                <a:latin typeface="Courier New" panose="02070309020205020404" pitchFamily="49" charset="0"/>
                <a:cs typeface="Courier New" panose="02070309020205020404" pitchFamily="49" charset="0"/>
              </a:rPr>
              <a:t>config firewall policy</a:t>
            </a:r>
          </a:p>
          <a:p>
            <a:r>
              <a:rPr lang="en-CA" sz="1400" dirty="0">
                <a:latin typeface="Courier New" panose="02070309020205020404" pitchFamily="49" charset="0"/>
                <a:cs typeface="Courier New" panose="02070309020205020404" pitchFamily="49" charset="0"/>
              </a:rPr>
              <a:t>  edit 1</a:t>
            </a:r>
          </a:p>
          <a:p>
            <a:r>
              <a:rPr lang="en-CA" sz="1400" dirty="0">
                <a:latin typeface="Courier New" panose="02070309020205020404" pitchFamily="49" charset="0"/>
                <a:cs typeface="Courier New" panose="02070309020205020404" pitchFamily="49" charset="0"/>
              </a:rPr>
              <a:t>    set name “</a:t>
            </a:r>
            <a:r>
              <a:rPr lang="en-CA" sz="1400" dirty="0" err="1">
                <a:latin typeface="Courier New" panose="02070309020205020404" pitchFamily="49" charset="0"/>
                <a:cs typeface="Courier New" panose="02070309020205020404" pitchFamily="49" charset="0"/>
              </a:rPr>
              <a:t>Full_Access</a:t>
            </a:r>
            <a:r>
              <a:rPr lang="en-CA" sz="1400" dirty="0">
                <a:latin typeface="Courier New" panose="02070309020205020404" pitchFamily="49" charset="0"/>
                <a:cs typeface="Courier New" panose="02070309020205020404" pitchFamily="49" charset="0"/>
              </a:rPr>
              <a:t>"</a:t>
            </a:r>
          </a:p>
          <a:p>
            <a:r>
              <a:rPr lang="en-CA" sz="1400" dirty="0">
                <a:latin typeface="Courier New" panose="02070309020205020404" pitchFamily="49" charset="0"/>
                <a:cs typeface="Courier New" panose="02070309020205020404" pitchFamily="49" charset="0"/>
              </a:rPr>
              <a:t>...</a:t>
            </a:r>
          </a:p>
          <a:p>
            <a:r>
              <a:rPr lang="en-CA" sz="1400" dirty="0">
                <a:latin typeface="Courier New" panose="02070309020205020404" pitchFamily="49" charset="0"/>
                <a:cs typeface="Courier New" panose="02070309020205020404" pitchFamily="49" charset="0"/>
              </a:rPr>
              <a:t>next</a:t>
            </a:r>
          </a:p>
          <a:p>
            <a:r>
              <a:rPr lang="en-CA" sz="1400" dirty="0">
                <a:latin typeface="Courier New" panose="02070309020205020404" pitchFamily="49" charset="0"/>
                <a:cs typeface="Courier New" panose="02070309020205020404" pitchFamily="49" charset="0"/>
              </a:rPr>
              <a:t>  edit 2</a:t>
            </a:r>
          </a:p>
          <a:p>
            <a:r>
              <a:rPr lang="en-CA" sz="1400" dirty="0">
                <a:latin typeface="Courier New" panose="02070309020205020404" pitchFamily="49" charset="0"/>
                <a:cs typeface="Courier New" panose="02070309020205020404" pitchFamily="49" charset="0"/>
              </a:rPr>
              <a:t>     set name "Block_FTP"</a:t>
            </a:r>
          </a:p>
        </p:txBody>
      </p:sp>
      <p:sp>
        <p:nvSpPr>
          <p:cNvPr id="30" name="TextBox 29"/>
          <p:cNvSpPr txBox="1"/>
          <p:nvPr/>
        </p:nvSpPr>
        <p:spPr>
          <a:xfrm>
            <a:off x="8280764" y="4821467"/>
            <a:ext cx="3084499" cy="1600438"/>
          </a:xfrm>
          <a:prstGeom prst="rect">
            <a:avLst/>
          </a:prstGeom>
          <a:solidFill>
            <a:schemeClr val="bg1"/>
          </a:solidFill>
          <a:ln>
            <a:solidFill>
              <a:schemeClr val="tx1"/>
            </a:solidFill>
          </a:ln>
          <a:effectLst/>
        </p:spPr>
        <p:txBody>
          <a:bodyPr wrap="none" rtlCol="0">
            <a:spAutoFit/>
          </a:bodyPr>
          <a:lstStyle/>
          <a:p>
            <a:r>
              <a:rPr lang="en-CA" sz="1400" dirty="0">
                <a:latin typeface="Courier New" panose="02070309020205020404" pitchFamily="49" charset="0"/>
                <a:cs typeface="Courier New" panose="02070309020205020404" pitchFamily="49" charset="0"/>
              </a:rPr>
              <a:t>config firewall policy</a:t>
            </a:r>
          </a:p>
          <a:p>
            <a:r>
              <a:rPr lang="en-CA" sz="1400" dirty="0">
                <a:latin typeface="Courier New" panose="02070309020205020404" pitchFamily="49" charset="0"/>
                <a:cs typeface="Courier New" panose="02070309020205020404" pitchFamily="49" charset="0"/>
              </a:rPr>
              <a:t>  edit 2</a:t>
            </a:r>
          </a:p>
          <a:p>
            <a:r>
              <a:rPr lang="en-CA" sz="1400" dirty="0">
                <a:latin typeface="Courier New" panose="02070309020205020404" pitchFamily="49" charset="0"/>
                <a:cs typeface="Courier New" panose="02070309020205020404" pitchFamily="49" charset="0"/>
              </a:rPr>
              <a:t>    set name "Block_FTP"</a:t>
            </a:r>
          </a:p>
          <a:p>
            <a:r>
              <a:rPr lang="en-CA" sz="1400" dirty="0">
                <a:latin typeface="Courier New" panose="02070309020205020404" pitchFamily="49" charset="0"/>
                <a:cs typeface="Courier New" panose="02070309020205020404" pitchFamily="49" charset="0"/>
              </a:rPr>
              <a:t>...</a:t>
            </a:r>
          </a:p>
          <a:p>
            <a:r>
              <a:rPr lang="en-CA" sz="1400" dirty="0">
                <a:latin typeface="Courier New" panose="02070309020205020404" pitchFamily="49" charset="0"/>
                <a:cs typeface="Courier New" panose="02070309020205020404" pitchFamily="49" charset="0"/>
              </a:rPr>
              <a:t>next</a:t>
            </a:r>
          </a:p>
          <a:p>
            <a:r>
              <a:rPr lang="en-CA" sz="1400" dirty="0">
                <a:latin typeface="Courier New" panose="02070309020205020404" pitchFamily="49" charset="0"/>
                <a:cs typeface="Courier New" panose="02070309020205020404" pitchFamily="49" charset="0"/>
              </a:rPr>
              <a:t>  edit 1</a:t>
            </a:r>
          </a:p>
          <a:p>
            <a:r>
              <a:rPr lang="en-CA" sz="1400" dirty="0">
                <a:latin typeface="Courier New" panose="02070309020205020404" pitchFamily="49" charset="0"/>
                <a:cs typeface="Courier New" panose="02070309020205020404" pitchFamily="49" charset="0"/>
              </a:rPr>
              <a:t>    set name " </a:t>
            </a:r>
            <a:r>
              <a:rPr lang="en-CA" sz="1400" dirty="0" err="1">
                <a:latin typeface="Courier New" panose="02070309020205020404" pitchFamily="49" charset="0"/>
                <a:cs typeface="Courier New" panose="02070309020205020404" pitchFamily="49" charset="0"/>
              </a:rPr>
              <a:t>Full_Access</a:t>
            </a:r>
            <a:r>
              <a:rPr lang="en-CA" sz="1400" dirty="0">
                <a:latin typeface="Courier New" panose="02070309020205020404" pitchFamily="49" charset="0"/>
                <a:cs typeface="Courier New" panose="02070309020205020404" pitchFamily="49" charset="0"/>
              </a:rPr>
              <a:t>"</a:t>
            </a:r>
          </a:p>
        </p:txBody>
      </p:sp>
      <p:sp>
        <p:nvSpPr>
          <p:cNvPr id="2" name="Title 1"/>
          <p:cNvSpPr>
            <a:spLocks noGrp="1"/>
          </p:cNvSpPr>
          <p:nvPr>
            <p:ph type="title"/>
          </p:nvPr>
        </p:nvSpPr>
        <p:spPr/>
        <p:txBody>
          <a:bodyPr/>
          <a:lstStyle/>
          <a:p>
            <a:r>
              <a:rPr lang="en-US" dirty="0"/>
              <a:t>Adjusting Policy Order</a:t>
            </a:r>
            <a:endParaRPr lang="en-CA" dirty="0"/>
          </a:p>
        </p:txBody>
      </p:sp>
      <p:sp>
        <p:nvSpPr>
          <p:cNvPr id="3" name="Content Placeholder 2"/>
          <p:cNvSpPr>
            <a:spLocks noGrp="1"/>
          </p:cNvSpPr>
          <p:nvPr>
            <p:ph idx="1"/>
          </p:nvPr>
        </p:nvSpPr>
        <p:spPr/>
        <p:txBody>
          <a:bodyPr/>
          <a:lstStyle/>
          <a:p>
            <a:r>
              <a:rPr lang="en-US" sz="2000" dirty="0"/>
              <a:t>On the GUI, drag-and-drop </a:t>
            </a:r>
            <a:endParaRPr lang="en-US" sz="2000" b="1" dirty="0"/>
          </a:p>
          <a:p>
            <a:endParaRPr lang="en-US" dirty="0"/>
          </a:p>
          <a:p>
            <a:endParaRPr lang="en-CA" dirty="0"/>
          </a:p>
        </p:txBody>
      </p:sp>
      <p:sp>
        <p:nvSpPr>
          <p:cNvPr id="19" name="Rectangle 18"/>
          <p:cNvSpPr/>
          <p:nvPr/>
        </p:nvSpPr>
        <p:spPr bwMode="auto">
          <a:xfrm>
            <a:off x="2287777" y="5807212"/>
            <a:ext cx="189170" cy="253092"/>
          </a:xfrm>
          <a:prstGeom prst="rect">
            <a:avLst/>
          </a:prstGeom>
          <a:noFill/>
          <a:ln w="38100" cap="flat" cmpd="sng" algn="ctr">
            <a:solidFill>
              <a:srgbClr val="FF0000"/>
            </a:solidFill>
            <a:prstDash val="solid"/>
            <a:round/>
            <a:headEnd type="none" w="med" len="med"/>
            <a:tailEnd type="none" w="med" len="med"/>
          </a:ln>
          <a:effectLst/>
        </p:spPr>
        <p:txBody>
          <a:bodyPr rtlCol="0" anchor="ctr"/>
          <a:lstStyle/>
          <a:p>
            <a:pPr algn="ctr"/>
            <a:endParaRPr lang="en-CA" dirty="0"/>
          </a:p>
        </p:txBody>
      </p:sp>
      <p:sp>
        <p:nvSpPr>
          <p:cNvPr id="24" name="Rectangle 23"/>
          <p:cNvSpPr/>
          <p:nvPr/>
        </p:nvSpPr>
        <p:spPr bwMode="auto">
          <a:xfrm>
            <a:off x="1562809" y="1864415"/>
            <a:ext cx="2080150" cy="339249"/>
          </a:xfrm>
          <a:prstGeom prst="rect">
            <a:avLst/>
          </a:prstGeom>
          <a:solidFill>
            <a:srgbClr val="00B0F0"/>
          </a:solidFill>
          <a:ln w="38100"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20000"/>
              </a:spcBef>
              <a:spcAft>
                <a:spcPct val="0"/>
              </a:spcAft>
              <a:buClr>
                <a:schemeClr val="accent1"/>
              </a:buClr>
              <a:buSzPct val="90000"/>
              <a:buFont typeface="Wingdings" charset="2"/>
              <a:buNone/>
              <a:tabLst/>
            </a:pPr>
            <a:r>
              <a:rPr lang="en-CA" dirty="0"/>
              <a:t>Before policy move</a:t>
            </a:r>
            <a:endParaRPr kumimoji="0" lang="en-CA" u="none" strike="noStrike" cap="none" normalizeH="0" baseline="0" dirty="0">
              <a:ln>
                <a:noFill/>
              </a:ln>
              <a:effectLst/>
            </a:endParaRPr>
          </a:p>
        </p:txBody>
      </p:sp>
      <p:sp>
        <p:nvSpPr>
          <p:cNvPr id="28" name="Rectangle 27"/>
          <p:cNvSpPr/>
          <p:nvPr/>
        </p:nvSpPr>
        <p:spPr bwMode="auto">
          <a:xfrm>
            <a:off x="8335701" y="1832435"/>
            <a:ext cx="2080150" cy="371229"/>
          </a:xfrm>
          <a:prstGeom prst="rect">
            <a:avLst/>
          </a:prstGeom>
          <a:solidFill>
            <a:srgbClr val="00B0F0"/>
          </a:solidFill>
          <a:ln w="38100"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20000"/>
              </a:spcBef>
              <a:spcAft>
                <a:spcPct val="0"/>
              </a:spcAft>
              <a:buClr>
                <a:schemeClr val="accent1"/>
              </a:buClr>
              <a:buSzPct val="90000"/>
              <a:buFont typeface="Wingdings" charset="2"/>
              <a:buNone/>
              <a:tabLst/>
            </a:pPr>
            <a:r>
              <a:rPr lang="en-CA" dirty="0"/>
              <a:t>After policy move</a:t>
            </a:r>
            <a:endParaRPr kumimoji="0" lang="en-CA" u="none" strike="noStrike" cap="none" normalizeH="0" baseline="0" dirty="0">
              <a:ln>
                <a:noFill/>
              </a:ln>
              <a:effectLst/>
            </a:endParaRPr>
          </a:p>
        </p:txBody>
      </p:sp>
      <p:grpSp>
        <p:nvGrpSpPr>
          <p:cNvPr id="7" name="Group 6"/>
          <p:cNvGrpSpPr/>
          <p:nvPr/>
        </p:nvGrpSpPr>
        <p:grpSpPr>
          <a:xfrm>
            <a:off x="4786468" y="4498070"/>
            <a:ext cx="1413997" cy="420903"/>
            <a:chOff x="4463868" y="4929186"/>
            <a:chExt cx="1413997" cy="420903"/>
          </a:xfrm>
          <a:solidFill>
            <a:srgbClr val="00B0F0"/>
          </a:solidFill>
        </p:grpSpPr>
        <p:sp>
          <p:nvSpPr>
            <p:cNvPr id="26" name="Rounded Rectangular Callout 25"/>
            <p:cNvSpPr/>
            <p:nvPr/>
          </p:nvSpPr>
          <p:spPr bwMode="auto">
            <a:xfrm>
              <a:off x="4877907" y="5020417"/>
              <a:ext cx="641553" cy="279401"/>
            </a:xfrm>
            <a:prstGeom prst="wedgeRoundRectCallout">
              <a:avLst>
                <a:gd name="adj1" fmla="val 558371"/>
                <a:gd name="adj2" fmla="val 147191"/>
                <a:gd name="adj3" fmla="val 16667"/>
              </a:avLst>
            </a:prstGeom>
            <a:grpFill/>
            <a:ln w="19050" cap="flat" cmpd="sng" algn="ctr">
              <a:solidFill>
                <a:srgbClr val="00B0F0"/>
              </a:solid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14400" eaLnBrk="0" fontAlgn="base" hangingPunct="0">
                <a:spcBef>
                  <a:spcPct val="20000"/>
                </a:spcBef>
                <a:spcAft>
                  <a:spcPct val="0"/>
                </a:spcAft>
                <a:buClr>
                  <a:schemeClr val="accent1"/>
                </a:buClr>
                <a:buSzPct val="90000"/>
              </a:pPr>
              <a:endParaRPr lang="en-CA" sz="1400" dirty="0"/>
            </a:p>
          </p:txBody>
        </p:sp>
        <p:sp>
          <p:nvSpPr>
            <p:cNvPr id="33" name="Rounded Rectangular Callout 32"/>
            <p:cNvSpPr/>
            <p:nvPr/>
          </p:nvSpPr>
          <p:spPr bwMode="auto">
            <a:xfrm>
              <a:off x="5170867" y="5070688"/>
              <a:ext cx="641553" cy="279401"/>
            </a:xfrm>
            <a:prstGeom prst="wedgeRoundRectCallout">
              <a:avLst>
                <a:gd name="adj1" fmla="val -517736"/>
                <a:gd name="adj2" fmla="val 404770"/>
                <a:gd name="adj3" fmla="val 16667"/>
              </a:avLst>
            </a:prstGeom>
            <a:grpFill/>
            <a:ln w="19050" cap="flat" cmpd="sng" algn="ctr">
              <a:solidFill>
                <a:srgbClr val="00B0F0"/>
              </a:solid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14400" eaLnBrk="0" fontAlgn="base" hangingPunct="0">
                <a:spcBef>
                  <a:spcPct val="20000"/>
                </a:spcBef>
                <a:spcAft>
                  <a:spcPct val="0"/>
                </a:spcAft>
                <a:buClr>
                  <a:schemeClr val="accent1"/>
                </a:buClr>
                <a:buSzPct val="90000"/>
              </a:pPr>
              <a:endParaRPr lang="en-CA" sz="1400" dirty="0"/>
            </a:p>
          </p:txBody>
        </p:sp>
        <p:sp>
          <p:nvSpPr>
            <p:cNvPr id="31" name="Rounded Rectangular Callout 30"/>
            <p:cNvSpPr/>
            <p:nvPr/>
          </p:nvSpPr>
          <p:spPr bwMode="auto">
            <a:xfrm>
              <a:off x="4463868" y="4929186"/>
              <a:ext cx="1413997" cy="414909"/>
            </a:xfrm>
            <a:prstGeom prst="wedgeRoundRectCallout">
              <a:avLst>
                <a:gd name="adj1" fmla="val -356830"/>
                <a:gd name="adj2" fmla="val -272879"/>
                <a:gd name="adj3" fmla="val 16667"/>
              </a:avLst>
            </a:prstGeom>
            <a:solidFill>
              <a:srgbClr val="00B0F0"/>
            </a:solidFill>
            <a:ln w="19050" cap="flat" cmpd="sng" algn="ctr">
              <a:solidFill>
                <a:srgbClr val="00B0F0"/>
              </a:solid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14400" eaLnBrk="0" fontAlgn="base" hangingPunct="0">
                <a:spcBef>
                  <a:spcPct val="20000"/>
                </a:spcBef>
                <a:spcAft>
                  <a:spcPct val="0"/>
                </a:spcAft>
                <a:buClr>
                  <a:schemeClr val="accent1"/>
                </a:buClr>
                <a:buSzPct val="90000"/>
              </a:pPr>
              <a:r>
                <a:rPr lang="en-CA" sz="1400" dirty="0"/>
                <a:t>ID remains same</a:t>
              </a:r>
            </a:p>
          </p:txBody>
        </p:sp>
      </p:grpSp>
      <p:sp>
        <p:nvSpPr>
          <p:cNvPr id="38" name="Rectangle 37"/>
          <p:cNvSpPr/>
          <p:nvPr/>
        </p:nvSpPr>
        <p:spPr bwMode="auto">
          <a:xfrm>
            <a:off x="9071349" y="5072921"/>
            <a:ext cx="189170" cy="253092"/>
          </a:xfrm>
          <a:prstGeom prst="rect">
            <a:avLst/>
          </a:prstGeom>
          <a:noFill/>
          <a:ln w="38100" cap="flat" cmpd="sng" algn="ctr">
            <a:solidFill>
              <a:srgbClr val="FF0000"/>
            </a:solidFill>
            <a:prstDash val="solid"/>
            <a:round/>
            <a:headEnd type="none" w="med" len="med"/>
            <a:tailEnd type="none" w="med" len="med"/>
          </a:ln>
          <a:effectLst/>
        </p:spPr>
        <p:txBody>
          <a:bodyPr rtlCol="0" anchor="ctr"/>
          <a:lstStyle/>
          <a:p>
            <a:pPr algn="ctr"/>
            <a:endParaRPr lang="en-CA" dirty="0"/>
          </a:p>
        </p:txBody>
      </p:sp>
      <p:sp>
        <p:nvSpPr>
          <p:cNvPr id="39" name="Rectangle 38"/>
          <p:cNvSpPr/>
          <p:nvPr/>
        </p:nvSpPr>
        <p:spPr bwMode="auto">
          <a:xfrm>
            <a:off x="196145" y="3359690"/>
            <a:ext cx="189170" cy="253092"/>
          </a:xfrm>
          <a:prstGeom prst="rect">
            <a:avLst/>
          </a:prstGeom>
          <a:noFill/>
          <a:ln w="38100" cap="flat" cmpd="sng" algn="ctr">
            <a:solidFill>
              <a:srgbClr val="FF0000"/>
            </a:solidFill>
            <a:prstDash val="solid"/>
            <a:round/>
            <a:headEnd type="none" w="med" len="med"/>
            <a:tailEnd type="none" w="med" len="med"/>
          </a:ln>
          <a:effectLst/>
        </p:spPr>
        <p:txBody>
          <a:bodyPr rtlCol="0" anchor="ctr"/>
          <a:lstStyle/>
          <a:p>
            <a:pPr algn="ctr"/>
            <a:endParaRPr lang="en-CA" dirty="0"/>
          </a:p>
        </p:txBody>
      </p:sp>
      <p:pic>
        <p:nvPicPr>
          <p:cNvPr id="5" name="Picture 4"/>
          <p:cNvPicPr>
            <a:picLocks noChangeAspect="1"/>
          </p:cNvPicPr>
          <p:nvPr/>
        </p:nvPicPr>
        <p:blipFill>
          <a:blip r:embed="rId8"/>
          <a:stretch>
            <a:fillRect/>
          </a:stretch>
        </p:blipFill>
        <p:spPr>
          <a:xfrm>
            <a:off x="152620" y="2722947"/>
            <a:ext cx="5689440" cy="337091"/>
          </a:xfrm>
          <a:prstGeom prst="rect">
            <a:avLst/>
          </a:prstGeom>
        </p:spPr>
      </p:pic>
      <p:pic>
        <p:nvPicPr>
          <p:cNvPr id="21" name="Picture 20"/>
          <p:cNvPicPr>
            <a:picLocks noChangeAspect="1"/>
          </p:cNvPicPr>
          <p:nvPr/>
        </p:nvPicPr>
        <p:blipFill>
          <a:blip r:embed="rId8"/>
          <a:stretch>
            <a:fillRect/>
          </a:stretch>
        </p:blipFill>
        <p:spPr>
          <a:xfrm>
            <a:off x="6200464" y="2701970"/>
            <a:ext cx="5881367" cy="348462"/>
          </a:xfrm>
          <a:prstGeom prst="rect">
            <a:avLst/>
          </a:prstGeom>
        </p:spPr>
      </p:pic>
      <p:sp>
        <p:nvSpPr>
          <p:cNvPr id="40" name="Rectangle 39"/>
          <p:cNvSpPr/>
          <p:nvPr/>
        </p:nvSpPr>
        <p:spPr bwMode="auto">
          <a:xfrm>
            <a:off x="6259965" y="3052573"/>
            <a:ext cx="189170" cy="253092"/>
          </a:xfrm>
          <a:prstGeom prst="rect">
            <a:avLst/>
          </a:prstGeom>
          <a:noFill/>
          <a:ln w="38100" cap="flat" cmpd="sng" algn="ctr">
            <a:solidFill>
              <a:srgbClr val="FF0000"/>
            </a:solidFill>
            <a:prstDash val="solid"/>
            <a:round/>
            <a:headEnd type="none" w="med" len="med"/>
            <a:tailEnd type="none" w="med" len="med"/>
          </a:ln>
          <a:effectLst/>
        </p:spPr>
        <p:txBody>
          <a:bodyPr rtlCol="0" anchor="ctr"/>
          <a:lstStyle/>
          <a:p>
            <a:pPr algn="ctr"/>
            <a:endParaRPr lang="en-CA" dirty="0"/>
          </a:p>
        </p:txBody>
      </p:sp>
    </p:spTree>
    <p:custDataLst>
      <p:tags r:id="rId1"/>
    </p:custDataLst>
    <p:extLst>
      <p:ext uri="{BB962C8B-B14F-4D97-AF65-F5344CB8AC3E}">
        <p14:creationId xmlns:p14="http://schemas.microsoft.com/office/powerpoint/2010/main" val="3410190599"/>
      </p:ext>
    </p:extLst>
  </p:cSld>
  <p:clrMapOvr>
    <a:masterClrMapping/>
  </p:clrMapOvr>
  <p:transition spd="slow">
    <p:wip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2"/>
          <p:cNvPicPr>
            <a:picLocks noChangeAspect="1" noChangeArrowheads="1"/>
          </p:cNvPicPr>
          <p:nvPr/>
        </p:nvPicPr>
        <p:blipFill>
          <a:blip r:embed="rId4">
            <a:extLst>
              <a:ext uri="{BEBA8EAE-BF5A-486C-A8C5-ECC9F3942E4B}">
                <a14:imgProps xmlns:a14="http://schemas.microsoft.com/office/drawing/2010/main">
                  <a14:imgLayer r:embed="rId5">
                    <a14:imgEffect>
                      <a14:saturation sat="66000"/>
                    </a14:imgEffect>
                  </a14:imgLayer>
                </a14:imgProps>
              </a:ext>
              <a:ext uri="{28A0092B-C50C-407E-A947-70E740481C1C}">
                <a14:useLocalDpi xmlns:a14="http://schemas.microsoft.com/office/drawing/2010/main" val="0"/>
              </a:ext>
            </a:extLst>
          </a:blip>
          <a:srcRect/>
          <a:stretch>
            <a:fillRect/>
          </a:stretch>
        </p:blipFill>
        <p:spPr bwMode="auto">
          <a:xfrm>
            <a:off x="993759" y="4202334"/>
            <a:ext cx="9409112" cy="2038350"/>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
        <p:nvSpPr>
          <p:cNvPr id="2" name="Title 1"/>
          <p:cNvSpPr>
            <a:spLocks noGrp="1"/>
          </p:cNvSpPr>
          <p:nvPr>
            <p:ph type="title"/>
          </p:nvPr>
        </p:nvSpPr>
        <p:spPr/>
        <p:txBody>
          <a:bodyPr/>
          <a:lstStyle/>
          <a:p>
            <a:r>
              <a:rPr lang="en-CA" dirty="0"/>
              <a:t>Combining Firewall Policies</a:t>
            </a:r>
          </a:p>
        </p:txBody>
      </p:sp>
      <p:sp>
        <p:nvSpPr>
          <p:cNvPr id="3" name="Content Placeholder 2"/>
          <p:cNvSpPr>
            <a:spLocks noGrp="1"/>
          </p:cNvSpPr>
          <p:nvPr>
            <p:ph idx="1"/>
          </p:nvPr>
        </p:nvSpPr>
        <p:spPr/>
        <p:txBody>
          <a:bodyPr/>
          <a:lstStyle/>
          <a:p>
            <a:r>
              <a:rPr lang="en-CA"/>
              <a:t>Check the settings before combining firewall policies</a:t>
            </a:r>
          </a:p>
          <a:p>
            <a:pPr lvl="1"/>
            <a:r>
              <a:rPr lang="en-CA"/>
              <a:t>Source and destination interfaces</a:t>
            </a:r>
          </a:p>
          <a:p>
            <a:pPr lvl="1"/>
            <a:r>
              <a:rPr lang="en-CA"/>
              <a:t>Source and destination addresses</a:t>
            </a:r>
          </a:p>
          <a:p>
            <a:pPr lvl="1"/>
            <a:r>
              <a:rPr lang="en-CA"/>
              <a:t>Services</a:t>
            </a:r>
          </a:p>
          <a:p>
            <a:pPr lvl="1"/>
            <a:r>
              <a:rPr lang="en-CA"/>
              <a:t>Schedules</a:t>
            </a:r>
          </a:p>
          <a:p>
            <a:pPr lvl="1"/>
            <a:r>
              <a:rPr lang="en-CA"/>
              <a:t>Security profiles</a:t>
            </a:r>
          </a:p>
          <a:p>
            <a:pPr lvl="1"/>
            <a:r>
              <a:rPr lang="en-CA"/>
              <a:t>Logging </a:t>
            </a:r>
          </a:p>
          <a:p>
            <a:pPr lvl="1"/>
            <a:r>
              <a:rPr lang="en-CA"/>
              <a:t>NAT rules</a:t>
            </a:r>
            <a:endParaRPr lang="en-CA" dirty="0"/>
          </a:p>
        </p:txBody>
      </p:sp>
      <p:sp>
        <p:nvSpPr>
          <p:cNvPr id="10" name="TextBox 9"/>
          <p:cNvSpPr txBox="1"/>
          <p:nvPr/>
        </p:nvSpPr>
        <p:spPr>
          <a:xfrm>
            <a:off x="993759" y="3785353"/>
            <a:ext cx="3469219" cy="338554"/>
          </a:xfrm>
          <a:prstGeom prst="rect">
            <a:avLst/>
          </a:prstGeom>
          <a:solidFill>
            <a:srgbClr val="00B0F0"/>
          </a:solidFill>
        </p:spPr>
        <p:txBody>
          <a:bodyPr wrap="none" rtlCol="0">
            <a:spAutoFit/>
          </a:bodyPr>
          <a:lstStyle/>
          <a:p>
            <a:r>
              <a:rPr lang="en-CA" sz="1600" b="1" dirty="0"/>
              <a:t>Policy &amp; Objects </a:t>
            </a:r>
            <a:r>
              <a:rPr lang="en-CA" sz="1600" dirty="0"/>
              <a:t>&gt; </a:t>
            </a:r>
            <a:r>
              <a:rPr lang="en-CA" sz="1600" b="1" dirty="0"/>
              <a:t>Firewall Policy</a:t>
            </a:r>
          </a:p>
        </p:txBody>
      </p:sp>
      <p:sp>
        <p:nvSpPr>
          <p:cNvPr id="4" name="Rectangle 3"/>
          <p:cNvSpPr/>
          <p:nvPr/>
        </p:nvSpPr>
        <p:spPr bwMode="invGray">
          <a:xfrm>
            <a:off x="4983425" y="4945279"/>
            <a:ext cx="1257451" cy="1283682"/>
          </a:xfrm>
          <a:prstGeom prst="rect">
            <a:avLst/>
          </a:prstGeom>
          <a:noFill/>
          <a:ln w="38100">
            <a:solidFill>
              <a:srgbClr val="FF0000"/>
            </a:solidFill>
            <a:round/>
            <a:headEnd/>
            <a:tailE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A" dirty="0"/>
          </a:p>
        </p:txBody>
      </p:sp>
      <p:sp>
        <p:nvSpPr>
          <p:cNvPr id="9" name="Rectangle 8"/>
          <p:cNvSpPr/>
          <p:nvPr/>
        </p:nvSpPr>
        <p:spPr bwMode="invGray">
          <a:xfrm>
            <a:off x="9707628" y="5925701"/>
            <a:ext cx="690220" cy="314983"/>
          </a:xfrm>
          <a:prstGeom prst="rect">
            <a:avLst/>
          </a:prstGeom>
          <a:noFill/>
          <a:ln w="38100">
            <a:solidFill>
              <a:srgbClr val="FF0000"/>
            </a:solidFill>
            <a:round/>
            <a:headEnd/>
            <a:tailE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A" dirty="0"/>
          </a:p>
        </p:txBody>
      </p:sp>
      <p:sp>
        <p:nvSpPr>
          <p:cNvPr id="7" name="Rectangle 6"/>
          <p:cNvSpPr/>
          <p:nvPr/>
        </p:nvSpPr>
        <p:spPr bwMode="invGray">
          <a:xfrm>
            <a:off x="9707628" y="4957002"/>
            <a:ext cx="695243" cy="341416"/>
          </a:xfrm>
          <a:prstGeom prst="rect">
            <a:avLst/>
          </a:prstGeom>
          <a:noFill/>
          <a:ln w="38100">
            <a:solidFill>
              <a:srgbClr val="FF0000"/>
            </a:solidFill>
            <a:round/>
            <a:headEnd/>
            <a:tailE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A" dirty="0"/>
          </a:p>
        </p:txBody>
      </p:sp>
      <p:pic>
        <p:nvPicPr>
          <p:cNvPr id="8" name="Picture 7"/>
          <p:cNvPicPr>
            <a:picLocks noChangeAspect="1"/>
          </p:cNvPicPr>
          <p:nvPr/>
        </p:nvPicPr>
        <p:blipFill>
          <a:blip r:embed="rId6"/>
          <a:stretch>
            <a:fillRect/>
          </a:stretch>
        </p:blipFill>
        <p:spPr>
          <a:xfrm>
            <a:off x="993759" y="4572000"/>
            <a:ext cx="9404089" cy="347235"/>
          </a:xfrm>
          <a:prstGeom prst="rect">
            <a:avLst/>
          </a:prstGeom>
        </p:spPr>
      </p:pic>
      <p:sp>
        <p:nvSpPr>
          <p:cNvPr id="6" name="Rounded Rectangular Callout 5"/>
          <p:cNvSpPr/>
          <p:nvPr/>
        </p:nvSpPr>
        <p:spPr bwMode="auto">
          <a:xfrm>
            <a:off x="8539386" y="2896596"/>
            <a:ext cx="3192483" cy="558802"/>
          </a:xfrm>
          <a:prstGeom prst="wedgeRoundRectCallout">
            <a:avLst>
              <a:gd name="adj1" fmla="val 2724"/>
              <a:gd name="adj2" fmla="val 304599"/>
              <a:gd name="adj3" fmla="val 16667"/>
            </a:avLst>
          </a:prstGeom>
          <a:solidFill>
            <a:srgbClr val="00B0F0"/>
          </a:solidFill>
          <a:ln w="19050"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14400" eaLnBrk="0" fontAlgn="base" hangingPunct="0">
              <a:spcBef>
                <a:spcPct val="20000"/>
              </a:spcBef>
              <a:spcAft>
                <a:spcPct val="0"/>
              </a:spcAft>
              <a:buClr>
                <a:schemeClr val="accent1"/>
              </a:buClr>
              <a:buSzPct val="90000"/>
            </a:pPr>
            <a:r>
              <a:rPr lang="en-CA" sz="1400" dirty="0"/>
              <a:t>Make decisions for logging settings when combining Policy ID 1 and 2 </a:t>
            </a:r>
            <a:endParaRPr kumimoji="0" lang="en-CA" sz="1400" b="0" i="0" u="none" strike="noStrike" cap="none" normalizeH="0" baseline="0" dirty="0">
              <a:ln>
                <a:noFill/>
              </a:ln>
              <a:effectLst/>
            </a:endParaRPr>
          </a:p>
        </p:txBody>
      </p:sp>
      <p:sp>
        <p:nvSpPr>
          <p:cNvPr id="5" name="Rounded Rectangular Callout 4"/>
          <p:cNvSpPr/>
          <p:nvPr/>
        </p:nvSpPr>
        <p:spPr bwMode="auto">
          <a:xfrm>
            <a:off x="4922411" y="2918245"/>
            <a:ext cx="2683822" cy="558802"/>
          </a:xfrm>
          <a:prstGeom prst="wedgeRoundRectCallout">
            <a:avLst>
              <a:gd name="adj1" fmla="val -10262"/>
              <a:gd name="adj2" fmla="val 310072"/>
              <a:gd name="adj3" fmla="val 16667"/>
            </a:avLst>
          </a:prstGeom>
          <a:solidFill>
            <a:srgbClr val="00B0F0"/>
          </a:solidFill>
          <a:ln w="19050"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20000"/>
              </a:spcBef>
              <a:spcAft>
                <a:spcPct val="0"/>
              </a:spcAft>
              <a:buClr>
                <a:schemeClr val="accent1"/>
              </a:buClr>
              <a:buSzPct val="90000"/>
              <a:buFont typeface="Wingdings" charset="2"/>
              <a:buNone/>
              <a:tabLst/>
            </a:pPr>
            <a:r>
              <a:rPr lang="en-CA" sz="1400" dirty="0"/>
              <a:t>Can combine Policy ID 1 and 2  by combining services</a:t>
            </a:r>
            <a:endParaRPr kumimoji="0" lang="en-CA" sz="1400" b="0" i="0" u="none" strike="noStrike" cap="none" normalizeH="0" baseline="0" dirty="0">
              <a:ln>
                <a:noFill/>
              </a:ln>
              <a:effectLst/>
            </a:endParaRPr>
          </a:p>
        </p:txBody>
      </p:sp>
    </p:spTree>
    <p:custDataLst>
      <p:tags r:id="rId1"/>
    </p:custDataLst>
    <p:extLst>
      <p:ext uri="{BB962C8B-B14F-4D97-AF65-F5344CB8AC3E}">
        <p14:creationId xmlns:p14="http://schemas.microsoft.com/office/powerpoint/2010/main" val="3349214659"/>
      </p:ext>
    </p:extLst>
  </p:cSld>
  <p:clrMapOvr>
    <a:masterClrMapping/>
  </p:clrMapOvr>
  <p:transition spd="slow">
    <p:wip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Policy Lookup (GUI)</a:t>
            </a:r>
          </a:p>
        </p:txBody>
      </p:sp>
      <p:sp>
        <p:nvSpPr>
          <p:cNvPr id="3" name="Content Placeholder 2"/>
          <p:cNvSpPr>
            <a:spLocks noGrp="1"/>
          </p:cNvSpPr>
          <p:nvPr>
            <p:ph idx="1"/>
          </p:nvPr>
        </p:nvSpPr>
        <p:spPr/>
        <p:txBody>
          <a:bodyPr/>
          <a:lstStyle/>
          <a:p>
            <a:r>
              <a:rPr lang="en-CA"/>
              <a:t>Identify matching policy without real traffic</a:t>
            </a:r>
          </a:p>
          <a:p>
            <a:pPr lvl="1"/>
            <a:r>
              <a:rPr lang="en-CA"/>
              <a:t>Does not generate any packets</a:t>
            </a:r>
          </a:p>
          <a:p>
            <a:r>
              <a:rPr lang="en-CA"/>
              <a:t>Searches matching policy based on input criteria</a:t>
            </a:r>
          </a:p>
          <a:p>
            <a:pPr lvl="1"/>
            <a:r>
              <a:rPr lang="en-CA"/>
              <a:t>Source interface</a:t>
            </a:r>
          </a:p>
          <a:p>
            <a:pPr lvl="1"/>
            <a:r>
              <a:rPr lang="en-CA"/>
              <a:t>Protocol</a:t>
            </a:r>
          </a:p>
          <a:p>
            <a:pPr lvl="2"/>
            <a:r>
              <a:rPr lang="en-CA"/>
              <a:t>Requires more granular input criteria</a:t>
            </a:r>
          </a:p>
          <a:p>
            <a:pPr lvl="1"/>
            <a:r>
              <a:rPr lang="en-CA"/>
              <a:t>Source IP address</a:t>
            </a:r>
          </a:p>
          <a:p>
            <a:pPr lvl="1"/>
            <a:r>
              <a:rPr lang="en-CA"/>
              <a:t>Destination IP/FQDN</a:t>
            </a:r>
          </a:p>
          <a:p>
            <a:r>
              <a:rPr lang="en-CA"/>
              <a:t> Policy lookup checks</a:t>
            </a:r>
          </a:p>
          <a:p>
            <a:pPr lvl="1"/>
            <a:r>
              <a:rPr lang="en-CA"/>
              <a:t>Reverse path forward (RPF)</a:t>
            </a:r>
          </a:p>
          <a:p>
            <a:pPr lvl="1"/>
            <a:r>
              <a:rPr lang="en-CA"/>
              <a:t>Destination NAT, if matching virtual IP</a:t>
            </a:r>
          </a:p>
          <a:p>
            <a:pPr lvl="1"/>
            <a:r>
              <a:rPr lang="en-CA"/>
              <a:t>Route lookup, to resolve destination interface</a:t>
            </a:r>
          </a:p>
          <a:p>
            <a:endParaRPr lang="en-CA" dirty="0"/>
          </a:p>
        </p:txBody>
      </p:sp>
      <p:pic>
        <p:nvPicPr>
          <p:cNvPr id="7" name="Picture 6"/>
          <p:cNvPicPr>
            <a:picLocks noChangeAspect="1"/>
          </p:cNvPicPr>
          <p:nvPr/>
        </p:nvPicPr>
        <p:blipFill>
          <a:blip r:embed="rId4"/>
          <a:stretch>
            <a:fillRect/>
          </a:stretch>
        </p:blipFill>
        <p:spPr>
          <a:xfrm>
            <a:off x="6521050" y="2630806"/>
            <a:ext cx="4768273" cy="3434732"/>
          </a:xfrm>
          <a:prstGeom prst="rect">
            <a:avLst/>
          </a:prstGeom>
          <a:ln>
            <a:solidFill>
              <a:schemeClr val="tx1"/>
            </a:solidFill>
          </a:ln>
        </p:spPr>
      </p:pic>
      <p:sp>
        <p:nvSpPr>
          <p:cNvPr id="8" name="TextBox 7"/>
          <p:cNvSpPr txBox="1"/>
          <p:nvPr/>
        </p:nvSpPr>
        <p:spPr>
          <a:xfrm>
            <a:off x="6521050" y="2211112"/>
            <a:ext cx="3469219" cy="338554"/>
          </a:xfrm>
          <a:prstGeom prst="rect">
            <a:avLst/>
          </a:prstGeom>
          <a:solidFill>
            <a:srgbClr val="00B0F0"/>
          </a:solidFill>
        </p:spPr>
        <p:txBody>
          <a:bodyPr wrap="none" rtlCol="0">
            <a:spAutoFit/>
          </a:bodyPr>
          <a:lstStyle/>
          <a:p>
            <a:r>
              <a:rPr lang="en-CA" sz="1600" b="1" dirty="0"/>
              <a:t>Policy &amp; Objects </a:t>
            </a:r>
            <a:r>
              <a:rPr lang="en-CA" sz="1600" dirty="0"/>
              <a:t>&gt; </a:t>
            </a:r>
            <a:r>
              <a:rPr lang="en-CA" sz="1600" b="1" dirty="0"/>
              <a:t>Firewall Policy</a:t>
            </a:r>
          </a:p>
        </p:txBody>
      </p:sp>
      <p:sp>
        <p:nvSpPr>
          <p:cNvPr id="9" name="Rectangle 8"/>
          <p:cNvSpPr/>
          <p:nvPr/>
        </p:nvSpPr>
        <p:spPr bwMode="invGray">
          <a:xfrm>
            <a:off x="6521049" y="3248067"/>
            <a:ext cx="4744828" cy="2074210"/>
          </a:xfrm>
          <a:prstGeom prst="rect">
            <a:avLst/>
          </a:prstGeom>
          <a:noFill/>
          <a:ln w="38100">
            <a:solidFill>
              <a:srgbClr val="FF0000"/>
            </a:solidFill>
            <a:round/>
            <a:headEnd/>
            <a:tailE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A" dirty="0"/>
          </a:p>
        </p:txBody>
      </p:sp>
    </p:spTree>
    <p:custDataLst>
      <p:tags r:id="rId1"/>
    </p:custDataLst>
    <p:extLst>
      <p:ext uri="{BB962C8B-B14F-4D97-AF65-F5344CB8AC3E}">
        <p14:creationId xmlns:p14="http://schemas.microsoft.com/office/powerpoint/2010/main" val="60731500"/>
      </p:ext>
    </p:extLst>
  </p:cSld>
  <p:clrMapOvr>
    <a:masterClrMapping/>
  </p:clrMapOvr>
  <p:transition spd="slow">
    <p:wip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Policy Lookup Example (GUI) </a:t>
            </a:r>
          </a:p>
        </p:txBody>
      </p:sp>
      <p:sp>
        <p:nvSpPr>
          <p:cNvPr id="3" name="Content Placeholder 2"/>
          <p:cNvSpPr>
            <a:spLocks noGrp="1"/>
          </p:cNvSpPr>
          <p:nvPr>
            <p:ph idx="1"/>
          </p:nvPr>
        </p:nvSpPr>
        <p:spPr/>
        <p:txBody>
          <a:bodyPr/>
          <a:lstStyle/>
          <a:p>
            <a:r>
              <a:rPr lang="en-CA"/>
              <a:t>Highlights matching policy after search</a:t>
            </a:r>
          </a:p>
          <a:p>
            <a:endParaRPr lang="en-CA" dirty="0"/>
          </a:p>
        </p:txBody>
      </p:sp>
      <p:sp>
        <p:nvSpPr>
          <p:cNvPr id="11" name="TextBox 10"/>
          <p:cNvSpPr txBox="1"/>
          <p:nvPr/>
        </p:nvSpPr>
        <p:spPr>
          <a:xfrm>
            <a:off x="322594" y="1415433"/>
            <a:ext cx="3469219" cy="338554"/>
          </a:xfrm>
          <a:prstGeom prst="rect">
            <a:avLst/>
          </a:prstGeom>
          <a:solidFill>
            <a:srgbClr val="00B0F0"/>
          </a:solidFill>
        </p:spPr>
        <p:txBody>
          <a:bodyPr wrap="none" rtlCol="0">
            <a:spAutoFit/>
          </a:bodyPr>
          <a:lstStyle/>
          <a:p>
            <a:r>
              <a:rPr lang="en-CA" sz="1600" b="1" dirty="0"/>
              <a:t>Policy &amp; Objects </a:t>
            </a:r>
            <a:r>
              <a:rPr lang="en-CA" sz="1600" dirty="0"/>
              <a:t>&gt; </a:t>
            </a:r>
            <a:r>
              <a:rPr lang="en-CA" sz="1600" b="1" dirty="0"/>
              <a:t>Firewall Policy</a:t>
            </a:r>
          </a:p>
        </p:txBody>
      </p:sp>
      <p:pic>
        <p:nvPicPr>
          <p:cNvPr id="4" name="Picture 3"/>
          <p:cNvPicPr>
            <a:picLocks noChangeAspect="1"/>
          </p:cNvPicPr>
          <p:nvPr/>
        </p:nvPicPr>
        <p:blipFill>
          <a:blip r:embed="rId4"/>
          <a:stretch>
            <a:fillRect/>
          </a:stretch>
        </p:blipFill>
        <p:spPr>
          <a:xfrm>
            <a:off x="329946" y="1849448"/>
            <a:ext cx="7680208" cy="1852917"/>
          </a:xfrm>
          <a:prstGeom prst="rect">
            <a:avLst/>
          </a:prstGeom>
          <a:ln>
            <a:solidFill>
              <a:schemeClr val="tx1"/>
            </a:solidFill>
          </a:ln>
        </p:spPr>
      </p:pic>
      <p:sp>
        <p:nvSpPr>
          <p:cNvPr id="7" name="Rectangle 6"/>
          <p:cNvSpPr/>
          <p:nvPr/>
        </p:nvSpPr>
        <p:spPr bwMode="auto">
          <a:xfrm>
            <a:off x="2644262" y="1846000"/>
            <a:ext cx="1170997" cy="281946"/>
          </a:xfrm>
          <a:prstGeom prst="rect">
            <a:avLst/>
          </a:prstGeom>
          <a:noFill/>
          <a:ln w="38100" cap="flat" cmpd="sng" algn="ctr">
            <a:solidFill>
              <a:srgbClr val="FF0000"/>
            </a:solidFill>
            <a:prstDash val="solid"/>
            <a:round/>
            <a:headEnd type="none" w="med" len="med"/>
            <a:tailEnd type="none" w="med" len="med"/>
          </a:ln>
          <a:effectLst/>
        </p:spPr>
        <p:txBody>
          <a:bodyPr rtlCol="0" anchor="ctr"/>
          <a:lstStyle/>
          <a:p>
            <a:pPr algn="ctr"/>
            <a:endParaRPr lang="en-CA" dirty="0"/>
          </a:p>
        </p:txBody>
      </p:sp>
      <p:cxnSp>
        <p:nvCxnSpPr>
          <p:cNvPr id="8" name="Straight Arrow Connector 7"/>
          <p:cNvCxnSpPr/>
          <p:nvPr/>
        </p:nvCxnSpPr>
        <p:spPr bwMode="auto">
          <a:xfrm flipV="1">
            <a:off x="3814629" y="1462325"/>
            <a:ext cx="4294613" cy="398949"/>
          </a:xfrm>
          <a:prstGeom prst="straightConnector1">
            <a:avLst/>
          </a:prstGeom>
          <a:solidFill>
            <a:schemeClr val="accent2">
              <a:alpha val="42000"/>
            </a:schemeClr>
          </a:solidFill>
          <a:ln w="38100" cap="flat" cmpd="sng" algn="ctr">
            <a:solidFill>
              <a:srgbClr val="FF0000"/>
            </a:solidFill>
            <a:prstDash val="solid"/>
            <a:round/>
            <a:headEnd type="none" w="med" len="med"/>
            <a:tailEnd type="arrow"/>
          </a:ln>
          <a:effectLst>
            <a:outerShdw blurRad="50800" dist="38100" dir="2700000" algn="tl" rotWithShape="0">
              <a:prstClr val="black">
                <a:alpha val="40000"/>
              </a:prstClr>
            </a:outerShdw>
          </a:effectLst>
        </p:spPr>
      </p:cxnSp>
      <p:pic>
        <p:nvPicPr>
          <p:cNvPr id="5" name="Picture 4"/>
          <p:cNvPicPr>
            <a:picLocks noChangeAspect="1"/>
          </p:cNvPicPr>
          <p:nvPr/>
        </p:nvPicPr>
        <p:blipFill>
          <a:blip r:embed="rId5"/>
          <a:stretch>
            <a:fillRect/>
          </a:stretch>
        </p:blipFill>
        <p:spPr>
          <a:xfrm>
            <a:off x="8109242" y="1017872"/>
            <a:ext cx="3907385" cy="2454533"/>
          </a:xfrm>
          <a:prstGeom prst="rect">
            <a:avLst/>
          </a:prstGeom>
          <a:ln>
            <a:solidFill>
              <a:schemeClr val="tx1"/>
            </a:solidFill>
          </a:ln>
        </p:spPr>
      </p:pic>
      <p:sp>
        <p:nvSpPr>
          <p:cNvPr id="9" name="Rectangle 8"/>
          <p:cNvSpPr/>
          <p:nvPr/>
        </p:nvSpPr>
        <p:spPr bwMode="auto">
          <a:xfrm>
            <a:off x="9425355" y="3139681"/>
            <a:ext cx="1195752" cy="309277"/>
          </a:xfrm>
          <a:prstGeom prst="rect">
            <a:avLst/>
          </a:prstGeom>
          <a:noFill/>
          <a:ln w="38100" cap="flat" cmpd="sng" algn="ctr">
            <a:solidFill>
              <a:srgbClr val="FF0000"/>
            </a:solidFill>
            <a:prstDash val="solid"/>
            <a:round/>
            <a:headEnd type="none" w="med" len="med"/>
            <a:tailEnd type="none" w="med" len="med"/>
          </a:ln>
          <a:effectLst/>
        </p:spPr>
        <p:txBody>
          <a:bodyPr rtlCol="0" anchor="ctr"/>
          <a:lstStyle/>
          <a:p>
            <a:pPr algn="ctr"/>
            <a:endParaRPr lang="en-CA" dirty="0"/>
          </a:p>
        </p:txBody>
      </p:sp>
      <p:pic>
        <p:nvPicPr>
          <p:cNvPr id="13" name="Picture 12"/>
          <p:cNvPicPr>
            <a:picLocks noChangeAspect="1"/>
          </p:cNvPicPr>
          <p:nvPr/>
        </p:nvPicPr>
        <p:blipFill>
          <a:blip r:embed="rId6"/>
          <a:stretch>
            <a:fillRect/>
          </a:stretch>
        </p:blipFill>
        <p:spPr>
          <a:xfrm>
            <a:off x="785635" y="3990726"/>
            <a:ext cx="10352341" cy="2023211"/>
          </a:xfrm>
          <a:prstGeom prst="rect">
            <a:avLst/>
          </a:prstGeom>
          <a:ln>
            <a:solidFill>
              <a:schemeClr val="tx1"/>
            </a:solidFill>
          </a:ln>
        </p:spPr>
      </p:pic>
      <p:cxnSp>
        <p:nvCxnSpPr>
          <p:cNvPr id="12" name="Straight Arrow Connector 11"/>
          <p:cNvCxnSpPr/>
          <p:nvPr/>
        </p:nvCxnSpPr>
        <p:spPr bwMode="auto">
          <a:xfrm flipH="1">
            <a:off x="10046677" y="3472405"/>
            <a:ext cx="16257" cy="2093834"/>
          </a:xfrm>
          <a:prstGeom prst="straightConnector1">
            <a:avLst/>
          </a:prstGeom>
          <a:solidFill>
            <a:schemeClr val="accent2">
              <a:alpha val="42000"/>
            </a:schemeClr>
          </a:solidFill>
          <a:ln w="38100" cap="flat" cmpd="sng" algn="ctr">
            <a:solidFill>
              <a:srgbClr val="FF0000"/>
            </a:solidFill>
            <a:prstDash val="solid"/>
            <a:round/>
            <a:headEnd type="none" w="med" len="med"/>
            <a:tailEnd type="arrow"/>
          </a:ln>
          <a:effectLst>
            <a:outerShdw blurRad="50800" dist="38100" dir="2700000" algn="tl" rotWithShape="0">
              <a:prstClr val="black">
                <a:alpha val="40000"/>
              </a:prstClr>
            </a:outerShdw>
          </a:effectLst>
        </p:spPr>
      </p:cxnSp>
    </p:spTree>
    <p:custDataLst>
      <p:tags r:id="rId1"/>
    </p:custDataLst>
    <p:extLst>
      <p:ext uri="{BB962C8B-B14F-4D97-AF65-F5344CB8AC3E}">
        <p14:creationId xmlns:p14="http://schemas.microsoft.com/office/powerpoint/2010/main" val="1556092012"/>
      </p:ext>
    </p:extLst>
  </p:cSld>
  <p:clrMapOvr>
    <a:masterClrMapping/>
  </p:clrMapOvr>
  <p:transition spd="slow">
    <p:wip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457200" indent="-457200">
              <a:buFont typeface="+mj-lt"/>
              <a:buAutoNum type="arabicPeriod"/>
            </a:pPr>
            <a:r>
              <a:rPr lang="en-CA" dirty="0"/>
              <a:t>Which of the following naming formats is correct when configuring a name for a firewall address object?</a:t>
            </a:r>
          </a:p>
          <a:p>
            <a:pPr marL="838133" lvl="1" indent="-457200">
              <a:buFont typeface="+mj-lt"/>
              <a:buAutoNum type="alphaUcPeriod"/>
            </a:pPr>
            <a:r>
              <a:rPr lang="en-CA" dirty="0"/>
              <a:t>Good_Training</a:t>
            </a:r>
          </a:p>
          <a:p>
            <a:pPr marL="838133" lvl="1" indent="-457200">
              <a:buFont typeface="+mj-lt"/>
              <a:buAutoNum type="alphaUcPeriod"/>
            </a:pPr>
            <a:r>
              <a:rPr lang="en-CA" dirty="0"/>
              <a:t>Good(Training)</a:t>
            </a:r>
          </a:p>
          <a:p>
            <a:pPr marL="838133" lvl="1" indent="-457200">
              <a:buFont typeface="+mj-lt"/>
              <a:buAutoNum type="alphaUcPeriod"/>
            </a:pPr>
            <a:endParaRPr lang="en-CA" dirty="0"/>
          </a:p>
          <a:p>
            <a:pPr marL="457200" indent="-457200">
              <a:buFont typeface="+mj-lt"/>
              <a:buAutoNum type="arabicPeriod"/>
            </a:pPr>
            <a:r>
              <a:rPr lang="en-CA" dirty="0"/>
              <a:t>What is the purpose of the policy lookup feature on FortiGate?</a:t>
            </a:r>
          </a:p>
          <a:p>
            <a:pPr marL="838133" lvl="1" indent="-457200">
              <a:buFont typeface="+mj-lt"/>
              <a:buAutoNum type="alphaUcPeriod"/>
            </a:pPr>
            <a:r>
              <a:rPr lang="en-CA" dirty="0"/>
              <a:t>To find a matching policy based on input criteria</a:t>
            </a:r>
          </a:p>
          <a:p>
            <a:pPr marL="838133" lvl="1" indent="-457200">
              <a:buFont typeface="+mj-lt"/>
              <a:buAutoNum type="alphaUcPeriod"/>
            </a:pPr>
            <a:r>
              <a:rPr lang="en-CA" dirty="0"/>
              <a:t>To block traffic based on input criteria</a:t>
            </a:r>
            <a:endParaRPr lang="en-US" dirty="0"/>
          </a:p>
          <a:p>
            <a:pPr marL="380933" lvl="1"/>
            <a:endParaRPr lang="en-US" dirty="0"/>
          </a:p>
          <a:p>
            <a:pPr marL="457200" indent="-457200">
              <a:buFont typeface="+mj-lt"/>
              <a:buAutoNum type="arabicPeriod"/>
            </a:pPr>
            <a:endParaRPr lang="en-US" dirty="0"/>
          </a:p>
          <a:p>
            <a:pPr marL="0" indent="0">
              <a:buNone/>
            </a:pPr>
            <a:br>
              <a:rPr lang="en-US" dirty="0"/>
            </a:br>
            <a:endParaRPr lang="en-US" dirty="0"/>
          </a:p>
          <a:p>
            <a:endParaRPr lang="en-CA" dirty="0"/>
          </a:p>
        </p:txBody>
      </p:sp>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2336" y="1619763"/>
            <a:ext cx="301962" cy="322787"/>
          </a:xfrm>
          <a:prstGeom prst="rect">
            <a:avLst/>
          </a:prstGeom>
        </p:spPr>
      </p:pic>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2336" y="2969664"/>
            <a:ext cx="301962" cy="322787"/>
          </a:xfrm>
          <a:prstGeom prst="rect">
            <a:avLst/>
          </a:prstGeom>
        </p:spPr>
      </p:pic>
    </p:spTree>
    <p:custDataLst>
      <p:tags r:id="rId1"/>
    </p:custDataLst>
    <p:extLst>
      <p:ext uri="{BB962C8B-B14F-4D97-AF65-F5344CB8AC3E}">
        <p14:creationId xmlns:p14="http://schemas.microsoft.com/office/powerpoint/2010/main" val="1418574005"/>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SmartArt Placeholder 2"/>
          <p:cNvGraphicFramePr>
            <a:graphicFrameLocks noGrp="1"/>
          </p:cNvGraphicFramePr>
          <p:nvPr>
            <p:ph type="dgm" sz="quarter" idx="10"/>
            <p:extLst>
              <p:ext uri="{D42A27DB-BD31-4B8C-83A1-F6EECF244321}">
                <p14:modId xmlns:p14="http://schemas.microsoft.com/office/powerpoint/2010/main" val="4015929092"/>
              </p:ext>
            </p:extLst>
          </p:nvPr>
        </p:nvGraphicFramePr>
        <p:xfrm>
          <a:off x="266700" y="1346200"/>
          <a:ext cx="11387138" cy="470852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7" name="Picture 6"/>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69699" y="1710112"/>
            <a:ext cx="648420" cy="693138"/>
          </a:xfrm>
          <a:prstGeom prst="rect">
            <a:avLst/>
          </a:prstGeom>
        </p:spPr>
      </p:pic>
      <p:pic>
        <p:nvPicPr>
          <p:cNvPr id="9" name="Picture 8"/>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49701" y="2794748"/>
            <a:ext cx="648420" cy="693138"/>
          </a:xfrm>
          <a:prstGeom prst="rect">
            <a:avLst/>
          </a:prstGeom>
        </p:spPr>
      </p:pic>
      <p:pic>
        <p:nvPicPr>
          <p:cNvPr id="10" name="Picture 9"/>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49701" y="3992461"/>
            <a:ext cx="648420" cy="693138"/>
          </a:xfrm>
          <a:prstGeom prst="rect">
            <a:avLst/>
          </a:prstGeom>
        </p:spPr>
      </p:pic>
      <p:pic>
        <p:nvPicPr>
          <p:cNvPr id="11" name="Picture 10"/>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09291" y="5007497"/>
            <a:ext cx="648420" cy="693138"/>
          </a:xfrm>
          <a:prstGeom prst="rect">
            <a:avLst/>
          </a:prstGeom>
        </p:spPr>
      </p:pic>
    </p:spTree>
    <p:custDataLst>
      <p:tags r:id="rId1"/>
    </p:custDataLst>
    <p:extLst>
      <p:ext uri="{BB962C8B-B14F-4D97-AF65-F5344CB8AC3E}">
        <p14:creationId xmlns:p14="http://schemas.microsoft.com/office/powerpoint/2010/main" val="2131129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down)">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idx="1"/>
          </p:nvPr>
        </p:nvSpPr>
        <p:spPr/>
        <p:txBody>
          <a:bodyPr>
            <a:normAutofit/>
          </a:bodyPr>
          <a:lstStyle/>
          <a:p>
            <a:r>
              <a:rPr lang="en-US" dirty="0"/>
              <a:t>Identify components of firewall policies</a:t>
            </a:r>
          </a:p>
          <a:p>
            <a:r>
              <a:rPr lang="en-US" dirty="0"/>
              <a:t>Identify how FortiGate matches traffic to firewall policies</a:t>
            </a:r>
          </a:p>
          <a:p>
            <a:r>
              <a:rPr lang="en-US" dirty="0"/>
              <a:t>Restrict access and make your network more secure using security profiles </a:t>
            </a:r>
          </a:p>
          <a:p>
            <a:r>
              <a:rPr lang="en-US" dirty="0"/>
              <a:t>Configure logging</a:t>
            </a:r>
          </a:p>
          <a:p>
            <a:r>
              <a:rPr lang="en-US" dirty="0"/>
              <a:t>Identify policy list views</a:t>
            </a:r>
          </a:p>
          <a:p>
            <a:r>
              <a:rPr lang="en-US" dirty="0"/>
              <a:t>Understand the use of policy IDs</a:t>
            </a:r>
          </a:p>
          <a:p>
            <a:r>
              <a:rPr lang="en-US" dirty="0"/>
              <a:t>Identify where an object is referenced</a:t>
            </a:r>
          </a:p>
          <a:p>
            <a:r>
              <a:rPr lang="en-US" dirty="0"/>
              <a:t>Identify naming restrictions for firewall policies and objects</a:t>
            </a:r>
          </a:p>
          <a:p>
            <a:r>
              <a:rPr lang="en-US" dirty="0"/>
              <a:t>Reorder firewall policies for correct matching</a:t>
            </a:r>
          </a:p>
          <a:p>
            <a:r>
              <a:rPr lang="en-US" dirty="0"/>
              <a:t>Demonstrate how to find matching policies for traffic type</a:t>
            </a:r>
            <a:endParaRPr lang="en-CA" dirty="0"/>
          </a:p>
        </p:txBody>
      </p:sp>
    </p:spTree>
    <p:custDataLst>
      <p:tags r:id="rId1"/>
    </p:custDataLst>
    <p:extLst>
      <p:ext uri="{BB962C8B-B14F-4D97-AF65-F5344CB8AC3E}">
        <p14:creationId xmlns:p14="http://schemas.microsoft.com/office/powerpoint/2010/main" val="39460940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RTICULATE_SLIDE_COUNT" val="49"/>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NSE_Certification_Program_Template-2021">
  <a:themeElements>
    <a:clrScheme name="Fortinet-2021">
      <a:dk1>
        <a:srgbClr val="000000"/>
      </a:dk1>
      <a:lt1>
        <a:srgbClr val="FFFFFF"/>
      </a:lt1>
      <a:dk2>
        <a:srgbClr val="B3B3B3"/>
      </a:dk2>
      <a:lt2>
        <a:srgbClr val="E6E6E6"/>
      </a:lt2>
      <a:accent1>
        <a:srgbClr val="48D597"/>
      </a:accent1>
      <a:accent2>
        <a:srgbClr val="2CCCD3"/>
      </a:accent2>
      <a:accent3>
        <a:srgbClr val="307FE2"/>
      </a:accent3>
      <a:accent4>
        <a:srgbClr val="9063CD"/>
      </a:accent4>
      <a:accent5>
        <a:srgbClr val="A2B2C8"/>
      </a:accent5>
      <a:accent6>
        <a:srgbClr val="DA281C"/>
      </a:accent6>
      <a:hlink>
        <a:srgbClr val="0081E9"/>
      </a:hlink>
      <a:folHlink>
        <a:srgbClr val="307FE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6"/>
        </a:solidFill>
        <a:ln>
          <a:solidFill>
            <a:schemeClr val="accent6"/>
          </a:solidFill>
        </a:ln>
      </a:spPr>
      <a:bodyPr rtlCol="0" anchor="ctr"/>
      <a:lstStyle>
        <a:defPPr algn="ctr">
          <a:lnSpc>
            <a:spcPct val="90000"/>
          </a:lnSpc>
          <a:spcBef>
            <a:spcPts val="300"/>
          </a:spcBef>
          <a:defRPr sz="14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6"/>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defTabSz="457189">
          <a:lnSpc>
            <a:spcPct val="90000"/>
          </a:lnSpc>
          <a:spcBef>
            <a:spcPts val="300"/>
          </a:spcBef>
          <a:defRPr sz="1400" dirty="0" smtClean="0">
            <a:solidFill>
              <a:srgbClr val="000000"/>
            </a:solidFill>
            <a:cs typeface="Arial" panose="020B0604020202020204" pitchFamily="34" charset="0"/>
          </a:defRPr>
        </a:defPPr>
      </a:lstStyle>
    </a:txDef>
  </a:objectDefaults>
  <a:extraClrSchemeLst/>
  <a:extLst>
    <a:ext uri="{05A4C25C-085E-4340-85A3-A5531E510DB2}">
      <thm15:themeFamily xmlns:thm15="http://schemas.microsoft.com/office/thememl/2012/main" name="Presentation5" id="{B400592B-8D21-4166-94CE-701FC4462A4C}" vid="{01281597-3EC3-4121-9707-A57978F4B07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NSE_Certification_Template_2022</Template>
  <TotalTime>18844</TotalTime>
  <Words>8048</Words>
  <Application>Microsoft Office PowerPoint</Application>
  <PresentationFormat>Custom</PresentationFormat>
  <Paragraphs>764</Paragraphs>
  <Slides>47</Slides>
  <Notes>47</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47</vt:i4>
      </vt:variant>
    </vt:vector>
  </HeadingPairs>
  <TitlesOfParts>
    <vt:vector size="54" baseType="lpstr">
      <vt:lpstr>Arial</vt:lpstr>
      <vt:lpstr>Calibri</vt:lpstr>
      <vt:lpstr>Courier New</vt:lpstr>
      <vt:lpstr>HelveticaNeueLT-Light</vt:lpstr>
      <vt:lpstr>Wingdings</vt:lpstr>
      <vt:lpstr>NSE_Certification_Program_Template-2021</vt:lpstr>
      <vt:lpstr>CorelDRAW</vt:lpstr>
      <vt:lpstr>FortiGate Security</vt:lpstr>
      <vt:lpstr>PowerPoint Presentation</vt:lpstr>
      <vt:lpstr>Firewall Policies</vt:lpstr>
      <vt:lpstr>What Are Firewall Policies?</vt:lpstr>
      <vt:lpstr>Components and Policy Types</vt:lpstr>
      <vt:lpstr>How Are Policy Matches Determined?</vt:lpstr>
      <vt:lpstr>Simplify—Interfaces and Zones</vt:lpstr>
      <vt:lpstr>Selecting Multiple Interfaces or Any Interface </vt:lpstr>
      <vt:lpstr>Matching by Source</vt:lpstr>
      <vt:lpstr>Source—User Identification</vt:lpstr>
      <vt:lpstr>Example—Matching Policy by Source</vt:lpstr>
      <vt:lpstr>Matching by Destination</vt:lpstr>
      <vt:lpstr>Internet Service</vt:lpstr>
      <vt:lpstr>Geographic-Based Internet Service Database</vt:lpstr>
      <vt:lpstr>Internet Service Database (ISDB)—Updates</vt:lpstr>
      <vt:lpstr>Scheduling</vt:lpstr>
      <vt:lpstr>Matching by Service</vt:lpstr>
      <vt:lpstr>PowerPoint Presentation</vt:lpstr>
      <vt:lpstr>PowerPoint Presentation</vt:lpstr>
      <vt:lpstr>Configuring Firewall Policies</vt:lpstr>
      <vt:lpstr>Configuring Firewall Policies</vt:lpstr>
      <vt:lpstr>Security Profiles</vt:lpstr>
      <vt:lpstr>Logging</vt:lpstr>
      <vt:lpstr>Traffic Shapers</vt:lpstr>
      <vt:lpstr>Consolidated IPv4 and IPv6 Policy Configuration</vt:lpstr>
      <vt:lpstr>PowerPoint Presentation</vt:lpstr>
      <vt:lpstr>PowerPoint Presentation</vt:lpstr>
      <vt:lpstr>Managing Firewall Policies</vt:lpstr>
      <vt:lpstr>Policy List—Interface Pair View and By Sequence</vt:lpstr>
      <vt:lpstr>Real-Time Policy Status</vt:lpstr>
      <vt:lpstr>Policy ID</vt:lpstr>
      <vt:lpstr>Simplify—Groups of Addresses or Services</vt:lpstr>
      <vt:lpstr>Object Usage</vt:lpstr>
      <vt:lpstr>Firewall Policy—Fine Tuning</vt:lpstr>
      <vt:lpstr>Filter Column</vt:lpstr>
      <vt:lpstr>PowerPoint Presentation</vt:lpstr>
      <vt:lpstr>PowerPoint Presentation</vt:lpstr>
      <vt:lpstr>Best Practices and Troubleshooting</vt:lpstr>
      <vt:lpstr>Naming Rules and Restrictions</vt:lpstr>
      <vt:lpstr>Best Practices </vt:lpstr>
      <vt:lpstr>Adjusting Policy Order</vt:lpstr>
      <vt:lpstr>Combining Firewall Policies</vt:lpstr>
      <vt:lpstr>Policy Lookup (GUI)</vt:lpstr>
      <vt:lpstr>Policy Lookup Example (GUI) </vt:lpstr>
      <vt:lpstr>PowerPoint Presentation</vt:lpstr>
      <vt:lpstr>PowerPoint Presentation</vt:lpstr>
      <vt:lpstr>PowerPoint Presentation</vt:lpstr>
    </vt:vector>
  </TitlesOfParts>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cp:lastPrinted>2022-06-09T15:01:13Z</cp:lastPrinted>
</cp:coreProperties>
</file>

<file path=docProps/custom.xml><?xml version="1.0" encoding="utf-8"?>
<Properties xmlns="http://schemas.openxmlformats.org/officeDocument/2006/custom-properties" xmlns:vt="http://schemas.openxmlformats.org/officeDocument/2006/docPropsVTypes"/>
</file>