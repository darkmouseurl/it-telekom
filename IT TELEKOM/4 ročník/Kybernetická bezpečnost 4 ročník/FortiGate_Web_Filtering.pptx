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2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31.xml" ContentType="application/vnd.openxmlformats-officedocument.presentationml.tags+xml"/>
  <Override PartName="/ppt/notesSlides/notesSlide34.xml" ContentType="application/vnd.openxmlformats-officedocument.presentationml.notesSlide+xml"/>
  <Override PartName="/ppt/tags/tag32.xml" ContentType="application/vnd.openxmlformats-officedocument.presentationml.tags+xml"/>
  <Override PartName="/ppt/notesSlides/notesSlide35.xml" ContentType="application/vnd.openxmlformats-officedocument.presentationml.notesSlide+xml"/>
  <Override PartName="/ppt/tags/tag33.xml" ContentType="application/vnd.openxmlformats-officedocument.presentationml.tags+xml"/>
  <Override PartName="/ppt/notesSlides/notesSlide36.xml" ContentType="application/vnd.openxmlformats-officedocument.presentationml.notesSlide+xml"/>
  <Override PartName="/ppt/tags/tag34.xml" ContentType="application/vnd.openxmlformats-officedocument.presentationml.tags+xml"/>
  <Override PartName="/ppt/notesSlides/notesSlide37.xml" ContentType="application/vnd.openxmlformats-officedocument.presentationml.notesSlide+xml"/>
  <Override PartName="/ppt/tags/tag35.xml" ContentType="application/vnd.openxmlformats-officedocument.presentationml.tags+xml"/>
  <Override PartName="/ppt/notesSlides/notesSlide38.xml" ContentType="application/vnd.openxmlformats-officedocument.presentationml.notesSlide+xml"/>
  <Override PartName="/ppt/tags/tag36.xml" ContentType="application/vnd.openxmlformats-officedocument.presentationml.tags+xml"/>
  <Override PartName="/ppt/notesSlides/notesSlide39.xml" ContentType="application/vnd.openxmlformats-officedocument.presentationml.notesSlide+xml"/>
  <Override PartName="/ppt/tags/tag37.xml" ContentType="application/vnd.openxmlformats-officedocument.presentationml.tags+xml"/>
  <Override PartName="/ppt/notesSlides/notesSlide40.xml" ContentType="application/vnd.openxmlformats-officedocument.presentationml.notesSlide+xml"/>
  <Override PartName="/ppt/tags/tag38.xml" ContentType="application/vnd.openxmlformats-officedocument.presentationml.tags+xml"/>
  <Override PartName="/ppt/notesSlides/notesSlide4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39.xml" ContentType="application/vnd.openxmlformats-officedocument.presentationml.tags+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3" r:id="rId1"/>
  </p:sldMasterIdLst>
  <p:notesMasterIdLst>
    <p:notesMasterId r:id="rId44"/>
  </p:notesMasterIdLst>
  <p:handoutMasterIdLst>
    <p:handoutMasterId r:id="rId45"/>
  </p:handoutMasterIdLst>
  <p:sldIdLst>
    <p:sldId id="370" r:id="rId2"/>
    <p:sldId id="371" r:id="rId3"/>
    <p:sldId id="372" r:id="rId4"/>
    <p:sldId id="374" r:id="rId5"/>
    <p:sldId id="377" r:id="rId6"/>
    <p:sldId id="375" r:id="rId7"/>
    <p:sldId id="393" r:id="rId8"/>
    <p:sldId id="299" r:id="rId9"/>
    <p:sldId id="300" r:id="rId10"/>
    <p:sldId id="301" r:id="rId11"/>
    <p:sldId id="302" r:id="rId12"/>
    <p:sldId id="304" r:id="rId13"/>
    <p:sldId id="394" r:id="rId14"/>
    <p:sldId id="362" r:id="rId15"/>
    <p:sldId id="306" r:id="rId16"/>
    <p:sldId id="311" r:id="rId17"/>
    <p:sldId id="312" r:id="rId18"/>
    <p:sldId id="392" r:id="rId19"/>
    <p:sldId id="314" r:id="rId20"/>
    <p:sldId id="317" r:id="rId21"/>
    <p:sldId id="318" r:id="rId22"/>
    <p:sldId id="319" r:id="rId23"/>
    <p:sldId id="324" r:id="rId24"/>
    <p:sldId id="325" r:id="rId25"/>
    <p:sldId id="326" r:id="rId26"/>
    <p:sldId id="328" r:id="rId27"/>
    <p:sldId id="387" r:id="rId28"/>
    <p:sldId id="381" r:id="rId29"/>
    <p:sldId id="382" r:id="rId30"/>
    <p:sldId id="385" r:id="rId31"/>
    <p:sldId id="384" r:id="rId32"/>
    <p:sldId id="391" r:id="rId33"/>
    <p:sldId id="386" r:id="rId34"/>
    <p:sldId id="344" r:id="rId35"/>
    <p:sldId id="345" r:id="rId36"/>
    <p:sldId id="346" r:id="rId37"/>
    <p:sldId id="369" r:id="rId38"/>
    <p:sldId id="359" r:id="rId39"/>
    <p:sldId id="395" r:id="rId40"/>
    <p:sldId id="350" r:id="rId41"/>
    <p:sldId id="390" r:id="rId42"/>
    <p:sldId id="352" r:id="rId43"/>
  </p:sldIdLst>
  <p:sldSz cx="12188825" cy="6858000"/>
  <p:notesSz cx="7315200" cy="9601200"/>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6" userDrawn="1">
          <p15:clr>
            <a:srgbClr val="A4A3A4"/>
          </p15:clr>
        </p15:guide>
        <p15:guide id="2" pos="2880" userDrawn="1">
          <p15:clr>
            <a:srgbClr val="A4A3A4"/>
          </p15:clr>
        </p15:guide>
        <p15:guide id="3" orient="horz" pos="4189">
          <p15:clr>
            <a:srgbClr val="A4A3A4"/>
          </p15:clr>
        </p15:guide>
        <p15:guide id="4" orient="horz" pos="622">
          <p15:clr>
            <a:srgbClr val="A4A3A4"/>
          </p15:clr>
        </p15:guide>
        <p15:guide id="5" orient="horz" pos="979">
          <p15:clr>
            <a:srgbClr val="A4A3A4"/>
          </p15:clr>
        </p15:guide>
        <p15:guide id="6" pos="383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rosoft" initials="M" lastIdx="4" clrIdx="0"/>
  <p:cmAuthor id="1" name="Thomas Harder" initials="TH" lastIdx="13" clrIdx="1"/>
  <p:cmAuthor id="2" name="Ahsan Ali" initials="A A" lastIdx="102" clrIdx="2"/>
  <p:cmAuthor id="3" name="Robyn Kinnaird" initials="RK" lastIdx="5" clrIdx="3"/>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BF0C0"/>
    <a:srgbClr val="DC291E"/>
    <a:srgbClr val="FFFFFF"/>
    <a:srgbClr val="AD4C22"/>
    <a:srgbClr val="173D64"/>
    <a:srgbClr val="0A0A0A"/>
    <a:srgbClr val="BFBFBF"/>
    <a:srgbClr val="DADADA"/>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68023" autoAdjust="0"/>
  </p:normalViewPr>
  <p:slideViewPr>
    <p:cSldViewPr snapToGrid="0">
      <p:cViewPr varScale="1">
        <p:scale>
          <a:sx n="47" d="100"/>
          <a:sy n="47" d="100"/>
        </p:scale>
        <p:origin x="1264" y="36"/>
      </p:cViewPr>
      <p:guideLst>
        <p:guide orient="horz" pos="1596"/>
        <p:guide pos="2880"/>
        <p:guide orient="horz" pos="4189"/>
        <p:guide orient="horz" pos="622"/>
        <p:guide orient="horz" pos="979"/>
        <p:guide pos="3839"/>
      </p:guideLst>
    </p:cSldViewPr>
  </p:slideViewPr>
  <p:notesTextViewPr>
    <p:cViewPr>
      <p:scale>
        <a:sx n="150" d="100"/>
        <a:sy n="150" d="100"/>
      </p:scale>
      <p:origin x="0" y="0"/>
    </p:cViewPr>
  </p:notesTextViewPr>
  <p:sorterViewPr>
    <p:cViewPr varScale="1">
      <p:scale>
        <a:sx n="1" d="1"/>
        <a:sy n="1" d="1"/>
      </p:scale>
      <p:origin x="0" y="0"/>
    </p:cViewPr>
  </p:sorterViewPr>
  <p:notesViewPr>
    <p:cSldViewPr snapToGrid="0">
      <p:cViewPr varScale="1">
        <p:scale>
          <a:sx n="84" d="100"/>
          <a:sy n="84" d="100"/>
        </p:scale>
        <p:origin x="3792" y="84"/>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18758E-A227-44BA-95F8-6249F6F4E94F}"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39808A73-773A-473D-9373-5C006B7E8E36}">
      <dgm:prSet phldrT="[Text]"/>
      <dgm:spPr/>
      <dgm:t>
        <a:bodyPr/>
        <a:lstStyle/>
        <a:p>
          <a:r>
            <a:rPr lang="en-CA" smtClean="0"/>
            <a:t>Inspection Modes</a:t>
          </a:r>
          <a:endParaRPr lang="en-CA" dirty="0"/>
        </a:p>
      </dgm:t>
    </dgm:pt>
    <dgm:pt modelId="{1794DC3F-9C06-4CA8-94BA-15BD2F25A686}" type="parTrans" cxnId="{D328BE94-FA40-4192-929F-D4C9A867AFA4}">
      <dgm:prSet/>
      <dgm:spPr/>
      <dgm:t>
        <a:bodyPr/>
        <a:lstStyle/>
        <a:p>
          <a:endParaRPr lang="en-CA"/>
        </a:p>
      </dgm:t>
    </dgm:pt>
    <dgm:pt modelId="{9ABD362C-C7C2-4F4D-8211-98917457C9AC}" type="sibTrans" cxnId="{D328BE94-FA40-4192-929F-D4C9A867AFA4}">
      <dgm:prSet/>
      <dgm:spPr/>
      <dgm:t>
        <a:bodyPr/>
        <a:lstStyle/>
        <a:p>
          <a:endParaRPr lang="en-CA"/>
        </a:p>
      </dgm:t>
    </dgm:pt>
    <dgm:pt modelId="{B8856E20-E3A4-40EA-8C8D-0CE3BF9518A7}">
      <dgm:prSet phldrT="[Text]"/>
      <dgm:spPr/>
      <dgm:t>
        <a:bodyPr/>
        <a:lstStyle/>
        <a:p>
          <a:r>
            <a:rPr lang="en-CA" dirty="0"/>
            <a:t>Web Filtering Basics</a:t>
          </a:r>
        </a:p>
      </dgm:t>
    </dgm:pt>
    <dgm:pt modelId="{2BA43EEE-7581-450D-9C9C-0408A9CC20A8}" type="parTrans" cxnId="{240173C7-F636-4BF5-9B0A-74F92A786E5A}">
      <dgm:prSet/>
      <dgm:spPr/>
      <dgm:t>
        <a:bodyPr/>
        <a:lstStyle/>
        <a:p>
          <a:endParaRPr lang="en-US"/>
        </a:p>
      </dgm:t>
    </dgm:pt>
    <dgm:pt modelId="{D850CC29-7D6A-40E6-BB80-974D1FB07AA0}" type="sibTrans" cxnId="{240173C7-F636-4BF5-9B0A-74F92A786E5A}">
      <dgm:prSet/>
      <dgm:spPr/>
      <dgm:t>
        <a:bodyPr/>
        <a:lstStyle/>
        <a:p>
          <a:endParaRPr lang="en-US"/>
        </a:p>
      </dgm:t>
    </dgm:pt>
    <dgm:pt modelId="{933CCD38-80F9-49A4-ABE9-6CF59FEE8283}">
      <dgm:prSet/>
      <dgm:spPr/>
      <dgm:t>
        <a:bodyPr/>
        <a:lstStyle/>
        <a:p>
          <a:r>
            <a:rPr lang="en-CA" dirty="0"/>
            <a:t>Additional Proxy-Based Web Filtering Features</a:t>
          </a:r>
        </a:p>
      </dgm:t>
    </dgm:pt>
    <dgm:pt modelId="{A7FB51F4-C1ED-45A8-894C-02A571E9C040}" type="parTrans" cxnId="{770D9EF8-0744-4270-AEE2-FFE048F08759}">
      <dgm:prSet/>
      <dgm:spPr/>
      <dgm:t>
        <a:bodyPr/>
        <a:lstStyle/>
        <a:p>
          <a:endParaRPr lang="en-US"/>
        </a:p>
      </dgm:t>
    </dgm:pt>
    <dgm:pt modelId="{03436378-692C-4D1F-A945-BCA10E75FE3E}" type="sibTrans" cxnId="{770D9EF8-0744-4270-AEE2-FFE048F08759}">
      <dgm:prSet/>
      <dgm:spPr/>
      <dgm:t>
        <a:bodyPr/>
        <a:lstStyle/>
        <a:p>
          <a:endParaRPr lang="en-US"/>
        </a:p>
      </dgm:t>
    </dgm:pt>
    <dgm:pt modelId="{CF73AE95-C886-439B-8D72-E80B7B99B3D2}">
      <dgm:prSet/>
      <dgm:spPr/>
      <dgm:t>
        <a:bodyPr/>
        <a:lstStyle/>
        <a:p>
          <a:r>
            <a:rPr lang="en-CA" dirty="0" smtClean="0"/>
            <a:t>Video </a:t>
          </a:r>
          <a:r>
            <a:rPr lang="en-CA" dirty="0"/>
            <a:t>Filtering</a:t>
          </a:r>
        </a:p>
      </dgm:t>
    </dgm:pt>
    <dgm:pt modelId="{1F5FA5FE-3CF9-4276-89D5-029EDBF72BDC}" type="parTrans" cxnId="{7101E69C-0786-47FF-91AE-26010A469544}">
      <dgm:prSet/>
      <dgm:spPr/>
      <dgm:t>
        <a:bodyPr/>
        <a:lstStyle/>
        <a:p>
          <a:endParaRPr lang="en-US"/>
        </a:p>
      </dgm:t>
    </dgm:pt>
    <dgm:pt modelId="{EA065B62-5D19-4D05-A8A3-0360E8AE2631}" type="sibTrans" cxnId="{7101E69C-0786-47FF-91AE-26010A469544}">
      <dgm:prSet/>
      <dgm:spPr/>
      <dgm:t>
        <a:bodyPr/>
        <a:lstStyle/>
        <a:p>
          <a:endParaRPr lang="en-US"/>
        </a:p>
      </dgm:t>
    </dgm:pt>
    <dgm:pt modelId="{2738382B-B350-4580-8A6C-8979B74531E9}">
      <dgm:prSet/>
      <dgm:spPr/>
      <dgm:t>
        <a:bodyPr/>
        <a:lstStyle/>
        <a:p>
          <a:r>
            <a:rPr lang="en-CA" dirty="0"/>
            <a:t>Best Practices and Troubleshooting</a:t>
          </a:r>
        </a:p>
      </dgm:t>
    </dgm:pt>
    <dgm:pt modelId="{875048EF-C14E-4EA2-829C-81A534095ABE}" type="parTrans" cxnId="{6A8108D6-E4AF-405B-A9BC-390920971870}">
      <dgm:prSet/>
      <dgm:spPr/>
      <dgm:t>
        <a:bodyPr/>
        <a:lstStyle/>
        <a:p>
          <a:endParaRPr lang="en-US"/>
        </a:p>
      </dgm:t>
    </dgm:pt>
    <dgm:pt modelId="{41346360-AABE-42E7-9479-6F8D60D1AA42}" type="sibTrans" cxnId="{6A8108D6-E4AF-405B-A9BC-390920971870}">
      <dgm:prSet/>
      <dgm:spPr/>
      <dgm:t>
        <a:bodyPr/>
        <a:lstStyle/>
        <a:p>
          <a:endParaRPr lang="en-US"/>
        </a:p>
      </dgm:t>
    </dgm:pt>
    <dgm:pt modelId="{DE879B87-9AE0-4C6F-A102-D337AC07709C}" type="pres">
      <dgm:prSet presAssocID="{4B18758E-A227-44BA-95F8-6249F6F4E94F}" presName="Name0" presStyleCnt="0">
        <dgm:presLayoutVars>
          <dgm:chMax val="7"/>
          <dgm:chPref val="7"/>
          <dgm:dir/>
        </dgm:presLayoutVars>
      </dgm:prSet>
      <dgm:spPr/>
      <dgm:t>
        <a:bodyPr/>
        <a:lstStyle/>
        <a:p>
          <a:endParaRPr lang="en-US"/>
        </a:p>
      </dgm:t>
    </dgm:pt>
    <dgm:pt modelId="{B9B09980-1704-4D26-9ED5-1CF6A2984477}" type="pres">
      <dgm:prSet presAssocID="{4B18758E-A227-44BA-95F8-6249F6F4E94F}" presName="Name1" presStyleCnt="0"/>
      <dgm:spPr/>
    </dgm:pt>
    <dgm:pt modelId="{5BA60F7F-19CE-4F91-AE3D-9FA5D37DFE36}" type="pres">
      <dgm:prSet presAssocID="{4B18758E-A227-44BA-95F8-6249F6F4E94F}" presName="cycle" presStyleCnt="0"/>
      <dgm:spPr/>
    </dgm:pt>
    <dgm:pt modelId="{4529CCB6-F70C-418C-80EC-1C04775D8DFA}" type="pres">
      <dgm:prSet presAssocID="{4B18758E-A227-44BA-95F8-6249F6F4E94F}" presName="srcNode" presStyleLbl="node1" presStyleIdx="0" presStyleCnt="5"/>
      <dgm:spPr/>
    </dgm:pt>
    <dgm:pt modelId="{1E4486E3-51C7-4A69-BB79-DAAEE60DFBD8}" type="pres">
      <dgm:prSet presAssocID="{4B18758E-A227-44BA-95F8-6249F6F4E94F}" presName="conn" presStyleLbl="parChTrans1D2" presStyleIdx="0" presStyleCnt="1"/>
      <dgm:spPr/>
      <dgm:t>
        <a:bodyPr/>
        <a:lstStyle/>
        <a:p>
          <a:endParaRPr lang="en-US"/>
        </a:p>
      </dgm:t>
    </dgm:pt>
    <dgm:pt modelId="{6A20F4D9-74A5-4BE4-A2C7-4BFE81190EDB}" type="pres">
      <dgm:prSet presAssocID="{4B18758E-A227-44BA-95F8-6249F6F4E94F}" presName="extraNode" presStyleLbl="node1" presStyleIdx="0" presStyleCnt="5"/>
      <dgm:spPr/>
    </dgm:pt>
    <dgm:pt modelId="{20B3A9CF-6263-4F4C-9196-F47DFD1233CF}" type="pres">
      <dgm:prSet presAssocID="{4B18758E-A227-44BA-95F8-6249F6F4E94F}" presName="dstNode" presStyleLbl="node1" presStyleIdx="0" presStyleCnt="5"/>
      <dgm:spPr/>
    </dgm:pt>
    <dgm:pt modelId="{BAC66258-2FEF-4255-8121-8A4EC01134B2}" type="pres">
      <dgm:prSet presAssocID="{39808A73-773A-473D-9373-5C006B7E8E36}" presName="text_1" presStyleLbl="node1" presStyleIdx="0" presStyleCnt="5">
        <dgm:presLayoutVars>
          <dgm:bulletEnabled val="1"/>
        </dgm:presLayoutVars>
      </dgm:prSet>
      <dgm:spPr/>
      <dgm:t>
        <a:bodyPr/>
        <a:lstStyle/>
        <a:p>
          <a:endParaRPr lang="en-US"/>
        </a:p>
      </dgm:t>
    </dgm:pt>
    <dgm:pt modelId="{AAC24980-1793-426E-863E-A8AB23F9024D}" type="pres">
      <dgm:prSet presAssocID="{39808A73-773A-473D-9373-5C006B7E8E36}" presName="accent_1" presStyleCnt="0"/>
      <dgm:spPr/>
    </dgm:pt>
    <dgm:pt modelId="{4CD2972B-C2B6-4D4D-A701-B439B1E1D687}" type="pres">
      <dgm:prSet presAssocID="{39808A73-773A-473D-9373-5C006B7E8E36}" presName="accentRepeatNode" presStyleLbl="solidFgAcc1" presStyleIdx="0" presStyleCnt="5"/>
      <dgm:spPr/>
    </dgm:pt>
    <dgm:pt modelId="{F28ED53D-75D7-49F8-B707-2951054D027E}" type="pres">
      <dgm:prSet presAssocID="{B8856E20-E3A4-40EA-8C8D-0CE3BF9518A7}" presName="text_2" presStyleLbl="node1" presStyleIdx="1" presStyleCnt="5">
        <dgm:presLayoutVars>
          <dgm:bulletEnabled val="1"/>
        </dgm:presLayoutVars>
      </dgm:prSet>
      <dgm:spPr/>
      <dgm:t>
        <a:bodyPr/>
        <a:lstStyle/>
        <a:p>
          <a:endParaRPr lang="en-US"/>
        </a:p>
      </dgm:t>
    </dgm:pt>
    <dgm:pt modelId="{191C4597-D261-4689-87B6-F19014A966EE}" type="pres">
      <dgm:prSet presAssocID="{B8856E20-E3A4-40EA-8C8D-0CE3BF9518A7}" presName="accent_2" presStyleCnt="0"/>
      <dgm:spPr/>
    </dgm:pt>
    <dgm:pt modelId="{0190998C-34A8-4E67-A937-4936DF51A1F9}" type="pres">
      <dgm:prSet presAssocID="{B8856E20-E3A4-40EA-8C8D-0CE3BF9518A7}" presName="accentRepeatNode" presStyleLbl="solidFgAcc1" presStyleIdx="1" presStyleCnt="5"/>
      <dgm:spPr/>
    </dgm:pt>
    <dgm:pt modelId="{81B31C4B-773E-4D93-A082-54CE4D115DA9}" type="pres">
      <dgm:prSet presAssocID="{933CCD38-80F9-49A4-ABE9-6CF59FEE8283}" presName="text_3" presStyleLbl="node1" presStyleIdx="2" presStyleCnt="5">
        <dgm:presLayoutVars>
          <dgm:bulletEnabled val="1"/>
        </dgm:presLayoutVars>
      </dgm:prSet>
      <dgm:spPr/>
      <dgm:t>
        <a:bodyPr/>
        <a:lstStyle/>
        <a:p>
          <a:endParaRPr lang="en-US"/>
        </a:p>
      </dgm:t>
    </dgm:pt>
    <dgm:pt modelId="{F3B6665F-3AE5-4FB2-A7A9-8702DB049AEB}" type="pres">
      <dgm:prSet presAssocID="{933CCD38-80F9-49A4-ABE9-6CF59FEE8283}" presName="accent_3" presStyleCnt="0"/>
      <dgm:spPr/>
    </dgm:pt>
    <dgm:pt modelId="{8B9A36F5-1A64-4742-844C-FFA3EBAA3F6A}" type="pres">
      <dgm:prSet presAssocID="{933CCD38-80F9-49A4-ABE9-6CF59FEE8283}" presName="accentRepeatNode" presStyleLbl="solidFgAcc1" presStyleIdx="2" presStyleCnt="5"/>
      <dgm:spPr/>
    </dgm:pt>
    <dgm:pt modelId="{0CE5FB6C-B064-4CFA-B3F3-32BDF5EB66D1}" type="pres">
      <dgm:prSet presAssocID="{CF73AE95-C886-439B-8D72-E80B7B99B3D2}" presName="text_4" presStyleLbl="node1" presStyleIdx="3" presStyleCnt="5">
        <dgm:presLayoutVars>
          <dgm:bulletEnabled val="1"/>
        </dgm:presLayoutVars>
      </dgm:prSet>
      <dgm:spPr/>
      <dgm:t>
        <a:bodyPr/>
        <a:lstStyle/>
        <a:p>
          <a:endParaRPr lang="en-US"/>
        </a:p>
      </dgm:t>
    </dgm:pt>
    <dgm:pt modelId="{416E595F-0A58-43E9-B86D-A9A0A8F33A95}" type="pres">
      <dgm:prSet presAssocID="{CF73AE95-C886-439B-8D72-E80B7B99B3D2}" presName="accent_4" presStyleCnt="0"/>
      <dgm:spPr/>
    </dgm:pt>
    <dgm:pt modelId="{88EFDF55-7CFF-4E9F-A5F3-7EF9A8F270A1}" type="pres">
      <dgm:prSet presAssocID="{CF73AE95-C886-439B-8D72-E80B7B99B3D2}" presName="accentRepeatNode" presStyleLbl="solidFgAcc1" presStyleIdx="3" presStyleCnt="5"/>
      <dgm:spPr/>
    </dgm:pt>
    <dgm:pt modelId="{0C31A8E6-F3FE-4A11-A5B4-0F92A33E2BBE}" type="pres">
      <dgm:prSet presAssocID="{2738382B-B350-4580-8A6C-8979B74531E9}" presName="text_5" presStyleLbl="node1" presStyleIdx="4" presStyleCnt="5">
        <dgm:presLayoutVars>
          <dgm:bulletEnabled val="1"/>
        </dgm:presLayoutVars>
      </dgm:prSet>
      <dgm:spPr/>
      <dgm:t>
        <a:bodyPr/>
        <a:lstStyle/>
        <a:p>
          <a:endParaRPr lang="en-US"/>
        </a:p>
      </dgm:t>
    </dgm:pt>
    <dgm:pt modelId="{B45C4846-3856-45AB-B74F-B90F3992FFEA}" type="pres">
      <dgm:prSet presAssocID="{2738382B-B350-4580-8A6C-8979B74531E9}" presName="accent_5" presStyleCnt="0"/>
      <dgm:spPr/>
    </dgm:pt>
    <dgm:pt modelId="{5F367F7F-4CC6-43EB-8890-A477DC1AF47A}" type="pres">
      <dgm:prSet presAssocID="{2738382B-B350-4580-8A6C-8979B74531E9}" presName="accentRepeatNode" presStyleLbl="solidFgAcc1" presStyleIdx="4" presStyleCnt="5"/>
      <dgm:spPr/>
    </dgm:pt>
  </dgm:ptLst>
  <dgm:cxnLst>
    <dgm:cxn modelId="{7101E69C-0786-47FF-91AE-26010A469544}" srcId="{4B18758E-A227-44BA-95F8-6249F6F4E94F}" destId="{CF73AE95-C886-439B-8D72-E80B7B99B3D2}" srcOrd="3" destOrd="0" parTransId="{1F5FA5FE-3CF9-4276-89D5-029EDBF72BDC}" sibTransId="{EA065B62-5D19-4D05-A8A3-0360E8AE2631}"/>
    <dgm:cxn modelId="{D328BE94-FA40-4192-929F-D4C9A867AFA4}" srcId="{4B18758E-A227-44BA-95F8-6249F6F4E94F}" destId="{39808A73-773A-473D-9373-5C006B7E8E36}" srcOrd="0" destOrd="0" parTransId="{1794DC3F-9C06-4CA8-94BA-15BD2F25A686}" sibTransId="{9ABD362C-C7C2-4F4D-8211-98917457C9AC}"/>
    <dgm:cxn modelId="{89308AEE-D7A6-47AD-83A9-D3726FC35018}" type="presOf" srcId="{4B18758E-A227-44BA-95F8-6249F6F4E94F}" destId="{DE879B87-9AE0-4C6F-A102-D337AC07709C}" srcOrd="0" destOrd="0" presId="urn:microsoft.com/office/officeart/2008/layout/VerticalCurvedList"/>
    <dgm:cxn modelId="{3E4C05D2-2F19-4460-9D3B-CEED045912E4}" type="presOf" srcId="{9ABD362C-C7C2-4F4D-8211-98917457C9AC}" destId="{1E4486E3-51C7-4A69-BB79-DAAEE60DFBD8}" srcOrd="0" destOrd="0" presId="urn:microsoft.com/office/officeart/2008/layout/VerticalCurvedList"/>
    <dgm:cxn modelId="{770D9EF8-0744-4270-AEE2-FFE048F08759}" srcId="{4B18758E-A227-44BA-95F8-6249F6F4E94F}" destId="{933CCD38-80F9-49A4-ABE9-6CF59FEE8283}" srcOrd="2" destOrd="0" parTransId="{A7FB51F4-C1ED-45A8-894C-02A571E9C040}" sibTransId="{03436378-692C-4D1F-A945-BCA10E75FE3E}"/>
    <dgm:cxn modelId="{F00FD49D-A9CC-4FE2-9194-B92A769E5557}" type="presOf" srcId="{CF73AE95-C886-439B-8D72-E80B7B99B3D2}" destId="{0CE5FB6C-B064-4CFA-B3F3-32BDF5EB66D1}" srcOrd="0" destOrd="0" presId="urn:microsoft.com/office/officeart/2008/layout/VerticalCurvedList"/>
    <dgm:cxn modelId="{C153BBE9-05EA-406A-8117-95AB44B25135}" type="presOf" srcId="{39808A73-773A-473D-9373-5C006B7E8E36}" destId="{BAC66258-2FEF-4255-8121-8A4EC01134B2}" srcOrd="0" destOrd="0" presId="urn:microsoft.com/office/officeart/2008/layout/VerticalCurvedList"/>
    <dgm:cxn modelId="{3626107B-6D71-4B74-BA75-CAA1445228F4}" type="presOf" srcId="{2738382B-B350-4580-8A6C-8979B74531E9}" destId="{0C31A8E6-F3FE-4A11-A5B4-0F92A33E2BBE}" srcOrd="0" destOrd="0" presId="urn:microsoft.com/office/officeart/2008/layout/VerticalCurvedList"/>
    <dgm:cxn modelId="{79FA89B7-AB19-410F-A9AE-8B93BC39918C}" type="presOf" srcId="{933CCD38-80F9-49A4-ABE9-6CF59FEE8283}" destId="{81B31C4B-773E-4D93-A082-54CE4D115DA9}" srcOrd="0" destOrd="0" presId="urn:microsoft.com/office/officeart/2008/layout/VerticalCurvedList"/>
    <dgm:cxn modelId="{892B3FDA-012F-4A5E-BAD0-F14EDB084E2E}" type="presOf" srcId="{B8856E20-E3A4-40EA-8C8D-0CE3BF9518A7}" destId="{F28ED53D-75D7-49F8-B707-2951054D027E}" srcOrd="0" destOrd="0" presId="urn:microsoft.com/office/officeart/2008/layout/VerticalCurvedList"/>
    <dgm:cxn modelId="{240173C7-F636-4BF5-9B0A-74F92A786E5A}" srcId="{4B18758E-A227-44BA-95F8-6249F6F4E94F}" destId="{B8856E20-E3A4-40EA-8C8D-0CE3BF9518A7}" srcOrd="1" destOrd="0" parTransId="{2BA43EEE-7581-450D-9C9C-0408A9CC20A8}" sibTransId="{D850CC29-7D6A-40E6-BB80-974D1FB07AA0}"/>
    <dgm:cxn modelId="{6A8108D6-E4AF-405B-A9BC-390920971870}" srcId="{4B18758E-A227-44BA-95F8-6249F6F4E94F}" destId="{2738382B-B350-4580-8A6C-8979B74531E9}" srcOrd="4" destOrd="0" parTransId="{875048EF-C14E-4EA2-829C-81A534095ABE}" sibTransId="{41346360-AABE-42E7-9479-6F8D60D1AA42}"/>
    <dgm:cxn modelId="{32CF3F34-FBBE-49CB-BD86-2EA00093799D}" type="presParOf" srcId="{DE879B87-9AE0-4C6F-A102-D337AC07709C}" destId="{B9B09980-1704-4D26-9ED5-1CF6A2984477}" srcOrd="0" destOrd="0" presId="urn:microsoft.com/office/officeart/2008/layout/VerticalCurvedList"/>
    <dgm:cxn modelId="{54810707-1129-4724-B70E-1B16D9CE6E1B}" type="presParOf" srcId="{B9B09980-1704-4D26-9ED5-1CF6A2984477}" destId="{5BA60F7F-19CE-4F91-AE3D-9FA5D37DFE36}" srcOrd="0" destOrd="0" presId="urn:microsoft.com/office/officeart/2008/layout/VerticalCurvedList"/>
    <dgm:cxn modelId="{A45BBD11-70B5-4D7F-A863-8CD0BFD8313B}" type="presParOf" srcId="{5BA60F7F-19CE-4F91-AE3D-9FA5D37DFE36}" destId="{4529CCB6-F70C-418C-80EC-1C04775D8DFA}" srcOrd="0" destOrd="0" presId="urn:microsoft.com/office/officeart/2008/layout/VerticalCurvedList"/>
    <dgm:cxn modelId="{8105574D-D7A5-47C1-98AB-09DD9C8A6F7E}" type="presParOf" srcId="{5BA60F7F-19CE-4F91-AE3D-9FA5D37DFE36}" destId="{1E4486E3-51C7-4A69-BB79-DAAEE60DFBD8}" srcOrd="1" destOrd="0" presId="urn:microsoft.com/office/officeart/2008/layout/VerticalCurvedList"/>
    <dgm:cxn modelId="{2466E8F2-3598-4F19-A5AC-89C8895FEF67}" type="presParOf" srcId="{5BA60F7F-19CE-4F91-AE3D-9FA5D37DFE36}" destId="{6A20F4D9-74A5-4BE4-A2C7-4BFE81190EDB}" srcOrd="2" destOrd="0" presId="urn:microsoft.com/office/officeart/2008/layout/VerticalCurvedList"/>
    <dgm:cxn modelId="{3A6421E1-1EC6-40CF-9300-45F442708859}" type="presParOf" srcId="{5BA60F7F-19CE-4F91-AE3D-9FA5D37DFE36}" destId="{20B3A9CF-6263-4F4C-9196-F47DFD1233CF}" srcOrd="3" destOrd="0" presId="urn:microsoft.com/office/officeart/2008/layout/VerticalCurvedList"/>
    <dgm:cxn modelId="{FBF6D23F-86EB-4F8E-AE12-4116906F2281}" type="presParOf" srcId="{B9B09980-1704-4D26-9ED5-1CF6A2984477}" destId="{BAC66258-2FEF-4255-8121-8A4EC01134B2}" srcOrd="1" destOrd="0" presId="urn:microsoft.com/office/officeart/2008/layout/VerticalCurvedList"/>
    <dgm:cxn modelId="{F5D60FDB-E52A-4725-9B4A-3FE8CDD50F41}" type="presParOf" srcId="{B9B09980-1704-4D26-9ED5-1CF6A2984477}" destId="{AAC24980-1793-426E-863E-A8AB23F9024D}" srcOrd="2" destOrd="0" presId="urn:microsoft.com/office/officeart/2008/layout/VerticalCurvedList"/>
    <dgm:cxn modelId="{0234A649-9B20-4B2E-B423-F8D430D2B617}" type="presParOf" srcId="{AAC24980-1793-426E-863E-A8AB23F9024D}" destId="{4CD2972B-C2B6-4D4D-A701-B439B1E1D687}" srcOrd="0" destOrd="0" presId="urn:microsoft.com/office/officeart/2008/layout/VerticalCurvedList"/>
    <dgm:cxn modelId="{9F1D7B71-1A65-4FB1-906D-5B81DB5A9C6C}" type="presParOf" srcId="{B9B09980-1704-4D26-9ED5-1CF6A2984477}" destId="{F28ED53D-75D7-49F8-B707-2951054D027E}" srcOrd="3" destOrd="0" presId="urn:microsoft.com/office/officeart/2008/layout/VerticalCurvedList"/>
    <dgm:cxn modelId="{05C8B7F0-EBF3-4024-A2E4-0F303516D75B}" type="presParOf" srcId="{B9B09980-1704-4D26-9ED5-1CF6A2984477}" destId="{191C4597-D261-4689-87B6-F19014A966EE}" srcOrd="4" destOrd="0" presId="urn:microsoft.com/office/officeart/2008/layout/VerticalCurvedList"/>
    <dgm:cxn modelId="{D4115CAB-32D1-4F9B-A1DF-9B6278B4C8ED}" type="presParOf" srcId="{191C4597-D261-4689-87B6-F19014A966EE}" destId="{0190998C-34A8-4E67-A937-4936DF51A1F9}" srcOrd="0" destOrd="0" presId="urn:microsoft.com/office/officeart/2008/layout/VerticalCurvedList"/>
    <dgm:cxn modelId="{9C569289-0F79-489D-825F-5FB8BF3EE3B6}" type="presParOf" srcId="{B9B09980-1704-4D26-9ED5-1CF6A2984477}" destId="{81B31C4B-773E-4D93-A082-54CE4D115DA9}" srcOrd="5" destOrd="0" presId="urn:microsoft.com/office/officeart/2008/layout/VerticalCurvedList"/>
    <dgm:cxn modelId="{868112D7-D773-4BC1-BB65-181E513BBCE0}" type="presParOf" srcId="{B9B09980-1704-4D26-9ED5-1CF6A2984477}" destId="{F3B6665F-3AE5-4FB2-A7A9-8702DB049AEB}" srcOrd="6" destOrd="0" presId="urn:microsoft.com/office/officeart/2008/layout/VerticalCurvedList"/>
    <dgm:cxn modelId="{B5A20C0C-A751-4EC4-B9F4-2826D11B1C17}" type="presParOf" srcId="{F3B6665F-3AE5-4FB2-A7A9-8702DB049AEB}" destId="{8B9A36F5-1A64-4742-844C-FFA3EBAA3F6A}" srcOrd="0" destOrd="0" presId="urn:microsoft.com/office/officeart/2008/layout/VerticalCurvedList"/>
    <dgm:cxn modelId="{A30D8F9D-BC81-4A20-96C0-DD3FFCD5CCAB}" type="presParOf" srcId="{B9B09980-1704-4D26-9ED5-1CF6A2984477}" destId="{0CE5FB6C-B064-4CFA-B3F3-32BDF5EB66D1}" srcOrd="7" destOrd="0" presId="urn:microsoft.com/office/officeart/2008/layout/VerticalCurvedList"/>
    <dgm:cxn modelId="{58889E1A-54A2-469D-94F5-57CF397CEBF5}" type="presParOf" srcId="{B9B09980-1704-4D26-9ED5-1CF6A2984477}" destId="{416E595F-0A58-43E9-B86D-A9A0A8F33A95}" srcOrd="8" destOrd="0" presId="urn:microsoft.com/office/officeart/2008/layout/VerticalCurvedList"/>
    <dgm:cxn modelId="{2F1E0FD9-8862-4376-8124-0B01BEE82200}" type="presParOf" srcId="{416E595F-0A58-43E9-B86D-A9A0A8F33A95}" destId="{88EFDF55-7CFF-4E9F-A5F3-7EF9A8F270A1}" srcOrd="0" destOrd="0" presId="urn:microsoft.com/office/officeart/2008/layout/VerticalCurvedList"/>
    <dgm:cxn modelId="{C59BA0E3-D394-4655-ADEB-C886A37984E6}" type="presParOf" srcId="{B9B09980-1704-4D26-9ED5-1CF6A2984477}" destId="{0C31A8E6-F3FE-4A11-A5B4-0F92A33E2BBE}" srcOrd="9" destOrd="0" presId="urn:microsoft.com/office/officeart/2008/layout/VerticalCurvedList"/>
    <dgm:cxn modelId="{BF24B9A1-6409-4916-BB29-329D4ABC205A}" type="presParOf" srcId="{B9B09980-1704-4D26-9ED5-1CF6A2984477}" destId="{B45C4846-3856-45AB-B74F-B90F3992FFEA}" srcOrd="10" destOrd="0" presId="urn:microsoft.com/office/officeart/2008/layout/VerticalCurvedList"/>
    <dgm:cxn modelId="{0A1FBC81-E6FD-466B-8350-CB5A1F4286DD}" type="presParOf" srcId="{B45C4846-3856-45AB-B74F-B90F3992FFEA}" destId="{5F367F7F-4CC6-43EB-8890-A477DC1AF47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18758E-A227-44BA-95F8-6249F6F4E94F}"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679058AA-0276-4C51-9B5F-FDED2141299D}">
      <dgm:prSet phldrT="[Text]"/>
      <dgm:spPr/>
      <dgm:t>
        <a:bodyPr/>
        <a:lstStyle/>
        <a:p>
          <a:r>
            <a:rPr lang="en-CA" dirty="0"/>
            <a:t>Inspection Modes</a:t>
          </a:r>
        </a:p>
      </dgm:t>
    </dgm:pt>
    <dgm:pt modelId="{4C931473-9B7F-4731-8774-0FC23243AD7E}" type="parTrans" cxnId="{F4F49B6C-2045-4831-A423-AB33E3900F14}">
      <dgm:prSet/>
      <dgm:spPr/>
      <dgm:t>
        <a:bodyPr/>
        <a:lstStyle/>
        <a:p>
          <a:endParaRPr lang="en-CA"/>
        </a:p>
      </dgm:t>
    </dgm:pt>
    <dgm:pt modelId="{0575A0CF-4953-4515-ADFE-35ACF7B2EC6C}" type="sibTrans" cxnId="{F4F49B6C-2045-4831-A423-AB33E3900F14}">
      <dgm:prSet/>
      <dgm:spPr/>
      <dgm:t>
        <a:bodyPr/>
        <a:lstStyle/>
        <a:p>
          <a:endParaRPr lang="en-CA"/>
        </a:p>
      </dgm:t>
    </dgm:pt>
    <dgm:pt modelId="{58CE6F1E-19C9-4104-A910-92A789B2710B}">
      <dgm:prSet phldrT="[Text]"/>
      <dgm:spPr/>
      <dgm:t>
        <a:bodyPr/>
        <a:lstStyle/>
        <a:p>
          <a:r>
            <a:rPr lang="en-CA" dirty="0"/>
            <a:t>Web Filtering Basics</a:t>
          </a:r>
        </a:p>
      </dgm:t>
    </dgm:pt>
    <dgm:pt modelId="{2AE14890-007D-45B3-9FC9-11B5646078A2}" type="parTrans" cxnId="{C12F20DB-61A9-48E9-8AF7-D8E4267802CB}">
      <dgm:prSet/>
      <dgm:spPr/>
      <dgm:t>
        <a:bodyPr/>
        <a:lstStyle/>
        <a:p>
          <a:endParaRPr lang="en-CA"/>
        </a:p>
      </dgm:t>
    </dgm:pt>
    <dgm:pt modelId="{2DE2508B-6AB9-4B11-BE9A-D2E55E44682C}" type="sibTrans" cxnId="{C12F20DB-61A9-48E9-8AF7-D8E4267802CB}">
      <dgm:prSet/>
      <dgm:spPr/>
      <dgm:t>
        <a:bodyPr/>
        <a:lstStyle/>
        <a:p>
          <a:endParaRPr lang="en-CA"/>
        </a:p>
      </dgm:t>
    </dgm:pt>
    <dgm:pt modelId="{D9336A19-74A5-4DA9-9883-A96898515B59}">
      <dgm:prSet/>
      <dgm:spPr/>
      <dgm:t>
        <a:bodyPr/>
        <a:lstStyle/>
        <a:p>
          <a:r>
            <a:rPr lang="en-CA" dirty="0"/>
            <a:t>Additional Proxy-Based Web Filtering Features</a:t>
          </a:r>
        </a:p>
      </dgm:t>
    </dgm:pt>
    <dgm:pt modelId="{DEFF9325-3E4D-4A3A-866E-E610CA9A75A8}" type="parTrans" cxnId="{85D65F34-EDFE-4204-838C-B8922857FDAB}">
      <dgm:prSet/>
      <dgm:spPr/>
      <dgm:t>
        <a:bodyPr/>
        <a:lstStyle/>
        <a:p>
          <a:endParaRPr lang="en-CA"/>
        </a:p>
      </dgm:t>
    </dgm:pt>
    <dgm:pt modelId="{DDB19D93-4133-48BF-80CC-A1B66F94365D}" type="sibTrans" cxnId="{85D65F34-EDFE-4204-838C-B8922857FDAB}">
      <dgm:prSet/>
      <dgm:spPr/>
      <dgm:t>
        <a:bodyPr/>
        <a:lstStyle/>
        <a:p>
          <a:endParaRPr lang="en-CA"/>
        </a:p>
      </dgm:t>
    </dgm:pt>
    <dgm:pt modelId="{DA5B6F2B-1C57-484E-9CAA-B5827046284C}">
      <dgm:prSet/>
      <dgm:spPr/>
      <dgm:t>
        <a:bodyPr/>
        <a:lstStyle/>
        <a:p>
          <a:r>
            <a:rPr lang="en-CA" dirty="0" smtClean="0"/>
            <a:t>Video </a:t>
          </a:r>
          <a:r>
            <a:rPr lang="en-CA" dirty="0"/>
            <a:t>Filtering</a:t>
          </a:r>
        </a:p>
      </dgm:t>
    </dgm:pt>
    <dgm:pt modelId="{3C9CACF6-AD66-4E80-B4FA-76A6FA4DC3B3}" type="parTrans" cxnId="{1D8AA760-1734-4253-83B6-8F935C73DEC0}">
      <dgm:prSet/>
      <dgm:spPr/>
      <dgm:t>
        <a:bodyPr/>
        <a:lstStyle/>
        <a:p>
          <a:endParaRPr lang="en-CA"/>
        </a:p>
      </dgm:t>
    </dgm:pt>
    <dgm:pt modelId="{217F39DF-BE01-4BB3-9115-4D6FB10D34D7}" type="sibTrans" cxnId="{1D8AA760-1734-4253-83B6-8F935C73DEC0}">
      <dgm:prSet/>
      <dgm:spPr/>
      <dgm:t>
        <a:bodyPr/>
        <a:lstStyle/>
        <a:p>
          <a:endParaRPr lang="en-CA"/>
        </a:p>
      </dgm:t>
    </dgm:pt>
    <dgm:pt modelId="{6A3159F0-5F18-4927-8C3E-2030F75B76CF}">
      <dgm:prSet/>
      <dgm:spPr/>
      <dgm:t>
        <a:bodyPr/>
        <a:lstStyle/>
        <a:p>
          <a:r>
            <a:rPr lang="en-CA" dirty="0"/>
            <a:t>Best Practices and Troubleshooting</a:t>
          </a:r>
        </a:p>
      </dgm:t>
    </dgm:pt>
    <dgm:pt modelId="{D0789F13-5BE7-4DAD-B4DE-09739F373101}" type="parTrans" cxnId="{458835BB-B046-404A-993C-DE8FE6D62B29}">
      <dgm:prSet/>
      <dgm:spPr/>
      <dgm:t>
        <a:bodyPr/>
        <a:lstStyle/>
        <a:p>
          <a:endParaRPr lang="en-CA"/>
        </a:p>
      </dgm:t>
    </dgm:pt>
    <dgm:pt modelId="{A67132FE-5368-4A12-B53F-EB843995E249}" type="sibTrans" cxnId="{458835BB-B046-404A-993C-DE8FE6D62B29}">
      <dgm:prSet/>
      <dgm:spPr/>
      <dgm:t>
        <a:bodyPr/>
        <a:lstStyle/>
        <a:p>
          <a:endParaRPr lang="en-CA"/>
        </a:p>
      </dgm:t>
    </dgm:pt>
    <dgm:pt modelId="{DE879B87-9AE0-4C6F-A102-D337AC07709C}" type="pres">
      <dgm:prSet presAssocID="{4B18758E-A227-44BA-95F8-6249F6F4E94F}" presName="Name0" presStyleCnt="0">
        <dgm:presLayoutVars>
          <dgm:chMax val="7"/>
          <dgm:chPref val="7"/>
          <dgm:dir/>
        </dgm:presLayoutVars>
      </dgm:prSet>
      <dgm:spPr/>
      <dgm:t>
        <a:bodyPr/>
        <a:lstStyle/>
        <a:p>
          <a:endParaRPr lang="en-US"/>
        </a:p>
      </dgm:t>
    </dgm:pt>
    <dgm:pt modelId="{B9B09980-1704-4D26-9ED5-1CF6A2984477}" type="pres">
      <dgm:prSet presAssocID="{4B18758E-A227-44BA-95F8-6249F6F4E94F}" presName="Name1" presStyleCnt="0"/>
      <dgm:spPr/>
    </dgm:pt>
    <dgm:pt modelId="{5BA60F7F-19CE-4F91-AE3D-9FA5D37DFE36}" type="pres">
      <dgm:prSet presAssocID="{4B18758E-A227-44BA-95F8-6249F6F4E94F}" presName="cycle" presStyleCnt="0"/>
      <dgm:spPr/>
    </dgm:pt>
    <dgm:pt modelId="{4529CCB6-F70C-418C-80EC-1C04775D8DFA}" type="pres">
      <dgm:prSet presAssocID="{4B18758E-A227-44BA-95F8-6249F6F4E94F}" presName="srcNode" presStyleLbl="node1" presStyleIdx="0" presStyleCnt="5"/>
      <dgm:spPr/>
    </dgm:pt>
    <dgm:pt modelId="{1E4486E3-51C7-4A69-BB79-DAAEE60DFBD8}" type="pres">
      <dgm:prSet presAssocID="{4B18758E-A227-44BA-95F8-6249F6F4E94F}" presName="conn" presStyleLbl="parChTrans1D2" presStyleIdx="0" presStyleCnt="1"/>
      <dgm:spPr/>
      <dgm:t>
        <a:bodyPr/>
        <a:lstStyle/>
        <a:p>
          <a:endParaRPr lang="en-US"/>
        </a:p>
      </dgm:t>
    </dgm:pt>
    <dgm:pt modelId="{6A20F4D9-74A5-4BE4-A2C7-4BFE81190EDB}" type="pres">
      <dgm:prSet presAssocID="{4B18758E-A227-44BA-95F8-6249F6F4E94F}" presName="extraNode" presStyleLbl="node1" presStyleIdx="0" presStyleCnt="5"/>
      <dgm:spPr/>
    </dgm:pt>
    <dgm:pt modelId="{20B3A9CF-6263-4F4C-9196-F47DFD1233CF}" type="pres">
      <dgm:prSet presAssocID="{4B18758E-A227-44BA-95F8-6249F6F4E94F}" presName="dstNode" presStyleLbl="node1" presStyleIdx="0" presStyleCnt="5"/>
      <dgm:spPr/>
    </dgm:pt>
    <dgm:pt modelId="{66B41250-7485-4278-8866-EC6147C1AA0F}" type="pres">
      <dgm:prSet presAssocID="{679058AA-0276-4C51-9B5F-FDED2141299D}" presName="text_1" presStyleLbl="node1" presStyleIdx="0" presStyleCnt="5">
        <dgm:presLayoutVars>
          <dgm:bulletEnabled val="1"/>
        </dgm:presLayoutVars>
      </dgm:prSet>
      <dgm:spPr/>
      <dgm:t>
        <a:bodyPr/>
        <a:lstStyle/>
        <a:p>
          <a:endParaRPr lang="en-US"/>
        </a:p>
      </dgm:t>
    </dgm:pt>
    <dgm:pt modelId="{B52C91E5-3A0C-4DAC-8809-9D4E61410046}" type="pres">
      <dgm:prSet presAssocID="{679058AA-0276-4C51-9B5F-FDED2141299D}" presName="accent_1" presStyleCnt="0"/>
      <dgm:spPr/>
    </dgm:pt>
    <dgm:pt modelId="{A887FE50-B270-4054-A608-A38F70F22E24}" type="pres">
      <dgm:prSet presAssocID="{679058AA-0276-4C51-9B5F-FDED2141299D}" presName="accentRepeatNode" presStyleLbl="solidFgAcc1" presStyleIdx="0" presStyleCnt="5"/>
      <dgm:spPr/>
    </dgm:pt>
    <dgm:pt modelId="{19743172-2B39-4EA4-9C2A-1732E4DE088F}" type="pres">
      <dgm:prSet presAssocID="{58CE6F1E-19C9-4104-A910-92A789B2710B}" presName="text_2" presStyleLbl="node1" presStyleIdx="1" presStyleCnt="5">
        <dgm:presLayoutVars>
          <dgm:bulletEnabled val="1"/>
        </dgm:presLayoutVars>
      </dgm:prSet>
      <dgm:spPr/>
      <dgm:t>
        <a:bodyPr/>
        <a:lstStyle/>
        <a:p>
          <a:endParaRPr lang="en-US"/>
        </a:p>
      </dgm:t>
    </dgm:pt>
    <dgm:pt modelId="{3A160792-702F-4982-A981-AC399759E02C}" type="pres">
      <dgm:prSet presAssocID="{58CE6F1E-19C9-4104-A910-92A789B2710B}" presName="accent_2" presStyleCnt="0"/>
      <dgm:spPr/>
    </dgm:pt>
    <dgm:pt modelId="{F65C0F7D-7BCD-42E9-8905-A4EE6E7A4BBC}" type="pres">
      <dgm:prSet presAssocID="{58CE6F1E-19C9-4104-A910-92A789B2710B}" presName="accentRepeatNode" presStyleLbl="solidFgAcc1" presStyleIdx="1" presStyleCnt="5"/>
      <dgm:spPr/>
    </dgm:pt>
    <dgm:pt modelId="{AEF8952F-3455-42AB-B690-87ED11577A57}" type="pres">
      <dgm:prSet presAssocID="{D9336A19-74A5-4DA9-9883-A96898515B59}" presName="text_3" presStyleLbl="node1" presStyleIdx="2" presStyleCnt="5">
        <dgm:presLayoutVars>
          <dgm:bulletEnabled val="1"/>
        </dgm:presLayoutVars>
      </dgm:prSet>
      <dgm:spPr/>
      <dgm:t>
        <a:bodyPr/>
        <a:lstStyle/>
        <a:p>
          <a:endParaRPr lang="en-US"/>
        </a:p>
      </dgm:t>
    </dgm:pt>
    <dgm:pt modelId="{ED03905B-45D5-493E-874D-DD3A85C18BEA}" type="pres">
      <dgm:prSet presAssocID="{D9336A19-74A5-4DA9-9883-A96898515B59}" presName="accent_3" presStyleCnt="0"/>
      <dgm:spPr/>
    </dgm:pt>
    <dgm:pt modelId="{96150363-8434-4FFB-9457-676BDD8B6491}" type="pres">
      <dgm:prSet presAssocID="{D9336A19-74A5-4DA9-9883-A96898515B59}" presName="accentRepeatNode" presStyleLbl="solidFgAcc1" presStyleIdx="2" presStyleCnt="5"/>
      <dgm:spPr/>
    </dgm:pt>
    <dgm:pt modelId="{635FA07A-D788-4B88-ABCC-105701922FCA}" type="pres">
      <dgm:prSet presAssocID="{DA5B6F2B-1C57-484E-9CAA-B5827046284C}" presName="text_4" presStyleLbl="node1" presStyleIdx="3" presStyleCnt="5">
        <dgm:presLayoutVars>
          <dgm:bulletEnabled val="1"/>
        </dgm:presLayoutVars>
      </dgm:prSet>
      <dgm:spPr/>
      <dgm:t>
        <a:bodyPr/>
        <a:lstStyle/>
        <a:p>
          <a:endParaRPr lang="en-US"/>
        </a:p>
      </dgm:t>
    </dgm:pt>
    <dgm:pt modelId="{2C25BC09-7D6E-4D68-AF02-473202EA39CC}" type="pres">
      <dgm:prSet presAssocID="{DA5B6F2B-1C57-484E-9CAA-B5827046284C}" presName="accent_4" presStyleCnt="0"/>
      <dgm:spPr/>
    </dgm:pt>
    <dgm:pt modelId="{266F3627-23BD-4F7A-A909-68CCCD11C832}" type="pres">
      <dgm:prSet presAssocID="{DA5B6F2B-1C57-484E-9CAA-B5827046284C}" presName="accentRepeatNode" presStyleLbl="solidFgAcc1" presStyleIdx="3" presStyleCnt="5"/>
      <dgm:spPr/>
    </dgm:pt>
    <dgm:pt modelId="{F50DF557-3ABD-4834-88F6-6F519157C1AF}" type="pres">
      <dgm:prSet presAssocID="{6A3159F0-5F18-4927-8C3E-2030F75B76CF}" presName="text_5" presStyleLbl="node1" presStyleIdx="4" presStyleCnt="5">
        <dgm:presLayoutVars>
          <dgm:bulletEnabled val="1"/>
        </dgm:presLayoutVars>
      </dgm:prSet>
      <dgm:spPr/>
      <dgm:t>
        <a:bodyPr/>
        <a:lstStyle/>
        <a:p>
          <a:endParaRPr lang="en-US"/>
        </a:p>
      </dgm:t>
    </dgm:pt>
    <dgm:pt modelId="{7E68FB6E-A5AB-4600-8DCF-A3CF28D8A20C}" type="pres">
      <dgm:prSet presAssocID="{6A3159F0-5F18-4927-8C3E-2030F75B76CF}" presName="accent_5" presStyleCnt="0"/>
      <dgm:spPr/>
    </dgm:pt>
    <dgm:pt modelId="{F16F840D-2EAC-4A38-934D-C3CF594E12D7}" type="pres">
      <dgm:prSet presAssocID="{6A3159F0-5F18-4927-8C3E-2030F75B76CF}" presName="accentRepeatNode" presStyleLbl="solidFgAcc1" presStyleIdx="4" presStyleCnt="5"/>
      <dgm:spPr/>
    </dgm:pt>
  </dgm:ptLst>
  <dgm:cxnLst>
    <dgm:cxn modelId="{B6AB6A06-3904-43AE-B665-B646093F4CEA}" type="presOf" srcId="{D9336A19-74A5-4DA9-9883-A96898515B59}" destId="{AEF8952F-3455-42AB-B690-87ED11577A57}" srcOrd="0" destOrd="0" presId="urn:microsoft.com/office/officeart/2008/layout/VerticalCurvedList"/>
    <dgm:cxn modelId="{5A75C55C-4403-41B3-A119-76049C4B8A20}" type="presOf" srcId="{DA5B6F2B-1C57-484E-9CAA-B5827046284C}" destId="{635FA07A-D788-4B88-ABCC-105701922FCA}" srcOrd="0" destOrd="0" presId="urn:microsoft.com/office/officeart/2008/layout/VerticalCurvedList"/>
    <dgm:cxn modelId="{458835BB-B046-404A-993C-DE8FE6D62B29}" srcId="{4B18758E-A227-44BA-95F8-6249F6F4E94F}" destId="{6A3159F0-5F18-4927-8C3E-2030F75B76CF}" srcOrd="4" destOrd="0" parTransId="{D0789F13-5BE7-4DAD-B4DE-09739F373101}" sibTransId="{A67132FE-5368-4A12-B53F-EB843995E249}"/>
    <dgm:cxn modelId="{1D8AA760-1734-4253-83B6-8F935C73DEC0}" srcId="{4B18758E-A227-44BA-95F8-6249F6F4E94F}" destId="{DA5B6F2B-1C57-484E-9CAA-B5827046284C}" srcOrd="3" destOrd="0" parTransId="{3C9CACF6-AD66-4E80-B4FA-76A6FA4DC3B3}" sibTransId="{217F39DF-BE01-4BB3-9115-4D6FB10D34D7}"/>
    <dgm:cxn modelId="{F4F49B6C-2045-4831-A423-AB33E3900F14}" srcId="{4B18758E-A227-44BA-95F8-6249F6F4E94F}" destId="{679058AA-0276-4C51-9B5F-FDED2141299D}" srcOrd="0" destOrd="0" parTransId="{4C931473-9B7F-4731-8774-0FC23243AD7E}" sibTransId="{0575A0CF-4953-4515-ADFE-35ACF7B2EC6C}"/>
    <dgm:cxn modelId="{85D65F34-EDFE-4204-838C-B8922857FDAB}" srcId="{4B18758E-A227-44BA-95F8-6249F6F4E94F}" destId="{D9336A19-74A5-4DA9-9883-A96898515B59}" srcOrd="2" destOrd="0" parTransId="{DEFF9325-3E4D-4A3A-866E-E610CA9A75A8}" sibTransId="{DDB19D93-4133-48BF-80CC-A1B66F94365D}"/>
    <dgm:cxn modelId="{CC68224C-72D2-4978-AD59-A440525D6A27}" type="presOf" srcId="{6A3159F0-5F18-4927-8C3E-2030F75B76CF}" destId="{F50DF557-3ABD-4834-88F6-6F519157C1AF}" srcOrd="0" destOrd="0" presId="urn:microsoft.com/office/officeart/2008/layout/VerticalCurvedList"/>
    <dgm:cxn modelId="{223C9FBF-0B59-496E-8703-557653254BF5}" type="presOf" srcId="{4B18758E-A227-44BA-95F8-6249F6F4E94F}" destId="{DE879B87-9AE0-4C6F-A102-D337AC07709C}" srcOrd="0" destOrd="0" presId="urn:microsoft.com/office/officeart/2008/layout/VerticalCurvedList"/>
    <dgm:cxn modelId="{794D2134-86B7-46CA-9252-EC7C8B81CA93}" type="presOf" srcId="{58CE6F1E-19C9-4104-A910-92A789B2710B}" destId="{19743172-2B39-4EA4-9C2A-1732E4DE088F}" srcOrd="0" destOrd="0" presId="urn:microsoft.com/office/officeart/2008/layout/VerticalCurvedList"/>
    <dgm:cxn modelId="{62C46E2D-59A9-46C3-ACD5-CBC935C20141}" type="presOf" srcId="{679058AA-0276-4C51-9B5F-FDED2141299D}" destId="{66B41250-7485-4278-8866-EC6147C1AA0F}" srcOrd="0" destOrd="0" presId="urn:microsoft.com/office/officeart/2008/layout/VerticalCurvedList"/>
    <dgm:cxn modelId="{C12F20DB-61A9-48E9-8AF7-D8E4267802CB}" srcId="{4B18758E-A227-44BA-95F8-6249F6F4E94F}" destId="{58CE6F1E-19C9-4104-A910-92A789B2710B}" srcOrd="1" destOrd="0" parTransId="{2AE14890-007D-45B3-9FC9-11B5646078A2}" sibTransId="{2DE2508B-6AB9-4B11-BE9A-D2E55E44682C}"/>
    <dgm:cxn modelId="{0BC5E95D-0322-472F-B7C4-582960A48B35}" type="presOf" srcId="{0575A0CF-4953-4515-ADFE-35ACF7B2EC6C}" destId="{1E4486E3-51C7-4A69-BB79-DAAEE60DFBD8}" srcOrd="0" destOrd="0" presId="urn:microsoft.com/office/officeart/2008/layout/VerticalCurvedList"/>
    <dgm:cxn modelId="{BD93C6BD-3A4C-4DDC-A63A-2A0773BC34EF}" type="presParOf" srcId="{DE879B87-9AE0-4C6F-A102-D337AC07709C}" destId="{B9B09980-1704-4D26-9ED5-1CF6A2984477}" srcOrd="0" destOrd="0" presId="urn:microsoft.com/office/officeart/2008/layout/VerticalCurvedList"/>
    <dgm:cxn modelId="{D40ECF9C-4170-44C0-A12B-FEBEFB09210B}" type="presParOf" srcId="{B9B09980-1704-4D26-9ED5-1CF6A2984477}" destId="{5BA60F7F-19CE-4F91-AE3D-9FA5D37DFE36}" srcOrd="0" destOrd="0" presId="urn:microsoft.com/office/officeart/2008/layout/VerticalCurvedList"/>
    <dgm:cxn modelId="{3B1CD149-A073-4E2B-9FFA-2B47D764FDA2}" type="presParOf" srcId="{5BA60F7F-19CE-4F91-AE3D-9FA5D37DFE36}" destId="{4529CCB6-F70C-418C-80EC-1C04775D8DFA}" srcOrd="0" destOrd="0" presId="urn:microsoft.com/office/officeart/2008/layout/VerticalCurvedList"/>
    <dgm:cxn modelId="{9418AEAD-326F-4E5B-A7E6-F9425975246F}" type="presParOf" srcId="{5BA60F7F-19CE-4F91-AE3D-9FA5D37DFE36}" destId="{1E4486E3-51C7-4A69-BB79-DAAEE60DFBD8}" srcOrd="1" destOrd="0" presId="urn:microsoft.com/office/officeart/2008/layout/VerticalCurvedList"/>
    <dgm:cxn modelId="{E1132144-CE59-42A7-8655-B1AC6161145A}" type="presParOf" srcId="{5BA60F7F-19CE-4F91-AE3D-9FA5D37DFE36}" destId="{6A20F4D9-74A5-4BE4-A2C7-4BFE81190EDB}" srcOrd="2" destOrd="0" presId="urn:microsoft.com/office/officeart/2008/layout/VerticalCurvedList"/>
    <dgm:cxn modelId="{72A61AF6-49F7-493E-BAE2-623F85C34770}" type="presParOf" srcId="{5BA60F7F-19CE-4F91-AE3D-9FA5D37DFE36}" destId="{20B3A9CF-6263-4F4C-9196-F47DFD1233CF}" srcOrd="3" destOrd="0" presId="urn:microsoft.com/office/officeart/2008/layout/VerticalCurvedList"/>
    <dgm:cxn modelId="{4E8FF404-2F3F-4627-8A8E-45FFB6713B9F}" type="presParOf" srcId="{B9B09980-1704-4D26-9ED5-1CF6A2984477}" destId="{66B41250-7485-4278-8866-EC6147C1AA0F}" srcOrd="1" destOrd="0" presId="urn:microsoft.com/office/officeart/2008/layout/VerticalCurvedList"/>
    <dgm:cxn modelId="{6DC6158E-79AD-40D4-9749-AD67DC608718}" type="presParOf" srcId="{B9B09980-1704-4D26-9ED5-1CF6A2984477}" destId="{B52C91E5-3A0C-4DAC-8809-9D4E61410046}" srcOrd="2" destOrd="0" presId="urn:microsoft.com/office/officeart/2008/layout/VerticalCurvedList"/>
    <dgm:cxn modelId="{07A38A6A-4E65-41EB-A625-DECECCA4F51E}" type="presParOf" srcId="{B52C91E5-3A0C-4DAC-8809-9D4E61410046}" destId="{A887FE50-B270-4054-A608-A38F70F22E24}" srcOrd="0" destOrd="0" presId="urn:microsoft.com/office/officeart/2008/layout/VerticalCurvedList"/>
    <dgm:cxn modelId="{0621B7FB-67DC-48DF-B3FD-27F0208A9184}" type="presParOf" srcId="{B9B09980-1704-4D26-9ED5-1CF6A2984477}" destId="{19743172-2B39-4EA4-9C2A-1732E4DE088F}" srcOrd="3" destOrd="0" presId="urn:microsoft.com/office/officeart/2008/layout/VerticalCurvedList"/>
    <dgm:cxn modelId="{689D1B25-39DC-4689-892E-8B5F48B39E21}" type="presParOf" srcId="{B9B09980-1704-4D26-9ED5-1CF6A2984477}" destId="{3A160792-702F-4982-A981-AC399759E02C}" srcOrd="4" destOrd="0" presId="urn:microsoft.com/office/officeart/2008/layout/VerticalCurvedList"/>
    <dgm:cxn modelId="{006E1477-DE97-45CD-A1B5-BA131F4F2024}" type="presParOf" srcId="{3A160792-702F-4982-A981-AC399759E02C}" destId="{F65C0F7D-7BCD-42E9-8905-A4EE6E7A4BBC}" srcOrd="0" destOrd="0" presId="urn:microsoft.com/office/officeart/2008/layout/VerticalCurvedList"/>
    <dgm:cxn modelId="{CBE511CD-0EA1-4E49-AB29-720E4AC2F962}" type="presParOf" srcId="{B9B09980-1704-4D26-9ED5-1CF6A2984477}" destId="{AEF8952F-3455-42AB-B690-87ED11577A57}" srcOrd="5" destOrd="0" presId="urn:microsoft.com/office/officeart/2008/layout/VerticalCurvedList"/>
    <dgm:cxn modelId="{C2B76C1E-5BD6-47B3-8432-0353FCA60AB3}" type="presParOf" srcId="{B9B09980-1704-4D26-9ED5-1CF6A2984477}" destId="{ED03905B-45D5-493E-874D-DD3A85C18BEA}" srcOrd="6" destOrd="0" presId="urn:microsoft.com/office/officeart/2008/layout/VerticalCurvedList"/>
    <dgm:cxn modelId="{4E173097-3DB8-4CCF-8EFD-29BE5EBF9DEE}" type="presParOf" srcId="{ED03905B-45D5-493E-874D-DD3A85C18BEA}" destId="{96150363-8434-4FFB-9457-676BDD8B6491}" srcOrd="0" destOrd="0" presId="urn:microsoft.com/office/officeart/2008/layout/VerticalCurvedList"/>
    <dgm:cxn modelId="{341CCA93-277E-4167-957F-3CBBFE1FEC88}" type="presParOf" srcId="{B9B09980-1704-4D26-9ED5-1CF6A2984477}" destId="{635FA07A-D788-4B88-ABCC-105701922FCA}" srcOrd="7" destOrd="0" presId="urn:microsoft.com/office/officeart/2008/layout/VerticalCurvedList"/>
    <dgm:cxn modelId="{39354F5A-88BA-4E04-B04F-C028F11AD450}" type="presParOf" srcId="{B9B09980-1704-4D26-9ED5-1CF6A2984477}" destId="{2C25BC09-7D6E-4D68-AF02-473202EA39CC}" srcOrd="8" destOrd="0" presId="urn:microsoft.com/office/officeart/2008/layout/VerticalCurvedList"/>
    <dgm:cxn modelId="{37344155-536C-418F-ADF3-E11C8C4BF349}" type="presParOf" srcId="{2C25BC09-7D6E-4D68-AF02-473202EA39CC}" destId="{266F3627-23BD-4F7A-A909-68CCCD11C832}" srcOrd="0" destOrd="0" presId="urn:microsoft.com/office/officeart/2008/layout/VerticalCurvedList"/>
    <dgm:cxn modelId="{B8371D0B-97F0-46F1-BD1B-0BE8555BE235}" type="presParOf" srcId="{B9B09980-1704-4D26-9ED5-1CF6A2984477}" destId="{F50DF557-3ABD-4834-88F6-6F519157C1AF}" srcOrd="9" destOrd="0" presId="urn:microsoft.com/office/officeart/2008/layout/VerticalCurvedList"/>
    <dgm:cxn modelId="{64DA1C02-A2FE-420F-AAF3-715C52275142}" type="presParOf" srcId="{B9B09980-1704-4D26-9ED5-1CF6A2984477}" destId="{7E68FB6E-A5AB-4600-8DCF-A3CF28D8A20C}" srcOrd="10" destOrd="0" presId="urn:microsoft.com/office/officeart/2008/layout/VerticalCurvedList"/>
    <dgm:cxn modelId="{5224F653-A8B1-4F5B-9E5E-28FE5E9758F8}" type="presParOf" srcId="{7E68FB6E-A5AB-4600-8DCF-A3CF28D8A20C}" destId="{F16F840D-2EAC-4A38-934D-C3CF594E12D7}"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B18758E-A227-44BA-95F8-6249F6F4E94F}"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679058AA-0276-4C51-9B5F-FDED2141299D}">
      <dgm:prSet phldrT="[Text]"/>
      <dgm:spPr/>
      <dgm:t>
        <a:bodyPr/>
        <a:lstStyle/>
        <a:p>
          <a:r>
            <a:rPr lang="en-CA" dirty="0"/>
            <a:t>Inspection Modes</a:t>
          </a:r>
        </a:p>
      </dgm:t>
    </dgm:pt>
    <dgm:pt modelId="{4C931473-9B7F-4731-8774-0FC23243AD7E}" type="parTrans" cxnId="{F4F49B6C-2045-4831-A423-AB33E3900F14}">
      <dgm:prSet/>
      <dgm:spPr/>
      <dgm:t>
        <a:bodyPr/>
        <a:lstStyle/>
        <a:p>
          <a:endParaRPr lang="en-CA"/>
        </a:p>
      </dgm:t>
    </dgm:pt>
    <dgm:pt modelId="{0575A0CF-4953-4515-ADFE-35ACF7B2EC6C}" type="sibTrans" cxnId="{F4F49B6C-2045-4831-A423-AB33E3900F14}">
      <dgm:prSet/>
      <dgm:spPr/>
      <dgm:t>
        <a:bodyPr/>
        <a:lstStyle/>
        <a:p>
          <a:endParaRPr lang="en-CA"/>
        </a:p>
      </dgm:t>
    </dgm:pt>
    <dgm:pt modelId="{004D714E-A2B4-443C-ACF3-DAE04A949731}">
      <dgm:prSet phldrT="[Text]"/>
      <dgm:spPr/>
      <dgm:t>
        <a:bodyPr/>
        <a:lstStyle/>
        <a:p>
          <a:r>
            <a:rPr lang="en-CA" dirty="0"/>
            <a:t>Web Filtering Basics</a:t>
          </a:r>
        </a:p>
      </dgm:t>
    </dgm:pt>
    <dgm:pt modelId="{A632DF73-047F-4FC7-B5B6-AE2767BC34AD}" type="parTrans" cxnId="{AE6250E0-71A6-49AF-B025-728555CD7FA7}">
      <dgm:prSet/>
      <dgm:spPr/>
      <dgm:t>
        <a:bodyPr/>
        <a:lstStyle/>
        <a:p>
          <a:endParaRPr lang="en-CA"/>
        </a:p>
      </dgm:t>
    </dgm:pt>
    <dgm:pt modelId="{5CCADC2C-9A18-45A8-B298-AB9B56D5B2BE}" type="sibTrans" cxnId="{AE6250E0-71A6-49AF-B025-728555CD7FA7}">
      <dgm:prSet/>
      <dgm:spPr/>
      <dgm:t>
        <a:bodyPr/>
        <a:lstStyle/>
        <a:p>
          <a:endParaRPr lang="en-CA"/>
        </a:p>
      </dgm:t>
    </dgm:pt>
    <dgm:pt modelId="{852F7442-3A19-4CBC-8440-BAAEF98383AF}">
      <dgm:prSet/>
      <dgm:spPr/>
      <dgm:t>
        <a:bodyPr/>
        <a:lstStyle/>
        <a:p>
          <a:r>
            <a:rPr lang="en-CA" dirty="0"/>
            <a:t>Additional Proxy-Based Web Filtering Features</a:t>
          </a:r>
        </a:p>
      </dgm:t>
    </dgm:pt>
    <dgm:pt modelId="{90E2FEFC-2EA6-46B9-BBC1-25ABB639B6F3}" type="parTrans" cxnId="{EAF12E7C-DC53-45CE-8017-94CD0613B19A}">
      <dgm:prSet/>
      <dgm:spPr/>
      <dgm:t>
        <a:bodyPr/>
        <a:lstStyle/>
        <a:p>
          <a:endParaRPr lang="en-CA"/>
        </a:p>
      </dgm:t>
    </dgm:pt>
    <dgm:pt modelId="{F30A31F5-57A9-4545-834E-F4C7DDA42A34}" type="sibTrans" cxnId="{EAF12E7C-DC53-45CE-8017-94CD0613B19A}">
      <dgm:prSet/>
      <dgm:spPr/>
      <dgm:t>
        <a:bodyPr/>
        <a:lstStyle/>
        <a:p>
          <a:endParaRPr lang="en-CA"/>
        </a:p>
      </dgm:t>
    </dgm:pt>
    <dgm:pt modelId="{C54CB214-800D-4BF2-9471-B9A307D4E781}">
      <dgm:prSet/>
      <dgm:spPr/>
      <dgm:t>
        <a:bodyPr/>
        <a:lstStyle/>
        <a:p>
          <a:r>
            <a:rPr lang="en-CA" dirty="0" smtClean="0"/>
            <a:t>Video </a:t>
          </a:r>
          <a:r>
            <a:rPr lang="en-CA" dirty="0"/>
            <a:t>Filtering</a:t>
          </a:r>
        </a:p>
      </dgm:t>
    </dgm:pt>
    <dgm:pt modelId="{77B20C94-9730-40F2-8B46-525DA594C05E}" type="parTrans" cxnId="{9C1E7455-CC9F-4DB1-BC6E-8F287E9A7BCE}">
      <dgm:prSet/>
      <dgm:spPr/>
      <dgm:t>
        <a:bodyPr/>
        <a:lstStyle/>
        <a:p>
          <a:endParaRPr lang="en-CA"/>
        </a:p>
      </dgm:t>
    </dgm:pt>
    <dgm:pt modelId="{C2D36379-1213-4813-A3BE-52E39A4AA68B}" type="sibTrans" cxnId="{9C1E7455-CC9F-4DB1-BC6E-8F287E9A7BCE}">
      <dgm:prSet/>
      <dgm:spPr/>
      <dgm:t>
        <a:bodyPr/>
        <a:lstStyle/>
        <a:p>
          <a:endParaRPr lang="en-CA"/>
        </a:p>
      </dgm:t>
    </dgm:pt>
    <dgm:pt modelId="{83A9F3CF-3BBE-49E0-A092-63198D9DF492}">
      <dgm:prSet/>
      <dgm:spPr/>
      <dgm:t>
        <a:bodyPr/>
        <a:lstStyle/>
        <a:p>
          <a:r>
            <a:rPr lang="en-CA" dirty="0"/>
            <a:t>Best Practices and Troubleshooting</a:t>
          </a:r>
        </a:p>
      </dgm:t>
    </dgm:pt>
    <dgm:pt modelId="{422EEA39-BE3B-447F-88D6-C2DEEE701B87}" type="parTrans" cxnId="{F8C5CFCF-9297-439D-84DA-61FC596C0F56}">
      <dgm:prSet/>
      <dgm:spPr/>
      <dgm:t>
        <a:bodyPr/>
        <a:lstStyle/>
        <a:p>
          <a:endParaRPr lang="en-CA"/>
        </a:p>
      </dgm:t>
    </dgm:pt>
    <dgm:pt modelId="{95D1B89B-9E62-46DB-83AD-61061C83DFA8}" type="sibTrans" cxnId="{F8C5CFCF-9297-439D-84DA-61FC596C0F56}">
      <dgm:prSet/>
      <dgm:spPr/>
      <dgm:t>
        <a:bodyPr/>
        <a:lstStyle/>
        <a:p>
          <a:endParaRPr lang="en-CA"/>
        </a:p>
      </dgm:t>
    </dgm:pt>
    <dgm:pt modelId="{DE879B87-9AE0-4C6F-A102-D337AC07709C}" type="pres">
      <dgm:prSet presAssocID="{4B18758E-A227-44BA-95F8-6249F6F4E94F}" presName="Name0" presStyleCnt="0">
        <dgm:presLayoutVars>
          <dgm:chMax val="7"/>
          <dgm:chPref val="7"/>
          <dgm:dir/>
        </dgm:presLayoutVars>
      </dgm:prSet>
      <dgm:spPr/>
      <dgm:t>
        <a:bodyPr/>
        <a:lstStyle/>
        <a:p>
          <a:endParaRPr lang="en-US"/>
        </a:p>
      </dgm:t>
    </dgm:pt>
    <dgm:pt modelId="{B9B09980-1704-4D26-9ED5-1CF6A2984477}" type="pres">
      <dgm:prSet presAssocID="{4B18758E-A227-44BA-95F8-6249F6F4E94F}" presName="Name1" presStyleCnt="0"/>
      <dgm:spPr/>
    </dgm:pt>
    <dgm:pt modelId="{5BA60F7F-19CE-4F91-AE3D-9FA5D37DFE36}" type="pres">
      <dgm:prSet presAssocID="{4B18758E-A227-44BA-95F8-6249F6F4E94F}" presName="cycle" presStyleCnt="0"/>
      <dgm:spPr/>
    </dgm:pt>
    <dgm:pt modelId="{4529CCB6-F70C-418C-80EC-1C04775D8DFA}" type="pres">
      <dgm:prSet presAssocID="{4B18758E-A227-44BA-95F8-6249F6F4E94F}" presName="srcNode" presStyleLbl="node1" presStyleIdx="0" presStyleCnt="5"/>
      <dgm:spPr/>
    </dgm:pt>
    <dgm:pt modelId="{1E4486E3-51C7-4A69-BB79-DAAEE60DFBD8}" type="pres">
      <dgm:prSet presAssocID="{4B18758E-A227-44BA-95F8-6249F6F4E94F}" presName="conn" presStyleLbl="parChTrans1D2" presStyleIdx="0" presStyleCnt="1"/>
      <dgm:spPr/>
      <dgm:t>
        <a:bodyPr/>
        <a:lstStyle/>
        <a:p>
          <a:endParaRPr lang="en-US"/>
        </a:p>
      </dgm:t>
    </dgm:pt>
    <dgm:pt modelId="{6A20F4D9-74A5-4BE4-A2C7-4BFE81190EDB}" type="pres">
      <dgm:prSet presAssocID="{4B18758E-A227-44BA-95F8-6249F6F4E94F}" presName="extraNode" presStyleLbl="node1" presStyleIdx="0" presStyleCnt="5"/>
      <dgm:spPr/>
    </dgm:pt>
    <dgm:pt modelId="{20B3A9CF-6263-4F4C-9196-F47DFD1233CF}" type="pres">
      <dgm:prSet presAssocID="{4B18758E-A227-44BA-95F8-6249F6F4E94F}" presName="dstNode" presStyleLbl="node1" presStyleIdx="0" presStyleCnt="5"/>
      <dgm:spPr/>
    </dgm:pt>
    <dgm:pt modelId="{66B41250-7485-4278-8866-EC6147C1AA0F}" type="pres">
      <dgm:prSet presAssocID="{679058AA-0276-4C51-9B5F-FDED2141299D}" presName="text_1" presStyleLbl="node1" presStyleIdx="0" presStyleCnt="5">
        <dgm:presLayoutVars>
          <dgm:bulletEnabled val="1"/>
        </dgm:presLayoutVars>
      </dgm:prSet>
      <dgm:spPr/>
      <dgm:t>
        <a:bodyPr/>
        <a:lstStyle/>
        <a:p>
          <a:endParaRPr lang="en-US"/>
        </a:p>
      </dgm:t>
    </dgm:pt>
    <dgm:pt modelId="{B52C91E5-3A0C-4DAC-8809-9D4E61410046}" type="pres">
      <dgm:prSet presAssocID="{679058AA-0276-4C51-9B5F-FDED2141299D}" presName="accent_1" presStyleCnt="0"/>
      <dgm:spPr/>
    </dgm:pt>
    <dgm:pt modelId="{A887FE50-B270-4054-A608-A38F70F22E24}" type="pres">
      <dgm:prSet presAssocID="{679058AA-0276-4C51-9B5F-FDED2141299D}" presName="accentRepeatNode" presStyleLbl="solidFgAcc1" presStyleIdx="0" presStyleCnt="5"/>
      <dgm:spPr/>
    </dgm:pt>
    <dgm:pt modelId="{5E8065D3-4DCE-4BD3-A567-CE13BE6A3938}" type="pres">
      <dgm:prSet presAssocID="{004D714E-A2B4-443C-ACF3-DAE04A949731}" presName="text_2" presStyleLbl="node1" presStyleIdx="1" presStyleCnt="5">
        <dgm:presLayoutVars>
          <dgm:bulletEnabled val="1"/>
        </dgm:presLayoutVars>
      </dgm:prSet>
      <dgm:spPr/>
      <dgm:t>
        <a:bodyPr/>
        <a:lstStyle/>
        <a:p>
          <a:endParaRPr lang="en-US"/>
        </a:p>
      </dgm:t>
    </dgm:pt>
    <dgm:pt modelId="{AFDA4DE9-AB68-4B33-ADC8-E89BA2810BAC}" type="pres">
      <dgm:prSet presAssocID="{004D714E-A2B4-443C-ACF3-DAE04A949731}" presName="accent_2" presStyleCnt="0"/>
      <dgm:spPr/>
    </dgm:pt>
    <dgm:pt modelId="{962AD2FA-BC8D-4E13-BF91-883A3618F24F}" type="pres">
      <dgm:prSet presAssocID="{004D714E-A2B4-443C-ACF3-DAE04A949731}" presName="accentRepeatNode" presStyleLbl="solidFgAcc1" presStyleIdx="1" presStyleCnt="5"/>
      <dgm:spPr/>
    </dgm:pt>
    <dgm:pt modelId="{E3861C35-8752-40A6-A089-5CD449BAC6D4}" type="pres">
      <dgm:prSet presAssocID="{852F7442-3A19-4CBC-8440-BAAEF98383AF}" presName="text_3" presStyleLbl="node1" presStyleIdx="2" presStyleCnt="5">
        <dgm:presLayoutVars>
          <dgm:bulletEnabled val="1"/>
        </dgm:presLayoutVars>
      </dgm:prSet>
      <dgm:spPr/>
      <dgm:t>
        <a:bodyPr/>
        <a:lstStyle/>
        <a:p>
          <a:endParaRPr lang="en-US"/>
        </a:p>
      </dgm:t>
    </dgm:pt>
    <dgm:pt modelId="{A09B0F5B-4D33-4503-A73E-B775C944C4B1}" type="pres">
      <dgm:prSet presAssocID="{852F7442-3A19-4CBC-8440-BAAEF98383AF}" presName="accent_3" presStyleCnt="0"/>
      <dgm:spPr/>
    </dgm:pt>
    <dgm:pt modelId="{4CB9E30F-6B15-4A5A-B250-18D586845927}" type="pres">
      <dgm:prSet presAssocID="{852F7442-3A19-4CBC-8440-BAAEF98383AF}" presName="accentRepeatNode" presStyleLbl="solidFgAcc1" presStyleIdx="2" presStyleCnt="5"/>
      <dgm:spPr/>
    </dgm:pt>
    <dgm:pt modelId="{BF3F084B-1581-45C9-8AF2-88209B7D3014}" type="pres">
      <dgm:prSet presAssocID="{C54CB214-800D-4BF2-9471-B9A307D4E781}" presName="text_4" presStyleLbl="node1" presStyleIdx="3" presStyleCnt="5">
        <dgm:presLayoutVars>
          <dgm:bulletEnabled val="1"/>
        </dgm:presLayoutVars>
      </dgm:prSet>
      <dgm:spPr/>
      <dgm:t>
        <a:bodyPr/>
        <a:lstStyle/>
        <a:p>
          <a:endParaRPr lang="en-US"/>
        </a:p>
      </dgm:t>
    </dgm:pt>
    <dgm:pt modelId="{497C4697-8B89-402A-B5FD-EA433D4E5521}" type="pres">
      <dgm:prSet presAssocID="{C54CB214-800D-4BF2-9471-B9A307D4E781}" presName="accent_4" presStyleCnt="0"/>
      <dgm:spPr/>
    </dgm:pt>
    <dgm:pt modelId="{C039BE2F-7C58-4D62-8FDB-1AE01B555E69}" type="pres">
      <dgm:prSet presAssocID="{C54CB214-800D-4BF2-9471-B9A307D4E781}" presName="accentRepeatNode" presStyleLbl="solidFgAcc1" presStyleIdx="3" presStyleCnt="5"/>
      <dgm:spPr/>
    </dgm:pt>
    <dgm:pt modelId="{6BC5E46E-2072-4015-A5DB-26A28AC60E8D}" type="pres">
      <dgm:prSet presAssocID="{83A9F3CF-3BBE-49E0-A092-63198D9DF492}" presName="text_5" presStyleLbl="node1" presStyleIdx="4" presStyleCnt="5">
        <dgm:presLayoutVars>
          <dgm:bulletEnabled val="1"/>
        </dgm:presLayoutVars>
      </dgm:prSet>
      <dgm:spPr/>
      <dgm:t>
        <a:bodyPr/>
        <a:lstStyle/>
        <a:p>
          <a:endParaRPr lang="en-US"/>
        </a:p>
      </dgm:t>
    </dgm:pt>
    <dgm:pt modelId="{44DC960F-A048-4308-943B-778F148DBF14}" type="pres">
      <dgm:prSet presAssocID="{83A9F3CF-3BBE-49E0-A092-63198D9DF492}" presName="accent_5" presStyleCnt="0"/>
      <dgm:spPr/>
    </dgm:pt>
    <dgm:pt modelId="{A0F81426-469C-4A2B-AFA2-587912462E64}" type="pres">
      <dgm:prSet presAssocID="{83A9F3CF-3BBE-49E0-A092-63198D9DF492}" presName="accentRepeatNode" presStyleLbl="solidFgAcc1" presStyleIdx="4" presStyleCnt="5"/>
      <dgm:spPr/>
    </dgm:pt>
  </dgm:ptLst>
  <dgm:cxnLst>
    <dgm:cxn modelId="{1CBD8887-3855-4FE8-A9AE-8264B118DE46}" type="presOf" srcId="{852F7442-3A19-4CBC-8440-BAAEF98383AF}" destId="{E3861C35-8752-40A6-A089-5CD449BAC6D4}" srcOrd="0" destOrd="0" presId="urn:microsoft.com/office/officeart/2008/layout/VerticalCurvedList"/>
    <dgm:cxn modelId="{AE6250E0-71A6-49AF-B025-728555CD7FA7}" srcId="{4B18758E-A227-44BA-95F8-6249F6F4E94F}" destId="{004D714E-A2B4-443C-ACF3-DAE04A949731}" srcOrd="1" destOrd="0" parTransId="{A632DF73-047F-4FC7-B5B6-AE2767BC34AD}" sibTransId="{5CCADC2C-9A18-45A8-B298-AB9B56D5B2BE}"/>
    <dgm:cxn modelId="{7B58FA45-BE67-45E3-B2C7-AE01D4E62E8B}" type="presOf" srcId="{83A9F3CF-3BBE-49E0-A092-63198D9DF492}" destId="{6BC5E46E-2072-4015-A5DB-26A28AC60E8D}" srcOrd="0" destOrd="0" presId="urn:microsoft.com/office/officeart/2008/layout/VerticalCurvedList"/>
    <dgm:cxn modelId="{9C1E7455-CC9F-4DB1-BC6E-8F287E9A7BCE}" srcId="{4B18758E-A227-44BA-95F8-6249F6F4E94F}" destId="{C54CB214-800D-4BF2-9471-B9A307D4E781}" srcOrd="3" destOrd="0" parTransId="{77B20C94-9730-40F2-8B46-525DA594C05E}" sibTransId="{C2D36379-1213-4813-A3BE-52E39A4AA68B}"/>
    <dgm:cxn modelId="{F8C5CFCF-9297-439D-84DA-61FC596C0F56}" srcId="{4B18758E-A227-44BA-95F8-6249F6F4E94F}" destId="{83A9F3CF-3BBE-49E0-A092-63198D9DF492}" srcOrd="4" destOrd="0" parTransId="{422EEA39-BE3B-447F-88D6-C2DEEE701B87}" sibTransId="{95D1B89B-9E62-46DB-83AD-61061C83DFA8}"/>
    <dgm:cxn modelId="{C39F3D9F-C671-4A31-8E70-3946CD3DA913}" type="presOf" srcId="{004D714E-A2B4-443C-ACF3-DAE04A949731}" destId="{5E8065D3-4DCE-4BD3-A567-CE13BE6A3938}" srcOrd="0" destOrd="0" presId="urn:microsoft.com/office/officeart/2008/layout/VerticalCurvedList"/>
    <dgm:cxn modelId="{49939BC8-6451-4124-8D81-7CF2F76EDE58}" type="presOf" srcId="{C54CB214-800D-4BF2-9471-B9A307D4E781}" destId="{BF3F084B-1581-45C9-8AF2-88209B7D3014}" srcOrd="0" destOrd="0" presId="urn:microsoft.com/office/officeart/2008/layout/VerticalCurvedList"/>
    <dgm:cxn modelId="{F4F49B6C-2045-4831-A423-AB33E3900F14}" srcId="{4B18758E-A227-44BA-95F8-6249F6F4E94F}" destId="{679058AA-0276-4C51-9B5F-FDED2141299D}" srcOrd="0" destOrd="0" parTransId="{4C931473-9B7F-4731-8774-0FC23243AD7E}" sibTransId="{0575A0CF-4953-4515-ADFE-35ACF7B2EC6C}"/>
    <dgm:cxn modelId="{EAF12E7C-DC53-45CE-8017-94CD0613B19A}" srcId="{4B18758E-A227-44BA-95F8-6249F6F4E94F}" destId="{852F7442-3A19-4CBC-8440-BAAEF98383AF}" srcOrd="2" destOrd="0" parTransId="{90E2FEFC-2EA6-46B9-BBC1-25ABB639B6F3}" sibTransId="{F30A31F5-57A9-4545-834E-F4C7DDA42A34}"/>
    <dgm:cxn modelId="{63C9C9CA-80EE-4D4D-9A33-9C18B39D229F}" type="presOf" srcId="{4B18758E-A227-44BA-95F8-6249F6F4E94F}" destId="{DE879B87-9AE0-4C6F-A102-D337AC07709C}" srcOrd="0" destOrd="0" presId="urn:microsoft.com/office/officeart/2008/layout/VerticalCurvedList"/>
    <dgm:cxn modelId="{9AE2F6F6-8834-4492-9A17-92B0A313E50E}" type="presOf" srcId="{679058AA-0276-4C51-9B5F-FDED2141299D}" destId="{66B41250-7485-4278-8866-EC6147C1AA0F}" srcOrd="0" destOrd="0" presId="urn:microsoft.com/office/officeart/2008/layout/VerticalCurvedList"/>
    <dgm:cxn modelId="{9FA47595-3451-4F18-B9FB-18CF7E2EE23C}" type="presOf" srcId="{0575A0CF-4953-4515-ADFE-35ACF7B2EC6C}" destId="{1E4486E3-51C7-4A69-BB79-DAAEE60DFBD8}" srcOrd="0" destOrd="0" presId="urn:microsoft.com/office/officeart/2008/layout/VerticalCurvedList"/>
    <dgm:cxn modelId="{A91C34D5-64BB-4452-B9AD-BA3085687644}" type="presParOf" srcId="{DE879B87-9AE0-4C6F-A102-D337AC07709C}" destId="{B9B09980-1704-4D26-9ED5-1CF6A2984477}" srcOrd="0" destOrd="0" presId="urn:microsoft.com/office/officeart/2008/layout/VerticalCurvedList"/>
    <dgm:cxn modelId="{275F7C15-A9F5-49E0-A72F-AD3E07DF2ACB}" type="presParOf" srcId="{B9B09980-1704-4D26-9ED5-1CF6A2984477}" destId="{5BA60F7F-19CE-4F91-AE3D-9FA5D37DFE36}" srcOrd="0" destOrd="0" presId="urn:microsoft.com/office/officeart/2008/layout/VerticalCurvedList"/>
    <dgm:cxn modelId="{E87496E9-F5C5-47F0-9D89-CB2C9CDC9DAC}" type="presParOf" srcId="{5BA60F7F-19CE-4F91-AE3D-9FA5D37DFE36}" destId="{4529CCB6-F70C-418C-80EC-1C04775D8DFA}" srcOrd="0" destOrd="0" presId="urn:microsoft.com/office/officeart/2008/layout/VerticalCurvedList"/>
    <dgm:cxn modelId="{2C296278-3207-4192-9A3C-645ADB09D988}" type="presParOf" srcId="{5BA60F7F-19CE-4F91-AE3D-9FA5D37DFE36}" destId="{1E4486E3-51C7-4A69-BB79-DAAEE60DFBD8}" srcOrd="1" destOrd="0" presId="urn:microsoft.com/office/officeart/2008/layout/VerticalCurvedList"/>
    <dgm:cxn modelId="{036C09E1-9B20-4885-A7B0-E3FDC34840C4}" type="presParOf" srcId="{5BA60F7F-19CE-4F91-AE3D-9FA5D37DFE36}" destId="{6A20F4D9-74A5-4BE4-A2C7-4BFE81190EDB}" srcOrd="2" destOrd="0" presId="urn:microsoft.com/office/officeart/2008/layout/VerticalCurvedList"/>
    <dgm:cxn modelId="{4C256D63-392F-4D0A-8F4D-A5AF8072521E}" type="presParOf" srcId="{5BA60F7F-19CE-4F91-AE3D-9FA5D37DFE36}" destId="{20B3A9CF-6263-4F4C-9196-F47DFD1233CF}" srcOrd="3" destOrd="0" presId="urn:microsoft.com/office/officeart/2008/layout/VerticalCurvedList"/>
    <dgm:cxn modelId="{D7FBE8EB-87F8-48A7-8351-5305123DCDE3}" type="presParOf" srcId="{B9B09980-1704-4D26-9ED5-1CF6A2984477}" destId="{66B41250-7485-4278-8866-EC6147C1AA0F}" srcOrd="1" destOrd="0" presId="urn:microsoft.com/office/officeart/2008/layout/VerticalCurvedList"/>
    <dgm:cxn modelId="{EB8D1E61-6A34-400D-B865-BB6C8CE9464F}" type="presParOf" srcId="{B9B09980-1704-4D26-9ED5-1CF6A2984477}" destId="{B52C91E5-3A0C-4DAC-8809-9D4E61410046}" srcOrd="2" destOrd="0" presId="urn:microsoft.com/office/officeart/2008/layout/VerticalCurvedList"/>
    <dgm:cxn modelId="{74158B9E-4A7F-4DC6-91ED-897A17C62071}" type="presParOf" srcId="{B52C91E5-3A0C-4DAC-8809-9D4E61410046}" destId="{A887FE50-B270-4054-A608-A38F70F22E24}" srcOrd="0" destOrd="0" presId="urn:microsoft.com/office/officeart/2008/layout/VerticalCurvedList"/>
    <dgm:cxn modelId="{85BC24C6-6952-4770-906C-FA264961358E}" type="presParOf" srcId="{B9B09980-1704-4D26-9ED5-1CF6A2984477}" destId="{5E8065D3-4DCE-4BD3-A567-CE13BE6A3938}" srcOrd="3" destOrd="0" presId="urn:microsoft.com/office/officeart/2008/layout/VerticalCurvedList"/>
    <dgm:cxn modelId="{6872D8BE-94E0-4DA5-A130-8D65A7CE0ADA}" type="presParOf" srcId="{B9B09980-1704-4D26-9ED5-1CF6A2984477}" destId="{AFDA4DE9-AB68-4B33-ADC8-E89BA2810BAC}" srcOrd="4" destOrd="0" presId="urn:microsoft.com/office/officeart/2008/layout/VerticalCurvedList"/>
    <dgm:cxn modelId="{2910C968-96E9-4F5D-8363-9044E5E2A7BB}" type="presParOf" srcId="{AFDA4DE9-AB68-4B33-ADC8-E89BA2810BAC}" destId="{962AD2FA-BC8D-4E13-BF91-883A3618F24F}" srcOrd="0" destOrd="0" presId="urn:microsoft.com/office/officeart/2008/layout/VerticalCurvedList"/>
    <dgm:cxn modelId="{C91592C9-0969-458A-B27B-09829684D840}" type="presParOf" srcId="{B9B09980-1704-4D26-9ED5-1CF6A2984477}" destId="{E3861C35-8752-40A6-A089-5CD449BAC6D4}" srcOrd="5" destOrd="0" presId="urn:microsoft.com/office/officeart/2008/layout/VerticalCurvedList"/>
    <dgm:cxn modelId="{32582F16-4A42-42DE-87A9-CC5E9ED46DD2}" type="presParOf" srcId="{B9B09980-1704-4D26-9ED5-1CF6A2984477}" destId="{A09B0F5B-4D33-4503-A73E-B775C944C4B1}" srcOrd="6" destOrd="0" presId="urn:microsoft.com/office/officeart/2008/layout/VerticalCurvedList"/>
    <dgm:cxn modelId="{B2E909E7-DC43-4694-921B-E9B3BD4BE7FA}" type="presParOf" srcId="{A09B0F5B-4D33-4503-A73E-B775C944C4B1}" destId="{4CB9E30F-6B15-4A5A-B250-18D586845927}" srcOrd="0" destOrd="0" presId="urn:microsoft.com/office/officeart/2008/layout/VerticalCurvedList"/>
    <dgm:cxn modelId="{FF931BB2-149C-4157-82A6-5B36495274F0}" type="presParOf" srcId="{B9B09980-1704-4D26-9ED5-1CF6A2984477}" destId="{BF3F084B-1581-45C9-8AF2-88209B7D3014}" srcOrd="7" destOrd="0" presId="urn:microsoft.com/office/officeart/2008/layout/VerticalCurvedList"/>
    <dgm:cxn modelId="{B8BFDE8A-BBF3-4E56-B72D-92D9CE99E709}" type="presParOf" srcId="{B9B09980-1704-4D26-9ED5-1CF6A2984477}" destId="{497C4697-8B89-402A-B5FD-EA433D4E5521}" srcOrd="8" destOrd="0" presId="urn:microsoft.com/office/officeart/2008/layout/VerticalCurvedList"/>
    <dgm:cxn modelId="{AF027D98-6BCD-408F-8D41-82A27179A4D0}" type="presParOf" srcId="{497C4697-8B89-402A-B5FD-EA433D4E5521}" destId="{C039BE2F-7C58-4D62-8FDB-1AE01B555E69}" srcOrd="0" destOrd="0" presId="urn:microsoft.com/office/officeart/2008/layout/VerticalCurvedList"/>
    <dgm:cxn modelId="{73EE34AA-B26A-4A42-8DCB-03C177A4CEF4}" type="presParOf" srcId="{B9B09980-1704-4D26-9ED5-1CF6A2984477}" destId="{6BC5E46E-2072-4015-A5DB-26A28AC60E8D}" srcOrd="9" destOrd="0" presId="urn:microsoft.com/office/officeart/2008/layout/VerticalCurvedList"/>
    <dgm:cxn modelId="{4F30C157-4245-47C5-94F0-19423EB128DD}" type="presParOf" srcId="{B9B09980-1704-4D26-9ED5-1CF6A2984477}" destId="{44DC960F-A048-4308-943B-778F148DBF14}" srcOrd="10" destOrd="0" presId="urn:microsoft.com/office/officeart/2008/layout/VerticalCurvedList"/>
    <dgm:cxn modelId="{019FB4F6-B943-4DCE-92F2-1E152F896551}" type="presParOf" srcId="{44DC960F-A048-4308-943B-778F148DBF14}" destId="{A0F81426-469C-4A2B-AFA2-587912462E64}"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B18758E-A227-44BA-95F8-6249F6F4E94F}"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679058AA-0276-4C51-9B5F-FDED2141299D}">
      <dgm:prSet phldrT="[Text]"/>
      <dgm:spPr/>
      <dgm:t>
        <a:bodyPr/>
        <a:lstStyle/>
        <a:p>
          <a:r>
            <a:rPr lang="en-CA" dirty="0"/>
            <a:t>Inspection Modes</a:t>
          </a:r>
        </a:p>
      </dgm:t>
    </dgm:pt>
    <dgm:pt modelId="{4C931473-9B7F-4731-8774-0FC23243AD7E}" type="parTrans" cxnId="{F4F49B6C-2045-4831-A423-AB33E3900F14}">
      <dgm:prSet/>
      <dgm:spPr/>
      <dgm:t>
        <a:bodyPr/>
        <a:lstStyle/>
        <a:p>
          <a:endParaRPr lang="en-CA"/>
        </a:p>
      </dgm:t>
    </dgm:pt>
    <dgm:pt modelId="{0575A0CF-4953-4515-ADFE-35ACF7B2EC6C}" type="sibTrans" cxnId="{F4F49B6C-2045-4831-A423-AB33E3900F14}">
      <dgm:prSet/>
      <dgm:spPr/>
      <dgm:t>
        <a:bodyPr/>
        <a:lstStyle/>
        <a:p>
          <a:endParaRPr lang="en-CA"/>
        </a:p>
      </dgm:t>
    </dgm:pt>
    <dgm:pt modelId="{004D714E-A2B4-443C-ACF3-DAE04A949731}">
      <dgm:prSet phldrT="[Text]"/>
      <dgm:spPr/>
      <dgm:t>
        <a:bodyPr/>
        <a:lstStyle/>
        <a:p>
          <a:r>
            <a:rPr lang="en-CA" dirty="0"/>
            <a:t>Web Filtering Basics</a:t>
          </a:r>
        </a:p>
      </dgm:t>
    </dgm:pt>
    <dgm:pt modelId="{A632DF73-047F-4FC7-B5B6-AE2767BC34AD}" type="parTrans" cxnId="{AE6250E0-71A6-49AF-B025-728555CD7FA7}">
      <dgm:prSet/>
      <dgm:spPr/>
      <dgm:t>
        <a:bodyPr/>
        <a:lstStyle/>
        <a:p>
          <a:endParaRPr lang="en-CA"/>
        </a:p>
      </dgm:t>
    </dgm:pt>
    <dgm:pt modelId="{5CCADC2C-9A18-45A8-B298-AB9B56D5B2BE}" type="sibTrans" cxnId="{AE6250E0-71A6-49AF-B025-728555CD7FA7}">
      <dgm:prSet/>
      <dgm:spPr/>
      <dgm:t>
        <a:bodyPr/>
        <a:lstStyle/>
        <a:p>
          <a:endParaRPr lang="en-CA"/>
        </a:p>
      </dgm:t>
    </dgm:pt>
    <dgm:pt modelId="{852F7442-3A19-4CBC-8440-BAAEF98383AF}">
      <dgm:prSet/>
      <dgm:spPr/>
      <dgm:t>
        <a:bodyPr/>
        <a:lstStyle/>
        <a:p>
          <a:r>
            <a:rPr lang="en-CA" dirty="0"/>
            <a:t>Additional Proxy-Based Web Filtering Features</a:t>
          </a:r>
        </a:p>
      </dgm:t>
    </dgm:pt>
    <dgm:pt modelId="{90E2FEFC-2EA6-46B9-BBC1-25ABB639B6F3}" type="parTrans" cxnId="{EAF12E7C-DC53-45CE-8017-94CD0613B19A}">
      <dgm:prSet/>
      <dgm:spPr/>
      <dgm:t>
        <a:bodyPr/>
        <a:lstStyle/>
        <a:p>
          <a:endParaRPr lang="en-CA"/>
        </a:p>
      </dgm:t>
    </dgm:pt>
    <dgm:pt modelId="{F30A31F5-57A9-4545-834E-F4C7DDA42A34}" type="sibTrans" cxnId="{EAF12E7C-DC53-45CE-8017-94CD0613B19A}">
      <dgm:prSet/>
      <dgm:spPr/>
      <dgm:t>
        <a:bodyPr/>
        <a:lstStyle/>
        <a:p>
          <a:endParaRPr lang="en-CA"/>
        </a:p>
      </dgm:t>
    </dgm:pt>
    <dgm:pt modelId="{C54CB214-800D-4BF2-9471-B9A307D4E781}">
      <dgm:prSet/>
      <dgm:spPr/>
      <dgm:t>
        <a:bodyPr/>
        <a:lstStyle/>
        <a:p>
          <a:r>
            <a:rPr lang="en-CA" dirty="0" smtClean="0"/>
            <a:t>Video </a:t>
          </a:r>
          <a:r>
            <a:rPr lang="en-CA" dirty="0"/>
            <a:t>Filtering</a:t>
          </a:r>
        </a:p>
      </dgm:t>
    </dgm:pt>
    <dgm:pt modelId="{77B20C94-9730-40F2-8B46-525DA594C05E}" type="parTrans" cxnId="{9C1E7455-CC9F-4DB1-BC6E-8F287E9A7BCE}">
      <dgm:prSet/>
      <dgm:spPr/>
      <dgm:t>
        <a:bodyPr/>
        <a:lstStyle/>
        <a:p>
          <a:endParaRPr lang="en-CA"/>
        </a:p>
      </dgm:t>
    </dgm:pt>
    <dgm:pt modelId="{C2D36379-1213-4813-A3BE-52E39A4AA68B}" type="sibTrans" cxnId="{9C1E7455-CC9F-4DB1-BC6E-8F287E9A7BCE}">
      <dgm:prSet/>
      <dgm:spPr/>
      <dgm:t>
        <a:bodyPr/>
        <a:lstStyle/>
        <a:p>
          <a:endParaRPr lang="en-CA"/>
        </a:p>
      </dgm:t>
    </dgm:pt>
    <dgm:pt modelId="{83A9F3CF-3BBE-49E0-A092-63198D9DF492}">
      <dgm:prSet/>
      <dgm:spPr/>
      <dgm:t>
        <a:bodyPr/>
        <a:lstStyle/>
        <a:p>
          <a:r>
            <a:rPr lang="en-CA" dirty="0"/>
            <a:t>Best Practices and Troubleshooting</a:t>
          </a:r>
        </a:p>
      </dgm:t>
    </dgm:pt>
    <dgm:pt modelId="{422EEA39-BE3B-447F-88D6-C2DEEE701B87}" type="parTrans" cxnId="{F8C5CFCF-9297-439D-84DA-61FC596C0F56}">
      <dgm:prSet/>
      <dgm:spPr/>
      <dgm:t>
        <a:bodyPr/>
        <a:lstStyle/>
        <a:p>
          <a:endParaRPr lang="en-CA"/>
        </a:p>
      </dgm:t>
    </dgm:pt>
    <dgm:pt modelId="{95D1B89B-9E62-46DB-83AD-61061C83DFA8}" type="sibTrans" cxnId="{F8C5CFCF-9297-439D-84DA-61FC596C0F56}">
      <dgm:prSet/>
      <dgm:spPr/>
      <dgm:t>
        <a:bodyPr/>
        <a:lstStyle/>
        <a:p>
          <a:endParaRPr lang="en-CA"/>
        </a:p>
      </dgm:t>
    </dgm:pt>
    <dgm:pt modelId="{DE879B87-9AE0-4C6F-A102-D337AC07709C}" type="pres">
      <dgm:prSet presAssocID="{4B18758E-A227-44BA-95F8-6249F6F4E94F}" presName="Name0" presStyleCnt="0">
        <dgm:presLayoutVars>
          <dgm:chMax val="7"/>
          <dgm:chPref val="7"/>
          <dgm:dir/>
        </dgm:presLayoutVars>
      </dgm:prSet>
      <dgm:spPr/>
      <dgm:t>
        <a:bodyPr/>
        <a:lstStyle/>
        <a:p>
          <a:endParaRPr lang="en-US"/>
        </a:p>
      </dgm:t>
    </dgm:pt>
    <dgm:pt modelId="{B9B09980-1704-4D26-9ED5-1CF6A2984477}" type="pres">
      <dgm:prSet presAssocID="{4B18758E-A227-44BA-95F8-6249F6F4E94F}" presName="Name1" presStyleCnt="0"/>
      <dgm:spPr/>
    </dgm:pt>
    <dgm:pt modelId="{5BA60F7F-19CE-4F91-AE3D-9FA5D37DFE36}" type="pres">
      <dgm:prSet presAssocID="{4B18758E-A227-44BA-95F8-6249F6F4E94F}" presName="cycle" presStyleCnt="0"/>
      <dgm:spPr/>
    </dgm:pt>
    <dgm:pt modelId="{4529CCB6-F70C-418C-80EC-1C04775D8DFA}" type="pres">
      <dgm:prSet presAssocID="{4B18758E-A227-44BA-95F8-6249F6F4E94F}" presName="srcNode" presStyleLbl="node1" presStyleIdx="0" presStyleCnt="5"/>
      <dgm:spPr/>
    </dgm:pt>
    <dgm:pt modelId="{1E4486E3-51C7-4A69-BB79-DAAEE60DFBD8}" type="pres">
      <dgm:prSet presAssocID="{4B18758E-A227-44BA-95F8-6249F6F4E94F}" presName="conn" presStyleLbl="parChTrans1D2" presStyleIdx="0" presStyleCnt="1"/>
      <dgm:spPr/>
      <dgm:t>
        <a:bodyPr/>
        <a:lstStyle/>
        <a:p>
          <a:endParaRPr lang="en-US"/>
        </a:p>
      </dgm:t>
    </dgm:pt>
    <dgm:pt modelId="{6A20F4D9-74A5-4BE4-A2C7-4BFE81190EDB}" type="pres">
      <dgm:prSet presAssocID="{4B18758E-A227-44BA-95F8-6249F6F4E94F}" presName="extraNode" presStyleLbl="node1" presStyleIdx="0" presStyleCnt="5"/>
      <dgm:spPr/>
    </dgm:pt>
    <dgm:pt modelId="{20B3A9CF-6263-4F4C-9196-F47DFD1233CF}" type="pres">
      <dgm:prSet presAssocID="{4B18758E-A227-44BA-95F8-6249F6F4E94F}" presName="dstNode" presStyleLbl="node1" presStyleIdx="0" presStyleCnt="5"/>
      <dgm:spPr/>
    </dgm:pt>
    <dgm:pt modelId="{66B41250-7485-4278-8866-EC6147C1AA0F}" type="pres">
      <dgm:prSet presAssocID="{679058AA-0276-4C51-9B5F-FDED2141299D}" presName="text_1" presStyleLbl="node1" presStyleIdx="0" presStyleCnt="5">
        <dgm:presLayoutVars>
          <dgm:bulletEnabled val="1"/>
        </dgm:presLayoutVars>
      </dgm:prSet>
      <dgm:spPr/>
      <dgm:t>
        <a:bodyPr/>
        <a:lstStyle/>
        <a:p>
          <a:endParaRPr lang="en-US"/>
        </a:p>
      </dgm:t>
    </dgm:pt>
    <dgm:pt modelId="{B52C91E5-3A0C-4DAC-8809-9D4E61410046}" type="pres">
      <dgm:prSet presAssocID="{679058AA-0276-4C51-9B5F-FDED2141299D}" presName="accent_1" presStyleCnt="0"/>
      <dgm:spPr/>
    </dgm:pt>
    <dgm:pt modelId="{A887FE50-B270-4054-A608-A38F70F22E24}" type="pres">
      <dgm:prSet presAssocID="{679058AA-0276-4C51-9B5F-FDED2141299D}" presName="accentRepeatNode" presStyleLbl="solidFgAcc1" presStyleIdx="0" presStyleCnt="5"/>
      <dgm:spPr/>
    </dgm:pt>
    <dgm:pt modelId="{5E8065D3-4DCE-4BD3-A567-CE13BE6A3938}" type="pres">
      <dgm:prSet presAssocID="{004D714E-A2B4-443C-ACF3-DAE04A949731}" presName="text_2" presStyleLbl="node1" presStyleIdx="1" presStyleCnt="5">
        <dgm:presLayoutVars>
          <dgm:bulletEnabled val="1"/>
        </dgm:presLayoutVars>
      </dgm:prSet>
      <dgm:spPr/>
      <dgm:t>
        <a:bodyPr/>
        <a:lstStyle/>
        <a:p>
          <a:endParaRPr lang="en-US"/>
        </a:p>
      </dgm:t>
    </dgm:pt>
    <dgm:pt modelId="{AFDA4DE9-AB68-4B33-ADC8-E89BA2810BAC}" type="pres">
      <dgm:prSet presAssocID="{004D714E-A2B4-443C-ACF3-DAE04A949731}" presName="accent_2" presStyleCnt="0"/>
      <dgm:spPr/>
    </dgm:pt>
    <dgm:pt modelId="{962AD2FA-BC8D-4E13-BF91-883A3618F24F}" type="pres">
      <dgm:prSet presAssocID="{004D714E-A2B4-443C-ACF3-DAE04A949731}" presName="accentRepeatNode" presStyleLbl="solidFgAcc1" presStyleIdx="1" presStyleCnt="5"/>
      <dgm:spPr/>
    </dgm:pt>
    <dgm:pt modelId="{E3861C35-8752-40A6-A089-5CD449BAC6D4}" type="pres">
      <dgm:prSet presAssocID="{852F7442-3A19-4CBC-8440-BAAEF98383AF}" presName="text_3" presStyleLbl="node1" presStyleIdx="2" presStyleCnt="5">
        <dgm:presLayoutVars>
          <dgm:bulletEnabled val="1"/>
        </dgm:presLayoutVars>
      </dgm:prSet>
      <dgm:spPr/>
      <dgm:t>
        <a:bodyPr/>
        <a:lstStyle/>
        <a:p>
          <a:endParaRPr lang="en-US"/>
        </a:p>
      </dgm:t>
    </dgm:pt>
    <dgm:pt modelId="{A09B0F5B-4D33-4503-A73E-B775C944C4B1}" type="pres">
      <dgm:prSet presAssocID="{852F7442-3A19-4CBC-8440-BAAEF98383AF}" presName="accent_3" presStyleCnt="0"/>
      <dgm:spPr/>
    </dgm:pt>
    <dgm:pt modelId="{4CB9E30F-6B15-4A5A-B250-18D586845927}" type="pres">
      <dgm:prSet presAssocID="{852F7442-3A19-4CBC-8440-BAAEF98383AF}" presName="accentRepeatNode" presStyleLbl="solidFgAcc1" presStyleIdx="2" presStyleCnt="5"/>
      <dgm:spPr/>
    </dgm:pt>
    <dgm:pt modelId="{BF3F084B-1581-45C9-8AF2-88209B7D3014}" type="pres">
      <dgm:prSet presAssocID="{C54CB214-800D-4BF2-9471-B9A307D4E781}" presName="text_4" presStyleLbl="node1" presStyleIdx="3" presStyleCnt="5">
        <dgm:presLayoutVars>
          <dgm:bulletEnabled val="1"/>
        </dgm:presLayoutVars>
      </dgm:prSet>
      <dgm:spPr/>
      <dgm:t>
        <a:bodyPr/>
        <a:lstStyle/>
        <a:p>
          <a:endParaRPr lang="en-US"/>
        </a:p>
      </dgm:t>
    </dgm:pt>
    <dgm:pt modelId="{497C4697-8B89-402A-B5FD-EA433D4E5521}" type="pres">
      <dgm:prSet presAssocID="{C54CB214-800D-4BF2-9471-B9A307D4E781}" presName="accent_4" presStyleCnt="0"/>
      <dgm:spPr/>
    </dgm:pt>
    <dgm:pt modelId="{C039BE2F-7C58-4D62-8FDB-1AE01B555E69}" type="pres">
      <dgm:prSet presAssocID="{C54CB214-800D-4BF2-9471-B9A307D4E781}" presName="accentRepeatNode" presStyleLbl="solidFgAcc1" presStyleIdx="3" presStyleCnt="5"/>
      <dgm:spPr/>
    </dgm:pt>
    <dgm:pt modelId="{A4CBD80B-4830-424E-8F01-A2EF2EA14631}" type="pres">
      <dgm:prSet presAssocID="{83A9F3CF-3BBE-49E0-A092-63198D9DF492}" presName="text_5" presStyleLbl="node1" presStyleIdx="4" presStyleCnt="5">
        <dgm:presLayoutVars>
          <dgm:bulletEnabled val="1"/>
        </dgm:presLayoutVars>
      </dgm:prSet>
      <dgm:spPr/>
      <dgm:t>
        <a:bodyPr/>
        <a:lstStyle/>
        <a:p>
          <a:endParaRPr lang="en-US"/>
        </a:p>
      </dgm:t>
    </dgm:pt>
    <dgm:pt modelId="{927B00BB-C023-43A8-A74A-D13DD33C94A7}" type="pres">
      <dgm:prSet presAssocID="{83A9F3CF-3BBE-49E0-A092-63198D9DF492}" presName="accent_5" presStyleCnt="0"/>
      <dgm:spPr/>
    </dgm:pt>
    <dgm:pt modelId="{A0F81426-469C-4A2B-AFA2-587912462E64}" type="pres">
      <dgm:prSet presAssocID="{83A9F3CF-3BBE-49E0-A092-63198D9DF492}" presName="accentRepeatNode" presStyleLbl="solidFgAcc1" presStyleIdx="4" presStyleCnt="5"/>
      <dgm:spPr/>
    </dgm:pt>
  </dgm:ptLst>
  <dgm:cxnLst>
    <dgm:cxn modelId="{D6791A24-D3A5-45B4-80E3-F528D0DDF024}" type="presOf" srcId="{83A9F3CF-3BBE-49E0-A092-63198D9DF492}" destId="{A4CBD80B-4830-424E-8F01-A2EF2EA14631}" srcOrd="0" destOrd="0" presId="urn:microsoft.com/office/officeart/2008/layout/VerticalCurvedList"/>
    <dgm:cxn modelId="{1CBD8887-3855-4FE8-A9AE-8264B118DE46}" type="presOf" srcId="{852F7442-3A19-4CBC-8440-BAAEF98383AF}" destId="{E3861C35-8752-40A6-A089-5CD449BAC6D4}" srcOrd="0" destOrd="0" presId="urn:microsoft.com/office/officeart/2008/layout/VerticalCurvedList"/>
    <dgm:cxn modelId="{AE6250E0-71A6-49AF-B025-728555CD7FA7}" srcId="{4B18758E-A227-44BA-95F8-6249F6F4E94F}" destId="{004D714E-A2B4-443C-ACF3-DAE04A949731}" srcOrd="1" destOrd="0" parTransId="{A632DF73-047F-4FC7-B5B6-AE2767BC34AD}" sibTransId="{5CCADC2C-9A18-45A8-B298-AB9B56D5B2BE}"/>
    <dgm:cxn modelId="{9C1E7455-CC9F-4DB1-BC6E-8F287E9A7BCE}" srcId="{4B18758E-A227-44BA-95F8-6249F6F4E94F}" destId="{C54CB214-800D-4BF2-9471-B9A307D4E781}" srcOrd="3" destOrd="0" parTransId="{77B20C94-9730-40F2-8B46-525DA594C05E}" sibTransId="{C2D36379-1213-4813-A3BE-52E39A4AA68B}"/>
    <dgm:cxn modelId="{F8C5CFCF-9297-439D-84DA-61FC596C0F56}" srcId="{4B18758E-A227-44BA-95F8-6249F6F4E94F}" destId="{83A9F3CF-3BBE-49E0-A092-63198D9DF492}" srcOrd="4" destOrd="0" parTransId="{422EEA39-BE3B-447F-88D6-C2DEEE701B87}" sibTransId="{95D1B89B-9E62-46DB-83AD-61061C83DFA8}"/>
    <dgm:cxn modelId="{C39F3D9F-C671-4A31-8E70-3946CD3DA913}" type="presOf" srcId="{004D714E-A2B4-443C-ACF3-DAE04A949731}" destId="{5E8065D3-4DCE-4BD3-A567-CE13BE6A3938}" srcOrd="0" destOrd="0" presId="urn:microsoft.com/office/officeart/2008/layout/VerticalCurvedList"/>
    <dgm:cxn modelId="{49939BC8-6451-4124-8D81-7CF2F76EDE58}" type="presOf" srcId="{C54CB214-800D-4BF2-9471-B9A307D4E781}" destId="{BF3F084B-1581-45C9-8AF2-88209B7D3014}" srcOrd="0" destOrd="0" presId="urn:microsoft.com/office/officeart/2008/layout/VerticalCurvedList"/>
    <dgm:cxn modelId="{F4F49B6C-2045-4831-A423-AB33E3900F14}" srcId="{4B18758E-A227-44BA-95F8-6249F6F4E94F}" destId="{679058AA-0276-4C51-9B5F-FDED2141299D}" srcOrd="0" destOrd="0" parTransId="{4C931473-9B7F-4731-8774-0FC23243AD7E}" sibTransId="{0575A0CF-4953-4515-ADFE-35ACF7B2EC6C}"/>
    <dgm:cxn modelId="{EAF12E7C-DC53-45CE-8017-94CD0613B19A}" srcId="{4B18758E-A227-44BA-95F8-6249F6F4E94F}" destId="{852F7442-3A19-4CBC-8440-BAAEF98383AF}" srcOrd="2" destOrd="0" parTransId="{90E2FEFC-2EA6-46B9-BBC1-25ABB639B6F3}" sibTransId="{F30A31F5-57A9-4545-834E-F4C7DDA42A34}"/>
    <dgm:cxn modelId="{63C9C9CA-80EE-4D4D-9A33-9C18B39D229F}" type="presOf" srcId="{4B18758E-A227-44BA-95F8-6249F6F4E94F}" destId="{DE879B87-9AE0-4C6F-A102-D337AC07709C}" srcOrd="0" destOrd="0" presId="urn:microsoft.com/office/officeart/2008/layout/VerticalCurvedList"/>
    <dgm:cxn modelId="{9AE2F6F6-8834-4492-9A17-92B0A313E50E}" type="presOf" srcId="{679058AA-0276-4C51-9B5F-FDED2141299D}" destId="{66B41250-7485-4278-8866-EC6147C1AA0F}" srcOrd="0" destOrd="0" presId="urn:microsoft.com/office/officeart/2008/layout/VerticalCurvedList"/>
    <dgm:cxn modelId="{9FA47595-3451-4F18-B9FB-18CF7E2EE23C}" type="presOf" srcId="{0575A0CF-4953-4515-ADFE-35ACF7B2EC6C}" destId="{1E4486E3-51C7-4A69-BB79-DAAEE60DFBD8}" srcOrd="0" destOrd="0" presId="urn:microsoft.com/office/officeart/2008/layout/VerticalCurvedList"/>
    <dgm:cxn modelId="{A91C34D5-64BB-4452-B9AD-BA3085687644}" type="presParOf" srcId="{DE879B87-9AE0-4C6F-A102-D337AC07709C}" destId="{B9B09980-1704-4D26-9ED5-1CF6A2984477}" srcOrd="0" destOrd="0" presId="urn:microsoft.com/office/officeart/2008/layout/VerticalCurvedList"/>
    <dgm:cxn modelId="{275F7C15-A9F5-49E0-A72F-AD3E07DF2ACB}" type="presParOf" srcId="{B9B09980-1704-4D26-9ED5-1CF6A2984477}" destId="{5BA60F7F-19CE-4F91-AE3D-9FA5D37DFE36}" srcOrd="0" destOrd="0" presId="urn:microsoft.com/office/officeart/2008/layout/VerticalCurvedList"/>
    <dgm:cxn modelId="{E87496E9-F5C5-47F0-9D89-CB2C9CDC9DAC}" type="presParOf" srcId="{5BA60F7F-19CE-4F91-AE3D-9FA5D37DFE36}" destId="{4529CCB6-F70C-418C-80EC-1C04775D8DFA}" srcOrd="0" destOrd="0" presId="urn:microsoft.com/office/officeart/2008/layout/VerticalCurvedList"/>
    <dgm:cxn modelId="{2C296278-3207-4192-9A3C-645ADB09D988}" type="presParOf" srcId="{5BA60F7F-19CE-4F91-AE3D-9FA5D37DFE36}" destId="{1E4486E3-51C7-4A69-BB79-DAAEE60DFBD8}" srcOrd="1" destOrd="0" presId="urn:microsoft.com/office/officeart/2008/layout/VerticalCurvedList"/>
    <dgm:cxn modelId="{036C09E1-9B20-4885-A7B0-E3FDC34840C4}" type="presParOf" srcId="{5BA60F7F-19CE-4F91-AE3D-9FA5D37DFE36}" destId="{6A20F4D9-74A5-4BE4-A2C7-4BFE81190EDB}" srcOrd="2" destOrd="0" presId="urn:microsoft.com/office/officeart/2008/layout/VerticalCurvedList"/>
    <dgm:cxn modelId="{4C256D63-392F-4D0A-8F4D-A5AF8072521E}" type="presParOf" srcId="{5BA60F7F-19CE-4F91-AE3D-9FA5D37DFE36}" destId="{20B3A9CF-6263-4F4C-9196-F47DFD1233CF}" srcOrd="3" destOrd="0" presId="urn:microsoft.com/office/officeart/2008/layout/VerticalCurvedList"/>
    <dgm:cxn modelId="{D7FBE8EB-87F8-48A7-8351-5305123DCDE3}" type="presParOf" srcId="{B9B09980-1704-4D26-9ED5-1CF6A2984477}" destId="{66B41250-7485-4278-8866-EC6147C1AA0F}" srcOrd="1" destOrd="0" presId="urn:microsoft.com/office/officeart/2008/layout/VerticalCurvedList"/>
    <dgm:cxn modelId="{EB8D1E61-6A34-400D-B865-BB6C8CE9464F}" type="presParOf" srcId="{B9B09980-1704-4D26-9ED5-1CF6A2984477}" destId="{B52C91E5-3A0C-4DAC-8809-9D4E61410046}" srcOrd="2" destOrd="0" presId="urn:microsoft.com/office/officeart/2008/layout/VerticalCurvedList"/>
    <dgm:cxn modelId="{74158B9E-4A7F-4DC6-91ED-897A17C62071}" type="presParOf" srcId="{B52C91E5-3A0C-4DAC-8809-9D4E61410046}" destId="{A887FE50-B270-4054-A608-A38F70F22E24}" srcOrd="0" destOrd="0" presId="urn:microsoft.com/office/officeart/2008/layout/VerticalCurvedList"/>
    <dgm:cxn modelId="{85BC24C6-6952-4770-906C-FA264961358E}" type="presParOf" srcId="{B9B09980-1704-4D26-9ED5-1CF6A2984477}" destId="{5E8065D3-4DCE-4BD3-A567-CE13BE6A3938}" srcOrd="3" destOrd="0" presId="urn:microsoft.com/office/officeart/2008/layout/VerticalCurvedList"/>
    <dgm:cxn modelId="{6872D8BE-94E0-4DA5-A130-8D65A7CE0ADA}" type="presParOf" srcId="{B9B09980-1704-4D26-9ED5-1CF6A2984477}" destId="{AFDA4DE9-AB68-4B33-ADC8-E89BA2810BAC}" srcOrd="4" destOrd="0" presId="urn:microsoft.com/office/officeart/2008/layout/VerticalCurvedList"/>
    <dgm:cxn modelId="{2910C968-96E9-4F5D-8363-9044E5E2A7BB}" type="presParOf" srcId="{AFDA4DE9-AB68-4B33-ADC8-E89BA2810BAC}" destId="{962AD2FA-BC8D-4E13-BF91-883A3618F24F}" srcOrd="0" destOrd="0" presId="urn:microsoft.com/office/officeart/2008/layout/VerticalCurvedList"/>
    <dgm:cxn modelId="{C91592C9-0969-458A-B27B-09829684D840}" type="presParOf" srcId="{B9B09980-1704-4D26-9ED5-1CF6A2984477}" destId="{E3861C35-8752-40A6-A089-5CD449BAC6D4}" srcOrd="5" destOrd="0" presId="urn:microsoft.com/office/officeart/2008/layout/VerticalCurvedList"/>
    <dgm:cxn modelId="{32582F16-4A42-42DE-87A9-CC5E9ED46DD2}" type="presParOf" srcId="{B9B09980-1704-4D26-9ED5-1CF6A2984477}" destId="{A09B0F5B-4D33-4503-A73E-B775C944C4B1}" srcOrd="6" destOrd="0" presId="urn:microsoft.com/office/officeart/2008/layout/VerticalCurvedList"/>
    <dgm:cxn modelId="{B2E909E7-DC43-4694-921B-E9B3BD4BE7FA}" type="presParOf" srcId="{A09B0F5B-4D33-4503-A73E-B775C944C4B1}" destId="{4CB9E30F-6B15-4A5A-B250-18D586845927}" srcOrd="0" destOrd="0" presId="urn:microsoft.com/office/officeart/2008/layout/VerticalCurvedList"/>
    <dgm:cxn modelId="{FF931BB2-149C-4157-82A6-5B36495274F0}" type="presParOf" srcId="{B9B09980-1704-4D26-9ED5-1CF6A2984477}" destId="{BF3F084B-1581-45C9-8AF2-88209B7D3014}" srcOrd="7" destOrd="0" presId="urn:microsoft.com/office/officeart/2008/layout/VerticalCurvedList"/>
    <dgm:cxn modelId="{B8BFDE8A-BBF3-4E56-B72D-92D9CE99E709}" type="presParOf" srcId="{B9B09980-1704-4D26-9ED5-1CF6A2984477}" destId="{497C4697-8B89-402A-B5FD-EA433D4E5521}" srcOrd="8" destOrd="0" presId="urn:microsoft.com/office/officeart/2008/layout/VerticalCurvedList"/>
    <dgm:cxn modelId="{AF027D98-6BCD-408F-8D41-82A27179A4D0}" type="presParOf" srcId="{497C4697-8B89-402A-B5FD-EA433D4E5521}" destId="{C039BE2F-7C58-4D62-8FDB-1AE01B555E69}" srcOrd="0" destOrd="0" presId="urn:microsoft.com/office/officeart/2008/layout/VerticalCurvedList"/>
    <dgm:cxn modelId="{381E2F98-56EB-4C1F-AD9F-3AFC42A0F0F0}" type="presParOf" srcId="{B9B09980-1704-4D26-9ED5-1CF6A2984477}" destId="{A4CBD80B-4830-424E-8F01-A2EF2EA14631}" srcOrd="9" destOrd="0" presId="urn:microsoft.com/office/officeart/2008/layout/VerticalCurvedList"/>
    <dgm:cxn modelId="{BED450A7-EEE6-4500-9BD2-47109EC5AAE8}" type="presParOf" srcId="{B9B09980-1704-4D26-9ED5-1CF6A2984477}" destId="{927B00BB-C023-43A8-A74A-D13DD33C94A7}" srcOrd="10" destOrd="0" presId="urn:microsoft.com/office/officeart/2008/layout/VerticalCurvedList"/>
    <dgm:cxn modelId="{7F365A3A-A78C-4B27-AB9B-23B1AAB315C2}" type="presParOf" srcId="{927B00BB-C023-43A8-A74A-D13DD33C94A7}" destId="{A0F81426-469C-4A2B-AFA2-587912462E64}"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18758E-A227-44BA-95F8-6249F6F4E94F}"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679058AA-0276-4C51-9B5F-FDED2141299D}">
      <dgm:prSet phldrT="[Text]"/>
      <dgm:spPr/>
      <dgm:t>
        <a:bodyPr/>
        <a:lstStyle/>
        <a:p>
          <a:r>
            <a:rPr lang="en-CA" dirty="0"/>
            <a:t>Inspection Modes</a:t>
          </a:r>
        </a:p>
      </dgm:t>
    </dgm:pt>
    <dgm:pt modelId="{4C931473-9B7F-4731-8774-0FC23243AD7E}" type="parTrans" cxnId="{F4F49B6C-2045-4831-A423-AB33E3900F14}">
      <dgm:prSet/>
      <dgm:spPr/>
      <dgm:t>
        <a:bodyPr/>
        <a:lstStyle/>
        <a:p>
          <a:endParaRPr lang="en-CA"/>
        </a:p>
      </dgm:t>
    </dgm:pt>
    <dgm:pt modelId="{0575A0CF-4953-4515-ADFE-35ACF7B2EC6C}" type="sibTrans" cxnId="{F4F49B6C-2045-4831-A423-AB33E3900F14}">
      <dgm:prSet/>
      <dgm:spPr/>
      <dgm:t>
        <a:bodyPr/>
        <a:lstStyle/>
        <a:p>
          <a:endParaRPr lang="en-CA"/>
        </a:p>
      </dgm:t>
    </dgm:pt>
    <dgm:pt modelId="{004D714E-A2B4-443C-ACF3-DAE04A949731}">
      <dgm:prSet phldrT="[Text]"/>
      <dgm:spPr/>
      <dgm:t>
        <a:bodyPr/>
        <a:lstStyle/>
        <a:p>
          <a:r>
            <a:rPr lang="en-CA" dirty="0"/>
            <a:t>Web Filtering Basics</a:t>
          </a:r>
        </a:p>
      </dgm:t>
    </dgm:pt>
    <dgm:pt modelId="{A632DF73-047F-4FC7-B5B6-AE2767BC34AD}" type="parTrans" cxnId="{AE6250E0-71A6-49AF-B025-728555CD7FA7}">
      <dgm:prSet/>
      <dgm:spPr/>
      <dgm:t>
        <a:bodyPr/>
        <a:lstStyle/>
        <a:p>
          <a:endParaRPr lang="en-CA"/>
        </a:p>
      </dgm:t>
    </dgm:pt>
    <dgm:pt modelId="{5CCADC2C-9A18-45A8-B298-AB9B56D5B2BE}" type="sibTrans" cxnId="{AE6250E0-71A6-49AF-B025-728555CD7FA7}">
      <dgm:prSet/>
      <dgm:spPr/>
      <dgm:t>
        <a:bodyPr/>
        <a:lstStyle/>
        <a:p>
          <a:endParaRPr lang="en-CA"/>
        </a:p>
      </dgm:t>
    </dgm:pt>
    <dgm:pt modelId="{852F7442-3A19-4CBC-8440-BAAEF98383AF}">
      <dgm:prSet/>
      <dgm:spPr/>
      <dgm:t>
        <a:bodyPr/>
        <a:lstStyle/>
        <a:p>
          <a:r>
            <a:rPr lang="en-CA" dirty="0"/>
            <a:t>Additional Proxy-Based Web Filtering Features</a:t>
          </a:r>
        </a:p>
      </dgm:t>
    </dgm:pt>
    <dgm:pt modelId="{90E2FEFC-2EA6-46B9-BBC1-25ABB639B6F3}" type="parTrans" cxnId="{EAF12E7C-DC53-45CE-8017-94CD0613B19A}">
      <dgm:prSet/>
      <dgm:spPr/>
      <dgm:t>
        <a:bodyPr/>
        <a:lstStyle/>
        <a:p>
          <a:endParaRPr lang="en-CA"/>
        </a:p>
      </dgm:t>
    </dgm:pt>
    <dgm:pt modelId="{F30A31F5-57A9-4545-834E-F4C7DDA42A34}" type="sibTrans" cxnId="{EAF12E7C-DC53-45CE-8017-94CD0613B19A}">
      <dgm:prSet/>
      <dgm:spPr/>
      <dgm:t>
        <a:bodyPr/>
        <a:lstStyle/>
        <a:p>
          <a:endParaRPr lang="en-CA"/>
        </a:p>
      </dgm:t>
    </dgm:pt>
    <dgm:pt modelId="{C54CB214-800D-4BF2-9471-B9A307D4E781}">
      <dgm:prSet/>
      <dgm:spPr/>
      <dgm:t>
        <a:bodyPr/>
        <a:lstStyle/>
        <a:p>
          <a:r>
            <a:rPr lang="en-CA" dirty="0" smtClean="0"/>
            <a:t>Video </a:t>
          </a:r>
          <a:r>
            <a:rPr lang="en-CA" dirty="0"/>
            <a:t>Filtering</a:t>
          </a:r>
        </a:p>
      </dgm:t>
    </dgm:pt>
    <dgm:pt modelId="{77B20C94-9730-40F2-8B46-525DA594C05E}" type="parTrans" cxnId="{9C1E7455-CC9F-4DB1-BC6E-8F287E9A7BCE}">
      <dgm:prSet/>
      <dgm:spPr/>
      <dgm:t>
        <a:bodyPr/>
        <a:lstStyle/>
        <a:p>
          <a:endParaRPr lang="en-CA"/>
        </a:p>
      </dgm:t>
    </dgm:pt>
    <dgm:pt modelId="{C2D36379-1213-4813-A3BE-52E39A4AA68B}" type="sibTrans" cxnId="{9C1E7455-CC9F-4DB1-BC6E-8F287E9A7BCE}">
      <dgm:prSet/>
      <dgm:spPr/>
      <dgm:t>
        <a:bodyPr/>
        <a:lstStyle/>
        <a:p>
          <a:endParaRPr lang="en-CA"/>
        </a:p>
      </dgm:t>
    </dgm:pt>
    <dgm:pt modelId="{83A9F3CF-3BBE-49E0-A092-63198D9DF492}">
      <dgm:prSet/>
      <dgm:spPr/>
      <dgm:t>
        <a:bodyPr/>
        <a:lstStyle/>
        <a:p>
          <a:r>
            <a:rPr lang="en-CA" dirty="0"/>
            <a:t>Best Practices and Troubleshooting</a:t>
          </a:r>
        </a:p>
      </dgm:t>
    </dgm:pt>
    <dgm:pt modelId="{422EEA39-BE3B-447F-88D6-C2DEEE701B87}" type="parTrans" cxnId="{F8C5CFCF-9297-439D-84DA-61FC596C0F56}">
      <dgm:prSet/>
      <dgm:spPr/>
      <dgm:t>
        <a:bodyPr/>
        <a:lstStyle/>
        <a:p>
          <a:endParaRPr lang="en-CA"/>
        </a:p>
      </dgm:t>
    </dgm:pt>
    <dgm:pt modelId="{95D1B89B-9E62-46DB-83AD-61061C83DFA8}" type="sibTrans" cxnId="{F8C5CFCF-9297-439D-84DA-61FC596C0F56}">
      <dgm:prSet/>
      <dgm:spPr/>
      <dgm:t>
        <a:bodyPr/>
        <a:lstStyle/>
        <a:p>
          <a:endParaRPr lang="en-CA"/>
        </a:p>
      </dgm:t>
    </dgm:pt>
    <dgm:pt modelId="{DE879B87-9AE0-4C6F-A102-D337AC07709C}" type="pres">
      <dgm:prSet presAssocID="{4B18758E-A227-44BA-95F8-6249F6F4E94F}" presName="Name0" presStyleCnt="0">
        <dgm:presLayoutVars>
          <dgm:chMax val="7"/>
          <dgm:chPref val="7"/>
          <dgm:dir/>
        </dgm:presLayoutVars>
      </dgm:prSet>
      <dgm:spPr/>
      <dgm:t>
        <a:bodyPr/>
        <a:lstStyle/>
        <a:p>
          <a:endParaRPr lang="en-US"/>
        </a:p>
      </dgm:t>
    </dgm:pt>
    <dgm:pt modelId="{B9B09980-1704-4D26-9ED5-1CF6A2984477}" type="pres">
      <dgm:prSet presAssocID="{4B18758E-A227-44BA-95F8-6249F6F4E94F}" presName="Name1" presStyleCnt="0"/>
      <dgm:spPr/>
    </dgm:pt>
    <dgm:pt modelId="{5BA60F7F-19CE-4F91-AE3D-9FA5D37DFE36}" type="pres">
      <dgm:prSet presAssocID="{4B18758E-A227-44BA-95F8-6249F6F4E94F}" presName="cycle" presStyleCnt="0"/>
      <dgm:spPr/>
    </dgm:pt>
    <dgm:pt modelId="{4529CCB6-F70C-418C-80EC-1C04775D8DFA}" type="pres">
      <dgm:prSet presAssocID="{4B18758E-A227-44BA-95F8-6249F6F4E94F}" presName="srcNode" presStyleLbl="node1" presStyleIdx="0" presStyleCnt="5"/>
      <dgm:spPr/>
    </dgm:pt>
    <dgm:pt modelId="{1E4486E3-51C7-4A69-BB79-DAAEE60DFBD8}" type="pres">
      <dgm:prSet presAssocID="{4B18758E-A227-44BA-95F8-6249F6F4E94F}" presName="conn" presStyleLbl="parChTrans1D2" presStyleIdx="0" presStyleCnt="1"/>
      <dgm:spPr/>
      <dgm:t>
        <a:bodyPr/>
        <a:lstStyle/>
        <a:p>
          <a:endParaRPr lang="en-US"/>
        </a:p>
      </dgm:t>
    </dgm:pt>
    <dgm:pt modelId="{6A20F4D9-74A5-4BE4-A2C7-4BFE81190EDB}" type="pres">
      <dgm:prSet presAssocID="{4B18758E-A227-44BA-95F8-6249F6F4E94F}" presName="extraNode" presStyleLbl="node1" presStyleIdx="0" presStyleCnt="5"/>
      <dgm:spPr/>
    </dgm:pt>
    <dgm:pt modelId="{20B3A9CF-6263-4F4C-9196-F47DFD1233CF}" type="pres">
      <dgm:prSet presAssocID="{4B18758E-A227-44BA-95F8-6249F6F4E94F}" presName="dstNode" presStyleLbl="node1" presStyleIdx="0" presStyleCnt="5"/>
      <dgm:spPr/>
    </dgm:pt>
    <dgm:pt modelId="{66B41250-7485-4278-8866-EC6147C1AA0F}" type="pres">
      <dgm:prSet presAssocID="{679058AA-0276-4C51-9B5F-FDED2141299D}" presName="text_1" presStyleLbl="node1" presStyleIdx="0" presStyleCnt="5">
        <dgm:presLayoutVars>
          <dgm:bulletEnabled val="1"/>
        </dgm:presLayoutVars>
      </dgm:prSet>
      <dgm:spPr/>
      <dgm:t>
        <a:bodyPr/>
        <a:lstStyle/>
        <a:p>
          <a:endParaRPr lang="en-US"/>
        </a:p>
      </dgm:t>
    </dgm:pt>
    <dgm:pt modelId="{B52C91E5-3A0C-4DAC-8809-9D4E61410046}" type="pres">
      <dgm:prSet presAssocID="{679058AA-0276-4C51-9B5F-FDED2141299D}" presName="accent_1" presStyleCnt="0"/>
      <dgm:spPr/>
    </dgm:pt>
    <dgm:pt modelId="{A887FE50-B270-4054-A608-A38F70F22E24}" type="pres">
      <dgm:prSet presAssocID="{679058AA-0276-4C51-9B5F-FDED2141299D}" presName="accentRepeatNode" presStyleLbl="solidFgAcc1" presStyleIdx="0" presStyleCnt="5"/>
      <dgm:spPr/>
    </dgm:pt>
    <dgm:pt modelId="{5E8065D3-4DCE-4BD3-A567-CE13BE6A3938}" type="pres">
      <dgm:prSet presAssocID="{004D714E-A2B4-443C-ACF3-DAE04A949731}" presName="text_2" presStyleLbl="node1" presStyleIdx="1" presStyleCnt="5">
        <dgm:presLayoutVars>
          <dgm:bulletEnabled val="1"/>
        </dgm:presLayoutVars>
      </dgm:prSet>
      <dgm:spPr/>
      <dgm:t>
        <a:bodyPr/>
        <a:lstStyle/>
        <a:p>
          <a:endParaRPr lang="en-US"/>
        </a:p>
      </dgm:t>
    </dgm:pt>
    <dgm:pt modelId="{AFDA4DE9-AB68-4B33-ADC8-E89BA2810BAC}" type="pres">
      <dgm:prSet presAssocID="{004D714E-A2B4-443C-ACF3-DAE04A949731}" presName="accent_2" presStyleCnt="0"/>
      <dgm:spPr/>
    </dgm:pt>
    <dgm:pt modelId="{962AD2FA-BC8D-4E13-BF91-883A3618F24F}" type="pres">
      <dgm:prSet presAssocID="{004D714E-A2B4-443C-ACF3-DAE04A949731}" presName="accentRepeatNode" presStyleLbl="solidFgAcc1" presStyleIdx="1" presStyleCnt="5"/>
      <dgm:spPr/>
    </dgm:pt>
    <dgm:pt modelId="{E3861C35-8752-40A6-A089-5CD449BAC6D4}" type="pres">
      <dgm:prSet presAssocID="{852F7442-3A19-4CBC-8440-BAAEF98383AF}" presName="text_3" presStyleLbl="node1" presStyleIdx="2" presStyleCnt="5">
        <dgm:presLayoutVars>
          <dgm:bulletEnabled val="1"/>
        </dgm:presLayoutVars>
      </dgm:prSet>
      <dgm:spPr/>
      <dgm:t>
        <a:bodyPr/>
        <a:lstStyle/>
        <a:p>
          <a:endParaRPr lang="en-US"/>
        </a:p>
      </dgm:t>
    </dgm:pt>
    <dgm:pt modelId="{A09B0F5B-4D33-4503-A73E-B775C944C4B1}" type="pres">
      <dgm:prSet presAssocID="{852F7442-3A19-4CBC-8440-BAAEF98383AF}" presName="accent_3" presStyleCnt="0"/>
      <dgm:spPr/>
    </dgm:pt>
    <dgm:pt modelId="{4CB9E30F-6B15-4A5A-B250-18D586845927}" type="pres">
      <dgm:prSet presAssocID="{852F7442-3A19-4CBC-8440-BAAEF98383AF}" presName="accentRepeatNode" presStyleLbl="solidFgAcc1" presStyleIdx="2" presStyleCnt="5"/>
      <dgm:spPr/>
    </dgm:pt>
    <dgm:pt modelId="{BF3F084B-1581-45C9-8AF2-88209B7D3014}" type="pres">
      <dgm:prSet presAssocID="{C54CB214-800D-4BF2-9471-B9A307D4E781}" presName="text_4" presStyleLbl="node1" presStyleIdx="3" presStyleCnt="5">
        <dgm:presLayoutVars>
          <dgm:bulletEnabled val="1"/>
        </dgm:presLayoutVars>
      </dgm:prSet>
      <dgm:spPr/>
      <dgm:t>
        <a:bodyPr/>
        <a:lstStyle/>
        <a:p>
          <a:endParaRPr lang="en-US"/>
        </a:p>
      </dgm:t>
    </dgm:pt>
    <dgm:pt modelId="{497C4697-8B89-402A-B5FD-EA433D4E5521}" type="pres">
      <dgm:prSet presAssocID="{C54CB214-800D-4BF2-9471-B9A307D4E781}" presName="accent_4" presStyleCnt="0"/>
      <dgm:spPr/>
    </dgm:pt>
    <dgm:pt modelId="{C039BE2F-7C58-4D62-8FDB-1AE01B555E69}" type="pres">
      <dgm:prSet presAssocID="{C54CB214-800D-4BF2-9471-B9A307D4E781}" presName="accentRepeatNode" presStyleLbl="solidFgAcc1" presStyleIdx="3" presStyleCnt="5"/>
      <dgm:spPr/>
    </dgm:pt>
    <dgm:pt modelId="{B8EFB527-5978-4AD2-8CDB-C63CEAD5385E}" type="pres">
      <dgm:prSet presAssocID="{83A9F3CF-3BBE-49E0-A092-63198D9DF492}" presName="text_5" presStyleLbl="node1" presStyleIdx="4" presStyleCnt="5">
        <dgm:presLayoutVars>
          <dgm:bulletEnabled val="1"/>
        </dgm:presLayoutVars>
      </dgm:prSet>
      <dgm:spPr/>
      <dgm:t>
        <a:bodyPr/>
        <a:lstStyle/>
        <a:p>
          <a:endParaRPr lang="en-US"/>
        </a:p>
      </dgm:t>
    </dgm:pt>
    <dgm:pt modelId="{F0A11154-4235-4D48-BA17-435B7AB23729}" type="pres">
      <dgm:prSet presAssocID="{83A9F3CF-3BBE-49E0-A092-63198D9DF492}" presName="accent_5" presStyleCnt="0"/>
      <dgm:spPr/>
    </dgm:pt>
    <dgm:pt modelId="{A0F81426-469C-4A2B-AFA2-587912462E64}" type="pres">
      <dgm:prSet presAssocID="{83A9F3CF-3BBE-49E0-A092-63198D9DF492}" presName="accentRepeatNode" presStyleLbl="solidFgAcc1" presStyleIdx="4" presStyleCnt="5"/>
      <dgm:spPr/>
    </dgm:pt>
  </dgm:ptLst>
  <dgm:cxnLst>
    <dgm:cxn modelId="{1CBD8887-3855-4FE8-A9AE-8264B118DE46}" type="presOf" srcId="{852F7442-3A19-4CBC-8440-BAAEF98383AF}" destId="{E3861C35-8752-40A6-A089-5CD449BAC6D4}" srcOrd="0" destOrd="0" presId="urn:microsoft.com/office/officeart/2008/layout/VerticalCurvedList"/>
    <dgm:cxn modelId="{AE6250E0-71A6-49AF-B025-728555CD7FA7}" srcId="{4B18758E-A227-44BA-95F8-6249F6F4E94F}" destId="{004D714E-A2B4-443C-ACF3-DAE04A949731}" srcOrd="1" destOrd="0" parTransId="{A632DF73-047F-4FC7-B5B6-AE2767BC34AD}" sibTransId="{5CCADC2C-9A18-45A8-B298-AB9B56D5B2BE}"/>
    <dgm:cxn modelId="{5455422D-FF8E-4D24-9D36-147ED156610F}" type="presOf" srcId="{83A9F3CF-3BBE-49E0-A092-63198D9DF492}" destId="{B8EFB527-5978-4AD2-8CDB-C63CEAD5385E}" srcOrd="0" destOrd="0" presId="urn:microsoft.com/office/officeart/2008/layout/VerticalCurvedList"/>
    <dgm:cxn modelId="{9C1E7455-CC9F-4DB1-BC6E-8F287E9A7BCE}" srcId="{4B18758E-A227-44BA-95F8-6249F6F4E94F}" destId="{C54CB214-800D-4BF2-9471-B9A307D4E781}" srcOrd="3" destOrd="0" parTransId="{77B20C94-9730-40F2-8B46-525DA594C05E}" sibTransId="{C2D36379-1213-4813-A3BE-52E39A4AA68B}"/>
    <dgm:cxn modelId="{F8C5CFCF-9297-439D-84DA-61FC596C0F56}" srcId="{4B18758E-A227-44BA-95F8-6249F6F4E94F}" destId="{83A9F3CF-3BBE-49E0-A092-63198D9DF492}" srcOrd="4" destOrd="0" parTransId="{422EEA39-BE3B-447F-88D6-C2DEEE701B87}" sibTransId="{95D1B89B-9E62-46DB-83AD-61061C83DFA8}"/>
    <dgm:cxn modelId="{C39F3D9F-C671-4A31-8E70-3946CD3DA913}" type="presOf" srcId="{004D714E-A2B4-443C-ACF3-DAE04A949731}" destId="{5E8065D3-4DCE-4BD3-A567-CE13BE6A3938}" srcOrd="0" destOrd="0" presId="urn:microsoft.com/office/officeart/2008/layout/VerticalCurvedList"/>
    <dgm:cxn modelId="{49939BC8-6451-4124-8D81-7CF2F76EDE58}" type="presOf" srcId="{C54CB214-800D-4BF2-9471-B9A307D4E781}" destId="{BF3F084B-1581-45C9-8AF2-88209B7D3014}" srcOrd="0" destOrd="0" presId="urn:microsoft.com/office/officeart/2008/layout/VerticalCurvedList"/>
    <dgm:cxn modelId="{F4F49B6C-2045-4831-A423-AB33E3900F14}" srcId="{4B18758E-A227-44BA-95F8-6249F6F4E94F}" destId="{679058AA-0276-4C51-9B5F-FDED2141299D}" srcOrd="0" destOrd="0" parTransId="{4C931473-9B7F-4731-8774-0FC23243AD7E}" sibTransId="{0575A0CF-4953-4515-ADFE-35ACF7B2EC6C}"/>
    <dgm:cxn modelId="{EAF12E7C-DC53-45CE-8017-94CD0613B19A}" srcId="{4B18758E-A227-44BA-95F8-6249F6F4E94F}" destId="{852F7442-3A19-4CBC-8440-BAAEF98383AF}" srcOrd="2" destOrd="0" parTransId="{90E2FEFC-2EA6-46B9-BBC1-25ABB639B6F3}" sibTransId="{F30A31F5-57A9-4545-834E-F4C7DDA42A34}"/>
    <dgm:cxn modelId="{63C9C9CA-80EE-4D4D-9A33-9C18B39D229F}" type="presOf" srcId="{4B18758E-A227-44BA-95F8-6249F6F4E94F}" destId="{DE879B87-9AE0-4C6F-A102-D337AC07709C}" srcOrd="0" destOrd="0" presId="urn:microsoft.com/office/officeart/2008/layout/VerticalCurvedList"/>
    <dgm:cxn modelId="{9AE2F6F6-8834-4492-9A17-92B0A313E50E}" type="presOf" srcId="{679058AA-0276-4C51-9B5F-FDED2141299D}" destId="{66B41250-7485-4278-8866-EC6147C1AA0F}" srcOrd="0" destOrd="0" presId="urn:microsoft.com/office/officeart/2008/layout/VerticalCurvedList"/>
    <dgm:cxn modelId="{9FA47595-3451-4F18-B9FB-18CF7E2EE23C}" type="presOf" srcId="{0575A0CF-4953-4515-ADFE-35ACF7B2EC6C}" destId="{1E4486E3-51C7-4A69-BB79-DAAEE60DFBD8}" srcOrd="0" destOrd="0" presId="urn:microsoft.com/office/officeart/2008/layout/VerticalCurvedList"/>
    <dgm:cxn modelId="{A91C34D5-64BB-4452-B9AD-BA3085687644}" type="presParOf" srcId="{DE879B87-9AE0-4C6F-A102-D337AC07709C}" destId="{B9B09980-1704-4D26-9ED5-1CF6A2984477}" srcOrd="0" destOrd="0" presId="urn:microsoft.com/office/officeart/2008/layout/VerticalCurvedList"/>
    <dgm:cxn modelId="{275F7C15-A9F5-49E0-A72F-AD3E07DF2ACB}" type="presParOf" srcId="{B9B09980-1704-4D26-9ED5-1CF6A2984477}" destId="{5BA60F7F-19CE-4F91-AE3D-9FA5D37DFE36}" srcOrd="0" destOrd="0" presId="urn:microsoft.com/office/officeart/2008/layout/VerticalCurvedList"/>
    <dgm:cxn modelId="{E87496E9-F5C5-47F0-9D89-CB2C9CDC9DAC}" type="presParOf" srcId="{5BA60F7F-19CE-4F91-AE3D-9FA5D37DFE36}" destId="{4529CCB6-F70C-418C-80EC-1C04775D8DFA}" srcOrd="0" destOrd="0" presId="urn:microsoft.com/office/officeart/2008/layout/VerticalCurvedList"/>
    <dgm:cxn modelId="{2C296278-3207-4192-9A3C-645ADB09D988}" type="presParOf" srcId="{5BA60F7F-19CE-4F91-AE3D-9FA5D37DFE36}" destId="{1E4486E3-51C7-4A69-BB79-DAAEE60DFBD8}" srcOrd="1" destOrd="0" presId="urn:microsoft.com/office/officeart/2008/layout/VerticalCurvedList"/>
    <dgm:cxn modelId="{036C09E1-9B20-4885-A7B0-E3FDC34840C4}" type="presParOf" srcId="{5BA60F7F-19CE-4F91-AE3D-9FA5D37DFE36}" destId="{6A20F4D9-74A5-4BE4-A2C7-4BFE81190EDB}" srcOrd="2" destOrd="0" presId="urn:microsoft.com/office/officeart/2008/layout/VerticalCurvedList"/>
    <dgm:cxn modelId="{4C256D63-392F-4D0A-8F4D-A5AF8072521E}" type="presParOf" srcId="{5BA60F7F-19CE-4F91-AE3D-9FA5D37DFE36}" destId="{20B3A9CF-6263-4F4C-9196-F47DFD1233CF}" srcOrd="3" destOrd="0" presId="urn:microsoft.com/office/officeart/2008/layout/VerticalCurvedList"/>
    <dgm:cxn modelId="{D7FBE8EB-87F8-48A7-8351-5305123DCDE3}" type="presParOf" srcId="{B9B09980-1704-4D26-9ED5-1CF6A2984477}" destId="{66B41250-7485-4278-8866-EC6147C1AA0F}" srcOrd="1" destOrd="0" presId="urn:microsoft.com/office/officeart/2008/layout/VerticalCurvedList"/>
    <dgm:cxn modelId="{EB8D1E61-6A34-400D-B865-BB6C8CE9464F}" type="presParOf" srcId="{B9B09980-1704-4D26-9ED5-1CF6A2984477}" destId="{B52C91E5-3A0C-4DAC-8809-9D4E61410046}" srcOrd="2" destOrd="0" presId="urn:microsoft.com/office/officeart/2008/layout/VerticalCurvedList"/>
    <dgm:cxn modelId="{74158B9E-4A7F-4DC6-91ED-897A17C62071}" type="presParOf" srcId="{B52C91E5-3A0C-4DAC-8809-9D4E61410046}" destId="{A887FE50-B270-4054-A608-A38F70F22E24}" srcOrd="0" destOrd="0" presId="urn:microsoft.com/office/officeart/2008/layout/VerticalCurvedList"/>
    <dgm:cxn modelId="{85BC24C6-6952-4770-906C-FA264961358E}" type="presParOf" srcId="{B9B09980-1704-4D26-9ED5-1CF6A2984477}" destId="{5E8065D3-4DCE-4BD3-A567-CE13BE6A3938}" srcOrd="3" destOrd="0" presId="urn:microsoft.com/office/officeart/2008/layout/VerticalCurvedList"/>
    <dgm:cxn modelId="{6872D8BE-94E0-4DA5-A130-8D65A7CE0ADA}" type="presParOf" srcId="{B9B09980-1704-4D26-9ED5-1CF6A2984477}" destId="{AFDA4DE9-AB68-4B33-ADC8-E89BA2810BAC}" srcOrd="4" destOrd="0" presId="urn:microsoft.com/office/officeart/2008/layout/VerticalCurvedList"/>
    <dgm:cxn modelId="{2910C968-96E9-4F5D-8363-9044E5E2A7BB}" type="presParOf" srcId="{AFDA4DE9-AB68-4B33-ADC8-E89BA2810BAC}" destId="{962AD2FA-BC8D-4E13-BF91-883A3618F24F}" srcOrd="0" destOrd="0" presId="urn:microsoft.com/office/officeart/2008/layout/VerticalCurvedList"/>
    <dgm:cxn modelId="{C91592C9-0969-458A-B27B-09829684D840}" type="presParOf" srcId="{B9B09980-1704-4D26-9ED5-1CF6A2984477}" destId="{E3861C35-8752-40A6-A089-5CD449BAC6D4}" srcOrd="5" destOrd="0" presId="urn:microsoft.com/office/officeart/2008/layout/VerticalCurvedList"/>
    <dgm:cxn modelId="{32582F16-4A42-42DE-87A9-CC5E9ED46DD2}" type="presParOf" srcId="{B9B09980-1704-4D26-9ED5-1CF6A2984477}" destId="{A09B0F5B-4D33-4503-A73E-B775C944C4B1}" srcOrd="6" destOrd="0" presId="urn:microsoft.com/office/officeart/2008/layout/VerticalCurvedList"/>
    <dgm:cxn modelId="{B2E909E7-DC43-4694-921B-E9B3BD4BE7FA}" type="presParOf" srcId="{A09B0F5B-4D33-4503-A73E-B775C944C4B1}" destId="{4CB9E30F-6B15-4A5A-B250-18D586845927}" srcOrd="0" destOrd="0" presId="urn:microsoft.com/office/officeart/2008/layout/VerticalCurvedList"/>
    <dgm:cxn modelId="{FF931BB2-149C-4157-82A6-5B36495274F0}" type="presParOf" srcId="{B9B09980-1704-4D26-9ED5-1CF6A2984477}" destId="{BF3F084B-1581-45C9-8AF2-88209B7D3014}" srcOrd="7" destOrd="0" presId="urn:microsoft.com/office/officeart/2008/layout/VerticalCurvedList"/>
    <dgm:cxn modelId="{B8BFDE8A-BBF3-4E56-B72D-92D9CE99E709}" type="presParOf" srcId="{B9B09980-1704-4D26-9ED5-1CF6A2984477}" destId="{497C4697-8B89-402A-B5FD-EA433D4E5521}" srcOrd="8" destOrd="0" presId="urn:microsoft.com/office/officeart/2008/layout/VerticalCurvedList"/>
    <dgm:cxn modelId="{AF027D98-6BCD-408F-8D41-82A27179A4D0}" type="presParOf" srcId="{497C4697-8B89-402A-B5FD-EA433D4E5521}" destId="{C039BE2F-7C58-4D62-8FDB-1AE01B555E69}" srcOrd="0" destOrd="0" presId="urn:microsoft.com/office/officeart/2008/layout/VerticalCurvedList"/>
    <dgm:cxn modelId="{9915C42D-3F8C-4285-A07A-E485FBB81640}" type="presParOf" srcId="{B9B09980-1704-4D26-9ED5-1CF6A2984477}" destId="{B8EFB527-5978-4AD2-8CDB-C63CEAD5385E}" srcOrd="9" destOrd="0" presId="urn:microsoft.com/office/officeart/2008/layout/VerticalCurvedList"/>
    <dgm:cxn modelId="{75F1E0F3-BC3A-4BE4-9983-184F67507EAD}" type="presParOf" srcId="{B9B09980-1704-4D26-9ED5-1CF6A2984477}" destId="{F0A11154-4235-4D48-BA17-435B7AB23729}" srcOrd="10" destOrd="0" presId="urn:microsoft.com/office/officeart/2008/layout/VerticalCurvedList"/>
    <dgm:cxn modelId="{8B4464B9-2DE5-4E9F-B871-EDD25A84567B}" type="presParOf" srcId="{F0A11154-4235-4D48-BA17-435B7AB23729}" destId="{A0F81426-469C-4A2B-AFA2-587912462E64}"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B18758E-A227-44BA-95F8-6249F6F4E94F}"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679058AA-0276-4C51-9B5F-FDED2141299D}">
      <dgm:prSet phldrT="[Text]"/>
      <dgm:spPr/>
      <dgm:t>
        <a:bodyPr/>
        <a:lstStyle/>
        <a:p>
          <a:r>
            <a:rPr lang="en-CA" dirty="0"/>
            <a:t>Inspection Modes</a:t>
          </a:r>
        </a:p>
      </dgm:t>
    </dgm:pt>
    <dgm:pt modelId="{4C931473-9B7F-4731-8774-0FC23243AD7E}" type="parTrans" cxnId="{F4F49B6C-2045-4831-A423-AB33E3900F14}">
      <dgm:prSet/>
      <dgm:spPr/>
      <dgm:t>
        <a:bodyPr/>
        <a:lstStyle/>
        <a:p>
          <a:endParaRPr lang="en-CA"/>
        </a:p>
      </dgm:t>
    </dgm:pt>
    <dgm:pt modelId="{0575A0CF-4953-4515-ADFE-35ACF7B2EC6C}" type="sibTrans" cxnId="{F4F49B6C-2045-4831-A423-AB33E3900F14}">
      <dgm:prSet/>
      <dgm:spPr/>
      <dgm:t>
        <a:bodyPr/>
        <a:lstStyle/>
        <a:p>
          <a:endParaRPr lang="en-CA"/>
        </a:p>
      </dgm:t>
    </dgm:pt>
    <dgm:pt modelId="{004D714E-A2B4-443C-ACF3-DAE04A949731}">
      <dgm:prSet phldrT="[Text]"/>
      <dgm:spPr/>
      <dgm:t>
        <a:bodyPr/>
        <a:lstStyle/>
        <a:p>
          <a:r>
            <a:rPr lang="en-CA" dirty="0"/>
            <a:t>Web Filtering Basics</a:t>
          </a:r>
        </a:p>
      </dgm:t>
    </dgm:pt>
    <dgm:pt modelId="{A632DF73-047F-4FC7-B5B6-AE2767BC34AD}" type="parTrans" cxnId="{AE6250E0-71A6-49AF-B025-728555CD7FA7}">
      <dgm:prSet/>
      <dgm:spPr/>
      <dgm:t>
        <a:bodyPr/>
        <a:lstStyle/>
        <a:p>
          <a:endParaRPr lang="en-CA"/>
        </a:p>
      </dgm:t>
    </dgm:pt>
    <dgm:pt modelId="{5CCADC2C-9A18-45A8-B298-AB9B56D5B2BE}" type="sibTrans" cxnId="{AE6250E0-71A6-49AF-B025-728555CD7FA7}">
      <dgm:prSet/>
      <dgm:spPr/>
      <dgm:t>
        <a:bodyPr/>
        <a:lstStyle/>
        <a:p>
          <a:endParaRPr lang="en-CA"/>
        </a:p>
      </dgm:t>
    </dgm:pt>
    <dgm:pt modelId="{852F7442-3A19-4CBC-8440-BAAEF98383AF}">
      <dgm:prSet/>
      <dgm:spPr/>
      <dgm:t>
        <a:bodyPr/>
        <a:lstStyle/>
        <a:p>
          <a:r>
            <a:rPr lang="en-CA" dirty="0"/>
            <a:t>Additional Proxy-Based Web Filtering Features</a:t>
          </a:r>
        </a:p>
      </dgm:t>
    </dgm:pt>
    <dgm:pt modelId="{90E2FEFC-2EA6-46B9-BBC1-25ABB639B6F3}" type="parTrans" cxnId="{EAF12E7C-DC53-45CE-8017-94CD0613B19A}">
      <dgm:prSet/>
      <dgm:spPr/>
      <dgm:t>
        <a:bodyPr/>
        <a:lstStyle/>
        <a:p>
          <a:endParaRPr lang="en-CA"/>
        </a:p>
      </dgm:t>
    </dgm:pt>
    <dgm:pt modelId="{F30A31F5-57A9-4545-834E-F4C7DDA42A34}" type="sibTrans" cxnId="{EAF12E7C-DC53-45CE-8017-94CD0613B19A}">
      <dgm:prSet/>
      <dgm:spPr/>
      <dgm:t>
        <a:bodyPr/>
        <a:lstStyle/>
        <a:p>
          <a:endParaRPr lang="en-CA"/>
        </a:p>
      </dgm:t>
    </dgm:pt>
    <dgm:pt modelId="{C54CB214-800D-4BF2-9471-B9A307D4E781}">
      <dgm:prSet/>
      <dgm:spPr/>
      <dgm:t>
        <a:bodyPr/>
        <a:lstStyle/>
        <a:p>
          <a:r>
            <a:rPr lang="en-CA" dirty="0" smtClean="0"/>
            <a:t>Video </a:t>
          </a:r>
          <a:r>
            <a:rPr lang="en-CA" dirty="0"/>
            <a:t>Filtering</a:t>
          </a:r>
        </a:p>
      </dgm:t>
    </dgm:pt>
    <dgm:pt modelId="{77B20C94-9730-40F2-8B46-525DA594C05E}" type="parTrans" cxnId="{9C1E7455-CC9F-4DB1-BC6E-8F287E9A7BCE}">
      <dgm:prSet/>
      <dgm:spPr/>
      <dgm:t>
        <a:bodyPr/>
        <a:lstStyle/>
        <a:p>
          <a:endParaRPr lang="en-CA"/>
        </a:p>
      </dgm:t>
    </dgm:pt>
    <dgm:pt modelId="{C2D36379-1213-4813-A3BE-52E39A4AA68B}" type="sibTrans" cxnId="{9C1E7455-CC9F-4DB1-BC6E-8F287E9A7BCE}">
      <dgm:prSet/>
      <dgm:spPr/>
      <dgm:t>
        <a:bodyPr/>
        <a:lstStyle/>
        <a:p>
          <a:endParaRPr lang="en-CA"/>
        </a:p>
      </dgm:t>
    </dgm:pt>
    <dgm:pt modelId="{83A9F3CF-3BBE-49E0-A092-63198D9DF492}">
      <dgm:prSet/>
      <dgm:spPr/>
      <dgm:t>
        <a:bodyPr/>
        <a:lstStyle/>
        <a:p>
          <a:r>
            <a:rPr lang="en-CA" dirty="0"/>
            <a:t>Best Practices and Troubleshooting</a:t>
          </a:r>
        </a:p>
      </dgm:t>
    </dgm:pt>
    <dgm:pt modelId="{422EEA39-BE3B-447F-88D6-C2DEEE701B87}" type="parTrans" cxnId="{F8C5CFCF-9297-439D-84DA-61FC596C0F56}">
      <dgm:prSet/>
      <dgm:spPr/>
      <dgm:t>
        <a:bodyPr/>
        <a:lstStyle/>
        <a:p>
          <a:endParaRPr lang="en-CA"/>
        </a:p>
      </dgm:t>
    </dgm:pt>
    <dgm:pt modelId="{95D1B89B-9E62-46DB-83AD-61061C83DFA8}" type="sibTrans" cxnId="{F8C5CFCF-9297-439D-84DA-61FC596C0F56}">
      <dgm:prSet/>
      <dgm:spPr/>
      <dgm:t>
        <a:bodyPr/>
        <a:lstStyle/>
        <a:p>
          <a:endParaRPr lang="en-CA"/>
        </a:p>
      </dgm:t>
    </dgm:pt>
    <dgm:pt modelId="{DE879B87-9AE0-4C6F-A102-D337AC07709C}" type="pres">
      <dgm:prSet presAssocID="{4B18758E-A227-44BA-95F8-6249F6F4E94F}" presName="Name0" presStyleCnt="0">
        <dgm:presLayoutVars>
          <dgm:chMax val="7"/>
          <dgm:chPref val="7"/>
          <dgm:dir/>
        </dgm:presLayoutVars>
      </dgm:prSet>
      <dgm:spPr/>
      <dgm:t>
        <a:bodyPr/>
        <a:lstStyle/>
        <a:p>
          <a:endParaRPr lang="en-US"/>
        </a:p>
      </dgm:t>
    </dgm:pt>
    <dgm:pt modelId="{B9B09980-1704-4D26-9ED5-1CF6A2984477}" type="pres">
      <dgm:prSet presAssocID="{4B18758E-A227-44BA-95F8-6249F6F4E94F}" presName="Name1" presStyleCnt="0"/>
      <dgm:spPr/>
    </dgm:pt>
    <dgm:pt modelId="{5BA60F7F-19CE-4F91-AE3D-9FA5D37DFE36}" type="pres">
      <dgm:prSet presAssocID="{4B18758E-A227-44BA-95F8-6249F6F4E94F}" presName="cycle" presStyleCnt="0"/>
      <dgm:spPr/>
    </dgm:pt>
    <dgm:pt modelId="{4529CCB6-F70C-418C-80EC-1C04775D8DFA}" type="pres">
      <dgm:prSet presAssocID="{4B18758E-A227-44BA-95F8-6249F6F4E94F}" presName="srcNode" presStyleLbl="node1" presStyleIdx="0" presStyleCnt="5"/>
      <dgm:spPr/>
    </dgm:pt>
    <dgm:pt modelId="{1E4486E3-51C7-4A69-BB79-DAAEE60DFBD8}" type="pres">
      <dgm:prSet presAssocID="{4B18758E-A227-44BA-95F8-6249F6F4E94F}" presName="conn" presStyleLbl="parChTrans1D2" presStyleIdx="0" presStyleCnt="1"/>
      <dgm:spPr/>
      <dgm:t>
        <a:bodyPr/>
        <a:lstStyle/>
        <a:p>
          <a:endParaRPr lang="en-US"/>
        </a:p>
      </dgm:t>
    </dgm:pt>
    <dgm:pt modelId="{6A20F4D9-74A5-4BE4-A2C7-4BFE81190EDB}" type="pres">
      <dgm:prSet presAssocID="{4B18758E-A227-44BA-95F8-6249F6F4E94F}" presName="extraNode" presStyleLbl="node1" presStyleIdx="0" presStyleCnt="5"/>
      <dgm:spPr/>
    </dgm:pt>
    <dgm:pt modelId="{20B3A9CF-6263-4F4C-9196-F47DFD1233CF}" type="pres">
      <dgm:prSet presAssocID="{4B18758E-A227-44BA-95F8-6249F6F4E94F}" presName="dstNode" presStyleLbl="node1" presStyleIdx="0" presStyleCnt="5"/>
      <dgm:spPr/>
    </dgm:pt>
    <dgm:pt modelId="{66B41250-7485-4278-8866-EC6147C1AA0F}" type="pres">
      <dgm:prSet presAssocID="{679058AA-0276-4C51-9B5F-FDED2141299D}" presName="text_1" presStyleLbl="node1" presStyleIdx="0" presStyleCnt="5">
        <dgm:presLayoutVars>
          <dgm:bulletEnabled val="1"/>
        </dgm:presLayoutVars>
      </dgm:prSet>
      <dgm:spPr/>
      <dgm:t>
        <a:bodyPr/>
        <a:lstStyle/>
        <a:p>
          <a:endParaRPr lang="en-US"/>
        </a:p>
      </dgm:t>
    </dgm:pt>
    <dgm:pt modelId="{B52C91E5-3A0C-4DAC-8809-9D4E61410046}" type="pres">
      <dgm:prSet presAssocID="{679058AA-0276-4C51-9B5F-FDED2141299D}" presName="accent_1" presStyleCnt="0"/>
      <dgm:spPr/>
    </dgm:pt>
    <dgm:pt modelId="{A887FE50-B270-4054-A608-A38F70F22E24}" type="pres">
      <dgm:prSet presAssocID="{679058AA-0276-4C51-9B5F-FDED2141299D}" presName="accentRepeatNode" presStyleLbl="solidFgAcc1" presStyleIdx="0" presStyleCnt="5"/>
      <dgm:spPr/>
    </dgm:pt>
    <dgm:pt modelId="{5E8065D3-4DCE-4BD3-A567-CE13BE6A3938}" type="pres">
      <dgm:prSet presAssocID="{004D714E-A2B4-443C-ACF3-DAE04A949731}" presName="text_2" presStyleLbl="node1" presStyleIdx="1" presStyleCnt="5">
        <dgm:presLayoutVars>
          <dgm:bulletEnabled val="1"/>
        </dgm:presLayoutVars>
      </dgm:prSet>
      <dgm:spPr/>
      <dgm:t>
        <a:bodyPr/>
        <a:lstStyle/>
        <a:p>
          <a:endParaRPr lang="en-US"/>
        </a:p>
      </dgm:t>
    </dgm:pt>
    <dgm:pt modelId="{AFDA4DE9-AB68-4B33-ADC8-E89BA2810BAC}" type="pres">
      <dgm:prSet presAssocID="{004D714E-A2B4-443C-ACF3-DAE04A949731}" presName="accent_2" presStyleCnt="0"/>
      <dgm:spPr/>
    </dgm:pt>
    <dgm:pt modelId="{962AD2FA-BC8D-4E13-BF91-883A3618F24F}" type="pres">
      <dgm:prSet presAssocID="{004D714E-A2B4-443C-ACF3-DAE04A949731}" presName="accentRepeatNode" presStyleLbl="solidFgAcc1" presStyleIdx="1" presStyleCnt="5"/>
      <dgm:spPr/>
    </dgm:pt>
    <dgm:pt modelId="{E3861C35-8752-40A6-A089-5CD449BAC6D4}" type="pres">
      <dgm:prSet presAssocID="{852F7442-3A19-4CBC-8440-BAAEF98383AF}" presName="text_3" presStyleLbl="node1" presStyleIdx="2" presStyleCnt="5">
        <dgm:presLayoutVars>
          <dgm:bulletEnabled val="1"/>
        </dgm:presLayoutVars>
      </dgm:prSet>
      <dgm:spPr/>
      <dgm:t>
        <a:bodyPr/>
        <a:lstStyle/>
        <a:p>
          <a:endParaRPr lang="en-US"/>
        </a:p>
      </dgm:t>
    </dgm:pt>
    <dgm:pt modelId="{A09B0F5B-4D33-4503-A73E-B775C944C4B1}" type="pres">
      <dgm:prSet presAssocID="{852F7442-3A19-4CBC-8440-BAAEF98383AF}" presName="accent_3" presStyleCnt="0"/>
      <dgm:spPr/>
    </dgm:pt>
    <dgm:pt modelId="{4CB9E30F-6B15-4A5A-B250-18D586845927}" type="pres">
      <dgm:prSet presAssocID="{852F7442-3A19-4CBC-8440-BAAEF98383AF}" presName="accentRepeatNode" presStyleLbl="solidFgAcc1" presStyleIdx="2" presStyleCnt="5"/>
      <dgm:spPr/>
    </dgm:pt>
    <dgm:pt modelId="{BF3F084B-1581-45C9-8AF2-88209B7D3014}" type="pres">
      <dgm:prSet presAssocID="{C54CB214-800D-4BF2-9471-B9A307D4E781}" presName="text_4" presStyleLbl="node1" presStyleIdx="3" presStyleCnt="5">
        <dgm:presLayoutVars>
          <dgm:bulletEnabled val="1"/>
        </dgm:presLayoutVars>
      </dgm:prSet>
      <dgm:spPr/>
      <dgm:t>
        <a:bodyPr/>
        <a:lstStyle/>
        <a:p>
          <a:endParaRPr lang="en-US"/>
        </a:p>
      </dgm:t>
    </dgm:pt>
    <dgm:pt modelId="{497C4697-8B89-402A-B5FD-EA433D4E5521}" type="pres">
      <dgm:prSet presAssocID="{C54CB214-800D-4BF2-9471-B9A307D4E781}" presName="accent_4" presStyleCnt="0"/>
      <dgm:spPr/>
    </dgm:pt>
    <dgm:pt modelId="{C039BE2F-7C58-4D62-8FDB-1AE01B555E69}" type="pres">
      <dgm:prSet presAssocID="{C54CB214-800D-4BF2-9471-B9A307D4E781}" presName="accentRepeatNode" presStyleLbl="solidFgAcc1" presStyleIdx="3" presStyleCnt="5"/>
      <dgm:spPr/>
    </dgm:pt>
    <dgm:pt modelId="{477C8405-A137-4ACD-B4D7-D0313A289456}" type="pres">
      <dgm:prSet presAssocID="{83A9F3CF-3BBE-49E0-A092-63198D9DF492}" presName="text_5" presStyleLbl="node1" presStyleIdx="4" presStyleCnt="5">
        <dgm:presLayoutVars>
          <dgm:bulletEnabled val="1"/>
        </dgm:presLayoutVars>
      </dgm:prSet>
      <dgm:spPr/>
      <dgm:t>
        <a:bodyPr/>
        <a:lstStyle/>
        <a:p>
          <a:endParaRPr lang="en-US"/>
        </a:p>
      </dgm:t>
    </dgm:pt>
    <dgm:pt modelId="{62BF4932-9A6D-4C32-8AAF-60515D4A086D}" type="pres">
      <dgm:prSet presAssocID="{83A9F3CF-3BBE-49E0-A092-63198D9DF492}" presName="accent_5" presStyleCnt="0"/>
      <dgm:spPr/>
    </dgm:pt>
    <dgm:pt modelId="{A0F81426-469C-4A2B-AFA2-587912462E64}" type="pres">
      <dgm:prSet presAssocID="{83A9F3CF-3BBE-49E0-A092-63198D9DF492}" presName="accentRepeatNode" presStyleLbl="solidFgAcc1" presStyleIdx="4" presStyleCnt="5"/>
      <dgm:spPr/>
    </dgm:pt>
  </dgm:ptLst>
  <dgm:cxnLst>
    <dgm:cxn modelId="{1CBD8887-3855-4FE8-A9AE-8264B118DE46}" type="presOf" srcId="{852F7442-3A19-4CBC-8440-BAAEF98383AF}" destId="{E3861C35-8752-40A6-A089-5CD449BAC6D4}" srcOrd="0" destOrd="0" presId="urn:microsoft.com/office/officeart/2008/layout/VerticalCurvedList"/>
    <dgm:cxn modelId="{AE6250E0-71A6-49AF-B025-728555CD7FA7}" srcId="{4B18758E-A227-44BA-95F8-6249F6F4E94F}" destId="{004D714E-A2B4-443C-ACF3-DAE04A949731}" srcOrd="1" destOrd="0" parTransId="{A632DF73-047F-4FC7-B5B6-AE2767BC34AD}" sibTransId="{5CCADC2C-9A18-45A8-B298-AB9B56D5B2BE}"/>
    <dgm:cxn modelId="{688F1B1B-4334-465A-977B-8309C80471BA}" type="presOf" srcId="{83A9F3CF-3BBE-49E0-A092-63198D9DF492}" destId="{477C8405-A137-4ACD-B4D7-D0313A289456}" srcOrd="0" destOrd="0" presId="urn:microsoft.com/office/officeart/2008/layout/VerticalCurvedList"/>
    <dgm:cxn modelId="{9C1E7455-CC9F-4DB1-BC6E-8F287E9A7BCE}" srcId="{4B18758E-A227-44BA-95F8-6249F6F4E94F}" destId="{C54CB214-800D-4BF2-9471-B9A307D4E781}" srcOrd="3" destOrd="0" parTransId="{77B20C94-9730-40F2-8B46-525DA594C05E}" sibTransId="{C2D36379-1213-4813-A3BE-52E39A4AA68B}"/>
    <dgm:cxn modelId="{F8C5CFCF-9297-439D-84DA-61FC596C0F56}" srcId="{4B18758E-A227-44BA-95F8-6249F6F4E94F}" destId="{83A9F3CF-3BBE-49E0-A092-63198D9DF492}" srcOrd="4" destOrd="0" parTransId="{422EEA39-BE3B-447F-88D6-C2DEEE701B87}" sibTransId="{95D1B89B-9E62-46DB-83AD-61061C83DFA8}"/>
    <dgm:cxn modelId="{C39F3D9F-C671-4A31-8E70-3946CD3DA913}" type="presOf" srcId="{004D714E-A2B4-443C-ACF3-DAE04A949731}" destId="{5E8065D3-4DCE-4BD3-A567-CE13BE6A3938}" srcOrd="0" destOrd="0" presId="urn:microsoft.com/office/officeart/2008/layout/VerticalCurvedList"/>
    <dgm:cxn modelId="{49939BC8-6451-4124-8D81-7CF2F76EDE58}" type="presOf" srcId="{C54CB214-800D-4BF2-9471-B9A307D4E781}" destId="{BF3F084B-1581-45C9-8AF2-88209B7D3014}" srcOrd="0" destOrd="0" presId="urn:microsoft.com/office/officeart/2008/layout/VerticalCurvedList"/>
    <dgm:cxn modelId="{F4F49B6C-2045-4831-A423-AB33E3900F14}" srcId="{4B18758E-A227-44BA-95F8-6249F6F4E94F}" destId="{679058AA-0276-4C51-9B5F-FDED2141299D}" srcOrd="0" destOrd="0" parTransId="{4C931473-9B7F-4731-8774-0FC23243AD7E}" sibTransId="{0575A0CF-4953-4515-ADFE-35ACF7B2EC6C}"/>
    <dgm:cxn modelId="{EAF12E7C-DC53-45CE-8017-94CD0613B19A}" srcId="{4B18758E-A227-44BA-95F8-6249F6F4E94F}" destId="{852F7442-3A19-4CBC-8440-BAAEF98383AF}" srcOrd="2" destOrd="0" parTransId="{90E2FEFC-2EA6-46B9-BBC1-25ABB639B6F3}" sibTransId="{F30A31F5-57A9-4545-834E-F4C7DDA42A34}"/>
    <dgm:cxn modelId="{63C9C9CA-80EE-4D4D-9A33-9C18B39D229F}" type="presOf" srcId="{4B18758E-A227-44BA-95F8-6249F6F4E94F}" destId="{DE879B87-9AE0-4C6F-A102-D337AC07709C}" srcOrd="0" destOrd="0" presId="urn:microsoft.com/office/officeart/2008/layout/VerticalCurvedList"/>
    <dgm:cxn modelId="{9AE2F6F6-8834-4492-9A17-92B0A313E50E}" type="presOf" srcId="{679058AA-0276-4C51-9B5F-FDED2141299D}" destId="{66B41250-7485-4278-8866-EC6147C1AA0F}" srcOrd="0" destOrd="0" presId="urn:microsoft.com/office/officeart/2008/layout/VerticalCurvedList"/>
    <dgm:cxn modelId="{9FA47595-3451-4F18-B9FB-18CF7E2EE23C}" type="presOf" srcId="{0575A0CF-4953-4515-ADFE-35ACF7B2EC6C}" destId="{1E4486E3-51C7-4A69-BB79-DAAEE60DFBD8}" srcOrd="0" destOrd="0" presId="urn:microsoft.com/office/officeart/2008/layout/VerticalCurvedList"/>
    <dgm:cxn modelId="{A91C34D5-64BB-4452-B9AD-BA3085687644}" type="presParOf" srcId="{DE879B87-9AE0-4C6F-A102-D337AC07709C}" destId="{B9B09980-1704-4D26-9ED5-1CF6A2984477}" srcOrd="0" destOrd="0" presId="urn:microsoft.com/office/officeart/2008/layout/VerticalCurvedList"/>
    <dgm:cxn modelId="{275F7C15-A9F5-49E0-A72F-AD3E07DF2ACB}" type="presParOf" srcId="{B9B09980-1704-4D26-9ED5-1CF6A2984477}" destId="{5BA60F7F-19CE-4F91-AE3D-9FA5D37DFE36}" srcOrd="0" destOrd="0" presId="urn:microsoft.com/office/officeart/2008/layout/VerticalCurvedList"/>
    <dgm:cxn modelId="{E87496E9-F5C5-47F0-9D89-CB2C9CDC9DAC}" type="presParOf" srcId="{5BA60F7F-19CE-4F91-AE3D-9FA5D37DFE36}" destId="{4529CCB6-F70C-418C-80EC-1C04775D8DFA}" srcOrd="0" destOrd="0" presId="urn:microsoft.com/office/officeart/2008/layout/VerticalCurvedList"/>
    <dgm:cxn modelId="{2C296278-3207-4192-9A3C-645ADB09D988}" type="presParOf" srcId="{5BA60F7F-19CE-4F91-AE3D-9FA5D37DFE36}" destId="{1E4486E3-51C7-4A69-BB79-DAAEE60DFBD8}" srcOrd="1" destOrd="0" presId="urn:microsoft.com/office/officeart/2008/layout/VerticalCurvedList"/>
    <dgm:cxn modelId="{036C09E1-9B20-4885-A7B0-E3FDC34840C4}" type="presParOf" srcId="{5BA60F7F-19CE-4F91-AE3D-9FA5D37DFE36}" destId="{6A20F4D9-74A5-4BE4-A2C7-4BFE81190EDB}" srcOrd="2" destOrd="0" presId="urn:microsoft.com/office/officeart/2008/layout/VerticalCurvedList"/>
    <dgm:cxn modelId="{4C256D63-392F-4D0A-8F4D-A5AF8072521E}" type="presParOf" srcId="{5BA60F7F-19CE-4F91-AE3D-9FA5D37DFE36}" destId="{20B3A9CF-6263-4F4C-9196-F47DFD1233CF}" srcOrd="3" destOrd="0" presId="urn:microsoft.com/office/officeart/2008/layout/VerticalCurvedList"/>
    <dgm:cxn modelId="{D7FBE8EB-87F8-48A7-8351-5305123DCDE3}" type="presParOf" srcId="{B9B09980-1704-4D26-9ED5-1CF6A2984477}" destId="{66B41250-7485-4278-8866-EC6147C1AA0F}" srcOrd="1" destOrd="0" presId="urn:microsoft.com/office/officeart/2008/layout/VerticalCurvedList"/>
    <dgm:cxn modelId="{EB8D1E61-6A34-400D-B865-BB6C8CE9464F}" type="presParOf" srcId="{B9B09980-1704-4D26-9ED5-1CF6A2984477}" destId="{B52C91E5-3A0C-4DAC-8809-9D4E61410046}" srcOrd="2" destOrd="0" presId="urn:microsoft.com/office/officeart/2008/layout/VerticalCurvedList"/>
    <dgm:cxn modelId="{74158B9E-4A7F-4DC6-91ED-897A17C62071}" type="presParOf" srcId="{B52C91E5-3A0C-4DAC-8809-9D4E61410046}" destId="{A887FE50-B270-4054-A608-A38F70F22E24}" srcOrd="0" destOrd="0" presId="urn:microsoft.com/office/officeart/2008/layout/VerticalCurvedList"/>
    <dgm:cxn modelId="{85BC24C6-6952-4770-906C-FA264961358E}" type="presParOf" srcId="{B9B09980-1704-4D26-9ED5-1CF6A2984477}" destId="{5E8065D3-4DCE-4BD3-A567-CE13BE6A3938}" srcOrd="3" destOrd="0" presId="urn:microsoft.com/office/officeart/2008/layout/VerticalCurvedList"/>
    <dgm:cxn modelId="{6872D8BE-94E0-4DA5-A130-8D65A7CE0ADA}" type="presParOf" srcId="{B9B09980-1704-4D26-9ED5-1CF6A2984477}" destId="{AFDA4DE9-AB68-4B33-ADC8-E89BA2810BAC}" srcOrd="4" destOrd="0" presId="urn:microsoft.com/office/officeart/2008/layout/VerticalCurvedList"/>
    <dgm:cxn modelId="{2910C968-96E9-4F5D-8363-9044E5E2A7BB}" type="presParOf" srcId="{AFDA4DE9-AB68-4B33-ADC8-E89BA2810BAC}" destId="{962AD2FA-BC8D-4E13-BF91-883A3618F24F}" srcOrd="0" destOrd="0" presId="urn:microsoft.com/office/officeart/2008/layout/VerticalCurvedList"/>
    <dgm:cxn modelId="{C91592C9-0969-458A-B27B-09829684D840}" type="presParOf" srcId="{B9B09980-1704-4D26-9ED5-1CF6A2984477}" destId="{E3861C35-8752-40A6-A089-5CD449BAC6D4}" srcOrd="5" destOrd="0" presId="urn:microsoft.com/office/officeart/2008/layout/VerticalCurvedList"/>
    <dgm:cxn modelId="{32582F16-4A42-42DE-87A9-CC5E9ED46DD2}" type="presParOf" srcId="{B9B09980-1704-4D26-9ED5-1CF6A2984477}" destId="{A09B0F5B-4D33-4503-A73E-B775C944C4B1}" srcOrd="6" destOrd="0" presId="urn:microsoft.com/office/officeart/2008/layout/VerticalCurvedList"/>
    <dgm:cxn modelId="{B2E909E7-DC43-4694-921B-E9B3BD4BE7FA}" type="presParOf" srcId="{A09B0F5B-4D33-4503-A73E-B775C944C4B1}" destId="{4CB9E30F-6B15-4A5A-B250-18D586845927}" srcOrd="0" destOrd="0" presId="urn:microsoft.com/office/officeart/2008/layout/VerticalCurvedList"/>
    <dgm:cxn modelId="{FF931BB2-149C-4157-82A6-5B36495274F0}" type="presParOf" srcId="{B9B09980-1704-4D26-9ED5-1CF6A2984477}" destId="{BF3F084B-1581-45C9-8AF2-88209B7D3014}" srcOrd="7" destOrd="0" presId="urn:microsoft.com/office/officeart/2008/layout/VerticalCurvedList"/>
    <dgm:cxn modelId="{B8BFDE8A-BBF3-4E56-B72D-92D9CE99E709}" type="presParOf" srcId="{B9B09980-1704-4D26-9ED5-1CF6A2984477}" destId="{497C4697-8B89-402A-B5FD-EA433D4E5521}" srcOrd="8" destOrd="0" presId="urn:microsoft.com/office/officeart/2008/layout/VerticalCurvedList"/>
    <dgm:cxn modelId="{AF027D98-6BCD-408F-8D41-82A27179A4D0}" type="presParOf" srcId="{497C4697-8B89-402A-B5FD-EA433D4E5521}" destId="{C039BE2F-7C58-4D62-8FDB-1AE01B555E69}" srcOrd="0" destOrd="0" presId="urn:microsoft.com/office/officeart/2008/layout/VerticalCurvedList"/>
    <dgm:cxn modelId="{7FA573A7-6589-4620-A46F-7762863A336F}" type="presParOf" srcId="{B9B09980-1704-4D26-9ED5-1CF6A2984477}" destId="{477C8405-A137-4ACD-B4D7-D0313A289456}" srcOrd="9" destOrd="0" presId="urn:microsoft.com/office/officeart/2008/layout/VerticalCurvedList"/>
    <dgm:cxn modelId="{AE3E38A6-6F38-43FD-8DB1-22222F44F4C8}" type="presParOf" srcId="{B9B09980-1704-4D26-9ED5-1CF6A2984477}" destId="{62BF4932-9A6D-4C32-8AAF-60515D4A086D}" srcOrd="10" destOrd="0" presId="urn:microsoft.com/office/officeart/2008/layout/VerticalCurvedList"/>
    <dgm:cxn modelId="{EE56FA58-8585-497C-87BE-E5EC8AB84823}" type="presParOf" srcId="{62BF4932-9A6D-4C32-8AAF-60515D4A086D}" destId="{A0F81426-469C-4A2B-AFA2-587912462E64}"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486E3-51C7-4A69-BB79-DAAEE60DFBD8}">
      <dsp:nvSpPr>
        <dsp:cNvPr id="0" name=""/>
        <dsp:cNvSpPr/>
      </dsp:nvSpPr>
      <dsp:spPr>
        <a:xfrm>
          <a:off x="-5616298" y="-859773"/>
          <a:ext cx="6686833" cy="6686833"/>
        </a:xfrm>
        <a:prstGeom prst="blockArc">
          <a:avLst>
            <a:gd name="adj1" fmla="val 18900000"/>
            <a:gd name="adj2" fmla="val 2700000"/>
            <a:gd name="adj3" fmla="val 323"/>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C66258-2FEF-4255-8121-8A4EC01134B2}">
      <dsp:nvSpPr>
        <dsp:cNvPr id="0" name=""/>
        <dsp:cNvSpPr/>
      </dsp:nvSpPr>
      <dsp:spPr>
        <a:xfrm>
          <a:off x="468007" y="310356"/>
          <a:ext cx="10849677" cy="62110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3006" tIns="86360" rIns="86360" bIns="86360" numCol="1" spcCol="1270" anchor="ctr" anchorCtr="0">
          <a:noAutofit/>
        </a:bodyPr>
        <a:lstStyle/>
        <a:p>
          <a:pPr lvl="0" algn="l" defTabSz="1511300">
            <a:lnSpc>
              <a:spcPct val="90000"/>
            </a:lnSpc>
            <a:spcBef>
              <a:spcPct val="0"/>
            </a:spcBef>
            <a:spcAft>
              <a:spcPct val="35000"/>
            </a:spcAft>
          </a:pPr>
          <a:r>
            <a:rPr lang="en-CA" sz="3400" kern="1200" smtClean="0"/>
            <a:t>Inspection Modes</a:t>
          </a:r>
          <a:endParaRPr lang="en-CA" sz="3400" kern="1200" dirty="0"/>
        </a:p>
      </dsp:txBody>
      <dsp:txXfrm>
        <a:off x="468007" y="310356"/>
        <a:ext cx="10849677" cy="621109"/>
      </dsp:txXfrm>
    </dsp:sp>
    <dsp:sp modelId="{4CD2972B-C2B6-4D4D-A701-B439B1E1D687}">
      <dsp:nvSpPr>
        <dsp:cNvPr id="0" name=""/>
        <dsp:cNvSpPr/>
      </dsp:nvSpPr>
      <dsp:spPr>
        <a:xfrm>
          <a:off x="79813" y="232717"/>
          <a:ext cx="776386" cy="776386"/>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8ED53D-75D7-49F8-B707-2951054D027E}">
      <dsp:nvSpPr>
        <dsp:cNvPr id="0" name=""/>
        <dsp:cNvSpPr/>
      </dsp:nvSpPr>
      <dsp:spPr>
        <a:xfrm>
          <a:off x="913076" y="1241722"/>
          <a:ext cx="10404608" cy="62110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3006" tIns="86360" rIns="86360" bIns="86360" numCol="1" spcCol="1270" anchor="ctr" anchorCtr="0">
          <a:noAutofit/>
        </a:bodyPr>
        <a:lstStyle/>
        <a:p>
          <a:pPr lvl="0" algn="l" defTabSz="1511300">
            <a:lnSpc>
              <a:spcPct val="90000"/>
            </a:lnSpc>
            <a:spcBef>
              <a:spcPct val="0"/>
            </a:spcBef>
            <a:spcAft>
              <a:spcPct val="35000"/>
            </a:spcAft>
          </a:pPr>
          <a:r>
            <a:rPr lang="en-CA" sz="3400" kern="1200" dirty="0"/>
            <a:t>Web Filtering Basics</a:t>
          </a:r>
        </a:p>
      </dsp:txBody>
      <dsp:txXfrm>
        <a:off x="913076" y="1241722"/>
        <a:ext cx="10404608" cy="621109"/>
      </dsp:txXfrm>
    </dsp:sp>
    <dsp:sp modelId="{0190998C-34A8-4E67-A937-4936DF51A1F9}">
      <dsp:nvSpPr>
        <dsp:cNvPr id="0" name=""/>
        <dsp:cNvSpPr/>
      </dsp:nvSpPr>
      <dsp:spPr>
        <a:xfrm>
          <a:off x="524882" y="1164083"/>
          <a:ext cx="776386" cy="776386"/>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B31C4B-773E-4D93-A082-54CE4D115DA9}">
      <dsp:nvSpPr>
        <dsp:cNvPr id="0" name=""/>
        <dsp:cNvSpPr/>
      </dsp:nvSpPr>
      <dsp:spPr>
        <a:xfrm>
          <a:off x="1049676" y="2173088"/>
          <a:ext cx="10268008" cy="62110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3006" tIns="86360" rIns="86360" bIns="86360" numCol="1" spcCol="1270" anchor="ctr" anchorCtr="0">
          <a:noAutofit/>
        </a:bodyPr>
        <a:lstStyle/>
        <a:p>
          <a:pPr lvl="0" algn="l" defTabSz="1511300">
            <a:lnSpc>
              <a:spcPct val="90000"/>
            </a:lnSpc>
            <a:spcBef>
              <a:spcPct val="0"/>
            </a:spcBef>
            <a:spcAft>
              <a:spcPct val="35000"/>
            </a:spcAft>
          </a:pPr>
          <a:r>
            <a:rPr lang="en-CA" sz="3400" kern="1200" dirty="0"/>
            <a:t>Additional Proxy-Based Web Filtering Features</a:t>
          </a:r>
        </a:p>
      </dsp:txBody>
      <dsp:txXfrm>
        <a:off x="1049676" y="2173088"/>
        <a:ext cx="10268008" cy="621109"/>
      </dsp:txXfrm>
    </dsp:sp>
    <dsp:sp modelId="{8B9A36F5-1A64-4742-844C-FFA3EBAA3F6A}">
      <dsp:nvSpPr>
        <dsp:cNvPr id="0" name=""/>
        <dsp:cNvSpPr/>
      </dsp:nvSpPr>
      <dsp:spPr>
        <a:xfrm>
          <a:off x="661483" y="2095450"/>
          <a:ext cx="776386" cy="776386"/>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E5FB6C-B064-4CFA-B3F3-32BDF5EB66D1}">
      <dsp:nvSpPr>
        <dsp:cNvPr id="0" name=""/>
        <dsp:cNvSpPr/>
      </dsp:nvSpPr>
      <dsp:spPr>
        <a:xfrm>
          <a:off x="913076" y="3104455"/>
          <a:ext cx="10404608" cy="62110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3006" tIns="86360" rIns="86360" bIns="86360" numCol="1" spcCol="1270" anchor="ctr" anchorCtr="0">
          <a:noAutofit/>
        </a:bodyPr>
        <a:lstStyle/>
        <a:p>
          <a:pPr lvl="0" algn="l" defTabSz="1511300">
            <a:lnSpc>
              <a:spcPct val="90000"/>
            </a:lnSpc>
            <a:spcBef>
              <a:spcPct val="0"/>
            </a:spcBef>
            <a:spcAft>
              <a:spcPct val="35000"/>
            </a:spcAft>
          </a:pPr>
          <a:r>
            <a:rPr lang="en-CA" sz="3400" kern="1200" dirty="0" smtClean="0"/>
            <a:t>Video </a:t>
          </a:r>
          <a:r>
            <a:rPr lang="en-CA" sz="3400" kern="1200" dirty="0"/>
            <a:t>Filtering</a:t>
          </a:r>
        </a:p>
      </dsp:txBody>
      <dsp:txXfrm>
        <a:off x="913076" y="3104455"/>
        <a:ext cx="10404608" cy="621109"/>
      </dsp:txXfrm>
    </dsp:sp>
    <dsp:sp modelId="{88EFDF55-7CFF-4E9F-A5F3-7EF9A8F270A1}">
      <dsp:nvSpPr>
        <dsp:cNvPr id="0" name=""/>
        <dsp:cNvSpPr/>
      </dsp:nvSpPr>
      <dsp:spPr>
        <a:xfrm>
          <a:off x="524882" y="3026816"/>
          <a:ext cx="776386" cy="776386"/>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31A8E6-F3FE-4A11-A5B4-0F92A33E2BBE}">
      <dsp:nvSpPr>
        <dsp:cNvPr id="0" name=""/>
        <dsp:cNvSpPr/>
      </dsp:nvSpPr>
      <dsp:spPr>
        <a:xfrm>
          <a:off x="468007" y="4035821"/>
          <a:ext cx="10849677" cy="62110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3006" tIns="86360" rIns="86360" bIns="86360" numCol="1" spcCol="1270" anchor="ctr" anchorCtr="0">
          <a:noAutofit/>
        </a:bodyPr>
        <a:lstStyle/>
        <a:p>
          <a:pPr lvl="0" algn="l" defTabSz="1511300">
            <a:lnSpc>
              <a:spcPct val="90000"/>
            </a:lnSpc>
            <a:spcBef>
              <a:spcPct val="0"/>
            </a:spcBef>
            <a:spcAft>
              <a:spcPct val="35000"/>
            </a:spcAft>
          </a:pPr>
          <a:r>
            <a:rPr lang="en-CA" sz="3400" kern="1200" dirty="0"/>
            <a:t>Best Practices and Troubleshooting</a:t>
          </a:r>
        </a:p>
      </dsp:txBody>
      <dsp:txXfrm>
        <a:off x="468007" y="4035821"/>
        <a:ext cx="10849677" cy="621109"/>
      </dsp:txXfrm>
    </dsp:sp>
    <dsp:sp modelId="{5F367F7F-4CC6-43EB-8890-A477DC1AF47A}">
      <dsp:nvSpPr>
        <dsp:cNvPr id="0" name=""/>
        <dsp:cNvSpPr/>
      </dsp:nvSpPr>
      <dsp:spPr>
        <a:xfrm>
          <a:off x="79813" y="3958182"/>
          <a:ext cx="776386" cy="776386"/>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486E3-51C7-4A69-BB79-DAAEE60DFBD8}">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B41250-7485-4278-8866-EC6147C1AA0F}">
      <dsp:nvSpPr>
        <dsp:cNvPr id="0" name=""/>
        <dsp:cNvSpPr/>
      </dsp:nvSpPr>
      <dsp:spPr>
        <a:xfrm>
          <a:off x="444096" y="294188"/>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Inspection Modes</a:t>
          </a:r>
        </a:p>
      </dsp:txBody>
      <dsp:txXfrm>
        <a:off x="444096" y="294188"/>
        <a:ext cx="10877675" cy="588753"/>
      </dsp:txXfrm>
    </dsp:sp>
    <dsp:sp modelId="{A887FE50-B270-4054-A608-A38F70F22E24}">
      <dsp:nvSpPr>
        <dsp:cNvPr id="0" name=""/>
        <dsp:cNvSpPr/>
      </dsp:nvSpPr>
      <dsp:spPr>
        <a:xfrm>
          <a:off x="76125" y="220594"/>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743172-2B39-4EA4-9C2A-1732E4DE088F}">
      <dsp:nvSpPr>
        <dsp:cNvPr id="0" name=""/>
        <dsp:cNvSpPr/>
      </dsp:nvSpPr>
      <dsp:spPr>
        <a:xfrm>
          <a:off x="865980" y="1177037"/>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Web Filtering Basics</a:t>
          </a:r>
        </a:p>
      </dsp:txBody>
      <dsp:txXfrm>
        <a:off x="865980" y="1177037"/>
        <a:ext cx="10455791" cy="588753"/>
      </dsp:txXfrm>
    </dsp:sp>
    <dsp:sp modelId="{F65C0F7D-7BCD-42E9-8905-A4EE6E7A4BBC}">
      <dsp:nvSpPr>
        <dsp:cNvPr id="0" name=""/>
        <dsp:cNvSpPr/>
      </dsp:nvSpPr>
      <dsp:spPr>
        <a:xfrm>
          <a:off x="498008" y="1103442"/>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F8952F-3455-42AB-B690-87ED11577A57}">
      <dsp:nvSpPr>
        <dsp:cNvPr id="0" name=""/>
        <dsp:cNvSpPr/>
      </dsp:nvSpPr>
      <dsp:spPr>
        <a:xfrm>
          <a:off x="995464" y="2059885"/>
          <a:ext cx="10326307"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Additional Proxy-Based Web Filtering Features</a:t>
          </a:r>
        </a:p>
      </dsp:txBody>
      <dsp:txXfrm>
        <a:off x="995464" y="2059885"/>
        <a:ext cx="10326307" cy="588753"/>
      </dsp:txXfrm>
    </dsp:sp>
    <dsp:sp modelId="{96150363-8434-4FFB-9457-676BDD8B6491}">
      <dsp:nvSpPr>
        <dsp:cNvPr id="0" name=""/>
        <dsp:cNvSpPr/>
      </dsp:nvSpPr>
      <dsp:spPr>
        <a:xfrm>
          <a:off x="627493" y="1986291"/>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35FA07A-D788-4B88-ABCC-105701922FCA}">
      <dsp:nvSpPr>
        <dsp:cNvPr id="0" name=""/>
        <dsp:cNvSpPr/>
      </dsp:nvSpPr>
      <dsp:spPr>
        <a:xfrm>
          <a:off x="865980" y="2942733"/>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smtClean="0"/>
            <a:t>Video </a:t>
          </a:r>
          <a:r>
            <a:rPr lang="en-CA" sz="3200" kern="1200" dirty="0"/>
            <a:t>Filtering</a:t>
          </a:r>
        </a:p>
      </dsp:txBody>
      <dsp:txXfrm>
        <a:off x="865980" y="2942733"/>
        <a:ext cx="10455791" cy="588753"/>
      </dsp:txXfrm>
    </dsp:sp>
    <dsp:sp modelId="{266F3627-23BD-4F7A-A909-68CCCD11C832}">
      <dsp:nvSpPr>
        <dsp:cNvPr id="0" name=""/>
        <dsp:cNvSpPr/>
      </dsp:nvSpPr>
      <dsp:spPr>
        <a:xfrm>
          <a:off x="498008" y="2869139"/>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0DF557-3ABD-4834-88F6-6F519157C1AF}">
      <dsp:nvSpPr>
        <dsp:cNvPr id="0" name=""/>
        <dsp:cNvSpPr/>
      </dsp:nvSpPr>
      <dsp:spPr>
        <a:xfrm>
          <a:off x="444096" y="3825582"/>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Best Practices and Troubleshooting</a:t>
          </a:r>
        </a:p>
      </dsp:txBody>
      <dsp:txXfrm>
        <a:off x="444096" y="3825582"/>
        <a:ext cx="10877675" cy="588753"/>
      </dsp:txXfrm>
    </dsp:sp>
    <dsp:sp modelId="{F16F840D-2EAC-4A38-934D-C3CF594E12D7}">
      <dsp:nvSpPr>
        <dsp:cNvPr id="0" name=""/>
        <dsp:cNvSpPr/>
      </dsp:nvSpPr>
      <dsp:spPr>
        <a:xfrm>
          <a:off x="76125" y="3751988"/>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486E3-51C7-4A69-BB79-DAAEE60DFBD8}">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B41250-7485-4278-8866-EC6147C1AA0F}">
      <dsp:nvSpPr>
        <dsp:cNvPr id="0" name=""/>
        <dsp:cNvSpPr/>
      </dsp:nvSpPr>
      <dsp:spPr>
        <a:xfrm>
          <a:off x="444096" y="294188"/>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Inspection Modes</a:t>
          </a:r>
        </a:p>
      </dsp:txBody>
      <dsp:txXfrm>
        <a:off x="444096" y="294188"/>
        <a:ext cx="10877675" cy="588753"/>
      </dsp:txXfrm>
    </dsp:sp>
    <dsp:sp modelId="{A887FE50-B270-4054-A608-A38F70F22E24}">
      <dsp:nvSpPr>
        <dsp:cNvPr id="0" name=""/>
        <dsp:cNvSpPr/>
      </dsp:nvSpPr>
      <dsp:spPr>
        <a:xfrm>
          <a:off x="76125" y="220594"/>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8065D3-4DCE-4BD3-A567-CE13BE6A3938}">
      <dsp:nvSpPr>
        <dsp:cNvPr id="0" name=""/>
        <dsp:cNvSpPr/>
      </dsp:nvSpPr>
      <dsp:spPr>
        <a:xfrm>
          <a:off x="865980" y="1177037"/>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Web Filtering Basics</a:t>
          </a:r>
        </a:p>
      </dsp:txBody>
      <dsp:txXfrm>
        <a:off x="865980" y="1177037"/>
        <a:ext cx="10455791" cy="588753"/>
      </dsp:txXfrm>
    </dsp:sp>
    <dsp:sp modelId="{962AD2FA-BC8D-4E13-BF91-883A3618F24F}">
      <dsp:nvSpPr>
        <dsp:cNvPr id="0" name=""/>
        <dsp:cNvSpPr/>
      </dsp:nvSpPr>
      <dsp:spPr>
        <a:xfrm>
          <a:off x="498008" y="1103442"/>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861C35-8752-40A6-A089-5CD449BAC6D4}">
      <dsp:nvSpPr>
        <dsp:cNvPr id="0" name=""/>
        <dsp:cNvSpPr/>
      </dsp:nvSpPr>
      <dsp:spPr>
        <a:xfrm>
          <a:off x="995464" y="2059885"/>
          <a:ext cx="10326307"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Additional Proxy-Based Web Filtering Features</a:t>
          </a:r>
        </a:p>
      </dsp:txBody>
      <dsp:txXfrm>
        <a:off x="995464" y="2059885"/>
        <a:ext cx="10326307" cy="588753"/>
      </dsp:txXfrm>
    </dsp:sp>
    <dsp:sp modelId="{4CB9E30F-6B15-4A5A-B250-18D586845927}">
      <dsp:nvSpPr>
        <dsp:cNvPr id="0" name=""/>
        <dsp:cNvSpPr/>
      </dsp:nvSpPr>
      <dsp:spPr>
        <a:xfrm>
          <a:off x="627493" y="1986291"/>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3F084B-1581-45C9-8AF2-88209B7D3014}">
      <dsp:nvSpPr>
        <dsp:cNvPr id="0" name=""/>
        <dsp:cNvSpPr/>
      </dsp:nvSpPr>
      <dsp:spPr>
        <a:xfrm>
          <a:off x="865980" y="2942733"/>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smtClean="0"/>
            <a:t>Video </a:t>
          </a:r>
          <a:r>
            <a:rPr lang="en-CA" sz="3200" kern="1200" dirty="0"/>
            <a:t>Filtering</a:t>
          </a:r>
        </a:p>
      </dsp:txBody>
      <dsp:txXfrm>
        <a:off x="865980" y="2942733"/>
        <a:ext cx="10455791" cy="588753"/>
      </dsp:txXfrm>
    </dsp:sp>
    <dsp:sp modelId="{C039BE2F-7C58-4D62-8FDB-1AE01B555E69}">
      <dsp:nvSpPr>
        <dsp:cNvPr id="0" name=""/>
        <dsp:cNvSpPr/>
      </dsp:nvSpPr>
      <dsp:spPr>
        <a:xfrm>
          <a:off x="498008" y="2869139"/>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C5E46E-2072-4015-A5DB-26A28AC60E8D}">
      <dsp:nvSpPr>
        <dsp:cNvPr id="0" name=""/>
        <dsp:cNvSpPr/>
      </dsp:nvSpPr>
      <dsp:spPr>
        <a:xfrm>
          <a:off x="444096" y="3825582"/>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Best Practices and Troubleshooting</a:t>
          </a:r>
        </a:p>
      </dsp:txBody>
      <dsp:txXfrm>
        <a:off x="444096" y="3825582"/>
        <a:ext cx="10877675" cy="588753"/>
      </dsp:txXfrm>
    </dsp:sp>
    <dsp:sp modelId="{A0F81426-469C-4A2B-AFA2-587912462E64}">
      <dsp:nvSpPr>
        <dsp:cNvPr id="0" name=""/>
        <dsp:cNvSpPr/>
      </dsp:nvSpPr>
      <dsp:spPr>
        <a:xfrm>
          <a:off x="76125" y="3751988"/>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486E3-51C7-4A69-BB79-DAAEE60DFBD8}">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B41250-7485-4278-8866-EC6147C1AA0F}">
      <dsp:nvSpPr>
        <dsp:cNvPr id="0" name=""/>
        <dsp:cNvSpPr/>
      </dsp:nvSpPr>
      <dsp:spPr>
        <a:xfrm>
          <a:off x="444096" y="294188"/>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Inspection Modes</a:t>
          </a:r>
        </a:p>
      </dsp:txBody>
      <dsp:txXfrm>
        <a:off x="444096" y="294188"/>
        <a:ext cx="10877675" cy="588753"/>
      </dsp:txXfrm>
    </dsp:sp>
    <dsp:sp modelId="{A887FE50-B270-4054-A608-A38F70F22E24}">
      <dsp:nvSpPr>
        <dsp:cNvPr id="0" name=""/>
        <dsp:cNvSpPr/>
      </dsp:nvSpPr>
      <dsp:spPr>
        <a:xfrm>
          <a:off x="76125" y="220594"/>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8065D3-4DCE-4BD3-A567-CE13BE6A3938}">
      <dsp:nvSpPr>
        <dsp:cNvPr id="0" name=""/>
        <dsp:cNvSpPr/>
      </dsp:nvSpPr>
      <dsp:spPr>
        <a:xfrm>
          <a:off x="865980" y="1177037"/>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Web Filtering Basics</a:t>
          </a:r>
        </a:p>
      </dsp:txBody>
      <dsp:txXfrm>
        <a:off x="865980" y="1177037"/>
        <a:ext cx="10455791" cy="588753"/>
      </dsp:txXfrm>
    </dsp:sp>
    <dsp:sp modelId="{962AD2FA-BC8D-4E13-BF91-883A3618F24F}">
      <dsp:nvSpPr>
        <dsp:cNvPr id="0" name=""/>
        <dsp:cNvSpPr/>
      </dsp:nvSpPr>
      <dsp:spPr>
        <a:xfrm>
          <a:off x="498008" y="1103442"/>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861C35-8752-40A6-A089-5CD449BAC6D4}">
      <dsp:nvSpPr>
        <dsp:cNvPr id="0" name=""/>
        <dsp:cNvSpPr/>
      </dsp:nvSpPr>
      <dsp:spPr>
        <a:xfrm>
          <a:off x="995464" y="2059885"/>
          <a:ext cx="10326307"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Additional Proxy-Based Web Filtering Features</a:t>
          </a:r>
        </a:p>
      </dsp:txBody>
      <dsp:txXfrm>
        <a:off x="995464" y="2059885"/>
        <a:ext cx="10326307" cy="588753"/>
      </dsp:txXfrm>
    </dsp:sp>
    <dsp:sp modelId="{4CB9E30F-6B15-4A5A-B250-18D586845927}">
      <dsp:nvSpPr>
        <dsp:cNvPr id="0" name=""/>
        <dsp:cNvSpPr/>
      </dsp:nvSpPr>
      <dsp:spPr>
        <a:xfrm>
          <a:off x="627493" y="1986291"/>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3F084B-1581-45C9-8AF2-88209B7D3014}">
      <dsp:nvSpPr>
        <dsp:cNvPr id="0" name=""/>
        <dsp:cNvSpPr/>
      </dsp:nvSpPr>
      <dsp:spPr>
        <a:xfrm>
          <a:off x="865980" y="2942733"/>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smtClean="0"/>
            <a:t>Video </a:t>
          </a:r>
          <a:r>
            <a:rPr lang="en-CA" sz="3200" kern="1200" dirty="0"/>
            <a:t>Filtering</a:t>
          </a:r>
        </a:p>
      </dsp:txBody>
      <dsp:txXfrm>
        <a:off x="865980" y="2942733"/>
        <a:ext cx="10455791" cy="588753"/>
      </dsp:txXfrm>
    </dsp:sp>
    <dsp:sp modelId="{C039BE2F-7C58-4D62-8FDB-1AE01B555E69}">
      <dsp:nvSpPr>
        <dsp:cNvPr id="0" name=""/>
        <dsp:cNvSpPr/>
      </dsp:nvSpPr>
      <dsp:spPr>
        <a:xfrm>
          <a:off x="498008" y="2869139"/>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4CBD80B-4830-424E-8F01-A2EF2EA14631}">
      <dsp:nvSpPr>
        <dsp:cNvPr id="0" name=""/>
        <dsp:cNvSpPr/>
      </dsp:nvSpPr>
      <dsp:spPr>
        <a:xfrm>
          <a:off x="444096" y="3825582"/>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Best Practices and Troubleshooting</a:t>
          </a:r>
        </a:p>
      </dsp:txBody>
      <dsp:txXfrm>
        <a:off x="444096" y="3825582"/>
        <a:ext cx="10877675" cy="588753"/>
      </dsp:txXfrm>
    </dsp:sp>
    <dsp:sp modelId="{A0F81426-469C-4A2B-AFA2-587912462E64}">
      <dsp:nvSpPr>
        <dsp:cNvPr id="0" name=""/>
        <dsp:cNvSpPr/>
      </dsp:nvSpPr>
      <dsp:spPr>
        <a:xfrm>
          <a:off x="76125" y="3751988"/>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486E3-51C7-4A69-BB79-DAAEE60DFBD8}">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B41250-7485-4278-8866-EC6147C1AA0F}">
      <dsp:nvSpPr>
        <dsp:cNvPr id="0" name=""/>
        <dsp:cNvSpPr/>
      </dsp:nvSpPr>
      <dsp:spPr>
        <a:xfrm>
          <a:off x="444096" y="294188"/>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Inspection Modes</a:t>
          </a:r>
        </a:p>
      </dsp:txBody>
      <dsp:txXfrm>
        <a:off x="444096" y="294188"/>
        <a:ext cx="10877675" cy="588753"/>
      </dsp:txXfrm>
    </dsp:sp>
    <dsp:sp modelId="{A887FE50-B270-4054-A608-A38F70F22E24}">
      <dsp:nvSpPr>
        <dsp:cNvPr id="0" name=""/>
        <dsp:cNvSpPr/>
      </dsp:nvSpPr>
      <dsp:spPr>
        <a:xfrm>
          <a:off x="76125" y="220594"/>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8065D3-4DCE-4BD3-A567-CE13BE6A3938}">
      <dsp:nvSpPr>
        <dsp:cNvPr id="0" name=""/>
        <dsp:cNvSpPr/>
      </dsp:nvSpPr>
      <dsp:spPr>
        <a:xfrm>
          <a:off x="865980" y="1177037"/>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Web Filtering Basics</a:t>
          </a:r>
        </a:p>
      </dsp:txBody>
      <dsp:txXfrm>
        <a:off x="865980" y="1177037"/>
        <a:ext cx="10455791" cy="588753"/>
      </dsp:txXfrm>
    </dsp:sp>
    <dsp:sp modelId="{962AD2FA-BC8D-4E13-BF91-883A3618F24F}">
      <dsp:nvSpPr>
        <dsp:cNvPr id="0" name=""/>
        <dsp:cNvSpPr/>
      </dsp:nvSpPr>
      <dsp:spPr>
        <a:xfrm>
          <a:off x="498008" y="1103442"/>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861C35-8752-40A6-A089-5CD449BAC6D4}">
      <dsp:nvSpPr>
        <dsp:cNvPr id="0" name=""/>
        <dsp:cNvSpPr/>
      </dsp:nvSpPr>
      <dsp:spPr>
        <a:xfrm>
          <a:off x="995464" y="2059885"/>
          <a:ext cx="10326307"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Additional Proxy-Based Web Filtering Features</a:t>
          </a:r>
        </a:p>
      </dsp:txBody>
      <dsp:txXfrm>
        <a:off x="995464" y="2059885"/>
        <a:ext cx="10326307" cy="588753"/>
      </dsp:txXfrm>
    </dsp:sp>
    <dsp:sp modelId="{4CB9E30F-6B15-4A5A-B250-18D586845927}">
      <dsp:nvSpPr>
        <dsp:cNvPr id="0" name=""/>
        <dsp:cNvSpPr/>
      </dsp:nvSpPr>
      <dsp:spPr>
        <a:xfrm>
          <a:off x="627493" y="1986291"/>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3F084B-1581-45C9-8AF2-88209B7D3014}">
      <dsp:nvSpPr>
        <dsp:cNvPr id="0" name=""/>
        <dsp:cNvSpPr/>
      </dsp:nvSpPr>
      <dsp:spPr>
        <a:xfrm>
          <a:off x="865980" y="2942733"/>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smtClean="0"/>
            <a:t>Video </a:t>
          </a:r>
          <a:r>
            <a:rPr lang="en-CA" sz="3200" kern="1200" dirty="0"/>
            <a:t>Filtering</a:t>
          </a:r>
        </a:p>
      </dsp:txBody>
      <dsp:txXfrm>
        <a:off x="865980" y="2942733"/>
        <a:ext cx="10455791" cy="588753"/>
      </dsp:txXfrm>
    </dsp:sp>
    <dsp:sp modelId="{C039BE2F-7C58-4D62-8FDB-1AE01B555E69}">
      <dsp:nvSpPr>
        <dsp:cNvPr id="0" name=""/>
        <dsp:cNvSpPr/>
      </dsp:nvSpPr>
      <dsp:spPr>
        <a:xfrm>
          <a:off x="498008" y="2869139"/>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8EFB527-5978-4AD2-8CDB-C63CEAD5385E}">
      <dsp:nvSpPr>
        <dsp:cNvPr id="0" name=""/>
        <dsp:cNvSpPr/>
      </dsp:nvSpPr>
      <dsp:spPr>
        <a:xfrm>
          <a:off x="444096" y="3825582"/>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Best Practices and Troubleshooting</a:t>
          </a:r>
        </a:p>
      </dsp:txBody>
      <dsp:txXfrm>
        <a:off x="444096" y="3825582"/>
        <a:ext cx="10877675" cy="588753"/>
      </dsp:txXfrm>
    </dsp:sp>
    <dsp:sp modelId="{A0F81426-469C-4A2B-AFA2-587912462E64}">
      <dsp:nvSpPr>
        <dsp:cNvPr id="0" name=""/>
        <dsp:cNvSpPr/>
      </dsp:nvSpPr>
      <dsp:spPr>
        <a:xfrm>
          <a:off x="76125" y="3751988"/>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486E3-51C7-4A69-BB79-DAAEE60DFBD8}">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B41250-7485-4278-8866-EC6147C1AA0F}">
      <dsp:nvSpPr>
        <dsp:cNvPr id="0" name=""/>
        <dsp:cNvSpPr/>
      </dsp:nvSpPr>
      <dsp:spPr>
        <a:xfrm>
          <a:off x="444096" y="294188"/>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Inspection Modes</a:t>
          </a:r>
        </a:p>
      </dsp:txBody>
      <dsp:txXfrm>
        <a:off x="444096" y="294188"/>
        <a:ext cx="10877675" cy="588753"/>
      </dsp:txXfrm>
    </dsp:sp>
    <dsp:sp modelId="{A887FE50-B270-4054-A608-A38F70F22E24}">
      <dsp:nvSpPr>
        <dsp:cNvPr id="0" name=""/>
        <dsp:cNvSpPr/>
      </dsp:nvSpPr>
      <dsp:spPr>
        <a:xfrm>
          <a:off x="76125" y="220594"/>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8065D3-4DCE-4BD3-A567-CE13BE6A3938}">
      <dsp:nvSpPr>
        <dsp:cNvPr id="0" name=""/>
        <dsp:cNvSpPr/>
      </dsp:nvSpPr>
      <dsp:spPr>
        <a:xfrm>
          <a:off x="865980" y="1177037"/>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Web Filtering Basics</a:t>
          </a:r>
        </a:p>
      </dsp:txBody>
      <dsp:txXfrm>
        <a:off x="865980" y="1177037"/>
        <a:ext cx="10455791" cy="588753"/>
      </dsp:txXfrm>
    </dsp:sp>
    <dsp:sp modelId="{962AD2FA-BC8D-4E13-BF91-883A3618F24F}">
      <dsp:nvSpPr>
        <dsp:cNvPr id="0" name=""/>
        <dsp:cNvSpPr/>
      </dsp:nvSpPr>
      <dsp:spPr>
        <a:xfrm>
          <a:off x="498008" y="1103442"/>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861C35-8752-40A6-A089-5CD449BAC6D4}">
      <dsp:nvSpPr>
        <dsp:cNvPr id="0" name=""/>
        <dsp:cNvSpPr/>
      </dsp:nvSpPr>
      <dsp:spPr>
        <a:xfrm>
          <a:off x="995464" y="2059885"/>
          <a:ext cx="10326307"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Additional Proxy-Based Web Filtering Features</a:t>
          </a:r>
        </a:p>
      </dsp:txBody>
      <dsp:txXfrm>
        <a:off x="995464" y="2059885"/>
        <a:ext cx="10326307" cy="588753"/>
      </dsp:txXfrm>
    </dsp:sp>
    <dsp:sp modelId="{4CB9E30F-6B15-4A5A-B250-18D586845927}">
      <dsp:nvSpPr>
        <dsp:cNvPr id="0" name=""/>
        <dsp:cNvSpPr/>
      </dsp:nvSpPr>
      <dsp:spPr>
        <a:xfrm>
          <a:off x="627493" y="1986291"/>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3F084B-1581-45C9-8AF2-88209B7D3014}">
      <dsp:nvSpPr>
        <dsp:cNvPr id="0" name=""/>
        <dsp:cNvSpPr/>
      </dsp:nvSpPr>
      <dsp:spPr>
        <a:xfrm>
          <a:off x="865980" y="2942733"/>
          <a:ext cx="10455791"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smtClean="0"/>
            <a:t>Video </a:t>
          </a:r>
          <a:r>
            <a:rPr lang="en-CA" sz="3200" kern="1200" dirty="0"/>
            <a:t>Filtering</a:t>
          </a:r>
        </a:p>
      </dsp:txBody>
      <dsp:txXfrm>
        <a:off x="865980" y="2942733"/>
        <a:ext cx="10455791" cy="588753"/>
      </dsp:txXfrm>
    </dsp:sp>
    <dsp:sp modelId="{C039BE2F-7C58-4D62-8FDB-1AE01B555E69}">
      <dsp:nvSpPr>
        <dsp:cNvPr id="0" name=""/>
        <dsp:cNvSpPr/>
      </dsp:nvSpPr>
      <dsp:spPr>
        <a:xfrm>
          <a:off x="498008" y="2869139"/>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7C8405-A137-4ACD-B4D7-D0313A289456}">
      <dsp:nvSpPr>
        <dsp:cNvPr id="0" name=""/>
        <dsp:cNvSpPr/>
      </dsp:nvSpPr>
      <dsp:spPr>
        <a:xfrm>
          <a:off x="444096" y="3825582"/>
          <a:ext cx="10877675" cy="588753"/>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7323" tIns="81280" rIns="81280" bIns="81280" numCol="1" spcCol="1270" anchor="ctr" anchorCtr="0">
          <a:noAutofit/>
        </a:bodyPr>
        <a:lstStyle/>
        <a:p>
          <a:pPr lvl="0" algn="l" defTabSz="1422400">
            <a:lnSpc>
              <a:spcPct val="90000"/>
            </a:lnSpc>
            <a:spcBef>
              <a:spcPct val="0"/>
            </a:spcBef>
            <a:spcAft>
              <a:spcPct val="35000"/>
            </a:spcAft>
          </a:pPr>
          <a:r>
            <a:rPr lang="en-CA" sz="3200" kern="1200" dirty="0"/>
            <a:t>Best Practices and Troubleshooting</a:t>
          </a:r>
        </a:p>
      </dsp:txBody>
      <dsp:txXfrm>
        <a:off x="444096" y="3825582"/>
        <a:ext cx="10877675" cy="588753"/>
      </dsp:txXfrm>
    </dsp:sp>
    <dsp:sp modelId="{A0F81426-469C-4A2B-AFA2-587912462E64}">
      <dsp:nvSpPr>
        <dsp:cNvPr id="0" name=""/>
        <dsp:cNvSpPr/>
      </dsp:nvSpPr>
      <dsp:spPr>
        <a:xfrm>
          <a:off x="76125" y="3751988"/>
          <a:ext cx="735942" cy="735942"/>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5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1" tIns="48326" rIns="96651" bIns="48326" rtlCol="0"/>
          <a:lstStyle>
            <a:lvl1pPr algn="l">
              <a:defRPr sz="1200"/>
            </a:lvl1pPr>
          </a:lstStyle>
          <a:p>
            <a:r>
              <a:rPr lang="en-US"/>
              <a:t> Web Filtering</a:t>
            </a:r>
          </a:p>
        </p:txBody>
      </p:sp>
      <p:sp>
        <p:nvSpPr>
          <p:cNvPr id="3" name="Date Placeholder 2"/>
          <p:cNvSpPr>
            <a:spLocks noGrp="1"/>
          </p:cNvSpPr>
          <p:nvPr>
            <p:ph type="dt" sz="quarter" idx="1"/>
          </p:nvPr>
        </p:nvSpPr>
        <p:spPr>
          <a:xfrm>
            <a:off x="4143587" y="0"/>
            <a:ext cx="3169920" cy="481727"/>
          </a:xfrm>
          <a:prstGeom prst="rect">
            <a:avLst/>
          </a:prstGeom>
        </p:spPr>
        <p:txBody>
          <a:bodyPr vert="horz" lIns="96651" tIns="48326" rIns="96651" bIns="48326" rtlCol="0"/>
          <a:lstStyle>
            <a:lvl1pPr algn="r">
              <a:defRPr sz="1200"/>
            </a:lvl1pPr>
          </a:lstStyle>
          <a:p>
            <a:fld id="{A5865519-5FC2-4530-8949-194C152D6575}" type="datetimeFigureOut">
              <a:rPr lang="en-US" smtClean="0"/>
              <a:t>8/22/2022</a:t>
            </a:fld>
            <a:endParaRPr lang="en-US"/>
          </a:p>
        </p:txBody>
      </p:sp>
      <p:sp>
        <p:nvSpPr>
          <p:cNvPr id="4" name="Footer Placeholder 3"/>
          <p:cNvSpPr>
            <a:spLocks noGrp="1"/>
          </p:cNvSpPr>
          <p:nvPr>
            <p:ph type="ftr" sz="quarter" idx="2"/>
          </p:nvPr>
        </p:nvSpPr>
        <p:spPr>
          <a:xfrm>
            <a:off x="0" y="9119475"/>
            <a:ext cx="3169920" cy="481726"/>
          </a:xfrm>
          <a:prstGeom prst="rect">
            <a:avLst/>
          </a:prstGeom>
        </p:spPr>
        <p:txBody>
          <a:bodyPr vert="horz" lIns="96651" tIns="48326" rIns="96651" bIns="48326"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5"/>
            <a:ext cx="3169920" cy="481726"/>
          </a:xfrm>
          <a:prstGeom prst="rect">
            <a:avLst/>
          </a:prstGeom>
        </p:spPr>
        <p:txBody>
          <a:bodyPr vert="horz" lIns="96651" tIns="48326" rIns="96651" bIns="48326" rtlCol="0" anchor="b"/>
          <a:lstStyle>
            <a:lvl1pPr algn="r">
              <a:defRPr sz="1200"/>
            </a:lvl1pPr>
          </a:lstStyle>
          <a:p>
            <a:fld id="{03DCDAE4-7BEE-42B7-934A-0AC54FC009EB}" type="slidenum">
              <a:rPr lang="en-US" smtClean="0"/>
              <a:t>‹#›</a:t>
            </a:fld>
            <a:endParaRPr lang="en-US"/>
          </a:p>
        </p:txBody>
      </p:sp>
    </p:spTree>
    <p:extLst>
      <p:ext uri="{BB962C8B-B14F-4D97-AF65-F5344CB8AC3E}">
        <p14:creationId xmlns:p14="http://schemas.microsoft.com/office/powerpoint/2010/main" val="3750624698"/>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93725" y="704850"/>
            <a:ext cx="6346825" cy="3570288"/>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601382" y="4685099"/>
            <a:ext cx="6342879" cy="3984179"/>
          </a:xfrm>
          <a:prstGeom prst="rect">
            <a:avLst/>
          </a:prstGeom>
        </p:spPr>
        <p:txBody>
          <a:bodyPr vert="horz" lIns="96651" tIns="48326" rIns="96651" bIns="48326"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Header Placeholder 1"/>
          <p:cNvSpPr>
            <a:spLocks noGrp="1"/>
          </p:cNvSpPr>
          <p:nvPr>
            <p:ph type="hdr" sz="quarter"/>
          </p:nvPr>
        </p:nvSpPr>
        <p:spPr>
          <a:xfrm>
            <a:off x="3767148" y="121813"/>
            <a:ext cx="3164230" cy="468510"/>
          </a:xfrm>
          <a:prstGeom prst="rect">
            <a:avLst/>
          </a:prstGeom>
          <a:noFill/>
        </p:spPr>
        <p:txBody>
          <a:bodyPr vert="horz" lIns="0" tIns="0" rIns="0" bIns="0" rtlCol="0"/>
          <a:lstStyle>
            <a:lvl1pPr algn="l">
              <a:defRPr sz="1300">
                <a:solidFill>
                  <a:schemeClr val="bg1">
                    <a:lumMod val="50000"/>
                  </a:schemeClr>
                </a:solidFill>
                <a:latin typeface="+mn-lt"/>
              </a:defRPr>
            </a:lvl1pPr>
          </a:lstStyle>
          <a:p>
            <a:pPr algn="r"/>
            <a:r>
              <a:rPr lang="en-US" sz="1000" dirty="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720063067"/>
      </p:ext>
    </p:extLst>
  </p:cSld>
  <p:clrMap bg1="lt1" tx1="dk1" bg2="lt2" tx2="dk2" accent1="accent1" accent2="accent2" accent3="accent3" accent4="accent4" accent5="accent5" accent6="accent6" hlink="hlink" folHlink="folHlink"/>
  <p:hf sldNum="0" ftr="0" dt="0"/>
  <p:notesStyle>
    <a:lvl1pPr marL="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3"/>
          <p:cNvSpPr>
            <a:spLocks noGrp="1" noChangeArrowheads="1"/>
          </p:cNvSpPr>
          <p:nvPr>
            <p:ph type="body" idx="1"/>
          </p:nvPr>
        </p:nvSpPr>
        <p:spPr/>
        <p:txBody>
          <a:bodyPr/>
          <a:lstStyle/>
          <a:p>
            <a:pPr lvl="0"/>
            <a:r>
              <a:rPr lang="en-CA" dirty="0"/>
              <a:t>In this lesson, you will learn how to configure web filtering on </a:t>
            </a:r>
            <a:r>
              <a:rPr lang="en-CA" dirty="0" err="1"/>
              <a:t>FortiGate</a:t>
            </a:r>
            <a:r>
              <a:rPr lang="en-CA" dirty="0"/>
              <a:t> to control web traffic in your network</a:t>
            </a:r>
            <a:r>
              <a:rPr lang="en-US" dirty="0"/>
              <a:t>.</a:t>
            </a:r>
          </a:p>
        </p:txBody>
      </p:sp>
      <p:sp>
        <p:nvSpPr>
          <p:cNvPr id="5" name="Slide Image Placeholder 4"/>
          <p:cNvSpPr>
            <a:spLocks noGrp="1" noRot="1" noChangeAspect="1"/>
          </p:cNvSpPr>
          <p:nvPr>
            <p:ph type="sldImg"/>
          </p:nvPr>
        </p:nvSpPr>
        <p:spPr>
          <a:xfrm>
            <a:off x="590550" y="704850"/>
            <a:ext cx="6353175" cy="3575050"/>
          </a:xfrm>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798870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1588" cy="3575050"/>
          </a:xfrm>
        </p:spPr>
      </p:sp>
      <p:sp>
        <p:nvSpPr>
          <p:cNvPr id="3" name="Notes Placeholder 2"/>
          <p:cNvSpPr>
            <a:spLocks noGrp="1"/>
          </p:cNvSpPr>
          <p:nvPr>
            <p:ph type="body" idx="1"/>
          </p:nvPr>
        </p:nvSpPr>
        <p:spPr/>
        <p:txBody>
          <a:bodyPr/>
          <a:lstStyle/>
          <a:p>
            <a:r>
              <a:rPr lang="en-CA" baseline="0" dirty="0"/>
              <a:t>In this lesson, you will learn about the topics shown on this slide.</a:t>
            </a:r>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782401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pPr defTabSz="913032">
              <a:defRPr/>
            </a:pPr>
            <a:r>
              <a:rPr lang="en-CA" baseline="0" dirty="0"/>
              <a:t>After completing this section, you should be able to achieve the objectives shown on this slide.</a:t>
            </a:r>
          </a:p>
          <a:p>
            <a:pPr defTabSz="913032">
              <a:defRPr/>
            </a:pPr>
            <a:endParaRPr lang="en-CA" baseline="0" dirty="0"/>
          </a:p>
          <a:p>
            <a:pPr marL="0" indent="0" defTabSz="913032">
              <a:buFont typeface="Arial" panose="020B0604020202020204" pitchFamily="34" charset="0"/>
              <a:buNone/>
              <a:defRPr/>
            </a:pPr>
            <a:r>
              <a:rPr lang="en-CA" baseline="0" dirty="0"/>
              <a:t>By demonstrating competence in understanding inspection modes, you will be able to implement the appropriate inspection modes to support the desired security profiles.</a:t>
            </a:r>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4138566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pPr defTabSz="873743">
              <a:defRPr/>
            </a:pPr>
            <a:r>
              <a:rPr lang="en-CA" dirty="0"/>
              <a:t>Flow-based inspection mode examines the file as it passes through FortiGate, without any buffering. As each packet arrives, it is processed and forwarded without waiting for the complete file or web page. </a:t>
            </a:r>
            <a:r>
              <a:rPr lang="en-US" dirty="0"/>
              <a:t>If you are familiar with the TCP flow analysis of Wireshark, then that is essentially what the flow engine sees. Packets are analyzed and forwarded as they are received. Original traffic is not altered. Therefore,</a:t>
            </a:r>
            <a:r>
              <a:rPr lang="en-US" baseline="0" dirty="0"/>
              <a:t> </a:t>
            </a:r>
            <a:r>
              <a:rPr lang="en-US" dirty="0"/>
              <a:t>advanced features that modify content, such as safe search enforcement, are not supported.</a:t>
            </a:r>
          </a:p>
          <a:p>
            <a:pPr defTabSz="873743">
              <a:defRPr/>
            </a:pPr>
            <a:endParaRPr lang="en-US" baseline="0" dirty="0"/>
          </a:p>
          <a:p>
            <a:r>
              <a:rPr lang="en-CA" dirty="0"/>
              <a:t>The advantages of flow-based mode are:</a:t>
            </a:r>
          </a:p>
          <a:p>
            <a:pPr marL="179337" indent="-179337">
              <a:buFont typeface="Arial" panose="020B0604020202020204" pitchFamily="34" charset="0"/>
              <a:buChar char="•"/>
            </a:pPr>
            <a:r>
              <a:rPr lang="en-CA" dirty="0"/>
              <a:t>The user sees a faster response time for HTTP requests compared to proxy based</a:t>
            </a:r>
          </a:p>
          <a:p>
            <a:pPr marL="179337" indent="-179337">
              <a:buFont typeface="Arial" panose="020B0604020202020204" pitchFamily="34" charset="0"/>
              <a:buChar char="•"/>
            </a:pPr>
            <a:r>
              <a:rPr lang="en-CA" dirty="0"/>
              <a:t>There is less chance of a time-out error because of the server at the other end responding slowly</a:t>
            </a:r>
          </a:p>
          <a:p>
            <a:pPr marL="179337" indent="-179337">
              <a:buFont typeface="Arial" panose="020B0604020202020204" pitchFamily="34" charset="0"/>
              <a:buChar char="•"/>
            </a:pPr>
            <a:endParaRPr lang="en-CA" dirty="0"/>
          </a:p>
          <a:p>
            <a:r>
              <a:rPr lang="en-CA" dirty="0"/>
              <a:t>The disadvantages of flow-based mode are:</a:t>
            </a:r>
          </a:p>
          <a:p>
            <a:pPr marL="179337" indent="-179337">
              <a:buFont typeface="Arial" panose="020B0604020202020204" pitchFamily="34" charset="0"/>
              <a:buChar char="•"/>
            </a:pPr>
            <a:r>
              <a:rPr lang="en-CA" dirty="0"/>
              <a:t>A number of security features that are available in proxy-based mode are not available in flow-based mode</a:t>
            </a:r>
          </a:p>
          <a:p>
            <a:pPr marL="179337" indent="-179337">
              <a:buFont typeface="Arial" panose="020B0604020202020204" pitchFamily="34" charset="0"/>
              <a:buChar char="•"/>
            </a:pPr>
            <a:r>
              <a:rPr lang="en-CA" dirty="0"/>
              <a:t>Fewer actions are available based on the categorization of the website by FortiGuard services</a:t>
            </a:r>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576541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r>
              <a:rPr lang="en-US" dirty="0"/>
              <a:t>Proxy-based scanning refers to transparent proxy. It’s called transparent</a:t>
            </a:r>
            <a:r>
              <a:rPr lang="en-US" baseline="0" dirty="0"/>
              <a:t> </a:t>
            </a:r>
            <a:r>
              <a:rPr lang="en-US" dirty="0"/>
              <a:t>because, at the IP layer, FortiGate is not the destination address, but FortiGate </a:t>
            </a:r>
            <a:r>
              <a:rPr lang="en-US" i="1" dirty="0"/>
              <a:t>does</a:t>
            </a:r>
            <a:r>
              <a:rPr lang="en-US" dirty="0"/>
              <a:t> intercept the traffic. When </a:t>
            </a:r>
            <a:r>
              <a:rPr lang="en-CA" dirty="0"/>
              <a:t>proxy-based inspection is enabled, FortiGate buffers traffic and examines it </a:t>
            </a:r>
            <a:r>
              <a:rPr lang="en-CA" i="1" dirty="0"/>
              <a:t>as a whole</a:t>
            </a:r>
            <a:r>
              <a:rPr lang="en-CA" dirty="0"/>
              <a:t>, before determining an action. Because FortiGate examines the data as a whole, it can examine more points of data than it does when using </a:t>
            </a:r>
            <a:r>
              <a:rPr lang="en-CA" dirty="0" smtClean="0"/>
              <a:t>flow-based inspection. </a:t>
            </a:r>
            <a:endParaRPr lang="en-US" dirty="0"/>
          </a:p>
          <a:p>
            <a:endParaRPr lang="en-US" dirty="0"/>
          </a:p>
          <a:p>
            <a:r>
              <a:rPr lang="en-US" dirty="0"/>
              <a:t>In TCP connections, </a:t>
            </a:r>
            <a:r>
              <a:rPr lang="en-US" dirty="0" smtClean="0"/>
              <a:t>the FortiGate </a:t>
            </a:r>
            <a:r>
              <a:rPr lang="en-US" dirty="0"/>
              <a:t>proxy generates the SYN-ACK to the client, and completes the three-way handshake with the client, before creating a second, new connection to the server. If the payload is less than the oversize limit, the proxy buffers transmitted files or emails for inspection, before continuing transmission. The proxy analyzes the headers and may change the headers, such as HTTP host and URL, for web filtering. If a security profile decides to block the connection, the proxy can send a replacement message to the client.</a:t>
            </a:r>
            <a:r>
              <a:rPr lang="en-US" baseline="0" dirty="0"/>
              <a:t> </a:t>
            </a:r>
            <a:r>
              <a:rPr lang="en-US" dirty="0"/>
              <a:t>This adds latency to the overall transmission speed. </a:t>
            </a:r>
          </a:p>
          <a:p>
            <a:pPr defTabSz="873743">
              <a:defRPr/>
            </a:pPr>
            <a:endParaRPr lang="en-US" baseline="0" dirty="0"/>
          </a:p>
          <a:p>
            <a:pPr defTabSz="873743">
              <a:defRPr/>
            </a:pPr>
            <a:r>
              <a:rPr lang="en-CA" dirty="0"/>
              <a:t>Proxy-based inspection is more thorough than </a:t>
            </a:r>
            <a:r>
              <a:rPr lang="en-CA" dirty="0" smtClean="0"/>
              <a:t>flow-based inspection, </a:t>
            </a:r>
            <a:r>
              <a:rPr lang="en-CA" dirty="0"/>
              <a:t>yielding fewer false positives and negative results.</a:t>
            </a:r>
            <a:endParaRPr lang="en-US" baseline="0"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873103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r>
              <a:rPr lang="en-CA" baseline="0" dirty="0"/>
              <a:t>FortiGate, or the individual VDOM, has two next-generation firewall (NGFW) modes available:</a:t>
            </a:r>
          </a:p>
          <a:p>
            <a:pPr marL="228600" indent="-228600">
              <a:buAutoNum type="arabicPeriod"/>
            </a:pPr>
            <a:r>
              <a:rPr lang="en-CA" b="0" baseline="0" dirty="0"/>
              <a:t>Profile-based mode: Requires administrators to create and use application control and web filter profiles and apply them to a firewall policy. Profile-based mode is applicable to use flow-based or proxy-based inspection mode as per the policy.</a:t>
            </a:r>
          </a:p>
          <a:p>
            <a:pPr marL="228600" indent="-228600">
              <a:buAutoNum type="arabicPeriod"/>
            </a:pPr>
            <a:r>
              <a:rPr lang="en-CA" b="0" baseline="0" dirty="0"/>
              <a:t>Policy-based mode: Administrators can apply application control and web filter configuration directly to a security policy. Flow-based inspection mode is the only applicable process available in policy-based NGFW mode.</a:t>
            </a:r>
            <a:endParaRPr lang="en-CA" b="0" dirty="0"/>
          </a:p>
          <a:p>
            <a:endParaRPr lang="en-CA" dirty="0"/>
          </a:p>
          <a:p>
            <a:pPr marL="0" marR="0" lvl="0" indent="0" algn="l" defTabSz="914240" rtl="0" eaLnBrk="1" fontAlgn="auto" latinLnBrk="0" hangingPunct="1">
              <a:lnSpc>
                <a:spcPct val="100000"/>
              </a:lnSpc>
              <a:spcBef>
                <a:spcPts val="0"/>
              </a:spcBef>
              <a:spcAft>
                <a:spcPts val="0"/>
              </a:spcAft>
              <a:buClrTx/>
              <a:buSzTx/>
              <a:buFontTx/>
              <a:buNone/>
              <a:tabLst/>
              <a:defRPr/>
            </a:pPr>
            <a:r>
              <a:rPr lang="en-CA" dirty="0"/>
              <a:t>Antivirus scanning is available as</a:t>
            </a:r>
            <a:r>
              <a:rPr lang="en-CA" baseline="0" dirty="0"/>
              <a:t> a security profile that you can apply in a profile-based NGFW mode firewall policy or policy-based NGFW mode security policy.</a:t>
            </a:r>
            <a:endParaRPr lang="en-CA" dirty="0"/>
          </a:p>
          <a:p>
            <a:endParaRPr lang="en-CA" dirty="0"/>
          </a:p>
          <a:p>
            <a:r>
              <a:rPr lang="en-CA" dirty="0"/>
              <a:t>You can change NGFW</a:t>
            </a:r>
            <a:r>
              <a:rPr lang="en-CA" baseline="0" dirty="0"/>
              <a:t> mode in the system settings of FortiGate or the individual VDOM. Note that the change will require you to remove all existing policies in either mode.</a:t>
            </a:r>
            <a:endParaRPr lang="en-CA"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495242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40" rtl="0" eaLnBrk="1" fontAlgn="auto" latinLnBrk="0" hangingPunct="1">
              <a:lnSpc>
                <a:spcPct val="100000"/>
              </a:lnSpc>
              <a:spcBef>
                <a:spcPts val="0"/>
              </a:spcBef>
              <a:spcAft>
                <a:spcPts val="0"/>
              </a:spcAft>
              <a:buClrTx/>
              <a:buSzTx/>
              <a:buFontTx/>
              <a:buNone/>
              <a:tabLst/>
              <a:defRPr/>
            </a:pPr>
            <a:r>
              <a:rPr lang="en-CA" dirty="0"/>
              <a:t>If you configured FortiGate</a:t>
            </a:r>
            <a:r>
              <a:rPr lang="en-CA" baseline="0" dirty="0"/>
              <a:t> to use NGFW policy-based mode or created a VDOM specifically to provide NGFW policy-based mode, you must configure a few policies to allow traffic.</a:t>
            </a:r>
          </a:p>
          <a:p>
            <a:pPr marL="0" marR="0" lvl="0" indent="0" algn="l" defTabSz="914240" rtl="0" eaLnBrk="1" fontAlgn="auto" latinLnBrk="0" hangingPunct="1">
              <a:lnSpc>
                <a:spcPct val="100000"/>
              </a:lnSpc>
              <a:spcBef>
                <a:spcPts val="0"/>
              </a:spcBef>
              <a:spcAft>
                <a:spcPts val="0"/>
              </a:spcAft>
              <a:buClrTx/>
              <a:buSzTx/>
              <a:buFontTx/>
              <a:buNone/>
              <a:tabLst/>
              <a:defRPr/>
            </a:pPr>
            <a:endParaRPr lang="en-CA" baseline="0" dirty="0"/>
          </a:p>
          <a:p>
            <a:pPr marL="0" marR="0" lvl="0" indent="0" algn="l" defTabSz="914240" rtl="0" eaLnBrk="1" fontAlgn="auto" latinLnBrk="0" hangingPunct="1">
              <a:lnSpc>
                <a:spcPct val="100000"/>
              </a:lnSpc>
              <a:spcBef>
                <a:spcPts val="0"/>
              </a:spcBef>
              <a:spcAft>
                <a:spcPts val="0"/>
              </a:spcAft>
              <a:buClrTx/>
              <a:buSzTx/>
              <a:buFontTx/>
              <a:buNone/>
              <a:tabLst/>
              <a:defRPr/>
            </a:pPr>
            <a:r>
              <a:rPr lang="en-CA" baseline="0" dirty="0"/>
              <a:t>SSL Inspection &amp; Authentication (consolidated) policy: </a:t>
            </a:r>
            <a:r>
              <a:rPr lang="en-CA" baseline="0" dirty="0" smtClean="0"/>
              <a:t>This policy </a:t>
            </a:r>
            <a:r>
              <a:rPr lang="en-CA" baseline="0" dirty="0"/>
              <a:t>allows traffic from a specific user or user group to match the criteria specified within the consolidated </a:t>
            </a:r>
            <a:r>
              <a:rPr lang="en-CA" baseline="0" dirty="0" smtClean="0"/>
              <a:t>policy, </a:t>
            </a:r>
            <a:r>
              <a:rPr lang="en-CA" baseline="0" dirty="0"/>
              <a:t>and inspect SSL traffic using the SSL inspection profile selected. FortiGate can either accept or deny the traffic.</a:t>
            </a:r>
          </a:p>
          <a:p>
            <a:pPr marL="0" marR="0" lvl="0" indent="0" algn="l" defTabSz="91424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240" rtl="0" eaLnBrk="1" fontAlgn="auto" latinLnBrk="0" hangingPunct="1">
              <a:lnSpc>
                <a:spcPct val="100000"/>
              </a:lnSpc>
              <a:spcBef>
                <a:spcPts val="0"/>
              </a:spcBef>
              <a:spcAft>
                <a:spcPts val="0"/>
              </a:spcAft>
              <a:buClrTx/>
              <a:buSzTx/>
              <a:buFontTx/>
              <a:buNone/>
              <a:tabLst/>
              <a:defRPr/>
            </a:pPr>
            <a:r>
              <a:rPr lang="en-CA" dirty="0"/>
              <a:t>Security policy:</a:t>
            </a:r>
            <a:r>
              <a:rPr lang="en-CA" baseline="0" dirty="0"/>
              <a:t> If the traffic is allowed </a:t>
            </a:r>
            <a:r>
              <a:rPr lang="en-CA" baseline="0" dirty="0" smtClean="0"/>
              <a:t>according to the </a:t>
            </a:r>
            <a:r>
              <a:rPr lang="en-CA" baseline="0" dirty="0"/>
              <a:t>consolidated policy, FortiGate </a:t>
            </a:r>
            <a:r>
              <a:rPr lang="en-CA" baseline="0" dirty="0" smtClean="0"/>
              <a:t>then processes </a:t>
            </a:r>
            <a:r>
              <a:rPr lang="en-CA" baseline="0" dirty="0"/>
              <a:t>it based on the security policy to analyze additional criteria, such as URL </a:t>
            </a:r>
            <a:r>
              <a:rPr lang="en-CA" baseline="0" dirty="0" smtClean="0"/>
              <a:t>categories, groups </a:t>
            </a:r>
            <a:r>
              <a:rPr lang="en-CA" baseline="0" dirty="0"/>
              <a:t>for web </a:t>
            </a:r>
            <a:r>
              <a:rPr lang="en-CA" baseline="0" dirty="0" smtClean="0"/>
              <a:t>filtering, </a:t>
            </a:r>
            <a:r>
              <a:rPr lang="en-CA" baseline="0" dirty="0"/>
              <a:t>and application control. Also, if enabled, the security policy further inspects traffic using security profiles such as </a:t>
            </a:r>
            <a:r>
              <a:rPr lang="en-CA" baseline="0" dirty="0" smtClean="0"/>
              <a:t>AV, IPS, </a:t>
            </a:r>
            <a:r>
              <a:rPr lang="en-CA" baseline="0" dirty="0"/>
              <a:t>and </a:t>
            </a:r>
            <a:r>
              <a:rPr lang="en-CA" baseline="0" dirty="0" smtClean="0"/>
              <a:t>file filter.</a:t>
            </a:r>
            <a:endParaRPr lang="en-CA"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599326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859009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1588" cy="3575050"/>
          </a:xfrm>
        </p:spPr>
      </p:sp>
      <p:sp>
        <p:nvSpPr>
          <p:cNvPr id="3" name="Notes Placeholder 2"/>
          <p:cNvSpPr>
            <a:spLocks noGrp="1"/>
          </p:cNvSpPr>
          <p:nvPr>
            <p:ph type="body" idx="1"/>
          </p:nvPr>
        </p:nvSpPr>
        <p:spPr/>
        <p:txBody>
          <a:bodyPr/>
          <a:lstStyle/>
          <a:p>
            <a:r>
              <a:rPr lang="en-CA" dirty="0"/>
              <a:t>Good</a:t>
            </a:r>
            <a:r>
              <a:rPr lang="en-CA" baseline="0" dirty="0"/>
              <a:t> job! You now understand inspection modes.</a:t>
            </a:r>
          </a:p>
          <a:p>
            <a:endParaRPr lang="en-CA" baseline="0" dirty="0"/>
          </a:p>
          <a:p>
            <a:pPr defTabSz="956295">
              <a:defRPr/>
            </a:pPr>
            <a:r>
              <a:rPr lang="en-CA" dirty="0"/>
              <a:t>Now</a:t>
            </a:r>
            <a:r>
              <a:rPr lang="en-CA" baseline="0" dirty="0"/>
              <a:t>, you will learn about web filtering basics.</a:t>
            </a:r>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227450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After completing this section, you should be able</a:t>
            </a:r>
            <a:r>
              <a:rPr lang="en-US" baseline="0" dirty="0"/>
              <a:t> to achieve the objectives shown on this slide.</a:t>
            </a:r>
            <a:endParaRPr lang="en-CA" dirty="0"/>
          </a:p>
          <a:p>
            <a:pPr marL="179337" indent="-179337">
              <a:buFont typeface="Arial" panose="020B0604020202020204" pitchFamily="34" charset="0"/>
              <a:buChar char="•"/>
            </a:pPr>
            <a:endParaRPr lang="en-CA" dirty="0"/>
          </a:p>
          <a:p>
            <a:pPr marL="0" indent="0">
              <a:buFont typeface="Arial" panose="020B0604020202020204" pitchFamily="34" charset="0"/>
              <a:buNone/>
            </a:pPr>
            <a:r>
              <a:rPr lang="en-CA" dirty="0"/>
              <a:t>By demonstrating competence in web filtering basics, you will be able to describe </a:t>
            </a:r>
            <a:r>
              <a:rPr lang="en-CA" baseline="0" dirty="0"/>
              <a:t>web filter </a:t>
            </a:r>
            <a:r>
              <a:rPr lang="en-CA" baseline="0" dirty="0" smtClean="0"/>
              <a:t>profiles and use </a:t>
            </a:r>
            <a:r>
              <a:rPr lang="en-CA" baseline="0" dirty="0" err="1"/>
              <a:t>FortiGuard</a:t>
            </a:r>
            <a:r>
              <a:rPr lang="en-CA" baseline="0" dirty="0"/>
              <a:t> web filter </a:t>
            </a:r>
            <a:r>
              <a:rPr lang="en-CA" baseline="0" dirty="0" smtClean="0"/>
              <a:t>profiles.</a:t>
            </a:r>
            <a:endParaRPr lang="en-CA" dirty="0"/>
          </a:p>
        </p:txBody>
      </p:sp>
      <p:sp>
        <p:nvSpPr>
          <p:cNvPr id="7" name="Slide Image Placeholder 6"/>
          <p:cNvSpPr>
            <a:spLocks noGrp="1" noRot="1" noChangeAspect="1"/>
          </p:cNvSpPr>
          <p:nvPr>
            <p:ph type="sldImg"/>
          </p:nvPr>
        </p:nvSpPr>
        <p:spPr>
          <a:xfrm>
            <a:off x="590550" y="704850"/>
            <a:ext cx="6353175" cy="3575050"/>
          </a:xfrm>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4175006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p:txBody>
          <a:bodyPr/>
          <a:lstStyle/>
          <a:p>
            <a:r>
              <a:rPr lang="en-US" b="0" dirty="0"/>
              <a:t>Web filtering helps to </a:t>
            </a:r>
            <a:r>
              <a:rPr lang="en-US" b="0" baseline="0" dirty="0"/>
              <a:t>control, or track, the websites that people visit. There are many reasons why network administrators apply web filtering, including to</a:t>
            </a:r>
            <a:r>
              <a:rPr lang="en-US" b="0" baseline="0" dirty="0" smtClean="0"/>
              <a:t>:</a:t>
            </a:r>
            <a:endParaRPr lang="en-US" b="0" baseline="0" dirty="0"/>
          </a:p>
          <a:p>
            <a:pPr marL="171249" indent="-171249">
              <a:buFont typeface="Arial" panose="020B0604020202020204" pitchFamily="34" charset="0"/>
              <a:buChar char="•"/>
            </a:pPr>
            <a:r>
              <a:rPr lang="en-US" b="0" baseline="0" dirty="0"/>
              <a:t>Preserve employee productivity</a:t>
            </a:r>
          </a:p>
          <a:p>
            <a:pPr marL="171249" indent="-171249">
              <a:buFont typeface="Arial" panose="020B0604020202020204" pitchFamily="34" charset="0"/>
              <a:buChar char="•"/>
            </a:pPr>
            <a:r>
              <a:rPr lang="en-US" b="0" baseline="0" dirty="0"/>
              <a:t>Prevent network congestion, where valuable bandwidth is used for non-business purposes</a:t>
            </a:r>
          </a:p>
          <a:p>
            <a:pPr marL="171249" indent="-171249">
              <a:buFont typeface="Arial" panose="020B0604020202020204" pitchFamily="34" charset="0"/>
              <a:buChar char="•"/>
            </a:pPr>
            <a:r>
              <a:rPr lang="en-US" b="0" baseline="0" dirty="0"/>
              <a:t>Prevent loss or exposure of confidential information</a:t>
            </a:r>
          </a:p>
          <a:p>
            <a:pPr marL="171249" indent="-171249">
              <a:buFont typeface="Arial" panose="020B0604020202020204" pitchFamily="34" charset="0"/>
              <a:buChar char="•"/>
            </a:pPr>
            <a:r>
              <a:rPr lang="en-US" b="0" baseline="0" dirty="0"/>
              <a:t>Decrease exposure to web-based threats</a:t>
            </a:r>
          </a:p>
          <a:p>
            <a:pPr marL="171249" indent="-171249">
              <a:buFont typeface="Arial" panose="020B0604020202020204" pitchFamily="34" charset="0"/>
              <a:buChar char="•"/>
            </a:pPr>
            <a:r>
              <a:rPr lang="en-US" b="0" baseline="0" dirty="0"/>
              <a:t>Limit legal liability when employees access or download inappropriate or offensive material</a:t>
            </a:r>
          </a:p>
          <a:p>
            <a:pPr marL="171249" indent="-171249">
              <a:buFont typeface="Arial" panose="020B0604020202020204" pitchFamily="34" charset="0"/>
              <a:buChar char="•"/>
            </a:pPr>
            <a:r>
              <a:rPr lang="en-US" b="0" baseline="0" dirty="0"/>
              <a:t>Prevent copyright infringement caused by employees downloading or distributing copyrighted materials</a:t>
            </a:r>
          </a:p>
          <a:p>
            <a:pPr marL="171249" indent="-171249">
              <a:buFont typeface="Arial" panose="020B0604020202020204" pitchFamily="34" charset="0"/>
              <a:buChar char="•"/>
            </a:pPr>
            <a:r>
              <a:rPr lang="en-US" b="0" baseline="0" dirty="0"/>
              <a:t>Prevent children from viewing inappropriate material</a:t>
            </a:r>
          </a:p>
        </p:txBody>
      </p:sp>
      <p:sp>
        <p:nvSpPr>
          <p:cNvPr id="5" name="Slide Image Placeholder 4"/>
          <p:cNvSpPr>
            <a:spLocks noGrp="1" noRot="1" noChangeAspect="1"/>
          </p:cNvSpPr>
          <p:nvPr>
            <p:ph type="sldImg"/>
          </p:nvPr>
        </p:nvSpPr>
        <p:spPr>
          <a:xfrm>
            <a:off x="590550" y="704850"/>
            <a:ext cx="6353175" cy="3575050"/>
          </a:xfrm>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36014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p:txBody>
          <a:bodyPr/>
          <a:lstStyle/>
          <a:p>
            <a:pPr defTabSz="913326">
              <a:defRPr/>
            </a:pPr>
            <a:r>
              <a:rPr lang="en-US" b="0" i="1" dirty="0"/>
              <a:t>(slide contains animation)</a:t>
            </a:r>
          </a:p>
          <a:p>
            <a:endParaRPr lang="en-US" b="0" baseline="0" dirty="0"/>
          </a:p>
          <a:p>
            <a:r>
              <a:rPr lang="en-CA" sz="1000" kern="1200" dirty="0">
                <a:solidFill>
                  <a:schemeClr val="tx1"/>
                </a:solidFill>
                <a:latin typeface="Arial" panose="020B0604020202020204" pitchFamily="34" charset="0"/>
                <a:ea typeface="+mn-ea"/>
                <a:cs typeface="Arial" panose="020B0604020202020204" pitchFamily="34" charset="0"/>
              </a:rPr>
              <a:t>The example on this slide shows </a:t>
            </a:r>
            <a:r>
              <a:rPr lang="en-US" b="0" baseline="0" dirty="0"/>
              <a:t>the flow of an HTTP filter process.</a:t>
            </a:r>
          </a:p>
          <a:p>
            <a:endParaRPr lang="en-US" b="0" baseline="0" dirty="0"/>
          </a:p>
          <a:p>
            <a:r>
              <a:rPr lang="en-US" b="0" baseline="0" dirty="0"/>
              <a:t>FortiGate looks for the </a:t>
            </a:r>
            <a:r>
              <a:rPr lang="en-US" b="0" baseline="0" dirty="0">
                <a:latin typeface="Courier New" panose="02070309020205020404" pitchFamily="49" charset="0"/>
                <a:cs typeface="Courier New" panose="02070309020205020404" pitchFamily="49" charset="0"/>
              </a:rPr>
              <a:t>HTTP GET</a:t>
            </a:r>
            <a:r>
              <a:rPr lang="en-US" b="0" baseline="0" dirty="0"/>
              <a:t> request to collect URL information and perform </a:t>
            </a:r>
            <a:r>
              <a:rPr lang="en-US" b="0" baseline="0" dirty="0" smtClean="0"/>
              <a:t>web filtering</a:t>
            </a:r>
            <a:r>
              <a:rPr lang="en-US" b="0" baseline="0" dirty="0"/>
              <a:t>.</a:t>
            </a:r>
          </a:p>
          <a:p>
            <a:endParaRPr lang="en-US" b="0" baseline="0" dirty="0"/>
          </a:p>
          <a:p>
            <a:r>
              <a:rPr lang="en-US" dirty="0"/>
              <a:t>So, as shown, in HTTP the domain name and URL are separate pieces. The domain name might look like </a:t>
            </a:r>
            <a:r>
              <a:rPr lang="en-US" dirty="0" smtClean="0"/>
              <a:t>the following </a:t>
            </a:r>
            <a:r>
              <a:rPr lang="en-US" dirty="0"/>
              <a:t>in the header: </a:t>
            </a:r>
            <a:r>
              <a:rPr lang="en-US" dirty="0">
                <a:latin typeface="Courier New" panose="02070309020205020404" pitchFamily="49" charset="0"/>
                <a:cs typeface="Courier New" panose="02070309020205020404" pitchFamily="49" charset="0"/>
              </a:rPr>
              <a:t>Host: www.acme.com</a:t>
            </a:r>
            <a:r>
              <a:rPr lang="en-US" dirty="0"/>
              <a:t>, and the URL might look like </a:t>
            </a:r>
            <a:r>
              <a:rPr lang="en-US" dirty="0" smtClean="0"/>
              <a:t>the following </a:t>
            </a:r>
            <a:r>
              <a:rPr lang="en-US" dirty="0"/>
              <a:t>in the header: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index.php?login</a:t>
            </a:r>
            <a:r>
              <a:rPr lang="en-US" dirty="0">
                <a:latin typeface="Courier New" panose="02070309020205020404" pitchFamily="49" charset="0"/>
                <a:cs typeface="Courier New" panose="02070309020205020404" pitchFamily="49" charset="0"/>
              </a:rPr>
              <a:t>=true</a:t>
            </a:r>
            <a:r>
              <a:rPr lang="en-US" dirty="0"/>
              <a:t>.</a:t>
            </a:r>
          </a:p>
          <a:p>
            <a:endParaRPr lang="en-US" dirty="0"/>
          </a:p>
          <a:p>
            <a:r>
              <a:rPr lang="en-US" dirty="0"/>
              <a:t>If </a:t>
            </a:r>
            <a:r>
              <a:rPr lang="en-US" dirty="0" smtClean="0"/>
              <a:t>you </a:t>
            </a:r>
            <a:r>
              <a:rPr lang="en-US" dirty="0"/>
              <a:t>filter by domain, sometimes it blocks too much. For example, the blogs on </a:t>
            </a:r>
            <a:r>
              <a:rPr lang="en-US" dirty="0">
                <a:latin typeface="Courier New" panose="02070309020205020404" pitchFamily="49" charset="0"/>
                <a:cs typeface="Courier New" panose="02070309020205020404" pitchFamily="49" charset="0"/>
              </a:rPr>
              <a:t>tumblr.com</a:t>
            </a:r>
            <a:r>
              <a:rPr lang="en-US" dirty="0"/>
              <a:t> are considered different content, because of all the different authors. In that case, you can be more specific, and block by the URL part, </a:t>
            </a:r>
            <a:r>
              <a:rPr lang="en-US" dirty="0">
                <a:latin typeface="Courier New" panose="02070309020205020404" pitchFamily="49" charset="0"/>
                <a:cs typeface="Courier New" panose="02070309020205020404" pitchFamily="49" charset="0"/>
              </a:rPr>
              <a:t>tumblr.com/hacking</a:t>
            </a:r>
            <a:r>
              <a:rPr lang="en-US" dirty="0">
                <a:latin typeface="+mn-lt"/>
              </a:rPr>
              <a:t>, </a:t>
            </a:r>
            <a:r>
              <a:rPr lang="en-US" dirty="0"/>
              <a:t>for example.</a:t>
            </a:r>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542590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4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Now, you will look at the web filter profile.</a:t>
            </a:r>
          </a:p>
          <a:p>
            <a:pPr marL="0" marR="0" lvl="0" indent="0" algn="l" defTabSz="91424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3326"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You can configure this </a:t>
            </a:r>
            <a:r>
              <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security profile </a:t>
            </a:r>
            <a:r>
              <a:rPr kumimoji="0" lang="en-CA"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to </a:t>
            </a:r>
            <a:r>
              <a:rPr kumimoji="0" lang="en-CA"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 a feature set for proxy-based or flow-based inspection modes</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However, depending on the mode you select, the available settings are different. </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Flow-based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inspection has fewer available options.</a:t>
            </a:r>
          </a:p>
          <a:p>
            <a:pPr marL="0" marR="0" lvl="0" indent="0" algn="l" defTabSz="91424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332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 the examples shown on this slide, the web filter profile has a FortiGuard category-based filter that categorizes the websites based on categories and </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subcategories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by FortiGuard. </a:t>
            </a:r>
            <a:r>
              <a:rPr kumimoji="0" lang="en-US" sz="1000" b="0" i="0" u="none" strike="noStrike" kern="1200" cap="none" spc="0" normalizeH="0" baseline="0" noProof="0" dirty="0" err="1" smtClean="0">
                <a:ln>
                  <a:noFill/>
                </a:ln>
                <a:solidFill>
                  <a:prstClr val="black"/>
                </a:solidFill>
                <a:effectLst/>
                <a:uLnTx/>
                <a:uFillTx/>
                <a:latin typeface="Arial" panose="020B0604020202020204" pitchFamily="34" charset="0"/>
                <a:ea typeface="+mn-ea"/>
                <a:cs typeface="Arial" panose="020B0604020202020204" pitchFamily="34" charset="0"/>
              </a:rPr>
              <a:t>FortiGate</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offers two </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NGFW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options</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33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Profile-Based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(default)</a:t>
            </a:r>
          </a:p>
          <a:p>
            <a:pPr marL="628570" marR="0" lvl="1" indent="-171450" algn="l" defTabSz="9133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Web filters are defined as security profiles and applied to the firewall policy</a:t>
            </a:r>
          </a:p>
          <a:p>
            <a:pPr marL="171450" marR="0" lvl="0" indent="-171450" algn="l" defTabSz="9133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Policy-Based</a:t>
            </a:r>
          </a:p>
          <a:p>
            <a:pPr marL="628570" marR="0" lvl="1" indent="-171450" algn="l" defTabSz="9133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URL categories are defined directly under the firewall </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policy</a:t>
            </a:r>
          </a:p>
        </p:txBody>
      </p:sp>
      <p:sp>
        <p:nvSpPr>
          <p:cNvPr id="5" name="Header Placeholder 4"/>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572293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2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 </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the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example shown on this slide, the security profile is configured to use a proxy-based feature set. The profile is available to a firewall policy configured to use proxy-based inspection mode. Other local options include</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249" marR="0" lvl="0" indent="-171249"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Search </a:t>
            </a:r>
            <a:r>
              <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Engines</a:t>
            </a:r>
          </a:p>
          <a:p>
            <a:pPr marL="171249" marR="0" lvl="0" indent="-171249"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Static URL </a:t>
            </a:r>
            <a:r>
              <a:rPr kumimoji="0" lang="en-US" sz="10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Filter</a:t>
            </a:r>
          </a:p>
          <a:p>
            <a:pPr marL="171249" marR="0" lvl="0" indent="-171249"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Rating Options</a:t>
            </a:r>
            <a:endPar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171249" marR="0" lvl="0" indent="-171249"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Proxy Options</a:t>
            </a:r>
          </a:p>
          <a:p>
            <a:pPr marL="0" marR="0" lvl="0" indent="0" algn="l" defTabSz="913326"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1" indent="0" algn="l" defTabSz="913326"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After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you </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configure </a:t>
            </a:r>
            <a:r>
              <a:rPr kumimoji="0" 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your web filter profile, apply this profile to your firewall policy so the filtering is applied to your web traffic.</a:t>
            </a:r>
          </a:p>
          <a:p>
            <a:endParaRPr lang="en-CA" dirty="0"/>
          </a:p>
        </p:txBody>
      </p:sp>
      <p:sp>
        <p:nvSpPr>
          <p:cNvPr id="5" name="Header Placeholder 4"/>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224956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p:txBody>
          <a:bodyPr/>
          <a:lstStyle/>
          <a:p>
            <a:r>
              <a:rPr lang="en-US" dirty="0"/>
              <a:t>Rather than block or allow websites individually, FortiGuard category filtering looks at the category that a website has been rated with. Then, </a:t>
            </a:r>
            <a:r>
              <a:rPr lang="en-US" dirty="0" err="1"/>
              <a:t>FortiGate</a:t>
            </a:r>
            <a:r>
              <a:rPr lang="en-US" baseline="0" dirty="0"/>
              <a:t> takes</a:t>
            </a:r>
            <a:r>
              <a:rPr lang="en-US" dirty="0"/>
              <a:t> action based on that category, not based on the URL. </a:t>
            </a:r>
            <a:endParaRPr lang="en-US" dirty="0" smtClean="0"/>
          </a:p>
          <a:p>
            <a:endParaRPr lang="en-AU" dirty="0" smtClean="0"/>
          </a:p>
          <a:p>
            <a:r>
              <a:rPr lang="en-US" dirty="0" err="1" smtClean="0"/>
              <a:t>FortiGuard</a:t>
            </a:r>
            <a:r>
              <a:rPr lang="en-US" dirty="0" smtClean="0"/>
              <a:t> category filtering is a live service that requires an active contract. The contract validates connections to the </a:t>
            </a:r>
            <a:r>
              <a:rPr lang="en-US" dirty="0" err="1" smtClean="0"/>
              <a:t>FortiGuard</a:t>
            </a:r>
            <a:r>
              <a:rPr lang="en-US" dirty="0" smtClean="0"/>
              <a:t> network. If the contract expires, there is a two-day grace period during which</a:t>
            </a:r>
            <a:r>
              <a:rPr lang="en-US" baseline="0" dirty="0" smtClean="0"/>
              <a:t> you can </a:t>
            </a:r>
            <a:r>
              <a:rPr lang="en-US" dirty="0" smtClean="0"/>
              <a:t>renew the contract before the service cuts off. If</a:t>
            </a:r>
            <a:r>
              <a:rPr lang="en-US" baseline="0" dirty="0" smtClean="0"/>
              <a:t> you do not renew, a</a:t>
            </a:r>
            <a:r>
              <a:rPr lang="en-US" dirty="0" smtClean="0"/>
              <a:t>fter the two-day grace period, </a:t>
            </a:r>
            <a:r>
              <a:rPr lang="en-US" dirty="0" err="1" smtClean="0"/>
              <a:t>FortiGate</a:t>
            </a:r>
            <a:r>
              <a:rPr lang="en-US" dirty="0" smtClean="0"/>
              <a:t> reports a rating error for every rating request made. In addition, by default, </a:t>
            </a:r>
            <a:r>
              <a:rPr lang="en-US" dirty="0" err="1" smtClean="0"/>
              <a:t>FortiGate</a:t>
            </a:r>
            <a:r>
              <a:rPr lang="en-US" dirty="0" smtClean="0"/>
              <a:t> blocks web pages that return a rating error. You can change this behavior by enabling the </a:t>
            </a:r>
            <a:r>
              <a:rPr lang="en-US" b="1" dirty="0" smtClean="0"/>
              <a:t>Allow websites when a rating error occurs</a:t>
            </a:r>
            <a:r>
              <a:rPr lang="en-US" dirty="0" smtClean="0"/>
              <a:t> setting. You will learn more about this setting in this lesson.</a:t>
            </a:r>
          </a:p>
          <a:p>
            <a:endParaRPr lang="en-US" dirty="0" smtClean="0"/>
          </a:p>
          <a:p>
            <a:r>
              <a:rPr lang="en-US" dirty="0" smtClean="0"/>
              <a:t>You can configure </a:t>
            </a:r>
            <a:r>
              <a:rPr lang="en-US" dirty="0" err="1" smtClean="0"/>
              <a:t>FortiManager</a:t>
            </a:r>
            <a:r>
              <a:rPr lang="en-US" dirty="0" smtClean="0"/>
              <a:t> to act as a local </a:t>
            </a:r>
            <a:r>
              <a:rPr lang="en-US" dirty="0" err="1" smtClean="0"/>
              <a:t>FortiGuard</a:t>
            </a:r>
            <a:r>
              <a:rPr lang="en-US" dirty="0" smtClean="0"/>
              <a:t> server. To do this, you must download the databases to </a:t>
            </a:r>
            <a:r>
              <a:rPr lang="en-US" dirty="0" err="1" smtClean="0"/>
              <a:t>FortiManager</a:t>
            </a:r>
            <a:r>
              <a:rPr lang="en-US" dirty="0" smtClean="0"/>
              <a:t>, and configure </a:t>
            </a:r>
            <a:r>
              <a:rPr lang="en-US" dirty="0" err="1" smtClean="0"/>
              <a:t>FortiGate</a:t>
            </a:r>
            <a:r>
              <a:rPr lang="en-US" dirty="0" smtClean="0"/>
              <a:t> to validate the categories against </a:t>
            </a:r>
            <a:r>
              <a:rPr lang="en-US" dirty="0" err="1" smtClean="0"/>
              <a:t>FortiManager</a:t>
            </a:r>
            <a:r>
              <a:rPr lang="en-US" dirty="0" smtClean="0"/>
              <a:t>, instead of </a:t>
            </a:r>
            <a:r>
              <a:rPr lang="en-US" dirty="0" err="1" smtClean="0"/>
              <a:t>FortiGuard</a:t>
            </a:r>
            <a:r>
              <a:rPr lang="en-US" dirty="0" smtClean="0"/>
              <a:t>.</a:t>
            </a:r>
          </a:p>
          <a:p>
            <a:pPr marL="0" marR="0" lvl="0" indent="0" algn="l" defTabSz="91424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24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You can enable the </a:t>
            </a:r>
            <a:r>
              <a:rPr kumimoji="0" lang="en-US" sz="1000" b="0" i="0" u="none" strike="noStrike" kern="1200" cap="none" spc="0" normalizeH="0" baseline="0" noProof="0" dirty="0" err="1" smtClean="0">
                <a:ln>
                  <a:noFill/>
                </a:ln>
                <a:solidFill>
                  <a:prstClr val="black"/>
                </a:solidFill>
                <a:effectLst/>
                <a:uLnTx/>
                <a:uFillTx/>
                <a:latin typeface="Arial" panose="020B0604020202020204" pitchFamily="34" charset="0"/>
                <a:ea typeface="+mn-ea"/>
                <a:cs typeface="Arial" panose="020B0604020202020204" pitchFamily="34" charset="0"/>
              </a:rPr>
              <a:t>FortiGuard</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 category filtering on the web filter. Categories and subcategories are listed, and you can customize the actions to perform individually.</a:t>
            </a:r>
          </a:p>
          <a:p>
            <a:pPr marL="0" marR="0" lvl="0" indent="0" algn="l" defTabSz="91424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24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The actions available depend on the mode of inspection:</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Proxy: Allow, Block, Monitor, Warning, and Authenticate</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Flow-based, profile-based: Allow, Block, Monitor, Warning, and Authenticate</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Flow-based, policy-based: Action defined in a security policy (accept or deny)</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24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To review the complete list of categories and subcategories, visit </a:t>
            </a:r>
            <a:r>
              <a:rPr kumimoji="0" lang="en-US" sz="1000" b="0" i="0" u="none" strike="noStrike" kern="1200" cap="none" spc="0" normalizeH="0" baseline="0" noProof="0" dirty="0" smtClean="0">
                <a:ln>
                  <a:noFill/>
                </a:ln>
                <a:solidFill>
                  <a:prstClr val="black"/>
                </a:solidFill>
                <a:effectLst/>
                <a:uLnTx/>
                <a:uFillTx/>
                <a:latin typeface="Courier New" panose="02070309020205020404" pitchFamily="49" charset="0"/>
                <a:ea typeface="+mn-ea"/>
                <a:cs typeface="Courier New" panose="02070309020205020404" pitchFamily="49" charset="0"/>
              </a:rPr>
              <a:t>www.fortiguard.com/webfilter/categories</a:t>
            </a:r>
            <a:r>
              <a:rPr kumimoji="0" lang="en-US" sz="10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a:t>
            </a:r>
          </a:p>
          <a:p>
            <a:endParaRPr lang="en-US" dirty="0" smtClean="0"/>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892266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type="body" idx="1"/>
          </p:nvPr>
        </p:nvSpPr>
        <p:spPr/>
        <p:txBody>
          <a:bodyPr/>
          <a:lstStyle/>
          <a:p>
            <a:r>
              <a:rPr lang="en-US" dirty="0"/>
              <a:t>The</a:t>
            </a:r>
            <a:r>
              <a:rPr lang="en-US" baseline="0" dirty="0"/>
              <a:t> warning</a:t>
            </a:r>
            <a:r>
              <a:rPr lang="en-US" dirty="0"/>
              <a:t> action informs users that the requested website is not allowed by the internet policies. However, the</a:t>
            </a:r>
            <a:r>
              <a:rPr lang="en-US" baseline="0" dirty="0"/>
              <a:t> action </a:t>
            </a:r>
            <a:r>
              <a:rPr lang="en-US" dirty="0" smtClean="0"/>
              <a:t>gives </a:t>
            </a:r>
            <a:r>
              <a:rPr lang="en-US" dirty="0"/>
              <a:t>the user the option to proceed to the requested </a:t>
            </a:r>
            <a:r>
              <a:rPr lang="en-US" dirty="0" smtClean="0"/>
              <a:t>website, </a:t>
            </a:r>
            <a:r>
              <a:rPr lang="en-US" dirty="0"/>
              <a:t>or return to the previous website.</a:t>
            </a:r>
          </a:p>
          <a:p>
            <a:endParaRPr lang="en-US" dirty="0"/>
          </a:p>
          <a:p>
            <a:r>
              <a:rPr lang="en-US" dirty="0" smtClean="0"/>
              <a:t>You can customize</a:t>
            </a:r>
            <a:r>
              <a:rPr lang="en-US" baseline="0" dirty="0" smtClean="0"/>
              <a:t> </a:t>
            </a:r>
            <a:r>
              <a:rPr lang="en-US" dirty="0" smtClean="0"/>
              <a:t>the </a:t>
            </a:r>
            <a:r>
              <a:rPr lang="en-US" dirty="0"/>
              <a:t>warning </a:t>
            </a:r>
            <a:r>
              <a:rPr lang="en-US" dirty="0" smtClean="0"/>
              <a:t>interval, </a:t>
            </a:r>
            <a:r>
              <a:rPr lang="en-US" dirty="0"/>
              <a:t>so you can present this warning page at specific times, according to</a:t>
            </a:r>
            <a:r>
              <a:rPr lang="en-US" baseline="0" dirty="0"/>
              <a:t> the </a:t>
            </a:r>
            <a:r>
              <a:rPr lang="en-US" dirty="0"/>
              <a:t>configured period.</a:t>
            </a:r>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3102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6"/>
          <p:cNvSpPr>
            <a:spLocks noGrp="1" noChangeArrowheads="1"/>
          </p:cNvSpPr>
          <p:nvPr>
            <p:ph type="body" idx="1"/>
          </p:nvPr>
        </p:nvSpPr>
        <p:spPr/>
        <p:txBody>
          <a:bodyPr/>
          <a:lstStyle/>
          <a:p>
            <a:r>
              <a:rPr lang="en-US" dirty="0"/>
              <a:t>The authenticate action blocks the requested websites, unless the user enters a successful username and password</a:t>
            </a:r>
            <a:r>
              <a:rPr lang="en-US" dirty="0" smtClean="0"/>
              <a:t>. Local authentication and remote authentication using LDAP,</a:t>
            </a:r>
            <a:r>
              <a:rPr lang="en-US" baseline="0" dirty="0" smtClean="0"/>
              <a:t> radius and so on are supported </a:t>
            </a:r>
            <a:r>
              <a:rPr lang="en-US" baseline="0" smtClean="0"/>
              <a:t>for web filtering </a:t>
            </a:r>
            <a:r>
              <a:rPr lang="en-US" baseline="0" dirty="0" smtClean="0"/>
              <a:t>authentication.</a:t>
            </a:r>
            <a:endParaRPr lang="en-US" dirty="0"/>
          </a:p>
          <a:p>
            <a:endParaRPr lang="en-US" dirty="0"/>
          </a:p>
          <a:p>
            <a:r>
              <a:rPr lang="en-US" dirty="0"/>
              <a:t>You can customize the interval of time to allow access. Users are not prompted to authenticate again if they access other websites in the same </a:t>
            </a:r>
            <a:r>
              <a:rPr lang="en-US" dirty="0" smtClean="0"/>
              <a:t>category </a:t>
            </a:r>
            <a:r>
              <a:rPr lang="en-US" dirty="0"/>
              <a:t>until the timer expires.</a:t>
            </a:r>
          </a:p>
          <a:p>
            <a:endParaRPr lang="en-US" dirty="0"/>
          </a:p>
          <a:p>
            <a:r>
              <a:rPr lang="en-CA" dirty="0"/>
              <a:t>Choosing this action </a:t>
            </a:r>
            <a:r>
              <a:rPr lang="en-CA" dirty="0" smtClean="0"/>
              <a:t>prompts </a:t>
            </a:r>
            <a:r>
              <a:rPr lang="en-CA" dirty="0"/>
              <a:t>you to define user groups that </a:t>
            </a:r>
            <a:r>
              <a:rPr lang="en-CA" dirty="0" smtClean="0"/>
              <a:t>are </a:t>
            </a:r>
            <a:r>
              <a:rPr lang="en-CA" dirty="0"/>
              <a:t>allowed to override the block.</a:t>
            </a:r>
            <a:endParaRPr lang="en-US" dirty="0"/>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632886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If you want to make an exception, for example, rather than unblock access to a potentially unwanted category, </a:t>
            </a:r>
            <a:r>
              <a:rPr lang="en-US" dirty="0" smtClean="0"/>
              <a:t>change </a:t>
            </a:r>
            <a:r>
              <a:rPr lang="en-US" dirty="0"/>
              <a:t>the website to an allowed category. </a:t>
            </a:r>
            <a:r>
              <a:rPr lang="en-US" dirty="0" smtClean="0"/>
              <a:t>You can also do the reverse. You can </a:t>
            </a:r>
            <a:r>
              <a:rPr lang="en-US" dirty="0"/>
              <a:t>block a website that belongs to an allowed category.</a:t>
            </a:r>
          </a:p>
          <a:p>
            <a:endParaRPr lang="en-US" dirty="0"/>
          </a:p>
          <a:p>
            <a:r>
              <a:rPr lang="en-US" dirty="0"/>
              <a:t>Remember that changing categories does not automatically result in a different action for the website. </a:t>
            </a:r>
            <a:r>
              <a:rPr lang="en-US" dirty="0" smtClean="0"/>
              <a:t>This</a:t>
            </a:r>
            <a:r>
              <a:rPr lang="en-US" baseline="0" dirty="0" smtClean="0"/>
              <a:t> </a:t>
            </a:r>
            <a:r>
              <a:rPr lang="en-US" dirty="0" smtClean="0"/>
              <a:t>depends </a:t>
            </a:r>
            <a:r>
              <a:rPr lang="en-US" dirty="0"/>
              <a:t>on the settings within the web filter profile.</a:t>
            </a:r>
          </a:p>
          <a:p>
            <a:endParaRPr lang="en-US" dirty="0"/>
          </a:p>
          <a:p>
            <a:endParaRPr lang="en-US" dirty="0"/>
          </a:p>
          <a:p>
            <a:endParaRPr lang="en-US" dirty="0"/>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2756032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p:txBody>
          <a:bodyPr/>
          <a:lstStyle/>
          <a:p>
            <a:r>
              <a:rPr lang="en-US" b="0" kern="1200" dirty="0">
                <a:solidFill>
                  <a:schemeClr val="tx1"/>
                </a:solidFill>
                <a:latin typeface="Arial" panose="020B0604020202020204" pitchFamily="34" charset="0"/>
                <a:cs typeface="Arial" panose="020B0604020202020204" pitchFamily="34" charset="0"/>
              </a:rPr>
              <a:t>Static URL filtering is another web filter feature. C</a:t>
            </a:r>
            <a:r>
              <a:rPr lang="en-US" dirty="0">
                <a:latin typeface="Arial" panose="020B0604020202020204" pitchFamily="34" charset="0"/>
                <a:cs typeface="Arial" panose="020B0604020202020204" pitchFamily="34" charset="0"/>
              </a:rPr>
              <a:t>onfigured URLs in the URL filter</a:t>
            </a:r>
            <a:r>
              <a:rPr lang="en-US" b="0" dirty="0">
                <a:latin typeface="Arial" panose="020B0604020202020204" pitchFamily="34" charset="0"/>
                <a:cs typeface="Arial" panose="020B0604020202020204" pitchFamily="34" charset="0"/>
              </a:rPr>
              <a:t> are checked against the visited websites.</a:t>
            </a:r>
            <a:r>
              <a:rPr lang="en-US" b="0" baseline="0" dirty="0">
                <a:latin typeface="Arial" panose="020B0604020202020204" pitchFamily="34" charset="0"/>
                <a:cs typeface="Arial" panose="020B0604020202020204" pitchFamily="34" charset="0"/>
              </a:rPr>
              <a:t> I</a:t>
            </a:r>
            <a:r>
              <a:rPr lang="en-US" b="0" dirty="0">
                <a:latin typeface="Arial" panose="020B0604020202020204" pitchFamily="34" charset="0"/>
                <a:cs typeface="Arial" panose="020B0604020202020204" pitchFamily="34" charset="0"/>
              </a:rPr>
              <a:t>f a match is found, the configured action is taken. URL filtering has the same patterns as static</a:t>
            </a:r>
            <a:r>
              <a:rPr lang="en-US" b="0" baseline="0" dirty="0">
                <a:latin typeface="Arial" panose="020B0604020202020204" pitchFamily="34" charset="0"/>
                <a:cs typeface="Arial" panose="020B0604020202020204" pitchFamily="34" charset="0"/>
              </a:rPr>
              <a:t> domain filtering: </a:t>
            </a:r>
            <a:r>
              <a:rPr lang="en-US" b="0" baseline="0" dirty="0" smtClean="0">
                <a:latin typeface="Arial" panose="020B0604020202020204" pitchFamily="34" charset="0"/>
                <a:cs typeface="Arial" panose="020B0604020202020204" pitchFamily="34" charset="0"/>
              </a:rPr>
              <a:t>simple, regular expressions, and wildcard.</a:t>
            </a:r>
            <a:endParaRPr lang="en-US" b="0" baseline="0" dirty="0">
              <a:latin typeface="Arial" panose="020B0604020202020204" pitchFamily="34" charset="0"/>
              <a:cs typeface="Arial" panose="020B0604020202020204" pitchFamily="34" charset="0"/>
            </a:endParaRPr>
          </a:p>
          <a:p>
            <a:endParaRPr lang="en-US" b="0" baseline="0" dirty="0">
              <a:latin typeface="Arial" panose="020B0604020202020204" pitchFamily="34" charset="0"/>
              <a:cs typeface="Arial" panose="020B0604020202020204" pitchFamily="34" charset="0"/>
            </a:endParaRPr>
          </a:p>
          <a:p>
            <a:r>
              <a:rPr lang="en-US" b="0" baseline="0" dirty="0" smtClean="0">
                <a:latin typeface="Arial" panose="020B0604020202020204" pitchFamily="34" charset="0"/>
                <a:cs typeface="Arial" panose="020B0604020202020204" pitchFamily="34" charset="0"/>
              </a:rPr>
              <a:t>Take a </a:t>
            </a:r>
            <a:r>
              <a:rPr lang="en-US" b="0" baseline="0" dirty="0">
                <a:latin typeface="Arial" panose="020B0604020202020204" pitchFamily="34" charset="0"/>
                <a:cs typeface="Arial" panose="020B0604020202020204" pitchFamily="34" charset="0"/>
              </a:rPr>
              <a:t>look at how it works.</a:t>
            </a:r>
          </a:p>
          <a:p>
            <a:endParaRPr lang="en-US" b="0" baseline="0" dirty="0">
              <a:latin typeface="Arial" panose="020B0604020202020204" pitchFamily="34" charset="0"/>
              <a:cs typeface="Arial" panose="020B0604020202020204" pitchFamily="34" charset="0"/>
            </a:endParaRPr>
          </a:p>
          <a:p>
            <a:pPr defTabSz="913326">
              <a:defRPr/>
            </a:pPr>
            <a:r>
              <a:rPr lang="en-US" b="0" kern="1200" dirty="0">
                <a:solidFill>
                  <a:schemeClr val="tx1"/>
                </a:solidFill>
                <a:latin typeface="Arial" panose="020B0604020202020204" pitchFamily="34" charset="0"/>
                <a:ea typeface="+mn-ea"/>
                <a:cs typeface="Arial" panose="020B0604020202020204" pitchFamily="34" charset="0"/>
              </a:rPr>
              <a:t>When a user visits a website,</a:t>
            </a:r>
            <a:r>
              <a:rPr lang="en-US" b="0" kern="1200" baseline="0" dirty="0">
                <a:solidFill>
                  <a:schemeClr val="tx1"/>
                </a:solidFill>
                <a:latin typeface="Arial" panose="020B0604020202020204" pitchFamily="34" charset="0"/>
                <a:ea typeface="+mn-ea"/>
                <a:cs typeface="Arial" panose="020B0604020202020204" pitchFamily="34" charset="0"/>
              </a:rPr>
              <a:t> FortiGate looks at the URL list for a matching entry. In </a:t>
            </a:r>
            <a:r>
              <a:rPr lang="en-US" b="0" kern="1200" baseline="0" dirty="0" smtClean="0">
                <a:solidFill>
                  <a:schemeClr val="tx1"/>
                </a:solidFill>
                <a:latin typeface="Arial" panose="020B0604020202020204" pitchFamily="34" charset="0"/>
                <a:ea typeface="+mn-ea"/>
                <a:cs typeface="Arial" panose="020B0604020202020204" pitchFamily="34" charset="0"/>
              </a:rPr>
              <a:t>the example shown on this slide</a:t>
            </a:r>
            <a:r>
              <a:rPr lang="en-US" b="0" kern="1200" dirty="0" smtClean="0">
                <a:solidFill>
                  <a:schemeClr val="tx1"/>
                </a:solidFill>
                <a:latin typeface="Arial" panose="020B0604020202020204" pitchFamily="34" charset="0"/>
                <a:ea typeface="+mn-ea"/>
                <a:cs typeface="Arial" panose="020B0604020202020204" pitchFamily="34" charset="0"/>
              </a:rPr>
              <a:t>, </a:t>
            </a:r>
            <a:r>
              <a:rPr lang="en-US" b="0" kern="1200" dirty="0">
                <a:solidFill>
                  <a:schemeClr val="tx1"/>
                </a:solidFill>
                <a:latin typeface="Arial" panose="020B0604020202020204" pitchFamily="34" charset="0"/>
                <a:ea typeface="+mn-ea"/>
                <a:cs typeface="Arial" panose="020B0604020202020204" pitchFamily="34" charset="0"/>
              </a:rPr>
              <a:t>the website matches the third</a:t>
            </a:r>
            <a:r>
              <a:rPr lang="en-US" b="0" kern="1200" baseline="0" dirty="0">
                <a:solidFill>
                  <a:schemeClr val="tx1"/>
                </a:solidFill>
                <a:latin typeface="Arial" panose="020B0604020202020204" pitchFamily="34" charset="0"/>
                <a:ea typeface="+mn-ea"/>
                <a:cs typeface="Arial" panose="020B0604020202020204" pitchFamily="34" charset="0"/>
              </a:rPr>
              <a:t> </a:t>
            </a:r>
            <a:r>
              <a:rPr lang="en-US" b="0" kern="1200" dirty="0">
                <a:solidFill>
                  <a:schemeClr val="tx1"/>
                </a:solidFill>
                <a:latin typeface="Arial" panose="020B0604020202020204" pitchFamily="34" charset="0"/>
                <a:ea typeface="+mn-ea"/>
                <a:cs typeface="Arial" panose="020B0604020202020204" pitchFamily="34" charset="0"/>
              </a:rPr>
              <a:t>entry in the table,</a:t>
            </a:r>
            <a:r>
              <a:rPr lang="en-US" b="0" kern="1200" baseline="0" dirty="0">
                <a:solidFill>
                  <a:schemeClr val="tx1"/>
                </a:solidFill>
                <a:latin typeface="Arial" panose="020B0604020202020204" pitchFamily="34" charset="0"/>
                <a:ea typeface="+mn-ea"/>
                <a:cs typeface="Arial" panose="020B0604020202020204" pitchFamily="34" charset="0"/>
              </a:rPr>
              <a:t> which is set as</a:t>
            </a:r>
            <a:r>
              <a:rPr lang="en-US" b="0" kern="1200" dirty="0">
                <a:solidFill>
                  <a:schemeClr val="tx1"/>
                </a:solidFill>
                <a:latin typeface="Arial" panose="020B0604020202020204" pitchFamily="34" charset="0"/>
                <a:ea typeface="+mn-ea"/>
                <a:cs typeface="Arial" panose="020B0604020202020204" pitchFamily="34" charset="0"/>
              </a:rPr>
              <a:t> </a:t>
            </a:r>
            <a:r>
              <a:rPr lang="en-US" b="0" kern="1200" baseline="0" dirty="0">
                <a:solidFill>
                  <a:schemeClr val="tx1"/>
                </a:solidFill>
                <a:latin typeface="Arial" panose="020B0604020202020204" pitchFamily="34" charset="0"/>
                <a:ea typeface="+mn-ea"/>
                <a:cs typeface="Arial" panose="020B0604020202020204" pitchFamily="34" charset="0"/>
              </a:rPr>
              <a:t>type </a:t>
            </a:r>
            <a:r>
              <a:rPr lang="en-US" b="1" kern="1200" baseline="0" dirty="0">
                <a:solidFill>
                  <a:schemeClr val="tx1"/>
                </a:solidFill>
                <a:latin typeface="Arial" panose="020B0604020202020204" pitchFamily="34" charset="0"/>
                <a:ea typeface="+mn-ea"/>
                <a:cs typeface="Arial" panose="020B0604020202020204" pitchFamily="34" charset="0"/>
              </a:rPr>
              <a:t>Simple</a:t>
            </a:r>
            <a:r>
              <a:rPr lang="en-US" b="0" kern="1200" baseline="0" dirty="0">
                <a:solidFill>
                  <a:schemeClr val="tx1"/>
                </a:solidFill>
                <a:latin typeface="Arial" panose="020B0604020202020204" pitchFamily="34" charset="0"/>
                <a:ea typeface="+mn-ea"/>
                <a:cs typeface="Arial" panose="020B0604020202020204" pitchFamily="34" charset="0"/>
              </a:rPr>
              <a:t>. This type means that the match must be exact—there is no option for a partial match with this pattern. Also, the action is set to </a:t>
            </a:r>
            <a:r>
              <a:rPr lang="en-US" b="1" kern="1200" baseline="0" dirty="0">
                <a:solidFill>
                  <a:schemeClr val="tx1"/>
                </a:solidFill>
                <a:latin typeface="Arial" panose="020B0604020202020204" pitchFamily="34" charset="0"/>
                <a:ea typeface="+mn-ea"/>
                <a:cs typeface="Arial" panose="020B0604020202020204" pitchFamily="34" charset="0"/>
              </a:rPr>
              <a:t>Block</a:t>
            </a:r>
            <a:r>
              <a:rPr lang="en-US" b="0" kern="1200" baseline="0" dirty="0">
                <a:solidFill>
                  <a:schemeClr val="tx1"/>
                </a:solidFill>
                <a:latin typeface="Arial" panose="020B0604020202020204" pitchFamily="34" charset="0"/>
                <a:ea typeface="+mn-ea"/>
                <a:cs typeface="Arial" panose="020B0604020202020204" pitchFamily="34" charset="0"/>
              </a:rPr>
              <a:t>, </a:t>
            </a:r>
            <a:r>
              <a:rPr lang="en-US" b="0" kern="1200" baseline="0" dirty="0" smtClean="0">
                <a:solidFill>
                  <a:schemeClr val="tx1"/>
                </a:solidFill>
                <a:latin typeface="Arial" panose="020B0604020202020204" pitchFamily="34" charset="0"/>
                <a:ea typeface="+mn-ea"/>
                <a:cs typeface="Arial" panose="020B0604020202020204" pitchFamily="34" charset="0"/>
              </a:rPr>
              <a:t>so </a:t>
            </a:r>
            <a:r>
              <a:rPr lang="en-US" b="0" kern="1200" baseline="0" dirty="0">
                <a:solidFill>
                  <a:schemeClr val="tx1"/>
                </a:solidFill>
                <a:latin typeface="Arial" panose="020B0604020202020204" pitchFamily="34" charset="0"/>
                <a:ea typeface="+mn-ea"/>
                <a:cs typeface="Arial" panose="020B0604020202020204" pitchFamily="34" charset="0"/>
              </a:rPr>
              <a:t>FortiGate </a:t>
            </a:r>
            <a:r>
              <a:rPr lang="en-US" b="0" kern="1200" baseline="0" dirty="0" smtClean="0">
                <a:solidFill>
                  <a:schemeClr val="tx1"/>
                </a:solidFill>
                <a:latin typeface="Arial" panose="020B0604020202020204" pitchFamily="34" charset="0"/>
                <a:ea typeface="+mn-ea"/>
                <a:cs typeface="Arial" panose="020B0604020202020204" pitchFamily="34" charset="0"/>
              </a:rPr>
              <a:t>displays </a:t>
            </a:r>
            <a:r>
              <a:rPr lang="en-US" b="0" kern="1200" baseline="0" dirty="0">
                <a:solidFill>
                  <a:schemeClr val="tx1"/>
                </a:solidFill>
                <a:latin typeface="Arial" panose="020B0604020202020204" pitchFamily="34" charset="0"/>
                <a:ea typeface="+mn-ea"/>
                <a:cs typeface="Arial" panose="020B0604020202020204" pitchFamily="34" charset="0"/>
              </a:rPr>
              <a:t>a block page message.</a:t>
            </a:r>
            <a:endParaRPr lang="en-US" b="0" baseline="0" dirty="0">
              <a:latin typeface="Arial" panose="020B0604020202020204" pitchFamily="34" charset="0"/>
              <a:cs typeface="Arial" panose="020B0604020202020204" pitchFamily="34" charset="0"/>
            </a:endParaRPr>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319954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053649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r>
              <a:rPr lang="en-CA" dirty="0"/>
              <a:t>Good</a:t>
            </a:r>
            <a:r>
              <a:rPr lang="en-CA" baseline="0" dirty="0"/>
              <a:t> job! You now understand the basics of web filtering.</a:t>
            </a:r>
          </a:p>
          <a:p>
            <a:endParaRPr lang="en-CA" baseline="0" dirty="0"/>
          </a:p>
          <a:p>
            <a:r>
              <a:rPr lang="en-CA" baseline="0" dirty="0"/>
              <a:t>Now, you will learn about additional proxy-based web filtering features.</a:t>
            </a:r>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7104346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After completing</a:t>
            </a:r>
            <a:r>
              <a:rPr lang="en-US" baseline="0" dirty="0"/>
              <a:t> this section, you should be able to achieve the objectives shown on this slide.</a:t>
            </a:r>
            <a:endParaRPr lang="en-US" dirty="0"/>
          </a:p>
          <a:p>
            <a:endParaRPr lang="en-CA" dirty="0"/>
          </a:p>
          <a:p>
            <a:r>
              <a:rPr lang="en-CA" dirty="0"/>
              <a:t>By demonstrating competence in additional proxy-based web</a:t>
            </a:r>
            <a:r>
              <a:rPr lang="en-CA" baseline="0" dirty="0"/>
              <a:t> filtering features</a:t>
            </a:r>
            <a:r>
              <a:rPr lang="en-CA" dirty="0"/>
              <a:t>, you will be able </a:t>
            </a:r>
            <a:r>
              <a:rPr lang="en-CA" dirty="0" smtClean="0"/>
              <a:t>to </a:t>
            </a:r>
            <a:r>
              <a:rPr lang="en-CA" dirty="0"/>
              <a:t>search engine filters, and web content filtering.</a:t>
            </a:r>
            <a:endParaRPr lang="en-US" dirty="0"/>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698322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p:txBody>
          <a:bodyPr/>
          <a:lstStyle/>
          <a:p>
            <a:pPr defTabSz="913326">
              <a:defRPr/>
            </a:pPr>
            <a:r>
              <a:rPr lang="en-US" dirty="0"/>
              <a:t>Search engine filtering </a:t>
            </a:r>
            <a:r>
              <a:rPr lang="en-US" baseline="0" dirty="0" smtClean="0"/>
              <a:t>is available when you configure a web filter profile while setting the feature set to proxy-based.</a:t>
            </a:r>
            <a:endParaRPr lang="en-US" dirty="0"/>
          </a:p>
          <a:p>
            <a:pPr defTabSz="913326">
              <a:defRPr/>
            </a:pPr>
            <a:endParaRPr lang="en-US" b="0" kern="1200" dirty="0">
              <a:solidFill>
                <a:schemeClr val="tx1"/>
              </a:solidFill>
            </a:endParaRPr>
          </a:p>
          <a:p>
            <a:pPr marL="0" indent="0" defTabSz="913326">
              <a:buFont typeface="Arial" panose="020B0604020202020204" pitchFamily="34" charset="0"/>
              <a:buNone/>
              <a:defRPr/>
            </a:pPr>
            <a:r>
              <a:rPr lang="en-US" b="0" kern="1200" dirty="0">
                <a:solidFill>
                  <a:schemeClr val="tx1"/>
                </a:solidFill>
              </a:rPr>
              <a:t>Safe search</a:t>
            </a:r>
            <a:r>
              <a:rPr lang="en-US" b="0" kern="1200" baseline="0" dirty="0">
                <a:solidFill>
                  <a:schemeClr val="tx1"/>
                </a:solidFill>
              </a:rPr>
              <a:t> </a:t>
            </a:r>
            <a:r>
              <a:rPr lang="en-US" b="0" kern="1200" dirty="0">
                <a:solidFill>
                  <a:schemeClr val="tx1"/>
                </a:solidFill>
              </a:rPr>
              <a:t>is an option that some browsers support.</a:t>
            </a:r>
            <a:r>
              <a:rPr lang="en-US" b="0" kern="1200" baseline="0" dirty="0">
                <a:solidFill>
                  <a:schemeClr val="tx1"/>
                </a:solidFill>
              </a:rPr>
              <a:t> It applies</a:t>
            </a:r>
            <a:r>
              <a:rPr lang="en-US" b="0" kern="1200" dirty="0">
                <a:solidFill>
                  <a:schemeClr val="tx1"/>
                </a:solidFill>
              </a:rPr>
              <a:t> internal filters to the search results.</a:t>
            </a:r>
            <a:r>
              <a:rPr lang="en-US" b="0" kern="1200" baseline="0" dirty="0">
                <a:solidFill>
                  <a:schemeClr val="tx1"/>
                </a:solidFill>
              </a:rPr>
              <a:t> When you enable safe search for the supported search sites, </a:t>
            </a:r>
            <a:r>
              <a:rPr lang="en-US" b="0" kern="1200" baseline="0" dirty="0" err="1">
                <a:solidFill>
                  <a:schemeClr val="tx1"/>
                </a:solidFill>
              </a:rPr>
              <a:t>FortiGate</a:t>
            </a:r>
            <a:r>
              <a:rPr lang="en-US" b="0" kern="1200" baseline="0" dirty="0">
                <a:solidFill>
                  <a:schemeClr val="tx1"/>
                </a:solidFill>
              </a:rPr>
              <a:t> appends code to the URL to enforce the use of safe search. For example, on a Google search, </a:t>
            </a:r>
            <a:r>
              <a:rPr lang="en-US" b="0" kern="1200" baseline="0" dirty="0" err="1">
                <a:solidFill>
                  <a:schemeClr val="tx1"/>
                </a:solidFill>
              </a:rPr>
              <a:t>FortiGate</a:t>
            </a:r>
            <a:r>
              <a:rPr lang="en-US" b="0" kern="1200" baseline="0" dirty="0">
                <a:solidFill>
                  <a:schemeClr val="tx1"/>
                </a:solidFill>
              </a:rPr>
              <a:t> adds the string </a:t>
            </a:r>
            <a:r>
              <a:rPr lang="en-US" b="0" kern="1200" baseline="0" dirty="0">
                <a:solidFill>
                  <a:schemeClr val="tx1"/>
                </a:solidFill>
                <a:latin typeface="Courier New" panose="02070309020205020404" pitchFamily="49" charset="0"/>
                <a:cs typeface="Courier New" panose="02070309020205020404" pitchFamily="49" charset="0"/>
              </a:rPr>
              <a:t>&amp;safe=active</a:t>
            </a:r>
            <a:r>
              <a:rPr lang="en-US" b="0" kern="1200" baseline="0" dirty="0">
                <a:solidFill>
                  <a:schemeClr val="tx1"/>
                </a:solidFill>
                <a:latin typeface="+mn-lt"/>
                <a:cs typeface="Courier New" panose="02070309020205020404" pitchFamily="49" charset="0"/>
              </a:rPr>
              <a:t> </a:t>
            </a:r>
            <a:r>
              <a:rPr lang="en-US" b="0" kern="1200" baseline="0" dirty="0">
                <a:solidFill>
                  <a:schemeClr val="tx1"/>
                </a:solidFill>
              </a:rPr>
              <a:t>to the URL in the search.</a:t>
            </a:r>
            <a:r>
              <a:rPr lang="en-US" b="0" kern="1200" dirty="0">
                <a:solidFill>
                  <a:schemeClr val="tx1"/>
                </a:solidFill>
              </a:rPr>
              <a:t> So, even</a:t>
            </a:r>
            <a:r>
              <a:rPr lang="en-US" b="0" kern="1200" baseline="0" dirty="0">
                <a:solidFill>
                  <a:schemeClr val="tx1"/>
                </a:solidFill>
              </a:rPr>
              <a:t> if it is not locally enabled in the browser, FortiGate </a:t>
            </a:r>
            <a:r>
              <a:rPr lang="en-US" b="0" kern="1200" baseline="0" dirty="0" smtClean="0">
                <a:solidFill>
                  <a:schemeClr val="tx1"/>
                </a:solidFill>
              </a:rPr>
              <a:t>applies </a:t>
            </a:r>
            <a:r>
              <a:rPr lang="en-US" b="0" kern="1200" baseline="0" dirty="0">
                <a:solidFill>
                  <a:schemeClr val="tx1"/>
                </a:solidFill>
              </a:rPr>
              <a:t>safe search to the requests when they pass through.</a:t>
            </a:r>
            <a:r>
              <a:rPr lang="en-US" b="0" kern="1200" dirty="0">
                <a:solidFill>
                  <a:schemeClr val="tx1"/>
                </a:solidFill>
              </a:rPr>
              <a:t> Safe search is supported for Google, Yahoo, Bing, and </a:t>
            </a:r>
            <a:r>
              <a:rPr lang="en-US" b="0" kern="1200" dirty="0" err="1">
                <a:solidFill>
                  <a:schemeClr val="tx1"/>
                </a:solidFill>
              </a:rPr>
              <a:t>Yandex</a:t>
            </a:r>
            <a:r>
              <a:rPr lang="en-US" b="0" kern="1200" dirty="0" smtClean="0">
                <a:solidFill>
                  <a:schemeClr val="tx1"/>
                </a:solidFill>
              </a:rPr>
              <a:t>.</a:t>
            </a:r>
          </a:p>
          <a:p>
            <a:pPr marL="0" indent="0" defTabSz="913326">
              <a:buFont typeface="Arial" panose="020B0604020202020204" pitchFamily="34" charset="0"/>
              <a:buNone/>
              <a:defRPr/>
            </a:pPr>
            <a:endParaRPr lang="en-US" b="0" kern="1200" dirty="0">
              <a:solidFill>
                <a:schemeClr val="tx1"/>
              </a:solidFill>
            </a:endParaRPr>
          </a:p>
          <a:p>
            <a:pPr marL="0" marR="0" lvl="1" indent="0" algn="l" defTabSz="9142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kern="1200" dirty="0" smtClean="0">
                <a:solidFill>
                  <a:schemeClr val="tx1"/>
                </a:solidFill>
              </a:rPr>
              <a:t>As</a:t>
            </a:r>
            <a:r>
              <a:rPr lang="en-US" b="0" kern="1200" baseline="0" dirty="0" smtClean="0">
                <a:solidFill>
                  <a:schemeClr val="tx1"/>
                </a:solidFill>
              </a:rPr>
              <a:t> a proxy-based web filter feature, search engine filtering is </a:t>
            </a:r>
            <a:r>
              <a:rPr lang="en-US" b="0" kern="1200" dirty="0" smtClean="0">
                <a:solidFill>
                  <a:schemeClr val="tx1"/>
                </a:solidFill>
              </a:rPr>
              <a:t>supported only when </a:t>
            </a:r>
            <a:r>
              <a:rPr lang="en-US" b="0" kern="1200" dirty="0">
                <a:solidFill>
                  <a:schemeClr val="tx1"/>
                </a:solidFill>
              </a:rPr>
              <a:t>using full SSL inspection</a:t>
            </a:r>
            <a:r>
              <a:rPr lang="en-US" b="0" kern="1200" baseline="0" dirty="0">
                <a:solidFill>
                  <a:schemeClr val="tx1"/>
                </a:solidFill>
              </a:rPr>
              <a:t> because FortiGate requires access to the full header.</a:t>
            </a:r>
            <a:endParaRPr lang="en-US" b="0" kern="1200" dirty="0">
              <a:solidFill>
                <a:schemeClr val="tx1"/>
              </a:solidFill>
            </a:endParaRPr>
          </a:p>
        </p:txBody>
      </p:sp>
      <p:sp>
        <p:nvSpPr>
          <p:cNvPr id="5" name="Slide Image Placeholder 4"/>
          <p:cNvSpPr>
            <a:spLocks noGrp="1" noRot="1" noChangeAspect="1"/>
          </p:cNvSpPr>
          <p:nvPr>
            <p:ph type="sldImg"/>
          </p:nvPr>
        </p:nvSpPr>
        <p:spPr>
          <a:xfrm>
            <a:off x="590550" y="704850"/>
            <a:ext cx="6353175" cy="3575050"/>
          </a:xfrm>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592240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1"/>
          </p:nvPr>
        </p:nvSpPr>
        <p:spPr/>
        <p:txBody>
          <a:bodyPr/>
          <a:lstStyle/>
          <a:p>
            <a:r>
              <a:rPr lang="en-US" dirty="0"/>
              <a:t>You can also control web content in the web filter profile by blocking access to websites containing specific words or patterns. This helps to prevent access to sites with questionable material. </a:t>
            </a:r>
          </a:p>
          <a:p>
            <a:endParaRPr lang="en-US" dirty="0"/>
          </a:p>
          <a:p>
            <a:r>
              <a:rPr lang="en-US" dirty="0"/>
              <a:t>You can add words, phrases, patterns, wildcards, and Perl regular expressions to match content on websites. You configure this feature on a per-web-filter-profile basis, not at the global level. So, it is possible to add multiple web content filter lists and then select the best list for each web filter profile.</a:t>
            </a:r>
          </a:p>
          <a:p>
            <a:endParaRPr lang="en-US" dirty="0"/>
          </a:p>
          <a:p>
            <a:r>
              <a:rPr lang="en-US" dirty="0"/>
              <a:t>The system administrator can specify banned words and phrases and attach a numerical value, or score, to the importance of those words and phrases. When the web content filter scan detects banned content, it adds the scores of banned words and phrases </a:t>
            </a:r>
            <a:r>
              <a:rPr lang="en-US" dirty="0" smtClean="0"/>
              <a:t>on</a:t>
            </a:r>
            <a:r>
              <a:rPr lang="en-US" baseline="0" dirty="0" smtClean="0"/>
              <a:t> </a:t>
            </a:r>
            <a:r>
              <a:rPr lang="en-US" dirty="0" smtClean="0"/>
              <a:t>the </a:t>
            </a:r>
            <a:r>
              <a:rPr lang="en-US" dirty="0"/>
              <a:t>page. If the sum is higher than the threshold set in the web filter profile, </a:t>
            </a:r>
            <a:r>
              <a:rPr lang="en-US" dirty="0" err="1"/>
              <a:t>FortiGate</a:t>
            </a:r>
            <a:r>
              <a:rPr lang="en-US" dirty="0"/>
              <a:t> blocks the site.</a:t>
            </a:r>
          </a:p>
          <a:p>
            <a:endParaRPr lang="en-US" dirty="0"/>
          </a:p>
          <a:p>
            <a:r>
              <a:rPr lang="en-US" dirty="0"/>
              <a:t>The maximum number of web content patterns in a list is 5000.</a:t>
            </a:r>
          </a:p>
          <a:p>
            <a:endParaRPr lang="en-US" dirty="0"/>
          </a:p>
          <a:p>
            <a:r>
              <a:rPr lang="en-US" dirty="0"/>
              <a:t>Like search engine filtering, web content filtering requires that </a:t>
            </a:r>
            <a:r>
              <a:rPr lang="en-US" dirty="0" err="1"/>
              <a:t>FortiGate</a:t>
            </a:r>
            <a:r>
              <a:rPr lang="en-US" dirty="0"/>
              <a:t> </a:t>
            </a:r>
            <a:r>
              <a:rPr lang="en-US" dirty="0" smtClean="0"/>
              <a:t>uses</a:t>
            </a:r>
            <a:r>
              <a:rPr lang="en-US" baseline="0" dirty="0" smtClean="0"/>
              <a:t> </a:t>
            </a:r>
            <a:r>
              <a:rPr lang="en-US" baseline="0" dirty="0"/>
              <a:t>deep SSL inspection because </a:t>
            </a:r>
            <a:r>
              <a:rPr lang="en-US" baseline="0" dirty="0" err="1"/>
              <a:t>FortiGate</a:t>
            </a:r>
            <a:r>
              <a:rPr lang="en-US" baseline="0" dirty="0"/>
              <a:t> </a:t>
            </a:r>
            <a:r>
              <a:rPr lang="en-US" baseline="0" dirty="0" smtClean="0"/>
              <a:t>requires </a:t>
            </a:r>
            <a:r>
              <a:rPr lang="en-US" baseline="0" dirty="0"/>
              <a:t>full access to the packet headers.</a:t>
            </a:r>
            <a:endParaRPr lang="en-US" dirty="0"/>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945702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You can use advanced web filtering settings to improve the web filter.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rating options are as follows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28600" indent="-228600" defTabSz="913326">
              <a:buFont typeface="+mj-lt"/>
              <a:buAutoNum type="arabicPeriod"/>
              <a:defRPr/>
            </a:pPr>
            <a:r>
              <a:rPr lang="en-US" b="1" dirty="0" smtClean="0">
                <a:latin typeface="Arial" panose="020B0604020202020204" pitchFamily="34" charset="0"/>
                <a:cs typeface="Arial" panose="020B0604020202020204" pitchFamily="34" charset="0"/>
              </a:rPr>
              <a:t>Allow websites when a rating error occurs</a:t>
            </a:r>
            <a:r>
              <a:rPr lang="en-US" dirty="0" smtClean="0">
                <a:latin typeface="Arial" panose="020B0604020202020204" pitchFamily="34" charset="0"/>
                <a:cs typeface="Arial" panose="020B0604020202020204" pitchFamily="34" charset="0"/>
              </a:rPr>
              <a:t>. If </a:t>
            </a:r>
            <a:r>
              <a:rPr lang="en-US" dirty="0">
                <a:latin typeface="Arial" panose="020B0604020202020204" pitchFamily="34" charset="0"/>
                <a:cs typeface="Arial" panose="020B0604020202020204" pitchFamily="34" charset="0"/>
              </a:rPr>
              <a:t>a rating error occurs from the FortiGuard web filter service, users </a:t>
            </a:r>
            <a:r>
              <a:rPr lang="en-US" dirty="0" smtClean="0">
                <a:latin typeface="Arial" panose="020B0604020202020204" pitchFamily="34" charset="0"/>
                <a:cs typeface="Arial" panose="020B0604020202020204" pitchFamily="34" charset="0"/>
              </a:rPr>
              <a:t>have </a:t>
            </a:r>
            <a:r>
              <a:rPr lang="en-US" dirty="0">
                <a:latin typeface="Arial" panose="020B0604020202020204" pitchFamily="34" charset="0"/>
                <a:cs typeface="Arial" panose="020B0604020202020204" pitchFamily="34" charset="0"/>
              </a:rPr>
              <a:t>full unfiltered access to all websites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28600" indent="-228600">
              <a:buFont typeface="+mj-lt"/>
              <a:buAutoNum type="arabicPeriod"/>
            </a:pPr>
            <a:r>
              <a:rPr lang="en-US" b="1" dirty="0">
                <a:latin typeface="Arial" panose="020B0604020202020204" pitchFamily="34" charset="0"/>
                <a:cs typeface="Arial" panose="020B0604020202020204" pitchFamily="34" charset="0"/>
              </a:rPr>
              <a:t>Rate URLs by domain and IP </a:t>
            </a:r>
            <a:r>
              <a:rPr lang="en-US" b="1" dirty="0" smtClean="0">
                <a:latin typeface="Arial" panose="020B0604020202020204" pitchFamily="34" charset="0"/>
                <a:cs typeface="Arial" panose="020B0604020202020204" pitchFamily="34" charset="0"/>
              </a:rPr>
              <a:t>Address</a:t>
            </a:r>
            <a:r>
              <a:rPr lang="en-US" dirty="0">
                <a:latin typeface="Arial" panose="020B0604020202020204" pitchFamily="34" charset="0"/>
                <a:cs typeface="Arial" panose="020B0604020202020204" pitchFamily="34" charset="0"/>
              </a:rPr>
              <a:t>. This option sends both the URL and the IP address of the requested site for checking, providing additional security against attempts to bypass the FortiGuard system</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039428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5962014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r>
              <a:rPr lang="en-CA" dirty="0" smtClean="0"/>
              <a:t>Good</a:t>
            </a:r>
            <a:r>
              <a:rPr lang="en-CA" baseline="0" dirty="0" smtClean="0"/>
              <a:t> job! You now understand additional proxy-based web filtering features.</a:t>
            </a:r>
          </a:p>
          <a:p>
            <a:endParaRPr lang="en-CA" baseline="0" dirty="0" smtClean="0"/>
          </a:p>
          <a:p>
            <a:r>
              <a:rPr lang="en-CA" baseline="0" dirty="0" smtClean="0"/>
              <a:t>Now, you will learn about video filtering.</a:t>
            </a:r>
            <a:endParaRPr lang="en-CA" baseline="0"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2582189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CA" dirty="0"/>
              <a:t>After completing this section, you should be able to</a:t>
            </a:r>
            <a:r>
              <a:rPr lang="en-CA" baseline="0" dirty="0"/>
              <a:t> </a:t>
            </a:r>
            <a:r>
              <a:rPr lang="en-US" dirty="0"/>
              <a:t>achieve</a:t>
            </a:r>
            <a:r>
              <a:rPr lang="en-US" baseline="0" dirty="0"/>
              <a:t> the objectives shown on this slide</a:t>
            </a:r>
            <a:r>
              <a:rPr lang="en-US" dirty="0"/>
              <a:t>.</a:t>
            </a:r>
            <a:endParaRPr lang="en-CA" dirty="0"/>
          </a:p>
          <a:p>
            <a:endParaRPr lang="en-CA" dirty="0"/>
          </a:p>
          <a:p>
            <a:r>
              <a:rPr lang="en-CA" dirty="0"/>
              <a:t>By demonstrating competence in </a:t>
            </a:r>
            <a:r>
              <a:rPr lang="en-CA" dirty="0" smtClean="0"/>
              <a:t>video </a:t>
            </a:r>
            <a:r>
              <a:rPr lang="en-CA" dirty="0"/>
              <a:t>filtering, you will be able to </a:t>
            </a:r>
            <a:r>
              <a:rPr lang="en-CA" dirty="0" smtClean="0"/>
              <a:t>control</a:t>
            </a:r>
            <a:r>
              <a:rPr lang="en-CA" baseline="0" dirty="0" smtClean="0"/>
              <a:t> access to YouTube using </a:t>
            </a:r>
            <a:r>
              <a:rPr lang="en-CA" baseline="0" dirty="0" err="1" smtClean="0"/>
              <a:t>FortiGuard</a:t>
            </a:r>
            <a:r>
              <a:rPr lang="en-CA" baseline="0" dirty="0" smtClean="0"/>
              <a:t> categories and YouTube static IDs.</a:t>
            </a:r>
            <a:endParaRPr lang="en-CA" dirty="0"/>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6528585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Video</a:t>
            </a:r>
            <a:r>
              <a:rPr lang="en-US" baseline="0" dirty="0" smtClean="0"/>
              <a:t> filtering allows you to control access to YouTube content using parameters that are associated with the video channel, video categories, or the video itself. It is part of the </a:t>
            </a:r>
            <a:r>
              <a:rPr lang="en-US" baseline="0" dirty="0" err="1" smtClean="0"/>
              <a:t>FortiGuard</a:t>
            </a:r>
            <a:r>
              <a:rPr lang="en-US" baseline="0" dirty="0" smtClean="0"/>
              <a:t> service, which requires a separate license bundled with the other </a:t>
            </a:r>
            <a:r>
              <a:rPr lang="en-US" baseline="0" dirty="0" err="1" smtClean="0"/>
              <a:t>FortiGuard</a:t>
            </a:r>
            <a:r>
              <a:rPr lang="en-US" baseline="0" dirty="0" smtClean="0"/>
              <a:t> security services.</a:t>
            </a:r>
          </a:p>
          <a:p>
            <a:endParaRPr lang="en-US" baseline="0" dirty="0" smtClean="0"/>
          </a:p>
          <a:p>
            <a:r>
              <a:rPr lang="en-US" baseline="0" dirty="0" smtClean="0"/>
              <a:t>To apply the video filter profile, proxy-based firewall polices currently allow you to enable the video filter profile. You must enable full SSL inspection on the firewall policy.</a:t>
            </a:r>
          </a:p>
          <a:p>
            <a:endParaRPr lang="en-US" baseline="0" dirty="0" smtClean="0"/>
          </a:p>
          <a:p>
            <a:r>
              <a:rPr lang="en-US" baseline="0" dirty="0" smtClean="0"/>
              <a:t>You must obtain a YouTube API key to use the video filter feature. The API key allows FortiGate to match parameters identified when users access YouTube content, and match the parameters with the local categories defined on the video filter.</a:t>
            </a:r>
          </a:p>
        </p:txBody>
      </p:sp>
      <p:sp>
        <p:nvSpPr>
          <p:cNvPr id="4" name="Header Placeholder 3"/>
          <p:cNvSpPr>
            <a:spLocks noGrp="1"/>
          </p:cNvSpPr>
          <p:nvPr>
            <p:ph type="hdr" sz="quarter" idx="10"/>
          </p:nvPr>
        </p:nvSpPr>
        <p:spPr/>
        <p:txBody>
          <a:bodyPr/>
          <a:lstStyle/>
          <a:p>
            <a:pPr algn="r"/>
            <a:r>
              <a:rPr lang="en-US" sz="1000" smtClean="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797189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v</a:t>
            </a:r>
            <a:r>
              <a:rPr lang="en-US" dirty="0" smtClean="0"/>
              <a:t>ideo filter</a:t>
            </a:r>
            <a:r>
              <a:rPr lang="en-US" baseline="0" dirty="0" smtClean="0"/>
              <a:t> can identify videos using universal categories used by major online video content providers, such as YouTube. The generic classification combines multiple categories by these providers into one category. For example, the </a:t>
            </a:r>
            <a:r>
              <a:rPr lang="en-US" baseline="0" dirty="0" err="1" smtClean="0"/>
              <a:t>FortiGuard</a:t>
            </a:r>
            <a:r>
              <a:rPr lang="en-US" baseline="0" dirty="0" smtClean="0"/>
              <a:t> video category </a:t>
            </a:r>
            <a:r>
              <a:rPr lang="en-US" b="1" baseline="0" dirty="0" smtClean="0"/>
              <a:t>Entertainment</a:t>
            </a:r>
            <a:r>
              <a:rPr lang="en-US" b="0" baseline="0" dirty="0" smtClean="0"/>
              <a:t> includes YouTube categories, such as entertainment, comedy, movies, shows, and trailers.</a:t>
            </a:r>
            <a:endParaRPr lang="en-US" b="1" dirty="0" smtClean="0"/>
          </a:p>
          <a:p>
            <a:endParaRPr lang="en-US" dirty="0" smtClean="0"/>
          </a:p>
          <a:p>
            <a:r>
              <a:rPr lang="en-US" dirty="0" smtClean="0"/>
              <a:t>The</a:t>
            </a:r>
            <a:r>
              <a:rPr lang="en-US" baseline="0" dirty="0" smtClean="0"/>
              <a:t> </a:t>
            </a:r>
            <a:r>
              <a:rPr lang="en-US" baseline="0" dirty="0" err="1" smtClean="0"/>
              <a:t>FortiGuard</a:t>
            </a:r>
            <a:r>
              <a:rPr lang="en-US" baseline="0" dirty="0" smtClean="0"/>
              <a:t> video categories are universal, to cover the common classifications used in the categories of online video content providers. Currently, it is applicable to content hosted by YouTube, Vimeo, and Dailymotion. Some of these providers offer API queries that enable FortiGate to identify the content and match it to local </a:t>
            </a:r>
            <a:r>
              <a:rPr lang="en-US" baseline="0" dirty="0" err="1" smtClean="0"/>
              <a:t>FortiGuard</a:t>
            </a:r>
            <a:r>
              <a:rPr lang="en-US" baseline="0" dirty="0" smtClean="0"/>
              <a:t> video categories.</a:t>
            </a:r>
          </a:p>
          <a:p>
            <a:endParaRPr lang="en-US" baseline="0" dirty="0" smtClean="0"/>
          </a:p>
          <a:p>
            <a:r>
              <a:rPr lang="en-US" baseline="0" dirty="0" smtClean="0"/>
              <a:t>In a video filter profile, if a </a:t>
            </a:r>
            <a:r>
              <a:rPr lang="en-US" baseline="0" dirty="0" err="1" smtClean="0"/>
              <a:t>FortiGuard</a:t>
            </a:r>
            <a:r>
              <a:rPr lang="en-US" baseline="0" dirty="0" smtClean="0"/>
              <a:t> category is allowed, the video content bypasses the rest of the security checks configured on the video profile, such as channel override and YouTube restriction level. If the action is set to monitor or block, then the video content undergoes further security checks configured on the video filter profile.</a:t>
            </a:r>
            <a:endParaRPr lang="en-US" dirty="0"/>
          </a:p>
        </p:txBody>
      </p:sp>
      <p:sp>
        <p:nvSpPr>
          <p:cNvPr id="4" name="Header Placeholder 3"/>
          <p:cNvSpPr>
            <a:spLocks noGrp="1"/>
          </p:cNvSpPr>
          <p:nvPr>
            <p:ph type="hdr" sz="quarter" idx="10"/>
          </p:nvPr>
        </p:nvSpPr>
        <p:spPr/>
        <p:txBody>
          <a:bodyPr/>
          <a:lstStyle/>
          <a:p>
            <a:pPr algn="r"/>
            <a:r>
              <a:rPr lang="en-US" sz="1000" smtClean="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17221125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40" rtl="0" eaLnBrk="1" fontAlgn="auto" latinLnBrk="0" hangingPunct="1">
              <a:lnSpc>
                <a:spcPct val="100000"/>
              </a:lnSpc>
              <a:spcBef>
                <a:spcPts val="0"/>
              </a:spcBef>
              <a:spcAft>
                <a:spcPts val="0"/>
              </a:spcAft>
              <a:buClrTx/>
              <a:buSzTx/>
              <a:buFontTx/>
              <a:buNone/>
              <a:tabLst/>
              <a:defRPr/>
            </a:pPr>
            <a:r>
              <a:rPr lang="en-CA" dirty="0" smtClean="0"/>
              <a:t>You can restrict</a:t>
            </a:r>
            <a:r>
              <a:rPr lang="en-CA" baseline="0" dirty="0" smtClean="0"/>
              <a:t> YouTube access on a video filter by setting the restriction level to</a:t>
            </a:r>
            <a:r>
              <a:rPr lang="en-CA" dirty="0" smtClean="0"/>
              <a:t> </a:t>
            </a:r>
            <a:r>
              <a:rPr lang="en-CA" b="1" dirty="0" smtClean="0"/>
              <a:t>Moderate</a:t>
            </a:r>
            <a:r>
              <a:rPr lang="en-CA" dirty="0" smtClean="0"/>
              <a:t> or </a:t>
            </a:r>
            <a:r>
              <a:rPr lang="en-CA" b="1" dirty="0" smtClean="0"/>
              <a:t>Strict</a:t>
            </a:r>
            <a:r>
              <a:rPr lang="en-CA" dirty="0" smtClean="0"/>
              <a:t>.</a:t>
            </a:r>
            <a:r>
              <a:rPr lang="en-CA" baseline="0" dirty="0" smtClean="0"/>
              <a:t> When users access YouTube content using the firewall policy with the video filter profile applied, the users are given only content that is screened according to a filter applied by Google. Moderate restricted access is similar to strict but makes more videos available.</a:t>
            </a:r>
          </a:p>
          <a:p>
            <a:pPr marL="0" marR="0" lvl="0" indent="0" algn="l" defTabSz="914240" rtl="0" eaLnBrk="1" fontAlgn="auto" latinLnBrk="0" hangingPunct="1">
              <a:lnSpc>
                <a:spcPct val="100000"/>
              </a:lnSpc>
              <a:spcBef>
                <a:spcPts val="0"/>
              </a:spcBef>
              <a:spcAft>
                <a:spcPts val="0"/>
              </a:spcAft>
              <a:buClrTx/>
              <a:buSzTx/>
              <a:buFontTx/>
              <a:buNone/>
              <a:tabLst/>
              <a:defRPr/>
            </a:pPr>
            <a:endParaRPr lang="en-CA" baseline="0" dirty="0" smtClean="0"/>
          </a:p>
          <a:p>
            <a:pPr marL="0" marR="0" lvl="0" indent="0" algn="l" defTabSz="914240" rtl="0" eaLnBrk="1" fontAlgn="auto" latinLnBrk="0" hangingPunct="1">
              <a:lnSpc>
                <a:spcPct val="100000"/>
              </a:lnSpc>
              <a:spcBef>
                <a:spcPts val="0"/>
              </a:spcBef>
              <a:spcAft>
                <a:spcPts val="0"/>
              </a:spcAft>
              <a:buClrTx/>
              <a:buSzTx/>
              <a:buFontTx/>
              <a:buNone/>
              <a:tabLst/>
              <a:defRPr/>
            </a:pPr>
            <a:r>
              <a:rPr lang="en-CA" baseline="0" dirty="0" smtClean="0"/>
              <a:t>The YouTube channel ID is used to identify YouTube channels. It allows FortiGate to apply actions to access related content on the channel. These actions can allow, monitor, or block access to the channel. If a video filter has a channel override to block a specific YouTube channel, access to this channel is stopped only to this particular channel. If a user attempts to access the channel while surfing YouTube content, an error message </a:t>
            </a:r>
            <a:r>
              <a:rPr lang="en-US" baseline="0" dirty="0" smtClean="0"/>
              <a:t>appears telling the user that they must connect to the internet.</a:t>
            </a:r>
            <a:r>
              <a:rPr lang="en-CA" baseline="0" dirty="0" smtClean="0"/>
              <a:t> If the user accesses the channel using the URL, a blocked replacement message shows up to confirm the reason why access is blocked.</a:t>
            </a:r>
            <a:endParaRPr lang="en-US" dirty="0" smtClean="0"/>
          </a:p>
        </p:txBody>
      </p:sp>
      <p:sp>
        <p:nvSpPr>
          <p:cNvPr id="4" name="Header Placeholder 3"/>
          <p:cNvSpPr>
            <a:spLocks noGrp="1"/>
          </p:cNvSpPr>
          <p:nvPr>
            <p:ph type="hdr" sz="quarter" idx="10"/>
          </p:nvPr>
        </p:nvSpPr>
        <p:spPr/>
        <p:txBody>
          <a:bodyPr/>
          <a:lstStyle/>
          <a:p>
            <a:pPr algn="r"/>
            <a:r>
              <a:rPr lang="en-US" sz="1000" smtClean="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2173219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9297037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r>
              <a:rPr lang="en-CA" dirty="0" smtClean="0"/>
              <a:t>Good</a:t>
            </a:r>
            <a:r>
              <a:rPr lang="en-CA" baseline="0" dirty="0" smtClean="0"/>
              <a:t> job! You now understand the video filtering feature.</a:t>
            </a:r>
          </a:p>
          <a:p>
            <a:endParaRPr lang="en-CA" baseline="0" dirty="0" smtClean="0"/>
          </a:p>
          <a:p>
            <a:r>
              <a:rPr lang="en-CA" baseline="0" dirty="0" smtClean="0"/>
              <a:t>Now, you will learn about best practices and troubleshooting.</a:t>
            </a:r>
            <a:endParaRPr lang="en-CA" baseline="0"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4197675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CA" dirty="0"/>
              <a:t>After completing this section, you should be able to</a:t>
            </a:r>
            <a:r>
              <a:rPr lang="en-US" dirty="0"/>
              <a:t> achieve the objectives shown</a:t>
            </a:r>
            <a:r>
              <a:rPr lang="en-US" baseline="0" dirty="0"/>
              <a:t> on this slide.</a:t>
            </a:r>
            <a:endParaRPr lang="en-US" dirty="0"/>
          </a:p>
          <a:p>
            <a:endParaRPr lang="en-CA" dirty="0"/>
          </a:p>
          <a:p>
            <a:r>
              <a:rPr lang="en-CA" dirty="0"/>
              <a:t>By demonstrating competence in best practices and troubleshooting, you will be able to apply various best practices and troubleshooting techniques</a:t>
            </a:r>
            <a:r>
              <a:rPr lang="en-CA" baseline="0" dirty="0"/>
              <a:t> to avoid and investigate common issues.</a:t>
            </a:r>
            <a:endParaRPr lang="en-CA" dirty="0"/>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0495578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0" kern="1200" dirty="0">
                <a:solidFill>
                  <a:schemeClr val="tx1"/>
                </a:solidFill>
                <a:ea typeface="+mn-ea"/>
                <a:cs typeface="Arial" pitchFamily="34" charset="0"/>
              </a:rPr>
              <a:t>Remember that the web filtering profile has several features.</a:t>
            </a:r>
            <a:r>
              <a:rPr lang="en-US" b="0" kern="1200" baseline="0" dirty="0">
                <a:solidFill>
                  <a:schemeClr val="tx1"/>
                </a:solidFill>
                <a:ea typeface="+mn-ea"/>
                <a:cs typeface="Arial" pitchFamily="34" charset="0"/>
              </a:rPr>
              <a:t> So, if you have enabled many of them, the </a:t>
            </a:r>
            <a:r>
              <a:rPr lang="en-US" b="0" kern="1200" dirty="0">
                <a:solidFill>
                  <a:schemeClr val="tx1"/>
                </a:solidFill>
                <a:ea typeface="+mn-ea"/>
                <a:cs typeface="Arial" pitchFamily="34" charset="0"/>
              </a:rPr>
              <a:t>inspection order flows as follows: </a:t>
            </a:r>
          </a:p>
          <a:p>
            <a:pPr marL="228331" indent="-228331">
              <a:buFont typeface="+mj-lt"/>
              <a:buAutoNum type="arabicPeriod"/>
            </a:pPr>
            <a:r>
              <a:rPr lang="en-US" b="0" kern="1200" dirty="0">
                <a:solidFill>
                  <a:schemeClr val="tx1"/>
                </a:solidFill>
                <a:ea typeface="+mn-ea"/>
                <a:cs typeface="Arial" pitchFamily="34" charset="0"/>
              </a:rPr>
              <a:t>The local static URL filter</a:t>
            </a:r>
          </a:p>
          <a:p>
            <a:pPr marL="228331" indent="-228331">
              <a:buFont typeface="+mj-lt"/>
              <a:buAutoNum type="arabicPeriod"/>
            </a:pPr>
            <a:r>
              <a:rPr lang="en-US" b="0" kern="1200" dirty="0">
                <a:solidFill>
                  <a:schemeClr val="tx1"/>
                </a:solidFill>
                <a:ea typeface="+mn-ea"/>
                <a:cs typeface="Arial" pitchFamily="34" charset="0"/>
              </a:rPr>
              <a:t>FortiGuard category</a:t>
            </a:r>
            <a:r>
              <a:rPr lang="en-US" b="0" kern="1200" baseline="0" dirty="0">
                <a:solidFill>
                  <a:schemeClr val="tx1"/>
                </a:solidFill>
                <a:ea typeface="+mn-ea"/>
                <a:cs typeface="Arial" pitchFamily="34" charset="0"/>
              </a:rPr>
              <a:t> filtering (to determine a rating)</a:t>
            </a:r>
          </a:p>
          <a:p>
            <a:pPr marL="228331" indent="-228331">
              <a:buFont typeface="+mj-lt"/>
              <a:buAutoNum type="arabicPeriod"/>
            </a:pPr>
            <a:r>
              <a:rPr lang="en-US" b="0" kern="1200" baseline="0" dirty="0">
                <a:solidFill>
                  <a:schemeClr val="tx1"/>
                </a:solidFill>
                <a:ea typeface="+mn-ea"/>
                <a:cs typeface="Arial" pitchFamily="34" charset="0"/>
              </a:rPr>
              <a:t>Advanced filters (such as safe search or removing Active X components)</a:t>
            </a:r>
          </a:p>
          <a:p>
            <a:endParaRPr lang="en-US" b="0" kern="1200" dirty="0">
              <a:solidFill>
                <a:schemeClr val="tx1"/>
              </a:solidFill>
              <a:ea typeface="+mn-ea"/>
              <a:cs typeface="Arial" pitchFamily="34" charset="0"/>
            </a:endParaRPr>
          </a:p>
          <a:p>
            <a:r>
              <a:rPr lang="en-US" b="0" dirty="0"/>
              <a:t>For each step, if there is no match, </a:t>
            </a:r>
            <a:r>
              <a:rPr lang="en-US" b="0" baseline="0" dirty="0"/>
              <a:t>FortiGate </a:t>
            </a:r>
            <a:r>
              <a:rPr lang="en-US" b="0" baseline="0" dirty="0" smtClean="0"/>
              <a:t>moves </a:t>
            </a:r>
            <a:r>
              <a:rPr lang="en-US" b="0" baseline="0" dirty="0"/>
              <a:t>on to the next check enabled.</a:t>
            </a:r>
            <a:endParaRPr lang="en-US" dirty="0"/>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40469901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You have configured your security profiles, but they are not performing </a:t>
            </a:r>
            <a:r>
              <a:rPr lang="en-US" dirty="0" smtClean="0"/>
              <a:t>web</a:t>
            </a:r>
            <a:r>
              <a:rPr lang="en-US" baseline="0" dirty="0" smtClean="0"/>
              <a:t> </a:t>
            </a:r>
            <a:r>
              <a:rPr lang="en-US" dirty="0" smtClean="0"/>
              <a:t>inspection</a:t>
            </a:r>
            <a:r>
              <a:rPr lang="en-US" dirty="0"/>
              <a:t>. Why?</a:t>
            </a:r>
          </a:p>
          <a:p>
            <a:endParaRPr lang="en-US" dirty="0"/>
          </a:p>
          <a:p>
            <a:pPr defTabSz="956295">
              <a:defRPr/>
            </a:pPr>
            <a:r>
              <a:rPr lang="en-US" dirty="0"/>
              <a:t>Check to see if you have applied the security profiles to your firewall policies. </a:t>
            </a:r>
            <a:r>
              <a:rPr lang="en-US" baseline="0" dirty="0"/>
              <a:t>Also, make sure that the SSL inspection profile is applied as needed.</a:t>
            </a:r>
          </a:p>
          <a:p>
            <a:pPr defTabSz="956295">
              <a:defRPr/>
            </a:pPr>
            <a:endParaRPr lang="en-US" baseline="0" dirty="0"/>
          </a:p>
          <a:p>
            <a:endParaRPr lang="en-US" dirty="0"/>
          </a:p>
          <a:p>
            <a:endParaRPr lang="en-US" dirty="0"/>
          </a:p>
          <a:p>
            <a:endParaRPr lang="en-US" dirty="0"/>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6431742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913326">
              <a:defRPr/>
            </a:pPr>
            <a:r>
              <a:rPr lang="en-US" kern="0" dirty="0"/>
              <a:t>Category-based filtering requires a live connection</a:t>
            </a:r>
            <a:r>
              <a:rPr lang="en-US" kern="0" baseline="0" dirty="0"/>
              <a:t> to FortiGuard.</a:t>
            </a:r>
            <a:endParaRPr lang="en-US" kern="0" dirty="0"/>
          </a:p>
          <a:p>
            <a:pPr defTabSz="913326">
              <a:defRPr/>
            </a:pPr>
            <a:endParaRPr lang="en-US" kern="0" dirty="0"/>
          </a:p>
          <a:p>
            <a:pPr algn="l" defTabSz="913326">
              <a:defRPr/>
            </a:pPr>
            <a:r>
              <a:rPr lang="en-US" kern="0" dirty="0"/>
              <a:t>You can verify the connection to FortiGuard servers by running the </a:t>
            </a:r>
            <a:r>
              <a:rPr lang="en-US" kern="0" dirty="0">
                <a:latin typeface="Courier New" panose="02070309020205020404" pitchFamily="49" charset="0"/>
                <a:cs typeface="Courier New" panose="02070309020205020404" pitchFamily="49" charset="0"/>
              </a:rPr>
              <a:t>diagnose debug rating</a:t>
            </a:r>
            <a:r>
              <a:rPr lang="en-US" kern="0" dirty="0">
                <a:latin typeface="+mn-lt"/>
                <a:cs typeface="Courier New" panose="02070309020205020404" pitchFamily="49" charset="0"/>
              </a:rPr>
              <a:t> </a:t>
            </a:r>
            <a:r>
              <a:rPr lang="en-US" kern="0" dirty="0">
                <a:latin typeface="Arial" panose="020B0604020202020204" pitchFamily="34" charset="0"/>
                <a:cs typeface="Arial" panose="020B0604020202020204" pitchFamily="34" charset="0"/>
              </a:rPr>
              <a:t>CLI</a:t>
            </a:r>
            <a:r>
              <a:rPr lang="en-US" kern="0" dirty="0">
                <a:latin typeface="+mn-lt"/>
                <a:cs typeface="Courier New" panose="02070309020205020404" pitchFamily="49" charset="0"/>
              </a:rPr>
              <a:t> </a:t>
            </a:r>
            <a:r>
              <a:rPr lang="en-US" kern="0" dirty="0"/>
              <a:t>command. This command displays a l</a:t>
            </a:r>
            <a:r>
              <a:rPr lang="en-US" b="0" dirty="0"/>
              <a:t>ist of FortiGuard servers you can connect to,</a:t>
            </a:r>
            <a:r>
              <a:rPr lang="en-US" b="0" baseline="0" dirty="0"/>
              <a:t> as well as the following information</a:t>
            </a:r>
            <a:r>
              <a:rPr lang="en-US" b="0" baseline="0" dirty="0" smtClean="0"/>
              <a:t>:</a:t>
            </a:r>
            <a:endParaRPr lang="en-US" b="0" baseline="0" dirty="0"/>
          </a:p>
          <a:p>
            <a:pPr marL="171249" indent="-171249">
              <a:buFont typeface="Arial" panose="020B0604020202020204" pitchFamily="34" charset="0"/>
              <a:buChar char="•"/>
            </a:pPr>
            <a:r>
              <a:rPr lang="en-US" b="0" baseline="0" dirty="0">
                <a:latin typeface="Courier New" panose="02070309020205020404" pitchFamily="49" charset="0"/>
                <a:cs typeface="Courier New" panose="02070309020205020404" pitchFamily="49" charset="0"/>
              </a:rPr>
              <a:t>Weight</a:t>
            </a:r>
            <a:r>
              <a:rPr lang="en-US" b="0" baseline="0" dirty="0"/>
              <a:t>: Based on the difference in time zone between </a:t>
            </a:r>
            <a:r>
              <a:rPr lang="en-US" b="0" baseline="0" dirty="0" smtClean="0"/>
              <a:t>FortiGate </a:t>
            </a:r>
            <a:r>
              <a:rPr lang="en-US" b="0" baseline="0" dirty="0"/>
              <a:t>and this server (modified by traffic)</a:t>
            </a:r>
          </a:p>
          <a:p>
            <a:pPr marL="171249" indent="-171249">
              <a:buFont typeface="Arial" panose="020B0604020202020204" pitchFamily="34" charset="0"/>
              <a:buChar char="•"/>
            </a:pPr>
            <a:r>
              <a:rPr lang="en-US" b="0" baseline="0" dirty="0">
                <a:latin typeface="Courier New" panose="02070309020205020404" pitchFamily="49" charset="0"/>
                <a:cs typeface="Courier New" panose="02070309020205020404" pitchFamily="49" charset="0"/>
              </a:rPr>
              <a:t>RTT</a:t>
            </a:r>
            <a:r>
              <a:rPr lang="en-US" b="0" baseline="0" dirty="0"/>
              <a:t>: Return trip time</a:t>
            </a:r>
          </a:p>
          <a:p>
            <a:pPr marL="171249" indent="-171249">
              <a:buFont typeface="Arial" panose="020B0604020202020204" pitchFamily="34" charset="0"/>
              <a:buChar char="•"/>
            </a:pPr>
            <a:r>
              <a:rPr lang="en-US" b="0" baseline="0" dirty="0">
                <a:latin typeface="Courier New" panose="02070309020205020404" pitchFamily="49" charset="0"/>
                <a:cs typeface="Courier New" panose="02070309020205020404" pitchFamily="49" charset="0"/>
              </a:rPr>
              <a:t>Flags</a:t>
            </a:r>
            <a:r>
              <a:rPr lang="en-US" b="0" baseline="0" dirty="0"/>
              <a:t>: </a:t>
            </a:r>
            <a:r>
              <a:rPr lang="en-US" b="0" baseline="0" dirty="0">
                <a:latin typeface="Courier New" panose="02070309020205020404" pitchFamily="49" charset="0"/>
                <a:cs typeface="Courier New" panose="02070309020205020404" pitchFamily="49" charset="0"/>
              </a:rPr>
              <a:t>D</a:t>
            </a:r>
            <a:r>
              <a:rPr lang="en-US" b="0" baseline="0" dirty="0">
                <a:latin typeface="Arial" panose="020B0604020202020204" pitchFamily="34" charset="0"/>
                <a:cs typeface="Arial" panose="020B0604020202020204" pitchFamily="34" charset="0"/>
              </a:rPr>
              <a:t> </a:t>
            </a:r>
            <a:r>
              <a:rPr lang="en-US" b="0" baseline="0" dirty="0"/>
              <a:t>(IP returned from DNS), </a:t>
            </a:r>
            <a:r>
              <a:rPr lang="en-US" b="0" baseline="0" dirty="0">
                <a:latin typeface="Courier New" panose="02070309020205020404" pitchFamily="49" charset="0"/>
                <a:cs typeface="Courier New" panose="02070309020205020404" pitchFamily="49" charset="0"/>
              </a:rPr>
              <a:t>I</a:t>
            </a:r>
            <a:r>
              <a:rPr lang="en-US" b="0" baseline="0" dirty="0"/>
              <a:t> (Contract server contacted), </a:t>
            </a:r>
            <a:r>
              <a:rPr lang="en-US" b="0" baseline="0" dirty="0">
                <a:latin typeface="Courier New" panose="02070309020205020404" pitchFamily="49" charset="0"/>
                <a:cs typeface="Courier New" panose="02070309020205020404" pitchFamily="49" charset="0"/>
              </a:rPr>
              <a:t>T</a:t>
            </a:r>
            <a:r>
              <a:rPr lang="en-US" b="0" baseline="0" dirty="0"/>
              <a:t> (being timed), </a:t>
            </a:r>
            <a:r>
              <a:rPr lang="en-US" b="0" baseline="0" dirty="0">
                <a:latin typeface="Courier New" panose="02070309020205020404" pitchFamily="49" charset="0"/>
                <a:cs typeface="Courier New" panose="02070309020205020404" pitchFamily="49" charset="0"/>
              </a:rPr>
              <a:t>F</a:t>
            </a:r>
            <a:r>
              <a:rPr lang="en-US" b="0" baseline="0" dirty="0"/>
              <a:t> (failed)</a:t>
            </a:r>
          </a:p>
          <a:p>
            <a:pPr marL="171249" indent="-171249">
              <a:buFont typeface="Arial" panose="020B0604020202020204" pitchFamily="34" charset="0"/>
              <a:buChar char="•"/>
            </a:pPr>
            <a:r>
              <a:rPr lang="en-US" b="0" baseline="0" dirty="0">
                <a:latin typeface="Courier New" panose="02070309020205020404" pitchFamily="49" charset="0"/>
                <a:cs typeface="Courier New" panose="02070309020205020404" pitchFamily="49" charset="0"/>
              </a:rPr>
              <a:t>TZ</a:t>
            </a:r>
            <a:r>
              <a:rPr lang="en-US" b="0" baseline="0" dirty="0"/>
              <a:t>: Server time </a:t>
            </a:r>
            <a:r>
              <a:rPr lang="en-US" b="0" baseline="0" dirty="0" smtClean="0"/>
              <a:t>zone</a:t>
            </a:r>
          </a:p>
          <a:p>
            <a:pPr marL="171249" indent="-171249">
              <a:buFont typeface="Arial" panose="020B0604020202020204" pitchFamily="34" charset="0"/>
              <a:buChar char="•"/>
            </a:pPr>
            <a:r>
              <a:rPr lang="en-US" b="0" baseline="0" dirty="0" err="1" smtClean="0">
                <a:latin typeface="Courier New" panose="02070309020205020404" pitchFamily="49" charset="0"/>
                <a:cs typeface="Courier New" panose="02070309020205020404" pitchFamily="49" charset="0"/>
              </a:rPr>
              <a:t>FortiGuard</a:t>
            </a:r>
            <a:r>
              <a:rPr lang="en-US" b="0" baseline="0" dirty="0" smtClean="0">
                <a:latin typeface="Courier New" panose="02070309020205020404" pitchFamily="49" charset="0"/>
                <a:cs typeface="Courier New" panose="02070309020205020404" pitchFamily="49" charset="0"/>
              </a:rPr>
              <a:t>-requests</a:t>
            </a:r>
            <a:r>
              <a:rPr lang="en-US" b="0" baseline="0" dirty="0" smtClean="0"/>
              <a:t>: The number of requests sent by FortiGate to </a:t>
            </a:r>
            <a:r>
              <a:rPr lang="en-US" b="0" baseline="0" dirty="0" err="1" smtClean="0"/>
              <a:t>FortiGuard</a:t>
            </a:r>
            <a:endParaRPr lang="en-US" b="0" baseline="0" dirty="0" smtClean="0"/>
          </a:p>
          <a:p>
            <a:pPr marL="171249" indent="-171249">
              <a:buFont typeface="Arial" panose="020B0604020202020204" pitchFamily="34" charset="0"/>
              <a:buChar char="•"/>
            </a:pPr>
            <a:r>
              <a:rPr lang="en-US" b="0" baseline="0" dirty="0" err="1" smtClean="0">
                <a:latin typeface="Courier New" panose="02070309020205020404" pitchFamily="49" charset="0"/>
                <a:cs typeface="Courier New" panose="02070309020205020404" pitchFamily="49" charset="0"/>
              </a:rPr>
              <a:t>Curr</a:t>
            </a:r>
            <a:r>
              <a:rPr lang="en-US" b="1" baseline="0" dirty="0" smtClean="0">
                <a:latin typeface="Courier New" panose="02070309020205020404" pitchFamily="49" charset="0"/>
                <a:cs typeface="Courier New" panose="02070309020205020404" pitchFamily="49" charset="0"/>
              </a:rPr>
              <a:t> </a:t>
            </a:r>
            <a:r>
              <a:rPr lang="en-US" b="0" baseline="0" dirty="0">
                <a:latin typeface="Courier New" panose="02070309020205020404" pitchFamily="49" charset="0"/>
                <a:cs typeface="Courier New" panose="02070309020205020404" pitchFamily="49" charset="0"/>
              </a:rPr>
              <a:t>Lost</a:t>
            </a:r>
            <a:r>
              <a:rPr lang="en-US" b="0" baseline="0" dirty="0"/>
              <a:t>: Current number of consecutive lost </a:t>
            </a:r>
            <a:r>
              <a:rPr lang="en-US" b="0" baseline="0" dirty="0" err="1" smtClean="0"/>
              <a:t>FortiGuard</a:t>
            </a:r>
            <a:r>
              <a:rPr lang="en-US" b="0" baseline="0" dirty="0" smtClean="0"/>
              <a:t> requests </a:t>
            </a:r>
            <a:r>
              <a:rPr lang="en-US" b="0" baseline="0" dirty="0"/>
              <a:t>(in a row, resets to </a:t>
            </a:r>
            <a:r>
              <a:rPr lang="en-US" b="0" baseline="0" dirty="0">
                <a:latin typeface="Courier New" panose="02070309020205020404" pitchFamily="49" charset="0"/>
                <a:cs typeface="Courier New" panose="02070309020205020404" pitchFamily="49" charset="0"/>
              </a:rPr>
              <a:t>0</a:t>
            </a:r>
            <a:r>
              <a:rPr lang="en-US" b="0" baseline="0" dirty="0"/>
              <a:t> when </a:t>
            </a:r>
            <a:r>
              <a:rPr lang="en-US" b="0" baseline="0" dirty="0">
                <a:latin typeface="Arial" panose="020B0604020202020204" pitchFamily="34" charset="0"/>
                <a:cs typeface="Arial" panose="020B0604020202020204" pitchFamily="34" charset="0"/>
              </a:rPr>
              <a:t>one</a:t>
            </a:r>
            <a:r>
              <a:rPr lang="en-US" b="0" baseline="0" dirty="0"/>
              <a:t> packet succeeds)</a:t>
            </a:r>
          </a:p>
          <a:p>
            <a:pPr marL="171249" indent="-171249">
              <a:buFont typeface="Arial" panose="020B0604020202020204" pitchFamily="34" charset="0"/>
              <a:buChar char="•"/>
            </a:pPr>
            <a:r>
              <a:rPr lang="en-US" b="0" baseline="0" dirty="0">
                <a:latin typeface="Courier New" panose="02070309020205020404" pitchFamily="49" charset="0"/>
                <a:cs typeface="Courier New" panose="02070309020205020404" pitchFamily="49" charset="0"/>
              </a:rPr>
              <a:t>Total</a:t>
            </a:r>
            <a:r>
              <a:rPr lang="en-US" b="1" baseline="0" dirty="0">
                <a:latin typeface="Courier New" panose="02070309020205020404" pitchFamily="49" charset="0"/>
                <a:cs typeface="Courier New" panose="02070309020205020404" pitchFamily="49" charset="0"/>
              </a:rPr>
              <a:t> </a:t>
            </a:r>
            <a:r>
              <a:rPr lang="en-US" b="0" baseline="0" dirty="0">
                <a:latin typeface="Courier New" panose="02070309020205020404" pitchFamily="49" charset="0"/>
                <a:cs typeface="Courier New" panose="02070309020205020404" pitchFamily="49" charset="0"/>
              </a:rPr>
              <a:t>Lost</a:t>
            </a:r>
            <a:r>
              <a:rPr lang="en-US" b="0" baseline="0" dirty="0"/>
              <a:t>: Total number of lost </a:t>
            </a:r>
            <a:r>
              <a:rPr lang="en-US" b="0" baseline="0" dirty="0" err="1" smtClean="0"/>
              <a:t>FortiGuard</a:t>
            </a:r>
            <a:r>
              <a:rPr lang="en-US" b="0" baseline="0" dirty="0" smtClean="0"/>
              <a:t> requests</a:t>
            </a:r>
            <a:endParaRPr lang="en-US" b="0" baseline="0" dirty="0"/>
          </a:p>
          <a:p>
            <a:endParaRPr lang="en-US" b="0" baseline="0" dirty="0"/>
          </a:p>
          <a:p>
            <a:r>
              <a:rPr lang="en-US" b="0" baseline="0" dirty="0"/>
              <a:t>The list is of variable length depending on the FortiGuard Distribution Network.</a:t>
            </a:r>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3675851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idx="1"/>
          </p:nvPr>
        </p:nvSpPr>
        <p:spPr/>
        <p:txBody>
          <a:bodyPr/>
          <a:lstStyle/>
          <a:p>
            <a:r>
              <a:rPr lang="en-US" dirty="0" err="1"/>
              <a:t>FortiGate</a:t>
            </a:r>
            <a:r>
              <a:rPr lang="en-US" dirty="0"/>
              <a:t> can maintain a list of recent website rating responses in memory. So, if the URL is already known, </a:t>
            </a:r>
            <a:r>
              <a:rPr lang="en-US" dirty="0" err="1"/>
              <a:t>FortiGate</a:t>
            </a:r>
            <a:r>
              <a:rPr lang="en-US" dirty="0"/>
              <a:t> doesn’t send back a rating request.</a:t>
            </a:r>
          </a:p>
          <a:p>
            <a:endParaRPr lang="en-US" dirty="0"/>
          </a:p>
          <a:p>
            <a:r>
              <a:rPr lang="en-US" dirty="0"/>
              <a:t>By default,</a:t>
            </a:r>
            <a:r>
              <a:rPr lang="en-US" baseline="0" dirty="0"/>
              <a:t> </a:t>
            </a:r>
            <a:r>
              <a:rPr lang="en-US" baseline="0" dirty="0" err="1"/>
              <a:t>FortiGate</a:t>
            </a:r>
            <a:r>
              <a:rPr lang="en-US" baseline="0" dirty="0"/>
              <a:t> is configured to enforce the use of HTTPS port 443 to perform live filtering with </a:t>
            </a:r>
            <a:r>
              <a:rPr lang="en-US" baseline="0" dirty="0" err="1"/>
              <a:t>FortiGuard</a:t>
            </a:r>
            <a:r>
              <a:rPr lang="en-US" baseline="0" dirty="0"/>
              <a:t> or </a:t>
            </a:r>
            <a:r>
              <a:rPr lang="en-US" baseline="0" dirty="0" err="1"/>
              <a:t>FortiManager</a:t>
            </a:r>
            <a:r>
              <a:rPr lang="en-US" baseline="0" dirty="0"/>
              <a:t>. Other p</a:t>
            </a:r>
            <a:r>
              <a:rPr lang="en-US" dirty="0"/>
              <a:t>orts and protoc</a:t>
            </a:r>
            <a:r>
              <a:rPr lang="en-US" baseline="0" dirty="0"/>
              <a:t>ols are </a:t>
            </a:r>
            <a:r>
              <a:rPr lang="en-US" dirty="0"/>
              <a:t>available by</a:t>
            </a:r>
            <a:r>
              <a:rPr lang="en-US" baseline="0" dirty="0"/>
              <a:t> disabling the FortiGuard </a:t>
            </a:r>
            <a:r>
              <a:rPr lang="en-US" baseline="0" dirty="0" err="1"/>
              <a:t>anycast</a:t>
            </a:r>
            <a:r>
              <a:rPr lang="en-US" baseline="0" dirty="0"/>
              <a:t> setting on the CLI. These ports and protocols </a:t>
            </a:r>
            <a:r>
              <a:rPr lang="en-US" dirty="0"/>
              <a:t>to query the servers (FortiGuard or </a:t>
            </a:r>
            <a:r>
              <a:rPr lang="en-US" dirty="0" err="1"/>
              <a:t>FortiManager</a:t>
            </a:r>
            <a:r>
              <a:rPr lang="en-US" dirty="0"/>
              <a:t>) HTTPS port 53 and port 8888, UDP</a:t>
            </a:r>
            <a:r>
              <a:rPr lang="en-US" baseline="0" dirty="0"/>
              <a:t> port 443, port 53, and port 8888</a:t>
            </a:r>
            <a:r>
              <a:rPr lang="en-US" dirty="0"/>
              <a:t>. If you are</a:t>
            </a:r>
            <a:r>
              <a:rPr lang="en-US" baseline="0" dirty="0"/>
              <a:t> using UDP port 53, </a:t>
            </a:r>
            <a:r>
              <a:rPr lang="en-US" dirty="0"/>
              <a:t>any kind of inspection </a:t>
            </a:r>
            <a:r>
              <a:rPr lang="en-US" dirty="0" smtClean="0"/>
              <a:t>reveals </a:t>
            </a:r>
            <a:r>
              <a:rPr lang="en-US" dirty="0"/>
              <a:t>that this traffic is not DNS and </a:t>
            </a:r>
            <a:r>
              <a:rPr lang="en-US" dirty="0" smtClean="0"/>
              <a:t>prevents </a:t>
            </a:r>
            <a:r>
              <a:rPr lang="en-US" dirty="0"/>
              <a:t>the service from working. In this case, you can switch to the alternate UDP port 443 or port 8888, or change the protocol to HTTPS, but these ports are not guaranteed to be open in all networks, so you </a:t>
            </a:r>
            <a:r>
              <a:rPr lang="en-US" dirty="0" smtClean="0"/>
              <a:t>must </a:t>
            </a:r>
            <a:r>
              <a:rPr lang="en-US" dirty="0"/>
              <a:t>check beforehand.</a:t>
            </a:r>
          </a:p>
          <a:p>
            <a:endParaRPr lang="en-US" dirty="0"/>
          </a:p>
          <a:p>
            <a:r>
              <a:rPr lang="en-US" dirty="0"/>
              <a:t>Caching responses reduces the amount of time it takes to establish a rating for a website. Also, memory lookup is much quicker than packets travelling on the internet.</a:t>
            </a:r>
          </a:p>
          <a:p>
            <a:endParaRPr lang="en-US" dirty="0"/>
          </a:p>
          <a:p>
            <a:r>
              <a:rPr lang="en-US" dirty="0"/>
              <a:t>The timeout defaults to 15 seconds, but you can set it as high as 30 seconds, if necessary.</a:t>
            </a:r>
          </a:p>
          <a:p>
            <a:endParaRPr lang="en-US" dirty="0"/>
          </a:p>
        </p:txBody>
      </p:sp>
      <p:sp>
        <p:nvSpPr>
          <p:cNvPr id="5" name="Slide Image Placeholder 4"/>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0418346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Now, take a look at the web filter log and report feature.</a:t>
            </a:r>
          </a:p>
          <a:p>
            <a:endParaRPr lang="en-US" dirty="0"/>
          </a:p>
          <a:p>
            <a:r>
              <a:rPr lang="en-US" dirty="0"/>
              <a:t>This slide shows</a:t>
            </a:r>
            <a:r>
              <a:rPr lang="en-US" baseline="0" dirty="0"/>
              <a:t> </a:t>
            </a:r>
            <a:r>
              <a:rPr lang="en-US" dirty="0"/>
              <a:t>an example of a log message. Access details include information about the FortiGuard quota and category (if those are enabled), which web filter profile was used to inspect the traffic, the URL, and more details about the event.</a:t>
            </a:r>
          </a:p>
          <a:p>
            <a:endParaRPr lang="en-US" dirty="0"/>
          </a:p>
          <a:p>
            <a:r>
              <a:rPr lang="en-US" dirty="0"/>
              <a:t>You can also view the raw log data by clicking the </a:t>
            </a:r>
            <a:r>
              <a:rPr lang="en-US" b="0" dirty="0"/>
              <a:t>download </a:t>
            </a:r>
            <a:r>
              <a:rPr lang="en-US" dirty="0"/>
              <a:t>icon at the top of the GUI. The file downloaded is a plain text file in a </a:t>
            </a:r>
            <a:r>
              <a:rPr lang="en-US" dirty="0" smtClean="0"/>
              <a:t>syslog </a:t>
            </a:r>
            <a:r>
              <a:rPr lang="en-US" dirty="0"/>
              <a:t>format.</a:t>
            </a:r>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20910452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32324829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90550" y="704850"/>
            <a:ext cx="6353175" cy="3575050"/>
          </a:xfrm>
        </p:spPr>
      </p:sp>
      <p:sp>
        <p:nvSpPr>
          <p:cNvPr id="3" name="Notes Placeholder 2"/>
          <p:cNvSpPr>
            <a:spLocks noGrp="1"/>
          </p:cNvSpPr>
          <p:nvPr>
            <p:ph type="body" idx="1"/>
          </p:nvPr>
        </p:nvSpPr>
        <p:spPr/>
        <p:txBody>
          <a:bodyPr/>
          <a:lstStyle/>
          <a:p>
            <a:r>
              <a:rPr lang="en-CA" dirty="0" smtClean="0"/>
              <a:t>Congratulations</a:t>
            </a:r>
            <a:r>
              <a:rPr lang="en-CA" baseline="0" dirty="0" smtClean="0"/>
              <a:t>! You have completed this lesson.</a:t>
            </a:r>
          </a:p>
          <a:p>
            <a:endParaRPr lang="en-CA" baseline="0" dirty="0" smtClean="0"/>
          </a:p>
          <a:p>
            <a:r>
              <a:rPr lang="en-CA" baseline="0" dirty="0" smtClean="0"/>
              <a:t>Now, you will review the objectives that you covered in the lesson.</a:t>
            </a:r>
            <a:endParaRPr lang="en-CA" baseline="0" dirty="0"/>
          </a:p>
        </p:txBody>
      </p:sp>
      <p:sp>
        <p:nvSpPr>
          <p:cNvPr id="4" name="Header Placeholder 3"/>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7859776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z="1000" kern="1200" dirty="0">
                <a:solidFill>
                  <a:schemeClr val="tx1"/>
                </a:solidFill>
                <a:latin typeface="Arial" panose="020B0604020202020204" pitchFamily="34" charset="0"/>
                <a:ea typeface="+mn-ea"/>
                <a:cs typeface="Arial" panose="020B0604020202020204" pitchFamily="34" charset="0"/>
              </a:rPr>
              <a:t>This slide shows the objectives that you covered in this lesson.</a:t>
            </a:r>
          </a:p>
          <a:p>
            <a:endParaRPr lang="en-US" sz="1000" kern="1200" dirty="0">
              <a:solidFill>
                <a:schemeClr val="tx1"/>
              </a:solidFill>
              <a:latin typeface="Arial" panose="020B0604020202020204" pitchFamily="34" charset="0"/>
              <a:ea typeface="+mn-ea"/>
              <a:cs typeface="Arial" panose="020B0604020202020204" pitchFamily="34" charset="0"/>
            </a:endParaRPr>
          </a:p>
          <a:p>
            <a:r>
              <a:rPr lang="en-US" sz="1000" kern="1200" dirty="0">
                <a:solidFill>
                  <a:schemeClr val="tx1"/>
                </a:solidFill>
                <a:latin typeface="Arial" panose="020B0604020202020204" pitchFamily="34" charset="0"/>
                <a:ea typeface="+mn-ea"/>
                <a:cs typeface="Arial" panose="020B0604020202020204" pitchFamily="34" charset="0"/>
              </a:rPr>
              <a:t>By mastering the objectives covered in this lesson, you learned how to configure web filtering on FortiGate to control web traffic in your network.</a:t>
            </a:r>
          </a:p>
        </p:txBody>
      </p:sp>
      <p:sp>
        <p:nvSpPr>
          <p:cNvPr id="7" name="Slide Image Placeholder 6"/>
          <p:cNvSpPr>
            <a:spLocks noGrp="1" noRot="1" noChangeAspect="1"/>
          </p:cNvSpPr>
          <p:nvPr>
            <p:ph type="sldImg"/>
          </p:nvPr>
        </p:nvSpPr>
        <p:spPr/>
      </p:sp>
      <p:sp>
        <p:nvSpPr>
          <p:cNvPr id="2" name="Header Placeholder 1"/>
          <p:cNvSpPr>
            <a:spLocks noGrp="1"/>
          </p:cNvSpPr>
          <p:nvPr>
            <p:ph type="hdr" sz="quarter" idx="10"/>
          </p:nvPr>
        </p:nvSpPr>
        <p:spPr/>
        <p:txBody>
          <a:bodyPr/>
          <a:lstStyle/>
          <a:p>
            <a:pPr algn="r"/>
            <a:r>
              <a:rPr lang="en-US" sz="1000">
                <a:sym typeface="Wingdings 3" panose="05040102010807070707" pitchFamily="18" charset="2"/>
              </a:rPr>
              <a:t>Web Filtering</a:t>
            </a:r>
            <a:endParaRPr lang="en-US" sz="1000" dirty="0">
              <a:cs typeface="Arial" pitchFamily="34" charset="0"/>
            </a:endParaRPr>
          </a:p>
        </p:txBody>
      </p:sp>
    </p:spTree>
    <p:extLst>
      <p:ext uri="{BB962C8B-B14F-4D97-AF65-F5344CB8AC3E}">
        <p14:creationId xmlns:p14="http://schemas.microsoft.com/office/powerpoint/2010/main" val="4965619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_Slide_NSE_1">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0"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1"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2"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3"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902906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_Slide_NSE_2">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3"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9"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7172761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_Slide_NSE_3">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7433473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Title_Slide_NSE_4">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393545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itle_Slide_NSE_5">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8152652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itle_Slide_NSE_6">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3469106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Title_Slide_NSE_7">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1"/>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7880665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_Slide_NSE_8">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126472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itle_Slide_Non_NSE">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22 August 2022</a:t>
            </a:fld>
            <a:endParaRPr lang="en-US" sz="1000" dirty="0">
              <a:solidFill>
                <a:schemeClr val="bg1"/>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9"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0"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3"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4"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22 August 2022</a:t>
            </a:fld>
            <a:endParaRPr lang="en-US" sz="1000" dirty="0">
              <a:solidFill>
                <a:schemeClr val="tx1"/>
              </a:solidFill>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spTree>
    <p:extLst>
      <p:ext uri="{BB962C8B-B14F-4D97-AF65-F5344CB8AC3E}">
        <p14:creationId xmlns:p14="http://schemas.microsoft.com/office/powerpoint/2010/main" val="3451991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Lesson_Overview">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Lesson Overview</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73600" y="1347536"/>
            <a:ext cx="11386800" cy="49680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93995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NSE7_Lesson_Objectives">
    <p:bg>
      <p:bgPr>
        <a:solidFill>
          <a:srgbClr val="F0F0F0"/>
        </a:solidFill>
        <a:effectLst/>
      </p:bgPr>
    </p:bg>
    <p:spTree>
      <p:nvGrpSpPr>
        <p:cNvPr id="1" name=""/>
        <p:cNvGrpSpPr/>
        <p:nvPr/>
      </p:nvGrpSpPr>
      <p:grpSpPr>
        <a:xfrm>
          <a:off x="0" y="0"/>
          <a:ext cx="0" cy="0"/>
          <a:chOff x="0" y="0"/>
          <a:chExt cx="0" cy="0"/>
        </a:xfrm>
      </p:grpSpPr>
      <p:sp>
        <p:nvSpPr>
          <p:cNvPr id="6" name="Content Placeholder 2"/>
          <p:cNvSpPr>
            <a:spLocks noGrp="1"/>
          </p:cNvSpPr>
          <p:nvPr>
            <p:ph idx="1" hasCustomPrompt="1"/>
          </p:nvPr>
        </p:nvSpPr>
        <p:spPr>
          <a:xfrm>
            <a:off x="266400" y="1355270"/>
            <a:ext cx="11387357" cy="4959129"/>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Objectives</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751030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Section_Title">
    <p:bg>
      <p:bgPr>
        <a:solidFill>
          <a:srgbClr val="F0F0F0"/>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272961" y="577804"/>
            <a:ext cx="9363600" cy="781602"/>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7" name="Picture 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0" name="Rectangle 9">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1" name="Picture 10">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12" name="Rectangle 11">
            <a:extLst>
              <a:ext uri="{FF2B5EF4-FFF2-40B4-BE49-F238E27FC236}">
                <a16:creationId xmlns:a16="http://schemas.microsoft.com/office/drawing/2014/main" id="{149CDAD4-8CD1-C94B-A9CC-8046006859AC}"/>
              </a:ext>
            </a:extLst>
          </p:cNvPr>
          <p:cNvSpPr/>
          <p:nvPr/>
        </p:nvSpPr>
        <p:spPr>
          <a:xfrm>
            <a:off x="0" y="19944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3" name="Picture 12">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14" name="Rectangle 13">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5" name="Rectangle 14">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6" name="Rectangle 15">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0"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9" name="Objectives list"/>
          <p:cNvSpPr>
            <a:spLocks noGrp="1"/>
          </p:cNvSpPr>
          <p:nvPr>
            <p:ph type="body" sz="quarter" idx="11" hasCustomPrompt="1"/>
          </p:nvPr>
        </p:nvSpPr>
        <p:spPr>
          <a:xfrm>
            <a:off x="272961" y="2624400"/>
            <a:ext cx="8319600" cy="3654000"/>
          </a:xfrm>
          <a:prstGeom prst="rect">
            <a:avLst/>
          </a:prstGeom>
        </p:spPr>
        <p:txBody>
          <a:bodyPr>
            <a:normAutofit/>
          </a:bodyPr>
          <a:lstStyle>
            <a:lvl1pPr>
              <a:defRPr sz="2200"/>
            </a:lvl1pPr>
          </a:lstStyle>
          <a:p>
            <a:pPr lvl="0"/>
            <a:r>
              <a:rPr lang="en-US" dirty="0" smtClean="0"/>
              <a:t>[Objective]</a:t>
            </a:r>
          </a:p>
          <a:p>
            <a:pPr lvl="0"/>
            <a:r>
              <a:rPr lang="en-US" dirty="0" smtClean="0"/>
              <a:t>[Objective]</a:t>
            </a:r>
          </a:p>
          <a:p>
            <a:pPr lvl="0"/>
            <a:r>
              <a:rPr lang="en-US" dirty="0" smtClean="0"/>
              <a:t>[Objective]</a:t>
            </a:r>
          </a:p>
        </p:txBody>
      </p:sp>
      <p:sp>
        <p:nvSpPr>
          <p:cNvPr id="6" name="Objectives title"/>
          <p:cNvSpPr txBox="1"/>
          <p:nvPr/>
        </p:nvSpPr>
        <p:spPr>
          <a:xfrm>
            <a:off x="273600" y="2005200"/>
            <a:ext cx="10803600" cy="523220"/>
          </a:xfrm>
          <a:prstGeom prst="rect">
            <a:avLst/>
          </a:prstGeom>
          <a:noFill/>
        </p:spPr>
        <p:txBody>
          <a:bodyPr wrap="square" rtlCol="0">
            <a:spAutoFit/>
          </a:bodyPr>
          <a:lstStyle/>
          <a:p>
            <a:r>
              <a:rPr lang="en-CA" sz="2800" b="1" dirty="0" smtClean="0"/>
              <a:t>Objectives</a:t>
            </a:r>
            <a:endParaRPr lang="en-CA" sz="2800" b="1" dirty="0"/>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523125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NSE7_Section_Title">
    <p:bg>
      <p:bgPr>
        <a:solidFill>
          <a:srgbClr val="F0F0F0"/>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8" name="Rectangle 17">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9" name="Picture 18">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20" name="Rectangle 19">
            <a:extLst>
              <a:ext uri="{FF2B5EF4-FFF2-40B4-BE49-F238E27FC236}">
                <a16:creationId xmlns:a16="http://schemas.microsoft.com/office/drawing/2014/main" id="{149CDAD4-8CD1-C94B-A9CC-8046006859AC}"/>
              </a:ext>
            </a:extLst>
          </p:cNvPr>
          <p:cNvSpPr/>
          <p:nvPr/>
        </p:nvSpPr>
        <p:spPr>
          <a:xfrm>
            <a:off x="-1" y="19939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21" name="Picture 20">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22" name="Rectangle 21">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3" name="Rectangle 22">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4" name="Rectangle 23">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itle 1"/>
          <p:cNvSpPr>
            <a:spLocks noGrp="1"/>
          </p:cNvSpPr>
          <p:nvPr>
            <p:ph type="title" hasCustomPrompt="1"/>
          </p:nvPr>
        </p:nvSpPr>
        <p:spPr>
          <a:xfrm>
            <a:off x="97200" y="2696400"/>
            <a:ext cx="8496000" cy="900000"/>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4840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6000" cy="748800"/>
          </a:xfrm>
          <a:prstGeom prst="rect">
            <a:avLst/>
          </a:prstGeom>
        </p:spPr>
        <p:txBody>
          <a:bodyPr>
            <a:normAutofit/>
          </a:bodyPr>
          <a:lstStyle>
            <a:lvl1pPr algn="l" defTabSz="914240" rtl="0" eaLnBrk="1" latinLnBrk="0" hangingPunct="1">
              <a:lnSpc>
                <a:spcPct val="94000"/>
              </a:lnSpc>
              <a:spcBef>
                <a:spcPct val="0"/>
              </a:spcBef>
              <a:buNone/>
              <a:defRPr lang="en-US" sz="3600" b="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Tree>
    <p:extLst>
      <p:ext uri="{BB962C8B-B14F-4D97-AF65-F5344CB8AC3E}">
        <p14:creationId xmlns:p14="http://schemas.microsoft.com/office/powerpoint/2010/main" val="2249918068"/>
      </p:ext>
    </p:extLst>
  </p:cSld>
  <p:clrMapOvr>
    <a:masterClrMapping/>
  </p:clrMapOvr>
  <p:transition spd="slow">
    <p:wip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 hasCustomPrompt="1"/>
          </p:nvPr>
        </p:nvSpPr>
        <p:spPr>
          <a:xfrm>
            <a:off x="266399" y="972000"/>
            <a:ext cx="11375703"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Tree>
    <p:extLst>
      <p:ext uri="{BB962C8B-B14F-4D97-AF65-F5344CB8AC3E}">
        <p14:creationId xmlns:p14="http://schemas.microsoft.com/office/powerpoint/2010/main" val="2907091891"/>
      </p:ext>
    </p:extLst>
  </p:cSld>
  <p:clrMapOvr>
    <a:masterClrMapping/>
  </p:clrMapOvr>
  <p:transition spd="slow">
    <p:wip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5" hasCustomPrompt="1"/>
          </p:nvPr>
        </p:nvSpPr>
        <p:spPr>
          <a:xfrm>
            <a:off x="2664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60732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2790896419"/>
      </p:ext>
    </p:extLst>
  </p:cSld>
  <p:clrMapOvr>
    <a:masterClrMapping/>
  </p:clrMapOvr>
  <p:transition spd="slow">
    <p:wip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wo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5" name="Content Placeholder 2"/>
          <p:cNvSpPr>
            <a:spLocks noGrp="1"/>
          </p:cNvSpPr>
          <p:nvPr>
            <p:ph idx="15" hasCustomPrompt="1"/>
          </p:nvPr>
        </p:nvSpPr>
        <p:spPr>
          <a:xfrm>
            <a:off x="6070863" y="975600"/>
            <a:ext cx="5565600" cy="4620768"/>
          </a:xfrm>
          <a:prstGeom prst="rect">
            <a:avLst/>
          </a:prstGeom>
        </p:spPr>
        <p:txBody>
          <a:bodyPr/>
          <a:lstStyle>
            <a:lvl1pPr>
              <a:buClr>
                <a:schemeClr val="accent6"/>
              </a:buClr>
              <a:defRPr sz="2200" baseline="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Content Placeholder 4"/>
          <p:cNvSpPr>
            <a:spLocks noGrp="1"/>
          </p:cNvSpPr>
          <p:nvPr>
            <p:ph sz="half" idx="13" hasCustomPrompt="1"/>
          </p:nvPr>
        </p:nvSpPr>
        <p:spPr>
          <a:xfrm>
            <a:off x="266399" y="975600"/>
            <a:ext cx="55656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3358658410"/>
      </p:ext>
    </p:extLst>
  </p:cSld>
  <p:clrMapOvr>
    <a:masterClrMapping/>
  </p:clrMapOvr>
  <p:transition spd="slow">
    <p:wip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wo Column 40x6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5320800" y="975600"/>
            <a:ext cx="63144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400" y="975600"/>
            <a:ext cx="47592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1251180991"/>
      </p:ext>
    </p:extLst>
  </p:cSld>
  <p:clrMapOvr>
    <a:masterClrMapping/>
  </p:clrMapOvr>
  <p:transition spd="slow">
    <p:wip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lumn 60x4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68940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266400"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4052266363"/>
      </p:ext>
    </p:extLst>
  </p:cSld>
  <p:clrMapOvr>
    <a:masterClrMapping/>
  </p:clrMapOvr>
  <p:transition spd="slow">
    <p:wip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wo Column 60x4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904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6900421" y="975598"/>
            <a:ext cx="4757342"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399" y="975600"/>
            <a:ext cx="63144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1431037482"/>
      </p:ext>
    </p:extLst>
  </p:cSld>
  <p:clrMapOvr>
    <a:masterClrMapping/>
  </p:clrMapOvr>
  <p:transition spd="slow">
    <p:wip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2664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4216153"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10" name="Content Placeholder 2"/>
          <p:cNvSpPr>
            <a:spLocks noGrp="1"/>
          </p:cNvSpPr>
          <p:nvPr>
            <p:ph idx="18" hasCustomPrompt="1"/>
          </p:nvPr>
        </p:nvSpPr>
        <p:spPr>
          <a:xfrm>
            <a:off x="81648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882059991"/>
      </p:ext>
    </p:extLst>
  </p:cSld>
  <p:clrMapOvr>
    <a:masterClrMapping/>
  </p:clrMapOvr>
  <p:transition spd="slow">
    <p:wip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hree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42120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81576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p>
        </p:txBody>
      </p:sp>
      <p:sp>
        <p:nvSpPr>
          <p:cNvPr id="10" name="Content Placeholder 2"/>
          <p:cNvSpPr>
            <a:spLocks noGrp="1"/>
          </p:cNvSpPr>
          <p:nvPr>
            <p:ph idx="18" hasCustomPrompt="1"/>
          </p:nvPr>
        </p:nvSpPr>
        <p:spPr>
          <a:xfrm>
            <a:off x="266400" y="5652000"/>
            <a:ext cx="113832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4"/>
          <p:cNvSpPr>
            <a:spLocks noGrp="1"/>
          </p:cNvSpPr>
          <p:nvPr>
            <p:ph sz="half" idx="13" hasCustomPrompt="1"/>
          </p:nvPr>
        </p:nvSpPr>
        <p:spPr>
          <a:xfrm>
            <a:off x="266400" y="975600"/>
            <a:ext cx="34920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2278670041"/>
      </p:ext>
    </p:extLst>
  </p:cSld>
  <p:clrMapOvr>
    <a:masterClrMapping/>
  </p:clrMapOvr>
  <p:transition spd="slow">
    <p:wip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Four Pictures with Captions">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66400" y="1812756"/>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Picture Placeholder 2"/>
          <p:cNvSpPr>
            <a:spLocks noGrp="1"/>
          </p:cNvSpPr>
          <p:nvPr>
            <p:ph type="pic" idx="13"/>
          </p:nvPr>
        </p:nvSpPr>
        <p:spPr>
          <a:xfrm>
            <a:off x="6199278"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hasCustomPrompt="1"/>
          </p:nvPr>
        </p:nvSpPr>
        <p:spPr>
          <a:xfrm>
            <a:off x="2664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9" name="Text Placeholder 3"/>
          <p:cNvSpPr>
            <a:spLocks noGrp="1"/>
          </p:cNvSpPr>
          <p:nvPr>
            <p:ph type="body" sz="half" idx="14" hasCustomPrompt="1"/>
          </p:nvPr>
        </p:nvSpPr>
        <p:spPr>
          <a:xfrm>
            <a:off x="32328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7" name="Picture Placeholder 2"/>
          <p:cNvSpPr>
            <a:spLocks noGrp="1"/>
          </p:cNvSpPr>
          <p:nvPr>
            <p:ph type="pic" idx="15"/>
          </p:nvPr>
        </p:nvSpPr>
        <p:spPr>
          <a:xfrm>
            <a:off x="3232839"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0" name="Picture Placeholder 2"/>
          <p:cNvSpPr>
            <a:spLocks noGrp="1"/>
          </p:cNvSpPr>
          <p:nvPr>
            <p:ph type="pic" idx="16"/>
          </p:nvPr>
        </p:nvSpPr>
        <p:spPr>
          <a:xfrm>
            <a:off x="9124216" y="1812755"/>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2" name="Text Placeholder 3"/>
          <p:cNvSpPr>
            <a:spLocks noGrp="1"/>
          </p:cNvSpPr>
          <p:nvPr>
            <p:ph type="body" sz="half" idx="17" hasCustomPrompt="1"/>
          </p:nvPr>
        </p:nvSpPr>
        <p:spPr>
          <a:xfrm>
            <a:off x="61992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3" name="Text Placeholder 3"/>
          <p:cNvSpPr>
            <a:spLocks noGrp="1"/>
          </p:cNvSpPr>
          <p:nvPr>
            <p:ph type="body" sz="half" idx="18" hasCustomPrompt="1"/>
          </p:nvPr>
        </p:nvSpPr>
        <p:spPr>
          <a:xfrm>
            <a:off x="9124215"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2121554157"/>
      </p:ext>
    </p:extLst>
  </p:cSld>
  <p:clrMapOvr>
    <a:masterClrMapping/>
  </p:clrMapOvr>
  <p:transition spd="slow">
    <p:wip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LI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baseline="0" dirty="0">
                <a:solidFill>
                  <a:schemeClr val="tx1"/>
                </a:solidFill>
                <a:latin typeface="+mj-lt"/>
                <a:ea typeface="+mj-ea"/>
                <a:cs typeface="+mj-cs"/>
              </a:defRPr>
            </a:lvl1pPr>
          </a:lstStyle>
          <a:p>
            <a:r>
              <a:rPr lang="en-US" dirty="0" smtClean="0"/>
              <a:t>CLI on White</a:t>
            </a:r>
            <a:endParaRPr lang="en-US" dirty="0"/>
          </a:p>
        </p:txBody>
      </p:sp>
      <p:sp>
        <p:nvSpPr>
          <p:cNvPr id="5" name="Content Placeholder 2"/>
          <p:cNvSpPr>
            <a:spLocks noGrp="1"/>
          </p:cNvSpPr>
          <p:nvPr>
            <p:ph idx="1" hasCustomPrompt="1"/>
          </p:nvPr>
        </p:nvSpPr>
        <p:spPr>
          <a:xfrm>
            <a:off x="266400" y="975600"/>
            <a:ext cx="11394000" cy="5338800"/>
          </a:xfrm>
          <a:prstGeom prst="rect">
            <a:avLst/>
          </a:prstGeom>
        </p:spPr>
        <p:txBody>
          <a:bodyPr/>
          <a:lstStyle>
            <a:lvl1pPr marL="0" indent="0">
              <a:buClr>
                <a:schemeClr val="accent6"/>
              </a:buClr>
              <a:buNone/>
              <a:defRPr sz="1800">
                <a:solidFill>
                  <a:schemeClr val="tx1"/>
                </a:solidFill>
                <a:latin typeface="Courier New" panose="02070309020205020404" pitchFamily="49" charset="0"/>
                <a:cs typeface="Courier New" panose="02070309020205020404" pitchFamily="49" charset="0"/>
              </a:defRPr>
            </a:lvl1pPr>
            <a:lvl2pPr>
              <a:buClr>
                <a:schemeClr val="accent6"/>
              </a:buClr>
              <a:defRPr sz="2400">
                <a:solidFill>
                  <a:schemeClr val="bg1"/>
                </a:solidFill>
                <a:latin typeface="Courier New" panose="02070309020205020404" pitchFamily="49" charset="0"/>
                <a:cs typeface="Courier New" panose="02070309020205020404" pitchFamily="49" charset="0"/>
              </a:defRPr>
            </a:lvl2pPr>
            <a:lvl3pPr>
              <a:buClr>
                <a:schemeClr val="accent6"/>
              </a:buClr>
              <a:defRPr sz="2000">
                <a:solidFill>
                  <a:schemeClr val="bg1"/>
                </a:solidFill>
                <a:latin typeface="Courier New" panose="02070309020205020404" pitchFamily="49" charset="0"/>
                <a:cs typeface="Courier New" panose="02070309020205020404" pitchFamily="49" charset="0"/>
              </a:defRPr>
            </a:lvl3pPr>
            <a:lvl4pPr>
              <a:buClr>
                <a:schemeClr val="accent6"/>
              </a:buClr>
              <a:defRPr sz="1800">
                <a:solidFill>
                  <a:schemeClr val="bg1"/>
                </a:solidFill>
                <a:latin typeface="Courier New" panose="02070309020205020404" pitchFamily="49" charset="0"/>
                <a:cs typeface="Courier New" panose="02070309020205020404" pitchFamily="49" charset="0"/>
              </a:defRPr>
            </a:lvl4pPr>
            <a:lvl5pPr>
              <a:buClr>
                <a:schemeClr val="accent6"/>
              </a:buClr>
              <a:defRPr sz="1600">
                <a:solidFill>
                  <a:schemeClr val="bg1"/>
                </a:solidFill>
                <a:latin typeface="Courier New" panose="02070309020205020404" pitchFamily="49" charset="0"/>
                <a:cs typeface="Courier New" panose="02070309020205020404" pitchFamily="49" charset="0"/>
              </a:defRPr>
            </a:lvl5pPr>
          </a:lstStyle>
          <a:p>
            <a:pPr lvl="0"/>
            <a:r>
              <a:rPr lang="en-US" dirty="0" smtClean="0"/>
              <a:t># Click to add CLI text</a:t>
            </a:r>
          </a:p>
        </p:txBody>
      </p:sp>
    </p:spTree>
    <p:extLst>
      <p:ext uri="{BB962C8B-B14F-4D97-AF65-F5344CB8AC3E}">
        <p14:creationId xmlns:p14="http://schemas.microsoft.com/office/powerpoint/2010/main" val="2112013005"/>
      </p:ext>
    </p:extLst>
  </p:cSld>
  <p:clrMapOvr>
    <a:masterClrMapping/>
  </p:clrMapOvr>
  <p:transition spd="slow">
    <p:wip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Knowledge_Check">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266400" y="972000"/>
            <a:ext cx="11394000" cy="5335200"/>
          </a:xfrm>
          <a:prstGeom prst="rect">
            <a:avLst/>
          </a:prstGeom>
          <a:noFill/>
        </p:spPr>
        <p:txBody>
          <a:bodyPr/>
          <a:lstStyle>
            <a:lvl1pPr marL="685800" indent="-457200">
              <a:buClr>
                <a:schemeClr val="accent6"/>
              </a:buClr>
              <a:buFont typeface="+mj-lt"/>
              <a:buAutoNum type="arabicPeriod"/>
              <a:defRPr sz="2200" baseline="0"/>
            </a:lvl1pPr>
            <a:lvl2pPr marL="457200" indent="0">
              <a:buClr>
                <a:schemeClr val="accent6"/>
              </a:buClr>
              <a:buNone/>
              <a:defRPr sz="1800"/>
            </a:lvl2pPr>
            <a:lvl3pPr>
              <a:buClr>
                <a:schemeClr val="accent6"/>
              </a:buClr>
              <a:defRPr sz="1600"/>
            </a:lvl3pPr>
            <a:lvl4pPr>
              <a:buClr>
                <a:schemeClr val="accent6"/>
              </a:buClr>
              <a:defRPr sz="1400"/>
            </a:lvl4pPr>
            <a:lvl5pPr>
              <a:buClr>
                <a:schemeClr val="accent6"/>
              </a:buClr>
              <a:defRPr sz="1200"/>
            </a:lvl5pPr>
          </a:lstStyle>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pPr marL="571500" lvl="0" indent="-342900">
              <a:buFont typeface="+mj-lt"/>
              <a:buAutoNum type="alphaUcPeriod"/>
            </a:pPr>
            <a:endParaRPr lang="en-CA" dirty="0"/>
          </a:p>
        </p:txBody>
      </p:sp>
      <p:sp>
        <p:nvSpPr>
          <p:cNvPr id="6" name="TextBox 5"/>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Knowledge Check</a:t>
            </a:r>
            <a:endParaRPr lang="en-CA" sz="3600" b="0" dirty="0">
              <a:solidFill>
                <a:schemeClr val="tx1"/>
              </a:solidFill>
              <a:latin typeface="+mj-lt"/>
            </a:endParaRPr>
          </a:p>
        </p:txBody>
      </p:sp>
    </p:spTree>
    <p:extLst>
      <p:ext uri="{BB962C8B-B14F-4D97-AF65-F5344CB8AC3E}">
        <p14:creationId xmlns:p14="http://schemas.microsoft.com/office/powerpoint/2010/main" val="1125276107"/>
      </p:ext>
    </p:extLst>
  </p:cSld>
  <p:clrMapOvr>
    <a:masterClrMapping/>
  </p:clrMapOvr>
  <p:transition spd="slow">
    <p:wip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Lesson_Progress">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36000" cy="748800"/>
          </a:xfrm>
          <a:prstGeom prst="rect">
            <a:avLst/>
          </a:prstGeom>
          <a:noFill/>
        </p:spPr>
        <p:txBody>
          <a:bodyPr wrap="square" rtlCol="0">
            <a:spAutoFit/>
          </a:bodyPr>
          <a:lstStyle/>
          <a:p>
            <a:r>
              <a:rPr lang="en-CA" sz="3600" b="0" dirty="0" smtClean="0">
                <a:solidFill>
                  <a:schemeClr val="tx1"/>
                </a:solidFill>
                <a:latin typeface="+mj-lt"/>
              </a:rPr>
              <a:t>Lesson Progress</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66400" y="1346400"/>
            <a:ext cx="11386800" cy="47088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890268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Review">
    <p:bg>
      <p:bgPr>
        <a:solidFill>
          <a:srgbClr val="F0F0F0"/>
        </a:solidFill>
        <a:effectLst/>
      </p:bgPr>
    </p:bg>
    <p:spTree>
      <p:nvGrpSpPr>
        <p:cNvPr id="1" name=""/>
        <p:cNvGrpSpPr/>
        <p:nvPr/>
      </p:nvGrpSpPr>
      <p:grpSpPr>
        <a:xfrm>
          <a:off x="0" y="0"/>
          <a:ext cx="0" cy="0"/>
          <a:chOff x="0" y="0"/>
          <a:chExt cx="0" cy="0"/>
        </a:xfrm>
      </p:grpSpPr>
      <p:sp>
        <p:nvSpPr>
          <p:cNvPr id="5" name="Text Placeholder 2"/>
          <p:cNvSpPr>
            <a:spLocks noGrp="1"/>
          </p:cNvSpPr>
          <p:nvPr>
            <p:ph type="body" idx="1" hasCustomPrompt="1"/>
          </p:nvPr>
        </p:nvSpPr>
        <p:spPr>
          <a:xfrm>
            <a:off x="266400" y="975600"/>
            <a:ext cx="11394000" cy="5338800"/>
          </a:xfrm>
          <a:prstGeom prst="rect">
            <a:avLst/>
          </a:prstGeom>
        </p:spPr>
        <p:txBody>
          <a:bodyPr anchor="t" anchorCtr="0"/>
          <a:lstStyle>
            <a:lvl1pPr marL="457200" indent="-457200" algn="l">
              <a:buClr>
                <a:srgbClr val="00B050"/>
              </a:buClr>
              <a:buFont typeface="Wingdings" panose="05000000000000000000" pitchFamily="2" charset="2"/>
              <a:buChar char="ü"/>
              <a:defRPr sz="2700" baseline="0">
                <a:solidFill>
                  <a:schemeClr val="tx1"/>
                </a:solidFill>
              </a:defRPr>
            </a:lvl1pPr>
            <a:lvl2pPr marL="457120" indent="0">
              <a:buNone/>
              <a:defRPr sz="1800">
                <a:solidFill>
                  <a:schemeClr val="tx1">
                    <a:tint val="75000"/>
                  </a:schemeClr>
                </a:solidFill>
              </a:defRPr>
            </a:lvl2pPr>
            <a:lvl3pPr marL="914240" indent="0">
              <a:buNone/>
              <a:defRPr sz="1600">
                <a:solidFill>
                  <a:schemeClr val="tx1">
                    <a:tint val="75000"/>
                  </a:schemeClr>
                </a:solidFill>
              </a:defRPr>
            </a:lvl3pPr>
            <a:lvl4pPr marL="1371360" indent="0">
              <a:buNone/>
              <a:defRPr sz="1400">
                <a:solidFill>
                  <a:schemeClr val="tx1">
                    <a:tint val="75000"/>
                  </a:schemeClr>
                </a:solidFill>
              </a:defRPr>
            </a:lvl4pPr>
            <a:lvl5pPr marL="1828480" indent="0">
              <a:buNone/>
              <a:defRPr sz="1400">
                <a:solidFill>
                  <a:schemeClr val="tx1">
                    <a:tint val="75000"/>
                  </a:schemeClr>
                </a:solidFill>
              </a:defRPr>
            </a:lvl5pPr>
            <a:lvl6pPr marL="2285600" indent="0">
              <a:buNone/>
              <a:defRPr sz="1400">
                <a:solidFill>
                  <a:schemeClr val="tx1">
                    <a:tint val="75000"/>
                  </a:schemeClr>
                </a:solidFill>
              </a:defRPr>
            </a:lvl6pPr>
            <a:lvl7pPr marL="2742720" indent="0">
              <a:buNone/>
              <a:defRPr sz="1400">
                <a:solidFill>
                  <a:schemeClr val="tx1">
                    <a:tint val="75000"/>
                  </a:schemeClr>
                </a:solidFill>
              </a:defRPr>
            </a:lvl7pPr>
            <a:lvl8pPr marL="3199840" indent="0">
              <a:buNone/>
              <a:defRPr sz="1400">
                <a:solidFill>
                  <a:schemeClr val="tx1">
                    <a:tint val="75000"/>
                  </a:schemeClr>
                </a:solidFill>
              </a:defRPr>
            </a:lvl8pPr>
            <a:lvl9pPr marL="3656960" indent="0">
              <a:buNone/>
              <a:defRPr sz="1400">
                <a:solidFill>
                  <a:schemeClr val="tx1">
                    <a:tint val="75000"/>
                  </a:schemeClr>
                </a:solidFill>
              </a:defRPr>
            </a:lvl9pPr>
          </a:lstStyle>
          <a:p>
            <a:pPr lvl="0"/>
            <a:r>
              <a:rPr lang="en-US" dirty="0" smtClean="0"/>
              <a:t>[text]</a:t>
            </a:r>
          </a:p>
        </p:txBody>
      </p:sp>
      <p:sp>
        <p:nvSpPr>
          <p:cNvPr id="6" name="TextBox 5"/>
          <p:cNvSpPr txBox="1"/>
          <p:nvPr/>
        </p:nvSpPr>
        <p:spPr>
          <a:xfrm>
            <a:off x="266400" y="273600"/>
            <a:ext cx="10836000" cy="646331"/>
          </a:xfrm>
          <a:prstGeom prst="rect">
            <a:avLst/>
          </a:prstGeom>
          <a:noFill/>
        </p:spPr>
        <p:txBody>
          <a:bodyPr wrap="square" rtlCol="0">
            <a:spAutoFit/>
          </a:bodyPr>
          <a:lstStyle/>
          <a:p>
            <a:r>
              <a:rPr lang="en-CA" sz="3600" b="0" dirty="0" smtClean="0">
                <a:solidFill>
                  <a:schemeClr val="tx1"/>
                </a:solidFill>
                <a:latin typeface="+mj-lt"/>
              </a:rPr>
              <a:t>Review</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88716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3719" y="0"/>
            <a:ext cx="975106" cy="225084"/>
          </a:xfrm>
          <a:prstGeom prst="rect">
            <a:avLst/>
          </a:prstGeom>
        </p:spPr>
      </p:pic>
      <p:pic>
        <p:nvPicPr>
          <p:cNvPr id="7" name="Picture 6">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2182" y="3128211"/>
            <a:ext cx="3624462" cy="414848"/>
          </a:xfrm>
          <a:prstGeom prst="rect">
            <a:avLst/>
          </a:prstGeom>
        </p:spPr>
      </p:pic>
      <p:pic>
        <p:nvPicPr>
          <p:cNvPr id="5" name="Picture 4">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6" name="Picture 5">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3303" y="3128212"/>
            <a:ext cx="3625407" cy="414848"/>
          </a:xfrm>
          <a:prstGeom prst="rect">
            <a:avLst/>
          </a:prstGeom>
        </p:spPr>
      </p:pic>
    </p:spTree>
    <p:extLst>
      <p:ext uri="{BB962C8B-B14F-4D97-AF65-F5344CB8AC3E}">
        <p14:creationId xmlns:p14="http://schemas.microsoft.com/office/powerpoint/2010/main" val="223956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4104">
          <p15:clr>
            <a:srgbClr val="FBAE40"/>
          </p15:clr>
        </p15:guide>
        <p15:guide id="2" pos="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F13C7A-2ACA-3145-8E42-86979311783B}"/>
              </a:ext>
            </a:extLst>
          </p:cNvPr>
          <p:cNvPicPr>
            <a:picLocks noChangeAspect="1"/>
          </p:cNvPicPr>
          <p:nvPr/>
        </p:nvPicPr>
        <p:blipFill>
          <a:blip r:embed="rId30"/>
          <a:stretch>
            <a:fillRect/>
          </a:stretch>
        </p:blipFill>
        <p:spPr>
          <a:xfrm flipH="1" flipV="1">
            <a:off x="11213719" y="0"/>
            <a:ext cx="975106" cy="225084"/>
          </a:xfrm>
          <a:prstGeom prst="rect">
            <a:avLst/>
          </a:prstGeom>
        </p:spPr>
      </p:pic>
      <p:sp>
        <p:nvSpPr>
          <p:cNvPr id="8"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10" name="TextBox 9">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11" name="Picture 10">
            <a:extLst>
              <a:ext uri="{FF2B5EF4-FFF2-40B4-BE49-F238E27FC236}">
                <a16:creationId xmlns:a16="http://schemas.microsoft.com/office/drawing/2014/main" id="{DAF13C7A-2ACA-3145-8E42-86979311783B}"/>
              </a:ext>
            </a:extLst>
          </p:cNvPr>
          <p:cNvPicPr>
            <a:picLocks noChangeAspect="1"/>
          </p:cNvPicPr>
          <p:nvPr/>
        </p:nvPicPr>
        <p:blipFill>
          <a:blip r:embed="rId30"/>
          <a:stretch>
            <a:fillRect/>
          </a:stretch>
        </p:blipFill>
        <p:spPr>
          <a:xfrm flipH="1" flipV="1">
            <a:off x="11216640" y="1"/>
            <a:ext cx="975360" cy="225084"/>
          </a:xfrm>
          <a:prstGeom prst="rect">
            <a:avLst/>
          </a:prstGeom>
        </p:spPr>
      </p:pic>
      <p:sp>
        <p:nvSpPr>
          <p:cNvPr id="13" name="Text Placeholder 11"/>
          <p:cNvSpPr>
            <a:spLocks noGrp="1"/>
          </p:cNvSpPr>
          <p:nvPr>
            <p:ph type="body" idx="1"/>
          </p:nvPr>
        </p:nvSpPr>
        <p:spPr>
          <a:xfrm>
            <a:off x="266400" y="972000"/>
            <a:ext cx="11394000" cy="5335200"/>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pic>
        <p:nvPicPr>
          <p:cNvPr id="9" name="Picture 8"/>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739867884"/>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2" r:id="rId18"/>
    <p:sldLayoutId id="2147483853" r:id="rId19"/>
    <p:sldLayoutId id="2147483854" r:id="rId20"/>
    <p:sldLayoutId id="2147483855" r:id="rId21"/>
    <p:sldLayoutId id="2147483856" r:id="rId22"/>
    <p:sldLayoutId id="2147483857" r:id="rId23"/>
    <p:sldLayoutId id="2147483858" r:id="rId24"/>
    <p:sldLayoutId id="2147483859" r:id="rId25"/>
    <p:sldLayoutId id="2147483860" r:id="rId26"/>
    <p:sldLayoutId id="2147483861" r:id="rId27"/>
    <p:sldLayoutId id="2147483862"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Clr>
          <a:srgbClr val="FF0000"/>
        </a:buClr>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Clr>
          <a:srgbClr val="FF0000"/>
        </a:buClr>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Clr>
          <a:srgbClr val="FF0000"/>
        </a:buClr>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pos="216">
          <p15:clr>
            <a:srgbClr val="5ACBF0"/>
          </p15:clr>
        </p15:guide>
        <p15:guide id="4" pos="7464">
          <p15:clr>
            <a:srgbClr val="5ACBF0"/>
          </p15:clr>
        </p15:guide>
        <p15:guide id="37" pos="3840" userDrawn="1">
          <p15:clr>
            <a:srgbClr val="5ACBF0"/>
          </p15:clr>
        </p15:guide>
        <p15:guide id="38" orient="horz" pos="2160" userDrawn="1">
          <p15:clr>
            <a:srgbClr val="5ACBF0"/>
          </p15:clr>
        </p15:guide>
        <p15:guide id="39" pos="456" userDrawn="1">
          <p15:clr>
            <a:srgbClr val="5ACBF0"/>
          </p15:clr>
        </p15:guide>
        <p15:guide id="40" pos="7224" userDrawn="1">
          <p15:clr>
            <a:srgbClr val="5ACBF0"/>
          </p15:clr>
        </p15:guide>
        <p15:guide id="41" orient="horz" pos="840" userDrawn="1">
          <p15:clr>
            <a:srgbClr val="5ACBF0"/>
          </p15:clr>
        </p15:guide>
        <p15:guide id="42" orient="horz" pos="1864" userDrawn="1">
          <p15:clr>
            <a:srgbClr val="5ACBF0"/>
          </p15:clr>
        </p15:guide>
        <p15:guide id="43" orient="horz" pos="2886" userDrawn="1">
          <p15:clr>
            <a:srgbClr val="5ACBF0"/>
          </p15:clr>
        </p15:guide>
        <p15:guide id="44" orient="horz" pos="3893" userDrawn="1">
          <p15:clr>
            <a:srgbClr val="5ACBF0"/>
          </p15:clr>
        </p15:guide>
        <p15:guide id="45" pos="1498" userDrawn="1">
          <p15:clr>
            <a:srgbClr val="5ACBF0"/>
          </p15:clr>
        </p15:guide>
        <p15:guide id="46" pos="1600" userDrawn="1">
          <p15:clr>
            <a:srgbClr val="5ACBF0"/>
          </p15:clr>
        </p15:guide>
        <p15:guide id="47" pos="2644" userDrawn="1">
          <p15:clr>
            <a:srgbClr val="5ACBF0"/>
          </p15:clr>
        </p15:guide>
        <p15:guide id="48" pos="2747" userDrawn="1">
          <p15:clr>
            <a:srgbClr val="5ACBF0"/>
          </p15:clr>
        </p15:guide>
        <p15:guide id="49" pos="3792" userDrawn="1">
          <p15:clr>
            <a:srgbClr val="5ACBF0"/>
          </p15:clr>
        </p15:guide>
        <p15:guide id="50" pos="3888" userDrawn="1">
          <p15:clr>
            <a:srgbClr val="5ACBF0"/>
          </p15:clr>
        </p15:guide>
        <p15:guide id="51" pos="4934" userDrawn="1">
          <p15:clr>
            <a:srgbClr val="5ACBF0"/>
          </p15:clr>
        </p15:guide>
        <p15:guide id="52" pos="5034" userDrawn="1">
          <p15:clr>
            <a:srgbClr val="5ACBF0"/>
          </p15:clr>
        </p15:guide>
        <p15:guide id="53" pos="6081" userDrawn="1">
          <p15:clr>
            <a:srgbClr val="5ACBF0"/>
          </p15:clr>
        </p15:guide>
        <p15:guide id="54" pos="6183"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10.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5.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7.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5.xml"/><Relationship Id="rId1" Type="http://schemas.openxmlformats.org/officeDocument/2006/relationships/tags" Target="../tags/tag8.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9.xml"/><Relationship Id="rId7" Type="http://schemas.openxmlformats.org/officeDocument/2006/relationships/diagramColors" Target="../diagrams/colors2.xml"/><Relationship Id="rId2" Type="http://schemas.openxmlformats.org/officeDocument/2006/relationships/slideLayout" Target="../slideLayouts/slideLayout26.xml"/><Relationship Id="rId1" Type="http://schemas.openxmlformats.org/officeDocument/2006/relationships/tags" Target="../tags/tag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tags" Target="../tags/tag11.xml"/><Relationship Id="rId4" Type="http://schemas.openxmlformats.org/officeDocument/2006/relationships/image" Target="../media/image29.e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33.emf"/><Relationship Id="rId2" Type="http://schemas.openxmlformats.org/officeDocument/2006/relationships/slideLayout" Target="../slideLayouts/slideLayout19.xml"/><Relationship Id="rId1" Type="http://schemas.openxmlformats.org/officeDocument/2006/relationships/tags" Target="../tags/tag12.xml"/><Relationship Id="rId6" Type="http://schemas.openxmlformats.org/officeDocument/2006/relationships/image" Target="../media/image32.emf"/><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6.xml"/><Relationship Id="rId1" Type="http://schemas.openxmlformats.org/officeDocument/2006/relationships/tags" Target="../tags/tag13.xml"/><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tags" Target="../tags/tag14.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6.xml"/><Relationship Id="rId1" Type="http://schemas.openxmlformats.org/officeDocument/2006/relationships/tags" Target="../tags/tag16.xml"/><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notesSlide" Target="../notesSlides/notesSlide17.xml"/><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slideLayout" Target="../slideLayouts/slideLayout19.xml"/><Relationship Id="rId1" Type="http://schemas.openxmlformats.org/officeDocument/2006/relationships/tags" Target="../tags/tag17.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18.xml"/><Relationship Id="rId5" Type="http://schemas.openxmlformats.org/officeDocument/2006/relationships/image" Target="../media/image52.png"/><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slideLayout" Target="../slideLayouts/slideLayout19.xml"/><Relationship Id="rId7" Type="http://schemas.openxmlformats.org/officeDocument/2006/relationships/image" Target="../media/image56.png"/><Relationship Id="rId2" Type="http://schemas.openxmlformats.org/officeDocument/2006/relationships/tags" Target="../tags/tag19.xml"/><Relationship Id="rId1" Type="http://schemas.openxmlformats.org/officeDocument/2006/relationships/vmlDrawing" Target="../drawings/vmlDrawing1.vml"/><Relationship Id="rId6" Type="http://schemas.openxmlformats.org/officeDocument/2006/relationships/image" Target="../media/image55.png"/><Relationship Id="rId11" Type="http://schemas.openxmlformats.org/officeDocument/2006/relationships/image" Target="../media/image53.emf"/><Relationship Id="rId5" Type="http://schemas.openxmlformats.org/officeDocument/2006/relationships/image" Target="../media/image54.png"/><Relationship Id="rId10" Type="http://schemas.openxmlformats.org/officeDocument/2006/relationships/oleObject" Target="../embeddings/oleObject1.bin"/><Relationship Id="rId4" Type="http://schemas.openxmlformats.org/officeDocument/2006/relationships/notesSlide" Target="../notesSlides/notesSlide19.xml"/><Relationship Id="rId9" Type="http://schemas.openxmlformats.org/officeDocument/2006/relationships/image" Target="../media/image5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5.xml"/><Relationship Id="rId1" Type="http://schemas.openxmlformats.org/officeDocument/2006/relationships/tags" Target="../tags/tag20.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21.xml"/><Relationship Id="rId7" Type="http://schemas.openxmlformats.org/officeDocument/2006/relationships/diagramColors" Target="../diagrams/colors3.xml"/><Relationship Id="rId2" Type="http://schemas.openxmlformats.org/officeDocument/2006/relationships/slideLayout" Target="../slideLayouts/slideLayout26.xml"/><Relationship Id="rId1" Type="http://schemas.openxmlformats.org/officeDocument/2006/relationships/tags" Target="../tags/tag2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9.xml"/><Relationship Id="rId1" Type="http://schemas.openxmlformats.org/officeDocument/2006/relationships/tags" Target="../tags/tag23.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tags" Target="../tags/tag24.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5.xml"/><Relationship Id="rId1" Type="http://schemas.openxmlformats.org/officeDocument/2006/relationships/tags" Target="../tags/tag25.xml"/><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5.xml"/><Relationship Id="rId1" Type="http://schemas.openxmlformats.org/officeDocument/2006/relationships/tags" Target="../tags/tag26.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27.xml"/><Relationship Id="rId7" Type="http://schemas.openxmlformats.org/officeDocument/2006/relationships/diagramColors" Target="../diagrams/colors4.xml"/><Relationship Id="rId2" Type="http://schemas.openxmlformats.org/officeDocument/2006/relationships/slideLayout" Target="../slideLayouts/slideLayout26.xml"/><Relationship Id="rId1" Type="http://schemas.openxmlformats.org/officeDocument/2006/relationships/tags" Target="../tags/tag2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9.xml"/><Relationship Id="rId1" Type="http://schemas.openxmlformats.org/officeDocument/2006/relationships/slideLayout" Target="../slideLayouts/slideLayout19.xml"/><Relationship Id="rId5" Type="http://schemas.openxmlformats.org/officeDocument/2006/relationships/image" Target="../media/image63.png"/><Relationship Id="rId4" Type="http://schemas.openxmlformats.org/officeDocument/2006/relationships/image" Target="../media/image29.emf"/></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1.xml"/><Relationship Id="rId1" Type="http://schemas.openxmlformats.org/officeDocument/2006/relationships/slideLayout" Target="../slideLayouts/slideLayout15.xml"/><Relationship Id="rId5" Type="http://schemas.openxmlformats.org/officeDocument/2006/relationships/image" Target="../media/image67.png"/><Relationship Id="rId4" Type="http://schemas.openxmlformats.org/officeDocument/2006/relationships/image" Target="../media/image6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5.xml"/><Relationship Id="rId1" Type="http://schemas.openxmlformats.org/officeDocument/2006/relationships/tags" Target="../tags/tag29.x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33.xml"/><Relationship Id="rId7" Type="http://schemas.openxmlformats.org/officeDocument/2006/relationships/diagramColors" Target="../diagrams/colors5.xml"/><Relationship Id="rId2" Type="http://schemas.openxmlformats.org/officeDocument/2006/relationships/slideLayout" Target="../slideLayouts/slideLayout26.xml"/><Relationship Id="rId1" Type="http://schemas.openxmlformats.org/officeDocument/2006/relationships/tags" Target="../tags/tag30.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tags" Target="../tags/tag3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xml"/><Relationship Id="rId1" Type="http://schemas.openxmlformats.org/officeDocument/2006/relationships/tags" Target="../tags/tag32.xml"/><Relationship Id="rId4" Type="http://schemas.openxmlformats.org/officeDocument/2006/relationships/image" Target="../media/image32.em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5.xml"/><Relationship Id="rId1" Type="http://schemas.openxmlformats.org/officeDocument/2006/relationships/tags" Target="../tags/tag33.xml"/><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5.xml"/><Relationship Id="rId1" Type="http://schemas.openxmlformats.org/officeDocument/2006/relationships/tags" Target="../tags/tag34.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5.xml"/><Relationship Id="rId1" Type="http://schemas.openxmlformats.org/officeDocument/2006/relationships/tags" Target="../tags/tag35.xml"/><Relationship Id="rId4" Type="http://schemas.openxmlformats.org/officeDocument/2006/relationships/image" Target="../media/image6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5.xml"/><Relationship Id="rId1" Type="http://schemas.openxmlformats.org/officeDocument/2006/relationships/tags" Target="../tags/tag36.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5.xml"/><Relationship Id="rId1" Type="http://schemas.openxmlformats.org/officeDocument/2006/relationships/tags" Target="../tags/tag37.xml"/><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41.xml"/><Relationship Id="rId7" Type="http://schemas.openxmlformats.org/officeDocument/2006/relationships/diagramColors" Target="../diagrams/colors6.xml"/><Relationship Id="rId2" Type="http://schemas.openxmlformats.org/officeDocument/2006/relationships/slideLayout" Target="../slideLayouts/slideLayout26.xml"/><Relationship Id="rId1" Type="http://schemas.openxmlformats.org/officeDocument/2006/relationships/tags" Target="../tags/tag38.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 Id="rId9"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7.xml"/><Relationship Id="rId1" Type="http://schemas.openxmlformats.org/officeDocument/2006/relationships/tags" Target="../tags/tag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a:t>Web Filtering</a:t>
            </a:r>
          </a:p>
        </p:txBody>
      </p:sp>
      <p:sp>
        <p:nvSpPr>
          <p:cNvPr id="4" name="Title 3"/>
          <p:cNvSpPr>
            <a:spLocks noGrp="1"/>
          </p:cNvSpPr>
          <p:nvPr>
            <p:ph type="ctrTitle"/>
          </p:nvPr>
        </p:nvSpPr>
        <p:spPr/>
        <p:txBody>
          <a:bodyPr/>
          <a:lstStyle/>
          <a:p>
            <a:r>
              <a:rPr lang="en-US" dirty="0" err="1"/>
              <a:t>FortiGate</a:t>
            </a:r>
            <a:r>
              <a:rPr lang="en-US" dirty="0"/>
              <a:t> Security</a:t>
            </a:r>
          </a:p>
        </p:txBody>
      </p:sp>
      <p:sp>
        <p:nvSpPr>
          <p:cNvPr id="3" name="Content Placeholder 2"/>
          <p:cNvSpPr>
            <a:spLocks noGrp="1"/>
          </p:cNvSpPr>
          <p:nvPr>
            <p:ph type="body" sz="quarter" idx="10"/>
          </p:nvPr>
        </p:nvSpPr>
        <p:spPr/>
        <p:txBody>
          <a:bodyPr>
            <a:normAutofit/>
          </a:bodyPr>
          <a:lstStyle/>
          <a:p>
            <a:r>
              <a:rPr lang="en-US" dirty="0" err="1"/>
              <a:t>FortiOS</a:t>
            </a:r>
            <a:r>
              <a:rPr lang="en-US" dirty="0"/>
              <a:t> </a:t>
            </a:r>
            <a:r>
              <a:rPr lang="en-US" dirty="0" smtClean="0"/>
              <a:t>7.2</a:t>
            </a:r>
            <a:endParaRPr lang="en-US" dirty="0"/>
          </a:p>
        </p:txBody>
      </p:sp>
    </p:spTree>
    <p:custDataLst>
      <p:tags r:id="rId1"/>
    </p:custDataLst>
    <p:extLst>
      <p:ext uri="{BB962C8B-B14F-4D97-AF65-F5344CB8AC3E}">
        <p14:creationId xmlns:p14="http://schemas.microsoft.com/office/powerpoint/2010/main" val="920393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4"/>
          <p:cNvGraphicFramePr>
            <a:graphicFrameLocks noGrp="1"/>
          </p:cNvGraphicFramePr>
          <p:nvPr>
            <p:ph type="dgm" sz="quarter" idx="10"/>
            <p:extLst>
              <p:ext uri="{D42A27DB-BD31-4B8C-83A1-F6EECF244321}">
                <p14:modId xmlns:p14="http://schemas.microsoft.com/office/powerpoint/2010/main" val="4038100963"/>
              </p:ext>
            </p:extLst>
          </p:nvPr>
        </p:nvGraphicFramePr>
        <p:xfrm>
          <a:off x="273050" y="1347788"/>
          <a:ext cx="11387138" cy="49672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4150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CA" dirty="0"/>
              <a:t>Inspection Modes</a:t>
            </a:r>
          </a:p>
        </p:txBody>
      </p:sp>
      <p:sp>
        <p:nvSpPr>
          <p:cNvPr id="3" name="Text Placeholder 2"/>
          <p:cNvSpPr>
            <a:spLocks noGrp="1"/>
          </p:cNvSpPr>
          <p:nvPr>
            <p:ph type="body" sz="quarter" idx="11"/>
          </p:nvPr>
        </p:nvSpPr>
        <p:spPr/>
        <p:txBody>
          <a:bodyPr/>
          <a:lstStyle/>
          <a:p>
            <a:r>
              <a:rPr lang="en-CA" dirty="0"/>
              <a:t>Describe FortiGate inspection modes</a:t>
            </a:r>
          </a:p>
          <a:p>
            <a:r>
              <a:rPr lang="en-CA"/>
              <a:t>Review NGFW operation modes</a:t>
            </a:r>
            <a:endParaRPr lang="en-CA" dirty="0"/>
          </a:p>
          <a:p>
            <a:endParaRPr lang="en-CA" dirty="0"/>
          </a:p>
          <a:p>
            <a:endParaRPr lang="en-CA" dirty="0"/>
          </a:p>
          <a:p>
            <a:endParaRPr lang="en-CA" dirty="0"/>
          </a:p>
        </p:txBody>
      </p:sp>
    </p:spTree>
    <p:custDataLst>
      <p:tags r:id="rId1"/>
    </p:custDataLst>
    <p:extLst>
      <p:ext uri="{BB962C8B-B14F-4D97-AF65-F5344CB8AC3E}">
        <p14:creationId xmlns:p14="http://schemas.microsoft.com/office/powerpoint/2010/main" val="737826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Flow-Based Inspection</a:t>
            </a:r>
            <a:br>
              <a:rPr lang="en-US" dirty="0" smtClean="0"/>
            </a:br>
            <a:endParaRPr lang="en-CA" dirty="0"/>
          </a:p>
        </p:txBody>
      </p:sp>
      <p:sp>
        <p:nvSpPr>
          <p:cNvPr id="3" name="Content Placeholder 2"/>
          <p:cNvSpPr>
            <a:spLocks noGrp="1"/>
          </p:cNvSpPr>
          <p:nvPr>
            <p:ph idx="1"/>
          </p:nvPr>
        </p:nvSpPr>
        <p:spPr/>
        <p:txBody>
          <a:bodyPr/>
          <a:lstStyle/>
          <a:p>
            <a:r>
              <a:rPr lang="en-US" dirty="0"/>
              <a:t>Per firewall policy setting</a:t>
            </a:r>
          </a:p>
          <a:p>
            <a:pPr lvl="0"/>
            <a:r>
              <a:rPr lang="en-US" dirty="0" smtClean="0"/>
              <a:t>Default </a:t>
            </a:r>
            <a:r>
              <a:rPr lang="en-US" dirty="0"/>
              <a:t>inspection mode </a:t>
            </a:r>
          </a:p>
          <a:p>
            <a:pPr lvl="0"/>
            <a:r>
              <a:rPr lang="en-US" dirty="0"/>
              <a:t>Uses single-pass direct filter approach (DFA) pattern matching to identify possible attacks or threats </a:t>
            </a:r>
          </a:p>
          <a:p>
            <a:pPr lvl="0"/>
            <a:r>
              <a:rPr lang="en-US" dirty="0"/>
              <a:t>File is scanned on a flow basis as it passes through FortiGate</a:t>
            </a:r>
          </a:p>
          <a:p>
            <a:pPr lvl="0"/>
            <a:r>
              <a:rPr lang="en-US" dirty="0"/>
              <a:t>Requires fewer processing resources </a:t>
            </a:r>
          </a:p>
          <a:p>
            <a:pPr lvl="0"/>
            <a:r>
              <a:rPr lang="en-CA" dirty="0"/>
              <a:t>Faster scanning</a:t>
            </a:r>
          </a:p>
        </p:txBody>
      </p:sp>
      <p:grpSp>
        <p:nvGrpSpPr>
          <p:cNvPr id="68" name="Group 67"/>
          <p:cNvGrpSpPr/>
          <p:nvPr/>
        </p:nvGrpSpPr>
        <p:grpSpPr>
          <a:xfrm>
            <a:off x="6027103" y="3184228"/>
            <a:ext cx="4559131" cy="1976807"/>
            <a:chOff x="7011112" y="3995859"/>
            <a:chExt cx="3537800" cy="1976807"/>
          </a:xfrm>
        </p:grpSpPr>
        <p:cxnSp>
          <p:nvCxnSpPr>
            <p:cNvPr id="55" name="Straight Connector 54"/>
            <p:cNvCxnSpPr/>
            <p:nvPr/>
          </p:nvCxnSpPr>
          <p:spPr bwMode="auto">
            <a:xfrm>
              <a:off x="7277054" y="4345039"/>
              <a:ext cx="0" cy="1627627"/>
            </a:xfrm>
            <a:prstGeom prst="line">
              <a:avLst/>
            </a:prstGeom>
            <a:solidFill>
              <a:schemeClr val="accent2">
                <a:alpha val="42000"/>
              </a:schemeClr>
            </a:solidFill>
            <a:ln w="28575" cap="flat" cmpd="sng" algn="ctr">
              <a:solidFill>
                <a:schemeClr val="accent6"/>
              </a:solidFill>
              <a:prstDash val="sysDash"/>
              <a:round/>
              <a:headEnd type="none" w="med" len="med"/>
              <a:tailEnd type="none" w="med" len="med"/>
            </a:ln>
            <a:effectLst>
              <a:outerShdw blurRad="50800" dist="38100" dir="2700000" algn="tl" rotWithShape="0">
                <a:prstClr val="black">
                  <a:alpha val="40000"/>
                </a:prstClr>
              </a:outerShdw>
            </a:effectLst>
          </p:spPr>
        </p:cxnSp>
        <p:cxnSp>
          <p:nvCxnSpPr>
            <p:cNvPr id="56" name="Straight Connector 55"/>
            <p:cNvCxnSpPr/>
            <p:nvPr/>
          </p:nvCxnSpPr>
          <p:spPr bwMode="auto">
            <a:xfrm>
              <a:off x="8860383" y="4345039"/>
              <a:ext cx="0" cy="1627627"/>
            </a:xfrm>
            <a:prstGeom prst="line">
              <a:avLst/>
            </a:prstGeom>
            <a:solidFill>
              <a:schemeClr val="accent2">
                <a:alpha val="42000"/>
              </a:schemeClr>
            </a:solidFill>
            <a:ln w="28575" cap="flat" cmpd="sng" algn="ctr">
              <a:solidFill>
                <a:schemeClr val="accent6"/>
              </a:solidFill>
              <a:prstDash val="sysDash"/>
              <a:round/>
              <a:headEnd type="none" w="med" len="med"/>
              <a:tailEnd type="none" w="med" len="med"/>
            </a:ln>
            <a:effectLst>
              <a:outerShdw blurRad="50800" dist="38100" dir="2700000" algn="tl" rotWithShape="0">
                <a:prstClr val="black">
                  <a:alpha val="40000"/>
                </a:prstClr>
              </a:outerShdw>
            </a:effectLst>
          </p:spPr>
        </p:cxnSp>
        <p:cxnSp>
          <p:nvCxnSpPr>
            <p:cNvPr id="57" name="Straight Connector 56"/>
            <p:cNvCxnSpPr/>
            <p:nvPr/>
          </p:nvCxnSpPr>
          <p:spPr bwMode="auto">
            <a:xfrm>
              <a:off x="10436967" y="4345039"/>
              <a:ext cx="7071" cy="1627627"/>
            </a:xfrm>
            <a:prstGeom prst="line">
              <a:avLst/>
            </a:prstGeom>
            <a:solidFill>
              <a:schemeClr val="accent2">
                <a:alpha val="42000"/>
              </a:schemeClr>
            </a:solidFill>
            <a:ln w="28575" cap="flat" cmpd="sng" algn="ctr">
              <a:solidFill>
                <a:schemeClr val="accent6"/>
              </a:solidFill>
              <a:prstDash val="sysDash"/>
              <a:round/>
              <a:headEnd type="none" w="med" len="med"/>
              <a:tailEnd type="none" w="med" len="med"/>
            </a:ln>
            <a:effectLst>
              <a:outerShdw blurRad="50800" dist="38100" dir="2700000" algn="tl" rotWithShape="0">
                <a:prstClr val="black">
                  <a:alpha val="40000"/>
                </a:prstClr>
              </a:outerShdw>
            </a:effectLst>
          </p:spPr>
        </p:cxnSp>
        <p:cxnSp>
          <p:nvCxnSpPr>
            <p:cNvPr id="58" name="Straight Connector 57"/>
            <p:cNvCxnSpPr/>
            <p:nvPr/>
          </p:nvCxnSpPr>
          <p:spPr bwMode="auto">
            <a:xfrm>
              <a:off x="7277054" y="4721780"/>
              <a:ext cx="3174057" cy="0"/>
            </a:xfrm>
            <a:prstGeom prst="line">
              <a:avLst/>
            </a:prstGeom>
            <a:solidFill>
              <a:schemeClr val="accent2">
                <a:alpha val="42000"/>
              </a:schemeClr>
            </a:solidFill>
            <a:ln w="28575" cap="flat" cmpd="sng" algn="ctr">
              <a:solidFill>
                <a:schemeClr val="accent6"/>
              </a:solidFill>
              <a:prstDash val="solid"/>
              <a:round/>
              <a:headEnd type="none" w="med" len="med"/>
              <a:tailEnd type="triangle"/>
            </a:ln>
            <a:effectLst>
              <a:outerShdw blurRad="50800" dist="38100" dir="2700000" algn="tl" rotWithShape="0">
                <a:prstClr val="black">
                  <a:alpha val="40000"/>
                </a:prstClr>
              </a:outerShdw>
            </a:effectLst>
          </p:spPr>
        </p:cxnSp>
        <p:cxnSp>
          <p:nvCxnSpPr>
            <p:cNvPr id="59" name="Straight Connector 58"/>
            <p:cNvCxnSpPr/>
            <p:nvPr/>
          </p:nvCxnSpPr>
          <p:spPr bwMode="auto">
            <a:xfrm>
              <a:off x="7277054" y="5156091"/>
              <a:ext cx="3174057" cy="0"/>
            </a:xfrm>
            <a:prstGeom prst="line">
              <a:avLst/>
            </a:prstGeom>
            <a:solidFill>
              <a:schemeClr val="accent2">
                <a:alpha val="42000"/>
              </a:schemeClr>
            </a:solidFill>
            <a:ln w="28575" cap="flat" cmpd="sng" algn="ctr">
              <a:solidFill>
                <a:schemeClr val="accent6"/>
              </a:solidFill>
              <a:prstDash val="solid"/>
              <a:round/>
              <a:headEnd type="triangle" w="med" len="med"/>
              <a:tailEnd type="none" w="med" len="med"/>
            </a:ln>
            <a:effectLst>
              <a:outerShdw blurRad="50800" dist="38100" dir="2700000" algn="tl" rotWithShape="0">
                <a:prstClr val="black">
                  <a:alpha val="40000"/>
                </a:prstClr>
              </a:outerShdw>
            </a:effectLst>
          </p:spPr>
        </p:cxnSp>
        <p:sp>
          <p:nvSpPr>
            <p:cNvPr id="60" name="TextBox 59"/>
            <p:cNvSpPr txBox="1"/>
            <p:nvPr/>
          </p:nvSpPr>
          <p:spPr>
            <a:xfrm>
              <a:off x="7011112" y="3995859"/>
              <a:ext cx="446809" cy="261610"/>
            </a:xfrm>
            <a:prstGeom prst="rect">
              <a:avLst/>
            </a:prstGeom>
            <a:noFill/>
            <a:ln>
              <a:noFill/>
            </a:ln>
          </p:spPr>
          <p:txBody>
            <a:bodyPr wrap="none" rtlCol="0">
              <a:spAutoFit/>
            </a:bodyPr>
            <a:lstStyle/>
            <a:p>
              <a:r>
                <a:rPr lang="en-CA" sz="1100" b="1" dirty="0">
                  <a:solidFill>
                    <a:schemeClr val="tx1"/>
                  </a:solidFill>
                  <a:cs typeface="Arial"/>
                </a:rPr>
                <a:t>Client</a:t>
              </a:r>
            </a:p>
          </p:txBody>
        </p:sp>
        <p:sp>
          <p:nvSpPr>
            <p:cNvPr id="61" name="TextBox 60"/>
            <p:cNvSpPr txBox="1"/>
            <p:nvPr/>
          </p:nvSpPr>
          <p:spPr>
            <a:xfrm>
              <a:off x="10064786" y="3995859"/>
              <a:ext cx="484126" cy="261610"/>
            </a:xfrm>
            <a:prstGeom prst="rect">
              <a:avLst/>
            </a:prstGeom>
            <a:noFill/>
            <a:ln>
              <a:noFill/>
            </a:ln>
          </p:spPr>
          <p:txBody>
            <a:bodyPr wrap="none" rtlCol="0">
              <a:spAutoFit/>
            </a:bodyPr>
            <a:lstStyle/>
            <a:p>
              <a:r>
                <a:rPr lang="en-CA" sz="1100" b="1" dirty="0">
                  <a:solidFill>
                    <a:schemeClr val="tx1"/>
                  </a:solidFill>
                  <a:cs typeface="Arial"/>
                </a:rPr>
                <a:t>Server</a:t>
              </a:r>
            </a:p>
          </p:txBody>
        </p:sp>
        <p:sp>
          <p:nvSpPr>
            <p:cNvPr id="62" name="TextBox 61"/>
            <p:cNvSpPr txBox="1"/>
            <p:nvPr/>
          </p:nvSpPr>
          <p:spPr>
            <a:xfrm>
              <a:off x="8544192" y="3995859"/>
              <a:ext cx="628418" cy="261610"/>
            </a:xfrm>
            <a:prstGeom prst="rect">
              <a:avLst/>
            </a:prstGeom>
            <a:noFill/>
            <a:ln>
              <a:noFill/>
            </a:ln>
          </p:spPr>
          <p:txBody>
            <a:bodyPr wrap="none" rtlCol="0">
              <a:spAutoFit/>
            </a:bodyPr>
            <a:lstStyle/>
            <a:p>
              <a:r>
                <a:rPr lang="en-CA" sz="1100" b="1" dirty="0">
                  <a:solidFill>
                    <a:schemeClr val="tx1"/>
                  </a:solidFill>
                  <a:cs typeface="Arial"/>
                </a:rPr>
                <a:t>FortiGate</a:t>
              </a:r>
            </a:p>
          </p:txBody>
        </p:sp>
        <p:cxnSp>
          <p:nvCxnSpPr>
            <p:cNvPr id="63" name="Straight Connector 62"/>
            <p:cNvCxnSpPr/>
            <p:nvPr/>
          </p:nvCxnSpPr>
          <p:spPr bwMode="auto">
            <a:xfrm>
              <a:off x="7273354" y="5565521"/>
              <a:ext cx="3174057" cy="0"/>
            </a:xfrm>
            <a:prstGeom prst="line">
              <a:avLst/>
            </a:prstGeom>
            <a:solidFill>
              <a:schemeClr val="accent2">
                <a:alpha val="42000"/>
              </a:schemeClr>
            </a:solidFill>
            <a:ln w="28575" cap="flat" cmpd="sng" algn="ctr">
              <a:solidFill>
                <a:schemeClr val="accent6"/>
              </a:solidFill>
              <a:prstDash val="solid"/>
              <a:round/>
              <a:headEnd type="none" w="med" len="med"/>
              <a:tailEnd type="triangle"/>
            </a:ln>
            <a:effectLst>
              <a:outerShdw blurRad="50800" dist="38100" dir="2700000" algn="tl" rotWithShape="0">
                <a:prstClr val="black">
                  <a:alpha val="40000"/>
                </a:prstClr>
              </a:outerShdw>
            </a:effectLst>
          </p:spPr>
        </p:cxnSp>
        <p:sp>
          <p:nvSpPr>
            <p:cNvPr id="64" name="TextBox 63"/>
            <p:cNvSpPr txBox="1"/>
            <p:nvPr/>
          </p:nvSpPr>
          <p:spPr>
            <a:xfrm>
              <a:off x="7622544" y="4432650"/>
              <a:ext cx="469199" cy="338554"/>
            </a:xfrm>
            <a:prstGeom prst="rect">
              <a:avLst/>
            </a:prstGeom>
            <a:noFill/>
            <a:ln>
              <a:noFill/>
            </a:ln>
          </p:spPr>
          <p:txBody>
            <a:bodyPr wrap="none" rtlCol="0">
              <a:spAutoFit/>
            </a:bodyPr>
            <a:lstStyle/>
            <a:p>
              <a:r>
                <a:rPr lang="en-CA" sz="1600" b="1" dirty="0">
                  <a:solidFill>
                    <a:schemeClr val="tx1"/>
                  </a:solidFill>
                  <a:cs typeface="Arial"/>
                </a:rPr>
                <a:t>SYN</a:t>
              </a:r>
            </a:p>
          </p:txBody>
        </p:sp>
        <p:sp>
          <p:nvSpPr>
            <p:cNvPr id="65" name="TextBox 64"/>
            <p:cNvSpPr txBox="1"/>
            <p:nvPr/>
          </p:nvSpPr>
          <p:spPr>
            <a:xfrm>
              <a:off x="9555731" y="4879521"/>
              <a:ext cx="866004" cy="338554"/>
            </a:xfrm>
            <a:prstGeom prst="rect">
              <a:avLst/>
            </a:prstGeom>
            <a:noFill/>
            <a:ln>
              <a:noFill/>
            </a:ln>
          </p:spPr>
          <p:txBody>
            <a:bodyPr wrap="none" rtlCol="0">
              <a:spAutoFit/>
            </a:bodyPr>
            <a:lstStyle/>
            <a:p>
              <a:r>
                <a:rPr lang="en-CA" sz="1600" b="1" dirty="0">
                  <a:solidFill>
                    <a:schemeClr val="tx1"/>
                  </a:solidFill>
                  <a:cs typeface="Arial"/>
                </a:rPr>
                <a:t>SYN-ACK</a:t>
              </a:r>
            </a:p>
          </p:txBody>
        </p:sp>
        <p:sp>
          <p:nvSpPr>
            <p:cNvPr id="66" name="TextBox 65"/>
            <p:cNvSpPr txBox="1"/>
            <p:nvPr/>
          </p:nvSpPr>
          <p:spPr>
            <a:xfrm>
              <a:off x="7676853" y="5277960"/>
              <a:ext cx="486614" cy="338554"/>
            </a:xfrm>
            <a:prstGeom prst="rect">
              <a:avLst/>
            </a:prstGeom>
            <a:noFill/>
            <a:ln>
              <a:noFill/>
            </a:ln>
          </p:spPr>
          <p:txBody>
            <a:bodyPr wrap="none" rtlCol="0">
              <a:spAutoFit/>
            </a:bodyPr>
            <a:lstStyle/>
            <a:p>
              <a:r>
                <a:rPr lang="en-CA" sz="1600" b="1" dirty="0">
                  <a:solidFill>
                    <a:schemeClr val="tx1"/>
                  </a:solidFill>
                  <a:cs typeface="Arial"/>
                </a:rPr>
                <a:t>ACK</a:t>
              </a:r>
            </a:p>
          </p:txBody>
        </p:sp>
      </p:grpSp>
      <p:sp>
        <p:nvSpPr>
          <p:cNvPr id="17" name="Rectangle 16"/>
          <p:cNvSpPr/>
          <p:nvPr/>
        </p:nvSpPr>
        <p:spPr>
          <a:xfrm>
            <a:off x="466519" y="4035217"/>
            <a:ext cx="3871573" cy="369332"/>
          </a:xfrm>
          <a:prstGeom prst="rect">
            <a:avLst/>
          </a:prstGeom>
          <a:solidFill>
            <a:srgbClr val="00B0F0"/>
          </a:solidFill>
        </p:spPr>
        <p:txBody>
          <a:bodyPr wrap="none">
            <a:spAutoFit/>
          </a:bodyPr>
          <a:lstStyle/>
          <a:p>
            <a:pPr marL="171450" lvl="0" indent="-171450">
              <a:defRPr/>
            </a:pPr>
            <a:r>
              <a:rPr lang="en-CA" b="1" dirty="0">
                <a:cs typeface="Arial"/>
              </a:rPr>
              <a:t>Policy &amp; Objects </a:t>
            </a:r>
            <a:r>
              <a:rPr lang="en-CA" dirty="0">
                <a:cs typeface="Arial"/>
              </a:rPr>
              <a:t>&gt;</a:t>
            </a:r>
            <a:r>
              <a:rPr lang="en-CA" b="1" dirty="0">
                <a:cs typeface="Arial"/>
              </a:rPr>
              <a:t> Firewall Policy</a:t>
            </a:r>
          </a:p>
        </p:txBody>
      </p:sp>
      <p:pic>
        <p:nvPicPr>
          <p:cNvPr id="4" name="Picture 3"/>
          <p:cNvPicPr>
            <a:picLocks noChangeAspect="1"/>
          </p:cNvPicPr>
          <p:nvPr/>
        </p:nvPicPr>
        <p:blipFill>
          <a:blip r:embed="rId4"/>
          <a:stretch>
            <a:fillRect/>
          </a:stretch>
        </p:blipFill>
        <p:spPr>
          <a:xfrm>
            <a:off x="466519" y="4442737"/>
            <a:ext cx="5694943" cy="666976"/>
          </a:xfrm>
          <a:prstGeom prst="rect">
            <a:avLst/>
          </a:prstGeom>
          <a:ln>
            <a:solidFill>
              <a:schemeClr val="tx1"/>
            </a:solidFill>
          </a:ln>
        </p:spPr>
      </p:pic>
    </p:spTree>
    <p:custDataLst>
      <p:tags r:id="rId1"/>
    </p:custDataLst>
    <p:extLst>
      <p:ext uri="{BB962C8B-B14F-4D97-AF65-F5344CB8AC3E}">
        <p14:creationId xmlns:p14="http://schemas.microsoft.com/office/powerpoint/2010/main" val="615782384"/>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Proxy-Based Inspection</a:t>
            </a:r>
            <a:endParaRPr lang="en-CA" dirty="0"/>
          </a:p>
        </p:txBody>
      </p:sp>
      <p:sp>
        <p:nvSpPr>
          <p:cNvPr id="3" name="Content Placeholder 2"/>
          <p:cNvSpPr>
            <a:spLocks noGrp="1"/>
          </p:cNvSpPr>
          <p:nvPr>
            <p:ph idx="1"/>
          </p:nvPr>
        </p:nvSpPr>
        <p:spPr/>
        <p:txBody>
          <a:bodyPr/>
          <a:lstStyle/>
          <a:p>
            <a:r>
              <a:rPr lang="en-CA" dirty="0"/>
              <a:t>More thorough inspection</a:t>
            </a:r>
          </a:p>
          <a:p>
            <a:r>
              <a:rPr lang="en-CA" dirty="0"/>
              <a:t>Adds latency</a:t>
            </a:r>
          </a:p>
          <a:p>
            <a:pPr lvl="1"/>
            <a:r>
              <a:rPr lang="en-CA" dirty="0"/>
              <a:t>Complete content is scanned</a:t>
            </a:r>
          </a:p>
          <a:p>
            <a:r>
              <a:rPr lang="en-US" dirty="0"/>
              <a:t>Two TCP connections</a:t>
            </a:r>
          </a:p>
          <a:p>
            <a:pPr lvl="1"/>
            <a:r>
              <a:rPr lang="en-US" dirty="0"/>
              <a:t>From client to FortiGate acting as proxy server</a:t>
            </a:r>
          </a:p>
          <a:p>
            <a:pPr lvl="1"/>
            <a:r>
              <a:rPr lang="en-US" dirty="0"/>
              <a:t>From FortiGate to server</a:t>
            </a:r>
          </a:p>
          <a:p>
            <a:r>
              <a:rPr lang="en-US" dirty="0"/>
              <a:t>Communication is terminated on Layer 4</a:t>
            </a:r>
          </a:p>
          <a:p>
            <a:r>
              <a:rPr lang="en-US" dirty="0"/>
              <a:t>More resource intensive</a:t>
            </a:r>
          </a:p>
          <a:p>
            <a:r>
              <a:rPr lang="en-US" dirty="0"/>
              <a:t>Provides a higher level of threat protection</a:t>
            </a:r>
          </a:p>
          <a:p>
            <a:pPr marL="0" indent="0">
              <a:buNone/>
            </a:pPr>
            <a:endParaRPr lang="en-US" dirty="0"/>
          </a:p>
        </p:txBody>
      </p:sp>
      <p:grpSp>
        <p:nvGrpSpPr>
          <p:cNvPr id="23" name="Group 22"/>
          <p:cNvGrpSpPr/>
          <p:nvPr/>
        </p:nvGrpSpPr>
        <p:grpSpPr>
          <a:xfrm>
            <a:off x="6507515" y="1873176"/>
            <a:ext cx="4543320" cy="2108975"/>
            <a:chOff x="6319542" y="3880604"/>
            <a:chExt cx="3061531" cy="1785610"/>
          </a:xfrm>
        </p:grpSpPr>
        <p:cxnSp>
          <p:nvCxnSpPr>
            <p:cNvPr id="5" name="Straight Connector 4"/>
            <p:cNvCxnSpPr/>
            <p:nvPr/>
          </p:nvCxnSpPr>
          <p:spPr bwMode="auto">
            <a:xfrm>
              <a:off x="6549555" y="4142214"/>
              <a:ext cx="2917" cy="1524000"/>
            </a:xfrm>
            <a:prstGeom prst="line">
              <a:avLst/>
            </a:prstGeom>
            <a:solidFill>
              <a:schemeClr val="accent2">
                <a:alpha val="42000"/>
              </a:schemeClr>
            </a:solidFill>
            <a:ln w="28575" cap="flat" cmpd="sng" algn="ctr">
              <a:solidFill>
                <a:schemeClr val="accent6">
                  <a:lumMod val="40000"/>
                  <a:lumOff val="60000"/>
                </a:schemeClr>
              </a:solidFill>
              <a:prstDash val="sysDash"/>
              <a:round/>
              <a:headEnd type="none" w="med" len="med"/>
              <a:tailEnd type="none" w="med" len="med"/>
            </a:ln>
            <a:effectLst/>
          </p:spPr>
        </p:cxnSp>
        <p:cxnSp>
          <p:nvCxnSpPr>
            <p:cNvPr id="6" name="Straight Connector 5"/>
            <p:cNvCxnSpPr/>
            <p:nvPr/>
          </p:nvCxnSpPr>
          <p:spPr bwMode="auto">
            <a:xfrm flipH="1">
              <a:off x="7917781" y="4142214"/>
              <a:ext cx="1194" cy="1524000"/>
            </a:xfrm>
            <a:prstGeom prst="line">
              <a:avLst/>
            </a:prstGeom>
            <a:solidFill>
              <a:schemeClr val="accent2">
                <a:alpha val="42000"/>
              </a:schemeClr>
            </a:solidFill>
            <a:ln w="28575" cap="flat" cmpd="sng" algn="ctr">
              <a:solidFill>
                <a:schemeClr val="accent6">
                  <a:lumMod val="40000"/>
                  <a:lumOff val="60000"/>
                </a:schemeClr>
              </a:solidFill>
              <a:prstDash val="sysDash"/>
              <a:round/>
              <a:headEnd type="none" w="med" len="med"/>
              <a:tailEnd type="none" w="med" len="med"/>
            </a:ln>
            <a:effectLst/>
          </p:spPr>
        </p:cxnSp>
        <p:cxnSp>
          <p:nvCxnSpPr>
            <p:cNvPr id="7" name="Straight Connector 6"/>
            <p:cNvCxnSpPr/>
            <p:nvPr/>
          </p:nvCxnSpPr>
          <p:spPr bwMode="auto">
            <a:xfrm>
              <a:off x="9282561" y="4142214"/>
              <a:ext cx="18067" cy="1524000"/>
            </a:xfrm>
            <a:prstGeom prst="line">
              <a:avLst/>
            </a:prstGeom>
            <a:solidFill>
              <a:schemeClr val="accent2">
                <a:alpha val="42000"/>
              </a:schemeClr>
            </a:solidFill>
            <a:ln w="28575" cap="flat" cmpd="sng" algn="ctr">
              <a:solidFill>
                <a:schemeClr val="accent6">
                  <a:lumMod val="40000"/>
                  <a:lumOff val="60000"/>
                </a:schemeClr>
              </a:solidFill>
              <a:prstDash val="sysDash"/>
              <a:round/>
              <a:headEnd type="none" w="med" len="med"/>
              <a:tailEnd type="none" w="med" len="med"/>
            </a:ln>
            <a:effectLst/>
          </p:spPr>
        </p:cxnSp>
        <p:cxnSp>
          <p:nvCxnSpPr>
            <p:cNvPr id="8" name="Straight Connector 7"/>
            <p:cNvCxnSpPr/>
            <p:nvPr/>
          </p:nvCxnSpPr>
          <p:spPr bwMode="auto">
            <a:xfrm>
              <a:off x="6549555" y="4399292"/>
              <a:ext cx="1369420" cy="0"/>
            </a:xfrm>
            <a:prstGeom prst="line">
              <a:avLst/>
            </a:prstGeom>
            <a:solidFill>
              <a:schemeClr val="accent2">
                <a:alpha val="42000"/>
              </a:schemeClr>
            </a:solidFill>
            <a:ln w="28575" cap="flat" cmpd="sng" algn="ctr">
              <a:solidFill>
                <a:schemeClr val="accent6"/>
              </a:solidFill>
              <a:prstDash val="solid"/>
              <a:round/>
              <a:headEnd type="none" w="med" len="med"/>
              <a:tailEnd type="triangle"/>
            </a:ln>
            <a:effectLst>
              <a:outerShdw blurRad="50800" dist="38100" dir="2700000" algn="tl" rotWithShape="0">
                <a:prstClr val="black">
                  <a:alpha val="40000"/>
                </a:prstClr>
              </a:outerShdw>
            </a:effectLst>
          </p:spPr>
        </p:cxnSp>
        <p:cxnSp>
          <p:nvCxnSpPr>
            <p:cNvPr id="9" name="Straight Connector 8"/>
            <p:cNvCxnSpPr/>
            <p:nvPr/>
          </p:nvCxnSpPr>
          <p:spPr bwMode="auto">
            <a:xfrm>
              <a:off x="7928008" y="5004334"/>
              <a:ext cx="1363586" cy="0"/>
            </a:xfrm>
            <a:prstGeom prst="line">
              <a:avLst/>
            </a:prstGeom>
            <a:solidFill>
              <a:schemeClr val="accent2">
                <a:alpha val="42000"/>
              </a:schemeClr>
            </a:solidFill>
            <a:ln w="28575" cap="flat" cmpd="sng" algn="ctr">
              <a:solidFill>
                <a:schemeClr val="accent6"/>
              </a:solidFill>
              <a:prstDash val="solid"/>
              <a:round/>
              <a:headEnd type="none" w="med" len="med"/>
              <a:tailEnd type="triangle"/>
            </a:ln>
            <a:effectLst>
              <a:outerShdw blurRad="50800" dist="38100" dir="2700000" algn="tl" rotWithShape="0">
                <a:prstClr val="black">
                  <a:alpha val="40000"/>
                </a:prstClr>
              </a:outerShdw>
            </a:effectLst>
          </p:spPr>
        </p:cxnSp>
        <p:cxnSp>
          <p:nvCxnSpPr>
            <p:cNvPr id="10" name="Straight Connector 9"/>
            <p:cNvCxnSpPr/>
            <p:nvPr/>
          </p:nvCxnSpPr>
          <p:spPr bwMode="auto">
            <a:xfrm>
              <a:off x="7919257" y="5409832"/>
              <a:ext cx="1369420" cy="0"/>
            </a:xfrm>
            <a:prstGeom prst="line">
              <a:avLst/>
            </a:prstGeom>
            <a:solidFill>
              <a:schemeClr val="accent2">
                <a:alpha val="42000"/>
              </a:schemeClr>
            </a:solidFill>
            <a:ln w="28575" cap="flat" cmpd="sng" algn="ctr">
              <a:solidFill>
                <a:schemeClr val="accent6"/>
              </a:solidFill>
              <a:prstDash val="solid"/>
              <a:round/>
              <a:headEnd type="none" w="med" len="med"/>
              <a:tailEnd type="triangle"/>
            </a:ln>
            <a:effectLst>
              <a:outerShdw blurRad="50800" dist="38100" dir="2700000" algn="tl" rotWithShape="0">
                <a:prstClr val="black">
                  <a:alpha val="40000"/>
                </a:prstClr>
              </a:outerShdw>
            </a:effectLst>
          </p:spPr>
        </p:cxnSp>
        <p:cxnSp>
          <p:nvCxnSpPr>
            <p:cNvPr id="11" name="Straight Connector 10"/>
            <p:cNvCxnSpPr/>
            <p:nvPr/>
          </p:nvCxnSpPr>
          <p:spPr bwMode="auto">
            <a:xfrm>
              <a:off x="6536731" y="4788241"/>
              <a:ext cx="1369420" cy="0"/>
            </a:xfrm>
            <a:prstGeom prst="line">
              <a:avLst/>
            </a:prstGeom>
            <a:solidFill>
              <a:schemeClr val="accent2">
                <a:alpha val="42000"/>
              </a:schemeClr>
            </a:solidFill>
            <a:ln w="28575" cap="flat" cmpd="sng" algn="ctr">
              <a:solidFill>
                <a:schemeClr val="accent6"/>
              </a:solidFill>
              <a:prstDash val="solid"/>
              <a:round/>
              <a:headEnd type="none" w="med" len="med"/>
              <a:tailEnd type="triangle"/>
            </a:ln>
            <a:effectLst>
              <a:outerShdw blurRad="50800" dist="38100" dir="2700000" algn="tl" rotWithShape="0">
                <a:prstClr val="black">
                  <a:alpha val="40000"/>
                </a:prstClr>
              </a:outerShdw>
            </a:effectLst>
          </p:spPr>
        </p:cxnSp>
        <p:cxnSp>
          <p:nvCxnSpPr>
            <p:cNvPr id="12" name="Straight Connector 11"/>
            <p:cNvCxnSpPr/>
            <p:nvPr/>
          </p:nvCxnSpPr>
          <p:spPr bwMode="auto">
            <a:xfrm>
              <a:off x="7928008" y="5232934"/>
              <a:ext cx="1363586" cy="0"/>
            </a:xfrm>
            <a:prstGeom prst="line">
              <a:avLst/>
            </a:prstGeom>
            <a:solidFill>
              <a:schemeClr val="accent2">
                <a:alpha val="42000"/>
              </a:schemeClr>
            </a:solidFill>
            <a:ln w="28575" cap="flat" cmpd="sng" algn="ctr">
              <a:solidFill>
                <a:schemeClr val="accent6"/>
              </a:solidFill>
              <a:prstDash val="solid"/>
              <a:round/>
              <a:headEnd type="triangle" w="med" len="med"/>
              <a:tailEnd type="none" w="med" len="med"/>
            </a:ln>
            <a:effectLst>
              <a:outerShdw blurRad="50800" dist="38100" dir="2700000" algn="tl" rotWithShape="0">
                <a:prstClr val="black">
                  <a:alpha val="40000"/>
                </a:prstClr>
              </a:outerShdw>
            </a:effectLst>
          </p:spPr>
        </p:cxnSp>
        <p:cxnSp>
          <p:nvCxnSpPr>
            <p:cNvPr id="13" name="Straight Connector 12"/>
            <p:cNvCxnSpPr/>
            <p:nvPr/>
          </p:nvCxnSpPr>
          <p:spPr bwMode="auto">
            <a:xfrm>
              <a:off x="6555389" y="4595005"/>
              <a:ext cx="1363586" cy="0"/>
            </a:xfrm>
            <a:prstGeom prst="line">
              <a:avLst/>
            </a:prstGeom>
            <a:solidFill>
              <a:schemeClr val="accent2">
                <a:alpha val="42000"/>
              </a:schemeClr>
            </a:solidFill>
            <a:ln w="28575" cap="flat" cmpd="sng" algn="ctr">
              <a:solidFill>
                <a:schemeClr val="accent6"/>
              </a:solidFill>
              <a:prstDash val="solid"/>
              <a:round/>
              <a:headEnd type="triangle" w="med" len="med"/>
              <a:tailEnd type="none" w="med" len="med"/>
            </a:ln>
            <a:effectLst>
              <a:outerShdw blurRad="50800" dist="38100" dir="2700000" algn="tl" rotWithShape="0">
                <a:prstClr val="black">
                  <a:alpha val="40000"/>
                </a:prstClr>
              </a:outerShdw>
            </a:effectLst>
          </p:spPr>
        </p:cxnSp>
        <p:sp>
          <p:nvSpPr>
            <p:cNvPr id="14" name="TextBox 13"/>
            <p:cNvSpPr txBox="1"/>
            <p:nvPr/>
          </p:nvSpPr>
          <p:spPr>
            <a:xfrm>
              <a:off x="6319542" y="3880604"/>
              <a:ext cx="388004" cy="221498"/>
            </a:xfrm>
            <a:prstGeom prst="rect">
              <a:avLst/>
            </a:prstGeom>
            <a:noFill/>
          </p:spPr>
          <p:txBody>
            <a:bodyPr wrap="none" rtlCol="0">
              <a:spAutoFit/>
            </a:bodyPr>
            <a:lstStyle/>
            <a:p>
              <a:r>
                <a:rPr lang="en-CA" sz="1100" b="1" dirty="0">
                  <a:solidFill>
                    <a:schemeClr val="tx1"/>
                  </a:solidFill>
                  <a:cs typeface="Arial"/>
                </a:rPr>
                <a:t>Client</a:t>
              </a:r>
            </a:p>
          </p:txBody>
        </p:sp>
        <p:sp>
          <p:nvSpPr>
            <p:cNvPr id="15" name="TextBox 14"/>
            <p:cNvSpPr txBox="1"/>
            <p:nvPr/>
          </p:nvSpPr>
          <p:spPr>
            <a:xfrm>
              <a:off x="8960663" y="3880604"/>
              <a:ext cx="420410" cy="221498"/>
            </a:xfrm>
            <a:prstGeom prst="rect">
              <a:avLst/>
            </a:prstGeom>
            <a:noFill/>
          </p:spPr>
          <p:txBody>
            <a:bodyPr wrap="none" rtlCol="0">
              <a:spAutoFit/>
            </a:bodyPr>
            <a:lstStyle/>
            <a:p>
              <a:r>
                <a:rPr lang="en-CA" sz="1100" b="1" dirty="0">
                  <a:solidFill>
                    <a:schemeClr val="tx1"/>
                  </a:solidFill>
                  <a:cs typeface="Arial"/>
                </a:rPr>
                <a:t>Server</a:t>
              </a:r>
            </a:p>
          </p:txBody>
        </p:sp>
        <p:sp>
          <p:nvSpPr>
            <p:cNvPr id="16" name="TextBox 15"/>
            <p:cNvSpPr txBox="1"/>
            <p:nvPr/>
          </p:nvSpPr>
          <p:spPr>
            <a:xfrm>
              <a:off x="7512863" y="3880604"/>
              <a:ext cx="545711" cy="221498"/>
            </a:xfrm>
            <a:prstGeom prst="rect">
              <a:avLst/>
            </a:prstGeom>
            <a:noFill/>
          </p:spPr>
          <p:txBody>
            <a:bodyPr wrap="none" rtlCol="0">
              <a:spAutoFit/>
            </a:bodyPr>
            <a:lstStyle/>
            <a:p>
              <a:r>
                <a:rPr lang="en-CA" sz="1100" b="1" dirty="0">
                  <a:solidFill>
                    <a:schemeClr val="tx1"/>
                  </a:solidFill>
                  <a:cs typeface="Arial"/>
                </a:rPr>
                <a:t>FortiGate</a:t>
              </a:r>
            </a:p>
          </p:txBody>
        </p:sp>
        <p:sp>
          <p:nvSpPr>
            <p:cNvPr id="17" name="TextBox 16"/>
            <p:cNvSpPr txBox="1"/>
            <p:nvPr/>
          </p:nvSpPr>
          <p:spPr>
            <a:xfrm>
              <a:off x="7023310" y="4199110"/>
              <a:ext cx="267022" cy="182410"/>
            </a:xfrm>
            <a:prstGeom prst="rect">
              <a:avLst/>
            </a:prstGeom>
            <a:noFill/>
          </p:spPr>
          <p:txBody>
            <a:bodyPr wrap="none" rtlCol="0">
              <a:spAutoFit/>
            </a:bodyPr>
            <a:lstStyle/>
            <a:p>
              <a:r>
                <a:rPr lang="en-CA" sz="800" dirty="0">
                  <a:solidFill>
                    <a:schemeClr val="tx1"/>
                  </a:solidFill>
                  <a:cs typeface="Arial"/>
                </a:rPr>
                <a:t>SYN</a:t>
              </a:r>
            </a:p>
          </p:txBody>
        </p:sp>
        <p:sp>
          <p:nvSpPr>
            <p:cNvPr id="18" name="TextBox 17"/>
            <p:cNvSpPr txBox="1"/>
            <p:nvPr/>
          </p:nvSpPr>
          <p:spPr>
            <a:xfrm>
              <a:off x="6885451" y="4403389"/>
              <a:ext cx="432292" cy="182410"/>
            </a:xfrm>
            <a:prstGeom prst="rect">
              <a:avLst/>
            </a:prstGeom>
            <a:noFill/>
          </p:spPr>
          <p:txBody>
            <a:bodyPr wrap="none" rtlCol="0">
              <a:spAutoFit/>
            </a:bodyPr>
            <a:lstStyle/>
            <a:p>
              <a:r>
                <a:rPr lang="en-CA" sz="800" dirty="0">
                  <a:solidFill>
                    <a:schemeClr val="tx1"/>
                  </a:solidFill>
                  <a:cs typeface="Arial"/>
                </a:rPr>
                <a:t>SYN-ACK</a:t>
              </a:r>
            </a:p>
          </p:txBody>
        </p:sp>
        <p:sp>
          <p:nvSpPr>
            <p:cNvPr id="19" name="TextBox 18"/>
            <p:cNvSpPr txBox="1"/>
            <p:nvPr/>
          </p:nvSpPr>
          <p:spPr>
            <a:xfrm>
              <a:off x="8441963" y="4809768"/>
              <a:ext cx="267022" cy="182410"/>
            </a:xfrm>
            <a:prstGeom prst="rect">
              <a:avLst/>
            </a:prstGeom>
            <a:noFill/>
          </p:spPr>
          <p:txBody>
            <a:bodyPr wrap="none" rtlCol="0">
              <a:spAutoFit/>
            </a:bodyPr>
            <a:lstStyle/>
            <a:p>
              <a:r>
                <a:rPr lang="en-CA" sz="800" dirty="0">
                  <a:solidFill>
                    <a:schemeClr val="tx1"/>
                  </a:solidFill>
                  <a:cs typeface="Arial"/>
                </a:rPr>
                <a:t>SYN</a:t>
              </a:r>
            </a:p>
          </p:txBody>
        </p:sp>
        <p:sp>
          <p:nvSpPr>
            <p:cNvPr id="20" name="TextBox 19"/>
            <p:cNvSpPr txBox="1"/>
            <p:nvPr/>
          </p:nvSpPr>
          <p:spPr>
            <a:xfrm>
              <a:off x="8322171" y="5037820"/>
              <a:ext cx="432292" cy="182410"/>
            </a:xfrm>
            <a:prstGeom prst="rect">
              <a:avLst/>
            </a:prstGeom>
            <a:noFill/>
          </p:spPr>
          <p:txBody>
            <a:bodyPr wrap="none" rtlCol="0">
              <a:spAutoFit/>
            </a:bodyPr>
            <a:lstStyle/>
            <a:p>
              <a:r>
                <a:rPr lang="en-CA" sz="800" dirty="0">
                  <a:solidFill>
                    <a:schemeClr val="tx1"/>
                  </a:solidFill>
                  <a:cs typeface="Arial"/>
                </a:rPr>
                <a:t>SYN-ACK</a:t>
              </a:r>
            </a:p>
          </p:txBody>
        </p:sp>
        <p:sp>
          <p:nvSpPr>
            <p:cNvPr id="21" name="TextBox 20"/>
            <p:cNvSpPr txBox="1"/>
            <p:nvPr/>
          </p:nvSpPr>
          <p:spPr>
            <a:xfrm>
              <a:off x="7047211" y="4599217"/>
              <a:ext cx="267022" cy="182410"/>
            </a:xfrm>
            <a:prstGeom prst="rect">
              <a:avLst/>
            </a:prstGeom>
            <a:noFill/>
          </p:spPr>
          <p:txBody>
            <a:bodyPr wrap="none" rtlCol="0">
              <a:spAutoFit/>
            </a:bodyPr>
            <a:lstStyle/>
            <a:p>
              <a:r>
                <a:rPr lang="en-CA" sz="800" dirty="0">
                  <a:solidFill>
                    <a:schemeClr val="tx1"/>
                  </a:solidFill>
                  <a:cs typeface="Arial"/>
                </a:rPr>
                <a:t>ACK</a:t>
              </a:r>
            </a:p>
          </p:txBody>
        </p:sp>
        <p:sp>
          <p:nvSpPr>
            <p:cNvPr id="22" name="TextBox 21"/>
            <p:cNvSpPr txBox="1"/>
            <p:nvPr/>
          </p:nvSpPr>
          <p:spPr>
            <a:xfrm>
              <a:off x="8450714" y="5222170"/>
              <a:ext cx="267022" cy="182410"/>
            </a:xfrm>
            <a:prstGeom prst="rect">
              <a:avLst/>
            </a:prstGeom>
            <a:noFill/>
          </p:spPr>
          <p:txBody>
            <a:bodyPr wrap="none" rtlCol="0">
              <a:spAutoFit/>
            </a:bodyPr>
            <a:lstStyle/>
            <a:p>
              <a:r>
                <a:rPr lang="en-CA" sz="800" dirty="0">
                  <a:solidFill>
                    <a:schemeClr val="tx1"/>
                  </a:solidFill>
                  <a:cs typeface="Arial"/>
                </a:rPr>
                <a:t>ACK</a:t>
              </a:r>
            </a:p>
          </p:txBody>
        </p:sp>
      </p:grpSp>
      <p:sp>
        <p:nvSpPr>
          <p:cNvPr id="24" name="Rectangle 23"/>
          <p:cNvSpPr/>
          <p:nvPr/>
        </p:nvSpPr>
        <p:spPr>
          <a:xfrm>
            <a:off x="609441" y="4826722"/>
            <a:ext cx="3871573" cy="369332"/>
          </a:xfrm>
          <a:prstGeom prst="rect">
            <a:avLst/>
          </a:prstGeom>
          <a:solidFill>
            <a:srgbClr val="00B0F0"/>
          </a:solidFill>
        </p:spPr>
        <p:txBody>
          <a:bodyPr wrap="none">
            <a:spAutoFit/>
          </a:bodyPr>
          <a:lstStyle/>
          <a:p>
            <a:pPr marL="171450" lvl="0" indent="-171450">
              <a:defRPr/>
            </a:pPr>
            <a:r>
              <a:rPr lang="en-CA" b="1" dirty="0">
                <a:cs typeface="Arial"/>
              </a:rPr>
              <a:t>Policy &amp; Objects </a:t>
            </a:r>
            <a:r>
              <a:rPr lang="en-CA" dirty="0">
                <a:cs typeface="Arial"/>
              </a:rPr>
              <a:t>&gt;</a:t>
            </a:r>
            <a:r>
              <a:rPr lang="en-CA" b="1" dirty="0">
                <a:cs typeface="Arial"/>
              </a:rPr>
              <a:t> Firewall Policy</a:t>
            </a:r>
          </a:p>
        </p:txBody>
      </p:sp>
      <p:pic>
        <p:nvPicPr>
          <p:cNvPr id="26" name="Picture 25"/>
          <p:cNvPicPr>
            <a:picLocks noChangeAspect="1"/>
          </p:cNvPicPr>
          <p:nvPr/>
        </p:nvPicPr>
        <p:blipFill>
          <a:blip r:embed="rId4"/>
          <a:stretch>
            <a:fillRect/>
          </a:stretch>
        </p:blipFill>
        <p:spPr>
          <a:xfrm>
            <a:off x="609441" y="5220879"/>
            <a:ext cx="6390476" cy="876190"/>
          </a:xfrm>
          <a:prstGeom prst="rect">
            <a:avLst/>
          </a:prstGeom>
          <a:ln>
            <a:solidFill>
              <a:srgbClr val="000000"/>
            </a:solidFill>
          </a:ln>
        </p:spPr>
      </p:pic>
    </p:spTree>
    <p:custDataLst>
      <p:tags r:id="rId1"/>
    </p:custDataLst>
    <p:extLst>
      <p:ext uri="{BB962C8B-B14F-4D97-AF65-F5344CB8AC3E}">
        <p14:creationId xmlns:p14="http://schemas.microsoft.com/office/powerpoint/2010/main" val="636176507"/>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NGFW Mode</a:t>
            </a:r>
            <a:endParaRPr lang="en-CA" dirty="0"/>
          </a:p>
        </p:txBody>
      </p:sp>
      <p:sp>
        <p:nvSpPr>
          <p:cNvPr id="3" name="Content Placeholder 2"/>
          <p:cNvSpPr>
            <a:spLocks noGrp="1"/>
          </p:cNvSpPr>
          <p:nvPr>
            <p:ph idx="1"/>
          </p:nvPr>
        </p:nvSpPr>
        <p:spPr/>
        <p:txBody>
          <a:bodyPr>
            <a:normAutofit/>
          </a:bodyPr>
          <a:lstStyle/>
          <a:p>
            <a:r>
              <a:rPr lang="en-US" dirty="0"/>
              <a:t>Features two modes:</a:t>
            </a:r>
          </a:p>
          <a:p>
            <a:pPr lvl="1"/>
            <a:r>
              <a:rPr lang="en-US" dirty="0" smtClean="0"/>
              <a:t>Profile-based</a:t>
            </a:r>
            <a:endParaRPr lang="en-US" dirty="0"/>
          </a:p>
          <a:p>
            <a:pPr lvl="2"/>
            <a:r>
              <a:rPr lang="en-US" dirty="0"/>
              <a:t>Requires application control and web filtering profiles</a:t>
            </a:r>
          </a:p>
          <a:p>
            <a:pPr lvl="2"/>
            <a:r>
              <a:rPr lang="en-US" dirty="0"/>
              <a:t>Apply the profiles to the policy</a:t>
            </a:r>
          </a:p>
          <a:p>
            <a:pPr lvl="2"/>
            <a:r>
              <a:rPr lang="en-US" dirty="0"/>
              <a:t>Applicable to proxy-based and flow-based inspection modes</a:t>
            </a:r>
          </a:p>
          <a:p>
            <a:pPr lvl="1"/>
            <a:r>
              <a:rPr lang="en-US" dirty="0" smtClean="0"/>
              <a:t>Policy-based</a:t>
            </a:r>
            <a:endParaRPr lang="en-US" dirty="0"/>
          </a:p>
          <a:p>
            <a:pPr lvl="2"/>
            <a:r>
              <a:rPr lang="en-US" dirty="0"/>
              <a:t>Application control and web filtering applied directly to the policy</a:t>
            </a:r>
          </a:p>
          <a:p>
            <a:pPr lvl="2"/>
            <a:r>
              <a:rPr lang="en-US" dirty="0"/>
              <a:t>Does not require application control and web filtering profiles</a:t>
            </a:r>
          </a:p>
          <a:p>
            <a:pPr lvl="2"/>
            <a:r>
              <a:rPr lang="en-US" dirty="0"/>
              <a:t>Applicable only to flow-based inspection mode</a:t>
            </a:r>
          </a:p>
          <a:p>
            <a:r>
              <a:rPr lang="en-CA" dirty="0"/>
              <a:t>Antivirus configuration is always profile based, regardless of the NGFW mode selection</a:t>
            </a:r>
          </a:p>
          <a:p>
            <a:r>
              <a:rPr lang="en-US" dirty="0"/>
              <a:t>Set the NGFW policy-based mode in the system settings of FortiGate or VDOM</a:t>
            </a:r>
          </a:p>
        </p:txBody>
      </p:sp>
      <p:sp>
        <p:nvSpPr>
          <p:cNvPr id="6" name="Rectangle 5"/>
          <p:cNvSpPr/>
          <p:nvPr/>
        </p:nvSpPr>
        <p:spPr>
          <a:xfrm>
            <a:off x="1236920" y="4642832"/>
            <a:ext cx="2178802" cy="369332"/>
          </a:xfrm>
          <a:prstGeom prst="rect">
            <a:avLst/>
          </a:prstGeom>
          <a:solidFill>
            <a:srgbClr val="00B0F0"/>
          </a:solidFill>
        </p:spPr>
        <p:txBody>
          <a:bodyPr wrap="none">
            <a:spAutoFit/>
          </a:bodyPr>
          <a:lstStyle/>
          <a:p>
            <a:pPr marL="171450" lvl="0" indent="-171450">
              <a:defRPr/>
            </a:pPr>
            <a:r>
              <a:rPr lang="en-CA" b="1" dirty="0">
                <a:cs typeface="Arial"/>
              </a:rPr>
              <a:t>System </a:t>
            </a:r>
            <a:r>
              <a:rPr lang="en-CA" dirty="0">
                <a:cs typeface="Arial"/>
              </a:rPr>
              <a:t>&gt;</a:t>
            </a:r>
            <a:r>
              <a:rPr lang="en-CA" b="1" dirty="0">
                <a:cs typeface="Arial"/>
              </a:rPr>
              <a:t> Settings</a:t>
            </a:r>
          </a:p>
        </p:txBody>
      </p:sp>
      <p:pic>
        <p:nvPicPr>
          <p:cNvPr id="4" name="Picture 3"/>
          <p:cNvPicPr>
            <a:picLocks noChangeAspect="1"/>
          </p:cNvPicPr>
          <p:nvPr/>
        </p:nvPicPr>
        <p:blipFill>
          <a:blip r:embed="rId4"/>
          <a:stretch>
            <a:fillRect/>
          </a:stretch>
        </p:blipFill>
        <p:spPr>
          <a:xfrm>
            <a:off x="1236920" y="5068808"/>
            <a:ext cx="6200000" cy="1028571"/>
          </a:xfrm>
          <a:prstGeom prst="rect">
            <a:avLst/>
          </a:prstGeom>
          <a:ln>
            <a:solidFill>
              <a:srgbClr val="000000"/>
            </a:solidFill>
          </a:ln>
        </p:spPr>
      </p:pic>
    </p:spTree>
    <p:custDataLst>
      <p:tags r:id="rId1"/>
    </p:custDataLst>
    <p:extLst>
      <p:ext uri="{BB962C8B-B14F-4D97-AF65-F5344CB8AC3E}">
        <p14:creationId xmlns:p14="http://schemas.microsoft.com/office/powerpoint/2010/main" val="4074822803"/>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NGFW Mode</a:t>
            </a:r>
            <a:r>
              <a:rPr lang="en-CA" dirty="0"/>
              <a:t>—</a:t>
            </a:r>
            <a:r>
              <a:rPr lang="en-US" dirty="0" smtClean="0"/>
              <a:t>Policy Based</a:t>
            </a:r>
            <a:endParaRPr lang="en-US" dirty="0"/>
          </a:p>
        </p:txBody>
      </p:sp>
      <p:sp>
        <p:nvSpPr>
          <p:cNvPr id="3" name="Content Placeholder 2"/>
          <p:cNvSpPr>
            <a:spLocks noGrp="1"/>
          </p:cNvSpPr>
          <p:nvPr>
            <p:ph idx="1"/>
          </p:nvPr>
        </p:nvSpPr>
        <p:spPr/>
        <p:txBody>
          <a:bodyPr/>
          <a:lstStyle/>
          <a:p>
            <a:r>
              <a:rPr lang="en-US" dirty="0"/>
              <a:t>Security policy and SSL Inspection &amp; Authentication (consolidated) policy must be configured</a:t>
            </a:r>
          </a:p>
          <a:p>
            <a:r>
              <a:rPr lang="en-US" dirty="0"/>
              <a:t>Traffic to match SSL Inspection &amp; Authentication policy first</a:t>
            </a:r>
          </a:p>
          <a:p>
            <a:pPr lvl="1"/>
            <a:r>
              <a:rPr lang="en-US" dirty="0"/>
              <a:t>If allowed, then to inspect </a:t>
            </a:r>
            <a:r>
              <a:rPr lang="en-US" dirty="0" smtClean="0"/>
              <a:t>applications, URL categories and groups </a:t>
            </a:r>
            <a:r>
              <a:rPr lang="en-US" dirty="0"/>
              <a:t>configured on security policy</a:t>
            </a:r>
          </a:p>
          <a:p>
            <a:pPr lvl="1"/>
            <a:r>
              <a:rPr lang="en-US" dirty="0"/>
              <a:t>Inspect traffic with additional security </a:t>
            </a:r>
            <a:r>
              <a:rPr lang="en-US" dirty="0" smtClean="0"/>
              <a:t>profiles, </a:t>
            </a:r>
            <a:r>
              <a:rPr lang="en-US" dirty="0"/>
              <a:t>if </a:t>
            </a:r>
            <a:r>
              <a:rPr lang="en-US" dirty="0" smtClean="0"/>
              <a:t>enabled, </a:t>
            </a:r>
            <a:r>
              <a:rPr lang="en-US" dirty="0"/>
              <a:t>such as </a:t>
            </a:r>
            <a:r>
              <a:rPr lang="en-US" dirty="0" smtClean="0"/>
              <a:t>AV, IPS, and file filter</a:t>
            </a:r>
            <a:endParaRPr lang="en-US" dirty="0"/>
          </a:p>
          <a:p>
            <a:pPr lvl="1"/>
            <a:r>
              <a:rPr lang="en-US" dirty="0" smtClean="0"/>
              <a:t>Can use users </a:t>
            </a:r>
            <a:r>
              <a:rPr lang="en-US" dirty="0"/>
              <a:t>and groups </a:t>
            </a:r>
            <a:r>
              <a:rPr lang="en-US" dirty="0" smtClean="0"/>
              <a:t>if </a:t>
            </a:r>
            <a:r>
              <a:rPr lang="en-US" dirty="0"/>
              <a:t>authentication is required</a:t>
            </a:r>
          </a:p>
          <a:p>
            <a:r>
              <a:rPr lang="en-US" dirty="0"/>
              <a:t>Available actions in security policy: </a:t>
            </a:r>
            <a:r>
              <a:rPr lang="en-US" b="1" dirty="0" smtClean="0"/>
              <a:t>ACCEPT</a:t>
            </a:r>
            <a:r>
              <a:rPr lang="en-US" dirty="0" smtClean="0"/>
              <a:t> </a:t>
            </a:r>
            <a:r>
              <a:rPr lang="en-US" dirty="0"/>
              <a:t>or </a:t>
            </a:r>
            <a:r>
              <a:rPr lang="en-US" b="1" dirty="0" smtClean="0"/>
              <a:t>DENY</a:t>
            </a:r>
            <a:endParaRPr lang="en-US" b="1" dirty="0"/>
          </a:p>
          <a:p>
            <a:r>
              <a:rPr lang="en-US" dirty="0"/>
              <a:t>SSL inspection profile to be selected in the consolidated policy</a:t>
            </a:r>
          </a:p>
        </p:txBody>
      </p:sp>
      <p:sp>
        <p:nvSpPr>
          <p:cNvPr id="7" name="TextBox 6"/>
          <p:cNvSpPr txBox="1"/>
          <p:nvPr/>
        </p:nvSpPr>
        <p:spPr>
          <a:xfrm>
            <a:off x="1930857" y="3900142"/>
            <a:ext cx="5267660" cy="338554"/>
          </a:xfrm>
          <a:prstGeom prst="rect">
            <a:avLst/>
          </a:prstGeom>
          <a:solidFill>
            <a:srgbClr val="00B0F0"/>
          </a:solidFill>
        </p:spPr>
        <p:txBody>
          <a:bodyPr wrap="none" rtlCol="0">
            <a:spAutoFit/>
          </a:bodyPr>
          <a:lstStyle/>
          <a:p>
            <a:r>
              <a:rPr lang="en-CA" sz="1600" b="1" dirty="0"/>
              <a:t>Policy &amp; Objects </a:t>
            </a:r>
            <a:r>
              <a:rPr lang="en-CA" sz="1600" dirty="0"/>
              <a:t>&gt;</a:t>
            </a:r>
            <a:r>
              <a:rPr lang="en-CA" sz="1600" b="1" dirty="0"/>
              <a:t> SSL Inspection &amp; Authentication</a:t>
            </a:r>
          </a:p>
        </p:txBody>
      </p:sp>
      <p:sp>
        <p:nvSpPr>
          <p:cNvPr id="10" name="TextBox 9"/>
          <p:cNvSpPr txBox="1"/>
          <p:nvPr/>
        </p:nvSpPr>
        <p:spPr>
          <a:xfrm>
            <a:off x="8594210" y="2768905"/>
            <a:ext cx="3512500" cy="338554"/>
          </a:xfrm>
          <a:prstGeom prst="rect">
            <a:avLst/>
          </a:prstGeom>
          <a:solidFill>
            <a:srgbClr val="00B0F0"/>
          </a:solidFill>
        </p:spPr>
        <p:txBody>
          <a:bodyPr wrap="none" rtlCol="0">
            <a:spAutoFit/>
          </a:bodyPr>
          <a:lstStyle/>
          <a:p>
            <a:r>
              <a:rPr lang="en-CA" sz="1600" b="1" dirty="0"/>
              <a:t>Policy &amp; Objects </a:t>
            </a:r>
            <a:r>
              <a:rPr lang="en-CA" sz="1600" dirty="0"/>
              <a:t>&gt;</a:t>
            </a:r>
            <a:r>
              <a:rPr lang="en-CA" sz="1600" b="1" dirty="0"/>
              <a:t> Security Policy</a:t>
            </a:r>
          </a:p>
        </p:txBody>
      </p:sp>
      <p:pic>
        <p:nvPicPr>
          <p:cNvPr id="4" name="Picture 3"/>
          <p:cNvPicPr>
            <a:picLocks noChangeAspect="1"/>
          </p:cNvPicPr>
          <p:nvPr/>
        </p:nvPicPr>
        <p:blipFill>
          <a:blip r:embed="rId3"/>
          <a:stretch>
            <a:fillRect/>
          </a:stretch>
        </p:blipFill>
        <p:spPr>
          <a:xfrm>
            <a:off x="8594210" y="3160349"/>
            <a:ext cx="2583285" cy="3488030"/>
          </a:xfrm>
          <a:prstGeom prst="rect">
            <a:avLst/>
          </a:prstGeom>
          <a:ln>
            <a:solidFill>
              <a:schemeClr val="tx1"/>
            </a:solidFill>
          </a:ln>
        </p:spPr>
      </p:pic>
      <p:pic>
        <p:nvPicPr>
          <p:cNvPr id="6" name="Picture 5"/>
          <p:cNvPicPr>
            <a:picLocks noChangeAspect="1"/>
          </p:cNvPicPr>
          <p:nvPr/>
        </p:nvPicPr>
        <p:blipFill>
          <a:blip r:embed="rId4"/>
          <a:stretch>
            <a:fillRect/>
          </a:stretch>
        </p:blipFill>
        <p:spPr>
          <a:xfrm>
            <a:off x="1930857" y="4325110"/>
            <a:ext cx="2600199" cy="2241381"/>
          </a:xfrm>
          <a:prstGeom prst="rect">
            <a:avLst/>
          </a:prstGeom>
          <a:ln>
            <a:solidFill>
              <a:schemeClr val="tx1"/>
            </a:solidFill>
          </a:ln>
        </p:spPr>
      </p:pic>
    </p:spTree>
    <p:extLst>
      <p:ext uri="{BB962C8B-B14F-4D97-AF65-F5344CB8AC3E}">
        <p14:creationId xmlns:p14="http://schemas.microsoft.com/office/powerpoint/2010/main" val="1601101747"/>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a:r>
              <a:rPr lang="en-CA" dirty="0" smtClean="0"/>
              <a:t>How </a:t>
            </a:r>
            <a:r>
              <a:rPr lang="en-CA" dirty="0"/>
              <a:t>does NGFW policy-based mode differ from profile-based mode?</a:t>
            </a:r>
          </a:p>
          <a:p>
            <a:pPr marL="838133" lvl="1" indent="-457200">
              <a:buFont typeface="+mj-lt"/>
              <a:buAutoNum type="alphaUcPeriod"/>
            </a:pPr>
            <a:r>
              <a:rPr lang="en-CA" dirty="0"/>
              <a:t>Policy-based flow inspection supports web profile overrides.</a:t>
            </a:r>
          </a:p>
          <a:p>
            <a:pPr marL="838133" lvl="1" indent="-457200">
              <a:buFont typeface="+mj-lt"/>
              <a:buAutoNum type="alphaUcPeriod"/>
            </a:pPr>
            <a:r>
              <a:rPr lang="en-CA" dirty="0"/>
              <a:t>Policy-based flow inspection defines URL filters directly in the firewall policy.</a:t>
            </a:r>
          </a:p>
          <a:p>
            <a:pPr marL="380933" lvl="1" indent="0">
              <a:buNone/>
            </a:pPr>
            <a:endParaRPr lang="en-US" dirty="0"/>
          </a:p>
          <a:p>
            <a:pPr marL="457200" indent="-457200">
              <a:buFont typeface="+mj-lt"/>
              <a:buAutoNum type="arabicPeriod"/>
            </a:pPr>
            <a:r>
              <a:rPr lang="en-CA" dirty="0"/>
              <a:t>Which </a:t>
            </a:r>
            <a:r>
              <a:rPr lang="en-CA" dirty="0" smtClean="0"/>
              <a:t>statement </a:t>
            </a:r>
            <a:r>
              <a:rPr lang="en-CA" dirty="0"/>
              <a:t>about proxy-based web filtering is true?</a:t>
            </a:r>
          </a:p>
          <a:p>
            <a:pPr marL="838133" lvl="1" indent="-457200">
              <a:buFont typeface="+mj-lt"/>
              <a:buAutoNum type="alphaUcPeriod"/>
            </a:pPr>
            <a:r>
              <a:rPr lang="en-CA" dirty="0"/>
              <a:t>It requires more resources than flow-based</a:t>
            </a:r>
          </a:p>
          <a:p>
            <a:pPr marL="838133" lvl="1" indent="-457200">
              <a:buFont typeface="+mj-lt"/>
              <a:buAutoNum type="alphaUcPeriod"/>
            </a:pPr>
            <a:r>
              <a:rPr lang="en-CA" dirty="0"/>
              <a:t>It transparently analyzes the TCP flow of the traffic</a:t>
            </a:r>
          </a:p>
          <a:p>
            <a:pPr marL="380933" lvl="1" indent="0">
              <a:buNone/>
            </a:pPr>
            <a:endParaRPr lang="en-CA" dirty="0"/>
          </a:p>
          <a:p>
            <a:pPr marL="838133" lvl="1" indent="-457200">
              <a:buFont typeface="+mj-lt"/>
              <a:buAutoNum type="alphaUcPeriod"/>
            </a:pPr>
            <a:endParaRPr lang="en-CA"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169" y="1703932"/>
            <a:ext cx="270469" cy="28912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593" y="2724986"/>
            <a:ext cx="293619" cy="313868"/>
          </a:xfrm>
          <a:prstGeom prst="rect">
            <a:avLst/>
          </a:prstGeom>
        </p:spPr>
      </p:pic>
    </p:spTree>
    <p:custDataLst>
      <p:tags r:id="rId1"/>
    </p:custDataLst>
    <p:extLst>
      <p:ext uri="{BB962C8B-B14F-4D97-AF65-F5344CB8AC3E}">
        <p14:creationId xmlns:p14="http://schemas.microsoft.com/office/powerpoint/2010/main" val="25864135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4"/>
          <p:cNvGraphicFramePr>
            <a:graphicFrameLocks noGrp="1"/>
          </p:cNvGraphicFramePr>
          <p:nvPr>
            <p:ph type="dgm" sz="quarter" idx="10"/>
            <p:extLst>
              <p:ext uri="{D42A27DB-BD31-4B8C-83A1-F6EECF244321}">
                <p14:modId xmlns:p14="http://schemas.microsoft.com/office/powerpoint/2010/main" val="3859436227"/>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6242" y="1683914"/>
            <a:ext cx="552381" cy="590476"/>
          </a:xfrm>
          <a:prstGeom prst="rect">
            <a:avLst/>
          </a:prstGeom>
        </p:spPr>
      </p:pic>
    </p:spTree>
    <p:custDataLst>
      <p:tags r:id="rId1"/>
    </p:custDataLst>
    <p:extLst>
      <p:ext uri="{BB962C8B-B14F-4D97-AF65-F5344CB8AC3E}">
        <p14:creationId xmlns:p14="http://schemas.microsoft.com/office/powerpoint/2010/main" val="2898989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Web Filtering Basics</a:t>
            </a:r>
          </a:p>
        </p:txBody>
      </p:sp>
      <p:sp>
        <p:nvSpPr>
          <p:cNvPr id="2" name="Text Placeholder 1"/>
          <p:cNvSpPr>
            <a:spLocks noGrp="1"/>
          </p:cNvSpPr>
          <p:nvPr>
            <p:ph type="body" sz="quarter" idx="11"/>
          </p:nvPr>
        </p:nvSpPr>
        <p:spPr/>
        <p:txBody>
          <a:bodyPr>
            <a:normAutofit/>
          </a:bodyPr>
          <a:lstStyle/>
          <a:p>
            <a:r>
              <a:rPr lang="en-CA" dirty="0"/>
              <a:t>Describe web filter profiles</a:t>
            </a:r>
          </a:p>
          <a:p>
            <a:r>
              <a:rPr lang="en-CA" dirty="0"/>
              <a:t>Work with web filter categories</a:t>
            </a:r>
          </a:p>
          <a:p>
            <a:endParaRPr lang="en-CA" dirty="0"/>
          </a:p>
        </p:txBody>
      </p:sp>
    </p:spTree>
    <p:custDataLst>
      <p:tags r:id="rId1"/>
    </p:custDataLst>
    <p:extLst>
      <p:ext uri="{BB962C8B-B14F-4D97-AF65-F5344CB8AC3E}">
        <p14:creationId xmlns:p14="http://schemas.microsoft.com/office/powerpoint/2010/main" val="309158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r>
              <a:rPr lang="en-US" dirty="0"/>
              <a:t>Why Apply Web Filtering?</a:t>
            </a:r>
          </a:p>
        </p:txBody>
      </p:sp>
      <p:sp>
        <p:nvSpPr>
          <p:cNvPr id="1598467" name="Rectangle 3"/>
          <p:cNvSpPr>
            <a:spLocks noGrp="1" noChangeArrowheads="1"/>
          </p:cNvSpPr>
          <p:nvPr>
            <p:ph idx="1"/>
          </p:nvPr>
        </p:nvSpPr>
        <p:spPr/>
        <p:txBody>
          <a:bodyPr/>
          <a:lstStyle/>
          <a:p>
            <a:r>
              <a:rPr lang="en-US" dirty="0"/>
              <a:t>Mitigate the negative effects of inappropriate web content</a:t>
            </a:r>
          </a:p>
          <a:p>
            <a:r>
              <a:rPr lang="en-US" dirty="0"/>
              <a:t>Preserve employee productivity </a:t>
            </a:r>
          </a:p>
          <a:p>
            <a:r>
              <a:rPr lang="en-US" dirty="0"/>
              <a:t>Prevent network congestion</a:t>
            </a:r>
          </a:p>
          <a:p>
            <a:r>
              <a:rPr lang="en-US" dirty="0"/>
              <a:t>Prevent data loss and exposure of confidential information</a:t>
            </a:r>
          </a:p>
          <a:p>
            <a:r>
              <a:rPr lang="en-US" dirty="0"/>
              <a:t>Decrease exposure to </a:t>
            </a:r>
            <a:r>
              <a:rPr lang="en-US" dirty="0" smtClean="0"/>
              <a:t>web-based </a:t>
            </a:r>
            <a:r>
              <a:rPr lang="en-US" dirty="0"/>
              <a:t>threats</a:t>
            </a:r>
          </a:p>
          <a:p>
            <a:r>
              <a:rPr lang="en-US" dirty="0"/>
              <a:t>Prevent copyright infringement</a:t>
            </a:r>
          </a:p>
          <a:p>
            <a:r>
              <a:rPr lang="en-US" dirty="0"/>
              <a:t>Prevent viewing of inappropriate or offensive material</a:t>
            </a:r>
          </a:p>
        </p:txBody>
      </p:sp>
      <p:pic>
        <p:nvPicPr>
          <p:cNvPr id="4" name="Picture 3"/>
          <p:cNvPicPr>
            <a:picLocks noChangeAspect="1"/>
          </p:cNvPicPr>
          <p:nvPr/>
        </p:nvPicPr>
        <p:blipFill>
          <a:blip r:embed="rId4" cstate="print"/>
          <a:stretch>
            <a:fillRect/>
          </a:stretch>
        </p:blipFill>
        <p:spPr>
          <a:xfrm>
            <a:off x="8990408" y="3825510"/>
            <a:ext cx="1454315" cy="1542325"/>
          </a:xfrm>
          <a:prstGeom prst="rect">
            <a:avLst/>
          </a:prstGeom>
        </p:spPr>
      </p:pic>
    </p:spTree>
    <p:custDataLst>
      <p:tags r:id="rId1"/>
    </p:custDataLst>
    <p:extLst>
      <p:ext uri="{BB962C8B-B14F-4D97-AF65-F5344CB8AC3E}">
        <p14:creationId xmlns:p14="http://schemas.microsoft.com/office/powerpoint/2010/main" val="2939612214"/>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3" name="Content Placeholder 11272"/>
          <p:cNvSpPr>
            <a:spLocks noGrp="1"/>
          </p:cNvSpPr>
          <p:nvPr>
            <p:ph idx="15"/>
          </p:nvPr>
        </p:nvSpPr>
        <p:spPr>
          <a:xfrm>
            <a:off x="8836898" y="2076552"/>
            <a:ext cx="2844059" cy="3790848"/>
          </a:xfrm>
          <a:prstGeom prst="rect">
            <a:avLst/>
          </a:prstGeom>
          <a:solidFill>
            <a:schemeClr val="bg1">
              <a:lumMod val="95000"/>
            </a:schemeClr>
          </a:solidFill>
        </p:spPr>
        <p:txBody>
          <a:bodyPr lIns="121899" tIns="60949" rIns="121899" bIns="60949"/>
          <a:lstStyle/>
          <a:p>
            <a:pPr marL="0" indent="0" algn="ctr">
              <a:buNone/>
            </a:pPr>
            <a:r>
              <a:rPr lang="en-US" dirty="0">
                <a:solidFill>
                  <a:srgbClr val="FF0000"/>
                </a:solidFill>
              </a:rPr>
              <a:t>Filtering is based on request</a:t>
            </a:r>
          </a:p>
          <a:p>
            <a:endParaRPr lang="en-US" sz="1900" dirty="0"/>
          </a:p>
          <a:p>
            <a:r>
              <a:rPr lang="en-US" dirty="0"/>
              <a:t>Web Filter:</a:t>
            </a:r>
          </a:p>
          <a:p>
            <a:pPr lvl="1"/>
            <a:r>
              <a:rPr lang="en-US" dirty="0">
                <a:latin typeface="Courier New" panose="02070309020205020404" pitchFamily="49" charset="0"/>
                <a:cs typeface="Courier New" panose="02070309020205020404" pitchFamily="49" charset="0"/>
              </a:rPr>
              <a:t> HTTP GET</a:t>
            </a:r>
          </a:p>
        </p:txBody>
      </p:sp>
      <p:sp>
        <p:nvSpPr>
          <p:cNvPr id="11266" name="Rectangle 2"/>
          <p:cNvSpPr>
            <a:spLocks noGrp="1" noChangeArrowheads="1"/>
          </p:cNvSpPr>
          <p:nvPr>
            <p:ph type="title"/>
          </p:nvPr>
        </p:nvSpPr>
        <p:spPr/>
        <p:txBody>
          <a:bodyPr>
            <a:normAutofit/>
          </a:bodyPr>
          <a:lstStyle/>
          <a:p>
            <a:r>
              <a:rPr lang="en-US" dirty="0"/>
              <a:t>When Does Web Filtering Activate?</a:t>
            </a:r>
          </a:p>
        </p:txBody>
      </p:sp>
      <p:sp>
        <p:nvSpPr>
          <p:cNvPr id="13" name="Text Box 41"/>
          <p:cNvSpPr txBox="1">
            <a:spLocks noChangeArrowheads="1"/>
          </p:cNvSpPr>
          <p:nvPr/>
        </p:nvSpPr>
        <p:spPr bwMode="auto">
          <a:xfrm>
            <a:off x="1200588" y="1518920"/>
            <a:ext cx="2220543" cy="45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400" b="1">
                <a:solidFill>
                  <a:schemeClr val="tx1"/>
                </a:solidFill>
                <a:latin typeface="Arial" charset="0"/>
                <a:ea typeface="MS PGothic" pitchFamily="34" charset="-128"/>
              </a:defRPr>
            </a:lvl9pPr>
          </a:lstStyle>
          <a:p>
            <a:r>
              <a:rPr lang="en-US" sz="2100" b="0" dirty="0">
                <a:latin typeface="Courier New" pitchFamily="49" charset="0"/>
              </a:rPr>
              <a:t>www.acme.com</a:t>
            </a:r>
          </a:p>
        </p:txBody>
      </p:sp>
      <p:sp>
        <p:nvSpPr>
          <p:cNvPr id="19" name="TextBox 18"/>
          <p:cNvSpPr txBox="1"/>
          <p:nvPr/>
        </p:nvSpPr>
        <p:spPr>
          <a:xfrm>
            <a:off x="1133713" y="2469596"/>
            <a:ext cx="2437765" cy="415476"/>
          </a:xfrm>
          <a:prstGeom prst="rect">
            <a:avLst/>
          </a:prstGeom>
          <a:noFill/>
        </p:spPr>
        <p:txBody>
          <a:bodyPr wrap="square" lIns="121899" tIns="60949" rIns="121899" bIns="60949" rtlCol="0">
            <a:spAutoFit/>
          </a:bodyPr>
          <a:lstStyle/>
          <a:p>
            <a:r>
              <a:rPr lang="en-US" sz="1900" dirty="0">
                <a:solidFill>
                  <a:schemeClr val="bg1">
                    <a:lumMod val="75000"/>
                  </a:schemeClr>
                </a:solidFill>
                <a:cs typeface="Helvetica 55 Roman"/>
              </a:rPr>
              <a:t>DNS Request</a:t>
            </a:r>
          </a:p>
        </p:txBody>
      </p:sp>
      <p:sp>
        <p:nvSpPr>
          <p:cNvPr id="29" name="TextBox 28"/>
          <p:cNvSpPr txBox="1"/>
          <p:nvPr/>
        </p:nvSpPr>
        <p:spPr>
          <a:xfrm>
            <a:off x="5236863" y="2921001"/>
            <a:ext cx="3193741" cy="415476"/>
          </a:xfrm>
          <a:prstGeom prst="rect">
            <a:avLst/>
          </a:prstGeom>
          <a:noFill/>
        </p:spPr>
        <p:txBody>
          <a:bodyPr wrap="square" lIns="121899" tIns="60949" rIns="121899" bIns="60949" rtlCol="0">
            <a:spAutoFit/>
          </a:bodyPr>
          <a:lstStyle/>
          <a:p>
            <a:r>
              <a:rPr lang="en-US" sz="1900" dirty="0">
                <a:solidFill>
                  <a:schemeClr val="bg1">
                    <a:lumMod val="75000"/>
                  </a:schemeClr>
                </a:solidFill>
                <a:cs typeface="Helvetica 55 Roman"/>
              </a:rPr>
              <a:t>DNS Response</a:t>
            </a:r>
          </a:p>
        </p:txBody>
      </p:sp>
      <p:sp>
        <p:nvSpPr>
          <p:cNvPr id="20" name="Oval 19"/>
          <p:cNvSpPr/>
          <p:nvPr/>
        </p:nvSpPr>
        <p:spPr bwMode="auto">
          <a:xfrm>
            <a:off x="727417" y="2717800"/>
            <a:ext cx="223979" cy="215696"/>
          </a:xfrm>
          <a:prstGeom prst="ellipse">
            <a:avLst/>
          </a:prstGeom>
          <a:solidFill>
            <a:srgbClr val="00B0F0"/>
          </a:solidFill>
          <a:ln w="9525" cap="flat" cmpd="sng" algn="ctr">
            <a:noFill/>
            <a:prstDash val="solid"/>
            <a:round/>
            <a:headEnd type="none" w="med" len="med"/>
            <a:tailEnd type="none" w="med" len="med"/>
          </a:ln>
          <a:effectLst/>
        </p:spPr>
        <p:style>
          <a:lnRef idx="0">
            <a:scrgbClr r="0" g="0" b="0"/>
          </a:lnRef>
          <a:fillRef idx="1002">
            <a:schemeClr val="lt2"/>
          </a:fillRef>
          <a:effectRef idx="0">
            <a:scrgbClr r="0" g="0" b="0"/>
          </a:effectRef>
          <a:fontRef idx="major"/>
        </p:style>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kumimoji="0" lang="en-US" b="0" i="0" u="none" strike="noStrike" cap="none" normalizeH="0" baseline="0" dirty="0">
              <a:ln>
                <a:noFill/>
              </a:ln>
              <a:solidFill>
                <a:schemeClr val="accent2"/>
              </a:solidFill>
              <a:effectLst/>
              <a:latin typeface="Arial" charset="0"/>
            </a:endParaRPr>
          </a:p>
        </p:txBody>
      </p:sp>
      <p:sp>
        <p:nvSpPr>
          <p:cNvPr id="31" name="Oval 30"/>
          <p:cNvSpPr/>
          <p:nvPr/>
        </p:nvSpPr>
        <p:spPr bwMode="auto">
          <a:xfrm>
            <a:off x="7139575" y="3187136"/>
            <a:ext cx="223979" cy="215696"/>
          </a:xfrm>
          <a:prstGeom prst="ellipse">
            <a:avLst/>
          </a:prstGeom>
          <a:solidFill>
            <a:srgbClr val="00B0F0"/>
          </a:solidFill>
          <a:ln w="9525" cap="flat" cmpd="sng" algn="ctr">
            <a:noFill/>
            <a:prstDash val="solid"/>
            <a:round/>
            <a:headEnd type="none" w="med" len="med"/>
            <a:tailEnd type="none" w="med" len="med"/>
          </a:ln>
          <a:effectLst/>
        </p:spPr>
        <p:style>
          <a:lnRef idx="0">
            <a:scrgbClr r="0" g="0" b="0"/>
          </a:lnRef>
          <a:fillRef idx="1002">
            <a:schemeClr val="lt2"/>
          </a:fillRef>
          <a:effectRef idx="0">
            <a:scrgbClr r="0" g="0" b="0"/>
          </a:effectRef>
          <a:fontRef idx="major"/>
        </p:style>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kumimoji="0" lang="en-US" b="0" i="0" u="none" strike="noStrike" cap="none" normalizeH="0" baseline="0" dirty="0">
              <a:ln>
                <a:noFill/>
              </a:ln>
              <a:solidFill>
                <a:schemeClr val="accent2"/>
              </a:solidFill>
              <a:effectLst/>
              <a:latin typeface="Arial" charset="0"/>
            </a:endParaRPr>
          </a:p>
        </p:txBody>
      </p:sp>
      <p:sp>
        <p:nvSpPr>
          <p:cNvPr id="32" name="Oval 31"/>
          <p:cNvSpPr/>
          <p:nvPr/>
        </p:nvSpPr>
        <p:spPr bwMode="auto">
          <a:xfrm>
            <a:off x="727419" y="3694030"/>
            <a:ext cx="223979" cy="215696"/>
          </a:xfrm>
          <a:prstGeom prst="ellipse">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tileRect/>
          </a:gra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kumimoji="0" lang="en-US" b="0" i="0" u="none" strike="noStrike" cap="none" normalizeH="0" baseline="0" dirty="0">
              <a:ln>
                <a:noFill/>
              </a:ln>
              <a:solidFill>
                <a:schemeClr val="accent2"/>
              </a:solidFill>
              <a:effectLst/>
              <a:latin typeface="Arial" charset="0"/>
            </a:endParaRPr>
          </a:p>
        </p:txBody>
      </p:sp>
      <p:sp>
        <p:nvSpPr>
          <p:cNvPr id="33" name="Oval 32"/>
          <p:cNvSpPr/>
          <p:nvPr/>
        </p:nvSpPr>
        <p:spPr bwMode="auto">
          <a:xfrm>
            <a:off x="7079540" y="4107846"/>
            <a:ext cx="223979" cy="215696"/>
          </a:xfrm>
          <a:prstGeom prst="ellipse">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tileRect/>
          </a:gra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kumimoji="0" lang="en-US" b="0" i="0" u="none" strike="noStrike" cap="none" normalizeH="0" baseline="0" dirty="0">
              <a:ln>
                <a:noFill/>
              </a:ln>
              <a:solidFill>
                <a:schemeClr val="accent2"/>
              </a:solidFill>
              <a:effectLst/>
              <a:latin typeface="Arial" charset="0"/>
            </a:endParaRPr>
          </a:p>
        </p:txBody>
      </p:sp>
      <p:sp>
        <p:nvSpPr>
          <p:cNvPr id="34" name="Oval 33"/>
          <p:cNvSpPr/>
          <p:nvPr/>
        </p:nvSpPr>
        <p:spPr bwMode="auto">
          <a:xfrm>
            <a:off x="727417" y="4513990"/>
            <a:ext cx="223979" cy="215696"/>
          </a:xfrm>
          <a:prstGeom prst="ellipse">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tileRect/>
          </a:gra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kumimoji="0" lang="en-US" b="0" i="0" u="none" strike="noStrike" cap="none" normalizeH="0" baseline="0" dirty="0">
              <a:ln>
                <a:noFill/>
              </a:ln>
              <a:solidFill>
                <a:schemeClr val="accent2"/>
              </a:solidFill>
              <a:effectLst/>
              <a:latin typeface="Arial" charset="0"/>
            </a:endParaRPr>
          </a:p>
        </p:txBody>
      </p:sp>
      <p:sp>
        <p:nvSpPr>
          <p:cNvPr id="36" name="Oval 35"/>
          <p:cNvSpPr/>
          <p:nvPr/>
        </p:nvSpPr>
        <p:spPr bwMode="auto">
          <a:xfrm>
            <a:off x="738093" y="4948789"/>
            <a:ext cx="223979" cy="215696"/>
          </a:xfrm>
          <a:prstGeom prst="ellipse">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tileRect/>
          </a:gra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kumimoji="0" lang="en-US" b="0" i="0" u="none" strike="noStrike" cap="none" normalizeH="0" baseline="0" dirty="0">
              <a:ln>
                <a:noFill/>
              </a:ln>
              <a:solidFill>
                <a:schemeClr val="accent2"/>
              </a:solidFill>
              <a:effectLst/>
              <a:latin typeface="Arial" charset="0"/>
            </a:endParaRPr>
          </a:p>
        </p:txBody>
      </p:sp>
      <p:sp>
        <p:nvSpPr>
          <p:cNvPr id="38" name="TextBox 37"/>
          <p:cNvSpPr txBox="1"/>
          <p:nvPr/>
        </p:nvSpPr>
        <p:spPr>
          <a:xfrm>
            <a:off x="1057662" y="4691399"/>
            <a:ext cx="2437765" cy="415476"/>
          </a:xfrm>
          <a:prstGeom prst="rect">
            <a:avLst/>
          </a:prstGeom>
          <a:noFill/>
        </p:spPr>
        <p:txBody>
          <a:bodyPr wrap="square" lIns="121899" tIns="60949" rIns="121899" bIns="60949" rtlCol="0">
            <a:spAutoFit/>
          </a:bodyPr>
          <a:lstStyle/>
          <a:p>
            <a:r>
              <a:rPr lang="en-US" sz="1900" dirty="0">
                <a:solidFill>
                  <a:srgbClr val="404040"/>
                </a:solidFill>
                <a:cs typeface="Helvetica 55 Roman"/>
              </a:rPr>
              <a:t>HTTP GET</a:t>
            </a:r>
          </a:p>
        </p:txBody>
      </p:sp>
      <p:sp>
        <p:nvSpPr>
          <p:cNvPr id="42" name="TextBox 41"/>
          <p:cNvSpPr txBox="1"/>
          <p:nvPr/>
        </p:nvSpPr>
        <p:spPr>
          <a:xfrm>
            <a:off x="1101021" y="3446799"/>
            <a:ext cx="1266939" cy="415476"/>
          </a:xfrm>
          <a:prstGeom prst="rect">
            <a:avLst/>
          </a:prstGeom>
          <a:noFill/>
        </p:spPr>
        <p:txBody>
          <a:bodyPr wrap="square" lIns="121899" tIns="60949" rIns="121899" bIns="60949" rtlCol="0">
            <a:spAutoFit/>
          </a:bodyPr>
          <a:lstStyle/>
          <a:p>
            <a:r>
              <a:rPr lang="en-US" sz="1900" dirty="0">
                <a:solidFill>
                  <a:srgbClr val="404040"/>
                </a:solidFill>
                <a:cs typeface="Helvetica 55 Roman"/>
              </a:rPr>
              <a:t>SYN</a:t>
            </a:r>
          </a:p>
        </p:txBody>
      </p:sp>
      <p:sp>
        <p:nvSpPr>
          <p:cNvPr id="40" name="TextBox 39"/>
          <p:cNvSpPr txBox="1"/>
          <p:nvPr/>
        </p:nvSpPr>
        <p:spPr>
          <a:xfrm>
            <a:off x="1081680" y="4238995"/>
            <a:ext cx="1266939" cy="415476"/>
          </a:xfrm>
          <a:prstGeom prst="rect">
            <a:avLst/>
          </a:prstGeom>
          <a:noFill/>
        </p:spPr>
        <p:txBody>
          <a:bodyPr wrap="square" lIns="121899" tIns="60949" rIns="121899" bIns="60949" rtlCol="0">
            <a:spAutoFit/>
          </a:bodyPr>
          <a:lstStyle/>
          <a:p>
            <a:r>
              <a:rPr lang="en-US" sz="1900" dirty="0">
                <a:solidFill>
                  <a:srgbClr val="404040"/>
                </a:solidFill>
                <a:cs typeface="Helvetica 55 Roman"/>
              </a:rPr>
              <a:t>ACK</a:t>
            </a:r>
          </a:p>
        </p:txBody>
      </p:sp>
      <p:sp>
        <p:nvSpPr>
          <p:cNvPr id="45" name="TextBox 44"/>
          <p:cNvSpPr txBox="1"/>
          <p:nvPr/>
        </p:nvSpPr>
        <p:spPr>
          <a:xfrm>
            <a:off x="5789693" y="3884296"/>
            <a:ext cx="1873412" cy="415476"/>
          </a:xfrm>
          <a:prstGeom prst="rect">
            <a:avLst/>
          </a:prstGeom>
          <a:noFill/>
        </p:spPr>
        <p:txBody>
          <a:bodyPr wrap="square" lIns="121899" tIns="60949" rIns="121899" bIns="60949" rtlCol="0">
            <a:spAutoFit/>
          </a:bodyPr>
          <a:lstStyle/>
          <a:p>
            <a:r>
              <a:rPr lang="en-US" sz="1900" dirty="0">
                <a:solidFill>
                  <a:srgbClr val="404040"/>
                </a:solidFill>
                <a:cs typeface="Helvetica 55 Roman"/>
              </a:rPr>
              <a:t>SYN/ACK</a:t>
            </a:r>
          </a:p>
        </p:txBody>
      </p:sp>
      <p:cxnSp>
        <p:nvCxnSpPr>
          <p:cNvPr id="3" name="Straight Connector 2"/>
          <p:cNvCxnSpPr/>
          <p:nvPr/>
        </p:nvCxnSpPr>
        <p:spPr bwMode="auto">
          <a:xfrm>
            <a:off x="544587" y="2539213"/>
            <a:ext cx="27187" cy="3108552"/>
          </a:xfrm>
          <a:prstGeom prst="line">
            <a:avLst/>
          </a:prstGeom>
          <a:solidFill>
            <a:schemeClr val="accent2">
              <a:alpha val="42000"/>
            </a:schemeClr>
          </a:solidFill>
          <a:ln w="12700" cap="flat" cmpd="sng" algn="ctr">
            <a:solidFill>
              <a:schemeClr val="bg2"/>
            </a:solidFill>
            <a:prstDash val="lgDash"/>
            <a:round/>
            <a:headEnd type="none" w="med" len="med"/>
            <a:tailEnd type="none" w="med" len="med"/>
          </a:ln>
          <a:effectLst/>
        </p:spPr>
      </p:cxnSp>
      <p:cxnSp>
        <p:nvCxnSpPr>
          <p:cNvPr id="11" name="Straight Connector 10"/>
          <p:cNvCxnSpPr/>
          <p:nvPr/>
        </p:nvCxnSpPr>
        <p:spPr bwMode="auto">
          <a:xfrm>
            <a:off x="7602971" y="2539213"/>
            <a:ext cx="17029" cy="3108552"/>
          </a:xfrm>
          <a:prstGeom prst="line">
            <a:avLst/>
          </a:prstGeom>
          <a:solidFill>
            <a:schemeClr val="accent2">
              <a:alpha val="42000"/>
            </a:schemeClr>
          </a:solidFill>
          <a:ln w="12700" cap="flat" cmpd="sng" algn="ctr">
            <a:solidFill>
              <a:schemeClr val="bg2"/>
            </a:solidFill>
            <a:prstDash val="lgDash"/>
            <a:round/>
            <a:headEnd type="none" w="med" len="med"/>
            <a:tailEnd type="none" w="med" len="med"/>
          </a:ln>
          <a:effectLst/>
        </p:spPr>
      </p:cxnSp>
      <p:cxnSp>
        <p:nvCxnSpPr>
          <p:cNvPr id="12" name="Straight Connector 11"/>
          <p:cNvCxnSpPr/>
          <p:nvPr/>
        </p:nvCxnSpPr>
        <p:spPr bwMode="auto">
          <a:xfrm>
            <a:off x="4081384" y="2539212"/>
            <a:ext cx="32367" cy="3328188"/>
          </a:xfrm>
          <a:prstGeom prst="line">
            <a:avLst/>
          </a:prstGeom>
          <a:solidFill>
            <a:schemeClr val="accent2">
              <a:alpha val="42000"/>
            </a:schemeClr>
          </a:solidFill>
          <a:ln w="12700" cap="flat" cmpd="sng" algn="ctr">
            <a:solidFill>
              <a:schemeClr val="bg2"/>
            </a:solidFill>
            <a:prstDash val="lgDash"/>
            <a:round/>
            <a:headEnd type="none" w="med" len="med"/>
            <a:tailEnd type="none" w="med" len="med"/>
          </a:ln>
          <a:effectLst/>
        </p:spPr>
      </p:cxnSp>
      <p:cxnSp>
        <p:nvCxnSpPr>
          <p:cNvPr id="9" name="Straight Arrow Connector 8"/>
          <p:cNvCxnSpPr/>
          <p:nvPr/>
        </p:nvCxnSpPr>
        <p:spPr bwMode="auto">
          <a:xfrm>
            <a:off x="715384" y="2842219"/>
            <a:ext cx="6840419" cy="0"/>
          </a:xfrm>
          <a:prstGeom prst="straightConnector1">
            <a:avLst/>
          </a:prstGeom>
          <a:solidFill>
            <a:schemeClr val="accent2">
              <a:alpha val="42000"/>
            </a:schemeClr>
          </a:solidFill>
          <a:ln w="9525" cap="flat" cmpd="sng" algn="ctr">
            <a:solidFill>
              <a:schemeClr val="accent6">
                <a:lumMod val="60000"/>
                <a:lumOff val="40000"/>
              </a:schemeClr>
            </a:solidFill>
            <a:prstDash val="solid"/>
            <a:round/>
            <a:headEnd type="none" w="med" len="med"/>
            <a:tailEnd type="triangle" w="med" len="med"/>
          </a:ln>
          <a:effectLst/>
        </p:spPr>
      </p:cxnSp>
      <p:cxnSp>
        <p:nvCxnSpPr>
          <p:cNvPr id="14" name="Straight Arrow Connector 13"/>
          <p:cNvCxnSpPr/>
          <p:nvPr/>
        </p:nvCxnSpPr>
        <p:spPr bwMode="auto">
          <a:xfrm flipH="1">
            <a:off x="715383" y="3299419"/>
            <a:ext cx="6840420" cy="0"/>
          </a:xfrm>
          <a:prstGeom prst="straightConnector1">
            <a:avLst/>
          </a:prstGeom>
          <a:solidFill>
            <a:schemeClr val="accent2">
              <a:alpha val="42000"/>
            </a:schemeClr>
          </a:solidFill>
          <a:ln w="9525" cap="flat" cmpd="sng" algn="ctr">
            <a:solidFill>
              <a:schemeClr val="accent6">
                <a:lumMod val="60000"/>
                <a:lumOff val="40000"/>
              </a:schemeClr>
            </a:solidFill>
            <a:prstDash val="solid"/>
            <a:round/>
            <a:headEnd type="none" w="med" len="med"/>
            <a:tailEnd type="triangle" w="med" len="med"/>
          </a:ln>
          <a:effectLst/>
        </p:spPr>
      </p:cxnSp>
      <p:cxnSp>
        <p:nvCxnSpPr>
          <p:cNvPr id="22" name="Straight Arrow Connector 21"/>
          <p:cNvCxnSpPr/>
          <p:nvPr/>
        </p:nvCxnSpPr>
        <p:spPr bwMode="auto">
          <a:xfrm>
            <a:off x="676621" y="4615846"/>
            <a:ext cx="6840419" cy="0"/>
          </a:xfrm>
          <a:prstGeom prst="straightConnector1">
            <a:avLst/>
          </a:prstGeom>
          <a:solidFill>
            <a:schemeClr val="accent2">
              <a:alpha val="42000"/>
            </a:schemeClr>
          </a:solidFill>
          <a:ln w="9525" cap="flat" cmpd="sng" algn="ctr">
            <a:solidFill>
              <a:schemeClr val="accent6">
                <a:lumMod val="60000"/>
                <a:lumOff val="40000"/>
              </a:schemeClr>
            </a:solidFill>
            <a:prstDash val="solid"/>
            <a:round/>
            <a:headEnd type="none" w="med" len="med"/>
            <a:tailEnd type="triangle" w="med" len="med"/>
          </a:ln>
          <a:effectLst/>
        </p:spPr>
      </p:cxnSp>
      <p:cxnSp>
        <p:nvCxnSpPr>
          <p:cNvPr id="23" name="Straight Arrow Connector 22"/>
          <p:cNvCxnSpPr/>
          <p:nvPr/>
        </p:nvCxnSpPr>
        <p:spPr bwMode="auto">
          <a:xfrm>
            <a:off x="676621" y="3803046"/>
            <a:ext cx="6840419" cy="0"/>
          </a:xfrm>
          <a:prstGeom prst="straightConnector1">
            <a:avLst/>
          </a:prstGeom>
          <a:solidFill>
            <a:schemeClr val="accent2">
              <a:alpha val="42000"/>
            </a:schemeClr>
          </a:solidFill>
          <a:ln w="9525" cap="flat" cmpd="sng" algn="ctr">
            <a:solidFill>
              <a:schemeClr val="accent6">
                <a:lumMod val="60000"/>
                <a:lumOff val="40000"/>
              </a:schemeClr>
            </a:solidFill>
            <a:prstDash val="solid"/>
            <a:round/>
            <a:headEnd type="none" w="med" len="med"/>
            <a:tailEnd type="triangle" w="med" len="med"/>
          </a:ln>
          <a:effectLst/>
        </p:spPr>
      </p:cxnSp>
      <p:cxnSp>
        <p:nvCxnSpPr>
          <p:cNvPr id="25" name="Straight Arrow Connector 24"/>
          <p:cNvCxnSpPr/>
          <p:nvPr/>
        </p:nvCxnSpPr>
        <p:spPr bwMode="auto">
          <a:xfrm flipH="1">
            <a:off x="676619" y="4229766"/>
            <a:ext cx="6840420" cy="0"/>
          </a:xfrm>
          <a:prstGeom prst="straightConnector1">
            <a:avLst/>
          </a:prstGeom>
          <a:solidFill>
            <a:schemeClr val="accent2">
              <a:alpha val="42000"/>
            </a:schemeClr>
          </a:solidFill>
          <a:ln w="9525" cap="flat" cmpd="sng" algn="ctr">
            <a:solidFill>
              <a:schemeClr val="accent6">
                <a:lumMod val="60000"/>
                <a:lumOff val="40000"/>
              </a:schemeClr>
            </a:solidFill>
            <a:prstDash val="solid"/>
            <a:round/>
            <a:headEnd type="none" w="med" len="med"/>
            <a:tailEnd type="triangle" w="med" len="med"/>
          </a:ln>
          <a:effectLst/>
        </p:spPr>
      </p:cxnSp>
      <p:cxnSp>
        <p:nvCxnSpPr>
          <p:cNvPr id="26" name="Straight Arrow Connector 25"/>
          <p:cNvCxnSpPr/>
          <p:nvPr/>
        </p:nvCxnSpPr>
        <p:spPr bwMode="auto">
          <a:xfrm>
            <a:off x="707302" y="5056800"/>
            <a:ext cx="6840419" cy="0"/>
          </a:xfrm>
          <a:prstGeom prst="straightConnector1">
            <a:avLst/>
          </a:prstGeom>
          <a:solidFill>
            <a:schemeClr val="accent2">
              <a:alpha val="42000"/>
            </a:schemeClr>
          </a:solidFill>
          <a:ln w="9525" cap="flat" cmpd="sng" algn="ctr">
            <a:solidFill>
              <a:schemeClr val="accent6">
                <a:lumMod val="60000"/>
                <a:lumOff val="40000"/>
              </a:schemeClr>
            </a:solidFill>
            <a:prstDash val="solid"/>
            <a:round/>
            <a:headEnd type="none" w="med" len="med"/>
            <a:tailEnd type="triangle" w="med" len="med"/>
          </a:ln>
          <a:effectLst/>
        </p:spPr>
      </p:cxnSp>
      <p:pic>
        <p:nvPicPr>
          <p:cNvPr id="47" name="Picture 46"/>
          <p:cNvPicPr>
            <a:picLocks noChangeAspect="1"/>
          </p:cNvPicPr>
          <p:nvPr/>
        </p:nvPicPr>
        <p:blipFill>
          <a:blip r:embed="rId4" cstate="print"/>
          <a:stretch>
            <a:fillRect/>
          </a:stretch>
        </p:blipFill>
        <p:spPr>
          <a:xfrm>
            <a:off x="6937095" y="1747056"/>
            <a:ext cx="1188789" cy="767544"/>
          </a:xfrm>
          <a:prstGeom prst="rect">
            <a:avLst/>
          </a:prstGeom>
        </p:spPr>
      </p:pic>
      <p:pic>
        <p:nvPicPr>
          <p:cNvPr id="48" name="Picture 47"/>
          <p:cNvPicPr>
            <a:picLocks noChangeAspect="1"/>
          </p:cNvPicPr>
          <p:nvPr/>
        </p:nvPicPr>
        <p:blipFill>
          <a:blip r:embed="rId5" cstate="print"/>
          <a:stretch>
            <a:fillRect/>
          </a:stretch>
        </p:blipFill>
        <p:spPr>
          <a:xfrm>
            <a:off x="3591000" y="1803400"/>
            <a:ext cx="1045502" cy="722027"/>
          </a:xfrm>
          <a:prstGeom prst="rect">
            <a:avLst/>
          </a:prstGeom>
        </p:spPr>
      </p:pic>
      <p:pic>
        <p:nvPicPr>
          <p:cNvPr id="56" name="Picture 5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298868" y="1518920"/>
            <a:ext cx="1123162" cy="1284785"/>
          </a:xfrm>
          <a:prstGeom prst="rect">
            <a:avLst/>
          </a:prstGeom>
        </p:spPr>
      </p:pic>
      <p:grpSp>
        <p:nvGrpSpPr>
          <p:cNvPr id="11278" name="Group 11277"/>
          <p:cNvGrpSpPr/>
          <p:nvPr/>
        </p:nvGrpSpPr>
        <p:grpSpPr>
          <a:xfrm>
            <a:off x="3048269" y="4873576"/>
            <a:ext cx="2097119" cy="465667"/>
            <a:chOff x="2008151" y="4171950"/>
            <a:chExt cx="1573249" cy="349250"/>
          </a:xfrm>
        </p:grpSpPr>
        <p:sp>
          <p:nvSpPr>
            <p:cNvPr id="59" name="TextBox 58"/>
            <p:cNvSpPr txBox="1"/>
            <p:nvPr/>
          </p:nvSpPr>
          <p:spPr>
            <a:xfrm>
              <a:off x="2008151" y="4171950"/>
              <a:ext cx="1573249" cy="276999"/>
            </a:xfrm>
            <a:prstGeom prst="rect">
              <a:avLst/>
            </a:prstGeom>
            <a:solidFill>
              <a:schemeClr val="bg1">
                <a:lumMod val="95000"/>
              </a:schemeClr>
            </a:solidFill>
            <a:ln>
              <a:solidFill>
                <a:schemeClr val="tx1"/>
              </a:solidFill>
            </a:ln>
          </p:spPr>
          <p:txBody>
            <a:bodyPr wrap="square" rtlCol="0">
              <a:spAutoFit/>
            </a:bodyPr>
            <a:lstStyle/>
            <a:p>
              <a:r>
                <a:rPr lang="en-US" b="1" dirty="0">
                  <a:solidFill>
                    <a:srgbClr val="FF0000"/>
                  </a:solidFill>
                  <a:cs typeface="Helvetica 55 Roman"/>
                </a:rPr>
                <a:t>Web Filter</a:t>
              </a:r>
            </a:p>
          </p:txBody>
        </p:sp>
        <p:pic>
          <p:nvPicPr>
            <p:cNvPr id="60" name="Picture 59"/>
            <p:cNvPicPr>
              <a:picLocks noChangeAspect="1"/>
            </p:cNvPicPr>
            <p:nvPr/>
          </p:nvPicPr>
          <p:blipFill>
            <a:blip r:embed="rId7" cstate="print"/>
            <a:stretch>
              <a:fillRect/>
            </a:stretch>
          </p:blipFill>
          <p:spPr>
            <a:xfrm>
              <a:off x="3262146" y="4190365"/>
              <a:ext cx="275959" cy="330835"/>
            </a:xfrm>
            <a:prstGeom prst="rect">
              <a:avLst/>
            </a:prstGeom>
          </p:spPr>
        </p:pic>
      </p:grpSp>
    </p:spTree>
    <p:custDataLst>
      <p:tags r:id="rId1"/>
    </p:custDataLst>
    <p:extLst>
      <p:ext uri="{BB962C8B-B14F-4D97-AF65-F5344CB8AC3E}">
        <p14:creationId xmlns:p14="http://schemas.microsoft.com/office/powerpoint/2010/main" val="265895158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273">
                                            <p:bg/>
                                          </p:spTgt>
                                        </p:tgtEl>
                                        <p:attrNameLst>
                                          <p:attrName>style.visibility</p:attrName>
                                        </p:attrNameLst>
                                      </p:cBhvr>
                                      <p:to>
                                        <p:strVal val="visible"/>
                                      </p:to>
                                    </p:set>
                                    <p:animEffect transition="in" filter="fade">
                                      <p:cBhvr>
                                        <p:cTn id="7" dur="500"/>
                                        <p:tgtEl>
                                          <p:spTgt spid="1127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273">
                                            <p:txEl>
                                              <p:pRg st="0" end="0"/>
                                            </p:txEl>
                                          </p:spTgt>
                                        </p:tgtEl>
                                        <p:attrNameLst>
                                          <p:attrName>style.visibility</p:attrName>
                                        </p:attrNameLst>
                                      </p:cBhvr>
                                      <p:to>
                                        <p:strVal val="visible"/>
                                      </p:to>
                                    </p:set>
                                    <p:animEffect transition="in" filter="fade">
                                      <p:cBhvr>
                                        <p:cTn id="10" dur="500"/>
                                        <p:tgtEl>
                                          <p:spTgt spid="1127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273">
                                            <p:txEl>
                                              <p:pRg st="2" end="2"/>
                                            </p:txEl>
                                          </p:spTgt>
                                        </p:tgtEl>
                                        <p:attrNameLst>
                                          <p:attrName>style.visibility</p:attrName>
                                        </p:attrNameLst>
                                      </p:cBhvr>
                                      <p:to>
                                        <p:strVal val="visible"/>
                                      </p:to>
                                    </p:set>
                                    <p:animEffect transition="in" filter="fade">
                                      <p:cBhvr>
                                        <p:cTn id="13" dur="500"/>
                                        <p:tgtEl>
                                          <p:spTgt spid="1127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273">
                                            <p:txEl>
                                              <p:pRg st="3" end="3"/>
                                            </p:txEl>
                                          </p:spTgt>
                                        </p:tgtEl>
                                        <p:attrNameLst>
                                          <p:attrName>style.visibility</p:attrName>
                                        </p:attrNameLst>
                                      </p:cBhvr>
                                      <p:to>
                                        <p:strVal val="visible"/>
                                      </p:to>
                                    </p:set>
                                    <p:animEffect transition="in" filter="fade">
                                      <p:cBhvr>
                                        <p:cTn id="16" dur="500"/>
                                        <p:tgtEl>
                                          <p:spTgt spid="11273">
                                            <p:txEl>
                                              <p:pRg st="3" end="3"/>
                                            </p:txEl>
                                          </p:spTgt>
                                        </p:tgtEl>
                                      </p:cBhvr>
                                    </p:animEffect>
                                  </p:childTnLst>
                                </p:cTn>
                              </p:par>
                            </p:childTnLst>
                          </p:cTn>
                        </p:par>
                        <p:par>
                          <p:cTn id="17" fill="hold">
                            <p:stCondLst>
                              <p:cond delay="500"/>
                            </p:stCondLst>
                            <p:childTnLst>
                              <p:par>
                                <p:cTn id="18" presetID="22" presetClass="entr" presetSubtype="8" fill="hold" grpId="0" nodeType="afterEffect">
                                  <p:stCondLst>
                                    <p:cond delay="50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750"/>
                                        <p:tgtEl>
                                          <p:spTgt spid="13"/>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par>
                          <p:cTn id="24" fill="hold">
                            <p:stCondLst>
                              <p:cond delay="1750"/>
                            </p:stCondLst>
                            <p:childTnLst>
                              <p:par>
                                <p:cTn id="25" presetID="1" presetClass="entr" presetSubtype="0"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par>
                          <p:cTn id="27" fill="hold">
                            <p:stCondLst>
                              <p:cond delay="1750"/>
                            </p:stCondLst>
                            <p:childTnLst>
                              <p:par>
                                <p:cTn id="28" presetID="42" presetClass="path" presetSubtype="0" accel="50000" decel="50000" fill="hold" grpId="1" nodeType="afterEffect">
                                  <p:stCondLst>
                                    <p:cond delay="0"/>
                                  </p:stCondLst>
                                  <p:childTnLst>
                                    <p:animMotion origin="layout" path="M 3.05556E-6 2.96296E-6 L 0.53941 0.00216 " pathEditMode="relative" rAng="0" ptsTypes="AA">
                                      <p:cBhvr>
                                        <p:cTn id="29" dur="1000" fill="hold"/>
                                        <p:tgtEl>
                                          <p:spTgt spid="20"/>
                                        </p:tgtEl>
                                        <p:attrNameLst>
                                          <p:attrName>ppt_x</p:attrName>
                                          <p:attrName>ppt_y</p:attrName>
                                        </p:attrNameLst>
                                      </p:cBhvr>
                                      <p:rCtr x="26962" y="93"/>
                                    </p:animMotion>
                                  </p:childTnLst>
                                </p:cTn>
                              </p:par>
                            </p:childTnLst>
                          </p:cTn>
                        </p:par>
                        <p:par>
                          <p:cTn id="30" fill="hold">
                            <p:stCondLst>
                              <p:cond delay="2750"/>
                            </p:stCondLst>
                            <p:childTnLst>
                              <p:par>
                                <p:cTn id="31" presetID="1" presetClass="exit" presetSubtype="0" fill="hold" grpId="2" nodeType="afterEffect">
                                  <p:stCondLst>
                                    <p:cond delay="0"/>
                                  </p:stCondLst>
                                  <p:childTnLst>
                                    <p:set>
                                      <p:cBhvr>
                                        <p:cTn id="32" dur="1" fill="hold">
                                          <p:stCondLst>
                                            <p:cond delay="0"/>
                                          </p:stCondLst>
                                        </p:cTn>
                                        <p:tgtEl>
                                          <p:spTgt spid="20"/>
                                        </p:tgtEl>
                                        <p:attrNameLst>
                                          <p:attrName>style.visibility</p:attrName>
                                        </p:attrNameLst>
                                      </p:cBhvr>
                                      <p:to>
                                        <p:strVal val="hidden"/>
                                      </p:to>
                                    </p:set>
                                  </p:childTnLst>
                                </p:cTn>
                              </p:par>
                            </p:childTnLst>
                          </p:cTn>
                        </p:par>
                        <p:par>
                          <p:cTn id="33" fill="hold">
                            <p:stCondLst>
                              <p:cond delay="2750"/>
                            </p:stCondLst>
                            <p:childTnLst>
                              <p:par>
                                <p:cTn id="34" presetID="10" presetClass="entr" presetSubtype="0" fill="hold" grpId="0"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childTnLst>
                          </p:cTn>
                        </p:par>
                        <p:par>
                          <p:cTn id="37" fill="hold">
                            <p:stCondLst>
                              <p:cond delay="3250"/>
                            </p:stCondLst>
                            <p:childTnLst>
                              <p:par>
                                <p:cTn id="38" presetID="1" presetClass="entr" presetSubtype="0"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childTnLst>
                                </p:cTn>
                              </p:par>
                            </p:childTnLst>
                          </p:cTn>
                        </p:par>
                        <p:par>
                          <p:cTn id="40" fill="hold">
                            <p:stCondLst>
                              <p:cond delay="3250"/>
                            </p:stCondLst>
                            <p:childTnLst>
                              <p:par>
                                <p:cTn id="41" presetID="42" presetClass="path" presetSubtype="0" accel="50000" decel="50000" fill="hold" grpId="1" nodeType="afterEffect">
                                  <p:stCondLst>
                                    <p:cond delay="0"/>
                                  </p:stCondLst>
                                  <p:childTnLst>
                                    <p:animMotion origin="layout" path="M 1.14007E-6 -1.00833E-6 L -0.53564 -0.00023 " pathEditMode="relative" rAng="0" ptsTypes="AA">
                                      <p:cBhvr>
                                        <p:cTn id="42" dur="750" fill="hold"/>
                                        <p:tgtEl>
                                          <p:spTgt spid="31"/>
                                        </p:tgtEl>
                                        <p:attrNameLst>
                                          <p:attrName>ppt_x</p:attrName>
                                          <p:attrName>ppt_y</p:attrName>
                                        </p:attrNameLst>
                                      </p:cBhvr>
                                      <p:rCtr x="-26788" y="-23"/>
                                    </p:animMotion>
                                  </p:childTnLst>
                                </p:cTn>
                              </p:par>
                            </p:childTnLst>
                          </p:cTn>
                        </p:par>
                        <p:par>
                          <p:cTn id="43" fill="hold">
                            <p:stCondLst>
                              <p:cond delay="4000"/>
                            </p:stCondLst>
                            <p:childTnLst>
                              <p:par>
                                <p:cTn id="44" presetID="1" presetClass="exit" presetSubtype="0" fill="hold" grpId="2" nodeType="afterEffect">
                                  <p:stCondLst>
                                    <p:cond delay="0"/>
                                  </p:stCondLst>
                                  <p:childTnLst>
                                    <p:set>
                                      <p:cBhvr>
                                        <p:cTn id="45" dur="1" fill="hold">
                                          <p:stCondLst>
                                            <p:cond delay="0"/>
                                          </p:stCondLst>
                                        </p:cTn>
                                        <p:tgtEl>
                                          <p:spTgt spid="31"/>
                                        </p:tgtEl>
                                        <p:attrNameLst>
                                          <p:attrName>style.visibility</p:attrName>
                                        </p:attrNameLst>
                                      </p:cBhvr>
                                      <p:to>
                                        <p:strVal val="hidden"/>
                                      </p:to>
                                    </p:set>
                                  </p:childTnLst>
                                </p:cTn>
                              </p:par>
                            </p:childTnLst>
                          </p:cTn>
                        </p:par>
                        <p:par>
                          <p:cTn id="46" fill="hold">
                            <p:stCondLst>
                              <p:cond delay="4000"/>
                            </p:stCondLst>
                            <p:childTnLst>
                              <p:par>
                                <p:cTn id="47" presetID="10" presetClass="entr" presetSubtype="0" fill="hold" grpId="0" nodeType="after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childTnLst>
                          </p:cTn>
                        </p:par>
                        <p:par>
                          <p:cTn id="50" fill="hold">
                            <p:stCondLst>
                              <p:cond delay="4500"/>
                            </p:stCondLst>
                            <p:childTnLst>
                              <p:par>
                                <p:cTn id="51" presetID="1"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par>
                          <p:cTn id="53" fill="hold">
                            <p:stCondLst>
                              <p:cond delay="4500"/>
                            </p:stCondLst>
                            <p:childTnLst>
                              <p:par>
                                <p:cTn id="54" presetID="42" presetClass="path" presetSubtype="0" accel="50000" decel="50000" fill="hold" grpId="1" nodeType="afterEffect">
                                  <p:stCondLst>
                                    <p:cond delay="0"/>
                                  </p:stCondLst>
                                  <p:childTnLst>
                                    <p:animMotion origin="layout" path="M 3.05556E-6 -1.23457E-7 L 0.53837 0.00062 " pathEditMode="relative" rAng="0" ptsTypes="AA">
                                      <p:cBhvr>
                                        <p:cTn id="55" dur="1000" fill="hold"/>
                                        <p:tgtEl>
                                          <p:spTgt spid="32"/>
                                        </p:tgtEl>
                                        <p:attrNameLst>
                                          <p:attrName>ppt_x</p:attrName>
                                          <p:attrName>ppt_y</p:attrName>
                                        </p:attrNameLst>
                                      </p:cBhvr>
                                      <p:rCtr x="26910" y="31"/>
                                    </p:animMotion>
                                  </p:childTnLst>
                                </p:cTn>
                              </p:par>
                            </p:childTnLst>
                          </p:cTn>
                        </p:par>
                        <p:par>
                          <p:cTn id="56" fill="hold">
                            <p:stCondLst>
                              <p:cond delay="5500"/>
                            </p:stCondLst>
                            <p:childTnLst>
                              <p:par>
                                <p:cTn id="57" presetID="1" presetClass="exit" presetSubtype="0" fill="hold" grpId="2" nodeType="afterEffect">
                                  <p:stCondLst>
                                    <p:cond delay="0"/>
                                  </p:stCondLst>
                                  <p:childTnLst>
                                    <p:set>
                                      <p:cBhvr>
                                        <p:cTn id="58" dur="1" fill="hold">
                                          <p:stCondLst>
                                            <p:cond delay="0"/>
                                          </p:stCondLst>
                                        </p:cTn>
                                        <p:tgtEl>
                                          <p:spTgt spid="32"/>
                                        </p:tgtEl>
                                        <p:attrNameLst>
                                          <p:attrName>style.visibility</p:attrName>
                                        </p:attrNameLst>
                                      </p:cBhvr>
                                      <p:to>
                                        <p:strVal val="hidden"/>
                                      </p:to>
                                    </p:set>
                                  </p:childTnLst>
                                </p:cTn>
                              </p:par>
                            </p:childTnLst>
                          </p:cTn>
                        </p:par>
                        <p:par>
                          <p:cTn id="59" fill="hold">
                            <p:stCondLst>
                              <p:cond delay="5500"/>
                            </p:stCondLst>
                            <p:childTnLst>
                              <p:par>
                                <p:cTn id="60" presetID="10" presetClass="entr" presetSubtype="0" fill="hold" grpId="0" nodeType="after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500"/>
                                        <p:tgtEl>
                                          <p:spTgt spid="45"/>
                                        </p:tgtEl>
                                      </p:cBhvr>
                                    </p:animEffect>
                                  </p:childTnLst>
                                </p:cTn>
                              </p:par>
                            </p:childTnLst>
                          </p:cTn>
                        </p:par>
                        <p:par>
                          <p:cTn id="63" fill="hold">
                            <p:stCondLst>
                              <p:cond delay="6000"/>
                            </p:stCondLst>
                            <p:childTnLst>
                              <p:par>
                                <p:cTn id="64" presetID="1" presetClass="entr" presetSubtype="0" fill="hold" grpId="0" nodeType="after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childTnLst>
                          </p:cTn>
                        </p:par>
                        <p:par>
                          <p:cTn id="66" fill="hold">
                            <p:stCondLst>
                              <p:cond delay="6000"/>
                            </p:stCondLst>
                            <p:childTnLst>
                              <p:par>
                                <p:cTn id="67" presetID="42" presetClass="path" presetSubtype="0" accel="50000" decel="50000" fill="hold" grpId="1" nodeType="afterEffect">
                                  <p:stCondLst>
                                    <p:cond delay="0"/>
                                  </p:stCondLst>
                                  <p:childTnLst>
                                    <p:animMotion origin="layout" path="M -3.88889E-6 -3.95062E-6 L -0.52048 0.00247 " pathEditMode="relative" rAng="0" ptsTypes="AA">
                                      <p:cBhvr>
                                        <p:cTn id="68" dur="1000" fill="hold"/>
                                        <p:tgtEl>
                                          <p:spTgt spid="33"/>
                                        </p:tgtEl>
                                        <p:attrNameLst>
                                          <p:attrName>ppt_x</p:attrName>
                                          <p:attrName>ppt_y</p:attrName>
                                        </p:attrNameLst>
                                      </p:cBhvr>
                                      <p:rCtr x="-26024" y="123"/>
                                    </p:animMotion>
                                  </p:childTnLst>
                                </p:cTn>
                              </p:par>
                            </p:childTnLst>
                          </p:cTn>
                        </p:par>
                        <p:par>
                          <p:cTn id="69" fill="hold">
                            <p:stCondLst>
                              <p:cond delay="7000"/>
                            </p:stCondLst>
                            <p:childTnLst>
                              <p:par>
                                <p:cTn id="70" presetID="1" presetClass="exit" presetSubtype="0" fill="hold" grpId="2" nodeType="afterEffect">
                                  <p:stCondLst>
                                    <p:cond delay="0"/>
                                  </p:stCondLst>
                                  <p:childTnLst>
                                    <p:set>
                                      <p:cBhvr>
                                        <p:cTn id="71" dur="1" fill="hold">
                                          <p:stCondLst>
                                            <p:cond delay="0"/>
                                          </p:stCondLst>
                                        </p:cTn>
                                        <p:tgtEl>
                                          <p:spTgt spid="33"/>
                                        </p:tgtEl>
                                        <p:attrNameLst>
                                          <p:attrName>style.visibility</p:attrName>
                                        </p:attrNameLst>
                                      </p:cBhvr>
                                      <p:to>
                                        <p:strVal val="hidden"/>
                                      </p:to>
                                    </p:set>
                                  </p:childTnLst>
                                </p:cTn>
                              </p:par>
                            </p:childTnLst>
                          </p:cTn>
                        </p:par>
                        <p:par>
                          <p:cTn id="72" fill="hold">
                            <p:stCondLst>
                              <p:cond delay="7000"/>
                            </p:stCondLst>
                            <p:childTnLst>
                              <p:par>
                                <p:cTn id="73" presetID="10" presetClass="entr" presetSubtype="0" fill="hold" grpId="0" nodeType="after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500"/>
                                        <p:tgtEl>
                                          <p:spTgt spid="40"/>
                                        </p:tgtEl>
                                      </p:cBhvr>
                                    </p:animEffect>
                                  </p:childTnLst>
                                </p:cTn>
                              </p:par>
                            </p:childTnLst>
                          </p:cTn>
                        </p:par>
                        <p:par>
                          <p:cTn id="76" fill="hold">
                            <p:stCondLst>
                              <p:cond delay="7500"/>
                            </p:stCondLst>
                            <p:childTnLst>
                              <p:par>
                                <p:cTn id="77" presetID="1" presetClass="entr" presetSubtype="0" fill="hold" grpId="0" nodeType="after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par>
                          <p:cTn id="79" fill="hold">
                            <p:stCondLst>
                              <p:cond delay="7500"/>
                            </p:stCondLst>
                            <p:childTnLst>
                              <p:par>
                                <p:cTn id="80" presetID="42" presetClass="path" presetSubtype="0" accel="50000" decel="50000" fill="hold" grpId="1" nodeType="afterEffect">
                                  <p:stCondLst>
                                    <p:cond delay="0"/>
                                  </p:stCondLst>
                                  <p:childTnLst>
                                    <p:animMotion origin="layout" path="M 3.05556E-6 -4.5679E-6 L 0.53576 -0.00154 " pathEditMode="relative" rAng="0" ptsTypes="AA">
                                      <p:cBhvr>
                                        <p:cTn id="81" dur="1000" fill="hold"/>
                                        <p:tgtEl>
                                          <p:spTgt spid="34"/>
                                        </p:tgtEl>
                                        <p:attrNameLst>
                                          <p:attrName>ppt_x</p:attrName>
                                          <p:attrName>ppt_y</p:attrName>
                                        </p:attrNameLst>
                                      </p:cBhvr>
                                      <p:rCtr x="26788" y="-93"/>
                                    </p:animMotion>
                                  </p:childTnLst>
                                </p:cTn>
                              </p:par>
                            </p:childTnLst>
                          </p:cTn>
                        </p:par>
                        <p:par>
                          <p:cTn id="82" fill="hold">
                            <p:stCondLst>
                              <p:cond delay="8500"/>
                            </p:stCondLst>
                            <p:childTnLst>
                              <p:par>
                                <p:cTn id="83" presetID="1" presetClass="exit" presetSubtype="0" fill="hold" grpId="2" nodeType="afterEffect">
                                  <p:stCondLst>
                                    <p:cond delay="0"/>
                                  </p:stCondLst>
                                  <p:childTnLst>
                                    <p:set>
                                      <p:cBhvr>
                                        <p:cTn id="84" dur="1" fill="hold">
                                          <p:stCondLst>
                                            <p:cond delay="0"/>
                                          </p:stCondLst>
                                        </p:cTn>
                                        <p:tgtEl>
                                          <p:spTgt spid="34"/>
                                        </p:tgtEl>
                                        <p:attrNameLst>
                                          <p:attrName>style.visibility</p:attrName>
                                        </p:attrNameLst>
                                      </p:cBhvr>
                                      <p:to>
                                        <p:strVal val="hidden"/>
                                      </p:to>
                                    </p:set>
                                  </p:childTnLst>
                                </p:cTn>
                              </p:par>
                            </p:childTnLst>
                          </p:cTn>
                        </p:par>
                        <p:par>
                          <p:cTn id="85" fill="hold">
                            <p:stCondLst>
                              <p:cond delay="8500"/>
                            </p:stCondLst>
                            <p:childTnLst>
                              <p:par>
                                <p:cTn id="86" presetID="10" presetClass="entr" presetSubtype="0" fill="hold" grpId="0" nodeType="afterEffect">
                                  <p:stCondLst>
                                    <p:cond delay="50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500"/>
                                        <p:tgtEl>
                                          <p:spTgt spid="38"/>
                                        </p:tgtEl>
                                      </p:cBhvr>
                                    </p:animEffect>
                                  </p:childTnLst>
                                </p:cTn>
                              </p:par>
                            </p:childTnLst>
                          </p:cTn>
                        </p:par>
                        <p:par>
                          <p:cTn id="89" fill="hold">
                            <p:stCondLst>
                              <p:cond delay="9500"/>
                            </p:stCondLst>
                            <p:childTnLst>
                              <p:par>
                                <p:cTn id="90" presetID="1" presetClass="entr" presetSubtype="0" fill="hold" grpId="0" nodeType="afterEffect">
                                  <p:stCondLst>
                                    <p:cond delay="0"/>
                                  </p:stCondLst>
                                  <p:childTnLst>
                                    <p:set>
                                      <p:cBhvr>
                                        <p:cTn id="91" dur="1" fill="hold">
                                          <p:stCondLst>
                                            <p:cond delay="0"/>
                                          </p:stCondLst>
                                        </p:cTn>
                                        <p:tgtEl>
                                          <p:spTgt spid="36"/>
                                        </p:tgtEl>
                                        <p:attrNameLst>
                                          <p:attrName>style.visibility</p:attrName>
                                        </p:attrNameLst>
                                      </p:cBhvr>
                                      <p:to>
                                        <p:strVal val="visible"/>
                                      </p:to>
                                    </p:set>
                                  </p:childTnLst>
                                </p:cTn>
                              </p:par>
                            </p:childTnLst>
                          </p:cTn>
                        </p:par>
                        <p:par>
                          <p:cTn id="92" fill="hold">
                            <p:stCondLst>
                              <p:cond delay="9500"/>
                            </p:stCondLst>
                            <p:childTnLst>
                              <p:par>
                                <p:cTn id="93" presetID="42" presetClass="path" presetSubtype="0" accel="50000" decel="50000" fill="hold" grpId="1" nodeType="afterEffect">
                                  <p:stCondLst>
                                    <p:cond delay="0"/>
                                  </p:stCondLst>
                                  <p:childTnLst>
                                    <p:animMotion origin="layout" path="M 5E-6 -4.81481E-6 L 0.53733 -4.81481E-6 " pathEditMode="relative" rAng="0" ptsTypes="AA">
                                      <p:cBhvr>
                                        <p:cTn id="94" dur="1000" fill="hold"/>
                                        <p:tgtEl>
                                          <p:spTgt spid="36"/>
                                        </p:tgtEl>
                                        <p:attrNameLst>
                                          <p:attrName>ppt_x</p:attrName>
                                          <p:attrName>ppt_y</p:attrName>
                                        </p:attrNameLst>
                                      </p:cBhvr>
                                      <p:rCtr x="26858" y="0"/>
                                    </p:animMotion>
                                  </p:childTnLst>
                                </p:cTn>
                              </p:par>
                            </p:childTnLst>
                          </p:cTn>
                        </p:par>
                        <p:par>
                          <p:cTn id="95" fill="hold">
                            <p:stCondLst>
                              <p:cond delay="10500"/>
                            </p:stCondLst>
                            <p:childTnLst>
                              <p:par>
                                <p:cTn id="96" presetID="1" presetClass="exit" presetSubtype="0" fill="hold" grpId="2" nodeType="afterEffect">
                                  <p:stCondLst>
                                    <p:cond delay="0"/>
                                  </p:stCondLst>
                                  <p:childTnLst>
                                    <p:set>
                                      <p:cBhvr>
                                        <p:cTn id="97" dur="1" fill="hold">
                                          <p:stCondLst>
                                            <p:cond delay="0"/>
                                          </p:stCondLst>
                                        </p:cTn>
                                        <p:tgtEl>
                                          <p:spTgt spid="36"/>
                                        </p:tgtEl>
                                        <p:attrNameLst>
                                          <p:attrName>style.visibility</p:attrName>
                                        </p:attrNameLst>
                                      </p:cBhvr>
                                      <p:to>
                                        <p:strVal val="hidden"/>
                                      </p:to>
                                    </p:set>
                                  </p:childTnLst>
                                </p:cTn>
                              </p:par>
                            </p:childTnLst>
                          </p:cTn>
                        </p:par>
                        <p:par>
                          <p:cTn id="98" fill="hold">
                            <p:stCondLst>
                              <p:cond delay="10500"/>
                            </p:stCondLst>
                            <p:childTnLst>
                              <p:par>
                                <p:cTn id="99" presetID="10" presetClass="entr" presetSubtype="0" fill="hold" nodeType="afterEffect">
                                  <p:stCondLst>
                                    <p:cond delay="0"/>
                                  </p:stCondLst>
                                  <p:childTnLst>
                                    <p:set>
                                      <p:cBhvr>
                                        <p:cTn id="100" dur="1" fill="hold">
                                          <p:stCondLst>
                                            <p:cond delay="0"/>
                                          </p:stCondLst>
                                        </p:cTn>
                                        <p:tgtEl>
                                          <p:spTgt spid="11278"/>
                                        </p:tgtEl>
                                        <p:attrNameLst>
                                          <p:attrName>style.visibility</p:attrName>
                                        </p:attrNameLst>
                                      </p:cBhvr>
                                      <p:to>
                                        <p:strVal val="visible"/>
                                      </p:to>
                                    </p:set>
                                    <p:animEffect transition="in" filter="fade">
                                      <p:cBhvr>
                                        <p:cTn id="101" dur="500"/>
                                        <p:tgtEl>
                                          <p:spTgt spid="11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3" grpId="0" uiExpand="1" build="p" animBg="1"/>
      <p:bldP spid="13" grpId="0"/>
      <p:bldP spid="19" grpId="0"/>
      <p:bldP spid="29" grpId="0"/>
      <p:bldP spid="20" grpId="0" animBg="1"/>
      <p:bldP spid="20" grpId="1" animBg="1"/>
      <p:bldP spid="20" grpId="2" animBg="1"/>
      <p:bldP spid="31" grpId="0" animBg="1"/>
      <p:bldP spid="31" grpId="1" animBg="1"/>
      <p:bldP spid="31" grpId="2" animBg="1"/>
      <p:bldP spid="32" grpId="0" animBg="1"/>
      <p:bldP spid="32" grpId="1" animBg="1"/>
      <p:bldP spid="32" grpId="2" animBg="1"/>
      <p:bldP spid="33" grpId="0" animBg="1"/>
      <p:bldP spid="33" grpId="1" animBg="1"/>
      <p:bldP spid="33" grpId="2" animBg="1"/>
      <p:bldP spid="34" grpId="0" animBg="1"/>
      <p:bldP spid="34" grpId="1" animBg="1"/>
      <p:bldP spid="34" grpId="2" animBg="1"/>
      <p:bldP spid="36" grpId="0" animBg="1"/>
      <p:bldP spid="36" grpId="1" animBg="1"/>
      <p:bldP spid="36" grpId="2" animBg="1"/>
      <p:bldP spid="38" grpId="0"/>
      <p:bldP spid="42" grpId="0"/>
      <p:bldP spid="40" grpId="0"/>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1435862" y="2969057"/>
            <a:ext cx="3111861" cy="3335364"/>
          </a:xfrm>
          <a:prstGeom prst="rect">
            <a:avLst/>
          </a:prstGeom>
          <a:ln>
            <a:solidFill>
              <a:srgbClr val="000000"/>
            </a:solidFill>
          </a:ln>
        </p:spPr>
      </p:pic>
      <p:sp>
        <p:nvSpPr>
          <p:cNvPr id="5" name="Title 4"/>
          <p:cNvSpPr>
            <a:spLocks noGrp="1"/>
          </p:cNvSpPr>
          <p:nvPr>
            <p:ph type="title"/>
          </p:nvPr>
        </p:nvSpPr>
        <p:spPr/>
        <p:txBody>
          <a:bodyPr/>
          <a:lstStyle/>
          <a:p>
            <a:r>
              <a:rPr lang="en-US" dirty="0"/>
              <a:t>Web Filter Profiles</a:t>
            </a:r>
            <a:r>
              <a:rPr lang="en-CA" dirty="0"/>
              <a:t>—</a:t>
            </a:r>
            <a:r>
              <a:rPr lang="en-US" dirty="0"/>
              <a:t>Flow Based</a:t>
            </a:r>
            <a:endParaRPr lang="en-CA" dirty="0"/>
          </a:p>
        </p:txBody>
      </p:sp>
      <p:sp>
        <p:nvSpPr>
          <p:cNvPr id="7" name="Content Placeholder 6"/>
          <p:cNvSpPr>
            <a:spLocks noGrp="1"/>
          </p:cNvSpPr>
          <p:nvPr>
            <p:ph idx="15"/>
          </p:nvPr>
        </p:nvSpPr>
        <p:spPr/>
        <p:txBody>
          <a:bodyPr>
            <a:normAutofit/>
          </a:bodyPr>
          <a:lstStyle/>
          <a:p>
            <a:r>
              <a:rPr lang="en-US" sz="2000" dirty="0"/>
              <a:t>Profile based</a:t>
            </a:r>
          </a:p>
          <a:p>
            <a:pPr lvl="1"/>
            <a:r>
              <a:rPr lang="en-US" sz="1600" dirty="0"/>
              <a:t>Configure web filter profile</a:t>
            </a:r>
          </a:p>
          <a:p>
            <a:pPr lvl="2"/>
            <a:r>
              <a:rPr lang="en-US" sz="1400" dirty="0" err="1"/>
              <a:t>FortiGuard</a:t>
            </a:r>
            <a:r>
              <a:rPr lang="en-US" sz="1400" dirty="0"/>
              <a:t> categories </a:t>
            </a:r>
          </a:p>
          <a:p>
            <a:pPr lvl="2"/>
            <a:r>
              <a:rPr lang="en-US" sz="1400" dirty="0"/>
              <a:t>Static URL</a:t>
            </a:r>
          </a:p>
          <a:p>
            <a:pPr lvl="2"/>
            <a:r>
              <a:rPr lang="en-US" sz="1400" dirty="0"/>
              <a:t>Rating option</a:t>
            </a:r>
          </a:p>
          <a:p>
            <a:pPr lvl="1"/>
            <a:r>
              <a:rPr lang="en-US" sz="1600" dirty="0"/>
              <a:t>Apply profile to firewall policy</a:t>
            </a:r>
          </a:p>
          <a:p>
            <a:pPr lvl="1"/>
            <a:endParaRPr lang="en-US" dirty="0"/>
          </a:p>
          <a:p>
            <a:pPr lvl="1"/>
            <a:endParaRPr lang="en-US" dirty="0"/>
          </a:p>
          <a:p>
            <a:pPr lvl="1"/>
            <a:endParaRPr lang="en-US" dirty="0"/>
          </a:p>
          <a:p>
            <a:endParaRPr lang="en-CA" dirty="0"/>
          </a:p>
        </p:txBody>
      </p:sp>
      <p:sp>
        <p:nvSpPr>
          <p:cNvPr id="8" name="Content Placeholder 7"/>
          <p:cNvSpPr>
            <a:spLocks noGrp="1"/>
          </p:cNvSpPr>
          <p:nvPr>
            <p:ph idx="16"/>
          </p:nvPr>
        </p:nvSpPr>
        <p:spPr/>
        <p:txBody>
          <a:bodyPr/>
          <a:lstStyle/>
          <a:p>
            <a:r>
              <a:rPr lang="en-US" sz="2000" dirty="0">
                <a:solidFill>
                  <a:srgbClr val="000000"/>
                </a:solidFill>
              </a:rPr>
              <a:t>Policy based</a:t>
            </a:r>
          </a:p>
          <a:p>
            <a:pPr lvl="1"/>
            <a:r>
              <a:rPr lang="en-US" sz="1600" dirty="0">
                <a:solidFill>
                  <a:srgbClr val="000000"/>
                </a:solidFill>
              </a:rPr>
              <a:t>Apply application control and URL categories directly in a security policy</a:t>
            </a:r>
          </a:p>
          <a:p>
            <a:endParaRPr lang="en-CA" dirty="0"/>
          </a:p>
          <a:p>
            <a:endParaRPr lang="en-CA" dirty="0"/>
          </a:p>
        </p:txBody>
      </p:sp>
      <p:sp>
        <p:nvSpPr>
          <p:cNvPr id="9" name="TextBox 8"/>
          <p:cNvSpPr txBox="1"/>
          <p:nvPr/>
        </p:nvSpPr>
        <p:spPr>
          <a:xfrm>
            <a:off x="1435863" y="2701638"/>
            <a:ext cx="2664447" cy="243143"/>
          </a:xfrm>
          <a:prstGeom prst="rect">
            <a:avLst/>
          </a:prstGeom>
          <a:solidFill>
            <a:srgbClr val="00B0F0"/>
          </a:solidFill>
        </p:spPr>
        <p:txBody>
          <a:bodyPr wrap="none" tIns="0" bIns="27432" rtlCol="0">
            <a:spAutoFit/>
          </a:bodyPr>
          <a:lstStyle/>
          <a:p>
            <a:r>
              <a:rPr lang="en-CA" sz="1400" b="1" dirty="0"/>
              <a:t>Security Profiles </a:t>
            </a:r>
            <a:r>
              <a:rPr lang="en-CA" sz="1400" dirty="0"/>
              <a:t>&gt;</a:t>
            </a:r>
            <a:r>
              <a:rPr lang="en-CA" sz="1400" b="1" dirty="0"/>
              <a:t> Web Filter</a:t>
            </a:r>
          </a:p>
        </p:txBody>
      </p:sp>
      <p:sp>
        <p:nvSpPr>
          <p:cNvPr id="15" name="TextBox 14"/>
          <p:cNvSpPr txBox="1"/>
          <p:nvPr/>
        </p:nvSpPr>
        <p:spPr>
          <a:xfrm>
            <a:off x="6717277" y="2128734"/>
            <a:ext cx="3084499" cy="243143"/>
          </a:xfrm>
          <a:prstGeom prst="rect">
            <a:avLst/>
          </a:prstGeom>
          <a:solidFill>
            <a:srgbClr val="00B0F0"/>
          </a:solidFill>
          <a:ln>
            <a:solidFill>
              <a:schemeClr val="tx1"/>
            </a:solidFill>
          </a:ln>
        </p:spPr>
        <p:txBody>
          <a:bodyPr wrap="none" tIns="0" bIns="27432" rtlCol="0">
            <a:spAutoFit/>
          </a:bodyPr>
          <a:lstStyle/>
          <a:p>
            <a:r>
              <a:rPr lang="en-CA" sz="1400" b="1" dirty="0"/>
              <a:t>Policy &amp; Objects </a:t>
            </a:r>
            <a:r>
              <a:rPr lang="en-CA" sz="1400" dirty="0"/>
              <a:t>&gt;</a:t>
            </a:r>
            <a:r>
              <a:rPr lang="en-CA" sz="1400" b="1" dirty="0"/>
              <a:t> Security Policy</a:t>
            </a:r>
          </a:p>
        </p:txBody>
      </p:sp>
      <p:sp>
        <p:nvSpPr>
          <p:cNvPr id="6" name="Rectangle 5"/>
          <p:cNvSpPr/>
          <p:nvPr/>
        </p:nvSpPr>
        <p:spPr>
          <a:xfrm>
            <a:off x="1982549" y="3495759"/>
            <a:ext cx="566442" cy="2103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pic>
        <p:nvPicPr>
          <p:cNvPr id="4" name="Picture 3"/>
          <p:cNvPicPr>
            <a:picLocks noChangeAspect="1"/>
          </p:cNvPicPr>
          <p:nvPr/>
        </p:nvPicPr>
        <p:blipFill>
          <a:blip r:embed="rId5"/>
          <a:stretch>
            <a:fillRect/>
          </a:stretch>
        </p:blipFill>
        <p:spPr>
          <a:xfrm>
            <a:off x="6717276" y="2395715"/>
            <a:ext cx="3674755" cy="3876750"/>
          </a:xfrm>
          <a:prstGeom prst="rect">
            <a:avLst/>
          </a:prstGeom>
          <a:ln>
            <a:solidFill>
              <a:schemeClr val="tx1"/>
            </a:solidFill>
          </a:ln>
        </p:spPr>
      </p:pic>
      <p:sp>
        <p:nvSpPr>
          <p:cNvPr id="13" name="Rectangle 12"/>
          <p:cNvSpPr/>
          <p:nvPr/>
        </p:nvSpPr>
        <p:spPr>
          <a:xfrm>
            <a:off x="6717276" y="5523470"/>
            <a:ext cx="3563545" cy="4437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1466800194"/>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Filter Profiles</a:t>
            </a:r>
            <a:r>
              <a:rPr lang="en-CA" dirty="0"/>
              <a:t>—</a:t>
            </a:r>
            <a:r>
              <a:rPr lang="en-US" dirty="0"/>
              <a:t>Proxy Based</a:t>
            </a:r>
            <a:endParaRPr lang="en-CA" dirty="0"/>
          </a:p>
        </p:txBody>
      </p:sp>
      <p:sp>
        <p:nvSpPr>
          <p:cNvPr id="4" name="Content Placeholder 3"/>
          <p:cNvSpPr>
            <a:spLocks noGrp="1"/>
          </p:cNvSpPr>
          <p:nvPr>
            <p:ph idx="15"/>
          </p:nvPr>
        </p:nvSpPr>
        <p:spPr/>
        <p:txBody>
          <a:bodyPr/>
          <a:lstStyle/>
          <a:p>
            <a:pPr lvl="0"/>
            <a:r>
              <a:rPr lang="en-US" dirty="0">
                <a:solidFill>
                  <a:srgbClr val="000000"/>
                </a:solidFill>
              </a:rPr>
              <a:t>Proxy-based options</a:t>
            </a:r>
          </a:p>
          <a:p>
            <a:pPr lvl="1"/>
            <a:r>
              <a:rPr lang="en-US" dirty="0"/>
              <a:t>Configure web filter profile</a:t>
            </a:r>
          </a:p>
          <a:p>
            <a:pPr lvl="2"/>
            <a:r>
              <a:rPr lang="en-US" dirty="0"/>
              <a:t>Local categories</a:t>
            </a:r>
          </a:p>
          <a:p>
            <a:pPr lvl="2"/>
            <a:r>
              <a:rPr lang="en-US" dirty="0"/>
              <a:t>Remote categories</a:t>
            </a:r>
          </a:p>
          <a:p>
            <a:pPr lvl="2"/>
            <a:r>
              <a:rPr lang="en-US" dirty="0" smtClean="0">
                <a:solidFill>
                  <a:srgbClr val="000000"/>
                </a:solidFill>
              </a:rPr>
              <a:t>Search engines</a:t>
            </a:r>
            <a:endParaRPr lang="en-US" dirty="0">
              <a:solidFill>
                <a:srgbClr val="000000"/>
              </a:solidFill>
            </a:endParaRPr>
          </a:p>
          <a:p>
            <a:pPr lvl="2"/>
            <a:r>
              <a:rPr lang="en-US" dirty="0">
                <a:solidFill>
                  <a:srgbClr val="000000"/>
                </a:solidFill>
              </a:rPr>
              <a:t>Proxy </a:t>
            </a:r>
            <a:r>
              <a:rPr lang="en-US" dirty="0" smtClean="0">
                <a:solidFill>
                  <a:srgbClr val="000000"/>
                </a:solidFill>
              </a:rPr>
              <a:t>options</a:t>
            </a:r>
            <a:endParaRPr lang="en-US" dirty="0">
              <a:solidFill>
                <a:srgbClr val="000000"/>
              </a:solidFill>
            </a:endParaRPr>
          </a:p>
          <a:p>
            <a:r>
              <a:rPr lang="en-US" dirty="0">
                <a:solidFill>
                  <a:srgbClr val="000000"/>
                </a:solidFill>
              </a:rPr>
              <a:t>Apply profile to firewall policy</a:t>
            </a:r>
          </a:p>
          <a:p>
            <a:pPr lvl="1"/>
            <a:r>
              <a:rPr lang="en-US" dirty="0">
                <a:solidFill>
                  <a:srgbClr val="000000"/>
                </a:solidFill>
              </a:rPr>
              <a:t>Proxy-based inspection mode type</a:t>
            </a:r>
          </a:p>
          <a:p>
            <a:endParaRPr lang="en-CA" dirty="0"/>
          </a:p>
        </p:txBody>
      </p:sp>
      <p:sp>
        <p:nvSpPr>
          <p:cNvPr id="6" name="TextBox 5"/>
          <p:cNvSpPr txBox="1"/>
          <p:nvPr/>
        </p:nvSpPr>
        <p:spPr>
          <a:xfrm>
            <a:off x="6576973" y="1149416"/>
            <a:ext cx="3031086" cy="338554"/>
          </a:xfrm>
          <a:prstGeom prst="rect">
            <a:avLst/>
          </a:prstGeom>
          <a:solidFill>
            <a:srgbClr val="00B0F0"/>
          </a:solidFill>
          <a:ln>
            <a:noFill/>
          </a:ln>
        </p:spPr>
        <p:txBody>
          <a:bodyPr wrap="none" rtlCol="0">
            <a:spAutoFit/>
          </a:bodyPr>
          <a:lstStyle/>
          <a:p>
            <a:r>
              <a:rPr lang="en-CA" sz="1600" b="1" dirty="0"/>
              <a:t>Security Profiles </a:t>
            </a:r>
            <a:r>
              <a:rPr lang="en-CA" sz="1600" dirty="0"/>
              <a:t>&gt;</a:t>
            </a:r>
            <a:r>
              <a:rPr lang="en-CA" sz="1600" b="1" dirty="0"/>
              <a:t> Web Filter</a:t>
            </a:r>
          </a:p>
        </p:txBody>
      </p:sp>
      <p:pic>
        <p:nvPicPr>
          <p:cNvPr id="7" name="Picture 6"/>
          <p:cNvPicPr>
            <a:picLocks noChangeAspect="1"/>
          </p:cNvPicPr>
          <p:nvPr/>
        </p:nvPicPr>
        <p:blipFill>
          <a:blip r:embed="rId4"/>
          <a:stretch>
            <a:fillRect/>
          </a:stretch>
        </p:blipFill>
        <p:spPr>
          <a:xfrm>
            <a:off x="6576973" y="1534518"/>
            <a:ext cx="4971429" cy="4733333"/>
          </a:xfrm>
          <a:prstGeom prst="rect">
            <a:avLst/>
          </a:prstGeom>
          <a:ln>
            <a:solidFill>
              <a:srgbClr val="000000"/>
            </a:solidFill>
          </a:ln>
        </p:spPr>
      </p:pic>
    </p:spTree>
    <p:custDataLst>
      <p:tags r:id="rId1"/>
    </p:custDataLst>
    <p:extLst>
      <p:ext uri="{BB962C8B-B14F-4D97-AF65-F5344CB8AC3E}">
        <p14:creationId xmlns:p14="http://schemas.microsoft.com/office/powerpoint/2010/main" val="1009322578"/>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en-US" dirty="0"/>
              <a:t>FortiGuard Category Filter</a:t>
            </a:r>
          </a:p>
        </p:txBody>
      </p:sp>
      <p:sp>
        <p:nvSpPr>
          <p:cNvPr id="5" name="Text Placeholder 4"/>
          <p:cNvSpPr>
            <a:spLocks noGrp="1"/>
          </p:cNvSpPr>
          <p:nvPr>
            <p:ph idx="1"/>
          </p:nvPr>
        </p:nvSpPr>
        <p:spPr/>
        <p:txBody>
          <a:bodyPr>
            <a:normAutofit/>
          </a:bodyPr>
          <a:lstStyle/>
          <a:p>
            <a:r>
              <a:rPr lang="en-US" dirty="0"/>
              <a:t>Split into multiple categories and subcategories</a:t>
            </a:r>
          </a:p>
          <a:p>
            <a:pPr lvl="1"/>
            <a:r>
              <a:rPr lang="en-US" dirty="0"/>
              <a:t>Release new categories and subcategories compatible with updated firmware</a:t>
            </a:r>
          </a:p>
          <a:p>
            <a:pPr lvl="1"/>
            <a:r>
              <a:rPr lang="en-US" dirty="0"/>
              <a:t>Older firmware has new values mapped to existing categories</a:t>
            </a:r>
          </a:p>
          <a:p>
            <a:endParaRPr lang="en-US" sz="1600" dirty="0"/>
          </a:p>
          <a:p>
            <a:r>
              <a:rPr lang="en-US" dirty="0"/>
              <a:t>Live connection to </a:t>
            </a:r>
            <a:r>
              <a:rPr lang="en-US" dirty="0" err="1" smtClean="0"/>
              <a:t>FortiGuard</a:t>
            </a:r>
            <a:endParaRPr lang="en-US" dirty="0"/>
          </a:p>
          <a:p>
            <a:pPr lvl="1"/>
            <a:r>
              <a:rPr lang="en-US" dirty="0"/>
              <a:t>Active contract required</a:t>
            </a:r>
          </a:p>
          <a:p>
            <a:pPr lvl="1"/>
            <a:r>
              <a:rPr lang="en-US" dirty="0"/>
              <a:t>Two-day grace period on expiry</a:t>
            </a:r>
          </a:p>
          <a:p>
            <a:endParaRPr lang="en-US" sz="1600" dirty="0"/>
          </a:p>
          <a:p>
            <a:r>
              <a:rPr lang="en-US" dirty="0" smtClean="0"/>
              <a:t>Can use </a:t>
            </a:r>
            <a:r>
              <a:rPr lang="en-US" dirty="0" err="1" smtClean="0"/>
              <a:t>FortiManager</a:t>
            </a:r>
            <a:r>
              <a:rPr lang="en-US" dirty="0" smtClean="0"/>
              <a:t> instead </a:t>
            </a:r>
            <a:r>
              <a:rPr lang="en-US" dirty="0"/>
              <a:t>of </a:t>
            </a:r>
            <a:r>
              <a:rPr lang="en-US" dirty="0" err="1" smtClean="0"/>
              <a:t>FortiGuard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320266849"/>
              </p:ext>
            </p:extLst>
          </p:nvPr>
        </p:nvGraphicFramePr>
        <p:xfrm>
          <a:off x="7262085" y="3456699"/>
          <a:ext cx="4580091" cy="2734036"/>
        </p:xfrm>
        <a:graphic>
          <a:graphicData uri="http://schemas.openxmlformats.org/drawingml/2006/table">
            <a:tbl>
              <a:tblPr firstRow="1" bandRow="1">
                <a:tableStyleId>{F5AB1C69-6EDB-4FF4-983F-18BD219EF322}</a:tableStyleId>
              </a:tblPr>
              <a:tblGrid>
                <a:gridCol w="1526697">
                  <a:extLst>
                    <a:ext uri="{9D8B030D-6E8A-4147-A177-3AD203B41FA5}">
                      <a16:colId xmlns:a16="http://schemas.microsoft.com/office/drawing/2014/main" val="20000"/>
                    </a:ext>
                  </a:extLst>
                </a:gridCol>
                <a:gridCol w="1526697">
                  <a:extLst>
                    <a:ext uri="{9D8B030D-6E8A-4147-A177-3AD203B41FA5}">
                      <a16:colId xmlns:a16="http://schemas.microsoft.com/office/drawing/2014/main" val="20001"/>
                    </a:ext>
                  </a:extLst>
                </a:gridCol>
                <a:gridCol w="1526697">
                  <a:extLst>
                    <a:ext uri="{9D8B030D-6E8A-4147-A177-3AD203B41FA5}">
                      <a16:colId xmlns:a16="http://schemas.microsoft.com/office/drawing/2014/main" val="20002"/>
                    </a:ext>
                  </a:extLst>
                </a:gridCol>
              </a:tblGrid>
              <a:tr h="701606">
                <a:tc>
                  <a:txBody>
                    <a:bodyPr/>
                    <a:lstStyle/>
                    <a:p>
                      <a:pPr marL="0" marR="0" indent="0" algn="ctr" defTabSz="914240" rtl="0" eaLnBrk="1" fontAlgn="auto" latinLnBrk="0" hangingPunct="1">
                        <a:lnSpc>
                          <a:spcPct val="100000"/>
                        </a:lnSpc>
                        <a:spcBef>
                          <a:spcPts val="0"/>
                        </a:spcBef>
                        <a:spcAft>
                          <a:spcPts val="0"/>
                        </a:spcAft>
                        <a:buClrTx/>
                        <a:buSzTx/>
                        <a:buFontTx/>
                        <a:buNone/>
                        <a:tabLst/>
                        <a:defRPr/>
                      </a:pPr>
                      <a:r>
                        <a:rPr lang="en-US" sz="1800" dirty="0"/>
                        <a:t>Proxy-Based</a:t>
                      </a:r>
                      <a:endParaRPr lang="en-US" sz="1800" b="0" dirty="0">
                        <a:latin typeface="+mn-lt"/>
                      </a:endParaRPr>
                    </a:p>
                  </a:txBody>
                  <a:tcPr/>
                </a:tc>
                <a:tc>
                  <a:txBody>
                    <a:bodyPr/>
                    <a:lstStyle/>
                    <a:p>
                      <a:pPr algn="ctr"/>
                      <a:r>
                        <a:rPr lang="en-US" sz="1800" dirty="0"/>
                        <a:t>Flow-Based</a:t>
                      </a:r>
                    </a:p>
                    <a:p>
                      <a:pPr marL="0" marR="0" indent="0" algn="ctr" defTabSz="914240" rtl="0" eaLnBrk="1" fontAlgn="auto" latinLnBrk="0" hangingPunct="1">
                        <a:lnSpc>
                          <a:spcPct val="100000"/>
                        </a:lnSpc>
                        <a:spcBef>
                          <a:spcPts val="0"/>
                        </a:spcBef>
                        <a:spcAft>
                          <a:spcPts val="0"/>
                        </a:spcAft>
                        <a:buClrTx/>
                        <a:buSzTx/>
                        <a:buFontTx/>
                        <a:buNone/>
                        <a:tabLst/>
                        <a:defRPr/>
                      </a:pPr>
                      <a:r>
                        <a:rPr lang="en-US" sz="1800" dirty="0"/>
                        <a:t>(Profile)</a:t>
                      </a:r>
                      <a:endParaRPr lang="en-US" sz="1800" b="0" dirty="0">
                        <a:latin typeface="+mn-lt"/>
                      </a:endParaRPr>
                    </a:p>
                  </a:txBody>
                  <a:tcPr/>
                </a:tc>
                <a:tc>
                  <a:txBody>
                    <a:bodyPr/>
                    <a:lstStyle/>
                    <a:p>
                      <a:pPr algn="ctr"/>
                      <a:r>
                        <a:rPr lang="en-US" sz="1800" dirty="0"/>
                        <a:t>Flow-Based</a:t>
                      </a:r>
                    </a:p>
                    <a:p>
                      <a:pPr algn="ctr"/>
                      <a:r>
                        <a:rPr lang="en-US" sz="1800" dirty="0"/>
                        <a:t>(Policy) </a:t>
                      </a:r>
                      <a:endParaRPr lang="en-US" sz="1800" b="0" dirty="0">
                        <a:latin typeface="+mn-lt"/>
                      </a:endParaRPr>
                    </a:p>
                  </a:txBody>
                  <a:tcPr/>
                </a:tc>
                <a:extLst>
                  <a:ext uri="{0D108BD9-81ED-4DB2-BD59-A6C34878D82A}">
                    <a16:rowId xmlns:a16="http://schemas.microsoft.com/office/drawing/2014/main" val="10000"/>
                  </a:ext>
                </a:extLst>
              </a:tr>
              <a:tr h="406486">
                <a:tc>
                  <a:txBody>
                    <a:bodyPr/>
                    <a:lstStyle/>
                    <a:p>
                      <a:pPr algn="ctr"/>
                      <a:r>
                        <a:rPr lang="en-CA" dirty="0"/>
                        <a:t>Allow</a:t>
                      </a:r>
                    </a:p>
                  </a:txBody>
                  <a:tcPr/>
                </a:tc>
                <a:tc>
                  <a:txBody>
                    <a:bodyPr/>
                    <a:lstStyle/>
                    <a:p>
                      <a:pPr algn="ctr"/>
                      <a:r>
                        <a:rPr lang="en-CA" dirty="0"/>
                        <a:t>Allow</a:t>
                      </a:r>
                    </a:p>
                  </a:txBody>
                  <a:tcPr/>
                </a:tc>
                <a:tc>
                  <a:txBody>
                    <a:bodyPr/>
                    <a:lstStyle/>
                    <a:p>
                      <a:pPr algn="ctr"/>
                      <a:r>
                        <a:rPr lang="en-US" dirty="0" smtClean="0"/>
                        <a:t>Accept</a:t>
                      </a:r>
                      <a:endParaRPr lang="en-CA" dirty="0"/>
                    </a:p>
                  </a:txBody>
                  <a:tcPr/>
                </a:tc>
                <a:extLst>
                  <a:ext uri="{0D108BD9-81ED-4DB2-BD59-A6C34878D82A}">
                    <a16:rowId xmlns:a16="http://schemas.microsoft.com/office/drawing/2014/main" val="10001"/>
                  </a:ext>
                </a:extLst>
              </a:tr>
              <a:tr h="406486">
                <a:tc>
                  <a:txBody>
                    <a:bodyPr/>
                    <a:lstStyle/>
                    <a:p>
                      <a:pPr algn="ctr"/>
                      <a:r>
                        <a:rPr lang="en-CA" dirty="0"/>
                        <a:t>Block</a:t>
                      </a:r>
                    </a:p>
                  </a:txBody>
                  <a:tcPr/>
                </a:tc>
                <a:tc>
                  <a:txBody>
                    <a:bodyPr/>
                    <a:lstStyle/>
                    <a:p>
                      <a:pPr algn="ctr"/>
                      <a:r>
                        <a:rPr lang="en-CA" dirty="0"/>
                        <a:t>Block</a:t>
                      </a:r>
                    </a:p>
                  </a:txBody>
                  <a:tcPr/>
                </a:tc>
                <a:tc>
                  <a:txBody>
                    <a:bodyPr/>
                    <a:lstStyle/>
                    <a:p>
                      <a:pPr algn="ctr"/>
                      <a:r>
                        <a:rPr lang="en-CA" dirty="0" smtClean="0"/>
                        <a:t>Deny</a:t>
                      </a:r>
                      <a:endParaRPr lang="en-CA" dirty="0"/>
                    </a:p>
                  </a:txBody>
                  <a:tcPr/>
                </a:tc>
                <a:extLst>
                  <a:ext uri="{0D108BD9-81ED-4DB2-BD59-A6C34878D82A}">
                    <a16:rowId xmlns:a16="http://schemas.microsoft.com/office/drawing/2014/main" val="10002"/>
                  </a:ext>
                </a:extLst>
              </a:tr>
              <a:tr h="406486">
                <a:tc>
                  <a:txBody>
                    <a:bodyPr/>
                    <a:lstStyle/>
                    <a:p>
                      <a:pPr algn="ctr"/>
                      <a:r>
                        <a:rPr lang="en-CA" dirty="0"/>
                        <a:t>Monitor</a:t>
                      </a:r>
                    </a:p>
                  </a:txBody>
                  <a:tcPr/>
                </a:tc>
                <a:tc>
                  <a:txBody>
                    <a:bodyPr/>
                    <a:lstStyle/>
                    <a:p>
                      <a:pPr algn="ctr"/>
                      <a:r>
                        <a:rPr lang="en-CA" dirty="0"/>
                        <a:t>Monitor</a:t>
                      </a:r>
                    </a:p>
                  </a:txBody>
                  <a:tcPr/>
                </a:tc>
                <a:tc>
                  <a:txBody>
                    <a:bodyPr/>
                    <a:lstStyle/>
                    <a:p>
                      <a:pPr algn="ctr"/>
                      <a:endParaRPr lang="en-CA" dirty="0"/>
                    </a:p>
                  </a:txBody>
                  <a:tcPr/>
                </a:tc>
                <a:extLst>
                  <a:ext uri="{0D108BD9-81ED-4DB2-BD59-A6C34878D82A}">
                    <a16:rowId xmlns:a16="http://schemas.microsoft.com/office/drawing/2014/main" val="10003"/>
                  </a:ext>
                </a:extLst>
              </a:tr>
              <a:tr h="406486">
                <a:tc>
                  <a:txBody>
                    <a:bodyPr/>
                    <a:lstStyle/>
                    <a:p>
                      <a:pPr algn="ctr"/>
                      <a:r>
                        <a:rPr lang="en-CA" dirty="0"/>
                        <a:t>Warning</a:t>
                      </a:r>
                    </a:p>
                  </a:txBody>
                  <a:tcPr/>
                </a:tc>
                <a:tc>
                  <a:txBody>
                    <a:bodyPr/>
                    <a:lstStyle/>
                    <a:p>
                      <a:pPr algn="ctr"/>
                      <a:r>
                        <a:rPr lang="en-CA" dirty="0"/>
                        <a:t>Warning</a:t>
                      </a:r>
                    </a:p>
                  </a:txBody>
                  <a:tcPr/>
                </a:tc>
                <a:tc>
                  <a:txBody>
                    <a:bodyPr/>
                    <a:lstStyle/>
                    <a:p>
                      <a:pPr algn="ctr"/>
                      <a:endParaRPr lang="en-CA" dirty="0"/>
                    </a:p>
                  </a:txBody>
                  <a:tcPr/>
                </a:tc>
                <a:extLst>
                  <a:ext uri="{0D108BD9-81ED-4DB2-BD59-A6C34878D82A}">
                    <a16:rowId xmlns:a16="http://schemas.microsoft.com/office/drawing/2014/main" val="10004"/>
                  </a:ext>
                </a:extLst>
              </a:tr>
              <a:tr h="406486">
                <a:tc>
                  <a:txBody>
                    <a:bodyPr/>
                    <a:lstStyle/>
                    <a:p>
                      <a:pPr algn="ctr"/>
                      <a:r>
                        <a:rPr lang="en-CA" dirty="0"/>
                        <a:t>Authenticate</a:t>
                      </a:r>
                    </a:p>
                  </a:txBody>
                  <a:tcPr/>
                </a:tc>
                <a:tc>
                  <a:txBody>
                    <a:bodyPr/>
                    <a:lstStyle/>
                    <a:p>
                      <a:pPr algn="ctr"/>
                      <a:r>
                        <a:rPr lang="en-CA" dirty="0"/>
                        <a:t>Authenticate</a:t>
                      </a:r>
                    </a:p>
                  </a:txBody>
                  <a:tcPr/>
                </a:tc>
                <a:tc>
                  <a:txBody>
                    <a:bodyPr/>
                    <a:lstStyle/>
                    <a:p>
                      <a:pPr algn="ctr"/>
                      <a:endParaRPr lang="en-CA" dirty="0"/>
                    </a:p>
                  </a:txBody>
                  <a:tcPr/>
                </a:tc>
                <a:extLst>
                  <a:ext uri="{0D108BD9-81ED-4DB2-BD59-A6C34878D82A}">
                    <a16:rowId xmlns:a16="http://schemas.microsoft.com/office/drawing/2014/main" val="10005"/>
                  </a:ext>
                </a:extLst>
              </a:tr>
            </a:tbl>
          </a:graphicData>
        </a:graphic>
      </p:graphicFrame>
      <p:sp>
        <p:nvSpPr>
          <p:cNvPr id="7" name="Text Box 37"/>
          <p:cNvSpPr txBox="1">
            <a:spLocks noChangeArrowheads="1"/>
          </p:cNvSpPr>
          <p:nvPr/>
        </p:nvSpPr>
        <p:spPr bwMode="auto">
          <a:xfrm>
            <a:off x="7238817" y="2798047"/>
            <a:ext cx="3035404" cy="53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400" b="1">
                <a:solidFill>
                  <a:schemeClr val="tx1"/>
                </a:solidFill>
                <a:latin typeface="Arial" charset="0"/>
                <a:ea typeface="MS PGothic" pitchFamily="34" charset="-128"/>
              </a:defRPr>
            </a:lvl9pPr>
          </a:lstStyle>
          <a:p>
            <a:r>
              <a:rPr lang="en-US" sz="2700" b="0" dirty="0">
                <a:latin typeface="+mn-lt"/>
              </a:rPr>
              <a:t>Categories action:</a:t>
            </a:r>
          </a:p>
        </p:txBody>
      </p:sp>
    </p:spTree>
    <p:custDataLst>
      <p:tags r:id="rId1"/>
    </p:custDataLst>
    <p:extLst>
      <p:ext uri="{BB962C8B-B14F-4D97-AF65-F5344CB8AC3E}">
        <p14:creationId xmlns:p14="http://schemas.microsoft.com/office/powerpoint/2010/main" val="42288486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US" dirty="0"/>
              <a:t>Web Filter FortiGuard Category Action</a:t>
            </a:r>
            <a:r>
              <a:rPr lang="en-CA" dirty="0"/>
              <a:t>—</a:t>
            </a:r>
            <a:r>
              <a:rPr lang="en-US" dirty="0"/>
              <a:t>Warning</a:t>
            </a:r>
          </a:p>
        </p:txBody>
      </p:sp>
      <p:sp>
        <p:nvSpPr>
          <p:cNvPr id="11" name="Content Placeholder 10"/>
          <p:cNvSpPr>
            <a:spLocks noGrp="1"/>
          </p:cNvSpPr>
          <p:nvPr>
            <p:ph idx="15"/>
          </p:nvPr>
        </p:nvSpPr>
        <p:spPr>
          <a:prstGeom prst="rect">
            <a:avLst/>
          </a:prstGeom>
        </p:spPr>
        <p:txBody>
          <a:bodyPr lIns="121899" tIns="60949" rIns="121899" bIns="60949">
            <a:normAutofit/>
          </a:bodyPr>
          <a:lstStyle/>
          <a:p>
            <a:r>
              <a:rPr lang="en-US" dirty="0"/>
              <a:t>Category Action =</a:t>
            </a:r>
          </a:p>
          <a:p>
            <a:pPr marL="0" indent="0">
              <a:buNone/>
            </a:pPr>
            <a:endParaRPr lang="en-US" sz="3500" dirty="0"/>
          </a:p>
          <a:p>
            <a:pPr marL="0" indent="0">
              <a:buNone/>
            </a:pPr>
            <a:endParaRPr lang="en-US" sz="100" dirty="0"/>
          </a:p>
          <a:p>
            <a:r>
              <a:rPr lang="en-US" dirty="0"/>
              <a:t>Exclusive for web filtering</a:t>
            </a:r>
          </a:p>
          <a:p>
            <a:pPr lvl="1"/>
            <a:r>
              <a:rPr lang="en-US" dirty="0"/>
              <a:t>Proxy mode</a:t>
            </a:r>
          </a:p>
          <a:p>
            <a:pPr lvl="1"/>
            <a:r>
              <a:rPr lang="en-US" dirty="0"/>
              <a:t>Flow mode (profile-based only)</a:t>
            </a:r>
          </a:p>
          <a:p>
            <a:pPr lvl="1"/>
            <a:r>
              <a:rPr lang="en-US" dirty="0"/>
              <a:t>Not available in:</a:t>
            </a:r>
          </a:p>
          <a:p>
            <a:pPr lvl="2"/>
            <a:r>
              <a:rPr lang="en-US" dirty="0"/>
              <a:t>Static URL filtering feature</a:t>
            </a:r>
          </a:p>
          <a:p>
            <a:pPr lvl="2"/>
            <a:endParaRPr lang="en-US" sz="1500" dirty="0"/>
          </a:p>
          <a:p>
            <a:r>
              <a:rPr lang="en-US" dirty="0"/>
              <a:t>FortiGuard warning page</a:t>
            </a:r>
          </a:p>
          <a:p>
            <a:pPr lvl="1"/>
            <a:r>
              <a:rPr lang="en-US" dirty="0"/>
              <a:t>Customizable warning interval</a:t>
            </a:r>
          </a:p>
        </p:txBody>
      </p:sp>
      <p:sp>
        <p:nvSpPr>
          <p:cNvPr id="3" name="Content Placeholder 2"/>
          <p:cNvSpPr>
            <a:spLocks noGrp="1"/>
          </p:cNvSpPr>
          <p:nvPr>
            <p:ph idx="16"/>
          </p:nvPr>
        </p:nvSpPr>
        <p:spPr/>
        <p:txBody>
          <a:bodyPr/>
          <a:lstStyle/>
          <a:p>
            <a:endParaRPr lang="en-US" dirty="0"/>
          </a:p>
        </p:txBody>
      </p:sp>
      <p:cxnSp>
        <p:nvCxnSpPr>
          <p:cNvPr id="32" name="Straight Arrow Connector 31"/>
          <p:cNvCxnSpPr/>
          <p:nvPr/>
        </p:nvCxnSpPr>
        <p:spPr bwMode="auto">
          <a:xfrm flipV="1">
            <a:off x="4275786" y="4353515"/>
            <a:ext cx="1979357" cy="347277"/>
          </a:xfrm>
          <a:prstGeom prst="straightConnector1">
            <a:avLst/>
          </a:prstGeom>
          <a:solidFill>
            <a:schemeClr val="accent2">
              <a:alpha val="42000"/>
            </a:schemeClr>
          </a:solidFill>
          <a:ln w="38100" cap="flat" cmpd="sng" algn="ctr">
            <a:solidFill>
              <a:srgbClr val="FF0000"/>
            </a:solidFill>
            <a:prstDash val="solid"/>
            <a:round/>
            <a:headEnd type="none" w="med" len="med"/>
            <a:tailEnd type="triangle" w="med" len="med"/>
          </a:ln>
          <a:effectLst/>
        </p:spPr>
      </p:cxnSp>
      <p:pic>
        <p:nvPicPr>
          <p:cNvPr id="5" name="Picture 4"/>
          <p:cNvPicPr>
            <a:picLocks noChangeAspect="1"/>
          </p:cNvPicPr>
          <p:nvPr/>
        </p:nvPicPr>
        <p:blipFill>
          <a:blip r:embed="rId4"/>
          <a:stretch>
            <a:fillRect/>
          </a:stretch>
        </p:blipFill>
        <p:spPr>
          <a:xfrm>
            <a:off x="434400" y="1521378"/>
            <a:ext cx="5278577" cy="406044"/>
          </a:xfrm>
          <a:prstGeom prst="rect">
            <a:avLst/>
          </a:prstGeom>
          <a:ln>
            <a:solidFill>
              <a:srgbClr val="000000"/>
            </a:solidFill>
          </a:ln>
        </p:spPr>
      </p:pic>
      <p:sp>
        <p:nvSpPr>
          <p:cNvPr id="7" name="Rectangle 6"/>
          <p:cNvSpPr/>
          <p:nvPr/>
        </p:nvSpPr>
        <p:spPr>
          <a:xfrm>
            <a:off x="3212538" y="1547247"/>
            <a:ext cx="1030880" cy="34788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pic>
        <p:nvPicPr>
          <p:cNvPr id="9" name="Picture 8"/>
          <p:cNvPicPr>
            <a:picLocks noChangeAspect="1"/>
          </p:cNvPicPr>
          <p:nvPr/>
        </p:nvPicPr>
        <p:blipFill>
          <a:blip r:embed="rId5"/>
          <a:stretch>
            <a:fillRect/>
          </a:stretch>
        </p:blipFill>
        <p:spPr>
          <a:xfrm>
            <a:off x="6289867" y="1927422"/>
            <a:ext cx="5314209" cy="3312255"/>
          </a:xfrm>
          <a:prstGeom prst="rect">
            <a:avLst/>
          </a:prstGeom>
          <a:ln>
            <a:solidFill>
              <a:srgbClr val="000000"/>
            </a:solidFill>
          </a:ln>
        </p:spPr>
      </p:pic>
      <p:sp>
        <p:nvSpPr>
          <p:cNvPr id="13" name="TextBox 12"/>
          <p:cNvSpPr txBox="1"/>
          <p:nvPr/>
        </p:nvSpPr>
        <p:spPr>
          <a:xfrm>
            <a:off x="6289867" y="1556575"/>
            <a:ext cx="3520516" cy="338554"/>
          </a:xfrm>
          <a:prstGeom prst="rect">
            <a:avLst/>
          </a:prstGeom>
          <a:solidFill>
            <a:srgbClr val="00B0F0"/>
          </a:solidFill>
        </p:spPr>
        <p:txBody>
          <a:bodyPr wrap="none" rtlCol="0">
            <a:spAutoFit/>
          </a:bodyPr>
          <a:lstStyle/>
          <a:p>
            <a:r>
              <a:rPr lang="en-CA" sz="1600" b="1" dirty="0" smtClean="0"/>
              <a:t>System </a:t>
            </a:r>
            <a:r>
              <a:rPr lang="en-CA" sz="1600" dirty="0" smtClean="0"/>
              <a:t>&gt;</a:t>
            </a:r>
            <a:r>
              <a:rPr lang="en-CA" sz="1600" b="1" dirty="0" smtClean="0"/>
              <a:t> Replacement Messages</a:t>
            </a:r>
            <a:endParaRPr lang="en-CA" sz="1600" b="1" dirty="0"/>
          </a:p>
        </p:txBody>
      </p:sp>
    </p:spTree>
    <p:custDataLst>
      <p:tags r:id="rId1"/>
    </p:custDataLst>
    <p:extLst>
      <p:ext uri="{BB962C8B-B14F-4D97-AF65-F5344CB8AC3E}">
        <p14:creationId xmlns:p14="http://schemas.microsoft.com/office/powerpoint/2010/main" val="910359721"/>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a:fillRect/>
          </a:stretch>
        </p:blipFill>
        <p:spPr>
          <a:xfrm>
            <a:off x="339631" y="1557539"/>
            <a:ext cx="3616622" cy="1694556"/>
          </a:xfrm>
          <a:prstGeom prst="rect">
            <a:avLst/>
          </a:prstGeom>
          <a:ln>
            <a:solidFill>
              <a:srgbClr val="000000"/>
            </a:solidFill>
          </a:ln>
        </p:spPr>
      </p:pic>
      <p:sp>
        <p:nvSpPr>
          <p:cNvPr id="22" name="Content Placeholder 21"/>
          <p:cNvSpPr>
            <a:spLocks noGrp="1"/>
          </p:cNvSpPr>
          <p:nvPr>
            <p:ph idx="15"/>
          </p:nvPr>
        </p:nvSpPr>
        <p:spPr>
          <a:xfrm>
            <a:off x="7100917" y="1382488"/>
            <a:ext cx="4801267" cy="4688112"/>
          </a:xfrm>
          <a:prstGeom prst="rect">
            <a:avLst/>
          </a:prstGeom>
        </p:spPr>
        <p:txBody>
          <a:bodyPr lIns="121899" tIns="60949" rIns="121899" bIns="60949">
            <a:normAutofit/>
          </a:bodyPr>
          <a:lstStyle/>
          <a:p>
            <a:pPr marL="609493" indent="-609493">
              <a:buFont typeface="+mj-lt"/>
              <a:buAutoNum type="arabicPeriod"/>
            </a:pPr>
            <a:r>
              <a:rPr lang="en-US" sz="2400" dirty="0"/>
              <a:t>Define </a:t>
            </a:r>
            <a:r>
              <a:rPr lang="en-US" sz="2400" b="1" dirty="0">
                <a:cs typeface="Courier New" panose="02070309020205020404" pitchFamily="49" charset="0"/>
              </a:rPr>
              <a:t>Users</a:t>
            </a:r>
            <a:r>
              <a:rPr lang="en-US" sz="2400" dirty="0"/>
              <a:t> and </a:t>
            </a:r>
            <a:r>
              <a:rPr lang="en-US" sz="2400" b="1" dirty="0">
                <a:cs typeface="Courier New" panose="02070309020205020404" pitchFamily="49" charset="0"/>
              </a:rPr>
              <a:t>Group</a:t>
            </a:r>
            <a:endParaRPr lang="en-US" sz="2400" dirty="0">
              <a:cs typeface="Courier New" panose="02070309020205020404" pitchFamily="49" charset="0"/>
            </a:endParaRPr>
          </a:p>
          <a:p>
            <a:pPr marL="609493" indent="-609493">
              <a:buFont typeface="+mj-lt"/>
              <a:buAutoNum type="arabicPeriod"/>
            </a:pPr>
            <a:r>
              <a:rPr lang="en-US" sz="2400" dirty="0"/>
              <a:t>Set Action = </a:t>
            </a:r>
            <a:r>
              <a:rPr lang="en-US" sz="2400" b="1" dirty="0">
                <a:cs typeface="Courier New" panose="02070309020205020404" pitchFamily="49" charset="0"/>
              </a:rPr>
              <a:t>Authenticate</a:t>
            </a:r>
            <a:endParaRPr lang="en-US" sz="2400" dirty="0">
              <a:cs typeface="Courier New" panose="02070309020205020404" pitchFamily="49" charset="0"/>
            </a:endParaRPr>
          </a:p>
          <a:p>
            <a:pPr marL="609493" indent="-609493">
              <a:buFont typeface="+mj-lt"/>
              <a:buAutoNum type="arabicPeriod"/>
            </a:pPr>
            <a:r>
              <a:rPr lang="en-US" sz="2400" dirty="0"/>
              <a:t>Select </a:t>
            </a:r>
            <a:r>
              <a:rPr lang="en-US" sz="2400" b="1" dirty="0">
                <a:cs typeface="Courier New" panose="02070309020205020404" pitchFamily="49" charset="0"/>
              </a:rPr>
              <a:t>User Group</a:t>
            </a:r>
            <a:endParaRPr lang="en-US" sz="2400" dirty="0">
              <a:cs typeface="Courier New" panose="02070309020205020404" pitchFamily="49" charset="0"/>
            </a:endParaRPr>
          </a:p>
          <a:p>
            <a:pPr marL="609493" indent="-609493">
              <a:buFont typeface="+mj-lt"/>
              <a:buAutoNum type="arabicPeriod"/>
            </a:pPr>
            <a:endParaRPr lang="en-US" sz="2400" dirty="0"/>
          </a:p>
        </p:txBody>
      </p:sp>
      <p:sp>
        <p:nvSpPr>
          <p:cNvPr id="32773" name="Rectangle 2"/>
          <p:cNvSpPr>
            <a:spLocks noGrp="1" noChangeArrowheads="1"/>
          </p:cNvSpPr>
          <p:nvPr>
            <p:ph type="title"/>
          </p:nvPr>
        </p:nvSpPr>
        <p:spPr/>
        <p:txBody>
          <a:bodyPr>
            <a:normAutofit fontScale="90000"/>
          </a:bodyPr>
          <a:lstStyle/>
          <a:p>
            <a:r>
              <a:rPr lang="en-US" dirty="0"/>
              <a:t>Web Filter </a:t>
            </a:r>
            <a:r>
              <a:rPr lang="en-US" dirty="0">
                <a:cs typeface="Arial" charset="0"/>
              </a:rPr>
              <a:t>FortiGuard Category Action</a:t>
            </a:r>
            <a:r>
              <a:rPr lang="en-CA" dirty="0"/>
              <a:t>—</a:t>
            </a:r>
            <a:r>
              <a:rPr lang="en-US" dirty="0">
                <a:cs typeface="Arial" charset="0"/>
              </a:rPr>
              <a:t>Authenticate</a:t>
            </a:r>
          </a:p>
        </p:txBody>
      </p:sp>
      <p:cxnSp>
        <p:nvCxnSpPr>
          <p:cNvPr id="11" name="Straight Connector 10"/>
          <p:cNvCxnSpPr>
            <a:cxnSpLocks/>
          </p:cNvCxnSpPr>
          <p:nvPr/>
        </p:nvCxnSpPr>
        <p:spPr bwMode="auto">
          <a:xfrm flipH="1">
            <a:off x="6270085" y="5516763"/>
            <a:ext cx="1374195" cy="194861"/>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cxnSp>
        <p:nvCxnSpPr>
          <p:cNvPr id="24" name="Straight Connector 23"/>
          <p:cNvCxnSpPr>
            <a:cxnSpLocks/>
          </p:cNvCxnSpPr>
          <p:nvPr/>
        </p:nvCxnSpPr>
        <p:spPr bwMode="auto">
          <a:xfrm>
            <a:off x="8430604" y="5516764"/>
            <a:ext cx="2133044" cy="389721"/>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sp>
        <p:nvSpPr>
          <p:cNvPr id="1613842" name="Oval 18"/>
          <p:cNvSpPr>
            <a:spLocks noChangeArrowheads="1"/>
          </p:cNvSpPr>
          <p:nvPr/>
        </p:nvSpPr>
        <p:spPr bwMode="auto">
          <a:xfrm>
            <a:off x="6012612" y="5636413"/>
            <a:ext cx="260283" cy="195263"/>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nchor="ctr"/>
          <a:lstStyle/>
          <a:p>
            <a:pPr>
              <a:defRPr/>
            </a:pPr>
            <a:endParaRPr lang="en-CA" dirty="0"/>
          </a:p>
        </p:txBody>
      </p:sp>
      <p:sp>
        <p:nvSpPr>
          <p:cNvPr id="1613873" name="AutoShape 49"/>
          <p:cNvSpPr>
            <a:spLocks noChangeArrowheads="1"/>
          </p:cNvSpPr>
          <p:nvPr/>
        </p:nvSpPr>
        <p:spPr bwMode="auto">
          <a:xfrm rot="20346394">
            <a:off x="8464793" y="4960091"/>
            <a:ext cx="468018" cy="232020"/>
          </a:xfrm>
          <a:prstGeom prst="rightArrow">
            <a:avLst>
              <a:gd name="adj1" fmla="val 50000"/>
              <a:gd name="adj2" fmla="val 37064"/>
            </a:avLst>
          </a:prstGeom>
          <a:solidFill>
            <a:srgbClr val="FF0000"/>
          </a:solidFill>
          <a:ln w="12700">
            <a:solidFill>
              <a:srgbClr val="FF0000"/>
            </a:solidFill>
            <a:miter lim="800000"/>
            <a:headEnd/>
            <a:tailEnd/>
          </a:ln>
          <a:effectLst/>
        </p:spPr>
        <p:txBody>
          <a:bodyPr rot="10800000" wrap="none" lIns="121899" tIns="60949" rIns="121899" bIns="60949" anchor="ctr"/>
          <a:lstStyle/>
          <a:p>
            <a:endParaRPr lang="en-CA" dirty="0"/>
          </a:p>
        </p:txBody>
      </p:sp>
      <p:sp>
        <p:nvSpPr>
          <p:cNvPr id="2" name="Oval 58"/>
          <p:cNvSpPr>
            <a:spLocks noChangeArrowheads="1"/>
          </p:cNvSpPr>
          <p:nvPr/>
        </p:nvSpPr>
        <p:spPr bwMode="auto">
          <a:xfrm>
            <a:off x="5275832" y="2624283"/>
            <a:ext cx="1059384" cy="903287"/>
          </a:xfrm>
          <a:prstGeom prst="ellipse">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nchor="ctr"/>
          <a:lstStyle/>
          <a:p>
            <a:endParaRPr lang="en-CA" dirty="0"/>
          </a:p>
        </p:txBody>
      </p:sp>
      <p:sp>
        <p:nvSpPr>
          <p:cNvPr id="35" name="Oval 19"/>
          <p:cNvSpPr>
            <a:spLocks noChangeArrowheads="1"/>
          </p:cNvSpPr>
          <p:nvPr/>
        </p:nvSpPr>
        <p:spPr bwMode="auto">
          <a:xfrm>
            <a:off x="7889432" y="5357283"/>
            <a:ext cx="260283" cy="195263"/>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nchor="ctr"/>
          <a:lstStyle/>
          <a:p>
            <a:pPr>
              <a:defRPr/>
            </a:pPr>
            <a:endParaRPr lang="en-CA" dirty="0"/>
          </a:p>
        </p:txBody>
      </p:sp>
      <p:pic>
        <p:nvPicPr>
          <p:cNvPr id="33" name="Picture 32"/>
          <p:cNvPicPr>
            <a:picLocks noChangeAspect="1"/>
          </p:cNvPicPr>
          <p:nvPr/>
        </p:nvPicPr>
        <p:blipFill>
          <a:blip r:embed="rId5" cstate="print"/>
          <a:stretch>
            <a:fillRect/>
          </a:stretch>
        </p:blipFill>
        <p:spPr>
          <a:xfrm>
            <a:off x="5522489" y="5206788"/>
            <a:ext cx="953410" cy="1098077"/>
          </a:xfrm>
          <a:prstGeom prst="rect">
            <a:avLst/>
          </a:prstGeom>
        </p:spPr>
      </p:pic>
      <p:pic>
        <p:nvPicPr>
          <p:cNvPr id="38" name="Picture 37"/>
          <p:cNvPicPr>
            <a:picLocks noChangeAspect="1"/>
          </p:cNvPicPr>
          <p:nvPr/>
        </p:nvPicPr>
        <p:blipFill>
          <a:blip r:embed="rId6" cstate="print"/>
          <a:stretch>
            <a:fillRect/>
          </a:stretch>
        </p:blipFill>
        <p:spPr>
          <a:xfrm>
            <a:off x="10125049" y="5285827"/>
            <a:ext cx="1455887" cy="940000"/>
          </a:xfrm>
          <a:prstGeom prst="rect">
            <a:avLst/>
          </a:prstGeom>
        </p:spPr>
      </p:pic>
      <p:grpSp>
        <p:nvGrpSpPr>
          <p:cNvPr id="20" name="Group 19"/>
          <p:cNvGrpSpPr/>
          <p:nvPr/>
        </p:nvGrpSpPr>
        <p:grpSpPr>
          <a:xfrm>
            <a:off x="3918470" y="1397001"/>
            <a:ext cx="2672793" cy="2218583"/>
            <a:chOff x="160665" y="2912013"/>
            <a:chExt cx="2005117" cy="1663937"/>
          </a:xfrm>
        </p:grpSpPr>
        <p:pic>
          <p:nvPicPr>
            <p:cNvPr id="40" name="Picture 2"/>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flipH="1">
              <a:off x="874640" y="3290783"/>
              <a:ext cx="444786" cy="593824"/>
            </a:xfrm>
            <a:prstGeom prst="rect">
              <a:avLst/>
            </a:prstGeom>
            <a:noFill/>
          </p:spPr>
        </p:pic>
        <p:grpSp>
          <p:nvGrpSpPr>
            <p:cNvPr id="1613881" name="Group 57"/>
            <p:cNvGrpSpPr>
              <a:grpSpLocks/>
            </p:cNvGrpSpPr>
            <p:nvPr/>
          </p:nvGrpSpPr>
          <p:grpSpPr bwMode="auto">
            <a:xfrm>
              <a:off x="160665" y="2912013"/>
              <a:ext cx="2005117" cy="1663937"/>
              <a:chOff x="251" y="1479"/>
              <a:chExt cx="1099" cy="1216"/>
            </a:xfrm>
          </p:grpSpPr>
          <p:sp>
            <p:nvSpPr>
              <p:cNvPr id="32798" name="Rectangle 53"/>
              <p:cNvSpPr>
                <a:spLocks noChangeArrowheads="1"/>
              </p:cNvSpPr>
              <p:nvPr/>
            </p:nvSpPr>
            <p:spPr bwMode="auto">
              <a:xfrm>
                <a:off x="351" y="1714"/>
                <a:ext cx="911" cy="981"/>
              </a:xfrm>
              <a:prstGeom prst="rect">
                <a:avLst/>
              </a:prstGeom>
              <a:noFill/>
              <a:ln w="28575" cap="rnd">
                <a:solidFill>
                  <a:schemeClr val="hlink"/>
                </a:solidFill>
                <a:prstDash val="sys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dirty="0"/>
              </a:p>
            </p:txBody>
          </p:sp>
          <p:sp>
            <p:nvSpPr>
              <p:cNvPr id="32801" name="Text Box 56"/>
              <p:cNvSpPr txBox="1">
                <a:spLocks noChangeArrowheads="1"/>
              </p:cNvSpPr>
              <p:nvPr/>
            </p:nvSpPr>
            <p:spPr bwMode="auto">
              <a:xfrm>
                <a:off x="251" y="1479"/>
                <a:ext cx="1099" cy="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400" b="1">
                    <a:solidFill>
                      <a:schemeClr val="tx1"/>
                    </a:solidFill>
                    <a:latin typeface="Arial" charset="0"/>
                    <a:ea typeface="MS PGothic" pitchFamily="34" charset="-128"/>
                  </a:defRPr>
                </a:lvl9pPr>
              </a:lstStyle>
              <a:p>
                <a:pPr algn="ctr"/>
                <a:r>
                  <a:rPr lang="en-US" dirty="0" err="1">
                    <a:latin typeface="+mn-lt"/>
                  </a:rPr>
                  <a:t>WebFilter_Group</a:t>
                </a:r>
                <a:endParaRPr lang="en-US" dirty="0">
                  <a:latin typeface="+mn-lt"/>
                </a:endParaRPr>
              </a:p>
            </p:txBody>
          </p:sp>
        </p:grpSp>
        <p:pic>
          <p:nvPicPr>
            <p:cNvPr id="39" name="Picture 2"/>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flipH="1">
              <a:off x="446269" y="3900383"/>
              <a:ext cx="446329" cy="595105"/>
            </a:xfrm>
            <a:prstGeom prst="rect">
              <a:avLst/>
            </a:prstGeom>
            <a:noFill/>
          </p:spPr>
        </p:pic>
        <p:pic>
          <p:nvPicPr>
            <p:cNvPr id="41" name="Picture 2"/>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flipH="1">
              <a:off x="1363993" y="3891240"/>
              <a:ext cx="442078" cy="595106"/>
            </a:xfrm>
            <a:prstGeom prst="rect">
              <a:avLst/>
            </a:prstGeom>
            <a:noFill/>
          </p:spPr>
        </p:pic>
      </p:grpSp>
      <p:pic>
        <p:nvPicPr>
          <p:cNvPr id="42" name="Picture 2"/>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flipH="1">
            <a:off x="4862358" y="5436484"/>
            <a:ext cx="698104" cy="940000"/>
          </a:xfrm>
          <a:prstGeom prst="rect">
            <a:avLst/>
          </a:prstGeom>
          <a:noFill/>
        </p:spPr>
      </p:pic>
      <p:pic>
        <p:nvPicPr>
          <p:cNvPr id="44" name="Picture 43"/>
          <p:cNvPicPr>
            <a:picLocks noChangeAspect="1"/>
          </p:cNvPicPr>
          <p:nvPr/>
        </p:nvPicPr>
        <p:blipFill>
          <a:blip r:embed="rId11" cstate="print"/>
          <a:stretch>
            <a:fillRect/>
          </a:stretch>
        </p:blipFill>
        <p:spPr>
          <a:xfrm>
            <a:off x="9174635" y="4739640"/>
            <a:ext cx="497076" cy="495096"/>
          </a:xfrm>
          <a:prstGeom prst="rect">
            <a:avLst/>
          </a:prstGeom>
        </p:spPr>
      </p:pic>
      <p:pic>
        <p:nvPicPr>
          <p:cNvPr id="48" name="Picture 21" descr="search"/>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050203" y="4776088"/>
            <a:ext cx="377619" cy="16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48"/>
          <p:cNvPicPr>
            <a:picLocks noChangeAspect="1"/>
          </p:cNvPicPr>
          <p:nvPr/>
        </p:nvPicPr>
        <p:blipFill>
          <a:blip r:embed="rId13" cstate="print"/>
          <a:stretch>
            <a:fillRect/>
          </a:stretch>
        </p:blipFill>
        <p:spPr>
          <a:xfrm>
            <a:off x="7500569" y="5031241"/>
            <a:ext cx="1255838" cy="875243"/>
          </a:xfrm>
          <a:prstGeom prst="rect">
            <a:avLst/>
          </a:prstGeom>
        </p:spPr>
      </p:pic>
      <p:sp>
        <p:nvSpPr>
          <p:cNvPr id="58" name="AutoShape 49"/>
          <p:cNvSpPr>
            <a:spLocks noChangeArrowheads="1"/>
          </p:cNvSpPr>
          <p:nvPr/>
        </p:nvSpPr>
        <p:spPr bwMode="auto">
          <a:xfrm rot="5400000">
            <a:off x="1588874" y="3932776"/>
            <a:ext cx="416265" cy="252584"/>
          </a:xfrm>
          <a:prstGeom prst="rightArrow">
            <a:avLst>
              <a:gd name="adj1" fmla="val 50000"/>
              <a:gd name="adj2" fmla="val 37064"/>
            </a:avLst>
          </a:prstGeom>
          <a:solidFill>
            <a:srgbClr val="FF0000"/>
          </a:solidFill>
          <a:ln w="12700">
            <a:solidFill>
              <a:srgbClr val="FF0000"/>
            </a:solidFill>
            <a:miter lim="800000"/>
            <a:headEnd/>
            <a:tailEnd/>
          </a:ln>
          <a:effectLst/>
        </p:spPr>
        <p:txBody>
          <a:bodyPr rot="10800000" wrap="none" lIns="121899" tIns="60949" rIns="121899" bIns="60949" anchor="ctr"/>
          <a:lstStyle/>
          <a:p>
            <a:endParaRPr lang="en-CA" dirty="0"/>
          </a:p>
        </p:txBody>
      </p:sp>
      <p:sp>
        <p:nvSpPr>
          <p:cNvPr id="66" name="AutoShape 49"/>
          <p:cNvSpPr>
            <a:spLocks noChangeArrowheads="1"/>
          </p:cNvSpPr>
          <p:nvPr/>
        </p:nvSpPr>
        <p:spPr bwMode="auto">
          <a:xfrm rot="19144886">
            <a:off x="3405551" y="3922913"/>
            <a:ext cx="619304" cy="252649"/>
          </a:xfrm>
          <a:prstGeom prst="rightArrow">
            <a:avLst>
              <a:gd name="adj1" fmla="val 50000"/>
              <a:gd name="adj2" fmla="val 37064"/>
            </a:avLst>
          </a:prstGeom>
          <a:solidFill>
            <a:srgbClr val="FF0000"/>
          </a:solidFill>
          <a:ln w="12700">
            <a:solidFill>
              <a:srgbClr val="FF0000"/>
            </a:solidFill>
            <a:miter lim="800000"/>
            <a:headEnd/>
            <a:tailEnd/>
          </a:ln>
          <a:effectLst/>
        </p:spPr>
        <p:txBody>
          <a:bodyPr rot="10800000" wrap="none" lIns="121899" tIns="60949" rIns="121899" bIns="60949" anchor="ctr"/>
          <a:lstStyle/>
          <a:p>
            <a:endParaRPr lang="en-CA" dirty="0"/>
          </a:p>
        </p:txBody>
      </p:sp>
      <p:sp>
        <p:nvSpPr>
          <p:cNvPr id="67" name="Text Box 8"/>
          <p:cNvSpPr txBox="1">
            <a:spLocks noChangeArrowheads="1"/>
          </p:cNvSpPr>
          <p:nvPr/>
        </p:nvSpPr>
        <p:spPr bwMode="auto">
          <a:xfrm>
            <a:off x="4354792" y="4693594"/>
            <a:ext cx="3002605"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400" b="1">
                <a:solidFill>
                  <a:schemeClr val="tx1"/>
                </a:solidFill>
                <a:latin typeface="Arial" charset="0"/>
                <a:ea typeface="MS PGothic" pitchFamily="34" charset="-128"/>
              </a:defRPr>
            </a:lvl9pPr>
          </a:lstStyle>
          <a:p>
            <a:r>
              <a:rPr lang="en-US" b="0" dirty="0">
                <a:solidFill>
                  <a:schemeClr val="bg2">
                    <a:lumMod val="25000"/>
                  </a:schemeClr>
                </a:solidFill>
                <a:latin typeface="Courier New" panose="02070309020205020404" pitchFamily="49" charset="0"/>
                <a:cs typeface="Courier New" panose="02070309020205020404" pitchFamily="49" charset="0"/>
              </a:rPr>
              <a:t>www.youtube.com</a:t>
            </a:r>
          </a:p>
        </p:txBody>
      </p:sp>
      <p:sp>
        <p:nvSpPr>
          <p:cNvPr id="30" name="TextBox 29"/>
          <p:cNvSpPr txBox="1"/>
          <p:nvPr/>
        </p:nvSpPr>
        <p:spPr>
          <a:xfrm>
            <a:off x="339631" y="1192099"/>
            <a:ext cx="3031086" cy="338554"/>
          </a:xfrm>
          <a:prstGeom prst="rect">
            <a:avLst/>
          </a:prstGeom>
          <a:solidFill>
            <a:srgbClr val="00B0F0"/>
          </a:solidFill>
        </p:spPr>
        <p:txBody>
          <a:bodyPr wrap="none" rtlCol="0">
            <a:spAutoFit/>
          </a:bodyPr>
          <a:lstStyle/>
          <a:p>
            <a:r>
              <a:rPr lang="en-CA" sz="1600" b="1" dirty="0"/>
              <a:t>Security Profiles </a:t>
            </a:r>
            <a:r>
              <a:rPr lang="en-CA" sz="1600" dirty="0"/>
              <a:t>&gt;</a:t>
            </a:r>
            <a:r>
              <a:rPr lang="en-CA" sz="1600" b="1" dirty="0"/>
              <a:t> Web Filter</a:t>
            </a:r>
          </a:p>
        </p:txBody>
      </p:sp>
      <p:sp>
        <p:nvSpPr>
          <p:cNvPr id="3" name="Rectangle 2"/>
          <p:cNvSpPr/>
          <p:nvPr/>
        </p:nvSpPr>
        <p:spPr bwMode="invGray">
          <a:xfrm>
            <a:off x="345344" y="2310132"/>
            <a:ext cx="3573125" cy="211780"/>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pic>
        <p:nvPicPr>
          <p:cNvPr id="4" name="Picture 3"/>
          <p:cNvPicPr>
            <a:picLocks noChangeAspect="1"/>
          </p:cNvPicPr>
          <p:nvPr/>
        </p:nvPicPr>
        <p:blipFill>
          <a:blip r:embed="rId14"/>
          <a:stretch>
            <a:fillRect/>
          </a:stretch>
        </p:blipFill>
        <p:spPr>
          <a:xfrm>
            <a:off x="223141" y="4517137"/>
            <a:ext cx="4040245" cy="750801"/>
          </a:xfrm>
          <a:prstGeom prst="rect">
            <a:avLst/>
          </a:prstGeom>
          <a:ln>
            <a:solidFill>
              <a:srgbClr val="000000"/>
            </a:solidFill>
          </a:ln>
        </p:spPr>
      </p:pic>
      <p:pic>
        <p:nvPicPr>
          <p:cNvPr id="8" name="Picture 7"/>
          <p:cNvPicPr>
            <a:picLocks noChangeAspect="1"/>
          </p:cNvPicPr>
          <p:nvPr/>
        </p:nvPicPr>
        <p:blipFill>
          <a:blip r:embed="rId15"/>
          <a:stretch>
            <a:fillRect/>
          </a:stretch>
        </p:blipFill>
        <p:spPr>
          <a:xfrm>
            <a:off x="7491405" y="2801580"/>
            <a:ext cx="2900601" cy="1766602"/>
          </a:xfrm>
          <a:prstGeom prst="rect">
            <a:avLst/>
          </a:prstGeom>
          <a:ln>
            <a:solidFill>
              <a:srgbClr val="000000"/>
            </a:solidFill>
          </a:ln>
        </p:spPr>
      </p:pic>
    </p:spTree>
    <p:custDataLst>
      <p:tags r:id="rId1"/>
    </p:custDataLst>
    <p:extLst>
      <p:ext uri="{BB962C8B-B14F-4D97-AF65-F5344CB8AC3E}">
        <p14:creationId xmlns:p14="http://schemas.microsoft.com/office/powerpoint/2010/main" val="76670078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up)">
                                      <p:cBhvr>
                                        <p:cTn id="15" dur="500"/>
                                        <p:tgtEl>
                                          <p:spTgt spid="58"/>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wipe(left)">
                                      <p:cBhvr>
                                        <p:cTn id="19" dur="500"/>
                                        <p:tgtEl>
                                          <p:spTgt spid="6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750"/>
                                        <p:tgtEl>
                                          <p:spTgt spid="20"/>
                                        </p:tgtEl>
                                      </p:cBhvr>
                                    </p:animEffect>
                                  </p:childTnLst>
                                </p:cTn>
                              </p:par>
                            </p:childTnLst>
                          </p:cTn>
                        </p:par>
                        <p:par>
                          <p:cTn id="24" fill="hold">
                            <p:stCondLst>
                              <p:cond delay="2750"/>
                            </p:stCondLst>
                            <p:childTnLst>
                              <p:par>
                                <p:cTn id="25" presetID="16" presetClass="entr" presetSubtype="21" fill="hold" grpId="0"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inVertical)">
                                      <p:cBhvr>
                                        <p:cTn id="27" dur="500"/>
                                        <p:tgtEl>
                                          <p:spTgt spid="2"/>
                                        </p:tgtEl>
                                      </p:cBhvr>
                                    </p:animEffect>
                                  </p:childTnLst>
                                </p:cTn>
                              </p:par>
                            </p:childTnLst>
                          </p:cTn>
                        </p:par>
                        <p:par>
                          <p:cTn id="28" fill="hold">
                            <p:stCondLst>
                              <p:cond delay="3250"/>
                            </p:stCondLst>
                            <p:childTnLst>
                              <p:par>
                                <p:cTn id="29" presetID="22" presetClass="entr" presetSubtype="8" fill="hold" grpId="0" nodeType="after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wipe(left)">
                                      <p:cBhvr>
                                        <p:cTn id="31" dur="1000"/>
                                        <p:tgtEl>
                                          <p:spTgt spid="67"/>
                                        </p:tgtEl>
                                      </p:cBhvr>
                                    </p:animEffect>
                                  </p:childTnLst>
                                </p:cTn>
                              </p:par>
                            </p:childTnLst>
                          </p:cTn>
                        </p:par>
                        <p:par>
                          <p:cTn id="32" fill="hold">
                            <p:stCondLst>
                              <p:cond delay="4250"/>
                            </p:stCondLst>
                            <p:childTnLst>
                              <p:par>
                                <p:cTn id="33" presetID="42" presetClass="path" presetSubtype="0" accel="50000" decel="50000" fill="hold" grpId="0" nodeType="afterEffect">
                                  <p:stCondLst>
                                    <p:cond delay="0"/>
                                  </p:stCondLst>
                                  <p:childTnLst>
                                    <p:animMotion origin="layout" path="M 0.20365 -0.04012 L -8.33333E-7 2.46914E-7 " pathEditMode="relative" rAng="0" ptsTypes="AA">
                                      <p:cBhvr>
                                        <p:cTn id="34" dur="1750" spd="-100000" fill="hold"/>
                                        <p:tgtEl>
                                          <p:spTgt spid="1613842"/>
                                        </p:tgtEl>
                                        <p:attrNameLst>
                                          <p:attrName>ppt_x</p:attrName>
                                          <p:attrName>ppt_y</p:attrName>
                                        </p:attrNameLst>
                                      </p:cBhvr>
                                      <p:rCtr x="-10191" y="2006"/>
                                    </p:animMotion>
                                  </p:childTnLst>
                                </p:cTn>
                              </p:par>
                            </p:childTnLst>
                          </p:cTn>
                        </p:par>
                        <p:par>
                          <p:cTn id="35" fill="hold">
                            <p:stCondLst>
                              <p:cond delay="6000"/>
                            </p:stCondLst>
                            <p:childTnLst>
                              <p:par>
                                <p:cTn id="36" presetID="53" presetClass="entr" presetSubtype="16"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500" fill="hold"/>
                                        <p:tgtEl>
                                          <p:spTgt spid="8"/>
                                        </p:tgtEl>
                                        <p:attrNameLst>
                                          <p:attrName>ppt_w</p:attrName>
                                        </p:attrNameLst>
                                      </p:cBhvr>
                                      <p:tavLst>
                                        <p:tav tm="0">
                                          <p:val>
                                            <p:fltVal val="0"/>
                                          </p:val>
                                        </p:tav>
                                        <p:tav tm="100000">
                                          <p:val>
                                            <p:strVal val="#ppt_w"/>
                                          </p:val>
                                        </p:tav>
                                      </p:tavLst>
                                    </p:anim>
                                    <p:anim calcmode="lin" valueType="num">
                                      <p:cBhvr>
                                        <p:cTn id="39" dur="500" fill="hold"/>
                                        <p:tgtEl>
                                          <p:spTgt spid="8"/>
                                        </p:tgtEl>
                                        <p:attrNameLst>
                                          <p:attrName>ppt_h</p:attrName>
                                        </p:attrNameLst>
                                      </p:cBhvr>
                                      <p:tavLst>
                                        <p:tav tm="0">
                                          <p:val>
                                            <p:fltVal val="0"/>
                                          </p:val>
                                        </p:tav>
                                        <p:tav tm="100000">
                                          <p:val>
                                            <p:strVal val="#ppt_h"/>
                                          </p:val>
                                        </p:tav>
                                      </p:tavLst>
                                    </p:anim>
                                    <p:animEffect transition="in" filter="fade">
                                      <p:cBhvr>
                                        <p:cTn id="40" dur="500"/>
                                        <p:tgtEl>
                                          <p:spTgt spid="8"/>
                                        </p:tgtEl>
                                      </p:cBhvr>
                                    </p:animEffect>
                                  </p:childTnLst>
                                </p:cTn>
                              </p:par>
                            </p:childTnLst>
                          </p:cTn>
                        </p:par>
                        <p:par>
                          <p:cTn id="41" fill="hold">
                            <p:stCondLst>
                              <p:cond delay="6500"/>
                            </p:stCondLst>
                            <p:childTnLst>
                              <p:par>
                                <p:cTn id="42" presetID="53" presetClass="entr" presetSubtype="0" fill="hold" grpId="0" nodeType="afterEffect">
                                  <p:stCondLst>
                                    <p:cond delay="0"/>
                                  </p:stCondLst>
                                  <p:childTnLst>
                                    <p:set>
                                      <p:cBhvr>
                                        <p:cTn id="43" dur="1" fill="hold">
                                          <p:stCondLst>
                                            <p:cond delay="0"/>
                                          </p:stCondLst>
                                        </p:cTn>
                                        <p:tgtEl>
                                          <p:spTgt spid="1613873"/>
                                        </p:tgtEl>
                                        <p:attrNameLst>
                                          <p:attrName>style.visibility</p:attrName>
                                        </p:attrNameLst>
                                      </p:cBhvr>
                                      <p:to>
                                        <p:strVal val="visible"/>
                                      </p:to>
                                    </p:set>
                                    <p:anim calcmode="lin" valueType="num">
                                      <p:cBhvr>
                                        <p:cTn id="44" dur="500" fill="hold"/>
                                        <p:tgtEl>
                                          <p:spTgt spid="1613873"/>
                                        </p:tgtEl>
                                        <p:attrNameLst>
                                          <p:attrName>ppt_w</p:attrName>
                                        </p:attrNameLst>
                                      </p:cBhvr>
                                      <p:tavLst>
                                        <p:tav tm="0">
                                          <p:val>
                                            <p:fltVal val="0"/>
                                          </p:val>
                                        </p:tav>
                                        <p:tav tm="100000">
                                          <p:val>
                                            <p:strVal val="#ppt_w"/>
                                          </p:val>
                                        </p:tav>
                                      </p:tavLst>
                                    </p:anim>
                                    <p:anim calcmode="lin" valueType="num">
                                      <p:cBhvr>
                                        <p:cTn id="45" dur="500" fill="hold"/>
                                        <p:tgtEl>
                                          <p:spTgt spid="1613873"/>
                                        </p:tgtEl>
                                        <p:attrNameLst>
                                          <p:attrName>ppt_h</p:attrName>
                                        </p:attrNameLst>
                                      </p:cBhvr>
                                      <p:tavLst>
                                        <p:tav tm="0">
                                          <p:val>
                                            <p:fltVal val="0"/>
                                          </p:val>
                                        </p:tav>
                                        <p:tav tm="100000">
                                          <p:val>
                                            <p:strVal val="#ppt_h"/>
                                          </p:val>
                                        </p:tav>
                                      </p:tavLst>
                                    </p:anim>
                                    <p:animEffect transition="in" filter="fade">
                                      <p:cBhvr>
                                        <p:cTn id="46" dur="500"/>
                                        <p:tgtEl>
                                          <p:spTgt spid="1613873"/>
                                        </p:tgtEl>
                                      </p:cBhvr>
                                    </p:animEffect>
                                  </p:childTnLst>
                                </p:cTn>
                              </p:par>
                            </p:childTnLst>
                          </p:cTn>
                        </p:par>
                        <p:par>
                          <p:cTn id="47" fill="hold">
                            <p:stCondLst>
                              <p:cond delay="7000"/>
                            </p:stCondLst>
                            <p:childTnLst>
                              <p:par>
                                <p:cTn id="48" presetID="10" presetClass="entr" presetSubtype="0" fill="hold" nodeType="after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fade">
                                      <p:cBhvr>
                                        <p:cTn id="50" dur="750"/>
                                        <p:tgtEl>
                                          <p:spTgt spid="48"/>
                                        </p:tgtEl>
                                      </p:cBhvr>
                                    </p:animEffect>
                                  </p:childTnLst>
                                </p:cTn>
                              </p:par>
                            </p:childTnLst>
                          </p:cTn>
                        </p:par>
                        <p:par>
                          <p:cTn id="51" fill="hold">
                            <p:stCondLst>
                              <p:cond delay="7750"/>
                            </p:stCondLst>
                            <p:childTnLst>
                              <p:par>
                                <p:cTn id="52" presetID="1" presetClass="path" presetSubtype="0" accel="50000" decel="50000" fill="hold" nodeType="afterEffect">
                                  <p:stCondLst>
                                    <p:cond delay="0"/>
                                  </p:stCondLst>
                                  <p:childTnLst>
                                    <p:animMotion origin="layout" path="M -3.88889E-6 -3.33333E-6 C 0.0073 -3.33333E-6 0.0132 0.00926 0.0132 0.02099 C 0.0132 0.03272 0.0073 0.0426 -3.88889E-6 0.0426 C -0.00711 0.0426 -0.01284 0.03272 -0.01284 0.02099 C -0.01284 0.00926 -0.00711 -3.33333E-6 -3.88889E-6 -3.33333E-6 Z " pathEditMode="relative" rAng="0" ptsTypes="fffff">
                                      <p:cBhvr>
                                        <p:cTn id="53" dur="750" fill="hold"/>
                                        <p:tgtEl>
                                          <p:spTgt spid="48"/>
                                        </p:tgtEl>
                                        <p:attrNameLst>
                                          <p:attrName>ppt_x</p:attrName>
                                          <p:attrName>ppt_y</p:attrName>
                                        </p:attrNameLst>
                                      </p:cBhvr>
                                      <p:rCtr x="17" y="2130"/>
                                    </p:animMotion>
                                  </p:childTnLst>
                                </p:cTn>
                              </p:par>
                            </p:childTnLst>
                          </p:cTn>
                        </p:par>
                        <p:par>
                          <p:cTn id="54" fill="hold">
                            <p:stCondLst>
                              <p:cond delay="8500"/>
                            </p:stCondLst>
                            <p:childTnLst>
                              <p:par>
                                <p:cTn id="55" presetID="10" presetClass="exit" presetSubtype="0" fill="hold" nodeType="afterEffect">
                                  <p:stCondLst>
                                    <p:cond delay="250"/>
                                  </p:stCondLst>
                                  <p:childTnLst>
                                    <p:animEffect transition="out" filter="fade">
                                      <p:cBhvr>
                                        <p:cTn id="56" dur="500"/>
                                        <p:tgtEl>
                                          <p:spTgt spid="48"/>
                                        </p:tgtEl>
                                      </p:cBhvr>
                                    </p:animEffect>
                                    <p:set>
                                      <p:cBhvr>
                                        <p:cTn id="57" dur="1" fill="hold">
                                          <p:stCondLst>
                                            <p:cond delay="499"/>
                                          </p:stCondLst>
                                        </p:cTn>
                                        <p:tgtEl>
                                          <p:spTgt spid="48"/>
                                        </p:tgtEl>
                                        <p:attrNameLst>
                                          <p:attrName>style.visibility</p:attrName>
                                        </p:attrNameLst>
                                      </p:cBhvr>
                                      <p:to>
                                        <p:strVal val="hidden"/>
                                      </p:to>
                                    </p:set>
                                  </p:childTnLst>
                                </p:cTn>
                              </p:par>
                            </p:childTnLst>
                          </p:cTn>
                        </p:par>
                        <p:par>
                          <p:cTn id="58" fill="hold">
                            <p:stCondLst>
                              <p:cond delay="9250"/>
                            </p:stCondLst>
                            <p:childTnLst>
                              <p:par>
                                <p:cTn id="59" presetID="42" presetClass="path" presetSubtype="0" accel="50000" decel="50000" fill="hold" grpId="0" nodeType="afterEffect">
                                  <p:stCondLst>
                                    <p:cond delay="0"/>
                                  </p:stCondLst>
                                  <p:childTnLst>
                                    <p:animMotion origin="layout" path="M 0.03386 0.00648 L 0.20886 0.06574 " pathEditMode="relative" rAng="0" ptsTypes="AA">
                                      <p:cBhvr>
                                        <p:cTn id="60" dur="1750" fill="hold"/>
                                        <p:tgtEl>
                                          <p:spTgt spid="35"/>
                                        </p:tgtEl>
                                        <p:attrNameLst>
                                          <p:attrName>ppt_x</p:attrName>
                                          <p:attrName>ppt_y</p:attrName>
                                        </p:attrNameLst>
                                      </p:cBhvr>
                                      <p:rCtr x="8750" y="29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3842" grpId="0" animBg="1"/>
      <p:bldP spid="1613873" grpId="0" animBg="1"/>
      <p:bldP spid="2" grpId="0" animBg="1"/>
      <p:bldP spid="35" grpId="0" animBg="1"/>
      <p:bldP spid="58" grpId="0" animBg="1"/>
      <p:bldP spid="66" grpId="0" animBg="1"/>
      <p:bldP spid="67" grpId="0"/>
      <p:bldP spid="30"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Web Rating Override</a:t>
            </a:r>
            <a:r>
              <a:rPr lang="en-CA" dirty="0"/>
              <a:t>—</a:t>
            </a:r>
            <a:r>
              <a:rPr lang="en-US" dirty="0"/>
              <a:t>Configuration</a:t>
            </a:r>
          </a:p>
        </p:txBody>
      </p:sp>
      <p:sp>
        <p:nvSpPr>
          <p:cNvPr id="7" name="Text Placeholder 6"/>
          <p:cNvSpPr>
            <a:spLocks noGrp="1"/>
          </p:cNvSpPr>
          <p:nvPr>
            <p:ph idx="1"/>
          </p:nvPr>
        </p:nvSpPr>
        <p:spPr/>
        <p:txBody>
          <a:bodyPr/>
          <a:lstStyle/>
          <a:p>
            <a:r>
              <a:rPr lang="en-US" dirty="0"/>
              <a:t>Changes a website category, not the category action</a:t>
            </a:r>
          </a:p>
          <a:p>
            <a:pPr lvl="1"/>
            <a:r>
              <a:rPr lang="en-US" dirty="0"/>
              <a:t>Make an exception</a:t>
            </a:r>
          </a:p>
        </p:txBody>
      </p:sp>
      <p:pic>
        <p:nvPicPr>
          <p:cNvPr id="3" name="Picture 2"/>
          <p:cNvPicPr>
            <a:picLocks noChangeAspect="1"/>
          </p:cNvPicPr>
          <p:nvPr/>
        </p:nvPicPr>
        <p:blipFill>
          <a:blip r:embed="rId4"/>
          <a:stretch>
            <a:fillRect/>
          </a:stretch>
        </p:blipFill>
        <p:spPr>
          <a:xfrm>
            <a:off x="670602" y="2143285"/>
            <a:ext cx="10847619" cy="2571429"/>
          </a:xfrm>
          <a:prstGeom prst="rect">
            <a:avLst/>
          </a:prstGeom>
          <a:ln>
            <a:solidFill>
              <a:srgbClr val="000000"/>
            </a:solidFill>
          </a:ln>
        </p:spPr>
      </p:pic>
      <p:pic>
        <p:nvPicPr>
          <p:cNvPr id="6" name="Picture 5"/>
          <p:cNvPicPr>
            <a:picLocks noChangeAspect="1"/>
          </p:cNvPicPr>
          <p:nvPr/>
        </p:nvPicPr>
        <p:blipFill>
          <a:blip r:embed="rId5"/>
          <a:stretch>
            <a:fillRect/>
          </a:stretch>
        </p:blipFill>
        <p:spPr>
          <a:xfrm>
            <a:off x="6634887" y="3471857"/>
            <a:ext cx="4057143" cy="2485714"/>
          </a:xfrm>
          <a:prstGeom prst="rect">
            <a:avLst/>
          </a:prstGeom>
          <a:ln>
            <a:solidFill>
              <a:srgbClr val="000000"/>
            </a:solidFill>
          </a:ln>
        </p:spPr>
      </p:pic>
      <p:sp>
        <p:nvSpPr>
          <p:cNvPr id="11" name="Rectangle 10"/>
          <p:cNvSpPr/>
          <p:nvPr/>
        </p:nvSpPr>
        <p:spPr>
          <a:xfrm>
            <a:off x="670602" y="1736984"/>
            <a:ext cx="4675319" cy="369332"/>
          </a:xfrm>
          <a:prstGeom prst="rect">
            <a:avLst/>
          </a:prstGeom>
          <a:solidFill>
            <a:srgbClr val="00B0F0"/>
          </a:solidFill>
        </p:spPr>
        <p:txBody>
          <a:bodyPr wrap="none">
            <a:spAutoFit/>
          </a:bodyPr>
          <a:lstStyle/>
          <a:p>
            <a:pPr marL="171450" lvl="0" indent="-171450">
              <a:defRPr/>
            </a:pPr>
            <a:r>
              <a:rPr lang="en-CA" b="1" dirty="0">
                <a:cs typeface="Arial"/>
              </a:rPr>
              <a:t>Security Profiles </a:t>
            </a:r>
            <a:r>
              <a:rPr lang="en-CA" dirty="0">
                <a:cs typeface="Arial"/>
              </a:rPr>
              <a:t>&gt;</a:t>
            </a:r>
            <a:r>
              <a:rPr lang="en-CA" b="1" dirty="0">
                <a:cs typeface="Arial"/>
              </a:rPr>
              <a:t> Web Rating Overrides</a:t>
            </a:r>
          </a:p>
        </p:txBody>
      </p:sp>
      <p:sp>
        <p:nvSpPr>
          <p:cNvPr id="8" name="Rounded Rectangle 7"/>
          <p:cNvSpPr/>
          <p:nvPr/>
        </p:nvSpPr>
        <p:spPr bwMode="auto">
          <a:xfrm>
            <a:off x="7547391" y="3748069"/>
            <a:ext cx="1952659" cy="273673"/>
          </a:xfrm>
          <a:prstGeom prst="roundRect">
            <a:avLst>
              <a:gd name="adj" fmla="val 0"/>
            </a:avLst>
          </a:prstGeom>
          <a:noFill/>
          <a:ln w="38100" cap="flat" cmpd="sng" algn="ctr">
            <a:solidFill>
              <a:srgbClr val="FF0000"/>
            </a:solidFill>
            <a:prstDash val="solid"/>
            <a:bevel/>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lang="en-US" sz="1600" dirty="0" err="1"/>
          </a:p>
        </p:txBody>
      </p:sp>
      <p:sp>
        <p:nvSpPr>
          <p:cNvPr id="10" name="Rounded Rectangle 9"/>
          <p:cNvSpPr/>
          <p:nvPr/>
        </p:nvSpPr>
        <p:spPr bwMode="auto">
          <a:xfrm>
            <a:off x="6697145" y="5057522"/>
            <a:ext cx="2916193" cy="900049"/>
          </a:xfrm>
          <a:prstGeom prst="roundRect">
            <a:avLst>
              <a:gd name="adj" fmla="val 0"/>
            </a:avLst>
          </a:prstGeom>
          <a:noFill/>
          <a:ln w="38100" cap="flat" cmpd="sng" algn="ctr">
            <a:solidFill>
              <a:srgbClr val="FF0000"/>
            </a:solidFill>
            <a:prstDash val="solid"/>
            <a:bevel/>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lang="en-US" sz="1600" dirty="0" err="1"/>
          </a:p>
        </p:txBody>
      </p:sp>
      <p:sp>
        <p:nvSpPr>
          <p:cNvPr id="5" name="Rectangle 4"/>
          <p:cNvSpPr/>
          <p:nvPr/>
        </p:nvSpPr>
        <p:spPr>
          <a:xfrm>
            <a:off x="670602" y="2143285"/>
            <a:ext cx="1125830" cy="30860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2994375338"/>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6"/>
          </p:nvPr>
        </p:nvSpPr>
        <p:spPr/>
        <p:txBody>
          <a:bodyPr>
            <a:normAutofit fontScale="92500" lnSpcReduction="10000"/>
          </a:bodyPr>
          <a:lstStyle/>
          <a:p>
            <a:r>
              <a:rPr lang="en-US" dirty="0"/>
              <a:t>Check against configured URLs in URL filter</a:t>
            </a:r>
          </a:p>
          <a:p>
            <a:pPr lvl="1"/>
            <a:r>
              <a:rPr lang="en-US" dirty="0"/>
              <a:t>Entries are checked from top to bottom</a:t>
            </a:r>
          </a:p>
          <a:p>
            <a:r>
              <a:rPr lang="en-US" dirty="0"/>
              <a:t>Four possible actions:</a:t>
            </a:r>
          </a:p>
          <a:p>
            <a:pPr lvl="1"/>
            <a:r>
              <a:rPr lang="en-US" b="1" dirty="0"/>
              <a:t>Allow</a:t>
            </a:r>
            <a:r>
              <a:rPr lang="en-US" dirty="0"/>
              <a:t>: </a:t>
            </a:r>
            <a:r>
              <a:rPr lang="en-CA" dirty="0"/>
              <a:t>Access is permitted. Traffic is passed to remaining operations, including </a:t>
            </a:r>
            <a:r>
              <a:rPr lang="en-CA" dirty="0" err="1"/>
              <a:t>FortiGuard</a:t>
            </a:r>
            <a:r>
              <a:rPr lang="en-CA" dirty="0"/>
              <a:t> web filter, web content filter, web script filters, and antivirus scanning.</a:t>
            </a:r>
            <a:endParaRPr lang="en-US" dirty="0"/>
          </a:p>
          <a:p>
            <a:pPr lvl="1"/>
            <a:r>
              <a:rPr lang="en-US" b="1" dirty="0"/>
              <a:t>Block</a:t>
            </a:r>
            <a:r>
              <a:rPr lang="en-US" dirty="0"/>
              <a:t>: </a:t>
            </a:r>
            <a:r>
              <a:rPr lang="en-CA" dirty="0"/>
              <a:t>Attempts are denied. User given a replacement message.</a:t>
            </a:r>
            <a:endParaRPr lang="en-US" dirty="0"/>
          </a:p>
          <a:p>
            <a:pPr lvl="1"/>
            <a:r>
              <a:rPr lang="en-US" b="1" dirty="0"/>
              <a:t>Monitor</a:t>
            </a:r>
            <a:r>
              <a:rPr lang="en-US" dirty="0"/>
              <a:t>: Traffic is allowed through. Log entries are created. Also subject to all other security profile inspections.</a:t>
            </a:r>
          </a:p>
          <a:p>
            <a:pPr lvl="1"/>
            <a:r>
              <a:rPr lang="en-US" b="1" dirty="0"/>
              <a:t>Exempt</a:t>
            </a:r>
            <a:r>
              <a:rPr lang="en-US" dirty="0"/>
              <a:t>: Allows traffic from trusted sources to bypass all security inspections.</a:t>
            </a:r>
          </a:p>
          <a:p>
            <a:r>
              <a:rPr lang="en-US" dirty="0"/>
              <a:t>Types of URL patterns:</a:t>
            </a:r>
          </a:p>
          <a:p>
            <a:pPr lvl="1"/>
            <a:r>
              <a:rPr lang="en-US" dirty="0"/>
              <a:t>Simple, wildcards, or regular </a:t>
            </a:r>
            <a:r>
              <a:rPr lang="en-US" dirty="0" smtClean="0"/>
              <a:t>expressions</a:t>
            </a:r>
            <a:endParaRPr lang="en-US" dirty="0"/>
          </a:p>
        </p:txBody>
      </p:sp>
      <p:sp>
        <p:nvSpPr>
          <p:cNvPr id="4" name="Content Placeholder 3"/>
          <p:cNvSpPr>
            <a:spLocks noGrp="1"/>
          </p:cNvSpPr>
          <p:nvPr>
            <p:ph idx="15"/>
          </p:nvPr>
        </p:nvSpPr>
        <p:spPr/>
        <p:txBody>
          <a:bodyPr>
            <a:normAutofit/>
          </a:bodyPr>
          <a:lstStyle/>
          <a:p>
            <a:endParaRPr lang="en-US" dirty="0"/>
          </a:p>
        </p:txBody>
      </p:sp>
      <p:sp>
        <p:nvSpPr>
          <p:cNvPr id="16388" name="Rectangle 2"/>
          <p:cNvSpPr>
            <a:spLocks noGrp="1" noChangeArrowheads="1"/>
          </p:cNvSpPr>
          <p:nvPr>
            <p:ph type="title"/>
          </p:nvPr>
        </p:nvSpPr>
        <p:spPr/>
        <p:txBody>
          <a:bodyPr/>
          <a:lstStyle/>
          <a:p>
            <a:r>
              <a:rPr lang="en-US" dirty="0"/>
              <a:t>URL Filtering</a:t>
            </a:r>
          </a:p>
        </p:txBody>
      </p:sp>
      <p:pic>
        <p:nvPicPr>
          <p:cNvPr id="5" name="Picture 4"/>
          <p:cNvPicPr>
            <a:picLocks noChangeAspect="1"/>
          </p:cNvPicPr>
          <p:nvPr/>
        </p:nvPicPr>
        <p:blipFill>
          <a:blip r:embed="rId5"/>
          <a:stretch>
            <a:fillRect/>
          </a:stretch>
        </p:blipFill>
        <p:spPr>
          <a:xfrm>
            <a:off x="277757" y="1301148"/>
            <a:ext cx="5200551" cy="2412627"/>
          </a:xfrm>
          <a:prstGeom prst="rect">
            <a:avLst/>
          </a:prstGeom>
          <a:ln>
            <a:solidFill>
              <a:srgbClr val="000000"/>
            </a:solidFill>
          </a:ln>
        </p:spPr>
      </p:pic>
      <p:sp>
        <p:nvSpPr>
          <p:cNvPr id="65" name="Oval 64"/>
          <p:cNvSpPr/>
          <p:nvPr/>
        </p:nvSpPr>
        <p:spPr bwMode="auto">
          <a:xfrm>
            <a:off x="2830127" y="5568435"/>
            <a:ext cx="178572" cy="171969"/>
          </a:xfrm>
          <a:prstGeom prst="ellipse">
            <a:avLst/>
          </a:prstGeom>
          <a:gradFill flip="none" rotWithShape="1">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tileRect/>
          </a:gra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kumimoji="0" lang="en-US" b="0" i="0" u="none" strike="noStrike" cap="none" normalizeH="0" baseline="0" dirty="0">
              <a:ln>
                <a:noFill/>
              </a:ln>
              <a:solidFill>
                <a:schemeClr val="accent2"/>
              </a:solidFill>
              <a:effectLst/>
              <a:latin typeface="Arial" charset="0"/>
            </a:endParaRPr>
          </a:p>
        </p:txBody>
      </p:sp>
      <p:sp>
        <p:nvSpPr>
          <p:cNvPr id="32" name="Text Box 42"/>
          <p:cNvSpPr txBox="1">
            <a:spLocks noChangeArrowheads="1"/>
          </p:cNvSpPr>
          <p:nvPr/>
        </p:nvSpPr>
        <p:spPr bwMode="auto">
          <a:xfrm>
            <a:off x="133241" y="4013120"/>
            <a:ext cx="4504909" cy="446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400" b="1">
                <a:solidFill>
                  <a:schemeClr val="tx1"/>
                </a:solidFill>
                <a:latin typeface="Arial" charset="0"/>
                <a:ea typeface="MS PGothic" pitchFamily="34" charset="-128"/>
              </a:defRPr>
            </a:lvl9pPr>
          </a:lstStyle>
          <a:p>
            <a:r>
              <a:rPr lang="en-US" sz="2100" b="0" dirty="0">
                <a:latin typeface="+mn-lt"/>
                <a:cs typeface="Courier New" panose="02070309020205020404" pitchFamily="49" charset="0"/>
              </a:rPr>
              <a:t>URL: </a:t>
            </a:r>
            <a:r>
              <a:rPr lang="en-US" sz="2100" b="0" dirty="0">
                <a:latin typeface="+mj-lt"/>
                <a:cs typeface="Courier New" panose="02070309020205020404" pitchFamily="49" charset="0"/>
              </a:rPr>
              <a:t>www.somesite.com/someURL</a:t>
            </a:r>
          </a:p>
        </p:txBody>
      </p:sp>
      <p:grpSp>
        <p:nvGrpSpPr>
          <p:cNvPr id="45" name="Group 44"/>
          <p:cNvGrpSpPr/>
          <p:nvPr/>
        </p:nvGrpSpPr>
        <p:grpSpPr>
          <a:xfrm>
            <a:off x="1810910" y="4698572"/>
            <a:ext cx="5127758" cy="1472176"/>
            <a:chOff x="683189" y="3523929"/>
            <a:chExt cx="3846820" cy="1104132"/>
          </a:xfrm>
        </p:grpSpPr>
        <p:cxnSp>
          <p:nvCxnSpPr>
            <p:cNvPr id="38" name="Straight Connector 37"/>
            <p:cNvCxnSpPr>
              <a:cxnSpLocks/>
            </p:cNvCxnSpPr>
            <p:nvPr/>
          </p:nvCxnSpPr>
          <p:spPr bwMode="auto">
            <a:xfrm flipH="1">
              <a:off x="1346778" y="3721318"/>
              <a:ext cx="1327646" cy="591249"/>
            </a:xfrm>
            <a:prstGeom prst="line">
              <a:avLst/>
            </a:prstGeom>
            <a:solidFill>
              <a:schemeClr val="accent2">
                <a:alpha val="42000"/>
              </a:schemeClr>
            </a:solidFill>
            <a:ln w="12700" cap="flat" cmpd="sng" algn="ctr">
              <a:solidFill>
                <a:schemeClr val="tx1">
                  <a:lumMod val="95000"/>
                  <a:lumOff val="5000"/>
                </a:schemeClr>
              </a:solidFill>
              <a:prstDash val="solid"/>
              <a:round/>
              <a:headEnd type="none" w="med" len="med"/>
              <a:tailEnd type="none" w="med" len="med"/>
            </a:ln>
            <a:effectLst/>
          </p:spPr>
        </p:cxnSp>
        <p:cxnSp>
          <p:nvCxnSpPr>
            <p:cNvPr id="39" name="Straight Connector 38"/>
            <p:cNvCxnSpPr>
              <a:cxnSpLocks/>
            </p:cNvCxnSpPr>
            <p:nvPr/>
          </p:nvCxnSpPr>
          <p:spPr bwMode="auto">
            <a:xfrm>
              <a:off x="2667000" y="3714750"/>
              <a:ext cx="1347885" cy="752870"/>
            </a:xfrm>
            <a:prstGeom prst="line">
              <a:avLst/>
            </a:prstGeom>
            <a:solidFill>
              <a:schemeClr val="accent2">
                <a:alpha val="42000"/>
              </a:schemeClr>
            </a:solidFill>
            <a:ln w="12700" cap="flat" cmpd="sng" algn="ctr">
              <a:solidFill>
                <a:schemeClr val="tx1">
                  <a:lumMod val="95000"/>
                  <a:lumOff val="5000"/>
                </a:schemeClr>
              </a:solidFill>
              <a:prstDash val="solid"/>
              <a:round/>
              <a:headEnd type="none" w="med" len="med"/>
              <a:tailEnd type="none" w="med" len="med"/>
            </a:ln>
            <a:effectLst/>
          </p:spPr>
        </p:cxnSp>
        <p:pic>
          <p:nvPicPr>
            <p:cNvPr id="33" name="Picture 32"/>
            <p:cNvPicPr>
              <a:picLocks noChangeAspect="1"/>
            </p:cNvPicPr>
            <p:nvPr/>
          </p:nvPicPr>
          <p:blipFill>
            <a:blip r:embed="rId6" cstate="print"/>
            <a:stretch>
              <a:fillRect/>
            </a:stretch>
          </p:blipFill>
          <p:spPr>
            <a:xfrm>
              <a:off x="2336907" y="3523929"/>
              <a:ext cx="675034" cy="470336"/>
            </a:xfrm>
            <a:prstGeom prst="rect">
              <a:avLst/>
            </a:prstGeom>
          </p:spPr>
        </p:pic>
        <p:pic>
          <p:nvPicPr>
            <p:cNvPr id="34" name="Picture 33"/>
            <p:cNvPicPr>
              <a:picLocks noChangeAspect="1"/>
            </p:cNvPicPr>
            <p:nvPr/>
          </p:nvPicPr>
          <p:blipFill>
            <a:blip r:embed="rId7" cstate="print"/>
            <a:stretch>
              <a:fillRect/>
            </a:stretch>
          </p:blipFill>
          <p:spPr>
            <a:xfrm>
              <a:off x="3650683" y="4028771"/>
              <a:ext cx="879326" cy="567592"/>
            </a:xfrm>
            <a:prstGeom prst="rect">
              <a:avLst/>
            </a:prstGeom>
          </p:spPr>
        </p:pic>
        <p:pic>
          <p:nvPicPr>
            <p:cNvPr id="36" name="Picture 35"/>
            <p:cNvPicPr>
              <a:picLocks noChangeAspect="1"/>
            </p:cNvPicPr>
            <p:nvPr/>
          </p:nvPicPr>
          <p:blipFill>
            <a:blip r:embed="rId8" cstate="print"/>
            <a:stretch>
              <a:fillRect/>
            </a:stretch>
          </p:blipFill>
          <p:spPr>
            <a:xfrm>
              <a:off x="1074086" y="3956486"/>
              <a:ext cx="545382" cy="671575"/>
            </a:xfrm>
            <a:prstGeom prst="rect">
              <a:avLst/>
            </a:prstGeom>
          </p:spPr>
        </p:pic>
        <p:pic>
          <p:nvPicPr>
            <p:cNvPr id="35" name="Picture 2"/>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flipH="1">
              <a:off x="683189" y="3881321"/>
              <a:ext cx="509248" cy="640494"/>
            </a:xfrm>
            <a:prstGeom prst="rect">
              <a:avLst/>
            </a:prstGeom>
            <a:noFill/>
          </p:spPr>
        </p:pic>
      </p:grpSp>
      <p:grpSp>
        <p:nvGrpSpPr>
          <p:cNvPr id="56" name="Group 23"/>
          <p:cNvGrpSpPr>
            <a:grpSpLocks/>
          </p:cNvGrpSpPr>
          <p:nvPr/>
        </p:nvGrpSpPr>
        <p:grpSpPr bwMode="auto">
          <a:xfrm>
            <a:off x="4354326" y="3406219"/>
            <a:ext cx="3967716" cy="1728787"/>
            <a:chOff x="4088" y="696"/>
            <a:chExt cx="1307" cy="1392"/>
          </a:xfrm>
        </p:grpSpPr>
        <p:sp>
          <p:nvSpPr>
            <p:cNvPr id="58" name="Rectangle 24"/>
            <p:cNvSpPr>
              <a:spLocks noChangeArrowheads="1"/>
            </p:cNvSpPr>
            <p:nvPr/>
          </p:nvSpPr>
          <p:spPr bwMode="auto">
            <a:xfrm>
              <a:off x="4088" y="696"/>
              <a:ext cx="1307" cy="1392"/>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dirty="0">
                <a:latin typeface="Arial Narrow" pitchFamily="34" charset="0"/>
              </a:endParaRPr>
            </a:p>
          </p:txBody>
        </p:sp>
        <p:sp>
          <p:nvSpPr>
            <p:cNvPr id="59" name="Text Box 25"/>
            <p:cNvSpPr txBox="1">
              <a:spLocks noChangeArrowheads="1"/>
            </p:cNvSpPr>
            <p:nvPr/>
          </p:nvSpPr>
          <p:spPr bwMode="auto">
            <a:xfrm>
              <a:off x="4261" y="844"/>
              <a:ext cx="61"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400" b="1">
                  <a:solidFill>
                    <a:schemeClr val="tx1"/>
                  </a:solidFill>
                  <a:latin typeface="Arial" charset="0"/>
                  <a:ea typeface="MS PGothic" pitchFamily="34" charset="-128"/>
                </a:defRPr>
              </a:lvl9pPr>
            </a:lstStyle>
            <a:p>
              <a:endParaRPr lang="en-US" sz="1600" dirty="0">
                <a:latin typeface="Arial Narrow" pitchFamily="34" charset="0"/>
              </a:endParaRPr>
            </a:p>
          </p:txBody>
        </p:sp>
      </p:grpSp>
      <p:sp>
        <p:nvSpPr>
          <p:cNvPr id="60" name="AutoShape 21"/>
          <p:cNvSpPr>
            <a:spLocks noChangeArrowheads="1"/>
          </p:cNvSpPr>
          <p:nvPr/>
        </p:nvSpPr>
        <p:spPr bwMode="auto">
          <a:xfrm rot="5400000">
            <a:off x="5048503" y="4007320"/>
            <a:ext cx="700619" cy="234889"/>
          </a:xfrm>
          <a:prstGeom prst="rightArrow">
            <a:avLst>
              <a:gd name="adj1" fmla="val 50000"/>
              <a:gd name="adj2" fmla="val 37162"/>
            </a:avLst>
          </a:prstGeom>
          <a:solidFill>
            <a:srgbClr val="FF0000"/>
          </a:solidFill>
          <a:ln w="12700">
            <a:solidFill>
              <a:srgbClr val="FF0000"/>
            </a:solidFill>
            <a:miter lim="800000"/>
            <a:headEnd/>
            <a:tailEnd/>
          </a:ln>
          <a:effectLst/>
        </p:spPr>
        <p:txBody>
          <a:bodyPr wrap="none" lIns="121899" tIns="60949" rIns="121899" bIns="60949" anchor="ctr"/>
          <a:lstStyle/>
          <a:p>
            <a:endParaRPr lang="en-CA" dirty="0">
              <a:latin typeface="Arial Narrow" pitchFamily="34" charset="0"/>
            </a:endParaRPr>
          </a:p>
        </p:txBody>
      </p:sp>
      <p:graphicFrame>
        <p:nvGraphicFramePr>
          <p:cNvPr id="61" name="Object 28"/>
          <p:cNvGraphicFramePr>
            <a:graphicFrameLocks noChangeAspect="1"/>
          </p:cNvGraphicFramePr>
          <p:nvPr>
            <p:extLst>
              <p:ext uri="{D42A27DB-BD31-4B8C-83A1-F6EECF244321}">
                <p14:modId xmlns:p14="http://schemas.microsoft.com/office/powerpoint/2010/main" val="3262598501"/>
              </p:ext>
            </p:extLst>
          </p:nvPr>
        </p:nvGraphicFramePr>
        <p:xfrm>
          <a:off x="5612597" y="3386742"/>
          <a:ext cx="493054" cy="350840"/>
        </p:xfrm>
        <a:graphic>
          <a:graphicData uri="http://schemas.openxmlformats.org/presentationml/2006/ole">
            <mc:AlternateContent xmlns:mc="http://schemas.openxmlformats.org/markup-compatibility/2006">
              <mc:Choice xmlns:v="urn:schemas-microsoft-com:vml" Requires="v">
                <p:oleObj spid="_x0000_s2755" name="CorelDRAW" r:id="rId10" imgW="1265760" imgH="1203120" progId="">
                  <p:embed/>
                </p:oleObj>
              </mc:Choice>
              <mc:Fallback>
                <p:oleObj name="CorelDRAW" r:id="rId10" imgW="1265760" imgH="1203120"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12597" y="3386742"/>
                        <a:ext cx="493054" cy="35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 name="Text Box 38"/>
          <p:cNvSpPr txBox="1">
            <a:spLocks noChangeArrowheads="1"/>
          </p:cNvSpPr>
          <p:nvPr/>
        </p:nvSpPr>
        <p:spPr bwMode="auto">
          <a:xfrm>
            <a:off x="4899856" y="4524057"/>
            <a:ext cx="99830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899" tIns="60949" rIns="121899" bIns="60949">
            <a:spAutoFit/>
          </a:bodyPr>
          <a:lstStyle>
            <a:lvl1pPr>
              <a:defRPr sz="2400" b="1">
                <a:solidFill>
                  <a:schemeClr val="tx1"/>
                </a:solidFill>
                <a:latin typeface="Arial" charset="0"/>
                <a:ea typeface="MS PGothic" pitchFamily="34" charset="-128"/>
              </a:defRPr>
            </a:lvl1pPr>
            <a:lvl2pPr marL="742950" indent="-285750">
              <a:defRPr sz="2400" b="1">
                <a:solidFill>
                  <a:schemeClr val="tx1"/>
                </a:solidFill>
                <a:latin typeface="Arial" charset="0"/>
                <a:ea typeface="MS PGothic" pitchFamily="34" charset="-128"/>
              </a:defRPr>
            </a:lvl2pPr>
            <a:lvl3pPr marL="1143000" indent="-228600">
              <a:defRPr sz="2400" b="1">
                <a:solidFill>
                  <a:schemeClr val="tx1"/>
                </a:solidFill>
                <a:latin typeface="Arial" charset="0"/>
                <a:ea typeface="MS PGothic" pitchFamily="34" charset="-128"/>
              </a:defRPr>
            </a:lvl3pPr>
            <a:lvl4pPr marL="1600200" indent="-228600">
              <a:defRPr sz="2400" b="1">
                <a:solidFill>
                  <a:schemeClr val="tx1"/>
                </a:solidFill>
                <a:latin typeface="Arial" charset="0"/>
                <a:ea typeface="MS PGothic" pitchFamily="34" charset="-128"/>
              </a:defRPr>
            </a:lvl4pPr>
            <a:lvl5pPr marL="2057400" indent="-228600">
              <a:defRPr sz="2400" b="1">
                <a:solidFill>
                  <a:schemeClr val="tx1"/>
                </a:solidFill>
                <a:latin typeface="Arial" charset="0"/>
                <a:ea typeface="MS PGothic" pitchFamily="34" charset="-128"/>
              </a:defRPr>
            </a:lvl5pPr>
            <a:lvl6pPr marL="2514600" indent="-228600" eaLnBrk="0" fontAlgn="base" hangingPunct="0">
              <a:spcBef>
                <a:spcPct val="0"/>
              </a:spcBef>
              <a:spcAft>
                <a:spcPct val="0"/>
              </a:spcAft>
              <a:defRPr sz="2400" b="1">
                <a:solidFill>
                  <a:schemeClr val="tx1"/>
                </a:solidFill>
                <a:latin typeface="Arial" charset="0"/>
                <a:ea typeface="MS PGothic" pitchFamily="34" charset="-128"/>
              </a:defRPr>
            </a:lvl6pPr>
            <a:lvl7pPr marL="2971800" indent="-228600" eaLnBrk="0" fontAlgn="base" hangingPunct="0">
              <a:spcBef>
                <a:spcPct val="0"/>
              </a:spcBef>
              <a:spcAft>
                <a:spcPct val="0"/>
              </a:spcAft>
              <a:defRPr sz="2400" b="1">
                <a:solidFill>
                  <a:schemeClr val="tx1"/>
                </a:solidFill>
                <a:latin typeface="Arial" charset="0"/>
                <a:ea typeface="MS PGothic" pitchFamily="34" charset="-128"/>
              </a:defRPr>
            </a:lvl7pPr>
            <a:lvl8pPr marL="3429000" indent="-228600" eaLnBrk="0" fontAlgn="base" hangingPunct="0">
              <a:spcBef>
                <a:spcPct val="0"/>
              </a:spcBef>
              <a:spcAft>
                <a:spcPct val="0"/>
              </a:spcAft>
              <a:defRPr sz="2400" b="1">
                <a:solidFill>
                  <a:schemeClr val="tx1"/>
                </a:solidFill>
                <a:latin typeface="Arial" charset="0"/>
                <a:ea typeface="MS PGothic" pitchFamily="34" charset="-128"/>
              </a:defRPr>
            </a:lvl8pPr>
            <a:lvl9pPr marL="3886200" indent="-228600" eaLnBrk="0" fontAlgn="base" hangingPunct="0">
              <a:spcBef>
                <a:spcPct val="0"/>
              </a:spcBef>
              <a:spcAft>
                <a:spcPct val="0"/>
              </a:spcAft>
              <a:defRPr sz="2400" b="1">
                <a:solidFill>
                  <a:schemeClr val="tx1"/>
                </a:solidFill>
                <a:latin typeface="Arial" charset="0"/>
                <a:ea typeface="MS PGothic" pitchFamily="34" charset="-128"/>
              </a:defRPr>
            </a:lvl9pPr>
          </a:lstStyle>
          <a:p>
            <a:r>
              <a:rPr lang="en-US" b="0" dirty="0">
                <a:solidFill>
                  <a:srgbClr val="FF0000"/>
                </a:solidFill>
                <a:latin typeface="+mn-lt"/>
              </a:rPr>
              <a:t>Block</a:t>
            </a:r>
          </a:p>
        </p:txBody>
      </p:sp>
      <p:sp>
        <p:nvSpPr>
          <p:cNvPr id="44" name="Bent-Up Arrow 43"/>
          <p:cNvSpPr/>
          <p:nvPr/>
        </p:nvSpPr>
        <p:spPr bwMode="auto">
          <a:xfrm>
            <a:off x="4829518" y="3733800"/>
            <a:ext cx="359568" cy="496157"/>
          </a:xfrm>
          <a:prstGeom prst="bentUpArrow">
            <a:avLst>
              <a:gd name="adj1" fmla="val 10921"/>
              <a:gd name="adj2" fmla="val 17321"/>
              <a:gd name="adj3" fmla="val 19881"/>
            </a:avLst>
          </a:prstGeom>
          <a:solidFill>
            <a:srgbClr val="00B050"/>
          </a:solidFill>
          <a:ln w="38100" cap="flat" cmpd="sng" algn="ctr">
            <a:solidFill>
              <a:srgbClr val="00B05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endParaRPr lang="en-US" sz="1600" dirty="0" err="1"/>
          </a:p>
        </p:txBody>
      </p:sp>
      <p:sp>
        <p:nvSpPr>
          <p:cNvPr id="25" name="TextBox 24"/>
          <p:cNvSpPr txBox="1"/>
          <p:nvPr/>
        </p:nvSpPr>
        <p:spPr>
          <a:xfrm>
            <a:off x="266400" y="956709"/>
            <a:ext cx="3031086" cy="338554"/>
          </a:xfrm>
          <a:prstGeom prst="rect">
            <a:avLst/>
          </a:prstGeom>
          <a:solidFill>
            <a:srgbClr val="00B0F0"/>
          </a:solidFill>
        </p:spPr>
        <p:txBody>
          <a:bodyPr wrap="none" rtlCol="0">
            <a:spAutoFit/>
          </a:bodyPr>
          <a:lstStyle/>
          <a:p>
            <a:r>
              <a:rPr lang="en-CA" sz="1600" b="1" dirty="0"/>
              <a:t>Security Profiles </a:t>
            </a:r>
            <a:r>
              <a:rPr lang="en-CA" sz="1600" dirty="0"/>
              <a:t>&gt;</a:t>
            </a:r>
            <a:r>
              <a:rPr lang="en-CA" sz="1600" b="1" dirty="0"/>
              <a:t> Web Filter</a:t>
            </a:r>
          </a:p>
        </p:txBody>
      </p:sp>
    </p:spTree>
    <p:custDataLst>
      <p:tags r:id="rId2"/>
    </p:custDataLst>
    <p:extLst>
      <p:ext uri="{BB962C8B-B14F-4D97-AF65-F5344CB8AC3E}">
        <p14:creationId xmlns:p14="http://schemas.microsoft.com/office/powerpoint/2010/main" val="960957286"/>
      </p:ext>
    </p:extLst>
  </p:cSld>
  <p:clrMapOvr>
    <a:masterClrMapping/>
  </p:clrMapOvr>
  <p:transition>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CA" dirty="0"/>
              <a:t>Which </a:t>
            </a:r>
            <a:r>
              <a:rPr lang="en-CA" dirty="0" smtClean="0"/>
              <a:t>of the following can act as a local </a:t>
            </a:r>
            <a:r>
              <a:rPr lang="en-CA" dirty="0" err="1" smtClean="0"/>
              <a:t>FortiGuard</a:t>
            </a:r>
            <a:r>
              <a:rPr lang="en-CA" dirty="0" smtClean="0"/>
              <a:t> server?</a:t>
            </a:r>
            <a:endParaRPr lang="en-CA" dirty="0"/>
          </a:p>
          <a:p>
            <a:pPr marL="838133" lvl="1" indent="-457200">
              <a:buFont typeface="+mj-lt"/>
              <a:buAutoNum type="alphaUcPeriod"/>
            </a:pPr>
            <a:r>
              <a:rPr lang="en-CA" dirty="0" err="1" smtClean="0"/>
              <a:t>FortiManager</a:t>
            </a:r>
            <a:endParaRPr lang="en-CA" dirty="0"/>
          </a:p>
          <a:p>
            <a:pPr marL="838133" lvl="1" indent="-457200">
              <a:buFont typeface="+mj-lt"/>
              <a:buAutoNum type="alphaUcPeriod"/>
            </a:pPr>
            <a:r>
              <a:rPr lang="en-CA" dirty="0" err="1" smtClean="0"/>
              <a:t>FortiAnalyzer</a:t>
            </a:r>
            <a:endParaRPr lang="en-CA" dirty="0"/>
          </a:p>
          <a:p>
            <a:pPr marL="838133" lvl="1" indent="-457200">
              <a:buFont typeface="+mj-lt"/>
              <a:buAutoNum type="alphaUcPeriod"/>
            </a:pPr>
            <a:endParaRPr lang="en-US" dirty="0"/>
          </a:p>
          <a:p>
            <a:pPr marL="457200" indent="-457200">
              <a:buFont typeface="+mj-lt"/>
              <a:buAutoNum type="arabicPeriod"/>
            </a:pPr>
            <a:r>
              <a:rPr lang="en-CA" dirty="0"/>
              <a:t>Which </a:t>
            </a:r>
            <a:r>
              <a:rPr lang="en-CA" dirty="0" smtClean="0"/>
              <a:t>action in URL filtering will bypass all security profiles?</a:t>
            </a:r>
            <a:endParaRPr lang="en-CA" dirty="0"/>
          </a:p>
          <a:p>
            <a:pPr marL="838133" lvl="1" indent="-457200">
              <a:buFont typeface="+mj-lt"/>
              <a:buAutoNum type="alphaUcPeriod"/>
            </a:pPr>
            <a:r>
              <a:rPr lang="en-CA" dirty="0"/>
              <a:t>Exempt</a:t>
            </a:r>
          </a:p>
          <a:p>
            <a:pPr marL="838133" lvl="1" indent="-457200">
              <a:buFont typeface="+mj-lt"/>
              <a:buAutoNum type="alphaUcPeriod"/>
            </a:pPr>
            <a:r>
              <a:rPr lang="en-US" dirty="0" smtClean="0"/>
              <a:t>Allow</a:t>
            </a:r>
            <a:endParaRPr lang="en-CA"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841" y="1365867"/>
            <a:ext cx="270922" cy="289606"/>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841" y="2737118"/>
            <a:ext cx="270922" cy="289606"/>
          </a:xfrm>
          <a:prstGeom prst="rect">
            <a:avLst/>
          </a:prstGeom>
        </p:spPr>
      </p:pic>
    </p:spTree>
    <p:custDataLst>
      <p:tags r:id="rId1"/>
    </p:custDataLst>
    <p:extLst>
      <p:ext uri="{BB962C8B-B14F-4D97-AF65-F5344CB8AC3E}">
        <p14:creationId xmlns:p14="http://schemas.microsoft.com/office/powerpoint/2010/main" val="39723856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4"/>
          <p:cNvGraphicFramePr>
            <a:graphicFrameLocks noGrp="1"/>
          </p:cNvGraphicFramePr>
          <p:nvPr>
            <p:ph type="dgm" sz="quarter" idx="10"/>
            <p:extLst>
              <p:ext uri="{D42A27DB-BD31-4B8C-83A1-F6EECF244321}">
                <p14:modId xmlns:p14="http://schemas.microsoft.com/office/powerpoint/2010/main" val="1303231584"/>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0193" y="1551816"/>
            <a:ext cx="552381" cy="590476"/>
          </a:xfrm>
          <a:prstGeom prst="rect">
            <a:avLst/>
          </a:prstGeom>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9667" y="2480880"/>
            <a:ext cx="552381" cy="590476"/>
          </a:xfrm>
          <a:prstGeom prst="rect">
            <a:avLst/>
          </a:prstGeom>
        </p:spPr>
      </p:pic>
    </p:spTree>
    <p:custDataLst>
      <p:tags r:id="rId1"/>
    </p:custDataLst>
    <p:extLst>
      <p:ext uri="{BB962C8B-B14F-4D97-AF65-F5344CB8AC3E}">
        <p14:creationId xmlns:p14="http://schemas.microsoft.com/office/powerpoint/2010/main" val="132403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lvl="0"/>
            <a:r>
              <a:rPr lang="en-CA" dirty="0"/>
              <a:t>Additional Proxy-Based Web Filtering Features</a:t>
            </a:r>
          </a:p>
        </p:txBody>
      </p:sp>
      <p:sp>
        <p:nvSpPr>
          <p:cNvPr id="5" name="Text Placeholder 4"/>
          <p:cNvSpPr>
            <a:spLocks noGrp="1"/>
          </p:cNvSpPr>
          <p:nvPr>
            <p:ph type="body" sz="quarter" idx="11"/>
          </p:nvPr>
        </p:nvSpPr>
        <p:spPr/>
        <p:txBody>
          <a:bodyPr/>
          <a:lstStyle/>
          <a:p>
            <a:r>
              <a:rPr lang="en-US" dirty="0" smtClean="0"/>
              <a:t>Configure </a:t>
            </a:r>
            <a:r>
              <a:rPr lang="en-US" dirty="0"/>
              <a:t>web filter to support search engines</a:t>
            </a:r>
          </a:p>
          <a:p>
            <a:r>
              <a:rPr lang="en-US" dirty="0"/>
              <a:t>Configure web content filtering</a:t>
            </a:r>
          </a:p>
        </p:txBody>
      </p:sp>
    </p:spTree>
    <p:custDataLst>
      <p:tags r:id="rId1"/>
    </p:custDataLst>
    <p:extLst>
      <p:ext uri="{BB962C8B-B14F-4D97-AF65-F5344CB8AC3E}">
        <p14:creationId xmlns:p14="http://schemas.microsoft.com/office/powerpoint/2010/main" val="367114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6"/>
          </p:nvPr>
        </p:nvSpPr>
        <p:spPr/>
        <p:txBody>
          <a:bodyPr/>
          <a:lstStyle/>
          <a:p>
            <a:endParaRPr lang="en-US"/>
          </a:p>
        </p:txBody>
      </p:sp>
      <p:sp>
        <p:nvSpPr>
          <p:cNvPr id="5" name="Content Placeholder 4"/>
          <p:cNvSpPr>
            <a:spLocks noGrp="1"/>
          </p:cNvSpPr>
          <p:nvPr>
            <p:ph idx="15"/>
          </p:nvPr>
        </p:nvSpPr>
        <p:spPr/>
        <p:txBody>
          <a:bodyPr>
            <a:normAutofit/>
          </a:bodyPr>
          <a:lstStyle/>
          <a:p>
            <a:r>
              <a:rPr lang="en-US" dirty="0" smtClean="0"/>
              <a:t>A proxy-based mode feature</a:t>
            </a:r>
          </a:p>
          <a:p>
            <a:r>
              <a:rPr lang="en-US" dirty="0" smtClean="0"/>
              <a:t>Requires </a:t>
            </a:r>
            <a:r>
              <a:rPr lang="en-US" dirty="0"/>
              <a:t>FortiGate to use deep SSL inspection</a:t>
            </a:r>
          </a:p>
          <a:p>
            <a:pPr lvl="1"/>
            <a:r>
              <a:rPr lang="en-US" dirty="0"/>
              <a:t>Not supported when using certificate inspection</a:t>
            </a:r>
          </a:p>
          <a:p>
            <a:pPr lvl="1"/>
            <a:r>
              <a:rPr lang="en-US" dirty="0" err="1"/>
              <a:t>FortiGate</a:t>
            </a:r>
            <a:r>
              <a:rPr lang="en-US" dirty="0"/>
              <a:t> requires full access to the application layer data</a:t>
            </a:r>
          </a:p>
          <a:p>
            <a:r>
              <a:rPr lang="en-US" dirty="0"/>
              <a:t>Restricts websites or images from search results</a:t>
            </a:r>
          </a:p>
          <a:p>
            <a:pPr lvl="1"/>
            <a:r>
              <a:rPr lang="en-US" dirty="0"/>
              <a:t>Rewrites the search URL to enable safe search</a:t>
            </a:r>
          </a:p>
          <a:p>
            <a:pPr lvl="2"/>
            <a:r>
              <a:rPr lang="en-US" dirty="0"/>
              <a:t>For Google, Yahoo, Bing, and </a:t>
            </a:r>
            <a:r>
              <a:rPr lang="en-US" dirty="0" err="1"/>
              <a:t>Yandex</a:t>
            </a:r>
            <a:endParaRPr lang="en-US" dirty="0"/>
          </a:p>
          <a:p>
            <a:r>
              <a:rPr lang="en-US" dirty="0" smtClean="0"/>
              <a:t>Logs </a:t>
            </a:r>
            <a:r>
              <a:rPr lang="en-US" dirty="0"/>
              <a:t>all search keywords</a:t>
            </a:r>
          </a:p>
          <a:p>
            <a:pPr lvl="1"/>
            <a:endParaRPr lang="en-US" dirty="0"/>
          </a:p>
          <a:p>
            <a:pPr lvl="1"/>
            <a:endParaRPr lang="en-US" dirty="0"/>
          </a:p>
          <a:p>
            <a:endParaRPr lang="en-US" dirty="0"/>
          </a:p>
          <a:p>
            <a:endParaRPr lang="en-US" dirty="0"/>
          </a:p>
        </p:txBody>
      </p:sp>
      <p:sp>
        <p:nvSpPr>
          <p:cNvPr id="18436" name="Rectangle 2"/>
          <p:cNvSpPr>
            <a:spLocks noGrp="1" noChangeArrowheads="1"/>
          </p:cNvSpPr>
          <p:nvPr>
            <p:ph type="title"/>
          </p:nvPr>
        </p:nvSpPr>
        <p:spPr/>
        <p:txBody>
          <a:bodyPr/>
          <a:lstStyle/>
          <a:p>
            <a:r>
              <a:rPr lang="en-US" dirty="0"/>
              <a:t>Search Engine Filtering</a:t>
            </a:r>
          </a:p>
        </p:txBody>
      </p:sp>
      <p:sp>
        <p:nvSpPr>
          <p:cNvPr id="9" name="TextBox 8"/>
          <p:cNvSpPr txBox="1"/>
          <p:nvPr/>
        </p:nvSpPr>
        <p:spPr>
          <a:xfrm>
            <a:off x="6607765" y="1255362"/>
            <a:ext cx="3031086" cy="338554"/>
          </a:xfrm>
          <a:prstGeom prst="rect">
            <a:avLst/>
          </a:prstGeom>
          <a:solidFill>
            <a:srgbClr val="00B0F0"/>
          </a:solidFill>
        </p:spPr>
        <p:txBody>
          <a:bodyPr wrap="none" rtlCol="0">
            <a:spAutoFit/>
          </a:bodyPr>
          <a:lstStyle/>
          <a:p>
            <a:r>
              <a:rPr lang="en-CA" sz="1600" b="1" dirty="0"/>
              <a:t>Security Profiles </a:t>
            </a:r>
            <a:r>
              <a:rPr lang="en-CA" sz="1600" dirty="0"/>
              <a:t>&gt;</a:t>
            </a:r>
            <a:r>
              <a:rPr lang="en-CA" sz="1600" b="1" dirty="0"/>
              <a:t> Web Filter</a:t>
            </a:r>
          </a:p>
        </p:txBody>
      </p:sp>
      <p:sp>
        <p:nvSpPr>
          <p:cNvPr id="2" name="TextBox 1"/>
          <p:cNvSpPr txBox="1"/>
          <p:nvPr/>
        </p:nvSpPr>
        <p:spPr>
          <a:xfrm>
            <a:off x="6860094" y="3630028"/>
            <a:ext cx="4265911" cy="1680460"/>
          </a:xfrm>
          <a:prstGeom prst="rect">
            <a:avLst/>
          </a:prstGeom>
          <a:noFill/>
          <a:ln>
            <a:solidFill>
              <a:srgbClr val="000000"/>
            </a:solidFill>
          </a:ln>
        </p:spPr>
        <p:txBody>
          <a:bodyPr wrap="none" rtlCol="0">
            <a:spAutoFit/>
          </a:bodyPr>
          <a:lstStyle/>
          <a:p>
            <a:pPr defTabSz="457189">
              <a:lnSpc>
                <a:spcPct val="90000"/>
              </a:lnSpc>
              <a:spcBef>
                <a:spcPts val="300"/>
              </a:spcBef>
            </a:pPr>
            <a:r>
              <a:rPr lang="en-US" sz="1400" dirty="0" err="1">
                <a:solidFill>
                  <a:srgbClr val="000000"/>
                </a:solidFill>
                <a:latin typeface="Courier New" panose="02070309020205020404" pitchFamily="49" charset="0"/>
                <a:cs typeface="Courier New" panose="02070309020205020404" pitchFamily="49" charset="0"/>
              </a:rPr>
              <a:t>config</a:t>
            </a:r>
            <a:r>
              <a:rPr lang="en-US" sz="1400" dirty="0">
                <a:solidFill>
                  <a:srgbClr val="000000"/>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webfilter</a:t>
            </a:r>
            <a:r>
              <a:rPr lang="en-US" sz="1400" dirty="0">
                <a:solidFill>
                  <a:srgbClr val="000000"/>
                </a:solidFill>
                <a:latin typeface="Courier New" panose="02070309020205020404" pitchFamily="49" charset="0"/>
                <a:cs typeface="Courier New" panose="02070309020205020404" pitchFamily="49" charset="0"/>
              </a:rPr>
              <a:t> profile</a:t>
            </a:r>
          </a:p>
          <a:p>
            <a:pPr defTabSz="457189">
              <a:lnSpc>
                <a:spcPct val="90000"/>
              </a:lnSpc>
              <a:spcBef>
                <a:spcPts val="300"/>
              </a:spcBef>
            </a:pPr>
            <a:r>
              <a:rPr lang="en-US" sz="1400" dirty="0">
                <a:solidFill>
                  <a:srgbClr val="000000"/>
                </a:solidFill>
                <a:latin typeface="Courier New" panose="02070309020205020404" pitchFamily="49" charset="0"/>
                <a:cs typeface="Courier New" panose="02070309020205020404" pitchFamily="49" charset="0"/>
              </a:rPr>
              <a:t>    edit "default"</a:t>
            </a:r>
          </a:p>
          <a:p>
            <a:pPr defTabSz="457189">
              <a:lnSpc>
                <a:spcPct val="90000"/>
              </a:lnSpc>
              <a:spcBef>
                <a:spcPts val="300"/>
              </a:spcBef>
            </a:pPr>
            <a:r>
              <a:rPr lang="en-US" sz="1400" dirty="0">
                <a:solidFill>
                  <a:srgbClr val="000000"/>
                </a:solidFill>
                <a:latin typeface="Courier New" panose="02070309020205020404" pitchFamily="49" charset="0"/>
                <a:cs typeface="Courier New" panose="02070309020205020404" pitchFamily="49" charset="0"/>
              </a:rPr>
              <a:t>        </a:t>
            </a:r>
            <a:r>
              <a:rPr lang="en-US" sz="1400" dirty="0" err="1">
                <a:solidFill>
                  <a:srgbClr val="000000"/>
                </a:solidFill>
                <a:latin typeface="Courier New" panose="02070309020205020404" pitchFamily="49" charset="0"/>
                <a:cs typeface="Courier New" panose="02070309020205020404" pitchFamily="49" charset="0"/>
              </a:rPr>
              <a:t>config</a:t>
            </a:r>
            <a:r>
              <a:rPr lang="en-US" sz="1400" dirty="0">
                <a:solidFill>
                  <a:srgbClr val="000000"/>
                </a:solidFill>
                <a:latin typeface="Courier New" panose="02070309020205020404" pitchFamily="49" charset="0"/>
                <a:cs typeface="Courier New" panose="02070309020205020404" pitchFamily="49" charset="0"/>
              </a:rPr>
              <a:t> web</a:t>
            </a:r>
          </a:p>
          <a:p>
            <a:pPr defTabSz="457189">
              <a:lnSpc>
                <a:spcPct val="90000"/>
              </a:lnSpc>
              <a:spcBef>
                <a:spcPts val="300"/>
              </a:spcBef>
            </a:pPr>
            <a:r>
              <a:rPr lang="en-US" sz="1400" dirty="0">
                <a:solidFill>
                  <a:srgbClr val="000000"/>
                </a:solidFill>
                <a:latin typeface="Courier New" panose="02070309020205020404" pitchFamily="49" charset="0"/>
                <a:cs typeface="Courier New" panose="02070309020205020404" pitchFamily="49" charset="0"/>
              </a:rPr>
              <a:t>            set safe-search </a:t>
            </a:r>
            <a:r>
              <a:rPr lang="en-US" sz="1400" dirty="0" err="1">
                <a:solidFill>
                  <a:srgbClr val="000000"/>
                </a:solidFill>
                <a:latin typeface="Courier New" panose="02070309020205020404" pitchFamily="49" charset="0"/>
                <a:cs typeface="Courier New" panose="02070309020205020404" pitchFamily="49" charset="0"/>
              </a:rPr>
              <a:t>url</a:t>
            </a:r>
            <a:r>
              <a:rPr lang="en-US" sz="1400" dirty="0">
                <a:solidFill>
                  <a:srgbClr val="000000"/>
                </a:solidFill>
                <a:latin typeface="Courier New" panose="02070309020205020404" pitchFamily="49" charset="0"/>
                <a:cs typeface="Courier New" panose="02070309020205020404" pitchFamily="49" charset="0"/>
              </a:rPr>
              <a:t> header</a:t>
            </a:r>
          </a:p>
          <a:p>
            <a:pPr defTabSz="457189">
              <a:lnSpc>
                <a:spcPct val="90000"/>
              </a:lnSpc>
              <a:spcBef>
                <a:spcPts val="300"/>
              </a:spcBef>
            </a:pPr>
            <a:r>
              <a:rPr lang="en-US" sz="1400" dirty="0">
                <a:solidFill>
                  <a:srgbClr val="000000"/>
                </a:solidFill>
                <a:latin typeface="Courier New" panose="02070309020205020404" pitchFamily="49" charset="0"/>
                <a:cs typeface="Courier New" panose="02070309020205020404" pitchFamily="49" charset="0"/>
              </a:rPr>
              <a:t>        end</a:t>
            </a:r>
          </a:p>
          <a:p>
            <a:pPr defTabSz="457189">
              <a:lnSpc>
                <a:spcPct val="90000"/>
              </a:lnSpc>
              <a:spcBef>
                <a:spcPts val="300"/>
              </a:spcBef>
            </a:pPr>
            <a:r>
              <a:rPr lang="en-US" sz="1400" dirty="0">
                <a:solidFill>
                  <a:srgbClr val="000000"/>
                </a:solidFill>
                <a:latin typeface="Courier New" panose="02070309020205020404" pitchFamily="49" charset="0"/>
                <a:cs typeface="Courier New" panose="02070309020205020404" pitchFamily="49" charset="0"/>
              </a:rPr>
              <a:t>    next</a:t>
            </a:r>
          </a:p>
          <a:p>
            <a:pPr defTabSz="457189">
              <a:lnSpc>
                <a:spcPct val="90000"/>
              </a:lnSpc>
              <a:spcBef>
                <a:spcPts val="300"/>
              </a:spcBef>
            </a:pPr>
            <a:r>
              <a:rPr lang="en-US" sz="1400" dirty="0">
                <a:solidFill>
                  <a:srgbClr val="000000"/>
                </a:solidFill>
                <a:latin typeface="Courier New" panose="02070309020205020404" pitchFamily="49" charset="0"/>
                <a:cs typeface="Courier New" panose="02070309020205020404" pitchFamily="49" charset="0"/>
              </a:rPr>
              <a:t>end</a:t>
            </a:r>
          </a:p>
        </p:txBody>
      </p:sp>
      <p:pic>
        <p:nvPicPr>
          <p:cNvPr id="7" name="Picture 6"/>
          <p:cNvPicPr>
            <a:picLocks noChangeAspect="1"/>
          </p:cNvPicPr>
          <p:nvPr/>
        </p:nvPicPr>
        <p:blipFill>
          <a:blip r:embed="rId4"/>
          <a:stretch>
            <a:fillRect/>
          </a:stretch>
        </p:blipFill>
        <p:spPr>
          <a:xfrm>
            <a:off x="6607765" y="1621885"/>
            <a:ext cx="4809524" cy="1104762"/>
          </a:xfrm>
          <a:prstGeom prst="rect">
            <a:avLst/>
          </a:prstGeom>
          <a:ln>
            <a:solidFill>
              <a:srgbClr val="000000"/>
            </a:solidFill>
          </a:ln>
        </p:spPr>
      </p:pic>
    </p:spTree>
    <p:custDataLst>
      <p:tags r:id="rId1"/>
    </p:custDataLst>
    <p:extLst>
      <p:ext uri="{BB962C8B-B14F-4D97-AF65-F5344CB8AC3E}">
        <p14:creationId xmlns:p14="http://schemas.microsoft.com/office/powerpoint/2010/main" val="2426970441"/>
      </p:ext>
    </p:extLst>
  </p:cSld>
  <p:clrMapOvr>
    <a:masterClrMapping/>
  </p:clrMapOvr>
  <p:transition>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en-US"/>
              <a:t>Web Content Filtering</a:t>
            </a:r>
            <a:endParaRPr lang="en-US" dirty="0"/>
          </a:p>
        </p:txBody>
      </p:sp>
      <p:sp>
        <p:nvSpPr>
          <p:cNvPr id="3" name="Text Placeholder 2"/>
          <p:cNvSpPr>
            <a:spLocks noGrp="1"/>
          </p:cNvSpPr>
          <p:nvPr>
            <p:ph idx="1"/>
          </p:nvPr>
        </p:nvSpPr>
        <p:spPr/>
        <p:txBody>
          <a:bodyPr/>
          <a:lstStyle/>
          <a:p>
            <a:r>
              <a:rPr lang="en-US" dirty="0"/>
              <a:t>Requires </a:t>
            </a:r>
            <a:r>
              <a:rPr lang="en-US" dirty="0" err="1"/>
              <a:t>FortiGate</a:t>
            </a:r>
            <a:r>
              <a:rPr lang="en-US" dirty="0"/>
              <a:t> to use SSL deep inspection</a:t>
            </a:r>
          </a:p>
          <a:p>
            <a:r>
              <a:rPr lang="en-US" dirty="0"/>
              <a:t>Controls access to web pages containing specific patterns</a:t>
            </a:r>
          </a:p>
          <a:p>
            <a:r>
              <a:rPr lang="en-US" dirty="0"/>
              <a:t>Scans the content of every website accepted by security policies</a:t>
            </a:r>
          </a:p>
          <a:p>
            <a:r>
              <a:rPr lang="en-US" dirty="0"/>
              <a:t>Matches content from wildcards or Perl regular expressions</a:t>
            </a:r>
          </a:p>
          <a:p>
            <a:r>
              <a:rPr lang="en-US" dirty="0"/>
              <a:t>The maximum number of web content patterns in a list is 5000</a:t>
            </a:r>
          </a:p>
          <a:p>
            <a:r>
              <a:rPr lang="en-US" dirty="0"/>
              <a:t>Actions: </a:t>
            </a:r>
          </a:p>
          <a:p>
            <a:pPr lvl="1"/>
            <a:r>
              <a:rPr lang="en-US" dirty="0"/>
              <a:t>Exempt</a:t>
            </a:r>
          </a:p>
          <a:p>
            <a:pPr lvl="1"/>
            <a:r>
              <a:rPr lang="en-US" dirty="0"/>
              <a:t>Block</a:t>
            </a:r>
          </a:p>
          <a:p>
            <a:pPr lvl="1"/>
            <a:endParaRPr lang="en-US" dirty="0"/>
          </a:p>
        </p:txBody>
      </p:sp>
      <p:sp>
        <p:nvSpPr>
          <p:cNvPr id="7" name="TextBox 6"/>
          <p:cNvSpPr txBox="1"/>
          <p:nvPr/>
        </p:nvSpPr>
        <p:spPr>
          <a:xfrm>
            <a:off x="6218757" y="3208745"/>
            <a:ext cx="3031086" cy="338554"/>
          </a:xfrm>
          <a:prstGeom prst="rect">
            <a:avLst/>
          </a:prstGeom>
          <a:solidFill>
            <a:srgbClr val="00B0F0"/>
          </a:solidFill>
        </p:spPr>
        <p:txBody>
          <a:bodyPr wrap="none" rtlCol="0">
            <a:spAutoFit/>
          </a:bodyPr>
          <a:lstStyle/>
          <a:p>
            <a:r>
              <a:rPr lang="en-CA" sz="1600" b="1" dirty="0"/>
              <a:t>Security Profiles </a:t>
            </a:r>
            <a:r>
              <a:rPr lang="en-CA" sz="1600" dirty="0"/>
              <a:t>&gt;</a:t>
            </a:r>
            <a:r>
              <a:rPr lang="en-CA" sz="1600" b="1" dirty="0"/>
              <a:t> Web Filter</a:t>
            </a:r>
          </a:p>
        </p:txBody>
      </p:sp>
      <p:pic>
        <p:nvPicPr>
          <p:cNvPr id="2" name="Picture 1"/>
          <p:cNvPicPr>
            <a:picLocks noChangeAspect="1"/>
          </p:cNvPicPr>
          <p:nvPr/>
        </p:nvPicPr>
        <p:blipFill>
          <a:blip r:embed="rId4"/>
          <a:stretch>
            <a:fillRect/>
          </a:stretch>
        </p:blipFill>
        <p:spPr>
          <a:xfrm>
            <a:off x="6218757" y="3576122"/>
            <a:ext cx="4781485" cy="2705855"/>
          </a:xfrm>
          <a:prstGeom prst="rect">
            <a:avLst/>
          </a:prstGeom>
          <a:ln>
            <a:solidFill>
              <a:srgbClr val="000000"/>
            </a:solidFill>
          </a:ln>
        </p:spPr>
      </p:pic>
      <p:sp>
        <p:nvSpPr>
          <p:cNvPr id="5" name="Rectangle 4"/>
          <p:cNvSpPr/>
          <p:nvPr/>
        </p:nvSpPr>
        <p:spPr>
          <a:xfrm>
            <a:off x="6360340" y="5138442"/>
            <a:ext cx="4474895" cy="8092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8" name="Rectangle 7"/>
          <p:cNvSpPr/>
          <p:nvPr/>
        </p:nvSpPr>
        <p:spPr>
          <a:xfrm>
            <a:off x="6244533" y="4524447"/>
            <a:ext cx="2939928" cy="2093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502487782"/>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Advanced Web Filter Settings </a:t>
            </a:r>
          </a:p>
        </p:txBody>
      </p:sp>
      <p:sp>
        <p:nvSpPr>
          <p:cNvPr id="2" name="Content Placeholder 1"/>
          <p:cNvSpPr>
            <a:spLocks noGrp="1"/>
          </p:cNvSpPr>
          <p:nvPr>
            <p:ph idx="1"/>
          </p:nvPr>
        </p:nvSpPr>
        <p:spPr/>
        <p:txBody>
          <a:bodyPr/>
          <a:lstStyle/>
          <a:p>
            <a:r>
              <a:rPr lang="en-US" dirty="0"/>
              <a:t>Rating options:</a:t>
            </a:r>
          </a:p>
        </p:txBody>
      </p:sp>
      <p:pic>
        <p:nvPicPr>
          <p:cNvPr id="9" name="Picture 8"/>
          <p:cNvPicPr>
            <a:picLocks noChangeAspect="1"/>
          </p:cNvPicPr>
          <p:nvPr/>
        </p:nvPicPr>
        <p:blipFill>
          <a:blip r:embed="rId4"/>
          <a:stretch>
            <a:fillRect/>
          </a:stretch>
        </p:blipFill>
        <p:spPr>
          <a:xfrm>
            <a:off x="4146926" y="2573028"/>
            <a:ext cx="3390476" cy="1114286"/>
          </a:xfrm>
          <a:prstGeom prst="rect">
            <a:avLst/>
          </a:prstGeom>
          <a:ln>
            <a:solidFill>
              <a:srgbClr val="000000"/>
            </a:solidFill>
          </a:ln>
        </p:spPr>
      </p:pic>
      <p:sp>
        <p:nvSpPr>
          <p:cNvPr id="22" name="TextBox 21"/>
          <p:cNvSpPr txBox="1"/>
          <p:nvPr/>
        </p:nvSpPr>
        <p:spPr>
          <a:xfrm>
            <a:off x="4146926" y="2206522"/>
            <a:ext cx="3031086" cy="338554"/>
          </a:xfrm>
          <a:prstGeom prst="rect">
            <a:avLst/>
          </a:prstGeom>
          <a:solidFill>
            <a:srgbClr val="00B0F0"/>
          </a:solidFill>
        </p:spPr>
        <p:txBody>
          <a:bodyPr wrap="none" rtlCol="0">
            <a:spAutoFit/>
          </a:bodyPr>
          <a:lstStyle/>
          <a:p>
            <a:r>
              <a:rPr lang="en-CA" sz="1600" b="1" dirty="0"/>
              <a:t>Security Profiles </a:t>
            </a:r>
            <a:r>
              <a:rPr lang="en-CA" sz="1600" dirty="0"/>
              <a:t>&gt;</a:t>
            </a:r>
            <a:r>
              <a:rPr lang="en-CA" sz="1600" b="1" dirty="0"/>
              <a:t> Web Filter</a:t>
            </a:r>
          </a:p>
        </p:txBody>
      </p:sp>
      <p:sp>
        <p:nvSpPr>
          <p:cNvPr id="5" name="Rounded Rectangular Callout 4"/>
          <p:cNvSpPr/>
          <p:nvPr/>
        </p:nvSpPr>
        <p:spPr bwMode="invGray">
          <a:xfrm>
            <a:off x="418648" y="2233279"/>
            <a:ext cx="3403057" cy="896892"/>
          </a:xfrm>
          <a:prstGeom prst="wedgeRoundRectCallout">
            <a:avLst>
              <a:gd name="adj1" fmla="val 61074"/>
              <a:gd name="adj2" fmla="val 39967"/>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t>Allow access to websites that return a rating error from the FortiGuard Web Filter </a:t>
            </a:r>
            <a:r>
              <a:rPr lang="en-US" sz="1600" dirty="0" smtClean="0"/>
              <a:t>service</a:t>
            </a:r>
            <a:endParaRPr lang="en-US" sz="1600" dirty="0"/>
          </a:p>
        </p:txBody>
      </p:sp>
      <p:sp>
        <p:nvSpPr>
          <p:cNvPr id="4" name="Rounded Rectangular Callout 3"/>
          <p:cNvSpPr/>
          <p:nvPr/>
        </p:nvSpPr>
        <p:spPr bwMode="invGray">
          <a:xfrm>
            <a:off x="8143509" y="4022557"/>
            <a:ext cx="3250353" cy="797164"/>
          </a:xfrm>
          <a:prstGeom prst="wedgeRoundRectCallout">
            <a:avLst>
              <a:gd name="adj1" fmla="val -78718"/>
              <a:gd name="adj2" fmla="val -133458"/>
              <a:gd name="adj3" fmla="val 16667"/>
            </a:avLst>
          </a:prstGeom>
          <a:solidFill>
            <a:srgbClr val="00B0F0"/>
          </a:solidFill>
          <a:ln w="38100">
            <a:no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t>Add additional security. The URL and IP address are rated separately.</a:t>
            </a:r>
          </a:p>
        </p:txBody>
      </p:sp>
      <p:grpSp>
        <p:nvGrpSpPr>
          <p:cNvPr id="40" name="Group 54"/>
          <p:cNvGrpSpPr/>
          <p:nvPr/>
        </p:nvGrpSpPr>
        <p:grpSpPr>
          <a:xfrm>
            <a:off x="7895269" y="3880596"/>
            <a:ext cx="605982" cy="384721"/>
            <a:chOff x="1543698" y="2459870"/>
            <a:chExt cx="500066" cy="338754"/>
          </a:xfrm>
        </p:grpSpPr>
        <p:sp>
          <p:nvSpPr>
            <p:cNvPr id="41" name="Oval 40"/>
            <p:cNvSpPr/>
            <p:nvPr/>
          </p:nvSpPr>
          <p:spPr bwMode="auto">
            <a:xfrm>
              <a:off x="1547664" y="2492326"/>
              <a:ext cx="285752" cy="285752"/>
            </a:xfrm>
            <a:prstGeom prst="ellipse">
              <a:avLst/>
            </a:prstGeom>
            <a:solidFill>
              <a:srgbClr val="0070C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218987" fontAlgn="base">
                <a:spcBef>
                  <a:spcPct val="0"/>
                </a:spcBef>
                <a:spcAft>
                  <a:spcPct val="0"/>
                </a:spcAft>
              </a:pPr>
              <a:endParaRPr kumimoji="0" lang="en-CA" b="1" i="0" u="none" strike="noStrike" cap="none" normalizeH="0" baseline="0" dirty="0">
                <a:ln>
                  <a:noFill/>
                </a:ln>
                <a:solidFill>
                  <a:schemeClr val="tx1"/>
                </a:solidFill>
                <a:effectLst/>
                <a:ea typeface="ＭＳ Ｐゴシック" charset="-128"/>
                <a:cs typeface="ＭＳ Ｐゴシック" charset="-128"/>
              </a:endParaRPr>
            </a:p>
          </p:txBody>
        </p:sp>
        <p:sp>
          <p:nvSpPr>
            <p:cNvPr id="42" name="TextBox 41"/>
            <p:cNvSpPr txBox="1"/>
            <p:nvPr/>
          </p:nvSpPr>
          <p:spPr>
            <a:xfrm>
              <a:off x="1543698" y="2459870"/>
              <a:ext cx="500066" cy="338754"/>
            </a:xfrm>
            <a:prstGeom prst="rect">
              <a:avLst/>
            </a:prstGeom>
            <a:noFill/>
          </p:spPr>
          <p:txBody>
            <a:bodyPr wrap="square" rtlCol="0">
              <a:spAutoFit/>
            </a:bodyPr>
            <a:lstStyle/>
            <a:p>
              <a:r>
                <a:rPr lang="en-CA" sz="1900" b="1" dirty="0">
                  <a:solidFill>
                    <a:schemeClr val="bg1"/>
                  </a:solidFill>
                </a:rPr>
                <a:t>2</a:t>
              </a:r>
            </a:p>
          </p:txBody>
        </p:sp>
      </p:grpSp>
      <p:grpSp>
        <p:nvGrpSpPr>
          <p:cNvPr id="26" name="Group 54"/>
          <p:cNvGrpSpPr/>
          <p:nvPr/>
        </p:nvGrpSpPr>
        <p:grpSpPr>
          <a:xfrm>
            <a:off x="240706" y="2040080"/>
            <a:ext cx="605982" cy="384721"/>
            <a:chOff x="1543698" y="2459869"/>
            <a:chExt cx="500066" cy="338754"/>
          </a:xfrm>
        </p:grpSpPr>
        <p:sp>
          <p:nvSpPr>
            <p:cNvPr id="27" name="Oval 26"/>
            <p:cNvSpPr/>
            <p:nvPr/>
          </p:nvSpPr>
          <p:spPr bwMode="auto">
            <a:xfrm>
              <a:off x="1547664" y="2492326"/>
              <a:ext cx="285752" cy="285752"/>
            </a:xfrm>
            <a:prstGeom prst="ellipse">
              <a:avLst/>
            </a:prstGeom>
            <a:solidFill>
              <a:srgbClr val="0070C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1218987" fontAlgn="base">
                <a:spcBef>
                  <a:spcPct val="0"/>
                </a:spcBef>
                <a:spcAft>
                  <a:spcPct val="0"/>
                </a:spcAft>
              </a:pPr>
              <a:endParaRPr kumimoji="0" lang="en-CA" b="1" i="0" u="none" strike="noStrike" cap="none" normalizeH="0" baseline="0" dirty="0">
                <a:ln>
                  <a:noFill/>
                </a:ln>
                <a:solidFill>
                  <a:schemeClr val="tx1"/>
                </a:solidFill>
                <a:effectLst/>
                <a:ea typeface="ＭＳ Ｐゴシック" charset="-128"/>
                <a:cs typeface="ＭＳ Ｐゴシック" charset="-128"/>
              </a:endParaRPr>
            </a:p>
          </p:txBody>
        </p:sp>
        <p:sp>
          <p:nvSpPr>
            <p:cNvPr id="28" name="TextBox 27"/>
            <p:cNvSpPr txBox="1"/>
            <p:nvPr/>
          </p:nvSpPr>
          <p:spPr>
            <a:xfrm>
              <a:off x="1543698" y="2459869"/>
              <a:ext cx="500066" cy="338754"/>
            </a:xfrm>
            <a:prstGeom prst="rect">
              <a:avLst/>
            </a:prstGeom>
            <a:noFill/>
          </p:spPr>
          <p:txBody>
            <a:bodyPr wrap="square" rtlCol="0">
              <a:spAutoFit/>
            </a:bodyPr>
            <a:lstStyle/>
            <a:p>
              <a:r>
                <a:rPr lang="en-US" sz="1900" b="1" dirty="0" smtClean="0">
                  <a:solidFill>
                    <a:schemeClr val="bg1"/>
                  </a:solidFill>
                </a:rPr>
                <a:t>1</a:t>
              </a:r>
              <a:endParaRPr lang="en-CA" sz="1900" b="1" dirty="0">
                <a:solidFill>
                  <a:schemeClr val="bg1"/>
                </a:solidFill>
              </a:endParaRPr>
            </a:p>
          </p:txBody>
        </p:sp>
      </p:grpSp>
    </p:spTree>
    <p:custDataLst>
      <p:tags r:id="rId1"/>
    </p:custDataLst>
    <p:extLst>
      <p:ext uri="{BB962C8B-B14F-4D97-AF65-F5344CB8AC3E}">
        <p14:creationId xmlns:p14="http://schemas.microsoft.com/office/powerpoint/2010/main" val="1986279253"/>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CA" dirty="0"/>
              <a:t>Which </a:t>
            </a:r>
            <a:r>
              <a:rPr lang="en-CA" dirty="0" smtClean="0"/>
              <a:t>of the following is used for matching content in Web Content Filtering ?</a:t>
            </a:r>
            <a:endParaRPr lang="en-CA" dirty="0"/>
          </a:p>
          <a:p>
            <a:pPr marL="838133" lvl="1" indent="-457200">
              <a:buFont typeface="+mj-lt"/>
              <a:buAutoNum type="alphaUcPeriod"/>
            </a:pPr>
            <a:r>
              <a:rPr lang="en-CA" dirty="0" smtClean="0"/>
              <a:t>Perl regular expressions				</a:t>
            </a:r>
            <a:endParaRPr lang="en-CA" dirty="0"/>
          </a:p>
          <a:p>
            <a:pPr marL="838133" lvl="1" indent="-457200">
              <a:buFont typeface="+mj-lt"/>
              <a:buAutoNum type="alphaUcPeriod"/>
            </a:pPr>
            <a:r>
              <a:rPr lang="en-CA" dirty="0" smtClean="0"/>
              <a:t>Boolean operators</a:t>
            </a:r>
            <a:endParaRPr lang="en-CA" dirty="0"/>
          </a:p>
          <a:p>
            <a:pPr marL="838133" lvl="1" indent="-457200">
              <a:buFont typeface="+mj-lt"/>
              <a:buAutoNum type="alphaUcPeriod"/>
            </a:pPr>
            <a:endParaRPr lang="en-CA" dirty="0"/>
          </a:p>
          <a:p>
            <a:pPr marL="457200"/>
            <a:r>
              <a:rPr lang="en-CA" dirty="0"/>
              <a:t>Which </a:t>
            </a:r>
            <a:r>
              <a:rPr lang="en-CA" dirty="0" smtClean="0"/>
              <a:t>feature can be used for restricting </a:t>
            </a:r>
            <a:r>
              <a:rPr lang="en-US" dirty="0" smtClean="0"/>
              <a:t>websites </a:t>
            </a:r>
            <a:r>
              <a:rPr lang="en-US" dirty="0"/>
              <a:t>or images from search </a:t>
            </a:r>
            <a:r>
              <a:rPr lang="en-US" dirty="0" smtClean="0"/>
              <a:t>results ?</a:t>
            </a:r>
            <a:endParaRPr lang="en-US" dirty="0"/>
          </a:p>
          <a:p>
            <a:pPr marL="838133" lvl="1" indent="-457200">
              <a:buFont typeface="+mj-lt"/>
              <a:buAutoNum type="alphaUcPeriod"/>
            </a:pPr>
            <a:r>
              <a:rPr lang="en-CA" dirty="0" smtClean="0"/>
              <a:t>Web Content Filtering</a:t>
            </a:r>
            <a:endParaRPr lang="en-CA" dirty="0"/>
          </a:p>
          <a:p>
            <a:pPr marL="838133" lvl="1" indent="-457200">
              <a:buFont typeface="+mj-lt"/>
              <a:buAutoNum type="alphaUcPeriod"/>
            </a:pPr>
            <a:r>
              <a:rPr lang="en-CA" dirty="0" smtClean="0"/>
              <a:t>Search Engine Filtering </a:t>
            </a:r>
            <a:endParaRPr lang="en-CA"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565" y="1363054"/>
            <a:ext cx="268077" cy="28656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288" y="3040201"/>
            <a:ext cx="291826" cy="311952"/>
          </a:xfrm>
          <a:prstGeom prst="rect">
            <a:avLst/>
          </a:prstGeom>
        </p:spPr>
      </p:pic>
    </p:spTree>
    <p:custDataLst>
      <p:tags r:id="rId1"/>
    </p:custDataLst>
    <p:extLst>
      <p:ext uri="{BB962C8B-B14F-4D97-AF65-F5344CB8AC3E}">
        <p14:creationId xmlns:p14="http://schemas.microsoft.com/office/powerpoint/2010/main" val="275075906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4"/>
          <p:cNvGraphicFramePr>
            <a:graphicFrameLocks noGrp="1"/>
          </p:cNvGraphicFramePr>
          <p:nvPr>
            <p:ph type="dgm" sz="quarter" idx="10"/>
            <p:extLst>
              <p:ext uri="{D42A27DB-BD31-4B8C-83A1-F6EECF244321}">
                <p14:modId xmlns:p14="http://schemas.microsoft.com/office/powerpoint/2010/main" val="3292927235"/>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1489" y="1673548"/>
            <a:ext cx="552381" cy="590476"/>
          </a:xfrm>
          <a:prstGeom prst="rect">
            <a:avLst/>
          </a:prstGeom>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23870" y="3405224"/>
            <a:ext cx="552381" cy="590476"/>
          </a:xfrm>
          <a:prstGeom prst="rect">
            <a:avLst/>
          </a:prstGeom>
        </p:spPr>
      </p:pic>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0446" y="2571048"/>
            <a:ext cx="552381" cy="590476"/>
          </a:xfrm>
          <a:prstGeom prst="rect">
            <a:avLst/>
          </a:prstGeom>
        </p:spPr>
      </p:pic>
    </p:spTree>
    <p:custDataLst>
      <p:tags r:id="rId1"/>
    </p:custDataLst>
    <p:extLst>
      <p:ext uri="{BB962C8B-B14F-4D97-AF65-F5344CB8AC3E}">
        <p14:creationId xmlns:p14="http://schemas.microsoft.com/office/powerpoint/2010/main" val="425406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Video </a:t>
            </a:r>
            <a:r>
              <a:rPr lang="en-US" dirty="0"/>
              <a:t>Filtering</a:t>
            </a:r>
          </a:p>
        </p:txBody>
      </p:sp>
      <p:sp>
        <p:nvSpPr>
          <p:cNvPr id="4" name="Text Placeholder 3"/>
          <p:cNvSpPr>
            <a:spLocks noGrp="1"/>
          </p:cNvSpPr>
          <p:nvPr>
            <p:ph type="body" sz="quarter" idx="11"/>
          </p:nvPr>
        </p:nvSpPr>
        <p:spPr/>
        <p:txBody>
          <a:bodyPr/>
          <a:lstStyle/>
          <a:p>
            <a:r>
              <a:rPr lang="en-US" dirty="0" smtClean="0"/>
              <a:t>Enable a YouTube API key</a:t>
            </a:r>
          </a:p>
          <a:p>
            <a:r>
              <a:rPr lang="en-US" dirty="0" smtClean="0"/>
              <a:t>Filter YouTube videos using </a:t>
            </a:r>
            <a:r>
              <a:rPr lang="en-US" dirty="0" err="1" smtClean="0"/>
              <a:t>FortiGuard</a:t>
            </a:r>
            <a:endParaRPr lang="en-US" dirty="0" smtClean="0"/>
          </a:p>
          <a:p>
            <a:r>
              <a:rPr lang="en-US" dirty="0" smtClean="0"/>
              <a:t>Filter YouTube based on restriction level</a:t>
            </a:r>
          </a:p>
          <a:p>
            <a:r>
              <a:rPr lang="en-US" dirty="0" smtClean="0"/>
              <a:t>Filter YouTube channels</a:t>
            </a:r>
            <a:endParaRPr lang="en-CA" dirty="0"/>
          </a:p>
        </p:txBody>
      </p:sp>
    </p:spTree>
    <p:custDataLst>
      <p:tags r:id="rId1"/>
    </p:custDataLst>
    <p:extLst>
      <p:ext uri="{BB962C8B-B14F-4D97-AF65-F5344CB8AC3E}">
        <p14:creationId xmlns:p14="http://schemas.microsoft.com/office/powerpoint/2010/main" val="3828293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p:cNvPicPr>
            <a:picLocks noGrp="1" noChangeAspect="1"/>
          </p:cNvPicPr>
          <p:nvPr>
            <p:ph idx="16"/>
          </p:nvPr>
        </p:nvPicPr>
        <p:blipFill>
          <a:blip r:embed="rId3">
            <a:extLst>
              <a:ext uri="{28A0092B-C50C-407E-A947-70E740481C1C}">
                <a14:useLocalDpi xmlns:a14="http://schemas.microsoft.com/office/drawing/2010/main" val="0"/>
              </a:ext>
            </a:extLst>
          </a:blip>
          <a:stretch>
            <a:fillRect/>
          </a:stretch>
        </p:blipFill>
        <p:spPr>
          <a:xfrm>
            <a:off x="6753795" y="648001"/>
            <a:ext cx="3082184" cy="690968"/>
          </a:xfrm>
        </p:spPr>
      </p:pic>
      <p:sp>
        <p:nvSpPr>
          <p:cNvPr id="11" name="Content Placeholder 10"/>
          <p:cNvSpPr>
            <a:spLocks noGrp="1"/>
          </p:cNvSpPr>
          <p:nvPr>
            <p:ph idx="15"/>
          </p:nvPr>
        </p:nvSpPr>
        <p:spPr/>
        <p:txBody>
          <a:bodyPr>
            <a:normAutofit/>
          </a:bodyPr>
          <a:lstStyle/>
          <a:p>
            <a:r>
              <a:rPr lang="en-US" dirty="0" smtClean="0"/>
              <a:t>Controls YouTube content access:</a:t>
            </a:r>
          </a:p>
          <a:p>
            <a:pPr lvl="1"/>
            <a:r>
              <a:rPr lang="en-US" dirty="0" smtClean="0"/>
              <a:t>To allow, monitor, or block based on category</a:t>
            </a:r>
          </a:p>
          <a:p>
            <a:pPr lvl="1"/>
            <a:r>
              <a:rPr lang="en-US" dirty="0" smtClean="0"/>
              <a:t>To allow, monitor, or block access to channels</a:t>
            </a:r>
          </a:p>
          <a:p>
            <a:pPr lvl="1"/>
            <a:r>
              <a:rPr lang="en-US" dirty="0" smtClean="0"/>
              <a:t>To set restriction levels </a:t>
            </a:r>
          </a:p>
          <a:p>
            <a:r>
              <a:rPr lang="en-US" dirty="0" smtClean="0"/>
              <a:t>Separate </a:t>
            </a:r>
            <a:r>
              <a:rPr lang="en-US" dirty="0" err="1"/>
              <a:t>FortiGuard</a:t>
            </a:r>
            <a:r>
              <a:rPr lang="en-US" dirty="0"/>
              <a:t> license for video filtering</a:t>
            </a:r>
          </a:p>
          <a:p>
            <a:r>
              <a:rPr lang="en-US" dirty="0" smtClean="0"/>
              <a:t>Supported only on </a:t>
            </a:r>
            <a:r>
              <a:rPr lang="en-US" dirty="0"/>
              <a:t>proxy-based firewall policy</a:t>
            </a:r>
          </a:p>
          <a:p>
            <a:r>
              <a:rPr lang="en-US" dirty="0" smtClean="0"/>
              <a:t>Requires </a:t>
            </a:r>
            <a:r>
              <a:rPr lang="en-US" dirty="0"/>
              <a:t>full SSL inspection</a:t>
            </a:r>
          </a:p>
          <a:p>
            <a:r>
              <a:rPr lang="en-US" dirty="0" smtClean="0"/>
              <a:t>Requires YouTube API key</a:t>
            </a:r>
          </a:p>
          <a:p>
            <a:r>
              <a:rPr lang="en-US" dirty="0" smtClean="0"/>
              <a:t>Enables </a:t>
            </a:r>
            <a:r>
              <a:rPr lang="en-US" dirty="0"/>
              <a:t>YouTube key on CLI</a:t>
            </a:r>
          </a:p>
          <a:p>
            <a:pPr lvl="1"/>
            <a:r>
              <a:rPr lang="en-US" dirty="0"/>
              <a:t>You can add multiple YouTube API keys</a:t>
            </a:r>
          </a:p>
          <a:p>
            <a:r>
              <a:rPr lang="en-US" dirty="0" smtClean="0"/>
              <a:t>Filters </a:t>
            </a:r>
            <a:r>
              <a:rPr lang="en-US"/>
              <a:t>videos </a:t>
            </a:r>
            <a:r>
              <a:rPr lang="en-US" smtClean="0"/>
              <a:t>using </a:t>
            </a:r>
            <a:r>
              <a:rPr lang="en-US" dirty="0"/>
              <a:t>two methods:</a:t>
            </a:r>
          </a:p>
          <a:p>
            <a:pPr lvl="1"/>
            <a:r>
              <a:rPr lang="en-US" dirty="0" err="1"/>
              <a:t>FortiGuard</a:t>
            </a:r>
            <a:r>
              <a:rPr lang="en-US" dirty="0"/>
              <a:t> categories</a:t>
            </a:r>
          </a:p>
          <a:p>
            <a:pPr lvl="1"/>
            <a:r>
              <a:rPr lang="en-US" dirty="0" smtClean="0"/>
              <a:t>Channel IDs</a:t>
            </a:r>
            <a:endParaRPr lang="en-US" dirty="0"/>
          </a:p>
          <a:p>
            <a:endParaRPr lang="en-US" dirty="0"/>
          </a:p>
        </p:txBody>
      </p:sp>
      <p:sp>
        <p:nvSpPr>
          <p:cNvPr id="2" name="Title 1"/>
          <p:cNvSpPr>
            <a:spLocks noGrp="1"/>
          </p:cNvSpPr>
          <p:nvPr>
            <p:ph type="title"/>
          </p:nvPr>
        </p:nvSpPr>
        <p:spPr/>
        <p:txBody>
          <a:bodyPr/>
          <a:lstStyle/>
          <a:p>
            <a:r>
              <a:rPr lang="en-US" dirty="0" smtClean="0"/>
              <a:t>Video Filter Profile</a:t>
            </a:r>
            <a:endParaRPr lang="en-US" dirty="0"/>
          </a:p>
        </p:txBody>
      </p:sp>
      <p:pic>
        <p:nvPicPr>
          <p:cNvPr id="16" name="Picture 15"/>
          <p:cNvPicPr>
            <a:picLocks noChangeAspect="1"/>
          </p:cNvPicPr>
          <p:nvPr/>
        </p:nvPicPr>
        <p:blipFill>
          <a:blip r:embed="rId4" cstate="print"/>
          <a:stretch>
            <a:fillRect/>
          </a:stretch>
        </p:blipFill>
        <p:spPr>
          <a:xfrm>
            <a:off x="7763748" y="1952423"/>
            <a:ext cx="1200067" cy="1272691"/>
          </a:xfrm>
          <a:prstGeom prst="rect">
            <a:avLst/>
          </a:prstGeom>
        </p:spPr>
      </p:pic>
      <p:pic>
        <p:nvPicPr>
          <p:cNvPr id="4" name="Picture 3"/>
          <p:cNvPicPr>
            <a:picLocks noChangeAspect="1"/>
          </p:cNvPicPr>
          <p:nvPr/>
        </p:nvPicPr>
        <p:blipFill>
          <a:blip r:embed="rId5"/>
          <a:stretch>
            <a:fillRect/>
          </a:stretch>
        </p:blipFill>
        <p:spPr>
          <a:xfrm>
            <a:off x="5990606" y="4061301"/>
            <a:ext cx="2973210" cy="761905"/>
          </a:xfrm>
          <a:prstGeom prst="rect">
            <a:avLst/>
          </a:prstGeom>
        </p:spPr>
      </p:pic>
    </p:spTree>
    <p:extLst>
      <p:ext uri="{BB962C8B-B14F-4D97-AF65-F5344CB8AC3E}">
        <p14:creationId xmlns:p14="http://schemas.microsoft.com/office/powerpoint/2010/main" val="2346250271"/>
      </p:ext>
    </p:extLst>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Video </a:t>
            </a:r>
            <a:r>
              <a:rPr lang="en-US" dirty="0"/>
              <a:t>Filter Profile</a:t>
            </a:r>
            <a:r>
              <a:rPr lang="en-US" dirty="0" smtClean="0"/>
              <a:t>—</a:t>
            </a:r>
            <a:r>
              <a:rPr lang="en-US" dirty="0" err="1" smtClean="0"/>
              <a:t>FortiGuard</a:t>
            </a:r>
            <a:r>
              <a:rPr lang="en-US" dirty="0" smtClean="0"/>
              <a:t> Categories </a:t>
            </a:r>
            <a:endParaRPr lang="en-US" dirty="0"/>
          </a:p>
        </p:txBody>
      </p:sp>
      <p:sp>
        <p:nvSpPr>
          <p:cNvPr id="3" name="Content Placeholder 2"/>
          <p:cNvSpPr>
            <a:spLocks noGrp="1"/>
          </p:cNvSpPr>
          <p:nvPr>
            <p:ph idx="15"/>
          </p:nvPr>
        </p:nvSpPr>
        <p:spPr/>
        <p:txBody>
          <a:bodyPr/>
          <a:lstStyle/>
          <a:p>
            <a:r>
              <a:rPr lang="en-US" dirty="0" err="1" smtClean="0"/>
              <a:t>FortiGuard</a:t>
            </a:r>
            <a:r>
              <a:rPr lang="en-US" dirty="0" smtClean="0"/>
              <a:t> categories for video filtering are based on universal classification:</a:t>
            </a:r>
          </a:p>
          <a:p>
            <a:pPr lvl="1"/>
            <a:r>
              <a:rPr lang="en-US" dirty="0" smtClean="0"/>
              <a:t>Combine popular online video provider categories</a:t>
            </a:r>
          </a:p>
          <a:p>
            <a:r>
              <a:rPr lang="en-US" dirty="0" err="1" smtClean="0"/>
              <a:t>FortiGuard</a:t>
            </a:r>
            <a:r>
              <a:rPr lang="en-US" dirty="0" smtClean="0"/>
              <a:t> video categories:</a:t>
            </a:r>
          </a:p>
          <a:p>
            <a:pPr lvl="1"/>
            <a:r>
              <a:rPr lang="en-US" dirty="0"/>
              <a:t>A</a:t>
            </a:r>
            <a:r>
              <a:rPr lang="en-US" dirty="0" smtClean="0"/>
              <a:t>pplicable to videos from YouTube, Vimeo, Dailymotion</a:t>
            </a:r>
          </a:p>
          <a:p>
            <a:pPr lvl="1"/>
            <a:r>
              <a:rPr lang="en-US" dirty="0" smtClean="0"/>
              <a:t>Require API to determine category and match it on the video filter</a:t>
            </a:r>
          </a:p>
          <a:p>
            <a:pPr lvl="1"/>
            <a:r>
              <a:rPr lang="en-US" dirty="0" smtClean="0"/>
              <a:t>Security action determines the flow of security checks:</a:t>
            </a:r>
          </a:p>
          <a:p>
            <a:pPr lvl="2"/>
            <a:r>
              <a:rPr lang="en-US" dirty="0" smtClean="0"/>
              <a:t>If set to allow, bypass the rest of video filter profile</a:t>
            </a:r>
          </a:p>
          <a:p>
            <a:pPr lvl="2"/>
            <a:r>
              <a:rPr lang="en-US" dirty="0" smtClean="0"/>
              <a:t>If set to monitor, log access and continue</a:t>
            </a:r>
          </a:p>
          <a:p>
            <a:pPr lvl="2"/>
            <a:r>
              <a:rPr lang="en-US" dirty="0" smtClean="0"/>
              <a:t>If block, log and prevent playing </a:t>
            </a:r>
            <a:r>
              <a:rPr lang="en-US" smtClean="0"/>
              <a:t>the video</a:t>
            </a:r>
            <a:endParaRPr lang="en-US" dirty="0" smtClean="0"/>
          </a:p>
        </p:txBody>
      </p:sp>
      <p:sp>
        <p:nvSpPr>
          <p:cNvPr id="4" name="Content Placeholder 3"/>
          <p:cNvSpPr>
            <a:spLocks noGrp="1"/>
          </p:cNvSpPr>
          <p:nvPr>
            <p:ph idx="16"/>
          </p:nvPr>
        </p:nvSpPr>
        <p:spPr/>
        <p:txBody>
          <a:bodyPr/>
          <a:lstStyle/>
          <a:p>
            <a:endParaRPr lang="en-US" dirty="0"/>
          </a:p>
        </p:txBody>
      </p:sp>
      <p:pic>
        <p:nvPicPr>
          <p:cNvPr id="5" name="Picture 4"/>
          <p:cNvPicPr>
            <a:picLocks noChangeAspect="1"/>
          </p:cNvPicPr>
          <p:nvPr/>
        </p:nvPicPr>
        <p:blipFill>
          <a:blip r:embed="rId3"/>
          <a:stretch>
            <a:fillRect/>
          </a:stretch>
        </p:blipFill>
        <p:spPr>
          <a:xfrm>
            <a:off x="6047037" y="1374335"/>
            <a:ext cx="3590706" cy="3787073"/>
          </a:xfrm>
          <a:prstGeom prst="rect">
            <a:avLst/>
          </a:prstGeom>
          <a:ln>
            <a:solidFill>
              <a:srgbClr val="000000"/>
            </a:solidFill>
          </a:ln>
        </p:spPr>
      </p:pic>
      <p:sp>
        <p:nvSpPr>
          <p:cNvPr id="6" name="TextBox 5"/>
          <p:cNvSpPr txBox="1"/>
          <p:nvPr/>
        </p:nvSpPr>
        <p:spPr>
          <a:xfrm>
            <a:off x="6047037" y="1022400"/>
            <a:ext cx="3156120" cy="338554"/>
          </a:xfrm>
          <a:prstGeom prst="rect">
            <a:avLst/>
          </a:prstGeom>
          <a:solidFill>
            <a:srgbClr val="00B0F0"/>
          </a:solidFill>
        </p:spPr>
        <p:txBody>
          <a:bodyPr wrap="none" rtlCol="0">
            <a:spAutoFit/>
          </a:bodyPr>
          <a:lstStyle/>
          <a:p>
            <a:r>
              <a:rPr lang="en-CA" sz="1600" b="1" dirty="0"/>
              <a:t>Security Profiles </a:t>
            </a:r>
            <a:r>
              <a:rPr lang="en-CA" sz="1600" dirty="0"/>
              <a:t>&gt;</a:t>
            </a:r>
            <a:r>
              <a:rPr lang="en-CA" sz="1600" b="1" dirty="0"/>
              <a:t> </a:t>
            </a:r>
            <a:r>
              <a:rPr lang="en-CA" sz="1600" b="1" dirty="0" smtClean="0"/>
              <a:t>Video </a:t>
            </a:r>
            <a:r>
              <a:rPr lang="en-CA" sz="1600" b="1" dirty="0"/>
              <a:t>Filter</a:t>
            </a:r>
          </a:p>
        </p:txBody>
      </p:sp>
      <p:sp>
        <p:nvSpPr>
          <p:cNvPr id="7" name="Rectangle 6"/>
          <p:cNvSpPr/>
          <p:nvPr/>
        </p:nvSpPr>
        <p:spPr>
          <a:xfrm>
            <a:off x="6188310" y="1683143"/>
            <a:ext cx="2265770" cy="29131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8" name="Rounded Rectangular Callout 7"/>
          <p:cNvSpPr/>
          <p:nvPr/>
        </p:nvSpPr>
        <p:spPr bwMode="invGray">
          <a:xfrm rot="5400000">
            <a:off x="9831051" y="473461"/>
            <a:ext cx="953144" cy="3001992"/>
          </a:xfrm>
          <a:prstGeom prst="wedgeRoundRectCallout">
            <a:avLst>
              <a:gd name="adj1" fmla="val -28359"/>
              <a:gd name="adj2" fmla="val 60422"/>
              <a:gd name="adj3" fmla="val 16667"/>
            </a:avLst>
          </a:prstGeom>
          <a:solidFill>
            <a:srgbClr val="00B0F0"/>
          </a:solidFill>
          <a:ln w="38100">
            <a:noFill/>
            <a:round/>
            <a:headEnd/>
            <a:tailEnd/>
          </a:ln>
        </p:spPr>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600" dirty="0" smtClean="0"/>
              <a:t>Set the action to allow, monitor, or block videos based on </a:t>
            </a:r>
            <a:r>
              <a:rPr lang="en-US" sz="1600" dirty="0" err="1" smtClean="0"/>
              <a:t>FortiGuard</a:t>
            </a:r>
            <a:r>
              <a:rPr lang="en-US" sz="1600" dirty="0" smtClean="0"/>
              <a:t> category</a:t>
            </a:r>
            <a:endParaRPr lang="en-US" sz="1600" dirty="0"/>
          </a:p>
        </p:txBody>
      </p:sp>
      <p:sp>
        <p:nvSpPr>
          <p:cNvPr id="9" name="Rectangle 8"/>
          <p:cNvSpPr/>
          <p:nvPr/>
        </p:nvSpPr>
        <p:spPr>
          <a:xfrm>
            <a:off x="6188310" y="2283265"/>
            <a:ext cx="1074639" cy="260224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0" name="Rounded Rectangular Callout 9"/>
          <p:cNvSpPr/>
          <p:nvPr/>
        </p:nvSpPr>
        <p:spPr bwMode="invGray">
          <a:xfrm rot="5400000">
            <a:off x="9119138" y="3912096"/>
            <a:ext cx="953144" cy="3698868"/>
          </a:xfrm>
          <a:prstGeom prst="wedgeRoundRectCallout">
            <a:avLst>
              <a:gd name="adj1" fmla="val -91402"/>
              <a:gd name="adj2" fmla="val 61418"/>
              <a:gd name="adj3" fmla="val 16667"/>
            </a:avLst>
          </a:prstGeom>
          <a:solidFill>
            <a:srgbClr val="00B0F0"/>
          </a:solidFill>
          <a:ln w="38100">
            <a:noFill/>
            <a:round/>
            <a:headEnd/>
            <a:tailEnd/>
          </a:ln>
        </p:spPr>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600" dirty="0" smtClean="0"/>
              <a:t>11 local universal categories available to match with API determined value when accessing the conten</a:t>
            </a:r>
            <a:r>
              <a:rPr lang="en-US" sz="1600" dirty="0"/>
              <a:t>t</a:t>
            </a:r>
          </a:p>
        </p:txBody>
      </p:sp>
    </p:spTree>
    <p:extLst>
      <p:ext uri="{BB962C8B-B14F-4D97-AF65-F5344CB8AC3E}">
        <p14:creationId xmlns:p14="http://schemas.microsoft.com/office/powerpoint/2010/main" val="1992103458"/>
      </p:ext>
    </p:extLst>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Video Filter Profile—YouTube</a:t>
            </a:r>
            <a:endParaRPr lang="en-US" dirty="0"/>
          </a:p>
        </p:txBody>
      </p:sp>
      <p:sp>
        <p:nvSpPr>
          <p:cNvPr id="6" name="Content Placeholder 5"/>
          <p:cNvSpPr>
            <a:spLocks noGrp="1"/>
          </p:cNvSpPr>
          <p:nvPr>
            <p:ph idx="1"/>
          </p:nvPr>
        </p:nvSpPr>
        <p:spPr/>
        <p:txBody>
          <a:bodyPr/>
          <a:lstStyle/>
          <a:p>
            <a:endParaRPr lang="en-US" dirty="0"/>
          </a:p>
        </p:txBody>
      </p:sp>
      <p:pic>
        <p:nvPicPr>
          <p:cNvPr id="22" name="Picture 21"/>
          <p:cNvPicPr>
            <a:picLocks noChangeAspect="1"/>
          </p:cNvPicPr>
          <p:nvPr/>
        </p:nvPicPr>
        <p:blipFill>
          <a:blip r:embed="rId3"/>
          <a:stretch>
            <a:fillRect/>
          </a:stretch>
        </p:blipFill>
        <p:spPr>
          <a:xfrm>
            <a:off x="8313318" y="3128757"/>
            <a:ext cx="3018934" cy="2096914"/>
          </a:xfrm>
          <a:prstGeom prst="rect">
            <a:avLst/>
          </a:prstGeom>
          <a:ln>
            <a:solidFill>
              <a:srgbClr val="000000"/>
            </a:solidFill>
          </a:ln>
        </p:spPr>
      </p:pic>
      <p:pic>
        <p:nvPicPr>
          <p:cNvPr id="10" name="Picture 9"/>
          <p:cNvPicPr>
            <a:picLocks noChangeAspect="1"/>
          </p:cNvPicPr>
          <p:nvPr/>
        </p:nvPicPr>
        <p:blipFill>
          <a:blip r:embed="rId4"/>
          <a:stretch>
            <a:fillRect/>
          </a:stretch>
        </p:blipFill>
        <p:spPr>
          <a:xfrm>
            <a:off x="363426" y="1377138"/>
            <a:ext cx="5154954" cy="3372887"/>
          </a:xfrm>
          <a:prstGeom prst="rect">
            <a:avLst/>
          </a:prstGeom>
          <a:ln>
            <a:solidFill>
              <a:srgbClr val="000000"/>
            </a:solidFill>
          </a:ln>
        </p:spPr>
      </p:pic>
      <p:sp>
        <p:nvSpPr>
          <p:cNvPr id="7" name="TextBox 6"/>
          <p:cNvSpPr txBox="1"/>
          <p:nvPr/>
        </p:nvSpPr>
        <p:spPr>
          <a:xfrm>
            <a:off x="363426" y="1022400"/>
            <a:ext cx="3156120" cy="338554"/>
          </a:xfrm>
          <a:prstGeom prst="rect">
            <a:avLst/>
          </a:prstGeom>
          <a:solidFill>
            <a:srgbClr val="00B0F0"/>
          </a:solidFill>
        </p:spPr>
        <p:txBody>
          <a:bodyPr wrap="none" rtlCol="0">
            <a:spAutoFit/>
          </a:bodyPr>
          <a:lstStyle/>
          <a:p>
            <a:r>
              <a:rPr lang="en-CA" sz="1600" b="1" dirty="0"/>
              <a:t>Security Profiles </a:t>
            </a:r>
            <a:r>
              <a:rPr lang="en-CA" sz="1600" dirty="0"/>
              <a:t>&gt;</a:t>
            </a:r>
            <a:r>
              <a:rPr lang="en-CA" sz="1600" b="1" dirty="0"/>
              <a:t> </a:t>
            </a:r>
            <a:r>
              <a:rPr lang="en-CA" sz="1600" b="1" dirty="0" smtClean="0"/>
              <a:t>Video </a:t>
            </a:r>
            <a:r>
              <a:rPr lang="en-CA" sz="1600" b="1" dirty="0"/>
              <a:t>Filter</a:t>
            </a:r>
          </a:p>
        </p:txBody>
      </p:sp>
      <p:sp>
        <p:nvSpPr>
          <p:cNvPr id="8" name="Rounded Rectangular Callout 7"/>
          <p:cNvSpPr/>
          <p:nvPr/>
        </p:nvSpPr>
        <p:spPr bwMode="invGray">
          <a:xfrm rot="5400000">
            <a:off x="7968935" y="-411312"/>
            <a:ext cx="688766" cy="3659263"/>
          </a:xfrm>
          <a:prstGeom prst="wedgeRoundRectCallout">
            <a:avLst>
              <a:gd name="adj1" fmla="val 194929"/>
              <a:gd name="adj2" fmla="val 135513"/>
              <a:gd name="adj3" fmla="val 16667"/>
            </a:avLst>
          </a:prstGeom>
          <a:solidFill>
            <a:srgbClr val="00B0F0"/>
          </a:solidFill>
          <a:ln w="38100">
            <a:noFill/>
            <a:round/>
            <a:headEnd/>
            <a:tailEnd/>
          </a:ln>
        </p:spPr>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600" dirty="0" smtClean="0"/>
              <a:t>Set </a:t>
            </a:r>
            <a:r>
              <a:rPr lang="en-US" sz="1600" b="1" dirty="0" smtClean="0"/>
              <a:t>Moderate</a:t>
            </a:r>
            <a:r>
              <a:rPr lang="en-US" sz="1600" dirty="0" smtClean="0"/>
              <a:t> or </a:t>
            </a:r>
            <a:r>
              <a:rPr lang="en-US" sz="1600" b="1" dirty="0"/>
              <a:t>Strict </a:t>
            </a:r>
            <a:r>
              <a:rPr lang="en-US" sz="1600" dirty="0" smtClean="0"/>
              <a:t>access </a:t>
            </a:r>
            <a:r>
              <a:rPr lang="en-US" sz="1600" dirty="0"/>
              <a:t>to </a:t>
            </a:r>
            <a:r>
              <a:rPr lang="en-US" sz="1600" dirty="0" smtClean="0"/>
              <a:t>YouTube</a:t>
            </a:r>
            <a:endParaRPr lang="en-US" sz="1600" dirty="0"/>
          </a:p>
        </p:txBody>
      </p:sp>
      <p:sp>
        <p:nvSpPr>
          <p:cNvPr id="9" name="Rounded Rectangular Callout 8"/>
          <p:cNvSpPr/>
          <p:nvPr/>
        </p:nvSpPr>
        <p:spPr bwMode="invGray">
          <a:xfrm rot="5400000">
            <a:off x="8063819" y="627061"/>
            <a:ext cx="688766" cy="3849034"/>
          </a:xfrm>
          <a:prstGeom prst="wedgeRoundRectCallout">
            <a:avLst>
              <a:gd name="adj1" fmla="val 219603"/>
              <a:gd name="adj2" fmla="val 86863"/>
              <a:gd name="adj3" fmla="val 16667"/>
            </a:avLst>
          </a:prstGeom>
          <a:solidFill>
            <a:srgbClr val="00B0F0"/>
          </a:solidFill>
          <a:ln w="38100">
            <a:noFill/>
            <a:round/>
            <a:headEnd/>
            <a:tailEnd/>
          </a:ln>
        </p:spPr>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600" dirty="0" smtClean="0"/>
              <a:t>You can </a:t>
            </a:r>
            <a:r>
              <a:rPr lang="en-US" sz="1600" b="1" dirty="0" smtClean="0"/>
              <a:t>Allow</a:t>
            </a:r>
            <a:r>
              <a:rPr lang="en-US" sz="1600" dirty="0" smtClean="0"/>
              <a:t>, </a:t>
            </a:r>
            <a:r>
              <a:rPr lang="en-US" sz="1600" b="1" dirty="0" smtClean="0"/>
              <a:t>Monitor</a:t>
            </a:r>
            <a:r>
              <a:rPr lang="en-US" sz="1600" dirty="0" smtClean="0"/>
              <a:t>, or </a:t>
            </a:r>
            <a:r>
              <a:rPr lang="en-US" sz="1600" b="1" dirty="0" smtClean="0"/>
              <a:t>Block</a:t>
            </a:r>
            <a:r>
              <a:rPr lang="en-US" sz="1600" dirty="0" smtClean="0"/>
              <a:t> </a:t>
            </a:r>
            <a:r>
              <a:rPr lang="en-US" sz="1600" dirty="0"/>
              <a:t>access to specific YouTube </a:t>
            </a:r>
            <a:r>
              <a:rPr lang="en-US" sz="1600" dirty="0" smtClean="0"/>
              <a:t>channels IDs</a:t>
            </a:r>
            <a:endParaRPr lang="en-US" sz="1600" dirty="0"/>
          </a:p>
        </p:txBody>
      </p:sp>
      <p:sp>
        <p:nvSpPr>
          <p:cNvPr id="11" name="Rectangle 10"/>
          <p:cNvSpPr/>
          <p:nvPr/>
        </p:nvSpPr>
        <p:spPr>
          <a:xfrm>
            <a:off x="420785" y="2792786"/>
            <a:ext cx="2977869" cy="3512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2" name="Rectangle 11"/>
          <p:cNvSpPr/>
          <p:nvPr/>
        </p:nvSpPr>
        <p:spPr>
          <a:xfrm>
            <a:off x="532726" y="4029218"/>
            <a:ext cx="4670453" cy="35123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6" name="Rounded Rectangular Callout 15"/>
          <p:cNvSpPr/>
          <p:nvPr/>
        </p:nvSpPr>
        <p:spPr bwMode="invGray">
          <a:xfrm rot="5400000">
            <a:off x="2407042" y="3624200"/>
            <a:ext cx="814622" cy="3654252"/>
          </a:xfrm>
          <a:prstGeom prst="wedgeRoundRectCallout">
            <a:avLst>
              <a:gd name="adj1" fmla="val -32786"/>
              <a:gd name="adj2" fmla="val -89221"/>
              <a:gd name="adj3" fmla="val 16667"/>
            </a:avLst>
          </a:prstGeom>
          <a:solidFill>
            <a:srgbClr val="00B0F0"/>
          </a:solidFill>
          <a:ln w="38100">
            <a:noFill/>
            <a:round/>
            <a:headEnd/>
            <a:tailEnd/>
          </a:ln>
        </p:spPr>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600" dirty="0" smtClean="0"/>
              <a:t>Accessing the channel while on YouTube is blocked as configured in the video filter profile</a:t>
            </a:r>
            <a:endParaRPr lang="en-US" sz="1600" dirty="0"/>
          </a:p>
        </p:txBody>
      </p:sp>
      <p:sp>
        <p:nvSpPr>
          <p:cNvPr id="21" name="Rounded Rectangular Callout 20"/>
          <p:cNvSpPr/>
          <p:nvPr/>
        </p:nvSpPr>
        <p:spPr bwMode="invGray">
          <a:xfrm rot="5400000">
            <a:off x="9926884" y="4129217"/>
            <a:ext cx="953144" cy="3278037"/>
          </a:xfrm>
          <a:prstGeom prst="wedgeRoundRectCallout">
            <a:avLst>
              <a:gd name="adj1" fmla="val -87568"/>
              <a:gd name="adj2" fmla="val -9051"/>
              <a:gd name="adj3" fmla="val 16667"/>
            </a:avLst>
          </a:prstGeom>
          <a:solidFill>
            <a:srgbClr val="00B0F0"/>
          </a:solidFill>
          <a:ln w="38100">
            <a:noFill/>
            <a:round/>
            <a:headEnd/>
            <a:tailEnd/>
          </a:ln>
        </p:spPr>
        <p:txBody>
          <a:bodyPr rot="0" spcFirstLastPara="0" vertOverflow="overflow" horzOverflow="overflow" vert="vert270" wrap="square" lIns="91440" tIns="45720" rIns="91440" bIns="45720" numCol="1" spcCol="0" rtlCol="0" fromWordArt="0" anchor="ctr" anchorCtr="0" forceAA="0" compatLnSpc="1">
            <a:prstTxWarp prst="textNoShape">
              <a:avLst/>
            </a:prstTxWarp>
            <a:noAutofit/>
          </a:bodyPr>
          <a:lstStyle/>
          <a:p>
            <a:pPr algn="ctr"/>
            <a:r>
              <a:rPr lang="en-US" sz="1600" dirty="0" smtClean="0"/>
              <a:t>You will see a replacement message if you access a blocked channel directly using the URL</a:t>
            </a:r>
            <a:endParaRPr lang="en-US" sz="1600" dirty="0"/>
          </a:p>
        </p:txBody>
      </p:sp>
      <p:pic>
        <p:nvPicPr>
          <p:cNvPr id="23" name="Picture 22"/>
          <p:cNvPicPr>
            <a:picLocks noChangeAspect="1"/>
          </p:cNvPicPr>
          <p:nvPr/>
        </p:nvPicPr>
        <p:blipFill>
          <a:blip r:embed="rId5"/>
          <a:stretch>
            <a:fillRect/>
          </a:stretch>
        </p:blipFill>
        <p:spPr>
          <a:xfrm>
            <a:off x="6163932" y="4038696"/>
            <a:ext cx="1834185" cy="2010638"/>
          </a:xfrm>
          <a:prstGeom prst="rect">
            <a:avLst/>
          </a:prstGeom>
          <a:ln>
            <a:solidFill>
              <a:srgbClr val="000000"/>
            </a:solidFill>
          </a:ln>
        </p:spPr>
      </p:pic>
    </p:spTree>
    <p:extLst>
      <p:ext uri="{BB962C8B-B14F-4D97-AF65-F5344CB8AC3E}">
        <p14:creationId xmlns:p14="http://schemas.microsoft.com/office/powerpoint/2010/main" val="2730169944"/>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CA" dirty="0" smtClean="0"/>
              <a:t>Which is required by FortiGate to configure YouTube video filtering?</a:t>
            </a:r>
            <a:endParaRPr lang="en-CA" dirty="0"/>
          </a:p>
          <a:p>
            <a:pPr marL="838133" lvl="1" indent="-457200">
              <a:buFont typeface="+mj-lt"/>
              <a:buAutoNum type="alphaUcPeriod"/>
            </a:pPr>
            <a:r>
              <a:rPr lang="en-CA" dirty="0" smtClean="0"/>
              <a:t>YouTube API key</a:t>
            </a:r>
            <a:endParaRPr lang="en-CA" dirty="0"/>
          </a:p>
          <a:p>
            <a:pPr marL="838133" lvl="1" indent="-457200">
              <a:buFont typeface="+mj-lt"/>
              <a:buAutoNum type="alphaUcPeriod"/>
            </a:pPr>
            <a:r>
              <a:rPr lang="en-CA" dirty="0" smtClean="0"/>
              <a:t>Username</a:t>
            </a:r>
            <a:endParaRPr lang="en-CA" dirty="0"/>
          </a:p>
          <a:p>
            <a:pPr marL="838133" lvl="1" indent="-457200">
              <a:buFont typeface="+mj-lt"/>
              <a:buAutoNum type="alphaUcPeriod"/>
            </a:pPr>
            <a:endParaRPr lang="en-CA" dirty="0"/>
          </a:p>
          <a:p>
            <a:pPr marL="457200"/>
            <a:r>
              <a:rPr lang="en-CA" dirty="0" smtClean="0"/>
              <a:t>Which action in video filtering will prevent the videos from playing?</a:t>
            </a:r>
          </a:p>
          <a:p>
            <a:pPr marL="838133" lvl="1" indent="-457200">
              <a:buFont typeface="+mj-lt"/>
              <a:buAutoNum type="alphaUcPeriod"/>
            </a:pPr>
            <a:r>
              <a:rPr lang="en-CA" dirty="0" smtClean="0"/>
              <a:t>Deny</a:t>
            </a:r>
          </a:p>
          <a:p>
            <a:pPr marL="838133" lvl="1" indent="-457200">
              <a:buFont typeface="+mj-lt"/>
              <a:buAutoNum type="alphaUcPeriod"/>
            </a:pPr>
            <a:r>
              <a:rPr lang="en-CA" dirty="0" smtClean="0"/>
              <a:t>Block</a:t>
            </a:r>
            <a:endParaRPr lang="en-CA"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565" y="1363054"/>
            <a:ext cx="268077" cy="28656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288" y="3040201"/>
            <a:ext cx="291826" cy="311952"/>
          </a:xfrm>
          <a:prstGeom prst="rect">
            <a:avLst/>
          </a:prstGeom>
        </p:spPr>
      </p:pic>
    </p:spTree>
    <p:custDataLst>
      <p:tags r:id="rId1"/>
    </p:custDataLst>
    <p:extLst>
      <p:ext uri="{BB962C8B-B14F-4D97-AF65-F5344CB8AC3E}">
        <p14:creationId xmlns:p14="http://schemas.microsoft.com/office/powerpoint/2010/main" val="80954848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4"/>
          <p:cNvGraphicFramePr>
            <a:graphicFrameLocks noGrp="1"/>
          </p:cNvGraphicFramePr>
          <p:nvPr>
            <p:ph type="dgm" sz="quarter" idx="10"/>
            <p:extLst>
              <p:ext uri="{D42A27DB-BD31-4B8C-83A1-F6EECF244321}">
                <p14:modId xmlns:p14="http://schemas.microsoft.com/office/powerpoint/2010/main" val="2355796888"/>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0193" y="1648147"/>
            <a:ext cx="552381" cy="590476"/>
          </a:xfrm>
          <a:prstGeom prst="rect">
            <a:avLst/>
          </a:prstGeom>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5070" y="4251869"/>
            <a:ext cx="552381" cy="590476"/>
          </a:xfrm>
          <a:prstGeom prst="rect">
            <a:avLst/>
          </a:prstGeom>
        </p:spPr>
      </p:pic>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35069" y="2545915"/>
            <a:ext cx="552381" cy="590476"/>
          </a:xfrm>
          <a:prstGeom prst="rect">
            <a:avLst/>
          </a:prstGeom>
        </p:spPr>
      </p:pic>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2574" y="3443683"/>
            <a:ext cx="552381" cy="590476"/>
          </a:xfrm>
          <a:prstGeom prst="rect">
            <a:avLst/>
          </a:prstGeom>
        </p:spPr>
      </p:pic>
    </p:spTree>
    <p:custDataLst>
      <p:tags r:id="rId1"/>
    </p:custDataLst>
    <p:extLst>
      <p:ext uri="{BB962C8B-B14F-4D97-AF65-F5344CB8AC3E}">
        <p14:creationId xmlns:p14="http://schemas.microsoft.com/office/powerpoint/2010/main" val="412084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Best Practices and Troubleshooting</a:t>
            </a:r>
          </a:p>
        </p:txBody>
      </p:sp>
      <p:sp>
        <p:nvSpPr>
          <p:cNvPr id="2" name="Text Placeholder 1"/>
          <p:cNvSpPr>
            <a:spLocks noGrp="1"/>
          </p:cNvSpPr>
          <p:nvPr>
            <p:ph type="body" sz="quarter" idx="11"/>
          </p:nvPr>
        </p:nvSpPr>
        <p:spPr/>
        <p:txBody>
          <a:bodyPr/>
          <a:lstStyle/>
          <a:p>
            <a:r>
              <a:rPr lang="en-US" dirty="0"/>
              <a:t>Understand HTTP inspection order</a:t>
            </a:r>
          </a:p>
          <a:p>
            <a:r>
              <a:rPr lang="en-US" dirty="0"/>
              <a:t>Troubleshoot filter issues</a:t>
            </a:r>
          </a:p>
          <a:p>
            <a:r>
              <a:rPr lang="en-US" dirty="0"/>
              <a:t>Investigate FortiGuard connection issues</a:t>
            </a:r>
          </a:p>
          <a:p>
            <a:r>
              <a:rPr lang="en-US" dirty="0"/>
              <a:t>Apply web filter cache best practices</a:t>
            </a:r>
          </a:p>
          <a:p>
            <a:r>
              <a:rPr lang="en-US" dirty="0"/>
              <a:t>Monitor logs for web filtering events</a:t>
            </a:r>
          </a:p>
        </p:txBody>
      </p:sp>
    </p:spTree>
    <p:custDataLst>
      <p:tags r:id="rId1"/>
    </p:custDataLst>
    <p:extLst>
      <p:ext uri="{BB962C8B-B14F-4D97-AF65-F5344CB8AC3E}">
        <p14:creationId xmlns:p14="http://schemas.microsoft.com/office/powerpoint/2010/main" val="1270316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HTTP Inspection Order</a:t>
            </a:r>
          </a:p>
        </p:txBody>
      </p:sp>
      <p:sp>
        <p:nvSpPr>
          <p:cNvPr id="3" name="Flowchart: Decision 2"/>
          <p:cNvSpPr/>
          <p:nvPr/>
        </p:nvSpPr>
        <p:spPr bwMode="auto">
          <a:xfrm>
            <a:off x="2221791" y="3168698"/>
            <a:ext cx="2058348" cy="1113743"/>
          </a:xfrm>
          <a:prstGeom prst="flowChartDecision">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20000"/>
              </a:spcBef>
              <a:spcAft>
                <a:spcPct val="0"/>
              </a:spcAft>
              <a:buClr>
                <a:schemeClr val="accent1"/>
              </a:buClr>
              <a:buSzPct val="90000"/>
            </a:pPr>
            <a:r>
              <a:rPr lang="en-US" sz="1600" dirty="0">
                <a:latin typeface="Arial" charset="0"/>
              </a:rPr>
              <a:t>Static URL Filter</a:t>
            </a:r>
          </a:p>
        </p:txBody>
      </p:sp>
      <p:sp>
        <p:nvSpPr>
          <p:cNvPr id="4" name="Flowchart: Decision 3"/>
          <p:cNvSpPr/>
          <p:nvPr/>
        </p:nvSpPr>
        <p:spPr bwMode="auto">
          <a:xfrm>
            <a:off x="4587399" y="3168698"/>
            <a:ext cx="2058348" cy="1113743"/>
          </a:xfrm>
          <a:prstGeom prst="flowChartDecision">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20000"/>
              </a:spcBef>
              <a:spcAft>
                <a:spcPct val="0"/>
              </a:spcAft>
              <a:buClr>
                <a:schemeClr val="accent1"/>
              </a:buClr>
              <a:buSzPct val="90000"/>
            </a:pPr>
            <a:r>
              <a:rPr lang="en-US" sz="1600" dirty="0" err="1" smtClean="0">
                <a:latin typeface="Arial" charset="0"/>
              </a:rPr>
              <a:t>FortiGuard</a:t>
            </a:r>
            <a:r>
              <a:rPr lang="en-US" sz="1600" dirty="0" smtClean="0">
                <a:latin typeface="Arial" charset="0"/>
              </a:rPr>
              <a:t> </a:t>
            </a:r>
            <a:r>
              <a:rPr lang="en-US" sz="1600" dirty="0">
                <a:latin typeface="Arial" charset="0"/>
              </a:rPr>
              <a:t>Category Filter</a:t>
            </a:r>
          </a:p>
        </p:txBody>
      </p:sp>
      <p:sp>
        <p:nvSpPr>
          <p:cNvPr id="5" name="Flowchart: Decision 4"/>
          <p:cNvSpPr/>
          <p:nvPr/>
        </p:nvSpPr>
        <p:spPr bwMode="auto">
          <a:xfrm>
            <a:off x="6923590" y="3168698"/>
            <a:ext cx="2058348" cy="1113743"/>
          </a:xfrm>
          <a:prstGeom prst="flowChartDecision">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eaLnBrk="0" fontAlgn="base" hangingPunct="0">
              <a:spcBef>
                <a:spcPct val="20000"/>
              </a:spcBef>
              <a:spcAft>
                <a:spcPct val="0"/>
              </a:spcAft>
              <a:buClr>
                <a:schemeClr val="accent1"/>
              </a:buClr>
              <a:buSzPct val="90000"/>
            </a:pPr>
            <a:r>
              <a:rPr lang="en-US" sz="1600" dirty="0">
                <a:latin typeface="Arial" charset="0"/>
              </a:rPr>
              <a:t>Advanced Filters</a:t>
            </a:r>
          </a:p>
        </p:txBody>
      </p:sp>
      <p:sp>
        <p:nvSpPr>
          <p:cNvPr id="7" name="Flowchart: Process 6"/>
          <p:cNvSpPr/>
          <p:nvPr/>
        </p:nvSpPr>
        <p:spPr bwMode="auto">
          <a:xfrm>
            <a:off x="1940252" y="1803400"/>
            <a:ext cx="2621424" cy="711200"/>
          </a:xfrm>
          <a:prstGeom prst="flowChartProcess">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sz="1600" dirty="0"/>
              <a:t>EXEMPT</a:t>
            </a:r>
          </a:p>
          <a:p>
            <a:pPr algn="ctr"/>
            <a:r>
              <a:rPr lang="en-US" sz="1600" dirty="0"/>
              <a:t>(from ALL further inspection)</a:t>
            </a:r>
          </a:p>
        </p:txBody>
      </p:sp>
      <p:sp>
        <p:nvSpPr>
          <p:cNvPr id="9" name="Oval 8"/>
          <p:cNvSpPr/>
          <p:nvPr/>
        </p:nvSpPr>
        <p:spPr bwMode="auto">
          <a:xfrm>
            <a:off x="1135382" y="3492375"/>
            <a:ext cx="745971" cy="466387"/>
          </a:xfrm>
          <a:prstGeom prst="ellipse">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1218987" eaLnBrk="0" fontAlgn="base" hangingPunct="0">
              <a:spcBef>
                <a:spcPct val="20000"/>
              </a:spcBef>
              <a:spcAft>
                <a:spcPct val="0"/>
              </a:spcAft>
              <a:buClr>
                <a:schemeClr val="accent1"/>
              </a:buClr>
              <a:buSzPct val="90000"/>
            </a:pPr>
            <a:r>
              <a:rPr lang="en-US" sz="1600" dirty="0"/>
              <a:t>URL</a:t>
            </a:r>
          </a:p>
        </p:txBody>
      </p:sp>
      <p:sp>
        <p:nvSpPr>
          <p:cNvPr id="10" name="Flowchart: Process 9"/>
          <p:cNvSpPr/>
          <p:nvPr/>
        </p:nvSpPr>
        <p:spPr bwMode="auto">
          <a:xfrm>
            <a:off x="2641522" y="5003800"/>
            <a:ext cx="1218883" cy="609600"/>
          </a:xfrm>
          <a:prstGeom prst="flowChartProcess">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sz="1600" dirty="0"/>
              <a:t>Block Page</a:t>
            </a:r>
          </a:p>
        </p:txBody>
      </p:sp>
      <p:sp>
        <p:nvSpPr>
          <p:cNvPr id="11" name="Flowchart: Process 10"/>
          <p:cNvSpPr/>
          <p:nvPr/>
        </p:nvSpPr>
        <p:spPr bwMode="auto">
          <a:xfrm>
            <a:off x="5007131" y="5003800"/>
            <a:ext cx="1218883" cy="609600"/>
          </a:xfrm>
          <a:prstGeom prst="flowChartProcess">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sz="1600" dirty="0"/>
              <a:t>Block Page</a:t>
            </a:r>
          </a:p>
        </p:txBody>
      </p:sp>
      <p:sp>
        <p:nvSpPr>
          <p:cNvPr id="12" name="Flowchart: Process 11"/>
          <p:cNvSpPr/>
          <p:nvPr/>
        </p:nvSpPr>
        <p:spPr bwMode="auto">
          <a:xfrm>
            <a:off x="7343322" y="5003800"/>
            <a:ext cx="1218883" cy="609600"/>
          </a:xfrm>
          <a:prstGeom prst="flowChartProcess">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sz="1600" dirty="0"/>
              <a:t>Block Page</a:t>
            </a:r>
          </a:p>
        </p:txBody>
      </p:sp>
      <p:sp>
        <p:nvSpPr>
          <p:cNvPr id="14" name="Flowchart: Process 13"/>
          <p:cNvSpPr/>
          <p:nvPr/>
        </p:nvSpPr>
        <p:spPr bwMode="auto">
          <a:xfrm>
            <a:off x="9259782" y="3465695"/>
            <a:ext cx="1405441" cy="519747"/>
          </a:xfrm>
          <a:prstGeom prst="flowChartProcess">
            <a:avLst/>
          </a:prstGeom>
          <a:solidFill>
            <a:schemeClr val="bg1">
              <a:lumMod val="95000"/>
            </a:schemeClr>
          </a:solidFill>
          <a:ln w="19050" cap="flat" cmpd="sng" algn="ctr">
            <a:solidFill>
              <a:srgbClr val="0070C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sz="1600" dirty="0"/>
              <a:t>Display Page</a:t>
            </a:r>
          </a:p>
        </p:txBody>
      </p:sp>
      <p:cxnSp>
        <p:nvCxnSpPr>
          <p:cNvPr id="16" name="Straight Connector 15"/>
          <p:cNvCxnSpPr>
            <a:stCxn id="9" idx="6"/>
            <a:endCxn id="3" idx="1"/>
          </p:cNvCxnSpPr>
          <p:nvPr/>
        </p:nvCxnSpPr>
        <p:spPr bwMode="auto">
          <a:xfrm>
            <a:off x="1881353" y="3725569"/>
            <a:ext cx="340438" cy="1"/>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cxnSp>
        <p:nvCxnSpPr>
          <p:cNvPr id="17" name="Straight Connector 16"/>
          <p:cNvCxnSpPr>
            <a:stCxn id="3" idx="0"/>
            <a:endCxn id="7" idx="2"/>
          </p:cNvCxnSpPr>
          <p:nvPr/>
        </p:nvCxnSpPr>
        <p:spPr bwMode="auto">
          <a:xfrm flipH="1" flipV="1">
            <a:off x="3250965" y="2514601"/>
            <a:ext cx="1" cy="654097"/>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cxnSp>
        <p:nvCxnSpPr>
          <p:cNvPr id="22" name="Straight Connector 21"/>
          <p:cNvCxnSpPr>
            <a:stCxn id="3" idx="2"/>
            <a:endCxn id="10" idx="0"/>
          </p:cNvCxnSpPr>
          <p:nvPr/>
        </p:nvCxnSpPr>
        <p:spPr bwMode="auto">
          <a:xfrm flipH="1">
            <a:off x="3250965" y="4282440"/>
            <a:ext cx="1" cy="721360"/>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cxnSp>
        <p:nvCxnSpPr>
          <p:cNvPr id="25" name="Straight Connector 24"/>
          <p:cNvCxnSpPr>
            <a:stCxn id="3" idx="3"/>
            <a:endCxn id="4" idx="1"/>
          </p:cNvCxnSpPr>
          <p:nvPr/>
        </p:nvCxnSpPr>
        <p:spPr bwMode="auto">
          <a:xfrm>
            <a:off x="4280139" y="3725569"/>
            <a:ext cx="307260" cy="0"/>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cxnSp>
        <p:nvCxnSpPr>
          <p:cNvPr id="28" name="Straight Connector 27"/>
          <p:cNvCxnSpPr>
            <a:stCxn id="4" idx="2"/>
            <a:endCxn id="11" idx="0"/>
          </p:cNvCxnSpPr>
          <p:nvPr/>
        </p:nvCxnSpPr>
        <p:spPr bwMode="auto">
          <a:xfrm>
            <a:off x="5616573" y="4282440"/>
            <a:ext cx="0" cy="721360"/>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cxnSp>
        <p:nvCxnSpPr>
          <p:cNvPr id="35" name="Straight Connector 34"/>
          <p:cNvCxnSpPr>
            <a:stCxn id="4" idx="3"/>
            <a:endCxn id="5" idx="1"/>
          </p:cNvCxnSpPr>
          <p:nvPr/>
        </p:nvCxnSpPr>
        <p:spPr bwMode="auto">
          <a:xfrm>
            <a:off x="6645747" y="3725569"/>
            <a:ext cx="277844" cy="0"/>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cxnSp>
        <p:nvCxnSpPr>
          <p:cNvPr id="36" name="Straight Connector 35"/>
          <p:cNvCxnSpPr/>
          <p:nvPr/>
        </p:nvCxnSpPr>
        <p:spPr bwMode="auto">
          <a:xfrm flipH="1">
            <a:off x="9464413" y="2159000"/>
            <a:ext cx="1" cy="1306695"/>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cxnSp>
        <p:nvCxnSpPr>
          <p:cNvPr id="44" name="Straight Connector 43"/>
          <p:cNvCxnSpPr>
            <a:stCxn id="5" idx="3"/>
          </p:cNvCxnSpPr>
          <p:nvPr/>
        </p:nvCxnSpPr>
        <p:spPr bwMode="auto">
          <a:xfrm>
            <a:off x="8981938" y="3725569"/>
            <a:ext cx="277844" cy="0"/>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sp>
        <p:nvSpPr>
          <p:cNvPr id="54" name="TextBox 53"/>
          <p:cNvSpPr txBox="1"/>
          <p:nvPr/>
        </p:nvSpPr>
        <p:spPr>
          <a:xfrm>
            <a:off x="2455838" y="2948306"/>
            <a:ext cx="854427" cy="328295"/>
          </a:xfrm>
          <a:prstGeom prst="rect">
            <a:avLst/>
          </a:prstGeom>
          <a:noFill/>
        </p:spPr>
        <p:txBody>
          <a:bodyPr wrap="square" lIns="121899" tIns="60949" rIns="121899" bIns="60949" rtlCol="0">
            <a:spAutoFit/>
          </a:bodyPr>
          <a:lstStyle/>
          <a:p>
            <a:r>
              <a:rPr lang="en-US" sz="1300" dirty="0">
                <a:solidFill>
                  <a:srgbClr val="404040"/>
                </a:solidFill>
                <a:latin typeface="Helvetica 55 Roman"/>
                <a:cs typeface="Helvetica 55 Roman"/>
              </a:rPr>
              <a:t>Exempt</a:t>
            </a:r>
          </a:p>
        </p:txBody>
      </p:sp>
      <p:sp>
        <p:nvSpPr>
          <p:cNvPr id="55" name="TextBox 54"/>
          <p:cNvSpPr txBox="1"/>
          <p:nvPr/>
        </p:nvSpPr>
        <p:spPr>
          <a:xfrm>
            <a:off x="2617147" y="4191001"/>
            <a:ext cx="854427" cy="328295"/>
          </a:xfrm>
          <a:prstGeom prst="rect">
            <a:avLst/>
          </a:prstGeom>
          <a:noFill/>
        </p:spPr>
        <p:txBody>
          <a:bodyPr wrap="square" lIns="121899" tIns="60949" rIns="121899" bIns="60949" rtlCol="0">
            <a:spAutoFit/>
          </a:bodyPr>
          <a:lstStyle/>
          <a:p>
            <a:r>
              <a:rPr lang="en-US" sz="1300" dirty="0">
                <a:solidFill>
                  <a:srgbClr val="404040"/>
                </a:solidFill>
                <a:latin typeface="Helvetica 55 Roman"/>
                <a:cs typeface="Helvetica 55 Roman"/>
              </a:rPr>
              <a:t>Block</a:t>
            </a:r>
          </a:p>
        </p:txBody>
      </p:sp>
      <p:sp>
        <p:nvSpPr>
          <p:cNvPr id="56" name="TextBox 55"/>
          <p:cNvSpPr txBox="1"/>
          <p:nvPr/>
        </p:nvSpPr>
        <p:spPr>
          <a:xfrm>
            <a:off x="3776294" y="3862706"/>
            <a:ext cx="1000795" cy="328295"/>
          </a:xfrm>
          <a:prstGeom prst="rect">
            <a:avLst/>
          </a:prstGeom>
          <a:noFill/>
        </p:spPr>
        <p:txBody>
          <a:bodyPr wrap="square" lIns="121899" tIns="60949" rIns="121899" bIns="60949" rtlCol="0">
            <a:spAutoFit/>
          </a:bodyPr>
          <a:lstStyle/>
          <a:p>
            <a:r>
              <a:rPr lang="en-US" sz="1300" dirty="0">
                <a:solidFill>
                  <a:srgbClr val="404040"/>
                </a:solidFill>
                <a:latin typeface="Helvetica 55 Roman"/>
                <a:cs typeface="Helvetica 55 Roman"/>
              </a:rPr>
              <a:t>Allowed</a:t>
            </a:r>
          </a:p>
        </p:txBody>
      </p:sp>
      <p:sp>
        <p:nvSpPr>
          <p:cNvPr id="194" name="TextBox 193"/>
          <p:cNvSpPr txBox="1"/>
          <p:nvPr/>
        </p:nvSpPr>
        <p:spPr>
          <a:xfrm>
            <a:off x="4986202" y="4191001"/>
            <a:ext cx="854427" cy="328295"/>
          </a:xfrm>
          <a:prstGeom prst="rect">
            <a:avLst/>
          </a:prstGeom>
          <a:noFill/>
        </p:spPr>
        <p:txBody>
          <a:bodyPr wrap="square" lIns="121899" tIns="60949" rIns="121899" bIns="60949" rtlCol="0">
            <a:spAutoFit/>
          </a:bodyPr>
          <a:lstStyle/>
          <a:p>
            <a:r>
              <a:rPr lang="en-US" sz="1300" dirty="0">
                <a:solidFill>
                  <a:srgbClr val="404040"/>
                </a:solidFill>
                <a:latin typeface="Helvetica 55 Roman"/>
                <a:cs typeface="Helvetica 55 Roman"/>
              </a:rPr>
              <a:t>Block</a:t>
            </a:r>
          </a:p>
        </p:txBody>
      </p:sp>
      <p:sp>
        <p:nvSpPr>
          <p:cNvPr id="195" name="TextBox 194"/>
          <p:cNvSpPr txBox="1"/>
          <p:nvPr/>
        </p:nvSpPr>
        <p:spPr>
          <a:xfrm>
            <a:off x="6145349" y="3862706"/>
            <a:ext cx="1000795" cy="328295"/>
          </a:xfrm>
          <a:prstGeom prst="rect">
            <a:avLst/>
          </a:prstGeom>
          <a:noFill/>
        </p:spPr>
        <p:txBody>
          <a:bodyPr wrap="square" lIns="121899" tIns="60949" rIns="121899" bIns="60949" rtlCol="0">
            <a:spAutoFit/>
          </a:bodyPr>
          <a:lstStyle/>
          <a:p>
            <a:r>
              <a:rPr lang="en-US" sz="1300" dirty="0">
                <a:solidFill>
                  <a:srgbClr val="404040"/>
                </a:solidFill>
                <a:latin typeface="Helvetica 55 Roman"/>
                <a:cs typeface="Helvetica 55 Roman"/>
              </a:rPr>
              <a:t>Allowed</a:t>
            </a:r>
          </a:p>
        </p:txBody>
      </p:sp>
      <p:sp>
        <p:nvSpPr>
          <p:cNvPr id="196" name="TextBox 195"/>
          <p:cNvSpPr txBox="1"/>
          <p:nvPr/>
        </p:nvSpPr>
        <p:spPr>
          <a:xfrm>
            <a:off x="7304470" y="4191001"/>
            <a:ext cx="854427" cy="328295"/>
          </a:xfrm>
          <a:prstGeom prst="rect">
            <a:avLst/>
          </a:prstGeom>
          <a:noFill/>
        </p:spPr>
        <p:txBody>
          <a:bodyPr wrap="square" lIns="121899" tIns="60949" rIns="121899" bIns="60949" rtlCol="0">
            <a:spAutoFit/>
          </a:bodyPr>
          <a:lstStyle/>
          <a:p>
            <a:r>
              <a:rPr lang="en-US" sz="1300" dirty="0">
                <a:solidFill>
                  <a:srgbClr val="404040"/>
                </a:solidFill>
                <a:latin typeface="Helvetica 55 Roman"/>
                <a:cs typeface="Helvetica 55 Roman"/>
              </a:rPr>
              <a:t>Block</a:t>
            </a:r>
          </a:p>
        </p:txBody>
      </p:sp>
      <p:sp>
        <p:nvSpPr>
          <p:cNvPr id="197" name="TextBox 196"/>
          <p:cNvSpPr txBox="1"/>
          <p:nvPr/>
        </p:nvSpPr>
        <p:spPr>
          <a:xfrm>
            <a:off x="8463617" y="3862706"/>
            <a:ext cx="1000795" cy="328295"/>
          </a:xfrm>
          <a:prstGeom prst="rect">
            <a:avLst/>
          </a:prstGeom>
          <a:noFill/>
        </p:spPr>
        <p:txBody>
          <a:bodyPr wrap="square" lIns="121899" tIns="60949" rIns="121899" bIns="60949" rtlCol="0">
            <a:spAutoFit/>
          </a:bodyPr>
          <a:lstStyle/>
          <a:p>
            <a:r>
              <a:rPr lang="en-US" sz="1300" dirty="0">
                <a:solidFill>
                  <a:srgbClr val="404040"/>
                </a:solidFill>
                <a:latin typeface="Helvetica 55 Roman"/>
                <a:cs typeface="Helvetica 55 Roman"/>
              </a:rPr>
              <a:t>Allowed</a:t>
            </a:r>
          </a:p>
        </p:txBody>
      </p:sp>
      <p:pic>
        <p:nvPicPr>
          <p:cNvPr id="34" name="Pictur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35249" y="1462574"/>
            <a:ext cx="1491497" cy="1706124"/>
          </a:xfrm>
          <a:prstGeom prst="rect">
            <a:avLst/>
          </a:prstGeom>
        </p:spPr>
      </p:pic>
      <p:cxnSp>
        <p:nvCxnSpPr>
          <p:cNvPr id="29" name="Straight Connector 28"/>
          <p:cNvCxnSpPr/>
          <p:nvPr/>
        </p:nvCxnSpPr>
        <p:spPr bwMode="auto">
          <a:xfrm>
            <a:off x="4561676" y="2159000"/>
            <a:ext cx="4902736" cy="0"/>
          </a:xfrm>
          <a:prstGeom prst="line">
            <a:avLst/>
          </a:prstGeom>
          <a:solidFill>
            <a:schemeClr val="accent2">
              <a:alpha val="42000"/>
            </a:schemeClr>
          </a:solidFill>
          <a:ln w="19050" cap="flat" cmpd="sng" algn="ctr">
            <a:solidFill>
              <a:schemeClr val="tx1"/>
            </a:solidFill>
            <a:prstDash val="solid"/>
            <a:round/>
            <a:headEnd type="none" w="med" len="med"/>
            <a:tailEnd type="none" w="med" len="med"/>
          </a:ln>
          <a:effectLst/>
        </p:spPr>
      </p:cxnSp>
      <p:cxnSp>
        <p:nvCxnSpPr>
          <p:cNvPr id="30" name="Straight Connector 29"/>
          <p:cNvCxnSpPr/>
          <p:nvPr/>
        </p:nvCxnSpPr>
        <p:spPr bwMode="auto">
          <a:xfrm>
            <a:off x="7943213" y="4282440"/>
            <a:ext cx="0" cy="721360"/>
          </a:xfrm>
          <a:prstGeom prst="line">
            <a:avLst/>
          </a:prstGeom>
          <a:solidFill>
            <a:schemeClr val="accent2">
              <a:alpha val="42000"/>
            </a:schemeClr>
          </a:solidFill>
          <a:ln w="19050" cap="flat" cmpd="sng" algn="ctr">
            <a:solidFill>
              <a:schemeClr val="tx1"/>
            </a:solidFill>
            <a:prstDash val="solid"/>
            <a:round/>
            <a:headEnd type="none" w="med" len="med"/>
            <a:tailEnd type="triangle"/>
          </a:ln>
          <a:effectLst/>
        </p:spPr>
      </p:cxnSp>
    </p:spTree>
    <p:custDataLst>
      <p:tags r:id="rId1"/>
    </p:custDataLst>
    <p:extLst>
      <p:ext uri="{BB962C8B-B14F-4D97-AF65-F5344CB8AC3E}">
        <p14:creationId xmlns:p14="http://schemas.microsoft.com/office/powerpoint/2010/main" val="2585291959"/>
      </p:ext>
    </p:extLst>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Apply the Filters</a:t>
            </a:r>
          </a:p>
        </p:txBody>
      </p:sp>
      <p:sp>
        <p:nvSpPr>
          <p:cNvPr id="5" name="Text Placeholder 4"/>
          <p:cNvSpPr>
            <a:spLocks noGrp="1"/>
          </p:cNvSpPr>
          <p:nvPr>
            <p:ph idx="1"/>
          </p:nvPr>
        </p:nvSpPr>
        <p:spPr/>
        <p:txBody>
          <a:bodyPr/>
          <a:lstStyle/>
          <a:p>
            <a:r>
              <a:rPr lang="en-US" dirty="0"/>
              <a:t>It’s not </a:t>
            </a:r>
            <a:r>
              <a:rPr lang="en-US" dirty="0" smtClean="0"/>
              <a:t>working. </a:t>
            </a:r>
            <a:r>
              <a:rPr lang="en-US" dirty="0"/>
              <a:t>Why?</a:t>
            </a:r>
          </a:p>
          <a:p>
            <a:pPr lvl="1"/>
            <a:r>
              <a:rPr lang="en-US" dirty="0"/>
              <a:t>Did you apply the security profiles to the firewall policies?</a:t>
            </a:r>
          </a:p>
          <a:p>
            <a:pPr lvl="1"/>
            <a:r>
              <a:rPr lang="en-US" dirty="0">
                <a:sym typeface="Wingdings" panose="05000000000000000000" pitchFamily="2" charset="2"/>
              </a:rPr>
              <a:t>Did you apply the SSL inspection profile, if needed</a:t>
            </a:r>
            <a:r>
              <a:rPr lang="en-US" dirty="0" smtClean="0">
                <a:sym typeface="Wingdings" panose="05000000000000000000" pitchFamily="2" charset="2"/>
              </a:rPr>
              <a:t>?</a:t>
            </a:r>
            <a:endParaRPr lang="en-US" dirty="0">
              <a:sym typeface="Wingdings" panose="05000000000000000000" pitchFamily="2" charset="2"/>
            </a:endParaRPr>
          </a:p>
        </p:txBody>
      </p:sp>
      <p:sp>
        <p:nvSpPr>
          <p:cNvPr id="6" name="Rectangle 5"/>
          <p:cNvSpPr/>
          <p:nvPr/>
        </p:nvSpPr>
        <p:spPr>
          <a:xfrm>
            <a:off x="7304442" y="1806510"/>
            <a:ext cx="4713509" cy="2831522"/>
          </a:xfrm>
          <a:prstGeom prst="rect">
            <a:avLst/>
          </a:prstGeom>
          <a:noFill/>
          <a:ln>
            <a:solidFill>
              <a:srgbClr val="000000"/>
            </a:solidFill>
          </a:ln>
        </p:spPr>
        <p:txBody>
          <a:bodyPr wrap="square" lIns="121899" tIns="60949" rIns="121899" bIns="60949">
            <a:spAutoFit/>
          </a:bodyPr>
          <a:lstStyle/>
          <a:p>
            <a:r>
              <a:rPr lang="en-CA" sz="1600" dirty="0">
                <a:solidFill>
                  <a:srgbClr val="000000"/>
                </a:solidFill>
                <a:latin typeface="Courier New" panose="02070309020205020404" pitchFamily="49" charset="0"/>
                <a:cs typeface="Courier New" panose="02070309020205020404" pitchFamily="49" charset="0"/>
              </a:rPr>
              <a:t>config firewall policy</a:t>
            </a:r>
            <a:r>
              <a:rPr lang="en-CA" sz="1600" b="1" dirty="0">
                <a:solidFill>
                  <a:srgbClr val="000000"/>
                </a:solidFill>
                <a:latin typeface="Courier New" panose="02070309020205020404" pitchFamily="49" charset="0"/>
                <a:cs typeface="Courier New" panose="02070309020205020404" pitchFamily="49" charset="0"/>
              </a:rPr>
              <a:t/>
            </a:r>
            <a:br>
              <a:rPr lang="en-CA" sz="1600" b="1" dirty="0">
                <a:solidFill>
                  <a:srgbClr val="000000"/>
                </a:solidFill>
                <a:latin typeface="Courier New" panose="02070309020205020404" pitchFamily="49" charset="0"/>
                <a:cs typeface="Courier New" panose="02070309020205020404" pitchFamily="49" charset="0"/>
              </a:rPr>
            </a:br>
            <a:r>
              <a:rPr lang="en-CA" sz="1600" b="1" dirty="0">
                <a:solidFill>
                  <a:srgbClr val="000000"/>
                </a:solidFill>
                <a:latin typeface="Courier New" panose="02070309020205020404" pitchFamily="49" charset="0"/>
                <a:cs typeface="Courier New" panose="02070309020205020404" pitchFamily="49" charset="0"/>
              </a:rPr>
              <a:t> </a:t>
            </a:r>
            <a:r>
              <a:rPr lang="en-CA" sz="1600" dirty="0">
                <a:solidFill>
                  <a:srgbClr val="000000"/>
                </a:solidFill>
                <a:latin typeface="Courier New" panose="02070309020205020404" pitchFamily="49" charset="0"/>
                <a:cs typeface="Courier New" panose="02070309020205020404" pitchFamily="49" charset="0"/>
              </a:rPr>
              <a:t>edit 1</a:t>
            </a:r>
            <a:r>
              <a:rPr lang="en-CA" sz="1600" b="1" dirty="0">
                <a:solidFill>
                  <a:srgbClr val="000000"/>
                </a:solidFill>
                <a:latin typeface="Courier New" panose="02070309020205020404" pitchFamily="49" charset="0"/>
                <a:cs typeface="Courier New" panose="02070309020205020404" pitchFamily="49" charset="0"/>
              </a:rPr>
              <a:t/>
            </a:r>
            <a:br>
              <a:rPr lang="en-CA" sz="1600" b="1" dirty="0">
                <a:solidFill>
                  <a:srgbClr val="000000"/>
                </a:solidFill>
                <a:latin typeface="Courier New" panose="02070309020205020404" pitchFamily="49" charset="0"/>
                <a:cs typeface="Courier New" panose="02070309020205020404" pitchFamily="49" charset="0"/>
              </a:rPr>
            </a:br>
            <a:r>
              <a:rPr lang="en-CA" sz="1600" b="1" dirty="0">
                <a:solidFill>
                  <a:srgbClr val="000000"/>
                </a:solidFill>
                <a:latin typeface="Courier New" panose="02070309020205020404" pitchFamily="49" charset="0"/>
                <a:cs typeface="Courier New" panose="02070309020205020404" pitchFamily="49" charset="0"/>
              </a:rPr>
              <a:t> </a:t>
            </a:r>
            <a:r>
              <a:rPr lang="en-CA" sz="1600" dirty="0">
                <a:solidFill>
                  <a:srgbClr val="000000"/>
                </a:solidFill>
                <a:latin typeface="Courier New" panose="02070309020205020404" pitchFamily="49" charset="0"/>
                <a:cs typeface="Courier New" panose="02070309020205020404" pitchFamily="49" charset="0"/>
              </a:rPr>
              <a:t>set </a:t>
            </a:r>
            <a:r>
              <a:rPr lang="en-CA" sz="1600" dirty="0" err="1">
                <a:solidFill>
                  <a:srgbClr val="000000"/>
                </a:solidFill>
                <a:latin typeface="Courier New" panose="02070309020205020404" pitchFamily="49" charset="0"/>
                <a:cs typeface="Courier New" panose="02070309020205020404" pitchFamily="49" charset="0"/>
              </a:rPr>
              <a:t>webfilter</a:t>
            </a:r>
            <a:r>
              <a:rPr lang="en-CA" sz="1600" dirty="0">
                <a:solidFill>
                  <a:srgbClr val="000000"/>
                </a:solidFill>
                <a:latin typeface="Courier New" panose="02070309020205020404" pitchFamily="49" charset="0"/>
                <a:cs typeface="Courier New" panose="02070309020205020404" pitchFamily="49" charset="0"/>
              </a:rPr>
              <a:t>-profile &lt;profile&gt;</a:t>
            </a:r>
          </a:p>
          <a:p>
            <a:r>
              <a:rPr lang="en-CA" sz="1600" dirty="0">
                <a:solidFill>
                  <a:srgbClr val="000000"/>
                </a:solidFill>
                <a:latin typeface="Courier New" panose="02070309020205020404" pitchFamily="49" charset="0"/>
                <a:cs typeface="Courier New" panose="02070309020205020404" pitchFamily="49" charset="0"/>
              </a:rPr>
              <a:t> next</a:t>
            </a:r>
            <a:endParaRPr lang="en-CA" sz="1600" b="1" dirty="0">
              <a:solidFill>
                <a:srgbClr val="000000"/>
              </a:solidFill>
              <a:latin typeface="Courier New" panose="02070309020205020404" pitchFamily="49" charset="0"/>
              <a:cs typeface="Courier New" panose="02070309020205020404" pitchFamily="49" charset="0"/>
            </a:endParaRPr>
          </a:p>
          <a:p>
            <a:r>
              <a:rPr lang="en-CA" sz="1600" dirty="0">
                <a:solidFill>
                  <a:srgbClr val="000000"/>
                </a:solidFill>
                <a:latin typeface="Courier New" panose="02070309020205020404" pitchFamily="49" charset="0"/>
                <a:cs typeface="Courier New" panose="02070309020205020404" pitchFamily="49" charset="0"/>
              </a:rPr>
              <a:t>end</a:t>
            </a:r>
          </a:p>
          <a:p>
            <a:endParaRPr lang="en-CA" sz="1600" dirty="0">
              <a:solidFill>
                <a:srgbClr val="000000"/>
              </a:solidFill>
              <a:latin typeface="Courier New" panose="02070309020205020404" pitchFamily="49" charset="0"/>
              <a:cs typeface="Courier New" panose="02070309020205020404" pitchFamily="49" charset="0"/>
            </a:endParaRPr>
          </a:p>
          <a:p>
            <a:r>
              <a:rPr lang="en-CA" sz="1600" dirty="0">
                <a:solidFill>
                  <a:srgbClr val="000000"/>
                </a:solidFill>
                <a:latin typeface="Courier New" panose="02070309020205020404" pitchFamily="49" charset="0"/>
                <a:cs typeface="Courier New" panose="02070309020205020404" pitchFamily="49" charset="0"/>
              </a:rPr>
              <a:t>config firewall profile-group</a:t>
            </a:r>
            <a:r>
              <a:rPr lang="en-CA" sz="1600" b="1" dirty="0">
                <a:solidFill>
                  <a:srgbClr val="000000"/>
                </a:solidFill>
                <a:latin typeface="Courier New" panose="02070309020205020404" pitchFamily="49" charset="0"/>
                <a:cs typeface="Courier New" panose="02070309020205020404" pitchFamily="49" charset="0"/>
              </a:rPr>
              <a:t/>
            </a:r>
            <a:br>
              <a:rPr lang="en-CA" sz="1600" b="1" dirty="0">
                <a:solidFill>
                  <a:srgbClr val="000000"/>
                </a:solidFill>
                <a:latin typeface="Courier New" panose="02070309020205020404" pitchFamily="49" charset="0"/>
                <a:cs typeface="Courier New" panose="02070309020205020404" pitchFamily="49" charset="0"/>
              </a:rPr>
            </a:br>
            <a:r>
              <a:rPr lang="en-CA" sz="1600" b="1" dirty="0">
                <a:solidFill>
                  <a:srgbClr val="000000"/>
                </a:solidFill>
                <a:latin typeface="Courier New" panose="02070309020205020404" pitchFamily="49" charset="0"/>
                <a:cs typeface="Courier New" panose="02070309020205020404" pitchFamily="49" charset="0"/>
              </a:rPr>
              <a:t> </a:t>
            </a:r>
            <a:r>
              <a:rPr lang="en-CA" sz="1600" dirty="0">
                <a:solidFill>
                  <a:srgbClr val="000000"/>
                </a:solidFill>
                <a:latin typeface="Courier New" panose="02070309020205020404" pitchFamily="49" charset="0"/>
                <a:cs typeface="Courier New" panose="02070309020205020404" pitchFamily="49" charset="0"/>
              </a:rPr>
              <a:t>edit &lt;group name&gt;</a:t>
            </a:r>
            <a:br>
              <a:rPr lang="en-CA" sz="1600" dirty="0">
                <a:solidFill>
                  <a:srgbClr val="000000"/>
                </a:solidFill>
                <a:latin typeface="Courier New" panose="02070309020205020404" pitchFamily="49" charset="0"/>
                <a:cs typeface="Courier New" panose="02070309020205020404" pitchFamily="49" charset="0"/>
              </a:rPr>
            </a:br>
            <a:r>
              <a:rPr lang="en-CA" sz="1600" dirty="0">
                <a:solidFill>
                  <a:srgbClr val="000000"/>
                </a:solidFill>
                <a:latin typeface="Courier New" panose="02070309020205020404" pitchFamily="49" charset="0"/>
                <a:cs typeface="Courier New" panose="02070309020205020404" pitchFamily="49" charset="0"/>
              </a:rPr>
              <a:t> </a:t>
            </a:r>
            <a:r>
              <a:rPr lang="en-CA" sz="1600" b="1" dirty="0">
                <a:solidFill>
                  <a:srgbClr val="000000"/>
                </a:solidFill>
                <a:latin typeface="Courier New" panose="02070309020205020404" pitchFamily="49" charset="0"/>
                <a:cs typeface="Courier New" panose="02070309020205020404" pitchFamily="49" charset="0"/>
              </a:rPr>
              <a:t> </a:t>
            </a:r>
            <a:r>
              <a:rPr lang="en-CA" sz="1600" dirty="0" smtClean="0">
                <a:solidFill>
                  <a:srgbClr val="000000"/>
                </a:solidFill>
                <a:latin typeface="Courier New" panose="02070309020205020404" pitchFamily="49" charset="0"/>
                <a:cs typeface="Courier New" panose="02070309020205020404" pitchFamily="49" charset="0"/>
              </a:rPr>
              <a:t>  </a:t>
            </a:r>
            <a:r>
              <a:rPr lang="en-CA" sz="1600" dirty="0">
                <a:solidFill>
                  <a:srgbClr val="000000"/>
                </a:solidFill>
                <a:latin typeface="Courier New" panose="02070309020205020404" pitchFamily="49" charset="0"/>
                <a:cs typeface="Courier New" panose="02070309020205020404" pitchFamily="49" charset="0"/>
              </a:rPr>
              <a:t>set </a:t>
            </a:r>
            <a:r>
              <a:rPr lang="en-CA" sz="1600" dirty="0" err="1">
                <a:solidFill>
                  <a:srgbClr val="000000"/>
                </a:solidFill>
                <a:latin typeface="Courier New" panose="02070309020205020404" pitchFamily="49" charset="0"/>
                <a:cs typeface="Courier New" panose="02070309020205020404" pitchFamily="49" charset="0"/>
              </a:rPr>
              <a:t>webfilter</a:t>
            </a:r>
            <a:r>
              <a:rPr lang="en-CA" sz="1600" dirty="0">
                <a:solidFill>
                  <a:srgbClr val="000000"/>
                </a:solidFill>
                <a:latin typeface="Courier New" panose="02070309020205020404" pitchFamily="49" charset="0"/>
                <a:cs typeface="Courier New" panose="02070309020205020404" pitchFamily="49" charset="0"/>
              </a:rPr>
              <a:t>-profile &lt;profile&gt;</a:t>
            </a:r>
            <a:r>
              <a:rPr lang="en-CA" sz="1600" b="1" dirty="0">
                <a:solidFill>
                  <a:srgbClr val="000000"/>
                </a:solidFill>
                <a:latin typeface="Courier New" panose="02070309020205020404" pitchFamily="49" charset="0"/>
                <a:cs typeface="Courier New" panose="02070309020205020404" pitchFamily="49" charset="0"/>
              </a:rPr>
              <a:t/>
            </a:r>
            <a:br>
              <a:rPr lang="en-CA" sz="1600" b="1" dirty="0">
                <a:solidFill>
                  <a:srgbClr val="000000"/>
                </a:solidFill>
                <a:latin typeface="Courier New" panose="02070309020205020404" pitchFamily="49" charset="0"/>
                <a:cs typeface="Courier New" panose="02070309020205020404" pitchFamily="49" charset="0"/>
              </a:rPr>
            </a:br>
            <a:r>
              <a:rPr lang="en-CA" sz="1600" dirty="0">
                <a:solidFill>
                  <a:srgbClr val="000000"/>
                </a:solidFill>
                <a:latin typeface="Courier New" panose="02070309020205020404" pitchFamily="49" charset="0"/>
                <a:cs typeface="Courier New" panose="02070309020205020404" pitchFamily="49" charset="0"/>
              </a:rPr>
              <a:t> next</a:t>
            </a:r>
            <a:endParaRPr lang="en-CA" sz="1600" b="1" dirty="0">
              <a:solidFill>
                <a:srgbClr val="000000"/>
              </a:solidFill>
              <a:latin typeface="Courier New" panose="02070309020205020404" pitchFamily="49" charset="0"/>
              <a:cs typeface="Courier New" panose="02070309020205020404" pitchFamily="49" charset="0"/>
            </a:endParaRPr>
          </a:p>
          <a:p>
            <a:r>
              <a:rPr lang="en-CA" sz="1600" dirty="0">
                <a:solidFill>
                  <a:srgbClr val="000000"/>
                </a:solidFill>
                <a:latin typeface="Courier New" panose="02070309020205020404" pitchFamily="49" charset="0"/>
                <a:cs typeface="Courier New" panose="02070309020205020404" pitchFamily="49" charset="0"/>
              </a:rPr>
              <a:t>end</a:t>
            </a:r>
            <a:endParaRPr lang="en-CA" altLang="en-US" sz="1600" dirty="0">
              <a:solidFill>
                <a:srgbClr val="000000"/>
              </a:solidFill>
              <a:latin typeface="Courier New" panose="02070309020205020404" pitchFamily="49" charset="0"/>
              <a:cs typeface="Courier New" panose="02070309020205020404" pitchFamily="49" charset="0"/>
            </a:endParaRPr>
          </a:p>
        </p:txBody>
      </p:sp>
      <p:sp>
        <p:nvSpPr>
          <p:cNvPr id="12" name="TextBox 11"/>
          <p:cNvSpPr txBox="1"/>
          <p:nvPr/>
        </p:nvSpPr>
        <p:spPr>
          <a:xfrm>
            <a:off x="1054978" y="2720467"/>
            <a:ext cx="3469219" cy="338554"/>
          </a:xfrm>
          <a:prstGeom prst="rect">
            <a:avLst/>
          </a:prstGeom>
          <a:solidFill>
            <a:srgbClr val="00B0F0"/>
          </a:solidFill>
        </p:spPr>
        <p:txBody>
          <a:bodyPr wrap="none" rtlCol="0">
            <a:spAutoFit/>
          </a:bodyPr>
          <a:lstStyle/>
          <a:p>
            <a:r>
              <a:rPr lang="en-CA" sz="1600" b="1" dirty="0"/>
              <a:t>Policy &amp; Objects </a:t>
            </a:r>
            <a:r>
              <a:rPr lang="en-CA" sz="1600" dirty="0"/>
              <a:t>&gt; </a:t>
            </a:r>
            <a:r>
              <a:rPr lang="en-CA" sz="1600" b="1" dirty="0"/>
              <a:t>Firewall Policy</a:t>
            </a:r>
          </a:p>
        </p:txBody>
      </p:sp>
      <p:pic>
        <p:nvPicPr>
          <p:cNvPr id="2" name="Picture 1"/>
          <p:cNvPicPr>
            <a:picLocks noChangeAspect="1"/>
          </p:cNvPicPr>
          <p:nvPr/>
        </p:nvPicPr>
        <p:blipFill>
          <a:blip r:embed="rId4"/>
          <a:stretch>
            <a:fillRect/>
          </a:stretch>
        </p:blipFill>
        <p:spPr>
          <a:xfrm>
            <a:off x="1054978" y="3067113"/>
            <a:ext cx="5057143" cy="2752381"/>
          </a:xfrm>
          <a:prstGeom prst="rect">
            <a:avLst/>
          </a:prstGeom>
          <a:ln>
            <a:solidFill>
              <a:srgbClr val="000000"/>
            </a:solidFill>
          </a:ln>
        </p:spPr>
      </p:pic>
      <p:sp>
        <p:nvSpPr>
          <p:cNvPr id="3" name="Rectangle 2"/>
          <p:cNvSpPr/>
          <p:nvPr/>
        </p:nvSpPr>
        <p:spPr>
          <a:xfrm>
            <a:off x="1054978" y="3681877"/>
            <a:ext cx="3177157" cy="3834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8" name="Rectangle 7"/>
          <p:cNvSpPr/>
          <p:nvPr/>
        </p:nvSpPr>
        <p:spPr>
          <a:xfrm>
            <a:off x="1054977" y="5435998"/>
            <a:ext cx="4731674" cy="3834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899000247"/>
      </p:ext>
    </p:extLst>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FortiGuard Connection</a:t>
            </a:r>
          </a:p>
        </p:txBody>
      </p:sp>
      <p:sp>
        <p:nvSpPr>
          <p:cNvPr id="9" name="Content Placeholder 8"/>
          <p:cNvSpPr>
            <a:spLocks noGrp="1"/>
          </p:cNvSpPr>
          <p:nvPr>
            <p:ph idx="1"/>
          </p:nvPr>
        </p:nvSpPr>
        <p:spPr/>
        <p:txBody>
          <a:bodyPr/>
          <a:lstStyle/>
          <a:p>
            <a:r>
              <a:rPr lang="en-US" dirty="0"/>
              <a:t>FortiGuard category filtering requires a live connection</a:t>
            </a:r>
          </a:p>
          <a:p>
            <a:r>
              <a:rPr lang="en-US" dirty="0"/>
              <a:t>Weight Calculation: default = (difference in time zone) x 10</a:t>
            </a:r>
          </a:p>
          <a:p>
            <a:pPr lvl="1"/>
            <a:r>
              <a:rPr lang="en-US" dirty="0"/>
              <a:t>Goes down over time (never below default)</a:t>
            </a:r>
          </a:p>
          <a:p>
            <a:pPr lvl="1"/>
            <a:r>
              <a:rPr lang="en-US" dirty="0"/>
              <a:t>Goes up if </a:t>
            </a:r>
            <a:r>
              <a:rPr lang="en-US" dirty="0" err="1" smtClean="0"/>
              <a:t>FortiGuard</a:t>
            </a:r>
            <a:r>
              <a:rPr lang="en-US" dirty="0" smtClean="0"/>
              <a:t> requests </a:t>
            </a:r>
            <a:r>
              <a:rPr lang="en-US" dirty="0"/>
              <a:t>are lost</a:t>
            </a:r>
          </a:p>
          <a:p>
            <a:endParaRPr lang="en-CA" dirty="0"/>
          </a:p>
        </p:txBody>
      </p:sp>
      <p:sp>
        <p:nvSpPr>
          <p:cNvPr id="3" name="Text Placeholder 4"/>
          <p:cNvSpPr txBox="1">
            <a:spLocks/>
          </p:cNvSpPr>
          <p:nvPr/>
        </p:nvSpPr>
        <p:spPr>
          <a:xfrm>
            <a:off x="609441" y="1269471"/>
            <a:ext cx="10969943" cy="4676775"/>
          </a:xfrm>
          <a:prstGeom prst="rect">
            <a:avLst/>
          </a:prstGeom>
        </p:spPr>
        <p:txBody>
          <a:bodyPr lIns="121899" tIns="60949" rIns="121899" bIns="60949"/>
          <a:lstStyle>
            <a:lvl1pPr marL="173038" marR="0" indent="-173038" algn="l" defTabSz="914400" rtl="0" eaLnBrk="1" fontAlgn="base" latinLnBrk="0" hangingPunct="1">
              <a:lnSpc>
                <a:spcPct val="100000"/>
              </a:lnSpc>
              <a:spcBef>
                <a:spcPct val="20000"/>
              </a:spcBef>
              <a:spcAft>
                <a:spcPct val="0"/>
              </a:spcAft>
              <a:buClr>
                <a:srgbClr val="FF0000"/>
              </a:buClr>
              <a:buSzPct val="100000"/>
              <a:buFont typeface="Arial"/>
              <a:buChar char="•"/>
              <a:tabLst/>
              <a:defRPr sz="2200" b="0" i="0">
                <a:solidFill>
                  <a:srgbClr val="1B232A"/>
                </a:solidFill>
                <a:latin typeface="+mn-lt"/>
                <a:ea typeface="+mn-ea"/>
                <a:cs typeface="Arial"/>
              </a:defRPr>
            </a:lvl1pPr>
            <a:lvl2pPr marL="463550" marR="0" indent="-176213" algn="l" defTabSz="914400" rtl="0" eaLnBrk="1" fontAlgn="base" latinLnBrk="0" hangingPunct="1">
              <a:lnSpc>
                <a:spcPct val="110000"/>
              </a:lnSpc>
              <a:spcBef>
                <a:spcPct val="20000"/>
              </a:spcBef>
              <a:spcAft>
                <a:spcPct val="0"/>
              </a:spcAft>
              <a:buClr>
                <a:srgbClr val="FF0000"/>
              </a:buClr>
              <a:buSzPct val="75000"/>
              <a:buFont typeface="Courier New" panose="02070309020205020404" pitchFamily="49" charset="0"/>
              <a:buChar char="o"/>
              <a:tabLst/>
              <a:defRPr sz="1800" b="0" i="0">
                <a:solidFill>
                  <a:srgbClr val="1B232A"/>
                </a:solidFill>
                <a:latin typeface="+mn-lt"/>
                <a:ea typeface="+mn-ea"/>
                <a:cs typeface="Arial"/>
              </a:defRPr>
            </a:lvl2pPr>
            <a:lvl3pPr marL="747713" marR="0" indent="-169863" algn="l" defTabSz="914400" rtl="0" eaLnBrk="1" fontAlgn="base" latinLnBrk="0" hangingPunct="1">
              <a:lnSpc>
                <a:spcPct val="110000"/>
              </a:lnSpc>
              <a:spcBef>
                <a:spcPct val="20000"/>
              </a:spcBef>
              <a:spcAft>
                <a:spcPct val="0"/>
              </a:spcAft>
              <a:buClr>
                <a:srgbClr val="FF0000"/>
              </a:buClr>
              <a:buSzTx/>
              <a:buFont typeface="Arial"/>
              <a:buChar char="•"/>
              <a:tabLst/>
              <a:defRPr sz="1600" b="0" i="0">
                <a:solidFill>
                  <a:srgbClr val="1B232A"/>
                </a:solidFill>
                <a:latin typeface="+mn-lt"/>
                <a:ea typeface="+mn-ea"/>
                <a:cs typeface="Arial"/>
              </a:defRPr>
            </a:lvl3pPr>
            <a:lvl4pPr marL="1085850" marR="0" indent="0" algn="l" defTabSz="914400" rtl="0" eaLnBrk="1" fontAlgn="base" latinLnBrk="0" hangingPunct="1">
              <a:lnSpc>
                <a:spcPct val="110000"/>
              </a:lnSpc>
              <a:spcBef>
                <a:spcPct val="20000"/>
              </a:spcBef>
              <a:spcAft>
                <a:spcPct val="0"/>
              </a:spcAft>
              <a:buClr>
                <a:srgbClr val="FF0000"/>
              </a:buClr>
              <a:buSzTx/>
              <a:buFont typeface="Lucida Grande"/>
              <a:buNone/>
              <a:tabLst/>
              <a:defRPr sz="1400" b="0" i="0">
                <a:solidFill>
                  <a:srgbClr val="1B232A"/>
                </a:solidFill>
                <a:latin typeface="Courier New" panose="02070309020205020404" pitchFamily="49" charset="0"/>
                <a:ea typeface="+mn-ea"/>
                <a:cs typeface="Courier New" panose="02070309020205020404" pitchFamily="49" charset="0"/>
              </a:defRPr>
            </a:lvl4pPr>
            <a:lvl5pPr marL="1085850" marR="0" indent="0" algn="l" defTabSz="914400" rtl="0" eaLnBrk="1" fontAlgn="base" latinLnBrk="0" hangingPunct="1">
              <a:lnSpc>
                <a:spcPct val="110000"/>
              </a:lnSpc>
              <a:spcBef>
                <a:spcPct val="20000"/>
              </a:spcBef>
              <a:spcAft>
                <a:spcPct val="0"/>
              </a:spcAft>
              <a:buClr>
                <a:srgbClr val="FF0000"/>
              </a:buClr>
              <a:buSzTx/>
              <a:buFont typeface="Arial"/>
              <a:buNone/>
              <a:tabLst/>
              <a:defRPr sz="1200" b="0" i="1">
                <a:solidFill>
                  <a:schemeClr val="bg1">
                    <a:lumMod val="50000"/>
                  </a:schemeClr>
                </a:solidFill>
                <a:latin typeface="+mn-lt"/>
                <a:ea typeface="+mn-ea"/>
                <a:cs typeface="Arial"/>
              </a:defRPr>
            </a:lvl5pPr>
            <a:lvl6pPr marL="19637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6pPr>
            <a:lvl7pPr marL="24209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7pPr>
            <a:lvl8pPr marL="28781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8pPr>
            <a:lvl9pPr marL="3335338" indent="-242888" algn="l" rtl="0" eaLnBrk="1" fontAlgn="base" hangingPunct="1">
              <a:lnSpc>
                <a:spcPct val="110000"/>
              </a:lnSpc>
              <a:spcBef>
                <a:spcPct val="15000"/>
              </a:spcBef>
              <a:spcAft>
                <a:spcPct val="0"/>
              </a:spcAft>
              <a:buClr>
                <a:schemeClr val="accent1"/>
              </a:buClr>
              <a:buSzPct val="90000"/>
              <a:buFont typeface="Arial" charset="0"/>
              <a:buChar char="―"/>
              <a:defRPr sz="1600">
                <a:solidFill>
                  <a:srgbClr val="717171"/>
                </a:solidFill>
                <a:latin typeface="+mn-lt"/>
                <a:ea typeface="+mn-ea"/>
                <a:cs typeface="+mn-cs"/>
              </a:defRPr>
            </a:lvl9pPr>
          </a:lstStyle>
          <a:p>
            <a:pPr marL="0" indent="0">
              <a:buNone/>
            </a:pPr>
            <a:endParaRPr lang="en-US" sz="2700" kern="0" dirty="0"/>
          </a:p>
        </p:txBody>
      </p:sp>
      <p:sp>
        <p:nvSpPr>
          <p:cNvPr id="4" name="Rectangle 3"/>
          <p:cNvSpPr/>
          <p:nvPr/>
        </p:nvSpPr>
        <p:spPr>
          <a:xfrm>
            <a:off x="406560" y="2798011"/>
            <a:ext cx="11375703" cy="2739189"/>
          </a:xfrm>
          <a:prstGeom prst="rect">
            <a:avLst/>
          </a:prstGeom>
          <a:noFill/>
          <a:ln>
            <a:solidFill>
              <a:srgbClr val="000000"/>
            </a:solidFill>
          </a:ln>
        </p:spPr>
        <p:txBody>
          <a:bodyPr wrap="square" lIns="121899" tIns="60949" rIns="121899" bIns="60949">
            <a:spAutoFit/>
          </a:bodyPr>
          <a:lstStyle/>
          <a:p>
            <a:r>
              <a:rPr lang="en-US" sz="1000" dirty="0">
                <a:solidFill>
                  <a:srgbClr val="000000"/>
                </a:solidFill>
                <a:latin typeface="Courier New" panose="02070309020205020404" pitchFamily="49" charset="0"/>
                <a:cs typeface="Courier New" panose="02070309020205020404" pitchFamily="49" charset="0"/>
              </a:rPr>
              <a:t>FortiGate-VM64 # diagnose debug rating </a:t>
            </a:r>
          </a:p>
          <a:p>
            <a:r>
              <a:rPr lang="en-US" sz="1000" dirty="0">
                <a:solidFill>
                  <a:srgbClr val="000000"/>
                </a:solidFill>
                <a:latin typeface="Courier New" panose="02070309020205020404" pitchFamily="49" charset="0"/>
                <a:cs typeface="Courier New" panose="02070309020205020404" pitchFamily="49" charset="0"/>
              </a:rPr>
              <a:t>Locale       : </a:t>
            </a:r>
            <a:r>
              <a:rPr lang="en-US" sz="1000" dirty="0" err="1">
                <a:solidFill>
                  <a:srgbClr val="000000"/>
                </a:solidFill>
                <a:latin typeface="Courier New" panose="02070309020205020404" pitchFamily="49" charset="0"/>
                <a:cs typeface="Courier New" panose="02070309020205020404" pitchFamily="49" charset="0"/>
              </a:rPr>
              <a:t>english</a:t>
            </a:r>
            <a:endParaRPr lang="en-US" sz="1000" dirty="0">
              <a:solidFill>
                <a:srgbClr val="000000"/>
              </a:solidFill>
              <a:latin typeface="Courier New" panose="02070309020205020404" pitchFamily="49" charset="0"/>
              <a:cs typeface="Courier New" panose="02070309020205020404" pitchFamily="49" charset="0"/>
            </a:endParaRPr>
          </a:p>
          <a:p>
            <a:endParaRPr lang="en-US" sz="1000" dirty="0">
              <a:solidFill>
                <a:srgbClr val="000000"/>
              </a:solidFill>
              <a:latin typeface="Courier New" panose="02070309020205020404" pitchFamily="49" charset="0"/>
              <a:cs typeface="Courier New" panose="02070309020205020404" pitchFamily="49" charset="0"/>
            </a:endParaRPr>
          </a:p>
          <a:p>
            <a:r>
              <a:rPr lang="en-US" sz="1000" dirty="0">
                <a:solidFill>
                  <a:srgbClr val="000000"/>
                </a:solidFill>
                <a:latin typeface="Courier New" panose="02070309020205020404" pitchFamily="49" charset="0"/>
                <a:cs typeface="Courier New" panose="02070309020205020404" pitchFamily="49" charset="0"/>
              </a:rPr>
              <a:t>Service      : Web-filter</a:t>
            </a:r>
          </a:p>
          <a:p>
            <a:r>
              <a:rPr lang="en-US" sz="1000" dirty="0">
                <a:solidFill>
                  <a:srgbClr val="000000"/>
                </a:solidFill>
                <a:latin typeface="Courier New" panose="02070309020205020404" pitchFamily="49" charset="0"/>
                <a:cs typeface="Courier New" panose="02070309020205020404" pitchFamily="49" charset="0"/>
              </a:rPr>
              <a:t>Status       : Enable</a:t>
            </a:r>
          </a:p>
          <a:p>
            <a:r>
              <a:rPr lang="en-US" sz="1000" dirty="0">
                <a:solidFill>
                  <a:srgbClr val="000000"/>
                </a:solidFill>
                <a:latin typeface="Courier New" panose="02070309020205020404" pitchFamily="49" charset="0"/>
                <a:cs typeface="Courier New" panose="02070309020205020404" pitchFamily="49" charset="0"/>
              </a:rPr>
              <a:t>License      : Contract</a:t>
            </a:r>
          </a:p>
          <a:p>
            <a:r>
              <a:rPr lang="en-US" sz="1000" dirty="0" smtClean="0">
                <a:solidFill>
                  <a:srgbClr val="000000"/>
                </a:solidFill>
                <a:latin typeface="Courier New" panose="02070309020205020404" pitchFamily="49" charset="0"/>
                <a:cs typeface="Courier New" panose="02070309020205020404" pitchFamily="49" charset="0"/>
              </a:rPr>
              <a:t>\</a:t>
            </a:r>
            <a:endParaRPr lang="en-US" sz="1000" dirty="0">
              <a:solidFill>
                <a:srgbClr val="000000"/>
              </a:solidFill>
              <a:latin typeface="Courier New" panose="02070309020205020404" pitchFamily="49" charset="0"/>
              <a:cs typeface="Courier New" panose="02070309020205020404" pitchFamily="49" charset="0"/>
            </a:endParaRPr>
          </a:p>
          <a:p>
            <a:r>
              <a:rPr lang="en-US" sz="1000" dirty="0">
                <a:solidFill>
                  <a:srgbClr val="000000"/>
                </a:solidFill>
                <a:latin typeface="Courier New" panose="02070309020205020404" pitchFamily="49" charset="0"/>
                <a:cs typeface="Courier New" panose="02070309020205020404" pitchFamily="49" charset="0"/>
              </a:rPr>
              <a:t>Num. of servers : 1</a:t>
            </a:r>
          </a:p>
          <a:p>
            <a:r>
              <a:rPr lang="en-US" sz="1000" dirty="0">
                <a:solidFill>
                  <a:srgbClr val="000000"/>
                </a:solidFill>
                <a:latin typeface="Courier New" panose="02070309020205020404" pitchFamily="49" charset="0"/>
                <a:cs typeface="Courier New" panose="02070309020205020404" pitchFamily="49" charset="0"/>
              </a:rPr>
              <a:t>Protocol        : https</a:t>
            </a:r>
          </a:p>
          <a:p>
            <a:r>
              <a:rPr lang="en-US" sz="1000" dirty="0">
                <a:solidFill>
                  <a:srgbClr val="000000"/>
                </a:solidFill>
                <a:latin typeface="Courier New" panose="02070309020205020404" pitchFamily="49" charset="0"/>
                <a:cs typeface="Courier New" panose="02070309020205020404" pitchFamily="49" charset="0"/>
              </a:rPr>
              <a:t>Port            : 443</a:t>
            </a:r>
          </a:p>
          <a:p>
            <a:r>
              <a:rPr lang="en-US" sz="1000" dirty="0" err="1">
                <a:solidFill>
                  <a:srgbClr val="000000"/>
                </a:solidFill>
                <a:latin typeface="Courier New" panose="02070309020205020404" pitchFamily="49" charset="0"/>
                <a:cs typeface="Courier New" panose="02070309020205020404" pitchFamily="49" charset="0"/>
              </a:rPr>
              <a:t>Anycast</a:t>
            </a:r>
            <a:r>
              <a:rPr lang="en-US" sz="1000" dirty="0">
                <a:solidFill>
                  <a:srgbClr val="000000"/>
                </a:solidFill>
                <a:latin typeface="Courier New" panose="02070309020205020404" pitchFamily="49" charset="0"/>
                <a:cs typeface="Courier New" panose="02070309020205020404" pitchFamily="49" charset="0"/>
              </a:rPr>
              <a:t>         : Enable</a:t>
            </a:r>
          </a:p>
          <a:p>
            <a:r>
              <a:rPr lang="en-US" sz="1000" dirty="0">
                <a:solidFill>
                  <a:srgbClr val="000000"/>
                </a:solidFill>
                <a:latin typeface="Courier New" panose="02070309020205020404" pitchFamily="49" charset="0"/>
                <a:cs typeface="Courier New" panose="02070309020205020404" pitchFamily="49" charset="0"/>
              </a:rPr>
              <a:t>Default servers : Included</a:t>
            </a:r>
          </a:p>
          <a:p>
            <a:endParaRPr lang="en-US" sz="1000" dirty="0">
              <a:solidFill>
                <a:srgbClr val="000000"/>
              </a:solidFill>
              <a:latin typeface="Courier New" panose="02070309020205020404" pitchFamily="49" charset="0"/>
              <a:cs typeface="Courier New" panose="02070309020205020404" pitchFamily="49" charset="0"/>
            </a:endParaRPr>
          </a:p>
          <a:p>
            <a:r>
              <a:rPr lang="en-US" sz="1000" dirty="0">
                <a:solidFill>
                  <a:srgbClr val="000000"/>
                </a:solidFill>
                <a:latin typeface="Courier New" panose="02070309020205020404" pitchFamily="49" charset="0"/>
                <a:cs typeface="Courier New" panose="02070309020205020404" pitchFamily="49" charset="0"/>
              </a:rPr>
              <a:t>-=- Server List (Wed Apr 21 13:59:43 2021) -=-</a:t>
            </a:r>
          </a:p>
          <a:p>
            <a:endParaRPr lang="en-US" sz="1000" dirty="0">
              <a:solidFill>
                <a:srgbClr val="000000"/>
              </a:solidFill>
              <a:latin typeface="Courier New" panose="02070309020205020404" pitchFamily="49" charset="0"/>
              <a:cs typeface="Courier New" panose="02070309020205020404" pitchFamily="49" charset="0"/>
            </a:endParaRPr>
          </a:p>
          <a:p>
            <a:r>
              <a:rPr lang="en-US" sz="1000" dirty="0">
                <a:solidFill>
                  <a:srgbClr val="000000"/>
                </a:solidFill>
                <a:latin typeface="Courier New" panose="02070309020205020404" pitchFamily="49" charset="0"/>
                <a:cs typeface="Courier New" panose="02070309020205020404" pitchFamily="49" charset="0"/>
              </a:rPr>
              <a:t>IP                                             Weight    RTT Flags   TZ   </a:t>
            </a:r>
            <a:r>
              <a:rPr lang="en-US" sz="1000" dirty="0" err="1">
                <a:solidFill>
                  <a:srgbClr val="000000"/>
                </a:solidFill>
                <a:latin typeface="Courier New" panose="02070309020205020404" pitchFamily="49" charset="0"/>
                <a:cs typeface="Courier New" panose="02070309020205020404" pitchFamily="49" charset="0"/>
              </a:rPr>
              <a:t>FortiGuard</a:t>
            </a:r>
            <a:r>
              <a:rPr lang="en-US" sz="1000" dirty="0">
                <a:solidFill>
                  <a:srgbClr val="000000"/>
                </a:solidFill>
                <a:latin typeface="Courier New" panose="02070309020205020404" pitchFamily="49" charset="0"/>
                <a:cs typeface="Courier New" panose="02070309020205020404" pitchFamily="49" charset="0"/>
              </a:rPr>
              <a:t>-requests  </a:t>
            </a:r>
            <a:r>
              <a:rPr lang="en-US" sz="1000" dirty="0" err="1">
                <a:solidFill>
                  <a:srgbClr val="000000"/>
                </a:solidFill>
                <a:latin typeface="Courier New" panose="02070309020205020404" pitchFamily="49" charset="0"/>
                <a:cs typeface="Courier New" panose="02070309020205020404" pitchFamily="49" charset="0"/>
              </a:rPr>
              <a:t>Curr</a:t>
            </a:r>
            <a:r>
              <a:rPr lang="en-US" sz="1000" dirty="0">
                <a:solidFill>
                  <a:srgbClr val="000000"/>
                </a:solidFill>
                <a:latin typeface="Courier New" panose="02070309020205020404" pitchFamily="49" charset="0"/>
                <a:cs typeface="Courier New" panose="02070309020205020404" pitchFamily="49" charset="0"/>
              </a:rPr>
              <a:t> Lost Total Lost             Updated Time</a:t>
            </a:r>
          </a:p>
          <a:p>
            <a:r>
              <a:rPr lang="en-US" sz="1000" dirty="0">
                <a:solidFill>
                  <a:srgbClr val="000000"/>
                </a:solidFill>
                <a:latin typeface="Courier New" panose="02070309020205020404" pitchFamily="49" charset="0"/>
                <a:cs typeface="Courier New" panose="02070309020205020404" pitchFamily="49" charset="0"/>
              </a:rPr>
              <a:t>173.243.140.16                                    -72    101 DI       0                    36          0          0 Wed Apr 21 13:58:13 2021</a:t>
            </a:r>
          </a:p>
        </p:txBody>
      </p:sp>
    </p:spTree>
    <p:custDataLst>
      <p:tags r:id="rId1"/>
    </p:custDataLst>
    <p:extLst>
      <p:ext uri="{BB962C8B-B14F-4D97-AF65-F5344CB8AC3E}">
        <p14:creationId xmlns:p14="http://schemas.microsoft.com/office/powerpoint/2010/main" val="2217060163"/>
      </p:ext>
    </p:extLst>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Web Filter Cache</a:t>
            </a:r>
            <a:endParaRPr lang="en-US" dirty="0"/>
          </a:p>
        </p:txBody>
      </p:sp>
      <p:sp>
        <p:nvSpPr>
          <p:cNvPr id="8" name="Text Placeholder 7"/>
          <p:cNvSpPr>
            <a:spLocks noGrp="1"/>
          </p:cNvSpPr>
          <p:nvPr>
            <p:ph idx="1"/>
          </p:nvPr>
        </p:nvSpPr>
        <p:spPr/>
        <p:txBody>
          <a:bodyPr/>
          <a:lstStyle/>
          <a:p>
            <a:r>
              <a:rPr lang="en-US" dirty="0"/>
              <a:t>Improves performance by reducing requests to FortiGuard</a:t>
            </a:r>
          </a:p>
          <a:p>
            <a:r>
              <a:rPr lang="en-US" dirty="0"/>
              <a:t>Cache is checked before sending a request to the FortiGuard server</a:t>
            </a:r>
          </a:p>
          <a:p>
            <a:pPr lvl="1"/>
            <a:r>
              <a:rPr lang="en-US" dirty="0"/>
              <a:t>FortiGate remembers response of visited websites</a:t>
            </a:r>
          </a:p>
          <a:p>
            <a:pPr lvl="1"/>
            <a:r>
              <a:rPr lang="en-US" dirty="0"/>
              <a:t>TTL settings control the number of seconds the query results are cached</a:t>
            </a:r>
          </a:p>
          <a:p>
            <a:pPr lvl="1"/>
            <a:r>
              <a:rPr lang="en-US" dirty="0"/>
              <a:t>Request is considered a rating error after timeout (15 seconds as default)</a:t>
            </a:r>
          </a:p>
          <a:p>
            <a:r>
              <a:rPr lang="en-US" dirty="0"/>
              <a:t>HTTPS </a:t>
            </a:r>
            <a:r>
              <a:rPr lang="en-US" dirty="0" smtClean="0"/>
              <a:t>port 443 </a:t>
            </a:r>
            <a:r>
              <a:rPr lang="en-US" dirty="0"/>
              <a:t>enforced by default </a:t>
            </a:r>
            <a:r>
              <a:rPr lang="en-US" dirty="0" err="1"/>
              <a:t>FortiGuard</a:t>
            </a:r>
            <a:r>
              <a:rPr lang="en-US" dirty="0"/>
              <a:t> or </a:t>
            </a:r>
            <a:r>
              <a:rPr lang="en-US" dirty="0" err="1"/>
              <a:t>FortiManager</a:t>
            </a:r>
            <a:r>
              <a:rPr lang="en-US" dirty="0"/>
              <a:t> communications</a:t>
            </a:r>
          </a:p>
          <a:p>
            <a:pPr lvl="1"/>
            <a:r>
              <a:rPr lang="en-US" dirty="0"/>
              <a:t>Disable </a:t>
            </a:r>
            <a:r>
              <a:rPr lang="en-US" dirty="0" err="1"/>
              <a:t>FortiGuard</a:t>
            </a:r>
            <a:r>
              <a:rPr lang="en-US" dirty="0"/>
              <a:t> </a:t>
            </a:r>
            <a:r>
              <a:rPr lang="en-US" dirty="0" err="1"/>
              <a:t>anycast</a:t>
            </a:r>
            <a:r>
              <a:rPr lang="en-US" dirty="0"/>
              <a:t> setting on CLI to use UDP ports 443, 53, or 8888</a:t>
            </a:r>
          </a:p>
          <a:p>
            <a:r>
              <a:rPr lang="en-US" dirty="0"/>
              <a:t>Enabled by default</a:t>
            </a:r>
            <a:r>
              <a:rPr lang="en-CA" dirty="0"/>
              <a:t>—d</a:t>
            </a:r>
            <a:r>
              <a:rPr lang="en-US" dirty="0" err="1"/>
              <a:t>efault</a:t>
            </a:r>
            <a:r>
              <a:rPr lang="en-US" dirty="0"/>
              <a:t> TTL is 60 minutes (3600 seconds)</a:t>
            </a:r>
          </a:p>
          <a:p>
            <a:pPr lvl="1"/>
            <a:endParaRPr lang="en-US" dirty="0"/>
          </a:p>
          <a:p>
            <a:pPr lvl="1"/>
            <a:endParaRPr lang="en-US" dirty="0"/>
          </a:p>
        </p:txBody>
      </p:sp>
      <p:pic>
        <p:nvPicPr>
          <p:cNvPr id="2" name="Picture 1"/>
          <p:cNvPicPr>
            <a:picLocks noChangeAspect="1"/>
          </p:cNvPicPr>
          <p:nvPr/>
        </p:nvPicPr>
        <p:blipFill>
          <a:blip r:embed="rId4"/>
          <a:stretch>
            <a:fillRect/>
          </a:stretch>
        </p:blipFill>
        <p:spPr>
          <a:xfrm>
            <a:off x="765847" y="4510427"/>
            <a:ext cx="4053014" cy="1269271"/>
          </a:xfrm>
          <a:prstGeom prst="rect">
            <a:avLst/>
          </a:prstGeom>
          <a:ln>
            <a:solidFill>
              <a:srgbClr val="000000"/>
            </a:solidFill>
          </a:ln>
        </p:spPr>
      </p:pic>
      <p:sp>
        <p:nvSpPr>
          <p:cNvPr id="11" name="TextBox 10"/>
          <p:cNvSpPr txBox="1"/>
          <p:nvPr/>
        </p:nvSpPr>
        <p:spPr>
          <a:xfrm>
            <a:off x="5155896" y="4155881"/>
            <a:ext cx="6527660" cy="1877415"/>
          </a:xfrm>
          <a:prstGeom prst="rect">
            <a:avLst/>
          </a:prstGeom>
          <a:noFill/>
          <a:ln>
            <a:solidFill>
              <a:srgbClr val="000000"/>
            </a:solidFill>
          </a:ln>
        </p:spPr>
        <p:txBody>
          <a:bodyPr wrap="square" lIns="121899" tIns="60949" rIns="121899" bIns="60949" rtlCol="0">
            <a:spAutoFit/>
          </a:bodyPr>
          <a:lstStyle/>
          <a:p>
            <a:r>
              <a:rPr lang="en-US" sz="1900" dirty="0" err="1">
                <a:solidFill>
                  <a:srgbClr val="000000"/>
                </a:solidFill>
                <a:latin typeface="Courier New" panose="02070309020205020404" pitchFamily="49" charset="0"/>
                <a:cs typeface="Courier New" panose="02070309020205020404" pitchFamily="49" charset="0"/>
              </a:rPr>
              <a:t>config</a:t>
            </a:r>
            <a:r>
              <a:rPr lang="en-US" sz="1900" dirty="0">
                <a:solidFill>
                  <a:srgbClr val="000000"/>
                </a:solidFill>
                <a:latin typeface="Courier New" panose="02070309020205020404" pitchFamily="49" charset="0"/>
                <a:cs typeface="Courier New" panose="02070309020205020404" pitchFamily="49" charset="0"/>
              </a:rPr>
              <a:t> system </a:t>
            </a:r>
            <a:r>
              <a:rPr lang="en-US" sz="1900" dirty="0" err="1">
                <a:solidFill>
                  <a:srgbClr val="000000"/>
                </a:solidFill>
                <a:latin typeface="Courier New" panose="02070309020205020404" pitchFamily="49" charset="0"/>
                <a:cs typeface="Courier New" panose="02070309020205020404" pitchFamily="49" charset="0"/>
              </a:rPr>
              <a:t>fortiguard</a:t>
            </a:r>
            <a:endParaRPr lang="en-US" sz="1900" dirty="0">
              <a:solidFill>
                <a:srgbClr val="000000"/>
              </a:solidFill>
              <a:latin typeface="Courier New" panose="02070309020205020404" pitchFamily="49" charset="0"/>
              <a:cs typeface="Courier New" panose="02070309020205020404" pitchFamily="49" charset="0"/>
            </a:endParaRPr>
          </a:p>
          <a:p>
            <a:r>
              <a:rPr lang="en-US" sz="1900" dirty="0">
                <a:solidFill>
                  <a:srgbClr val="000000"/>
                </a:solidFill>
                <a:latin typeface="Courier New" panose="02070309020205020404" pitchFamily="49" charset="0"/>
                <a:cs typeface="Courier New" panose="02070309020205020404" pitchFamily="49" charset="0"/>
              </a:rPr>
              <a:t>    set </a:t>
            </a:r>
            <a:r>
              <a:rPr lang="en-US" sz="1900" dirty="0" err="1">
                <a:solidFill>
                  <a:srgbClr val="000000"/>
                </a:solidFill>
                <a:latin typeface="Courier New" panose="02070309020205020404" pitchFamily="49" charset="0"/>
                <a:cs typeface="Courier New" panose="02070309020205020404" pitchFamily="49" charset="0"/>
              </a:rPr>
              <a:t>fortiguard-anycast</a:t>
            </a:r>
            <a:r>
              <a:rPr lang="en-US" sz="1900" dirty="0">
                <a:solidFill>
                  <a:srgbClr val="000000"/>
                </a:solidFill>
                <a:latin typeface="Courier New" panose="02070309020205020404" pitchFamily="49" charset="0"/>
                <a:cs typeface="Courier New" panose="02070309020205020404" pitchFamily="49" charset="0"/>
              </a:rPr>
              <a:t> {</a:t>
            </a:r>
            <a:r>
              <a:rPr lang="en-US" sz="1900" dirty="0" err="1">
                <a:solidFill>
                  <a:srgbClr val="000000"/>
                </a:solidFill>
                <a:latin typeface="Courier New" panose="02070309020205020404" pitchFamily="49" charset="0"/>
                <a:cs typeface="Courier New" panose="02070309020205020404" pitchFamily="49" charset="0"/>
              </a:rPr>
              <a:t>enable|disable</a:t>
            </a:r>
            <a:r>
              <a:rPr lang="en-US" sz="1900" dirty="0">
                <a:solidFill>
                  <a:srgbClr val="000000"/>
                </a:solidFill>
                <a:latin typeface="Courier New" panose="02070309020205020404" pitchFamily="49" charset="0"/>
                <a:cs typeface="Courier New" panose="02070309020205020404" pitchFamily="49" charset="0"/>
              </a:rPr>
              <a:t>}</a:t>
            </a:r>
          </a:p>
          <a:p>
            <a:r>
              <a:rPr lang="en-US" sz="1900" dirty="0">
                <a:solidFill>
                  <a:srgbClr val="000000"/>
                </a:solidFill>
                <a:latin typeface="Courier New" panose="02070309020205020404" pitchFamily="49" charset="0"/>
                <a:cs typeface="Courier New" panose="02070309020205020404" pitchFamily="49" charset="0"/>
              </a:rPr>
              <a:t>    set protocol {</a:t>
            </a:r>
            <a:r>
              <a:rPr lang="en-US" sz="1900" dirty="0" err="1" smtClean="0">
                <a:solidFill>
                  <a:srgbClr val="000000"/>
                </a:solidFill>
                <a:latin typeface="Courier New" panose="02070309020205020404" pitchFamily="49" charset="0"/>
                <a:cs typeface="Courier New" panose="02070309020205020404" pitchFamily="49" charset="0"/>
              </a:rPr>
              <a:t>udp|https</a:t>
            </a:r>
            <a:r>
              <a:rPr lang="en-US" sz="1900" dirty="0">
                <a:solidFill>
                  <a:srgbClr val="000000"/>
                </a:solidFill>
                <a:latin typeface="Courier New" panose="02070309020205020404" pitchFamily="49" charset="0"/>
                <a:cs typeface="Courier New" panose="02070309020205020404" pitchFamily="49" charset="0"/>
              </a:rPr>
              <a:t>}</a:t>
            </a:r>
          </a:p>
          <a:p>
            <a:r>
              <a:rPr lang="en-US" sz="1900" dirty="0">
                <a:solidFill>
                  <a:srgbClr val="000000"/>
                </a:solidFill>
                <a:latin typeface="Courier New" panose="02070309020205020404" pitchFamily="49" charset="0"/>
                <a:cs typeface="Courier New" panose="02070309020205020404" pitchFamily="49" charset="0"/>
              </a:rPr>
              <a:t>    set port {8888|53|443}</a:t>
            </a:r>
          </a:p>
          <a:p>
            <a:r>
              <a:rPr lang="en-US" sz="1900" dirty="0">
                <a:solidFill>
                  <a:srgbClr val="000000"/>
                </a:solidFill>
                <a:latin typeface="Courier New" panose="02070309020205020404" pitchFamily="49" charset="0"/>
                <a:cs typeface="Courier New" panose="02070309020205020404" pitchFamily="49" charset="0"/>
              </a:rPr>
              <a:t>    set </a:t>
            </a:r>
            <a:r>
              <a:rPr lang="en-US" sz="1900" dirty="0" err="1">
                <a:solidFill>
                  <a:srgbClr val="000000"/>
                </a:solidFill>
                <a:latin typeface="Courier New" panose="02070309020205020404" pitchFamily="49" charset="0"/>
                <a:cs typeface="Courier New" panose="02070309020205020404" pitchFamily="49" charset="0"/>
              </a:rPr>
              <a:t>webfilter</a:t>
            </a:r>
            <a:r>
              <a:rPr lang="en-US" sz="1900" dirty="0">
                <a:solidFill>
                  <a:srgbClr val="000000"/>
                </a:solidFill>
                <a:latin typeface="Courier New" panose="02070309020205020404" pitchFamily="49" charset="0"/>
                <a:cs typeface="Courier New" panose="02070309020205020404" pitchFamily="49" charset="0"/>
              </a:rPr>
              <a:t>-timeout {&lt;1&gt; - &lt;30&gt;}</a:t>
            </a:r>
          </a:p>
          <a:p>
            <a:r>
              <a:rPr lang="en-US" sz="1900" dirty="0">
                <a:solidFill>
                  <a:srgbClr val="000000"/>
                </a:solidFill>
                <a:latin typeface="Courier New" panose="02070309020205020404" pitchFamily="49" charset="0"/>
                <a:cs typeface="Courier New" panose="02070309020205020404" pitchFamily="49" charset="0"/>
              </a:rPr>
              <a:t>end</a:t>
            </a:r>
          </a:p>
        </p:txBody>
      </p:sp>
      <p:sp>
        <p:nvSpPr>
          <p:cNvPr id="13" name="TextBox 12"/>
          <p:cNvSpPr txBox="1"/>
          <p:nvPr/>
        </p:nvSpPr>
        <p:spPr>
          <a:xfrm>
            <a:off x="756703" y="4137367"/>
            <a:ext cx="2210862" cy="338554"/>
          </a:xfrm>
          <a:prstGeom prst="rect">
            <a:avLst/>
          </a:prstGeom>
          <a:solidFill>
            <a:srgbClr val="00B0F0"/>
          </a:solidFill>
        </p:spPr>
        <p:txBody>
          <a:bodyPr wrap="none" rtlCol="0">
            <a:spAutoFit/>
          </a:bodyPr>
          <a:lstStyle/>
          <a:p>
            <a:r>
              <a:rPr lang="en-CA" sz="1600" b="1" dirty="0"/>
              <a:t>System </a:t>
            </a:r>
            <a:r>
              <a:rPr lang="en-CA" sz="1600" dirty="0"/>
              <a:t>&gt;</a:t>
            </a:r>
            <a:r>
              <a:rPr lang="en-CA" sz="1600" b="1" dirty="0"/>
              <a:t> </a:t>
            </a:r>
            <a:r>
              <a:rPr lang="en-CA" sz="1600" b="1" dirty="0" err="1"/>
              <a:t>FortiGuard</a:t>
            </a:r>
            <a:endParaRPr lang="en-CA" sz="1600" b="1" dirty="0"/>
          </a:p>
        </p:txBody>
      </p:sp>
      <p:sp>
        <p:nvSpPr>
          <p:cNvPr id="9" name="Rectangle 8"/>
          <p:cNvSpPr/>
          <p:nvPr/>
        </p:nvSpPr>
        <p:spPr bwMode="invGray">
          <a:xfrm>
            <a:off x="765847" y="4756798"/>
            <a:ext cx="4007321" cy="301214"/>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Tree>
    <p:custDataLst>
      <p:tags r:id="rId1"/>
    </p:custDataLst>
    <p:extLst>
      <p:ext uri="{BB962C8B-B14F-4D97-AF65-F5344CB8AC3E}">
        <p14:creationId xmlns:p14="http://schemas.microsoft.com/office/powerpoint/2010/main" val="1590618071"/>
      </p:ext>
    </p:extLst>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Web Filter Log</a:t>
            </a:r>
          </a:p>
        </p:txBody>
      </p:sp>
      <p:sp>
        <p:nvSpPr>
          <p:cNvPr id="6" name="Content Placeholder 5"/>
          <p:cNvSpPr>
            <a:spLocks noGrp="1"/>
          </p:cNvSpPr>
          <p:nvPr>
            <p:ph idx="1"/>
          </p:nvPr>
        </p:nvSpPr>
        <p:spPr>
          <a:xfrm>
            <a:off x="266400" y="776780"/>
            <a:ext cx="11375703" cy="5338800"/>
          </a:xfrm>
        </p:spPr>
        <p:txBody>
          <a:bodyPr>
            <a:normAutofit/>
          </a:bodyPr>
          <a:lstStyle/>
          <a:p>
            <a:r>
              <a:rPr lang="en-US" dirty="0"/>
              <a:t>Record HTTP traffic activity, such as:</a:t>
            </a:r>
          </a:p>
          <a:p>
            <a:pPr lvl="1"/>
            <a:r>
              <a:rPr lang="en-US" dirty="0"/>
              <a:t>Action, profile used, category, URL, quota info, and so on</a:t>
            </a:r>
          </a:p>
          <a:p>
            <a:pPr lvl="1"/>
            <a:endParaRPr lang="en-US" dirty="0"/>
          </a:p>
          <a:p>
            <a:pPr lvl="1"/>
            <a:endParaRPr lang="en-US" dirty="0"/>
          </a:p>
          <a:p>
            <a:pPr marL="359770" lvl="1" indent="0">
              <a:buNone/>
            </a:pPr>
            <a:endParaRPr lang="en-US" dirty="0"/>
          </a:p>
          <a:p>
            <a:pPr lvl="1"/>
            <a:endParaRPr lang="en-US" dirty="0"/>
          </a:p>
          <a:p>
            <a:pPr lvl="1"/>
            <a:endParaRPr lang="en-US" dirty="0"/>
          </a:p>
          <a:p>
            <a:pPr lvl="1"/>
            <a:endParaRPr lang="en-US" dirty="0"/>
          </a:p>
          <a:p>
            <a:pPr lvl="1"/>
            <a:endParaRPr lang="en-US" sz="1700" dirty="0"/>
          </a:p>
          <a:p>
            <a:pPr marL="457063" lvl="1" indent="0">
              <a:buNone/>
            </a:pPr>
            <a:endParaRPr lang="en-US" sz="3200" dirty="0"/>
          </a:p>
        </p:txBody>
      </p:sp>
      <p:sp>
        <p:nvSpPr>
          <p:cNvPr id="9" name="TextBox 8"/>
          <p:cNvSpPr txBox="1"/>
          <p:nvPr/>
        </p:nvSpPr>
        <p:spPr>
          <a:xfrm>
            <a:off x="742712" y="1428376"/>
            <a:ext cx="3257623" cy="338554"/>
          </a:xfrm>
          <a:prstGeom prst="rect">
            <a:avLst/>
          </a:prstGeom>
          <a:solidFill>
            <a:srgbClr val="00B0F0"/>
          </a:solidFill>
        </p:spPr>
        <p:txBody>
          <a:bodyPr wrap="none" rtlCol="0">
            <a:spAutoFit/>
          </a:bodyPr>
          <a:lstStyle/>
          <a:p>
            <a:r>
              <a:rPr lang="en-CA" sz="1600" b="1" dirty="0"/>
              <a:t>Log &amp; Report </a:t>
            </a:r>
            <a:r>
              <a:rPr lang="en-CA" sz="1600" dirty="0"/>
              <a:t>&gt; </a:t>
            </a:r>
            <a:r>
              <a:rPr lang="en-CA" sz="1600" b="1" dirty="0" smtClean="0"/>
              <a:t>Security Events</a:t>
            </a:r>
            <a:endParaRPr lang="en-CA" sz="1600" b="1" dirty="0"/>
          </a:p>
        </p:txBody>
      </p:sp>
      <p:pic>
        <p:nvPicPr>
          <p:cNvPr id="13" name="Picture 12"/>
          <p:cNvPicPr>
            <a:picLocks noChangeAspect="1"/>
          </p:cNvPicPr>
          <p:nvPr/>
        </p:nvPicPr>
        <p:blipFill>
          <a:blip r:embed="rId4"/>
          <a:stretch>
            <a:fillRect/>
          </a:stretch>
        </p:blipFill>
        <p:spPr>
          <a:xfrm>
            <a:off x="742712" y="1813246"/>
            <a:ext cx="4941350" cy="2234781"/>
          </a:xfrm>
          <a:prstGeom prst="rect">
            <a:avLst/>
          </a:prstGeom>
          <a:ln>
            <a:solidFill>
              <a:schemeClr val="tx1"/>
            </a:solidFill>
          </a:ln>
        </p:spPr>
      </p:pic>
      <p:sp>
        <p:nvSpPr>
          <p:cNvPr id="15" name="Rectangle 14"/>
          <p:cNvSpPr/>
          <p:nvPr/>
        </p:nvSpPr>
        <p:spPr>
          <a:xfrm>
            <a:off x="1210962" y="2470554"/>
            <a:ext cx="795527" cy="3232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pic>
        <p:nvPicPr>
          <p:cNvPr id="16" name="Picture 15"/>
          <p:cNvPicPr>
            <a:picLocks noChangeAspect="1"/>
          </p:cNvPicPr>
          <p:nvPr/>
        </p:nvPicPr>
        <p:blipFill>
          <a:blip r:embed="rId5"/>
          <a:stretch>
            <a:fillRect/>
          </a:stretch>
        </p:blipFill>
        <p:spPr>
          <a:xfrm>
            <a:off x="5067868" y="1703335"/>
            <a:ext cx="7008318" cy="2093102"/>
          </a:xfrm>
          <a:prstGeom prst="rect">
            <a:avLst/>
          </a:prstGeom>
          <a:ln>
            <a:solidFill>
              <a:schemeClr val="tx1"/>
            </a:solidFill>
          </a:ln>
        </p:spPr>
      </p:pic>
      <p:sp>
        <p:nvSpPr>
          <p:cNvPr id="17" name="Rectangle 16"/>
          <p:cNvSpPr/>
          <p:nvPr/>
        </p:nvSpPr>
        <p:spPr>
          <a:xfrm>
            <a:off x="5283676" y="1761446"/>
            <a:ext cx="400386" cy="2570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cxnSp>
        <p:nvCxnSpPr>
          <p:cNvPr id="18" name="Straight Arrow Connector 17"/>
          <p:cNvCxnSpPr/>
          <p:nvPr/>
        </p:nvCxnSpPr>
        <p:spPr bwMode="auto">
          <a:xfrm flipV="1">
            <a:off x="2006489" y="1948955"/>
            <a:ext cx="3061379" cy="683231"/>
          </a:xfrm>
          <a:prstGeom prst="straightConnector1">
            <a:avLst/>
          </a:prstGeom>
          <a:solidFill>
            <a:schemeClr val="accent2">
              <a:alpha val="42000"/>
            </a:schemeClr>
          </a:solidFill>
          <a:ln w="38100" cap="flat" cmpd="sng" algn="ctr">
            <a:solidFill>
              <a:srgbClr val="FF0000"/>
            </a:solidFill>
            <a:prstDash val="solid"/>
            <a:round/>
            <a:headEnd type="none" w="med" len="med"/>
            <a:tailEnd type="triangle" w="med" len="med"/>
          </a:ln>
          <a:effectLst/>
        </p:spPr>
      </p:cxnSp>
      <p:sp>
        <p:nvSpPr>
          <p:cNvPr id="22" name="Rectangle 21"/>
          <p:cNvSpPr/>
          <p:nvPr/>
        </p:nvSpPr>
        <p:spPr>
          <a:xfrm>
            <a:off x="5067868" y="2521700"/>
            <a:ext cx="6821370" cy="1777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pic>
        <p:nvPicPr>
          <p:cNvPr id="3" name="Picture 2"/>
          <p:cNvPicPr>
            <a:picLocks noChangeAspect="1"/>
          </p:cNvPicPr>
          <p:nvPr/>
        </p:nvPicPr>
        <p:blipFill>
          <a:blip r:embed="rId6"/>
          <a:stretch>
            <a:fillRect/>
          </a:stretch>
        </p:blipFill>
        <p:spPr>
          <a:xfrm>
            <a:off x="1399414" y="4430077"/>
            <a:ext cx="7768523" cy="1882289"/>
          </a:xfrm>
          <a:prstGeom prst="rect">
            <a:avLst/>
          </a:prstGeom>
        </p:spPr>
      </p:pic>
      <p:sp>
        <p:nvSpPr>
          <p:cNvPr id="19" name="Rectangle 18"/>
          <p:cNvSpPr/>
          <p:nvPr/>
        </p:nvSpPr>
        <p:spPr>
          <a:xfrm>
            <a:off x="7048008" y="5436973"/>
            <a:ext cx="1539938" cy="1729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0" name="Rectangle 19"/>
          <p:cNvSpPr/>
          <p:nvPr/>
        </p:nvSpPr>
        <p:spPr>
          <a:xfrm>
            <a:off x="1399414" y="5609969"/>
            <a:ext cx="1763916" cy="210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1" name="Rectangle 20"/>
          <p:cNvSpPr/>
          <p:nvPr/>
        </p:nvSpPr>
        <p:spPr>
          <a:xfrm>
            <a:off x="3219765" y="5835819"/>
            <a:ext cx="4663845" cy="15619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4" name="Rectangle 23"/>
          <p:cNvSpPr/>
          <p:nvPr/>
        </p:nvSpPr>
        <p:spPr>
          <a:xfrm>
            <a:off x="3835720" y="5992018"/>
            <a:ext cx="2464296" cy="2403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2605101114"/>
      </p:ext>
    </p:extLst>
  </p:cSld>
  <p:clrMapOvr>
    <a:masterClrMapping/>
  </p:clrMapOvr>
  <p:transition spd="slow">
    <p:wip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US" dirty="0"/>
              <a:t>You have configured your security profiles, but they are not performing web or DNS inspection. Why?</a:t>
            </a:r>
          </a:p>
          <a:p>
            <a:pPr marL="838133" lvl="1" indent="-457200">
              <a:buFont typeface="+mj-lt"/>
              <a:buAutoNum type="alphaUcPeriod"/>
            </a:pPr>
            <a:r>
              <a:rPr lang="en-CA" dirty="0"/>
              <a:t>The certificate is not installed </a:t>
            </a:r>
            <a:r>
              <a:rPr lang="en-CA" dirty="0" smtClean="0"/>
              <a:t>correctly.</a:t>
            </a:r>
            <a:endParaRPr lang="en-CA" dirty="0"/>
          </a:p>
          <a:p>
            <a:pPr marL="838133" lvl="1" indent="-457200">
              <a:buFont typeface="+mj-lt"/>
              <a:buAutoNum type="alphaUcPeriod"/>
            </a:pPr>
            <a:r>
              <a:rPr lang="en-CA" dirty="0"/>
              <a:t>The profile is not associated with the correct firewall </a:t>
            </a:r>
            <a:r>
              <a:rPr lang="en-CA" dirty="0" smtClean="0"/>
              <a:t>policy.</a:t>
            </a:r>
            <a:endParaRPr lang="en-CA"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321" y="1976599"/>
            <a:ext cx="265352" cy="283652"/>
          </a:xfrm>
          <a:prstGeom prst="rect">
            <a:avLst/>
          </a:prstGeom>
        </p:spPr>
      </p:pic>
    </p:spTree>
    <p:custDataLst>
      <p:tags r:id="rId1"/>
    </p:custDataLst>
    <p:extLst>
      <p:ext uri="{BB962C8B-B14F-4D97-AF65-F5344CB8AC3E}">
        <p14:creationId xmlns:p14="http://schemas.microsoft.com/office/powerpoint/2010/main" val="22807377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4"/>
          <p:cNvGraphicFramePr>
            <a:graphicFrameLocks noGrp="1"/>
          </p:cNvGraphicFramePr>
          <p:nvPr>
            <p:ph type="dgm" sz="quarter" idx="10"/>
            <p:extLst>
              <p:ext uri="{D42A27DB-BD31-4B8C-83A1-F6EECF244321}">
                <p14:modId xmlns:p14="http://schemas.microsoft.com/office/powerpoint/2010/main" val="3105046204"/>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0192" y="1688275"/>
            <a:ext cx="552381" cy="590476"/>
          </a:xfrm>
          <a:prstGeom prst="rect">
            <a:avLst/>
          </a:prstGeom>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0192" y="5269609"/>
            <a:ext cx="552381" cy="590476"/>
          </a:xfrm>
          <a:prstGeom prst="rect">
            <a:avLst/>
          </a:prstGeom>
        </p:spPr>
      </p:pic>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8365" y="2560119"/>
            <a:ext cx="552381" cy="590476"/>
          </a:xfrm>
          <a:prstGeom prst="rect">
            <a:avLst/>
          </a:prstGeom>
        </p:spPr>
      </p:pic>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2573" y="3437755"/>
            <a:ext cx="552381" cy="590476"/>
          </a:xfrm>
          <a:prstGeom prst="rect">
            <a:avLst/>
          </a:prstGeom>
        </p:spPr>
      </p:pic>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8365" y="4364514"/>
            <a:ext cx="552381" cy="590476"/>
          </a:xfrm>
          <a:prstGeom prst="rect">
            <a:avLst/>
          </a:prstGeom>
        </p:spPr>
      </p:pic>
    </p:spTree>
    <p:custDataLst>
      <p:tags r:id="rId1"/>
    </p:custDataLst>
    <p:extLst>
      <p:ext uri="{BB962C8B-B14F-4D97-AF65-F5344CB8AC3E}">
        <p14:creationId xmlns:p14="http://schemas.microsoft.com/office/powerpoint/2010/main" val="1121921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rmAutofit/>
          </a:bodyPr>
          <a:lstStyle/>
          <a:p>
            <a:r>
              <a:rPr lang="en-CA" sz="2200" dirty="0"/>
              <a:t>Describe FortiOS inspection </a:t>
            </a:r>
            <a:r>
              <a:rPr lang="en-CA" sz="2200" dirty="0" smtClean="0"/>
              <a:t>modes</a:t>
            </a:r>
            <a:endParaRPr lang="en-CA" sz="2200" dirty="0"/>
          </a:p>
          <a:p>
            <a:r>
              <a:rPr lang="en-CA" sz="2200" dirty="0" smtClean="0"/>
              <a:t>Implement NGFW operation modes</a:t>
            </a:r>
            <a:endParaRPr lang="en-CA" sz="2200" dirty="0"/>
          </a:p>
          <a:p>
            <a:r>
              <a:rPr lang="en-CA" sz="2200" dirty="0" smtClean="0"/>
              <a:t>Work </a:t>
            </a:r>
            <a:r>
              <a:rPr lang="en-CA" sz="2200" dirty="0"/>
              <a:t>with web filter categories </a:t>
            </a:r>
            <a:endParaRPr lang="en-CA" sz="2200" dirty="0" smtClean="0"/>
          </a:p>
          <a:p>
            <a:r>
              <a:rPr lang="en-US" sz="2200" dirty="0" smtClean="0"/>
              <a:t>Configure </a:t>
            </a:r>
            <a:r>
              <a:rPr lang="en-US" sz="2200" dirty="0"/>
              <a:t>web filter to support search </a:t>
            </a:r>
            <a:r>
              <a:rPr lang="en-US" sz="2200" dirty="0" smtClean="0"/>
              <a:t>engines</a:t>
            </a:r>
          </a:p>
          <a:p>
            <a:r>
              <a:rPr lang="en-US" sz="2200" dirty="0" smtClean="0"/>
              <a:t>Apply video filter on proxy-based firewall policy</a:t>
            </a:r>
          </a:p>
          <a:p>
            <a:r>
              <a:rPr lang="en-US" sz="2200" dirty="0" smtClean="0"/>
              <a:t>Monitor </a:t>
            </a:r>
            <a:r>
              <a:rPr lang="en-US" sz="2200" dirty="0"/>
              <a:t>logs for web filtering </a:t>
            </a:r>
            <a:r>
              <a:rPr lang="en-US" sz="2200" dirty="0" smtClean="0"/>
              <a:t>events</a:t>
            </a:r>
          </a:p>
          <a:p>
            <a:endParaRPr lang="en-US" sz="2200" dirty="0"/>
          </a:p>
          <a:p>
            <a:endParaRPr lang="en-US" sz="2200" dirty="0"/>
          </a:p>
        </p:txBody>
      </p:sp>
    </p:spTree>
    <p:custDataLst>
      <p:tags r:id="rId1"/>
    </p:custDataLst>
    <p:extLst>
      <p:ext uri="{BB962C8B-B14F-4D97-AF65-F5344CB8AC3E}">
        <p14:creationId xmlns:p14="http://schemas.microsoft.com/office/powerpoint/2010/main" val="211001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58"/>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SE_Certification_Program_Template-2021">
  <a:themeElements>
    <a:clrScheme name="Fortinet-2021">
      <a:dk1>
        <a:srgbClr val="000000"/>
      </a:dk1>
      <a:lt1>
        <a:srgbClr val="FFFFFF"/>
      </a:lt1>
      <a:dk2>
        <a:srgbClr val="B3B3B3"/>
      </a:dk2>
      <a:lt2>
        <a:srgbClr val="E6E6E6"/>
      </a:lt2>
      <a:accent1>
        <a:srgbClr val="48D597"/>
      </a:accent1>
      <a:accent2>
        <a:srgbClr val="2CCCD3"/>
      </a:accent2>
      <a:accent3>
        <a:srgbClr val="307FE2"/>
      </a:accent3>
      <a:accent4>
        <a:srgbClr val="9063CD"/>
      </a:accent4>
      <a:accent5>
        <a:srgbClr val="A2B2C8"/>
      </a:accent5>
      <a:accent6>
        <a:srgbClr val="DA281C"/>
      </a:accent6>
      <a:hlink>
        <a:srgbClr val="0081E9"/>
      </a:hlink>
      <a:folHlink>
        <a:srgbClr val="307F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solidFill>
            <a:schemeClr val="accent6"/>
          </a:solidFill>
        </a:ln>
      </a:spPr>
      <a:bodyPr rtlCol="0" anchor="ctr"/>
      <a:lstStyle>
        <a:defPPr algn="ctr">
          <a:lnSpc>
            <a:spcPct val="90000"/>
          </a:lnSpc>
          <a:spcBef>
            <a:spcPts val="300"/>
          </a:spcBef>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defTabSz="457189">
          <a:lnSpc>
            <a:spcPct val="90000"/>
          </a:lnSpc>
          <a:spcBef>
            <a:spcPts val="300"/>
          </a:spcBef>
          <a:defRPr sz="1400" dirty="0" smtClean="0">
            <a:solidFill>
              <a:srgbClr val="000000"/>
            </a:solidFill>
            <a:cs typeface="Arial" panose="020B0604020202020204" pitchFamily="34" charset="0"/>
          </a:defRPr>
        </a:defPPr>
      </a:lstStyle>
    </a:txDef>
  </a:objectDefaults>
  <a:extraClrSchemeLst/>
  <a:extLst>
    <a:ext uri="{05A4C25C-085E-4340-85A3-A5531E510DB2}">
      <thm15:themeFamily xmlns:thm15="http://schemas.microsoft.com/office/thememl/2012/main" name="Presentation5" id="{B400592B-8D21-4166-94CE-701FC4462A4C}" vid="{01281597-3EC3-4121-9707-A57978F4B0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NSE_Certification_Template_2022</Template>
  <TotalTime>48078</TotalTime>
  <Words>5672</Words>
  <Application>Microsoft Office PowerPoint</Application>
  <PresentationFormat>Custom</PresentationFormat>
  <Paragraphs>637</Paragraphs>
  <Slides>42</Slides>
  <Notes>42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5" baseType="lpstr">
      <vt:lpstr>MS PGothic</vt:lpstr>
      <vt:lpstr>MS PGothic</vt:lpstr>
      <vt:lpstr>Arial</vt:lpstr>
      <vt:lpstr>Arial Narrow</vt:lpstr>
      <vt:lpstr>Arial Unicode MS</vt:lpstr>
      <vt:lpstr>Calibri</vt:lpstr>
      <vt:lpstr>Courier New</vt:lpstr>
      <vt:lpstr>Helvetica 55 Roman</vt:lpstr>
      <vt:lpstr>Inter</vt:lpstr>
      <vt:lpstr>Wingdings</vt:lpstr>
      <vt:lpstr>Wingdings 3</vt:lpstr>
      <vt:lpstr>NSE_Certification_Program_Template-2021</vt:lpstr>
      <vt:lpstr>CorelDRAW</vt:lpstr>
      <vt:lpstr>FortiGate Security</vt:lpstr>
      <vt:lpstr>PowerPoint Presentation</vt:lpstr>
      <vt:lpstr>Inspection Modes</vt:lpstr>
      <vt:lpstr>Flow-Based Inspection </vt:lpstr>
      <vt:lpstr>Proxy-Based Inspection</vt:lpstr>
      <vt:lpstr>NGFW Mode</vt:lpstr>
      <vt:lpstr>NGFW Mode—Policy Based</vt:lpstr>
      <vt:lpstr>PowerPoint Presentation</vt:lpstr>
      <vt:lpstr>PowerPoint Presentation</vt:lpstr>
      <vt:lpstr>Web Filtering Basics</vt:lpstr>
      <vt:lpstr>Why Apply Web Filtering?</vt:lpstr>
      <vt:lpstr>When Does Web Filtering Activate?</vt:lpstr>
      <vt:lpstr>Web Filter Profiles—Flow Based</vt:lpstr>
      <vt:lpstr>Web Filter Profiles—Proxy Based</vt:lpstr>
      <vt:lpstr>FortiGuard Category Filter</vt:lpstr>
      <vt:lpstr>Web Filter FortiGuard Category Action—Warning</vt:lpstr>
      <vt:lpstr>Web Filter FortiGuard Category Action—Authenticate</vt:lpstr>
      <vt:lpstr>Web Rating Override—Configuration</vt:lpstr>
      <vt:lpstr>URL Filtering</vt:lpstr>
      <vt:lpstr>PowerPoint Presentation</vt:lpstr>
      <vt:lpstr>PowerPoint Presentation</vt:lpstr>
      <vt:lpstr>Additional Proxy-Based Web Filtering Features</vt:lpstr>
      <vt:lpstr>Search Engine Filtering</vt:lpstr>
      <vt:lpstr>Web Content Filtering</vt:lpstr>
      <vt:lpstr>Advanced Web Filter Settings </vt:lpstr>
      <vt:lpstr>PowerPoint Presentation</vt:lpstr>
      <vt:lpstr>PowerPoint Presentation</vt:lpstr>
      <vt:lpstr>Video Filtering</vt:lpstr>
      <vt:lpstr>Video Filter Profile</vt:lpstr>
      <vt:lpstr>Video Filter Profile—FortiGuard Categories </vt:lpstr>
      <vt:lpstr>Video Filter Profile—YouTube</vt:lpstr>
      <vt:lpstr>PowerPoint Presentation</vt:lpstr>
      <vt:lpstr>PowerPoint Presentation</vt:lpstr>
      <vt:lpstr>Best Practices and Troubleshooting</vt:lpstr>
      <vt:lpstr>HTTP Inspection Order</vt:lpstr>
      <vt:lpstr>Apply the Filters</vt:lpstr>
      <vt:lpstr>FortiGuard Connection</vt:lpstr>
      <vt:lpstr>Web Filter Cache</vt:lpstr>
      <vt:lpstr>Web Filter Log</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2014-12-10T16:50:59Z</cp:lastPrinted>
</cp:coreProperties>
</file>

<file path=docProps/custom.xml><?xml version="1.0" encoding="utf-8"?>
<Properties xmlns="http://schemas.openxmlformats.org/officeDocument/2006/custom-properties" xmlns:vt="http://schemas.openxmlformats.org/officeDocument/2006/docPropsVTypes"/>
</file>