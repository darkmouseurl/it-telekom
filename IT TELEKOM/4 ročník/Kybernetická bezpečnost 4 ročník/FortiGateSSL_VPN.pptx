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tags/tag16.xml" ContentType="application/vnd.openxmlformats-officedocument.presentationml.tags+xml"/>
  <Override PartName="/ppt/notesSlides/notesSlide19.xml" ContentType="application/vnd.openxmlformats-officedocument.presentationml.notesSlide+xml"/>
  <Override PartName="/ppt/tags/tag17.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8.xml" ContentType="application/vnd.openxmlformats-officedocument.presentationml.tags+xml"/>
  <Override PartName="/ppt/notesSlides/notesSlide23.xml" ContentType="application/vnd.openxmlformats-officedocument.presentationml.notesSlide+xml"/>
  <Override PartName="/ppt/tags/tag19.xml" ContentType="application/vnd.openxmlformats-officedocument.presentationml.tags+xml"/>
  <Override PartName="/ppt/notesSlides/notesSlide24.xml" ContentType="application/vnd.openxmlformats-officedocument.presentationml.notesSlide+xml"/>
  <Override PartName="/ppt/tags/tag20.xml" ContentType="application/vnd.openxmlformats-officedocument.presentationml.tags+xml"/>
  <Override PartName="/ppt/notesSlides/notesSlide25.xml" ContentType="application/vnd.openxmlformats-officedocument.presentationml.notesSlide+xml"/>
  <Override PartName="/ppt/tags/tag21.xml" ContentType="application/vnd.openxmlformats-officedocument.presentationml.tags+xml"/>
  <Override PartName="/ppt/notesSlides/notesSlide2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2.xml" ContentType="application/vnd.openxmlformats-officedocument.presentationml.tags+xml"/>
  <Override PartName="/ppt/notesSlides/notesSlide27.xml" ContentType="application/vnd.openxmlformats-officedocument.presentationml.notesSlide+xml"/>
  <Override PartName="/ppt/tags/tag23.xml" ContentType="application/vnd.openxmlformats-officedocument.presentationml.tags+xml"/>
  <Override PartName="/ppt/notesSlides/notesSlide28.xml" ContentType="application/vnd.openxmlformats-officedocument.presentationml.notesSlide+xml"/>
  <Override PartName="/ppt/tags/tag24.xml" ContentType="application/vnd.openxmlformats-officedocument.presentationml.tags+xml"/>
  <Override PartName="/ppt/notesSlides/notesSlide29.xml" ContentType="application/vnd.openxmlformats-officedocument.presentationml.notesSlide+xml"/>
  <Override PartName="/ppt/tags/tag25.xml" ContentType="application/vnd.openxmlformats-officedocument.presentationml.tags+xml"/>
  <Override PartName="/ppt/notesSlides/notesSlide30.xml" ContentType="application/vnd.openxmlformats-officedocument.presentationml.notesSlide+xml"/>
  <Override PartName="/ppt/tags/tag26.xml" ContentType="application/vnd.openxmlformats-officedocument.presentationml.tags+xml"/>
  <Override PartName="/ppt/notesSlides/notesSlide31.xml" ContentType="application/vnd.openxmlformats-officedocument.presentationml.notesSlide+xml"/>
  <Override PartName="/ppt/tags/tag27.xml" ContentType="application/vnd.openxmlformats-officedocument.presentationml.tags+xml"/>
  <Override PartName="/ppt/notesSlides/notesSlide32.xml" ContentType="application/vnd.openxmlformats-officedocument.presentationml.notesSlide+xml"/>
  <Override PartName="/ppt/tags/tag28.xml" ContentType="application/vnd.openxmlformats-officedocument.presentationml.tags+xml"/>
  <Override PartName="/ppt/notesSlides/notesSlide33.xml" ContentType="application/vnd.openxmlformats-officedocument.presentationml.notesSlide+xml"/>
  <Override PartName="/ppt/tags/tag29.xml" ContentType="application/vnd.openxmlformats-officedocument.presentationml.tags+xml"/>
  <Override PartName="/ppt/notesSlides/notesSlide34.xml" ContentType="application/vnd.openxmlformats-officedocument.presentationml.notesSlide+xml"/>
  <Override PartName="/ppt/tags/tag30.xml" ContentType="application/vnd.openxmlformats-officedocument.presentationml.tags+xml"/>
  <Override PartName="/ppt/notesSlides/notesSlide35.xml" ContentType="application/vnd.openxmlformats-officedocument.presentationml.notesSlide+xml"/>
  <Override PartName="/ppt/tags/tag31.xml" ContentType="application/vnd.openxmlformats-officedocument.presentationml.tags+xml"/>
  <Override PartName="/ppt/notesSlides/notesSlide3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8" r:id="rId1"/>
  </p:sldMasterIdLst>
  <p:notesMasterIdLst>
    <p:notesMasterId r:id="rId39"/>
  </p:notesMasterIdLst>
  <p:handoutMasterIdLst>
    <p:handoutMasterId r:id="rId40"/>
  </p:handoutMasterIdLst>
  <p:sldIdLst>
    <p:sldId id="405" r:id="rId2"/>
    <p:sldId id="323" r:id="rId3"/>
    <p:sldId id="333" r:id="rId4"/>
    <p:sldId id="407" r:id="rId5"/>
    <p:sldId id="266" r:id="rId6"/>
    <p:sldId id="337" r:id="rId7"/>
    <p:sldId id="338" r:id="rId8"/>
    <p:sldId id="335" r:id="rId9"/>
    <p:sldId id="410" r:id="rId10"/>
    <p:sldId id="411" r:id="rId11"/>
    <p:sldId id="336" r:id="rId12"/>
    <p:sldId id="340" r:id="rId13"/>
    <p:sldId id="350" r:id="rId14"/>
    <p:sldId id="341" r:id="rId15"/>
    <p:sldId id="339" r:id="rId16"/>
    <p:sldId id="343" r:id="rId17"/>
    <p:sldId id="345" r:id="rId18"/>
    <p:sldId id="346" r:id="rId19"/>
    <p:sldId id="347" r:id="rId20"/>
    <p:sldId id="348" r:id="rId21"/>
    <p:sldId id="412" r:id="rId22"/>
    <p:sldId id="452" r:id="rId23"/>
    <p:sldId id="453" r:id="rId24"/>
    <p:sldId id="454" r:id="rId25"/>
    <p:sldId id="352" r:id="rId26"/>
    <p:sldId id="395" r:id="rId27"/>
    <p:sldId id="367" r:id="rId28"/>
    <p:sldId id="368" r:id="rId29"/>
    <p:sldId id="392" r:id="rId30"/>
    <p:sldId id="369" r:id="rId31"/>
    <p:sldId id="385" r:id="rId32"/>
    <p:sldId id="373" r:id="rId33"/>
    <p:sldId id="374" r:id="rId34"/>
    <p:sldId id="401" r:id="rId35"/>
    <p:sldId id="370" r:id="rId36"/>
    <p:sldId id="398" r:id="rId37"/>
    <p:sldId id="403" r:id="rId38"/>
  </p:sldIdLst>
  <p:sldSz cx="12188825" cy="6858000"/>
  <p:notesSz cx="7315200" cy="96012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6" userDrawn="1">
          <p15:clr>
            <a:srgbClr val="A4A3A4"/>
          </p15:clr>
        </p15:guide>
        <p15:guide id="2" pos="2880" userDrawn="1">
          <p15:clr>
            <a:srgbClr val="A4A3A4"/>
          </p15:clr>
        </p15:guide>
        <p15:guide id="3" orient="horz" pos="4189">
          <p15:clr>
            <a:srgbClr val="A4A3A4"/>
          </p15:clr>
        </p15:guide>
        <p15:guide id="4" orient="horz" pos="622">
          <p15:clr>
            <a:srgbClr val="A4A3A4"/>
          </p15:clr>
        </p15:guide>
        <p15:guide id="5" orient="horz" pos="979">
          <p15:clr>
            <a:srgbClr val="A4A3A4"/>
          </p15:clr>
        </p15:guide>
        <p15:guide id="6" pos="3839">
          <p15:clr>
            <a:srgbClr val="A4A3A4"/>
          </p15:clr>
        </p15:guide>
        <p15:guide id="7" orient="horz" pos="4319">
          <p15:clr>
            <a:srgbClr val="A4A3A4"/>
          </p15:clr>
        </p15:guide>
        <p15:guide id="8" orient="horz" pos="2756">
          <p15:clr>
            <a:srgbClr val="A4A3A4"/>
          </p15:clr>
        </p15:guide>
        <p15:guide id="9" orient="horz" pos="25">
          <p15:clr>
            <a:srgbClr val="A4A3A4"/>
          </p15:clr>
        </p15:guide>
        <p15:guide id="10" orient="horz" pos="1584">
          <p15:clr>
            <a:srgbClr val="A4A3A4"/>
          </p15:clr>
        </p15:guide>
        <p15:guide id="11" pos="1705">
          <p15:clr>
            <a:srgbClr val="A4A3A4"/>
          </p15:clr>
        </p15:guide>
        <p15:guide id="12" pos="573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crosoft" initials="M" lastIdx="29" clrIdx="0"/>
  <p:cmAuthor id="1" name="gromero" initials="g" lastIdx="5" clrIdx="1"/>
  <p:cmAuthor id="2" name="Khurram Abdullah" initials="KA" lastIdx="15" clrIdx="2"/>
  <p:cmAuthor id="3" name="Robyn Kinnaird" initials="RK" lastIdx="1" clrIdx="3"/>
  <p:cmAuthor id="4" name="Lori Brown" initials="LB" lastIdx="1" clrIdx="4"/>
  <p:cmAuthor id="6" name="Hitesh Jhagra" initials="HJ" lastIdx="4" clrIdx="5">
    <p:extLst>
      <p:ext uri="{19B8F6BF-5375-455C-9EA6-DF929625EA0E}">
        <p15:presenceInfo xmlns:p15="http://schemas.microsoft.com/office/powerpoint/2012/main" userId="S-1-5-21-1960408961-1383384898-1957994488-107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C291E"/>
    <a:srgbClr val="E8EAEE"/>
    <a:srgbClr val="CCD2DB"/>
    <a:srgbClr val="AD4C22"/>
    <a:srgbClr val="173D64"/>
    <a:srgbClr val="0A0A0A"/>
    <a:srgbClr val="BFBFBF"/>
    <a:srgbClr val="DADADA"/>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73302" autoAdjust="0"/>
  </p:normalViewPr>
  <p:slideViewPr>
    <p:cSldViewPr snapToGrid="0">
      <p:cViewPr varScale="1">
        <p:scale>
          <a:sx n="79" d="100"/>
          <a:sy n="79" d="100"/>
        </p:scale>
        <p:origin x="1650" y="78"/>
      </p:cViewPr>
      <p:guideLst>
        <p:guide orient="horz" pos="1596"/>
        <p:guide pos="2880"/>
        <p:guide orient="horz" pos="4189"/>
        <p:guide orient="horz" pos="622"/>
        <p:guide orient="horz" pos="979"/>
        <p:guide pos="3839"/>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79" d="100"/>
          <a:sy n="79" d="100"/>
        </p:scale>
        <p:origin x="3828" y="9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5E715238-0243-4B0E-84F0-3572BED2843B}">
      <dgm:prSet phldrT="[Text]"/>
      <dgm:spPr/>
      <dgm:t>
        <a:bodyPr/>
        <a:lstStyle/>
        <a:p>
          <a:r>
            <a:rPr lang="en-US" dirty="0" smtClean="0"/>
            <a:t>SSL VPN </a:t>
          </a:r>
          <a:r>
            <a:rPr lang="en-US" dirty="0"/>
            <a:t>Deployment Modes</a:t>
          </a:r>
          <a:endParaRPr lang="en-CA" dirty="0"/>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US" dirty="0"/>
            <a:t>Configuring </a:t>
          </a:r>
          <a:r>
            <a:rPr lang="en-US" dirty="0" smtClean="0"/>
            <a:t>SSL VPNs</a:t>
          </a:r>
          <a:endParaRPr lang="en-CA" dirty="0"/>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772D7AB7-55DA-4F51-995A-2965EDEC46AC}">
      <dgm:prSet phldrT="[Text]"/>
      <dgm:spPr/>
      <dgm:t>
        <a:bodyPr/>
        <a:lstStyle/>
        <a:p>
          <a:r>
            <a:rPr lang="en-CA" dirty="0"/>
            <a:t>Monitoring and Troubleshooting</a:t>
          </a:r>
        </a:p>
      </dgm:t>
    </dgm:pt>
    <dgm:pt modelId="{F932C882-E9BD-4A65-A090-23E1FAB4CAF8}" type="parTrans" cxnId="{B1C4EF93-712E-4BE0-9FEC-72EF26575303}">
      <dgm:prSet/>
      <dgm:spPr/>
      <dgm:t>
        <a:bodyPr/>
        <a:lstStyle/>
        <a:p>
          <a:endParaRPr lang="en-US"/>
        </a:p>
      </dgm:t>
    </dgm:pt>
    <dgm:pt modelId="{6372C4BA-3680-4FF9-B444-40D905FF5529}" type="sibTrans" cxnId="{B1C4EF93-712E-4BE0-9FEC-72EF26575303}">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3"/>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3"/>
      <dgm:spPr/>
    </dgm:pt>
    <dgm:pt modelId="{BC70810A-B28C-4236-8A87-6A2163164CC9}" type="pres">
      <dgm:prSet presAssocID="{D043F5CB-BC5D-4A11-AB32-2960081BEC2E}" presName="dstNode" presStyleLbl="node1" presStyleIdx="0" presStyleCnt="3"/>
      <dgm:spPr/>
    </dgm:pt>
    <dgm:pt modelId="{A709A1B6-B742-48E6-9F20-4F848A412A70}" type="pres">
      <dgm:prSet presAssocID="{5E715238-0243-4B0E-84F0-3572BED2843B}" presName="text_1" presStyleLbl="node1" presStyleIdx="0" presStyleCnt="3">
        <dgm:presLayoutVars>
          <dgm:bulletEnabled val="1"/>
        </dgm:presLayoutVars>
      </dgm:prSet>
      <dgm:spPr/>
      <dgm:t>
        <a:bodyPr/>
        <a:lstStyle/>
        <a:p>
          <a:endParaRPr lang="en-US"/>
        </a:p>
      </dgm:t>
    </dgm:pt>
    <dgm:pt modelId="{59902889-C391-42D2-88E1-942BA1E9EB90}" type="pres">
      <dgm:prSet presAssocID="{5E715238-0243-4B0E-84F0-3572BED2843B}" presName="accent_1" presStyleCnt="0"/>
      <dgm:spPr/>
    </dgm:pt>
    <dgm:pt modelId="{4878E8A0-0F62-483E-9C85-41A7D184C6F2}" type="pres">
      <dgm:prSet presAssocID="{5E715238-0243-4B0E-84F0-3572BED2843B}" presName="accentRepeatNode" presStyleLbl="solidFgAcc1" presStyleIdx="0" presStyleCnt="3"/>
      <dgm:spPr/>
    </dgm:pt>
    <dgm:pt modelId="{B4889903-D46E-4C0A-920A-090F08FE3059}" type="pres">
      <dgm:prSet presAssocID="{310E8F2C-89DE-4BA5-97DA-F646BC52F749}" presName="text_2" presStyleLbl="node1" presStyleIdx="1" presStyleCnt="3">
        <dgm:presLayoutVars>
          <dgm:bulletEnabled val="1"/>
        </dgm:presLayoutVars>
      </dgm:prSet>
      <dgm:spPr/>
      <dgm:t>
        <a:bodyPr/>
        <a:lstStyle/>
        <a:p>
          <a:endParaRPr lang="en-US"/>
        </a:p>
      </dgm:t>
    </dgm:pt>
    <dgm:pt modelId="{92B5636F-3517-43C9-B00D-BBD0E84A7717}" type="pres">
      <dgm:prSet presAssocID="{310E8F2C-89DE-4BA5-97DA-F646BC52F749}" presName="accent_2" presStyleCnt="0"/>
      <dgm:spPr/>
    </dgm:pt>
    <dgm:pt modelId="{0B3E8BE0-A7F0-4C2D-9FEB-4C59B0782F15}" type="pres">
      <dgm:prSet presAssocID="{310E8F2C-89DE-4BA5-97DA-F646BC52F749}" presName="accentRepeatNode" presStyleLbl="solidFgAcc1" presStyleIdx="1" presStyleCnt="3"/>
      <dgm:spPr/>
    </dgm:pt>
    <dgm:pt modelId="{FED067EF-7629-4901-B500-CB2CD0476DC3}" type="pres">
      <dgm:prSet presAssocID="{772D7AB7-55DA-4F51-995A-2965EDEC46AC}" presName="text_3" presStyleLbl="node1" presStyleIdx="2" presStyleCnt="3">
        <dgm:presLayoutVars>
          <dgm:bulletEnabled val="1"/>
        </dgm:presLayoutVars>
      </dgm:prSet>
      <dgm:spPr/>
      <dgm:t>
        <a:bodyPr/>
        <a:lstStyle/>
        <a:p>
          <a:endParaRPr lang="en-US"/>
        </a:p>
      </dgm:t>
    </dgm:pt>
    <dgm:pt modelId="{52E3A54D-37CD-468C-A4C2-7C92D63EA563}" type="pres">
      <dgm:prSet presAssocID="{772D7AB7-55DA-4F51-995A-2965EDEC46AC}" presName="accent_3" presStyleCnt="0"/>
      <dgm:spPr/>
    </dgm:pt>
    <dgm:pt modelId="{86A81EF1-5E1B-490A-9B51-310287323AC6}" type="pres">
      <dgm:prSet presAssocID="{772D7AB7-55DA-4F51-995A-2965EDEC46AC}" presName="accentRepeatNode" presStyleLbl="solidFgAcc1" presStyleIdx="2" presStyleCnt="3"/>
      <dgm:spPr/>
    </dgm:pt>
  </dgm:ptLst>
  <dgm:cxnLst>
    <dgm:cxn modelId="{757353C8-1424-48CD-B430-A237C02C9D98}" type="presOf" srcId="{310E8F2C-89DE-4BA5-97DA-F646BC52F749}" destId="{B4889903-D46E-4C0A-920A-090F08FE3059}" srcOrd="0" destOrd="0" presId="urn:microsoft.com/office/officeart/2008/layout/VerticalCurvedList"/>
    <dgm:cxn modelId="{B1C4EF93-712E-4BE0-9FEC-72EF26575303}" srcId="{D043F5CB-BC5D-4A11-AB32-2960081BEC2E}" destId="{772D7AB7-55DA-4F51-995A-2965EDEC46AC}" srcOrd="2" destOrd="0" parTransId="{F932C882-E9BD-4A65-A090-23E1FAB4CAF8}" sibTransId="{6372C4BA-3680-4FF9-B444-40D905FF5529}"/>
    <dgm:cxn modelId="{873FB72E-8684-4E1F-A702-6347BB0BAFE6}" srcId="{D043F5CB-BC5D-4A11-AB32-2960081BEC2E}" destId="{310E8F2C-89DE-4BA5-97DA-F646BC52F749}" srcOrd="1" destOrd="0" parTransId="{CE5653AB-9867-430F-83A4-4D43B9255EAA}" sibTransId="{AB853960-23F8-4467-9195-EBC196F92A59}"/>
    <dgm:cxn modelId="{E8D01673-676A-40B0-9FBE-64AB23D57369}" type="presOf" srcId="{5E715238-0243-4B0E-84F0-3572BED2843B}" destId="{A709A1B6-B742-48E6-9F20-4F848A412A70}" srcOrd="0" destOrd="0" presId="urn:microsoft.com/office/officeart/2008/layout/VerticalCurvedList"/>
    <dgm:cxn modelId="{933FC1C8-14D2-45E6-9D75-DFEE73C4AF3D}" srcId="{D043F5CB-BC5D-4A11-AB32-2960081BEC2E}" destId="{5E715238-0243-4B0E-84F0-3572BED2843B}" srcOrd="0" destOrd="0" parTransId="{37C7220A-1F26-46EF-B19E-0F6F41572631}" sibTransId="{18820F0F-724D-4DC1-9209-8C14E64BDBE5}"/>
    <dgm:cxn modelId="{97B94B1B-B3B6-4A3E-B94B-CD7F9F3481A9}" type="presOf" srcId="{D043F5CB-BC5D-4A11-AB32-2960081BEC2E}" destId="{3FB16CE5-CAA2-4957-8C7B-4DB8F06B5FE6}" srcOrd="0" destOrd="0" presId="urn:microsoft.com/office/officeart/2008/layout/VerticalCurvedList"/>
    <dgm:cxn modelId="{303FAC2D-B41D-4C2B-A49A-1E631C505EAB}" type="presOf" srcId="{772D7AB7-55DA-4F51-995A-2965EDEC46AC}" destId="{FED067EF-7629-4901-B500-CB2CD0476DC3}" srcOrd="0" destOrd="0" presId="urn:microsoft.com/office/officeart/2008/layout/VerticalCurvedList"/>
    <dgm:cxn modelId="{39228515-F4F6-4965-9FAD-FB2A4399DA2C}" type="presOf" srcId="{18820F0F-724D-4DC1-9209-8C14E64BDBE5}" destId="{D593A696-9230-4ACA-9D52-83E05F9F38F7}" srcOrd="0" destOrd="0" presId="urn:microsoft.com/office/officeart/2008/layout/VerticalCurvedList"/>
    <dgm:cxn modelId="{3E36745C-3362-4D98-9EC3-11B971521220}" type="presParOf" srcId="{3FB16CE5-CAA2-4957-8C7B-4DB8F06B5FE6}" destId="{741DC565-FE42-4ACF-8359-44981FFC1B12}" srcOrd="0" destOrd="0" presId="urn:microsoft.com/office/officeart/2008/layout/VerticalCurvedList"/>
    <dgm:cxn modelId="{C88CCC78-8C68-4B7A-887E-6562F47C8AC4}" type="presParOf" srcId="{741DC565-FE42-4ACF-8359-44981FFC1B12}" destId="{006628EE-2672-4E73-AF80-C2FA6DA0F245}" srcOrd="0" destOrd="0" presId="urn:microsoft.com/office/officeart/2008/layout/VerticalCurvedList"/>
    <dgm:cxn modelId="{0659AA66-67C9-4E67-B373-6B65BF53E440}" type="presParOf" srcId="{006628EE-2672-4E73-AF80-C2FA6DA0F245}" destId="{83CBCA6B-4523-45AB-8C5C-5DCAC4D94B22}" srcOrd="0" destOrd="0" presId="urn:microsoft.com/office/officeart/2008/layout/VerticalCurvedList"/>
    <dgm:cxn modelId="{C797136F-DE45-417A-9339-9B3773B9E164}" type="presParOf" srcId="{006628EE-2672-4E73-AF80-C2FA6DA0F245}" destId="{D593A696-9230-4ACA-9D52-83E05F9F38F7}" srcOrd="1" destOrd="0" presId="urn:microsoft.com/office/officeart/2008/layout/VerticalCurvedList"/>
    <dgm:cxn modelId="{8C083F9E-1021-4C31-89B6-C7813E662CD4}" type="presParOf" srcId="{006628EE-2672-4E73-AF80-C2FA6DA0F245}" destId="{2CD41FF4-48CE-42E3-8206-C4D806851A54}" srcOrd="2" destOrd="0" presId="urn:microsoft.com/office/officeart/2008/layout/VerticalCurvedList"/>
    <dgm:cxn modelId="{26ED9EA9-9F11-4D3F-B913-C9DBA9632D66}" type="presParOf" srcId="{006628EE-2672-4E73-AF80-C2FA6DA0F245}" destId="{BC70810A-B28C-4236-8A87-6A2163164CC9}" srcOrd="3" destOrd="0" presId="urn:microsoft.com/office/officeart/2008/layout/VerticalCurvedList"/>
    <dgm:cxn modelId="{C06BEA77-7672-428E-A44E-9182234E785E}" type="presParOf" srcId="{741DC565-FE42-4ACF-8359-44981FFC1B12}" destId="{A709A1B6-B742-48E6-9F20-4F848A412A70}" srcOrd="1" destOrd="0" presId="urn:microsoft.com/office/officeart/2008/layout/VerticalCurvedList"/>
    <dgm:cxn modelId="{6742CAF0-A638-4FA0-8558-1D941CBAB607}" type="presParOf" srcId="{741DC565-FE42-4ACF-8359-44981FFC1B12}" destId="{59902889-C391-42D2-88E1-942BA1E9EB90}" srcOrd="2" destOrd="0" presId="urn:microsoft.com/office/officeart/2008/layout/VerticalCurvedList"/>
    <dgm:cxn modelId="{34C53146-66B4-4022-BD52-3D4DBD955470}" type="presParOf" srcId="{59902889-C391-42D2-88E1-942BA1E9EB90}" destId="{4878E8A0-0F62-483E-9C85-41A7D184C6F2}" srcOrd="0" destOrd="0" presId="urn:microsoft.com/office/officeart/2008/layout/VerticalCurvedList"/>
    <dgm:cxn modelId="{6A1646A5-E56E-4180-B7AE-E61B052EECFD}" type="presParOf" srcId="{741DC565-FE42-4ACF-8359-44981FFC1B12}" destId="{B4889903-D46E-4C0A-920A-090F08FE3059}" srcOrd="3" destOrd="0" presId="urn:microsoft.com/office/officeart/2008/layout/VerticalCurvedList"/>
    <dgm:cxn modelId="{AE16727D-A26F-4C31-B5CB-E04FC68EDFB3}" type="presParOf" srcId="{741DC565-FE42-4ACF-8359-44981FFC1B12}" destId="{92B5636F-3517-43C9-B00D-BBD0E84A7717}" srcOrd="4" destOrd="0" presId="urn:microsoft.com/office/officeart/2008/layout/VerticalCurvedList"/>
    <dgm:cxn modelId="{CE471289-E695-4DE9-A1DF-45D8FE11282E}" type="presParOf" srcId="{92B5636F-3517-43C9-B00D-BBD0E84A7717}" destId="{0B3E8BE0-A7F0-4C2D-9FEB-4C59B0782F15}" srcOrd="0" destOrd="0" presId="urn:microsoft.com/office/officeart/2008/layout/VerticalCurvedList"/>
    <dgm:cxn modelId="{FE1153C8-EDE8-42D7-A6AD-33D0CE5FF046}" type="presParOf" srcId="{741DC565-FE42-4ACF-8359-44981FFC1B12}" destId="{FED067EF-7629-4901-B500-CB2CD0476DC3}" srcOrd="5" destOrd="0" presId="urn:microsoft.com/office/officeart/2008/layout/VerticalCurvedList"/>
    <dgm:cxn modelId="{4E25E0FB-F9AF-4797-9ADD-7F0648D1D603}" type="presParOf" srcId="{741DC565-FE42-4ACF-8359-44981FFC1B12}" destId="{52E3A54D-37CD-468C-A4C2-7C92D63EA563}" srcOrd="6" destOrd="0" presId="urn:microsoft.com/office/officeart/2008/layout/VerticalCurvedList"/>
    <dgm:cxn modelId="{591C4D6C-99CF-4624-883B-FF9A278D4315}" type="presParOf" srcId="{52E3A54D-37CD-468C-A4C2-7C92D63EA563}" destId="{86A81EF1-5E1B-490A-9B51-310287323AC6}"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5E715238-0243-4B0E-84F0-3572BED2843B}">
      <dgm:prSet phldrT="[Text]"/>
      <dgm:spPr/>
      <dgm:t>
        <a:bodyPr/>
        <a:lstStyle/>
        <a:p>
          <a:r>
            <a:rPr lang="en-US" dirty="0" smtClean="0"/>
            <a:t>SSL VPN </a:t>
          </a:r>
          <a:r>
            <a:rPr lang="en-US" dirty="0"/>
            <a:t>Deployment Modes</a:t>
          </a:r>
          <a:endParaRPr lang="en-CA" dirty="0"/>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US" dirty="0"/>
            <a:t>Configuring </a:t>
          </a:r>
          <a:r>
            <a:rPr lang="en-US" dirty="0" smtClean="0"/>
            <a:t>SSL VPNs</a:t>
          </a:r>
          <a:endParaRPr lang="en-CA" dirty="0"/>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772D7AB7-55DA-4F51-995A-2965EDEC46AC}">
      <dgm:prSet phldrT="[Text]"/>
      <dgm:spPr/>
      <dgm:t>
        <a:bodyPr/>
        <a:lstStyle/>
        <a:p>
          <a:r>
            <a:rPr lang="en-CA" dirty="0"/>
            <a:t>Monitoring and Troubleshooting</a:t>
          </a:r>
        </a:p>
      </dgm:t>
    </dgm:pt>
    <dgm:pt modelId="{F932C882-E9BD-4A65-A090-23E1FAB4CAF8}" type="parTrans" cxnId="{B1C4EF93-712E-4BE0-9FEC-72EF26575303}">
      <dgm:prSet/>
      <dgm:spPr/>
      <dgm:t>
        <a:bodyPr/>
        <a:lstStyle/>
        <a:p>
          <a:endParaRPr lang="en-US"/>
        </a:p>
      </dgm:t>
    </dgm:pt>
    <dgm:pt modelId="{6372C4BA-3680-4FF9-B444-40D905FF5529}" type="sibTrans" cxnId="{B1C4EF93-712E-4BE0-9FEC-72EF26575303}">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3"/>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3"/>
      <dgm:spPr/>
    </dgm:pt>
    <dgm:pt modelId="{BC70810A-B28C-4236-8A87-6A2163164CC9}" type="pres">
      <dgm:prSet presAssocID="{D043F5CB-BC5D-4A11-AB32-2960081BEC2E}" presName="dstNode" presStyleLbl="node1" presStyleIdx="0" presStyleCnt="3"/>
      <dgm:spPr/>
    </dgm:pt>
    <dgm:pt modelId="{D72DF528-32E9-47AE-9DFE-58916E49FCE2}" type="pres">
      <dgm:prSet presAssocID="{5E715238-0243-4B0E-84F0-3572BED2843B}" presName="text_1" presStyleLbl="node1" presStyleIdx="0" presStyleCnt="3">
        <dgm:presLayoutVars>
          <dgm:bulletEnabled val="1"/>
        </dgm:presLayoutVars>
      </dgm:prSet>
      <dgm:spPr/>
      <dgm:t>
        <a:bodyPr/>
        <a:lstStyle/>
        <a:p>
          <a:endParaRPr lang="en-US"/>
        </a:p>
      </dgm:t>
    </dgm:pt>
    <dgm:pt modelId="{52BC8977-D03A-494F-AD10-5C284D7FBCE6}" type="pres">
      <dgm:prSet presAssocID="{5E715238-0243-4B0E-84F0-3572BED2843B}" presName="accent_1" presStyleCnt="0"/>
      <dgm:spPr/>
    </dgm:pt>
    <dgm:pt modelId="{4878E8A0-0F62-483E-9C85-41A7D184C6F2}" type="pres">
      <dgm:prSet presAssocID="{5E715238-0243-4B0E-84F0-3572BED2843B}" presName="accentRepeatNode" presStyleLbl="solidFgAcc1" presStyleIdx="0" presStyleCnt="3"/>
      <dgm:spPr/>
    </dgm:pt>
    <dgm:pt modelId="{CD209A83-EE31-4D66-95FC-E75F06FFFCCA}" type="pres">
      <dgm:prSet presAssocID="{310E8F2C-89DE-4BA5-97DA-F646BC52F749}" presName="text_2" presStyleLbl="node1" presStyleIdx="1" presStyleCnt="3">
        <dgm:presLayoutVars>
          <dgm:bulletEnabled val="1"/>
        </dgm:presLayoutVars>
      </dgm:prSet>
      <dgm:spPr/>
      <dgm:t>
        <a:bodyPr/>
        <a:lstStyle/>
        <a:p>
          <a:endParaRPr lang="en-US"/>
        </a:p>
      </dgm:t>
    </dgm:pt>
    <dgm:pt modelId="{EDA3C398-76CB-4244-8689-FA2F5AE661CD}" type="pres">
      <dgm:prSet presAssocID="{310E8F2C-89DE-4BA5-97DA-F646BC52F749}" presName="accent_2" presStyleCnt="0"/>
      <dgm:spPr/>
    </dgm:pt>
    <dgm:pt modelId="{0B3E8BE0-A7F0-4C2D-9FEB-4C59B0782F15}" type="pres">
      <dgm:prSet presAssocID="{310E8F2C-89DE-4BA5-97DA-F646BC52F749}" presName="accentRepeatNode" presStyleLbl="solidFgAcc1" presStyleIdx="1" presStyleCnt="3"/>
      <dgm:spPr/>
    </dgm:pt>
    <dgm:pt modelId="{0B1C927B-E370-43F7-925C-E739DD54F434}" type="pres">
      <dgm:prSet presAssocID="{772D7AB7-55DA-4F51-995A-2965EDEC46AC}" presName="text_3" presStyleLbl="node1" presStyleIdx="2" presStyleCnt="3">
        <dgm:presLayoutVars>
          <dgm:bulletEnabled val="1"/>
        </dgm:presLayoutVars>
      </dgm:prSet>
      <dgm:spPr/>
      <dgm:t>
        <a:bodyPr/>
        <a:lstStyle/>
        <a:p>
          <a:endParaRPr lang="en-US"/>
        </a:p>
      </dgm:t>
    </dgm:pt>
    <dgm:pt modelId="{D55023F8-2BEE-4479-90CA-26C877D340E3}" type="pres">
      <dgm:prSet presAssocID="{772D7AB7-55DA-4F51-995A-2965EDEC46AC}" presName="accent_3" presStyleCnt="0"/>
      <dgm:spPr/>
    </dgm:pt>
    <dgm:pt modelId="{86A81EF1-5E1B-490A-9B51-310287323AC6}" type="pres">
      <dgm:prSet presAssocID="{772D7AB7-55DA-4F51-995A-2965EDEC46AC}" presName="accentRepeatNode" presStyleLbl="solidFgAcc1" presStyleIdx="2" presStyleCnt="3"/>
      <dgm:spPr/>
    </dgm:pt>
  </dgm:ptLst>
  <dgm:cxnLst>
    <dgm:cxn modelId="{933FC1C8-14D2-45E6-9D75-DFEE73C4AF3D}" srcId="{D043F5CB-BC5D-4A11-AB32-2960081BEC2E}" destId="{5E715238-0243-4B0E-84F0-3572BED2843B}" srcOrd="0" destOrd="0" parTransId="{37C7220A-1F26-46EF-B19E-0F6F41572631}" sibTransId="{18820F0F-724D-4DC1-9209-8C14E64BDBE5}"/>
    <dgm:cxn modelId="{74AECD33-4C0B-4200-8230-39172AC9E1A7}" type="presOf" srcId="{18820F0F-724D-4DC1-9209-8C14E64BDBE5}" destId="{D593A696-9230-4ACA-9D52-83E05F9F38F7}" srcOrd="0" destOrd="0" presId="urn:microsoft.com/office/officeart/2008/layout/VerticalCurvedList"/>
    <dgm:cxn modelId="{873FB72E-8684-4E1F-A702-6347BB0BAFE6}" srcId="{D043F5CB-BC5D-4A11-AB32-2960081BEC2E}" destId="{310E8F2C-89DE-4BA5-97DA-F646BC52F749}" srcOrd="1" destOrd="0" parTransId="{CE5653AB-9867-430F-83A4-4D43B9255EAA}" sibTransId="{AB853960-23F8-4467-9195-EBC196F92A59}"/>
    <dgm:cxn modelId="{C64C471C-D531-4690-9A9F-B06BB04EABEB}" type="presOf" srcId="{D043F5CB-BC5D-4A11-AB32-2960081BEC2E}" destId="{3FB16CE5-CAA2-4957-8C7B-4DB8F06B5FE6}" srcOrd="0" destOrd="0" presId="urn:microsoft.com/office/officeart/2008/layout/VerticalCurvedList"/>
    <dgm:cxn modelId="{B1C4EF93-712E-4BE0-9FEC-72EF26575303}" srcId="{D043F5CB-BC5D-4A11-AB32-2960081BEC2E}" destId="{772D7AB7-55DA-4F51-995A-2965EDEC46AC}" srcOrd="2" destOrd="0" parTransId="{F932C882-E9BD-4A65-A090-23E1FAB4CAF8}" sibTransId="{6372C4BA-3680-4FF9-B444-40D905FF5529}"/>
    <dgm:cxn modelId="{D4EB568A-3C09-417D-86BD-F9FDE3E2DFBC}" type="presOf" srcId="{5E715238-0243-4B0E-84F0-3572BED2843B}" destId="{D72DF528-32E9-47AE-9DFE-58916E49FCE2}" srcOrd="0" destOrd="0" presId="urn:microsoft.com/office/officeart/2008/layout/VerticalCurvedList"/>
    <dgm:cxn modelId="{4E1BAC1D-F800-49EC-9817-FFF4075BBC6F}" type="presOf" srcId="{310E8F2C-89DE-4BA5-97DA-F646BC52F749}" destId="{CD209A83-EE31-4D66-95FC-E75F06FFFCCA}" srcOrd="0" destOrd="0" presId="urn:microsoft.com/office/officeart/2008/layout/VerticalCurvedList"/>
    <dgm:cxn modelId="{FB32CCBE-6310-4AF4-B78B-7146986130F6}" type="presOf" srcId="{772D7AB7-55DA-4F51-995A-2965EDEC46AC}" destId="{0B1C927B-E370-43F7-925C-E739DD54F434}" srcOrd="0" destOrd="0" presId="urn:microsoft.com/office/officeart/2008/layout/VerticalCurvedList"/>
    <dgm:cxn modelId="{9F481C83-4A83-4F2B-AB4C-EC4DC5E71720}" type="presParOf" srcId="{3FB16CE5-CAA2-4957-8C7B-4DB8F06B5FE6}" destId="{741DC565-FE42-4ACF-8359-44981FFC1B12}" srcOrd="0" destOrd="0" presId="urn:microsoft.com/office/officeart/2008/layout/VerticalCurvedList"/>
    <dgm:cxn modelId="{B509F3BE-AAA7-4805-A91D-4832C1907E00}" type="presParOf" srcId="{741DC565-FE42-4ACF-8359-44981FFC1B12}" destId="{006628EE-2672-4E73-AF80-C2FA6DA0F245}" srcOrd="0" destOrd="0" presId="urn:microsoft.com/office/officeart/2008/layout/VerticalCurvedList"/>
    <dgm:cxn modelId="{466E0A5F-29B9-417D-9C8A-38ABF3460D6A}" type="presParOf" srcId="{006628EE-2672-4E73-AF80-C2FA6DA0F245}" destId="{83CBCA6B-4523-45AB-8C5C-5DCAC4D94B22}" srcOrd="0" destOrd="0" presId="urn:microsoft.com/office/officeart/2008/layout/VerticalCurvedList"/>
    <dgm:cxn modelId="{011556F3-A8BA-429B-AC02-439F642D6789}" type="presParOf" srcId="{006628EE-2672-4E73-AF80-C2FA6DA0F245}" destId="{D593A696-9230-4ACA-9D52-83E05F9F38F7}" srcOrd="1" destOrd="0" presId="urn:microsoft.com/office/officeart/2008/layout/VerticalCurvedList"/>
    <dgm:cxn modelId="{C8F4CE30-0353-4387-9321-47A85DE0B795}" type="presParOf" srcId="{006628EE-2672-4E73-AF80-C2FA6DA0F245}" destId="{2CD41FF4-48CE-42E3-8206-C4D806851A54}" srcOrd="2" destOrd="0" presId="urn:microsoft.com/office/officeart/2008/layout/VerticalCurvedList"/>
    <dgm:cxn modelId="{ACE44F78-2EF4-4B22-9F1C-A2FE0F02F555}" type="presParOf" srcId="{006628EE-2672-4E73-AF80-C2FA6DA0F245}" destId="{BC70810A-B28C-4236-8A87-6A2163164CC9}" srcOrd="3" destOrd="0" presId="urn:microsoft.com/office/officeart/2008/layout/VerticalCurvedList"/>
    <dgm:cxn modelId="{439A9E2A-2187-4C56-8960-2B405A20B3AC}" type="presParOf" srcId="{741DC565-FE42-4ACF-8359-44981FFC1B12}" destId="{D72DF528-32E9-47AE-9DFE-58916E49FCE2}" srcOrd="1" destOrd="0" presId="urn:microsoft.com/office/officeart/2008/layout/VerticalCurvedList"/>
    <dgm:cxn modelId="{6138DD5F-6820-428A-8836-6978F1C12F6A}" type="presParOf" srcId="{741DC565-FE42-4ACF-8359-44981FFC1B12}" destId="{52BC8977-D03A-494F-AD10-5C284D7FBCE6}" srcOrd="2" destOrd="0" presId="urn:microsoft.com/office/officeart/2008/layout/VerticalCurvedList"/>
    <dgm:cxn modelId="{F0EE3478-4094-48F4-ABEB-135B09931425}" type="presParOf" srcId="{52BC8977-D03A-494F-AD10-5C284D7FBCE6}" destId="{4878E8A0-0F62-483E-9C85-41A7D184C6F2}" srcOrd="0" destOrd="0" presId="urn:microsoft.com/office/officeart/2008/layout/VerticalCurvedList"/>
    <dgm:cxn modelId="{1E5DE66E-2EA5-4DE3-879D-39A553EF7DDD}" type="presParOf" srcId="{741DC565-FE42-4ACF-8359-44981FFC1B12}" destId="{CD209A83-EE31-4D66-95FC-E75F06FFFCCA}" srcOrd="3" destOrd="0" presId="urn:microsoft.com/office/officeart/2008/layout/VerticalCurvedList"/>
    <dgm:cxn modelId="{8663644A-4AF4-4130-91B3-2AAB433BD445}" type="presParOf" srcId="{741DC565-FE42-4ACF-8359-44981FFC1B12}" destId="{EDA3C398-76CB-4244-8689-FA2F5AE661CD}" srcOrd="4" destOrd="0" presId="urn:microsoft.com/office/officeart/2008/layout/VerticalCurvedList"/>
    <dgm:cxn modelId="{9594BA26-AA49-4234-8ADF-B117E5806949}" type="presParOf" srcId="{EDA3C398-76CB-4244-8689-FA2F5AE661CD}" destId="{0B3E8BE0-A7F0-4C2D-9FEB-4C59B0782F15}" srcOrd="0" destOrd="0" presId="urn:microsoft.com/office/officeart/2008/layout/VerticalCurvedList"/>
    <dgm:cxn modelId="{23C2AD95-BB5E-4D69-B64B-AD981E76DCF1}" type="presParOf" srcId="{741DC565-FE42-4ACF-8359-44981FFC1B12}" destId="{0B1C927B-E370-43F7-925C-E739DD54F434}" srcOrd="5" destOrd="0" presId="urn:microsoft.com/office/officeart/2008/layout/VerticalCurvedList"/>
    <dgm:cxn modelId="{D93EFE19-D900-4F73-AACE-3E1A1D1FD801}" type="presParOf" srcId="{741DC565-FE42-4ACF-8359-44981FFC1B12}" destId="{D55023F8-2BEE-4479-90CA-26C877D340E3}" srcOrd="6" destOrd="0" presId="urn:microsoft.com/office/officeart/2008/layout/VerticalCurvedList"/>
    <dgm:cxn modelId="{71801E13-1729-4263-96AC-9F45D3AE96FD}" type="presParOf" srcId="{D55023F8-2BEE-4479-90CA-26C877D340E3}" destId="{86A81EF1-5E1B-490A-9B51-310287323AC6}"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5E715238-0243-4B0E-84F0-3572BED2843B}">
      <dgm:prSet phldrT="[Text]"/>
      <dgm:spPr/>
      <dgm:t>
        <a:bodyPr/>
        <a:lstStyle/>
        <a:p>
          <a:r>
            <a:rPr lang="en-US" dirty="0" smtClean="0"/>
            <a:t>SSL VPN </a:t>
          </a:r>
          <a:r>
            <a:rPr lang="en-US" dirty="0"/>
            <a:t>Deployment Modes</a:t>
          </a:r>
          <a:endParaRPr lang="en-CA" dirty="0"/>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US" dirty="0"/>
            <a:t>Configuring </a:t>
          </a:r>
          <a:r>
            <a:rPr lang="en-US" dirty="0" smtClean="0"/>
            <a:t>SSL VPNs</a:t>
          </a:r>
          <a:endParaRPr lang="en-CA" dirty="0"/>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772D7AB7-55DA-4F51-995A-2965EDEC46AC}">
      <dgm:prSet phldrT="[Text]"/>
      <dgm:spPr/>
      <dgm:t>
        <a:bodyPr/>
        <a:lstStyle/>
        <a:p>
          <a:r>
            <a:rPr lang="en-CA" dirty="0"/>
            <a:t>Monitoring and Troubleshooting</a:t>
          </a:r>
        </a:p>
      </dgm:t>
    </dgm:pt>
    <dgm:pt modelId="{F932C882-E9BD-4A65-A090-23E1FAB4CAF8}" type="parTrans" cxnId="{B1C4EF93-712E-4BE0-9FEC-72EF26575303}">
      <dgm:prSet/>
      <dgm:spPr/>
      <dgm:t>
        <a:bodyPr/>
        <a:lstStyle/>
        <a:p>
          <a:endParaRPr lang="en-US"/>
        </a:p>
      </dgm:t>
    </dgm:pt>
    <dgm:pt modelId="{6372C4BA-3680-4FF9-B444-40D905FF5529}" type="sibTrans" cxnId="{B1C4EF93-712E-4BE0-9FEC-72EF26575303}">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3"/>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3"/>
      <dgm:spPr/>
    </dgm:pt>
    <dgm:pt modelId="{BC70810A-B28C-4236-8A87-6A2163164CC9}" type="pres">
      <dgm:prSet presAssocID="{D043F5CB-BC5D-4A11-AB32-2960081BEC2E}" presName="dstNode" presStyleLbl="node1" presStyleIdx="0" presStyleCnt="3"/>
      <dgm:spPr/>
    </dgm:pt>
    <dgm:pt modelId="{212B45FB-6470-466B-A071-5A7D50517E53}" type="pres">
      <dgm:prSet presAssocID="{5E715238-0243-4B0E-84F0-3572BED2843B}" presName="text_1" presStyleLbl="node1" presStyleIdx="0" presStyleCnt="3">
        <dgm:presLayoutVars>
          <dgm:bulletEnabled val="1"/>
        </dgm:presLayoutVars>
      </dgm:prSet>
      <dgm:spPr/>
      <dgm:t>
        <a:bodyPr/>
        <a:lstStyle/>
        <a:p>
          <a:endParaRPr lang="en-US"/>
        </a:p>
      </dgm:t>
    </dgm:pt>
    <dgm:pt modelId="{3F59A1C5-7371-4AFA-A619-6D7D4336B9FB}" type="pres">
      <dgm:prSet presAssocID="{5E715238-0243-4B0E-84F0-3572BED2843B}" presName="accent_1" presStyleCnt="0"/>
      <dgm:spPr/>
    </dgm:pt>
    <dgm:pt modelId="{4878E8A0-0F62-483E-9C85-41A7D184C6F2}" type="pres">
      <dgm:prSet presAssocID="{5E715238-0243-4B0E-84F0-3572BED2843B}" presName="accentRepeatNode" presStyleLbl="solidFgAcc1" presStyleIdx="0" presStyleCnt="3"/>
      <dgm:spPr/>
    </dgm:pt>
    <dgm:pt modelId="{2B01E7A7-E2C7-4EA5-B7B4-EA8399334633}" type="pres">
      <dgm:prSet presAssocID="{310E8F2C-89DE-4BA5-97DA-F646BC52F749}" presName="text_2" presStyleLbl="node1" presStyleIdx="1" presStyleCnt="3">
        <dgm:presLayoutVars>
          <dgm:bulletEnabled val="1"/>
        </dgm:presLayoutVars>
      </dgm:prSet>
      <dgm:spPr/>
      <dgm:t>
        <a:bodyPr/>
        <a:lstStyle/>
        <a:p>
          <a:endParaRPr lang="en-US"/>
        </a:p>
      </dgm:t>
    </dgm:pt>
    <dgm:pt modelId="{A746725B-2CB3-4D10-948E-D8A70297ED70}" type="pres">
      <dgm:prSet presAssocID="{310E8F2C-89DE-4BA5-97DA-F646BC52F749}" presName="accent_2" presStyleCnt="0"/>
      <dgm:spPr/>
    </dgm:pt>
    <dgm:pt modelId="{0B3E8BE0-A7F0-4C2D-9FEB-4C59B0782F15}" type="pres">
      <dgm:prSet presAssocID="{310E8F2C-89DE-4BA5-97DA-F646BC52F749}" presName="accentRepeatNode" presStyleLbl="solidFgAcc1" presStyleIdx="1" presStyleCnt="3"/>
      <dgm:spPr/>
    </dgm:pt>
    <dgm:pt modelId="{E98AD569-475A-415B-9FC0-1C9D256F8F99}" type="pres">
      <dgm:prSet presAssocID="{772D7AB7-55DA-4F51-995A-2965EDEC46AC}" presName="text_3" presStyleLbl="node1" presStyleIdx="2" presStyleCnt="3">
        <dgm:presLayoutVars>
          <dgm:bulletEnabled val="1"/>
        </dgm:presLayoutVars>
      </dgm:prSet>
      <dgm:spPr/>
      <dgm:t>
        <a:bodyPr/>
        <a:lstStyle/>
        <a:p>
          <a:endParaRPr lang="en-US"/>
        </a:p>
      </dgm:t>
    </dgm:pt>
    <dgm:pt modelId="{A9F4EEA1-2AF9-4C78-8C48-26FD037C4351}" type="pres">
      <dgm:prSet presAssocID="{772D7AB7-55DA-4F51-995A-2965EDEC46AC}" presName="accent_3" presStyleCnt="0"/>
      <dgm:spPr/>
    </dgm:pt>
    <dgm:pt modelId="{86A81EF1-5E1B-490A-9B51-310287323AC6}" type="pres">
      <dgm:prSet presAssocID="{772D7AB7-55DA-4F51-995A-2965EDEC46AC}" presName="accentRepeatNode" presStyleLbl="solidFgAcc1" presStyleIdx="2" presStyleCnt="3"/>
      <dgm:spPr/>
    </dgm:pt>
  </dgm:ptLst>
  <dgm:cxnLst>
    <dgm:cxn modelId="{933FC1C8-14D2-45E6-9D75-DFEE73C4AF3D}" srcId="{D043F5CB-BC5D-4A11-AB32-2960081BEC2E}" destId="{5E715238-0243-4B0E-84F0-3572BED2843B}" srcOrd="0" destOrd="0" parTransId="{37C7220A-1F26-46EF-B19E-0F6F41572631}" sibTransId="{18820F0F-724D-4DC1-9209-8C14E64BDBE5}"/>
    <dgm:cxn modelId="{C4C0EE25-CEEB-470E-BE3E-808BB349EA77}" type="presOf" srcId="{310E8F2C-89DE-4BA5-97DA-F646BC52F749}" destId="{2B01E7A7-E2C7-4EA5-B7B4-EA8399334633}" srcOrd="0" destOrd="0" presId="urn:microsoft.com/office/officeart/2008/layout/VerticalCurvedList"/>
    <dgm:cxn modelId="{873FB72E-8684-4E1F-A702-6347BB0BAFE6}" srcId="{D043F5CB-BC5D-4A11-AB32-2960081BEC2E}" destId="{310E8F2C-89DE-4BA5-97DA-F646BC52F749}" srcOrd="1" destOrd="0" parTransId="{CE5653AB-9867-430F-83A4-4D43B9255EAA}" sibTransId="{AB853960-23F8-4467-9195-EBC196F92A59}"/>
    <dgm:cxn modelId="{55F781E1-CEEA-4CFB-AE28-52BB016DF6D7}" type="presOf" srcId="{772D7AB7-55DA-4F51-995A-2965EDEC46AC}" destId="{E98AD569-475A-415B-9FC0-1C9D256F8F99}" srcOrd="0" destOrd="0" presId="urn:microsoft.com/office/officeart/2008/layout/VerticalCurvedList"/>
    <dgm:cxn modelId="{DA64E970-EA8C-425E-841C-703E3B430CDD}" type="presOf" srcId="{18820F0F-724D-4DC1-9209-8C14E64BDBE5}" destId="{D593A696-9230-4ACA-9D52-83E05F9F38F7}" srcOrd="0" destOrd="0" presId="urn:microsoft.com/office/officeart/2008/layout/VerticalCurvedList"/>
    <dgm:cxn modelId="{B1C4EF93-712E-4BE0-9FEC-72EF26575303}" srcId="{D043F5CB-BC5D-4A11-AB32-2960081BEC2E}" destId="{772D7AB7-55DA-4F51-995A-2965EDEC46AC}" srcOrd="2" destOrd="0" parTransId="{F932C882-E9BD-4A65-A090-23E1FAB4CAF8}" sibTransId="{6372C4BA-3680-4FF9-B444-40D905FF5529}"/>
    <dgm:cxn modelId="{5C57BF43-E653-44AC-B850-0AB1D872FC63}" type="presOf" srcId="{5E715238-0243-4B0E-84F0-3572BED2843B}" destId="{212B45FB-6470-466B-A071-5A7D50517E53}" srcOrd="0" destOrd="0" presId="urn:microsoft.com/office/officeart/2008/layout/VerticalCurvedList"/>
    <dgm:cxn modelId="{8D668727-7A96-45D8-9E88-D01FDBC02919}" type="presOf" srcId="{D043F5CB-BC5D-4A11-AB32-2960081BEC2E}" destId="{3FB16CE5-CAA2-4957-8C7B-4DB8F06B5FE6}" srcOrd="0" destOrd="0" presId="urn:microsoft.com/office/officeart/2008/layout/VerticalCurvedList"/>
    <dgm:cxn modelId="{24AF9E43-1E6F-4058-AE64-28CB72B45285}" type="presParOf" srcId="{3FB16CE5-CAA2-4957-8C7B-4DB8F06B5FE6}" destId="{741DC565-FE42-4ACF-8359-44981FFC1B12}" srcOrd="0" destOrd="0" presId="urn:microsoft.com/office/officeart/2008/layout/VerticalCurvedList"/>
    <dgm:cxn modelId="{EF9346A6-4555-4037-A913-DF73363BA53F}" type="presParOf" srcId="{741DC565-FE42-4ACF-8359-44981FFC1B12}" destId="{006628EE-2672-4E73-AF80-C2FA6DA0F245}" srcOrd="0" destOrd="0" presId="urn:microsoft.com/office/officeart/2008/layout/VerticalCurvedList"/>
    <dgm:cxn modelId="{2D151E54-EA40-4E20-AF48-EB75DAA63E0F}" type="presParOf" srcId="{006628EE-2672-4E73-AF80-C2FA6DA0F245}" destId="{83CBCA6B-4523-45AB-8C5C-5DCAC4D94B22}" srcOrd="0" destOrd="0" presId="urn:microsoft.com/office/officeart/2008/layout/VerticalCurvedList"/>
    <dgm:cxn modelId="{DB041F53-B270-494D-8613-8B4D5B6AA558}" type="presParOf" srcId="{006628EE-2672-4E73-AF80-C2FA6DA0F245}" destId="{D593A696-9230-4ACA-9D52-83E05F9F38F7}" srcOrd="1" destOrd="0" presId="urn:microsoft.com/office/officeart/2008/layout/VerticalCurvedList"/>
    <dgm:cxn modelId="{F43543CD-8AE6-48DE-98A1-043C708A7434}" type="presParOf" srcId="{006628EE-2672-4E73-AF80-C2FA6DA0F245}" destId="{2CD41FF4-48CE-42E3-8206-C4D806851A54}" srcOrd="2" destOrd="0" presId="urn:microsoft.com/office/officeart/2008/layout/VerticalCurvedList"/>
    <dgm:cxn modelId="{240E1E95-D8B2-4525-8F89-287040D324FC}" type="presParOf" srcId="{006628EE-2672-4E73-AF80-C2FA6DA0F245}" destId="{BC70810A-B28C-4236-8A87-6A2163164CC9}" srcOrd="3" destOrd="0" presId="urn:microsoft.com/office/officeart/2008/layout/VerticalCurvedList"/>
    <dgm:cxn modelId="{9B63872B-15AF-42DE-B8E4-C2F7564929A6}" type="presParOf" srcId="{741DC565-FE42-4ACF-8359-44981FFC1B12}" destId="{212B45FB-6470-466B-A071-5A7D50517E53}" srcOrd="1" destOrd="0" presId="urn:microsoft.com/office/officeart/2008/layout/VerticalCurvedList"/>
    <dgm:cxn modelId="{07021138-C3FC-4F9C-98F9-546266166BBA}" type="presParOf" srcId="{741DC565-FE42-4ACF-8359-44981FFC1B12}" destId="{3F59A1C5-7371-4AFA-A619-6D7D4336B9FB}" srcOrd="2" destOrd="0" presId="urn:microsoft.com/office/officeart/2008/layout/VerticalCurvedList"/>
    <dgm:cxn modelId="{C009D1CA-9E14-4F89-BE7F-56AC456AC512}" type="presParOf" srcId="{3F59A1C5-7371-4AFA-A619-6D7D4336B9FB}" destId="{4878E8A0-0F62-483E-9C85-41A7D184C6F2}" srcOrd="0" destOrd="0" presId="urn:microsoft.com/office/officeart/2008/layout/VerticalCurvedList"/>
    <dgm:cxn modelId="{0C41028E-A395-4913-8751-9E52260B7962}" type="presParOf" srcId="{741DC565-FE42-4ACF-8359-44981FFC1B12}" destId="{2B01E7A7-E2C7-4EA5-B7B4-EA8399334633}" srcOrd="3" destOrd="0" presId="urn:microsoft.com/office/officeart/2008/layout/VerticalCurvedList"/>
    <dgm:cxn modelId="{1CCEDD6A-0D2F-4ED7-B0CD-8466F6FAB1A7}" type="presParOf" srcId="{741DC565-FE42-4ACF-8359-44981FFC1B12}" destId="{A746725B-2CB3-4D10-948E-D8A70297ED70}" srcOrd="4" destOrd="0" presId="urn:microsoft.com/office/officeart/2008/layout/VerticalCurvedList"/>
    <dgm:cxn modelId="{2DFBC415-9D23-43BA-A839-BBEA134B39F9}" type="presParOf" srcId="{A746725B-2CB3-4D10-948E-D8A70297ED70}" destId="{0B3E8BE0-A7F0-4C2D-9FEB-4C59B0782F15}" srcOrd="0" destOrd="0" presId="urn:microsoft.com/office/officeart/2008/layout/VerticalCurvedList"/>
    <dgm:cxn modelId="{A0C00E7D-8EF3-42B1-A1D5-0FEC8FB3A93E}" type="presParOf" srcId="{741DC565-FE42-4ACF-8359-44981FFC1B12}" destId="{E98AD569-475A-415B-9FC0-1C9D256F8F99}" srcOrd="5" destOrd="0" presId="urn:microsoft.com/office/officeart/2008/layout/VerticalCurvedList"/>
    <dgm:cxn modelId="{34430531-8BC5-473B-B487-E6E9AC5DF769}" type="presParOf" srcId="{741DC565-FE42-4ACF-8359-44981FFC1B12}" destId="{A9F4EEA1-2AF9-4C78-8C48-26FD037C4351}" srcOrd="6" destOrd="0" presId="urn:microsoft.com/office/officeart/2008/layout/VerticalCurvedList"/>
    <dgm:cxn modelId="{4FDCF113-7920-4CF9-B4F5-96735B3C3CB8}" type="presParOf" srcId="{A9F4EEA1-2AF9-4C78-8C48-26FD037C4351}" destId="{86A81EF1-5E1B-490A-9B51-310287323AC6}"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5E715238-0243-4B0E-84F0-3572BED2843B}">
      <dgm:prSet phldrT="[Text]"/>
      <dgm:spPr/>
      <dgm:t>
        <a:bodyPr/>
        <a:lstStyle/>
        <a:p>
          <a:r>
            <a:rPr lang="en-US" dirty="0" smtClean="0"/>
            <a:t>SSL VPN </a:t>
          </a:r>
          <a:r>
            <a:rPr lang="en-US" dirty="0"/>
            <a:t>Deployment Modes</a:t>
          </a:r>
          <a:endParaRPr lang="en-CA" dirty="0"/>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US" dirty="0"/>
            <a:t>Configuring </a:t>
          </a:r>
          <a:r>
            <a:rPr lang="en-US" dirty="0" smtClean="0"/>
            <a:t>SSL VPNs</a:t>
          </a:r>
          <a:endParaRPr lang="en-CA" dirty="0"/>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772D7AB7-55DA-4F51-995A-2965EDEC46AC}">
      <dgm:prSet phldrT="[Text]"/>
      <dgm:spPr/>
      <dgm:t>
        <a:bodyPr/>
        <a:lstStyle/>
        <a:p>
          <a:r>
            <a:rPr lang="en-CA" dirty="0"/>
            <a:t>Monitoring and Troubleshooting</a:t>
          </a:r>
        </a:p>
      </dgm:t>
    </dgm:pt>
    <dgm:pt modelId="{F932C882-E9BD-4A65-A090-23E1FAB4CAF8}" type="parTrans" cxnId="{B1C4EF93-712E-4BE0-9FEC-72EF26575303}">
      <dgm:prSet/>
      <dgm:spPr/>
      <dgm:t>
        <a:bodyPr/>
        <a:lstStyle/>
        <a:p>
          <a:endParaRPr lang="en-US"/>
        </a:p>
      </dgm:t>
    </dgm:pt>
    <dgm:pt modelId="{6372C4BA-3680-4FF9-B444-40D905FF5529}" type="sibTrans" cxnId="{B1C4EF93-712E-4BE0-9FEC-72EF26575303}">
      <dgm:prSet/>
      <dgm:spPr/>
      <dgm:t>
        <a:bodyPr/>
        <a:lstStyle/>
        <a:p>
          <a:endParaRPr lang="en-US"/>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3"/>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3"/>
      <dgm:spPr/>
    </dgm:pt>
    <dgm:pt modelId="{BC70810A-B28C-4236-8A87-6A2163164CC9}" type="pres">
      <dgm:prSet presAssocID="{D043F5CB-BC5D-4A11-AB32-2960081BEC2E}" presName="dstNode" presStyleLbl="node1" presStyleIdx="0" presStyleCnt="3"/>
      <dgm:spPr/>
    </dgm:pt>
    <dgm:pt modelId="{3FA8BB2F-A64E-4C7F-92A6-6A5A8B5CD1C5}" type="pres">
      <dgm:prSet presAssocID="{5E715238-0243-4B0E-84F0-3572BED2843B}" presName="text_1" presStyleLbl="node1" presStyleIdx="0" presStyleCnt="3">
        <dgm:presLayoutVars>
          <dgm:bulletEnabled val="1"/>
        </dgm:presLayoutVars>
      </dgm:prSet>
      <dgm:spPr/>
      <dgm:t>
        <a:bodyPr/>
        <a:lstStyle/>
        <a:p>
          <a:endParaRPr lang="en-US"/>
        </a:p>
      </dgm:t>
    </dgm:pt>
    <dgm:pt modelId="{3C25B63D-3F5A-4D79-9B67-98E632FB0924}" type="pres">
      <dgm:prSet presAssocID="{5E715238-0243-4B0E-84F0-3572BED2843B}" presName="accent_1" presStyleCnt="0"/>
      <dgm:spPr/>
    </dgm:pt>
    <dgm:pt modelId="{4878E8A0-0F62-483E-9C85-41A7D184C6F2}" type="pres">
      <dgm:prSet presAssocID="{5E715238-0243-4B0E-84F0-3572BED2843B}" presName="accentRepeatNode" presStyleLbl="solidFgAcc1" presStyleIdx="0" presStyleCnt="3"/>
      <dgm:spPr/>
    </dgm:pt>
    <dgm:pt modelId="{0786B298-6ED9-4258-B5E5-2038EA3BB7E2}" type="pres">
      <dgm:prSet presAssocID="{310E8F2C-89DE-4BA5-97DA-F646BC52F749}" presName="text_2" presStyleLbl="node1" presStyleIdx="1" presStyleCnt="3">
        <dgm:presLayoutVars>
          <dgm:bulletEnabled val="1"/>
        </dgm:presLayoutVars>
      </dgm:prSet>
      <dgm:spPr/>
      <dgm:t>
        <a:bodyPr/>
        <a:lstStyle/>
        <a:p>
          <a:endParaRPr lang="en-US"/>
        </a:p>
      </dgm:t>
    </dgm:pt>
    <dgm:pt modelId="{74CB129A-54F0-48FE-9ADB-D2A1A5CB750D}" type="pres">
      <dgm:prSet presAssocID="{310E8F2C-89DE-4BA5-97DA-F646BC52F749}" presName="accent_2" presStyleCnt="0"/>
      <dgm:spPr/>
    </dgm:pt>
    <dgm:pt modelId="{0B3E8BE0-A7F0-4C2D-9FEB-4C59B0782F15}" type="pres">
      <dgm:prSet presAssocID="{310E8F2C-89DE-4BA5-97DA-F646BC52F749}" presName="accentRepeatNode" presStyleLbl="solidFgAcc1" presStyleIdx="1" presStyleCnt="3"/>
      <dgm:spPr/>
    </dgm:pt>
    <dgm:pt modelId="{16605D37-6973-4A42-93EF-20D43B5274CD}" type="pres">
      <dgm:prSet presAssocID="{772D7AB7-55DA-4F51-995A-2965EDEC46AC}" presName="text_3" presStyleLbl="node1" presStyleIdx="2" presStyleCnt="3">
        <dgm:presLayoutVars>
          <dgm:bulletEnabled val="1"/>
        </dgm:presLayoutVars>
      </dgm:prSet>
      <dgm:spPr/>
      <dgm:t>
        <a:bodyPr/>
        <a:lstStyle/>
        <a:p>
          <a:endParaRPr lang="en-US"/>
        </a:p>
      </dgm:t>
    </dgm:pt>
    <dgm:pt modelId="{1A8BC124-1DE2-40F4-BF97-6B76FB775427}" type="pres">
      <dgm:prSet presAssocID="{772D7AB7-55DA-4F51-995A-2965EDEC46AC}" presName="accent_3" presStyleCnt="0"/>
      <dgm:spPr/>
    </dgm:pt>
    <dgm:pt modelId="{86A81EF1-5E1B-490A-9B51-310287323AC6}" type="pres">
      <dgm:prSet presAssocID="{772D7AB7-55DA-4F51-995A-2965EDEC46AC}" presName="accentRepeatNode" presStyleLbl="solidFgAcc1" presStyleIdx="2" presStyleCnt="3"/>
      <dgm:spPr/>
    </dgm:pt>
  </dgm:ptLst>
  <dgm:cxnLst>
    <dgm:cxn modelId="{55D1D6E5-CFDC-4BFE-9B00-D95029B3AA89}" type="presOf" srcId="{5E715238-0243-4B0E-84F0-3572BED2843B}" destId="{3FA8BB2F-A64E-4C7F-92A6-6A5A8B5CD1C5}" srcOrd="0" destOrd="0" presId="urn:microsoft.com/office/officeart/2008/layout/VerticalCurvedList"/>
    <dgm:cxn modelId="{5978B7D7-5FA8-4978-B49B-933A58AA6244}" type="presOf" srcId="{18820F0F-724D-4DC1-9209-8C14E64BDBE5}" destId="{D593A696-9230-4ACA-9D52-83E05F9F38F7}" srcOrd="0" destOrd="0" presId="urn:microsoft.com/office/officeart/2008/layout/VerticalCurvedList"/>
    <dgm:cxn modelId="{933FC1C8-14D2-45E6-9D75-DFEE73C4AF3D}" srcId="{D043F5CB-BC5D-4A11-AB32-2960081BEC2E}" destId="{5E715238-0243-4B0E-84F0-3572BED2843B}" srcOrd="0" destOrd="0" parTransId="{37C7220A-1F26-46EF-B19E-0F6F41572631}" sibTransId="{18820F0F-724D-4DC1-9209-8C14E64BDBE5}"/>
    <dgm:cxn modelId="{873FB72E-8684-4E1F-A702-6347BB0BAFE6}" srcId="{D043F5CB-BC5D-4A11-AB32-2960081BEC2E}" destId="{310E8F2C-89DE-4BA5-97DA-F646BC52F749}" srcOrd="1" destOrd="0" parTransId="{CE5653AB-9867-430F-83A4-4D43B9255EAA}" sibTransId="{AB853960-23F8-4467-9195-EBC196F92A59}"/>
    <dgm:cxn modelId="{D6AF2DB0-DE02-4331-9681-3CF5625CA417}" type="presOf" srcId="{D043F5CB-BC5D-4A11-AB32-2960081BEC2E}" destId="{3FB16CE5-CAA2-4957-8C7B-4DB8F06B5FE6}" srcOrd="0" destOrd="0" presId="urn:microsoft.com/office/officeart/2008/layout/VerticalCurvedList"/>
    <dgm:cxn modelId="{B1C4EF93-712E-4BE0-9FEC-72EF26575303}" srcId="{D043F5CB-BC5D-4A11-AB32-2960081BEC2E}" destId="{772D7AB7-55DA-4F51-995A-2965EDEC46AC}" srcOrd="2" destOrd="0" parTransId="{F932C882-E9BD-4A65-A090-23E1FAB4CAF8}" sibTransId="{6372C4BA-3680-4FF9-B444-40D905FF5529}"/>
    <dgm:cxn modelId="{E59A4CEC-0765-46FF-A641-3ED3203183DE}" type="presOf" srcId="{310E8F2C-89DE-4BA5-97DA-F646BC52F749}" destId="{0786B298-6ED9-4258-B5E5-2038EA3BB7E2}" srcOrd="0" destOrd="0" presId="urn:microsoft.com/office/officeart/2008/layout/VerticalCurvedList"/>
    <dgm:cxn modelId="{2A34B760-3D8E-4E69-B495-88A68C9D6726}" type="presOf" srcId="{772D7AB7-55DA-4F51-995A-2965EDEC46AC}" destId="{16605D37-6973-4A42-93EF-20D43B5274CD}" srcOrd="0" destOrd="0" presId="urn:microsoft.com/office/officeart/2008/layout/VerticalCurvedList"/>
    <dgm:cxn modelId="{182DFC23-9ACF-4EED-BE28-4693276F8715}" type="presParOf" srcId="{3FB16CE5-CAA2-4957-8C7B-4DB8F06B5FE6}" destId="{741DC565-FE42-4ACF-8359-44981FFC1B12}" srcOrd="0" destOrd="0" presId="urn:microsoft.com/office/officeart/2008/layout/VerticalCurvedList"/>
    <dgm:cxn modelId="{C7DD1159-DC51-48C1-9493-7A271F792031}" type="presParOf" srcId="{741DC565-FE42-4ACF-8359-44981FFC1B12}" destId="{006628EE-2672-4E73-AF80-C2FA6DA0F245}" srcOrd="0" destOrd="0" presId="urn:microsoft.com/office/officeart/2008/layout/VerticalCurvedList"/>
    <dgm:cxn modelId="{4374A685-3277-410F-9B85-D7754440AAEF}" type="presParOf" srcId="{006628EE-2672-4E73-AF80-C2FA6DA0F245}" destId="{83CBCA6B-4523-45AB-8C5C-5DCAC4D94B22}" srcOrd="0" destOrd="0" presId="urn:microsoft.com/office/officeart/2008/layout/VerticalCurvedList"/>
    <dgm:cxn modelId="{93D1D32F-A1E1-44A4-82FB-F0281950AEE1}" type="presParOf" srcId="{006628EE-2672-4E73-AF80-C2FA6DA0F245}" destId="{D593A696-9230-4ACA-9D52-83E05F9F38F7}" srcOrd="1" destOrd="0" presId="urn:microsoft.com/office/officeart/2008/layout/VerticalCurvedList"/>
    <dgm:cxn modelId="{1A1FC499-46B5-436F-9F92-40E1DE34192F}" type="presParOf" srcId="{006628EE-2672-4E73-AF80-C2FA6DA0F245}" destId="{2CD41FF4-48CE-42E3-8206-C4D806851A54}" srcOrd="2" destOrd="0" presId="urn:microsoft.com/office/officeart/2008/layout/VerticalCurvedList"/>
    <dgm:cxn modelId="{FC17F680-4C02-4378-ACC8-9092018FEFC6}" type="presParOf" srcId="{006628EE-2672-4E73-AF80-C2FA6DA0F245}" destId="{BC70810A-B28C-4236-8A87-6A2163164CC9}" srcOrd="3" destOrd="0" presId="urn:microsoft.com/office/officeart/2008/layout/VerticalCurvedList"/>
    <dgm:cxn modelId="{2FBC151F-2609-47F6-B124-F5A6E9DB7144}" type="presParOf" srcId="{741DC565-FE42-4ACF-8359-44981FFC1B12}" destId="{3FA8BB2F-A64E-4C7F-92A6-6A5A8B5CD1C5}" srcOrd="1" destOrd="0" presId="urn:microsoft.com/office/officeart/2008/layout/VerticalCurvedList"/>
    <dgm:cxn modelId="{02858279-A5A4-4538-BA0A-C052FAE38C1A}" type="presParOf" srcId="{741DC565-FE42-4ACF-8359-44981FFC1B12}" destId="{3C25B63D-3F5A-4D79-9B67-98E632FB0924}" srcOrd="2" destOrd="0" presId="urn:microsoft.com/office/officeart/2008/layout/VerticalCurvedList"/>
    <dgm:cxn modelId="{5625887F-0E49-4256-A3E4-8012232E96CA}" type="presParOf" srcId="{3C25B63D-3F5A-4D79-9B67-98E632FB0924}" destId="{4878E8A0-0F62-483E-9C85-41A7D184C6F2}" srcOrd="0" destOrd="0" presId="urn:microsoft.com/office/officeart/2008/layout/VerticalCurvedList"/>
    <dgm:cxn modelId="{E04DE9DE-6CEF-4C6F-A907-5D7C400DD490}" type="presParOf" srcId="{741DC565-FE42-4ACF-8359-44981FFC1B12}" destId="{0786B298-6ED9-4258-B5E5-2038EA3BB7E2}" srcOrd="3" destOrd="0" presId="urn:microsoft.com/office/officeart/2008/layout/VerticalCurvedList"/>
    <dgm:cxn modelId="{38BD4FB9-6E1E-490E-8EBC-C4FB30013ACE}" type="presParOf" srcId="{741DC565-FE42-4ACF-8359-44981FFC1B12}" destId="{74CB129A-54F0-48FE-9ADB-D2A1A5CB750D}" srcOrd="4" destOrd="0" presId="urn:microsoft.com/office/officeart/2008/layout/VerticalCurvedList"/>
    <dgm:cxn modelId="{BE0A1943-BBC1-41CC-B466-B757F3B0F2B8}" type="presParOf" srcId="{74CB129A-54F0-48FE-9ADB-D2A1A5CB750D}" destId="{0B3E8BE0-A7F0-4C2D-9FEB-4C59B0782F15}" srcOrd="0" destOrd="0" presId="urn:microsoft.com/office/officeart/2008/layout/VerticalCurvedList"/>
    <dgm:cxn modelId="{DF8E6F47-BCD1-431D-8526-1E27870F1936}" type="presParOf" srcId="{741DC565-FE42-4ACF-8359-44981FFC1B12}" destId="{16605D37-6973-4A42-93EF-20D43B5274CD}" srcOrd="5" destOrd="0" presId="urn:microsoft.com/office/officeart/2008/layout/VerticalCurvedList"/>
    <dgm:cxn modelId="{5D7468D9-C2A0-4351-8E48-34F882DC4E75}" type="presParOf" srcId="{741DC565-FE42-4ACF-8359-44981FFC1B12}" destId="{1A8BC124-1DE2-40F4-BF97-6B76FB775427}" srcOrd="6" destOrd="0" presId="urn:microsoft.com/office/officeart/2008/layout/VerticalCurvedList"/>
    <dgm:cxn modelId="{0BB5A3F6-69FA-4FE0-B40C-8EEC85224F4E}" type="presParOf" srcId="{1A8BC124-1DE2-40F4-BF97-6B76FB775427}" destId="{86A81EF1-5E1B-490A-9B51-310287323AC6}"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615393" y="-859773"/>
          <a:ext cx="6686833" cy="6686833"/>
        </a:xfrm>
        <a:prstGeom prst="blockArc">
          <a:avLst>
            <a:gd name="adj1" fmla="val 18900000"/>
            <a:gd name="adj2" fmla="val 2700000"/>
            <a:gd name="adj3" fmla="val 323"/>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09A1B6-B742-48E6-9F20-4F848A412A70}">
      <dsp:nvSpPr>
        <dsp:cNvPr id="0" name=""/>
        <dsp:cNvSpPr/>
      </dsp:nvSpPr>
      <dsp:spPr>
        <a:xfrm>
          <a:off x="689459" y="496728"/>
          <a:ext cx="10629130" cy="99345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8557" tIns="137160" rIns="137160" bIns="137160" numCol="1" spcCol="1270" anchor="ctr" anchorCtr="0">
          <a:noAutofit/>
        </a:bodyPr>
        <a:lstStyle/>
        <a:p>
          <a:pPr lvl="0" algn="l" defTabSz="2400300">
            <a:lnSpc>
              <a:spcPct val="90000"/>
            </a:lnSpc>
            <a:spcBef>
              <a:spcPct val="0"/>
            </a:spcBef>
            <a:spcAft>
              <a:spcPct val="35000"/>
            </a:spcAft>
          </a:pPr>
          <a:r>
            <a:rPr lang="en-US" sz="5400" kern="1200" dirty="0" smtClean="0"/>
            <a:t>SSL VPN </a:t>
          </a:r>
          <a:r>
            <a:rPr lang="en-US" sz="5400" kern="1200" dirty="0"/>
            <a:t>Deployment Modes</a:t>
          </a:r>
          <a:endParaRPr lang="en-CA" sz="5400" kern="1200" dirty="0"/>
        </a:p>
      </dsp:txBody>
      <dsp:txXfrm>
        <a:off x="689459" y="496728"/>
        <a:ext cx="10629130" cy="993457"/>
      </dsp:txXfrm>
    </dsp:sp>
    <dsp:sp modelId="{4878E8A0-0F62-483E-9C85-41A7D184C6F2}">
      <dsp:nvSpPr>
        <dsp:cNvPr id="0" name=""/>
        <dsp:cNvSpPr/>
      </dsp:nvSpPr>
      <dsp:spPr>
        <a:xfrm>
          <a:off x="68548" y="372546"/>
          <a:ext cx="1241821" cy="124182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889903-D46E-4C0A-920A-090F08FE3059}">
      <dsp:nvSpPr>
        <dsp:cNvPr id="0" name=""/>
        <dsp:cNvSpPr/>
      </dsp:nvSpPr>
      <dsp:spPr>
        <a:xfrm>
          <a:off x="1050581" y="1986914"/>
          <a:ext cx="10268008" cy="99345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8557" tIns="137160" rIns="137160" bIns="137160" numCol="1" spcCol="1270" anchor="ctr" anchorCtr="0">
          <a:noAutofit/>
        </a:bodyPr>
        <a:lstStyle/>
        <a:p>
          <a:pPr lvl="0" algn="l" defTabSz="2400300">
            <a:lnSpc>
              <a:spcPct val="90000"/>
            </a:lnSpc>
            <a:spcBef>
              <a:spcPct val="0"/>
            </a:spcBef>
            <a:spcAft>
              <a:spcPct val="35000"/>
            </a:spcAft>
          </a:pPr>
          <a:r>
            <a:rPr lang="en-US" sz="5400" kern="1200" dirty="0"/>
            <a:t>Configuring </a:t>
          </a:r>
          <a:r>
            <a:rPr lang="en-US" sz="5400" kern="1200" dirty="0" smtClean="0"/>
            <a:t>SSL VPNs</a:t>
          </a:r>
          <a:endParaRPr lang="en-CA" sz="5400" kern="1200" dirty="0"/>
        </a:p>
      </dsp:txBody>
      <dsp:txXfrm>
        <a:off x="1050581" y="1986914"/>
        <a:ext cx="10268008" cy="993457"/>
      </dsp:txXfrm>
    </dsp:sp>
    <dsp:sp modelId="{0B3E8BE0-A7F0-4C2D-9FEB-4C59B0782F15}">
      <dsp:nvSpPr>
        <dsp:cNvPr id="0" name=""/>
        <dsp:cNvSpPr/>
      </dsp:nvSpPr>
      <dsp:spPr>
        <a:xfrm>
          <a:off x="429670" y="1862732"/>
          <a:ext cx="1241821" cy="124182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ED067EF-7629-4901-B500-CB2CD0476DC3}">
      <dsp:nvSpPr>
        <dsp:cNvPr id="0" name=""/>
        <dsp:cNvSpPr/>
      </dsp:nvSpPr>
      <dsp:spPr>
        <a:xfrm>
          <a:off x="689459" y="3477100"/>
          <a:ext cx="10629130" cy="99345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8557" tIns="137160" rIns="137160" bIns="137160" numCol="1" spcCol="1270" anchor="ctr" anchorCtr="0">
          <a:noAutofit/>
        </a:bodyPr>
        <a:lstStyle/>
        <a:p>
          <a:pPr lvl="0" algn="l" defTabSz="2400300">
            <a:lnSpc>
              <a:spcPct val="90000"/>
            </a:lnSpc>
            <a:spcBef>
              <a:spcPct val="0"/>
            </a:spcBef>
            <a:spcAft>
              <a:spcPct val="35000"/>
            </a:spcAft>
          </a:pPr>
          <a:r>
            <a:rPr lang="en-CA" sz="5400" kern="1200" dirty="0"/>
            <a:t>Monitoring and Troubleshooting</a:t>
          </a:r>
        </a:p>
      </dsp:txBody>
      <dsp:txXfrm>
        <a:off x="689459" y="3477100"/>
        <a:ext cx="10629130" cy="993457"/>
      </dsp:txXfrm>
    </dsp:sp>
    <dsp:sp modelId="{86A81EF1-5E1B-490A-9B51-310287323AC6}">
      <dsp:nvSpPr>
        <dsp:cNvPr id="0" name=""/>
        <dsp:cNvSpPr/>
      </dsp:nvSpPr>
      <dsp:spPr>
        <a:xfrm>
          <a:off x="68548" y="3352918"/>
          <a:ext cx="1241821" cy="124182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151"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72DF528-32E9-47AE-9DFE-58916E49FCE2}">
      <dsp:nvSpPr>
        <dsp:cNvPr id="0" name=""/>
        <dsp:cNvSpPr/>
      </dsp:nvSpPr>
      <dsp:spPr>
        <a:xfrm>
          <a:off x="653543" y="470852"/>
          <a:ext cx="1066861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US" sz="5100" kern="1200" dirty="0" smtClean="0"/>
            <a:t>SSL VPN </a:t>
          </a:r>
          <a:r>
            <a:rPr lang="en-US" sz="5100" kern="1200" dirty="0"/>
            <a:t>Deployment Modes</a:t>
          </a:r>
          <a:endParaRPr lang="en-CA" sz="5100" kern="1200" dirty="0"/>
        </a:p>
      </dsp:txBody>
      <dsp:txXfrm>
        <a:off x="653543" y="470852"/>
        <a:ext cx="10668617" cy="941705"/>
      </dsp:txXfrm>
    </dsp:sp>
    <dsp:sp modelId="{4878E8A0-0F62-483E-9C85-41A7D184C6F2}">
      <dsp:nvSpPr>
        <dsp:cNvPr id="0" name=""/>
        <dsp:cNvSpPr/>
      </dsp:nvSpPr>
      <dsp:spPr>
        <a:xfrm>
          <a:off x="64977" y="353139"/>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209A83-EE31-4D66-95FC-E75F06FFFCCA}">
      <dsp:nvSpPr>
        <dsp:cNvPr id="0" name=""/>
        <dsp:cNvSpPr/>
      </dsp:nvSpPr>
      <dsp:spPr>
        <a:xfrm>
          <a:off x="995853" y="1883410"/>
          <a:ext cx="1032630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US" sz="5100" kern="1200" dirty="0"/>
            <a:t>Configuring </a:t>
          </a:r>
          <a:r>
            <a:rPr lang="en-US" sz="5100" kern="1200" dirty="0" smtClean="0"/>
            <a:t>SSL VPNs</a:t>
          </a:r>
          <a:endParaRPr lang="en-CA" sz="5100" kern="1200" dirty="0"/>
        </a:p>
      </dsp:txBody>
      <dsp:txXfrm>
        <a:off x="995853" y="1883410"/>
        <a:ext cx="10326307" cy="941705"/>
      </dsp:txXfrm>
    </dsp:sp>
    <dsp:sp modelId="{0B3E8BE0-A7F0-4C2D-9FEB-4C59B0782F15}">
      <dsp:nvSpPr>
        <dsp:cNvPr id="0" name=""/>
        <dsp:cNvSpPr/>
      </dsp:nvSpPr>
      <dsp:spPr>
        <a:xfrm>
          <a:off x="407287" y="1765696"/>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B1C927B-E370-43F7-925C-E739DD54F434}">
      <dsp:nvSpPr>
        <dsp:cNvPr id="0" name=""/>
        <dsp:cNvSpPr/>
      </dsp:nvSpPr>
      <dsp:spPr>
        <a:xfrm>
          <a:off x="653543" y="3295967"/>
          <a:ext cx="1066861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CA" sz="5100" kern="1200" dirty="0"/>
            <a:t>Monitoring and Troubleshooting</a:t>
          </a:r>
        </a:p>
      </dsp:txBody>
      <dsp:txXfrm>
        <a:off x="653543" y="3295967"/>
        <a:ext cx="10668617" cy="941705"/>
      </dsp:txXfrm>
    </dsp:sp>
    <dsp:sp modelId="{86A81EF1-5E1B-490A-9B51-310287323AC6}">
      <dsp:nvSpPr>
        <dsp:cNvPr id="0" name=""/>
        <dsp:cNvSpPr/>
      </dsp:nvSpPr>
      <dsp:spPr>
        <a:xfrm>
          <a:off x="64977" y="3178254"/>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151"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12B45FB-6470-466B-A071-5A7D50517E53}">
      <dsp:nvSpPr>
        <dsp:cNvPr id="0" name=""/>
        <dsp:cNvSpPr/>
      </dsp:nvSpPr>
      <dsp:spPr>
        <a:xfrm>
          <a:off x="653543" y="470852"/>
          <a:ext cx="1066861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US" sz="5100" kern="1200" dirty="0" smtClean="0"/>
            <a:t>SSL VPN </a:t>
          </a:r>
          <a:r>
            <a:rPr lang="en-US" sz="5100" kern="1200" dirty="0"/>
            <a:t>Deployment Modes</a:t>
          </a:r>
          <a:endParaRPr lang="en-CA" sz="5100" kern="1200" dirty="0"/>
        </a:p>
      </dsp:txBody>
      <dsp:txXfrm>
        <a:off x="653543" y="470852"/>
        <a:ext cx="10668617" cy="941705"/>
      </dsp:txXfrm>
    </dsp:sp>
    <dsp:sp modelId="{4878E8A0-0F62-483E-9C85-41A7D184C6F2}">
      <dsp:nvSpPr>
        <dsp:cNvPr id="0" name=""/>
        <dsp:cNvSpPr/>
      </dsp:nvSpPr>
      <dsp:spPr>
        <a:xfrm>
          <a:off x="64977" y="353139"/>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B01E7A7-E2C7-4EA5-B7B4-EA8399334633}">
      <dsp:nvSpPr>
        <dsp:cNvPr id="0" name=""/>
        <dsp:cNvSpPr/>
      </dsp:nvSpPr>
      <dsp:spPr>
        <a:xfrm>
          <a:off x="995853" y="1883410"/>
          <a:ext cx="1032630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US" sz="5100" kern="1200" dirty="0"/>
            <a:t>Configuring </a:t>
          </a:r>
          <a:r>
            <a:rPr lang="en-US" sz="5100" kern="1200" dirty="0" smtClean="0"/>
            <a:t>SSL VPNs</a:t>
          </a:r>
          <a:endParaRPr lang="en-CA" sz="5100" kern="1200" dirty="0"/>
        </a:p>
      </dsp:txBody>
      <dsp:txXfrm>
        <a:off x="995853" y="1883410"/>
        <a:ext cx="10326307" cy="941705"/>
      </dsp:txXfrm>
    </dsp:sp>
    <dsp:sp modelId="{0B3E8BE0-A7F0-4C2D-9FEB-4C59B0782F15}">
      <dsp:nvSpPr>
        <dsp:cNvPr id="0" name=""/>
        <dsp:cNvSpPr/>
      </dsp:nvSpPr>
      <dsp:spPr>
        <a:xfrm>
          <a:off x="407287" y="1765696"/>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8AD569-475A-415B-9FC0-1C9D256F8F99}">
      <dsp:nvSpPr>
        <dsp:cNvPr id="0" name=""/>
        <dsp:cNvSpPr/>
      </dsp:nvSpPr>
      <dsp:spPr>
        <a:xfrm>
          <a:off x="653543" y="3295967"/>
          <a:ext cx="1066861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CA" sz="5100" kern="1200" dirty="0"/>
            <a:t>Monitoring and Troubleshooting</a:t>
          </a:r>
        </a:p>
      </dsp:txBody>
      <dsp:txXfrm>
        <a:off x="653543" y="3295967"/>
        <a:ext cx="10668617" cy="941705"/>
      </dsp:txXfrm>
    </dsp:sp>
    <dsp:sp modelId="{86A81EF1-5E1B-490A-9B51-310287323AC6}">
      <dsp:nvSpPr>
        <dsp:cNvPr id="0" name=""/>
        <dsp:cNvSpPr/>
      </dsp:nvSpPr>
      <dsp:spPr>
        <a:xfrm>
          <a:off x="64977" y="3178254"/>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151"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A8BB2F-A64E-4C7F-92A6-6A5A8B5CD1C5}">
      <dsp:nvSpPr>
        <dsp:cNvPr id="0" name=""/>
        <dsp:cNvSpPr/>
      </dsp:nvSpPr>
      <dsp:spPr>
        <a:xfrm>
          <a:off x="653543" y="470852"/>
          <a:ext cx="1066861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US" sz="5100" kern="1200" dirty="0" smtClean="0"/>
            <a:t>SSL VPN </a:t>
          </a:r>
          <a:r>
            <a:rPr lang="en-US" sz="5100" kern="1200" dirty="0"/>
            <a:t>Deployment Modes</a:t>
          </a:r>
          <a:endParaRPr lang="en-CA" sz="5100" kern="1200" dirty="0"/>
        </a:p>
      </dsp:txBody>
      <dsp:txXfrm>
        <a:off x="653543" y="470852"/>
        <a:ext cx="10668617" cy="941705"/>
      </dsp:txXfrm>
    </dsp:sp>
    <dsp:sp modelId="{4878E8A0-0F62-483E-9C85-41A7D184C6F2}">
      <dsp:nvSpPr>
        <dsp:cNvPr id="0" name=""/>
        <dsp:cNvSpPr/>
      </dsp:nvSpPr>
      <dsp:spPr>
        <a:xfrm>
          <a:off x="64977" y="353139"/>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786B298-6ED9-4258-B5E5-2038EA3BB7E2}">
      <dsp:nvSpPr>
        <dsp:cNvPr id="0" name=""/>
        <dsp:cNvSpPr/>
      </dsp:nvSpPr>
      <dsp:spPr>
        <a:xfrm>
          <a:off x="995853" y="1883410"/>
          <a:ext cx="1032630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US" sz="5100" kern="1200" dirty="0"/>
            <a:t>Configuring </a:t>
          </a:r>
          <a:r>
            <a:rPr lang="en-US" sz="5100" kern="1200" dirty="0" smtClean="0"/>
            <a:t>SSL VPNs</a:t>
          </a:r>
          <a:endParaRPr lang="en-CA" sz="5100" kern="1200" dirty="0"/>
        </a:p>
      </dsp:txBody>
      <dsp:txXfrm>
        <a:off x="995853" y="1883410"/>
        <a:ext cx="10326307" cy="941705"/>
      </dsp:txXfrm>
    </dsp:sp>
    <dsp:sp modelId="{0B3E8BE0-A7F0-4C2D-9FEB-4C59B0782F15}">
      <dsp:nvSpPr>
        <dsp:cNvPr id="0" name=""/>
        <dsp:cNvSpPr/>
      </dsp:nvSpPr>
      <dsp:spPr>
        <a:xfrm>
          <a:off x="407287" y="1765696"/>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6605D37-6973-4A42-93EF-20D43B5274CD}">
      <dsp:nvSpPr>
        <dsp:cNvPr id="0" name=""/>
        <dsp:cNvSpPr/>
      </dsp:nvSpPr>
      <dsp:spPr>
        <a:xfrm>
          <a:off x="653543" y="3295967"/>
          <a:ext cx="10668617" cy="941705"/>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47478" tIns="129540" rIns="129540" bIns="129540" numCol="1" spcCol="1270" anchor="ctr" anchorCtr="0">
          <a:noAutofit/>
        </a:bodyPr>
        <a:lstStyle/>
        <a:p>
          <a:pPr lvl="0" algn="l" defTabSz="2266950">
            <a:lnSpc>
              <a:spcPct val="90000"/>
            </a:lnSpc>
            <a:spcBef>
              <a:spcPct val="0"/>
            </a:spcBef>
            <a:spcAft>
              <a:spcPct val="35000"/>
            </a:spcAft>
          </a:pPr>
          <a:r>
            <a:rPr lang="en-CA" sz="5100" kern="1200" dirty="0"/>
            <a:t>Monitoring and Troubleshooting</a:t>
          </a:r>
        </a:p>
      </dsp:txBody>
      <dsp:txXfrm>
        <a:off x="653543" y="3295967"/>
        <a:ext cx="10668617" cy="941705"/>
      </dsp:txXfrm>
    </dsp:sp>
    <dsp:sp modelId="{86A81EF1-5E1B-490A-9B51-310287323AC6}">
      <dsp:nvSpPr>
        <dsp:cNvPr id="0" name=""/>
        <dsp:cNvSpPr/>
      </dsp:nvSpPr>
      <dsp:spPr>
        <a:xfrm>
          <a:off x="64977" y="3178254"/>
          <a:ext cx="1177131" cy="1177131"/>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51" tIns="48326" rIns="96651" bIns="48326"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1727"/>
          </a:xfrm>
          <a:prstGeom prst="rect">
            <a:avLst/>
          </a:prstGeom>
        </p:spPr>
        <p:txBody>
          <a:bodyPr vert="horz" lIns="96651" tIns="48326" rIns="96651" bIns="48326" rtlCol="0"/>
          <a:lstStyle>
            <a:lvl1pPr algn="r">
              <a:defRPr sz="1200"/>
            </a:lvl1pPr>
          </a:lstStyle>
          <a:p>
            <a:fld id="{A5865519-5FC2-4530-8949-194C152D6575}" type="datetimeFigureOut">
              <a:rPr lang="en-US" smtClean="0"/>
              <a:t>6/10/2022</a:t>
            </a:fld>
            <a:endParaRPr lang="en-US"/>
          </a:p>
        </p:txBody>
      </p:sp>
      <p:sp>
        <p:nvSpPr>
          <p:cNvPr id="4" name="Footer Placeholder 3"/>
          <p:cNvSpPr>
            <a:spLocks noGrp="1"/>
          </p:cNvSpPr>
          <p:nvPr>
            <p:ph type="ftr" sz="quarter" idx="2"/>
          </p:nvPr>
        </p:nvSpPr>
        <p:spPr>
          <a:xfrm>
            <a:off x="0" y="9119475"/>
            <a:ext cx="3169920" cy="481726"/>
          </a:xfrm>
          <a:prstGeom prst="rect">
            <a:avLst/>
          </a:prstGeom>
        </p:spPr>
        <p:txBody>
          <a:bodyPr vert="horz" lIns="96651" tIns="48326" rIns="96651" bIns="48326"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5"/>
            <a:ext cx="3169920" cy="481726"/>
          </a:xfrm>
          <a:prstGeom prst="rect">
            <a:avLst/>
          </a:prstGeom>
        </p:spPr>
        <p:txBody>
          <a:bodyPr vert="horz" lIns="96651" tIns="48326" rIns="96651" bIns="48326" rtlCol="0" anchor="b"/>
          <a:lstStyle>
            <a:lvl1pPr algn="r">
              <a:defRPr sz="1200"/>
            </a:lvl1pPr>
          </a:lstStyle>
          <a:p>
            <a:fld id="{03DCDAE4-7BEE-42B7-934A-0AC54FC009EB}" type="slidenum">
              <a:rPr lang="en-US" smtClean="0"/>
              <a:t>‹#›</a:t>
            </a:fld>
            <a:endParaRPr lang="en-US"/>
          </a:p>
        </p:txBody>
      </p:sp>
    </p:spTree>
    <p:extLst>
      <p:ext uri="{BB962C8B-B14F-4D97-AF65-F5344CB8AC3E}">
        <p14:creationId xmlns:p14="http://schemas.microsoft.com/office/powerpoint/2010/main" val="3750624698"/>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93725" y="704850"/>
            <a:ext cx="6346825" cy="3570288"/>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601382" y="4685099"/>
            <a:ext cx="6342879" cy="3984179"/>
          </a:xfrm>
          <a:prstGeom prst="rect">
            <a:avLst/>
          </a:prstGeom>
        </p:spPr>
        <p:txBody>
          <a:bodyPr vert="horz" lIns="96651" tIns="48326" rIns="96651" bIns="48326"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Header Placeholder 1"/>
          <p:cNvSpPr>
            <a:spLocks noGrp="1"/>
          </p:cNvSpPr>
          <p:nvPr>
            <p:ph type="hdr" sz="quarter"/>
          </p:nvPr>
        </p:nvSpPr>
        <p:spPr>
          <a:xfrm>
            <a:off x="3767148" y="121813"/>
            <a:ext cx="3152941" cy="468510"/>
          </a:xfrm>
          <a:prstGeom prst="rect">
            <a:avLst/>
          </a:prstGeom>
          <a:noFill/>
        </p:spPr>
        <p:txBody>
          <a:bodyPr vert="horz" lIns="0" tIns="0" rIns="0" bIns="0" rtlCol="0"/>
          <a:lstStyle>
            <a:lvl1pPr algn="l">
              <a:defRPr sz="1300">
                <a:solidFill>
                  <a:schemeClr val="tx2"/>
                </a:solidFill>
                <a:latin typeface="+mn-lt"/>
              </a:defRPr>
            </a:lvl1pPr>
          </a:lstStyle>
          <a:p>
            <a:pPr algn="r"/>
            <a:r>
              <a:rPr lang="en-CA" sz="1000" dirty="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720063067"/>
      </p:ext>
    </p:extLst>
  </p:cSld>
  <p:clrMap bg1="lt1" tx1="dk1" bg2="lt2" tx2="dk2" accent1="accent1" accent2="accent2" accent3="accent3" accent4="accent4" accent5="accent5" accent6="accent6" hlink="hlink" folHlink="folHlink"/>
  <p:hf sldNum="0" ftr="0" dt="0"/>
  <p:notesStyle>
    <a:lvl1pPr marL="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40" rtl="0" eaLnBrk="1" fontAlgn="auto" latinLnBrk="0" hangingPunct="1">
              <a:lnSpc>
                <a:spcPct val="100000"/>
              </a:lnSpc>
              <a:spcBef>
                <a:spcPts val="0"/>
              </a:spcBef>
              <a:spcAft>
                <a:spcPts val="0"/>
              </a:spcAft>
              <a:buClrTx/>
              <a:buSzTx/>
              <a:buFontTx/>
              <a:buNone/>
              <a:tabLst/>
              <a:defRPr/>
            </a:pPr>
            <a:r>
              <a:rPr lang="en-US" dirty="0" smtClean="0"/>
              <a:t>In this lesson, you will learn how to configure and use SSL</a:t>
            </a:r>
            <a:r>
              <a:rPr lang="en-US" baseline="0" dirty="0" smtClean="0"/>
              <a:t> </a:t>
            </a:r>
            <a:r>
              <a:rPr lang="en-US" dirty="0" smtClean="0"/>
              <a:t>VPNs. SSL</a:t>
            </a:r>
            <a:r>
              <a:rPr lang="en-US" baseline="0" dirty="0" smtClean="0"/>
              <a:t> </a:t>
            </a:r>
            <a:r>
              <a:rPr lang="en-US" dirty="0" smtClean="0"/>
              <a:t>VPNs are an easy way to give</a:t>
            </a:r>
            <a:r>
              <a:rPr lang="en-US" baseline="0" dirty="0" smtClean="0"/>
              <a:t> remote users access to</a:t>
            </a:r>
            <a:r>
              <a:rPr lang="en-US" dirty="0" smtClean="0"/>
              <a:t> your private network.</a:t>
            </a:r>
          </a:p>
          <a:p>
            <a:endParaRPr lang="en-US" dirty="0"/>
          </a:p>
        </p:txBody>
      </p:sp>
      <p:sp>
        <p:nvSpPr>
          <p:cNvPr id="4" name="Header Placeholder 3"/>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481389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CA" dirty="0"/>
              <a:t>In this lesson, you will </a:t>
            </a:r>
            <a:r>
              <a:rPr lang="en-CA" sz="1000" kern="1200" dirty="0">
                <a:solidFill>
                  <a:schemeClr val="tx1"/>
                </a:solidFill>
                <a:latin typeface="Arial" panose="020B0604020202020204" pitchFamily="34" charset="0"/>
                <a:ea typeface="+mn-ea"/>
                <a:cs typeface="Arial" panose="020B0604020202020204" pitchFamily="34" charset="0"/>
              </a:rPr>
              <a:t>learn about the topics shown on this slide.</a:t>
            </a:r>
          </a:p>
          <a:p>
            <a:pPr marL="0" marR="0" indent="0" algn="l" defTabSz="914240" rtl="0" eaLnBrk="1" fontAlgn="auto" latinLnBrk="0" hangingPunct="1">
              <a:lnSpc>
                <a:spcPct val="100000"/>
              </a:lnSpc>
              <a:spcBef>
                <a:spcPts val="0"/>
              </a:spcBef>
              <a:spcAft>
                <a:spcPts val="0"/>
              </a:spcAft>
              <a:buClrTx/>
              <a:buSzTx/>
              <a:buFontTx/>
              <a:buNone/>
              <a:tabLst/>
              <a:defRPr/>
            </a:pPr>
            <a:endParaRPr lang="en-CA" baseline="0" dirty="0"/>
          </a:p>
          <a:p>
            <a:pPr marL="171450" marR="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baseline="0" dirty="0"/>
          </a:p>
          <a:p>
            <a:pPr marL="171450" marR="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baseline="0"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207013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CA" baseline="0" dirty="0"/>
              <a:t>After completing this section, you should be able to </a:t>
            </a:r>
            <a:r>
              <a:rPr lang="en-US" baseline="0" dirty="0" smtClean="0"/>
              <a:t>achieve the objective shown on this slide. B</a:t>
            </a:r>
            <a:r>
              <a:rPr lang="en-CA" baseline="0" dirty="0"/>
              <a:t>y demonstrating competence in understanding the different ways FortiGate allows </a:t>
            </a:r>
            <a:r>
              <a:rPr lang="en-CA" baseline="0" dirty="0" smtClean="0"/>
              <a:t>SSL VPN </a:t>
            </a:r>
            <a:r>
              <a:rPr lang="en-CA" baseline="0" dirty="0"/>
              <a:t>connections, you will be able to better design the configuration of your </a:t>
            </a:r>
            <a:r>
              <a:rPr lang="en-CA" baseline="0" dirty="0" smtClean="0"/>
              <a:t>SSL VPN.</a:t>
            </a:r>
            <a:endParaRPr lang="en-CA" dirty="0"/>
          </a:p>
          <a:p>
            <a:endParaRPr lang="en-CA" dirty="0"/>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097054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two</a:t>
            </a:r>
            <a:r>
              <a:rPr lang="en-US" baseline="0" dirty="0" smtClean="0"/>
              <a:t> </a:t>
            </a:r>
            <a:r>
              <a:rPr lang="en-US" dirty="0" smtClean="0"/>
              <a:t>modes</a:t>
            </a:r>
            <a:r>
              <a:rPr lang="en-US" baseline="0" dirty="0" smtClean="0"/>
              <a:t> </a:t>
            </a:r>
            <a:r>
              <a:rPr lang="en-US" dirty="0" smtClean="0"/>
              <a:t>you can use to access an SSL VPN. Both can build an SSL VPN connection, but they don’t support the same features.</a:t>
            </a:r>
            <a:r>
              <a:rPr lang="en-US" baseline="0" dirty="0" smtClean="0"/>
              <a:t> </a:t>
            </a:r>
          </a:p>
          <a:p>
            <a:endParaRPr lang="en-US" baseline="0" dirty="0" smtClean="0"/>
          </a:p>
          <a:p>
            <a:r>
              <a:rPr lang="en-US" dirty="0" smtClean="0"/>
              <a:t>Which should you choose?</a:t>
            </a:r>
          </a:p>
          <a:p>
            <a:r>
              <a:rPr lang="en-US" dirty="0" smtClean="0"/>
              <a:t>It depends on which applications you need to send through the VPN, the technical knowledge of your users, and whether or not you have administrative permissions on their computers.</a:t>
            </a:r>
            <a:endParaRPr lang="en-CA" dirty="0" smtClean="0"/>
          </a:p>
          <a:p>
            <a:endParaRPr lang="en-US" dirty="0" smtClean="0"/>
          </a:p>
          <a:p>
            <a:pPr marL="0" marR="0" indent="0" algn="l" defTabSz="914240" rtl="0" eaLnBrk="1" fontAlgn="auto" latinLnBrk="0" hangingPunct="1">
              <a:lnSpc>
                <a:spcPct val="100000"/>
              </a:lnSpc>
              <a:spcBef>
                <a:spcPts val="0"/>
              </a:spcBef>
              <a:spcAft>
                <a:spcPts val="0"/>
              </a:spcAft>
              <a:buClrTx/>
              <a:buSzTx/>
              <a:buFontTx/>
              <a:buNone/>
              <a:tabLst/>
              <a:defRPr/>
            </a:pPr>
            <a:r>
              <a:rPr lang="en-US" dirty="0" smtClean="0"/>
              <a:t>Tunnel mode supports the most protocols, but</a:t>
            </a:r>
            <a:r>
              <a:rPr lang="en-US" baseline="0" dirty="0" smtClean="0"/>
              <a:t> requires the installation of a</a:t>
            </a:r>
            <a:r>
              <a:rPr lang="en-US" dirty="0" smtClean="0"/>
              <a:t> VPN client, or more specifically, a virtual network adapter. To tunnel traffic using the virtual adapter, you must use the </a:t>
            </a:r>
            <a:r>
              <a:rPr lang="en-US" dirty="0" err="1" smtClean="0"/>
              <a:t>FortiClient</a:t>
            </a:r>
            <a:r>
              <a:rPr lang="en-US" dirty="0" smtClean="0"/>
              <a:t> remote access feature or </a:t>
            </a:r>
            <a:r>
              <a:rPr lang="en-US" dirty="0" err="1" smtClean="0"/>
              <a:t>FortiClient</a:t>
            </a:r>
            <a:r>
              <a:rPr lang="en-US" baseline="0" dirty="0" smtClean="0"/>
              <a:t> </a:t>
            </a:r>
            <a:r>
              <a:rPr lang="en-US" dirty="0" smtClean="0"/>
              <a:t>VPN-only client.</a:t>
            </a:r>
          </a:p>
          <a:p>
            <a:r>
              <a:rPr lang="en-US" dirty="0" smtClean="0"/>
              <a:t> </a:t>
            </a:r>
          </a:p>
          <a:p>
            <a:r>
              <a:rPr lang="en-US" dirty="0" smtClean="0"/>
              <a:t>Web mode requires only a web browser, but supports a limited number of protocols.</a:t>
            </a:r>
          </a:p>
          <a:p>
            <a:endParaRPr lang="en-US" dirty="0"/>
          </a:p>
        </p:txBody>
      </p:sp>
      <p:sp>
        <p:nvSpPr>
          <p:cNvPr id="4" name="Header Placeholder 3"/>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1834818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US" dirty="0"/>
              <a:t>Web</a:t>
            </a:r>
            <a:r>
              <a:rPr lang="en-US" i="1" dirty="0"/>
              <a:t> </a:t>
            </a:r>
            <a:r>
              <a:rPr lang="en-US" baseline="0" dirty="0" smtClean="0"/>
              <a:t>mode</a:t>
            </a:r>
            <a:r>
              <a:rPr lang="en-US" dirty="0" smtClean="0"/>
              <a:t> </a:t>
            </a:r>
            <a:r>
              <a:rPr lang="en-US" dirty="0"/>
              <a:t>is the simplest </a:t>
            </a:r>
            <a:r>
              <a:rPr lang="en-US" dirty="0" smtClean="0"/>
              <a:t>SSL VPN </a:t>
            </a:r>
            <a:r>
              <a:rPr lang="en-US" dirty="0"/>
              <a:t>mode</a:t>
            </a:r>
            <a:r>
              <a:rPr lang="en-US" i="1" dirty="0"/>
              <a:t>.</a:t>
            </a:r>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r>
              <a:rPr lang="en-US" dirty="0"/>
              <a:t>Like you would with any other HTTPS website, you simply log in to the </a:t>
            </a:r>
            <a:r>
              <a:rPr lang="en-US" dirty="0" smtClean="0"/>
              <a:t>SSL VPN </a:t>
            </a:r>
            <a:r>
              <a:rPr lang="en-US" dirty="0"/>
              <a:t>portal web page on FortiGate. It acts like a server-side reverse proxy, or</a:t>
            </a:r>
            <a:r>
              <a:rPr lang="en-US" baseline="0" dirty="0"/>
              <a:t> a </a:t>
            </a:r>
            <a:r>
              <a:rPr lang="en-US" baseline="0" dirty="0" smtClean="0"/>
              <a:t>simple </a:t>
            </a:r>
            <a:r>
              <a:rPr lang="en-US" sz="1000" kern="1200" dirty="0">
                <a:solidFill>
                  <a:schemeClr val="tx1"/>
                </a:solidFill>
                <a:latin typeface="Arial" panose="020B0604020202020204" pitchFamily="34" charset="0"/>
                <a:ea typeface="+mn-ea"/>
                <a:cs typeface="Arial" panose="020B0604020202020204" pitchFamily="34" charset="0"/>
              </a:rPr>
              <a:t>secure HTTP/HTTPS gateway, </a:t>
            </a:r>
            <a:r>
              <a:rPr lang="en-US" dirty="0"/>
              <a:t>that connects you with the applications on the private network.</a:t>
            </a:r>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r>
              <a:rPr lang="en-US" dirty="0"/>
              <a:t>The</a:t>
            </a:r>
            <a:r>
              <a:rPr lang="en-US" b="1" dirty="0"/>
              <a:t> Bookmarks</a:t>
            </a:r>
            <a:r>
              <a:rPr lang="en-US" dirty="0"/>
              <a:t> section on the </a:t>
            </a:r>
            <a:r>
              <a:rPr lang="en-US" b="1" dirty="0" smtClean="0"/>
              <a:t>SSL VPN </a:t>
            </a:r>
            <a:r>
              <a:rPr lang="en-US" b="1" dirty="0"/>
              <a:t>Portal </a:t>
            </a:r>
            <a:r>
              <a:rPr lang="en-US" dirty="0"/>
              <a:t>page contains links to all or some of the resources available for the user to access. The </a:t>
            </a:r>
            <a:r>
              <a:rPr lang="en-US" b="1" dirty="0"/>
              <a:t>Quick Connection</a:t>
            </a:r>
            <a:r>
              <a:rPr lang="en-US" dirty="0"/>
              <a:t> widget allows users to type the URL or IP address of the server they want to reach. A web </a:t>
            </a:r>
            <a:r>
              <a:rPr lang="en-US" dirty="0" smtClean="0"/>
              <a:t>SSL VPN </a:t>
            </a:r>
            <a:r>
              <a:rPr lang="en-US" dirty="0"/>
              <a:t>user makes use of these two widgets to access the internal network. The main advantage of web mode is that it does not usually require you to install extra software. </a:t>
            </a:r>
          </a:p>
          <a:p>
            <a:endParaRPr lang="en-US" dirty="0"/>
          </a:p>
          <a:p>
            <a:r>
              <a:rPr lang="en-US" dirty="0"/>
              <a:t>Web mode has two main disadvantages: </a:t>
            </a:r>
          </a:p>
          <a:p>
            <a:pPr marL="228600" indent="-228600">
              <a:buFont typeface="Arial" panose="020B0604020202020204" pitchFamily="34" charset="0"/>
              <a:buChar char="•"/>
            </a:pPr>
            <a:r>
              <a:rPr lang="en-US" dirty="0"/>
              <a:t>All interaction with the internal network must be done using the browser exclusively (through the web portal). External network applications running on the user’s PC cannot send data across the VPN. </a:t>
            </a:r>
          </a:p>
          <a:p>
            <a:pPr marL="228600" marR="0" indent="-22860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This </a:t>
            </a:r>
            <a:r>
              <a:rPr lang="en-US" sz="1000" kern="1200" dirty="0">
                <a:solidFill>
                  <a:schemeClr val="tx1"/>
                </a:solidFill>
                <a:latin typeface="Arial" panose="020B0604020202020204" pitchFamily="34" charset="0"/>
                <a:ea typeface="+mn-ea"/>
                <a:cs typeface="Arial" panose="020B0604020202020204" pitchFamily="34" charset="0"/>
              </a:rPr>
              <a:t>a secure HTTP/HTTPS gateway </a:t>
            </a:r>
            <a:r>
              <a:rPr lang="en-US" dirty="0"/>
              <a:t>mechanism that doesn’t work for accessing everything, but just few popular protocols, such as HTTP, FTP, and Windows shares.</a:t>
            </a:r>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4201062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US" dirty="0"/>
              <a:t>How does web mode work?</a:t>
            </a:r>
          </a:p>
          <a:p>
            <a:endParaRPr lang="en-CA" dirty="0"/>
          </a:p>
          <a:p>
            <a:pPr marL="228600" indent="-228600">
              <a:buFont typeface="+mj-lt"/>
              <a:buAutoNum type="arabicPeriod"/>
            </a:pPr>
            <a:r>
              <a:rPr lang="en-CA" dirty="0"/>
              <a:t>Remote users establish</a:t>
            </a:r>
            <a:r>
              <a:rPr lang="en-CA" baseline="0" dirty="0"/>
              <a:t> a </a:t>
            </a:r>
            <a:r>
              <a:rPr lang="en-US" sz="1000" kern="1200" dirty="0">
                <a:solidFill>
                  <a:schemeClr val="tx1"/>
                </a:solidFill>
                <a:latin typeface="Arial" panose="020B0604020202020204" pitchFamily="34" charset="0"/>
                <a:ea typeface="+mn-ea"/>
                <a:cs typeface="Arial" panose="020B0604020202020204" pitchFamily="34" charset="0"/>
              </a:rPr>
              <a:t>secure connection between </a:t>
            </a:r>
            <a:r>
              <a:rPr lang="en-CA" dirty="0"/>
              <a:t>the </a:t>
            </a:r>
            <a:r>
              <a:rPr lang="en-US" sz="1000" kern="1200" dirty="0">
                <a:solidFill>
                  <a:schemeClr val="tx1"/>
                </a:solidFill>
                <a:latin typeface="Arial" panose="020B0604020202020204" pitchFamily="34" charset="0"/>
                <a:ea typeface="+mn-ea"/>
                <a:cs typeface="Arial" panose="020B0604020202020204" pitchFamily="34" charset="0"/>
              </a:rPr>
              <a:t>SSL security in the web browser and </a:t>
            </a:r>
            <a:r>
              <a:rPr lang="en-US" sz="1000" kern="1200" dirty="0" smtClean="0">
                <a:solidFill>
                  <a:schemeClr val="tx1"/>
                </a:solidFill>
                <a:latin typeface="Arial" panose="020B0604020202020204" pitchFamily="34" charset="0"/>
                <a:ea typeface="+mn-ea"/>
                <a:cs typeface="Arial" panose="020B0604020202020204" pitchFamily="34" charset="0"/>
              </a:rPr>
              <a:t>the </a:t>
            </a:r>
            <a:r>
              <a:rPr lang="en-US" dirty="0" smtClean="0"/>
              <a:t>FortiGate </a:t>
            </a:r>
            <a:r>
              <a:rPr lang="en-CA" dirty="0" smtClean="0"/>
              <a:t>SSL VPN </a:t>
            </a:r>
            <a:r>
              <a:rPr lang="en-CA" dirty="0"/>
              <a:t>portal</a:t>
            </a:r>
            <a:r>
              <a:rPr lang="en-US" dirty="0"/>
              <a:t>, using HTTPS. </a:t>
            </a:r>
          </a:p>
          <a:p>
            <a:pPr marL="228600" indent="-228600">
              <a:buFont typeface="+mj-lt"/>
              <a:buAutoNum type="arabicPeriod"/>
            </a:pPr>
            <a:r>
              <a:rPr lang="en-US" dirty="0"/>
              <a:t>Once connected, users provide credentials in order to pass an authentication check. </a:t>
            </a:r>
          </a:p>
          <a:p>
            <a:pPr marL="228600" indent="-228600">
              <a:buFont typeface="+mj-lt"/>
              <a:buAutoNum type="arabicPeriod"/>
            </a:pPr>
            <a:r>
              <a:rPr lang="en-US" dirty="0"/>
              <a:t>Then, FortiGate displays the </a:t>
            </a:r>
            <a:r>
              <a:rPr lang="en-US" dirty="0" smtClean="0"/>
              <a:t>SSL VPN </a:t>
            </a:r>
            <a:r>
              <a:rPr lang="en-US" dirty="0"/>
              <a:t>portal that contains services and network resources for users to access.</a:t>
            </a:r>
            <a:r>
              <a:rPr lang="en-US" baseline="0" dirty="0"/>
              <a:t> </a:t>
            </a:r>
          </a:p>
          <a:p>
            <a:pPr marL="0" indent="0">
              <a:buFont typeface="+mj-lt"/>
              <a:buNone/>
            </a:pPr>
            <a:endParaRPr lang="en-US" baseline="0" dirty="0"/>
          </a:p>
          <a:p>
            <a:pPr marL="0" marR="0" indent="0" algn="l" defTabSz="914240" rtl="0" eaLnBrk="1" fontAlgn="auto" latinLnBrk="0" hangingPunct="1">
              <a:lnSpc>
                <a:spcPct val="100000"/>
              </a:lnSpc>
              <a:spcBef>
                <a:spcPts val="0"/>
              </a:spcBef>
              <a:spcAft>
                <a:spcPts val="0"/>
              </a:spcAft>
              <a:buClrTx/>
              <a:buSzTx/>
              <a:buFont typeface="+mj-lt"/>
              <a:buNone/>
              <a:tabLst/>
              <a:defRPr/>
            </a:pPr>
            <a:r>
              <a:rPr lang="en-US" dirty="0"/>
              <a:t>Different users can have different portals with different resources and access permissions.</a:t>
            </a:r>
            <a:r>
              <a:rPr lang="en-US" baseline="0" dirty="0"/>
              <a:t> Also notice the </a:t>
            </a:r>
            <a:r>
              <a:rPr lang="en-US" sz="1000" dirty="0"/>
              <a:t>source IP seen by </a:t>
            </a:r>
            <a:r>
              <a:rPr lang="en-US" sz="1000" baseline="0" dirty="0"/>
              <a:t>the</a:t>
            </a:r>
            <a:r>
              <a:rPr lang="en-US" sz="1000" dirty="0"/>
              <a:t> </a:t>
            </a:r>
            <a:r>
              <a:rPr lang="en-US" baseline="0" dirty="0"/>
              <a:t>remote resources is FortiGate’s internal IP address and not the user’s IP address.</a:t>
            </a:r>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4201062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US" dirty="0"/>
              <a:t>Tunnel mode is the second option FortiGate</a:t>
            </a:r>
            <a:r>
              <a:rPr lang="en-US" baseline="0" dirty="0"/>
              <a:t> provides to </a:t>
            </a:r>
            <a:r>
              <a:rPr lang="en-US" dirty="0"/>
              <a:t>access resources within an </a:t>
            </a:r>
            <a:r>
              <a:rPr lang="en-US" dirty="0" smtClean="0"/>
              <a:t>SSL VPN.</a:t>
            </a:r>
            <a:endParaRPr lang="en-US" i="1" dirty="0"/>
          </a:p>
          <a:p>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r>
              <a:rPr lang="en-US" dirty="0"/>
              <a:t>Tunnel mode requires </a:t>
            </a:r>
            <a:r>
              <a:rPr lang="en-US" dirty="0" smtClean="0"/>
              <a:t>FortiClient</a:t>
            </a:r>
            <a:r>
              <a:rPr lang="en-US" baseline="0" dirty="0" smtClean="0"/>
              <a:t> </a:t>
            </a:r>
            <a:r>
              <a:rPr lang="en-US" dirty="0" smtClean="0"/>
              <a:t>to </a:t>
            </a:r>
            <a:r>
              <a:rPr lang="en-US" dirty="0"/>
              <a:t>connect to FortiGate. FortiClient</a:t>
            </a:r>
            <a:r>
              <a:rPr lang="en-US" baseline="0" dirty="0"/>
              <a:t> adds a </a:t>
            </a:r>
            <a:r>
              <a:rPr lang="en-US" dirty="0"/>
              <a:t>virtual network adapter identified as </a:t>
            </a:r>
            <a:r>
              <a:rPr lang="en-US" i="0" dirty="0" err="1">
                <a:latin typeface="Courier New" panose="02070309020205020404" pitchFamily="49" charset="0"/>
                <a:cs typeface="Courier New" panose="02070309020205020404" pitchFamily="49" charset="0"/>
              </a:rPr>
              <a:t>fortissl</a:t>
            </a:r>
            <a:r>
              <a:rPr lang="en-US" dirty="0"/>
              <a:t> to the user’s PC.</a:t>
            </a:r>
            <a:r>
              <a:rPr lang="en-US" baseline="0" dirty="0"/>
              <a:t> </a:t>
            </a:r>
            <a:r>
              <a:rPr lang="en-US" dirty="0"/>
              <a:t>This virtual adapter dynamically receives an IP address from FortiGate each time FortiGate</a:t>
            </a:r>
            <a:r>
              <a:rPr lang="en-US" baseline="0" dirty="0"/>
              <a:t> </a:t>
            </a:r>
            <a:r>
              <a:rPr lang="en-US" dirty="0"/>
              <a:t>establishes</a:t>
            </a:r>
            <a:r>
              <a:rPr lang="en-US" baseline="0" dirty="0"/>
              <a:t> </a:t>
            </a:r>
            <a:r>
              <a:rPr lang="en-US" dirty="0"/>
              <a:t>a new VPN connection</a:t>
            </a:r>
            <a:r>
              <a:rPr lang="en-CA" dirty="0"/>
              <a:t>.</a:t>
            </a:r>
            <a:r>
              <a:rPr lang="en-CA" baseline="0" dirty="0"/>
              <a:t> </a:t>
            </a:r>
            <a:r>
              <a:rPr lang="en-US" dirty="0"/>
              <a:t>Inside the tunnel,</a:t>
            </a:r>
            <a:r>
              <a:rPr lang="en-US" baseline="0" dirty="0"/>
              <a:t> all</a:t>
            </a:r>
            <a:r>
              <a:rPr lang="en-US" dirty="0"/>
              <a:t> traffic is </a:t>
            </a:r>
            <a:r>
              <a:rPr lang="en-US" dirty="0" smtClean="0"/>
              <a:t>SSL/TLS</a:t>
            </a:r>
            <a:r>
              <a:rPr lang="en-US" baseline="0" dirty="0" smtClean="0"/>
              <a:t> </a:t>
            </a:r>
            <a:r>
              <a:rPr lang="en-US" dirty="0"/>
              <a:t>encapsulated.</a:t>
            </a:r>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p>
          <a:p>
            <a:r>
              <a:rPr lang="en-US" dirty="0"/>
              <a:t>The main advantage of tunnel mode over web mode is that after the VPN is established, any IP network application running on the client can send traffic through the tunnel. The main disadvantage is that tunnel mode requires the installation of a VPN software client, which requires administrative privileges.</a:t>
            </a:r>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42010628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US" dirty="0"/>
              <a:t>How does tunnel</a:t>
            </a:r>
            <a:r>
              <a:rPr lang="en-US" baseline="0" dirty="0"/>
              <a:t> mode </a:t>
            </a:r>
            <a:r>
              <a:rPr lang="en-US" dirty="0"/>
              <a:t>work?</a:t>
            </a:r>
          </a:p>
          <a:p>
            <a:endParaRPr lang="en-US" dirty="0"/>
          </a:p>
          <a:p>
            <a:pPr marL="228600" marR="0" lvl="1" indent="-228600" algn="l" defTabSz="914240" rtl="0" eaLnBrk="1" fontAlgn="auto" latinLnBrk="0" hangingPunct="1">
              <a:lnSpc>
                <a:spcPct val="100000"/>
              </a:lnSpc>
              <a:spcBef>
                <a:spcPts val="0"/>
              </a:spcBef>
              <a:spcAft>
                <a:spcPts val="0"/>
              </a:spcAft>
              <a:buClrTx/>
              <a:buSzTx/>
              <a:buFont typeface="+mj-lt"/>
              <a:buAutoNum type="arabicPeriod"/>
              <a:tabLst/>
              <a:defRPr/>
            </a:pPr>
            <a:r>
              <a:rPr lang="en-US" dirty="0"/>
              <a:t>Users connect to FortiGate through </a:t>
            </a:r>
            <a:r>
              <a:rPr lang="en-US" dirty="0" err="1"/>
              <a:t>FortiClient</a:t>
            </a:r>
            <a:r>
              <a:rPr lang="en-US" dirty="0"/>
              <a:t>.</a:t>
            </a:r>
          </a:p>
          <a:p>
            <a:pPr marL="228600" marR="0" lvl="1" indent="-228600" algn="l" defTabSz="914240" rtl="0" eaLnBrk="1" fontAlgn="auto" latinLnBrk="0" hangingPunct="1">
              <a:lnSpc>
                <a:spcPct val="100000"/>
              </a:lnSpc>
              <a:spcBef>
                <a:spcPts val="0"/>
              </a:spcBef>
              <a:spcAft>
                <a:spcPts val="0"/>
              </a:spcAft>
              <a:buClrTx/>
              <a:buSzTx/>
              <a:buFont typeface="+mj-lt"/>
              <a:buAutoNum type="arabicPeriod"/>
              <a:tabLst/>
              <a:defRPr/>
            </a:pPr>
            <a:r>
              <a:rPr lang="en-US" dirty="0"/>
              <a:t>Users provide credentials</a:t>
            </a:r>
            <a:r>
              <a:rPr lang="en-US" baseline="0" dirty="0"/>
              <a:t> to </a:t>
            </a:r>
            <a:r>
              <a:rPr lang="en-US" dirty="0"/>
              <a:t>successfully authenticate</a:t>
            </a:r>
            <a:r>
              <a:rPr lang="en-CA" dirty="0"/>
              <a:t>.</a:t>
            </a:r>
            <a:r>
              <a:rPr lang="en-CA" baseline="0" dirty="0"/>
              <a:t> </a:t>
            </a:r>
          </a:p>
          <a:p>
            <a:pPr marL="228600" marR="0" lvl="1" indent="-228600" algn="l" defTabSz="914240" rtl="0" eaLnBrk="1" fontAlgn="auto" latinLnBrk="0" hangingPunct="1">
              <a:lnSpc>
                <a:spcPct val="100000"/>
              </a:lnSpc>
              <a:spcBef>
                <a:spcPts val="0"/>
              </a:spcBef>
              <a:spcAft>
                <a:spcPts val="0"/>
              </a:spcAft>
              <a:buClrTx/>
              <a:buSzTx/>
              <a:buFont typeface="+mj-lt"/>
              <a:buAutoNum type="arabicPeriod"/>
              <a:tabLst/>
              <a:defRPr/>
            </a:pPr>
            <a:r>
              <a:rPr lang="en-CA" dirty="0"/>
              <a:t>FortiGate establishes the tunnel</a:t>
            </a:r>
            <a:r>
              <a:rPr lang="en-CA" baseline="0" dirty="0"/>
              <a:t> and </a:t>
            </a:r>
            <a:r>
              <a:rPr lang="en-CA" dirty="0" smtClean="0"/>
              <a:t>assigns </a:t>
            </a:r>
            <a:r>
              <a:rPr lang="en-CA" dirty="0"/>
              <a:t>an IP address</a:t>
            </a:r>
            <a:r>
              <a:rPr lang="en-CA" baseline="0" dirty="0"/>
              <a:t> to t</a:t>
            </a:r>
            <a:r>
              <a:rPr lang="en-CA" dirty="0"/>
              <a:t>he client’s </a:t>
            </a:r>
            <a:r>
              <a:rPr lang="en-US" dirty="0">
                <a:cs typeface="Arial" charset="0"/>
              </a:rPr>
              <a:t>virtual network adapter (</a:t>
            </a:r>
            <a:r>
              <a:rPr lang="en-US" dirty="0" err="1">
                <a:latin typeface="Courier New" panose="02070309020205020404" pitchFamily="49" charset="0"/>
                <a:cs typeface="Courier New" panose="02070309020205020404" pitchFamily="49" charset="0"/>
              </a:rPr>
              <a:t>fortissl</a:t>
            </a:r>
            <a:r>
              <a:rPr lang="en-US" dirty="0">
                <a:latin typeface="Arial" panose="020B0604020202020204" pitchFamily="34" charset="0"/>
                <a:cs typeface="Arial" panose="020B0604020202020204" pitchFamily="34" charset="0"/>
              </a:rPr>
              <a:t>).</a:t>
            </a:r>
            <a:r>
              <a:rPr lang="en-US" baseline="0" dirty="0">
                <a:latin typeface="Courier New" panose="02070309020205020404" pitchFamily="49" charset="0"/>
                <a:cs typeface="Courier New" panose="02070309020205020404" pitchFamily="49" charset="0"/>
              </a:rPr>
              <a:t> </a:t>
            </a:r>
            <a:r>
              <a:rPr lang="en-CA" baseline="0" dirty="0">
                <a:latin typeface="Arial" panose="020B0604020202020204" pitchFamily="34" charset="0"/>
                <a:cs typeface="Arial" panose="020B0604020202020204" pitchFamily="34" charset="0"/>
              </a:rPr>
              <a:t>This is the </a:t>
            </a:r>
            <a:r>
              <a:rPr lang="en-CA" dirty="0"/>
              <a:t>client’s source IP address for the duration of the connection.</a:t>
            </a:r>
          </a:p>
          <a:p>
            <a:pPr marL="228600" marR="0" lvl="1" indent="-228600" algn="l" defTabSz="914240" rtl="0" eaLnBrk="1" fontAlgn="auto" latinLnBrk="0" hangingPunct="1">
              <a:lnSpc>
                <a:spcPct val="100000"/>
              </a:lnSpc>
              <a:spcBef>
                <a:spcPts val="0"/>
              </a:spcBef>
              <a:spcAft>
                <a:spcPts val="0"/>
              </a:spcAft>
              <a:buClrTx/>
              <a:buSzTx/>
              <a:buFont typeface="+mj-lt"/>
              <a:buAutoNum type="arabicPeriod"/>
              <a:tabLst/>
              <a:defRPr/>
            </a:pPr>
            <a:r>
              <a:rPr lang="en-US" dirty="0"/>
              <a:t>Then, users can access services and network resources through</a:t>
            </a:r>
            <a:r>
              <a:rPr lang="en-US" baseline="0" dirty="0"/>
              <a:t> the encrypted tunnel.</a:t>
            </a:r>
            <a:endParaRPr lang="en-CA" dirty="0"/>
          </a:p>
          <a:p>
            <a:endParaRPr lang="en-CA" dirty="0"/>
          </a:p>
          <a:p>
            <a:r>
              <a:rPr lang="en-US" dirty="0"/>
              <a:t>FortiClien</a:t>
            </a:r>
            <a:r>
              <a:rPr lang="en-US" baseline="0" dirty="0"/>
              <a:t>t encrypts all traffic from the remote computer and sends it over the </a:t>
            </a:r>
            <a:r>
              <a:rPr lang="en-US" baseline="0" dirty="0" smtClean="0"/>
              <a:t>SSL VPN </a:t>
            </a:r>
            <a:r>
              <a:rPr lang="en-US" baseline="0" dirty="0"/>
              <a:t>tunnel. F</a:t>
            </a:r>
            <a:r>
              <a:rPr lang="en-US" dirty="0"/>
              <a:t>ortiGate receives the encrypted traffic, de-encapsulates the IP packets, and forwards them to the private network as if the</a:t>
            </a:r>
            <a:r>
              <a:rPr lang="en-US" baseline="0" dirty="0"/>
              <a:t> traffic </a:t>
            </a:r>
            <a:r>
              <a:rPr lang="en-US" dirty="0"/>
              <a:t>originated from inside the network. </a:t>
            </a:r>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936461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dirty="0" smtClean="0">
                <a:solidFill>
                  <a:schemeClr val="tx1"/>
                </a:solidFill>
                <a:effectLst/>
                <a:latin typeface="Arial" panose="020B0604020202020204" pitchFamily="34" charset="0"/>
                <a:ea typeface="+mn-ea"/>
                <a:cs typeface="Arial" panose="020B0604020202020204" pitchFamily="34" charset="0"/>
              </a:rPr>
              <a:t>The FortiGate can be configured as an SSL VPN client, using an </a:t>
            </a:r>
            <a:r>
              <a:rPr lang="en-US" sz="1000" b="0" i="1" kern="1200" dirty="0" smtClean="0">
                <a:solidFill>
                  <a:schemeClr val="tx1"/>
                </a:solidFill>
                <a:effectLst/>
                <a:latin typeface="Arial" panose="020B0604020202020204" pitchFamily="34" charset="0"/>
                <a:ea typeface="+mn-ea"/>
                <a:cs typeface="Arial" panose="020B0604020202020204" pitchFamily="34" charset="0"/>
              </a:rPr>
              <a:t>SSL-VPN Tunnel</a:t>
            </a:r>
            <a:r>
              <a:rPr lang="en-US" sz="1000" b="0" i="0" kern="1200" dirty="0" smtClean="0">
                <a:solidFill>
                  <a:schemeClr val="tx1"/>
                </a:solidFill>
                <a:effectLst/>
                <a:latin typeface="Arial" panose="020B0604020202020204" pitchFamily="34" charset="0"/>
                <a:ea typeface="+mn-ea"/>
                <a:cs typeface="Arial" panose="020B0604020202020204" pitchFamily="34" charset="0"/>
              </a:rPr>
              <a:t> interface type. When an SSL VPN client connection is established, the client dynamically adds a route to the subnets that are returned by the SSL VPN server. Policies can be defined to allow users that are behind the client to be tunneled through SSL VPN to destinations on the SSL VPN server.</a:t>
            </a:r>
          </a:p>
          <a:p>
            <a:endParaRPr lang="en-US" dirty="0" smtClean="0"/>
          </a:p>
          <a:p>
            <a:r>
              <a:rPr lang="en-US" dirty="0" smtClean="0"/>
              <a:t>This setup provide</a:t>
            </a:r>
            <a:r>
              <a:rPr lang="en-US" sz="1000" b="0" i="0" kern="1200" dirty="0" smtClean="0">
                <a:solidFill>
                  <a:schemeClr val="tx1"/>
                </a:solidFill>
                <a:effectLst/>
                <a:latin typeface="Arial" panose="020B0604020202020204" pitchFamily="34" charset="0"/>
                <a:ea typeface="+mn-ea"/>
                <a:cs typeface="Arial" panose="020B0604020202020204" pitchFamily="34" charset="0"/>
              </a:rPr>
              <a:t>s IP-level connectivity in tunnel mode and allows hub-and-spoke topologies to be configured with </a:t>
            </a:r>
            <a:r>
              <a:rPr lang="en-US" sz="1000" b="0" i="0" kern="1200" dirty="0" err="1" smtClean="0">
                <a:solidFill>
                  <a:schemeClr val="tx1"/>
                </a:solidFill>
                <a:effectLst/>
                <a:latin typeface="Arial" panose="020B0604020202020204" pitchFamily="34" charset="0"/>
                <a:ea typeface="+mn-ea"/>
                <a:cs typeface="Arial" panose="020B0604020202020204" pitchFamily="34" charset="0"/>
              </a:rPr>
              <a:t>FortiGates</a:t>
            </a:r>
            <a:r>
              <a:rPr lang="en-US" sz="1000" b="0" i="0" kern="1200" dirty="0" smtClean="0">
                <a:solidFill>
                  <a:schemeClr val="tx1"/>
                </a:solidFill>
                <a:effectLst/>
                <a:latin typeface="Arial" panose="020B0604020202020204" pitchFamily="34" charset="0"/>
                <a:ea typeface="+mn-ea"/>
                <a:cs typeface="Arial" panose="020B0604020202020204" pitchFamily="34" charset="0"/>
              </a:rPr>
              <a:t> as both the SSL VPN hub and spokes. </a:t>
            </a:r>
            <a:r>
              <a:rPr lang="en-US" dirty="0"/>
              <a:t>T</a:t>
            </a:r>
            <a:r>
              <a:rPr lang="en-US" sz="1000" b="0" i="0" kern="1200" dirty="0" smtClean="0">
                <a:solidFill>
                  <a:schemeClr val="tx1"/>
                </a:solidFill>
                <a:effectLst/>
                <a:latin typeface="Arial" panose="020B0604020202020204" pitchFamily="34" charset="0"/>
                <a:ea typeface="+mn-ea"/>
                <a:cs typeface="Arial" panose="020B0604020202020204" pitchFamily="34" charset="0"/>
              </a:rPr>
              <a:t>his can be useful to avoid issues caused by intermediate devices, such as:</a:t>
            </a:r>
          </a:p>
          <a:p>
            <a:pPr marL="628570" lvl="1" indent="-171450">
              <a:buFont typeface="Arial" panose="020B0604020202020204" pitchFamily="34" charset="0"/>
              <a:buChar char="•"/>
            </a:pPr>
            <a:r>
              <a:rPr lang="en-US" b="0" i="0" kern="1200" dirty="0" smtClean="0">
                <a:solidFill>
                  <a:schemeClr val="tx1"/>
                </a:solidFill>
                <a:effectLst/>
                <a:latin typeface="Arial" panose="020B0604020202020204" pitchFamily="34" charset="0"/>
                <a:ea typeface="+mn-ea"/>
                <a:cs typeface="Arial" panose="020B0604020202020204" pitchFamily="34" charset="0"/>
              </a:rPr>
              <a:t>ESP packets being blocked.</a:t>
            </a:r>
          </a:p>
          <a:p>
            <a:pPr marL="628570" lvl="1" indent="-171450">
              <a:buFont typeface="Arial" panose="020B0604020202020204" pitchFamily="34" charset="0"/>
              <a:buChar char="•"/>
            </a:pPr>
            <a:r>
              <a:rPr lang="en-US" b="0" i="0" kern="1200" dirty="0" smtClean="0">
                <a:solidFill>
                  <a:schemeClr val="tx1"/>
                </a:solidFill>
                <a:effectLst/>
                <a:latin typeface="Arial" panose="020B0604020202020204" pitchFamily="34" charset="0"/>
                <a:ea typeface="+mn-ea"/>
                <a:cs typeface="Arial" panose="020B0604020202020204" pitchFamily="34" charset="0"/>
              </a:rPr>
              <a:t>UDP ports 500 or 4500 being blocked.</a:t>
            </a:r>
          </a:p>
          <a:p>
            <a:pPr marL="628570" lvl="1" indent="-171450">
              <a:buFont typeface="Arial" panose="020B0604020202020204" pitchFamily="34" charset="0"/>
              <a:buChar char="•"/>
            </a:pPr>
            <a:r>
              <a:rPr lang="en-US" b="0" i="0" kern="1200" dirty="0" smtClean="0">
                <a:solidFill>
                  <a:schemeClr val="tx1"/>
                </a:solidFill>
                <a:effectLst/>
                <a:latin typeface="Arial" panose="020B0604020202020204" pitchFamily="34" charset="0"/>
                <a:ea typeface="+mn-ea"/>
                <a:cs typeface="Arial" panose="020B0604020202020204" pitchFamily="34" charset="0"/>
              </a:rPr>
              <a:t>Fragments being dropped, causing IKE negotiation that uses large certificates to fail if the peer does not support IKE fragmentation.</a:t>
            </a:r>
          </a:p>
          <a:p>
            <a:endParaRPr lang="en-US" sz="1000" b="0" i="0" kern="1200" dirty="0" smtClean="0">
              <a:solidFill>
                <a:schemeClr val="tx1"/>
              </a:solidFill>
              <a:effectLst/>
              <a:latin typeface="Arial" panose="020B0604020202020204" pitchFamily="34" charset="0"/>
              <a:ea typeface="+mn-ea"/>
              <a:cs typeface="Arial" panose="020B0604020202020204" pitchFamily="34" charset="0"/>
            </a:endParaRPr>
          </a:p>
          <a:p>
            <a:r>
              <a:rPr lang="en-US" sz="1000" b="0" i="0" kern="1200" dirty="0" smtClean="0">
                <a:solidFill>
                  <a:schemeClr val="tx1"/>
                </a:solidFill>
                <a:effectLst/>
                <a:latin typeface="Arial" panose="020B0604020202020204" pitchFamily="34" charset="0"/>
                <a:ea typeface="+mn-ea"/>
                <a:cs typeface="Arial" panose="020B0604020202020204" pitchFamily="34" charset="0"/>
              </a:rPr>
              <a:t>If the client specified destination is </a:t>
            </a:r>
            <a:r>
              <a:rPr lang="en-US" sz="1000" b="0" i="1" kern="1200" dirty="0" smtClean="0">
                <a:solidFill>
                  <a:schemeClr val="tx1"/>
                </a:solidFill>
                <a:effectLst/>
                <a:latin typeface="Arial" panose="020B0604020202020204" pitchFamily="34" charset="0"/>
                <a:ea typeface="+mn-ea"/>
                <a:cs typeface="Arial" panose="020B0604020202020204" pitchFamily="34" charset="0"/>
              </a:rPr>
              <a:t>all</a:t>
            </a:r>
            <a:r>
              <a:rPr lang="en-US" sz="1000" b="0" i="0" kern="1200" dirty="0" smtClean="0">
                <a:solidFill>
                  <a:schemeClr val="tx1"/>
                </a:solidFill>
                <a:effectLst/>
                <a:latin typeface="Arial" panose="020B0604020202020204" pitchFamily="34" charset="0"/>
                <a:ea typeface="+mn-ea"/>
                <a:cs typeface="Arial" panose="020B0604020202020204" pitchFamily="34" charset="0"/>
              </a:rPr>
              <a:t>, a default route is effectively dynamically created on the SSL VPN client, and the new default route is added to the existing default route in the form of ECMP.  You can modify route’s distance or priority according to </a:t>
            </a:r>
            <a:r>
              <a:rPr lang="en-US" dirty="0" smtClean="0"/>
              <a:t>your requirements. </a:t>
            </a:r>
            <a:r>
              <a:rPr lang="en-US" sz="1000" b="0" i="0" kern="1200" dirty="0" smtClean="0">
                <a:solidFill>
                  <a:schemeClr val="tx1"/>
                </a:solidFill>
                <a:effectLst/>
                <a:latin typeface="Arial" panose="020B0604020202020204" pitchFamily="34" charset="0"/>
                <a:ea typeface="+mn-ea"/>
                <a:cs typeface="Arial" panose="020B0604020202020204" pitchFamily="34" charset="0"/>
              </a:rPr>
              <a:t>To avoid a default route being learned on the SSL VPN client, on the SSL VPN server define a specific destination. </a:t>
            </a:r>
            <a:r>
              <a:rPr lang="en-US" dirty="0" smtClean="0"/>
              <a:t>Split </a:t>
            </a:r>
            <a:r>
              <a:rPr lang="en-US" dirty="0"/>
              <a:t>tunneling is used so that only the destination addresses defined in the server's firewall policies are routed to the server, and all other traffic is connected directly to the internet.</a:t>
            </a:r>
          </a:p>
          <a:p>
            <a:endParaRPr lang="en-US" sz="1000" b="0" i="0" kern="1200" dirty="0" smtClean="0">
              <a:solidFill>
                <a:schemeClr val="tx1"/>
              </a:solidFill>
              <a:effectLst/>
              <a:latin typeface="Arial" panose="020B0604020202020204" pitchFamily="34" charset="0"/>
              <a:ea typeface="+mn-ea"/>
              <a:cs typeface="Arial" panose="020B0604020202020204" pitchFamily="34" charset="0"/>
            </a:endParaRPr>
          </a:p>
          <a:p>
            <a:r>
              <a:rPr lang="en-US" dirty="0" smtClean="0"/>
              <a:t>This configuration requires proper CA certificate installation as </a:t>
            </a:r>
            <a:r>
              <a:rPr lang="en-US" sz="1000" b="0" i="0" kern="1200" dirty="0" smtClean="0">
                <a:solidFill>
                  <a:schemeClr val="tx1"/>
                </a:solidFill>
                <a:effectLst/>
                <a:latin typeface="Arial" panose="020B0604020202020204" pitchFamily="34" charset="0"/>
                <a:ea typeface="+mn-ea"/>
                <a:cs typeface="Arial" panose="020B0604020202020204" pitchFamily="34" charset="0"/>
              </a:rPr>
              <a:t>the SSL VPN client FortiGate/user uses PSK and a PKI client certificate to authenticate. The FortiGate devices must have the proper CA certificate installed to verify the certificate chain to the root CA that signed the certificate.</a:t>
            </a:r>
          </a:p>
          <a:p>
            <a:endParaRPr lang="en-US" dirty="0"/>
          </a:p>
        </p:txBody>
      </p:sp>
      <p:sp>
        <p:nvSpPr>
          <p:cNvPr id="4" name="Header Placeholder 3"/>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4233867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US" dirty="0" smtClean="0"/>
              <a:t>How does tunnel</a:t>
            </a:r>
            <a:r>
              <a:rPr lang="en-US" baseline="0" dirty="0" smtClean="0"/>
              <a:t> mode </a:t>
            </a:r>
            <a:r>
              <a:rPr lang="en-US" dirty="0" smtClean="0"/>
              <a:t>work when FortiGate is configured</a:t>
            </a:r>
            <a:r>
              <a:rPr lang="en-US" baseline="0" dirty="0" smtClean="0"/>
              <a:t> </a:t>
            </a:r>
            <a:r>
              <a:rPr lang="en-US" dirty="0" smtClean="0"/>
              <a:t>as client?</a:t>
            </a:r>
          </a:p>
          <a:p>
            <a:endParaRPr lang="en-US" dirty="0" smtClean="0"/>
          </a:p>
          <a:p>
            <a:pPr marL="228600" marR="0" lvl="1" indent="-228600" algn="l" defTabSz="914240" rtl="0" eaLnBrk="1" fontAlgn="auto" latinLnBrk="0" hangingPunct="1">
              <a:lnSpc>
                <a:spcPct val="100000"/>
              </a:lnSpc>
              <a:spcBef>
                <a:spcPts val="0"/>
              </a:spcBef>
              <a:spcAft>
                <a:spcPts val="0"/>
              </a:spcAft>
              <a:buClrTx/>
              <a:buSzTx/>
              <a:buFont typeface="+mj-lt"/>
              <a:buAutoNum type="arabicPeriod"/>
              <a:tabLst/>
              <a:defRPr/>
            </a:pPr>
            <a:r>
              <a:rPr lang="en-GB" dirty="0" smtClean="0"/>
              <a:t>Client</a:t>
            </a:r>
            <a:r>
              <a:rPr lang="en-GB" baseline="0" dirty="0" smtClean="0"/>
              <a:t> FortiGate connects to server FortiGate using SSL/TLS</a:t>
            </a:r>
            <a:endParaRPr lang="en-US" dirty="0" smtClean="0"/>
          </a:p>
          <a:p>
            <a:pPr marL="228600" marR="0" lvl="1" indent="-228600" algn="l" defTabSz="914240" rtl="0" eaLnBrk="1" fontAlgn="auto" latinLnBrk="0" hangingPunct="1">
              <a:lnSpc>
                <a:spcPct val="100000"/>
              </a:lnSpc>
              <a:spcBef>
                <a:spcPts val="0"/>
              </a:spcBef>
              <a:spcAft>
                <a:spcPts val="0"/>
              </a:spcAft>
              <a:buClrTx/>
              <a:buSzTx/>
              <a:buFont typeface="+mj-lt"/>
              <a:buAutoNum type="arabicPeriod"/>
              <a:tabLst/>
              <a:defRPr/>
            </a:pPr>
            <a:r>
              <a:rPr lang="en-US" dirty="0" smtClean="0"/>
              <a:t>Client</a:t>
            </a:r>
            <a:r>
              <a:rPr lang="en-US" baseline="0" dirty="0" smtClean="0"/>
              <a:t> FortiGate</a:t>
            </a:r>
            <a:r>
              <a:rPr lang="en-US" dirty="0" smtClean="0"/>
              <a:t> provides credentials</a:t>
            </a:r>
            <a:r>
              <a:rPr lang="en-US" baseline="0" dirty="0" smtClean="0"/>
              <a:t> to </a:t>
            </a:r>
            <a:r>
              <a:rPr lang="en-US" dirty="0" smtClean="0"/>
              <a:t>successfully authenticate</a:t>
            </a:r>
            <a:r>
              <a:rPr lang="en-CA" dirty="0" smtClean="0"/>
              <a:t>.</a:t>
            </a:r>
            <a:r>
              <a:rPr lang="en-CA" baseline="0" dirty="0" smtClean="0"/>
              <a:t> It includes both PSK (local or remote user account) and PKI (certificate) accounts.</a:t>
            </a:r>
          </a:p>
          <a:p>
            <a:pPr marL="228600" marR="0" lvl="1" indent="-228600" algn="l" defTabSz="914240" rtl="0" eaLnBrk="1" fontAlgn="auto" latinLnBrk="0" hangingPunct="1">
              <a:lnSpc>
                <a:spcPct val="100000"/>
              </a:lnSpc>
              <a:spcBef>
                <a:spcPts val="0"/>
              </a:spcBef>
              <a:spcAft>
                <a:spcPts val="0"/>
              </a:spcAft>
              <a:buClrTx/>
              <a:buSzTx/>
              <a:buFont typeface="+mj-lt"/>
              <a:buAutoNum type="arabicPeriod"/>
              <a:tabLst/>
              <a:defRPr/>
            </a:pPr>
            <a:r>
              <a:rPr lang="en-CA" dirty="0" smtClean="0"/>
              <a:t>Server FortiGate establishes the tunnel</a:t>
            </a:r>
            <a:r>
              <a:rPr lang="en-CA" baseline="0" dirty="0" smtClean="0"/>
              <a:t> and </a:t>
            </a:r>
            <a:r>
              <a:rPr lang="en-CA" dirty="0" smtClean="0"/>
              <a:t>assigns an IP address</a:t>
            </a:r>
            <a:r>
              <a:rPr lang="en-CA" baseline="0" dirty="0" smtClean="0"/>
              <a:t> to t</a:t>
            </a:r>
            <a:r>
              <a:rPr lang="en-CA" dirty="0" smtClean="0"/>
              <a:t>he client’s </a:t>
            </a:r>
            <a:r>
              <a:rPr lang="en-US" dirty="0" smtClean="0">
                <a:cs typeface="Arial" charset="0"/>
              </a:rPr>
              <a:t>virtual network adapter.</a:t>
            </a:r>
            <a:r>
              <a:rPr lang="en-US" baseline="0" dirty="0" smtClean="0">
                <a:latin typeface="Courier New" panose="02070309020205020404" pitchFamily="49" charset="0"/>
                <a:cs typeface="Courier New" panose="02070309020205020404" pitchFamily="49" charset="0"/>
              </a:rPr>
              <a:t> </a:t>
            </a:r>
            <a:r>
              <a:rPr lang="en-CA" baseline="0" dirty="0" smtClean="0">
                <a:latin typeface="Arial" panose="020B0604020202020204" pitchFamily="34" charset="0"/>
                <a:cs typeface="Arial" panose="020B0604020202020204" pitchFamily="34" charset="0"/>
              </a:rPr>
              <a:t>This is the </a:t>
            </a:r>
            <a:r>
              <a:rPr lang="en-CA" dirty="0" smtClean="0"/>
              <a:t>client’s source IP address for the duration of the connection.</a:t>
            </a:r>
          </a:p>
          <a:p>
            <a:pPr marL="228600" marR="0" lvl="1" indent="-228600" algn="l" defTabSz="914240" rtl="0" eaLnBrk="1" fontAlgn="auto" latinLnBrk="0" hangingPunct="1">
              <a:lnSpc>
                <a:spcPct val="100000"/>
              </a:lnSpc>
              <a:spcBef>
                <a:spcPts val="0"/>
              </a:spcBef>
              <a:spcAft>
                <a:spcPts val="0"/>
              </a:spcAft>
              <a:buClrTx/>
              <a:buSzTx/>
              <a:buFont typeface="+mj-lt"/>
              <a:buAutoNum type="arabicPeriod"/>
              <a:tabLst/>
              <a:defRPr/>
            </a:pPr>
            <a:r>
              <a:rPr lang="en-US" dirty="0" smtClean="0"/>
              <a:t>Then, users can access services and network resources through</a:t>
            </a:r>
            <a:r>
              <a:rPr lang="en-US" baseline="0" dirty="0" smtClean="0"/>
              <a:t> the encrypted tunnel behind client FortiGate.</a:t>
            </a:r>
            <a:endParaRPr lang="en-CA" dirty="0" smtClean="0"/>
          </a:p>
          <a:p>
            <a:endParaRPr lang="en-CA" dirty="0" smtClean="0"/>
          </a:p>
          <a:p>
            <a:r>
              <a:rPr lang="en-US" baseline="0" dirty="0" smtClean="0"/>
              <a:t>SSL VPN client FortiGate device encrypts all traffic from the remote computer and sends it over the SSL VPN tunnel. SSL VPN server F</a:t>
            </a:r>
            <a:r>
              <a:rPr lang="en-US" dirty="0" smtClean="0"/>
              <a:t>ortiGate receives the encrypted traffic, de-encapsulates the IP packets, and forwards them to the private network as if the</a:t>
            </a:r>
            <a:r>
              <a:rPr lang="en-US" baseline="0" dirty="0" smtClean="0"/>
              <a:t> traffic </a:t>
            </a:r>
            <a:r>
              <a:rPr lang="en-US" dirty="0" smtClean="0"/>
              <a:t>originated from inside the network. </a:t>
            </a:r>
          </a:p>
          <a:p>
            <a:endParaRPr lang="en-US" dirty="0"/>
          </a:p>
        </p:txBody>
      </p:sp>
      <p:sp>
        <p:nvSpPr>
          <p:cNvPr id="4" name="Header Placeholder 3"/>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788926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Tunnel mode also supports split tunneling. </a:t>
            </a:r>
          </a:p>
          <a:p>
            <a:endParaRPr lang="en-US" dirty="0"/>
          </a:p>
          <a:p>
            <a:r>
              <a:rPr lang="en-US" dirty="0"/>
              <a:t>When split tunneling is disabled, all IP traffic generated by the client’s computer—including </a:t>
            </a:r>
            <a:r>
              <a:rPr lang="en-US" dirty="0" smtClean="0"/>
              <a:t>internet </a:t>
            </a:r>
            <a:r>
              <a:rPr lang="en-US" dirty="0"/>
              <a:t>traffic—is routed across the </a:t>
            </a:r>
            <a:r>
              <a:rPr lang="en-US" dirty="0" smtClean="0"/>
              <a:t>SSL VPN </a:t>
            </a:r>
            <a:r>
              <a:rPr lang="en-US" dirty="0"/>
              <a:t>tunnel to FortiGate. This sets up FortiGate as the default gateway for the host. You can use this method in order to apply security features to the traffic on those remote clients, or to monitor or restrict </a:t>
            </a:r>
            <a:r>
              <a:rPr lang="en-US" dirty="0" smtClean="0"/>
              <a:t>internet </a:t>
            </a:r>
            <a:r>
              <a:rPr lang="en-US" dirty="0"/>
              <a:t>access. This adds more latency and increases bandwidth usage</a:t>
            </a:r>
            <a:r>
              <a:rPr lang="en-US" dirty="0" smtClean="0"/>
              <a:t>.</a:t>
            </a:r>
          </a:p>
          <a:p>
            <a:endParaRPr lang="en-GB" dirty="0" smtClean="0"/>
          </a:p>
          <a:p>
            <a:r>
              <a:rPr lang="en-US" sz="1000" b="0" i="0" kern="1200" dirty="0" smtClean="0">
                <a:solidFill>
                  <a:schemeClr val="tx1"/>
                </a:solidFill>
                <a:effectLst/>
                <a:latin typeface="Arial" panose="020B0604020202020204" pitchFamily="34" charset="0"/>
                <a:ea typeface="+mn-ea"/>
                <a:cs typeface="Arial" panose="020B0604020202020204" pitchFamily="34" charset="0"/>
              </a:rPr>
              <a:t>In a FortiGate (client) to FortiGate (server) setup, a default route is effectively dynamically created on the SSL VPN client FortiGate, and the new default route is added to the existing default route in the form of ECMP. The</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 following options are available </a:t>
            </a:r>
            <a:r>
              <a:rPr lang="en-US" sz="1000" b="0" i="0" kern="1200" dirty="0" smtClean="0">
                <a:solidFill>
                  <a:schemeClr val="tx1"/>
                </a:solidFill>
                <a:effectLst/>
                <a:latin typeface="Arial" panose="020B0604020202020204" pitchFamily="34" charset="0"/>
                <a:ea typeface="+mn-ea"/>
                <a:cs typeface="Arial" panose="020B0604020202020204" pitchFamily="34" charset="0"/>
              </a:rPr>
              <a:t>to configure routing:</a:t>
            </a:r>
          </a:p>
          <a:p>
            <a:pPr marL="628570" lvl="1" indent="-171450">
              <a:buFont typeface="Arial" panose="020B0604020202020204" pitchFamily="34" charset="0"/>
              <a:buChar char="•"/>
            </a:pPr>
            <a:r>
              <a:rPr lang="en-US" sz="1000" b="0" i="0" kern="1200" dirty="0" smtClean="0">
                <a:solidFill>
                  <a:schemeClr val="tx1"/>
                </a:solidFill>
                <a:effectLst/>
                <a:latin typeface="Arial" panose="020B0604020202020204" pitchFamily="34" charset="0"/>
                <a:ea typeface="+mn-ea"/>
                <a:cs typeface="Arial" panose="020B0604020202020204" pitchFamily="34" charset="0"/>
              </a:rPr>
              <a:t>To make all traffic default to the SSL VPN server and still have a route to the server's listening interface, on the SSL VPN client, set a lower distance for the default route that is learned from the server.</a:t>
            </a:r>
          </a:p>
          <a:p>
            <a:pPr marL="628570" lvl="1" indent="-171450">
              <a:buFont typeface="Arial" panose="020B0604020202020204" pitchFamily="34" charset="0"/>
              <a:buChar char="•"/>
            </a:pPr>
            <a:r>
              <a:rPr lang="en-US" sz="1000" b="0" i="0" kern="1200" dirty="0" smtClean="0">
                <a:solidFill>
                  <a:schemeClr val="tx1"/>
                </a:solidFill>
                <a:effectLst/>
                <a:latin typeface="Arial" panose="020B0604020202020204" pitchFamily="34" charset="0"/>
                <a:ea typeface="+mn-ea"/>
                <a:cs typeface="Arial" panose="020B0604020202020204" pitchFamily="34" charset="0"/>
              </a:rPr>
              <a:t>To include both default routes in the routing table, with the route learned from the SSL VPN server taking priority, on the SSL VPN client, set a lower distance for the route learned from the server. If the distance is already zero, then increase the priority on the default route.</a:t>
            </a:r>
          </a:p>
          <a:p>
            <a:endParaRPr lang="en-US" dirty="0"/>
          </a:p>
          <a:p>
            <a:r>
              <a:rPr lang="en-US" dirty="0" smtClean="0"/>
              <a:t>When </a:t>
            </a:r>
            <a:r>
              <a:rPr lang="en-US" dirty="0"/>
              <a:t>split</a:t>
            </a:r>
            <a:r>
              <a:rPr lang="en-US" b="1" dirty="0"/>
              <a:t> </a:t>
            </a:r>
            <a:r>
              <a:rPr lang="en-US" dirty="0"/>
              <a:t>tunneling</a:t>
            </a:r>
            <a:r>
              <a:rPr lang="en-US" b="1" dirty="0"/>
              <a:t> </a:t>
            </a:r>
            <a:r>
              <a:rPr lang="en-US" dirty="0"/>
              <a:t>is enabled, only traffic that is destined for the private network </a:t>
            </a:r>
            <a:r>
              <a:rPr lang="en-US" b="0" i="0" dirty="0"/>
              <a:t>behind</a:t>
            </a:r>
            <a:r>
              <a:rPr lang="en-US" dirty="0"/>
              <a:t> the remote FortiGate is routed through the tunnel.</a:t>
            </a:r>
            <a:r>
              <a:rPr lang="en-US" baseline="0" dirty="0"/>
              <a:t> All other traffic is sent through the usual unencrypted route</a:t>
            </a:r>
            <a:r>
              <a:rPr lang="en-US" baseline="0" dirty="0" smtClean="0"/>
              <a:t>. There is no traffic inspection by FortiGate.</a:t>
            </a:r>
            <a:endParaRPr lang="en-US" baseline="0" dirty="0"/>
          </a:p>
          <a:p>
            <a:endParaRPr lang="en-US" baseline="0" dirty="0"/>
          </a:p>
          <a:p>
            <a:r>
              <a:rPr lang="en-US" baseline="0" dirty="0"/>
              <a:t>Split </a:t>
            </a:r>
            <a:r>
              <a:rPr lang="en-US" sz="1000" kern="1200" baseline="0" dirty="0">
                <a:solidFill>
                  <a:schemeClr val="tx1"/>
                </a:solidFill>
                <a:latin typeface="Arial" panose="020B0604020202020204" pitchFamily="34" charset="0"/>
                <a:ea typeface="+mn-ea"/>
                <a:cs typeface="Arial" panose="020B0604020202020204" pitchFamily="34" charset="0"/>
              </a:rPr>
              <a:t>tunneling helps to </a:t>
            </a:r>
            <a:r>
              <a:rPr lang="en-US" sz="1000" kern="1200" dirty="0">
                <a:solidFill>
                  <a:schemeClr val="tx1"/>
                </a:solidFill>
                <a:latin typeface="Arial" panose="020B0604020202020204" pitchFamily="34" charset="0"/>
                <a:ea typeface="+mn-ea"/>
                <a:cs typeface="Arial" panose="020B0604020202020204" pitchFamily="34" charset="0"/>
              </a:rPr>
              <a:t>conserve bandwidth and alleviates bottlenecks.</a:t>
            </a:r>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936461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305657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Good</a:t>
            </a:r>
            <a:r>
              <a:rPr lang="en-CA" baseline="0" dirty="0"/>
              <a:t> job! You now understand the </a:t>
            </a:r>
            <a:r>
              <a:rPr lang="en-CA" baseline="0" dirty="0" smtClean="0"/>
              <a:t>SSL VPN </a:t>
            </a:r>
            <a:r>
              <a:rPr lang="en-CA" baseline="0" dirty="0"/>
              <a:t>operation modes supported by FortiGate.</a:t>
            </a:r>
          </a:p>
          <a:p>
            <a:endParaRPr lang="en-CA" baseline="0" dirty="0"/>
          </a:p>
          <a:p>
            <a:r>
              <a:rPr lang="en-CA" baseline="0" dirty="0"/>
              <a:t>Now, you will </a:t>
            </a:r>
            <a:r>
              <a:rPr lang="en-CA" dirty="0"/>
              <a:t>learn about</a:t>
            </a:r>
            <a:r>
              <a:rPr lang="en-CA" baseline="0" dirty="0"/>
              <a:t> </a:t>
            </a:r>
            <a:r>
              <a:rPr lang="en-CA" dirty="0"/>
              <a:t>how</a:t>
            </a:r>
            <a:r>
              <a:rPr lang="en-CA" baseline="0" dirty="0"/>
              <a:t> to configure </a:t>
            </a:r>
            <a:r>
              <a:rPr lang="en-CA" baseline="0" dirty="0" smtClean="0"/>
              <a:t>SSL VPNs</a:t>
            </a:r>
            <a:r>
              <a:rPr lang="en-CA" baseline="0" dirty="0"/>
              <a:t>. </a:t>
            </a:r>
            <a:endParaRPr lang="en-CA" dirty="0"/>
          </a:p>
          <a:p>
            <a:endParaRPr lang="en-US" b="1" dirty="0"/>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297783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CA" baseline="0" dirty="0"/>
              <a:t>After completing this section, you should be able to</a:t>
            </a:r>
            <a:r>
              <a:rPr lang="en-US" baseline="0" dirty="0"/>
              <a:t> </a:t>
            </a:r>
            <a:r>
              <a:rPr lang="en-CA" sz="1000" kern="1200" dirty="0">
                <a:solidFill>
                  <a:schemeClr val="tx1"/>
                </a:solidFill>
                <a:latin typeface="Arial" panose="020B0604020202020204" pitchFamily="34" charset="0"/>
                <a:ea typeface="+mn-ea"/>
                <a:cs typeface="Arial" panose="020B0604020202020204" pitchFamily="34" charset="0"/>
              </a:rPr>
              <a:t>achieve the objectives shown on this slide.</a:t>
            </a: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r>
              <a:rPr lang="en-CA" baseline="0" dirty="0"/>
              <a:t>By demonstrating competence in configuring the </a:t>
            </a:r>
            <a:r>
              <a:rPr lang="en-CA" baseline="0" dirty="0" smtClean="0"/>
              <a:t>SSL VPN </a:t>
            </a:r>
            <a:r>
              <a:rPr lang="en-CA" baseline="0" dirty="0"/>
              <a:t>settings on FortiGate, you will be able to better design the architecture of your </a:t>
            </a:r>
            <a:r>
              <a:rPr lang="en-CA" baseline="0" dirty="0" smtClean="0"/>
              <a:t>SSL VPN </a:t>
            </a:r>
            <a:r>
              <a:rPr lang="en-CA" baseline="0" dirty="0"/>
              <a:t>tunnels.</a:t>
            </a:r>
            <a:endParaRPr lang="en-CA" dirty="0"/>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0970543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configure </a:t>
            </a:r>
            <a:r>
              <a:rPr lang="en-US" dirty="0" smtClean="0"/>
              <a:t>SSL VPN, </a:t>
            </a:r>
            <a:r>
              <a:rPr lang="en-US" dirty="0"/>
              <a:t>you must take these steps:</a:t>
            </a:r>
          </a:p>
          <a:p>
            <a:pPr marL="342900" indent="-342900">
              <a:buFont typeface="+mj-lt"/>
              <a:buAutoNum type="arabicPeriod"/>
            </a:pPr>
            <a:r>
              <a:rPr lang="en-US" dirty="0">
                <a:cs typeface="Arial" charset="0"/>
              </a:rPr>
              <a:t>Configure user accounts and groups.</a:t>
            </a:r>
          </a:p>
          <a:p>
            <a:pPr marL="342900" indent="-342900">
              <a:buFont typeface="+mj-lt"/>
              <a:buAutoNum type="arabicPeriod"/>
            </a:pPr>
            <a:r>
              <a:rPr lang="en-US" dirty="0">
                <a:cs typeface="Arial" charset="0"/>
              </a:rPr>
              <a:t>Configure the </a:t>
            </a:r>
            <a:r>
              <a:rPr lang="en-US" dirty="0" smtClean="0">
                <a:cs typeface="Arial" charset="0"/>
              </a:rPr>
              <a:t>SSL VPN </a:t>
            </a:r>
            <a:r>
              <a:rPr lang="en-US" dirty="0">
                <a:cs typeface="Arial" charset="0"/>
              </a:rPr>
              <a:t>portal.</a:t>
            </a:r>
          </a:p>
          <a:p>
            <a:pPr marL="342900" indent="-342900">
              <a:buFont typeface="+mj-lt"/>
              <a:buAutoNum type="arabicPeriod"/>
            </a:pPr>
            <a:r>
              <a:rPr lang="en-US" dirty="0">
                <a:cs typeface="Arial" charset="0"/>
              </a:rPr>
              <a:t>Configure </a:t>
            </a:r>
            <a:r>
              <a:rPr lang="en-US" dirty="0" smtClean="0">
                <a:cs typeface="Arial" charset="0"/>
              </a:rPr>
              <a:t>SSL VPN </a:t>
            </a:r>
            <a:r>
              <a:rPr lang="en-US" dirty="0">
                <a:cs typeface="Arial" charset="0"/>
              </a:rPr>
              <a:t>settings.</a:t>
            </a:r>
          </a:p>
          <a:p>
            <a:pPr marL="342900" indent="-342900">
              <a:buFont typeface="+mj-lt"/>
              <a:buAutoNum type="arabicPeriod"/>
            </a:pPr>
            <a:r>
              <a:rPr lang="en-US" dirty="0">
                <a:cs typeface="Arial" charset="0"/>
              </a:rPr>
              <a:t>Create a firewall policy to accept and decrypt packets. This policy is also used to provide access to internal networks.</a:t>
            </a:r>
          </a:p>
          <a:p>
            <a:pPr marL="342900" indent="-342900">
              <a:buFont typeface="+mj-lt"/>
              <a:buAutoNum type="arabicPeriod"/>
            </a:pPr>
            <a:r>
              <a:rPr lang="en-US" dirty="0">
                <a:cs typeface="Arial" charset="0"/>
              </a:rPr>
              <a:t>Optionally, configure a firewall policy to allow traffic from the </a:t>
            </a:r>
            <a:r>
              <a:rPr lang="en-US" dirty="0" smtClean="0">
                <a:cs typeface="Arial" charset="0"/>
              </a:rPr>
              <a:t>SSL VPN </a:t>
            </a:r>
            <a:r>
              <a:rPr lang="en-US" dirty="0">
                <a:cs typeface="Arial" charset="0"/>
              </a:rPr>
              <a:t>client to the </a:t>
            </a:r>
            <a:r>
              <a:rPr lang="en-US" dirty="0" smtClean="0">
                <a:cs typeface="Arial" charset="0"/>
              </a:rPr>
              <a:t>internet </a:t>
            </a:r>
            <a:r>
              <a:rPr lang="en-US" dirty="0">
                <a:cs typeface="Arial" charset="0"/>
              </a:rPr>
              <a:t>and apply security profiles. User traffic will go to the </a:t>
            </a:r>
            <a:r>
              <a:rPr lang="en-US" dirty="0" smtClean="0">
                <a:cs typeface="Arial" charset="0"/>
              </a:rPr>
              <a:t>internet </a:t>
            </a:r>
            <a:r>
              <a:rPr lang="en-US" dirty="0">
                <a:cs typeface="Arial" charset="0"/>
              </a:rPr>
              <a:t>through FortiGate, where you can monitor or restrict client access to the </a:t>
            </a:r>
            <a:r>
              <a:rPr lang="en-US" dirty="0" smtClean="0">
                <a:cs typeface="Arial" charset="0"/>
              </a:rPr>
              <a:t>internet</a:t>
            </a:r>
            <a:r>
              <a:rPr lang="en-US" dirty="0">
                <a:cs typeface="Arial" charset="0"/>
              </a:rPr>
              <a:t>.</a:t>
            </a:r>
          </a:p>
          <a:p>
            <a:endParaRPr lang="en-US" dirty="0"/>
          </a:p>
          <a:p>
            <a:r>
              <a:rPr lang="en-US" dirty="0"/>
              <a:t>The first step is to create the accounts and user groups for the SSL VPN clients. </a:t>
            </a:r>
          </a:p>
          <a:p>
            <a:endParaRPr lang="en-US" dirty="0"/>
          </a:p>
          <a:p>
            <a:r>
              <a:rPr lang="en-US" dirty="0"/>
              <a:t>All FortiGate authentication methods, with the exception of remote password authentication using the Fortinet Single Sign-On (FSSO) protocol, can be used for SSL VPN authentication. This includes local password authentication and remote password authentication (using the LDAP, RADIUS, and TACACS+ protocols). </a:t>
            </a:r>
          </a:p>
          <a:p>
            <a:endParaRPr lang="en-CA" dirty="0" smtClean="0"/>
          </a:p>
          <a:p>
            <a:r>
              <a:rPr lang="en-CA" dirty="0" smtClean="0"/>
              <a:t>Some </a:t>
            </a:r>
            <a:r>
              <a:rPr lang="en-CA" dirty="0"/>
              <a:t>steps can be configured in a different order than</a:t>
            </a:r>
            <a:r>
              <a:rPr lang="en-CA" baseline="0" dirty="0"/>
              <a:t> what is shown on this slide</a:t>
            </a:r>
            <a:r>
              <a:rPr lang="en-CA" baseline="0" dirty="0" smtClean="0"/>
              <a:t>.</a:t>
            </a:r>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021983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smtClean="0"/>
              <a:t>next </a:t>
            </a:r>
            <a:r>
              <a:rPr lang="en-US" dirty="0"/>
              <a:t>step is to configure the </a:t>
            </a:r>
            <a:r>
              <a:rPr lang="en-US" dirty="0" smtClean="0"/>
              <a:t>SSL VPN </a:t>
            </a:r>
            <a:r>
              <a:rPr lang="en-US" dirty="0"/>
              <a:t>portal(s). An </a:t>
            </a:r>
            <a:r>
              <a:rPr lang="en-US" dirty="0" smtClean="0"/>
              <a:t>SSL VPN </a:t>
            </a:r>
            <a:r>
              <a:rPr lang="en-US" dirty="0"/>
              <a:t>portal contains tools and resource links for the users to access.</a:t>
            </a:r>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r>
              <a:rPr lang="en-US" dirty="0"/>
              <a:t>In tunnel mode, when you enable split tunneling, you need to select </a:t>
            </a:r>
            <a:r>
              <a:rPr lang="en-US" dirty="0" smtClean="0"/>
              <a:t>either </a:t>
            </a:r>
            <a:r>
              <a:rPr lang="en-US" b="1" dirty="0" smtClean="0"/>
              <a:t>Enabled</a:t>
            </a:r>
            <a:r>
              <a:rPr lang="en-US" b="1" baseline="0" dirty="0" smtClean="0"/>
              <a:t> Based on Policy Destination</a:t>
            </a:r>
            <a:r>
              <a:rPr lang="en-US" baseline="0" dirty="0" smtClean="0"/>
              <a:t> or </a:t>
            </a:r>
            <a:r>
              <a:rPr lang="en-US" b="1" baseline="0" dirty="0" smtClean="0"/>
              <a:t>Enabled for Trusted Destination</a:t>
            </a:r>
            <a:r>
              <a:rPr lang="en-US" b="1" dirty="0" smtClean="0"/>
              <a:t> </a:t>
            </a:r>
            <a:r>
              <a:rPr lang="en-US" dirty="0"/>
              <a:t>setting</a:t>
            </a:r>
            <a:r>
              <a:rPr lang="en-US" b="0" dirty="0"/>
              <a:t>,</a:t>
            </a:r>
            <a:r>
              <a:rPr lang="en-US" b="1" dirty="0"/>
              <a:t> </a:t>
            </a:r>
            <a:r>
              <a:rPr lang="en-US" dirty="0"/>
              <a:t>which usually specifies networks behind the FortiGate for the </a:t>
            </a:r>
            <a:r>
              <a:rPr lang="en-US" dirty="0" smtClean="0"/>
              <a:t>SSL VPN </a:t>
            </a:r>
            <a:r>
              <a:rPr lang="en-US" dirty="0"/>
              <a:t>users to access. </a:t>
            </a:r>
            <a:r>
              <a:rPr lang="en-US" b="1" dirty="0" smtClean="0"/>
              <a:t>Enabled</a:t>
            </a:r>
            <a:r>
              <a:rPr lang="en-US" b="1" baseline="0" dirty="0" smtClean="0"/>
              <a:t> Based on Policy Destination </a:t>
            </a:r>
            <a:r>
              <a:rPr lang="en-US" b="0" baseline="0" dirty="0" smtClean="0"/>
              <a:t>allows client traffic in which destination is matched with the destination configured on the SSL VPN firewall policy where as </a:t>
            </a:r>
            <a:r>
              <a:rPr lang="en-US" b="1" baseline="0" dirty="0" smtClean="0"/>
              <a:t>Enabled for Trusted Destination </a:t>
            </a:r>
            <a:r>
              <a:rPr lang="en-US" b="0" baseline="0" dirty="0" smtClean="0"/>
              <a:t>allows client traffic that does not match the explicitly trusted destination.</a:t>
            </a: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endParaRPr lang="en-US" b="1" dirty="0"/>
          </a:p>
          <a:p>
            <a:pPr marL="0" marR="0" indent="0" algn="l" defTabSz="914240" rtl="0" eaLnBrk="1" fontAlgn="auto" latinLnBrk="0" hangingPunct="1">
              <a:lnSpc>
                <a:spcPct val="100000"/>
              </a:lnSpc>
              <a:spcBef>
                <a:spcPts val="0"/>
              </a:spcBef>
              <a:spcAft>
                <a:spcPts val="0"/>
              </a:spcAft>
              <a:buClrTx/>
              <a:buSzTx/>
              <a:buFontTx/>
              <a:buNone/>
              <a:tabLst/>
              <a:defRPr/>
            </a:pPr>
            <a:r>
              <a:rPr lang="en-US" b="0" dirty="0"/>
              <a:t>Also, for tunnel mode you need</a:t>
            </a:r>
            <a:r>
              <a:rPr lang="en-US" b="0" baseline="0" dirty="0"/>
              <a:t> to s</a:t>
            </a:r>
            <a:r>
              <a:rPr lang="en-US" b="0" dirty="0"/>
              <a:t>elect </a:t>
            </a:r>
            <a:r>
              <a:rPr lang="en-US" dirty="0"/>
              <a:t>an IP pool for users to acquire an IP address when connecting. There is a default pool available within the address objects if you do not create your own.</a:t>
            </a:r>
            <a:endParaRPr lang="en-US" b="1" dirty="0"/>
          </a:p>
          <a:p>
            <a:endParaRPr lang="en-US" dirty="0"/>
          </a:p>
          <a:p>
            <a:r>
              <a:rPr lang="en-US" dirty="0"/>
              <a:t>If you</a:t>
            </a:r>
            <a:r>
              <a:rPr lang="en-US" baseline="0" dirty="0"/>
              <a:t> enable web mode, you can customize the </a:t>
            </a:r>
            <a:r>
              <a:rPr lang="en-US" baseline="0" dirty="0" smtClean="0"/>
              <a:t>SSL VPN </a:t>
            </a:r>
            <a:r>
              <a:rPr lang="en-US" baseline="0" dirty="0"/>
              <a:t>portal and p</a:t>
            </a:r>
            <a:r>
              <a:rPr lang="en-US" dirty="0"/>
              <a:t>reconfigure bookmarks to appear for all users who log in to the </a:t>
            </a:r>
            <a:r>
              <a:rPr lang="en-US" dirty="0" smtClean="0"/>
              <a:t>SSL VPN </a:t>
            </a:r>
            <a:r>
              <a:rPr lang="en-US" dirty="0"/>
              <a:t>portal.</a:t>
            </a:r>
            <a:r>
              <a:rPr lang="en-US" baseline="0" dirty="0"/>
              <a:t> </a:t>
            </a:r>
            <a:r>
              <a:rPr lang="en-US" dirty="0"/>
              <a:t>Also, you can individually configure and link each portal to a specific user or user group, so they have access to only required resources.</a:t>
            </a:r>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9232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anose="020B0604020202020204" pitchFamily="34" charset="0"/>
                <a:cs typeface="Arial" panose="020B0604020202020204" pitchFamily="34" charset="0"/>
              </a:rPr>
              <a:t>After you configure the </a:t>
            </a:r>
            <a:r>
              <a:rPr lang="en-US" dirty="0" smtClean="0">
                <a:latin typeface="Arial" panose="020B0604020202020204" pitchFamily="34" charset="0"/>
                <a:cs typeface="Arial" panose="020B0604020202020204" pitchFamily="34" charset="0"/>
              </a:rPr>
              <a:t>SSL VPN </a:t>
            </a:r>
            <a:r>
              <a:rPr lang="en-US" dirty="0">
                <a:latin typeface="Arial" panose="020B0604020202020204" pitchFamily="34" charset="0"/>
                <a:cs typeface="Arial" panose="020B0604020202020204" pitchFamily="34" charset="0"/>
              </a:rPr>
              <a:t>portal</a:t>
            </a:r>
            <a:r>
              <a:rPr lang="en-US" baseline="0" dirty="0">
                <a:latin typeface="Arial" panose="020B0604020202020204" pitchFamily="34" charset="0"/>
                <a:cs typeface="Arial" panose="020B0604020202020204" pitchFamily="34" charset="0"/>
              </a:rPr>
              <a:t>, t</a:t>
            </a:r>
            <a:r>
              <a:rPr lang="en-US" dirty="0">
                <a:latin typeface="Arial" panose="020B0604020202020204" pitchFamily="34" charset="0"/>
                <a:cs typeface="Arial" panose="020B0604020202020204" pitchFamily="34" charset="0"/>
              </a:rPr>
              <a:t>he next step is to configure the </a:t>
            </a:r>
            <a:r>
              <a:rPr lang="en-US" dirty="0" smtClean="0">
                <a:latin typeface="Arial" panose="020B0604020202020204" pitchFamily="34" charset="0"/>
                <a:cs typeface="Arial" panose="020B0604020202020204" pitchFamily="34" charset="0"/>
              </a:rPr>
              <a:t>SSL VPN </a:t>
            </a:r>
            <a:r>
              <a:rPr lang="en-US" dirty="0">
                <a:latin typeface="Arial" panose="020B0604020202020204" pitchFamily="34" charset="0"/>
                <a:cs typeface="Arial" panose="020B0604020202020204" pitchFamily="34" charset="0"/>
              </a:rPr>
              <a:t>settings.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Let’s start with the </a:t>
            </a:r>
            <a:r>
              <a:rPr lang="en-US" b="1" dirty="0">
                <a:latin typeface="Arial" panose="020B0604020202020204" pitchFamily="34" charset="0"/>
                <a:cs typeface="Arial" panose="020B0604020202020204" pitchFamily="34" charset="0"/>
              </a:rPr>
              <a:t>Connection Settings</a:t>
            </a:r>
            <a:r>
              <a:rPr lang="en-US" b="0" baseline="0" dirty="0">
                <a:latin typeface="Arial" panose="020B0604020202020204" pitchFamily="34" charset="0"/>
                <a:cs typeface="Arial" panose="020B0604020202020204" pitchFamily="34" charset="0"/>
              </a:rPr>
              <a:t> </a:t>
            </a:r>
            <a:r>
              <a:rPr lang="en-US" b="0" baseline="0" dirty="0" smtClean="0">
                <a:latin typeface="Arial" panose="020B0604020202020204" pitchFamily="34" charset="0"/>
                <a:cs typeface="Arial" panose="020B0604020202020204" pitchFamily="34" charset="0"/>
              </a:rPr>
              <a:t>section</a:t>
            </a:r>
            <a:r>
              <a:rPr lang="en-US" b="0" baseline="0" dirty="0">
                <a:latin typeface="Arial" panose="020B0604020202020204" pitchFamily="34" charset="0"/>
                <a:cs typeface="Arial" panose="020B0604020202020204" pitchFamily="34" charset="0"/>
              </a:rPr>
              <a:t>. He</a:t>
            </a:r>
            <a:r>
              <a:rPr lang="en-US" dirty="0">
                <a:latin typeface="Arial" panose="020B0604020202020204" pitchFamily="34" charset="0"/>
                <a:cs typeface="Arial" panose="020B0604020202020204" pitchFamily="34" charset="0"/>
              </a:rPr>
              <a:t>re, you</a:t>
            </a:r>
            <a:r>
              <a:rPr lang="en-US" baseline="0" dirty="0">
                <a:latin typeface="Arial" panose="020B0604020202020204" pitchFamily="34" charset="0"/>
                <a:cs typeface="Arial" panose="020B0604020202020204" pitchFamily="34" charset="0"/>
              </a:rPr>
              <a:t> need to map a FortiGate interface to the </a:t>
            </a:r>
            <a:r>
              <a:rPr lang="en-US" baseline="0" dirty="0" smtClean="0">
                <a:latin typeface="Arial" panose="020B0604020202020204" pitchFamily="34" charset="0"/>
                <a:cs typeface="Arial" panose="020B0604020202020204" pitchFamily="34" charset="0"/>
              </a:rPr>
              <a:t>SSL VPN </a:t>
            </a:r>
            <a:r>
              <a:rPr lang="en-US" baseline="0" dirty="0">
                <a:latin typeface="Arial" panose="020B0604020202020204" pitchFamily="34" charset="0"/>
                <a:cs typeface="Arial" panose="020B0604020202020204" pitchFamily="34" charset="0"/>
              </a:rPr>
              <a:t>portal. T</a:t>
            </a:r>
            <a:r>
              <a:rPr lang="en-US" dirty="0">
                <a:latin typeface="Arial" panose="020B0604020202020204" pitchFamily="34" charset="0"/>
                <a:cs typeface="Arial" panose="020B0604020202020204" pitchFamily="34" charset="0"/>
              </a:rPr>
              <a:t>he default port for the </a:t>
            </a:r>
            <a:r>
              <a:rPr lang="en-US" dirty="0" smtClean="0">
                <a:latin typeface="Arial" panose="020B0604020202020204" pitchFamily="34" charset="0"/>
                <a:cs typeface="Arial" panose="020B0604020202020204" pitchFamily="34" charset="0"/>
              </a:rPr>
              <a:t>SSL VPN </a:t>
            </a:r>
            <a:r>
              <a:rPr lang="en-US" dirty="0">
                <a:latin typeface="Arial" panose="020B0604020202020204" pitchFamily="34" charset="0"/>
                <a:cs typeface="Arial" panose="020B0604020202020204" pitchFamily="34" charset="0"/>
              </a:rPr>
              <a:t>portal is 443. This means users need to connect to the IP address of the FortiGate interface</a:t>
            </a:r>
            <a:r>
              <a:rPr lang="en-US" baseline="0" dirty="0">
                <a:latin typeface="Arial" panose="020B0604020202020204" pitchFamily="34" charset="0"/>
                <a:cs typeface="Arial" panose="020B0604020202020204" pitchFamily="34" charset="0"/>
              </a:rPr>
              <a:t> mapped to the </a:t>
            </a:r>
            <a:r>
              <a:rPr lang="en-US" baseline="0" dirty="0" smtClean="0">
                <a:latin typeface="Arial" panose="020B0604020202020204" pitchFamily="34" charset="0"/>
                <a:cs typeface="Arial" panose="020B0604020202020204" pitchFamily="34" charset="0"/>
              </a:rPr>
              <a:t>SSL VPN </a:t>
            </a:r>
            <a:r>
              <a:rPr lang="en-US" baseline="0" dirty="0">
                <a:latin typeface="Arial" panose="020B0604020202020204" pitchFamily="34" charset="0"/>
                <a:cs typeface="Arial" panose="020B0604020202020204" pitchFamily="34" charset="0"/>
              </a:rPr>
              <a:t>portal, using </a:t>
            </a:r>
            <a:r>
              <a:rPr lang="en-US" dirty="0" smtClean="0">
                <a:latin typeface="Arial" panose="020B0604020202020204" pitchFamily="34" charset="0"/>
                <a:cs typeface="Arial" panose="020B0604020202020204" pitchFamily="34" charset="0"/>
              </a:rPr>
              <a:t>port443</a:t>
            </a:r>
            <a:r>
              <a:rPr lang="en-US" baseline="0" dirty="0" smtClean="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HTTPS</a:t>
            </a:r>
            <a:r>
              <a:rPr lang="en-US"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If</a:t>
            </a:r>
            <a:r>
              <a:rPr lang="en-CA" baseline="0" dirty="0">
                <a:latin typeface="Arial" panose="020B0604020202020204" pitchFamily="34" charset="0"/>
                <a:cs typeface="Arial" panose="020B0604020202020204" pitchFamily="34" charset="0"/>
              </a:rPr>
              <a:t> you </a:t>
            </a:r>
            <a:r>
              <a:rPr lang="en-CA" dirty="0">
                <a:latin typeface="Arial" panose="020B0604020202020204" pitchFamily="34" charset="0"/>
                <a:cs typeface="Arial" panose="020B0604020202020204" pitchFamily="34" charset="0"/>
              </a:rPr>
              <a:t>enable </a:t>
            </a:r>
            <a:r>
              <a:rPr lang="en-CA" b="1" dirty="0">
                <a:latin typeface="Arial" panose="020B0604020202020204" pitchFamily="34" charset="0"/>
                <a:cs typeface="Arial" panose="020B0604020202020204" pitchFamily="34" charset="0"/>
              </a:rPr>
              <a:t>Redirect HTTP to </a:t>
            </a:r>
            <a:r>
              <a:rPr lang="en-CA" b="1" dirty="0" smtClean="0">
                <a:latin typeface="Arial" panose="020B0604020202020204" pitchFamily="34" charset="0"/>
                <a:cs typeface="Arial" panose="020B0604020202020204" pitchFamily="34" charset="0"/>
              </a:rPr>
              <a:t>SSL VPN</a:t>
            </a:r>
            <a:r>
              <a:rPr lang="en-CA" dirty="0" smtClean="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users who connect using HTTP (TCP port 80) will be redirected to HTTPS. </a:t>
            </a:r>
          </a:p>
          <a:p>
            <a:pPr marL="0" marR="0" indent="0" algn="l" defTabSz="914240" rtl="0" eaLnBrk="1" fontAlgn="auto" latinLnBrk="0" hangingPunct="1">
              <a:lnSpc>
                <a:spcPct val="100000"/>
              </a:lnSpc>
              <a:spcBef>
                <a:spcPts val="0"/>
              </a:spcBef>
              <a:spcAft>
                <a:spcPts val="0"/>
              </a:spcAft>
              <a:buClrTx/>
              <a:buSzTx/>
              <a:buFontTx/>
              <a:buNone/>
              <a:tabLst/>
              <a:defRPr/>
            </a:pPr>
            <a:endParaRPr lang="en-CA" dirty="0">
              <a:latin typeface="Arial" panose="020B0604020202020204" pitchFamily="34" charset="0"/>
              <a:cs typeface="Arial" panose="020B0604020202020204" pitchFamily="34" charset="0"/>
            </a:endParaRPr>
          </a:p>
          <a:p>
            <a:pPr marL="0" marR="0" indent="0" algn="l" defTabSz="914240" rtl="0" eaLnBrk="1" fontAlgn="auto" latinLnBrk="0" hangingPunct="1">
              <a:lnSpc>
                <a:spcPct val="100000"/>
              </a:lnSpc>
              <a:spcBef>
                <a:spcPts val="0"/>
              </a:spcBef>
              <a:spcAft>
                <a:spcPts val="0"/>
              </a:spcAft>
              <a:buClrTx/>
              <a:buSzTx/>
              <a:buFontTx/>
              <a:buNone/>
              <a:tabLst/>
              <a:defRPr/>
            </a:pPr>
            <a:r>
              <a:rPr lang="en-CA" dirty="0">
                <a:latin typeface="Arial" panose="020B0604020202020204" pitchFamily="34" charset="0"/>
                <a:cs typeface="Arial" panose="020B0604020202020204" pitchFamily="34" charset="0"/>
              </a:rPr>
              <a:t>Port </a:t>
            </a:r>
            <a:r>
              <a:rPr lang="en-US" dirty="0">
                <a:latin typeface="Arial" panose="020B0604020202020204" pitchFamily="34" charset="0"/>
                <a:cs typeface="Arial" panose="020B0604020202020204" pitchFamily="34" charset="0"/>
              </a:rPr>
              <a:t>443 is the standard </a:t>
            </a:r>
            <a:r>
              <a:rPr lang="en-US" dirty="0" smtClean="0">
                <a:latin typeface="Arial" panose="020B0604020202020204" pitchFamily="34" charset="0"/>
                <a:cs typeface="Arial" panose="020B0604020202020204" pitchFamily="34" charset="0"/>
              </a:rPr>
              <a:t>default </a:t>
            </a:r>
            <a:r>
              <a:rPr lang="en-US" dirty="0">
                <a:latin typeface="Arial" panose="020B0604020202020204" pitchFamily="34" charset="0"/>
                <a:cs typeface="Arial" panose="020B0604020202020204" pitchFamily="34" charset="0"/>
              </a:rPr>
              <a:t>port for administration of the HTTPS protocol. This is convenient because users do not need to specify the port in their browsers. For example, </a:t>
            </a:r>
            <a:r>
              <a:rPr lang="en-US" dirty="0">
                <a:latin typeface="Courier New" panose="02070309020205020404" pitchFamily="49" charset="0"/>
                <a:cs typeface="Courier New" panose="02070309020205020404" pitchFamily="49" charset="0"/>
              </a:rPr>
              <a:t>https://www.example.com/ </a:t>
            </a:r>
            <a:r>
              <a:rPr lang="en-US" dirty="0">
                <a:latin typeface="Arial" panose="020B0604020202020204" pitchFamily="34" charset="0"/>
                <a:cs typeface="Arial" panose="020B0604020202020204" pitchFamily="34" charset="0"/>
              </a:rPr>
              <a:t>automatically uses </a:t>
            </a:r>
            <a:r>
              <a:rPr lang="en-US" dirty="0" smtClean="0">
                <a:latin typeface="Arial" panose="020B0604020202020204" pitchFamily="34" charset="0"/>
                <a:cs typeface="Arial" panose="020B0604020202020204" pitchFamily="34" charset="0"/>
              </a:rPr>
              <a:t>port443 </a:t>
            </a:r>
            <a:r>
              <a:rPr lang="en-US" dirty="0">
                <a:latin typeface="Arial" panose="020B0604020202020204" pitchFamily="34" charset="0"/>
                <a:cs typeface="Arial" panose="020B0604020202020204" pitchFamily="34" charset="0"/>
              </a:rPr>
              <a:t>in any browser. This is considered a valid setup on FortiGate because you usually don’t access the </a:t>
            </a:r>
            <a:r>
              <a:rPr lang="en-US" dirty="0" smtClean="0">
                <a:latin typeface="Arial" panose="020B0604020202020204" pitchFamily="34" charset="0"/>
                <a:cs typeface="Arial" panose="020B0604020202020204" pitchFamily="34" charset="0"/>
              </a:rPr>
              <a:t>SSL VPN </a:t>
            </a:r>
            <a:r>
              <a:rPr lang="en-US" dirty="0">
                <a:latin typeface="Arial" panose="020B0604020202020204" pitchFamily="34" charset="0"/>
                <a:cs typeface="Arial" panose="020B0604020202020204" pitchFamily="34" charset="0"/>
              </a:rPr>
              <a:t>login through every interface. Likewise, you generally don’t enable administrative access on every interface of your FortiGate. So, even though the ports may overlap, the interfaces that each one uses to access may not. However, if the </a:t>
            </a:r>
            <a:r>
              <a:rPr lang="en-US" dirty="0" smtClean="0">
                <a:latin typeface="Arial" panose="020B0604020202020204" pitchFamily="34" charset="0"/>
                <a:cs typeface="Arial" panose="020B0604020202020204" pitchFamily="34" charset="0"/>
              </a:rPr>
              <a:t>SSL VPN </a:t>
            </a:r>
            <a:r>
              <a:rPr lang="en-US" dirty="0">
                <a:latin typeface="Arial" panose="020B0604020202020204" pitchFamily="34" charset="0"/>
                <a:cs typeface="Arial" panose="020B0604020202020204" pitchFamily="34" charset="0"/>
              </a:rPr>
              <a:t>login portal and HTTPS admin access both use the same port, and are both enabled on the same interface, only the </a:t>
            </a:r>
            <a:r>
              <a:rPr lang="en-US" dirty="0" smtClean="0">
                <a:latin typeface="Arial" panose="020B0604020202020204" pitchFamily="34" charset="0"/>
                <a:cs typeface="Arial" panose="020B0604020202020204" pitchFamily="34" charset="0"/>
              </a:rPr>
              <a:t>SSL VPN </a:t>
            </a:r>
            <a:r>
              <a:rPr lang="en-US" dirty="0">
                <a:latin typeface="Arial" panose="020B0604020202020204" pitchFamily="34" charset="0"/>
                <a:cs typeface="Arial" panose="020B0604020202020204" pitchFamily="34" charset="0"/>
              </a:rPr>
              <a:t>login portal will appear. To have access to both portals on the same interface, you need to change the port number for one of the services. </a:t>
            </a:r>
            <a:r>
              <a:rPr lang="en-CA" dirty="0">
                <a:latin typeface="Arial" panose="020B0604020202020204" pitchFamily="34" charset="0"/>
                <a:cs typeface="Arial" panose="020B0604020202020204" pitchFamily="34" charset="0"/>
              </a:rPr>
              <a:t>If you change the </a:t>
            </a:r>
            <a:r>
              <a:rPr lang="en-CA" dirty="0" smtClean="0">
                <a:latin typeface="Arial" panose="020B0604020202020204" pitchFamily="34" charset="0"/>
                <a:cs typeface="Arial" panose="020B0604020202020204" pitchFamily="34" charset="0"/>
              </a:rPr>
              <a:t>administrator </a:t>
            </a:r>
            <a:r>
              <a:rPr lang="en-CA" dirty="0">
                <a:latin typeface="Arial" panose="020B0604020202020204" pitchFamily="34" charset="0"/>
                <a:cs typeface="Arial" panose="020B0604020202020204" pitchFamily="34" charset="0"/>
              </a:rPr>
              <a:t>access port, this will affect the port number for that service on all interfaces.</a:t>
            </a:r>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p>
            <a:pPr marL="0" marR="0" indent="0" algn="l" defTabSz="91424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Also, an inactive </a:t>
            </a:r>
            <a:r>
              <a:rPr lang="en-US" dirty="0" smtClean="0">
                <a:latin typeface="Arial" panose="020B0604020202020204" pitchFamily="34" charset="0"/>
                <a:cs typeface="Arial" panose="020B0604020202020204" pitchFamily="34" charset="0"/>
              </a:rPr>
              <a:t>SSL VPN </a:t>
            </a:r>
            <a:r>
              <a:rPr lang="en-US" dirty="0">
                <a:latin typeface="Arial" panose="020B0604020202020204" pitchFamily="34" charset="0"/>
                <a:cs typeface="Arial" panose="020B0604020202020204" pitchFamily="34" charset="0"/>
              </a:rPr>
              <a:t>is disconnected after 300 seconds (5 minutes) of inactivity. You can change this timeout using the </a:t>
            </a:r>
            <a:r>
              <a:rPr lang="en-US" b="1" dirty="0">
                <a:latin typeface="Arial" panose="020B0604020202020204" pitchFamily="34" charset="0"/>
                <a:cs typeface="Arial" panose="020B0604020202020204" pitchFamily="34" charset="0"/>
              </a:rPr>
              <a:t>Idle Logout </a:t>
            </a:r>
            <a:r>
              <a:rPr lang="en-US" dirty="0">
                <a:latin typeface="Arial" panose="020B0604020202020204" pitchFamily="34" charset="0"/>
                <a:cs typeface="Arial" panose="020B0604020202020204" pitchFamily="34" charset="0"/>
              </a:rPr>
              <a:t>setting on the GUI. </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Finally, like other HTTPS websites, the </a:t>
            </a:r>
            <a:r>
              <a:rPr lang="en-US" dirty="0" smtClean="0">
                <a:latin typeface="Arial" panose="020B0604020202020204" pitchFamily="34" charset="0"/>
                <a:cs typeface="Arial" panose="020B0604020202020204" pitchFamily="34" charset="0"/>
              </a:rPr>
              <a:t>SSL VPN </a:t>
            </a:r>
            <a:r>
              <a:rPr lang="en-US" dirty="0">
                <a:latin typeface="Arial" panose="020B0604020202020204" pitchFamily="34" charset="0"/>
                <a:cs typeface="Arial" panose="020B0604020202020204" pitchFamily="34" charset="0"/>
              </a:rPr>
              <a:t>portal presents a digital certificate when users connect. By default, the portal uses a self-signed certificate, which triggers the browser to show a certificate warning. To avoid the warning, you should use a digital certificate signed by a publicly known certificate authority (CA). </a:t>
            </a:r>
            <a:r>
              <a:rPr lang="en-US" dirty="0" smtClean="0">
                <a:latin typeface="Arial" panose="020B0604020202020204" pitchFamily="34" charset="0"/>
                <a:cs typeface="Arial" panose="020B0604020202020204" pitchFamily="34" charset="0"/>
              </a:rPr>
              <a:t>You </a:t>
            </a:r>
            <a:r>
              <a:rPr lang="en-US" dirty="0">
                <a:latin typeface="Arial" panose="020B0604020202020204" pitchFamily="34" charset="0"/>
                <a:cs typeface="Arial" panose="020B0604020202020204" pitchFamily="34" charset="0"/>
              </a:rPr>
              <a:t>can </a:t>
            </a:r>
            <a:r>
              <a:rPr lang="en-US" dirty="0" smtClean="0">
                <a:latin typeface="Arial" panose="020B0604020202020204" pitchFamily="34" charset="0"/>
                <a:cs typeface="Arial" panose="020B0604020202020204" pitchFamily="34" charset="0"/>
              </a:rPr>
              <a:t>also generate a certificate</a:t>
            </a:r>
            <a:r>
              <a:rPr lang="en-US" baseline="0" dirty="0" smtClean="0">
                <a:latin typeface="Arial" panose="020B0604020202020204" pitchFamily="34" charset="0"/>
                <a:cs typeface="Arial" panose="020B0604020202020204" pitchFamily="34" charset="0"/>
              </a:rPr>
              <a:t> for interface. Alternatively, you can </a:t>
            </a:r>
            <a:r>
              <a:rPr lang="en-US" dirty="0" smtClean="0">
                <a:latin typeface="Arial" panose="020B0604020202020204" pitchFamily="34" charset="0"/>
                <a:cs typeface="Arial" panose="020B0604020202020204" pitchFamily="34" charset="0"/>
              </a:rPr>
              <a:t>load </a:t>
            </a:r>
            <a:r>
              <a:rPr lang="en-US" dirty="0">
                <a:latin typeface="Arial" panose="020B0604020202020204" pitchFamily="34" charset="0"/>
                <a:cs typeface="Arial" panose="020B0604020202020204" pitchFamily="34" charset="0"/>
              </a:rPr>
              <a:t>the FortiGate</a:t>
            </a:r>
            <a:r>
              <a:rPr lang="en-US" baseline="0" dirty="0">
                <a:latin typeface="Arial" panose="020B0604020202020204" pitchFamily="34" charset="0"/>
                <a:cs typeface="Arial" panose="020B0604020202020204" pitchFamily="34" charset="0"/>
              </a:rPr>
              <a:t> self-signed </a:t>
            </a:r>
            <a:r>
              <a:rPr lang="en-US" dirty="0">
                <a:latin typeface="Arial" panose="020B0604020202020204" pitchFamily="34" charset="0"/>
                <a:cs typeface="Arial" panose="020B0604020202020204" pitchFamily="34" charset="0"/>
              </a:rPr>
              <a:t>digital certificate into the browser as a trusted authority.</a:t>
            </a:r>
          </a:p>
          <a:p>
            <a:endParaRPr lang="en-US" dirty="0">
              <a:latin typeface="Arial" panose="020B0604020202020204" pitchFamily="34" charset="0"/>
              <a:cs typeface="Arial" panose="020B0604020202020204" pitchFamily="34" charset="0"/>
            </a:endParaRPr>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7960205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a:t>
            </a:r>
            <a:r>
              <a:rPr lang="en-US" b="0" i="0" dirty="0"/>
              <a:t>tunnel-mode client settings</a:t>
            </a:r>
            <a:r>
              <a:rPr lang="en-US" b="0" i="0" baseline="0" dirty="0"/>
              <a:t> and </a:t>
            </a:r>
            <a:r>
              <a:rPr lang="en-US" dirty="0"/>
              <a:t>the authentication rules that map users to the appropriate portal. </a:t>
            </a:r>
          </a:p>
          <a:p>
            <a:endParaRPr lang="en-US" dirty="0"/>
          </a:p>
          <a:p>
            <a:r>
              <a:rPr lang="en-US" dirty="0"/>
              <a:t>When users connect, the tunnel is assigned an IP address. You can choose to use the default range or create your own range. The IP range determines how many users can connect </a:t>
            </a:r>
            <a:r>
              <a:rPr lang="en-US" dirty="0" smtClean="0"/>
              <a:t>simultaneously.</a:t>
            </a:r>
            <a:r>
              <a:rPr lang="en-US" dirty="0"/>
              <a:t> </a:t>
            </a:r>
            <a:r>
              <a:rPr lang="en-US" baseline="0" dirty="0" smtClean="0"/>
              <a:t>There are two IP allocation methods and only available in CLI as shown in the slide:</a:t>
            </a:r>
          </a:p>
          <a:p>
            <a:pPr marL="171450" indent="-171450">
              <a:buFont typeface="Arial" panose="020B0604020202020204" pitchFamily="34" charset="0"/>
              <a:buChar char="•"/>
            </a:pPr>
            <a:r>
              <a:rPr lang="en-GB" baseline="0" dirty="0" smtClean="0"/>
              <a:t>First-available (default setting)</a:t>
            </a:r>
          </a:p>
          <a:p>
            <a:pPr marL="171450" indent="-171450">
              <a:buFont typeface="Arial" panose="020B0604020202020204" pitchFamily="34" charset="0"/>
              <a:buChar char="•"/>
            </a:pPr>
            <a:r>
              <a:rPr lang="en-GB" baseline="0" dirty="0" smtClean="0"/>
              <a:t>Round robin</a:t>
            </a:r>
            <a:endParaRPr lang="en-US" baseline="0" dirty="0"/>
          </a:p>
          <a:p>
            <a:endParaRPr lang="en-GB" baseline="0" dirty="0" smtClean="0"/>
          </a:p>
          <a:p>
            <a:r>
              <a:rPr lang="en-GB" baseline="0" dirty="0" smtClean="0"/>
              <a:t>Please note w</a:t>
            </a:r>
            <a:r>
              <a:rPr lang="en-US" baseline="0" dirty="0" smtClean="0"/>
              <a:t>hen round-robin is used, address pools defined in web portal is ignored, and the </a:t>
            </a:r>
            <a:r>
              <a:rPr lang="en-US" baseline="0" dirty="0" smtClean="0">
                <a:latin typeface="Courier New" panose="02070309020205020404" pitchFamily="49" charset="0"/>
                <a:cs typeface="Courier New" panose="02070309020205020404" pitchFamily="49" charset="0"/>
              </a:rPr>
              <a:t>tunnel-</a:t>
            </a:r>
            <a:r>
              <a:rPr lang="en-US" baseline="0" dirty="0" err="1" smtClean="0">
                <a:latin typeface="Courier New" panose="02070309020205020404" pitchFamily="49" charset="0"/>
                <a:cs typeface="Courier New" panose="02070309020205020404" pitchFamily="49" charset="0"/>
              </a:rPr>
              <a:t>ip</a:t>
            </a:r>
            <a:r>
              <a:rPr lang="en-US" baseline="0" dirty="0" smtClean="0">
                <a:latin typeface="Courier New" panose="02070309020205020404" pitchFamily="49" charset="0"/>
                <a:cs typeface="Courier New" panose="02070309020205020404" pitchFamily="49" charset="0"/>
              </a:rPr>
              <a:t>-pools</a:t>
            </a:r>
            <a:r>
              <a:rPr lang="en-US" baseline="0" dirty="0" smtClean="0"/>
              <a:t> or </a:t>
            </a:r>
            <a:r>
              <a:rPr lang="en-US" baseline="0" dirty="0" smtClean="0">
                <a:latin typeface="Courier New" panose="02070309020205020404" pitchFamily="49" charset="0"/>
                <a:cs typeface="Courier New" panose="02070309020205020404" pitchFamily="49" charset="0"/>
              </a:rPr>
              <a:t>tunnel-ipv6-pools</a:t>
            </a:r>
            <a:r>
              <a:rPr lang="en-US" baseline="0" dirty="0" smtClean="0"/>
              <a:t> under </a:t>
            </a:r>
            <a:r>
              <a:rPr lang="en-US" baseline="0" dirty="0" err="1" smtClean="0">
                <a:latin typeface="Courier New" panose="02070309020205020404" pitchFamily="49" charset="0"/>
                <a:cs typeface="Courier New" panose="02070309020205020404" pitchFamily="49" charset="0"/>
              </a:rPr>
              <a:t>ssl</a:t>
            </a:r>
            <a:r>
              <a:rPr lang="en-US" baseline="0" dirty="0" smtClean="0">
                <a:latin typeface="Courier New" panose="02070309020205020404" pitchFamily="49" charset="0"/>
                <a:cs typeface="Courier New" panose="02070309020205020404" pitchFamily="49" charset="0"/>
              </a:rPr>
              <a:t> </a:t>
            </a:r>
            <a:r>
              <a:rPr lang="en-US" baseline="0" dirty="0" err="1" smtClean="0">
                <a:latin typeface="Courier New" panose="02070309020205020404" pitchFamily="49" charset="0"/>
                <a:cs typeface="Courier New" panose="02070309020205020404" pitchFamily="49" charset="0"/>
              </a:rPr>
              <a:t>vpn</a:t>
            </a:r>
            <a:r>
              <a:rPr lang="en-US" baseline="0" dirty="0" smtClean="0"/>
              <a:t> setting must be set. Only one set of IP pool address is allowed.</a:t>
            </a:r>
            <a:endParaRPr lang="en-GB" baseline="0" dirty="0" smtClean="0"/>
          </a:p>
          <a:p>
            <a:endParaRPr lang="en-US" baseline="0" dirty="0"/>
          </a:p>
          <a:p>
            <a:r>
              <a:rPr lang="en-US" b="0" dirty="0"/>
              <a:t>DNS server resolution </a:t>
            </a:r>
            <a:r>
              <a:rPr lang="en-US" dirty="0"/>
              <a:t>is </a:t>
            </a:r>
            <a:r>
              <a:rPr lang="en-US" dirty="0" smtClean="0"/>
              <a:t>effective only when </a:t>
            </a:r>
            <a:r>
              <a:rPr lang="en-US" dirty="0"/>
              <a:t>the DNS traffic is sent over the VPN tunnel. Generally, this will be the case only when split tunnel mode is disabled and all traffic is being sent from the user’s computer across the tunnel.</a:t>
            </a:r>
          </a:p>
          <a:p>
            <a:endParaRPr lang="en-US" dirty="0"/>
          </a:p>
          <a:p>
            <a:r>
              <a:rPr lang="en-US" dirty="0" smtClean="0"/>
              <a:t>Finally, you can allow different groups of users to access different portals. In the example shown on</a:t>
            </a:r>
            <a:r>
              <a:rPr lang="en-US" baseline="0" dirty="0" smtClean="0"/>
              <a:t> this slide</a:t>
            </a:r>
            <a:r>
              <a:rPr lang="en-US" dirty="0" smtClean="0"/>
              <a:t>, teachers have access only to</a:t>
            </a:r>
            <a:r>
              <a:rPr lang="en-US" baseline="0" dirty="0" smtClean="0"/>
              <a:t> the </a:t>
            </a:r>
            <a:r>
              <a:rPr lang="en-US" dirty="0" smtClean="0"/>
              <a:t>web</a:t>
            </a:r>
            <a:r>
              <a:rPr lang="en-US" baseline="0" dirty="0" smtClean="0"/>
              <a:t> </a:t>
            </a:r>
            <a:r>
              <a:rPr lang="en-US" dirty="0" smtClean="0"/>
              <a:t>portal.</a:t>
            </a:r>
            <a:r>
              <a:rPr lang="en-US" baseline="0" dirty="0" smtClean="0"/>
              <a:t> A</a:t>
            </a:r>
            <a:r>
              <a:rPr lang="en-US" dirty="0" smtClean="0"/>
              <a:t>ccountants can use FortiClient to connect in tunnel</a:t>
            </a:r>
            <a:r>
              <a:rPr lang="en-US" baseline="0" dirty="0" smtClean="0"/>
              <a:t> mode.</a:t>
            </a:r>
            <a:endParaRPr lang="en-CA"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6956341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and last, mandatory step involves creating firewall policies for logging</a:t>
            </a:r>
            <a:r>
              <a:rPr lang="en-US" baseline="0" dirty="0"/>
              <a:t> on</a:t>
            </a:r>
            <a:r>
              <a:rPr lang="en-US" dirty="0"/>
              <a:t>. </a:t>
            </a:r>
          </a:p>
          <a:p>
            <a:endParaRPr lang="en-US" dirty="0"/>
          </a:p>
          <a:p>
            <a:r>
              <a:rPr lang="en-US" dirty="0" smtClean="0"/>
              <a:t>SSL VPN </a:t>
            </a:r>
            <a:r>
              <a:rPr lang="en-US" dirty="0"/>
              <a:t>traffic on FortiGate uses a virtual interface called </a:t>
            </a:r>
            <a:r>
              <a:rPr lang="en-US" dirty="0" err="1">
                <a:latin typeface="Courier New" panose="02070309020205020404" pitchFamily="49" charset="0"/>
                <a:cs typeface="Courier New" panose="02070309020205020404" pitchFamily="49" charset="0"/>
              </a:rPr>
              <a:t>ssl</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vdom_name</a:t>
            </a:r>
            <a:r>
              <a:rPr lang="en-US" dirty="0">
                <a:latin typeface="Courier New" panose="02070309020205020404" pitchFamily="49" charset="0"/>
                <a:cs typeface="Courier New" panose="02070309020205020404" pitchFamily="49" charset="0"/>
              </a:rPr>
              <a:t>&gt;</a:t>
            </a:r>
            <a:r>
              <a:rPr lang="en-US" dirty="0"/>
              <a:t>.</a:t>
            </a:r>
            <a:r>
              <a:rPr lang="en-US" b="1" dirty="0"/>
              <a:t> </a:t>
            </a:r>
            <a:r>
              <a:rPr lang="en-US" dirty="0"/>
              <a:t>Each virtual domain (VDOM) contains a different virtual interface based on its name. By default, if VDOMs are not enabled, then the device operates with a single VDOM called </a:t>
            </a:r>
            <a:r>
              <a:rPr lang="en-US" i="1" dirty="0"/>
              <a:t>root</a:t>
            </a:r>
            <a:r>
              <a:rPr lang="en-US" dirty="0"/>
              <a:t>. </a:t>
            </a:r>
          </a:p>
          <a:p>
            <a:endParaRPr lang="en-US" dirty="0"/>
          </a:p>
          <a:p>
            <a:r>
              <a:rPr lang="en-US" dirty="0"/>
              <a:t>To activate and successfully log in to the </a:t>
            </a:r>
            <a:r>
              <a:rPr lang="en-US" dirty="0" smtClean="0"/>
              <a:t>SSL VPN, </a:t>
            </a:r>
            <a:r>
              <a:rPr lang="en-US" dirty="0"/>
              <a:t>there must be a firewall policy from the </a:t>
            </a:r>
            <a:r>
              <a:rPr lang="en-US" dirty="0" smtClean="0"/>
              <a:t>SSL VPN </a:t>
            </a:r>
            <a:r>
              <a:rPr lang="en-US" dirty="0"/>
              <a:t>interface to the interface to which you want to allow access for the </a:t>
            </a:r>
            <a:r>
              <a:rPr lang="en-US" dirty="0" smtClean="0"/>
              <a:t>SSL VPN </a:t>
            </a:r>
            <a:r>
              <a:rPr lang="en-US" dirty="0"/>
              <a:t>users, including all of the users and groups that can log in as the source. Without a policy like this, no login portal is presented to users.</a:t>
            </a:r>
          </a:p>
          <a:p>
            <a:endParaRPr lang="en-US" dirty="0"/>
          </a:p>
          <a:p>
            <a:pPr>
              <a:defRPr/>
            </a:pPr>
            <a:r>
              <a:rPr lang="en-US" dirty="0"/>
              <a:t>If there are resources behind other interfaces that users need access to, then you need to create additional policies that allow traffic from </a:t>
            </a:r>
            <a:r>
              <a:rPr lang="en-US" b="0" dirty="0" err="1">
                <a:latin typeface="Courier New" panose="02070309020205020404" pitchFamily="49" charset="0"/>
                <a:cs typeface="Courier New" panose="02070309020205020404" pitchFamily="49" charset="0"/>
              </a:rPr>
              <a:t>ssl.root</a:t>
            </a:r>
            <a:r>
              <a:rPr lang="en-US" dirty="0"/>
              <a:t> to exit those interfaces. </a:t>
            </a:r>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8791326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US" dirty="0"/>
              <a:t>Any traffic from </a:t>
            </a:r>
            <a:r>
              <a:rPr lang="en-US" dirty="0" smtClean="0"/>
              <a:t>SSL VPN </a:t>
            </a:r>
            <a:r>
              <a:rPr lang="en-US" dirty="0"/>
              <a:t>users, whether in web portal or tunnel mode, exits from the </a:t>
            </a:r>
            <a:r>
              <a:rPr lang="en-US" dirty="0" err="1">
                <a:latin typeface="Courier New" panose="02070309020205020404" pitchFamily="49" charset="0"/>
                <a:cs typeface="Courier New" panose="02070309020205020404" pitchFamily="49" charset="0"/>
              </a:rPr>
              <a:t>ssl</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vdom_name</a:t>
            </a:r>
            <a:r>
              <a:rPr lang="en-US" dirty="0">
                <a:latin typeface="Courier New" panose="02070309020205020404" pitchFamily="49" charset="0"/>
                <a:cs typeface="Courier New" panose="02070309020205020404" pitchFamily="49" charset="0"/>
              </a:rPr>
              <a:t>&gt; </a:t>
            </a:r>
            <a:r>
              <a:rPr lang="en-US" dirty="0"/>
              <a:t>interface.</a:t>
            </a:r>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r>
              <a:rPr lang="en-US" dirty="0"/>
              <a:t>This slide shows an example of firewall policies that are configured to allow access to resources behind other interfaces that users need access to when connected through </a:t>
            </a:r>
            <a:r>
              <a:rPr lang="en-US" dirty="0" smtClean="0"/>
              <a:t>SSL VPN.</a:t>
            </a:r>
          </a:p>
          <a:p>
            <a:pPr marL="0" marR="0" indent="0" algn="l" defTabSz="914240" rtl="0" eaLnBrk="1" fontAlgn="auto" latinLnBrk="0" hangingPunct="1">
              <a:lnSpc>
                <a:spcPct val="100000"/>
              </a:lnSpc>
              <a:spcBef>
                <a:spcPts val="0"/>
              </a:spcBef>
              <a:spcAft>
                <a:spcPts val="0"/>
              </a:spcAft>
              <a:buClrTx/>
              <a:buSzTx/>
              <a:buFontTx/>
              <a:buNone/>
              <a:tabLst/>
              <a:defRPr/>
            </a:pPr>
            <a:endParaRPr lang="en-GB" dirty="0" smtClean="0"/>
          </a:p>
          <a:p>
            <a:pPr marL="0" marR="0" indent="0" algn="l" defTabSz="914240" rtl="0" eaLnBrk="1" fontAlgn="auto" latinLnBrk="0" hangingPunct="1">
              <a:lnSpc>
                <a:spcPct val="100000"/>
              </a:lnSpc>
              <a:spcBef>
                <a:spcPts val="0"/>
              </a:spcBef>
              <a:spcAft>
                <a:spcPts val="0"/>
              </a:spcAft>
              <a:buClrTx/>
              <a:buSzTx/>
              <a:buFontTx/>
              <a:buNone/>
              <a:tabLst/>
              <a:defRPr/>
            </a:pPr>
            <a:r>
              <a:rPr lang="en-US" dirty="0" smtClean="0"/>
              <a:t>Optionally, if split tunneling is disabled, you need to create an additional firewall policy from </a:t>
            </a:r>
            <a:r>
              <a:rPr lang="en-US" b="0" dirty="0" err="1" smtClean="0">
                <a:latin typeface="Courier New" panose="02070309020205020404" pitchFamily="49" charset="0"/>
                <a:cs typeface="Courier New" panose="02070309020205020404" pitchFamily="49" charset="0"/>
              </a:rPr>
              <a:t>ssl.root</a:t>
            </a:r>
            <a:r>
              <a:rPr lang="en-US" b="1" dirty="0" smtClean="0"/>
              <a:t> </a:t>
            </a:r>
            <a:r>
              <a:rPr lang="en-US" dirty="0" smtClean="0"/>
              <a:t>to the egress interface to allow clients access to the internet. </a:t>
            </a:r>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240" rtl="0" eaLnBrk="1" fontAlgn="auto" latinLnBrk="0" hangingPunct="1">
              <a:lnSpc>
                <a:spcPct val="100000"/>
              </a:lnSpc>
              <a:spcBef>
                <a:spcPts val="0"/>
              </a:spcBef>
              <a:spcAft>
                <a:spcPts val="0"/>
              </a:spcAft>
              <a:buClrTx/>
              <a:buSzTx/>
              <a:buFontTx/>
              <a:buNone/>
              <a:tabLst/>
              <a:defRPr/>
            </a:pPr>
            <a:r>
              <a:rPr lang="en-US" dirty="0" smtClean="0"/>
              <a:t>You can also apply security profiles to this firewall policy to restrict user access to the internet.</a:t>
            </a:r>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742437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40" rtl="0" eaLnBrk="1" fontAlgn="auto" latinLnBrk="0" hangingPunct="1">
              <a:lnSpc>
                <a:spcPct val="100000"/>
              </a:lnSpc>
              <a:spcBef>
                <a:spcPts val="0"/>
              </a:spcBef>
              <a:spcAft>
                <a:spcPts val="0"/>
              </a:spcAft>
              <a:buClrTx/>
              <a:buSzTx/>
              <a:buFontTx/>
              <a:buNone/>
              <a:tabLst/>
              <a:defRPr/>
            </a:pPr>
            <a:r>
              <a:rPr lang="en-US" dirty="0" smtClean="0"/>
              <a:t>To configure SSL VPN, you must take these steps:</a:t>
            </a:r>
          </a:p>
          <a:p>
            <a:pPr marL="0" marR="0" lvl="0" indent="0" algn="l" defTabSz="914240" rtl="0" eaLnBrk="1" fontAlgn="auto" latinLnBrk="0" hangingPunct="1">
              <a:lnSpc>
                <a:spcPct val="100000"/>
              </a:lnSpc>
              <a:spcBef>
                <a:spcPts val="0"/>
              </a:spcBef>
              <a:spcAft>
                <a:spcPts val="0"/>
              </a:spcAft>
              <a:buClrTx/>
              <a:buSzTx/>
              <a:buFontTx/>
              <a:buNone/>
              <a:tabLst/>
              <a:defRPr/>
            </a:pPr>
            <a:r>
              <a:rPr lang="en-GB" dirty="0" smtClean="0"/>
              <a:t>SSL VPN server FortiGate:</a:t>
            </a:r>
            <a:endParaRPr lang="en-US" dirty="0" smtClean="0"/>
          </a:p>
          <a:p>
            <a:pPr marL="342843" lvl="0" indent="-342900">
              <a:buFont typeface="+mj-lt"/>
              <a:buAutoNum type="arabicPeriod"/>
            </a:pPr>
            <a:r>
              <a:rPr lang="en-US" dirty="0" smtClean="0">
                <a:cs typeface="Arial" charset="0"/>
              </a:rPr>
              <a:t>Set up user accounts and groups for remote SSL VPN users.</a:t>
            </a:r>
          </a:p>
          <a:p>
            <a:pPr marL="799963" lvl="1" indent="-342900">
              <a:buFont typeface="Arial" panose="020B0604020202020204" pitchFamily="34" charset="0"/>
              <a:buChar char="•"/>
            </a:pPr>
            <a:r>
              <a:rPr lang="en-GB" dirty="0" smtClean="0">
                <a:cs typeface="Arial" charset="0"/>
              </a:rPr>
              <a:t>Create two accounts: local/remote and PKI. </a:t>
            </a:r>
            <a:r>
              <a:rPr lang="en-US" sz="1000" b="0" i="0" kern="1200" dirty="0" smtClean="0">
                <a:solidFill>
                  <a:schemeClr val="tx1"/>
                </a:solidFill>
                <a:effectLst/>
                <a:latin typeface="Arial" panose="020B0604020202020204" pitchFamily="34" charset="0"/>
                <a:ea typeface="+mn-ea"/>
                <a:cs typeface="Arial" panose="020B0604020202020204" pitchFamily="34" charset="0"/>
              </a:rPr>
              <a:t>The PKI menu is only available in the GUI after a PKI user has been created using the CLI, and a CN can only be configured in the CLI. If no CN is specified, then any certificate that is signed by the CA will be valid and matched.</a:t>
            </a:r>
            <a:endParaRPr lang="en-GB" dirty="0" smtClean="0">
              <a:cs typeface="Arial" charset="0"/>
            </a:endParaRPr>
          </a:p>
          <a:p>
            <a:pPr marL="799963" lvl="1" indent="-342900">
              <a:buFont typeface="Arial" panose="020B0604020202020204" pitchFamily="34" charset="0"/>
              <a:buChar char="•"/>
            </a:pPr>
            <a:r>
              <a:rPr lang="en-US" dirty="0" smtClean="0">
                <a:latin typeface="Arial" panose="020B0604020202020204" pitchFamily="34" charset="0"/>
                <a:cs typeface="Arial" panose="020B0604020202020204" pitchFamily="34" charset="0"/>
              </a:rPr>
              <a:t>Require clients to authenticate using their certificates as well as username and password.</a:t>
            </a:r>
            <a:endParaRPr lang="en-US" dirty="0" smtClean="0">
              <a:cs typeface="Arial" charset="0"/>
            </a:endParaRPr>
          </a:p>
          <a:p>
            <a:pPr marL="342843" lvl="0" indent="-342900">
              <a:buFont typeface="+mj-lt"/>
              <a:buAutoNum type="arabicPeriod"/>
            </a:pPr>
            <a:r>
              <a:rPr lang="en-US" dirty="0" smtClean="0">
                <a:cs typeface="Arial" charset="0"/>
              </a:rPr>
              <a:t>Configure SSL VPN portals.</a:t>
            </a:r>
          </a:p>
          <a:p>
            <a:pPr marL="342843" lvl="0" indent="-342900">
              <a:buFont typeface="+mj-lt"/>
              <a:buAutoNum type="arabicPeriod"/>
            </a:pPr>
            <a:r>
              <a:rPr lang="en-US" dirty="0" smtClean="0">
                <a:cs typeface="Arial" charset="0"/>
              </a:rPr>
              <a:t>Configure SSL VPN settings.</a:t>
            </a:r>
          </a:p>
          <a:p>
            <a:pPr marL="799963" lvl="1" indent="-342900">
              <a:buFont typeface="Arial" panose="020B0604020202020204" pitchFamily="34" charset="0"/>
              <a:buChar char="•"/>
            </a:pPr>
            <a:r>
              <a:rPr lang="en-US" dirty="0" smtClean="0"/>
              <a:t>Authentication rules include both accounts using CLI.</a:t>
            </a:r>
            <a:endParaRPr lang="en-US" dirty="0" smtClean="0">
              <a:cs typeface="Arial" charset="0"/>
            </a:endParaRPr>
          </a:p>
          <a:p>
            <a:pPr marL="342843" lvl="0" indent="-342900">
              <a:buFont typeface="+mj-lt"/>
              <a:buAutoNum type="arabicPeriod"/>
            </a:pPr>
            <a:r>
              <a:rPr lang="en-US" dirty="0" smtClean="0">
                <a:cs typeface="Arial" charset="0"/>
              </a:rPr>
              <a:t>Create a firewall policy </a:t>
            </a:r>
            <a:r>
              <a:rPr lang="en-US" dirty="0" smtClean="0"/>
              <a:t>to and from the SSL VPN interface.</a:t>
            </a:r>
          </a:p>
          <a:p>
            <a:pPr marL="342843" lvl="0" indent="-342900">
              <a:buFont typeface="+mj-lt"/>
              <a:buAutoNum type="arabicPeriod"/>
            </a:pPr>
            <a:r>
              <a:rPr lang="en-US" dirty="0" smtClean="0">
                <a:cs typeface="Arial" charset="0"/>
              </a:rPr>
              <a:t>Create a firewall policy to allow SSL VPN traffic to the internet (optional).</a:t>
            </a:r>
          </a:p>
          <a:p>
            <a:pPr marL="0" marR="0" lvl="0" indent="0" algn="l" defTabSz="91424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Header Placeholder 3"/>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7990661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40" rtl="0" eaLnBrk="1" fontAlgn="auto" latinLnBrk="0" hangingPunct="1">
              <a:lnSpc>
                <a:spcPct val="100000"/>
              </a:lnSpc>
              <a:spcBef>
                <a:spcPts val="0"/>
              </a:spcBef>
              <a:spcAft>
                <a:spcPts val="0"/>
              </a:spcAft>
              <a:buClrTx/>
              <a:buSzTx/>
              <a:buFontTx/>
              <a:buNone/>
              <a:tabLst/>
              <a:defRPr/>
            </a:pPr>
            <a:r>
              <a:rPr lang="en-US" dirty="0" smtClean="0"/>
              <a:t>To configure SSL VPN, you must take these steps:</a:t>
            </a:r>
          </a:p>
          <a:p>
            <a:pPr marL="0" marR="0" lvl="0" indent="0" algn="l" defTabSz="914240" rtl="0" eaLnBrk="1" fontAlgn="auto" latinLnBrk="0" hangingPunct="1">
              <a:lnSpc>
                <a:spcPct val="100000"/>
              </a:lnSpc>
              <a:spcBef>
                <a:spcPts val="0"/>
              </a:spcBef>
              <a:spcAft>
                <a:spcPts val="0"/>
              </a:spcAft>
              <a:buClrTx/>
              <a:buSzTx/>
              <a:buFontTx/>
              <a:buNone/>
              <a:tabLst/>
              <a:defRPr/>
            </a:pPr>
            <a:r>
              <a:rPr lang="en-GB" dirty="0" smtClean="0"/>
              <a:t>SSL VPN Client FortiGate:</a:t>
            </a:r>
          </a:p>
          <a:p>
            <a:pPr marL="342843" lvl="0" indent="-342900">
              <a:buFont typeface="+mj-lt"/>
              <a:buAutoNum type="arabicPeriod"/>
            </a:pPr>
            <a:r>
              <a:rPr lang="en-GB" dirty="0" smtClean="0">
                <a:cs typeface="Arial" charset="0"/>
              </a:rPr>
              <a:t>Create PKI user:</a:t>
            </a:r>
          </a:p>
          <a:p>
            <a:pPr marL="799963" lvl="1" indent="-342900">
              <a:buFont typeface="Arial" panose="020B0604020202020204" pitchFamily="34" charset="0"/>
              <a:buChar char="•"/>
            </a:pPr>
            <a:r>
              <a:rPr lang="en-GB" dirty="0" smtClean="0">
                <a:cs typeface="Arial" charset="0"/>
              </a:rPr>
              <a:t>Set the same CN using CLI if PKI user on server FortiGate has</a:t>
            </a:r>
            <a:r>
              <a:rPr lang="en-GB" baseline="0" dirty="0" smtClean="0">
                <a:cs typeface="Arial" charset="0"/>
              </a:rPr>
              <a:t> CN configured.</a:t>
            </a:r>
            <a:endParaRPr lang="en-GB" dirty="0" smtClean="0">
              <a:cs typeface="Arial" charset="0"/>
            </a:endParaRPr>
          </a:p>
          <a:p>
            <a:pPr marL="799963" lvl="1" indent="-342900">
              <a:buFont typeface="Arial" panose="020B0604020202020204" pitchFamily="34" charset="0"/>
              <a:buChar char="•"/>
            </a:pPr>
            <a:r>
              <a:rPr lang="en-US" dirty="0" smtClean="0"/>
              <a:t>Select CA certificate that allows the FortiGate to complete the certificate chain and verify the server 's certificate.</a:t>
            </a:r>
            <a:endParaRPr lang="en-GB" dirty="0" smtClean="0">
              <a:cs typeface="Arial" charset="0"/>
            </a:endParaRPr>
          </a:p>
          <a:p>
            <a:pPr marL="342843" lvl="0" indent="-342900">
              <a:buFont typeface="+mj-lt"/>
              <a:buAutoNum type="arabicPeriod"/>
            </a:pPr>
            <a:r>
              <a:rPr lang="en-GB" dirty="0" smtClean="0">
                <a:cs typeface="Arial" charset="0"/>
              </a:rPr>
              <a:t>Create SSL VPN tunnel interface using </a:t>
            </a:r>
            <a:r>
              <a:rPr lang="en-GB" i="1" dirty="0" err="1" smtClean="0">
                <a:cs typeface="Arial" charset="0"/>
              </a:rPr>
              <a:t>ssl</a:t>
            </a:r>
            <a:r>
              <a:rPr lang="en-GB" i="1" dirty="0" smtClean="0">
                <a:cs typeface="Arial" charset="0"/>
              </a:rPr>
              <a:t>.&lt;</a:t>
            </a:r>
            <a:r>
              <a:rPr lang="en-GB" i="1" dirty="0" err="1" smtClean="0">
                <a:cs typeface="Arial" charset="0"/>
              </a:rPr>
              <a:t>vdom</a:t>
            </a:r>
            <a:r>
              <a:rPr lang="en-GB" i="1" dirty="0" smtClean="0">
                <a:cs typeface="Arial" charset="0"/>
              </a:rPr>
              <a:t>&gt;</a:t>
            </a:r>
            <a:r>
              <a:rPr lang="en-GB" dirty="0" smtClean="0">
                <a:cs typeface="Arial" charset="0"/>
              </a:rPr>
              <a:t> interface.</a:t>
            </a:r>
          </a:p>
          <a:p>
            <a:pPr marL="342843" lvl="0" indent="-342900">
              <a:buFont typeface="+mj-lt"/>
              <a:buAutoNum type="arabicPeriod"/>
            </a:pPr>
            <a:r>
              <a:rPr lang="en-GB" dirty="0" smtClean="0">
                <a:cs typeface="Arial" charset="0"/>
              </a:rPr>
              <a:t>Create and configure the SSL VPN client settings on </a:t>
            </a:r>
            <a:r>
              <a:rPr lang="en-GB" b="1" dirty="0" smtClean="0">
                <a:cs typeface="Arial" charset="0"/>
              </a:rPr>
              <a:t>VPN</a:t>
            </a:r>
            <a:r>
              <a:rPr lang="en-GB" dirty="0" smtClean="0">
                <a:cs typeface="Arial" charset="0"/>
              </a:rPr>
              <a:t> &gt; </a:t>
            </a:r>
            <a:r>
              <a:rPr lang="en-GB" b="1" dirty="0" smtClean="0">
                <a:cs typeface="Arial" charset="0"/>
              </a:rPr>
              <a:t>SSL-VPN Clients</a:t>
            </a:r>
            <a:r>
              <a:rPr lang="en-GB" b="0" dirty="0" smtClean="0">
                <a:cs typeface="Arial" charset="0"/>
              </a:rPr>
              <a:t>,</a:t>
            </a:r>
            <a:r>
              <a:rPr lang="en-GB" b="0" baseline="0" dirty="0" smtClean="0">
                <a:cs typeface="Arial" charset="0"/>
              </a:rPr>
              <a:t> it includes:</a:t>
            </a:r>
            <a:endParaRPr lang="en-GB" b="1" dirty="0" smtClean="0">
              <a:cs typeface="Arial" charset="0"/>
            </a:endParaRPr>
          </a:p>
          <a:p>
            <a:pPr marL="799963" lvl="1" indent="-342900">
              <a:buFont typeface="Arial" panose="020B0604020202020204" pitchFamily="34" charset="0"/>
              <a:buChar char="•"/>
            </a:pPr>
            <a:r>
              <a:rPr lang="en-GB" b="0" dirty="0" smtClean="0">
                <a:cs typeface="Arial" charset="0"/>
              </a:rPr>
              <a:t>Client</a:t>
            </a:r>
            <a:r>
              <a:rPr lang="en-GB" b="0" baseline="0" dirty="0" smtClean="0">
                <a:cs typeface="Arial" charset="0"/>
              </a:rPr>
              <a:t> name</a:t>
            </a:r>
          </a:p>
          <a:p>
            <a:pPr marL="799963" lvl="1" indent="-342900">
              <a:buFont typeface="Arial" panose="020B0604020202020204" pitchFamily="34" charset="0"/>
              <a:buChar char="•"/>
            </a:pPr>
            <a:r>
              <a:rPr lang="en-GB" b="0" baseline="0" dirty="0" smtClean="0">
                <a:cs typeface="Arial" charset="0"/>
              </a:rPr>
              <a:t>Virtual SSL VPN interface</a:t>
            </a:r>
          </a:p>
          <a:p>
            <a:pPr marL="799963" lvl="1" indent="-342900">
              <a:buFont typeface="Arial" panose="020B0604020202020204" pitchFamily="34" charset="0"/>
              <a:buChar char="•"/>
            </a:pPr>
            <a:r>
              <a:rPr lang="en-GB" b="0" baseline="0" dirty="0" smtClean="0">
                <a:cs typeface="Arial" charset="0"/>
              </a:rPr>
              <a:t>SSL VPN server FortiGate IP address and SSL port number</a:t>
            </a:r>
          </a:p>
          <a:p>
            <a:pPr marL="799963" lvl="1" indent="-342900">
              <a:buFont typeface="Arial" panose="020B0604020202020204" pitchFamily="34" charset="0"/>
              <a:buChar char="•"/>
            </a:pPr>
            <a:r>
              <a:rPr lang="en-GB" b="0" baseline="0" dirty="0" smtClean="0">
                <a:cs typeface="Arial" charset="0"/>
              </a:rPr>
              <a:t>Local username and password and PKI(Peer) user. The </a:t>
            </a:r>
            <a:r>
              <a:rPr lang="en-US" sz="1000" b="1" i="0" kern="1200" baseline="0" dirty="0" smtClean="0">
                <a:solidFill>
                  <a:schemeClr val="tx1"/>
                </a:solidFill>
                <a:effectLst/>
                <a:latin typeface="Arial" panose="020B0604020202020204" pitchFamily="34" charset="0"/>
                <a:ea typeface="+mn-ea"/>
                <a:cs typeface="Arial" panose="020B0604020202020204" pitchFamily="34" charset="0"/>
              </a:rPr>
              <a:t>Client Certificate</a:t>
            </a:r>
            <a:r>
              <a:rPr lang="en-US" sz="1000" b="0" i="0" kern="1200" dirty="0" smtClean="0">
                <a:solidFill>
                  <a:schemeClr val="tx1"/>
                </a:solidFill>
                <a:effectLst/>
                <a:latin typeface="Arial" panose="020B0604020202020204" pitchFamily="34" charset="0"/>
                <a:ea typeface="+mn-ea"/>
                <a:cs typeface="Arial" panose="020B0604020202020204" pitchFamily="34" charset="0"/>
              </a:rPr>
              <a:t> is the local certificate that is used to identify this client, and is assumed to already be installed on the FortiGate. The SSL VPN server requires it for authentication.</a:t>
            </a:r>
          </a:p>
          <a:p>
            <a:pPr marL="799963" lvl="1" indent="-342900">
              <a:buFont typeface="Arial" panose="020B0604020202020204" pitchFamily="34" charset="0"/>
              <a:buChar char="•"/>
            </a:pPr>
            <a:r>
              <a:rPr lang="en-GB" sz="1000" b="0" i="0" kern="1200" dirty="0" smtClean="0">
                <a:solidFill>
                  <a:schemeClr val="tx1"/>
                </a:solidFill>
                <a:effectLst/>
                <a:latin typeface="Arial" panose="020B0604020202020204" pitchFamily="34" charset="0"/>
                <a:ea typeface="+mn-ea"/>
                <a:cs typeface="Arial" panose="020B0604020202020204" pitchFamily="34" charset="0"/>
              </a:rPr>
              <a:t>When split tunnel is disabled,</a:t>
            </a:r>
            <a:r>
              <a:rPr lang="en-GB" sz="1000" b="0" i="0" kern="1200" baseline="0" dirty="0" smtClean="0">
                <a:solidFill>
                  <a:schemeClr val="tx1"/>
                </a:solidFill>
                <a:effectLst/>
                <a:latin typeface="Arial" panose="020B0604020202020204" pitchFamily="34" charset="0"/>
                <a:ea typeface="+mn-ea"/>
                <a:cs typeface="Arial" panose="020B0604020202020204" pitchFamily="34" charset="0"/>
              </a:rPr>
              <a:t> new default route is added and priority and distance plays an important role. </a:t>
            </a:r>
            <a:endParaRPr lang="en-GB" b="0" dirty="0" smtClean="0">
              <a:cs typeface="Arial" charset="0"/>
            </a:endParaRPr>
          </a:p>
          <a:p>
            <a:pPr marL="342843" lvl="0" indent="-342900">
              <a:buFont typeface="+mj-lt"/>
              <a:buAutoNum type="arabicPeriod"/>
            </a:pPr>
            <a:r>
              <a:rPr lang="en-US" dirty="0" smtClean="0">
                <a:cs typeface="Arial" charset="0"/>
              </a:rPr>
              <a:t>Create a firewall policy to allow traffic from </a:t>
            </a:r>
            <a:r>
              <a:rPr lang="en-US" dirty="0" smtClean="0"/>
              <a:t>internal interface to the SSL VPN interface.</a:t>
            </a:r>
          </a:p>
          <a:p>
            <a:pPr marL="0" marR="0" lvl="0" indent="0" algn="l" defTabSz="914240" rtl="0" eaLnBrk="1" fontAlgn="auto" latinLnBrk="0" hangingPunct="1">
              <a:lnSpc>
                <a:spcPct val="100000"/>
              </a:lnSpc>
              <a:spcBef>
                <a:spcPts val="0"/>
              </a:spcBef>
              <a:spcAft>
                <a:spcPts val="0"/>
              </a:spcAft>
              <a:buClrTx/>
              <a:buSzTx/>
              <a:buFontTx/>
              <a:buNone/>
              <a:tabLst/>
              <a:defRPr/>
            </a:pPr>
            <a:endParaRPr lang="en-US" dirty="0" smtClean="0"/>
          </a:p>
          <a:p>
            <a:pPr marL="0" marR="0" lvl="0" indent="0" algn="l" defTabSz="91424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Header Placeholder 3"/>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4238725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connects to your network through an SSL-VPN, a portal is established between your network and the </a:t>
            </a:r>
            <a:r>
              <a:rPr lang="en-US" dirty="0" smtClean="0"/>
              <a:t>user’s </a:t>
            </a:r>
            <a:r>
              <a:rPr lang="en-US" dirty="0"/>
              <a:t>PC. The VPN session is secured natively in two ways: the connection is encrypted and the user must log in with their credentials, such as a username and password. However, you can configure </a:t>
            </a:r>
            <a:r>
              <a:rPr lang="en-US" dirty="0" smtClean="0"/>
              <a:t>additional</a:t>
            </a:r>
            <a:r>
              <a:rPr lang="en-US" baseline="0" dirty="0" smtClean="0"/>
              <a:t> </a:t>
            </a:r>
            <a:r>
              <a:rPr lang="en-US" dirty="0" smtClean="0"/>
              <a:t>checks </a:t>
            </a:r>
            <a:r>
              <a:rPr lang="en-US" dirty="0"/>
              <a:t>to increase the security of the connection.</a:t>
            </a:r>
            <a:endParaRPr lang="en-CA" dirty="0"/>
          </a:p>
          <a:p>
            <a:endParaRPr lang="en-US" dirty="0"/>
          </a:p>
          <a:p>
            <a:r>
              <a:rPr lang="en-US" dirty="0"/>
              <a:t>One method of increasing your security is </a:t>
            </a:r>
            <a:r>
              <a:rPr lang="en-US" dirty="0" smtClean="0"/>
              <a:t>by</a:t>
            </a:r>
            <a:r>
              <a:rPr lang="en-US" baseline="0" dirty="0" smtClean="0"/>
              <a:t> using</a:t>
            </a:r>
            <a:r>
              <a:rPr lang="en-US" dirty="0" smtClean="0"/>
              <a:t> </a:t>
            </a:r>
            <a:r>
              <a:rPr lang="en-US" dirty="0"/>
              <a:t>client integrity checking. Client integrity ensures that the connecting computer is secure by checking whether specific security software, such as antivirus or firewall software, is installed and running. This feature </a:t>
            </a:r>
            <a:r>
              <a:rPr lang="en-US" dirty="0" smtClean="0"/>
              <a:t>supports only Microsoft </a:t>
            </a:r>
            <a:r>
              <a:rPr lang="en-US" dirty="0"/>
              <a:t>Windows clients, because it accesses the Windows Security Center to perform its checks. Alternatively, you can customize this feature to check the status of other applications using their </a:t>
            </a:r>
            <a:r>
              <a:rPr lang="en-US" dirty="0" smtClean="0"/>
              <a:t>GUIDs. A </a:t>
            </a:r>
            <a:r>
              <a:rPr lang="en-US" dirty="0"/>
              <a:t>GUID is a unique ID in the Windows Configuration Registry that identifies each Windows application. Client integrity can also check the current software and signature versions for the antivirus and firewall applications.</a:t>
            </a:r>
            <a:endParaRPr lang="en-CA" dirty="0"/>
          </a:p>
          <a:p>
            <a:endParaRPr lang="en-US" dirty="0"/>
          </a:p>
          <a:p>
            <a:r>
              <a:rPr lang="en-US" sz="1000" kern="1200" dirty="0">
                <a:solidFill>
                  <a:schemeClr val="tx1"/>
                </a:solidFill>
                <a:latin typeface="Arial" panose="020B0604020202020204" pitchFamily="34" charset="0"/>
                <a:ea typeface="+mn-ea"/>
                <a:cs typeface="Arial" panose="020B0604020202020204" pitchFamily="34" charset="0"/>
              </a:rPr>
              <a:t>Client</a:t>
            </a:r>
            <a:r>
              <a:rPr lang="en-US" sz="1000" kern="1200" baseline="0" dirty="0">
                <a:solidFill>
                  <a:schemeClr val="tx1"/>
                </a:solidFill>
                <a:latin typeface="Arial" panose="020B0604020202020204" pitchFamily="34" charset="0"/>
                <a:ea typeface="+mn-ea"/>
                <a:cs typeface="Arial" panose="020B0604020202020204" pitchFamily="34" charset="0"/>
              </a:rPr>
              <a:t> integrity checking </a:t>
            </a:r>
            <a:r>
              <a:rPr lang="en-US" sz="1000" kern="1200" dirty="0">
                <a:solidFill>
                  <a:schemeClr val="tx1"/>
                </a:solidFill>
                <a:latin typeface="Arial" panose="020B0604020202020204" pitchFamily="34" charset="0"/>
                <a:ea typeface="+mn-ea"/>
                <a:cs typeface="Arial" panose="020B0604020202020204" pitchFamily="34" charset="0"/>
              </a:rPr>
              <a:t>is applicable </a:t>
            </a:r>
            <a:r>
              <a:rPr lang="en-US" sz="1000" kern="1200" dirty="0" smtClean="0">
                <a:solidFill>
                  <a:schemeClr val="tx1"/>
                </a:solidFill>
                <a:latin typeface="Arial" panose="020B0604020202020204" pitchFamily="34" charset="0"/>
                <a:ea typeface="+mn-ea"/>
                <a:cs typeface="Arial" panose="020B0604020202020204" pitchFamily="34" charset="0"/>
              </a:rPr>
              <a:t>to</a:t>
            </a:r>
            <a:r>
              <a:rPr lang="en-US" sz="1000" kern="1200" baseline="0" dirty="0" smtClean="0">
                <a:solidFill>
                  <a:schemeClr val="tx1"/>
                </a:solidFill>
                <a:latin typeface="Arial" panose="020B0604020202020204" pitchFamily="34" charset="0"/>
                <a:ea typeface="+mn-ea"/>
                <a:cs typeface="Arial" panose="020B0604020202020204" pitchFamily="34" charset="0"/>
              </a:rPr>
              <a:t> </a:t>
            </a:r>
            <a:r>
              <a:rPr lang="en-US" sz="1000" kern="1200" dirty="0" smtClean="0">
                <a:solidFill>
                  <a:schemeClr val="tx1"/>
                </a:solidFill>
                <a:latin typeface="Arial" panose="020B0604020202020204" pitchFamily="34" charset="0"/>
                <a:ea typeface="+mn-ea"/>
                <a:cs typeface="Arial" panose="020B0604020202020204" pitchFamily="34" charset="0"/>
              </a:rPr>
              <a:t>tunnel </a:t>
            </a:r>
            <a:r>
              <a:rPr lang="en-US" sz="1000" kern="1200" smtClean="0">
                <a:solidFill>
                  <a:schemeClr val="tx1"/>
                </a:solidFill>
                <a:latin typeface="Arial" panose="020B0604020202020204" pitchFamily="34" charset="0"/>
                <a:ea typeface="+mn-ea"/>
                <a:cs typeface="Arial" panose="020B0604020202020204" pitchFamily="34" charset="0"/>
              </a:rPr>
              <a:t>mode only.</a:t>
            </a:r>
            <a:endParaRPr lang="en-US" dirty="0"/>
          </a:p>
        </p:txBody>
      </p:sp>
      <p:sp>
        <p:nvSpPr>
          <p:cNvPr id="5" name="Header Placeholder 4"/>
          <p:cNvSpPr>
            <a:spLocks noGrp="1"/>
          </p:cNvSpPr>
          <p:nvPr>
            <p:ph type="hdr" sz="quarter" idx="10"/>
          </p:nvPr>
        </p:nvSpPr>
        <p:spPr/>
        <p:txBody>
          <a:bodyPr/>
          <a:lstStyle/>
          <a:p>
            <a:pPr algn="r"/>
            <a:r>
              <a:rPr lang="en-CA" sz="1000" dirty="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4274458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FortiGate performs the </a:t>
            </a:r>
            <a:r>
              <a:rPr lang="en-US" dirty="0"/>
              <a:t>client integrity </a:t>
            </a:r>
            <a:r>
              <a:rPr lang="en-US" dirty="0" smtClean="0"/>
              <a:t>check</a:t>
            </a:r>
            <a:r>
              <a:rPr lang="en-US" baseline="0" dirty="0" smtClean="0"/>
              <a:t> </a:t>
            </a:r>
            <a:r>
              <a:rPr lang="en-US" dirty="0" smtClean="0"/>
              <a:t>while </a:t>
            </a:r>
            <a:r>
              <a:rPr lang="en-US" dirty="0"/>
              <a:t>the VPN is still establishing, just after user authentication has finished. If the required software is not running on the </a:t>
            </a:r>
            <a:r>
              <a:rPr lang="en-US" dirty="0" smtClean="0"/>
              <a:t>user’s </a:t>
            </a:r>
            <a:r>
              <a:rPr lang="en-US" dirty="0"/>
              <a:t>PC, </a:t>
            </a:r>
            <a:r>
              <a:rPr lang="en-US" dirty="0" smtClean="0"/>
              <a:t>FortiGate rejects the </a:t>
            </a:r>
            <a:r>
              <a:rPr lang="en-US" dirty="0"/>
              <a:t>VPN connection </a:t>
            </a:r>
            <a:r>
              <a:rPr lang="en-US" dirty="0" smtClean="0"/>
              <a:t>attempt, </a:t>
            </a:r>
            <a:r>
              <a:rPr lang="en-US" dirty="0"/>
              <a:t>even with valid user credentials. </a:t>
            </a:r>
            <a:r>
              <a:rPr lang="en-US" dirty="0" smtClean="0"/>
              <a:t>You enable client integrity</a:t>
            </a:r>
            <a:r>
              <a:rPr lang="en-US" baseline="0" dirty="0" smtClean="0"/>
              <a:t> for each</a:t>
            </a:r>
            <a:r>
              <a:rPr lang="en-US" dirty="0" smtClean="0"/>
              <a:t> </a:t>
            </a:r>
            <a:r>
              <a:rPr lang="en-US" dirty="0"/>
              <a:t>web portal, and </a:t>
            </a:r>
            <a:r>
              <a:rPr lang="en-US" dirty="0" smtClean="0"/>
              <a:t>you configure it </a:t>
            </a:r>
            <a:r>
              <a:rPr lang="en-US" baseline="0" dirty="0" smtClean="0"/>
              <a:t>using</a:t>
            </a:r>
            <a:r>
              <a:rPr lang="en-US" dirty="0" smtClean="0"/>
              <a:t> </a:t>
            </a:r>
            <a:r>
              <a:rPr lang="en-US" dirty="0"/>
              <a:t>CLI </a:t>
            </a:r>
            <a:r>
              <a:rPr lang="en-US" dirty="0" smtClean="0"/>
              <a:t>commands or the FortiGate GUI. </a:t>
            </a:r>
            <a:endParaRPr lang="en-US" dirty="0"/>
          </a:p>
          <a:p>
            <a:endParaRPr lang="en-US" dirty="0"/>
          </a:p>
          <a:p>
            <a:r>
              <a:rPr lang="en-US" dirty="0"/>
              <a:t>The list of recognized software, along with the associated registry key value, is available on the </a:t>
            </a:r>
            <a:r>
              <a:rPr lang="en-US" dirty="0" smtClean="0"/>
              <a:t>CLI only. </a:t>
            </a:r>
            <a:r>
              <a:rPr lang="en-US" dirty="0"/>
              <a:t>Software is split into three categories: antivirus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av</a:t>
            </a:r>
            <a:r>
              <a:rPr lang="en-US" dirty="0">
                <a:latin typeface="Courier New" panose="02070309020205020404" pitchFamily="49" charset="0"/>
                <a:cs typeface="Courier New" panose="02070309020205020404" pitchFamily="49" charset="0"/>
              </a:rPr>
              <a:t>)</a:t>
            </a:r>
            <a:r>
              <a:rPr lang="en-US" dirty="0"/>
              <a:t>, firewall </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fw</a:t>
            </a:r>
            <a:r>
              <a:rPr lang="en-US" dirty="0">
                <a:latin typeface="Courier New" panose="02070309020205020404" pitchFamily="49" charset="0"/>
                <a:cs typeface="Courier New" panose="02070309020205020404" pitchFamily="49" charset="0"/>
              </a:rPr>
              <a:t>)</a:t>
            </a:r>
            <a:r>
              <a:rPr lang="en-US" dirty="0"/>
              <a:t>, and </a:t>
            </a:r>
            <a:r>
              <a:rPr lang="en-US" dirty="0">
                <a:latin typeface="Courier New" panose="02070309020205020404" pitchFamily="49" charset="0"/>
                <a:cs typeface="Courier New" panose="02070309020205020404" pitchFamily="49" charset="0"/>
              </a:rPr>
              <a:t>custom</a:t>
            </a:r>
            <a:r>
              <a:rPr lang="en-US" dirty="0"/>
              <a:t>. Custom is used for customized or proprietary software that an organization may require. Administrators can configure </a:t>
            </a:r>
            <a:r>
              <a:rPr lang="en-US" dirty="0" err="1" smtClean="0">
                <a:latin typeface="Courier New" panose="02070309020205020404" pitchFamily="49" charset="0"/>
                <a:cs typeface="Courier New" panose="02070309020205020404" pitchFamily="49" charset="0"/>
              </a:rPr>
              <a:t>av</a:t>
            </a:r>
            <a:r>
              <a:rPr lang="en-US" baseline="0" dirty="0" smtClean="0"/>
              <a:t>, </a:t>
            </a:r>
            <a:r>
              <a:rPr lang="en-US" baseline="0" dirty="0" err="1" smtClean="0">
                <a:latin typeface="Courier New" panose="02070309020205020404" pitchFamily="49" charset="0"/>
                <a:cs typeface="Courier New" panose="02070309020205020404" pitchFamily="49" charset="0"/>
              </a:rPr>
              <a:t>fw</a:t>
            </a:r>
            <a:r>
              <a:rPr lang="en-US" baseline="0" dirty="0" smtClean="0"/>
              <a:t>,</a:t>
            </a:r>
            <a:r>
              <a:rPr lang="en-US" dirty="0" smtClean="0"/>
              <a:t> or both</a:t>
            </a:r>
            <a:r>
              <a:rPr lang="en-US" baseline="0" dirty="0" smtClean="0"/>
              <a:t> </a:t>
            </a:r>
            <a:r>
              <a:rPr lang="en-US" dirty="0" smtClean="0"/>
              <a:t>settings on the GUI</a:t>
            </a:r>
            <a:r>
              <a:rPr lang="en-US" baseline="0" dirty="0" smtClean="0"/>
              <a:t> or </a:t>
            </a:r>
            <a:r>
              <a:rPr lang="en-US" dirty="0" smtClean="0"/>
              <a:t>CLI, but</a:t>
            </a:r>
            <a:r>
              <a:rPr lang="en-US" baseline="0" dirty="0" smtClean="0"/>
              <a:t> the custom setting</a:t>
            </a:r>
            <a:r>
              <a:rPr lang="en-US" dirty="0" smtClean="0"/>
              <a:t> is available only on </a:t>
            </a:r>
            <a:r>
              <a:rPr lang="en-US" dirty="0"/>
              <a:t>the CLI</a:t>
            </a:r>
            <a:r>
              <a:rPr lang="en-US" dirty="0" smtClean="0"/>
              <a:t>.</a:t>
            </a:r>
          </a:p>
          <a:p>
            <a:endParaRPr lang="en-US" dirty="0" smtClean="0"/>
          </a:p>
          <a:p>
            <a:r>
              <a:rPr lang="en-US" dirty="0" smtClean="0"/>
              <a:t>Administrators can also configure</a:t>
            </a:r>
            <a:r>
              <a:rPr lang="en-US" baseline="0" dirty="0" smtClean="0"/>
              <a:t> OS versions and patch settings to allow or deny VPN connections from specific OS versions.</a:t>
            </a:r>
            <a:endParaRPr lang="en-US" dirty="0"/>
          </a:p>
          <a:p>
            <a:r>
              <a:rPr lang="en-US" dirty="0"/>
              <a:t> </a:t>
            </a:r>
          </a:p>
          <a:p>
            <a:r>
              <a:rPr lang="en-US" dirty="0"/>
              <a:t>The disadvantage of enabling client integrity checking is that it can result in a lot of administrative overhead</a:t>
            </a:r>
            <a:r>
              <a:rPr lang="en-US" baseline="0" dirty="0"/>
              <a:t> because of the following factors:</a:t>
            </a:r>
            <a:endParaRPr lang="en-US" dirty="0"/>
          </a:p>
          <a:p>
            <a:pPr marL="228600" indent="-228600">
              <a:buFont typeface="Arial" panose="020B0604020202020204" pitchFamily="34" charset="0"/>
              <a:buChar char="•"/>
            </a:pPr>
            <a:r>
              <a:rPr lang="en-US" dirty="0"/>
              <a:t>All users must have their security software </a:t>
            </a:r>
            <a:r>
              <a:rPr lang="en-US" dirty="0" smtClean="0"/>
              <a:t>up</a:t>
            </a:r>
            <a:r>
              <a:rPr lang="en-US" baseline="0" dirty="0" smtClean="0"/>
              <a:t> to date</a:t>
            </a:r>
            <a:r>
              <a:rPr lang="en-US" dirty="0" smtClean="0"/>
              <a:t> </a:t>
            </a:r>
            <a:r>
              <a:rPr lang="en-US" dirty="0"/>
              <a:t>in order to successfully establish a connection.</a:t>
            </a:r>
          </a:p>
          <a:p>
            <a:pPr marL="228600" indent="-228600">
              <a:buFont typeface="Arial" panose="020B0604020202020204" pitchFamily="34" charset="0"/>
              <a:buChar char="•"/>
            </a:pPr>
            <a:r>
              <a:rPr lang="en-US" dirty="0"/>
              <a:t>Software updates can result in a change to the registry key values, which can also prevent a user from successfully connecting. </a:t>
            </a:r>
          </a:p>
          <a:p>
            <a:pPr marL="0" indent="0">
              <a:buFont typeface="+mj-lt"/>
              <a:buNone/>
            </a:pPr>
            <a:endParaRPr lang="en-US" dirty="0"/>
          </a:p>
          <a:p>
            <a:pPr marL="0" indent="0">
              <a:buFont typeface="+mj-lt"/>
              <a:buNone/>
            </a:pPr>
            <a:r>
              <a:rPr lang="en-US" dirty="0"/>
              <a:t>As such, administrators must have in-depth knowledge of the Windows operating system and subsequent registry behavior in order to properly make extended use </a:t>
            </a:r>
            <a:r>
              <a:rPr lang="en-US" dirty="0" smtClean="0"/>
              <a:t>of and maintain</a:t>
            </a:r>
            <a:r>
              <a:rPr lang="en-US" baseline="0" dirty="0" smtClean="0"/>
              <a:t> </a:t>
            </a:r>
            <a:r>
              <a:rPr lang="en-US" dirty="0" smtClean="0"/>
              <a:t>this </a:t>
            </a:r>
            <a:r>
              <a:rPr lang="en-US" dirty="0"/>
              <a:t>feature.</a:t>
            </a:r>
          </a:p>
          <a:p>
            <a:endParaRPr lang="en-US" dirty="0"/>
          </a:p>
        </p:txBody>
      </p:sp>
      <p:sp>
        <p:nvSpPr>
          <p:cNvPr id="5" name="Header Placeholder 4"/>
          <p:cNvSpPr>
            <a:spLocks noGrp="1"/>
          </p:cNvSpPr>
          <p:nvPr>
            <p:ph type="hdr" sz="quarter" idx="10"/>
          </p:nvPr>
        </p:nvSpPr>
        <p:spPr/>
        <p:txBody>
          <a:bodyPr/>
          <a:lstStyle/>
          <a:p>
            <a:pPr algn="r"/>
            <a:r>
              <a:rPr lang="en-CA" sz="1000" dirty="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9736228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cs typeface="Arial" charset="0"/>
            </a:endParaRPr>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3056578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Good</a:t>
            </a:r>
            <a:r>
              <a:rPr lang="en-CA" baseline="0" dirty="0"/>
              <a:t> job! You now understand how to </a:t>
            </a:r>
            <a:r>
              <a:rPr lang="en-CA" baseline="0" dirty="0" smtClean="0"/>
              <a:t>configure FortiGate </a:t>
            </a:r>
            <a:r>
              <a:rPr lang="en-CA" baseline="0" dirty="0"/>
              <a:t>for </a:t>
            </a:r>
            <a:r>
              <a:rPr lang="en-CA" baseline="0" dirty="0" smtClean="0"/>
              <a:t>SSL VPN </a:t>
            </a:r>
            <a:r>
              <a:rPr lang="en-CA" baseline="0" dirty="0"/>
              <a:t>connections.</a:t>
            </a:r>
          </a:p>
          <a:p>
            <a:endParaRPr lang="en-CA" baseline="0" dirty="0" smtClean="0"/>
          </a:p>
          <a:p>
            <a:r>
              <a:rPr lang="en-CA" baseline="0" dirty="0" smtClean="0"/>
              <a:t>Now, you’ll l</a:t>
            </a:r>
            <a:r>
              <a:rPr lang="en-CA" dirty="0" smtClean="0"/>
              <a:t>earn how to</a:t>
            </a:r>
            <a:r>
              <a:rPr lang="en-CA" baseline="0" dirty="0" smtClean="0"/>
              <a:t> </a:t>
            </a:r>
            <a:r>
              <a:rPr lang="en-US" sz="1000" kern="1200" dirty="0" smtClean="0">
                <a:solidFill>
                  <a:schemeClr val="tx1"/>
                </a:solidFill>
                <a:latin typeface="Arial" panose="020B0604020202020204" pitchFamily="34" charset="0"/>
                <a:ea typeface="+mn-ea"/>
                <a:cs typeface="Arial" panose="020B0604020202020204" pitchFamily="34" charset="0"/>
              </a:rPr>
              <a:t>monitor SSL VPN sessions, review logs, configure SSL VPN timers, and troubleshoot common</a:t>
            </a:r>
            <a:r>
              <a:rPr lang="en-US" sz="1000" kern="1200" baseline="0" dirty="0" smtClean="0">
                <a:solidFill>
                  <a:schemeClr val="tx1"/>
                </a:solidFill>
                <a:latin typeface="Arial" panose="020B0604020202020204" pitchFamily="34" charset="0"/>
                <a:ea typeface="+mn-ea"/>
                <a:cs typeface="Arial" panose="020B0604020202020204" pitchFamily="34" charset="0"/>
              </a:rPr>
              <a:t> issues</a:t>
            </a:r>
            <a:r>
              <a:rPr lang="en-US" sz="1000" kern="1200" dirty="0" smtClean="0">
                <a:solidFill>
                  <a:schemeClr val="tx1"/>
                </a:solidFill>
                <a:latin typeface="Arial" panose="020B0604020202020204" pitchFamily="34" charset="0"/>
                <a:ea typeface="+mn-ea"/>
                <a:cs typeface="Arial" panose="020B0604020202020204" pitchFamily="34" charset="0"/>
              </a:rPr>
              <a:t>.</a:t>
            </a:r>
            <a:endParaRPr lang="en-US" dirty="0" smtClean="0"/>
          </a:p>
          <a:p>
            <a:endParaRPr lang="en-US" b="1" dirty="0"/>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2977839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CA" baseline="0" dirty="0"/>
              <a:t>After completing this section, you should be able to</a:t>
            </a:r>
            <a:r>
              <a:rPr lang="en-US" baseline="0" dirty="0"/>
              <a:t> </a:t>
            </a:r>
            <a:r>
              <a:rPr lang="en-CA" sz="1000" kern="1200" dirty="0">
                <a:solidFill>
                  <a:schemeClr val="tx1"/>
                </a:solidFill>
                <a:latin typeface="Arial" panose="020B0604020202020204" pitchFamily="34" charset="0"/>
                <a:ea typeface="+mn-ea"/>
                <a:cs typeface="Arial" panose="020B0604020202020204" pitchFamily="34" charset="0"/>
              </a:rPr>
              <a:t>achieve the objectives shown on this slide.</a:t>
            </a: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indent="0" algn="l" defTabSz="914240" rtl="0" eaLnBrk="1" fontAlgn="auto" latinLnBrk="0" hangingPunct="1">
              <a:lnSpc>
                <a:spcPct val="100000"/>
              </a:lnSpc>
              <a:spcBef>
                <a:spcPts val="0"/>
              </a:spcBef>
              <a:spcAft>
                <a:spcPts val="0"/>
              </a:spcAft>
              <a:buClrTx/>
              <a:buSzTx/>
              <a:buFontTx/>
              <a:buNone/>
              <a:tabLst/>
              <a:defRPr/>
            </a:pPr>
            <a:r>
              <a:rPr lang="en-CA" baseline="0" dirty="0"/>
              <a:t>By demonstrating competence in </a:t>
            </a:r>
            <a:r>
              <a:rPr lang="en-CA" baseline="0" dirty="0" smtClean="0"/>
              <a:t>SSL VPN </a:t>
            </a:r>
            <a:r>
              <a:rPr lang="en-CA" baseline="0" dirty="0"/>
              <a:t>monitoring and troubleshooting, you will be able to avoid, identify, and solve common issues and misconfigurations. </a:t>
            </a:r>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9704272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monitor which </a:t>
            </a:r>
            <a:r>
              <a:rPr lang="en-US" dirty="0" smtClean="0"/>
              <a:t>SSL VPN </a:t>
            </a:r>
            <a:r>
              <a:rPr lang="en-US" dirty="0"/>
              <a:t>users are connected on the </a:t>
            </a:r>
            <a:r>
              <a:rPr lang="en-US" b="1" dirty="0" smtClean="0"/>
              <a:t>SSL VPN</a:t>
            </a:r>
            <a:r>
              <a:rPr lang="en-US" b="1" baseline="0" dirty="0" smtClean="0"/>
              <a:t> </a:t>
            </a:r>
            <a:r>
              <a:rPr lang="en-US" b="0" baseline="0" dirty="0" smtClean="0"/>
              <a:t>widget</a:t>
            </a:r>
            <a:r>
              <a:rPr lang="en-US" dirty="0" smtClean="0"/>
              <a:t>. This</a:t>
            </a:r>
            <a:r>
              <a:rPr lang="en-US" baseline="0" dirty="0" smtClean="0"/>
              <a:t> </a:t>
            </a:r>
            <a:r>
              <a:rPr lang="en-US" dirty="0" smtClean="0"/>
              <a:t>shows the </a:t>
            </a:r>
            <a:r>
              <a:rPr lang="en-US" dirty="0"/>
              <a:t>names of all </a:t>
            </a:r>
            <a:r>
              <a:rPr lang="en-US" dirty="0" smtClean="0"/>
              <a:t>SSL VPN </a:t>
            </a:r>
            <a:r>
              <a:rPr lang="en-US" dirty="0"/>
              <a:t>users that are currently connected to FortiGate, their IP addresses (both inside the tunnel and outside), and connection times.</a:t>
            </a:r>
          </a:p>
          <a:p>
            <a:endParaRPr lang="en-US" dirty="0"/>
          </a:p>
          <a:p>
            <a:r>
              <a:rPr lang="en-US" dirty="0"/>
              <a:t>When a user connects using tunnel model, the </a:t>
            </a:r>
            <a:r>
              <a:rPr lang="en-US" b="1" dirty="0"/>
              <a:t>Active Connections </a:t>
            </a:r>
            <a:r>
              <a:rPr lang="en-US" dirty="0"/>
              <a:t>column shows the IP address assigned by FortiGate to the </a:t>
            </a:r>
            <a:r>
              <a:rPr lang="en-US" dirty="0" err="1">
                <a:latin typeface="Courier New" panose="02070309020205020404" pitchFamily="49" charset="0"/>
                <a:cs typeface="Courier New" panose="02070309020205020404" pitchFamily="49" charset="0"/>
              </a:rPr>
              <a:t>fortissl</a:t>
            </a:r>
            <a:r>
              <a:rPr lang="en-US" dirty="0"/>
              <a:t> virtual adapter on  the client’s computer. Otherwise, the user is connected only to the web portal page.</a:t>
            </a:r>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9603925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also review </a:t>
            </a:r>
            <a:r>
              <a:rPr lang="en-US" dirty="0" smtClean="0"/>
              <a:t>SSL VPN logs.</a:t>
            </a:r>
            <a:r>
              <a:rPr lang="en-US" baseline="0" dirty="0" smtClean="0"/>
              <a:t> On </a:t>
            </a:r>
            <a:r>
              <a:rPr lang="en-US" b="1" baseline="0" dirty="0" smtClean="0"/>
              <a:t>Log &amp; Report </a:t>
            </a:r>
            <a:r>
              <a:rPr lang="en-US" baseline="0" dirty="0" smtClean="0"/>
              <a:t>&gt; </a:t>
            </a:r>
            <a:r>
              <a:rPr lang="en-US" b="1" baseline="0" dirty="0" smtClean="0"/>
              <a:t>System</a:t>
            </a:r>
            <a:r>
              <a:rPr lang="en-US" baseline="0" dirty="0" smtClean="0"/>
              <a:t> </a:t>
            </a:r>
            <a:r>
              <a:rPr lang="en-US" b="1" baseline="0" dirty="0" smtClean="0"/>
              <a:t>Events</a:t>
            </a:r>
            <a:r>
              <a:rPr lang="en-US" baseline="0" dirty="0" smtClean="0"/>
              <a:t>:</a:t>
            </a:r>
            <a:endParaRPr lang="en-US" dirty="0"/>
          </a:p>
          <a:p>
            <a:pPr marL="171450" indent="-171450">
              <a:buFont typeface="Arial" panose="020B0604020202020204" pitchFamily="34" charset="0"/>
              <a:buChar char="•"/>
            </a:pPr>
            <a:r>
              <a:rPr lang="en-US" dirty="0"/>
              <a:t>Select</a:t>
            </a:r>
            <a:r>
              <a:rPr lang="en-US" baseline="0" dirty="0"/>
              <a:t> </a:t>
            </a:r>
            <a:r>
              <a:rPr lang="en-US" b="1" dirty="0"/>
              <a:t>VPN</a:t>
            </a:r>
            <a:r>
              <a:rPr lang="en-US" b="1" baseline="0" dirty="0"/>
              <a:t> Events</a:t>
            </a:r>
            <a:r>
              <a:rPr lang="en-US" baseline="0" dirty="0"/>
              <a:t> </a:t>
            </a:r>
            <a:r>
              <a:rPr lang="en-US" baseline="0" dirty="0" smtClean="0"/>
              <a:t>widget to show </a:t>
            </a:r>
            <a:r>
              <a:rPr lang="en-US" baseline="0" dirty="0"/>
              <a:t>new connection requests, and if the </a:t>
            </a:r>
            <a:r>
              <a:rPr lang="en-US" baseline="0" dirty="0" smtClean="0"/>
              <a:t>SSL VPN </a:t>
            </a:r>
            <a:r>
              <a:rPr lang="en-US" baseline="0" dirty="0"/>
              <a:t>tunnel is established </a:t>
            </a:r>
            <a:r>
              <a:rPr lang="en-US" baseline="0" dirty="0" smtClean="0"/>
              <a:t>or closed</a:t>
            </a:r>
            <a:r>
              <a:rPr lang="en-US" baseline="0" dirty="0"/>
              <a:t>.  </a:t>
            </a:r>
          </a:p>
          <a:p>
            <a:pPr marL="171450" indent="-171450">
              <a:buFont typeface="Arial" panose="020B0604020202020204" pitchFamily="34" charset="0"/>
              <a:buChar char="•"/>
            </a:pPr>
            <a:r>
              <a:rPr lang="en-US" baseline="0" dirty="0"/>
              <a:t>Select </a:t>
            </a:r>
            <a:r>
              <a:rPr lang="en-US" b="1" baseline="0" dirty="0"/>
              <a:t>User Events</a:t>
            </a:r>
            <a:r>
              <a:rPr lang="en-US" baseline="0" dirty="0"/>
              <a:t> </a:t>
            </a:r>
            <a:r>
              <a:rPr lang="en-US" baseline="0" dirty="0" smtClean="0"/>
              <a:t>widget to </a:t>
            </a:r>
            <a:r>
              <a:rPr lang="en-US" baseline="0" dirty="0"/>
              <a:t>see the authentication action related to </a:t>
            </a:r>
            <a:r>
              <a:rPr lang="en-US" baseline="0" dirty="0" smtClean="0"/>
              <a:t>SSL VPN </a:t>
            </a:r>
            <a:r>
              <a:rPr lang="en-US" baseline="0" dirty="0"/>
              <a:t>users</a:t>
            </a:r>
            <a:r>
              <a:rPr lang="en-US" baseline="0" dirty="0" smtClean="0"/>
              <a:t>.</a:t>
            </a:r>
            <a:endParaRPr lang="en-US" baseline="0"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0789465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When an </a:t>
            </a:r>
            <a:r>
              <a:rPr lang="en-US" dirty="0" smtClean="0"/>
              <a:t>SSL VPN </a:t>
            </a:r>
            <a:r>
              <a:rPr lang="en-US" dirty="0"/>
              <a:t>is disconnected, either by the user or through the </a:t>
            </a:r>
            <a:r>
              <a:rPr lang="en-US" dirty="0" smtClean="0"/>
              <a:t>SSL VPN </a:t>
            </a:r>
            <a:r>
              <a:rPr lang="en-US" dirty="0"/>
              <a:t>idle setting, all associated sessions in the FortiGate session table are deleted. This prevents the reuse of authenticated </a:t>
            </a:r>
            <a:r>
              <a:rPr lang="en-US" dirty="0" smtClean="0"/>
              <a:t>SSL VPN </a:t>
            </a:r>
            <a:r>
              <a:rPr lang="en-US" dirty="0"/>
              <a:t>sessions (not yet expired) after the initial user terminates the tunnel.</a:t>
            </a:r>
          </a:p>
          <a:p>
            <a:pPr lvl="0"/>
            <a:endParaRPr lang="en-US" dirty="0"/>
          </a:p>
          <a:p>
            <a:pPr lvl="0"/>
            <a:r>
              <a:rPr lang="en-US" dirty="0"/>
              <a:t>The </a:t>
            </a:r>
            <a:r>
              <a:rPr lang="en-US" dirty="0" smtClean="0"/>
              <a:t>SSL VPN </a:t>
            </a:r>
            <a:r>
              <a:rPr lang="en-US" dirty="0"/>
              <a:t>user idle setting is not associated with the firewall authentication timeout setting. It is a separate idle option specifically for </a:t>
            </a:r>
            <a:r>
              <a:rPr lang="en-US" dirty="0" smtClean="0"/>
              <a:t>SSL VPN </a:t>
            </a:r>
            <a:r>
              <a:rPr lang="en-US" dirty="0"/>
              <a:t>users. A remote user is considered idle when FortiGate does not see any packets or activity from the user within the configured timeout period.</a:t>
            </a:r>
            <a:endParaRPr lang="en-CA" dirty="0"/>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4117575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connected to SSL VPN </a:t>
            </a:r>
            <a:r>
              <a:rPr lang="en-US" baseline="0" dirty="0" smtClean="0"/>
              <a:t>over high latency connections</a:t>
            </a:r>
            <a:r>
              <a:rPr lang="en-US" dirty="0" smtClean="0"/>
              <a:t>, </a:t>
            </a:r>
            <a:r>
              <a:rPr lang="en-US" dirty="0"/>
              <a:t>FortiGate can time out the client before the client can finish the negotiation </a:t>
            </a:r>
            <a:r>
              <a:rPr lang="en-US" dirty="0" smtClean="0"/>
              <a:t>process, </a:t>
            </a:r>
            <a:r>
              <a:rPr lang="en-US" dirty="0"/>
              <a:t>such as DNS lookup and time to enter a token. Two new CLI commands under </a:t>
            </a:r>
            <a:r>
              <a:rPr lang="en-US" dirty="0">
                <a:latin typeface="Courier New" panose="02070309020205020404" pitchFamily="49" charset="0"/>
                <a:cs typeface="Courier New" panose="02070309020205020404" pitchFamily="49" charset="0"/>
              </a:rPr>
              <a:t>config </a:t>
            </a:r>
            <a:r>
              <a:rPr lang="en-US" dirty="0" err="1">
                <a:latin typeface="Courier New" panose="02070309020205020404" pitchFamily="49" charset="0"/>
                <a:cs typeface="Courier New" panose="02070309020205020404" pitchFamily="49" charset="0"/>
              </a:rPr>
              <a:t>vpn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ssl</a:t>
            </a:r>
            <a:r>
              <a:rPr lang="en-US" dirty="0">
                <a:latin typeface="Courier New" panose="02070309020205020404" pitchFamily="49" charset="0"/>
                <a:cs typeface="Courier New" panose="02070309020205020404" pitchFamily="49" charset="0"/>
              </a:rPr>
              <a:t> settings</a:t>
            </a:r>
            <a:r>
              <a:rPr lang="en-US" dirty="0"/>
              <a:t> have been added</a:t>
            </a:r>
            <a:r>
              <a:rPr lang="en-US" baseline="0" dirty="0"/>
              <a:t> to address this. The first command </a:t>
            </a:r>
            <a:r>
              <a:rPr lang="en-US" dirty="0"/>
              <a:t>allows you to set up the login timeout, replacing the previous hard timeout value. The second command allows you to set up the maximum DTLS hello timeout for </a:t>
            </a:r>
            <a:r>
              <a:rPr lang="en-US" dirty="0" smtClean="0"/>
              <a:t>SSL VPN </a:t>
            </a:r>
            <a:r>
              <a:rPr lang="en-US" dirty="0"/>
              <a:t>connections.</a:t>
            </a:r>
          </a:p>
          <a:p>
            <a:endParaRPr lang="en-US" dirty="0"/>
          </a:p>
          <a:p>
            <a:r>
              <a:rPr lang="en-US" dirty="0"/>
              <a:t>Also,</a:t>
            </a:r>
            <a:r>
              <a:rPr lang="en-US" baseline="0" dirty="0"/>
              <a:t> timers can help you to mitigate vulnerabilities such </a:t>
            </a:r>
            <a:r>
              <a:rPr lang="en-US" baseline="0" dirty="0" smtClean="0"/>
              <a:t>as </a:t>
            </a:r>
            <a:r>
              <a:rPr lang="en-US" dirty="0" err="1" smtClean="0"/>
              <a:t>Slowloris</a:t>
            </a:r>
            <a:r>
              <a:rPr lang="en-US" dirty="0" smtClean="0"/>
              <a:t> </a:t>
            </a:r>
            <a:r>
              <a:rPr lang="en-US" dirty="0"/>
              <a:t>and R-U-Dead-Yet, that allow remote attackers to cause a denial of service through partial HTTP requests.  </a:t>
            </a:r>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0310929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baseline="0" dirty="0">
                <a:solidFill>
                  <a:schemeClr val="tx1"/>
                </a:solidFill>
                <a:effectLst/>
                <a:latin typeface="Arial" panose="020B0604020202020204" pitchFamily="34" charset="0"/>
                <a:ea typeface="+mn-ea"/>
                <a:cs typeface="Arial" panose="020B0604020202020204" pitchFamily="34" charset="0"/>
              </a:rPr>
              <a:t>The following are some best practices to keep in mind when using </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SSL VPNs</a:t>
            </a:r>
            <a:r>
              <a:rPr lang="en-US" sz="1000" b="0" i="0" kern="1200" baseline="0" dirty="0">
                <a:solidFill>
                  <a:schemeClr val="tx1"/>
                </a:solidFill>
                <a:effectLst/>
                <a:latin typeface="Arial" panose="020B0604020202020204" pitchFamily="34" charset="0"/>
                <a:ea typeface="+mn-ea"/>
                <a:cs typeface="Arial" panose="020B0604020202020204" pitchFamily="34" charset="0"/>
              </a:rPr>
              <a:t>. These best practices can also be helpful in many </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SSL VPN </a:t>
            </a:r>
            <a:r>
              <a:rPr lang="en-US" sz="1000" b="0" i="0" kern="1200" baseline="0" dirty="0">
                <a:solidFill>
                  <a:schemeClr val="tx1"/>
                </a:solidFill>
                <a:effectLst/>
                <a:latin typeface="Arial" panose="020B0604020202020204" pitchFamily="34" charset="0"/>
                <a:ea typeface="+mn-ea"/>
                <a:cs typeface="Arial" panose="020B0604020202020204" pitchFamily="34" charset="0"/>
              </a:rPr>
              <a:t>troubleshooting situations:</a:t>
            </a:r>
          </a:p>
          <a:p>
            <a:pPr marL="171450" indent="-171450">
              <a:buFont typeface="Arial" panose="020B0604020202020204" pitchFamily="34" charset="0"/>
              <a:buChar char="•"/>
            </a:pPr>
            <a:r>
              <a:rPr lang="en-US" sz="1000" b="0" i="0" kern="1200" baseline="0" dirty="0">
                <a:solidFill>
                  <a:schemeClr val="tx1"/>
                </a:solidFill>
                <a:effectLst/>
                <a:latin typeface="Arial" panose="020B0604020202020204" pitchFamily="34" charset="0"/>
                <a:ea typeface="+mn-ea"/>
                <a:cs typeface="Arial" panose="020B0604020202020204" pitchFamily="34" charset="0"/>
              </a:rPr>
              <a:t>Enable cookies in your web </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browser</a:t>
            </a:r>
            <a:endParaRPr lang="en-US" sz="1000" b="0" i="0" kern="1200" baseline="0" dirty="0">
              <a:solidFill>
                <a:schemeClr val="tx1"/>
              </a:solidFill>
              <a:effectLst/>
              <a:latin typeface="Arial" panose="020B0604020202020204" pitchFamily="34" charset="0"/>
              <a:ea typeface="+mn-ea"/>
              <a:cs typeface="Arial" panose="020B0604020202020204" pitchFamily="34" charset="0"/>
            </a:endParaRPr>
          </a:p>
          <a:p>
            <a:pPr marL="171450" indent="-171450">
              <a:buFont typeface="Arial" panose="020B0604020202020204" pitchFamily="34" charset="0"/>
              <a:buChar char="•"/>
            </a:pPr>
            <a:r>
              <a:rPr lang="en-US" dirty="0"/>
              <a:t>Set </a:t>
            </a:r>
            <a:r>
              <a:rPr lang="en-US" dirty="0" smtClean="0"/>
              <a:t>internet </a:t>
            </a:r>
            <a:r>
              <a:rPr lang="en-US" dirty="0"/>
              <a:t>privacy options to high in your web </a:t>
            </a:r>
            <a:r>
              <a:rPr lang="en-US" dirty="0" smtClean="0"/>
              <a:t>browser</a:t>
            </a:r>
            <a:endParaRPr lang="en-US" dirty="0"/>
          </a:p>
          <a:p>
            <a:pPr marL="171450" indent="-171450">
              <a:buFont typeface="Arial" panose="020B0604020202020204" pitchFamily="34" charset="0"/>
              <a:buChar char="•"/>
            </a:pPr>
            <a:r>
              <a:rPr lang="en-US" dirty="0"/>
              <a:t>Use a FortiClient version that is compatible with your FortiOS </a:t>
            </a:r>
            <a:r>
              <a:rPr lang="en-US" dirty="0" smtClean="0"/>
              <a:t>firmware</a:t>
            </a:r>
            <a:endParaRPr lang="en-US" dirty="0"/>
          </a:p>
          <a:p>
            <a:pPr marL="171450" indent="-171450">
              <a:buFont typeface="Arial" panose="020B0604020202020204" pitchFamily="34" charset="0"/>
              <a:buChar char="•"/>
            </a:pPr>
            <a:r>
              <a:rPr lang="en-US" dirty="0"/>
              <a:t>Enable split tunneling or create an egress firewall policy for </a:t>
            </a:r>
            <a:r>
              <a:rPr lang="en-US" dirty="0" smtClean="0"/>
              <a:t>SSL VPN </a:t>
            </a:r>
            <a:r>
              <a:rPr lang="en-US" dirty="0"/>
              <a:t>connections in order</a:t>
            </a:r>
            <a:r>
              <a:rPr lang="en-US" baseline="0" dirty="0"/>
              <a:t> to allow access for external </a:t>
            </a:r>
            <a:r>
              <a:rPr lang="en-US" baseline="0" dirty="0" smtClean="0"/>
              <a:t>resources</a:t>
            </a:r>
            <a:endParaRPr lang="en-US" dirty="0"/>
          </a:p>
          <a:p>
            <a:pPr marL="171450" indent="-171450">
              <a:buFont typeface="Arial" panose="020B0604020202020204" pitchFamily="34" charset="0"/>
              <a:buChar char="•"/>
            </a:pPr>
            <a:r>
              <a:rPr lang="en-US" dirty="0"/>
              <a:t>Connect</a:t>
            </a:r>
            <a:r>
              <a:rPr lang="en-US" baseline="0" dirty="0"/>
              <a:t> to the correct port </a:t>
            </a:r>
            <a:r>
              <a:rPr lang="en-US" baseline="0" dirty="0" smtClean="0"/>
              <a:t>number</a:t>
            </a:r>
            <a:endParaRPr lang="en-US" baseline="0" dirty="0"/>
          </a:p>
          <a:p>
            <a:pPr marL="171450" indent="-171450">
              <a:buFont typeface="Arial" panose="020B0604020202020204" pitchFamily="34" charset="0"/>
              <a:buChar char="•"/>
            </a:pPr>
            <a:r>
              <a:rPr lang="en-US" baseline="0" dirty="0"/>
              <a:t>Add </a:t>
            </a:r>
            <a:r>
              <a:rPr lang="en-US" baseline="0" dirty="0" smtClean="0"/>
              <a:t>SSL VPN </a:t>
            </a:r>
            <a:r>
              <a:rPr lang="en-US" baseline="0" dirty="0"/>
              <a:t>groups, </a:t>
            </a:r>
            <a:r>
              <a:rPr lang="en-US" baseline="0" dirty="0" smtClean="0"/>
              <a:t>SSL VPN </a:t>
            </a:r>
            <a:r>
              <a:rPr lang="en-US" baseline="0" dirty="0"/>
              <a:t>users, and destination addresses to the firewall </a:t>
            </a:r>
            <a:r>
              <a:rPr lang="en-US" baseline="0" dirty="0" smtClean="0"/>
              <a:t>policies</a:t>
            </a:r>
            <a:endParaRPr lang="en-US" baseline="0" dirty="0"/>
          </a:p>
          <a:p>
            <a:pPr marL="171450" indent="-171450">
              <a:buFont typeface="Arial" panose="020B0604020202020204" pitchFamily="34" charset="0"/>
              <a:buChar char="•"/>
            </a:pPr>
            <a:r>
              <a:rPr lang="en-US" baseline="0" dirty="0"/>
              <a:t>Flush inactive sessions by </a:t>
            </a:r>
            <a:r>
              <a:rPr lang="en-US" baseline="0" dirty="0" smtClean="0"/>
              <a:t>timeout</a:t>
            </a:r>
            <a:endParaRPr lang="en-US" baseline="0" dirty="0"/>
          </a:p>
          <a:p>
            <a:pPr marL="171450" indent="-171450">
              <a:buFont typeface="Arial" panose="020B0604020202020204" pitchFamily="34" charset="0"/>
              <a:buChar char="•"/>
            </a:pPr>
            <a:endParaRPr lang="en-US" baseline="0" dirty="0"/>
          </a:p>
          <a:p>
            <a:pPr marL="171450" indent="-171450">
              <a:buFont typeface="Arial" panose="020B0604020202020204" pitchFamily="34" charset="0"/>
              <a:buChar char="•"/>
            </a:pPr>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96962260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240" rtl="0" eaLnBrk="1" fontAlgn="auto" latinLnBrk="0" hangingPunct="1">
              <a:lnSpc>
                <a:spcPct val="100000"/>
              </a:lnSpc>
              <a:spcBef>
                <a:spcPts val="0"/>
              </a:spcBef>
              <a:spcAft>
                <a:spcPts val="0"/>
              </a:spcAft>
              <a:buClrTx/>
              <a:buSzTx/>
              <a:buFontTx/>
              <a:buNone/>
              <a:tabLst/>
              <a:defRPr/>
            </a:pPr>
            <a:r>
              <a:rPr lang="en-US" dirty="0"/>
              <a:t>There</a:t>
            </a:r>
            <a:r>
              <a:rPr lang="en-US" baseline="0" dirty="0"/>
              <a:t> are several useful troubleshooting commands a</a:t>
            </a:r>
            <a:r>
              <a:rPr lang="en-US" dirty="0"/>
              <a:t>vailable under </a:t>
            </a:r>
            <a:r>
              <a:rPr lang="en-US" dirty="0">
                <a:latin typeface="Courier New" panose="02070309020205020404" pitchFamily="49" charset="0"/>
                <a:cs typeface="Courier New" panose="02070309020205020404" pitchFamily="49" charset="0"/>
              </a:rPr>
              <a:t>diagnose </a:t>
            </a:r>
            <a:r>
              <a:rPr lang="en-US" dirty="0" err="1">
                <a:latin typeface="Courier New" panose="02070309020205020404" pitchFamily="49" charset="0"/>
                <a:cs typeface="Courier New" panose="02070309020205020404" pitchFamily="49" charset="0"/>
              </a:rPr>
              <a:t>vpn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ssl</a:t>
            </a:r>
            <a:r>
              <a:rPr lang="en-US" dirty="0"/>
              <a:t>. They include:</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latin typeface="Courier New" panose="02070309020205020404" pitchFamily="49" charset="0"/>
                <a:cs typeface="Courier New" panose="02070309020205020404" pitchFamily="49" charset="0"/>
              </a:rPr>
              <a:t>list</a:t>
            </a:r>
            <a:r>
              <a:rPr lang="en-US" dirty="0"/>
              <a:t>: Lists</a:t>
            </a:r>
            <a:r>
              <a:rPr lang="en-US" baseline="0" dirty="0"/>
              <a:t> </a:t>
            </a:r>
            <a:r>
              <a:rPr lang="en-US" dirty="0"/>
              <a:t>logged-on users</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tx1"/>
                </a:solidFill>
                <a:latin typeface="Courier New" panose="02070309020205020404" pitchFamily="49" charset="0"/>
                <a:ea typeface="+mn-ea"/>
                <a:cs typeface="Courier New" panose="02070309020205020404" pitchFamily="49" charset="0"/>
              </a:rPr>
              <a:t>info</a:t>
            </a:r>
            <a:r>
              <a:rPr lang="en-US" sz="1000" kern="1200" dirty="0">
                <a:solidFill>
                  <a:schemeClr val="tx1"/>
                </a:solidFill>
                <a:latin typeface="Arial" panose="020B0604020202020204" pitchFamily="34" charset="0"/>
                <a:ea typeface="+mn-ea"/>
                <a:cs typeface="Arial" panose="020B0604020202020204" pitchFamily="34" charset="0"/>
              </a:rPr>
              <a:t>: Shows general </a:t>
            </a:r>
            <a:r>
              <a:rPr lang="en-US" sz="1000" kern="1200" dirty="0" smtClean="0">
                <a:solidFill>
                  <a:schemeClr val="tx1"/>
                </a:solidFill>
                <a:latin typeface="Arial" panose="020B0604020202020204" pitchFamily="34" charset="0"/>
                <a:ea typeface="+mn-ea"/>
                <a:cs typeface="Arial" panose="020B0604020202020204" pitchFamily="34" charset="0"/>
              </a:rPr>
              <a:t>SSL VPN </a:t>
            </a:r>
            <a:r>
              <a:rPr lang="en-US" sz="1000" kern="1200" dirty="0">
                <a:solidFill>
                  <a:schemeClr val="tx1"/>
                </a:solidFill>
                <a:latin typeface="Arial" panose="020B0604020202020204" pitchFamily="34" charset="0"/>
                <a:ea typeface="+mn-ea"/>
                <a:cs typeface="Arial" panose="020B0604020202020204" pitchFamily="34" charset="0"/>
              </a:rPr>
              <a:t>information</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a:solidFill>
                  <a:schemeClr val="tx1"/>
                </a:solidFill>
                <a:latin typeface="Courier New" panose="02070309020205020404" pitchFamily="49" charset="0"/>
                <a:ea typeface="+mn-ea"/>
                <a:cs typeface="Courier New" panose="02070309020205020404" pitchFamily="49" charset="0"/>
              </a:rPr>
              <a:t>statistics</a:t>
            </a:r>
            <a:r>
              <a:rPr lang="en-US" sz="1000" kern="1200" dirty="0">
                <a:solidFill>
                  <a:schemeClr val="tx1"/>
                </a:solidFill>
                <a:latin typeface="Arial" panose="020B0604020202020204" pitchFamily="34" charset="0"/>
                <a:ea typeface="+mn-ea"/>
                <a:cs typeface="Arial" panose="020B0604020202020204" pitchFamily="34" charset="0"/>
              </a:rPr>
              <a:t>:</a:t>
            </a:r>
            <a:r>
              <a:rPr lang="en-US" sz="1000" kern="1200" baseline="0" dirty="0">
                <a:solidFill>
                  <a:schemeClr val="tx1"/>
                </a:solidFill>
                <a:latin typeface="Arial" panose="020B0604020202020204" pitchFamily="34" charset="0"/>
                <a:ea typeface="+mn-ea"/>
                <a:cs typeface="Arial" panose="020B0604020202020204" pitchFamily="34" charset="0"/>
              </a:rPr>
              <a:t> S</a:t>
            </a:r>
            <a:r>
              <a:rPr lang="en-US" sz="1000" kern="1200" dirty="0">
                <a:solidFill>
                  <a:schemeClr val="tx1"/>
                </a:solidFill>
                <a:latin typeface="Arial" panose="020B0604020202020204" pitchFamily="34" charset="0"/>
                <a:ea typeface="+mn-ea"/>
                <a:cs typeface="Arial" panose="020B0604020202020204" pitchFamily="34" charset="0"/>
              </a:rPr>
              <a:t>hows statistics</a:t>
            </a:r>
            <a:r>
              <a:rPr lang="en-US" sz="1000" kern="1200" baseline="0" dirty="0">
                <a:solidFill>
                  <a:schemeClr val="tx1"/>
                </a:solidFill>
                <a:latin typeface="Arial" panose="020B0604020202020204" pitchFamily="34" charset="0"/>
                <a:ea typeface="+mn-ea"/>
                <a:cs typeface="Arial" panose="020B0604020202020204" pitchFamily="34" charset="0"/>
              </a:rPr>
              <a:t> about memory usage on FortiGate</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err="1">
                <a:solidFill>
                  <a:schemeClr val="tx1"/>
                </a:solidFill>
                <a:latin typeface="Courier New" panose="02070309020205020404" pitchFamily="49" charset="0"/>
                <a:ea typeface="+mn-ea"/>
                <a:cs typeface="Courier New" panose="02070309020205020404" pitchFamily="49" charset="0"/>
              </a:rPr>
              <a:t>hw</a:t>
            </a:r>
            <a:r>
              <a:rPr lang="en-US" sz="1000" kern="1200" dirty="0">
                <a:solidFill>
                  <a:schemeClr val="tx1"/>
                </a:solidFill>
                <a:latin typeface="Courier New" panose="02070309020205020404" pitchFamily="49" charset="0"/>
                <a:ea typeface="+mn-ea"/>
                <a:cs typeface="Courier New" panose="02070309020205020404" pitchFamily="49" charset="0"/>
              </a:rPr>
              <a:t>-acceleration-status</a:t>
            </a:r>
            <a:r>
              <a:rPr lang="en-US" sz="1000" kern="1200" dirty="0">
                <a:solidFill>
                  <a:schemeClr val="tx1"/>
                </a:solidFill>
                <a:latin typeface="Arial" panose="020B0604020202020204" pitchFamily="34" charset="0"/>
                <a:ea typeface="+mn-ea"/>
                <a:cs typeface="Arial" panose="020B0604020202020204" pitchFamily="34" charset="0"/>
              </a:rPr>
              <a:t>: </a:t>
            </a:r>
            <a:r>
              <a:rPr lang="en-US" sz="1000" kern="1200" dirty="0" smtClean="0">
                <a:solidFill>
                  <a:schemeClr val="tx1"/>
                </a:solidFill>
                <a:latin typeface="Arial" panose="020B0604020202020204" pitchFamily="34" charset="0"/>
                <a:ea typeface="+mn-ea"/>
                <a:cs typeface="Arial" panose="020B0604020202020204" pitchFamily="34" charset="0"/>
              </a:rPr>
              <a:t>Displays </a:t>
            </a:r>
            <a:r>
              <a:rPr lang="en-US" sz="1000" kern="1200" dirty="0">
                <a:solidFill>
                  <a:schemeClr val="tx1"/>
                </a:solidFill>
                <a:latin typeface="Arial" panose="020B0604020202020204" pitchFamily="34" charset="0"/>
                <a:ea typeface="+mn-ea"/>
                <a:cs typeface="Arial" panose="020B0604020202020204" pitchFamily="34" charset="0"/>
              </a:rPr>
              <a:t>the status of SSL hardware </a:t>
            </a:r>
            <a:r>
              <a:rPr lang="en-US" sz="1000" kern="1200" dirty="0" smtClean="0">
                <a:solidFill>
                  <a:schemeClr val="tx1"/>
                </a:solidFill>
                <a:latin typeface="Arial" panose="020B0604020202020204" pitchFamily="34" charset="0"/>
                <a:ea typeface="+mn-ea"/>
                <a:cs typeface="Arial" panose="020B0604020202020204" pitchFamily="34" charset="0"/>
              </a:rPr>
              <a:t>acceleration</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smtClean="0">
                <a:solidFill>
                  <a:schemeClr val="tx1"/>
                </a:solidFill>
                <a:latin typeface="Courier New" panose="02070309020205020404" pitchFamily="49" charset="0"/>
                <a:ea typeface="+mn-ea"/>
                <a:cs typeface="Courier New" panose="02070309020205020404" pitchFamily="49" charset="0"/>
              </a:rPr>
              <a:t>tunnel-test</a:t>
            </a:r>
            <a:r>
              <a:rPr lang="en-US" sz="1000" kern="1200" dirty="0" smtClean="0">
                <a:solidFill>
                  <a:schemeClr val="tx1"/>
                </a:solidFill>
                <a:latin typeface="Arial" panose="020B0604020202020204" pitchFamily="34" charset="0"/>
                <a:ea typeface="+mn-ea"/>
                <a:cs typeface="Arial" panose="020B0604020202020204" pitchFamily="34" charset="0"/>
              </a:rPr>
              <a:t>:</a:t>
            </a:r>
            <a:r>
              <a:rPr lang="en-US" sz="1000" kern="1200" baseline="0" dirty="0" smtClean="0">
                <a:solidFill>
                  <a:schemeClr val="tx1"/>
                </a:solidFill>
                <a:latin typeface="Arial" panose="020B0604020202020204" pitchFamily="34" charset="0"/>
                <a:ea typeface="+mn-ea"/>
                <a:cs typeface="Arial" panose="020B0604020202020204" pitchFamily="34" charset="0"/>
              </a:rPr>
              <a:t> </a:t>
            </a:r>
            <a:r>
              <a:rPr lang="en-US" sz="1000" kern="1200" dirty="0" smtClean="0">
                <a:solidFill>
                  <a:schemeClr val="tx1"/>
                </a:solidFill>
                <a:latin typeface="Arial" panose="020B0604020202020204" pitchFamily="34" charset="0"/>
                <a:ea typeface="+mn-ea"/>
                <a:cs typeface="Arial" panose="020B0604020202020204" pitchFamily="34" charset="0"/>
              </a:rPr>
              <a:t>Enables</a:t>
            </a:r>
            <a:r>
              <a:rPr lang="en-US" sz="1000" kern="1200" baseline="0" dirty="0" smtClean="0">
                <a:solidFill>
                  <a:schemeClr val="tx1"/>
                </a:solidFill>
                <a:latin typeface="Arial" panose="020B0604020202020204" pitchFamily="34" charset="0"/>
                <a:ea typeface="+mn-ea"/>
                <a:cs typeface="Arial" panose="020B0604020202020204" pitchFamily="34" charset="0"/>
              </a:rPr>
              <a:t> or </a:t>
            </a:r>
            <a:r>
              <a:rPr lang="en-US" sz="1000" kern="1200" dirty="0" smtClean="0">
                <a:solidFill>
                  <a:schemeClr val="tx1"/>
                </a:solidFill>
                <a:latin typeface="Arial" panose="020B0604020202020204" pitchFamily="34" charset="0"/>
                <a:ea typeface="+mn-ea"/>
                <a:cs typeface="Arial" panose="020B0604020202020204" pitchFamily="34" charset="0"/>
              </a:rPr>
              <a:t>disables SSL VPN old tunnel mode IP allocation method</a:t>
            </a:r>
          </a:p>
          <a:p>
            <a:pPr marL="171450" marR="0" lvl="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kern="1200" dirty="0" smtClean="0">
                <a:solidFill>
                  <a:schemeClr val="tx1"/>
                </a:solidFill>
                <a:latin typeface="Courier New" panose="02070309020205020404" pitchFamily="49" charset="0"/>
                <a:ea typeface="+mn-ea"/>
                <a:cs typeface="Courier New" panose="02070309020205020404" pitchFamily="49" charset="0"/>
              </a:rPr>
              <a:t>web-mode-test</a:t>
            </a:r>
            <a:r>
              <a:rPr lang="en-US" sz="1000" kern="1200" dirty="0" smtClean="0">
                <a:solidFill>
                  <a:schemeClr val="tx1"/>
                </a:solidFill>
                <a:latin typeface="Arial" panose="020B0604020202020204" pitchFamily="34" charset="0"/>
                <a:ea typeface="+mn-ea"/>
                <a:cs typeface="Arial" panose="020B0604020202020204" pitchFamily="34" charset="0"/>
              </a:rPr>
              <a:t>:</a:t>
            </a:r>
            <a:r>
              <a:rPr lang="en-US" sz="1000" kern="1200" baseline="0" dirty="0" smtClean="0">
                <a:solidFill>
                  <a:schemeClr val="tx1"/>
                </a:solidFill>
                <a:latin typeface="Arial" panose="020B0604020202020204" pitchFamily="34" charset="0"/>
                <a:ea typeface="+mn-ea"/>
                <a:cs typeface="Arial" panose="020B0604020202020204" pitchFamily="34" charset="0"/>
              </a:rPr>
              <a:t> </a:t>
            </a:r>
            <a:r>
              <a:rPr lang="en-US" sz="1000" kern="1200" dirty="0" smtClean="0">
                <a:solidFill>
                  <a:schemeClr val="tx1"/>
                </a:solidFill>
                <a:latin typeface="Arial" panose="020B0604020202020204" pitchFamily="34" charset="0"/>
                <a:ea typeface="+mn-ea"/>
                <a:cs typeface="Arial" panose="020B0604020202020204" pitchFamily="34" charset="0"/>
              </a:rPr>
              <a:t>Enables</a:t>
            </a:r>
            <a:r>
              <a:rPr lang="en-US" sz="1000" kern="1200" baseline="0" dirty="0" smtClean="0">
                <a:solidFill>
                  <a:schemeClr val="tx1"/>
                </a:solidFill>
                <a:latin typeface="Arial" panose="020B0604020202020204" pitchFamily="34" charset="0"/>
                <a:ea typeface="+mn-ea"/>
                <a:cs typeface="Arial" panose="020B0604020202020204" pitchFamily="34" charset="0"/>
              </a:rPr>
              <a:t> or </a:t>
            </a:r>
            <a:r>
              <a:rPr lang="en-US" sz="1000" kern="1200" dirty="0" smtClean="0">
                <a:solidFill>
                  <a:schemeClr val="tx1"/>
                </a:solidFill>
                <a:latin typeface="Arial" panose="020B0604020202020204" pitchFamily="34" charset="0"/>
                <a:ea typeface="+mn-ea"/>
                <a:cs typeface="Arial" panose="020B0604020202020204" pitchFamily="34" charset="0"/>
              </a:rPr>
              <a:t>disables random session ID in proxy URL for testing</a:t>
            </a:r>
            <a:endParaRPr lang="en-US" sz="1000" kern="1200" dirty="0">
              <a:solidFill>
                <a:schemeClr val="tx1"/>
              </a:solidFill>
              <a:latin typeface="Arial" panose="020B0604020202020204" pitchFamily="34" charset="0"/>
              <a:ea typeface="+mn-ea"/>
              <a:cs typeface="Arial" panose="020B0604020202020204" pitchFamily="34" charset="0"/>
            </a:endParaRPr>
          </a:p>
          <a:p>
            <a:pPr marL="0" marR="0" lvl="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240" rtl="0" eaLnBrk="1" fontAlgn="auto" latinLnBrk="0" hangingPunct="1">
              <a:lnSpc>
                <a:spcPct val="100000"/>
              </a:lnSpc>
              <a:spcBef>
                <a:spcPts val="0"/>
              </a:spcBef>
              <a:spcAft>
                <a:spcPts val="0"/>
              </a:spcAft>
              <a:buClrTx/>
              <a:buSzTx/>
              <a:buFontTx/>
              <a:buNone/>
              <a:tabLst/>
              <a:defRPr/>
            </a:pPr>
            <a:r>
              <a:rPr lang="en-US" dirty="0"/>
              <a:t>The command </a:t>
            </a:r>
            <a:r>
              <a:rPr lang="en-US" dirty="0" smtClean="0">
                <a:latin typeface="Courier New" panose="02070309020205020404" pitchFamily="49" charset="0"/>
                <a:cs typeface="Courier New" panose="02070309020205020404" pitchFamily="49" charset="0"/>
              </a:rPr>
              <a:t>diagnose debug application </a:t>
            </a:r>
            <a:r>
              <a:rPr lang="en-US" dirty="0" err="1" smtClean="0">
                <a:latin typeface="Courier New" panose="02070309020205020404" pitchFamily="49" charset="0"/>
                <a:cs typeface="Courier New" panose="02070309020205020404" pitchFamily="49" charset="0"/>
              </a:rPr>
              <a:t>sslvpn</a:t>
            </a:r>
            <a:r>
              <a:rPr lang="en-US" baseline="0" dirty="0" smtClean="0"/>
              <a:t> </a:t>
            </a:r>
            <a:r>
              <a:rPr lang="en-US" sz="1000" b="0" i="0" kern="1200" dirty="0" smtClean="0">
                <a:solidFill>
                  <a:schemeClr val="tx1"/>
                </a:solidFill>
                <a:effectLst/>
                <a:latin typeface="Arial" panose="020B0604020202020204" pitchFamily="34" charset="0"/>
                <a:ea typeface="+mn-ea"/>
                <a:cs typeface="Arial" panose="020B0604020202020204" pitchFamily="34" charset="0"/>
              </a:rPr>
              <a:t>shows</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 </a:t>
            </a:r>
            <a:r>
              <a:rPr lang="en-US" sz="1000" b="0" i="0" kern="1200" baseline="0" dirty="0">
                <a:solidFill>
                  <a:schemeClr val="tx1"/>
                </a:solidFill>
                <a:effectLst/>
                <a:latin typeface="Arial" panose="020B0604020202020204" pitchFamily="34" charset="0"/>
                <a:ea typeface="+mn-ea"/>
                <a:cs typeface="Arial" panose="020B0604020202020204" pitchFamily="34" charset="0"/>
              </a:rPr>
              <a:t>the entire list of </a:t>
            </a:r>
            <a:r>
              <a:rPr lang="en-US" sz="1000" b="0" i="0" kern="1200" dirty="0">
                <a:solidFill>
                  <a:schemeClr val="tx1"/>
                </a:solidFill>
                <a:effectLst/>
                <a:latin typeface="Arial" panose="020B0604020202020204" pitchFamily="34" charset="0"/>
                <a:ea typeface="+mn-ea"/>
                <a:cs typeface="Arial" panose="020B0604020202020204" pitchFamily="34" charset="0"/>
              </a:rPr>
              <a:t>debug messages for </a:t>
            </a:r>
            <a:r>
              <a:rPr lang="en-US" sz="1000" b="0" i="0" kern="1200" dirty="0" smtClean="0">
                <a:solidFill>
                  <a:schemeClr val="tx1"/>
                </a:solidFill>
                <a:effectLst/>
                <a:latin typeface="Arial" panose="020B0604020202020204" pitchFamily="34" charset="0"/>
                <a:ea typeface="+mn-ea"/>
                <a:cs typeface="Arial" panose="020B0604020202020204" pitchFamily="34" charset="0"/>
              </a:rPr>
              <a:t>SSL VPN </a:t>
            </a:r>
            <a:r>
              <a:rPr lang="en-US" sz="1000" b="0" i="0" kern="1200" dirty="0">
                <a:solidFill>
                  <a:schemeClr val="tx1"/>
                </a:solidFill>
                <a:effectLst/>
                <a:latin typeface="Arial" panose="020B0604020202020204" pitchFamily="34" charset="0"/>
                <a:ea typeface="+mn-ea"/>
                <a:cs typeface="Arial" panose="020B0604020202020204" pitchFamily="34" charset="0"/>
              </a:rPr>
              <a:t>connections.</a:t>
            </a:r>
            <a:endParaRPr lang="en-US" dirty="0"/>
          </a:p>
          <a:p>
            <a:pPr marL="0" marR="0" lvl="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240" rtl="0" eaLnBrk="1" fontAlgn="auto" latinLnBrk="0" hangingPunct="1">
              <a:lnSpc>
                <a:spcPct val="100000"/>
              </a:lnSpc>
              <a:spcBef>
                <a:spcPts val="0"/>
              </a:spcBef>
              <a:spcAft>
                <a:spcPts val="0"/>
              </a:spcAft>
              <a:buClrTx/>
              <a:buSzTx/>
              <a:buFontTx/>
              <a:buNone/>
              <a:tabLst/>
              <a:defRPr/>
            </a:pPr>
            <a:r>
              <a:rPr lang="en-US" dirty="0"/>
              <a:t>Remember, to use the commands</a:t>
            </a:r>
            <a:r>
              <a:rPr lang="en-US" baseline="0" dirty="0"/>
              <a:t> listed above, </a:t>
            </a:r>
            <a:r>
              <a:rPr lang="en-US" dirty="0"/>
              <a:t>you must first run the </a:t>
            </a:r>
            <a:r>
              <a:rPr lang="en-US" dirty="0">
                <a:latin typeface="Courier New" panose="02070309020205020404" pitchFamily="49" charset="0"/>
                <a:cs typeface="Courier New" panose="02070309020205020404" pitchFamily="49" charset="0"/>
              </a:rPr>
              <a:t>diagnose debug enable</a:t>
            </a:r>
            <a:r>
              <a:rPr lang="en-US" baseline="0" dirty="0">
                <a:latin typeface="Arial" panose="020B0604020202020204" pitchFamily="34" charset="0"/>
                <a:cs typeface="Arial" panose="020B0604020202020204" pitchFamily="34" charset="0"/>
              </a:rPr>
              <a:t> </a:t>
            </a:r>
            <a:r>
              <a:rPr lang="en-US" dirty="0"/>
              <a:t>command</a:t>
            </a:r>
            <a:r>
              <a:rPr lang="en-US" dirty="0" smtClean="0"/>
              <a:t>. Also, check SSL</a:t>
            </a:r>
            <a:r>
              <a:rPr lang="en-US" baseline="0" dirty="0" smtClean="0"/>
              <a:t> VPN debug logs on FortiClient.</a:t>
            </a:r>
            <a:endParaRPr lang="en-US" dirty="0"/>
          </a:p>
          <a:p>
            <a:pPr marL="0" marR="0" lvl="0" indent="0" algn="l" defTabSz="91424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240" rtl="0" eaLnBrk="1" fontAlgn="auto" latinLnBrk="0" hangingPunct="1">
              <a:lnSpc>
                <a:spcPct val="100000"/>
              </a:lnSpc>
              <a:spcBef>
                <a:spcPts val="0"/>
              </a:spcBef>
              <a:spcAft>
                <a:spcPts val="0"/>
              </a:spcAft>
              <a:buClrTx/>
              <a:buSzTx/>
              <a:buFontTx/>
              <a:buNone/>
              <a:tabLst/>
              <a:defRPr/>
            </a:pPr>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470637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106" rtl="0" eaLnBrk="1" fontAlgn="auto" latinLnBrk="0" hangingPunct="1">
              <a:lnSpc>
                <a:spcPct val="100000"/>
              </a:lnSpc>
              <a:spcBef>
                <a:spcPts val="0"/>
              </a:spcBef>
              <a:spcAft>
                <a:spcPts val="0"/>
              </a:spcAft>
              <a:buClrTx/>
              <a:buSzTx/>
              <a:buFontTx/>
              <a:buNone/>
              <a:tabLst/>
              <a:defRPr/>
            </a:pPr>
            <a:r>
              <a:rPr lang="en-US" baseline="0" dirty="0"/>
              <a:t>FortiGate devices that have CP8 or CP9 content processors,</a:t>
            </a:r>
            <a:r>
              <a:rPr lang="en-US" dirty="0"/>
              <a:t> which accelerate many common resource-intensive, security-related processes, </a:t>
            </a:r>
            <a:r>
              <a:rPr lang="en-US" baseline="0" dirty="0"/>
              <a:t>can offload </a:t>
            </a:r>
            <a:r>
              <a:rPr lang="en-US" baseline="0" dirty="0" smtClean="0"/>
              <a:t>SSL VPN </a:t>
            </a:r>
            <a:r>
              <a:rPr lang="en-US" baseline="0" dirty="0"/>
              <a:t>traffic to a </a:t>
            </a:r>
            <a:r>
              <a:rPr lang="en-US" dirty="0"/>
              <a:t>high-performance VPN bulk data engine.</a:t>
            </a:r>
            <a:r>
              <a:rPr lang="en-US" baseline="0" dirty="0"/>
              <a:t> </a:t>
            </a:r>
          </a:p>
          <a:p>
            <a:pPr marL="0" marR="0" indent="0" algn="l" defTabSz="914106" rtl="0" eaLnBrk="1" fontAlgn="auto" latinLnBrk="0" hangingPunct="1">
              <a:lnSpc>
                <a:spcPct val="100000"/>
              </a:lnSpc>
              <a:spcBef>
                <a:spcPts val="0"/>
              </a:spcBef>
              <a:spcAft>
                <a:spcPts val="0"/>
              </a:spcAft>
              <a:buClrTx/>
              <a:buSzTx/>
              <a:buFontTx/>
              <a:buNone/>
              <a:tabLst/>
              <a:defRPr/>
            </a:pPr>
            <a:endParaRPr lang="en-US" baseline="0" dirty="0"/>
          </a:p>
          <a:p>
            <a:pPr marL="0" marR="0" indent="0" algn="l" defTabSz="914106" rtl="0" eaLnBrk="1" fontAlgn="auto" latinLnBrk="0" hangingPunct="1">
              <a:lnSpc>
                <a:spcPct val="100000"/>
              </a:lnSpc>
              <a:spcBef>
                <a:spcPts val="0"/>
              </a:spcBef>
              <a:spcAft>
                <a:spcPts val="0"/>
              </a:spcAft>
              <a:buClrTx/>
              <a:buSzTx/>
              <a:buFontTx/>
              <a:buNone/>
              <a:tabLst/>
              <a:defRPr/>
            </a:pPr>
            <a:r>
              <a:rPr lang="en-US" baseline="0" dirty="0"/>
              <a:t>This specialized </a:t>
            </a:r>
            <a:r>
              <a:rPr lang="en-US" dirty="0"/>
              <a:t>IPsec and SSL/TLS protocol processor processes most</a:t>
            </a:r>
            <a:r>
              <a:rPr lang="en-US" baseline="0" dirty="0"/>
              <a:t> of the latest well-known algorithms for encryption. </a:t>
            </a:r>
          </a:p>
          <a:p>
            <a:pPr marL="0" marR="0" indent="0" algn="l" defTabSz="914106" rtl="0" eaLnBrk="1" fontAlgn="auto" latinLnBrk="0" hangingPunct="1">
              <a:lnSpc>
                <a:spcPct val="100000"/>
              </a:lnSpc>
              <a:spcBef>
                <a:spcPts val="0"/>
              </a:spcBef>
              <a:spcAft>
                <a:spcPts val="0"/>
              </a:spcAft>
              <a:buClrTx/>
              <a:buSzTx/>
              <a:buFontTx/>
              <a:buNone/>
              <a:tabLst/>
              <a:defRPr/>
            </a:pPr>
            <a:endParaRPr lang="en-US" dirty="0"/>
          </a:p>
          <a:p>
            <a:pPr marL="0" lvl="0" indent="0">
              <a:buFont typeface="Arial" panose="020B0604020202020204" pitchFamily="34" charset="0"/>
              <a:buNone/>
            </a:pPr>
            <a:r>
              <a:rPr lang="en-US" dirty="0"/>
              <a:t>By</a:t>
            </a:r>
            <a:r>
              <a:rPr lang="en-US" baseline="0" dirty="0"/>
              <a:t> default, t</a:t>
            </a:r>
            <a:r>
              <a:rPr lang="en-US" dirty="0"/>
              <a:t>he offloading process is set up. If, for testing purposes you want to disable it, you can do it using</a:t>
            </a:r>
            <a:r>
              <a:rPr lang="en-US" baseline="0" dirty="0"/>
              <a:t> the</a:t>
            </a:r>
            <a:r>
              <a:rPr lang="en-US" dirty="0"/>
              <a:t> CLI only at the firewall policy configuration level.</a:t>
            </a:r>
          </a:p>
          <a:p>
            <a:pPr marL="0" lvl="0" indent="0">
              <a:buFont typeface="Arial" panose="020B0604020202020204" pitchFamily="34" charset="0"/>
              <a:buNone/>
            </a:pPr>
            <a:endParaRPr lang="en-US" dirty="0"/>
          </a:p>
          <a:p>
            <a:pPr marL="0" lvl="0" indent="0">
              <a:buFont typeface="Arial" panose="020B0604020202020204" pitchFamily="34" charset="0"/>
              <a:buNone/>
            </a:pPr>
            <a:r>
              <a:rPr lang="en-US" dirty="0"/>
              <a:t>You can also view the status of </a:t>
            </a:r>
            <a:r>
              <a:rPr lang="en-US" dirty="0" smtClean="0"/>
              <a:t>SSL VPN </a:t>
            </a:r>
            <a:r>
              <a:rPr lang="en-US" dirty="0"/>
              <a:t>acceleration using the CLI.</a:t>
            </a:r>
          </a:p>
          <a:p>
            <a:pPr marL="628570" lvl="1" indent="-171450">
              <a:buFont typeface="Arial" panose="020B0604020202020204" pitchFamily="34" charset="0"/>
              <a:buChar char="•"/>
            </a:pPr>
            <a:endParaRPr lang="en-US" dirty="0"/>
          </a:p>
          <a:p>
            <a:pPr marL="628570" lvl="1" indent="-171450">
              <a:buFont typeface="Arial" panose="020B0604020202020204" pitchFamily="34" charset="0"/>
              <a:buChar char="•"/>
            </a:pPr>
            <a:endParaRPr lang="en-US" dirty="0"/>
          </a:p>
          <a:p>
            <a:pPr indent="0">
              <a:spcBef>
                <a:spcPts val="300"/>
              </a:spcBef>
              <a:buNone/>
            </a:pPr>
            <a:r>
              <a:rPr lang="en-US" sz="1800" dirty="0">
                <a:solidFill>
                  <a:schemeClr val="bg1"/>
                </a:solidFill>
                <a:latin typeface="Courier New" panose="02070309020205020404" pitchFamily="49" charset="0"/>
                <a:cs typeface="Courier New" panose="02070309020205020404" pitchFamily="49" charset="0"/>
              </a:rPr>
              <a:t> </a:t>
            </a:r>
          </a:p>
          <a:p>
            <a:pPr defTabSz="914106">
              <a:defRPr/>
            </a:pPr>
            <a:endParaRPr lang="en-US" dirty="0"/>
          </a:p>
          <a:p>
            <a:endParaRPr lang="en-CA" dirty="0"/>
          </a:p>
        </p:txBody>
      </p:sp>
      <p:sp>
        <p:nvSpPr>
          <p:cNvPr id="4" name="Header Placeholder 3"/>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23016384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33056578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defTabSz="955024">
              <a:defRPr/>
            </a:pPr>
            <a:r>
              <a:rPr lang="en-GB" sz="1000" b="0" i="0" kern="1200" dirty="0" smtClean="0">
                <a:solidFill>
                  <a:schemeClr val="tx1"/>
                </a:solidFill>
                <a:effectLst/>
                <a:latin typeface="Arial" panose="020B0604020202020204" pitchFamily="34" charset="0"/>
                <a:cs typeface="Arial" panose="020B0604020202020204" pitchFamily="34" charset="0"/>
              </a:rPr>
              <a:t>Congratulations! You have completed this lesson.</a:t>
            </a:r>
            <a:br>
              <a:rPr lang="en-GB" sz="1000" b="0" i="0" kern="1200" dirty="0" smtClean="0">
                <a:solidFill>
                  <a:schemeClr val="tx1"/>
                </a:solidFill>
                <a:effectLst/>
                <a:latin typeface="Arial" panose="020B0604020202020204" pitchFamily="34" charset="0"/>
                <a:cs typeface="Arial" panose="020B0604020202020204" pitchFamily="34" charset="0"/>
              </a:rPr>
            </a:br>
            <a:endParaRPr lang="en-GB" sz="1000" b="0" i="0" kern="1200" dirty="0" smtClean="0">
              <a:solidFill>
                <a:schemeClr val="tx1"/>
              </a:solidFill>
              <a:effectLst/>
              <a:latin typeface="Arial" panose="020B0604020202020204" pitchFamily="34" charset="0"/>
              <a:cs typeface="Arial" panose="020B0604020202020204" pitchFamily="34" charset="0"/>
            </a:endParaRPr>
          </a:p>
          <a:p>
            <a:pPr marL="0" lvl="1" defTabSz="955024">
              <a:defRPr/>
            </a:pPr>
            <a:r>
              <a:rPr lang="en-GB" sz="1000" b="0" i="0" kern="1200" dirty="0" smtClean="0">
                <a:solidFill>
                  <a:schemeClr val="tx1"/>
                </a:solidFill>
                <a:effectLst/>
                <a:latin typeface="Arial" panose="020B0604020202020204" pitchFamily="34" charset="0"/>
                <a:cs typeface="Arial" panose="020B0604020202020204" pitchFamily="34" charset="0"/>
              </a:rPr>
              <a:t>Now, you will review the objectives that you covered in this lesson.</a:t>
            </a:r>
            <a:r>
              <a:rPr lang="en-GB" sz="1000" dirty="0" smtClean="0">
                <a:latin typeface="Arial" panose="020B0604020202020204" pitchFamily="34" charset="0"/>
                <a:cs typeface="Arial" panose="020B0604020202020204" pitchFamily="34" charset="0"/>
              </a:rPr>
              <a:t> </a:t>
            </a:r>
            <a:endParaRPr lang="en-US" sz="1000" dirty="0" smtClean="0">
              <a:latin typeface="Arial" panose="020B0604020202020204" pitchFamily="34" charset="0"/>
              <a:cs typeface="Arial" panose="020B0604020202020204" pitchFamily="34" charset="0"/>
            </a:endParaRPr>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2977839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000" kern="1200" dirty="0">
                <a:solidFill>
                  <a:schemeClr val="tx1"/>
                </a:solidFill>
                <a:latin typeface="Arial" panose="020B0604020202020204" pitchFamily="34" charset="0"/>
                <a:ea typeface="+mn-ea"/>
                <a:cs typeface="Arial" panose="020B0604020202020204" pitchFamily="34" charset="0"/>
              </a:rPr>
              <a:t>This slide shows the objectives that you covered in this lesson.</a:t>
            </a:r>
          </a:p>
          <a:p>
            <a:endParaRPr lang="en-CA" sz="1000" kern="1200" dirty="0" smtClean="0">
              <a:solidFill>
                <a:schemeClr val="tx1"/>
              </a:solidFill>
              <a:latin typeface="Arial" panose="020B0604020202020204" pitchFamily="34" charset="0"/>
              <a:ea typeface="+mn-ea"/>
              <a:cs typeface="Arial" panose="020B0604020202020204" pitchFamily="34" charset="0"/>
            </a:endParaRPr>
          </a:p>
          <a:p>
            <a:r>
              <a:rPr lang="en-CA" sz="1000" kern="1200" dirty="0" smtClean="0">
                <a:solidFill>
                  <a:schemeClr val="tx1"/>
                </a:solidFill>
                <a:latin typeface="Arial" panose="020B0604020202020204" pitchFamily="34" charset="0"/>
                <a:ea typeface="+mn-ea"/>
                <a:cs typeface="Arial" panose="020B0604020202020204" pitchFamily="34" charset="0"/>
              </a:rPr>
              <a:t>By </a:t>
            </a:r>
            <a:r>
              <a:rPr lang="en-CA" sz="1000" kern="1200" dirty="0">
                <a:solidFill>
                  <a:schemeClr val="tx1"/>
                </a:solidFill>
                <a:latin typeface="Arial" panose="020B0604020202020204" pitchFamily="34" charset="0"/>
                <a:ea typeface="+mn-ea"/>
                <a:cs typeface="Arial" panose="020B0604020202020204" pitchFamily="34" charset="0"/>
              </a:rPr>
              <a:t>mastering the objectives covered in this lesson, </a:t>
            </a:r>
            <a:r>
              <a:rPr lang="en-CA" sz="1000" kern="1200" dirty="0" smtClean="0">
                <a:solidFill>
                  <a:schemeClr val="tx1"/>
                </a:solidFill>
                <a:latin typeface="Arial" panose="020B0604020202020204" pitchFamily="34" charset="0"/>
                <a:ea typeface="+mn-ea"/>
                <a:cs typeface="Arial" panose="020B0604020202020204" pitchFamily="34" charset="0"/>
              </a:rPr>
              <a:t>you</a:t>
            </a:r>
            <a:r>
              <a:rPr lang="en-CA" sz="1000" kern="1200" baseline="0" dirty="0" smtClean="0">
                <a:solidFill>
                  <a:schemeClr val="tx1"/>
                </a:solidFill>
                <a:latin typeface="Arial" panose="020B0604020202020204" pitchFamily="34" charset="0"/>
                <a:ea typeface="+mn-ea"/>
                <a:cs typeface="Arial" panose="020B0604020202020204" pitchFamily="34" charset="0"/>
              </a:rPr>
              <a:t> </a:t>
            </a:r>
            <a:r>
              <a:rPr lang="en-CA" sz="1000" kern="1200" dirty="0" smtClean="0">
                <a:solidFill>
                  <a:schemeClr val="tx1"/>
                </a:solidFill>
                <a:latin typeface="Arial" panose="020B0604020202020204" pitchFamily="34" charset="0"/>
                <a:ea typeface="+mn-ea"/>
                <a:cs typeface="Arial" panose="020B0604020202020204" pitchFamily="34" charset="0"/>
              </a:rPr>
              <a:t>learned </a:t>
            </a:r>
            <a:r>
              <a:rPr lang="en-CA" sz="1000" kern="1200" dirty="0">
                <a:solidFill>
                  <a:schemeClr val="tx1"/>
                </a:solidFill>
                <a:latin typeface="Arial" panose="020B0604020202020204" pitchFamily="34" charset="0"/>
                <a:ea typeface="+mn-ea"/>
                <a:cs typeface="Arial" panose="020B0604020202020204" pitchFamily="34" charset="0"/>
              </a:rPr>
              <a:t>how to configure and use </a:t>
            </a:r>
            <a:r>
              <a:rPr lang="en-CA" sz="1000" kern="1200" dirty="0" smtClean="0">
                <a:solidFill>
                  <a:schemeClr val="tx1"/>
                </a:solidFill>
                <a:latin typeface="Arial" panose="020B0604020202020204" pitchFamily="34" charset="0"/>
                <a:ea typeface="+mn-ea"/>
                <a:cs typeface="Arial" panose="020B0604020202020204" pitchFamily="34" charset="0"/>
              </a:rPr>
              <a:t>SSL VPNs </a:t>
            </a:r>
            <a:r>
              <a:rPr lang="en-CA" sz="1000" kern="1200" dirty="0">
                <a:solidFill>
                  <a:schemeClr val="tx1"/>
                </a:solidFill>
                <a:latin typeface="Arial" panose="020B0604020202020204" pitchFamily="34" charset="0"/>
                <a:ea typeface="+mn-ea"/>
                <a:cs typeface="Arial" panose="020B0604020202020204" pitchFamily="34" charset="0"/>
              </a:rPr>
              <a:t>to give remote users access to your private network</a:t>
            </a:r>
            <a:r>
              <a:rPr lang="en-CA" sz="1000" kern="1200" dirty="0" smtClean="0">
                <a:solidFill>
                  <a:schemeClr val="tx1"/>
                </a:solidFill>
                <a:latin typeface="Arial" panose="020B0604020202020204" pitchFamily="34" charset="0"/>
                <a:ea typeface="+mn-ea"/>
                <a:cs typeface="Arial" panose="020B0604020202020204" pitchFamily="34" charset="0"/>
              </a:rPr>
              <a:t>.</a:t>
            </a:r>
            <a:endParaRPr lang="en-CA" sz="1000" kern="1200" dirty="0">
              <a:solidFill>
                <a:schemeClr val="tx1"/>
              </a:solidFill>
              <a:latin typeface="Arial" panose="020B0604020202020204" pitchFamily="34" charset="0"/>
              <a:ea typeface="+mn-ea"/>
              <a:cs typeface="Arial" panose="020B0604020202020204" pitchFamily="34" charset="0"/>
            </a:endParaRPr>
          </a:p>
          <a:p>
            <a:endParaRPr lang="en-US" dirty="0"/>
          </a:p>
        </p:txBody>
      </p:sp>
      <p:sp>
        <p:nvSpPr>
          <p:cNvPr id="5" name="Header Placeholder 4"/>
          <p:cNvSpPr>
            <a:spLocks noGrp="1"/>
          </p:cNvSpPr>
          <p:nvPr>
            <p:ph type="hdr" sz="quarter" idx="10"/>
          </p:nvPr>
        </p:nvSpPr>
        <p:spPr/>
        <p:txBody>
          <a:bodyPr/>
          <a:lstStyle/>
          <a:p>
            <a:pPr algn="r"/>
            <a:r>
              <a:rPr lang="en-CA" sz="1000" smtClean="0">
                <a:solidFill>
                  <a:schemeClr val="bg1">
                    <a:lumMod val="50000"/>
                  </a:schemeClr>
                </a:solidFill>
              </a:rPr>
              <a:t>SSL VPN</a:t>
            </a:r>
            <a:endParaRPr lang="en-CA" sz="1000" dirty="0">
              <a:solidFill>
                <a:schemeClr val="bg1">
                  <a:lumMod val="50000"/>
                </a:schemeClr>
              </a:solidFill>
            </a:endParaRPr>
          </a:p>
        </p:txBody>
      </p:sp>
    </p:spTree>
    <p:extLst>
      <p:ext uri="{BB962C8B-B14F-4D97-AF65-F5344CB8AC3E}">
        <p14:creationId xmlns:p14="http://schemas.microsoft.com/office/powerpoint/2010/main" val="144769893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_Slide_NSE_1">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0"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1"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2"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sp>
        <p:nvSpPr>
          <p:cNvPr id="13"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30998112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_Slide_NSE_2">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3"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9"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345327439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_Slide_NSE_3">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6063352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Title_Slide_NSE_4">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8965390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itle_Slide_NSE_5">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1413940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Title_Slide_NSE_6">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30541650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Title_Slide_NSE_7">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1"/>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34415122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Title_Slide_NSE_8">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13279741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Title_Slide_Non_NSE">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10 June 2022</a:t>
            </a:fld>
            <a:endParaRPr lang="en-US" sz="1000" dirty="0">
              <a:solidFill>
                <a:schemeClr val="bg1"/>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9"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0"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3"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sp>
        <p:nvSpPr>
          <p:cNvPr id="14"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10 June 2022</a:t>
            </a:fld>
            <a:endParaRPr lang="en-US" sz="1000" dirty="0">
              <a:solidFill>
                <a:schemeClr val="tx1"/>
              </a:solidFill>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spTree>
    <p:extLst>
      <p:ext uri="{BB962C8B-B14F-4D97-AF65-F5344CB8AC3E}">
        <p14:creationId xmlns:p14="http://schemas.microsoft.com/office/powerpoint/2010/main" val="9685178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Lesson_Overview">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Lesson Overview</a:t>
            </a:r>
            <a:endParaRPr lang="en-CA" sz="3600" b="0" dirty="0">
              <a:solidFill>
                <a:schemeClr val="tx1"/>
              </a:solidFill>
              <a:latin typeface="+mj-lt"/>
            </a:endParaRPr>
          </a:p>
        </p:txBody>
      </p:sp>
      <p:sp>
        <p:nvSpPr>
          <p:cNvPr id="9" name="SmartArt Placeholder 3"/>
          <p:cNvSpPr>
            <a:spLocks noGrp="1"/>
          </p:cNvSpPr>
          <p:nvPr>
            <p:ph type="dgm" sz="quarter" idx="10"/>
          </p:nvPr>
        </p:nvSpPr>
        <p:spPr>
          <a:xfrm>
            <a:off x="273600" y="1347536"/>
            <a:ext cx="11386800" cy="4968000"/>
          </a:xfrm>
          <a:prstGeom prst="rect">
            <a:avLst/>
          </a:prstGeom>
        </p:spPr>
        <p:txBody>
          <a:bodyPr/>
          <a:lstStyle/>
          <a:p>
            <a:r>
              <a:rPr lang="en-US" smtClean="0"/>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64918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NSE7_Lesson_Objectives">
    <p:bg>
      <p:bgPr>
        <a:solidFill>
          <a:srgbClr val="F0F0F0"/>
        </a:solidFill>
        <a:effectLst/>
      </p:bgPr>
    </p:bg>
    <p:spTree>
      <p:nvGrpSpPr>
        <p:cNvPr id="1" name=""/>
        <p:cNvGrpSpPr/>
        <p:nvPr/>
      </p:nvGrpSpPr>
      <p:grpSpPr>
        <a:xfrm>
          <a:off x="0" y="0"/>
          <a:ext cx="0" cy="0"/>
          <a:chOff x="0" y="0"/>
          <a:chExt cx="0" cy="0"/>
        </a:xfrm>
      </p:grpSpPr>
      <p:sp>
        <p:nvSpPr>
          <p:cNvPr id="6" name="Content Placeholder 2"/>
          <p:cNvSpPr>
            <a:spLocks noGrp="1"/>
          </p:cNvSpPr>
          <p:nvPr>
            <p:ph idx="1" hasCustomPrompt="1"/>
          </p:nvPr>
        </p:nvSpPr>
        <p:spPr>
          <a:xfrm>
            <a:off x="266400" y="1355270"/>
            <a:ext cx="11387357" cy="4959129"/>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smtClean="0"/>
              <a:t>Click to add text</a:t>
            </a:r>
            <a:endParaRPr kumimoji="0" lang="en-US" sz="1200" b="0" i="1" u="none" strike="noStrike" kern="0" cap="none" spc="0" normalizeH="0" baseline="0" noProof="0" dirty="0" smtClean="0">
              <a:ln>
                <a:noFill/>
              </a:ln>
              <a:solidFill>
                <a:prstClr val="white">
                  <a:lumMod val="50000"/>
                </a:prstClr>
              </a:solidFill>
              <a:effectLst/>
              <a:uLnTx/>
              <a:uFillTx/>
              <a:latin typeface="+mn-lt"/>
              <a:ea typeface="Arial Unicode MS"/>
              <a:cs typeface="Arial"/>
            </a:endParaRPr>
          </a:p>
        </p:txBody>
      </p:sp>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Objectives</a:t>
            </a:r>
            <a:endParaRPr lang="en-CA" sz="3600" b="0" dirty="0">
              <a:solidFill>
                <a:schemeClr val="tx1"/>
              </a:solidFill>
              <a:latin typeface="+mj-lt"/>
            </a:endParaRP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58068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Section_Title">
    <p:bg>
      <p:bgPr>
        <a:solidFill>
          <a:srgbClr val="F0F0F0"/>
        </a:solid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272961" y="577804"/>
            <a:ext cx="9363600" cy="781602"/>
          </a:xfrm>
          <a:prstGeom prst="rect">
            <a:avLst/>
          </a:prstGeom>
          <a:noFill/>
        </p:spPr>
        <p:txBody>
          <a:bodyPr anchor="b" anchorCtr="0"/>
          <a:lstStyle>
            <a:lvl1pPr algn="l">
              <a:defRPr sz="3200" b="0" cap="none" baseline="0">
                <a:solidFill>
                  <a:schemeClr val="tx1"/>
                </a:solidFill>
              </a:defRPr>
            </a:lvl1pPr>
          </a:lstStyle>
          <a:p>
            <a:r>
              <a:rPr lang="en-US" dirty="0" smtClean="0"/>
              <a:t>[Section title]</a:t>
            </a:r>
            <a:endParaRPr lang="en-US" dirty="0"/>
          </a:p>
        </p:txBody>
      </p:sp>
      <p:pic>
        <p:nvPicPr>
          <p:cNvPr id="7" name="Picture 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0" name="Rectangle 9">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1" name="Picture 10">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12" name="Rectangle 11">
            <a:extLst>
              <a:ext uri="{FF2B5EF4-FFF2-40B4-BE49-F238E27FC236}">
                <a16:creationId xmlns:a16="http://schemas.microsoft.com/office/drawing/2014/main" id="{149CDAD4-8CD1-C94B-A9CC-8046006859AC}"/>
              </a:ext>
            </a:extLst>
          </p:cNvPr>
          <p:cNvSpPr/>
          <p:nvPr/>
        </p:nvSpPr>
        <p:spPr>
          <a:xfrm>
            <a:off x="0" y="19944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3" name="Picture 12">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14" name="Rectangle 13">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5" name="Rectangle 14">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6" name="Rectangle 15">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0"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9" name="Objectives list"/>
          <p:cNvSpPr>
            <a:spLocks noGrp="1"/>
          </p:cNvSpPr>
          <p:nvPr>
            <p:ph type="body" sz="quarter" idx="11" hasCustomPrompt="1"/>
          </p:nvPr>
        </p:nvSpPr>
        <p:spPr>
          <a:xfrm>
            <a:off x="272961" y="2624400"/>
            <a:ext cx="8319600" cy="3654000"/>
          </a:xfrm>
          <a:prstGeom prst="rect">
            <a:avLst/>
          </a:prstGeom>
        </p:spPr>
        <p:txBody>
          <a:bodyPr>
            <a:normAutofit/>
          </a:bodyPr>
          <a:lstStyle>
            <a:lvl1pPr>
              <a:defRPr sz="2200"/>
            </a:lvl1pPr>
          </a:lstStyle>
          <a:p>
            <a:pPr lvl="0"/>
            <a:r>
              <a:rPr lang="en-US" dirty="0" smtClean="0"/>
              <a:t>[Objective]</a:t>
            </a:r>
          </a:p>
          <a:p>
            <a:pPr lvl="0"/>
            <a:r>
              <a:rPr lang="en-US" dirty="0" smtClean="0"/>
              <a:t>[Objective]</a:t>
            </a:r>
          </a:p>
          <a:p>
            <a:pPr lvl="0"/>
            <a:r>
              <a:rPr lang="en-US" dirty="0" smtClean="0"/>
              <a:t>[Objective]</a:t>
            </a:r>
          </a:p>
        </p:txBody>
      </p:sp>
      <p:sp>
        <p:nvSpPr>
          <p:cNvPr id="6" name="Objectives title"/>
          <p:cNvSpPr txBox="1"/>
          <p:nvPr/>
        </p:nvSpPr>
        <p:spPr>
          <a:xfrm>
            <a:off x="273600" y="2005200"/>
            <a:ext cx="10803600" cy="523220"/>
          </a:xfrm>
          <a:prstGeom prst="rect">
            <a:avLst/>
          </a:prstGeom>
          <a:noFill/>
        </p:spPr>
        <p:txBody>
          <a:bodyPr wrap="square" rtlCol="0">
            <a:spAutoFit/>
          </a:bodyPr>
          <a:lstStyle/>
          <a:p>
            <a:r>
              <a:rPr lang="en-CA" sz="2800" b="1" dirty="0" smtClean="0"/>
              <a:t>Objectives</a:t>
            </a:r>
            <a:endParaRPr lang="en-CA" sz="2800" b="1" dirty="0"/>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171144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NSE7_Section_Title">
    <p:bg>
      <p:bgPr>
        <a:solidFill>
          <a:srgbClr val="F0F0F0"/>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8" name="Rectangle 17">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9" name="Picture 18">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20" name="Rectangle 19">
            <a:extLst>
              <a:ext uri="{FF2B5EF4-FFF2-40B4-BE49-F238E27FC236}">
                <a16:creationId xmlns:a16="http://schemas.microsoft.com/office/drawing/2014/main" id="{149CDAD4-8CD1-C94B-A9CC-8046006859AC}"/>
              </a:ext>
            </a:extLst>
          </p:cNvPr>
          <p:cNvSpPr/>
          <p:nvPr/>
        </p:nvSpPr>
        <p:spPr>
          <a:xfrm>
            <a:off x="-1" y="19939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21" name="Picture 20">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22" name="Rectangle 21">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3" name="Rectangle 22">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4" name="Rectangle 23">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itle 1"/>
          <p:cNvSpPr>
            <a:spLocks noGrp="1"/>
          </p:cNvSpPr>
          <p:nvPr>
            <p:ph type="title" hasCustomPrompt="1"/>
          </p:nvPr>
        </p:nvSpPr>
        <p:spPr>
          <a:xfrm>
            <a:off x="97200" y="2696400"/>
            <a:ext cx="8496000" cy="900000"/>
          </a:xfrm>
          <a:prstGeom prst="rect">
            <a:avLst/>
          </a:prstGeom>
          <a:noFill/>
        </p:spPr>
        <p:txBody>
          <a:bodyPr anchor="b" anchorCtr="0"/>
          <a:lstStyle>
            <a:lvl1pPr algn="l">
              <a:defRPr sz="3200" b="0" cap="none" baseline="0">
                <a:solidFill>
                  <a:schemeClr val="tx1"/>
                </a:solidFill>
              </a:defRPr>
            </a:lvl1pPr>
          </a:lstStyle>
          <a:p>
            <a:r>
              <a:rPr lang="en-US" dirty="0" smtClean="0"/>
              <a:t>[Section title]</a:t>
            </a:r>
            <a:endParaRPr lang="en-US" dirty="0"/>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702342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6000" cy="748800"/>
          </a:xfrm>
          <a:prstGeom prst="rect">
            <a:avLst/>
          </a:prstGeom>
        </p:spPr>
        <p:txBody>
          <a:bodyPr>
            <a:normAutofit/>
          </a:bodyPr>
          <a:lstStyle>
            <a:lvl1pPr algn="l" defTabSz="914240" rtl="0" eaLnBrk="1" latinLnBrk="0" hangingPunct="1">
              <a:lnSpc>
                <a:spcPct val="94000"/>
              </a:lnSpc>
              <a:spcBef>
                <a:spcPct val="0"/>
              </a:spcBef>
              <a:buNone/>
              <a:defRPr lang="en-US" sz="3600" b="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Tree>
    <p:extLst>
      <p:ext uri="{BB962C8B-B14F-4D97-AF65-F5344CB8AC3E}">
        <p14:creationId xmlns:p14="http://schemas.microsoft.com/office/powerpoint/2010/main" val="1698205474"/>
      </p:ext>
    </p:extLst>
  </p:cSld>
  <p:clrMapOvr>
    <a:masterClrMapping/>
  </p:clrMapOvr>
  <p:transition spd="slow">
    <p:wip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xt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
        <p:nvSpPr>
          <p:cNvPr id="5" name="Content Placeholder 2"/>
          <p:cNvSpPr>
            <a:spLocks noGrp="1"/>
          </p:cNvSpPr>
          <p:nvPr>
            <p:ph idx="1" hasCustomPrompt="1"/>
          </p:nvPr>
        </p:nvSpPr>
        <p:spPr>
          <a:xfrm>
            <a:off x="266399" y="972000"/>
            <a:ext cx="11375703"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smtClean="0"/>
              <a:t>Click to add text</a:t>
            </a:r>
            <a:endParaRPr kumimoji="0" lang="en-US" sz="1200" b="0" i="1" u="none" strike="noStrike" kern="0" cap="none" spc="0" normalizeH="0" baseline="0" noProof="0" dirty="0" smtClean="0">
              <a:ln>
                <a:noFill/>
              </a:ln>
              <a:solidFill>
                <a:prstClr val="white">
                  <a:lumMod val="50000"/>
                </a:prstClr>
              </a:solidFill>
              <a:effectLst/>
              <a:uLnTx/>
              <a:uFillTx/>
              <a:latin typeface="+mn-lt"/>
              <a:ea typeface="Arial Unicode MS"/>
              <a:cs typeface="Arial"/>
            </a:endParaRPr>
          </a:p>
        </p:txBody>
      </p:sp>
    </p:spTree>
    <p:extLst>
      <p:ext uri="{BB962C8B-B14F-4D97-AF65-F5344CB8AC3E}">
        <p14:creationId xmlns:p14="http://schemas.microsoft.com/office/powerpoint/2010/main" val="3994387504"/>
      </p:ext>
    </p:extLst>
  </p:cSld>
  <p:clrMapOvr>
    <a:masterClrMapping/>
  </p:clrMapOvr>
  <p:transition spd="slow">
    <p:wip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
        <p:nvSpPr>
          <p:cNvPr id="5" name="Content Placeholder 2"/>
          <p:cNvSpPr>
            <a:spLocks noGrp="1"/>
          </p:cNvSpPr>
          <p:nvPr>
            <p:ph idx="15" hasCustomPrompt="1"/>
          </p:nvPr>
        </p:nvSpPr>
        <p:spPr>
          <a:xfrm>
            <a:off x="2664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6" name="Content Placeholder 2"/>
          <p:cNvSpPr>
            <a:spLocks noGrp="1"/>
          </p:cNvSpPr>
          <p:nvPr>
            <p:ph idx="16" hasCustomPrompt="1"/>
          </p:nvPr>
        </p:nvSpPr>
        <p:spPr>
          <a:xfrm>
            <a:off x="60732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Tree>
    <p:extLst>
      <p:ext uri="{BB962C8B-B14F-4D97-AF65-F5344CB8AC3E}">
        <p14:creationId xmlns:p14="http://schemas.microsoft.com/office/powerpoint/2010/main" val="926786022"/>
      </p:ext>
    </p:extLst>
  </p:cSld>
  <p:clrMapOvr>
    <a:masterClrMapping/>
  </p:clrMapOvr>
  <p:transition spd="slow">
    <p:wip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wo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5" name="Content Placeholder 2"/>
          <p:cNvSpPr>
            <a:spLocks noGrp="1"/>
          </p:cNvSpPr>
          <p:nvPr>
            <p:ph idx="15" hasCustomPrompt="1"/>
          </p:nvPr>
        </p:nvSpPr>
        <p:spPr>
          <a:xfrm>
            <a:off x="6070863" y="975600"/>
            <a:ext cx="5565600" cy="4620768"/>
          </a:xfrm>
          <a:prstGeom prst="rect">
            <a:avLst/>
          </a:prstGeom>
        </p:spPr>
        <p:txBody>
          <a:bodyPr/>
          <a:lstStyle>
            <a:lvl1pPr>
              <a:buClr>
                <a:schemeClr val="accent6"/>
              </a:buClr>
              <a:defRPr sz="2200" baseline="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Content Placeholder 4"/>
          <p:cNvSpPr>
            <a:spLocks noGrp="1"/>
          </p:cNvSpPr>
          <p:nvPr>
            <p:ph sz="half" idx="13" hasCustomPrompt="1"/>
          </p:nvPr>
        </p:nvSpPr>
        <p:spPr>
          <a:xfrm>
            <a:off x="266399" y="975600"/>
            <a:ext cx="55656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Tree>
    <p:extLst>
      <p:ext uri="{BB962C8B-B14F-4D97-AF65-F5344CB8AC3E}">
        <p14:creationId xmlns:p14="http://schemas.microsoft.com/office/powerpoint/2010/main" val="1440062690"/>
      </p:ext>
    </p:extLst>
  </p:cSld>
  <p:clrMapOvr>
    <a:masterClrMapping/>
  </p:clrMapOvr>
  <p:transition spd="slow">
    <p:wip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wo Column 40x6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5326143"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2664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980763832"/>
      </p:ext>
    </p:extLst>
  </p:cSld>
  <p:clrMapOvr>
    <a:masterClrMapping/>
  </p:clrMapOvr>
  <p:transition spd="slow">
    <p:wip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wo Column 40x6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5320800" y="975600"/>
            <a:ext cx="63144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4"/>
          <p:cNvSpPr>
            <a:spLocks noGrp="1"/>
          </p:cNvSpPr>
          <p:nvPr>
            <p:ph sz="half" idx="13" hasCustomPrompt="1"/>
          </p:nvPr>
        </p:nvSpPr>
        <p:spPr>
          <a:xfrm>
            <a:off x="266400" y="975600"/>
            <a:ext cx="47592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1974823553"/>
      </p:ext>
    </p:extLst>
  </p:cSld>
  <p:clrMapOvr>
    <a:masterClrMapping/>
  </p:clrMapOvr>
  <p:transition spd="slow">
    <p:wip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wo Column 60x4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68940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266400"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2855873168"/>
      </p:ext>
    </p:extLst>
  </p:cSld>
  <p:clrMapOvr>
    <a:masterClrMapping/>
  </p:clrMapOvr>
  <p:transition spd="slow">
    <p:wip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wo Column 60x4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904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6900421" y="975598"/>
            <a:ext cx="4757342"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4"/>
          <p:cNvSpPr>
            <a:spLocks noGrp="1"/>
          </p:cNvSpPr>
          <p:nvPr>
            <p:ph sz="half" idx="13" hasCustomPrompt="1"/>
          </p:nvPr>
        </p:nvSpPr>
        <p:spPr>
          <a:xfrm>
            <a:off x="266399" y="975600"/>
            <a:ext cx="63144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3091613367"/>
      </p:ext>
    </p:extLst>
  </p:cSld>
  <p:clrMapOvr>
    <a:masterClrMapping/>
  </p:clrMapOvr>
  <p:transition spd="slow">
    <p:wip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7" name="Content Placeholder 2"/>
          <p:cNvSpPr>
            <a:spLocks noGrp="1"/>
          </p:cNvSpPr>
          <p:nvPr>
            <p:ph idx="15" hasCustomPrompt="1"/>
          </p:nvPr>
        </p:nvSpPr>
        <p:spPr>
          <a:xfrm>
            <a:off x="2664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2"/>
          <p:cNvSpPr>
            <a:spLocks noGrp="1"/>
          </p:cNvSpPr>
          <p:nvPr>
            <p:ph idx="17" hasCustomPrompt="1"/>
          </p:nvPr>
        </p:nvSpPr>
        <p:spPr>
          <a:xfrm>
            <a:off x="4216153"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10" name="Content Placeholder 2"/>
          <p:cNvSpPr>
            <a:spLocks noGrp="1"/>
          </p:cNvSpPr>
          <p:nvPr>
            <p:ph idx="18" hasCustomPrompt="1"/>
          </p:nvPr>
        </p:nvSpPr>
        <p:spPr>
          <a:xfrm>
            <a:off x="81648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Tree>
    <p:extLst>
      <p:ext uri="{BB962C8B-B14F-4D97-AF65-F5344CB8AC3E}">
        <p14:creationId xmlns:p14="http://schemas.microsoft.com/office/powerpoint/2010/main" val="1452946726"/>
      </p:ext>
    </p:extLst>
  </p:cSld>
  <p:clrMapOvr>
    <a:masterClrMapping/>
  </p:clrMapOvr>
  <p:transition spd="slow">
    <p:wip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hree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7" name="Content Placeholder 2"/>
          <p:cNvSpPr>
            <a:spLocks noGrp="1"/>
          </p:cNvSpPr>
          <p:nvPr>
            <p:ph idx="15" hasCustomPrompt="1"/>
          </p:nvPr>
        </p:nvSpPr>
        <p:spPr>
          <a:xfrm>
            <a:off x="42120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2"/>
          <p:cNvSpPr>
            <a:spLocks noGrp="1"/>
          </p:cNvSpPr>
          <p:nvPr>
            <p:ph idx="17" hasCustomPrompt="1"/>
          </p:nvPr>
        </p:nvSpPr>
        <p:spPr>
          <a:xfrm>
            <a:off x="81576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p>
        </p:txBody>
      </p:sp>
      <p:sp>
        <p:nvSpPr>
          <p:cNvPr id="10" name="Content Placeholder 2"/>
          <p:cNvSpPr>
            <a:spLocks noGrp="1"/>
          </p:cNvSpPr>
          <p:nvPr>
            <p:ph idx="18" hasCustomPrompt="1"/>
          </p:nvPr>
        </p:nvSpPr>
        <p:spPr>
          <a:xfrm>
            <a:off x="266400" y="5652000"/>
            <a:ext cx="113832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4"/>
          <p:cNvSpPr>
            <a:spLocks noGrp="1"/>
          </p:cNvSpPr>
          <p:nvPr>
            <p:ph sz="half" idx="13" hasCustomPrompt="1"/>
          </p:nvPr>
        </p:nvSpPr>
        <p:spPr>
          <a:xfrm>
            <a:off x="266400" y="975600"/>
            <a:ext cx="34920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Tree>
    <p:extLst>
      <p:ext uri="{BB962C8B-B14F-4D97-AF65-F5344CB8AC3E}">
        <p14:creationId xmlns:p14="http://schemas.microsoft.com/office/powerpoint/2010/main" val="706977976"/>
      </p:ext>
    </p:extLst>
  </p:cSld>
  <p:clrMapOvr>
    <a:masterClrMapping/>
  </p:clrMapOvr>
  <p:transition spd="slow">
    <p:wip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Four Pictures with Captions">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66400" y="1812756"/>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8" name="Picture Placeholder 2"/>
          <p:cNvSpPr>
            <a:spLocks noGrp="1"/>
          </p:cNvSpPr>
          <p:nvPr>
            <p:ph type="pic" idx="13"/>
          </p:nvPr>
        </p:nvSpPr>
        <p:spPr>
          <a:xfrm>
            <a:off x="6199278"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hasCustomPrompt="1"/>
          </p:nvPr>
        </p:nvSpPr>
        <p:spPr>
          <a:xfrm>
            <a:off x="2664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9" name="Text Placeholder 3"/>
          <p:cNvSpPr>
            <a:spLocks noGrp="1"/>
          </p:cNvSpPr>
          <p:nvPr>
            <p:ph type="body" sz="half" idx="14" hasCustomPrompt="1"/>
          </p:nvPr>
        </p:nvSpPr>
        <p:spPr>
          <a:xfrm>
            <a:off x="32328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7" name="Picture Placeholder 2"/>
          <p:cNvSpPr>
            <a:spLocks noGrp="1"/>
          </p:cNvSpPr>
          <p:nvPr>
            <p:ph type="pic" idx="15"/>
          </p:nvPr>
        </p:nvSpPr>
        <p:spPr>
          <a:xfrm>
            <a:off x="3232839"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0" name="Picture Placeholder 2"/>
          <p:cNvSpPr>
            <a:spLocks noGrp="1"/>
          </p:cNvSpPr>
          <p:nvPr>
            <p:ph type="pic" idx="16"/>
          </p:nvPr>
        </p:nvSpPr>
        <p:spPr>
          <a:xfrm>
            <a:off x="9124216" y="1812755"/>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2" name="Text Placeholder 3"/>
          <p:cNvSpPr>
            <a:spLocks noGrp="1"/>
          </p:cNvSpPr>
          <p:nvPr>
            <p:ph type="body" sz="half" idx="17" hasCustomPrompt="1"/>
          </p:nvPr>
        </p:nvSpPr>
        <p:spPr>
          <a:xfrm>
            <a:off x="61992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13" name="Text Placeholder 3"/>
          <p:cNvSpPr>
            <a:spLocks noGrp="1"/>
          </p:cNvSpPr>
          <p:nvPr>
            <p:ph type="body" sz="half" idx="18" hasCustomPrompt="1"/>
          </p:nvPr>
        </p:nvSpPr>
        <p:spPr>
          <a:xfrm>
            <a:off x="9124215"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1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686251920"/>
      </p:ext>
    </p:extLst>
  </p:cSld>
  <p:clrMapOvr>
    <a:masterClrMapping/>
  </p:clrMapOvr>
  <p:transition spd="slow">
    <p:wip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LI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baseline="0" dirty="0">
                <a:solidFill>
                  <a:schemeClr val="tx1"/>
                </a:solidFill>
                <a:latin typeface="+mj-lt"/>
                <a:ea typeface="+mj-ea"/>
                <a:cs typeface="+mj-cs"/>
              </a:defRPr>
            </a:lvl1pPr>
          </a:lstStyle>
          <a:p>
            <a:r>
              <a:rPr lang="en-US" dirty="0" smtClean="0"/>
              <a:t>CLI on White</a:t>
            </a:r>
            <a:endParaRPr lang="en-US" dirty="0"/>
          </a:p>
        </p:txBody>
      </p:sp>
      <p:sp>
        <p:nvSpPr>
          <p:cNvPr id="5" name="Content Placeholder 2"/>
          <p:cNvSpPr>
            <a:spLocks noGrp="1"/>
          </p:cNvSpPr>
          <p:nvPr>
            <p:ph idx="1" hasCustomPrompt="1"/>
          </p:nvPr>
        </p:nvSpPr>
        <p:spPr>
          <a:xfrm>
            <a:off x="266400" y="975600"/>
            <a:ext cx="11394000" cy="5338800"/>
          </a:xfrm>
          <a:prstGeom prst="rect">
            <a:avLst/>
          </a:prstGeom>
        </p:spPr>
        <p:txBody>
          <a:bodyPr/>
          <a:lstStyle>
            <a:lvl1pPr marL="0" indent="0">
              <a:buClr>
                <a:schemeClr val="accent6"/>
              </a:buClr>
              <a:buNone/>
              <a:defRPr sz="1800">
                <a:solidFill>
                  <a:schemeClr val="tx1"/>
                </a:solidFill>
                <a:latin typeface="Courier New" panose="02070309020205020404" pitchFamily="49" charset="0"/>
                <a:cs typeface="Courier New" panose="02070309020205020404" pitchFamily="49" charset="0"/>
              </a:defRPr>
            </a:lvl1pPr>
            <a:lvl2pPr>
              <a:buClr>
                <a:schemeClr val="accent6"/>
              </a:buClr>
              <a:defRPr sz="2400">
                <a:solidFill>
                  <a:schemeClr val="bg1"/>
                </a:solidFill>
                <a:latin typeface="Courier New" panose="02070309020205020404" pitchFamily="49" charset="0"/>
                <a:cs typeface="Courier New" panose="02070309020205020404" pitchFamily="49" charset="0"/>
              </a:defRPr>
            </a:lvl2pPr>
            <a:lvl3pPr>
              <a:buClr>
                <a:schemeClr val="accent6"/>
              </a:buClr>
              <a:defRPr sz="2000">
                <a:solidFill>
                  <a:schemeClr val="bg1"/>
                </a:solidFill>
                <a:latin typeface="Courier New" panose="02070309020205020404" pitchFamily="49" charset="0"/>
                <a:cs typeface="Courier New" panose="02070309020205020404" pitchFamily="49" charset="0"/>
              </a:defRPr>
            </a:lvl3pPr>
            <a:lvl4pPr>
              <a:buClr>
                <a:schemeClr val="accent6"/>
              </a:buClr>
              <a:defRPr sz="1800">
                <a:solidFill>
                  <a:schemeClr val="bg1"/>
                </a:solidFill>
                <a:latin typeface="Courier New" panose="02070309020205020404" pitchFamily="49" charset="0"/>
                <a:cs typeface="Courier New" panose="02070309020205020404" pitchFamily="49" charset="0"/>
              </a:defRPr>
            </a:lvl4pPr>
            <a:lvl5pPr>
              <a:buClr>
                <a:schemeClr val="accent6"/>
              </a:buClr>
              <a:defRPr sz="1600">
                <a:solidFill>
                  <a:schemeClr val="bg1"/>
                </a:solidFill>
                <a:latin typeface="Courier New" panose="02070309020205020404" pitchFamily="49" charset="0"/>
                <a:cs typeface="Courier New" panose="02070309020205020404" pitchFamily="49" charset="0"/>
              </a:defRPr>
            </a:lvl5pPr>
          </a:lstStyle>
          <a:p>
            <a:pPr lvl="0"/>
            <a:r>
              <a:rPr lang="en-US" dirty="0" smtClean="0"/>
              <a:t># Click to add CLI text</a:t>
            </a:r>
          </a:p>
        </p:txBody>
      </p:sp>
    </p:spTree>
    <p:extLst>
      <p:ext uri="{BB962C8B-B14F-4D97-AF65-F5344CB8AC3E}">
        <p14:creationId xmlns:p14="http://schemas.microsoft.com/office/powerpoint/2010/main" val="793681260"/>
      </p:ext>
    </p:extLst>
  </p:cSld>
  <p:clrMapOvr>
    <a:masterClrMapping/>
  </p:clrMapOvr>
  <p:transition spd="slow">
    <p:wip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Knowledge_Check">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266400" y="972000"/>
            <a:ext cx="11394000" cy="5335200"/>
          </a:xfrm>
          <a:prstGeom prst="rect">
            <a:avLst/>
          </a:prstGeom>
          <a:noFill/>
        </p:spPr>
        <p:txBody>
          <a:bodyPr/>
          <a:lstStyle>
            <a:lvl1pPr marL="685800" indent="-457200">
              <a:buClr>
                <a:schemeClr val="accent6"/>
              </a:buClr>
              <a:buFont typeface="+mj-lt"/>
              <a:buAutoNum type="arabicPeriod"/>
              <a:defRPr sz="2200" baseline="0"/>
            </a:lvl1pPr>
            <a:lvl2pPr marL="457200" indent="0">
              <a:buClr>
                <a:schemeClr val="accent6"/>
              </a:buClr>
              <a:buNone/>
              <a:defRPr sz="1800"/>
            </a:lvl2pPr>
            <a:lvl3pPr>
              <a:buClr>
                <a:schemeClr val="accent6"/>
              </a:buClr>
              <a:defRPr sz="1600"/>
            </a:lvl3pPr>
            <a:lvl4pPr>
              <a:buClr>
                <a:schemeClr val="accent6"/>
              </a:buClr>
              <a:defRPr sz="1400"/>
            </a:lvl4pPr>
            <a:lvl5pPr>
              <a:buClr>
                <a:schemeClr val="accent6"/>
              </a:buClr>
              <a:defRPr sz="1200"/>
            </a:lvl5pPr>
          </a:lstStyle>
          <a:p>
            <a:r>
              <a:rPr lang="en-CA" dirty="0" smtClean="0"/>
              <a:t>&lt;Add question&gt;</a:t>
            </a:r>
          </a:p>
          <a:p>
            <a:pPr marL="800100" lvl="1" indent="-342900">
              <a:buFont typeface="+mj-lt"/>
              <a:buAutoNum type="alphaUcPeriod"/>
            </a:pPr>
            <a:r>
              <a:rPr lang="en-CA" dirty="0" smtClean="0"/>
              <a:t>&lt;Add answer&gt;</a:t>
            </a:r>
          </a:p>
          <a:p>
            <a:pPr marL="800100" lvl="1" indent="-342900">
              <a:buFont typeface="+mj-lt"/>
              <a:buAutoNum type="alphaUcPeriod"/>
            </a:pPr>
            <a:r>
              <a:rPr lang="en-CA" dirty="0" smtClean="0"/>
              <a:t>&lt;Add answer&gt;</a:t>
            </a:r>
          </a:p>
          <a:p>
            <a:pPr marL="800100" lvl="1" indent="-342900">
              <a:buFont typeface="+mj-lt"/>
              <a:buAutoNum type="alphaUcPeriod"/>
            </a:pPr>
            <a:endParaRPr lang="en-CA" dirty="0" smtClean="0"/>
          </a:p>
          <a:p>
            <a:r>
              <a:rPr lang="en-CA" dirty="0" smtClean="0"/>
              <a:t>&lt;Add question&gt;</a:t>
            </a:r>
          </a:p>
          <a:p>
            <a:pPr marL="800100" lvl="1" indent="-342900">
              <a:buFont typeface="+mj-lt"/>
              <a:buAutoNum type="alphaUcPeriod"/>
            </a:pPr>
            <a:r>
              <a:rPr lang="en-CA" dirty="0" smtClean="0"/>
              <a:t>&lt;Add answer&gt;</a:t>
            </a:r>
          </a:p>
          <a:p>
            <a:pPr marL="800100" lvl="1" indent="-342900">
              <a:buFont typeface="+mj-lt"/>
              <a:buAutoNum type="alphaUcPeriod"/>
            </a:pPr>
            <a:r>
              <a:rPr lang="en-CA" dirty="0" smtClean="0"/>
              <a:t>&lt;Add answer&gt;</a:t>
            </a:r>
          </a:p>
          <a:p>
            <a:pPr marL="800100" lvl="1" indent="-342900">
              <a:buFont typeface="+mj-lt"/>
              <a:buAutoNum type="alphaUcPeriod"/>
            </a:pPr>
            <a:endParaRPr lang="en-CA" dirty="0" smtClean="0"/>
          </a:p>
          <a:p>
            <a:pPr marL="571500" lvl="0" indent="-342900">
              <a:buFont typeface="+mj-lt"/>
              <a:buAutoNum type="alphaUcPeriod"/>
            </a:pPr>
            <a:endParaRPr lang="en-CA" dirty="0"/>
          </a:p>
        </p:txBody>
      </p:sp>
      <p:sp>
        <p:nvSpPr>
          <p:cNvPr id="6" name="TextBox 5"/>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Knowledge Check</a:t>
            </a:r>
            <a:endParaRPr lang="en-CA" sz="3600" b="0" dirty="0">
              <a:solidFill>
                <a:schemeClr val="tx1"/>
              </a:solidFill>
              <a:latin typeface="+mj-lt"/>
            </a:endParaRPr>
          </a:p>
        </p:txBody>
      </p:sp>
    </p:spTree>
    <p:extLst>
      <p:ext uri="{BB962C8B-B14F-4D97-AF65-F5344CB8AC3E}">
        <p14:creationId xmlns:p14="http://schemas.microsoft.com/office/powerpoint/2010/main" val="1506000017"/>
      </p:ext>
    </p:extLst>
  </p:cSld>
  <p:clrMapOvr>
    <a:masterClrMapping/>
  </p:clrMapOvr>
  <p:transition spd="slow">
    <p:wip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Lesson_Progress">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36000" cy="748800"/>
          </a:xfrm>
          <a:prstGeom prst="rect">
            <a:avLst/>
          </a:prstGeom>
          <a:noFill/>
        </p:spPr>
        <p:txBody>
          <a:bodyPr wrap="square" rtlCol="0">
            <a:spAutoFit/>
          </a:bodyPr>
          <a:lstStyle/>
          <a:p>
            <a:r>
              <a:rPr lang="en-CA" sz="3600" b="0" dirty="0" smtClean="0">
                <a:solidFill>
                  <a:schemeClr val="tx1"/>
                </a:solidFill>
                <a:latin typeface="+mj-lt"/>
              </a:rPr>
              <a:t>Lesson Progress</a:t>
            </a:r>
            <a:endParaRPr lang="en-CA" sz="3600" b="0" dirty="0">
              <a:solidFill>
                <a:schemeClr val="tx1"/>
              </a:solidFill>
              <a:latin typeface="+mj-lt"/>
            </a:endParaRPr>
          </a:p>
        </p:txBody>
      </p:sp>
      <p:sp>
        <p:nvSpPr>
          <p:cNvPr id="9" name="SmartArt Placeholder 3"/>
          <p:cNvSpPr>
            <a:spLocks noGrp="1"/>
          </p:cNvSpPr>
          <p:nvPr>
            <p:ph type="dgm" sz="quarter" idx="10"/>
          </p:nvPr>
        </p:nvSpPr>
        <p:spPr>
          <a:xfrm>
            <a:off x="266400" y="1346400"/>
            <a:ext cx="11386800" cy="4708800"/>
          </a:xfrm>
          <a:prstGeom prst="rect">
            <a:avLst/>
          </a:prstGeom>
        </p:spPr>
        <p:txBody>
          <a:bodyPr/>
          <a:lstStyle/>
          <a:p>
            <a:r>
              <a:rPr lang="en-US" smtClean="0"/>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415952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Review">
    <p:bg>
      <p:bgPr>
        <a:solidFill>
          <a:srgbClr val="F0F0F0"/>
        </a:solidFill>
        <a:effectLst/>
      </p:bgPr>
    </p:bg>
    <p:spTree>
      <p:nvGrpSpPr>
        <p:cNvPr id="1" name=""/>
        <p:cNvGrpSpPr/>
        <p:nvPr/>
      </p:nvGrpSpPr>
      <p:grpSpPr>
        <a:xfrm>
          <a:off x="0" y="0"/>
          <a:ext cx="0" cy="0"/>
          <a:chOff x="0" y="0"/>
          <a:chExt cx="0" cy="0"/>
        </a:xfrm>
      </p:grpSpPr>
      <p:sp>
        <p:nvSpPr>
          <p:cNvPr id="5" name="Text Placeholder 2"/>
          <p:cNvSpPr>
            <a:spLocks noGrp="1"/>
          </p:cNvSpPr>
          <p:nvPr>
            <p:ph type="body" idx="1" hasCustomPrompt="1"/>
          </p:nvPr>
        </p:nvSpPr>
        <p:spPr>
          <a:xfrm>
            <a:off x="266400" y="975600"/>
            <a:ext cx="11394000" cy="5338800"/>
          </a:xfrm>
          <a:prstGeom prst="rect">
            <a:avLst/>
          </a:prstGeom>
        </p:spPr>
        <p:txBody>
          <a:bodyPr anchor="t" anchorCtr="0"/>
          <a:lstStyle>
            <a:lvl1pPr marL="457200" indent="-457200" algn="l">
              <a:buClr>
                <a:srgbClr val="00B050"/>
              </a:buClr>
              <a:buFont typeface="Wingdings" panose="05000000000000000000" pitchFamily="2" charset="2"/>
              <a:buChar char="ü"/>
              <a:defRPr sz="2700" baseline="0">
                <a:solidFill>
                  <a:schemeClr val="tx1"/>
                </a:solidFill>
              </a:defRPr>
            </a:lvl1pPr>
            <a:lvl2pPr marL="457120" indent="0">
              <a:buNone/>
              <a:defRPr sz="1800">
                <a:solidFill>
                  <a:schemeClr val="tx1">
                    <a:tint val="75000"/>
                  </a:schemeClr>
                </a:solidFill>
              </a:defRPr>
            </a:lvl2pPr>
            <a:lvl3pPr marL="914240" indent="0">
              <a:buNone/>
              <a:defRPr sz="1600">
                <a:solidFill>
                  <a:schemeClr val="tx1">
                    <a:tint val="75000"/>
                  </a:schemeClr>
                </a:solidFill>
              </a:defRPr>
            </a:lvl3pPr>
            <a:lvl4pPr marL="1371360" indent="0">
              <a:buNone/>
              <a:defRPr sz="1400">
                <a:solidFill>
                  <a:schemeClr val="tx1">
                    <a:tint val="75000"/>
                  </a:schemeClr>
                </a:solidFill>
              </a:defRPr>
            </a:lvl4pPr>
            <a:lvl5pPr marL="1828480" indent="0">
              <a:buNone/>
              <a:defRPr sz="1400">
                <a:solidFill>
                  <a:schemeClr val="tx1">
                    <a:tint val="75000"/>
                  </a:schemeClr>
                </a:solidFill>
              </a:defRPr>
            </a:lvl5pPr>
            <a:lvl6pPr marL="2285600" indent="0">
              <a:buNone/>
              <a:defRPr sz="1400">
                <a:solidFill>
                  <a:schemeClr val="tx1">
                    <a:tint val="75000"/>
                  </a:schemeClr>
                </a:solidFill>
              </a:defRPr>
            </a:lvl6pPr>
            <a:lvl7pPr marL="2742720" indent="0">
              <a:buNone/>
              <a:defRPr sz="1400">
                <a:solidFill>
                  <a:schemeClr val="tx1">
                    <a:tint val="75000"/>
                  </a:schemeClr>
                </a:solidFill>
              </a:defRPr>
            </a:lvl7pPr>
            <a:lvl8pPr marL="3199840" indent="0">
              <a:buNone/>
              <a:defRPr sz="1400">
                <a:solidFill>
                  <a:schemeClr val="tx1">
                    <a:tint val="75000"/>
                  </a:schemeClr>
                </a:solidFill>
              </a:defRPr>
            </a:lvl8pPr>
            <a:lvl9pPr marL="3656960" indent="0">
              <a:buNone/>
              <a:defRPr sz="1400">
                <a:solidFill>
                  <a:schemeClr val="tx1">
                    <a:tint val="75000"/>
                  </a:schemeClr>
                </a:solidFill>
              </a:defRPr>
            </a:lvl9pPr>
          </a:lstStyle>
          <a:p>
            <a:pPr lvl="0"/>
            <a:r>
              <a:rPr lang="en-US" dirty="0" smtClean="0"/>
              <a:t>[text]</a:t>
            </a:r>
          </a:p>
        </p:txBody>
      </p:sp>
      <p:sp>
        <p:nvSpPr>
          <p:cNvPr id="6" name="TextBox 5"/>
          <p:cNvSpPr txBox="1"/>
          <p:nvPr/>
        </p:nvSpPr>
        <p:spPr>
          <a:xfrm>
            <a:off x="266400" y="273600"/>
            <a:ext cx="10836000" cy="646331"/>
          </a:xfrm>
          <a:prstGeom prst="rect">
            <a:avLst/>
          </a:prstGeom>
          <a:noFill/>
        </p:spPr>
        <p:txBody>
          <a:bodyPr wrap="square" rtlCol="0">
            <a:spAutoFit/>
          </a:bodyPr>
          <a:lstStyle/>
          <a:p>
            <a:r>
              <a:rPr lang="en-CA" sz="3600" b="0" dirty="0" smtClean="0">
                <a:solidFill>
                  <a:schemeClr val="tx1"/>
                </a:solidFill>
                <a:latin typeface="+mj-lt"/>
              </a:rPr>
              <a:t>Review</a:t>
            </a:r>
            <a:endParaRPr lang="en-CA" sz="3600" b="0" dirty="0">
              <a:solidFill>
                <a:schemeClr val="tx1"/>
              </a:solidFill>
              <a:latin typeface="+mj-lt"/>
            </a:endParaRP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4285887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3719" y="0"/>
            <a:ext cx="975106" cy="225084"/>
          </a:xfrm>
          <a:prstGeom prst="rect">
            <a:avLst/>
          </a:prstGeom>
        </p:spPr>
      </p:pic>
      <p:pic>
        <p:nvPicPr>
          <p:cNvPr id="7" name="Picture 6">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2182" y="3128211"/>
            <a:ext cx="3624462" cy="414848"/>
          </a:xfrm>
          <a:prstGeom prst="rect">
            <a:avLst/>
          </a:prstGeom>
        </p:spPr>
      </p:pic>
      <p:pic>
        <p:nvPicPr>
          <p:cNvPr id="5" name="Picture 4">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6" name="Picture 5">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3303" y="3128212"/>
            <a:ext cx="3625407" cy="414848"/>
          </a:xfrm>
          <a:prstGeom prst="rect">
            <a:avLst/>
          </a:prstGeom>
        </p:spPr>
      </p:pic>
    </p:spTree>
    <p:extLst>
      <p:ext uri="{BB962C8B-B14F-4D97-AF65-F5344CB8AC3E}">
        <p14:creationId xmlns:p14="http://schemas.microsoft.com/office/powerpoint/2010/main" val="3483925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4104">
          <p15:clr>
            <a:srgbClr val="FBAE40"/>
          </p15:clr>
        </p15:guide>
        <p15:guide id="2" pos="4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F13C7A-2ACA-3145-8E42-86979311783B}"/>
              </a:ext>
            </a:extLst>
          </p:cNvPr>
          <p:cNvPicPr>
            <a:picLocks noChangeAspect="1"/>
          </p:cNvPicPr>
          <p:nvPr/>
        </p:nvPicPr>
        <p:blipFill>
          <a:blip r:embed="rId31"/>
          <a:stretch>
            <a:fillRect/>
          </a:stretch>
        </p:blipFill>
        <p:spPr>
          <a:xfrm flipH="1" flipV="1">
            <a:off x="11213719" y="0"/>
            <a:ext cx="975106" cy="225084"/>
          </a:xfrm>
          <a:prstGeom prst="rect">
            <a:avLst/>
          </a:prstGeom>
        </p:spPr>
      </p:pic>
      <p:sp>
        <p:nvSpPr>
          <p:cNvPr id="8"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10" name="TextBox 9">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11" name="Picture 10">
            <a:extLst>
              <a:ext uri="{FF2B5EF4-FFF2-40B4-BE49-F238E27FC236}">
                <a16:creationId xmlns:a16="http://schemas.microsoft.com/office/drawing/2014/main" id="{DAF13C7A-2ACA-3145-8E42-86979311783B}"/>
              </a:ext>
            </a:extLst>
          </p:cNvPr>
          <p:cNvPicPr>
            <a:picLocks noChangeAspect="1"/>
          </p:cNvPicPr>
          <p:nvPr/>
        </p:nvPicPr>
        <p:blipFill>
          <a:blip r:embed="rId31"/>
          <a:stretch>
            <a:fillRect/>
          </a:stretch>
        </p:blipFill>
        <p:spPr>
          <a:xfrm flipH="1" flipV="1">
            <a:off x="11216640" y="1"/>
            <a:ext cx="975360" cy="225084"/>
          </a:xfrm>
          <a:prstGeom prst="rect">
            <a:avLst/>
          </a:prstGeom>
        </p:spPr>
      </p:pic>
      <p:sp>
        <p:nvSpPr>
          <p:cNvPr id="13" name="Text Placeholder 11"/>
          <p:cNvSpPr>
            <a:spLocks noGrp="1"/>
          </p:cNvSpPr>
          <p:nvPr>
            <p:ph type="body" idx="1"/>
          </p:nvPr>
        </p:nvSpPr>
        <p:spPr>
          <a:xfrm>
            <a:off x="266400" y="972000"/>
            <a:ext cx="11394000" cy="5335200"/>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pic>
        <p:nvPicPr>
          <p:cNvPr id="9" name="Picture 8"/>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930028962"/>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856" r:id="rId18"/>
    <p:sldLayoutId id="2147483857" r:id="rId19"/>
    <p:sldLayoutId id="2147483858" r:id="rId20"/>
    <p:sldLayoutId id="2147483859" r:id="rId21"/>
    <p:sldLayoutId id="2147483860" r:id="rId22"/>
    <p:sldLayoutId id="2147483861" r:id="rId23"/>
    <p:sldLayoutId id="2147483862" r:id="rId24"/>
    <p:sldLayoutId id="2147483863" r:id="rId25"/>
    <p:sldLayoutId id="2147483864" r:id="rId26"/>
    <p:sldLayoutId id="2147483865" r:id="rId27"/>
    <p:sldLayoutId id="2147483866" r:id="rId28"/>
    <p:sldLayoutId id="2147483867"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Clr>
          <a:srgbClr val="FF0000"/>
        </a:buClr>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Clr>
          <a:srgbClr val="FF0000"/>
        </a:buClr>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Clr>
          <a:srgbClr val="FF0000"/>
        </a:buClr>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pos="216">
          <p15:clr>
            <a:srgbClr val="5ACBF0"/>
          </p15:clr>
        </p15:guide>
        <p15:guide id="4" pos="7464">
          <p15:clr>
            <a:srgbClr val="5ACBF0"/>
          </p15:clr>
        </p15:guide>
        <p15:guide id="37" pos="3840" userDrawn="1">
          <p15:clr>
            <a:srgbClr val="5ACBF0"/>
          </p15:clr>
        </p15:guide>
        <p15:guide id="38" orient="horz" pos="2160" userDrawn="1">
          <p15:clr>
            <a:srgbClr val="5ACBF0"/>
          </p15:clr>
        </p15:guide>
        <p15:guide id="39" pos="456" userDrawn="1">
          <p15:clr>
            <a:srgbClr val="5ACBF0"/>
          </p15:clr>
        </p15:guide>
        <p15:guide id="40" pos="7224" userDrawn="1">
          <p15:clr>
            <a:srgbClr val="5ACBF0"/>
          </p15:clr>
        </p15:guide>
        <p15:guide id="41" orient="horz" pos="840" userDrawn="1">
          <p15:clr>
            <a:srgbClr val="5ACBF0"/>
          </p15:clr>
        </p15:guide>
        <p15:guide id="42" orient="horz" pos="1864" userDrawn="1">
          <p15:clr>
            <a:srgbClr val="5ACBF0"/>
          </p15:clr>
        </p15:guide>
        <p15:guide id="43" orient="horz" pos="2886" userDrawn="1">
          <p15:clr>
            <a:srgbClr val="5ACBF0"/>
          </p15:clr>
        </p15:guide>
        <p15:guide id="44" orient="horz" pos="3893" userDrawn="1">
          <p15:clr>
            <a:srgbClr val="5ACBF0"/>
          </p15:clr>
        </p15:guide>
        <p15:guide id="45" pos="1498" userDrawn="1">
          <p15:clr>
            <a:srgbClr val="5ACBF0"/>
          </p15:clr>
        </p15:guide>
        <p15:guide id="46" pos="1600" userDrawn="1">
          <p15:clr>
            <a:srgbClr val="5ACBF0"/>
          </p15:clr>
        </p15:guide>
        <p15:guide id="47" pos="2644" userDrawn="1">
          <p15:clr>
            <a:srgbClr val="5ACBF0"/>
          </p15:clr>
        </p15:guide>
        <p15:guide id="48" pos="2747" userDrawn="1">
          <p15:clr>
            <a:srgbClr val="5ACBF0"/>
          </p15:clr>
        </p15:guide>
        <p15:guide id="49" pos="3792" userDrawn="1">
          <p15:clr>
            <a:srgbClr val="5ACBF0"/>
          </p15:clr>
        </p15:guide>
        <p15:guide id="50" pos="3888" userDrawn="1">
          <p15:clr>
            <a:srgbClr val="5ACBF0"/>
          </p15:clr>
        </p15:guide>
        <p15:guide id="51" pos="4934" userDrawn="1">
          <p15:clr>
            <a:srgbClr val="5ACBF0"/>
          </p15:clr>
        </p15:guide>
        <p15:guide id="52" pos="5034" userDrawn="1">
          <p15:clr>
            <a:srgbClr val="5ACBF0"/>
          </p15:clr>
        </p15:guide>
        <p15:guide id="53" pos="6081" userDrawn="1">
          <p15:clr>
            <a:srgbClr val="5ACBF0"/>
          </p15:clr>
        </p15:guide>
        <p15:guide id="54" pos="6183"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10.xml"/><Relationship Id="rId1" Type="http://schemas.openxmlformats.org/officeDocument/2006/relationships/tags" Target="../tags/tag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tags" Target="../tags/tag4.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notesSlide" Target="../notesSlides/notesSlide6.xml"/><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slideLayout" Target="../slideLayouts/slideLayout15.xml"/><Relationship Id="rId1" Type="http://schemas.openxmlformats.org/officeDocument/2006/relationships/tags" Target="../tags/tag5.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tags" Target="../tags/tag6.xml"/><Relationship Id="rId5" Type="http://schemas.openxmlformats.org/officeDocument/2006/relationships/image" Target="../media/image37.png"/><Relationship Id="rId4" Type="http://schemas.openxmlformats.org/officeDocument/2006/relationships/hyperlink" Target="http://www.forticlient.com/"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notesSlide" Target="../notesSlides/notesSlide8.xml"/><Relationship Id="rId7" Type="http://schemas.openxmlformats.org/officeDocument/2006/relationships/image" Target="../media/image26.png"/><Relationship Id="rId2" Type="http://schemas.openxmlformats.org/officeDocument/2006/relationships/slideLayout" Target="../slideLayouts/slideLayout15.xml"/><Relationship Id="rId1" Type="http://schemas.openxmlformats.org/officeDocument/2006/relationships/tags" Target="../tags/tag7.xml"/><Relationship Id="rId6" Type="http://schemas.openxmlformats.org/officeDocument/2006/relationships/image" Target="../media/image32.png"/><Relationship Id="rId5" Type="http://schemas.openxmlformats.org/officeDocument/2006/relationships/image" Target="../media/image33.png"/><Relationship Id="rId10" Type="http://schemas.openxmlformats.org/officeDocument/2006/relationships/image" Target="../media/image39.png"/><Relationship Id="rId4" Type="http://schemas.openxmlformats.org/officeDocument/2006/relationships/image" Target="../media/image25.pn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8" Type="http://schemas.openxmlformats.org/officeDocument/2006/relationships/image" Target="../media/image45.emf"/><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 Id="rId9" Type="http://schemas.openxmlformats.org/officeDocument/2006/relationships/image" Target="../media/image46.png"/></Relationships>
</file>

<file path=ppt/slides/_rels/slide11.xml.rels><?xml version="1.0" encoding="UTF-8" standalone="yes"?>
<Relationships xmlns="http://schemas.openxmlformats.org/package/2006/relationships"><Relationship Id="rId8" Type="http://schemas.openxmlformats.org/officeDocument/2006/relationships/image" Target="../media/image50.emf"/><Relationship Id="rId3" Type="http://schemas.openxmlformats.org/officeDocument/2006/relationships/notesSlide" Target="../notesSlides/notesSlide11.xml"/><Relationship Id="rId7" Type="http://schemas.openxmlformats.org/officeDocument/2006/relationships/image" Target="../media/image49.png"/><Relationship Id="rId2" Type="http://schemas.openxmlformats.org/officeDocument/2006/relationships/slideLayout" Target="../slideLayouts/slideLayout15.xml"/><Relationship Id="rId1" Type="http://schemas.openxmlformats.org/officeDocument/2006/relationships/tags" Target="../tags/tag8.xml"/><Relationship Id="rId6" Type="http://schemas.openxmlformats.org/officeDocument/2006/relationships/image" Target="../media/image48.png"/><Relationship Id="rId5" Type="http://schemas.microsoft.com/office/2007/relationships/hdphoto" Target="../media/hdphoto1.wdp"/><Relationship Id="rId10" Type="http://schemas.openxmlformats.org/officeDocument/2006/relationships/image" Target="../media/image52.png"/><Relationship Id="rId4" Type="http://schemas.openxmlformats.org/officeDocument/2006/relationships/image" Target="../media/image47.png"/><Relationship Id="rId9" Type="http://schemas.openxmlformats.org/officeDocument/2006/relationships/image" Target="../media/image5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6.xml"/><Relationship Id="rId1" Type="http://schemas.openxmlformats.org/officeDocument/2006/relationships/tags" Target="../tags/tag9.xml"/><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3.xml"/><Relationship Id="rId7" Type="http://schemas.openxmlformats.org/officeDocument/2006/relationships/diagramColors" Target="../diagrams/colors2.xml"/><Relationship Id="rId2" Type="http://schemas.openxmlformats.org/officeDocument/2006/relationships/slideLayout" Target="../slideLayouts/slideLayout27.xml"/><Relationship Id="rId1" Type="http://schemas.openxmlformats.org/officeDocument/2006/relationships/tags" Target="../tags/tag1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ags" Target="../tags/tag12.xml"/><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microsoft.com/office/2007/relationships/hdphoto" Target="../media/hdphoto2.wdp"/><Relationship Id="rId2" Type="http://schemas.openxmlformats.org/officeDocument/2006/relationships/slideLayout" Target="../slideLayouts/slideLayout20.xml"/><Relationship Id="rId1" Type="http://schemas.openxmlformats.org/officeDocument/2006/relationships/tags" Target="../tags/tag1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6.xml"/><Relationship Id="rId1" Type="http://schemas.openxmlformats.org/officeDocument/2006/relationships/tags" Target="../tags/tag14.xml"/><Relationship Id="rId4" Type="http://schemas.openxmlformats.org/officeDocument/2006/relationships/image" Target="../media/image5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5.xml"/><Relationship Id="rId1" Type="http://schemas.openxmlformats.org/officeDocument/2006/relationships/tags" Target="../tags/tag15.xml"/><Relationship Id="rId4" Type="http://schemas.openxmlformats.org/officeDocument/2006/relationships/image" Target="../media/image59.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8.xml"/><Relationship Id="rId1" Type="http://schemas.openxmlformats.org/officeDocument/2006/relationships/tags" Target="../tags/tag16.xml"/><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notesSlide" Target="../notesSlides/notesSlide20.xml"/><Relationship Id="rId7" Type="http://schemas.openxmlformats.org/officeDocument/2006/relationships/image" Target="../media/image63.png"/><Relationship Id="rId2" Type="http://schemas.openxmlformats.org/officeDocument/2006/relationships/slideLayout" Target="../slideLayouts/slideLayout15.xml"/><Relationship Id="rId1" Type="http://schemas.openxmlformats.org/officeDocument/2006/relationships/tags" Target="../tags/tag1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33.png"/><Relationship Id="rId9" Type="http://schemas.openxmlformats.org/officeDocument/2006/relationships/image" Target="../media/image65.png"/></Relationships>
</file>

<file path=ppt/slides/_rels/slide2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67.png"/></Relationships>
</file>

<file path=ppt/slides/_rels/slide2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6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5.xml"/><Relationship Id="rId1" Type="http://schemas.openxmlformats.org/officeDocument/2006/relationships/tags" Target="../tags/tag18.xml"/><Relationship Id="rId6" Type="http://schemas.openxmlformats.org/officeDocument/2006/relationships/image" Target="../media/image71.emf"/><Relationship Id="rId5" Type="http://schemas.microsoft.com/office/2007/relationships/hdphoto" Target="../media/hdphoto3.wdp"/><Relationship Id="rId4" Type="http://schemas.openxmlformats.org/officeDocument/2006/relationships/image" Target="../media/image7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6.xml"/><Relationship Id="rId1" Type="http://schemas.openxmlformats.org/officeDocument/2006/relationships/tags" Target="../tags/tag19.xml"/><Relationship Id="rId4" Type="http://schemas.openxmlformats.org/officeDocument/2006/relationships/image" Target="../media/image7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6.xml"/><Relationship Id="rId1" Type="http://schemas.openxmlformats.org/officeDocument/2006/relationships/tags" Target="../tags/tag20.xml"/><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26.xml"/><Relationship Id="rId7" Type="http://schemas.openxmlformats.org/officeDocument/2006/relationships/diagramColors" Target="../diagrams/colors3.xml"/><Relationship Id="rId2" Type="http://schemas.openxmlformats.org/officeDocument/2006/relationships/slideLayout" Target="../slideLayouts/slideLayout27.xml"/><Relationship Id="rId1" Type="http://schemas.openxmlformats.org/officeDocument/2006/relationships/tags" Target="../tags/tag21.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5.xml"/><Relationship Id="rId1" Type="http://schemas.openxmlformats.org/officeDocument/2006/relationships/tags" Target="../tags/tag23.xml"/><Relationship Id="rId4" Type="http://schemas.openxmlformats.org/officeDocument/2006/relationships/image" Target="../media/image73.png"/></Relationships>
</file>

<file path=ppt/slides/_rels/slide29.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notesSlide" Target="../notesSlides/notesSlide29.xml"/><Relationship Id="rId7" Type="http://schemas.openxmlformats.org/officeDocument/2006/relationships/image" Target="../media/image77.png"/><Relationship Id="rId2" Type="http://schemas.openxmlformats.org/officeDocument/2006/relationships/slideLayout" Target="../slideLayouts/slideLayout15.xml"/><Relationship Id="rId1" Type="http://schemas.openxmlformats.org/officeDocument/2006/relationships/tags" Target="../tags/tag24.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5.xml"/><Relationship Id="rId1" Type="http://schemas.openxmlformats.org/officeDocument/2006/relationships/tags" Target="../tags/tag25.xml"/><Relationship Id="rId4" Type="http://schemas.openxmlformats.org/officeDocument/2006/relationships/image" Target="../media/image79.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5.xml"/><Relationship Id="rId1" Type="http://schemas.openxmlformats.org/officeDocument/2006/relationships/tags" Target="../tags/tag26.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5.xml"/><Relationship Id="rId1" Type="http://schemas.openxmlformats.org/officeDocument/2006/relationships/tags" Target="../tags/tag2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5.xml"/><Relationship Id="rId1" Type="http://schemas.openxmlformats.org/officeDocument/2006/relationships/tags" Target="../tags/tag2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5.xml"/><Relationship Id="rId1" Type="http://schemas.openxmlformats.org/officeDocument/2006/relationships/tags" Target="../tags/tag29.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6.xml"/><Relationship Id="rId1" Type="http://schemas.openxmlformats.org/officeDocument/2006/relationships/tags" Target="../tags/tag30.xml"/><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36.xml"/><Relationship Id="rId7" Type="http://schemas.openxmlformats.org/officeDocument/2006/relationships/diagramColors" Target="../diagrams/colors4.xml"/><Relationship Id="rId2" Type="http://schemas.openxmlformats.org/officeDocument/2006/relationships/slideLayout" Target="../slideLayouts/slideLayout27.xml"/><Relationship Id="rId1" Type="http://schemas.openxmlformats.org/officeDocument/2006/relationships/tags" Target="../tags/tag3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5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subTitle" idx="1"/>
          </p:nvPr>
        </p:nvSpPr>
        <p:spPr/>
        <p:txBody>
          <a:bodyPr/>
          <a:lstStyle/>
          <a:p>
            <a:r>
              <a:rPr lang="en-CA" dirty="0" smtClean="0"/>
              <a:t>SSL VPN</a:t>
            </a:r>
            <a:endParaRPr lang="en-CA" dirty="0"/>
          </a:p>
        </p:txBody>
      </p:sp>
      <p:sp>
        <p:nvSpPr>
          <p:cNvPr id="5" name="Title 4"/>
          <p:cNvSpPr>
            <a:spLocks noGrp="1"/>
          </p:cNvSpPr>
          <p:nvPr>
            <p:ph type="ctrTitle"/>
          </p:nvPr>
        </p:nvSpPr>
        <p:spPr/>
        <p:txBody>
          <a:bodyPr/>
          <a:lstStyle/>
          <a:p>
            <a:r>
              <a:rPr lang="en-CA" dirty="0"/>
              <a:t>FortiGate </a:t>
            </a:r>
            <a:r>
              <a:rPr lang="en-CA" dirty="0" smtClean="0"/>
              <a:t>Infrastructure</a:t>
            </a:r>
            <a:endParaRPr lang="en-US" dirty="0"/>
          </a:p>
        </p:txBody>
      </p:sp>
      <p:sp>
        <p:nvSpPr>
          <p:cNvPr id="7" name="Text Placeholder 6"/>
          <p:cNvSpPr>
            <a:spLocks noGrp="1"/>
          </p:cNvSpPr>
          <p:nvPr>
            <p:ph type="body" sz="quarter" idx="10"/>
          </p:nvPr>
        </p:nvSpPr>
        <p:spPr/>
        <p:txBody>
          <a:bodyPr/>
          <a:lstStyle/>
          <a:p>
            <a:r>
              <a:rPr lang="en-CA" dirty="0" err="1"/>
              <a:t>FortiOS</a:t>
            </a:r>
            <a:r>
              <a:rPr lang="en-CA" dirty="0"/>
              <a:t> </a:t>
            </a:r>
            <a:r>
              <a:rPr lang="en-CA" dirty="0" smtClean="0"/>
              <a:t>7.2</a:t>
            </a:r>
            <a:endParaRPr lang="en-CA" dirty="0"/>
          </a:p>
        </p:txBody>
      </p:sp>
    </p:spTree>
    <p:extLst>
      <p:ext uri="{BB962C8B-B14F-4D97-AF65-F5344CB8AC3E}">
        <p14:creationId xmlns:p14="http://schemas.microsoft.com/office/powerpoint/2010/main" val="305767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SmartArt Placeholder 2"/>
          <p:cNvGraphicFramePr>
            <a:graphicFrameLocks noGrp="1"/>
          </p:cNvGraphicFramePr>
          <p:nvPr>
            <p:ph type="dgm" sz="quarter" idx="10"/>
            <p:extLst>
              <p:ext uri="{D42A27DB-BD31-4B8C-83A1-F6EECF244321}">
                <p14:modId xmlns:p14="http://schemas.microsoft.com/office/powerpoint/2010/main" val="2465000012"/>
              </p:ext>
            </p:extLst>
          </p:nvPr>
        </p:nvGraphicFramePr>
        <p:xfrm>
          <a:off x="273050" y="1347788"/>
          <a:ext cx="11387138" cy="49672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081468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SSL VPN </a:t>
            </a:r>
            <a:r>
              <a:rPr lang="en-US" dirty="0"/>
              <a:t>Deployment Modes</a:t>
            </a:r>
          </a:p>
        </p:txBody>
      </p:sp>
      <p:sp>
        <p:nvSpPr>
          <p:cNvPr id="4" name="Text Placeholder 3"/>
          <p:cNvSpPr>
            <a:spLocks noGrp="1"/>
          </p:cNvSpPr>
          <p:nvPr>
            <p:ph type="body" sz="quarter" idx="11"/>
          </p:nvPr>
        </p:nvSpPr>
        <p:spPr/>
        <p:txBody>
          <a:bodyPr/>
          <a:lstStyle/>
          <a:p>
            <a:r>
              <a:rPr lang="en-US" dirty="0"/>
              <a:t>Describe the differences between </a:t>
            </a:r>
            <a:r>
              <a:rPr lang="en-US" dirty="0" smtClean="0"/>
              <a:t>SSL VPN </a:t>
            </a:r>
            <a:r>
              <a:rPr lang="en-US" dirty="0"/>
              <a:t>modes</a:t>
            </a:r>
          </a:p>
        </p:txBody>
      </p:sp>
    </p:spTree>
    <p:custDataLst>
      <p:tags r:id="rId1"/>
    </p:custDataLst>
    <p:extLst>
      <p:ext uri="{BB962C8B-B14F-4D97-AF65-F5344CB8AC3E}">
        <p14:creationId xmlns:p14="http://schemas.microsoft.com/office/powerpoint/2010/main" val="821988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SSL VPN </a:t>
            </a:r>
            <a:r>
              <a:rPr lang="en-US" dirty="0"/>
              <a:t>Deployment Modes</a:t>
            </a:r>
          </a:p>
        </p:txBody>
      </p:sp>
      <p:sp>
        <p:nvSpPr>
          <p:cNvPr id="5" name="Content Placeholder 1"/>
          <p:cNvSpPr>
            <a:spLocks noGrp="1"/>
          </p:cNvSpPr>
          <p:nvPr>
            <p:ph idx="15"/>
          </p:nvPr>
        </p:nvSpPr>
        <p:spPr/>
        <p:txBody>
          <a:bodyPr/>
          <a:lstStyle/>
          <a:p>
            <a:r>
              <a:rPr lang="en-US" dirty="0"/>
              <a:t>Tunnel mode</a:t>
            </a:r>
          </a:p>
          <a:p>
            <a:pPr lvl="1"/>
            <a:r>
              <a:rPr lang="en-US" dirty="0"/>
              <a:t>Accessed through a </a:t>
            </a:r>
            <a:r>
              <a:rPr lang="en-US" dirty="0" smtClean="0"/>
              <a:t>FortiClient</a:t>
            </a:r>
            <a:endParaRPr lang="en-US" dirty="0"/>
          </a:p>
          <a:p>
            <a:pPr lvl="1"/>
            <a:r>
              <a:rPr lang="en-US" dirty="0"/>
              <a:t>Requires a virtual adapter on the </a:t>
            </a:r>
            <a:r>
              <a:rPr lang="en-US" dirty="0" smtClean="0"/>
              <a:t>client </a:t>
            </a:r>
            <a:r>
              <a:rPr lang="en-US" dirty="0"/>
              <a:t>host</a:t>
            </a:r>
          </a:p>
          <a:p>
            <a:pPr lvl="1"/>
            <a:endParaRPr lang="en-US" dirty="0"/>
          </a:p>
          <a:p>
            <a:r>
              <a:rPr lang="en-US" dirty="0"/>
              <a:t>Web mode</a:t>
            </a:r>
          </a:p>
          <a:p>
            <a:pPr lvl="1"/>
            <a:r>
              <a:rPr lang="en-US" dirty="0"/>
              <a:t>Requires only a web browser</a:t>
            </a:r>
          </a:p>
          <a:p>
            <a:pPr lvl="1">
              <a:lnSpc>
                <a:spcPct val="110000"/>
              </a:lnSpc>
            </a:pPr>
            <a:r>
              <a:rPr lang="en-US" dirty="0"/>
              <a:t>Supports a limited number of protocols:</a:t>
            </a:r>
          </a:p>
          <a:p>
            <a:pPr lvl="2">
              <a:lnSpc>
                <a:spcPct val="110000"/>
              </a:lnSpc>
            </a:pPr>
            <a:r>
              <a:rPr lang="en-US" dirty="0" smtClean="0"/>
              <a:t>FTP</a:t>
            </a:r>
            <a:r>
              <a:rPr lang="en-US" dirty="0"/>
              <a:t>, </a:t>
            </a:r>
            <a:r>
              <a:rPr lang="en-US" dirty="0" smtClean="0"/>
              <a:t>HTTP/HTTPS, RDP</a:t>
            </a:r>
            <a:r>
              <a:rPr lang="en-US" dirty="0"/>
              <a:t>, SMB/CIFS, SSH, Telnet, VNC, and Ping</a:t>
            </a:r>
            <a:endParaRPr lang="en-CA" dirty="0"/>
          </a:p>
          <a:p>
            <a:endParaRPr lang="en-US" dirty="0"/>
          </a:p>
        </p:txBody>
      </p:sp>
      <p:pic>
        <p:nvPicPr>
          <p:cNvPr id="10" name="Content Placeholder 9"/>
          <p:cNvPicPr>
            <a:picLocks noGrp="1" noChangeAspect="1"/>
          </p:cNvPicPr>
          <p:nvPr>
            <p:ph idx="16"/>
          </p:nvPr>
        </p:nvPicPr>
        <p:blipFill>
          <a:blip r:embed="rId3"/>
          <a:stretch>
            <a:fillRect/>
          </a:stretch>
        </p:blipFill>
        <p:spPr>
          <a:xfrm>
            <a:off x="6441105" y="1409402"/>
            <a:ext cx="3016405" cy="3168813"/>
          </a:xfrm>
          <a:prstGeom prst="rect">
            <a:avLst/>
          </a:prstGeom>
          <a:ln>
            <a:solidFill>
              <a:schemeClr val="tx1"/>
            </a:solidFill>
          </a:ln>
        </p:spPr>
      </p:pic>
      <p:sp>
        <p:nvSpPr>
          <p:cNvPr id="17" name="Rectangle 16"/>
          <p:cNvSpPr/>
          <p:nvPr/>
        </p:nvSpPr>
        <p:spPr>
          <a:xfrm>
            <a:off x="6043661" y="4797635"/>
            <a:ext cx="5323944" cy="1631216"/>
          </a:xfrm>
          <a:prstGeom prst="rect">
            <a:avLst/>
          </a:prstGeom>
        </p:spPr>
        <p:txBody>
          <a:bodyPr wrap="square">
            <a:spAutoFit/>
          </a:bodyPr>
          <a:lstStyle/>
          <a:p>
            <a:pPr marL="60325" indent="0">
              <a:spcBef>
                <a:spcPts val="300"/>
              </a:spcBef>
              <a:buNone/>
            </a:pP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config</a:t>
            </a:r>
            <a:r>
              <a:rPr lang="en-US" dirty="0" smtClean="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vpn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ssl</a:t>
            </a:r>
            <a:r>
              <a:rPr lang="en-US" dirty="0">
                <a:latin typeface="Courier New" panose="02070309020205020404" pitchFamily="49" charset="0"/>
                <a:cs typeface="Courier New" panose="02070309020205020404" pitchFamily="49" charset="0"/>
              </a:rPr>
              <a:t> web portal </a:t>
            </a:r>
          </a:p>
          <a:p>
            <a:pPr marL="288925" indent="0">
              <a:spcBef>
                <a:spcPts val="300"/>
              </a:spcBef>
              <a:buNone/>
            </a:pPr>
            <a:r>
              <a:rPr lang="en-US" dirty="0" smtClean="0">
                <a:latin typeface="Courier New" panose="02070309020205020404" pitchFamily="49" charset="0"/>
                <a:cs typeface="Courier New" panose="02070309020205020404" pitchFamily="49" charset="0"/>
              </a:rPr>
              <a:t>  edit </a:t>
            </a:r>
            <a:r>
              <a:rPr lang="en-US" dirty="0">
                <a:latin typeface="Courier New" panose="02070309020205020404" pitchFamily="49" charset="0"/>
                <a:cs typeface="Courier New" panose="02070309020205020404" pitchFamily="49" charset="0"/>
              </a:rPr>
              <a:t>&lt;portal-name&gt;</a:t>
            </a:r>
          </a:p>
          <a:p>
            <a:pPr lvl="1">
              <a:spcBef>
                <a:spcPts val="300"/>
              </a:spcBef>
            </a:pPr>
            <a:r>
              <a:rPr lang="en-US" dirty="0" smtClean="0">
                <a:latin typeface="Courier New" panose="02070309020205020404" pitchFamily="49" charset="0"/>
                <a:cs typeface="Courier New" panose="02070309020205020404" pitchFamily="49" charset="0"/>
              </a:rPr>
              <a:t> set </a:t>
            </a:r>
            <a:r>
              <a:rPr lang="en-US" dirty="0">
                <a:latin typeface="Courier New" panose="02070309020205020404" pitchFamily="49" charset="0"/>
                <a:cs typeface="Courier New" panose="02070309020205020404" pitchFamily="49" charset="0"/>
              </a:rPr>
              <a:t>tunnel-mode [</a:t>
            </a:r>
            <a:r>
              <a:rPr lang="en-US" dirty="0" err="1">
                <a:latin typeface="Courier New" panose="02070309020205020404" pitchFamily="49" charset="0"/>
                <a:cs typeface="Courier New" panose="02070309020205020404" pitchFamily="49" charset="0"/>
              </a:rPr>
              <a:t>enable|disable</a:t>
            </a:r>
            <a:r>
              <a:rPr lang="en-US" dirty="0">
                <a:latin typeface="Courier New" panose="02070309020205020404" pitchFamily="49" charset="0"/>
                <a:cs typeface="Courier New" panose="02070309020205020404" pitchFamily="49" charset="0"/>
              </a:rPr>
              <a:t>]</a:t>
            </a:r>
          </a:p>
          <a:p>
            <a:pPr lvl="1">
              <a:spcBef>
                <a:spcPts val="300"/>
              </a:spcBef>
            </a:pPr>
            <a:r>
              <a:rPr lang="en-US" dirty="0" smtClean="0">
                <a:latin typeface="Courier New" panose="02070309020205020404" pitchFamily="49" charset="0"/>
                <a:cs typeface="Courier New" panose="02070309020205020404" pitchFamily="49" charset="0"/>
              </a:rPr>
              <a:t> set </a:t>
            </a:r>
            <a:r>
              <a:rPr lang="en-US" dirty="0">
                <a:latin typeface="Courier New" panose="02070309020205020404" pitchFamily="49" charset="0"/>
                <a:cs typeface="Courier New" panose="02070309020205020404" pitchFamily="49" charset="0"/>
              </a:rPr>
              <a:t>web-mode [</a:t>
            </a:r>
            <a:r>
              <a:rPr lang="en-US" dirty="0" err="1" smtClean="0">
                <a:latin typeface="Courier New" panose="02070309020205020404" pitchFamily="49" charset="0"/>
                <a:cs typeface="Courier New" panose="02070309020205020404" pitchFamily="49" charset="0"/>
              </a:rPr>
              <a:t>enable|disable</a:t>
            </a:r>
            <a:r>
              <a:rPr lang="en-US" dirty="0" smtClean="0">
                <a:latin typeface="Courier New" panose="02070309020205020404" pitchFamily="49" charset="0"/>
                <a:cs typeface="Courier New" panose="02070309020205020404" pitchFamily="49" charset="0"/>
              </a:rPr>
              <a:t>]</a:t>
            </a:r>
          </a:p>
          <a:p>
            <a:pPr lvl="1">
              <a:spcBef>
                <a:spcPts val="300"/>
              </a:spcBef>
            </a:pPr>
            <a:r>
              <a:rPr lang="en-US" dirty="0" smtClean="0">
                <a:latin typeface="Courier New" panose="02070309020205020404" pitchFamily="49" charset="0"/>
                <a:cs typeface="Courier New" panose="02070309020205020404" pitchFamily="49" charset="0"/>
              </a:rPr>
              <a:t>end</a:t>
            </a:r>
            <a:endParaRPr lang="en-US" dirty="0">
              <a:latin typeface="Courier New" panose="02070309020205020404" pitchFamily="49" charset="0"/>
              <a:cs typeface="Courier New" panose="02070309020205020404" pitchFamily="49" charset="0"/>
            </a:endParaRPr>
          </a:p>
        </p:txBody>
      </p:sp>
      <p:sp>
        <p:nvSpPr>
          <p:cNvPr id="19" name="Rectangle 18"/>
          <p:cNvSpPr/>
          <p:nvPr/>
        </p:nvSpPr>
        <p:spPr>
          <a:xfrm>
            <a:off x="7235370" y="5763990"/>
            <a:ext cx="1193800" cy="279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0" name="Rectangle 19"/>
          <p:cNvSpPr/>
          <p:nvPr/>
        </p:nvSpPr>
        <p:spPr>
          <a:xfrm>
            <a:off x="7245931" y="5417449"/>
            <a:ext cx="1600200" cy="315221"/>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2" name="Rectangle 21"/>
          <p:cNvSpPr/>
          <p:nvPr/>
        </p:nvSpPr>
        <p:spPr bwMode="invGray">
          <a:xfrm>
            <a:off x="6441352" y="1006347"/>
            <a:ext cx="2504693" cy="350437"/>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a:t>VPN </a:t>
            </a:r>
            <a:r>
              <a:rPr lang="en-CA" sz="1600" dirty="0"/>
              <a:t>&gt;</a:t>
            </a:r>
            <a:r>
              <a:rPr lang="en-CA" sz="1600" b="1" dirty="0"/>
              <a:t> </a:t>
            </a:r>
            <a:r>
              <a:rPr lang="en-CA" sz="1600" b="1" dirty="0" smtClean="0"/>
              <a:t>SSL VPN </a:t>
            </a:r>
            <a:r>
              <a:rPr lang="en-CA" sz="1600" b="1" dirty="0"/>
              <a:t>Portals</a:t>
            </a:r>
          </a:p>
        </p:txBody>
      </p:sp>
      <p:sp>
        <p:nvSpPr>
          <p:cNvPr id="21" name="Rectangle 20"/>
          <p:cNvSpPr/>
          <p:nvPr/>
        </p:nvSpPr>
        <p:spPr>
          <a:xfrm>
            <a:off x="6441105" y="2450972"/>
            <a:ext cx="1239530" cy="2526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3" name="Rectangle 22"/>
          <p:cNvSpPr/>
          <p:nvPr/>
        </p:nvSpPr>
        <p:spPr>
          <a:xfrm>
            <a:off x="6453713" y="4284616"/>
            <a:ext cx="887613" cy="29359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extLst>
      <p:ext uri="{BB962C8B-B14F-4D97-AF65-F5344CB8AC3E}">
        <p14:creationId xmlns:p14="http://schemas.microsoft.com/office/powerpoint/2010/main" val="273499174"/>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6"/>
          </p:nvPr>
        </p:nvSpPr>
        <p:spPr/>
        <p:txBody>
          <a:bodyPr/>
          <a:lstStyle/>
          <a:p>
            <a:endParaRPr lang="en-US"/>
          </a:p>
        </p:txBody>
      </p:sp>
      <p:sp>
        <p:nvSpPr>
          <p:cNvPr id="39" name="Content Placeholder 38"/>
          <p:cNvSpPr>
            <a:spLocks noGrp="1"/>
          </p:cNvSpPr>
          <p:nvPr>
            <p:ph idx="15"/>
          </p:nvPr>
        </p:nvSpPr>
        <p:spPr/>
        <p:txBody>
          <a:bodyPr>
            <a:normAutofit lnSpcReduction="10000"/>
          </a:bodyPr>
          <a:lstStyle/>
          <a:p>
            <a:pPr>
              <a:lnSpc>
                <a:spcPct val="110000"/>
              </a:lnSpc>
            </a:pPr>
            <a:r>
              <a:rPr lang="en-US" dirty="0"/>
              <a:t>Connect to </a:t>
            </a:r>
            <a:r>
              <a:rPr lang="en-US" dirty="0" smtClean="0"/>
              <a:t>the FortiGate </a:t>
            </a:r>
            <a:r>
              <a:rPr lang="en-CA" dirty="0" smtClean="0"/>
              <a:t>SSL VPN </a:t>
            </a:r>
            <a:r>
              <a:rPr lang="en-CA" dirty="0"/>
              <a:t>portal</a:t>
            </a:r>
            <a:r>
              <a:rPr lang="en-US" dirty="0"/>
              <a:t> from any browser</a:t>
            </a:r>
          </a:p>
          <a:p>
            <a:pPr lvl="1">
              <a:lnSpc>
                <a:spcPct val="110000"/>
              </a:lnSpc>
            </a:pPr>
            <a:r>
              <a:rPr lang="en-US" dirty="0"/>
              <a:t>The web portal displays the status of </a:t>
            </a:r>
            <a:r>
              <a:rPr lang="en-US" dirty="0" smtClean="0"/>
              <a:t>SSL VPN</a:t>
            </a:r>
            <a:endParaRPr lang="en-US" dirty="0"/>
          </a:p>
          <a:p>
            <a:pPr lvl="1">
              <a:lnSpc>
                <a:spcPct val="110000"/>
              </a:lnSpc>
            </a:pPr>
            <a:r>
              <a:rPr lang="en-US" dirty="0"/>
              <a:t>The </a:t>
            </a:r>
            <a:r>
              <a:rPr lang="en-US" dirty="0" smtClean="0"/>
              <a:t>SSL VPN </a:t>
            </a:r>
            <a:r>
              <a:rPr lang="en-US" dirty="0"/>
              <a:t>stays up only while the </a:t>
            </a:r>
            <a:r>
              <a:rPr lang="en-US" dirty="0" smtClean="0"/>
              <a:t>SSL VPN </a:t>
            </a:r>
            <a:r>
              <a:rPr lang="en-US" dirty="0"/>
              <a:t>portal page is open</a:t>
            </a:r>
          </a:p>
          <a:p>
            <a:pPr>
              <a:lnSpc>
                <a:spcPct val="110000"/>
              </a:lnSpc>
            </a:pPr>
            <a:r>
              <a:rPr lang="en-US" dirty="0"/>
              <a:t>Access internal network resources easily using:</a:t>
            </a:r>
          </a:p>
          <a:p>
            <a:pPr lvl="1">
              <a:lnSpc>
                <a:spcPct val="110000"/>
              </a:lnSpc>
            </a:pPr>
            <a:r>
              <a:rPr lang="en-US" dirty="0"/>
              <a:t>Bookmarks</a:t>
            </a:r>
          </a:p>
          <a:p>
            <a:pPr lvl="1">
              <a:lnSpc>
                <a:spcPct val="110000"/>
              </a:lnSpc>
            </a:pPr>
            <a:r>
              <a:rPr lang="en-US" dirty="0"/>
              <a:t>Quick connection</a:t>
            </a:r>
          </a:p>
          <a:p>
            <a:pPr>
              <a:lnSpc>
                <a:spcPct val="110000"/>
              </a:lnSpc>
            </a:pPr>
            <a:r>
              <a:rPr lang="en-US" dirty="0"/>
              <a:t>Disadvantages: </a:t>
            </a:r>
          </a:p>
          <a:p>
            <a:pPr lvl="1">
              <a:lnSpc>
                <a:spcPct val="110000"/>
              </a:lnSpc>
            </a:pPr>
            <a:r>
              <a:rPr lang="en-US" dirty="0"/>
              <a:t>Interaction with the internal network exclusively by browser</a:t>
            </a:r>
          </a:p>
          <a:p>
            <a:pPr lvl="2">
              <a:lnSpc>
                <a:spcPct val="110000"/>
              </a:lnSpc>
            </a:pPr>
            <a:r>
              <a:rPr lang="en-US" dirty="0"/>
              <a:t>Through the </a:t>
            </a:r>
            <a:r>
              <a:rPr lang="en-US" dirty="0" smtClean="0"/>
              <a:t>SSL VPN </a:t>
            </a:r>
            <a:r>
              <a:rPr lang="en-US" dirty="0"/>
              <a:t>portal</a:t>
            </a:r>
          </a:p>
          <a:p>
            <a:pPr lvl="2">
              <a:lnSpc>
                <a:spcPct val="110000"/>
              </a:lnSpc>
            </a:pPr>
            <a:r>
              <a:rPr lang="en-US" dirty="0"/>
              <a:t>External network applications cannot send data across the VPN</a:t>
            </a:r>
          </a:p>
          <a:p>
            <a:pPr lvl="1">
              <a:lnSpc>
                <a:spcPct val="110000"/>
              </a:lnSpc>
            </a:pPr>
            <a:r>
              <a:rPr lang="en-US" dirty="0"/>
              <a:t>Limited number of protocols supported</a:t>
            </a:r>
          </a:p>
          <a:p>
            <a:pPr>
              <a:lnSpc>
                <a:spcPct val="110000"/>
              </a:lnSpc>
            </a:pPr>
            <a:endParaRPr lang="en-US" dirty="0"/>
          </a:p>
          <a:p>
            <a:pPr>
              <a:lnSpc>
                <a:spcPct val="110000"/>
              </a:lnSpc>
            </a:pPr>
            <a:endParaRPr lang="en-CA" dirty="0"/>
          </a:p>
          <a:p>
            <a:pPr>
              <a:lnSpc>
                <a:spcPct val="110000"/>
              </a:lnSpc>
            </a:pPr>
            <a:endParaRPr lang="en-US" dirty="0"/>
          </a:p>
        </p:txBody>
      </p:sp>
      <p:sp>
        <p:nvSpPr>
          <p:cNvPr id="2" name="Title 1"/>
          <p:cNvSpPr>
            <a:spLocks noGrp="1"/>
          </p:cNvSpPr>
          <p:nvPr>
            <p:ph type="title"/>
          </p:nvPr>
        </p:nvSpPr>
        <p:spPr/>
        <p:txBody>
          <a:bodyPr/>
          <a:lstStyle/>
          <a:p>
            <a:r>
              <a:rPr lang="en-US" dirty="0"/>
              <a:t>Web Mode</a:t>
            </a:r>
            <a:endParaRPr lang="en-CA" dirty="0"/>
          </a:p>
        </p:txBody>
      </p:sp>
      <p:pic>
        <p:nvPicPr>
          <p:cNvPr id="5" name="Picture 4"/>
          <p:cNvPicPr>
            <a:picLocks noChangeAspect="1"/>
          </p:cNvPicPr>
          <p:nvPr/>
        </p:nvPicPr>
        <p:blipFill>
          <a:blip r:embed="rId4"/>
          <a:stretch>
            <a:fillRect/>
          </a:stretch>
        </p:blipFill>
        <p:spPr>
          <a:xfrm>
            <a:off x="6894000" y="891014"/>
            <a:ext cx="4570690" cy="5554772"/>
          </a:xfrm>
          <a:prstGeom prst="rect">
            <a:avLst/>
          </a:prstGeom>
        </p:spPr>
      </p:pic>
    </p:spTree>
    <p:custDataLst>
      <p:tags r:id="rId1"/>
    </p:custDataLst>
    <p:extLst>
      <p:ext uri="{BB962C8B-B14F-4D97-AF65-F5344CB8AC3E}">
        <p14:creationId xmlns:p14="http://schemas.microsoft.com/office/powerpoint/2010/main" val="2140106959"/>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0"/>
          <p:cNvCxnSpPr>
            <a:cxnSpLocks/>
          </p:cNvCxnSpPr>
          <p:nvPr/>
        </p:nvCxnSpPr>
        <p:spPr bwMode="auto">
          <a:xfrm flipH="1">
            <a:off x="2683966" y="3428954"/>
            <a:ext cx="6985824" cy="612017"/>
          </a:xfrm>
          <a:prstGeom prst="line">
            <a:avLst/>
          </a:prstGeom>
          <a:ln>
            <a:headEnd/>
            <a:tailEnd/>
          </a:ln>
          <a:extLst/>
        </p:spPr>
        <p:style>
          <a:lnRef idx="2">
            <a:schemeClr val="accent3"/>
          </a:lnRef>
          <a:fillRef idx="0">
            <a:schemeClr val="accent3"/>
          </a:fillRef>
          <a:effectRef idx="1">
            <a:schemeClr val="accent3"/>
          </a:effectRef>
          <a:fontRef idx="minor">
            <a:schemeClr val="tx1"/>
          </a:fontRef>
        </p:style>
      </p:cxnSp>
      <p:sp>
        <p:nvSpPr>
          <p:cNvPr id="2" name="Title 1"/>
          <p:cNvSpPr>
            <a:spLocks noGrp="1"/>
          </p:cNvSpPr>
          <p:nvPr>
            <p:ph type="title"/>
          </p:nvPr>
        </p:nvSpPr>
        <p:spPr/>
        <p:txBody>
          <a:bodyPr/>
          <a:lstStyle/>
          <a:p>
            <a:r>
              <a:rPr lang="en-US" dirty="0"/>
              <a:t>Web Mode (</a:t>
            </a:r>
            <a:r>
              <a:rPr lang="en-US" dirty="0" err="1"/>
              <a:t>Contd</a:t>
            </a:r>
            <a:r>
              <a:rPr lang="en-US" dirty="0"/>
              <a:t>)</a:t>
            </a:r>
            <a:endParaRPr lang="en-CA" dirty="0"/>
          </a:p>
        </p:txBody>
      </p:sp>
      <p:sp>
        <p:nvSpPr>
          <p:cNvPr id="3" name="Content Placeholder 2"/>
          <p:cNvSpPr>
            <a:spLocks noGrp="1"/>
          </p:cNvSpPr>
          <p:nvPr>
            <p:ph idx="1"/>
          </p:nvPr>
        </p:nvSpPr>
        <p:spPr/>
        <p:txBody>
          <a:bodyPr/>
          <a:lstStyle/>
          <a:p>
            <a:pPr marL="457200" indent="-457200">
              <a:buFont typeface="+mj-lt"/>
              <a:buAutoNum type="arabicPeriod"/>
            </a:pPr>
            <a:r>
              <a:rPr lang="en-CA" dirty="0"/>
              <a:t>Remote users connect to the </a:t>
            </a:r>
            <a:r>
              <a:rPr lang="en-CA" dirty="0" smtClean="0"/>
              <a:t>SSL VPN </a:t>
            </a:r>
            <a:r>
              <a:rPr lang="en-CA" dirty="0"/>
              <a:t>portal—HTTPS web page on </a:t>
            </a:r>
            <a:r>
              <a:rPr lang="en-CA" dirty="0" smtClean="0"/>
              <a:t>FortiGate</a:t>
            </a:r>
            <a:endParaRPr lang="en-CA" dirty="0"/>
          </a:p>
          <a:p>
            <a:pPr marL="457200" indent="-457200">
              <a:buFont typeface="+mj-lt"/>
              <a:buAutoNum type="arabicPeriod"/>
            </a:pPr>
            <a:r>
              <a:rPr lang="en-CA" dirty="0"/>
              <a:t>Users </a:t>
            </a:r>
            <a:r>
              <a:rPr lang="en-CA" dirty="0" smtClean="0"/>
              <a:t>authenticate</a:t>
            </a:r>
            <a:endParaRPr lang="en-CA" dirty="0"/>
          </a:p>
          <a:p>
            <a:pPr marL="457200" indent="-457200">
              <a:buFont typeface="+mj-lt"/>
              <a:buAutoNum type="arabicPeriod"/>
            </a:pPr>
            <a:r>
              <a:rPr lang="en-CA" dirty="0"/>
              <a:t>Users access resources through the </a:t>
            </a:r>
            <a:r>
              <a:rPr lang="en-CA" b="1" dirty="0"/>
              <a:t>Quick Connection </a:t>
            </a:r>
            <a:r>
              <a:rPr lang="en-CA" dirty="0"/>
              <a:t>launcher or </a:t>
            </a:r>
            <a:r>
              <a:rPr lang="en-CA" b="1" dirty="0" smtClean="0"/>
              <a:t>Bookmarks</a:t>
            </a:r>
            <a:endParaRPr lang="en-CA" dirty="0"/>
          </a:p>
        </p:txBody>
      </p:sp>
      <p:sp>
        <p:nvSpPr>
          <p:cNvPr id="8" name="Oval 30"/>
          <p:cNvSpPr>
            <a:spLocks noChangeArrowheads="1"/>
          </p:cNvSpPr>
          <p:nvPr/>
        </p:nvSpPr>
        <p:spPr bwMode="auto">
          <a:xfrm>
            <a:off x="1925589" y="3897959"/>
            <a:ext cx="146447"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dirty="0"/>
          </a:p>
        </p:txBody>
      </p:sp>
      <p:sp>
        <p:nvSpPr>
          <p:cNvPr id="9" name="Oval 47"/>
          <p:cNvSpPr>
            <a:spLocks noChangeArrowheads="1"/>
          </p:cNvSpPr>
          <p:nvPr/>
        </p:nvSpPr>
        <p:spPr bwMode="auto">
          <a:xfrm>
            <a:off x="1925589" y="3899149"/>
            <a:ext cx="146447"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dirty="0"/>
          </a:p>
        </p:txBody>
      </p:sp>
      <p:sp>
        <p:nvSpPr>
          <p:cNvPr id="10" name="Oval 27"/>
          <p:cNvSpPr>
            <a:spLocks noChangeArrowheads="1"/>
          </p:cNvSpPr>
          <p:nvPr/>
        </p:nvSpPr>
        <p:spPr bwMode="auto">
          <a:xfrm>
            <a:off x="2039889" y="3851524"/>
            <a:ext cx="146447"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dirty="0"/>
          </a:p>
        </p:txBody>
      </p:sp>
      <p:sp>
        <p:nvSpPr>
          <p:cNvPr id="11" name="Oval 39"/>
          <p:cNvSpPr>
            <a:spLocks noChangeArrowheads="1"/>
          </p:cNvSpPr>
          <p:nvPr/>
        </p:nvSpPr>
        <p:spPr bwMode="auto">
          <a:xfrm>
            <a:off x="2039889" y="3851524"/>
            <a:ext cx="146447"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dirty="0"/>
          </a:p>
        </p:txBody>
      </p:sp>
      <p:pic>
        <p:nvPicPr>
          <p:cNvPr id="12" name="Picture 11" descr="LAN_Network.png"/>
          <p:cNvPicPr>
            <a:picLocks noChangeAspect="1"/>
          </p:cNvPicPr>
          <p:nvPr/>
        </p:nvPicPr>
        <p:blipFill>
          <a:blip r:embed="rId4" cstate="print"/>
          <a:stretch>
            <a:fillRect/>
          </a:stretch>
        </p:blipFill>
        <p:spPr>
          <a:xfrm>
            <a:off x="9130886" y="2507533"/>
            <a:ext cx="2005754" cy="1865491"/>
          </a:xfrm>
          <a:prstGeom prst="rect">
            <a:avLst/>
          </a:prstGeom>
        </p:spPr>
      </p:pic>
      <p:pic>
        <p:nvPicPr>
          <p:cNvPr id="13" name="Picture 12"/>
          <p:cNvPicPr>
            <a:picLocks noChangeAspect="1"/>
          </p:cNvPicPr>
          <p:nvPr/>
        </p:nvPicPr>
        <p:blipFill>
          <a:blip r:embed="rId5" cstate="print"/>
          <a:stretch>
            <a:fillRect/>
          </a:stretch>
        </p:blipFill>
        <p:spPr>
          <a:xfrm>
            <a:off x="1310064" y="2835420"/>
            <a:ext cx="1571801" cy="2046993"/>
          </a:xfrm>
          <a:prstGeom prst="rect">
            <a:avLst/>
          </a:prstGeom>
        </p:spPr>
      </p:pic>
      <p:pic>
        <p:nvPicPr>
          <p:cNvPr id="15" name="Picture 37" descr="angled web pag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17613" y="3252628"/>
            <a:ext cx="903147" cy="1014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8" descr="angled web pag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147485" y="3403906"/>
            <a:ext cx="367814" cy="664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46" descr="angled porta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21411550">
            <a:off x="1996461" y="3328474"/>
            <a:ext cx="721683" cy="8150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40" descr="angled auth pag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21291354">
            <a:off x="2011082" y="3320611"/>
            <a:ext cx="694141" cy="89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Rounded Rectangular Callout 18"/>
          <p:cNvSpPr/>
          <p:nvPr/>
        </p:nvSpPr>
        <p:spPr bwMode="auto">
          <a:xfrm>
            <a:off x="5661284" y="2364261"/>
            <a:ext cx="3231375" cy="667650"/>
          </a:xfrm>
          <a:prstGeom prst="wedgeRoundRectCallout">
            <a:avLst>
              <a:gd name="adj1" fmla="val -3165"/>
              <a:gd name="adj2" fmla="val 116058"/>
              <a:gd name="adj3" fmla="val 16667"/>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685800" eaLnBrk="0" fontAlgn="base" hangingPunct="0">
              <a:spcBef>
                <a:spcPct val="20000"/>
              </a:spcBef>
              <a:spcAft>
                <a:spcPct val="0"/>
              </a:spcAft>
              <a:buClr>
                <a:schemeClr val="accent1"/>
              </a:buClr>
              <a:buSzPct val="90000"/>
            </a:pPr>
            <a:r>
              <a:rPr lang="en-US" sz="1600" dirty="0"/>
              <a:t>User’s source IP is replaced by FortiGate’s internal IP address</a:t>
            </a:r>
            <a:endParaRPr lang="en-CA" sz="1600" dirty="0"/>
          </a:p>
        </p:txBody>
      </p:sp>
      <p:pic>
        <p:nvPicPr>
          <p:cNvPr id="20" name="Picture 2"/>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flipH="1">
            <a:off x="934843" y="3664377"/>
            <a:ext cx="750442" cy="996556"/>
          </a:xfrm>
          <a:prstGeom prst="rect">
            <a:avLst/>
          </a:prstGeom>
          <a:noFill/>
        </p:spPr>
      </p:pic>
      <p:pic>
        <p:nvPicPr>
          <p:cNvPr id="21" name="Picture 20"/>
          <p:cNvPicPr>
            <a:picLocks noChangeAspect="1"/>
          </p:cNvPicPr>
          <p:nvPr/>
        </p:nvPicPr>
        <p:blipFill>
          <a:blip r:embed="rId11" cstate="print"/>
          <a:stretch>
            <a:fillRect/>
          </a:stretch>
        </p:blipFill>
        <p:spPr>
          <a:xfrm>
            <a:off x="6058323" y="3283975"/>
            <a:ext cx="1086455" cy="756996"/>
          </a:xfrm>
          <a:prstGeom prst="rect">
            <a:avLst/>
          </a:prstGeom>
        </p:spPr>
      </p:pic>
      <p:pic>
        <p:nvPicPr>
          <p:cNvPr id="24" name="Picture 60"/>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016133" y="3332931"/>
            <a:ext cx="1208147" cy="780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Rounded Rectangular Callout 32"/>
          <p:cNvSpPr/>
          <p:nvPr/>
        </p:nvSpPr>
        <p:spPr bwMode="invGray">
          <a:xfrm>
            <a:off x="8115828" y="4660933"/>
            <a:ext cx="3696167" cy="1333467"/>
          </a:xfrm>
          <a:prstGeom prst="wedgeRoundRectCallout">
            <a:avLst>
              <a:gd name="adj1" fmla="val -38455"/>
              <a:gd name="adj2" fmla="val -84932"/>
              <a:gd name="adj3" fmla="val 16667"/>
            </a:avLst>
          </a:prstGeom>
          <a:solidFill>
            <a:srgbClr val="00B0F0"/>
          </a:solidFill>
          <a:ln w="38100">
            <a:solidFill>
              <a:srgbClr val="00B0F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8" name="Group 27"/>
          <p:cNvGrpSpPr/>
          <p:nvPr/>
        </p:nvGrpSpPr>
        <p:grpSpPr>
          <a:xfrm>
            <a:off x="7227849" y="3664378"/>
            <a:ext cx="2217439" cy="601903"/>
            <a:chOff x="3634803" y="4121181"/>
            <a:chExt cx="2217439" cy="601903"/>
          </a:xfrm>
        </p:grpSpPr>
        <p:sp>
          <p:nvSpPr>
            <p:cNvPr id="30" name="TextBox 29"/>
            <p:cNvSpPr txBox="1"/>
            <p:nvPr/>
          </p:nvSpPr>
          <p:spPr>
            <a:xfrm rot="21275734">
              <a:off x="3703791" y="4199864"/>
              <a:ext cx="2148451" cy="523220"/>
            </a:xfrm>
            <a:prstGeom prst="rect">
              <a:avLst/>
            </a:prstGeom>
            <a:noFill/>
          </p:spPr>
          <p:txBody>
            <a:bodyPr wrap="square" rtlCol="0">
              <a:spAutoFit/>
            </a:bodyPr>
            <a:lstStyle/>
            <a:p>
              <a:r>
                <a:rPr lang="en-US" sz="1400" dirty="0">
                  <a:solidFill>
                    <a:srgbClr val="FF0000"/>
                  </a:solidFill>
                </a:rPr>
                <a:t>By </a:t>
              </a:r>
              <a:r>
                <a:rPr lang="en-US" sz="1400" b="1" dirty="0">
                  <a:solidFill>
                    <a:srgbClr val="FF0000"/>
                  </a:solidFill>
                </a:rPr>
                <a:t>Quick Connection</a:t>
              </a:r>
              <a:r>
                <a:rPr lang="en-US" sz="1400" dirty="0">
                  <a:solidFill>
                    <a:srgbClr val="FF0000"/>
                  </a:solidFill>
                </a:rPr>
                <a:t> launcher or </a:t>
              </a:r>
              <a:r>
                <a:rPr lang="en-US" sz="1400" b="1" dirty="0">
                  <a:solidFill>
                    <a:srgbClr val="FF0000"/>
                  </a:solidFill>
                </a:rPr>
                <a:t>Bookmarks</a:t>
              </a:r>
            </a:p>
          </p:txBody>
        </p:sp>
        <p:cxnSp>
          <p:nvCxnSpPr>
            <p:cNvPr id="29" name="Straight Connector 28"/>
            <p:cNvCxnSpPr/>
            <p:nvPr/>
          </p:nvCxnSpPr>
          <p:spPr>
            <a:xfrm flipV="1">
              <a:off x="3634803" y="4121181"/>
              <a:ext cx="1975423" cy="192633"/>
            </a:xfrm>
            <a:prstGeom prst="line">
              <a:avLst/>
            </a:prstGeom>
            <a:ln w="38100">
              <a:solidFill>
                <a:srgbClr val="FF0000"/>
              </a:solidFill>
              <a:prstDash val="dash"/>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grpSp>
      <p:sp>
        <p:nvSpPr>
          <p:cNvPr id="35" name="Right Arrow 34"/>
          <p:cNvSpPr/>
          <p:nvPr/>
        </p:nvSpPr>
        <p:spPr bwMode="invGray">
          <a:xfrm>
            <a:off x="3982265" y="5477933"/>
            <a:ext cx="479667" cy="257089"/>
          </a:xfrm>
          <a:prstGeom prst="rightArrow">
            <a:avLst/>
          </a:prstGeom>
          <a:solidFill>
            <a:schemeClr val="bg2"/>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4" name="Picture 3"/>
          <p:cNvPicPr>
            <a:picLocks noChangeAspect="1"/>
          </p:cNvPicPr>
          <p:nvPr/>
        </p:nvPicPr>
        <p:blipFill>
          <a:blip r:embed="rId13"/>
          <a:stretch>
            <a:fillRect/>
          </a:stretch>
        </p:blipFill>
        <p:spPr>
          <a:xfrm>
            <a:off x="4775815" y="4338212"/>
            <a:ext cx="2618987" cy="2001654"/>
          </a:xfrm>
          <a:prstGeom prst="rect">
            <a:avLst/>
          </a:prstGeom>
          <a:ln>
            <a:solidFill>
              <a:schemeClr val="tx1"/>
            </a:solidFill>
          </a:ln>
        </p:spPr>
      </p:pic>
      <p:sp>
        <p:nvSpPr>
          <p:cNvPr id="34" name="Rectangle 33"/>
          <p:cNvSpPr/>
          <p:nvPr/>
        </p:nvSpPr>
        <p:spPr bwMode="auto">
          <a:xfrm>
            <a:off x="4864692" y="5327303"/>
            <a:ext cx="2267385" cy="602056"/>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err="1">
              <a:ln>
                <a:noFill/>
              </a:ln>
            </a:endParaRPr>
          </a:p>
        </p:txBody>
      </p:sp>
      <p:sp>
        <p:nvSpPr>
          <p:cNvPr id="38" name="Rectangle 37"/>
          <p:cNvSpPr/>
          <p:nvPr/>
        </p:nvSpPr>
        <p:spPr bwMode="auto">
          <a:xfrm>
            <a:off x="4852415" y="6049415"/>
            <a:ext cx="1571266" cy="207369"/>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err="1">
              <a:ln>
                <a:noFill/>
              </a:ln>
            </a:endParaRPr>
          </a:p>
        </p:txBody>
      </p:sp>
      <p:grpSp>
        <p:nvGrpSpPr>
          <p:cNvPr id="39" name="Group 38"/>
          <p:cNvGrpSpPr/>
          <p:nvPr/>
        </p:nvGrpSpPr>
        <p:grpSpPr>
          <a:xfrm>
            <a:off x="3005703" y="3899149"/>
            <a:ext cx="3545590" cy="437752"/>
            <a:chOff x="3048038" y="4060022"/>
            <a:chExt cx="3545590" cy="437752"/>
          </a:xfrm>
        </p:grpSpPr>
        <p:cxnSp>
          <p:nvCxnSpPr>
            <p:cNvPr id="40" name="Straight Connector 39"/>
            <p:cNvCxnSpPr/>
            <p:nvPr/>
          </p:nvCxnSpPr>
          <p:spPr>
            <a:xfrm flipV="1">
              <a:off x="3048038" y="4060022"/>
              <a:ext cx="3310429" cy="272264"/>
            </a:xfrm>
            <a:prstGeom prst="line">
              <a:avLst/>
            </a:prstGeom>
            <a:ln w="38100">
              <a:solidFill>
                <a:srgbClr val="FF0000"/>
              </a:solidFill>
              <a:prstDash val="dash"/>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rot="21275734">
              <a:off x="3566366" y="4189997"/>
              <a:ext cx="3027262" cy="307777"/>
            </a:xfrm>
            <a:prstGeom prst="rect">
              <a:avLst/>
            </a:prstGeom>
            <a:noFill/>
          </p:spPr>
          <p:txBody>
            <a:bodyPr wrap="square" rtlCol="0">
              <a:spAutoFit/>
            </a:bodyPr>
            <a:lstStyle/>
            <a:p>
              <a:r>
                <a:rPr lang="en-US" sz="1400" dirty="0">
                  <a:solidFill>
                    <a:srgbClr val="FF0000"/>
                  </a:solidFill>
                </a:rPr>
                <a:t>HTTPS to </a:t>
              </a:r>
              <a:r>
                <a:rPr lang="en-US" sz="1400" dirty="0" smtClean="0">
                  <a:solidFill>
                    <a:srgbClr val="FF0000"/>
                  </a:solidFill>
                </a:rPr>
                <a:t>SSL VPN </a:t>
              </a:r>
              <a:r>
                <a:rPr lang="en-US" sz="1400" dirty="0">
                  <a:solidFill>
                    <a:srgbClr val="FF0000"/>
                  </a:solidFill>
                </a:rPr>
                <a:t>Portal</a:t>
              </a:r>
            </a:p>
          </p:txBody>
        </p:sp>
      </p:grpSp>
      <p:pic>
        <p:nvPicPr>
          <p:cNvPr id="23" name="Picture 22"/>
          <p:cNvPicPr>
            <a:picLocks noChangeAspect="1"/>
          </p:cNvPicPr>
          <p:nvPr/>
        </p:nvPicPr>
        <p:blipFill>
          <a:blip r:embed="rId14"/>
          <a:stretch>
            <a:fillRect/>
          </a:stretch>
        </p:blipFill>
        <p:spPr>
          <a:xfrm>
            <a:off x="1903921" y="5078039"/>
            <a:ext cx="2261679" cy="1277490"/>
          </a:xfrm>
          <a:prstGeom prst="rect">
            <a:avLst/>
          </a:prstGeom>
          <a:ln>
            <a:solidFill>
              <a:schemeClr val="tx1"/>
            </a:solidFill>
          </a:ln>
        </p:spPr>
      </p:pic>
      <p:pic>
        <p:nvPicPr>
          <p:cNvPr id="5" name="Picture 4"/>
          <p:cNvPicPr>
            <a:picLocks noChangeAspect="1"/>
          </p:cNvPicPr>
          <p:nvPr/>
        </p:nvPicPr>
        <p:blipFill>
          <a:blip r:embed="rId15"/>
          <a:stretch>
            <a:fillRect/>
          </a:stretch>
        </p:blipFill>
        <p:spPr>
          <a:xfrm>
            <a:off x="8197785" y="4724396"/>
            <a:ext cx="3530781" cy="1219263"/>
          </a:xfrm>
          <a:prstGeom prst="rect">
            <a:avLst/>
          </a:prstGeom>
        </p:spPr>
      </p:pic>
    </p:spTree>
    <p:custDataLst>
      <p:tags r:id="rId1"/>
    </p:custDataLst>
    <p:extLst>
      <p:ext uri="{BB962C8B-B14F-4D97-AF65-F5344CB8AC3E}">
        <p14:creationId xmlns:p14="http://schemas.microsoft.com/office/powerpoint/2010/main" val="112381949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750"/>
                                        <p:tgtEl>
                                          <p:spTgt spid="15"/>
                                        </p:tgtEl>
                                      </p:cBhvr>
                                    </p:animEffect>
                                  </p:childTnLst>
                                </p:cTn>
                              </p:par>
                            </p:childTnLst>
                          </p:cTn>
                        </p:par>
                        <p:par>
                          <p:cTn id="8" fill="hold">
                            <p:stCondLst>
                              <p:cond delay="750"/>
                            </p:stCondLst>
                            <p:childTnLst>
                              <p:par>
                                <p:cTn id="9" presetID="0" presetClass="path" presetSubtype="0" accel="50000" decel="50000" fill="hold" grpId="0" nodeType="afterEffect">
                                  <p:stCondLst>
                                    <p:cond delay="0"/>
                                  </p:stCondLst>
                                  <p:childTnLst>
                                    <p:animMotion origin="layout" path="M 0.03933 0.01042 L 0.36238 -0.03866 " pathEditMode="relative" rAng="0" ptsTypes="AA">
                                      <p:cBhvr>
                                        <p:cTn id="10" dur="1250" fill="hold"/>
                                        <p:tgtEl>
                                          <p:spTgt spid="10"/>
                                        </p:tgtEl>
                                        <p:attrNameLst>
                                          <p:attrName>ppt_x</p:attrName>
                                          <p:attrName>ppt_y</p:attrName>
                                        </p:attrNameLst>
                                      </p:cBhvr>
                                      <p:rCtr x="16152" y="-2454"/>
                                    </p:animMotion>
                                  </p:childTnLst>
                                </p:cTn>
                              </p:par>
                            </p:childTnLst>
                          </p:cTn>
                        </p:par>
                        <p:par>
                          <p:cTn id="11" fill="hold">
                            <p:stCondLst>
                              <p:cond delay="2000"/>
                            </p:stCondLst>
                            <p:childTnLst>
                              <p:par>
                                <p:cTn id="12" presetID="0" presetClass="path" presetSubtype="0" accel="50000" decel="50000" fill="hold" grpId="0" nodeType="afterEffect">
                                  <p:stCondLst>
                                    <p:cond delay="0"/>
                                  </p:stCondLst>
                                  <p:childTnLst>
                                    <p:animMotion origin="layout" path="M 0.04285 0.01273 L 0.36051 -0.04166 " pathEditMode="relative" rAng="0" ptsTypes="AA">
                                      <p:cBhvr>
                                        <p:cTn id="13" dur="1250" spd="-100000" fill="hold"/>
                                        <p:tgtEl>
                                          <p:spTgt spid="11"/>
                                        </p:tgtEl>
                                        <p:attrNameLst>
                                          <p:attrName>ppt_x</p:attrName>
                                          <p:attrName>ppt_y</p:attrName>
                                        </p:attrNameLst>
                                      </p:cBhvr>
                                      <p:rCtr x="15877" y="-2731"/>
                                    </p:animMotion>
                                  </p:childTnLst>
                                </p:cTn>
                              </p:par>
                            </p:childTnLst>
                          </p:cTn>
                        </p:par>
                        <p:par>
                          <p:cTn id="14" fill="hold">
                            <p:stCondLst>
                              <p:cond delay="3250"/>
                            </p:stCondLst>
                            <p:childTnLst>
                              <p:par>
                                <p:cTn id="15" presetID="1" presetClass="exit" presetSubtype="0" fill="hold" nodeType="afterEffect">
                                  <p:stCondLst>
                                    <p:cond delay="0"/>
                                  </p:stCondLst>
                                  <p:childTnLst>
                                    <p:set>
                                      <p:cBhvr>
                                        <p:cTn id="16" dur="1" fill="hold">
                                          <p:stCondLst>
                                            <p:cond delay="0"/>
                                          </p:stCondLst>
                                        </p:cTn>
                                        <p:tgtEl>
                                          <p:spTgt spid="15"/>
                                        </p:tgtEl>
                                        <p:attrNameLst>
                                          <p:attrName>style.visibility</p:attrName>
                                        </p:attrNameLst>
                                      </p:cBhvr>
                                      <p:to>
                                        <p:strVal val="hidden"/>
                                      </p:to>
                                    </p:set>
                                  </p:childTnLst>
                                </p:cTn>
                              </p:par>
                            </p:childTnLst>
                          </p:cTn>
                        </p:par>
                        <p:par>
                          <p:cTn id="17" fill="hold">
                            <p:stCondLst>
                              <p:cond delay="3250"/>
                            </p:stCondLst>
                            <p:childTnLst>
                              <p:par>
                                <p:cTn id="18" presetID="9" presetClass="entr" presetSubtype="0" fill="hold" nodeType="afterEffect">
                                  <p:stCondLst>
                                    <p:cond delay="250"/>
                                  </p:stCondLst>
                                  <p:childTnLst>
                                    <p:set>
                                      <p:cBhvr>
                                        <p:cTn id="19" dur="1" fill="hold">
                                          <p:stCondLst>
                                            <p:cond delay="0"/>
                                          </p:stCondLst>
                                        </p:cTn>
                                        <p:tgtEl>
                                          <p:spTgt spid="18"/>
                                        </p:tgtEl>
                                        <p:attrNameLst>
                                          <p:attrName>style.visibility</p:attrName>
                                        </p:attrNameLst>
                                      </p:cBhvr>
                                      <p:to>
                                        <p:strVal val="visible"/>
                                      </p:to>
                                    </p:set>
                                    <p:animEffect transition="in" filter="dissolve">
                                      <p:cBhvr>
                                        <p:cTn id="20" dur="1000"/>
                                        <p:tgtEl>
                                          <p:spTgt spid="18"/>
                                        </p:tgtEl>
                                      </p:cBhvr>
                                    </p:animEffect>
                                  </p:childTnLst>
                                </p:cTn>
                              </p:par>
                            </p:childTnLst>
                          </p:cTn>
                        </p:par>
                        <p:par>
                          <p:cTn id="21" fill="hold">
                            <p:stCondLst>
                              <p:cond delay="4500"/>
                            </p:stCondLst>
                            <p:childTnLst>
                              <p:par>
                                <p:cTn id="22" presetID="1" presetClass="exit" presetSubtype="0" fill="hold" nodeType="afterEffect">
                                  <p:stCondLst>
                                    <p:cond delay="0"/>
                                  </p:stCondLst>
                                  <p:childTnLst>
                                    <p:set>
                                      <p:cBhvr>
                                        <p:cTn id="23" dur="1" fill="hold">
                                          <p:stCondLst>
                                            <p:cond delay="0"/>
                                          </p:stCondLst>
                                        </p:cTn>
                                        <p:tgtEl>
                                          <p:spTgt spid="18"/>
                                        </p:tgtEl>
                                        <p:attrNameLst>
                                          <p:attrName>style.visibility</p:attrName>
                                        </p:attrNameLst>
                                      </p:cBhvr>
                                      <p:to>
                                        <p:strVal val="hidden"/>
                                      </p:to>
                                    </p:set>
                                  </p:childTnLst>
                                </p:cTn>
                              </p:par>
                            </p:childTnLst>
                          </p:cTn>
                        </p:par>
                        <p:par>
                          <p:cTn id="24" fill="hold">
                            <p:stCondLst>
                              <p:cond delay="4500"/>
                            </p:stCondLst>
                            <p:childTnLst>
                              <p:par>
                                <p:cTn id="25" presetID="22" presetClass="entr" presetSubtype="8" fill="hold" grpId="0"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500"/>
                                        <p:tgtEl>
                                          <p:spTgt spid="35"/>
                                        </p:tgtEl>
                                      </p:cBhvr>
                                    </p:animEffect>
                                  </p:childTnLst>
                                </p:cTn>
                              </p:par>
                              <p:par>
                                <p:cTn id="28" presetID="9" presetClass="entr" presetSubtype="0" fill="hold" nodeType="withEffect">
                                  <p:stCondLst>
                                    <p:cond delay="250"/>
                                  </p:stCondLst>
                                  <p:childTnLst>
                                    <p:set>
                                      <p:cBhvr>
                                        <p:cTn id="29" dur="1" fill="hold">
                                          <p:stCondLst>
                                            <p:cond delay="0"/>
                                          </p:stCondLst>
                                        </p:cTn>
                                        <p:tgtEl>
                                          <p:spTgt spid="17"/>
                                        </p:tgtEl>
                                        <p:attrNameLst>
                                          <p:attrName>style.visibility</p:attrName>
                                        </p:attrNameLst>
                                      </p:cBhvr>
                                      <p:to>
                                        <p:strVal val="visible"/>
                                      </p:to>
                                    </p:set>
                                    <p:animEffect transition="in" filter="dissolve">
                                      <p:cBhvr>
                                        <p:cTn id="30" dur="1000"/>
                                        <p:tgtEl>
                                          <p:spTgt spid="17"/>
                                        </p:tgtEl>
                                      </p:cBhvr>
                                    </p:animEffect>
                                  </p:childTnLst>
                                </p:cTn>
                              </p:par>
                            </p:childTnLst>
                          </p:cTn>
                        </p:par>
                        <p:par>
                          <p:cTn id="31" fill="hold">
                            <p:stCondLst>
                              <p:cond delay="5750"/>
                            </p:stCondLst>
                            <p:childTnLst>
                              <p:par>
                                <p:cTn id="32" presetID="22" presetClass="entr" presetSubtype="4"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down)">
                                      <p:cBhvr>
                                        <p:cTn id="34" dur="750"/>
                                        <p:tgtEl>
                                          <p:spTgt spid="19"/>
                                        </p:tgtEl>
                                      </p:cBhvr>
                                    </p:animEffect>
                                  </p:childTnLst>
                                </p:cTn>
                              </p:par>
                            </p:childTnLst>
                          </p:cTn>
                        </p:par>
                        <p:par>
                          <p:cTn id="35" fill="hold">
                            <p:stCondLst>
                              <p:cond delay="6500"/>
                            </p:stCondLst>
                            <p:childTnLst>
                              <p:par>
                                <p:cTn id="36" presetID="1" presetClass="exit" presetSubtype="0" fill="hold" nodeType="afterEffect">
                                  <p:stCondLst>
                                    <p:cond delay="250"/>
                                  </p:stCondLst>
                                  <p:childTnLst>
                                    <p:set>
                                      <p:cBhvr>
                                        <p:cTn id="37" dur="1" fill="hold">
                                          <p:stCondLst>
                                            <p:cond delay="0"/>
                                          </p:stCondLst>
                                        </p:cTn>
                                        <p:tgtEl>
                                          <p:spTgt spid="17"/>
                                        </p:tgtEl>
                                        <p:attrNameLst>
                                          <p:attrName>style.visibility</p:attrName>
                                        </p:attrNameLst>
                                      </p:cBhvr>
                                      <p:to>
                                        <p:strVal val="hidden"/>
                                      </p:to>
                                    </p:set>
                                  </p:childTnLst>
                                </p:cTn>
                              </p:par>
                            </p:childTnLst>
                          </p:cTn>
                        </p:par>
                        <p:par>
                          <p:cTn id="38" fill="hold">
                            <p:stCondLst>
                              <p:cond delay="6750"/>
                            </p:stCondLst>
                            <p:childTnLst>
                              <p:par>
                                <p:cTn id="39" presetID="0" presetClass="path" presetSubtype="0" accel="50000" decel="50000" fill="hold" grpId="0" nodeType="afterEffect">
                                  <p:stCondLst>
                                    <p:cond delay="250"/>
                                  </p:stCondLst>
                                  <p:childTnLst>
                                    <p:animMotion origin="layout" path="M 0.04911 0.00671 L 0.62725 -0.08774 " pathEditMode="relative" rAng="0" ptsTypes="AA">
                                      <p:cBhvr>
                                        <p:cTn id="40" dur="1500" fill="hold"/>
                                        <p:tgtEl>
                                          <p:spTgt spid="8"/>
                                        </p:tgtEl>
                                        <p:attrNameLst>
                                          <p:attrName>ppt_x</p:attrName>
                                          <p:attrName>ppt_y</p:attrName>
                                        </p:attrNameLst>
                                      </p:cBhvr>
                                      <p:rCtr x="28901" y="-4722"/>
                                    </p:animMotion>
                                  </p:childTnLst>
                                  <p:subTnLst>
                                    <p:set>
                                      <p:cBhvr override="childStyle">
                                        <p:cTn dur="1" fill="hold" display="0" masterRel="sameClick" afterEffect="1">
                                          <p:stCondLst>
                                            <p:cond evt="end" delay="0">
                                              <p:tn val="39"/>
                                            </p:cond>
                                          </p:stCondLst>
                                        </p:cTn>
                                        <p:tgtEl>
                                          <p:spTgt spid="8"/>
                                        </p:tgtEl>
                                        <p:attrNameLst>
                                          <p:attrName>style.visibility</p:attrName>
                                        </p:attrNameLst>
                                      </p:cBhvr>
                                      <p:to>
                                        <p:strVal val="hidden"/>
                                      </p:to>
                                    </p:set>
                                  </p:subTnLst>
                                </p:cTn>
                              </p:par>
                              <p:par>
                                <p:cTn id="41" presetID="22" presetClass="entr" presetSubtype="8" fill="hold" nodeType="withEffect">
                                  <p:stCondLst>
                                    <p:cond delay="750"/>
                                  </p:stCondLst>
                                  <p:childTnLst>
                                    <p:set>
                                      <p:cBhvr>
                                        <p:cTn id="42" dur="1" fill="hold">
                                          <p:stCondLst>
                                            <p:cond delay="0"/>
                                          </p:stCondLst>
                                        </p:cTn>
                                        <p:tgtEl>
                                          <p:spTgt spid="28"/>
                                        </p:tgtEl>
                                        <p:attrNameLst>
                                          <p:attrName>style.visibility</p:attrName>
                                        </p:attrNameLst>
                                      </p:cBhvr>
                                      <p:to>
                                        <p:strVal val="visible"/>
                                      </p:to>
                                    </p:set>
                                    <p:animEffect transition="in" filter="wipe(left)">
                                      <p:cBhvr>
                                        <p:cTn id="43" dur="750"/>
                                        <p:tgtEl>
                                          <p:spTgt spid="28"/>
                                        </p:tgtEl>
                                      </p:cBhvr>
                                    </p:animEffect>
                                  </p:childTnLst>
                                </p:cTn>
                              </p:par>
                            </p:childTnLst>
                          </p:cTn>
                        </p:par>
                        <p:par>
                          <p:cTn id="44" fill="hold">
                            <p:stCondLst>
                              <p:cond delay="8500"/>
                            </p:stCondLst>
                            <p:childTnLst>
                              <p:par>
                                <p:cTn id="45" presetID="0" presetClass="path" presetSubtype="0" accel="50000" decel="50000" fill="hold" grpId="0" nodeType="afterEffect">
                                  <p:stCondLst>
                                    <p:cond delay="0"/>
                                  </p:stCondLst>
                                  <p:childTnLst>
                                    <p:animMotion origin="layout" path="M 0.05184 0.00393 L 0.63311 -0.09144 " pathEditMode="relative" rAng="0" ptsTypes="AA">
                                      <p:cBhvr>
                                        <p:cTn id="46" dur="1500" spd="-100000" fill="hold"/>
                                        <p:tgtEl>
                                          <p:spTgt spid="9"/>
                                        </p:tgtEl>
                                        <p:attrNameLst>
                                          <p:attrName>ppt_x</p:attrName>
                                          <p:attrName>ppt_y</p:attrName>
                                        </p:attrNameLst>
                                      </p:cBhvr>
                                      <p:rCtr x="29057" y="-4769"/>
                                    </p:animMotion>
                                  </p:childTnLst>
                                  <p:subTnLst>
                                    <p:set>
                                      <p:cBhvr override="childStyle">
                                        <p:cTn dur="1" fill="hold" display="0" masterRel="sameClick" afterEffect="1">
                                          <p:stCondLst>
                                            <p:cond evt="end" delay="0">
                                              <p:tn val="45"/>
                                            </p:cond>
                                          </p:stCondLst>
                                        </p:cTn>
                                        <p:tgtEl>
                                          <p:spTgt spid="9"/>
                                        </p:tgtEl>
                                        <p:attrNameLst>
                                          <p:attrName>style.visibility</p:attrName>
                                        </p:attrNameLst>
                                      </p:cBhvr>
                                      <p:to>
                                        <p:strVal val="hidden"/>
                                      </p:to>
                                    </p:set>
                                  </p:subTnLst>
                                </p:cTn>
                              </p:par>
                            </p:childTnLst>
                          </p:cTn>
                        </p:par>
                        <p:par>
                          <p:cTn id="47" fill="hold">
                            <p:stCondLst>
                              <p:cond delay="10000"/>
                            </p:stCondLst>
                            <p:childTnLst>
                              <p:par>
                                <p:cTn id="48" presetID="9" presetClass="entr" presetSubtype="0"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dissolve">
                                      <p:cBhvr>
                                        <p:cTn id="50" dur="750"/>
                                        <p:tgtEl>
                                          <p:spTgt spid="16"/>
                                        </p:tgtEl>
                                      </p:cBhvr>
                                    </p:animEffect>
                                  </p:childTnLst>
                                </p:cTn>
                              </p:par>
                              <p:par>
                                <p:cTn id="51" presetID="10" presetClass="entr" presetSubtype="0" fill="hold" grpId="0" nodeType="withEffect">
                                  <p:stCondLst>
                                    <p:cond delay="50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childTnLst>
                                </p:cTn>
                              </p:par>
                              <p:par>
                                <p:cTn id="54" presetID="10" presetClass="entr" presetSubtype="0" fill="hold" grpId="0" nodeType="withEffect">
                                  <p:stCondLst>
                                    <p:cond delay="50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1000"/>
                                        <p:tgtEl>
                                          <p:spTgt spid="34"/>
                                        </p:tgtEl>
                                      </p:cBhvr>
                                    </p:animEffect>
                                  </p:childTnLst>
                                </p:cTn>
                              </p:par>
                              <p:par>
                                <p:cTn id="57" presetID="10" presetClass="entr" presetSubtype="0" fill="hold" grpId="0" nodeType="withEffect">
                                  <p:stCondLst>
                                    <p:cond delay="500"/>
                                  </p:stCondLst>
                                  <p:childTnLst>
                                    <p:set>
                                      <p:cBhvr>
                                        <p:cTn id="58" dur="1" fill="hold">
                                          <p:stCondLst>
                                            <p:cond delay="0"/>
                                          </p:stCondLst>
                                        </p:cTn>
                                        <p:tgtEl>
                                          <p:spTgt spid="38"/>
                                        </p:tgtEl>
                                        <p:attrNameLst>
                                          <p:attrName>style.visibility</p:attrName>
                                        </p:attrNameLst>
                                      </p:cBhvr>
                                      <p:to>
                                        <p:strVal val="visible"/>
                                      </p:to>
                                    </p:set>
                                    <p:animEffect transition="in" filter="fade">
                                      <p:cBhvr>
                                        <p:cTn id="59" dur="1000"/>
                                        <p:tgtEl>
                                          <p:spTgt spid="38"/>
                                        </p:tgtEl>
                                      </p:cBhvr>
                                    </p:animEffect>
                                  </p:childTnLst>
                                </p:cTn>
                              </p:par>
                              <p:par>
                                <p:cTn id="60" presetID="22" presetClass="entr" presetSubtype="8" fill="hold" nodeType="withEffect">
                                  <p:stCondLst>
                                    <p:cond delay="500"/>
                                  </p:stCondLst>
                                  <p:childTnLst>
                                    <p:set>
                                      <p:cBhvr>
                                        <p:cTn id="61" dur="1" fill="hold">
                                          <p:stCondLst>
                                            <p:cond delay="0"/>
                                          </p:stCondLst>
                                        </p:cTn>
                                        <p:tgtEl>
                                          <p:spTgt spid="39"/>
                                        </p:tgtEl>
                                        <p:attrNameLst>
                                          <p:attrName>style.visibility</p:attrName>
                                        </p:attrNameLst>
                                      </p:cBhvr>
                                      <p:to>
                                        <p:strVal val="visible"/>
                                      </p:to>
                                    </p:set>
                                    <p:animEffect transition="in" filter="wipe(left)">
                                      <p:cBhvr>
                                        <p:cTn id="62" dur="7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9" grpId="0" animBg="1"/>
      <p:bldP spid="33" grpId="0" animBg="1"/>
      <p:bldP spid="35" grpId="0" animBg="1"/>
      <p:bldP spid="34" grpId="0" animBg="1"/>
      <p:bldP spid="3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Tunnel Mode</a:t>
            </a:r>
            <a:endParaRPr lang="en-CA" dirty="0"/>
          </a:p>
        </p:txBody>
      </p:sp>
      <p:sp>
        <p:nvSpPr>
          <p:cNvPr id="39" name="Content Placeholder 38"/>
          <p:cNvSpPr>
            <a:spLocks noGrp="1"/>
          </p:cNvSpPr>
          <p:nvPr>
            <p:ph idx="1"/>
          </p:nvPr>
        </p:nvSpPr>
        <p:spPr/>
        <p:txBody>
          <a:bodyPr/>
          <a:lstStyle/>
          <a:p>
            <a:pPr>
              <a:spcBef>
                <a:spcPts val="600"/>
              </a:spcBef>
            </a:pPr>
            <a:r>
              <a:rPr lang="en-US" dirty="0">
                <a:cs typeface="Arial" charset="0"/>
              </a:rPr>
              <a:t>Connect to FortiGate through </a:t>
            </a:r>
            <a:r>
              <a:rPr lang="en-US" dirty="0" err="1">
                <a:cs typeface="Arial" charset="0"/>
              </a:rPr>
              <a:t>FortiClient</a:t>
            </a:r>
            <a:endParaRPr lang="en-US" dirty="0">
              <a:cs typeface="Arial" charset="0"/>
            </a:endParaRPr>
          </a:p>
          <a:p>
            <a:pPr lvl="1">
              <a:spcBef>
                <a:spcPts val="600"/>
              </a:spcBef>
            </a:pPr>
            <a:r>
              <a:rPr lang="en-US" dirty="0">
                <a:cs typeface="Arial" charset="0"/>
              </a:rPr>
              <a:t>Tunnel is up only while the </a:t>
            </a:r>
            <a:r>
              <a:rPr lang="en-US" dirty="0" smtClean="0">
                <a:cs typeface="Arial" charset="0"/>
              </a:rPr>
              <a:t>SSL VPN </a:t>
            </a:r>
            <a:r>
              <a:rPr lang="en-US" dirty="0">
                <a:cs typeface="Arial" charset="0"/>
              </a:rPr>
              <a:t>client is connected</a:t>
            </a:r>
          </a:p>
          <a:p>
            <a:pPr lvl="1">
              <a:spcBef>
                <a:spcPts val="600"/>
              </a:spcBef>
            </a:pPr>
            <a:r>
              <a:rPr lang="en-US" dirty="0" err="1">
                <a:cs typeface="Arial" charset="0"/>
              </a:rPr>
              <a:t>FortiClient</a:t>
            </a:r>
            <a:r>
              <a:rPr lang="en-US" dirty="0">
                <a:cs typeface="Arial" charset="0"/>
              </a:rPr>
              <a:t> adds a virtual network adapter called </a:t>
            </a:r>
            <a:r>
              <a:rPr lang="en-US" dirty="0" err="1">
                <a:latin typeface="Courier New" panose="02070309020205020404" pitchFamily="49" charset="0"/>
                <a:cs typeface="Courier New" panose="02070309020205020404" pitchFamily="49" charset="0"/>
              </a:rPr>
              <a:t>fortissl</a:t>
            </a:r>
            <a:endParaRPr lang="en-US" i="1" dirty="0">
              <a:cs typeface="Arial" charset="0"/>
            </a:endParaRPr>
          </a:p>
          <a:p>
            <a:pPr>
              <a:spcBef>
                <a:spcPts val="600"/>
              </a:spcBef>
            </a:pPr>
            <a:r>
              <a:rPr lang="en-CA" dirty="0">
                <a:cs typeface="Arial" charset="0"/>
              </a:rPr>
              <a:t>FortiGate establishes the tunnel</a:t>
            </a:r>
          </a:p>
          <a:p>
            <a:pPr lvl="1">
              <a:spcBef>
                <a:spcPts val="600"/>
              </a:spcBef>
            </a:pPr>
            <a:r>
              <a:rPr lang="en-CA" dirty="0">
                <a:cs typeface="Arial" charset="0"/>
              </a:rPr>
              <a:t>Assigns a virtual IP address to the client from a pool of reserved addresses</a:t>
            </a:r>
          </a:p>
          <a:p>
            <a:pPr lvl="1">
              <a:spcBef>
                <a:spcPts val="600"/>
              </a:spcBef>
            </a:pPr>
            <a:r>
              <a:rPr lang="en-US" dirty="0"/>
              <a:t>All traffic is encapsulated with SSL/ TLS</a:t>
            </a:r>
            <a:endParaRPr lang="en-CA" dirty="0">
              <a:cs typeface="Arial" charset="0"/>
            </a:endParaRPr>
          </a:p>
          <a:p>
            <a:pPr>
              <a:spcBef>
                <a:spcPts val="600"/>
              </a:spcBef>
            </a:pPr>
            <a:r>
              <a:rPr lang="en-US" dirty="0"/>
              <a:t>Advantage:</a:t>
            </a:r>
          </a:p>
          <a:p>
            <a:pPr lvl="1">
              <a:spcBef>
                <a:spcPts val="600"/>
              </a:spcBef>
            </a:pPr>
            <a:r>
              <a:rPr lang="en-US" dirty="0"/>
              <a:t>Any IP network application on the client can send traffic through the tunnel</a:t>
            </a:r>
          </a:p>
          <a:p>
            <a:pPr>
              <a:spcBef>
                <a:spcPts val="600"/>
              </a:spcBef>
            </a:pPr>
            <a:r>
              <a:rPr lang="en-US" dirty="0"/>
              <a:t>Disadvantage: </a:t>
            </a:r>
          </a:p>
          <a:p>
            <a:pPr lvl="1">
              <a:spcBef>
                <a:spcPts val="600"/>
              </a:spcBef>
            </a:pPr>
            <a:r>
              <a:rPr lang="en-US" dirty="0"/>
              <a:t>Requires the installation of a VPN client</a:t>
            </a:r>
          </a:p>
          <a:p>
            <a:pPr marL="623888" lvl="1" indent="0">
              <a:spcBef>
                <a:spcPts val="600"/>
              </a:spcBef>
              <a:buNone/>
            </a:pPr>
            <a:r>
              <a:rPr lang="en-US" dirty="0">
                <a:hlinkClick r:id="rId4"/>
              </a:rPr>
              <a:t>http://www.forticlient.com/</a:t>
            </a:r>
            <a:endParaRPr lang="en-US" dirty="0"/>
          </a:p>
          <a:p>
            <a:pPr lvl="1">
              <a:spcBef>
                <a:spcPts val="600"/>
              </a:spcBef>
            </a:pPr>
            <a:endParaRPr lang="en-US" dirty="0"/>
          </a:p>
          <a:p>
            <a:pPr lvl="1">
              <a:spcBef>
                <a:spcPts val="600"/>
              </a:spcBef>
            </a:pPr>
            <a:endParaRPr lang="en-US" dirty="0"/>
          </a:p>
          <a:p>
            <a:pPr>
              <a:spcBef>
                <a:spcPts val="600"/>
              </a:spcBef>
            </a:pPr>
            <a:endParaRPr lang="en-CA" dirty="0">
              <a:cs typeface="Arial" charset="0"/>
            </a:endParaRPr>
          </a:p>
          <a:p>
            <a:pPr>
              <a:spcBef>
                <a:spcPts val="600"/>
              </a:spcBef>
            </a:pPr>
            <a:endParaRPr lang="en-US" dirty="0"/>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4136" y="4516357"/>
            <a:ext cx="5082624" cy="1430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5531919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25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0"/>
          <p:cNvCxnSpPr>
            <a:cxnSpLocks/>
          </p:cNvCxnSpPr>
          <p:nvPr/>
        </p:nvCxnSpPr>
        <p:spPr bwMode="auto">
          <a:xfrm flipH="1">
            <a:off x="2171127" y="4485347"/>
            <a:ext cx="7312817" cy="76691"/>
          </a:xfrm>
          <a:prstGeom prst="line">
            <a:avLst/>
          </a:prstGeom>
          <a:ln>
            <a:headEnd/>
            <a:tailEnd/>
          </a:ln>
          <a:extLst/>
        </p:spPr>
        <p:style>
          <a:lnRef idx="2">
            <a:schemeClr val="accent3"/>
          </a:lnRef>
          <a:fillRef idx="0">
            <a:schemeClr val="accent3"/>
          </a:fillRef>
          <a:effectRef idx="1">
            <a:schemeClr val="accent3"/>
          </a:effectRef>
          <a:fontRef idx="minor">
            <a:schemeClr val="tx1"/>
          </a:fontRef>
        </p:style>
      </p:cxnSp>
      <p:pic>
        <p:nvPicPr>
          <p:cNvPr id="17" name="Picture 16" descr="LAN_Network.png"/>
          <p:cNvPicPr>
            <a:picLocks noChangeAspect="1"/>
          </p:cNvPicPr>
          <p:nvPr/>
        </p:nvPicPr>
        <p:blipFill>
          <a:blip r:embed="rId4" cstate="print"/>
          <a:stretch>
            <a:fillRect/>
          </a:stretch>
        </p:blipFill>
        <p:spPr>
          <a:xfrm>
            <a:off x="9374010" y="3439007"/>
            <a:ext cx="2206329" cy="2052040"/>
          </a:xfrm>
          <a:prstGeom prst="rect">
            <a:avLst/>
          </a:prstGeom>
        </p:spPr>
      </p:pic>
      <p:pic>
        <p:nvPicPr>
          <p:cNvPr id="25" name="Picture 60"/>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29158" y="4006649"/>
            <a:ext cx="1328962" cy="858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Tunnel </a:t>
            </a:r>
            <a:r>
              <a:rPr lang="en-US" dirty="0" smtClean="0"/>
              <a:t>Mode (</a:t>
            </a:r>
            <a:r>
              <a:rPr lang="en-US" dirty="0" err="1" smtClean="0"/>
              <a:t>Contd</a:t>
            </a:r>
            <a:r>
              <a:rPr lang="en-US" dirty="0" smtClean="0"/>
              <a:t>)</a:t>
            </a:r>
            <a:endParaRPr lang="en-US" dirty="0"/>
          </a:p>
        </p:txBody>
      </p:sp>
      <p:sp>
        <p:nvSpPr>
          <p:cNvPr id="3" name="Content Placeholder 2"/>
          <p:cNvSpPr>
            <a:spLocks noGrp="1"/>
          </p:cNvSpPr>
          <p:nvPr>
            <p:ph idx="1"/>
          </p:nvPr>
        </p:nvSpPr>
        <p:spPr/>
        <p:txBody>
          <a:bodyPr/>
          <a:lstStyle/>
          <a:p>
            <a:pPr marL="342900" indent="-342900">
              <a:buFont typeface="+mj-lt"/>
              <a:buAutoNum type="arabicPeriod"/>
            </a:pPr>
            <a:r>
              <a:rPr lang="en-CA" dirty="0"/>
              <a:t>Remote users connect to the </a:t>
            </a:r>
            <a:r>
              <a:rPr lang="en-CA" dirty="0" smtClean="0"/>
              <a:t>SSL VPN </a:t>
            </a:r>
            <a:r>
              <a:rPr lang="en-CA" dirty="0"/>
              <a:t>gateway through the </a:t>
            </a:r>
            <a:r>
              <a:rPr lang="en-CA" dirty="0" smtClean="0"/>
              <a:t>SSL VPN </a:t>
            </a:r>
            <a:r>
              <a:rPr lang="en-CA" dirty="0"/>
              <a:t>client</a:t>
            </a:r>
          </a:p>
          <a:p>
            <a:pPr marL="342900" indent="-342900">
              <a:buFont typeface="+mj-lt"/>
              <a:buAutoNum type="arabicPeriod"/>
            </a:pPr>
            <a:r>
              <a:rPr lang="en-CA" dirty="0" smtClean="0"/>
              <a:t>Users authenticate</a:t>
            </a:r>
            <a:endParaRPr lang="en-CA" dirty="0"/>
          </a:p>
          <a:p>
            <a:pPr marL="342900" indent="-342900">
              <a:buFont typeface="+mj-lt"/>
              <a:buAutoNum type="arabicPeriod"/>
            </a:pPr>
            <a:r>
              <a:rPr lang="en-CA" dirty="0"/>
              <a:t>The virtual adapter creates the tunnel</a:t>
            </a:r>
          </a:p>
          <a:p>
            <a:pPr marL="342900" indent="-342900">
              <a:buFont typeface="+mj-lt"/>
              <a:buAutoNum type="arabicPeriod"/>
            </a:pPr>
            <a:r>
              <a:rPr lang="en-US" dirty="0"/>
              <a:t>Users access resources through an encrypted tunnel (SSL/TLS)</a:t>
            </a:r>
          </a:p>
          <a:p>
            <a:endParaRPr lang="en-US" dirty="0"/>
          </a:p>
        </p:txBody>
      </p:sp>
      <p:sp>
        <p:nvSpPr>
          <p:cNvPr id="21" name="Oval 27"/>
          <p:cNvSpPr>
            <a:spLocks noChangeArrowheads="1"/>
          </p:cNvSpPr>
          <p:nvPr/>
        </p:nvSpPr>
        <p:spPr bwMode="auto">
          <a:xfrm>
            <a:off x="2292567" y="4425909"/>
            <a:ext cx="146447" cy="161092"/>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dirty="0"/>
          </a:p>
        </p:txBody>
      </p:sp>
      <p:sp>
        <p:nvSpPr>
          <p:cNvPr id="22" name="Oval 30"/>
          <p:cNvSpPr>
            <a:spLocks noChangeArrowheads="1"/>
          </p:cNvSpPr>
          <p:nvPr/>
        </p:nvSpPr>
        <p:spPr bwMode="auto">
          <a:xfrm>
            <a:off x="2286019" y="4425909"/>
            <a:ext cx="146447" cy="161092"/>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dirty="0"/>
          </a:p>
        </p:txBody>
      </p:sp>
      <p:sp>
        <p:nvSpPr>
          <p:cNvPr id="23" name="Oval 39"/>
          <p:cNvSpPr>
            <a:spLocks noChangeArrowheads="1"/>
          </p:cNvSpPr>
          <p:nvPr/>
        </p:nvSpPr>
        <p:spPr bwMode="auto">
          <a:xfrm>
            <a:off x="2292567" y="4411533"/>
            <a:ext cx="146447" cy="161092"/>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dirty="0"/>
          </a:p>
        </p:txBody>
      </p:sp>
      <p:sp>
        <p:nvSpPr>
          <p:cNvPr id="24" name="Oval 47"/>
          <p:cNvSpPr>
            <a:spLocks noChangeArrowheads="1"/>
          </p:cNvSpPr>
          <p:nvPr/>
        </p:nvSpPr>
        <p:spPr bwMode="auto">
          <a:xfrm>
            <a:off x="2318165" y="4425908"/>
            <a:ext cx="146447" cy="161092"/>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sz="1350" dirty="0"/>
          </a:p>
        </p:txBody>
      </p:sp>
      <p:sp>
        <p:nvSpPr>
          <p:cNvPr id="26" name="Rounded Rectangular Callout 25"/>
          <p:cNvSpPr/>
          <p:nvPr/>
        </p:nvSpPr>
        <p:spPr bwMode="auto">
          <a:xfrm>
            <a:off x="2130807" y="3404185"/>
            <a:ext cx="7689528" cy="390342"/>
          </a:xfrm>
          <a:prstGeom prst="wedgeRoundRectCallout">
            <a:avLst>
              <a:gd name="adj1" fmla="val -44890"/>
              <a:gd name="adj2" fmla="val 98725"/>
              <a:gd name="adj3" fmla="val 16667"/>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defTabSz="685800" eaLnBrk="0" fontAlgn="base" hangingPunct="0">
              <a:spcBef>
                <a:spcPct val="20000"/>
              </a:spcBef>
              <a:spcAft>
                <a:spcPct val="0"/>
              </a:spcAft>
              <a:buClr>
                <a:schemeClr val="accent1"/>
              </a:buClr>
              <a:buSzPct val="90000"/>
            </a:pPr>
            <a:r>
              <a:rPr lang="en-US" sz="2000" dirty="0">
                <a:latin typeface="Arial" panose="020B0604020202020204" pitchFamily="34" charset="0"/>
                <a:cs typeface="Arial" panose="020B0604020202020204" pitchFamily="34" charset="0"/>
              </a:rPr>
              <a:t>User traffic source IP address is assigned by FortiGate, like </a:t>
            </a:r>
            <a:r>
              <a:rPr lang="en-US" sz="2000" dirty="0" smtClean="0">
                <a:latin typeface="Arial" panose="020B0604020202020204" pitchFamily="34" charset="0"/>
                <a:cs typeface="Arial" panose="020B0604020202020204" pitchFamily="34" charset="0"/>
              </a:rPr>
              <a:t>IPsec</a:t>
            </a:r>
            <a:endParaRPr lang="en-CA" sz="2000" dirty="0">
              <a:latin typeface="Arial" panose="020B0604020202020204" pitchFamily="34" charset="0"/>
              <a:cs typeface="Arial" panose="020B0604020202020204" pitchFamily="34" charset="0"/>
            </a:endParaRPr>
          </a:p>
        </p:txBody>
      </p:sp>
      <p:pic>
        <p:nvPicPr>
          <p:cNvPr id="27" name="Picture 26"/>
          <p:cNvPicPr>
            <a:picLocks noChangeAspect="1"/>
          </p:cNvPicPr>
          <p:nvPr/>
        </p:nvPicPr>
        <p:blipFill>
          <a:blip r:embed="rId6" cstate="print"/>
          <a:stretch>
            <a:fillRect/>
          </a:stretch>
        </p:blipFill>
        <p:spPr>
          <a:xfrm>
            <a:off x="6533243" y="4116667"/>
            <a:ext cx="1086455" cy="756996"/>
          </a:xfrm>
          <a:prstGeom prst="rect">
            <a:avLst/>
          </a:prstGeom>
        </p:spPr>
      </p:pic>
      <p:pic>
        <p:nvPicPr>
          <p:cNvPr id="18" name="Picture 17"/>
          <p:cNvPicPr>
            <a:picLocks noChangeAspect="1"/>
          </p:cNvPicPr>
          <p:nvPr/>
        </p:nvPicPr>
        <p:blipFill>
          <a:blip r:embed="rId7" cstate="print"/>
          <a:stretch>
            <a:fillRect/>
          </a:stretch>
        </p:blipFill>
        <p:spPr>
          <a:xfrm>
            <a:off x="1138637" y="3518222"/>
            <a:ext cx="1571801" cy="2046993"/>
          </a:xfrm>
          <a:prstGeom prst="rect">
            <a:avLst/>
          </a:prstGeom>
        </p:spPr>
      </p:pic>
      <p:pic>
        <p:nvPicPr>
          <p:cNvPr id="19" name="Picture 2"/>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flipH="1">
            <a:off x="828603" y="4374544"/>
            <a:ext cx="750442" cy="996556"/>
          </a:xfrm>
          <a:prstGeom prst="rect">
            <a:avLst/>
          </a:prstGeom>
          <a:noFill/>
        </p:spPr>
      </p:pic>
      <p:pic>
        <p:nvPicPr>
          <p:cNvPr id="3076" name="Picture 4" descr="Resultado de imagen de forticlien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696617">
            <a:off x="1939083" y="4198340"/>
            <a:ext cx="467224" cy="467224"/>
          </a:xfrm>
          <a:prstGeom prst="rect">
            <a:avLst/>
          </a:prstGeom>
          <a:noFill/>
          <a:extLst>
            <a:ext uri="{909E8E84-426E-40DD-AFC4-6F175D3DCCD1}">
              <a14:hiddenFill xmlns:a14="http://schemas.microsoft.com/office/drawing/2010/main">
                <a:solidFill>
                  <a:srgbClr val="FFFFFF"/>
                </a:solidFill>
              </a14:hiddenFill>
            </a:ext>
          </a:extLst>
        </p:spPr>
      </p:pic>
      <p:sp>
        <p:nvSpPr>
          <p:cNvPr id="28" name="Oval 24"/>
          <p:cNvSpPr>
            <a:spLocks noChangeArrowheads="1"/>
          </p:cNvSpPr>
          <p:nvPr/>
        </p:nvSpPr>
        <p:spPr bwMode="auto">
          <a:xfrm rot="21155717">
            <a:off x="5040337" y="4346267"/>
            <a:ext cx="120706" cy="321842"/>
          </a:xfrm>
          <a:prstGeom prst="ellipse">
            <a:avLst/>
          </a:prstGeom>
          <a:gradFill flip="none" rotWithShape="1">
            <a:gsLst>
              <a:gs pos="0">
                <a:srgbClr val="236093">
                  <a:shade val="30000"/>
                  <a:satMod val="115000"/>
                </a:srgbClr>
              </a:gs>
              <a:gs pos="50000">
                <a:srgbClr val="236093">
                  <a:shade val="67500"/>
                  <a:satMod val="115000"/>
                </a:srgbClr>
              </a:gs>
              <a:gs pos="100000">
                <a:srgbClr val="236093">
                  <a:shade val="100000"/>
                  <a:satMod val="115000"/>
                </a:srgbClr>
              </a:gs>
            </a:gsLst>
            <a:lin ang="2700000" scaled="1"/>
            <a:tileRect/>
          </a:gradFill>
          <a:ln w="12700">
            <a:solidFill>
              <a:srgbClr val="323E48"/>
            </a:solidFill>
            <a:round/>
            <a:headEnd/>
            <a:tailEnd/>
          </a:ln>
          <a:effectLst/>
          <a:scene3d>
            <a:camera prst="legacyObliqueTopRight">
              <a:rot lat="20430000" lon="0" rev="0"/>
            </a:camera>
            <a:lightRig rig="legacyFlat4" dir="b"/>
          </a:scene3d>
          <a:sp3d extrusionH="3810000" prstMaterial="legacyMatte">
            <a:bevelT w="13500" h="13500" prst="angle"/>
            <a:bevelB w="13500" h="13500" prst="angle"/>
            <a:extrusionClr>
              <a:srgbClr val="236093">
                <a:lumMod val="60000"/>
                <a:lumOff val="40000"/>
              </a:srgbClr>
            </a:extrusionClr>
          </a:sp3d>
          <a:extLst/>
        </p:spPr>
        <p:txBody>
          <a:bodyPr wrap="none" anchor="ctr">
            <a:flatTx/>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black"/>
              </a:solidFill>
              <a:effectLst/>
              <a:uLnTx/>
              <a:uFillTx/>
              <a:ea typeface="Arial Unicode MS"/>
            </a:endParaRPr>
          </a:p>
        </p:txBody>
      </p:sp>
      <p:sp>
        <p:nvSpPr>
          <p:cNvPr id="35" name="Oval 24"/>
          <p:cNvSpPr>
            <a:spLocks noChangeArrowheads="1"/>
          </p:cNvSpPr>
          <p:nvPr/>
        </p:nvSpPr>
        <p:spPr bwMode="auto">
          <a:xfrm rot="21155717">
            <a:off x="3776941" y="4346267"/>
            <a:ext cx="120706" cy="321842"/>
          </a:xfrm>
          <a:prstGeom prst="ellipse">
            <a:avLst/>
          </a:prstGeom>
          <a:gradFill flip="none" rotWithShape="1">
            <a:gsLst>
              <a:gs pos="0">
                <a:srgbClr val="236093">
                  <a:shade val="30000"/>
                  <a:satMod val="115000"/>
                </a:srgbClr>
              </a:gs>
              <a:gs pos="50000">
                <a:srgbClr val="236093">
                  <a:shade val="67500"/>
                  <a:satMod val="115000"/>
                </a:srgbClr>
              </a:gs>
              <a:gs pos="100000">
                <a:srgbClr val="236093">
                  <a:shade val="100000"/>
                  <a:satMod val="115000"/>
                </a:srgbClr>
              </a:gs>
            </a:gsLst>
            <a:lin ang="2700000" scaled="1"/>
            <a:tileRect/>
          </a:gradFill>
          <a:ln w="12700">
            <a:solidFill>
              <a:srgbClr val="323E48"/>
            </a:solidFill>
            <a:round/>
            <a:headEnd/>
            <a:tailEnd/>
          </a:ln>
          <a:effectLst/>
          <a:scene3d>
            <a:camera prst="legacyObliqueTopRight">
              <a:rot lat="20430000" lon="0" rev="0"/>
            </a:camera>
            <a:lightRig rig="legacyFlat4" dir="b"/>
          </a:scene3d>
          <a:sp3d extrusionH="3810000" prstMaterial="legacyMatte">
            <a:bevelT w="13500" h="13500" prst="angle"/>
            <a:bevelB w="13500" h="13500" prst="angle"/>
            <a:extrusionClr>
              <a:srgbClr val="236093">
                <a:lumMod val="60000"/>
                <a:lumOff val="40000"/>
              </a:srgbClr>
            </a:extrusionClr>
          </a:sp3d>
          <a:extLst/>
        </p:spPr>
        <p:txBody>
          <a:bodyPr wrap="none" anchor="ctr">
            <a:flatTx/>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black"/>
              </a:solidFill>
              <a:effectLst/>
              <a:uLnTx/>
              <a:uFillTx/>
              <a:ea typeface="Arial Unicode MS"/>
            </a:endParaRPr>
          </a:p>
        </p:txBody>
      </p:sp>
      <p:sp>
        <p:nvSpPr>
          <p:cNvPr id="30" name="TextBox 29"/>
          <p:cNvSpPr txBox="1"/>
          <p:nvPr/>
        </p:nvSpPr>
        <p:spPr>
          <a:xfrm>
            <a:off x="4429158" y="4363039"/>
            <a:ext cx="1453642" cy="244682"/>
          </a:xfrm>
          <a:prstGeom prst="rect">
            <a:avLst/>
          </a:prstGeom>
          <a:noFill/>
        </p:spPr>
        <p:txBody>
          <a:bodyPr wrap="square" rtlCol="0">
            <a:spAutoFit/>
          </a:bodyPr>
          <a:lstStyle/>
          <a:p>
            <a:pPr algn="ctr">
              <a:lnSpc>
                <a:spcPct val="90000"/>
              </a:lnSpc>
            </a:pPr>
            <a:r>
              <a:rPr lang="en-US" sz="1100" b="1" dirty="0" smtClean="0">
                <a:solidFill>
                  <a:schemeClr val="bg1"/>
                </a:solidFill>
              </a:rPr>
              <a:t>SSL VPN </a:t>
            </a:r>
            <a:r>
              <a:rPr lang="en-US" sz="1100" b="1" dirty="0">
                <a:solidFill>
                  <a:schemeClr val="bg1"/>
                </a:solidFill>
              </a:rPr>
              <a:t>Tunnel</a:t>
            </a:r>
          </a:p>
        </p:txBody>
      </p:sp>
      <p:sp>
        <p:nvSpPr>
          <p:cNvPr id="6" name="Rounded Rectangular Callout 5"/>
          <p:cNvSpPr/>
          <p:nvPr/>
        </p:nvSpPr>
        <p:spPr>
          <a:xfrm>
            <a:off x="3225800" y="4899073"/>
            <a:ext cx="2882900" cy="1623849"/>
          </a:xfrm>
          <a:prstGeom prst="wedgeRoundRectCallout">
            <a:avLst>
              <a:gd name="adj1" fmla="val -68631"/>
              <a:gd name="adj2" fmla="val -56591"/>
              <a:gd name="adj3" fmla="val 16667"/>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pic>
        <p:nvPicPr>
          <p:cNvPr id="32" name="Picture 31"/>
          <p:cNvPicPr>
            <a:picLocks noChangeAspect="1"/>
          </p:cNvPicPr>
          <p:nvPr/>
        </p:nvPicPr>
        <p:blipFill>
          <a:blip r:embed="rId10"/>
          <a:stretch>
            <a:fillRect/>
          </a:stretch>
        </p:blipFill>
        <p:spPr>
          <a:xfrm>
            <a:off x="3484752" y="4951548"/>
            <a:ext cx="2311468" cy="1536114"/>
          </a:xfrm>
          <a:prstGeom prst="rect">
            <a:avLst/>
          </a:prstGeom>
        </p:spPr>
      </p:pic>
    </p:spTree>
    <p:custDataLst>
      <p:tags r:id="rId1"/>
    </p:custDataLst>
    <p:extLst>
      <p:ext uri="{BB962C8B-B14F-4D97-AF65-F5344CB8AC3E}">
        <p14:creationId xmlns:p14="http://schemas.microsoft.com/office/powerpoint/2010/main" val="117867974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50"/>
                                  </p:stCondLst>
                                  <p:childTnLst>
                                    <p:set>
                                      <p:cBhvr>
                                        <p:cTn id="6" dur="1" fill="hold">
                                          <p:stCondLst>
                                            <p:cond delay="0"/>
                                          </p:stCondLst>
                                        </p:cTn>
                                        <p:tgtEl>
                                          <p:spTgt spid="3076"/>
                                        </p:tgtEl>
                                        <p:attrNameLst>
                                          <p:attrName>style.visibility</p:attrName>
                                        </p:attrNameLst>
                                      </p:cBhvr>
                                      <p:to>
                                        <p:strVal val="visible"/>
                                      </p:to>
                                    </p:set>
                                    <p:animEffect transition="in" filter="fade">
                                      <p:cBhvr>
                                        <p:cTn id="7" dur="1000"/>
                                        <p:tgtEl>
                                          <p:spTgt spid="3076"/>
                                        </p:tgtEl>
                                      </p:cBhvr>
                                    </p:animEffect>
                                  </p:childTnLst>
                                </p:cTn>
                              </p:par>
                            </p:childTnLst>
                          </p:cTn>
                        </p:par>
                        <p:par>
                          <p:cTn id="8" fill="hold">
                            <p:stCondLst>
                              <p:cond delay="1250"/>
                            </p:stCondLst>
                            <p:childTnLst>
                              <p:par>
                                <p:cTn id="9" presetID="0" presetClass="path" presetSubtype="0" accel="50000" decel="50000" fill="hold" grpId="0" nodeType="afterEffect">
                                  <p:stCondLst>
                                    <p:cond delay="250"/>
                                  </p:stCondLst>
                                  <p:childTnLst>
                                    <p:animMotion origin="layout" path="M -1.04221E-8 4.47143E-6 L 0.35357 -0.01458 " pathEditMode="relative" rAng="0" ptsTypes="AA">
                                      <p:cBhvr>
                                        <p:cTn id="10" dur="1500" fill="hold"/>
                                        <p:tgtEl>
                                          <p:spTgt spid="21"/>
                                        </p:tgtEl>
                                        <p:attrNameLst>
                                          <p:attrName>ppt_x</p:attrName>
                                          <p:attrName>ppt_y</p:attrName>
                                        </p:attrNameLst>
                                      </p:cBhvr>
                                      <p:rCtr x="17678" y="-740"/>
                                    </p:animMotion>
                                  </p:childTnLst>
                                </p:cTn>
                              </p:par>
                            </p:childTnLst>
                          </p:cTn>
                        </p:par>
                        <p:par>
                          <p:cTn id="11" fill="hold">
                            <p:stCondLst>
                              <p:cond delay="3000"/>
                            </p:stCondLst>
                            <p:childTnLst>
                              <p:par>
                                <p:cTn id="12" presetID="0" presetClass="path" presetSubtype="0" accel="50000" decel="50000" fill="hold" grpId="0" nodeType="afterEffect">
                                  <p:stCondLst>
                                    <p:cond delay="500"/>
                                  </p:stCondLst>
                                  <p:childTnLst>
                                    <p:animMotion origin="layout" path="M -5.17129E-7 -4.07407E-6 L 0.35118 -0.01134 " pathEditMode="relative" rAng="0" ptsTypes="AA">
                                      <p:cBhvr>
                                        <p:cTn id="13" dur="1500" spd="-100000" fill="hold"/>
                                        <p:tgtEl>
                                          <p:spTgt spid="23"/>
                                        </p:tgtEl>
                                        <p:attrNameLst>
                                          <p:attrName>ppt_x</p:attrName>
                                          <p:attrName>ppt_y</p:attrName>
                                        </p:attrNameLst>
                                      </p:cBhvr>
                                      <p:rCtr x="17559" y="-579"/>
                                    </p:animMotion>
                                  </p:childTnLst>
                                </p:cTn>
                              </p:par>
                            </p:childTnLst>
                          </p:cTn>
                        </p:par>
                        <p:par>
                          <p:cTn id="14" fill="hold">
                            <p:stCondLst>
                              <p:cond delay="5000"/>
                            </p:stCondLst>
                            <p:childTnLst>
                              <p:par>
                                <p:cTn id="15" presetID="10" presetClass="entr" presetSubtype="0" fill="hold" grpId="0" nodeType="afterEffect">
                                  <p:stCondLst>
                                    <p:cond delay="50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750"/>
                                        <p:tgtEl>
                                          <p:spTgt spid="35"/>
                                        </p:tgtEl>
                                      </p:cBhvr>
                                    </p:animEffect>
                                  </p:childTnLst>
                                </p:cTn>
                              </p:par>
                              <p:par>
                                <p:cTn id="18" presetID="10" presetClass="entr" presetSubtype="0" fill="hold" grpId="0" nodeType="withEffect">
                                  <p:stCondLst>
                                    <p:cond delay="50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750"/>
                                        <p:tgtEl>
                                          <p:spTgt spid="28"/>
                                        </p:tgtEl>
                                      </p:cBhvr>
                                    </p:animEffect>
                                  </p:childTnLst>
                                </p:cTn>
                              </p:par>
                              <p:par>
                                <p:cTn id="21" presetID="10" presetClass="entr" presetSubtype="0" fill="hold" grpId="0" nodeType="withEffect">
                                  <p:stCondLst>
                                    <p:cond delay="50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750"/>
                                        <p:tgtEl>
                                          <p:spTgt spid="30"/>
                                        </p:tgtEl>
                                      </p:cBhvr>
                                    </p:animEffect>
                                  </p:childTnLst>
                                </p:cTn>
                              </p:par>
                              <p:par>
                                <p:cTn id="24" presetID="3" presetClass="entr" presetSubtype="10" fill="hold" grpId="0" nodeType="withEffect">
                                  <p:stCondLst>
                                    <p:cond delay="500"/>
                                  </p:stCondLst>
                                  <p:childTnLst>
                                    <p:set>
                                      <p:cBhvr>
                                        <p:cTn id="25" dur="1" fill="hold">
                                          <p:stCondLst>
                                            <p:cond delay="0"/>
                                          </p:stCondLst>
                                        </p:cTn>
                                        <p:tgtEl>
                                          <p:spTgt spid="26"/>
                                        </p:tgtEl>
                                        <p:attrNameLst>
                                          <p:attrName>style.visibility</p:attrName>
                                        </p:attrNameLst>
                                      </p:cBhvr>
                                      <p:to>
                                        <p:strVal val="visible"/>
                                      </p:to>
                                    </p:set>
                                    <p:animEffect transition="in" filter="blinds(horizontal)">
                                      <p:cBhvr>
                                        <p:cTn id="26" dur="1250"/>
                                        <p:tgtEl>
                                          <p:spTgt spid="26"/>
                                        </p:tgtEl>
                                      </p:cBhvr>
                                    </p:animEffect>
                                  </p:childTnLst>
                                </p:cTn>
                              </p:par>
                            </p:childTnLst>
                          </p:cTn>
                        </p:par>
                        <p:par>
                          <p:cTn id="27" fill="hold">
                            <p:stCondLst>
                              <p:cond delay="6750"/>
                            </p:stCondLst>
                            <p:childTnLst>
                              <p:par>
                                <p:cTn id="28" presetID="0" presetClass="path" presetSubtype="0" accel="50000" decel="50000" fill="hold" grpId="0" nodeType="afterEffect">
                                  <p:stCondLst>
                                    <p:cond delay="500"/>
                                  </p:stCondLst>
                                  <p:childTnLst>
                                    <p:animMotion origin="layout" path="M -2.29167E-6 -1.85185E-6 L 0.56133 -0.01204 " pathEditMode="relative" rAng="0" ptsTypes="AA">
                                      <p:cBhvr>
                                        <p:cTn id="29" dur="1750" fill="hold"/>
                                        <p:tgtEl>
                                          <p:spTgt spid="22"/>
                                        </p:tgtEl>
                                        <p:attrNameLst>
                                          <p:attrName>ppt_x</p:attrName>
                                          <p:attrName>ppt_y</p:attrName>
                                        </p:attrNameLst>
                                      </p:cBhvr>
                                      <p:rCtr x="28060" y="-602"/>
                                    </p:animMotion>
                                  </p:childTnLst>
                                  <p:subTnLst>
                                    <p:set>
                                      <p:cBhvr override="childStyle">
                                        <p:cTn dur="1" fill="hold" display="0" masterRel="sameClick" afterEffect="1">
                                          <p:stCondLst>
                                            <p:cond evt="end" delay="0">
                                              <p:tn val="28"/>
                                            </p:cond>
                                          </p:stCondLst>
                                        </p:cTn>
                                        <p:tgtEl>
                                          <p:spTgt spid="22"/>
                                        </p:tgtEl>
                                        <p:attrNameLst>
                                          <p:attrName>style.visibility</p:attrName>
                                        </p:attrNameLst>
                                      </p:cBhvr>
                                      <p:to>
                                        <p:strVal val="hidden"/>
                                      </p:to>
                                    </p:set>
                                  </p:subTnLst>
                                </p:cTn>
                              </p:par>
                            </p:childTnLst>
                          </p:cTn>
                        </p:par>
                        <p:par>
                          <p:cTn id="30" fill="hold">
                            <p:stCondLst>
                              <p:cond delay="9000"/>
                            </p:stCondLst>
                            <p:childTnLst>
                              <p:par>
                                <p:cTn id="31" presetID="4" presetClass="path" presetSubtype="0" accel="50000" decel="50000" fill="hold" grpId="1" nodeType="afterEffect">
                                  <p:stCondLst>
                                    <p:cond delay="0"/>
                                  </p:stCondLst>
                                  <p:childTnLst>
                                    <p:animMotion origin="layout" path="M 0.56015 -0.01134 L 0.58958 -0.11018 L 0.66901 -0.09745 L 0.71718 0.0125 L 0.68763 0.11042 L 0.60989 0.09885 L 0.56015 -0.01134 Z " pathEditMode="relative" rAng="-25302572" ptsTypes="FFFFFFF">
                                      <p:cBhvr>
                                        <p:cTn id="32" dur="1500" fill="hold"/>
                                        <p:tgtEl>
                                          <p:spTgt spid="24"/>
                                        </p:tgtEl>
                                        <p:attrNameLst>
                                          <p:attrName>ppt_x</p:attrName>
                                          <p:attrName>ppt_y</p:attrName>
                                        </p:attrNameLst>
                                      </p:cBhvr>
                                      <p:rCtr x="7852" y="1134"/>
                                    </p:animMotion>
                                  </p:childTnLst>
                                </p:cTn>
                              </p:par>
                            </p:childTnLst>
                          </p:cTn>
                        </p:par>
                        <p:par>
                          <p:cTn id="33" fill="hold">
                            <p:stCondLst>
                              <p:cond delay="10500"/>
                            </p:stCondLst>
                            <p:childTnLst>
                              <p:par>
                                <p:cTn id="34" presetID="0" presetClass="path" presetSubtype="0" accel="50000" decel="50000" fill="hold" grpId="0" nodeType="afterEffect">
                                  <p:stCondLst>
                                    <p:cond delay="0"/>
                                  </p:stCondLst>
                                  <p:childTnLst>
                                    <p:animMotion origin="layout" path="M -0.00287 0.00046 L 0.56032 -0.01158 " pathEditMode="relative" rAng="0" ptsTypes="AA">
                                      <p:cBhvr>
                                        <p:cTn id="35" dur="1750" spd="-100000" fill="hold"/>
                                        <p:tgtEl>
                                          <p:spTgt spid="24"/>
                                        </p:tgtEl>
                                        <p:attrNameLst>
                                          <p:attrName>ppt_x</p:attrName>
                                          <p:attrName>ppt_y</p:attrName>
                                        </p:attrNameLst>
                                      </p:cBhvr>
                                      <p:rCtr x="28153" y="-602"/>
                                    </p:animMotion>
                                  </p:childTnLst>
                                  <p:subTnLst>
                                    <p:set>
                                      <p:cBhvr override="childStyle">
                                        <p:cTn dur="1" fill="hold" display="0" masterRel="sameClick" afterEffect="1">
                                          <p:stCondLst>
                                            <p:cond evt="end" delay="0">
                                              <p:tn val="34"/>
                                            </p:cond>
                                          </p:stCondLst>
                                        </p:cTn>
                                        <p:tgtEl>
                                          <p:spTgt spid="2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3" grpId="0" animBg="1"/>
      <p:bldP spid="24" grpId="0" animBg="1"/>
      <p:bldP spid="24" grpId="1" animBg="1"/>
      <p:bldP spid="26" grpId="0" animBg="1"/>
      <p:bldP spid="28" grpId="0" animBg="1"/>
      <p:bldP spid="35" grpId="0" animBg="1"/>
      <p:bldP spid="3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Tunnel Mode—FortiGate as Client</a:t>
            </a:r>
            <a:endParaRPr lang="en-US" dirty="0"/>
          </a:p>
        </p:txBody>
      </p:sp>
      <p:sp>
        <p:nvSpPr>
          <p:cNvPr id="3" name="Content Placeholder 2"/>
          <p:cNvSpPr>
            <a:spLocks noGrp="1"/>
          </p:cNvSpPr>
          <p:nvPr>
            <p:ph idx="1"/>
          </p:nvPr>
        </p:nvSpPr>
        <p:spPr/>
        <p:txBody>
          <a:bodyPr>
            <a:normAutofit lnSpcReduction="10000"/>
          </a:bodyPr>
          <a:lstStyle/>
          <a:p>
            <a:r>
              <a:rPr lang="en-GB" dirty="0" smtClean="0"/>
              <a:t>Connect to server FortiGate device as SSL VPN client</a:t>
            </a:r>
            <a:endParaRPr lang="en-US" dirty="0"/>
          </a:p>
          <a:p>
            <a:pPr lvl="1"/>
            <a:r>
              <a:rPr lang="en-GB" dirty="0" smtClean="0"/>
              <a:t>Use </a:t>
            </a:r>
            <a:r>
              <a:rPr lang="en-GB" i="1" dirty="0" smtClean="0"/>
              <a:t>SSL VPN Tunnel</a:t>
            </a:r>
            <a:r>
              <a:rPr lang="en-GB" dirty="0" smtClean="0"/>
              <a:t> interface type</a:t>
            </a:r>
          </a:p>
          <a:p>
            <a:pPr lvl="1"/>
            <a:r>
              <a:rPr lang="en-GB" dirty="0" smtClean="0"/>
              <a:t>Devices connect to client FortiGate device can access the resources behind server FortiGate</a:t>
            </a:r>
          </a:p>
          <a:p>
            <a:r>
              <a:rPr lang="en-GB" dirty="0" smtClean="0"/>
              <a:t>Tunnel establishes between two FortiGate devices</a:t>
            </a:r>
          </a:p>
          <a:p>
            <a:pPr lvl="1"/>
            <a:r>
              <a:rPr lang="en-GB" dirty="0" smtClean="0"/>
              <a:t>Hub-and-spoke topology</a:t>
            </a:r>
          </a:p>
          <a:p>
            <a:pPr lvl="1"/>
            <a:r>
              <a:rPr lang="en-GB" dirty="0" smtClean="0"/>
              <a:t>Client FortiGate </a:t>
            </a:r>
            <a:r>
              <a:rPr lang="en-GB" dirty="0"/>
              <a:t>d</a:t>
            </a:r>
            <a:r>
              <a:rPr lang="en-GB" dirty="0" smtClean="0"/>
              <a:t>ynamically adds route to remote subnets</a:t>
            </a:r>
          </a:p>
          <a:p>
            <a:pPr lvl="1">
              <a:spcBef>
                <a:spcPts val="600"/>
              </a:spcBef>
            </a:pPr>
            <a:r>
              <a:rPr lang="en-CA" dirty="0">
                <a:cs typeface="Arial" charset="0"/>
              </a:rPr>
              <a:t>Assigns a virtual IP address to the </a:t>
            </a:r>
            <a:r>
              <a:rPr lang="en-CA" dirty="0" smtClean="0">
                <a:cs typeface="Arial" charset="0"/>
              </a:rPr>
              <a:t>client FortiGate device </a:t>
            </a:r>
            <a:r>
              <a:rPr lang="en-CA" dirty="0">
                <a:cs typeface="Arial" charset="0"/>
              </a:rPr>
              <a:t>from a pool of reserved </a:t>
            </a:r>
            <a:r>
              <a:rPr lang="en-CA" dirty="0" smtClean="0">
                <a:cs typeface="Arial" charset="0"/>
              </a:rPr>
              <a:t>addresses</a:t>
            </a:r>
            <a:endParaRPr lang="en-US" dirty="0" smtClean="0"/>
          </a:p>
          <a:p>
            <a:pPr>
              <a:spcBef>
                <a:spcPts val="600"/>
              </a:spcBef>
            </a:pPr>
            <a:r>
              <a:rPr lang="en-GB" dirty="0" smtClean="0">
                <a:cs typeface="Arial" charset="0"/>
              </a:rPr>
              <a:t>Advantage:</a:t>
            </a:r>
          </a:p>
          <a:p>
            <a:pPr lvl="1">
              <a:spcBef>
                <a:spcPts val="600"/>
              </a:spcBef>
            </a:pPr>
            <a:r>
              <a:rPr lang="en-US" dirty="0"/>
              <a:t>Any IP network application on the </a:t>
            </a:r>
            <a:r>
              <a:rPr lang="en-US" dirty="0" smtClean="0"/>
              <a:t>user machines connect to client FortiGate device </a:t>
            </a:r>
            <a:r>
              <a:rPr lang="en-US" dirty="0"/>
              <a:t>can send traffic through the </a:t>
            </a:r>
            <a:r>
              <a:rPr lang="en-US" dirty="0" smtClean="0"/>
              <a:t>tunnel</a:t>
            </a:r>
          </a:p>
          <a:p>
            <a:pPr lvl="1"/>
            <a:r>
              <a:rPr lang="en-US" dirty="0"/>
              <a:t>U</a:t>
            </a:r>
            <a:r>
              <a:rPr lang="en-US" dirty="0" smtClean="0"/>
              <a:t>seful </a:t>
            </a:r>
            <a:r>
              <a:rPr lang="en-US" dirty="0"/>
              <a:t>to avoid issues caused by intermediate devices, such as:</a:t>
            </a:r>
          </a:p>
          <a:p>
            <a:pPr lvl="2"/>
            <a:r>
              <a:rPr lang="en-US" dirty="0"/>
              <a:t>ESP packets being blocked.</a:t>
            </a:r>
          </a:p>
          <a:p>
            <a:pPr lvl="2"/>
            <a:r>
              <a:rPr lang="en-US" dirty="0"/>
              <a:t>UDP ports 500 or 4500 being blocked.</a:t>
            </a:r>
          </a:p>
          <a:p>
            <a:pPr lvl="2"/>
            <a:r>
              <a:rPr lang="en-US" dirty="0"/>
              <a:t>Fragments being dropped, causing IKE negotiation that uses large certificates to fail if the peer does not support IKE fragmentation</a:t>
            </a:r>
            <a:r>
              <a:rPr lang="en-US" dirty="0" smtClean="0"/>
              <a:t>.</a:t>
            </a:r>
          </a:p>
          <a:p>
            <a:r>
              <a:rPr lang="en-GB" dirty="0" smtClean="0"/>
              <a:t>Disadvantage:</a:t>
            </a:r>
          </a:p>
          <a:p>
            <a:pPr lvl="1"/>
            <a:r>
              <a:rPr lang="en-GB" dirty="0" smtClean="0"/>
              <a:t>Requires proper CA certificate on SSL VPN Server FortiGate</a:t>
            </a:r>
          </a:p>
          <a:p>
            <a:pPr lvl="1"/>
            <a:r>
              <a:rPr lang="en-GB" dirty="0" smtClean="0"/>
              <a:t>SSL VPN Client FortiGate user uses PSK and PKI client certificate to authenticate</a:t>
            </a:r>
            <a:endParaRPr lang="en-US" dirty="0"/>
          </a:p>
          <a:p>
            <a:pPr lvl="1">
              <a:spcBef>
                <a:spcPts val="600"/>
              </a:spcBef>
            </a:pPr>
            <a:endParaRPr lang="en-US" dirty="0"/>
          </a:p>
          <a:p>
            <a:pPr lvl="1">
              <a:spcBef>
                <a:spcPts val="600"/>
              </a:spcBef>
            </a:pPr>
            <a:endParaRPr lang="en-CA" dirty="0">
              <a:cs typeface="Arial" charset="0"/>
            </a:endParaRPr>
          </a:p>
          <a:p>
            <a:pPr lvl="1"/>
            <a:endParaRPr lang="en-US" dirty="0"/>
          </a:p>
        </p:txBody>
      </p:sp>
    </p:spTree>
    <p:extLst>
      <p:ext uri="{BB962C8B-B14F-4D97-AF65-F5344CB8AC3E}">
        <p14:creationId xmlns:p14="http://schemas.microsoft.com/office/powerpoint/2010/main" val="3286247680"/>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Tunnel Mode—FortiGate as </a:t>
            </a:r>
            <a:r>
              <a:rPr lang="en-GB" dirty="0" smtClean="0"/>
              <a:t>Client (</a:t>
            </a:r>
            <a:r>
              <a:rPr lang="en-GB" dirty="0" err="1" smtClean="0"/>
              <a:t>Contd</a:t>
            </a:r>
            <a:r>
              <a:rPr lang="en-GB" dirty="0" smtClean="0"/>
              <a:t>)</a:t>
            </a:r>
            <a:endParaRPr lang="en-US" dirty="0"/>
          </a:p>
        </p:txBody>
      </p:sp>
      <p:sp>
        <p:nvSpPr>
          <p:cNvPr id="3" name="Content Placeholder 2"/>
          <p:cNvSpPr>
            <a:spLocks noGrp="1"/>
          </p:cNvSpPr>
          <p:nvPr>
            <p:ph idx="1"/>
          </p:nvPr>
        </p:nvSpPr>
        <p:spPr/>
        <p:txBody>
          <a:bodyPr/>
          <a:lstStyle/>
          <a:p>
            <a:pPr marL="342900" indent="-342900">
              <a:buFont typeface="+mj-lt"/>
              <a:buAutoNum type="arabicPeriod"/>
            </a:pPr>
            <a:r>
              <a:rPr lang="en-CA" dirty="0" smtClean="0"/>
              <a:t>SSL </a:t>
            </a:r>
            <a:r>
              <a:rPr lang="en-CA" dirty="0"/>
              <a:t>VPN </a:t>
            </a:r>
            <a:r>
              <a:rPr lang="en-CA" dirty="0" smtClean="0"/>
              <a:t>client FortiGate initiates connection to SSL VPN server FortiGate</a:t>
            </a:r>
            <a:endParaRPr lang="en-CA" dirty="0"/>
          </a:p>
          <a:p>
            <a:pPr marL="342900" indent="-342900">
              <a:buFont typeface="+mj-lt"/>
              <a:buAutoNum type="arabicPeriod"/>
            </a:pPr>
            <a:r>
              <a:rPr lang="en-CA" dirty="0"/>
              <a:t>SSL VPN client FortiGate uses </a:t>
            </a:r>
            <a:r>
              <a:rPr lang="en-CA" dirty="0" smtClean="0"/>
              <a:t>PSK(local user account) </a:t>
            </a:r>
            <a:r>
              <a:rPr lang="en-CA" dirty="0"/>
              <a:t>and PKI client </a:t>
            </a:r>
            <a:r>
              <a:rPr lang="en-CA" dirty="0" smtClean="0"/>
              <a:t>to authenticate</a:t>
            </a:r>
            <a:endParaRPr lang="en-CA" dirty="0"/>
          </a:p>
          <a:p>
            <a:pPr marL="342900" indent="-342900">
              <a:buFont typeface="+mj-lt"/>
              <a:buAutoNum type="arabicPeriod"/>
            </a:pPr>
            <a:r>
              <a:rPr lang="en-CA" dirty="0" smtClean="0"/>
              <a:t>The </a:t>
            </a:r>
            <a:r>
              <a:rPr lang="en-CA" dirty="0"/>
              <a:t>virtual </a:t>
            </a:r>
            <a:r>
              <a:rPr lang="en-CA" i="1" dirty="0" smtClean="0"/>
              <a:t>SSL VPN tunnel</a:t>
            </a:r>
            <a:r>
              <a:rPr lang="en-CA" dirty="0" smtClean="0"/>
              <a:t> interface </a:t>
            </a:r>
            <a:r>
              <a:rPr lang="en-CA" dirty="0"/>
              <a:t>creates the </a:t>
            </a:r>
            <a:r>
              <a:rPr lang="en-CA" dirty="0" smtClean="0"/>
              <a:t>tunnel</a:t>
            </a:r>
          </a:p>
          <a:p>
            <a:pPr lvl="1"/>
            <a:r>
              <a:rPr lang="en-CA" dirty="0" smtClean="0"/>
              <a:t>IP address assigned from SSL VPN server FortiGate</a:t>
            </a:r>
          </a:p>
          <a:p>
            <a:pPr lvl="1"/>
            <a:r>
              <a:rPr lang="en-CA" dirty="0" smtClean="0"/>
              <a:t>Route is added to client to access subnets on remote FortiGate</a:t>
            </a:r>
            <a:endParaRPr lang="en-CA" dirty="0"/>
          </a:p>
          <a:p>
            <a:pPr marL="342900" indent="-342900">
              <a:buFont typeface="+mj-lt"/>
              <a:buAutoNum type="arabicPeriod"/>
            </a:pPr>
            <a:r>
              <a:rPr lang="en-US" dirty="0" smtClean="0"/>
              <a:t> User’s devices access </a:t>
            </a:r>
            <a:r>
              <a:rPr lang="en-US" dirty="0"/>
              <a:t>resources through an encrypted tunnel (SSL/TLS)</a:t>
            </a:r>
          </a:p>
          <a:p>
            <a:endParaRPr lang="en-US" dirty="0"/>
          </a:p>
        </p:txBody>
      </p:sp>
      <p:pic>
        <p:nvPicPr>
          <p:cNvPr id="5" name="Picture 229">
            <a:extLst>
              <a:ext uri="{FF2B5EF4-FFF2-40B4-BE49-F238E27FC236}">
                <a16:creationId xmlns:a16="http://schemas.microsoft.com/office/drawing/2014/main" id="{6AC187F7-958D-074C-AA09-736DCAA90F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59588" y="4115569"/>
            <a:ext cx="1103568" cy="7884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287">
            <a:extLst>
              <a:ext uri="{FF2B5EF4-FFF2-40B4-BE49-F238E27FC236}">
                <a16:creationId xmlns:a16="http://schemas.microsoft.com/office/drawing/2014/main" id="{CF9EEACD-6F73-6A46-98EA-AA5BF2E374C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886706" y="4119399"/>
            <a:ext cx="1052129" cy="7846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8" name="Picture 5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382546" y="4061575"/>
            <a:ext cx="1381823" cy="8912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47">
            <a:extLst>
              <a:ext uri="{FF2B5EF4-FFF2-40B4-BE49-F238E27FC236}">
                <a16:creationId xmlns:a16="http://schemas.microsoft.com/office/drawing/2014/main" id="{4ED8186B-F534-754B-9B43-B5E385741C85}"/>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55098" y="3294254"/>
            <a:ext cx="727944" cy="89535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53">
            <a:extLst>
              <a:ext uri="{FF2B5EF4-FFF2-40B4-BE49-F238E27FC236}">
                <a16:creationId xmlns:a16="http://schemas.microsoft.com/office/drawing/2014/main" id="{F3D0A925-515C-824A-AA6A-DAA27B5B0502}"/>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flipH="1">
            <a:off x="1564705" y="4270863"/>
            <a:ext cx="848562" cy="90593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1" name="Picture 10" descr="Iso_Tablet_Gray.emf">
            <a:extLst>
              <a:ext uri="{FF2B5EF4-FFF2-40B4-BE49-F238E27FC236}">
                <a16:creationId xmlns:a16="http://schemas.microsoft.com/office/drawing/2014/main" id="{E672EFDB-6771-AC43-931B-C251972939C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67385" y="5351001"/>
            <a:ext cx="408092" cy="959799"/>
          </a:xfrm>
          <a:prstGeom prst="rect">
            <a:avLst/>
          </a:prstGeom>
        </p:spPr>
      </p:pic>
      <p:pic>
        <p:nvPicPr>
          <p:cNvPr id="12" name="Picture 49">
            <a:extLst>
              <a:ext uri="{FF2B5EF4-FFF2-40B4-BE49-F238E27FC236}">
                <a16:creationId xmlns:a16="http://schemas.microsoft.com/office/drawing/2014/main" id="{39739363-11F2-D040-9A9E-94333E99BB9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524745" y="3854803"/>
            <a:ext cx="732827" cy="1166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3" name="Picture 49">
            <a:extLst>
              <a:ext uri="{FF2B5EF4-FFF2-40B4-BE49-F238E27FC236}">
                <a16:creationId xmlns:a16="http://schemas.microsoft.com/office/drawing/2014/main" id="{39739363-11F2-D040-9A9E-94333E99BB91}"/>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9956107" y="4035298"/>
            <a:ext cx="774950" cy="12331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cxnSp>
        <p:nvCxnSpPr>
          <p:cNvPr id="15" name="Straight Connector 14"/>
          <p:cNvCxnSpPr>
            <a:endCxn id="47" idx="1"/>
          </p:cNvCxnSpPr>
          <p:nvPr/>
        </p:nvCxnSpPr>
        <p:spPr>
          <a:xfrm flipV="1">
            <a:off x="4440671" y="4494599"/>
            <a:ext cx="943781" cy="15205"/>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710853" y="4507187"/>
            <a:ext cx="1167777" cy="2615"/>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7" idx="3"/>
          </p:cNvCxnSpPr>
          <p:nvPr/>
        </p:nvCxnSpPr>
        <p:spPr>
          <a:xfrm flipV="1">
            <a:off x="8938835" y="4509801"/>
            <a:ext cx="585909" cy="1918"/>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2780677" y="4509801"/>
            <a:ext cx="571416" cy="3"/>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stCxn id="42" idx="2"/>
            <a:endCxn id="43" idx="0"/>
          </p:cNvCxnSpPr>
          <p:nvPr/>
        </p:nvCxnSpPr>
        <p:spPr>
          <a:xfrm flipH="1">
            <a:off x="2759819" y="3447663"/>
            <a:ext cx="14127" cy="2601357"/>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2" name="Arc 41"/>
          <p:cNvSpPr/>
          <p:nvPr/>
        </p:nvSpPr>
        <p:spPr>
          <a:xfrm>
            <a:off x="2249727" y="3287802"/>
            <a:ext cx="524353" cy="330276"/>
          </a:xfrm>
          <a:prstGeom prst="arc">
            <a:avLst>
              <a:gd name="adj1" fmla="val 15487874"/>
              <a:gd name="adj2" fmla="val 21530778"/>
            </a:avLst>
          </a:prstGeom>
          <a:ln w="190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Arc 42"/>
          <p:cNvSpPr/>
          <p:nvPr/>
        </p:nvSpPr>
        <p:spPr>
          <a:xfrm rot="11538635">
            <a:off x="2241433" y="5873290"/>
            <a:ext cx="524353" cy="330276"/>
          </a:xfrm>
          <a:prstGeom prst="arc">
            <a:avLst>
              <a:gd name="adj1" fmla="val 10203403"/>
              <a:gd name="adj2" fmla="val 16228822"/>
            </a:avLst>
          </a:prstGeom>
          <a:ln w="190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Oval 24"/>
          <p:cNvSpPr>
            <a:spLocks noChangeArrowheads="1"/>
          </p:cNvSpPr>
          <p:nvPr/>
        </p:nvSpPr>
        <p:spPr bwMode="auto">
          <a:xfrm rot="21155717">
            <a:off x="6094400" y="4333678"/>
            <a:ext cx="120706" cy="321842"/>
          </a:xfrm>
          <a:prstGeom prst="ellipse">
            <a:avLst/>
          </a:prstGeom>
          <a:gradFill flip="none" rotWithShape="1">
            <a:gsLst>
              <a:gs pos="0">
                <a:srgbClr val="236093">
                  <a:shade val="30000"/>
                  <a:satMod val="115000"/>
                </a:srgbClr>
              </a:gs>
              <a:gs pos="50000">
                <a:srgbClr val="236093">
                  <a:shade val="67500"/>
                  <a:satMod val="115000"/>
                </a:srgbClr>
              </a:gs>
              <a:gs pos="100000">
                <a:srgbClr val="236093">
                  <a:shade val="100000"/>
                  <a:satMod val="115000"/>
                </a:srgbClr>
              </a:gs>
            </a:gsLst>
            <a:lin ang="2700000" scaled="1"/>
            <a:tileRect/>
          </a:gradFill>
          <a:ln w="12700">
            <a:solidFill>
              <a:srgbClr val="323E48"/>
            </a:solidFill>
            <a:round/>
            <a:headEnd/>
            <a:tailEnd/>
          </a:ln>
          <a:effectLst/>
          <a:scene3d>
            <a:camera prst="legacyObliqueTopRight">
              <a:rot lat="20430000" lon="0" rev="0"/>
            </a:camera>
            <a:lightRig rig="legacyFlat4" dir="b"/>
          </a:scene3d>
          <a:sp3d extrusionH="3810000" prstMaterial="legacyMatte">
            <a:bevelT w="13500" h="13500" prst="angle"/>
            <a:bevelB w="13500" h="13500" prst="angle"/>
            <a:extrusionClr>
              <a:srgbClr val="236093">
                <a:lumMod val="60000"/>
                <a:lumOff val="40000"/>
              </a:srgbClr>
            </a:extrusionClr>
          </a:sp3d>
          <a:extLst/>
        </p:spPr>
        <p:txBody>
          <a:bodyPr wrap="none" anchor="ctr">
            <a:flatTx/>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black"/>
              </a:solidFill>
              <a:effectLst/>
              <a:uLnTx/>
              <a:uFillTx/>
              <a:ea typeface="Arial Unicode MS"/>
            </a:endParaRPr>
          </a:p>
        </p:txBody>
      </p:sp>
      <p:sp>
        <p:nvSpPr>
          <p:cNvPr id="46" name="Oval 24"/>
          <p:cNvSpPr>
            <a:spLocks noChangeArrowheads="1"/>
          </p:cNvSpPr>
          <p:nvPr/>
        </p:nvSpPr>
        <p:spPr bwMode="auto">
          <a:xfrm rot="21155717">
            <a:off x="4823137" y="4333678"/>
            <a:ext cx="120706" cy="321842"/>
          </a:xfrm>
          <a:prstGeom prst="ellipse">
            <a:avLst/>
          </a:prstGeom>
          <a:gradFill flip="none" rotWithShape="1">
            <a:gsLst>
              <a:gs pos="0">
                <a:srgbClr val="236093">
                  <a:shade val="30000"/>
                  <a:satMod val="115000"/>
                </a:srgbClr>
              </a:gs>
              <a:gs pos="50000">
                <a:srgbClr val="236093">
                  <a:shade val="67500"/>
                  <a:satMod val="115000"/>
                </a:srgbClr>
              </a:gs>
              <a:gs pos="100000">
                <a:srgbClr val="236093">
                  <a:shade val="100000"/>
                  <a:satMod val="115000"/>
                </a:srgbClr>
              </a:gs>
            </a:gsLst>
            <a:lin ang="2700000" scaled="1"/>
            <a:tileRect/>
          </a:gradFill>
          <a:ln w="12700">
            <a:solidFill>
              <a:srgbClr val="323E48"/>
            </a:solidFill>
            <a:round/>
            <a:headEnd/>
            <a:tailEnd/>
          </a:ln>
          <a:effectLst/>
          <a:scene3d>
            <a:camera prst="legacyObliqueTopRight">
              <a:rot lat="20430000" lon="0" rev="0"/>
            </a:camera>
            <a:lightRig rig="legacyFlat4" dir="b"/>
          </a:scene3d>
          <a:sp3d extrusionH="3810000" prstMaterial="legacyMatte">
            <a:bevelT w="13500" h="13500" prst="angle"/>
            <a:bevelB w="13500" h="13500" prst="angle"/>
            <a:extrusionClr>
              <a:srgbClr val="236093">
                <a:lumMod val="60000"/>
                <a:lumOff val="40000"/>
              </a:srgbClr>
            </a:extrusionClr>
          </a:sp3d>
          <a:extLst/>
        </p:spPr>
        <p:txBody>
          <a:bodyPr wrap="none" anchor="ctr">
            <a:flatTx/>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black"/>
              </a:solidFill>
              <a:effectLst/>
              <a:uLnTx/>
              <a:uFillTx/>
              <a:ea typeface="Arial Unicode MS"/>
            </a:endParaRPr>
          </a:p>
        </p:txBody>
      </p:sp>
      <p:sp>
        <p:nvSpPr>
          <p:cNvPr id="47" name="TextBox 46"/>
          <p:cNvSpPr txBox="1"/>
          <p:nvPr/>
        </p:nvSpPr>
        <p:spPr>
          <a:xfrm>
            <a:off x="5384452" y="4372258"/>
            <a:ext cx="1453642" cy="244682"/>
          </a:xfrm>
          <a:prstGeom prst="rect">
            <a:avLst/>
          </a:prstGeom>
          <a:noFill/>
        </p:spPr>
        <p:txBody>
          <a:bodyPr wrap="square" rtlCol="0">
            <a:spAutoFit/>
          </a:bodyPr>
          <a:lstStyle/>
          <a:p>
            <a:pPr algn="ctr">
              <a:lnSpc>
                <a:spcPct val="90000"/>
              </a:lnSpc>
            </a:pPr>
            <a:r>
              <a:rPr lang="en-US" sz="1100" b="1" dirty="0" smtClean="0">
                <a:solidFill>
                  <a:schemeClr val="bg1"/>
                </a:solidFill>
              </a:rPr>
              <a:t>SSL VPN </a:t>
            </a:r>
            <a:r>
              <a:rPr lang="en-US" sz="1100" b="1" dirty="0">
                <a:solidFill>
                  <a:schemeClr val="bg1"/>
                </a:solidFill>
              </a:rPr>
              <a:t>Tunnel</a:t>
            </a:r>
          </a:p>
        </p:txBody>
      </p:sp>
      <p:sp>
        <p:nvSpPr>
          <p:cNvPr id="49" name="Rectangle 48"/>
          <p:cNvSpPr/>
          <p:nvPr/>
        </p:nvSpPr>
        <p:spPr>
          <a:xfrm>
            <a:off x="7657279" y="4994014"/>
            <a:ext cx="1574511" cy="2752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SSL-VPN Server</a:t>
            </a:r>
            <a:endParaRPr lang="en-US" sz="1400" dirty="0" err="1" smtClean="0">
              <a:solidFill>
                <a:schemeClr val="tx1"/>
              </a:solidFill>
            </a:endParaRPr>
          </a:p>
        </p:txBody>
      </p:sp>
      <p:sp>
        <p:nvSpPr>
          <p:cNvPr id="50" name="Rectangle 49"/>
          <p:cNvSpPr/>
          <p:nvPr/>
        </p:nvSpPr>
        <p:spPr>
          <a:xfrm>
            <a:off x="3131874" y="4994014"/>
            <a:ext cx="1574511" cy="2752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SSL-VPN Client</a:t>
            </a:r>
            <a:endParaRPr lang="en-US" sz="1400" dirty="0" err="1" smtClean="0">
              <a:solidFill>
                <a:schemeClr val="tx1"/>
              </a:solidFill>
            </a:endParaRPr>
          </a:p>
        </p:txBody>
      </p:sp>
      <p:sp>
        <p:nvSpPr>
          <p:cNvPr id="52" name="Rectangle 51"/>
          <p:cNvSpPr/>
          <p:nvPr/>
        </p:nvSpPr>
        <p:spPr>
          <a:xfrm>
            <a:off x="3065840" y="3731800"/>
            <a:ext cx="1883256" cy="265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Branch Office/Home FortiGate</a:t>
            </a:r>
            <a:endParaRPr lang="en-US" sz="1400" dirty="0" err="1" smtClean="0">
              <a:solidFill>
                <a:schemeClr val="tx1"/>
              </a:solidFill>
            </a:endParaRPr>
          </a:p>
        </p:txBody>
      </p:sp>
      <p:sp>
        <p:nvSpPr>
          <p:cNvPr id="53" name="Rectangle 52"/>
          <p:cNvSpPr/>
          <p:nvPr/>
        </p:nvSpPr>
        <p:spPr>
          <a:xfrm>
            <a:off x="7591004" y="3722028"/>
            <a:ext cx="1883256" cy="26554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HQ/Company FortiGate</a:t>
            </a:r>
            <a:endParaRPr lang="en-US" sz="1400" dirty="0" err="1" smtClean="0">
              <a:solidFill>
                <a:schemeClr val="tx1"/>
              </a:solidFill>
            </a:endParaRPr>
          </a:p>
        </p:txBody>
      </p:sp>
      <p:sp>
        <p:nvSpPr>
          <p:cNvPr id="56" name="Rectangle 55"/>
          <p:cNvSpPr/>
          <p:nvPr/>
        </p:nvSpPr>
        <p:spPr>
          <a:xfrm>
            <a:off x="9540081" y="5341017"/>
            <a:ext cx="1740017" cy="2503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Remote Resources</a:t>
            </a:r>
            <a:endParaRPr lang="en-US" sz="1400" dirty="0" err="1" smtClean="0">
              <a:solidFill>
                <a:schemeClr val="tx1"/>
              </a:solidFill>
            </a:endParaRPr>
          </a:p>
        </p:txBody>
      </p:sp>
      <p:sp>
        <p:nvSpPr>
          <p:cNvPr id="57" name="Rectangle 56"/>
          <p:cNvSpPr/>
          <p:nvPr/>
        </p:nvSpPr>
        <p:spPr>
          <a:xfrm>
            <a:off x="1184583" y="6238324"/>
            <a:ext cx="1574511" cy="2752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User’s Devices</a:t>
            </a:r>
            <a:endParaRPr lang="en-US" sz="1400" dirty="0" err="1" smtClean="0">
              <a:solidFill>
                <a:schemeClr val="tx1"/>
              </a:solidFill>
            </a:endParaRPr>
          </a:p>
        </p:txBody>
      </p:sp>
      <p:sp>
        <p:nvSpPr>
          <p:cNvPr id="31" name="Rectangle 30"/>
          <p:cNvSpPr/>
          <p:nvPr/>
        </p:nvSpPr>
        <p:spPr>
          <a:xfrm>
            <a:off x="2826210" y="4509801"/>
            <a:ext cx="574962" cy="250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900" dirty="0" smtClean="0">
                <a:solidFill>
                  <a:schemeClr val="tx1"/>
                </a:solidFill>
              </a:rPr>
              <a:t>Port3</a:t>
            </a:r>
            <a:endParaRPr lang="en-US" sz="900" dirty="0" err="1" smtClean="0">
              <a:solidFill>
                <a:schemeClr val="tx1"/>
              </a:solidFill>
            </a:endParaRPr>
          </a:p>
        </p:txBody>
      </p:sp>
      <p:sp>
        <p:nvSpPr>
          <p:cNvPr id="33" name="Rectangle 32"/>
          <p:cNvSpPr/>
          <p:nvPr/>
        </p:nvSpPr>
        <p:spPr>
          <a:xfrm>
            <a:off x="4327390" y="4498664"/>
            <a:ext cx="574962" cy="250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900" dirty="0" smtClean="0">
                <a:solidFill>
                  <a:schemeClr val="tx1"/>
                </a:solidFill>
              </a:rPr>
              <a:t>Port4</a:t>
            </a:r>
            <a:endParaRPr lang="en-US" sz="900" dirty="0" err="1" smtClean="0">
              <a:solidFill>
                <a:schemeClr val="tx1"/>
              </a:solidFill>
            </a:endParaRPr>
          </a:p>
        </p:txBody>
      </p:sp>
      <p:sp>
        <p:nvSpPr>
          <p:cNvPr id="34" name="Rectangle 33"/>
          <p:cNvSpPr/>
          <p:nvPr/>
        </p:nvSpPr>
        <p:spPr>
          <a:xfrm>
            <a:off x="7385469" y="4497461"/>
            <a:ext cx="574962" cy="250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900" dirty="0" smtClean="0">
                <a:solidFill>
                  <a:schemeClr val="tx1"/>
                </a:solidFill>
              </a:rPr>
              <a:t>Port1</a:t>
            </a:r>
            <a:endParaRPr lang="en-US" sz="900" dirty="0" err="1" smtClean="0">
              <a:solidFill>
                <a:schemeClr val="tx1"/>
              </a:solidFill>
            </a:endParaRPr>
          </a:p>
        </p:txBody>
      </p:sp>
      <p:sp>
        <p:nvSpPr>
          <p:cNvPr id="36" name="Rectangle 35"/>
          <p:cNvSpPr/>
          <p:nvPr/>
        </p:nvSpPr>
        <p:spPr>
          <a:xfrm>
            <a:off x="8947187" y="4506134"/>
            <a:ext cx="574962" cy="2508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900" dirty="0" smtClean="0">
                <a:solidFill>
                  <a:schemeClr val="tx1"/>
                </a:solidFill>
              </a:rPr>
              <a:t>Port2</a:t>
            </a:r>
            <a:endParaRPr lang="en-US" sz="900" dirty="0" err="1" smtClean="0">
              <a:solidFill>
                <a:schemeClr val="tx1"/>
              </a:solidFill>
            </a:endParaRPr>
          </a:p>
        </p:txBody>
      </p:sp>
      <p:sp>
        <p:nvSpPr>
          <p:cNvPr id="37" name="Rectangle 36"/>
          <p:cNvSpPr/>
          <p:nvPr/>
        </p:nvSpPr>
        <p:spPr>
          <a:xfrm>
            <a:off x="3033366" y="5180587"/>
            <a:ext cx="1841720" cy="2687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900" dirty="0" smtClean="0">
                <a:solidFill>
                  <a:schemeClr val="tx1"/>
                </a:solidFill>
              </a:rPr>
              <a:t>Virtual Interface: </a:t>
            </a:r>
            <a:r>
              <a:rPr lang="en-GB" sz="900" dirty="0" err="1" smtClean="0">
                <a:solidFill>
                  <a:schemeClr val="tx1"/>
                </a:solidFill>
              </a:rPr>
              <a:t>sslclient_port</a:t>
            </a:r>
            <a:endParaRPr lang="en-US" sz="900" dirty="0" err="1" smtClean="0">
              <a:solidFill>
                <a:schemeClr val="tx1"/>
              </a:solidFill>
            </a:endParaRPr>
          </a:p>
        </p:txBody>
      </p:sp>
    </p:spTree>
    <p:extLst>
      <p:ext uri="{BB962C8B-B14F-4D97-AF65-F5344CB8AC3E}">
        <p14:creationId xmlns:p14="http://schemas.microsoft.com/office/powerpoint/2010/main" val="8467462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750"/>
                                        <p:tgtEl>
                                          <p:spTgt spid="46"/>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5"/>
                                        </p:tgtEl>
                                        <p:attrNameLst>
                                          <p:attrName>style.visibility</p:attrName>
                                        </p:attrNameLst>
                                      </p:cBhvr>
                                      <p:to>
                                        <p:strVal val="visible"/>
                                      </p:to>
                                    </p:set>
                                    <p:animEffect transition="in" filter="fade">
                                      <p:cBhvr>
                                        <p:cTn id="10" dur="750"/>
                                        <p:tgtEl>
                                          <p:spTgt spid="45"/>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7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Arc 46"/>
          <p:cNvSpPr/>
          <p:nvPr/>
        </p:nvSpPr>
        <p:spPr bwMode="auto">
          <a:xfrm rot="20916501">
            <a:off x="5593272" y="4578404"/>
            <a:ext cx="4173267" cy="1223863"/>
          </a:xfrm>
          <a:prstGeom prst="arc">
            <a:avLst>
              <a:gd name="adj1" fmla="val 10827879"/>
              <a:gd name="adj2" fmla="val 15546200"/>
            </a:avLst>
          </a:prstGeom>
          <a:noFill/>
          <a:ln w="38100" cap="flat" cmpd="sng" algn="ctr">
            <a:solidFill>
              <a:srgbClr val="FF0000"/>
            </a:solidFill>
            <a:prstDash val="solid"/>
            <a:round/>
            <a:headEnd type="triangle" w="med" len="med"/>
            <a:tailEnd type="non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black"/>
              </a:solidFill>
              <a:effectLst/>
              <a:uLnTx/>
              <a:uFillTx/>
              <a:ea typeface="Arial Unicode MS"/>
            </a:endParaRPr>
          </a:p>
        </p:txBody>
      </p:sp>
      <p:cxnSp>
        <p:nvCxnSpPr>
          <p:cNvPr id="48" name="Straight Connector 47"/>
          <p:cNvCxnSpPr/>
          <p:nvPr/>
        </p:nvCxnSpPr>
        <p:spPr bwMode="auto">
          <a:xfrm flipV="1">
            <a:off x="5475437" y="4924068"/>
            <a:ext cx="0" cy="1010286"/>
          </a:xfrm>
          <a:prstGeom prst="line">
            <a:avLst/>
          </a:prstGeom>
          <a:ln>
            <a:headEnd type="none" w="med" len="med"/>
            <a:tailEnd type="none" w="med" len="med"/>
          </a:ln>
        </p:spPr>
        <p:style>
          <a:lnRef idx="2">
            <a:schemeClr val="accent3"/>
          </a:lnRef>
          <a:fillRef idx="0">
            <a:schemeClr val="accent3"/>
          </a:fillRef>
          <a:effectRef idx="1">
            <a:schemeClr val="accent3"/>
          </a:effectRef>
          <a:fontRef idx="minor">
            <a:schemeClr val="tx1"/>
          </a:fontRef>
        </p:style>
      </p:cxnSp>
      <p:sp>
        <p:nvSpPr>
          <p:cNvPr id="2" name="Title 1"/>
          <p:cNvSpPr>
            <a:spLocks noGrp="1"/>
          </p:cNvSpPr>
          <p:nvPr>
            <p:ph type="title"/>
          </p:nvPr>
        </p:nvSpPr>
        <p:spPr/>
        <p:txBody>
          <a:bodyPr/>
          <a:lstStyle/>
          <a:p>
            <a:r>
              <a:rPr lang="en-US" dirty="0"/>
              <a:t>Tunnel </a:t>
            </a:r>
            <a:r>
              <a:rPr lang="en-US" dirty="0" smtClean="0"/>
              <a:t>Mode</a:t>
            </a:r>
            <a:r>
              <a:rPr lang="en-US" dirty="0" smtClean="0">
                <a:latin typeface="Arial" panose="020B0604020202020204" pitchFamily="34" charset="0"/>
                <a:cs typeface="Arial" panose="020B0604020202020204" pitchFamily="34" charset="0"/>
              </a:rPr>
              <a:t>—</a:t>
            </a:r>
            <a:r>
              <a:rPr lang="en-US" dirty="0" smtClean="0">
                <a:cs typeface="Arial" charset="0"/>
              </a:rPr>
              <a:t>Split </a:t>
            </a:r>
            <a:r>
              <a:rPr lang="en-US" dirty="0">
                <a:cs typeface="Arial" charset="0"/>
              </a:rPr>
              <a:t>Tunneling</a:t>
            </a:r>
            <a:endParaRPr lang="en-US" dirty="0"/>
          </a:p>
        </p:txBody>
      </p:sp>
      <p:sp>
        <p:nvSpPr>
          <p:cNvPr id="3" name="Content Placeholder 2"/>
          <p:cNvSpPr>
            <a:spLocks noGrp="1"/>
          </p:cNvSpPr>
          <p:nvPr>
            <p:ph idx="1"/>
          </p:nvPr>
        </p:nvSpPr>
        <p:spPr/>
        <p:txBody>
          <a:bodyPr/>
          <a:lstStyle/>
          <a:p>
            <a:r>
              <a:rPr lang="en-US" dirty="0">
                <a:cs typeface="Arial" charset="0"/>
              </a:rPr>
              <a:t>Disabled:</a:t>
            </a:r>
          </a:p>
          <a:p>
            <a:pPr lvl="1"/>
            <a:r>
              <a:rPr lang="en-US" dirty="0">
                <a:cs typeface="Arial" charset="0"/>
              </a:rPr>
              <a:t>All traffic routes through an </a:t>
            </a:r>
            <a:r>
              <a:rPr lang="en-US" dirty="0" smtClean="0">
                <a:cs typeface="Arial" charset="0"/>
              </a:rPr>
              <a:t>SSL VPN </a:t>
            </a:r>
            <a:r>
              <a:rPr lang="en-US" dirty="0">
                <a:cs typeface="Arial" charset="0"/>
              </a:rPr>
              <a:t>tunnel to a remote FortiGate, then to the destination. This includes </a:t>
            </a:r>
            <a:r>
              <a:rPr lang="en-US" dirty="0" smtClean="0">
                <a:cs typeface="Arial" charset="0"/>
              </a:rPr>
              <a:t>internet </a:t>
            </a:r>
            <a:r>
              <a:rPr lang="en-US" dirty="0">
                <a:cs typeface="Arial" charset="0"/>
              </a:rPr>
              <a:t>traffic</a:t>
            </a:r>
          </a:p>
          <a:p>
            <a:pPr lvl="1"/>
            <a:r>
              <a:rPr lang="en-US" dirty="0">
                <a:cs typeface="Arial" charset="0"/>
              </a:rPr>
              <a:t>An egress firewall policy is required</a:t>
            </a:r>
          </a:p>
          <a:p>
            <a:pPr lvl="1"/>
            <a:r>
              <a:rPr lang="en-US" dirty="0">
                <a:cs typeface="Arial" charset="0"/>
              </a:rPr>
              <a:t>Traffic inspection and security features </a:t>
            </a:r>
            <a:r>
              <a:rPr lang="en-US" dirty="0" smtClean="0">
                <a:cs typeface="Arial" charset="0"/>
              </a:rPr>
              <a:t>can be </a:t>
            </a:r>
            <a:r>
              <a:rPr lang="en-US" dirty="0">
                <a:cs typeface="Arial" charset="0"/>
              </a:rPr>
              <a:t>applied</a:t>
            </a:r>
          </a:p>
          <a:p>
            <a:r>
              <a:rPr lang="en-US" dirty="0">
                <a:cs typeface="Arial" charset="0"/>
              </a:rPr>
              <a:t>Enabled:</a:t>
            </a:r>
          </a:p>
          <a:p>
            <a:pPr lvl="1"/>
            <a:r>
              <a:rPr lang="en-US" dirty="0">
                <a:cs typeface="Arial" charset="0"/>
              </a:rPr>
              <a:t>Only traffic destined for the private network is routed through the remote </a:t>
            </a:r>
            <a:r>
              <a:rPr lang="en-US" dirty="0" err="1">
                <a:cs typeface="Arial" charset="0"/>
              </a:rPr>
              <a:t>FortiGate</a:t>
            </a:r>
            <a:endParaRPr lang="en-US" dirty="0">
              <a:cs typeface="Arial" charset="0"/>
            </a:endParaRPr>
          </a:p>
          <a:p>
            <a:pPr lvl="1"/>
            <a:r>
              <a:rPr lang="en-US" dirty="0">
                <a:cs typeface="Arial" charset="0"/>
              </a:rPr>
              <a:t>Internet traffic uses the local gateway; </a:t>
            </a:r>
            <a:r>
              <a:rPr lang="en-US" dirty="0"/>
              <a:t>unencrypted route</a:t>
            </a:r>
            <a:endParaRPr lang="en-US" dirty="0">
              <a:cs typeface="Arial" charset="0"/>
            </a:endParaRPr>
          </a:p>
          <a:p>
            <a:pPr lvl="1"/>
            <a:r>
              <a:rPr lang="en-US" dirty="0">
                <a:latin typeface="Arial" panose="020B0604020202020204" pitchFamily="34" charset="0"/>
                <a:cs typeface="Arial" panose="020B0604020202020204" pitchFamily="34" charset="0"/>
              </a:rPr>
              <a:t>Conserves bandwidth and alleviates </a:t>
            </a:r>
            <a:r>
              <a:rPr lang="en-US" dirty="0" smtClean="0">
                <a:latin typeface="Arial" panose="020B0604020202020204" pitchFamily="34" charset="0"/>
                <a:cs typeface="Arial" panose="020B0604020202020204" pitchFamily="34" charset="0"/>
              </a:rPr>
              <a:t>bottlenecks</a:t>
            </a:r>
          </a:p>
          <a:p>
            <a:pPr lvl="1"/>
            <a:r>
              <a:rPr lang="en-GB" dirty="0" smtClean="0">
                <a:latin typeface="Arial" panose="020B0604020202020204" pitchFamily="34" charset="0"/>
                <a:cs typeface="Arial" panose="020B0604020202020204" pitchFamily="34" charset="0"/>
              </a:rPr>
              <a:t>There is no traffic inspection by FortiGate</a:t>
            </a:r>
            <a:endParaRPr lang="en-US" dirty="0">
              <a:cs typeface="Arial" charset="0"/>
            </a:endParaRPr>
          </a:p>
          <a:p>
            <a:endParaRPr lang="en-US" dirty="0"/>
          </a:p>
        </p:txBody>
      </p:sp>
      <p:pic>
        <p:nvPicPr>
          <p:cNvPr id="44" name="Picture 43"/>
          <p:cNvPicPr>
            <a:picLocks noChangeAspect="1"/>
          </p:cNvPicPr>
          <p:nvPr/>
        </p:nvPicPr>
        <p:blipFill>
          <a:blip r:embed="rId4" cstate="print">
            <a:extLst>
              <a:ext uri="{BEBA8EAE-BF5A-486C-A8C5-ECC9F3942E4B}">
                <a14:imgProps xmlns:a14="http://schemas.microsoft.com/office/drawing/2010/main">
                  <a14:imgLayer r:embed="rId5">
                    <a14:imgEffect>
                      <a14:brightnessContrast bright="30000" contrast="-57000"/>
                    </a14:imgEffect>
                  </a14:imgLayer>
                </a14:imgProps>
              </a:ext>
            </a:extLst>
          </a:blip>
          <a:stretch>
            <a:fillRect/>
          </a:stretch>
        </p:blipFill>
        <p:spPr>
          <a:xfrm>
            <a:off x="4845407" y="4254353"/>
            <a:ext cx="1225732" cy="791191"/>
          </a:xfrm>
          <a:prstGeom prst="rect">
            <a:avLst/>
          </a:prstGeom>
          <a:noFill/>
        </p:spPr>
      </p:pic>
      <p:cxnSp>
        <p:nvCxnSpPr>
          <p:cNvPr id="45" name="Straight Connector 10"/>
          <p:cNvCxnSpPr>
            <a:cxnSpLocks/>
          </p:cNvCxnSpPr>
          <p:nvPr/>
        </p:nvCxnSpPr>
        <p:spPr bwMode="auto">
          <a:xfrm flipH="1">
            <a:off x="2909384" y="4568549"/>
            <a:ext cx="6835140" cy="105346"/>
          </a:xfrm>
          <a:prstGeom prst="line">
            <a:avLst/>
          </a:prstGeom>
          <a:ln>
            <a:headEnd/>
            <a:tailEnd/>
          </a:ln>
          <a:extLst/>
        </p:spPr>
        <p:style>
          <a:lnRef idx="2">
            <a:schemeClr val="accent3"/>
          </a:lnRef>
          <a:fillRef idx="0">
            <a:schemeClr val="accent3"/>
          </a:fillRef>
          <a:effectRef idx="1">
            <a:schemeClr val="accent3"/>
          </a:effectRef>
          <a:fontRef idx="minor">
            <a:schemeClr val="tx1"/>
          </a:fontRef>
        </p:style>
      </p:cxnSp>
      <p:cxnSp>
        <p:nvCxnSpPr>
          <p:cNvPr id="46" name="Straight Arrow Connector 45"/>
          <p:cNvCxnSpPr/>
          <p:nvPr/>
        </p:nvCxnSpPr>
        <p:spPr bwMode="auto">
          <a:xfrm flipV="1">
            <a:off x="2956560" y="4629426"/>
            <a:ext cx="4838700" cy="69575"/>
          </a:xfrm>
          <a:prstGeom prst="straightConnector1">
            <a:avLst/>
          </a:prstGeom>
          <a:solidFill>
            <a:srgbClr val="99CC00">
              <a:alpha val="42000"/>
            </a:srgbClr>
          </a:solidFill>
          <a:ln w="38100" cap="flat" cmpd="sng" algn="ctr">
            <a:solidFill>
              <a:srgbClr val="FF0000"/>
            </a:solidFill>
            <a:prstDash val="solid"/>
            <a:round/>
            <a:headEnd type="none" w="med" len="med"/>
            <a:tailEnd type="none" w="med" len="med"/>
          </a:ln>
          <a:effectLst/>
        </p:spPr>
      </p:cxnSp>
      <p:pic>
        <p:nvPicPr>
          <p:cNvPr id="52" name="Picture 51"/>
          <p:cNvPicPr>
            <a:picLocks noChangeAspect="1"/>
          </p:cNvPicPr>
          <p:nvPr/>
        </p:nvPicPr>
        <p:blipFill>
          <a:blip r:embed="rId6" cstate="print"/>
          <a:stretch>
            <a:fillRect/>
          </a:stretch>
        </p:blipFill>
        <p:spPr>
          <a:xfrm>
            <a:off x="7711563" y="4255635"/>
            <a:ext cx="1018221" cy="709453"/>
          </a:xfrm>
          <a:prstGeom prst="rect">
            <a:avLst/>
          </a:prstGeom>
        </p:spPr>
      </p:pic>
      <p:sp>
        <p:nvSpPr>
          <p:cNvPr id="56" name="Oval 24"/>
          <p:cNvSpPr>
            <a:spLocks noChangeArrowheads="1"/>
          </p:cNvSpPr>
          <p:nvPr/>
        </p:nvSpPr>
        <p:spPr bwMode="auto">
          <a:xfrm rot="21155717">
            <a:off x="4790928" y="4516754"/>
            <a:ext cx="90688" cy="265985"/>
          </a:xfrm>
          <a:prstGeom prst="ellipse">
            <a:avLst/>
          </a:prstGeom>
          <a:gradFill flip="none" rotWithShape="1">
            <a:gsLst>
              <a:gs pos="0">
                <a:srgbClr val="236093">
                  <a:shade val="30000"/>
                  <a:satMod val="115000"/>
                </a:srgbClr>
              </a:gs>
              <a:gs pos="50000">
                <a:srgbClr val="236093">
                  <a:shade val="67500"/>
                  <a:satMod val="115000"/>
                </a:srgbClr>
              </a:gs>
              <a:gs pos="100000">
                <a:srgbClr val="236093">
                  <a:shade val="100000"/>
                  <a:satMod val="115000"/>
                </a:srgbClr>
              </a:gs>
            </a:gsLst>
            <a:lin ang="2700000" scaled="1"/>
            <a:tileRect/>
          </a:gradFill>
          <a:ln w="12700">
            <a:solidFill>
              <a:srgbClr val="323E48"/>
            </a:solidFill>
            <a:round/>
            <a:headEnd/>
            <a:tailEnd/>
          </a:ln>
          <a:effectLst/>
          <a:scene3d>
            <a:camera prst="legacyObliqueTopRight">
              <a:rot lat="20430000" lon="0" rev="0"/>
            </a:camera>
            <a:lightRig rig="legacyFlat4" dir="b"/>
          </a:scene3d>
          <a:sp3d extrusionH="3810000" prstMaterial="legacyMatte">
            <a:bevelT w="13500" h="13500" prst="angle"/>
            <a:bevelB w="13500" h="13500" prst="angle"/>
            <a:extrusionClr>
              <a:srgbClr val="236093">
                <a:lumMod val="60000"/>
                <a:lumOff val="40000"/>
              </a:srgbClr>
            </a:extrusionClr>
          </a:sp3d>
          <a:extLst/>
        </p:spPr>
        <p:txBody>
          <a:bodyPr wrap="none" anchor="ctr">
            <a:flatTx/>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black"/>
              </a:solidFill>
              <a:effectLst/>
              <a:uLnTx/>
              <a:uFillTx/>
              <a:ea typeface="Arial Unicode MS"/>
            </a:endParaRPr>
          </a:p>
        </p:txBody>
      </p:sp>
      <p:pic>
        <p:nvPicPr>
          <p:cNvPr id="57" name="Picture 56" descr="LAN_Network.png"/>
          <p:cNvPicPr>
            <a:picLocks noChangeAspect="1"/>
          </p:cNvPicPr>
          <p:nvPr/>
        </p:nvPicPr>
        <p:blipFill>
          <a:blip r:embed="rId7" cstate="print"/>
          <a:stretch>
            <a:fillRect/>
          </a:stretch>
        </p:blipFill>
        <p:spPr>
          <a:xfrm>
            <a:off x="9722050" y="3984151"/>
            <a:ext cx="1805385" cy="1679136"/>
          </a:xfrm>
          <a:prstGeom prst="rect">
            <a:avLst/>
          </a:prstGeom>
        </p:spPr>
      </p:pic>
      <p:sp>
        <p:nvSpPr>
          <p:cNvPr id="58" name="Rounded Rectangular Callout 57"/>
          <p:cNvSpPr/>
          <p:nvPr/>
        </p:nvSpPr>
        <p:spPr bwMode="auto">
          <a:xfrm>
            <a:off x="7526746" y="5842003"/>
            <a:ext cx="2964646" cy="472314"/>
          </a:xfrm>
          <a:prstGeom prst="wedgeRoundRectCallout">
            <a:avLst>
              <a:gd name="adj1" fmla="val -78922"/>
              <a:gd name="adj2" fmla="val -247260"/>
              <a:gd name="adj3" fmla="val 16667"/>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lvl="0" algn="ctr" defTabSz="914400">
              <a:defRPr/>
            </a:pPr>
            <a:r>
              <a:rPr lang="en-US" sz="2000" kern="0" dirty="0">
                <a:solidFill>
                  <a:prstClr val="black"/>
                </a:solidFill>
                <a:ea typeface="Arial Unicode MS"/>
                <a:cs typeface="Arial" charset="0"/>
              </a:rPr>
              <a:t>Split tunneling disabled</a:t>
            </a:r>
          </a:p>
        </p:txBody>
      </p:sp>
      <p:sp>
        <p:nvSpPr>
          <p:cNvPr id="59" name="Rounded Rectangular Callout 58"/>
          <p:cNvSpPr/>
          <p:nvPr/>
        </p:nvSpPr>
        <p:spPr bwMode="auto">
          <a:xfrm>
            <a:off x="1254406" y="5849109"/>
            <a:ext cx="2964646" cy="472314"/>
          </a:xfrm>
          <a:prstGeom prst="wedgeRoundRectCallout">
            <a:avLst>
              <a:gd name="adj1" fmla="val 50107"/>
              <a:gd name="adj2" fmla="val -266620"/>
              <a:gd name="adj3" fmla="val 16667"/>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lvl="0" algn="ctr" defTabSz="914400">
              <a:defRPr/>
            </a:pPr>
            <a:r>
              <a:rPr lang="en-US" sz="2000" kern="0" dirty="0">
                <a:solidFill>
                  <a:prstClr val="black"/>
                </a:solidFill>
                <a:ea typeface="Arial Unicode MS"/>
                <a:cs typeface="Arial" charset="0"/>
              </a:rPr>
              <a:t>Split tunneling enabled</a:t>
            </a:r>
          </a:p>
        </p:txBody>
      </p:sp>
      <p:sp>
        <p:nvSpPr>
          <p:cNvPr id="18" name="TextBox 17"/>
          <p:cNvSpPr txBox="1"/>
          <p:nvPr/>
        </p:nvSpPr>
        <p:spPr>
          <a:xfrm>
            <a:off x="4749198" y="4550999"/>
            <a:ext cx="1453642" cy="244682"/>
          </a:xfrm>
          <a:prstGeom prst="rect">
            <a:avLst/>
          </a:prstGeom>
          <a:noFill/>
        </p:spPr>
        <p:txBody>
          <a:bodyPr wrap="square" rtlCol="0">
            <a:spAutoFit/>
          </a:bodyPr>
          <a:lstStyle/>
          <a:p>
            <a:pPr algn="ctr">
              <a:lnSpc>
                <a:spcPct val="90000"/>
              </a:lnSpc>
            </a:pPr>
            <a:r>
              <a:rPr lang="en-US" sz="1100" b="1" dirty="0" smtClean="0">
                <a:solidFill>
                  <a:schemeClr val="bg1"/>
                </a:solidFill>
              </a:rPr>
              <a:t>SSL VPN </a:t>
            </a:r>
            <a:r>
              <a:rPr lang="en-US" sz="1100" b="1" dirty="0">
                <a:solidFill>
                  <a:schemeClr val="bg1"/>
                </a:solidFill>
              </a:rPr>
              <a:t>Tunnel</a:t>
            </a:r>
          </a:p>
        </p:txBody>
      </p:sp>
      <p:pic>
        <p:nvPicPr>
          <p:cNvPr id="22" name="Picture 104"/>
          <p:cNvPicPr>
            <a:picLocks noChangeAspect="1"/>
          </p:cNvPicPr>
          <p:nvPr/>
        </p:nvPicPr>
        <p:blipFill rotWithShape="1">
          <a:blip r:embed="rId8">
            <a:extLst>
              <a:ext uri="{28A0092B-C50C-407E-A947-70E740481C1C}">
                <a14:useLocalDpi xmlns:a14="http://schemas.microsoft.com/office/drawing/2010/main" val="0"/>
              </a:ext>
            </a:extLst>
          </a:blip>
          <a:srcRect b="13301"/>
          <a:stretch/>
        </p:blipFill>
        <p:spPr bwMode="auto">
          <a:xfrm>
            <a:off x="4862346" y="5504435"/>
            <a:ext cx="1166386" cy="886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Arc 48"/>
          <p:cNvSpPr/>
          <p:nvPr/>
        </p:nvSpPr>
        <p:spPr bwMode="auto">
          <a:xfrm rot="258641">
            <a:off x="1445863" y="4705966"/>
            <a:ext cx="3895106" cy="1686618"/>
          </a:xfrm>
          <a:prstGeom prst="arc">
            <a:avLst>
              <a:gd name="adj1" fmla="val 14527844"/>
              <a:gd name="adj2" fmla="val 21452894"/>
            </a:avLst>
          </a:prstGeom>
          <a:noFill/>
          <a:ln w="38100" cap="flat" cmpd="sng" algn="ctr">
            <a:solidFill>
              <a:schemeClr val="accent3"/>
            </a:solidFill>
            <a:prstDash val="solid"/>
            <a:round/>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black"/>
              </a:solidFill>
              <a:effectLst/>
              <a:uLnTx/>
              <a:uFillTx/>
              <a:ea typeface="Arial Unicode MS"/>
            </a:endParaRPr>
          </a:p>
        </p:txBody>
      </p:sp>
      <p:pic>
        <p:nvPicPr>
          <p:cNvPr id="53" name="Picture 52"/>
          <p:cNvPicPr>
            <a:picLocks noChangeAspect="1"/>
          </p:cNvPicPr>
          <p:nvPr/>
        </p:nvPicPr>
        <p:blipFill>
          <a:blip r:embed="rId9" cstate="print"/>
          <a:stretch>
            <a:fillRect/>
          </a:stretch>
        </p:blipFill>
        <p:spPr>
          <a:xfrm>
            <a:off x="2204027" y="4226524"/>
            <a:ext cx="870317" cy="1133433"/>
          </a:xfrm>
          <a:prstGeom prst="rect">
            <a:avLst/>
          </a:prstGeom>
        </p:spPr>
      </p:pic>
      <p:pic>
        <p:nvPicPr>
          <p:cNvPr id="54" name="Picture 2"/>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flipH="1">
            <a:off x="1716261" y="4547083"/>
            <a:ext cx="645638" cy="857380"/>
          </a:xfrm>
          <a:prstGeom prst="rect">
            <a:avLst/>
          </a:prstGeom>
          <a:noFill/>
        </p:spPr>
      </p:pic>
    </p:spTree>
    <p:custDataLst>
      <p:tags r:id="rId1"/>
    </p:custDataLst>
    <p:extLst>
      <p:ext uri="{BB962C8B-B14F-4D97-AF65-F5344CB8AC3E}">
        <p14:creationId xmlns:p14="http://schemas.microsoft.com/office/powerpoint/2010/main" val="4873284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46"/>
                                        </p:tgtEl>
                                        <p:attrNameLst>
                                          <p:attrName>style.visibility</p:attrName>
                                        </p:attrNameLst>
                                      </p:cBhvr>
                                      <p:to>
                                        <p:strVal val="visible"/>
                                      </p:to>
                                    </p:set>
                                    <p:animEffect transition="in" filter="wipe(down)">
                                      <p:cBhvr>
                                        <p:cTn id="7" dur="1000"/>
                                        <p:tgtEl>
                                          <p:spTgt spid="46"/>
                                        </p:tgtEl>
                                      </p:cBhvr>
                                    </p:animEffect>
                                  </p:childTnLst>
                                </p:cTn>
                              </p:par>
                            </p:childTnLst>
                          </p:cTn>
                        </p:par>
                        <p:par>
                          <p:cTn id="8" fill="hold">
                            <p:stCondLst>
                              <p:cond delay="1500"/>
                            </p:stCondLst>
                            <p:childTnLst>
                              <p:par>
                                <p:cTn id="9" presetID="22" presetClass="entr" presetSubtype="2"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right)">
                                      <p:cBhvr>
                                        <p:cTn id="11" dur="1000"/>
                                        <p:tgtEl>
                                          <p:spTgt spid="47"/>
                                        </p:tgtEl>
                                      </p:cBhvr>
                                    </p:animEffect>
                                  </p:childTnLst>
                                </p:cTn>
                              </p:par>
                              <p:par>
                                <p:cTn id="12" presetID="3" presetClass="entr" presetSubtype="10" fill="hold" grpId="0" nodeType="withEffect">
                                  <p:stCondLst>
                                    <p:cond delay="750"/>
                                  </p:stCondLst>
                                  <p:childTnLst>
                                    <p:set>
                                      <p:cBhvr>
                                        <p:cTn id="13" dur="1" fill="hold">
                                          <p:stCondLst>
                                            <p:cond delay="0"/>
                                          </p:stCondLst>
                                        </p:cTn>
                                        <p:tgtEl>
                                          <p:spTgt spid="58"/>
                                        </p:tgtEl>
                                        <p:attrNameLst>
                                          <p:attrName>style.visibility</p:attrName>
                                        </p:attrNameLst>
                                      </p:cBhvr>
                                      <p:to>
                                        <p:strVal val="visible"/>
                                      </p:to>
                                    </p:set>
                                    <p:animEffect transition="in" filter="blinds(horizontal)">
                                      <p:cBhvr>
                                        <p:cTn id="14" dur="1000"/>
                                        <p:tgtEl>
                                          <p:spTgt spid="58"/>
                                        </p:tgtEl>
                                      </p:cBhvr>
                                    </p:animEffect>
                                  </p:childTnLst>
                                </p:cTn>
                              </p:par>
                            </p:childTnLst>
                          </p:cTn>
                        </p:par>
                        <p:par>
                          <p:cTn id="15" fill="hold">
                            <p:stCondLst>
                              <p:cond delay="3250"/>
                            </p:stCondLst>
                            <p:childTnLst>
                              <p:par>
                                <p:cTn id="16" presetID="22" presetClass="entr" presetSubtype="8" fill="hold" grpId="0" nodeType="after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wipe(left)">
                                      <p:cBhvr>
                                        <p:cTn id="18" dur="1000"/>
                                        <p:tgtEl>
                                          <p:spTgt spid="49"/>
                                        </p:tgtEl>
                                      </p:cBhvr>
                                    </p:animEffect>
                                  </p:childTnLst>
                                </p:cTn>
                              </p:par>
                              <p:par>
                                <p:cTn id="19" presetID="3" presetClass="entr" presetSubtype="10" fill="hold" grpId="0" nodeType="withEffect">
                                  <p:stCondLst>
                                    <p:cond delay="750"/>
                                  </p:stCondLst>
                                  <p:childTnLst>
                                    <p:set>
                                      <p:cBhvr>
                                        <p:cTn id="20" dur="1" fill="hold">
                                          <p:stCondLst>
                                            <p:cond delay="0"/>
                                          </p:stCondLst>
                                        </p:cTn>
                                        <p:tgtEl>
                                          <p:spTgt spid="59"/>
                                        </p:tgtEl>
                                        <p:attrNameLst>
                                          <p:attrName>style.visibility</p:attrName>
                                        </p:attrNameLst>
                                      </p:cBhvr>
                                      <p:to>
                                        <p:strVal val="visible"/>
                                      </p:to>
                                    </p:set>
                                    <p:animEffect transition="in" filter="blinds(horizontal)">
                                      <p:cBhvr>
                                        <p:cTn id="21" dur="10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8" grpId="0" animBg="1"/>
      <p:bldP spid="59" grpId="0" animBg="1"/>
      <p:bldP spid="4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US" dirty="0"/>
              <a:t>A web-mode </a:t>
            </a:r>
            <a:r>
              <a:rPr lang="en-US" dirty="0" smtClean="0"/>
              <a:t>SSL VPN </a:t>
            </a:r>
            <a:r>
              <a:rPr lang="en-US" dirty="0"/>
              <a:t>user connects to a remote web server. </a:t>
            </a:r>
            <a:r>
              <a:rPr lang="en-US" dirty="0" smtClean="0"/>
              <a:t>What is </a:t>
            </a:r>
            <a:r>
              <a:rPr lang="en-US" dirty="0"/>
              <a:t>the source IP address of the HTTP request the web server receives?</a:t>
            </a:r>
          </a:p>
          <a:p>
            <a:pPr marL="838133" lvl="1" indent="-457200">
              <a:buFont typeface="+mj-lt"/>
              <a:buAutoNum type="alphaUcPeriod"/>
            </a:pPr>
            <a:r>
              <a:rPr lang="en-US" dirty="0"/>
              <a:t>The remote </a:t>
            </a:r>
            <a:r>
              <a:rPr lang="en-US" dirty="0" smtClean="0"/>
              <a:t>user </a:t>
            </a:r>
            <a:r>
              <a:rPr lang="en-US" dirty="0"/>
              <a:t>IP address</a:t>
            </a:r>
          </a:p>
          <a:p>
            <a:pPr marL="838133" lvl="1" indent="-457200">
              <a:buFont typeface="+mj-lt"/>
              <a:buAutoNum type="alphaUcPeriod"/>
            </a:pPr>
            <a:r>
              <a:rPr lang="en-US" dirty="0"/>
              <a:t>The FortiGate </a:t>
            </a:r>
            <a:r>
              <a:rPr lang="en-US" dirty="0" smtClean="0"/>
              <a:t>device </a:t>
            </a:r>
            <a:r>
              <a:rPr lang="en-US" dirty="0"/>
              <a:t>internal IP address</a:t>
            </a:r>
          </a:p>
          <a:p>
            <a:pPr marL="457200" indent="-457200">
              <a:buFont typeface="+mj-lt"/>
              <a:buAutoNum type="alphaUcPeriod"/>
            </a:pPr>
            <a:endParaRPr lang="en-CA" dirty="0"/>
          </a:p>
          <a:p>
            <a:pPr marL="457200" indent="-457200">
              <a:buFont typeface="+mj-lt"/>
              <a:buAutoNum type="arabicPeriod" startAt="2"/>
            </a:pPr>
            <a:r>
              <a:rPr lang="en-US" dirty="0"/>
              <a:t>Which statement about tunnel-mode </a:t>
            </a:r>
            <a:r>
              <a:rPr lang="en-US" dirty="0" smtClean="0"/>
              <a:t>SSL VPN </a:t>
            </a:r>
            <a:r>
              <a:rPr lang="en-US" dirty="0"/>
              <a:t>is correct?</a:t>
            </a:r>
          </a:p>
          <a:p>
            <a:pPr marL="838133" lvl="1" indent="-457200">
              <a:buFont typeface="+mj-lt"/>
              <a:buAutoNum type="alphaUcPeriod"/>
            </a:pPr>
            <a:r>
              <a:rPr lang="en-US" dirty="0"/>
              <a:t>It supports split tunneling.</a:t>
            </a:r>
          </a:p>
          <a:p>
            <a:pPr marL="838133" lvl="1" indent="-457200">
              <a:buFont typeface="+mj-lt"/>
              <a:buAutoNum type="alphaUcPeriod"/>
            </a:pPr>
            <a:r>
              <a:rPr lang="en-US" dirty="0"/>
              <a:t>It </a:t>
            </a:r>
            <a:r>
              <a:rPr lang="en-US" dirty="0" smtClean="0"/>
              <a:t>requires bookmarks</a:t>
            </a:r>
            <a:r>
              <a:rPr lang="en-US" dirty="0"/>
              <a:t>.</a:t>
            </a:r>
          </a:p>
          <a:p>
            <a:pPr marL="838133" lvl="1" indent="-457200">
              <a:buFont typeface="+mj-lt"/>
              <a:buAutoNum type="alphaUcPeriod"/>
            </a:pPr>
            <a:endParaRPr lang="en-US" dirty="0"/>
          </a:p>
          <a:p>
            <a:pPr marL="457200" indent="-457200">
              <a:buFont typeface="+mj-lt"/>
              <a:buAutoNum type="arabicPeriod" startAt="2"/>
            </a:pPr>
            <a:r>
              <a:rPr lang="en-US" dirty="0"/>
              <a:t>A web-mode </a:t>
            </a:r>
            <a:r>
              <a:rPr lang="en-US" dirty="0" smtClean="0"/>
              <a:t>SSL VPN </a:t>
            </a:r>
            <a:r>
              <a:rPr lang="en-US" dirty="0"/>
              <a:t>user </a:t>
            </a:r>
            <a:r>
              <a:rPr lang="en-US" dirty="0" smtClean="0"/>
              <a:t>uses ______ to access internal network resources.</a:t>
            </a:r>
            <a:endParaRPr lang="en-US" dirty="0"/>
          </a:p>
          <a:p>
            <a:pPr marL="838133" lvl="1" indent="-457200">
              <a:buFont typeface="+mj-lt"/>
              <a:buAutoNum type="alphaUcPeriod"/>
            </a:pPr>
            <a:r>
              <a:rPr lang="en-US" dirty="0"/>
              <a:t>b</a:t>
            </a:r>
            <a:r>
              <a:rPr lang="en-US" dirty="0" smtClean="0"/>
              <a:t>ookmarks</a:t>
            </a:r>
            <a:endParaRPr lang="en-US" dirty="0"/>
          </a:p>
          <a:p>
            <a:pPr marL="838133" lvl="1" indent="-457200">
              <a:buFont typeface="+mj-lt"/>
              <a:buAutoNum type="alphaUcPeriod"/>
            </a:pPr>
            <a:r>
              <a:rPr lang="en-US" dirty="0"/>
              <a:t>FortiClient</a:t>
            </a:r>
          </a:p>
          <a:p>
            <a:pPr marL="457200" indent="-457200">
              <a:buFont typeface="+mj-lt"/>
              <a:buAutoNum type="arabicPeriod" startAt="2"/>
            </a:pPr>
            <a:endParaRPr lang="en-US" dirty="0"/>
          </a:p>
          <a:p>
            <a:pPr marL="0" indent="0">
              <a:buNone/>
            </a:pPr>
            <a:endParaRPr lang="en-US"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036" y="1963696"/>
            <a:ext cx="301962" cy="322787"/>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036" y="3139023"/>
            <a:ext cx="301962" cy="322787"/>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455" y="4486298"/>
            <a:ext cx="301962" cy="322787"/>
          </a:xfrm>
          <a:prstGeom prst="rect">
            <a:avLst/>
          </a:prstGeom>
        </p:spPr>
      </p:pic>
    </p:spTree>
    <p:custDataLst>
      <p:tags r:id="rId1"/>
    </p:custDataLst>
    <p:extLst>
      <p:ext uri="{BB962C8B-B14F-4D97-AF65-F5344CB8AC3E}">
        <p14:creationId xmlns:p14="http://schemas.microsoft.com/office/powerpoint/2010/main" val="357992350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2"/>
          <p:cNvGraphicFramePr>
            <a:graphicFrameLocks noGrp="1"/>
          </p:cNvGraphicFramePr>
          <p:nvPr>
            <p:ph type="dgm" sz="quarter" idx="10"/>
            <p:extLst>
              <p:ext uri="{D42A27DB-BD31-4B8C-83A1-F6EECF244321}">
                <p14:modId xmlns:p14="http://schemas.microsoft.com/office/powerpoint/2010/main" val="3258254909"/>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30195" y="2006687"/>
            <a:ext cx="645461" cy="689975"/>
          </a:xfrm>
          <a:prstGeom prst="rect">
            <a:avLst/>
          </a:prstGeom>
        </p:spPr>
      </p:pic>
    </p:spTree>
    <p:custDataLst>
      <p:tags r:id="rId1"/>
    </p:custDataLst>
    <p:extLst>
      <p:ext uri="{BB962C8B-B14F-4D97-AF65-F5344CB8AC3E}">
        <p14:creationId xmlns:p14="http://schemas.microsoft.com/office/powerpoint/2010/main" val="2073460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Configuring </a:t>
            </a:r>
            <a:r>
              <a:rPr lang="en-US" dirty="0" smtClean="0"/>
              <a:t>SSL VPNs</a:t>
            </a:r>
            <a:endParaRPr lang="en-US" dirty="0"/>
          </a:p>
        </p:txBody>
      </p:sp>
      <p:sp>
        <p:nvSpPr>
          <p:cNvPr id="4" name="Text Placeholder 3"/>
          <p:cNvSpPr>
            <a:spLocks noGrp="1"/>
          </p:cNvSpPr>
          <p:nvPr>
            <p:ph type="body" sz="quarter" idx="11"/>
          </p:nvPr>
        </p:nvSpPr>
        <p:spPr/>
        <p:txBody>
          <a:bodyPr/>
          <a:lstStyle/>
          <a:p>
            <a:r>
              <a:rPr lang="en-US" dirty="0"/>
              <a:t>Define authentication for </a:t>
            </a:r>
            <a:r>
              <a:rPr lang="en-US" dirty="0" smtClean="0"/>
              <a:t>SSL VPN </a:t>
            </a:r>
            <a:r>
              <a:rPr lang="en-US" dirty="0"/>
              <a:t>users</a:t>
            </a:r>
          </a:p>
          <a:p>
            <a:r>
              <a:rPr lang="en-US" dirty="0"/>
              <a:t>Configure </a:t>
            </a:r>
            <a:r>
              <a:rPr lang="en-US" dirty="0" smtClean="0"/>
              <a:t>SSL VPN </a:t>
            </a:r>
            <a:r>
              <a:rPr lang="en-US" dirty="0"/>
              <a:t>portals</a:t>
            </a:r>
          </a:p>
          <a:p>
            <a:r>
              <a:rPr lang="en-US" dirty="0"/>
              <a:t>Configure </a:t>
            </a:r>
            <a:r>
              <a:rPr lang="en-US" dirty="0" smtClean="0"/>
              <a:t>SSL VPN </a:t>
            </a:r>
            <a:r>
              <a:rPr lang="en-US" dirty="0"/>
              <a:t>settings</a:t>
            </a:r>
          </a:p>
          <a:p>
            <a:r>
              <a:rPr lang="en-US" dirty="0"/>
              <a:t>Define firewall policies for </a:t>
            </a:r>
            <a:r>
              <a:rPr lang="en-US" dirty="0" smtClean="0"/>
              <a:t>SSL VPNs</a:t>
            </a:r>
          </a:p>
          <a:p>
            <a:r>
              <a:rPr lang="en-US" dirty="0"/>
              <a:t>Configure client integrity check</a:t>
            </a:r>
          </a:p>
        </p:txBody>
      </p:sp>
    </p:spTree>
    <p:custDataLst>
      <p:tags r:id="rId1"/>
    </p:custDataLst>
    <p:extLst>
      <p:ext uri="{BB962C8B-B14F-4D97-AF65-F5344CB8AC3E}">
        <p14:creationId xmlns:p14="http://schemas.microsoft.com/office/powerpoint/2010/main" val="2996249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charset="0"/>
              </a:rPr>
              <a:t>Configuring </a:t>
            </a:r>
            <a:r>
              <a:rPr lang="en-US" dirty="0" smtClean="0">
                <a:cs typeface="Arial" charset="0"/>
              </a:rPr>
              <a:t>SSL VPN—User as Client</a:t>
            </a:r>
            <a:endParaRPr lang="en-US" dirty="0"/>
          </a:p>
        </p:txBody>
      </p:sp>
      <p:sp>
        <p:nvSpPr>
          <p:cNvPr id="3" name="Content Placeholder 2"/>
          <p:cNvSpPr>
            <a:spLocks noGrp="1"/>
          </p:cNvSpPr>
          <p:nvPr>
            <p:ph idx="1"/>
          </p:nvPr>
        </p:nvSpPr>
        <p:spPr/>
        <p:txBody>
          <a:bodyPr>
            <a:normAutofit/>
          </a:bodyPr>
          <a:lstStyle/>
          <a:p>
            <a:pPr marL="457200" indent="-457200">
              <a:spcBef>
                <a:spcPts val="1800"/>
              </a:spcBef>
              <a:buFont typeface="+mj-lt"/>
              <a:buAutoNum type="arabicPeriod"/>
            </a:pPr>
            <a:r>
              <a:rPr lang="en-US" dirty="0">
                <a:cs typeface="Arial" charset="0"/>
              </a:rPr>
              <a:t>Set up user accounts and groups for remote </a:t>
            </a:r>
            <a:r>
              <a:rPr lang="en-US" dirty="0" smtClean="0">
                <a:cs typeface="Arial" charset="0"/>
              </a:rPr>
              <a:t>SSL VPN </a:t>
            </a:r>
            <a:r>
              <a:rPr lang="en-US" dirty="0">
                <a:cs typeface="Arial" charset="0"/>
              </a:rPr>
              <a:t>users</a:t>
            </a:r>
          </a:p>
          <a:p>
            <a:pPr marL="457200" indent="-457200">
              <a:spcBef>
                <a:spcPts val="1800"/>
              </a:spcBef>
              <a:buFont typeface="+mj-lt"/>
              <a:buAutoNum type="arabicPeriod"/>
            </a:pPr>
            <a:r>
              <a:rPr lang="en-US" dirty="0">
                <a:cs typeface="Arial" charset="0"/>
              </a:rPr>
              <a:t>Configure </a:t>
            </a:r>
            <a:r>
              <a:rPr lang="en-US" dirty="0" smtClean="0">
                <a:cs typeface="Arial" charset="0"/>
              </a:rPr>
              <a:t>SSL VPN </a:t>
            </a:r>
            <a:r>
              <a:rPr lang="en-US" dirty="0">
                <a:cs typeface="Arial" charset="0"/>
              </a:rPr>
              <a:t>portals</a:t>
            </a:r>
          </a:p>
          <a:p>
            <a:pPr marL="457200" indent="-457200">
              <a:spcBef>
                <a:spcPts val="1800"/>
              </a:spcBef>
              <a:buFont typeface="+mj-lt"/>
              <a:buAutoNum type="arabicPeriod"/>
            </a:pPr>
            <a:r>
              <a:rPr lang="en-US" dirty="0">
                <a:cs typeface="Arial" charset="0"/>
              </a:rPr>
              <a:t>Configure </a:t>
            </a:r>
            <a:r>
              <a:rPr lang="en-US" dirty="0" smtClean="0">
                <a:cs typeface="Arial" charset="0"/>
              </a:rPr>
              <a:t>SSL VPN </a:t>
            </a:r>
            <a:r>
              <a:rPr lang="en-US" dirty="0">
                <a:cs typeface="Arial" charset="0"/>
              </a:rPr>
              <a:t>settings</a:t>
            </a:r>
          </a:p>
          <a:p>
            <a:pPr marL="457200" indent="-457200">
              <a:spcBef>
                <a:spcPts val="1800"/>
              </a:spcBef>
              <a:buFont typeface="+mj-lt"/>
              <a:buAutoNum type="arabicPeriod"/>
            </a:pPr>
            <a:r>
              <a:rPr lang="en-US" dirty="0">
                <a:cs typeface="Arial" charset="0"/>
              </a:rPr>
              <a:t>Create a firewall policy </a:t>
            </a:r>
            <a:r>
              <a:rPr lang="en-US" dirty="0"/>
              <a:t>to and from the </a:t>
            </a:r>
            <a:r>
              <a:rPr lang="en-US" dirty="0" smtClean="0"/>
              <a:t>SSL VPN </a:t>
            </a:r>
            <a:r>
              <a:rPr lang="en-US" dirty="0"/>
              <a:t>interface</a:t>
            </a:r>
          </a:p>
          <a:p>
            <a:pPr marL="666683" lvl="1" indent="-285750"/>
            <a:r>
              <a:rPr lang="en-US" dirty="0">
                <a:cs typeface="Arial" charset="0"/>
              </a:rPr>
              <a:t>Accepts and decrypts packets</a:t>
            </a:r>
          </a:p>
          <a:p>
            <a:pPr marL="666683" lvl="1" indent="-285750"/>
            <a:r>
              <a:rPr lang="en-US" dirty="0">
                <a:cs typeface="Arial" charset="0"/>
              </a:rPr>
              <a:t>Allows traffic from </a:t>
            </a:r>
            <a:r>
              <a:rPr lang="en-US" dirty="0" smtClean="0">
                <a:cs typeface="Arial" charset="0"/>
              </a:rPr>
              <a:t>SSL VPN </a:t>
            </a:r>
            <a:r>
              <a:rPr lang="en-US" dirty="0">
                <a:cs typeface="Arial" charset="0"/>
              </a:rPr>
              <a:t>clients to the internal network and the reverse</a:t>
            </a:r>
          </a:p>
          <a:p>
            <a:pPr marL="457200" indent="-457200">
              <a:spcBef>
                <a:spcPts val="1800"/>
              </a:spcBef>
              <a:buFont typeface="+mj-lt"/>
              <a:buAutoNum type="arabicPeriod"/>
            </a:pPr>
            <a:r>
              <a:rPr lang="en-US" dirty="0">
                <a:cs typeface="Arial" charset="0"/>
              </a:rPr>
              <a:t>Optionally: </a:t>
            </a:r>
          </a:p>
          <a:p>
            <a:pPr lvl="1">
              <a:spcBef>
                <a:spcPts val="1800"/>
              </a:spcBef>
            </a:pPr>
            <a:r>
              <a:rPr lang="en-US" dirty="0">
                <a:cs typeface="Arial" charset="0"/>
              </a:rPr>
              <a:t>C</a:t>
            </a:r>
            <a:r>
              <a:rPr lang="en-US" dirty="0" smtClean="0">
                <a:cs typeface="Arial" charset="0"/>
              </a:rPr>
              <a:t>reate </a:t>
            </a:r>
            <a:r>
              <a:rPr lang="en-US" dirty="0">
                <a:cs typeface="Arial" charset="0"/>
              </a:rPr>
              <a:t>a firewall policy to allow </a:t>
            </a:r>
            <a:r>
              <a:rPr lang="en-US" dirty="0" smtClean="0">
                <a:cs typeface="Arial" charset="0"/>
              </a:rPr>
              <a:t>SSL VPN </a:t>
            </a:r>
            <a:r>
              <a:rPr lang="en-US" dirty="0">
                <a:cs typeface="Arial" charset="0"/>
              </a:rPr>
              <a:t>traffic to the </a:t>
            </a:r>
            <a:r>
              <a:rPr lang="en-US" dirty="0" smtClean="0">
                <a:cs typeface="Arial" charset="0"/>
              </a:rPr>
              <a:t>internet:</a:t>
            </a:r>
            <a:endParaRPr lang="en-US" dirty="0">
              <a:cs typeface="Arial" charset="0"/>
            </a:endParaRPr>
          </a:p>
          <a:p>
            <a:pPr lvl="2"/>
            <a:r>
              <a:rPr lang="en-US" dirty="0">
                <a:cs typeface="Arial" charset="0"/>
              </a:rPr>
              <a:t>Useful to allow all clients’ traffic through FortiGate to Internet when split tunneling </a:t>
            </a:r>
            <a:endParaRPr lang="en-US" dirty="0" smtClean="0">
              <a:cs typeface="Arial" charset="0"/>
            </a:endParaRPr>
          </a:p>
          <a:p>
            <a:pPr marL="914126" lvl="2" indent="0">
              <a:buNone/>
            </a:pPr>
            <a:r>
              <a:rPr lang="en-US" dirty="0">
                <a:cs typeface="Arial" charset="0"/>
              </a:rPr>
              <a:t> </a:t>
            </a:r>
            <a:r>
              <a:rPr lang="en-US" dirty="0" smtClean="0">
                <a:cs typeface="Arial" charset="0"/>
              </a:rPr>
              <a:t>   is </a:t>
            </a:r>
            <a:r>
              <a:rPr lang="en-US" dirty="0">
                <a:cs typeface="Arial" charset="0"/>
              </a:rPr>
              <a:t>disabled</a:t>
            </a:r>
          </a:p>
          <a:p>
            <a:pPr lvl="2"/>
            <a:r>
              <a:rPr lang="en-US" dirty="0">
                <a:cs typeface="Arial" charset="0"/>
              </a:rPr>
              <a:t>FortiGate can be used to apply security profiles</a:t>
            </a:r>
          </a:p>
          <a:p>
            <a:pPr marL="321737" indent="-342900">
              <a:buFont typeface="+mj-lt"/>
              <a:buAutoNum type="arabicPeriod" startAt="5"/>
            </a:pPr>
            <a:endParaRPr lang="en-US" dirty="0">
              <a:cs typeface="Arial" charset="0"/>
            </a:endParaRPr>
          </a:p>
          <a:p>
            <a:pPr lvl="1"/>
            <a:endParaRPr lang="en-US" dirty="0">
              <a:cs typeface="Arial" charset="0"/>
            </a:endParaRPr>
          </a:p>
          <a:p>
            <a:pPr marL="321737" indent="-342900">
              <a:buFont typeface="+mj-lt"/>
              <a:buAutoNum type="arabicPeriod" startAt="5"/>
            </a:pPr>
            <a:endParaRPr lang="en-US" dirty="0">
              <a:cs typeface="Arial" charset="0"/>
            </a:endParaRPr>
          </a:p>
          <a:p>
            <a:endParaRPr lang="en-US" dirty="0"/>
          </a:p>
        </p:txBody>
      </p:sp>
      <p:grpSp>
        <p:nvGrpSpPr>
          <p:cNvPr id="9" name="Group 54"/>
          <p:cNvGrpSpPr/>
          <p:nvPr/>
        </p:nvGrpSpPr>
        <p:grpSpPr>
          <a:xfrm>
            <a:off x="9145710" y="4949629"/>
            <a:ext cx="500066" cy="369332"/>
            <a:chOff x="1543698" y="2459870"/>
            <a:chExt cx="500066" cy="358353"/>
          </a:xfrm>
        </p:grpSpPr>
        <p:sp>
          <p:nvSpPr>
            <p:cNvPr id="10" name="Oval 9"/>
            <p:cNvSpPr/>
            <p:nvPr/>
          </p:nvSpPr>
          <p:spPr bwMode="auto">
            <a:xfrm>
              <a:off x="1547664" y="2492326"/>
              <a:ext cx="285752" cy="285752"/>
            </a:xfrm>
            <a:prstGeom prst="ellipse">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CA" sz="2400" b="1" i="0" u="none" strike="noStrike" cap="none" normalizeH="0" baseline="0" dirty="0">
                <a:ln>
                  <a:noFill/>
                </a:ln>
                <a:solidFill>
                  <a:schemeClr val="tx1"/>
                </a:solidFill>
                <a:effectLst/>
                <a:ea typeface="ＭＳ Ｐゴシック" charset="-128"/>
                <a:cs typeface="ＭＳ Ｐゴシック" charset="-128"/>
              </a:endParaRPr>
            </a:p>
          </p:txBody>
        </p:sp>
        <p:sp>
          <p:nvSpPr>
            <p:cNvPr id="11" name="TextBox 10"/>
            <p:cNvSpPr txBox="1"/>
            <p:nvPr/>
          </p:nvSpPr>
          <p:spPr>
            <a:xfrm>
              <a:off x="1543698" y="2459870"/>
              <a:ext cx="500066" cy="358353"/>
            </a:xfrm>
            <a:prstGeom prst="rect">
              <a:avLst/>
            </a:prstGeom>
            <a:noFill/>
          </p:spPr>
          <p:txBody>
            <a:bodyPr wrap="square" rtlCol="0">
              <a:spAutoFit/>
            </a:bodyPr>
            <a:lstStyle/>
            <a:p>
              <a:r>
                <a:rPr lang="en-US" b="1" dirty="0">
                  <a:solidFill>
                    <a:schemeClr val="bg1"/>
                  </a:solidFill>
                </a:rPr>
                <a:t>1</a:t>
              </a:r>
              <a:endParaRPr lang="en-CA" b="1" dirty="0">
                <a:solidFill>
                  <a:schemeClr val="bg1"/>
                </a:solidFill>
              </a:endParaRPr>
            </a:p>
          </p:txBody>
        </p:sp>
      </p:grpSp>
      <p:grpSp>
        <p:nvGrpSpPr>
          <p:cNvPr id="12" name="Group 55"/>
          <p:cNvGrpSpPr/>
          <p:nvPr/>
        </p:nvGrpSpPr>
        <p:grpSpPr>
          <a:xfrm>
            <a:off x="9145944" y="3761780"/>
            <a:ext cx="500066" cy="369332"/>
            <a:chOff x="1533150" y="2459870"/>
            <a:chExt cx="500066" cy="358353"/>
          </a:xfrm>
        </p:grpSpPr>
        <p:sp>
          <p:nvSpPr>
            <p:cNvPr id="13" name="Oval 12"/>
            <p:cNvSpPr/>
            <p:nvPr/>
          </p:nvSpPr>
          <p:spPr bwMode="auto">
            <a:xfrm>
              <a:off x="1547664" y="2492326"/>
              <a:ext cx="285752" cy="285752"/>
            </a:xfrm>
            <a:prstGeom prst="ellipse">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CA" sz="2400" b="1" i="0" u="none" strike="noStrike" cap="none" normalizeH="0" baseline="0" dirty="0">
                <a:ln>
                  <a:noFill/>
                </a:ln>
                <a:solidFill>
                  <a:schemeClr val="tx1"/>
                </a:solidFill>
                <a:effectLst/>
                <a:ea typeface="ＭＳ Ｐゴシック" charset="-128"/>
                <a:cs typeface="ＭＳ Ｐゴシック" charset="-128"/>
              </a:endParaRPr>
            </a:p>
          </p:txBody>
        </p:sp>
        <p:sp>
          <p:nvSpPr>
            <p:cNvPr id="14" name="TextBox 13"/>
            <p:cNvSpPr txBox="1"/>
            <p:nvPr/>
          </p:nvSpPr>
          <p:spPr>
            <a:xfrm>
              <a:off x="1533150" y="2459870"/>
              <a:ext cx="500066" cy="358353"/>
            </a:xfrm>
            <a:prstGeom prst="rect">
              <a:avLst/>
            </a:prstGeom>
            <a:noFill/>
          </p:spPr>
          <p:txBody>
            <a:bodyPr wrap="square" rtlCol="0">
              <a:spAutoFit/>
            </a:bodyPr>
            <a:lstStyle/>
            <a:p>
              <a:r>
                <a:rPr lang="en-CA" b="1" dirty="0">
                  <a:solidFill>
                    <a:schemeClr val="bg1"/>
                  </a:solidFill>
                </a:rPr>
                <a:t>2</a:t>
              </a:r>
            </a:p>
          </p:txBody>
        </p:sp>
      </p:grpSp>
      <p:grpSp>
        <p:nvGrpSpPr>
          <p:cNvPr id="15" name="Group 58"/>
          <p:cNvGrpSpPr/>
          <p:nvPr/>
        </p:nvGrpSpPr>
        <p:grpSpPr>
          <a:xfrm>
            <a:off x="9152930" y="4112152"/>
            <a:ext cx="500066" cy="369332"/>
            <a:chOff x="1533150" y="2461683"/>
            <a:chExt cx="500066" cy="358353"/>
          </a:xfrm>
        </p:grpSpPr>
        <p:sp>
          <p:nvSpPr>
            <p:cNvPr id="16" name="Oval 15"/>
            <p:cNvSpPr/>
            <p:nvPr/>
          </p:nvSpPr>
          <p:spPr bwMode="auto">
            <a:xfrm>
              <a:off x="1547664" y="2492326"/>
              <a:ext cx="285752" cy="285752"/>
            </a:xfrm>
            <a:prstGeom prst="ellipse">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CA" sz="2400" b="1" i="0" u="none" strike="noStrike" cap="none" normalizeH="0" baseline="0" dirty="0">
                <a:ln>
                  <a:noFill/>
                </a:ln>
                <a:solidFill>
                  <a:schemeClr val="tx1"/>
                </a:solidFill>
                <a:effectLst/>
                <a:ea typeface="ＭＳ Ｐゴシック" charset="-128"/>
                <a:cs typeface="ＭＳ Ｐゴシック" charset="-128"/>
              </a:endParaRPr>
            </a:p>
          </p:txBody>
        </p:sp>
        <p:sp>
          <p:nvSpPr>
            <p:cNvPr id="17" name="TextBox 16"/>
            <p:cNvSpPr txBox="1"/>
            <p:nvPr/>
          </p:nvSpPr>
          <p:spPr>
            <a:xfrm>
              <a:off x="1533150" y="2461683"/>
              <a:ext cx="500066" cy="358353"/>
            </a:xfrm>
            <a:prstGeom prst="rect">
              <a:avLst/>
            </a:prstGeom>
            <a:noFill/>
          </p:spPr>
          <p:txBody>
            <a:bodyPr wrap="square" rtlCol="0">
              <a:spAutoFit/>
            </a:bodyPr>
            <a:lstStyle/>
            <a:p>
              <a:r>
                <a:rPr lang="en-CA" b="1" dirty="0">
                  <a:solidFill>
                    <a:schemeClr val="bg1"/>
                  </a:solidFill>
                </a:rPr>
                <a:t>3</a:t>
              </a:r>
            </a:p>
          </p:txBody>
        </p:sp>
      </p:grpSp>
      <p:grpSp>
        <p:nvGrpSpPr>
          <p:cNvPr id="18" name="Group 55"/>
          <p:cNvGrpSpPr/>
          <p:nvPr/>
        </p:nvGrpSpPr>
        <p:grpSpPr>
          <a:xfrm>
            <a:off x="9150864" y="1604321"/>
            <a:ext cx="500066" cy="369332"/>
            <a:chOff x="1533150" y="2459870"/>
            <a:chExt cx="500066" cy="358353"/>
          </a:xfrm>
        </p:grpSpPr>
        <p:sp>
          <p:nvSpPr>
            <p:cNvPr id="19" name="Oval 18"/>
            <p:cNvSpPr/>
            <p:nvPr/>
          </p:nvSpPr>
          <p:spPr bwMode="auto">
            <a:xfrm>
              <a:off x="1547664" y="2492326"/>
              <a:ext cx="285752" cy="285752"/>
            </a:xfrm>
            <a:prstGeom prst="ellipse">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CA" sz="2400" b="1" i="0" u="none" strike="noStrike" cap="none" normalizeH="0" baseline="0" dirty="0">
                <a:ln>
                  <a:noFill/>
                </a:ln>
                <a:solidFill>
                  <a:schemeClr val="tx1"/>
                </a:solidFill>
                <a:effectLst/>
                <a:ea typeface="ＭＳ Ｐゴシック" charset="-128"/>
                <a:cs typeface="ＭＳ Ｐゴシック" charset="-128"/>
              </a:endParaRPr>
            </a:p>
          </p:txBody>
        </p:sp>
        <p:sp>
          <p:nvSpPr>
            <p:cNvPr id="20" name="TextBox 19"/>
            <p:cNvSpPr txBox="1"/>
            <p:nvPr/>
          </p:nvSpPr>
          <p:spPr>
            <a:xfrm>
              <a:off x="1533150" y="2459870"/>
              <a:ext cx="500066" cy="358353"/>
            </a:xfrm>
            <a:prstGeom prst="rect">
              <a:avLst/>
            </a:prstGeom>
            <a:noFill/>
          </p:spPr>
          <p:txBody>
            <a:bodyPr wrap="square" rtlCol="0">
              <a:spAutoFit/>
            </a:bodyPr>
            <a:lstStyle/>
            <a:p>
              <a:r>
                <a:rPr lang="en-CA" b="1" dirty="0">
                  <a:solidFill>
                    <a:schemeClr val="bg1"/>
                  </a:solidFill>
                </a:rPr>
                <a:t>4</a:t>
              </a:r>
            </a:p>
          </p:txBody>
        </p:sp>
      </p:grpSp>
      <p:grpSp>
        <p:nvGrpSpPr>
          <p:cNvPr id="21" name="Group 58"/>
          <p:cNvGrpSpPr/>
          <p:nvPr/>
        </p:nvGrpSpPr>
        <p:grpSpPr>
          <a:xfrm>
            <a:off x="9157182" y="1968061"/>
            <a:ext cx="500066" cy="369332"/>
            <a:chOff x="1533150" y="2461683"/>
            <a:chExt cx="500066" cy="358353"/>
          </a:xfrm>
        </p:grpSpPr>
        <p:sp>
          <p:nvSpPr>
            <p:cNvPr id="22" name="Oval 21"/>
            <p:cNvSpPr/>
            <p:nvPr/>
          </p:nvSpPr>
          <p:spPr bwMode="auto">
            <a:xfrm>
              <a:off x="1547664" y="2492326"/>
              <a:ext cx="285752" cy="285752"/>
            </a:xfrm>
            <a:prstGeom prst="ellipse">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CA" sz="2400" b="1" i="0" u="none" strike="noStrike" cap="none" normalizeH="0" baseline="0" dirty="0">
                <a:ln>
                  <a:noFill/>
                </a:ln>
                <a:solidFill>
                  <a:schemeClr val="tx1"/>
                </a:solidFill>
                <a:effectLst/>
                <a:ea typeface="ＭＳ Ｐゴシック" charset="-128"/>
                <a:cs typeface="ＭＳ Ｐゴシック" charset="-128"/>
              </a:endParaRPr>
            </a:p>
          </p:txBody>
        </p:sp>
        <p:sp>
          <p:nvSpPr>
            <p:cNvPr id="23" name="TextBox 22"/>
            <p:cNvSpPr txBox="1"/>
            <p:nvPr/>
          </p:nvSpPr>
          <p:spPr>
            <a:xfrm>
              <a:off x="1533150" y="2461683"/>
              <a:ext cx="500066" cy="358353"/>
            </a:xfrm>
            <a:prstGeom prst="rect">
              <a:avLst/>
            </a:prstGeom>
            <a:noFill/>
          </p:spPr>
          <p:txBody>
            <a:bodyPr wrap="square" rtlCol="0">
              <a:spAutoFit/>
            </a:bodyPr>
            <a:lstStyle/>
            <a:p>
              <a:r>
                <a:rPr lang="en-US" b="1" dirty="0">
                  <a:solidFill>
                    <a:schemeClr val="bg1"/>
                  </a:solidFill>
                </a:rPr>
                <a:t>5</a:t>
              </a:r>
              <a:endParaRPr lang="en-CA" b="1" dirty="0">
                <a:solidFill>
                  <a:schemeClr val="bg1"/>
                </a:solidFill>
              </a:endParaRPr>
            </a:p>
          </p:txBody>
        </p:sp>
      </p:grpSp>
      <p:pic>
        <p:nvPicPr>
          <p:cNvPr id="5" name="Picture 4"/>
          <p:cNvPicPr>
            <a:picLocks noChangeAspect="1"/>
          </p:cNvPicPr>
          <p:nvPr/>
        </p:nvPicPr>
        <p:blipFill>
          <a:blip r:embed="rId4"/>
          <a:stretch>
            <a:fillRect/>
          </a:stretch>
        </p:blipFill>
        <p:spPr>
          <a:xfrm>
            <a:off x="9489131" y="825317"/>
            <a:ext cx="2305484" cy="5578063"/>
          </a:xfrm>
          <a:prstGeom prst="rect">
            <a:avLst/>
          </a:prstGeom>
          <a:ln>
            <a:solidFill>
              <a:schemeClr val="tx1"/>
            </a:solidFill>
          </a:ln>
        </p:spPr>
      </p:pic>
      <p:sp>
        <p:nvSpPr>
          <p:cNvPr id="27" name="Rectangle 26"/>
          <p:cNvSpPr/>
          <p:nvPr/>
        </p:nvSpPr>
        <p:spPr bwMode="invGray">
          <a:xfrm>
            <a:off x="9493052" y="1777967"/>
            <a:ext cx="2257466" cy="335269"/>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Rectangle 27"/>
          <p:cNvSpPr/>
          <p:nvPr/>
        </p:nvSpPr>
        <p:spPr bwMode="invGray">
          <a:xfrm>
            <a:off x="9497960" y="3765687"/>
            <a:ext cx="2257466" cy="641190"/>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Rectangle 28"/>
          <p:cNvSpPr/>
          <p:nvPr/>
        </p:nvSpPr>
        <p:spPr bwMode="invGray">
          <a:xfrm>
            <a:off x="9491296" y="4960036"/>
            <a:ext cx="2257466" cy="277082"/>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custDataLst>
      <p:tags r:id="rId1"/>
    </p:custDataLst>
    <p:extLst>
      <p:ext uri="{BB962C8B-B14F-4D97-AF65-F5344CB8AC3E}">
        <p14:creationId xmlns:p14="http://schemas.microsoft.com/office/powerpoint/2010/main" val="521542998"/>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6"/>
          </p:nvPr>
        </p:nvPicPr>
        <p:blipFill>
          <a:blip r:embed="rId4"/>
          <a:stretch>
            <a:fillRect/>
          </a:stretch>
        </p:blipFill>
        <p:spPr>
          <a:xfrm>
            <a:off x="6936794" y="1022400"/>
            <a:ext cx="3131053" cy="5506650"/>
          </a:xfrm>
          <a:prstGeom prst="rect">
            <a:avLst/>
          </a:prstGeom>
          <a:ln>
            <a:solidFill>
              <a:schemeClr val="tx1"/>
            </a:solidFill>
          </a:ln>
        </p:spPr>
      </p:pic>
      <p:sp>
        <p:nvSpPr>
          <p:cNvPr id="6" name="Content Placeholder 5"/>
          <p:cNvSpPr>
            <a:spLocks noGrp="1"/>
          </p:cNvSpPr>
          <p:nvPr>
            <p:ph idx="15"/>
          </p:nvPr>
        </p:nvSpPr>
        <p:spPr/>
        <p:txBody>
          <a:bodyPr>
            <a:normAutofit/>
          </a:bodyPr>
          <a:lstStyle/>
          <a:p>
            <a:endParaRPr lang="en-US" dirty="0"/>
          </a:p>
          <a:p>
            <a:endParaRPr lang="en-US" dirty="0"/>
          </a:p>
          <a:p>
            <a:endParaRPr lang="en-US" sz="2400" dirty="0"/>
          </a:p>
          <a:p>
            <a:endParaRPr lang="en-US" sz="2800" dirty="0"/>
          </a:p>
          <a:p>
            <a:r>
              <a:rPr lang="en-US" dirty="0" smtClean="0"/>
              <a:t>SSL VPN </a:t>
            </a:r>
            <a:r>
              <a:rPr lang="en-US" dirty="0"/>
              <a:t>portals determine the access profiles </a:t>
            </a:r>
          </a:p>
          <a:p>
            <a:pPr lvl="1"/>
            <a:r>
              <a:rPr lang="en-US" dirty="0"/>
              <a:t>Configure portals for different user or groups</a:t>
            </a:r>
          </a:p>
          <a:p>
            <a:r>
              <a:rPr lang="en-US" dirty="0" smtClean="0"/>
              <a:t>SSL VPN </a:t>
            </a:r>
            <a:r>
              <a:rPr lang="en-US" dirty="0"/>
              <a:t>portals can operate in:</a:t>
            </a:r>
          </a:p>
          <a:p>
            <a:pPr lvl="1"/>
            <a:r>
              <a:rPr lang="en-US" dirty="0"/>
              <a:t>Tunnel mode</a:t>
            </a:r>
          </a:p>
          <a:p>
            <a:pPr lvl="2"/>
            <a:r>
              <a:rPr lang="en-US" dirty="0"/>
              <a:t>Activate split tunneling in the </a:t>
            </a:r>
            <a:r>
              <a:rPr lang="en-US" b="1" dirty="0" smtClean="0"/>
              <a:t>Enable Split Tunneling </a:t>
            </a:r>
            <a:r>
              <a:rPr lang="en-US" dirty="0" smtClean="0"/>
              <a:t>option</a:t>
            </a:r>
            <a:endParaRPr lang="en-US" dirty="0"/>
          </a:p>
          <a:p>
            <a:pPr lvl="2"/>
            <a:r>
              <a:rPr lang="en-CA" dirty="0"/>
              <a:t>Assign an IP address to the end user virtual network adapter in </a:t>
            </a:r>
            <a:r>
              <a:rPr lang="en-CA" b="1" dirty="0"/>
              <a:t>Source IP Pool</a:t>
            </a:r>
            <a:r>
              <a:rPr lang="en-US" dirty="0">
                <a:cs typeface="Arial" charset="0"/>
              </a:rPr>
              <a:t>: </a:t>
            </a:r>
            <a:r>
              <a:rPr lang="en-US" dirty="0" err="1">
                <a:latin typeface="Courier New" panose="02070309020205020404" pitchFamily="49" charset="0"/>
                <a:cs typeface="Courier New" panose="02070309020205020404" pitchFamily="49" charset="0"/>
              </a:rPr>
              <a:t>fortissl</a:t>
            </a:r>
            <a:endParaRPr lang="en-US" dirty="0"/>
          </a:p>
          <a:p>
            <a:pPr lvl="1"/>
            <a:r>
              <a:rPr lang="en-US" dirty="0"/>
              <a:t>Web mode</a:t>
            </a:r>
          </a:p>
          <a:p>
            <a:pPr lvl="2"/>
            <a:r>
              <a:rPr lang="en-US" dirty="0"/>
              <a:t>Use direct connection or bookmarks to several applications such </a:t>
            </a:r>
            <a:r>
              <a:rPr lang="en-US" dirty="0" smtClean="0"/>
              <a:t>as: FTP</a:t>
            </a:r>
            <a:r>
              <a:rPr lang="en-US" dirty="0"/>
              <a:t>, </a:t>
            </a:r>
            <a:r>
              <a:rPr lang="en-US" dirty="0" smtClean="0"/>
              <a:t>HTTP/HTTPS, RDP</a:t>
            </a:r>
            <a:r>
              <a:rPr lang="en-US" dirty="0"/>
              <a:t>, SMB/CIFS, SSH, TELNET, VNC</a:t>
            </a:r>
          </a:p>
          <a:p>
            <a:endParaRPr lang="en-US" dirty="0"/>
          </a:p>
          <a:p>
            <a:endParaRPr lang="en-US" dirty="0"/>
          </a:p>
        </p:txBody>
      </p:sp>
      <p:sp>
        <p:nvSpPr>
          <p:cNvPr id="2" name="Title 1"/>
          <p:cNvSpPr>
            <a:spLocks noGrp="1"/>
          </p:cNvSpPr>
          <p:nvPr>
            <p:ph type="title"/>
          </p:nvPr>
        </p:nvSpPr>
        <p:spPr/>
        <p:txBody>
          <a:bodyPr>
            <a:normAutofit/>
          </a:bodyPr>
          <a:lstStyle/>
          <a:p>
            <a:r>
              <a:rPr lang="en-US" dirty="0" smtClean="0"/>
              <a:t>Configure </a:t>
            </a:r>
            <a:r>
              <a:rPr lang="en-US" dirty="0"/>
              <a:t>the </a:t>
            </a:r>
            <a:r>
              <a:rPr lang="en-US" dirty="0" smtClean="0"/>
              <a:t>SSL VPN </a:t>
            </a:r>
            <a:r>
              <a:rPr lang="en-US" dirty="0"/>
              <a:t>Portal</a:t>
            </a:r>
          </a:p>
        </p:txBody>
      </p:sp>
      <p:sp>
        <p:nvSpPr>
          <p:cNvPr id="10" name="Right Arrow 9"/>
          <p:cNvSpPr/>
          <p:nvPr/>
        </p:nvSpPr>
        <p:spPr bwMode="invGray">
          <a:xfrm>
            <a:off x="5729195" y="1594553"/>
            <a:ext cx="1146362" cy="471402"/>
          </a:xfrm>
          <a:prstGeom prst="rightArrow">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Rectangle 15"/>
          <p:cNvSpPr/>
          <p:nvPr/>
        </p:nvSpPr>
        <p:spPr bwMode="invGray">
          <a:xfrm>
            <a:off x="626413" y="979248"/>
            <a:ext cx="2504693" cy="350437"/>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a:t>VPN </a:t>
            </a:r>
            <a:r>
              <a:rPr lang="en-CA" sz="1600" dirty="0"/>
              <a:t>&gt;</a:t>
            </a:r>
            <a:r>
              <a:rPr lang="en-CA" sz="1600" b="1" dirty="0"/>
              <a:t> </a:t>
            </a:r>
            <a:r>
              <a:rPr lang="en-CA" sz="1600" b="1" dirty="0" smtClean="0"/>
              <a:t>SSL VPN </a:t>
            </a:r>
            <a:r>
              <a:rPr lang="en-CA" sz="1600" b="1" dirty="0"/>
              <a:t>Portals</a:t>
            </a:r>
          </a:p>
        </p:txBody>
      </p:sp>
      <p:pic>
        <p:nvPicPr>
          <p:cNvPr id="4" name="Picture 3"/>
          <p:cNvPicPr>
            <a:picLocks noChangeAspect="1"/>
          </p:cNvPicPr>
          <p:nvPr/>
        </p:nvPicPr>
        <p:blipFill>
          <a:blip r:embed="rId5"/>
          <a:stretch>
            <a:fillRect/>
          </a:stretch>
        </p:blipFill>
        <p:spPr>
          <a:xfrm>
            <a:off x="629923" y="1404303"/>
            <a:ext cx="4761715" cy="1136835"/>
          </a:xfrm>
          <a:prstGeom prst="rect">
            <a:avLst/>
          </a:prstGeom>
          <a:ln>
            <a:solidFill>
              <a:schemeClr val="tx1"/>
            </a:solidFill>
          </a:ln>
        </p:spPr>
      </p:pic>
      <p:sp>
        <p:nvSpPr>
          <p:cNvPr id="17" name="Rectangle 16"/>
          <p:cNvSpPr/>
          <p:nvPr/>
        </p:nvSpPr>
        <p:spPr bwMode="invGray">
          <a:xfrm>
            <a:off x="611480" y="1711589"/>
            <a:ext cx="4780158" cy="829550"/>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3" name="Rounded Rectangular Callout 22"/>
          <p:cNvSpPr/>
          <p:nvPr/>
        </p:nvSpPr>
        <p:spPr bwMode="invGray">
          <a:xfrm>
            <a:off x="9824641" y="1520230"/>
            <a:ext cx="1570444" cy="347400"/>
          </a:xfrm>
          <a:prstGeom prst="wedgeRoundRectCallout">
            <a:avLst>
              <a:gd name="adj1" fmla="val -179180"/>
              <a:gd name="adj2" fmla="val -17674"/>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dirty="0"/>
              <a:t>Tunnel Mode</a:t>
            </a:r>
          </a:p>
        </p:txBody>
      </p:sp>
      <p:sp>
        <p:nvSpPr>
          <p:cNvPr id="24" name="Rounded Rectangular Callout 23"/>
          <p:cNvSpPr/>
          <p:nvPr/>
        </p:nvSpPr>
        <p:spPr bwMode="invGray">
          <a:xfrm>
            <a:off x="9815450" y="4519645"/>
            <a:ext cx="1570444" cy="347400"/>
          </a:xfrm>
          <a:prstGeom prst="wedgeRoundRectCallout">
            <a:avLst>
              <a:gd name="adj1" fmla="val -171450"/>
              <a:gd name="adj2" fmla="val -8295"/>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dirty="0"/>
              <a:t>Web Mode</a:t>
            </a:r>
          </a:p>
        </p:txBody>
      </p:sp>
      <p:sp>
        <p:nvSpPr>
          <p:cNvPr id="26" name="Rounded Rectangular Callout 25"/>
          <p:cNvSpPr/>
          <p:nvPr/>
        </p:nvSpPr>
        <p:spPr bwMode="invGray">
          <a:xfrm>
            <a:off x="9426284" y="5032065"/>
            <a:ext cx="2601174" cy="1461305"/>
          </a:xfrm>
          <a:prstGeom prst="wedgeRoundRectCallout">
            <a:avLst>
              <a:gd name="adj1" fmla="val -112341"/>
              <a:gd name="adj2" fmla="val 19336"/>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600" dirty="0" smtClean="0"/>
              <a:t>Administrator-defined</a:t>
            </a:r>
            <a:r>
              <a:rPr lang="en-US" sz="1400" dirty="0" smtClean="0"/>
              <a:t> </a:t>
            </a:r>
            <a:r>
              <a:rPr lang="en-US" sz="1400" dirty="0"/>
              <a:t>bookmarks</a:t>
            </a:r>
          </a:p>
          <a:p>
            <a:pPr algn="ctr"/>
            <a:endParaRPr lang="en-US" sz="1600" dirty="0"/>
          </a:p>
        </p:txBody>
      </p:sp>
      <p:pic>
        <p:nvPicPr>
          <p:cNvPr id="27" name="Picture 2"/>
          <p:cNvPicPr>
            <a:picLocks noChangeAspect="1" noChangeArrowheads="1"/>
          </p:cNvPicPr>
          <p:nvPr/>
        </p:nvPicPr>
        <p:blipFill>
          <a:blip r:embed="rId6">
            <a:extLst>
              <a:ext uri="{BEBA8EAE-BF5A-486C-A8C5-ECC9F3942E4B}">
                <a14:imgProps xmlns:a14="http://schemas.microsoft.com/office/drawing/2010/main">
                  <a14:imgLayer r:embed="rId7">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9598694" y="5584799"/>
            <a:ext cx="2256691" cy="815483"/>
          </a:xfrm>
          <a:prstGeom prst="rect">
            <a:avLst/>
          </a:prstGeom>
          <a:solidFill>
            <a:srgbClr val="00B0F0"/>
          </a:solidFill>
          <a:ln w="9525">
            <a:solidFill>
              <a:schemeClr val="tx1"/>
            </a:solidFill>
            <a:miter lim="800000"/>
            <a:headEnd/>
            <a:tailEnd/>
          </a:ln>
          <a:extLst/>
        </p:spPr>
      </p:pic>
    </p:spTree>
    <p:custDataLst>
      <p:tags r:id="rId1"/>
    </p:custDataLst>
    <p:extLst>
      <p:ext uri="{BB962C8B-B14F-4D97-AF65-F5344CB8AC3E}">
        <p14:creationId xmlns:p14="http://schemas.microsoft.com/office/powerpoint/2010/main" val="336497347"/>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Configure SSL VPN </a:t>
            </a:r>
            <a:r>
              <a:rPr lang="en-US" dirty="0"/>
              <a:t>Settings</a:t>
            </a:r>
          </a:p>
        </p:txBody>
      </p:sp>
      <p:sp>
        <p:nvSpPr>
          <p:cNvPr id="6" name="Content Placeholder 5"/>
          <p:cNvSpPr>
            <a:spLocks noGrp="1"/>
          </p:cNvSpPr>
          <p:nvPr>
            <p:ph idx="15"/>
          </p:nvPr>
        </p:nvSpPr>
        <p:spPr>
          <a:xfrm>
            <a:off x="6195985" y="975600"/>
            <a:ext cx="5719789" cy="5338800"/>
          </a:xfrm>
        </p:spPr>
        <p:txBody>
          <a:bodyPr>
            <a:normAutofit lnSpcReduction="10000"/>
          </a:bodyPr>
          <a:lstStyle/>
          <a:p>
            <a:r>
              <a:rPr lang="en-US" dirty="0"/>
              <a:t>FortiGate interface for SSL VPN portal:</a:t>
            </a:r>
          </a:p>
          <a:p>
            <a:pPr lvl="1"/>
            <a:r>
              <a:rPr lang="en-US" dirty="0"/>
              <a:t>Default port is 443</a:t>
            </a:r>
          </a:p>
          <a:p>
            <a:pPr lvl="1"/>
            <a:r>
              <a:rPr lang="en-US" dirty="0">
                <a:cs typeface="Arial" charset="0"/>
              </a:rPr>
              <a:t>By default, the admin GUI interface and the SSL VPN portal use same HTTPS port</a:t>
            </a:r>
          </a:p>
          <a:p>
            <a:pPr lvl="2"/>
            <a:r>
              <a:rPr lang="en-US" dirty="0">
                <a:cs typeface="Arial" charset="0"/>
              </a:rPr>
              <a:t>Advised to use different interfaces for admin GUI access and SSL VPN portal</a:t>
            </a:r>
          </a:p>
          <a:p>
            <a:pPr lvl="2"/>
            <a:r>
              <a:rPr lang="en-US" dirty="0">
                <a:cs typeface="Arial" charset="0"/>
              </a:rPr>
              <a:t>If both services use the same interface and port, only the SSL VPN portal appears</a:t>
            </a:r>
          </a:p>
          <a:p>
            <a:pPr marL="742820" lvl="2" indent="0">
              <a:buNone/>
            </a:pPr>
            <a:endParaRPr lang="en-CA" dirty="0"/>
          </a:p>
          <a:p>
            <a:r>
              <a:rPr lang="en-US" dirty="0"/>
              <a:t>Restrict access to known hosts</a:t>
            </a:r>
          </a:p>
          <a:p>
            <a:r>
              <a:rPr lang="en-US" dirty="0"/>
              <a:t>SSL VPN time out:</a:t>
            </a:r>
          </a:p>
          <a:p>
            <a:pPr lvl="1"/>
            <a:r>
              <a:rPr lang="en-US" dirty="0"/>
              <a:t>Default idle: 300 sec (5 min)</a:t>
            </a:r>
          </a:p>
          <a:p>
            <a:r>
              <a:rPr lang="en-US" dirty="0"/>
              <a:t>Digital server certificate:</a:t>
            </a:r>
          </a:p>
          <a:p>
            <a:pPr lvl="1"/>
            <a:r>
              <a:rPr lang="en-US" dirty="0"/>
              <a:t>Self-signed certificate used by default</a:t>
            </a:r>
          </a:p>
          <a:p>
            <a:pPr lvl="1"/>
            <a:r>
              <a:rPr lang="en-US" dirty="0"/>
              <a:t>To avoid browser security warnings, use a certificate issued by a public CA, </a:t>
            </a:r>
            <a:r>
              <a:rPr lang="en-US" dirty="0" smtClean="0"/>
              <a:t>generate a trusted certificate or </a:t>
            </a:r>
            <a:r>
              <a:rPr lang="en-US" dirty="0"/>
              <a:t>install the self-signed certificate on all clients</a:t>
            </a:r>
          </a:p>
          <a:p>
            <a:endParaRPr lang="en-US" dirty="0"/>
          </a:p>
        </p:txBody>
      </p:sp>
      <p:sp>
        <p:nvSpPr>
          <p:cNvPr id="9" name="Rectangle 8"/>
          <p:cNvSpPr/>
          <p:nvPr/>
        </p:nvSpPr>
        <p:spPr bwMode="invGray">
          <a:xfrm>
            <a:off x="309850" y="1006803"/>
            <a:ext cx="2722110" cy="350437"/>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a:t>VPN </a:t>
            </a:r>
            <a:r>
              <a:rPr lang="en-CA" sz="1600" dirty="0"/>
              <a:t>&gt;</a:t>
            </a:r>
            <a:r>
              <a:rPr lang="en-CA" sz="1600" b="1" dirty="0"/>
              <a:t> </a:t>
            </a:r>
            <a:r>
              <a:rPr lang="en-CA" sz="1600" b="1" dirty="0" smtClean="0"/>
              <a:t>SSL VPN </a:t>
            </a:r>
            <a:r>
              <a:rPr lang="en-CA" sz="1600" b="1" dirty="0"/>
              <a:t>Settings</a:t>
            </a:r>
          </a:p>
        </p:txBody>
      </p:sp>
      <p:cxnSp>
        <p:nvCxnSpPr>
          <p:cNvPr id="16" name="Elbow Connector 15"/>
          <p:cNvCxnSpPr/>
          <p:nvPr/>
        </p:nvCxnSpPr>
        <p:spPr>
          <a:xfrm flipV="1">
            <a:off x="5745004" y="1825109"/>
            <a:ext cx="911543" cy="1052889"/>
          </a:xfrm>
          <a:prstGeom prst="bentConnector3">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Elbow Connector 16"/>
          <p:cNvCxnSpPr/>
          <p:nvPr/>
        </p:nvCxnSpPr>
        <p:spPr>
          <a:xfrm>
            <a:off x="5859379" y="5113421"/>
            <a:ext cx="800362" cy="389379"/>
          </a:xfrm>
          <a:prstGeom prst="bentConnector3">
            <a:avLst>
              <a:gd name="adj1" fmla="val 50000"/>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pic>
        <p:nvPicPr>
          <p:cNvPr id="3" name="Picture 2"/>
          <p:cNvPicPr>
            <a:picLocks noChangeAspect="1"/>
          </p:cNvPicPr>
          <p:nvPr/>
        </p:nvPicPr>
        <p:blipFill>
          <a:blip r:embed="rId4"/>
          <a:stretch>
            <a:fillRect/>
          </a:stretch>
        </p:blipFill>
        <p:spPr>
          <a:xfrm>
            <a:off x="309850" y="1493413"/>
            <a:ext cx="5579719" cy="4528564"/>
          </a:xfrm>
          <a:prstGeom prst="rect">
            <a:avLst/>
          </a:prstGeom>
          <a:ln>
            <a:solidFill>
              <a:schemeClr val="tx1"/>
            </a:solidFill>
          </a:ln>
        </p:spPr>
      </p:pic>
    </p:spTree>
    <p:custDataLst>
      <p:tags r:id="rId1"/>
    </p:custDataLst>
    <p:extLst>
      <p:ext uri="{BB962C8B-B14F-4D97-AF65-F5344CB8AC3E}">
        <p14:creationId xmlns:p14="http://schemas.microsoft.com/office/powerpoint/2010/main" val="3031753420"/>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Configure SSL VPN Settings (</a:t>
            </a:r>
            <a:r>
              <a:rPr lang="en-US" dirty="0" err="1" smtClean="0"/>
              <a:t>Contd</a:t>
            </a:r>
            <a:r>
              <a:rPr lang="en-US" dirty="0" smtClean="0"/>
              <a:t>)</a:t>
            </a:r>
            <a:endParaRPr lang="en-US" dirty="0"/>
          </a:p>
        </p:txBody>
      </p:sp>
      <p:sp>
        <p:nvSpPr>
          <p:cNvPr id="30" name="Content Placeholder 29"/>
          <p:cNvSpPr>
            <a:spLocks noGrp="1"/>
          </p:cNvSpPr>
          <p:nvPr>
            <p:ph idx="1"/>
          </p:nvPr>
        </p:nvSpPr>
        <p:spPr/>
        <p:txBody>
          <a:bodyPr/>
          <a:lstStyle/>
          <a:p>
            <a:r>
              <a:rPr lang="en-US" dirty="0"/>
              <a:t>Define the IP range for the </a:t>
            </a:r>
            <a:r>
              <a:rPr lang="en-US" dirty="0" smtClean="0"/>
              <a:t>SSL VPN</a:t>
            </a:r>
            <a:endParaRPr lang="en-US" dirty="0"/>
          </a:p>
          <a:p>
            <a:pPr lvl="1"/>
            <a:r>
              <a:rPr lang="en-US" dirty="0"/>
              <a:t>IPs are assigned to clients’ virtual adapters while joined to VPN</a:t>
            </a:r>
          </a:p>
          <a:p>
            <a:pPr lvl="1"/>
            <a:r>
              <a:rPr lang="en-GB" dirty="0"/>
              <a:t>IP allocation has two methods:</a:t>
            </a:r>
          </a:p>
          <a:p>
            <a:pPr lvl="2"/>
            <a:r>
              <a:rPr lang="en-GB" dirty="0"/>
              <a:t>First-available (default) or Round robin</a:t>
            </a:r>
          </a:p>
          <a:p>
            <a:pPr lvl="2"/>
            <a:r>
              <a:rPr lang="en-GB" dirty="0"/>
              <a:t>CLI only</a:t>
            </a:r>
          </a:p>
          <a:p>
            <a:pPr marL="914400" lvl="2" indent="0">
              <a:buNone/>
            </a:pPr>
            <a:r>
              <a:rPr lang="en-US" dirty="0"/>
              <a:t>   </a:t>
            </a:r>
            <a:r>
              <a:rPr lang="en-US" dirty="0" smtClean="0"/>
              <a:t> </a:t>
            </a:r>
            <a:r>
              <a:rPr lang="en-US" dirty="0" err="1" smtClean="0">
                <a:latin typeface="Courier New" panose="02070309020205020404" pitchFamily="49" charset="0"/>
                <a:cs typeface="Courier New" panose="02070309020205020404" pitchFamily="49" charset="0"/>
              </a:rPr>
              <a:t>conf</a:t>
            </a:r>
            <a:r>
              <a:rPr lang="en-US" dirty="0" smtClean="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vpn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ssl</a:t>
            </a:r>
            <a:r>
              <a:rPr lang="en-US" dirty="0">
                <a:latin typeface="Courier New" panose="02070309020205020404" pitchFamily="49" charset="0"/>
                <a:cs typeface="Courier New" panose="02070309020205020404" pitchFamily="49" charset="0"/>
              </a:rPr>
              <a:t> settings</a:t>
            </a:r>
          </a:p>
          <a:p>
            <a:pPr marL="914400" lvl="2" indent="0">
              <a:buNone/>
            </a:pP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set tunnel-</a:t>
            </a:r>
            <a:r>
              <a:rPr lang="en-US" dirty="0" err="1" smtClean="0">
                <a:latin typeface="Courier New" panose="02070309020205020404" pitchFamily="49" charset="0"/>
                <a:cs typeface="Courier New" panose="02070309020205020404" pitchFamily="49" charset="0"/>
              </a:rPr>
              <a:t>addr</a:t>
            </a:r>
            <a:r>
              <a:rPr lang="en-US" dirty="0" smtClean="0">
                <a:latin typeface="Courier New" panose="02070309020205020404" pitchFamily="49" charset="0"/>
                <a:cs typeface="Courier New" panose="02070309020205020404" pitchFamily="49" charset="0"/>
              </a:rPr>
              <a:t>-assigned-method first-available/round-robin</a:t>
            </a:r>
          </a:p>
          <a:p>
            <a:pPr marL="914400" lvl="2" indent="0">
              <a:buNone/>
            </a:pPr>
            <a:r>
              <a:rPr lang="en-GB" dirty="0">
                <a:latin typeface="Courier New" panose="02070309020205020404" pitchFamily="49" charset="0"/>
                <a:cs typeface="Courier New" panose="02070309020205020404" pitchFamily="49" charset="0"/>
              </a:rPr>
              <a:t> </a:t>
            </a:r>
            <a:r>
              <a:rPr lang="en-GB" dirty="0" smtClean="0">
                <a:latin typeface="Courier New" panose="02070309020205020404" pitchFamily="49" charset="0"/>
                <a:cs typeface="Courier New" panose="02070309020205020404" pitchFamily="49" charset="0"/>
              </a:rPr>
              <a:t> end</a:t>
            </a:r>
            <a:endParaRPr lang="en-GB" dirty="0">
              <a:latin typeface="Courier New" panose="02070309020205020404" pitchFamily="49" charset="0"/>
              <a:cs typeface="Courier New" panose="02070309020205020404" pitchFamily="49" charset="0"/>
            </a:endParaRPr>
          </a:p>
          <a:p>
            <a:r>
              <a:rPr lang="en-US" dirty="0"/>
              <a:t>Resolve names by DNS server</a:t>
            </a:r>
          </a:p>
          <a:p>
            <a:pPr lvl="1"/>
            <a:r>
              <a:rPr lang="en-US" dirty="0"/>
              <a:t>Use internal DNS if resolving internal domain names</a:t>
            </a:r>
          </a:p>
          <a:p>
            <a:pPr lvl="1"/>
            <a:r>
              <a:rPr lang="en-US" dirty="0"/>
              <a:t>Optionally, resolve names by WINS servers</a:t>
            </a:r>
          </a:p>
          <a:p>
            <a:r>
              <a:rPr lang="en-US" dirty="0"/>
              <a:t>Specify authentication portal mapping</a:t>
            </a:r>
          </a:p>
          <a:p>
            <a:pPr lvl="1"/>
            <a:r>
              <a:rPr lang="en-US" dirty="0"/>
              <a:t>Specify portals for each user or group</a:t>
            </a:r>
          </a:p>
          <a:p>
            <a:pPr lvl="1"/>
            <a:r>
              <a:rPr lang="en-US" dirty="0"/>
              <a:t>Define portal for all other users or groups </a:t>
            </a:r>
          </a:p>
          <a:p>
            <a:pPr lvl="2"/>
            <a:r>
              <a:rPr lang="en-US" dirty="0"/>
              <a:t>It cannot be deleted</a:t>
            </a:r>
          </a:p>
        </p:txBody>
      </p:sp>
      <p:sp>
        <p:nvSpPr>
          <p:cNvPr id="33" name="Rectangle 32"/>
          <p:cNvSpPr/>
          <p:nvPr/>
        </p:nvSpPr>
        <p:spPr bwMode="invGray">
          <a:xfrm>
            <a:off x="7370420" y="3126087"/>
            <a:ext cx="2722110" cy="350437"/>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a:t>VPN </a:t>
            </a:r>
            <a:r>
              <a:rPr lang="en-CA" sz="1600" dirty="0"/>
              <a:t>&gt;</a:t>
            </a:r>
            <a:r>
              <a:rPr lang="en-CA" sz="1600" b="1" dirty="0"/>
              <a:t> </a:t>
            </a:r>
            <a:r>
              <a:rPr lang="en-CA" sz="1600" b="1" dirty="0" smtClean="0"/>
              <a:t>SSL VPN </a:t>
            </a:r>
            <a:r>
              <a:rPr lang="en-CA" sz="1600" b="1" dirty="0"/>
              <a:t>Settings</a:t>
            </a:r>
          </a:p>
        </p:txBody>
      </p:sp>
      <p:pic>
        <p:nvPicPr>
          <p:cNvPr id="4" name="Picture 3"/>
          <p:cNvPicPr>
            <a:picLocks noChangeAspect="1"/>
          </p:cNvPicPr>
          <p:nvPr/>
        </p:nvPicPr>
        <p:blipFill>
          <a:blip r:embed="rId4"/>
          <a:stretch>
            <a:fillRect/>
          </a:stretch>
        </p:blipFill>
        <p:spPr>
          <a:xfrm>
            <a:off x="7370420" y="3537895"/>
            <a:ext cx="3615444" cy="3080557"/>
          </a:xfrm>
          <a:prstGeom prst="rect">
            <a:avLst/>
          </a:prstGeom>
          <a:ln>
            <a:solidFill>
              <a:schemeClr val="tx1"/>
            </a:solidFill>
          </a:ln>
        </p:spPr>
      </p:pic>
    </p:spTree>
    <p:custDataLst>
      <p:tags r:id="rId1"/>
    </p:custDataLst>
    <p:extLst>
      <p:ext uri="{BB962C8B-B14F-4D97-AF65-F5344CB8AC3E}">
        <p14:creationId xmlns:p14="http://schemas.microsoft.com/office/powerpoint/2010/main" val="3409163188"/>
      </p:ext>
    </p:extLst>
  </p:cSld>
  <p:clrMapOvr>
    <a:masterClrMapping/>
  </p:clrMapOvr>
  <p:transition spd="slow">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p:cNvPicPr>
            <a:picLocks noGrp="1" noChangeAspect="1"/>
          </p:cNvPicPr>
          <p:nvPr>
            <p:ph idx="16"/>
          </p:nvPr>
        </p:nvPicPr>
        <p:blipFill>
          <a:blip r:embed="rId4"/>
          <a:stretch>
            <a:fillRect/>
          </a:stretch>
        </p:blipFill>
        <p:spPr>
          <a:xfrm>
            <a:off x="5508783" y="1400430"/>
            <a:ext cx="4743769" cy="3920870"/>
          </a:xfrm>
          <a:prstGeom prst="rect">
            <a:avLst/>
          </a:prstGeom>
          <a:ln>
            <a:solidFill>
              <a:schemeClr val="tx1"/>
            </a:solidFill>
          </a:ln>
        </p:spPr>
      </p:pic>
      <p:sp>
        <p:nvSpPr>
          <p:cNvPr id="5" name="Content Placeholder 4"/>
          <p:cNvSpPr>
            <a:spLocks noGrp="1"/>
          </p:cNvSpPr>
          <p:nvPr>
            <p:ph idx="15"/>
          </p:nvPr>
        </p:nvSpPr>
        <p:spPr/>
        <p:txBody>
          <a:bodyPr/>
          <a:lstStyle/>
          <a:p>
            <a:r>
              <a:rPr lang="en-US" dirty="0"/>
              <a:t>Listens for connections to the </a:t>
            </a:r>
            <a:r>
              <a:rPr lang="en-US" dirty="0" smtClean="0"/>
              <a:t>SSL VPN </a:t>
            </a:r>
            <a:r>
              <a:rPr lang="en-US" dirty="0"/>
              <a:t>portal</a:t>
            </a:r>
          </a:p>
          <a:p>
            <a:r>
              <a:rPr lang="en-US" b="1" dirty="0" err="1"/>
              <a:t>ssl</a:t>
            </a:r>
            <a:r>
              <a:rPr lang="en-US" b="1" dirty="0"/>
              <a:t>.&lt;</a:t>
            </a:r>
            <a:r>
              <a:rPr lang="en-US" b="1" dirty="0" err="1"/>
              <a:t>vdom_name</a:t>
            </a:r>
            <a:r>
              <a:rPr lang="en-US" dirty="0"/>
              <a:t>&gt; policy enables portal with user authentication</a:t>
            </a:r>
          </a:p>
          <a:p>
            <a:r>
              <a:rPr lang="en-US" dirty="0"/>
              <a:t>The selected </a:t>
            </a:r>
            <a:r>
              <a:rPr lang="en-US" b="1" dirty="0"/>
              <a:t>Incoming Interface </a:t>
            </a:r>
            <a:r>
              <a:rPr lang="en-US" dirty="0"/>
              <a:t>is the </a:t>
            </a:r>
            <a:r>
              <a:rPr lang="en-US" dirty="0" smtClean="0"/>
              <a:t>SSL VPN </a:t>
            </a:r>
            <a:r>
              <a:rPr lang="en-US" dirty="0"/>
              <a:t>virtual interface</a:t>
            </a:r>
          </a:p>
          <a:p>
            <a:pPr lvl="1"/>
            <a:r>
              <a:rPr lang="en-US" dirty="0"/>
              <a:t>Example: </a:t>
            </a:r>
            <a:r>
              <a:rPr lang="en-US" b="1" dirty="0" err="1"/>
              <a:t>ssl.root</a:t>
            </a:r>
            <a:r>
              <a:rPr lang="en-US" dirty="0"/>
              <a:t> for root VDOM </a:t>
            </a:r>
          </a:p>
          <a:p>
            <a:r>
              <a:rPr lang="en-US" dirty="0"/>
              <a:t>Passes decrypted traffic to the selected </a:t>
            </a:r>
            <a:r>
              <a:rPr lang="en-US" b="1" dirty="0"/>
              <a:t>Outgoing Interface</a:t>
            </a:r>
            <a:endParaRPr lang="en-US" dirty="0"/>
          </a:p>
          <a:p>
            <a:endParaRPr lang="en-US" dirty="0"/>
          </a:p>
        </p:txBody>
      </p:sp>
      <p:sp>
        <p:nvSpPr>
          <p:cNvPr id="2" name="Title 1"/>
          <p:cNvSpPr>
            <a:spLocks noGrp="1"/>
          </p:cNvSpPr>
          <p:nvPr>
            <p:ph type="title"/>
          </p:nvPr>
        </p:nvSpPr>
        <p:spPr/>
        <p:txBody>
          <a:bodyPr>
            <a:normAutofit/>
          </a:bodyPr>
          <a:lstStyle/>
          <a:p>
            <a:r>
              <a:rPr lang="en-US" dirty="0" smtClean="0"/>
              <a:t>Firewall </a:t>
            </a:r>
            <a:r>
              <a:rPr lang="en-US" dirty="0"/>
              <a:t>Policies t</a:t>
            </a:r>
            <a:r>
              <a:rPr lang="en-US" dirty="0" smtClean="0"/>
              <a:t>o </a:t>
            </a:r>
            <a:r>
              <a:rPr lang="en-US" dirty="0"/>
              <a:t>and f</a:t>
            </a:r>
            <a:r>
              <a:rPr lang="en-US" dirty="0" smtClean="0"/>
              <a:t>rom SSL VPN </a:t>
            </a:r>
            <a:r>
              <a:rPr lang="en-US" dirty="0"/>
              <a:t>Interface</a:t>
            </a:r>
          </a:p>
        </p:txBody>
      </p:sp>
      <p:sp>
        <p:nvSpPr>
          <p:cNvPr id="3" name="Flowchart: Alternate Process 2"/>
          <p:cNvSpPr/>
          <p:nvPr/>
        </p:nvSpPr>
        <p:spPr>
          <a:xfrm>
            <a:off x="9928279" y="4037037"/>
            <a:ext cx="2197489" cy="919401"/>
          </a:xfrm>
          <a:prstGeom prst="flowChartAlternateProcess">
            <a:avLst/>
          </a:prstGeom>
          <a:solidFill>
            <a:srgbClr val="00B0F0"/>
          </a:solidFill>
        </p:spPr>
        <p:txBody>
          <a:bodyPr wrap="square">
            <a:spAutoFit/>
          </a:bodyPr>
          <a:lstStyle/>
          <a:p>
            <a:pPr algn="ctr"/>
            <a:r>
              <a:rPr lang="en-US" sz="1600" dirty="0"/>
              <a:t>Otherwise, users will be denied </a:t>
            </a:r>
            <a:r>
              <a:rPr lang="en-US" sz="1600" dirty="0" smtClean="0"/>
              <a:t>permission</a:t>
            </a:r>
            <a:endParaRPr lang="en-US" sz="1600" dirty="0"/>
          </a:p>
        </p:txBody>
      </p:sp>
      <p:cxnSp>
        <p:nvCxnSpPr>
          <p:cNvPr id="8" name="Straight Arrow Connector 7"/>
          <p:cNvCxnSpPr/>
          <p:nvPr/>
        </p:nvCxnSpPr>
        <p:spPr>
          <a:xfrm>
            <a:off x="11061170" y="3626869"/>
            <a:ext cx="3954" cy="384768"/>
          </a:xfrm>
          <a:prstGeom prst="straightConnector1">
            <a:avLst/>
          </a:prstGeom>
          <a:ln w="38100">
            <a:solidFill>
              <a:srgbClr val="00B0F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bwMode="invGray">
          <a:xfrm>
            <a:off x="5508783" y="975600"/>
            <a:ext cx="3436433" cy="350437"/>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a:t>Policy &amp; Objects </a:t>
            </a:r>
            <a:r>
              <a:rPr lang="en-CA" sz="1600" dirty="0"/>
              <a:t>&gt;</a:t>
            </a:r>
            <a:r>
              <a:rPr lang="en-CA" sz="1600" b="1" dirty="0"/>
              <a:t> </a:t>
            </a:r>
            <a:r>
              <a:rPr lang="en-CA" sz="1600" b="1" dirty="0" smtClean="0"/>
              <a:t>Firewall </a:t>
            </a:r>
            <a:r>
              <a:rPr lang="en-CA" sz="1600" b="1" dirty="0"/>
              <a:t>Policy</a:t>
            </a:r>
          </a:p>
        </p:txBody>
      </p:sp>
      <p:sp>
        <p:nvSpPr>
          <p:cNvPr id="7" name="Rectangle 6"/>
          <p:cNvSpPr/>
          <p:nvPr/>
        </p:nvSpPr>
        <p:spPr bwMode="invGray">
          <a:xfrm>
            <a:off x="6997111" y="2692400"/>
            <a:ext cx="2127786" cy="668465"/>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ounded Rectangular Callout 5"/>
          <p:cNvSpPr/>
          <p:nvPr/>
        </p:nvSpPr>
        <p:spPr bwMode="invGray">
          <a:xfrm>
            <a:off x="9882715" y="2840620"/>
            <a:ext cx="2255310" cy="827978"/>
          </a:xfrm>
          <a:prstGeom prst="wedgeRoundRectCallout">
            <a:avLst>
              <a:gd name="adj1" fmla="val -83296"/>
              <a:gd name="adj2" fmla="val -28230"/>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dirty="0"/>
              <a:t>Add the user/groups for </a:t>
            </a:r>
            <a:r>
              <a:rPr lang="en-US" sz="1600" dirty="0" smtClean="0"/>
              <a:t>SSL VPN </a:t>
            </a:r>
            <a:r>
              <a:rPr lang="en-US" sz="1600" dirty="0"/>
              <a:t>authentication.</a:t>
            </a:r>
          </a:p>
        </p:txBody>
      </p:sp>
    </p:spTree>
    <p:custDataLst>
      <p:tags r:id="rId1"/>
    </p:custDataLst>
    <p:extLst>
      <p:ext uri="{BB962C8B-B14F-4D97-AF65-F5344CB8AC3E}">
        <p14:creationId xmlns:p14="http://schemas.microsoft.com/office/powerpoint/2010/main" val="267515240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750"/>
                                        <p:tgtEl>
                                          <p:spTgt spid="6"/>
                                        </p:tgtEl>
                                      </p:cBhvr>
                                    </p:animEffect>
                                  </p:childTnLst>
                                </p:cTn>
                              </p:par>
                            </p:childTnLst>
                          </p:cTn>
                        </p:par>
                        <p:par>
                          <p:cTn id="12" fill="hold">
                            <p:stCondLst>
                              <p:cond delay="1250"/>
                            </p:stCondLst>
                            <p:childTnLst>
                              <p:par>
                                <p:cTn id="13" presetID="22" presetClass="entr" presetSubtype="1"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par>
                          <p:cTn id="16" fill="hold">
                            <p:stCondLst>
                              <p:cond delay="1750"/>
                            </p:stCondLst>
                            <p:childTnLst>
                              <p:par>
                                <p:cTn id="17" presetID="22" presetClass="entr" presetSubtype="1"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10"/>
          <p:cNvCxnSpPr>
            <a:cxnSpLocks/>
          </p:cNvCxnSpPr>
          <p:nvPr/>
        </p:nvCxnSpPr>
        <p:spPr bwMode="auto">
          <a:xfrm flipH="1">
            <a:off x="2923833" y="4153808"/>
            <a:ext cx="739558" cy="0"/>
          </a:xfrm>
          <a:prstGeom prst="line">
            <a:avLst/>
          </a:prstGeom>
          <a:noFill/>
          <a:ln w="38100" algn="ctr">
            <a:solidFill>
              <a:srgbClr val="7F7F7F"/>
            </a:solidFill>
            <a:round/>
            <a:headEnd/>
            <a:tailEnd/>
          </a:ln>
          <a:extLst>
            <a:ext uri="{909E8E84-426E-40DD-AFC4-6F175D3DCCD1}">
              <a14:hiddenFill xmlns:a14="http://schemas.microsoft.com/office/drawing/2010/main">
                <a:noFill/>
              </a14:hiddenFill>
            </a:ext>
          </a:extLst>
        </p:spPr>
      </p:cxnSp>
      <p:pic>
        <p:nvPicPr>
          <p:cNvPr id="22" name="Picture 60"/>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28059" y="3599686"/>
            <a:ext cx="1208147" cy="780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6"/>
          <p:cNvSpPr>
            <a:spLocks noGrp="1"/>
          </p:cNvSpPr>
          <p:nvPr>
            <p:ph type="title"/>
          </p:nvPr>
        </p:nvSpPr>
        <p:spPr/>
        <p:txBody>
          <a:bodyPr/>
          <a:lstStyle/>
          <a:p>
            <a:r>
              <a:rPr lang="en-US" dirty="0"/>
              <a:t>Example: Access to </a:t>
            </a:r>
            <a:r>
              <a:rPr lang="en-US" dirty="0" smtClean="0"/>
              <a:t>Resources</a:t>
            </a:r>
            <a:endParaRPr lang="en-US" dirty="0"/>
          </a:p>
        </p:txBody>
      </p:sp>
      <p:sp>
        <p:nvSpPr>
          <p:cNvPr id="3" name="Content Placeholder 2"/>
          <p:cNvSpPr>
            <a:spLocks noGrp="1"/>
          </p:cNvSpPr>
          <p:nvPr>
            <p:ph idx="1"/>
          </p:nvPr>
        </p:nvSpPr>
        <p:spPr/>
        <p:txBody>
          <a:bodyPr/>
          <a:lstStyle/>
          <a:p>
            <a:r>
              <a:rPr lang="en-US" dirty="0"/>
              <a:t>All traffic generated by the user exits through the </a:t>
            </a:r>
            <a:r>
              <a:rPr lang="en-US" dirty="0" err="1">
                <a:latin typeface="Courier New" panose="02070309020205020404" pitchFamily="49" charset="0"/>
                <a:cs typeface="Courier New" panose="02070309020205020404" pitchFamily="49" charset="0"/>
              </a:rPr>
              <a:t>ssl</a:t>
            </a:r>
            <a:r>
              <a:rPr lang="en-US" dirty="0">
                <a:latin typeface="Courier New" panose="02070309020205020404" pitchFamily="49" charset="0"/>
                <a:cs typeface="Courier New" panose="02070309020205020404" pitchFamily="49" charset="0"/>
              </a:rPr>
              <a:t>.&lt;</a:t>
            </a:r>
            <a:r>
              <a:rPr lang="en-US" dirty="0" err="1">
                <a:latin typeface="Courier New" panose="02070309020205020404" pitchFamily="49" charset="0"/>
                <a:cs typeface="Courier New" panose="02070309020205020404" pitchFamily="49" charset="0"/>
              </a:rPr>
              <a:t>vdom_name</a:t>
            </a:r>
            <a:r>
              <a:rPr lang="en-US" dirty="0">
                <a:latin typeface="Courier New" panose="02070309020205020404" pitchFamily="49" charset="0"/>
                <a:cs typeface="Courier New" panose="02070309020205020404" pitchFamily="49" charset="0"/>
              </a:rPr>
              <a:t>&gt; </a:t>
            </a:r>
            <a:r>
              <a:rPr lang="en-US" dirty="0"/>
              <a:t>interface</a:t>
            </a:r>
          </a:p>
          <a:p>
            <a:pPr lvl="1"/>
            <a:r>
              <a:rPr lang="en-US" dirty="0"/>
              <a:t>Applies to both web and tunnel mode</a:t>
            </a:r>
          </a:p>
          <a:p>
            <a:endParaRPr lang="en-US" dirty="0"/>
          </a:p>
        </p:txBody>
      </p:sp>
      <p:sp>
        <p:nvSpPr>
          <p:cNvPr id="9" name="TextBox 8"/>
          <p:cNvSpPr txBox="1"/>
          <p:nvPr/>
        </p:nvSpPr>
        <p:spPr>
          <a:xfrm>
            <a:off x="5673468" y="3587131"/>
            <a:ext cx="776369" cy="307777"/>
          </a:xfrm>
          <a:prstGeom prst="rect">
            <a:avLst/>
          </a:prstGeom>
          <a:noFill/>
        </p:spPr>
        <p:txBody>
          <a:bodyPr wrap="square" rtlCol="0">
            <a:spAutoFit/>
          </a:bodyPr>
          <a:lstStyle/>
          <a:p>
            <a:r>
              <a:rPr lang="en-US" sz="1400" dirty="0">
                <a:cs typeface="Arial"/>
              </a:rPr>
              <a:t>internal</a:t>
            </a:r>
          </a:p>
        </p:txBody>
      </p:sp>
      <p:sp>
        <p:nvSpPr>
          <p:cNvPr id="10" name="TextBox 9"/>
          <p:cNvSpPr txBox="1"/>
          <p:nvPr/>
        </p:nvSpPr>
        <p:spPr>
          <a:xfrm>
            <a:off x="4397868" y="4385367"/>
            <a:ext cx="604183" cy="400110"/>
          </a:xfrm>
          <a:prstGeom prst="rect">
            <a:avLst/>
          </a:prstGeom>
          <a:noFill/>
        </p:spPr>
        <p:txBody>
          <a:bodyPr wrap="square" rtlCol="0">
            <a:spAutoFit/>
          </a:bodyPr>
          <a:lstStyle/>
          <a:p>
            <a:r>
              <a:rPr lang="en-US" sz="1000" b="1" dirty="0" smtClean="0">
                <a:solidFill>
                  <a:srgbClr val="404040"/>
                </a:solidFill>
                <a:cs typeface="Arial"/>
              </a:rPr>
              <a:t>Wan1</a:t>
            </a:r>
          </a:p>
          <a:p>
            <a:r>
              <a:rPr lang="en-GB" sz="1000" b="1" dirty="0" smtClean="0">
                <a:solidFill>
                  <a:srgbClr val="404040"/>
                </a:solidFill>
                <a:cs typeface="Arial"/>
              </a:rPr>
              <a:t>(Port1)</a:t>
            </a:r>
            <a:endParaRPr lang="en-US" sz="1000" b="1" dirty="0">
              <a:solidFill>
                <a:srgbClr val="404040"/>
              </a:solidFill>
              <a:cs typeface="Arial"/>
            </a:endParaRPr>
          </a:p>
        </p:txBody>
      </p:sp>
      <p:cxnSp>
        <p:nvCxnSpPr>
          <p:cNvPr id="11" name="Straight Connector 10"/>
          <p:cNvCxnSpPr>
            <a:cxnSpLocks/>
          </p:cNvCxnSpPr>
          <p:nvPr/>
        </p:nvCxnSpPr>
        <p:spPr bwMode="auto">
          <a:xfrm flipV="1">
            <a:off x="5577148" y="2443394"/>
            <a:ext cx="1" cy="3475612"/>
          </a:xfrm>
          <a:prstGeom prst="line">
            <a:avLst/>
          </a:prstGeom>
          <a:noFill/>
          <a:ln w="38100" algn="ctr">
            <a:solidFill>
              <a:srgbClr val="7F7F7F"/>
            </a:solidFill>
            <a:round/>
            <a:headEnd/>
            <a:tailEnd/>
          </a:ln>
          <a:extLst>
            <a:ext uri="{909E8E84-426E-40DD-AFC4-6F175D3DCCD1}">
              <a14:hiddenFill xmlns:a14="http://schemas.microsoft.com/office/drawing/2010/main">
                <a:noFill/>
              </a14:hiddenFill>
            </a:ext>
          </a:extLst>
        </p:spPr>
      </p:cxnSp>
      <p:sp>
        <p:nvSpPr>
          <p:cNvPr id="12" name="TextBox 11"/>
          <p:cNvSpPr txBox="1"/>
          <p:nvPr/>
        </p:nvSpPr>
        <p:spPr>
          <a:xfrm>
            <a:off x="5643270" y="4367998"/>
            <a:ext cx="776369" cy="307777"/>
          </a:xfrm>
          <a:prstGeom prst="rect">
            <a:avLst/>
          </a:prstGeom>
          <a:noFill/>
        </p:spPr>
        <p:txBody>
          <a:bodyPr wrap="square" rtlCol="0">
            <a:spAutoFit/>
          </a:bodyPr>
          <a:lstStyle/>
          <a:p>
            <a:r>
              <a:rPr lang="en-US" sz="1400" dirty="0" err="1">
                <a:cs typeface="Arial"/>
              </a:rPr>
              <a:t>dmz</a:t>
            </a:r>
            <a:endParaRPr lang="en-US" sz="1400" dirty="0">
              <a:cs typeface="Arial"/>
            </a:endParaRPr>
          </a:p>
        </p:txBody>
      </p:sp>
      <p:sp>
        <p:nvSpPr>
          <p:cNvPr id="13" name="TextBox 12"/>
          <p:cNvSpPr txBox="1"/>
          <p:nvPr/>
        </p:nvSpPr>
        <p:spPr>
          <a:xfrm>
            <a:off x="5528784" y="5278194"/>
            <a:ext cx="1398162" cy="307777"/>
          </a:xfrm>
          <a:prstGeom prst="rect">
            <a:avLst/>
          </a:prstGeom>
          <a:noFill/>
        </p:spPr>
        <p:txBody>
          <a:bodyPr wrap="square" rtlCol="0">
            <a:spAutoFit/>
          </a:bodyPr>
          <a:lstStyle/>
          <a:p>
            <a:pPr algn="ctr"/>
            <a:r>
              <a:rPr lang="en-US" sz="1400" dirty="0" err="1">
                <a:cs typeface="Arial"/>
              </a:rPr>
              <a:t>Mail_Server</a:t>
            </a:r>
            <a:endParaRPr lang="en-US" sz="1400" dirty="0">
              <a:cs typeface="Arial"/>
            </a:endParaRPr>
          </a:p>
        </p:txBody>
      </p:sp>
      <p:sp>
        <p:nvSpPr>
          <p:cNvPr id="14" name="TextBox 13"/>
          <p:cNvSpPr txBox="1"/>
          <p:nvPr/>
        </p:nvSpPr>
        <p:spPr>
          <a:xfrm>
            <a:off x="5649328" y="2634615"/>
            <a:ext cx="1050459" cy="307777"/>
          </a:xfrm>
          <a:prstGeom prst="rect">
            <a:avLst/>
          </a:prstGeom>
          <a:noFill/>
        </p:spPr>
        <p:txBody>
          <a:bodyPr wrap="square" rtlCol="0">
            <a:spAutoFit/>
          </a:bodyPr>
          <a:lstStyle/>
          <a:p>
            <a:r>
              <a:rPr lang="en-US" sz="1400" dirty="0">
                <a:cs typeface="Arial"/>
              </a:rPr>
              <a:t>Database</a:t>
            </a:r>
          </a:p>
        </p:txBody>
      </p:sp>
      <p:pic>
        <p:nvPicPr>
          <p:cNvPr id="17" name="Picture 16"/>
          <p:cNvPicPr>
            <a:picLocks noChangeAspect="1"/>
          </p:cNvPicPr>
          <p:nvPr/>
        </p:nvPicPr>
        <p:blipFill>
          <a:blip r:embed="rId5" cstate="print"/>
          <a:stretch>
            <a:fillRect/>
          </a:stretch>
        </p:blipFill>
        <p:spPr>
          <a:xfrm>
            <a:off x="4864776" y="1688074"/>
            <a:ext cx="1387323" cy="916395"/>
          </a:xfrm>
          <a:prstGeom prst="rect">
            <a:avLst/>
          </a:prstGeom>
        </p:spPr>
      </p:pic>
      <p:pic>
        <p:nvPicPr>
          <p:cNvPr id="18" name="Picture 17"/>
          <p:cNvPicPr>
            <a:picLocks noChangeAspect="1"/>
          </p:cNvPicPr>
          <p:nvPr/>
        </p:nvPicPr>
        <p:blipFill>
          <a:blip r:embed="rId5" cstate="print"/>
          <a:stretch>
            <a:fillRect/>
          </a:stretch>
        </p:blipFill>
        <p:spPr>
          <a:xfrm>
            <a:off x="4892049" y="5532240"/>
            <a:ext cx="1387323" cy="916395"/>
          </a:xfrm>
          <a:prstGeom prst="rect">
            <a:avLst/>
          </a:prstGeom>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41476" y="5689781"/>
            <a:ext cx="509806" cy="490252"/>
          </a:xfrm>
          <a:prstGeom prst="rect">
            <a:avLst/>
          </a:prstGeom>
        </p:spPr>
      </p:pic>
      <p:pic>
        <p:nvPicPr>
          <p:cNvPr id="20" name="Picture 1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236742" y="1891566"/>
            <a:ext cx="710934" cy="373240"/>
          </a:xfrm>
          <a:prstGeom prst="rect">
            <a:avLst/>
          </a:prstGeom>
        </p:spPr>
      </p:pic>
      <p:sp>
        <p:nvSpPr>
          <p:cNvPr id="23" name="Oval 24"/>
          <p:cNvSpPr>
            <a:spLocks noChangeArrowheads="1"/>
          </p:cNvSpPr>
          <p:nvPr/>
        </p:nvSpPr>
        <p:spPr bwMode="auto">
          <a:xfrm rot="21155717">
            <a:off x="3658714" y="4006362"/>
            <a:ext cx="132777" cy="265986"/>
          </a:xfrm>
          <a:prstGeom prst="ellipse">
            <a:avLst/>
          </a:prstGeom>
          <a:gradFill flip="none" rotWithShape="1">
            <a:gsLst>
              <a:gs pos="0">
                <a:srgbClr val="236093">
                  <a:shade val="30000"/>
                  <a:satMod val="115000"/>
                </a:srgbClr>
              </a:gs>
              <a:gs pos="50000">
                <a:srgbClr val="236093">
                  <a:shade val="67500"/>
                  <a:satMod val="115000"/>
                </a:srgbClr>
              </a:gs>
              <a:gs pos="100000">
                <a:srgbClr val="236093">
                  <a:shade val="100000"/>
                  <a:satMod val="115000"/>
                </a:srgbClr>
              </a:gs>
            </a:gsLst>
            <a:lin ang="2700000" scaled="1"/>
            <a:tileRect/>
          </a:gradFill>
          <a:ln w="12700">
            <a:solidFill>
              <a:srgbClr val="323E48"/>
            </a:solidFill>
            <a:round/>
            <a:headEnd/>
            <a:tailEnd/>
          </a:ln>
          <a:effectLst/>
          <a:scene3d>
            <a:camera prst="legacyObliqueTopRight">
              <a:rot lat="20430000" lon="0" rev="0"/>
            </a:camera>
            <a:lightRig rig="legacyFlat4" dir="b"/>
          </a:scene3d>
          <a:sp3d extrusionH="3810000" prstMaterial="legacyMatte">
            <a:bevelT w="13500" h="13500" prst="angle"/>
            <a:bevelB w="13500" h="13500" prst="angle"/>
            <a:extrusionClr>
              <a:srgbClr val="236093">
                <a:lumMod val="60000"/>
                <a:lumOff val="40000"/>
              </a:srgbClr>
            </a:extrusionClr>
          </a:sp3d>
          <a:extLst/>
        </p:spPr>
        <p:txBody>
          <a:bodyPr wrap="none" anchor="ctr">
            <a:flatTx/>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dirty="0">
              <a:ln>
                <a:noFill/>
              </a:ln>
              <a:solidFill>
                <a:prstClr val="black"/>
              </a:solidFill>
              <a:effectLst/>
              <a:uLnTx/>
              <a:uFillTx/>
              <a:ea typeface="Arial Unicode MS"/>
            </a:endParaRPr>
          </a:p>
        </p:txBody>
      </p:sp>
      <p:sp>
        <p:nvSpPr>
          <p:cNvPr id="24" name="TextBox 23"/>
          <p:cNvSpPr txBox="1"/>
          <p:nvPr/>
        </p:nvSpPr>
        <p:spPr>
          <a:xfrm>
            <a:off x="3818966" y="4009615"/>
            <a:ext cx="1366647" cy="261610"/>
          </a:xfrm>
          <a:prstGeom prst="rect">
            <a:avLst/>
          </a:prstGeom>
          <a:noFill/>
        </p:spPr>
        <p:txBody>
          <a:bodyPr wrap="square" rtlCol="0">
            <a:spAutoFit/>
          </a:bodyPr>
          <a:lstStyle/>
          <a:p>
            <a:r>
              <a:rPr lang="en-US" sz="1100" b="1" dirty="0">
                <a:solidFill>
                  <a:schemeClr val="bg1"/>
                </a:solidFill>
              </a:rPr>
              <a:t>  </a:t>
            </a:r>
            <a:r>
              <a:rPr lang="en-US" sz="1100" b="1" dirty="0" smtClean="0">
                <a:solidFill>
                  <a:schemeClr val="bg1"/>
                </a:solidFill>
              </a:rPr>
              <a:t>SSL VPN</a:t>
            </a:r>
            <a:endParaRPr lang="en-US" sz="1100" b="1" dirty="0">
              <a:solidFill>
                <a:schemeClr val="bg1"/>
              </a:solidFill>
            </a:endParaRPr>
          </a:p>
        </p:txBody>
      </p:sp>
      <p:pic>
        <p:nvPicPr>
          <p:cNvPr id="16" name="Picture 2"/>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flipH="1">
            <a:off x="2135303" y="3308004"/>
            <a:ext cx="822579" cy="1092350"/>
          </a:xfrm>
          <a:prstGeom prst="rect">
            <a:avLst/>
          </a:prstGeom>
          <a:noFill/>
        </p:spPr>
      </p:pic>
      <p:sp>
        <p:nvSpPr>
          <p:cNvPr id="25" name="TextBox 24"/>
          <p:cNvSpPr txBox="1"/>
          <p:nvPr/>
        </p:nvSpPr>
        <p:spPr>
          <a:xfrm>
            <a:off x="2135211" y="4422961"/>
            <a:ext cx="1323886" cy="738664"/>
          </a:xfrm>
          <a:prstGeom prst="rect">
            <a:avLst/>
          </a:prstGeom>
          <a:noFill/>
        </p:spPr>
        <p:txBody>
          <a:bodyPr wrap="square" rtlCol="0">
            <a:spAutoFit/>
          </a:bodyPr>
          <a:lstStyle/>
          <a:p>
            <a:r>
              <a:rPr lang="en-US" sz="1400" dirty="0">
                <a:cs typeface="Arial"/>
              </a:rPr>
              <a:t>Users:</a:t>
            </a:r>
          </a:p>
          <a:p>
            <a:r>
              <a:rPr lang="en-US" sz="1400" dirty="0">
                <a:cs typeface="Arial"/>
              </a:rPr>
              <a:t>- Accountants</a:t>
            </a:r>
          </a:p>
          <a:p>
            <a:r>
              <a:rPr lang="en-US" sz="1400" dirty="0">
                <a:cs typeface="Arial"/>
              </a:rPr>
              <a:t>- Teachers</a:t>
            </a:r>
          </a:p>
        </p:txBody>
      </p:sp>
      <p:sp>
        <p:nvSpPr>
          <p:cNvPr id="28" name="Oval 27"/>
          <p:cNvSpPr/>
          <p:nvPr/>
        </p:nvSpPr>
        <p:spPr bwMode="auto">
          <a:xfrm>
            <a:off x="5825135" y="3018506"/>
            <a:ext cx="345760" cy="356354"/>
          </a:xfrm>
          <a:prstGeom prst="ellipse">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CA" sz="1700" b="1" i="0" u="none" strike="noStrike" cap="none" normalizeH="0" baseline="0" dirty="0">
              <a:ln>
                <a:noFill/>
              </a:ln>
              <a:solidFill>
                <a:schemeClr val="tx1"/>
              </a:solidFill>
              <a:effectLst/>
              <a:ea typeface="ＭＳ Ｐゴシック" charset="-128"/>
              <a:cs typeface="ＭＳ Ｐゴシック" charset="-128"/>
            </a:endParaRPr>
          </a:p>
        </p:txBody>
      </p:sp>
      <p:sp>
        <p:nvSpPr>
          <p:cNvPr id="30" name="TextBox 29"/>
          <p:cNvSpPr txBox="1"/>
          <p:nvPr/>
        </p:nvSpPr>
        <p:spPr>
          <a:xfrm>
            <a:off x="5778569" y="3020917"/>
            <a:ext cx="500066" cy="353943"/>
          </a:xfrm>
          <a:prstGeom prst="rect">
            <a:avLst/>
          </a:prstGeom>
          <a:noFill/>
        </p:spPr>
        <p:txBody>
          <a:bodyPr wrap="square" rtlCol="0">
            <a:spAutoFit/>
          </a:bodyPr>
          <a:lstStyle/>
          <a:p>
            <a:r>
              <a:rPr lang="en-CA" sz="1700" b="1" dirty="0">
                <a:solidFill>
                  <a:schemeClr val="bg1"/>
                </a:solidFill>
              </a:rPr>
              <a:t>12</a:t>
            </a:r>
          </a:p>
        </p:txBody>
      </p:sp>
      <p:sp>
        <p:nvSpPr>
          <p:cNvPr id="32" name="Oval 31"/>
          <p:cNvSpPr/>
          <p:nvPr/>
        </p:nvSpPr>
        <p:spPr bwMode="auto">
          <a:xfrm>
            <a:off x="5847048" y="4924677"/>
            <a:ext cx="345760" cy="356354"/>
          </a:xfrm>
          <a:prstGeom prst="ellipse">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CA" sz="1700" b="1" i="0" u="none" strike="noStrike" cap="none" normalizeH="0" baseline="0" dirty="0">
              <a:ln>
                <a:noFill/>
              </a:ln>
              <a:solidFill>
                <a:schemeClr val="tx1"/>
              </a:solidFill>
              <a:effectLst/>
              <a:ea typeface="ＭＳ Ｐゴシック" charset="-128"/>
              <a:cs typeface="ＭＳ Ｐゴシック" charset="-128"/>
            </a:endParaRPr>
          </a:p>
        </p:txBody>
      </p:sp>
      <p:sp>
        <p:nvSpPr>
          <p:cNvPr id="33" name="TextBox 32"/>
          <p:cNvSpPr txBox="1"/>
          <p:nvPr/>
        </p:nvSpPr>
        <p:spPr>
          <a:xfrm>
            <a:off x="5811282" y="4929029"/>
            <a:ext cx="500066" cy="353943"/>
          </a:xfrm>
          <a:prstGeom prst="rect">
            <a:avLst/>
          </a:prstGeom>
          <a:noFill/>
        </p:spPr>
        <p:txBody>
          <a:bodyPr wrap="square" rtlCol="0">
            <a:spAutoFit/>
          </a:bodyPr>
          <a:lstStyle/>
          <a:p>
            <a:r>
              <a:rPr lang="en-CA" sz="1700" b="1" dirty="0">
                <a:solidFill>
                  <a:schemeClr val="bg1"/>
                </a:solidFill>
              </a:rPr>
              <a:t>11</a:t>
            </a:r>
          </a:p>
        </p:txBody>
      </p:sp>
      <p:pic>
        <p:nvPicPr>
          <p:cNvPr id="34" name="Picture 33"/>
          <p:cNvPicPr>
            <a:picLocks noChangeAspect="1"/>
          </p:cNvPicPr>
          <p:nvPr/>
        </p:nvPicPr>
        <p:blipFill>
          <a:blip r:embed="rId9" cstate="print"/>
          <a:stretch>
            <a:fillRect/>
          </a:stretch>
        </p:blipFill>
        <p:spPr>
          <a:xfrm>
            <a:off x="4801950" y="3626121"/>
            <a:ext cx="1341578" cy="934756"/>
          </a:xfrm>
          <a:prstGeom prst="rect">
            <a:avLst/>
          </a:prstGeom>
        </p:spPr>
      </p:pic>
      <p:sp>
        <p:nvSpPr>
          <p:cNvPr id="35" name="Rectangle 34"/>
          <p:cNvSpPr/>
          <p:nvPr/>
        </p:nvSpPr>
        <p:spPr>
          <a:xfrm>
            <a:off x="8229513" y="1861231"/>
            <a:ext cx="3603514" cy="4189994"/>
          </a:xfrm>
          <a:prstGeom prst="rect">
            <a:avLst/>
          </a:prstGeom>
          <a:noFill/>
          <a:ln w="15875">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5" name="Rounded Rectangular Callout 14"/>
          <p:cNvSpPr/>
          <p:nvPr/>
        </p:nvSpPr>
        <p:spPr>
          <a:xfrm>
            <a:off x="7050391" y="2294194"/>
            <a:ext cx="3204535" cy="1450492"/>
          </a:xfrm>
          <a:prstGeom prst="wedgeRoundRectCallout">
            <a:avLst>
              <a:gd name="adj1" fmla="val -75432"/>
              <a:gd name="adj2" fmla="val 14803"/>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400" dirty="0" smtClean="0">
              <a:solidFill>
                <a:schemeClr val="tx1"/>
              </a:solidFill>
              <a:latin typeface="Courier New" panose="02070309020205020404" pitchFamily="49" charset="0"/>
              <a:cs typeface="Courier New" panose="02070309020205020404" pitchFamily="49" charset="0"/>
            </a:endParaRPr>
          </a:p>
          <a:p>
            <a:pPr algn="ctr"/>
            <a:r>
              <a:rPr lang="en-GB" sz="1400" dirty="0" smtClean="0">
                <a:solidFill>
                  <a:schemeClr val="tx1"/>
                </a:solidFill>
                <a:latin typeface="Courier New" panose="02070309020205020404" pitchFamily="49" charset="0"/>
                <a:cs typeface="Courier New" panose="02070309020205020404" pitchFamily="49" charset="0"/>
              </a:rPr>
              <a:t>  Access to Database</a:t>
            </a:r>
          </a:p>
          <a:p>
            <a:r>
              <a:rPr lang="en-GB" sz="1400" dirty="0" smtClean="0">
                <a:solidFill>
                  <a:schemeClr val="tx1"/>
                </a:solidFill>
                <a:latin typeface="Courier New" panose="02070309020205020404" pitchFamily="49" charset="0"/>
                <a:cs typeface="Courier New" panose="02070309020205020404" pitchFamily="49" charset="0"/>
              </a:rPr>
              <a:t>edit 11</a:t>
            </a:r>
            <a:endParaRPr lang="en-US" sz="1400" dirty="0" smtClean="0">
              <a:solidFill>
                <a:schemeClr val="tx1"/>
              </a:solidFill>
              <a:latin typeface="Courier New" panose="02070309020205020404" pitchFamily="49" charset="0"/>
              <a:cs typeface="Courier New" panose="02070309020205020404" pitchFamily="49" charset="0"/>
            </a:endParaRPr>
          </a:p>
          <a:p>
            <a:r>
              <a:rPr lang="en-US" sz="1400" dirty="0" smtClean="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srcintf</a:t>
            </a: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ssl.root</a:t>
            </a:r>
            <a:endParaRPr lang="en-US" sz="1400" dirty="0">
              <a:solidFill>
                <a:schemeClr val="tx1"/>
              </a:solidFill>
              <a:latin typeface="Courier New" panose="02070309020205020404" pitchFamily="49" charset="0"/>
              <a:cs typeface="Courier New" panose="02070309020205020404" pitchFamily="49" charset="0"/>
            </a:endParaRP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dstintf</a:t>
            </a:r>
            <a:r>
              <a:rPr lang="en-US" sz="1400" dirty="0">
                <a:solidFill>
                  <a:schemeClr val="tx1"/>
                </a:solidFill>
                <a:latin typeface="Courier New" panose="02070309020205020404" pitchFamily="49" charset="0"/>
                <a:cs typeface="Courier New" panose="02070309020205020404" pitchFamily="49" charset="0"/>
              </a:rPr>
              <a:t> </a:t>
            </a:r>
            <a:r>
              <a:rPr lang="en-US" sz="1400" dirty="0" smtClean="0">
                <a:solidFill>
                  <a:schemeClr val="tx1"/>
                </a:solidFill>
                <a:latin typeface="Courier New" panose="02070309020205020404" pitchFamily="49" charset="0"/>
                <a:cs typeface="Courier New" panose="02070309020205020404" pitchFamily="49" charset="0"/>
              </a:rPr>
              <a:t>internal</a:t>
            </a:r>
            <a:endParaRPr lang="en-US" sz="1400" dirty="0">
              <a:solidFill>
                <a:schemeClr val="tx1"/>
              </a:solidFill>
              <a:latin typeface="Courier New" panose="02070309020205020404" pitchFamily="49" charset="0"/>
              <a:cs typeface="Courier New" panose="02070309020205020404" pitchFamily="49" charset="0"/>
            </a:endParaRP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srcaddr</a:t>
            </a:r>
            <a:r>
              <a:rPr lang="en-US" sz="1400" dirty="0">
                <a:solidFill>
                  <a:schemeClr val="tx1"/>
                </a:solidFill>
                <a:latin typeface="Courier New" panose="02070309020205020404" pitchFamily="49" charset="0"/>
                <a:cs typeface="Courier New" panose="02070309020205020404" pitchFamily="49" charset="0"/>
              </a:rPr>
              <a:t> all</a:t>
            </a: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dstaddr</a:t>
            </a:r>
            <a:r>
              <a:rPr lang="en-US" sz="1400" dirty="0">
                <a:solidFill>
                  <a:schemeClr val="tx1"/>
                </a:solidFill>
                <a:latin typeface="Courier New" panose="02070309020205020404" pitchFamily="49" charset="0"/>
                <a:cs typeface="Courier New" panose="02070309020205020404" pitchFamily="49" charset="0"/>
              </a:rPr>
              <a:t> </a:t>
            </a:r>
            <a:r>
              <a:rPr lang="en-US" sz="1400" dirty="0" smtClean="0">
                <a:solidFill>
                  <a:schemeClr val="tx1"/>
                </a:solidFill>
                <a:latin typeface="Courier New" panose="02070309020205020404" pitchFamily="49" charset="0"/>
                <a:cs typeface="Courier New" panose="02070309020205020404" pitchFamily="49" charset="0"/>
              </a:rPr>
              <a:t>Database</a:t>
            </a:r>
            <a:endParaRPr lang="en-US" sz="1400" dirty="0">
              <a:solidFill>
                <a:schemeClr val="tx1"/>
              </a:solidFill>
              <a:latin typeface="Courier New" panose="02070309020205020404" pitchFamily="49" charset="0"/>
              <a:cs typeface="Courier New" panose="02070309020205020404" pitchFamily="49" charset="0"/>
            </a:endParaRPr>
          </a:p>
          <a:p>
            <a:pPr algn="ctr">
              <a:lnSpc>
                <a:spcPct val="90000"/>
              </a:lnSpc>
              <a:spcBef>
                <a:spcPts val="300"/>
              </a:spcBef>
            </a:pPr>
            <a:endParaRPr lang="en-US" sz="1400" dirty="0" err="1" smtClean="0"/>
          </a:p>
        </p:txBody>
      </p:sp>
      <p:sp>
        <p:nvSpPr>
          <p:cNvPr id="36" name="Rounded Rectangular Callout 35"/>
          <p:cNvSpPr/>
          <p:nvPr/>
        </p:nvSpPr>
        <p:spPr>
          <a:xfrm>
            <a:off x="7142420" y="4184108"/>
            <a:ext cx="3204535" cy="1516559"/>
          </a:xfrm>
          <a:prstGeom prst="wedgeRoundRectCallout">
            <a:avLst>
              <a:gd name="adj1" fmla="val -75093"/>
              <a:gd name="adj2" fmla="val 12997"/>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400" dirty="0" smtClean="0">
              <a:solidFill>
                <a:schemeClr val="tx1"/>
              </a:solidFill>
              <a:latin typeface="Courier New" panose="02070309020205020404" pitchFamily="49" charset="0"/>
              <a:cs typeface="Courier New" panose="02070309020205020404" pitchFamily="49" charset="0"/>
            </a:endParaRPr>
          </a:p>
          <a:p>
            <a:pPr algn="ctr"/>
            <a:r>
              <a:rPr lang="en-GB" sz="1400" dirty="0">
                <a:solidFill>
                  <a:schemeClr val="tx1"/>
                </a:solidFill>
                <a:latin typeface="Courier New" panose="02070309020205020404" pitchFamily="49" charset="0"/>
                <a:cs typeface="Courier New" panose="02070309020205020404" pitchFamily="49" charset="0"/>
              </a:rPr>
              <a:t>Access to </a:t>
            </a:r>
            <a:r>
              <a:rPr lang="en-GB" sz="1400" dirty="0" err="1" smtClean="0">
                <a:solidFill>
                  <a:schemeClr val="tx1"/>
                </a:solidFill>
                <a:latin typeface="Courier New" panose="02070309020205020404" pitchFamily="49" charset="0"/>
                <a:cs typeface="Courier New" panose="02070309020205020404" pitchFamily="49" charset="0"/>
              </a:rPr>
              <a:t>Mail_Server</a:t>
            </a:r>
            <a:endParaRPr lang="en-GB" sz="1400" dirty="0">
              <a:solidFill>
                <a:schemeClr val="tx1"/>
              </a:solidFill>
              <a:latin typeface="Courier New" panose="02070309020205020404" pitchFamily="49" charset="0"/>
              <a:cs typeface="Courier New" panose="02070309020205020404" pitchFamily="49" charset="0"/>
            </a:endParaRPr>
          </a:p>
          <a:p>
            <a:r>
              <a:rPr lang="en-GB" sz="1400" dirty="0" smtClean="0">
                <a:solidFill>
                  <a:schemeClr val="tx1"/>
                </a:solidFill>
                <a:latin typeface="Courier New" panose="02070309020205020404" pitchFamily="49" charset="0"/>
                <a:cs typeface="Courier New" panose="02070309020205020404" pitchFamily="49" charset="0"/>
              </a:rPr>
              <a:t>edit 12</a:t>
            </a:r>
            <a:endParaRPr lang="en-US" sz="1400" dirty="0" smtClean="0">
              <a:solidFill>
                <a:schemeClr val="tx1"/>
              </a:solidFill>
              <a:latin typeface="Courier New" panose="02070309020205020404" pitchFamily="49" charset="0"/>
              <a:cs typeface="Courier New" panose="02070309020205020404" pitchFamily="49" charset="0"/>
            </a:endParaRPr>
          </a:p>
          <a:p>
            <a:r>
              <a:rPr lang="en-US" sz="1400" dirty="0" smtClean="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srcintf</a:t>
            </a: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ssl.root</a:t>
            </a:r>
            <a:endParaRPr lang="en-US" sz="1400" dirty="0">
              <a:solidFill>
                <a:schemeClr val="tx1"/>
              </a:solidFill>
              <a:latin typeface="Courier New" panose="02070309020205020404" pitchFamily="49" charset="0"/>
              <a:cs typeface="Courier New" panose="02070309020205020404" pitchFamily="49" charset="0"/>
            </a:endParaRP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dstintf</a:t>
            </a: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dmz</a:t>
            </a:r>
            <a:endParaRPr lang="en-US" sz="1400" dirty="0">
              <a:solidFill>
                <a:schemeClr val="tx1"/>
              </a:solidFill>
              <a:latin typeface="Courier New" panose="02070309020205020404" pitchFamily="49" charset="0"/>
              <a:cs typeface="Courier New" panose="02070309020205020404" pitchFamily="49" charset="0"/>
            </a:endParaRP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srcaddr</a:t>
            </a:r>
            <a:r>
              <a:rPr lang="en-US" sz="1400" dirty="0">
                <a:solidFill>
                  <a:schemeClr val="tx1"/>
                </a:solidFill>
                <a:latin typeface="Courier New" panose="02070309020205020404" pitchFamily="49" charset="0"/>
                <a:cs typeface="Courier New" panose="02070309020205020404" pitchFamily="49" charset="0"/>
              </a:rPr>
              <a:t> all</a:t>
            </a: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dstaddr</a:t>
            </a: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Mail_Server</a:t>
            </a:r>
            <a:endParaRPr lang="en-US" sz="1400" dirty="0">
              <a:solidFill>
                <a:schemeClr val="tx1"/>
              </a:solidFill>
              <a:latin typeface="Courier New" panose="02070309020205020404" pitchFamily="49" charset="0"/>
              <a:cs typeface="Courier New" panose="02070309020205020404" pitchFamily="49" charset="0"/>
            </a:endParaRPr>
          </a:p>
          <a:p>
            <a:pPr algn="ctr">
              <a:lnSpc>
                <a:spcPct val="90000"/>
              </a:lnSpc>
              <a:spcBef>
                <a:spcPts val="300"/>
              </a:spcBef>
            </a:pPr>
            <a:endParaRPr lang="en-US" sz="1400" dirty="0" err="1" smtClean="0"/>
          </a:p>
        </p:txBody>
      </p:sp>
      <p:sp>
        <p:nvSpPr>
          <p:cNvPr id="37" name="Rounded Rectangular Callout 36"/>
          <p:cNvSpPr/>
          <p:nvPr/>
        </p:nvSpPr>
        <p:spPr>
          <a:xfrm>
            <a:off x="1107840" y="1730433"/>
            <a:ext cx="3204535" cy="1472850"/>
          </a:xfrm>
          <a:prstGeom prst="wedgeRoundRectCallout">
            <a:avLst>
              <a:gd name="adj1" fmla="val 63503"/>
              <a:gd name="adj2" fmla="val 93854"/>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sz="1400" dirty="0" smtClean="0">
              <a:solidFill>
                <a:schemeClr val="tx1"/>
              </a:solidFill>
              <a:latin typeface="Courier New" panose="02070309020205020404" pitchFamily="49" charset="0"/>
              <a:cs typeface="Courier New" panose="02070309020205020404" pitchFamily="49" charset="0"/>
            </a:endParaRPr>
          </a:p>
          <a:p>
            <a:pPr algn="ctr"/>
            <a:r>
              <a:rPr lang="en-GB" sz="1400" dirty="0" smtClean="0">
                <a:solidFill>
                  <a:schemeClr val="tx1"/>
                </a:solidFill>
                <a:latin typeface="Courier New" panose="02070309020205020404" pitchFamily="49" charset="0"/>
                <a:cs typeface="Courier New" panose="02070309020205020404" pitchFamily="49" charset="0"/>
              </a:rPr>
              <a:t>Access to Internet</a:t>
            </a:r>
          </a:p>
          <a:p>
            <a:r>
              <a:rPr lang="en-GB" sz="1400" dirty="0" smtClean="0">
                <a:solidFill>
                  <a:schemeClr val="tx1"/>
                </a:solidFill>
                <a:latin typeface="Courier New" panose="02070309020205020404" pitchFamily="49" charset="0"/>
                <a:cs typeface="Courier New" panose="02070309020205020404" pitchFamily="49" charset="0"/>
              </a:rPr>
              <a:t>edit 10</a:t>
            </a:r>
            <a:endParaRPr lang="en-US" sz="1400" dirty="0" smtClean="0">
              <a:solidFill>
                <a:schemeClr val="tx1"/>
              </a:solidFill>
              <a:latin typeface="Courier New" panose="02070309020205020404" pitchFamily="49" charset="0"/>
              <a:cs typeface="Courier New" panose="02070309020205020404" pitchFamily="49" charset="0"/>
            </a:endParaRPr>
          </a:p>
          <a:p>
            <a:r>
              <a:rPr lang="en-US" sz="1400" dirty="0" smtClean="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srcintf</a:t>
            </a:r>
            <a:r>
              <a:rPr lang="en-US" sz="1400" dirty="0">
                <a:solidFill>
                  <a:schemeClr val="tx1"/>
                </a:solidFill>
                <a:latin typeface="Courier New" panose="02070309020205020404" pitchFamily="49" charset="0"/>
                <a:cs typeface="Courier New" panose="02070309020205020404" pitchFamily="49" charset="0"/>
              </a:rPr>
              <a:t> </a:t>
            </a:r>
            <a:r>
              <a:rPr lang="en-US" sz="1400" dirty="0" err="1">
                <a:solidFill>
                  <a:schemeClr val="tx1"/>
                </a:solidFill>
                <a:latin typeface="Courier New" panose="02070309020205020404" pitchFamily="49" charset="0"/>
                <a:cs typeface="Courier New" panose="02070309020205020404" pitchFamily="49" charset="0"/>
              </a:rPr>
              <a:t>ssl.root</a:t>
            </a:r>
            <a:endParaRPr lang="en-US" sz="1400" dirty="0">
              <a:solidFill>
                <a:schemeClr val="tx1"/>
              </a:solidFill>
              <a:latin typeface="Courier New" panose="02070309020205020404" pitchFamily="49" charset="0"/>
              <a:cs typeface="Courier New" panose="02070309020205020404" pitchFamily="49" charset="0"/>
            </a:endParaRP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dstintf</a:t>
            </a:r>
            <a:r>
              <a:rPr lang="en-US" sz="1400" dirty="0">
                <a:solidFill>
                  <a:schemeClr val="tx1"/>
                </a:solidFill>
                <a:latin typeface="Courier New" panose="02070309020205020404" pitchFamily="49" charset="0"/>
                <a:cs typeface="Courier New" panose="02070309020205020404" pitchFamily="49" charset="0"/>
              </a:rPr>
              <a:t> </a:t>
            </a:r>
            <a:r>
              <a:rPr lang="en-US" sz="1400" dirty="0" smtClean="0">
                <a:solidFill>
                  <a:schemeClr val="tx1"/>
                </a:solidFill>
                <a:latin typeface="Courier New" panose="02070309020205020404" pitchFamily="49" charset="0"/>
                <a:cs typeface="Courier New" panose="02070309020205020404" pitchFamily="49" charset="0"/>
              </a:rPr>
              <a:t>port1</a:t>
            </a:r>
            <a:endParaRPr lang="en-US" sz="1400" dirty="0">
              <a:solidFill>
                <a:schemeClr val="tx1"/>
              </a:solidFill>
              <a:latin typeface="Courier New" panose="02070309020205020404" pitchFamily="49" charset="0"/>
              <a:cs typeface="Courier New" panose="02070309020205020404" pitchFamily="49" charset="0"/>
            </a:endParaRP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srcaddr</a:t>
            </a:r>
            <a:r>
              <a:rPr lang="en-US" sz="1400" dirty="0">
                <a:solidFill>
                  <a:schemeClr val="tx1"/>
                </a:solidFill>
                <a:latin typeface="Courier New" panose="02070309020205020404" pitchFamily="49" charset="0"/>
                <a:cs typeface="Courier New" panose="02070309020205020404" pitchFamily="49" charset="0"/>
              </a:rPr>
              <a:t> all</a:t>
            </a:r>
          </a:p>
          <a:p>
            <a:r>
              <a:rPr lang="en-US" sz="1400" dirty="0">
                <a:solidFill>
                  <a:schemeClr val="tx1"/>
                </a:solidFill>
                <a:latin typeface="Courier New" panose="02070309020205020404" pitchFamily="49" charset="0"/>
                <a:cs typeface="Courier New" panose="02070309020205020404" pitchFamily="49" charset="0"/>
              </a:rPr>
              <a:t>   set </a:t>
            </a:r>
            <a:r>
              <a:rPr lang="en-US" sz="1400" dirty="0" err="1">
                <a:solidFill>
                  <a:schemeClr val="tx1"/>
                </a:solidFill>
                <a:latin typeface="Courier New" panose="02070309020205020404" pitchFamily="49" charset="0"/>
                <a:cs typeface="Courier New" panose="02070309020205020404" pitchFamily="49" charset="0"/>
              </a:rPr>
              <a:t>dstaddr</a:t>
            </a:r>
            <a:r>
              <a:rPr lang="en-US" sz="1400" dirty="0">
                <a:solidFill>
                  <a:schemeClr val="tx1"/>
                </a:solidFill>
                <a:latin typeface="Courier New" panose="02070309020205020404" pitchFamily="49" charset="0"/>
                <a:cs typeface="Courier New" panose="02070309020205020404" pitchFamily="49" charset="0"/>
              </a:rPr>
              <a:t> </a:t>
            </a:r>
            <a:r>
              <a:rPr lang="en-US" sz="1400" dirty="0" smtClean="0">
                <a:solidFill>
                  <a:schemeClr val="tx1"/>
                </a:solidFill>
                <a:latin typeface="Courier New" panose="02070309020205020404" pitchFamily="49" charset="0"/>
                <a:cs typeface="Courier New" panose="02070309020205020404" pitchFamily="49" charset="0"/>
              </a:rPr>
              <a:t>all</a:t>
            </a:r>
            <a:endParaRPr lang="en-US" sz="1400" dirty="0">
              <a:solidFill>
                <a:schemeClr val="tx1"/>
              </a:solidFill>
              <a:latin typeface="Courier New" panose="02070309020205020404" pitchFamily="49" charset="0"/>
              <a:cs typeface="Courier New" panose="02070309020205020404" pitchFamily="49" charset="0"/>
            </a:endParaRPr>
          </a:p>
          <a:p>
            <a:pPr algn="ctr">
              <a:lnSpc>
                <a:spcPct val="90000"/>
              </a:lnSpc>
              <a:spcBef>
                <a:spcPts val="300"/>
              </a:spcBef>
            </a:pPr>
            <a:endParaRPr lang="en-US" sz="1400" dirty="0" err="1" smtClean="0"/>
          </a:p>
        </p:txBody>
      </p:sp>
      <p:sp>
        <p:nvSpPr>
          <p:cNvPr id="39" name="Oval 38"/>
          <p:cNvSpPr/>
          <p:nvPr/>
        </p:nvSpPr>
        <p:spPr bwMode="auto">
          <a:xfrm>
            <a:off x="4606880" y="3062345"/>
            <a:ext cx="345760" cy="356354"/>
          </a:xfrm>
          <a:prstGeom prst="ellipse">
            <a:avLst/>
          </a:prstGeom>
          <a:solidFill>
            <a:schemeClr val="accent2"/>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endParaRPr kumimoji="0" lang="en-CA" sz="1700" b="1" i="0" u="none" strike="noStrike" cap="none" normalizeH="0" baseline="0" dirty="0">
              <a:ln>
                <a:noFill/>
              </a:ln>
              <a:solidFill>
                <a:schemeClr val="tx1"/>
              </a:solidFill>
              <a:effectLst/>
              <a:ea typeface="ＭＳ Ｐゴシック" charset="-128"/>
              <a:cs typeface="ＭＳ Ｐゴシック" charset="-128"/>
            </a:endParaRPr>
          </a:p>
        </p:txBody>
      </p:sp>
      <p:sp>
        <p:nvSpPr>
          <p:cNvPr id="41" name="TextBox 40"/>
          <p:cNvSpPr txBox="1"/>
          <p:nvPr/>
        </p:nvSpPr>
        <p:spPr>
          <a:xfrm>
            <a:off x="4561074" y="3069576"/>
            <a:ext cx="500066" cy="353943"/>
          </a:xfrm>
          <a:prstGeom prst="rect">
            <a:avLst/>
          </a:prstGeom>
          <a:noFill/>
        </p:spPr>
        <p:txBody>
          <a:bodyPr wrap="square" rtlCol="0">
            <a:spAutoFit/>
          </a:bodyPr>
          <a:lstStyle/>
          <a:p>
            <a:r>
              <a:rPr lang="en-CA" sz="1700" b="1" dirty="0" smtClean="0">
                <a:solidFill>
                  <a:schemeClr val="bg1"/>
                </a:solidFill>
              </a:rPr>
              <a:t>10</a:t>
            </a:r>
            <a:endParaRPr lang="en-CA" sz="1700" b="1" dirty="0">
              <a:solidFill>
                <a:schemeClr val="bg1"/>
              </a:solidFill>
            </a:endParaRPr>
          </a:p>
        </p:txBody>
      </p:sp>
      <p:sp>
        <p:nvSpPr>
          <p:cNvPr id="27" name="Rectangle 26"/>
          <p:cNvSpPr/>
          <p:nvPr/>
        </p:nvSpPr>
        <p:spPr>
          <a:xfrm>
            <a:off x="1562013" y="2869641"/>
            <a:ext cx="1730829" cy="2277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42" name="Rectangle 41"/>
          <p:cNvSpPr/>
          <p:nvPr/>
        </p:nvSpPr>
        <p:spPr>
          <a:xfrm>
            <a:off x="7601158" y="5363159"/>
            <a:ext cx="2544327" cy="22281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43" name="Rectangle 42"/>
          <p:cNvSpPr/>
          <p:nvPr/>
        </p:nvSpPr>
        <p:spPr>
          <a:xfrm>
            <a:off x="7430073" y="3434088"/>
            <a:ext cx="2377956" cy="20291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1300758653"/>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cs typeface="Arial" charset="0"/>
              </a:rPr>
              <a:t>Configuring SSL </a:t>
            </a:r>
            <a:r>
              <a:rPr lang="en-US" dirty="0" smtClean="0">
                <a:cs typeface="Arial" charset="0"/>
              </a:rPr>
              <a:t>VPN—FortiGate as Server</a:t>
            </a:r>
            <a:endParaRPr lang="en-US" dirty="0"/>
          </a:p>
        </p:txBody>
      </p:sp>
      <p:sp>
        <p:nvSpPr>
          <p:cNvPr id="6" name="Content Placeholder 5"/>
          <p:cNvSpPr>
            <a:spLocks noGrp="1"/>
          </p:cNvSpPr>
          <p:nvPr>
            <p:ph idx="1"/>
          </p:nvPr>
        </p:nvSpPr>
        <p:spPr/>
        <p:txBody>
          <a:bodyPr/>
          <a:lstStyle/>
          <a:p>
            <a:r>
              <a:rPr lang="en-GB" dirty="0" smtClean="0"/>
              <a:t>SSL VPN Server FortiGate</a:t>
            </a:r>
          </a:p>
          <a:p>
            <a:pPr marL="799963" lvl="1" indent="-342900">
              <a:buFont typeface="+mj-lt"/>
              <a:buAutoNum type="arabicPeriod"/>
            </a:pPr>
            <a:r>
              <a:rPr lang="en-US" dirty="0" smtClean="0">
                <a:cs typeface="Arial" charset="0"/>
              </a:rPr>
              <a:t>Set </a:t>
            </a:r>
            <a:r>
              <a:rPr lang="en-US" dirty="0">
                <a:cs typeface="Arial" charset="0"/>
              </a:rPr>
              <a:t>up user accounts and groups for remote SSL VPN </a:t>
            </a:r>
            <a:r>
              <a:rPr lang="en-US" dirty="0" smtClean="0">
                <a:cs typeface="Arial" charset="0"/>
              </a:rPr>
              <a:t>users</a:t>
            </a:r>
          </a:p>
          <a:p>
            <a:pPr lvl="2"/>
            <a:r>
              <a:rPr lang="en-GB" dirty="0" smtClean="0">
                <a:cs typeface="Arial" charset="0"/>
              </a:rPr>
              <a:t>Create two accounts: local/remote and PKI</a:t>
            </a:r>
          </a:p>
          <a:p>
            <a:pPr lvl="2"/>
            <a:r>
              <a:rPr lang="en-US" dirty="0" smtClean="0">
                <a:latin typeface="Arial" panose="020B0604020202020204" pitchFamily="34" charset="0"/>
                <a:cs typeface="Arial" panose="020B0604020202020204" pitchFamily="34" charset="0"/>
              </a:rPr>
              <a:t>Require </a:t>
            </a:r>
            <a:r>
              <a:rPr lang="en-US" dirty="0">
                <a:latin typeface="Arial" panose="020B0604020202020204" pitchFamily="34" charset="0"/>
                <a:cs typeface="Arial" panose="020B0604020202020204" pitchFamily="34" charset="0"/>
              </a:rPr>
              <a:t>clients to authenticate using their </a:t>
            </a:r>
            <a:r>
              <a:rPr lang="en-US" dirty="0" smtClean="0">
                <a:latin typeface="Arial" panose="020B0604020202020204" pitchFamily="34" charset="0"/>
                <a:cs typeface="Arial" panose="020B0604020202020204" pitchFamily="34" charset="0"/>
              </a:rPr>
              <a:t>certificates as well as username and password</a:t>
            </a:r>
            <a:endParaRPr lang="en-US" dirty="0">
              <a:latin typeface="Arial" panose="020B0604020202020204" pitchFamily="34" charset="0"/>
              <a:cs typeface="Arial" panose="020B0604020202020204" pitchFamily="34" charset="0"/>
            </a:endParaRPr>
          </a:p>
          <a:p>
            <a:pPr marL="799963" lvl="1" indent="-342900">
              <a:buFont typeface="+mj-lt"/>
              <a:buAutoNum type="arabicPeriod"/>
            </a:pPr>
            <a:r>
              <a:rPr lang="en-US" dirty="0" smtClean="0">
                <a:cs typeface="Arial" charset="0"/>
              </a:rPr>
              <a:t>Configure </a:t>
            </a:r>
            <a:r>
              <a:rPr lang="en-US" dirty="0">
                <a:cs typeface="Arial" charset="0"/>
              </a:rPr>
              <a:t>SSL VPN </a:t>
            </a:r>
            <a:r>
              <a:rPr lang="en-US" dirty="0" smtClean="0">
                <a:cs typeface="Arial" charset="0"/>
              </a:rPr>
              <a:t>portals</a:t>
            </a:r>
          </a:p>
          <a:p>
            <a:pPr marL="799963" lvl="1" indent="-342900">
              <a:buFont typeface="+mj-lt"/>
              <a:buAutoNum type="arabicPeriod"/>
            </a:pPr>
            <a:r>
              <a:rPr lang="en-US" dirty="0" smtClean="0">
                <a:cs typeface="Arial" charset="0"/>
              </a:rPr>
              <a:t>Configure </a:t>
            </a:r>
            <a:r>
              <a:rPr lang="en-US" dirty="0">
                <a:cs typeface="Arial" charset="0"/>
              </a:rPr>
              <a:t>SSL VPN </a:t>
            </a:r>
            <a:r>
              <a:rPr lang="en-US" dirty="0" smtClean="0">
                <a:cs typeface="Arial" charset="0"/>
              </a:rPr>
              <a:t>settings</a:t>
            </a:r>
          </a:p>
          <a:p>
            <a:pPr lvl="2"/>
            <a:r>
              <a:rPr lang="en-US" dirty="0"/>
              <a:t>A</a:t>
            </a:r>
            <a:r>
              <a:rPr lang="en-US" dirty="0" smtClean="0"/>
              <a:t>uthentication </a:t>
            </a:r>
            <a:r>
              <a:rPr lang="en-US" dirty="0"/>
              <a:t>rules </a:t>
            </a:r>
            <a:r>
              <a:rPr lang="en-US" dirty="0" smtClean="0"/>
              <a:t>include both accounts using CLI</a:t>
            </a:r>
            <a:endParaRPr lang="en-US" dirty="0" smtClean="0">
              <a:cs typeface="Arial" charset="0"/>
            </a:endParaRPr>
          </a:p>
          <a:p>
            <a:pPr marL="799963" lvl="1" indent="-342900">
              <a:buFont typeface="+mj-lt"/>
              <a:buAutoNum type="arabicPeriod"/>
            </a:pPr>
            <a:r>
              <a:rPr lang="en-US" dirty="0" smtClean="0">
                <a:cs typeface="Arial" charset="0"/>
              </a:rPr>
              <a:t>Create </a:t>
            </a:r>
            <a:r>
              <a:rPr lang="en-US" dirty="0">
                <a:cs typeface="Arial" charset="0"/>
              </a:rPr>
              <a:t>a firewall policy </a:t>
            </a:r>
            <a:r>
              <a:rPr lang="en-US" dirty="0"/>
              <a:t>to and from the SSL VPN </a:t>
            </a:r>
            <a:r>
              <a:rPr lang="en-US" dirty="0" smtClean="0"/>
              <a:t>interface</a:t>
            </a:r>
          </a:p>
          <a:p>
            <a:pPr marL="799963" lvl="1" indent="-342900">
              <a:buFont typeface="+mj-lt"/>
              <a:buAutoNum type="arabicPeriod"/>
            </a:pPr>
            <a:r>
              <a:rPr lang="en-US" dirty="0" smtClean="0">
                <a:cs typeface="Arial" charset="0"/>
              </a:rPr>
              <a:t>Create </a:t>
            </a:r>
            <a:r>
              <a:rPr lang="en-US" dirty="0">
                <a:cs typeface="Arial" charset="0"/>
              </a:rPr>
              <a:t>a firewall policy to allow SSL VPN traffic to the </a:t>
            </a:r>
            <a:r>
              <a:rPr lang="en-US" dirty="0" smtClean="0">
                <a:cs typeface="Arial" charset="0"/>
              </a:rPr>
              <a:t>internet (optional)</a:t>
            </a:r>
          </a:p>
          <a:p>
            <a:pPr marL="457063" lvl="1" indent="0">
              <a:buNone/>
            </a:pPr>
            <a:endParaRPr lang="en-US" dirty="0">
              <a:cs typeface="Arial" charset="0"/>
            </a:endParaRPr>
          </a:p>
          <a:p>
            <a:pPr lvl="1"/>
            <a:endParaRPr lang="en-US" dirty="0"/>
          </a:p>
        </p:txBody>
      </p:sp>
      <p:pic>
        <p:nvPicPr>
          <p:cNvPr id="7" name="Picture 6"/>
          <p:cNvPicPr>
            <a:picLocks noChangeAspect="1"/>
          </p:cNvPicPr>
          <p:nvPr/>
        </p:nvPicPr>
        <p:blipFill>
          <a:blip r:embed="rId3"/>
          <a:stretch>
            <a:fillRect/>
          </a:stretch>
        </p:blipFill>
        <p:spPr>
          <a:xfrm>
            <a:off x="797762" y="4182046"/>
            <a:ext cx="2978303" cy="2076557"/>
          </a:xfrm>
          <a:prstGeom prst="rect">
            <a:avLst/>
          </a:prstGeom>
          <a:ln>
            <a:solidFill>
              <a:schemeClr val="tx1"/>
            </a:solidFill>
          </a:ln>
        </p:spPr>
      </p:pic>
      <p:pic>
        <p:nvPicPr>
          <p:cNvPr id="8" name="Picture 7"/>
          <p:cNvPicPr>
            <a:picLocks noChangeAspect="1"/>
          </p:cNvPicPr>
          <p:nvPr/>
        </p:nvPicPr>
        <p:blipFill>
          <a:blip r:embed="rId4"/>
          <a:stretch>
            <a:fillRect/>
          </a:stretch>
        </p:blipFill>
        <p:spPr>
          <a:xfrm>
            <a:off x="4946814" y="4182046"/>
            <a:ext cx="2959252" cy="1670136"/>
          </a:xfrm>
          <a:prstGeom prst="rect">
            <a:avLst/>
          </a:prstGeom>
          <a:ln>
            <a:solidFill>
              <a:schemeClr val="tx1"/>
            </a:solidFill>
          </a:ln>
        </p:spPr>
      </p:pic>
      <p:sp>
        <p:nvSpPr>
          <p:cNvPr id="9" name="Rectangle 8"/>
          <p:cNvSpPr/>
          <p:nvPr/>
        </p:nvSpPr>
        <p:spPr bwMode="invGray">
          <a:xfrm>
            <a:off x="797762" y="3765873"/>
            <a:ext cx="4006586" cy="378698"/>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smtClean="0"/>
              <a:t>User &amp; Authentication </a:t>
            </a:r>
            <a:r>
              <a:rPr lang="en-CA" sz="1600" dirty="0"/>
              <a:t>&gt;</a:t>
            </a:r>
            <a:r>
              <a:rPr lang="en-CA" sz="1600" b="1" dirty="0"/>
              <a:t> </a:t>
            </a:r>
            <a:r>
              <a:rPr lang="en-CA" sz="1600" b="1" dirty="0" smtClean="0"/>
              <a:t>User Definition</a:t>
            </a:r>
            <a:endParaRPr lang="en-CA" sz="1600" b="1" dirty="0"/>
          </a:p>
        </p:txBody>
      </p:sp>
      <p:sp>
        <p:nvSpPr>
          <p:cNvPr id="10" name="Rectangle 9"/>
          <p:cNvSpPr/>
          <p:nvPr/>
        </p:nvSpPr>
        <p:spPr bwMode="invGray">
          <a:xfrm>
            <a:off x="4946814" y="3766217"/>
            <a:ext cx="4006586" cy="378698"/>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smtClean="0"/>
              <a:t>User &amp; Authentication </a:t>
            </a:r>
            <a:r>
              <a:rPr lang="en-CA" sz="1600" dirty="0"/>
              <a:t>&gt;</a:t>
            </a:r>
            <a:r>
              <a:rPr lang="en-CA" sz="1600" b="1" dirty="0"/>
              <a:t> </a:t>
            </a:r>
            <a:r>
              <a:rPr lang="en-CA" sz="1600" b="1" dirty="0" smtClean="0"/>
              <a:t>PKI</a:t>
            </a:r>
            <a:endParaRPr lang="en-CA" sz="1600" b="1" dirty="0"/>
          </a:p>
        </p:txBody>
      </p:sp>
      <p:sp>
        <p:nvSpPr>
          <p:cNvPr id="11" name="Rectangle 10"/>
          <p:cNvSpPr/>
          <p:nvPr/>
        </p:nvSpPr>
        <p:spPr>
          <a:xfrm>
            <a:off x="8514413" y="4182047"/>
            <a:ext cx="3127689" cy="1670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90000"/>
              </a:lnSpc>
              <a:spcBef>
                <a:spcPts val="300"/>
              </a:spcBef>
            </a:pPr>
            <a:r>
              <a:rPr lang="en-GB" sz="1400" dirty="0" err="1">
                <a:solidFill>
                  <a:schemeClr val="tx1"/>
                </a:solidFill>
                <a:latin typeface="Courier New" panose="02070309020205020404" pitchFamily="49" charset="0"/>
                <a:cs typeface="Courier New" panose="02070309020205020404" pitchFamily="49" charset="0"/>
              </a:rPr>
              <a:t>c</a:t>
            </a:r>
            <a:r>
              <a:rPr lang="en-GB" sz="1400" dirty="0" err="1" smtClean="0">
                <a:solidFill>
                  <a:schemeClr val="tx1"/>
                </a:solidFill>
                <a:latin typeface="Courier New" panose="02070309020205020404" pitchFamily="49" charset="0"/>
                <a:cs typeface="Courier New" panose="02070309020205020404" pitchFamily="49" charset="0"/>
              </a:rPr>
              <a:t>onfig</a:t>
            </a:r>
            <a:r>
              <a:rPr lang="en-GB" sz="1400" dirty="0" smtClean="0">
                <a:solidFill>
                  <a:schemeClr val="tx1"/>
                </a:solidFill>
                <a:latin typeface="Courier New" panose="02070309020205020404" pitchFamily="49" charset="0"/>
                <a:cs typeface="Courier New" panose="02070309020205020404" pitchFamily="49" charset="0"/>
              </a:rPr>
              <a:t> user peer</a:t>
            </a:r>
          </a:p>
          <a:p>
            <a:pPr>
              <a:lnSpc>
                <a:spcPct val="90000"/>
              </a:lnSpc>
              <a:spcBef>
                <a:spcPts val="300"/>
              </a:spcBef>
            </a:pPr>
            <a:r>
              <a:rPr lang="en-GB" sz="1400" dirty="0">
                <a:solidFill>
                  <a:schemeClr val="tx1"/>
                </a:solidFill>
                <a:latin typeface="Courier New" panose="02070309020205020404" pitchFamily="49" charset="0"/>
                <a:cs typeface="Courier New" panose="02070309020205020404" pitchFamily="49" charset="0"/>
              </a:rPr>
              <a:t> </a:t>
            </a:r>
            <a:r>
              <a:rPr lang="en-GB" sz="1400" dirty="0" smtClean="0">
                <a:solidFill>
                  <a:schemeClr val="tx1"/>
                </a:solidFill>
                <a:latin typeface="Courier New" panose="02070309020205020404" pitchFamily="49" charset="0"/>
                <a:cs typeface="Courier New" panose="02070309020205020404" pitchFamily="49" charset="0"/>
              </a:rPr>
              <a:t>  edit </a:t>
            </a:r>
            <a:r>
              <a:rPr lang="en-GB" sz="1400" dirty="0" err="1" smtClean="0">
                <a:solidFill>
                  <a:schemeClr val="tx1"/>
                </a:solidFill>
                <a:latin typeface="Courier New" panose="02070309020205020404" pitchFamily="49" charset="0"/>
                <a:cs typeface="Courier New" panose="02070309020205020404" pitchFamily="49" charset="0"/>
              </a:rPr>
              <a:t>pki</a:t>
            </a:r>
            <a:endParaRPr lang="en-GB" sz="1400" dirty="0" smtClean="0">
              <a:solidFill>
                <a:schemeClr val="tx1"/>
              </a:solidFill>
              <a:latin typeface="Courier New" panose="02070309020205020404" pitchFamily="49" charset="0"/>
              <a:cs typeface="Courier New" panose="02070309020205020404" pitchFamily="49" charset="0"/>
            </a:endParaRPr>
          </a:p>
          <a:p>
            <a:pPr>
              <a:lnSpc>
                <a:spcPct val="90000"/>
              </a:lnSpc>
              <a:spcBef>
                <a:spcPts val="300"/>
              </a:spcBef>
            </a:pPr>
            <a:r>
              <a:rPr lang="en-GB" sz="1400" dirty="0">
                <a:solidFill>
                  <a:schemeClr val="tx1"/>
                </a:solidFill>
                <a:latin typeface="Courier New" panose="02070309020205020404" pitchFamily="49" charset="0"/>
                <a:cs typeface="Courier New" panose="02070309020205020404" pitchFamily="49" charset="0"/>
              </a:rPr>
              <a:t> </a:t>
            </a:r>
            <a:r>
              <a:rPr lang="en-GB" sz="1400" dirty="0" smtClean="0">
                <a:solidFill>
                  <a:schemeClr val="tx1"/>
                </a:solidFill>
                <a:latin typeface="Courier New" panose="02070309020205020404" pitchFamily="49" charset="0"/>
                <a:cs typeface="Courier New" panose="02070309020205020404" pitchFamily="49" charset="0"/>
              </a:rPr>
              <a:t>      set ca “CA_Cert_1</a:t>
            </a:r>
          </a:p>
          <a:p>
            <a:pPr>
              <a:lnSpc>
                <a:spcPct val="90000"/>
              </a:lnSpc>
              <a:spcBef>
                <a:spcPts val="300"/>
              </a:spcBef>
            </a:pPr>
            <a:r>
              <a:rPr lang="en-GB" sz="1400" dirty="0">
                <a:solidFill>
                  <a:schemeClr val="tx1"/>
                </a:solidFill>
                <a:latin typeface="Courier New" panose="02070309020205020404" pitchFamily="49" charset="0"/>
                <a:cs typeface="Courier New" panose="02070309020205020404" pitchFamily="49" charset="0"/>
              </a:rPr>
              <a:t> </a:t>
            </a:r>
            <a:r>
              <a:rPr lang="en-GB" sz="1400" dirty="0" smtClean="0">
                <a:solidFill>
                  <a:schemeClr val="tx1"/>
                </a:solidFill>
                <a:latin typeface="Courier New" panose="02070309020205020404" pitchFamily="49" charset="0"/>
                <a:cs typeface="Courier New" panose="02070309020205020404" pitchFamily="49" charset="0"/>
              </a:rPr>
              <a:t>      set </a:t>
            </a:r>
            <a:r>
              <a:rPr lang="en-GB" sz="1400" dirty="0" err="1" smtClean="0">
                <a:solidFill>
                  <a:schemeClr val="tx1"/>
                </a:solidFill>
                <a:latin typeface="Courier New" panose="02070309020205020404" pitchFamily="49" charset="0"/>
                <a:cs typeface="Courier New" panose="02070309020205020404" pitchFamily="49" charset="0"/>
              </a:rPr>
              <a:t>cn</a:t>
            </a:r>
            <a:r>
              <a:rPr lang="en-GB" sz="1400" dirty="0" smtClean="0">
                <a:solidFill>
                  <a:schemeClr val="tx1"/>
                </a:solidFill>
                <a:latin typeface="Courier New" panose="02070309020205020404" pitchFamily="49" charset="0"/>
                <a:cs typeface="Courier New" panose="02070309020205020404" pitchFamily="49" charset="0"/>
              </a:rPr>
              <a:t> “FGVM01TM905”</a:t>
            </a:r>
          </a:p>
          <a:p>
            <a:pPr>
              <a:lnSpc>
                <a:spcPct val="90000"/>
              </a:lnSpc>
              <a:spcBef>
                <a:spcPts val="300"/>
              </a:spcBef>
            </a:pPr>
            <a:r>
              <a:rPr lang="en-GB" sz="1400" dirty="0">
                <a:solidFill>
                  <a:schemeClr val="tx1"/>
                </a:solidFill>
                <a:latin typeface="Courier New" panose="02070309020205020404" pitchFamily="49" charset="0"/>
                <a:cs typeface="Courier New" panose="02070309020205020404" pitchFamily="49" charset="0"/>
              </a:rPr>
              <a:t> </a:t>
            </a:r>
            <a:r>
              <a:rPr lang="en-GB" sz="1400" dirty="0" smtClean="0">
                <a:solidFill>
                  <a:schemeClr val="tx1"/>
                </a:solidFill>
                <a:latin typeface="Courier New" panose="02070309020205020404" pitchFamily="49" charset="0"/>
                <a:cs typeface="Courier New" panose="02070309020205020404" pitchFamily="49" charset="0"/>
              </a:rPr>
              <a:t>  end</a:t>
            </a:r>
            <a:endParaRPr lang="en-US" sz="1400" dirty="0" err="1" smtClean="0">
              <a:solidFill>
                <a:schemeClr val="tx1"/>
              </a:solidFill>
              <a:latin typeface="Courier New" panose="02070309020205020404" pitchFamily="49" charset="0"/>
              <a:cs typeface="Courier New" panose="02070309020205020404" pitchFamily="49" charset="0"/>
            </a:endParaRPr>
          </a:p>
        </p:txBody>
      </p:sp>
      <p:sp>
        <p:nvSpPr>
          <p:cNvPr id="12" name="Rounded Rectangular Callout 11"/>
          <p:cNvSpPr/>
          <p:nvPr/>
        </p:nvSpPr>
        <p:spPr>
          <a:xfrm>
            <a:off x="9286204" y="3070457"/>
            <a:ext cx="2556026" cy="684580"/>
          </a:xfrm>
          <a:prstGeom prst="wedgeRoundRectCallout">
            <a:avLst>
              <a:gd name="adj1" fmla="val -47804"/>
              <a:gd name="adj2" fmla="val 151555"/>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Use CLI to create first PKI user to get PKI menu on GUI </a:t>
            </a:r>
            <a:endParaRPr lang="en-US" sz="1400" dirty="0" err="1" smtClean="0">
              <a:solidFill>
                <a:schemeClr val="tx1"/>
              </a:solidFill>
            </a:endParaRPr>
          </a:p>
        </p:txBody>
      </p:sp>
    </p:spTree>
    <p:extLst>
      <p:ext uri="{BB962C8B-B14F-4D97-AF65-F5344CB8AC3E}">
        <p14:creationId xmlns:p14="http://schemas.microsoft.com/office/powerpoint/2010/main" val="3095689470"/>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cs typeface="Arial" charset="0"/>
              </a:rPr>
              <a:t>Configuring SSL </a:t>
            </a:r>
            <a:r>
              <a:rPr lang="en-US" dirty="0" smtClean="0">
                <a:cs typeface="Arial" charset="0"/>
              </a:rPr>
              <a:t>VPN—FortiGate as Client</a:t>
            </a:r>
            <a:endParaRPr lang="en-US" dirty="0"/>
          </a:p>
        </p:txBody>
      </p:sp>
      <p:sp>
        <p:nvSpPr>
          <p:cNvPr id="6" name="Content Placeholder 5"/>
          <p:cNvSpPr>
            <a:spLocks noGrp="1"/>
          </p:cNvSpPr>
          <p:nvPr>
            <p:ph idx="1"/>
          </p:nvPr>
        </p:nvSpPr>
        <p:spPr/>
        <p:txBody>
          <a:bodyPr/>
          <a:lstStyle/>
          <a:p>
            <a:r>
              <a:rPr lang="en-GB" dirty="0" smtClean="0">
                <a:cs typeface="Arial" charset="0"/>
              </a:rPr>
              <a:t>SSL VPN Client FortiGate</a:t>
            </a:r>
          </a:p>
          <a:p>
            <a:pPr marL="799963" lvl="1" indent="-342900">
              <a:buFont typeface="+mj-lt"/>
              <a:buAutoNum type="arabicPeriod"/>
            </a:pPr>
            <a:r>
              <a:rPr lang="en-GB" dirty="0" smtClean="0">
                <a:cs typeface="Arial" charset="0"/>
              </a:rPr>
              <a:t>Create PKI user</a:t>
            </a:r>
          </a:p>
          <a:p>
            <a:pPr lvl="2"/>
            <a:r>
              <a:rPr lang="en-US" dirty="0" smtClean="0"/>
              <a:t>Select CA </a:t>
            </a:r>
            <a:r>
              <a:rPr lang="en-US" dirty="0"/>
              <a:t>certificate </a:t>
            </a:r>
            <a:r>
              <a:rPr lang="en-US" dirty="0" smtClean="0"/>
              <a:t>that allows </a:t>
            </a:r>
            <a:r>
              <a:rPr lang="en-US" dirty="0"/>
              <a:t>the FortiGate to complete the certificate chain and verify the server 's certificate</a:t>
            </a:r>
            <a:endParaRPr lang="en-GB" dirty="0" smtClean="0">
              <a:cs typeface="Arial" charset="0"/>
            </a:endParaRPr>
          </a:p>
          <a:p>
            <a:pPr marL="799963" lvl="1" indent="-342900">
              <a:buFont typeface="+mj-lt"/>
              <a:buAutoNum type="arabicPeriod"/>
            </a:pPr>
            <a:r>
              <a:rPr lang="en-GB" dirty="0" smtClean="0">
                <a:cs typeface="Arial" charset="0"/>
              </a:rPr>
              <a:t>Create SSL VPN tunnel interface using </a:t>
            </a:r>
            <a:r>
              <a:rPr lang="en-GB" i="1" dirty="0" err="1" smtClean="0">
                <a:cs typeface="Arial" charset="0"/>
              </a:rPr>
              <a:t>ssl</a:t>
            </a:r>
            <a:r>
              <a:rPr lang="en-GB" i="1" dirty="0" smtClean="0">
                <a:cs typeface="Arial" charset="0"/>
              </a:rPr>
              <a:t>.&lt;</a:t>
            </a:r>
            <a:r>
              <a:rPr lang="en-GB" i="1" dirty="0" err="1" smtClean="0">
                <a:cs typeface="Arial" charset="0"/>
              </a:rPr>
              <a:t>vdom</a:t>
            </a:r>
            <a:r>
              <a:rPr lang="en-GB" i="1" dirty="0" smtClean="0">
                <a:cs typeface="Arial" charset="0"/>
              </a:rPr>
              <a:t>&gt;</a:t>
            </a:r>
            <a:r>
              <a:rPr lang="en-GB" dirty="0" smtClean="0">
                <a:cs typeface="Arial" charset="0"/>
              </a:rPr>
              <a:t> interface</a:t>
            </a:r>
          </a:p>
          <a:p>
            <a:pPr marL="799963" lvl="1" indent="-342900">
              <a:buFont typeface="+mj-lt"/>
              <a:buAutoNum type="arabicPeriod"/>
            </a:pPr>
            <a:r>
              <a:rPr lang="en-GB" dirty="0" smtClean="0">
                <a:cs typeface="Arial" charset="0"/>
              </a:rPr>
              <a:t>Create and configure the SSL VPN Client settings on </a:t>
            </a:r>
            <a:r>
              <a:rPr lang="en-GB" b="1" dirty="0" smtClean="0">
                <a:cs typeface="Arial" charset="0"/>
              </a:rPr>
              <a:t>VPN</a:t>
            </a:r>
            <a:r>
              <a:rPr lang="en-GB" dirty="0" smtClean="0">
                <a:cs typeface="Arial" charset="0"/>
              </a:rPr>
              <a:t> &gt; </a:t>
            </a:r>
            <a:r>
              <a:rPr lang="en-GB" b="1" dirty="0" smtClean="0">
                <a:cs typeface="Arial" charset="0"/>
              </a:rPr>
              <a:t>SSL-VPN Clients</a:t>
            </a:r>
            <a:endParaRPr lang="en-GB" dirty="0">
              <a:cs typeface="Arial" charset="0"/>
            </a:endParaRPr>
          </a:p>
          <a:p>
            <a:pPr marL="799963" lvl="1" indent="-342900">
              <a:buFont typeface="+mj-lt"/>
              <a:buAutoNum type="arabicPeriod"/>
            </a:pPr>
            <a:r>
              <a:rPr lang="en-US" dirty="0">
                <a:cs typeface="Arial" charset="0"/>
              </a:rPr>
              <a:t>Create a firewall policy </a:t>
            </a:r>
            <a:r>
              <a:rPr lang="en-US" dirty="0" smtClean="0">
                <a:cs typeface="Arial" charset="0"/>
              </a:rPr>
              <a:t>from </a:t>
            </a:r>
            <a:r>
              <a:rPr lang="en-US" dirty="0" smtClean="0"/>
              <a:t>internal interface to the </a:t>
            </a:r>
            <a:r>
              <a:rPr lang="en-US" dirty="0"/>
              <a:t>SSL VPN interface</a:t>
            </a:r>
          </a:p>
          <a:p>
            <a:pPr lvl="1"/>
            <a:endParaRPr lang="en-US" dirty="0">
              <a:cs typeface="Arial" charset="0"/>
            </a:endParaRPr>
          </a:p>
          <a:p>
            <a:pPr lvl="1"/>
            <a:endParaRPr lang="en-US" dirty="0"/>
          </a:p>
        </p:txBody>
      </p:sp>
      <p:pic>
        <p:nvPicPr>
          <p:cNvPr id="2" name="Picture 1"/>
          <p:cNvPicPr>
            <a:picLocks noChangeAspect="1"/>
          </p:cNvPicPr>
          <p:nvPr/>
        </p:nvPicPr>
        <p:blipFill>
          <a:blip r:embed="rId3"/>
          <a:stretch>
            <a:fillRect/>
          </a:stretch>
        </p:blipFill>
        <p:spPr>
          <a:xfrm>
            <a:off x="944853" y="3547253"/>
            <a:ext cx="3334839" cy="2447521"/>
          </a:xfrm>
          <a:prstGeom prst="rect">
            <a:avLst/>
          </a:prstGeom>
          <a:ln>
            <a:solidFill>
              <a:schemeClr val="tx1"/>
            </a:solidFill>
          </a:ln>
        </p:spPr>
      </p:pic>
      <p:sp>
        <p:nvSpPr>
          <p:cNvPr id="7" name="Rectangle 6"/>
          <p:cNvSpPr/>
          <p:nvPr/>
        </p:nvSpPr>
        <p:spPr bwMode="invGray">
          <a:xfrm>
            <a:off x="944852" y="3128533"/>
            <a:ext cx="3477245" cy="365080"/>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smtClean="0"/>
              <a:t>Network </a:t>
            </a:r>
            <a:r>
              <a:rPr lang="en-CA" sz="1600" dirty="0"/>
              <a:t>&gt;</a:t>
            </a:r>
            <a:r>
              <a:rPr lang="en-CA" sz="1600" b="1" dirty="0"/>
              <a:t> </a:t>
            </a:r>
            <a:r>
              <a:rPr lang="en-CA" sz="1600" b="1" dirty="0" smtClean="0"/>
              <a:t>Interface </a:t>
            </a:r>
            <a:r>
              <a:rPr lang="en-CA" sz="1600" dirty="0" smtClean="0"/>
              <a:t>&gt; </a:t>
            </a:r>
            <a:r>
              <a:rPr lang="en-CA" sz="1600" b="1" dirty="0" smtClean="0"/>
              <a:t>Create New</a:t>
            </a:r>
            <a:endParaRPr lang="en-CA" sz="1600" b="1" dirty="0"/>
          </a:p>
        </p:txBody>
      </p:sp>
      <p:sp>
        <p:nvSpPr>
          <p:cNvPr id="3" name="Rounded Rectangular Callout 2"/>
          <p:cNvSpPr/>
          <p:nvPr/>
        </p:nvSpPr>
        <p:spPr>
          <a:xfrm>
            <a:off x="3474120" y="3582648"/>
            <a:ext cx="1427664" cy="238633"/>
          </a:xfrm>
          <a:prstGeom prst="wedgeRoundRectCallout">
            <a:avLst>
              <a:gd name="adj1" fmla="val -110846"/>
              <a:gd name="adj2" fmla="val -8519"/>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Interface Name</a:t>
            </a:r>
            <a:endParaRPr lang="en-US" sz="1400" dirty="0" err="1" smtClean="0">
              <a:solidFill>
                <a:schemeClr val="tx1"/>
              </a:solidFill>
            </a:endParaRPr>
          </a:p>
        </p:txBody>
      </p:sp>
      <p:sp>
        <p:nvSpPr>
          <p:cNvPr id="8" name="Rounded Rectangular Callout 7"/>
          <p:cNvSpPr/>
          <p:nvPr/>
        </p:nvSpPr>
        <p:spPr>
          <a:xfrm>
            <a:off x="3474120" y="3920055"/>
            <a:ext cx="2188564" cy="320529"/>
          </a:xfrm>
          <a:prstGeom prst="wedgeRoundRectCallout">
            <a:avLst>
              <a:gd name="adj1" fmla="val -83914"/>
              <a:gd name="adj2" fmla="val 4153"/>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Type: </a:t>
            </a:r>
            <a:r>
              <a:rPr lang="en-GB" sz="1400" dirty="0" err="1" smtClean="0">
                <a:solidFill>
                  <a:schemeClr val="tx1"/>
                </a:solidFill>
              </a:rPr>
              <a:t>ssl</a:t>
            </a:r>
            <a:r>
              <a:rPr lang="en-GB" sz="1400" dirty="0" smtClean="0">
                <a:solidFill>
                  <a:schemeClr val="tx1"/>
                </a:solidFill>
              </a:rPr>
              <a:t>.&lt;</a:t>
            </a:r>
            <a:r>
              <a:rPr lang="en-GB" sz="1400" dirty="0" err="1" smtClean="0">
                <a:solidFill>
                  <a:schemeClr val="tx1"/>
                </a:solidFill>
              </a:rPr>
              <a:t>vdom_name</a:t>
            </a:r>
            <a:r>
              <a:rPr lang="en-GB" sz="1400" dirty="0" smtClean="0">
                <a:solidFill>
                  <a:schemeClr val="tx1"/>
                </a:solidFill>
              </a:rPr>
              <a:t>&gt;</a:t>
            </a:r>
            <a:endParaRPr lang="en-US" sz="1400" dirty="0" err="1" smtClean="0">
              <a:solidFill>
                <a:schemeClr val="tx1"/>
              </a:solidFill>
            </a:endParaRPr>
          </a:p>
        </p:txBody>
      </p:sp>
      <p:sp>
        <p:nvSpPr>
          <p:cNvPr id="9" name="Rounded Rectangular Callout 8"/>
          <p:cNvSpPr/>
          <p:nvPr/>
        </p:nvSpPr>
        <p:spPr>
          <a:xfrm>
            <a:off x="3474119" y="4352975"/>
            <a:ext cx="2124707" cy="406402"/>
          </a:xfrm>
          <a:prstGeom prst="wedgeRoundRectCallout">
            <a:avLst>
              <a:gd name="adj1" fmla="val -107610"/>
              <a:gd name="adj2" fmla="val -55518"/>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Select port to reach server FortiGate</a:t>
            </a:r>
            <a:endParaRPr lang="en-US" sz="1400" dirty="0" err="1" smtClean="0">
              <a:solidFill>
                <a:schemeClr val="tx1"/>
              </a:solidFill>
            </a:endParaRPr>
          </a:p>
        </p:txBody>
      </p:sp>
      <p:sp>
        <p:nvSpPr>
          <p:cNvPr id="4" name="Rectangle 3"/>
          <p:cNvSpPr/>
          <p:nvPr/>
        </p:nvSpPr>
        <p:spPr>
          <a:xfrm>
            <a:off x="944853" y="5036695"/>
            <a:ext cx="3334839" cy="95807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1" name="Rectangle 10"/>
          <p:cNvSpPr/>
          <p:nvPr/>
        </p:nvSpPr>
        <p:spPr bwMode="invGray">
          <a:xfrm>
            <a:off x="6041475" y="2837697"/>
            <a:ext cx="3852035" cy="335806"/>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smtClean="0"/>
              <a:t>VPN </a:t>
            </a:r>
            <a:r>
              <a:rPr lang="en-CA" sz="1600" dirty="0"/>
              <a:t>&gt;</a:t>
            </a:r>
            <a:r>
              <a:rPr lang="en-CA" sz="1600" b="1" dirty="0"/>
              <a:t> </a:t>
            </a:r>
            <a:r>
              <a:rPr lang="en-CA" sz="1600" b="1" dirty="0" smtClean="0"/>
              <a:t>SSL-VPN Clients </a:t>
            </a:r>
            <a:r>
              <a:rPr lang="en-CA" sz="1600" dirty="0" smtClean="0"/>
              <a:t>&gt; </a:t>
            </a:r>
            <a:r>
              <a:rPr lang="en-CA" sz="1600" b="1" dirty="0" smtClean="0"/>
              <a:t>Create New</a:t>
            </a:r>
            <a:endParaRPr lang="en-CA" sz="1600" b="1" dirty="0"/>
          </a:p>
        </p:txBody>
      </p:sp>
      <p:sp>
        <p:nvSpPr>
          <p:cNvPr id="18" name="Rounded Rectangular Callout 17"/>
          <p:cNvSpPr/>
          <p:nvPr/>
        </p:nvSpPr>
        <p:spPr>
          <a:xfrm>
            <a:off x="10094705" y="4450383"/>
            <a:ext cx="1885299" cy="785927"/>
          </a:xfrm>
          <a:prstGeom prst="wedgeRoundRectCallout">
            <a:avLst>
              <a:gd name="adj1" fmla="val -75128"/>
              <a:gd name="adj2" fmla="val 10416"/>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Local and PKI user details including local cert to identify this client</a:t>
            </a:r>
            <a:endParaRPr lang="en-US" sz="1400" dirty="0" err="1" smtClean="0">
              <a:solidFill>
                <a:schemeClr val="tx1"/>
              </a:solidFill>
            </a:endParaRPr>
          </a:p>
        </p:txBody>
      </p:sp>
      <p:sp>
        <p:nvSpPr>
          <p:cNvPr id="20" name="Rounded Rectangular Callout 19"/>
          <p:cNvSpPr/>
          <p:nvPr/>
        </p:nvSpPr>
        <p:spPr>
          <a:xfrm>
            <a:off x="10099712" y="5435208"/>
            <a:ext cx="1880292" cy="630894"/>
          </a:xfrm>
          <a:prstGeom prst="wedgeRoundRectCallout">
            <a:avLst>
              <a:gd name="adj1" fmla="val -74729"/>
              <a:gd name="adj2" fmla="val -22848"/>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Dynamic route priority and distance settings</a:t>
            </a:r>
            <a:endParaRPr lang="en-US" sz="1400" dirty="0" err="1" smtClean="0">
              <a:solidFill>
                <a:schemeClr val="tx1"/>
              </a:solidFill>
            </a:endParaRPr>
          </a:p>
        </p:txBody>
      </p:sp>
      <p:pic>
        <p:nvPicPr>
          <p:cNvPr id="14" name="Picture 13"/>
          <p:cNvPicPr>
            <a:picLocks noChangeAspect="1"/>
          </p:cNvPicPr>
          <p:nvPr/>
        </p:nvPicPr>
        <p:blipFill>
          <a:blip r:embed="rId4"/>
          <a:stretch>
            <a:fillRect/>
          </a:stretch>
        </p:blipFill>
        <p:spPr>
          <a:xfrm>
            <a:off x="6067467" y="3224175"/>
            <a:ext cx="3523539" cy="3276156"/>
          </a:xfrm>
          <a:prstGeom prst="rect">
            <a:avLst/>
          </a:prstGeom>
          <a:ln>
            <a:solidFill>
              <a:schemeClr val="tx1"/>
            </a:solidFill>
          </a:ln>
        </p:spPr>
      </p:pic>
      <p:sp>
        <p:nvSpPr>
          <p:cNvPr id="22" name="Rectangle 21"/>
          <p:cNvSpPr/>
          <p:nvPr/>
        </p:nvSpPr>
        <p:spPr>
          <a:xfrm>
            <a:off x="6048970" y="4352975"/>
            <a:ext cx="3542036" cy="7440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3" name="Rectangle 22"/>
          <p:cNvSpPr/>
          <p:nvPr/>
        </p:nvSpPr>
        <p:spPr>
          <a:xfrm>
            <a:off x="6048970" y="5118970"/>
            <a:ext cx="3542036" cy="74403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4" name="Rounded Rectangular Callout 23"/>
          <p:cNvSpPr/>
          <p:nvPr/>
        </p:nvSpPr>
        <p:spPr>
          <a:xfrm>
            <a:off x="9438607" y="3246244"/>
            <a:ext cx="1484026" cy="230268"/>
          </a:xfrm>
          <a:prstGeom prst="wedgeRoundRectCallout">
            <a:avLst>
              <a:gd name="adj1" fmla="val -128728"/>
              <a:gd name="adj2" fmla="val 96059"/>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Client Name</a:t>
            </a:r>
            <a:endParaRPr lang="en-US" sz="1400" dirty="0" err="1" smtClean="0">
              <a:solidFill>
                <a:schemeClr val="tx1"/>
              </a:solidFill>
            </a:endParaRPr>
          </a:p>
        </p:txBody>
      </p:sp>
      <p:sp>
        <p:nvSpPr>
          <p:cNvPr id="25" name="Rounded Rectangular Callout 24"/>
          <p:cNvSpPr/>
          <p:nvPr/>
        </p:nvSpPr>
        <p:spPr>
          <a:xfrm>
            <a:off x="9438607" y="3543965"/>
            <a:ext cx="1918742" cy="208018"/>
          </a:xfrm>
          <a:prstGeom prst="wedgeRoundRectCallout">
            <a:avLst>
              <a:gd name="adj1" fmla="val -104890"/>
              <a:gd name="adj2" fmla="val 70943"/>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Virtual SSL interface</a:t>
            </a:r>
            <a:endParaRPr lang="en-US" sz="1400" dirty="0" err="1" smtClean="0">
              <a:solidFill>
                <a:schemeClr val="tx1"/>
              </a:solidFill>
            </a:endParaRPr>
          </a:p>
        </p:txBody>
      </p:sp>
      <p:sp>
        <p:nvSpPr>
          <p:cNvPr id="27" name="Rounded Rectangular Callout 26"/>
          <p:cNvSpPr/>
          <p:nvPr/>
        </p:nvSpPr>
        <p:spPr>
          <a:xfrm>
            <a:off x="9733172" y="3949520"/>
            <a:ext cx="2295612" cy="387790"/>
          </a:xfrm>
          <a:prstGeom prst="wedgeRoundRectCallout">
            <a:avLst>
              <a:gd name="adj1" fmla="val -104604"/>
              <a:gd name="adj2" fmla="val -4945"/>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Server FortiGate IP Address and SSL Port</a:t>
            </a:r>
            <a:endParaRPr lang="en-US" sz="1400" dirty="0" err="1" smtClean="0">
              <a:solidFill>
                <a:schemeClr val="tx1"/>
              </a:solidFill>
            </a:endParaRPr>
          </a:p>
        </p:txBody>
      </p:sp>
    </p:spTree>
    <p:extLst>
      <p:ext uri="{BB962C8B-B14F-4D97-AF65-F5344CB8AC3E}">
        <p14:creationId xmlns:p14="http://schemas.microsoft.com/office/powerpoint/2010/main" val="2490256421"/>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9056391" y="3581079"/>
            <a:ext cx="2988937" cy="2814968"/>
            <a:chOff x="9292612" y="3965375"/>
            <a:chExt cx="2470195" cy="2326420"/>
          </a:xfrm>
        </p:grpSpPr>
        <p:pic>
          <p:nvPicPr>
            <p:cNvPr id="1026" name="Picture 2" descr="Resultado de imagen de client integrity check"/>
            <p:cNvPicPr>
              <a:picLocks noChangeAspect="1" noChangeArrowheads="1"/>
            </p:cNvPicPr>
            <p:nvPr/>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rot="540997">
              <a:off x="9391082" y="3965375"/>
              <a:ext cx="2371725" cy="193357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90"/>
            <p:cNvPicPr>
              <a:picLocks noChangeAspect="1"/>
            </p:cNvPicPr>
            <p:nvPr/>
          </p:nvPicPr>
          <p:blipFill rotWithShape="1">
            <a:blip r:embed="rId6">
              <a:extLst>
                <a:ext uri="{28A0092B-C50C-407E-A947-70E740481C1C}">
                  <a14:useLocalDpi xmlns:a14="http://schemas.microsoft.com/office/drawing/2010/main" val="0"/>
                </a:ext>
              </a:extLst>
            </a:blip>
            <a:srcRect b="10735"/>
            <a:stretch/>
          </p:blipFill>
          <p:spPr bwMode="auto">
            <a:xfrm>
              <a:off x="9292612" y="4746094"/>
              <a:ext cx="1510667" cy="1545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itle 1"/>
          <p:cNvSpPr>
            <a:spLocks noGrp="1"/>
          </p:cNvSpPr>
          <p:nvPr>
            <p:ph type="title"/>
          </p:nvPr>
        </p:nvSpPr>
        <p:spPr/>
        <p:txBody>
          <a:bodyPr/>
          <a:lstStyle/>
          <a:p>
            <a:r>
              <a:rPr lang="en-US"/>
              <a:t>Client Integrity Checking</a:t>
            </a:r>
            <a:endParaRPr lang="en-US" dirty="0"/>
          </a:p>
        </p:txBody>
      </p:sp>
      <p:sp>
        <p:nvSpPr>
          <p:cNvPr id="3" name="Content Placeholder 2"/>
          <p:cNvSpPr>
            <a:spLocks noGrp="1"/>
          </p:cNvSpPr>
          <p:nvPr>
            <p:ph idx="1"/>
          </p:nvPr>
        </p:nvSpPr>
        <p:spPr/>
        <p:txBody>
          <a:bodyPr>
            <a:normAutofit/>
          </a:bodyPr>
          <a:lstStyle/>
          <a:p>
            <a:r>
              <a:rPr lang="en-US" dirty="0"/>
              <a:t>SSL-VPN gateway checks client integrity</a:t>
            </a:r>
          </a:p>
          <a:p>
            <a:pPr lvl="1"/>
            <a:r>
              <a:rPr lang="en-US" dirty="0"/>
              <a:t>Requires Microsoft </a:t>
            </a:r>
            <a:r>
              <a:rPr lang="en-US" dirty="0" smtClean="0"/>
              <a:t>Windows</a:t>
            </a:r>
          </a:p>
          <a:p>
            <a:pPr lvl="1"/>
            <a:r>
              <a:rPr lang="en-GB" dirty="0" smtClean="0"/>
              <a:t>Supported in SSL VPN tunnel mode only</a:t>
            </a:r>
            <a:endParaRPr lang="en-US" dirty="0"/>
          </a:p>
          <a:p>
            <a:pPr lvl="1"/>
            <a:endParaRPr lang="en-US" sz="1000" dirty="0"/>
          </a:p>
          <a:p>
            <a:r>
              <a:rPr lang="en-US" dirty="0"/>
              <a:t>Detects client security applications recognized by the Windows Security Center</a:t>
            </a:r>
          </a:p>
          <a:p>
            <a:pPr lvl="1"/>
            <a:r>
              <a:rPr lang="en-US" dirty="0"/>
              <a:t>Antivirus and firewall software</a:t>
            </a:r>
          </a:p>
          <a:p>
            <a:pPr lvl="1"/>
            <a:r>
              <a:rPr lang="en-US" dirty="0"/>
              <a:t>Security attributes recorded on the client’s computer </a:t>
            </a:r>
          </a:p>
          <a:p>
            <a:pPr lvl="1"/>
            <a:endParaRPr lang="en-US" sz="1000" dirty="0"/>
          </a:p>
          <a:p>
            <a:r>
              <a:rPr lang="en-US" dirty="0"/>
              <a:t>Checks the status of applications through their globally unique identifier (GUID)</a:t>
            </a:r>
          </a:p>
          <a:p>
            <a:pPr lvl="1"/>
            <a:r>
              <a:rPr lang="en-US" dirty="0"/>
              <a:t>Custom host checks</a:t>
            </a:r>
          </a:p>
          <a:p>
            <a:pPr lvl="1"/>
            <a:endParaRPr lang="en-US" sz="1000" dirty="0"/>
          </a:p>
          <a:p>
            <a:r>
              <a:rPr lang="en-US" dirty="0"/>
              <a:t>Determines the state of the applications</a:t>
            </a:r>
          </a:p>
          <a:p>
            <a:pPr lvl="1"/>
            <a:r>
              <a:rPr lang="en-US" dirty="0"/>
              <a:t>Active/inactive</a:t>
            </a:r>
          </a:p>
          <a:p>
            <a:pPr lvl="1"/>
            <a:r>
              <a:rPr lang="en-US" dirty="0"/>
              <a:t>Current version number</a:t>
            </a:r>
          </a:p>
          <a:p>
            <a:pPr lvl="1"/>
            <a:r>
              <a:rPr lang="en-US" dirty="0"/>
              <a:t>Signature updates</a:t>
            </a:r>
          </a:p>
          <a:p>
            <a:endParaRPr lang="en-US" dirty="0"/>
          </a:p>
        </p:txBody>
      </p:sp>
    </p:spTree>
    <p:custDataLst>
      <p:tags r:id="rId1"/>
    </p:custDataLst>
    <p:extLst>
      <p:ext uri="{BB962C8B-B14F-4D97-AF65-F5344CB8AC3E}">
        <p14:creationId xmlns:p14="http://schemas.microsoft.com/office/powerpoint/2010/main" val="2703257598"/>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Configure </a:t>
            </a:r>
            <a:r>
              <a:rPr lang="en-US" dirty="0" smtClean="0"/>
              <a:t>the Client </a:t>
            </a:r>
            <a:r>
              <a:rPr lang="en-US" dirty="0"/>
              <a:t>Integrity Check</a:t>
            </a:r>
          </a:p>
        </p:txBody>
      </p:sp>
      <p:sp>
        <p:nvSpPr>
          <p:cNvPr id="15" name="Content Placeholder 14"/>
          <p:cNvSpPr>
            <a:spLocks noGrp="1"/>
          </p:cNvSpPr>
          <p:nvPr>
            <p:ph idx="15"/>
          </p:nvPr>
        </p:nvSpPr>
        <p:spPr>
          <a:xfrm>
            <a:off x="609441" y="975599"/>
            <a:ext cx="5265693" cy="5540947"/>
          </a:xfrm>
        </p:spPr>
        <p:txBody>
          <a:bodyPr>
            <a:normAutofit fontScale="85000" lnSpcReduction="10000"/>
          </a:bodyPr>
          <a:lstStyle/>
          <a:p>
            <a:pPr>
              <a:lnSpc>
                <a:spcPct val="120000"/>
              </a:lnSpc>
            </a:pPr>
            <a:r>
              <a:rPr lang="en-US" dirty="0"/>
              <a:t>Uses external vendor software to ensure client </a:t>
            </a:r>
            <a:r>
              <a:rPr lang="en-US" dirty="0" smtClean="0"/>
              <a:t>integrity:</a:t>
            </a:r>
            <a:endParaRPr lang="en-US" dirty="0"/>
          </a:p>
          <a:p>
            <a:pPr marL="359770" lvl="1" indent="0">
              <a:lnSpc>
                <a:spcPct val="120000"/>
              </a:lnSpc>
              <a:buNone/>
            </a:pPr>
            <a:r>
              <a:rPr lang="en-US" dirty="0">
                <a:latin typeface="Courier New" panose="02070309020205020404" pitchFamily="49" charset="0"/>
                <a:cs typeface="Courier New" panose="02070309020205020404" pitchFamily="49" charset="0"/>
              </a:rPr>
              <a:t>FortiClient, AVG, CA, F-Secure, </a:t>
            </a:r>
            <a:r>
              <a:rPr lang="en-US" dirty="0" err="1">
                <a:latin typeface="Courier New" panose="02070309020205020404" pitchFamily="49" charset="0"/>
                <a:cs typeface="Courier New" panose="02070309020205020404" pitchFamily="49" charset="0"/>
              </a:rPr>
              <a:t>Kapersky</a:t>
            </a:r>
            <a:r>
              <a:rPr lang="en-US" dirty="0">
                <a:latin typeface="Courier New" panose="02070309020205020404" pitchFamily="49" charset="0"/>
                <a:cs typeface="Courier New" panose="02070309020205020404" pitchFamily="49" charset="0"/>
              </a:rPr>
              <a:t>, McAfee, Norton, Symantec, Panda, Sophos, Trend-Micro, Zone Alarm,…</a:t>
            </a:r>
          </a:p>
          <a:p>
            <a:pPr>
              <a:lnSpc>
                <a:spcPct val="120000"/>
              </a:lnSpc>
            </a:pPr>
            <a:r>
              <a:rPr lang="en-US" dirty="0"/>
              <a:t>Checks whether </a:t>
            </a:r>
            <a:r>
              <a:rPr lang="en-US" dirty="0" smtClean="0"/>
              <a:t>the software </a:t>
            </a:r>
            <a:r>
              <a:rPr lang="en-US" dirty="0"/>
              <a:t>is installed on host </a:t>
            </a:r>
            <a:r>
              <a:rPr lang="en-US" dirty="0" smtClean="0"/>
              <a:t>client:</a:t>
            </a:r>
            <a:endParaRPr lang="en-US" dirty="0"/>
          </a:p>
          <a:p>
            <a:pPr lvl="1">
              <a:lnSpc>
                <a:spcPct val="120000"/>
              </a:lnSpc>
            </a:pPr>
            <a:r>
              <a:rPr lang="en-US" dirty="0"/>
              <a:t>Configure through CLI </a:t>
            </a:r>
            <a:r>
              <a:rPr lang="en-US" dirty="0" smtClean="0"/>
              <a:t>or GUI</a:t>
            </a:r>
            <a:endParaRPr lang="en-US" dirty="0"/>
          </a:p>
          <a:p>
            <a:pPr lvl="1">
              <a:lnSpc>
                <a:spcPct val="120000"/>
              </a:lnSpc>
            </a:pPr>
            <a:r>
              <a:rPr lang="en-US" dirty="0"/>
              <a:t>Software </a:t>
            </a:r>
            <a:r>
              <a:rPr lang="en-US" dirty="0" smtClean="0"/>
              <a:t>must </a:t>
            </a:r>
            <a:r>
              <a:rPr lang="en-US" dirty="0"/>
              <a:t>be updated and recognized by Windows Security Center</a:t>
            </a:r>
          </a:p>
          <a:p>
            <a:pPr lvl="2">
              <a:lnSpc>
                <a:spcPct val="120000"/>
              </a:lnSpc>
            </a:pPr>
            <a:r>
              <a:rPr lang="en-US" dirty="0">
                <a:latin typeface="Courier New" panose="02070309020205020404" pitchFamily="49" charset="0"/>
                <a:cs typeface="Courier New" panose="02070309020205020404" pitchFamily="49" charset="0"/>
              </a:rPr>
              <a:t>None </a:t>
            </a:r>
            <a:r>
              <a:rPr lang="en-US" dirty="0">
                <a:cs typeface="Courier New" panose="02070309020205020404" pitchFamily="49" charset="0"/>
              </a:rPr>
              <a:t>– No host checking</a:t>
            </a:r>
          </a:p>
          <a:p>
            <a:pPr lvl="2">
              <a:lnSpc>
                <a:spcPct val="120000"/>
              </a:lnSpc>
            </a:pPr>
            <a:r>
              <a:rPr lang="en-US" dirty="0" err="1">
                <a:latin typeface="Courier New" panose="02070309020205020404" pitchFamily="49" charset="0"/>
                <a:cs typeface="Courier New" panose="02070309020205020404" pitchFamily="49" charset="0"/>
              </a:rPr>
              <a:t>av</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 </a:t>
            </a:r>
            <a:r>
              <a:rPr lang="en-US" dirty="0"/>
              <a:t>Verify if there is any antivirus software</a:t>
            </a:r>
          </a:p>
          <a:p>
            <a:pPr lvl="2">
              <a:lnSpc>
                <a:spcPct val="120000"/>
              </a:lnSpc>
            </a:pPr>
            <a:r>
              <a:rPr lang="en-US" dirty="0" err="1">
                <a:latin typeface="Courier New" panose="02070309020205020404" pitchFamily="49" charset="0"/>
                <a:cs typeface="Courier New" panose="02070309020205020404" pitchFamily="49" charset="0"/>
              </a:rPr>
              <a:t>fw</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 </a:t>
            </a:r>
            <a:r>
              <a:rPr lang="en-US" dirty="0"/>
              <a:t>Verify if there is any firewall software</a:t>
            </a:r>
            <a:endParaRPr lang="en-US" dirty="0">
              <a:latin typeface="Courier New" panose="02070309020205020404" pitchFamily="49" charset="0"/>
              <a:cs typeface="Courier New" panose="02070309020205020404" pitchFamily="49" charset="0"/>
            </a:endParaRPr>
          </a:p>
          <a:p>
            <a:pPr lvl="2">
              <a:lnSpc>
                <a:spcPct val="120000"/>
              </a:lnSpc>
            </a:pPr>
            <a:r>
              <a:rPr lang="en-US" dirty="0" err="1">
                <a:latin typeface="Courier New" panose="02070309020205020404" pitchFamily="49" charset="0"/>
                <a:cs typeface="Courier New" panose="02070309020205020404" pitchFamily="49" charset="0"/>
              </a:rPr>
              <a:t>av-fw</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 Verify if there is both antivirus and firewall software</a:t>
            </a:r>
          </a:p>
          <a:p>
            <a:pPr lvl="2">
              <a:lnSpc>
                <a:spcPct val="120000"/>
              </a:lnSpc>
            </a:pPr>
            <a:r>
              <a:rPr lang="en-US" dirty="0">
                <a:latin typeface="Courier New" panose="02070309020205020404" pitchFamily="49" charset="0"/>
                <a:cs typeface="Courier New" panose="02070309020205020404" pitchFamily="49" charset="0"/>
              </a:rPr>
              <a:t>Custom</a:t>
            </a:r>
            <a:r>
              <a:rPr lang="en-US" dirty="0">
                <a:cs typeface="Courier New" panose="02070309020205020404" pitchFamily="49" charset="0"/>
              </a:rPr>
              <a:t> – Verify custom or proprietary software</a:t>
            </a:r>
          </a:p>
          <a:p>
            <a:pPr lvl="1">
              <a:lnSpc>
                <a:spcPct val="120000"/>
              </a:lnSpc>
            </a:pPr>
            <a:r>
              <a:rPr lang="en-US" dirty="0"/>
              <a:t>If the software is not </a:t>
            </a:r>
            <a:r>
              <a:rPr lang="en-US" dirty="0" smtClean="0"/>
              <a:t>installed, FortiGate </a:t>
            </a:r>
            <a:r>
              <a:rPr lang="en-US" dirty="0"/>
              <a:t>rejects SSL-VPN connection attempt</a:t>
            </a:r>
          </a:p>
        </p:txBody>
      </p:sp>
      <p:sp>
        <p:nvSpPr>
          <p:cNvPr id="8" name="Rounded Rectangular Callout 7"/>
          <p:cNvSpPr/>
          <p:nvPr/>
        </p:nvSpPr>
        <p:spPr bwMode="invGray">
          <a:xfrm>
            <a:off x="6214370" y="3434503"/>
            <a:ext cx="5852532" cy="2308886"/>
          </a:xfrm>
          <a:prstGeom prst="wedgeRoundRectCallout">
            <a:avLst>
              <a:gd name="adj1" fmla="val -61959"/>
              <a:gd name="adj2" fmla="val -20765"/>
              <a:gd name="adj3" fmla="val 16667"/>
            </a:avLst>
          </a:prstGeom>
          <a:solidFill>
            <a:srgbClr val="00B0F0"/>
          </a:solidFill>
          <a:ln w="38100">
            <a:solidFill>
              <a:srgbClr val="00B0F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p>
        </p:txBody>
      </p:sp>
      <p:sp>
        <p:nvSpPr>
          <p:cNvPr id="10" name="Content Placeholder 13"/>
          <p:cNvSpPr txBox="1">
            <a:spLocks/>
          </p:cNvSpPr>
          <p:nvPr/>
        </p:nvSpPr>
        <p:spPr>
          <a:xfrm>
            <a:off x="6335378" y="3610673"/>
            <a:ext cx="5608110" cy="1956548"/>
          </a:xfrm>
          <a:prstGeom prst="rect">
            <a:avLst/>
          </a:prstGeom>
          <a:solidFill>
            <a:schemeClr val="bg1"/>
          </a:solidFill>
        </p:spPr>
        <p:txBody>
          <a:bodyPr anchor="ctr" anchorCtr="0"/>
          <a:lstStyle>
            <a:lvl1pPr marL="234910" indent="-234910" algn="l" defTabSz="914240" rtl="0" eaLnBrk="1" latinLnBrk="0" hangingPunct="1">
              <a:lnSpc>
                <a:spcPct val="100000"/>
              </a:lnSpc>
              <a:spcBef>
                <a:spcPts val="900"/>
              </a:spcBef>
              <a:buClr>
                <a:schemeClr val="accent6"/>
              </a:buClr>
              <a:buFont typeface="Arial" panose="020B0604020202020204" pitchFamily="34" charset="0"/>
              <a:buChar char="•"/>
              <a:defRPr lang="en-US" sz="2200" kern="1200" dirty="0">
                <a:solidFill>
                  <a:schemeClr val="tx1"/>
                </a:solidFill>
                <a:latin typeface="+mn-lt"/>
                <a:ea typeface="+mn-ea"/>
                <a:cs typeface="+mn-cs"/>
              </a:defRPr>
            </a:lvl1pPr>
            <a:lvl2pPr marL="615843" indent="-256073" algn="l" defTabSz="914240" rtl="0" eaLnBrk="1" latinLnBrk="0" hangingPunct="1">
              <a:lnSpc>
                <a:spcPct val="100000"/>
              </a:lnSpc>
              <a:spcBef>
                <a:spcPts val="400"/>
              </a:spcBef>
              <a:buClr>
                <a:schemeClr val="accent6"/>
              </a:buClr>
              <a:buFont typeface="Courier New" panose="02070309020205020404" pitchFamily="49" charset="0"/>
              <a:buChar char="o"/>
              <a:defRPr lang="en-US" sz="1800" kern="1200" dirty="0">
                <a:solidFill>
                  <a:schemeClr val="tx1"/>
                </a:solidFill>
                <a:latin typeface="+mn-lt"/>
                <a:ea typeface="+mn-ea"/>
                <a:cs typeface="+mn-cs"/>
              </a:defRPr>
            </a:lvl2pPr>
            <a:lvl3pPr marL="984078" indent="-241258" algn="l" defTabSz="914240" rtl="0" eaLnBrk="1" latinLnBrk="0" hangingPunct="1">
              <a:lnSpc>
                <a:spcPct val="100000"/>
              </a:lnSpc>
              <a:spcBef>
                <a:spcPts val="400"/>
              </a:spcBef>
              <a:buClr>
                <a:schemeClr val="accent6"/>
              </a:buClr>
              <a:buFont typeface="Arial" panose="020B0604020202020204" pitchFamily="34" charset="0"/>
              <a:buChar char="•"/>
              <a:defRPr lang="en-US" sz="1600" kern="1200" dirty="0">
                <a:solidFill>
                  <a:schemeClr val="tx1"/>
                </a:solidFill>
                <a:latin typeface="+mn-lt"/>
                <a:ea typeface="+mn-ea"/>
                <a:cs typeface="+mn-cs"/>
              </a:defRPr>
            </a:lvl3pPr>
            <a:lvl4pPr marL="814388" marR="0" indent="0" algn="l" defTabSz="685800" rtl="0" eaLnBrk="1" fontAlgn="base" latinLnBrk="0" hangingPunct="1">
              <a:lnSpc>
                <a:spcPct val="110000"/>
              </a:lnSpc>
              <a:spcBef>
                <a:spcPct val="20000"/>
              </a:spcBef>
              <a:spcAft>
                <a:spcPct val="0"/>
              </a:spcAft>
              <a:buClr>
                <a:srgbClr val="D81E05"/>
              </a:buClr>
              <a:buSzTx/>
              <a:buFont typeface="Lucida Grande"/>
              <a:buNone/>
              <a:tabLst/>
              <a:defRPr lang="en-US" sz="1400" kern="1200" dirty="0">
                <a:solidFill>
                  <a:schemeClr val="tx1"/>
                </a:solidFill>
                <a:latin typeface="Courier New" panose="02070309020205020404" pitchFamily="49" charset="0"/>
                <a:ea typeface="+mn-ea"/>
                <a:cs typeface="Courier New" panose="02070309020205020404" pitchFamily="49" charset="0"/>
              </a:defRPr>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lang="en-US" sz="1200" i="1" kern="1200" dirty="0">
                <a:solidFill>
                  <a:schemeClr val="bg1">
                    <a:lumMod val="50000"/>
                  </a:schemeClr>
                </a:solidFill>
                <a:latin typeface="+mn-lt"/>
                <a:ea typeface="+mn-ea"/>
                <a:cs typeface="+mn-cs"/>
              </a:defRPr>
            </a:lvl5pPr>
            <a:lvl6pPr marL="251416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28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40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2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600" dirty="0">
                <a:latin typeface="Courier New" panose="02070309020205020404" pitchFamily="49" charset="0"/>
                <a:cs typeface="Courier New" panose="02070309020205020404" pitchFamily="49" charset="0"/>
              </a:rPr>
              <a:t>config </a:t>
            </a:r>
            <a:r>
              <a:rPr lang="en-US" sz="1600" dirty="0" err="1">
                <a:latin typeface="Courier New" panose="02070309020205020404" pitchFamily="49" charset="0"/>
                <a:cs typeface="Courier New" panose="02070309020205020404" pitchFamily="49" charset="0"/>
              </a:rPr>
              <a:t>vpn</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ssl</a:t>
            </a:r>
            <a:r>
              <a:rPr lang="en-US" sz="1600" dirty="0">
                <a:latin typeface="Courier New" panose="02070309020205020404" pitchFamily="49" charset="0"/>
                <a:cs typeface="Courier New" panose="02070309020205020404" pitchFamily="49" charset="0"/>
              </a:rPr>
              <a:t> web portal</a:t>
            </a:r>
          </a:p>
          <a:p>
            <a:pPr marL="0" indent="0">
              <a:buNone/>
            </a:pPr>
            <a:r>
              <a:rPr lang="en-US" sz="1600" dirty="0">
                <a:latin typeface="Courier New" panose="02070309020205020404" pitchFamily="49" charset="0"/>
                <a:cs typeface="Courier New" panose="02070309020205020404" pitchFamily="49" charset="0"/>
              </a:rPr>
              <a:t>  edit &lt;</a:t>
            </a:r>
            <a:r>
              <a:rPr lang="en-US" sz="1600" dirty="0" err="1">
                <a:latin typeface="Courier New" panose="02070309020205020404" pitchFamily="49" charset="0"/>
                <a:cs typeface="Courier New" panose="02070309020205020404" pitchFamily="49" charset="0"/>
              </a:rPr>
              <a:t>portal_name</a:t>
            </a:r>
            <a:r>
              <a:rPr lang="en-US" sz="1600" dirty="0">
                <a:latin typeface="Courier New" panose="02070309020205020404" pitchFamily="49" charset="0"/>
                <a:cs typeface="Courier New" panose="02070309020205020404" pitchFamily="49" charset="0"/>
              </a:rPr>
              <a:t>&gt;</a:t>
            </a:r>
          </a:p>
          <a:p>
            <a:pPr marL="0" indent="0">
              <a:buNone/>
            </a:pPr>
            <a:r>
              <a:rPr lang="en-US" sz="1600" dirty="0">
                <a:latin typeface="Courier New" panose="02070309020205020404" pitchFamily="49" charset="0"/>
                <a:cs typeface="Courier New" panose="02070309020205020404" pitchFamily="49" charset="0"/>
              </a:rPr>
              <a:t>    set host-check [</a:t>
            </a:r>
            <a:r>
              <a:rPr lang="en-US" sz="1600" dirty="0" err="1">
                <a:latin typeface="Courier New" panose="02070309020205020404" pitchFamily="49" charset="0"/>
                <a:cs typeface="Courier New" panose="02070309020205020404" pitchFamily="49" charset="0"/>
              </a:rPr>
              <a:t>none|av|fw|av-fw|custom</a:t>
            </a:r>
            <a:r>
              <a:rPr lang="en-US" sz="1600" dirty="0">
                <a:latin typeface="Courier New" panose="02070309020205020404" pitchFamily="49" charset="0"/>
                <a:cs typeface="Courier New" panose="02070309020205020404" pitchFamily="49" charset="0"/>
              </a:rPr>
              <a:t>]</a:t>
            </a:r>
          </a:p>
          <a:p>
            <a:pPr marL="0" indent="0">
              <a:buNone/>
            </a:pPr>
            <a:r>
              <a:rPr lang="en-US" sz="1600" dirty="0">
                <a:latin typeface="Courier New" panose="02070309020205020404" pitchFamily="49" charset="0"/>
                <a:cs typeface="Courier New" panose="02070309020205020404" pitchFamily="49" charset="0"/>
              </a:rPr>
              <a:t>    set host-check-interval &lt;seconds&gt;</a:t>
            </a:r>
          </a:p>
          <a:p>
            <a:pPr marL="0" indent="0">
              <a:buNone/>
            </a:pPr>
            <a:r>
              <a:rPr lang="en-US" sz="1600" dirty="0">
                <a:latin typeface="Courier New" panose="02070309020205020404" pitchFamily="49" charset="0"/>
                <a:cs typeface="Courier New" panose="02070309020205020404" pitchFamily="49" charset="0"/>
              </a:rPr>
              <a:t>end</a:t>
            </a:r>
          </a:p>
        </p:txBody>
      </p:sp>
      <p:sp>
        <p:nvSpPr>
          <p:cNvPr id="9" name="Rounded Rectangular Callout 8"/>
          <p:cNvSpPr/>
          <p:nvPr/>
        </p:nvSpPr>
        <p:spPr bwMode="invGray">
          <a:xfrm>
            <a:off x="6229526" y="802347"/>
            <a:ext cx="5566202" cy="1184823"/>
          </a:xfrm>
          <a:prstGeom prst="wedgeRoundRectCallout">
            <a:avLst>
              <a:gd name="adj1" fmla="val -63548"/>
              <a:gd name="adj2" fmla="val -19959"/>
              <a:gd name="adj3" fmla="val 16667"/>
            </a:avLst>
          </a:prstGeom>
          <a:solidFill>
            <a:srgbClr val="00B0F0"/>
          </a:solidFill>
          <a:ln w="38100">
            <a:solidFill>
              <a:srgbClr val="00B0F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a:p>
        </p:txBody>
      </p:sp>
      <p:sp>
        <p:nvSpPr>
          <p:cNvPr id="11" name="Content Placeholder 13"/>
          <p:cNvSpPr txBox="1">
            <a:spLocks/>
          </p:cNvSpPr>
          <p:nvPr/>
        </p:nvSpPr>
        <p:spPr>
          <a:xfrm>
            <a:off x="6341846" y="914674"/>
            <a:ext cx="5331977" cy="1004019"/>
          </a:xfrm>
          <a:prstGeom prst="rect">
            <a:avLst/>
          </a:prstGeom>
          <a:solidFill>
            <a:schemeClr val="bg1"/>
          </a:solidFill>
        </p:spPr>
        <p:txBody>
          <a:bodyPr anchor="ctr" anchorCtr="0"/>
          <a:lstStyle>
            <a:lvl1pPr marL="234910" indent="-234910" algn="l" defTabSz="914240" rtl="0" eaLnBrk="1" latinLnBrk="0" hangingPunct="1">
              <a:lnSpc>
                <a:spcPct val="100000"/>
              </a:lnSpc>
              <a:spcBef>
                <a:spcPts val="900"/>
              </a:spcBef>
              <a:buClr>
                <a:schemeClr val="accent6"/>
              </a:buClr>
              <a:buFont typeface="Arial" panose="020B0604020202020204" pitchFamily="34" charset="0"/>
              <a:buChar char="•"/>
              <a:defRPr lang="en-US" sz="2200" kern="1200" dirty="0">
                <a:solidFill>
                  <a:schemeClr val="tx1"/>
                </a:solidFill>
                <a:latin typeface="+mn-lt"/>
                <a:ea typeface="+mn-ea"/>
                <a:cs typeface="+mn-cs"/>
              </a:defRPr>
            </a:lvl1pPr>
            <a:lvl2pPr marL="615843" indent="-256073" algn="l" defTabSz="914240" rtl="0" eaLnBrk="1" latinLnBrk="0" hangingPunct="1">
              <a:lnSpc>
                <a:spcPct val="100000"/>
              </a:lnSpc>
              <a:spcBef>
                <a:spcPts val="400"/>
              </a:spcBef>
              <a:buClr>
                <a:schemeClr val="accent6"/>
              </a:buClr>
              <a:buFont typeface="Courier New" panose="02070309020205020404" pitchFamily="49" charset="0"/>
              <a:buChar char="o"/>
              <a:defRPr lang="en-US" sz="1800" kern="1200" dirty="0">
                <a:solidFill>
                  <a:schemeClr val="tx1"/>
                </a:solidFill>
                <a:latin typeface="+mn-lt"/>
                <a:ea typeface="+mn-ea"/>
                <a:cs typeface="+mn-cs"/>
              </a:defRPr>
            </a:lvl2pPr>
            <a:lvl3pPr marL="984078" indent="-241258" algn="l" defTabSz="914240" rtl="0" eaLnBrk="1" latinLnBrk="0" hangingPunct="1">
              <a:lnSpc>
                <a:spcPct val="100000"/>
              </a:lnSpc>
              <a:spcBef>
                <a:spcPts val="400"/>
              </a:spcBef>
              <a:buClr>
                <a:schemeClr val="accent6"/>
              </a:buClr>
              <a:buFont typeface="Arial" panose="020B0604020202020204" pitchFamily="34" charset="0"/>
              <a:buChar char="•"/>
              <a:defRPr lang="en-US" sz="1600" kern="1200" dirty="0">
                <a:solidFill>
                  <a:schemeClr val="tx1"/>
                </a:solidFill>
                <a:latin typeface="+mn-lt"/>
                <a:ea typeface="+mn-ea"/>
                <a:cs typeface="+mn-cs"/>
              </a:defRPr>
            </a:lvl3pPr>
            <a:lvl4pPr marL="814388" marR="0" indent="0" algn="l" defTabSz="685800" rtl="0" eaLnBrk="1" fontAlgn="base" latinLnBrk="0" hangingPunct="1">
              <a:lnSpc>
                <a:spcPct val="110000"/>
              </a:lnSpc>
              <a:spcBef>
                <a:spcPct val="20000"/>
              </a:spcBef>
              <a:spcAft>
                <a:spcPct val="0"/>
              </a:spcAft>
              <a:buClr>
                <a:srgbClr val="D81E05"/>
              </a:buClr>
              <a:buSzTx/>
              <a:buFont typeface="Lucida Grande"/>
              <a:buNone/>
              <a:tabLst/>
              <a:defRPr lang="en-US" sz="1400" kern="1200" dirty="0">
                <a:solidFill>
                  <a:schemeClr val="tx1"/>
                </a:solidFill>
                <a:latin typeface="Courier New" panose="02070309020205020404" pitchFamily="49" charset="0"/>
                <a:ea typeface="+mn-ea"/>
                <a:cs typeface="Courier New" panose="02070309020205020404" pitchFamily="49" charset="0"/>
              </a:defRPr>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lang="en-US" sz="1200" i="1" kern="1200" dirty="0">
                <a:solidFill>
                  <a:schemeClr val="bg1">
                    <a:lumMod val="50000"/>
                  </a:schemeClr>
                </a:solidFill>
                <a:latin typeface="+mn-lt"/>
                <a:ea typeface="+mn-ea"/>
                <a:cs typeface="+mn-cs"/>
              </a:defRPr>
            </a:lvl5pPr>
            <a:lvl6pPr marL="251416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28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40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2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1600" dirty="0">
                <a:latin typeface="Courier New" panose="02070309020205020404" pitchFamily="49" charset="0"/>
                <a:cs typeface="Courier New" panose="02070309020205020404" pitchFamily="49" charset="0"/>
              </a:rPr>
              <a:t>config </a:t>
            </a:r>
            <a:r>
              <a:rPr lang="en-US" sz="1600" dirty="0" err="1">
                <a:latin typeface="Courier New" panose="02070309020205020404" pitchFamily="49" charset="0"/>
                <a:cs typeface="Courier New" panose="02070309020205020404" pitchFamily="49" charset="0"/>
              </a:rPr>
              <a:t>vpn</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ssl</a:t>
            </a:r>
            <a:r>
              <a:rPr lang="en-US" sz="1600" dirty="0">
                <a:latin typeface="Courier New" panose="02070309020205020404" pitchFamily="49" charset="0"/>
                <a:cs typeface="Courier New" panose="02070309020205020404" pitchFamily="49" charset="0"/>
              </a:rPr>
              <a:t> web host-check-software</a:t>
            </a:r>
          </a:p>
          <a:p>
            <a:pPr marL="0" indent="0">
              <a:buNone/>
            </a:pPr>
            <a:r>
              <a:rPr lang="en-US" sz="1600" dirty="0">
                <a:latin typeface="Courier New" panose="02070309020205020404" pitchFamily="49" charset="0"/>
                <a:cs typeface="Courier New" panose="02070309020205020404" pitchFamily="49" charset="0"/>
              </a:rPr>
              <a:t>  show</a:t>
            </a:r>
          </a:p>
        </p:txBody>
      </p:sp>
      <p:sp>
        <p:nvSpPr>
          <p:cNvPr id="19" name="TextBox 18"/>
          <p:cNvSpPr txBox="1"/>
          <p:nvPr/>
        </p:nvSpPr>
        <p:spPr>
          <a:xfrm>
            <a:off x="6752177" y="5773278"/>
            <a:ext cx="4791613" cy="578882"/>
          </a:xfrm>
          <a:prstGeom prst="flowChartAlternateProcess">
            <a:avLst/>
          </a:prstGeom>
          <a:solidFill>
            <a:srgbClr val="00B0F0"/>
          </a:solidFill>
          <a:ln>
            <a:solidFill>
              <a:srgbClr val="00B0F0"/>
            </a:solidFill>
          </a:ln>
        </p:spPr>
        <p:txBody>
          <a:bodyPr wrap="square" rtlCol="0">
            <a:spAutoFit/>
          </a:bodyPr>
          <a:lstStyle/>
          <a:p>
            <a:pPr algn="ctr"/>
            <a:r>
              <a:rPr lang="en-US" sz="1400" dirty="0"/>
              <a:t>Administrators should have in-depth knowledge of the Windows OS to use and maintain this feature</a:t>
            </a:r>
          </a:p>
        </p:txBody>
      </p:sp>
      <p:sp>
        <p:nvSpPr>
          <p:cNvPr id="12" name="Rectangle 11"/>
          <p:cNvSpPr/>
          <p:nvPr/>
        </p:nvSpPr>
        <p:spPr bwMode="invGray">
          <a:xfrm>
            <a:off x="8668724" y="1097600"/>
            <a:ext cx="2571151" cy="317468"/>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6" name="Rectangle 15"/>
          <p:cNvSpPr/>
          <p:nvPr/>
        </p:nvSpPr>
        <p:spPr bwMode="invGray">
          <a:xfrm>
            <a:off x="7222034" y="4065416"/>
            <a:ext cx="1756131" cy="317468"/>
          </a:xfrm>
          <a:prstGeom prst="rect">
            <a:avLst/>
          </a:prstGeom>
          <a:noFill/>
          <a:ln w="38100">
            <a:solidFill>
              <a:srgbClr val="DC291E"/>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7" name="Rectangle 16"/>
          <p:cNvSpPr/>
          <p:nvPr/>
        </p:nvSpPr>
        <p:spPr bwMode="invGray">
          <a:xfrm>
            <a:off x="8728953" y="4420342"/>
            <a:ext cx="3111093" cy="317468"/>
          </a:xfrm>
          <a:prstGeom prst="rect">
            <a:avLst/>
          </a:prstGeom>
          <a:noFill/>
          <a:ln w="38100">
            <a:solidFill>
              <a:srgbClr val="DC291E"/>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18" name="Rectangle 17"/>
          <p:cNvSpPr/>
          <p:nvPr/>
        </p:nvSpPr>
        <p:spPr bwMode="invGray">
          <a:xfrm>
            <a:off x="9796427" y="4775270"/>
            <a:ext cx="1306344" cy="317468"/>
          </a:xfrm>
          <a:prstGeom prst="rect">
            <a:avLst/>
          </a:prstGeom>
          <a:noFill/>
          <a:ln w="38100">
            <a:solidFill>
              <a:srgbClr val="DC291E"/>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pic>
        <p:nvPicPr>
          <p:cNvPr id="21" name="Picture 20"/>
          <p:cNvPicPr>
            <a:picLocks noChangeAspect="1"/>
          </p:cNvPicPr>
          <p:nvPr/>
        </p:nvPicPr>
        <p:blipFill>
          <a:blip r:embed="rId4"/>
          <a:stretch>
            <a:fillRect/>
          </a:stretch>
        </p:blipFill>
        <p:spPr>
          <a:xfrm>
            <a:off x="6341845" y="2421276"/>
            <a:ext cx="5331977" cy="972024"/>
          </a:xfrm>
          <a:prstGeom prst="rect">
            <a:avLst/>
          </a:prstGeom>
        </p:spPr>
      </p:pic>
      <p:sp>
        <p:nvSpPr>
          <p:cNvPr id="4" name="Rectangle 3"/>
          <p:cNvSpPr/>
          <p:nvPr/>
        </p:nvSpPr>
        <p:spPr>
          <a:xfrm>
            <a:off x="6326839" y="2136454"/>
            <a:ext cx="3627460" cy="244663"/>
          </a:xfrm>
          <a:prstGeom prst="rect">
            <a:avLst/>
          </a:prstGeom>
          <a:solidFill>
            <a:srgbClr val="00B0F0"/>
          </a:solidFill>
          <a:ln w="158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US" sz="1400" b="1" dirty="0" smtClean="0">
                <a:solidFill>
                  <a:schemeClr val="tx1"/>
                </a:solidFill>
              </a:rPr>
              <a:t>VPN</a:t>
            </a:r>
            <a:r>
              <a:rPr lang="en-US" sz="1400" dirty="0" smtClean="0">
                <a:solidFill>
                  <a:schemeClr val="tx1"/>
                </a:solidFill>
              </a:rPr>
              <a:t> &gt; </a:t>
            </a:r>
            <a:r>
              <a:rPr lang="en-US" sz="1400" b="1" dirty="0" smtClean="0">
                <a:solidFill>
                  <a:schemeClr val="tx1"/>
                </a:solidFill>
              </a:rPr>
              <a:t>SSL-VPN Portals </a:t>
            </a:r>
            <a:r>
              <a:rPr lang="en-US" sz="1400" dirty="0" smtClean="0">
                <a:solidFill>
                  <a:schemeClr val="tx1"/>
                </a:solidFill>
              </a:rPr>
              <a:t>&gt; </a:t>
            </a:r>
            <a:r>
              <a:rPr lang="en-US" sz="1400" b="1" dirty="0" smtClean="0">
                <a:solidFill>
                  <a:schemeClr val="tx1"/>
                </a:solidFill>
              </a:rPr>
              <a:t>portal-name</a:t>
            </a:r>
            <a:endParaRPr lang="en-US" sz="1400" dirty="0" smtClean="0">
              <a:solidFill>
                <a:schemeClr val="tx1"/>
              </a:solidFill>
            </a:endParaRPr>
          </a:p>
        </p:txBody>
      </p:sp>
    </p:spTree>
    <p:custDataLst>
      <p:tags r:id="rId1"/>
    </p:custDataLst>
    <p:extLst>
      <p:ext uri="{BB962C8B-B14F-4D97-AF65-F5344CB8AC3E}">
        <p14:creationId xmlns:p14="http://schemas.microsoft.com/office/powerpoint/2010/main" val="13625691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25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P spid="1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US" dirty="0"/>
              <a:t>Which </a:t>
            </a:r>
            <a:r>
              <a:rPr lang="en-US" dirty="0" smtClean="0"/>
              <a:t>step </a:t>
            </a:r>
            <a:r>
              <a:rPr lang="en-US" dirty="0"/>
              <a:t>is necessary to configure </a:t>
            </a:r>
            <a:r>
              <a:rPr lang="en-US" dirty="0" smtClean="0"/>
              <a:t>SSL VPN </a:t>
            </a:r>
            <a:r>
              <a:rPr lang="en-US" dirty="0"/>
              <a:t>connections? </a:t>
            </a:r>
          </a:p>
          <a:p>
            <a:pPr marL="702670" lvl="1" indent="-342900">
              <a:buFont typeface="+mj-lt"/>
              <a:buAutoNum type="alphaUcPeriod"/>
            </a:pPr>
            <a:r>
              <a:rPr lang="en-US" dirty="0" smtClean="0"/>
              <a:t>Create a </a:t>
            </a:r>
            <a:r>
              <a:rPr lang="en-US" dirty="0"/>
              <a:t>firewall </a:t>
            </a:r>
            <a:r>
              <a:rPr lang="en-US" dirty="0" smtClean="0"/>
              <a:t>policy from the SSL VPN interface to the resource’s interface.</a:t>
            </a:r>
            <a:endParaRPr lang="en-US" dirty="0"/>
          </a:p>
          <a:p>
            <a:pPr marL="702670" lvl="1" indent="-342900">
              <a:buFont typeface="+mj-lt"/>
              <a:buAutoNum type="alphaUcPeriod"/>
            </a:pPr>
            <a:r>
              <a:rPr lang="en-US" dirty="0"/>
              <a:t>Enable event logs for </a:t>
            </a:r>
            <a:r>
              <a:rPr lang="en-US" dirty="0" smtClean="0"/>
              <a:t>SSL VPN </a:t>
            </a:r>
            <a:r>
              <a:rPr lang="en-US" dirty="0"/>
              <a:t>traffic: users, VPN, and </a:t>
            </a:r>
            <a:r>
              <a:rPr lang="en-US" dirty="0" smtClean="0"/>
              <a:t>endpoints.</a:t>
            </a:r>
            <a:endParaRPr lang="en-US" dirty="0"/>
          </a:p>
          <a:p>
            <a:endParaRPr lang="en-CA" dirty="0"/>
          </a:p>
          <a:p>
            <a:pPr marL="457200" indent="-457200">
              <a:buFont typeface="+mj-lt"/>
              <a:buAutoNum type="arabicPeriod" startAt="2"/>
            </a:pPr>
            <a:r>
              <a:rPr lang="en-CA" dirty="0" smtClean="0"/>
              <a:t>Which </a:t>
            </a:r>
            <a:r>
              <a:rPr lang="en-CA" dirty="0"/>
              <a:t>action may allow </a:t>
            </a:r>
            <a:r>
              <a:rPr lang="en-CA" dirty="0" smtClean="0"/>
              <a:t>internet </a:t>
            </a:r>
            <a:r>
              <a:rPr lang="en-CA" dirty="0"/>
              <a:t>access </a:t>
            </a:r>
            <a:r>
              <a:rPr lang="en-CA" dirty="0" smtClean="0"/>
              <a:t>in </a:t>
            </a:r>
            <a:r>
              <a:rPr lang="en-CA" dirty="0"/>
              <a:t>tunnel </a:t>
            </a:r>
            <a:r>
              <a:rPr lang="en-CA" dirty="0" smtClean="0"/>
              <a:t>mode, </a:t>
            </a:r>
            <a:r>
              <a:rPr lang="en-CA" dirty="0"/>
              <a:t>if the remote network does not </a:t>
            </a:r>
            <a:r>
              <a:rPr lang="en-CA" dirty="0" smtClean="0"/>
              <a:t>allow internet access to SSL VPN users? </a:t>
            </a:r>
            <a:endParaRPr lang="en-US" dirty="0"/>
          </a:p>
          <a:p>
            <a:pPr marL="702670" lvl="1" indent="-342900">
              <a:buFont typeface="+mj-lt"/>
              <a:buAutoNum type="alphaUcPeriod"/>
            </a:pPr>
            <a:r>
              <a:rPr lang="en-US" dirty="0"/>
              <a:t>Enable split tunneling</a:t>
            </a:r>
          </a:p>
          <a:p>
            <a:pPr marL="702670" lvl="1" indent="-342900">
              <a:buFont typeface="+mj-lt"/>
              <a:buAutoNum type="alphaUcPeriod"/>
            </a:pPr>
            <a:r>
              <a:rPr lang="en-US" dirty="0"/>
              <a:t>Configure the DNS server to use the </a:t>
            </a:r>
            <a:r>
              <a:rPr lang="en-US" dirty="0" smtClean="0"/>
              <a:t>same DNS server </a:t>
            </a:r>
            <a:r>
              <a:rPr lang="en-US" dirty="0"/>
              <a:t>as the </a:t>
            </a:r>
            <a:r>
              <a:rPr lang="en-US" dirty="0" smtClean="0"/>
              <a:t>client </a:t>
            </a:r>
            <a:r>
              <a:rPr lang="en-US" dirty="0"/>
              <a:t>system DNS</a:t>
            </a:r>
          </a:p>
          <a:p>
            <a:pPr lvl="1"/>
            <a:endParaRPr lang="en-US" dirty="0"/>
          </a:p>
          <a:p>
            <a:pPr lvl="1"/>
            <a:endParaRPr lang="en-US" dirty="0"/>
          </a:p>
          <a:p>
            <a:endParaRPr lang="en-US" dirty="0"/>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853" y="1362731"/>
            <a:ext cx="301962" cy="322787"/>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157" y="3129610"/>
            <a:ext cx="301962" cy="322787"/>
          </a:xfrm>
          <a:prstGeom prst="rect">
            <a:avLst/>
          </a:prstGeom>
        </p:spPr>
      </p:pic>
    </p:spTree>
    <p:custDataLst>
      <p:tags r:id="rId1"/>
    </p:custDataLst>
    <p:extLst>
      <p:ext uri="{BB962C8B-B14F-4D97-AF65-F5344CB8AC3E}">
        <p14:creationId xmlns:p14="http://schemas.microsoft.com/office/powerpoint/2010/main" val="210409067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down)">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2"/>
          <p:cNvGraphicFramePr>
            <a:graphicFrameLocks noGrp="1"/>
          </p:cNvGraphicFramePr>
          <p:nvPr>
            <p:ph type="dgm" sz="quarter" idx="10"/>
            <p:extLst>
              <p:ext uri="{D42A27DB-BD31-4B8C-83A1-F6EECF244321}">
                <p14:modId xmlns:p14="http://schemas.microsoft.com/office/powerpoint/2010/main" val="3987411008"/>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1069" y="1887654"/>
            <a:ext cx="742965" cy="794203"/>
          </a:xfrm>
          <a:prstGeom prst="rect">
            <a:avLst/>
          </a:prstGeom>
        </p:spPr>
      </p:pic>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08007" y="3330088"/>
            <a:ext cx="692054" cy="739781"/>
          </a:xfrm>
          <a:prstGeom prst="rect">
            <a:avLst/>
          </a:prstGeom>
        </p:spPr>
      </p:pic>
    </p:spTree>
    <p:custDataLst>
      <p:tags r:id="rId1"/>
    </p:custDataLst>
    <p:extLst>
      <p:ext uri="{BB962C8B-B14F-4D97-AF65-F5344CB8AC3E}">
        <p14:creationId xmlns:p14="http://schemas.microsoft.com/office/powerpoint/2010/main" val="2445284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Monitoring and Troubleshooting</a:t>
            </a:r>
          </a:p>
        </p:txBody>
      </p:sp>
      <p:sp>
        <p:nvSpPr>
          <p:cNvPr id="5" name="Text Placeholder 4"/>
          <p:cNvSpPr>
            <a:spLocks noGrp="1"/>
          </p:cNvSpPr>
          <p:nvPr>
            <p:ph type="body" sz="quarter" idx="11"/>
          </p:nvPr>
        </p:nvSpPr>
        <p:spPr/>
        <p:txBody>
          <a:bodyPr/>
          <a:lstStyle/>
          <a:p>
            <a:r>
              <a:rPr lang="en-US" dirty="0"/>
              <a:t>Monitor </a:t>
            </a:r>
            <a:r>
              <a:rPr lang="en-US" dirty="0" smtClean="0"/>
              <a:t>SSL VPN-connected </a:t>
            </a:r>
            <a:r>
              <a:rPr lang="en-US" dirty="0"/>
              <a:t>users</a:t>
            </a:r>
          </a:p>
          <a:p>
            <a:r>
              <a:rPr lang="en-US" dirty="0"/>
              <a:t>Review </a:t>
            </a:r>
            <a:r>
              <a:rPr lang="en-US" dirty="0" smtClean="0"/>
              <a:t>SSL VPN </a:t>
            </a:r>
            <a:r>
              <a:rPr lang="en-US" dirty="0"/>
              <a:t>logs</a:t>
            </a:r>
          </a:p>
          <a:p>
            <a:r>
              <a:rPr lang="en-US" dirty="0"/>
              <a:t>Configure </a:t>
            </a:r>
            <a:r>
              <a:rPr lang="en-US" dirty="0" smtClean="0"/>
              <a:t>SSL VPN </a:t>
            </a:r>
            <a:r>
              <a:rPr lang="en-US" dirty="0"/>
              <a:t>timers</a:t>
            </a:r>
          </a:p>
          <a:p>
            <a:r>
              <a:rPr lang="en-US" dirty="0"/>
              <a:t>Troubleshoot common </a:t>
            </a:r>
            <a:r>
              <a:rPr lang="en-US" dirty="0" smtClean="0"/>
              <a:t>SSL VPN </a:t>
            </a:r>
            <a:r>
              <a:rPr lang="en-US" dirty="0"/>
              <a:t>issues</a:t>
            </a:r>
          </a:p>
          <a:p>
            <a:r>
              <a:rPr lang="en-US" dirty="0"/>
              <a:t>Identify hardware acceleration components for </a:t>
            </a:r>
            <a:r>
              <a:rPr lang="en-US" dirty="0" smtClean="0"/>
              <a:t>SSL VPN</a:t>
            </a:r>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998890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Monitoring </a:t>
            </a:r>
            <a:r>
              <a:rPr lang="en-US" dirty="0" smtClean="0"/>
              <a:t>SSL VPN </a:t>
            </a:r>
            <a:r>
              <a:rPr lang="en-US" dirty="0"/>
              <a:t>Sessions</a:t>
            </a:r>
          </a:p>
        </p:txBody>
      </p:sp>
      <p:sp>
        <p:nvSpPr>
          <p:cNvPr id="5" name="Content Placeholder 4"/>
          <p:cNvSpPr>
            <a:spLocks noGrp="1"/>
          </p:cNvSpPr>
          <p:nvPr>
            <p:ph idx="1"/>
          </p:nvPr>
        </p:nvSpPr>
        <p:spPr/>
        <p:txBody>
          <a:bodyPr/>
          <a:lstStyle/>
          <a:p>
            <a:r>
              <a:rPr lang="en-US" dirty="0"/>
              <a:t>Monitor which </a:t>
            </a:r>
            <a:r>
              <a:rPr lang="en-US" dirty="0" smtClean="0"/>
              <a:t>SSL VPN </a:t>
            </a:r>
            <a:r>
              <a:rPr lang="en-US" dirty="0"/>
              <a:t>users are connected</a:t>
            </a:r>
          </a:p>
          <a:p>
            <a:pPr lvl="1"/>
            <a:r>
              <a:rPr lang="en-US" dirty="0"/>
              <a:t>GUI: </a:t>
            </a:r>
            <a:r>
              <a:rPr lang="en-CA" b="1" dirty="0"/>
              <a:t>Dashboard </a:t>
            </a:r>
            <a:r>
              <a:rPr lang="en-CA" dirty="0"/>
              <a:t>&gt;</a:t>
            </a:r>
            <a:r>
              <a:rPr lang="en-CA" b="1" dirty="0"/>
              <a:t> Network </a:t>
            </a:r>
            <a:r>
              <a:rPr lang="en-CA" dirty="0"/>
              <a:t>&gt; </a:t>
            </a:r>
            <a:r>
              <a:rPr lang="en-CA" b="1" dirty="0"/>
              <a:t>SSL </a:t>
            </a:r>
            <a:r>
              <a:rPr lang="en-CA" b="1" dirty="0" smtClean="0"/>
              <a:t>VPN</a:t>
            </a:r>
            <a:endParaRPr lang="en-US" b="1" dirty="0"/>
          </a:p>
          <a:p>
            <a:r>
              <a:rPr lang="en-US" dirty="0"/>
              <a:t>Shows </a:t>
            </a:r>
            <a:r>
              <a:rPr lang="en-US" dirty="0" smtClean="0"/>
              <a:t>SSL VPN </a:t>
            </a:r>
            <a:r>
              <a:rPr lang="en-US" dirty="0"/>
              <a:t>user names, connection times, and IP addresses</a:t>
            </a:r>
          </a:p>
          <a:p>
            <a:pPr lvl="1"/>
            <a:r>
              <a:rPr lang="en-US" dirty="0"/>
              <a:t>For tunnel mode, </a:t>
            </a:r>
            <a:r>
              <a:rPr lang="en-US" b="1" dirty="0"/>
              <a:t>Active Connections </a:t>
            </a:r>
            <a:r>
              <a:rPr lang="en-US" dirty="0"/>
              <a:t>displays IP address assigned to </a:t>
            </a:r>
            <a:r>
              <a:rPr lang="en-US" dirty="0" err="1">
                <a:latin typeface="Courier New" panose="02070309020205020404" pitchFamily="49" charset="0"/>
                <a:cs typeface="Courier New" panose="02070309020205020404" pitchFamily="49" charset="0"/>
              </a:rPr>
              <a:t>fortissl</a:t>
            </a:r>
            <a:r>
              <a:rPr lang="en-US" dirty="0"/>
              <a:t> virtual adapter</a:t>
            </a:r>
          </a:p>
          <a:p>
            <a:r>
              <a:rPr lang="en-US" dirty="0"/>
              <a:t>Force end user disconnection</a:t>
            </a:r>
          </a:p>
          <a:p>
            <a:pPr lvl="1"/>
            <a:r>
              <a:rPr lang="en-US" dirty="0"/>
              <a:t>Right-click the user name and select </a:t>
            </a:r>
            <a:r>
              <a:rPr lang="en-US" b="1" dirty="0"/>
              <a:t>End Session</a:t>
            </a:r>
            <a:endParaRPr lang="en-CA" dirty="0"/>
          </a:p>
          <a:p>
            <a:endParaRPr lang="en-US" dirty="0"/>
          </a:p>
        </p:txBody>
      </p:sp>
      <p:sp>
        <p:nvSpPr>
          <p:cNvPr id="9" name="Rectangle 8"/>
          <p:cNvSpPr/>
          <p:nvPr/>
        </p:nvSpPr>
        <p:spPr bwMode="invGray">
          <a:xfrm>
            <a:off x="2093957" y="3117292"/>
            <a:ext cx="3808810" cy="366205"/>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b="1" dirty="0" smtClean="0"/>
              <a:t>Dashboard </a:t>
            </a:r>
            <a:r>
              <a:rPr lang="en-CA" dirty="0"/>
              <a:t>&gt;</a:t>
            </a:r>
            <a:r>
              <a:rPr lang="en-CA" b="1" dirty="0"/>
              <a:t> </a:t>
            </a:r>
            <a:r>
              <a:rPr lang="en-CA" b="1" dirty="0" smtClean="0"/>
              <a:t>Network </a:t>
            </a:r>
            <a:r>
              <a:rPr lang="en-CA" dirty="0" smtClean="0"/>
              <a:t>&gt; </a:t>
            </a:r>
            <a:r>
              <a:rPr lang="en-CA" b="1" dirty="0" smtClean="0"/>
              <a:t>SSL VPN</a:t>
            </a:r>
            <a:endParaRPr lang="en-CA" b="1" dirty="0"/>
          </a:p>
        </p:txBody>
      </p:sp>
      <p:pic>
        <p:nvPicPr>
          <p:cNvPr id="2" name="Picture 1"/>
          <p:cNvPicPr>
            <a:picLocks noChangeAspect="1"/>
          </p:cNvPicPr>
          <p:nvPr/>
        </p:nvPicPr>
        <p:blipFill>
          <a:blip r:embed="rId4"/>
          <a:stretch>
            <a:fillRect/>
          </a:stretch>
        </p:blipFill>
        <p:spPr>
          <a:xfrm>
            <a:off x="2093958" y="3587523"/>
            <a:ext cx="6364242" cy="2858263"/>
          </a:xfrm>
          <a:prstGeom prst="rect">
            <a:avLst/>
          </a:prstGeom>
          <a:ln>
            <a:solidFill>
              <a:schemeClr val="tx1"/>
            </a:solidFill>
          </a:ln>
        </p:spPr>
      </p:pic>
      <p:sp>
        <p:nvSpPr>
          <p:cNvPr id="10" name="Rounded Rectangular Callout 9"/>
          <p:cNvSpPr/>
          <p:nvPr/>
        </p:nvSpPr>
        <p:spPr bwMode="invGray">
          <a:xfrm>
            <a:off x="7701023" y="4121195"/>
            <a:ext cx="4090787" cy="668802"/>
          </a:xfrm>
          <a:prstGeom prst="wedgeRoundRectCallout">
            <a:avLst>
              <a:gd name="adj1" fmla="val -54793"/>
              <a:gd name="adj2" fmla="val 151471"/>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US" sz="1600" dirty="0">
                <a:cs typeface="Arial" charset="0"/>
              </a:rPr>
              <a:t>Tunnel mode user: shows </a:t>
            </a:r>
            <a:r>
              <a:rPr lang="en-US" sz="1600" dirty="0" smtClean="0">
                <a:cs typeface="Arial" charset="0"/>
              </a:rPr>
              <a:t>SSL VPN </a:t>
            </a:r>
            <a:r>
              <a:rPr lang="en-US" sz="1600" dirty="0">
                <a:cs typeface="Arial" charset="0"/>
              </a:rPr>
              <a:t>IP address assigned during the session</a:t>
            </a:r>
          </a:p>
        </p:txBody>
      </p:sp>
      <p:sp>
        <p:nvSpPr>
          <p:cNvPr id="15" name="Rounded Rectangular Callout 14"/>
          <p:cNvSpPr/>
          <p:nvPr/>
        </p:nvSpPr>
        <p:spPr bwMode="invGray">
          <a:xfrm>
            <a:off x="7701023" y="6088406"/>
            <a:ext cx="1577175" cy="415274"/>
          </a:xfrm>
          <a:prstGeom prst="wedgeRoundRectCallout">
            <a:avLst>
              <a:gd name="adj1" fmla="val -57650"/>
              <a:gd name="adj2" fmla="val -120100"/>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US" sz="1600" dirty="0">
                <a:cs typeface="Arial" charset="0"/>
              </a:rPr>
              <a:t>web user</a:t>
            </a:r>
          </a:p>
        </p:txBody>
      </p:sp>
      <p:sp>
        <p:nvSpPr>
          <p:cNvPr id="4" name="Rounded Rectangular Callout 3"/>
          <p:cNvSpPr/>
          <p:nvPr/>
        </p:nvSpPr>
        <p:spPr>
          <a:xfrm>
            <a:off x="927100" y="5879786"/>
            <a:ext cx="1166857" cy="580474"/>
          </a:xfrm>
          <a:prstGeom prst="wedgeRoundRectCallout">
            <a:avLst>
              <a:gd name="adj1" fmla="val 61444"/>
              <a:gd name="adj2" fmla="val -195711"/>
              <a:gd name="adj3" fmla="val 16667"/>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6" name="Rounded Rectangular Callout 15"/>
          <p:cNvSpPr/>
          <p:nvPr/>
        </p:nvSpPr>
        <p:spPr bwMode="invGray">
          <a:xfrm>
            <a:off x="821926" y="5805931"/>
            <a:ext cx="2794062" cy="668802"/>
          </a:xfrm>
          <a:prstGeom prst="wedgeRoundRectCallout">
            <a:avLst>
              <a:gd name="adj1" fmla="val 89180"/>
              <a:gd name="adj2" fmla="val -32515"/>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US" sz="1600" dirty="0" smtClean="0">
                <a:cs typeface="Arial" charset="0"/>
              </a:rPr>
              <a:t>Select or Right-click </a:t>
            </a:r>
            <a:r>
              <a:rPr lang="en-US" sz="1600" dirty="0">
                <a:cs typeface="Arial" charset="0"/>
              </a:rPr>
              <a:t>to terminate an active </a:t>
            </a:r>
            <a:r>
              <a:rPr lang="en-US" sz="1600" dirty="0" smtClean="0">
                <a:cs typeface="Arial" charset="0"/>
              </a:rPr>
              <a:t>SSL VPN </a:t>
            </a:r>
            <a:r>
              <a:rPr lang="en-US" sz="1600" dirty="0">
                <a:cs typeface="Arial" charset="0"/>
              </a:rPr>
              <a:t>session</a:t>
            </a:r>
          </a:p>
        </p:txBody>
      </p:sp>
    </p:spTree>
    <p:custDataLst>
      <p:tags r:id="rId1"/>
    </p:custDataLst>
    <p:extLst>
      <p:ext uri="{BB962C8B-B14F-4D97-AF65-F5344CB8AC3E}">
        <p14:creationId xmlns:p14="http://schemas.microsoft.com/office/powerpoint/2010/main" val="844666875"/>
      </p:ext>
    </p:extLst>
  </p:cSld>
  <p:clrMapOvr>
    <a:masterClrMapping/>
  </p:clrMapOvr>
  <p:transition spd="slow">
    <p:wip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6400" y="221349"/>
            <a:ext cx="10835325" cy="748800"/>
          </a:xfrm>
        </p:spPr>
        <p:txBody>
          <a:bodyPr/>
          <a:lstStyle/>
          <a:p>
            <a:r>
              <a:rPr lang="en-US" dirty="0" smtClean="0"/>
              <a:t>SSL VPN </a:t>
            </a:r>
            <a:r>
              <a:rPr lang="en-US" dirty="0"/>
              <a:t>Logs</a:t>
            </a:r>
          </a:p>
        </p:txBody>
      </p:sp>
      <p:sp>
        <p:nvSpPr>
          <p:cNvPr id="20" name="Content Placeholder 19"/>
          <p:cNvSpPr>
            <a:spLocks noGrp="1"/>
          </p:cNvSpPr>
          <p:nvPr>
            <p:ph idx="1"/>
          </p:nvPr>
        </p:nvSpPr>
        <p:spPr>
          <a:xfrm>
            <a:off x="3648391" y="4639732"/>
            <a:ext cx="8164513" cy="1674667"/>
          </a:xfrm>
        </p:spPr>
        <p:txBody>
          <a:bodyPr/>
          <a:lstStyle/>
          <a:p>
            <a:r>
              <a:rPr lang="en-US" dirty="0"/>
              <a:t>Review if the </a:t>
            </a:r>
            <a:r>
              <a:rPr lang="en-US" dirty="0" smtClean="0"/>
              <a:t>SSL VPN </a:t>
            </a:r>
            <a:r>
              <a:rPr lang="en-US" dirty="0"/>
              <a:t>tunnel is established or closed </a:t>
            </a:r>
          </a:p>
          <a:p>
            <a:r>
              <a:rPr lang="en-US" dirty="0"/>
              <a:t>Review the authentication action related to </a:t>
            </a:r>
            <a:r>
              <a:rPr lang="en-US" dirty="0" smtClean="0"/>
              <a:t>SSL VPN </a:t>
            </a:r>
            <a:r>
              <a:rPr lang="en-US" dirty="0"/>
              <a:t>users</a:t>
            </a:r>
          </a:p>
          <a:p>
            <a:r>
              <a:rPr lang="en-US" dirty="0"/>
              <a:t>Review </a:t>
            </a:r>
            <a:r>
              <a:rPr lang="en-US" dirty="0" smtClean="0"/>
              <a:t>SSL VPN </a:t>
            </a:r>
            <a:r>
              <a:rPr lang="en-US" dirty="0"/>
              <a:t>connections in tunnel mode with </a:t>
            </a:r>
            <a:r>
              <a:rPr lang="en-US" dirty="0" err="1"/>
              <a:t>FortiClient</a:t>
            </a:r>
            <a:endParaRPr lang="en-US" dirty="0"/>
          </a:p>
          <a:p>
            <a:endParaRPr lang="en-US" dirty="0"/>
          </a:p>
        </p:txBody>
      </p:sp>
      <p:sp>
        <p:nvSpPr>
          <p:cNvPr id="5" name="Right Arrow 4"/>
          <p:cNvSpPr/>
          <p:nvPr/>
        </p:nvSpPr>
        <p:spPr>
          <a:xfrm>
            <a:off x="2952208" y="2794233"/>
            <a:ext cx="989806" cy="164081"/>
          </a:xfrm>
          <a:prstGeom prst="rightArrow">
            <a:avLst/>
          </a:prstGeom>
          <a:solidFill>
            <a:srgbClr val="FF0000"/>
          </a:solidFill>
          <a:ln w="158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pic>
        <p:nvPicPr>
          <p:cNvPr id="7" name="Picture 6"/>
          <p:cNvPicPr>
            <a:picLocks noChangeAspect="1"/>
          </p:cNvPicPr>
          <p:nvPr/>
        </p:nvPicPr>
        <p:blipFill>
          <a:blip r:embed="rId4"/>
          <a:stretch>
            <a:fillRect/>
          </a:stretch>
        </p:blipFill>
        <p:spPr>
          <a:xfrm>
            <a:off x="266400" y="1244031"/>
            <a:ext cx="2502404" cy="2894572"/>
          </a:xfrm>
          <a:prstGeom prst="rect">
            <a:avLst/>
          </a:prstGeom>
        </p:spPr>
      </p:pic>
      <p:sp>
        <p:nvSpPr>
          <p:cNvPr id="14" name="Rectangle 13"/>
          <p:cNvSpPr/>
          <p:nvPr/>
        </p:nvSpPr>
        <p:spPr bwMode="invGray">
          <a:xfrm>
            <a:off x="290659" y="2794233"/>
            <a:ext cx="1643134" cy="328162"/>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9" name="Picture 8"/>
          <p:cNvPicPr>
            <a:picLocks noChangeAspect="1"/>
          </p:cNvPicPr>
          <p:nvPr/>
        </p:nvPicPr>
        <p:blipFill>
          <a:blip r:embed="rId5"/>
          <a:stretch>
            <a:fillRect/>
          </a:stretch>
        </p:blipFill>
        <p:spPr>
          <a:xfrm>
            <a:off x="4099374" y="2876273"/>
            <a:ext cx="1822544" cy="635033"/>
          </a:xfrm>
          <a:prstGeom prst="rect">
            <a:avLst/>
          </a:prstGeom>
          <a:ln>
            <a:solidFill>
              <a:schemeClr val="tx1"/>
            </a:solidFill>
          </a:ln>
        </p:spPr>
      </p:pic>
      <p:sp>
        <p:nvSpPr>
          <p:cNvPr id="17" name="Rounded Rectangular Callout 16"/>
          <p:cNvSpPr/>
          <p:nvPr/>
        </p:nvSpPr>
        <p:spPr bwMode="invGray">
          <a:xfrm>
            <a:off x="4938454" y="3859287"/>
            <a:ext cx="6511820" cy="802774"/>
          </a:xfrm>
          <a:prstGeom prst="wedgeRoundRectCallout">
            <a:avLst>
              <a:gd name="adj1" fmla="val -40146"/>
              <a:gd name="adj2" fmla="val -138655"/>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dirty="0"/>
              <a:t>Custom URL path</a:t>
            </a:r>
          </a:p>
        </p:txBody>
      </p:sp>
      <p:pic>
        <p:nvPicPr>
          <p:cNvPr id="18" name="Picture 17"/>
          <p:cNvPicPr>
            <a:picLocks noChangeAspect="1"/>
          </p:cNvPicPr>
          <p:nvPr/>
        </p:nvPicPr>
        <p:blipFill>
          <a:blip r:embed="rId6"/>
          <a:stretch>
            <a:fillRect/>
          </a:stretch>
        </p:blipFill>
        <p:spPr>
          <a:xfrm>
            <a:off x="5010646" y="3888854"/>
            <a:ext cx="6384141" cy="703099"/>
          </a:xfrm>
          <a:prstGeom prst="rect">
            <a:avLst/>
          </a:prstGeom>
        </p:spPr>
      </p:pic>
      <p:pic>
        <p:nvPicPr>
          <p:cNvPr id="10" name="Picture 9"/>
          <p:cNvPicPr>
            <a:picLocks noChangeAspect="1"/>
          </p:cNvPicPr>
          <p:nvPr/>
        </p:nvPicPr>
        <p:blipFill>
          <a:blip r:embed="rId7"/>
          <a:stretch>
            <a:fillRect/>
          </a:stretch>
        </p:blipFill>
        <p:spPr>
          <a:xfrm>
            <a:off x="4099374" y="1956226"/>
            <a:ext cx="1968601" cy="679485"/>
          </a:xfrm>
          <a:prstGeom prst="rect">
            <a:avLst/>
          </a:prstGeom>
          <a:ln>
            <a:solidFill>
              <a:schemeClr val="tx1"/>
            </a:solidFill>
          </a:ln>
        </p:spPr>
      </p:pic>
      <p:sp>
        <p:nvSpPr>
          <p:cNvPr id="23" name="Rectangle 22"/>
          <p:cNvSpPr/>
          <p:nvPr/>
        </p:nvSpPr>
        <p:spPr>
          <a:xfrm>
            <a:off x="4506685" y="2041095"/>
            <a:ext cx="1002712" cy="228748"/>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5" name="Rectangle 24"/>
          <p:cNvSpPr/>
          <p:nvPr/>
        </p:nvSpPr>
        <p:spPr>
          <a:xfrm>
            <a:off x="4489266" y="2938078"/>
            <a:ext cx="1002712" cy="228748"/>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6" name="Rounded Rectangular Callout 25"/>
          <p:cNvSpPr/>
          <p:nvPr/>
        </p:nvSpPr>
        <p:spPr bwMode="invGray">
          <a:xfrm>
            <a:off x="7069757" y="908270"/>
            <a:ext cx="4311967" cy="1506448"/>
          </a:xfrm>
          <a:prstGeom prst="wedgeRoundRectCallout">
            <a:avLst>
              <a:gd name="adj1" fmla="val -84955"/>
              <a:gd name="adj2" fmla="val 33603"/>
              <a:gd name="adj3" fmla="val 16667"/>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dirty="0"/>
              <a:t>Custom URL path</a:t>
            </a:r>
          </a:p>
        </p:txBody>
      </p:sp>
      <p:pic>
        <p:nvPicPr>
          <p:cNvPr id="27" name="Picture 26"/>
          <p:cNvPicPr>
            <a:picLocks noChangeAspect="1"/>
          </p:cNvPicPr>
          <p:nvPr/>
        </p:nvPicPr>
        <p:blipFill>
          <a:blip r:embed="rId8"/>
          <a:stretch>
            <a:fillRect/>
          </a:stretch>
        </p:blipFill>
        <p:spPr>
          <a:xfrm>
            <a:off x="7154251" y="1010189"/>
            <a:ext cx="4113714" cy="1311906"/>
          </a:xfrm>
          <a:prstGeom prst="rect">
            <a:avLst/>
          </a:prstGeom>
        </p:spPr>
      </p:pic>
    </p:spTree>
    <p:custDataLst>
      <p:tags r:id="rId1"/>
    </p:custDataLst>
    <p:extLst>
      <p:ext uri="{BB962C8B-B14F-4D97-AF65-F5344CB8AC3E}">
        <p14:creationId xmlns:p14="http://schemas.microsoft.com/office/powerpoint/2010/main" val="330640582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5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down)">
                                      <p:cBhvr>
                                        <p:cTn id="10" dur="500"/>
                                        <p:tgtEl>
                                          <p:spTgt spid="14"/>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down)">
                                      <p:cBhvr>
                                        <p:cTn id="13" dur="750"/>
                                        <p:tgtEl>
                                          <p:spTgt spid="17"/>
                                        </p:tgtEl>
                                      </p:cBhvr>
                                    </p:animEffect>
                                  </p:childTnLst>
                                </p:cTn>
                              </p:par>
                              <p:par>
                                <p:cTn id="14" presetID="22" presetClass="entr" presetSubtype="4"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down)">
                                      <p:cBhvr>
                                        <p:cTn id="16" dur="750"/>
                                        <p:tgtEl>
                                          <p:spTgt spid="1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600"/>
                                        <p:tgtEl>
                                          <p:spTgt spid="23"/>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down)">
                                      <p:cBhvr>
                                        <p:cTn id="22" dur="600"/>
                                        <p:tgtEl>
                                          <p:spTgt spid="2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down)">
                                      <p:cBhvr>
                                        <p:cTn id="25" dur="750"/>
                                        <p:tgtEl>
                                          <p:spTgt spid="26"/>
                                        </p:tgtEl>
                                      </p:cBhvr>
                                    </p:animEffect>
                                  </p:childTnLst>
                                </p:cTn>
                              </p:par>
                              <p:par>
                                <p:cTn id="26" presetID="22" presetClass="entr" presetSubtype="4"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down)">
                                      <p:cBhvr>
                                        <p:cTn id="28" dur="7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4" grpId="0" animBg="1"/>
      <p:bldP spid="17" grpId="0" animBg="1"/>
      <p:bldP spid="23" grpId="0" animBg="1"/>
      <p:bldP spid="25" grpId="0" animBg="1"/>
      <p:bldP spid="2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cs typeface="Arial" charset="0"/>
              </a:rPr>
              <a:t>SSL VPN </a:t>
            </a:r>
            <a:r>
              <a:rPr lang="en-US" dirty="0">
                <a:cs typeface="Arial" charset="0"/>
              </a:rPr>
              <a:t>Idle Timeout vs. Authentication Session	</a:t>
            </a:r>
            <a:endParaRPr lang="en-US" dirty="0"/>
          </a:p>
        </p:txBody>
      </p:sp>
      <p:sp>
        <p:nvSpPr>
          <p:cNvPr id="3" name="Content Placeholder 2"/>
          <p:cNvSpPr>
            <a:spLocks noGrp="1"/>
          </p:cNvSpPr>
          <p:nvPr>
            <p:ph idx="1"/>
          </p:nvPr>
        </p:nvSpPr>
        <p:spPr/>
        <p:txBody>
          <a:bodyPr/>
          <a:lstStyle/>
          <a:p>
            <a:r>
              <a:rPr lang="en-US" dirty="0">
                <a:cs typeface="Arial" charset="0"/>
              </a:rPr>
              <a:t>Firewall policy authentication session is associated with </a:t>
            </a:r>
            <a:r>
              <a:rPr lang="en-US" dirty="0" smtClean="0">
                <a:cs typeface="Arial" charset="0"/>
              </a:rPr>
              <a:t>SSL VPN </a:t>
            </a:r>
            <a:r>
              <a:rPr lang="en-US" dirty="0">
                <a:cs typeface="Arial" charset="0"/>
              </a:rPr>
              <a:t>tunnel session</a:t>
            </a:r>
          </a:p>
          <a:p>
            <a:pPr lvl="1"/>
            <a:r>
              <a:rPr lang="en-US" dirty="0">
                <a:cs typeface="Arial" charset="0"/>
              </a:rPr>
              <a:t>Firewall policy authentication session is forced to end when </a:t>
            </a:r>
            <a:r>
              <a:rPr lang="en-US" dirty="0" smtClean="0">
                <a:cs typeface="Arial" charset="0"/>
              </a:rPr>
              <a:t>SSL VPN </a:t>
            </a:r>
            <a:r>
              <a:rPr lang="en-US" dirty="0">
                <a:cs typeface="Arial" charset="0"/>
              </a:rPr>
              <a:t>tunnel session ends</a:t>
            </a:r>
          </a:p>
          <a:p>
            <a:pPr lvl="1"/>
            <a:r>
              <a:rPr lang="en-US" dirty="0">
                <a:cs typeface="Arial" charset="0"/>
              </a:rPr>
              <a:t>Prevents reuse of authenticated </a:t>
            </a:r>
            <a:r>
              <a:rPr lang="en-US" dirty="0" smtClean="0">
                <a:cs typeface="Arial" charset="0"/>
              </a:rPr>
              <a:t>SSL VPN </a:t>
            </a:r>
            <a:r>
              <a:rPr lang="en-US" dirty="0">
                <a:cs typeface="Arial" charset="0"/>
              </a:rPr>
              <a:t>firewall </a:t>
            </a:r>
            <a:r>
              <a:rPr lang="en-US" dirty="0" smtClean="0">
                <a:cs typeface="Arial" charset="0"/>
              </a:rPr>
              <a:t>sessions </a:t>
            </a:r>
            <a:r>
              <a:rPr lang="en-US" dirty="0">
                <a:cs typeface="Arial" charset="0"/>
              </a:rPr>
              <a:t>(not yet expired) by a different user, after the initial user terminates the </a:t>
            </a:r>
            <a:r>
              <a:rPr lang="en-US" dirty="0" smtClean="0">
                <a:cs typeface="Arial" charset="0"/>
              </a:rPr>
              <a:t>SSL VPN </a:t>
            </a:r>
            <a:r>
              <a:rPr lang="en-US" dirty="0">
                <a:cs typeface="Arial" charset="0"/>
              </a:rPr>
              <a:t>tunnel session</a:t>
            </a:r>
          </a:p>
          <a:p>
            <a:pPr lvl="1"/>
            <a:endParaRPr lang="en-US" dirty="0">
              <a:cs typeface="Arial" charset="0"/>
            </a:endParaRPr>
          </a:p>
          <a:p>
            <a:r>
              <a:rPr lang="en-US" dirty="0" smtClean="0">
                <a:cs typeface="Arial" charset="0"/>
              </a:rPr>
              <a:t>SSL VPN </a:t>
            </a:r>
            <a:r>
              <a:rPr lang="en-US" dirty="0">
                <a:cs typeface="Arial" charset="0"/>
              </a:rPr>
              <a:t>authentication is not subject to the firewall authentication timeout setting</a:t>
            </a:r>
          </a:p>
          <a:p>
            <a:pPr lvl="1"/>
            <a:r>
              <a:rPr lang="en-US" dirty="0">
                <a:cs typeface="Arial" charset="0"/>
              </a:rPr>
              <a:t>It has a separate idle setting: default 300 seconds</a:t>
            </a:r>
          </a:p>
        </p:txBody>
      </p:sp>
      <p:sp>
        <p:nvSpPr>
          <p:cNvPr id="8" name="Down Arrow 7"/>
          <p:cNvSpPr/>
          <p:nvPr/>
        </p:nvSpPr>
        <p:spPr bwMode="invGray">
          <a:xfrm rot="16200000">
            <a:off x="6290404" y="4927468"/>
            <a:ext cx="344478" cy="485258"/>
          </a:xfrm>
          <a:prstGeom prst="downArrow">
            <a:avLst/>
          </a:prstGeom>
          <a:solidFill>
            <a:srgbClr val="00B0F0"/>
          </a:solidFill>
          <a:ln w="38100">
            <a:no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Rectangle 9"/>
          <p:cNvSpPr/>
          <p:nvPr/>
        </p:nvSpPr>
        <p:spPr bwMode="invGray">
          <a:xfrm>
            <a:off x="694516" y="4006925"/>
            <a:ext cx="2680093" cy="350437"/>
          </a:xfrm>
          <a:prstGeom prst="rect">
            <a:avLst/>
          </a:prstGeom>
          <a:solidFill>
            <a:srgbClr val="00B0F0"/>
          </a:solidFill>
          <a:ln w="38100">
            <a:noFill/>
            <a:round/>
            <a:headEnd/>
            <a:tailEnd/>
          </a:ln>
          <a:effectLst/>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b="1" dirty="0"/>
              <a:t>VPN </a:t>
            </a:r>
            <a:r>
              <a:rPr lang="en-CA" sz="1600" dirty="0"/>
              <a:t>&gt;</a:t>
            </a:r>
            <a:r>
              <a:rPr lang="en-CA" sz="1600" b="1" dirty="0"/>
              <a:t> </a:t>
            </a:r>
            <a:r>
              <a:rPr lang="en-CA" sz="1600" b="1" dirty="0" smtClean="0"/>
              <a:t>SSL VPN </a:t>
            </a:r>
            <a:r>
              <a:rPr lang="en-CA" sz="1600" b="1" dirty="0"/>
              <a:t>Settings</a:t>
            </a:r>
          </a:p>
        </p:txBody>
      </p:sp>
      <p:sp>
        <p:nvSpPr>
          <p:cNvPr id="11" name="Rectangle 10"/>
          <p:cNvSpPr/>
          <p:nvPr/>
        </p:nvSpPr>
        <p:spPr bwMode="invGray">
          <a:xfrm>
            <a:off x="7912100" y="4972990"/>
            <a:ext cx="3324985" cy="288607"/>
          </a:xfrm>
          <a:prstGeom prst="rect">
            <a:avLst/>
          </a:prstGeom>
          <a:noFill/>
          <a:ln w="38100">
            <a:solidFill>
              <a:srgbClr val="DC291E"/>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sp>
        <p:nvSpPr>
          <p:cNvPr id="4" name="Rectangle 3"/>
          <p:cNvSpPr/>
          <p:nvPr/>
        </p:nvSpPr>
        <p:spPr>
          <a:xfrm>
            <a:off x="6783658" y="4645109"/>
            <a:ext cx="6092825" cy="1000274"/>
          </a:xfrm>
          <a:prstGeom prst="rect">
            <a:avLst/>
          </a:prstGeom>
        </p:spPr>
        <p:txBody>
          <a:bodyPr>
            <a:spAutoFit/>
          </a:bodyPr>
          <a:lstStyle/>
          <a:p>
            <a:pPr indent="0">
              <a:spcBef>
                <a:spcPts val="300"/>
              </a:spcBef>
              <a:buNone/>
            </a:pP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vpn</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ssl</a:t>
            </a:r>
            <a:r>
              <a:rPr lang="en-US" dirty="0">
                <a:latin typeface="Courier New" panose="02070309020205020404" pitchFamily="49" charset="0"/>
                <a:cs typeface="Courier New" panose="02070309020205020404" pitchFamily="49" charset="0"/>
              </a:rPr>
              <a:t> settings</a:t>
            </a:r>
          </a:p>
          <a:p>
            <a:pPr marL="577850" indent="0">
              <a:spcBef>
                <a:spcPts val="300"/>
              </a:spcBef>
              <a:buNone/>
            </a:pPr>
            <a:r>
              <a:rPr lang="en-US" dirty="0">
                <a:latin typeface="Courier New" panose="02070309020205020404" pitchFamily="49" charset="0"/>
                <a:cs typeface="Courier New" panose="02070309020205020404" pitchFamily="49" charset="0"/>
              </a:rPr>
              <a:t>set idle-timeout &lt;0-259200&gt;</a:t>
            </a:r>
          </a:p>
          <a:p>
            <a:pPr marL="228600" indent="0">
              <a:spcBef>
                <a:spcPts val="300"/>
              </a:spcBef>
              <a:buNone/>
            </a:pPr>
            <a:r>
              <a:rPr lang="en-US" dirty="0">
                <a:latin typeface="Courier New" panose="02070309020205020404" pitchFamily="49" charset="0"/>
                <a:cs typeface="Courier New" panose="02070309020205020404" pitchFamily="49" charset="0"/>
              </a:rPr>
              <a:t>end</a:t>
            </a:r>
          </a:p>
        </p:txBody>
      </p:sp>
      <p:pic>
        <p:nvPicPr>
          <p:cNvPr id="5" name="Picture 4"/>
          <p:cNvPicPr>
            <a:picLocks noChangeAspect="1"/>
          </p:cNvPicPr>
          <p:nvPr/>
        </p:nvPicPr>
        <p:blipFill>
          <a:blip r:embed="rId4"/>
          <a:stretch>
            <a:fillRect/>
          </a:stretch>
        </p:blipFill>
        <p:spPr>
          <a:xfrm>
            <a:off x="689979" y="4462115"/>
            <a:ext cx="5369260" cy="1310355"/>
          </a:xfrm>
          <a:prstGeom prst="rect">
            <a:avLst/>
          </a:prstGeom>
          <a:ln>
            <a:solidFill>
              <a:schemeClr val="tx1"/>
            </a:solidFill>
          </a:ln>
        </p:spPr>
      </p:pic>
      <p:sp>
        <p:nvSpPr>
          <p:cNvPr id="12" name="Rectangle 11"/>
          <p:cNvSpPr/>
          <p:nvPr/>
        </p:nvSpPr>
        <p:spPr bwMode="invGray">
          <a:xfrm>
            <a:off x="689977" y="5168900"/>
            <a:ext cx="5369261" cy="603569"/>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custDataLst>
      <p:tags r:id="rId1"/>
    </p:custDataLst>
    <p:extLst>
      <p:ext uri="{BB962C8B-B14F-4D97-AF65-F5344CB8AC3E}">
        <p14:creationId xmlns:p14="http://schemas.microsoft.com/office/powerpoint/2010/main" val="73498062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750"/>
                                        <p:tgtEl>
                                          <p:spTgt spid="11"/>
                                        </p:tgtEl>
                                      </p:cBhvr>
                                    </p:animEffect>
                                  </p:childTnLst>
                                </p:cTn>
                              </p:par>
                            </p:childTnLst>
                          </p:cTn>
                        </p:par>
                        <p:par>
                          <p:cTn id="8" fill="hold">
                            <p:stCondLst>
                              <p:cond delay="125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SSL VPN </a:t>
            </a:r>
            <a:r>
              <a:rPr lang="en-US" dirty="0"/>
              <a:t>Timers</a:t>
            </a:r>
          </a:p>
        </p:txBody>
      </p:sp>
      <p:sp>
        <p:nvSpPr>
          <p:cNvPr id="4" name="Content Placeholder 3"/>
          <p:cNvSpPr>
            <a:spLocks noGrp="1"/>
          </p:cNvSpPr>
          <p:nvPr>
            <p:ph idx="1"/>
          </p:nvPr>
        </p:nvSpPr>
        <p:spPr/>
        <p:txBody>
          <a:bodyPr>
            <a:normAutofit lnSpcReduction="10000"/>
          </a:bodyPr>
          <a:lstStyle/>
          <a:p>
            <a:pPr>
              <a:lnSpc>
                <a:spcPct val="110000"/>
              </a:lnSpc>
            </a:pPr>
            <a:r>
              <a:rPr lang="en-US" dirty="0"/>
              <a:t>Set up timers to avoid logouts when </a:t>
            </a:r>
            <a:r>
              <a:rPr lang="en-US" dirty="0" smtClean="0"/>
              <a:t>SSL VPN </a:t>
            </a:r>
            <a:r>
              <a:rPr lang="en-US" dirty="0"/>
              <a:t>users </a:t>
            </a:r>
            <a:r>
              <a:rPr lang="en-US" dirty="0" smtClean="0"/>
              <a:t>are connected over high latency connections</a:t>
            </a:r>
            <a:endParaRPr lang="en-US" dirty="0"/>
          </a:p>
          <a:p>
            <a:pPr lvl="1">
              <a:lnSpc>
                <a:spcPct val="110000"/>
              </a:lnSpc>
            </a:pPr>
            <a:r>
              <a:rPr lang="en-US" dirty="0"/>
              <a:t>DTLS hello timeout—default 10 seconds</a:t>
            </a:r>
          </a:p>
          <a:p>
            <a:pPr lvl="1">
              <a:lnSpc>
                <a:spcPct val="110000"/>
              </a:lnSpc>
            </a:pPr>
            <a:r>
              <a:rPr lang="en-US" dirty="0"/>
              <a:t>Login timeout—default 30 seconds</a:t>
            </a:r>
          </a:p>
          <a:p>
            <a:pPr lvl="2">
              <a:lnSpc>
                <a:spcPct val="110000"/>
              </a:lnSpc>
            </a:pPr>
            <a:endParaRPr lang="en-US" dirty="0"/>
          </a:p>
          <a:p>
            <a:pPr lvl="2">
              <a:lnSpc>
                <a:spcPct val="110000"/>
              </a:lnSpc>
            </a:pPr>
            <a:endParaRPr lang="en-US" dirty="0"/>
          </a:p>
          <a:p>
            <a:pPr lvl="2">
              <a:lnSpc>
                <a:spcPct val="110000"/>
              </a:lnSpc>
            </a:pPr>
            <a:endParaRPr lang="en-US" dirty="0"/>
          </a:p>
          <a:p>
            <a:pPr lvl="2">
              <a:lnSpc>
                <a:spcPct val="110000"/>
              </a:lnSpc>
            </a:pPr>
            <a:endParaRPr lang="en-US" dirty="0"/>
          </a:p>
          <a:p>
            <a:pPr lvl="2">
              <a:lnSpc>
                <a:spcPct val="110000"/>
              </a:lnSpc>
            </a:pPr>
            <a:endParaRPr lang="en-US" dirty="0"/>
          </a:p>
          <a:p>
            <a:pPr lvl="2">
              <a:lnSpc>
                <a:spcPct val="110000"/>
              </a:lnSpc>
            </a:pPr>
            <a:endParaRPr lang="en-US" dirty="0"/>
          </a:p>
          <a:p>
            <a:pPr lvl="2">
              <a:lnSpc>
                <a:spcPct val="110000"/>
              </a:lnSpc>
            </a:pPr>
            <a:endParaRPr lang="en-US" dirty="0"/>
          </a:p>
          <a:p>
            <a:pPr lvl="2">
              <a:lnSpc>
                <a:spcPct val="110000"/>
              </a:lnSpc>
            </a:pPr>
            <a:endParaRPr lang="en-US" dirty="0"/>
          </a:p>
          <a:p>
            <a:pPr lvl="2">
              <a:lnSpc>
                <a:spcPct val="110000"/>
              </a:lnSpc>
            </a:pPr>
            <a:endParaRPr lang="en-US" dirty="0"/>
          </a:p>
          <a:p>
            <a:pPr>
              <a:lnSpc>
                <a:spcPct val="110000"/>
              </a:lnSpc>
            </a:pPr>
            <a:r>
              <a:rPr lang="en-US" dirty="0"/>
              <a:t>Timers can also help to mitigate </a:t>
            </a:r>
            <a:r>
              <a:rPr lang="en-US" dirty="0" err="1"/>
              <a:t>DoS</a:t>
            </a:r>
            <a:r>
              <a:rPr lang="en-US" dirty="0"/>
              <a:t> attacks within </a:t>
            </a:r>
            <a:r>
              <a:rPr lang="en-US" dirty="0" smtClean="0"/>
              <a:t>SSL VPN </a:t>
            </a:r>
            <a:r>
              <a:rPr lang="en-US" dirty="0"/>
              <a:t>caused by partial HTTP requests, such as </a:t>
            </a:r>
            <a:r>
              <a:rPr lang="en-US" dirty="0" err="1"/>
              <a:t>Slowloris</a:t>
            </a:r>
            <a:r>
              <a:rPr lang="en-US" dirty="0"/>
              <a:t> and R-U-Dead-Yet</a:t>
            </a:r>
          </a:p>
          <a:p>
            <a:pPr>
              <a:lnSpc>
                <a:spcPct val="110000"/>
              </a:lnSpc>
            </a:pPr>
            <a:endParaRPr lang="en-US" dirty="0"/>
          </a:p>
          <a:p>
            <a:pPr>
              <a:lnSpc>
                <a:spcPct val="110000"/>
              </a:lnSpc>
            </a:pPr>
            <a:endParaRPr lang="en-US" dirty="0"/>
          </a:p>
        </p:txBody>
      </p:sp>
      <p:sp>
        <p:nvSpPr>
          <p:cNvPr id="11" name="Content Placeholder 5"/>
          <p:cNvSpPr txBox="1">
            <a:spLocks/>
          </p:cNvSpPr>
          <p:nvPr/>
        </p:nvSpPr>
        <p:spPr>
          <a:xfrm>
            <a:off x="3057922" y="2808910"/>
            <a:ext cx="6072982" cy="1966357"/>
          </a:xfrm>
          <a:prstGeom prst="rect">
            <a:avLst/>
          </a:prstGeom>
          <a:solidFill>
            <a:schemeClr val="tx2">
              <a:lumMod val="20000"/>
              <a:lumOff val="80000"/>
            </a:schemeClr>
          </a:solidFill>
          <a:ln>
            <a:solidFill>
              <a:schemeClr val="tx2">
                <a:lumMod val="20000"/>
                <a:lumOff val="80000"/>
              </a:schemeClr>
            </a:solidFill>
          </a:ln>
        </p:spPr>
        <p:style>
          <a:lnRef idx="2">
            <a:schemeClr val="dk1">
              <a:shade val="50000"/>
            </a:schemeClr>
          </a:lnRef>
          <a:fillRef idx="1">
            <a:schemeClr val="dk1"/>
          </a:fillRef>
          <a:effectRef idx="0">
            <a:schemeClr val="dk1"/>
          </a:effectRef>
          <a:fontRef idx="minor">
            <a:schemeClr val="lt1"/>
          </a:fontRef>
        </p:style>
        <p:txBody>
          <a:bodyPr/>
          <a:lstStyle>
            <a:lvl1pPr marL="234910" indent="-234910" algn="l" defTabSz="914240" rtl="0" eaLnBrk="1" latinLnBrk="0" hangingPunct="1">
              <a:lnSpc>
                <a:spcPct val="100000"/>
              </a:lnSpc>
              <a:spcBef>
                <a:spcPts val="900"/>
              </a:spcBef>
              <a:buClr>
                <a:schemeClr val="accent6"/>
              </a:buClr>
              <a:buFont typeface="Arial" panose="020B0604020202020204" pitchFamily="34" charset="0"/>
              <a:buChar char="•"/>
              <a:defRPr lang="en-US" sz="2200" kern="1200" dirty="0">
                <a:solidFill>
                  <a:schemeClr val="tx1"/>
                </a:solidFill>
                <a:latin typeface="+mn-lt"/>
                <a:ea typeface="+mn-ea"/>
                <a:cs typeface="+mn-cs"/>
              </a:defRPr>
            </a:lvl1pPr>
            <a:lvl2pPr marL="615843" indent="-256073" algn="l" defTabSz="914240" rtl="0" eaLnBrk="1" latinLnBrk="0" hangingPunct="1">
              <a:lnSpc>
                <a:spcPct val="100000"/>
              </a:lnSpc>
              <a:spcBef>
                <a:spcPts val="400"/>
              </a:spcBef>
              <a:buClr>
                <a:schemeClr val="accent6"/>
              </a:buClr>
              <a:buFont typeface="Courier New" panose="02070309020205020404" pitchFamily="49" charset="0"/>
              <a:buChar char="o"/>
              <a:defRPr lang="en-US" sz="1800" kern="1200" dirty="0">
                <a:solidFill>
                  <a:schemeClr val="tx1"/>
                </a:solidFill>
                <a:latin typeface="+mn-lt"/>
                <a:ea typeface="+mn-ea"/>
                <a:cs typeface="+mn-cs"/>
              </a:defRPr>
            </a:lvl2pPr>
            <a:lvl3pPr marL="984078" indent="-241258" algn="l" defTabSz="914240" rtl="0" eaLnBrk="1" latinLnBrk="0" hangingPunct="1">
              <a:lnSpc>
                <a:spcPct val="100000"/>
              </a:lnSpc>
              <a:spcBef>
                <a:spcPts val="400"/>
              </a:spcBef>
              <a:buClr>
                <a:schemeClr val="accent6"/>
              </a:buClr>
              <a:buFont typeface="Arial" panose="020B0604020202020204" pitchFamily="34" charset="0"/>
              <a:buChar char="•"/>
              <a:defRPr lang="en-US" sz="1600" kern="1200" dirty="0">
                <a:solidFill>
                  <a:schemeClr val="tx1"/>
                </a:solidFill>
                <a:latin typeface="+mn-lt"/>
                <a:ea typeface="+mn-ea"/>
                <a:cs typeface="+mn-cs"/>
              </a:defRPr>
            </a:lvl3pPr>
            <a:lvl4pPr marL="814388" marR="0" indent="0" algn="l" defTabSz="685800" rtl="0" eaLnBrk="1" fontAlgn="base" latinLnBrk="0" hangingPunct="1">
              <a:lnSpc>
                <a:spcPct val="110000"/>
              </a:lnSpc>
              <a:spcBef>
                <a:spcPct val="20000"/>
              </a:spcBef>
              <a:spcAft>
                <a:spcPct val="0"/>
              </a:spcAft>
              <a:buClr>
                <a:srgbClr val="D81E05"/>
              </a:buClr>
              <a:buSzTx/>
              <a:buFont typeface="Lucida Grande"/>
              <a:buNone/>
              <a:tabLst/>
              <a:defRPr lang="en-US" sz="1400" kern="1200" dirty="0">
                <a:solidFill>
                  <a:schemeClr val="tx1"/>
                </a:solidFill>
                <a:latin typeface="Courier New" panose="02070309020205020404" pitchFamily="49" charset="0"/>
                <a:ea typeface="+mn-ea"/>
                <a:cs typeface="Courier New" panose="02070309020205020404" pitchFamily="49" charset="0"/>
              </a:defRPr>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lang="en-US" sz="1200" i="1" kern="1200" dirty="0">
                <a:solidFill>
                  <a:schemeClr val="bg1">
                    <a:lumMod val="50000"/>
                  </a:schemeClr>
                </a:solidFill>
                <a:latin typeface="+mn-lt"/>
                <a:ea typeface="+mn-ea"/>
                <a:cs typeface="+mn-cs"/>
              </a:defRPr>
            </a:lvl5pPr>
            <a:lvl6pPr marL="251416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28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40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520" indent="-228560" algn="l" defTabSz="91424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0">
              <a:spcBef>
                <a:spcPts val="300"/>
              </a:spcBef>
              <a:buNone/>
            </a:pPr>
            <a:r>
              <a:rPr lang="en-US" sz="1800" dirty="0">
                <a:latin typeface="Courier New" panose="02070309020205020404" pitchFamily="49" charset="0"/>
                <a:cs typeface="Courier New" panose="02070309020205020404" pitchFamily="49" charset="0"/>
              </a:rPr>
              <a:t>config </a:t>
            </a:r>
            <a:r>
              <a:rPr lang="en-US" sz="1800" dirty="0" err="1">
                <a:latin typeface="Courier New" panose="02070309020205020404" pitchFamily="49" charset="0"/>
                <a:cs typeface="Courier New" panose="02070309020205020404" pitchFamily="49" charset="0"/>
              </a:rPr>
              <a:t>vpn</a:t>
            </a:r>
            <a:r>
              <a:rPr lang="en-US" sz="1800" dirty="0">
                <a:latin typeface="Courier New" panose="02070309020205020404" pitchFamily="49" charset="0"/>
                <a:cs typeface="Courier New" panose="02070309020205020404" pitchFamily="49" charset="0"/>
              </a:rPr>
              <a:t> </a:t>
            </a:r>
            <a:r>
              <a:rPr lang="en-US" sz="1800" dirty="0" err="1">
                <a:latin typeface="Courier New" panose="02070309020205020404" pitchFamily="49" charset="0"/>
                <a:cs typeface="Courier New" panose="02070309020205020404" pitchFamily="49" charset="0"/>
              </a:rPr>
              <a:t>ssl</a:t>
            </a:r>
            <a:r>
              <a:rPr lang="en-US" sz="1800" dirty="0">
                <a:latin typeface="Courier New" panose="02070309020205020404" pitchFamily="49" charset="0"/>
                <a:cs typeface="Courier New" panose="02070309020205020404" pitchFamily="49" charset="0"/>
              </a:rPr>
              <a:t> settings</a:t>
            </a:r>
          </a:p>
          <a:p>
            <a:pPr marL="577850" indent="0">
              <a:spcBef>
                <a:spcPts val="300"/>
              </a:spcBef>
              <a:buNone/>
            </a:pPr>
            <a:r>
              <a:rPr lang="en-US" sz="1800" dirty="0">
                <a:latin typeface="Courier New" panose="02070309020205020404" pitchFamily="49" charset="0"/>
                <a:cs typeface="Courier New" panose="02070309020205020404" pitchFamily="49" charset="0"/>
              </a:rPr>
              <a:t>set login-timeout &lt;10-180&gt;</a:t>
            </a:r>
          </a:p>
          <a:p>
            <a:pPr marL="577850" indent="0">
              <a:spcBef>
                <a:spcPts val="300"/>
              </a:spcBef>
              <a:buNone/>
            </a:pPr>
            <a:r>
              <a:rPr lang="en-US" sz="1800" dirty="0">
                <a:latin typeface="Courier New" panose="02070309020205020404" pitchFamily="49" charset="0"/>
                <a:cs typeface="Courier New" panose="02070309020205020404" pitchFamily="49" charset="0"/>
              </a:rPr>
              <a:t>set </a:t>
            </a:r>
            <a:r>
              <a:rPr lang="en-US" sz="1800" dirty="0" err="1">
                <a:latin typeface="Courier New" panose="02070309020205020404" pitchFamily="49" charset="0"/>
                <a:cs typeface="Courier New" panose="02070309020205020404" pitchFamily="49" charset="0"/>
              </a:rPr>
              <a:t>dtls</a:t>
            </a:r>
            <a:r>
              <a:rPr lang="en-US" sz="1800" dirty="0">
                <a:latin typeface="Courier New" panose="02070309020205020404" pitchFamily="49" charset="0"/>
                <a:cs typeface="Courier New" panose="02070309020205020404" pitchFamily="49" charset="0"/>
              </a:rPr>
              <a:t>-hello-timeout &lt;10-60&gt;</a:t>
            </a:r>
          </a:p>
          <a:p>
            <a:pPr marL="577850" indent="0">
              <a:spcBef>
                <a:spcPts val="300"/>
              </a:spcBef>
              <a:buNone/>
            </a:pPr>
            <a:r>
              <a:rPr lang="en-US" sz="1800" dirty="0">
                <a:latin typeface="Courier New" panose="02070309020205020404" pitchFamily="49" charset="0"/>
                <a:cs typeface="Courier New" panose="02070309020205020404" pitchFamily="49" charset="0"/>
              </a:rPr>
              <a:t>set http-request-header-timeout &lt;1-60&gt;</a:t>
            </a:r>
          </a:p>
          <a:p>
            <a:pPr marL="577850" indent="0">
              <a:spcBef>
                <a:spcPts val="300"/>
              </a:spcBef>
              <a:buNone/>
            </a:pPr>
            <a:r>
              <a:rPr lang="en-US" sz="1800" dirty="0">
                <a:latin typeface="Courier New" panose="02070309020205020404" pitchFamily="49" charset="0"/>
                <a:cs typeface="Courier New" panose="02070309020205020404" pitchFamily="49" charset="0"/>
              </a:rPr>
              <a:t>Set http-request-body-timeout &lt;1-60&gt;</a:t>
            </a:r>
          </a:p>
          <a:p>
            <a:pPr marL="228600" indent="0">
              <a:spcBef>
                <a:spcPts val="300"/>
              </a:spcBef>
              <a:buNone/>
            </a:pPr>
            <a:r>
              <a:rPr lang="en-US" sz="1800" dirty="0">
                <a:latin typeface="Courier New" panose="02070309020205020404" pitchFamily="49" charset="0"/>
                <a:cs typeface="Courier New" panose="02070309020205020404" pitchFamily="49" charset="0"/>
              </a:rPr>
              <a:t>end</a:t>
            </a:r>
          </a:p>
        </p:txBody>
      </p:sp>
      <p:cxnSp>
        <p:nvCxnSpPr>
          <p:cNvPr id="12" name="Elbow Connector 11"/>
          <p:cNvCxnSpPr/>
          <p:nvPr/>
        </p:nvCxnSpPr>
        <p:spPr>
          <a:xfrm rot="10800000">
            <a:off x="5739065" y="2021401"/>
            <a:ext cx="2184150" cy="1610641"/>
          </a:xfrm>
          <a:prstGeom prst="bentConnector3">
            <a:avLst>
              <a:gd name="adj1" fmla="val -11145"/>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Elbow Connector 12"/>
          <p:cNvCxnSpPr/>
          <p:nvPr/>
        </p:nvCxnSpPr>
        <p:spPr>
          <a:xfrm rot="10800000">
            <a:off x="5077331" y="2361639"/>
            <a:ext cx="2264736" cy="943277"/>
          </a:xfrm>
          <a:prstGeom prst="bentConnector3">
            <a:avLst>
              <a:gd name="adj1" fmla="val -5782"/>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Left Brace 25"/>
          <p:cNvSpPr/>
          <p:nvPr/>
        </p:nvSpPr>
        <p:spPr>
          <a:xfrm>
            <a:off x="3557449" y="3864280"/>
            <a:ext cx="128112" cy="500038"/>
          </a:xfrm>
          <a:prstGeom prst="leftBrace">
            <a:avLst/>
          </a:prstGeom>
          <a:ln w="381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28" name="Elbow Connector 27"/>
          <p:cNvCxnSpPr/>
          <p:nvPr/>
        </p:nvCxnSpPr>
        <p:spPr>
          <a:xfrm rot="10800000" flipV="1">
            <a:off x="2334132" y="4116998"/>
            <a:ext cx="1149435" cy="1146313"/>
          </a:xfrm>
          <a:prstGeom prst="bentConnector3">
            <a:avLst>
              <a:gd name="adj1" fmla="val 99197"/>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2055725038"/>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 for Common </a:t>
            </a:r>
            <a:r>
              <a:rPr lang="en-US" dirty="0" smtClean="0"/>
              <a:t>SSL VPN </a:t>
            </a:r>
            <a:r>
              <a:rPr lang="en-US" dirty="0"/>
              <a:t>Issues</a:t>
            </a:r>
          </a:p>
        </p:txBody>
      </p:sp>
      <p:sp>
        <p:nvSpPr>
          <p:cNvPr id="3" name="Content Placeholder 2"/>
          <p:cNvSpPr>
            <a:spLocks noGrp="1"/>
          </p:cNvSpPr>
          <p:nvPr>
            <p:ph idx="1"/>
          </p:nvPr>
        </p:nvSpPr>
        <p:spPr/>
        <p:txBody>
          <a:bodyPr>
            <a:normAutofit fontScale="92500" lnSpcReduction="20000"/>
          </a:bodyPr>
          <a:lstStyle/>
          <a:p>
            <a:pPr>
              <a:lnSpc>
                <a:spcPct val="120000"/>
              </a:lnSpc>
            </a:pPr>
            <a:r>
              <a:rPr lang="en-US" dirty="0"/>
              <a:t>For web mode connections, make sure that:</a:t>
            </a:r>
          </a:p>
          <a:p>
            <a:pPr lvl="1">
              <a:lnSpc>
                <a:spcPct val="120000"/>
              </a:lnSpc>
            </a:pPr>
            <a:r>
              <a:rPr lang="en-US" dirty="0"/>
              <a:t>Cookies are enabled and the internet privacy </a:t>
            </a:r>
            <a:r>
              <a:rPr lang="en-US" dirty="0" smtClean="0"/>
              <a:t>options are set </a:t>
            </a:r>
            <a:r>
              <a:rPr lang="en-US" dirty="0"/>
              <a:t>to high in your web browser</a:t>
            </a:r>
          </a:p>
          <a:p>
            <a:pPr lvl="1">
              <a:lnSpc>
                <a:spcPct val="120000"/>
              </a:lnSpc>
            </a:pPr>
            <a:r>
              <a:rPr lang="en-US" dirty="0" smtClean="0"/>
              <a:t>SSL VPN </a:t>
            </a:r>
            <a:r>
              <a:rPr lang="en-US" dirty="0"/>
              <a:t>clients are following the proper URL structure: </a:t>
            </a:r>
            <a:r>
              <a:rPr lang="en-US" dirty="0">
                <a:solidFill>
                  <a:schemeClr val="accent6"/>
                </a:solidFill>
              </a:rPr>
              <a:t>https://&lt;FortiGateIP&gt;:&lt;port&gt;</a:t>
            </a:r>
            <a:endParaRPr lang="en-US" dirty="0"/>
          </a:p>
          <a:p>
            <a:pPr>
              <a:lnSpc>
                <a:spcPct val="120000"/>
              </a:lnSpc>
            </a:pPr>
            <a:r>
              <a:rPr lang="en-US" dirty="0"/>
              <a:t>For tunnel mode connections, make sure that:</a:t>
            </a:r>
          </a:p>
          <a:p>
            <a:pPr lvl="1">
              <a:lnSpc>
                <a:spcPct val="120000"/>
              </a:lnSpc>
            </a:pPr>
            <a:r>
              <a:rPr lang="en-US" dirty="0"/>
              <a:t>The FortiClient version is compatible with the </a:t>
            </a:r>
            <a:r>
              <a:rPr lang="en-US" dirty="0" err="1"/>
              <a:t>FortiOS</a:t>
            </a:r>
            <a:r>
              <a:rPr lang="en-US" dirty="0"/>
              <a:t> firmware</a:t>
            </a:r>
          </a:p>
          <a:p>
            <a:pPr lvl="2">
              <a:lnSpc>
                <a:spcPct val="120000"/>
              </a:lnSpc>
            </a:pPr>
            <a:r>
              <a:rPr lang="en-US" dirty="0"/>
              <a:t>Refer to release notes for product compatibility and integration</a:t>
            </a:r>
          </a:p>
          <a:p>
            <a:pPr lvl="1">
              <a:lnSpc>
                <a:spcPct val="120000"/>
              </a:lnSpc>
            </a:pPr>
            <a:r>
              <a:rPr lang="en-US" dirty="0"/>
              <a:t>Split tunneling is enabled to allow </a:t>
            </a:r>
            <a:r>
              <a:rPr lang="en-US" dirty="0" smtClean="0"/>
              <a:t>internet </a:t>
            </a:r>
            <a:r>
              <a:rPr lang="en-US" dirty="0"/>
              <a:t>access without backhauling all user’s data to the remote network</a:t>
            </a:r>
            <a:r>
              <a:rPr lang="en-US" dirty="0" smtClean="0"/>
              <a:t>, or</a:t>
            </a:r>
            <a:endParaRPr lang="en-US" dirty="0"/>
          </a:p>
          <a:p>
            <a:pPr lvl="1">
              <a:lnSpc>
                <a:spcPct val="120000"/>
              </a:lnSpc>
            </a:pPr>
            <a:r>
              <a:rPr lang="en-US" dirty="0"/>
              <a:t>Split tunneling is disabled and an egress firewall policy is created for </a:t>
            </a:r>
            <a:r>
              <a:rPr lang="en-US" dirty="0" smtClean="0"/>
              <a:t>SSL VPN </a:t>
            </a:r>
            <a:r>
              <a:rPr lang="en-US" dirty="0"/>
              <a:t>connections</a:t>
            </a:r>
          </a:p>
          <a:p>
            <a:pPr>
              <a:lnSpc>
                <a:spcPct val="120000"/>
              </a:lnSpc>
            </a:pPr>
            <a:r>
              <a:rPr lang="en-US" dirty="0"/>
              <a:t>For general </a:t>
            </a:r>
            <a:r>
              <a:rPr lang="en-US" dirty="0" smtClean="0"/>
              <a:t>SSL VPN </a:t>
            </a:r>
            <a:r>
              <a:rPr lang="en-US" dirty="0"/>
              <a:t>connections, make sure that:</a:t>
            </a:r>
          </a:p>
          <a:p>
            <a:pPr lvl="1">
              <a:lnSpc>
                <a:spcPct val="120000"/>
              </a:lnSpc>
            </a:pPr>
            <a:r>
              <a:rPr lang="en-US" dirty="0"/>
              <a:t>Users are connecting to the correct port number</a:t>
            </a:r>
          </a:p>
          <a:p>
            <a:pPr lvl="2">
              <a:lnSpc>
                <a:spcPct val="120000"/>
              </a:lnSpc>
            </a:pPr>
            <a:r>
              <a:rPr lang="en-US" dirty="0"/>
              <a:t>To check </a:t>
            </a:r>
            <a:r>
              <a:rPr lang="en-US" dirty="0" smtClean="0"/>
              <a:t>SSL VPN </a:t>
            </a:r>
            <a:r>
              <a:rPr lang="en-US" dirty="0"/>
              <a:t>port assignment, click </a:t>
            </a:r>
            <a:r>
              <a:rPr lang="en-US" b="1" dirty="0"/>
              <a:t>VPN</a:t>
            </a:r>
            <a:r>
              <a:rPr lang="en-US" dirty="0"/>
              <a:t> &gt; </a:t>
            </a:r>
            <a:r>
              <a:rPr lang="en-US" b="1" dirty="0" smtClean="0"/>
              <a:t>SSL VPN</a:t>
            </a:r>
            <a:r>
              <a:rPr lang="en-US" b="1" dirty="0"/>
              <a:t> Settings</a:t>
            </a:r>
          </a:p>
          <a:p>
            <a:pPr lvl="1">
              <a:lnSpc>
                <a:spcPct val="120000"/>
              </a:lnSpc>
            </a:pPr>
            <a:r>
              <a:rPr lang="en-US" dirty="0"/>
              <a:t>Firewall policies include </a:t>
            </a:r>
            <a:r>
              <a:rPr lang="en-US" dirty="0" smtClean="0"/>
              <a:t>SSL VPN </a:t>
            </a:r>
            <a:r>
              <a:rPr lang="en-US" dirty="0"/>
              <a:t>groups or users, and the destination address</a:t>
            </a:r>
          </a:p>
          <a:p>
            <a:pPr lvl="1">
              <a:lnSpc>
                <a:spcPct val="120000"/>
              </a:lnSpc>
            </a:pPr>
            <a:r>
              <a:rPr lang="en-US" dirty="0"/>
              <a:t>The timeout timer is configured to flush inactive sessions after a short time</a:t>
            </a:r>
          </a:p>
          <a:p>
            <a:pPr lvl="1">
              <a:lnSpc>
                <a:spcPct val="120000"/>
              </a:lnSpc>
            </a:pPr>
            <a:r>
              <a:rPr lang="en-US" dirty="0"/>
              <a:t>Users are encouraged to log out if they are not using the network resources only accessible by </a:t>
            </a:r>
            <a:r>
              <a:rPr lang="en-US" dirty="0" smtClean="0"/>
              <a:t>SSL VPN</a:t>
            </a:r>
            <a:endParaRPr lang="en-US" dirty="0"/>
          </a:p>
          <a:p>
            <a:pPr lvl="1">
              <a:lnSpc>
                <a:spcPct val="120000"/>
              </a:lnSpc>
            </a:pPr>
            <a:endParaRPr lang="en-US" dirty="0"/>
          </a:p>
        </p:txBody>
      </p:sp>
    </p:spTree>
    <p:custDataLst>
      <p:tags r:id="rId1"/>
    </p:custDataLst>
    <p:extLst>
      <p:ext uri="{BB962C8B-B14F-4D97-AF65-F5344CB8AC3E}">
        <p14:creationId xmlns:p14="http://schemas.microsoft.com/office/powerpoint/2010/main" val="3276113221"/>
      </p:ext>
    </p:extLst>
  </p:cSld>
  <p:clrMapOvr>
    <a:masterClrMapping/>
  </p:clrMapOvr>
  <p:transition spd="slow">
    <p:wip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Useful Troubleshooting Commands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55955655"/>
              </p:ext>
            </p:extLst>
          </p:nvPr>
        </p:nvGraphicFramePr>
        <p:xfrm>
          <a:off x="266700" y="971550"/>
          <a:ext cx="11376026" cy="5253080"/>
        </p:xfrm>
        <a:graphic>
          <a:graphicData uri="http://schemas.openxmlformats.org/drawingml/2006/table">
            <a:tbl>
              <a:tblPr firstRow="1" bandRow="1">
                <a:tableStyleId>{2D5ABB26-0587-4C30-8999-92F81FD0307C}</a:tableStyleId>
              </a:tblPr>
              <a:tblGrid>
                <a:gridCol w="3756522">
                  <a:extLst>
                    <a:ext uri="{9D8B030D-6E8A-4147-A177-3AD203B41FA5}">
                      <a16:colId xmlns:a16="http://schemas.microsoft.com/office/drawing/2014/main" val="20000"/>
                    </a:ext>
                  </a:extLst>
                </a:gridCol>
                <a:gridCol w="1780678">
                  <a:extLst>
                    <a:ext uri="{9D8B030D-6E8A-4147-A177-3AD203B41FA5}">
                      <a16:colId xmlns:a16="http://schemas.microsoft.com/office/drawing/2014/main" val="20001"/>
                    </a:ext>
                  </a:extLst>
                </a:gridCol>
                <a:gridCol w="5838826">
                  <a:extLst>
                    <a:ext uri="{9D8B030D-6E8A-4147-A177-3AD203B41FA5}">
                      <a16:colId xmlns:a16="http://schemas.microsoft.com/office/drawing/2014/main" val="20002"/>
                    </a:ext>
                  </a:extLst>
                </a:gridCol>
              </a:tblGrid>
              <a:tr h="656285">
                <a:tc>
                  <a:txBody>
                    <a:bodyPr/>
                    <a:lstStyle/>
                    <a:p>
                      <a:pPr marL="0" marR="0" indent="0" algn="l" defTabSz="91424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urier New" panose="02070309020205020404" pitchFamily="49" charset="0"/>
                          <a:cs typeface="Courier New" panose="02070309020205020404" pitchFamily="49" charset="0"/>
                        </a:rPr>
                        <a:t># diagnose debug enable</a:t>
                      </a:r>
                    </a:p>
                    <a:p>
                      <a:pPr marL="0" marR="0" indent="0" algn="l" defTabSz="91424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urier New" panose="02070309020205020404" pitchFamily="49" charset="0"/>
                          <a:cs typeface="Courier New" panose="02070309020205020404" pitchFamily="49" charset="0"/>
                        </a:rPr>
                        <a:t># diagnose </a:t>
                      </a:r>
                      <a:r>
                        <a:rPr lang="en-US" sz="1800" dirty="0" err="1">
                          <a:solidFill>
                            <a:schemeClr val="tx1"/>
                          </a:solidFill>
                          <a:latin typeface="Courier New" panose="02070309020205020404" pitchFamily="49" charset="0"/>
                          <a:cs typeface="Courier New" panose="02070309020205020404" pitchFamily="49" charset="0"/>
                        </a:rPr>
                        <a:t>vpn</a:t>
                      </a:r>
                      <a:r>
                        <a:rPr lang="en-US" sz="1800" dirty="0">
                          <a:solidFill>
                            <a:schemeClr val="tx1"/>
                          </a:solidFill>
                          <a:latin typeface="Courier New" panose="02070309020205020404" pitchFamily="49" charset="0"/>
                          <a:cs typeface="Courier New" panose="02070309020205020404" pitchFamily="49" charset="0"/>
                        </a:rPr>
                        <a:t> </a:t>
                      </a:r>
                      <a:r>
                        <a:rPr lang="en-US" sz="1800" dirty="0" err="1">
                          <a:solidFill>
                            <a:schemeClr val="tx1"/>
                          </a:solidFill>
                          <a:latin typeface="Courier New" panose="02070309020205020404" pitchFamily="49" charset="0"/>
                          <a:cs typeface="Courier New" panose="02070309020205020404" pitchFamily="49" charset="0"/>
                        </a:rPr>
                        <a:t>ssl</a:t>
                      </a:r>
                      <a:r>
                        <a:rPr lang="en-US" sz="1800" dirty="0">
                          <a:solidFill>
                            <a:schemeClr val="tx1"/>
                          </a:solidFill>
                          <a:latin typeface="Courier New" panose="02070309020205020404" pitchFamily="49" charset="0"/>
                          <a:cs typeface="Courier New" panose="02070309020205020404" pitchFamily="49" charset="0"/>
                        </a:rPr>
                        <a:t> &lt;…&gt;</a:t>
                      </a:r>
                      <a:endParaRPr lang="en-US" dirty="0">
                        <a:solidFill>
                          <a:schemeClr val="tx1"/>
                        </a:solidFill>
                      </a:endParaRPr>
                    </a:p>
                  </a:txBody>
                  <a:tcPr marL="89848" marR="89848">
                    <a:solidFill>
                      <a:schemeClr val="tx2">
                        <a:lumMod val="20000"/>
                        <a:lumOff val="80000"/>
                      </a:schemeClr>
                    </a:solidFill>
                  </a:tcPr>
                </a:tc>
                <a:tc gridSpan="2">
                  <a:txBody>
                    <a:bodyPr/>
                    <a:lstStyle/>
                    <a:p>
                      <a:endParaRPr lang="en-US" dirty="0"/>
                    </a:p>
                  </a:txBody>
                  <a:tcPr marL="89848" marR="89848">
                    <a:solidFill>
                      <a:schemeClr val="tx2">
                        <a:lumMod val="20000"/>
                        <a:lumOff val="80000"/>
                      </a:schemeClr>
                    </a:solidFill>
                  </a:tcPr>
                </a:tc>
                <a:tc hMerge="1">
                  <a:txBody>
                    <a:bodyPr/>
                    <a:lstStyle/>
                    <a:p>
                      <a:endParaRPr lang="en-US"/>
                    </a:p>
                  </a:txBody>
                  <a:tcPr/>
                </a:tc>
                <a:extLst>
                  <a:ext uri="{0D108BD9-81ED-4DB2-BD59-A6C34878D82A}">
                    <a16:rowId xmlns:a16="http://schemas.microsoft.com/office/drawing/2014/main" val="10000"/>
                  </a:ext>
                </a:extLst>
              </a:tr>
              <a:tr h="370719">
                <a:tc>
                  <a:txBody>
                    <a:bodyPr/>
                    <a:lstStyle/>
                    <a:p>
                      <a:pPr marL="548640" indent="0">
                        <a:buNone/>
                      </a:pPr>
                      <a:r>
                        <a:rPr lang="en-US" sz="1800" dirty="0">
                          <a:solidFill>
                            <a:schemeClr val="tx1"/>
                          </a:solidFill>
                          <a:latin typeface="Courier New" panose="02070309020205020404" pitchFamily="49" charset="0"/>
                          <a:cs typeface="Courier New" panose="02070309020205020404" pitchFamily="49" charset="0"/>
                        </a:rPr>
                        <a:t>list</a:t>
                      </a:r>
                      <a:endParaRPr lang="en-US" dirty="0">
                        <a:solidFill>
                          <a:schemeClr val="tx1"/>
                        </a:solidFill>
                      </a:endParaRPr>
                    </a:p>
                  </a:txBody>
                  <a:tcPr marL="89848" marR="89848">
                    <a:solidFill>
                      <a:schemeClr val="tx2">
                        <a:lumMod val="20000"/>
                        <a:lumOff val="80000"/>
                      </a:schemeClr>
                    </a:solidFill>
                  </a:tcPr>
                </a:tc>
                <a:tc gridSpan="2">
                  <a:txBody>
                    <a:bodyPr/>
                    <a:lstStyle/>
                    <a:p>
                      <a:pPr marL="231775" marR="0" lvl="2" indent="0" algn="l" defTabSz="914240" rtl="0" eaLnBrk="1" fontAlgn="auto" latinLnBrk="0" hangingPunct="1">
                        <a:lnSpc>
                          <a:spcPct val="100000"/>
                        </a:lnSpc>
                        <a:spcBef>
                          <a:spcPts val="0"/>
                        </a:spcBef>
                        <a:spcAft>
                          <a:spcPts val="0"/>
                        </a:spcAft>
                        <a:buClrTx/>
                        <a:buSzTx/>
                        <a:buFontTx/>
                        <a:buNone/>
                        <a:tabLst/>
                        <a:defRPr/>
                      </a:pPr>
                      <a:r>
                        <a:rPr lang="en-US" sz="1800" dirty="0"/>
                        <a:t>Show current connections</a:t>
                      </a:r>
                    </a:p>
                  </a:txBody>
                  <a:tcPr marL="89848" marR="89848">
                    <a:solidFill>
                      <a:schemeClr val="tx2">
                        <a:lumMod val="20000"/>
                        <a:lumOff val="80000"/>
                      </a:schemeClr>
                    </a:solidFill>
                  </a:tcPr>
                </a:tc>
                <a:tc hMerge="1">
                  <a:txBody>
                    <a:bodyPr/>
                    <a:lstStyle/>
                    <a:p>
                      <a:endParaRPr lang="en-US"/>
                    </a:p>
                  </a:txBody>
                  <a:tcPr/>
                </a:tc>
                <a:extLst>
                  <a:ext uri="{0D108BD9-81ED-4DB2-BD59-A6C34878D82A}">
                    <a16:rowId xmlns:a16="http://schemas.microsoft.com/office/drawing/2014/main" val="10001"/>
                  </a:ext>
                </a:extLst>
              </a:tr>
              <a:tr h="370719">
                <a:tc>
                  <a:txBody>
                    <a:bodyPr/>
                    <a:lstStyle/>
                    <a:p>
                      <a:pPr marL="548640" indent="0">
                        <a:buNone/>
                      </a:pPr>
                      <a:r>
                        <a:rPr lang="en-US" sz="1800" dirty="0">
                          <a:solidFill>
                            <a:schemeClr val="tx1"/>
                          </a:solidFill>
                          <a:latin typeface="Courier New" panose="02070309020205020404" pitchFamily="49" charset="0"/>
                          <a:cs typeface="Courier New" panose="02070309020205020404" pitchFamily="49" charset="0"/>
                        </a:rPr>
                        <a:t>info</a:t>
                      </a:r>
                    </a:p>
                  </a:txBody>
                  <a:tcPr marL="89848" marR="89848">
                    <a:solidFill>
                      <a:schemeClr val="tx2">
                        <a:lumMod val="20000"/>
                        <a:lumOff val="80000"/>
                      </a:schemeClr>
                    </a:solidFill>
                  </a:tcPr>
                </a:tc>
                <a:tc gridSpan="2">
                  <a:txBody>
                    <a:bodyPr/>
                    <a:lstStyle/>
                    <a:p>
                      <a:pPr marL="231775" marR="0" lvl="2" indent="0" algn="l" defTabSz="91424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General </a:t>
                      </a:r>
                      <a:r>
                        <a:rPr lang="en-US" sz="1800" kern="1200" dirty="0" smtClean="0">
                          <a:solidFill>
                            <a:schemeClr val="tx1"/>
                          </a:solidFill>
                          <a:latin typeface="+mn-lt"/>
                          <a:ea typeface="+mn-ea"/>
                          <a:cs typeface="+mn-cs"/>
                        </a:rPr>
                        <a:t>SSL VPN </a:t>
                      </a:r>
                      <a:r>
                        <a:rPr lang="en-US" sz="1800" kern="1200" dirty="0">
                          <a:solidFill>
                            <a:schemeClr val="tx1"/>
                          </a:solidFill>
                          <a:latin typeface="+mn-lt"/>
                          <a:ea typeface="+mn-ea"/>
                          <a:cs typeface="+mn-cs"/>
                        </a:rPr>
                        <a:t>information</a:t>
                      </a:r>
                    </a:p>
                  </a:txBody>
                  <a:tcPr marL="89848" marR="89848">
                    <a:solidFill>
                      <a:schemeClr val="tx2">
                        <a:lumMod val="20000"/>
                        <a:lumOff val="80000"/>
                      </a:schemeClr>
                    </a:solidFill>
                  </a:tcPr>
                </a:tc>
                <a:tc hMerge="1">
                  <a:txBody>
                    <a:bodyPr/>
                    <a:lstStyle/>
                    <a:p>
                      <a:endParaRPr lang="en-US"/>
                    </a:p>
                  </a:txBody>
                  <a:tcPr/>
                </a:tc>
                <a:extLst>
                  <a:ext uri="{0D108BD9-81ED-4DB2-BD59-A6C34878D82A}">
                    <a16:rowId xmlns:a16="http://schemas.microsoft.com/office/drawing/2014/main" val="10002"/>
                  </a:ext>
                </a:extLst>
              </a:tr>
              <a:tr h="639871">
                <a:tc>
                  <a:txBody>
                    <a:bodyPr/>
                    <a:lstStyle/>
                    <a:p>
                      <a:pPr marL="548640" indent="0">
                        <a:buNone/>
                      </a:pPr>
                      <a:r>
                        <a:rPr lang="en-US" sz="1800" dirty="0">
                          <a:solidFill>
                            <a:schemeClr val="tx1"/>
                          </a:solidFill>
                          <a:latin typeface="Courier New" panose="02070309020205020404" pitchFamily="49" charset="0"/>
                          <a:cs typeface="Courier New" panose="02070309020205020404" pitchFamily="49" charset="0"/>
                        </a:rPr>
                        <a:t>statistics	</a:t>
                      </a:r>
                      <a:endParaRPr lang="en-US" dirty="0">
                        <a:solidFill>
                          <a:schemeClr val="tx1"/>
                        </a:solidFill>
                      </a:endParaRPr>
                    </a:p>
                  </a:txBody>
                  <a:tcPr marL="89848" marR="89848">
                    <a:solidFill>
                      <a:schemeClr val="tx2">
                        <a:lumMod val="20000"/>
                        <a:lumOff val="80000"/>
                      </a:schemeClr>
                    </a:solidFill>
                  </a:tcPr>
                </a:tc>
                <a:tc gridSpan="2">
                  <a:txBody>
                    <a:bodyPr/>
                    <a:lstStyle/>
                    <a:p>
                      <a:pPr marL="231775" marR="0" lvl="2" indent="0" algn="l" defTabSz="91424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Show statistics</a:t>
                      </a:r>
                      <a:r>
                        <a:rPr lang="en-US" sz="1800" kern="1200" baseline="0" dirty="0">
                          <a:solidFill>
                            <a:schemeClr val="tx1"/>
                          </a:solidFill>
                          <a:latin typeface="+mn-lt"/>
                          <a:ea typeface="+mn-ea"/>
                          <a:cs typeface="+mn-cs"/>
                        </a:rPr>
                        <a:t> about memory usage on FortiGate, maximum and current connections</a:t>
                      </a:r>
                      <a:endParaRPr lang="en-US" sz="1800" kern="1200" dirty="0">
                        <a:solidFill>
                          <a:schemeClr val="tx1"/>
                        </a:solidFill>
                        <a:latin typeface="+mn-lt"/>
                        <a:ea typeface="+mn-ea"/>
                        <a:cs typeface="+mn-cs"/>
                      </a:endParaRPr>
                    </a:p>
                  </a:txBody>
                  <a:tcPr marL="89848" marR="89848">
                    <a:solidFill>
                      <a:schemeClr val="tx2">
                        <a:lumMod val="20000"/>
                        <a:lumOff val="80000"/>
                      </a:schemeClr>
                    </a:solidFill>
                  </a:tcPr>
                </a:tc>
                <a:tc hMerge="1">
                  <a:txBody>
                    <a:bodyPr/>
                    <a:lstStyle/>
                    <a:p>
                      <a:endParaRPr lang="en-US"/>
                    </a:p>
                  </a:txBody>
                  <a:tcPr/>
                </a:tc>
                <a:extLst>
                  <a:ext uri="{0D108BD9-81ED-4DB2-BD59-A6C34878D82A}">
                    <a16:rowId xmlns:a16="http://schemas.microsoft.com/office/drawing/2014/main" val="10003"/>
                  </a:ext>
                </a:extLst>
              </a:tr>
              <a:tr h="370719">
                <a:tc>
                  <a:txBody>
                    <a:bodyPr/>
                    <a:lstStyle/>
                    <a:p>
                      <a:pPr marL="548640" marR="0" indent="0" algn="l" defTabSz="914240" rtl="0" eaLnBrk="1" fontAlgn="auto" latinLnBrk="0" hangingPunct="1">
                        <a:lnSpc>
                          <a:spcPct val="100000"/>
                        </a:lnSpc>
                        <a:spcBef>
                          <a:spcPts val="0"/>
                        </a:spcBef>
                        <a:spcAft>
                          <a:spcPts val="0"/>
                        </a:spcAft>
                        <a:buClrTx/>
                        <a:buSzTx/>
                        <a:buFontTx/>
                        <a:buNone/>
                        <a:tabLst/>
                        <a:defRPr/>
                      </a:pPr>
                      <a:r>
                        <a:rPr lang="en-US" sz="1800" dirty="0">
                          <a:solidFill>
                            <a:schemeClr val="tx1"/>
                          </a:solidFill>
                          <a:latin typeface="Courier New" panose="02070309020205020404" pitchFamily="49" charset="0"/>
                          <a:cs typeface="Courier New" panose="02070309020205020404" pitchFamily="49" charset="0"/>
                        </a:rPr>
                        <a:t>debug-filter</a:t>
                      </a:r>
                    </a:p>
                  </a:txBody>
                  <a:tcPr marL="89848" marR="89848">
                    <a:solidFill>
                      <a:schemeClr val="tx2">
                        <a:lumMod val="20000"/>
                        <a:lumOff val="80000"/>
                      </a:schemeClr>
                    </a:solidFill>
                  </a:tcPr>
                </a:tc>
                <a:tc gridSpan="2">
                  <a:txBody>
                    <a:bodyPr/>
                    <a:lstStyle/>
                    <a:p>
                      <a:pPr marL="231775" marR="0" lvl="2" indent="0" algn="l" defTabSz="914240" rtl="0" eaLnBrk="1" fontAlgn="auto" latinLnBrk="0" hangingPunct="1">
                        <a:lnSpc>
                          <a:spcPct val="100000"/>
                        </a:lnSpc>
                        <a:spcBef>
                          <a:spcPts val="0"/>
                        </a:spcBef>
                        <a:spcAft>
                          <a:spcPts val="0"/>
                        </a:spcAft>
                        <a:buClrTx/>
                        <a:buSzTx/>
                        <a:buFontTx/>
                        <a:buNone/>
                        <a:tabLst/>
                        <a:defRPr/>
                      </a:pPr>
                      <a:r>
                        <a:rPr lang="en-US" sz="1800" kern="1200" dirty="0">
                          <a:solidFill>
                            <a:schemeClr val="tx1"/>
                          </a:solidFill>
                          <a:latin typeface="+mn-lt"/>
                          <a:ea typeface="+mn-ea"/>
                          <a:cs typeface="+mn-cs"/>
                        </a:rPr>
                        <a:t>Debug message filter for </a:t>
                      </a:r>
                      <a:r>
                        <a:rPr lang="en-US" sz="1800" kern="1200" dirty="0" smtClean="0">
                          <a:solidFill>
                            <a:schemeClr val="tx1"/>
                          </a:solidFill>
                          <a:latin typeface="+mn-lt"/>
                          <a:ea typeface="+mn-ea"/>
                          <a:cs typeface="+mn-cs"/>
                        </a:rPr>
                        <a:t>SSL VPN</a:t>
                      </a:r>
                      <a:endParaRPr lang="en-US" sz="1800" kern="1200" dirty="0">
                        <a:solidFill>
                          <a:schemeClr val="tx1"/>
                        </a:solidFill>
                        <a:latin typeface="+mn-lt"/>
                        <a:ea typeface="+mn-ea"/>
                        <a:cs typeface="+mn-cs"/>
                      </a:endParaRPr>
                    </a:p>
                  </a:txBody>
                  <a:tcPr marL="89848" marR="89848">
                    <a:solidFill>
                      <a:schemeClr val="tx2">
                        <a:lumMod val="20000"/>
                        <a:lumOff val="80000"/>
                      </a:schemeClr>
                    </a:solidFill>
                  </a:tcPr>
                </a:tc>
                <a:tc hMerge="1">
                  <a:txBody>
                    <a:bodyPr/>
                    <a:lstStyle/>
                    <a:p>
                      <a:endParaRPr lang="en-US"/>
                    </a:p>
                  </a:txBody>
                  <a:tcPr/>
                </a:tc>
                <a:extLst>
                  <a:ext uri="{0D108BD9-81ED-4DB2-BD59-A6C34878D82A}">
                    <a16:rowId xmlns:a16="http://schemas.microsoft.com/office/drawing/2014/main" val="10004"/>
                  </a:ext>
                </a:extLst>
              </a:tr>
              <a:tr h="914102">
                <a:tc>
                  <a:txBody>
                    <a:bodyPr/>
                    <a:lstStyle/>
                    <a:p>
                      <a:pPr marL="548640" indent="0">
                        <a:buNone/>
                      </a:pPr>
                      <a:r>
                        <a:rPr lang="en-US" sz="1800" dirty="0" err="1" smtClean="0">
                          <a:solidFill>
                            <a:schemeClr val="tx1"/>
                          </a:solidFill>
                          <a:latin typeface="Courier New" panose="02070309020205020404" pitchFamily="49" charset="0"/>
                          <a:cs typeface="Courier New" panose="02070309020205020404" pitchFamily="49" charset="0"/>
                        </a:rPr>
                        <a:t>hw</a:t>
                      </a:r>
                      <a:r>
                        <a:rPr lang="en-US" sz="1800" dirty="0" smtClean="0">
                          <a:solidFill>
                            <a:schemeClr val="tx1"/>
                          </a:solidFill>
                          <a:latin typeface="Courier New" panose="02070309020205020404" pitchFamily="49" charset="0"/>
                          <a:cs typeface="Courier New" panose="02070309020205020404" pitchFamily="49" charset="0"/>
                        </a:rPr>
                        <a:t>-acceleration-status</a:t>
                      </a:r>
                    </a:p>
                    <a:p>
                      <a:pPr marL="548640" indent="0">
                        <a:buNone/>
                      </a:pPr>
                      <a:r>
                        <a:rPr lang="en-US" sz="1800" dirty="0" smtClean="0">
                          <a:solidFill>
                            <a:schemeClr val="tx1"/>
                          </a:solidFill>
                          <a:latin typeface="Courier New" panose="02070309020205020404" pitchFamily="49" charset="0"/>
                          <a:cs typeface="Courier New" panose="02070309020205020404" pitchFamily="49" charset="0"/>
                        </a:rPr>
                        <a:t>tunnel-test</a:t>
                      </a:r>
                    </a:p>
                    <a:p>
                      <a:pPr marL="548640" indent="0">
                        <a:buNone/>
                      </a:pPr>
                      <a:r>
                        <a:rPr lang="en-US" sz="1800" dirty="0" smtClean="0">
                          <a:solidFill>
                            <a:schemeClr val="tx1"/>
                          </a:solidFill>
                          <a:latin typeface="Courier New" panose="02070309020205020404" pitchFamily="49" charset="0"/>
                          <a:cs typeface="Courier New" panose="02070309020205020404" pitchFamily="49" charset="0"/>
                        </a:rPr>
                        <a:t>web-mode-test</a:t>
                      </a:r>
                      <a:endParaRPr lang="en-US" sz="1800" dirty="0">
                        <a:solidFill>
                          <a:schemeClr val="tx1"/>
                        </a:solidFill>
                        <a:latin typeface="Courier New" panose="02070309020205020404" pitchFamily="49" charset="0"/>
                        <a:cs typeface="Courier New" panose="02070309020205020404" pitchFamily="49" charset="0"/>
                      </a:endParaRPr>
                    </a:p>
                  </a:txBody>
                  <a:tcPr marL="89848" marR="89848">
                    <a:solidFill>
                      <a:schemeClr val="tx2">
                        <a:lumMod val="20000"/>
                        <a:lumOff val="80000"/>
                      </a:schemeClr>
                    </a:solidFill>
                  </a:tcPr>
                </a:tc>
                <a:tc gridSpan="2">
                  <a:txBody>
                    <a:bodyPr/>
                    <a:lstStyle/>
                    <a:p>
                      <a:pPr marL="231775" marR="0" lvl="2" indent="0" algn="l" defTabSz="91424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latin typeface="+mn-lt"/>
                          <a:ea typeface="+mn-ea"/>
                          <a:cs typeface="+mn-cs"/>
                        </a:rPr>
                        <a:t>Display </a:t>
                      </a:r>
                      <a:r>
                        <a:rPr lang="en-US" sz="1800" kern="1200" dirty="0">
                          <a:solidFill>
                            <a:schemeClr val="tx1"/>
                          </a:solidFill>
                          <a:latin typeface="+mn-lt"/>
                          <a:ea typeface="+mn-ea"/>
                          <a:cs typeface="+mn-cs"/>
                        </a:rPr>
                        <a:t>the status of SSL hardware </a:t>
                      </a:r>
                      <a:r>
                        <a:rPr lang="en-US" sz="1800" kern="1200" dirty="0" smtClean="0">
                          <a:solidFill>
                            <a:schemeClr val="tx1"/>
                          </a:solidFill>
                          <a:latin typeface="+mn-lt"/>
                          <a:ea typeface="+mn-ea"/>
                          <a:cs typeface="+mn-cs"/>
                        </a:rPr>
                        <a:t>acceleration</a:t>
                      </a:r>
                    </a:p>
                    <a:p>
                      <a:pPr marL="231775" marR="0" lvl="2" indent="0" algn="l" defTabSz="914240" rtl="0" eaLnBrk="1" fontAlgn="auto" latinLnBrk="0" hangingPunct="1">
                        <a:lnSpc>
                          <a:spcPct val="100000"/>
                        </a:lnSpc>
                        <a:spcBef>
                          <a:spcPts val="0"/>
                        </a:spcBef>
                        <a:spcAft>
                          <a:spcPts val="0"/>
                        </a:spcAft>
                        <a:buClrTx/>
                        <a:buSzTx/>
                        <a:buFontTx/>
                        <a:buNone/>
                        <a:tabLst/>
                        <a:defRPr/>
                      </a:pPr>
                      <a:r>
                        <a:rPr lang="en-GB" sz="1800" kern="1200" dirty="0" smtClean="0">
                          <a:solidFill>
                            <a:schemeClr val="tx1"/>
                          </a:solidFill>
                          <a:latin typeface="+mn-lt"/>
                          <a:ea typeface="+mn-ea"/>
                          <a:cs typeface="+mn-cs"/>
                        </a:rPr>
                        <a:t>Enable/disable SSL VPN old tunnel mode IP allocation method</a:t>
                      </a:r>
                      <a:endParaRPr lang="en-US" sz="1800" kern="1200" dirty="0" smtClean="0">
                        <a:solidFill>
                          <a:schemeClr val="tx1"/>
                        </a:solidFill>
                        <a:latin typeface="+mn-lt"/>
                        <a:ea typeface="+mn-ea"/>
                        <a:cs typeface="+mn-cs"/>
                      </a:endParaRPr>
                    </a:p>
                    <a:p>
                      <a:pPr marL="231775" marR="0" lvl="2" indent="0" algn="l" defTabSz="914240" rtl="0" eaLnBrk="1" fontAlgn="auto" latinLnBrk="0" hangingPunct="1">
                        <a:lnSpc>
                          <a:spcPct val="100000"/>
                        </a:lnSpc>
                        <a:spcBef>
                          <a:spcPts val="0"/>
                        </a:spcBef>
                        <a:spcAft>
                          <a:spcPts val="0"/>
                        </a:spcAft>
                        <a:buClrTx/>
                        <a:buSzTx/>
                        <a:buFontTx/>
                        <a:buNone/>
                        <a:tabLst/>
                        <a:defRPr/>
                      </a:pPr>
                      <a:r>
                        <a:rPr lang="en-GB" sz="1800" kern="1200" dirty="0" smtClean="0">
                          <a:solidFill>
                            <a:schemeClr val="tx1"/>
                          </a:solidFill>
                          <a:latin typeface="+mn-lt"/>
                          <a:ea typeface="+mn-ea"/>
                          <a:cs typeface="+mn-cs"/>
                        </a:rPr>
                        <a:t>Enable/disable random session ID in proxy URL for testing</a:t>
                      </a:r>
                      <a:endParaRPr lang="en-US" sz="1800" kern="1200" dirty="0">
                        <a:solidFill>
                          <a:schemeClr val="tx1"/>
                        </a:solidFill>
                        <a:latin typeface="+mn-lt"/>
                        <a:ea typeface="+mn-ea"/>
                        <a:cs typeface="+mn-cs"/>
                      </a:endParaRPr>
                    </a:p>
                  </a:txBody>
                  <a:tcPr marL="89848" marR="89848">
                    <a:solidFill>
                      <a:schemeClr val="tx2">
                        <a:lumMod val="20000"/>
                        <a:lumOff val="80000"/>
                      </a:schemeClr>
                    </a:solidFill>
                  </a:tcPr>
                </a:tc>
                <a:tc hMerge="1">
                  <a:txBody>
                    <a:bodyPr/>
                    <a:lstStyle/>
                    <a:p>
                      <a:endParaRPr lang="en-US"/>
                    </a:p>
                  </a:txBody>
                  <a:tcPr/>
                </a:tc>
                <a:extLst>
                  <a:ext uri="{0D108BD9-81ED-4DB2-BD59-A6C34878D82A}">
                    <a16:rowId xmlns:a16="http://schemas.microsoft.com/office/drawing/2014/main" val="10005"/>
                  </a:ext>
                </a:extLst>
              </a:tr>
              <a:tr h="370719">
                <a:tc>
                  <a:txBody>
                    <a:bodyPr/>
                    <a:lstStyle/>
                    <a:p>
                      <a:endParaRPr lang="en-US" dirty="0">
                        <a:solidFill>
                          <a:schemeClr val="tx1"/>
                        </a:solidFill>
                      </a:endParaRPr>
                    </a:p>
                  </a:txBody>
                  <a:tcPr marL="89848" marR="89848">
                    <a:solidFill>
                      <a:schemeClr val="tx2">
                        <a:lumMod val="20000"/>
                        <a:lumOff val="80000"/>
                      </a:schemeClr>
                    </a:solidFill>
                  </a:tcPr>
                </a:tc>
                <a:tc gridSpan="2">
                  <a:txBody>
                    <a:bodyPr/>
                    <a:lstStyle/>
                    <a:p>
                      <a:pPr marL="231775" marR="0" lvl="2" indent="0" algn="l" defTabSz="914240" rtl="0" eaLnBrk="1" fontAlgn="auto" latinLnBrk="0" hangingPunct="1">
                        <a:lnSpc>
                          <a:spcPct val="100000"/>
                        </a:lnSpc>
                        <a:spcBef>
                          <a:spcPts val="0"/>
                        </a:spcBef>
                        <a:spcAft>
                          <a:spcPts val="0"/>
                        </a:spcAft>
                        <a:buClrTx/>
                        <a:buSzTx/>
                        <a:buFontTx/>
                        <a:buNone/>
                        <a:tabLst/>
                        <a:defRPr/>
                      </a:pPr>
                      <a:endParaRPr lang="en-US" sz="1800" kern="1200" dirty="0">
                        <a:solidFill>
                          <a:schemeClr val="tx1"/>
                        </a:solidFill>
                        <a:latin typeface="+mn-lt"/>
                        <a:ea typeface="+mn-ea"/>
                        <a:cs typeface="+mn-cs"/>
                      </a:endParaRPr>
                    </a:p>
                  </a:txBody>
                  <a:tcPr marL="89848" marR="89848">
                    <a:solidFill>
                      <a:schemeClr val="tx2">
                        <a:lumMod val="20000"/>
                        <a:lumOff val="80000"/>
                      </a:schemeClr>
                    </a:solidFill>
                  </a:tcPr>
                </a:tc>
                <a:tc hMerge="1">
                  <a:txBody>
                    <a:bodyPr/>
                    <a:lstStyle/>
                    <a:p>
                      <a:endParaRPr lang="en-US"/>
                    </a:p>
                  </a:txBody>
                  <a:tcPr/>
                </a:tc>
                <a:extLst>
                  <a:ext uri="{0D108BD9-81ED-4DB2-BD59-A6C34878D82A}">
                    <a16:rowId xmlns:a16="http://schemas.microsoft.com/office/drawing/2014/main" val="10006"/>
                  </a:ext>
                </a:extLst>
              </a:tr>
              <a:tr h="370719">
                <a:tc gridSpan="2">
                  <a:txBody>
                    <a:bodyPr/>
                    <a:lstStyle/>
                    <a:p>
                      <a:pPr marL="0" algn="l" defTabSz="914240" rtl="0" eaLnBrk="1" latinLnBrk="0" hangingPunct="1"/>
                      <a:r>
                        <a:rPr lang="en-GB" sz="1800" kern="1200" dirty="0" smtClean="0">
                          <a:solidFill>
                            <a:schemeClr val="tx1"/>
                          </a:solidFill>
                          <a:latin typeface="Courier New" panose="02070309020205020404" pitchFamily="49" charset="0"/>
                          <a:ea typeface="+mn-ea"/>
                          <a:cs typeface="Courier New" panose="02070309020205020404" pitchFamily="49" charset="0"/>
                        </a:rPr>
                        <a:t>#</a:t>
                      </a:r>
                      <a:r>
                        <a:rPr lang="en-GB" sz="1800" kern="1200" baseline="0" dirty="0" smtClean="0">
                          <a:solidFill>
                            <a:schemeClr val="tx1"/>
                          </a:solidFill>
                          <a:latin typeface="Courier New" panose="02070309020205020404" pitchFamily="49" charset="0"/>
                          <a:ea typeface="+mn-ea"/>
                          <a:cs typeface="Courier New" panose="02070309020205020404" pitchFamily="49" charset="0"/>
                        </a:rPr>
                        <a:t> </a:t>
                      </a:r>
                      <a:r>
                        <a:rPr lang="en-US" sz="1800" kern="1200" dirty="0" smtClean="0">
                          <a:solidFill>
                            <a:schemeClr val="tx1"/>
                          </a:solidFill>
                          <a:latin typeface="Courier New" panose="02070309020205020404" pitchFamily="49" charset="0"/>
                          <a:ea typeface="+mn-ea"/>
                          <a:cs typeface="Courier New" panose="02070309020205020404" pitchFamily="49" charset="0"/>
                        </a:rPr>
                        <a:t>diagnose </a:t>
                      </a:r>
                      <a:r>
                        <a:rPr lang="en-US" sz="1800" kern="1200" dirty="0">
                          <a:solidFill>
                            <a:schemeClr val="tx1"/>
                          </a:solidFill>
                          <a:latin typeface="Courier New" panose="02070309020205020404" pitchFamily="49" charset="0"/>
                          <a:ea typeface="+mn-ea"/>
                          <a:cs typeface="Courier New" panose="02070309020205020404" pitchFamily="49" charset="0"/>
                        </a:rPr>
                        <a:t>debug application </a:t>
                      </a:r>
                      <a:r>
                        <a:rPr lang="en-US" sz="1800" kern="1200" dirty="0" err="1" smtClean="0">
                          <a:solidFill>
                            <a:schemeClr val="tx1"/>
                          </a:solidFill>
                          <a:latin typeface="Courier New" panose="02070309020205020404" pitchFamily="49" charset="0"/>
                          <a:ea typeface="+mn-ea"/>
                          <a:cs typeface="Courier New" panose="02070309020205020404" pitchFamily="49" charset="0"/>
                        </a:rPr>
                        <a:t>sslvpn</a:t>
                      </a:r>
                      <a:r>
                        <a:rPr lang="en-US" sz="1800" kern="1200" baseline="0" dirty="0">
                          <a:solidFill>
                            <a:schemeClr val="tx1"/>
                          </a:solidFill>
                          <a:latin typeface="Courier New" panose="02070309020205020404" pitchFamily="49" charset="0"/>
                          <a:ea typeface="+mn-ea"/>
                          <a:cs typeface="Courier New" panose="02070309020205020404" pitchFamily="49" charset="0"/>
                        </a:rPr>
                        <a:t> </a:t>
                      </a:r>
                      <a:r>
                        <a:rPr lang="en-US" sz="1800" kern="1200" baseline="0" dirty="0" smtClean="0">
                          <a:solidFill>
                            <a:schemeClr val="tx1"/>
                          </a:solidFill>
                          <a:latin typeface="Courier New" panose="02070309020205020404" pitchFamily="49" charset="0"/>
                          <a:ea typeface="+mn-ea"/>
                          <a:cs typeface="Courier New" panose="02070309020205020404" pitchFamily="49" charset="0"/>
                        </a:rPr>
                        <a:t>-</a:t>
                      </a:r>
                      <a:r>
                        <a:rPr lang="en-US" sz="1800" kern="1200" dirty="0" smtClean="0">
                          <a:solidFill>
                            <a:schemeClr val="tx1"/>
                          </a:solidFill>
                          <a:latin typeface="Courier New" panose="02070309020205020404" pitchFamily="49" charset="0"/>
                          <a:ea typeface="+mn-ea"/>
                          <a:cs typeface="Courier New" panose="02070309020205020404" pitchFamily="49" charset="0"/>
                        </a:rPr>
                        <a:t>1</a:t>
                      </a:r>
                      <a:endParaRPr lang="en-US" sz="1800" kern="1200" dirty="0">
                        <a:solidFill>
                          <a:schemeClr val="tx1"/>
                        </a:solidFill>
                        <a:latin typeface="Courier New" panose="02070309020205020404" pitchFamily="49" charset="0"/>
                        <a:ea typeface="+mn-ea"/>
                        <a:cs typeface="Courier New" panose="02070309020205020404" pitchFamily="49" charset="0"/>
                      </a:endParaRPr>
                    </a:p>
                  </a:txBody>
                  <a:tcPr marL="89848" marR="89848">
                    <a:solidFill>
                      <a:schemeClr val="tx2">
                        <a:lumMod val="20000"/>
                        <a:lumOff val="80000"/>
                      </a:schemeClr>
                    </a:solidFill>
                  </a:tcPr>
                </a:tc>
                <a:tc hMerge="1">
                  <a:txBody>
                    <a:bodyPr/>
                    <a:lstStyle/>
                    <a:p>
                      <a:endParaRPr lang="en-US" dirty="0"/>
                    </a:p>
                  </a:txBody>
                  <a:tcPr/>
                </a:tc>
                <a:tc rowSpan="2">
                  <a:txBody>
                    <a:bodyPr/>
                    <a:lstStyle/>
                    <a:p>
                      <a:pPr marL="173038" indent="0"/>
                      <a:r>
                        <a:rPr lang="en-US" sz="1800" b="0" i="0" kern="1200" dirty="0">
                          <a:solidFill>
                            <a:schemeClr val="tx1"/>
                          </a:solidFill>
                          <a:effectLst/>
                          <a:latin typeface="+mn-lt"/>
                          <a:ea typeface="+mn-ea"/>
                          <a:cs typeface="+mn-cs"/>
                        </a:rPr>
                        <a:t>Display debug messages for </a:t>
                      </a:r>
                      <a:r>
                        <a:rPr lang="en-US" sz="1800" b="0" i="0" kern="1200" dirty="0" smtClean="0">
                          <a:solidFill>
                            <a:schemeClr val="tx1"/>
                          </a:solidFill>
                          <a:effectLst/>
                          <a:latin typeface="+mn-lt"/>
                          <a:ea typeface="+mn-ea"/>
                          <a:cs typeface="+mn-cs"/>
                        </a:rPr>
                        <a:t>SSL VPN; </a:t>
                      </a:r>
                      <a:r>
                        <a:rPr lang="en-US" sz="1800" b="0" i="0" kern="1200" dirty="0">
                          <a:solidFill>
                            <a:schemeClr val="tx1"/>
                          </a:solidFill>
                          <a:effectLst/>
                          <a:latin typeface="+mn-lt"/>
                          <a:ea typeface="+mn-ea"/>
                          <a:cs typeface="+mn-cs"/>
                        </a:rPr>
                        <a:t>-1 debug level produces detailed results</a:t>
                      </a:r>
                      <a:endParaRPr lang="en-US" b="1" dirty="0"/>
                    </a:p>
                  </a:txBody>
                  <a:tcPr marL="89848" marR="89848">
                    <a:solidFill>
                      <a:schemeClr val="tx2">
                        <a:lumMod val="20000"/>
                        <a:lumOff val="80000"/>
                      </a:schemeClr>
                    </a:solidFill>
                  </a:tcPr>
                </a:tc>
                <a:extLst>
                  <a:ext uri="{0D108BD9-81ED-4DB2-BD59-A6C34878D82A}">
                    <a16:rowId xmlns:a16="http://schemas.microsoft.com/office/drawing/2014/main" val="10009"/>
                  </a:ext>
                </a:extLst>
              </a:tr>
              <a:tr h="370719">
                <a:tc gridSpan="2">
                  <a:txBody>
                    <a:bodyPr/>
                    <a:lstStyle/>
                    <a:p>
                      <a:pPr marL="0" algn="l" defTabSz="914240" rtl="0" eaLnBrk="1" latinLnBrk="0" hangingPunct="1"/>
                      <a:r>
                        <a:rPr lang="en-US" sz="1800" kern="1200" dirty="0">
                          <a:solidFill>
                            <a:schemeClr val="tx1"/>
                          </a:solidFill>
                          <a:latin typeface="Courier New" panose="02070309020205020404" pitchFamily="49" charset="0"/>
                          <a:ea typeface="+mn-ea"/>
                          <a:cs typeface="Courier New" panose="02070309020205020404" pitchFamily="49" charset="0"/>
                        </a:rPr>
                        <a:t># diagnose debug </a:t>
                      </a:r>
                      <a:r>
                        <a:rPr lang="en-US" sz="1800" kern="1200" dirty="0" smtClean="0">
                          <a:solidFill>
                            <a:schemeClr val="tx1"/>
                          </a:solidFill>
                          <a:latin typeface="Courier New" panose="02070309020205020404" pitchFamily="49" charset="0"/>
                          <a:ea typeface="+mn-ea"/>
                          <a:cs typeface="Courier New" panose="02070309020205020404" pitchFamily="49" charset="0"/>
                        </a:rPr>
                        <a:t>enable</a:t>
                      </a:r>
                    </a:p>
                    <a:p>
                      <a:pPr marL="0" algn="l" defTabSz="914240" rtl="0" eaLnBrk="1" latinLnBrk="0" hangingPunct="1"/>
                      <a:endParaRPr lang="en-GB" sz="1800" kern="1200" dirty="0" smtClean="0">
                        <a:solidFill>
                          <a:schemeClr val="tx1"/>
                        </a:solidFill>
                        <a:latin typeface="Courier New" panose="02070309020205020404" pitchFamily="49" charset="0"/>
                        <a:ea typeface="+mn-ea"/>
                        <a:cs typeface="Courier New" panose="02070309020205020404" pitchFamily="49" charset="0"/>
                      </a:endParaRPr>
                    </a:p>
                    <a:p>
                      <a:pPr marL="285750" marR="0" lvl="0" indent="-2857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800" kern="1200" dirty="0" smtClean="0">
                          <a:solidFill>
                            <a:schemeClr val="tx1"/>
                          </a:solidFill>
                          <a:latin typeface="Courier New" panose="02070309020205020404" pitchFamily="49" charset="0"/>
                          <a:ea typeface="+mn-ea"/>
                          <a:cs typeface="Courier New" panose="02070309020205020404" pitchFamily="49" charset="0"/>
                        </a:rPr>
                        <a:t>Check</a:t>
                      </a:r>
                      <a:r>
                        <a:rPr lang="en-GB" sz="1800" kern="1200" baseline="0" dirty="0" smtClean="0">
                          <a:solidFill>
                            <a:schemeClr val="tx1"/>
                          </a:solidFill>
                          <a:latin typeface="Courier New" panose="02070309020205020404" pitchFamily="49" charset="0"/>
                          <a:ea typeface="+mn-ea"/>
                          <a:cs typeface="Courier New" panose="02070309020205020404" pitchFamily="49" charset="0"/>
                        </a:rPr>
                        <a:t> debug logs on the FortiClient</a:t>
                      </a:r>
                      <a:endParaRPr lang="en-US" sz="1800" kern="1200" dirty="0" smtClean="0">
                        <a:solidFill>
                          <a:schemeClr val="tx1"/>
                        </a:solidFill>
                        <a:latin typeface="Courier New" panose="02070309020205020404" pitchFamily="49" charset="0"/>
                        <a:ea typeface="+mn-ea"/>
                        <a:cs typeface="Courier New" panose="02070309020205020404" pitchFamily="49" charset="0"/>
                      </a:endParaRPr>
                    </a:p>
                    <a:p>
                      <a:pPr marL="0" algn="l" defTabSz="914240" rtl="0" eaLnBrk="1" latinLnBrk="0" hangingPunct="1"/>
                      <a:endParaRPr lang="en-GB" sz="1800" kern="1200" dirty="0" smtClean="0">
                        <a:solidFill>
                          <a:schemeClr val="tx1"/>
                        </a:solidFill>
                        <a:latin typeface="Courier New" panose="02070309020205020404" pitchFamily="49" charset="0"/>
                        <a:ea typeface="+mn-ea"/>
                        <a:cs typeface="Courier New" panose="02070309020205020404" pitchFamily="49" charset="0"/>
                      </a:endParaRPr>
                    </a:p>
                  </a:txBody>
                  <a:tcPr marL="89848" marR="89848">
                    <a:solidFill>
                      <a:schemeClr val="tx2">
                        <a:lumMod val="20000"/>
                        <a:lumOff val="80000"/>
                      </a:schemeClr>
                    </a:solidFill>
                  </a:tcPr>
                </a:tc>
                <a:tc hMerge="1">
                  <a:txBody>
                    <a:bodyPr/>
                    <a:lstStyle/>
                    <a:p>
                      <a:endParaRPr lang="en-US"/>
                    </a:p>
                  </a:txBody>
                  <a:tcPr/>
                </a:tc>
                <a:tc vMerge="1">
                  <a:txBody>
                    <a:bodyPr/>
                    <a:lstStyle/>
                    <a:p>
                      <a:endParaRPr lang="en-US" dirty="0"/>
                    </a:p>
                  </a:txBody>
                  <a:tcPr/>
                </a:tc>
                <a:extLst>
                  <a:ext uri="{0D108BD9-81ED-4DB2-BD59-A6C34878D82A}">
                    <a16:rowId xmlns:a16="http://schemas.microsoft.com/office/drawing/2014/main" val="10010"/>
                  </a:ext>
                </a:extLst>
              </a:tr>
            </a:tbl>
          </a:graphicData>
        </a:graphic>
      </p:graphicFrame>
      <p:cxnSp>
        <p:nvCxnSpPr>
          <p:cNvPr id="7" name="Straight Arrow Connector 6"/>
          <p:cNvCxnSpPr/>
          <p:nvPr/>
        </p:nvCxnSpPr>
        <p:spPr>
          <a:xfrm>
            <a:off x="1759995" y="1829667"/>
            <a:ext cx="2500131" cy="0"/>
          </a:xfrm>
          <a:prstGeom prst="straightConnector1">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1763508" y="2200867"/>
            <a:ext cx="2500131" cy="0"/>
          </a:xfrm>
          <a:prstGeom prst="straightConnector1">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0" name="Straight Arrow Connector 9"/>
          <p:cNvCxnSpPr/>
          <p:nvPr/>
        </p:nvCxnSpPr>
        <p:spPr>
          <a:xfrm>
            <a:off x="2388368" y="2548917"/>
            <a:ext cx="1878385" cy="0"/>
          </a:xfrm>
          <a:prstGeom prst="straightConnector1">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Straight Arrow Connector 10"/>
          <p:cNvCxnSpPr/>
          <p:nvPr/>
        </p:nvCxnSpPr>
        <p:spPr>
          <a:xfrm flipV="1">
            <a:off x="4025900" y="3570264"/>
            <a:ext cx="267792" cy="1650"/>
          </a:xfrm>
          <a:prstGeom prst="straightConnector1">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p:nvPr/>
        </p:nvCxnSpPr>
        <p:spPr>
          <a:xfrm flipV="1">
            <a:off x="2620813" y="3209514"/>
            <a:ext cx="1655526" cy="1936"/>
          </a:xfrm>
          <a:prstGeom prst="straightConnector1">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ight Brace 15"/>
          <p:cNvSpPr/>
          <p:nvPr/>
        </p:nvSpPr>
        <p:spPr>
          <a:xfrm>
            <a:off x="5711289" y="4660060"/>
            <a:ext cx="109728" cy="749808"/>
          </a:xfrm>
          <a:prstGeom prst="rightBrace">
            <a:avLst/>
          </a:prstGeom>
          <a:ln w="38100">
            <a:solidFill>
              <a:srgbClr val="FF0000"/>
            </a:solid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2" name="Straight Arrow Connector 11"/>
          <p:cNvCxnSpPr/>
          <p:nvPr/>
        </p:nvCxnSpPr>
        <p:spPr>
          <a:xfrm flipV="1">
            <a:off x="2501900" y="3832444"/>
            <a:ext cx="1790253" cy="7469"/>
          </a:xfrm>
          <a:prstGeom prst="straightConnector1">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p:nvPr/>
        </p:nvCxnSpPr>
        <p:spPr>
          <a:xfrm>
            <a:off x="2781300" y="4125843"/>
            <a:ext cx="1523553" cy="0"/>
          </a:xfrm>
          <a:prstGeom prst="straightConnector1">
            <a:avLst/>
          </a:prstGeom>
          <a:ln w="38100">
            <a:solidFill>
              <a:srgbClr val="FF0000"/>
            </a:solidFill>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38436042"/>
      </p:ext>
    </p:extLst>
  </p:cSld>
  <p:clrMapOvr>
    <a:masterClrMapping/>
  </p:clrMapOvr>
  <p:transition spd="slow">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Hardware Acceleration for </a:t>
            </a:r>
            <a:r>
              <a:rPr lang="en-CA" dirty="0" smtClean="0"/>
              <a:t>SSL VPN</a:t>
            </a:r>
            <a:endParaRPr lang="en-CA" dirty="0"/>
          </a:p>
        </p:txBody>
      </p:sp>
      <p:sp>
        <p:nvSpPr>
          <p:cNvPr id="3" name="Content Placeholder 2"/>
          <p:cNvSpPr>
            <a:spLocks noGrp="1"/>
          </p:cNvSpPr>
          <p:nvPr>
            <p:ph idx="1"/>
          </p:nvPr>
        </p:nvSpPr>
        <p:spPr/>
        <p:txBody>
          <a:bodyPr>
            <a:normAutofit/>
          </a:bodyPr>
          <a:lstStyle/>
          <a:p>
            <a:r>
              <a:rPr lang="en-CA" dirty="0"/>
              <a:t>FortiGate devices with content processors (CP8 or CP9), which </a:t>
            </a:r>
            <a:r>
              <a:rPr lang="en-US" dirty="0"/>
              <a:t>offload specific CPU-intensive operations,</a:t>
            </a:r>
            <a:r>
              <a:rPr lang="en-CA" dirty="0"/>
              <a:t> support </a:t>
            </a:r>
            <a:r>
              <a:rPr lang="en-US" dirty="0"/>
              <a:t>high-performance </a:t>
            </a:r>
            <a:r>
              <a:rPr lang="en-US" dirty="0" smtClean="0"/>
              <a:t>SSL VPN </a:t>
            </a:r>
            <a:r>
              <a:rPr lang="en-US" dirty="0"/>
              <a:t>bulk data engines</a:t>
            </a:r>
          </a:p>
          <a:p>
            <a:pPr lvl="1"/>
            <a:r>
              <a:rPr lang="en-US" dirty="0"/>
              <a:t>SSL/TLS protocol processor</a:t>
            </a:r>
          </a:p>
          <a:p>
            <a:r>
              <a:rPr lang="en-US" dirty="0"/>
              <a:t>Administrators can disable CP offloading through firewall policies </a:t>
            </a:r>
          </a:p>
          <a:p>
            <a:pPr lvl="1"/>
            <a:r>
              <a:rPr lang="en-US" dirty="0"/>
              <a:t>For example: test purposes</a:t>
            </a:r>
          </a:p>
          <a:p>
            <a:pPr lvl="1"/>
            <a:endParaRPr lang="en-US" dirty="0" smtClean="0"/>
          </a:p>
          <a:p>
            <a:pPr lvl="1"/>
            <a:endParaRPr lang="en-US" dirty="0"/>
          </a:p>
          <a:p>
            <a:endParaRPr lang="en-US" dirty="0"/>
          </a:p>
          <a:p>
            <a:endParaRPr lang="en-US" sz="1400" dirty="0"/>
          </a:p>
          <a:p>
            <a:endParaRPr lang="en-US" sz="1400" dirty="0"/>
          </a:p>
          <a:p>
            <a:r>
              <a:rPr lang="en-US" dirty="0"/>
              <a:t>To view the status of </a:t>
            </a:r>
            <a:r>
              <a:rPr lang="en-US" dirty="0" smtClean="0"/>
              <a:t>SSL VPN </a:t>
            </a:r>
            <a:r>
              <a:rPr lang="en-US" dirty="0"/>
              <a:t>acceleration, use the following command: </a:t>
            </a:r>
          </a:p>
          <a:p>
            <a:pPr marL="0" indent="0">
              <a:buNone/>
            </a:pPr>
            <a:endParaRPr lang="en-US" dirty="0"/>
          </a:p>
          <a:p>
            <a:endParaRPr lang="en-US" dirty="0"/>
          </a:p>
          <a:p>
            <a:endParaRPr lang="en-CA" dirty="0"/>
          </a:p>
        </p:txBody>
      </p:sp>
      <p:sp>
        <p:nvSpPr>
          <p:cNvPr id="9" name="Rectangle 8"/>
          <p:cNvSpPr/>
          <p:nvPr/>
        </p:nvSpPr>
        <p:spPr bwMode="invGray">
          <a:xfrm>
            <a:off x="4105237" y="3650804"/>
            <a:ext cx="5020983" cy="288607"/>
          </a:xfrm>
          <a:prstGeom prst="rect">
            <a:avLst/>
          </a:prstGeom>
          <a:noFill/>
          <a:ln w="38100">
            <a:solidFill>
              <a:srgbClr val="FF0000"/>
            </a:solidFill>
            <a:round/>
            <a:headEnd/>
            <a:tailEnd/>
          </a:ln>
          <a:ex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a:p>
        </p:txBody>
      </p:sp>
      <p:cxnSp>
        <p:nvCxnSpPr>
          <p:cNvPr id="17" name="Straight Connector 16"/>
          <p:cNvCxnSpPr>
            <a:endCxn id="15" idx="0"/>
          </p:cNvCxnSpPr>
          <p:nvPr/>
        </p:nvCxnSpPr>
        <p:spPr>
          <a:xfrm flipH="1">
            <a:off x="3287713" y="5367650"/>
            <a:ext cx="2879849" cy="278185"/>
          </a:xfrm>
          <a:prstGeom prst="line">
            <a:avLst/>
          </a:prstGeom>
          <a:ln w="38100">
            <a:solidFill>
              <a:srgbClr val="FF0000"/>
            </a:solidFill>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6167561" y="5374840"/>
            <a:ext cx="2352881" cy="396591"/>
          </a:xfrm>
          <a:prstGeom prst="line">
            <a:avLst/>
          </a:prstGeom>
          <a:ln w="38100">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147695" y="2980202"/>
            <a:ext cx="6092825" cy="1315745"/>
          </a:xfrm>
          <a:prstGeom prst="rect">
            <a:avLst/>
          </a:prstGeom>
        </p:spPr>
        <p:txBody>
          <a:bodyPr>
            <a:spAutoFit/>
          </a:bodyPr>
          <a:lstStyle/>
          <a:p>
            <a:pPr indent="0">
              <a:spcBef>
                <a:spcPts val="300"/>
              </a:spcBef>
              <a:buNone/>
            </a:pPr>
            <a:r>
              <a:rPr lang="en-US" dirty="0" err="1">
                <a:latin typeface="Courier New" panose="02070309020205020404" pitchFamily="49" charset="0"/>
                <a:cs typeface="Courier New" panose="02070309020205020404" pitchFamily="49" charset="0"/>
              </a:rPr>
              <a:t>config</a:t>
            </a:r>
            <a:r>
              <a:rPr lang="en-US" dirty="0">
                <a:latin typeface="Courier New" panose="02070309020205020404" pitchFamily="49" charset="0"/>
                <a:cs typeface="Courier New" panose="02070309020205020404" pitchFamily="49" charset="0"/>
              </a:rPr>
              <a:t> firewall policy</a:t>
            </a:r>
          </a:p>
          <a:p>
            <a:pPr indent="0">
              <a:spcBef>
                <a:spcPts val="300"/>
              </a:spcBef>
              <a:buNone/>
            </a:pPr>
            <a:r>
              <a:rPr lang="en-US" dirty="0">
                <a:latin typeface="Courier New" panose="02070309020205020404" pitchFamily="49" charset="0"/>
                <a:cs typeface="Courier New" panose="02070309020205020404" pitchFamily="49" charset="0"/>
              </a:rPr>
              <a:t>   edit 1 </a:t>
            </a:r>
          </a:p>
          <a:p>
            <a:pPr indent="0">
              <a:spcBef>
                <a:spcPts val="300"/>
              </a:spcBef>
              <a:buNone/>
            </a:pPr>
            <a:r>
              <a:rPr lang="en-US" dirty="0">
                <a:latin typeface="Courier New" panose="02070309020205020404" pitchFamily="49" charset="0"/>
                <a:cs typeface="Courier New" panose="02070309020205020404" pitchFamily="49" charset="0"/>
              </a:rPr>
              <a:t>   set auto-</a:t>
            </a:r>
            <a:r>
              <a:rPr lang="en-US" dirty="0" err="1">
                <a:latin typeface="Courier New" panose="02070309020205020404" pitchFamily="49" charset="0"/>
                <a:cs typeface="Courier New" panose="02070309020205020404" pitchFamily="49" charset="0"/>
              </a:rPr>
              <a:t>asic</a:t>
            </a:r>
            <a:r>
              <a:rPr lang="en-US" dirty="0">
                <a:latin typeface="Courier New" panose="02070309020205020404" pitchFamily="49" charset="0"/>
                <a:cs typeface="Courier New" panose="02070309020205020404" pitchFamily="49" charset="0"/>
              </a:rPr>
              <a:t>-offload [enable |disable]</a:t>
            </a:r>
          </a:p>
          <a:p>
            <a:pPr marL="228600" indent="0">
              <a:spcBef>
                <a:spcPts val="300"/>
              </a:spcBef>
              <a:buNone/>
            </a:pPr>
            <a:r>
              <a:rPr lang="en-US" dirty="0">
                <a:latin typeface="Courier New" panose="02070309020205020404" pitchFamily="49" charset="0"/>
                <a:cs typeface="Courier New" panose="02070309020205020404" pitchFamily="49" charset="0"/>
              </a:rPr>
              <a:t>end</a:t>
            </a:r>
          </a:p>
        </p:txBody>
      </p:sp>
      <p:sp>
        <p:nvSpPr>
          <p:cNvPr id="14" name="Rectangle 13"/>
          <p:cNvSpPr/>
          <p:nvPr/>
        </p:nvSpPr>
        <p:spPr>
          <a:xfrm>
            <a:off x="3107056" y="5035034"/>
            <a:ext cx="5974713" cy="369332"/>
          </a:xfrm>
          <a:prstGeom prst="rect">
            <a:avLst/>
          </a:prstGeom>
        </p:spPr>
        <p:txBody>
          <a:bodyPr wrap="none">
            <a:spAutoFit/>
          </a:bodyPr>
          <a:lstStyle/>
          <a:p>
            <a:pPr indent="0">
              <a:spcBef>
                <a:spcPts val="300"/>
              </a:spcBef>
              <a:buNone/>
            </a:pPr>
            <a:r>
              <a:rPr lang="en-US" dirty="0">
                <a:latin typeface="Courier New" panose="02070309020205020404" pitchFamily="49" charset="0"/>
                <a:cs typeface="Courier New" panose="02070309020205020404" pitchFamily="49" charset="0"/>
              </a:rPr>
              <a:t>get </a:t>
            </a:r>
            <a:r>
              <a:rPr lang="en-US" dirty="0" err="1">
                <a:latin typeface="Courier New" panose="02070309020205020404" pitchFamily="49" charset="0"/>
                <a:cs typeface="Courier New" panose="02070309020205020404" pitchFamily="49" charset="0"/>
              </a:rPr>
              <a:t>vpn</a:t>
            </a:r>
            <a:r>
              <a:rPr lang="en-US" dirty="0">
                <a:latin typeface="Courier New" panose="02070309020205020404" pitchFamily="49" charset="0"/>
                <a:cs typeface="Courier New" panose="02070309020205020404" pitchFamily="49" charset="0"/>
              </a:rPr>
              <a:t> status </a:t>
            </a:r>
            <a:r>
              <a:rPr lang="en-US" dirty="0" err="1">
                <a:latin typeface="Courier New" panose="02070309020205020404" pitchFamily="49" charset="0"/>
                <a:cs typeface="Courier New" panose="02070309020205020404" pitchFamily="49" charset="0"/>
              </a:rPr>
              <a:t>ssl</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hw</a:t>
            </a:r>
            <a:r>
              <a:rPr lang="en-US" dirty="0">
                <a:latin typeface="Courier New" panose="02070309020205020404" pitchFamily="49" charset="0"/>
                <a:cs typeface="Courier New" panose="02070309020205020404" pitchFamily="49" charset="0"/>
              </a:rPr>
              <a:t>-acceleration-status </a:t>
            </a:r>
          </a:p>
        </p:txBody>
      </p:sp>
      <p:sp>
        <p:nvSpPr>
          <p:cNvPr id="15" name="Rectangle 14"/>
          <p:cNvSpPr/>
          <p:nvPr/>
        </p:nvSpPr>
        <p:spPr>
          <a:xfrm>
            <a:off x="241300" y="5645835"/>
            <a:ext cx="6092825" cy="646331"/>
          </a:xfrm>
          <a:prstGeom prst="rect">
            <a:avLst/>
          </a:prstGeom>
        </p:spPr>
        <p:txBody>
          <a:bodyPr>
            <a:spAutoFit/>
          </a:bodyPr>
          <a:lstStyle/>
          <a:p>
            <a:pPr indent="0">
              <a:spcBef>
                <a:spcPts val="300"/>
              </a:spcBef>
              <a:buNone/>
            </a:pPr>
            <a:r>
              <a:rPr lang="en-US" dirty="0">
                <a:latin typeface="Courier New" panose="02070309020205020404" pitchFamily="49" charset="0"/>
                <a:cs typeface="Courier New" panose="02070309020205020404" pitchFamily="49" charset="0"/>
              </a:rPr>
              <a:t>Acceleration hardware detected: </a:t>
            </a:r>
            <a:r>
              <a:rPr lang="en-US" dirty="0" err="1">
                <a:latin typeface="Courier New" panose="02070309020205020404" pitchFamily="49" charset="0"/>
                <a:cs typeface="Courier New" panose="02070309020205020404" pitchFamily="49" charset="0"/>
              </a:rPr>
              <a:t>kxp</a:t>
            </a:r>
            <a:r>
              <a:rPr lang="en-US" dirty="0">
                <a:latin typeface="Courier New" panose="02070309020205020404" pitchFamily="49" charset="0"/>
                <a:cs typeface="Courier New" panose="02070309020205020404" pitchFamily="49" charset="0"/>
              </a:rPr>
              <a:t>=on cipher=on </a:t>
            </a:r>
          </a:p>
        </p:txBody>
      </p:sp>
      <p:sp>
        <p:nvSpPr>
          <p:cNvPr id="18" name="Rectangle 17"/>
          <p:cNvSpPr/>
          <p:nvPr/>
        </p:nvSpPr>
        <p:spPr>
          <a:xfrm>
            <a:off x="6160389" y="5746234"/>
            <a:ext cx="4871847" cy="369332"/>
          </a:xfrm>
          <a:prstGeom prst="rect">
            <a:avLst/>
          </a:prstGeom>
        </p:spPr>
        <p:txBody>
          <a:bodyPr wrap="none">
            <a:spAutoFit/>
          </a:bodyPr>
          <a:lstStyle/>
          <a:p>
            <a:pPr indent="0">
              <a:spcBef>
                <a:spcPts val="300"/>
              </a:spcBef>
              <a:buNone/>
            </a:pPr>
            <a:r>
              <a:rPr lang="en-US" dirty="0">
                <a:latin typeface="Courier New" panose="02070309020205020404" pitchFamily="49" charset="0"/>
                <a:cs typeface="Courier New" panose="02070309020205020404" pitchFamily="49" charset="0"/>
              </a:rPr>
              <a:t>No acceleration hardware detected </a:t>
            </a:r>
          </a:p>
        </p:txBody>
      </p:sp>
    </p:spTree>
    <p:custDataLst>
      <p:tags r:id="rId1"/>
    </p:custDataLst>
    <p:extLst>
      <p:ext uri="{BB962C8B-B14F-4D97-AF65-F5344CB8AC3E}">
        <p14:creationId xmlns:p14="http://schemas.microsoft.com/office/powerpoint/2010/main" val="36798762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457200" indent="-457200">
              <a:buFont typeface="+mj-lt"/>
              <a:buAutoNum type="arabicPeriod"/>
            </a:pPr>
            <a:r>
              <a:rPr lang="en-US" dirty="0"/>
              <a:t>What does the </a:t>
            </a:r>
            <a:r>
              <a:rPr lang="en-US" dirty="0" smtClean="0"/>
              <a:t>SSL VPN </a:t>
            </a:r>
            <a:r>
              <a:rPr lang="en-US" dirty="0"/>
              <a:t>monitor feature allow you to do? </a:t>
            </a:r>
          </a:p>
          <a:p>
            <a:pPr marL="838133" lvl="1" indent="-457200">
              <a:buFont typeface="+mj-lt"/>
              <a:buAutoNum type="alphaUcPeriod"/>
            </a:pPr>
            <a:r>
              <a:rPr lang="en-US" dirty="0"/>
              <a:t>Monitor </a:t>
            </a:r>
            <a:r>
              <a:rPr lang="en-US" dirty="0" smtClean="0"/>
              <a:t>SSL VPN </a:t>
            </a:r>
            <a:r>
              <a:rPr lang="en-US" dirty="0"/>
              <a:t>user actions, such as authentication</a:t>
            </a:r>
          </a:p>
          <a:p>
            <a:pPr marL="838133" lvl="1" indent="-457200">
              <a:buFont typeface="+mj-lt"/>
              <a:buAutoNum type="alphaUcPeriod"/>
            </a:pPr>
            <a:r>
              <a:rPr lang="en-US" dirty="0"/>
              <a:t>Force </a:t>
            </a:r>
            <a:r>
              <a:rPr lang="en-US" dirty="0" smtClean="0"/>
              <a:t>SSL VPN </a:t>
            </a:r>
            <a:r>
              <a:rPr lang="en-US" dirty="0"/>
              <a:t>user disconnections</a:t>
            </a:r>
          </a:p>
          <a:p>
            <a:pPr marL="457200" indent="-457200">
              <a:buFont typeface="+mj-lt"/>
              <a:buAutoNum type="arabicPeriod"/>
            </a:pPr>
            <a:endParaRPr lang="en-CA" b="1" dirty="0"/>
          </a:p>
          <a:p>
            <a:pPr marL="457200" indent="-457200">
              <a:buFont typeface="+mj-lt"/>
              <a:buAutoNum type="arabicPeriod"/>
            </a:pPr>
            <a:r>
              <a:rPr lang="en-US" dirty="0"/>
              <a:t>Which </a:t>
            </a:r>
            <a:r>
              <a:rPr lang="en-US" dirty="0" smtClean="0"/>
              <a:t>statement </a:t>
            </a:r>
            <a:r>
              <a:rPr lang="en-US" dirty="0"/>
              <a:t>about </a:t>
            </a:r>
            <a:r>
              <a:rPr lang="en-US" dirty="0" smtClean="0"/>
              <a:t>SSL VPN </a:t>
            </a:r>
            <a:r>
              <a:rPr lang="en-US" dirty="0"/>
              <a:t>timers </a:t>
            </a:r>
            <a:r>
              <a:rPr lang="en-US" dirty="0" smtClean="0"/>
              <a:t>is </a:t>
            </a:r>
            <a:r>
              <a:rPr lang="en-US" dirty="0"/>
              <a:t>correct</a:t>
            </a:r>
            <a:r>
              <a:rPr lang="en-CA" dirty="0"/>
              <a:t>? </a:t>
            </a:r>
          </a:p>
          <a:p>
            <a:pPr marL="838133" lvl="1" indent="-457200">
              <a:buFont typeface="+mj-lt"/>
              <a:buAutoNum type="alphaUcPeriod"/>
            </a:pPr>
            <a:r>
              <a:rPr lang="en-US" dirty="0" smtClean="0"/>
              <a:t>SSL VPN </a:t>
            </a:r>
            <a:r>
              <a:rPr lang="en-US" dirty="0"/>
              <a:t>timers can </a:t>
            </a:r>
            <a:r>
              <a:rPr lang="en-US" dirty="0" smtClean="0"/>
              <a:t>prevent </a:t>
            </a:r>
            <a:r>
              <a:rPr lang="en-US" dirty="0"/>
              <a:t>logouts when </a:t>
            </a:r>
            <a:r>
              <a:rPr lang="en-US" dirty="0" smtClean="0"/>
              <a:t>SSL VPN </a:t>
            </a:r>
            <a:r>
              <a:rPr lang="en-US" dirty="0"/>
              <a:t>users experience long network </a:t>
            </a:r>
            <a:r>
              <a:rPr lang="en-US" dirty="0" smtClean="0"/>
              <a:t>latency.</a:t>
            </a:r>
            <a:endParaRPr lang="en-US" dirty="0"/>
          </a:p>
          <a:p>
            <a:pPr marL="838133" lvl="1" indent="-457200">
              <a:buFont typeface="+mj-lt"/>
              <a:buAutoNum type="alphaUcPeriod"/>
            </a:pPr>
            <a:r>
              <a:rPr lang="en-US" dirty="0"/>
              <a:t>The login timeout is a non-customizable hard </a:t>
            </a:r>
            <a:r>
              <a:rPr lang="en-US" dirty="0" smtClean="0"/>
              <a:t>value.</a:t>
            </a:r>
            <a:endParaRPr lang="en-US" dirty="0"/>
          </a:p>
          <a:p>
            <a:pPr marL="380933" lvl="1" indent="0">
              <a:buNone/>
            </a:pPr>
            <a:endParaRPr lang="en-US" dirty="0"/>
          </a:p>
          <a:p>
            <a:pPr marL="838133" lvl="1" indent="-457200">
              <a:buFont typeface="+mj-lt"/>
              <a:buAutoNum type="alphaUcPeriod"/>
            </a:pPr>
            <a:endParaRPr lang="en-US" dirty="0"/>
          </a:p>
          <a:p>
            <a:pPr marL="380933" lvl="1" indent="0">
              <a:buNone/>
            </a:pPr>
            <a:r>
              <a:rPr lang="en-US" dirty="0"/>
              <a:t/>
            </a:r>
            <a:br>
              <a:rPr lang="en-US" dirty="0"/>
            </a:br>
            <a:endParaRPr lang="en-US" dirty="0"/>
          </a:p>
          <a:p>
            <a:pPr marL="0" indent="0">
              <a:buNone/>
            </a:pPr>
            <a:endParaRPr lang="en-US" dirty="0"/>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2153" y="1662121"/>
            <a:ext cx="301962" cy="322787"/>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853" y="2822621"/>
            <a:ext cx="301962" cy="322787"/>
          </a:xfrm>
          <a:prstGeom prst="rect">
            <a:avLst/>
          </a:prstGeom>
        </p:spPr>
      </p:pic>
    </p:spTree>
    <p:custDataLst>
      <p:tags r:id="rId1"/>
    </p:custDataLst>
    <p:extLst>
      <p:ext uri="{BB962C8B-B14F-4D97-AF65-F5344CB8AC3E}">
        <p14:creationId xmlns:p14="http://schemas.microsoft.com/office/powerpoint/2010/main" val="1947059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SmartArt Placeholder 2"/>
          <p:cNvGraphicFramePr>
            <a:graphicFrameLocks noGrp="1"/>
          </p:cNvGraphicFramePr>
          <p:nvPr>
            <p:ph type="dgm" sz="quarter" idx="10"/>
            <p:extLst>
              <p:ext uri="{D42A27DB-BD31-4B8C-83A1-F6EECF244321}">
                <p14:modId xmlns:p14="http://schemas.microsoft.com/office/powerpoint/2010/main" val="1304863755"/>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7" name="Picture 1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0935" y="1950046"/>
            <a:ext cx="699476" cy="747715"/>
          </a:xfrm>
          <a:prstGeom prst="rect">
            <a:avLst/>
          </a:prstGeom>
        </p:spPr>
      </p:pic>
      <p:pic>
        <p:nvPicPr>
          <p:cNvPr id="18" name="Picture 1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3900" y="3301607"/>
            <a:ext cx="687410" cy="734816"/>
          </a:xfrm>
          <a:prstGeom prst="rect">
            <a:avLst/>
          </a:prstGeom>
        </p:spPr>
      </p:pic>
      <p:pic>
        <p:nvPicPr>
          <p:cNvPr id="21" name="Picture 2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69435" y="4828382"/>
            <a:ext cx="640976" cy="685181"/>
          </a:xfrm>
          <a:prstGeom prst="rect">
            <a:avLst/>
          </a:prstGeom>
        </p:spPr>
      </p:pic>
    </p:spTree>
    <p:custDataLst>
      <p:tags r:id="rId1"/>
    </p:custDataLst>
    <p:extLst>
      <p:ext uri="{BB962C8B-B14F-4D97-AF65-F5344CB8AC3E}">
        <p14:creationId xmlns:p14="http://schemas.microsoft.com/office/powerpoint/2010/main" val="784589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500"/>
                                  </p:stCondLst>
                                  <p:childTnLst>
                                    <p:set>
                                      <p:cBhvr>
                                        <p:cTn id="6" dur="1" fill="hold">
                                          <p:stCondLst>
                                            <p:cond delay="0"/>
                                          </p:stCondLst>
                                        </p:cTn>
                                        <p:tgtEl>
                                          <p:spTgt spid="21"/>
                                        </p:tgtEl>
                                        <p:attrNameLst>
                                          <p:attrName>style.visibility</p:attrName>
                                        </p:attrNameLst>
                                      </p:cBhvr>
                                      <p:to>
                                        <p:strVal val="visible"/>
                                      </p:to>
                                    </p:set>
                                    <p:animEffect transition="in" filter="wipe(down)">
                                      <p:cBhvr>
                                        <p:cTn id="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a:bodyPr>
          <a:lstStyle/>
          <a:p>
            <a:r>
              <a:rPr lang="en-US" sz="2800" dirty="0" smtClean="0"/>
              <a:t>Describe </a:t>
            </a:r>
            <a:r>
              <a:rPr lang="en-US" sz="2800" dirty="0"/>
              <a:t>the differences between </a:t>
            </a:r>
            <a:r>
              <a:rPr lang="en-US" sz="2800" dirty="0" smtClean="0"/>
              <a:t>SSL VPN </a:t>
            </a:r>
            <a:r>
              <a:rPr lang="en-US" sz="2800" dirty="0"/>
              <a:t>modes</a:t>
            </a:r>
          </a:p>
          <a:p>
            <a:r>
              <a:rPr lang="en-US" sz="2800" dirty="0"/>
              <a:t>Define authentication for </a:t>
            </a:r>
            <a:r>
              <a:rPr lang="en-US" sz="2800" dirty="0" smtClean="0"/>
              <a:t>SSL VPN </a:t>
            </a:r>
            <a:r>
              <a:rPr lang="en-US" sz="2800" dirty="0"/>
              <a:t>users</a:t>
            </a:r>
          </a:p>
          <a:p>
            <a:r>
              <a:rPr lang="en-US" sz="2800" dirty="0"/>
              <a:t>Configure </a:t>
            </a:r>
            <a:r>
              <a:rPr lang="en-US" sz="2800" dirty="0" smtClean="0"/>
              <a:t>SSL VPN </a:t>
            </a:r>
            <a:r>
              <a:rPr lang="en-US" sz="2800" dirty="0"/>
              <a:t>portals</a:t>
            </a:r>
          </a:p>
          <a:p>
            <a:r>
              <a:rPr lang="en-US" sz="2800" dirty="0"/>
              <a:t>Configure </a:t>
            </a:r>
            <a:r>
              <a:rPr lang="en-US" sz="2800" dirty="0" smtClean="0"/>
              <a:t>SSL VPN </a:t>
            </a:r>
            <a:r>
              <a:rPr lang="en-US" sz="2800" dirty="0"/>
              <a:t>settings</a:t>
            </a:r>
          </a:p>
          <a:p>
            <a:r>
              <a:rPr lang="en-US" sz="2800" dirty="0"/>
              <a:t>Define firewall policies for </a:t>
            </a:r>
            <a:r>
              <a:rPr lang="en-US" sz="2800" dirty="0" smtClean="0"/>
              <a:t>SSL VPN</a:t>
            </a:r>
          </a:p>
          <a:p>
            <a:r>
              <a:rPr lang="en-US" sz="2800"/>
              <a:t>Configure </a:t>
            </a:r>
            <a:r>
              <a:rPr lang="en-US" sz="2800" smtClean="0"/>
              <a:t>the client </a:t>
            </a:r>
            <a:r>
              <a:rPr lang="en-US" sz="2800" dirty="0"/>
              <a:t>integrity check</a:t>
            </a:r>
          </a:p>
          <a:p>
            <a:r>
              <a:rPr lang="en-US" sz="2800" dirty="0" smtClean="0"/>
              <a:t>Monitor SSL VPN </a:t>
            </a:r>
            <a:r>
              <a:rPr lang="en-US" sz="2800" dirty="0"/>
              <a:t>connected users</a:t>
            </a:r>
          </a:p>
          <a:p>
            <a:r>
              <a:rPr lang="en-US" sz="2800" dirty="0">
                <a:cs typeface="Arial" panose="020B0604020202020204" pitchFamily="34" charset="0"/>
              </a:rPr>
              <a:t>Review </a:t>
            </a:r>
            <a:r>
              <a:rPr lang="en-US" sz="2800" dirty="0" smtClean="0">
                <a:cs typeface="Arial" panose="020B0604020202020204" pitchFamily="34" charset="0"/>
              </a:rPr>
              <a:t>SSL VPN </a:t>
            </a:r>
            <a:r>
              <a:rPr lang="en-US" sz="2800" dirty="0">
                <a:cs typeface="Arial" panose="020B0604020202020204" pitchFamily="34" charset="0"/>
              </a:rPr>
              <a:t>logs</a:t>
            </a:r>
          </a:p>
          <a:p>
            <a:r>
              <a:rPr lang="en-US" sz="2800" dirty="0">
                <a:cs typeface="Arial" panose="020B0604020202020204" pitchFamily="34" charset="0"/>
              </a:rPr>
              <a:t>Configure </a:t>
            </a:r>
            <a:r>
              <a:rPr lang="en-US" sz="2800" dirty="0" smtClean="0">
                <a:cs typeface="Arial" panose="020B0604020202020204" pitchFamily="34" charset="0"/>
              </a:rPr>
              <a:t>SSL VPN </a:t>
            </a:r>
            <a:r>
              <a:rPr lang="en-US" sz="2800" dirty="0">
                <a:cs typeface="Arial" panose="020B0604020202020204" pitchFamily="34" charset="0"/>
              </a:rPr>
              <a:t>timers</a:t>
            </a:r>
            <a:endParaRPr lang="en-US" sz="2800" dirty="0"/>
          </a:p>
          <a:p>
            <a:r>
              <a:rPr lang="en-US" sz="2800" dirty="0"/>
              <a:t>Troubleshoot common </a:t>
            </a:r>
            <a:r>
              <a:rPr lang="en-US" sz="2800" dirty="0" smtClean="0"/>
              <a:t>SSL VPN issues</a:t>
            </a:r>
          </a:p>
          <a:p>
            <a:endParaRPr lang="en-US" sz="2800" dirty="0"/>
          </a:p>
          <a:p>
            <a:endParaRPr lang="en-US" dirty="0"/>
          </a:p>
        </p:txBody>
      </p:sp>
    </p:spTree>
    <p:extLst>
      <p:ext uri="{BB962C8B-B14F-4D97-AF65-F5344CB8AC3E}">
        <p14:creationId xmlns:p14="http://schemas.microsoft.com/office/powerpoint/2010/main" val="291601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COUNT" val="5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SE_Certification_Program_Template-2021">
  <a:themeElements>
    <a:clrScheme name="Fortinet-2021">
      <a:dk1>
        <a:srgbClr val="000000"/>
      </a:dk1>
      <a:lt1>
        <a:srgbClr val="FFFFFF"/>
      </a:lt1>
      <a:dk2>
        <a:srgbClr val="B3B3B3"/>
      </a:dk2>
      <a:lt2>
        <a:srgbClr val="E6E6E6"/>
      </a:lt2>
      <a:accent1>
        <a:srgbClr val="48D597"/>
      </a:accent1>
      <a:accent2>
        <a:srgbClr val="2CCCD3"/>
      </a:accent2>
      <a:accent3>
        <a:srgbClr val="307FE2"/>
      </a:accent3>
      <a:accent4>
        <a:srgbClr val="9063CD"/>
      </a:accent4>
      <a:accent5>
        <a:srgbClr val="A2B2C8"/>
      </a:accent5>
      <a:accent6>
        <a:srgbClr val="DA281C"/>
      </a:accent6>
      <a:hlink>
        <a:srgbClr val="0081E9"/>
      </a:hlink>
      <a:folHlink>
        <a:srgbClr val="307FE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solidFill>
            <a:schemeClr val="accent6"/>
          </a:solidFill>
        </a:ln>
      </a:spPr>
      <a:bodyPr rtlCol="0" anchor="ctr"/>
      <a:lstStyle>
        <a:defPPr algn="ctr">
          <a:lnSpc>
            <a:spcPct val="90000"/>
          </a:lnSpc>
          <a:spcBef>
            <a:spcPts val="300"/>
          </a:spcBef>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defTabSz="457189">
          <a:lnSpc>
            <a:spcPct val="90000"/>
          </a:lnSpc>
          <a:spcBef>
            <a:spcPts val="300"/>
          </a:spcBef>
          <a:defRPr sz="1400" dirty="0" smtClean="0">
            <a:solidFill>
              <a:srgbClr val="000000"/>
            </a:solidFill>
            <a:cs typeface="Arial" panose="020B0604020202020204" pitchFamily="34" charset="0"/>
          </a:defRPr>
        </a:defPPr>
      </a:lstStyle>
    </a:txDef>
  </a:objectDefaults>
  <a:extraClrSchemeLst/>
  <a:extLst>
    <a:ext uri="{05A4C25C-085E-4340-85A3-A5531E510DB2}">
      <thm15:themeFamily xmlns:thm15="http://schemas.microsoft.com/office/thememl/2012/main" name="Presentation5" id="{B400592B-8D21-4166-94CE-701FC4462A4C}" vid="{01281597-3EC3-4121-9707-A57978F4B0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NSE_Certification_Template_2022</Template>
  <TotalTime>20296</TotalTime>
  <Words>7307</Words>
  <Application>Microsoft Office PowerPoint</Application>
  <PresentationFormat>Custom</PresentationFormat>
  <Paragraphs>721</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ＭＳ Ｐゴシック</vt:lpstr>
      <vt:lpstr>Arial</vt:lpstr>
      <vt:lpstr>Arial Unicode MS</vt:lpstr>
      <vt:lpstr>Calibri</vt:lpstr>
      <vt:lpstr>Courier New</vt:lpstr>
      <vt:lpstr>Inter</vt:lpstr>
      <vt:lpstr>Wingdings</vt:lpstr>
      <vt:lpstr>NSE_Certification_Program_Template-2021</vt:lpstr>
      <vt:lpstr>FortiGate Infrastructure</vt:lpstr>
      <vt:lpstr>PowerPoint Presentation</vt:lpstr>
      <vt:lpstr>SSL VPN Deployment Modes</vt:lpstr>
      <vt:lpstr>SSL VPN Deployment Modes</vt:lpstr>
      <vt:lpstr>Web Mode</vt:lpstr>
      <vt:lpstr>Web Mode (Contd)</vt:lpstr>
      <vt:lpstr>Tunnel Mode</vt:lpstr>
      <vt:lpstr>Tunnel Mode (Contd)</vt:lpstr>
      <vt:lpstr>Tunnel Mode—FortiGate as Client</vt:lpstr>
      <vt:lpstr>Tunnel Mode—FortiGate as Client (Contd)</vt:lpstr>
      <vt:lpstr>Tunnel Mode—Split Tunneling</vt:lpstr>
      <vt:lpstr>PowerPoint Presentation</vt:lpstr>
      <vt:lpstr>PowerPoint Presentation</vt:lpstr>
      <vt:lpstr>Configuring SSL VPNs</vt:lpstr>
      <vt:lpstr>Configuring SSL VPN—User as Client</vt:lpstr>
      <vt:lpstr>Configure the SSL VPN Portal</vt:lpstr>
      <vt:lpstr>Configure SSL VPN Settings</vt:lpstr>
      <vt:lpstr>Configure SSL VPN Settings (Contd)</vt:lpstr>
      <vt:lpstr>Firewall Policies to and from SSL VPN Interface</vt:lpstr>
      <vt:lpstr>Example: Access to Resources</vt:lpstr>
      <vt:lpstr>Configuring SSL VPN—FortiGate as Server</vt:lpstr>
      <vt:lpstr>Configuring SSL VPN—FortiGate as Client</vt:lpstr>
      <vt:lpstr>Client Integrity Checking</vt:lpstr>
      <vt:lpstr>Configure the Client Integrity Check</vt:lpstr>
      <vt:lpstr>PowerPoint Presentation</vt:lpstr>
      <vt:lpstr>PowerPoint Presentation</vt:lpstr>
      <vt:lpstr>Monitoring and Troubleshooting</vt:lpstr>
      <vt:lpstr>Monitoring SSL VPN Sessions</vt:lpstr>
      <vt:lpstr>SSL VPN Logs</vt:lpstr>
      <vt:lpstr>SSL VPN Idle Timeout vs. Authentication Session </vt:lpstr>
      <vt:lpstr>SSL VPN Timers</vt:lpstr>
      <vt:lpstr>Best Practices for Common SSL VPN Issues</vt:lpstr>
      <vt:lpstr>Useful Troubleshooting Commands</vt:lpstr>
      <vt:lpstr>Hardware Acceleration for SSL VPN</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lastPrinted>2014-12-10T16:50:59Z</cp:lastPrinted>
</cp:coreProperties>
</file>

<file path=docProps/custom.xml><?xml version="1.0" encoding="utf-8"?>
<Properties xmlns="http://schemas.openxmlformats.org/officeDocument/2006/custom-properties" xmlns:vt="http://schemas.openxmlformats.org/officeDocument/2006/docPropsVTypes"/>
</file>