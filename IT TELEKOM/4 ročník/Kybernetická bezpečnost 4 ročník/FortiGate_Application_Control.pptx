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tags/tag45.xml" ContentType="application/vnd.openxmlformats-officedocument.presentationml.tags+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1" r:id="rId1"/>
  </p:sldMasterIdLst>
  <p:notesMasterIdLst>
    <p:notesMasterId r:id="rId47"/>
  </p:notesMasterIdLst>
  <p:handoutMasterIdLst>
    <p:handoutMasterId r:id="rId48"/>
  </p:handoutMasterIdLst>
  <p:sldIdLst>
    <p:sldId id="290" r:id="rId2"/>
    <p:sldId id="353" r:id="rId3"/>
    <p:sldId id="312" r:id="rId4"/>
    <p:sldId id="266" r:id="rId5"/>
    <p:sldId id="387" r:id="rId6"/>
    <p:sldId id="388" r:id="rId7"/>
    <p:sldId id="389" r:id="rId8"/>
    <p:sldId id="436" r:id="rId9"/>
    <p:sldId id="390" r:id="rId10"/>
    <p:sldId id="421" r:id="rId11"/>
    <p:sldId id="382" r:id="rId12"/>
    <p:sldId id="338" r:id="rId13"/>
    <p:sldId id="343" r:id="rId14"/>
    <p:sldId id="391" r:id="rId15"/>
    <p:sldId id="427" r:id="rId16"/>
    <p:sldId id="422" r:id="rId17"/>
    <p:sldId id="435" r:id="rId18"/>
    <p:sldId id="392" r:id="rId19"/>
    <p:sldId id="393" r:id="rId20"/>
    <p:sldId id="434" r:id="rId21"/>
    <p:sldId id="394" r:id="rId22"/>
    <p:sldId id="428" r:id="rId23"/>
    <p:sldId id="406" r:id="rId24"/>
    <p:sldId id="395" r:id="rId25"/>
    <p:sldId id="396" r:id="rId26"/>
    <p:sldId id="430" r:id="rId27"/>
    <p:sldId id="400" r:id="rId28"/>
    <p:sldId id="401" r:id="rId29"/>
    <p:sldId id="432" r:id="rId30"/>
    <p:sldId id="397" r:id="rId31"/>
    <p:sldId id="402" r:id="rId32"/>
    <p:sldId id="383" r:id="rId33"/>
    <p:sldId id="403" r:id="rId34"/>
    <p:sldId id="356" r:id="rId35"/>
    <p:sldId id="407" r:id="rId36"/>
    <p:sldId id="408" r:id="rId37"/>
    <p:sldId id="409" r:id="rId38"/>
    <p:sldId id="384" r:id="rId39"/>
    <p:sldId id="405" r:id="rId40"/>
    <p:sldId id="328" r:id="rId41"/>
    <p:sldId id="410" r:id="rId42"/>
    <p:sldId id="418" r:id="rId43"/>
    <p:sldId id="385" r:id="rId44"/>
    <p:sldId id="416" r:id="rId45"/>
    <p:sldId id="309" r:id="rId46"/>
  </p:sldIdLst>
  <p:sldSz cx="12188825" cy="6858000"/>
  <p:notesSz cx="7315200" cy="9601200"/>
  <p:custDataLst>
    <p:tags r:id="rId4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96" userDrawn="1">
          <p15:clr>
            <a:srgbClr val="A4A3A4"/>
          </p15:clr>
        </p15:guide>
        <p15:guide id="2" pos="2880" userDrawn="1">
          <p15:clr>
            <a:srgbClr val="A4A3A4"/>
          </p15:clr>
        </p15:guide>
        <p15:guide id="3" orient="horz" pos="4189">
          <p15:clr>
            <a:srgbClr val="A4A3A4"/>
          </p15:clr>
        </p15:guide>
        <p15:guide id="4" orient="horz" pos="622">
          <p15:clr>
            <a:srgbClr val="A4A3A4"/>
          </p15:clr>
        </p15:guide>
        <p15:guide id="5" orient="horz" pos="979">
          <p15:clr>
            <a:srgbClr val="A4A3A4"/>
          </p15:clr>
        </p15:guide>
        <p15:guide id="6" pos="383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hsan Ali" initials="A A" lastIdx="32" clrIdx="0"/>
  <p:cmAuthor id="1" name="Hitesh Kaila" initials="HK" lastIdx="1" clrIdx="1"/>
  <p:cmAuthor id="2" name="Robyn Kinnaird" initials="RK" lastIdx="6" clrIdx="2"/>
  <p:cmAuthor id="3" name="Microsoft" initials="M" lastIdx="107" clrIdx="3"/>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A0A"/>
    <a:srgbClr val="FD4E4E"/>
    <a:srgbClr val="DC291E"/>
    <a:srgbClr val="FFFFFF"/>
    <a:srgbClr val="AD4C22"/>
    <a:srgbClr val="173D64"/>
    <a:srgbClr val="BFBFBF"/>
    <a:srgbClr val="DADADA"/>
    <a:srgbClr val="D9D9D9"/>
    <a:srgbClr val="323E4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71" autoAdjust="0"/>
    <p:restoredTop sz="73302" autoAdjust="0"/>
  </p:normalViewPr>
  <p:slideViewPr>
    <p:cSldViewPr snapToGrid="0">
      <p:cViewPr varScale="1">
        <p:scale>
          <a:sx n="79" d="100"/>
          <a:sy n="79" d="100"/>
        </p:scale>
        <p:origin x="1650" y="78"/>
      </p:cViewPr>
      <p:guideLst>
        <p:guide orient="horz" pos="1596"/>
        <p:guide pos="2880"/>
        <p:guide orient="horz" pos="4189"/>
        <p:guide orient="horz" pos="622"/>
        <p:guide orient="horz" pos="979"/>
        <p:guide pos="3839"/>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79" d="100"/>
          <a:sy n="79" d="100"/>
        </p:scale>
        <p:origin x="3828" y="90"/>
      </p:cViewPr>
      <p:guideLst>
        <p:guide orient="horz" pos="3024"/>
        <p:guide pos="230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Application Control Basics </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Application Control Configuration</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7820632F-4B9B-4484-BE0F-7F6FFEF3C4B2}">
      <dgm:prSet phldrT="[Text]"/>
      <dgm:spPr/>
      <dgm:t>
        <a:bodyPr/>
        <a:lstStyle/>
        <a:p>
          <a:r>
            <a:rPr lang="en-CA" dirty="0"/>
            <a:t>Best Practices and Troubleshooting </a:t>
          </a:r>
        </a:p>
      </dgm:t>
    </dgm:pt>
    <dgm:pt modelId="{7DB20A63-1E4E-4EAF-A27B-39D3E8F8468E}" type="parTrans" cxnId="{ABB1149C-A8C5-4CB7-80A7-C63CC4F66364}">
      <dgm:prSet/>
      <dgm:spPr/>
      <dgm:t>
        <a:bodyPr/>
        <a:lstStyle/>
        <a:p>
          <a:endParaRPr lang="en-CA"/>
        </a:p>
      </dgm:t>
    </dgm:pt>
    <dgm:pt modelId="{A17BA7DD-4734-4F55-89EC-9EB2C144A210}" type="sibTrans" cxnId="{ABB1149C-A8C5-4CB7-80A7-C63CC4F66364}">
      <dgm:prSet/>
      <dgm:spPr/>
      <dgm:t>
        <a:bodyPr/>
        <a:lstStyle/>
        <a:p>
          <a:endParaRPr lang="en-CA"/>
        </a:p>
      </dgm:t>
    </dgm:pt>
    <dgm:pt modelId="{DD131005-D4D1-4A25-9295-C69C88D0616A}">
      <dgm:prSet phldrT="[Text]"/>
      <dgm:spPr/>
      <dgm:t>
        <a:bodyPr/>
        <a:lstStyle/>
        <a:p>
          <a:r>
            <a:rPr lang="en-CA" dirty="0"/>
            <a:t>Logging and Monitoring Application Control Events</a:t>
          </a:r>
        </a:p>
      </dgm:t>
    </dgm:pt>
    <dgm:pt modelId="{03593B52-4E6E-4D45-9F35-DD35D8212ABC}" type="parTrans" cxnId="{4DDAC092-2EA8-4C9B-9315-04A87D52F9CE}">
      <dgm:prSet/>
      <dgm:spPr/>
      <dgm:t>
        <a:bodyPr/>
        <a:lstStyle/>
        <a:p>
          <a:endParaRPr lang="en-CA"/>
        </a:p>
      </dgm:t>
    </dgm:pt>
    <dgm:pt modelId="{690F35A7-86B5-421B-9F84-AE107CDB2D5E}" type="sibTrans" cxnId="{4DDAC092-2EA8-4C9B-9315-04A87D52F9CE}">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custLinFactNeighborX="1830" custLinFactNeighborY="47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F1E01C13-C714-4D2E-8BAF-3156ED7C412B}" type="pres">
      <dgm:prSet presAssocID="{DD131005-D4D1-4A25-9295-C69C88D0616A}" presName="text_3" presStyleLbl="node1" presStyleIdx="2" presStyleCnt="4">
        <dgm:presLayoutVars>
          <dgm:bulletEnabled val="1"/>
        </dgm:presLayoutVars>
      </dgm:prSet>
      <dgm:spPr/>
      <dgm:t>
        <a:bodyPr/>
        <a:lstStyle/>
        <a:p>
          <a:endParaRPr lang="en-US"/>
        </a:p>
      </dgm:t>
    </dgm:pt>
    <dgm:pt modelId="{A050BA95-23FB-4C3F-AB1F-40F4AF184FF1}" type="pres">
      <dgm:prSet presAssocID="{DD131005-D4D1-4A25-9295-C69C88D0616A}" presName="accent_3" presStyleCnt="0"/>
      <dgm:spPr/>
    </dgm:pt>
    <dgm:pt modelId="{431AB879-52A5-43D1-878D-B19B73A93CFA}" type="pres">
      <dgm:prSet presAssocID="{DD131005-D4D1-4A25-9295-C69C88D0616A}" presName="accentRepeatNode" presStyleLbl="solidFgAcc1" presStyleIdx="2" presStyleCnt="4"/>
      <dgm:spPr/>
    </dgm:pt>
    <dgm:pt modelId="{0E33DE18-55C6-4CFB-A078-1913295E31FB}" type="pres">
      <dgm:prSet presAssocID="{7820632F-4B9B-4484-BE0F-7F6FFEF3C4B2}" presName="text_4" presStyleLbl="node1" presStyleIdx="3" presStyleCnt="4">
        <dgm:presLayoutVars>
          <dgm:bulletEnabled val="1"/>
        </dgm:presLayoutVars>
      </dgm:prSet>
      <dgm:spPr/>
      <dgm:t>
        <a:bodyPr/>
        <a:lstStyle/>
        <a:p>
          <a:endParaRPr lang="en-US"/>
        </a:p>
      </dgm:t>
    </dgm:pt>
    <dgm:pt modelId="{EDCC3EAE-5087-40F7-B0ED-BE1B6F726F9A}" type="pres">
      <dgm:prSet presAssocID="{7820632F-4B9B-4484-BE0F-7F6FFEF3C4B2}" presName="accent_4" presStyleCnt="0"/>
      <dgm:spPr/>
    </dgm:pt>
    <dgm:pt modelId="{FF85C72B-7D4D-4627-A8BB-C905CA7F3BA8}" type="pres">
      <dgm:prSet presAssocID="{7820632F-4B9B-4484-BE0F-7F6FFEF3C4B2}" presName="accentRepeatNode" presStyleLbl="solidFgAcc1" presStyleIdx="3" presStyleCnt="4"/>
      <dgm:spPr/>
    </dgm:pt>
  </dgm:ptLst>
  <dgm:cxnLst>
    <dgm:cxn modelId="{ABB1149C-A8C5-4CB7-80A7-C63CC4F66364}" srcId="{D043F5CB-BC5D-4A11-AB32-2960081BEC2E}" destId="{7820632F-4B9B-4484-BE0F-7F6FFEF3C4B2}" srcOrd="3" destOrd="0" parTransId="{7DB20A63-1E4E-4EAF-A27B-39D3E8F8468E}" sibTransId="{A17BA7DD-4734-4F55-89EC-9EB2C144A210}"/>
    <dgm:cxn modelId="{91CDDA45-F03D-4B20-B354-C78068DC480D}" srcId="{D043F5CB-BC5D-4A11-AB32-2960081BEC2E}" destId="{A5A548B3-6AC7-4528-ADEB-4C80B2EB9FE1}" srcOrd="0" destOrd="0" parTransId="{1635DA8A-138F-48A1-9C85-52947E284BC8}" sibTransId="{5B1B9221-1044-403A-81A4-A41C0E0449B9}"/>
    <dgm:cxn modelId="{4DDAC092-2EA8-4C9B-9315-04A87D52F9CE}" srcId="{D043F5CB-BC5D-4A11-AB32-2960081BEC2E}" destId="{DD131005-D4D1-4A25-9295-C69C88D0616A}" srcOrd="2" destOrd="0" parTransId="{03593B52-4E6E-4D45-9F35-DD35D8212ABC}" sibTransId="{690F35A7-86B5-421B-9F84-AE107CDB2D5E}"/>
    <dgm:cxn modelId="{0E7381D1-CE81-4D07-BE55-6151F5E44E0E}" type="presOf" srcId="{5B1B9221-1044-403A-81A4-A41C0E0449B9}" destId="{D593A696-9230-4ACA-9D52-83E05F9F38F7}"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69A9A29F-7364-4B20-A003-B5C2F05509F8}" type="presOf" srcId="{A5A548B3-6AC7-4528-ADEB-4C80B2EB9FE1}" destId="{4F10BD40-3D78-480D-9C3C-DEEAA6B532C0}" srcOrd="0" destOrd="0" presId="urn:microsoft.com/office/officeart/2008/layout/VerticalCurvedList"/>
    <dgm:cxn modelId="{E9EE6B31-14CF-4EEE-8168-879CFC1CF474}" type="presOf" srcId="{7820632F-4B9B-4484-BE0F-7F6FFEF3C4B2}" destId="{0E33DE18-55C6-4CFB-A078-1913295E31FB}" srcOrd="0" destOrd="0" presId="urn:microsoft.com/office/officeart/2008/layout/VerticalCurvedList"/>
    <dgm:cxn modelId="{DEF91AA9-4975-4921-8F90-31F546C1EF6F}" type="presOf" srcId="{DD131005-D4D1-4A25-9295-C69C88D0616A}" destId="{F1E01C13-C714-4D2E-8BAF-3156ED7C412B}" srcOrd="0" destOrd="0" presId="urn:microsoft.com/office/officeart/2008/layout/VerticalCurvedList"/>
    <dgm:cxn modelId="{F7F06342-D63E-4045-9AC3-CB48CDFF6DC0}" type="presOf" srcId="{D043F5CB-BC5D-4A11-AB32-2960081BEC2E}" destId="{3FB16CE5-CAA2-4957-8C7B-4DB8F06B5FE6}" srcOrd="0" destOrd="0" presId="urn:microsoft.com/office/officeart/2008/layout/VerticalCurvedList"/>
    <dgm:cxn modelId="{2920819B-2CDD-4025-9DBC-4F2F2E7000A6}" type="presOf" srcId="{5E715238-0243-4B0E-84F0-3572BED2843B}" destId="{10C2ADB5-FB0D-4752-B06B-69F09CC2A46D}" srcOrd="0" destOrd="0" presId="urn:microsoft.com/office/officeart/2008/layout/VerticalCurvedList"/>
    <dgm:cxn modelId="{F2F44D09-DC6D-4B08-90B9-A389869FF833}" type="presParOf" srcId="{3FB16CE5-CAA2-4957-8C7B-4DB8F06B5FE6}" destId="{741DC565-FE42-4ACF-8359-44981FFC1B12}" srcOrd="0" destOrd="0" presId="urn:microsoft.com/office/officeart/2008/layout/VerticalCurvedList"/>
    <dgm:cxn modelId="{E95C4998-0B45-4E27-8417-DDFA20EA5DD9}" type="presParOf" srcId="{741DC565-FE42-4ACF-8359-44981FFC1B12}" destId="{006628EE-2672-4E73-AF80-C2FA6DA0F245}" srcOrd="0" destOrd="0" presId="urn:microsoft.com/office/officeart/2008/layout/VerticalCurvedList"/>
    <dgm:cxn modelId="{740BFE91-948F-4D7C-B69A-F2772390C9E9}" type="presParOf" srcId="{006628EE-2672-4E73-AF80-C2FA6DA0F245}" destId="{83CBCA6B-4523-45AB-8C5C-5DCAC4D94B22}" srcOrd="0" destOrd="0" presId="urn:microsoft.com/office/officeart/2008/layout/VerticalCurvedList"/>
    <dgm:cxn modelId="{A1F64D64-F84C-4B69-9A72-1D07131E0153}" type="presParOf" srcId="{006628EE-2672-4E73-AF80-C2FA6DA0F245}" destId="{D593A696-9230-4ACA-9D52-83E05F9F38F7}" srcOrd="1" destOrd="0" presId="urn:microsoft.com/office/officeart/2008/layout/VerticalCurvedList"/>
    <dgm:cxn modelId="{B1827D82-6C4F-45F7-ACD6-CD7312DB4EA5}" type="presParOf" srcId="{006628EE-2672-4E73-AF80-C2FA6DA0F245}" destId="{2CD41FF4-48CE-42E3-8206-C4D806851A54}" srcOrd="2" destOrd="0" presId="urn:microsoft.com/office/officeart/2008/layout/VerticalCurvedList"/>
    <dgm:cxn modelId="{14D43E64-C55B-4387-BABC-1FF533219069}" type="presParOf" srcId="{006628EE-2672-4E73-AF80-C2FA6DA0F245}" destId="{BC70810A-B28C-4236-8A87-6A2163164CC9}" srcOrd="3" destOrd="0" presId="urn:microsoft.com/office/officeart/2008/layout/VerticalCurvedList"/>
    <dgm:cxn modelId="{F48413C6-BF27-44F4-8015-9DAE30AC0DCD}" type="presParOf" srcId="{741DC565-FE42-4ACF-8359-44981FFC1B12}" destId="{4F10BD40-3D78-480D-9C3C-DEEAA6B532C0}" srcOrd="1" destOrd="0" presId="urn:microsoft.com/office/officeart/2008/layout/VerticalCurvedList"/>
    <dgm:cxn modelId="{CDC06017-78FC-4738-A230-86AE7D938388}" type="presParOf" srcId="{741DC565-FE42-4ACF-8359-44981FFC1B12}" destId="{35D0FE1D-F306-4BA6-BA98-7A522EF93A6B}" srcOrd="2" destOrd="0" presId="urn:microsoft.com/office/officeart/2008/layout/VerticalCurvedList"/>
    <dgm:cxn modelId="{C6564410-1FB9-427A-81BB-F2E782C5B1F5}" type="presParOf" srcId="{35D0FE1D-F306-4BA6-BA98-7A522EF93A6B}" destId="{9538A860-37A9-47C9-89B1-15B5ED1C3C45}" srcOrd="0" destOrd="0" presId="urn:microsoft.com/office/officeart/2008/layout/VerticalCurvedList"/>
    <dgm:cxn modelId="{4B917E4B-EBA3-4AE7-80D1-9C78E4ECE5CB}" type="presParOf" srcId="{741DC565-FE42-4ACF-8359-44981FFC1B12}" destId="{10C2ADB5-FB0D-4752-B06B-69F09CC2A46D}" srcOrd="3" destOrd="0" presId="urn:microsoft.com/office/officeart/2008/layout/VerticalCurvedList"/>
    <dgm:cxn modelId="{86021A1F-13C3-480A-BF27-246FDBB8103D}" type="presParOf" srcId="{741DC565-FE42-4ACF-8359-44981FFC1B12}" destId="{C0CAC0D3-EF99-4C9D-8A19-17647A156FC1}" srcOrd="4" destOrd="0" presId="urn:microsoft.com/office/officeart/2008/layout/VerticalCurvedList"/>
    <dgm:cxn modelId="{6420E66D-EAB4-4A43-9C49-ECC24326C4E8}" type="presParOf" srcId="{C0CAC0D3-EF99-4C9D-8A19-17647A156FC1}" destId="{4878E8A0-0F62-483E-9C85-41A7D184C6F2}" srcOrd="0" destOrd="0" presId="urn:microsoft.com/office/officeart/2008/layout/VerticalCurvedList"/>
    <dgm:cxn modelId="{5EF75E2D-1809-4E6B-9037-894C8C114F1E}" type="presParOf" srcId="{741DC565-FE42-4ACF-8359-44981FFC1B12}" destId="{F1E01C13-C714-4D2E-8BAF-3156ED7C412B}" srcOrd="5" destOrd="0" presId="urn:microsoft.com/office/officeart/2008/layout/VerticalCurvedList"/>
    <dgm:cxn modelId="{2AC13957-7220-4C89-86C9-E7D17E961C6E}" type="presParOf" srcId="{741DC565-FE42-4ACF-8359-44981FFC1B12}" destId="{A050BA95-23FB-4C3F-AB1F-40F4AF184FF1}" srcOrd="6" destOrd="0" presId="urn:microsoft.com/office/officeart/2008/layout/VerticalCurvedList"/>
    <dgm:cxn modelId="{C4CA149C-EB6C-4318-9FED-BF5E804AE75F}" type="presParOf" srcId="{A050BA95-23FB-4C3F-AB1F-40F4AF184FF1}" destId="{431AB879-52A5-43D1-878D-B19B73A93CFA}" srcOrd="0" destOrd="0" presId="urn:microsoft.com/office/officeart/2008/layout/VerticalCurvedList"/>
    <dgm:cxn modelId="{DE24D0B5-BC51-476E-8818-D7293DF63192}" type="presParOf" srcId="{741DC565-FE42-4ACF-8359-44981FFC1B12}" destId="{0E33DE18-55C6-4CFB-A078-1913295E31FB}" srcOrd="7" destOrd="0" presId="urn:microsoft.com/office/officeart/2008/layout/VerticalCurvedList"/>
    <dgm:cxn modelId="{12EEDEA1-FABB-49DE-98D0-FE4BBEF06BDD}" type="presParOf" srcId="{741DC565-FE42-4ACF-8359-44981FFC1B12}" destId="{EDCC3EAE-5087-40F7-B0ED-BE1B6F726F9A}" srcOrd="8" destOrd="0" presId="urn:microsoft.com/office/officeart/2008/layout/VerticalCurvedList"/>
    <dgm:cxn modelId="{9C477E04-7F95-4E80-A2C5-ADC443FC8EB7}" type="presParOf" srcId="{EDCC3EAE-5087-40F7-B0ED-BE1B6F726F9A}" destId="{FF85C72B-7D4D-4627-A8BB-C905CA7F3BA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Application Control Basics </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Application Control Configuration</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7820632F-4B9B-4484-BE0F-7F6FFEF3C4B2}">
      <dgm:prSet phldrT="[Text]"/>
      <dgm:spPr/>
      <dgm:t>
        <a:bodyPr/>
        <a:lstStyle/>
        <a:p>
          <a:r>
            <a:rPr lang="en-CA" dirty="0"/>
            <a:t>Best Practices and Troubleshooting </a:t>
          </a:r>
        </a:p>
      </dgm:t>
    </dgm:pt>
    <dgm:pt modelId="{7DB20A63-1E4E-4EAF-A27B-39D3E8F8468E}" type="parTrans" cxnId="{ABB1149C-A8C5-4CB7-80A7-C63CC4F66364}">
      <dgm:prSet/>
      <dgm:spPr/>
      <dgm:t>
        <a:bodyPr/>
        <a:lstStyle/>
        <a:p>
          <a:endParaRPr lang="en-CA"/>
        </a:p>
      </dgm:t>
    </dgm:pt>
    <dgm:pt modelId="{A17BA7DD-4734-4F55-89EC-9EB2C144A210}" type="sibTrans" cxnId="{ABB1149C-A8C5-4CB7-80A7-C63CC4F66364}">
      <dgm:prSet/>
      <dgm:spPr/>
      <dgm:t>
        <a:bodyPr/>
        <a:lstStyle/>
        <a:p>
          <a:endParaRPr lang="en-CA"/>
        </a:p>
      </dgm:t>
    </dgm:pt>
    <dgm:pt modelId="{02FA39B1-CC28-4B9C-B5A2-4CB637D2F60F}">
      <dgm:prSet phldrT="[Text]"/>
      <dgm:spPr/>
      <dgm:t>
        <a:bodyPr/>
        <a:lstStyle/>
        <a:p>
          <a:pPr marL="0" marR="0" indent="0" defTabSz="914400" eaLnBrk="1" fontAlgn="auto" latinLnBrk="0" hangingPunct="1">
            <a:lnSpc>
              <a:spcPct val="100000"/>
            </a:lnSpc>
            <a:spcBef>
              <a:spcPts val="0"/>
            </a:spcBef>
            <a:spcAft>
              <a:spcPts val="0"/>
            </a:spcAft>
            <a:buClrTx/>
            <a:buSzTx/>
            <a:buFontTx/>
            <a:buNone/>
            <a:tabLst/>
            <a:defRPr/>
          </a:pPr>
          <a:r>
            <a:rPr lang="en-CA" dirty="0"/>
            <a:t>Logging and Monitoring Application Control Events</a:t>
          </a:r>
        </a:p>
      </dgm:t>
    </dgm:pt>
    <dgm:pt modelId="{8DDADB8A-4579-4DF0-8157-3C4CF4F6866D}" type="parTrans" cxnId="{D6325E11-584F-4831-9C37-ECFCCBA17E6B}">
      <dgm:prSet/>
      <dgm:spPr/>
      <dgm:t>
        <a:bodyPr/>
        <a:lstStyle/>
        <a:p>
          <a:endParaRPr lang="en-CA"/>
        </a:p>
      </dgm:t>
    </dgm:pt>
    <dgm:pt modelId="{7D1A658E-C57E-4020-B857-A2F22B1521A8}" type="sibTrans" cxnId="{D6325E11-584F-4831-9C37-ECFCCBA17E6B}">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custLinFactNeighborX="-11543" custLinFactNeighborY="-234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F611DEE7-32FF-4DC5-A67C-DC28A3ED0DF1}" type="pres">
      <dgm:prSet presAssocID="{02FA39B1-CC28-4B9C-B5A2-4CB637D2F60F}" presName="text_3" presStyleLbl="node1" presStyleIdx="2" presStyleCnt="4">
        <dgm:presLayoutVars>
          <dgm:bulletEnabled val="1"/>
        </dgm:presLayoutVars>
      </dgm:prSet>
      <dgm:spPr/>
      <dgm:t>
        <a:bodyPr/>
        <a:lstStyle/>
        <a:p>
          <a:endParaRPr lang="en-US"/>
        </a:p>
      </dgm:t>
    </dgm:pt>
    <dgm:pt modelId="{0FE5FF8E-3908-4FF3-A989-9D42C4EDF089}" type="pres">
      <dgm:prSet presAssocID="{02FA39B1-CC28-4B9C-B5A2-4CB637D2F60F}" presName="accent_3" presStyleCnt="0"/>
      <dgm:spPr/>
    </dgm:pt>
    <dgm:pt modelId="{C69BCCF0-CEED-4E0F-884C-7748FDA541F3}" type="pres">
      <dgm:prSet presAssocID="{02FA39B1-CC28-4B9C-B5A2-4CB637D2F60F}" presName="accentRepeatNode" presStyleLbl="solidFgAcc1" presStyleIdx="2" presStyleCnt="4"/>
      <dgm:spPr/>
    </dgm:pt>
    <dgm:pt modelId="{0E33DE18-55C6-4CFB-A078-1913295E31FB}" type="pres">
      <dgm:prSet presAssocID="{7820632F-4B9B-4484-BE0F-7F6FFEF3C4B2}" presName="text_4" presStyleLbl="node1" presStyleIdx="3" presStyleCnt="4">
        <dgm:presLayoutVars>
          <dgm:bulletEnabled val="1"/>
        </dgm:presLayoutVars>
      </dgm:prSet>
      <dgm:spPr/>
      <dgm:t>
        <a:bodyPr/>
        <a:lstStyle/>
        <a:p>
          <a:endParaRPr lang="en-US"/>
        </a:p>
      </dgm:t>
    </dgm:pt>
    <dgm:pt modelId="{EDCC3EAE-5087-40F7-B0ED-BE1B6F726F9A}" type="pres">
      <dgm:prSet presAssocID="{7820632F-4B9B-4484-BE0F-7F6FFEF3C4B2}" presName="accent_4" presStyleCnt="0"/>
      <dgm:spPr/>
    </dgm:pt>
    <dgm:pt modelId="{FF85C72B-7D4D-4627-A8BB-C905CA7F3BA8}" type="pres">
      <dgm:prSet presAssocID="{7820632F-4B9B-4484-BE0F-7F6FFEF3C4B2}" presName="accentRepeatNode" presStyleLbl="solidFgAcc1" presStyleIdx="3" presStyleCnt="4"/>
      <dgm:spPr/>
    </dgm:pt>
  </dgm:ptLst>
  <dgm:cxnLst>
    <dgm:cxn modelId="{D6325E11-584F-4831-9C37-ECFCCBA17E6B}" srcId="{D043F5CB-BC5D-4A11-AB32-2960081BEC2E}" destId="{02FA39B1-CC28-4B9C-B5A2-4CB637D2F60F}" srcOrd="2" destOrd="0" parTransId="{8DDADB8A-4579-4DF0-8157-3C4CF4F6866D}" sibTransId="{7D1A658E-C57E-4020-B857-A2F22B1521A8}"/>
    <dgm:cxn modelId="{312A14A6-FE84-4A88-BEBE-3FFC0DE13F0A}" type="presOf" srcId="{5B1B9221-1044-403A-81A4-A41C0E0449B9}" destId="{D593A696-9230-4ACA-9D52-83E05F9F38F7}"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ABB1149C-A8C5-4CB7-80A7-C63CC4F66364}" srcId="{D043F5CB-BC5D-4A11-AB32-2960081BEC2E}" destId="{7820632F-4B9B-4484-BE0F-7F6FFEF3C4B2}" srcOrd="3" destOrd="0" parTransId="{7DB20A63-1E4E-4EAF-A27B-39D3E8F8468E}" sibTransId="{A17BA7DD-4734-4F55-89EC-9EB2C144A210}"/>
    <dgm:cxn modelId="{D0790E05-6895-4AF2-A858-855AFC428A48}" type="presOf" srcId="{02FA39B1-CC28-4B9C-B5A2-4CB637D2F60F}" destId="{F611DEE7-32FF-4DC5-A67C-DC28A3ED0DF1}"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E5C2A01B-E51C-4F65-AB8D-3F0975C0817F}" type="presOf" srcId="{D043F5CB-BC5D-4A11-AB32-2960081BEC2E}" destId="{3FB16CE5-CAA2-4957-8C7B-4DB8F06B5FE6}" srcOrd="0" destOrd="0" presId="urn:microsoft.com/office/officeart/2008/layout/VerticalCurvedList"/>
    <dgm:cxn modelId="{8B5D19AB-57DF-4EE5-A0E8-18D785AFF1D4}" type="presOf" srcId="{7820632F-4B9B-4484-BE0F-7F6FFEF3C4B2}" destId="{0E33DE18-55C6-4CFB-A078-1913295E31FB}" srcOrd="0" destOrd="0" presId="urn:microsoft.com/office/officeart/2008/layout/VerticalCurvedList"/>
    <dgm:cxn modelId="{A8BB3C77-3D1F-4B3A-956C-C8741737B5E5}" type="presOf" srcId="{5E715238-0243-4B0E-84F0-3572BED2843B}" destId="{10C2ADB5-FB0D-4752-B06B-69F09CC2A46D}" srcOrd="0" destOrd="0" presId="urn:microsoft.com/office/officeart/2008/layout/VerticalCurvedList"/>
    <dgm:cxn modelId="{FCF87B2D-93D5-431C-8DF4-2AA207D89A1C}" type="presOf" srcId="{A5A548B3-6AC7-4528-ADEB-4C80B2EB9FE1}" destId="{4F10BD40-3D78-480D-9C3C-DEEAA6B532C0}" srcOrd="0" destOrd="0" presId="urn:microsoft.com/office/officeart/2008/layout/VerticalCurvedList"/>
    <dgm:cxn modelId="{034B6A18-EAB8-4CF0-BF07-49EA9102CEAD}" type="presParOf" srcId="{3FB16CE5-CAA2-4957-8C7B-4DB8F06B5FE6}" destId="{741DC565-FE42-4ACF-8359-44981FFC1B12}" srcOrd="0" destOrd="0" presId="urn:microsoft.com/office/officeart/2008/layout/VerticalCurvedList"/>
    <dgm:cxn modelId="{B3BE890F-B0EC-46DF-BD94-29D103984FE0}" type="presParOf" srcId="{741DC565-FE42-4ACF-8359-44981FFC1B12}" destId="{006628EE-2672-4E73-AF80-C2FA6DA0F245}" srcOrd="0" destOrd="0" presId="urn:microsoft.com/office/officeart/2008/layout/VerticalCurvedList"/>
    <dgm:cxn modelId="{5482D868-A11F-4926-B463-8B943D00B133}" type="presParOf" srcId="{006628EE-2672-4E73-AF80-C2FA6DA0F245}" destId="{83CBCA6B-4523-45AB-8C5C-5DCAC4D94B22}" srcOrd="0" destOrd="0" presId="urn:microsoft.com/office/officeart/2008/layout/VerticalCurvedList"/>
    <dgm:cxn modelId="{5FB26CDD-28D1-4F0E-8197-3A5326FD134F}" type="presParOf" srcId="{006628EE-2672-4E73-AF80-C2FA6DA0F245}" destId="{D593A696-9230-4ACA-9D52-83E05F9F38F7}" srcOrd="1" destOrd="0" presId="urn:microsoft.com/office/officeart/2008/layout/VerticalCurvedList"/>
    <dgm:cxn modelId="{138E23B2-AE07-4F60-8C20-AF2B64484A9C}" type="presParOf" srcId="{006628EE-2672-4E73-AF80-C2FA6DA0F245}" destId="{2CD41FF4-48CE-42E3-8206-C4D806851A54}" srcOrd="2" destOrd="0" presId="urn:microsoft.com/office/officeart/2008/layout/VerticalCurvedList"/>
    <dgm:cxn modelId="{9973FA3B-833D-4F16-84D5-ABE1B2A86B98}" type="presParOf" srcId="{006628EE-2672-4E73-AF80-C2FA6DA0F245}" destId="{BC70810A-B28C-4236-8A87-6A2163164CC9}" srcOrd="3" destOrd="0" presId="urn:microsoft.com/office/officeart/2008/layout/VerticalCurvedList"/>
    <dgm:cxn modelId="{C822C515-F3FB-4A46-9717-4F8A6DE20113}" type="presParOf" srcId="{741DC565-FE42-4ACF-8359-44981FFC1B12}" destId="{4F10BD40-3D78-480D-9C3C-DEEAA6B532C0}" srcOrd="1" destOrd="0" presId="urn:microsoft.com/office/officeart/2008/layout/VerticalCurvedList"/>
    <dgm:cxn modelId="{FAD0D240-214E-4772-B2E1-89BB5F45E058}" type="presParOf" srcId="{741DC565-FE42-4ACF-8359-44981FFC1B12}" destId="{35D0FE1D-F306-4BA6-BA98-7A522EF93A6B}" srcOrd="2" destOrd="0" presId="urn:microsoft.com/office/officeart/2008/layout/VerticalCurvedList"/>
    <dgm:cxn modelId="{3659EB92-7F0A-4E45-9F48-183B18FD338D}" type="presParOf" srcId="{35D0FE1D-F306-4BA6-BA98-7A522EF93A6B}" destId="{9538A860-37A9-47C9-89B1-15B5ED1C3C45}" srcOrd="0" destOrd="0" presId="urn:microsoft.com/office/officeart/2008/layout/VerticalCurvedList"/>
    <dgm:cxn modelId="{B83183BC-5F7A-49A8-A64B-F927462069F6}" type="presParOf" srcId="{741DC565-FE42-4ACF-8359-44981FFC1B12}" destId="{10C2ADB5-FB0D-4752-B06B-69F09CC2A46D}" srcOrd="3" destOrd="0" presId="urn:microsoft.com/office/officeart/2008/layout/VerticalCurvedList"/>
    <dgm:cxn modelId="{8CDDAFAD-B890-4E7C-ADB8-378A0F578F50}" type="presParOf" srcId="{741DC565-FE42-4ACF-8359-44981FFC1B12}" destId="{C0CAC0D3-EF99-4C9D-8A19-17647A156FC1}" srcOrd="4" destOrd="0" presId="urn:microsoft.com/office/officeart/2008/layout/VerticalCurvedList"/>
    <dgm:cxn modelId="{5DF217CB-B4B3-4571-9EA3-6F31DBD05D9E}" type="presParOf" srcId="{C0CAC0D3-EF99-4C9D-8A19-17647A156FC1}" destId="{4878E8A0-0F62-483E-9C85-41A7D184C6F2}" srcOrd="0" destOrd="0" presId="urn:microsoft.com/office/officeart/2008/layout/VerticalCurvedList"/>
    <dgm:cxn modelId="{5EF3F727-4D1F-4F13-9B59-44C5E4D6A689}" type="presParOf" srcId="{741DC565-FE42-4ACF-8359-44981FFC1B12}" destId="{F611DEE7-32FF-4DC5-A67C-DC28A3ED0DF1}" srcOrd="5" destOrd="0" presId="urn:microsoft.com/office/officeart/2008/layout/VerticalCurvedList"/>
    <dgm:cxn modelId="{004152DE-8DC4-420E-B762-3F55316F5E70}" type="presParOf" srcId="{741DC565-FE42-4ACF-8359-44981FFC1B12}" destId="{0FE5FF8E-3908-4FF3-A989-9D42C4EDF089}" srcOrd="6" destOrd="0" presId="urn:microsoft.com/office/officeart/2008/layout/VerticalCurvedList"/>
    <dgm:cxn modelId="{C7C77DAC-E667-4CE2-BA05-B910396DAB43}" type="presParOf" srcId="{0FE5FF8E-3908-4FF3-A989-9D42C4EDF089}" destId="{C69BCCF0-CEED-4E0F-884C-7748FDA541F3}" srcOrd="0" destOrd="0" presId="urn:microsoft.com/office/officeart/2008/layout/VerticalCurvedList"/>
    <dgm:cxn modelId="{8483CE0E-46EA-486C-91DC-49B3281DA42C}" type="presParOf" srcId="{741DC565-FE42-4ACF-8359-44981FFC1B12}" destId="{0E33DE18-55C6-4CFB-A078-1913295E31FB}" srcOrd="7" destOrd="0" presId="urn:microsoft.com/office/officeart/2008/layout/VerticalCurvedList"/>
    <dgm:cxn modelId="{A546310D-A41E-4024-8D0C-AE51CA94E4B9}" type="presParOf" srcId="{741DC565-FE42-4ACF-8359-44981FFC1B12}" destId="{EDCC3EAE-5087-40F7-B0ED-BE1B6F726F9A}" srcOrd="8" destOrd="0" presId="urn:microsoft.com/office/officeart/2008/layout/VerticalCurvedList"/>
    <dgm:cxn modelId="{7A7DAEB8-0559-4CDD-857C-A37086F76AFB}" type="presParOf" srcId="{EDCC3EAE-5087-40F7-B0ED-BE1B6F726F9A}" destId="{FF85C72B-7D4D-4627-A8BB-C905CA7F3BA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Application Control Basics </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Application Control Configuration</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Logging and Monitoring Application Control</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820632F-4B9B-4484-BE0F-7F6FFEF3C4B2}">
      <dgm:prSet phldrT="[Text]"/>
      <dgm:spPr/>
      <dgm:t>
        <a:bodyPr/>
        <a:lstStyle/>
        <a:p>
          <a:r>
            <a:rPr lang="en-CA" dirty="0"/>
            <a:t>Best Practices and Troubleshooting </a:t>
          </a:r>
        </a:p>
      </dgm:t>
    </dgm:pt>
    <dgm:pt modelId="{7DB20A63-1E4E-4EAF-A27B-39D3E8F8468E}" type="parTrans" cxnId="{ABB1149C-A8C5-4CB7-80A7-C63CC4F66364}">
      <dgm:prSet/>
      <dgm:spPr/>
      <dgm:t>
        <a:bodyPr/>
        <a:lstStyle/>
        <a:p>
          <a:endParaRPr lang="en-CA"/>
        </a:p>
      </dgm:t>
    </dgm:pt>
    <dgm:pt modelId="{A17BA7DD-4734-4F55-89EC-9EB2C144A210}" type="sibTrans" cxnId="{ABB1149C-A8C5-4CB7-80A7-C63CC4F66364}">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custLinFactNeighborX="1830" custLinFactNeighborY="47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t>
        <a:bodyPr/>
        <a:lstStyle/>
        <a:p>
          <a:endParaRPr lang="en-US"/>
        </a:p>
      </dgm:t>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0E33DE18-55C6-4CFB-A078-1913295E31FB}" type="pres">
      <dgm:prSet presAssocID="{7820632F-4B9B-4484-BE0F-7F6FFEF3C4B2}" presName="text_4" presStyleLbl="node1" presStyleIdx="3" presStyleCnt="4">
        <dgm:presLayoutVars>
          <dgm:bulletEnabled val="1"/>
        </dgm:presLayoutVars>
      </dgm:prSet>
      <dgm:spPr/>
      <dgm:t>
        <a:bodyPr/>
        <a:lstStyle/>
        <a:p>
          <a:endParaRPr lang="en-US"/>
        </a:p>
      </dgm:t>
    </dgm:pt>
    <dgm:pt modelId="{EDCC3EAE-5087-40F7-B0ED-BE1B6F726F9A}" type="pres">
      <dgm:prSet presAssocID="{7820632F-4B9B-4484-BE0F-7F6FFEF3C4B2}" presName="accent_4" presStyleCnt="0"/>
      <dgm:spPr/>
    </dgm:pt>
    <dgm:pt modelId="{FF85C72B-7D4D-4627-A8BB-C905CA7F3BA8}" type="pres">
      <dgm:prSet presAssocID="{7820632F-4B9B-4484-BE0F-7F6FFEF3C4B2}" presName="accentRepeatNode" presStyleLbl="solidFgAcc1" presStyleIdx="3" presStyleCnt="4"/>
      <dgm:spPr/>
    </dgm:pt>
  </dgm:ptLst>
  <dgm:cxnLst>
    <dgm:cxn modelId="{6D99E54B-9C38-4E87-AD3A-902F9D763E7C}" type="presOf" srcId="{5E715238-0243-4B0E-84F0-3572BED2843B}" destId="{10C2ADB5-FB0D-4752-B06B-69F09CC2A46D}"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FC77B8F2-D978-43AD-ADF9-FF27496CB0A7}" type="presOf" srcId="{310E8F2C-89DE-4BA5-97DA-F646BC52F749}" destId="{A63D8216-A541-4DFA-963D-37F99664E5CA}" srcOrd="0" destOrd="0" presId="urn:microsoft.com/office/officeart/2008/layout/VerticalCurvedList"/>
    <dgm:cxn modelId="{935D7363-28C4-4621-B485-E7C00E6E4DBA}" type="presOf" srcId="{5B1B9221-1044-403A-81A4-A41C0E0449B9}" destId="{D593A696-9230-4ACA-9D52-83E05F9F38F7}"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ABB1149C-A8C5-4CB7-80A7-C63CC4F66364}" srcId="{D043F5CB-BC5D-4A11-AB32-2960081BEC2E}" destId="{7820632F-4B9B-4484-BE0F-7F6FFEF3C4B2}" srcOrd="3" destOrd="0" parTransId="{7DB20A63-1E4E-4EAF-A27B-39D3E8F8468E}" sibTransId="{A17BA7DD-4734-4F55-89EC-9EB2C144A210}"/>
    <dgm:cxn modelId="{C337CBAA-29A3-4E0F-A431-46A1ED120DA0}" type="presOf" srcId="{A5A548B3-6AC7-4528-ADEB-4C80B2EB9FE1}" destId="{4F10BD40-3D78-480D-9C3C-DEEAA6B532C0}" srcOrd="0" destOrd="0" presId="urn:microsoft.com/office/officeart/2008/layout/VerticalCurvedList"/>
    <dgm:cxn modelId="{A03108AB-8F92-4E99-8C19-BD216847656C}" type="presOf" srcId="{D043F5CB-BC5D-4A11-AB32-2960081BEC2E}" destId="{3FB16CE5-CAA2-4957-8C7B-4DB8F06B5FE6}" srcOrd="0" destOrd="0" presId="urn:microsoft.com/office/officeart/2008/layout/VerticalCurvedList"/>
    <dgm:cxn modelId="{91CDDA45-F03D-4B20-B354-C78068DC480D}" srcId="{D043F5CB-BC5D-4A11-AB32-2960081BEC2E}" destId="{A5A548B3-6AC7-4528-ADEB-4C80B2EB9FE1}" srcOrd="0" destOrd="0" parTransId="{1635DA8A-138F-48A1-9C85-52947E284BC8}" sibTransId="{5B1B9221-1044-403A-81A4-A41C0E0449B9}"/>
    <dgm:cxn modelId="{5C90071F-064F-44B0-AFF5-C20EECD4D062}" type="presOf" srcId="{7820632F-4B9B-4484-BE0F-7F6FFEF3C4B2}" destId="{0E33DE18-55C6-4CFB-A078-1913295E31FB}" srcOrd="0" destOrd="0" presId="urn:microsoft.com/office/officeart/2008/layout/VerticalCurvedList"/>
    <dgm:cxn modelId="{57172E91-85C1-4534-9887-D16CCC652370}" type="presParOf" srcId="{3FB16CE5-CAA2-4957-8C7B-4DB8F06B5FE6}" destId="{741DC565-FE42-4ACF-8359-44981FFC1B12}" srcOrd="0" destOrd="0" presId="urn:microsoft.com/office/officeart/2008/layout/VerticalCurvedList"/>
    <dgm:cxn modelId="{58E9664A-13E5-4875-A7C5-8FC53D58608F}" type="presParOf" srcId="{741DC565-FE42-4ACF-8359-44981FFC1B12}" destId="{006628EE-2672-4E73-AF80-C2FA6DA0F245}" srcOrd="0" destOrd="0" presId="urn:microsoft.com/office/officeart/2008/layout/VerticalCurvedList"/>
    <dgm:cxn modelId="{FA7587AD-73EB-4B7C-80F7-1570B9523D52}" type="presParOf" srcId="{006628EE-2672-4E73-AF80-C2FA6DA0F245}" destId="{83CBCA6B-4523-45AB-8C5C-5DCAC4D94B22}" srcOrd="0" destOrd="0" presId="urn:microsoft.com/office/officeart/2008/layout/VerticalCurvedList"/>
    <dgm:cxn modelId="{46F71DCA-E69D-4BC3-8703-9DE0862D1DEB}" type="presParOf" srcId="{006628EE-2672-4E73-AF80-C2FA6DA0F245}" destId="{D593A696-9230-4ACA-9D52-83E05F9F38F7}" srcOrd="1" destOrd="0" presId="urn:microsoft.com/office/officeart/2008/layout/VerticalCurvedList"/>
    <dgm:cxn modelId="{EB9EA527-6E3E-416D-A583-0616886803D3}" type="presParOf" srcId="{006628EE-2672-4E73-AF80-C2FA6DA0F245}" destId="{2CD41FF4-48CE-42E3-8206-C4D806851A54}" srcOrd="2" destOrd="0" presId="urn:microsoft.com/office/officeart/2008/layout/VerticalCurvedList"/>
    <dgm:cxn modelId="{629A8565-FD34-4853-A08B-34B538DEEAA7}" type="presParOf" srcId="{006628EE-2672-4E73-AF80-C2FA6DA0F245}" destId="{BC70810A-B28C-4236-8A87-6A2163164CC9}" srcOrd="3" destOrd="0" presId="urn:microsoft.com/office/officeart/2008/layout/VerticalCurvedList"/>
    <dgm:cxn modelId="{348F05FE-963E-43BF-A220-2DE533E8224A}" type="presParOf" srcId="{741DC565-FE42-4ACF-8359-44981FFC1B12}" destId="{4F10BD40-3D78-480D-9C3C-DEEAA6B532C0}" srcOrd="1" destOrd="0" presId="urn:microsoft.com/office/officeart/2008/layout/VerticalCurvedList"/>
    <dgm:cxn modelId="{3CDB3D64-8812-45E4-A70A-D8257F77898C}" type="presParOf" srcId="{741DC565-FE42-4ACF-8359-44981FFC1B12}" destId="{35D0FE1D-F306-4BA6-BA98-7A522EF93A6B}" srcOrd="2" destOrd="0" presId="urn:microsoft.com/office/officeart/2008/layout/VerticalCurvedList"/>
    <dgm:cxn modelId="{C9F84C61-9EB1-4F7E-8BE7-33F5E06F47D0}" type="presParOf" srcId="{35D0FE1D-F306-4BA6-BA98-7A522EF93A6B}" destId="{9538A860-37A9-47C9-89B1-15B5ED1C3C45}" srcOrd="0" destOrd="0" presId="urn:microsoft.com/office/officeart/2008/layout/VerticalCurvedList"/>
    <dgm:cxn modelId="{D3DD1869-9F6C-4A77-9284-1DD43686F926}" type="presParOf" srcId="{741DC565-FE42-4ACF-8359-44981FFC1B12}" destId="{10C2ADB5-FB0D-4752-B06B-69F09CC2A46D}" srcOrd="3" destOrd="0" presId="urn:microsoft.com/office/officeart/2008/layout/VerticalCurvedList"/>
    <dgm:cxn modelId="{C9888F2E-8648-4B29-921E-0D9376302D81}" type="presParOf" srcId="{741DC565-FE42-4ACF-8359-44981FFC1B12}" destId="{C0CAC0D3-EF99-4C9D-8A19-17647A156FC1}" srcOrd="4" destOrd="0" presId="urn:microsoft.com/office/officeart/2008/layout/VerticalCurvedList"/>
    <dgm:cxn modelId="{7E52E7EB-0130-4580-BE7F-1D3A92C8B066}" type="presParOf" srcId="{C0CAC0D3-EF99-4C9D-8A19-17647A156FC1}" destId="{4878E8A0-0F62-483E-9C85-41A7D184C6F2}" srcOrd="0" destOrd="0" presId="urn:microsoft.com/office/officeart/2008/layout/VerticalCurvedList"/>
    <dgm:cxn modelId="{0F33C554-0DD5-46D0-AC77-EC6378D75965}" type="presParOf" srcId="{741DC565-FE42-4ACF-8359-44981FFC1B12}" destId="{A63D8216-A541-4DFA-963D-37F99664E5CA}" srcOrd="5" destOrd="0" presId="urn:microsoft.com/office/officeart/2008/layout/VerticalCurvedList"/>
    <dgm:cxn modelId="{D1AFA516-BBEC-413B-B56E-3AFDEF10491B}" type="presParOf" srcId="{741DC565-FE42-4ACF-8359-44981FFC1B12}" destId="{0DAD6A51-E37D-47F7-9190-791ADE01403A}" srcOrd="6" destOrd="0" presId="urn:microsoft.com/office/officeart/2008/layout/VerticalCurvedList"/>
    <dgm:cxn modelId="{BD038822-6552-43F0-A098-0DEDD44F12E1}" type="presParOf" srcId="{0DAD6A51-E37D-47F7-9190-791ADE01403A}" destId="{0B3E8BE0-A7F0-4C2D-9FEB-4C59B0782F15}" srcOrd="0" destOrd="0" presId="urn:microsoft.com/office/officeart/2008/layout/VerticalCurvedList"/>
    <dgm:cxn modelId="{608360F3-F9C2-4686-995D-9B59B56A83B4}" type="presParOf" srcId="{741DC565-FE42-4ACF-8359-44981FFC1B12}" destId="{0E33DE18-55C6-4CFB-A078-1913295E31FB}" srcOrd="7" destOrd="0" presId="urn:microsoft.com/office/officeart/2008/layout/VerticalCurvedList"/>
    <dgm:cxn modelId="{272DA107-8C00-4F42-9D76-9AB7D7D7EA41}" type="presParOf" srcId="{741DC565-FE42-4ACF-8359-44981FFC1B12}" destId="{EDCC3EAE-5087-40F7-B0ED-BE1B6F726F9A}" srcOrd="8" destOrd="0" presId="urn:microsoft.com/office/officeart/2008/layout/VerticalCurvedList"/>
    <dgm:cxn modelId="{407CDF59-2272-4551-8D5D-C09F962E9DAB}" type="presParOf" srcId="{EDCC3EAE-5087-40F7-B0ED-BE1B6F726F9A}" destId="{FF85C72B-7D4D-4627-A8BB-C905CA7F3BA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Application Control Basics </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Application Control Configuration</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Logging and Monitoring Application Control Events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7820632F-4B9B-4484-BE0F-7F6FFEF3C4B2}">
      <dgm:prSet phldrT="[Text]"/>
      <dgm:spPr/>
      <dgm:t>
        <a:bodyPr/>
        <a:lstStyle/>
        <a:p>
          <a:r>
            <a:rPr lang="en-CA" dirty="0"/>
            <a:t>Best Practices and Troubleshooting </a:t>
          </a:r>
        </a:p>
      </dgm:t>
    </dgm:pt>
    <dgm:pt modelId="{7DB20A63-1E4E-4EAF-A27B-39D3E8F8468E}" type="parTrans" cxnId="{ABB1149C-A8C5-4CB7-80A7-C63CC4F66364}">
      <dgm:prSet/>
      <dgm:spPr/>
      <dgm:t>
        <a:bodyPr/>
        <a:lstStyle/>
        <a:p>
          <a:endParaRPr lang="en-CA"/>
        </a:p>
      </dgm:t>
    </dgm:pt>
    <dgm:pt modelId="{A17BA7DD-4734-4F55-89EC-9EB2C144A210}" type="sibTrans" cxnId="{ABB1149C-A8C5-4CB7-80A7-C63CC4F66364}">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custLinFactNeighborX="1830" custLinFactNeighborY="47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t>
        <a:bodyPr/>
        <a:lstStyle/>
        <a:p>
          <a:endParaRPr lang="en-US"/>
        </a:p>
      </dgm:t>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0E33DE18-55C6-4CFB-A078-1913295E31FB}" type="pres">
      <dgm:prSet presAssocID="{7820632F-4B9B-4484-BE0F-7F6FFEF3C4B2}" presName="text_4" presStyleLbl="node1" presStyleIdx="3" presStyleCnt="4">
        <dgm:presLayoutVars>
          <dgm:bulletEnabled val="1"/>
        </dgm:presLayoutVars>
      </dgm:prSet>
      <dgm:spPr/>
      <dgm:t>
        <a:bodyPr/>
        <a:lstStyle/>
        <a:p>
          <a:endParaRPr lang="en-US"/>
        </a:p>
      </dgm:t>
    </dgm:pt>
    <dgm:pt modelId="{EDCC3EAE-5087-40F7-B0ED-BE1B6F726F9A}" type="pres">
      <dgm:prSet presAssocID="{7820632F-4B9B-4484-BE0F-7F6FFEF3C4B2}" presName="accent_4" presStyleCnt="0"/>
      <dgm:spPr/>
    </dgm:pt>
    <dgm:pt modelId="{FF85C72B-7D4D-4627-A8BB-C905CA7F3BA8}" type="pres">
      <dgm:prSet presAssocID="{7820632F-4B9B-4484-BE0F-7F6FFEF3C4B2}" presName="accentRepeatNode" presStyleLbl="solidFgAcc1" presStyleIdx="3" presStyleCnt="4"/>
      <dgm:spPr/>
    </dgm:pt>
  </dgm:ptLst>
  <dgm:cxnLst>
    <dgm:cxn modelId="{ABB1149C-A8C5-4CB7-80A7-C63CC4F66364}" srcId="{D043F5CB-BC5D-4A11-AB32-2960081BEC2E}" destId="{7820632F-4B9B-4484-BE0F-7F6FFEF3C4B2}" srcOrd="3" destOrd="0" parTransId="{7DB20A63-1E4E-4EAF-A27B-39D3E8F8468E}" sibTransId="{A17BA7DD-4734-4F55-89EC-9EB2C144A210}"/>
    <dgm:cxn modelId="{91CDDA45-F03D-4B20-B354-C78068DC480D}" srcId="{D043F5CB-BC5D-4A11-AB32-2960081BEC2E}" destId="{A5A548B3-6AC7-4528-ADEB-4C80B2EB9FE1}" srcOrd="0" destOrd="0" parTransId="{1635DA8A-138F-48A1-9C85-52947E284BC8}" sibTransId="{5B1B9221-1044-403A-81A4-A41C0E0449B9}"/>
    <dgm:cxn modelId="{F243EECB-9B14-4FF4-AD6A-B79C09122B54}" type="presOf" srcId="{5E715238-0243-4B0E-84F0-3572BED2843B}" destId="{10C2ADB5-FB0D-4752-B06B-69F09CC2A46D}" srcOrd="0" destOrd="0" presId="urn:microsoft.com/office/officeart/2008/layout/VerticalCurvedList"/>
    <dgm:cxn modelId="{873FB72E-8684-4E1F-A702-6347BB0BAFE6}" srcId="{D043F5CB-BC5D-4A11-AB32-2960081BEC2E}" destId="{310E8F2C-89DE-4BA5-97DA-F646BC52F749}" srcOrd="2" destOrd="0" parTransId="{CE5653AB-9867-430F-83A4-4D43B9255EAA}" sibTransId="{AB853960-23F8-4467-9195-EBC196F92A59}"/>
    <dgm:cxn modelId="{EF2E1034-5BE4-4116-8F21-3934EC0E4887}" type="presOf" srcId="{5B1B9221-1044-403A-81A4-A41C0E0449B9}" destId="{D593A696-9230-4ACA-9D52-83E05F9F38F7}"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142CB605-3438-44D2-9DD0-8CFC9653A971}" type="presOf" srcId="{D043F5CB-BC5D-4A11-AB32-2960081BEC2E}" destId="{3FB16CE5-CAA2-4957-8C7B-4DB8F06B5FE6}" srcOrd="0" destOrd="0" presId="urn:microsoft.com/office/officeart/2008/layout/VerticalCurvedList"/>
    <dgm:cxn modelId="{51A3F8F4-3267-4732-8E9B-A9FECD42163C}" type="presOf" srcId="{310E8F2C-89DE-4BA5-97DA-F646BC52F749}" destId="{A63D8216-A541-4DFA-963D-37F99664E5CA}" srcOrd="0" destOrd="0" presId="urn:microsoft.com/office/officeart/2008/layout/VerticalCurvedList"/>
    <dgm:cxn modelId="{EBF3FB3C-4565-456D-A147-46FE46F79AE5}" type="presOf" srcId="{A5A548B3-6AC7-4528-ADEB-4C80B2EB9FE1}" destId="{4F10BD40-3D78-480D-9C3C-DEEAA6B532C0}" srcOrd="0" destOrd="0" presId="urn:microsoft.com/office/officeart/2008/layout/VerticalCurvedList"/>
    <dgm:cxn modelId="{9883218E-A484-419D-92FB-701BAA3E58D8}" type="presOf" srcId="{7820632F-4B9B-4484-BE0F-7F6FFEF3C4B2}" destId="{0E33DE18-55C6-4CFB-A078-1913295E31FB}" srcOrd="0" destOrd="0" presId="urn:microsoft.com/office/officeart/2008/layout/VerticalCurvedList"/>
    <dgm:cxn modelId="{B1599EF2-DE45-488A-9BE6-9AD4D11ACA2C}" type="presParOf" srcId="{3FB16CE5-CAA2-4957-8C7B-4DB8F06B5FE6}" destId="{741DC565-FE42-4ACF-8359-44981FFC1B12}" srcOrd="0" destOrd="0" presId="urn:microsoft.com/office/officeart/2008/layout/VerticalCurvedList"/>
    <dgm:cxn modelId="{175571A4-ADBC-4370-81C4-D260A415426D}" type="presParOf" srcId="{741DC565-FE42-4ACF-8359-44981FFC1B12}" destId="{006628EE-2672-4E73-AF80-C2FA6DA0F245}" srcOrd="0" destOrd="0" presId="urn:microsoft.com/office/officeart/2008/layout/VerticalCurvedList"/>
    <dgm:cxn modelId="{7E74B8FE-6A2C-42D2-94EE-52E1B6829884}" type="presParOf" srcId="{006628EE-2672-4E73-AF80-C2FA6DA0F245}" destId="{83CBCA6B-4523-45AB-8C5C-5DCAC4D94B22}" srcOrd="0" destOrd="0" presId="urn:microsoft.com/office/officeart/2008/layout/VerticalCurvedList"/>
    <dgm:cxn modelId="{B78219B2-AC59-4F62-8569-E0AF9B0C6722}" type="presParOf" srcId="{006628EE-2672-4E73-AF80-C2FA6DA0F245}" destId="{D593A696-9230-4ACA-9D52-83E05F9F38F7}" srcOrd="1" destOrd="0" presId="urn:microsoft.com/office/officeart/2008/layout/VerticalCurvedList"/>
    <dgm:cxn modelId="{D2092147-AAFD-45F8-8592-D40F8647259A}" type="presParOf" srcId="{006628EE-2672-4E73-AF80-C2FA6DA0F245}" destId="{2CD41FF4-48CE-42E3-8206-C4D806851A54}" srcOrd="2" destOrd="0" presId="urn:microsoft.com/office/officeart/2008/layout/VerticalCurvedList"/>
    <dgm:cxn modelId="{359E6724-2D6F-45FD-838F-598D6FFFA123}" type="presParOf" srcId="{006628EE-2672-4E73-AF80-C2FA6DA0F245}" destId="{BC70810A-B28C-4236-8A87-6A2163164CC9}" srcOrd="3" destOrd="0" presId="urn:microsoft.com/office/officeart/2008/layout/VerticalCurvedList"/>
    <dgm:cxn modelId="{D848F3BC-883C-4764-88E0-AABECAA72CB0}" type="presParOf" srcId="{741DC565-FE42-4ACF-8359-44981FFC1B12}" destId="{4F10BD40-3D78-480D-9C3C-DEEAA6B532C0}" srcOrd="1" destOrd="0" presId="urn:microsoft.com/office/officeart/2008/layout/VerticalCurvedList"/>
    <dgm:cxn modelId="{EB1F3AB9-9661-4025-B3FA-5D4A2765CDEE}" type="presParOf" srcId="{741DC565-FE42-4ACF-8359-44981FFC1B12}" destId="{35D0FE1D-F306-4BA6-BA98-7A522EF93A6B}" srcOrd="2" destOrd="0" presId="urn:microsoft.com/office/officeart/2008/layout/VerticalCurvedList"/>
    <dgm:cxn modelId="{55CFF057-48D9-406B-ACE7-1ADC91A8E68F}" type="presParOf" srcId="{35D0FE1D-F306-4BA6-BA98-7A522EF93A6B}" destId="{9538A860-37A9-47C9-89B1-15B5ED1C3C45}" srcOrd="0" destOrd="0" presId="urn:microsoft.com/office/officeart/2008/layout/VerticalCurvedList"/>
    <dgm:cxn modelId="{71B1792B-28EE-4B1F-8F08-C8D60420F31E}" type="presParOf" srcId="{741DC565-FE42-4ACF-8359-44981FFC1B12}" destId="{10C2ADB5-FB0D-4752-B06B-69F09CC2A46D}" srcOrd="3" destOrd="0" presId="urn:microsoft.com/office/officeart/2008/layout/VerticalCurvedList"/>
    <dgm:cxn modelId="{03A8CA3A-6F3C-41AF-8D6C-3550C795BA71}" type="presParOf" srcId="{741DC565-FE42-4ACF-8359-44981FFC1B12}" destId="{C0CAC0D3-EF99-4C9D-8A19-17647A156FC1}" srcOrd="4" destOrd="0" presId="urn:microsoft.com/office/officeart/2008/layout/VerticalCurvedList"/>
    <dgm:cxn modelId="{C1E165D5-4404-47C4-A824-642D48712EC2}" type="presParOf" srcId="{C0CAC0D3-EF99-4C9D-8A19-17647A156FC1}" destId="{4878E8A0-0F62-483E-9C85-41A7D184C6F2}" srcOrd="0" destOrd="0" presId="urn:microsoft.com/office/officeart/2008/layout/VerticalCurvedList"/>
    <dgm:cxn modelId="{50BC3067-7C9F-4DDA-A712-E856178F0212}" type="presParOf" srcId="{741DC565-FE42-4ACF-8359-44981FFC1B12}" destId="{A63D8216-A541-4DFA-963D-37F99664E5CA}" srcOrd="5" destOrd="0" presId="urn:microsoft.com/office/officeart/2008/layout/VerticalCurvedList"/>
    <dgm:cxn modelId="{2F01C302-2294-4984-B03B-0569FF4F0D60}" type="presParOf" srcId="{741DC565-FE42-4ACF-8359-44981FFC1B12}" destId="{0DAD6A51-E37D-47F7-9190-791ADE01403A}" srcOrd="6" destOrd="0" presId="urn:microsoft.com/office/officeart/2008/layout/VerticalCurvedList"/>
    <dgm:cxn modelId="{D138D3AF-76D2-456F-9DA9-2A8B4EA94784}" type="presParOf" srcId="{0DAD6A51-E37D-47F7-9190-791ADE01403A}" destId="{0B3E8BE0-A7F0-4C2D-9FEB-4C59B0782F15}" srcOrd="0" destOrd="0" presId="urn:microsoft.com/office/officeart/2008/layout/VerticalCurvedList"/>
    <dgm:cxn modelId="{2B456724-4B7E-43FC-890A-2A1221488B45}" type="presParOf" srcId="{741DC565-FE42-4ACF-8359-44981FFC1B12}" destId="{0E33DE18-55C6-4CFB-A078-1913295E31FB}" srcOrd="7" destOrd="0" presId="urn:microsoft.com/office/officeart/2008/layout/VerticalCurvedList"/>
    <dgm:cxn modelId="{653628B6-4743-47D5-991C-8F71DEE268BD}" type="presParOf" srcId="{741DC565-FE42-4ACF-8359-44981FFC1B12}" destId="{EDCC3EAE-5087-40F7-B0ED-BE1B6F726F9A}" srcOrd="8" destOrd="0" presId="urn:microsoft.com/office/officeart/2008/layout/VerticalCurvedList"/>
    <dgm:cxn modelId="{214A3BFD-2EC0-4147-B2E9-06B52E751DEC}" type="presParOf" srcId="{EDCC3EAE-5087-40F7-B0ED-BE1B6F726F9A}" destId="{FF85C72B-7D4D-4627-A8BB-C905CA7F3BA8}"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43F5CB-BC5D-4A11-AB32-2960081BEC2E}" type="doc">
      <dgm:prSet loTypeId="urn:microsoft.com/office/officeart/2008/layout/VerticalCurvedList" loCatId="list" qsTypeId="urn:microsoft.com/office/officeart/2005/8/quickstyle/simple1" qsCatId="simple" csTypeId="urn:microsoft.com/office/officeart/2005/8/colors/accent3_1" csCatId="accent3" phldr="1"/>
      <dgm:spPr/>
      <dgm:t>
        <a:bodyPr/>
        <a:lstStyle/>
        <a:p>
          <a:endParaRPr lang="en-CA"/>
        </a:p>
      </dgm:t>
    </dgm:pt>
    <dgm:pt modelId="{A5A548B3-6AC7-4528-ADEB-4C80B2EB9FE1}">
      <dgm:prSet phldrT="[Text]"/>
      <dgm:spPr/>
      <dgm:t>
        <a:bodyPr/>
        <a:lstStyle/>
        <a:p>
          <a:r>
            <a:rPr lang="en-CA" dirty="0"/>
            <a:t>Application Control Basics </a:t>
          </a:r>
        </a:p>
      </dgm:t>
    </dgm:pt>
    <dgm:pt modelId="{1635DA8A-138F-48A1-9C85-52947E284BC8}" type="parTrans" cxnId="{91CDDA45-F03D-4B20-B354-C78068DC480D}">
      <dgm:prSet/>
      <dgm:spPr/>
      <dgm:t>
        <a:bodyPr/>
        <a:lstStyle/>
        <a:p>
          <a:endParaRPr lang="en-CA"/>
        </a:p>
      </dgm:t>
    </dgm:pt>
    <dgm:pt modelId="{5B1B9221-1044-403A-81A4-A41C0E0449B9}" type="sibTrans" cxnId="{91CDDA45-F03D-4B20-B354-C78068DC480D}">
      <dgm:prSet/>
      <dgm:spPr/>
      <dgm:t>
        <a:bodyPr/>
        <a:lstStyle/>
        <a:p>
          <a:endParaRPr lang="en-CA"/>
        </a:p>
      </dgm:t>
    </dgm:pt>
    <dgm:pt modelId="{5E715238-0243-4B0E-84F0-3572BED2843B}">
      <dgm:prSet phldrT="[Text]"/>
      <dgm:spPr/>
      <dgm:t>
        <a:bodyPr/>
        <a:lstStyle/>
        <a:p>
          <a:r>
            <a:rPr lang="en-CA" dirty="0"/>
            <a:t>Application Control Configuration</a:t>
          </a:r>
        </a:p>
      </dgm:t>
    </dgm:pt>
    <dgm:pt modelId="{37C7220A-1F26-46EF-B19E-0F6F41572631}" type="parTrans" cxnId="{933FC1C8-14D2-45E6-9D75-DFEE73C4AF3D}">
      <dgm:prSet/>
      <dgm:spPr/>
      <dgm:t>
        <a:bodyPr/>
        <a:lstStyle/>
        <a:p>
          <a:endParaRPr lang="en-CA"/>
        </a:p>
      </dgm:t>
    </dgm:pt>
    <dgm:pt modelId="{18820F0F-724D-4DC1-9209-8C14E64BDBE5}" type="sibTrans" cxnId="{933FC1C8-14D2-45E6-9D75-DFEE73C4AF3D}">
      <dgm:prSet/>
      <dgm:spPr/>
      <dgm:t>
        <a:bodyPr/>
        <a:lstStyle/>
        <a:p>
          <a:endParaRPr lang="en-CA"/>
        </a:p>
      </dgm:t>
    </dgm:pt>
    <dgm:pt modelId="{310E8F2C-89DE-4BA5-97DA-F646BC52F749}">
      <dgm:prSet phldrT="[Text]"/>
      <dgm:spPr/>
      <dgm:t>
        <a:bodyPr/>
        <a:lstStyle/>
        <a:p>
          <a:r>
            <a:rPr lang="en-CA" dirty="0"/>
            <a:t>Logging and Monitoring Application Control Events</a:t>
          </a:r>
        </a:p>
      </dgm:t>
    </dgm:pt>
    <dgm:pt modelId="{CE5653AB-9867-430F-83A4-4D43B9255EAA}" type="parTrans" cxnId="{873FB72E-8684-4E1F-A702-6347BB0BAFE6}">
      <dgm:prSet/>
      <dgm:spPr/>
      <dgm:t>
        <a:bodyPr/>
        <a:lstStyle/>
        <a:p>
          <a:endParaRPr lang="en-CA"/>
        </a:p>
      </dgm:t>
    </dgm:pt>
    <dgm:pt modelId="{AB853960-23F8-4467-9195-EBC196F92A59}" type="sibTrans" cxnId="{873FB72E-8684-4E1F-A702-6347BB0BAFE6}">
      <dgm:prSet/>
      <dgm:spPr/>
      <dgm:t>
        <a:bodyPr/>
        <a:lstStyle/>
        <a:p>
          <a:endParaRPr lang="en-CA"/>
        </a:p>
      </dgm:t>
    </dgm:pt>
    <dgm:pt modelId="{5DC0ABC7-4E89-4441-93D1-5F595739B35F}">
      <dgm:prSet phldrT="[Text]"/>
      <dgm:spPr/>
      <dgm:t>
        <a:bodyPr/>
        <a:lstStyle/>
        <a:p>
          <a:r>
            <a:rPr lang="en-CA" dirty="0"/>
            <a:t>Best Practices and Troubleshooting </a:t>
          </a:r>
        </a:p>
      </dgm:t>
    </dgm:pt>
    <dgm:pt modelId="{6FAEBA44-A66C-4BA6-865F-3233BA262635}" type="parTrans" cxnId="{3C41828C-6D08-4E1B-B0A4-29E16855EB92}">
      <dgm:prSet/>
      <dgm:spPr/>
      <dgm:t>
        <a:bodyPr/>
        <a:lstStyle/>
        <a:p>
          <a:endParaRPr lang="en-CA"/>
        </a:p>
      </dgm:t>
    </dgm:pt>
    <dgm:pt modelId="{EB500D88-7457-47AA-B8B1-016F21012FCE}" type="sibTrans" cxnId="{3C41828C-6D08-4E1B-B0A4-29E16855EB92}">
      <dgm:prSet/>
      <dgm:spPr/>
      <dgm:t>
        <a:bodyPr/>
        <a:lstStyle/>
        <a:p>
          <a:endParaRPr lang="en-CA"/>
        </a:p>
      </dgm:t>
    </dgm:pt>
    <dgm:pt modelId="{3FB16CE5-CAA2-4957-8C7B-4DB8F06B5FE6}" type="pres">
      <dgm:prSet presAssocID="{D043F5CB-BC5D-4A11-AB32-2960081BEC2E}" presName="Name0" presStyleCnt="0">
        <dgm:presLayoutVars>
          <dgm:chMax val="7"/>
          <dgm:chPref val="7"/>
          <dgm:dir/>
        </dgm:presLayoutVars>
      </dgm:prSet>
      <dgm:spPr/>
      <dgm:t>
        <a:bodyPr/>
        <a:lstStyle/>
        <a:p>
          <a:endParaRPr lang="en-US"/>
        </a:p>
      </dgm:t>
    </dgm:pt>
    <dgm:pt modelId="{741DC565-FE42-4ACF-8359-44981FFC1B12}" type="pres">
      <dgm:prSet presAssocID="{D043F5CB-BC5D-4A11-AB32-2960081BEC2E}" presName="Name1" presStyleCnt="0"/>
      <dgm:spPr/>
    </dgm:pt>
    <dgm:pt modelId="{006628EE-2672-4E73-AF80-C2FA6DA0F245}" type="pres">
      <dgm:prSet presAssocID="{D043F5CB-BC5D-4A11-AB32-2960081BEC2E}" presName="cycle" presStyleCnt="0"/>
      <dgm:spPr/>
    </dgm:pt>
    <dgm:pt modelId="{83CBCA6B-4523-45AB-8C5C-5DCAC4D94B22}" type="pres">
      <dgm:prSet presAssocID="{D043F5CB-BC5D-4A11-AB32-2960081BEC2E}" presName="srcNode" presStyleLbl="node1" presStyleIdx="0" presStyleCnt="4"/>
      <dgm:spPr/>
    </dgm:pt>
    <dgm:pt modelId="{D593A696-9230-4ACA-9D52-83E05F9F38F7}" type="pres">
      <dgm:prSet presAssocID="{D043F5CB-BC5D-4A11-AB32-2960081BEC2E}" presName="conn" presStyleLbl="parChTrans1D2" presStyleIdx="0" presStyleCnt="1"/>
      <dgm:spPr/>
      <dgm:t>
        <a:bodyPr/>
        <a:lstStyle/>
        <a:p>
          <a:endParaRPr lang="en-US"/>
        </a:p>
      </dgm:t>
    </dgm:pt>
    <dgm:pt modelId="{2CD41FF4-48CE-42E3-8206-C4D806851A54}" type="pres">
      <dgm:prSet presAssocID="{D043F5CB-BC5D-4A11-AB32-2960081BEC2E}" presName="extraNode" presStyleLbl="node1" presStyleIdx="0" presStyleCnt="4"/>
      <dgm:spPr/>
    </dgm:pt>
    <dgm:pt modelId="{BC70810A-B28C-4236-8A87-6A2163164CC9}" type="pres">
      <dgm:prSet presAssocID="{D043F5CB-BC5D-4A11-AB32-2960081BEC2E}" presName="dstNode" presStyleLbl="node1" presStyleIdx="0" presStyleCnt="4"/>
      <dgm:spPr/>
    </dgm:pt>
    <dgm:pt modelId="{4F10BD40-3D78-480D-9C3C-DEEAA6B532C0}" type="pres">
      <dgm:prSet presAssocID="{A5A548B3-6AC7-4528-ADEB-4C80B2EB9FE1}" presName="text_1" presStyleLbl="node1" presStyleIdx="0" presStyleCnt="4">
        <dgm:presLayoutVars>
          <dgm:bulletEnabled val="1"/>
        </dgm:presLayoutVars>
      </dgm:prSet>
      <dgm:spPr/>
      <dgm:t>
        <a:bodyPr/>
        <a:lstStyle/>
        <a:p>
          <a:endParaRPr lang="en-US"/>
        </a:p>
      </dgm:t>
    </dgm:pt>
    <dgm:pt modelId="{35D0FE1D-F306-4BA6-BA98-7A522EF93A6B}" type="pres">
      <dgm:prSet presAssocID="{A5A548B3-6AC7-4528-ADEB-4C80B2EB9FE1}" presName="accent_1" presStyleCnt="0"/>
      <dgm:spPr/>
    </dgm:pt>
    <dgm:pt modelId="{9538A860-37A9-47C9-89B1-15B5ED1C3C45}" type="pres">
      <dgm:prSet presAssocID="{A5A548B3-6AC7-4528-ADEB-4C80B2EB9FE1}" presName="accentRepeatNode" presStyleLbl="solidFgAcc1" presStyleIdx="0" presStyleCnt="4" custLinFactNeighborX="1830" custLinFactNeighborY="474"/>
      <dgm:spPr/>
    </dgm:pt>
    <dgm:pt modelId="{10C2ADB5-FB0D-4752-B06B-69F09CC2A46D}" type="pres">
      <dgm:prSet presAssocID="{5E715238-0243-4B0E-84F0-3572BED2843B}" presName="text_2" presStyleLbl="node1" presStyleIdx="1" presStyleCnt="4">
        <dgm:presLayoutVars>
          <dgm:bulletEnabled val="1"/>
        </dgm:presLayoutVars>
      </dgm:prSet>
      <dgm:spPr/>
      <dgm:t>
        <a:bodyPr/>
        <a:lstStyle/>
        <a:p>
          <a:endParaRPr lang="en-US"/>
        </a:p>
      </dgm:t>
    </dgm:pt>
    <dgm:pt modelId="{C0CAC0D3-EF99-4C9D-8A19-17647A156FC1}" type="pres">
      <dgm:prSet presAssocID="{5E715238-0243-4B0E-84F0-3572BED2843B}" presName="accent_2" presStyleCnt="0"/>
      <dgm:spPr/>
    </dgm:pt>
    <dgm:pt modelId="{4878E8A0-0F62-483E-9C85-41A7D184C6F2}" type="pres">
      <dgm:prSet presAssocID="{5E715238-0243-4B0E-84F0-3572BED2843B}" presName="accentRepeatNode" presStyleLbl="solidFgAcc1" presStyleIdx="1" presStyleCnt="4"/>
      <dgm:spPr/>
    </dgm:pt>
    <dgm:pt modelId="{A63D8216-A541-4DFA-963D-37F99664E5CA}" type="pres">
      <dgm:prSet presAssocID="{310E8F2C-89DE-4BA5-97DA-F646BC52F749}" presName="text_3" presStyleLbl="node1" presStyleIdx="2" presStyleCnt="4">
        <dgm:presLayoutVars>
          <dgm:bulletEnabled val="1"/>
        </dgm:presLayoutVars>
      </dgm:prSet>
      <dgm:spPr/>
      <dgm:t>
        <a:bodyPr/>
        <a:lstStyle/>
        <a:p>
          <a:endParaRPr lang="en-US"/>
        </a:p>
      </dgm:t>
    </dgm:pt>
    <dgm:pt modelId="{0DAD6A51-E37D-47F7-9190-791ADE01403A}" type="pres">
      <dgm:prSet presAssocID="{310E8F2C-89DE-4BA5-97DA-F646BC52F749}" presName="accent_3" presStyleCnt="0"/>
      <dgm:spPr/>
    </dgm:pt>
    <dgm:pt modelId="{0B3E8BE0-A7F0-4C2D-9FEB-4C59B0782F15}" type="pres">
      <dgm:prSet presAssocID="{310E8F2C-89DE-4BA5-97DA-F646BC52F749}" presName="accentRepeatNode" presStyleLbl="solidFgAcc1" presStyleIdx="2" presStyleCnt="4"/>
      <dgm:spPr/>
    </dgm:pt>
    <dgm:pt modelId="{71FCA8E0-9176-4EAE-90E1-8B42EA4AFB91}" type="pres">
      <dgm:prSet presAssocID="{5DC0ABC7-4E89-4441-93D1-5F595739B35F}" presName="text_4" presStyleLbl="node1" presStyleIdx="3" presStyleCnt="4">
        <dgm:presLayoutVars>
          <dgm:bulletEnabled val="1"/>
        </dgm:presLayoutVars>
      </dgm:prSet>
      <dgm:spPr/>
      <dgm:t>
        <a:bodyPr/>
        <a:lstStyle/>
        <a:p>
          <a:endParaRPr lang="en-US"/>
        </a:p>
      </dgm:t>
    </dgm:pt>
    <dgm:pt modelId="{1000546A-3C2B-480A-A619-AD56C33D73F9}" type="pres">
      <dgm:prSet presAssocID="{5DC0ABC7-4E89-4441-93D1-5F595739B35F}" presName="accent_4" presStyleCnt="0"/>
      <dgm:spPr/>
    </dgm:pt>
    <dgm:pt modelId="{43074871-0F25-40BB-ACDD-A0E06721FA07}" type="pres">
      <dgm:prSet presAssocID="{5DC0ABC7-4E89-4441-93D1-5F595739B35F}" presName="accentRepeatNode" presStyleLbl="solidFgAcc1" presStyleIdx="3" presStyleCnt="4"/>
      <dgm:spPr/>
    </dgm:pt>
  </dgm:ptLst>
  <dgm:cxnLst>
    <dgm:cxn modelId="{A480D2E9-A5BB-41A5-9339-556B165016E2}" type="presOf" srcId="{5B1B9221-1044-403A-81A4-A41C0E0449B9}" destId="{D593A696-9230-4ACA-9D52-83E05F9F38F7}" srcOrd="0" destOrd="0" presId="urn:microsoft.com/office/officeart/2008/layout/VerticalCurvedList"/>
    <dgm:cxn modelId="{B3D9089A-1FA8-4E43-8B7C-96CAECBDB9B7}" type="presOf" srcId="{5DC0ABC7-4E89-4441-93D1-5F595739B35F}" destId="{71FCA8E0-9176-4EAE-90E1-8B42EA4AFB91}" srcOrd="0" destOrd="0" presId="urn:microsoft.com/office/officeart/2008/layout/VerticalCurvedList"/>
    <dgm:cxn modelId="{3C41828C-6D08-4E1B-B0A4-29E16855EB92}" srcId="{D043F5CB-BC5D-4A11-AB32-2960081BEC2E}" destId="{5DC0ABC7-4E89-4441-93D1-5F595739B35F}" srcOrd="3" destOrd="0" parTransId="{6FAEBA44-A66C-4BA6-865F-3233BA262635}" sibTransId="{EB500D88-7457-47AA-B8B1-016F21012FCE}"/>
    <dgm:cxn modelId="{DF39BC01-4988-46C9-BBAC-74658C02AFD1}" type="presOf" srcId="{310E8F2C-89DE-4BA5-97DA-F646BC52F749}" destId="{A63D8216-A541-4DFA-963D-37F99664E5CA}" srcOrd="0" destOrd="0" presId="urn:microsoft.com/office/officeart/2008/layout/VerticalCurvedList"/>
    <dgm:cxn modelId="{2709C8FB-5DC5-43F8-9B20-DD6C1D45F98F}" type="presOf" srcId="{5E715238-0243-4B0E-84F0-3572BED2843B}" destId="{10C2ADB5-FB0D-4752-B06B-69F09CC2A46D}" srcOrd="0" destOrd="0" presId="urn:microsoft.com/office/officeart/2008/layout/VerticalCurvedList"/>
    <dgm:cxn modelId="{EC469138-78E2-46A0-8B18-9B31512B9DCD}" type="presOf" srcId="{A5A548B3-6AC7-4528-ADEB-4C80B2EB9FE1}" destId="{4F10BD40-3D78-480D-9C3C-DEEAA6B532C0}" srcOrd="0" destOrd="0" presId="urn:microsoft.com/office/officeart/2008/layout/VerticalCurvedList"/>
    <dgm:cxn modelId="{933FC1C8-14D2-45E6-9D75-DFEE73C4AF3D}" srcId="{D043F5CB-BC5D-4A11-AB32-2960081BEC2E}" destId="{5E715238-0243-4B0E-84F0-3572BED2843B}" srcOrd="1" destOrd="0" parTransId="{37C7220A-1F26-46EF-B19E-0F6F41572631}" sibTransId="{18820F0F-724D-4DC1-9209-8C14E64BDBE5}"/>
    <dgm:cxn modelId="{873FB72E-8684-4E1F-A702-6347BB0BAFE6}" srcId="{D043F5CB-BC5D-4A11-AB32-2960081BEC2E}" destId="{310E8F2C-89DE-4BA5-97DA-F646BC52F749}" srcOrd="2" destOrd="0" parTransId="{CE5653AB-9867-430F-83A4-4D43B9255EAA}" sibTransId="{AB853960-23F8-4467-9195-EBC196F92A59}"/>
    <dgm:cxn modelId="{91CDDA45-F03D-4B20-B354-C78068DC480D}" srcId="{D043F5CB-BC5D-4A11-AB32-2960081BEC2E}" destId="{A5A548B3-6AC7-4528-ADEB-4C80B2EB9FE1}" srcOrd="0" destOrd="0" parTransId="{1635DA8A-138F-48A1-9C85-52947E284BC8}" sibTransId="{5B1B9221-1044-403A-81A4-A41C0E0449B9}"/>
    <dgm:cxn modelId="{89193762-4681-4699-ACA9-62C894E057D5}" type="presOf" srcId="{D043F5CB-BC5D-4A11-AB32-2960081BEC2E}" destId="{3FB16CE5-CAA2-4957-8C7B-4DB8F06B5FE6}" srcOrd="0" destOrd="0" presId="urn:microsoft.com/office/officeart/2008/layout/VerticalCurvedList"/>
    <dgm:cxn modelId="{0496FB91-607E-42AA-8823-3AE8523054CE}" type="presParOf" srcId="{3FB16CE5-CAA2-4957-8C7B-4DB8F06B5FE6}" destId="{741DC565-FE42-4ACF-8359-44981FFC1B12}" srcOrd="0" destOrd="0" presId="urn:microsoft.com/office/officeart/2008/layout/VerticalCurvedList"/>
    <dgm:cxn modelId="{468AF12D-C4AE-4499-9EF1-D3ED8199076C}" type="presParOf" srcId="{741DC565-FE42-4ACF-8359-44981FFC1B12}" destId="{006628EE-2672-4E73-AF80-C2FA6DA0F245}" srcOrd="0" destOrd="0" presId="urn:microsoft.com/office/officeart/2008/layout/VerticalCurvedList"/>
    <dgm:cxn modelId="{3F08EBC8-D597-4BFF-AA18-E2D1B16D83FC}" type="presParOf" srcId="{006628EE-2672-4E73-AF80-C2FA6DA0F245}" destId="{83CBCA6B-4523-45AB-8C5C-5DCAC4D94B22}" srcOrd="0" destOrd="0" presId="urn:microsoft.com/office/officeart/2008/layout/VerticalCurvedList"/>
    <dgm:cxn modelId="{60DC1407-227F-4E9A-9313-569B385BF9CD}" type="presParOf" srcId="{006628EE-2672-4E73-AF80-C2FA6DA0F245}" destId="{D593A696-9230-4ACA-9D52-83E05F9F38F7}" srcOrd="1" destOrd="0" presId="urn:microsoft.com/office/officeart/2008/layout/VerticalCurvedList"/>
    <dgm:cxn modelId="{49CC66B9-F0E0-41DF-B1EC-AAC7445B8093}" type="presParOf" srcId="{006628EE-2672-4E73-AF80-C2FA6DA0F245}" destId="{2CD41FF4-48CE-42E3-8206-C4D806851A54}" srcOrd="2" destOrd="0" presId="urn:microsoft.com/office/officeart/2008/layout/VerticalCurvedList"/>
    <dgm:cxn modelId="{7F77AF05-6E9D-4373-BD0A-89E0813341A0}" type="presParOf" srcId="{006628EE-2672-4E73-AF80-C2FA6DA0F245}" destId="{BC70810A-B28C-4236-8A87-6A2163164CC9}" srcOrd="3" destOrd="0" presId="urn:microsoft.com/office/officeart/2008/layout/VerticalCurvedList"/>
    <dgm:cxn modelId="{BED39540-8E96-4359-8A06-DF55E2480D5F}" type="presParOf" srcId="{741DC565-FE42-4ACF-8359-44981FFC1B12}" destId="{4F10BD40-3D78-480D-9C3C-DEEAA6B532C0}" srcOrd="1" destOrd="0" presId="urn:microsoft.com/office/officeart/2008/layout/VerticalCurvedList"/>
    <dgm:cxn modelId="{4881C8F0-BFD3-4D08-BA91-742AEEDBFB51}" type="presParOf" srcId="{741DC565-FE42-4ACF-8359-44981FFC1B12}" destId="{35D0FE1D-F306-4BA6-BA98-7A522EF93A6B}" srcOrd="2" destOrd="0" presId="urn:microsoft.com/office/officeart/2008/layout/VerticalCurvedList"/>
    <dgm:cxn modelId="{FBB007E1-D979-4DE7-AFCE-2FDE374DC9B8}" type="presParOf" srcId="{35D0FE1D-F306-4BA6-BA98-7A522EF93A6B}" destId="{9538A860-37A9-47C9-89B1-15B5ED1C3C45}" srcOrd="0" destOrd="0" presId="urn:microsoft.com/office/officeart/2008/layout/VerticalCurvedList"/>
    <dgm:cxn modelId="{1B953C70-F81C-49E2-A470-5E719419AD7F}" type="presParOf" srcId="{741DC565-FE42-4ACF-8359-44981FFC1B12}" destId="{10C2ADB5-FB0D-4752-B06B-69F09CC2A46D}" srcOrd="3" destOrd="0" presId="urn:microsoft.com/office/officeart/2008/layout/VerticalCurvedList"/>
    <dgm:cxn modelId="{B22827BB-5689-4C6E-B446-957851167F02}" type="presParOf" srcId="{741DC565-FE42-4ACF-8359-44981FFC1B12}" destId="{C0CAC0D3-EF99-4C9D-8A19-17647A156FC1}" srcOrd="4" destOrd="0" presId="urn:microsoft.com/office/officeart/2008/layout/VerticalCurvedList"/>
    <dgm:cxn modelId="{335D6130-5C66-4F00-957B-9AAB3DCB53FD}" type="presParOf" srcId="{C0CAC0D3-EF99-4C9D-8A19-17647A156FC1}" destId="{4878E8A0-0F62-483E-9C85-41A7D184C6F2}" srcOrd="0" destOrd="0" presId="urn:microsoft.com/office/officeart/2008/layout/VerticalCurvedList"/>
    <dgm:cxn modelId="{E9C5FF67-F23C-4A19-A9D1-58122CDCDC5D}" type="presParOf" srcId="{741DC565-FE42-4ACF-8359-44981FFC1B12}" destId="{A63D8216-A541-4DFA-963D-37F99664E5CA}" srcOrd="5" destOrd="0" presId="urn:microsoft.com/office/officeart/2008/layout/VerticalCurvedList"/>
    <dgm:cxn modelId="{B70E2100-09B0-4F1F-9573-F75B8D4F6863}" type="presParOf" srcId="{741DC565-FE42-4ACF-8359-44981FFC1B12}" destId="{0DAD6A51-E37D-47F7-9190-791ADE01403A}" srcOrd="6" destOrd="0" presId="urn:microsoft.com/office/officeart/2008/layout/VerticalCurvedList"/>
    <dgm:cxn modelId="{8E607FD5-E438-426B-8AB9-E8520F14A651}" type="presParOf" srcId="{0DAD6A51-E37D-47F7-9190-791ADE01403A}" destId="{0B3E8BE0-A7F0-4C2D-9FEB-4C59B0782F15}" srcOrd="0" destOrd="0" presId="urn:microsoft.com/office/officeart/2008/layout/VerticalCurvedList"/>
    <dgm:cxn modelId="{9CAB0ED6-E0AA-42D7-AFEF-7770283C27BC}" type="presParOf" srcId="{741DC565-FE42-4ACF-8359-44981FFC1B12}" destId="{71FCA8E0-9176-4EAE-90E1-8B42EA4AFB91}" srcOrd="7" destOrd="0" presId="urn:microsoft.com/office/officeart/2008/layout/VerticalCurvedList"/>
    <dgm:cxn modelId="{44F53AFD-A005-4E91-B9F7-12F711C1DDFF}" type="presParOf" srcId="{741DC565-FE42-4ACF-8359-44981FFC1B12}" destId="{1000546A-3C2B-480A-A619-AD56C33D73F9}" srcOrd="8" destOrd="0" presId="urn:microsoft.com/office/officeart/2008/layout/VerticalCurvedList"/>
    <dgm:cxn modelId="{EA485C7E-E058-4644-A38E-4CFD52B840FB}" type="presParOf" srcId="{1000546A-3C2B-480A-A619-AD56C33D73F9}" destId="{43074871-0F25-40BB-ACDD-A0E06721FA07}"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616298" y="-859773"/>
          <a:ext cx="6686833" cy="6686833"/>
        </a:xfrm>
        <a:prstGeom prst="blockArc">
          <a:avLst>
            <a:gd name="adj1" fmla="val 18900000"/>
            <a:gd name="adj2" fmla="val 2700000"/>
            <a:gd name="adj3" fmla="val 323"/>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60398" y="381885"/>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83820" rIns="83820" bIns="83820" numCol="1" spcCol="1270" anchor="ctr" anchorCtr="0">
          <a:noAutofit/>
        </a:bodyPr>
        <a:lstStyle/>
        <a:p>
          <a:pPr lvl="0" algn="l" defTabSz="1466850">
            <a:lnSpc>
              <a:spcPct val="90000"/>
            </a:lnSpc>
            <a:spcBef>
              <a:spcPct val="0"/>
            </a:spcBef>
            <a:spcAft>
              <a:spcPct val="35000"/>
            </a:spcAft>
          </a:pPr>
          <a:r>
            <a:rPr lang="en-CA" sz="3300" kern="1200" dirty="0"/>
            <a:t>Application Control Basics </a:t>
          </a:r>
        </a:p>
      </dsp:txBody>
      <dsp:txXfrm>
        <a:off x="560398" y="381885"/>
        <a:ext cx="10757286" cy="764167"/>
      </dsp:txXfrm>
    </dsp:sp>
    <dsp:sp modelId="{9538A860-37A9-47C9-89B1-15B5ED1C3C45}">
      <dsp:nvSpPr>
        <dsp:cNvPr id="0" name=""/>
        <dsp:cNvSpPr/>
      </dsp:nvSpPr>
      <dsp:spPr>
        <a:xfrm>
          <a:off x="100274" y="290891"/>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98513" y="152833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83820" rIns="83820" bIns="83820" numCol="1" spcCol="1270" anchor="ctr" anchorCtr="0">
          <a:noAutofit/>
        </a:bodyPr>
        <a:lstStyle/>
        <a:p>
          <a:pPr lvl="0" algn="l" defTabSz="1466850">
            <a:lnSpc>
              <a:spcPct val="90000"/>
            </a:lnSpc>
            <a:spcBef>
              <a:spcPct val="0"/>
            </a:spcBef>
            <a:spcAft>
              <a:spcPct val="35000"/>
            </a:spcAft>
          </a:pPr>
          <a:r>
            <a:rPr lang="en-CA" sz="3300" kern="1200" dirty="0"/>
            <a:t>Application Control Configuration</a:t>
          </a:r>
        </a:p>
      </dsp:txBody>
      <dsp:txXfrm>
        <a:off x="998513" y="1528334"/>
        <a:ext cx="10319171" cy="764167"/>
      </dsp:txXfrm>
    </dsp:sp>
    <dsp:sp modelId="{4878E8A0-0F62-483E-9C85-41A7D184C6F2}">
      <dsp:nvSpPr>
        <dsp:cNvPr id="0" name=""/>
        <dsp:cNvSpPr/>
      </dsp:nvSpPr>
      <dsp:spPr>
        <a:xfrm>
          <a:off x="520909" y="14328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1E01C13-C714-4D2E-8BAF-3156ED7C412B}">
      <dsp:nvSpPr>
        <dsp:cNvPr id="0" name=""/>
        <dsp:cNvSpPr/>
      </dsp:nvSpPr>
      <dsp:spPr>
        <a:xfrm>
          <a:off x="998513" y="2674784"/>
          <a:ext cx="10319171"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83820" rIns="83820" bIns="83820" numCol="1" spcCol="1270" anchor="ctr" anchorCtr="0">
          <a:noAutofit/>
        </a:bodyPr>
        <a:lstStyle/>
        <a:p>
          <a:pPr lvl="0" algn="l" defTabSz="1466850">
            <a:lnSpc>
              <a:spcPct val="90000"/>
            </a:lnSpc>
            <a:spcBef>
              <a:spcPct val="0"/>
            </a:spcBef>
            <a:spcAft>
              <a:spcPct val="35000"/>
            </a:spcAft>
          </a:pPr>
          <a:r>
            <a:rPr lang="en-CA" sz="3300" kern="1200" dirty="0"/>
            <a:t>Logging and Monitoring Application Control Events</a:t>
          </a:r>
        </a:p>
      </dsp:txBody>
      <dsp:txXfrm>
        <a:off x="998513" y="2674784"/>
        <a:ext cx="10319171" cy="764167"/>
      </dsp:txXfrm>
    </dsp:sp>
    <dsp:sp modelId="{431AB879-52A5-43D1-878D-B19B73A93CFA}">
      <dsp:nvSpPr>
        <dsp:cNvPr id="0" name=""/>
        <dsp:cNvSpPr/>
      </dsp:nvSpPr>
      <dsp:spPr>
        <a:xfrm>
          <a:off x="520909" y="257926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33DE18-55C6-4CFB-A078-1913295E31FB}">
      <dsp:nvSpPr>
        <dsp:cNvPr id="0" name=""/>
        <dsp:cNvSpPr/>
      </dsp:nvSpPr>
      <dsp:spPr>
        <a:xfrm>
          <a:off x="560398" y="3821234"/>
          <a:ext cx="10757286" cy="764167"/>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6558" tIns="83820" rIns="83820" bIns="83820" numCol="1" spcCol="1270" anchor="ctr" anchorCtr="0">
          <a:noAutofit/>
        </a:bodyPr>
        <a:lstStyle/>
        <a:p>
          <a:pPr lvl="0" algn="l" defTabSz="1466850">
            <a:lnSpc>
              <a:spcPct val="90000"/>
            </a:lnSpc>
            <a:spcBef>
              <a:spcPct val="0"/>
            </a:spcBef>
            <a:spcAft>
              <a:spcPct val="35000"/>
            </a:spcAft>
          </a:pPr>
          <a:r>
            <a:rPr lang="en-CA" sz="3300" kern="1200" dirty="0"/>
            <a:t>Best Practices and Troubleshooting </a:t>
          </a:r>
        </a:p>
      </dsp:txBody>
      <dsp:txXfrm>
        <a:off x="560398" y="3821234"/>
        <a:ext cx="10757286" cy="764167"/>
      </dsp:txXfrm>
    </dsp:sp>
    <dsp:sp modelId="{FF85C72B-7D4D-4627-A8BB-C905CA7F3BA8}">
      <dsp:nvSpPr>
        <dsp:cNvPr id="0" name=""/>
        <dsp:cNvSpPr/>
      </dsp:nvSpPr>
      <dsp:spPr>
        <a:xfrm>
          <a:off x="82794" y="3725713"/>
          <a:ext cx="955209" cy="95520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Basics </a:t>
          </a:r>
        </a:p>
      </dsp:txBody>
      <dsp:txXfrm>
        <a:off x="531674" y="361991"/>
        <a:ext cx="10790097" cy="724359"/>
      </dsp:txXfrm>
    </dsp:sp>
    <dsp:sp modelId="{9538A860-37A9-47C9-89B1-15B5ED1C3C45}">
      <dsp:nvSpPr>
        <dsp:cNvPr id="0" name=""/>
        <dsp:cNvSpPr/>
      </dsp:nvSpPr>
      <dsp:spPr>
        <a:xfrm>
          <a:off x="0" y="250222"/>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Configuration</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611DEE7-32FF-4DC5-A67C-DC28A3ED0DF1}">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marL="0" marR="0" lvl="0" indent="0" algn="l" defTabSz="914400" eaLnBrk="1" fontAlgn="auto" latinLnBrk="0" hangingPunct="1">
            <a:lnSpc>
              <a:spcPct val="100000"/>
            </a:lnSpc>
            <a:spcBef>
              <a:spcPct val="0"/>
            </a:spcBef>
            <a:spcAft>
              <a:spcPts val="0"/>
            </a:spcAft>
            <a:buClrTx/>
            <a:buSzTx/>
            <a:buFontTx/>
            <a:buNone/>
            <a:tabLst/>
            <a:defRPr/>
          </a:pPr>
          <a:r>
            <a:rPr lang="en-CA" sz="3400" kern="1200" dirty="0"/>
            <a:t>Logging and Monitoring Application Control Events</a:t>
          </a:r>
        </a:p>
      </dsp:txBody>
      <dsp:txXfrm>
        <a:off x="946966" y="2535446"/>
        <a:ext cx="10374805" cy="724359"/>
      </dsp:txXfrm>
    </dsp:sp>
    <dsp:sp modelId="{C69BCCF0-CEED-4E0F-884C-7748FDA541F3}">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33DE18-55C6-4CFB-A078-1913295E31FB}">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Best Practices and Troubleshooting </a:t>
          </a:r>
        </a:p>
      </dsp:txBody>
      <dsp:txXfrm>
        <a:off x="531674" y="3622174"/>
        <a:ext cx="10790097" cy="724359"/>
      </dsp:txXfrm>
    </dsp:sp>
    <dsp:sp modelId="{FF85C72B-7D4D-4627-A8BB-C905CA7F3BA8}">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Application Control Basics </a:t>
          </a:r>
        </a:p>
      </dsp:txBody>
      <dsp:txXfrm>
        <a:off x="531674" y="361991"/>
        <a:ext cx="10790097" cy="724359"/>
      </dsp:txXfrm>
    </dsp:sp>
    <dsp:sp modelId="{9538A860-37A9-47C9-89B1-15B5ED1C3C45}">
      <dsp:nvSpPr>
        <dsp:cNvPr id="0" name=""/>
        <dsp:cNvSpPr/>
      </dsp:nvSpPr>
      <dsp:spPr>
        <a:xfrm>
          <a:off x="95519" y="275738"/>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Application Control Configuration</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Logging and Monitoring Application Control</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33DE18-55C6-4CFB-A078-1913295E31FB}">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99060" rIns="99060" bIns="99060" numCol="1" spcCol="1270" anchor="ctr" anchorCtr="0">
          <a:noAutofit/>
        </a:bodyPr>
        <a:lstStyle/>
        <a:p>
          <a:pPr lvl="0" algn="l" defTabSz="1733550">
            <a:lnSpc>
              <a:spcPct val="90000"/>
            </a:lnSpc>
            <a:spcBef>
              <a:spcPct val="0"/>
            </a:spcBef>
            <a:spcAft>
              <a:spcPct val="35000"/>
            </a:spcAft>
          </a:pPr>
          <a:r>
            <a:rPr lang="en-CA" sz="3900" kern="1200" dirty="0"/>
            <a:t>Best Practices and Troubleshooting </a:t>
          </a:r>
        </a:p>
      </dsp:txBody>
      <dsp:txXfrm>
        <a:off x="531674" y="3622174"/>
        <a:ext cx="10790097" cy="724359"/>
      </dsp:txXfrm>
    </dsp:sp>
    <dsp:sp modelId="{FF85C72B-7D4D-4627-A8BB-C905CA7F3BA8}">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Basics </a:t>
          </a:r>
        </a:p>
      </dsp:txBody>
      <dsp:txXfrm>
        <a:off x="531674" y="361991"/>
        <a:ext cx="10790097" cy="724359"/>
      </dsp:txXfrm>
    </dsp:sp>
    <dsp:sp modelId="{9538A860-37A9-47C9-89B1-15B5ED1C3C45}">
      <dsp:nvSpPr>
        <dsp:cNvPr id="0" name=""/>
        <dsp:cNvSpPr/>
      </dsp:nvSpPr>
      <dsp:spPr>
        <a:xfrm>
          <a:off x="95519" y="275738"/>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Configuration</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Logging and Monitoring Application Control Events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E33DE18-55C6-4CFB-A078-1913295E31FB}">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Best Practices and Troubleshooting </a:t>
          </a:r>
        </a:p>
      </dsp:txBody>
      <dsp:txXfrm>
        <a:off x="531674" y="3622174"/>
        <a:ext cx="10790097" cy="724359"/>
      </dsp:txXfrm>
    </dsp:sp>
    <dsp:sp modelId="{FF85C72B-7D4D-4627-A8BB-C905CA7F3BA8}">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3A696-9230-4ACA-9D52-83E05F9F38F7}">
      <dsp:nvSpPr>
        <dsp:cNvPr id="0" name=""/>
        <dsp:cNvSpPr/>
      </dsp:nvSpPr>
      <dsp:spPr>
        <a:xfrm>
          <a:off x="-5323539" y="-815266"/>
          <a:ext cx="6339057" cy="6339057"/>
        </a:xfrm>
        <a:prstGeom prst="blockArc">
          <a:avLst>
            <a:gd name="adj1" fmla="val 18900000"/>
            <a:gd name="adj2" fmla="val 2700000"/>
            <a:gd name="adj3" fmla="val 341"/>
          </a:avLst>
        </a:pr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10BD40-3D78-480D-9C3C-DEEAA6B532C0}">
      <dsp:nvSpPr>
        <dsp:cNvPr id="0" name=""/>
        <dsp:cNvSpPr/>
      </dsp:nvSpPr>
      <dsp:spPr>
        <a:xfrm>
          <a:off x="531674" y="361991"/>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Basics </a:t>
          </a:r>
        </a:p>
      </dsp:txBody>
      <dsp:txXfrm>
        <a:off x="531674" y="361991"/>
        <a:ext cx="10790097" cy="724359"/>
      </dsp:txXfrm>
    </dsp:sp>
    <dsp:sp modelId="{9538A860-37A9-47C9-89B1-15B5ED1C3C45}">
      <dsp:nvSpPr>
        <dsp:cNvPr id="0" name=""/>
        <dsp:cNvSpPr/>
      </dsp:nvSpPr>
      <dsp:spPr>
        <a:xfrm>
          <a:off x="95519" y="275738"/>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0C2ADB5-FB0D-4752-B06B-69F09CC2A46D}">
      <dsp:nvSpPr>
        <dsp:cNvPr id="0" name=""/>
        <dsp:cNvSpPr/>
      </dsp:nvSpPr>
      <dsp:spPr>
        <a:xfrm>
          <a:off x="946966" y="1448718"/>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Application Control Configuration</a:t>
          </a:r>
        </a:p>
      </dsp:txBody>
      <dsp:txXfrm>
        <a:off x="946966" y="1448718"/>
        <a:ext cx="10374805" cy="724359"/>
      </dsp:txXfrm>
    </dsp:sp>
    <dsp:sp modelId="{4878E8A0-0F62-483E-9C85-41A7D184C6F2}">
      <dsp:nvSpPr>
        <dsp:cNvPr id="0" name=""/>
        <dsp:cNvSpPr/>
      </dsp:nvSpPr>
      <dsp:spPr>
        <a:xfrm>
          <a:off x="494242" y="1358174"/>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3D8216-A541-4DFA-963D-37F99664E5CA}">
      <dsp:nvSpPr>
        <dsp:cNvPr id="0" name=""/>
        <dsp:cNvSpPr/>
      </dsp:nvSpPr>
      <dsp:spPr>
        <a:xfrm>
          <a:off x="946966" y="2535446"/>
          <a:ext cx="10374805"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Logging and Monitoring Application Control Events</a:t>
          </a:r>
        </a:p>
      </dsp:txBody>
      <dsp:txXfrm>
        <a:off x="946966" y="2535446"/>
        <a:ext cx="10374805" cy="724359"/>
      </dsp:txXfrm>
    </dsp:sp>
    <dsp:sp modelId="{0B3E8BE0-A7F0-4C2D-9FEB-4C59B0782F15}">
      <dsp:nvSpPr>
        <dsp:cNvPr id="0" name=""/>
        <dsp:cNvSpPr/>
      </dsp:nvSpPr>
      <dsp:spPr>
        <a:xfrm>
          <a:off x="494242" y="2444901"/>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FCA8E0-9176-4EAE-90E1-8B42EA4AFB91}">
      <dsp:nvSpPr>
        <dsp:cNvPr id="0" name=""/>
        <dsp:cNvSpPr/>
      </dsp:nvSpPr>
      <dsp:spPr>
        <a:xfrm>
          <a:off x="531674" y="3622174"/>
          <a:ext cx="10790097" cy="724359"/>
        </a:xfrm>
        <a:prstGeom prst="rect">
          <a:avLst/>
        </a:prstGeom>
        <a:solidFill>
          <a:schemeClr val="lt1">
            <a:hueOff val="0"/>
            <a:satOff val="0"/>
            <a:lumOff val="0"/>
            <a:alphaOff val="0"/>
          </a:schemeClr>
        </a:solid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4960" tIns="86360" rIns="86360" bIns="86360" numCol="1" spcCol="1270" anchor="ctr" anchorCtr="0">
          <a:noAutofit/>
        </a:bodyPr>
        <a:lstStyle/>
        <a:p>
          <a:pPr lvl="0" algn="l" defTabSz="1511300">
            <a:lnSpc>
              <a:spcPct val="90000"/>
            </a:lnSpc>
            <a:spcBef>
              <a:spcPct val="0"/>
            </a:spcBef>
            <a:spcAft>
              <a:spcPct val="35000"/>
            </a:spcAft>
          </a:pPr>
          <a:r>
            <a:rPr lang="en-CA" sz="3400" kern="1200" dirty="0"/>
            <a:t>Best Practices and Troubleshooting </a:t>
          </a:r>
        </a:p>
      </dsp:txBody>
      <dsp:txXfrm>
        <a:off x="531674" y="3622174"/>
        <a:ext cx="10790097" cy="724359"/>
      </dsp:txXfrm>
    </dsp:sp>
    <dsp:sp modelId="{43074871-0F25-40BB-ACDD-A0E06721FA07}">
      <dsp:nvSpPr>
        <dsp:cNvPr id="0" name=""/>
        <dsp:cNvSpPr/>
      </dsp:nvSpPr>
      <dsp:spPr>
        <a:xfrm>
          <a:off x="78950" y="3531629"/>
          <a:ext cx="905449" cy="905449"/>
        </a:xfrm>
        <a:prstGeom prst="ellipse">
          <a:avLst/>
        </a:prstGeom>
        <a:solidFill>
          <a:schemeClr val="lt1">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4.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1727"/>
          </a:xfrm>
          <a:prstGeom prst="rect">
            <a:avLst/>
          </a:prstGeom>
        </p:spPr>
        <p:txBody>
          <a:bodyPr vert="horz" lIns="96637" tIns="48318" rIns="96637" bIns="48318" rtlCol="0"/>
          <a:lstStyle>
            <a:lvl1pPr algn="l">
              <a:defRPr sz="1200"/>
            </a:lvl1pPr>
          </a:lstStyle>
          <a:p>
            <a:r>
              <a:rPr lang="en-US" dirty="0"/>
              <a:t> Application Control</a:t>
            </a:r>
          </a:p>
        </p:txBody>
      </p:sp>
      <p:sp>
        <p:nvSpPr>
          <p:cNvPr id="3" name="Date Placeholder 2"/>
          <p:cNvSpPr>
            <a:spLocks noGrp="1"/>
          </p:cNvSpPr>
          <p:nvPr>
            <p:ph type="dt" sz="quarter" idx="1"/>
          </p:nvPr>
        </p:nvSpPr>
        <p:spPr>
          <a:xfrm>
            <a:off x="4143587" y="1"/>
            <a:ext cx="3169920" cy="481727"/>
          </a:xfrm>
          <a:prstGeom prst="rect">
            <a:avLst/>
          </a:prstGeom>
        </p:spPr>
        <p:txBody>
          <a:bodyPr vert="horz" lIns="96637" tIns="48318" rIns="96637" bIns="48318" rtlCol="0"/>
          <a:lstStyle>
            <a:lvl1pPr algn="r">
              <a:defRPr sz="1200"/>
            </a:lvl1pPr>
          </a:lstStyle>
          <a:p>
            <a:fld id="{A5865519-5FC2-4530-8949-194C152D6575}" type="datetimeFigureOut">
              <a:rPr lang="en-US" smtClean="0"/>
              <a:t>6/6/2022</a:t>
            </a:fld>
            <a:endParaRPr lang="en-US" dirty="0"/>
          </a:p>
        </p:txBody>
      </p:sp>
      <p:sp>
        <p:nvSpPr>
          <p:cNvPr id="4" name="Footer Placeholder 3"/>
          <p:cNvSpPr>
            <a:spLocks noGrp="1"/>
          </p:cNvSpPr>
          <p:nvPr>
            <p:ph type="ftr" sz="quarter" idx="2"/>
          </p:nvPr>
        </p:nvSpPr>
        <p:spPr>
          <a:xfrm>
            <a:off x="0" y="9119476"/>
            <a:ext cx="3169920" cy="481726"/>
          </a:xfrm>
          <a:prstGeom prst="rect">
            <a:avLst/>
          </a:prstGeom>
        </p:spPr>
        <p:txBody>
          <a:bodyPr vert="horz" lIns="96637" tIns="48318" rIns="96637" bIns="48318" rtlCol="0" anchor="b"/>
          <a:lstStyle>
            <a:lvl1pPr algn="l">
              <a:defRPr sz="1200"/>
            </a:lvl1pPr>
          </a:lstStyle>
          <a:p>
            <a:endParaRPr lang="en-US" dirty="0"/>
          </a:p>
        </p:txBody>
      </p:sp>
      <p:sp>
        <p:nvSpPr>
          <p:cNvPr id="5" name="Slide Number Placeholder 4"/>
          <p:cNvSpPr>
            <a:spLocks noGrp="1"/>
          </p:cNvSpPr>
          <p:nvPr>
            <p:ph type="sldNum" sz="quarter" idx="3"/>
          </p:nvPr>
        </p:nvSpPr>
        <p:spPr>
          <a:xfrm>
            <a:off x="4143587" y="9119476"/>
            <a:ext cx="3169920" cy="481726"/>
          </a:xfrm>
          <a:prstGeom prst="rect">
            <a:avLst/>
          </a:prstGeom>
        </p:spPr>
        <p:txBody>
          <a:bodyPr vert="horz" lIns="96637" tIns="48318" rIns="96637" bIns="48318" rtlCol="0" anchor="b"/>
          <a:lstStyle>
            <a:lvl1pPr algn="r">
              <a:defRPr sz="1200"/>
            </a:lvl1pPr>
          </a:lstStyle>
          <a:p>
            <a:fld id="{03DCDAE4-7BEE-42B7-934A-0AC54FC009EB}" type="slidenum">
              <a:rPr lang="en-US" smtClean="0"/>
              <a:t>‹#›</a:t>
            </a:fld>
            <a:endParaRPr lang="en-US" dirty="0"/>
          </a:p>
        </p:txBody>
      </p:sp>
    </p:spTree>
    <p:extLst>
      <p:ext uri="{BB962C8B-B14F-4D97-AF65-F5344CB8AC3E}">
        <p14:creationId xmlns:p14="http://schemas.microsoft.com/office/powerpoint/2010/main" val="3750624698"/>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93725" y="704850"/>
            <a:ext cx="6346825" cy="3571875"/>
          </a:xfrm>
          <a:prstGeom prst="rect">
            <a:avLst/>
          </a:prstGeom>
          <a:noFill/>
          <a:ln w="12700">
            <a:solidFill>
              <a:prstClr val="black"/>
            </a:solidFill>
          </a:ln>
        </p:spPr>
        <p:txBody>
          <a:bodyPr vert="horz" lIns="96637" tIns="48318" rIns="96637" bIns="48318" rtlCol="0" anchor="ctr"/>
          <a:lstStyle/>
          <a:p>
            <a:endParaRPr lang="en-US" dirty="0"/>
          </a:p>
        </p:txBody>
      </p:sp>
      <p:sp>
        <p:nvSpPr>
          <p:cNvPr id="5" name="Notes Placeholder 4"/>
          <p:cNvSpPr>
            <a:spLocks noGrp="1"/>
          </p:cNvSpPr>
          <p:nvPr>
            <p:ph type="body" sz="quarter" idx="3"/>
          </p:nvPr>
        </p:nvSpPr>
        <p:spPr>
          <a:xfrm>
            <a:off x="601382" y="4685100"/>
            <a:ext cx="6342879" cy="3984179"/>
          </a:xfrm>
          <a:prstGeom prst="rect">
            <a:avLst/>
          </a:prstGeom>
        </p:spPr>
        <p:txBody>
          <a:bodyPr vert="horz" lIns="96637" tIns="48318" rIns="96637" bIns="48318"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Header Placeholder 1"/>
          <p:cNvSpPr>
            <a:spLocks noGrp="1"/>
          </p:cNvSpPr>
          <p:nvPr>
            <p:ph type="hdr" sz="quarter"/>
          </p:nvPr>
        </p:nvSpPr>
        <p:spPr>
          <a:xfrm>
            <a:off x="3767149" y="121814"/>
            <a:ext cx="3141651" cy="468510"/>
          </a:xfrm>
          <a:prstGeom prst="rect">
            <a:avLst/>
          </a:prstGeom>
          <a:noFill/>
        </p:spPr>
        <p:txBody>
          <a:bodyPr vert="horz" lIns="0" tIns="0" rIns="0" bIns="0" rtlCol="0"/>
          <a:lstStyle>
            <a:lvl1pPr algn="l">
              <a:defRPr sz="1300">
                <a:solidFill>
                  <a:schemeClr val="tx2"/>
                </a:solidFill>
                <a:latin typeface="+mn-lt"/>
              </a:defRPr>
            </a:lvl1p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720063067"/>
      </p:ext>
    </p:extLst>
  </p:cSld>
  <p:clrMap bg1="lt1" tx1="dk1" bg2="lt2" tx2="dk2" accent1="accent1" accent2="accent2" accent3="accent3" accent4="accent4" accent5="accent5" accent6="accent6" hlink="hlink" folHlink="folHlink"/>
  <p:hf sldNum="0" ftr="0" dt="0"/>
  <p:notesStyle>
    <a:lvl1pPr marL="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1pPr>
    <a:lvl2pPr marL="45712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2pPr>
    <a:lvl3pPr marL="91424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3pPr>
    <a:lvl4pPr marL="137136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4pPr>
    <a:lvl5pPr marL="1828480" algn="l" defTabSz="914240" rtl="0" eaLnBrk="1" latinLnBrk="0" hangingPunct="1">
      <a:defRPr sz="1000" kern="1200">
        <a:solidFill>
          <a:schemeClr val="tx1"/>
        </a:solidFill>
        <a:latin typeface="Arial" panose="020B0604020202020204" pitchFamily="34" charset="0"/>
        <a:ea typeface="+mn-ea"/>
        <a:cs typeface="Arial" panose="020B0604020202020204" pitchFamily="34" charset="0"/>
      </a:defRPr>
    </a:lvl5pPr>
    <a:lvl6pPr marL="2285600" algn="l" defTabSz="914240" rtl="0" eaLnBrk="1" latinLnBrk="0" hangingPunct="1">
      <a:defRPr sz="1200" kern="1200">
        <a:solidFill>
          <a:schemeClr val="tx1"/>
        </a:solidFill>
        <a:latin typeface="+mn-lt"/>
        <a:ea typeface="+mn-ea"/>
        <a:cs typeface="+mn-cs"/>
      </a:defRPr>
    </a:lvl6pPr>
    <a:lvl7pPr marL="2742720" algn="l" defTabSz="914240" rtl="0" eaLnBrk="1" latinLnBrk="0" hangingPunct="1">
      <a:defRPr sz="1200" kern="1200">
        <a:solidFill>
          <a:schemeClr val="tx1"/>
        </a:solidFill>
        <a:latin typeface="+mn-lt"/>
        <a:ea typeface="+mn-ea"/>
        <a:cs typeface="+mn-cs"/>
      </a:defRPr>
    </a:lvl7pPr>
    <a:lvl8pPr marL="3199840" algn="l" defTabSz="914240" rtl="0" eaLnBrk="1" latinLnBrk="0" hangingPunct="1">
      <a:defRPr sz="1200" kern="1200">
        <a:solidFill>
          <a:schemeClr val="tx1"/>
        </a:solidFill>
        <a:latin typeface="+mn-lt"/>
        <a:ea typeface="+mn-ea"/>
        <a:cs typeface="+mn-cs"/>
      </a:defRPr>
    </a:lvl8pPr>
    <a:lvl9pPr marL="3656960" algn="l" defTabSz="91424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In this lesson, you will learn </a:t>
            </a:r>
            <a:r>
              <a:rPr lang="en-CA" dirty="0"/>
              <a:t>how to </a:t>
            </a:r>
            <a:r>
              <a:rPr lang="en-US" dirty="0"/>
              <a:t>monitor and control network applications that</a:t>
            </a:r>
            <a:r>
              <a:rPr lang="en-US" baseline="0" dirty="0"/>
              <a:t> </a:t>
            </a:r>
            <a:r>
              <a:rPr lang="en-US" dirty="0"/>
              <a:t>may use standard</a:t>
            </a:r>
            <a:r>
              <a:rPr lang="en-US" baseline="0" dirty="0"/>
              <a:t> or </a:t>
            </a:r>
            <a:r>
              <a:rPr lang="en-US" dirty="0"/>
              <a:t>non-standard protocols and ports—beyond simply blocking or allowing a protocol</a:t>
            </a:r>
            <a:r>
              <a:rPr lang="en-US" baseline="0" dirty="0"/>
              <a:t>, </a:t>
            </a:r>
            <a:r>
              <a:rPr lang="en-US" dirty="0"/>
              <a:t>port number, or IP address.</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784023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In this lesson, you will learn about the topics shown on this slide.</a:t>
            </a:r>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09630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106">
              <a:defRPr/>
            </a:pPr>
            <a:r>
              <a:rPr lang="en-CA" baseline="0" dirty="0"/>
              <a:t>After completing this section, you should be able to achieve the objectives shown on this slide.</a:t>
            </a:r>
          </a:p>
          <a:p>
            <a:pPr marL="177845" indent="-177845" defTabSz="914106">
              <a:buFont typeface="Arial" panose="020B0604020202020204" pitchFamily="34" charset="0"/>
              <a:buChar char="•"/>
              <a:defRPr/>
            </a:pPr>
            <a:endParaRPr lang="en-CA" baseline="0" dirty="0"/>
          </a:p>
          <a:p>
            <a:pPr defTabSz="914106">
              <a:defRPr/>
            </a:pPr>
            <a:r>
              <a:rPr lang="en-CA" baseline="0" dirty="0"/>
              <a:t>By demonstrating competence in application control basics, </a:t>
            </a:r>
            <a:r>
              <a:rPr lang="en-US" baseline="0" dirty="0"/>
              <a:t>you will be able to </a:t>
            </a:r>
            <a:r>
              <a:rPr lang="en-CA" baseline="0" dirty="0"/>
              <a:t>understand how application control works on FortiGate.</a:t>
            </a:r>
            <a:endParaRPr lang="en-CA"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Application control detects applications—often applications that consume a lot of bandwidth—and allows you to take appropriate action related to application traffic, such as monitoring, blocking, or applying traffic shaping. </a:t>
            </a:r>
          </a:p>
          <a:p>
            <a:pPr lvl="0"/>
            <a:endParaRPr lang="en-US" dirty="0"/>
          </a:p>
          <a:p>
            <a:pPr lvl="0"/>
            <a:r>
              <a:rPr lang="en-US" dirty="0"/>
              <a:t>Application control identifies</a:t>
            </a:r>
            <a:r>
              <a:rPr lang="en-US" baseline="0" dirty="0"/>
              <a:t> applications</a:t>
            </a:r>
            <a:r>
              <a:rPr lang="en-US" dirty="0"/>
              <a:t>, such as Google Talk, by matching known patterns to the application’s transmission patterns. Therefore,</a:t>
            </a:r>
            <a:r>
              <a:rPr lang="en-US" baseline="0" dirty="0"/>
              <a:t> an application</a:t>
            </a:r>
            <a:r>
              <a:rPr lang="en-US" dirty="0"/>
              <a:t> can be accurately identified, only if its transmission pattern is unique. However,</a:t>
            </a:r>
            <a:r>
              <a:rPr lang="en-US" baseline="0" dirty="0"/>
              <a:t> not </a:t>
            </a:r>
            <a:r>
              <a:rPr lang="en-US" dirty="0"/>
              <a:t>every application behaves in a unique way. Many applications reuse pre-existing, standard protocols and communication methods. For example, many video games, such as </a:t>
            </a:r>
            <a:r>
              <a:rPr lang="en-US" i="1" dirty="0"/>
              <a:t>World of Warcraft,</a:t>
            </a:r>
            <a:r>
              <a:rPr lang="en-US" dirty="0"/>
              <a:t> use the BitTorrent protocol to distribute game patches.</a:t>
            </a:r>
          </a:p>
          <a:p>
            <a:pPr lvl="0"/>
            <a:endParaRPr lang="en-US" dirty="0"/>
          </a:p>
          <a:p>
            <a:pPr lvl="0"/>
            <a:r>
              <a:rPr lang="en-US" dirty="0"/>
              <a:t>Application control can be configured in proxy-based and flow-based firewall policies. However,</a:t>
            </a:r>
            <a:r>
              <a:rPr lang="en-US" baseline="0" dirty="0"/>
              <a:t> </a:t>
            </a:r>
            <a:r>
              <a:rPr lang="en-US" dirty="0"/>
              <a:t>because application</a:t>
            </a:r>
            <a:r>
              <a:rPr lang="en-US" baseline="0" dirty="0"/>
              <a:t> control </a:t>
            </a:r>
            <a:r>
              <a:rPr lang="en-US" dirty="0">
                <a:solidFill>
                  <a:prstClr val="black"/>
                </a:solidFill>
              </a:rPr>
              <a:t>uses the IPS engine, which uses flow-based inspection,</a:t>
            </a:r>
            <a:r>
              <a:rPr lang="en-US" dirty="0"/>
              <a:t> inspection is always flow-based. By comparison, when applying web filtering and antivirus through an HTTP proxy, the proxy first parses HTTP and removes the protocol, and then scans only the payload inside.</a:t>
            </a:r>
          </a:p>
          <a:p>
            <a:pPr lvl="0"/>
            <a:endParaRPr lang="en-US" dirty="0"/>
          </a:p>
          <a:p>
            <a:pPr lvl="0"/>
            <a:r>
              <a:rPr lang="en-US" dirty="0"/>
              <a:t>Why does FortiGate use a flow-based scan for application control?</a:t>
            </a:r>
          </a:p>
          <a:p>
            <a:endParaRPr lang="en-US" dirty="0"/>
          </a:p>
          <a:p>
            <a:pPr defTabSz="948507">
              <a:defRPr/>
            </a:pPr>
            <a:r>
              <a:rPr lang="en-US" dirty="0"/>
              <a:t>Unlike other forms of security profiles, such as web filtering or antivirus, application control is not applied by a proxy. It uses an IPS engine to analyze network traffic and</a:t>
            </a:r>
            <a:r>
              <a:rPr lang="en-US" baseline="0" dirty="0"/>
              <a:t> </a:t>
            </a:r>
            <a:r>
              <a:rPr lang="en-US" dirty="0"/>
              <a:t>detect application traffic, even if the application is using standard or non-standard protocols and ports. It doesn’t operate using built-in protocol states. It matches patterns in the entire byte stream of the packet, and then looks for patterns. </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2010628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HTTP and other protocols were designed, they were designed to be easy to trace. Because</a:t>
            </a:r>
            <a:r>
              <a:rPr lang="en-US" baseline="0" dirty="0"/>
              <a:t> of that</a:t>
            </a:r>
            <a:r>
              <a:rPr lang="en-US" dirty="0"/>
              <a:t>, administrators could easily give access to single servers behind NAT devices, such as routers and,</a:t>
            </a:r>
            <a:r>
              <a:rPr lang="en-US" baseline="0" dirty="0"/>
              <a:t> </a:t>
            </a:r>
            <a:r>
              <a:rPr lang="en-US" dirty="0"/>
              <a:t>later, firewalls.</a:t>
            </a:r>
          </a:p>
          <a:p>
            <a:endParaRPr lang="en-US" dirty="0"/>
          </a:p>
          <a:p>
            <a:r>
              <a:rPr lang="en-US" dirty="0"/>
              <a:t>But when P2P applications were designed, they had to be able to work without assistance—or cooperation—from network administrators. In order to achieve this, the designers made P2P applications</a:t>
            </a:r>
            <a:r>
              <a:rPr lang="en-US" baseline="0" dirty="0"/>
              <a:t> able to bypass </a:t>
            </a:r>
            <a:r>
              <a:rPr lang="en-US" dirty="0"/>
              <a:t>firewalls</a:t>
            </a:r>
            <a:r>
              <a:rPr lang="en-US" baseline="0" dirty="0"/>
              <a:t> and </a:t>
            </a:r>
            <a:r>
              <a:rPr lang="en-US" dirty="0"/>
              <a:t>incredibly hard to detect. Port randomization, pinholes, and changing encryption patterns are some of the techniques that P2P protocols use.</a:t>
            </a:r>
          </a:p>
          <a:p>
            <a:endParaRPr lang="en-US" dirty="0"/>
          </a:p>
          <a:p>
            <a:r>
              <a:rPr lang="en-US" dirty="0"/>
              <a:t>These techniques make P2P applications</a:t>
            </a:r>
            <a:r>
              <a:rPr lang="en-US" baseline="0" dirty="0"/>
              <a:t> </a:t>
            </a:r>
            <a:r>
              <a:rPr lang="en-US" dirty="0"/>
              <a:t>difficult to block using a firewall policy, and also make them difficult to detect</a:t>
            </a:r>
            <a:r>
              <a:rPr lang="en-US" baseline="0" dirty="0"/>
              <a:t> by</a:t>
            </a:r>
            <a:r>
              <a:rPr lang="en-US" dirty="0"/>
              <a:t> proxy-based inspection.</a:t>
            </a:r>
          </a:p>
          <a:p>
            <a:endParaRPr lang="en-US" dirty="0"/>
          </a:p>
          <a:p>
            <a:pPr defTabSz="948507">
              <a:defRPr/>
            </a:pPr>
            <a:r>
              <a:rPr lang="en-US" dirty="0"/>
              <a:t>Flow-based inspection using the IPS</a:t>
            </a:r>
            <a:r>
              <a:rPr lang="en-US" baseline="0" dirty="0"/>
              <a:t> engine </a:t>
            </a:r>
            <a:r>
              <a:rPr lang="en-US" dirty="0"/>
              <a:t>can analyze packets for pattern </a:t>
            </a:r>
            <a:r>
              <a:rPr lang="en-US" dirty="0" smtClean="0"/>
              <a:t>matching, </a:t>
            </a:r>
            <a:r>
              <a:rPr lang="en-US" dirty="0"/>
              <a:t>and then look for patterns to detect P2P applications.</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662331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a:t>
            </a:r>
            <a:r>
              <a:rPr lang="en-US" baseline="0" dirty="0"/>
              <a:t> slide shows</a:t>
            </a:r>
            <a:r>
              <a:rPr lang="en-US" dirty="0"/>
              <a:t> a traditional, client-server architecture. There may be many clients of popular sites, but often, such as with an office file server, it’s just one client and one server.</a:t>
            </a:r>
          </a:p>
          <a:p>
            <a:endParaRPr lang="en-US" dirty="0"/>
          </a:p>
          <a:p>
            <a:r>
              <a:rPr lang="en-US" dirty="0"/>
              <a:t>Traditional downloads use a defined protocol over a standard port number. Whether it’s from a web or FTP site, the download is from a single IP address, to a single IP address. So, blocking this kind of traffic is easy: you only need one firewall policy.</a:t>
            </a:r>
          </a:p>
          <a:p>
            <a:endParaRPr lang="en-US" dirty="0"/>
          </a:p>
          <a:p>
            <a:r>
              <a:rPr lang="en-US" dirty="0"/>
              <a:t>But, it’s more difficult to block traffic from peer-to-peer downloads. Why?</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62172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Peer-to-peer (P2P) downloads divide each file among multiple (theoretically unlimited) peers. Each peer delivers part of the file. While</a:t>
            </a:r>
            <a:r>
              <a:rPr lang="en-US" baseline="0" dirty="0"/>
              <a:t> having </a:t>
            </a:r>
            <a:r>
              <a:rPr lang="en-US" dirty="0"/>
              <a:t>many clients is a disadvantage in client-server architectures, it is an advantage for P2P</a:t>
            </a:r>
            <a:r>
              <a:rPr lang="en-US" baseline="0" dirty="0"/>
              <a:t> architecture because, </a:t>
            </a:r>
            <a:r>
              <a:rPr lang="en-US" dirty="0"/>
              <a:t>as the number of peers increases to</a:t>
            </a:r>
            <a:r>
              <a:rPr lang="en-US" baseline="0" dirty="0"/>
              <a:t> n,</a:t>
            </a:r>
            <a:r>
              <a:rPr lang="en-US" dirty="0"/>
              <a:t> the file is delivered</a:t>
            </a:r>
            <a:r>
              <a:rPr lang="en-US" baseline="0" dirty="0"/>
              <a:t> n </a:t>
            </a:r>
            <a:r>
              <a:rPr lang="en-US" dirty="0"/>
              <a:t>times faster.</a:t>
            </a:r>
          </a:p>
          <a:p>
            <a:endParaRPr lang="en-US" dirty="0"/>
          </a:p>
          <a:p>
            <a:r>
              <a:rPr lang="en-US" dirty="0"/>
              <a:t>Because popularity increases the speed of delivery—unlike traditional client-server architecture where popularity could effectively cause a denial of service (DoS) attack on the server—some software, such as BitTorrent distributions of Linux, and games distributing new patches, leverage this advantage. Even if each client has little bandwidth, together they can offer more bandwidth for the download than many powerful servers. </a:t>
            </a:r>
          </a:p>
          <a:p>
            <a:endParaRPr lang="en-US" dirty="0"/>
          </a:p>
          <a:p>
            <a:r>
              <a:rPr lang="en-US" dirty="0"/>
              <a:t>Consequently, in order to download the file, the requesting peer can consume much more bandwidth per second than it would from only a single server. Even if there is only one peer in your network, it can consume unusually large amounts of bandwidth. Because the protocols are usually evasive, and there will be many sessions to many peers, they are difficult to completely block. </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295915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Before you try to control applications, it’s important to understand the signatures used by application control. </a:t>
            </a:r>
          </a:p>
          <a:p>
            <a:endParaRPr lang="en-US" dirty="0" smtClean="0"/>
          </a:p>
          <a:p>
            <a:r>
              <a:rPr lang="en-US" dirty="0" smtClean="0"/>
              <a:t>How does application control detect the newest applications and changes to application protocols?</a:t>
            </a:r>
          </a:p>
          <a:p>
            <a:endParaRPr lang="en-US" dirty="0" smtClean="0"/>
          </a:p>
          <a:p>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A</a:t>
            </a:r>
            <a:r>
              <a:rPr lang="en-US" sz="1000" b="0" i="0" kern="1200" dirty="0" smtClean="0">
                <a:solidFill>
                  <a:schemeClr val="tx1"/>
                </a:solidFill>
                <a:effectLst/>
                <a:latin typeface="Arial" panose="020B0604020202020204" pitchFamily="34" charset="0"/>
                <a:ea typeface="+mn-ea"/>
                <a:cs typeface="Arial" panose="020B0604020202020204" pitchFamily="34" charset="0"/>
              </a:rPr>
              <a:t>pplication control updates come </a:t>
            </a:r>
            <a:r>
              <a:rPr lang="en-US" sz="1000" b="0" i="0" kern="1200" dirty="0" smtClean="0">
                <a:solidFill>
                  <a:schemeClr val="tx1"/>
                </a:solidFill>
                <a:effectLst/>
                <a:latin typeface="Arial" panose="020B0604020202020204" pitchFamily="34" charset="0"/>
                <a:ea typeface="+mn-ea"/>
                <a:cs typeface="Arial" panose="020B0604020202020204" pitchFamily="34" charset="0"/>
              </a:rPr>
              <a:t>as part </a:t>
            </a:r>
            <a:r>
              <a:rPr lang="en-US" sz="1000" b="0" i="0" kern="1200" dirty="0" smtClean="0">
                <a:solidFill>
                  <a:schemeClr val="tx1"/>
                </a:solidFill>
                <a:effectLst/>
                <a:latin typeface="Arial" panose="020B0604020202020204" pitchFamily="34" charset="0"/>
                <a:ea typeface="+mn-ea"/>
                <a:cs typeface="Arial" panose="020B0604020202020204" pitchFamily="34" charset="0"/>
              </a:rPr>
              <a:t>of the standard </a:t>
            </a:r>
            <a:r>
              <a:rPr lang="en-US" sz="1000" b="0" i="0" kern="1200" dirty="0" err="1" smtClean="0">
                <a:solidFill>
                  <a:schemeClr val="tx1"/>
                </a:solidFill>
                <a:effectLst/>
                <a:latin typeface="Arial" panose="020B0604020202020204" pitchFamily="34" charset="0"/>
                <a:ea typeface="+mn-ea"/>
                <a:cs typeface="Arial" panose="020B0604020202020204" pitchFamily="34" charset="0"/>
              </a:rPr>
              <a:t>FortiCare</a:t>
            </a:r>
            <a:r>
              <a:rPr lang="en-US" sz="1000" b="0" i="0" kern="1200" dirty="0" smtClean="0">
                <a:solidFill>
                  <a:schemeClr val="tx1"/>
                </a:solidFill>
                <a:effectLst/>
                <a:latin typeface="Arial" panose="020B0604020202020204" pitchFamily="34" charset="0"/>
                <a:ea typeface="+mn-ea"/>
                <a:cs typeface="Arial" panose="020B0604020202020204" pitchFamily="34" charset="0"/>
              </a:rPr>
              <a:t> support </a:t>
            </a:r>
            <a:r>
              <a:rPr lang="en-US" sz="1000" b="0" i="0" kern="1200" dirty="0" smtClean="0">
                <a:solidFill>
                  <a:schemeClr val="tx1"/>
                </a:solidFill>
                <a:effectLst/>
                <a:latin typeface="Arial" panose="020B0604020202020204" pitchFamily="34" charset="0"/>
                <a:ea typeface="+mn-ea"/>
                <a:cs typeface="Arial" panose="020B0604020202020204" pitchFamily="34" charset="0"/>
              </a:rPr>
              <a:t>contract,</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but</a:t>
            </a:r>
            <a:r>
              <a:rPr lang="en-US" sz="1000" b="0" i="0" kern="1200" dirty="0" smtClean="0">
                <a:solidFill>
                  <a:schemeClr val="tx1"/>
                </a:solidFill>
                <a:effectLst/>
                <a:latin typeface="Arial" panose="020B0604020202020204" pitchFamily="34" charset="0"/>
                <a:ea typeface="+mn-ea"/>
                <a:cs typeface="Arial" panose="020B0604020202020204" pitchFamily="34" charset="0"/>
              </a:rPr>
              <a:t> it</a:t>
            </a:r>
            <a:r>
              <a:rPr lang="en-US" dirty="0" smtClean="0"/>
              <a:t> requires a subscription </a:t>
            </a:r>
            <a:r>
              <a:rPr lang="en-US" baseline="0" dirty="0" smtClean="0"/>
              <a:t>for database updates. T</a:t>
            </a:r>
            <a:r>
              <a:rPr lang="en-US" dirty="0" smtClean="0"/>
              <a:t>he database for application control signatures is separate from the intrusion prevention system (IPS) database. You can configure </a:t>
            </a:r>
            <a:r>
              <a:rPr lang="en-US" dirty="0" err="1" smtClean="0"/>
              <a:t>FortiGate</a:t>
            </a:r>
            <a:r>
              <a:rPr lang="en-US" dirty="0" smtClean="0"/>
              <a:t> to automatically update its </a:t>
            </a:r>
            <a:r>
              <a:rPr lang="en-US" b="0" dirty="0" smtClean="0"/>
              <a:t>application control </a:t>
            </a:r>
            <a:r>
              <a:rPr lang="en-US" dirty="0" smtClean="0"/>
              <a:t>signature database on the</a:t>
            </a:r>
            <a:r>
              <a:rPr lang="en-US" b="1" dirty="0" smtClean="0"/>
              <a:t> </a:t>
            </a:r>
            <a:r>
              <a:rPr lang="en-US" b="0" dirty="0" err="1" smtClean="0"/>
              <a:t>FortiGuard</a:t>
            </a:r>
            <a:r>
              <a:rPr lang="en-US" b="0" baseline="0" dirty="0" smtClean="0"/>
              <a:t> page.</a:t>
            </a:r>
            <a:r>
              <a:rPr lang="en-US" dirty="0" smtClean="0"/>
              <a:t> The application control signature database information is also displayed on the </a:t>
            </a:r>
            <a:r>
              <a:rPr lang="en-US" b="0" dirty="0" err="1" smtClean="0"/>
              <a:t>FortiGuard</a:t>
            </a:r>
            <a:r>
              <a:rPr lang="en-US" dirty="0" smtClean="0"/>
              <a:t> page. </a:t>
            </a:r>
            <a:endParaRPr lang="en-US" baseline="0" dirty="0" smtClean="0"/>
          </a:p>
          <a:p>
            <a:endParaRPr lang="en-US" dirty="0"/>
          </a:p>
        </p:txBody>
      </p:sp>
      <p:sp>
        <p:nvSpPr>
          <p:cNvPr id="4" name="Header Placeholder 3"/>
          <p:cNvSpPr>
            <a:spLocks noGrp="1"/>
          </p:cNvSpPr>
          <p:nvPr>
            <p:ph type="hdr" sz="quarter" idx="10"/>
          </p:nvPr>
        </p:nvSpPr>
        <p:spPr/>
        <p:txBody>
          <a:bodyPr/>
          <a:lstStyle/>
          <a:p>
            <a:pPr algn="r"/>
            <a:r>
              <a:rPr lang="en-US" sz="1000" smtClean="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97381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can view the latest version of the application control database on the FortiGuard website, or by clicking an </a:t>
            </a:r>
            <a:r>
              <a:rPr lang="en-US" b="0" dirty="0"/>
              <a:t>individual</a:t>
            </a:r>
            <a:r>
              <a:rPr lang="en-US" b="0" baseline="0" dirty="0"/>
              <a:t> a</a:t>
            </a:r>
            <a:r>
              <a:rPr lang="en-US" b="0" dirty="0"/>
              <a:t>pplication signature </a:t>
            </a:r>
            <a:r>
              <a:rPr lang="en-US" dirty="0"/>
              <a:t>in the application control profile.</a:t>
            </a:r>
          </a:p>
          <a:p>
            <a:endParaRPr lang="en-CA" dirty="0"/>
          </a:p>
          <a:p>
            <a:r>
              <a:rPr lang="en-CA" dirty="0"/>
              <a:t>The</a:t>
            </a:r>
            <a:r>
              <a:rPr lang="en-CA" baseline="0" dirty="0"/>
              <a:t> </a:t>
            </a:r>
            <a:r>
              <a:rPr lang="en-CA" dirty="0"/>
              <a:t>application control database provides details about application control signatures based on category, popularity, and risk, to name a few. </a:t>
            </a:r>
          </a:p>
          <a:p>
            <a:endParaRPr lang="en-CA" dirty="0"/>
          </a:p>
          <a:p>
            <a:r>
              <a:rPr lang="en-US" dirty="0"/>
              <a:t>When building an application control signature, the FortiGuard security research team evaluates the application and assigns a risk </a:t>
            </a:r>
            <a:r>
              <a:rPr lang="en-US" dirty="0" smtClean="0"/>
              <a:t>level</a:t>
            </a:r>
            <a:r>
              <a:rPr lang="en-US" baseline="0" dirty="0" smtClean="0"/>
              <a:t> </a:t>
            </a:r>
            <a:r>
              <a:rPr lang="en-US" dirty="0" smtClean="0"/>
              <a:t>based </a:t>
            </a:r>
            <a:r>
              <a:rPr lang="en-US" dirty="0"/>
              <a:t>on the type of security risk. The rating is Fortinet-specific, and not related to the </a:t>
            </a:r>
            <a:r>
              <a:rPr lang="en-CA" i="0" dirty="0"/>
              <a:t>common vulnerability scoring system (</a:t>
            </a:r>
            <a:r>
              <a:rPr lang="en-US" dirty="0"/>
              <a:t>CVSS) or other external systems. </a:t>
            </a:r>
            <a:r>
              <a:rPr lang="en-US" sz="1000" kern="1200" dirty="0" smtClean="0">
                <a:solidFill>
                  <a:schemeClr val="tx1"/>
                </a:solidFill>
                <a:latin typeface="Arial" panose="020B0604020202020204" pitchFamily="34" charset="0"/>
                <a:ea typeface="+mn-ea"/>
                <a:cs typeface="Arial" panose="020B0604020202020204" pitchFamily="34" charset="0"/>
              </a:rPr>
              <a:t>The rating can help you decide whether or not to block an application.</a:t>
            </a:r>
          </a:p>
          <a:p>
            <a:endParaRPr lang="en-US" sz="1000" kern="1200" dirty="0" smtClean="0">
              <a:solidFill>
                <a:schemeClr val="tx1"/>
              </a:solidFill>
              <a:latin typeface="Arial" panose="020B0604020202020204" pitchFamily="34" charset="0"/>
              <a:ea typeface="+mn-ea"/>
              <a:cs typeface="Arial" panose="020B0604020202020204" pitchFamily="34" charset="0"/>
            </a:endParaRPr>
          </a:p>
          <a:p>
            <a:r>
              <a:rPr lang="en-US" dirty="0" smtClean="0"/>
              <a:t>On </a:t>
            </a:r>
            <a:r>
              <a:rPr lang="en-US" dirty="0"/>
              <a:t>the FortiGuard website, you can read details about each signature’s related application.</a:t>
            </a:r>
          </a:p>
          <a:p>
            <a:pPr lvl="0"/>
            <a:endParaRPr lang="en-US" dirty="0"/>
          </a:p>
          <a:p>
            <a:r>
              <a:rPr lang="en-US" sz="1000" kern="1200" dirty="0" smtClean="0">
                <a:solidFill>
                  <a:schemeClr val="tx1"/>
                </a:solidFill>
                <a:latin typeface="Arial" panose="020B0604020202020204" pitchFamily="34" charset="0"/>
                <a:ea typeface="+mn-ea"/>
                <a:cs typeface="Arial" panose="020B0604020202020204" pitchFamily="34" charset="0"/>
              </a:rPr>
              <a:t>This slide shows an example for an application called Tor. Tor is a web proxy, so it belongs in the proxy category. A best practice is to create test policies that you can use to observe policy behavior.</a:t>
            </a:r>
          </a:p>
          <a:p>
            <a:endParaRPr lang="en-US" sz="1000" kern="1200" dirty="0" smtClean="0">
              <a:solidFill>
                <a:schemeClr val="tx1"/>
              </a:solidFill>
              <a:latin typeface="Arial" panose="020B0604020202020204" pitchFamily="34" charset="0"/>
              <a:ea typeface="+mn-ea"/>
              <a:cs typeface="Arial" panose="020B0604020202020204" pitchFamily="34" charset="0"/>
            </a:endParaRPr>
          </a:p>
          <a:p>
            <a:pPr lvl="0"/>
            <a:r>
              <a:rPr lang="en-US" sz="1000" kern="1200" dirty="0" smtClean="0">
                <a:solidFill>
                  <a:schemeClr val="tx1"/>
                </a:solidFill>
                <a:latin typeface="Arial" panose="020B0604020202020204" pitchFamily="34" charset="0"/>
                <a:ea typeface="+mn-ea"/>
                <a:cs typeface="Arial" panose="020B0604020202020204" pitchFamily="34" charset="0"/>
              </a:rPr>
              <a:t>If the most recent </a:t>
            </a:r>
            <a:r>
              <a:rPr lang="en-US" sz="1000" kern="1200" dirty="0" err="1" smtClean="0">
                <a:solidFill>
                  <a:schemeClr val="tx1"/>
                </a:solidFill>
                <a:latin typeface="Arial" panose="020B0604020202020204" pitchFamily="34" charset="0"/>
                <a:ea typeface="+mn-ea"/>
                <a:cs typeface="Arial" panose="020B0604020202020204" pitchFamily="34" charset="0"/>
              </a:rPr>
              <a:t>FortiGuard</a:t>
            </a:r>
            <a:r>
              <a:rPr lang="en-US" sz="1000" kern="1200" dirty="0" smtClean="0">
                <a:solidFill>
                  <a:schemeClr val="tx1"/>
                </a:solidFill>
                <a:latin typeface="Arial" panose="020B0604020202020204" pitchFamily="34" charset="0"/>
                <a:ea typeface="+mn-ea"/>
                <a:cs typeface="Arial" panose="020B0604020202020204" pitchFamily="34" charset="0"/>
              </a:rPr>
              <a:t> update does not include a definition for an application that you need to control, you can submit a request on the </a:t>
            </a:r>
            <a:r>
              <a:rPr lang="en-US" sz="1000" kern="1200" dirty="0" err="1" smtClean="0">
                <a:solidFill>
                  <a:schemeClr val="tx1"/>
                </a:solidFill>
                <a:latin typeface="Arial" panose="020B0604020202020204" pitchFamily="34" charset="0"/>
                <a:ea typeface="+mn-ea"/>
                <a:cs typeface="Arial" panose="020B0604020202020204" pitchFamily="34" charset="0"/>
              </a:rPr>
              <a:t>FortiGuard</a:t>
            </a:r>
            <a:r>
              <a:rPr lang="en-US" sz="1000" kern="1200" dirty="0" smtClean="0">
                <a:solidFill>
                  <a:schemeClr val="tx1"/>
                </a:solidFill>
                <a:latin typeface="Arial" panose="020B0604020202020204" pitchFamily="34" charset="0"/>
                <a:ea typeface="+mn-ea"/>
                <a:cs typeface="Arial" panose="020B0604020202020204" pitchFamily="34" charset="0"/>
              </a:rPr>
              <a:t> website to have the application added. You can also submit a request to re-evaluate an application category, if you believe an application should belong to a different category</a:t>
            </a:r>
            <a:r>
              <a:rPr lang="en-CA" baseline="0" dirty="0" smtClean="0"/>
              <a:t>. </a:t>
            </a:r>
            <a:endParaRPr lang="en-US"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0261104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Many web</a:t>
            </a:r>
            <a:r>
              <a:rPr lang="en-CA" baseline="0" dirty="0"/>
              <a:t> </a:t>
            </a:r>
            <a:r>
              <a:rPr lang="en-CA" dirty="0"/>
              <a:t>application</a:t>
            </a:r>
            <a:r>
              <a:rPr lang="en-CA" baseline="0" dirty="0"/>
              <a:t>s offer functionality that can be embedded in third-party websites or applications. For example, you can embed a Facebook </a:t>
            </a:r>
            <a:r>
              <a:rPr lang="en-CA" b="1" baseline="0" dirty="0"/>
              <a:t>Like</a:t>
            </a:r>
            <a:r>
              <a:rPr lang="en-CA" baseline="0" dirty="0"/>
              <a:t> button at the end of an </a:t>
            </a:r>
            <a:r>
              <a:rPr lang="en-CA" baseline="0" dirty="0" smtClean="0"/>
              <a:t>article, </a:t>
            </a:r>
            <a:r>
              <a:rPr lang="en-CA" baseline="0" dirty="0"/>
              <a:t>or reference a YouTube video on an educational website. FortiOS gives administrators all the tools they need to inspect sub-application traffic. The FortiGuard application control signature database is organized in </a:t>
            </a:r>
            <a:r>
              <a:rPr lang="en-CA" baseline="0" dirty="0" smtClean="0"/>
              <a:t>a hierarchical </a:t>
            </a:r>
            <a:r>
              <a:rPr lang="en-CA" baseline="0" dirty="0"/>
              <a:t>structure. This gives you the ability to inspect the traffic with more granularity. You can block </a:t>
            </a:r>
            <a:r>
              <a:rPr lang="en-CA" baseline="0"/>
              <a:t>Facebook </a:t>
            </a:r>
            <a:r>
              <a:rPr lang="en-CA" baseline="0" smtClean="0"/>
              <a:t>applications </a:t>
            </a:r>
            <a:r>
              <a:rPr lang="en-CA" baseline="0" dirty="0"/>
              <a:t>while allowing users to collaborate using Facebook chat. </a:t>
            </a:r>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622443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305657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a:t>
            </a:r>
            <a:r>
              <a:rPr lang="en-CA" baseline="0" dirty="0"/>
              <a:t> job! You now understand basic application control functionality. </a:t>
            </a:r>
          </a:p>
          <a:p>
            <a:endParaRPr lang="en-CA" baseline="0" dirty="0"/>
          </a:p>
          <a:p>
            <a:r>
              <a:rPr lang="en-CA" baseline="0" dirty="0"/>
              <a:t>Now, you will learn about application control configuration.</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096300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106">
              <a:defRPr/>
            </a:pPr>
            <a:r>
              <a:rPr lang="en-CA" baseline="0" dirty="0"/>
              <a:t>After completing this section, you should be able to achieve the objectives shown on this slide.</a:t>
            </a:r>
          </a:p>
          <a:p>
            <a:pPr defTabSz="914106">
              <a:defRPr/>
            </a:pPr>
            <a:endParaRPr lang="en-CA" baseline="0" dirty="0"/>
          </a:p>
          <a:p>
            <a:pPr defTabSz="914106">
              <a:defRPr/>
            </a:pPr>
            <a:r>
              <a:rPr lang="en-CA" baseline="0" dirty="0"/>
              <a:t>By demonstrating competence in configuring the application control operation modes that are available on FortiOS, </a:t>
            </a:r>
            <a:r>
              <a:rPr lang="en-US" baseline="0" dirty="0"/>
              <a:t>you will be able to use application control effectively in both profile mode and </a:t>
            </a:r>
            <a:r>
              <a:rPr lang="en-US" baseline="0" dirty="0" smtClean="0"/>
              <a:t>NGFW </a:t>
            </a:r>
            <a:r>
              <a:rPr lang="en-US" baseline="0" dirty="0"/>
              <a:t>policy mode.</a:t>
            </a:r>
            <a:endParaRPr lang="en-CA" baseline="0" dirty="0"/>
          </a:p>
          <a:p>
            <a:endParaRPr lang="en-CA"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CA" dirty="0"/>
              <a:t>When </a:t>
            </a:r>
            <a:r>
              <a:rPr lang="en-CA" baseline="0" dirty="0"/>
              <a:t>FortiGate or a VDOM is operating in flow-based (NGFW mode set to profile-based, policy set to flow-based) inspection mode or policy set to proxy-based inspection mode, to configure application control, administrators must create an application control </a:t>
            </a:r>
            <a:r>
              <a:rPr lang="en-CA" i="1" baseline="0" dirty="0"/>
              <a:t>profile</a:t>
            </a:r>
            <a:r>
              <a:rPr lang="en-CA" baseline="0" dirty="0"/>
              <a:t> and apply that profile to a firewall policy. </a:t>
            </a:r>
          </a:p>
          <a:p>
            <a:pPr defTabSz="948341">
              <a:defRPr/>
            </a:pPr>
            <a:endParaRPr lang="en-CA" dirty="0"/>
          </a:p>
          <a:p>
            <a:pPr defTabSz="948341">
              <a:defRPr/>
            </a:pPr>
            <a:r>
              <a:rPr lang="en-CA" dirty="0"/>
              <a:t>It</a:t>
            </a:r>
            <a:r>
              <a:rPr lang="en-CA" baseline="0" dirty="0"/>
              <a:t> is important to note that the application control profile uses flow-based scanning techniques, regardless of which inspection mode is used on the policy. </a:t>
            </a:r>
          </a:p>
          <a:p>
            <a:pPr defTabSz="948341">
              <a:defRPr/>
            </a:pPr>
            <a:endParaRPr lang="en-CA" dirty="0"/>
          </a:p>
          <a:p>
            <a:r>
              <a:rPr lang="en-CA" dirty="0"/>
              <a:t>The application control profile consists of three different types of filters:</a:t>
            </a:r>
          </a:p>
          <a:p>
            <a:pPr marL="177845" indent="-177845">
              <a:buFont typeface="Arial" panose="020B0604020202020204" pitchFamily="34" charset="0"/>
              <a:buChar char="•"/>
            </a:pPr>
            <a:r>
              <a:rPr lang="en-CA" b="0" i="0" dirty="0"/>
              <a:t>Categories</a:t>
            </a:r>
            <a:r>
              <a:rPr lang="en-CA" dirty="0"/>
              <a:t>: </a:t>
            </a:r>
            <a:r>
              <a:rPr lang="en-CA" dirty="0" smtClean="0"/>
              <a:t>Groups </a:t>
            </a:r>
            <a:r>
              <a:rPr lang="en-CA" dirty="0"/>
              <a:t>applications</a:t>
            </a:r>
            <a:r>
              <a:rPr lang="en-CA" baseline="0" dirty="0"/>
              <a:t> </a:t>
            </a:r>
            <a:r>
              <a:rPr lang="en-CA" dirty="0"/>
              <a:t>based on similarity. For example, all applications that are capable of providing remote access are grouped in the</a:t>
            </a:r>
            <a:r>
              <a:rPr lang="en-CA" baseline="0" dirty="0"/>
              <a:t> </a:t>
            </a:r>
            <a:r>
              <a:rPr lang="en-CA" b="1" dirty="0"/>
              <a:t>Remote</a:t>
            </a:r>
            <a:r>
              <a:rPr lang="en-CA" b="1" baseline="0" dirty="0"/>
              <a:t> </a:t>
            </a:r>
            <a:r>
              <a:rPr lang="en-CA" b="1" dirty="0"/>
              <a:t>Access </a:t>
            </a:r>
            <a:r>
              <a:rPr lang="en-CA" dirty="0"/>
              <a:t>category. You can view the signatures of all applications in a category or apply an action to a category as a whole.</a:t>
            </a:r>
          </a:p>
          <a:p>
            <a:pPr marL="177845" indent="-177845">
              <a:buFont typeface="Arial" panose="020B0604020202020204" pitchFamily="34" charset="0"/>
              <a:buChar char="•"/>
            </a:pPr>
            <a:r>
              <a:rPr lang="en-CA" b="0" i="0" dirty="0"/>
              <a:t>Application overrides</a:t>
            </a:r>
            <a:r>
              <a:rPr lang="en-CA" dirty="0"/>
              <a:t>: </a:t>
            </a:r>
            <a:r>
              <a:rPr lang="en-CA" dirty="0" smtClean="0"/>
              <a:t>Provides </a:t>
            </a:r>
            <a:r>
              <a:rPr lang="en-CA" dirty="0"/>
              <a:t>the flexibility to control specific signatures</a:t>
            </a:r>
            <a:r>
              <a:rPr lang="en-CA" baseline="0" dirty="0"/>
              <a:t> and </a:t>
            </a:r>
            <a:r>
              <a:rPr lang="en-CA" dirty="0"/>
              <a:t>applications.</a:t>
            </a:r>
          </a:p>
          <a:p>
            <a:pPr marL="177845" indent="-177845">
              <a:buFont typeface="Arial" panose="020B0604020202020204" pitchFamily="34" charset="0"/>
              <a:buChar char="•"/>
            </a:pPr>
            <a:r>
              <a:rPr lang="en-CA" b="0" i="0" dirty="0"/>
              <a:t>Filter overrides</a:t>
            </a:r>
            <a:r>
              <a:rPr lang="en-CA" dirty="0"/>
              <a:t>: </a:t>
            </a:r>
            <a:r>
              <a:rPr lang="en-CA" dirty="0" smtClean="0"/>
              <a:t>Useful </a:t>
            </a:r>
            <a:r>
              <a:rPr lang="en-CA" dirty="0"/>
              <a:t>when a predefined category does not meet your requirements and you want to block all applications based on criteria that is not available in categories. You can configure the categorization of applications based on behavior, popularity, protocol, risk, vendor,</a:t>
            </a:r>
            <a:r>
              <a:rPr lang="en-CA" baseline="0" dirty="0"/>
              <a:t> </a:t>
            </a:r>
            <a:r>
              <a:rPr lang="en-CA" dirty="0"/>
              <a:t>or the technology used by the applications, and take action based on that.</a:t>
            </a:r>
          </a:p>
          <a:p>
            <a:endParaRPr lang="en-CA"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5741769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dirty="0"/>
              <a:t>The application control profile is configured on the</a:t>
            </a:r>
            <a:r>
              <a:rPr lang="en-US" b="1" dirty="0"/>
              <a:t> Application Control</a:t>
            </a:r>
            <a:r>
              <a:rPr lang="en-US" b="1" baseline="0" dirty="0"/>
              <a:t> </a:t>
            </a:r>
            <a:r>
              <a:rPr lang="en-US" b="0" baseline="0" dirty="0"/>
              <a:t>page.</a:t>
            </a:r>
            <a:r>
              <a:rPr lang="en-US" b="0" dirty="0"/>
              <a:t> </a:t>
            </a:r>
            <a:r>
              <a:rPr lang="en-US" dirty="0"/>
              <a:t>You can configure</a:t>
            </a:r>
            <a:r>
              <a:rPr lang="en-US" baseline="0" dirty="0"/>
              <a:t> </a:t>
            </a:r>
            <a:r>
              <a:rPr lang="en-US" dirty="0"/>
              <a:t>actions based on categories, application overrides, and filter overrides. You can also view the list of application control signatures by clicking </a:t>
            </a:r>
            <a:r>
              <a:rPr lang="en-US" b="1" dirty="0"/>
              <a:t>View Application Signatures</a:t>
            </a:r>
            <a:r>
              <a:rPr lang="en-US" dirty="0"/>
              <a:t>.  </a:t>
            </a:r>
          </a:p>
          <a:p>
            <a:pPr lvl="0"/>
            <a:endParaRPr lang="en-US" dirty="0"/>
          </a:p>
          <a:p>
            <a:pPr lvl="0"/>
            <a:r>
              <a:rPr lang="en-US" dirty="0"/>
              <a:t>At the</a:t>
            </a:r>
            <a:r>
              <a:rPr lang="en-US" baseline="0" dirty="0"/>
              <a:t> top of the </a:t>
            </a:r>
            <a:r>
              <a:rPr lang="en-US" b="1" baseline="0" dirty="0"/>
              <a:t>Application Control </a:t>
            </a:r>
            <a:r>
              <a:rPr lang="en-US" baseline="0" dirty="0"/>
              <a:t>profile page, you will see a summary of how many cloud applications require deep inspection. Cloud applications that use SSL encryption cannot be scanned without a deep inspection profile. </a:t>
            </a:r>
            <a:r>
              <a:rPr lang="en-US" baseline="0" dirty="0" err="1"/>
              <a:t>FortiGate</a:t>
            </a:r>
            <a:r>
              <a:rPr lang="en-US" baseline="0" dirty="0"/>
              <a:t> </a:t>
            </a:r>
            <a:r>
              <a:rPr lang="en-US" baseline="0" dirty="0" smtClean="0"/>
              <a:t>must decrypt </a:t>
            </a:r>
            <a:r>
              <a:rPr lang="en-US" baseline="0" dirty="0"/>
              <a:t>the traffic in order to perform inspection and control application traffic. </a:t>
            </a:r>
            <a:endParaRPr lang="en-US" dirty="0"/>
          </a:p>
          <a:p>
            <a:pPr lvl="0"/>
            <a:endParaRPr lang="en-US" dirty="0"/>
          </a:p>
          <a:p>
            <a:pPr lvl="0"/>
            <a:r>
              <a:rPr lang="en-US" b="0" dirty="0"/>
              <a:t>The</a:t>
            </a:r>
            <a:r>
              <a:rPr lang="en-US" b="0" baseline="0" dirty="0"/>
              <a:t> </a:t>
            </a:r>
            <a:r>
              <a:rPr lang="en-US" b="1" dirty="0"/>
              <a:t>Unknown Applications</a:t>
            </a:r>
            <a:r>
              <a:rPr lang="en-US" b="0" baseline="0" dirty="0"/>
              <a:t> setting </a:t>
            </a:r>
            <a:r>
              <a:rPr lang="en-US" b="0" dirty="0"/>
              <a:t>matches</a:t>
            </a:r>
            <a:r>
              <a:rPr lang="en-US" dirty="0"/>
              <a:t> traffic that can’t be matched to any application control signature and identifies the traffic as </a:t>
            </a:r>
            <a:r>
              <a:rPr lang="en-US" b="0" i="0" dirty="0">
                <a:latin typeface="Courier New" panose="02070309020205020404" pitchFamily="49" charset="0"/>
                <a:cs typeface="Courier New" panose="02070309020205020404" pitchFamily="49" charset="0"/>
              </a:rPr>
              <a:t>unknown application </a:t>
            </a:r>
            <a:r>
              <a:rPr lang="en-US" dirty="0"/>
              <a:t>in the logs.</a:t>
            </a:r>
            <a:r>
              <a:rPr lang="en-US" baseline="0" dirty="0"/>
              <a:t> Factors that contribute to traffic being identified as </a:t>
            </a:r>
            <a:r>
              <a:rPr lang="en-US" b="0" i="0" dirty="0">
                <a:latin typeface="Courier New" panose="02070309020205020404" pitchFamily="49" charset="0"/>
                <a:cs typeface="Courier New" panose="02070309020205020404" pitchFamily="49" charset="0"/>
              </a:rPr>
              <a:t>unknown application</a:t>
            </a:r>
            <a:r>
              <a:rPr lang="en-US" b="0" i="0" baseline="0" dirty="0">
                <a:latin typeface="Courier New" panose="02070309020205020404" pitchFamily="49" charset="0"/>
                <a:cs typeface="Courier New" panose="02070309020205020404" pitchFamily="49" charset="0"/>
              </a:rPr>
              <a:t> </a:t>
            </a:r>
            <a:r>
              <a:rPr lang="en-US" b="0" i="0" baseline="0" dirty="0">
                <a:latin typeface="Arial" panose="020B0604020202020204" pitchFamily="34" charset="0"/>
                <a:cs typeface="Arial" panose="020B0604020202020204" pitchFamily="34" charset="0"/>
              </a:rPr>
              <a:t>include</a:t>
            </a:r>
            <a:r>
              <a:rPr lang="en-US" dirty="0"/>
              <a:t>:</a:t>
            </a:r>
          </a:p>
          <a:p>
            <a:pPr lvl="0"/>
            <a:endParaRPr lang="en-US" dirty="0"/>
          </a:p>
          <a:p>
            <a:pPr marL="177845" indent="-177845">
              <a:buFont typeface="Arial" panose="020B0604020202020204" pitchFamily="34" charset="0"/>
              <a:buChar char="•"/>
            </a:pPr>
            <a:r>
              <a:rPr lang="en-US" dirty="0"/>
              <a:t>How many rare applications your users are</a:t>
            </a:r>
            <a:r>
              <a:rPr lang="en-US" baseline="0" dirty="0"/>
              <a:t> using</a:t>
            </a:r>
            <a:endParaRPr lang="en-US" dirty="0"/>
          </a:p>
          <a:p>
            <a:pPr marL="177845" indent="-177845">
              <a:buFont typeface="Arial" panose="020B0604020202020204" pitchFamily="34" charset="0"/>
              <a:buChar char="•"/>
            </a:pPr>
            <a:r>
              <a:rPr lang="en-US" dirty="0"/>
              <a:t>Which IPS database version you are using</a:t>
            </a:r>
          </a:p>
          <a:p>
            <a:endParaRPr lang="en-US" dirty="0"/>
          </a:p>
          <a:p>
            <a:r>
              <a:rPr lang="en-US" dirty="0"/>
              <a:t>Identifying traffic as</a:t>
            </a:r>
            <a:r>
              <a:rPr lang="en-US" baseline="0" dirty="0"/>
              <a:t> </a:t>
            </a:r>
            <a:r>
              <a:rPr lang="en-US" dirty="0"/>
              <a:t>unknown can cause frequent log entries. Frequent log entries decrease performance.</a:t>
            </a:r>
          </a:p>
          <a:p>
            <a:endParaRPr lang="en-US" dirty="0"/>
          </a:p>
          <a:p>
            <a:endParaRPr lang="en-US"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7809332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US" dirty="0"/>
              <a:t>The number</a:t>
            </a:r>
            <a:r>
              <a:rPr lang="en-US" baseline="0" dirty="0"/>
              <a:t> listed to the right of the cloud symbol indicates the number of cloud applications </a:t>
            </a:r>
            <a:r>
              <a:rPr lang="en-US" baseline="0" dirty="0" smtClean="0"/>
              <a:t>in the category</a:t>
            </a:r>
            <a:r>
              <a:rPr lang="en-US" baseline="0" dirty="0"/>
              <a:t>.</a:t>
            </a:r>
            <a:endParaRPr lang="en-US" dirty="0"/>
          </a:p>
          <a:p>
            <a:endParaRPr lang="en-US" dirty="0"/>
          </a:p>
          <a:p>
            <a:r>
              <a:rPr lang="en-US" sz="1000" b="1" kern="1200" dirty="0" smtClean="0">
                <a:solidFill>
                  <a:schemeClr val="tx1"/>
                </a:solidFill>
                <a:latin typeface="Arial" panose="020B0604020202020204" pitchFamily="34" charset="0"/>
                <a:ea typeface="+mn-ea"/>
                <a:cs typeface="Arial" panose="020B0604020202020204" pitchFamily="34" charset="0"/>
              </a:rPr>
              <a:t>Allow and Log DNS Traffic</a:t>
            </a:r>
            <a:r>
              <a:rPr lang="en-US" sz="1000" b="0" kern="1200" dirty="0" smtClean="0">
                <a:solidFill>
                  <a:schemeClr val="tx1"/>
                </a:solidFill>
                <a:latin typeface="Arial" panose="020B0604020202020204" pitchFamily="34" charset="0"/>
                <a:ea typeface="+mn-ea"/>
                <a:cs typeface="Arial" panose="020B0604020202020204" pitchFamily="34" charset="0"/>
              </a:rPr>
              <a:t>: Enable this option to allow DNS traffic for the application sensor. Depending on the application and how often it queries DNS servers, enabling this setting can use significant system resources.</a:t>
            </a:r>
          </a:p>
          <a:p>
            <a:endParaRPr lang="en-US" dirty="0" smtClean="0"/>
          </a:p>
          <a:p>
            <a:r>
              <a:rPr lang="en-US" sz="1000" b="1" kern="1200" dirty="0" smtClean="0">
                <a:solidFill>
                  <a:schemeClr val="tx1"/>
                </a:solidFill>
                <a:latin typeface="Arial" panose="020B0604020202020204" pitchFamily="34" charset="0"/>
                <a:ea typeface="+mn-ea"/>
                <a:cs typeface="Arial" panose="020B0604020202020204" pitchFamily="34" charset="0"/>
              </a:rPr>
              <a:t>QUIC</a:t>
            </a:r>
            <a:r>
              <a:rPr lang="en-US" sz="1000" b="0" kern="1200" dirty="0" smtClean="0">
                <a:solidFill>
                  <a:schemeClr val="tx1"/>
                </a:solidFill>
                <a:latin typeface="Arial" panose="020B0604020202020204" pitchFamily="34" charset="0"/>
                <a:ea typeface="+mn-ea"/>
                <a:cs typeface="Arial" panose="020B0604020202020204" pitchFamily="34" charset="0"/>
              </a:rPr>
              <a:t>: QUIC is a protocol from Google that uses UDP Instead of the standard TCP connections for web access. UDP is not scanned by web filtering. Allowing QUIC instructs </a:t>
            </a:r>
            <a:r>
              <a:rPr lang="en-US" sz="1000" b="0" kern="1200" dirty="0" err="1" smtClean="0">
                <a:solidFill>
                  <a:schemeClr val="tx1"/>
                </a:solidFill>
                <a:latin typeface="Arial" panose="020B0604020202020204" pitchFamily="34" charset="0"/>
                <a:ea typeface="+mn-ea"/>
                <a:cs typeface="Arial" panose="020B0604020202020204" pitchFamily="34" charset="0"/>
              </a:rPr>
              <a:t>FortiGate</a:t>
            </a:r>
            <a:r>
              <a:rPr lang="en-US" sz="1000" b="0" kern="1200" dirty="0" smtClean="0">
                <a:solidFill>
                  <a:schemeClr val="tx1"/>
                </a:solidFill>
                <a:latin typeface="Arial" panose="020B0604020202020204" pitchFamily="34" charset="0"/>
                <a:ea typeface="+mn-ea"/>
                <a:cs typeface="Arial" panose="020B0604020202020204" pitchFamily="34" charset="0"/>
              </a:rPr>
              <a:t> to inspect Google Chrome packets for a QUIC header and to generate logs as QUIC messages. Blocking QUIC forces Google Chrome to use HTTP2/TLS1.2 and </a:t>
            </a:r>
            <a:r>
              <a:rPr lang="en-US" sz="1000" b="0" kern="1200" dirty="0" err="1" smtClean="0">
                <a:solidFill>
                  <a:schemeClr val="tx1"/>
                </a:solidFill>
                <a:latin typeface="Arial" panose="020B0604020202020204" pitchFamily="34" charset="0"/>
                <a:ea typeface="+mn-ea"/>
                <a:cs typeface="Arial" panose="020B0604020202020204" pitchFamily="34" charset="0"/>
              </a:rPr>
              <a:t>FortiGate</a:t>
            </a:r>
            <a:r>
              <a:rPr lang="en-US" sz="1000" b="0" kern="1200" dirty="0" smtClean="0">
                <a:solidFill>
                  <a:schemeClr val="tx1"/>
                </a:solidFill>
                <a:latin typeface="Arial" panose="020B0604020202020204" pitchFamily="34" charset="0"/>
                <a:ea typeface="+mn-ea"/>
                <a:cs typeface="Arial" panose="020B0604020202020204" pitchFamily="34" charset="0"/>
              </a:rPr>
              <a:t> to log QUIC as blocked. The default action for QUIC is </a:t>
            </a:r>
            <a:r>
              <a:rPr lang="en-US" sz="1000" b="1" kern="1200" dirty="0" smtClean="0">
                <a:solidFill>
                  <a:schemeClr val="tx1"/>
                </a:solidFill>
                <a:latin typeface="Arial" panose="020B0604020202020204" pitchFamily="34" charset="0"/>
                <a:ea typeface="+mn-ea"/>
                <a:cs typeface="Arial" panose="020B0604020202020204" pitchFamily="34" charset="0"/>
              </a:rPr>
              <a:t>Block</a:t>
            </a:r>
            <a:r>
              <a:rPr lang="en-US" sz="1000" b="0" kern="1200" dirty="0" smtClean="0">
                <a:solidFill>
                  <a:schemeClr val="tx1"/>
                </a:solidFill>
                <a:latin typeface="Arial" panose="020B0604020202020204" pitchFamily="34" charset="0"/>
                <a:ea typeface="+mn-ea"/>
                <a:cs typeface="Arial" panose="020B0604020202020204" pitchFamily="34" charset="0"/>
              </a:rPr>
              <a:t>.</a:t>
            </a:r>
          </a:p>
          <a:p>
            <a:endParaRPr lang="en-US" dirty="0"/>
          </a:p>
          <a:p>
            <a:r>
              <a:rPr lang="en-US" sz="1000" b="1" kern="1200" dirty="0" smtClean="0">
                <a:solidFill>
                  <a:schemeClr val="tx1"/>
                </a:solidFill>
                <a:latin typeface="Arial" panose="020B0604020202020204" pitchFamily="34" charset="0"/>
                <a:ea typeface="+mn-ea"/>
                <a:cs typeface="Arial" panose="020B0604020202020204" pitchFamily="34" charset="0"/>
              </a:rPr>
              <a:t>Replacement Messages for HTTP-based Applications</a:t>
            </a:r>
            <a:r>
              <a:rPr lang="en-US" sz="1000" b="0" kern="1200" dirty="0" smtClean="0">
                <a:solidFill>
                  <a:schemeClr val="tx1"/>
                </a:solidFill>
                <a:latin typeface="Arial" panose="020B0604020202020204" pitchFamily="34" charset="0"/>
                <a:ea typeface="+mn-ea"/>
                <a:cs typeface="Arial" panose="020B0604020202020204" pitchFamily="34" charset="0"/>
              </a:rPr>
              <a:t>: This setting allows you to replace blocked content from HTTP/HTTPS applications with an explanation for the user’s benefit. For non-HTTP/HTTPS applications, </a:t>
            </a:r>
            <a:r>
              <a:rPr lang="en-US" sz="1000" b="0" kern="1200" dirty="0" err="1" smtClean="0">
                <a:solidFill>
                  <a:schemeClr val="tx1"/>
                </a:solidFill>
                <a:latin typeface="Arial" panose="020B0604020202020204" pitchFamily="34" charset="0"/>
                <a:ea typeface="+mn-ea"/>
                <a:cs typeface="Arial" panose="020B0604020202020204" pitchFamily="34" charset="0"/>
              </a:rPr>
              <a:t>FortiGate</a:t>
            </a:r>
            <a:r>
              <a:rPr lang="en-US" sz="1000" b="0" kern="1200" dirty="0" smtClean="0">
                <a:solidFill>
                  <a:schemeClr val="tx1"/>
                </a:solidFill>
                <a:latin typeface="Arial" panose="020B0604020202020204" pitchFamily="34" charset="0"/>
                <a:ea typeface="+mn-ea"/>
                <a:cs typeface="Arial" panose="020B0604020202020204" pitchFamily="34" charset="0"/>
              </a:rPr>
              <a:t> only drops the packets or resets the TCP connection.</a:t>
            </a:r>
          </a:p>
          <a:p>
            <a:endParaRPr lang="en-US" dirty="0"/>
          </a:p>
          <a:p>
            <a:r>
              <a:rPr lang="en-US" dirty="0"/>
              <a:t>After you</a:t>
            </a:r>
            <a:r>
              <a:rPr lang="en-US" baseline="0" dirty="0"/>
              <a:t>’v</a:t>
            </a:r>
            <a:r>
              <a:rPr lang="en-US" dirty="0"/>
              <a:t>e configured the application control profile, select the profile in the firewall policy. Like any other security profile, the settings you configure</a:t>
            </a:r>
            <a:r>
              <a:rPr lang="en-US" baseline="0" dirty="0"/>
              <a:t> in the application control profile</a:t>
            </a:r>
            <a:r>
              <a:rPr lang="en-US" dirty="0"/>
              <a:t> are not applied globally. FortiGate applies the application</a:t>
            </a:r>
            <a:r>
              <a:rPr lang="en-US" baseline="0" dirty="0"/>
              <a:t> control profile settings</a:t>
            </a:r>
            <a:r>
              <a:rPr lang="en-US" dirty="0"/>
              <a:t> </a:t>
            </a:r>
            <a:r>
              <a:rPr lang="en-US" dirty="0" smtClean="0"/>
              <a:t>only to traffic </a:t>
            </a:r>
            <a:r>
              <a:rPr lang="en-US" dirty="0"/>
              <a:t>governed by the firewall policy in which you’ve selected the application control profile. This allows granular control.</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7809332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a:solidFill>
                  <a:schemeClr val="tx1"/>
                </a:solidFill>
                <a:effectLst/>
                <a:latin typeface="Arial" panose="020B0604020202020204" pitchFamily="34" charset="0"/>
                <a:ea typeface="+mn-ea"/>
                <a:cs typeface="Arial" panose="020B0604020202020204" pitchFamily="34" charset="0"/>
              </a:rPr>
              <a:t>Protocol enforcement is added to the application control profile, allowing the administrator to configure network services (for</a:t>
            </a:r>
            <a:r>
              <a:rPr lang="en-US" sz="1000" b="0" i="0" kern="1200" baseline="0" dirty="0">
                <a:solidFill>
                  <a:schemeClr val="tx1"/>
                </a:solidFill>
                <a:effectLst/>
                <a:latin typeface="Arial" panose="020B0604020202020204" pitchFamily="34" charset="0"/>
                <a:ea typeface="+mn-ea"/>
                <a:cs typeface="Arial" panose="020B0604020202020204" pitchFamily="34" charset="0"/>
              </a:rPr>
              <a:t> example</a:t>
            </a:r>
            <a:r>
              <a:rPr lang="en-US" sz="1000" b="0" i="0" kern="1200" dirty="0">
                <a:solidFill>
                  <a:schemeClr val="tx1"/>
                </a:solidFill>
                <a:effectLst/>
                <a:latin typeface="Arial" panose="020B0604020202020204" pitchFamily="34" charset="0"/>
                <a:ea typeface="+mn-ea"/>
                <a:cs typeface="Arial" panose="020B0604020202020204" pitchFamily="34" charset="0"/>
              </a:rPr>
              <a:t>, FTP, HTTP, and HTTPS) on known ports (for</a:t>
            </a:r>
            <a:r>
              <a:rPr lang="en-US" sz="1000" b="0" i="0" kern="1200" baseline="0" dirty="0">
                <a:solidFill>
                  <a:schemeClr val="tx1"/>
                </a:solidFill>
                <a:effectLst/>
                <a:latin typeface="Arial" panose="020B0604020202020204" pitchFamily="34" charset="0"/>
                <a:ea typeface="+mn-ea"/>
                <a:cs typeface="Arial" panose="020B0604020202020204" pitchFamily="34" charset="0"/>
              </a:rPr>
              <a:t> example</a:t>
            </a:r>
            <a:r>
              <a:rPr lang="en-US" sz="1000" b="0" i="0" kern="1200" dirty="0">
                <a:solidFill>
                  <a:schemeClr val="tx1"/>
                </a:solidFill>
                <a:effectLst/>
                <a:latin typeface="Arial" panose="020B0604020202020204" pitchFamily="34" charset="0"/>
                <a:ea typeface="+mn-ea"/>
                <a:cs typeface="Arial" panose="020B0604020202020204" pitchFamily="34" charset="0"/>
              </a:rPr>
              <a:t>, 21, 80, and 443), while blocking those services on other ports</a:t>
            </a:r>
            <a:r>
              <a:rPr lang="en-US" sz="1000" b="0" i="0" kern="1200" dirty="0" smtClean="0">
                <a:solidFill>
                  <a:schemeClr val="tx1"/>
                </a:solidFill>
                <a:effectLst/>
                <a:latin typeface="Arial" panose="020B0604020202020204" pitchFamily="34" charset="0"/>
                <a:ea typeface="+mn-ea"/>
                <a:cs typeface="Arial" panose="020B0604020202020204" pitchFamily="34" charset="0"/>
              </a:rPr>
              <a:t>.</a:t>
            </a:r>
          </a:p>
          <a:p>
            <a:endParaRPr lang="en-US" sz="1000" b="0" i="0" kern="1200" dirty="0">
              <a:solidFill>
                <a:schemeClr val="tx1"/>
              </a:solidFill>
              <a:effectLst/>
              <a:latin typeface="Arial" panose="020B0604020202020204" pitchFamily="34" charset="0"/>
              <a:ea typeface="+mn-ea"/>
              <a:cs typeface="Arial" panose="020B0604020202020204" pitchFamily="34" charset="0"/>
            </a:endParaRPr>
          </a:p>
          <a:p>
            <a:r>
              <a:rPr lang="en-US" sz="1000" b="0" i="0" kern="1200" dirty="0">
                <a:solidFill>
                  <a:schemeClr val="tx1"/>
                </a:solidFill>
                <a:effectLst/>
                <a:latin typeface="Arial" panose="020B0604020202020204" pitchFamily="34" charset="0"/>
                <a:ea typeface="+mn-ea"/>
                <a:cs typeface="Arial" panose="020B0604020202020204" pitchFamily="34" charset="0"/>
              </a:rPr>
              <a:t>The feature takes action in the following scenarios:</a:t>
            </a:r>
          </a:p>
          <a:p>
            <a:pPr marL="171450" indent="-171450">
              <a:buFont typeface="Arial" panose="020B0604020202020204" pitchFamily="34" charset="0"/>
              <a:buChar char="•"/>
            </a:pPr>
            <a:r>
              <a:rPr lang="en-US" sz="1000" b="0" i="0" kern="1200" dirty="0">
                <a:solidFill>
                  <a:schemeClr val="tx1"/>
                </a:solidFill>
                <a:effectLst/>
                <a:latin typeface="Arial" panose="020B0604020202020204" pitchFamily="34" charset="0"/>
                <a:ea typeface="+mn-ea"/>
                <a:cs typeface="Arial" panose="020B0604020202020204" pitchFamily="34" charset="0"/>
              </a:rPr>
              <a:t>When one protocol dissector confirms the service of network traffic, protocol enforcement can check whether the confirmed service is whitelisted under the server port. If it is not, then the traffic is considered a violation and IPS can take the action (for</a:t>
            </a:r>
            <a:r>
              <a:rPr lang="en-US" sz="1000" b="0" i="0" kern="1200" baseline="0" dirty="0">
                <a:solidFill>
                  <a:schemeClr val="tx1"/>
                </a:solidFill>
                <a:effectLst/>
                <a:latin typeface="Arial" panose="020B0604020202020204" pitchFamily="34" charset="0"/>
                <a:ea typeface="+mn-ea"/>
                <a:cs typeface="Arial" panose="020B0604020202020204" pitchFamily="34" charset="0"/>
              </a:rPr>
              <a:t> example</a:t>
            </a:r>
            <a:r>
              <a:rPr lang="en-US" sz="1000" b="0" i="0" kern="1200" dirty="0">
                <a:solidFill>
                  <a:schemeClr val="tx1"/>
                </a:solidFill>
                <a:effectLst/>
                <a:latin typeface="Arial" panose="020B0604020202020204" pitchFamily="34" charset="0"/>
                <a:ea typeface="+mn-ea"/>
                <a:cs typeface="Arial" panose="020B0604020202020204" pitchFamily="34" charset="0"/>
              </a:rPr>
              <a:t>, block) specified in the configuration.</a:t>
            </a:r>
          </a:p>
          <a:p>
            <a:pPr marL="171450" marR="0" indent="-171450" algn="l" defTabSz="91424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b="0" i="0" kern="1200" dirty="0">
                <a:solidFill>
                  <a:schemeClr val="tx1"/>
                </a:solidFill>
                <a:effectLst/>
                <a:latin typeface="Arial" panose="020B0604020202020204" pitchFamily="34" charset="0"/>
                <a:ea typeface="+mn-ea"/>
                <a:cs typeface="Arial" panose="020B0604020202020204" pitchFamily="34" charset="0"/>
              </a:rPr>
              <a:t>There is no confirmed service for network traffic. It would be considered a service violation if IPS dissectors rule out all the services enforced under its server port</a:t>
            </a:r>
            <a:r>
              <a:rPr lang="en-US" sz="1000" b="0" i="0" kern="1200" dirty="0" smtClean="0">
                <a:solidFill>
                  <a:schemeClr val="tx1"/>
                </a:solidFill>
                <a:effectLst/>
                <a:latin typeface="Arial" panose="020B0604020202020204" pitchFamily="34" charset="0"/>
                <a:ea typeface="+mn-ea"/>
                <a:cs typeface="Arial" panose="020B0604020202020204" pitchFamily="34" charset="0"/>
              </a:rPr>
              <a:t>. For example, if port 21 is configured for FTP</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and </a:t>
            </a:r>
            <a:r>
              <a:rPr lang="en-US" sz="1000" b="0" i="0" kern="1200" dirty="0" smtClean="0">
                <a:solidFill>
                  <a:schemeClr val="tx1"/>
                </a:solidFill>
                <a:effectLst/>
                <a:latin typeface="Arial" panose="020B0604020202020204" pitchFamily="34" charset="0"/>
                <a:ea typeface="+mn-ea"/>
                <a:cs typeface="Arial" panose="020B0604020202020204" pitchFamily="34" charset="0"/>
              </a:rPr>
              <a:t>IPS Dissector could not decide on the exact service but is sure it is not FTP. If the port of the non-ftp traffic is 21, it</a:t>
            </a:r>
            <a:r>
              <a:rPr lang="en-US" sz="1000" b="0" i="0" kern="1200" baseline="0" dirty="0" smtClean="0">
                <a:solidFill>
                  <a:schemeClr val="tx1"/>
                </a:solidFill>
                <a:effectLst/>
                <a:latin typeface="Arial" panose="020B0604020202020204" pitchFamily="34" charset="0"/>
                <a:ea typeface="+mn-ea"/>
                <a:cs typeface="Arial" panose="020B0604020202020204" pitchFamily="34" charset="0"/>
              </a:rPr>
              <a:t> will be a violation.</a:t>
            </a:r>
            <a:endParaRPr lang="en-US" sz="1000" b="0" i="0" kern="1200" dirty="0" smtClean="0">
              <a:solidFill>
                <a:schemeClr val="tx1"/>
              </a:solidFill>
              <a:effectLst/>
              <a:latin typeface="Arial" panose="020B0604020202020204" pitchFamily="34" charset="0"/>
              <a:ea typeface="+mn-ea"/>
              <a:cs typeface="Arial" panose="020B0604020202020204" pitchFamily="34" charset="0"/>
            </a:endParaRPr>
          </a:p>
          <a:p>
            <a:pPr marL="171450" indent="-171450">
              <a:buFont typeface="Arial" panose="020B0604020202020204" pitchFamily="34" charset="0"/>
              <a:buChar char="•"/>
            </a:pPr>
            <a:endParaRPr lang="en-US" sz="1000" b="0" i="0" kern="1200" dirty="0">
              <a:solidFill>
                <a:schemeClr val="tx1"/>
              </a:solidFill>
              <a:effectLst/>
              <a:latin typeface="Arial" panose="020B0604020202020204" pitchFamily="34" charset="0"/>
              <a:ea typeface="+mn-ea"/>
              <a:cs typeface="Arial" panose="020B0604020202020204" pitchFamily="34" charset="0"/>
            </a:endParaRP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586554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IPS engine examines the traffic stream for a signature match. </a:t>
            </a:r>
          </a:p>
          <a:p>
            <a:endParaRPr lang="en-US" dirty="0"/>
          </a:p>
          <a:p>
            <a:r>
              <a:rPr lang="en-US" dirty="0"/>
              <a:t>Then, FortiGate scans packets for matches, in this order, for the application control profile:</a:t>
            </a:r>
          </a:p>
          <a:p>
            <a:pPr marL="237127" indent="-237127">
              <a:buFont typeface="+mj-lt"/>
              <a:buAutoNum type="arabicPeriod"/>
            </a:pPr>
            <a:r>
              <a:rPr lang="en-US" b="0" dirty="0" smtClean="0"/>
              <a:t>Application </a:t>
            </a:r>
            <a:r>
              <a:rPr lang="en-US" b="0" dirty="0"/>
              <a:t>and filter overrides</a:t>
            </a:r>
            <a:r>
              <a:rPr lang="en-US" dirty="0"/>
              <a:t>: If you have configured any </a:t>
            </a:r>
            <a:r>
              <a:rPr lang="en-US" b="0" dirty="0"/>
              <a:t>application overrides</a:t>
            </a:r>
            <a:r>
              <a:rPr lang="en-US" b="1" dirty="0"/>
              <a:t> </a:t>
            </a:r>
            <a:r>
              <a:rPr lang="en-US" b="0" dirty="0"/>
              <a:t>or</a:t>
            </a:r>
            <a:r>
              <a:rPr lang="en-US" b="1" dirty="0"/>
              <a:t> </a:t>
            </a:r>
            <a:r>
              <a:rPr lang="en-US" b="0" dirty="0"/>
              <a:t>f</a:t>
            </a:r>
            <a:r>
              <a:rPr lang="en-US" b="0" baseline="0" dirty="0"/>
              <a:t>ilter</a:t>
            </a:r>
            <a:r>
              <a:rPr lang="en-US" b="0" dirty="0"/>
              <a:t> overrides</a:t>
            </a:r>
            <a:r>
              <a:rPr lang="en-US" dirty="0"/>
              <a:t>, the application control profile considers those first. It looks for a matching override starting at the top of the list, like firewall policies.</a:t>
            </a:r>
          </a:p>
          <a:p>
            <a:pPr marL="237127" indent="-237127">
              <a:buFont typeface="+mj-lt"/>
              <a:buAutoNum type="arabicPeriod"/>
            </a:pPr>
            <a:r>
              <a:rPr lang="en-US" b="0" dirty="0"/>
              <a:t>Categories:</a:t>
            </a:r>
            <a:r>
              <a:rPr lang="en-US" baseline="0" dirty="0"/>
              <a:t> Finally</a:t>
            </a:r>
            <a:r>
              <a:rPr lang="en-US" dirty="0"/>
              <a:t>, the application control profile applies the action that you’ve configured for applications in your selected </a:t>
            </a:r>
            <a:r>
              <a:rPr lang="en-US" b="0" dirty="0"/>
              <a:t>categories</a:t>
            </a:r>
            <a:r>
              <a:rPr lang="en-US" dirty="0"/>
              <a:t>.</a:t>
            </a:r>
          </a:p>
          <a:p>
            <a:endParaRPr lang="en-US"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9344648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profile shown on this slide, the application control profile blocks the </a:t>
            </a:r>
            <a:r>
              <a:rPr lang="en-US" b="1" dirty="0"/>
              <a:t>Game </a:t>
            </a:r>
            <a:r>
              <a:rPr lang="en-US" dirty="0"/>
              <a:t>and </a:t>
            </a:r>
            <a:r>
              <a:rPr lang="en-US" b="1" dirty="0"/>
              <a:t>Video/Audio </a:t>
            </a:r>
            <a:r>
              <a:rPr lang="en-US" dirty="0"/>
              <a:t>categories. For applications in these</a:t>
            </a:r>
            <a:r>
              <a:rPr lang="en-US" baseline="0" dirty="0"/>
              <a:t> categories</a:t>
            </a:r>
            <a:r>
              <a:rPr lang="en-US" dirty="0"/>
              <a:t>, FortiGate responds with the application control HTTP block message. (It is slightly different from the web filtering HTTP block message.) All</a:t>
            </a:r>
            <a:r>
              <a:rPr lang="en-US" baseline="0" dirty="0"/>
              <a:t> other categories are set to </a:t>
            </a:r>
            <a:r>
              <a:rPr lang="en-US" b="1" baseline="0" dirty="0" smtClean="0"/>
              <a:t>Monitor</a:t>
            </a:r>
            <a:r>
              <a:rPr lang="en-US" baseline="0" dirty="0" smtClean="0"/>
              <a:t>, </a:t>
            </a:r>
            <a:r>
              <a:rPr lang="en-US" baseline="0" dirty="0"/>
              <a:t>except </a:t>
            </a:r>
            <a:r>
              <a:rPr lang="en-US" b="1" baseline="0" dirty="0"/>
              <a:t>Unknown Applications</a:t>
            </a:r>
            <a:r>
              <a:rPr lang="en-US" baseline="0" dirty="0"/>
              <a:t>, and are allowed to pass traffic.</a:t>
            </a:r>
            <a:endParaRPr lang="en-US" dirty="0"/>
          </a:p>
          <a:p>
            <a:endParaRPr lang="en-US" dirty="0"/>
          </a:p>
          <a:p>
            <a:r>
              <a:rPr lang="en-US" dirty="0"/>
              <a:t>In the </a:t>
            </a:r>
            <a:r>
              <a:rPr lang="en-US" b="1" dirty="0"/>
              <a:t>Application </a:t>
            </a:r>
            <a:r>
              <a:rPr lang="en-US" b="1" dirty="0" smtClean="0"/>
              <a:t>and Filter Overrides </a:t>
            </a:r>
            <a:r>
              <a:rPr lang="en-US" b="0" dirty="0"/>
              <a:t>section</a:t>
            </a:r>
            <a:r>
              <a:rPr lang="en-US" dirty="0"/>
              <a:t>, you can see that</a:t>
            </a:r>
            <a:r>
              <a:rPr lang="en-US" baseline="0" dirty="0"/>
              <a:t> </a:t>
            </a:r>
            <a:r>
              <a:rPr lang="en-US" dirty="0"/>
              <a:t>some exceptions are specified. Instead of being set to</a:t>
            </a:r>
            <a:r>
              <a:rPr lang="en-US" baseline="0" dirty="0"/>
              <a:t> </a:t>
            </a:r>
            <a:r>
              <a:rPr lang="en-US" b="1" baseline="0" dirty="0"/>
              <a:t>B</a:t>
            </a:r>
            <a:r>
              <a:rPr lang="en-US" b="1" dirty="0"/>
              <a:t>lock</a:t>
            </a:r>
            <a:r>
              <a:rPr lang="en-US" dirty="0"/>
              <a:t>, </a:t>
            </a:r>
            <a:r>
              <a:rPr lang="en-CA" b="1" dirty="0"/>
              <a:t>Battle.Net </a:t>
            </a:r>
            <a:r>
              <a:rPr lang="en-CA" b="0" dirty="0"/>
              <a:t>(</a:t>
            </a:r>
            <a:r>
              <a:rPr lang="en-CA" b="1" dirty="0"/>
              <a:t>Game</a:t>
            </a:r>
            <a:r>
              <a:rPr lang="en-CA" b="0" dirty="0"/>
              <a:t>)</a:t>
            </a:r>
            <a:r>
              <a:rPr lang="en-CA" b="1" dirty="0"/>
              <a:t> </a:t>
            </a:r>
            <a:r>
              <a:rPr lang="en-CA" dirty="0"/>
              <a:t>and </a:t>
            </a:r>
            <a:r>
              <a:rPr lang="en-CA" b="1" dirty="0"/>
              <a:t>Dailymotion </a:t>
            </a:r>
            <a:r>
              <a:rPr lang="en-CA" b="0" dirty="0"/>
              <a:t>(</a:t>
            </a:r>
            <a:r>
              <a:rPr lang="en-CA" b="1" dirty="0"/>
              <a:t>Video/Audio</a:t>
            </a:r>
            <a:r>
              <a:rPr lang="en-CA" b="0" dirty="0"/>
              <a:t>)</a:t>
            </a:r>
            <a:r>
              <a:rPr lang="en-CA" b="1" dirty="0"/>
              <a:t> </a:t>
            </a:r>
            <a:r>
              <a:rPr lang="en-CA" dirty="0"/>
              <a:t>are set to </a:t>
            </a:r>
            <a:r>
              <a:rPr lang="en-CA" b="1" dirty="0" smtClean="0"/>
              <a:t>Monitor</a:t>
            </a:r>
            <a:r>
              <a:rPr lang="en-CA" dirty="0" smtClean="0"/>
              <a:t>.</a:t>
            </a:r>
            <a:r>
              <a:rPr lang="en-CA" baseline="0" dirty="0" smtClean="0"/>
              <a:t> </a:t>
            </a:r>
            <a:r>
              <a:rPr lang="en-CA" dirty="0"/>
              <a:t>Because application overrides are applied first in the scan, these two applications </a:t>
            </a:r>
            <a:r>
              <a:rPr lang="en-CA" dirty="0" smtClean="0"/>
              <a:t>are allowed</a:t>
            </a:r>
            <a:r>
              <a:rPr lang="en-CA" dirty="0"/>
              <a:t>, and </a:t>
            </a:r>
            <a:r>
              <a:rPr lang="en-CA" dirty="0" smtClean="0"/>
              <a:t>generate </a:t>
            </a:r>
            <a:r>
              <a:rPr lang="en-CA" dirty="0"/>
              <a:t>logs.</a:t>
            </a:r>
          </a:p>
          <a:p>
            <a:endParaRPr lang="en-CA" dirty="0"/>
          </a:p>
          <a:p>
            <a:r>
              <a:rPr lang="en-CA" dirty="0"/>
              <a:t>Next, the</a:t>
            </a:r>
            <a:r>
              <a:rPr lang="en-CA" baseline="0" dirty="0"/>
              <a:t> scan</a:t>
            </a:r>
            <a:r>
              <a:rPr lang="en-CA" dirty="0"/>
              <a:t> </a:t>
            </a:r>
            <a:r>
              <a:rPr lang="en-CA" dirty="0" smtClean="0"/>
              <a:t>checks </a:t>
            </a:r>
            <a:r>
              <a:rPr lang="en-CA" dirty="0"/>
              <a:t>for </a:t>
            </a:r>
            <a:r>
              <a:rPr lang="en-CA" b="1" dirty="0"/>
              <a:t>Application and Filter Overrides</a:t>
            </a:r>
            <a:r>
              <a:rPr lang="en-CA" dirty="0"/>
              <a:t>. Because a filter override is configured to block applications that use excessive bandwidth, </a:t>
            </a:r>
            <a:r>
              <a:rPr lang="en-CA" b="0" dirty="0"/>
              <a:t>it </a:t>
            </a:r>
            <a:r>
              <a:rPr lang="en-CA" b="0" dirty="0" smtClean="0"/>
              <a:t>blocks </a:t>
            </a:r>
            <a:r>
              <a:rPr lang="en-CA" b="0" dirty="0"/>
              <a:t>all applications using excessive bandwidth, regardless of categories that allow these applications.</a:t>
            </a:r>
          </a:p>
          <a:p>
            <a:endParaRPr lang="en-CA" dirty="0"/>
          </a:p>
          <a:p>
            <a:r>
              <a:rPr lang="en-CA" dirty="0"/>
              <a:t>This slide shows </a:t>
            </a:r>
            <a:r>
              <a:rPr lang="en-US" dirty="0"/>
              <a:t>an example of how several security</a:t>
            </a:r>
            <a:r>
              <a:rPr lang="en-US" baseline="0" dirty="0"/>
              <a:t> profile </a:t>
            </a:r>
            <a:r>
              <a:rPr lang="en-US" dirty="0"/>
              <a:t>features could work together, overlap, or work as substitutes, on the same traffic.</a:t>
            </a:r>
          </a:p>
          <a:p>
            <a:endParaRPr lang="en-CA" dirty="0"/>
          </a:p>
          <a:p>
            <a:r>
              <a:rPr lang="en-US" dirty="0"/>
              <a:t>After the application control profile scan is done, FortiGate begins other scans, such as web filtering. The</a:t>
            </a:r>
            <a:r>
              <a:rPr lang="en-US" baseline="0" dirty="0"/>
              <a:t> web filtering scan</a:t>
            </a:r>
            <a:r>
              <a:rPr lang="en-US" dirty="0"/>
              <a:t> could block </a:t>
            </a:r>
            <a:r>
              <a:rPr lang="en-CA" dirty="0"/>
              <a:t>Battle.Net and Dailymotion</a:t>
            </a:r>
            <a:r>
              <a:rPr lang="en-US" dirty="0"/>
              <a:t>, but it would use its own block message. Also, web filtering doesn’t check the list of application control overrides. </a:t>
            </a:r>
            <a:r>
              <a:rPr lang="en-US" i="1" dirty="0"/>
              <a:t>So, even if an application control override allows an application, web filtering could still block it. </a:t>
            </a:r>
          </a:p>
          <a:p>
            <a:endParaRPr lang="en-US" dirty="0"/>
          </a:p>
          <a:p>
            <a:r>
              <a:rPr lang="en-US" dirty="0"/>
              <a:t>Similarly, static URL filtering has its own exempt action, which bypasses all subsequent security checks. However, application control occurs before web filtering, so that the web filtering exemption </a:t>
            </a:r>
            <a:r>
              <a:rPr lang="en-US" i="1" dirty="0"/>
              <a:t>cannot </a:t>
            </a:r>
            <a:r>
              <a:rPr lang="en-US" dirty="0"/>
              <a:t>bypass application control.</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0855724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example profile shown on this slide, the</a:t>
            </a:r>
            <a:r>
              <a:rPr lang="en-US" baseline="0" dirty="0"/>
              <a:t> filter override has been moved above the application override. In this scenario, the filter override (</a:t>
            </a:r>
            <a:r>
              <a:rPr lang="en-US" b="1" baseline="0" dirty="0"/>
              <a:t>Excessive-Bandwidth</a:t>
            </a:r>
            <a:r>
              <a:rPr lang="en-US" baseline="0" dirty="0"/>
              <a:t>) </a:t>
            </a:r>
            <a:r>
              <a:rPr lang="en-US" baseline="0" dirty="0" smtClean="0"/>
              <a:t>is blocked and, </a:t>
            </a:r>
            <a:r>
              <a:rPr lang="en-US" baseline="0" dirty="0"/>
              <a:t>since </a:t>
            </a:r>
            <a:r>
              <a:rPr lang="en-US" b="1" baseline="0" dirty="0"/>
              <a:t>Dailymotion</a:t>
            </a:r>
            <a:r>
              <a:rPr lang="en-US" baseline="0" dirty="0"/>
              <a:t> falls under the excessive bandwidth category, </a:t>
            </a:r>
            <a:r>
              <a:rPr lang="en-US" b="0" baseline="0" dirty="0"/>
              <a:t>Dailymotion</a:t>
            </a:r>
            <a:r>
              <a:rPr lang="en-US" baseline="0" dirty="0"/>
              <a:t> </a:t>
            </a:r>
            <a:r>
              <a:rPr lang="en-US" baseline="0" dirty="0" smtClean="0"/>
              <a:t>is blocked </a:t>
            </a:r>
            <a:r>
              <a:rPr lang="en-US" baseline="0" dirty="0"/>
              <a:t>even though it is set to </a:t>
            </a:r>
            <a:r>
              <a:rPr lang="en-US" b="1" baseline="0" dirty="0" smtClean="0"/>
              <a:t>Monitor</a:t>
            </a:r>
            <a:r>
              <a:rPr lang="en-US" baseline="0" dirty="0" smtClean="0"/>
              <a:t> </a:t>
            </a:r>
            <a:r>
              <a:rPr lang="en-US" baseline="0" dirty="0"/>
              <a:t>under the </a:t>
            </a:r>
            <a:r>
              <a:rPr lang="en-US" b="1" baseline="0" dirty="0"/>
              <a:t>Application and Filter Overrides</a:t>
            </a:r>
            <a:r>
              <a:rPr lang="en-US" baseline="0" dirty="0"/>
              <a:t> section.</a:t>
            </a:r>
          </a:p>
          <a:p>
            <a:endParaRPr lang="en-US" baseline="0" dirty="0"/>
          </a:p>
          <a:p>
            <a:r>
              <a:rPr lang="en-US" baseline="0" dirty="0"/>
              <a:t>The priority in which application and filter overrides are placed takes precedence.</a:t>
            </a:r>
          </a:p>
          <a:p>
            <a:endParaRPr lang="en-US"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2950505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For each filter in the application control profile, you must indicate an </a:t>
            </a:r>
            <a:r>
              <a:rPr lang="en-US" b="0" dirty="0"/>
              <a:t>action—</a:t>
            </a:r>
            <a:r>
              <a:rPr lang="en-US" dirty="0"/>
              <a:t>what FortiGate does</a:t>
            </a:r>
            <a:r>
              <a:rPr lang="en-US" baseline="0" dirty="0"/>
              <a:t> when</a:t>
            </a:r>
            <a:r>
              <a:rPr lang="en-US" dirty="0"/>
              <a:t> traffic matches. Actions</a:t>
            </a:r>
            <a:r>
              <a:rPr lang="en-US" baseline="0" dirty="0"/>
              <a:t> include the following:</a:t>
            </a:r>
            <a:endParaRPr lang="en-US" dirty="0"/>
          </a:p>
          <a:p>
            <a:pPr marL="171425" indent="-171425">
              <a:buFont typeface="Arial" panose="020B0604020202020204" pitchFamily="34" charset="0"/>
              <a:buChar char="•"/>
            </a:pPr>
            <a:r>
              <a:rPr lang="en-US" b="1" dirty="0" smtClean="0"/>
              <a:t>Allow</a:t>
            </a:r>
            <a:r>
              <a:rPr lang="en-US" b="0" dirty="0"/>
              <a:t>:</a:t>
            </a:r>
            <a:r>
              <a:rPr lang="en-US" b="0" baseline="0" dirty="0"/>
              <a:t> </a:t>
            </a:r>
            <a:r>
              <a:rPr lang="en-US" b="0" baseline="0" dirty="0" smtClean="0"/>
              <a:t>P</a:t>
            </a:r>
            <a:r>
              <a:rPr lang="en-US" dirty="0" smtClean="0"/>
              <a:t>asses </a:t>
            </a:r>
            <a:r>
              <a:rPr lang="en-US" dirty="0"/>
              <a:t>the traffic and does not generate a log</a:t>
            </a:r>
          </a:p>
          <a:p>
            <a:pPr marL="171425" indent="-171425">
              <a:buFont typeface="Arial" panose="020B0604020202020204" pitchFamily="34" charset="0"/>
              <a:buChar char="•"/>
            </a:pPr>
            <a:r>
              <a:rPr lang="en-US" b="1" dirty="0"/>
              <a:t>Monitor</a:t>
            </a:r>
            <a:r>
              <a:rPr lang="en-US" b="0" dirty="0"/>
              <a:t>:</a:t>
            </a:r>
            <a:r>
              <a:rPr lang="en-US" dirty="0"/>
              <a:t> </a:t>
            </a:r>
            <a:r>
              <a:rPr lang="en-US" dirty="0" smtClean="0"/>
              <a:t>Passes </a:t>
            </a:r>
            <a:r>
              <a:rPr lang="en-US" dirty="0"/>
              <a:t>the traffic, but also generates a log message</a:t>
            </a:r>
          </a:p>
          <a:p>
            <a:pPr marL="171425" indent="-171425">
              <a:buFont typeface="Arial" panose="020B0604020202020204" pitchFamily="34" charset="0"/>
              <a:buChar char="•"/>
            </a:pPr>
            <a:r>
              <a:rPr lang="en-US" b="1" dirty="0"/>
              <a:t>Block</a:t>
            </a:r>
            <a:r>
              <a:rPr lang="en-US" b="0" dirty="0"/>
              <a:t>:</a:t>
            </a:r>
            <a:r>
              <a:rPr lang="en-US" dirty="0"/>
              <a:t> </a:t>
            </a:r>
            <a:r>
              <a:rPr lang="en-US" dirty="0" smtClean="0"/>
              <a:t>Drops </a:t>
            </a:r>
            <a:r>
              <a:rPr lang="en-US" dirty="0"/>
              <a:t>the detected traffic and generates a log message</a:t>
            </a:r>
          </a:p>
          <a:p>
            <a:pPr marL="171425" indent="-171425">
              <a:buFont typeface="Arial" panose="020B0604020202020204" pitchFamily="34" charset="0"/>
              <a:buChar char="•"/>
            </a:pPr>
            <a:r>
              <a:rPr lang="en-US" b="1" dirty="0"/>
              <a:t>Quarantine</a:t>
            </a:r>
            <a:r>
              <a:rPr lang="en-US" b="0" dirty="0"/>
              <a:t>:</a:t>
            </a:r>
            <a:r>
              <a:rPr lang="en-US" dirty="0"/>
              <a:t> </a:t>
            </a:r>
            <a:r>
              <a:rPr lang="en-US" dirty="0" smtClean="0"/>
              <a:t>Blocks </a:t>
            </a:r>
            <a:r>
              <a:rPr lang="en-US" dirty="0"/>
              <a:t>the traffic from an attacker IP until the expiration time is</a:t>
            </a:r>
            <a:r>
              <a:rPr lang="en-US" baseline="0" dirty="0"/>
              <a:t> reached and</a:t>
            </a:r>
            <a:r>
              <a:rPr lang="en-US" dirty="0"/>
              <a:t> generates a log message</a:t>
            </a:r>
          </a:p>
          <a:p>
            <a:endParaRPr lang="en-US" dirty="0"/>
          </a:p>
          <a:p>
            <a:r>
              <a:rPr lang="en-US" dirty="0"/>
              <a:t>The</a:t>
            </a:r>
            <a:r>
              <a:rPr lang="en-US" baseline="0" dirty="0"/>
              <a:t> </a:t>
            </a:r>
            <a:r>
              <a:rPr lang="en-US" b="1" baseline="0" dirty="0"/>
              <a:t>View Signature </a:t>
            </a:r>
            <a:r>
              <a:rPr lang="en-US" b="0" baseline="0" dirty="0"/>
              <a:t>action</a:t>
            </a:r>
            <a:r>
              <a:rPr lang="en-US" b="1" baseline="0" dirty="0"/>
              <a:t> </a:t>
            </a:r>
            <a:r>
              <a:rPr lang="en-US" baseline="0" dirty="0"/>
              <a:t>allows you to view signatures from a particular category only and </a:t>
            </a:r>
            <a:r>
              <a:rPr lang="en-US" i="0" baseline="0" dirty="0"/>
              <a:t>is</a:t>
            </a:r>
            <a:r>
              <a:rPr lang="en-US" i="1" baseline="0" dirty="0"/>
              <a:t> not </a:t>
            </a:r>
            <a:r>
              <a:rPr lang="en-US" b="0" baseline="0" dirty="0"/>
              <a:t>a configurable action</a:t>
            </a:r>
            <a:r>
              <a:rPr lang="en-US" baseline="0" dirty="0"/>
              <a:t>. The </a:t>
            </a:r>
            <a:r>
              <a:rPr lang="en-US" b="1" baseline="0" dirty="0"/>
              <a:t>View Cloud Signatures </a:t>
            </a:r>
            <a:r>
              <a:rPr lang="en-US" b="0" baseline="0" dirty="0"/>
              <a:t>action</a:t>
            </a:r>
            <a:r>
              <a:rPr lang="en-US" b="1" baseline="0" dirty="0"/>
              <a:t> </a:t>
            </a:r>
            <a:r>
              <a:rPr lang="en-US" baseline="0" dirty="0"/>
              <a:t>allows you to view application signatures for cloud applications from a particular category. </a:t>
            </a:r>
          </a:p>
          <a:p>
            <a:endParaRPr lang="en-US" dirty="0"/>
          </a:p>
          <a:p>
            <a:r>
              <a:rPr lang="en-US" dirty="0"/>
              <a:t>Which is the correct action to choose?</a:t>
            </a:r>
          </a:p>
          <a:p>
            <a:endParaRPr lang="en-US" dirty="0"/>
          </a:p>
          <a:p>
            <a:pPr lvl="0"/>
            <a:r>
              <a:rPr lang="en-US" dirty="0"/>
              <a:t>If you’re not sure which action to choose, </a:t>
            </a:r>
            <a:r>
              <a:rPr lang="en-US" b="1" i="0" dirty="0"/>
              <a:t>Monitor</a:t>
            </a:r>
            <a:r>
              <a:rPr lang="en-US" dirty="0"/>
              <a:t> can be useful initially,</a:t>
            </a:r>
            <a:r>
              <a:rPr lang="en-US" baseline="0" dirty="0"/>
              <a:t> w</a:t>
            </a:r>
            <a:r>
              <a:rPr lang="en-US" dirty="0"/>
              <a:t>hile you study your network. </a:t>
            </a:r>
            <a:r>
              <a:rPr lang="en-CA" dirty="0"/>
              <a:t>Later,</a:t>
            </a:r>
            <a:r>
              <a:rPr lang="en-CA" baseline="0" dirty="0"/>
              <a:t> a</a:t>
            </a:r>
            <a:r>
              <a:rPr lang="en-CA" dirty="0"/>
              <a:t>fter you have studied</a:t>
            </a:r>
            <a:r>
              <a:rPr lang="en-CA" baseline="0" dirty="0"/>
              <a:t> </a:t>
            </a:r>
            <a:r>
              <a:rPr lang="en-CA" dirty="0"/>
              <a:t>your network traffic, you can</a:t>
            </a:r>
            <a:r>
              <a:rPr lang="en-US" dirty="0"/>
              <a:t> fine-tune your filter selection by choosing</a:t>
            </a:r>
            <a:r>
              <a:rPr lang="en-US" baseline="0" dirty="0"/>
              <a:t> </a:t>
            </a:r>
            <a:r>
              <a:rPr lang="en-US" dirty="0"/>
              <a:t>the most appropriate action.</a:t>
            </a:r>
            <a:r>
              <a:rPr lang="en-US" baseline="0" dirty="0"/>
              <a:t> </a:t>
            </a:r>
            <a:r>
              <a:rPr lang="en-US" dirty="0"/>
              <a:t>The action you choose also depends on the application. If an application requires feedback to prevent instability or other unwanted behavior, then you might choose </a:t>
            </a:r>
            <a:r>
              <a:rPr lang="en-US" b="1" dirty="0"/>
              <a:t>Quarantine </a:t>
            </a:r>
            <a:r>
              <a:rPr lang="en-US" dirty="0"/>
              <a:t>instead of </a:t>
            </a:r>
            <a:r>
              <a:rPr lang="en-US" b="1" dirty="0"/>
              <a:t>Block</a:t>
            </a:r>
            <a:r>
              <a:rPr lang="en-US" dirty="0"/>
              <a:t>. Otherwise, the most efficient use of FortiGate resources is to </a:t>
            </a:r>
            <a:r>
              <a:rPr lang="en-US" baseline="0" dirty="0"/>
              <a:t>b</a:t>
            </a:r>
            <a:r>
              <a:rPr lang="en-US" dirty="0"/>
              <a:t>lock.</a:t>
            </a:r>
          </a:p>
        </p:txBody>
      </p:sp>
      <p:sp>
        <p:nvSpPr>
          <p:cNvPr id="7" name="Slide Image Placeholder 6"/>
          <p:cNvSpPr>
            <a:spLocks noGrp="1" noRot="1" noChangeAspect="1"/>
          </p:cNvSpPr>
          <p:nvPr>
            <p:ph type="sldImg"/>
          </p:nvPr>
        </p:nvSpPr>
        <p:spPr>
          <a:xfrm>
            <a:off x="593725" y="704850"/>
            <a:ext cx="6346825" cy="3571875"/>
          </a:xfrm>
        </p:spPr>
      </p:sp>
      <p:sp>
        <p:nvSpPr>
          <p:cNvPr id="2" name="Header Placeholder 1"/>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949164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After </a:t>
            </a:r>
            <a:r>
              <a:rPr lang="en-CA" dirty="0" smtClean="0"/>
              <a:t>you</a:t>
            </a:r>
            <a:r>
              <a:rPr lang="en-CA" baseline="0" dirty="0" smtClean="0"/>
              <a:t> configure </a:t>
            </a:r>
            <a:r>
              <a:rPr lang="en-CA" dirty="0" smtClean="0"/>
              <a:t>an</a:t>
            </a:r>
            <a:r>
              <a:rPr lang="en-CA" baseline="0" dirty="0" smtClean="0"/>
              <a:t> </a:t>
            </a:r>
            <a:r>
              <a:rPr lang="en-CA" baseline="0" dirty="0"/>
              <a:t>application control </a:t>
            </a:r>
            <a:r>
              <a:rPr lang="en-CA" baseline="0" dirty="0" smtClean="0"/>
              <a:t>profile, you must apply it to </a:t>
            </a:r>
            <a:r>
              <a:rPr lang="en-CA" baseline="0" dirty="0"/>
              <a:t>a firewall policy. This </a:t>
            </a:r>
            <a:r>
              <a:rPr lang="en-CA" baseline="0" dirty="0" smtClean="0"/>
              <a:t>instructs </a:t>
            </a:r>
            <a:r>
              <a:rPr lang="en-CA" baseline="0" dirty="0"/>
              <a:t>FortiGate to start scanning application traffic that is subject to the firewall policy. </a:t>
            </a:r>
            <a:endParaRPr lang="en-CA" dirty="0"/>
          </a:p>
        </p:txBody>
      </p:sp>
      <p:sp>
        <p:nvSpPr>
          <p:cNvPr id="5" name="Header Placeholder 4"/>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098997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HTTP-based applications, application control can provide feedback to the user about why their application was blocked. This is called a block page, and it is similar to the one you can configure for URLs that you block using FortiGuard web filtering.</a:t>
            </a:r>
          </a:p>
          <a:p>
            <a:endParaRPr lang="en-US" dirty="0"/>
          </a:p>
          <a:p>
            <a:r>
              <a:rPr lang="en-US" dirty="0"/>
              <a:t>It is also worth mentioning that, if deep inspection is enabled in the firewall policy, all HTTPS-based applications </a:t>
            </a:r>
            <a:r>
              <a:rPr lang="en-US" dirty="0" smtClean="0"/>
              <a:t>provide </a:t>
            </a:r>
            <a:r>
              <a:rPr lang="en-US" dirty="0"/>
              <a:t>this block</a:t>
            </a:r>
            <a:r>
              <a:rPr lang="en-US" baseline="0" dirty="0"/>
              <a:t> page</a:t>
            </a:r>
            <a:r>
              <a:rPr lang="en-US" dirty="0"/>
              <a:t>.</a:t>
            </a:r>
          </a:p>
          <a:p>
            <a:endParaRPr lang="en-US" dirty="0"/>
          </a:p>
          <a:p>
            <a:r>
              <a:rPr lang="en-US" dirty="0"/>
              <a:t>The block page contains</a:t>
            </a:r>
            <a:r>
              <a:rPr lang="en-US" baseline="0" dirty="0"/>
              <a:t> the following</a:t>
            </a:r>
            <a:r>
              <a:rPr lang="en-US" dirty="0"/>
              <a:t> information:</a:t>
            </a:r>
          </a:p>
          <a:p>
            <a:pPr marL="177845" indent="-177845">
              <a:buFont typeface="Arial" panose="020B0604020202020204" pitchFamily="34" charset="0"/>
              <a:buChar char="•"/>
            </a:pPr>
            <a:r>
              <a:rPr lang="en-US" dirty="0" smtClean="0"/>
              <a:t>Signature </a:t>
            </a:r>
            <a:r>
              <a:rPr lang="en-US" dirty="0"/>
              <a:t>that detected the application (in this case, Dailymotion)</a:t>
            </a:r>
          </a:p>
          <a:p>
            <a:pPr marL="177845" indent="-177845">
              <a:buFont typeface="Arial" panose="020B0604020202020204" pitchFamily="34" charset="0"/>
              <a:buChar char="•"/>
            </a:pPr>
            <a:r>
              <a:rPr lang="en-US" dirty="0"/>
              <a:t>Signature’s category (Video/Audio)</a:t>
            </a:r>
          </a:p>
          <a:p>
            <a:pPr marL="177845" indent="-177845">
              <a:buFont typeface="Arial" panose="020B0604020202020204" pitchFamily="34" charset="0"/>
              <a:buChar char="•"/>
            </a:pPr>
            <a:r>
              <a:rPr lang="en-US" dirty="0"/>
              <a:t>URL that was specifically blocked (in this case, the index page of </a:t>
            </a:r>
            <a:r>
              <a:rPr lang="en-US" dirty="0">
                <a:latin typeface="Courier New" panose="02070309020205020404" pitchFamily="49" charset="0"/>
                <a:cs typeface="Courier New" panose="02070309020205020404" pitchFamily="49" charset="0"/>
              </a:rPr>
              <a:t>www.dailymotion.com</a:t>
            </a:r>
            <a:r>
              <a:rPr lang="en-US" dirty="0"/>
              <a:t>), since a web page can be assembled from multiple URLs</a:t>
            </a:r>
          </a:p>
          <a:p>
            <a:pPr marL="177845" indent="-177845">
              <a:buFont typeface="Arial" panose="020B0604020202020204" pitchFamily="34" charset="0"/>
              <a:buChar char="•"/>
            </a:pPr>
            <a:r>
              <a:rPr lang="en-US" dirty="0"/>
              <a:t>User name (if authentication is enabled)</a:t>
            </a:r>
          </a:p>
          <a:p>
            <a:pPr marL="177845" indent="-177845">
              <a:buFont typeface="Arial" panose="020B0604020202020204" pitchFamily="34" charset="0"/>
              <a:buChar char="•"/>
            </a:pPr>
            <a:r>
              <a:rPr lang="en-US" dirty="0"/>
              <a:t>Group name (if</a:t>
            </a:r>
            <a:r>
              <a:rPr lang="en-US" baseline="0" dirty="0"/>
              <a:t> authentication is enabled)</a:t>
            </a:r>
            <a:endParaRPr lang="en-US" dirty="0"/>
          </a:p>
          <a:p>
            <a:pPr marL="177845" indent="-177845">
              <a:buFont typeface="Arial" panose="020B0604020202020204" pitchFamily="34" charset="0"/>
              <a:buChar char="•"/>
            </a:pPr>
            <a:r>
              <a:rPr lang="en-US" dirty="0"/>
              <a:t>UUID of the policy governing the traffic</a:t>
            </a:r>
          </a:p>
          <a:p>
            <a:endParaRPr lang="en-US" dirty="0"/>
          </a:p>
          <a:p>
            <a:r>
              <a:rPr lang="en-US" dirty="0"/>
              <a:t>The last item in this list can help you to identify which policy on FortiGate blocked the page, even if you have a large number of policies with many FortiGate devices securing different segments.</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9402669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When FortiGate is operating in NGFW policy-based mode, administrators can apply application control to a security policy directly, instead of having to create an application control profile </a:t>
            </a:r>
            <a:r>
              <a:rPr lang="en-CA" baseline="0" dirty="0" smtClean="0"/>
              <a:t>first, </a:t>
            </a:r>
            <a:r>
              <a:rPr lang="en-CA" baseline="0" dirty="0"/>
              <a:t>and then apply that to a firewall policy. Eliminating the need to use an application control profile makes it easier for the administrator to select the applications or application categories they want to allow or deny in the firewall policy.</a:t>
            </a:r>
          </a:p>
          <a:p>
            <a:endParaRPr lang="en-CA" baseline="0" dirty="0"/>
          </a:p>
          <a:p>
            <a:r>
              <a:rPr lang="en-CA" baseline="0" dirty="0"/>
              <a:t>It is important to note that all security policies in an NGFW policy-based mode VDOM or FortiGate must specify an SSL/SSH inspection profile on a consolidated policy. NGFW policy-based mode also requires the use of central source NAT (SNAT), instead of NAT settings applied within the firewall policy.</a:t>
            </a:r>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6305970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can select one or more</a:t>
            </a:r>
            <a:r>
              <a:rPr lang="en-CA" baseline="0" dirty="0"/>
              <a:t> applications, application</a:t>
            </a:r>
            <a:r>
              <a:rPr lang="en-CA" dirty="0"/>
              <a:t> groups, and application categories</a:t>
            </a:r>
            <a:r>
              <a:rPr lang="en-CA" baseline="0" dirty="0"/>
              <a:t> on a security policy in the </a:t>
            </a:r>
            <a:r>
              <a:rPr lang="en-CA" b="1" baseline="0" dirty="0"/>
              <a:t>Application </a:t>
            </a:r>
            <a:r>
              <a:rPr lang="en-CA" b="0" baseline="0" dirty="0"/>
              <a:t>section. After you click the </a:t>
            </a:r>
            <a:r>
              <a:rPr lang="en-CA" b="1" baseline="0" dirty="0"/>
              <a:t>+ </a:t>
            </a:r>
            <a:r>
              <a:rPr lang="en-CA" b="0" baseline="0" dirty="0"/>
              <a:t>icon for an application</a:t>
            </a:r>
            <a:r>
              <a:rPr lang="en-CA" b="1" baseline="0" dirty="0"/>
              <a:t>,</a:t>
            </a:r>
            <a:r>
              <a:rPr lang="en-CA" b="0" baseline="0" dirty="0"/>
              <a:t> a pop-up window opens. In that window, you can search for and select one or more application signatures, application groups, or application categories. Based on the applications, groups, and application categories applied to the policy, </a:t>
            </a:r>
            <a:r>
              <a:rPr lang="en-CA" b="0" baseline="0" dirty="0" err="1"/>
              <a:t>FortiOS</a:t>
            </a:r>
            <a:r>
              <a:rPr lang="en-CA" b="0" baseline="0" dirty="0"/>
              <a:t> </a:t>
            </a:r>
            <a:r>
              <a:rPr lang="en-CA" b="0" baseline="0" dirty="0" smtClean="0"/>
              <a:t>applies </a:t>
            </a:r>
            <a:r>
              <a:rPr lang="en-CA" b="0" baseline="0" dirty="0"/>
              <a:t>the security action to the application traffic.</a:t>
            </a:r>
          </a:p>
          <a:p>
            <a:endParaRPr lang="en-CA" b="0" baseline="0" dirty="0"/>
          </a:p>
          <a:p>
            <a:r>
              <a:rPr lang="en-CA" b="0" baseline="0" dirty="0"/>
              <a:t>You can configure the</a:t>
            </a:r>
            <a:r>
              <a:rPr lang="en-CA" b="1" baseline="0" dirty="0"/>
              <a:t> URL Category </a:t>
            </a:r>
            <a:r>
              <a:rPr lang="en-CA" b="0" baseline="0" dirty="0"/>
              <a:t>within the same security policy; however, adding a URL filter </a:t>
            </a:r>
            <a:r>
              <a:rPr lang="en-CA" b="0" baseline="0" dirty="0" smtClean="0"/>
              <a:t>causes </a:t>
            </a:r>
            <a:r>
              <a:rPr lang="en-CA" b="0" baseline="0" dirty="0"/>
              <a:t>application control to scan applications in o</a:t>
            </a:r>
            <a:r>
              <a:rPr lang="en-CA" dirty="0"/>
              <a:t>nly </a:t>
            </a:r>
            <a:r>
              <a:rPr lang="en-CA" b="0" baseline="0" dirty="0"/>
              <a:t>the browser-based technology</a:t>
            </a:r>
            <a:r>
              <a:rPr lang="en-CA" b="1" baseline="0" dirty="0"/>
              <a:t> </a:t>
            </a:r>
            <a:r>
              <a:rPr lang="en-CA" b="0" baseline="0" dirty="0" smtClean="0"/>
              <a:t>category, for </a:t>
            </a:r>
            <a:r>
              <a:rPr lang="en-CA" b="0" baseline="0" dirty="0"/>
              <a:t>example, Facebook Messenger on the Facebook website. </a:t>
            </a:r>
          </a:p>
          <a:p>
            <a:endParaRPr lang="en-CA" b="0" baseline="0" dirty="0"/>
          </a:p>
          <a:p>
            <a:r>
              <a:rPr lang="en-CA" b="0" baseline="0" dirty="0"/>
              <a:t>You can also configure the </a:t>
            </a:r>
            <a:r>
              <a:rPr lang="en-CA" b="1" baseline="0" dirty="0"/>
              <a:t>Group</a:t>
            </a:r>
            <a:r>
              <a:rPr lang="en-CA" b="0" baseline="0" dirty="0"/>
              <a:t> with multiple applications and application categories. This allows the administrator to mix multiple applications and categories.</a:t>
            </a:r>
          </a:p>
          <a:p>
            <a:endParaRPr lang="en-CA" b="1" baseline="0" dirty="0"/>
          </a:p>
          <a:p>
            <a:r>
              <a:rPr lang="en-CA" b="0" baseline="0" dirty="0"/>
              <a:t>In addition to applying a URL category filter, you can also apply </a:t>
            </a:r>
            <a:r>
              <a:rPr lang="en-CA" b="1" baseline="0" dirty="0"/>
              <a:t>AntiVirus </a:t>
            </a:r>
            <a:r>
              <a:rPr lang="en-CA" b="0" baseline="0" dirty="0"/>
              <a:t>and </a:t>
            </a:r>
            <a:r>
              <a:rPr lang="en-CA" b="1" baseline="0" dirty="0"/>
              <a:t>IPS</a:t>
            </a:r>
            <a:r>
              <a:rPr lang="en-CA" b="0" baseline="0" dirty="0"/>
              <a:t> security profiles to application traffic that is allowed to pass through.</a:t>
            </a:r>
            <a:endParaRPr lang="en-CA" b="1" baseline="0"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5552858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FortiOS uses a three-step</a:t>
            </a:r>
            <a:r>
              <a:rPr lang="en-CA" baseline="0" dirty="0"/>
              <a:t> process to perform </a:t>
            </a:r>
            <a:r>
              <a:rPr lang="en-CA" dirty="0"/>
              <a:t>NGFW policy-based application</a:t>
            </a:r>
            <a:r>
              <a:rPr lang="en-CA" baseline="0" dirty="0"/>
              <a:t> filtering. Here is a brief overview of what happens at each step.</a:t>
            </a:r>
          </a:p>
          <a:p>
            <a:endParaRPr lang="en-CA" baseline="0" dirty="0"/>
          </a:p>
          <a:p>
            <a:r>
              <a:rPr lang="en-CA" baseline="0" dirty="0"/>
              <a:t>In step 1, </a:t>
            </a:r>
            <a:r>
              <a:rPr lang="en-CA" baseline="0" dirty="0" err="1"/>
              <a:t>FortiOS</a:t>
            </a:r>
            <a:r>
              <a:rPr lang="en-CA" baseline="0" dirty="0"/>
              <a:t> </a:t>
            </a:r>
            <a:r>
              <a:rPr lang="en-CA" baseline="0" dirty="0" smtClean="0"/>
              <a:t>allows all </a:t>
            </a:r>
            <a:r>
              <a:rPr lang="en-CA" baseline="0" dirty="0"/>
              <a:t>traffic while forwarding packets to the IPS engine for inspection and identification of the traffic. At the same time, FortiOS creates an entry in the session table allowing the traffic to pass and it adds a </a:t>
            </a:r>
            <a:r>
              <a:rPr lang="en-CA" baseline="0" dirty="0">
                <a:latin typeface="Courier New" panose="02070309020205020404" pitchFamily="49" charset="0"/>
                <a:cs typeface="Courier New" panose="02070309020205020404" pitchFamily="49" charset="0"/>
              </a:rPr>
              <a:t>may_dirty</a:t>
            </a:r>
            <a:r>
              <a:rPr lang="en-CA" baseline="0" dirty="0"/>
              <a:t> flag to it. </a:t>
            </a:r>
          </a:p>
          <a:p>
            <a:endParaRPr lang="en-CA" baseline="0" dirty="0"/>
          </a:p>
          <a:p>
            <a:r>
              <a:rPr lang="en-CA" baseline="0" dirty="0"/>
              <a:t>In step 2, as soon as the IPS engine identifies the application, it updates the session entry with the following information: </a:t>
            </a:r>
            <a:r>
              <a:rPr lang="en-CA" baseline="0" dirty="0">
                <a:latin typeface="Courier New" panose="02070309020205020404" pitchFamily="49" charset="0"/>
                <a:cs typeface="Courier New" panose="02070309020205020404" pitchFamily="49" charset="0"/>
              </a:rPr>
              <a:t>dirty</a:t>
            </a:r>
            <a:r>
              <a:rPr lang="en-CA" baseline="0" dirty="0"/>
              <a:t> flag, </a:t>
            </a:r>
            <a:r>
              <a:rPr lang="en-CA" baseline="0" dirty="0" err="1">
                <a:latin typeface="Courier New" panose="02070309020205020404" pitchFamily="49" charset="0"/>
                <a:cs typeface="Courier New" panose="02070309020205020404" pitchFamily="49" charset="0"/>
              </a:rPr>
              <a:t>app_valid</a:t>
            </a:r>
            <a:r>
              <a:rPr lang="en-CA" baseline="0" dirty="0"/>
              <a:t> flag, and an application ID. </a:t>
            </a:r>
          </a:p>
          <a:p>
            <a:endParaRPr lang="en-CA" baseline="0" dirty="0"/>
          </a:p>
          <a:p>
            <a:r>
              <a:rPr lang="en-CA" baseline="0" dirty="0"/>
              <a:t>In step 3, the FortiOS kernel performs a security policy lookup again, to see if the identified application ID is listed in any of the existing security policies. This time the kernel uses both Layer 4 and Layer 7 information for policy matching. After the criteria matches a firewall policy rule, the FortiOS kernel applies the action configured on the security policy to the application traffic. </a:t>
            </a:r>
            <a:endParaRPr lang="en-CA" dirty="0"/>
          </a:p>
        </p:txBody>
      </p:sp>
      <p:sp>
        <p:nvSpPr>
          <p:cNvPr id="5" name="Header Placeholder 4"/>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43675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Configuring</a:t>
            </a:r>
            <a:r>
              <a:rPr lang="en-CA" baseline="0" dirty="0"/>
              <a:t> application control in NGFW policy-based mode is simple. You can create a new security policy or edit an existing security policy. In the </a:t>
            </a:r>
            <a:r>
              <a:rPr lang="en-CA" b="1" baseline="0" dirty="0"/>
              <a:t>Application</a:t>
            </a:r>
            <a:r>
              <a:rPr lang="en-CA" b="0" baseline="0" dirty="0"/>
              <a:t> section, select the </a:t>
            </a:r>
            <a:r>
              <a:rPr lang="en-CA" sz="1000" kern="1200" dirty="0">
                <a:solidFill>
                  <a:schemeClr val="tx1"/>
                </a:solidFill>
                <a:latin typeface="Arial" panose="020B0604020202020204" pitchFamily="34" charset="0"/>
                <a:ea typeface="+mn-ea"/>
                <a:cs typeface="Arial" panose="020B0604020202020204" pitchFamily="34" charset="0"/>
              </a:rPr>
              <a:t>applications, categories, or groups </a:t>
            </a:r>
            <a:r>
              <a:rPr lang="en-CA" b="0" baseline="0" dirty="0"/>
              <a:t>that you want to allow or deny, and change the security policy </a:t>
            </a:r>
            <a:r>
              <a:rPr lang="en-CA" b="1" baseline="0" dirty="0"/>
              <a:t>Action</a:t>
            </a:r>
            <a:r>
              <a:rPr lang="en-CA" b="0" baseline="0" dirty="0"/>
              <a:t> accordingly. </a:t>
            </a:r>
            <a:r>
              <a:rPr lang="en-CA" b="0" baseline="0" dirty="0" smtClean="0"/>
              <a:t>For </a:t>
            </a:r>
            <a:r>
              <a:rPr lang="en-CA" b="0" baseline="0" dirty="0"/>
              <a:t>applications that you selected to allow, you can further enhance network security by enabling antivirus scanning and IPS control. You can also enable the logging of </a:t>
            </a:r>
            <a:r>
              <a:rPr lang="en-CA" b="1" baseline="0" dirty="0"/>
              <a:t>Security Events </a:t>
            </a:r>
            <a:r>
              <a:rPr lang="en-CA" b="0" baseline="0" dirty="0"/>
              <a:t>or </a:t>
            </a:r>
            <a:r>
              <a:rPr lang="en-CA" b="1" baseline="0" dirty="0"/>
              <a:t>All Sessions</a:t>
            </a:r>
            <a:r>
              <a:rPr lang="en-CA" b="0" baseline="0" dirty="0"/>
              <a:t> to ensure that all application control events are logged. </a:t>
            </a:r>
          </a:p>
          <a:p>
            <a:endParaRPr lang="en-CA" b="0" baseline="0"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8513845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You must have</a:t>
            </a:r>
            <a:r>
              <a:rPr lang="en-CA" baseline="0" dirty="0"/>
              <a:t> a matching </a:t>
            </a:r>
            <a:r>
              <a:rPr lang="en-CA" b="0" baseline="0" dirty="0"/>
              <a:t>central SNAT policy in NGFW policy-based mode to be able to pass traffic. </a:t>
            </a:r>
            <a:r>
              <a:rPr lang="en-CA" b="0" baseline="0" dirty="0" err="1" smtClean="0"/>
              <a:t>FortiGate</a:t>
            </a:r>
            <a:r>
              <a:rPr lang="en-CA" b="0" baseline="0" dirty="0" smtClean="0"/>
              <a:t> applies NAT on </a:t>
            </a:r>
            <a:r>
              <a:rPr lang="en-CA" b="0" baseline="0" dirty="0"/>
              <a:t>the traffic based on </a:t>
            </a:r>
            <a:r>
              <a:rPr lang="en-CA" b="0" baseline="0" dirty="0" smtClean="0"/>
              <a:t>the criteria </a:t>
            </a:r>
            <a:r>
              <a:rPr lang="en-CA" b="0" baseline="0" dirty="0"/>
              <a:t>defined in the central SNAT policy. </a:t>
            </a:r>
          </a:p>
          <a:p>
            <a:endParaRPr lang="en-CA" b="0" baseline="0" dirty="0"/>
          </a:p>
          <a:p>
            <a:r>
              <a:rPr lang="en-CA" b="0" baseline="0" dirty="0"/>
              <a:t>It is extremely important to arrange security policies </a:t>
            </a:r>
            <a:r>
              <a:rPr lang="en-CA" b="0" baseline="0" dirty="0" smtClean="0"/>
              <a:t>in </a:t>
            </a:r>
            <a:r>
              <a:rPr lang="en-CA" b="1" baseline="0" dirty="0" smtClean="0"/>
              <a:t>Policy &amp; Objects</a:t>
            </a:r>
            <a:r>
              <a:rPr lang="en-CA" b="0" baseline="0" dirty="0" smtClean="0"/>
              <a:t>, so </a:t>
            </a:r>
            <a:r>
              <a:rPr lang="en-CA" b="0" baseline="0" dirty="0"/>
              <a:t>that the more specific policies are located at the top to ensure proper use of application control. </a:t>
            </a:r>
          </a:p>
          <a:p>
            <a:endParaRPr lang="en-CA" b="0" baseline="0" dirty="0"/>
          </a:p>
          <a:p>
            <a:pPr defTabSz="948341">
              <a:defRPr/>
            </a:pPr>
            <a:r>
              <a:rPr lang="en-CA" b="0" baseline="0" dirty="0"/>
              <a:t>A default </a:t>
            </a:r>
            <a:r>
              <a:rPr lang="en-CA" b="1" baseline="0" dirty="0"/>
              <a:t>SSL Inspection &amp; Authentication </a:t>
            </a:r>
            <a:r>
              <a:rPr lang="en-CA" b="0" baseline="0" dirty="0"/>
              <a:t>policy </a:t>
            </a:r>
            <a:r>
              <a:rPr lang="en-CA" b="0" baseline="0" dirty="0" smtClean="0"/>
              <a:t>inspects traffic </a:t>
            </a:r>
            <a:r>
              <a:rPr lang="en-CA" b="0" baseline="0" dirty="0"/>
              <a:t>accepted by any of the security firewalls, and by using the </a:t>
            </a:r>
            <a:r>
              <a:rPr lang="en-CA" b="1" baseline="0" dirty="0"/>
              <a:t>certificate-inspection</a:t>
            </a:r>
            <a:r>
              <a:rPr lang="en-CA" b="0" baseline="0" dirty="0"/>
              <a:t> SSL inspection profile.</a:t>
            </a:r>
            <a:endParaRPr lang="en-CA" dirty="0"/>
          </a:p>
          <a:p>
            <a:endParaRPr lang="en-CA" b="1"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8513845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NGFW policy matching works using a</a:t>
            </a:r>
            <a:r>
              <a:rPr lang="en-CA" baseline="0" dirty="0"/>
              <a:t> top-to-bottom approach. You must have a specific policy above a more broad or open policy. For example, if you would like to block Facebook but allow the </a:t>
            </a:r>
            <a:r>
              <a:rPr lang="en-CA" b="1" baseline="0" dirty="0"/>
              <a:t>Social.Media</a:t>
            </a:r>
            <a:r>
              <a:rPr lang="en-CA" baseline="0" dirty="0"/>
              <a:t> category, you must place the policy blocking Facebook traffic above the policy allowing the </a:t>
            </a:r>
            <a:r>
              <a:rPr lang="en-CA" b="1" baseline="0" dirty="0"/>
              <a:t>Social.Media</a:t>
            </a:r>
            <a:r>
              <a:rPr lang="en-CA" baseline="0" dirty="0"/>
              <a:t> category. </a:t>
            </a:r>
          </a:p>
          <a:p>
            <a:endParaRPr lang="en-CA" dirty="0"/>
          </a:p>
        </p:txBody>
      </p:sp>
      <p:sp>
        <p:nvSpPr>
          <p:cNvPr id="5" name="Header Placeholder 4"/>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35639048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 application is necessary, but you </a:t>
            </a:r>
            <a:r>
              <a:rPr lang="en-US" dirty="0" smtClean="0"/>
              <a:t>must prevent </a:t>
            </a:r>
            <a:r>
              <a:rPr lang="en-US" dirty="0"/>
              <a:t>it from impacting </a:t>
            </a:r>
            <a:r>
              <a:rPr lang="en-US" dirty="0" smtClean="0"/>
              <a:t>bandwidth</a:t>
            </a:r>
            <a:r>
              <a:rPr lang="en-US" baseline="0" dirty="0" smtClean="0"/>
              <a:t> </a:t>
            </a:r>
            <a:r>
              <a:rPr lang="en-US" dirty="0" smtClean="0"/>
              <a:t>then, </a:t>
            </a:r>
            <a:r>
              <a:rPr lang="en-US" dirty="0"/>
              <a:t>instead of blocking it entirely, you can apply a rate limit to the application. For</a:t>
            </a:r>
            <a:r>
              <a:rPr lang="en-US" baseline="0" dirty="0"/>
              <a:t> example, you can rate limit applications used for storage or backup leaving enough bandwidth </a:t>
            </a:r>
            <a:r>
              <a:rPr lang="en-US" dirty="0"/>
              <a:t>for more sensitive streaming applications, such as video conferencing.</a:t>
            </a:r>
            <a:r>
              <a:rPr lang="en-US" baseline="0" dirty="0"/>
              <a:t> </a:t>
            </a:r>
            <a:endParaRPr lang="en-US" dirty="0"/>
          </a:p>
          <a:p>
            <a:endParaRPr lang="en-US" dirty="0"/>
          </a:p>
          <a:p>
            <a:r>
              <a:rPr lang="en-US" dirty="0"/>
              <a:t>Applying traffic shaping to applications is very useful when you’re trying to limit traffic that uses the same TCP or UDP port numbers as mission-critical applications. Some high-traffic web sites, such as YouTube, can be throttled in this way.</a:t>
            </a:r>
          </a:p>
          <a:p>
            <a:endParaRPr lang="en-US" dirty="0"/>
          </a:p>
          <a:p>
            <a:r>
              <a:rPr lang="en-US" dirty="0"/>
              <a:t>Examine the details of how throttling works.</a:t>
            </a:r>
            <a:r>
              <a:rPr lang="en-US" baseline="0" dirty="0"/>
              <a:t> </a:t>
            </a:r>
            <a:r>
              <a:rPr lang="en-US" b="0" dirty="0"/>
              <a:t>Not all URL requests to </a:t>
            </a:r>
            <a:r>
              <a:rPr lang="en-US" b="0" dirty="0">
                <a:latin typeface="Courier New" panose="02070309020205020404" pitchFamily="49" charset="0"/>
                <a:cs typeface="Courier New" panose="02070309020205020404" pitchFamily="49" charset="0"/>
              </a:rPr>
              <a:t>www.youtube.com</a:t>
            </a:r>
            <a:r>
              <a:rPr lang="en-US" b="0" dirty="0"/>
              <a:t> are for video</a:t>
            </a:r>
            <a:r>
              <a:rPr lang="en-US" dirty="0"/>
              <a:t>. Your browser makes several HTTPS requests for:</a:t>
            </a:r>
          </a:p>
          <a:p>
            <a:pPr marL="177845" indent="-177845">
              <a:buFont typeface="Arial" panose="020B0604020202020204" pitchFamily="34" charset="0"/>
              <a:buChar char="•"/>
            </a:pPr>
            <a:r>
              <a:rPr lang="en-US" dirty="0"/>
              <a:t>The web page itself</a:t>
            </a:r>
          </a:p>
          <a:p>
            <a:pPr marL="177845" indent="-177845">
              <a:buFont typeface="Arial" panose="020B0604020202020204" pitchFamily="34" charset="0"/>
              <a:buChar char="•"/>
            </a:pPr>
            <a:r>
              <a:rPr lang="en-US" dirty="0"/>
              <a:t>Images</a:t>
            </a:r>
          </a:p>
          <a:p>
            <a:pPr marL="177845" indent="-177845">
              <a:buFont typeface="Arial" panose="020B0604020202020204" pitchFamily="34" charset="0"/>
              <a:buChar char="•"/>
            </a:pPr>
            <a:r>
              <a:rPr lang="en-US" dirty="0"/>
              <a:t>Scripts and style sheets</a:t>
            </a:r>
          </a:p>
          <a:p>
            <a:pPr marL="177845" indent="-177845">
              <a:buFont typeface="Arial" panose="020B0604020202020204" pitchFamily="34" charset="0"/>
              <a:buChar char="•"/>
            </a:pPr>
            <a:r>
              <a:rPr lang="en-US" dirty="0"/>
              <a:t>Video</a:t>
            </a:r>
          </a:p>
          <a:p>
            <a:pPr marL="177845" indent="-177845">
              <a:buFont typeface="Arial" panose="020B0604020202020204" pitchFamily="34" charset="0"/>
              <a:buChar char="•"/>
            </a:pPr>
            <a:endParaRPr lang="en-US" dirty="0"/>
          </a:p>
          <a:p>
            <a:r>
              <a:rPr lang="en-US" dirty="0"/>
              <a:t>All of these</a:t>
            </a:r>
            <a:r>
              <a:rPr lang="en-US" baseline="0" dirty="0"/>
              <a:t> items</a:t>
            </a:r>
            <a:r>
              <a:rPr lang="en-US" dirty="0"/>
              <a:t> have separate URLs. If you analyze a site like YouTube, the web pages themselves don’t use much bandwidth;</a:t>
            </a:r>
            <a:r>
              <a:rPr lang="en-US" baseline="0" dirty="0"/>
              <a:t> </a:t>
            </a:r>
            <a:r>
              <a:rPr lang="en-US" dirty="0"/>
              <a:t>it is the video content that uses the most</a:t>
            </a:r>
            <a:r>
              <a:rPr lang="en-US" baseline="0" dirty="0"/>
              <a:t> bandwidth</a:t>
            </a:r>
            <a:r>
              <a:rPr lang="en-US" dirty="0"/>
              <a:t>. But, since all content is transported using the same protocol (HTTPS), and the URLs contain dynamically generated alphanumeric strings</a:t>
            </a:r>
            <a:r>
              <a:rPr lang="en-CA" dirty="0"/>
              <a:t>, traditional firewall policies can't block or throttle the traffic by port number or protocol because they are the same. </a:t>
            </a:r>
            <a:r>
              <a:rPr lang="en-US" dirty="0"/>
              <a:t>Using application control, you can rate limit only videos. Doing this prevents users from saturating your network bandwidth, while still allowing them to access the other content on the site, such as for comments or sharing links.</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427836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limit the bandwidth of an application </a:t>
            </a:r>
            <a:r>
              <a:rPr lang="en-US" dirty="0" smtClean="0"/>
              <a:t>category,</a:t>
            </a:r>
            <a:r>
              <a:rPr lang="en-US" baseline="0" dirty="0" smtClean="0"/>
              <a:t> application group,</a:t>
            </a:r>
            <a:r>
              <a:rPr lang="en-US" dirty="0" smtClean="0"/>
              <a:t> </a:t>
            </a:r>
            <a:r>
              <a:rPr lang="en-US" dirty="0"/>
              <a:t>or specific application by configuring a</a:t>
            </a:r>
            <a:r>
              <a:rPr lang="en-US" b="1" dirty="0"/>
              <a:t> </a:t>
            </a:r>
            <a:r>
              <a:rPr lang="en-US" dirty="0"/>
              <a:t>traffic shaping policy. You can also apply traffic shaping to FortiGuard web filter categories</a:t>
            </a:r>
            <a:r>
              <a:rPr lang="en-US" baseline="0" dirty="0"/>
              <a:t> and </a:t>
            </a:r>
            <a:r>
              <a:rPr lang="en-CA" baseline="0" dirty="0"/>
              <a:t>to the application group.</a:t>
            </a:r>
          </a:p>
          <a:p>
            <a:endParaRPr lang="en-CA" dirty="0"/>
          </a:p>
          <a:p>
            <a:r>
              <a:rPr lang="en-CA" dirty="0"/>
              <a:t>You must ensure that the matching criteria aligns with the firewall policy or policies to which you want to apply shaping. It does not have to match outright. For example, if the source in the firewall policy is set to </a:t>
            </a:r>
            <a:r>
              <a:rPr lang="en-CA" b="1" dirty="0"/>
              <a:t>all</a:t>
            </a:r>
            <a:r>
              <a:rPr lang="en-CA" dirty="0"/>
              <a:t> (</a:t>
            </a:r>
            <a:r>
              <a:rPr lang="en-CA" dirty="0">
                <a:latin typeface="Courier New" panose="02070309020205020404" pitchFamily="49" charset="0"/>
                <a:cs typeface="Courier New" panose="02070309020205020404" pitchFamily="49" charset="0"/>
              </a:rPr>
              <a:t>0.0.0.0/0.0.0.0</a:t>
            </a:r>
            <a:r>
              <a:rPr lang="en-CA" dirty="0" smtClean="0"/>
              <a:t>), you can set </a:t>
            </a:r>
            <a:r>
              <a:rPr lang="en-CA" dirty="0"/>
              <a:t>the source in the traffic shaping policy </a:t>
            </a:r>
            <a:r>
              <a:rPr lang="en-CA" dirty="0" smtClean="0"/>
              <a:t>to </a:t>
            </a:r>
            <a:r>
              <a:rPr lang="en-CA" dirty="0"/>
              <a:t>any source that is included in </a:t>
            </a:r>
            <a:r>
              <a:rPr lang="en-CA" b="1" dirty="0"/>
              <a:t>all</a:t>
            </a:r>
            <a:r>
              <a:rPr lang="en-CA" dirty="0"/>
              <a:t>, for example, </a:t>
            </a:r>
            <a:r>
              <a:rPr lang="en-CA" b="1" dirty="0"/>
              <a:t>LOCAL_SUBNET</a:t>
            </a:r>
            <a:r>
              <a:rPr lang="en-CA" dirty="0"/>
              <a:t> (</a:t>
            </a:r>
            <a:r>
              <a:rPr lang="en-CA" dirty="0">
                <a:latin typeface="Courier New" panose="02070309020205020404" pitchFamily="49" charset="0"/>
                <a:cs typeface="Courier New" panose="02070309020205020404" pitchFamily="49" charset="0"/>
              </a:rPr>
              <a:t>10.0.1.0/24</a:t>
            </a:r>
            <a:r>
              <a:rPr lang="en-CA" dirty="0"/>
              <a:t>).</a:t>
            </a:r>
          </a:p>
          <a:p>
            <a:endParaRPr lang="en-CA" dirty="0"/>
          </a:p>
          <a:p>
            <a:r>
              <a:rPr lang="en-CA" dirty="0"/>
              <a:t>If the traffic shaping policy is not visible in the GUI, you can enable it on the </a:t>
            </a:r>
            <a:r>
              <a:rPr lang="en-CA" b="1" dirty="0"/>
              <a:t>Feature Visibility </a:t>
            </a:r>
            <a:r>
              <a:rPr lang="en-CA" dirty="0"/>
              <a:t>page.</a:t>
            </a:r>
          </a:p>
          <a:p>
            <a:endParaRPr lang="en-US" dirty="0"/>
          </a:p>
          <a:p>
            <a:r>
              <a:rPr lang="en-US" dirty="0"/>
              <a:t>There are two types of shapers </a:t>
            </a:r>
            <a:r>
              <a:rPr lang="en-US" dirty="0" smtClean="0"/>
              <a:t>that you can configure</a:t>
            </a:r>
            <a:r>
              <a:rPr lang="en-US" baseline="0" dirty="0" smtClean="0"/>
              <a:t> </a:t>
            </a:r>
            <a:r>
              <a:rPr lang="en-US" dirty="0" smtClean="0"/>
              <a:t>on </a:t>
            </a:r>
            <a:r>
              <a:rPr lang="en-US" dirty="0"/>
              <a:t>the </a:t>
            </a:r>
            <a:r>
              <a:rPr lang="en-CA" b="1" dirty="0"/>
              <a:t>Traffic Shaping Policy </a:t>
            </a:r>
            <a:r>
              <a:rPr lang="en-CA" dirty="0"/>
              <a:t>page,</a:t>
            </a:r>
            <a:r>
              <a:rPr lang="en-CA" b="1" dirty="0"/>
              <a:t> </a:t>
            </a:r>
            <a:r>
              <a:rPr lang="en-CA" dirty="0"/>
              <a:t>and you can apply them in the traffic shaping policy:</a:t>
            </a:r>
          </a:p>
          <a:p>
            <a:pPr marL="177845" indent="-177845" defTabSz="948507">
              <a:buFont typeface="Arial" panose="020B0604020202020204" pitchFamily="34" charset="0"/>
              <a:buChar char="•"/>
              <a:defRPr/>
            </a:pPr>
            <a:r>
              <a:rPr lang="en-US" b="1" dirty="0"/>
              <a:t>Shared shaper</a:t>
            </a:r>
            <a:r>
              <a:rPr lang="en-US" dirty="0"/>
              <a:t>: </a:t>
            </a:r>
            <a:r>
              <a:rPr lang="en-US" dirty="0" smtClean="0"/>
              <a:t>applies </a:t>
            </a:r>
            <a:r>
              <a:rPr lang="en-US" dirty="0"/>
              <a:t>a total bandwidth to all traffic using that shaper. The scope can be per</a:t>
            </a:r>
            <a:r>
              <a:rPr lang="en-US" baseline="0" dirty="0"/>
              <a:t> </a:t>
            </a:r>
            <a:r>
              <a:rPr lang="en-US" dirty="0"/>
              <a:t>policy or for all policies referencing that shaper.</a:t>
            </a:r>
          </a:p>
          <a:p>
            <a:pPr marL="177845" indent="-177845" defTabSz="948507">
              <a:buFont typeface="Arial" panose="020B0604020202020204" pitchFamily="34" charset="0"/>
              <a:buChar char="•"/>
              <a:defRPr/>
            </a:pPr>
            <a:r>
              <a:rPr lang="en-US" b="1" dirty="0"/>
              <a:t>Per-IP shaper</a:t>
            </a:r>
            <a:r>
              <a:rPr lang="en-US" dirty="0"/>
              <a:t>: </a:t>
            </a:r>
            <a:r>
              <a:rPr lang="en-US" dirty="0" smtClean="0"/>
              <a:t>applies</a:t>
            </a:r>
            <a:r>
              <a:rPr lang="en-CA" dirty="0" smtClean="0"/>
              <a:t> </a:t>
            </a:r>
            <a:r>
              <a:rPr lang="en-CA" dirty="0"/>
              <a:t>traffic shaping to all source IP addresses in the security policy</a:t>
            </a:r>
            <a:r>
              <a:rPr lang="en-CA" baseline="0" dirty="0"/>
              <a:t>. </a:t>
            </a:r>
            <a:r>
              <a:rPr lang="en-CA" dirty="0"/>
              <a:t>Bandwidth is equally divided among the group.</a:t>
            </a:r>
            <a:endParaRPr lang="en-US" dirty="0"/>
          </a:p>
          <a:p>
            <a:endParaRPr lang="en-CA" dirty="0"/>
          </a:p>
          <a:p>
            <a:pPr marL="0" marR="0" lvl="0" indent="0" algn="l" defTabSz="914240" rtl="0" eaLnBrk="1" fontAlgn="auto" latinLnBrk="0" hangingPunct="1">
              <a:lnSpc>
                <a:spcPct val="100000"/>
              </a:lnSpc>
              <a:spcBef>
                <a:spcPts val="0"/>
              </a:spcBef>
              <a:spcAft>
                <a:spcPts val="0"/>
              </a:spcAft>
              <a:buClrTx/>
              <a:buSzTx/>
              <a:buFontTx/>
              <a:buNone/>
              <a:tabLst/>
              <a:defRPr/>
            </a:pPr>
            <a:r>
              <a:rPr lang="en-CA" dirty="0"/>
              <a:t>Note</a:t>
            </a:r>
            <a:r>
              <a:rPr lang="en-CA" baseline="0" dirty="0"/>
              <a:t> that t</a:t>
            </a:r>
            <a:r>
              <a:rPr lang="en-CA" dirty="0"/>
              <a:t>he outgoing interface is usually the egress interface (WAN). The </a:t>
            </a:r>
            <a:r>
              <a:rPr lang="en-CA" b="1" dirty="0"/>
              <a:t>Shared shaper </a:t>
            </a:r>
            <a:r>
              <a:rPr lang="en-CA" dirty="0"/>
              <a:t>setting</a:t>
            </a:r>
            <a:r>
              <a:rPr lang="en-CA" b="1" dirty="0"/>
              <a:t> </a:t>
            </a:r>
            <a:r>
              <a:rPr lang="en-CA" dirty="0"/>
              <a:t>is applied to ingress-to-egress traffic, which is useful for restricting bandwidth for uploading. The </a:t>
            </a:r>
            <a:r>
              <a:rPr lang="en-CA" b="1" dirty="0"/>
              <a:t>Reverse Shaper </a:t>
            </a:r>
            <a:r>
              <a:rPr lang="en-CA" dirty="0"/>
              <a:t>setting is also a shared shaper, but it is applied to traffic in the reverse direction (egress-to-ingress traffic). This is useful for restricting bandwidth for downloading or streaming, because it limits the bandwidth from the external interface to the internal interface.</a:t>
            </a:r>
            <a:endParaRPr lang="en-US"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107879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246281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a:t>
            </a:r>
            <a:r>
              <a:rPr lang="en-CA" baseline="0" dirty="0"/>
              <a:t> job! You now understand application control </a:t>
            </a:r>
            <a:r>
              <a:rPr lang="en-CA" baseline="0" dirty="0" smtClean="0"/>
              <a:t>configuration.</a:t>
            </a:r>
            <a:endParaRPr lang="en-CA" baseline="0" dirty="0"/>
          </a:p>
          <a:p>
            <a:endParaRPr lang="en-CA" baseline="0" dirty="0"/>
          </a:p>
          <a:p>
            <a:pPr defTabSz="948341">
              <a:defRPr/>
            </a:pPr>
            <a:r>
              <a:rPr lang="en-CA" baseline="0" dirty="0"/>
              <a:t>Now, you will learn about </a:t>
            </a:r>
            <a:r>
              <a:rPr lang="en-CA" dirty="0"/>
              <a:t>logging and monitoring application control events</a:t>
            </a:r>
            <a:r>
              <a:rPr lang="en-CA" baseline="0" dirty="0"/>
              <a:t>. </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096300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CA" baseline="0" dirty="0"/>
              <a:t>After completing this section, you should be able to achieve the objectives shown on this slide.</a:t>
            </a:r>
          </a:p>
          <a:p>
            <a:pPr defTabSz="948341">
              <a:defRPr/>
            </a:pPr>
            <a:endParaRPr lang="en-CA" baseline="0" dirty="0"/>
          </a:p>
          <a:p>
            <a:pPr defTabSz="948341">
              <a:defRPr/>
            </a:pPr>
            <a:r>
              <a:rPr lang="en-CA" baseline="0" dirty="0"/>
              <a:t>By demonstrating competence in application control configuration, including reviewing application control logs, </a:t>
            </a:r>
            <a:r>
              <a:rPr lang="en-US" baseline="0" dirty="0"/>
              <a:t>you will be able to effectively use and monitor application control events.</a:t>
            </a:r>
            <a:endParaRPr lang="en-CA" baseline="0" dirty="0"/>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8800485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Regardless of which operation mode application control is configured in</a:t>
            </a:r>
            <a:r>
              <a:rPr lang="en-CA" baseline="0" dirty="0" smtClean="0"/>
              <a:t>, you must enable </a:t>
            </a:r>
            <a:r>
              <a:rPr lang="en-CA" baseline="0" dirty="0"/>
              <a:t>logging </a:t>
            </a:r>
            <a:r>
              <a:rPr lang="en-CA" baseline="0" dirty="0" smtClean="0"/>
              <a:t>on </a:t>
            </a:r>
            <a:r>
              <a:rPr lang="en-CA" baseline="0" dirty="0"/>
              <a:t>the security or firewall policy. When you enable the logging of security events or all </a:t>
            </a:r>
            <a:r>
              <a:rPr lang="en-CA" baseline="0" dirty="0" smtClean="0"/>
              <a:t>sessions </a:t>
            </a:r>
            <a:r>
              <a:rPr lang="en-CA" baseline="0" dirty="0"/>
              <a:t>on a security or firewall policy, application control events are also logged</a:t>
            </a:r>
            <a:r>
              <a:rPr lang="en-CA" b="0" baseline="0" dirty="0"/>
              <a:t>. You must apply application control to the security or firewall policy to enable application control event logging. </a:t>
            </a:r>
          </a:p>
          <a:p>
            <a:endParaRPr lang="en-CA" b="0" baseline="0" dirty="0"/>
          </a:p>
          <a:p>
            <a:r>
              <a:rPr lang="en-CA" b="0" baseline="0" dirty="0"/>
              <a:t>When the </a:t>
            </a:r>
            <a:r>
              <a:rPr lang="en-CA" b="1" baseline="0" dirty="0"/>
              <a:t>Deny</a:t>
            </a:r>
            <a:r>
              <a:rPr lang="en-CA" b="0" baseline="0" dirty="0"/>
              <a:t> action is selected on a security or firewall policy</a:t>
            </a:r>
            <a:r>
              <a:rPr lang="en-CA" b="0" baseline="0" dirty="0" smtClean="0"/>
              <a:t>, you must enable </a:t>
            </a:r>
            <a:r>
              <a:rPr lang="en-CA" b="0" baseline="0" dirty="0"/>
              <a:t>the </a:t>
            </a:r>
            <a:r>
              <a:rPr lang="en-CA" b="1" baseline="0" dirty="0"/>
              <a:t>Log Violations </a:t>
            </a:r>
            <a:r>
              <a:rPr lang="en-CA" b="0" baseline="0" dirty="0"/>
              <a:t>option </a:t>
            </a:r>
            <a:r>
              <a:rPr lang="en-CA" b="0" baseline="0" dirty="0" smtClean="0"/>
              <a:t>to </a:t>
            </a:r>
            <a:r>
              <a:rPr lang="en-CA" b="0" baseline="0" dirty="0"/>
              <a:t>generate application control events for blocked traffic.</a:t>
            </a:r>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80078523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err="1" smtClean="0"/>
              <a:t>FortiGate</a:t>
            </a:r>
            <a:r>
              <a:rPr lang="en-CA" dirty="0" smtClean="0"/>
              <a:t> logs all </a:t>
            </a:r>
            <a:r>
              <a:rPr lang="en-CA" dirty="0"/>
              <a:t>application control events </a:t>
            </a:r>
            <a:r>
              <a:rPr lang="en-CA" baseline="0" dirty="0" smtClean="0"/>
              <a:t>on </a:t>
            </a:r>
            <a:r>
              <a:rPr lang="en-CA" baseline="0" dirty="0"/>
              <a:t>the </a:t>
            </a:r>
            <a:r>
              <a:rPr lang="en-CA" b="1" baseline="0" dirty="0" smtClean="0"/>
              <a:t>Security Events </a:t>
            </a:r>
            <a:r>
              <a:rPr lang="en-CA" b="0" baseline="0" dirty="0" smtClean="0"/>
              <a:t>pane </a:t>
            </a:r>
            <a:r>
              <a:rPr lang="en-CA" b="0" baseline="0" dirty="0"/>
              <a:t>on the </a:t>
            </a:r>
            <a:r>
              <a:rPr lang="en-CA" b="1" baseline="0" dirty="0"/>
              <a:t>Log &amp; Report </a:t>
            </a:r>
            <a:r>
              <a:rPr lang="en-CA" b="0" baseline="0" dirty="0"/>
              <a:t>page. You can view </a:t>
            </a:r>
            <a:r>
              <a:rPr lang="en-CA" b="0" baseline="0" dirty="0" smtClean="0"/>
              <a:t>the logs by clicking on </a:t>
            </a:r>
            <a:r>
              <a:rPr lang="en-CA" b="1" baseline="0" dirty="0" smtClean="0"/>
              <a:t>Application Control</a:t>
            </a:r>
            <a:r>
              <a:rPr lang="en-CA" b="0" baseline="0" dirty="0" smtClean="0"/>
              <a:t>.</a:t>
            </a:r>
            <a:endParaRPr lang="en-CA" b="0" baseline="0" dirty="0"/>
          </a:p>
          <a:p>
            <a:endParaRPr lang="en-CA" b="0" baseline="0" dirty="0" smtClean="0"/>
          </a:p>
          <a:p>
            <a:r>
              <a:rPr lang="en-CA" b="0" baseline="0" dirty="0" smtClean="0"/>
              <a:t>In </a:t>
            </a:r>
            <a:r>
              <a:rPr lang="en-CA" b="0" baseline="0" dirty="0"/>
              <a:t>the example shown on this slide, </a:t>
            </a:r>
            <a:r>
              <a:rPr lang="en-US" sz="1000" kern="1200" dirty="0" smtClean="0">
                <a:solidFill>
                  <a:schemeClr val="tx1"/>
                </a:solidFill>
                <a:latin typeface="Arial" panose="020B0604020202020204" pitchFamily="34" charset="0"/>
                <a:ea typeface="+mn-ea"/>
                <a:cs typeface="Arial" panose="020B0604020202020204" pitchFamily="34" charset="0"/>
              </a:rPr>
              <a:t>the default application control profile blocks </a:t>
            </a:r>
            <a:r>
              <a:rPr lang="en-CA" b="0" baseline="0" dirty="0" smtClean="0"/>
              <a:t>access </a:t>
            </a:r>
            <a:r>
              <a:rPr lang="en-CA" b="0" baseline="0" dirty="0"/>
              <a:t>to </a:t>
            </a:r>
            <a:r>
              <a:rPr lang="en-CA" b="1" baseline="0" dirty="0" smtClean="0"/>
              <a:t>Dailymotion</a:t>
            </a:r>
            <a:r>
              <a:rPr lang="en-CA" b="0" baseline="0" dirty="0" smtClean="0"/>
              <a:t>. You can view this </a:t>
            </a:r>
            <a:r>
              <a:rPr lang="en-CA" b="0" baseline="0" dirty="0"/>
              <a:t>information </a:t>
            </a:r>
            <a:r>
              <a:rPr lang="en-CA" b="0" baseline="0" dirty="0" smtClean="0"/>
              <a:t>in </a:t>
            </a:r>
            <a:r>
              <a:rPr lang="en-CA" b="0" baseline="0" dirty="0"/>
              <a:t>the </a:t>
            </a:r>
            <a:r>
              <a:rPr lang="en-CA" b="1" baseline="0" dirty="0"/>
              <a:t>Log Details </a:t>
            </a:r>
            <a:r>
              <a:rPr lang="en-CA" b="0" baseline="0" dirty="0"/>
              <a:t>section, as well as information about the log source, destination, application, and action. </a:t>
            </a:r>
          </a:p>
          <a:p>
            <a:endParaRPr lang="en-CA" b="0" baseline="0" dirty="0"/>
          </a:p>
          <a:p>
            <a:r>
              <a:rPr lang="en-CA" b="0" baseline="0" dirty="0"/>
              <a:t>Note </a:t>
            </a:r>
            <a:r>
              <a:rPr lang="en-CA" b="0" baseline="0" dirty="0" smtClean="0"/>
              <a:t>that application control generates </a:t>
            </a:r>
            <a:r>
              <a:rPr lang="en-CA" b="0" baseline="0" dirty="0"/>
              <a:t>this log message </a:t>
            </a:r>
            <a:r>
              <a:rPr lang="en-CA" b="0" baseline="0" dirty="0" smtClean="0"/>
              <a:t>using </a:t>
            </a:r>
            <a:r>
              <a:rPr lang="en-CA" b="0" baseline="0" dirty="0"/>
              <a:t>a profile-based configuration. </a:t>
            </a:r>
            <a:r>
              <a:rPr lang="en-CA" b="0" baseline="0" dirty="0" smtClean="0"/>
              <a:t>The log message for </a:t>
            </a:r>
            <a:r>
              <a:rPr lang="en-CA" b="0" baseline="0" dirty="0"/>
              <a:t>an NGFW policy-based configuration, </a:t>
            </a:r>
            <a:r>
              <a:rPr lang="en-US" sz="1000" kern="1200" dirty="0" smtClean="0">
                <a:solidFill>
                  <a:schemeClr val="tx1"/>
                </a:solidFill>
                <a:latin typeface="Arial" panose="020B0604020202020204" pitchFamily="34" charset="0"/>
                <a:ea typeface="+mn-ea"/>
                <a:cs typeface="Arial" panose="020B0604020202020204" pitchFamily="34" charset="0"/>
              </a:rPr>
              <a:t>does not include information that does not apply, </a:t>
            </a:r>
            <a:r>
              <a:rPr lang="en-CA" b="0" baseline="0" dirty="0" smtClean="0"/>
              <a:t>such </a:t>
            </a:r>
            <a:r>
              <a:rPr lang="en-CA" b="0" baseline="0" dirty="0"/>
              <a:t>as application sensor </a:t>
            </a:r>
            <a:r>
              <a:rPr lang="en-CA" b="0" baseline="0" dirty="0" smtClean="0"/>
              <a:t>name. </a:t>
            </a:r>
            <a:r>
              <a:rPr lang="en-CA" b="0" baseline="0" dirty="0"/>
              <a:t>The remainder of the information and structure of the log message is the same for each log, regardless of which inspection mode FortiGate is </a:t>
            </a:r>
            <a:r>
              <a:rPr lang="en-CA" b="0" baseline="0" dirty="0" smtClean="0"/>
              <a:t>using. </a:t>
            </a:r>
            <a:endParaRPr lang="en-CA" b="0" baseline="0" dirty="0"/>
          </a:p>
          <a:p>
            <a:endParaRPr lang="en-CA" b="0" baseline="0" dirty="0"/>
          </a:p>
          <a:p>
            <a:pPr defTabSz="948341">
              <a:defRPr/>
            </a:pPr>
            <a:r>
              <a:rPr lang="en-US" dirty="0"/>
              <a:t>You can also view the details</a:t>
            </a:r>
            <a:r>
              <a:rPr lang="en-US" baseline="0" dirty="0"/>
              <a:t> on the </a:t>
            </a:r>
            <a:r>
              <a:rPr lang="en-US" b="1" dirty="0"/>
              <a:t>Forward Traffic</a:t>
            </a:r>
            <a:r>
              <a:rPr lang="en-US" b="1" baseline="0" dirty="0"/>
              <a:t> </a:t>
            </a:r>
            <a:r>
              <a:rPr lang="en-US" b="0" baseline="0" dirty="0"/>
              <a:t>logs </a:t>
            </a:r>
            <a:r>
              <a:rPr lang="en-US" b="0" baseline="0" smtClean="0"/>
              <a:t>pane, </a:t>
            </a:r>
            <a:r>
              <a:rPr lang="en-US" baseline="0" smtClean="0"/>
              <a:t>where </a:t>
            </a:r>
            <a:r>
              <a:rPr lang="en-US" dirty="0"/>
              <a:t>firewall policies record activity. </a:t>
            </a:r>
            <a:r>
              <a:rPr lang="en-US" dirty="0" smtClean="0"/>
              <a:t>You</a:t>
            </a:r>
            <a:r>
              <a:rPr lang="en-US" baseline="0" dirty="0" smtClean="0"/>
              <a:t> can</a:t>
            </a:r>
            <a:r>
              <a:rPr lang="en-US" dirty="0" smtClean="0"/>
              <a:t> </a:t>
            </a:r>
            <a:r>
              <a:rPr lang="en-US" dirty="0"/>
              <a:t>also find a summary of the traffic to which FortiGate applied application control. Again, this is because application control is applied by a firewall policy. To find out which policy applied application control, you can review either the </a:t>
            </a:r>
            <a:r>
              <a:rPr lang="en-US" b="1" dirty="0"/>
              <a:t>Policy ID </a:t>
            </a:r>
            <a:r>
              <a:rPr lang="en-US" dirty="0"/>
              <a:t>or the </a:t>
            </a:r>
            <a:r>
              <a:rPr lang="en-US" b="1" dirty="0"/>
              <a:t>Policy UUID </a:t>
            </a:r>
            <a:r>
              <a:rPr lang="en-US" dirty="0"/>
              <a:t>fields of the log message.</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8860048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48341">
              <a:defRPr/>
            </a:pPr>
            <a:r>
              <a:rPr lang="en-US" dirty="0"/>
              <a:t>On</a:t>
            </a:r>
            <a:r>
              <a:rPr lang="en-US" baseline="0" dirty="0"/>
              <a:t> the</a:t>
            </a:r>
            <a:r>
              <a:rPr lang="en-US" dirty="0"/>
              <a:t> </a:t>
            </a:r>
            <a:r>
              <a:rPr lang="en-US" b="1" dirty="0"/>
              <a:t>Dashboard</a:t>
            </a:r>
            <a:r>
              <a:rPr lang="en-US" b="1" baseline="0" dirty="0"/>
              <a:t> </a:t>
            </a:r>
            <a:r>
              <a:rPr lang="en-US" b="0" dirty="0"/>
              <a:t>menu,</a:t>
            </a:r>
            <a:r>
              <a:rPr lang="en-US" b="1" baseline="0" dirty="0"/>
              <a:t> </a:t>
            </a:r>
            <a:r>
              <a:rPr lang="en-US" b="0" baseline="0" dirty="0"/>
              <a:t>the</a:t>
            </a:r>
            <a:r>
              <a:rPr lang="en-US" b="1" baseline="0" dirty="0"/>
              <a:t> </a:t>
            </a:r>
            <a:r>
              <a:rPr lang="en-CA" sz="1000" b="1" smtClean="0"/>
              <a:t>Top </a:t>
            </a:r>
            <a:r>
              <a:rPr lang="en-CA" sz="1000" b="1" dirty="0" smtClean="0"/>
              <a:t>Applications </a:t>
            </a:r>
            <a:r>
              <a:rPr lang="en-US" b="0" dirty="0" smtClean="0"/>
              <a:t>standalone</a:t>
            </a:r>
            <a:r>
              <a:rPr lang="en-US" b="0" baseline="0" dirty="0" smtClean="0"/>
              <a:t> </a:t>
            </a:r>
            <a:r>
              <a:rPr lang="en-US" b="0" baseline="0" dirty="0"/>
              <a:t>p</a:t>
            </a:r>
            <a:r>
              <a:rPr lang="en-US" b="0" dirty="0"/>
              <a:t>age</a:t>
            </a:r>
            <a:r>
              <a:rPr lang="en-US" b="1" dirty="0"/>
              <a:t> </a:t>
            </a:r>
            <a:r>
              <a:rPr lang="en-US" dirty="0"/>
              <a:t>provides</a:t>
            </a:r>
            <a:r>
              <a:rPr lang="en-US" baseline="0" dirty="0"/>
              <a:t> </a:t>
            </a:r>
            <a:r>
              <a:rPr lang="en-US" dirty="0"/>
              <a:t>details about </a:t>
            </a:r>
            <a:r>
              <a:rPr lang="en-US" baseline="0" dirty="0"/>
              <a:t>each</a:t>
            </a:r>
            <a:r>
              <a:rPr lang="en-US" dirty="0"/>
              <a:t> application, such as the application name, category, and bandwidth. You can drill down further to see more granular details by</a:t>
            </a:r>
            <a:r>
              <a:rPr lang="en-US" baseline="0" dirty="0"/>
              <a:t> double-clicking an individual log entry</a:t>
            </a:r>
            <a:r>
              <a:rPr lang="en-US" i="0" dirty="0"/>
              <a:t>.</a:t>
            </a:r>
            <a:r>
              <a:rPr lang="en-US" i="0" baseline="0" dirty="0"/>
              <a:t> </a:t>
            </a:r>
            <a:r>
              <a:rPr lang="en-US" b="0" baseline="0" dirty="0"/>
              <a:t>The detailed </a:t>
            </a:r>
            <a:r>
              <a:rPr lang="en-US" dirty="0"/>
              <a:t>view provides information about the source, destination, policies, or sessions for the selected</a:t>
            </a:r>
            <a:r>
              <a:rPr lang="en-US" baseline="0" dirty="0"/>
              <a:t> </a:t>
            </a:r>
            <a:r>
              <a:rPr lang="en-US" dirty="0"/>
              <a:t>application.</a:t>
            </a: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41735042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1447890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Good</a:t>
            </a:r>
            <a:r>
              <a:rPr lang="en-CA" baseline="0" dirty="0"/>
              <a:t> job! You now understand application control logging and monitoring.</a:t>
            </a:r>
          </a:p>
          <a:p>
            <a:endParaRPr lang="en-CA" baseline="0" dirty="0"/>
          </a:p>
          <a:p>
            <a:pPr defTabSz="948341">
              <a:defRPr/>
            </a:pPr>
            <a:r>
              <a:rPr lang="en-CA" baseline="0" dirty="0"/>
              <a:t>Now, you will learn about a</a:t>
            </a:r>
            <a:r>
              <a:rPr lang="en-CA" dirty="0"/>
              <a:t>pplication control best</a:t>
            </a:r>
            <a:r>
              <a:rPr lang="en-CA" baseline="0" dirty="0"/>
              <a:t> practices and troubleshooting.</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096300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14106">
              <a:defRPr/>
            </a:pPr>
            <a:r>
              <a:rPr lang="en-CA" baseline="0" dirty="0"/>
              <a:t>After completing this section, you should be able to achieve the objectives shown on this slide.</a:t>
            </a:r>
          </a:p>
          <a:p>
            <a:pPr defTabSz="914106">
              <a:defRPr/>
            </a:pPr>
            <a:endParaRPr lang="en-CA" i="0" baseline="0" dirty="0"/>
          </a:p>
          <a:p>
            <a:r>
              <a:rPr lang="en-CA" sz="1000" i="0" kern="1200" dirty="0">
                <a:solidFill>
                  <a:schemeClr val="tx1"/>
                </a:solidFill>
                <a:effectLst/>
                <a:latin typeface="Arial" panose="020B0604020202020204" pitchFamily="34" charset="0"/>
                <a:ea typeface="+mn-ea"/>
                <a:cs typeface="Arial" panose="020B0604020202020204" pitchFamily="34" charset="0"/>
              </a:rPr>
              <a:t>By demonstrating competence in application control best practices and troubleshooting,</a:t>
            </a:r>
            <a:r>
              <a:rPr lang="en-US" sz="1000" i="0" kern="1200" dirty="0">
                <a:solidFill>
                  <a:schemeClr val="tx1"/>
                </a:solidFill>
                <a:effectLst/>
                <a:latin typeface="Arial" panose="020B0604020202020204" pitchFamily="34" charset="0"/>
                <a:ea typeface="+mn-ea"/>
                <a:cs typeface="Arial" panose="020B0604020202020204" pitchFamily="34" charset="0"/>
              </a:rPr>
              <a:t> you will be able to configure and </a:t>
            </a:r>
            <a:r>
              <a:rPr lang="en-US" sz="1000" b="0" i="0" kern="1200" dirty="0">
                <a:solidFill>
                  <a:schemeClr val="tx1"/>
                </a:solidFill>
                <a:effectLst/>
                <a:latin typeface="Arial" panose="020B0604020202020204" pitchFamily="34" charset="0"/>
                <a:ea typeface="+mn-ea"/>
                <a:cs typeface="Arial" panose="020B0604020202020204" pitchFamily="34" charset="0"/>
              </a:rPr>
              <a:t>maintain</a:t>
            </a:r>
            <a:r>
              <a:rPr lang="en-US" sz="1000" i="0" kern="1200" dirty="0">
                <a:solidFill>
                  <a:schemeClr val="tx1"/>
                </a:solidFill>
                <a:effectLst/>
                <a:latin typeface="Arial" panose="020B0604020202020204" pitchFamily="34" charset="0"/>
                <a:ea typeface="+mn-ea"/>
                <a:cs typeface="Arial" panose="020B0604020202020204" pitchFamily="34" charset="0"/>
              </a:rPr>
              <a:t> an effective application control solution. </a:t>
            </a:r>
            <a:endParaRPr lang="en-CA" sz="1000" i="0" kern="1200" dirty="0">
              <a:solidFill>
                <a:schemeClr val="tx1"/>
              </a:solidFill>
              <a:effectLst/>
              <a:latin typeface="Arial" panose="020B0604020202020204" pitchFamily="34" charset="0"/>
              <a:ea typeface="+mn-ea"/>
              <a:cs typeface="Arial" panose="020B0604020202020204" pitchFamily="34" charset="0"/>
            </a:endParaRPr>
          </a:p>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7592094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aseline="0" dirty="0"/>
              <a:t>This slide lists some best practices to keep in mind when implementing application control on FortiGate. </a:t>
            </a:r>
          </a:p>
          <a:p>
            <a:endParaRPr lang="en-CA" baseline="0" dirty="0"/>
          </a:p>
          <a:p>
            <a:r>
              <a:rPr lang="en-CA" baseline="0" dirty="0"/>
              <a:t>Not all traffic requires an application control scan. Don’t apply application control to internal-only traffic. </a:t>
            </a:r>
          </a:p>
          <a:p>
            <a:endParaRPr lang="en-CA" baseline="0" dirty="0"/>
          </a:p>
          <a:p>
            <a:r>
              <a:rPr lang="en-CA" baseline="0" dirty="0"/>
              <a:t>To minimize resource use on FortiGate, be as specific as possible when creating firewall policies. This </a:t>
            </a:r>
            <a:r>
              <a:rPr lang="en-US" baseline="0" dirty="0" smtClean="0"/>
              <a:t>reduces resource use, and also helps you build a more secure firewall configuration.</a:t>
            </a:r>
            <a:r>
              <a:rPr lang="en-CA" baseline="0" dirty="0" smtClean="0"/>
              <a:t> </a:t>
            </a:r>
            <a:endParaRPr lang="en-CA" baseline="0" dirty="0"/>
          </a:p>
          <a:p>
            <a:endParaRPr lang="en-CA" baseline="0" dirty="0"/>
          </a:p>
          <a:p>
            <a:r>
              <a:rPr lang="en-CA" baseline="0" dirty="0"/>
              <a:t>Create identical firewall policies for all redundant internet connections, to ensure that the same inspection is performed on failover traffic. Select </a:t>
            </a:r>
            <a:r>
              <a:rPr lang="en-CA" b="1" baseline="0" dirty="0"/>
              <a:t>Deep-Inspection</a:t>
            </a:r>
            <a:r>
              <a:rPr lang="en-CA" baseline="0" dirty="0"/>
              <a:t> instead of </a:t>
            </a:r>
            <a:r>
              <a:rPr lang="en-CA" b="1" baseline="0" dirty="0"/>
              <a:t>Certificate-based</a:t>
            </a:r>
            <a:r>
              <a:rPr lang="en-CA" baseline="0" dirty="0"/>
              <a:t> inspection for the SSL/SSH inspection mode, to ensure content inspection is performed on encryption protocols. </a:t>
            </a:r>
          </a:p>
          <a:p>
            <a:endParaRPr lang="en-CA" baseline="0" dirty="0"/>
          </a:p>
          <a:p>
            <a:r>
              <a:rPr lang="en-US" dirty="0"/>
              <a:t>FortiGate models that feature specialized chips, such as network processors and content processors, can</a:t>
            </a:r>
            <a:r>
              <a:rPr lang="en-US" baseline="0" dirty="0"/>
              <a:t> offload and accelerate application signature matching for enhanced performance.</a:t>
            </a:r>
            <a:endParaRPr lang="en-CA" baseline="0" dirty="0"/>
          </a:p>
          <a:p>
            <a:endParaRPr lang="en-CA" baseline="0" dirty="0"/>
          </a:p>
          <a:p>
            <a:r>
              <a:rPr lang="en-CA" baseline="0" dirty="0"/>
              <a:t>You can use a FortiCloud account to save and view application control logs in FortiView, on FortiGate devices that do not have a log disk. </a:t>
            </a:r>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82957038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If</a:t>
            </a:r>
            <a:r>
              <a:rPr lang="en-CA" baseline="0" dirty="0"/>
              <a:t> you are experiencing issues with a FortiGuard application control update, start troubleshooting the issue with the most basic steps:</a:t>
            </a:r>
          </a:p>
          <a:p>
            <a:pPr marL="177845" indent="-177845">
              <a:buFont typeface="Arial" panose="020B0604020202020204" pitchFamily="34" charset="0"/>
              <a:buChar char="•"/>
            </a:pPr>
            <a:r>
              <a:rPr lang="en-CA" baseline="0" dirty="0"/>
              <a:t>Make sure that FortiGate has a stable connection to the internet or FortiManager (if FortiGate is configured to receive updates from </a:t>
            </a:r>
            <a:r>
              <a:rPr lang="en-CA" baseline="0" dirty="0" err="1" smtClean="0"/>
              <a:t>FortiManager</a:t>
            </a:r>
            <a:r>
              <a:rPr lang="en-CA" baseline="0" dirty="0"/>
              <a:t>)</a:t>
            </a:r>
          </a:p>
          <a:p>
            <a:pPr marL="177845" indent="-177845">
              <a:buFont typeface="Arial" panose="020B0604020202020204" pitchFamily="34" charset="0"/>
              <a:buChar char="•"/>
            </a:pPr>
            <a:r>
              <a:rPr lang="en-CA" baseline="0" dirty="0"/>
              <a:t>If the internet connection is stable, check DNS resolution on FortiGate</a:t>
            </a:r>
          </a:p>
          <a:p>
            <a:pPr marL="177845" indent="-177845">
              <a:buFont typeface="Arial" panose="020B0604020202020204" pitchFamily="34" charset="0"/>
              <a:buChar char="•"/>
            </a:pPr>
            <a:r>
              <a:rPr lang="en-CA" baseline="0" dirty="0"/>
              <a:t>If FortiGate is installed behind a network firewall, make sure </a:t>
            </a:r>
            <a:r>
              <a:rPr lang="en-CA" baseline="0"/>
              <a:t>that </a:t>
            </a:r>
            <a:r>
              <a:rPr lang="en-CA" baseline="0" smtClean="0"/>
              <a:t>port443 </a:t>
            </a:r>
            <a:r>
              <a:rPr lang="en-CA" baseline="0" dirty="0"/>
              <a:t>is being allowed from FortiGate</a:t>
            </a:r>
          </a:p>
          <a:p>
            <a:endParaRPr lang="en-CA" baseline="0" dirty="0"/>
          </a:p>
          <a:p>
            <a:r>
              <a:rPr lang="en-CA" baseline="0" dirty="0"/>
              <a:t>You can check the FortiGuard website for the latest version of the application control database. If your locally installed database is out-of-date, try forcing FortiGate to check for the latest updates by running the </a:t>
            </a:r>
            <a:r>
              <a:rPr lang="en-CA" baseline="0" dirty="0">
                <a:latin typeface="Courier New" panose="02070309020205020404" pitchFamily="49" charset="0"/>
                <a:cs typeface="Courier New" panose="02070309020205020404" pitchFamily="49" charset="0"/>
              </a:rPr>
              <a:t>execute update-now</a:t>
            </a:r>
            <a:r>
              <a:rPr lang="en-CA" baseline="0" dirty="0"/>
              <a:t> command.</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132093920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0348145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Congratulations</a:t>
            </a:r>
            <a:r>
              <a:rPr lang="en-CA" baseline="0" dirty="0"/>
              <a:t>! You have completed this lesson. </a:t>
            </a:r>
          </a:p>
          <a:p>
            <a:endParaRPr lang="en-CA" baseline="0" dirty="0"/>
          </a:p>
          <a:p>
            <a:r>
              <a:rPr lang="en-CA" baseline="0" dirty="0"/>
              <a:t>Now, you’ll review the objectives that you covered in this lesson.</a:t>
            </a:r>
          </a:p>
          <a:p>
            <a:endParaRPr lang="en-CA" baseline="0" dirty="0"/>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20096300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kern="1200" dirty="0">
                <a:solidFill>
                  <a:schemeClr val="tx1"/>
                </a:solidFill>
                <a:latin typeface="Arial" panose="020B0604020202020204" pitchFamily="34" charset="0"/>
                <a:ea typeface="+mn-ea"/>
                <a:cs typeface="Arial" panose="020B0604020202020204" pitchFamily="34" charset="0"/>
              </a:rPr>
              <a:t>This slide shows the objectives that you covered in this lesson.</a:t>
            </a:r>
          </a:p>
          <a:p>
            <a:endParaRPr lang="en-US" sz="1000" kern="1200">
              <a:solidFill>
                <a:schemeClr val="tx1"/>
              </a:solidFill>
              <a:latin typeface="Arial" panose="020B0604020202020204" pitchFamily="34" charset="0"/>
              <a:ea typeface="+mn-ea"/>
              <a:cs typeface="Arial" panose="020B0604020202020204" pitchFamily="34" charset="0"/>
            </a:endParaRPr>
          </a:p>
          <a:p>
            <a:r>
              <a:rPr lang="en-US" sz="1000" kern="1200">
                <a:solidFill>
                  <a:schemeClr val="tx1"/>
                </a:solidFill>
                <a:latin typeface="Arial" panose="020B0604020202020204" pitchFamily="34" charset="0"/>
                <a:ea typeface="+mn-ea"/>
                <a:cs typeface="Arial" panose="020B0604020202020204" pitchFamily="34" charset="0"/>
              </a:rPr>
              <a:t>By </a:t>
            </a:r>
            <a:r>
              <a:rPr lang="en-US" sz="1000" kern="1200" dirty="0">
                <a:solidFill>
                  <a:schemeClr val="tx1"/>
                </a:solidFill>
                <a:latin typeface="Arial" panose="020B0604020202020204" pitchFamily="34" charset="0"/>
                <a:ea typeface="+mn-ea"/>
                <a:cs typeface="Arial" panose="020B0604020202020204" pitchFamily="34" charset="0"/>
              </a:rPr>
              <a:t>mastering the objectives covered in this lesson, you learned how to use methods beyond simply blocking protocols, port numbers, or IP addresses, to monitor and control both standard and non-standard network applications.</a:t>
            </a:r>
          </a:p>
        </p:txBody>
      </p:sp>
      <p:sp>
        <p:nvSpPr>
          <p:cNvPr id="4" name="Header Placeholder 3"/>
          <p:cNvSpPr>
            <a:spLocks noGrp="1"/>
          </p:cNvSpPr>
          <p:nvPr>
            <p:ph type="hdr" sz="quarter" idx="10"/>
          </p:nvPr>
        </p:nvSpPr>
        <p:spPr/>
        <p:txBody>
          <a:bodyPr/>
          <a:lstStyle/>
          <a:p>
            <a:pPr algn="r"/>
            <a:r>
              <a:rPr lang="en-US" sz="1000" dirty="0">
                <a:solidFill>
                  <a:schemeClr val="bg1">
                    <a:lumMod val="50000"/>
                  </a:schemeClr>
                </a:solidFill>
                <a:sym typeface="Wingdings 3" panose="05040102010807070707" pitchFamily="18" charset="2"/>
              </a:rPr>
              <a:t>Application Control</a:t>
            </a:r>
            <a:endParaRPr lang="en-US" sz="1000" dirty="0">
              <a:solidFill>
                <a:schemeClr val="bg1">
                  <a:lumMod val="50000"/>
                </a:schemeClr>
              </a:solidFill>
              <a:cs typeface="Arial" pitchFamily="34" charset="0"/>
            </a:endParaRPr>
          </a:p>
        </p:txBody>
      </p:sp>
    </p:spTree>
    <p:extLst>
      <p:ext uri="{BB962C8B-B14F-4D97-AF65-F5344CB8AC3E}">
        <p14:creationId xmlns:p14="http://schemas.microsoft.com/office/powerpoint/2010/main" val="4395440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6.pn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image" Target="../media/image21.emf"/><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Title_Slide_NSE_1">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pic>
        <p:nvPicPr>
          <p:cNvPr id="14" name="Picture 1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0"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1"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2"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3"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6" name="Pictur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32278800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Title_Slide_NSE_2">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 y="1"/>
            <a:ext cx="12191408" cy="6858332"/>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3"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9"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5" name="Picture 1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2821170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cSld name="Title_Slide_NSE_3">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7296058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_Slide_NSE_4">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7803547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cSld name="Title_Slide_NSE_5">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413036952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Title_Slide_NSE_6">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51886834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Title_Slide_NSE_7">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1"/>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12966900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cSld name="Title_Slide_NSE_8">
    <p:bg>
      <p:bgPr>
        <a:solidFill>
          <a:schemeClr val="bg1"/>
        </a:solidFill>
        <a:effectLst/>
      </p:bgPr>
    </p:bg>
    <p:spTree>
      <p:nvGrpSpPr>
        <p:cNvPr id="1" name=""/>
        <p:cNvGrpSpPr/>
        <p:nvPr/>
      </p:nvGrpSpPr>
      <p:grpSpPr>
        <a:xfrm>
          <a:off x="0" y="0"/>
          <a:ext cx="0" cy="0"/>
          <a:chOff x="0" y="0"/>
          <a:chExt cx="0" cy="0"/>
        </a:xfrm>
      </p:grpSpPr>
      <p:sp>
        <p:nvSpPr>
          <p:cNvPr id="13"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sp>
        <p:nvSpPr>
          <p:cNvPr id="14"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sp>
        <p:nvSpPr>
          <p:cNvPr id="11"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12"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6"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7"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pic>
        <p:nvPicPr>
          <p:cNvPr id="15" name="Pictur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pic>
        <p:nvPicPr>
          <p:cNvPr id="18" name="Picture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25035" y="1629063"/>
            <a:ext cx="933910" cy="933910"/>
          </a:xfrm>
          <a:prstGeom prst="rect">
            <a:avLst/>
          </a:prstGeom>
        </p:spPr>
      </p:pic>
    </p:spTree>
    <p:extLst>
      <p:ext uri="{BB962C8B-B14F-4D97-AF65-F5344CB8AC3E}">
        <p14:creationId xmlns:p14="http://schemas.microsoft.com/office/powerpoint/2010/main" val="6652473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Title_Slide_Non_NSE">
    <p:bg>
      <p:bgPr>
        <a:solidFill>
          <a:schemeClr val="bg1"/>
        </a:solidFill>
        <a:effectLst/>
      </p:bgPr>
    </p:bg>
    <p:spTree>
      <p:nvGrpSpPr>
        <p:cNvPr id="1" name=""/>
        <p:cNvGrpSpPr/>
        <p:nvPr/>
      </p:nvGrpSpPr>
      <p:grpSpPr>
        <a:xfrm>
          <a:off x="0" y="0"/>
          <a:ext cx="0" cy="0"/>
          <a:chOff x="0" y="0"/>
          <a:chExt cx="0" cy="0"/>
        </a:xfrm>
      </p:grpSpPr>
      <p:sp>
        <p:nvSpPr>
          <p:cNvPr id="17" name="Copyright"/>
          <p:cNvSpPr txBox="1"/>
          <p:nvPr/>
        </p:nvSpPr>
        <p:spPr>
          <a:xfrm>
            <a:off x="607109" y="6542690"/>
            <a:ext cx="3210658" cy="246221"/>
          </a:xfrm>
          <a:prstGeom prst="rect">
            <a:avLst/>
          </a:prstGeom>
          <a:noFill/>
        </p:spPr>
        <p:txBody>
          <a:bodyPr wrap="square" lIns="121899" tIns="60949" rIns="121899" bIns="60949" rtlCol="0">
            <a:spAutoFit/>
          </a:bodyPr>
          <a:lstStyle/>
          <a:p>
            <a:r>
              <a:rPr lang="en-US" sz="800" dirty="0">
                <a:solidFill>
                  <a:srgbClr val="FFFFFF"/>
                </a:solidFill>
              </a:rPr>
              <a:t>© Copyright Fortinet</a:t>
            </a:r>
            <a:r>
              <a:rPr lang="en-US" sz="800" baseline="0" dirty="0">
                <a:solidFill>
                  <a:srgbClr val="FFFFFF"/>
                </a:solidFill>
              </a:rPr>
              <a:t> Inc. All rights reserved.</a:t>
            </a:r>
            <a:r>
              <a:rPr lang="en-US" sz="800" dirty="0">
                <a:solidFill>
                  <a:srgbClr val="FFFFFF"/>
                </a:solidFill>
              </a:rPr>
              <a:t> </a:t>
            </a:r>
          </a:p>
        </p:txBody>
      </p:sp>
      <p:sp>
        <p:nvSpPr>
          <p:cNvPr id="18" name="Date"/>
          <p:cNvSpPr/>
          <p:nvPr/>
        </p:nvSpPr>
        <p:spPr>
          <a:xfrm>
            <a:off x="9192110" y="6542689"/>
            <a:ext cx="2377440" cy="246221"/>
          </a:xfrm>
          <a:prstGeom prst="rect">
            <a:avLst/>
          </a:prstGeom>
        </p:spPr>
        <p:txBody>
          <a:bodyPr wrap="square" lIns="0" rIns="0" anchor="ctr">
            <a:spAutoFit/>
          </a:bodyPr>
          <a:lstStyle/>
          <a:p>
            <a:pPr algn="r"/>
            <a:r>
              <a:rPr lang="en-US" sz="1000" dirty="0" smtClean="0">
                <a:solidFill>
                  <a:schemeClr val="bg1"/>
                </a:solidFill>
              </a:rPr>
              <a:t>Last Modified: </a:t>
            </a:r>
            <a:fld id="{188C7AA7-C880-4ADA-8026-96176B03DB6F}" type="datetime3">
              <a:rPr lang="en-US" sz="1000" smtClean="0">
                <a:solidFill>
                  <a:schemeClr val="bg1"/>
                </a:solidFill>
              </a:rPr>
              <a:pPr algn="r"/>
              <a:t>6 June 2022</a:t>
            </a:fld>
            <a:endParaRPr lang="en-US" sz="1000" dirty="0">
              <a:solidFill>
                <a:schemeClr val="bg1"/>
              </a:solidFill>
            </a:endParaRP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7" y="0"/>
            <a:ext cx="12190817" cy="6858000"/>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 y="1408680"/>
            <a:ext cx="8648216" cy="3871942"/>
          </a:xfrm>
          <a:prstGeom prst="rect">
            <a:avLst/>
          </a:prstGeom>
        </p:spPr>
      </p:pic>
      <p:sp>
        <p:nvSpPr>
          <p:cNvPr id="9" name="Lesson_Name"/>
          <p:cNvSpPr>
            <a:spLocks noGrp="1"/>
          </p:cNvSpPr>
          <p:nvPr>
            <p:ph type="subTitle" idx="1" hasCustomPrompt="1"/>
          </p:nvPr>
        </p:nvSpPr>
        <p:spPr>
          <a:xfrm>
            <a:off x="114299" y="3726591"/>
            <a:ext cx="7596188" cy="830123"/>
          </a:xfrm>
          <a:prstGeom prst="rect">
            <a:avLst/>
          </a:prstGeom>
        </p:spPr>
        <p:txBody>
          <a:bodyPr>
            <a:normAutofit/>
          </a:bodyPr>
          <a:lstStyle>
            <a:lvl1pPr marL="0" indent="0">
              <a:buNone/>
              <a:defRPr sz="2800" baseline="0">
                <a:solidFill>
                  <a:schemeClr val="tx1"/>
                </a:solidFill>
              </a:defRPr>
            </a:lvl1pPr>
          </a:lstStyle>
          <a:p>
            <a:r>
              <a:rPr lang="en-US" dirty="0" smtClean="0"/>
              <a:t>[Lesson Name]</a:t>
            </a:r>
            <a:endParaRPr lang="en-US" dirty="0"/>
          </a:p>
        </p:txBody>
      </p:sp>
      <p:sp>
        <p:nvSpPr>
          <p:cNvPr id="10" name="Course_Name"/>
          <p:cNvSpPr>
            <a:spLocks noGrp="1"/>
          </p:cNvSpPr>
          <p:nvPr>
            <p:ph type="ctrTitle" hasCustomPrompt="1"/>
          </p:nvPr>
        </p:nvSpPr>
        <p:spPr>
          <a:xfrm>
            <a:off x="97113" y="2697625"/>
            <a:ext cx="8337507" cy="901261"/>
          </a:xfrm>
          <a:prstGeom prst="rect">
            <a:avLst/>
          </a:prstGeom>
        </p:spPr>
        <p:txBody>
          <a:bodyPr>
            <a:normAutofit/>
          </a:bodyPr>
          <a:lstStyle>
            <a:lvl1pPr>
              <a:defRPr sz="3600" baseline="0">
                <a:solidFill>
                  <a:schemeClr val="tx1"/>
                </a:solidFill>
              </a:defRPr>
            </a:lvl1pPr>
          </a:lstStyle>
          <a:p>
            <a:r>
              <a:rPr lang="en-US" dirty="0" smtClean="0"/>
              <a:t>[Course Name]</a:t>
            </a:r>
            <a:endParaRPr lang="en-US" dirty="0"/>
          </a:p>
        </p:txBody>
      </p:sp>
      <p:sp>
        <p:nvSpPr>
          <p:cNvPr id="13" name="Firmware"/>
          <p:cNvSpPr>
            <a:spLocks noGrp="1"/>
          </p:cNvSpPr>
          <p:nvPr>
            <p:ph type="body" sz="quarter" idx="10" hasCustomPrompt="1"/>
          </p:nvPr>
        </p:nvSpPr>
        <p:spPr>
          <a:xfrm>
            <a:off x="606427" y="6343344"/>
            <a:ext cx="2869200" cy="349200"/>
          </a:xfrm>
          <a:prstGeom prst="rect">
            <a:avLst/>
          </a:prstGeom>
        </p:spPr>
        <p:txBody>
          <a:bodyPr>
            <a:noAutofit/>
          </a:bodyPr>
          <a:lstStyle>
            <a:lvl1pPr marL="0" indent="0">
              <a:buNone/>
              <a:defRPr sz="1600" baseline="0">
                <a:solidFill>
                  <a:schemeClr val="tx1"/>
                </a:solidFill>
              </a:defRPr>
            </a:lvl1pPr>
          </a:lstStyle>
          <a:p>
            <a:r>
              <a:rPr lang="en-CA" dirty="0" smtClean="0"/>
              <a:t>[Firmware Version]</a:t>
            </a:r>
            <a:endParaRPr lang="en-CA" dirty="0"/>
          </a:p>
        </p:txBody>
      </p:sp>
      <p:sp>
        <p:nvSpPr>
          <p:cNvPr id="14" name="Date"/>
          <p:cNvSpPr/>
          <p:nvPr/>
        </p:nvSpPr>
        <p:spPr>
          <a:xfrm>
            <a:off x="9394332" y="6542698"/>
            <a:ext cx="2377440" cy="246221"/>
          </a:xfrm>
          <a:prstGeom prst="rect">
            <a:avLst/>
          </a:prstGeom>
        </p:spPr>
        <p:txBody>
          <a:bodyPr wrap="square" lIns="0" rIns="0" anchor="ctr">
            <a:spAutoFit/>
          </a:bodyPr>
          <a:lstStyle/>
          <a:p>
            <a:pPr algn="r"/>
            <a:r>
              <a:rPr lang="en-US" sz="1000" dirty="0" smtClean="0">
                <a:solidFill>
                  <a:schemeClr val="tx1"/>
                </a:solidFill>
              </a:rPr>
              <a:t>Last Modified: </a:t>
            </a:r>
            <a:fld id="{188C7AA7-C880-4ADA-8026-96176B03DB6F}" type="datetime3">
              <a:rPr lang="en-US" sz="1000" smtClean="0">
                <a:solidFill>
                  <a:schemeClr val="tx1"/>
                </a:solidFill>
              </a:rPr>
              <a:pPr algn="r"/>
              <a:t>6 June 2022</a:t>
            </a:fld>
            <a:endParaRPr lang="en-US" sz="1000" dirty="0">
              <a:solidFill>
                <a:schemeClr val="tx1"/>
              </a:solidFill>
            </a:endParaRPr>
          </a:p>
        </p:txBody>
      </p:sp>
      <p:pic>
        <p:nvPicPr>
          <p:cNvPr id="12" name="Picture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0764" y="1629063"/>
            <a:ext cx="2090932" cy="621793"/>
          </a:xfrm>
          <a:prstGeom prst="rect">
            <a:avLst/>
          </a:prstGeom>
        </p:spPr>
      </p:pic>
    </p:spTree>
    <p:extLst>
      <p:ext uri="{BB962C8B-B14F-4D97-AF65-F5344CB8AC3E}">
        <p14:creationId xmlns:p14="http://schemas.microsoft.com/office/powerpoint/2010/main" val="47401561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Lesson_Overview">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Lesson Overview</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73600" y="1347536"/>
            <a:ext cx="11386800" cy="49680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744440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cSld name="NSE7_Lesson_Objectives">
    <p:bg>
      <p:bgPr>
        <a:solidFill>
          <a:srgbClr val="F0F0F0"/>
        </a:solidFill>
        <a:effectLst/>
      </p:bgPr>
    </p:bg>
    <p:spTree>
      <p:nvGrpSpPr>
        <p:cNvPr id="1" name=""/>
        <p:cNvGrpSpPr/>
        <p:nvPr/>
      </p:nvGrpSpPr>
      <p:grpSpPr>
        <a:xfrm>
          <a:off x="0" y="0"/>
          <a:ext cx="0" cy="0"/>
          <a:chOff x="0" y="0"/>
          <a:chExt cx="0" cy="0"/>
        </a:xfrm>
      </p:grpSpPr>
      <p:sp>
        <p:nvSpPr>
          <p:cNvPr id="6" name="Content Placeholder 2"/>
          <p:cNvSpPr>
            <a:spLocks noGrp="1"/>
          </p:cNvSpPr>
          <p:nvPr>
            <p:ph idx="1" hasCustomPrompt="1"/>
          </p:nvPr>
        </p:nvSpPr>
        <p:spPr>
          <a:xfrm>
            <a:off x="266400" y="1355270"/>
            <a:ext cx="11387357" cy="4959129"/>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
        <p:nvSpPr>
          <p:cNvPr id="5" name="TextBox 4"/>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Objectives</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81765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Section_Title">
    <p:bg>
      <p:bgPr>
        <a:solidFill>
          <a:srgbClr val="F0F0F0"/>
        </a:solid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272961" y="577804"/>
            <a:ext cx="9363600" cy="781602"/>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7" name="Picture 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0" name="Rectangle 9">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1" name="Picture 10">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12" name="Rectangle 11">
            <a:extLst>
              <a:ext uri="{FF2B5EF4-FFF2-40B4-BE49-F238E27FC236}">
                <a16:creationId xmlns:a16="http://schemas.microsoft.com/office/drawing/2014/main" id="{149CDAD4-8CD1-C94B-A9CC-8046006859AC}"/>
              </a:ext>
            </a:extLst>
          </p:cNvPr>
          <p:cNvSpPr/>
          <p:nvPr/>
        </p:nvSpPr>
        <p:spPr>
          <a:xfrm>
            <a:off x="0" y="19944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3" name="Picture 12">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14" name="Rectangle 13">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5" name="Rectangle 14">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16" name="Rectangle 15">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0"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9" name="Objectives list"/>
          <p:cNvSpPr>
            <a:spLocks noGrp="1"/>
          </p:cNvSpPr>
          <p:nvPr>
            <p:ph type="body" sz="quarter" idx="11" hasCustomPrompt="1"/>
          </p:nvPr>
        </p:nvSpPr>
        <p:spPr>
          <a:xfrm>
            <a:off x="272961" y="2624400"/>
            <a:ext cx="8319600" cy="3654000"/>
          </a:xfrm>
          <a:prstGeom prst="rect">
            <a:avLst/>
          </a:prstGeom>
        </p:spPr>
        <p:txBody>
          <a:bodyPr>
            <a:normAutofit/>
          </a:bodyPr>
          <a:lstStyle>
            <a:lvl1pPr>
              <a:defRPr sz="2200"/>
            </a:lvl1pPr>
          </a:lstStyle>
          <a:p>
            <a:pPr lvl="0"/>
            <a:r>
              <a:rPr lang="en-US" dirty="0" smtClean="0"/>
              <a:t>[Objective]</a:t>
            </a:r>
          </a:p>
          <a:p>
            <a:pPr lvl="0"/>
            <a:r>
              <a:rPr lang="en-US" dirty="0" smtClean="0"/>
              <a:t>[Objective]</a:t>
            </a:r>
          </a:p>
          <a:p>
            <a:pPr lvl="0"/>
            <a:r>
              <a:rPr lang="en-US" dirty="0" smtClean="0"/>
              <a:t>[Objective]</a:t>
            </a:r>
          </a:p>
        </p:txBody>
      </p:sp>
      <p:sp>
        <p:nvSpPr>
          <p:cNvPr id="6" name="Objectives title"/>
          <p:cNvSpPr txBox="1"/>
          <p:nvPr/>
        </p:nvSpPr>
        <p:spPr>
          <a:xfrm>
            <a:off x="273600" y="2005200"/>
            <a:ext cx="10803600" cy="523220"/>
          </a:xfrm>
          <a:prstGeom prst="rect">
            <a:avLst/>
          </a:prstGeom>
          <a:noFill/>
        </p:spPr>
        <p:txBody>
          <a:bodyPr wrap="square" rtlCol="0">
            <a:spAutoFit/>
          </a:bodyPr>
          <a:lstStyle/>
          <a:p>
            <a:r>
              <a:rPr lang="en-CA" sz="2800" b="1" dirty="0" smtClean="0"/>
              <a:t>Objectives</a:t>
            </a:r>
            <a:endParaRPr lang="en-CA" sz="2800" b="1" dirty="0"/>
          </a:p>
        </p:txBody>
      </p:sp>
      <p:pic>
        <p:nvPicPr>
          <p:cNvPr id="18" name="Picture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265375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cSld name="NSE7_Section_Title">
    <p:bg>
      <p:bgPr>
        <a:solidFill>
          <a:srgbClr val="F0F0F0"/>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8E79752-B1F1-7346-A6DB-8BF8980F8859}"/>
              </a:ext>
            </a:extLst>
          </p:cNvPr>
          <p:cNvPicPr>
            <a:picLocks noChangeAspect="1"/>
          </p:cNvPicPr>
          <p:nvPr/>
        </p:nvPicPr>
        <p:blipFill rotWithShape="1">
          <a:blip r:embed="rId2"/>
          <a:srcRect b="68122"/>
          <a:stretch/>
        </p:blipFill>
        <p:spPr>
          <a:xfrm>
            <a:off x="6407090" y="4989214"/>
            <a:ext cx="2529591" cy="683300"/>
          </a:xfrm>
          <a:prstGeom prst="rect">
            <a:avLst/>
          </a:prstGeom>
        </p:spPr>
      </p:pic>
      <p:sp>
        <p:nvSpPr>
          <p:cNvPr id="18" name="Rectangle 17">
            <a:extLst>
              <a:ext uri="{FF2B5EF4-FFF2-40B4-BE49-F238E27FC236}">
                <a16:creationId xmlns:a16="http://schemas.microsoft.com/office/drawing/2014/main" id="{E23D178B-7CD3-384F-B8E0-9BAFA865C639}"/>
              </a:ext>
            </a:extLst>
          </p:cNvPr>
          <p:cNvSpPr/>
          <p:nvPr/>
        </p:nvSpPr>
        <p:spPr>
          <a:xfrm>
            <a:off x="8412826" y="1712038"/>
            <a:ext cx="470593" cy="1707131"/>
          </a:xfrm>
          <a:prstGeom prst="rect">
            <a:avLst/>
          </a:prstGeom>
          <a:gradFill flip="none" rotWithShape="1">
            <a:gsLst>
              <a:gs pos="0">
                <a:schemeClr val="accent2"/>
              </a:gs>
              <a:gs pos="100000">
                <a:schemeClr val="accent2">
                  <a:alpha val="2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19" name="Picture 18">
            <a:extLst>
              <a:ext uri="{FF2B5EF4-FFF2-40B4-BE49-F238E27FC236}">
                <a16:creationId xmlns:a16="http://schemas.microsoft.com/office/drawing/2014/main" id="{91DA104C-489B-5645-A6BD-2AECCE933518}"/>
              </a:ext>
            </a:extLst>
          </p:cNvPr>
          <p:cNvPicPr>
            <a:picLocks noChangeAspect="1"/>
          </p:cNvPicPr>
          <p:nvPr/>
        </p:nvPicPr>
        <p:blipFill>
          <a:blip r:embed="rId3"/>
          <a:stretch>
            <a:fillRect/>
          </a:stretch>
        </p:blipFill>
        <p:spPr>
          <a:xfrm>
            <a:off x="8412826" y="1604647"/>
            <a:ext cx="470593" cy="108599"/>
          </a:xfrm>
          <a:prstGeom prst="rect">
            <a:avLst/>
          </a:prstGeom>
        </p:spPr>
      </p:pic>
      <p:sp>
        <p:nvSpPr>
          <p:cNvPr id="20" name="Rectangle 19">
            <a:extLst>
              <a:ext uri="{FF2B5EF4-FFF2-40B4-BE49-F238E27FC236}">
                <a16:creationId xmlns:a16="http://schemas.microsoft.com/office/drawing/2014/main" id="{149CDAD4-8CD1-C94B-A9CC-8046006859AC}"/>
              </a:ext>
            </a:extLst>
          </p:cNvPr>
          <p:cNvSpPr/>
          <p:nvPr/>
        </p:nvSpPr>
        <p:spPr>
          <a:xfrm>
            <a:off x="-1" y="1993900"/>
            <a:ext cx="8591489" cy="42838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pic>
        <p:nvPicPr>
          <p:cNvPr id="21" name="Picture 20">
            <a:extLst>
              <a:ext uri="{FF2B5EF4-FFF2-40B4-BE49-F238E27FC236}">
                <a16:creationId xmlns:a16="http://schemas.microsoft.com/office/drawing/2014/main" id="{8C786DED-EF6A-7142-AF1D-FFA8171EAB26}"/>
              </a:ext>
            </a:extLst>
          </p:cNvPr>
          <p:cNvPicPr>
            <a:picLocks noChangeAspect="1"/>
          </p:cNvPicPr>
          <p:nvPr/>
        </p:nvPicPr>
        <p:blipFill>
          <a:blip r:embed="rId3"/>
          <a:stretch>
            <a:fillRect/>
          </a:stretch>
        </p:blipFill>
        <p:spPr>
          <a:xfrm flipH="1" flipV="1">
            <a:off x="11216640" y="1"/>
            <a:ext cx="975360" cy="225084"/>
          </a:xfrm>
          <a:prstGeom prst="rect">
            <a:avLst/>
          </a:prstGeom>
        </p:spPr>
      </p:pic>
      <p:sp>
        <p:nvSpPr>
          <p:cNvPr id="22" name="Rectangle 21">
            <a:extLst>
              <a:ext uri="{FF2B5EF4-FFF2-40B4-BE49-F238E27FC236}">
                <a16:creationId xmlns:a16="http://schemas.microsoft.com/office/drawing/2014/main" id="{935F58C8-3EB0-EB45-B464-FCA88D948883}"/>
              </a:ext>
            </a:extLst>
          </p:cNvPr>
          <p:cNvSpPr/>
          <p:nvPr/>
        </p:nvSpPr>
        <p:spPr>
          <a:xfrm>
            <a:off x="10008681" y="3887404"/>
            <a:ext cx="172209" cy="2970605"/>
          </a:xfrm>
          <a:prstGeom prst="rect">
            <a:avLst/>
          </a:pr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3" name="Rectangle 22">
            <a:extLst>
              <a:ext uri="{FF2B5EF4-FFF2-40B4-BE49-F238E27FC236}">
                <a16:creationId xmlns:a16="http://schemas.microsoft.com/office/drawing/2014/main" id="{AFA58B45-CD47-534B-838F-BE5D87737B80}"/>
              </a:ext>
            </a:extLst>
          </p:cNvPr>
          <p:cNvSpPr/>
          <p:nvPr/>
        </p:nvSpPr>
        <p:spPr>
          <a:xfrm>
            <a:off x="11181289" y="2103609"/>
            <a:ext cx="1010715" cy="3057195"/>
          </a:xfrm>
          <a:prstGeom prst="rect">
            <a:avLst/>
          </a:prstGeom>
          <a:solidFill>
            <a:schemeClr val="tx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4" name="Rectangle 23">
            <a:extLst>
              <a:ext uri="{FF2B5EF4-FFF2-40B4-BE49-F238E27FC236}">
                <a16:creationId xmlns:a16="http://schemas.microsoft.com/office/drawing/2014/main" id="{FA3A8348-31F9-7E4E-9FCE-3EC03B020C2A}"/>
              </a:ext>
            </a:extLst>
          </p:cNvPr>
          <p:cNvSpPr/>
          <p:nvPr/>
        </p:nvSpPr>
        <p:spPr>
          <a:xfrm>
            <a:off x="9661931" y="225090"/>
            <a:ext cx="518957" cy="1497691"/>
          </a:xfrm>
          <a:prstGeom prst="rect">
            <a:avLst/>
          </a:prstGeom>
          <a:solidFill>
            <a:schemeClr val="tx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169"/>
              </a:spcBef>
            </a:pPr>
            <a:endParaRPr lang="en-US" sz="788" dirty="0" err="1"/>
          </a:p>
        </p:txBody>
      </p:sp>
      <p:sp>
        <p:nvSpPr>
          <p:cNvPr id="2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itle 1"/>
          <p:cNvSpPr>
            <a:spLocks noGrp="1"/>
          </p:cNvSpPr>
          <p:nvPr>
            <p:ph type="title" hasCustomPrompt="1"/>
          </p:nvPr>
        </p:nvSpPr>
        <p:spPr>
          <a:xfrm>
            <a:off x="97200" y="2696400"/>
            <a:ext cx="8496000" cy="900000"/>
          </a:xfrm>
          <a:prstGeom prst="rect">
            <a:avLst/>
          </a:prstGeom>
          <a:noFill/>
        </p:spPr>
        <p:txBody>
          <a:bodyPr anchor="b" anchorCtr="0"/>
          <a:lstStyle>
            <a:lvl1pPr algn="l">
              <a:defRPr sz="3200" b="0" cap="none" baseline="0">
                <a:solidFill>
                  <a:schemeClr val="tx1"/>
                </a:solidFill>
              </a:defRPr>
            </a:lvl1pPr>
          </a:lstStyle>
          <a:p>
            <a:r>
              <a:rPr lang="en-US" dirty="0" smtClean="0"/>
              <a:t>[Section title]</a:t>
            </a:r>
            <a:endParaRPr lang="en-US" dirty="0"/>
          </a:p>
        </p:txBody>
      </p:sp>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72599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Blank Whi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6000" cy="748800"/>
          </a:xfrm>
          <a:prstGeom prst="rect">
            <a:avLst/>
          </a:prstGeom>
        </p:spPr>
        <p:txBody>
          <a:bodyPr>
            <a:normAutofit/>
          </a:bodyPr>
          <a:lstStyle>
            <a:lvl1pPr algn="l" defTabSz="914240" rtl="0" eaLnBrk="1" latinLnBrk="0" hangingPunct="1">
              <a:lnSpc>
                <a:spcPct val="94000"/>
              </a:lnSpc>
              <a:spcBef>
                <a:spcPct val="0"/>
              </a:spcBef>
              <a:buNone/>
              <a:defRPr lang="en-US" sz="3600" b="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Tree>
    <p:extLst>
      <p:ext uri="{BB962C8B-B14F-4D97-AF65-F5344CB8AC3E}">
        <p14:creationId xmlns:p14="http://schemas.microsoft.com/office/powerpoint/2010/main" val="2685790365"/>
      </p:ext>
    </p:extLst>
  </p:cSld>
  <p:clrMapOvr>
    <a:masterClrMapping/>
  </p:clrMapOvr>
  <p:transition spd="slow">
    <p:wip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Text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 hasCustomPrompt="1"/>
          </p:nvPr>
        </p:nvSpPr>
        <p:spPr>
          <a:xfrm>
            <a:off x="266399" y="972000"/>
            <a:ext cx="11375703"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marL="814388" marR="0" indent="0" algn="l" defTabSz="685800" rtl="0" eaLnBrk="1" fontAlgn="base" latinLnBrk="0" hangingPunct="1">
              <a:lnSpc>
                <a:spcPct val="110000"/>
              </a:lnSpc>
              <a:spcBef>
                <a:spcPct val="20000"/>
              </a:spcBef>
              <a:spcAft>
                <a:spcPct val="0"/>
              </a:spcAft>
              <a:buClr>
                <a:srgbClr val="D81E05"/>
              </a:buClr>
              <a:buSzTx/>
              <a:buFont typeface="Arial"/>
              <a:buNone/>
              <a:tabLst/>
              <a:defRPr sz="1600"/>
            </a:lvl5pPr>
          </a:lstStyle>
          <a:p>
            <a:pPr lvl="0"/>
            <a:r>
              <a:rPr lang="en-US" dirty="0" smtClean="0"/>
              <a:t>Click to add text</a:t>
            </a:r>
            <a:endParaRPr kumimoji="0" lang="en-US" sz="1200" b="0" i="1" u="none" strike="noStrike" kern="0" cap="none" spc="0" normalizeH="0" baseline="0" noProof="0" dirty="0" smtClean="0">
              <a:ln>
                <a:noFill/>
              </a:ln>
              <a:solidFill>
                <a:prstClr val="white">
                  <a:lumMod val="50000"/>
                </a:prstClr>
              </a:solidFill>
              <a:effectLst/>
              <a:uLnTx/>
              <a:uFillTx/>
              <a:latin typeface="+mn-lt"/>
              <a:ea typeface="Arial Unicode MS"/>
              <a:cs typeface="Arial"/>
            </a:endParaRPr>
          </a:p>
        </p:txBody>
      </p:sp>
    </p:spTree>
    <p:extLst>
      <p:ext uri="{BB962C8B-B14F-4D97-AF65-F5344CB8AC3E}">
        <p14:creationId xmlns:p14="http://schemas.microsoft.com/office/powerpoint/2010/main" val="3539729627"/>
      </p:ext>
    </p:extLst>
  </p:cSld>
  <p:clrMapOvr>
    <a:masterClrMapping/>
  </p:clrMapOvr>
  <p:transition spd="slow">
    <p:wip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title</a:t>
            </a:r>
            <a:endParaRPr lang="en-US" dirty="0"/>
          </a:p>
        </p:txBody>
      </p:sp>
      <p:sp>
        <p:nvSpPr>
          <p:cNvPr id="5" name="Content Placeholder 2"/>
          <p:cNvSpPr>
            <a:spLocks noGrp="1"/>
          </p:cNvSpPr>
          <p:nvPr>
            <p:ph idx="15" hasCustomPrompt="1"/>
          </p:nvPr>
        </p:nvSpPr>
        <p:spPr>
          <a:xfrm>
            <a:off x="2664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6073200" y="975600"/>
            <a:ext cx="55656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3366377892"/>
      </p:ext>
    </p:extLst>
  </p:cSld>
  <p:clrMapOvr>
    <a:masterClrMapping/>
  </p:clrMapOvr>
  <p:transition spd="slow">
    <p:wip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Two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5" name="Content Placeholder 2"/>
          <p:cNvSpPr>
            <a:spLocks noGrp="1"/>
          </p:cNvSpPr>
          <p:nvPr>
            <p:ph idx="15" hasCustomPrompt="1"/>
          </p:nvPr>
        </p:nvSpPr>
        <p:spPr>
          <a:xfrm>
            <a:off x="6070863" y="975600"/>
            <a:ext cx="5565600" cy="4620768"/>
          </a:xfrm>
          <a:prstGeom prst="rect">
            <a:avLst/>
          </a:prstGeom>
        </p:spPr>
        <p:txBody>
          <a:bodyPr/>
          <a:lstStyle>
            <a:lvl1pPr>
              <a:buClr>
                <a:schemeClr val="accent6"/>
              </a:buClr>
              <a:defRPr sz="2200" baseline="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Content Placeholder 4"/>
          <p:cNvSpPr>
            <a:spLocks noGrp="1"/>
          </p:cNvSpPr>
          <p:nvPr>
            <p:ph sz="half" idx="13" hasCustomPrompt="1"/>
          </p:nvPr>
        </p:nvSpPr>
        <p:spPr>
          <a:xfrm>
            <a:off x="266399" y="975600"/>
            <a:ext cx="55656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1808410551"/>
      </p:ext>
    </p:extLst>
  </p:cSld>
  <p:clrMapOvr>
    <a:masterClrMapping/>
  </p:clrMapOvr>
  <p:transition spd="slow">
    <p:wip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Two Column 40x6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5326143"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964317555"/>
      </p:ext>
    </p:extLst>
  </p:cSld>
  <p:clrMapOvr>
    <a:masterClrMapping/>
  </p:clrMapOvr>
  <p:transition spd="slow">
    <p:wip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wo Column 40x6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688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5320800" y="975600"/>
            <a:ext cx="63144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400" y="975600"/>
            <a:ext cx="47592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2117935625"/>
      </p:ext>
    </p:extLst>
  </p:cSld>
  <p:clrMapOvr>
    <a:masterClrMapping/>
  </p:clrMapOvr>
  <p:transition spd="slow">
    <p:wip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Two Column 60x40">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6894000" y="975600"/>
            <a:ext cx="47592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266400" y="975600"/>
            <a:ext cx="6314400" cy="53388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771228658"/>
      </p:ext>
    </p:extLst>
  </p:cSld>
  <p:clrMapOvr>
    <a:masterClrMapping/>
  </p:clrMapOvr>
  <p:transition spd="slow">
    <p:wip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Two Column 60x40 /w bottom">
    <p:spTree>
      <p:nvGrpSpPr>
        <p:cNvPr id="1" name=""/>
        <p:cNvGrpSpPr/>
        <p:nvPr/>
      </p:nvGrpSpPr>
      <p:grpSpPr>
        <a:xfrm>
          <a:off x="0" y="0"/>
          <a:ext cx="0" cy="0"/>
          <a:chOff x="0" y="0"/>
          <a:chExt cx="0" cy="0"/>
        </a:xfrm>
      </p:grpSpPr>
      <p:sp>
        <p:nvSpPr>
          <p:cNvPr id="6" name="Content Placeholder 2"/>
          <p:cNvSpPr>
            <a:spLocks noGrp="1"/>
          </p:cNvSpPr>
          <p:nvPr>
            <p:ph idx="16" hasCustomPrompt="1"/>
          </p:nvPr>
        </p:nvSpPr>
        <p:spPr>
          <a:xfrm>
            <a:off x="266400" y="5652000"/>
            <a:ext cx="113904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2"/>
          <p:cNvSpPr>
            <a:spLocks noGrp="1"/>
          </p:cNvSpPr>
          <p:nvPr>
            <p:ph idx="15" hasCustomPrompt="1"/>
          </p:nvPr>
        </p:nvSpPr>
        <p:spPr>
          <a:xfrm>
            <a:off x="6900421" y="975598"/>
            <a:ext cx="4757342"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4"/>
          <p:cNvSpPr>
            <a:spLocks noGrp="1"/>
          </p:cNvSpPr>
          <p:nvPr>
            <p:ph sz="half" idx="13" hasCustomPrompt="1"/>
          </p:nvPr>
        </p:nvSpPr>
        <p:spPr>
          <a:xfrm>
            <a:off x="266399" y="975600"/>
            <a:ext cx="63144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
        <p:nvSpPr>
          <p:cNvPr id="7"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6807290"/>
      </p:ext>
    </p:extLst>
  </p:cSld>
  <p:clrMapOvr>
    <a:masterClrMapping/>
  </p:clrMapOvr>
  <p:transition spd="slow">
    <p:wip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2664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4216153"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10" name="Content Placeholder 2"/>
          <p:cNvSpPr>
            <a:spLocks noGrp="1"/>
          </p:cNvSpPr>
          <p:nvPr>
            <p:ph idx="18" hasCustomPrompt="1"/>
          </p:nvPr>
        </p:nvSpPr>
        <p:spPr>
          <a:xfrm>
            <a:off x="8164800" y="975600"/>
            <a:ext cx="3492000" cy="5324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Tree>
    <p:extLst>
      <p:ext uri="{BB962C8B-B14F-4D97-AF65-F5344CB8AC3E}">
        <p14:creationId xmlns:p14="http://schemas.microsoft.com/office/powerpoint/2010/main" val="90638857"/>
      </p:ext>
    </p:extLst>
  </p:cSld>
  <p:clrMapOvr>
    <a:masterClrMapping/>
  </p:clrMapOvr>
  <p:transition spd="slow">
    <p:wip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Three Column /w botto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
        <p:nvSpPr>
          <p:cNvPr id="7" name="Content Placeholder 2"/>
          <p:cNvSpPr>
            <a:spLocks noGrp="1"/>
          </p:cNvSpPr>
          <p:nvPr>
            <p:ph idx="15" hasCustomPrompt="1"/>
          </p:nvPr>
        </p:nvSpPr>
        <p:spPr>
          <a:xfrm>
            <a:off x="42120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9" name="Content Placeholder 2"/>
          <p:cNvSpPr>
            <a:spLocks noGrp="1"/>
          </p:cNvSpPr>
          <p:nvPr>
            <p:ph idx="17" hasCustomPrompt="1"/>
          </p:nvPr>
        </p:nvSpPr>
        <p:spPr>
          <a:xfrm>
            <a:off x="8157600" y="963408"/>
            <a:ext cx="3492000" cy="4622400"/>
          </a:xfrm>
          <a:prstGeom prst="rect">
            <a:avLst/>
          </a:prstGeom>
        </p:spPr>
        <p:txBody>
          <a:bodyPr/>
          <a:lstStyle>
            <a:lvl1pPr>
              <a:buClr>
                <a:schemeClr val="accent6"/>
              </a:buClr>
              <a:defRPr sz="22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p>
        </p:txBody>
      </p:sp>
      <p:sp>
        <p:nvSpPr>
          <p:cNvPr id="10" name="Content Placeholder 2"/>
          <p:cNvSpPr>
            <a:spLocks noGrp="1"/>
          </p:cNvSpPr>
          <p:nvPr>
            <p:ph idx="18" hasCustomPrompt="1"/>
          </p:nvPr>
        </p:nvSpPr>
        <p:spPr>
          <a:xfrm>
            <a:off x="266400" y="5652000"/>
            <a:ext cx="11383200" cy="662400"/>
          </a:xfrm>
          <a:prstGeom prst="rect">
            <a:avLst/>
          </a:prstGeom>
        </p:spPr>
        <p:txBody>
          <a:bodyPr>
            <a:normAutofit/>
          </a:bodyPr>
          <a:lstStyle>
            <a:lvl1pPr marL="0" indent="0" algn="ctr">
              <a:buClr>
                <a:schemeClr val="accent6"/>
              </a:buClr>
              <a:buNone/>
              <a:defRPr sz="1800"/>
            </a:lvl1pPr>
            <a:lvl2pPr>
              <a:buClr>
                <a:schemeClr val="accent6"/>
              </a:buClr>
              <a:defRPr sz="1800"/>
            </a:lvl2pPr>
            <a:lvl3pPr>
              <a:buClr>
                <a:schemeClr val="accent6"/>
              </a:buClr>
              <a:defRPr sz="1600"/>
            </a:lvl3pPr>
            <a:lvl4pPr>
              <a:buClr>
                <a:schemeClr val="accent6"/>
              </a:buClr>
              <a:defRPr sz="1400"/>
            </a:lvl4pPr>
            <a:lvl5pPr>
              <a:buClr>
                <a:schemeClr val="accent6"/>
              </a:buClr>
              <a:defRPr sz="1200"/>
            </a:lvl5pPr>
          </a:lstStyle>
          <a:p>
            <a:pPr lvl="0"/>
            <a:r>
              <a:rPr lang="en-US" dirty="0" smtClean="0"/>
              <a:t>Click to add text</a:t>
            </a:r>
            <a:endParaRPr lang="en-US" dirty="0"/>
          </a:p>
        </p:txBody>
      </p:sp>
      <p:sp>
        <p:nvSpPr>
          <p:cNvPr id="8" name="Content Placeholder 4"/>
          <p:cNvSpPr>
            <a:spLocks noGrp="1"/>
          </p:cNvSpPr>
          <p:nvPr>
            <p:ph sz="half" idx="13" hasCustomPrompt="1"/>
          </p:nvPr>
        </p:nvSpPr>
        <p:spPr>
          <a:xfrm>
            <a:off x="266400" y="975600"/>
            <a:ext cx="3492000" cy="4622400"/>
          </a:xfrm>
          <a:prstGeom prst="rect">
            <a:avLst/>
          </a:prstGeom>
        </p:spPr>
        <p:txBody>
          <a:bodyPr>
            <a:noAutofit/>
          </a:bodyPr>
          <a:lstStyle>
            <a:lvl1pPr marL="342900" indent="-342900" algn="l">
              <a:buFont typeface="Arial" panose="020B0604020202020204" pitchFamily="34" charset="0"/>
              <a:buChar char="•"/>
              <a:defRPr sz="2200" b="0" baseline="0"/>
            </a:lvl1pPr>
            <a:lvl2pPr>
              <a:defRPr sz="1800"/>
            </a:lvl2pPr>
            <a:lvl3pPr>
              <a:defRPr sz="1600"/>
            </a:lvl3pPr>
            <a:lvl4pPr>
              <a:defRPr sz="1400"/>
            </a:lvl4pPr>
            <a:lvl5pPr>
              <a:defRPr sz="1200"/>
            </a:lvl5pPr>
            <a:lvl6pPr>
              <a:defRPr sz="1350"/>
            </a:lvl6pPr>
            <a:lvl7pPr>
              <a:defRPr sz="1350"/>
            </a:lvl7pPr>
            <a:lvl8pPr>
              <a:defRPr sz="1350"/>
            </a:lvl8pPr>
            <a:lvl9pPr>
              <a:defRPr sz="1350"/>
            </a:lvl9pPr>
          </a:lstStyle>
          <a:p>
            <a:pPr lvl="0"/>
            <a:r>
              <a:rPr lang="en-US" dirty="0" smtClean="0"/>
              <a:t>Click to add text</a:t>
            </a:r>
          </a:p>
        </p:txBody>
      </p:sp>
    </p:spTree>
    <p:extLst>
      <p:ext uri="{BB962C8B-B14F-4D97-AF65-F5344CB8AC3E}">
        <p14:creationId xmlns:p14="http://schemas.microsoft.com/office/powerpoint/2010/main" val="1510805496"/>
      </p:ext>
    </p:extLst>
  </p:cSld>
  <p:clrMapOvr>
    <a:masterClrMapping/>
  </p:clrMapOvr>
  <p:transition spd="slow">
    <p:wip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Four Pictures with Captions">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66400" y="1812756"/>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8" name="Picture Placeholder 2"/>
          <p:cNvSpPr>
            <a:spLocks noGrp="1"/>
          </p:cNvSpPr>
          <p:nvPr>
            <p:ph type="pic" idx="13"/>
          </p:nvPr>
        </p:nvSpPr>
        <p:spPr>
          <a:xfrm>
            <a:off x="6199278"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hasCustomPrompt="1"/>
          </p:nvPr>
        </p:nvSpPr>
        <p:spPr>
          <a:xfrm>
            <a:off x="2664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9" name="Text Placeholder 3"/>
          <p:cNvSpPr>
            <a:spLocks noGrp="1"/>
          </p:cNvSpPr>
          <p:nvPr>
            <p:ph type="body" sz="half" idx="14" hasCustomPrompt="1"/>
          </p:nvPr>
        </p:nvSpPr>
        <p:spPr>
          <a:xfrm>
            <a:off x="32328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7" name="Picture Placeholder 2"/>
          <p:cNvSpPr>
            <a:spLocks noGrp="1"/>
          </p:cNvSpPr>
          <p:nvPr>
            <p:ph type="pic" idx="15"/>
          </p:nvPr>
        </p:nvSpPr>
        <p:spPr>
          <a:xfrm>
            <a:off x="3232839" y="1812754"/>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0" name="Picture Placeholder 2"/>
          <p:cNvSpPr>
            <a:spLocks noGrp="1"/>
          </p:cNvSpPr>
          <p:nvPr>
            <p:ph type="pic" idx="16"/>
          </p:nvPr>
        </p:nvSpPr>
        <p:spPr>
          <a:xfrm>
            <a:off x="9124216" y="1812755"/>
            <a:ext cx="2533691" cy="2638927"/>
          </a:xfrm>
          <a:prstGeom prst="rect">
            <a:avLst/>
          </a:prstGeom>
        </p:spPr>
        <p:txBody>
          <a:bodyPr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12" name="Text Placeholder 3"/>
          <p:cNvSpPr>
            <a:spLocks noGrp="1"/>
          </p:cNvSpPr>
          <p:nvPr>
            <p:ph type="body" sz="half" idx="17" hasCustomPrompt="1"/>
          </p:nvPr>
        </p:nvSpPr>
        <p:spPr>
          <a:xfrm>
            <a:off x="6199200"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3" name="Text Placeholder 3"/>
          <p:cNvSpPr>
            <a:spLocks noGrp="1"/>
          </p:cNvSpPr>
          <p:nvPr>
            <p:ph type="body" sz="half" idx="18" hasCustomPrompt="1"/>
          </p:nvPr>
        </p:nvSpPr>
        <p:spPr>
          <a:xfrm>
            <a:off x="9124215" y="4592052"/>
            <a:ext cx="2533691" cy="930442"/>
          </a:xfrm>
          <a:prstGeom prst="rect">
            <a:avLst/>
          </a:prstGeom>
        </p:spPr>
        <p:txBody>
          <a:bodyPr>
            <a:normAutofit/>
          </a:bodyPr>
          <a:lstStyle>
            <a:lvl1pPr marL="0" indent="0">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add text</a:t>
            </a:r>
          </a:p>
        </p:txBody>
      </p:sp>
      <p:sp>
        <p:nvSpPr>
          <p:cNvPr id="1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dirty="0">
                <a:solidFill>
                  <a:schemeClr val="tx1"/>
                </a:solidFill>
                <a:latin typeface="+mj-lt"/>
                <a:ea typeface="+mj-ea"/>
                <a:cs typeface="+mj-cs"/>
              </a:defRPr>
            </a:lvl1pPr>
          </a:lstStyle>
          <a:p>
            <a:r>
              <a:rPr lang="en-US" dirty="0"/>
              <a:t>Click </a:t>
            </a:r>
            <a:r>
              <a:rPr lang="en-US" dirty="0" smtClean="0"/>
              <a:t>to add text</a:t>
            </a:r>
            <a:endParaRPr lang="en-US" dirty="0"/>
          </a:p>
        </p:txBody>
      </p:sp>
    </p:spTree>
    <p:extLst>
      <p:ext uri="{BB962C8B-B14F-4D97-AF65-F5344CB8AC3E}">
        <p14:creationId xmlns:p14="http://schemas.microsoft.com/office/powerpoint/2010/main" val="4237372478"/>
      </p:ext>
    </p:extLst>
  </p:cSld>
  <p:clrMapOvr>
    <a:masterClrMapping/>
  </p:clrMapOvr>
  <p:transition spd="slow">
    <p:wip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LI on White">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66400" y="273600"/>
            <a:ext cx="10835325" cy="748800"/>
          </a:xfrm>
          <a:prstGeom prst="rect">
            <a:avLst/>
          </a:prstGeom>
        </p:spPr>
        <p:txBody>
          <a:bodyPr>
            <a:normAutofit/>
          </a:bodyPr>
          <a:lstStyle>
            <a:lvl1pPr algn="l" defTabSz="914240" rtl="0" eaLnBrk="1" latinLnBrk="0" hangingPunct="1">
              <a:lnSpc>
                <a:spcPct val="94000"/>
              </a:lnSpc>
              <a:spcBef>
                <a:spcPct val="0"/>
              </a:spcBef>
              <a:buNone/>
              <a:defRPr lang="en-US" sz="3600" kern="1200" baseline="0" dirty="0">
                <a:solidFill>
                  <a:schemeClr val="tx1"/>
                </a:solidFill>
                <a:latin typeface="+mj-lt"/>
                <a:ea typeface="+mj-ea"/>
                <a:cs typeface="+mj-cs"/>
              </a:defRPr>
            </a:lvl1pPr>
          </a:lstStyle>
          <a:p>
            <a:r>
              <a:rPr lang="en-US" dirty="0" smtClean="0"/>
              <a:t>CLI on White</a:t>
            </a:r>
            <a:endParaRPr lang="en-US" dirty="0"/>
          </a:p>
        </p:txBody>
      </p:sp>
      <p:sp>
        <p:nvSpPr>
          <p:cNvPr id="5" name="Content Placeholder 2"/>
          <p:cNvSpPr>
            <a:spLocks noGrp="1"/>
          </p:cNvSpPr>
          <p:nvPr>
            <p:ph idx="1" hasCustomPrompt="1"/>
          </p:nvPr>
        </p:nvSpPr>
        <p:spPr>
          <a:xfrm>
            <a:off x="266400" y="975600"/>
            <a:ext cx="11394000" cy="5338800"/>
          </a:xfrm>
          <a:prstGeom prst="rect">
            <a:avLst/>
          </a:prstGeom>
        </p:spPr>
        <p:txBody>
          <a:bodyPr/>
          <a:lstStyle>
            <a:lvl1pPr marL="0" indent="0">
              <a:buClr>
                <a:schemeClr val="accent6"/>
              </a:buClr>
              <a:buNone/>
              <a:defRPr sz="1800">
                <a:solidFill>
                  <a:schemeClr val="tx1"/>
                </a:solidFill>
                <a:latin typeface="Courier New" panose="02070309020205020404" pitchFamily="49" charset="0"/>
                <a:cs typeface="Courier New" panose="02070309020205020404" pitchFamily="49" charset="0"/>
              </a:defRPr>
            </a:lvl1pPr>
            <a:lvl2pPr>
              <a:buClr>
                <a:schemeClr val="accent6"/>
              </a:buClr>
              <a:defRPr sz="2400">
                <a:solidFill>
                  <a:schemeClr val="bg1"/>
                </a:solidFill>
                <a:latin typeface="Courier New" panose="02070309020205020404" pitchFamily="49" charset="0"/>
                <a:cs typeface="Courier New" panose="02070309020205020404" pitchFamily="49" charset="0"/>
              </a:defRPr>
            </a:lvl2pPr>
            <a:lvl3pPr>
              <a:buClr>
                <a:schemeClr val="accent6"/>
              </a:buClr>
              <a:defRPr sz="2000">
                <a:solidFill>
                  <a:schemeClr val="bg1"/>
                </a:solidFill>
                <a:latin typeface="Courier New" panose="02070309020205020404" pitchFamily="49" charset="0"/>
                <a:cs typeface="Courier New" panose="02070309020205020404" pitchFamily="49" charset="0"/>
              </a:defRPr>
            </a:lvl3pPr>
            <a:lvl4pPr>
              <a:buClr>
                <a:schemeClr val="accent6"/>
              </a:buClr>
              <a:defRPr sz="1800">
                <a:solidFill>
                  <a:schemeClr val="bg1"/>
                </a:solidFill>
                <a:latin typeface="Courier New" panose="02070309020205020404" pitchFamily="49" charset="0"/>
                <a:cs typeface="Courier New" panose="02070309020205020404" pitchFamily="49" charset="0"/>
              </a:defRPr>
            </a:lvl4pPr>
            <a:lvl5pPr>
              <a:buClr>
                <a:schemeClr val="accent6"/>
              </a:buClr>
              <a:defRPr sz="1600">
                <a:solidFill>
                  <a:schemeClr val="bg1"/>
                </a:solidFill>
                <a:latin typeface="Courier New" panose="02070309020205020404" pitchFamily="49" charset="0"/>
                <a:cs typeface="Courier New" panose="02070309020205020404" pitchFamily="49" charset="0"/>
              </a:defRPr>
            </a:lvl5pPr>
          </a:lstStyle>
          <a:p>
            <a:pPr lvl="0"/>
            <a:r>
              <a:rPr lang="en-US" dirty="0" smtClean="0"/>
              <a:t># Click to add CLI text</a:t>
            </a:r>
          </a:p>
        </p:txBody>
      </p:sp>
    </p:spTree>
    <p:extLst>
      <p:ext uri="{BB962C8B-B14F-4D97-AF65-F5344CB8AC3E}">
        <p14:creationId xmlns:p14="http://schemas.microsoft.com/office/powerpoint/2010/main" val="410943413"/>
      </p:ext>
    </p:extLst>
  </p:cSld>
  <p:clrMapOvr>
    <a:masterClrMapping/>
  </p:clrMapOvr>
  <p:transition spd="slow">
    <p:wip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Knowledge_Check">
    <p:spTree>
      <p:nvGrpSpPr>
        <p:cNvPr id="1" name=""/>
        <p:cNvGrpSpPr/>
        <p:nvPr/>
      </p:nvGrpSpPr>
      <p:grpSpPr>
        <a:xfrm>
          <a:off x="0" y="0"/>
          <a:ext cx="0" cy="0"/>
          <a:chOff x="0" y="0"/>
          <a:chExt cx="0" cy="0"/>
        </a:xfrm>
      </p:grpSpPr>
      <p:sp>
        <p:nvSpPr>
          <p:cNvPr id="5" name="Content Placeholder 2"/>
          <p:cNvSpPr>
            <a:spLocks noGrp="1"/>
          </p:cNvSpPr>
          <p:nvPr>
            <p:ph idx="1" hasCustomPrompt="1"/>
          </p:nvPr>
        </p:nvSpPr>
        <p:spPr>
          <a:xfrm>
            <a:off x="266400" y="972000"/>
            <a:ext cx="11394000" cy="5335200"/>
          </a:xfrm>
          <a:prstGeom prst="rect">
            <a:avLst/>
          </a:prstGeom>
          <a:noFill/>
        </p:spPr>
        <p:txBody>
          <a:bodyPr/>
          <a:lstStyle>
            <a:lvl1pPr marL="685800" indent="-457200">
              <a:buClr>
                <a:schemeClr val="accent6"/>
              </a:buClr>
              <a:buFont typeface="+mj-lt"/>
              <a:buAutoNum type="arabicPeriod"/>
              <a:defRPr sz="2200" baseline="0"/>
            </a:lvl1pPr>
            <a:lvl2pPr marL="457200" indent="0">
              <a:buClr>
                <a:schemeClr val="accent6"/>
              </a:buClr>
              <a:buNone/>
              <a:defRPr sz="1800"/>
            </a:lvl2pPr>
            <a:lvl3pPr>
              <a:buClr>
                <a:schemeClr val="accent6"/>
              </a:buClr>
              <a:defRPr sz="1600"/>
            </a:lvl3pPr>
            <a:lvl4pPr>
              <a:buClr>
                <a:schemeClr val="accent6"/>
              </a:buClr>
              <a:defRPr sz="1400"/>
            </a:lvl4pPr>
            <a:lvl5pPr>
              <a:buClr>
                <a:schemeClr val="accent6"/>
              </a:buClr>
              <a:defRPr sz="1200"/>
            </a:lvl5pPr>
          </a:lstStyle>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r>
              <a:rPr lang="en-CA" dirty="0" smtClean="0"/>
              <a:t>&lt;Add question&gt;</a:t>
            </a:r>
          </a:p>
          <a:p>
            <a:pPr marL="800100" lvl="1" indent="-342900">
              <a:buFont typeface="+mj-lt"/>
              <a:buAutoNum type="alphaUcPeriod"/>
            </a:pPr>
            <a:r>
              <a:rPr lang="en-CA" dirty="0" smtClean="0"/>
              <a:t>&lt;Add answer&gt;</a:t>
            </a:r>
          </a:p>
          <a:p>
            <a:pPr marL="800100" lvl="1" indent="-342900">
              <a:buFont typeface="+mj-lt"/>
              <a:buAutoNum type="alphaUcPeriod"/>
            </a:pPr>
            <a:r>
              <a:rPr lang="en-CA" dirty="0" smtClean="0"/>
              <a:t>&lt;Add answer&gt;</a:t>
            </a:r>
          </a:p>
          <a:p>
            <a:pPr marL="800100" lvl="1" indent="-342900">
              <a:buFont typeface="+mj-lt"/>
              <a:buAutoNum type="alphaUcPeriod"/>
            </a:pPr>
            <a:endParaRPr lang="en-CA" dirty="0" smtClean="0"/>
          </a:p>
          <a:p>
            <a:pPr marL="571500" lvl="0" indent="-342900">
              <a:buFont typeface="+mj-lt"/>
              <a:buAutoNum type="alphaUcPeriod"/>
            </a:pPr>
            <a:endParaRPr lang="en-CA" dirty="0"/>
          </a:p>
        </p:txBody>
      </p:sp>
      <p:sp>
        <p:nvSpPr>
          <p:cNvPr id="6" name="TextBox 5"/>
          <p:cNvSpPr txBox="1"/>
          <p:nvPr/>
        </p:nvSpPr>
        <p:spPr>
          <a:xfrm>
            <a:off x="266400" y="273600"/>
            <a:ext cx="10803600" cy="748800"/>
          </a:xfrm>
          <a:prstGeom prst="rect">
            <a:avLst/>
          </a:prstGeom>
          <a:noFill/>
        </p:spPr>
        <p:txBody>
          <a:bodyPr wrap="square" rtlCol="0">
            <a:spAutoFit/>
          </a:bodyPr>
          <a:lstStyle/>
          <a:p>
            <a:r>
              <a:rPr lang="en-CA" sz="3600" b="0" dirty="0" smtClean="0">
                <a:solidFill>
                  <a:schemeClr val="tx1"/>
                </a:solidFill>
                <a:latin typeface="+mj-lt"/>
              </a:rPr>
              <a:t>Knowledge Check</a:t>
            </a:r>
            <a:endParaRPr lang="en-CA" sz="3600" b="0" dirty="0">
              <a:solidFill>
                <a:schemeClr val="tx1"/>
              </a:solidFill>
              <a:latin typeface="+mj-lt"/>
            </a:endParaRPr>
          </a:p>
        </p:txBody>
      </p:sp>
    </p:spTree>
    <p:extLst>
      <p:ext uri="{BB962C8B-B14F-4D97-AF65-F5344CB8AC3E}">
        <p14:creationId xmlns:p14="http://schemas.microsoft.com/office/powerpoint/2010/main" val="3883155585"/>
      </p:ext>
    </p:extLst>
  </p:cSld>
  <p:clrMapOvr>
    <a:masterClrMapping/>
  </p:clrMapOvr>
  <p:transition spd="slow">
    <p:wip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cSld name="Lesson_Progress">
    <p:bg>
      <p:bgPr>
        <a:solidFill>
          <a:srgbClr val="F0F0F0"/>
        </a:solidFill>
        <a:effectLst/>
      </p:bgPr>
    </p:bg>
    <p:spTree>
      <p:nvGrpSpPr>
        <p:cNvPr id="1" name=""/>
        <p:cNvGrpSpPr/>
        <p:nvPr/>
      </p:nvGrpSpPr>
      <p:grpSpPr>
        <a:xfrm>
          <a:off x="0" y="0"/>
          <a:ext cx="0" cy="0"/>
          <a:chOff x="0" y="0"/>
          <a:chExt cx="0" cy="0"/>
        </a:xfrm>
      </p:grpSpPr>
      <p:sp>
        <p:nvSpPr>
          <p:cNvPr id="5" name="TextBox 4"/>
          <p:cNvSpPr txBox="1"/>
          <p:nvPr/>
        </p:nvSpPr>
        <p:spPr>
          <a:xfrm>
            <a:off x="266400" y="273600"/>
            <a:ext cx="10836000" cy="748800"/>
          </a:xfrm>
          <a:prstGeom prst="rect">
            <a:avLst/>
          </a:prstGeom>
          <a:noFill/>
        </p:spPr>
        <p:txBody>
          <a:bodyPr wrap="square" rtlCol="0">
            <a:spAutoFit/>
          </a:bodyPr>
          <a:lstStyle/>
          <a:p>
            <a:r>
              <a:rPr lang="en-CA" sz="3600" b="0" dirty="0" smtClean="0">
                <a:solidFill>
                  <a:schemeClr val="tx1"/>
                </a:solidFill>
                <a:latin typeface="+mj-lt"/>
              </a:rPr>
              <a:t>Lesson Progress</a:t>
            </a:r>
            <a:endParaRPr lang="en-CA" sz="3600" b="0" dirty="0">
              <a:solidFill>
                <a:schemeClr val="tx1"/>
              </a:solidFill>
              <a:latin typeface="+mj-lt"/>
            </a:endParaRPr>
          </a:p>
        </p:txBody>
      </p:sp>
      <p:sp>
        <p:nvSpPr>
          <p:cNvPr id="9" name="SmartArt Placeholder 3"/>
          <p:cNvSpPr>
            <a:spLocks noGrp="1"/>
          </p:cNvSpPr>
          <p:nvPr>
            <p:ph type="dgm" sz="quarter" idx="10"/>
          </p:nvPr>
        </p:nvSpPr>
        <p:spPr>
          <a:xfrm>
            <a:off x="266400" y="1346400"/>
            <a:ext cx="11386800" cy="4708800"/>
          </a:xfrm>
          <a:prstGeom prst="rect">
            <a:avLst/>
          </a:prstGeom>
        </p:spPr>
        <p:txBody>
          <a:bodyPr/>
          <a:lstStyle/>
          <a:p>
            <a:r>
              <a:rPr lang="en-US" smtClean="0"/>
              <a:t>Click icon to add SmartArt graphic</a:t>
            </a:r>
            <a:endParaRPr lang="en-CA" dirty="0"/>
          </a:p>
        </p:txBody>
      </p:sp>
      <p:sp>
        <p:nvSpPr>
          <p:cNvPr id="6"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7" name="TextBox 6">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8" name="Picture 7">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1829264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cSld name="Review">
    <p:bg>
      <p:bgPr>
        <a:solidFill>
          <a:srgbClr val="F0F0F0"/>
        </a:solidFill>
        <a:effectLst/>
      </p:bgPr>
    </p:bg>
    <p:spTree>
      <p:nvGrpSpPr>
        <p:cNvPr id="1" name=""/>
        <p:cNvGrpSpPr/>
        <p:nvPr/>
      </p:nvGrpSpPr>
      <p:grpSpPr>
        <a:xfrm>
          <a:off x="0" y="0"/>
          <a:ext cx="0" cy="0"/>
          <a:chOff x="0" y="0"/>
          <a:chExt cx="0" cy="0"/>
        </a:xfrm>
      </p:grpSpPr>
      <p:sp>
        <p:nvSpPr>
          <p:cNvPr id="5" name="Text Placeholder 2"/>
          <p:cNvSpPr>
            <a:spLocks noGrp="1"/>
          </p:cNvSpPr>
          <p:nvPr>
            <p:ph type="body" idx="1" hasCustomPrompt="1"/>
          </p:nvPr>
        </p:nvSpPr>
        <p:spPr>
          <a:xfrm>
            <a:off x="266400" y="975600"/>
            <a:ext cx="11394000" cy="5338800"/>
          </a:xfrm>
          <a:prstGeom prst="rect">
            <a:avLst/>
          </a:prstGeom>
        </p:spPr>
        <p:txBody>
          <a:bodyPr anchor="t" anchorCtr="0"/>
          <a:lstStyle>
            <a:lvl1pPr marL="457200" indent="-457200" algn="l">
              <a:buClr>
                <a:srgbClr val="00B050"/>
              </a:buClr>
              <a:buFont typeface="Wingdings" panose="05000000000000000000" pitchFamily="2" charset="2"/>
              <a:buChar char="ü"/>
              <a:defRPr sz="2700" baseline="0">
                <a:solidFill>
                  <a:schemeClr val="tx1"/>
                </a:solidFill>
              </a:defRPr>
            </a:lvl1pPr>
            <a:lvl2pPr marL="457120" indent="0">
              <a:buNone/>
              <a:defRPr sz="1800">
                <a:solidFill>
                  <a:schemeClr val="tx1">
                    <a:tint val="75000"/>
                  </a:schemeClr>
                </a:solidFill>
              </a:defRPr>
            </a:lvl2pPr>
            <a:lvl3pPr marL="914240" indent="0">
              <a:buNone/>
              <a:defRPr sz="1600">
                <a:solidFill>
                  <a:schemeClr val="tx1">
                    <a:tint val="75000"/>
                  </a:schemeClr>
                </a:solidFill>
              </a:defRPr>
            </a:lvl3pPr>
            <a:lvl4pPr marL="1371360" indent="0">
              <a:buNone/>
              <a:defRPr sz="1400">
                <a:solidFill>
                  <a:schemeClr val="tx1">
                    <a:tint val="75000"/>
                  </a:schemeClr>
                </a:solidFill>
              </a:defRPr>
            </a:lvl4pPr>
            <a:lvl5pPr marL="1828480" indent="0">
              <a:buNone/>
              <a:defRPr sz="1400">
                <a:solidFill>
                  <a:schemeClr val="tx1">
                    <a:tint val="75000"/>
                  </a:schemeClr>
                </a:solidFill>
              </a:defRPr>
            </a:lvl5pPr>
            <a:lvl6pPr marL="2285600" indent="0">
              <a:buNone/>
              <a:defRPr sz="1400">
                <a:solidFill>
                  <a:schemeClr val="tx1">
                    <a:tint val="75000"/>
                  </a:schemeClr>
                </a:solidFill>
              </a:defRPr>
            </a:lvl6pPr>
            <a:lvl7pPr marL="2742720" indent="0">
              <a:buNone/>
              <a:defRPr sz="1400">
                <a:solidFill>
                  <a:schemeClr val="tx1">
                    <a:tint val="75000"/>
                  </a:schemeClr>
                </a:solidFill>
              </a:defRPr>
            </a:lvl7pPr>
            <a:lvl8pPr marL="3199840" indent="0">
              <a:buNone/>
              <a:defRPr sz="1400">
                <a:solidFill>
                  <a:schemeClr val="tx1">
                    <a:tint val="75000"/>
                  </a:schemeClr>
                </a:solidFill>
              </a:defRPr>
            </a:lvl8pPr>
            <a:lvl9pPr marL="3656960" indent="0">
              <a:buNone/>
              <a:defRPr sz="1400">
                <a:solidFill>
                  <a:schemeClr val="tx1">
                    <a:tint val="75000"/>
                  </a:schemeClr>
                </a:solidFill>
              </a:defRPr>
            </a:lvl9pPr>
          </a:lstStyle>
          <a:p>
            <a:pPr lvl="0"/>
            <a:r>
              <a:rPr lang="en-US" dirty="0" smtClean="0"/>
              <a:t>[text]</a:t>
            </a:r>
          </a:p>
        </p:txBody>
      </p:sp>
      <p:sp>
        <p:nvSpPr>
          <p:cNvPr id="6" name="TextBox 5"/>
          <p:cNvSpPr txBox="1"/>
          <p:nvPr/>
        </p:nvSpPr>
        <p:spPr>
          <a:xfrm>
            <a:off x="266400" y="273600"/>
            <a:ext cx="10836000" cy="646331"/>
          </a:xfrm>
          <a:prstGeom prst="rect">
            <a:avLst/>
          </a:prstGeom>
          <a:noFill/>
        </p:spPr>
        <p:txBody>
          <a:bodyPr wrap="square" rtlCol="0">
            <a:spAutoFit/>
          </a:bodyPr>
          <a:lstStyle/>
          <a:p>
            <a:r>
              <a:rPr lang="en-CA" sz="3600" b="0" dirty="0" smtClean="0">
                <a:solidFill>
                  <a:schemeClr val="tx1"/>
                </a:solidFill>
                <a:latin typeface="+mj-lt"/>
              </a:rPr>
              <a:t>Review</a:t>
            </a:r>
            <a:endParaRPr lang="en-CA" sz="3600" b="0" dirty="0">
              <a:solidFill>
                <a:schemeClr val="tx1"/>
              </a:solidFill>
              <a:latin typeface="+mj-lt"/>
            </a:endParaRPr>
          </a:p>
        </p:txBody>
      </p:sp>
      <p:sp>
        <p:nvSpPr>
          <p:cNvPr id="7"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8" name="TextBox 7">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9" name="Picture 8">
            <a:extLst>
              <a:ext uri="{FF2B5EF4-FFF2-40B4-BE49-F238E27FC236}">
                <a16:creationId xmlns:a16="http://schemas.microsoft.com/office/drawing/2014/main" id="{DAF13C7A-2ACA-3145-8E42-86979311783B}"/>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3884002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End Slid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3719" y="0"/>
            <a:ext cx="975106" cy="225084"/>
          </a:xfrm>
          <a:prstGeom prst="rect">
            <a:avLst/>
          </a:prstGeom>
        </p:spPr>
      </p:pic>
      <p:pic>
        <p:nvPicPr>
          <p:cNvPr id="7" name="Picture 6">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2182" y="3128211"/>
            <a:ext cx="3624462" cy="414848"/>
          </a:xfrm>
          <a:prstGeom prst="rect">
            <a:avLst/>
          </a:prstGeom>
        </p:spPr>
      </p:pic>
      <p:pic>
        <p:nvPicPr>
          <p:cNvPr id="5" name="Picture 4">
            <a:extLst>
              <a:ext uri="{FF2B5EF4-FFF2-40B4-BE49-F238E27FC236}">
                <a16:creationId xmlns:a16="http://schemas.microsoft.com/office/drawing/2014/main" id="{3A058618-904A-5947-B84B-84EBE4EE0442}"/>
              </a:ext>
            </a:extLst>
          </p:cNvPr>
          <p:cNvPicPr>
            <a:picLocks noChangeAspect="1"/>
          </p:cNvPicPr>
          <p:nvPr/>
        </p:nvPicPr>
        <p:blipFill>
          <a:blip r:embed="rId2"/>
          <a:stretch>
            <a:fillRect/>
          </a:stretch>
        </p:blipFill>
        <p:spPr>
          <a:xfrm flipH="1" flipV="1">
            <a:off x="11216640" y="1"/>
            <a:ext cx="975360" cy="225084"/>
          </a:xfrm>
          <a:prstGeom prst="rect">
            <a:avLst/>
          </a:prstGeom>
        </p:spPr>
      </p:pic>
      <p:pic>
        <p:nvPicPr>
          <p:cNvPr id="6" name="Picture 5">
            <a:extLst>
              <a:ext uri="{FF2B5EF4-FFF2-40B4-BE49-F238E27FC236}">
                <a16:creationId xmlns:a16="http://schemas.microsoft.com/office/drawing/2014/main" id="{6EA200D6-D23B-B741-BC58-4374DA39A737}"/>
              </a:ext>
            </a:extLst>
          </p:cNvPr>
          <p:cNvPicPr>
            <a:picLocks noChangeAspect="1"/>
          </p:cNvPicPr>
          <p:nvPr/>
        </p:nvPicPr>
        <p:blipFill>
          <a:blip r:embed="rId3"/>
          <a:stretch>
            <a:fillRect/>
          </a:stretch>
        </p:blipFill>
        <p:spPr>
          <a:xfrm>
            <a:off x="4283303" y="3128212"/>
            <a:ext cx="3625407" cy="414848"/>
          </a:xfrm>
          <a:prstGeom prst="rect">
            <a:avLst/>
          </a:prstGeom>
        </p:spPr>
      </p:pic>
    </p:spTree>
    <p:extLst>
      <p:ext uri="{BB962C8B-B14F-4D97-AF65-F5344CB8AC3E}">
        <p14:creationId xmlns:p14="http://schemas.microsoft.com/office/powerpoint/2010/main" val="2646031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4104">
          <p15:clr>
            <a:srgbClr val="FBAE40"/>
          </p15:clr>
        </p15:guide>
        <p15:guide id="2" pos="4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3719" y="0"/>
            <a:ext cx="975106" cy="225084"/>
          </a:xfrm>
          <a:prstGeom prst="rect">
            <a:avLst/>
          </a:prstGeom>
        </p:spPr>
      </p:pic>
      <p:sp>
        <p:nvSpPr>
          <p:cNvPr id="8" name="Rectangle 26">
            <a:extLst>
              <a:ext uri="{FF2B5EF4-FFF2-40B4-BE49-F238E27FC236}">
                <a16:creationId xmlns:a16="http://schemas.microsoft.com/office/drawing/2014/main" id="{B5346728-1A43-46F3-94F0-8646875C0BA6}"/>
              </a:ext>
            </a:extLst>
          </p:cNvPr>
          <p:cNvSpPr>
            <a:spLocks noChangeArrowheads="1"/>
          </p:cNvSpPr>
          <p:nvPr/>
        </p:nvSpPr>
        <p:spPr bwMode="black">
          <a:xfrm>
            <a:off x="11570077" y="6483142"/>
            <a:ext cx="372187" cy="276985"/>
          </a:xfrm>
          <a:prstGeom prst="rect">
            <a:avLst/>
          </a:prstGeom>
        </p:spPr>
        <p:txBody>
          <a:bodyPr/>
          <a:lstStyle/>
          <a:p>
            <a:pPr lvl="0" algn="r"/>
            <a:fld id="{5266C0E3-FCB2-4D10-9980-6DFC0D8FABCB}" type="slidenum">
              <a:rPr lang="en-US" sz="1100">
                <a:solidFill>
                  <a:srgbClr val="FF0000"/>
                </a:solidFill>
              </a:rPr>
              <a:pPr lvl="0" algn="r"/>
              <a:t>‹#›</a:t>
            </a:fld>
            <a:endParaRPr lang="en-US" sz="1100" dirty="0">
              <a:solidFill>
                <a:srgbClr val="FF0000"/>
              </a:solidFill>
            </a:endParaRPr>
          </a:p>
        </p:txBody>
      </p:sp>
      <p:sp>
        <p:nvSpPr>
          <p:cNvPr id="10" name="TextBox 9">
            <a:extLst>
              <a:ext uri="{FF2B5EF4-FFF2-40B4-BE49-F238E27FC236}">
                <a16:creationId xmlns:a16="http://schemas.microsoft.com/office/drawing/2014/main" id="{382FAB0E-0D04-4245-92D3-1C9E21FDA85E}"/>
              </a:ext>
            </a:extLst>
          </p:cNvPr>
          <p:cNvSpPr txBox="1"/>
          <p:nvPr/>
        </p:nvSpPr>
        <p:spPr>
          <a:xfrm>
            <a:off x="5059906" y="6513136"/>
            <a:ext cx="2180405" cy="230832"/>
          </a:xfrm>
          <a:prstGeom prst="rect">
            <a:avLst/>
          </a:prstGeom>
          <a:noFill/>
        </p:spPr>
        <p:txBody>
          <a:bodyPr wrap="none" rtlCol="0">
            <a:spAutoFit/>
          </a:bodyPr>
          <a:lstStyle/>
          <a:p>
            <a:pPr algn="l" defTabSz="257091">
              <a:lnSpc>
                <a:spcPct val="90000"/>
              </a:lnSpc>
              <a:spcBef>
                <a:spcPts val="169"/>
              </a:spcBef>
            </a:pPr>
            <a:r>
              <a:rPr lang="en-US" sz="1000" dirty="0">
                <a:solidFill>
                  <a:srgbClr val="000000"/>
                </a:solidFill>
                <a:latin typeface="+mj-lt"/>
                <a:ea typeface="Inter" panose="020B0502030000000004" pitchFamily="34" charset="0"/>
                <a:cs typeface="Arial" panose="020B0604020202020204" pitchFamily="34" charset="0"/>
              </a:rPr>
              <a:t>© Fortinet Inc. All Rights Reserved.</a:t>
            </a:r>
          </a:p>
        </p:txBody>
      </p:sp>
      <p:pic>
        <p:nvPicPr>
          <p:cNvPr id="11" name="Picture 10">
            <a:extLst>
              <a:ext uri="{FF2B5EF4-FFF2-40B4-BE49-F238E27FC236}">
                <a16:creationId xmlns:a16="http://schemas.microsoft.com/office/drawing/2014/main" id="{DAF13C7A-2ACA-3145-8E42-86979311783B}"/>
              </a:ext>
            </a:extLst>
          </p:cNvPr>
          <p:cNvPicPr>
            <a:picLocks noChangeAspect="1"/>
          </p:cNvPicPr>
          <p:nvPr/>
        </p:nvPicPr>
        <p:blipFill>
          <a:blip r:embed="rId31"/>
          <a:stretch>
            <a:fillRect/>
          </a:stretch>
        </p:blipFill>
        <p:spPr>
          <a:xfrm flipH="1" flipV="1">
            <a:off x="11216640" y="1"/>
            <a:ext cx="975360" cy="225084"/>
          </a:xfrm>
          <a:prstGeom prst="rect">
            <a:avLst/>
          </a:prstGeom>
        </p:spPr>
      </p:pic>
      <p:sp>
        <p:nvSpPr>
          <p:cNvPr id="13" name="Text Placeholder 11"/>
          <p:cNvSpPr>
            <a:spLocks noGrp="1"/>
          </p:cNvSpPr>
          <p:nvPr>
            <p:ph type="body" idx="1"/>
          </p:nvPr>
        </p:nvSpPr>
        <p:spPr>
          <a:xfrm>
            <a:off x="266400" y="972000"/>
            <a:ext cx="11394000" cy="5335200"/>
          </a:xfrm>
          <a:prstGeom prst="rect">
            <a:avLst/>
          </a:prstGeom>
        </p:spPr>
        <p:txBody>
          <a:bodyPr vert="horz" lIns="91440" tIns="45720" rIns="91440" bIns="45720" rtlCol="0">
            <a:norm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pic>
        <p:nvPicPr>
          <p:cNvPr id="9" name="Picture 8"/>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266400" y="6401687"/>
            <a:ext cx="1409595" cy="419180"/>
          </a:xfrm>
          <a:prstGeom prst="rect">
            <a:avLst/>
          </a:prstGeom>
        </p:spPr>
      </p:pic>
    </p:spTree>
    <p:extLst>
      <p:ext uri="{BB962C8B-B14F-4D97-AF65-F5344CB8AC3E}">
        <p14:creationId xmlns:p14="http://schemas.microsoft.com/office/powerpoint/2010/main" val="4003234351"/>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 id="2147483845" r:id="rId14"/>
    <p:sldLayoutId id="2147483846" r:id="rId15"/>
    <p:sldLayoutId id="2147483847" r:id="rId16"/>
    <p:sldLayoutId id="2147483848" r:id="rId17"/>
    <p:sldLayoutId id="2147483849" r:id="rId18"/>
    <p:sldLayoutId id="2147483850" r:id="rId19"/>
    <p:sldLayoutId id="2147483851" r:id="rId20"/>
    <p:sldLayoutId id="2147483852" r:id="rId21"/>
    <p:sldLayoutId id="2147483853" r:id="rId22"/>
    <p:sldLayoutId id="2147483854" r:id="rId23"/>
    <p:sldLayoutId id="2147483855" r:id="rId24"/>
    <p:sldLayoutId id="2147483856" r:id="rId25"/>
    <p:sldLayoutId id="2147483857" r:id="rId26"/>
    <p:sldLayoutId id="2147483858" r:id="rId27"/>
    <p:sldLayoutId id="2147483859" r:id="rId28"/>
    <p:sldLayoutId id="2147483860"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Clr>
          <a:srgbClr val="FF0000"/>
        </a:buClr>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Clr>
          <a:srgbClr val="FF0000"/>
        </a:buClr>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Clr>
          <a:srgbClr val="FF0000"/>
        </a:buClr>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Clr>
          <a:srgbClr val="FF0000"/>
        </a:buClr>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pos="216">
          <p15:clr>
            <a:srgbClr val="5ACBF0"/>
          </p15:clr>
        </p15:guide>
        <p15:guide id="4" pos="7464">
          <p15:clr>
            <a:srgbClr val="5ACBF0"/>
          </p15:clr>
        </p15:guide>
        <p15:guide id="37" pos="3840" userDrawn="1">
          <p15:clr>
            <a:srgbClr val="5ACBF0"/>
          </p15:clr>
        </p15:guide>
        <p15:guide id="38" orient="horz" pos="2160" userDrawn="1">
          <p15:clr>
            <a:srgbClr val="5ACBF0"/>
          </p15:clr>
        </p15:guide>
        <p15:guide id="39" pos="456" userDrawn="1">
          <p15:clr>
            <a:srgbClr val="5ACBF0"/>
          </p15:clr>
        </p15:guide>
        <p15:guide id="40" pos="7224" userDrawn="1">
          <p15:clr>
            <a:srgbClr val="5ACBF0"/>
          </p15:clr>
        </p15:guide>
        <p15:guide id="41" orient="horz" pos="840" userDrawn="1">
          <p15:clr>
            <a:srgbClr val="5ACBF0"/>
          </p15:clr>
        </p15:guide>
        <p15:guide id="42" orient="horz" pos="1864" userDrawn="1">
          <p15:clr>
            <a:srgbClr val="5ACBF0"/>
          </p15:clr>
        </p15:guide>
        <p15:guide id="43" orient="horz" pos="2886" userDrawn="1">
          <p15:clr>
            <a:srgbClr val="5ACBF0"/>
          </p15:clr>
        </p15:guide>
        <p15:guide id="44" orient="horz" pos="3893" userDrawn="1">
          <p15:clr>
            <a:srgbClr val="5ACBF0"/>
          </p15:clr>
        </p15:guide>
        <p15:guide id="45" pos="1498" userDrawn="1">
          <p15:clr>
            <a:srgbClr val="5ACBF0"/>
          </p15:clr>
        </p15:guide>
        <p15:guide id="46" pos="1600" userDrawn="1">
          <p15:clr>
            <a:srgbClr val="5ACBF0"/>
          </p15:clr>
        </p15:guide>
        <p15:guide id="47" pos="2644" userDrawn="1">
          <p15:clr>
            <a:srgbClr val="5ACBF0"/>
          </p15:clr>
        </p15:guide>
        <p15:guide id="48" pos="2747" userDrawn="1">
          <p15:clr>
            <a:srgbClr val="5ACBF0"/>
          </p15:clr>
        </p15:guide>
        <p15:guide id="49" pos="3792" userDrawn="1">
          <p15:clr>
            <a:srgbClr val="5ACBF0"/>
          </p15:clr>
        </p15:guide>
        <p15:guide id="50" pos="3888" userDrawn="1">
          <p15:clr>
            <a:srgbClr val="5ACBF0"/>
          </p15:clr>
        </p15:guide>
        <p15:guide id="51" pos="4934" userDrawn="1">
          <p15:clr>
            <a:srgbClr val="5ACBF0"/>
          </p15:clr>
        </p15:guide>
        <p15:guide id="52" pos="5034" userDrawn="1">
          <p15:clr>
            <a:srgbClr val="5ACBF0"/>
          </p15:clr>
        </p15:guide>
        <p15:guide id="53" pos="6081" userDrawn="1">
          <p15:clr>
            <a:srgbClr val="5ACBF0"/>
          </p15:clr>
        </p15:guide>
        <p15:guide id="54" pos="6183"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10.xml"/><Relationship Id="rId1" Type="http://schemas.openxmlformats.org/officeDocument/2006/relationships/tags" Target="../tags/tag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26.png"/><Relationship Id="rId2" Type="http://schemas.openxmlformats.org/officeDocument/2006/relationships/slideLayout" Target="../slideLayouts/slideLayout15.xml"/><Relationship Id="rId1" Type="http://schemas.openxmlformats.org/officeDocument/2006/relationships/tags" Target="../tags/tag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6.xml"/><Relationship Id="rId5" Type="http://schemas.openxmlformats.org/officeDocument/2006/relationships/image" Target="../media/image28.png"/><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32.png"/><Relationship Id="rId2" Type="http://schemas.openxmlformats.org/officeDocument/2006/relationships/slideLayout" Target="../slideLayouts/slideLayout15.xml"/><Relationship Id="rId1" Type="http://schemas.openxmlformats.org/officeDocument/2006/relationships/tags" Target="../tags/tag7.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7.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notesSlide" Target="../notesSlides/notesSlide7.xml"/><Relationship Id="rId7" Type="http://schemas.openxmlformats.org/officeDocument/2006/relationships/image" Target="../media/image32.png"/><Relationship Id="rId2" Type="http://schemas.openxmlformats.org/officeDocument/2006/relationships/slideLayout" Target="../slideLayouts/slideLayout15.xml"/><Relationship Id="rId1" Type="http://schemas.openxmlformats.org/officeDocument/2006/relationships/tags" Target="../tags/tag8.xml"/><Relationship Id="rId6" Type="http://schemas.openxmlformats.org/officeDocument/2006/relationships/image" Target="../media/image34.png"/><Relationship Id="rId5" Type="http://schemas.openxmlformats.org/officeDocument/2006/relationships/image" Target="../media/image29.png"/><Relationship Id="rId10" Type="http://schemas.openxmlformats.org/officeDocument/2006/relationships/image" Target="../media/image37.png"/><Relationship Id="rId4" Type="http://schemas.openxmlformats.org/officeDocument/2006/relationships/image" Target="../media/image33.png"/><Relationship Id="rId9" Type="http://schemas.openxmlformats.org/officeDocument/2006/relationships/image" Target="../media/image36.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5.xml"/><Relationship Id="rId1" Type="http://schemas.openxmlformats.org/officeDocument/2006/relationships/tags" Target="../tags/tag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hyperlink" Target="https://fortiguard.com/" TargetMode="Externa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5.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6.xml"/><Relationship Id="rId1" Type="http://schemas.openxmlformats.org/officeDocument/2006/relationships/tags" Target="../tags/tag11.xml"/><Relationship Id="rId4" Type="http://schemas.openxmlformats.org/officeDocument/2006/relationships/image" Target="../media/image42.png"/></Relationships>
</file>

<file path=ppt/slides/_rels/slide12.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12.xml"/><Relationship Id="rId7" Type="http://schemas.openxmlformats.org/officeDocument/2006/relationships/diagramColors" Target="../diagrams/colors2.xml"/><Relationship Id="rId2" Type="http://schemas.openxmlformats.org/officeDocument/2006/relationships/slideLayout" Target="../slideLayouts/slideLayout27.xml"/><Relationship Id="rId1" Type="http://schemas.openxmlformats.org/officeDocument/2006/relationships/tags" Target="../tags/tag1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 Id="rId9" Type="http://schemas.openxmlformats.org/officeDocument/2006/relationships/image" Target="../media/image4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5.xml"/><Relationship Id="rId1" Type="http://schemas.openxmlformats.org/officeDocument/2006/relationships/tags" Target="../tags/tag1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5.xml"/><Relationship Id="rId1" Type="http://schemas.openxmlformats.org/officeDocument/2006/relationships/tags" Target="../tags/tag15.xml"/><Relationship Id="rId4" Type="http://schemas.openxmlformats.org/officeDocument/2006/relationships/image" Target="../media/image4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5.xml"/><Relationship Id="rId1" Type="http://schemas.openxmlformats.org/officeDocument/2006/relationships/tags" Target="../tags/tag16.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5.xml"/><Relationship Id="rId1" Type="http://schemas.openxmlformats.org/officeDocument/2006/relationships/tags" Target="../tags/tag17.xml"/><Relationship Id="rId5" Type="http://schemas.openxmlformats.org/officeDocument/2006/relationships/image" Target="../media/image46.png"/><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tags" Target="../tags/tag18.xml"/><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6.xml"/><Relationship Id="rId1" Type="http://schemas.openxmlformats.org/officeDocument/2006/relationships/tags" Target="../tags/tag19.xml"/><Relationship Id="rId4" Type="http://schemas.openxmlformats.org/officeDocument/2006/relationships/image" Target="../media/image4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6.xml"/><Relationship Id="rId1" Type="http://schemas.openxmlformats.org/officeDocument/2006/relationships/tags" Target="../tags/tag20.xml"/><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5.xml"/><Relationship Id="rId1" Type="http://schemas.openxmlformats.org/officeDocument/2006/relationships/tags" Target="../tags/tag21.xml"/><Relationship Id="rId4" Type="http://schemas.openxmlformats.org/officeDocument/2006/relationships/image" Target="../media/image50.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5.xml"/><Relationship Id="rId1" Type="http://schemas.openxmlformats.org/officeDocument/2006/relationships/tags" Target="../tags/tag22.xml"/><Relationship Id="rId5" Type="http://schemas.openxmlformats.org/officeDocument/2006/relationships/image" Target="../media/image5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8.xml"/><Relationship Id="rId1" Type="http://schemas.openxmlformats.org/officeDocument/2006/relationships/tags" Target="../tags/tag23.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5.xml"/><Relationship Id="rId1" Type="http://schemas.openxmlformats.org/officeDocument/2006/relationships/tags" Target="../tags/tag24.xml"/><Relationship Id="rId5" Type="http://schemas.openxmlformats.org/officeDocument/2006/relationships/image" Target="../media/image55.png"/><Relationship Id="rId4" Type="http://schemas.openxmlformats.org/officeDocument/2006/relationships/image" Target="../media/image54.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tags" Target="../tags/tag25.xml"/><Relationship Id="rId4" Type="http://schemas.openxmlformats.org/officeDocument/2006/relationships/image" Target="../media/image5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5.xml"/><Relationship Id="rId1" Type="http://schemas.openxmlformats.org/officeDocument/2006/relationships/tags" Target="../tags/tag26.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5.xml"/><Relationship Id="rId1" Type="http://schemas.openxmlformats.org/officeDocument/2006/relationships/tags" Target="../tags/tag2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5.xml"/><Relationship Id="rId1" Type="http://schemas.openxmlformats.org/officeDocument/2006/relationships/tags" Target="../tags/tag28.xml"/><Relationship Id="rId5" Type="http://schemas.openxmlformats.org/officeDocument/2006/relationships/image" Target="../media/image55.png"/><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5.xml"/><Relationship Id="rId1" Type="http://schemas.openxmlformats.org/officeDocument/2006/relationships/tags" Target="../tags/tag29.xml"/><Relationship Id="rId4" Type="http://schemas.openxmlformats.org/officeDocument/2006/relationships/image" Target="../media/image6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5.xml"/><Relationship Id="rId1" Type="http://schemas.openxmlformats.org/officeDocument/2006/relationships/tags" Target="../tags/tag30.xml"/><Relationship Id="rId5" Type="http://schemas.openxmlformats.org/officeDocument/2006/relationships/image" Target="../media/image62.png"/><Relationship Id="rId4" Type="http://schemas.openxmlformats.org/officeDocument/2006/relationships/hyperlink" Target="https://www.youtube.com/watch?v=eO2vyJDoP3M"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8.xml"/><Relationship Id="rId1" Type="http://schemas.openxmlformats.org/officeDocument/2006/relationships/tags" Target="../tags/tag31.xml"/><Relationship Id="rId4" Type="http://schemas.openxmlformats.org/officeDocument/2006/relationships/image" Target="../media/image63.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6.xml"/><Relationship Id="rId1" Type="http://schemas.openxmlformats.org/officeDocument/2006/relationships/tags" Target="../tags/tag32.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33.xml"/><Relationship Id="rId7" Type="http://schemas.openxmlformats.org/officeDocument/2006/relationships/diagramColors" Target="../diagrams/colors3.xml"/><Relationship Id="rId2" Type="http://schemas.openxmlformats.org/officeDocument/2006/relationships/slideLayout" Target="../slideLayouts/slideLayout27.xml"/><Relationship Id="rId1" Type="http://schemas.openxmlformats.org/officeDocument/2006/relationships/tags" Target="../tags/tag3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xml"/><Relationship Id="rId1" Type="http://schemas.openxmlformats.org/officeDocument/2006/relationships/tags" Target="../tags/tag34.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5.xml"/><Relationship Id="rId1" Type="http://schemas.openxmlformats.org/officeDocument/2006/relationships/tags" Target="../tags/tag35.xml"/><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5.xml"/><Relationship Id="rId1" Type="http://schemas.openxmlformats.org/officeDocument/2006/relationships/tags" Target="../tags/tag36.xml"/><Relationship Id="rId5" Type="http://schemas.openxmlformats.org/officeDocument/2006/relationships/image" Target="../media/image65.png"/><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5.xml"/><Relationship Id="rId1" Type="http://schemas.openxmlformats.org/officeDocument/2006/relationships/tags" Target="../tags/tag37.xml"/><Relationship Id="rId4" Type="http://schemas.openxmlformats.org/officeDocument/2006/relationships/image" Target="../media/image6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6.xml"/><Relationship Id="rId1" Type="http://schemas.openxmlformats.org/officeDocument/2006/relationships/tags" Target="../tags/tag38.xml"/><Relationship Id="rId4" Type="http://schemas.openxmlformats.org/officeDocument/2006/relationships/image" Target="../media/image42.png"/></Relationships>
</file>

<file path=ppt/slides/_rels/slide3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notesSlide" Target="../notesSlides/notesSlide39.xml"/><Relationship Id="rId7" Type="http://schemas.openxmlformats.org/officeDocument/2006/relationships/diagramColors" Target="../diagrams/colors4.xml"/><Relationship Id="rId2" Type="http://schemas.openxmlformats.org/officeDocument/2006/relationships/slideLayout" Target="../slideLayouts/slideLayout27.xml"/><Relationship Id="rId1" Type="http://schemas.openxmlformats.org/officeDocument/2006/relationships/tags" Target="../tags/tag3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image" Target="../media/image42.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xml"/><Relationship Id="rId1" Type="http://schemas.openxmlformats.org/officeDocument/2006/relationships/tags" Target="../tags/tag40.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5.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5.xml"/><Relationship Id="rId1" Type="http://schemas.openxmlformats.org/officeDocument/2006/relationships/tags" Target="../tags/tag42.xml"/><Relationship Id="rId4" Type="http://schemas.openxmlformats.org/officeDocument/2006/relationships/image" Target="../media/image67.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6.xml"/><Relationship Id="rId1" Type="http://schemas.openxmlformats.org/officeDocument/2006/relationships/tags" Target="../tags/tag43.xml"/><Relationship Id="rId4" Type="http://schemas.openxmlformats.org/officeDocument/2006/relationships/image" Target="../media/image42.png"/></Relationships>
</file>

<file path=ppt/slides/_rels/slide4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notesSlide" Target="../notesSlides/notesSlide44.xml"/><Relationship Id="rId7" Type="http://schemas.openxmlformats.org/officeDocument/2006/relationships/diagramColors" Target="../diagrams/colors5.xml"/><Relationship Id="rId2" Type="http://schemas.openxmlformats.org/officeDocument/2006/relationships/slideLayout" Target="../slideLayouts/slideLayout27.xml"/><Relationship Id="rId1" Type="http://schemas.openxmlformats.org/officeDocument/2006/relationships/tags" Target="../tags/tag44.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 Id="rId9" Type="http://schemas.openxmlformats.org/officeDocument/2006/relationships/image" Target="../media/image4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8.xml"/><Relationship Id="rId1" Type="http://schemas.openxmlformats.org/officeDocument/2006/relationships/tags" Target="../tags/tag4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p:txBody>
          <a:bodyPr/>
          <a:lstStyle/>
          <a:p>
            <a:r>
              <a:rPr lang="en-CA" dirty="0"/>
              <a:t>Application Control</a:t>
            </a:r>
          </a:p>
        </p:txBody>
      </p:sp>
      <p:sp>
        <p:nvSpPr>
          <p:cNvPr id="4" name="Title 3"/>
          <p:cNvSpPr>
            <a:spLocks noGrp="1"/>
          </p:cNvSpPr>
          <p:nvPr>
            <p:ph type="ctrTitle"/>
          </p:nvPr>
        </p:nvSpPr>
        <p:spPr/>
        <p:txBody>
          <a:bodyPr/>
          <a:lstStyle/>
          <a:p>
            <a:r>
              <a:rPr lang="en-CA" dirty="0"/>
              <a:t>FortiGate Security </a:t>
            </a:r>
          </a:p>
        </p:txBody>
      </p:sp>
      <p:sp>
        <p:nvSpPr>
          <p:cNvPr id="6" name="Text Placeholder 5"/>
          <p:cNvSpPr>
            <a:spLocks noGrp="1"/>
          </p:cNvSpPr>
          <p:nvPr>
            <p:ph type="body" sz="quarter" idx="10"/>
          </p:nvPr>
        </p:nvSpPr>
        <p:spPr/>
        <p:txBody>
          <a:bodyPr>
            <a:normAutofit/>
          </a:bodyPr>
          <a:lstStyle/>
          <a:p>
            <a:r>
              <a:rPr lang="en-CA" dirty="0" err="1"/>
              <a:t>FortiOS</a:t>
            </a:r>
            <a:r>
              <a:rPr lang="en-CA" dirty="0"/>
              <a:t> </a:t>
            </a:r>
            <a:r>
              <a:rPr lang="en-CA" dirty="0" smtClean="0"/>
              <a:t>7.2</a:t>
            </a:r>
            <a:endParaRPr lang="en-CA" dirty="0"/>
          </a:p>
        </p:txBody>
      </p:sp>
    </p:spTree>
    <p:custDataLst>
      <p:tags r:id="rId1"/>
    </p:custDataLst>
    <p:extLst>
      <p:ext uri="{BB962C8B-B14F-4D97-AF65-F5344CB8AC3E}">
        <p14:creationId xmlns:p14="http://schemas.microsoft.com/office/powerpoint/2010/main" val="663245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2"/>
          <p:cNvGraphicFramePr>
            <a:graphicFrameLocks noGrp="1"/>
          </p:cNvGraphicFramePr>
          <p:nvPr>
            <p:ph type="dgm" sz="quarter" idx="10"/>
            <p:extLst>
              <p:ext uri="{D42A27DB-BD31-4B8C-83A1-F6EECF244321}">
                <p14:modId xmlns:p14="http://schemas.microsoft.com/office/powerpoint/2010/main" val="1487109861"/>
              </p:ext>
            </p:extLst>
          </p:nvPr>
        </p:nvGraphicFramePr>
        <p:xfrm>
          <a:off x="273050" y="1347788"/>
          <a:ext cx="11387138" cy="49672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393327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Application Control Basics</a:t>
            </a:r>
          </a:p>
        </p:txBody>
      </p:sp>
      <p:sp>
        <p:nvSpPr>
          <p:cNvPr id="3" name="Text Placeholder 2"/>
          <p:cNvSpPr>
            <a:spLocks noGrp="1"/>
          </p:cNvSpPr>
          <p:nvPr>
            <p:ph type="body" sz="quarter" idx="11"/>
          </p:nvPr>
        </p:nvSpPr>
        <p:spPr/>
        <p:txBody>
          <a:bodyPr/>
          <a:lstStyle/>
          <a:p>
            <a:r>
              <a:rPr lang="en-CA" dirty="0"/>
              <a:t>Understand application control</a:t>
            </a:r>
          </a:p>
          <a:p>
            <a:r>
              <a:rPr lang="en-CA" dirty="0"/>
              <a:t>Detect types of applications</a:t>
            </a:r>
          </a:p>
          <a:p>
            <a:r>
              <a:rPr lang="en-CA" dirty="0"/>
              <a:t>Understand the FortiGuard application control services database</a:t>
            </a:r>
          </a:p>
          <a:p>
            <a:r>
              <a:rPr lang="en-CA" dirty="0"/>
              <a:t>Use application control signatures</a:t>
            </a:r>
          </a:p>
          <a:p>
            <a:endParaRPr lang="en-CA" dirty="0"/>
          </a:p>
          <a:p>
            <a:endParaRPr lang="en-CA" dirty="0"/>
          </a:p>
          <a:p>
            <a:endParaRPr lang="en-CA" dirty="0"/>
          </a:p>
        </p:txBody>
      </p:sp>
    </p:spTree>
    <p:custDataLst>
      <p:tags r:id="rId1"/>
    </p:custDataLst>
    <p:extLst>
      <p:ext uri="{BB962C8B-B14F-4D97-AF65-F5344CB8AC3E}">
        <p14:creationId xmlns:p14="http://schemas.microsoft.com/office/powerpoint/2010/main" val="141198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What </a:t>
            </a:r>
            <a:r>
              <a:rPr lang="en-CA" dirty="0" smtClean="0"/>
              <a:t>Is </a:t>
            </a:r>
            <a:r>
              <a:rPr lang="en-CA" dirty="0"/>
              <a:t>Application Control and How Does It Work? </a:t>
            </a:r>
          </a:p>
        </p:txBody>
      </p:sp>
      <p:sp>
        <p:nvSpPr>
          <p:cNvPr id="3" name="Content Placeholder 2"/>
          <p:cNvSpPr>
            <a:spLocks noGrp="1"/>
          </p:cNvSpPr>
          <p:nvPr>
            <p:ph idx="1"/>
          </p:nvPr>
        </p:nvSpPr>
        <p:spPr/>
        <p:txBody>
          <a:bodyPr/>
          <a:lstStyle/>
          <a:p>
            <a:r>
              <a:rPr lang="en-US" dirty="0">
                <a:solidFill>
                  <a:srgbClr val="000000"/>
                </a:solidFill>
              </a:rPr>
              <a:t>Detects and acts on network application traffic</a:t>
            </a:r>
          </a:p>
          <a:p>
            <a:pPr lvl="1"/>
            <a:r>
              <a:rPr lang="en-US" dirty="0"/>
              <a:t>Such as Facebook, Skype, Gmail, LogMeIn, and so on</a:t>
            </a:r>
          </a:p>
          <a:p>
            <a:pPr lvl="1"/>
            <a:r>
              <a:rPr lang="en-US" dirty="0"/>
              <a:t>Supports many applications and categories, including P2P and proxy</a:t>
            </a:r>
          </a:p>
          <a:p>
            <a:pPr lvl="1"/>
            <a:r>
              <a:rPr lang="en-US" dirty="0"/>
              <a:t>Can scan secure protocols</a:t>
            </a:r>
          </a:p>
          <a:p>
            <a:pPr lvl="2"/>
            <a:r>
              <a:rPr lang="en-US" dirty="0"/>
              <a:t>Requires SSL/SSH inspection profile in the firewall policy</a:t>
            </a:r>
          </a:p>
          <a:p>
            <a:pPr marL="374585" lvl="1" indent="0">
              <a:buNone/>
            </a:pPr>
            <a:endParaRPr lang="en-CA" dirty="0"/>
          </a:p>
          <a:p>
            <a:r>
              <a:rPr lang="en-CA" dirty="0"/>
              <a:t>How does it work?</a:t>
            </a:r>
          </a:p>
          <a:p>
            <a:pPr lvl="1"/>
            <a:r>
              <a:rPr lang="en-US" dirty="0"/>
              <a:t>Uses the IPS engine</a:t>
            </a:r>
          </a:p>
          <a:p>
            <a:pPr lvl="1"/>
            <a:r>
              <a:rPr lang="en-US" dirty="0"/>
              <a:t>Uses flow-based scan (not proxy-based)</a:t>
            </a:r>
          </a:p>
          <a:p>
            <a:pPr lvl="1"/>
            <a:r>
              <a:rPr lang="en-US" dirty="0"/>
              <a:t>Compares traffic to known application patterns</a:t>
            </a:r>
          </a:p>
          <a:p>
            <a:pPr lvl="2"/>
            <a:r>
              <a:rPr lang="en-US" dirty="0"/>
              <a:t>Only reports packets that match an enabled pattern</a:t>
            </a:r>
          </a:p>
          <a:p>
            <a:pPr lvl="2"/>
            <a:r>
              <a:rPr lang="en-US" dirty="0"/>
              <a:t>Can detect even if users try to circumvent through an external proxy</a:t>
            </a:r>
          </a:p>
          <a:p>
            <a:endParaRPr lang="en-CA" dirty="0"/>
          </a:p>
        </p:txBody>
      </p:sp>
      <p:grpSp>
        <p:nvGrpSpPr>
          <p:cNvPr id="5" name="Group 4"/>
          <p:cNvGrpSpPr/>
          <p:nvPr/>
        </p:nvGrpSpPr>
        <p:grpSpPr>
          <a:xfrm>
            <a:off x="8927361" y="1592849"/>
            <a:ext cx="1485906" cy="3471130"/>
            <a:chOff x="7238751" y="2109802"/>
            <a:chExt cx="986547" cy="2178826"/>
          </a:xfrm>
        </p:grpSpPr>
        <p:pic>
          <p:nvPicPr>
            <p:cNvPr id="6" name="Picture 2" descr="C:\Users\Saurabh\Desktop\Project\DevelopmentResources\Network Icons\SocialMedia.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8751" y="2109802"/>
              <a:ext cx="974526" cy="97452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3" descr="C:\Users\Saurabh\Desktop\Project\DevelopmentResources\Network Icons\vimeo.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7513" y="3233475"/>
              <a:ext cx="458601" cy="4586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96235" y="3133065"/>
              <a:ext cx="529063" cy="396797"/>
            </a:xfrm>
            <a:prstGeom prst="rect">
              <a:avLst/>
            </a:prstGeom>
          </p:spPr>
        </p:pic>
        <p:pic>
          <p:nvPicPr>
            <p:cNvPr id="9" name="Picture 6" descr="gmai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2030" y="3843075"/>
              <a:ext cx="594069" cy="445553"/>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214010695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Detecting Peer-to-Peer Applications</a:t>
            </a:r>
          </a:p>
        </p:txBody>
      </p:sp>
      <p:sp>
        <p:nvSpPr>
          <p:cNvPr id="3" name="Content Placeholder 2"/>
          <p:cNvSpPr>
            <a:spLocks noGrp="1"/>
          </p:cNvSpPr>
          <p:nvPr>
            <p:ph idx="1"/>
          </p:nvPr>
        </p:nvSpPr>
        <p:spPr/>
        <p:txBody>
          <a:bodyPr/>
          <a:lstStyle/>
          <a:p>
            <a:r>
              <a:rPr lang="en-US" dirty="0"/>
              <a:t>Why is peer-to-peer (P2P) traffic so difficult to detect?</a:t>
            </a:r>
          </a:p>
          <a:p>
            <a:pPr lvl="1"/>
            <a:r>
              <a:rPr lang="en-US" dirty="0"/>
              <a:t>Traditional protocols (HTTP, FTP) have a client-server architecture</a:t>
            </a:r>
          </a:p>
          <a:p>
            <a:pPr lvl="2"/>
            <a:r>
              <a:rPr lang="en-US" dirty="0"/>
              <a:t>It uses a single server with large bandwidth for many clients</a:t>
            </a:r>
          </a:p>
          <a:p>
            <a:pPr lvl="2"/>
            <a:r>
              <a:rPr lang="en-US" dirty="0"/>
              <a:t>It requires predictable port numbers, NAT/PAT, and firewall policies</a:t>
            </a:r>
          </a:p>
          <a:p>
            <a:pPr lvl="1"/>
            <a:r>
              <a:rPr lang="en-US" dirty="0"/>
              <a:t>Peer-to-peer protocols (BitTorrent, Skype) have a distributed architecture</a:t>
            </a:r>
          </a:p>
          <a:p>
            <a:pPr lvl="2"/>
            <a:r>
              <a:rPr lang="en-US" dirty="0"/>
              <a:t>Each peer is a server with small bandwidth to share</a:t>
            </a:r>
          </a:p>
          <a:p>
            <a:pPr lvl="2"/>
            <a:r>
              <a:rPr lang="en-US" dirty="0"/>
              <a:t>They are difficult to manage multiple firewall policies to block them</a:t>
            </a:r>
          </a:p>
          <a:p>
            <a:pPr lvl="2"/>
            <a:r>
              <a:rPr lang="en-US" dirty="0"/>
              <a:t>They do not depend on port forwarding</a:t>
            </a:r>
          </a:p>
          <a:p>
            <a:pPr lvl="2"/>
            <a:r>
              <a:rPr lang="en-US" dirty="0"/>
              <a:t>They use evasive techniques to bypass these limitations</a:t>
            </a:r>
          </a:p>
          <a:p>
            <a:endParaRPr lang="en-CA"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97959" y="3724932"/>
            <a:ext cx="1350335" cy="522037"/>
          </a:xfrm>
          <a:prstGeom prst="rect">
            <a:avLst/>
          </a:prstGeom>
        </p:spPr>
      </p:pic>
      <p:pic>
        <p:nvPicPr>
          <p:cNvPr id="5" name="Picture 2" descr="C:\Users\Saurabh\Desktop\Project\DevelopmentResources\Network Icons\BitTorrent.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95694" y="4246969"/>
            <a:ext cx="1752600" cy="46166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5189011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Client-Server Architecture</a:t>
            </a:r>
            <a:endParaRPr lang="en-CA" dirty="0"/>
          </a:p>
        </p:txBody>
      </p:sp>
      <p:sp>
        <p:nvSpPr>
          <p:cNvPr id="3" name="Content Placeholder 2"/>
          <p:cNvSpPr>
            <a:spLocks noGrp="1"/>
          </p:cNvSpPr>
          <p:nvPr>
            <p:ph idx="1"/>
          </p:nvPr>
        </p:nvSpPr>
        <p:spPr/>
        <p:txBody>
          <a:bodyPr/>
          <a:lstStyle/>
          <a:p>
            <a:r>
              <a:rPr lang="en-US" kern="0" dirty="0"/>
              <a:t>Traditional download</a:t>
            </a:r>
          </a:p>
          <a:p>
            <a:pPr lvl="1"/>
            <a:r>
              <a:rPr lang="en-US" kern="0" dirty="0"/>
              <a:t>One client</a:t>
            </a:r>
          </a:p>
          <a:p>
            <a:pPr lvl="1"/>
            <a:r>
              <a:rPr lang="en-US" kern="0" dirty="0"/>
              <a:t>One server</a:t>
            </a:r>
          </a:p>
          <a:p>
            <a:pPr lvl="1"/>
            <a:r>
              <a:rPr lang="en-US" kern="0" dirty="0"/>
              <a:t>Known port number</a:t>
            </a:r>
          </a:p>
          <a:p>
            <a:pPr lvl="1"/>
            <a:r>
              <a:rPr lang="en-US" kern="0" dirty="0"/>
              <a:t>Easily blocked by firewall policies</a:t>
            </a:r>
          </a:p>
          <a:p>
            <a:endParaRPr lang="en-CA" dirty="0"/>
          </a:p>
        </p:txBody>
      </p:sp>
      <p:cxnSp>
        <p:nvCxnSpPr>
          <p:cNvPr id="4" name="Straight Connector 3"/>
          <p:cNvCxnSpPr>
            <a:cxnSpLocks/>
          </p:cNvCxnSpPr>
          <p:nvPr/>
        </p:nvCxnSpPr>
        <p:spPr bwMode="auto">
          <a:xfrm flipH="1">
            <a:off x="3736702" y="2464728"/>
            <a:ext cx="5197748" cy="2102226"/>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sp>
        <p:nvSpPr>
          <p:cNvPr id="5" name="Oval 15"/>
          <p:cNvSpPr>
            <a:spLocks noChangeArrowheads="1"/>
          </p:cNvSpPr>
          <p:nvPr/>
        </p:nvSpPr>
        <p:spPr bwMode="auto">
          <a:xfrm>
            <a:off x="3517625" y="4534807"/>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6" name="Oval 15"/>
          <p:cNvSpPr>
            <a:spLocks noChangeArrowheads="1"/>
          </p:cNvSpPr>
          <p:nvPr/>
        </p:nvSpPr>
        <p:spPr bwMode="auto">
          <a:xfrm>
            <a:off x="8511106" y="2318281"/>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7" name="Oval 15"/>
          <p:cNvSpPr>
            <a:spLocks noChangeArrowheads="1"/>
          </p:cNvSpPr>
          <p:nvPr/>
        </p:nvSpPr>
        <p:spPr bwMode="auto">
          <a:xfrm>
            <a:off x="3528737" y="4531235"/>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8" name="Oval 7"/>
          <p:cNvSpPr>
            <a:spLocks noChangeArrowheads="1"/>
          </p:cNvSpPr>
          <p:nvPr/>
        </p:nvSpPr>
        <p:spPr bwMode="auto">
          <a:xfrm>
            <a:off x="3528737" y="4531235"/>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pic>
        <p:nvPicPr>
          <p:cNvPr id="9" name="Picture 8"/>
          <p:cNvPicPr>
            <a:picLocks noChangeAspect="1"/>
          </p:cNvPicPr>
          <p:nvPr/>
        </p:nvPicPr>
        <p:blipFill>
          <a:blip r:embed="rId4"/>
          <a:stretch>
            <a:fillRect/>
          </a:stretch>
        </p:blipFill>
        <p:spPr>
          <a:xfrm>
            <a:off x="2970489" y="3974005"/>
            <a:ext cx="963060" cy="1185897"/>
          </a:xfrm>
          <a:prstGeom prst="rect">
            <a:avLst/>
          </a:prstGeom>
        </p:spPr>
      </p:pic>
      <p:pic>
        <p:nvPicPr>
          <p:cNvPr id="10" name="Picture 9"/>
          <p:cNvPicPr>
            <a:picLocks noChangeAspect="1"/>
          </p:cNvPicPr>
          <p:nvPr/>
        </p:nvPicPr>
        <p:blipFill>
          <a:blip r:embed="rId5"/>
          <a:stretch>
            <a:fillRect/>
          </a:stretch>
        </p:blipFill>
        <p:spPr>
          <a:xfrm>
            <a:off x="8334893" y="1861971"/>
            <a:ext cx="889007" cy="1418470"/>
          </a:xfrm>
          <a:prstGeom prst="rect">
            <a:avLst/>
          </a:prstGeom>
        </p:spPr>
      </p:pic>
      <p:pic>
        <p:nvPicPr>
          <p:cNvPr id="11" name="Picture 2" descr="C:\Users\Saurabh\Desktop\Project\DevelopmentResources\Network Icons\Firefox.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409675" y="4320287"/>
            <a:ext cx="304800" cy="30480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p:cNvPicPr>
            <a:picLocks noChangeAspect="1"/>
          </p:cNvPicPr>
          <p:nvPr/>
        </p:nvPicPr>
        <p:blipFill>
          <a:blip r:embed="rId7"/>
          <a:stretch>
            <a:fillRect/>
          </a:stretch>
        </p:blipFill>
        <p:spPr>
          <a:xfrm>
            <a:off x="5649119" y="3173963"/>
            <a:ext cx="1180547" cy="822556"/>
          </a:xfrm>
          <a:prstGeom prst="rect">
            <a:avLst/>
          </a:prstGeom>
        </p:spPr>
      </p:pic>
    </p:spTree>
    <p:custDataLst>
      <p:tags r:id="rId1"/>
    </p:custDataLst>
    <p:extLst>
      <p:ext uri="{BB962C8B-B14F-4D97-AF65-F5344CB8AC3E}">
        <p14:creationId xmlns:p14="http://schemas.microsoft.com/office/powerpoint/2010/main" val="17826840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afterEffect">
                                  <p:stCondLst>
                                    <p:cond delay="0"/>
                                  </p:stCondLst>
                                  <p:childTnLst>
                                    <p:animMotion origin="layout" path="M -0.40993 0.32338 L 0.02998 0.01389 " pathEditMode="relative" rAng="0" ptsTypes="AA">
                                      <p:cBhvr>
                                        <p:cTn id="6" dur="1250" fill="hold"/>
                                        <p:tgtEl>
                                          <p:spTgt spid="6"/>
                                        </p:tgtEl>
                                        <p:attrNameLst>
                                          <p:attrName>ppt_x</p:attrName>
                                          <p:attrName>ppt_y</p:attrName>
                                        </p:attrNameLst>
                                      </p:cBhvr>
                                      <p:rCtr x="21989" y="-15486"/>
                                    </p:animMotion>
                                  </p:childTnLst>
                                </p:cTn>
                              </p:par>
                            </p:childTnLst>
                          </p:cTn>
                        </p:par>
                        <p:par>
                          <p:cTn id="7" fill="hold">
                            <p:stCondLst>
                              <p:cond delay="1250"/>
                            </p:stCondLst>
                            <p:childTnLst>
                              <p:par>
                                <p:cTn id="8" presetID="42" presetClass="path" presetSubtype="0" accel="50000" decel="50000" fill="hold" grpId="0" nodeType="afterEffect">
                                  <p:stCondLst>
                                    <p:cond delay="0"/>
                                  </p:stCondLst>
                                  <p:childTnLst>
                                    <p:animMotion origin="layout" path="M 0.43945 -0.30949 L 0.00234 -0.00115 " pathEditMode="relative" rAng="0" ptsTypes="AA">
                                      <p:cBhvr>
                                        <p:cTn id="9" dur="1000" fill="hold"/>
                                        <p:tgtEl>
                                          <p:spTgt spid="5"/>
                                        </p:tgtEl>
                                        <p:attrNameLst>
                                          <p:attrName>ppt_x</p:attrName>
                                          <p:attrName>ppt_y</p:attrName>
                                        </p:attrNameLst>
                                      </p:cBhvr>
                                      <p:rCtr x="-21862" y="15417"/>
                                    </p:animMotion>
                                  </p:childTnLst>
                                </p:cTn>
                              </p:par>
                            </p:childTnLst>
                          </p:cTn>
                        </p:par>
                        <p:par>
                          <p:cTn id="10" fill="hold">
                            <p:stCondLst>
                              <p:cond delay="2250"/>
                            </p:stCondLst>
                            <p:childTnLst>
                              <p:par>
                                <p:cTn id="11" presetID="42" presetClass="path" presetSubtype="0" accel="50000" decel="50000" fill="hold" grpId="0" nodeType="afterEffect">
                                  <p:stCondLst>
                                    <p:cond delay="0"/>
                                  </p:stCondLst>
                                  <p:childTnLst>
                                    <p:animMotion origin="layout" path="M 0.43854 -0.3088 L 4.16667E-6 0.00115 " pathEditMode="relative" rAng="0" ptsTypes="AA">
                                      <p:cBhvr>
                                        <p:cTn id="12" dur="1000" fill="hold"/>
                                        <p:tgtEl>
                                          <p:spTgt spid="7"/>
                                        </p:tgtEl>
                                        <p:attrNameLst>
                                          <p:attrName>ppt_x</p:attrName>
                                          <p:attrName>ppt_y</p:attrName>
                                        </p:attrNameLst>
                                      </p:cBhvr>
                                      <p:rCtr x="-21927" y="15486"/>
                                    </p:animMotion>
                                  </p:childTnLst>
                                </p:cTn>
                              </p:par>
                            </p:childTnLst>
                          </p:cTn>
                        </p:par>
                        <p:par>
                          <p:cTn id="13" fill="hold">
                            <p:stCondLst>
                              <p:cond delay="3250"/>
                            </p:stCondLst>
                            <p:childTnLst>
                              <p:par>
                                <p:cTn id="14" presetID="42" presetClass="path" presetSubtype="0" accel="50000" decel="50000" fill="hold" grpId="0" nodeType="afterEffect">
                                  <p:stCondLst>
                                    <p:cond delay="0"/>
                                  </p:stCondLst>
                                  <p:childTnLst>
                                    <p:animMotion origin="layout" path="M 0.43854 -0.3088 L 0.01159 -0.00625 " pathEditMode="relative" rAng="0" ptsTypes="AA">
                                      <p:cBhvr>
                                        <p:cTn id="15" dur="1000" fill="hold"/>
                                        <p:tgtEl>
                                          <p:spTgt spid="8"/>
                                        </p:tgtEl>
                                        <p:attrNameLst>
                                          <p:attrName>ppt_x</p:attrName>
                                          <p:attrName>ppt_y</p:attrName>
                                        </p:attrNameLst>
                                      </p:cBhvr>
                                      <p:rCtr x="-21354" y="1511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Peer-to-Peer Architecture</a:t>
            </a:r>
            <a:endParaRPr lang="en-CA" dirty="0"/>
          </a:p>
        </p:txBody>
      </p:sp>
      <p:sp>
        <p:nvSpPr>
          <p:cNvPr id="3" name="Content Placeholder 2"/>
          <p:cNvSpPr>
            <a:spLocks noGrp="1"/>
          </p:cNvSpPr>
          <p:nvPr>
            <p:ph idx="1"/>
          </p:nvPr>
        </p:nvSpPr>
        <p:spPr/>
        <p:txBody>
          <a:bodyPr/>
          <a:lstStyle/>
          <a:p>
            <a:r>
              <a:rPr lang="en-US" kern="0" dirty="0"/>
              <a:t>Peer-to-peer (P2P) download</a:t>
            </a:r>
          </a:p>
          <a:p>
            <a:pPr lvl="1"/>
            <a:r>
              <a:rPr lang="en-US" kern="0" dirty="0"/>
              <a:t>One client</a:t>
            </a:r>
          </a:p>
          <a:p>
            <a:pPr lvl="1"/>
            <a:r>
              <a:rPr lang="en-US" kern="0" dirty="0"/>
              <a:t>Many servers</a:t>
            </a:r>
          </a:p>
          <a:p>
            <a:pPr lvl="1"/>
            <a:r>
              <a:rPr lang="en-US" kern="0" dirty="0"/>
              <a:t>Dynamic port numbers</a:t>
            </a:r>
          </a:p>
          <a:p>
            <a:pPr lvl="1"/>
            <a:r>
              <a:rPr lang="en-US" kern="0" dirty="0"/>
              <a:t>Optionally, dynamic encryption</a:t>
            </a:r>
          </a:p>
          <a:p>
            <a:pPr lvl="1"/>
            <a:r>
              <a:rPr lang="en-US" i="1" kern="0" dirty="0"/>
              <a:t>Hard to block </a:t>
            </a:r>
            <a:r>
              <a:rPr lang="en-US" kern="0" dirty="0"/>
              <a:t>with traditional firewalls </a:t>
            </a:r>
          </a:p>
          <a:p>
            <a:pPr lvl="2"/>
            <a:r>
              <a:rPr lang="en-US" kern="0" dirty="0"/>
              <a:t>Requires more sophisticated scanning</a:t>
            </a:r>
          </a:p>
          <a:p>
            <a:endParaRPr lang="en-CA" dirty="0"/>
          </a:p>
        </p:txBody>
      </p:sp>
      <p:sp>
        <p:nvSpPr>
          <p:cNvPr id="149" name="Oval 15"/>
          <p:cNvSpPr>
            <a:spLocks noChangeArrowheads="1"/>
          </p:cNvSpPr>
          <p:nvPr/>
        </p:nvSpPr>
        <p:spPr bwMode="auto">
          <a:xfrm>
            <a:off x="3614007" y="5572838"/>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150" name="Oval 15"/>
          <p:cNvSpPr>
            <a:spLocks noChangeArrowheads="1"/>
          </p:cNvSpPr>
          <p:nvPr/>
        </p:nvSpPr>
        <p:spPr bwMode="auto">
          <a:xfrm>
            <a:off x="3701319" y="5569266"/>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151" name="Oval 15"/>
          <p:cNvSpPr>
            <a:spLocks noChangeArrowheads="1"/>
          </p:cNvSpPr>
          <p:nvPr/>
        </p:nvSpPr>
        <p:spPr bwMode="auto">
          <a:xfrm>
            <a:off x="3777519" y="5569266"/>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152" name="Oval 15"/>
          <p:cNvSpPr>
            <a:spLocks noChangeArrowheads="1"/>
          </p:cNvSpPr>
          <p:nvPr/>
        </p:nvSpPr>
        <p:spPr bwMode="auto">
          <a:xfrm>
            <a:off x="3701319" y="5512116"/>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sp>
        <p:nvSpPr>
          <p:cNvPr id="153" name="Request"/>
          <p:cNvSpPr>
            <a:spLocks noChangeArrowheads="1"/>
          </p:cNvSpPr>
          <p:nvPr/>
        </p:nvSpPr>
        <p:spPr bwMode="auto">
          <a:xfrm>
            <a:off x="8148240" y="3465186"/>
            <a:ext cx="195262" cy="146447"/>
          </a:xfrm>
          <a:prstGeom prst="ellipse">
            <a:avLst/>
          </a:prstGeom>
          <a:gradFill rotWithShape="1">
            <a:gsLst>
              <a:gs pos="0">
                <a:schemeClr val="accent2"/>
              </a:gs>
              <a:gs pos="100000">
                <a:schemeClr val="accent2">
                  <a:gamma/>
                  <a:shade val="46275"/>
                  <a:invGamma/>
                </a:schemeClr>
              </a:gs>
            </a:gsLst>
            <a:path path="rect">
              <a:fillToRect r="100000" b="100000"/>
            </a:path>
          </a:gradFill>
          <a:ln>
            <a:noFill/>
          </a:ln>
          <a:effectLst/>
          <a:extLst>
            <a:ext uri="{91240B29-F687-4F45-9708-019B960494DF}">
              <a14:hiddenLine xmlns:a14="http://schemas.microsoft.com/office/drawing/2010/main" w="12700">
                <a:solidFill>
                  <a:schemeClr val="accent2"/>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en-US" dirty="0">
              <a:ea typeface="ＭＳ Ｐゴシック"/>
            </a:endParaRPr>
          </a:p>
        </p:txBody>
      </p:sp>
      <p:cxnSp>
        <p:nvCxnSpPr>
          <p:cNvPr id="154" name="Straight Connector"/>
          <p:cNvCxnSpPr>
            <a:cxnSpLocks/>
          </p:cNvCxnSpPr>
          <p:nvPr/>
        </p:nvCxnSpPr>
        <p:spPr bwMode="auto">
          <a:xfrm flipH="1">
            <a:off x="3822125" y="3590438"/>
            <a:ext cx="4872037" cy="2024063"/>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cxnSp>
        <p:nvCxnSpPr>
          <p:cNvPr id="155" name="Straight Connector 154"/>
          <p:cNvCxnSpPr>
            <a:cxnSpLocks/>
          </p:cNvCxnSpPr>
          <p:nvPr/>
        </p:nvCxnSpPr>
        <p:spPr bwMode="auto">
          <a:xfrm flipH="1">
            <a:off x="5859066" y="4093836"/>
            <a:ext cx="2763837" cy="720329"/>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cxnSp>
        <p:nvCxnSpPr>
          <p:cNvPr id="156" name="Straight Connector 155"/>
          <p:cNvCxnSpPr>
            <a:cxnSpLocks/>
          </p:cNvCxnSpPr>
          <p:nvPr/>
        </p:nvCxnSpPr>
        <p:spPr bwMode="auto">
          <a:xfrm flipH="1">
            <a:off x="5859066" y="4717724"/>
            <a:ext cx="2763837" cy="96441"/>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cxnSp>
        <p:nvCxnSpPr>
          <p:cNvPr id="157" name="Straight Connector 156"/>
          <p:cNvCxnSpPr>
            <a:cxnSpLocks/>
          </p:cNvCxnSpPr>
          <p:nvPr/>
        </p:nvCxnSpPr>
        <p:spPr bwMode="auto">
          <a:xfrm flipH="1">
            <a:off x="5859065" y="3565199"/>
            <a:ext cx="1687512" cy="1200150"/>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cxnSp>
        <p:nvCxnSpPr>
          <p:cNvPr id="158" name="Straight Connector 157"/>
          <p:cNvCxnSpPr>
            <a:cxnSpLocks/>
          </p:cNvCxnSpPr>
          <p:nvPr/>
        </p:nvCxnSpPr>
        <p:spPr bwMode="auto">
          <a:xfrm flipH="1">
            <a:off x="5859066" y="3371127"/>
            <a:ext cx="962025" cy="1394222"/>
          </a:xfrm>
          <a:prstGeom prst="line">
            <a:avLst/>
          </a:prstGeom>
          <a:solidFill>
            <a:schemeClr val="accent2">
              <a:alpha val="42000"/>
            </a:schemeClr>
          </a:solidFill>
          <a:ln w="12700" cap="flat" cmpd="sng" algn="ctr">
            <a:solidFill>
              <a:schemeClr val="bg1">
                <a:lumMod val="50000"/>
              </a:schemeClr>
            </a:solidFill>
            <a:prstDash val="solid"/>
            <a:round/>
            <a:headEnd type="none" w="med" len="med"/>
            <a:tailEnd type="none" w="med" len="med"/>
          </a:ln>
          <a:effectLst/>
        </p:spPr>
      </p:cxnSp>
      <p:pic>
        <p:nvPicPr>
          <p:cNvPr id="159" name="Picture 15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41850" y="2617506"/>
            <a:ext cx="1219200" cy="240867"/>
          </a:xfrm>
          <a:prstGeom prst="rect">
            <a:avLst/>
          </a:prstGeom>
        </p:spPr>
      </p:pic>
      <p:grpSp>
        <p:nvGrpSpPr>
          <p:cNvPr id="160" name="Group 159"/>
          <p:cNvGrpSpPr/>
          <p:nvPr/>
        </p:nvGrpSpPr>
        <p:grpSpPr>
          <a:xfrm>
            <a:off x="2859263" y="5082699"/>
            <a:ext cx="1217663" cy="1266027"/>
            <a:chOff x="1966036" y="3538905"/>
            <a:chExt cx="921515" cy="1134740"/>
          </a:xfrm>
        </p:grpSpPr>
        <p:pic>
          <p:nvPicPr>
            <p:cNvPr id="161" name="Picture 160"/>
            <p:cNvPicPr>
              <a:picLocks noChangeAspect="1"/>
            </p:cNvPicPr>
            <p:nvPr/>
          </p:nvPicPr>
          <p:blipFill>
            <a:blip r:embed="rId5"/>
            <a:stretch>
              <a:fillRect/>
            </a:stretch>
          </p:blipFill>
          <p:spPr>
            <a:xfrm>
              <a:off x="1966036" y="3538905"/>
              <a:ext cx="921515" cy="1134740"/>
            </a:xfrm>
            <a:prstGeom prst="rect">
              <a:avLst/>
            </a:prstGeom>
          </p:spPr>
        </p:pic>
        <p:pic>
          <p:nvPicPr>
            <p:cNvPr id="162" name="Picture 16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rot="1859448">
              <a:off x="2209352" y="3897340"/>
              <a:ext cx="622823" cy="123046"/>
            </a:xfrm>
            <a:prstGeom prst="rect">
              <a:avLst/>
            </a:prstGeom>
          </p:spPr>
        </p:pic>
      </p:grpSp>
      <p:pic>
        <p:nvPicPr>
          <p:cNvPr id="163" name="Picture 162"/>
          <p:cNvPicPr>
            <a:picLocks noChangeAspect="1"/>
          </p:cNvPicPr>
          <p:nvPr/>
        </p:nvPicPr>
        <p:blipFill>
          <a:blip r:embed="rId7"/>
          <a:stretch>
            <a:fillRect/>
          </a:stretch>
        </p:blipFill>
        <p:spPr>
          <a:xfrm>
            <a:off x="5159531" y="4391512"/>
            <a:ext cx="1180547" cy="822556"/>
          </a:xfrm>
          <a:prstGeom prst="rect">
            <a:avLst/>
          </a:prstGeom>
        </p:spPr>
      </p:pic>
      <p:pic>
        <p:nvPicPr>
          <p:cNvPr id="164" name="Picture 163" descr="LAN_Network.png"/>
          <p:cNvPicPr>
            <a:picLocks noChangeAspect="1"/>
          </p:cNvPicPr>
          <p:nvPr/>
        </p:nvPicPr>
        <p:blipFill>
          <a:blip r:embed="rId8"/>
          <a:stretch>
            <a:fillRect/>
          </a:stretch>
        </p:blipFill>
        <p:spPr>
          <a:xfrm>
            <a:off x="6585807" y="2846124"/>
            <a:ext cx="744337" cy="692285"/>
          </a:xfrm>
          <a:prstGeom prst="rect">
            <a:avLst/>
          </a:prstGeom>
        </p:spPr>
      </p:pic>
      <p:pic>
        <p:nvPicPr>
          <p:cNvPr id="165" name="Picture 164" descr="LAN_Network.png"/>
          <p:cNvPicPr>
            <a:picLocks noChangeAspect="1"/>
          </p:cNvPicPr>
          <p:nvPr/>
        </p:nvPicPr>
        <p:blipFill>
          <a:blip r:embed="rId8"/>
          <a:stretch>
            <a:fillRect/>
          </a:stretch>
        </p:blipFill>
        <p:spPr>
          <a:xfrm>
            <a:off x="7330144" y="3093053"/>
            <a:ext cx="744337" cy="692285"/>
          </a:xfrm>
          <a:prstGeom prst="rect">
            <a:avLst/>
          </a:prstGeom>
        </p:spPr>
      </p:pic>
      <p:pic>
        <p:nvPicPr>
          <p:cNvPr id="166" name="Picture 165" descr="LAN_Network.png"/>
          <p:cNvPicPr>
            <a:picLocks noChangeAspect="1"/>
          </p:cNvPicPr>
          <p:nvPr/>
        </p:nvPicPr>
        <p:blipFill>
          <a:blip r:embed="rId8"/>
          <a:stretch>
            <a:fillRect/>
          </a:stretch>
        </p:blipFill>
        <p:spPr>
          <a:xfrm>
            <a:off x="8148240" y="3202966"/>
            <a:ext cx="744337" cy="692285"/>
          </a:xfrm>
          <a:prstGeom prst="rect">
            <a:avLst/>
          </a:prstGeom>
        </p:spPr>
      </p:pic>
      <p:pic>
        <p:nvPicPr>
          <p:cNvPr id="167" name="Picture 166" descr="LAN_Network.png"/>
          <p:cNvPicPr>
            <a:picLocks noChangeAspect="1"/>
          </p:cNvPicPr>
          <p:nvPr/>
        </p:nvPicPr>
        <p:blipFill>
          <a:blip r:embed="rId8"/>
          <a:stretch>
            <a:fillRect/>
          </a:stretch>
        </p:blipFill>
        <p:spPr>
          <a:xfrm>
            <a:off x="8352462" y="3784828"/>
            <a:ext cx="744337" cy="692285"/>
          </a:xfrm>
          <a:prstGeom prst="rect">
            <a:avLst/>
          </a:prstGeom>
        </p:spPr>
      </p:pic>
      <p:pic>
        <p:nvPicPr>
          <p:cNvPr id="168" name="Picture 167" descr="LAN_Network.png"/>
          <p:cNvPicPr>
            <a:picLocks noChangeAspect="1"/>
          </p:cNvPicPr>
          <p:nvPr/>
        </p:nvPicPr>
        <p:blipFill>
          <a:blip r:embed="rId8"/>
          <a:stretch>
            <a:fillRect/>
          </a:stretch>
        </p:blipFill>
        <p:spPr>
          <a:xfrm>
            <a:off x="8470503" y="4401445"/>
            <a:ext cx="744337" cy="692285"/>
          </a:xfrm>
          <a:prstGeom prst="rect">
            <a:avLst/>
          </a:prstGeom>
        </p:spPr>
      </p:pic>
      <p:pic>
        <p:nvPicPr>
          <p:cNvPr id="169" name="Picture 16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305971" y="2838793"/>
            <a:ext cx="1219200" cy="240867"/>
          </a:xfrm>
          <a:prstGeom prst="rect">
            <a:avLst/>
          </a:prstGeom>
        </p:spPr>
      </p:pic>
      <p:pic>
        <p:nvPicPr>
          <p:cNvPr id="170" name="Picture 169"/>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88424" y="3708089"/>
            <a:ext cx="1097679" cy="216859"/>
          </a:xfrm>
          <a:prstGeom prst="rect">
            <a:avLst/>
          </a:prstGeom>
        </p:spPr>
      </p:pic>
      <p:pic>
        <p:nvPicPr>
          <p:cNvPr id="171" name="Picture 170"/>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988712" y="4322621"/>
            <a:ext cx="993526" cy="196283"/>
          </a:xfrm>
          <a:prstGeom prst="rect">
            <a:avLst/>
          </a:prstGeom>
        </p:spPr>
      </p:pic>
      <p:pic>
        <p:nvPicPr>
          <p:cNvPr id="172" name="Picture 1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520691" y="3000378"/>
            <a:ext cx="1219200" cy="240867"/>
          </a:xfrm>
          <a:prstGeom prst="rect">
            <a:avLst/>
          </a:prstGeom>
        </p:spPr>
      </p:pic>
    </p:spTree>
    <p:custDataLst>
      <p:tags r:id="rId1"/>
    </p:custDataLst>
    <p:extLst>
      <p:ext uri="{BB962C8B-B14F-4D97-AF65-F5344CB8AC3E}">
        <p14:creationId xmlns:p14="http://schemas.microsoft.com/office/powerpoint/2010/main" val="337519742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accel="50000" decel="50000" fill="hold" grpId="0" nodeType="afterEffect">
                                  <p:stCondLst>
                                    <p:cond delay="0"/>
                                  </p:stCondLst>
                                  <p:childTnLst>
                                    <p:animMotion origin="layout" path="M -0.36979 0.31019 L -0.22005 0.19236 L -0.19101 0.1794 L 0.02735 0.0169 " pathEditMode="relative" rAng="0" ptsTypes="AAAA">
                                      <p:cBhvr>
                                        <p:cTn id="6" dur="1000" fill="hold"/>
                                        <p:tgtEl>
                                          <p:spTgt spid="153"/>
                                        </p:tgtEl>
                                        <p:attrNameLst>
                                          <p:attrName>ppt_x</p:attrName>
                                          <p:attrName>ppt_y</p:attrName>
                                        </p:attrNameLst>
                                      </p:cBhvr>
                                      <p:rCtr x="19857" y="-14676"/>
                                    </p:animMotion>
                                  </p:childTnLst>
                                </p:cTn>
                              </p:par>
                            </p:childTnLst>
                          </p:cTn>
                        </p:par>
                        <p:par>
                          <p:cTn id="7" fill="hold">
                            <p:stCondLst>
                              <p:cond delay="1000"/>
                            </p:stCondLst>
                            <p:childTnLst>
                              <p:par>
                                <p:cTn id="8" presetID="37" presetClass="path" presetSubtype="0" accel="50000" decel="50000" fill="hold" grpId="0" nodeType="afterEffect">
                                  <p:stCondLst>
                                    <p:cond delay="0"/>
                                  </p:stCondLst>
                                  <p:childTnLst>
                                    <p:animMotion origin="layout" path="M 2.91667E-6 1.85185E-6 L 0.06146 -0.04676 C 0.07187 -0.03959 0.13047 -0.10834 0.1487 -0.10834 C 0.16718 -0.10834 0.17122 -0.13889 0.18151 -0.1463 L 0.17291 -0.12176 L 0.25807 -0.34121 " pathEditMode="fixed" rAng="0" ptsTypes="FftFAF">
                                      <p:cBhvr>
                                        <p:cTn id="9" dur="1000" spd="-100000" fill="hold"/>
                                        <p:tgtEl>
                                          <p:spTgt spid="149"/>
                                        </p:tgtEl>
                                        <p:attrNameLst>
                                          <p:attrName>ppt_x</p:attrName>
                                          <p:attrName>ppt_y</p:attrName>
                                        </p:attrNameLst>
                                      </p:cBhvr>
                                      <p:rCtr x="12904" y="-17060"/>
                                    </p:animMotion>
                                  </p:childTnLst>
                                </p:cTn>
                              </p:par>
                              <p:par>
                                <p:cTn id="10" presetID="37" presetClass="path" presetSubtype="0" accel="50000" decel="50000" fill="hold" grpId="0" nodeType="withEffect">
                                  <p:stCondLst>
                                    <p:cond delay="0"/>
                                  </p:stCondLst>
                                  <p:childTnLst>
                                    <p:animMotion origin="layout" path="M 1.45833E-6 4.81481E-6 L 0.00937 -0.00834 L 0.06341 -0.05186 C 0.09127 -0.07176 0.1569 -0.11575 0.17656 -0.12778 C 0.19622 -0.13982 0.18047 -0.12385 0.18151 -0.12385 C 0.18255 -0.12385 0.14596 -0.11088 0.18294 -0.12825 C 0.21992 -0.14561 0.35781 -0.20695 0.40377 -0.22755 " pathEditMode="fixed" rAng="0" ptsTypes="AAaaaaA">
                                      <p:cBhvr>
                                        <p:cTn id="11" dur="1000" spd="-100000" fill="hold"/>
                                        <p:tgtEl>
                                          <p:spTgt spid="150"/>
                                        </p:tgtEl>
                                        <p:attrNameLst>
                                          <p:attrName>ppt_x</p:attrName>
                                          <p:attrName>ppt_y</p:attrName>
                                        </p:attrNameLst>
                                      </p:cBhvr>
                                      <p:rCtr x="20182" y="-11389"/>
                                    </p:animMotion>
                                  </p:childTnLst>
                                </p:cTn>
                              </p:par>
                            </p:childTnLst>
                          </p:cTn>
                        </p:par>
                        <p:par>
                          <p:cTn id="12" fill="hold">
                            <p:stCondLst>
                              <p:cond delay="2000"/>
                            </p:stCondLst>
                            <p:childTnLst>
                              <p:par>
                                <p:cTn id="13" presetID="37" presetClass="path" presetSubtype="0" accel="50000" decel="50000" fill="hold" grpId="0" nodeType="afterEffect">
                                  <p:stCondLst>
                                    <p:cond delay="0"/>
                                  </p:stCondLst>
                                  <p:childTnLst>
                                    <p:animMotion origin="layout" path="M -0.03034 0.0037 C -0.0263 0.00162 -0.03425 0.00995 -0.00612 -0.0088 C 0.022 -0.02755 0.11471 -0.09098 0.13841 -0.1088 C 0.16211 -0.12663 0.13529 -0.11366 0.13607 -0.11575 C 0.13685 -0.11783 0.14114 -0.1213 0.1431 -0.1213 C 0.14505 -0.1213 0.10651 -0.09885 0.14779 -0.11575 C 0.18906 -0.13264 0.3401 -0.20047 0.39075 -0.22269 " pathEditMode="fixed" rAng="0" ptsTypes="aaaaaaa">
                                      <p:cBhvr>
                                        <p:cTn id="14" dur="1000" spd="-100000" fill="hold"/>
                                        <p:tgtEl>
                                          <p:spTgt spid="151"/>
                                        </p:tgtEl>
                                        <p:attrNameLst>
                                          <p:attrName>ppt_x</p:attrName>
                                          <p:attrName>ppt_y</p:attrName>
                                        </p:attrNameLst>
                                      </p:cBhvr>
                                      <p:rCtr x="20859" y="-11019"/>
                                    </p:animMotion>
                                  </p:childTnLst>
                                </p:cTn>
                              </p:par>
                              <p:par>
                                <p:cTn id="15" presetID="37" presetClass="path" presetSubtype="0" accel="50000" decel="50000" fill="hold" grpId="0" nodeType="withEffect">
                                  <p:stCondLst>
                                    <p:cond delay="0"/>
                                  </p:stCondLst>
                                  <p:childTnLst>
                                    <p:animMotion origin="layout" path="M -0.02643 0.00093 C -0.02005 -1.85185E-6 -0.00365 0.00278 0.01185 -0.00463 C 0.02734 -0.01204 0.04297 -0.02708 0.06654 -0.04352 C 0.0901 -0.05995 0.13333 -0.08981 0.15325 -0.10324 C 0.17318 -0.11666 0.18333 -0.12222 0.18607 -0.12407 C 0.1888 -0.12592 0.13476 -0.0993 0.16966 -0.11435 C 0.20456 -0.1294 0.34844 -0.19352 0.39544 -0.21435 " pathEditMode="fixed" rAng="0" ptsTypes="aaaaaaa">
                                      <p:cBhvr>
                                        <p:cTn id="16" dur="1000" spd="-100000" fill="hold"/>
                                        <p:tgtEl>
                                          <p:spTgt spid="152"/>
                                        </p:tgtEl>
                                        <p:attrNameLst>
                                          <p:attrName>ppt_x</p:attrName>
                                          <p:attrName>ppt_y</p:attrName>
                                        </p:attrNameLst>
                                      </p:cBhvr>
                                      <p:rCtr x="21094" y="-10671"/>
                                    </p:animMotion>
                                  </p:childTnLst>
                                </p:cTn>
                              </p:par>
                            </p:childTnLst>
                          </p:cTn>
                        </p:par>
                        <p:par>
                          <p:cTn id="17" fill="hold">
                            <p:stCondLst>
                              <p:cond delay="3000"/>
                            </p:stCondLst>
                            <p:childTnLst>
                              <p:par>
                                <p:cTn id="18" presetID="37" presetClass="path" presetSubtype="0" accel="50000" decel="50000" fill="hold" grpId="1" nodeType="afterEffect">
                                  <p:stCondLst>
                                    <p:cond delay="0"/>
                                  </p:stCondLst>
                                  <p:childTnLst>
                                    <p:animMotion origin="layout" path="M 2.91667E-6 1.85185E-6 L 0.15495 -0.11204 L 0.17174 -0.14005 C 0.18255 -0.1331 0.16549 -0.14954 0.18229 -0.14954 C 0.20195 -0.14954 0.2569 -0.23519 0.26745 -0.24259 L 0.31588 -0.30371 " pathEditMode="fixed" rAng="0" ptsTypes="FAffFF">
                                      <p:cBhvr>
                                        <p:cTn id="19" dur="1000" spd="-100000" fill="hold"/>
                                        <p:tgtEl>
                                          <p:spTgt spid="149"/>
                                        </p:tgtEl>
                                        <p:attrNameLst>
                                          <p:attrName>ppt_x</p:attrName>
                                          <p:attrName>ppt_y</p:attrName>
                                        </p:attrNameLst>
                                      </p:cBhvr>
                                      <p:rCtr x="15794" y="-15185"/>
                                    </p:animMotion>
                                  </p:childTnLst>
                                </p:cTn>
                              </p:par>
                              <p:par>
                                <p:cTn id="20" presetID="37" presetClass="path" presetSubtype="0" accel="50000" decel="50000" fill="hold" grpId="1" nodeType="withEffect">
                                  <p:stCondLst>
                                    <p:cond delay="250"/>
                                  </p:stCondLst>
                                  <p:childTnLst>
                                    <p:animMotion origin="layout" path="M -0.01003 -0.00602 L 0.00716 -0.00741 L 0.14544 -0.11158 C 0.16862 -0.13033 0.14114 -0.11528 0.14622 -0.11991 C 0.1513 -0.12454 0.14857 -0.10857 0.17591 -0.13936 C 0.20325 -0.17014 0.28229 -0.27014 0.31029 -0.30463 " pathEditMode="fixed" rAng="0" ptsTypes="AAaaaA">
                                      <p:cBhvr>
                                        <p:cTn id="21" dur="1000" spd="-100000" fill="hold"/>
                                        <p:tgtEl>
                                          <p:spTgt spid="150"/>
                                        </p:tgtEl>
                                        <p:attrNameLst>
                                          <p:attrName>ppt_x</p:attrName>
                                          <p:attrName>ppt_y</p:attrName>
                                        </p:attrNameLst>
                                      </p:cBhvr>
                                      <p:rCtr x="16016" y="-14931"/>
                                    </p:animMotion>
                                  </p:childTnLst>
                                </p:cTn>
                              </p:par>
                              <p:par>
                                <p:cTn id="22" presetID="37" presetClass="path" presetSubtype="0" accel="50000" decel="50000" fill="hold" grpId="1" nodeType="withEffect">
                                  <p:stCondLst>
                                    <p:cond delay="500"/>
                                  </p:stCondLst>
                                  <p:childTnLst>
                                    <p:animMotion origin="layout" path="M -0.03425 0.00092 C -0.02682 -0.00186 -0.01797 0.00254 0.01029 -0.01575 C 0.03854 -0.03403 0.11302 -0.09237 0.13529 -0.1088 C 0.15755 -0.12524 0.14023 -0.11274 0.14388 -0.11436 C 0.14752 -0.11598 0.1164 -0.11505 0.15716 -0.11852 C 0.19792 -0.122 0.34023 -0.13172 0.38841 -0.13519 " pathEditMode="fixed" rAng="0" ptsTypes="aaaaaa">
                                      <p:cBhvr>
                                        <p:cTn id="23" dur="1000" spd="-100000" fill="hold"/>
                                        <p:tgtEl>
                                          <p:spTgt spid="151"/>
                                        </p:tgtEl>
                                        <p:attrNameLst>
                                          <p:attrName>ppt_x</p:attrName>
                                          <p:attrName>ppt_y</p:attrName>
                                        </p:attrNameLst>
                                      </p:cBhvr>
                                      <p:rCtr x="21133" y="-6736"/>
                                    </p:animMotion>
                                  </p:childTnLst>
                                </p:cTn>
                              </p:par>
                              <p:par>
                                <p:cTn id="24" presetID="37" presetClass="path" presetSubtype="0" accel="50000" decel="50000" fill="hold" grpId="1" nodeType="withEffect">
                                  <p:stCondLst>
                                    <p:cond delay="250"/>
                                  </p:stCondLst>
                                  <p:childTnLst>
                                    <p:animMotion origin="layout" path="M -0.0319 0.00371 C -0.02344 0.00162 -0.01185 0.01019 0.01888 -0.00879 C 0.04961 -0.02778 0.13125 -0.09491 0.15247 -0.11018 C 0.1737 -0.12546 0.14687 -0.10185 0.14622 -0.10046 C 0.14557 -0.09907 0.14596 -0.09954 0.14857 -0.10185 C 0.15117 -0.10416 0.12161 -0.08472 0.16185 -0.11435 C 0.20208 -0.14398 0.34245 -0.24514 0.38997 -0.27963 " pathEditMode="relative" rAng="0" ptsTypes="aaaaaaa">
                                      <p:cBhvr>
                                        <p:cTn id="25" dur="1000" spd="-100000" fill="hold"/>
                                        <p:tgtEl>
                                          <p:spTgt spid="152"/>
                                        </p:tgtEl>
                                        <p:attrNameLst>
                                          <p:attrName>ppt_x</p:attrName>
                                          <p:attrName>ppt_y</p:attrName>
                                        </p:attrNameLst>
                                      </p:cBhvr>
                                      <p:rCtr x="21094" y="-1384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 grpId="0" animBg="1"/>
      <p:bldP spid="149" grpId="1" animBg="1"/>
      <p:bldP spid="150" grpId="0" animBg="1"/>
      <p:bldP spid="150" grpId="1" animBg="1"/>
      <p:bldP spid="151" grpId="0" animBg="1"/>
      <p:bldP spid="151" grpId="1" animBg="1"/>
      <p:bldP spid="152" grpId="0" animBg="1"/>
      <p:bldP spid="152" grpId="1" animBg="1"/>
      <p:bldP spid="15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Control Signatures</a:t>
            </a:r>
          </a:p>
        </p:txBody>
      </p:sp>
      <p:sp>
        <p:nvSpPr>
          <p:cNvPr id="3" name="Content Placeholder 2"/>
          <p:cNvSpPr>
            <a:spLocks noGrp="1"/>
          </p:cNvSpPr>
          <p:nvPr>
            <p:ph idx="1"/>
          </p:nvPr>
        </p:nvSpPr>
        <p:spPr/>
        <p:txBody>
          <a:bodyPr/>
          <a:lstStyle/>
          <a:p>
            <a:r>
              <a:rPr lang="en-US" dirty="0"/>
              <a:t>Application control requires </a:t>
            </a:r>
            <a:r>
              <a:rPr lang="en-US" dirty="0" smtClean="0"/>
              <a:t>a FortiGuard subscription for database updates</a:t>
            </a:r>
            <a:endParaRPr lang="en-US" dirty="0"/>
          </a:p>
          <a:p>
            <a:pPr lvl="1"/>
            <a:r>
              <a:rPr lang="en-US" dirty="0"/>
              <a:t>The database of application control signatures is separate from the IPS database.</a:t>
            </a:r>
          </a:p>
          <a:p>
            <a:endParaRPr lang="en-US" dirty="0"/>
          </a:p>
        </p:txBody>
      </p:sp>
      <p:sp>
        <p:nvSpPr>
          <p:cNvPr id="5" name="Rectangle 4"/>
          <p:cNvSpPr/>
          <p:nvPr/>
        </p:nvSpPr>
        <p:spPr bwMode="auto">
          <a:xfrm>
            <a:off x="797933" y="1720800"/>
            <a:ext cx="2100205" cy="307394"/>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System </a:t>
            </a:r>
            <a:r>
              <a:rPr lang="en-CA" sz="1600" dirty="0"/>
              <a:t>&gt;</a:t>
            </a:r>
            <a:r>
              <a:rPr lang="en-CA" sz="1600" b="1" dirty="0"/>
              <a:t> FortiGuard</a:t>
            </a:r>
            <a:endParaRPr kumimoji="0" lang="en-CA" sz="1600" b="1" u="none" strike="noStrike" cap="none" normalizeH="0" baseline="0" dirty="0">
              <a:ln>
                <a:noFill/>
              </a:ln>
              <a:effectLst/>
            </a:endParaRPr>
          </a:p>
        </p:txBody>
      </p:sp>
      <p:pic>
        <p:nvPicPr>
          <p:cNvPr id="6" name="Picture 5"/>
          <p:cNvPicPr>
            <a:picLocks noChangeAspect="1"/>
          </p:cNvPicPr>
          <p:nvPr/>
        </p:nvPicPr>
        <p:blipFill>
          <a:blip r:embed="rId3"/>
          <a:stretch>
            <a:fillRect/>
          </a:stretch>
        </p:blipFill>
        <p:spPr>
          <a:xfrm>
            <a:off x="797933" y="2088419"/>
            <a:ext cx="7391400" cy="1276350"/>
          </a:xfrm>
          <a:prstGeom prst="rect">
            <a:avLst/>
          </a:prstGeom>
          <a:ln>
            <a:solidFill>
              <a:schemeClr val="tx1"/>
            </a:solidFill>
          </a:ln>
        </p:spPr>
      </p:pic>
      <p:sp>
        <p:nvSpPr>
          <p:cNvPr id="7" name="Rectangle 6"/>
          <p:cNvSpPr/>
          <p:nvPr/>
        </p:nvSpPr>
        <p:spPr>
          <a:xfrm>
            <a:off x="6629400" y="2633000"/>
            <a:ext cx="1463040" cy="27021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9" name="Rounded Rectangular Callout 8"/>
          <p:cNvSpPr/>
          <p:nvPr/>
        </p:nvSpPr>
        <p:spPr bwMode="invGray">
          <a:xfrm>
            <a:off x="7807786" y="3452729"/>
            <a:ext cx="3834316" cy="456621"/>
          </a:xfrm>
          <a:prstGeom prst="wedgeRoundRectCallout">
            <a:avLst>
              <a:gd name="adj1" fmla="val -42774"/>
              <a:gd name="adj2" fmla="val -195824"/>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Forcing FortiGate to check for latest updates</a:t>
            </a:r>
          </a:p>
        </p:txBody>
      </p:sp>
      <p:sp>
        <p:nvSpPr>
          <p:cNvPr id="10" name="Rectangle 9"/>
          <p:cNvSpPr/>
          <p:nvPr/>
        </p:nvSpPr>
        <p:spPr>
          <a:xfrm>
            <a:off x="1203960" y="2362781"/>
            <a:ext cx="3950970" cy="363813"/>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1" name="Rounded Rectangular Callout 10"/>
          <p:cNvSpPr/>
          <p:nvPr/>
        </p:nvSpPr>
        <p:spPr bwMode="invGray">
          <a:xfrm>
            <a:off x="6982484" y="1791869"/>
            <a:ext cx="2600248" cy="616244"/>
          </a:xfrm>
          <a:prstGeom prst="wedgeRoundRectCallout">
            <a:avLst>
              <a:gd name="adj1" fmla="val -119264"/>
              <a:gd name="adj2" fmla="val 74488"/>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Currently installed application control database version</a:t>
            </a:r>
          </a:p>
        </p:txBody>
      </p:sp>
      <p:sp>
        <p:nvSpPr>
          <p:cNvPr id="12" name="Rectangle 11"/>
          <p:cNvSpPr/>
          <p:nvPr/>
        </p:nvSpPr>
        <p:spPr bwMode="auto">
          <a:xfrm>
            <a:off x="797933" y="3661319"/>
            <a:ext cx="2100205" cy="315095"/>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System </a:t>
            </a:r>
            <a:r>
              <a:rPr lang="en-CA" sz="1600" dirty="0"/>
              <a:t>&gt;</a:t>
            </a:r>
            <a:r>
              <a:rPr lang="en-CA" sz="1600" b="1" dirty="0"/>
              <a:t> FortiGuard</a:t>
            </a:r>
            <a:endParaRPr kumimoji="0" lang="en-CA" sz="1600" b="1" u="none" strike="noStrike" cap="none" normalizeH="0" baseline="0" dirty="0">
              <a:ln>
                <a:noFill/>
              </a:ln>
              <a:effectLst/>
            </a:endParaRPr>
          </a:p>
        </p:txBody>
      </p:sp>
      <p:pic>
        <p:nvPicPr>
          <p:cNvPr id="13" name="Picture 12"/>
          <p:cNvPicPr>
            <a:picLocks noChangeAspect="1"/>
          </p:cNvPicPr>
          <p:nvPr/>
        </p:nvPicPr>
        <p:blipFill>
          <a:blip r:embed="rId4"/>
          <a:stretch>
            <a:fillRect/>
          </a:stretch>
        </p:blipFill>
        <p:spPr>
          <a:xfrm>
            <a:off x="797933" y="4103812"/>
            <a:ext cx="4894207" cy="2079590"/>
          </a:xfrm>
          <a:prstGeom prst="rect">
            <a:avLst/>
          </a:prstGeom>
          <a:ln>
            <a:solidFill>
              <a:schemeClr val="tx1"/>
            </a:solidFill>
          </a:ln>
        </p:spPr>
      </p:pic>
      <p:sp>
        <p:nvSpPr>
          <p:cNvPr id="14" name="Rectangle 13"/>
          <p:cNvSpPr/>
          <p:nvPr/>
        </p:nvSpPr>
        <p:spPr>
          <a:xfrm>
            <a:off x="789854" y="4389120"/>
            <a:ext cx="4894208" cy="46677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6" name="Rounded Rectangular Callout 15"/>
          <p:cNvSpPr/>
          <p:nvPr/>
        </p:nvSpPr>
        <p:spPr bwMode="invGray">
          <a:xfrm>
            <a:off x="6023625" y="4430788"/>
            <a:ext cx="2674589" cy="323081"/>
          </a:xfrm>
          <a:prstGeom prst="wedgeRoundRectCallout">
            <a:avLst>
              <a:gd name="adj1" fmla="val -65422"/>
              <a:gd name="adj2" fmla="val -3067"/>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Configuring scheduled updates</a:t>
            </a:r>
          </a:p>
        </p:txBody>
      </p:sp>
    </p:spTree>
    <p:extLst>
      <p:ext uri="{BB962C8B-B14F-4D97-AF65-F5344CB8AC3E}">
        <p14:creationId xmlns:p14="http://schemas.microsoft.com/office/powerpoint/2010/main" val="3766141875"/>
      </p:ext>
    </p:extLst>
  </p:cSld>
  <p:clrMapOvr>
    <a:masterClrMapping/>
  </p:clrMapOvr>
  <p:transition spd="slow">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Application Control Database </a:t>
            </a:r>
          </a:p>
        </p:txBody>
      </p:sp>
      <p:sp>
        <p:nvSpPr>
          <p:cNvPr id="3" name="Content Placeholder 2"/>
          <p:cNvSpPr>
            <a:spLocks noGrp="1"/>
          </p:cNvSpPr>
          <p:nvPr>
            <p:ph idx="1"/>
          </p:nvPr>
        </p:nvSpPr>
        <p:spPr>
          <a:xfrm>
            <a:off x="266399" y="972000"/>
            <a:ext cx="11375703" cy="4954347"/>
          </a:xfrm>
        </p:spPr>
        <p:txBody>
          <a:bodyPr/>
          <a:lstStyle/>
          <a:p>
            <a:r>
              <a:rPr lang="en-CA" dirty="0" smtClean="0"/>
              <a:t>You can view </a:t>
            </a:r>
            <a:r>
              <a:rPr lang="en-CA" dirty="0"/>
              <a:t>complete list of applications supported by FortiGuard application control </a:t>
            </a:r>
            <a:r>
              <a:rPr lang="en-CA" dirty="0" smtClean="0"/>
              <a:t>on </a:t>
            </a:r>
            <a:r>
              <a:rPr lang="en-CA" dirty="0">
                <a:hlinkClick r:id="rId4"/>
              </a:rPr>
              <a:t>https://fortiguard.com/</a:t>
            </a:r>
            <a:endParaRPr lang="en-CA" dirty="0"/>
          </a:p>
          <a:p>
            <a:pPr lvl="1"/>
            <a:r>
              <a:rPr lang="en-CA" dirty="0"/>
              <a:t>You can review the application category or request a signature for a new application from the same website. </a:t>
            </a:r>
          </a:p>
        </p:txBody>
      </p:sp>
      <p:pic>
        <p:nvPicPr>
          <p:cNvPr id="7" name="Picture 6"/>
          <p:cNvPicPr>
            <a:picLocks noChangeAspect="1"/>
          </p:cNvPicPr>
          <p:nvPr/>
        </p:nvPicPr>
        <p:blipFill>
          <a:blip r:embed="rId5"/>
          <a:stretch>
            <a:fillRect/>
          </a:stretch>
        </p:blipFill>
        <p:spPr>
          <a:xfrm>
            <a:off x="869817" y="2353722"/>
            <a:ext cx="5416197" cy="3867865"/>
          </a:xfrm>
          <a:prstGeom prst="rect">
            <a:avLst/>
          </a:prstGeom>
          <a:ln>
            <a:solidFill>
              <a:schemeClr val="tx1"/>
            </a:solidFill>
          </a:ln>
        </p:spPr>
      </p:pic>
      <p:sp>
        <p:nvSpPr>
          <p:cNvPr id="13" name="Rectangle 12"/>
          <p:cNvSpPr/>
          <p:nvPr/>
        </p:nvSpPr>
        <p:spPr>
          <a:xfrm>
            <a:off x="1002230" y="3303271"/>
            <a:ext cx="1135179" cy="241894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4" name="Rounded Rectangular Callout 13"/>
          <p:cNvSpPr/>
          <p:nvPr/>
        </p:nvSpPr>
        <p:spPr bwMode="invGray">
          <a:xfrm>
            <a:off x="1130259" y="5801245"/>
            <a:ext cx="1278188" cy="545444"/>
          </a:xfrm>
          <a:prstGeom prst="wedgeRoundRectCallout">
            <a:avLst>
              <a:gd name="adj1" fmla="val 7349"/>
              <a:gd name="adj2" fmla="val -132832"/>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200" dirty="0"/>
              <a:t>Refine search using filters </a:t>
            </a:r>
          </a:p>
        </p:txBody>
      </p:sp>
      <p:sp>
        <p:nvSpPr>
          <p:cNvPr id="16" name="Rectangle 15"/>
          <p:cNvSpPr/>
          <p:nvPr/>
        </p:nvSpPr>
        <p:spPr>
          <a:xfrm>
            <a:off x="2516372" y="5801245"/>
            <a:ext cx="495493" cy="17158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Bef>
                <a:spcPts val="300"/>
              </a:spcBef>
            </a:pPr>
            <a:endParaRPr lang="en-US" sz="1400" dirty="0" err="1" smtClean="0"/>
          </a:p>
        </p:txBody>
      </p:sp>
      <p:cxnSp>
        <p:nvCxnSpPr>
          <p:cNvPr id="17" name="Straight Arrow Connector 16"/>
          <p:cNvCxnSpPr/>
          <p:nvPr/>
        </p:nvCxnSpPr>
        <p:spPr>
          <a:xfrm flipV="1">
            <a:off x="3011865" y="4582912"/>
            <a:ext cx="3757749" cy="1304125"/>
          </a:xfrm>
          <a:prstGeom prst="straightConnector1">
            <a:avLst/>
          </a:prstGeom>
          <a:ln w="381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p:nvPicPr>
        <p:blipFill>
          <a:blip r:embed="rId6"/>
          <a:stretch>
            <a:fillRect/>
          </a:stretch>
        </p:blipFill>
        <p:spPr>
          <a:xfrm>
            <a:off x="6769615" y="2353722"/>
            <a:ext cx="5004900" cy="2950608"/>
          </a:xfrm>
          <a:prstGeom prst="rect">
            <a:avLst/>
          </a:prstGeom>
          <a:ln>
            <a:solidFill>
              <a:schemeClr val="tx1"/>
            </a:solidFill>
          </a:ln>
        </p:spPr>
      </p:pic>
    </p:spTree>
    <p:custDataLst>
      <p:tags r:id="rId1"/>
    </p:custDataLst>
    <p:extLst>
      <p:ext uri="{BB962C8B-B14F-4D97-AF65-F5344CB8AC3E}">
        <p14:creationId xmlns:p14="http://schemas.microsoft.com/office/powerpoint/2010/main" val="4177503356"/>
      </p:ext>
    </p:extLst>
  </p:cSld>
  <p:clrMapOvr>
    <a:masterClrMapping/>
  </p:clrMapOvr>
  <p:transition spd="slow">
    <p:wip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Hierarchical Structure</a:t>
            </a:r>
          </a:p>
        </p:txBody>
      </p:sp>
      <p:sp>
        <p:nvSpPr>
          <p:cNvPr id="3" name="Content Placeholder 2"/>
          <p:cNvSpPr>
            <a:spLocks noGrp="1"/>
          </p:cNvSpPr>
          <p:nvPr>
            <p:ph idx="1"/>
          </p:nvPr>
        </p:nvSpPr>
        <p:spPr/>
        <p:txBody>
          <a:bodyPr/>
          <a:lstStyle/>
          <a:p>
            <a:r>
              <a:rPr lang="en-CA" dirty="0"/>
              <a:t>Application control signatures are organized in a hierarchical structure </a:t>
            </a:r>
          </a:p>
          <a:p>
            <a:pPr lvl="1"/>
            <a:r>
              <a:rPr lang="en-CA" dirty="0"/>
              <a:t>The parent signature takes precedence over the child signature </a:t>
            </a:r>
          </a:p>
        </p:txBody>
      </p:sp>
      <p:sp>
        <p:nvSpPr>
          <p:cNvPr id="4" name="Rounded Rectangle 3"/>
          <p:cNvSpPr/>
          <p:nvPr/>
        </p:nvSpPr>
        <p:spPr bwMode="invGray">
          <a:xfrm>
            <a:off x="3745472" y="2614137"/>
            <a:ext cx="1349297" cy="579864"/>
          </a:xfrm>
          <a:prstGeom prst="roundRect">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Social Media</a:t>
            </a:r>
          </a:p>
        </p:txBody>
      </p:sp>
      <p:sp>
        <p:nvSpPr>
          <p:cNvPr id="8" name="Rounded Rectangle 7"/>
          <p:cNvSpPr/>
          <p:nvPr/>
        </p:nvSpPr>
        <p:spPr bwMode="invGray">
          <a:xfrm>
            <a:off x="8170661" y="2661249"/>
            <a:ext cx="1349297" cy="579864"/>
          </a:xfrm>
          <a:prstGeom prst="roundRect">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600" dirty="0"/>
              <a:t>Audio/Video</a:t>
            </a:r>
          </a:p>
        </p:txBody>
      </p:sp>
      <p:cxnSp>
        <p:nvCxnSpPr>
          <p:cNvPr id="10" name="Straight Arrow Connector 9"/>
          <p:cNvCxnSpPr>
            <a:stCxn id="4" idx="2"/>
          </p:cNvCxnSpPr>
          <p:nvPr/>
        </p:nvCxnSpPr>
        <p:spPr>
          <a:xfrm flipH="1">
            <a:off x="3745473" y="3194001"/>
            <a:ext cx="674648" cy="724829"/>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bwMode="invGray">
          <a:xfrm>
            <a:off x="3037370" y="3918830"/>
            <a:ext cx="1349297" cy="579864"/>
          </a:xfrm>
          <a:prstGeom prst="roundRect">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Facebook</a:t>
            </a:r>
          </a:p>
        </p:txBody>
      </p:sp>
      <p:sp>
        <p:nvSpPr>
          <p:cNvPr id="13" name="Rounded Rectangle 12"/>
          <p:cNvSpPr/>
          <p:nvPr/>
        </p:nvSpPr>
        <p:spPr bwMode="invGray">
          <a:xfrm>
            <a:off x="4420120" y="3918830"/>
            <a:ext cx="1349297" cy="579864"/>
          </a:xfrm>
          <a:prstGeom prst="roundRect">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LinkedIn</a:t>
            </a:r>
          </a:p>
        </p:txBody>
      </p:sp>
      <p:cxnSp>
        <p:nvCxnSpPr>
          <p:cNvPr id="14" name="Straight Arrow Connector 13"/>
          <p:cNvCxnSpPr>
            <a:stCxn id="4" idx="2"/>
          </p:cNvCxnSpPr>
          <p:nvPr/>
        </p:nvCxnSpPr>
        <p:spPr>
          <a:xfrm>
            <a:off x="4420121" y="3194001"/>
            <a:ext cx="674648" cy="724829"/>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p:nvPr/>
        </p:nvCxnSpPr>
        <p:spPr>
          <a:xfrm flipH="1">
            <a:off x="8845309" y="3241113"/>
            <a:ext cx="1" cy="70996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bwMode="invGray">
          <a:xfrm>
            <a:off x="8170660" y="3951074"/>
            <a:ext cx="1349297" cy="579864"/>
          </a:xfrm>
          <a:prstGeom prst="roundRect">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YouTube</a:t>
            </a:r>
          </a:p>
        </p:txBody>
      </p:sp>
      <p:cxnSp>
        <p:nvCxnSpPr>
          <p:cNvPr id="22" name="Straight Arrow Connector 21"/>
          <p:cNvCxnSpPr>
            <a:stCxn id="11" idx="2"/>
            <a:endCxn id="27" idx="0"/>
          </p:cNvCxnSpPr>
          <p:nvPr/>
        </p:nvCxnSpPr>
        <p:spPr>
          <a:xfrm flipH="1">
            <a:off x="2285613" y="4498694"/>
            <a:ext cx="1426406" cy="68273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p:cNvCxnSpPr>
            <a:stCxn id="11" idx="2"/>
            <a:endCxn id="29" idx="0"/>
          </p:cNvCxnSpPr>
          <p:nvPr/>
        </p:nvCxnSpPr>
        <p:spPr>
          <a:xfrm>
            <a:off x="3712019" y="4498694"/>
            <a:ext cx="463343" cy="68273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7" name="Oval 26"/>
          <p:cNvSpPr/>
          <p:nvPr/>
        </p:nvSpPr>
        <p:spPr bwMode="invGray">
          <a:xfrm>
            <a:off x="1360969" y="5181425"/>
            <a:ext cx="1849288" cy="579864"/>
          </a:xfrm>
          <a:prstGeom prst="ellipse">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Facebook_Chat</a:t>
            </a:r>
          </a:p>
        </p:txBody>
      </p:sp>
      <p:sp>
        <p:nvSpPr>
          <p:cNvPr id="29" name="Oval 28"/>
          <p:cNvSpPr/>
          <p:nvPr/>
        </p:nvSpPr>
        <p:spPr bwMode="invGray">
          <a:xfrm>
            <a:off x="3246845" y="5181425"/>
            <a:ext cx="1857034" cy="579864"/>
          </a:xfrm>
          <a:prstGeom prst="ellipse">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Facebook_Apps</a:t>
            </a:r>
          </a:p>
        </p:txBody>
      </p:sp>
      <p:sp>
        <p:nvSpPr>
          <p:cNvPr id="31" name="Oval 30"/>
          <p:cNvSpPr/>
          <p:nvPr/>
        </p:nvSpPr>
        <p:spPr bwMode="invGray">
          <a:xfrm>
            <a:off x="5120726" y="5181425"/>
            <a:ext cx="2130678" cy="579864"/>
          </a:xfrm>
          <a:prstGeom prst="ellipse">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LinkedIn_Message</a:t>
            </a:r>
          </a:p>
        </p:txBody>
      </p:sp>
      <p:cxnSp>
        <p:nvCxnSpPr>
          <p:cNvPr id="33" name="Straight Arrow Connector 32"/>
          <p:cNvCxnSpPr>
            <a:stCxn id="13" idx="2"/>
            <a:endCxn id="31" idx="0"/>
          </p:cNvCxnSpPr>
          <p:nvPr/>
        </p:nvCxnSpPr>
        <p:spPr>
          <a:xfrm>
            <a:off x="5094769" y="4498694"/>
            <a:ext cx="1091296" cy="68273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34" name="Oval 33"/>
          <p:cNvSpPr/>
          <p:nvPr/>
        </p:nvSpPr>
        <p:spPr bwMode="invGray">
          <a:xfrm>
            <a:off x="7676709" y="5181425"/>
            <a:ext cx="2339163" cy="579864"/>
          </a:xfrm>
          <a:prstGeom prst="ellipse">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CA" sz="1200" dirty="0"/>
              <a:t>YouTube_Video.Play</a:t>
            </a:r>
          </a:p>
        </p:txBody>
      </p:sp>
      <p:cxnSp>
        <p:nvCxnSpPr>
          <p:cNvPr id="35" name="Straight Arrow Connector 34"/>
          <p:cNvCxnSpPr>
            <a:stCxn id="19" idx="2"/>
            <a:endCxn id="34" idx="0"/>
          </p:cNvCxnSpPr>
          <p:nvPr/>
        </p:nvCxnSpPr>
        <p:spPr>
          <a:xfrm>
            <a:off x="8845309" y="4530938"/>
            <a:ext cx="982" cy="650487"/>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5" name="Rounded Rectangular Callout 4"/>
          <p:cNvSpPr/>
          <p:nvPr/>
        </p:nvSpPr>
        <p:spPr>
          <a:xfrm>
            <a:off x="6333952" y="1918433"/>
            <a:ext cx="1018382" cy="594732"/>
          </a:xfrm>
          <a:prstGeom prst="wedgeRoundRectCallout">
            <a:avLst>
              <a:gd name="adj1" fmla="val -174040"/>
              <a:gd name="adj2" fmla="val 226250"/>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1" name="Rounded Rectangular Callout 20"/>
          <p:cNvSpPr/>
          <p:nvPr/>
        </p:nvSpPr>
        <p:spPr>
          <a:xfrm>
            <a:off x="5904458" y="1884936"/>
            <a:ext cx="1877370" cy="628229"/>
          </a:xfrm>
          <a:prstGeom prst="wedgeRoundRectCallout">
            <a:avLst>
              <a:gd name="adj1" fmla="val 86017"/>
              <a:gd name="adj2" fmla="val 251451"/>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Requires Certificate Inspection</a:t>
            </a:r>
            <a:endParaRPr lang="en-US" sz="1400" dirty="0" err="1" smtClean="0">
              <a:solidFill>
                <a:schemeClr val="tx1"/>
              </a:solidFill>
            </a:endParaRPr>
          </a:p>
        </p:txBody>
      </p:sp>
      <p:sp>
        <p:nvSpPr>
          <p:cNvPr id="23" name="Rounded Rectangular Callout 22"/>
          <p:cNvSpPr/>
          <p:nvPr/>
        </p:nvSpPr>
        <p:spPr>
          <a:xfrm>
            <a:off x="6605317" y="3629525"/>
            <a:ext cx="1018382" cy="594732"/>
          </a:xfrm>
          <a:prstGeom prst="wedgeRoundRectCallout">
            <a:avLst>
              <a:gd name="adj1" fmla="val -98120"/>
              <a:gd name="adj2" fmla="val 146250"/>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5" name="Rounded Rectangular Callout 24"/>
          <p:cNvSpPr/>
          <p:nvPr/>
        </p:nvSpPr>
        <p:spPr>
          <a:xfrm>
            <a:off x="5939443" y="3612777"/>
            <a:ext cx="1877370" cy="628229"/>
          </a:xfrm>
          <a:prstGeom prst="wedgeRoundRectCallout">
            <a:avLst>
              <a:gd name="adj1" fmla="val 67406"/>
              <a:gd name="adj2" fmla="val 167433"/>
              <a:gd name="adj3" fmla="val 16667"/>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r>
              <a:rPr lang="en-GB" sz="1400" dirty="0" smtClean="0">
                <a:solidFill>
                  <a:schemeClr val="tx1"/>
                </a:solidFill>
              </a:rPr>
              <a:t>Requires Deep Inspection</a:t>
            </a:r>
            <a:endParaRPr lang="en-US" sz="1400" dirty="0" err="1" smtClean="0">
              <a:solidFill>
                <a:schemeClr val="tx1"/>
              </a:solidFill>
            </a:endParaRPr>
          </a:p>
        </p:txBody>
      </p:sp>
    </p:spTree>
    <p:custDataLst>
      <p:tags r:id="rId1"/>
    </p:custDataLst>
    <p:extLst>
      <p:ext uri="{BB962C8B-B14F-4D97-AF65-F5344CB8AC3E}">
        <p14:creationId xmlns:p14="http://schemas.microsoft.com/office/powerpoint/2010/main" val="550163751"/>
      </p:ext>
    </p:extLst>
  </p:cSld>
  <p:clrMapOvr>
    <a:masterClrMapping/>
  </p:clrMapOvr>
  <p:transition spd="slow">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US" dirty="0"/>
              <a:t>Which statement about application control is true? </a:t>
            </a:r>
          </a:p>
          <a:p>
            <a:pPr marL="838133" lvl="1" indent="-457200">
              <a:buFont typeface="+mj-lt"/>
              <a:buAutoNum type="alphaUcPeriod"/>
            </a:pPr>
            <a:r>
              <a:rPr lang="en-US" dirty="0"/>
              <a:t>Application control uses the IPS engine to scan traffic for application patterns. </a:t>
            </a:r>
          </a:p>
          <a:p>
            <a:pPr marL="838133" lvl="1" indent="-457200">
              <a:buFont typeface="+mj-lt"/>
              <a:buAutoNum type="alphaUcPeriod"/>
            </a:pPr>
            <a:r>
              <a:rPr lang="en-US" dirty="0"/>
              <a:t>Application control is unable to scan P2P architecture traffic. </a:t>
            </a:r>
            <a:endParaRPr lang="en-CA" dirty="0"/>
          </a:p>
          <a:p>
            <a:pPr marL="457200" indent="-457200">
              <a:buFont typeface="+mj-lt"/>
              <a:buAutoNum type="arabicPeriod"/>
            </a:pPr>
            <a:endParaRPr lang="en-CA" dirty="0"/>
          </a:p>
          <a:p>
            <a:pPr marL="457200" indent="-457200">
              <a:buFont typeface="+mj-lt"/>
              <a:buAutoNum type="arabicPeriod"/>
            </a:pPr>
            <a:r>
              <a:rPr lang="en-CA" dirty="0"/>
              <a:t>Which statement about the application control database is true? </a:t>
            </a:r>
          </a:p>
          <a:p>
            <a:pPr marL="838133" lvl="1" indent="-457200">
              <a:buFont typeface="+mj-lt"/>
              <a:buAutoNum type="alphaUcPeriod"/>
            </a:pPr>
            <a:r>
              <a:rPr lang="en-US" dirty="0"/>
              <a:t>The application control database is separate from the IPS database. </a:t>
            </a:r>
          </a:p>
          <a:p>
            <a:pPr marL="838133" lvl="1" indent="-457200">
              <a:buFont typeface="+mj-lt"/>
              <a:buAutoNum type="alphaUcPeriod"/>
            </a:pPr>
            <a:r>
              <a:rPr lang="en-US" dirty="0"/>
              <a:t>The application control database must be updated manually. </a:t>
            </a:r>
          </a:p>
          <a:p>
            <a:pPr marL="0" indent="0">
              <a:buNone/>
            </a:pPr>
            <a:endParaRPr lang="en-US" dirty="0"/>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876" y="1345704"/>
            <a:ext cx="290629" cy="310672"/>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9875" y="2847586"/>
            <a:ext cx="290629" cy="310672"/>
          </a:xfrm>
          <a:prstGeom prst="rect">
            <a:avLst/>
          </a:prstGeom>
        </p:spPr>
      </p:pic>
    </p:spTree>
    <p:custDataLst>
      <p:tags r:id="rId1"/>
    </p:custDataLst>
    <p:extLst>
      <p:ext uri="{BB962C8B-B14F-4D97-AF65-F5344CB8AC3E}">
        <p14:creationId xmlns:p14="http://schemas.microsoft.com/office/powerpoint/2010/main" val="93740007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2"/>
          <p:cNvGraphicFramePr>
            <a:graphicFrameLocks noGrp="1"/>
          </p:cNvGraphicFramePr>
          <p:nvPr>
            <p:ph type="dgm" sz="quarter" idx="10"/>
            <p:extLst>
              <p:ext uri="{D42A27DB-BD31-4B8C-83A1-F6EECF244321}">
                <p14:modId xmlns:p14="http://schemas.microsoft.com/office/powerpoint/2010/main" val="3797411303"/>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61579" y="1714649"/>
            <a:ext cx="670015" cy="716222"/>
          </a:xfrm>
          <a:prstGeom prst="rect">
            <a:avLst/>
          </a:prstGeom>
        </p:spPr>
      </p:pic>
    </p:spTree>
    <p:custDataLst>
      <p:tags r:id="rId1"/>
    </p:custDataLst>
    <p:extLst>
      <p:ext uri="{BB962C8B-B14F-4D97-AF65-F5344CB8AC3E}">
        <p14:creationId xmlns:p14="http://schemas.microsoft.com/office/powerpoint/2010/main" val="4270822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a:r>
              <a:rPr lang="en-CA" dirty="0"/>
              <a:t>Application Control Configuration</a:t>
            </a:r>
          </a:p>
        </p:txBody>
      </p:sp>
      <p:sp>
        <p:nvSpPr>
          <p:cNvPr id="3" name="Text Placeholder 2"/>
          <p:cNvSpPr>
            <a:spLocks noGrp="1"/>
          </p:cNvSpPr>
          <p:nvPr>
            <p:ph type="body" sz="quarter" idx="11"/>
          </p:nvPr>
        </p:nvSpPr>
        <p:spPr/>
        <p:txBody>
          <a:bodyPr/>
          <a:lstStyle/>
          <a:p>
            <a:r>
              <a:rPr lang="en-CA" dirty="0"/>
              <a:t>Configure application control in profile mode</a:t>
            </a:r>
          </a:p>
          <a:p>
            <a:r>
              <a:rPr lang="en-CA" dirty="0"/>
              <a:t>Configure application control in next generation firewall (NGFW) policy mode</a:t>
            </a:r>
          </a:p>
          <a:p>
            <a:r>
              <a:rPr lang="en-CA" dirty="0"/>
              <a:t>Use the application control traffic shaping policy</a:t>
            </a:r>
          </a:p>
          <a:p>
            <a:endParaRPr lang="en-CA" dirty="0"/>
          </a:p>
        </p:txBody>
      </p:sp>
    </p:spTree>
    <p:custDataLst>
      <p:tags r:id="rId1"/>
    </p:custDataLst>
    <p:extLst>
      <p:ext uri="{BB962C8B-B14F-4D97-AF65-F5344CB8AC3E}">
        <p14:creationId xmlns:p14="http://schemas.microsoft.com/office/powerpoint/2010/main" val="97115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Application Control Profiles</a:t>
            </a:r>
            <a:endParaRPr lang="en-CA" dirty="0"/>
          </a:p>
        </p:txBody>
      </p:sp>
      <p:sp>
        <p:nvSpPr>
          <p:cNvPr id="3" name="Content Placeholder 2"/>
          <p:cNvSpPr>
            <a:spLocks noGrp="1"/>
          </p:cNvSpPr>
          <p:nvPr>
            <p:ph idx="1"/>
          </p:nvPr>
        </p:nvSpPr>
        <p:spPr/>
        <p:txBody>
          <a:bodyPr/>
          <a:lstStyle/>
          <a:p>
            <a:r>
              <a:rPr lang="en-CA" dirty="0"/>
              <a:t>Configured </a:t>
            </a:r>
            <a:r>
              <a:rPr lang="en-CA" dirty="0" smtClean="0"/>
              <a:t>when </a:t>
            </a:r>
            <a:r>
              <a:rPr lang="en-CA" dirty="0"/>
              <a:t>FortiGate NGFW mode is set to profile-based</a:t>
            </a:r>
          </a:p>
          <a:p>
            <a:r>
              <a:rPr lang="en-CA" dirty="0"/>
              <a:t>Uses flow-based scanning techniques in both inspection modes</a:t>
            </a:r>
          </a:p>
          <a:p>
            <a:r>
              <a:rPr lang="en-CA" dirty="0"/>
              <a:t>Allows you to filter application traffic based on:</a:t>
            </a:r>
          </a:p>
          <a:p>
            <a:pPr lvl="1"/>
            <a:r>
              <a:rPr lang="en-CA" dirty="0"/>
              <a:t>Categories</a:t>
            </a:r>
          </a:p>
          <a:p>
            <a:pPr lvl="2"/>
            <a:r>
              <a:rPr lang="en-CA" dirty="0"/>
              <a:t>Similar applications are grouped together</a:t>
            </a:r>
          </a:p>
          <a:p>
            <a:pPr lvl="2"/>
            <a:r>
              <a:rPr lang="en-CA" dirty="0"/>
              <a:t>Can view application control signatures for that category</a:t>
            </a:r>
          </a:p>
          <a:p>
            <a:pPr lvl="2"/>
            <a:r>
              <a:rPr lang="en-CA" dirty="0"/>
              <a:t>Can configure actions for predefined categories</a:t>
            </a:r>
          </a:p>
          <a:p>
            <a:pPr lvl="1"/>
            <a:r>
              <a:rPr lang="en-CA" dirty="0"/>
              <a:t>Application overrides</a:t>
            </a:r>
          </a:p>
          <a:p>
            <a:pPr lvl="2"/>
            <a:r>
              <a:rPr lang="en-CA" dirty="0"/>
              <a:t>Allows you to configure actions for specific signatures or applications</a:t>
            </a:r>
          </a:p>
          <a:p>
            <a:pPr lvl="1"/>
            <a:r>
              <a:rPr lang="en-CA" dirty="0"/>
              <a:t>Filter overrides</a:t>
            </a:r>
          </a:p>
          <a:p>
            <a:pPr lvl="2"/>
            <a:r>
              <a:rPr lang="en-CA" dirty="0"/>
              <a:t>Provides a more flexible way to create application categorization based on behavior, popularity, protocol, risk, and so on</a:t>
            </a:r>
          </a:p>
          <a:p>
            <a:r>
              <a:rPr lang="en-CA" dirty="0"/>
              <a:t>Must be applied to a firewall policy</a:t>
            </a:r>
          </a:p>
          <a:p>
            <a:endParaRPr lang="en-CA" dirty="0"/>
          </a:p>
        </p:txBody>
      </p:sp>
    </p:spTree>
    <p:custDataLst>
      <p:tags r:id="rId1"/>
    </p:custDataLst>
    <p:extLst>
      <p:ext uri="{BB962C8B-B14F-4D97-AF65-F5344CB8AC3E}">
        <p14:creationId xmlns:p14="http://schemas.microsoft.com/office/powerpoint/2010/main" val="4097660563"/>
      </p:ext>
    </p:extLst>
  </p:cSld>
  <p:clrMapOvr>
    <a:masterClrMapping/>
  </p:clrMapOvr>
  <p:transition spd="slow">
    <p:wip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Configuring an Application Control Profile</a:t>
            </a:r>
            <a:endParaRPr lang="en-CA" dirty="0"/>
          </a:p>
        </p:txBody>
      </p:sp>
      <p:sp>
        <p:nvSpPr>
          <p:cNvPr id="14" name="Content Placeholder 13"/>
          <p:cNvSpPr>
            <a:spLocks noGrp="1"/>
          </p:cNvSpPr>
          <p:nvPr>
            <p:ph idx="1"/>
          </p:nvPr>
        </p:nvSpPr>
        <p:spPr/>
        <p:txBody>
          <a:bodyPr/>
          <a:lstStyle/>
          <a:p>
            <a:r>
              <a:rPr lang="en-CA" dirty="0"/>
              <a:t>The application control profile is available only when NGFW mode is set to profile-based inspection mode</a:t>
            </a:r>
          </a:p>
        </p:txBody>
      </p:sp>
      <p:sp>
        <p:nvSpPr>
          <p:cNvPr id="13" name="Rectangle 12"/>
          <p:cNvSpPr/>
          <p:nvPr/>
        </p:nvSpPr>
        <p:spPr bwMode="auto">
          <a:xfrm>
            <a:off x="896717" y="1720800"/>
            <a:ext cx="3823259"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pic>
        <p:nvPicPr>
          <p:cNvPr id="3" name="Picture 2"/>
          <p:cNvPicPr>
            <a:picLocks noChangeAspect="1"/>
          </p:cNvPicPr>
          <p:nvPr/>
        </p:nvPicPr>
        <p:blipFill>
          <a:blip r:embed="rId4"/>
          <a:stretch>
            <a:fillRect/>
          </a:stretch>
        </p:blipFill>
        <p:spPr>
          <a:xfrm>
            <a:off x="896717" y="2130549"/>
            <a:ext cx="9042351" cy="3530621"/>
          </a:xfrm>
          <a:prstGeom prst="rect">
            <a:avLst/>
          </a:prstGeom>
          <a:ln>
            <a:solidFill>
              <a:schemeClr val="tx1"/>
            </a:solidFill>
          </a:ln>
        </p:spPr>
      </p:pic>
      <p:sp>
        <p:nvSpPr>
          <p:cNvPr id="16" name="Rectangle 15"/>
          <p:cNvSpPr/>
          <p:nvPr/>
        </p:nvSpPr>
        <p:spPr bwMode="auto">
          <a:xfrm>
            <a:off x="978318" y="3794660"/>
            <a:ext cx="1551037" cy="248574"/>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9" name="Rectangle 18"/>
          <p:cNvSpPr/>
          <p:nvPr/>
        </p:nvSpPr>
        <p:spPr bwMode="auto">
          <a:xfrm>
            <a:off x="978317" y="5471878"/>
            <a:ext cx="1551038" cy="189292"/>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20" name="Rectangle 19"/>
          <p:cNvSpPr/>
          <p:nvPr/>
        </p:nvSpPr>
        <p:spPr bwMode="auto">
          <a:xfrm>
            <a:off x="7824888" y="3234690"/>
            <a:ext cx="1570572" cy="307623"/>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22" name="Rounded Rectangular Callout 21"/>
          <p:cNvSpPr/>
          <p:nvPr/>
        </p:nvSpPr>
        <p:spPr bwMode="auto">
          <a:xfrm>
            <a:off x="5254278" y="5599021"/>
            <a:ext cx="1676400" cy="386964"/>
          </a:xfrm>
          <a:prstGeom prst="wedgeRoundRectCallout">
            <a:avLst>
              <a:gd name="adj1" fmla="val -214591"/>
              <a:gd name="adj2" fmla="val -64043"/>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200" dirty="0">
                <a:cs typeface="Arial" pitchFamily="34" charset="0"/>
              </a:rPr>
              <a:t>Matches traffic to unidentified applications</a:t>
            </a:r>
            <a:endParaRPr kumimoji="0" lang="en-CA" sz="1200" u="none" strike="noStrike" cap="none" normalizeH="0" baseline="0" dirty="0">
              <a:ln>
                <a:noFill/>
              </a:ln>
              <a:effectLst/>
            </a:endParaRPr>
          </a:p>
        </p:txBody>
      </p:sp>
      <p:sp>
        <p:nvSpPr>
          <p:cNvPr id="23" name="Rounded Rectangular Callout 22"/>
          <p:cNvSpPr/>
          <p:nvPr/>
        </p:nvSpPr>
        <p:spPr bwMode="auto">
          <a:xfrm>
            <a:off x="9979019" y="2358327"/>
            <a:ext cx="1676400" cy="558166"/>
          </a:xfrm>
          <a:prstGeom prst="wedgeRoundRectCallout">
            <a:avLst>
              <a:gd name="adj1" fmla="val -80437"/>
              <a:gd name="adj2" fmla="val 140376"/>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200" dirty="0">
                <a:cs typeface="Arial" pitchFamily="34" charset="0"/>
              </a:rPr>
              <a:t>Displays list of application control signatures</a:t>
            </a:r>
            <a:endParaRPr kumimoji="0" lang="en-CA" sz="1200" u="none" strike="noStrike" cap="none" normalizeH="0" baseline="0" dirty="0">
              <a:ln>
                <a:noFill/>
              </a:ln>
              <a:effectLst/>
            </a:endParaRPr>
          </a:p>
        </p:txBody>
      </p:sp>
      <p:sp>
        <p:nvSpPr>
          <p:cNvPr id="24" name="Rounded Rectangular Callout 23"/>
          <p:cNvSpPr/>
          <p:nvPr/>
        </p:nvSpPr>
        <p:spPr bwMode="auto">
          <a:xfrm>
            <a:off x="5283654" y="2984147"/>
            <a:ext cx="1676400" cy="558166"/>
          </a:xfrm>
          <a:prstGeom prst="wedgeRoundRectCallout">
            <a:avLst>
              <a:gd name="adj1" fmla="val -225036"/>
              <a:gd name="adj2" fmla="val 103981"/>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200" dirty="0">
                <a:cs typeface="Arial" pitchFamily="34" charset="0"/>
              </a:rPr>
              <a:t>Applies an action to all categories at once</a:t>
            </a:r>
            <a:endParaRPr kumimoji="0" lang="en-CA" sz="1200" u="none" strike="noStrike" cap="none" normalizeH="0" baseline="0" dirty="0">
              <a:ln>
                <a:noFill/>
              </a:ln>
              <a:effectLst/>
            </a:endParaRPr>
          </a:p>
        </p:txBody>
      </p:sp>
    </p:spTree>
    <p:custDataLst>
      <p:tags r:id="rId1"/>
    </p:custDataLst>
    <p:extLst>
      <p:ext uri="{BB962C8B-B14F-4D97-AF65-F5344CB8AC3E}">
        <p14:creationId xmlns:p14="http://schemas.microsoft.com/office/powerpoint/2010/main" val="2745981629"/>
      </p:ext>
    </p:extLst>
  </p:cSld>
  <p:clrMapOvr>
    <a:masterClrMapping/>
  </p:clrMapOvr>
  <p:transition spd="slow">
    <p:wipe/>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cs typeface="Arial" pitchFamily="34" charset="0"/>
              </a:rPr>
              <a:t>Configuring Additional Options</a:t>
            </a:r>
            <a:endParaRPr lang="en-CA" dirty="0"/>
          </a:p>
        </p:txBody>
      </p:sp>
      <p:sp>
        <p:nvSpPr>
          <p:cNvPr id="14" name="Content Placeholder 13"/>
          <p:cNvSpPr>
            <a:spLocks noGrp="1"/>
          </p:cNvSpPr>
          <p:nvPr>
            <p:ph idx="1"/>
          </p:nvPr>
        </p:nvSpPr>
        <p:spPr/>
        <p:txBody>
          <a:bodyPr/>
          <a:lstStyle/>
          <a:p>
            <a:r>
              <a:rPr lang="en-CA" dirty="0"/>
              <a:t>Application control profiles include additional </a:t>
            </a:r>
            <a:r>
              <a:rPr lang="en-CA" dirty="0" smtClean="0"/>
              <a:t>options that you can configure</a:t>
            </a:r>
            <a:endParaRPr lang="en-CA" dirty="0"/>
          </a:p>
        </p:txBody>
      </p:sp>
      <p:sp>
        <p:nvSpPr>
          <p:cNvPr id="9" name="Rectangle 8"/>
          <p:cNvSpPr/>
          <p:nvPr/>
        </p:nvSpPr>
        <p:spPr bwMode="auto">
          <a:xfrm>
            <a:off x="799328" y="1406812"/>
            <a:ext cx="3868364"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sp>
        <p:nvSpPr>
          <p:cNvPr id="11" name="Rounded Rectangular Callout 10"/>
          <p:cNvSpPr/>
          <p:nvPr/>
        </p:nvSpPr>
        <p:spPr bwMode="auto">
          <a:xfrm>
            <a:off x="7454110" y="3406770"/>
            <a:ext cx="2519912" cy="818151"/>
          </a:xfrm>
          <a:prstGeom prst="wedgeRoundRectCallout">
            <a:avLst>
              <a:gd name="adj1" fmla="val -101777"/>
              <a:gd name="adj2" fmla="val -155695"/>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200" dirty="0">
                <a:cs typeface="Arial" pitchFamily="34" charset="0"/>
              </a:rPr>
              <a:t>The number to the right of the cloud symbol indicates the number of cloud applications in the category </a:t>
            </a:r>
            <a:endParaRPr kumimoji="0" lang="en-CA" sz="1200" u="none" strike="noStrike" cap="none" normalizeH="0" baseline="0" dirty="0">
              <a:ln>
                <a:noFill/>
              </a:ln>
              <a:effectLst/>
            </a:endParaRPr>
          </a:p>
        </p:txBody>
      </p:sp>
      <p:pic>
        <p:nvPicPr>
          <p:cNvPr id="3" name="Picture 2"/>
          <p:cNvPicPr>
            <a:picLocks noChangeAspect="1"/>
          </p:cNvPicPr>
          <p:nvPr/>
        </p:nvPicPr>
        <p:blipFill>
          <a:blip r:embed="rId4"/>
          <a:stretch>
            <a:fillRect/>
          </a:stretch>
        </p:blipFill>
        <p:spPr>
          <a:xfrm>
            <a:off x="799326" y="1809355"/>
            <a:ext cx="5395734" cy="4460851"/>
          </a:xfrm>
          <a:prstGeom prst="rect">
            <a:avLst/>
          </a:prstGeom>
          <a:ln>
            <a:solidFill>
              <a:schemeClr val="tx1"/>
            </a:solidFill>
          </a:ln>
        </p:spPr>
      </p:pic>
      <p:sp>
        <p:nvSpPr>
          <p:cNvPr id="10" name="Rectangle 9"/>
          <p:cNvSpPr/>
          <p:nvPr/>
        </p:nvSpPr>
        <p:spPr>
          <a:xfrm>
            <a:off x="4667692" y="2423160"/>
            <a:ext cx="1527368" cy="2057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2" name="Rectangle 11"/>
          <p:cNvSpPr/>
          <p:nvPr/>
        </p:nvSpPr>
        <p:spPr>
          <a:xfrm>
            <a:off x="799327" y="5269230"/>
            <a:ext cx="3475493" cy="100097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251201402"/>
      </p:ext>
    </p:extLst>
  </p:cSld>
  <p:clrMapOvr>
    <a:masterClrMapping/>
  </p:clrMapOvr>
  <p:transition spd="slow">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6230704" y="1867959"/>
            <a:ext cx="5411398" cy="2176467"/>
          </a:xfrm>
          <a:prstGeom prst="rect">
            <a:avLst/>
          </a:prstGeom>
          <a:ln>
            <a:solidFill>
              <a:srgbClr val="0A0A0A"/>
            </a:solidFill>
          </a:ln>
        </p:spPr>
      </p:pic>
      <p:pic>
        <p:nvPicPr>
          <p:cNvPr id="4" name="Picture 3"/>
          <p:cNvPicPr>
            <a:picLocks noChangeAspect="1"/>
          </p:cNvPicPr>
          <p:nvPr/>
        </p:nvPicPr>
        <p:blipFill>
          <a:blip r:embed="rId5"/>
          <a:stretch>
            <a:fillRect/>
          </a:stretch>
        </p:blipFill>
        <p:spPr>
          <a:xfrm>
            <a:off x="799328" y="1867960"/>
            <a:ext cx="5314766" cy="3452704"/>
          </a:xfrm>
          <a:prstGeom prst="rect">
            <a:avLst/>
          </a:prstGeom>
          <a:ln>
            <a:solidFill>
              <a:srgbClr val="0A0A0A"/>
            </a:solidFill>
          </a:ln>
        </p:spPr>
      </p:pic>
      <p:sp>
        <p:nvSpPr>
          <p:cNvPr id="2" name="Title 1"/>
          <p:cNvSpPr>
            <a:spLocks noGrp="1"/>
          </p:cNvSpPr>
          <p:nvPr>
            <p:ph type="title"/>
          </p:nvPr>
        </p:nvSpPr>
        <p:spPr/>
        <p:txBody>
          <a:bodyPr/>
          <a:lstStyle/>
          <a:p>
            <a:r>
              <a:rPr lang="en-US" dirty="0"/>
              <a:t>Protocol </a:t>
            </a:r>
            <a:r>
              <a:rPr lang="en-US" dirty="0" smtClean="0"/>
              <a:t>Enforcement</a:t>
            </a:r>
            <a:endParaRPr lang="en-CA" dirty="0"/>
          </a:p>
        </p:txBody>
      </p:sp>
      <p:sp>
        <p:nvSpPr>
          <p:cNvPr id="14" name="Content Placeholder 13"/>
          <p:cNvSpPr>
            <a:spLocks noGrp="1"/>
          </p:cNvSpPr>
          <p:nvPr>
            <p:ph idx="1"/>
          </p:nvPr>
        </p:nvSpPr>
        <p:spPr/>
        <p:txBody>
          <a:bodyPr/>
          <a:lstStyle/>
          <a:p>
            <a:r>
              <a:rPr lang="en-CA" dirty="0"/>
              <a:t>Allows blocking or monitoring of known services on unknown ports</a:t>
            </a:r>
          </a:p>
        </p:txBody>
      </p:sp>
      <p:sp>
        <p:nvSpPr>
          <p:cNvPr id="9" name="Rectangle 8"/>
          <p:cNvSpPr/>
          <p:nvPr/>
        </p:nvSpPr>
        <p:spPr bwMode="auto">
          <a:xfrm>
            <a:off x="799328" y="1416677"/>
            <a:ext cx="3868364"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cxnSp>
        <p:nvCxnSpPr>
          <p:cNvPr id="8" name="Straight Arrow Connector 7"/>
          <p:cNvCxnSpPr/>
          <p:nvPr/>
        </p:nvCxnSpPr>
        <p:spPr>
          <a:xfrm flipV="1">
            <a:off x="1680210" y="3485248"/>
            <a:ext cx="4627796" cy="51588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880110" y="3890010"/>
            <a:ext cx="800100" cy="2222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0" name="Rectangle 9"/>
          <p:cNvSpPr/>
          <p:nvPr/>
        </p:nvSpPr>
        <p:spPr>
          <a:xfrm>
            <a:off x="10858500" y="2194560"/>
            <a:ext cx="783602" cy="180657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7" name="Rounded Rectangular Callout 16"/>
          <p:cNvSpPr/>
          <p:nvPr/>
        </p:nvSpPr>
        <p:spPr bwMode="auto">
          <a:xfrm>
            <a:off x="9996796" y="4531371"/>
            <a:ext cx="1723407" cy="422909"/>
          </a:xfrm>
          <a:prstGeom prst="wedgeRoundRectCallout">
            <a:avLst>
              <a:gd name="adj1" fmla="val 11538"/>
              <a:gd name="adj2" fmla="val -188081"/>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base" hangingPunct="0">
              <a:spcBef>
                <a:spcPct val="20000"/>
              </a:spcBef>
              <a:spcAft>
                <a:spcPct val="0"/>
              </a:spcAft>
              <a:buClr>
                <a:schemeClr val="accent1"/>
              </a:buClr>
              <a:buSzPct val="90000"/>
            </a:pPr>
            <a:r>
              <a:rPr lang="en-US" sz="1200" dirty="0">
                <a:cs typeface="Arial" pitchFamily="34" charset="0"/>
              </a:rPr>
              <a:t>List of known services</a:t>
            </a:r>
            <a:endParaRPr kumimoji="0" lang="en-CA" sz="1200" u="none" strike="noStrike" cap="none" normalizeH="0" baseline="0" dirty="0">
              <a:ln>
                <a:noFill/>
              </a:ln>
              <a:effectLst/>
            </a:endParaRPr>
          </a:p>
        </p:txBody>
      </p:sp>
      <p:sp>
        <p:nvSpPr>
          <p:cNvPr id="13" name="Rectangle 12"/>
          <p:cNvSpPr/>
          <p:nvPr/>
        </p:nvSpPr>
        <p:spPr>
          <a:xfrm>
            <a:off x="7258050" y="2388870"/>
            <a:ext cx="1775309" cy="320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2343814648"/>
      </p:ext>
    </p:extLst>
  </p:cSld>
  <p:clrMapOvr>
    <a:masterClrMapping/>
  </p:clrMapOvr>
  <p:transition spd="slow">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5272532" y="961721"/>
            <a:ext cx="6773022" cy="5460121"/>
          </a:xfrm>
          <a:prstGeom prst="rect">
            <a:avLst/>
          </a:prstGeom>
          <a:ln>
            <a:solidFill>
              <a:srgbClr val="0A0A0A"/>
            </a:solidFill>
          </a:ln>
        </p:spPr>
      </p:pic>
      <p:sp>
        <p:nvSpPr>
          <p:cNvPr id="5" name="Content Placeholder 4"/>
          <p:cNvSpPr>
            <a:spLocks noGrp="1"/>
          </p:cNvSpPr>
          <p:nvPr>
            <p:ph idx="15"/>
          </p:nvPr>
        </p:nvSpPr>
        <p:spPr/>
        <p:txBody>
          <a:bodyPr/>
          <a:lstStyle/>
          <a:p>
            <a:r>
              <a:rPr lang="en-US" dirty="0">
                <a:cs typeface="Arial" pitchFamily="34" charset="0"/>
              </a:rPr>
              <a:t>The IPS engine identifies the application</a:t>
            </a:r>
          </a:p>
          <a:p>
            <a:r>
              <a:rPr lang="en-US" dirty="0">
                <a:cs typeface="Arial" pitchFamily="34" charset="0"/>
              </a:rPr>
              <a:t>The application control profile scans for matches in this order:</a:t>
            </a:r>
          </a:p>
          <a:p>
            <a:pPr marL="558403" lvl="1" indent="-342900">
              <a:buFont typeface="+mj-lt"/>
              <a:buAutoNum type="arabicPeriod"/>
            </a:pPr>
            <a:r>
              <a:rPr lang="en-US" dirty="0">
                <a:cs typeface="Arial" pitchFamily="34" charset="0"/>
              </a:rPr>
              <a:t>Application and filter overrides</a:t>
            </a:r>
          </a:p>
          <a:p>
            <a:pPr marL="558403" lvl="1" indent="-342900">
              <a:buFont typeface="+mj-lt"/>
              <a:buAutoNum type="arabicPeriod"/>
            </a:pPr>
            <a:r>
              <a:rPr lang="en-US" dirty="0">
                <a:cs typeface="Arial" pitchFamily="34" charset="0"/>
              </a:rPr>
              <a:t>Categories</a:t>
            </a:r>
          </a:p>
          <a:p>
            <a:pPr marL="287337" lvl="1" indent="0">
              <a:buFont typeface="Lucida Grande"/>
              <a:buNone/>
            </a:pPr>
            <a:endParaRPr lang="en-US" dirty="0">
              <a:cs typeface="Arial" pitchFamily="34" charset="0"/>
            </a:endParaRPr>
          </a:p>
        </p:txBody>
      </p:sp>
      <p:sp>
        <p:nvSpPr>
          <p:cNvPr id="4" name="Title 3"/>
          <p:cNvSpPr>
            <a:spLocks noGrp="1"/>
          </p:cNvSpPr>
          <p:nvPr>
            <p:ph type="title"/>
          </p:nvPr>
        </p:nvSpPr>
        <p:spPr/>
        <p:txBody>
          <a:bodyPr/>
          <a:lstStyle/>
          <a:p>
            <a:r>
              <a:rPr lang="en-CA" dirty="0"/>
              <a:t>Scanning Order</a:t>
            </a:r>
          </a:p>
        </p:txBody>
      </p:sp>
      <p:sp>
        <p:nvSpPr>
          <p:cNvPr id="18" name="Rectangle 17"/>
          <p:cNvSpPr/>
          <p:nvPr/>
        </p:nvSpPr>
        <p:spPr bwMode="auto">
          <a:xfrm>
            <a:off x="5285232" y="567360"/>
            <a:ext cx="3857718"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sp>
        <p:nvSpPr>
          <p:cNvPr id="13" name="Rectangle 12"/>
          <p:cNvSpPr/>
          <p:nvPr/>
        </p:nvSpPr>
        <p:spPr bwMode="auto">
          <a:xfrm>
            <a:off x="5341395" y="1687266"/>
            <a:ext cx="657612" cy="183739"/>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1" name="Rectangle 10"/>
          <p:cNvSpPr/>
          <p:nvPr/>
        </p:nvSpPr>
        <p:spPr bwMode="auto">
          <a:xfrm>
            <a:off x="5285232" y="3878888"/>
            <a:ext cx="1767078" cy="224481"/>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6" name="Oval 15"/>
          <p:cNvSpPr/>
          <p:nvPr/>
        </p:nvSpPr>
        <p:spPr bwMode="auto">
          <a:xfrm>
            <a:off x="5025599" y="3878888"/>
            <a:ext cx="315795" cy="304483"/>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1</a:t>
            </a:r>
            <a:endParaRPr kumimoji="0" lang="en-CA" sz="2400" u="none" strike="noStrike" cap="none" normalizeH="0" baseline="0" dirty="0">
              <a:ln>
                <a:noFill/>
              </a:ln>
              <a:solidFill>
                <a:schemeClr val="bg1"/>
              </a:solidFill>
            </a:endParaRPr>
          </a:p>
        </p:txBody>
      </p:sp>
      <p:sp>
        <p:nvSpPr>
          <p:cNvPr id="14" name="Oval 13"/>
          <p:cNvSpPr/>
          <p:nvPr/>
        </p:nvSpPr>
        <p:spPr bwMode="auto">
          <a:xfrm>
            <a:off x="5028796" y="1626735"/>
            <a:ext cx="304800" cy="30480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2</a:t>
            </a:r>
            <a:endParaRPr kumimoji="0" lang="en-CA" sz="2400" u="none" strike="noStrike" cap="none" normalizeH="0" baseline="0" dirty="0">
              <a:ln>
                <a:noFill/>
              </a:ln>
              <a:solidFill>
                <a:schemeClr val="bg1"/>
              </a:solidFill>
            </a:endParaRPr>
          </a:p>
        </p:txBody>
      </p:sp>
    </p:spTree>
    <p:custDataLst>
      <p:tags r:id="rId1"/>
    </p:custDataLst>
    <p:extLst>
      <p:ext uri="{BB962C8B-B14F-4D97-AF65-F5344CB8AC3E}">
        <p14:creationId xmlns:p14="http://schemas.microsoft.com/office/powerpoint/2010/main" val="397213443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par>
                          <p:cTn id="10" fill="hold">
                            <p:stCondLst>
                              <p:cond delay="500"/>
                            </p:stCondLst>
                            <p:childTnLst>
                              <p:par>
                                <p:cTn id="11" presetID="53" presetClass="entr" presetSubtype="16" fill="hold" grpId="0" nodeType="afterEffect">
                                  <p:stCondLst>
                                    <p:cond delay="1500"/>
                                  </p:stCondLst>
                                  <p:childTnLst>
                                    <p:set>
                                      <p:cBhvr>
                                        <p:cTn id="12" dur="1" fill="hold">
                                          <p:stCondLst>
                                            <p:cond delay="0"/>
                                          </p:stCondLst>
                                        </p:cTn>
                                        <p:tgtEl>
                                          <p:spTgt spid="11"/>
                                        </p:tgtEl>
                                        <p:attrNameLst>
                                          <p:attrName>style.visibility</p:attrName>
                                        </p:attrNameLst>
                                      </p:cBhvr>
                                      <p:to>
                                        <p:strVal val="visible"/>
                                      </p:to>
                                    </p:set>
                                    <p:anim calcmode="lin" valueType="num">
                                      <p:cBhvr>
                                        <p:cTn id="13" dur="500" fill="hold"/>
                                        <p:tgtEl>
                                          <p:spTgt spid="11"/>
                                        </p:tgtEl>
                                        <p:attrNameLst>
                                          <p:attrName>ppt_w</p:attrName>
                                        </p:attrNameLst>
                                      </p:cBhvr>
                                      <p:tavLst>
                                        <p:tav tm="0">
                                          <p:val>
                                            <p:fltVal val="0"/>
                                          </p:val>
                                        </p:tav>
                                        <p:tav tm="100000">
                                          <p:val>
                                            <p:strVal val="#ppt_w"/>
                                          </p:val>
                                        </p:tav>
                                      </p:tavLst>
                                    </p:anim>
                                    <p:anim calcmode="lin" valueType="num">
                                      <p:cBhvr>
                                        <p:cTn id="14" dur="500" fill="hold"/>
                                        <p:tgtEl>
                                          <p:spTgt spid="11"/>
                                        </p:tgtEl>
                                        <p:attrNameLst>
                                          <p:attrName>ppt_h</p:attrName>
                                        </p:attrNameLst>
                                      </p:cBhvr>
                                      <p:tavLst>
                                        <p:tav tm="0">
                                          <p:val>
                                            <p:fltVal val="0"/>
                                          </p:val>
                                        </p:tav>
                                        <p:tav tm="100000">
                                          <p:val>
                                            <p:strVal val="#ppt_h"/>
                                          </p:val>
                                        </p:tav>
                                      </p:tavLst>
                                    </p:anim>
                                    <p:animEffect transition="in" filter="fade">
                                      <p:cBhvr>
                                        <p:cTn id="15" dur="500"/>
                                        <p:tgtEl>
                                          <p:spTgt spid="11"/>
                                        </p:tgtEl>
                                      </p:cBhvr>
                                    </p:animEffect>
                                  </p:childTnLst>
                                </p:cTn>
                              </p:par>
                            </p:childTnLst>
                          </p:cTn>
                        </p:par>
                        <p:par>
                          <p:cTn id="16" fill="hold">
                            <p:stCondLst>
                              <p:cond delay="2500"/>
                            </p:stCondLst>
                            <p:childTnLst>
                              <p:par>
                                <p:cTn id="17" presetID="53" presetClass="entr" presetSubtype="16"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childTnLst>
                          </p:cTn>
                        </p:par>
                        <p:par>
                          <p:cTn id="22" fill="hold">
                            <p:stCondLst>
                              <p:cond delay="3000"/>
                            </p:stCondLst>
                            <p:childTnLst>
                              <p:par>
                                <p:cTn id="23" presetID="53" presetClass="entr" presetSubtype="16" fill="hold" grpId="0" nodeType="afterEffect">
                                  <p:stCondLst>
                                    <p:cond delay="1500"/>
                                  </p:stCondLst>
                                  <p:childTnLst>
                                    <p:set>
                                      <p:cBhvr>
                                        <p:cTn id="24" dur="1" fill="hold">
                                          <p:stCondLst>
                                            <p:cond delay="0"/>
                                          </p:stCondLst>
                                        </p:cTn>
                                        <p:tgtEl>
                                          <p:spTgt spid="13"/>
                                        </p:tgtEl>
                                        <p:attrNameLst>
                                          <p:attrName>style.visibility</p:attrName>
                                        </p:attrNameLst>
                                      </p:cBhvr>
                                      <p:to>
                                        <p:strVal val="visible"/>
                                      </p:to>
                                    </p:set>
                                    <p:anim calcmode="lin" valueType="num">
                                      <p:cBhvr>
                                        <p:cTn id="25" dur="500" fill="hold"/>
                                        <p:tgtEl>
                                          <p:spTgt spid="13"/>
                                        </p:tgtEl>
                                        <p:attrNameLst>
                                          <p:attrName>ppt_w</p:attrName>
                                        </p:attrNameLst>
                                      </p:cBhvr>
                                      <p:tavLst>
                                        <p:tav tm="0">
                                          <p:val>
                                            <p:fltVal val="0"/>
                                          </p:val>
                                        </p:tav>
                                        <p:tav tm="100000">
                                          <p:val>
                                            <p:strVal val="#ppt_w"/>
                                          </p:val>
                                        </p:tav>
                                      </p:tavLst>
                                    </p:anim>
                                    <p:anim calcmode="lin" valueType="num">
                                      <p:cBhvr>
                                        <p:cTn id="26" dur="500" fill="hold"/>
                                        <p:tgtEl>
                                          <p:spTgt spid="13"/>
                                        </p:tgtEl>
                                        <p:attrNameLst>
                                          <p:attrName>ppt_h</p:attrName>
                                        </p:attrNameLst>
                                      </p:cBhvr>
                                      <p:tavLst>
                                        <p:tav tm="0">
                                          <p:val>
                                            <p:fltVal val="0"/>
                                          </p:val>
                                        </p:tav>
                                        <p:tav tm="100000">
                                          <p:val>
                                            <p:strVal val="#ppt_h"/>
                                          </p:val>
                                        </p:tav>
                                      </p:tavLst>
                                    </p:anim>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1" grpId="0" animBg="1"/>
      <p:bldP spid="16"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6444150" y="1847755"/>
            <a:ext cx="5488770" cy="4365186"/>
          </a:xfrm>
          <a:prstGeom prst="rect">
            <a:avLst/>
          </a:prstGeom>
          <a:ln>
            <a:solidFill>
              <a:srgbClr val="0A0A0A"/>
            </a:solidFill>
          </a:ln>
        </p:spPr>
      </p:pic>
      <p:sp>
        <p:nvSpPr>
          <p:cNvPr id="2" name="Title 1"/>
          <p:cNvSpPr>
            <a:spLocks noGrp="1"/>
          </p:cNvSpPr>
          <p:nvPr>
            <p:ph type="title"/>
          </p:nvPr>
        </p:nvSpPr>
        <p:spPr/>
        <p:txBody>
          <a:bodyPr/>
          <a:lstStyle/>
          <a:p>
            <a:r>
              <a:rPr lang="en-CA" dirty="0"/>
              <a:t>Order of Scan and Blocking Behavior (Scenario 1)</a:t>
            </a:r>
          </a:p>
        </p:txBody>
      </p:sp>
      <p:sp>
        <p:nvSpPr>
          <p:cNvPr id="15" name="Content Placeholder 14"/>
          <p:cNvSpPr>
            <a:spLocks noGrp="1"/>
          </p:cNvSpPr>
          <p:nvPr>
            <p:ph idx="15"/>
          </p:nvPr>
        </p:nvSpPr>
        <p:spPr/>
        <p:txBody>
          <a:bodyPr/>
          <a:lstStyle/>
          <a:p>
            <a:pPr marL="457200" indent="-457200">
              <a:buFont typeface="+mj-lt"/>
              <a:buAutoNum type="arabicPeriod"/>
            </a:pPr>
            <a:r>
              <a:rPr lang="en-CA" b="1" dirty="0"/>
              <a:t>Application Overrides</a:t>
            </a:r>
            <a:r>
              <a:rPr lang="en-CA" dirty="0"/>
              <a:t>: </a:t>
            </a:r>
            <a:r>
              <a:rPr lang="en-CA" dirty="0" err="1"/>
              <a:t>Battle.Net</a:t>
            </a:r>
            <a:r>
              <a:rPr lang="en-CA" dirty="0"/>
              <a:t> and Dailymotion applications are set to </a:t>
            </a:r>
            <a:r>
              <a:rPr lang="en-CA" b="1" dirty="0" smtClean="0"/>
              <a:t>Monitor</a:t>
            </a:r>
            <a:endParaRPr lang="en-CA" dirty="0"/>
          </a:p>
          <a:p>
            <a:pPr marL="457200" indent="-457200">
              <a:buFont typeface="+mj-lt"/>
              <a:buAutoNum type="arabicPeriod"/>
            </a:pPr>
            <a:r>
              <a:rPr lang="en-CA" b="1" dirty="0"/>
              <a:t>Filter Overrides</a:t>
            </a:r>
            <a:r>
              <a:rPr lang="en-CA" dirty="0"/>
              <a:t>: Excessive bandwidth consuming applications are set to </a:t>
            </a:r>
            <a:r>
              <a:rPr lang="en-CA" b="1" dirty="0"/>
              <a:t>Block</a:t>
            </a:r>
            <a:endParaRPr lang="en-CA" dirty="0"/>
          </a:p>
          <a:p>
            <a:pPr lvl="1"/>
            <a:r>
              <a:rPr lang="en-CA" dirty="0" smtClean="0"/>
              <a:t>Contains </a:t>
            </a:r>
            <a:r>
              <a:rPr lang="en-CA" dirty="0"/>
              <a:t>applications from different categories – </a:t>
            </a:r>
            <a:r>
              <a:rPr lang="en-CA" dirty="0" err="1"/>
              <a:t>BitTorrent</a:t>
            </a:r>
            <a:r>
              <a:rPr lang="en-CA" dirty="0"/>
              <a:t> (P2P), </a:t>
            </a:r>
            <a:r>
              <a:rPr lang="en-CA" dirty="0" err="1"/>
              <a:t>Adobe.Update</a:t>
            </a:r>
            <a:r>
              <a:rPr lang="en-CA" dirty="0"/>
              <a:t> (Update), FaceTime (VOIP), Flickr (</a:t>
            </a:r>
            <a:r>
              <a:rPr lang="en-CA" dirty="0" err="1"/>
              <a:t>Social.Media</a:t>
            </a:r>
            <a:r>
              <a:rPr lang="en-CA" dirty="0"/>
              <a:t>)</a:t>
            </a:r>
          </a:p>
          <a:p>
            <a:pPr marL="457200" indent="-457200">
              <a:buFont typeface="+mj-lt"/>
              <a:buAutoNum type="arabicPeriod"/>
            </a:pPr>
            <a:r>
              <a:rPr lang="en-CA" b="1" dirty="0"/>
              <a:t>Categories</a:t>
            </a:r>
            <a:r>
              <a:rPr lang="en-CA" dirty="0"/>
              <a:t>: The </a:t>
            </a:r>
            <a:r>
              <a:rPr lang="en-CA" b="1" dirty="0"/>
              <a:t>Game</a:t>
            </a:r>
            <a:r>
              <a:rPr lang="en-CA" dirty="0"/>
              <a:t> and </a:t>
            </a:r>
            <a:r>
              <a:rPr lang="en-CA" b="1" dirty="0"/>
              <a:t>Video/Audio</a:t>
            </a:r>
            <a:r>
              <a:rPr lang="en-CA" dirty="0"/>
              <a:t> categories are set to </a:t>
            </a:r>
            <a:r>
              <a:rPr lang="en-CA" b="1" dirty="0"/>
              <a:t>Block</a:t>
            </a:r>
            <a:r>
              <a:rPr lang="en-CA" dirty="0"/>
              <a:t> and all other categories </a:t>
            </a:r>
            <a:r>
              <a:rPr lang="en-CA" dirty="0" smtClean="0"/>
              <a:t>are set </a:t>
            </a:r>
            <a:r>
              <a:rPr lang="en-CA" dirty="0"/>
              <a:t>to </a:t>
            </a:r>
            <a:r>
              <a:rPr lang="en-CA" b="1" dirty="0"/>
              <a:t>Monitor</a:t>
            </a:r>
            <a:endParaRPr lang="en-CA" dirty="0"/>
          </a:p>
          <a:p>
            <a:endParaRPr lang="en-US" dirty="0"/>
          </a:p>
        </p:txBody>
      </p:sp>
      <p:sp>
        <p:nvSpPr>
          <p:cNvPr id="7" name="Oval 6"/>
          <p:cNvSpPr/>
          <p:nvPr/>
        </p:nvSpPr>
        <p:spPr bwMode="auto">
          <a:xfrm>
            <a:off x="6149668" y="5300241"/>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1</a:t>
            </a:r>
            <a:endParaRPr kumimoji="0" lang="en-CA" sz="2400" u="none" strike="noStrike" cap="none" normalizeH="0" baseline="0" dirty="0">
              <a:ln>
                <a:noFill/>
              </a:ln>
              <a:solidFill>
                <a:schemeClr val="bg1"/>
              </a:solidFill>
            </a:endParaRPr>
          </a:p>
        </p:txBody>
      </p:sp>
      <p:sp>
        <p:nvSpPr>
          <p:cNvPr id="8" name="Oval 7"/>
          <p:cNvSpPr/>
          <p:nvPr/>
        </p:nvSpPr>
        <p:spPr bwMode="auto">
          <a:xfrm>
            <a:off x="6140755" y="5649423"/>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2</a:t>
            </a:r>
            <a:endParaRPr kumimoji="0" lang="en-CA" sz="2400" u="none" strike="noStrike" cap="none" normalizeH="0" baseline="0" dirty="0">
              <a:ln>
                <a:noFill/>
              </a:ln>
              <a:solidFill>
                <a:schemeClr val="bg1"/>
              </a:solidFill>
            </a:endParaRPr>
          </a:p>
        </p:txBody>
      </p:sp>
      <p:sp>
        <p:nvSpPr>
          <p:cNvPr id="9" name="Oval 8"/>
          <p:cNvSpPr/>
          <p:nvPr/>
        </p:nvSpPr>
        <p:spPr bwMode="auto">
          <a:xfrm>
            <a:off x="9906472" y="3677413"/>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3</a:t>
            </a:r>
            <a:endParaRPr kumimoji="0" lang="en-CA" sz="2400" u="none" strike="noStrike" cap="none" normalizeH="0" baseline="0" dirty="0">
              <a:ln>
                <a:noFill/>
              </a:ln>
              <a:solidFill>
                <a:schemeClr val="bg1"/>
              </a:solidFill>
            </a:endParaRPr>
          </a:p>
        </p:txBody>
      </p:sp>
      <p:sp>
        <p:nvSpPr>
          <p:cNvPr id="14" name="Rectangle 13"/>
          <p:cNvSpPr/>
          <p:nvPr/>
        </p:nvSpPr>
        <p:spPr bwMode="auto">
          <a:xfrm>
            <a:off x="6444150" y="1376901"/>
            <a:ext cx="3857718"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sp>
        <p:nvSpPr>
          <p:cNvPr id="10" name="Rectangle 9"/>
          <p:cNvSpPr/>
          <p:nvPr/>
        </p:nvSpPr>
        <p:spPr bwMode="auto">
          <a:xfrm>
            <a:off x="10301868" y="3699316"/>
            <a:ext cx="1482462" cy="186884"/>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2" name="Rectangle 11"/>
          <p:cNvSpPr/>
          <p:nvPr/>
        </p:nvSpPr>
        <p:spPr bwMode="auto">
          <a:xfrm flipV="1">
            <a:off x="6444151" y="5300241"/>
            <a:ext cx="3109056" cy="284124"/>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3" name="Rectangle 12"/>
          <p:cNvSpPr/>
          <p:nvPr/>
        </p:nvSpPr>
        <p:spPr bwMode="auto">
          <a:xfrm>
            <a:off x="6444149" y="5608796"/>
            <a:ext cx="3109058" cy="311944"/>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1" name="Rectangle 10"/>
          <p:cNvSpPr/>
          <p:nvPr/>
        </p:nvSpPr>
        <p:spPr bwMode="auto">
          <a:xfrm>
            <a:off x="8373009" y="3120300"/>
            <a:ext cx="916600" cy="166616"/>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Tree>
    <p:custDataLst>
      <p:tags r:id="rId1"/>
    </p:custDataLst>
    <p:extLst>
      <p:ext uri="{BB962C8B-B14F-4D97-AF65-F5344CB8AC3E}">
        <p14:creationId xmlns:p14="http://schemas.microsoft.com/office/powerpoint/2010/main" val="673179310"/>
      </p:ext>
    </p:extLst>
  </p:cSld>
  <p:clrMapOvr>
    <a:masterClrMapping/>
  </p:clrMapOvr>
  <p:transition spd="slow">
    <p:wip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6439562" y="1692210"/>
            <a:ext cx="5456740" cy="4338238"/>
          </a:xfrm>
          <a:prstGeom prst="rect">
            <a:avLst/>
          </a:prstGeom>
          <a:ln>
            <a:solidFill>
              <a:srgbClr val="0A0A0A"/>
            </a:solidFill>
          </a:ln>
        </p:spPr>
      </p:pic>
      <p:sp>
        <p:nvSpPr>
          <p:cNvPr id="2" name="Title 1"/>
          <p:cNvSpPr>
            <a:spLocks noGrp="1"/>
          </p:cNvSpPr>
          <p:nvPr>
            <p:ph type="title"/>
          </p:nvPr>
        </p:nvSpPr>
        <p:spPr/>
        <p:txBody>
          <a:bodyPr/>
          <a:lstStyle/>
          <a:p>
            <a:r>
              <a:rPr lang="en-CA" dirty="0"/>
              <a:t>Order of Scan and Blocking Behavior (Scenario 2)</a:t>
            </a:r>
          </a:p>
        </p:txBody>
      </p:sp>
      <p:sp>
        <p:nvSpPr>
          <p:cNvPr id="4" name="Content Placeholder 3"/>
          <p:cNvSpPr>
            <a:spLocks noGrp="1"/>
          </p:cNvSpPr>
          <p:nvPr>
            <p:ph idx="15"/>
          </p:nvPr>
        </p:nvSpPr>
        <p:spPr/>
        <p:txBody>
          <a:bodyPr/>
          <a:lstStyle/>
          <a:p>
            <a:pPr marL="457200" indent="-457200">
              <a:buFont typeface="+mj-lt"/>
              <a:buAutoNum type="arabicPeriod"/>
            </a:pPr>
            <a:r>
              <a:rPr lang="en-CA" b="1" dirty="0"/>
              <a:t>Filter Overrides</a:t>
            </a:r>
            <a:r>
              <a:rPr lang="en-CA" dirty="0"/>
              <a:t>: Excessive bandwidth consuming applications are set to </a:t>
            </a:r>
            <a:r>
              <a:rPr lang="en-CA" b="1" dirty="0"/>
              <a:t>Block</a:t>
            </a:r>
            <a:endParaRPr lang="en-CA" dirty="0"/>
          </a:p>
          <a:p>
            <a:pPr lvl="1"/>
            <a:r>
              <a:rPr lang="en-CA" dirty="0" smtClean="0"/>
              <a:t>Contains </a:t>
            </a:r>
            <a:r>
              <a:rPr lang="en-CA" dirty="0"/>
              <a:t>applications from different categories – </a:t>
            </a:r>
            <a:r>
              <a:rPr lang="en-CA" dirty="0" err="1"/>
              <a:t>BitTorrent</a:t>
            </a:r>
            <a:r>
              <a:rPr lang="en-CA" dirty="0"/>
              <a:t> (P2P), </a:t>
            </a:r>
            <a:r>
              <a:rPr lang="en-CA" dirty="0" err="1"/>
              <a:t>Adobe.Update</a:t>
            </a:r>
            <a:r>
              <a:rPr lang="en-CA" dirty="0"/>
              <a:t> (Update</a:t>
            </a:r>
            <a:r>
              <a:rPr lang="en-CA" dirty="0" smtClean="0"/>
              <a:t>), FaceTime </a:t>
            </a:r>
            <a:r>
              <a:rPr lang="en-CA" dirty="0"/>
              <a:t>(VOIP), Flickr (</a:t>
            </a:r>
            <a:r>
              <a:rPr lang="en-CA" dirty="0" err="1"/>
              <a:t>Social.Media</a:t>
            </a:r>
            <a:r>
              <a:rPr lang="en-CA" dirty="0"/>
              <a:t>)</a:t>
            </a:r>
            <a:endParaRPr lang="en-CA" b="1" dirty="0"/>
          </a:p>
          <a:p>
            <a:pPr marL="457200" indent="-457200">
              <a:buFont typeface="+mj-lt"/>
              <a:buAutoNum type="arabicPeriod"/>
            </a:pPr>
            <a:r>
              <a:rPr lang="en-CA" b="1" dirty="0"/>
              <a:t>Application Overrides</a:t>
            </a:r>
            <a:r>
              <a:rPr lang="en-CA" dirty="0"/>
              <a:t>: </a:t>
            </a:r>
            <a:r>
              <a:rPr lang="en-CA" dirty="0" err="1"/>
              <a:t>Battle.Net</a:t>
            </a:r>
            <a:r>
              <a:rPr lang="en-CA" dirty="0"/>
              <a:t> and Dailymotion applications are set to </a:t>
            </a:r>
            <a:r>
              <a:rPr lang="en-CA" b="1" dirty="0"/>
              <a:t>Monitor</a:t>
            </a:r>
            <a:endParaRPr lang="en-CA" dirty="0"/>
          </a:p>
          <a:p>
            <a:pPr marL="457200" indent="-457200">
              <a:buFont typeface="+mj-lt"/>
              <a:buAutoNum type="arabicPeriod"/>
            </a:pPr>
            <a:r>
              <a:rPr lang="en-CA" b="1" dirty="0"/>
              <a:t>Categories</a:t>
            </a:r>
            <a:r>
              <a:rPr lang="en-CA" dirty="0"/>
              <a:t>: The </a:t>
            </a:r>
            <a:r>
              <a:rPr lang="en-CA" b="1" dirty="0"/>
              <a:t>Game</a:t>
            </a:r>
            <a:r>
              <a:rPr lang="en-CA" dirty="0"/>
              <a:t> and </a:t>
            </a:r>
            <a:r>
              <a:rPr lang="en-CA" b="1" dirty="0"/>
              <a:t>Video/Audio</a:t>
            </a:r>
            <a:r>
              <a:rPr lang="en-CA" dirty="0"/>
              <a:t> categories are set to </a:t>
            </a:r>
            <a:r>
              <a:rPr lang="en-CA" b="1" dirty="0"/>
              <a:t>Block</a:t>
            </a:r>
            <a:r>
              <a:rPr lang="en-CA" dirty="0"/>
              <a:t> and all other categories set to </a:t>
            </a:r>
            <a:r>
              <a:rPr lang="en-CA" b="1" dirty="0"/>
              <a:t>Monitor</a:t>
            </a:r>
            <a:endParaRPr lang="en-CA" dirty="0"/>
          </a:p>
          <a:p>
            <a:endParaRPr lang="en-US" dirty="0"/>
          </a:p>
        </p:txBody>
      </p:sp>
      <p:sp>
        <p:nvSpPr>
          <p:cNvPr id="7" name="Oval 6"/>
          <p:cNvSpPr/>
          <p:nvPr/>
        </p:nvSpPr>
        <p:spPr bwMode="auto">
          <a:xfrm>
            <a:off x="6124646" y="5136434"/>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1</a:t>
            </a:r>
            <a:endParaRPr kumimoji="0" lang="en-CA" sz="2400" u="none" strike="noStrike" cap="none" normalizeH="0" baseline="0" dirty="0">
              <a:ln>
                <a:noFill/>
              </a:ln>
              <a:solidFill>
                <a:schemeClr val="bg1"/>
              </a:solidFill>
            </a:endParaRPr>
          </a:p>
        </p:txBody>
      </p:sp>
      <p:sp>
        <p:nvSpPr>
          <p:cNvPr id="8" name="Oval 7"/>
          <p:cNvSpPr/>
          <p:nvPr/>
        </p:nvSpPr>
        <p:spPr bwMode="auto">
          <a:xfrm>
            <a:off x="6124645" y="5441935"/>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2</a:t>
            </a:r>
            <a:endParaRPr kumimoji="0" lang="en-CA" sz="2400" u="none" strike="noStrike" cap="none" normalizeH="0" baseline="0" dirty="0">
              <a:ln>
                <a:noFill/>
              </a:ln>
              <a:solidFill>
                <a:schemeClr val="bg1"/>
              </a:solidFill>
            </a:endParaRPr>
          </a:p>
        </p:txBody>
      </p:sp>
      <p:sp>
        <p:nvSpPr>
          <p:cNvPr id="9" name="Oval 8"/>
          <p:cNvSpPr/>
          <p:nvPr/>
        </p:nvSpPr>
        <p:spPr bwMode="auto">
          <a:xfrm>
            <a:off x="9876225" y="3518352"/>
            <a:ext cx="263597" cy="230690"/>
          </a:xfrm>
          <a:prstGeom prst="ellipse">
            <a:avLst/>
          </a:prstGeom>
          <a:solidFill>
            <a:srgbClr val="00B050"/>
          </a:solidFill>
          <a:ln w="38100" cap="flat" cmpd="sng" algn="ctr">
            <a:solidFill>
              <a:srgbClr val="00B05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2400" dirty="0">
                <a:solidFill>
                  <a:schemeClr val="bg1"/>
                </a:solidFill>
              </a:rPr>
              <a:t>3</a:t>
            </a:r>
            <a:endParaRPr kumimoji="0" lang="en-CA" sz="2400" u="none" strike="noStrike" cap="none" normalizeH="0" baseline="0" dirty="0">
              <a:ln>
                <a:noFill/>
              </a:ln>
              <a:solidFill>
                <a:schemeClr val="bg1"/>
              </a:solidFill>
            </a:endParaRPr>
          </a:p>
        </p:txBody>
      </p:sp>
      <p:sp>
        <p:nvSpPr>
          <p:cNvPr id="14" name="Rectangle 13"/>
          <p:cNvSpPr/>
          <p:nvPr/>
        </p:nvSpPr>
        <p:spPr bwMode="auto">
          <a:xfrm>
            <a:off x="6439562" y="1322787"/>
            <a:ext cx="3857718"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Security Profiles </a:t>
            </a:r>
            <a:r>
              <a:rPr lang="en-CA" sz="1600" dirty="0"/>
              <a:t>&gt; </a:t>
            </a:r>
            <a:r>
              <a:rPr lang="en-CA" sz="1600" b="1" dirty="0"/>
              <a:t>Application Control</a:t>
            </a:r>
            <a:endParaRPr kumimoji="0" lang="en-CA" sz="1600" b="1" u="none" strike="noStrike" cap="none" normalizeH="0" baseline="0" dirty="0">
              <a:ln>
                <a:noFill/>
              </a:ln>
              <a:effectLst/>
            </a:endParaRPr>
          </a:p>
        </p:txBody>
      </p:sp>
      <p:sp>
        <p:nvSpPr>
          <p:cNvPr id="11" name="Rectangle 10"/>
          <p:cNvSpPr/>
          <p:nvPr/>
        </p:nvSpPr>
        <p:spPr bwMode="auto">
          <a:xfrm>
            <a:off x="10297280" y="3552644"/>
            <a:ext cx="1509910" cy="162106"/>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0" name="Rectangle 9"/>
          <p:cNvSpPr/>
          <p:nvPr/>
        </p:nvSpPr>
        <p:spPr bwMode="auto">
          <a:xfrm>
            <a:off x="8384782" y="2961128"/>
            <a:ext cx="816367" cy="170691"/>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2" name="Rectangle 11"/>
          <p:cNvSpPr/>
          <p:nvPr/>
        </p:nvSpPr>
        <p:spPr bwMode="auto">
          <a:xfrm flipV="1">
            <a:off x="6537959" y="5136434"/>
            <a:ext cx="3014417" cy="220426"/>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
        <p:nvSpPr>
          <p:cNvPr id="13" name="Rectangle 12"/>
          <p:cNvSpPr/>
          <p:nvPr/>
        </p:nvSpPr>
        <p:spPr bwMode="auto">
          <a:xfrm>
            <a:off x="6537958" y="5356859"/>
            <a:ext cx="3014417" cy="315765"/>
          </a:xfrm>
          <a:prstGeom prst="rect">
            <a:avLst/>
          </a:prstGeom>
          <a:noFill/>
          <a:ln w="38100" cap="flat" cmpd="sng" algn="ctr">
            <a:solidFill>
              <a:srgbClr val="FF0000"/>
            </a:solid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endParaRPr kumimoji="0" lang="en-CA" sz="1200" b="0" i="0" u="none" strike="noStrike" cap="none" normalizeH="0" baseline="0" dirty="0">
              <a:ln>
                <a:noFill/>
              </a:ln>
            </a:endParaRPr>
          </a:p>
        </p:txBody>
      </p:sp>
    </p:spTree>
    <p:custDataLst>
      <p:tags r:id="rId1"/>
    </p:custDataLst>
    <p:extLst>
      <p:ext uri="{BB962C8B-B14F-4D97-AF65-F5344CB8AC3E}">
        <p14:creationId xmlns:p14="http://schemas.microsoft.com/office/powerpoint/2010/main" val="4111786048"/>
      </p:ext>
    </p:extLst>
  </p:cSld>
  <p:clrMapOvr>
    <a:masterClrMapping/>
  </p:clrMapOvr>
  <p:transition spd="slow">
    <p:wip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7164370" y="1417982"/>
            <a:ext cx="2228571" cy="1961905"/>
          </a:xfrm>
          <a:prstGeom prst="rect">
            <a:avLst/>
          </a:prstGeom>
          <a:ln>
            <a:solidFill>
              <a:srgbClr val="0A0A0A"/>
            </a:solidFill>
          </a:ln>
        </p:spPr>
      </p:pic>
      <p:sp>
        <p:nvSpPr>
          <p:cNvPr id="2" name="Title 1"/>
          <p:cNvSpPr>
            <a:spLocks noGrp="1"/>
          </p:cNvSpPr>
          <p:nvPr>
            <p:ph type="title"/>
          </p:nvPr>
        </p:nvSpPr>
        <p:spPr/>
        <p:txBody>
          <a:bodyPr>
            <a:normAutofit/>
          </a:bodyPr>
          <a:lstStyle/>
          <a:p>
            <a:r>
              <a:rPr lang="en-US" dirty="0"/>
              <a:t>Actions</a:t>
            </a:r>
          </a:p>
        </p:txBody>
      </p:sp>
      <p:sp>
        <p:nvSpPr>
          <p:cNvPr id="9" name="Content Placeholder 8"/>
          <p:cNvSpPr>
            <a:spLocks noGrp="1"/>
          </p:cNvSpPr>
          <p:nvPr>
            <p:ph idx="1"/>
          </p:nvPr>
        </p:nvSpPr>
        <p:spPr/>
        <p:txBody>
          <a:bodyPr/>
          <a:lstStyle/>
          <a:p>
            <a:r>
              <a:rPr lang="en-US" dirty="0"/>
              <a:t>Allow</a:t>
            </a:r>
          </a:p>
          <a:p>
            <a:pPr lvl="1"/>
            <a:r>
              <a:rPr lang="en-US" dirty="0"/>
              <a:t>Continue to next scan or feature and do not log</a:t>
            </a:r>
          </a:p>
          <a:p>
            <a:r>
              <a:rPr lang="en-US" dirty="0"/>
              <a:t>Monitor</a:t>
            </a:r>
          </a:p>
          <a:p>
            <a:pPr lvl="1"/>
            <a:r>
              <a:rPr lang="en-US" dirty="0"/>
              <a:t>Allow but log</a:t>
            </a:r>
          </a:p>
          <a:p>
            <a:pPr lvl="2"/>
            <a:r>
              <a:rPr lang="en-US" dirty="0"/>
              <a:t>Good for the initial study of your network traffic</a:t>
            </a:r>
          </a:p>
          <a:p>
            <a:r>
              <a:rPr lang="en-US" dirty="0"/>
              <a:t>Block</a:t>
            </a:r>
          </a:p>
          <a:p>
            <a:pPr lvl="1"/>
            <a:r>
              <a:rPr lang="en-US" dirty="0"/>
              <a:t>Drop packets and log</a:t>
            </a:r>
          </a:p>
          <a:p>
            <a:r>
              <a:rPr lang="en-US" dirty="0"/>
              <a:t>Quarantine</a:t>
            </a:r>
          </a:p>
          <a:p>
            <a:pPr lvl="1"/>
            <a:r>
              <a:rPr lang="en-US" dirty="0"/>
              <a:t>Block and log traffic from attacker IP address until the expiration time</a:t>
            </a:r>
          </a:p>
          <a:p>
            <a:pPr lvl="2"/>
            <a:r>
              <a:rPr lang="en-US" dirty="0"/>
              <a:t>Can set duration to days, hours, or minutes</a:t>
            </a:r>
          </a:p>
          <a:p>
            <a:endParaRPr lang="en-US" dirty="0"/>
          </a:p>
        </p:txBody>
      </p:sp>
      <p:sp>
        <p:nvSpPr>
          <p:cNvPr id="7" name="Rectangle 6"/>
          <p:cNvSpPr/>
          <p:nvPr/>
        </p:nvSpPr>
        <p:spPr bwMode="invGray">
          <a:xfrm>
            <a:off x="7233461" y="1683833"/>
            <a:ext cx="1174557" cy="1014761"/>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5" name="Rectangle 4"/>
          <p:cNvSpPr/>
          <p:nvPr/>
        </p:nvSpPr>
        <p:spPr>
          <a:xfrm>
            <a:off x="7233461" y="2756725"/>
            <a:ext cx="2055503" cy="5796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a:p>
        </p:txBody>
      </p:sp>
      <p:sp>
        <p:nvSpPr>
          <p:cNvPr id="11" name="Rounded Rectangular Callout 10"/>
          <p:cNvSpPr/>
          <p:nvPr/>
        </p:nvSpPr>
        <p:spPr bwMode="invGray">
          <a:xfrm>
            <a:off x="9392941" y="3946863"/>
            <a:ext cx="2051825" cy="876598"/>
          </a:xfrm>
          <a:prstGeom prst="wedgeRoundRectCallout">
            <a:avLst>
              <a:gd name="adj1" fmla="val -62549"/>
              <a:gd name="adj2" fmla="val -163577"/>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200" dirty="0"/>
              <a:t>View the list of signatures of native or cloud applications for a specific category</a:t>
            </a:r>
          </a:p>
        </p:txBody>
      </p:sp>
    </p:spTree>
    <p:custDataLst>
      <p:tags r:id="rId1"/>
    </p:custDataLst>
    <p:extLst>
      <p:ext uri="{BB962C8B-B14F-4D97-AF65-F5344CB8AC3E}">
        <p14:creationId xmlns:p14="http://schemas.microsoft.com/office/powerpoint/2010/main" val="3185454547"/>
      </p:ext>
    </p:extLst>
  </p:cSld>
  <p:clrMapOvr>
    <a:masterClrMapping/>
  </p:clrMapOvr>
  <p:transition spd="slow">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4"/>
          <a:stretch>
            <a:fillRect/>
          </a:stretch>
        </p:blipFill>
        <p:spPr>
          <a:xfrm>
            <a:off x="1334748" y="2709423"/>
            <a:ext cx="4752381" cy="2866667"/>
          </a:xfrm>
          <a:prstGeom prst="rect">
            <a:avLst/>
          </a:prstGeom>
          <a:ln>
            <a:solidFill>
              <a:srgbClr val="0A0A0A"/>
            </a:solidFill>
          </a:ln>
        </p:spPr>
      </p:pic>
      <p:sp>
        <p:nvSpPr>
          <p:cNvPr id="2" name="Title 1"/>
          <p:cNvSpPr>
            <a:spLocks noGrp="1"/>
          </p:cNvSpPr>
          <p:nvPr>
            <p:ph type="title"/>
          </p:nvPr>
        </p:nvSpPr>
        <p:spPr/>
        <p:txBody>
          <a:bodyPr/>
          <a:lstStyle/>
          <a:p>
            <a:r>
              <a:rPr lang="en-US" dirty="0">
                <a:cs typeface="Arial" pitchFamily="34" charset="0"/>
              </a:rPr>
              <a:t>Applying an Application Control Profile</a:t>
            </a:r>
            <a:endParaRPr lang="en-CA" dirty="0"/>
          </a:p>
        </p:txBody>
      </p:sp>
      <p:sp>
        <p:nvSpPr>
          <p:cNvPr id="8" name="Content Placeholder 7"/>
          <p:cNvSpPr>
            <a:spLocks noGrp="1"/>
          </p:cNvSpPr>
          <p:nvPr>
            <p:ph idx="1"/>
          </p:nvPr>
        </p:nvSpPr>
        <p:spPr/>
        <p:txBody>
          <a:bodyPr/>
          <a:lstStyle/>
          <a:p>
            <a:r>
              <a:rPr lang="en-CA" dirty="0" smtClean="0"/>
              <a:t>You must apply the </a:t>
            </a:r>
            <a:r>
              <a:rPr lang="en-CA" b="1" dirty="0" smtClean="0"/>
              <a:t>Application Control</a:t>
            </a:r>
            <a:r>
              <a:rPr lang="en-CA" dirty="0" smtClean="0"/>
              <a:t> profile on </a:t>
            </a:r>
            <a:r>
              <a:rPr lang="en-CA" dirty="0"/>
              <a:t>a firewall policy to scan the passing traffic</a:t>
            </a:r>
          </a:p>
          <a:p>
            <a:pPr lvl="1"/>
            <a:r>
              <a:rPr lang="en-CA" dirty="0" smtClean="0"/>
              <a:t>You must also select </a:t>
            </a:r>
            <a:r>
              <a:rPr lang="en-CA" b="1" dirty="0" smtClean="0"/>
              <a:t>SSL/SSH </a:t>
            </a:r>
            <a:r>
              <a:rPr lang="en-CA" b="1" dirty="0"/>
              <a:t>Inspection</a:t>
            </a:r>
            <a:r>
              <a:rPr lang="en-CA" dirty="0"/>
              <a:t> </a:t>
            </a:r>
            <a:r>
              <a:rPr lang="en-CA" dirty="0" smtClean="0"/>
              <a:t>profile</a:t>
            </a:r>
            <a:endParaRPr lang="en-CA" dirty="0"/>
          </a:p>
          <a:p>
            <a:endParaRPr lang="en-CA" dirty="0"/>
          </a:p>
        </p:txBody>
      </p:sp>
      <p:sp>
        <p:nvSpPr>
          <p:cNvPr id="5" name="Rectangle 4"/>
          <p:cNvSpPr/>
          <p:nvPr/>
        </p:nvSpPr>
        <p:spPr bwMode="auto">
          <a:xfrm>
            <a:off x="1334748" y="2347914"/>
            <a:ext cx="3440610"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Firewall Policy</a:t>
            </a:r>
            <a:endParaRPr kumimoji="0" lang="en-CA" sz="1600" b="1" u="none" strike="noStrike" cap="none" normalizeH="0" baseline="0" dirty="0">
              <a:ln>
                <a:noFill/>
              </a:ln>
              <a:effectLst/>
            </a:endParaRPr>
          </a:p>
        </p:txBody>
      </p:sp>
      <p:sp>
        <p:nvSpPr>
          <p:cNvPr id="6" name="Rectangle 5"/>
          <p:cNvSpPr/>
          <p:nvPr/>
        </p:nvSpPr>
        <p:spPr bwMode="invGray">
          <a:xfrm>
            <a:off x="1334747" y="4137660"/>
            <a:ext cx="4631713" cy="1212423"/>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cxnSp>
        <p:nvCxnSpPr>
          <p:cNvPr id="4" name="Straight Arrow Connector 3"/>
          <p:cNvCxnSpPr>
            <a:stCxn id="6" idx="3"/>
          </p:cNvCxnSpPr>
          <p:nvPr/>
        </p:nvCxnSpPr>
        <p:spPr>
          <a:xfrm flipV="1">
            <a:off x="5966460" y="4163360"/>
            <a:ext cx="1962890" cy="580512"/>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10" name="Rounded Rectangular Callout 9"/>
          <p:cNvSpPr/>
          <p:nvPr/>
        </p:nvSpPr>
        <p:spPr bwMode="auto">
          <a:xfrm>
            <a:off x="9274131" y="1805940"/>
            <a:ext cx="2296632" cy="608093"/>
          </a:xfrm>
          <a:prstGeom prst="wedgeRoundRectCallout">
            <a:avLst>
              <a:gd name="adj1" fmla="val -33932"/>
              <a:gd name="adj2" fmla="val 136827"/>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eaLnBrk="0" fontAlgn="base" hangingPunct="0">
              <a:spcBef>
                <a:spcPct val="20000"/>
              </a:spcBef>
              <a:spcAft>
                <a:spcPct val="0"/>
              </a:spcAft>
              <a:buClr>
                <a:schemeClr val="accent1"/>
              </a:buClr>
              <a:buSzPct val="90000"/>
            </a:pPr>
            <a:r>
              <a:rPr kumimoji="0" lang="en-CA" sz="1200" u="none" strike="noStrike" cap="none" normalizeH="0" baseline="0" dirty="0">
                <a:ln>
                  <a:noFill/>
                </a:ln>
                <a:effectLst/>
              </a:rPr>
              <a:t>Use </a:t>
            </a:r>
            <a:r>
              <a:rPr kumimoji="0" lang="en-CA" sz="1200" b="1" u="none" strike="noStrike" cap="none" normalizeH="0" dirty="0">
                <a:ln>
                  <a:noFill/>
                </a:ln>
                <a:effectLst/>
              </a:rPr>
              <a:t>deep-inspection</a:t>
            </a:r>
            <a:r>
              <a:rPr kumimoji="0" lang="en-CA" sz="1200" u="none" strike="noStrike" cap="none" normalizeH="0" dirty="0">
                <a:ln>
                  <a:noFill/>
                </a:ln>
                <a:effectLst/>
              </a:rPr>
              <a:t> profile to scan encrypted traffic</a:t>
            </a:r>
            <a:endParaRPr kumimoji="0" lang="en-CA" sz="1200" u="none" strike="noStrike" cap="none" normalizeH="0" baseline="0" dirty="0">
              <a:ln>
                <a:noFill/>
              </a:ln>
              <a:effectLst/>
            </a:endParaRPr>
          </a:p>
        </p:txBody>
      </p:sp>
      <p:pic>
        <p:nvPicPr>
          <p:cNvPr id="13" name="Picture 12"/>
          <p:cNvPicPr>
            <a:picLocks noChangeAspect="1"/>
          </p:cNvPicPr>
          <p:nvPr/>
        </p:nvPicPr>
        <p:blipFill>
          <a:blip r:embed="rId5"/>
          <a:stretch>
            <a:fillRect/>
          </a:stretch>
        </p:blipFill>
        <p:spPr>
          <a:xfrm>
            <a:off x="7929350" y="2952314"/>
            <a:ext cx="2228571" cy="1428571"/>
          </a:xfrm>
          <a:prstGeom prst="rect">
            <a:avLst/>
          </a:prstGeom>
          <a:ln>
            <a:solidFill>
              <a:srgbClr val="0A0A0A"/>
            </a:solidFill>
          </a:ln>
        </p:spPr>
      </p:pic>
    </p:spTree>
    <p:custDataLst>
      <p:tags r:id="rId1"/>
    </p:custDataLst>
    <p:extLst>
      <p:ext uri="{BB962C8B-B14F-4D97-AF65-F5344CB8AC3E}">
        <p14:creationId xmlns:p14="http://schemas.microsoft.com/office/powerpoint/2010/main" val="736738879"/>
      </p:ext>
    </p:extLst>
  </p:cSld>
  <p:clrMapOvr>
    <a:masterClrMapping/>
  </p:clrMapOvr>
  <p:transition spd="slow">
    <p:wip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5"/>
          </p:nvPr>
        </p:nvSpPr>
        <p:spPr/>
        <p:txBody>
          <a:bodyPr/>
          <a:lstStyle/>
          <a:p>
            <a:r>
              <a:rPr lang="en-CA" dirty="0"/>
              <a:t>Application control in profile mode </a:t>
            </a:r>
            <a:r>
              <a:rPr lang="en-CA" dirty="0" smtClean="0"/>
              <a:t>displays </a:t>
            </a:r>
            <a:r>
              <a:rPr lang="en-CA" dirty="0"/>
              <a:t>similar HTTP block pages </a:t>
            </a:r>
          </a:p>
          <a:p>
            <a:r>
              <a:rPr lang="en-US" dirty="0"/>
              <a:t>HTTP block page includes:</a:t>
            </a:r>
          </a:p>
          <a:p>
            <a:pPr marL="702670" lvl="1" indent="-342900"/>
            <a:r>
              <a:rPr lang="en-US" dirty="0"/>
              <a:t>Category</a:t>
            </a:r>
          </a:p>
          <a:p>
            <a:pPr marL="702670" lvl="1" indent="-342900"/>
            <a:r>
              <a:rPr lang="en-US" dirty="0"/>
              <a:t>Website host and URL</a:t>
            </a:r>
          </a:p>
          <a:p>
            <a:pPr marL="702670" lvl="1" indent="-342900"/>
            <a:r>
              <a:rPr lang="en-US" dirty="0"/>
              <a:t>User name (if authentication is enabled)</a:t>
            </a:r>
          </a:p>
          <a:p>
            <a:pPr marL="702670" lvl="1" indent="-342900"/>
            <a:r>
              <a:rPr lang="en-US" dirty="0"/>
              <a:t>Group name (if authentication is enabled)</a:t>
            </a:r>
          </a:p>
          <a:p>
            <a:pPr marL="702670" lvl="1" indent="-342900"/>
            <a:r>
              <a:rPr lang="en-US" dirty="0"/>
              <a:t>Policy UUID</a:t>
            </a:r>
          </a:p>
          <a:p>
            <a:pPr marL="702670" lvl="1" indent="-342900"/>
            <a:endParaRPr lang="en-US" dirty="0"/>
          </a:p>
        </p:txBody>
      </p:sp>
      <p:sp>
        <p:nvSpPr>
          <p:cNvPr id="4" name="Title 3"/>
          <p:cNvSpPr>
            <a:spLocks noGrp="1"/>
          </p:cNvSpPr>
          <p:nvPr>
            <p:ph type="title"/>
          </p:nvPr>
        </p:nvSpPr>
        <p:spPr/>
        <p:txBody>
          <a:bodyPr/>
          <a:lstStyle/>
          <a:p>
            <a:r>
              <a:rPr lang="en-CA" dirty="0"/>
              <a:t>Block Page</a:t>
            </a:r>
          </a:p>
        </p:txBody>
      </p:sp>
      <p:pic>
        <p:nvPicPr>
          <p:cNvPr id="2" name="Picture 1"/>
          <p:cNvPicPr>
            <a:picLocks noChangeAspect="1"/>
          </p:cNvPicPr>
          <p:nvPr/>
        </p:nvPicPr>
        <p:blipFill>
          <a:blip r:embed="rId4"/>
          <a:stretch>
            <a:fillRect/>
          </a:stretch>
        </p:blipFill>
        <p:spPr>
          <a:xfrm>
            <a:off x="5684062" y="1859285"/>
            <a:ext cx="5638095" cy="3571429"/>
          </a:xfrm>
          <a:prstGeom prst="rect">
            <a:avLst/>
          </a:prstGeom>
          <a:ln>
            <a:solidFill>
              <a:schemeClr val="tx1"/>
            </a:solidFill>
          </a:ln>
        </p:spPr>
      </p:pic>
      <p:sp>
        <p:nvSpPr>
          <p:cNvPr id="3" name="Rectangle 2"/>
          <p:cNvSpPr/>
          <p:nvPr/>
        </p:nvSpPr>
        <p:spPr>
          <a:xfrm>
            <a:off x="5706922" y="3063240"/>
            <a:ext cx="1802588" cy="38862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4020791323"/>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NGFW Policy-Based Mode</a:t>
            </a:r>
          </a:p>
        </p:txBody>
      </p:sp>
      <p:sp>
        <p:nvSpPr>
          <p:cNvPr id="3" name="Content Placeholder 2"/>
          <p:cNvSpPr>
            <a:spLocks noGrp="1"/>
          </p:cNvSpPr>
          <p:nvPr>
            <p:ph idx="1"/>
          </p:nvPr>
        </p:nvSpPr>
        <p:spPr/>
        <p:txBody>
          <a:bodyPr/>
          <a:lstStyle/>
          <a:p>
            <a:r>
              <a:rPr lang="en-CA" dirty="0"/>
              <a:t>Available in flow-based inspection mode only</a:t>
            </a:r>
          </a:p>
          <a:p>
            <a:r>
              <a:rPr lang="en-CA" dirty="0"/>
              <a:t>Application control is configured directly on the security policy</a:t>
            </a:r>
          </a:p>
          <a:p>
            <a:pPr lvl="1"/>
            <a:r>
              <a:rPr lang="en-CA" dirty="0"/>
              <a:t>Cannot configure application control profile</a:t>
            </a:r>
          </a:p>
          <a:p>
            <a:r>
              <a:rPr lang="en-CA" dirty="0" smtClean="0"/>
              <a:t>Must select SSL </a:t>
            </a:r>
            <a:r>
              <a:rPr lang="en-CA" dirty="0"/>
              <a:t>inspection profile </a:t>
            </a:r>
            <a:r>
              <a:rPr lang="en-CA" dirty="0" smtClean="0"/>
              <a:t>on </a:t>
            </a:r>
            <a:r>
              <a:rPr lang="en-CA" dirty="0"/>
              <a:t>an SSL Inspection &amp; Authentication (consolidated) policy</a:t>
            </a:r>
          </a:p>
          <a:p>
            <a:r>
              <a:rPr lang="en-CA" dirty="0"/>
              <a:t>Requires the use of central SNAT policy</a:t>
            </a:r>
          </a:p>
          <a:p>
            <a:endParaRPr lang="en-CA" b="1" dirty="0"/>
          </a:p>
        </p:txBody>
      </p:sp>
      <p:sp>
        <p:nvSpPr>
          <p:cNvPr id="9" name="TextBox 8"/>
          <p:cNvSpPr txBox="1"/>
          <p:nvPr/>
        </p:nvSpPr>
        <p:spPr>
          <a:xfrm>
            <a:off x="6165676" y="2526225"/>
            <a:ext cx="5267660" cy="338554"/>
          </a:xfrm>
          <a:prstGeom prst="rect">
            <a:avLst/>
          </a:prstGeom>
          <a:solidFill>
            <a:srgbClr val="00B0F0"/>
          </a:solidFill>
          <a:ln>
            <a:solidFill>
              <a:srgbClr val="00B0F0"/>
            </a:solidFill>
          </a:ln>
        </p:spPr>
        <p:txBody>
          <a:bodyPr wrap="none" rtlCol="0">
            <a:spAutoFit/>
          </a:bodyPr>
          <a:lstStyle/>
          <a:p>
            <a:r>
              <a:rPr lang="en-CA" sz="1600" b="1" dirty="0"/>
              <a:t>Policy &amp; Objects </a:t>
            </a:r>
            <a:r>
              <a:rPr lang="en-CA" sz="1600" dirty="0"/>
              <a:t>&gt;</a:t>
            </a:r>
            <a:r>
              <a:rPr lang="en-CA" sz="1600" b="1" dirty="0"/>
              <a:t> SSL Inspection &amp; Authentication</a:t>
            </a:r>
          </a:p>
        </p:txBody>
      </p:sp>
      <p:sp>
        <p:nvSpPr>
          <p:cNvPr id="11" name="TextBox 10"/>
          <p:cNvSpPr txBox="1"/>
          <p:nvPr/>
        </p:nvSpPr>
        <p:spPr>
          <a:xfrm>
            <a:off x="829735" y="3318673"/>
            <a:ext cx="3346557" cy="338554"/>
          </a:xfrm>
          <a:prstGeom prst="rect">
            <a:avLst/>
          </a:prstGeom>
          <a:solidFill>
            <a:srgbClr val="00B0F0"/>
          </a:solidFill>
          <a:ln>
            <a:solidFill>
              <a:srgbClr val="00B0F0"/>
            </a:solidFill>
          </a:ln>
        </p:spPr>
        <p:txBody>
          <a:bodyPr wrap="none" rtlCol="0">
            <a:spAutoFit/>
          </a:bodyPr>
          <a:lstStyle/>
          <a:p>
            <a:r>
              <a:rPr lang="en-CA" sz="1600" b="1" dirty="0"/>
              <a:t>Policy &amp; Objects </a:t>
            </a:r>
            <a:r>
              <a:rPr lang="en-CA" sz="1600" dirty="0"/>
              <a:t>&gt;</a:t>
            </a:r>
            <a:r>
              <a:rPr lang="en-CA" sz="1600" b="1" dirty="0"/>
              <a:t> Central SNAT</a:t>
            </a:r>
          </a:p>
        </p:txBody>
      </p:sp>
      <p:pic>
        <p:nvPicPr>
          <p:cNvPr id="7" name="Picture 6"/>
          <p:cNvPicPr>
            <a:picLocks noChangeAspect="1"/>
          </p:cNvPicPr>
          <p:nvPr/>
        </p:nvPicPr>
        <p:blipFill>
          <a:blip r:embed="rId4"/>
          <a:stretch>
            <a:fillRect/>
          </a:stretch>
        </p:blipFill>
        <p:spPr>
          <a:xfrm>
            <a:off x="829735" y="3680088"/>
            <a:ext cx="4199465" cy="2693450"/>
          </a:xfrm>
          <a:prstGeom prst="rect">
            <a:avLst/>
          </a:prstGeom>
          <a:ln>
            <a:solidFill>
              <a:srgbClr val="0A0A0A"/>
            </a:solidFill>
          </a:ln>
        </p:spPr>
      </p:pic>
      <p:pic>
        <p:nvPicPr>
          <p:cNvPr id="8" name="Picture 7"/>
          <p:cNvPicPr>
            <a:picLocks noChangeAspect="1"/>
          </p:cNvPicPr>
          <p:nvPr/>
        </p:nvPicPr>
        <p:blipFill>
          <a:blip r:embed="rId5"/>
          <a:stretch>
            <a:fillRect/>
          </a:stretch>
        </p:blipFill>
        <p:spPr>
          <a:xfrm>
            <a:off x="6165675" y="2864779"/>
            <a:ext cx="3909894" cy="3654727"/>
          </a:xfrm>
          <a:prstGeom prst="rect">
            <a:avLst/>
          </a:prstGeom>
          <a:ln>
            <a:solidFill>
              <a:schemeClr val="tx1"/>
            </a:solidFill>
          </a:ln>
        </p:spPr>
      </p:pic>
    </p:spTree>
    <p:custDataLst>
      <p:tags r:id="rId1"/>
    </p:custDataLst>
    <p:extLst>
      <p:ext uri="{BB962C8B-B14F-4D97-AF65-F5344CB8AC3E}">
        <p14:creationId xmlns:p14="http://schemas.microsoft.com/office/powerpoint/2010/main" val="1098543987"/>
      </p:ext>
    </p:extLst>
  </p:cSld>
  <p:clrMapOvr>
    <a:masterClrMapping/>
  </p:clrMapOvr>
  <p:transition spd="slow">
    <p:wip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p:cNvSpPr>
            <a:spLocks noGrp="1"/>
          </p:cNvSpPr>
          <p:nvPr>
            <p:ph idx="15"/>
          </p:nvPr>
        </p:nvSpPr>
        <p:spPr/>
        <p:txBody>
          <a:bodyPr>
            <a:normAutofit/>
          </a:bodyPr>
          <a:lstStyle/>
          <a:p>
            <a:r>
              <a:rPr lang="en-CA" dirty="0"/>
              <a:t>You can select applications, application categories, or groups directly on a security policy</a:t>
            </a:r>
          </a:p>
          <a:p>
            <a:r>
              <a:rPr lang="en-CA" dirty="0"/>
              <a:t>You can apply the </a:t>
            </a:r>
            <a:r>
              <a:rPr lang="en-CA" b="1" dirty="0"/>
              <a:t>ACCEPT</a:t>
            </a:r>
            <a:r>
              <a:rPr lang="en-CA" dirty="0"/>
              <a:t> or </a:t>
            </a:r>
            <a:r>
              <a:rPr lang="en-CA" b="1" dirty="0"/>
              <a:t>DENY</a:t>
            </a:r>
            <a:r>
              <a:rPr lang="en-CA" dirty="0"/>
              <a:t> actions to allow or block selected application traffic</a:t>
            </a:r>
          </a:p>
          <a:p>
            <a:r>
              <a:rPr lang="en-CA" dirty="0"/>
              <a:t>If a </a:t>
            </a:r>
            <a:r>
              <a:rPr lang="en-CA" b="1" dirty="0"/>
              <a:t>URL Category </a:t>
            </a:r>
            <a:r>
              <a:rPr lang="en-CA" dirty="0"/>
              <a:t>is set, then applications that you add to the policy must be within the browser-based technology category</a:t>
            </a:r>
          </a:p>
          <a:p>
            <a:r>
              <a:rPr lang="en-CA" dirty="0"/>
              <a:t>You can apply the </a:t>
            </a:r>
            <a:r>
              <a:rPr lang="en-CA" b="1" dirty="0"/>
              <a:t>AntiVirus</a:t>
            </a:r>
            <a:r>
              <a:rPr lang="en-CA" dirty="0"/>
              <a:t> and </a:t>
            </a:r>
            <a:r>
              <a:rPr lang="en-CA" b="1" dirty="0"/>
              <a:t>IPS</a:t>
            </a:r>
            <a:r>
              <a:rPr lang="en-CA" dirty="0"/>
              <a:t> security profiles to a security policy with the action set to </a:t>
            </a:r>
            <a:r>
              <a:rPr lang="en-CA" b="1" dirty="0"/>
              <a:t>ACCEPT</a:t>
            </a:r>
            <a:endParaRPr lang="en-CA" dirty="0"/>
          </a:p>
        </p:txBody>
      </p:sp>
      <p:sp>
        <p:nvSpPr>
          <p:cNvPr id="2" name="Title 1"/>
          <p:cNvSpPr>
            <a:spLocks noGrp="1"/>
          </p:cNvSpPr>
          <p:nvPr>
            <p:ph type="title"/>
          </p:nvPr>
        </p:nvSpPr>
        <p:spPr/>
        <p:txBody>
          <a:bodyPr/>
          <a:lstStyle/>
          <a:p>
            <a:r>
              <a:rPr lang="en-CA" dirty="0"/>
              <a:t>NGFW Policy-Based Mode (Contd)</a:t>
            </a:r>
          </a:p>
        </p:txBody>
      </p:sp>
      <p:sp>
        <p:nvSpPr>
          <p:cNvPr id="8" name="Rectangle 7"/>
          <p:cNvSpPr/>
          <p:nvPr/>
        </p:nvSpPr>
        <p:spPr bwMode="auto">
          <a:xfrm>
            <a:off x="5025600" y="1043321"/>
            <a:ext cx="3369716"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Security Policy</a:t>
            </a:r>
            <a:endParaRPr kumimoji="0" lang="en-CA" sz="1600" b="1" u="none" strike="noStrike" cap="none" normalizeH="0" baseline="0" dirty="0">
              <a:ln>
                <a:noFill/>
              </a:ln>
              <a:effectLst/>
            </a:endParaRPr>
          </a:p>
        </p:txBody>
      </p:sp>
      <p:pic>
        <p:nvPicPr>
          <p:cNvPr id="5" name="Picture 4"/>
          <p:cNvPicPr>
            <a:picLocks noChangeAspect="1"/>
          </p:cNvPicPr>
          <p:nvPr/>
        </p:nvPicPr>
        <p:blipFill>
          <a:blip r:embed="rId4"/>
          <a:stretch>
            <a:fillRect/>
          </a:stretch>
        </p:blipFill>
        <p:spPr>
          <a:xfrm>
            <a:off x="5029557" y="1490231"/>
            <a:ext cx="6731518" cy="3424085"/>
          </a:xfrm>
          <a:prstGeom prst="rect">
            <a:avLst/>
          </a:prstGeom>
          <a:ln>
            <a:solidFill>
              <a:schemeClr val="tx1"/>
            </a:solidFill>
          </a:ln>
        </p:spPr>
      </p:pic>
      <p:sp>
        <p:nvSpPr>
          <p:cNvPr id="12" name="Rectangle 11"/>
          <p:cNvSpPr/>
          <p:nvPr/>
        </p:nvSpPr>
        <p:spPr bwMode="invGray">
          <a:xfrm>
            <a:off x="10400474" y="1893911"/>
            <a:ext cx="701251" cy="23206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3" name="Rectangle 12"/>
          <p:cNvSpPr/>
          <p:nvPr/>
        </p:nvSpPr>
        <p:spPr bwMode="invGray">
          <a:xfrm>
            <a:off x="11123890" y="1919535"/>
            <a:ext cx="613585" cy="20644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4" name="Rounded Rectangular Callout 13"/>
          <p:cNvSpPr/>
          <p:nvPr/>
        </p:nvSpPr>
        <p:spPr bwMode="invGray">
          <a:xfrm>
            <a:off x="10622219" y="2788349"/>
            <a:ext cx="1616926" cy="487866"/>
          </a:xfrm>
          <a:prstGeom prst="wedgeRoundRectCallout">
            <a:avLst>
              <a:gd name="adj1" fmla="val -28465"/>
              <a:gd name="adj2" fmla="val -185438"/>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List is searchable</a:t>
            </a:r>
          </a:p>
        </p:txBody>
      </p:sp>
    </p:spTree>
    <p:custDataLst>
      <p:tags r:id="rId1"/>
    </p:custDataLst>
    <p:extLst>
      <p:ext uri="{BB962C8B-B14F-4D97-AF65-F5344CB8AC3E}">
        <p14:creationId xmlns:p14="http://schemas.microsoft.com/office/powerpoint/2010/main" val="2786187615"/>
      </p:ext>
    </p:extLst>
  </p:cSld>
  <p:clrMapOvr>
    <a:masterClrMapping/>
  </p:clrMapOvr>
  <p:transition spd="slow">
    <p:wip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How Does NGFW Policy-Based Filtering Work?</a:t>
            </a:r>
          </a:p>
        </p:txBody>
      </p:sp>
      <p:sp>
        <p:nvSpPr>
          <p:cNvPr id="5" name="Content Placeholder 4"/>
          <p:cNvSpPr>
            <a:spLocks noGrp="1"/>
          </p:cNvSpPr>
          <p:nvPr>
            <p:ph idx="1"/>
          </p:nvPr>
        </p:nvSpPr>
        <p:spPr/>
        <p:txBody>
          <a:bodyPr/>
          <a:lstStyle/>
          <a:p>
            <a:r>
              <a:rPr lang="en-CA" dirty="0"/>
              <a:t>It is a three-step process:</a:t>
            </a:r>
          </a:p>
          <a:p>
            <a:pPr lvl="1"/>
            <a:r>
              <a:rPr lang="en-CA" dirty="0"/>
              <a:t>Step 1–Allow all applications until they can be identified:</a:t>
            </a:r>
          </a:p>
          <a:p>
            <a:pPr lvl="2"/>
            <a:r>
              <a:rPr lang="en-US" dirty="0"/>
              <a:t>Uses only the IPv4 header information to match the policy</a:t>
            </a:r>
          </a:p>
          <a:p>
            <a:pPr lvl="2"/>
            <a:r>
              <a:rPr lang="en-US" dirty="0"/>
              <a:t>Accepts the traffic</a:t>
            </a:r>
          </a:p>
          <a:p>
            <a:pPr lvl="2"/>
            <a:r>
              <a:rPr lang="en-US" dirty="0"/>
              <a:t>Creates an entry in the session table with the </a:t>
            </a:r>
            <a:r>
              <a:rPr lang="en-US" dirty="0">
                <a:latin typeface="Courier New" panose="02070309020205020404" pitchFamily="49" charset="0"/>
                <a:cs typeface="Courier New" panose="02070309020205020404" pitchFamily="49" charset="0"/>
              </a:rPr>
              <a:t>may_dirty</a:t>
            </a:r>
            <a:r>
              <a:rPr lang="en-US" dirty="0"/>
              <a:t> flag</a:t>
            </a:r>
          </a:p>
          <a:p>
            <a:pPr lvl="2"/>
            <a:r>
              <a:rPr lang="en-US" dirty="0"/>
              <a:t>Forwards all the packets to the IPS engine for inspection</a:t>
            </a:r>
            <a:endParaRPr lang="en-CA" dirty="0"/>
          </a:p>
          <a:p>
            <a:pPr lvl="1"/>
            <a:r>
              <a:rPr lang="en-CA" dirty="0"/>
              <a:t>Step 2–</a:t>
            </a:r>
            <a:r>
              <a:rPr lang="en-US" dirty="0"/>
              <a:t>As soon as the IPS engine identifies the application, it adds the following to the session:</a:t>
            </a:r>
          </a:p>
          <a:p>
            <a:pPr lvl="2"/>
            <a:r>
              <a:rPr lang="en-US" dirty="0">
                <a:latin typeface="Courier New" panose="02070309020205020404" pitchFamily="49" charset="0"/>
                <a:cs typeface="Courier New" panose="02070309020205020404" pitchFamily="49" charset="0"/>
              </a:rPr>
              <a:t>dirty</a:t>
            </a:r>
            <a:r>
              <a:rPr lang="en-US" dirty="0"/>
              <a:t> flag - </a:t>
            </a:r>
            <a:r>
              <a:rPr lang="en-CA" dirty="0"/>
              <a:t>instructs the kernel to re-evaluate session entry</a:t>
            </a:r>
          </a:p>
          <a:p>
            <a:pPr lvl="2"/>
            <a:r>
              <a:rPr lang="en-US" dirty="0" err="1">
                <a:latin typeface="Courier New" panose="02070309020205020404" pitchFamily="49" charset="0"/>
                <a:cs typeface="Courier New" panose="02070309020205020404" pitchFamily="49" charset="0"/>
              </a:rPr>
              <a:t>app_valid</a:t>
            </a:r>
            <a:r>
              <a:rPr lang="en-US" dirty="0"/>
              <a:t> flag - </a:t>
            </a:r>
            <a:r>
              <a:rPr lang="en-CA" dirty="0"/>
              <a:t>indicates that IPS engine has validated the traffic</a:t>
            </a:r>
          </a:p>
          <a:p>
            <a:pPr lvl="2"/>
            <a:r>
              <a:rPr lang="en-US" dirty="0"/>
              <a:t>Application ID</a:t>
            </a:r>
            <a:endParaRPr lang="en-CA" dirty="0"/>
          </a:p>
          <a:p>
            <a:pPr lvl="1"/>
            <a:r>
              <a:rPr lang="en-CA"/>
              <a:t>Step 3–</a:t>
            </a:r>
            <a:r>
              <a:rPr lang="en-US"/>
              <a:t>The </a:t>
            </a:r>
            <a:r>
              <a:rPr lang="en-US" dirty="0"/>
              <a:t>dirty flag instructs the kernel to look up the security policy again:</a:t>
            </a:r>
          </a:p>
          <a:p>
            <a:pPr lvl="2"/>
            <a:r>
              <a:rPr lang="en-US" dirty="0"/>
              <a:t>This time the kernel uses the Layer 4 headers </a:t>
            </a:r>
            <a:r>
              <a:rPr lang="en-US" i="1" dirty="0"/>
              <a:t>and</a:t>
            </a:r>
            <a:r>
              <a:rPr lang="en-US" b="1" dirty="0"/>
              <a:t> </a:t>
            </a:r>
            <a:r>
              <a:rPr lang="en-US" dirty="0"/>
              <a:t>the Layer 7 information to match the traffic</a:t>
            </a:r>
          </a:p>
          <a:p>
            <a:pPr lvl="2"/>
            <a:r>
              <a:rPr lang="en-US" dirty="0"/>
              <a:t>The action configured in the security policy is applied to the identified application traffic</a:t>
            </a:r>
          </a:p>
          <a:p>
            <a:pPr lvl="1"/>
            <a:endParaRPr lang="en-US" dirty="0"/>
          </a:p>
        </p:txBody>
      </p:sp>
    </p:spTree>
    <p:custDataLst>
      <p:tags r:id="rId1"/>
    </p:custDataLst>
    <p:extLst>
      <p:ext uri="{BB962C8B-B14F-4D97-AF65-F5344CB8AC3E}">
        <p14:creationId xmlns:p14="http://schemas.microsoft.com/office/powerpoint/2010/main" val="133342446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4"/>
          <a:stretch>
            <a:fillRect/>
          </a:stretch>
        </p:blipFill>
        <p:spPr>
          <a:xfrm>
            <a:off x="7186494" y="1529199"/>
            <a:ext cx="2309979" cy="4062105"/>
          </a:xfrm>
          <a:prstGeom prst="rect">
            <a:avLst/>
          </a:prstGeom>
          <a:ln>
            <a:solidFill>
              <a:srgbClr val="0A0A0A"/>
            </a:solidFill>
          </a:ln>
        </p:spPr>
      </p:pic>
      <p:sp>
        <p:nvSpPr>
          <p:cNvPr id="2" name="Title 1"/>
          <p:cNvSpPr>
            <a:spLocks noGrp="1"/>
          </p:cNvSpPr>
          <p:nvPr>
            <p:ph type="title"/>
          </p:nvPr>
        </p:nvSpPr>
        <p:spPr/>
        <p:txBody>
          <a:bodyPr>
            <a:normAutofit/>
          </a:bodyPr>
          <a:lstStyle/>
          <a:p>
            <a:r>
              <a:rPr lang="en-CA" dirty="0"/>
              <a:t>Configuring App Control in Policy-Based Mode</a:t>
            </a:r>
          </a:p>
        </p:txBody>
      </p:sp>
      <p:sp>
        <p:nvSpPr>
          <p:cNvPr id="11" name="Rectangle 10"/>
          <p:cNvSpPr/>
          <p:nvPr/>
        </p:nvSpPr>
        <p:spPr bwMode="auto">
          <a:xfrm>
            <a:off x="510060" y="1020363"/>
            <a:ext cx="3422488"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Security Policy</a:t>
            </a:r>
            <a:endParaRPr kumimoji="0" lang="en-CA" sz="1600" b="1" u="none" strike="noStrike" cap="none" normalizeH="0" baseline="0" dirty="0">
              <a:ln>
                <a:noFill/>
              </a:ln>
              <a:effectLst/>
            </a:endParaRPr>
          </a:p>
        </p:txBody>
      </p:sp>
      <p:cxnSp>
        <p:nvCxnSpPr>
          <p:cNvPr id="23" name="Elbow Connector 22"/>
          <p:cNvCxnSpPr/>
          <p:nvPr/>
        </p:nvCxnSpPr>
        <p:spPr>
          <a:xfrm>
            <a:off x="9460727" y="1769875"/>
            <a:ext cx="661569" cy="2404984"/>
          </a:xfrm>
          <a:prstGeom prst="bentConnector2">
            <a:avLst/>
          </a:prstGeom>
          <a:ln w="38100">
            <a:solidFill>
              <a:srgbClr val="FF0000"/>
            </a:solidFill>
            <a:tailEnd type="triangle"/>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bwMode="invGray">
          <a:xfrm>
            <a:off x="8851101" y="1746236"/>
            <a:ext cx="614374" cy="20291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6" name="Picture 5"/>
          <p:cNvPicPr>
            <a:picLocks noChangeAspect="1"/>
          </p:cNvPicPr>
          <p:nvPr/>
        </p:nvPicPr>
        <p:blipFill>
          <a:blip r:embed="rId5"/>
          <a:stretch>
            <a:fillRect/>
          </a:stretch>
        </p:blipFill>
        <p:spPr>
          <a:xfrm>
            <a:off x="8173336" y="4174859"/>
            <a:ext cx="3752381" cy="2057143"/>
          </a:xfrm>
          <a:prstGeom prst="rect">
            <a:avLst/>
          </a:prstGeom>
          <a:ln>
            <a:solidFill>
              <a:schemeClr val="tx1"/>
            </a:solidFill>
          </a:ln>
        </p:spPr>
      </p:pic>
      <p:pic>
        <p:nvPicPr>
          <p:cNvPr id="8" name="Picture 7"/>
          <p:cNvPicPr>
            <a:picLocks noChangeAspect="1"/>
          </p:cNvPicPr>
          <p:nvPr/>
        </p:nvPicPr>
        <p:blipFill>
          <a:blip r:embed="rId6"/>
          <a:stretch>
            <a:fillRect/>
          </a:stretch>
        </p:blipFill>
        <p:spPr>
          <a:xfrm>
            <a:off x="617553" y="1424129"/>
            <a:ext cx="5943118" cy="4154492"/>
          </a:xfrm>
          <a:prstGeom prst="rect">
            <a:avLst/>
          </a:prstGeom>
          <a:ln>
            <a:solidFill>
              <a:schemeClr val="tx1"/>
            </a:solidFill>
          </a:ln>
        </p:spPr>
      </p:pic>
      <p:sp>
        <p:nvSpPr>
          <p:cNvPr id="17" name="Rectangle 16"/>
          <p:cNvSpPr/>
          <p:nvPr/>
        </p:nvSpPr>
        <p:spPr bwMode="invGray">
          <a:xfrm>
            <a:off x="5158598" y="2012733"/>
            <a:ext cx="795913" cy="20147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cxnSp>
        <p:nvCxnSpPr>
          <p:cNvPr id="21" name="Straight Arrow Connector 20"/>
          <p:cNvCxnSpPr>
            <a:stCxn id="17" idx="3"/>
          </p:cNvCxnSpPr>
          <p:nvPr/>
        </p:nvCxnSpPr>
        <p:spPr>
          <a:xfrm flipV="1">
            <a:off x="5954511" y="1871332"/>
            <a:ext cx="2218825" cy="24214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
        <p:nvSpPr>
          <p:cNvPr id="25" name="Rectangle 24"/>
          <p:cNvSpPr/>
          <p:nvPr/>
        </p:nvSpPr>
        <p:spPr bwMode="invGray">
          <a:xfrm>
            <a:off x="1783501" y="4678948"/>
            <a:ext cx="2242459" cy="399495"/>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cxnSp>
        <p:nvCxnSpPr>
          <p:cNvPr id="26" name="Straight Arrow Connector 25"/>
          <p:cNvCxnSpPr/>
          <p:nvPr/>
        </p:nvCxnSpPr>
        <p:spPr>
          <a:xfrm flipV="1">
            <a:off x="3463290" y="2235419"/>
            <a:ext cx="1221044" cy="238230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spTree>
    <p:custDataLst>
      <p:tags r:id="rId1"/>
    </p:custDataLst>
    <p:extLst>
      <p:ext uri="{BB962C8B-B14F-4D97-AF65-F5344CB8AC3E}">
        <p14:creationId xmlns:p14="http://schemas.microsoft.com/office/powerpoint/2010/main" val="410568469"/>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Policy-Based Central SNAT Policy</a:t>
            </a:r>
          </a:p>
        </p:txBody>
      </p:sp>
      <p:sp>
        <p:nvSpPr>
          <p:cNvPr id="10" name="Rectangle 9"/>
          <p:cNvSpPr/>
          <p:nvPr/>
        </p:nvSpPr>
        <p:spPr bwMode="auto">
          <a:xfrm>
            <a:off x="609441" y="1022400"/>
            <a:ext cx="3207871"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Central SNAT</a:t>
            </a:r>
            <a:endParaRPr kumimoji="0" lang="en-CA" sz="1600" b="1" u="none" strike="noStrike" cap="none" normalizeH="0" baseline="0" dirty="0">
              <a:ln>
                <a:noFill/>
              </a:ln>
              <a:effectLst/>
            </a:endParaRPr>
          </a:p>
        </p:txBody>
      </p:sp>
      <p:sp>
        <p:nvSpPr>
          <p:cNvPr id="13" name="Rectangle 12"/>
          <p:cNvSpPr/>
          <p:nvPr/>
        </p:nvSpPr>
        <p:spPr bwMode="auto">
          <a:xfrm>
            <a:off x="6680024" y="1107767"/>
            <a:ext cx="4981823"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SSL Inspection &amp; Authentication </a:t>
            </a:r>
            <a:endParaRPr kumimoji="0" lang="en-CA" sz="1600" b="1" u="none" strike="noStrike" cap="none" normalizeH="0" baseline="0" dirty="0">
              <a:ln>
                <a:noFill/>
              </a:ln>
              <a:effectLst/>
            </a:endParaRPr>
          </a:p>
        </p:txBody>
      </p:sp>
      <p:pic>
        <p:nvPicPr>
          <p:cNvPr id="3" name="Picture 2"/>
          <p:cNvPicPr>
            <a:picLocks noChangeAspect="1"/>
          </p:cNvPicPr>
          <p:nvPr/>
        </p:nvPicPr>
        <p:blipFill>
          <a:blip r:embed="rId4"/>
          <a:stretch>
            <a:fillRect/>
          </a:stretch>
        </p:blipFill>
        <p:spPr>
          <a:xfrm>
            <a:off x="609441" y="1497494"/>
            <a:ext cx="5716312" cy="2720176"/>
          </a:xfrm>
          <a:prstGeom prst="rect">
            <a:avLst/>
          </a:prstGeom>
          <a:ln>
            <a:solidFill>
              <a:srgbClr val="0A0A0A"/>
            </a:solidFill>
          </a:ln>
        </p:spPr>
      </p:pic>
      <p:pic>
        <p:nvPicPr>
          <p:cNvPr id="7" name="Picture 6"/>
          <p:cNvPicPr>
            <a:picLocks noChangeAspect="1"/>
          </p:cNvPicPr>
          <p:nvPr/>
        </p:nvPicPr>
        <p:blipFill>
          <a:blip r:embed="rId5"/>
          <a:stretch>
            <a:fillRect/>
          </a:stretch>
        </p:blipFill>
        <p:spPr>
          <a:xfrm>
            <a:off x="6680024" y="1497494"/>
            <a:ext cx="4764741" cy="4453785"/>
          </a:xfrm>
          <a:prstGeom prst="rect">
            <a:avLst/>
          </a:prstGeom>
          <a:ln>
            <a:solidFill>
              <a:schemeClr val="tx1"/>
            </a:solidFill>
          </a:ln>
        </p:spPr>
      </p:pic>
    </p:spTree>
    <p:custDataLst>
      <p:tags r:id="rId1"/>
    </p:custDataLst>
    <p:extLst>
      <p:ext uri="{BB962C8B-B14F-4D97-AF65-F5344CB8AC3E}">
        <p14:creationId xmlns:p14="http://schemas.microsoft.com/office/powerpoint/2010/main" val="4210523546"/>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4"/>
          <a:stretch>
            <a:fillRect/>
          </a:stretch>
        </p:blipFill>
        <p:spPr>
          <a:xfrm>
            <a:off x="609440" y="3626069"/>
            <a:ext cx="11019047" cy="2485714"/>
          </a:xfrm>
          <a:prstGeom prst="rect">
            <a:avLst/>
          </a:prstGeom>
          <a:ln>
            <a:solidFill>
              <a:srgbClr val="0A0A0A"/>
            </a:solidFill>
          </a:ln>
        </p:spPr>
      </p:pic>
      <p:sp>
        <p:nvSpPr>
          <p:cNvPr id="2" name="Title 1"/>
          <p:cNvSpPr>
            <a:spLocks noGrp="1"/>
          </p:cNvSpPr>
          <p:nvPr>
            <p:ph type="title"/>
          </p:nvPr>
        </p:nvSpPr>
        <p:spPr/>
        <p:txBody>
          <a:bodyPr/>
          <a:lstStyle/>
          <a:p>
            <a:r>
              <a:rPr lang="en-CA" dirty="0"/>
              <a:t>NGFW Policy Matching</a:t>
            </a:r>
          </a:p>
        </p:txBody>
      </p:sp>
      <p:sp>
        <p:nvSpPr>
          <p:cNvPr id="3" name="Content Placeholder 2"/>
          <p:cNvSpPr>
            <a:spLocks noGrp="1"/>
          </p:cNvSpPr>
          <p:nvPr>
            <p:ph idx="1"/>
          </p:nvPr>
        </p:nvSpPr>
        <p:spPr/>
        <p:txBody>
          <a:bodyPr/>
          <a:lstStyle/>
          <a:p>
            <a:r>
              <a:rPr lang="en-CA" dirty="0"/>
              <a:t>Based on the configuration shown in the screenshot:</a:t>
            </a:r>
          </a:p>
          <a:p>
            <a:pPr lvl="1"/>
            <a:r>
              <a:rPr lang="en-CA" dirty="0"/>
              <a:t>Facebook, Flickr, Instagram, and Pinterest application traffic </a:t>
            </a:r>
            <a:r>
              <a:rPr lang="en-CA" dirty="0" smtClean="0"/>
              <a:t>is blocked </a:t>
            </a:r>
            <a:r>
              <a:rPr lang="en-CA" dirty="0"/>
              <a:t>by policy ID </a:t>
            </a:r>
            <a:r>
              <a:rPr lang="en-CA" dirty="0" smtClean="0"/>
              <a:t>1</a:t>
            </a:r>
            <a:endParaRPr lang="en-CA" dirty="0"/>
          </a:p>
          <a:p>
            <a:pPr lvl="1"/>
            <a:r>
              <a:rPr lang="en-CA" dirty="0"/>
              <a:t>All other Social.Media (for example, LinkedIn) application traffic </a:t>
            </a:r>
            <a:r>
              <a:rPr lang="en-CA" dirty="0" smtClean="0"/>
              <a:t>is allowed </a:t>
            </a:r>
            <a:r>
              <a:rPr lang="en-CA" dirty="0"/>
              <a:t>by policy ID </a:t>
            </a:r>
            <a:r>
              <a:rPr lang="en-CA" dirty="0" smtClean="0"/>
              <a:t>2</a:t>
            </a:r>
            <a:endParaRPr lang="en-CA" dirty="0"/>
          </a:p>
          <a:p>
            <a:pPr lvl="1"/>
            <a:r>
              <a:rPr lang="en-CA" dirty="0"/>
              <a:t>All applications that belong to the P2P application category </a:t>
            </a:r>
            <a:r>
              <a:rPr lang="en-CA" dirty="0" smtClean="0"/>
              <a:t>are blocked </a:t>
            </a:r>
            <a:r>
              <a:rPr lang="en-CA" dirty="0"/>
              <a:t>by policy ID </a:t>
            </a:r>
            <a:r>
              <a:rPr lang="en-CA" dirty="0" smtClean="0"/>
              <a:t>3</a:t>
            </a:r>
            <a:endParaRPr lang="en-CA" dirty="0"/>
          </a:p>
          <a:p>
            <a:pPr lvl="1"/>
            <a:r>
              <a:rPr lang="en-CA" dirty="0"/>
              <a:t>All other traffic and applications </a:t>
            </a:r>
            <a:r>
              <a:rPr lang="en-CA" dirty="0" smtClean="0"/>
              <a:t>are allowed </a:t>
            </a:r>
            <a:r>
              <a:rPr lang="en-CA" dirty="0"/>
              <a:t>by policy ID </a:t>
            </a:r>
            <a:r>
              <a:rPr lang="en-CA" dirty="0" smtClean="0"/>
              <a:t>4</a:t>
            </a:r>
            <a:endParaRPr lang="en-CA" dirty="0"/>
          </a:p>
        </p:txBody>
      </p:sp>
      <p:sp>
        <p:nvSpPr>
          <p:cNvPr id="11" name="Rectangle 10"/>
          <p:cNvSpPr/>
          <p:nvPr/>
        </p:nvSpPr>
        <p:spPr bwMode="auto">
          <a:xfrm>
            <a:off x="609440" y="3193317"/>
            <a:ext cx="2923872"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b="1" dirty="0"/>
              <a:t>Policy &amp; Objects </a:t>
            </a:r>
            <a:r>
              <a:rPr lang="en-CA" sz="1400" dirty="0"/>
              <a:t>&gt; </a:t>
            </a:r>
            <a:r>
              <a:rPr lang="en-CA" sz="1400" b="1" dirty="0"/>
              <a:t>Security Policy</a:t>
            </a:r>
            <a:endParaRPr kumimoji="0" lang="en-CA" sz="1400" b="1" u="none" strike="noStrike" cap="none" normalizeH="0" baseline="0" dirty="0">
              <a:ln>
                <a:noFill/>
              </a:ln>
              <a:effectLst/>
            </a:endParaRPr>
          </a:p>
        </p:txBody>
      </p:sp>
      <p:sp>
        <p:nvSpPr>
          <p:cNvPr id="13" name="Rectangle 12"/>
          <p:cNvSpPr/>
          <p:nvPr/>
        </p:nvSpPr>
        <p:spPr bwMode="invGray">
          <a:xfrm>
            <a:off x="6871437" y="5223604"/>
            <a:ext cx="1120657" cy="237088"/>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4" name="Rectangle 13"/>
          <p:cNvSpPr/>
          <p:nvPr/>
        </p:nvSpPr>
        <p:spPr bwMode="invGray">
          <a:xfrm>
            <a:off x="8204556" y="4260400"/>
            <a:ext cx="633754" cy="272301"/>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5" name="Rectangle 14"/>
          <p:cNvSpPr/>
          <p:nvPr/>
        </p:nvSpPr>
        <p:spPr bwMode="invGray">
          <a:xfrm>
            <a:off x="8204556" y="5164644"/>
            <a:ext cx="903818" cy="296048"/>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6" name="Rectangle 15"/>
          <p:cNvSpPr/>
          <p:nvPr/>
        </p:nvSpPr>
        <p:spPr bwMode="invGray">
          <a:xfrm>
            <a:off x="6871437" y="5519652"/>
            <a:ext cx="776271" cy="29721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7" name="Rectangle 16"/>
          <p:cNvSpPr/>
          <p:nvPr/>
        </p:nvSpPr>
        <p:spPr bwMode="invGray">
          <a:xfrm>
            <a:off x="8204556" y="5523646"/>
            <a:ext cx="725688" cy="25759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2" name="Rectangle 11"/>
          <p:cNvSpPr/>
          <p:nvPr/>
        </p:nvSpPr>
        <p:spPr bwMode="invGray">
          <a:xfrm>
            <a:off x="6871437" y="4249074"/>
            <a:ext cx="942527" cy="915569"/>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
        <p:nvSpPr>
          <p:cNvPr id="18" name="Rectangle 17"/>
          <p:cNvSpPr/>
          <p:nvPr/>
        </p:nvSpPr>
        <p:spPr bwMode="invGray">
          <a:xfrm>
            <a:off x="609439" y="5875831"/>
            <a:ext cx="11019048" cy="225514"/>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spTree>
    <p:custDataLst>
      <p:tags r:id="rId1"/>
    </p:custDataLst>
    <p:extLst>
      <p:ext uri="{BB962C8B-B14F-4D97-AF65-F5344CB8AC3E}">
        <p14:creationId xmlns:p14="http://schemas.microsoft.com/office/powerpoint/2010/main" val="2002583307"/>
      </p:ext>
    </p:extLst>
  </p:cSld>
  <p:clrMapOvr>
    <a:masterClrMapping/>
  </p:clrMapOvr>
  <p:transition spd="slow">
    <p:wip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cs typeface="Arial" charset="0"/>
              </a:rPr>
              <a:t>Application Control Traffic Shaping</a:t>
            </a:r>
            <a:endParaRPr lang="en-CA" dirty="0"/>
          </a:p>
        </p:txBody>
      </p:sp>
      <p:sp>
        <p:nvSpPr>
          <p:cNvPr id="6" name="Content Placeholder 5"/>
          <p:cNvSpPr>
            <a:spLocks noGrp="1"/>
          </p:cNvSpPr>
          <p:nvPr>
            <p:ph idx="1"/>
          </p:nvPr>
        </p:nvSpPr>
        <p:spPr/>
        <p:txBody>
          <a:bodyPr/>
          <a:lstStyle/>
          <a:p>
            <a:r>
              <a:rPr lang="en-US" dirty="0">
                <a:cs typeface="Arial" charset="0"/>
              </a:rPr>
              <a:t>Granular control of bandwidth usage</a:t>
            </a:r>
          </a:p>
          <a:p>
            <a:r>
              <a:rPr lang="en-US" dirty="0"/>
              <a:t>Some traffic can’t be distinguished by port number/IP</a:t>
            </a:r>
          </a:p>
          <a:p>
            <a:pPr lvl="1"/>
            <a:r>
              <a:rPr lang="en-US" dirty="0"/>
              <a:t>Example: YouTube video URLs</a:t>
            </a:r>
            <a:r>
              <a:rPr lang="en-CA" dirty="0"/>
              <a:t>—</a:t>
            </a:r>
            <a:r>
              <a:rPr lang="en-US" dirty="0"/>
              <a:t>don’t say whether it is a text comment or a video        </a:t>
            </a:r>
            <a:r>
              <a:rPr lang="en-US" dirty="0">
                <a:hlinkClick r:id="rId4"/>
              </a:rPr>
              <a:t>https://www.youtube.com/watch?v=eO2vyJDoP3M</a:t>
            </a:r>
            <a:endParaRPr lang="en-US" dirty="0"/>
          </a:p>
          <a:p>
            <a:r>
              <a:rPr lang="en-US" dirty="0">
                <a:cs typeface="Arial" charset="0"/>
              </a:rPr>
              <a:t>Only traffic that matches the signature is shaped</a:t>
            </a:r>
          </a:p>
          <a:p>
            <a:pPr lvl="1"/>
            <a:r>
              <a:rPr lang="en-US" dirty="0">
                <a:cs typeface="Arial" charset="0"/>
              </a:rPr>
              <a:t>Won’t interfere with other apps on same port/protocol</a:t>
            </a:r>
          </a:p>
          <a:p>
            <a:pPr lvl="1"/>
            <a:r>
              <a:rPr lang="en-US" dirty="0">
                <a:cs typeface="Arial" charset="0"/>
              </a:rPr>
              <a:t>Useful for managing bandwidth-intensive apps</a:t>
            </a:r>
          </a:p>
          <a:p>
            <a:endParaRPr lang="en-CA" dirty="0"/>
          </a:p>
        </p:txBody>
      </p:sp>
      <p:grpSp>
        <p:nvGrpSpPr>
          <p:cNvPr id="8" name="Group 7"/>
          <p:cNvGrpSpPr/>
          <p:nvPr/>
        </p:nvGrpSpPr>
        <p:grpSpPr>
          <a:xfrm>
            <a:off x="929707" y="3753936"/>
            <a:ext cx="9575275" cy="1723526"/>
            <a:chOff x="1626506" y="3702542"/>
            <a:chExt cx="5536293" cy="926608"/>
          </a:xfrm>
        </p:grpSpPr>
        <p:sp>
          <p:nvSpPr>
            <p:cNvPr id="9" name="AutoShape 2"/>
            <p:cNvSpPr>
              <a:spLocks noChangeArrowheads="1"/>
            </p:cNvSpPr>
            <p:nvPr/>
          </p:nvSpPr>
          <p:spPr bwMode="auto">
            <a:xfrm rot="5400000">
              <a:off x="4073183" y="1539533"/>
              <a:ext cx="642940" cy="5536293"/>
            </a:xfrm>
            <a:prstGeom prst="can">
              <a:avLst>
                <a:gd name="adj" fmla="val 39809"/>
              </a:avLst>
            </a:prstGeom>
            <a:gradFill rotWithShape="1">
              <a:gsLst>
                <a:gs pos="0">
                  <a:srgbClr val="666699"/>
                </a:gs>
                <a:gs pos="50000">
                  <a:srgbClr val="666699">
                    <a:gamma/>
                    <a:shade val="46275"/>
                    <a:invGamma/>
                  </a:srgbClr>
                </a:gs>
                <a:gs pos="100000">
                  <a:srgbClr val="666699"/>
                </a:gs>
              </a:gsLst>
              <a:lin ang="0" scaled="1"/>
            </a:gradFill>
            <a:ln w="38100">
              <a:noFill/>
              <a:round/>
              <a:headEnd/>
              <a:tailEnd/>
            </a:ln>
            <a:effectLst/>
          </p:spPr>
          <p:txBody>
            <a:bodyPr rot="10800000" vert="eaVert" wrap="none" anchor="ctr"/>
            <a:lstStyle>
              <a:lvl1pPr>
                <a:defRPr sz="1000">
                  <a:solidFill>
                    <a:schemeClr val="tx1"/>
                  </a:solidFill>
                  <a:latin typeface="Tahoma" pitchFamily="34" charset="0"/>
                </a:defRPr>
              </a:lvl1pPr>
              <a:lvl2pPr marL="742950" indent="-285750">
                <a:defRPr sz="1000">
                  <a:solidFill>
                    <a:schemeClr val="tx1"/>
                  </a:solidFill>
                  <a:latin typeface="Tahoma" pitchFamily="34" charset="0"/>
                </a:defRPr>
              </a:lvl2pPr>
              <a:lvl3pPr marL="1143000" indent="-228600">
                <a:defRPr sz="1000">
                  <a:solidFill>
                    <a:schemeClr val="tx1"/>
                  </a:solidFill>
                  <a:latin typeface="Tahoma" pitchFamily="34" charset="0"/>
                </a:defRPr>
              </a:lvl3pPr>
              <a:lvl4pPr marL="1600200" indent="-228600">
                <a:defRPr sz="1000">
                  <a:solidFill>
                    <a:schemeClr val="tx1"/>
                  </a:solidFill>
                  <a:latin typeface="Tahoma" pitchFamily="34" charset="0"/>
                </a:defRPr>
              </a:lvl4pPr>
              <a:lvl5pPr marL="2057400" indent="-228600">
                <a:defRPr sz="1000">
                  <a:solidFill>
                    <a:schemeClr val="tx1"/>
                  </a:solidFill>
                  <a:latin typeface="Tahoma" pitchFamily="34" charset="0"/>
                </a:defRPr>
              </a:lvl5pPr>
              <a:lvl6pPr marL="2514600" indent="-228600" algn="ctr" eaLnBrk="0" fontAlgn="base" hangingPunct="0">
                <a:spcBef>
                  <a:spcPct val="0"/>
                </a:spcBef>
                <a:spcAft>
                  <a:spcPct val="0"/>
                </a:spcAft>
                <a:defRPr sz="1000">
                  <a:solidFill>
                    <a:schemeClr val="tx1"/>
                  </a:solidFill>
                  <a:latin typeface="Tahoma" pitchFamily="34" charset="0"/>
                </a:defRPr>
              </a:lvl6pPr>
              <a:lvl7pPr marL="2971800" indent="-228600" algn="ctr" eaLnBrk="0" fontAlgn="base" hangingPunct="0">
                <a:spcBef>
                  <a:spcPct val="0"/>
                </a:spcBef>
                <a:spcAft>
                  <a:spcPct val="0"/>
                </a:spcAft>
                <a:defRPr sz="1000">
                  <a:solidFill>
                    <a:schemeClr val="tx1"/>
                  </a:solidFill>
                  <a:latin typeface="Tahoma" pitchFamily="34" charset="0"/>
                </a:defRPr>
              </a:lvl7pPr>
              <a:lvl8pPr marL="3429000" indent="-228600" algn="ctr" eaLnBrk="0" fontAlgn="base" hangingPunct="0">
                <a:spcBef>
                  <a:spcPct val="0"/>
                </a:spcBef>
                <a:spcAft>
                  <a:spcPct val="0"/>
                </a:spcAft>
                <a:defRPr sz="1000">
                  <a:solidFill>
                    <a:schemeClr val="tx1"/>
                  </a:solidFill>
                  <a:latin typeface="Tahoma" pitchFamily="34" charset="0"/>
                </a:defRPr>
              </a:lvl8pPr>
              <a:lvl9pPr marL="3886200" indent="-228600" algn="ctr" eaLnBrk="0" fontAlgn="base" hangingPunct="0">
                <a:spcBef>
                  <a:spcPct val="0"/>
                </a:spcBef>
                <a:spcAft>
                  <a:spcPct val="0"/>
                </a:spcAft>
                <a:defRPr sz="1000">
                  <a:solidFill>
                    <a:schemeClr val="tx1"/>
                  </a:solidFill>
                  <a:latin typeface="Tahoma" pitchFamily="34" charset="0"/>
                </a:defRPr>
              </a:lvl9pPr>
            </a:lstStyle>
            <a:p>
              <a:endParaRPr lang="zh-CN" altLang="en-US" sz="2400">
                <a:solidFill>
                  <a:schemeClr val="tx2"/>
                </a:solidFill>
                <a:effectLst>
                  <a:outerShdw blurRad="38100" dist="38100" dir="2700000" algn="tl">
                    <a:srgbClr val="000000"/>
                  </a:outerShdw>
                </a:effectLst>
                <a:ea typeface="宋体" pitchFamily="2" charset="-122"/>
              </a:endParaRPr>
            </a:p>
          </p:txBody>
        </p:sp>
        <p:sp>
          <p:nvSpPr>
            <p:cNvPr id="10" name="TextBox 9"/>
            <p:cNvSpPr txBox="1"/>
            <p:nvPr/>
          </p:nvSpPr>
          <p:spPr>
            <a:xfrm>
              <a:off x="3715014" y="3702542"/>
              <a:ext cx="1359278" cy="238073"/>
            </a:xfrm>
            <a:prstGeom prst="rect">
              <a:avLst/>
            </a:prstGeom>
            <a:noFill/>
          </p:spPr>
          <p:txBody>
            <a:bodyPr wrap="none" rtlCol="0">
              <a:spAutoFit/>
            </a:bodyPr>
            <a:lstStyle/>
            <a:p>
              <a:r>
                <a:rPr lang="en-CA" sz="2000" b="1" dirty="0">
                  <a:solidFill>
                    <a:srgbClr val="7030A0"/>
                  </a:solidFill>
                  <a:cs typeface="Arial"/>
                </a:rPr>
                <a:t>Total: 1,536 Kbps</a:t>
              </a:r>
            </a:p>
          </p:txBody>
        </p:sp>
      </p:grpSp>
      <p:sp>
        <p:nvSpPr>
          <p:cNvPr id="11" name="AutoShape 12"/>
          <p:cNvSpPr>
            <a:spLocks noChangeArrowheads="1"/>
          </p:cNvSpPr>
          <p:nvPr/>
        </p:nvSpPr>
        <p:spPr bwMode="auto">
          <a:xfrm rot="5400000">
            <a:off x="5503874" y="943253"/>
            <a:ext cx="338806" cy="8587104"/>
          </a:xfrm>
          <a:prstGeom prst="can">
            <a:avLst>
              <a:gd name="adj" fmla="val 62097"/>
            </a:avLst>
          </a:prstGeom>
          <a:gradFill rotWithShape="1">
            <a:gsLst>
              <a:gs pos="0">
                <a:srgbClr val="FF9900"/>
              </a:gs>
              <a:gs pos="100000">
                <a:srgbClr val="764700"/>
              </a:gs>
            </a:gsLst>
            <a:lin ang="0" scaled="1"/>
          </a:gradFill>
          <a:ln>
            <a:noFill/>
          </a:ln>
          <a:extLst>
            <a:ext uri="{91240B29-F687-4F45-9708-019B960494DF}">
              <a14:hiddenLine xmlns:a14="http://schemas.microsoft.com/office/drawing/2010/main" w="38100">
                <a:solidFill>
                  <a:srgbClr val="000000"/>
                </a:solidFill>
                <a:round/>
                <a:headEnd/>
                <a:tailEnd/>
              </a14:hiddenLine>
            </a:ext>
          </a:extLst>
        </p:spPr>
        <p:txBody>
          <a:bodyPr rot="10800000" vert="eaVert" wrap="none" anchor="ctr"/>
          <a:lstStyle>
            <a:lvl1pPr>
              <a:defRPr sz="1000">
                <a:solidFill>
                  <a:schemeClr val="tx1"/>
                </a:solidFill>
                <a:latin typeface="Tahoma" pitchFamily="34" charset="0"/>
              </a:defRPr>
            </a:lvl1pPr>
            <a:lvl2pPr marL="742950" indent="-285750">
              <a:defRPr sz="1000">
                <a:solidFill>
                  <a:schemeClr val="tx1"/>
                </a:solidFill>
                <a:latin typeface="Tahoma" pitchFamily="34" charset="0"/>
              </a:defRPr>
            </a:lvl2pPr>
            <a:lvl3pPr marL="1143000" indent="-228600">
              <a:defRPr sz="1000">
                <a:solidFill>
                  <a:schemeClr val="tx1"/>
                </a:solidFill>
                <a:latin typeface="Tahoma" pitchFamily="34" charset="0"/>
              </a:defRPr>
            </a:lvl3pPr>
            <a:lvl4pPr marL="1600200" indent="-228600">
              <a:defRPr sz="1000">
                <a:solidFill>
                  <a:schemeClr val="tx1"/>
                </a:solidFill>
                <a:latin typeface="Tahoma" pitchFamily="34" charset="0"/>
              </a:defRPr>
            </a:lvl4pPr>
            <a:lvl5pPr marL="2057400" indent="-228600">
              <a:defRPr sz="1000">
                <a:solidFill>
                  <a:schemeClr val="tx1"/>
                </a:solidFill>
                <a:latin typeface="Tahoma" pitchFamily="34" charset="0"/>
              </a:defRPr>
            </a:lvl5pPr>
            <a:lvl6pPr marL="2514600" indent="-228600" algn="ctr" eaLnBrk="0" fontAlgn="base" hangingPunct="0">
              <a:spcBef>
                <a:spcPct val="0"/>
              </a:spcBef>
              <a:spcAft>
                <a:spcPct val="0"/>
              </a:spcAft>
              <a:defRPr sz="1000">
                <a:solidFill>
                  <a:schemeClr val="tx1"/>
                </a:solidFill>
                <a:latin typeface="Tahoma" pitchFamily="34" charset="0"/>
              </a:defRPr>
            </a:lvl6pPr>
            <a:lvl7pPr marL="2971800" indent="-228600" algn="ctr" eaLnBrk="0" fontAlgn="base" hangingPunct="0">
              <a:spcBef>
                <a:spcPct val="0"/>
              </a:spcBef>
              <a:spcAft>
                <a:spcPct val="0"/>
              </a:spcAft>
              <a:defRPr sz="1000">
                <a:solidFill>
                  <a:schemeClr val="tx1"/>
                </a:solidFill>
                <a:latin typeface="Tahoma" pitchFamily="34" charset="0"/>
              </a:defRPr>
            </a:lvl7pPr>
            <a:lvl8pPr marL="3429000" indent="-228600" algn="ctr" eaLnBrk="0" fontAlgn="base" hangingPunct="0">
              <a:spcBef>
                <a:spcPct val="0"/>
              </a:spcBef>
              <a:spcAft>
                <a:spcPct val="0"/>
              </a:spcAft>
              <a:defRPr sz="1000">
                <a:solidFill>
                  <a:schemeClr val="tx1"/>
                </a:solidFill>
                <a:latin typeface="Tahoma" pitchFamily="34" charset="0"/>
              </a:defRPr>
            </a:lvl8pPr>
            <a:lvl9pPr marL="3886200" indent="-228600" algn="ctr" eaLnBrk="0" fontAlgn="base" hangingPunct="0">
              <a:spcBef>
                <a:spcPct val="0"/>
              </a:spcBef>
              <a:spcAft>
                <a:spcPct val="0"/>
              </a:spcAft>
              <a:defRPr sz="1000">
                <a:solidFill>
                  <a:schemeClr val="tx1"/>
                </a:solidFill>
                <a:latin typeface="Tahoma" pitchFamily="34" charset="0"/>
              </a:defRPr>
            </a:lvl9pPr>
          </a:lstStyle>
          <a:p>
            <a:pPr algn="ctr"/>
            <a:r>
              <a:rPr lang="en-US" altLang="zh-TW" sz="1400" dirty="0">
                <a:latin typeface="+mn-lt"/>
                <a:ea typeface="新細明體" pitchFamily="18" charset="-120"/>
              </a:rPr>
              <a:t>Other applications: 136Kbps</a:t>
            </a:r>
          </a:p>
        </p:txBody>
      </p:sp>
      <p:grpSp>
        <p:nvGrpSpPr>
          <p:cNvPr id="12" name="Group 11"/>
          <p:cNvGrpSpPr/>
          <p:nvPr/>
        </p:nvGrpSpPr>
        <p:grpSpPr>
          <a:xfrm>
            <a:off x="1379724" y="4349421"/>
            <a:ext cx="8587104" cy="626980"/>
            <a:chOff x="1946584" y="4009921"/>
            <a:chExt cx="4688634" cy="342899"/>
          </a:xfrm>
        </p:grpSpPr>
        <p:sp>
          <p:nvSpPr>
            <p:cNvPr id="13" name="AutoShape 3"/>
            <p:cNvSpPr>
              <a:spLocks noChangeArrowheads="1"/>
            </p:cNvSpPr>
            <p:nvPr/>
          </p:nvSpPr>
          <p:spPr bwMode="auto">
            <a:xfrm rot="5400000">
              <a:off x="4119451" y="1837054"/>
              <a:ext cx="342899" cy="4688634"/>
            </a:xfrm>
            <a:prstGeom prst="can">
              <a:avLst>
                <a:gd name="adj" fmla="val 42712"/>
              </a:avLst>
            </a:prstGeom>
            <a:gradFill rotWithShape="1">
              <a:gsLst>
                <a:gs pos="0">
                  <a:srgbClr val="FFFF00"/>
                </a:gs>
                <a:gs pos="50000">
                  <a:srgbClr val="FFFF00">
                    <a:gamma/>
                    <a:shade val="46275"/>
                    <a:invGamma/>
                  </a:srgbClr>
                </a:gs>
                <a:gs pos="100000">
                  <a:srgbClr val="FFFF00"/>
                </a:gs>
              </a:gsLst>
              <a:lin ang="0" scaled="1"/>
            </a:gradFill>
            <a:ln w="38100">
              <a:noFill/>
              <a:prstDash val="sysDot"/>
              <a:round/>
              <a:headEnd/>
              <a:tailEnd/>
            </a:ln>
            <a:effectLst/>
          </p:spPr>
          <p:txBody>
            <a:bodyPr rot="10800000" vert="eaVert" wrap="none" anchor="ctr"/>
            <a:lstStyle>
              <a:lvl1pPr>
                <a:defRPr sz="1000">
                  <a:solidFill>
                    <a:schemeClr val="tx1"/>
                  </a:solidFill>
                  <a:latin typeface="Tahoma" pitchFamily="34" charset="0"/>
                </a:defRPr>
              </a:lvl1pPr>
              <a:lvl2pPr marL="742950" indent="-285750">
                <a:defRPr sz="1000">
                  <a:solidFill>
                    <a:schemeClr val="tx1"/>
                  </a:solidFill>
                  <a:latin typeface="Tahoma" pitchFamily="34" charset="0"/>
                </a:defRPr>
              </a:lvl2pPr>
              <a:lvl3pPr marL="1143000" indent="-228600">
                <a:defRPr sz="1000">
                  <a:solidFill>
                    <a:schemeClr val="tx1"/>
                  </a:solidFill>
                  <a:latin typeface="Tahoma" pitchFamily="34" charset="0"/>
                </a:defRPr>
              </a:lvl3pPr>
              <a:lvl4pPr marL="1600200" indent="-228600">
                <a:defRPr sz="1000">
                  <a:solidFill>
                    <a:schemeClr val="tx1"/>
                  </a:solidFill>
                  <a:latin typeface="Tahoma" pitchFamily="34" charset="0"/>
                </a:defRPr>
              </a:lvl4pPr>
              <a:lvl5pPr marL="2057400" indent="-228600">
                <a:defRPr sz="1000">
                  <a:solidFill>
                    <a:schemeClr val="tx1"/>
                  </a:solidFill>
                  <a:latin typeface="Tahoma" pitchFamily="34" charset="0"/>
                </a:defRPr>
              </a:lvl5pPr>
              <a:lvl6pPr marL="2514600" indent="-228600" algn="ctr" eaLnBrk="0" fontAlgn="base" hangingPunct="0">
                <a:spcBef>
                  <a:spcPct val="0"/>
                </a:spcBef>
                <a:spcAft>
                  <a:spcPct val="0"/>
                </a:spcAft>
                <a:defRPr sz="1000">
                  <a:solidFill>
                    <a:schemeClr val="tx1"/>
                  </a:solidFill>
                  <a:latin typeface="Tahoma" pitchFamily="34" charset="0"/>
                </a:defRPr>
              </a:lvl6pPr>
              <a:lvl7pPr marL="2971800" indent="-228600" algn="ctr" eaLnBrk="0" fontAlgn="base" hangingPunct="0">
                <a:spcBef>
                  <a:spcPct val="0"/>
                </a:spcBef>
                <a:spcAft>
                  <a:spcPct val="0"/>
                </a:spcAft>
                <a:defRPr sz="1000">
                  <a:solidFill>
                    <a:schemeClr val="tx1"/>
                  </a:solidFill>
                  <a:latin typeface="Tahoma" pitchFamily="34" charset="0"/>
                </a:defRPr>
              </a:lvl7pPr>
              <a:lvl8pPr marL="3429000" indent="-228600" algn="ctr" eaLnBrk="0" fontAlgn="base" hangingPunct="0">
                <a:spcBef>
                  <a:spcPct val="0"/>
                </a:spcBef>
                <a:spcAft>
                  <a:spcPct val="0"/>
                </a:spcAft>
                <a:defRPr sz="1000">
                  <a:solidFill>
                    <a:schemeClr val="tx1"/>
                  </a:solidFill>
                  <a:latin typeface="Tahoma" pitchFamily="34" charset="0"/>
                </a:defRPr>
              </a:lvl8pPr>
              <a:lvl9pPr marL="3886200" indent="-228600" algn="ctr" eaLnBrk="0" fontAlgn="base" hangingPunct="0">
                <a:spcBef>
                  <a:spcPct val="0"/>
                </a:spcBef>
                <a:spcAft>
                  <a:spcPct val="0"/>
                </a:spcAft>
                <a:defRPr sz="1000">
                  <a:solidFill>
                    <a:schemeClr val="tx1"/>
                  </a:solidFill>
                  <a:latin typeface="Tahoma" pitchFamily="34" charset="0"/>
                </a:defRPr>
              </a:lvl9pPr>
            </a:lstStyle>
            <a:p>
              <a:endParaRPr lang="zh-CN" altLang="en-US" sz="2400">
                <a:solidFill>
                  <a:schemeClr val="tx2"/>
                </a:solidFill>
                <a:effectLst>
                  <a:outerShdw blurRad="38100" dist="38100" dir="2700000" algn="tl">
                    <a:srgbClr val="000000"/>
                  </a:outerShdw>
                </a:effectLst>
                <a:ea typeface="宋体" pitchFamily="2" charset="-122"/>
              </a:endParaRPr>
            </a:p>
          </p:txBody>
        </p:sp>
        <p:sp>
          <p:nvSpPr>
            <p:cNvPr id="14" name="Text Box 8"/>
            <p:cNvSpPr txBox="1">
              <a:spLocks noChangeArrowheads="1"/>
            </p:cNvSpPr>
            <p:nvPr/>
          </p:nvSpPr>
          <p:spPr bwMode="auto">
            <a:xfrm>
              <a:off x="3425713" y="4041997"/>
              <a:ext cx="1366307" cy="31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prstDash val="sysDot"/>
                  <a:miter lim="800000"/>
                  <a:headEnd/>
                  <a:tailEnd/>
                </a14:hiddenLine>
              </a:ext>
            </a:extLst>
          </p:spPr>
          <p:txBody>
            <a:bodyPr wrap="square">
              <a:spAutoFit/>
            </a:bodyPr>
            <a:lstStyle>
              <a:lvl1pPr>
                <a:defRPr sz="1000">
                  <a:solidFill>
                    <a:schemeClr val="tx1"/>
                  </a:solidFill>
                  <a:latin typeface="Tahoma" pitchFamily="34" charset="0"/>
                </a:defRPr>
              </a:lvl1pPr>
              <a:lvl2pPr marL="742950" indent="-285750">
                <a:defRPr sz="1000">
                  <a:solidFill>
                    <a:schemeClr val="tx1"/>
                  </a:solidFill>
                  <a:latin typeface="Tahoma" pitchFamily="34" charset="0"/>
                </a:defRPr>
              </a:lvl2pPr>
              <a:lvl3pPr marL="1143000" indent="-228600">
                <a:defRPr sz="1000">
                  <a:solidFill>
                    <a:schemeClr val="tx1"/>
                  </a:solidFill>
                  <a:latin typeface="Tahoma" pitchFamily="34" charset="0"/>
                </a:defRPr>
              </a:lvl3pPr>
              <a:lvl4pPr marL="1600200" indent="-228600">
                <a:defRPr sz="1000">
                  <a:solidFill>
                    <a:schemeClr val="tx1"/>
                  </a:solidFill>
                  <a:latin typeface="Tahoma" pitchFamily="34" charset="0"/>
                </a:defRPr>
              </a:lvl4pPr>
              <a:lvl5pPr marL="2057400" indent="-228600">
                <a:defRPr sz="1000">
                  <a:solidFill>
                    <a:schemeClr val="tx1"/>
                  </a:solidFill>
                  <a:latin typeface="Tahoma" pitchFamily="34" charset="0"/>
                </a:defRPr>
              </a:lvl5pPr>
              <a:lvl6pPr marL="2514600" indent="-228600" algn="ctr" eaLnBrk="0" fontAlgn="base" hangingPunct="0">
                <a:spcBef>
                  <a:spcPct val="0"/>
                </a:spcBef>
                <a:spcAft>
                  <a:spcPct val="0"/>
                </a:spcAft>
                <a:defRPr sz="1000">
                  <a:solidFill>
                    <a:schemeClr val="tx1"/>
                  </a:solidFill>
                  <a:latin typeface="Tahoma" pitchFamily="34" charset="0"/>
                </a:defRPr>
              </a:lvl6pPr>
              <a:lvl7pPr marL="2971800" indent="-228600" algn="ctr" eaLnBrk="0" fontAlgn="base" hangingPunct="0">
                <a:spcBef>
                  <a:spcPct val="0"/>
                </a:spcBef>
                <a:spcAft>
                  <a:spcPct val="0"/>
                </a:spcAft>
                <a:defRPr sz="1000">
                  <a:solidFill>
                    <a:schemeClr val="tx1"/>
                  </a:solidFill>
                  <a:latin typeface="Tahoma" pitchFamily="34" charset="0"/>
                </a:defRPr>
              </a:lvl7pPr>
              <a:lvl8pPr marL="3429000" indent="-228600" algn="ctr" eaLnBrk="0" fontAlgn="base" hangingPunct="0">
                <a:spcBef>
                  <a:spcPct val="0"/>
                </a:spcBef>
                <a:spcAft>
                  <a:spcPct val="0"/>
                </a:spcAft>
                <a:defRPr sz="1000">
                  <a:solidFill>
                    <a:schemeClr val="tx1"/>
                  </a:solidFill>
                  <a:latin typeface="Tahoma" pitchFamily="34" charset="0"/>
                </a:defRPr>
              </a:lvl8pPr>
              <a:lvl9pPr marL="3886200" indent="-228600" algn="ctr" eaLnBrk="0" fontAlgn="base" hangingPunct="0">
                <a:spcBef>
                  <a:spcPct val="0"/>
                </a:spcBef>
                <a:spcAft>
                  <a:spcPct val="0"/>
                </a:spcAft>
                <a:defRPr sz="1000">
                  <a:solidFill>
                    <a:schemeClr val="tx1"/>
                  </a:solidFill>
                  <a:latin typeface="Tahoma" pitchFamily="34" charset="0"/>
                </a:defRPr>
              </a:lvl9pPr>
            </a:lstStyle>
            <a:p>
              <a:pPr algn="r"/>
              <a:r>
                <a:rPr lang="en-US" altLang="zh-TW" sz="2000" dirty="0">
                  <a:latin typeface="+mn-lt"/>
                  <a:ea typeface="新細明體" pitchFamily="18" charset="-120"/>
                </a:rPr>
                <a:t>Video: 1,400Kbps</a:t>
              </a:r>
            </a:p>
          </p:txBody>
        </p:sp>
        <p:pic>
          <p:nvPicPr>
            <p:cNvPr id="15" name="Picture 4" descr="https://developers.google.com/youtube/images/YouTube-icon-full_color.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18523" y="4056217"/>
              <a:ext cx="348132" cy="226964"/>
            </a:xfrm>
            <a:prstGeom prst="rect">
              <a:avLst/>
            </a:prstGeom>
            <a:noFill/>
            <a:extLst>
              <a:ext uri="{909E8E84-426E-40DD-AFC4-6F175D3DCCD1}">
                <a14:hiddenFill xmlns:a14="http://schemas.microsoft.com/office/drawing/2010/main">
                  <a:solidFill>
                    <a:srgbClr val="FFFFFF"/>
                  </a:solidFill>
                </a14:hiddenFill>
              </a:ext>
            </a:extLst>
          </p:spPr>
        </p:pic>
      </p:grpSp>
    </p:spTree>
    <p:custDataLst>
      <p:tags r:id="rId1"/>
    </p:custDataLst>
    <p:extLst>
      <p:ext uri="{BB962C8B-B14F-4D97-AF65-F5344CB8AC3E}">
        <p14:creationId xmlns:p14="http://schemas.microsoft.com/office/powerpoint/2010/main" val="264572593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par>
                          <p:cTn id="8" fill="hold">
                            <p:stCondLst>
                              <p:cond delay="500"/>
                            </p:stCondLst>
                            <p:childTnLst>
                              <p:par>
                                <p:cTn id="9" presetID="53" presetClass="entr" presetSubtype="16" fill="hold" nodeType="afterEffect">
                                  <p:stCondLst>
                                    <p:cond delay="1500"/>
                                  </p:stCondLst>
                                  <p:childTnLst>
                                    <p:set>
                                      <p:cBhvr>
                                        <p:cTn id="10" dur="1" fill="hold">
                                          <p:stCondLst>
                                            <p:cond delay="0"/>
                                          </p:stCondLst>
                                        </p:cTn>
                                        <p:tgtEl>
                                          <p:spTgt spid="12"/>
                                        </p:tgtEl>
                                        <p:attrNameLst>
                                          <p:attrName>style.visibility</p:attrName>
                                        </p:attrNameLst>
                                      </p:cBhvr>
                                      <p:to>
                                        <p:strVal val="visible"/>
                                      </p:to>
                                    </p:set>
                                    <p:anim calcmode="lin" valueType="num">
                                      <p:cBhvr>
                                        <p:cTn id="11" dur="500" fill="hold"/>
                                        <p:tgtEl>
                                          <p:spTgt spid="12"/>
                                        </p:tgtEl>
                                        <p:attrNameLst>
                                          <p:attrName>ppt_w</p:attrName>
                                        </p:attrNameLst>
                                      </p:cBhvr>
                                      <p:tavLst>
                                        <p:tav tm="0">
                                          <p:val>
                                            <p:fltVal val="0"/>
                                          </p:val>
                                        </p:tav>
                                        <p:tav tm="100000">
                                          <p:val>
                                            <p:strVal val="#ppt_w"/>
                                          </p:val>
                                        </p:tav>
                                      </p:tavLst>
                                    </p:anim>
                                    <p:anim calcmode="lin" valueType="num">
                                      <p:cBhvr>
                                        <p:cTn id="12" dur="500" fill="hold"/>
                                        <p:tgtEl>
                                          <p:spTgt spid="12"/>
                                        </p:tgtEl>
                                        <p:attrNameLst>
                                          <p:attrName>ppt_h</p:attrName>
                                        </p:attrNameLst>
                                      </p:cBhvr>
                                      <p:tavLst>
                                        <p:tav tm="0">
                                          <p:val>
                                            <p:fltVal val="0"/>
                                          </p:val>
                                        </p:tav>
                                        <p:tav tm="100000">
                                          <p:val>
                                            <p:strVal val="#ppt_h"/>
                                          </p:val>
                                        </p:tav>
                                      </p:tavLst>
                                    </p:anim>
                                    <p:animEffect transition="in" filter="fade">
                                      <p:cBhvr>
                                        <p:cTn id="13" dur="500"/>
                                        <p:tgtEl>
                                          <p:spTgt spid="12"/>
                                        </p:tgtEl>
                                      </p:cBhvr>
                                    </p:animEffect>
                                  </p:childTnLst>
                                </p:cTn>
                              </p:par>
                            </p:childTnLst>
                          </p:cTn>
                        </p:par>
                        <p:par>
                          <p:cTn id="14" fill="hold">
                            <p:stCondLst>
                              <p:cond delay="2500"/>
                            </p:stCondLst>
                            <p:childTnLst>
                              <p:par>
                                <p:cTn id="15" presetID="14" presetClass="entr" presetSubtype="10" fill="hold" grpId="0" nodeType="afterEffect">
                                  <p:stCondLst>
                                    <p:cond delay="1500"/>
                                  </p:stCondLst>
                                  <p:childTnLst>
                                    <p:set>
                                      <p:cBhvr>
                                        <p:cTn id="16" dur="1" fill="hold">
                                          <p:stCondLst>
                                            <p:cond delay="0"/>
                                          </p:stCondLst>
                                        </p:cTn>
                                        <p:tgtEl>
                                          <p:spTgt spid="11"/>
                                        </p:tgtEl>
                                        <p:attrNameLst>
                                          <p:attrName>style.visibility</p:attrName>
                                        </p:attrNameLst>
                                      </p:cBhvr>
                                      <p:to>
                                        <p:strVal val="visible"/>
                                      </p:to>
                                    </p:set>
                                    <p:animEffect transition="in" filter="randombar(horizontal)">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5"/>
          </p:nvPr>
        </p:nvSpPr>
        <p:spPr/>
        <p:txBody>
          <a:bodyPr/>
          <a:lstStyle/>
          <a:p>
            <a:r>
              <a:rPr lang="en-CA" i="1" dirty="0"/>
              <a:t>Must </a:t>
            </a:r>
            <a:r>
              <a:rPr lang="en-CA" dirty="0"/>
              <a:t>ensure matching criteria aligns with the settings in your firewall policy</a:t>
            </a:r>
          </a:p>
          <a:p>
            <a:pPr marL="368235" lvl="2" indent="-155113">
              <a:buSzPct val="100000"/>
            </a:pPr>
            <a:r>
              <a:rPr lang="en-CA" i="1" dirty="0"/>
              <a:t>Firewall policy must allow the traffic that you wish to control bandwidth of</a:t>
            </a:r>
            <a:endParaRPr lang="en-CA" dirty="0"/>
          </a:p>
          <a:p>
            <a:r>
              <a:rPr lang="en-CA" dirty="0"/>
              <a:t>Can shape traffic for application control based on:</a:t>
            </a:r>
          </a:p>
          <a:p>
            <a:pPr lvl="1"/>
            <a:r>
              <a:rPr lang="en-CA" dirty="0"/>
              <a:t>Application category</a:t>
            </a:r>
          </a:p>
          <a:p>
            <a:pPr lvl="1"/>
            <a:r>
              <a:rPr lang="en-CA" dirty="0"/>
              <a:t>Application</a:t>
            </a:r>
          </a:p>
          <a:p>
            <a:pPr lvl="1"/>
            <a:r>
              <a:rPr lang="en-CA" dirty="0"/>
              <a:t>Application group</a:t>
            </a:r>
          </a:p>
          <a:p>
            <a:pPr marL="0" indent="0">
              <a:buNone/>
            </a:pPr>
            <a:endParaRPr lang="en-CA" i="1" dirty="0"/>
          </a:p>
          <a:p>
            <a:endParaRPr lang="en-CA" i="1" dirty="0"/>
          </a:p>
          <a:p>
            <a:endParaRPr lang="en-CA" i="1" dirty="0"/>
          </a:p>
          <a:p>
            <a:endParaRPr lang="en-CA" dirty="0"/>
          </a:p>
        </p:txBody>
      </p:sp>
      <p:sp>
        <p:nvSpPr>
          <p:cNvPr id="4" name="Title 3"/>
          <p:cNvSpPr>
            <a:spLocks noGrp="1"/>
          </p:cNvSpPr>
          <p:nvPr>
            <p:ph type="title"/>
          </p:nvPr>
        </p:nvSpPr>
        <p:spPr/>
        <p:txBody>
          <a:bodyPr>
            <a:normAutofit/>
          </a:bodyPr>
          <a:lstStyle/>
          <a:p>
            <a:r>
              <a:rPr lang="en-CA" dirty="0"/>
              <a:t>Configuring the Traffic Shaping Policy</a:t>
            </a:r>
          </a:p>
        </p:txBody>
      </p:sp>
      <p:sp>
        <p:nvSpPr>
          <p:cNvPr id="7" name="Rectangle 6"/>
          <p:cNvSpPr/>
          <p:nvPr/>
        </p:nvSpPr>
        <p:spPr bwMode="auto">
          <a:xfrm>
            <a:off x="5243412" y="1020368"/>
            <a:ext cx="5858313" cy="277391"/>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Traffic </a:t>
            </a:r>
            <a:r>
              <a:rPr lang="en-CA" sz="1600" b="1" dirty="0" smtClean="0"/>
              <a:t>Shaping </a:t>
            </a:r>
            <a:r>
              <a:rPr lang="en-CA" sz="1600" dirty="0" smtClean="0"/>
              <a:t>&gt;</a:t>
            </a:r>
            <a:r>
              <a:rPr lang="en-CA" sz="1600" b="1" dirty="0" smtClean="0"/>
              <a:t> Traffic Shaping Policies</a:t>
            </a:r>
            <a:endParaRPr kumimoji="0" lang="en-CA" sz="1600" b="1" u="none" strike="noStrike" cap="none" normalizeH="0" baseline="0" dirty="0">
              <a:ln>
                <a:noFill/>
              </a:ln>
              <a:effectLst/>
            </a:endParaRPr>
          </a:p>
        </p:txBody>
      </p:sp>
      <p:sp>
        <p:nvSpPr>
          <p:cNvPr id="8" name="Rounded Rectangular Callout 7"/>
          <p:cNvSpPr/>
          <p:nvPr/>
        </p:nvSpPr>
        <p:spPr bwMode="auto">
          <a:xfrm>
            <a:off x="3152194" y="4857750"/>
            <a:ext cx="1873406" cy="381000"/>
          </a:xfrm>
          <a:prstGeom prst="wedgeRoundRectCallout">
            <a:avLst>
              <a:gd name="adj1" fmla="val 63515"/>
              <a:gd name="adj2" fmla="val -121814"/>
              <a:gd name="adj3" fmla="val 16667"/>
            </a:avLst>
          </a:prstGeom>
          <a:solidFill>
            <a:srgbClr val="00B0F0"/>
          </a:solidFill>
          <a:ln w="1905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400" dirty="0"/>
              <a:t>Used for web filtering</a:t>
            </a:r>
            <a:endParaRPr kumimoji="0" lang="en-CA" sz="1400" u="none" strike="noStrike" cap="none" normalizeH="0" baseline="0" dirty="0">
              <a:ln>
                <a:noFill/>
              </a:ln>
              <a:effectLst/>
            </a:endParaRPr>
          </a:p>
        </p:txBody>
      </p:sp>
      <p:sp>
        <p:nvSpPr>
          <p:cNvPr id="12" name="Rectangle 11"/>
          <p:cNvSpPr/>
          <p:nvPr/>
        </p:nvSpPr>
        <p:spPr bwMode="invGray">
          <a:xfrm>
            <a:off x="5239248" y="4622279"/>
            <a:ext cx="761502" cy="235471"/>
          </a:xfrm>
          <a:prstGeom prst="rect">
            <a:avLst/>
          </a:prstGeom>
          <a:noFill/>
          <a:ln w="38100">
            <a:solidFill>
              <a:srgbClr val="FF000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CA" dirty="0"/>
          </a:p>
        </p:txBody>
      </p:sp>
      <p:pic>
        <p:nvPicPr>
          <p:cNvPr id="2" name="Picture 1"/>
          <p:cNvPicPr>
            <a:picLocks noChangeAspect="1"/>
          </p:cNvPicPr>
          <p:nvPr/>
        </p:nvPicPr>
        <p:blipFill>
          <a:blip r:embed="rId4"/>
          <a:stretch>
            <a:fillRect/>
          </a:stretch>
        </p:blipFill>
        <p:spPr>
          <a:xfrm>
            <a:off x="5222473" y="1297759"/>
            <a:ext cx="5244342" cy="4854097"/>
          </a:xfrm>
          <a:prstGeom prst="rect">
            <a:avLst/>
          </a:prstGeom>
          <a:ln>
            <a:solidFill>
              <a:schemeClr val="tx1"/>
            </a:solidFill>
          </a:ln>
        </p:spPr>
      </p:pic>
      <p:sp>
        <p:nvSpPr>
          <p:cNvPr id="10" name="Rectangle 9"/>
          <p:cNvSpPr/>
          <p:nvPr/>
        </p:nvSpPr>
        <p:spPr>
          <a:xfrm>
            <a:off x="8515349" y="1769168"/>
            <a:ext cx="1951465" cy="18536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1" name="Rectangle 10"/>
          <p:cNvSpPr/>
          <p:nvPr/>
        </p:nvSpPr>
        <p:spPr>
          <a:xfrm>
            <a:off x="5237098" y="4469129"/>
            <a:ext cx="763652" cy="15314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618224305"/>
      </p:ext>
    </p:extLst>
  </p:cSld>
  <p:clrMapOvr>
    <a:masterClrMapping/>
  </p:clrMapOvr>
  <p:transition spd="slow">
    <p:wip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342900" indent="-342900">
              <a:buFont typeface="+mj-lt"/>
              <a:buAutoNum type="arabicPeriod"/>
            </a:pPr>
            <a:r>
              <a:rPr lang="en-CA" dirty="0"/>
              <a:t>Which statement about application control </a:t>
            </a:r>
            <a:r>
              <a:rPr lang="en-CA" dirty="0" smtClean="0"/>
              <a:t>in an </a:t>
            </a:r>
            <a:r>
              <a:rPr lang="en-CA" dirty="0"/>
              <a:t>NGFW policy-based configuration is true? </a:t>
            </a:r>
          </a:p>
          <a:p>
            <a:pPr marL="723833" lvl="1" indent="-342900">
              <a:buFont typeface="+mj-lt"/>
              <a:buAutoNum type="alphaUcPeriod"/>
            </a:pPr>
            <a:r>
              <a:rPr lang="en-CA" dirty="0"/>
              <a:t>Applications are applied directly to the security policies.</a:t>
            </a:r>
          </a:p>
          <a:p>
            <a:pPr marL="723833" lvl="1" indent="-342900">
              <a:buFont typeface="+mj-lt"/>
              <a:buAutoNum type="alphaUcPeriod"/>
            </a:pPr>
            <a:r>
              <a:rPr lang="en-US" dirty="0"/>
              <a:t>The application control profile must be applied to firewall policies. </a:t>
            </a:r>
          </a:p>
          <a:p>
            <a:pPr marL="457200" indent="-457200">
              <a:buFont typeface="+mj-lt"/>
              <a:buAutoNum type="arabicPeriod"/>
            </a:pPr>
            <a:endParaRPr lang="en-CA" dirty="0"/>
          </a:p>
          <a:p>
            <a:pPr marL="457200" indent="-457200">
              <a:buFont typeface="+mj-lt"/>
              <a:buAutoNum type="arabicPeriod"/>
            </a:pPr>
            <a:r>
              <a:rPr lang="en-CA" dirty="0"/>
              <a:t>Which statement about the HTTP block page for application control is true? </a:t>
            </a:r>
          </a:p>
          <a:p>
            <a:pPr marL="838133" lvl="1" indent="-457200">
              <a:buFont typeface="+mj-lt"/>
              <a:buAutoNum type="alphaUcPeriod"/>
            </a:pPr>
            <a:r>
              <a:rPr lang="en-CA" dirty="0"/>
              <a:t>It can be used only for web applications. </a:t>
            </a:r>
          </a:p>
          <a:p>
            <a:pPr marL="838133" lvl="1" indent="-457200">
              <a:buFont typeface="+mj-lt"/>
              <a:buAutoNum type="alphaUcPeriod"/>
            </a:pPr>
            <a:r>
              <a:rPr lang="en-CA" dirty="0"/>
              <a:t>It works for all types of applications. </a:t>
            </a:r>
          </a:p>
          <a:p>
            <a:pPr marL="457200" indent="-457200">
              <a:buFont typeface="+mj-lt"/>
              <a:buAutoNum type="arabicPeriod"/>
            </a:pPr>
            <a:endParaRPr lang="en-CA" dirty="0"/>
          </a:p>
        </p:txBody>
      </p:sp>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453" y="1649085"/>
            <a:ext cx="290799" cy="310853"/>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454" y="3153616"/>
            <a:ext cx="290799" cy="310853"/>
          </a:xfrm>
          <a:prstGeom prst="rect">
            <a:avLst/>
          </a:prstGeom>
        </p:spPr>
      </p:pic>
    </p:spTree>
    <p:custDataLst>
      <p:tags r:id="rId1"/>
    </p:custDataLst>
    <p:extLst>
      <p:ext uri="{BB962C8B-B14F-4D97-AF65-F5344CB8AC3E}">
        <p14:creationId xmlns:p14="http://schemas.microsoft.com/office/powerpoint/2010/main" val="3522220460"/>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2"/>
          <p:cNvGraphicFramePr>
            <a:graphicFrameLocks noGrp="1"/>
          </p:cNvGraphicFramePr>
          <p:nvPr>
            <p:ph type="dgm" sz="quarter" idx="10"/>
            <p:extLst>
              <p:ext uri="{D42A27DB-BD31-4B8C-83A1-F6EECF244321}">
                <p14:modId xmlns:p14="http://schemas.microsoft.com/office/powerpoint/2010/main" val="1098586207"/>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39160" y="1716338"/>
            <a:ext cx="674117" cy="720607"/>
          </a:xfrm>
          <a:prstGeom prst="rect">
            <a:avLst/>
          </a:prstGeom>
        </p:spPr>
      </p:pic>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81676" y="2807083"/>
            <a:ext cx="682185" cy="729232"/>
          </a:xfrm>
          <a:prstGeom prst="rect">
            <a:avLst/>
          </a:prstGeom>
        </p:spPr>
      </p:pic>
    </p:spTree>
    <p:custDataLst>
      <p:tags r:id="rId1"/>
    </p:custDataLst>
    <p:extLst>
      <p:ext uri="{BB962C8B-B14F-4D97-AF65-F5344CB8AC3E}">
        <p14:creationId xmlns:p14="http://schemas.microsoft.com/office/powerpoint/2010/main" val="2081397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Logging and Monitoring Application Control</a:t>
            </a:r>
          </a:p>
        </p:txBody>
      </p:sp>
      <p:sp>
        <p:nvSpPr>
          <p:cNvPr id="3" name="Text Placeholder 2"/>
          <p:cNvSpPr>
            <a:spLocks noGrp="1"/>
          </p:cNvSpPr>
          <p:nvPr>
            <p:ph type="body" sz="quarter" idx="11"/>
          </p:nvPr>
        </p:nvSpPr>
        <p:spPr/>
        <p:txBody>
          <a:bodyPr/>
          <a:lstStyle/>
          <a:p>
            <a:r>
              <a:rPr lang="en-CA" dirty="0"/>
              <a:t>Enable application control logging events</a:t>
            </a:r>
          </a:p>
          <a:p>
            <a:r>
              <a:rPr lang="en-CA" dirty="0"/>
              <a:t>Monitor application control events</a:t>
            </a:r>
          </a:p>
          <a:p>
            <a:r>
              <a:rPr lang="en-CA" dirty="0"/>
              <a:t>Use FortiView to see a detailed view of application control logs</a:t>
            </a:r>
          </a:p>
          <a:p>
            <a:endParaRPr lang="en-CA" dirty="0"/>
          </a:p>
        </p:txBody>
      </p:sp>
    </p:spTree>
    <p:custDataLst>
      <p:tags r:id="rId1"/>
    </p:custDataLst>
    <p:extLst>
      <p:ext uri="{BB962C8B-B14F-4D97-AF65-F5344CB8AC3E}">
        <p14:creationId xmlns:p14="http://schemas.microsoft.com/office/powerpoint/2010/main" val="701387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4"/>
          <a:stretch>
            <a:fillRect/>
          </a:stretch>
        </p:blipFill>
        <p:spPr>
          <a:xfrm>
            <a:off x="646673" y="2732776"/>
            <a:ext cx="11019047" cy="2485714"/>
          </a:xfrm>
          <a:prstGeom prst="rect">
            <a:avLst/>
          </a:prstGeom>
          <a:ln>
            <a:solidFill>
              <a:srgbClr val="0A0A0A"/>
            </a:solidFill>
          </a:ln>
        </p:spPr>
      </p:pic>
      <p:sp>
        <p:nvSpPr>
          <p:cNvPr id="4" name="Title 3"/>
          <p:cNvSpPr>
            <a:spLocks noGrp="1"/>
          </p:cNvSpPr>
          <p:nvPr>
            <p:ph type="title"/>
          </p:nvPr>
        </p:nvSpPr>
        <p:spPr/>
        <p:txBody>
          <a:bodyPr/>
          <a:lstStyle/>
          <a:p>
            <a:r>
              <a:rPr lang="en-CA" dirty="0"/>
              <a:t>Enabling Application Control Logging</a:t>
            </a:r>
          </a:p>
        </p:txBody>
      </p:sp>
      <p:sp>
        <p:nvSpPr>
          <p:cNvPr id="3" name="Content Placeholder 2"/>
          <p:cNvSpPr>
            <a:spLocks noGrp="1"/>
          </p:cNvSpPr>
          <p:nvPr>
            <p:ph idx="1"/>
          </p:nvPr>
        </p:nvSpPr>
        <p:spPr/>
        <p:txBody>
          <a:bodyPr/>
          <a:lstStyle/>
          <a:p>
            <a:r>
              <a:rPr lang="en-CA" sz="2400" dirty="0"/>
              <a:t>Example of NGFW policy-based mode firewall policies</a:t>
            </a:r>
          </a:p>
          <a:p>
            <a:endParaRPr lang="en-CA" dirty="0"/>
          </a:p>
        </p:txBody>
      </p:sp>
      <p:sp>
        <p:nvSpPr>
          <p:cNvPr id="18" name="Rounded Rectangular Callout 17"/>
          <p:cNvSpPr/>
          <p:nvPr/>
        </p:nvSpPr>
        <p:spPr bwMode="invGray">
          <a:xfrm>
            <a:off x="8142338" y="1536194"/>
            <a:ext cx="2051825" cy="975731"/>
          </a:xfrm>
          <a:prstGeom prst="wedgeRoundRectCallout">
            <a:avLst>
              <a:gd name="adj1" fmla="val 79069"/>
              <a:gd name="adj2" fmla="val 142105"/>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CA" sz="1400" dirty="0"/>
          </a:p>
        </p:txBody>
      </p:sp>
      <p:sp>
        <p:nvSpPr>
          <p:cNvPr id="19" name="Rounded Rectangular Callout 18"/>
          <p:cNvSpPr/>
          <p:nvPr/>
        </p:nvSpPr>
        <p:spPr bwMode="invGray">
          <a:xfrm>
            <a:off x="8142338" y="1536194"/>
            <a:ext cx="2151122" cy="975731"/>
          </a:xfrm>
          <a:prstGeom prst="wedgeRoundRectCallout">
            <a:avLst>
              <a:gd name="adj1" fmla="val -61595"/>
              <a:gd name="adj2" fmla="val 150175"/>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All attempts to access these applications </a:t>
            </a:r>
            <a:r>
              <a:rPr lang="en-CA" sz="1400" dirty="0" smtClean="0"/>
              <a:t>are </a:t>
            </a:r>
            <a:r>
              <a:rPr lang="en-CA" sz="1400" dirty="0"/>
              <a:t>blocked and logged </a:t>
            </a:r>
          </a:p>
        </p:txBody>
      </p:sp>
      <p:sp>
        <p:nvSpPr>
          <p:cNvPr id="20" name="Rounded Rectangular Callout 19"/>
          <p:cNvSpPr/>
          <p:nvPr/>
        </p:nvSpPr>
        <p:spPr bwMode="invGray">
          <a:xfrm>
            <a:off x="7116426" y="5498294"/>
            <a:ext cx="2051825" cy="975731"/>
          </a:xfrm>
          <a:prstGeom prst="wedgeRoundRectCallout">
            <a:avLst>
              <a:gd name="adj1" fmla="val -30364"/>
              <a:gd name="adj2" fmla="val -114698"/>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CA" sz="1400" dirty="0"/>
          </a:p>
        </p:txBody>
      </p:sp>
      <p:sp>
        <p:nvSpPr>
          <p:cNvPr id="21" name="Rounded Rectangular Callout 20"/>
          <p:cNvSpPr/>
          <p:nvPr/>
        </p:nvSpPr>
        <p:spPr bwMode="invGray">
          <a:xfrm>
            <a:off x="6841367" y="5498293"/>
            <a:ext cx="2707885" cy="975732"/>
          </a:xfrm>
          <a:prstGeom prst="wedgeRoundRectCallout">
            <a:avLst>
              <a:gd name="adj1" fmla="val 93601"/>
              <a:gd name="adj2" fmla="val -112094"/>
              <a:gd name="adj3" fmla="val 16667"/>
            </a:avLst>
          </a:prstGeom>
          <a:solidFill>
            <a:srgbClr val="00B0F0"/>
          </a:solidFill>
          <a:ln w="38100">
            <a:solidFill>
              <a:srgbClr val="00B0F0"/>
            </a:solidFill>
            <a:round/>
            <a:headEnd/>
            <a:tailE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CA" sz="1400" dirty="0"/>
              <a:t>Access to P2P applications </a:t>
            </a:r>
            <a:r>
              <a:rPr lang="en-CA" sz="1400" dirty="0" smtClean="0"/>
              <a:t>are blocked; </a:t>
            </a:r>
            <a:r>
              <a:rPr lang="en-CA" sz="1400" dirty="0"/>
              <a:t>however attempts </a:t>
            </a:r>
            <a:r>
              <a:rPr lang="en-CA" sz="1400" dirty="0" smtClean="0"/>
              <a:t>are </a:t>
            </a:r>
            <a:r>
              <a:rPr lang="en-CA" sz="1400" dirty="0"/>
              <a:t>not be logged</a:t>
            </a:r>
          </a:p>
        </p:txBody>
      </p:sp>
      <p:sp>
        <p:nvSpPr>
          <p:cNvPr id="12" name="Rectangle 11"/>
          <p:cNvSpPr/>
          <p:nvPr/>
        </p:nvSpPr>
        <p:spPr bwMode="auto">
          <a:xfrm>
            <a:off x="646673" y="2313280"/>
            <a:ext cx="3353828" cy="371473"/>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Policy &amp; Objects </a:t>
            </a:r>
            <a:r>
              <a:rPr lang="en-CA" sz="1600" dirty="0"/>
              <a:t>&gt; </a:t>
            </a:r>
            <a:r>
              <a:rPr lang="en-CA" sz="1600" b="1" dirty="0"/>
              <a:t>Security Policy</a:t>
            </a:r>
            <a:endParaRPr kumimoji="0" lang="en-CA" sz="1600" b="1" u="none" strike="noStrike" cap="none" normalizeH="0" baseline="0" dirty="0">
              <a:ln>
                <a:noFill/>
              </a:ln>
              <a:effectLst/>
            </a:endParaRPr>
          </a:p>
        </p:txBody>
      </p:sp>
      <p:sp>
        <p:nvSpPr>
          <p:cNvPr id="5" name="Rectangle 4"/>
          <p:cNvSpPr/>
          <p:nvPr/>
        </p:nvSpPr>
        <p:spPr>
          <a:xfrm>
            <a:off x="6858000" y="3314700"/>
            <a:ext cx="1085850" cy="914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8" name="Rectangle 7"/>
          <p:cNvSpPr/>
          <p:nvPr/>
        </p:nvSpPr>
        <p:spPr>
          <a:xfrm>
            <a:off x="8195310" y="3348990"/>
            <a:ext cx="788670" cy="2971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9" name="Rectangle 8"/>
          <p:cNvSpPr/>
          <p:nvPr/>
        </p:nvSpPr>
        <p:spPr>
          <a:xfrm>
            <a:off x="8229600" y="4583430"/>
            <a:ext cx="708660" cy="30861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5" name="Rectangle 14"/>
          <p:cNvSpPr/>
          <p:nvPr/>
        </p:nvSpPr>
        <p:spPr>
          <a:xfrm>
            <a:off x="6858000" y="4606290"/>
            <a:ext cx="788670" cy="2857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6" name="Rectangle 15"/>
          <p:cNvSpPr/>
          <p:nvPr/>
        </p:nvSpPr>
        <p:spPr>
          <a:xfrm>
            <a:off x="10721340" y="3348990"/>
            <a:ext cx="571500" cy="3091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22" name="Rectangle 21"/>
          <p:cNvSpPr/>
          <p:nvPr/>
        </p:nvSpPr>
        <p:spPr>
          <a:xfrm>
            <a:off x="10709910" y="4606290"/>
            <a:ext cx="932192" cy="28575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328677326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CA" dirty="0"/>
              <a:t>Logging Application Control Events</a:t>
            </a:r>
          </a:p>
        </p:txBody>
      </p:sp>
      <p:sp>
        <p:nvSpPr>
          <p:cNvPr id="2" name="Content Placeholder 1"/>
          <p:cNvSpPr>
            <a:spLocks noGrp="1"/>
          </p:cNvSpPr>
          <p:nvPr>
            <p:ph idx="1"/>
          </p:nvPr>
        </p:nvSpPr>
        <p:spPr>
          <a:xfrm>
            <a:off x="266399" y="972000"/>
            <a:ext cx="11375703" cy="5165910"/>
          </a:xfrm>
        </p:spPr>
        <p:txBody>
          <a:bodyPr>
            <a:normAutofit/>
          </a:bodyPr>
          <a:lstStyle/>
          <a:p>
            <a:r>
              <a:rPr lang="en-CA" dirty="0" err="1" smtClean="0"/>
              <a:t>FortiGate</a:t>
            </a:r>
            <a:r>
              <a:rPr lang="en-CA" dirty="0" smtClean="0"/>
              <a:t> logs all </a:t>
            </a:r>
            <a:r>
              <a:rPr lang="en-CA" dirty="0"/>
              <a:t>application control events </a:t>
            </a:r>
            <a:r>
              <a:rPr lang="en-CA" dirty="0" smtClean="0"/>
              <a:t>on </a:t>
            </a:r>
            <a:r>
              <a:rPr lang="en-CA" dirty="0"/>
              <a:t>the </a:t>
            </a:r>
            <a:r>
              <a:rPr lang="en-CA" b="1" dirty="0" smtClean="0"/>
              <a:t>Security Events </a:t>
            </a:r>
            <a:r>
              <a:rPr lang="en-CA" dirty="0" smtClean="0"/>
              <a:t>pane </a:t>
            </a:r>
            <a:r>
              <a:rPr lang="en-CA" dirty="0"/>
              <a:t>on the </a:t>
            </a:r>
            <a:r>
              <a:rPr lang="en-CA" b="1" dirty="0"/>
              <a:t>Log &amp; Report </a:t>
            </a:r>
            <a:r>
              <a:rPr lang="en-CA" dirty="0"/>
              <a:t>page</a:t>
            </a:r>
          </a:p>
        </p:txBody>
      </p:sp>
      <p:sp>
        <p:nvSpPr>
          <p:cNvPr id="9" name="Rectangle 8"/>
          <p:cNvSpPr/>
          <p:nvPr/>
        </p:nvSpPr>
        <p:spPr bwMode="auto">
          <a:xfrm>
            <a:off x="1293207" y="1698488"/>
            <a:ext cx="3061623"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Log &amp; Report </a:t>
            </a:r>
            <a:r>
              <a:rPr lang="en-CA" sz="1600" dirty="0"/>
              <a:t>&gt; </a:t>
            </a:r>
            <a:r>
              <a:rPr lang="en-CA" sz="1600" b="1" dirty="0" smtClean="0"/>
              <a:t>Security Events</a:t>
            </a:r>
            <a:endParaRPr kumimoji="0" lang="en-CA" sz="1600" b="1" u="none" strike="noStrike" cap="none" normalizeH="0" baseline="0" dirty="0">
              <a:ln>
                <a:noFill/>
              </a:ln>
              <a:effectLst/>
            </a:endParaRPr>
          </a:p>
        </p:txBody>
      </p:sp>
      <p:pic>
        <p:nvPicPr>
          <p:cNvPr id="6" name="Picture 5"/>
          <p:cNvPicPr>
            <a:picLocks noChangeAspect="1"/>
          </p:cNvPicPr>
          <p:nvPr/>
        </p:nvPicPr>
        <p:blipFill>
          <a:blip r:embed="rId4"/>
          <a:stretch>
            <a:fillRect/>
          </a:stretch>
        </p:blipFill>
        <p:spPr>
          <a:xfrm>
            <a:off x="1293207" y="2153979"/>
            <a:ext cx="3936287" cy="1617922"/>
          </a:xfrm>
          <a:prstGeom prst="rect">
            <a:avLst/>
          </a:prstGeom>
          <a:ln>
            <a:solidFill>
              <a:schemeClr val="tx1"/>
            </a:solidFill>
          </a:ln>
        </p:spPr>
      </p:pic>
      <p:sp>
        <p:nvSpPr>
          <p:cNvPr id="10" name="Rectangle 9"/>
          <p:cNvSpPr/>
          <p:nvPr/>
        </p:nvSpPr>
        <p:spPr>
          <a:xfrm>
            <a:off x="1630051" y="2625205"/>
            <a:ext cx="953129" cy="3465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cxnSp>
        <p:nvCxnSpPr>
          <p:cNvPr id="11" name="Straight Arrow Connector 10"/>
          <p:cNvCxnSpPr/>
          <p:nvPr/>
        </p:nvCxnSpPr>
        <p:spPr>
          <a:xfrm>
            <a:off x="2583180" y="2889639"/>
            <a:ext cx="3100882" cy="82161"/>
          </a:xfrm>
          <a:prstGeom prst="straightConnector1">
            <a:avLst/>
          </a:prstGeom>
          <a:ln w="38100">
            <a:solidFill>
              <a:srgbClr val="FF0000"/>
            </a:solidFill>
            <a:tailEnd type="arrow"/>
          </a:ln>
          <a:effectLst/>
        </p:spPr>
        <p:style>
          <a:lnRef idx="2">
            <a:schemeClr val="accent1"/>
          </a:lnRef>
          <a:fillRef idx="0">
            <a:schemeClr val="accent1"/>
          </a:fillRef>
          <a:effectRef idx="1">
            <a:schemeClr val="accent1"/>
          </a:effectRef>
          <a:fontRef idx="minor">
            <a:schemeClr val="tx1"/>
          </a:fontRef>
        </p:style>
      </p:cxnSp>
      <p:pic>
        <p:nvPicPr>
          <p:cNvPr id="12" name="Picture 11"/>
          <p:cNvPicPr>
            <a:picLocks noChangeAspect="1"/>
          </p:cNvPicPr>
          <p:nvPr/>
        </p:nvPicPr>
        <p:blipFill>
          <a:blip r:embed="rId5"/>
          <a:stretch>
            <a:fillRect/>
          </a:stretch>
        </p:blipFill>
        <p:spPr>
          <a:xfrm>
            <a:off x="5684062" y="2398279"/>
            <a:ext cx="6344896" cy="4162707"/>
          </a:xfrm>
          <a:prstGeom prst="rect">
            <a:avLst/>
          </a:prstGeom>
          <a:ln>
            <a:solidFill>
              <a:schemeClr val="tx1"/>
            </a:solidFill>
          </a:ln>
        </p:spPr>
      </p:pic>
      <p:sp>
        <p:nvSpPr>
          <p:cNvPr id="14" name="Rectangle 13"/>
          <p:cNvSpPr/>
          <p:nvPr/>
        </p:nvSpPr>
        <p:spPr>
          <a:xfrm>
            <a:off x="5684062" y="5516007"/>
            <a:ext cx="4766140" cy="1875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
        <p:nvSpPr>
          <p:cNvPr id="15" name="Rectangle 14"/>
          <p:cNvSpPr/>
          <p:nvPr/>
        </p:nvSpPr>
        <p:spPr>
          <a:xfrm>
            <a:off x="10564501" y="5609789"/>
            <a:ext cx="1288409" cy="95119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spcBef>
                <a:spcPts val="300"/>
              </a:spcBef>
            </a:pPr>
            <a:endParaRPr lang="en-US" sz="1400" dirty="0" err="1" smtClean="0"/>
          </a:p>
        </p:txBody>
      </p:sp>
    </p:spTree>
    <p:custDataLst>
      <p:tags r:id="rId1"/>
    </p:custDataLst>
    <p:extLst>
      <p:ext uri="{BB962C8B-B14F-4D97-AF65-F5344CB8AC3E}">
        <p14:creationId xmlns:p14="http://schemas.microsoft.com/office/powerpoint/2010/main" val="4255565844"/>
      </p:ext>
    </p:extLst>
  </p:cSld>
  <p:clrMapOvr>
    <a:masterClrMapping/>
  </p:clrMapOvr>
  <p:transition spd="slow">
    <p:wip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Application Control Events </a:t>
            </a:r>
            <a:r>
              <a:rPr lang="en-CA" dirty="0" smtClean="0"/>
              <a:t>In </a:t>
            </a:r>
            <a:r>
              <a:rPr lang="en-CA" dirty="0"/>
              <a:t>Dashboard View</a:t>
            </a:r>
          </a:p>
        </p:txBody>
      </p:sp>
      <p:sp>
        <p:nvSpPr>
          <p:cNvPr id="3" name="Content Placeholder 2"/>
          <p:cNvSpPr>
            <a:spLocks noGrp="1"/>
          </p:cNvSpPr>
          <p:nvPr>
            <p:ph idx="1"/>
          </p:nvPr>
        </p:nvSpPr>
        <p:spPr/>
        <p:txBody>
          <a:bodyPr/>
          <a:lstStyle/>
          <a:p>
            <a:r>
              <a:rPr lang="en-CA" dirty="0"/>
              <a:t>Application control events are saved in a standalone dashboard on the </a:t>
            </a:r>
            <a:r>
              <a:rPr lang="en-CA" sz="2400" b="1" dirty="0" smtClean="0"/>
              <a:t>Top </a:t>
            </a:r>
            <a:r>
              <a:rPr lang="en-CA" sz="2400" b="1" dirty="0"/>
              <a:t>Applications</a:t>
            </a:r>
            <a:r>
              <a:rPr lang="en-CA" dirty="0" smtClean="0"/>
              <a:t> </a:t>
            </a:r>
            <a:r>
              <a:rPr lang="en-CA" dirty="0"/>
              <a:t>dashboard</a:t>
            </a:r>
          </a:p>
          <a:p>
            <a:pPr lvl="1"/>
            <a:r>
              <a:rPr lang="en-CA" dirty="0"/>
              <a:t>Requires disk logging</a:t>
            </a:r>
          </a:p>
        </p:txBody>
      </p:sp>
      <p:sp>
        <p:nvSpPr>
          <p:cNvPr id="8" name="Rectangle 7"/>
          <p:cNvSpPr/>
          <p:nvPr/>
        </p:nvSpPr>
        <p:spPr bwMode="auto">
          <a:xfrm>
            <a:off x="266398" y="2009106"/>
            <a:ext cx="2911142" cy="304359"/>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algn="ctr"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Dashboard </a:t>
            </a:r>
            <a:r>
              <a:rPr lang="en-CA" sz="1600" dirty="0" smtClean="0"/>
              <a:t>&gt;</a:t>
            </a:r>
            <a:r>
              <a:rPr lang="en-CA" sz="1600" b="1" dirty="0" smtClean="0"/>
              <a:t>Top</a:t>
            </a:r>
            <a:r>
              <a:rPr lang="en-CA" sz="1600" dirty="0" smtClean="0"/>
              <a:t> </a:t>
            </a:r>
            <a:r>
              <a:rPr lang="en-CA" sz="1600" b="1" dirty="0" smtClean="0"/>
              <a:t>Applications</a:t>
            </a:r>
            <a:endParaRPr kumimoji="0" lang="en-CA" sz="1600" b="1" u="none" strike="noStrike" cap="none" normalizeH="0" baseline="0" dirty="0">
              <a:ln>
                <a:noFill/>
              </a:ln>
              <a:effectLst/>
            </a:endParaRPr>
          </a:p>
        </p:txBody>
      </p:sp>
      <p:pic>
        <p:nvPicPr>
          <p:cNvPr id="6" name="Picture 5"/>
          <p:cNvPicPr>
            <a:picLocks noChangeAspect="1"/>
          </p:cNvPicPr>
          <p:nvPr/>
        </p:nvPicPr>
        <p:blipFill>
          <a:blip r:embed="rId4"/>
          <a:stretch>
            <a:fillRect/>
          </a:stretch>
        </p:blipFill>
        <p:spPr>
          <a:xfrm>
            <a:off x="266398" y="2404905"/>
            <a:ext cx="9745654" cy="2739645"/>
          </a:xfrm>
          <a:prstGeom prst="rect">
            <a:avLst/>
          </a:prstGeom>
          <a:ln>
            <a:solidFill>
              <a:schemeClr val="tx1"/>
            </a:solidFill>
          </a:ln>
        </p:spPr>
      </p:pic>
    </p:spTree>
    <p:custDataLst>
      <p:tags r:id="rId1"/>
    </p:custDataLst>
    <p:extLst>
      <p:ext uri="{BB962C8B-B14F-4D97-AF65-F5344CB8AC3E}">
        <p14:creationId xmlns:p14="http://schemas.microsoft.com/office/powerpoint/2010/main" val="484161767"/>
      </p:ext>
    </p:extLst>
  </p:cSld>
  <p:clrMapOvr>
    <a:masterClrMapping/>
  </p:clrMapOvr>
  <p:transition spd="slow">
    <p:wip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CA" dirty="0"/>
              <a:t>Where do you enable logging of application control events? </a:t>
            </a:r>
          </a:p>
          <a:p>
            <a:pPr marL="838133" lvl="1" indent="-457200">
              <a:buFont typeface="+mj-lt"/>
              <a:buAutoNum type="alphaUcPeriod"/>
            </a:pPr>
            <a:r>
              <a:rPr lang="en-CA" dirty="0"/>
              <a:t>Application control logs are enabled in the firewall policy configuration.</a:t>
            </a:r>
          </a:p>
          <a:p>
            <a:pPr marL="838133" lvl="1" indent="-457200">
              <a:buFont typeface="+mj-lt"/>
              <a:buAutoNum type="alphaUcPeriod"/>
            </a:pPr>
            <a:r>
              <a:rPr lang="en-CA" dirty="0"/>
              <a:t>Application control logs are enabled on the </a:t>
            </a:r>
            <a:r>
              <a:rPr lang="en-CA" b="1" dirty="0"/>
              <a:t>FortiView Applications</a:t>
            </a:r>
            <a:r>
              <a:rPr lang="en-CA" dirty="0"/>
              <a:t> page of FortiGate. </a:t>
            </a:r>
          </a:p>
          <a:p>
            <a:pPr marL="838133" lvl="1" indent="-457200">
              <a:buFont typeface="+mj-lt"/>
              <a:buAutoNum type="alphaUcPeriod"/>
            </a:pPr>
            <a:endParaRPr lang="en-CA" dirty="0"/>
          </a:p>
          <a:p>
            <a:pPr marL="457200" indent="-457200">
              <a:buFont typeface="+mj-lt"/>
              <a:buAutoNum type="arabicPeriod"/>
            </a:pPr>
            <a:r>
              <a:rPr lang="en-CA" dirty="0"/>
              <a:t>Which piece of information is not included in the application event log when using NGFW policy-based mode? </a:t>
            </a:r>
          </a:p>
          <a:p>
            <a:pPr marL="838133" lvl="1" indent="-457200">
              <a:buFont typeface="+mj-lt"/>
              <a:buAutoNum type="alphaUcPeriod"/>
            </a:pPr>
            <a:r>
              <a:rPr lang="en-CA" dirty="0"/>
              <a:t>Application control profile name</a:t>
            </a:r>
          </a:p>
          <a:p>
            <a:pPr marL="838133" lvl="1" indent="-457200">
              <a:buFont typeface="+mj-lt"/>
              <a:buAutoNum type="alphaUcPeriod"/>
            </a:pPr>
            <a:r>
              <a:rPr lang="en-CA" dirty="0"/>
              <a:t>Application name</a:t>
            </a:r>
          </a:p>
          <a:p>
            <a:pPr marL="457200" indent="-457200">
              <a:buFont typeface="+mj-lt"/>
              <a:buAutoNum type="arabicPeriod"/>
            </a:pPr>
            <a:endParaRPr lang="en-CA"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079" y="1352151"/>
            <a:ext cx="290799" cy="31085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078" y="3009314"/>
            <a:ext cx="290799" cy="310853"/>
          </a:xfrm>
          <a:prstGeom prst="rect">
            <a:avLst/>
          </a:prstGeom>
        </p:spPr>
      </p:pic>
    </p:spTree>
    <p:custDataLst>
      <p:tags r:id="rId1"/>
    </p:custDataLst>
    <p:extLst>
      <p:ext uri="{BB962C8B-B14F-4D97-AF65-F5344CB8AC3E}">
        <p14:creationId xmlns:p14="http://schemas.microsoft.com/office/powerpoint/2010/main" val="244070195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2"/>
          <p:cNvGraphicFramePr>
            <a:graphicFrameLocks noGrp="1"/>
          </p:cNvGraphicFramePr>
          <p:nvPr>
            <p:ph type="dgm" sz="quarter" idx="10"/>
            <p:extLst>
              <p:ext uri="{D42A27DB-BD31-4B8C-83A1-F6EECF244321}">
                <p14:modId xmlns:p14="http://schemas.microsoft.com/office/powerpoint/2010/main" val="3958110612"/>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8048" y="2839575"/>
            <a:ext cx="682185" cy="729232"/>
          </a:xfrm>
          <a:prstGeom prst="rect">
            <a:avLst/>
          </a:prstGeom>
        </p:spPr>
      </p:pic>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13850" y="1735566"/>
            <a:ext cx="682185" cy="729232"/>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8048" y="3895145"/>
            <a:ext cx="682185" cy="729232"/>
          </a:xfrm>
          <a:prstGeom prst="rect">
            <a:avLst/>
          </a:prstGeom>
        </p:spPr>
      </p:pic>
    </p:spTree>
    <p:custDataLst>
      <p:tags r:id="rId1"/>
    </p:custDataLst>
    <p:extLst>
      <p:ext uri="{BB962C8B-B14F-4D97-AF65-F5344CB8AC3E}">
        <p14:creationId xmlns:p14="http://schemas.microsoft.com/office/powerpoint/2010/main" val="2464872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Best Practices and Troubleshooting</a:t>
            </a:r>
          </a:p>
        </p:txBody>
      </p:sp>
      <p:sp>
        <p:nvSpPr>
          <p:cNvPr id="3" name="Text Placeholder 2"/>
          <p:cNvSpPr>
            <a:spLocks noGrp="1"/>
          </p:cNvSpPr>
          <p:nvPr>
            <p:ph type="body" sz="quarter" idx="11"/>
          </p:nvPr>
        </p:nvSpPr>
        <p:spPr/>
        <p:txBody>
          <a:bodyPr/>
          <a:lstStyle/>
          <a:p>
            <a:r>
              <a:rPr lang="en-CA" dirty="0"/>
              <a:t>Recognize best practices for application control configuration</a:t>
            </a:r>
          </a:p>
          <a:p>
            <a:r>
              <a:rPr lang="en-CA" dirty="0"/>
              <a:t>Understand how to troubleshoot application control update issues</a:t>
            </a:r>
          </a:p>
          <a:p>
            <a:endParaRPr lang="en-CA" dirty="0"/>
          </a:p>
          <a:p>
            <a:endParaRPr lang="en-CA" dirty="0"/>
          </a:p>
          <a:p>
            <a:endParaRPr lang="en-CA" dirty="0"/>
          </a:p>
        </p:txBody>
      </p:sp>
    </p:spTree>
    <p:custDataLst>
      <p:tags r:id="rId1"/>
    </p:custDataLst>
    <p:extLst>
      <p:ext uri="{BB962C8B-B14F-4D97-AF65-F5344CB8AC3E}">
        <p14:creationId xmlns:p14="http://schemas.microsoft.com/office/powerpoint/2010/main" val="412369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a:t>Best Practices for Application Control</a:t>
            </a:r>
          </a:p>
        </p:txBody>
      </p:sp>
      <p:sp>
        <p:nvSpPr>
          <p:cNvPr id="3" name="Content Placeholder 2"/>
          <p:cNvSpPr>
            <a:spLocks noGrp="1"/>
          </p:cNvSpPr>
          <p:nvPr>
            <p:ph idx="1"/>
          </p:nvPr>
        </p:nvSpPr>
        <p:spPr/>
        <p:txBody>
          <a:bodyPr>
            <a:normAutofit/>
          </a:bodyPr>
          <a:lstStyle/>
          <a:p>
            <a:r>
              <a:rPr lang="en-CA" dirty="0"/>
              <a:t>Apply application control to only the traffic that requires it</a:t>
            </a:r>
          </a:p>
          <a:p>
            <a:pPr lvl="1"/>
            <a:r>
              <a:rPr lang="en-CA" dirty="0"/>
              <a:t>Specify subnets (source, destination, or both) within the firewall policy, whenever possible</a:t>
            </a:r>
          </a:p>
          <a:p>
            <a:pPr lvl="1"/>
            <a:r>
              <a:rPr lang="en-CA" dirty="0"/>
              <a:t>Don’t apply application control to internal-to-internal traffic</a:t>
            </a:r>
          </a:p>
          <a:p>
            <a:r>
              <a:rPr lang="en-CA" dirty="0"/>
              <a:t>If using load balancing or failover internet connections, apply identical application control on all load balancing or redundant firewall policies</a:t>
            </a:r>
          </a:p>
          <a:p>
            <a:r>
              <a:rPr lang="en-CA" dirty="0"/>
              <a:t>Select </a:t>
            </a:r>
            <a:r>
              <a:rPr lang="en-CA" b="1" dirty="0"/>
              <a:t>Deep-Inspection</a:t>
            </a:r>
            <a:r>
              <a:rPr lang="en-CA" dirty="0"/>
              <a:t> instead of </a:t>
            </a:r>
            <a:r>
              <a:rPr lang="en-CA" b="1" dirty="0"/>
              <a:t>Certificate-based</a:t>
            </a:r>
            <a:r>
              <a:rPr lang="en-CA" dirty="0"/>
              <a:t> inspection as the SSL/SSH inspection method</a:t>
            </a:r>
          </a:p>
          <a:p>
            <a:r>
              <a:rPr lang="en-CA" dirty="0"/>
              <a:t>Use a FortiCloud account to save and view application control events in FortiView</a:t>
            </a:r>
          </a:p>
          <a:p>
            <a:pPr lvl="1"/>
            <a:r>
              <a:rPr lang="en-CA" dirty="0"/>
              <a:t>FortiGate devices that don’t have an internal disk for logging require FortiCloud logging to use FortiView</a:t>
            </a:r>
          </a:p>
          <a:p>
            <a:r>
              <a:rPr lang="en-CA" dirty="0"/>
              <a:t>Use hardware acceleration for application signature matching</a:t>
            </a:r>
          </a:p>
          <a:p>
            <a:endParaRPr lang="en-CA" dirty="0"/>
          </a:p>
        </p:txBody>
      </p:sp>
    </p:spTree>
    <p:custDataLst>
      <p:tags r:id="rId1"/>
    </p:custDataLst>
    <p:extLst>
      <p:ext uri="{BB962C8B-B14F-4D97-AF65-F5344CB8AC3E}">
        <p14:creationId xmlns:p14="http://schemas.microsoft.com/office/powerpoint/2010/main" val="2333802284"/>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Application Control Troubleshooting	</a:t>
            </a:r>
          </a:p>
        </p:txBody>
      </p:sp>
      <p:sp>
        <p:nvSpPr>
          <p:cNvPr id="3" name="Content Placeholder 2"/>
          <p:cNvSpPr>
            <a:spLocks noGrp="1"/>
          </p:cNvSpPr>
          <p:nvPr>
            <p:ph idx="1"/>
          </p:nvPr>
        </p:nvSpPr>
        <p:spPr/>
        <p:txBody>
          <a:bodyPr/>
          <a:lstStyle/>
          <a:p>
            <a:r>
              <a:rPr lang="en-CA" dirty="0"/>
              <a:t>If FortiGuard has update issues, make sure that:</a:t>
            </a:r>
          </a:p>
          <a:p>
            <a:pPr lvl="1"/>
            <a:r>
              <a:rPr lang="en-CA" dirty="0"/>
              <a:t>FortiGate has a stable connection to the </a:t>
            </a:r>
            <a:r>
              <a:rPr lang="en-CA" dirty="0" smtClean="0"/>
              <a:t>internet</a:t>
            </a:r>
            <a:endParaRPr lang="en-CA" dirty="0"/>
          </a:p>
          <a:p>
            <a:pPr lvl="1"/>
            <a:r>
              <a:rPr lang="en-CA" dirty="0"/>
              <a:t>FortiGate is able to resolve DNS (</a:t>
            </a:r>
            <a:r>
              <a:rPr lang="en-CA" dirty="0">
                <a:latin typeface="Courier New" panose="02070309020205020404" pitchFamily="49" charset="0"/>
                <a:cs typeface="Courier New" panose="02070309020205020404" pitchFamily="49" charset="0"/>
              </a:rPr>
              <a:t>update.fortiguard.net</a:t>
            </a:r>
            <a:r>
              <a:rPr lang="en-CA" dirty="0"/>
              <a:t>)</a:t>
            </a:r>
          </a:p>
          <a:p>
            <a:pPr lvl="1"/>
            <a:r>
              <a:rPr lang="en-CA" dirty="0"/>
              <a:t>TCP port 443 is open</a:t>
            </a:r>
          </a:p>
          <a:p>
            <a:r>
              <a:rPr lang="en-CA" dirty="0"/>
              <a:t>Force FortiGate to check for new application control updates:</a:t>
            </a:r>
          </a:p>
          <a:p>
            <a:endParaRPr lang="en-CA" dirty="0">
              <a:cs typeface="Courier New" pitchFamily="49" charset="0"/>
            </a:endParaRPr>
          </a:p>
          <a:p>
            <a:r>
              <a:rPr lang="en-CA" dirty="0">
                <a:cs typeface="Courier New" pitchFamily="49" charset="0"/>
              </a:rPr>
              <a:t>Verify that the application control signatures database version is up-to-date with the FortiGuard website</a:t>
            </a:r>
          </a:p>
          <a:p>
            <a:endParaRPr lang="en-CA" dirty="0">
              <a:cs typeface="Courier New" pitchFamily="49" charset="0"/>
            </a:endParaRPr>
          </a:p>
          <a:p>
            <a:endParaRPr lang="en-CA" dirty="0">
              <a:cs typeface="Courier New" pitchFamily="49" charset="0"/>
            </a:endParaRPr>
          </a:p>
        </p:txBody>
      </p:sp>
      <p:sp>
        <p:nvSpPr>
          <p:cNvPr id="4" name="TextBox 3"/>
          <p:cNvSpPr txBox="1"/>
          <p:nvPr/>
        </p:nvSpPr>
        <p:spPr>
          <a:xfrm>
            <a:off x="1007699" y="2747264"/>
            <a:ext cx="2666114" cy="369332"/>
          </a:xfrm>
          <a:prstGeom prst="rect">
            <a:avLst/>
          </a:prstGeom>
          <a:noFill/>
        </p:spPr>
        <p:txBody>
          <a:bodyPr wrap="none" rtlCol="0">
            <a:spAutoFit/>
          </a:bodyPr>
          <a:lstStyle/>
          <a:p>
            <a:r>
              <a:rPr lang="en-US" dirty="0">
                <a:solidFill>
                  <a:srgbClr val="0A0A0A"/>
                </a:solidFill>
                <a:latin typeface="Courier New" panose="02070309020205020404" pitchFamily="49" charset="0"/>
                <a:cs typeface="Courier New" panose="02070309020205020404" pitchFamily="49" charset="0"/>
              </a:rPr>
              <a:t>execute update-now</a:t>
            </a:r>
            <a:endParaRPr lang="en-US" b="1" dirty="0">
              <a:solidFill>
                <a:srgbClr val="0A0A0A"/>
              </a:solidFill>
              <a:latin typeface="Courier New" panose="02070309020205020404" pitchFamily="49" charset="0"/>
              <a:cs typeface="Courier New" panose="02070309020205020404" pitchFamily="49" charset="0"/>
            </a:endParaRPr>
          </a:p>
        </p:txBody>
      </p:sp>
      <p:sp>
        <p:nvSpPr>
          <p:cNvPr id="6" name="Rectangle 5"/>
          <p:cNvSpPr/>
          <p:nvPr/>
        </p:nvSpPr>
        <p:spPr bwMode="auto">
          <a:xfrm>
            <a:off x="914011" y="3910773"/>
            <a:ext cx="2100205" cy="336057"/>
          </a:xfrm>
          <a:prstGeom prst="rect">
            <a:avLst/>
          </a:prstGeom>
          <a:solidFill>
            <a:srgbClr val="00B0F0"/>
          </a:solidFill>
          <a:ln w="38100" cap="flat" cmpd="sng" algn="ctr">
            <a:solidFill>
              <a:srgbClr val="00B0F0"/>
            </a:solidFill>
            <a:prstDash val="solid"/>
            <a:round/>
            <a:headEnd type="none" w="med" len="med"/>
            <a:tailEnd type="none" w="med" len="me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indent="0" defTabSz="914400" rtl="0" eaLnBrk="0" fontAlgn="base" latinLnBrk="0" hangingPunct="0">
              <a:lnSpc>
                <a:spcPct val="100000"/>
              </a:lnSpc>
              <a:spcBef>
                <a:spcPct val="20000"/>
              </a:spcBef>
              <a:spcAft>
                <a:spcPct val="0"/>
              </a:spcAft>
              <a:buClr>
                <a:schemeClr val="accent1"/>
              </a:buClr>
              <a:buSzPct val="90000"/>
              <a:buFont typeface="Wingdings" charset="2"/>
              <a:buNone/>
              <a:tabLst/>
            </a:pPr>
            <a:r>
              <a:rPr lang="en-CA" sz="1600" b="1" dirty="0"/>
              <a:t>System </a:t>
            </a:r>
            <a:r>
              <a:rPr lang="en-CA" sz="1600" dirty="0"/>
              <a:t>&gt;</a:t>
            </a:r>
            <a:r>
              <a:rPr lang="en-CA" sz="1600" b="1" dirty="0"/>
              <a:t> FortiGuard</a:t>
            </a:r>
            <a:endParaRPr kumimoji="0" lang="en-CA" sz="1600" b="1" u="none" strike="noStrike" cap="none" normalizeH="0" baseline="0" dirty="0">
              <a:ln>
                <a:noFill/>
              </a:ln>
              <a:effectLst/>
            </a:endParaRPr>
          </a:p>
        </p:txBody>
      </p:sp>
      <p:pic>
        <p:nvPicPr>
          <p:cNvPr id="5" name="Picture 4"/>
          <p:cNvPicPr>
            <a:picLocks noChangeAspect="1"/>
          </p:cNvPicPr>
          <p:nvPr/>
        </p:nvPicPr>
        <p:blipFill>
          <a:blip r:embed="rId4"/>
          <a:stretch>
            <a:fillRect/>
          </a:stretch>
        </p:blipFill>
        <p:spPr>
          <a:xfrm>
            <a:off x="914011" y="4258260"/>
            <a:ext cx="5715389" cy="2150345"/>
          </a:xfrm>
          <a:prstGeom prst="rect">
            <a:avLst/>
          </a:prstGeom>
          <a:ln>
            <a:solidFill>
              <a:srgbClr val="0A0A0A"/>
            </a:solidFill>
          </a:ln>
        </p:spPr>
      </p:pic>
    </p:spTree>
    <p:custDataLst>
      <p:tags r:id="rId1"/>
    </p:custDataLst>
    <p:extLst>
      <p:ext uri="{BB962C8B-B14F-4D97-AF65-F5344CB8AC3E}">
        <p14:creationId xmlns:p14="http://schemas.microsoft.com/office/powerpoint/2010/main" val="124527928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457200" indent="-457200">
              <a:buFont typeface="+mj-lt"/>
              <a:buAutoNum type="arabicPeriod"/>
            </a:pPr>
            <a:r>
              <a:rPr lang="en-CA" dirty="0"/>
              <a:t>Which protocol does FortiGate use with FortiGuard to receive updates for application control? </a:t>
            </a:r>
          </a:p>
          <a:p>
            <a:pPr marL="838133" lvl="1" indent="-457200">
              <a:buFont typeface="+mj-lt"/>
              <a:buAutoNum type="alphaUcPeriod"/>
            </a:pPr>
            <a:r>
              <a:rPr lang="en-CA" dirty="0">
                <a:cs typeface="Arial" pitchFamily="34" charset="0"/>
              </a:rPr>
              <a:t>UDP</a:t>
            </a:r>
            <a:endParaRPr lang="en-CA" dirty="0"/>
          </a:p>
          <a:p>
            <a:pPr marL="838133" lvl="1" indent="-457200">
              <a:buFont typeface="+mj-lt"/>
              <a:buAutoNum type="alphaUcPeriod"/>
            </a:pPr>
            <a:r>
              <a:rPr lang="en-CA" dirty="0">
                <a:cs typeface="Arial" pitchFamily="34" charset="0"/>
              </a:rPr>
              <a:t>TCP</a:t>
            </a:r>
            <a:endParaRPr lang="en-CA" dirty="0"/>
          </a:p>
          <a:p>
            <a:pPr marL="380933" lvl="1" indent="0">
              <a:buNone/>
            </a:pPr>
            <a:endParaRPr lang="en-CA" dirty="0"/>
          </a:p>
          <a:p>
            <a:pPr marL="342900" indent="-342900">
              <a:buFont typeface="+mj-lt"/>
              <a:buAutoNum type="arabicPeriod"/>
            </a:pPr>
            <a:r>
              <a:rPr lang="en-US" dirty="0"/>
              <a:t>Which SSL/SSH inspection method is recommended for use with application control scanning to improve application detection? </a:t>
            </a:r>
            <a:endParaRPr lang="en-CA" dirty="0"/>
          </a:p>
          <a:p>
            <a:pPr marL="723833" lvl="1" indent="-342900">
              <a:buFont typeface="+mj-lt"/>
              <a:buAutoNum type="alphaUcPeriod"/>
            </a:pPr>
            <a:r>
              <a:rPr lang="en-CA" dirty="0"/>
              <a:t>Certificate-based inspection profile</a:t>
            </a:r>
          </a:p>
          <a:p>
            <a:pPr marL="723833" lvl="1" indent="-342900">
              <a:buFont typeface="+mj-lt"/>
              <a:buAutoNum type="alphaUcPeriod"/>
            </a:pPr>
            <a:r>
              <a:rPr lang="en-US" dirty="0"/>
              <a:t>Deep-inspection profile</a:t>
            </a:r>
          </a:p>
          <a:p>
            <a:pPr marL="723833" lvl="1" indent="-342900">
              <a:buFont typeface="+mj-lt"/>
              <a:buAutoNum type="alphaUcPeriod"/>
            </a:pPr>
            <a:endParaRPr lang="en-CA" dirty="0"/>
          </a:p>
        </p:txBody>
      </p:sp>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50" y="1994947"/>
            <a:ext cx="290799" cy="310853"/>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950" y="3639600"/>
            <a:ext cx="290799" cy="310853"/>
          </a:xfrm>
          <a:prstGeom prst="rect">
            <a:avLst/>
          </a:prstGeom>
        </p:spPr>
      </p:pic>
    </p:spTree>
    <p:custDataLst>
      <p:tags r:id="rId1"/>
    </p:custDataLst>
    <p:extLst>
      <p:ext uri="{BB962C8B-B14F-4D97-AF65-F5344CB8AC3E}">
        <p14:creationId xmlns:p14="http://schemas.microsoft.com/office/powerpoint/2010/main" val="400088131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SmartArt Placeholder 2"/>
          <p:cNvGraphicFramePr>
            <a:graphicFrameLocks noGrp="1"/>
          </p:cNvGraphicFramePr>
          <p:nvPr>
            <p:ph type="dgm" sz="quarter" idx="10"/>
            <p:extLst>
              <p:ext uri="{D42A27DB-BD31-4B8C-83A1-F6EECF244321}">
                <p14:modId xmlns:p14="http://schemas.microsoft.com/office/powerpoint/2010/main" val="1077175703"/>
              </p:ext>
            </p:extLst>
          </p:nvPr>
        </p:nvGraphicFramePr>
        <p:xfrm>
          <a:off x="266700" y="1346200"/>
          <a:ext cx="11387138" cy="47085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8" name="Picture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4673" y="2832485"/>
            <a:ext cx="682185" cy="729232"/>
          </a:xfrm>
          <a:prstGeom prst="rect">
            <a:avLst/>
          </a:prstGeom>
        </p:spPr>
      </p:pic>
      <p:pic>
        <p:nvPicPr>
          <p:cNvPr id="9" name="Picture 8"/>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4277" y="1687453"/>
            <a:ext cx="682185" cy="729232"/>
          </a:xfrm>
          <a:prstGeom prst="rect">
            <a:avLst/>
          </a:prstGeom>
        </p:spPr>
      </p:pic>
      <p:pic>
        <p:nvPicPr>
          <p:cNvPr id="10" name="Picture 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79911" y="3940548"/>
            <a:ext cx="682185" cy="729232"/>
          </a:xfrm>
          <a:prstGeom prst="rect">
            <a:avLst/>
          </a:prstGeom>
        </p:spPr>
      </p:pic>
      <p:pic>
        <p:nvPicPr>
          <p:cNvPr id="11" name="Picture 1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44277" y="4997636"/>
            <a:ext cx="682185" cy="729232"/>
          </a:xfrm>
          <a:prstGeom prst="rect">
            <a:avLst/>
          </a:prstGeom>
        </p:spPr>
      </p:pic>
    </p:spTree>
    <p:custDataLst>
      <p:tags r:id="rId1"/>
    </p:custDataLst>
    <p:extLst>
      <p:ext uri="{BB962C8B-B14F-4D97-AF65-F5344CB8AC3E}">
        <p14:creationId xmlns:p14="http://schemas.microsoft.com/office/powerpoint/2010/main" val="2545172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normAutofit fontScale="92500" lnSpcReduction="10000"/>
          </a:bodyPr>
          <a:lstStyle/>
          <a:p>
            <a:r>
              <a:rPr lang="en-CA" dirty="0"/>
              <a:t>Understand application control </a:t>
            </a:r>
          </a:p>
          <a:p>
            <a:r>
              <a:rPr lang="en-CA" dirty="0"/>
              <a:t>Detect types of applications</a:t>
            </a:r>
          </a:p>
          <a:p>
            <a:r>
              <a:rPr lang="en-CA" dirty="0"/>
              <a:t>Understand FortiGuard application control services</a:t>
            </a:r>
          </a:p>
          <a:p>
            <a:r>
              <a:rPr lang="en-CA" dirty="0"/>
              <a:t>Use application control signatures</a:t>
            </a:r>
          </a:p>
          <a:p>
            <a:r>
              <a:rPr lang="en-CA" dirty="0"/>
              <a:t>Configure application control in profile mode</a:t>
            </a:r>
          </a:p>
          <a:p>
            <a:r>
              <a:rPr lang="en-CA" dirty="0"/>
              <a:t>Configure application control in NGFW policy mode</a:t>
            </a:r>
          </a:p>
          <a:p>
            <a:r>
              <a:rPr lang="en-CA" dirty="0"/>
              <a:t>Use the application control traffic shaping policy</a:t>
            </a:r>
          </a:p>
          <a:p>
            <a:r>
              <a:rPr lang="en-CA" dirty="0"/>
              <a:t>Enable application control logging events</a:t>
            </a:r>
          </a:p>
          <a:p>
            <a:r>
              <a:rPr lang="en-CA" dirty="0"/>
              <a:t>Monitor application control events</a:t>
            </a:r>
          </a:p>
          <a:p>
            <a:r>
              <a:rPr lang="en-CA" dirty="0"/>
              <a:t>Use </a:t>
            </a:r>
            <a:r>
              <a:rPr lang="en-CA"/>
              <a:t>the dashboard </a:t>
            </a:r>
            <a:r>
              <a:rPr lang="en-CA" dirty="0"/>
              <a:t>to see a detailed view of application control logs</a:t>
            </a:r>
          </a:p>
          <a:p>
            <a:r>
              <a:rPr lang="en-CA" dirty="0"/>
              <a:t>Recognize best practices for application control configuration</a:t>
            </a:r>
          </a:p>
          <a:p>
            <a:r>
              <a:rPr lang="en-CA" dirty="0"/>
              <a:t>Understand how to troubleshoot application control update issues</a:t>
            </a:r>
          </a:p>
          <a:p>
            <a:endParaRPr lang="en-CA" dirty="0"/>
          </a:p>
        </p:txBody>
      </p:sp>
    </p:spTree>
    <p:custDataLst>
      <p:tags r:id="rId1"/>
    </p:custDataLst>
    <p:extLst>
      <p:ext uri="{BB962C8B-B14F-4D97-AF65-F5344CB8AC3E}">
        <p14:creationId xmlns:p14="http://schemas.microsoft.com/office/powerpoint/2010/main" val="242073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4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NSE_Certification_Program_Template-2021">
  <a:themeElements>
    <a:clrScheme name="Fortinet-2021">
      <a:dk1>
        <a:srgbClr val="000000"/>
      </a:dk1>
      <a:lt1>
        <a:srgbClr val="FFFFFF"/>
      </a:lt1>
      <a:dk2>
        <a:srgbClr val="B3B3B3"/>
      </a:dk2>
      <a:lt2>
        <a:srgbClr val="E6E6E6"/>
      </a:lt2>
      <a:accent1>
        <a:srgbClr val="48D597"/>
      </a:accent1>
      <a:accent2>
        <a:srgbClr val="2CCCD3"/>
      </a:accent2>
      <a:accent3>
        <a:srgbClr val="307FE2"/>
      </a:accent3>
      <a:accent4>
        <a:srgbClr val="9063CD"/>
      </a:accent4>
      <a:accent5>
        <a:srgbClr val="A2B2C8"/>
      </a:accent5>
      <a:accent6>
        <a:srgbClr val="DA281C"/>
      </a:accent6>
      <a:hlink>
        <a:srgbClr val="0081E9"/>
      </a:hlink>
      <a:folHlink>
        <a:srgbClr val="307FE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6"/>
        </a:solidFill>
        <a:ln>
          <a:solidFill>
            <a:schemeClr val="accent6"/>
          </a:solidFill>
        </a:ln>
      </a:spPr>
      <a:bodyPr rtlCol="0" anchor="ctr"/>
      <a:lstStyle>
        <a:defPPr algn="ctr">
          <a:lnSpc>
            <a:spcPct val="90000"/>
          </a:lnSpc>
          <a:spcBef>
            <a:spcPts val="300"/>
          </a:spcBef>
          <a:defRPr sz="14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defTabSz="457189">
          <a:lnSpc>
            <a:spcPct val="90000"/>
          </a:lnSpc>
          <a:spcBef>
            <a:spcPts val="300"/>
          </a:spcBef>
          <a:defRPr sz="1400" dirty="0" smtClean="0">
            <a:solidFill>
              <a:srgbClr val="000000"/>
            </a:solidFill>
            <a:cs typeface="Arial" panose="020B0604020202020204" pitchFamily="34" charset="0"/>
          </a:defRPr>
        </a:defPPr>
      </a:lstStyle>
    </a:txDef>
  </a:objectDefaults>
  <a:extraClrSchemeLst/>
  <a:extLst>
    <a:ext uri="{05A4C25C-085E-4340-85A3-A5531E510DB2}">
      <thm15:themeFamily xmlns:thm15="http://schemas.microsoft.com/office/thememl/2012/main" name="Presentation5" id="{B400592B-8D21-4166-94CE-701FC4462A4C}" vid="{01281597-3EC3-4121-9707-A57978F4B07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NSE_Certification_Template_2022</Template>
  <TotalTime>50512</TotalTime>
  <Words>7413</Words>
  <Application>Microsoft Office PowerPoint</Application>
  <PresentationFormat>Custom</PresentationFormat>
  <Paragraphs>582</Paragraphs>
  <Slides>45</Slides>
  <Notes>45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45</vt:i4>
      </vt:variant>
    </vt:vector>
  </HeadingPairs>
  <TitlesOfParts>
    <vt:vector size="58" baseType="lpstr">
      <vt:lpstr>ＭＳ Ｐゴシック</vt:lpstr>
      <vt:lpstr>宋体</vt:lpstr>
      <vt:lpstr>Arial</vt:lpstr>
      <vt:lpstr>Arial Unicode MS</vt:lpstr>
      <vt:lpstr>Calibri</vt:lpstr>
      <vt:lpstr>Courier New</vt:lpstr>
      <vt:lpstr>Inter</vt:lpstr>
      <vt:lpstr>Lucida Grande</vt:lpstr>
      <vt:lpstr>新細明體</vt:lpstr>
      <vt:lpstr>Tahoma</vt:lpstr>
      <vt:lpstr>Wingdings</vt:lpstr>
      <vt:lpstr>Wingdings 3</vt:lpstr>
      <vt:lpstr>NSE_Certification_Program_Template-2021</vt:lpstr>
      <vt:lpstr>FortiGate Security </vt:lpstr>
      <vt:lpstr>PowerPoint Presentation</vt:lpstr>
      <vt:lpstr>Application Control Basics</vt:lpstr>
      <vt:lpstr>What Is Application Control and How Does It Work? </vt:lpstr>
      <vt:lpstr>Detecting Peer-to-Peer Applications</vt:lpstr>
      <vt:lpstr>Client-Server Architecture</vt:lpstr>
      <vt:lpstr>Peer-to-Peer Architecture</vt:lpstr>
      <vt:lpstr>Application Control Signatures</vt:lpstr>
      <vt:lpstr>Application Control Database </vt:lpstr>
      <vt:lpstr>Hierarchical Structure</vt:lpstr>
      <vt:lpstr>PowerPoint Presentation</vt:lpstr>
      <vt:lpstr>PowerPoint Presentation</vt:lpstr>
      <vt:lpstr>Application Control Configuration</vt:lpstr>
      <vt:lpstr>Application Control Profiles</vt:lpstr>
      <vt:lpstr>Configuring an Application Control Profile</vt:lpstr>
      <vt:lpstr>Configuring Additional Options</vt:lpstr>
      <vt:lpstr>Protocol Enforcement</vt:lpstr>
      <vt:lpstr>Scanning Order</vt:lpstr>
      <vt:lpstr>Order of Scan and Blocking Behavior (Scenario 1)</vt:lpstr>
      <vt:lpstr>Order of Scan and Blocking Behavior (Scenario 2)</vt:lpstr>
      <vt:lpstr>Actions</vt:lpstr>
      <vt:lpstr>Applying an Application Control Profile</vt:lpstr>
      <vt:lpstr>Block Page</vt:lpstr>
      <vt:lpstr>NGFW Policy-Based Mode</vt:lpstr>
      <vt:lpstr>NGFW Policy-Based Mode (Contd)</vt:lpstr>
      <vt:lpstr>How Does NGFW Policy-Based Filtering Work?</vt:lpstr>
      <vt:lpstr>Configuring App Control in Policy-Based Mode</vt:lpstr>
      <vt:lpstr>Policy-Based Central SNAT Policy</vt:lpstr>
      <vt:lpstr>NGFW Policy Matching</vt:lpstr>
      <vt:lpstr>Application Control Traffic Shaping</vt:lpstr>
      <vt:lpstr>Configuring the Traffic Shaping Policy</vt:lpstr>
      <vt:lpstr>PowerPoint Presentation</vt:lpstr>
      <vt:lpstr>PowerPoint Presentation</vt:lpstr>
      <vt:lpstr>Logging and Monitoring Application Control</vt:lpstr>
      <vt:lpstr>Enabling Application Control Logging</vt:lpstr>
      <vt:lpstr>Logging Application Control Events</vt:lpstr>
      <vt:lpstr>Application Control Events In Dashboard View</vt:lpstr>
      <vt:lpstr>PowerPoint Presentation</vt:lpstr>
      <vt:lpstr>PowerPoint Presentation</vt:lpstr>
      <vt:lpstr>Best Practices and Troubleshooting</vt:lpstr>
      <vt:lpstr>Best Practices for Application Control</vt:lpstr>
      <vt:lpstr>Application Control Troubleshooting </vt:lpstr>
      <vt:lpstr>PowerPoint Presentation</vt:lpstr>
      <vt:lpstr>PowerPoint Presentation</vt:lpstr>
      <vt:lpstr>PowerPoint Presentation</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cp:lastPrinted>2017-07-21T15:31:42Z</cp:lastPrinted>
</cp:coreProperties>
</file>

<file path=docProps/custom.xml><?xml version="1.0" encoding="utf-8"?>
<Properties xmlns="http://schemas.openxmlformats.org/officeDocument/2006/custom-properties" xmlns:vt="http://schemas.openxmlformats.org/officeDocument/2006/docPropsVTypes"/>
</file>