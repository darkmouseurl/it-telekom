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8.xml" ContentType="application/vnd.openxmlformats-officedocument.presentationml.tags+xml"/>
  <Override PartName="/ppt/notesSlides/notesSlide39.xml" ContentType="application/vnd.openxmlformats-officedocument.presentationml.notesSlide+xml"/>
  <Override PartName="/ppt/tags/tag39.xml" ContentType="application/vnd.openxmlformats-officedocument.presentationml.tags+xml"/>
  <Override PartName="/ppt/notesSlides/notesSlide40.xml" ContentType="application/vnd.openxmlformats-officedocument.presentationml.notesSlide+xml"/>
  <Override PartName="/ppt/tags/tag40.xml" ContentType="application/vnd.openxmlformats-officedocument.presentationml.tags+xml"/>
  <Override PartName="/ppt/notesSlides/notesSlide4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41.xml" ContentType="application/vnd.openxmlformats-officedocument.presentationml.tags+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1"/>
  </p:sldMasterIdLst>
  <p:notesMasterIdLst>
    <p:notesMasterId r:id="rId44"/>
  </p:notesMasterIdLst>
  <p:handoutMasterIdLst>
    <p:handoutMasterId r:id="rId45"/>
  </p:handoutMasterIdLst>
  <p:sldIdLst>
    <p:sldId id="291" r:id="rId2"/>
    <p:sldId id="292" r:id="rId3"/>
    <p:sldId id="293" r:id="rId4"/>
    <p:sldId id="294" r:id="rId5"/>
    <p:sldId id="295" r:id="rId6"/>
    <p:sldId id="296" r:id="rId7"/>
    <p:sldId id="297" r:id="rId8"/>
    <p:sldId id="298" r:id="rId9"/>
    <p:sldId id="299" r:id="rId10"/>
    <p:sldId id="301" r:id="rId11"/>
    <p:sldId id="304" r:id="rId12"/>
    <p:sldId id="389" r:id="rId13"/>
    <p:sldId id="305" r:id="rId14"/>
    <p:sldId id="306" r:id="rId15"/>
    <p:sldId id="307" r:id="rId16"/>
    <p:sldId id="308" r:id="rId17"/>
    <p:sldId id="310" r:id="rId18"/>
    <p:sldId id="386" r:id="rId19"/>
    <p:sldId id="380" r:id="rId20"/>
    <p:sldId id="396" r:id="rId21"/>
    <p:sldId id="397" r:id="rId22"/>
    <p:sldId id="315" r:id="rId23"/>
    <p:sldId id="354" r:id="rId24"/>
    <p:sldId id="376" r:id="rId25"/>
    <p:sldId id="318" r:id="rId26"/>
    <p:sldId id="360" r:id="rId27"/>
    <p:sldId id="355" r:id="rId28"/>
    <p:sldId id="391" r:id="rId29"/>
    <p:sldId id="395" r:id="rId30"/>
    <p:sldId id="358" r:id="rId31"/>
    <p:sldId id="326" r:id="rId32"/>
    <p:sldId id="328" r:id="rId33"/>
    <p:sldId id="357" r:id="rId34"/>
    <p:sldId id="324" r:id="rId35"/>
    <p:sldId id="334" r:id="rId36"/>
    <p:sldId id="363" r:id="rId37"/>
    <p:sldId id="336" r:id="rId38"/>
    <p:sldId id="387" r:id="rId39"/>
    <p:sldId id="338" r:id="rId40"/>
    <p:sldId id="341" r:id="rId41"/>
    <p:sldId id="351" r:id="rId42"/>
    <p:sldId id="352" r:id="rId43"/>
  </p:sldIdLst>
  <p:sldSz cx="12188825" cy="6858000"/>
  <p:notesSz cx="7315200" cy="96012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880" userDrawn="1">
          <p15:clr>
            <a:srgbClr val="A4A3A4"/>
          </p15:clr>
        </p15:guide>
        <p15:guide id="3" orient="horz" pos="4189">
          <p15:clr>
            <a:srgbClr val="A4A3A4"/>
          </p15:clr>
        </p15:guide>
        <p15:guide id="4" orient="horz" pos="622">
          <p15:clr>
            <a:srgbClr val="A4A3A4"/>
          </p15:clr>
        </p15:guide>
        <p15:guide id="5" orient="horz" pos="979">
          <p15:clr>
            <a:srgbClr val="A4A3A4"/>
          </p15:clr>
        </p15:guide>
        <p15:guide id="6" pos="3839">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guide id="3" orient="horz" pos="3024">
          <p15:clr>
            <a:srgbClr val="A4A3A4"/>
          </p15:clr>
        </p15:guide>
        <p15:guide id="4"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sorensen" initials="j" lastIdx="52" clrIdx="0"/>
  <p:cmAuthor id="1" name="Derek McLellan" initials="DM" lastIdx="26" clrIdx="1"/>
  <p:cmAuthor id="2" name="Lori Brown" initials="LB" lastIdx="1" clrIdx="2"/>
  <p:cmAuthor id="3" name="Roshan Fernando" initials="RF" lastIdx="5" clrIdx="3"/>
  <p:cmAuthor id="4" name="Syed Zia" initials="SZ" lastIdx="1" clrIdx="4">
    <p:extLst>
      <p:ext uri="{19B8F6BF-5375-455C-9EA6-DF929625EA0E}">
        <p15:presenceInfo xmlns:p15="http://schemas.microsoft.com/office/powerpoint/2012/main" userId="Syed Zia" providerId="None"/>
      </p:ext>
    </p:extLst>
  </p:cmAuthor>
  <p:cmAuthor id="5" name="Syed Zia" initials="SZ [2]" lastIdx="4" clrIdx="5">
    <p:extLst>
      <p:ext uri="{19B8F6BF-5375-455C-9EA6-DF929625EA0E}">
        <p15:presenceInfo xmlns:p15="http://schemas.microsoft.com/office/powerpoint/2012/main" userId="S-1-5-21-1960408961-1383384898-1957994488-498902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D64"/>
    <a:srgbClr val="292929"/>
    <a:srgbClr val="4D4D4D"/>
    <a:srgbClr val="FFFFFF"/>
    <a:srgbClr val="DC291E"/>
    <a:srgbClr val="0A0A0A"/>
    <a:srgbClr val="AD4C22"/>
    <a:srgbClr val="BFBFBF"/>
    <a:srgbClr val="DADADA"/>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73302" autoAdjust="0"/>
  </p:normalViewPr>
  <p:slideViewPr>
    <p:cSldViewPr snapToGrid="0">
      <p:cViewPr varScale="1">
        <p:scale>
          <a:sx n="79" d="100"/>
          <a:sy n="79" d="100"/>
        </p:scale>
        <p:origin x="1650" y="78"/>
      </p:cViewPr>
      <p:guideLst>
        <p:guide orient="horz" pos="1596"/>
        <p:guide pos="2880"/>
        <p:guide orient="horz" pos="4189"/>
        <p:guide orient="horz" pos="622"/>
        <p:guide orient="horz" pos="979"/>
        <p:guide pos="3839"/>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79" d="100"/>
          <a:sy n="79" d="100"/>
        </p:scale>
        <p:origin x="3828"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High-Level Features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Setup Decisions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Basic Administration</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008D803-46B8-4E8D-A0B3-36DDA4C039AE}">
      <dgm:prSet/>
      <dgm:spPr/>
      <dgm:t>
        <a:bodyPr/>
        <a:lstStyle/>
        <a:p>
          <a:r>
            <a:rPr lang="en-CA" dirty="0"/>
            <a:t>Fundamental Maintenance</a:t>
          </a:r>
        </a:p>
      </dgm:t>
    </dgm:pt>
    <dgm:pt modelId="{D089FAF0-E39A-4D5E-BC22-C7FB0A80AD6E}" type="parTrans" cxnId="{9FB8271C-2483-4F36-82CA-06BC621EAA96}">
      <dgm:prSet/>
      <dgm:spPr/>
      <dgm:t>
        <a:bodyPr/>
        <a:lstStyle/>
        <a:p>
          <a:endParaRPr lang="en-US"/>
        </a:p>
      </dgm:t>
    </dgm:pt>
    <dgm:pt modelId="{89B01412-7B38-485C-8C6A-4E052169433B}" type="sibTrans" cxnId="{9FB8271C-2483-4F36-82CA-06BC621EAA96}">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t>
        <a:bodyPr/>
        <a:lstStyle/>
        <a:p>
          <a:endParaRPr lang="en-US"/>
        </a:p>
      </dgm:t>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A54232E8-93F4-41E9-B369-7E60EDA212EF}" type="pres">
      <dgm:prSet presAssocID="{7008D803-46B8-4E8D-A0B3-36DDA4C039AE}" presName="text_4" presStyleLbl="node1" presStyleIdx="3" presStyleCnt="4">
        <dgm:presLayoutVars>
          <dgm:bulletEnabled val="1"/>
        </dgm:presLayoutVars>
      </dgm:prSet>
      <dgm:spPr/>
      <dgm:t>
        <a:bodyPr/>
        <a:lstStyle/>
        <a:p>
          <a:endParaRPr lang="en-US"/>
        </a:p>
      </dgm:t>
    </dgm:pt>
    <dgm:pt modelId="{C90BCC4F-E77C-43D7-A1D5-304753118488}" type="pres">
      <dgm:prSet presAssocID="{7008D803-46B8-4E8D-A0B3-36DDA4C039AE}" presName="accent_4" presStyleCnt="0"/>
      <dgm:spPr/>
    </dgm:pt>
    <dgm:pt modelId="{87562175-0849-4DF8-B27D-586CB208566E}" type="pres">
      <dgm:prSet presAssocID="{7008D803-46B8-4E8D-A0B3-36DDA4C039AE}" presName="accentRepeatNode" presStyleLbl="solidFgAcc1" presStyleIdx="3" presStyleCnt="4"/>
      <dgm:spPr/>
    </dgm:pt>
  </dgm:ptLst>
  <dgm:cxnLst>
    <dgm:cxn modelId="{33385DF3-D1E6-4EA2-AC16-14B623DCE97C}" type="presOf" srcId="{7008D803-46B8-4E8D-A0B3-36DDA4C039AE}" destId="{A54232E8-93F4-41E9-B369-7E60EDA212EF}"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873FB72E-8684-4E1F-A702-6347BB0BAFE6}" srcId="{D043F5CB-BC5D-4A11-AB32-2960081BEC2E}" destId="{310E8F2C-89DE-4BA5-97DA-F646BC52F749}" srcOrd="2" destOrd="0" parTransId="{CE5653AB-9867-430F-83A4-4D43B9255EAA}" sibTransId="{AB853960-23F8-4467-9195-EBC196F92A59}"/>
    <dgm:cxn modelId="{B41D2F0E-9287-4DBE-94B3-42FCCA56080C}" type="presOf" srcId="{A5A548B3-6AC7-4528-ADEB-4C80B2EB9FE1}" destId="{4F10BD40-3D78-480D-9C3C-DEEAA6B532C0}" srcOrd="0" destOrd="0" presId="urn:microsoft.com/office/officeart/2008/layout/VerticalCurvedList"/>
    <dgm:cxn modelId="{9FB8271C-2483-4F36-82CA-06BC621EAA96}" srcId="{D043F5CB-BC5D-4A11-AB32-2960081BEC2E}" destId="{7008D803-46B8-4E8D-A0B3-36DDA4C039AE}" srcOrd="3" destOrd="0" parTransId="{D089FAF0-E39A-4D5E-BC22-C7FB0A80AD6E}" sibTransId="{89B01412-7B38-485C-8C6A-4E052169433B}"/>
    <dgm:cxn modelId="{CCBF0959-E464-4290-8F61-EE10965CF483}" type="presOf" srcId="{5B1B9221-1044-403A-81A4-A41C0E0449B9}" destId="{D593A696-9230-4ACA-9D52-83E05F9F38F7}" srcOrd="0" destOrd="0" presId="urn:microsoft.com/office/officeart/2008/layout/VerticalCurvedList"/>
    <dgm:cxn modelId="{61E5A223-340C-4B81-A473-F37EB6C4EBDB}" type="presOf" srcId="{5E715238-0243-4B0E-84F0-3572BED2843B}" destId="{10C2ADB5-FB0D-4752-B06B-69F09CC2A46D}"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10A6020C-1C6F-48F0-BC8A-EDDCD5C61143}" type="presOf" srcId="{D043F5CB-BC5D-4A11-AB32-2960081BEC2E}" destId="{3FB16CE5-CAA2-4957-8C7B-4DB8F06B5FE6}" srcOrd="0" destOrd="0" presId="urn:microsoft.com/office/officeart/2008/layout/VerticalCurvedList"/>
    <dgm:cxn modelId="{586A1C70-D22A-4693-926E-046D9AF242FC}" type="presOf" srcId="{310E8F2C-89DE-4BA5-97DA-F646BC52F749}" destId="{A63D8216-A541-4DFA-963D-37F99664E5CA}" srcOrd="0" destOrd="0" presId="urn:microsoft.com/office/officeart/2008/layout/VerticalCurvedList"/>
    <dgm:cxn modelId="{8CDA8ECE-0E56-41AC-8868-45F32BFAAD9C}" type="presParOf" srcId="{3FB16CE5-CAA2-4957-8C7B-4DB8F06B5FE6}" destId="{741DC565-FE42-4ACF-8359-44981FFC1B12}" srcOrd="0" destOrd="0" presId="urn:microsoft.com/office/officeart/2008/layout/VerticalCurvedList"/>
    <dgm:cxn modelId="{3266AA98-5377-4FD6-A1A6-4F4105D8D7F5}" type="presParOf" srcId="{741DC565-FE42-4ACF-8359-44981FFC1B12}" destId="{006628EE-2672-4E73-AF80-C2FA6DA0F245}" srcOrd="0" destOrd="0" presId="urn:microsoft.com/office/officeart/2008/layout/VerticalCurvedList"/>
    <dgm:cxn modelId="{54231197-D15B-4318-B0D6-EFB00FB80B6C}" type="presParOf" srcId="{006628EE-2672-4E73-AF80-C2FA6DA0F245}" destId="{83CBCA6B-4523-45AB-8C5C-5DCAC4D94B22}" srcOrd="0" destOrd="0" presId="urn:microsoft.com/office/officeart/2008/layout/VerticalCurvedList"/>
    <dgm:cxn modelId="{1DA5FD89-08EA-4053-AEBA-185D9B37AC72}" type="presParOf" srcId="{006628EE-2672-4E73-AF80-C2FA6DA0F245}" destId="{D593A696-9230-4ACA-9D52-83E05F9F38F7}" srcOrd="1" destOrd="0" presId="urn:microsoft.com/office/officeart/2008/layout/VerticalCurvedList"/>
    <dgm:cxn modelId="{86DFFEE7-DFE6-4EE2-A212-ABB7D0366352}" type="presParOf" srcId="{006628EE-2672-4E73-AF80-C2FA6DA0F245}" destId="{2CD41FF4-48CE-42E3-8206-C4D806851A54}" srcOrd="2" destOrd="0" presId="urn:microsoft.com/office/officeart/2008/layout/VerticalCurvedList"/>
    <dgm:cxn modelId="{D9131C25-A9AC-4C03-B7D9-AEDF7DAF2C23}" type="presParOf" srcId="{006628EE-2672-4E73-AF80-C2FA6DA0F245}" destId="{BC70810A-B28C-4236-8A87-6A2163164CC9}" srcOrd="3" destOrd="0" presId="urn:microsoft.com/office/officeart/2008/layout/VerticalCurvedList"/>
    <dgm:cxn modelId="{2F47BC0D-B169-4B72-9818-E1497897B573}" type="presParOf" srcId="{741DC565-FE42-4ACF-8359-44981FFC1B12}" destId="{4F10BD40-3D78-480D-9C3C-DEEAA6B532C0}" srcOrd="1" destOrd="0" presId="urn:microsoft.com/office/officeart/2008/layout/VerticalCurvedList"/>
    <dgm:cxn modelId="{D707155D-6583-4CD8-A387-6E528686BCD2}" type="presParOf" srcId="{741DC565-FE42-4ACF-8359-44981FFC1B12}" destId="{35D0FE1D-F306-4BA6-BA98-7A522EF93A6B}" srcOrd="2" destOrd="0" presId="urn:microsoft.com/office/officeart/2008/layout/VerticalCurvedList"/>
    <dgm:cxn modelId="{9119BA75-107F-4EA6-AD78-2998A0F8C3B1}" type="presParOf" srcId="{35D0FE1D-F306-4BA6-BA98-7A522EF93A6B}" destId="{9538A860-37A9-47C9-89B1-15B5ED1C3C45}" srcOrd="0" destOrd="0" presId="urn:microsoft.com/office/officeart/2008/layout/VerticalCurvedList"/>
    <dgm:cxn modelId="{4A4AF40D-C02F-4C38-8F6D-3EC94E506A52}" type="presParOf" srcId="{741DC565-FE42-4ACF-8359-44981FFC1B12}" destId="{10C2ADB5-FB0D-4752-B06B-69F09CC2A46D}" srcOrd="3" destOrd="0" presId="urn:microsoft.com/office/officeart/2008/layout/VerticalCurvedList"/>
    <dgm:cxn modelId="{F3C48D4A-0BB4-49AF-9035-98223A14E1FF}" type="presParOf" srcId="{741DC565-FE42-4ACF-8359-44981FFC1B12}" destId="{C0CAC0D3-EF99-4C9D-8A19-17647A156FC1}" srcOrd="4" destOrd="0" presId="urn:microsoft.com/office/officeart/2008/layout/VerticalCurvedList"/>
    <dgm:cxn modelId="{7E1CC3C0-BE55-46BC-9BAD-D4EF9945BE28}" type="presParOf" srcId="{C0CAC0D3-EF99-4C9D-8A19-17647A156FC1}" destId="{4878E8A0-0F62-483E-9C85-41A7D184C6F2}" srcOrd="0" destOrd="0" presId="urn:microsoft.com/office/officeart/2008/layout/VerticalCurvedList"/>
    <dgm:cxn modelId="{3822113B-4D82-494F-B4D6-E6CA85B99C74}" type="presParOf" srcId="{741DC565-FE42-4ACF-8359-44981FFC1B12}" destId="{A63D8216-A541-4DFA-963D-37F99664E5CA}" srcOrd="5" destOrd="0" presId="urn:microsoft.com/office/officeart/2008/layout/VerticalCurvedList"/>
    <dgm:cxn modelId="{9BAAA786-71F7-40CA-9BDC-C936C2988C80}" type="presParOf" srcId="{741DC565-FE42-4ACF-8359-44981FFC1B12}" destId="{0DAD6A51-E37D-47F7-9190-791ADE01403A}" srcOrd="6" destOrd="0" presId="urn:microsoft.com/office/officeart/2008/layout/VerticalCurvedList"/>
    <dgm:cxn modelId="{ABC699EC-97C6-4D12-90D6-E8D2FBE8E0C7}" type="presParOf" srcId="{0DAD6A51-E37D-47F7-9190-791ADE01403A}" destId="{0B3E8BE0-A7F0-4C2D-9FEB-4C59B0782F15}" srcOrd="0" destOrd="0" presId="urn:microsoft.com/office/officeart/2008/layout/VerticalCurvedList"/>
    <dgm:cxn modelId="{0F23F64A-620E-4AB6-8B9F-85E6B8BF5BC3}" type="presParOf" srcId="{741DC565-FE42-4ACF-8359-44981FFC1B12}" destId="{A54232E8-93F4-41E9-B369-7E60EDA212EF}" srcOrd="7" destOrd="0" presId="urn:microsoft.com/office/officeart/2008/layout/VerticalCurvedList"/>
    <dgm:cxn modelId="{DA93C471-DFFC-479B-A24C-84EE06AA696A}" type="presParOf" srcId="{741DC565-FE42-4ACF-8359-44981FFC1B12}" destId="{C90BCC4F-E77C-43D7-A1D5-304753118488}" srcOrd="8" destOrd="0" presId="urn:microsoft.com/office/officeart/2008/layout/VerticalCurvedList"/>
    <dgm:cxn modelId="{57CED210-E5FD-4453-9F60-FAE0379EDF55}" type="presParOf" srcId="{C90BCC4F-E77C-43D7-A1D5-304753118488}" destId="{87562175-0849-4DF8-B27D-586CB208566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High-Level Features</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Setup Decisions</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Basic Administration</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008D803-46B8-4E8D-A0B3-36DDA4C039AE}">
      <dgm:prSet/>
      <dgm:spPr/>
      <dgm:t>
        <a:bodyPr/>
        <a:lstStyle/>
        <a:p>
          <a:r>
            <a:rPr lang="en-CA" dirty="0"/>
            <a:t>Fundamental Maintenance</a:t>
          </a:r>
        </a:p>
      </dgm:t>
    </dgm:pt>
    <dgm:pt modelId="{D089FAF0-E39A-4D5E-BC22-C7FB0A80AD6E}" type="parTrans" cxnId="{9FB8271C-2483-4F36-82CA-06BC621EAA96}">
      <dgm:prSet/>
      <dgm:spPr/>
      <dgm:t>
        <a:bodyPr/>
        <a:lstStyle/>
        <a:p>
          <a:endParaRPr lang="en-US"/>
        </a:p>
      </dgm:t>
    </dgm:pt>
    <dgm:pt modelId="{89B01412-7B38-485C-8C6A-4E052169433B}" type="sibTrans" cxnId="{9FB8271C-2483-4F36-82CA-06BC621EAA96}">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t>
        <a:bodyPr/>
        <a:lstStyle/>
        <a:p>
          <a:endParaRPr lang="en-US"/>
        </a:p>
      </dgm:t>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88D824E9-A898-43ED-B11F-80B062EE3FE1}" type="pres">
      <dgm:prSet presAssocID="{7008D803-46B8-4E8D-A0B3-36DDA4C039AE}" presName="text_4" presStyleLbl="node1" presStyleIdx="3" presStyleCnt="4">
        <dgm:presLayoutVars>
          <dgm:bulletEnabled val="1"/>
        </dgm:presLayoutVars>
      </dgm:prSet>
      <dgm:spPr/>
      <dgm:t>
        <a:bodyPr/>
        <a:lstStyle/>
        <a:p>
          <a:endParaRPr lang="en-US"/>
        </a:p>
      </dgm:t>
    </dgm:pt>
    <dgm:pt modelId="{49E7ED07-A360-474A-A59D-FF45990AAC77}" type="pres">
      <dgm:prSet presAssocID="{7008D803-46B8-4E8D-A0B3-36DDA4C039AE}" presName="accent_4" presStyleCnt="0"/>
      <dgm:spPr/>
    </dgm:pt>
    <dgm:pt modelId="{87562175-0849-4DF8-B27D-586CB208566E}" type="pres">
      <dgm:prSet presAssocID="{7008D803-46B8-4E8D-A0B3-36DDA4C039AE}" presName="accentRepeatNode" presStyleLbl="solidFgAcc1" presStyleIdx="3" presStyleCnt="4"/>
      <dgm:spPr/>
    </dgm:pt>
  </dgm:ptLst>
  <dgm:cxnLst>
    <dgm:cxn modelId="{933FC1C8-14D2-45E6-9D75-DFEE73C4AF3D}" srcId="{D043F5CB-BC5D-4A11-AB32-2960081BEC2E}" destId="{5E715238-0243-4B0E-84F0-3572BED2843B}" srcOrd="1" destOrd="0" parTransId="{37C7220A-1F26-46EF-B19E-0F6F41572631}" sibTransId="{18820F0F-724D-4DC1-9209-8C14E64BDBE5}"/>
    <dgm:cxn modelId="{608EA46C-CBF5-42FA-95C7-940E14AFFE1A}" type="presOf" srcId="{310E8F2C-89DE-4BA5-97DA-F646BC52F749}" destId="{A63D8216-A541-4DFA-963D-37F99664E5CA}" srcOrd="0" destOrd="0" presId="urn:microsoft.com/office/officeart/2008/layout/VerticalCurvedList"/>
    <dgm:cxn modelId="{83E1D978-65D9-4188-947F-1B4BCA527298}" type="presOf" srcId="{A5A548B3-6AC7-4528-ADEB-4C80B2EB9FE1}" destId="{4F10BD40-3D78-480D-9C3C-DEEAA6B532C0}" srcOrd="0" destOrd="0" presId="urn:microsoft.com/office/officeart/2008/layout/VerticalCurvedList"/>
    <dgm:cxn modelId="{6DB7C39B-85AF-494E-8090-8743EA6A3A6E}" type="presOf" srcId="{7008D803-46B8-4E8D-A0B3-36DDA4C039AE}" destId="{88D824E9-A898-43ED-B11F-80B062EE3FE1}"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9FB8271C-2483-4F36-82CA-06BC621EAA96}" srcId="{D043F5CB-BC5D-4A11-AB32-2960081BEC2E}" destId="{7008D803-46B8-4E8D-A0B3-36DDA4C039AE}" srcOrd="3" destOrd="0" parTransId="{D089FAF0-E39A-4D5E-BC22-C7FB0A80AD6E}" sibTransId="{89B01412-7B38-485C-8C6A-4E052169433B}"/>
    <dgm:cxn modelId="{57E4DC1E-02A5-4417-A1A7-785863F37CCF}" type="presOf" srcId="{D043F5CB-BC5D-4A11-AB32-2960081BEC2E}" destId="{3FB16CE5-CAA2-4957-8C7B-4DB8F06B5FE6}"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DDE5B145-A9AC-4B21-832E-EABB5596A9BE}" type="presOf" srcId="{5E715238-0243-4B0E-84F0-3572BED2843B}" destId="{10C2ADB5-FB0D-4752-B06B-69F09CC2A46D}" srcOrd="0" destOrd="0" presId="urn:microsoft.com/office/officeart/2008/layout/VerticalCurvedList"/>
    <dgm:cxn modelId="{1F1688D1-535E-42B6-95D9-64D5F4125846}" type="presOf" srcId="{5B1B9221-1044-403A-81A4-A41C0E0449B9}" destId="{D593A696-9230-4ACA-9D52-83E05F9F38F7}" srcOrd="0" destOrd="0" presId="urn:microsoft.com/office/officeart/2008/layout/VerticalCurvedList"/>
    <dgm:cxn modelId="{C782D68C-0843-4B1F-8567-CC24DB1622ED}" type="presParOf" srcId="{3FB16CE5-CAA2-4957-8C7B-4DB8F06B5FE6}" destId="{741DC565-FE42-4ACF-8359-44981FFC1B12}" srcOrd="0" destOrd="0" presId="urn:microsoft.com/office/officeart/2008/layout/VerticalCurvedList"/>
    <dgm:cxn modelId="{D3F09D4C-D1CE-4D39-96ED-28AEECAD9781}" type="presParOf" srcId="{741DC565-FE42-4ACF-8359-44981FFC1B12}" destId="{006628EE-2672-4E73-AF80-C2FA6DA0F245}" srcOrd="0" destOrd="0" presId="urn:microsoft.com/office/officeart/2008/layout/VerticalCurvedList"/>
    <dgm:cxn modelId="{F024DA7E-C630-488D-AAA7-08668C17E7E0}" type="presParOf" srcId="{006628EE-2672-4E73-AF80-C2FA6DA0F245}" destId="{83CBCA6B-4523-45AB-8C5C-5DCAC4D94B22}" srcOrd="0" destOrd="0" presId="urn:microsoft.com/office/officeart/2008/layout/VerticalCurvedList"/>
    <dgm:cxn modelId="{73E3A551-DA11-459B-B090-9349D906B228}" type="presParOf" srcId="{006628EE-2672-4E73-AF80-C2FA6DA0F245}" destId="{D593A696-9230-4ACA-9D52-83E05F9F38F7}" srcOrd="1" destOrd="0" presId="urn:microsoft.com/office/officeart/2008/layout/VerticalCurvedList"/>
    <dgm:cxn modelId="{88B8DD4B-AFC3-427F-A055-3C54D1B70D55}" type="presParOf" srcId="{006628EE-2672-4E73-AF80-C2FA6DA0F245}" destId="{2CD41FF4-48CE-42E3-8206-C4D806851A54}" srcOrd="2" destOrd="0" presId="urn:microsoft.com/office/officeart/2008/layout/VerticalCurvedList"/>
    <dgm:cxn modelId="{DC9A354E-9A2B-4ADA-AC9C-EAB0BDD67F94}" type="presParOf" srcId="{006628EE-2672-4E73-AF80-C2FA6DA0F245}" destId="{BC70810A-B28C-4236-8A87-6A2163164CC9}" srcOrd="3" destOrd="0" presId="urn:microsoft.com/office/officeart/2008/layout/VerticalCurvedList"/>
    <dgm:cxn modelId="{502AEA67-6250-4A80-A005-CCF420473BEE}" type="presParOf" srcId="{741DC565-FE42-4ACF-8359-44981FFC1B12}" destId="{4F10BD40-3D78-480D-9C3C-DEEAA6B532C0}" srcOrd="1" destOrd="0" presId="urn:microsoft.com/office/officeart/2008/layout/VerticalCurvedList"/>
    <dgm:cxn modelId="{784ECB34-A4DB-43C1-A870-5A94DB4CF222}" type="presParOf" srcId="{741DC565-FE42-4ACF-8359-44981FFC1B12}" destId="{35D0FE1D-F306-4BA6-BA98-7A522EF93A6B}" srcOrd="2" destOrd="0" presId="urn:microsoft.com/office/officeart/2008/layout/VerticalCurvedList"/>
    <dgm:cxn modelId="{C03B67C3-814E-41D2-B863-EF03A83F5B4F}" type="presParOf" srcId="{35D0FE1D-F306-4BA6-BA98-7A522EF93A6B}" destId="{9538A860-37A9-47C9-89B1-15B5ED1C3C45}" srcOrd="0" destOrd="0" presId="urn:microsoft.com/office/officeart/2008/layout/VerticalCurvedList"/>
    <dgm:cxn modelId="{7BC8A676-260F-4DE7-AE4A-BC1FB388B116}" type="presParOf" srcId="{741DC565-FE42-4ACF-8359-44981FFC1B12}" destId="{10C2ADB5-FB0D-4752-B06B-69F09CC2A46D}" srcOrd="3" destOrd="0" presId="urn:microsoft.com/office/officeart/2008/layout/VerticalCurvedList"/>
    <dgm:cxn modelId="{78E6AD94-53D4-407D-BF88-897C1EE2CA1A}" type="presParOf" srcId="{741DC565-FE42-4ACF-8359-44981FFC1B12}" destId="{C0CAC0D3-EF99-4C9D-8A19-17647A156FC1}" srcOrd="4" destOrd="0" presId="urn:microsoft.com/office/officeart/2008/layout/VerticalCurvedList"/>
    <dgm:cxn modelId="{B0FD2A04-7A63-40EE-B604-9F94B28D4248}" type="presParOf" srcId="{C0CAC0D3-EF99-4C9D-8A19-17647A156FC1}" destId="{4878E8A0-0F62-483E-9C85-41A7D184C6F2}" srcOrd="0" destOrd="0" presId="urn:microsoft.com/office/officeart/2008/layout/VerticalCurvedList"/>
    <dgm:cxn modelId="{1D7D197B-1BF9-4572-A550-3DC82CD5E589}" type="presParOf" srcId="{741DC565-FE42-4ACF-8359-44981FFC1B12}" destId="{A63D8216-A541-4DFA-963D-37F99664E5CA}" srcOrd="5" destOrd="0" presId="urn:microsoft.com/office/officeart/2008/layout/VerticalCurvedList"/>
    <dgm:cxn modelId="{79617487-BD97-453C-92BE-749E2E08046D}" type="presParOf" srcId="{741DC565-FE42-4ACF-8359-44981FFC1B12}" destId="{0DAD6A51-E37D-47F7-9190-791ADE01403A}" srcOrd="6" destOrd="0" presId="urn:microsoft.com/office/officeart/2008/layout/VerticalCurvedList"/>
    <dgm:cxn modelId="{D8042410-27CF-4A26-9404-9A08B956FF99}" type="presParOf" srcId="{0DAD6A51-E37D-47F7-9190-791ADE01403A}" destId="{0B3E8BE0-A7F0-4C2D-9FEB-4C59B0782F15}" srcOrd="0" destOrd="0" presId="urn:microsoft.com/office/officeart/2008/layout/VerticalCurvedList"/>
    <dgm:cxn modelId="{9907584E-5CDA-4D71-A498-7C8E6469D411}" type="presParOf" srcId="{741DC565-FE42-4ACF-8359-44981FFC1B12}" destId="{88D824E9-A898-43ED-B11F-80B062EE3FE1}" srcOrd="7" destOrd="0" presId="urn:microsoft.com/office/officeart/2008/layout/VerticalCurvedList"/>
    <dgm:cxn modelId="{EDC2BF5F-C668-496D-9A6C-68BFB4D2EAAC}" type="presParOf" srcId="{741DC565-FE42-4ACF-8359-44981FFC1B12}" destId="{49E7ED07-A360-474A-A59D-FF45990AAC77}" srcOrd="8" destOrd="0" presId="urn:microsoft.com/office/officeart/2008/layout/VerticalCurvedList"/>
    <dgm:cxn modelId="{D7A73948-84DD-4687-AFD1-F01F3607ACF2}" type="presParOf" srcId="{49E7ED07-A360-474A-A59D-FF45990AAC77}" destId="{87562175-0849-4DF8-B27D-586CB208566E}"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smtClean="0"/>
            <a:t>High-Level Features</a:t>
          </a:r>
          <a:endParaRPr lang="en-CA" dirty="0"/>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DC13C789-A4FD-4A2C-9617-BE12EBDE3BC9}">
      <dgm:prSet phldrT="[Text]"/>
      <dgm:spPr/>
      <dgm:t>
        <a:bodyPr/>
        <a:lstStyle/>
        <a:p>
          <a:r>
            <a:rPr lang="en-CA" dirty="0"/>
            <a:t>Setup Decisions</a:t>
          </a:r>
        </a:p>
      </dgm:t>
    </dgm:pt>
    <dgm:pt modelId="{318914FB-CE6A-4026-8DC0-317E28C1EC3D}" type="parTrans" cxnId="{A90866F7-B5B1-4FA6-8FF5-F2EDCAD4DE83}">
      <dgm:prSet/>
      <dgm:spPr/>
      <dgm:t>
        <a:bodyPr/>
        <a:lstStyle/>
        <a:p>
          <a:endParaRPr lang="en-US"/>
        </a:p>
      </dgm:t>
    </dgm:pt>
    <dgm:pt modelId="{3D467F9A-4FDF-4E22-BF42-D45A1E8C30A1}" type="sibTrans" cxnId="{A90866F7-B5B1-4FA6-8FF5-F2EDCAD4DE83}">
      <dgm:prSet/>
      <dgm:spPr/>
      <dgm:t>
        <a:bodyPr/>
        <a:lstStyle/>
        <a:p>
          <a:endParaRPr lang="en-US"/>
        </a:p>
      </dgm:t>
    </dgm:pt>
    <dgm:pt modelId="{F4123DBB-741C-457E-8EAF-C26E16020151}">
      <dgm:prSet phldrT="[Text]"/>
      <dgm:spPr/>
      <dgm:t>
        <a:bodyPr/>
        <a:lstStyle/>
        <a:p>
          <a:r>
            <a:rPr lang="en-CA" dirty="0"/>
            <a:t>Basic Administration</a:t>
          </a:r>
        </a:p>
      </dgm:t>
    </dgm:pt>
    <dgm:pt modelId="{0CD04024-64C4-4435-87F2-C43D0D039955}" type="parTrans" cxnId="{E6C8E07E-52A4-409B-9CF5-F738682F708C}">
      <dgm:prSet/>
      <dgm:spPr/>
      <dgm:t>
        <a:bodyPr/>
        <a:lstStyle/>
        <a:p>
          <a:endParaRPr lang="en-US"/>
        </a:p>
      </dgm:t>
    </dgm:pt>
    <dgm:pt modelId="{8EE271AF-35D6-4327-8C0B-543813FCEA4D}" type="sibTrans" cxnId="{E6C8E07E-52A4-409B-9CF5-F738682F708C}">
      <dgm:prSet/>
      <dgm:spPr/>
      <dgm:t>
        <a:bodyPr/>
        <a:lstStyle/>
        <a:p>
          <a:endParaRPr lang="en-US"/>
        </a:p>
      </dgm:t>
    </dgm:pt>
    <dgm:pt modelId="{0BADE8DA-7FEF-4381-B1CF-3E4012D3A87B}">
      <dgm:prSet/>
      <dgm:spPr/>
      <dgm:t>
        <a:bodyPr/>
        <a:lstStyle/>
        <a:p>
          <a:r>
            <a:rPr lang="en-CA" dirty="0"/>
            <a:t>Fundamental Maintenance</a:t>
          </a:r>
        </a:p>
      </dgm:t>
    </dgm:pt>
    <dgm:pt modelId="{43DF25E9-8B93-45A4-A81F-9E3355A72334}" type="parTrans" cxnId="{E4FAB3F3-284E-4F4D-90D1-07CB3FE17ED2}">
      <dgm:prSet/>
      <dgm:spPr/>
      <dgm:t>
        <a:bodyPr/>
        <a:lstStyle/>
        <a:p>
          <a:endParaRPr lang="en-US"/>
        </a:p>
      </dgm:t>
    </dgm:pt>
    <dgm:pt modelId="{A975B19C-FB04-4788-93E9-A27018200F86}" type="sibTrans" cxnId="{E4FAB3F3-284E-4F4D-90D1-07CB3FE17ED2}">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79DF3A1B-D7F7-4664-822E-66BC4438633A}" type="pres">
      <dgm:prSet presAssocID="{DC13C789-A4FD-4A2C-9617-BE12EBDE3BC9}" presName="text_2" presStyleLbl="node1" presStyleIdx="1" presStyleCnt="4">
        <dgm:presLayoutVars>
          <dgm:bulletEnabled val="1"/>
        </dgm:presLayoutVars>
      </dgm:prSet>
      <dgm:spPr/>
      <dgm:t>
        <a:bodyPr/>
        <a:lstStyle/>
        <a:p>
          <a:endParaRPr lang="en-US"/>
        </a:p>
      </dgm:t>
    </dgm:pt>
    <dgm:pt modelId="{AE780C0E-ADD7-4A8C-8515-B0AFD8BA5812}" type="pres">
      <dgm:prSet presAssocID="{DC13C789-A4FD-4A2C-9617-BE12EBDE3BC9}" presName="accent_2" presStyleCnt="0"/>
      <dgm:spPr/>
    </dgm:pt>
    <dgm:pt modelId="{AC236CCF-1B64-4981-BE3A-E86A3E87769F}" type="pres">
      <dgm:prSet presAssocID="{DC13C789-A4FD-4A2C-9617-BE12EBDE3BC9}" presName="accentRepeatNode" presStyleLbl="solidFgAcc1" presStyleIdx="1" presStyleCnt="4"/>
      <dgm:spPr/>
    </dgm:pt>
    <dgm:pt modelId="{29D034B8-7DCA-435D-A344-7E8517AFABB2}" type="pres">
      <dgm:prSet presAssocID="{F4123DBB-741C-457E-8EAF-C26E16020151}" presName="text_3" presStyleLbl="node1" presStyleIdx="2" presStyleCnt="4">
        <dgm:presLayoutVars>
          <dgm:bulletEnabled val="1"/>
        </dgm:presLayoutVars>
      </dgm:prSet>
      <dgm:spPr/>
      <dgm:t>
        <a:bodyPr/>
        <a:lstStyle/>
        <a:p>
          <a:endParaRPr lang="en-US"/>
        </a:p>
      </dgm:t>
    </dgm:pt>
    <dgm:pt modelId="{2AFA1768-730A-461E-86EC-04EA876DCB29}" type="pres">
      <dgm:prSet presAssocID="{F4123DBB-741C-457E-8EAF-C26E16020151}" presName="accent_3" presStyleCnt="0"/>
      <dgm:spPr/>
    </dgm:pt>
    <dgm:pt modelId="{07C7DCF3-080C-4694-896E-4AA876E19CC0}" type="pres">
      <dgm:prSet presAssocID="{F4123DBB-741C-457E-8EAF-C26E16020151}" presName="accentRepeatNode" presStyleLbl="solidFgAcc1" presStyleIdx="2" presStyleCnt="4"/>
      <dgm:spPr/>
    </dgm:pt>
    <dgm:pt modelId="{8088D785-5EEC-482E-B8A2-87BA02C5D36B}" type="pres">
      <dgm:prSet presAssocID="{0BADE8DA-7FEF-4381-B1CF-3E4012D3A87B}" presName="text_4" presStyleLbl="node1" presStyleIdx="3" presStyleCnt="4">
        <dgm:presLayoutVars>
          <dgm:bulletEnabled val="1"/>
        </dgm:presLayoutVars>
      </dgm:prSet>
      <dgm:spPr/>
      <dgm:t>
        <a:bodyPr/>
        <a:lstStyle/>
        <a:p>
          <a:endParaRPr lang="en-US"/>
        </a:p>
      </dgm:t>
    </dgm:pt>
    <dgm:pt modelId="{CB781C8C-C690-4FDE-8DC3-70D6435FCD85}" type="pres">
      <dgm:prSet presAssocID="{0BADE8DA-7FEF-4381-B1CF-3E4012D3A87B}" presName="accent_4" presStyleCnt="0"/>
      <dgm:spPr/>
    </dgm:pt>
    <dgm:pt modelId="{0ACDDFC0-459E-4F32-9F10-F2991AA5AD89}" type="pres">
      <dgm:prSet presAssocID="{0BADE8DA-7FEF-4381-B1CF-3E4012D3A87B}" presName="accentRepeatNode" presStyleLbl="solidFgAcc1" presStyleIdx="3" presStyleCnt="4"/>
      <dgm:spPr/>
    </dgm:pt>
  </dgm:ptLst>
  <dgm:cxnLst>
    <dgm:cxn modelId="{E29087AA-4318-4465-931B-7EDF19ABC92B}" type="presOf" srcId="{A5A548B3-6AC7-4528-ADEB-4C80B2EB9FE1}" destId="{4F10BD40-3D78-480D-9C3C-DEEAA6B532C0}" srcOrd="0" destOrd="0" presId="urn:microsoft.com/office/officeart/2008/layout/VerticalCurvedList"/>
    <dgm:cxn modelId="{E4FAB3F3-284E-4F4D-90D1-07CB3FE17ED2}" srcId="{D043F5CB-BC5D-4A11-AB32-2960081BEC2E}" destId="{0BADE8DA-7FEF-4381-B1CF-3E4012D3A87B}" srcOrd="3" destOrd="0" parTransId="{43DF25E9-8B93-45A4-A81F-9E3355A72334}" sibTransId="{A975B19C-FB04-4788-93E9-A27018200F86}"/>
    <dgm:cxn modelId="{92F185DD-AB6A-4F2D-A992-0892129C46E1}" type="presOf" srcId="{D043F5CB-BC5D-4A11-AB32-2960081BEC2E}" destId="{3FB16CE5-CAA2-4957-8C7B-4DB8F06B5FE6}" srcOrd="0" destOrd="0" presId="urn:microsoft.com/office/officeart/2008/layout/VerticalCurvedList"/>
    <dgm:cxn modelId="{A90866F7-B5B1-4FA6-8FF5-F2EDCAD4DE83}" srcId="{D043F5CB-BC5D-4A11-AB32-2960081BEC2E}" destId="{DC13C789-A4FD-4A2C-9617-BE12EBDE3BC9}" srcOrd="1" destOrd="0" parTransId="{318914FB-CE6A-4026-8DC0-317E28C1EC3D}" sibTransId="{3D467F9A-4FDF-4E22-BF42-D45A1E8C30A1}"/>
    <dgm:cxn modelId="{E6C8E07E-52A4-409B-9CF5-F738682F708C}" srcId="{D043F5CB-BC5D-4A11-AB32-2960081BEC2E}" destId="{F4123DBB-741C-457E-8EAF-C26E16020151}" srcOrd="2" destOrd="0" parTransId="{0CD04024-64C4-4435-87F2-C43D0D039955}" sibTransId="{8EE271AF-35D6-4327-8C0B-543813FCEA4D}"/>
    <dgm:cxn modelId="{9E4E1674-E28B-4B5A-945A-264F7E3B529E}" type="presOf" srcId="{0BADE8DA-7FEF-4381-B1CF-3E4012D3A87B}" destId="{8088D785-5EEC-482E-B8A2-87BA02C5D36B}"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49CA12E9-B106-4C3B-97F7-3E1D18C20BFE}" type="presOf" srcId="{F4123DBB-741C-457E-8EAF-C26E16020151}" destId="{29D034B8-7DCA-435D-A344-7E8517AFABB2}" srcOrd="0" destOrd="0" presId="urn:microsoft.com/office/officeart/2008/layout/VerticalCurvedList"/>
    <dgm:cxn modelId="{863C6E8D-37E1-4053-B485-1A41A4B0FEC1}" type="presOf" srcId="{5B1B9221-1044-403A-81A4-A41C0E0449B9}" destId="{D593A696-9230-4ACA-9D52-83E05F9F38F7}" srcOrd="0" destOrd="0" presId="urn:microsoft.com/office/officeart/2008/layout/VerticalCurvedList"/>
    <dgm:cxn modelId="{65DD59E2-B3B5-41F3-A690-46A05C6DB88E}" type="presOf" srcId="{DC13C789-A4FD-4A2C-9617-BE12EBDE3BC9}" destId="{79DF3A1B-D7F7-4664-822E-66BC4438633A}" srcOrd="0" destOrd="0" presId="urn:microsoft.com/office/officeart/2008/layout/VerticalCurvedList"/>
    <dgm:cxn modelId="{63F82BF8-9349-4C7E-8BDB-937EAEF07DF0}" type="presParOf" srcId="{3FB16CE5-CAA2-4957-8C7B-4DB8F06B5FE6}" destId="{741DC565-FE42-4ACF-8359-44981FFC1B12}" srcOrd="0" destOrd="0" presId="urn:microsoft.com/office/officeart/2008/layout/VerticalCurvedList"/>
    <dgm:cxn modelId="{FB0E4741-CFDD-4801-8049-51D9207685AB}" type="presParOf" srcId="{741DC565-FE42-4ACF-8359-44981FFC1B12}" destId="{006628EE-2672-4E73-AF80-C2FA6DA0F245}" srcOrd="0" destOrd="0" presId="urn:microsoft.com/office/officeart/2008/layout/VerticalCurvedList"/>
    <dgm:cxn modelId="{A8A2FAAB-6F13-4D26-9A4D-8A2992F6C386}" type="presParOf" srcId="{006628EE-2672-4E73-AF80-C2FA6DA0F245}" destId="{83CBCA6B-4523-45AB-8C5C-5DCAC4D94B22}" srcOrd="0" destOrd="0" presId="urn:microsoft.com/office/officeart/2008/layout/VerticalCurvedList"/>
    <dgm:cxn modelId="{2D7FE5A9-810E-4947-B411-BD5116E42C75}" type="presParOf" srcId="{006628EE-2672-4E73-AF80-C2FA6DA0F245}" destId="{D593A696-9230-4ACA-9D52-83E05F9F38F7}" srcOrd="1" destOrd="0" presId="urn:microsoft.com/office/officeart/2008/layout/VerticalCurvedList"/>
    <dgm:cxn modelId="{3C418D1E-A7D2-421B-8ACA-8280FA9F4D66}" type="presParOf" srcId="{006628EE-2672-4E73-AF80-C2FA6DA0F245}" destId="{2CD41FF4-48CE-42E3-8206-C4D806851A54}" srcOrd="2" destOrd="0" presId="urn:microsoft.com/office/officeart/2008/layout/VerticalCurvedList"/>
    <dgm:cxn modelId="{7FBCF795-F0FE-4E01-87A6-73D562603837}" type="presParOf" srcId="{006628EE-2672-4E73-AF80-C2FA6DA0F245}" destId="{BC70810A-B28C-4236-8A87-6A2163164CC9}" srcOrd="3" destOrd="0" presId="urn:microsoft.com/office/officeart/2008/layout/VerticalCurvedList"/>
    <dgm:cxn modelId="{D71B757D-0CCB-4216-A091-FBD918DDDBF0}" type="presParOf" srcId="{741DC565-FE42-4ACF-8359-44981FFC1B12}" destId="{4F10BD40-3D78-480D-9C3C-DEEAA6B532C0}" srcOrd="1" destOrd="0" presId="urn:microsoft.com/office/officeart/2008/layout/VerticalCurvedList"/>
    <dgm:cxn modelId="{E7A07420-554C-4F8B-B7B7-F45404ADCE0E}" type="presParOf" srcId="{741DC565-FE42-4ACF-8359-44981FFC1B12}" destId="{35D0FE1D-F306-4BA6-BA98-7A522EF93A6B}" srcOrd="2" destOrd="0" presId="urn:microsoft.com/office/officeart/2008/layout/VerticalCurvedList"/>
    <dgm:cxn modelId="{116BF195-3ABF-4A0A-A971-6B5A6CB96DCA}" type="presParOf" srcId="{35D0FE1D-F306-4BA6-BA98-7A522EF93A6B}" destId="{9538A860-37A9-47C9-89B1-15B5ED1C3C45}" srcOrd="0" destOrd="0" presId="urn:microsoft.com/office/officeart/2008/layout/VerticalCurvedList"/>
    <dgm:cxn modelId="{E486D1F8-DBF7-42B0-9B1B-20F7F61B1575}" type="presParOf" srcId="{741DC565-FE42-4ACF-8359-44981FFC1B12}" destId="{79DF3A1B-D7F7-4664-822E-66BC4438633A}" srcOrd="3" destOrd="0" presId="urn:microsoft.com/office/officeart/2008/layout/VerticalCurvedList"/>
    <dgm:cxn modelId="{779519D0-A525-40E4-B764-16F9BD023257}" type="presParOf" srcId="{741DC565-FE42-4ACF-8359-44981FFC1B12}" destId="{AE780C0E-ADD7-4A8C-8515-B0AFD8BA5812}" srcOrd="4" destOrd="0" presId="urn:microsoft.com/office/officeart/2008/layout/VerticalCurvedList"/>
    <dgm:cxn modelId="{3FDFAE3E-7F0D-47DB-84B2-682E192EAB80}" type="presParOf" srcId="{AE780C0E-ADD7-4A8C-8515-B0AFD8BA5812}" destId="{AC236CCF-1B64-4981-BE3A-E86A3E87769F}" srcOrd="0" destOrd="0" presId="urn:microsoft.com/office/officeart/2008/layout/VerticalCurvedList"/>
    <dgm:cxn modelId="{618E867F-7E25-401B-A06F-7926656E10D7}" type="presParOf" srcId="{741DC565-FE42-4ACF-8359-44981FFC1B12}" destId="{29D034B8-7DCA-435D-A344-7E8517AFABB2}" srcOrd="5" destOrd="0" presId="urn:microsoft.com/office/officeart/2008/layout/VerticalCurvedList"/>
    <dgm:cxn modelId="{43348CC7-C70D-4AE3-8ABA-4912274726F9}" type="presParOf" srcId="{741DC565-FE42-4ACF-8359-44981FFC1B12}" destId="{2AFA1768-730A-461E-86EC-04EA876DCB29}" srcOrd="6" destOrd="0" presId="urn:microsoft.com/office/officeart/2008/layout/VerticalCurvedList"/>
    <dgm:cxn modelId="{6EACF029-86B5-4A24-8C99-B38C02141855}" type="presParOf" srcId="{2AFA1768-730A-461E-86EC-04EA876DCB29}" destId="{07C7DCF3-080C-4694-896E-4AA876E19CC0}" srcOrd="0" destOrd="0" presId="urn:microsoft.com/office/officeart/2008/layout/VerticalCurvedList"/>
    <dgm:cxn modelId="{5DFDFCE6-5D40-42E4-A6CA-41C2F74C25F5}" type="presParOf" srcId="{741DC565-FE42-4ACF-8359-44981FFC1B12}" destId="{8088D785-5EEC-482E-B8A2-87BA02C5D36B}" srcOrd="7" destOrd="0" presId="urn:microsoft.com/office/officeart/2008/layout/VerticalCurvedList"/>
    <dgm:cxn modelId="{3574B7D6-3FBF-45F9-9FA0-5D1B7DE3A051}" type="presParOf" srcId="{741DC565-FE42-4ACF-8359-44981FFC1B12}" destId="{CB781C8C-C690-4FDE-8DC3-70D6435FCD85}" srcOrd="8" destOrd="0" presId="urn:microsoft.com/office/officeart/2008/layout/VerticalCurvedList"/>
    <dgm:cxn modelId="{E1804CF2-102A-4BEA-8BE8-50B65887BEB7}" type="presParOf" srcId="{CB781C8C-C690-4FDE-8DC3-70D6435FCD85}" destId="{0ACDDFC0-459E-4F32-9F10-F2991AA5AD89}"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smtClean="0"/>
            <a:t>High-Level Features</a:t>
          </a:r>
          <a:endParaRPr lang="en-CA" dirty="0"/>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2AEDF2D6-FB36-4DCD-BFD6-9B38D83AA9D9}">
      <dgm:prSet phldrT="[Text]"/>
      <dgm:spPr/>
      <dgm:t>
        <a:bodyPr/>
        <a:lstStyle/>
        <a:p>
          <a:r>
            <a:rPr lang="en-CA" dirty="0"/>
            <a:t>Setup Decisions</a:t>
          </a:r>
        </a:p>
      </dgm:t>
    </dgm:pt>
    <dgm:pt modelId="{75AED1C3-CF65-4AD1-BD4E-BE4BED3EA40F}" type="parTrans" cxnId="{1E86605F-558B-4CA9-99F6-B4B0C4B90693}">
      <dgm:prSet/>
      <dgm:spPr/>
      <dgm:t>
        <a:bodyPr/>
        <a:lstStyle/>
        <a:p>
          <a:endParaRPr lang="en-US"/>
        </a:p>
      </dgm:t>
    </dgm:pt>
    <dgm:pt modelId="{C26F9B2E-65E4-4BE2-B025-CE3457717CA9}" type="sibTrans" cxnId="{1E86605F-558B-4CA9-99F6-B4B0C4B90693}">
      <dgm:prSet/>
      <dgm:spPr/>
      <dgm:t>
        <a:bodyPr/>
        <a:lstStyle/>
        <a:p>
          <a:endParaRPr lang="en-US"/>
        </a:p>
      </dgm:t>
    </dgm:pt>
    <dgm:pt modelId="{0F09B99D-FDE6-4BEB-AB3B-A96577364C79}">
      <dgm:prSet phldrT="[Text]"/>
      <dgm:spPr/>
      <dgm:t>
        <a:bodyPr/>
        <a:lstStyle/>
        <a:p>
          <a:r>
            <a:rPr lang="en-CA" dirty="0"/>
            <a:t>Basic Administration</a:t>
          </a:r>
        </a:p>
      </dgm:t>
    </dgm:pt>
    <dgm:pt modelId="{2CF1AFC8-F51A-474B-B628-02F27CA3E514}" type="parTrans" cxnId="{2D86D5C8-3244-4ECF-A424-934B2ED97674}">
      <dgm:prSet/>
      <dgm:spPr/>
      <dgm:t>
        <a:bodyPr/>
        <a:lstStyle/>
        <a:p>
          <a:endParaRPr lang="en-US"/>
        </a:p>
      </dgm:t>
    </dgm:pt>
    <dgm:pt modelId="{6AB11804-4A46-4620-958A-7F6906C1E0AC}" type="sibTrans" cxnId="{2D86D5C8-3244-4ECF-A424-934B2ED97674}">
      <dgm:prSet/>
      <dgm:spPr/>
      <dgm:t>
        <a:bodyPr/>
        <a:lstStyle/>
        <a:p>
          <a:endParaRPr lang="en-US"/>
        </a:p>
      </dgm:t>
    </dgm:pt>
    <dgm:pt modelId="{18B11E65-EC41-405A-8D00-657F4E40D89A}">
      <dgm:prSet/>
      <dgm:spPr/>
      <dgm:t>
        <a:bodyPr/>
        <a:lstStyle/>
        <a:p>
          <a:r>
            <a:rPr lang="en-CA" dirty="0"/>
            <a:t>Fundamental Maintenance</a:t>
          </a:r>
        </a:p>
      </dgm:t>
    </dgm:pt>
    <dgm:pt modelId="{1EAB5AB9-C61E-45B0-8A96-F8C6014A02DB}" type="parTrans" cxnId="{B554E34F-18B6-4B66-8AB1-C98E8456ED38}">
      <dgm:prSet/>
      <dgm:spPr/>
      <dgm:t>
        <a:bodyPr/>
        <a:lstStyle/>
        <a:p>
          <a:endParaRPr lang="en-US"/>
        </a:p>
      </dgm:t>
    </dgm:pt>
    <dgm:pt modelId="{39C4CF12-29EC-448D-A2E6-6DEC41CFA625}" type="sibTrans" cxnId="{B554E34F-18B6-4B66-8AB1-C98E8456ED38}">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482E5227-798F-4F42-8C65-90A0C622BFF7}" type="pres">
      <dgm:prSet presAssocID="{2AEDF2D6-FB36-4DCD-BFD6-9B38D83AA9D9}" presName="text_2" presStyleLbl="node1" presStyleIdx="1" presStyleCnt="4">
        <dgm:presLayoutVars>
          <dgm:bulletEnabled val="1"/>
        </dgm:presLayoutVars>
      </dgm:prSet>
      <dgm:spPr/>
      <dgm:t>
        <a:bodyPr/>
        <a:lstStyle/>
        <a:p>
          <a:endParaRPr lang="en-US"/>
        </a:p>
      </dgm:t>
    </dgm:pt>
    <dgm:pt modelId="{9C498557-32BE-4133-9362-170C19978862}" type="pres">
      <dgm:prSet presAssocID="{2AEDF2D6-FB36-4DCD-BFD6-9B38D83AA9D9}" presName="accent_2" presStyleCnt="0"/>
      <dgm:spPr/>
    </dgm:pt>
    <dgm:pt modelId="{2E9DF0E9-8A3D-44C3-9645-E3F2E581FB49}" type="pres">
      <dgm:prSet presAssocID="{2AEDF2D6-FB36-4DCD-BFD6-9B38D83AA9D9}" presName="accentRepeatNode" presStyleLbl="solidFgAcc1" presStyleIdx="1" presStyleCnt="4"/>
      <dgm:spPr/>
    </dgm:pt>
    <dgm:pt modelId="{AF999DAB-88A9-4336-B3A0-95ACF35CDBC8}" type="pres">
      <dgm:prSet presAssocID="{0F09B99D-FDE6-4BEB-AB3B-A96577364C79}" presName="text_3" presStyleLbl="node1" presStyleIdx="2" presStyleCnt="4">
        <dgm:presLayoutVars>
          <dgm:bulletEnabled val="1"/>
        </dgm:presLayoutVars>
      </dgm:prSet>
      <dgm:spPr/>
      <dgm:t>
        <a:bodyPr/>
        <a:lstStyle/>
        <a:p>
          <a:endParaRPr lang="en-US"/>
        </a:p>
      </dgm:t>
    </dgm:pt>
    <dgm:pt modelId="{0ED9A6F3-E17E-4A83-8750-B9C12A38F155}" type="pres">
      <dgm:prSet presAssocID="{0F09B99D-FDE6-4BEB-AB3B-A96577364C79}" presName="accent_3" presStyleCnt="0"/>
      <dgm:spPr/>
    </dgm:pt>
    <dgm:pt modelId="{C260468B-BB98-4EF4-ADEF-20D15B94B27D}" type="pres">
      <dgm:prSet presAssocID="{0F09B99D-FDE6-4BEB-AB3B-A96577364C79}" presName="accentRepeatNode" presStyleLbl="solidFgAcc1" presStyleIdx="2" presStyleCnt="4"/>
      <dgm:spPr/>
    </dgm:pt>
    <dgm:pt modelId="{A2C56E89-723E-430B-A38B-1920216D3CE4}" type="pres">
      <dgm:prSet presAssocID="{18B11E65-EC41-405A-8D00-657F4E40D89A}" presName="text_4" presStyleLbl="node1" presStyleIdx="3" presStyleCnt="4">
        <dgm:presLayoutVars>
          <dgm:bulletEnabled val="1"/>
        </dgm:presLayoutVars>
      </dgm:prSet>
      <dgm:spPr/>
      <dgm:t>
        <a:bodyPr/>
        <a:lstStyle/>
        <a:p>
          <a:endParaRPr lang="en-US"/>
        </a:p>
      </dgm:t>
    </dgm:pt>
    <dgm:pt modelId="{D02F7C6F-9CAF-45BF-BBB3-3E91F98AB6C5}" type="pres">
      <dgm:prSet presAssocID="{18B11E65-EC41-405A-8D00-657F4E40D89A}" presName="accent_4" presStyleCnt="0"/>
      <dgm:spPr/>
    </dgm:pt>
    <dgm:pt modelId="{C68B1165-02F6-4C3C-AEAA-C5DCB689BA8D}" type="pres">
      <dgm:prSet presAssocID="{18B11E65-EC41-405A-8D00-657F4E40D89A}" presName="accentRepeatNode" presStyleLbl="solidFgAcc1" presStyleIdx="3" presStyleCnt="4"/>
      <dgm:spPr/>
    </dgm:pt>
  </dgm:ptLst>
  <dgm:cxnLst>
    <dgm:cxn modelId="{B0C57C35-6635-48D2-BF60-3D1017FA4460}" type="presOf" srcId="{18B11E65-EC41-405A-8D00-657F4E40D89A}" destId="{A2C56E89-723E-430B-A38B-1920216D3CE4}" srcOrd="0" destOrd="0" presId="urn:microsoft.com/office/officeart/2008/layout/VerticalCurvedList"/>
    <dgm:cxn modelId="{CB10D7EA-C157-496A-BB4F-40E5DBACB649}" type="presOf" srcId="{D043F5CB-BC5D-4A11-AB32-2960081BEC2E}" destId="{3FB16CE5-CAA2-4957-8C7B-4DB8F06B5FE6}" srcOrd="0" destOrd="0" presId="urn:microsoft.com/office/officeart/2008/layout/VerticalCurvedList"/>
    <dgm:cxn modelId="{4652B45A-3FA2-4BE3-8A9C-FDA9158AF80A}" type="presOf" srcId="{5B1B9221-1044-403A-81A4-A41C0E0449B9}" destId="{D593A696-9230-4ACA-9D52-83E05F9F38F7}" srcOrd="0" destOrd="0" presId="urn:microsoft.com/office/officeart/2008/layout/VerticalCurvedList"/>
    <dgm:cxn modelId="{B554E34F-18B6-4B66-8AB1-C98E8456ED38}" srcId="{D043F5CB-BC5D-4A11-AB32-2960081BEC2E}" destId="{18B11E65-EC41-405A-8D00-657F4E40D89A}" srcOrd="3" destOrd="0" parTransId="{1EAB5AB9-C61E-45B0-8A96-F8C6014A02DB}" sibTransId="{39C4CF12-29EC-448D-A2E6-6DEC41CFA625}"/>
    <dgm:cxn modelId="{7EC69594-AC16-404C-A2C4-AE398CB08F15}" type="presOf" srcId="{2AEDF2D6-FB36-4DCD-BFD6-9B38D83AA9D9}" destId="{482E5227-798F-4F42-8C65-90A0C622BFF7}"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63238BE2-D088-4C5F-A851-8CAF592EAE85}" type="presOf" srcId="{0F09B99D-FDE6-4BEB-AB3B-A96577364C79}" destId="{AF999DAB-88A9-4336-B3A0-95ACF35CDBC8}" srcOrd="0" destOrd="0" presId="urn:microsoft.com/office/officeart/2008/layout/VerticalCurvedList"/>
    <dgm:cxn modelId="{1E86605F-558B-4CA9-99F6-B4B0C4B90693}" srcId="{D043F5CB-BC5D-4A11-AB32-2960081BEC2E}" destId="{2AEDF2D6-FB36-4DCD-BFD6-9B38D83AA9D9}" srcOrd="1" destOrd="0" parTransId="{75AED1C3-CF65-4AD1-BD4E-BE4BED3EA40F}" sibTransId="{C26F9B2E-65E4-4BE2-B025-CE3457717CA9}"/>
    <dgm:cxn modelId="{F4CE3438-145F-4387-8F22-1879AEA75004}" type="presOf" srcId="{A5A548B3-6AC7-4528-ADEB-4C80B2EB9FE1}" destId="{4F10BD40-3D78-480D-9C3C-DEEAA6B532C0}" srcOrd="0" destOrd="0" presId="urn:microsoft.com/office/officeart/2008/layout/VerticalCurvedList"/>
    <dgm:cxn modelId="{2D86D5C8-3244-4ECF-A424-934B2ED97674}" srcId="{D043F5CB-BC5D-4A11-AB32-2960081BEC2E}" destId="{0F09B99D-FDE6-4BEB-AB3B-A96577364C79}" srcOrd="2" destOrd="0" parTransId="{2CF1AFC8-F51A-474B-B628-02F27CA3E514}" sibTransId="{6AB11804-4A46-4620-958A-7F6906C1E0AC}"/>
    <dgm:cxn modelId="{E90E48D3-8238-4E84-8EC4-76185356DB9C}" type="presParOf" srcId="{3FB16CE5-CAA2-4957-8C7B-4DB8F06B5FE6}" destId="{741DC565-FE42-4ACF-8359-44981FFC1B12}" srcOrd="0" destOrd="0" presId="urn:microsoft.com/office/officeart/2008/layout/VerticalCurvedList"/>
    <dgm:cxn modelId="{19B39897-2AA8-4ADD-900A-85677031049F}" type="presParOf" srcId="{741DC565-FE42-4ACF-8359-44981FFC1B12}" destId="{006628EE-2672-4E73-AF80-C2FA6DA0F245}" srcOrd="0" destOrd="0" presId="urn:microsoft.com/office/officeart/2008/layout/VerticalCurvedList"/>
    <dgm:cxn modelId="{93E40BD5-188B-447D-A877-6313F2A63433}" type="presParOf" srcId="{006628EE-2672-4E73-AF80-C2FA6DA0F245}" destId="{83CBCA6B-4523-45AB-8C5C-5DCAC4D94B22}" srcOrd="0" destOrd="0" presId="urn:microsoft.com/office/officeart/2008/layout/VerticalCurvedList"/>
    <dgm:cxn modelId="{530AA688-EDDF-4450-B344-859904F79657}" type="presParOf" srcId="{006628EE-2672-4E73-AF80-C2FA6DA0F245}" destId="{D593A696-9230-4ACA-9D52-83E05F9F38F7}" srcOrd="1" destOrd="0" presId="urn:microsoft.com/office/officeart/2008/layout/VerticalCurvedList"/>
    <dgm:cxn modelId="{7581D5EB-07E7-4BAB-B3F8-9AC79E3C6A03}" type="presParOf" srcId="{006628EE-2672-4E73-AF80-C2FA6DA0F245}" destId="{2CD41FF4-48CE-42E3-8206-C4D806851A54}" srcOrd="2" destOrd="0" presId="urn:microsoft.com/office/officeart/2008/layout/VerticalCurvedList"/>
    <dgm:cxn modelId="{884787BF-824A-4DF3-8418-D4ADAF2F078E}" type="presParOf" srcId="{006628EE-2672-4E73-AF80-C2FA6DA0F245}" destId="{BC70810A-B28C-4236-8A87-6A2163164CC9}" srcOrd="3" destOrd="0" presId="urn:microsoft.com/office/officeart/2008/layout/VerticalCurvedList"/>
    <dgm:cxn modelId="{772229C6-B6FC-480A-A276-A70E04B67D4A}" type="presParOf" srcId="{741DC565-FE42-4ACF-8359-44981FFC1B12}" destId="{4F10BD40-3D78-480D-9C3C-DEEAA6B532C0}" srcOrd="1" destOrd="0" presId="urn:microsoft.com/office/officeart/2008/layout/VerticalCurvedList"/>
    <dgm:cxn modelId="{C98C260F-D1A6-46D4-84C6-F4CE9451D969}" type="presParOf" srcId="{741DC565-FE42-4ACF-8359-44981FFC1B12}" destId="{35D0FE1D-F306-4BA6-BA98-7A522EF93A6B}" srcOrd="2" destOrd="0" presId="urn:microsoft.com/office/officeart/2008/layout/VerticalCurvedList"/>
    <dgm:cxn modelId="{1BE188BF-3A8F-47F2-84A0-FAC387F1F844}" type="presParOf" srcId="{35D0FE1D-F306-4BA6-BA98-7A522EF93A6B}" destId="{9538A860-37A9-47C9-89B1-15B5ED1C3C45}" srcOrd="0" destOrd="0" presId="urn:microsoft.com/office/officeart/2008/layout/VerticalCurvedList"/>
    <dgm:cxn modelId="{42CB93E5-3F3C-42EB-A903-CA9905CC06F4}" type="presParOf" srcId="{741DC565-FE42-4ACF-8359-44981FFC1B12}" destId="{482E5227-798F-4F42-8C65-90A0C622BFF7}" srcOrd="3" destOrd="0" presId="urn:microsoft.com/office/officeart/2008/layout/VerticalCurvedList"/>
    <dgm:cxn modelId="{201EF265-5151-4EED-8899-B440A725C8CB}" type="presParOf" srcId="{741DC565-FE42-4ACF-8359-44981FFC1B12}" destId="{9C498557-32BE-4133-9362-170C19978862}" srcOrd="4" destOrd="0" presId="urn:microsoft.com/office/officeart/2008/layout/VerticalCurvedList"/>
    <dgm:cxn modelId="{B4CE6A51-5201-4EB6-911E-11BEDF29A23F}" type="presParOf" srcId="{9C498557-32BE-4133-9362-170C19978862}" destId="{2E9DF0E9-8A3D-44C3-9645-E3F2E581FB49}" srcOrd="0" destOrd="0" presId="urn:microsoft.com/office/officeart/2008/layout/VerticalCurvedList"/>
    <dgm:cxn modelId="{65780A0E-5F20-450C-9E99-D44FC43AAFAB}" type="presParOf" srcId="{741DC565-FE42-4ACF-8359-44981FFC1B12}" destId="{AF999DAB-88A9-4336-B3A0-95ACF35CDBC8}" srcOrd="5" destOrd="0" presId="urn:microsoft.com/office/officeart/2008/layout/VerticalCurvedList"/>
    <dgm:cxn modelId="{CA4F6807-DB32-41B3-9250-051885736AC0}" type="presParOf" srcId="{741DC565-FE42-4ACF-8359-44981FFC1B12}" destId="{0ED9A6F3-E17E-4A83-8750-B9C12A38F155}" srcOrd="6" destOrd="0" presId="urn:microsoft.com/office/officeart/2008/layout/VerticalCurvedList"/>
    <dgm:cxn modelId="{7530476E-17DA-4146-83DC-02E637270ABF}" type="presParOf" srcId="{0ED9A6F3-E17E-4A83-8750-B9C12A38F155}" destId="{C260468B-BB98-4EF4-ADEF-20D15B94B27D}" srcOrd="0" destOrd="0" presId="urn:microsoft.com/office/officeart/2008/layout/VerticalCurvedList"/>
    <dgm:cxn modelId="{5284269C-D931-4C63-BB5F-A2A093653B5E}" type="presParOf" srcId="{741DC565-FE42-4ACF-8359-44981FFC1B12}" destId="{A2C56E89-723E-430B-A38B-1920216D3CE4}" srcOrd="7" destOrd="0" presId="urn:microsoft.com/office/officeart/2008/layout/VerticalCurvedList"/>
    <dgm:cxn modelId="{FE6718E3-54D6-4F8B-96AD-AFD49F4A895C}" type="presParOf" srcId="{741DC565-FE42-4ACF-8359-44981FFC1B12}" destId="{D02F7C6F-9CAF-45BF-BBB3-3E91F98AB6C5}" srcOrd="8" destOrd="0" presId="urn:microsoft.com/office/officeart/2008/layout/VerticalCurvedList"/>
    <dgm:cxn modelId="{9CD5A474-72DD-4A8D-97C2-367C4A6780A0}" type="presParOf" srcId="{D02F7C6F-9CAF-45BF-BBB3-3E91F98AB6C5}" destId="{C68B1165-02F6-4C3C-AEAA-C5DCB689BA8D}"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smtClean="0"/>
            <a:t>High-Level Features</a:t>
          </a:r>
          <a:endParaRPr lang="en-CA" dirty="0"/>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AD2D715C-1D66-4761-A8CF-F58DB4569F90}">
      <dgm:prSet phldrT="[Text]"/>
      <dgm:spPr/>
      <dgm:t>
        <a:bodyPr/>
        <a:lstStyle/>
        <a:p>
          <a:r>
            <a:rPr lang="en-CA" dirty="0"/>
            <a:t>Setup Decisions</a:t>
          </a:r>
        </a:p>
      </dgm:t>
    </dgm:pt>
    <dgm:pt modelId="{B5C2FEDB-497C-44A1-9244-D4A7A5E5AE6B}" type="parTrans" cxnId="{C03EF69D-AAAD-4400-A512-44AED630AFA5}">
      <dgm:prSet/>
      <dgm:spPr/>
      <dgm:t>
        <a:bodyPr/>
        <a:lstStyle/>
        <a:p>
          <a:endParaRPr lang="en-US"/>
        </a:p>
      </dgm:t>
    </dgm:pt>
    <dgm:pt modelId="{7B2B556B-BA2D-420E-B1A7-D881840312D4}" type="sibTrans" cxnId="{C03EF69D-AAAD-4400-A512-44AED630AFA5}">
      <dgm:prSet/>
      <dgm:spPr/>
      <dgm:t>
        <a:bodyPr/>
        <a:lstStyle/>
        <a:p>
          <a:endParaRPr lang="en-US"/>
        </a:p>
      </dgm:t>
    </dgm:pt>
    <dgm:pt modelId="{EEE88FE0-28BB-41BE-A70B-DC3DB31E628F}">
      <dgm:prSet phldrT="[Text]"/>
      <dgm:spPr/>
      <dgm:t>
        <a:bodyPr/>
        <a:lstStyle/>
        <a:p>
          <a:r>
            <a:rPr lang="en-CA" dirty="0"/>
            <a:t>Basic Administration</a:t>
          </a:r>
        </a:p>
      </dgm:t>
    </dgm:pt>
    <dgm:pt modelId="{4CF31482-BF69-48E0-80D9-6345451A6E57}" type="parTrans" cxnId="{A919093C-4F1A-4156-86C6-0EBD1BDF6874}">
      <dgm:prSet/>
      <dgm:spPr/>
      <dgm:t>
        <a:bodyPr/>
        <a:lstStyle/>
        <a:p>
          <a:endParaRPr lang="en-US"/>
        </a:p>
      </dgm:t>
    </dgm:pt>
    <dgm:pt modelId="{6BF543FB-7614-458F-9A0E-3C2839CCF42B}" type="sibTrans" cxnId="{A919093C-4F1A-4156-86C6-0EBD1BDF6874}">
      <dgm:prSet/>
      <dgm:spPr/>
      <dgm:t>
        <a:bodyPr/>
        <a:lstStyle/>
        <a:p>
          <a:endParaRPr lang="en-US"/>
        </a:p>
      </dgm:t>
    </dgm:pt>
    <dgm:pt modelId="{6C720CCA-38EE-4A79-B9F1-95A44574753E}">
      <dgm:prSet/>
      <dgm:spPr/>
      <dgm:t>
        <a:bodyPr/>
        <a:lstStyle/>
        <a:p>
          <a:r>
            <a:rPr lang="en-CA" dirty="0"/>
            <a:t>Fundamental Maintenance</a:t>
          </a:r>
        </a:p>
      </dgm:t>
    </dgm:pt>
    <dgm:pt modelId="{14AF6623-4566-491B-BF84-5AF91B51310D}" type="parTrans" cxnId="{DF501035-13F6-44B6-A8AB-E7B7992A63FA}">
      <dgm:prSet/>
      <dgm:spPr/>
      <dgm:t>
        <a:bodyPr/>
        <a:lstStyle/>
        <a:p>
          <a:endParaRPr lang="en-US"/>
        </a:p>
      </dgm:t>
    </dgm:pt>
    <dgm:pt modelId="{3FFE3B4C-19E2-4EFA-9EC8-8BCA4558BB00}" type="sibTrans" cxnId="{DF501035-13F6-44B6-A8AB-E7B7992A63FA}">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dgm:spPr/>
    </dgm:pt>
    <dgm:pt modelId="{9EA67971-1371-4440-B70B-5BF3BF31F31C}" type="pres">
      <dgm:prSet presAssocID="{AD2D715C-1D66-4761-A8CF-F58DB4569F90}" presName="text_2" presStyleLbl="node1" presStyleIdx="1" presStyleCnt="4">
        <dgm:presLayoutVars>
          <dgm:bulletEnabled val="1"/>
        </dgm:presLayoutVars>
      </dgm:prSet>
      <dgm:spPr/>
      <dgm:t>
        <a:bodyPr/>
        <a:lstStyle/>
        <a:p>
          <a:endParaRPr lang="en-US"/>
        </a:p>
      </dgm:t>
    </dgm:pt>
    <dgm:pt modelId="{488E8696-A0B3-4237-A9BC-34D51E6CF0D0}" type="pres">
      <dgm:prSet presAssocID="{AD2D715C-1D66-4761-A8CF-F58DB4569F90}" presName="accent_2" presStyleCnt="0"/>
      <dgm:spPr/>
    </dgm:pt>
    <dgm:pt modelId="{36CD79F3-0053-4636-BD70-09160F48BF28}" type="pres">
      <dgm:prSet presAssocID="{AD2D715C-1D66-4761-A8CF-F58DB4569F90}" presName="accentRepeatNode" presStyleLbl="solidFgAcc1" presStyleIdx="1" presStyleCnt="4"/>
      <dgm:spPr/>
      <dgm:t>
        <a:bodyPr/>
        <a:lstStyle/>
        <a:p>
          <a:endParaRPr lang="en-US"/>
        </a:p>
      </dgm:t>
    </dgm:pt>
    <dgm:pt modelId="{DF4F3A01-EDB4-4FED-B91A-608D7F389491}" type="pres">
      <dgm:prSet presAssocID="{EEE88FE0-28BB-41BE-A70B-DC3DB31E628F}" presName="text_3" presStyleLbl="node1" presStyleIdx="2" presStyleCnt="4">
        <dgm:presLayoutVars>
          <dgm:bulletEnabled val="1"/>
        </dgm:presLayoutVars>
      </dgm:prSet>
      <dgm:spPr/>
      <dgm:t>
        <a:bodyPr/>
        <a:lstStyle/>
        <a:p>
          <a:endParaRPr lang="en-US"/>
        </a:p>
      </dgm:t>
    </dgm:pt>
    <dgm:pt modelId="{9FA80658-A16C-478D-951F-27F81F86CFCA}" type="pres">
      <dgm:prSet presAssocID="{EEE88FE0-28BB-41BE-A70B-DC3DB31E628F}" presName="accent_3" presStyleCnt="0"/>
      <dgm:spPr/>
    </dgm:pt>
    <dgm:pt modelId="{E89CE3A5-4BDD-43BC-B799-A3B4A729C568}" type="pres">
      <dgm:prSet presAssocID="{EEE88FE0-28BB-41BE-A70B-DC3DB31E628F}" presName="accentRepeatNode" presStyleLbl="solidFgAcc1" presStyleIdx="2" presStyleCnt="4"/>
      <dgm:spPr/>
    </dgm:pt>
    <dgm:pt modelId="{08832944-1350-4DC6-9E56-BB8703612947}" type="pres">
      <dgm:prSet presAssocID="{6C720CCA-38EE-4A79-B9F1-95A44574753E}" presName="text_4" presStyleLbl="node1" presStyleIdx="3" presStyleCnt="4">
        <dgm:presLayoutVars>
          <dgm:bulletEnabled val="1"/>
        </dgm:presLayoutVars>
      </dgm:prSet>
      <dgm:spPr/>
      <dgm:t>
        <a:bodyPr/>
        <a:lstStyle/>
        <a:p>
          <a:endParaRPr lang="en-US"/>
        </a:p>
      </dgm:t>
    </dgm:pt>
    <dgm:pt modelId="{71EACBF7-5540-4A67-919E-71F4E5773000}" type="pres">
      <dgm:prSet presAssocID="{6C720CCA-38EE-4A79-B9F1-95A44574753E}" presName="accent_4" presStyleCnt="0"/>
      <dgm:spPr/>
    </dgm:pt>
    <dgm:pt modelId="{60215000-997D-41C3-A800-5B1E7D76AC7A}" type="pres">
      <dgm:prSet presAssocID="{6C720CCA-38EE-4A79-B9F1-95A44574753E}" presName="accentRepeatNode" presStyleLbl="solidFgAcc1" presStyleIdx="3" presStyleCnt="4"/>
      <dgm:spPr/>
    </dgm:pt>
  </dgm:ptLst>
  <dgm:cxnLst>
    <dgm:cxn modelId="{5CC61D88-7687-4A04-B4B2-DC85AF32CD13}" type="presOf" srcId="{D043F5CB-BC5D-4A11-AB32-2960081BEC2E}" destId="{3FB16CE5-CAA2-4957-8C7B-4DB8F06B5FE6}" srcOrd="0" destOrd="0" presId="urn:microsoft.com/office/officeart/2008/layout/VerticalCurvedList"/>
    <dgm:cxn modelId="{C03EF69D-AAAD-4400-A512-44AED630AFA5}" srcId="{D043F5CB-BC5D-4A11-AB32-2960081BEC2E}" destId="{AD2D715C-1D66-4761-A8CF-F58DB4569F90}" srcOrd="1" destOrd="0" parTransId="{B5C2FEDB-497C-44A1-9244-D4A7A5E5AE6B}" sibTransId="{7B2B556B-BA2D-420E-B1A7-D881840312D4}"/>
    <dgm:cxn modelId="{A19B6AD0-4E2A-41C1-B1E0-1235A7DBB412}" type="presOf" srcId="{6C720CCA-38EE-4A79-B9F1-95A44574753E}" destId="{08832944-1350-4DC6-9E56-BB8703612947}" srcOrd="0" destOrd="0" presId="urn:microsoft.com/office/officeart/2008/layout/VerticalCurvedList"/>
    <dgm:cxn modelId="{DF501035-13F6-44B6-A8AB-E7B7992A63FA}" srcId="{D043F5CB-BC5D-4A11-AB32-2960081BEC2E}" destId="{6C720CCA-38EE-4A79-B9F1-95A44574753E}" srcOrd="3" destOrd="0" parTransId="{14AF6623-4566-491B-BF84-5AF91B51310D}" sibTransId="{3FFE3B4C-19E2-4EFA-9EC8-8BCA4558BB00}"/>
    <dgm:cxn modelId="{91CDDA45-F03D-4B20-B354-C78068DC480D}" srcId="{D043F5CB-BC5D-4A11-AB32-2960081BEC2E}" destId="{A5A548B3-6AC7-4528-ADEB-4C80B2EB9FE1}" srcOrd="0" destOrd="0" parTransId="{1635DA8A-138F-48A1-9C85-52947E284BC8}" sibTransId="{5B1B9221-1044-403A-81A4-A41C0E0449B9}"/>
    <dgm:cxn modelId="{AA8A2A3A-5349-41B4-859C-762F56A55F43}" type="presOf" srcId="{EEE88FE0-28BB-41BE-A70B-DC3DB31E628F}" destId="{DF4F3A01-EDB4-4FED-B91A-608D7F389491}" srcOrd="0" destOrd="0" presId="urn:microsoft.com/office/officeart/2008/layout/VerticalCurvedList"/>
    <dgm:cxn modelId="{A115E66D-5C6A-4169-8786-8D216766BDC9}" type="presOf" srcId="{5B1B9221-1044-403A-81A4-A41C0E0449B9}" destId="{D593A696-9230-4ACA-9D52-83E05F9F38F7}" srcOrd="0" destOrd="0" presId="urn:microsoft.com/office/officeart/2008/layout/VerticalCurvedList"/>
    <dgm:cxn modelId="{A919093C-4F1A-4156-86C6-0EBD1BDF6874}" srcId="{D043F5CB-BC5D-4A11-AB32-2960081BEC2E}" destId="{EEE88FE0-28BB-41BE-A70B-DC3DB31E628F}" srcOrd="2" destOrd="0" parTransId="{4CF31482-BF69-48E0-80D9-6345451A6E57}" sibTransId="{6BF543FB-7614-458F-9A0E-3C2839CCF42B}"/>
    <dgm:cxn modelId="{79476E7E-8F60-4397-A40B-9A5185B96F47}" type="presOf" srcId="{A5A548B3-6AC7-4528-ADEB-4C80B2EB9FE1}" destId="{4F10BD40-3D78-480D-9C3C-DEEAA6B532C0}" srcOrd="0" destOrd="0" presId="urn:microsoft.com/office/officeart/2008/layout/VerticalCurvedList"/>
    <dgm:cxn modelId="{FEB77F05-01D7-4195-A6B9-D7D498C5CA10}" type="presOf" srcId="{AD2D715C-1D66-4761-A8CF-F58DB4569F90}" destId="{9EA67971-1371-4440-B70B-5BF3BF31F31C}" srcOrd="0" destOrd="0" presId="urn:microsoft.com/office/officeart/2008/layout/VerticalCurvedList"/>
    <dgm:cxn modelId="{6BC0A075-EDEC-45EE-A742-E4CF300715C9}" type="presParOf" srcId="{3FB16CE5-CAA2-4957-8C7B-4DB8F06B5FE6}" destId="{741DC565-FE42-4ACF-8359-44981FFC1B12}" srcOrd="0" destOrd="0" presId="urn:microsoft.com/office/officeart/2008/layout/VerticalCurvedList"/>
    <dgm:cxn modelId="{AD158B11-B298-4770-8A7D-309556D49F26}" type="presParOf" srcId="{741DC565-FE42-4ACF-8359-44981FFC1B12}" destId="{006628EE-2672-4E73-AF80-C2FA6DA0F245}" srcOrd="0" destOrd="0" presId="urn:microsoft.com/office/officeart/2008/layout/VerticalCurvedList"/>
    <dgm:cxn modelId="{E7E71E79-02F3-4009-97EF-132888CCFBAA}" type="presParOf" srcId="{006628EE-2672-4E73-AF80-C2FA6DA0F245}" destId="{83CBCA6B-4523-45AB-8C5C-5DCAC4D94B22}" srcOrd="0" destOrd="0" presId="urn:microsoft.com/office/officeart/2008/layout/VerticalCurvedList"/>
    <dgm:cxn modelId="{379D70CE-45C3-4215-954F-B631A58A1D44}" type="presParOf" srcId="{006628EE-2672-4E73-AF80-C2FA6DA0F245}" destId="{D593A696-9230-4ACA-9D52-83E05F9F38F7}" srcOrd="1" destOrd="0" presId="urn:microsoft.com/office/officeart/2008/layout/VerticalCurvedList"/>
    <dgm:cxn modelId="{D8FF37F5-470C-4326-A38D-B09C1D099C16}" type="presParOf" srcId="{006628EE-2672-4E73-AF80-C2FA6DA0F245}" destId="{2CD41FF4-48CE-42E3-8206-C4D806851A54}" srcOrd="2" destOrd="0" presId="urn:microsoft.com/office/officeart/2008/layout/VerticalCurvedList"/>
    <dgm:cxn modelId="{CAEB8024-205C-4D87-A0BC-0C73B566ADCC}" type="presParOf" srcId="{006628EE-2672-4E73-AF80-C2FA6DA0F245}" destId="{BC70810A-B28C-4236-8A87-6A2163164CC9}" srcOrd="3" destOrd="0" presId="urn:microsoft.com/office/officeart/2008/layout/VerticalCurvedList"/>
    <dgm:cxn modelId="{6BC29331-A4DF-4752-9610-96C6283359DC}" type="presParOf" srcId="{741DC565-FE42-4ACF-8359-44981FFC1B12}" destId="{4F10BD40-3D78-480D-9C3C-DEEAA6B532C0}" srcOrd="1" destOrd="0" presId="urn:microsoft.com/office/officeart/2008/layout/VerticalCurvedList"/>
    <dgm:cxn modelId="{6D4D95D7-D8CA-47BC-97BB-0A926F449200}" type="presParOf" srcId="{741DC565-FE42-4ACF-8359-44981FFC1B12}" destId="{35D0FE1D-F306-4BA6-BA98-7A522EF93A6B}" srcOrd="2" destOrd="0" presId="urn:microsoft.com/office/officeart/2008/layout/VerticalCurvedList"/>
    <dgm:cxn modelId="{31C49BB5-AB44-4A69-86BE-1834075B65CD}" type="presParOf" srcId="{35D0FE1D-F306-4BA6-BA98-7A522EF93A6B}" destId="{9538A860-37A9-47C9-89B1-15B5ED1C3C45}" srcOrd="0" destOrd="0" presId="urn:microsoft.com/office/officeart/2008/layout/VerticalCurvedList"/>
    <dgm:cxn modelId="{0782A251-A0DE-4B95-81A1-7071013D91D5}" type="presParOf" srcId="{741DC565-FE42-4ACF-8359-44981FFC1B12}" destId="{9EA67971-1371-4440-B70B-5BF3BF31F31C}" srcOrd="3" destOrd="0" presId="urn:microsoft.com/office/officeart/2008/layout/VerticalCurvedList"/>
    <dgm:cxn modelId="{11D3837C-8879-49C0-808E-7E056A8E5A75}" type="presParOf" srcId="{741DC565-FE42-4ACF-8359-44981FFC1B12}" destId="{488E8696-A0B3-4237-A9BC-34D51E6CF0D0}" srcOrd="4" destOrd="0" presId="urn:microsoft.com/office/officeart/2008/layout/VerticalCurvedList"/>
    <dgm:cxn modelId="{CF1E11A5-5641-4E36-A77C-EF6B037EFFE6}" type="presParOf" srcId="{488E8696-A0B3-4237-A9BC-34D51E6CF0D0}" destId="{36CD79F3-0053-4636-BD70-09160F48BF28}" srcOrd="0" destOrd="0" presId="urn:microsoft.com/office/officeart/2008/layout/VerticalCurvedList"/>
    <dgm:cxn modelId="{B76B9421-EED9-4423-8831-66FCE2A29552}" type="presParOf" srcId="{741DC565-FE42-4ACF-8359-44981FFC1B12}" destId="{DF4F3A01-EDB4-4FED-B91A-608D7F389491}" srcOrd="5" destOrd="0" presId="urn:microsoft.com/office/officeart/2008/layout/VerticalCurvedList"/>
    <dgm:cxn modelId="{E17DFBCC-D36D-4132-A910-59BA646BB21B}" type="presParOf" srcId="{741DC565-FE42-4ACF-8359-44981FFC1B12}" destId="{9FA80658-A16C-478D-951F-27F81F86CFCA}" srcOrd="6" destOrd="0" presId="urn:microsoft.com/office/officeart/2008/layout/VerticalCurvedList"/>
    <dgm:cxn modelId="{FC3B667E-99A7-4604-ACD2-10357A4E722D}" type="presParOf" srcId="{9FA80658-A16C-478D-951F-27F81F86CFCA}" destId="{E89CE3A5-4BDD-43BC-B799-A3B4A729C568}" srcOrd="0" destOrd="0" presId="urn:microsoft.com/office/officeart/2008/layout/VerticalCurvedList"/>
    <dgm:cxn modelId="{53FD7049-B531-4ED3-B7B9-7DDCD771427A}" type="presParOf" srcId="{741DC565-FE42-4ACF-8359-44981FFC1B12}" destId="{08832944-1350-4DC6-9E56-BB8703612947}" srcOrd="7" destOrd="0" presId="urn:microsoft.com/office/officeart/2008/layout/VerticalCurvedList"/>
    <dgm:cxn modelId="{3E98B7A1-D119-40F3-AEA6-60704546067D}" type="presParOf" srcId="{741DC565-FE42-4ACF-8359-44981FFC1B12}" destId="{71EACBF7-5540-4A67-919E-71F4E5773000}" srcOrd="8" destOrd="0" presId="urn:microsoft.com/office/officeart/2008/layout/VerticalCurvedList"/>
    <dgm:cxn modelId="{0C5B06C6-F1C0-4F52-87B5-E45E90DFDF86}" type="presParOf" srcId="{71EACBF7-5540-4A67-919E-71F4E5773000}" destId="{60215000-997D-41C3-A800-5B1E7D76AC7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616298" y="-859773"/>
          <a:ext cx="6686833" cy="6686833"/>
        </a:xfrm>
        <a:prstGeom prst="blockArc">
          <a:avLst>
            <a:gd name="adj1" fmla="val 18900000"/>
            <a:gd name="adj2" fmla="val 2700000"/>
            <a:gd name="adj3" fmla="val 323"/>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60398" y="381885"/>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lvl="0" algn="l" defTabSz="1822450">
            <a:lnSpc>
              <a:spcPct val="90000"/>
            </a:lnSpc>
            <a:spcBef>
              <a:spcPct val="0"/>
            </a:spcBef>
            <a:spcAft>
              <a:spcPct val="35000"/>
            </a:spcAft>
          </a:pPr>
          <a:r>
            <a:rPr lang="en-CA" sz="4100" kern="1200" dirty="0"/>
            <a:t>High-Level Features</a:t>
          </a:r>
        </a:p>
      </dsp:txBody>
      <dsp:txXfrm>
        <a:off x="560398" y="381885"/>
        <a:ext cx="10757286" cy="764167"/>
      </dsp:txXfrm>
    </dsp:sp>
    <dsp:sp modelId="{9538A860-37A9-47C9-89B1-15B5ED1C3C45}">
      <dsp:nvSpPr>
        <dsp:cNvPr id="0" name=""/>
        <dsp:cNvSpPr/>
      </dsp:nvSpPr>
      <dsp:spPr>
        <a:xfrm>
          <a:off x="82794" y="286364"/>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98513" y="152833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lvl="0" algn="l" defTabSz="1822450">
            <a:lnSpc>
              <a:spcPct val="90000"/>
            </a:lnSpc>
            <a:spcBef>
              <a:spcPct val="0"/>
            </a:spcBef>
            <a:spcAft>
              <a:spcPct val="35000"/>
            </a:spcAft>
          </a:pPr>
          <a:r>
            <a:rPr lang="en-CA" sz="4100" kern="1200" dirty="0"/>
            <a:t>Setup Decisions</a:t>
          </a:r>
        </a:p>
      </dsp:txBody>
      <dsp:txXfrm>
        <a:off x="998513" y="1528334"/>
        <a:ext cx="10319171" cy="764167"/>
      </dsp:txXfrm>
    </dsp:sp>
    <dsp:sp modelId="{4878E8A0-0F62-483E-9C85-41A7D184C6F2}">
      <dsp:nvSpPr>
        <dsp:cNvPr id="0" name=""/>
        <dsp:cNvSpPr/>
      </dsp:nvSpPr>
      <dsp:spPr>
        <a:xfrm>
          <a:off x="520909" y="14328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98513" y="267478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lvl="0" algn="l" defTabSz="1822450">
            <a:lnSpc>
              <a:spcPct val="90000"/>
            </a:lnSpc>
            <a:spcBef>
              <a:spcPct val="0"/>
            </a:spcBef>
            <a:spcAft>
              <a:spcPct val="35000"/>
            </a:spcAft>
          </a:pPr>
          <a:r>
            <a:rPr lang="en-CA" sz="4100" kern="1200" dirty="0"/>
            <a:t>Basic Administration</a:t>
          </a:r>
        </a:p>
      </dsp:txBody>
      <dsp:txXfrm>
        <a:off x="998513" y="2674784"/>
        <a:ext cx="10319171" cy="764167"/>
      </dsp:txXfrm>
    </dsp:sp>
    <dsp:sp modelId="{0B3E8BE0-A7F0-4C2D-9FEB-4C59B0782F15}">
      <dsp:nvSpPr>
        <dsp:cNvPr id="0" name=""/>
        <dsp:cNvSpPr/>
      </dsp:nvSpPr>
      <dsp:spPr>
        <a:xfrm>
          <a:off x="520909" y="257926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4232E8-93F4-41E9-B369-7E60EDA212EF}">
      <dsp:nvSpPr>
        <dsp:cNvPr id="0" name=""/>
        <dsp:cNvSpPr/>
      </dsp:nvSpPr>
      <dsp:spPr>
        <a:xfrm>
          <a:off x="560398" y="3821234"/>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104140" rIns="104140" bIns="104140" numCol="1" spcCol="1270" anchor="ctr" anchorCtr="0">
          <a:noAutofit/>
        </a:bodyPr>
        <a:lstStyle/>
        <a:p>
          <a:pPr lvl="0" algn="l" defTabSz="1822450">
            <a:lnSpc>
              <a:spcPct val="90000"/>
            </a:lnSpc>
            <a:spcBef>
              <a:spcPct val="0"/>
            </a:spcBef>
            <a:spcAft>
              <a:spcPct val="35000"/>
            </a:spcAft>
          </a:pPr>
          <a:r>
            <a:rPr lang="en-CA" sz="4100" kern="1200" dirty="0"/>
            <a:t>Fundamental Maintenance</a:t>
          </a:r>
        </a:p>
      </dsp:txBody>
      <dsp:txXfrm>
        <a:off x="560398" y="3821234"/>
        <a:ext cx="10757286" cy="764167"/>
      </dsp:txXfrm>
    </dsp:sp>
    <dsp:sp modelId="{87562175-0849-4DF8-B27D-586CB208566E}">
      <dsp:nvSpPr>
        <dsp:cNvPr id="0" name=""/>
        <dsp:cNvSpPr/>
      </dsp:nvSpPr>
      <dsp:spPr>
        <a:xfrm>
          <a:off x="82794" y="37257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High-Level Features</a:t>
          </a:r>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Setup Decisions</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Basic Administration</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D824E9-A898-43ED-B11F-80B062EE3FE1}">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Fundamental Maintenance</a:t>
          </a:r>
        </a:p>
      </dsp:txBody>
      <dsp:txXfrm>
        <a:off x="531674" y="3622174"/>
        <a:ext cx="10790097" cy="724359"/>
      </dsp:txXfrm>
    </dsp:sp>
    <dsp:sp modelId="{87562175-0849-4DF8-B27D-586CB208566E}">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smtClean="0"/>
            <a:t>High-Level Features</a:t>
          </a:r>
          <a:endParaRPr lang="en-CA" sz="3900" kern="1200" dirty="0"/>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DF3A1B-D7F7-4664-822E-66BC4438633A}">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Setup Decisions</a:t>
          </a:r>
        </a:p>
      </dsp:txBody>
      <dsp:txXfrm>
        <a:off x="946966" y="1448718"/>
        <a:ext cx="10374805" cy="724359"/>
      </dsp:txXfrm>
    </dsp:sp>
    <dsp:sp modelId="{AC236CCF-1B64-4981-BE3A-E86A3E87769F}">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D034B8-7DCA-435D-A344-7E8517AFABB2}">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Basic Administration</a:t>
          </a:r>
        </a:p>
      </dsp:txBody>
      <dsp:txXfrm>
        <a:off x="946966" y="2535446"/>
        <a:ext cx="10374805" cy="724359"/>
      </dsp:txXfrm>
    </dsp:sp>
    <dsp:sp modelId="{07C7DCF3-080C-4694-896E-4AA876E19CC0}">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88D785-5EEC-482E-B8A2-87BA02C5D36B}">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Fundamental Maintenance</a:t>
          </a:r>
        </a:p>
      </dsp:txBody>
      <dsp:txXfrm>
        <a:off x="531674" y="3622174"/>
        <a:ext cx="10790097" cy="724359"/>
      </dsp:txXfrm>
    </dsp:sp>
    <dsp:sp modelId="{0ACDDFC0-459E-4F32-9F10-F2991AA5AD89}">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smtClean="0"/>
            <a:t>High-Level Features</a:t>
          </a:r>
          <a:endParaRPr lang="en-CA" sz="3900" kern="1200" dirty="0"/>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2E5227-798F-4F42-8C65-90A0C622BFF7}">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Setup Decisions</a:t>
          </a:r>
        </a:p>
      </dsp:txBody>
      <dsp:txXfrm>
        <a:off x="946966" y="1448718"/>
        <a:ext cx="10374805" cy="724359"/>
      </dsp:txXfrm>
    </dsp:sp>
    <dsp:sp modelId="{2E9DF0E9-8A3D-44C3-9645-E3F2E581FB49}">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999DAB-88A9-4336-B3A0-95ACF35CDBC8}">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Basic Administration</a:t>
          </a:r>
        </a:p>
      </dsp:txBody>
      <dsp:txXfrm>
        <a:off x="946966" y="2535446"/>
        <a:ext cx="10374805" cy="724359"/>
      </dsp:txXfrm>
    </dsp:sp>
    <dsp:sp modelId="{C260468B-BB98-4EF4-ADEF-20D15B94B27D}">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2C56E89-723E-430B-A38B-1920216D3CE4}">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Fundamental Maintenance</a:t>
          </a:r>
        </a:p>
      </dsp:txBody>
      <dsp:txXfrm>
        <a:off x="531674" y="3622174"/>
        <a:ext cx="10790097" cy="724359"/>
      </dsp:txXfrm>
    </dsp:sp>
    <dsp:sp modelId="{C68B1165-02F6-4C3C-AEAA-C5DCB689BA8D}">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smtClean="0"/>
            <a:t>High-Level Features</a:t>
          </a:r>
          <a:endParaRPr lang="en-CA" sz="3900" kern="1200" dirty="0"/>
        </a:p>
      </dsp:txBody>
      <dsp:txXfrm>
        <a:off x="531674" y="361991"/>
        <a:ext cx="10790097" cy="724359"/>
      </dsp:txXfrm>
    </dsp:sp>
    <dsp:sp modelId="{9538A860-37A9-47C9-89B1-15B5ED1C3C45}">
      <dsp:nvSpPr>
        <dsp:cNvPr id="0" name=""/>
        <dsp:cNvSpPr/>
      </dsp:nvSpPr>
      <dsp:spPr>
        <a:xfrm>
          <a:off x="78950" y="271446"/>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EA67971-1371-4440-B70B-5BF3BF31F31C}">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Setup Decisions</a:t>
          </a:r>
        </a:p>
      </dsp:txBody>
      <dsp:txXfrm>
        <a:off x="946966" y="1448718"/>
        <a:ext cx="10374805" cy="724359"/>
      </dsp:txXfrm>
    </dsp:sp>
    <dsp:sp modelId="{36CD79F3-0053-4636-BD70-09160F48BF28}">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4F3A01-EDB4-4FED-B91A-608D7F389491}">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Basic Administration</a:t>
          </a:r>
        </a:p>
      </dsp:txBody>
      <dsp:txXfrm>
        <a:off x="946966" y="2535446"/>
        <a:ext cx="10374805" cy="724359"/>
      </dsp:txXfrm>
    </dsp:sp>
    <dsp:sp modelId="{E89CE3A5-4BDD-43BC-B799-A3B4A729C568}">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832944-1350-4DC6-9E56-BB8703612947}">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Fundamental Maintenance</a:t>
          </a:r>
        </a:p>
      </dsp:txBody>
      <dsp:txXfrm>
        <a:off x="531674" y="3622174"/>
        <a:ext cx="10790097" cy="724359"/>
      </dsp:txXfrm>
    </dsp:sp>
    <dsp:sp modelId="{60215000-997D-41C3-A800-5B1E7D76AC7A}">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08" tIns="48304" rIns="96608" bIns="48304" rtlCol="0"/>
          <a:lstStyle>
            <a:lvl1pPr algn="l">
              <a:defRPr sz="1200"/>
            </a:lvl1pPr>
          </a:lstStyle>
          <a:p>
            <a:endParaRPr lang="en-US"/>
          </a:p>
        </p:txBody>
      </p:sp>
      <p:sp>
        <p:nvSpPr>
          <p:cNvPr id="3" name="Date Placeholder 2"/>
          <p:cNvSpPr>
            <a:spLocks noGrp="1"/>
          </p:cNvSpPr>
          <p:nvPr>
            <p:ph type="dt" sz="quarter" idx="1"/>
          </p:nvPr>
        </p:nvSpPr>
        <p:spPr>
          <a:xfrm>
            <a:off x="4143587" y="1"/>
            <a:ext cx="3169920" cy="481727"/>
          </a:xfrm>
          <a:prstGeom prst="rect">
            <a:avLst/>
          </a:prstGeom>
        </p:spPr>
        <p:txBody>
          <a:bodyPr vert="horz" lIns="96608" tIns="48304" rIns="96608" bIns="48304" rtlCol="0"/>
          <a:lstStyle>
            <a:lvl1pPr algn="r">
              <a:defRPr sz="1200"/>
            </a:lvl1pPr>
          </a:lstStyle>
          <a:p>
            <a:fld id="{A5865519-5FC2-4530-8949-194C152D6575}" type="datetimeFigureOut">
              <a:rPr lang="en-US" smtClean="0"/>
              <a:pPr/>
              <a:t>6/6/2022</a:t>
            </a:fld>
            <a:endParaRPr lang="en-US"/>
          </a:p>
        </p:txBody>
      </p:sp>
      <p:sp>
        <p:nvSpPr>
          <p:cNvPr id="4" name="Footer Placeholder 3"/>
          <p:cNvSpPr>
            <a:spLocks noGrp="1"/>
          </p:cNvSpPr>
          <p:nvPr>
            <p:ph type="ftr" sz="quarter" idx="2"/>
          </p:nvPr>
        </p:nvSpPr>
        <p:spPr>
          <a:xfrm>
            <a:off x="0" y="9119478"/>
            <a:ext cx="3169920" cy="481726"/>
          </a:xfrm>
          <a:prstGeom prst="rect">
            <a:avLst/>
          </a:prstGeom>
        </p:spPr>
        <p:txBody>
          <a:bodyPr vert="horz" lIns="96608" tIns="48304" rIns="96608" bIns="48304"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8"/>
            <a:ext cx="3169920" cy="481726"/>
          </a:xfrm>
          <a:prstGeom prst="rect">
            <a:avLst/>
          </a:prstGeom>
        </p:spPr>
        <p:txBody>
          <a:bodyPr vert="horz" lIns="96608" tIns="48304" rIns="96608" bIns="48304" rtlCol="0" anchor="b"/>
          <a:lstStyle>
            <a:lvl1pPr algn="r">
              <a:defRPr sz="1200"/>
            </a:lvl1pPr>
          </a:lstStyle>
          <a:p>
            <a:fld id="{03DCDAE4-7BEE-42B7-934A-0AC54FC009EB}" type="slidenum">
              <a:rPr lang="en-US" smtClean="0"/>
              <a:pPr/>
              <a:t>‹#›</a:t>
            </a:fld>
            <a:endParaRPr lang="en-US"/>
          </a:p>
        </p:txBody>
      </p:sp>
    </p:spTree>
    <p:extLst>
      <p:ext uri="{BB962C8B-B14F-4D97-AF65-F5344CB8AC3E}">
        <p14:creationId xmlns:p14="http://schemas.microsoft.com/office/powerpoint/2010/main" val="375062469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93725" y="704850"/>
            <a:ext cx="6346825" cy="3571875"/>
          </a:xfrm>
          <a:prstGeom prst="rect">
            <a:avLst/>
          </a:prstGeom>
          <a:noFill/>
          <a:ln w="12700">
            <a:solidFill>
              <a:prstClr val="black"/>
            </a:solidFill>
          </a:ln>
        </p:spPr>
        <p:txBody>
          <a:bodyPr vert="horz" lIns="96608" tIns="48304" rIns="96608" bIns="48304" rtlCol="0" anchor="ctr"/>
          <a:lstStyle/>
          <a:p>
            <a:endParaRPr lang="en-US"/>
          </a:p>
        </p:txBody>
      </p:sp>
      <p:sp>
        <p:nvSpPr>
          <p:cNvPr id="5" name="Notes Placeholder 4"/>
          <p:cNvSpPr>
            <a:spLocks noGrp="1"/>
          </p:cNvSpPr>
          <p:nvPr>
            <p:ph type="body" sz="quarter" idx="3"/>
          </p:nvPr>
        </p:nvSpPr>
        <p:spPr>
          <a:xfrm>
            <a:off x="601382" y="4685102"/>
            <a:ext cx="6342879" cy="3984179"/>
          </a:xfrm>
          <a:prstGeom prst="rect">
            <a:avLst/>
          </a:prstGeom>
        </p:spPr>
        <p:txBody>
          <a:bodyPr vert="horz" lIns="96608" tIns="48304" rIns="96608" bIns="4830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Header Placeholder 1"/>
          <p:cNvSpPr>
            <a:spLocks noGrp="1"/>
          </p:cNvSpPr>
          <p:nvPr>
            <p:ph type="hdr" sz="quarter"/>
          </p:nvPr>
        </p:nvSpPr>
        <p:spPr>
          <a:xfrm>
            <a:off x="3767151" y="121816"/>
            <a:ext cx="3152938" cy="468510"/>
          </a:xfrm>
          <a:prstGeom prst="rect">
            <a:avLst/>
          </a:prstGeom>
          <a:noFill/>
        </p:spPr>
        <p:txBody>
          <a:bodyPr vert="horz" lIns="0" tIns="0" rIns="0" bIns="0" rtlCol="0"/>
          <a:lstStyle>
            <a:lvl1pPr algn="l">
              <a:defRPr sz="1300">
                <a:solidFill>
                  <a:schemeClr val="bg1">
                    <a:lumMod val="50000"/>
                  </a:schemeClr>
                </a:solidFill>
                <a:latin typeface="+mn-lt"/>
              </a:defRPr>
            </a:lvl1pPr>
          </a:lstStyle>
          <a:p>
            <a:pPr algn="r"/>
            <a:r>
              <a:rPr lang="en-US" sz="1000" dirty="0">
                <a:cs typeface="Arial" pitchFamily="34" charset="0"/>
              </a:rPr>
              <a:t>Introduction and Initial Configuration</a:t>
            </a:r>
          </a:p>
        </p:txBody>
      </p:sp>
    </p:spTree>
    <p:extLst>
      <p:ext uri="{BB962C8B-B14F-4D97-AF65-F5344CB8AC3E}">
        <p14:creationId xmlns:p14="http://schemas.microsoft.com/office/powerpoint/2010/main" val="2720063067"/>
      </p:ext>
    </p:extLst>
  </p:cSld>
  <p:clrMap bg1="lt1" tx1="dk1" bg2="lt2" tx2="dk2" accent1="accent1" accent2="accent2" accent3="accent3" accent4="accent4" accent5="accent5" accent6="accent6" hlink="hlink" folHlink="folHlink"/>
  <p:hf sldNum="0" ftr="0" dt="0"/>
  <p:notesStyle>
    <a:lvl1pPr marL="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ttssh2.sourceforge.jp/index.html.en"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chiark.greenend.org.uk/~sgtatham/putty/download.html"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8281">
              <a:defRPr/>
            </a:pPr>
            <a:r>
              <a:rPr lang="en-US" b="0" dirty="0"/>
              <a:t>In</a:t>
            </a:r>
            <a:r>
              <a:rPr lang="en-US" b="0" baseline="0" dirty="0"/>
              <a:t> this lesson, you will learn about FortiGate administration basics and the components within FortiGate that </a:t>
            </a:r>
            <a:r>
              <a:rPr lang="en-US" b="0" baseline="0" dirty="0" smtClean="0"/>
              <a:t>you can enable </a:t>
            </a:r>
            <a:r>
              <a:rPr lang="en-US" b="0" baseline="0" dirty="0"/>
              <a:t>to extend functionality. This lesson also includes details about how and where FortiGate fits into your existing network architecture.</a:t>
            </a:r>
            <a:endParaRPr lang="en-CA" b="0"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378402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dirty="0"/>
              <a:t>In this lesson,</a:t>
            </a:r>
            <a:r>
              <a:rPr lang="en-CA" baseline="0" dirty="0"/>
              <a:t> </a:t>
            </a:r>
            <a:r>
              <a:rPr lang="en-CA" dirty="0"/>
              <a:t>you will explore the topics shown</a:t>
            </a:r>
            <a:r>
              <a:rPr lang="en-CA" baseline="0" dirty="0"/>
              <a:t> on this slide.</a:t>
            </a:r>
            <a:endParaRPr lang="en-CA" dirty="0"/>
          </a:p>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baseline="0" dirty="0"/>
              <a:t>After completing this section, you should be able to achieve </a:t>
            </a:r>
            <a:r>
              <a:rPr lang="en-US" dirty="0"/>
              <a:t>the objectives shown on this slide.</a:t>
            </a:r>
          </a:p>
          <a:p>
            <a:pPr defTabSz="913704">
              <a:defRPr/>
            </a:pPr>
            <a:endParaRPr lang="en-CA" dirty="0"/>
          </a:p>
          <a:p>
            <a:pPr defTabSz="913704">
              <a:defRPr/>
            </a:pPr>
            <a:r>
              <a:rPr lang="en-CA" baseline="0" dirty="0"/>
              <a:t>By demonstrating competence in identifying the platform design features of </a:t>
            </a:r>
            <a:r>
              <a:rPr lang="en-CA" baseline="0" dirty="0" smtClean="0"/>
              <a:t>FortiGate, FortiGate  features in </a:t>
            </a:r>
            <a:r>
              <a:rPr lang="en-CA" baseline="0" dirty="0"/>
              <a:t>virtualized networks and the cloud, as well as the FortiGate security processing units, you will be able to describe the fundamental components of FortiGate and explain the types of tasks that FortiGate can </a:t>
            </a:r>
            <a:r>
              <a:rPr lang="en-CA" baseline="0" dirty="0" smtClean="0"/>
              <a:t>perform.</a:t>
            </a:r>
            <a:endParaRPr lang="en-CA" baseline="0" dirty="0"/>
          </a:p>
          <a:p>
            <a:pPr defTabSz="913704">
              <a:defRPr/>
            </a:pPr>
            <a:endParaRPr lang="en-CA" dirty="0"/>
          </a:p>
          <a:p>
            <a:pPr defTabSz="913704">
              <a:defRPr/>
            </a:pPr>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dirty="0"/>
              <a:t>In the past,</a:t>
            </a:r>
            <a:r>
              <a:rPr lang="en-CA" baseline="0" dirty="0"/>
              <a:t> the common way of protecting a network was securing the perimeter and installing a firewall at the entry point. Network administrators used to trust everything and everyone inside the perimeter.</a:t>
            </a:r>
            <a:endParaRPr lang="en-CA" dirty="0"/>
          </a:p>
          <a:p>
            <a:endParaRPr lang="en-CA" dirty="0"/>
          </a:p>
          <a:p>
            <a:pPr defTabSz="913704">
              <a:defRPr/>
            </a:pPr>
            <a:r>
              <a:rPr lang="en-CA" dirty="0"/>
              <a:t>Now,</a:t>
            </a:r>
            <a:r>
              <a:rPr lang="en-CA" baseline="0" dirty="0"/>
              <a:t> malware can easily bypass any entry-point firewall and get inside the network. This could happen through an infected USB stick, or an employee’s compromised personal device being connected to the corporate network. Additionally, because attacks can come from inside the network, network administrators can no longer inherently trust internal users and devices.</a:t>
            </a:r>
            <a:endParaRPr lang="en-CA" dirty="0"/>
          </a:p>
          <a:p>
            <a:endParaRPr lang="en-CA" dirty="0"/>
          </a:p>
          <a:p>
            <a:r>
              <a:rPr lang="en-CA" dirty="0"/>
              <a:t>What’s more, today’s networks are highly complex environments whose borders are constantly changing.</a:t>
            </a:r>
            <a:r>
              <a:rPr lang="en-CA" baseline="0" dirty="0"/>
              <a:t> Networks run vertically from the LAN to the </a:t>
            </a:r>
            <a:r>
              <a:rPr lang="en-CA" baseline="0" dirty="0" smtClean="0"/>
              <a:t>internet</a:t>
            </a:r>
            <a:r>
              <a:rPr lang="en-CA" baseline="0" dirty="0"/>
              <a:t>, and horizontally from the physical network to a private virtual network and to the cloud. A mobile and diverse workforce (employees, partners, and customers) accessing network resources, public and private clouds, the </a:t>
            </a:r>
            <a:r>
              <a:rPr lang="en-CA" baseline="0" dirty="0" err="1" smtClean="0"/>
              <a:t>IoT</a:t>
            </a:r>
            <a:r>
              <a:rPr lang="en-CA" baseline="0" dirty="0" smtClean="0"/>
              <a:t>, </a:t>
            </a:r>
            <a:r>
              <a:rPr lang="en-CA" baseline="0" dirty="0"/>
              <a:t>and </a:t>
            </a:r>
            <a:r>
              <a:rPr lang="en-CA" baseline="0" dirty="0" smtClean="0"/>
              <a:t>BYOD </a:t>
            </a:r>
            <a:r>
              <a:rPr lang="en-CA" baseline="0" dirty="0"/>
              <a:t>programs all conspire to increase the number of attack vectors against your network.</a:t>
            </a:r>
          </a:p>
          <a:p>
            <a:endParaRPr lang="en-CA" baseline="0" dirty="0"/>
          </a:p>
          <a:p>
            <a:r>
              <a:rPr lang="en-CA" baseline="0" dirty="0"/>
              <a:t>In response to this highly complex environment, firewalls have become robust </a:t>
            </a:r>
            <a:r>
              <a:rPr lang="en-CA" baseline="0" dirty="0" smtClean="0"/>
              <a:t>multifunctional </a:t>
            </a:r>
            <a:r>
              <a:rPr lang="en-CA" baseline="0" dirty="0"/>
              <a:t>devices that counter an array of threats to your network. Thus, FortiGate can act in different modes or roles to address different requirements. For example, FortiGate can be deployed as a data center firewall whose function is to monitor inbound requests to servers and to protect them without increasing latency for the requester. Or, FortiGate can be deployed as an internal segmentation firewall as a means to contain a network breach.</a:t>
            </a:r>
          </a:p>
          <a:p>
            <a:endParaRPr lang="en-CA" baseline="0" dirty="0"/>
          </a:p>
          <a:p>
            <a:r>
              <a:rPr lang="en-CA" baseline="0" dirty="0"/>
              <a:t>FortiGate can also function as DNS and DHCP servers, and be configured to provide web filter, </a:t>
            </a:r>
            <a:r>
              <a:rPr lang="en-CA" baseline="0" dirty="0" smtClean="0"/>
              <a:t>antivirus</a:t>
            </a:r>
            <a:r>
              <a:rPr lang="en-CA" baseline="0" dirty="0"/>
              <a:t>, and IPS services.</a:t>
            </a:r>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4201062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p:txBody>
          <a:bodyPr/>
          <a:lstStyle/>
          <a:p>
            <a:r>
              <a:rPr lang="en-US" b="0" kern="1200" dirty="0">
                <a:solidFill>
                  <a:schemeClr val="tx1"/>
                </a:solidFill>
                <a:effectLst/>
                <a:ea typeface="+mn-ea"/>
                <a:cs typeface="Arial" pitchFamily="34" charset="0"/>
              </a:rPr>
              <a:t>In the architecture diagram shown on this</a:t>
            </a:r>
            <a:r>
              <a:rPr lang="en-US" b="0" kern="1200" baseline="0" dirty="0">
                <a:solidFill>
                  <a:schemeClr val="tx1"/>
                </a:solidFill>
                <a:effectLst/>
                <a:ea typeface="+mn-ea"/>
                <a:cs typeface="Arial" pitchFamily="34" charset="0"/>
              </a:rPr>
              <a:t> slide</a:t>
            </a:r>
            <a:r>
              <a:rPr lang="en-US" b="0" kern="1200" dirty="0">
                <a:solidFill>
                  <a:schemeClr val="tx1"/>
                </a:solidFill>
                <a:effectLst/>
                <a:ea typeface="+mn-ea"/>
                <a:cs typeface="Arial" pitchFamily="34" charset="0"/>
              </a:rPr>
              <a:t>, you can see how FortiGate platforms add strength, without compromising flexibility.</a:t>
            </a:r>
            <a:r>
              <a:rPr lang="en-US" b="0" kern="1200" baseline="0" dirty="0">
                <a:solidFill>
                  <a:schemeClr val="tx1"/>
                </a:solidFill>
                <a:effectLst/>
                <a:ea typeface="+mn-ea"/>
                <a:cs typeface="Arial" pitchFamily="34" charset="0"/>
              </a:rPr>
              <a:t> L</a:t>
            </a:r>
            <a:r>
              <a:rPr lang="en-US" b="0" kern="1200" dirty="0">
                <a:solidFill>
                  <a:schemeClr val="tx1"/>
                </a:solidFill>
                <a:effectLst/>
                <a:ea typeface="+mn-ea"/>
                <a:cs typeface="Arial" pitchFamily="34" charset="0"/>
              </a:rPr>
              <a:t>ike separate, dedicated</a:t>
            </a:r>
            <a:r>
              <a:rPr lang="en-US" b="0" kern="1200" baseline="0" dirty="0">
                <a:solidFill>
                  <a:schemeClr val="tx1"/>
                </a:solidFill>
                <a:effectLst/>
                <a:ea typeface="+mn-ea"/>
                <a:cs typeface="Arial" pitchFamily="34" charset="0"/>
              </a:rPr>
              <a:t> security devices, FortiGate </a:t>
            </a:r>
            <a:r>
              <a:rPr lang="en-US" b="0" kern="1200" dirty="0">
                <a:solidFill>
                  <a:schemeClr val="tx1"/>
                </a:solidFill>
                <a:effectLst/>
                <a:ea typeface="+mn-ea"/>
                <a:cs typeface="Arial" pitchFamily="34" charset="0"/>
              </a:rPr>
              <a:t>is still </a:t>
            </a:r>
            <a:r>
              <a:rPr lang="en-US" b="0" i="1" kern="1200" dirty="0">
                <a:solidFill>
                  <a:schemeClr val="tx1"/>
                </a:solidFill>
                <a:effectLst/>
                <a:ea typeface="+mn-ea"/>
                <a:cs typeface="Arial" pitchFamily="34" charset="0"/>
              </a:rPr>
              <a:t>internally</a:t>
            </a:r>
            <a:r>
              <a:rPr lang="en-US" b="0" kern="1200" dirty="0">
                <a:solidFill>
                  <a:schemeClr val="tx1"/>
                </a:solidFill>
                <a:effectLst/>
                <a:ea typeface="+mn-ea"/>
                <a:cs typeface="Arial" pitchFamily="34" charset="0"/>
              </a:rPr>
              <a:t> modular. Plus:</a:t>
            </a:r>
          </a:p>
          <a:p>
            <a:endParaRPr lang="en-US" b="0" kern="1200" dirty="0">
              <a:solidFill>
                <a:schemeClr val="tx1"/>
              </a:solidFill>
              <a:effectLst/>
              <a:ea typeface="+mn-ea"/>
              <a:cs typeface="Arial" pitchFamily="34" charset="0"/>
            </a:endParaRPr>
          </a:p>
          <a:p>
            <a:pPr marL="171323" indent="-171323">
              <a:buFont typeface="Arial" panose="020B0604020202020204" pitchFamily="34" charset="0"/>
              <a:buChar char="•"/>
            </a:pPr>
            <a:r>
              <a:rPr lang="en-US" b="1" kern="1200" dirty="0">
                <a:solidFill>
                  <a:schemeClr val="tx1"/>
                </a:solidFill>
                <a:effectLst/>
                <a:ea typeface="+mn-ea"/>
                <a:cs typeface="Arial" pitchFamily="34" charset="0"/>
              </a:rPr>
              <a:t>Devices add duplication.</a:t>
            </a:r>
            <a:r>
              <a:rPr lang="en-US" b="0" kern="1200" dirty="0">
                <a:solidFill>
                  <a:schemeClr val="tx1"/>
                </a:solidFill>
                <a:effectLst/>
                <a:ea typeface="+mn-ea"/>
                <a:cs typeface="Arial" pitchFamily="34" charset="0"/>
              </a:rPr>
              <a:t> Sometimes, dedication </a:t>
            </a:r>
            <a:r>
              <a:rPr lang="en-US" b="0" i="1" kern="1200" dirty="0">
                <a:solidFill>
                  <a:schemeClr val="tx1"/>
                </a:solidFill>
                <a:effectLst/>
                <a:ea typeface="+mn-ea"/>
                <a:cs typeface="Arial" pitchFamily="34" charset="0"/>
              </a:rPr>
              <a:t>doesn’t</a:t>
            </a:r>
            <a:r>
              <a:rPr lang="en-US" b="0" kern="1200" dirty="0">
                <a:solidFill>
                  <a:schemeClr val="tx1"/>
                </a:solidFill>
                <a:effectLst/>
                <a:ea typeface="+mn-ea"/>
                <a:cs typeface="Arial" pitchFamily="34" charset="0"/>
              </a:rPr>
              <a:t> mean efficiency. If it’s overloaded,</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can one device borrow free RAM from</a:t>
            </a:r>
            <a:r>
              <a:rPr lang="en-US" b="0" kern="1200" baseline="0" dirty="0">
                <a:solidFill>
                  <a:schemeClr val="tx1"/>
                </a:solidFill>
                <a:effectLst/>
                <a:ea typeface="+mn-ea"/>
                <a:cs typeface="Arial" pitchFamily="34" charset="0"/>
              </a:rPr>
              <a:t> nine</a:t>
            </a:r>
            <a:r>
              <a:rPr lang="en-US" b="0" kern="1200" dirty="0">
                <a:solidFill>
                  <a:schemeClr val="tx1"/>
                </a:solidFill>
                <a:effectLst/>
                <a:ea typeface="+mn-ea"/>
                <a:cs typeface="Arial" pitchFamily="34" charset="0"/>
              </a:rPr>
              <a:t> others? Do you want to configure policies, logging, and routing on 10 separate devices? Does 10 times the duplication bring you 10 times the benefit,</a:t>
            </a:r>
            <a:r>
              <a:rPr lang="en-US" b="0" kern="1200" baseline="0" dirty="0">
                <a:solidFill>
                  <a:schemeClr val="tx1"/>
                </a:solidFill>
                <a:effectLst/>
                <a:ea typeface="+mn-ea"/>
                <a:cs typeface="Arial" pitchFamily="34" charset="0"/>
              </a:rPr>
              <a:t> o</a:t>
            </a:r>
            <a:r>
              <a:rPr lang="en-US" b="0" kern="1200" dirty="0">
                <a:solidFill>
                  <a:schemeClr val="tx1"/>
                </a:solidFill>
                <a:effectLst/>
                <a:ea typeface="+mn-ea"/>
                <a:cs typeface="Arial" pitchFamily="34" charset="0"/>
              </a:rPr>
              <a:t>r is it a hassle? For smaller to midsize businesses or enterprise branch offices,</a:t>
            </a:r>
            <a:r>
              <a:rPr lang="en-US" b="0" kern="1200" baseline="0" dirty="0">
                <a:solidFill>
                  <a:schemeClr val="tx1"/>
                </a:solidFill>
                <a:effectLst/>
                <a:ea typeface="+mn-ea"/>
                <a:cs typeface="Arial" pitchFamily="34" charset="0"/>
              </a:rPr>
              <a:t> unified threat management (UTM) is often a superior solution, compared to separate dedicated appliances.</a:t>
            </a:r>
          </a:p>
          <a:p>
            <a:pPr marL="171323" indent="-171323">
              <a:buFont typeface="Arial" panose="020B0604020202020204" pitchFamily="34" charset="0"/>
              <a:buChar char="•"/>
            </a:pPr>
            <a:r>
              <a:rPr lang="en-US" b="1" kern="1200" dirty="0">
                <a:solidFill>
                  <a:schemeClr val="tx1"/>
                </a:solidFill>
                <a:effectLst/>
                <a:ea typeface="+mn-ea"/>
                <a:cs typeface="Arial" pitchFamily="34" charset="0"/>
              </a:rPr>
              <a:t>FortiGate hardware isn’t just off-the-shelf.</a:t>
            </a:r>
            <a:r>
              <a:rPr lang="en-US" b="0" kern="1200" dirty="0">
                <a:solidFill>
                  <a:schemeClr val="tx1"/>
                </a:solidFill>
                <a:effectLst/>
                <a:ea typeface="+mn-ea"/>
                <a:cs typeface="Arial" pitchFamily="34" charset="0"/>
              </a:rPr>
              <a:t> It’s carrier-grade.</a:t>
            </a:r>
            <a:r>
              <a:rPr lang="en-US" b="0" kern="1200" baseline="0" dirty="0">
                <a:solidFill>
                  <a:schemeClr val="tx1"/>
                </a:solidFill>
                <a:effectLst/>
                <a:ea typeface="+mn-ea"/>
                <a:cs typeface="Arial" pitchFamily="34" charset="0"/>
              </a:rPr>
              <a:t> M</a:t>
            </a:r>
            <a:r>
              <a:rPr lang="en-US" b="0" kern="1200" dirty="0">
                <a:solidFill>
                  <a:schemeClr val="tx1"/>
                </a:solidFill>
                <a:effectLst/>
                <a:ea typeface="+mn-ea"/>
                <a:cs typeface="Arial" pitchFamily="34" charset="0"/>
              </a:rPr>
              <a:t>ost FortiGate models have one or more specialized circuits, called ASICs, that are engineered by Fortinet. For example, a CP or NP chip handles cryptography and packet forwarding more efficiently. Compared to a single-purpose device with only a CPU, FortiGate can have dramatically better performance. This is especially critical for data centers and carriers where throughput is business critical.</a:t>
            </a:r>
            <a:br>
              <a:rPr lang="en-US" b="0" kern="1200" dirty="0">
                <a:solidFill>
                  <a:schemeClr val="tx1"/>
                </a:solidFill>
                <a:effectLst/>
                <a:ea typeface="+mn-ea"/>
                <a:cs typeface="Arial" pitchFamily="34" charset="0"/>
              </a:rPr>
            </a:br>
            <a:r>
              <a:rPr lang="en-US" b="0" kern="1200" dirty="0">
                <a:solidFill>
                  <a:schemeClr val="tx1"/>
                </a:solidFill>
                <a:effectLst/>
                <a:ea typeface="+mn-ea"/>
                <a:cs typeface="Arial" pitchFamily="34" charset="0"/>
              </a:rPr>
              <a:t>(The exception? Virtualization platforms—VMware, Citrix Xen, Microsoft, or Oracle Virtual Box—have general-purpose vCPUs. But, virtualization might be worthwhile because of other benefits, such as distributed computing and cloud-based security.)</a:t>
            </a:r>
          </a:p>
          <a:p>
            <a:pPr marL="171323" indent="-171323">
              <a:buFont typeface="Arial" panose="020B0604020202020204" pitchFamily="34" charset="0"/>
              <a:buChar char="•"/>
            </a:pPr>
            <a:r>
              <a:rPr lang="en-US" b="1" kern="1200" dirty="0">
                <a:solidFill>
                  <a:schemeClr val="tx1"/>
                </a:solidFill>
                <a:effectLst/>
                <a:ea typeface="+mn-ea"/>
                <a:cs typeface="Arial" pitchFamily="34" charset="0"/>
              </a:rPr>
              <a:t>FortiGate is flexible.</a:t>
            </a:r>
            <a:r>
              <a:rPr lang="en-US" b="0" kern="1200" dirty="0">
                <a:solidFill>
                  <a:schemeClr val="tx1"/>
                </a:solidFill>
                <a:effectLst/>
                <a:ea typeface="+mn-ea"/>
                <a:cs typeface="Arial" pitchFamily="34" charset="0"/>
              </a:rPr>
              <a:t> If all you need is fast firewalling and antivirus, FortiGate won’t require you to waste CPU, RAM, and electricity on other features. In each firewall policy, </a:t>
            </a:r>
            <a:r>
              <a:rPr lang="en-US" b="0" kern="1200" dirty="0" smtClean="0">
                <a:solidFill>
                  <a:schemeClr val="tx1"/>
                </a:solidFill>
                <a:effectLst/>
                <a:ea typeface="+mn-ea"/>
                <a:cs typeface="Arial" pitchFamily="34" charset="0"/>
              </a:rPr>
              <a:t>you can enable or disable UTM </a:t>
            </a:r>
            <a:r>
              <a:rPr lang="en-US" b="0" kern="1200" dirty="0">
                <a:solidFill>
                  <a:schemeClr val="tx1"/>
                </a:solidFill>
                <a:effectLst/>
                <a:ea typeface="+mn-ea"/>
                <a:cs typeface="Arial" pitchFamily="34" charset="0"/>
              </a:rPr>
              <a:t>and next-generation</a:t>
            </a:r>
            <a:r>
              <a:rPr lang="en-US" b="0" kern="1200" baseline="0" dirty="0">
                <a:solidFill>
                  <a:schemeClr val="tx1"/>
                </a:solidFill>
                <a:effectLst/>
                <a:ea typeface="+mn-ea"/>
                <a:cs typeface="Arial" pitchFamily="34" charset="0"/>
              </a:rPr>
              <a:t> firewall </a:t>
            </a:r>
            <a:r>
              <a:rPr lang="en-US" b="0" kern="1200" dirty="0" smtClean="0">
                <a:solidFill>
                  <a:schemeClr val="tx1"/>
                </a:solidFill>
                <a:effectLst/>
                <a:ea typeface="+mn-ea"/>
                <a:cs typeface="Arial" pitchFamily="34" charset="0"/>
              </a:rPr>
              <a:t>modules. </a:t>
            </a:r>
            <a:r>
              <a:rPr lang="en-US" b="0" kern="1200" dirty="0">
                <a:solidFill>
                  <a:schemeClr val="tx1"/>
                </a:solidFill>
                <a:effectLst/>
                <a:ea typeface="+mn-ea"/>
                <a:cs typeface="Arial" pitchFamily="34" charset="0"/>
              </a:rPr>
              <a:t>Also,</a:t>
            </a:r>
            <a:r>
              <a:rPr lang="en-US" b="0" kern="1200" baseline="0" dirty="0">
                <a:solidFill>
                  <a:schemeClr val="tx1"/>
                </a:solidFill>
                <a:effectLst/>
                <a:ea typeface="+mn-ea"/>
                <a:cs typeface="Arial" pitchFamily="34" charset="0"/>
              </a:rPr>
              <a:t> y</a:t>
            </a:r>
            <a:r>
              <a:rPr lang="en-US" b="0" kern="1200" dirty="0">
                <a:solidFill>
                  <a:schemeClr val="tx1"/>
                </a:solidFill>
                <a:effectLst/>
                <a:ea typeface="+mn-ea"/>
                <a:cs typeface="Arial" pitchFamily="34" charset="0"/>
              </a:rPr>
              <a:t>ou won’t pay more to add VPN seat licenses later. </a:t>
            </a:r>
          </a:p>
          <a:p>
            <a:pPr marL="171323" indent="-171323">
              <a:buFont typeface="Arial" panose="020B0604020202020204" pitchFamily="34" charset="0"/>
              <a:buChar char="•"/>
            </a:pPr>
            <a:r>
              <a:rPr lang="en-US" b="1" kern="1200" dirty="0">
                <a:solidFill>
                  <a:schemeClr val="tx1"/>
                </a:solidFill>
                <a:effectLst/>
                <a:ea typeface="+mn-ea"/>
                <a:cs typeface="Arial" pitchFamily="34" charset="0"/>
              </a:rPr>
              <a:t>FortiGate cooperates.</a:t>
            </a:r>
            <a:r>
              <a:rPr lang="en-US" b="0" kern="1200" dirty="0">
                <a:solidFill>
                  <a:schemeClr val="tx1"/>
                </a:solidFill>
                <a:effectLst/>
                <a:ea typeface="+mn-ea"/>
                <a:cs typeface="Arial" pitchFamily="34" charset="0"/>
              </a:rPr>
              <a:t> </a:t>
            </a:r>
            <a:r>
              <a:rPr lang="en-US" b="0" kern="1200" baseline="0" dirty="0">
                <a:solidFill>
                  <a:schemeClr val="tx1"/>
                </a:solidFill>
                <a:effectLst/>
                <a:ea typeface="+mn-ea"/>
                <a:cs typeface="Arial" pitchFamily="34" charset="0"/>
              </a:rPr>
              <a:t>A preference for open standards instead of proprietary protocols means less vendor lock-in and more choice for system integrators. </a:t>
            </a:r>
            <a:r>
              <a:rPr lang="en-US" b="0" kern="1200" dirty="0">
                <a:solidFill>
                  <a:schemeClr val="tx1"/>
                </a:solidFill>
                <a:effectLst/>
                <a:ea typeface="+mn-ea"/>
                <a:cs typeface="Arial" pitchFamily="34" charset="0"/>
              </a:rPr>
              <a:t>And, as your network grows, FortiGate can leverage</a:t>
            </a:r>
            <a:r>
              <a:rPr lang="en-US" b="0" kern="1200" baseline="0" dirty="0">
                <a:solidFill>
                  <a:schemeClr val="tx1"/>
                </a:solidFill>
                <a:effectLst/>
                <a:ea typeface="+mn-ea"/>
                <a:cs typeface="Arial" pitchFamily="34" charset="0"/>
              </a:rPr>
              <a:t> other Fortinet </a:t>
            </a:r>
            <a:r>
              <a:rPr lang="en-US" b="0" kern="1200" baseline="0" dirty="0" smtClean="0">
                <a:solidFill>
                  <a:schemeClr val="tx1"/>
                </a:solidFill>
                <a:effectLst/>
                <a:ea typeface="+mn-ea"/>
                <a:cs typeface="Arial" pitchFamily="34" charset="0"/>
              </a:rPr>
              <a:t>products, </a:t>
            </a:r>
            <a:r>
              <a:rPr lang="en-US" b="0" kern="1200" baseline="0" dirty="0">
                <a:solidFill>
                  <a:schemeClr val="tx1"/>
                </a:solidFill>
                <a:effectLst/>
                <a:ea typeface="+mn-ea"/>
                <a:cs typeface="Arial" pitchFamily="34" charset="0"/>
              </a:rPr>
              <a:t>such as FortiSandbox and </a:t>
            </a:r>
            <a:r>
              <a:rPr lang="en-US" b="0" kern="1200" baseline="0" dirty="0" err="1" smtClean="0">
                <a:solidFill>
                  <a:schemeClr val="tx1"/>
                </a:solidFill>
                <a:effectLst/>
                <a:ea typeface="+mn-ea"/>
                <a:cs typeface="Arial" pitchFamily="34" charset="0"/>
              </a:rPr>
              <a:t>FortiWeb</a:t>
            </a:r>
            <a:r>
              <a:rPr lang="en-US" b="0" kern="1200" baseline="0" dirty="0" smtClean="0">
                <a:solidFill>
                  <a:schemeClr val="tx1"/>
                </a:solidFill>
                <a:effectLst/>
                <a:ea typeface="+mn-ea"/>
                <a:cs typeface="Arial" pitchFamily="34" charset="0"/>
              </a:rPr>
              <a:t>, </a:t>
            </a:r>
            <a:r>
              <a:rPr lang="en-US" b="0" kern="1200" baseline="0" dirty="0">
                <a:solidFill>
                  <a:schemeClr val="tx1"/>
                </a:solidFill>
                <a:effectLst/>
                <a:ea typeface="+mn-ea"/>
                <a:cs typeface="Arial" pitchFamily="34" charset="0"/>
              </a:rPr>
              <a:t>to distribute processing for deeper security and optimal performance</a:t>
            </a:r>
            <a:r>
              <a:rPr lang="en-US" b="0" kern="1200" dirty="0">
                <a:solidFill>
                  <a:schemeClr val="tx1"/>
                </a:solidFill>
                <a:effectLst/>
                <a:ea typeface="+mn-ea"/>
                <a:cs typeface="Arial" pitchFamily="34" charset="0"/>
              </a:rPr>
              <a:t>—</a:t>
            </a:r>
            <a:r>
              <a:rPr lang="en-US" b="0" kern="1200" baseline="0" dirty="0">
                <a:solidFill>
                  <a:schemeClr val="tx1"/>
                </a:solidFill>
                <a:effectLst/>
                <a:ea typeface="+mn-ea"/>
                <a:cs typeface="Arial" pitchFamily="34" charset="0"/>
              </a:rPr>
              <a:t>a total Security Fabric approach. </a:t>
            </a:r>
            <a:endParaRPr lang="en-US" b="1"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57046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0" baseline="0" dirty="0"/>
              <a:t>FortiGate </a:t>
            </a:r>
            <a:r>
              <a:rPr lang="en-US" b="0" baseline="0" dirty="0" smtClean="0"/>
              <a:t>VMs </a:t>
            </a:r>
            <a:r>
              <a:rPr lang="en-US" b="0" baseline="0" dirty="0"/>
              <a:t>have the same features as physical </a:t>
            </a:r>
            <a:r>
              <a:rPr lang="en-US" b="0" baseline="0" dirty="0" smtClean="0"/>
              <a:t>FortiGate devices</a:t>
            </a:r>
            <a:r>
              <a:rPr lang="en-US" b="1" baseline="0" dirty="0" smtClean="0"/>
              <a:t>, </a:t>
            </a:r>
            <a:r>
              <a:rPr lang="en-US" b="0" i="1" baseline="0" dirty="0"/>
              <a:t>except</a:t>
            </a:r>
            <a:r>
              <a:rPr lang="en-US" b="1" baseline="0" dirty="0"/>
              <a:t> </a:t>
            </a:r>
            <a:r>
              <a:rPr lang="en-US" b="0" baseline="0" dirty="0"/>
              <a:t>for hardware acceleration</a:t>
            </a:r>
            <a:r>
              <a:rPr lang="en-US" b="1" baseline="0" dirty="0"/>
              <a:t>.</a:t>
            </a:r>
            <a:r>
              <a:rPr lang="en-US" baseline="0" dirty="0"/>
              <a:t> Why? First, the hardware abstraction layer software for hypervisors is made by VMware, Xen, and other hypervisor manufacturers, </a:t>
            </a:r>
            <a:r>
              <a:rPr lang="en-US" i="1" baseline="0" dirty="0"/>
              <a:t>not</a:t>
            </a:r>
            <a:r>
              <a:rPr lang="en-US" baseline="0" dirty="0"/>
              <a:t> by Fortinet. Those other manufacturers don’t make </a:t>
            </a:r>
            <a:r>
              <a:rPr lang="en-US" baseline="0" dirty="0" smtClean="0"/>
              <a:t>the Fortinet </a:t>
            </a:r>
            <a:r>
              <a:rPr lang="en-US" baseline="0" dirty="0"/>
              <a:t>proprietary SPU chips. But there is another reason, too. The purpose of generic virtual CPUs and other virtual chips for hypervisors is to abstract the hardware details. That way, all VM guest OSs can run on a common platform, no matter the different hardware on which the hypervisors are installed. Unlike vCPUs or </a:t>
            </a:r>
            <a:r>
              <a:rPr lang="en-US" baseline="0" dirty="0" err="1"/>
              <a:t>vGPUs</a:t>
            </a:r>
            <a:r>
              <a:rPr lang="en-US" baseline="0" dirty="0"/>
              <a:t> that use generic, </a:t>
            </a:r>
            <a:r>
              <a:rPr lang="en-US" i="1" baseline="0" dirty="0"/>
              <a:t>non-optimal</a:t>
            </a:r>
            <a:r>
              <a:rPr lang="en-US" baseline="0" dirty="0"/>
              <a:t> RAM and vCPUs for abstraction, SPU chips are specialized </a:t>
            </a:r>
            <a:r>
              <a:rPr lang="en-US" i="1" baseline="0" dirty="0"/>
              <a:t>optimized</a:t>
            </a:r>
            <a:r>
              <a:rPr lang="en-US" baseline="0" dirty="0"/>
              <a:t> circuits. Therefore, a virtualized ASIC chip would not have the same performance benefits as a physical SPU chip.</a:t>
            </a:r>
          </a:p>
          <a:p>
            <a:endParaRPr lang="en-US" baseline="0" dirty="0"/>
          </a:p>
          <a:p>
            <a:r>
              <a:rPr lang="en-US" baseline="0" dirty="0"/>
              <a:t>If performance on equivalent hardware is less, </a:t>
            </a:r>
            <a:r>
              <a:rPr lang="en-US" baseline="0" dirty="0" smtClean="0"/>
              <a:t>you may wonder why anyone would use a FortiGate VM. In </a:t>
            </a:r>
            <a:r>
              <a:rPr lang="en-US" baseline="0" dirty="0"/>
              <a:t>large-scale networks that change rapidly and may have many tenants, equivalent processing power and distribution may be achievable using larger amounts of cheaper, general purpose hardware. Also, trading some performance for other benefits may be worth it. You can benefit from faster network and appliance deployment and teardown</a:t>
            </a:r>
            <a:r>
              <a:rPr lang="en-US" baseline="0" dirty="0" smtClean="0"/>
              <a:t>.</a:t>
            </a:r>
          </a:p>
          <a:p>
            <a:endParaRPr lang="en-GB" baseline="0" dirty="0" smtClean="0"/>
          </a:p>
          <a:p>
            <a:r>
              <a:rPr lang="en-GB" baseline="0" dirty="0" smtClean="0"/>
              <a:t>Either VMs or physical appliances (low or high-end models), the configuration of the security instances is essentially identical, using </a:t>
            </a:r>
            <a:r>
              <a:rPr lang="en-US" dirty="0" smtClean="0"/>
              <a:t>same </a:t>
            </a:r>
            <a:r>
              <a:rPr lang="en-US" dirty="0" err="1" smtClean="0"/>
              <a:t>FortiOS</a:t>
            </a:r>
            <a:r>
              <a:rPr lang="en-US" dirty="0" smtClean="0"/>
              <a:t> version and FortiGuard real-time threat intelligence.</a:t>
            </a:r>
            <a:endParaRPr lang="en-US" baseline="0" dirty="0"/>
          </a:p>
          <a:p>
            <a:endParaRPr lang="en-GB" baseline="0" dirty="0" smtClean="0"/>
          </a:p>
          <a:p>
            <a:endParaRPr lang="en-US" baseline="0" dirty="0"/>
          </a:p>
        </p:txBody>
      </p:sp>
      <p:sp>
        <p:nvSpPr>
          <p:cNvPr id="7" name="Slide Image Placeholder 6"/>
          <p:cNvSpPr>
            <a:spLocks noGrp="1" noRot="1" noChangeAspect="1"/>
          </p:cNvSpPr>
          <p:nvPr>
            <p:ph type="sldImg"/>
          </p:nvPr>
        </p:nvSpPr>
        <p:spPr/>
      </p:sp>
      <p:sp>
        <p:nvSpPr>
          <p:cNvPr id="4" name="Header Placeholder 3"/>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362355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553922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baseline="0" dirty="0"/>
              <a:t>Good job! You now understand some of the high-level features of FortiGate. </a:t>
            </a:r>
          </a:p>
          <a:p>
            <a:pPr defTabSz="913704">
              <a:defRPr/>
            </a:pPr>
            <a:endParaRPr lang="en-CA" baseline="0" dirty="0"/>
          </a:p>
          <a:p>
            <a:pPr defTabSz="913704">
              <a:defRPr/>
            </a:pPr>
            <a:r>
              <a:rPr lang="en-CA" baseline="0" dirty="0"/>
              <a:t>Now, you will learn how to perform the initial setup of FortiGate and learn about why you might decide to use one configuration over another.</a:t>
            </a:r>
            <a:endParaRPr lang="en-CA" dirty="0"/>
          </a:p>
          <a:p>
            <a:pPr defTabSz="913704">
              <a:defRPr/>
            </a:pPr>
            <a:endParaRPr lang="en-CA" baseline="0"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baseline="0" dirty="0"/>
              <a:t>After completing this section, you should be able to </a:t>
            </a:r>
            <a:r>
              <a:rPr lang="en-US" dirty="0"/>
              <a:t>achieve the objectives shown on this slide.</a:t>
            </a:r>
          </a:p>
          <a:p>
            <a:pPr defTabSz="913704">
              <a:defRPr/>
            </a:pPr>
            <a:endParaRPr lang="en-CA" baseline="0" dirty="0"/>
          </a:p>
          <a:p>
            <a:pPr defTabSz="913704">
              <a:defRPr/>
            </a:pPr>
            <a:r>
              <a:rPr lang="en-CA" baseline="0" dirty="0"/>
              <a:t>By demonstrating competence in setting up FortiGate, you will be able to use the device effectively in your own network.</a:t>
            </a:r>
            <a:endParaRPr lang="en-CA" dirty="0"/>
          </a:p>
          <a:p>
            <a:pPr defTabSz="913704">
              <a:defRPr/>
            </a:pPr>
            <a:endParaRPr lang="en-CA" baseline="0"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p:txBody>
          <a:bodyPr/>
          <a:lstStyle/>
          <a:p>
            <a:r>
              <a:rPr lang="en-US" b="0" kern="1200" dirty="0">
                <a:solidFill>
                  <a:schemeClr val="tx1"/>
                </a:solidFill>
                <a:effectLst/>
                <a:ea typeface="+mn-ea"/>
                <a:cs typeface="Arial" pitchFamily="34" charset="0"/>
              </a:rPr>
              <a:t>Network address translation (NAT) mode is the default operation mode. What are the other factory default settings? After you’ve removed FortiGate from its box, what do you do next?</a:t>
            </a: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Now you’ll take</a:t>
            </a:r>
            <a:r>
              <a:rPr lang="en-US" b="0" kern="1200" baseline="0" dirty="0">
                <a:solidFill>
                  <a:schemeClr val="tx1"/>
                </a:solidFill>
                <a:effectLst/>
                <a:ea typeface="+mn-ea"/>
                <a:cs typeface="Arial" pitchFamily="34" charset="0"/>
              </a:rPr>
              <a:t> a look at how you </a:t>
            </a:r>
            <a:r>
              <a:rPr lang="en-US" b="0" kern="1200" dirty="0">
                <a:solidFill>
                  <a:schemeClr val="tx1"/>
                </a:solidFill>
                <a:effectLst/>
                <a:ea typeface="+mn-ea"/>
                <a:cs typeface="Arial" pitchFamily="34" charset="0"/>
              </a:rPr>
              <a:t>set up FortiGate.</a:t>
            </a:r>
          </a:p>
          <a:p>
            <a:endParaRPr lang="en-US" b="0" kern="1200" dirty="0">
              <a:solidFill>
                <a:schemeClr val="tx1"/>
              </a:solidFill>
              <a:effectLst/>
              <a:ea typeface="+mn-ea"/>
              <a:cs typeface="Arial" pitchFamily="34" charset="0"/>
            </a:endParaRPr>
          </a:p>
          <a:p>
            <a:pPr defTabSz="913731">
              <a:defRPr/>
            </a:pPr>
            <a:r>
              <a:rPr lang="en-US" b="0" kern="1200" dirty="0">
                <a:solidFill>
                  <a:schemeClr val="tx1"/>
                </a:solidFill>
                <a:effectLst/>
                <a:ea typeface="+mn-ea"/>
                <a:cs typeface="Arial" pitchFamily="34" charset="0"/>
              </a:rPr>
              <a:t>Attach your </a:t>
            </a:r>
            <a:r>
              <a:rPr lang="en-US" b="0" kern="1200" dirty="0" smtClean="0">
                <a:solidFill>
                  <a:schemeClr val="tx1"/>
                </a:solidFill>
                <a:effectLst/>
                <a:ea typeface="+mn-ea"/>
                <a:cs typeface="Arial" pitchFamily="34" charset="0"/>
              </a:rPr>
              <a:t>computer</a:t>
            </a:r>
            <a:r>
              <a:rPr lang="en-US" b="0" kern="1200" baseline="0" dirty="0" smtClean="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network </a:t>
            </a:r>
            <a:r>
              <a:rPr lang="en-US" b="0" kern="1200" dirty="0">
                <a:solidFill>
                  <a:schemeClr val="tx1"/>
                </a:solidFill>
                <a:effectLst/>
                <a:ea typeface="+mn-ea"/>
                <a:cs typeface="Arial" pitchFamily="34" charset="0"/>
              </a:rPr>
              <a:t>cable to port1 or the internal switch ports </a:t>
            </a:r>
            <a:r>
              <a:rPr lang="en-US" b="0" kern="1200" dirty="0" smtClean="0">
                <a:solidFill>
                  <a:schemeClr val="tx1"/>
                </a:solidFill>
                <a:effectLst/>
                <a:ea typeface="+mn-ea"/>
                <a:cs typeface="Arial" pitchFamily="34" charset="0"/>
              </a:rPr>
              <a:t>(on the entry</a:t>
            </a:r>
            <a:r>
              <a:rPr lang="en-US" b="0" kern="1200" baseline="0" dirty="0" smtClean="0">
                <a:solidFill>
                  <a:schemeClr val="tx1"/>
                </a:solidFill>
                <a:effectLst/>
                <a:ea typeface="+mn-ea"/>
                <a:cs typeface="Arial" pitchFamily="34" charset="0"/>
              </a:rPr>
              <a:t>-level </a:t>
            </a:r>
            <a:r>
              <a:rPr lang="en-US" b="0" kern="1200" dirty="0">
                <a:solidFill>
                  <a:schemeClr val="tx1"/>
                </a:solidFill>
                <a:effectLst/>
                <a:ea typeface="+mn-ea"/>
                <a:cs typeface="Arial" pitchFamily="34" charset="0"/>
              </a:rPr>
              <a:t>model). For high-end and mid</a:t>
            </a:r>
            <a:r>
              <a:rPr lang="en-US" b="0" kern="1200" baseline="0" dirty="0">
                <a:solidFill>
                  <a:schemeClr val="tx1"/>
                </a:solidFill>
                <a:effectLst/>
                <a:ea typeface="+mn-ea"/>
                <a:cs typeface="Arial" pitchFamily="34" charset="0"/>
              </a:rPr>
              <a:t>-range models, connect to the MGMT interface. </a:t>
            </a:r>
            <a:r>
              <a:rPr lang="en-US" b="0" kern="1200" dirty="0">
                <a:solidFill>
                  <a:schemeClr val="tx1"/>
                </a:solidFill>
                <a:effectLst/>
                <a:ea typeface="+mn-ea"/>
                <a:cs typeface="Arial" pitchFamily="34" charset="0"/>
              </a:rPr>
              <a:t>In most </a:t>
            </a:r>
            <a:r>
              <a:rPr lang="en-US" b="0" kern="1200" dirty="0" smtClean="0">
                <a:solidFill>
                  <a:schemeClr val="tx1"/>
                </a:solidFill>
                <a:effectLst/>
                <a:ea typeface="+mn-ea"/>
                <a:cs typeface="Arial" pitchFamily="34" charset="0"/>
              </a:rPr>
              <a:t>entry-level </a:t>
            </a:r>
            <a:r>
              <a:rPr lang="en-US" b="0" kern="1200" dirty="0">
                <a:solidFill>
                  <a:schemeClr val="tx1"/>
                </a:solidFill>
                <a:effectLst/>
                <a:ea typeface="+mn-ea"/>
                <a:cs typeface="Arial" pitchFamily="34" charset="0"/>
              </a:rPr>
              <a:t>models, there</a:t>
            </a:r>
            <a:r>
              <a:rPr lang="en-US" b="0" kern="1200" baseline="0" dirty="0">
                <a:solidFill>
                  <a:schemeClr val="tx1"/>
                </a:solidFill>
                <a:effectLst/>
                <a:ea typeface="+mn-ea"/>
                <a:cs typeface="Arial" pitchFamily="34" charset="0"/>
              </a:rPr>
              <a:t> is a DHCP server on that interface, so, if your computer’s network settings have DHCP enabled, your computer should automatically get an IP, and you can begin setup. </a:t>
            </a:r>
            <a:endParaRPr lang="en-US" b="0" kern="1200" dirty="0">
              <a:solidFill>
                <a:schemeClr val="tx1"/>
              </a:solidFill>
              <a:effectLst/>
              <a:ea typeface="+mn-ea"/>
              <a:cs typeface="Arial" pitchFamily="34" charset="0"/>
            </a:endParaRPr>
          </a:p>
          <a:p>
            <a:pPr defTabSz="913731">
              <a:defRPr/>
            </a:pPr>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To access the GUI on FortiGate or FortiWifi, open a web browser and </a:t>
            </a:r>
            <a:r>
              <a:rPr lang="en-US" b="0" kern="1200" dirty="0" smtClean="0">
                <a:solidFill>
                  <a:schemeClr val="tx1"/>
                </a:solidFill>
                <a:effectLst/>
                <a:ea typeface="+mn-ea"/>
                <a:cs typeface="Arial" pitchFamily="34" charset="0"/>
              </a:rPr>
              <a:t>visit </a:t>
            </a:r>
            <a:r>
              <a:rPr lang="en-US" b="0" kern="1200" dirty="0">
                <a:solidFill>
                  <a:schemeClr val="tx1"/>
                </a:solidFill>
                <a:effectLst/>
                <a:latin typeface="Courier New" panose="02070309020205020404" pitchFamily="49" charset="0"/>
                <a:ea typeface="+mn-ea"/>
                <a:cs typeface="Courier New" panose="02070309020205020404" pitchFamily="49" charset="0"/>
              </a:rPr>
              <a:t>https://192.168.1.99</a:t>
            </a:r>
            <a:r>
              <a:rPr lang="en-US" b="0" kern="1200" dirty="0">
                <a:solidFill>
                  <a:schemeClr val="tx1"/>
                </a:solidFill>
                <a:effectLst/>
                <a:ea typeface="+mn-ea"/>
                <a:cs typeface="Arial" pitchFamily="34" charset="0"/>
              </a:rPr>
              <a:t>. </a:t>
            </a:r>
            <a:endParaRPr lang="en-US" b="0" kern="1200" baseline="0" dirty="0">
              <a:solidFill>
                <a:schemeClr val="tx1"/>
              </a:solidFill>
              <a:effectLst/>
              <a:ea typeface="+mn-ea"/>
              <a:cs typeface="Arial" pitchFamily="34" charset="0"/>
            </a:endParaRPr>
          </a:p>
          <a:p>
            <a:endParaRPr lang="en-US" b="0" kern="1200" baseline="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The default login information</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is public knowledge. Never leave the default password blank. Your network is only as secure as your </a:t>
            </a:r>
            <a:r>
              <a:rPr lang="en-US" b="0" kern="1200" dirty="0" smtClean="0">
                <a:solidFill>
                  <a:schemeClr val="tx1"/>
                </a:solidFill>
                <a:effectLst/>
                <a:ea typeface="+mn-ea"/>
                <a:cs typeface="Arial" pitchFamily="34" charset="0"/>
              </a:rPr>
              <a:t>FortiGate </a:t>
            </a:r>
            <a:r>
              <a:rPr lang="en-US" b="0" kern="1200" dirty="0">
                <a:solidFill>
                  <a:schemeClr val="tx1"/>
                </a:solidFill>
                <a:effectLst/>
                <a:latin typeface="Courier New" panose="02070309020205020404" pitchFamily="49" charset="0"/>
                <a:ea typeface="+mn-ea"/>
                <a:cs typeface="Courier New" panose="02070309020205020404" pitchFamily="49" charset="0"/>
              </a:rPr>
              <a:t>admin</a:t>
            </a:r>
            <a:r>
              <a:rPr lang="en-US" b="0" kern="1200" dirty="0">
                <a:solidFill>
                  <a:schemeClr val="tx1"/>
                </a:solidFill>
                <a:effectLst/>
                <a:ea typeface="+mn-ea"/>
                <a:cs typeface="Arial" pitchFamily="34" charset="0"/>
              </a:rPr>
              <a:t> account. Once you logged in with default login details, </a:t>
            </a:r>
            <a:r>
              <a:rPr lang="en-US" sz="1000" b="0" kern="1200" dirty="0">
                <a:solidFill>
                  <a:schemeClr val="tx1"/>
                </a:solidFill>
                <a:effectLst/>
                <a:latin typeface="Arial" panose="020B0604020202020204" pitchFamily="34" charset="0"/>
                <a:ea typeface="+mn-ea"/>
                <a:cs typeface="Arial" panose="020B0604020202020204" pitchFamily="34" charset="0"/>
              </a:rPr>
              <a:t>y</a:t>
            </a:r>
            <a:r>
              <a:rPr lang="en-US" sz="1000" kern="1200" dirty="0">
                <a:solidFill>
                  <a:schemeClr val="tx1"/>
                </a:solidFill>
                <a:effectLst/>
                <a:latin typeface="Arial" panose="020B0604020202020204" pitchFamily="34" charset="0"/>
                <a:ea typeface="+mn-ea"/>
                <a:cs typeface="Arial" panose="020B0604020202020204" pitchFamily="34" charset="0"/>
              </a:rPr>
              <a:t>ou'll</a:t>
            </a:r>
            <a:r>
              <a:rPr lang="en-US" sz="1000" kern="1200" baseline="0" dirty="0">
                <a:solidFill>
                  <a:schemeClr val="tx1"/>
                </a:solidFill>
                <a:effectLst/>
                <a:latin typeface="Arial" panose="020B0604020202020204" pitchFamily="34" charset="0"/>
                <a:ea typeface="+mn-ea"/>
                <a:cs typeface="Arial" panose="020B0604020202020204" pitchFamily="34" charset="0"/>
              </a:rPr>
              <a:t> see a message </a:t>
            </a:r>
            <a:r>
              <a:rPr lang="en-US" sz="1000" kern="1200" dirty="0">
                <a:solidFill>
                  <a:schemeClr val="tx1"/>
                </a:solidFill>
                <a:effectLst/>
                <a:latin typeface="Arial" panose="020B0604020202020204" pitchFamily="34" charset="0"/>
                <a:ea typeface="+mn-ea"/>
                <a:cs typeface="Arial" panose="020B0604020202020204" pitchFamily="34" charset="0"/>
              </a:rPr>
              <a:t>to </a:t>
            </a:r>
            <a:r>
              <a:rPr lang="en-US" sz="1000" kern="1200" dirty="0" smtClean="0">
                <a:solidFill>
                  <a:schemeClr val="tx1"/>
                </a:solidFill>
                <a:effectLst/>
                <a:latin typeface="Arial" panose="020B0604020202020204" pitchFamily="34" charset="0"/>
                <a:ea typeface="+mn-ea"/>
                <a:cs typeface="Arial" panose="020B0604020202020204" pitchFamily="34" charset="0"/>
              </a:rPr>
              <a:t>change the </a:t>
            </a:r>
            <a:r>
              <a:rPr lang="en-US" sz="1000" kern="1200" dirty="0">
                <a:solidFill>
                  <a:schemeClr val="tx1"/>
                </a:solidFill>
                <a:effectLst/>
                <a:latin typeface="Arial" panose="020B0604020202020204" pitchFamily="34" charset="0"/>
                <a:ea typeface="+mn-ea"/>
                <a:cs typeface="Arial" panose="020B0604020202020204" pitchFamily="34" charset="0"/>
              </a:rPr>
              <a:t>default blank password for </a:t>
            </a:r>
            <a:r>
              <a:rPr lang="en-US" sz="1000" kern="1200" dirty="0" smtClean="0">
                <a:solidFill>
                  <a:schemeClr val="tx1"/>
                </a:solidFill>
                <a:effectLst/>
                <a:latin typeface="Arial" panose="020B0604020202020204" pitchFamily="34" charset="0"/>
                <a:ea typeface="+mn-ea"/>
                <a:cs typeface="Arial" panose="020B0604020202020204" pitchFamily="34" charset="0"/>
              </a:rPr>
              <a:t>the admin user password. </a:t>
            </a:r>
            <a:r>
              <a:rPr lang="en-US" b="0" kern="1200" dirty="0" smtClean="0">
                <a:solidFill>
                  <a:schemeClr val="tx1"/>
                </a:solidFill>
                <a:effectLst/>
                <a:ea typeface="+mn-ea"/>
                <a:cs typeface="Arial" pitchFamily="34" charset="0"/>
              </a:rPr>
              <a:t>Before </a:t>
            </a:r>
            <a:r>
              <a:rPr lang="en-US" b="0" kern="1200" dirty="0">
                <a:solidFill>
                  <a:schemeClr val="tx1"/>
                </a:solidFill>
                <a:effectLst/>
                <a:ea typeface="+mn-ea"/>
                <a:cs typeface="Arial" pitchFamily="34" charset="0"/>
              </a:rPr>
              <a:t>you connect FortiGate to your network, you should set a complex password. </a:t>
            </a:r>
            <a:r>
              <a:rPr lang="en-US" b="0" kern="1200" dirty="0" smtClean="0">
                <a:solidFill>
                  <a:schemeClr val="tx1"/>
                </a:solidFill>
                <a:effectLst/>
                <a:ea typeface="+mn-ea"/>
                <a:cs typeface="Arial" pitchFamily="34" charset="0"/>
              </a:rPr>
              <a:t>You’ll also be</a:t>
            </a:r>
            <a:r>
              <a:rPr lang="en-US" b="0" kern="1200" baseline="0" dirty="0" smtClean="0">
                <a:solidFill>
                  <a:schemeClr val="tx1"/>
                </a:solidFill>
                <a:effectLst/>
                <a:ea typeface="+mn-ea"/>
                <a:cs typeface="Arial" pitchFamily="34" charset="0"/>
              </a:rPr>
              <a:t> asked to</a:t>
            </a:r>
            <a:r>
              <a:rPr lang="en-CA" sz="1000" b="0" kern="1200" baseline="0" dirty="0" smtClean="0">
                <a:solidFill>
                  <a:schemeClr val="tx1"/>
                </a:solidFill>
                <a:effectLst/>
                <a:latin typeface="Arial" panose="020B0604020202020204" pitchFamily="34" charset="0"/>
                <a:ea typeface="+mn-ea"/>
                <a:cs typeface="Arial" panose="020B0604020202020204" pitchFamily="34" charset="0"/>
              </a:rPr>
              <a:t> apply additional configuration such as</a:t>
            </a:r>
            <a:r>
              <a:rPr lang="en-CA" sz="1000" kern="1200" dirty="0" smtClean="0">
                <a:solidFill>
                  <a:schemeClr val="tx1"/>
                </a:solidFill>
                <a:effectLst/>
                <a:latin typeface="Arial" panose="020B0604020202020204" pitchFamily="34" charset="0"/>
                <a:ea typeface="+mn-ea"/>
                <a:cs typeface="Arial" panose="020B0604020202020204" pitchFamily="34" charset="0"/>
              </a:rPr>
              <a:t> hostname, dashboard setup,</a:t>
            </a:r>
            <a:r>
              <a:rPr lang="en-CA" sz="1000" kern="1200" baseline="0" dirty="0" smtClean="0">
                <a:solidFill>
                  <a:schemeClr val="tx1"/>
                </a:solidFill>
                <a:effectLst/>
                <a:latin typeface="Arial" panose="020B0604020202020204" pitchFamily="34" charset="0"/>
                <a:ea typeface="+mn-ea"/>
                <a:cs typeface="Arial" panose="020B0604020202020204" pitchFamily="34" charset="0"/>
              </a:rPr>
              <a:t> </a:t>
            </a:r>
            <a:r>
              <a:rPr lang="en-CA" sz="1000" kern="1200" dirty="0" smtClean="0">
                <a:solidFill>
                  <a:schemeClr val="tx1"/>
                </a:solidFill>
                <a:effectLst/>
                <a:latin typeface="Arial" panose="020B0604020202020204" pitchFamily="34" charset="0"/>
                <a:ea typeface="+mn-ea"/>
                <a:cs typeface="Arial" panose="020B0604020202020204" pitchFamily="34" charset="0"/>
              </a:rPr>
              <a:t>register with </a:t>
            </a:r>
            <a:r>
              <a:rPr lang="en-CA" sz="1000" kern="1200" dirty="0" err="1" smtClean="0">
                <a:solidFill>
                  <a:schemeClr val="tx1"/>
                </a:solidFill>
                <a:effectLst/>
                <a:latin typeface="Arial" panose="020B0604020202020204" pitchFamily="34" charset="0"/>
                <a:ea typeface="+mn-ea"/>
                <a:cs typeface="Arial" panose="020B0604020202020204" pitchFamily="34" charset="0"/>
              </a:rPr>
              <a:t>FortiCare</a:t>
            </a:r>
            <a:r>
              <a:rPr lang="en-CA" sz="1000" kern="1200" dirty="0" smtClean="0">
                <a:solidFill>
                  <a:schemeClr val="tx1"/>
                </a:solidFill>
                <a:effectLst/>
                <a:latin typeface="Arial" panose="020B0604020202020204" pitchFamily="34" charset="0"/>
                <a:ea typeface="+mn-ea"/>
                <a:cs typeface="Arial" panose="020B0604020202020204" pitchFamily="34" charset="0"/>
              </a:rPr>
              <a:t>, and so on.</a:t>
            </a:r>
            <a:endParaRPr lang="en-US" b="0" kern="1200" dirty="0">
              <a:solidFill>
                <a:schemeClr val="tx1"/>
              </a:solidFill>
              <a:effectLst/>
              <a:ea typeface="+mn-ea"/>
              <a:cs typeface="Arial" pitchFamily="34" charset="0"/>
            </a:endParaRPr>
          </a:p>
          <a:p>
            <a:endParaRPr lang="en-US" b="0" kern="1200" dirty="0">
              <a:solidFill>
                <a:schemeClr val="tx1"/>
              </a:solidFill>
              <a:effectLst/>
              <a:ea typeface="+mn-ea"/>
              <a:cs typeface="Arial" pitchFamily="34" charset="0"/>
            </a:endParaRPr>
          </a:p>
          <a:p>
            <a:r>
              <a:rPr lang="en-CA" b="0" kern="1200" dirty="0">
                <a:solidFill>
                  <a:schemeClr val="tx1"/>
                </a:solidFill>
                <a:effectLst/>
                <a:ea typeface="+mn-ea"/>
                <a:cs typeface="Arial" pitchFamily="34" charset="0"/>
              </a:rPr>
              <a:t>All FortiGate models have a console port and/or USB management port.</a:t>
            </a:r>
            <a:r>
              <a:rPr lang="en-CA" b="0" kern="1200" baseline="0" dirty="0">
                <a:solidFill>
                  <a:schemeClr val="tx1"/>
                </a:solidFill>
                <a:effectLst/>
                <a:ea typeface="+mn-ea"/>
                <a:cs typeface="Arial" pitchFamily="34" charset="0"/>
              </a:rPr>
              <a:t> </a:t>
            </a:r>
            <a:r>
              <a:rPr lang="en-US" b="0" kern="1200" baseline="0" dirty="0">
                <a:solidFill>
                  <a:schemeClr val="tx1"/>
                </a:solidFill>
                <a:effectLst/>
                <a:ea typeface="+mn-ea"/>
                <a:cs typeface="Arial" pitchFamily="34" charset="0"/>
              </a:rPr>
              <a:t>The port provides CLI access without a network. </a:t>
            </a:r>
            <a:r>
              <a:rPr lang="en-US" b="0" kern="1200" baseline="0" dirty="0" smtClean="0">
                <a:solidFill>
                  <a:schemeClr val="tx1"/>
                </a:solidFill>
                <a:effectLst/>
                <a:ea typeface="+mn-ea"/>
                <a:cs typeface="Arial" pitchFamily="34" charset="0"/>
              </a:rPr>
              <a:t>You can access the </a:t>
            </a:r>
            <a:r>
              <a:rPr lang="en-US" b="0" kern="1200" baseline="0" dirty="0">
                <a:solidFill>
                  <a:schemeClr val="tx1"/>
                </a:solidFill>
                <a:effectLst/>
                <a:ea typeface="+mn-ea"/>
                <a:cs typeface="Arial" pitchFamily="34" charset="0"/>
              </a:rPr>
              <a:t>CLI </a:t>
            </a:r>
            <a:r>
              <a:rPr lang="en-US" b="0" kern="1200" baseline="0" dirty="0" smtClean="0">
                <a:solidFill>
                  <a:schemeClr val="tx1"/>
                </a:solidFill>
                <a:effectLst/>
                <a:ea typeface="+mn-ea"/>
                <a:cs typeface="Arial" pitchFamily="34" charset="0"/>
              </a:rPr>
              <a:t>using </a:t>
            </a:r>
            <a:r>
              <a:rPr lang="en-US" b="0" kern="1200" baseline="0" dirty="0">
                <a:solidFill>
                  <a:schemeClr val="tx1"/>
                </a:solidFill>
                <a:effectLst/>
                <a:ea typeface="+mn-ea"/>
                <a:cs typeface="Arial" pitchFamily="34" charset="0"/>
              </a:rPr>
              <a:t>the CLI console widget on the </a:t>
            </a:r>
            <a:r>
              <a:rPr lang="en-US" b="0" kern="1200" baseline="0" dirty="0" smtClean="0">
                <a:solidFill>
                  <a:schemeClr val="tx1"/>
                </a:solidFill>
                <a:effectLst/>
                <a:ea typeface="+mn-ea"/>
                <a:cs typeface="Arial" pitchFamily="34" charset="0"/>
              </a:rPr>
              <a:t>GUI, </a:t>
            </a:r>
            <a:r>
              <a:rPr lang="en-US" b="0" kern="1200" baseline="0" dirty="0">
                <a:solidFill>
                  <a:schemeClr val="tx1"/>
                </a:solidFill>
                <a:effectLst/>
                <a:ea typeface="+mn-ea"/>
                <a:cs typeface="Arial" pitchFamily="34" charset="0"/>
              </a:rPr>
              <a:t>or from a terminal emulator, such as </a:t>
            </a:r>
            <a:r>
              <a:rPr lang="en-US" b="0" kern="1200" baseline="0" dirty="0" err="1">
                <a:solidFill>
                  <a:schemeClr val="tx1"/>
                </a:solidFill>
                <a:effectLst/>
                <a:ea typeface="+mn-ea"/>
                <a:cs typeface="Arial" pitchFamily="34" charset="0"/>
              </a:rPr>
              <a:t>PuTTY</a:t>
            </a:r>
            <a:r>
              <a:rPr lang="en-US" b="0" kern="1200" baseline="0" dirty="0">
                <a:solidFill>
                  <a:schemeClr val="tx1"/>
                </a:solidFill>
                <a:effectLst/>
                <a:ea typeface="+mn-ea"/>
                <a:cs typeface="Arial" pitchFamily="34" charset="0"/>
              </a:rPr>
              <a:t> or Tera Term.</a:t>
            </a:r>
            <a:endParaRPr lang="en-US" b="0"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3228066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p:txBody>
          <a:bodyPr/>
          <a:lstStyle/>
          <a:p>
            <a:pPr defTabSz="913731">
              <a:defRPr/>
            </a:pPr>
            <a:r>
              <a:rPr lang="en-CA" b="0" kern="1200" dirty="0">
                <a:solidFill>
                  <a:schemeClr val="tx1"/>
                </a:solidFill>
                <a:effectLst/>
                <a:ea typeface="+mn-ea"/>
                <a:cs typeface="Arial" pitchFamily="34" charset="0"/>
              </a:rPr>
              <a:t>Some FortiGate services connect to other servers, such as </a:t>
            </a:r>
            <a:r>
              <a:rPr lang="en-CA" b="0" kern="1200" dirty="0" err="1">
                <a:solidFill>
                  <a:schemeClr val="tx1"/>
                </a:solidFill>
                <a:effectLst/>
                <a:ea typeface="+mn-ea"/>
                <a:cs typeface="Arial" pitchFamily="34" charset="0"/>
              </a:rPr>
              <a:t>FortiGuard</a:t>
            </a:r>
            <a:r>
              <a:rPr lang="en-CA" b="0" kern="1200" dirty="0">
                <a:solidFill>
                  <a:schemeClr val="tx1"/>
                </a:solidFill>
                <a:effectLst/>
                <a:ea typeface="+mn-ea"/>
                <a:cs typeface="Arial" pitchFamily="34" charset="0"/>
              </a:rPr>
              <a:t>, in order to work. </a:t>
            </a:r>
            <a:r>
              <a:rPr lang="en-US" b="0" kern="1200" baseline="0" dirty="0">
                <a:solidFill>
                  <a:schemeClr val="tx1"/>
                </a:solidFill>
                <a:effectLst/>
                <a:ea typeface="+mn-ea"/>
                <a:cs typeface="Arial" pitchFamily="34" charset="0"/>
              </a:rPr>
              <a:t>FortiGuard Subscription Services provide FortiGate with up-to-date threat intelligence. </a:t>
            </a:r>
            <a:r>
              <a:rPr lang="en-US" b="0" kern="1200" dirty="0">
                <a:solidFill>
                  <a:schemeClr val="tx1"/>
                </a:solidFill>
                <a:effectLst/>
                <a:ea typeface="+mn-ea"/>
                <a:cs typeface="Arial" pitchFamily="34" charset="0"/>
              </a:rPr>
              <a:t>FortiGate uses </a:t>
            </a:r>
            <a:r>
              <a:rPr lang="en-US" b="0" kern="1200" dirty="0" err="1">
                <a:solidFill>
                  <a:schemeClr val="tx1"/>
                </a:solidFill>
                <a:effectLst/>
                <a:ea typeface="+mn-ea"/>
                <a:cs typeface="Arial" pitchFamily="34" charset="0"/>
              </a:rPr>
              <a:t>FortiGuard</a:t>
            </a:r>
            <a:r>
              <a:rPr lang="en-US" b="0" kern="1200" baseline="0" dirty="0">
                <a:solidFill>
                  <a:schemeClr val="tx1"/>
                </a:solidFill>
                <a:effectLst/>
                <a:ea typeface="+mn-ea"/>
                <a:cs typeface="Arial" pitchFamily="34" charset="0"/>
              </a:rPr>
              <a:t> by</a:t>
            </a:r>
            <a:r>
              <a:rPr lang="en-US" b="0" kern="1200" dirty="0">
                <a:solidFill>
                  <a:schemeClr val="tx1"/>
                </a:solidFill>
                <a:effectLst/>
                <a:ea typeface="+mn-ea"/>
                <a:cs typeface="Arial" pitchFamily="34" charset="0"/>
              </a:rPr>
              <a:t>:</a:t>
            </a:r>
          </a:p>
          <a:p>
            <a:pPr defTabSz="913731">
              <a:defRPr/>
            </a:pPr>
            <a:endParaRPr lang="en-US" b="0" kern="1200" dirty="0">
              <a:solidFill>
                <a:schemeClr val="tx1"/>
              </a:solidFill>
              <a:effectLst/>
              <a:ea typeface="+mn-ea"/>
              <a:cs typeface="Arial" pitchFamily="34" charset="0"/>
            </a:endParaRPr>
          </a:p>
          <a:p>
            <a:pPr marL="171323" indent="-171323" defTabSz="913731">
              <a:buFont typeface="Arial" panose="020B0604020202020204" pitchFamily="34" charset="0"/>
              <a:buChar char="•"/>
              <a:defRPr/>
            </a:pPr>
            <a:r>
              <a:rPr lang="en-US" b="0" kern="1200" dirty="0">
                <a:solidFill>
                  <a:schemeClr val="tx1"/>
                </a:solidFill>
                <a:effectLst/>
                <a:ea typeface="+mn-ea"/>
                <a:cs typeface="Arial" pitchFamily="34" charset="0"/>
              </a:rPr>
              <a:t>Periodically requesting packages that contain a new engine and signatures</a:t>
            </a:r>
          </a:p>
          <a:p>
            <a:pPr marL="171323" indent="-171323" defTabSz="913731">
              <a:buFont typeface="Arial" panose="020B0604020202020204" pitchFamily="34" charset="0"/>
              <a:buChar char="•"/>
              <a:defRPr/>
            </a:pPr>
            <a:r>
              <a:rPr lang="en-US" b="0" kern="1200" dirty="0">
                <a:solidFill>
                  <a:schemeClr val="tx1"/>
                </a:solidFill>
                <a:effectLst/>
                <a:ea typeface="+mn-ea"/>
                <a:cs typeface="Arial" pitchFamily="34" charset="0"/>
              </a:rPr>
              <a:t>Querying the FDN on an individual URL or host name</a:t>
            </a:r>
          </a:p>
          <a:p>
            <a:pPr marL="171323" indent="-171323" defTabSz="913731">
              <a:buFont typeface="Arial" panose="020B0604020202020204" pitchFamily="34" charset="0"/>
              <a:buChar char="•"/>
              <a:defRPr/>
            </a:pPr>
            <a:endParaRPr lang="en-US" b="0" kern="1200" dirty="0">
              <a:solidFill>
                <a:schemeClr val="tx1"/>
              </a:solidFill>
              <a:effectLst/>
              <a:ea typeface="+mn-ea"/>
              <a:cs typeface="Arial" pitchFamily="34" charset="0"/>
            </a:endParaRPr>
          </a:p>
          <a:p>
            <a:pPr marL="0" indent="0" defTabSz="913731">
              <a:buFont typeface="Arial" panose="020B0604020202020204" pitchFamily="34" charset="0"/>
              <a:buNone/>
              <a:defRPr/>
            </a:pPr>
            <a:r>
              <a:rPr lang="en-US" b="0" kern="1200" dirty="0">
                <a:solidFill>
                  <a:schemeClr val="tx1"/>
                </a:solidFill>
                <a:effectLst/>
                <a:ea typeface="+mn-ea"/>
                <a:cs typeface="Arial" pitchFamily="34" charset="0"/>
              </a:rPr>
              <a:t>By</a:t>
            </a:r>
            <a:r>
              <a:rPr lang="en-US" b="0" kern="1200" baseline="0" dirty="0">
                <a:solidFill>
                  <a:schemeClr val="tx1"/>
                </a:solidFill>
                <a:effectLst/>
                <a:ea typeface="+mn-ea"/>
                <a:cs typeface="Arial" pitchFamily="34" charset="0"/>
              </a:rPr>
              <a:t> default, the FortiGuard server location is set to </a:t>
            </a:r>
            <a:r>
              <a:rPr lang="en-US" b="0" kern="1200" baseline="0" dirty="0" smtClean="0">
                <a:solidFill>
                  <a:schemeClr val="tx1"/>
                </a:solidFill>
                <a:effectLst/>
                <a:ea typeface="+mn-ea"/>
                <a:cs typeface="Arial" pitchFamily="34" charset="0"/>
              </a:rPr>
              <a:t>anywhere FortiGate selects </a:t>
            </a:r>
            <a:r>
              <a:rPr lang="en-US" b="0" kern="1200" baseline="0" dirty="0">
                <a:solidFill>
                  <a:schemeClr val="tx1"/>
                </a:solidFill>
                <a:effectLst/>
                <a:ea typeface="+mn-ea"/>
                <a:cs typeface="Arial" pitchFamily="34" charset="0"/>
              </a:rPr>
              <a:t>a server based on server </a:t>
            </a:r>
            <a:r>
              <a:rPr lang="en-US" b="0" kern="1200" baseline="0" dirty="0" smtClean="0">
                <a:solidFill>
                  <a:schemeClr val="tx1"/>
                </a:solidFill>
                <a:effectLst/>
                <a:ea typeface="+mn-ea"/>
                <a:cs typeface="Arial" pitchFamily="34" charset="0"/>
              </a:rPr>
              <a:t>load, </a:t>
            </a:r>
            <a:r>
              <a:rPr lang="en-US" b="0" kern="1200" baseline="0" dirty="0">
                <a:solidFill>
                  <a:schemeClr val="tx1"/>
                </a:solidFill>
                <a:effectLst/>
                <a:ea typeface="+mn-ea"/>
                <a:cs typeface="Arial" pitchFamily="34" charset="0"/>
              </a:rPr>
              <a:t>from any part of the world. However, you have </a:t>
            </a:r>
            <a:r>
              <a:rPr lang="en-US" b="0" kern="1200" baseline="0" dirty="0" smtClean="0">
                <a:solidFill>
                  <a:schemeClr val="tx1"/>
                </a:solidFill>
                <a:effectLst/>
                <a:ea typeface="+mn-ea"/>
                <a:cs typeface="Arial" pitchFamily="34" charset="0"/>
              </a:rPr>
              <a:t>the </a:t>
            </a:r>
            <a:r>
              <a:rPr lang="en-US" b="0" kern="1200" baseline="0" dirty="0">
                <a:solidFill>
                  <a:schemeClr val="tx1"/>
                </a:solidFill>
                <a:effectLst/>
                <a:ea typeface="+mn-ea"/>
                <a:cs typeface="Arial" pitchFamily="34" charset="0"/>
              </a:rPr>
              <a:t>option to change the </a:t>
            </a:r>
            <a:r>
              <a:rPr lang="en-US" b="0" kern="1200" baseline="0" dirty="0" err="1">
                <a:solidFill>
                  <a:schemeClr val="tx1"/>
                </a:solidFill>
                <a:effectLst/>
                <a:ea typeface="+mn-ea"/>
                <a:cs typeface="Arial" pitchFamily="34" charset="0"/>
              </a:rPr>
              <a:t>FortiGuard</a:t>
            </a:r>
            <a:r>
              <a:rPr lang="en-US" b="0" kern="1200" baseline="0" dirty="0">
                <a:solidFill>
                  <a:schemeClr val="tx1"/>
                </a:solidFill>
                <a:effectLst/>
                <a:ea typeface="+mn-ea"/>
                <a:cs typeface="Arial" pitchFamily="34" charset="0"/>
              </a:rPr>
              <a:t> server location to USA. In this case, </a:t>
            </a:r>
            <a:r>
              <a:rPr lang="en-US" b="0" kern="1200" baseline="0" dirty="0" smtClean="0">
                <a:solidFill>
                  <a:schemeClr val="tx1"/>
                </a:solidFill>
                <a:effectLst/>
                <a:ea typeface="+mn-ea"/>
                <a:cs typeface="Arial" pitchFamily="34" charset="0"/>
              </a:rPr>
              <a:t>FortiGate selects </a:t>
            </a:r>
            <a:r>
              <a:rPr lang="en-US" b="0" kern="1200" baseline="0" dirty="0">
                <a:solidFill>
                  <a:schemeClr val="tx1"/>
                </a:solidFill>
                <a:effectLst/>
                <a:ea typeface="+mn-ea"/>
                <a:cs typeface="Arial" pitchFamily="34" charset="0"/>
              </a:rPr>
              <a:t>a </a:t>
            </a:r>
            <a:r>
              <a:rPr lang="en-US" b="0" kern="1200" baseline="0" dirty="0" smtClean="0">
                <a:solidFill>
                  <a:schemeClr val="tx1"/>
                </a:solidFill>
                <a:effectLst/>
                <a:ea typeface="+mn-ea"/>
                <a:cs typeface="Arial" pitchFamily="34" charset="0"/>
              </a:rPr>
              <a:t>USA-based </a:t>
            </a:r>
            <a:r>
              <a:rPr lang="en-US" b="0" kern="1200" baseline="0" dirty="0">
                <a:solidFill>
                  <a:schemeClr val="tx1"/>
                </a:solidFill>
                <a:effectLst/>
                <a:ea typeface="+mn-ea"/>
                <a:cs typeface="Arial" pitchFamily="34" charset="0"/>
              </a:rPr>
              <a:t>FortiGuard server.</a:t>
            </a:r>
            <a:endParaRPr lang="en-US" b="0" kern="1200" dirty="0">
              <a:solidFill>
                <a:schemeClr val="tx1"/>
              </a:solidFill>
              <a:effectLst/>
              <a:ea typeface="+mn-ea"/>
              <a:cs typeface="Arial" pitchFamily="34" charset="0"/>
            </a:endParaRPr>
          </a:p>
          <a:p>
            <a:pPr defTabSz="913731">
              <a:defRPr/>
            </a:pPr>
            <a:endParaRPr lang="en-US" b="0" kern="1200" dirty="0">
              <a:solidFill>
                <a:schemeClr val="tx1"/>
              </a:solidFill>
              <a:effectLst/>
              <a:ea typeface="+mn-ea"/>
              <a:cs typeface="Arial" pitchFamily="34" charset="0"/>
            </a:endParaRPr>
          </a:p>
          <a:p>
            <a:pPr defTabSz="913731">
              <a:defRPr/>
            </a:pPr>
            <a:r>
              <a:rPr lang="en-US" b="0" kern="1200" dirty="0">
                <a:solidFill>
                  <a:schemeClr val="tx1"/>
                </a:solidFill>
                <a:effectLst/>
                <a:ea typeface="+mn-ea"/>
                <a:cs typeface="Arial" pitchFamily="34" charset="0"/>
              </a:rPr>
              <a:t>Queries are real-time;</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that is, FortiGate asks the FDN every time it scans for spam or filtered websites. FortiGate queries, instead of downloading the database, because</a:t>
            </a:r>
            <a:r>
              <a:rPr lang="en-US" b="0" kern="1200" baseline="0" dirty="0">
                <a:solidFill>
                  <a:schemeClr val="tx1"/>
                </a:solidFill>
                <a:effectLst/>
                <a:ea typeface="+mn-ea"/>
                <a:cs typeface="Arial" pitchFamily="34" charset="0"/>
              </a:rPr>
              <a:t> of </a:t>
            </a:r>
            <a:r>
              <a:rPr lang="en-US" b="0" kern="1200" dirty="0">
                <a:solidFill>
                  <a:schemeClr val="tx1"/>
                </a:solidFill>
                <a:effectLst/>
                <a:ea typeface="+mn-ea"/>
                <a:cs typeface="Arial" pitchFamily="34" charset="0"/>
              </a:rPr>
              <a:t>the size and frequency of changes that occur</a:t>
            </a:r>
            <a:r>
              <a:rPr lang="en-US" b="0" kern="1200" baseline="0" dirty="0">
                <a:solidFill>
                  <a:schemeClr val="tx1"/>
                </a:solidFill>
                <a:effectLst/>
                <a:ea typeface="+mn-ea"/>
                <a:cs typeface="Arial" pitchFamily="34" charset="0"/>
              </a:rPr>
              <a:t> to the database. </a:t>
            </a:r>
            <a:r>
              <a:rPr lang="en-US" b="0" kern="1200" dirty="0">
                <a:solidFill>
                  <a:schemeClr val="tx1"/>
                </a:solidFill>
                <a:effectLst/>
                <a:ea typeface="+mn-ea"/>
                <a:cs typeface="Arial" pitchFamily="34" charset="0"/>
              </a:rPr>
              <a:t>Also, you</a:t>
            </a:r>
            <a:r>
              <a:rPr lang="en-US" b="0" kern="1200" baseline="0" dirty="0">
                <a:solidFill>
                  <a:schemeClr val="tx1"/>
                </a:solidFill>
                <a:effectLst/>
                <a:ea typeface="+mn-ea"/>
                <a:cs typeface="Arial" pitchFamily="34" charset="0"/>
              </a:rPr>
              <a:t> can select </a:t>
            </a:r>
            <a:r>
              <a:rPr lang="en-US" b="0" kern="1200" dirty="0">
                <a:solidFill>
                  <a:schemeClr val="tx1"/>
                </a:solidFill>
                <a:effectLst/>
                <a:ea typeface="+mn-ea"/>
                <a:cs typeface="Arial" pitchFamily="34" charset="0"/>
              </a:rPr>
              <a:t>queries to use UDP or HTTPs</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for transport;</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the protocols are not designed for fault tolerance, but for speed. So, queries</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require that your </a:t>
            </a:r>
            <a:r>
              <a:rPr lang="en-US" b="0" kern="1200" dirty="0" smtClean="0">
                <a:solidFill>
                  <a:schemeClr val="tx1"/>
                </a:solidFill>
                <a:effectLst/>
                <a:ea typeface="+mn-ea"/>
                <a:cs typeface="Arial" pitchFamily="34" charset="0"/>
              </a:rPr>
              <a:t>FortiGate device </a:t>
            </a:r>
            <a:r>
              <a:rPr lang="en-US" b="0" kern="1200" dirty="0">
                <a:solidFill>
                  <a:schemeClr val="tx1"/>
                </a:solidFill>
                <a:effectLst/>
                <a:ea typeface="+mn-ea"/>
                <a:cs typeface="Arial" pitchFamily="34" charset="0"/>
              </a:rPr>
              <a:t>has a reliable </a:t>
            </a:r>
            <a:r>
              <a:rPr lang="en-US" b="0" kern="1200" dirty="0" smtClean="0">
                <a:solidFill>
                  <a:schemeClr val="tx1"/>
                </a:solidFill>
                <a:effectLst/>
                <a:ea typeface="+mn-ea"/>
                <a:cs typeface="Arial" pitchFamily="34" charset="0"/>
              </a:rPr>
              <a:t>internet </a:t>
            </a:r>
            <a:r>
              <a:rPr lang="en-US" b="0" kern="1200" dirty="0">
                <a:solidFill>
                  <a:schemeClr val="tx1"/>
                </a:solidFill>
                <a:effectLst/>
                <a:ea typeface="+mn-ea"/>
                <a:cs typeface="Arial" pitchFamily="34" charset="0"/>
              </a:rPr>
              <a:t>connection.</a:t>
            </a:r>
          </a:p>
          <a:p>
            <a:pPr defTabSz="913731">
              <a:defRPr/>
            </a:pPr>
            <a:endParaRPr lang="en-US" b="0" kern="1200" dirty="0">
              <a:solidFill>
                <a:schemeClr val="tx1"/>
              </a:solidFill>
              <a:effectLst/>
              <a:ea typeface="+mn-ea"/>
              <a:cs typeface="Arial" pitchFamily="34" charset="0"/>
            </a:endParaRPr>
          </a:p>
          <a:p>
            <a:pPr defTabSz="913731">
              <a:defRPr/>
            </a:pPr>
            <a:r>
              <a:rPr lang="en-CA" b="0" kern="1200" dirty="0">
                <a:solidFill>
                  <a:schemeClr val="tx1"/>
                </a:solidFill>
                <a:effectLst/>
                <a:ea typeface="+mn-ea"/>
                <a:cs typeface="Arial" pitchFamily="34" charset="0"/>
              </a:rPr>
              <a:t>Packages, like antivirus and IPS,  are smaller and don't change as frequently, so they are downloaded (in many cases) only once a day. </a:t>
            </a:r>
            <a:r>
              <a:rPr lang="en-US" b="0" kern="1200" dirty="0">
                <a:solidFill>
                  <a:schemeClr val="tx1"/>
                </a:solidFill>
                <a:effectLst/>
                <a:ea typeface="+mn-ea"/>
                <a:cs typeface="Arial" pitchFamily="34" charset="0"/>
              </a:rPr>
              <a:t>They are </a:t>
            </a:r>
            <a:r>
              <a:rPr lang="en-US" b="0" kern="1200" dirty="0" smtClean="0">
                <a:solidFill>
                  <a:schemeClr val="tx1"/>
                </a:solidFill>
                <a:effectLst/>
                <a:ea typeface="+mn-ea"/>
                <a:cs typeface="Arial" pitchFamily="34" charset="0"/>
              </a:rPr>
              <a:t>downloaded</a:t>
            </a:r>
            <a:r>
              <a:rPr lang="en-US" b="0" kern="1200" baseline="0" dirty="0" smtClean="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using </a:t>
            </a:r>
            <a:r>
              <a:rPr lang="en-US" b="0" kern="1200" dirty="0">
                <a:solidFill>
                  <a:schemeClr val="tx1"/>
                </a:solidFill>
                <a:effectLst/>
                <a:ea typeface="+mn-ea"/>
                <a:cs typeface="Arial" pitchFamily="34" charset="0"/>
              </a:rPr>
              <a:t>TCP for reliable transport. After</a:t>
            </a:r>
            <a:r>
              <a:rPr lang="en-US" b="0" kern="1200" baseline="0" dirty="0">
                <a:solidFill>
                  <a:schemeClr val="tx1"/>
                </a:solidFill>
                <a:effectLst/>
                <a:ea typeface="+mn-ea"/>
                <a:cs typeface="Arial" pitchFamily="34" charset="0"/>
              </a:rPr>
              <a:t> the database is downloaded, t</a:t>
            </a:r>
            <a:r>
              <a:rPr lang="en-US" b="0" kern="1200" dirty="0">
                <a:solidFill>
                  <a:schemeClr val="tx1"/>
                </a:solidFill>
                <a:effectLst/>
                <a:ea typeface="+mn-ea"/>
                <a:cs typeface="Arial" pitchFamily="34" charset="0"/>
              </a:rPr>
              <a:t>heir associated FortiGate features continue to function, even if FortiGate does not have reliable </a:t>
            </a:r>
            <a:r>
              <a:rPr lang="en-US" b="0" kern="1200" dirty="0" smtClean="0">
                <a:solidFill>
                  <a:schemeClr val="tx1"/>
                </a:solidFill>
                <a:effectLst/>
                <a:ea typeface="+mn-ea"/>
                <a:cs typeface="Arial" pitchFamily="34" charset="0"/>
              </a:rPr>
              <a:t>internet </a:t>
            </a:r>
            <a:r>
              <a:rPr lang="en-US" b="0" kern="1200" dirty="0">
                <a:solidFill>
                  <a:schemeClr val="tx1"/>
                </a:solidFill>
                <a:effectLst/>
                <a:ea typeface="+mn-ea"/>
                <a:cs typeface="Arial" pitchFamily="34" charset="0"/>
              </a:rPr>
              <a:t>connectivity.</a:t>
            </a:r>
            <a:r>
              <a:rPr lang="en-US" b="0" kern="1200" baseline="0" dirty="0">
                <a:solidFill>
                  <a:schemeClr val="tx1"/>
                </a:solidFill>
                <a:effectLst/>
                <a:ea typeface="+mn-ea"/>
                <a:cs typeface="Arial" pitchFamily="34" charset="0"/>
              </a:rPr>
              <a:t> However, y</a:t>
            </a:r>
            <a:r>
              <a:rPr lang="en-US" b="0" kern="1200" dirty="0">
                <a:solidFill>
                  <a:schemeClr val="tx1"/>
                </a:solidFill>
                <a:effectLst/>
                <a:ea typeface="+mn-ea"/>
                <a:cs typeface="Arial" pitchFamily="34" charset="0"/>
              </a:rPr>
              <a:t>ou should still try to avoid interruptions during downloads—if your FortiGate </a:t>
            </a:r>
            <a:r>
              <a:rPr lang="en-US" b="0" kern="1200" dirty="0" smtClean="0">
                <a:solidFill>
                  <a:schemeClr val="tx1"/>
                </a:solidFill>
                <a:effectLst/>
                <a:ea typeface="+mn-ea"/>
                <a:cs typeface="Arial" pitchFamily="34" charset="0"/>
              </a:rPr>
              <a:t>device must </a:t>
            </a:r>
            <a:r>
              <a:rPr lang="en-US" b="0" kern="1200" dirty="0">
                <a:solidFill>
                  <a:schemeClr val="tx1"/>
                </a:solidFill>
                <a:effectLst/>
                <a:ea typeface="+mn-ea"/>
                <a:cs typeface="Arial" pitchFamily="34" charset="0"/>
              </a:rPr>
              <a:t>try repeatedly to download updates, it can’t detect new threats during that time</a:t>
            </a:r>
            <a:r>
              <a:rPr lang="en-US" b="0" kern="1200" dirty="0" smtClean="0">
                <a:solidFill>
                  <a:schemeClr val="tx1"/>
                </a:solidFill>
                <a:effectLst/>
                <a:ea typeface="+mn-ea"/>
                <a:cs typeface="Arial" pitchFamily="34" charset="0"/>
              </a:rPr>
              <a:t>.</a:t>
            </a:r>
            <a:endParaRPr lang="en-US" dirty="0"/>
          </a:p>
          <a:p>
            <a:pPr defTabSz="913731">
              <a:defRPr/>
            </a:pPr>
            <a:endParaRPr lang="en-GB" b="0" kern="1200" dirty="0" smtClean="0">
              <a:solidFill>
                <a:schemeClr val="tx1"/>
              </a:solidFill>
              <a:effectLst/>
              <a:ea typeface="+mn-ea"/>
              <a:cs typeface="Arial" pitchFamily="34" charset="0"/>
            </a:endParaRPr>
          </a:p>
          <a:p>
            <a:pPr defTabSz="913731">
              <a:defRPr/>
            </a:pPr>
            <a:r>
              <a:rPr lang="en-US" dirty="0"/>
              <a:t>When using FortiGuard servers for </a:t>
            </a:r>
            <a:r>
              <a:rPr lang="en-US" dirty="0" smtClean="0"/>
              <a:t>DNS, </a:t>
            </a:r>
            <a:r>
              <a:rPr lang="en-US" dirty="0" err="1"/>
              <a:t>FortiOS</a:t>
            </a:r>
            <a:r>
              <a:rPr lang="en-US" dirty="0"/>
              <a:t> </a:t>
            </a:r>
            <a:r>
              <a:rPr lang="en-US" dirty="0" smtClean="0"/>
              <a:t>uses  </a:t>
            </a:r>
            <a:r>
              <a:rPr lang="en-US" dirty="0"/>
              <a:t>DNS over TLS (DoT</a:t>
            </a:r>
            <a:r>
              <a:rPr lang="en-US" dirty="0" smtClean="0"/>
              <a:t>) by default to secure </a:t>
            </a:r>
            <a:r>
              <a:rPr lang="en-US" dirty="0"/>
              <a:t>the DNS traffic. New FortiGuard DNS servers </a:t>
            </a:r>
            <a:r>
              <a:rPr lang="en-US" dirty="0" smtClean="0"/>
              <a:t>have</a:t>
            </a:r>
            <a:r>
              <a:rPr lang="en-US" baseline="0" dirty="0" smtClean="0"/>
              <a:t> been</a:t>
            </a:r>
            <a:r>
              <a:rPr lang="en-US" dirty="0" smtClean="0"/>
              <a:t> </a:t>
            </a:r>
            <a:r>
              <a:rPr lang="en-US" dirty="0"/>
              <a:t>added as primary and secondary </a:t>
            </a:r>
            <a:r>
              <a:rPr lang="en-US" dirty="0" smtClean="0"/>
              <a:t>servers.</a:t>
            </a:r>
            <a:endParaRPr lang="en-US" b="0"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654921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p:txBody>
          <a:bodyPr/>
          <a:lstStyle/>
          <a:p>
            <a:pPr defTabSz="913731">
              <a:defRPr/>
            </a:pPr>
            <a:r>
              <a:rPr lang="en-US" b="0" kern="1200" dirty="0" smtClean="0">
                <a:solidFill>
                  <a:schemeClr val="tx1"/>
                </a:solidFill>
                <a:effectLst/>
                <a:ea typeface="+mn-ea"/>
                <a:cs typeface="Arial" pitchFamily="34" charset="0"/>
              </a:rPr>
              <a:t>Now, </a:t>
            </a:r>
            <a:r>
              <a:rPr lang="en-GB" sz="1000" b="0" i="0" kern="1200" dirty="0" smtClean="0">
                <a:solidFill>
                  <a:schemeClr val="tx1"/>
                </a:solidFill>
                <a:effectLst/>
                <a:latin typeface="Arial" panose="020B0604020202020204" pitchFamily="34" charset="0"/>
                <a:ea typeface="+mn-ea"/>
                <a:cs typeface="Arial" panose="020B0604020202020204" pitchFamily="34" charset="0"/>
              </a:rPr>
              <a:t>third-party </a:t>
            </a:r>
            <a:r>
              <a:rPr lang="en-GB" sz="1000" b="0" i="0" kern="1200" dirty="0">
                <a:solidFill>
                  <a:schemeClr val="tx1"/>
                </a:solidFill>
                <a:effectLst/>
                <a:latin typeface="Arial" panose="020B0604020202020204" pitchFamily="34" charset="0"/>
                <a:ea typeface="+mn-ea"/>
                <a:cs typeface="Arial" panose="020B0604020202020204" pitchFamily="34" charset="0"/>
              </a:rPr>
              <a:t>SSL certificate verification and OCSP stapling check has</a:t>
            </a:r>
            <a:r>
              <a:rPr lang="en-GB" sz="1000" b="0" i="0" kern="1200" baseline="0" dirty="0">
                <a:solidFill>
                  <a:schemeClr val="tx1"/>
                </a:solidFill>
                <a:effectLst/>
                <a:latin typeface="Arial" panose="020B0604020202020204" pitchFamily="34" charset="0"/>
                <a:ea typeface="+mn-ea"/>
                <a:cs typeface="Arial" panose="020B0604020202020204" pitchFamily="34" charset="0"/>
              </a:rPr>
              <a:t> been</a:t>
            </a:r>
            <a:r>
              <a:rPr lang="en-GB" sz="1000" b="0" i="0" kern="1200" dirty="0">
                <a:solidFill>
                  <a:schemeClr val="tx1"/>
                </a:solidFill>
                <a:effectLst/>
                <a:latin typeface="Arial" panose="020B0604020202020204" pitchFamily="34" charset="0"/>
                <a:ea typeface="+mn-ea"/>
                <a:cs typeface="Arial" panose="020B0604020202020204" pitchFamily="34" charset="0"/>
              </a:rPr>
              <a:t> implemented for all FortiGuard servers. By default, the FortiGuard access mode is </a:t>
            </a:r>
            <a:r>
              <a:rPr lang="en-GB" sz="1000" b="0" i="1" kern="1200" dirty="0" err="1">
                <a:solidFill>
                  <a:schemeClr val="tx1"/>
                </a:solidFill>
                <a:effectLst/>
                <a:latin typeface="Arial" panose="020B0604020202020204" pitchFamily="34" charset="0"/>
                <a:ea typeface="+mn-ea"/>
                <a:cs typeface="Arial" panose="020B0604020202020204" pitchFamily="34" charset="0"/>
              </a:rPr>
              <a:t>anycast</a:t>
            </a:r>
            <a:r>
              <a:rPr lang="en-GB" sz="1000" b="0" i="0" kern="1200" dirty="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on</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FortiGate, </a:t>
            </a:r>
            <a:r>
              <a:rPr lang="en-GB" sz="1000" b="0" i="0" kern="1200" dirty="0">
                <a:solidFill>
                  <a:schemeClr val="tx1"/>
                </a:solidFill>
                <a:effectLst/>
                <a:latin typeface="Arial" panose="020B0604020202020204" pitchFamily="34" charset="0"/>
                <a:ea typeface="+mn-ea"/>
                <a:cs typeface="Arial" panose="020B0604020202020204" pitchFamily="34" charset="0"/>
              </a:rPr>
              <a:t>to optimize the routing performance to the FortiGuard servers.</a:t>
            </a:r>
            <a:r>
              <a:rPr lang="en-GB" sz="1000" b="0" i="0" kern="1200" baseline="0" dirty="0">
                <a:solidFill>
                  <a:schemeClr val="tx1"/>
                </a:solidFill>
                <a:effectLst/>
                <a:latin typeface="Arial" panose="020B0604020202020204" pitchFamily="34" charset="0"/>
                <a:ea typeface="+mn-ea"/>
                <a:cs typeface="Arial" panose="020B0604020202020204" pitchFamily="34" charset="0"/>
              </a:rPr>
              <a:t> </a:t>
            </a:r>
            <a:r>
              <a:rPr lang="en-GB" sz="1000" b="0" i="0" kern="1200" dirty="0">
                <a:solidFill>
                  <a:schemeClr val="tx1"/>
                </a:solidFill>
                <a:effectLst/>
                <a:latin typeface="Arial" panose="020B0604020202020204" pitchFamily="34" charset="0"/>
                <a:ea typeface="+mn-ea"/>
                <a:cs typeface="Arial" panose="020B0604020202020204" pitchFamily="34" charset="0"/>
              </a:rPr>
              <a:t>The</a:t>
            </a:r>
            <a:r>
              <a:rPr lang="en-GB" sz="1000" b="0" i="0" kern="1200" baseline="0" dirty="0">
                <a:solidFill>
                  <a:schemeClr val="tx1"/>
                </a:solidFill>
                <a:effectLst/>
                <a:latin typeface="Arial" panose="020B0604020202020204" pitchFamily="34" charset="0"/>
                <a:ea typeface="+mn-ea"/>
                <a:cs typeface="Arial" panose="020B0604020202020204" pitchFamily="34" charset="0"/>
              </a:rPr>
              <a:t> FortiGuard </a:t>
            </a:r>
            <a:r>
              <a:rPr lang="en-GB" sz="1000" b="0" i="0" kern="1200" dirty="0">
                <a:solidFill>
                  <a:schemeClr val="tx1"/>
                </a:solidFill>
                <a:effectLst/>
                <a:latin typeface="Arial" panose="020B0604020202020204" pitchFamily="34" charset="0"/>
                <a:ea typeface="+mn-ea"/>
                <a:cs typeface="Arial" panose="020B0604020202020204" pitchFamily="34" charset="0"/>
              </a:rPr>
              <a:t>server has one IP address to match its domain name.</a:t>
            </a:r>
            <a:r>
              <a:rPr lang="en-GB" sz="1000" b="0" i="0" kern="1200" baseline="0" dirty="0">
                <a:solidFill>
                  <a:schemeClr val="tx1"/>
                </a:solidFill>
                <a:effectLst/>
                <a:latin typeface="Arial" panose="020B0604020202020204" pitchFamily="34" charset="0"/>
                <a:ea typeface="+mn-ea"/>
                <a:cs typeface="Arial" panose="020B0604020202020204" pitchFamily="34" charset="0"/>
              </a:rPr>
              <a:t> </a:t>
            </a:r>
            <a:r>
              <a:rPr lang="en-GB" sz="1000" b="0" i="0" kern="1200" dirty="0">
                <a:solidFill>
                  <a:schemeClr val="tx1"/>
                </a:solidFill>
                <a:effectLst/>
                <a:latin typeface="Arial" panose="020B0604020202020204" pitchFamily="34" charset="0"/>
                <a:ea typeface="+mn-ea"/>
                <a:cs typeface="Arial" panose="020B0604020202020204" pitchFamily="34" charset="0"/>
              </a:rPr>
              <a:t>FortiGate connects with a single server address, regardless of where the FortiGate </a:t>
            </a:r>
            <a:r>
              <a:rPr lang="en-GB" sz="1000" b="0" i="0" kern="1200" dirty="0" smtClean="0">
                <a:solidFill>
                  <a:schemeClr val="tx1"/>
                </a:solidFill>
                <a:effectLst/>
                <a:latin typeface="Arial" panose="020B0604020202020204" pitchFamily="34" charset="0"/>
                <a:ea typeface="+mn-ea"/>
                <a:cs typeface="Arial" panose="020B0604020202020204" pitchFamily="34" charset="0"/>
              </a:rPr>
              <a:t>device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is </a:t>
            </a:r>
            <a:r>
              <a:rPr lang="en-GB" sz="1000" b="0" i="0" kern="1200" dirty="0">
                <a:solidFill>
                  <a:schemeClr val="tx1"/>
                </a:solidFill>
                <a:effectLst/>
                <a:latin typeface="Arial" panose="020B0604020202020204" pitchFamily="34" charset="0"/>
                <a:ea typeface="+mn-ea"/>
                <a:cs typeface="Arial" panose="020B0604020202020204" pitchFamily="34" charset="0"/>
              </a:rPr>
              <a:t>located. </a:t>
            </a:r>
          </a:p>
          <a:p>
            <a:pPr defTabSz="913731">
              <a:defRPr/>
            </a:pPr>
            <a:endParaRPr lang="en-GB" sz="1000" b="0" i="0" kern="1200" dirty="0">
              <a:solidFill>
                <a:schemeClr val="tx1"/>
              </a:solidFill>
              <a:effectLst/>
              <a:latin typeface="Arial" panose="020B0604020202020204" pitchFamily="34" charset="0"/>
              <a:ea typeface="+mn-ea"/>
              <a:cs typeface="Arial" panose="020B0604020202020204" pitchFamily="34" charset="0"/>
            </a:endParaRPr>
          </a:p>
          <a:p>
            <a:pPr defTabSz="913731">
              <a:defRPr/>
            </a:pPr>
            <a:r>
              <a:rPr lang="en-GB" sz="1000" b="0" i="0" kern="1200" dirty="0">
                <a:solidFill>
                  <a:schemeClr val="tx1"/>
                </a:solidFill>
                <a:effectLst/>
                <a:latin typeface="Arial" panose="020B0604020202020204" pitchFamily="34" charset="0"/>
                <a:ea typeface="+mn-ea"/>
                <a:cs typeface="Arial" panose="020B0604020202020204" pitchFamily="34" charset="0"/>
              </a:rPr>
              <a:t>The domain name of each FortiGuard service is the common name in </a:t>
            </a:r>
            <a:r>
              <a:rPr lang="en-US" sz="1000" b="0" i="0" kern="1200" dirty="0" smtClean="0">
                <a:solidFill>
                  <a:schemeClr val="tx1"/>
                </a:solidFill>
                <a:effectLst/>
                <a:latin typeface="Arial" panose="020B0604020202020204" pitchFamily="34" charset="0"/>
                <a:ea typeface="+mn-ea"/>
                <a:cs typeface="Arial" panose="020B0604020202020204" pitchFamily="34" charset="0"/>
              </a:rPr>
              <a:t>the certificate of that service. </a:t>
            </a:r>
            <a:r>
              <a:rPr lang="en-GB" sz="1000" b="0" i="0" kern="1200" dirty="0" smtClean="0">
                <a:solidFill>
                  <a:schemeClr val="tx1"/>
                </a:solidFill>
                <a:effectLst/>
                <a:latin typeface="Arial" panose="020B0604020202020204" pitchFamily="34" charset="0"/>
                <a:ea typeface="+mn-ea"/>
                <a:cs typeface="Arial" panose="020B0604020202020204" pitchFamily="34" charset="0"/>
              </a:rPr>
              <a:t>The </a:t>
            </a:r>
            <a:r>
              <a:rPr lang="en-GB" sz="1000" b="0" i="0" kern="1200" dirty="0">
                <a:solidFill>
                  <a:schemeClr val="tx1"/>
                </a:solidFill>
                <a:effectLst/>
                <a:latin typeface="Arial" panose="020B0604020202020204" pitchFamily="34" charset="0"/>
                <a:ea typeface="+mn-ea"/>
                <a:cs typeface="Arial" panose="020B0604020202020204" pitchFamily="34" charset="0"/>
              </a:rPr>
              <a:t>certificate is signed by a </a:t>
            </a:r>
            <a:r>
              <a:rPr lang="en-GB" sz="1000" b="0" i="0" kern="1200" dirty="0" smtClean="0">
                <a:solidFill>
                  <a:schemeClr val="tx1"/>
                </a:solidFill>
                <a:effectLst/>
                <a:latin typeface="Arial" panose="020B0604020202020204" pitchFamily="34" charset="0"/>
                <a:ea typeface="+mn-ea"/>
                <a:cs typeface="Arial" panose="020B0604020202020204" pitchFamily="34" charset="0"/>
              </a:rPr>
              <a:t>third-party </a:t>
            </a:r>
            <a:r>
              <a:rPr lang="en-GB" sz="1000" b="0" i="0" kern="1200" dirty="0">
                <a:solidFill>
                  <a:schemeClr val="tx1"/>
                </a:solidFill>
                <a:effectLst/>
                <a:latin typeface="Arial" panose="020B0604020202020204" pitchFamily="34" charset="0"/>
                <a:ea typeface="+mn-ea"/>
                <a:cs typeface="Arial" panose="020B0604020202020204" pitchFamily="34" charset="0"/>
              </a:rPr>
              <a:t>intermediate CA. The FortiGuard server uses the Online Certificate Status Protocol (OCSP) stapling technique, so that</a:t>
            </a:r>
            <a:r>
              <a:rPr lang="en-GB" sz="1000" b="0" i="0" kern="1200" baseline="0" dirty="0">
                <a:solidFill>
                  <a:schemeClr val="tx1"/>
                </a:solidFill>
                <a:effectLst/>
                <a:latin typeface="Arial" panose="020B0604020202020204" pitchFamily="34" charset="0"/>
                <a:ea typeface="+mn-ea"/>
                <a:cs typeface="Arial" panose="020B0604020202020204" pitchFamily="34" charset="0"/>
              </a:rPr>
              <a:t> </a:t>
            </a:r>
            <a:r>
              <a:rPr lang="en-GB" sz="1000" b="0" i="0" kern="1200" dirty="0">
                <a:solidFill>
                  <a:schemeClr val="tx1"/>
                </a:solidFill>
                <a:effectLst/>
                <a:latin typeface="Arial" panose="020B0604020202020204" pitchFamily="34" charset="0"/>
                <a:ea typeface="+mn-ea"/>
                <a:cs typeface="Arial" panose="020B0604020202020204" pitchFamily="34" charset="0"/>
              </a:rPr>
              <a:t>FortiGate can always validate the FortiGuard server certificate efficiently.</a:t>
            </a:r>
            <a:r>
              <a:rPr lang="en-GB" sz="1000" b="0" i="0" kern="1200" baseline="0" dirty="0">
                <a:solidFill>
                  <a:schemeClr val="tx1"/>
                </a:solidFill>
                <a:effectLst/>
                <a:latin typeface="Arial" panose="020B0604020202020204" pitchFamily="34" charset="0"/>
                <a:ea typeface="+mn-ea"/>
                <a:cs typeface="Arial" panose="020B0604020202020204" pitchFamily="34" charset="0"/>
              </a:rPr>
              <a:t> </a:t>
            </a:r>
            <a:r>
              <a:rPr lang="en-GB" sz="1000" b="0" i="0" kern="1200" dirty="0">
                <a:solidFill>
                  <a:schemeClr val="tx1"/>
                </a:solidFill>
                <a:effectLst/>
                <a:latin typeface="Arial" panose="020B0604020202020204" pitchFamily="34" charset="0"/>
                <a:ea typeface="+mn-ea"/>
                <a:cs typeface="Arial" panose="020B0604020202020204" pitchFamily="34" charset="0"/>
              </a:rPr>
              <a:t>FortiGate </a:t>
            </a:r>
            <a:r>
              <a:rPr lang="en-GB" sz="1000" b="0" i="0" kern="1200" dirty="0" smtClean="0">
                <a:solidFill>
                  <a:schemeClr val="tx1"/>
                </a:solidFill>
                <a:effectLst/>
                <a:latin typeface="Arial" panose="020B0604020202020204" pitchFamily="34" charset="0"/>
                <a:ea typeface="+mn-ea"/>
                <a:cs typeface="Arial" panose="020B0604020202020204" pitchFamily="34" charset="0"/>
              </a:rPr>
              <a:t>will</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complete </a:t>
            </a:r>
            <a:r>
              <a:rPr lang="en-GB" sz="1000" b="0" i="0" kern="1200" dirty="0">
                <a:solidFill>
                  <a:schemeClr val="tx1"/>
                </a:solidFill>
                <a:effectLst/>
                <a:latin typeface="Arial" panose="020B0604020202020204" pitchFamily="34" charset="0"/>
                <a:ea typeface="+mn-ea"/>
                <a:cs typeface="Arial" panose="020B0604020202020204" pitchFamily="34" charset="0"/>
              </a:rPr>
              <a:t>the TLS handshake </a:t>
            </a:r>
            <a:r>
              <a:rPr lang="en-GB" sz="1000" b="0" i="0" kern="1200" dirty="0" smtClean="0">
                <a:solidFill>
                  <a:schemeClr val="tx1"/>
                </a:solidFill>
                <a:effectLst/>
                <a:latin typeface="Arial" panose="020B0604020202020204" pitchFamily="34" charset="0"/>
                <a:ea typeface="+mn-ea"/>
                <a:cs typeface="Arial" panose="020B0604020202020204" pitchFamily="34" charset="0"/>
              </a:rPr>
              <a:t>only with </a:t>
            </a:r>
            <a:r>
              <a:rPr lang="en-GB" sz="1000" b="0" i="0" kern="1200" dirty="0">
                <a:solidFill>
                  <a:schemeClr val="tx1"/>
                </a:solidFill>
                <a:effectLst/>
                <a:latin typeface="Arial" panose="020B0604020202020204" pitchFamily="34" charset="0"/>
                <a:ea typeface="+mn-ea"/>
                <a:cs typeface="Arial" panose="020B0604020202020204" pitchFamily="34" charset="0"/>
              </a:rPr>
              <a:t>a </a:t>
            </a:r>
            <a:r>
              <a:rPr lang="en-GB" sz="1000" b="0" i="0" kern="1200" dirty="0" err="1">
                <a:solidFill>
                  <a:schemeClr val="tx1"/>
                </a:solidFill>
                <a:effectLst/>
                <a:latin typeface="Arial" panose="020B0604020202020204" pitchFamily="34" charset="0"/>
                <a:ea typeface="+mn-ea"/>
                <a:cs typeface="Arial" panose="020B0604020202020204" pitchFamily="34" charset="0"/>
              </a:rPr>
              <a:t>FortiGuard</a:t>
            </a:r>
            <a:r>
              <a:rPr lang="en-GB" sz="1000" b="0" i="0" kern="1200" dirty="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server that </a:t>
            </a:r>
            <a:r>
              <a:rPr lang="en-GB" sz="1000" b="0" i="0" kern="1200" dirty="0">
                <a:solidFill>
                  <a:schemeClr val="tx1"/>
                </a:solidFill>
                <a:effectLst/>
                <a:latin typeface="Arial" panose="020B0604020202020204" pitchFamily="34" charset="0"/>
                <a:ea typeface="+mn-ea"/>
                <a:cs typeface="Arial" panose="020B0604020202020204" pitchFamily="34" charset="0"/>
              </a:rPr>
              <a:t>provides a </a:t>
            </a:r>
            <a:r>
              <a:rPr lang="en-GB" sz="1000" b="0" i="1" kern="1200" dirty="0">
                <a:solidFill>
                  <a:schemeClr val="tx1"/>
                </a:solidFill>
                <a:effectLst/>
                <a:latin typeface="Arial" panose="020B0604020202020204" pitchFamily="34" charset="0"/>
                <a:ea typeface="+mn-ea"/>
                <a:cs typeface="Arial" panose="020B0604020202020204" pitchFamily="34" charset="0"/>
              </a:rPr>
              <a:t>good</a:t>
            </a:r>
            <a:r>
              <a:rPr lang="en-GB" sz="1000" b="0" i="0" kern="1200" dirty="0">
                <a:solidFill>
                  <a:schemeClr val="tx1"/>
                </a:solidFill>
                <a:effectLst/>
                <a:latin typeface="Arial" panose="020B0604020202020204" pitchFamily="34" charset="0"/>
                <a:ea typeface="+mn-ea"/>
                <a:cs typeface="Arial" panose="020B0604020202020204" pitchFamily="34" charset="0"/>
              </a:rPr>
              <a:t> OCSP status for its </a:t>
            </a:r>
            <a:r>
              <a:rPr lang="en-GB" sz="1000" b="0" i="0" kern="1200" dirty="0" smtClean="0">
                <a:solidFill>
                  <a:schemeClr val="tx1"/>
                </a:solidFill>
                <a:effectLst/>
                <a:latin typeface="Arial" panose="020B0604020202020204" pitchFamily="34" charset="0"/>
                <a:ea typeface="+mn-ea"/>
                <a:cs typeface="Arial" panose="020B0604020202020204" pitchFamily="34" charset="0"/>
              </a:rPr>
              <a:t>certificate.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GB" sz="1000" b="0" i="0" kern="1200" baseline="0" dirty="0">
                <a:solidFill>
                  <a:schemeClr val="tx1"/>
                </a:solidFill>
                <a:effectLst/>
                <a:latin typeface="Arial" panose="020B0604020202020204" pitchFamily="34" charset="0"/>
                <a:ea typeface="+mn-ea"/>
                <a:cs typeface="Arial" panose="020B0604020202020204" pitchFamily="34" charset="0"/>
              </a:rPr>
              <a:t>A</a:t>
            </a:r>
            <a:r>
              <a:rPr lang="en-GB" sz="1000" b="0" i="0" kern="1200" dirty="0" smtClean="0">
                <a:solidFill>
                  <a:schemeClr val="tx1"/>
                </a:solidFill>
                <a:effectLst/>
                <a:latin typeface="Arial" panose="020B0604020202020204" pitchFamily="34" charset="0"/>
                <a:ea typeface="+mn-ea"/>
                <a:cs typeface="Arial" panose="020B0604020202020204" pitchFamily="34" charset="0"/>
              </a:rPr>
              <a:t>ny </a:t>
            </a:r>
            <a:r>
              <a:rPr lang="en-GB" sz="1000" b="0" i="0" kern="1200" dirty="0">
                <a:solidFill>
                  <a:schemeClr val="tx1"/>
                </a:solidFill>
                <a:effectLst/>
                <a:latin typeface="Arial" panose="020B0604020202020204" pitchFamily="34" charset="0"/>
                <a:ea typeface="+mn-ea"/>
                <a:cs typeface="Arial" panose="020B0604020202020204" pitchFamily="34" charset="0"/>
              </a:rPr>
              <a:t>other </a:t>
            </a:r>
            <a:r>
              <a:rPr lang="en-GB" sz="1000" b="0" i="0" kern="1200" dirty="0" smtClean="0">
                <a:solidFill>
                  <a:schemeClr val="tx1"/>
                </a:solidFill>
                <a:effectLst/>
                <a:latin typeface="Arial" panose="020B0604020202020204" pitchFamily="34" charset="0"/>
                <a:ea typeface="+mn-ea"/>
                <a:cs typeface="Arial" panose="020B0604020202020204" pitchFamily="34" charset="0"/>
              </a:rPr>
              <a:t>status</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results </a:t>
            </a:r>
            <a:r>
              <a:rPr lang="en-GB" sz="1000" b="0" i="0" kern="1200" dirty="0">
                <a:solidFill>
                  <a:schemeClr val="tx1"/>
                </a:solidFill>
                <a:effectLst/>
                <a:latin typeface="Arial" panose="020B0604020202020204" pitchFamily="34" charset="0"/>
                <a:ea typeface="+mn-ea"/>
                <a:cs typeface="Arial" panose="020B0604020202020204" pitchFamily="34" charset="0"/>
              </a:rPr>
              <a:t>in a failed SSL connection. </a:t>
            </a:r>
          </a:p>
          <a:p>
            <a:pPr defTabSz="913731">
              <a:defRPr/>
            </a:pPr>
            <a:endParaRPr lang="en-GB" dirty="0"/>
          </a:p>
          <a:p>
            <a:pPr defTabSz="913731">
              <a:defRPr/>
            </a:pPr>
            <a:r>
              <a:rPr lang="en-GB" sz="1000" b="0" i="0" kern="1200" dirty="0">
                <a:solidFill>
                  <a:schemeClr val="tx1"/>
                </a:solidFill>
                <a:effectLst/>
                <a:latin typeface="Arial" panose="020B0604020202020204" pitchFamily="34" charset="0"/>
                <a:ea typeface="+mn-ea"/>
                <a:cs typeface="Arial" panose="020B0604020202020204" pitchFamily="34" charset="0"/>
              </a:rPr>
              <a:t>The FortiGuard servers query the </a:t>
            </a:r>
            <a:r>
              <a:rPr lang="en-GB" sz="1000" b="0" i="0" kern="1200" dirty="0" smtClean="0">
                <a:solidFill>
                  <a:schemeClr val="tx1"/>
                </a:solidFill>
                <a:effectLst/>
                <a:latin typeface="Arial" panose="020B0604020202020204" pitchFamily="34" charset="0"/>
                <a:ea typeface="+mn-ea"/>
                <a:cs typeface="Arial" panose="020B0604020202020204" pitchFamily="34" charset="0"/>
              </a:rPr>
              <a:t>OCSP </a:t>
            </a:r>
            <a:r>
              <a:rPr lang="en-GB" sz="1000" b="0" i="0" kern="1200" dirty="0">
                <a:solidFill>
                  <a:schemeClr val="tx1"/>
                </a:solidFill>
                <a:effectLst/>
                <a:latin typeface="Arial" panose="020B0604020202020204" pitchFamily="34" charset="0"/>
                <a:ea typeface="+mn-ea"/>
                <a:cs typeface="Arial" panose="020B0604020202020204" pitchFamily="34" charset="0"/>
              </a:rPr>
              <a:t>responder </a:t>
            </a:r>
            <a:r>
              <a:rPr lang="en-GB" sz="1000" b="0" i="0" kern="1200" dirty="0" smtClean="0">
                <a:solidFill>
                  <a:schemeClr val="tx1"/>
                </a:solidFill>
                <a:effectLst/>
                <a:latin typeface="Arial" panose="020B0604020202020204" pitchFamily="34" charset="0"/>
                <a:ea typeface="+mn-ea"/>
                <a:cs typeface="Arial" panose="020B0604020202020204" pitchFamily="34" charset="0"/>
              </a:rPr>
              <a:t>of the CA every </a:t>
            </a:r>
            <a:r>
              <a:rPr lang="en-GB" sz="1000" b="0" i="0" kern="1200" dirty="0">
                <a:solidFill>
                  <a:schemeClr val="tx1"/>
                </a:solidFill>
                <a:effectLst/>
                <a:latin typeface="Arial" panose="020B0604020202020204" pitchFamily="34" charset="0"/>
                <a:ea typeface="+mn-ea"/>
                <a:cs typeface="Arial" panose="020B0604020202020204" pitchFamily="34" charset="0"/>
              </a:rPr>
              <a:t>four hours and update its OCSP status. If </a:t>
            </a:r>
            <a:r>
              <a:rPr lang="en-GB" sz="1000" b="0" i="0" kern="1200" dirty="0" err="1" smtClean="0">
                <a:solidFill>
                  <a:schemeClr val="tx1"/>
                </a:solidFill>
                <a:effectLst/>
                <a:latin typeface="Arial" panose="020B0604020202020204" pitchFamily="34" charset="0"/>
                <a:ea typeface="+mn-ea"/>
                <a:cs typeface="Arial" panose="020B0604020202020204" pitchFamily="34" charset="0"/>
              </a:rPr>
              <a:t>FortiGuard</a:t>
            </a:r>
            <a:r>
              <a:rPr lang="en-GB" sz="1000" b="0" i="0" kern="1200" dirty="0" smtClean="0">
                <a:solidFill>
                  <a:schemeClr val="tx1"/>
                </a:solidFill>
                <a:effectLst/>
                <a:latin typeface="Arial" panose="020B0604020202020204" pitchFamily="34" charset="0"/>
                <a:ea typeface="+mn-ea"/>
                <a:cs typeface="Arial" panose="020B0604020202020204" pitchFamily="34" charset="0"/>
              </a:rPr>
              <a:t> </a:t>
            </a:r>
            <a:r>
              <a:rPr lang="en-GB" sz="1000" b="0" i="0" kern="1200" dirty="0">
                <a:solidFill>
                  <a:schemeClr val="tx1"/>
                </a:solidFill>
                <a:effectLst/>
                <a:latin typeface="Arial" panose="020B0604020202020204" pitchFamily="34" charset="0"/>
                <a:ea typeface="+mn-ea"/>
                <a:cs typeface="Arial" panose="020B0604020202020204" pitchFamily="34" charset="0"/>
              </a:rPr>
              <a:t>is unable to reach the OCSP responder, </a:t>
            </a:r>
            <a:r>
              <a:rPr lang="en-GB" sz="1000" b="0" i="0" kern="1200" dirty="0" smtClean="0">
                <a:solidFill>
                  <a:schemeClr val="tx1"/>
                </a:solidFill>
                <a:effectLst/>
                <a:latin typeface="Arial" panose="020B0604020202020204" pitchFamily="34" charset="0"/>
                <a:ea typeface="+mn-ea"/>
                <a:cs typeface="Arial" panose="020B0604020202020204" pitchFamily="34" charset="0"/>
              </a:rPr>
              <a:t>it</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keeps </a:t>
            </a:r>
            <a:r>
              <a:rPr lang="en-GB" sz="1000" b="0" i="0" kern="1200" dirty="0">
                <a:solidFill>
                  <a:schemeClr val="tx1"/>
                </a:solidFill>
                <a:effectLst/>
                <a:latin typeface="Arial" panose="020B0604020202020204" pitchFamily="34" charset="0"/>
                <a:ea typeface="+mn-ea"/>
                <a:cs typeface="Arial" panose="020B0604020202020204" pitchFamily="34" charset="0"/>
              </a:rPr>
              <a:t>the last known OCSP status for seven days. </a:t>
            </a:r>
          </a:p>
          <a:p>
            <a:pPr defTabSz="913731">
              <a:defRPr/>
            </a:pPr>
            <a:endParaRPr lang="en-GB" sz="1000" b="0" i="0" kern="1200" dirty="0">
              <a:solidFill>
                <a:schemeClr val="tx1"/>
              </a:solidFill>
              <a:effectLst/>
              <a:latin typeface="Arial" panose="020B0604020202020204" pitchFamily="34" charset="0"/>
              <a:ea typeface="+mn-ea"/>
              <a:cs typeface="Arial" panose="020B0604020202020204" pitchFamily="34" charset="0"/>
            </a:endParaRPr>
          </a:p>
          <a:p>
            <a:pPr defTabSz="913731">
              <a:defRPr/>
            </a:pPr>
            <a:r>
              <a:rPr lang="en-GB" sz="1000" b="0" i="0" kern="1200" dirty="0">
                <a:solidFill>
                  <a:schemeClr val="tx1"/>
                </a:solidFill>
                <a:effectLst/>
                <a:latin typeface="Arial" panose="020B0604020202020204" pitchFamily="34" charset="0"/>
                <a:ea typeface="+mn-ea"/>
                <a:cs typeface="Arial" panose="020B0604020202020204" pitchFamily="34" charset="0"/>
              </a:rPr>
              <a:t>FortiGate</a:t>
            </a:r>
            <a:r>
              <a:rPr lang="en-GB" sz="1000" b="0" i="0" kern="1200" baseline="0" dirty="0">
                <a:solidFill>
                  <a:schemeClr val="tx1"/>
                </a:solidFill>
                <a:effectLst/>
                <a:latin typeface="Arial" panose="020B0604020202020204" pitchFamily="34" charset="0"/>
                <a:ea typeface="+mn-ea"/>
                <a:cs typeface="Arial" panose="020B0604020202020204" pitchFamily="34" charset="0"/>
              </a:rPr>
              <a:t> aborts </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the connection </a:t>
            </a:r>
            <a:r>
              <a:rPr lang="en-GB" sz="1000" b="0" i="0" kern="1200" baseline="0" dirty="0">
                <a:solidFill>
                  <a:schemeClr val="tx1"/>
                </a:solidFill>
                <a:effectLst/>
                <a:latin typeface="Arial" panose="020B0604020202020204" pitchFamily="34" charset="0"/>
                <a:ea typeface="+mn-ea"/>
                <a:cs typeface="Arial" panose="020B0604020202020204" pitchFamily="34" charset="0"/>
              </a:rPr>
              <a:t>to the FortiGuard server if:</a:t>
            </a:r>
          </a:p>
          <a:p>
            <a:pPr marL="171450" indent="-171450">
              <a:buFont typeface="Arial" panose="020B0604020202020204" pitchFamily="34" charset="0"/>
              <a:buChar char="•"/>
            </a:pPr>
            <a:r>
              <a:rPr lang="en-GB" sz="1000" b="0" i="0" kern="1200" dirty="0">
                <a:solidFill>
                  <a:schemeClr val="tx1"/>
                </a:solidFill>
                <a:effectLst/>
                <a:latin typeface="Arial" panose="020B0604020202020204" pitchFamily="34" charset="0"/>
                <a:ea typeface="+mn-ea"/>
                <a:cs typeface="Arial" panose="020B0604020202020204" pitchFamily="34" charset="0"/>
              </a:rPr>
              <a:t>The CN in the </a:t>
            </a:r>
            <a:r>
              <a:rPr lang="en-GB" sz="1000" b="0" i="0" kern="1200" dirty="0" smtClean="0">
                <a:solidFill>
                  <a:schemeClr val="tx1"/>
                </a:solidFill>
                <a:effectLst/>
                <a:latin typeface="Arial" panose="020B0604020202020204" pitchFamily="34" charset="0"/>
                <a:ea typeface="+mn-ea"/>
                <a:cs typeface="Arial" panose="020B0604020202020204" pitchFamily="34" charset="0"/>
              </a:rPr>
              <a:t>server </a:t>
            </a:r>
            <a:r>
              <a:rPr lang="en-GB" sz="1000" b="0" i="0" kern="1200" dirty="0">
                <a:solidFill>
                  <a:schemeClr val="tx1"/>
                </a:solidFill>
                <a:effectLst/>
                <a:latin typeface="Arial" panose="020B0604020202020204" pitchFamily="34" charset="0"/>
                <a:ea typeface="+mn-ea"/>
                <a:cs typeface="Arial" panose="020B0604020202020204" pitchFamily="34" charset="0"/>
              </a:rPr>
              <a:t>certificate does not match the domain name resolved from the DNS.</a:t>
            </a:r>
          </a:p>
          <a:p>
            <a:pPr marL="171450" indent="-171450">
              <a:buFont typeface="Arial" panose="020B0604020202020204" pitchFamily="34" charset="0"/>
              <a:buChar char="•"/>
            </a:pPr>
            <a:r>
              <a:rPr lang="en-GB" sz="1000" b="0" i="0" kern="1200" dirty="0">
                <a:solidFill>
                  <a:schemeClr val="tx1"/>
                </a:solidFill>
                <a:effectLst/>
                <a:latin typeface="Arial" panose="020B0604020202020204" pitchFamily="34" charset="0"/>
                <a:ea typeface="+mn-ea"/>
                <a:cs typeface="Arial" panose="020B0604020202020204" pitchFamily="34" charset="0"/>
              </a:rPr>
              <a:t>The OCSP status is not good.</a:t>
            </a:r>
          </a:p>
          <a:p>
            <a:pPr marL="171450" indent="-171450">
              <a:buFont typeface="Arial" panose="020B0604020202020204" pitchFamily="34" charset="0"/>
              <a:buChar char="•"/>
            </a:pPr>
            <a:r>
              <a:rPr lang="en-GB" sz="1000" b="0" i="0" kern="1200" dirty="0">
                <a:solidFill>
                  <a:schemeClr val="tx1"/>
                </a:solidFill>
                <a:effectLst/>
                <a:latin typeface="Arial" panose="020B0604020202020204" pitchFamily="34" charset="0"/>
                <a:ea typeface="+mn-ea"/>
                <a:cs typeface="Arial" panose="020B0604020202020204" pitchFamily="34" charset="0"/>
              </a:rPr>
              <a:t>The issuer-CA is revoked by the root-CA.</a:t>
            </a:r>
          </a:p>
          <a:p>
            <a:pPr marL="0" indent="0">
              <a:buFont typeface="Arial" panose="020B0604020202020204" pitchFamily="34" charset="0"/>
              <a:buNone/>
            </a:pPr>
            <a:endParaRPr lang="en-GB" sz="1000" b="0" i="0" kern="1200" dirty="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GB" sz="1000" b="0" i="0" kern="1200" dirty="0">
                <a:solidFill>
                  <a:schemeClr val="tx1"/>
                </a:solidFill>
                <a:effectLst/>
                <a:latin typeface="Arial" panose="020B0604020202020204" pitchFamily="34" charset="0"/>
                <a:ea typeface="+mn-ea"/>
                <a:cs typeface="Arial" panose="020B0604020202020204" pitchFamily="34" charset="0"/>
              </a:rPr>
              <a:t>The </a:t>
            </a:r>
            <a:r>
              <a:rPr lang="en-GB" sz="1000" b="0" i="0" kern="1200" dirty="0" err="1">
                <a:solidFill>
                  <a:schemeClr val="tx1"/>
                </a:solidFill>
                <a:effectLst/>
                <a:latin typeface="Arial" panose="020B0604020202020204" pitchFamily="34" charset="0"/>
                <a:ea typeface="+mn-ea"/>
                <a:cs typeface="Arial" panose="020B0604020202020204" pitchFamily="34" charset="0"/>
              </a:rPr>
              <a:t>FortiGuard</a:t>
            </a:r>
            <a:r>
              <a:rPr lang="en-GB" sz="1000" b="0" i="0" kern="1200" dirty="0">
                <a:solidFill>
                  <a:schemeClr val="tx1"/>
                </a:solidFill>
                <a:effectLst/>
                <a:latin typeface="Arial" panose="020B0604020202020204" pitchFamily="34" charset="0"/>
                <a:ea typeface="+mn-ea"/>
                <a:cs typeface="Arial" panose="020B0604020202020204" pitchFamily="34" charset="0"/>
              </a:rPr>
              <a:t> access mode </a:t>
            </a:r>
            <a:r>
              <a:rPr lang="en-GB" sz="1000" b="0" i="1" kern="1200" dirty="0" err="1">
                <a:solidFill>
                  <a:schemeClr val="tx1"/>
                </a:solidFill>
                <a:effectLst/>
                <a:latin typeface="Arial" panose="020B0604020202020204" pitchFamily="34" charset="0"/>
                <a:ea typeface="+mn-ea"/>
                <a:cs typeface="Arial" panose="020B0604020202020204" pitchFamily="34" charset="0"/>
              </a:rPr>
              <a:t>anycast</a:t>
            </a:r>
            <a:r>
              <a:rPr lang="en-GB" sz="1000" b="0" i="0" kern="1200" dirty="0">
                <a:solidFill>
                  <a:schemeClr val="tx1"/>
                </a:solidFill>
                <a:effectLst/>
                <a:latin typeface="Arial" panose="020B0604020202020204" pitchFamily="34" charset="0"/>
                <a:ea typeface="+mn-ea"/>
                <a:cs typeface="Arial" panose="020B0604020202020204" pitchFamily="34" charset="0"/>
              </a:rPr>
              <a:t> </a:t>
            </a:r>
            <a:r>
              <a:rPr lang="en-GB" sz="1000" b="0" i="0" kern="1200" dirty="0" smtClean="0">
                <a:solidFill>
                  <a:schemeClr val="tx1"/>
                </a:solidFill>
                <a:effectLst/>
                <a:latin typeface="Arial" panose="020B0604020202020204" pitchFamily="34" charset="0"/>
                <a:ea typeface="+mn-ea"/>
                <a:cs typeface="Arial" panose="020B0604020202020204" pitchFamily="34" charset="0"/>
              </a:rPr>
              <a:t>setting forces </a:t>
            </a:r>
            <a:r>
              <a:rPr lang="en-GB" sz="1000" b="0" i="0" kern="1200" dirty="0">
                <a:solidFill>
                  <a:schemeClr val="tx1"/>
                </a:solidFill>
                <a:effectLst/>
                <a:latin typeface="Arial" panose="020B0604020202020204" pitchFamily="34" charset="0"/>
                <a:ea typeface="+mn-ea"/>
                <a:cs typeface="Arial" panose="020B0604020202020204" pitchFamily="34" charset="0"/>
              </a:rPr>
              <a:t>the rating process to use protocol HTTPS, and  port 443. The tabl</a:t>
            </a:r>
            <a:r>
              <a:rPr lang="en-GB" dirty="0"/>
              <a:t>e </a:t>
            </a:r>
            <a:r>
              <a:rPr lang="en-GB" dirty="0" smtClean="0"/>
              <a:t>on</a:t>
            </a:r>
            <a:r>
              <a:rPr lang="en-GB" baseline="0" dirty="0" smtClean="0"/>
              <a:t> this</a:t>
            </a:r>
            <a:r>
              <a:rPr lang="en-GB" dirty="0" smtClean="0"/>
              <a:t> slide</a:t>
            </a:r>
            <a:r>
              <a:rPr lang="en-GB" baseline="0" dirty="0" smtClean="0"/>
              <a:t> </a:t>
            </a:r>
            <a:r>
              <a:rPr lang="en-GB" dirty="0" smtClean="0"/>
              <a:t>shows </a:t>
            </a:r>
            <a:r>
              <a:rPr lang="en-GB" dirty="0"/>
              <a:t>a list of </a:t>
            </a:r>
            <a:r>
              <a:rPr lang="en-GB" dirty="0" smtClean="0"/>
              <a:t>some of </a:t>
            </a:r>
            <a:r>
              <a:rPr lang="en-GB" dirty="0"/>
              <a:t>the FortiGuard servers and their domain </a:t>
            </a:r>
            <a:r>
              <a:rPr lang="en-GB" dirty="0" smtClean="0"/>
              <a:t>name</a:t>
            </a:r>
            <a:r>
              <a:rPr lang="en-GB" baseline="0" dirty="0" smtClean="0"/>
              <a:t>s and </a:t>
            </a:r>
            <a:r>
              <a:rPr lang="en-GB" baseline="0" dirty="0"/>
              <a:t>IP </a:t>
            </a:r>
            <a:r>
              <a:rPr lang="en-GB" baseline="0" dirty="0" smtClean="0"/>
              <a:t>addresses</a:t>
            </a:r>
            <a:r>
              <a:rPr lang="en-GB" dirty="0" smtClean="0"/>
              <a:t>.</a:t>
            </a:r>
            <a:endParaRPr lang="en-GB" sz="1000" b="0" i="0" kern="1200" dirty="0">
              <a:solidFill>
                <a:schemeClr val="tx1"/>
              </a:solidFill>
              <a:effectLst/>
              <a:latin typeface="Arial" panose="020B0604020202020204" pitchFamily="34" charset="0"/>
              <a:ea typeface="+mn-ea"/>
              <a:cs typeface="Arial" panose="020B0604020202020204" pitchFamily="34" charset="0"/>
            </a:endParaRPr>
          </a:p>
          <a:p>
            <a:pPr defTabSz="913731">
              <a:defRPr/>
            </a:pPr>
            <a:endParaRPr lang="en-US" b="0"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6275595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312643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dirty="0"/>
              <a:t>Good job!  You now understand </a:t>
            </a:r>
            <a:r>
              <a:rPr lang="en-CA" baseline="0" dirty="0"/>
              <a:t>how to perform the initial setup of </a:t>
            </a:r>
            <a:r>
              <a:rPr lang="en-CA" baseline="0" dirty="0" err="1"/>
              <a:t>FortiGate</a:t>
            </a:r>
            <a:r>
              <a:rPr lang="en-CA" baseline="0" dirty="0"/>
              <a:t> and why you might decide to use one configuration over another. Now, you will learn about basic administration.</a:t>
            </a:r>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After</a:t>
            </a:r>
            <a:r>
              <a:rPr lang="en-CA" baseline="0" dirty="0"/>
              <a:t> completing t</a:t>
            </a:r>
            <a:r>
              <a:rPr lang="en-CA" dirty="0"/>
              <a:t>his lesson, you should</a:t>
            </a:r>
            <a:r>
              <a:rPr lang="en-CA" baseline="0" dirty="0"/>
              <a:t> be able to </a:t>
            </a:r>
            <a:r>
              <a:rPr lang="en-US" dirty="0"/>
              <a:t>achieve the objectives shown on this slide.</a:t>
            </a:r>
          </a:p>
          <a:p>
            <a:endParaRPr lang="en-CA" dirty="0"/>
          </a:p>
          <a:p>
            <a:r>
              <a:rPr lang="en-CA" baseline="0" dirty="0"/>
              <a:t>By demonstrating competence in basic administration, you will be able to better manage administrative users and implement stronger security practices around administrative access.</a:t>
            </a:r>
            <a:endParaRPr lang="en-CA" dirty="0"/>
          </a:p>
        </p:txBody>
      </p:sp>
      <p:sp>
        <p:nvSpPr>
          <p:cNvPr id="5" name="Header Placeholder 4"/>
          <p:cNvSpPr>
            <a:spLocks noGrp="1"/>
          </p:cNvSpPr>
          <p:nvPr>
            <p:ph type="hdr" sz="quarter" idx="10"/>
          </p:nvPr>
        </p:nvSpPr>
        <p:spPr/>
        <p:txBody>
          <a:bodyPr/>
          <a:lstStyle/>
          <a:p>
            <a:pPr algn="r"/>
            <a:r>
              <a:rPr lang="en-US" sz="1000" dirty="0">
                <a:cs typeface="Arial" pitchFamily="34" charset="0"/>
              </a:rPr>
              <a:t>Introduction and Initial Configuration</a:t>
            </a:r>
          </a:p>
        </p:txBody>
      </p:sp>
    </p:spTree>
    <p:extLst>
      <p:ext uri="{BB962C8B-B14F-4D97-AF65-F5344CB8AC3E}">
        <p14:creationId xmlns:p14="http://schemas.microsoft.com/office/powerpoint/2010/main" val="3801498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type="body" idx="1"/>
          </p:nvPr>
        </p:nvSpPr>
        <p:spPr/>
        <p:txBody>
          <a:bodyPr/>
          <a:lstStyle/>
          <a:p>
            <a:r>
              <a:rPr lang="en-US" b="0" kern="1200" dirty="0">
                <a:solidFill>
                  <a:schemeClr val="tx1"/>
                </a:solidFill>
                <a:effectLst/>
                <a:cs typeface="Arial" pitchFamily="34" charset="0"/>
              </a:rPr>
              <a:t>Most features are available on both the GUI and CLI,</a:t>
            </a:r>
            <a:r>
              <a:rPr lang="en-US" b="0" kern="1200" baseline="0" dirty="0">
                <a:solidFill>
                  <a:schemeClr val="tx1"/>
                </a:solidFill>
                <a:effectLst/>
                <a:cs typeface="Arial" pitchFamily="34" charset="0"/>
              </a:rPr>
              <a:t> but t</a:t>
            </a:r>
            <a:r>
              <a:rPr lang="en-US" b="0" kern="1200" dirty="0">
                <a:solidFill>
                  <a:schemeClr val="tx1"/>
                </a:solidFill>
                <a:effectLst/>
                <a:cs typeface="Arial" pitchFamily="34" charset="0"/>
              </a:rPr>
              <a:t>here are a few exceptions. </a:t>
            </a:r>
            <a:r>
              <a:rPr lang="en-US" b="0" kern="1200" dirty="0" smtClean="0">
                <a:solidFill>
                  <a:schemeClr val="tx1"/>
                </a:solidFill>
                <a:effectLst/>
                <a:cs typeface="Arial" pitchFamily="34" charset="0"/>
              </a:rPr>
              <a:t>You can't view reports on </a:t>
            </a:r>
            <a:r>
              <a:rPr lang="en-US" b="0" kern="1200" dirty="0">
                <a:solidFill>
                  <a:schemeClr val="tx1"/>
                </a:solidFill>
                <a:effectLst/>
                <a:cs typeface="Arial" pitchFamily="34" charset="0"/>
              </a:rPr>
              <a:t>the CLI.</a:t>
            </a:r>
            <a:r>
              <a:rPr lang="en-US" b="0" kern="1200" baseline="0" dirty="0">
                <a:solidFill>
                  <a:schemeClr val="tx1"/>
                </a:solidFill>
                <a:effectLst/>
                <a:cs typeface="Arial" pitchFamily="34" charset="0"/>
              </a:rPr>
              <a:t> </a:t>
            </a:r>
            <a:r>
              <a:rPr lang="en-CA" b="0" kern="1200" baseline="0" dirty="0">
                <a:solidFill>
                  <a:schemeClr val="tx1"/>
                </a:solidFill>
                <a:effectLst/>
                <a:cs typeface="Arial" pitchFamily="34" charset="0"/>
              </a:rPr>
              <a:t>Also, </a:t>
            </a:r>
            <a:r>
              <a:rPr lang="en-CA" b="0" kern="1200" baseline="0" dirty="0" smtClean="0">
                <a:solidFill>
                  <a:schemeClr val="tx1"/>
                </a:solidFill>
                <a:effectLst/>
                <a:cs typeface="Arial" pitchFamily="34" charset="0"/>
              </a:rPr>
              <a:t>advanced </a:t>
            </a:r>
            <a:r>
              <a:rPr lang="en-CA" b="0" kern="1200" baseline="0" dirty="0">
                <a:solidFill>
                  <a:schemeClr val="tx1"/>
                </a:solidFill>
                <a:effectLst/>
                <a:cs typeface="Arial" pitchFamily="34" charset="0"/>
              </a:rPr>
              <a:t>settings and diagnostic commands for super users are usually not available on the GUI.</a:t>
            </a:r>
            <a:endParaRPr lang="en-US" b="0" kern="1200" dirty="0">
              <a:solidFill>
                <a:schemeClr val="tx1"/>
              </a:solidFill>
              <a:effectLst/>
              <a:cs typeface="Arial" pitchFamily="34" charset="0"/>
            </a:endParaRPr>
          </a:p>
          <a:p>
            <a:endParaRPr lang="en-US" b="0" kern="1200" dirty="0">
              <a:solidFill>
                <a:schemeClr val="tx1"/>
              </a:solidFill>
              <a:effectLst/>
              <a:cs typeface="Arial" pitchFamily="34" charset="0"/>
            </a:endParaRPr>
          </a:p>
          <a:p>
            <a:r>
              <a:rPr lang="en-US" b="0" kern="1200" dirty="0">
                <a:solidFill>
                  <a:schemeClr val="tx1"/>
                </a:solidFill>
                <a:effectLst/>
                <a:cs typeface="Arial" pitchFamily="34" charset="0"/>
              </a:rPr>
              <a:t>As you become more familiar with FortiGate, and especially if you want to script its configuration, you </a:t>
            </a:r>
            <a:r>
              <a:rPr lang="en-US" b="0" kern="1200" dirty="0" smtClean="0">
                <a:solidFill>
                  <a:schemeClr val="tx1"/>
                </a:solidFill>
                <a:effectLst/>
                <a:cs typeface="Arial" pitchFamily="34" charset="0"/>
              </a:rPr>
              <a:t>might </a:t>
            </a:r>
            <a:r>
              <a:rPr lang="en-US" b="0" kern="1200" dirty="0">
                <a:solidFill>
                  <a:schemeClr val="tx1"/>
                </a:solidFill>
                <a:effectLst/>
                <a:cs typeface="Arial" pitchFamily="34" charset="0"/>
              </a:rPr>
              <a:t>want to use the CLI in addition</a:t>
            </a:r>
            <a:r>
              <a:rPr lang="en-US" b="0" kern="1200" baseline="0" dirty="0">
                <a:solidFill>
                  <a:schemeClr val="tx1"/>
                </a:solidFill>
                <a:effectLst/>
                <a:cs typeface="Arial" pitchFamily="34" charset="0"/>
              </a:rPr>
              <a:t> to the GUI</a:t>
            </a:r>
            <a:r>
              <a:rPr lang="en-US" b="0" kern="1200" dirty="0">
                <a:solidFill>
                  <a:schemeClr val="tx1"/>
                </a:solidFill>
                <a:effectLst/>
                <a:cs typeface="Arial" pitchFamily="34" charset="0"/>
              </a:rPr>
              <a:t>. You can access the CLI through</a:t>
            </a:r>
            <a:r>
              <a:rPr lang="en-US" b="0" kern="1200" baseline="0" dirty="0">
                <a:solidFill>
                  <a:schemeClr val="tx1"/>
                </a:solidFill>
                <a:effectLst/>
                <a:cs typeface="Arial" pitchFamily="34" charset="0"/>
              </a:rPr>
              <a:t> </a:t>
            </a:r>
            <a:r>
              <a:rPr lang="en-US" b="0" kern="1200" dirty="0">
                <a:solidFill>
                  <a:schemeClr val="tx1"/>
                </a:solidFill>
                <a:effectLst/>
                <a:cs typeface="Arial" pitchFamily="34" charset="0"/>
              </a:rPr>
              <a:t>either the JavaScript widget </a:t>
            </a:r>
            <a:r>
              <a:rPr lang="en-US" b="0" kern="1200" dirty="0" smtClean="0">
                <a:solidFill>
                  <a:schemeClr val="tx1"/>
                </a:solidFill>
                <a:effectLst/>
                <a:cs typeface="Arial" pitchFamily="34" charset="0"/>
              </a:rPr>
              <a:t>on </a:t>
            </a:r>
            <a:r>
              <a:rPr lang="en-US" b="0" kern="1200" dirty="0">
                <a:solidFill>
                  <a:schemeClr val="tx1"/>
                </a:solidFill>
                <a:effectLst/>
                <a:cs typeface="Arial" pitchFamily="34" charset="0"/>
              </a:rPr>
              <a:t>the GUI named </a:t>
            </a:r>
            <a:r>
              <a:rPr lang="en-US" b="1" i="0" kern="1200" dirty="0">
                <a:solidFill>
                  <a:schemeClr val="tx1"/>
                </a:solidFill>
                <a:effectLst/>
                <a:cs typeface="Arial" pitchFamily="34" charset="0"/>
              </a:rPr>
              <a:t>CLI Console</a:t>
            </a:r>
            <a:r>
              <a:rPr lang="en-US" b="0" kern="1200" dirty="0">
                <a:solidFill>
                  <a:schemeClr val="tx1"/>
                </a:solidFill>
                <a:effectLst/>
                <a:cs typeface="Arial" pitchFamily="34" charset="0"/>
              </a:rPr>
              <a:t>, or through a terminal emulator such as Tera Term (</a:t>
            </a:r>
            <a:r>
              <a:rPr lang="en-US" b="0" u="sng" kern="1200" dirty="0">
                <a:solidFill>
                  <a:schemeClr val="tx1"/>
                </a:solidFill>
                <a:effectLst/>
                <a:cs typeface="Arial" panose="020B0604020202020204" pitchFamily="34" charset="0"/>
                <a:hlinkClick r:id="rId3"/>
              </a:rPr>
              <a:t>http://ttssh2.sourceforge.jp/index.html.en</a:t>
            </a:r>
            <a:r>
              <a:rPr lang="en-US" b="0" kern="1200" dirty="0">
                <a:solidFill>
                  <a:schemeClr val="tx1"/>
                </a:solidFill>
                <a:effectLst/>
                <a:cs typeface="Arial" pitchFamily="34" charset="0"/>
              </a:rPr>
              <a:t>) or PuTTY (</a:t>
            </a:r>
            <a:r>
              <a:rPr lang="en-GB" u="sng" dirty="0">
                <a:solidFill>
                  <a:schemeClr val="tx1"/>
                </a:solidFill>
                <a:cs typeface="Arial" panose="020B0604020202020204" pitchFamily="34" charset="0"/>
                <a:hlinkClick r:id="rId4"/>
              </a:rPr>
              <a:t>http://www.chiark.greenend.org.uk/~sgtatham/putty/download.html</a:t>
            </a:r>
            <a:r>
              <a:rPr lang="en-US" b="0" kern="1200" dirty="0">
                <a:solidFill>
                  <a:schemeClr val="tx1"/>
                </a:solidFill>
                <a:effectLst/>
                <a:cs typeface="Arial" pitchFamily="34" charset="0"/>
              </a:rPr>
              <a:t>). Your terminal emulator can connect through the network—SSH or telnet—or the local console port.</a:t>
            </a:r>
          </a:p>
          <a:p>
            <a:endParaRPr lang="en-US" b="0" kern="1200" dirty="0">
              <a:solidFill>
                <a:schemeClr val="tx1"/>
              </a:solidFill>
              <a:effectLst/>
              <a:cs typeface="Arial" pitchFamily="34" charset="0"/>
            </a:endParaRPr>
          </a:p>
          <a:p>
            <a:r>
              <a:rPr lang="en-US" b="0" kern="1200" dirty="0">
                <a:solidFill>
                  <a:schemeClr val="tx1"/>
                </a:solidFill>
                <a:effectLst/>
                <a:cs typeface="Arial" pitchFamily="34" charset="0"/>
              </a:rPr>
              <a:t>SNMP and some other administrative protocols are also supported, but they are read-only. </a:t>
            </a:r>
            <a:r>
              <a:rPr lang="en-US" b="0" kern="1200" dirty="0" smtClean="0">
                <a:solidFill>
                  <a:schemeClr val="tx1"/>
                </a:solidFill>
                <a:effectLst/>
                <a:cs typeface="Arial" pitchFamily="34" charset="0"/>
              </a:rPr>
              <a:t>You can't use them for </a:t>
            </a:r>
            <a:r>
              <a:rPr lang="en-US" b="0" kern="1200" dirty="0">
                <a:solidFill>
                  <a:schemeClr val="tx1"/>
                </a:solidFill>
                <a:effectLst/>
                <a:cs typeface="Arial" pitchFamily="34" charset="0"/>
              </a:rPr>
              <a:t>basic setup.</a:t>
            </a: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3963628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p:txBody>
          <a:bodyPr/>
          <a:lstStyle/>
          <a:p>
            <a:r>
              <a:rPr lang="en-US" dirty="0"/>
              <a:t>Whichever method you use, start by logging in as admin. </a:t>
            </a:r>
            <a:r>
              <a:rPr lang="en-CA" dirty="0"/>
              <a:t>Begin by creating separate accounts for other administrators. For security and tracking purposes, it is a best practice for each administrator to have their own account.</a:t>
            </a:r>
          </a:p>
          <a:p>
            <a:endParaRPr lang="en-US" dirty="0"/>
          </a:p>
          <a:p>
            <a:r>
              <a:rPr lang="en-US" dirty="0"/>
              <a:t>In</a:t>
            </a:r>
            <a:r>
              <a:rPr lang="en-US" baseline="0" dirty="0"/>
              <a:t> the </a:t>
            </a:r>
            <a:r>
              <a:rPr lang="en-US" b="1" baseline="0" dirty="0"/>
              <a:t>Create New </a:t>
            </a:r>
            <a:r>
              <a:rPr lang="en-US" baseline="0" dirty="0"/>
              <a:t>drop-down list, you can select either </a:t>
            </a:r>
            <a:r>
              <a:rPr lang="en-US" b="1" baseline="0" dirty="0"/>
              <a:t>Administrator</a:t>
            </a:r>
            <a:r>
              <a:rPr lang="en-US" baseline="0" dirty="0"/>
              <a:t> or </a:t>
            </a:r>
            <a:r>
              <a:rPr lang="en-US" b="1" baseline="0" dirty="0"/>
              <a:t>REST API Admin</a:t>
            </a:r>
            <a:r>
              <a:rPr lang="en-US" baseline="0" dirty="0"/>
              <a:t>. Typically, you will select </a:t>
            </a:r>
            <a:r>
              <a:rPr lang="en-US" b="1" baseline="0" dirty="0"/>
              <a:t>Administrator</a:t>
            </a:r>
            <a:r>
              <a:rPr lang="en-US" baseline="0" dirty="0"/>
              <a:t> and then assign an </a:t>
            </a:r>
            <a:r>
              <a:rPr lang="en-US" b="1" baseline="0" dirty="0"/>
              <a:t>Administrator Profile</a:t>
            </a:r>
            <a:r>
              <a:rPr lang="en-US" baseline="0" dirty="0"/>
              <a:t>, which specifies that user’s administrative permissions. </a:t>
            </a:r>
            <a:r>
              <a:rPr lang="en-CA" baseline="0" dirty="0"/>
              <a:t>You could select </a:t>
            </a:r>
            <a:r>
              <a:rPr lang="en-CA" b="1" baseline="0" dirty="0"/>
              <a:t>REST API Admin </a:t>
            </a:r>
            <a:r>
              <a:rPr lang="en-CA" baseline="0" dirty="0"/>
              <a:t>to add an administrative user who would use a custom application to access FortiGate with a REST API.</a:t>
            </a:r>
            <a:r>
              <a:rPr lang="en-US" baseline="0" dirty="0"/>
              <a:t> The application would allow you to log in to FortiGate and perform any task that your assigned </a:t>
            </a:r>
            <a:r>
              <a:rPr lang="en-US" b="1" baseline="0" dirty="0"/>
              <a:t>Administrator Profile </a:t>
            </a:r>
            <a:r>
              <a:rPr lang="en-US" baseline="0" dirty="0"/>
              <a:t>permits.</a:t>
            </a:r>
            <a:endParaRPr lang="en-US" dirty="0"/>
          </a:p>
          <a:p>
            <a:endParaRPr lang="en-US" dirty="0"/>
          </a:p>
          <a:p>
            <a:r>
              <a:rPr lang="en-CA" dirty="0"/>
              <a:t>Other options not shown here, include:</a:t>
            </a:r>
          </a:p>
          <a:p>
            <a:pPr marL="177793" indent="-177793">
              <a:buFont typeface="Arial" panose="020B0604020202020204" pitchFamily="34" charset="0"/>
              <a:buChar char="•"/>
            </a:pPr>
            <a:r>
              <a:rPr lang="en-CA" dirty="0"/>
              <a:t>Instead of creating accounts on FortiGate itself, you could configure FortiGate to query a remote authentication server. </a:t>
            </a:r>
          </a:p>
          <a:p>
            <a:pPr marL="177793" indent="-177793">
              <a:buFont typeface="Arial" panose="020B0604020202020204" pitchFamily="34" charset="0"/>
              <a:buChar char="•"/>
            </a:pPr>
            <a:r>
              <a:rPr lang="en-CA" dirty="0"/>
              <a:t>In place of passwords, your administrators could authenticate using digital certificates that are issued by your internal certification authority server.</a:t>
            </a:r>
          </a:p>
          <a:p>
            <a:endParaRPr lang="en-US" dirty="0"/>
          </a:p>
          <a:p>
            <a:r>
              <a:rPr lang="en-US" dirty="0"/>
              <a:t>If you do use passwords, ensure that they are strong and complex. For example, you could use multiple interleaved words with varying capitalization, and randomly insert numbers and punctuation. Do not use short passwords, or passwords that contain names, dates, or words that exist in any dictionary. These are susceptible to brute force attack. To audit the strength of your passwords, use tools such as L0phtcrack (http://www.l0phtcrack.com/) or John the Ripper (http://www.openwall.com/john/). Risk of a brute force attack is increased if you connect the management port to the </a:t>
            </a:r>
            <a:r>
              <a:rPr lang="en-US" dirty="0" smtClean="0"/>
              <a:t>internet</a:t>
            </a:r>
            <a:r>
              <a:rPr lang="en-US" dirty="0"/>
              <a:t>.</a:t>
            </a:r>
          </a:p>
          <a:p>
            <a:endParaRPr lang="en-US" dirty="0"/>
          </a:p>
          <a:p>
            <a:r>
              <a:rPr lang="en-US" dirty="0"/>
              <a:t>In order to restrict access to specific features, you can assign permissions. </a:t>
            </a:r>
          </a:p>
          <a:p>
            <a:endParaRPr lang="en-US" dirty="0"/>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845899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p:txBody>
          <a:bodyPr/>
          <a:lstStyle/>
          <a:p>
            <a:r>
              <a:rPr lang="en-US" b="0" kern="1200" dirty="0">
                <a:solidFill>
                  <a:schemeClr val="tx1"/>
                </a:solidFill>
                <a:effectLst/>
                <a:ea typeface="+mn-ea"/>
                <a:cs typeface="Arial" pitchFamily="34" charset="0"/>
              </a:rPr>
              <a:t>When assigning permissions to an administrator profile, you can specify read-and-write, read-only, or none to each area.</a:t>
            </a: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By default, there is a special profile named </a:t>
            </a:r>
            <a:r>
              <a:rPr lang="en-US" b="1" i="0" kern="1200" dirty="0" err="1">
                <a:solidFill>
                  <a:schemeClr val="tx1"/>
                </a:solidFill>
                <a:effectLst/>
                <a:ea typeface="+mn-ea"/>
                <a:cs typeface="Arial" pitchFamily="34" charset="0"/>
              </a:rPr>
              <a:t>super_admin</a:t>
            </a:r>
            <a:r>
              <a:rPr lang="en-US" b="0" i="0" kern="1200" dirty="0">
                <a:solidFill>
                  <a:schemeClr val="tx1"/>
                </a:solidFill>
                <a:effectLst/>
                <a:ea typeface="+mn-ea"/>
                <a:cs typeface="Arial" pitchFamily="34" charset="0"/>
              </a:rPr>
              <a:t>, which is used by the account named </a:t>
            </a:r>
            <a:r>
              <a:rPr lang="en-US" b="1" i="0" kern="1200" dirty="0">
                <a:solidFill>
                  <a:schemeClr val="tx1"/>
                </a:solidFill>
                <a:effectLst/>
                <a:ea typeface="+mn-ea"/>
                <a:cs typeface="Arial" pitchFamily="34" charset="0"/>
              </a:rPr>
              <a:t>admin</a:t>
            </a:r>
            <a:r>
              <a:rPr lang="en-US" b="0" i="0" kern="1200" dirty="0">
                <a:solidFill>
                  <a:schemeClr val="tx1"/>
                </a:solidFill>
                <a:effectLst/>
                <a:ea typeface="+mn-ea"/>
                <a:cs typeface="Arial" pitchFamily="34" charset="0"/>
              </a:rPr>
              <a:t>. </a:t>
            </a:r>
            <a:r>
              <a:rPr lang="en-US" b="0" i="0" kern="1200" dirty="0" smtClean="0">
                <a:solidFill>
                  <a:schemeClr val="tx1"/>
                </a:solidFill>
                <a:effectLst/>
                <a:ea typeface="+mn-ea"/>
                <a:cs typeface="Arial" pitchFamily="34" charset="0"/>
              </a:rPr>
              <a:t>You can't change it</a:t>
            </a:r>
            <a:r>
              <a:rPr lang="en-US" b="0" kern="1200" dirty="0" smtClean="0">
                <a:solidFill>
                  <a:schemeClr val="tx1"/>
                </a:solidFill>
                <a:effectLst/>
                <a:ea typeface="+mn-ea"/>
                <a:cs typeface="Arial" pitchFamily="34" charset="0"/>
              </a:rPr>
              <a:t>. </a:t>
            </a:r>
            <a:r>
              <a:rPr lang="en-US" b="0" kern="1200" dirty="0">
                <a:solidFill>
                  <a:schemeClr val="tx1"/>
                </a:solidFill>
                <a:effectLst/>
                <a:ea typeface="+mn-ea"/>
                <a:cs typeface="Arial" pitchFamily="34" charset="0"/>
              </a:rPr>
              <a:t>It provides full access to everything, making the </a:t>
            </a:r>
            <a:r>
              <a:rPr lang="en-US" b="0" i="1" kern="1200" dirty="0">
                <a:solidFill>
                  <a:schemeClr val="tx1"/>
                </a:solidFill>
                <a:effectLst/>
                <a:ea typeface="+mn-ea"/>
                <a:cs typeface="Arial" pitchFamily="34" charset="0"/>
              </a:rPr>
              <a:t>admin</a:t>
            </a:r>
            <a:r>
              <a:rPr lang="en-US" b="0" kern="1200" dirty="0">
                <a:solidFill>
                  <a:schemeClr val="tx1"/>
                </a:solidFill>
                <a:effectLst/>
                <a:ea typeface="+mn-ea"/>
                <a:cs typeface="Arial" pitchFamily="34" charset="0"/>
              </a:rPr>
              <a:t> account similar to a root </a:t>
            </a:r>
            <a:r>
              <a:rPr lang="en-US" b="1" kern="1200" dirty="0" err="1">
                <a:solidFill>
                  <a:schemeClr val="tx1"/>
                </a:solidFill>
                <a:effectLst/>
                <a:ea typeface="+mn-ea"/>
                <a:cs typeface="Arial" pitchFamily="34" charset="0"/>
              </a:rPr>
              <a:t>superuser</a:t>
            </a:r>
            <a:r>
              <a:rPr lang="en-US" b="0" kern="1200" dirty="0">
                <a:solidFill>
                  <a:schemeClr val="tx1"/>
                </a:solidFill>
                <a:effectLst/>
                <a:ea typeface="+mn-ea"/>
                <a:cs typeface="Arial" pitchFamily="34" charset="0"/>
              </a:rPr>
              <a:t> </a:t>
            </a:r>
            <a:r>
              <a:rPr lang="en-US" b="0" kern="1200" dirty="0" err="1" smtClean="0">
                <a:solidFill>
                  <a:schemeClr val="tx1"/>
                </a:solidFill>
                <a:effectLst/>
                <a:ea typeface="+mn-ea"/>
                <a:cs typeface="Arial" pitchFamily="34" charset="0"/>
              </a:rPr>
              <a:t>account.</a:t>
            </a:r>
            <a:r>
              <a:rPr lang="en-US" b="0" i="0" kern="1200" dirty="0" err="1" smtClean="0">
                <a:solidFill>
                  <a:schemeClr val="tx1"/>
                </a:solidFill>
                <a:effectLst/>
                <a:ea typeface="+mn-ea"/>
                <a:cs typeface="Arial" pitchFamily="34" charset="0"/>
              </a:rPr>
              <a:t>The</a:t>
            </a:r>
            <a:r>
              <a:rPr lang="en-US" b="0" i="0" kern="1200" baseline="0" dirty="0" smtClean="0">
                <a:solidFill>
                  <a:schemeClr val="tx1"/>
                </a:solidFill>
                <a:effectLst/>
                <a:ea typeface="+mn-ea"/>
                <a:cs typeface="Arial" pitchFamily="34" charset="0"/>
              </a:rPr>
              <a:t> </a:t>
            </a:r>
            <a:r>
              <a:rPr lang="en-US" b="1" i="0" kern="1200" dirty="0" err="1">
                <a:solidFill>
                  <a:schemeClr val="tx1"/>
                </a:solidFill>
                <a:effectLst/>
                <a:ea typeface="+mn-ea"/>
                <a:cs typeface="Arial" pitchFamily="34" charset="0"/>
              </a:rPr>
              <a:t>prof_admin</a:t>
            </a:r>
            <a:r>
              <a:rPr lang="en-US" b="0" i="1" kern="120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is another default profile. It also provides full access, but unlike </a:t>
            </a:r>
            <a:r>
              <a:rPr lang="en-US" b="1" i="0" kern="1200" dirty="0" err="1">
                <a:solidFill>
                  <a:schemeClr val="tx1"/>
                </a:solidFill>
                <a:effectLst/>
                <a:ea typeface="+mn-ea"/>
                <a:cs typeface="Arial" pitchFamily="34" charset="0"/>
              </a:rPr>
              <a:t>super_admin</a:t>
            </a:r>
            <a:r>
              <a:rPr lang="en-US" b="0" kern="1200" dirty="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it</a:t>
            </a:r>
            <a:r>
              <a:rPr lang="en-US" b="0" kern="1200" baseline="0" dirty="0" smtClean="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applies only </a:t>
            </a:r>
            <a:r>
              <a:rPr lang="en-US" b="0" kern="1200" dirty="0">
                <a:solidFill>
                  <a:schemeClr val="tx1"/>
                </a:solidFill>
                <a:effectLst/>
                <a:ea typeface="+mn-ea"/>
                <a:cs typeface="Arial" pitchFamily="34" charset="0"/>
              </a:rPr>
              <a:t>to its virtual domain—</a:t>
            </a:r>
            <a:r>
              <a:rPr lang="en-US" b="0" i="0" kern="1200" dirty="0">
                <a:solidFill>
                  <a:schemeClr val="tx1"/>
                </a:solidFill>
                <a:effectLst/>
                <a:ea typeface="+mn-ea"/>
                <a:cs typeface="Arial" pitchFamily="34" charset="0"/>
              </a:rPr>
              <a:t>not</a:t>
            </a:r>
            <a:r>
              <a:rPr lang="en-US" b="0" kern="1200" dirty="0">
                <a:solidFill>
                  <a:schemeClr val="tx1"/>
                </a:solidFill>
                <a:effectLst/>
                <a:ea typeface="+mn-ea"/>
                <a:cs typeface="Arial" pitchFamily="34" charset="0"/>
              </a:rPr>
              <a:t> the global settings of FortiGate. Also, </a:t>
            </a:r>
            <a:r>
              <a:rPr lang="en-US" b="0" kern="1200" dirty="0" smtClean="0">
                <a:solidFill>
                  <a:schemeClr val="tx1"/>
                </a:solidFill>
                <a:effectLst/>
                <a:ea typeface="+mn-ea"/>
                <a:cs typeface="Arial" pitchFamily="34" charset="0"/>
              </a:rPr>
              <a:t>you can change its permissions.</a:t>
            </a:r>
            <a:endParaRPr lang="en-US" b="0" kern="1200" dirty="0">
              <a:solidFill>
                <a:schemeClr val="tx1"/>
              </a:solidFill>
              <a:effectLst/>
              <a:ea typeface="+mn-ea"/>
              <a:cs typeface="Arial" pitchFamily="34" charset="0"/>
            </a:endParaRP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You aren’t required to use a default profile. You could, for example, create a profile named </a:t>
            </a:r>
            <a:r>
              <a:rPr lang="en-US" b="1" i="0" kern="1200" dirty="0" err="1">
                <a:solidFill>
                  <a:schemeClr val="tx1"/>
                </a:solidFill>
                <a:effectLst/>
                <a:ea typeface="+mn-ea"/>
                <a:cs typeface="Arial" pitchFamily="34" charset="0"/>
              </a:rPr>
              <a:t>auditor_access</a:t>
            </a:r>
            <a:r>
              <a:rPr lang="en-US" b="0" kern="1200" dirty="0">
                <a:solidFill>
                  <a:schemeClr val="tx1"/>
                </a:solidFill>
                <a:effectLst/>
                <a:ea typeface="+mn-ea"/>
                <a:cs typeface="Arial" pitchFamily="34" charset="0"/>
              </a:rPr>
              <a:t> with read-only permissions. Restricting a person’s permissions to those necessary for his or her job is a best practice, because even if that account is compromised, the compromise to your FortiGate</a:t>
            </a:r>
            <a:r>
              <a:rPr lang="en-US" b="0" kern="1200" baseline="0" dirty="0">
                <a:solidFill>
                  <a:schemeClr val="tx1"/>
                </a:solidFill>
                <a:effectLst/>
                <a:ea typeface="+mn-ea"/>
                <a:cs typeface="Arial" pitchFamily="34" charset="0"/>
              </a:rPr>
              <a:t> </a:t>
            </a:r>
            <a:r>
              <a:rPr lang="en-US" b="0" kern="1200" baseline="0" dirty="0" smtClean="0">
                <a:solidFill>
                  <a:schemeClr val="tx1"/>
                </a:solidFill>
                <a:effectLst/>
                <a:ea typeface="+mn-ea"/>
                <a:cs typeface="Arial" pitchFamily="34" charset="0"/>
              </a:rPr>
              <a:t>device (or </a:t>
            </a:r>
            <a:r>
              <a:rPr lang="en-US" b="0" kern="1200" baseline="0" dirty="0">
                <a:solidFill>
                  <a:schemeClr val="tx1"/>
                </a:solidFill>
                <a:effectLst/>
                <a:ea typeface="+mn-ea"/>
                <a:cs typeface="Arial" pitchFamily="34" charset="0"/>
              </a:rPr>
              <a:t>network) </a:t>
            </a:r>
            <a:r>
              <a:rPr lang="en-US" b="0" kern="1200" dirty="0">
                <a:solidFill>
                  <a:schemeClr val="tx1"/>
                </a:solidFill>
                <a:effectLst/>
                <a:ea typeface="+mn-ea"/>
                <a:cs typeface="Arial" pitchFamily="34" charset="0"/>
              </a:rPr>
              <a:t>is not total. To do this, create administrator profiles, then select the appropriate profile when configuring an account.</a:t>
            </a:r>
          </a:p>
          <a:p>
            <a:endParaRPr lang="en-US" b="0" kern="1200" dirty="0">
              <a:solidFill>
                <a:schemeClr val="tx1"/>
              </a:solidFill>
              <a:effectLst/>
              <a:ea typeface="+mn-ea"/>
              <a:cs typeface="Arial" pitchFamily="34" charset="0"/>
            </a:endParaRPr>
          </a:p>
          <a:p>
            <a:r>
              <a:rPr lang="en-US" dirty="0"/>
              <a:t>The </a:t>
            </a:r>
            <a:r>
              <a:rPr lang="en-US" b="1" dirty="0"/>
              <a:t>Override Idle Timeout </a:t>
            </a:r>
            <a:r>
              <a:rPr lang="en-US" dirty="0"/>
              <a:t>feature allows the </a:t>
            </a:r>
            <a:r>
              <a:rPr lang="en-US" dirty="0" err="1"/>
              <a:t>admintimeout</a:t>
            </a:r>
            <a:r>
              <a:rPr lang="en-US" dirty="0"/>
              <a:t> value, under </a:t>
            </a: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system </a:t>
            </a:r>
            <a:r>
              <a:rPr lang="en-US" dirty="0" err="1">
                <a:latin typeface="Courier New" panose="02070309020205020404" pitchFamily="49" charset="0"/>
                <a:cs typeface="Courier New" panose="02070309020205020404" pitchFamily="49" charset="0"/>
              </a:rPr>
              <a:t>accprofile</a:t>
            </a:r>
            <a:r>
              <a:rPr lang="en-US" dirty="0"/>
              <a:t>, to be overridden per access profile. </a:t>
            </a:r>
            <a:r>
              <a:rPr lang="en-US" dirty="0" smtClean="0"/>
              <a:t>You can configure administrator </a:t>
            </a:r>
            <a:r>
              <a:rPr lang="en-US" dirty="0"/>
              <a:t>profiles </a:t>
            </a:r>
            <a:r>
              <a:rPr lang="en-US" dirty="0" smtClean="0"/>
              <a:t>to </a:t>
            </a:r>
            <a:r>
              <a:rPr lang="en-US" dirty="0"/>
              <a:t>increase inactivity timeout and facilitate use of the GUI for central </a:t>
            </a:r>
            <a:r>
              <a:rPr lang="en-US" dirty="0" smtClean="0"/>
              <a:t>monitoring. </a:t>
            </a:r>
            <a:r>
              <a:rPr lang="en-US" b="0" kern="1200" dirty="0" smtClean="0">
                <a:solidFill>
                  <a:schemeClr val="tx1"/>
                </a:solidFill>
                <a:effectLst/>
                <a:ea typeface="+mn-ea"/>
                <a:cs typeface="Arial" pitchFamily="34" charset="0"/>
              </a:rPr>
              <a:t>Note </a:t>
            </a:r>
            <a:r>
              <a:rPr lang="en-US" b="0" kern="1200" dirty="0">
                <a:solidFill>
                  <a:schemeClr val="tx1"/>
                </a:solidFill>
                <a:effectLst/>
                <a:ea typeface="+mn-ea"/>
                <a:cs typeface="Arial" pitchFamily="34" charset="0"/>
              </a:rPr>
              <a:t>that </a:t>
            </a:r>
            <a:r>
              <a:rPr lang="en-US" b="0" kern="1200" dirty="0" smtClean="0">
                <a:solidFill>
                  <a:schemeClr val="tx1"/>
                </a:solidFill>
                <a:effectLst/>
                <a:ea typeface="+mn-ea"/>
                <a:cs typeface="Arial" pitchFamily="34" charset="0"/>
              </a:rPr>
              <a:t>you can do this on </a:t>
            </a:r>
            <a:r>
              <a:rPr lang="en-US" b="0" kern="1200" dirty="0">
                <a:solidFill>
                  <a:schemeClr val="tx1"/>
                </a:solidFill>
                <a:effectLst/>
                <a:ea typeface="+mn-ea"/>
                <a:cs typeface="Arial" pitchFamily="34" charset="0"/>
              </a:rPr>
              <a:t>a per-profile basis, to prevent the option from being unintentionally set </a:t>
            </a:r>
            <a:r>
              <a:rPr lang="en-US" b="0" kern="1200" dirty="0" smtClean="0">
                <a:solidFill>
                  <a:schemeClr val="tx1"/>
                </a:solidFill>
                <a:effectLst/>
                <a:ea typeface="+mn-ea"/>
                <a:cs typeface="Arial" pitchFamily="34" charset="0"/>
              </a:rPr>
              <a:t>globally.</a:t>
            </a:r>
            <a:r>
              <a:rPr lang="en-US" b="0" kern="1200" baseline="0" dirty="0" smtClean="0">
                <a:solidFill>
                  <a:schemeClr val="tx1"/>
                </a:solidFill>
                <a:effectLst/>
                <a:ea typeface="+mn-ea"/>
                <a:cs typeface="Arial" pitchFamily="34" charset="0"/>
              </a:rPr>
              <a:t> So, </a:t>
            </a:r>
            <a:r>
              <a:rPr lang="en-US" dirty="0"/>
              <a:t>w</a:t>
            </a:r>
            <a:r>
              <a:rPr lang="en-US" b="0" kern="1200" dirty="0" smtClean="0">
                <a:solidFill>
                  <a:schemeClr val="tx1"/>
                </a:solidFill>
                <a:effectLst/>
              </a:rPr>
              <a:t>hat are the effects of administrator profiles?</a:t>
            </a:r>
          </a:p>
          <a:p>
            <a:endParaRPr lang="en-US" b="0" kern="1200" dirty="0" smtClean="0">
              <a:solidFill>
                <a:schemeClr val="tx1"/>
              </a:solidFill>
              <a:effectLst/>
            </a:endParaRPr>
          </a:p>
          <a:p>
            <a:r>
              <a:rPr lang="en-US" b="0" kern="1200" dirty="0" smtClean="0">
                <a:solidFill>
                  <a:schemeClr val="tx1"/>
                </a:solidFill>
                <a:effectLst/>
              </a:rPr>
              <a:t>It’s actually </a:t>
            </a:r>
            <a:r>
              <a:rPr lang="en-US" b="0" i="0" kern="1200" dirty="0" smtClean="0">
                <a:solidFill>
                  <a:schemeClr val="tx1"/>
                </a:solidFill>
                <a:effectLst/>
              </a:rPr>
              <a:t>more</a:t>
            </a:r>
            <a:r>
              <a:rPr lang="en-US" b="0" kern="1200" dirty="0" smtClean="0">
                <a:solidFill>
                  <a:schemeClr val="tx1"/>
                </a:solidFill>
                <a:effectLst/>
              </a:rPr>
              <a:t> than just read or write access. Depending on the type of administrator profile that you assign, an administrator may not be able to access the entire FortiGate device. For example, you could configure an account that can view only log messages. Administrators may not be able to access global settings outside their assigned virtual domain either. Virtual domains (VDOMs) are a way of subdividing the resources and configurations on a single FortiGate. Administrators with a smaller scope of permissions cannot create, or even view, accounts with more permissions. </a:t>
            </a:r>
            <a:endParaRPr lang="en-US" b="0"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827991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p:txBody>
          <a:bodyPr/>
          <a:lstStyle/>
          <a:p>
            <a:pPr lvl="0"/>
            <a:r>
              <a:rPr lang="en-US" dirty="0" smtClean="0"/>
              <a:t>What if, more than segmenting your network, you want to subdivide policies and administrators into multiple security domains?</a:t>
            </a:r>
          </a:p>
          <a:p>
            <a:pPr lvl="0"/>
            <a:endParaRPr lang="en-US" dirty="0" smtClean="0"/>
          </a:p>
          <a:p>
            <a:pPr lvl="0"/>
            <a:r>
              <a:rPr lang="en-US" dirty="0" smtClean="0"/>
              <a:t>In that case, you can enable FortiGate VDOMs, which split your</a:t>
            </a:r>
            <a:r>
              <a:rPr lang="en-US" baseline="0" dirty="0" smtClean="0"/>
              <a:t> </a:t>
            </a:r>
            <a:r>
              <a:rPr lang="en-US" dirty="0" smtClean="0"/>
              <a:t>FortiGate into multiple logical devices. Each VDOM has independent security policies and routing tables. Also, and by default, traffic from one VDOM cannot go to a different VDOM. This means that two interfaces in different VDOMs can share the same IP address, without any overlapping subnet problems.</a:t>
            </a:r>
          </a:p>
          <a:p>
            <a:pPr lvl="0"/>
            <a:endParaRPr lang="en-US" dirty="0" smtClean="0"/>
          </a:p>
          <a:p>
            <a:r>
              <a:rPr lang="en-CA" dirty="0"/>
              <a:t>When you use VDOMs, a single FortiGate </a:t>
            </a:r>
            <a:r>
              <a:rPr lang="en-CA" dirty="0" smtClean="0"/>
              <a:t>device </a:t>
            </a:r>
            <a:r>
              <a:rPr lang="en-CA" dirty="0"/>
              <a:t>becomes a virtual data center of network security, UTM inspection, and secure communication </a:t>
            </a:r>
            <a:r>
              <a:rPr lang="en-CA" dirty="0" smtClean="0"/>
              <a:t>devices.</a:t>
            </a:r>
            <a:endParaRPr lang="en-US" dirty="0" smtClean="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dirty="0">
                <a:cs typeface="Arial" pitchFamily="34" charset="0"/>
              </a:rPr>
              <a:t>Introduction and Initial Configuration</a:t>
            </a:r>
          </a:p>
          <a:p>
            <a:pPr algn="r"/>
            <a:endParaRPr lang="en-US" sz="1000" dirty="0" smtClean="0">
              <a:solidFill>
                <a:schemeClr val="bg1">
                  <a:lumMod val="50000"/>
                </a:schemeClr>
              </a:solidFill>
            </a:endParaRPr>
          </a:p>
        </p:txBody>
      </p:sp>
    </p:spTree>
    <p:extLst>
      <p:ext uri="{BB962C8B-B14F-4D97-AF65-F5344CB8AC3E}">
        <p14:creationId xmlns:p14="http://schemas.microsoft.com/office/powerpoint/2010/main" val="559881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p:txBody>
          <a:bodyPr/>
          <a:lstStyle/>
          <a:p>
            <a:pPr lvl="0"/>
            <a:r>
              <a:rPr lang="en-US" dirty="0"/>
              <a:t>If you want to grant access to all VDOMs and global settings, select </a:t>
            </a:r>
            <a:r>
              <a:rPr lang="en-US" b="1" i="0" dirty="0"/>
              <a:t>super_admin</a:t>
            </a:r>
            <a:r>
              <a:rPr lang="en-US" dirty="0"/>
              <a:t> as the access profile when configuring the administrator account. Similar to the account named </a:t>
            </a:r>
            <a:r>
              <a:rPr lang="en-US" b="1" i="0" dirty="0"/>
              <a:t>admin</a:t>
            </a:r>
            <a:r>
              <a:rPr lang="en-US" dirty="0"/>
              <a:t>, this account can configure all VDOMs.</a:t>
            </a:r>
          </a:p>
          <a:p>
            <a:pPr lvl="0"/>
            <a:endParaRPr lang="en-US" dirty="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dirty="0">
                <a:cs typeface="Arial" pitchFamily="34" charset="0"/>
              </a:rPr>
              <a:t>Introduction and Initial Configuration</a:t>
            </a:r>
          </a:p>
        </p:txBody>
      </p:sp>
    </p:spTree>
    <p:extLst>
      <p:ext uri="{BB962C8B-B14F-4D97-AF65-F5344CB8AC3E}">
        <p14:creationId xmlns:p14="http://schemas.microsoft.com/office/powerpoint/2010/main" val="47229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p:txBody>
          <a:bodyPr/>
          <a:lstStyle/>
          <a:p>
            <a:pPr lvl="0"/>
            <a:r>
              <a:rPr lang="en-US" dirty="0"/>
              <a:t>In most cases, you start by creating one administrator account per VDOM. That administrator is chiefly responsible for that domain, including the configuration backups of that VDOM. In larger organizations, you may need to make multiple VDOM administrators. You can assign multiple administrators to each VDOM. You can subdivide permissions using access profiles, in order to follow best practices for segregation of duties.</a:t>
            </a:r>
          </a:p>
          <a:p>
            <a:pPr lvl="0"/>
            <a:endParaRPr lang="en-US" dirty="0"/>
          </a:p>
          <a:p>
            <a:pPr lvl="0"/>
            <a:r>
              <a:rPr lang="en-US" dirty="0"/>
              <a:t>The converse is also possible. If required, you can assign an administrator to multiple VDOMs. </a:t>
            </a:r>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dirty="0">
                <a:cs typeface="Arial" pitchFamily="34" charset="0"/>
              </a:rPr>
              <a:t>Introduction and Initial Configuration</a:t>
            </a:r>
          </a:p>
          <a:p>
            <a:pPr algn="r"/>
            <a:endParaRPr lang="en-US" sz="1000" dirty="0">
              <a:solidFill>
                <a:schemeClr val="bg1">
                  <a:lumMod val="50000"/>
                </a:schemeClr>
              </a:solidFill>
            </a:endParaRPr>
          </a:p>
        </p:txBody>
      </p:sp>
    </p:spTree>
    <p:extLst>
      <p:ext uri="{BB962C8B-B14F-4D97-AF65-F5344CB8AC3E}">
        <p14:creationId xmlns:p14="http://schemas.microsoft.com/office/powerpoint/2010/main" val="458216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0" kern="1200" dirty="0">
                <a:solidFill>
                  <a:schemeClr val="tx1"/>
                </a:solidFill>
                <a:effectLst/>
              </a:rPr>
              <a:t>What happens if you forget the password for your </a:t>
            </a:r>
            <a:r>
              <a:rPr lang="en-US" b="0" kern="1200" dirty="0">
                <a:solidFill>
                  <a:schemeClr val="tx1"/>
                </a:solidFill>
                <a:effectLst/>
                <a:latin typeface="Courier New" panose="02070309020205020404" pitchFamily="49" charset="0"/>
                <a:cs typeface="Courier New" panose="02070309020205020404" pitchFamily="49" charset="0"/>
              </a:rPr>
              <a:t>admin</a:t>
            </a:r>
            <a:r>
              <a:rPr lang="en-US" b="0" kern="1200" dirty="0">
                <a:solidFill>
                  <a:schemeClr val="tx1"/>
                </a:solidFill>
                <a:effectLst/>
              </a:rPr>
              <a:t> account, or a malicious employee changes it?</a:t>
            </a:r>
          </a:p>
          <a:p>
            <a:endParaRPr lang="en-US" b="0" kern="1200" dirty="0">
              <a:solidFill>
                <a:schemeClr val="tx1"/>
              </a:solidFill>
              <a:effectLst/>
            </a:endParaRPr>
          </a:p>
          <a:p>
            <a:r>
              <a:rPr lang="en-US" b="0" kern="1200" dirty="0">
                <a:solidFill>
                  <a:schemeClr val="tx1"/>
                </a:solidFill>
                <a:effectLst/>
              </a:rPr>
              <a:t>This recovery method is available on all </a:t>
            </a:r>
            <a:r>
              <a:rPr lang="en-US" b="0" kern="1200" dirty="0" smtClean="0">
                <a:solidFill>
                  <a:schemeClr val="tx1"/>
                </a:solidFill>
                <a:effectLst/>
              </a:rPr>
              <a:t>FortiGate</a:t>
            </a:r>
            <a:r>
              <a:rPr lang="en-US" b="0" kern="1200" baseline="0" dirty="0" smtClean="0">
                <a:solidFill>
                  <a:schemeClr val="tx1"/>
                </a:solidFill>
                <a:effectLst/>
              </a:rPr>
              <a:t> </a:t>
            </a:r>
            <a:r>
              <a:rPr lang="en-US" b="0" kern="1200" dirty="0" smtClean="0">
                <a:solidFill>
                  <a:schemeClr val="tx1"/>
                </a:solidFill>
                <a:effectLst/>
              </a:rPr>
              <a:t>devices </a:t>
            </a:r>
            <a:r>
              <a:rPr lang="en-US" b="0" kern="1200" dirty="0">
                <a:solidFill>
                  <a:schemeClr val="tx1"/>
                </a:solidFill>
                <a:effectLst/>
              </a:rPr>
              <a:t>and even some non-FortiGate devices, like </a:t>
            </a:r>
            <a:r>
              <a:rPr lang="en-US" b="0" kern="1200" dirty="0" err="1">
                <a:solidFill>
                  <a:schemeClr val="tx1"/>
                </a:solidFill>
                <a:effectLst/>
              </a:rPr>
              <a:t>FortiMail</a:t>
            </a:r>
            <a:r>
              <a:rPr lang="en-US" b="0" kern="1200" dirty="0">
                <a:solidFill>
                  <a:schemeClr val="tx1"/>
                </a:solidFill>
                <a:effectLst/>
              </a:rPr>
              <a:t>. There is no maintainer procedure in </a:t>
            </a:r>
            <a:r>
              <a:rPr lang="en-US" b="0" kern="1200" dirty="0" smtClean="0">
                <a:solidFill>
                  <a:schemeClr val="tx1"/>
                </a:solidFill>
                <a:effectLst/>
              </a:rPr>
              <a:t>the VM</a:t>
            </a:r>
            <a:r>
              <a:rPr lang="en-US" b="0" kern="1200" dirty="0">
                <a:solidFill>
                  <a:schemeClr val="tx1"/>
                </a:solidFill>
                <a:effectLst/>
              </a:rPr>
              <a:t>. </a:t>
            </a:r>
            <a:r>
              <a:rPr lang="en-US" b="0" kern="1200" dirty="0" smtClean="0">
                <a:solidFill>
                  <a:schemeClr val="tx1"/>
                </a:solidFill>
                <a:effectLst/>
              </a:rPr>
              <a:t>The administrator</a:t>
            </a:r>
            <a:r>
              <a:rPr lang="en-US" b="0" kern="1200" baseline="0" dirty="0" smtClean="0">
                <a:solidFill>
                  <a:schemeClr val="tx1"/>
                </a:solidFill>
                <a:effectLst/>
              </a:rPr>
              <a:t> </a:t>
            </a:r>
            <a:r>
              <a:rPr lang="en-US" b="0" kern="1200" baseline="0" dirty="0">
                <a:solidFill>
                  <a:schemeClr val="tx1"/>
                </a:solidFill>
                <a:effectLst/>
              </a:rPr>
              <a:t>must revert to </a:t>
            </a:r>
            <a:r>
              <a:rPr lang="en-US" b="0" kern="1200" baseline="0" dirty="0" smtClean="0">
                <a:solidFill>
                  <a:schemeClr val="tx1"/>
                </a:solidFill>
                <a:effectLst/>
              </a:rPr>
              <a:t>a snapshot </a:t>
            </a:r>
            <a:r>
              <a:rPr lang="en-US" b="0" kern="1200" baseline="0" dirty="0">
                <a:solidFill>
                  <a:schemeClr val="tx1"/>
                </a:solidFill>
                <a:effectLst/>
              </a:rPr>
              <a:t>or </a:t>
            </a:r>
            <a:r>
              <a:rPr lang="en-US" b="0" kern="1200" baseline="0" dirty="0" err="1">
                <a:solidFill>
                  <a:schemeClr val="tx1"/>
                </a:solidFill>
                <a:effectLst/>
              </a:rPr>
              <a:t>reprovision</a:t>
            </a:r>
            <a:r>
              <a:rPr lang="en-US" b="0" kern="1200" baseline="0" dirty="0">
                <a:solidFill>
                  <a:schemeClr val="tx1"/>
                </a:solidFill>
                <a:effectLst/>
              </a:rPr>
              <a:t> the VM and restore </a:t>
            </a:r>
            <a:r>
              <a:rPr lang="en-US" b="0" kern="1200" baseline="0" dirty="0" smtClean="0">
                <a:solidFill>
                  <a:schemeClr val="tx1"/>
                </a:solidFill>
                <a:effectLst/>
              </a:rPr>
              <a:t>the configuration</a:t>
            </a:r>
            <a:r>
              <a:rPr lang="en-US" b="0" kern="1200" baseline="0" dirty="0">
                <a:solidFill>
                  <a:schemeClr val="tx1"/>
                </a:solidFill>
                <a:effectLst/>
              </a:rPr>
              <a:t>.</a:t>
            </a:r>
            <a:r>
              <a:rPr lang="en-US" b="0" kern="1200" dirty="0">
                <a:solidFill>
                  <a:schemeClr val="tx1"/>
                </a:solidFill>
                <a:effectLst/>
              </a:rPr>
              <a:t>  It’s a </a:t>
            </a:r>
            <a:r>
              <a:rPr lang="en-US" b="0" i="1" kern="1200" dirty="0">
                <a:solidFill>
                  <a:schemeClr val="tx1"/>
                </a:solidFill>
                <a:effectLst/>
              </a:rPr>
              <a:t>temporary</a:t>
            </a:r>
            <a:r>
              <a:rPr lang="en-US" b="0" kern="1200" dirty="0">
                <a:solidFill>
                  <a:schemeClr val="tx1"/>
                </a:solidFill>
                <a:effectLst/>
              </a:rPr>
              <a:t> account, only available through the local console port, and only after a hard reboot—disrupting power by unplugging or turning off the power, then restoring it. </a:t>
            </a:r>
            <a:r>
              <a:rPr lang="en-US" b="0" kern="1200" dirty="0" smtClean="0">
                <a:solidFill>
                  <a:schemeClr val="tx1"/>
                </a:solidFill>
                <a:effectLst/>
              </a:rPr>
              <a:t>You must physically shut off FortiGate, then turn it back on, not reboot it through the CLI.</a:t>
            </a:r>
          </a:p>
          <a:p>
            <a:endParaRPr lang="en-US" b="0" kern="1200" dirty="0">
              <a:solidFill>
                <a:schemeClr val="tx1"/>
              </a:solidFill>
              <a:effectLst/>
            </a:endParaRPr>
          </a:p>
          <a:p>
            <a:r>
              <a:rPr lang="en-US" b="0" kern="1200" dirty="0">
                <a:solidFill>
                  <a:schemeClr val="tx1"/>
                </a:solidFill>
                <a:effectLst/>
              </a:rPr>
              <a:t>The </a:t>
            </a:r>
            <a:r>
              <a:rPr lang="en-US" b="0" kern="1200" dirty="0">
                <a:solidFill>
                  <a:schemeClr val="tx1"/>
                </a:solidFill>
                <a:effectLst/>
                <a:latin typeface="Courier New" panose="02070309020205020404" pitchFamily="49" charset="0"/>
                <a:cs typeface="Courier New" panose="02070309020205020404" pitchFamily="49" charset="0"/>
              </a:rPr>
              <a:t>maintainer</a:t>
            </a:r>
            <a:r>
              <a:rPr lang="en-US" b="0" kern="1200" dirty="0">
                <a:solidFill>
                  <a:schemeClr val="tx1"/>
                </a:solidFill>
                <a:effectLst/>
              </a:rPr>
              <a:t> login </a:t>
            </a:r>
            <a:r>
              <a:rPr lang="en-US" b="0" kern="1200" dirty="0" smtClean="0">
                <a:solidFill>
                  <a:schemeClr val="tx1"/>
                </a:solidFill>
                <a:effectLst/>
              </a:rPr>
              <a:t>is </a:t>
            </a:r>
            <a:r>
              <a:rPr lang="en-US" b="0" kern="1200" dirty="0">
                <a:solidFill>
                  <a:schemeClr val="tx1"/>
                </a:solidFill>
                <a:effectLst/>
              </a:rPr>
              <a:t>available for login </a:t>
            </a:r>
            <a:r>
              <a:rPr lang="en-US" b="0" kern="1200" dirty="0" smtClean="0">
                <a:solidFill>
                  <a:schemeClr val="tx1"/>
                </a:solidFill>
                <a:effectLst/>
              </a:rPr>
              <a:t>only for </a:t>
            </a:r>
            <a:r>
              <a:rPr lang="en-US" b="0" kern="1200" dirty="0">
                <a:solidFill>
                  <a:schemeClr val="tx1"/>
                </a:solidFill>
                <a:effectLst/>
              </a:rPr>
              <a:t>about 60 seconds after</a:t>
            </a:r>
            <a:r>
              <a:rPr lang="en-US" b="0" kern="1200" baseline="0" dirty="0">
                <a:solidFill>
                  <a:schemeClr val="tx1"/>
                </a:solidFill>
                <a:effectLst/>
              </a:rPr>
              <a:t> the restart</a:t>
            </a:r>
            <a:r>
              <a:rPr lang="en-US" b="0" kern="1200" dirty="0">
                <a:solidFill>
                  <a:schemeClr val="tx1"/>
                </a:solidFill>
                <a:effectLst/>
              </a:rPr>
              <a:t> completes (or less time on older models).  </a:t>
            </a:r>
          </a:p>
          <a:p>
            <a:endParaRPr lang="en-US" b="0" kern="1200" dirty="0">
              <a:solidFill>
                <a:schemeClr val="tx1"/>
              </a:solidFill>
              <a:effectLst/>
            </a:endParaRPr>
          </a:p>
          <a:p>
            <a:r>
              <a:rPr lang="en-US" b="0" kern="1200" dirty="0">
                <a:solidFill>
                  <a:schemeClr val="tx1"/>
                </a:solidFill>
                <a:effectLst/>
              </a:rPr>
              <a:t>If you cannot ensure physical security, or have</a:t>
            </a:r>
            <a:r>
              <a:rPr lang="en-US" b="0" kern="1200" baseline="0" dirty="0">
                <a:solidFill>
                  <a:schemeClr val="tx1"/>
                </a:solidFill>
                <a:effectLst/>
              </a:rPr>
              <a:t> compliance requirements</a:t>
            </a:r>
            <a:r>
              <a:rPr lang="en-US" b="0" kern="1200" dirty="0">
                <a:solidFill>
                  <a:schemeClr val="tx1"/>
                </a:solidFill>
                <a:effectLst/>
              </a:rPr>
              <a:t>, you can disable the </a:t>
            </a:r>
            <a:r>
              <a:rPr lang="en-US" b="0" kern="1200" dirty="0">
                <a:solidFill>
                  <a:schemeClr val="tx1"/>
                </a:solidFill>
                <a:effectLst/>
                <a:latin typeface="Courier New" panose="02070309020205020404" pitchFamily="49" charset="0"/>
                <a:cs typeface="Courier New" panose="02070309020205020404" pitchFamily="49" charset="0"/>
              </a:rPr>
              <a:t>maintainer</a:t>
            </a:r>
            <a:r>
              <a:rPr lang="en-US" b="0" kern="1200" dirty="0">
                <a:solidFill>
                  <a:schemeClr val="tx1"/>
                </a:solidFill>
                <a:effectLst/>
              </a:rPr>
              <a:t> account.  Use caution</a:t>
            </a:r>
            <a:r>
              <a:rPr lang="en-US" b="0" kern="1200" baseline="0" dirty="0">
                <a:solidFill>
                  <a:schemeClr val="tx1"/>
                </a:solidFill>
                <a:effectLst/>
              </a:rPr>
              <a:t> </a:t>
            </a:r>
            <a:r>
              <a:rPr lang="en-US" b="0" kern="1200" dirty="0">
                <a:solidFill>
                  <a:schemeClr val="tx1"/>
                </a:solidFill>
                <a:effectLst/>
              </a:rPr>
              <a:t>if you disable </a:t>
            </a:r>
            <a:r>
              <a:rPr lang="en-US" b="0" kern="1200" dirty="0">
                <a:solidFill>
                  <a:schemeClr val="tx1"/>
                </a:solidFill>
                <a:effectLst/>
                <a:latin typeface="Courier New" panose="02070309020205020404" pitchFamily="49" charset="0"/>
                <a:cs typeface="Courier New" panose="02070309020205020404" pitchFamily="49" charset="0"/>
              </a:rPr>
              <a:t>maintainer</a:t>
            </a:r>
            <a:r>
              <a:rPr lang="en-US" b="0" kern="1200" dirty="0">
                <a:solidFill>
                  <a:schemeClr val="tx1"/>
                </a:solidFill>
                <a:effectLst/>
              </a:rPr>
              <a:t> and then lose your </a:t>
            </a:r>
            <a:r>
              <a:rPr lang="en-US" b="0" kern="1200" dirty="0">
                <a:solidFill>
                  <a:schemeClr val="tx1"/>
                </a:solidFill>
                <a:effectLst/>
                <a:latin typeface="Courier New" panose="02070309020205020404" pitchFamily="49" charset="0"/>
                <a:cs typeface="Courier New" panose="02070309020205020404" pitchFamily="49" charset="0"/>
              </a:rPr>
              <a:t>admin</a:t>
            </a:r>
            <a:r>
              <a:rPr lang="en-US" b="0" kern="1200" dirty="0">
                <a:solidFill>
                  <a:schemeClr val="tx1"/>
                </a:solidFill>
                <a:effectLst/>
              </a:rPr>
              <a:t> password, </a:t>
            </a:r>
            <a:r>
              <a:rPr lang="en-US" b="0" kern="1200" dirty="0" smtClean="0">
                <a:solidFill>
                  <a:schemeClr val="tx1"/>
                </a:solidFill>
                <a:effectLst/>
              </a:rPr>
              <a:t>because you </a:t>
            </a:r>
            <a:r>
              <a:rPr lang="en-US" b="0" kern="1200" dirty="0">
                <a:solidFill>
                  <a:schemeClr val="tx1"/>
                </a:solidFill>
                <a:effectLst/>
              </a:rPr>
              <a:t>cannot recover access to your </a:t>
            </a:r>
            <a:r>
              <a:rPr lang="en-US" b="0" kern="1200" dirty="0" smtClean="0">
                <a:solidFill>
                  <a:schemeClr val="tx1"/>
                </a:solidFill>
                <a:effectLst/>
              </a:rPr>
              <a:t>FortiGate device. </a:t>
            </a:r>
            <a:r>
              <a:rPr lang="en-US" b="0" kern="1200" dirty="0">
                <a:solidFill>
                  <a:schemeClr val="tx1"/>
                </a:solidFill>
                <a:effectLst/>
              </a:rPr>
              <a:t>In order to regain access in this scenario, you will need to reload the device. This will reset </a:t>
            </a:r>
            <a:r>
              <a:rPr lang="en-US" b="0" kern="1200" baseline="0" dirty="0">
                <a:solidFill>
                  <a:schemeClr val="tx1"/>
                </a:solidFill>
                <a:effectLst/>
              </a:rPr>
              <a:t>to </a:t>
            </a:r>
            <a:r>
              <a:rPr lang="en-US" b="0" kern="1200" baseline="0" dirty="0" smtClean="0">
                <a:solidFill>
                  <a:schemeClr val="tx1"/>
                </a:solidFill>
                <a:effectLst/>
              </a:rPr>
              <a:t>the device to its factory default settings.</a:t>
            </a:r>
            <a:endParaRPr lang="en-US" b="0" dirty="0"/>
          </a:p>
        </p:txBody>
      </p:sp>
      <p:sp>
        <p:nvSpPr>
          <p:cNvPr id="7" name="Slide Image Placeholder 6"/>
          <p:cNvSpPr>
            <a:spLocks noGrp="1" noRot="1" noChangeAspect="1"/>
          </p:cNvSpPr>
          <p:nvPr>
            <p:ph type="sldImg"/>
          </p:nvPr>
        </p:nvSpPr>
        <p:spPr/>
      </p:sp>
      <p:sp>
        <p:nvSpPr>
          <p:cNvPr id="4" name="Header Placeholder 3"/>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40894880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kern="1200" dirty="0">
                <a:solidFill>
                  <a:schemeClr val="tx1"/>
                </a:solidFill>
                <a:effectLst/>
                <a:ea typeface="+mn-ea"/>
                <a:cs typeface="Arial" pitchFamily="34" charset="0"/>
              </a:rPr>
              <a:t>Another way to secure </a:t>
            </a:r>
            <a:r>
              <a:rPr lang="en-US" b="0" kern="1200" dirty="0" smtClean="0">
                <a:solidFill>
                  <a:schemeClr val="tx1"/>
                </a:solidFill>
                <a:effectLst/>
                <a:ea typeface="+mn-ea"/>
                <a:cs typeface="Arial" pitchFamily="34" charset="0"/>
              </a:rPr>
              <a:t>FortiGate </a:t>
            </a:r>
            <a:r>
              <a:rPr lang="en-US" b="0" kern="1200" dirty="0">
                <a:solidFill>
                  <a:schemeClr val="tx1"/>
                </a:solidFill>
                <a:effectLst/>
                <a:ea typeface="+mn-ea"/>
                <a:cs typeface="Arial" pitchFamily="34" charset="0"/>
              </a:rPr>
              <a:t>is to define the hosts or subnets that are trusted sources from</a:t>
            </a:r>
            <a:r>
              <a:rPr lang="en-US" b="0" kern="1200" baseline="0" dirty="0">
                <a:solidFill>
                  <a:schemeClr val="tx1"/>
                </a:solidFill>
                <a:effectLst/>
                <a:ea typeface="+mn-ea"/>
                <a:cs typeface="Arial" pitchFamily="34" charset="0"/>
              </a:rPr>
              <a:t> which to log in</a:t>
            </a:r>
            <a:r>
              <a:rPr lang="en-US" b="0" kern="1200" dirty="0">
                <a:solidFill>
                  <a:schemeClr val="tx1"/>
                </a:solidFill>
                <a:effectLst/>
                <a:ea typeface="+mn-ea"/>
                <a:cs typeface="Arial" pitchFamily="34" charset="0"/>
              </a:rPr>
              <a:t>.</a:t>
            </a:r>
          </a:p>
          <a:p>
            <a:endParaRPr lang="en-US" b="0" kern="1200" dirty="0">
              <a:solidFill>
                <a:schemeClr val="tx1"/>
              </a:solidFill>
              <a:effectLst/>
              <a:ea typeface="+mn-ea"/>
              <a:cs typeface="Arial" pitchFamily="34" charset="0"/>
            </a:endParaRPr>
          </a:p>
          <a:p>
            <a:r>
              <a:rPr lang="en-CA" b="0" kern="1200" dirty="0">
                <a:solidFill>
                  <a:schemeClr val="tx1"/>
                </a:solidFill>
                <a:effectLst/>
                <a:ea typeface="+mn-ea"/>
                <a:cs typeface="Arial" pitchFamily="34" charset="0"/>
              </a:rPr>
              <a:t>In this example, we have configured </a:t>
            </a:r>
            <a:r>
              <a:rPr lang="en-CA" b="0" kern="1200" dirty="0">
                <a:solidFill>
                  <a:schemeClr val="tx1"/>
                </a:solidFill>
                <a:effectLst/>
                <a:latin typeface="Courier New" panose="02070309020205020404" pitchFamily="49" charset="0"/>
                <a:ea typeface="+mn-ea"/>
                <a:cs typeface="Courier New" panose="02070309020205020404" pitchFamily="49" charset="0"/>
              </a:rPr>
              <a:t>10.0.1.10</a:t>
            </a:r>
            <a:r>
              <a:rPr lang="en-CA" b="0" kern="1200" dirty="0">
                <a:solidFill>
                  <a:schemeClr val="tx1"/>
                </a:solidFill>
                <a:effectLst/>
                <a:ea typeface="+mn-ea"/>
                <a:cs typeface="Arial" pitchFamily="34" charset="0"/>
              </a:rPr>
              <a:t> as the only trusted IP for </a:t>
            </a:r>
            <a:r>
              <a:rPr lang="en-CA" b="1" kern="1200" dirty="0" smtClean="0">
                <a:solidFill>
                  <a:schemeClr val="tx1"/>
                </a:solidFill>
                <a:effectLst/>
                <a:latin typeface="Arial" panose="020B0604020202020204" pitchFamily="34" charset="0"/>
                <a:ea typeface="+mn-ea"/>
                <a:cs typeface="Arial" panose="020B0604020202020204" pitchFamily="34" charset="0"/>
              </a:rPr>
              <a:t>admin</a:t>
            </a:r>
            <a:r>
              <a:rPr lang="en-CA" b="0" kern="1200" dirty="0" smtClean="0">
                <a:solidFill>
                  <a:schemeClr val="tx1"/>
                </a:solidFill>
                <a:effectLst/>
                <a:ea typeface="+mn-ea"/>
                <a:cs typeface="Arial" pitchFamily="34" charset="0"/>
              </a:rPr>
              <a:t> </a:t>
            </a:r>
            <a:r>
              <a:rPr lang="en-CA" b="0" kern="1200" dirty="0">
                <a:solidFill>
                  <a:schemeClr val="tx1"/>
                </a:solidFill>
                <a:effectLst/>
                <a:ea typeface="+mn-ea"/>
                <a:cs typeface="Arial" pitchFamily="34" charset="0"/>
              </a:rPr>
              <a:t>from which </a:t>
            </a:r>
            <a:r>
              <a:rPr lang="en-CA" b="1" kern="1200" dirty="0" smtClean="0">
                <a:solidFill>
                  <a:schemeClr val="tx1"/>
                </a:solidFill>
                <a:effectLst/>
                <a:latin typeface="Arial" panose="020B0604020202020204" pitchFamily="34" charset="0"/>
                <a:ea typeface="+mn-ea"/>
                <a:cs typeface="Arial" panose="020B0604020202020204" pitchFamily="34" charset="0"/>
              </a:rPr>
              <a:t>admin</a:t>
            </a:r>
            <a:r>
              <a:rPr lang="en-CA" b="0" kern="1200" dirty="0" smtClean="0">
                <a:solidFill>
                  <a:schemeClr val="tx1"/>
                </a:solidFill>
                <a:effectLst/>
                <a:ea typeface="+mn-ea"/>
                <a:cs typeface="Arial" pitchFamily="34" charset="0"/>
              </a:rPr>
              <a:t> logs </a:t>
            </a:r>
            <a:r>
              <a:rPr lang="en-CA" b="0" kern="1200" dirty="0">
                <a:solidFill>
                  <a:schemeClr val="tx1"/>
                </a:solidFill>
                <a:effectLst/>
                <a:ea typeface="+mn-ea"/>
                <a:cs typeface="Arial" pitchFamily="34" charset="0"/>
              </a:rPr>
              <a:t>in. If </a:t>
            </a:r>
            <a:r>
              <a:rPr lang="en-CA" b="1" kern="1200" dirty="0" smtClean="0">
                <a:solidFill>
                  <a:schemeClr val="tx1"/>
                </a:solidFill>
                <a:effectLst/>
                <a:latin typeface="Arial" panose="020B0604020202020204" pitchFamily="34" charset="0"/>
                <a:ea typeface="+mn-ea"/>
                <a:cs typeface="Arial" panose="020B0604020202020204" pitchFamily="34" charset="0"/>
              </a:rPr>
              <a:t>admin</a:t>
            </a:r>
            <a:r>
              <a:rPr lang="en-CA" b="0" kern="1200" dirty="0" smtClean="0">
                <a:solidFill>
                  <a:schemeClr val="tx1"/>
                </a:solidFill>
                <a:effectLst/>
                <a:ea typeface="+mn-ea"/>
                <a:cs typeface="Arial" pitchFamily="34" charset="0"/>
              </a:rPr>
              <a:t> </a:t>
            </a:r>
            <a:r>
              <a:rPr lang="en-CA" b="0" kern="1200" dirty="0">
                <a:solidFill>
                  <a:schemeClr val="tx1"/>
                </a:solidFill>
                <a:effectLst/>
                <a:ea typeface="+mn-ea"/>
                <a:cs typeface="Arial" pitchFamily="34" charset="0"/>
              </a:rPr>
              <a:t>attempts to log in from a machine with any other IP, they will receive an authentication failure message.</a:t>
            </a:r>
          </a:p>
          <a:p>
            <a:endParaRPr lang="en-CA" b="0" kern="1200" dirty="0">
              <a:solidFill>
                <a:schemeClr val="tx1"/>
              </a:solidFill>
              <a:effectLst/>
              <a:ea typeface="+mn-ea"/>
              <a:cs typeface="Arial" pitchFamily="34" charset="0"/>
            </a:endParaRPr>
          </a:p>
          <a:p>
            <a:r>
              <a:rPr lang="en-CA" b="0" kern="1200" dirty="0">
                <a:solidFill>
                  <a:schemeClr val="tx1"/>
                </a:solidFill>
                <a:effectLst/>
                <a:ea typeface="+mn-ea"/>
                <a:cs typeface="Arial" pitchFamily="34" charset="0"/>
              </a:rPr>
              <a:t>Note</a:t>
            </a:r>
            <a:r>
              <a:rPr lang="en-CA" b="0" kern="1200" baseline="0" dirty="0">
                <a:solidFill>
                  <a:schemeClr val="tx1"/>
                </a:solidFill>
                <a:effectLst/>
                <a:ea typeface="+mn-ea"/>
                <a:cs typeface="Arial" pitchFamily="34" charset="0"/>
              </a:rPr>
              <a:t> that </a:t>
            </a:r>
            <a:r>
              <a:rPr lang="en-CA" b="0" kern="1200" dirty="0">
                <a:solidFill>
                  <a:schemeClr val="tx1"/>
                </a:solidFill>
                <a:effectLst/>
                <a:ea typeface="+mn-ea"/>
                <a:cs typeface="Arial" pitchFamily="34" charset="0"/>
              </a:rPr>
              <a:t>If trusted hosts are configured on all administrators and an administrator is trying to log in from an IP address that is not set on any of the trusted </a:t>
            </a:r>
            <a:r>
              <a:rPr lang="en-CA" b="0" kern="1200" dirty="0" smtClean="0">
                <a:solidFill>
                  <a:schemeClr val="tx1"/>
                </a:solidFill>
                <a:effectLst/>
                <a:ea typeface="+mn-ea"/>
                <a:cs typeface="Arial" pitchFamily="34" charset="0"/>
              </a:rPr>
              <a:t>hosts </a:t>
            </a:r>
            <a:r>
              <a:rPr lang="en-CA" b="0" kern="1200" dirty="0">
                <a:solidFill>
                  <a:schemeClr val="tx1"/>
                </a:solidFill>
                <a:effectLst/>
                <a:ea typeface="+mn-ea"/>
                <a:cs typeface="Arial" pitchFamily="34" charset="0"/>
              </a:rPr>
              <a:t>for any administrators, then the administrator will not get the login page but rather will receive the</a:t>
            </a:r>
            <a:r>
              <a:rPr lang="en-CA" b="0" kern="1200" baseline="0" dirty="0">
                <a:solidFill>
                  <a:schemeClr val="tx1"/>
                </a:solidFill>
                <a:effectLst/>
                <a:ea typeface="+mn-ea"/>
                <a:cs typeface="Arial" pitchFamily="34" charset="0"/>
              </a:rPr>
              <a:t> </a:t>
            </a:r>
            <a:r>
              <a:rPr lang="en-CA" b="0" kern="1200" dirty="0">
                <a:solidFill>
                  <a:schemeClr val="tx1"/>
                </a:solidFill>
                <a:effectLst/>
                <a:ea typeface="+mn-ea"/>
                <a:cs typeface="Arial" pitchFamily="34" charset="0"/>
              </a:rPr>
              <a:t>message: </a:t>
            </a:r>
            <a:r>
              <a:rPr lang="en-CA" b="0" kern="1200" dirty="0">
                <a:solidFill>
                  <a:schemeClr val="tx1"/>
                </a:solidFill>
                <a:effectLst/>
                <a:latin typeface="Arial" panose="020B0604020202020204" pitchFamily="34" charset="0"/>
                <a:ea typeface="+mn-ea"/>
                <a:cs typeface="Arial" panose="020B0604020202020204" pitchFamily="34" charset="0"/>
              </a:rPr>
              <a:t>“Unable to contact server”. </a:t>
            </a:r>
            <a:endParaRPr lang="en-US" b="0" kern="1200" dirty="0">
              <a:solidFill>
                <a:schemeClr val="tx1"/>
              </a:solidFill>
              <a:effectLst/>
              <a:latin typeface="Arial" panose="020B0604020202020204" pitchFamily="34" charset="0"/>
              <a:ea typeface="+mn-ea"/>
              <a:cs typeface="Arial" panose="020B0604020202020204" pitchFamily="34" charset="0"/>
            </a:endParaRP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If you leave any IPv4 address as </a:t>
            </a:r>
            <a:r>
              <a:rPr lang="en-US" b="0" kern="1200" dirty="0">
                <a:solidFill>
                  <a:schemeClr val="tx1"/>
                </a:solidFill>
                <a:effectLst/>
                <a:latin typeface="Courier New" panose="02070309020205020404" pitchFamily="49" charset="0"/>
                <a:ea typeface="+mn-ea"/>
                <a:cs typeface="Courier New" panose="02070309020205020404" pitchFamily="49" charset="0"/>
              </a:rPr>
              <a:t>0.0.0.0/0</a:t>
            </a:r>
            <a:r>
              <a:rPr lang="en-US" b="0" kern="1200" dirty="0">
                <a:solidFill>
                  <a:schemeClr val="tx1"/>
                </a:solidFill>
                <a:effectLst/>
                <a:ea typeface="+mn-ea"/>
                <a:cs typeface="Arial" pitchFamily="34" charset="0"/>
              </a:rPr>
              <a:t>, it means that connections from any source IP will be allowed.</a:t>
            </a:r>
            <a:r>
              <a:rPr lang="en-US" b="0" kern="1200" baseline="0" dirty="0">
                <a:solidFill>
                  <a:schemeClr val="tx1"/>
                </a:solidFill>
                <a:effectLst/>
                <a:ea typeface="+mn-ea"/>
                <a:cs typeface="Arial" pitchFamily="34" charset="0"/>
              </a:rPr>
              <a:t> By default, </a:t>
            </a:r>
            <a:r>
              <a:rPr lang="en-US" b="0" kern="1200" baseline="0" dirty="0">
                <a:solidFill>
                  <a:schemeClr val="tx1"/>
                </a:solidFill>
                <a:effectLst/>
                <a:latin typeface="Courier New" panose="02070309020205020404" pitchFamily="49" charset="0"/>
                <a:ea typeface="+mn-ea"/>
                <a:cs typeface="Courier New" panose="02070309020205020404" pitchFamily="49" charset="0"/>
              </a:rPr>
              <a:t>0.0.0.0/0</a:t>
            </a:r>
            <a:r>
              <a:rPr lang="en-US" b="0" kern="1200" baseline="0" dirty="0">
                <a:solidFill>
                  <a:schemeClr val="tx1"/>
                </a:solidFill>
                <a:effectLst/>
                <a:ea typeface="+mn-ea"/>
                <a:cs typeface="Arial" pitchFamily="34" charset="0"/>
              </a:rPr>
              <a:t> is the configuration for </a:t>
            </a:r>
            <a:r>
              <a:rPr lang="en-US" b="0" kern="1200" baseline="0" dirty="0" smtClean="0">
                <a:solidFill>
                  <a:schemeClr val="tx1"/>
                </a:solidFill>
                <a:effectLst/>
                <a:ea typeface="+mn-ea"/>
                <a:cs typeface="Arial" pitchFamily="34" charset="0"/>
              </a:rPr>
              <a:t>the administrator</a:t>
            </a:r>
            <a:r>
              <a:rPr lang="en-US" b="0" kern="1200" baseline="0" dirty="0">
                <a:solidFill>
                  <a:schemeClr val="tx1"/>
                </a:solidFill>
                <a:effectLst/>
                <a:ea typeface="+mn-ea"/>
                <a:cs typeface="Arial" pitchFamily="34" charset="0"/>
              </a:rPr>
              <a:t>, although you may want to change this.</a:t>
            </a:r>
            <a:r>
              <a:rPr lang="en-US" b="0" kern="1200" dirty="0">
                <a:solidFill>
                  <a:schemeClr val="tx1"/>
                </a:solidFill>
                <a:effectLst/>
                <a:ea typeface="+mn-ea"/>
                <a:cs typeface="Arial" pitchFamily="34" charset="0"/>
              </a:rPr>
              <a:t> </a:t>
            </a: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Notice that each account can define its management host or subnet differently.</a:t>
            </a:r>
            <a:r>
              <a:rPr lang="en-US" b="0" kern="1200" baseline="0" dirty="0">
                <a:solidFill>
                  <a:schemeClr val="tx1"/>
                </a:solidFill>
                <a:effectLst/>
                <a:ea typeface="+mn-ea"/>
                <a:cs typeface="Arial" pitchFamily="34" charset="0"/>
              </a:rPr>
              <a:t> </a:t>
            </a:r>
            <a:r>
              <a:rPr lang="en-US" b="0" kern="1200" dirty="0">
                <a:solidFill>
                  <a:schemeClr val="tx1"/>
                </a:solidFill>
                <a:effectLst/>
                <a:ea typeface="+mn-ea"/>
                <a:cs typeface="Arial" pitchFamily="34" charset="0"/>
              </a:rPr>
              <a:t>This is especially useful if you</a:t>
            </a:r>
            <a:r>
              <a:rPr lang="en-US" b="0" kern="1200" baseline="0" dirty="0">
                <a:solidFill>
                  <a:schemeClr val="tx1"/>
                </a:solidFill>
                <a:effectLst/>
                <a:ea typeface="+mn-ea"/>
                <a:cs typeface="Arial" pitchFamily="34" charset="0"/>
              </a:rPr>
              <a:t> are </a:t>
            </a:r>
            <a:r>
              <a:rPr lang="en-US" b="0" kern="1200" dirty="0">
                <a:solidFill>
                  <a:schemeClr val="tx1"/>
                </a:solidFill>
                <a:effectLst/>
                <a:ea typeface="+mn-ea"/>
                <a:cs typeface="Arial" pitchFamily="34" charset="0"/>
              </a:rPr>
              <a:t>setting up VDOMs </a:t>
            </a:r>
            <a:r>
              <a:rPr lang="en-US" b="0" kern="1200" dirty="0" smtClean="0">
                <a:solidFill>
                  <a:schemeClr val="tx1"/>
                </a:solidFill>
                <a:effectLst/>
                <a:ea typeface="+mn-ea"/>
                <a:cs typeface="Arial" pitchFamily="34" charset="0"/>
              </a:rPr>
              <a:t>on</a:t>
            </a:r>
            <a:r>
              <a:rPr lang="en-US" b="0" kern="1200" baseline="0" dirty="0" smtClean="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FortiGate</a:t>
            </a:r>
            <a:r>
              <a:rPr lang="en-US" b="0" kern="1200" dirty="0">
                <a:solidFill>
                  <a:schemeClr val="tx1"/>
                </a:solidFill>
                <a:effectLst/>
                <a:ea typeface="+mn-ea"/>
                <a:cs typeface="Arial" pitchFamily="34" charset="0"/>
              </a:rPr>
              <a:t>, where the </a:t>
            </a:r>
            <a:r>
              <a:rPr lang="en-US" b="0" kern="1200" dirty="0" smtClean="0">
                <a:solidFill>
                  <a:schemeClr val="tx1"/>
                </a:solidFill>
                <a:effectLst/>
                <a:ea typeface="+mn-ea"/>
                <a:cs typeface="Arial" pitchFamily="34" charset="0"/>
              </a:rPr>
              <a:t>VDOM </a:t>
            </a:r>
            <a:r>
              <a:rPr lang="en-US" b="0" kern="1200" dirty="0">
                <a:solidFill>
                  <a:schemeClr val="tx1"/>
                </a:solidFill>
                <a:effectLst/>
                <a:ea typeface="+mn-ea"/>
                <a:cs typeface="Arial" pitchFamily="34" charset="0"/>
              </a:rPr>
              <a:t>administrators may not even belong to the same organization. Be aware of any NAT that occurs between the</a:t>
            </a:r>
            <a:r>
              <a:rPr lang="en-US" b="0" kern="1200" baseline="0" dirty="0">
                <a:solidFill>
                  <a:schemeClr val="tx1"/>
                </a:solidFill>
                <a:effectLst/>
                <a:ea typeface="+mn-ea"/>
                <a:cs typeface="Arial" pitchFamily="34" charset="0"/>
              </a:rPr>
              <a:t> desired device and FortiGate. You can easily prevent an administrator from logging in from the desired IP address if it is later </a:t>
            </a:r>
            <a:r>
              <a:rPr lang="en-US" b="0" kern="1200" baseline="0" dirty="0" err="1">
                <a:solidFill>
                  <a:schemeClr val="tx1"/>
                </a:solidFill>
                <a:effectLst/>
                <a:ea typeface="+mn-ea"/>
                <a:cs typeface="Arial" pitchFamily="34" charset="0"/>
              </a:rPr>
              <a:t>NATed</a:t>
            </a:r>
            <a:r>
              <a:rPr lang="en-US" b="0" kern="1200" baseline="0" dirty="0">
                <a:solidFill>
                  <a:schemeClr val="tx1"/>
                </a:solidFill>
                <a:effectLst/>
                <a:ea typeface="+mn-ea"/>
                <a:cs typeface="Arial" pitchFamily="34" charset="0"/>
              </a:rPr>
              <a:t> to another address before reaching FortiGate, thus defeating the purpose of the trusted hosts.</a:t>
            </a:r>
            <a:endParaRPr lang="en-US" b="0" kern="1200" dirty="0">
              <a:solidFill>
                <a:schemeClr val="tx1"/>
              </a:solidFill>
              <a:effectLst/>
              <a:ea typeface="+mn-ea"/>
              <a:cs typeface="Arial" pitchFamily="34" charset="0"/>
            </a:endParaRPr>
          </a:p>
          <a:p>
            <a:endParaRPr lang="en-US" b="0" kern="1200" dirty="0">
              <a:solidFill>
                <a:schemeClr val="tx1"/>
              </a:solidFill>
              <a:effectLst/>
              <a:ea typeface="+mn-ea"/>
              <a:cs typeface="Arial" pitchFamily="34" charset="0"/>
            </a:endParaRPr>
          </a:p>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409012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090">
              <a:defRPr/>
            </a:pPr>
            <a:r>
              <a:rPr lang="en-US" dirty="0" smtClean="0">
                <a:solidFill>
                  <a:prstClr val="black"/>
                </a:solidFill>
                <a:latin typeface="Arial"/>
                <a:ea typeface="Arial Unicode MS"/>
              </a:rPr>
              <a:t>You may also want to customize the administrative protocols port numbers.</a:t>
            </a:r>
          </a:p>
          <a:p>
            <a:pPr defTabSz="948090">
              <a:defRPr/>
            </a:pPr>
            <a:endParaRPr lang="en-US" dirty="0" smtClean="0">
              <a:solidFill>
                <a:prstClr val="black"/>
              </a:solidFill>
              <a:latin typeface="Arial"/>
              <a:ea typeface="Arial Unicode MS"/>
            </a:endParaRPr>
          </a:p>
          <a:p>
            <a:pPr defTabSz="948090">
              <a:defRPr/>
            </a:pPr>
            <a:r>
              <a:rPr lang="en-US" dirty="0" smtClean="0">
                <a:solidFill>
                  <a:prstClr val="black"/>
                </a:solidFill>
                <a:latin typeface="Arial"/>
                <a:ea typeface="Arial Unicode MS"/>
              </a:rPr>
              <a:t>You can choose whether to allow concurrent sessions. You can use concurrent sessions to avoid accidentally overwriting settings, if you usually keep multiple browser tabs open, or accidentally leave a CLI session open without saving the settings, then begin a GUI session and accidentally edit the same settings differently.</a:t>
            </a:r>
          </a:p>
          <a:p>
            <a:pPr defTabSz="948090">
              <a:defRPr/>
            </a:pPr>
            <a:endParaRPr lang="en-US" dirty="0" smtClean="0">
              <a:solidFill>
                <a:prstClr val="black"/>
              </a:solidFill>
              <a:latin typeface="Arial"/>
              <a:ea typeface="Arial Unicode MS"/>
            </a:endParaRPr>
          </a:p>
          <a:p>
            <a:pPr defTabSz="948090">
              <a:defRPr/>
            </a:pPr>
            <a:r>
              <a:rPr lang="en-US" dirty="0" smtClean="0">
                <a:solidFill>
                  <a:prstClr val="black"/>
                </a:solidFill>
                <a:latin typeface="Arial"/>
                <a:ea typeface="Arial Unicode MS"/>
              </a:rPr>
              <a:t>For better security, use only secure protocols, and enforce password complexity and changes.</a:t>
            </a:r>
          </a:p>
          <a:p>
            <a:pPr defTabSz="948090">
              <a:defRPr/>
            </a:pPr>
            <a:endParaRPr lang="en-US" dirty="0" smtClean="0">
              <a:solidFill>
                <a:prstClr val="black"/>
              </a:solidFill>
              <a:latin typeface="Arial"/>
              <a:ea typeface="Arial Unicode MS"/>
            </a:endParaRPr>
          </a:p>
          <a:p>
            <a:pPr defTabSz="948090">
              <a:defRPr/>
            </a:pPr>
            <a:r>
              <a:rPr lang="en-CA" dirty="0" smtClean="0">
                <a:solidFill>
                  <a:prstClr val="black"/>
                </a:solidFill>
                <a:latin typeface="Arial"/>
                <a:ea typeface="Arial Unicode MS"/>
              </a:rPr>
              <a:t>The </a:t>
            </a:r>
            <a:r>
              <a:rPr lang="en-CA" b="1" dirty="0" smtClean="0">
                <a:solidFill>
                  <a:prstClr val="black"/>
                </a:solidFill>
                <a:latin typeface="Arial"/>
                <a:ea typeface="Arial Unicode MS"/>
              </a:rPr>
              <a:t>Idle timeout</a:t>
            </a:r>
            <a:r>
              <a:rPr lang="en-CA" b="1" baseline="0" dirty="0" smtClean="0">
                <a:solidFill>
                  <a:prstClr val="black"/>
                </a:solidFill>
                <a:latin typeface="Arial"/>
                <a:ea typeface="Arial Unicode MS"/>
              </a:rPr>
              <a:t> </a:t>
            </a:r>
            <a:r>
              <a:rPr lang="en-CA" b="0" baseline="0" dirty="0" smtClean="0">
                <a:solidFill>
                  <a:prstClr val="black"/>
                </a:solidFill>
                <a:latin typeface="Arial"/>
                <a:ea typeface="Arial Unicode MS"/>
              </a:rPr>
              <a:t>settings specifies </a:t>
            </a:r>
            <a:r>
              <a:rPr lang="en-CA" dirty="0" smtClean="0">
                <a:solidFill>
                  <a:prstClr val="black"/>
                </a:solidFill>
                <a:latin typeface="Arial"/>
                <a:ea typeface="Arial Unicode MS"/>
              </a:rPr>
              <a:t>the number of minutes before an inactive administrator session times out (default is five minutes). A shorter idle timeout is more secure, but increasing the timer can help reduce the chance of administrators being logged out while testing changes.</a:t>
            </a:r>
          </a:p>
          <a:p>
            <a:pPr defTabSz="948090">
              <a:defRPr/>
            </a:pPr>
            <a:endParaRPr lang="en-CA" dirty="0" smtClean="0">
              <a:solidFill>
                <a:prstClr val="black"/>
              </a:solidFill>
              <a:latin typeface="Arial"/>
              <a:ea typeface="Arial Unicode MS"/>
            </a:endParaRPr>
          </a:p>
          <a:p>
            <a:pPr defTabSz="948090">
              <a:defRPr/>
            </a:pPr>
            <a:r>
              <a:rPr lang="en-CA" dirty="0" smtClean="0">
                <a:solidFill>
                  <a:prstClr val="black"/>
                </a:solidFill>
                <a:latin typeface="Arial"/>
                <a:ea typeface="Arial Unicode MS"/>
              </a:rPr>
              <a:t>You</a:t>
            </a:r>
            <a:r>
              <a:rPr lang="en-CA" baseline="0" dirty="0" smtClean="0">
                <a:solidFill>
                  <a:prstClr val="black"/>
                </a:solidFill>
                <a:latin typeface="Arial"/>
                <a:ea typeface="Arial Unicode MS"/>
              </a:rPr>
              <a:t> can override the idle timeout setting per administrator profile using </a:t>
            </a:r>
            <a:r>
              <a:rPr lang="en-CA" b="0" baseline="0" dirty="0" smtClean="0">
                <a:solidFill>
                  <a:prstClr val="black"/>
                </a:solidFill>
                <a:latin typeface="Arial"/>
                <a:ea typeface="Arial Unicode MS"/>
              </a:rPr>
              <a:t>the</a:t>
            </a:r>
            <a:r>
              <a:rPr lang="en-CA" b="1" baseline="0" dirty="0" smtClean="0">
                <a:solidFill>
                  <a:prstClr val="black"/>
                </a:solidFill>
                <a:latin typeface="Arial"/>
                <a:ea typeface="Arial Unicode MS"/>
              </a:rPr>
              <a:t> Override Idle Timeout </a:t>
            </a:r>
            <a:r>
              <a:rPr lang="en-CA" b="0" baseline="0" dirty="0" smtClean="0">
                <a:solidFill>
                  <a:prstClr val="black"/>
                </a:solidFill>
                <a:latin typeface="Arial"/>
                <a:ea typeface="Arial Unicode MS"/>
              </a:rPr>
              <a:t>setting</a:t>
            </a:r>
            <a:r>
              <a:rPr lang="en-CA" baseline="0" dirty="0" smtClean="0">
                <a:solidFill>
                  <a:prstClr val="black"/>
                </a:solidFill>
                <a:latin typeface="Arial"/>
                <a:ea typeface="Arial Unicode MS"/>
              </a:rPr>
              <a:t>.</a:t>
            </a:r>
            <a:endParaRPr lang="en-CA" dirty="0" smtClean="0">
              <a:solidFill>
                <a:prstClr val="black"/>
              </a:solidFill>
              <a:latin typeface="Arial"/>
              <a:ea typeface="Arial Unicode MS"/>
            </a:endParaRPr>
          </a:p>
          <a:p>
            <a:pPr defTabSz="948090">
              <a:defRPr/>
            </a:pPr>
            <a:endParaRPr lang="en-CA" dirty="0" smtClean="0">
              <a:solidFill>
                <a:prstClr val="black"/>
              </a:solidFill>
              <a:latin typeface="Arial"/>
              <a:ea typeface="Arial Unicode MS"/>
            </a:endParaRPr>
          </a:p>
          <a:p>
            <a:r>
              <a:rPr lang="en-US" dirty="0" smtClean="0"/>
              <a:t>You can configure an administrator profile </a:t>
            </a:r>
            <a:r>
              <a:rPr lang="en-US" b="0" kern="1200" dirty="0" smtClean="0">
                <a:solidFill>
                  <a:schemeClr val="tx1"/>
                </a:solidFill>
                <a:effectLst/>
                <a:ea typeface="+mn-ea"/>
                <a:cs typeface="Arial" pitchFamily="34" charset="0"/>
              </a:rPr>
              <a:t>to increase inactivity timeout and facilitate use of the GUI for central monitoring. </a:t>
            </a:r>
            <a:r>
              <a:rPr lang="en-CA" dirty="0" smtClean="0"/>
              <a:t>The </a:t>
            </a:r>
            <a:r>
              <a:rPr lang="en-CA" b="1" dirty="0" smtClean="0"/>
              <a:t>Override Idle Timeout</a:t>
            </a:r>
            <a:r>
              <a:rPr lang="en-CA" dirty="0" smtClean="0"/>
              <a:t> setting </a:t>
            </a:r>
            <a:r>
              <a:rPr lang="en-US" b="0" kern="1200" dirty="0" smtClean="0">
                <a:solidFill>
                  <a:schemeClr val="tx1"/>
                </a:solidFill>
                <a:effectLst/>
                <a:ea typeface="+mn-ea"/>
                <a:cs typeface="Arial" pitchFamily="34" charset="0"/>
              </a:rPr>
              <a:t>allows the </a:t>
            </a:r>
            <a:r>
              <a:rPr lang="en-US" b="1" kern="1200" dirty="0" err="1" smtClean="0">
                <a:solidFill>
                  <a:schemeClr val="tx1"/>
                </a:solidFill>
                <a:effectLst/>
                <a:ea typeface="+mn-ea"/>
                <a:cs typeface="Arial" pitchFamily="34" charset="0"/>
              </a:rPr>
              <a:t>admintimeout</a:t>
            </a:r>
            <a:r>
              <a:rPr lang="en-US" b="0" kern="1200" dirty="0" smtClean="0">
                <a:solidFill>
                  <a:schemeClr val="tx1"/>
                </a:solidFill>
                <a:effectLst/>
                <a:ea typeface="+mn-ea"/>
                <a:cs typeface="Arial" pitchFamily="34" charset="0"/>
              </a:rPr>
              <a:t> value, under </a:t>
            </a:r>
            <a:r>
              <a:rPr lang="en-US" b="1" kern="1200" dirty="0" err="1" smtClean="0">
                <a:solidFill>
                  <a:schemeClr val="tx1"/>
                </a:solidFill>
                <a:effectLst/>
                <a:ea typeface="+mn-ea"/>
                <a:cs typeface="Arial" pitchFamily="34" charset="0"/>
              </a:rPr>
              <a:t>config</a:t>
            </a:r>
            <a:r>
              <a:rPr lang="en-US" b="1" kern="1200" dirty="0" smtClean="0">
                <a:solidFill>
                  <a:schemeClr val="tx1"/>
                </a:solidFill>
                <a:effectLst/>
                <a:ea typeface="+mn-ea"/>
                <a:cs typeface="Arial" pitchFamily="34" charset="0"/>
              </a:rPr>
              <a:t> system </a:t>
            </a:r>
            <a:r>
              <a:rPr lang="en-US" b="1" kern="1200" dirty="0" err="1" smtClean="0">
                <a:solidFill>
                  <a:schemeClr val="tx1"/>
                </a:solidFill>
                <a:effectLst/>
                <a:ea typeface="+mn-ea"/>
                <a:cs typeface="Arial" pitchFamily="34" charset="0"/>
              </a:rPr>
              <a:t>accprofile</a:t>
            </a:r>
            <a:r>
              <a:rPr lang="en-US" b="0" kern="1200" dirty="0" smtClean="0">
                <a:solidFill>
                  <a:schemeClr val="tx1"/>
                </a:solidFill>
                <a:effectLst/>
                <a:ea typeface="+mn-ea"/>
                <a:cs typeface="Arial" pitchFamily="34" charset="0"/>
              </a:rPr>
              <a:t>, to be overridden per access profile.</a:t>
            </a:r>
          </a:p>
          <a:p>
            <a:endParaRPr lang="en-US" b="0" kern="1200" dirty="0" smtClean="0">
              <a:solidFill>
                <a:schemeClr val="tx1"/>
              </a:solidFill>
              <a:effectLst/>
              <a:ea typeface="+mn-ea"/>
              <a:cs typeface="Arial" pitchFamily="34" charset="0"/>
            </a:endParaRPr>
          </a:p>
          <a:p>
            <a:r>
              <a:rPr lang="en-US" b="0" kern="1200" dirty="0" smtClean="0">
                <a:solidFill>
                  <a:schemeClr val="tx1"/>
                </a:solidFill>
                <a:effectLst/>
                <a:ea typeface="+mn-ea"/>
                <a:cs typeface="Arial" pitchFamily="34" charset="0"/>
              </a:rPr>
              <a:t>Note that you can do this on a per</a:t>
            </a:r>
            <a:r>
              <a:rPr lang="en-US" b="0" kern="1200" baseline="0" dirty="0" smtClean="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profile basis, to avoid the option from being unintentionally set globally.</a:t>
            </a:r>
          </a:p>
          <a:p>
            <a:endParaRPr lang="en-US" dirty="0"/>
          </a:p>
        </p:txBody>
      </p:sp>
      <p:sp>
        <p:nvSpPr>
          <p:cNvPr id="4" name="Header Placeholder 3"/>
          <p:cNvSpPr>
            <a:spLocks noGrp="1"/>
          </p:cNvSpPr>
          <p:nvPr>
            <p:ph type="hdr" sz="quarter" idx="10"/>
          </p:nvPr>
        </p:nvSpPr>
        <p:spPr/>
        <p:txBody>
          <a:bodyPr/>
          <a:lstStyle/>
          <a:p>
            <a:pPr algn="r"/>
            <a:r>
              <a:rPr lang="en-US" sz="1000" smtClean="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3993040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p:txBody>
          <a:bodyPr/>
          <a:lstStyle/>
          <a:p>
            <a:r>
              <a:rPr lang="en-US" dirty="0"/>
              <a:t>You’ve defined the management subnet—that is, the trusted hosts—for each administrator account. How do you enable or disable management protocols? </a:t>
            </a:r>
          </a:p>
          <a:p>
            <a:r>
              <a:rPr lang="en-US" dirty="0"/>
              <a:t>This is specific to each interface. For example, if your administrators connect to FortiGate only from port3, then you should disable administrative access on all other ports. This prevents brute force attempts and also insecure access. Your management protocols are </a:t>
            </a:r>
            <a:r>
              <a:rPr lang="en-US" dirty="0" smtClean="0"/>
              <a:t>HTTPS, HTTP, PING</a:t>
            </a:r>
            <a:r>
              <a:rPr lang="en-US" dirty="0"/>
              <a:t>, </a:t>
            </a:r>
            <a:r>
              <a:rPr lang="en-US" dirty="0" smtClean="0"/>
              <a:t>and SSH</a:t>
            </a:r>
            <a:r>
              <a:rPr lang="en-US" dirty="0"/>
              <a:t>. By default, the </a:t>
            </a:r>
            <a:r>
              <a:rPr lang="en-US" dirty="0" smtClean="0"/>
              <a:t>HTTP and TELNET </a:t>
            </a:r>
            <a:r>
              <a:rPr lang="en-US" dirty="0"/>
              <a:t>option is not visible on the GUI.</a:t>
            </a:r>
          </a:p>
          <a:p>
            <a:endParaRPr lang="en-US" dirty="0"/>
          </a:p>
          <a:p>
            <a:pPr defTabSz="948063">
              <a:defRPr/>
            </a:pPr>
            <a:r>
              <a:rPr lang="en-US" dirty="0"/>
              <a:t>Consider the location of the interface on your network. Enabling PING on an internal interface is useful for troubleshooting. However, if it’s an external interface (in other </a:t>
            </a:r>
            <a:r>
              <a:rPr lang="en-US" dirty="0" smtClean="0"/>
              <a:t>words, </a:t>
            </a:r>
            <a:r>
              <a:rPr lang="en-US" dirty="0"/>
              <a:t>exposed to the </a:t>
            </a:r>
            <a:r>
              <a:rPr lang="en-US" dirty="0" smtClean="0"/>
              <a:t>internet</a:t>
            </a:r>
            <a:r>
              <a:rPr lang="en-US" dirty="0"/>
              <a:t>), then the PING protocol could expose FortiGate to a DoS attack. </a:t>
            </a:r>
            <a:r>
              <a:rPr lang="en-US" dirty="0" smtClean="0"/>
              <a:t>You should disable protocols </a:t>
            </a:r>
            <a:r>
              <a:rPr lang="en-US" dirty="0"/>
              <a:t>that do not encrypt data flow, such as HTTP and </a:t>
            </a:r>
            <a:r>
              <a:rPr lang="en-US" dirty="0" smtClean="0"/>
              <a:t>TELNET. </a:t>
            </a:r>
            <a:r>
              <a:rPr lang="en-US" dirty="0"/>
              <a:t>IPv4 and IPv6 protocols are separate. It’s possible to have both IPv4 and IPv6 addresses on an interface, but only respond to pings on IPv6.</a:t>
            </a:r>
          </a:p>
          <a:p>
            <a:pPr marL="0" marR="0" indent="0" algn="l" defTabSz="914240" rtl="0" eaLnBrk="1" fontAlgn="auto" latinLnBrk="0" hangingPunct="1">
              <a:lnSpc>
                <a:spcPct val="100000"/>
              </a:lnSpc>
              <a:spcBef>
                <a:spcPts val="0"/>
              </a:spcBef>
              <a:spcAft>
                <a:spcPts val="0"/>
              </a:spcAft>
              <a:buClrTx/>
              <a:buSzTx/>
              <a:buFontTx/>
              <a:buNone/>
              <a:tabLst/>
              <a:defRPr/>
            </a:pPr>
            <a:endParaRPr lang="en-GB" b="0" i="0" kern="1200" dirty="0">
              <a:solidFill>
                <a:schemeClr val="tx1"/>
              </a:solidFill>
              <a:effectLst/>
            </a:endParaRPr>
          </a:p>
          <a:p>
            <a:pPr marL="0" marR="0" indent="0" algn="l" defTabSz="914240" rtl="0" eaLnBrk="1" fontAlgn="auto" latinLnBrk="0" hangingPunct="1">
              <a:lnSpc>
                <a:spcPct val="100000"/>
              </a:lnSpc>
              <a:spcBef>
                <a:spcPts val="0"/>
              </a:spcBef>
              <a:spcAft>
                <a:spcPts val="0"/>
              </a:spcAft>
              <a:buClrTx/>
              <a:buSzTx/>
              <a:buFontTx/>
              <a:buNone/>
              <a:tabLst/>
              <a:defRPr/>
            </a:pPr>
            <a:r>
              <a:rPr lang="en-GB" b="0" i="0" kern="1200" dirty="0">
                <a:solidFill>
                  <a:schemeClr val="tx1"/>
                </a:solidFill>
                <a:effectLst/>
              </a:rPr>
              <a:t>Security Fabric connection includes CAPWAP and FortiTelemetry.</a:t>
            </a:r>
            <a:r>
              <a:rPr lang="en-GB" b="0" i="0" kern="1200" baseline="0" dirty="0">
                <a:solidFill>
                  <a:schemeClr val="tx1"/>
                </a:solidFill>
                <a:effectLst/>
              </a:rPr>
              <a:t> </a:t>
            </a:r>
            <a:r>
              <a:rPr lang="en-US" b="0" i="0" kern="1200" baseline="0" dirty="0">
                <a:solidFill>
                  <a:schemeClr val="tx1"/>
                </a:solidFill>
                <a:effectLst/>
              </a:rPr>
              <a:t>P</a:t>
            </a:r>
            <a:r>
              <a:rPr lang="en-US" dirty="0"/>
              <a:t>rotocols like FortiTelemetry are </a:t>
            </a:r>
            <a:r>
              <a:rPr lang="en-US" i="1" dirty="0"/>
              <a:t>not</a:t>
            </a:r>
            <a:r>
              <a:rPr lang="en-US" dirty="0"/>
              <a:t> for administrative access, but, like GUI and CLI access, they are protocols where the </a:t>
            </a:r>
            <a:r>
              <a:rPr lang="en-US" dirty="0" smtClean="0"/>
              <a:t>packets</a:t>
            </a:r>
            <a:r>
              <a:rPr lang="en-US" baseline="0" dirty="0" smtClean="0"/>
              <a:t> </a:t>
            </a:r>
            <a:r>
              <a:rPr lang="en-US" dirty="0" smtClean="0"/>
              <a:t>have </a:t>
            </a:r>
            <a:r>
              <a:rPr lang="en-US" dirty="0"/>
              <a:t>FortiGate as a destination IP. </a:t>
            </a:r>
            <a:r>
              <a:rPr lang="en-US" dirty="0" smtClean="0"/>
              <a:t>Use the </a:t>
            </a:r>
            <a:r>
              <a:rPr lang="en-US" dirty="0" err="1" smtClean="0"/>
              <a:t>FortiTelemetry</a:t>
            </a:r>
            <a:r>
              <a:rPr lang="en-US" dirty="0" smtClean="0"/>
              <a:t> protocol specifically </a:t>
            </a:r>
            <a:r>
              <a:rPr lang="en-US" dirty="0"/>
              <a:t>for </a:t>
            </a:r>
            <a:r>
              <a:rPr lang="en-US" dirty="0" smtClean="0"/>
              <a:t>managing </a:t>
            </a:r>
            <a:r>
              <a:rPr lang="en-US" dirty="0" err="1" smtClean="0"/>
              <a:t>FortiClient</a:t>
            </a:r>
            <a:r>
              <a:rPr lang="en-US" dirty="0" smtClean="0"/>
              <a:t> and the </a:t>
            </a:r>
            <a:r>
              <a:rPr lang="en-US" dirty="0"/>
              <a:t>Security Fabric. </a:t>
            </a:r>
            <a:r>
              <a:rPr lang="en-US" dirty="0" smtClean="0"/>
              <a:t>Use the </a:t>
            </a:r>
            <a:r>
              <a:rPr lang="en-US" dirty="0"/>
              <a:t>CAPWAP </a:t>
            </a:r>
            <a:r>
              <a:rPr lang="en-US" dirty="0" smtClean="0"/>
              <a:t>protocol</a:t>
            </a:r>
            <a:r>
              <a:rPr lang="en-US" baseline="0" dirty="0" smtClean="0"/>
              <a:t> </a:t>
            </a:r>
            <a:r>
              <a:rPr lang="en-US" dirty="0" smtClean="0"/>
              <a:t>for </a:t>
            </a:r>
            <a:r>
              <a:rPr lang="en-US" dirty="0"/>
              <a:t>FortiAP, FortiSwitch, and </a:t>
            </a:r>
            <a:r>
              <a:rPr lang="en-US" dirty="0" err="1"/>
              <a:t>FortiExtender</a:t>
            </a:r>
            <a:r>
              <a:rPr lang="en-US" dirty="0"/>
              <a:t> when they are managed by FortiGate. </a:t>
            </a:r>
            <a:r>
              <a:rPr lang="en-US" dirty="0" smtClean="0"/>
              <a:t>Use the FMG-Access protocol</a:t>
            </a:r>
            <a:r>
              <a:rPr lang="en-US" baseline="0" dirty="0" smtClean="0"/>
              <a:t> </a:t>
            </a:r>
            <a:r>
              <a:rPr lang="en-US" dirty="0" smtClean="0"/>
              <a:t>specifically </a:t>
            </a:r>
            <a:r>
              <a:rPr lang="en-US" dirty="0"/>
              <a:t>for communicating with FortiManager when that server is managing multiple FortiGate devices. </a:t>
            </a:r>
            <a:r>
              <a:rPr lang="en-US" dirty="0" smtClean="0"/>
              <a:t>Use the RADIUS </a:t>
            </a:r>
            <a:r>
              <a:rPr lang="en-US" dirty="0"/>
              <a:t>accounting </a:t>
            </a:r>
            <a:r>
              <a:rPr lang="en-US" dirty="0" smtClean="0"/>
              <a:t>protocol</a:t>
            </a:r>
            <a:r>
              <a:rPr lang="en-US" baseline="0" dirty="0" smtClean="0"/>
              <a:t> </a:t>
            </a:r>
            <a:r>
              <a:rPr lang="en-US" dirty="0" smtClean="0"/>
              <a:t>when </a:t>
            </a:r>
            <a:r>
              <a:rPr lang="en-US" dirty="0"/>
              <a:t>FortiGate needs to listen for and process RADIUS </a:t>
            </a:r>
            <a:r>
              <a:rPr lang="en-US" dirty="0" smtClean="0"/>
              <a:t>accounting </a:t>
            </a:r>
            <a:r>
              <a:rPr lang="en-US" dirty="0"/>
              <a:t>packets for single sign-on authentication. FTM, or </a:t>
            </a:r>
            <a:r>
              <a:rPr lang="en-CA" dirty="0" err="1"/>
              <a:t>FortiToken</a:t>
            </a:r>
            <a:r>
              <a:rPr lang="en-CA" dirty="0"/>
              <a:t> Mobile push, supports second-factor authentication requests from a </a:t>
            </a:r>
            <a:r>
              <a:rPr lang="en-CA" dirty="0" err="1"/>
              <a:t>FortiToken</a:t>
            </a:r>
            <a:r>
              <a:rPr lang="en-CA" dirty="0"/>
              <a:t> mobile app. </a:t>
            </a:r>
          </a:p>
          <a:p>
            <a:r>
              <a:rPr lang="en-US" dirty="0" smtClean="0"/>
              <a:t>When </a:t>
            </a:r>
            <a:r>
              <a:rPr lang="en-US" dirty="0"/>
              <a:t>you assign the interface roles LAN or WAN to the appropriate interfaces, your FortiGate uses </a:t>
            </a:r>
            <a:r>
              <a:rPr lang="en-US" dirty="0" smtClean="0"/>
              <a:t>the Link </a:t>
            </a:r>
            <a:r>
              <a:rPr lang="en-US" dirty="0"/>
              <a:t>Layer Discovery Protocol (LLDP) to detect if there’s an upstream FortiGate in your network. If </a:t>
            </a:r>
            <a:r>
              <a:rPr lang="en-US" dirty="0" smtClean="0"/>
              <a:t>FortiGate discovers an </a:t>
            </a:r>
            <a:r>
              <a:rPr lang="en-US" dirty="0"/>
              <a:t>upstream </a:t>
            </a:r>
            <a:r>
              <a:rPr lang="en-US" dirty="0" smtClean="0"/>
              <a:t>FortiGate, </a:t>
            </a:r>
            <a:r>
              <a:rPr lang="en-US" dirty="0"/>
              <a:t>you're prompted to configure the </a:t>
            </a:r>
            <a:r>
              <a:rPr lang="en-US" dirty="0" smtClean="0"/>
              <a:t>upstream FortiGate device to </a:t>
            </a:r>
            <a:r>
              <a:rPr lang="en-US" dirty="0"/>
              <a:t>join the Security Fabric.</a:t>
            </a: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432423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kern="1200" dirty="0">
                <a:solidFill>
                  <a:schemeClr val="tx1"/>
                </a:solidFill>
                <a:effectLst/>
              </a:rPr>
              <a:t>When </a:t>
            </a:r>
            <a:r>
              <a:rPr lang="en-US" b="0" kern="1200" dirty="0" err="1">
                <a:solidFill>
                  <a:schemeClr val="tx1"/>
                </a:solidFill>
                <a:effectLst/>
              </a:rPr>
              <a:t>FortiGate</a:t>
            </a:r>
            <a:r>
              <a:rPr lang="en-US" b="0" kern="1200" dirty="0">
                <a:solidFill>
                  <a:schemeClr val="tx1"/>
                </a:solidFill>
                <a:effectLst/>
              </a:rPr>
              <a:t> is operating in NAT mode, every interface that handles traffic must have an IP address. </a:t>
            </a:r>
            <a:r>
              <a:rPr lang="en-CA" b="0" kern="1200" baseline="0" dirty="0">
                <a:solidFill>
                  <a:schemeClr val="tx1"/>
                </a:solidFill>
                <a:effectLst/>
              </a:rPr>
              <a:t>When in NAT mode, </a:t>
            </a:r>
            <a:r>
              <a:rPr lang="en-CA" b="0" kern="1200" baseline="0" dirty="0" smtClean="0">
                <a:solidFill>
                  <a:schemeClr val="tx1"/>
                </a:solidFill>
                <a:effectLst/>
              </a:rPr>
              <a:t>FortiGate can use the IP </a:t>
            </a:r>
            <a:r>
              <a:rPr lang="en-CA" b="0" kern="1200" baseline="0" dirty="0">
                <a:solidFill>
                  <a:schemeClr val="tx1"/>
                </a:solidFill>
                <a:effectLst/>
              </a:rPr>
              <a:t>address </a:t>
            </a:r>
            <a:r>
              <a:rPr lang="en-CA" b="0" kern="1200" baseline="0" dirty="0" smtClean="0">
                <a:solidFill>
                  <a:schemeClr val="tx1"/>
                </a:solidFill>
                <a:effectLst/>
              </a:rPr>
              <a:t>to </a:t>
            </a:r>
            <a:r>
              <a:rPr lang="en-CA" b="0" kern="1200" baseline="0" dirty="0">
                <a:solidFill>
                  <a:schemeClr val="tx1"/>
                </a:solidFill>
                <a:effectLst/>
              </a:rPr>
              <a:t>source the traffic, if it needs to start or reply to a session, </a:t>
            </a:r>
            <a:r>
              <a:rPr lang="en-CA" b="0" kern="1200" baseline="0" dirty="0" smtClean="0">
                <a:solidFill>
                  <a:schemeClr val="tx1"/>
                </a:solidFill>
                <a:effectLst/>
              </a:rPr>
              <a:t>and as </a:t>
            </a:r>
            <a:r>
              <a:rPr lang="en-CA" b="0" kern="1200" baseline="0" dirty="0">
                <a:solidFill>
                  <a:schemeClr val="tx1"/>
                </a:solidFill>
                <a:effectLst/>
              </a:rPr>
              <a:t>a destination address for devices trying to contact FortiGate or route traffic through it. </a:t>
            </a:r>
            <a:r>
              <a:rPr lang="en-US" b="0" kern="1200" dirty="0">
                <a:solidFill>
                  <a:schemeClr val="tx1"/>
                </a:solidFill>
                <a:effectLst/>
              </a:rPr>
              <a:t>There are multiple ways to</a:t>
            </a:r>
            <a:r>
              <a:rPr lang="en-US" b="0" kern="1200" baseline="0" dirty="0">
                <a:solidFill>
                  <a:schemeClr val="tx1"/>
                </a:solidFill>
                <a:effectLst/>
              </a:rPr>
              <a:t> get an IP address</a:t>
            </a:r>
            <a:r>
              <a:rPr lang="en-US" b="0" kern="1200" dirty="0">
                <a:solidFill>
                  <a:schemeClr val="tx1"/>
                </a:solidFill>
                <a:effectLst/>
              </a:rPr>
              <a:t>:</a:t>
            </a:r>
          </a:p>
          <a:p>
            <a:endParaRPr lang="en-US" b="0" kern="1200" dirty="0">
              <a:solidFill>
                <a:schemeClr val="tx1"/>
              </a:solidFill>
              <a:effectLst/>
            </a:endParaRPr>
          </a:p>
          <a:p>
            <a:pPr marL="171323" indent="-171323">
              <a:buFont typeface="Arial" panose="020B0604020202020204" pitchFamily="34" charset="0"/>
              <a:buChar char="•"/>
            </a:pPr>
            <a:r>
              <a:rPr lang="en-US" b="0" kern="1200" dirty="0">
                <a:solidFill>
                  <a:schemeClr val="tx1"/>
                </a:solidFill>
                <a:effectLst/>
              </a:rPr>
              <a:t>Manually</a:t>
            </a:r>
          </a:p>
          <a:p>
            <a:pPr marL="171323" indent="-171323">
              <a:buFont typeface="Arial" panose="020B0604020202020204" pitchFamily="34" charset="0"/>
              <a:buChar char="•"/>
            </a:pPr>
            <a:r>
              <a:rPr lang="en-US" b="0" kern="1200" dirty="0">
                <a:solidFill>
                  <a:schemeClr val="tx1"/>
                </a:solidFill>
                <a:effectLst/>
              </a:rPr>
              <a:t>Automatically,</a:t>
            </a:r>
            <a:r>
              <a:rPr lang="en-US" b="0" kern="1200" baseline="0" dirty="0">
                <a:solidFill>
                  <a:schemeClr val="tx1"/>
                </a:solidFill>
                <a:effectLst/>
              </a:rPr>
              <a:t> </a:t>
            </a:r>
            <a:r>
              <a:rPr lang="en-US" b="0" kern="1200" dirty="0">
                <a:solidFill>
                  <a:schemeClr val="tx1"/>
                </a:solidFill>
                <a:effectLst/>
              </a:rPr>
              <a:t>using either DHCP or </a:t>
            </a:r>
            <a:r>
              <a:rPr lang="en-US" b="0" kern="1200" dirty="0" err="1" smtClean="0">
                <a:solidFill>
                  <a:schemeClr val="tx1"/>
                </a:solidFill>
                <a:effectLst/>
              </a:rPr>
              <a:t>PPPoE</a:t>
            </a:r>
            <a:r>
              <a:rPr lang="en-US" b="0" kern="1200" dirty="0" smtClean="0">
                <a:solidFill>
                  <a:schemeClr val="tx1"/>
                </a:solidFill>
                <a:effectLst/>
              </a:rPr>
              <a:t> (available on</a:t>
            </a:r>
            <a:r>
              <a:rPr lang="en-US" b="0" kern="1200" baseline="0" dirty="0" smtClean="0">
                <a:solidFill>
                  <a:schemeClr val="tx1"/>
                </a:solidFill>
                <a:effectLst/>
              </a:rPr>
              <a:t> the</a:t>
            </a:r>
            <a:r>
              <a:rPr lang="en-US" b="0" kern="1200" dirty="0" smtClean="0">
                <a:solidFill>
                  <a:schemeClr val="tx1"/>
                </a:solidFill>
                <a:effectLst/>
              </a:rPr>
              <a:t> CLI)</a:t>
            </a:r>
            <a:endParaRPr lang="en-US" b="0" kern="1200" dirty="0">
              <a:solidFill>
                <a:schemeClr val="tx1"/>
              </a:solidFill>
              <a:effectLst/>
            </a:endParaRPr>
          </a:p>
        </p:txBody>
      </p:sp>
      <p:sp>
        <p:nvSpPr>
          <p:cNvPr id="4" name="Header Placeholder 3"/>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507411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baseline="0" dirty="0"/>
              <a:t>How many times have you seen network issues caused by a DHCP server—not client—enabled on the WAN interface? </a:t>
            </a:r>
          </a:p>
          <a:p>
            <a:endParaRPr lang="en-US" i="0" baseline="0" dirty="0"/>
          </a:p>
          <a:p>
            <a:pPr defTabSz="913731">
              <a:defRPr/>
            </a:pPr>
            <a:r>
              <a:rPr lang="en-US" i="0" baseline="0" dirty="0"/>
              <a:t>You can configure the </a:t>
            </a:r>
            <a:r>
              <a:rPr lang="en-US" i="0" baseline="0" dirty="0" smtClean="0"/>
              <a:t>interface </a:t>
            </a:r>
            <a:r>
              <a:rPr lang="en-US" i="0" baseline="0" dirty="0"/>
              <a:t>role. The roles shown </a:t>
            </a:r>
            <a:r>
              <a:rPr lang="en-US" i="0" baseline="0" dirty="0" smtClean="0"/>
              <a:t>on </a:t>
            </a:r>
            <a:r>
              <a:rPr lang="en-US" i="0" baseline="0" dirty="0"/>
              <a:t>the GUI are the usual interface settings for that part of a topology. Settings that do not apply to the current role are hidden on the </a:t>
            </a:r>
            <a:r>
              <a:rPr lang="en-US" i="0" baseline="0" dirty="0" smtClean="0"/>
              <a:t>GUI. (All </a:t>
            </a:r>
            <a:r>
              <a:rPr lang="en-US" i="0" baseline="0" dirty="0"/>
              <a:t>settings are always available on the CLI regardless of the </a:t>
            </a:r>
            <a:r>
              <a:rPr lang="en-US" i="0" baseline="0" dirty="0" smtClean="0"/>
              <a:t>role.) </a:t>
            </a:r>
            <a:r>
              <a:rPr lang="en-US" i="0" baseline="0" dirty="0"/>
              <a:t>This prevents accidental misconfiguration. </a:t>
            </a:r>
          </a:p>
          <a:p>
            <a:pPr defTabSz="913731">
              <a:defRPr/>
            </a:pPr>
            <a:endParaRPr lang="en-US" i="0" baseline="0" dirty="0"/>
          </a:p>
          <a:p>
            <a:pPr defTabSz="913731">
              <a:defRPr/>
            </a:pPr>
            <a:r>
              <a:rPr lang="en-CA" i="0" baseline="0" dirty="0"/>
              <a:t>For example, when the role is configured as </a:t>
            </a:r>
            <a:r>
              <a:rPr lang="en-CA" b="1" i="0" baseline="0" dirty="0"/>
              <a:t>WAN</a:t>
            </a:r>
            <a:r>
              <a:rPr lang="en-CA" i="0" baseline="0" dirty="0"/>
              <a:t>, there is no DHCP server and device detection configuration available. Device detection is usually used to detect devices internally on your LAN. </a:t>
            </a:r>
          </a:p>
          <a:p>
            <a:pPr defTabSz="913731">
              <a:defRPr/>
            </a:pPr>
            <a:endParaRPr lang="en-US" i="0" baseline="0" dirty="0"/>
          </a:p>
          <a:p>
            <a:pPr defTabSz="913731">
              <a:defRPr/>
            </a:pPr>
            <a:r>
              <a:rPr lang="en-US" i="0" baseline="0" dirty="0"/>
              <a:t>If there is an unusual case, and you need to use an option that’s hidden by the current role, you can always switch the role to </a:t>
            </a:r>
            <a:r>
              <a:rPr lang="en-US" b="1" i="0" baseline="0" dirty="0"/>
              <a:t>Undefined</a:t>
            </a:r>
            <a:r>
              <a:rPr lang="en-US" i="0" baseline="0" dirty="0"/>
              <a:t>. This displays all options.</a:t>
            </a:r>
          </a:p>
          <a:p>
            <a:endParaRPr lang="en-US" i="0" baseline="0" dirty="0"/>
          </a:p>
          <a:p>
            <a:pPr defTabSz="913731">
              <a:defRPr/>
            </a:pPr>
            <a:r>
              <a:rPr lang="en-CA" baseline="0" dirty="0"/>
              <a:t>To help you remember the use of each interface, you can give them aliases. For example, you could call port3 </a:t>
            </a:r>
            <a:r>
              <a:rPr lang="en-CA" i="0" baseline="0" dirty="0" err="1">
                <a:latin typeface="Courier New" panose="02070309020205020404" pitchFamily="49" charset="0"/>
                <a:cs typeface="Courier New" panose="02070309020205020404" pitchFamily="49" charset="0"/>
              </a:rPr>
              <a:t>internal_network</a:t>
            </a:r>
            <a:r>
              <a:rPr lang="en-CA" baseline="0" dirty="0"/>
              <a:t>. This can help to make your list of policies easier to comprehend.</a:t>
            </a:r>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281767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p:txBody>
          <a:bodyPr/>
          <a:lstStyle/>
          <a:p>
            <a:pPr lvl="0"/>
            <a:r>
              <a:rPr lang="en-US" dirty="0"/>
              <a:t>VLANs split your physical LAN into </a:t>
            </a:r>
            <a:r>
              <a:rPr lang="en-US" dirty="0" smtClean="0"/>
              <a:t>multiple, </a:t>
            </a:r>
            <a:r>
              <a:rPr lang="en-US" dirty="0"/>
              <a:t>logical LANs. In NAT operation mode, each VLAN forms a separate broadcast domain. Multiple VLANs can coexist in the same physical interface, provided they have different</a:t>
            </a:r>
            <a:r>
              <a:rPr lang="en-US" baseline="0" dirty="0"/>
              <a:t> VLAN IDs</a:t>
            </a:r>
            <a:r>
              <a:rPr lang="en-US" dirty="0"/>
              <a:t>. In this way, a physical interface is split into two or more logical interfaces. A tag is added to each Ethernet frame to identify the VLAN to which it belongs.</a:t>
            </a:r>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dirty="0">
                <a:cs typeface="Arial" pitchFamily="34" charset="0"/>
              </a:rPr>
              <a:t>Introduction and Initial Configuration</a:t>
            </a:r>
          </a:p>
        </p:txBody>
      </p:sp>
    </p:spTree>
    <p:extLst>
      <p:ext uri="{BB962C8B-B14F-4D97-AF65-F5344CB8AC3E}">
        <p14:creationId xmlns:p14="http://schemas.microsoft.com/office/powerpoint/2010/main" val="1826962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CA" dirty="0"/>
              <a:t>To create a VLAN </a:t>
            </a:r>
            <a:r>
              <a:rPr lang="en-CA" dirty="0" smtClean="0"/>
              <a:t>using </a:t>
            </a:r>
            <a:r>
              <a:rPr lang="en-CA" dirty="0"/>
              <a:t>the GUI, click </a:t>
            </a:r>
            <a:r>
              <a:rPr lang="en-CA" b="1" i="0" dirty="0"/>
              <a:t>Create </a:t>
            </a:r>
            <a:r>
              <a:rPr lang="en-CA" b="1" i="0" dirty="0" smtClean="0"/>
              <a:t>New,</a:t>
            </a:r>
            <a:r>
              <a:rPr lang="en-CA" b="1" i="0" baseline="0" dirty="0" smtClean="0"/>
              <a:t> </a:t>
            </a:r>
            <a:r>
              <a:rPr lang="en-CA" b="0" i="0" baseline="0" dirty="0" smtClean="0"/>
              <a:t>select</a:t>
            </a:r>
            <a:r>
              <a:rPr lang="en-CA" b="1" i="0" baseline="0" dirty="0" smtClean="0"/>
              <a:t> Interface, </a:t>
            </a:r>
            <a:r>
              <a:rPr lang="en-CA" dirty="0" smtClean="0"/>
              <a:t>and then, in the </a:t>
            </a:r>
            <a:r>
              <a:rPr lang="en-CA" b="1" i="0" dirty="0" smtClean="0"/>
              <a:t>Type</a:t>
            </a:r>
            <a:r>
              <a:rPr lang="en-CA" b="0" i="0" dirty="0" smtClean="0"/>
              <a:t> drop-down</a:t>
            </a:r>
            <a:r>
              <a:rPr lang="en-CA" b="0" i="0" baseline="0" dirty="0" smtClean="0"/>
              <a:t> list, </a:t>
            </a:r>
            <a:r>
              <a:rPr lang="en-CA" dirty="0" smtClean="0"/>
              <a:t>select </a:t>
            </a:r>
            <a:r>
              <a:rPr lang="en-CA" b="1" i="0" dirty="0" smtClean="0"/>
              <a:t>VLAN</a:t>
            </a:r>
            <a:r>
              <a:rPr lang="en-CA" dirty="0" smtClean="0"/>
              <a:t>. </a:t>
            </a:r>
            <a:r>
              <a:rPr lang="en-CA" dirty="0"/>
              <a:t>You must specify the VLAN ID and the physical interface to which</a:t>
            </a:r>
            <a:r>
              <a:rPr lang="en-CA" baseline="0" dirty="0"/>
              <a:t> </a:t>
            </a:r>
            <a:r>
              <a:rPr lang="en-CA" dirty="0"/>
              <a:t>the VLAN will be bound.</a:t>
            </a:r>
            <a:r>
              <a:rPr lang="en-US" dirty="0"/>
              <a:t> Frames that belong to interfaces of that type are always tagged. On the other hand, frames sent or received by the physical interface segment are never tagged. They belong to what is </a:t>
            </a:r>
            <a:r>
              <a:rPr lang="en-US" dirty="0" smtClean="0"/>
              <a:t>called </a:t>
            </a:r>
            <a:r>
              <a:rPr lang="en-US" dirty="0"/>
              <a:t>the </a:t>
            </a:r>
            <a:r>
              <a:rPr lang="en-US" b="0" i="1" dirty="0"/>
              <a:t>native</a:t>
            </a:r>
            <a:r>
              <a:rPr lang="en-US" dirty="0"/>
              <a:t> VLAN</a:t>
            </a:r>
            <a:r>
              <a:rPr lang="en-US" baseline="0" dirty="0"/>
              <a:t> (VLAN ID 0</a:t>
            </a:r>
            <a:r>
              <a:rPr lang="en-US" baseline="0" dirty="0" smtClean="0"/>
              <a:t>).</a:t>
            </a:r>
            <a:endParaRPr lang="en-US" baseline="0" dirty="0"/>
          </a:p>
          <a:p>
            <a:endParaRPr lang="en-US" baseline="0" dirty="0"/>
          </a:p>
          <a:p>
            <a:r>
              <a:rPr lang="en-US" b="0" baseline="0" dirty="0" smtClean="0"/>
              <a:t>Note that in </a:t>
            </a:r>
            <a:r>
              <a:rPr lang="en-US" baseline="0" dirty="0" smtClean="0"/>
              <a:t>a </a:t>
            </a:r>
            <a:r>
              <a:rPr lang="en-US" baseline="0" dirty="0"/>
              <a:t>multi-VDOM </a:t>
            </a:r>
            <a:r>
              <a:rPr lang="en-US" baseline="0" dirty="0" smtClean="0"/>
              <a:t>environment, the physical </a:t>
            </a:r>
            <a:r>
              <a:rPr lang="en-US" baseline="0" dirty="0"/>
              <a:t>interface and its VLAN sub-interface can be in separate VDOMs.</a:t>
            </a:r>
            <a:endParaRPr lang="en-CA" dirty="0"/>
          </a:p>
        </p:txBody>
      </p:sp>
      <p:sp>
        <p:nvSpPr>
          <p:cNvPr id="6" name="Slide Image Placeholder 5"/>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dirty="0">
                <a:cs typeface="Arial" pitchFamily="34" charset="0"/>
              </a:rPr>
              <a:t>Introduction and Initial Configuration</a:t>
            </a:r>
          </a:p>
        </p:txBody>
      </p:sp>
    </p:spTree>
    <p:extLst>
      <p:ext uri="{BB962C8B-B14F-4D97-AF65-F5344CB8AC3E}">
        <p14:creationId xmlns:p14="http://schemas.microsoft.com/office/powerpoint/2010/main" val="40707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1"/>
          </p:nvPr>
        </p:nvSpPr>
        <p:spPr/>
        <p:txBody>
          <a:bodyPr/>
          <a:lstStyle/>
          <a:p>
            <a:pPr defTabSz="913731">
              <a:defRPr/>
            </a:pPr>
            <a:r>
              <a:rPr lang="en-CA" b="0" kern="1200" dirty="0">
                <a:solidFill>
                  <a:schemeClr val="tx1"/>
                </a:solidFill>
                <a:effectLst/>
              </a:rPr>
              <a:t>Before you integrate FortiGate into your network, you should configure a default gateway</a:t>
            </a:r>
            <a:r>
              <a:rPr lang="en-US" b="0" kern="1200" dirty="0">
                <a:solidFill>
                  <a:schemeClr val="tx1"/>
                </a:solidFill>
                <a:effectLst/>
              </a:rPr>
              <a:t>.</a:t>
            </a:r>
          </a:p>
          <a:p>
            <a:pPr defTabSz="913731">
              <a:defRPr/>
            </a:pPr>
            <a:endParaRPr lang="en-US" b="0" kern="1200" dirty="0">
              <a:solidFill>
                <a:schemeClr val="tx1"/>
              </a:solidFill>
              <a:effectLst/>
            </a:endParaRPr>
          </a:p>
          <a:p>
            <a:pPr defTabSz="913731">
              <a:defRPr/>
            </a:pPr>
            <a:r>
              <a:rPr lang="en-US" b="0" kern="1200" dirty="0">
                <a:solidFill>
                  <a:schemeClr val="tx1"/>
                </a:solidFill>
                <a:effectLst/>
              </a:rPr>
              <a:t>If FortiGate gets its IP address through a dynamic method such as DHCP or </a:t>
            </a:r>
            <a:r>
              <a:rPr lang="en-US" b="0" kern="1200" dirty="0" err="1">
                <a:solidFill>
                  <a:schemeClr val="tx1"/>
                </a:solidFill>
                <a:effectLst/>
              </a:rPr>
              <a:t>PPPoE</a:t>
            </a:r>
            <a:r>
              <a:rPr lang="en-US" b="0" kern="1200" dirty="0">
                <a:solidFill>
                  <a:schemeClr val="tx1"/>
                </a:solidFill>
                <a:effectLst/>
              </a:rPr>
              <a:t>, then it should also retrieve the default gateway.  </a:t>
            </a:r>
          </a:p>
          <a:p>
            <a:pPr defTabSz="913731">
              <a:defRPr/>
            </a:pPr>
            <a:endParaRPr lang="en-US" b="0" kern="1200" dirty="0">
              <a:solidFill>
                <a:schemeClr val="tx1"/>
              </a:solidFill>
              <a:effectLst/>
            </a:endParaRPr>
          </a:p>
          <a:p>
            <a:pPr defTabSz="913731">
              <a:defRPr/>
            </a:pPr>
            <a:r>
              <a:rPr lang="en-US" b="0" kern="1200" dirty="0">
                <a:solidFill>
                  <a:schemeClr val="tx1"/>
                </a:solidFill>
                <a:effectLst/>
              </a:rPr>
              <a:t>Otherwise, you must configure a static route. Without this, FortiGate will not be able</a:t>
            </a:r>
            <a:r>
              <a:rPr lang="en-US" b="0" kern="1200" baseline="0" dirty="0">
                <a:solidFill>
                  <a:schemeClr val="tx1"/>
                </a:solidFill>
                <a:effectLst/>
              </a:rPr>
              <a:t> to respond to packets outside the subnets directly attached to its own interfaces</a:t>
            </a:r>
            <a:r>
              <a:rPr lang="en-US" b="0" kern="1200" dirty="0">
                <a:solidFill>
                  <a:schemeClr val="tx1"/>
                </a:solidFill>
                <a:effectLst/>
              </a:rPr>
              <a:t>. It probably also will</a:t>
            </a:r>
            <a:r>
              <a:rPr lang="en-US" b="0" kern="1200" baseline="0" dirty="0">
                <a:solidFill>
                  <a:schemeClr val="tx1"/>
                </a:solidFill>
                <a:effectLst/>
              </a:rPr>
              <a:t> no</a:t>
            </a:r>
            <a:r>
              <a:rPr lang="en-US" b="0" kern="1200" dirty="0">
                <a:solidFill>
                  <a:schemeClr val="tx1"/>
                </a:solidFill>
                <a:effectLst/>
              </a:rPr>
              <a:t>t be able to connect to FortiGuard for updates, and may not </a:t>
            </a:r>
            <a:r>
              <a:rPr lang="en-US" b="0" kern="1200" dirty="0" smtClean="0">
                <a:solidFill>
                  <a:schemeClr val="tx1"/>
                </a:solidFill>
                <a:effectLst/>
              </a:rPr>
              <a:t>correctly </a:t>
            </a:r>
            <a:r>
              <a:rPr lang="en-US" b="0" kern="1200" dirty="0">
                <a:solidFill>
                  <a:schemeClr val="tx1"/>
                </a:solidFill>
                <a:effectLst/>
              </a:rPr>
              <a:t>route traffic.</a:t>
            </a:r>
          </a:p>
          <a:p>
            <a:pPr defTabSz="913731">
              <a:defRPr/>
            </a:pPr>
            <a:endParaRPr lang="en-US" b="0" kern="1200" dirty="0">
              <a:solidFill>
                <a:schemeClr val="tx1"/>
              </a:solidFill>
              <a:effectLst/>
            </a:endParaRPr>
          </a:p>
          <a:p>
            <a:pPr defTabSz="913731">
              <a:defRPr/>
            </a:pPr>
            <a:r>
              <a:rPr lang="en-US" b="0" kern="1200" dirty="0">
                <a:solidFill>
                  <a:schemeClr val="tx1"/>
                </a:solidFill>
                <a:effectLst/>
              </a:rPr>
              <a:t>You should make sure that FortiGate has a route that matches all packets (destination is </a:t>
            </a:r>
            <a:r>
              <a:rPr lang="en-US" b="0" kern="1200" dirty="0">
                <a:solidFill>
                  <a:schemeClr val="tx1"/>
                </a:solidFill>
                <a:effectLst/>
                <a:latin typeface="Courier New" panose="02070309020205020404" pitchFamily="49" charset="0"/>
                <a:cs typeface="Courier New" panose="02070309020205020404" pitchFamily="49" charset="0"/>
              </a:rPr>
              <a:t>0.0.0.0/0</a:t>
            </a:r>
            <a:r>
              <a:rPr lang="en-US" b="0" kern="1200" dirty="0">
                <a:solidFill>
                  <a:schemeClr val="tx1"/>
                </a:solidFill>
                <a:effectLst/>
              </a:rPr>
              <a:t>), known as a default route, and forwards them through the network interface that is connected to the </a:t>
            </a:r>
            <a:r>
              <a:rPr lang="en-US" b="0" kern="1200" dirty="0" smtClean="0">
                <a:solidFill>
                  <a:schemeClr val="tx1"/>
                </a:solidFill>
                <a:effectLst/>
              </a:rPr>
              <a:t>internet</a:t>
            </a:r>
            <a:r>
              <a:rPr lang="en-US" b="0" kern="1200" dirty="0">
                <a:solidFill>
                  <a:schemeClr val="tx1"/>
                </a:solidFill>
                <a:effectLst/>
              </a:rPr>
              <a:t>, to the IP address of the next router. </a:t>
            </a:r>
          </a:p>
          <a:p>
            <a:pPr defTabSz="913731">
              <a:defRPr/>
            </a:pPr>
            <a:endParaRPr lang="en-US" b="0" kern="1200" dirty="0">
              <a:solidFill>
                <a:schemeClr val="tx1"/>
              </a:solidFill>
              <a:effectLst/>
            </a:endParaRPr>
          </a:p>
          <a:p>
            <a:pPr defTabSz="913731">
              <a:defRPr/>
            </a:pPr>
            <a:r>
              <a:rPr lang="en-US" b="0" kern="1200" dirty="0">
                <a:solidFill>
                  <a:schemeClr val="tx1"/>
                </a:solidFill>
                <a:effectLst/>
              </a:rPr>
              <a:t>Routing completes the basic network settings that are required before you can configure firewall policies.</a:t>
            </a:r>
          </a:p>
          <a:p>
            <a:pPr defTabSz="913731">
              <a:defRPr/>
            </a:pPr>
            <a:endParaRPr lang="en-US" b="0" kern="1200" dirty="0">
              <a:solidFill>
                <a:schemeClr val="tx1"/>
              </a:solidFill>
              <a:effectLst/>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075772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body" idx="1"/>
          </p:nvPr>
        </p:nvSpPr>
        <p:spPr/>
        <p:txBody>
          <a:bodyPr/>
          <a:lstStyle/>
          <a:p>
            <a:r>
              <a:rPr lang="en-US" b="0" kern="1200" dirty="0">
                <a:solidFill>
                  <a:schemeClr val="tx1"/>
                </a:solidFill>
                <a:effectLst/>
              </a:rPr>
              <a:t>Wireless clients are</a:t>
            </a:r>
            <a:r>
              <a:rPr lang="en-US" b="0" kern="1200" baseline="0" dirty="0">
                <a:solidFill>
                  <a:schemeClr val="tx1"/>
                </a:solidFill>
                <a:effectLst/>
              </a:rPr>
              <a:t> not</a:t>
            </a:r>
            <a:r>
              <a:rPr lang="en-US" b="0" kern="1200" dirty="0">
                <a:solidFill>
                  <a:schemeClr val="tx1"/>
                </a:solidFill>
                <a:effectLst/>
              </a:rPr>
              <a:t> the only ones that can use FortiGate as their DHCP server.</a:t>
            </a:r>
          </a:p>
          <a:p>
            <a:endParaRPr lang="en-US" b="0" kern="1200" dirty="0">
              <a:solidFill>
                <a:schemeClr val="tx1"/>
              </a:solidFill>
              <a:effectLst/>
            </a:endParaRPr>
          </a:p>
          <a:p>
            <a:pPr defTabSz="913704">
              <a:defRPr/>
            </a:pPr>
            <a:r>
              <a:rPr lang="en-US" b="0" kern="1200" dirty="0">
                <a:solidFill>
                  <a:schemeClr val="tx1"/>
                </a:solidFill>
                <a:effectLst/>
              </a:rPr>
              <a:t>For</a:t>
            </a:r>
            <a:r>
              <a:rPr lang="en-US" b="0" kern="1200" baseline="0" dirty="0">
                <a:solidFill>
                  <a:schemeClr val="tx1"/>
                </a:solidFill>
                <a:effectLst/>
              </a:rPr>
              <a:t> an interface (such as port3), s</a:t>
            </a:r>
            <a:r>
              <a:rPr lang="en-US" b="0" kern="1200" dirty="0">
                <a:solidFill>
                  <a:schemeClr val="tx1"/>
                </a:solidFill>
                <a:effectLst/>
              </a:rPr>
              <a:t>elect the </a:t>
            </a:r>
            <a:r>
              <a:rPr lang="en-US" b="1" i="0" kern="1200" dirty="0">
                <a:solidFill>
                  <a:schemeClr val="tx1"/>
                </a:solidFill>
                <a:effectLst/>
              </a:rPr>
              <a:t>Manual</a:t>
            </a:r>
            <a:r>
              <a:rPr lang="en-US" b="0" kern="1200" dirty="0">
                <a:solidFill>
                  <a:schemeClr val="tx1"/>
                </a:solidFill>
                <a:effectLst/>
              </a:rPr>
              <a:t> option, enter a static IP, and then enable the </a:t>
            </a:r>
            <a:r>
              <a:rPr lang="en-US" b="1" i="0" kern="1200" dirty="0">
                <a:solidFill>
                  <a:schemeClr val="tx1"/>
                </a:solidFill>
                <a:effectLst/>
              </a:rPr>
              <a:t>DHCP Server </a:t>
            </a:r>
            <a:r>
              <a:rPr lang="en-US" b="0" kern="1200" dirty="0">
                <a:solidFill>
                  <a:schemeClr val="tx1"/>
                </a:solidFill>
                <a:effectLst/>
              </a:rPr>
              <a:t>option. Options for the built-in DHCP </a:t>
            </a:r>
            <a:r>
              <a:rPr lang="en-US" b="0" kern="1200" dirty="0" smtClean="0">
                <a:solidFill>
                  <a:schemeClr val="tx1"/>
                </a:solidFill>
                <a:effectLst/>
              </a:rPr>
              <a:t>server</a:t>
            </a:r>
            <a:r>
              <a:rPr lang="en-US" b="0" kern="1200" baseline="0" dirty="0" smtClean="0">
                <a:solidFill>
                  <a:schemeClr val="tx1"/>
                </a:solidFill>
                <a:effectLst/>
              </a:rPr>
              <a:t> </a:t>
            </a:r>
            <a:r>
              <a:rPr lang="en-US" b="0" kern="1200" dirty="0" smtClean="0">
                <a:solidFill>
                  <a:schemeClr val="tx1"/>
                </a:solidFill>
                <a:effectLst/>
              </a:rPr>
              <a:t>appear</a:t>
            </a:r>
            <a:r>
              <a:rPr lang="en-US" b="0" kern="1200" dirty="0">
                <a:solidFill>
                  <a:schemeClr val="tx1"/>
                </a:solidFill>
                <a:effectLst/>
              </a:rPr>
              <a:t>,</a:t>
            </a:r>
            <a:r>
              <a:rPr lang="en-US" b="0" kern="1200" baseline="0" dirty="0">
                <a:solidFill>
                  <a:schemeClr val="tx1"/>
                </a:solidFill>
                <a:effectLst/>
              </a:rPr>
              <a:t> including provisioning features, such as DHCP options and IP address assignment rules. </a:t>
            </a:r>
            <a:r>
              <a:rPr lang="en-CA" b="0" kern="1200" baseline="0" dirty="0">
                <a:solidFill>
                  <a:schemeClr val="tx1"/>
                </a:solidFill>
                <a:effectLst/>
              </a:rPr>
              <a:t>You can also block specific MAC addresses from receiving an IP address.</a:t>
            </a:r>
            <a:r>
              <a:rPr lang="en-US" b="0" kern="1200" baseline="0" dirty="0">
                <a:solidFill>
                  <a:schemeClr val="tx1"/>
                </a:solidFill>
                <a:effectLst/>
              </a:rPr>
              <a:t> </a:t>
            </a:r>
            <a:endParaRPr lang="en-US" b="0" kern="1200" baseline="0" dirty="0" smtClean="0">
              <a:solidFill>
                <a:schemeClr val="tx1"/>
              </a:solidFill>
              <a:effectLst/>
            </a:endParaRPr>
          </a:p>
          <a:p>
            <a:pPr defTabSz="913704">
              <a:defRPr/>
            </a:pPr>
            <a:endParaRPr lang="en-US" b="0" kern="1200" baseline="0" dirty="0" smtClean="0">
              <a:solidFill>
                <a:schemeClr val="tx1"/>
              </a:solidFill>
              <a:effectLst/>
            </a:endParaRPr>
          </a:p>
          <a:p>
            <a:pPr marL="0" marR="0" lvl="0" indent="0" algn="l" defTabSz="913704" rtl="0" eaLnBrk="1" fontAlgn="auto" latinLnBrk="0" hangingPunct="1">
              <a:lnSpc>
                <a:spcPct val="100000"/>
              </a:lnSpc>
              <a:spcBef>
                <a:spcPts val="0"/>
              </a:spcBef>
              <a:spcAft>
                <a:spcPts val="0"/>
              </a:spcAft>
              <a:buClrTx/>
              <a:buSzTx/>
              <a:buFontTx/>
              <a:buNone/>
              <a:tabLst/>
              <a:defRPr/>
            </a:pPr>
            <a:r>
              <a:rPr lang="en-US" b="0" kern="1200" baseline="0" dirty="0" smtClean="0">
                <a:solidFill>
                  <a:schemeClr val="tx1"/>
                </a:solidFill>
                <a:effectLst/>
              </a:rPr>
              <a:t>Note that the screenshot on the middle of the slide shows that you can create IP address assignment rules in the </a:t>
            </a:r>
            <a:r>
              <a:rPr lang="en-US" b="1" kern="1200" baseline="0" dirty="0" smtClean="0">
                <a:solidFill>
                  <a:schemeClr val="tx1"/>
                </a:solidFill>
                <a:effectLst/>
              </a:rPr>
              <a:t>IP Address Assignment Rule</a:t>
            </a:r>
            <a:r>
              <a:rPr lang="en-US" b="0" kern="1200" baseline="0" dirty="0" smtClean="0">
                <a:solidFill>
                  <a:schemeClr val="tx1"/>
                </a:solidFill>
                <a:effectLst/>
              </a:rPr>
              <a:t> section. The </a:t>
            </a:r>
            <a:r>
              <a:rPr lang="en-US" b="1" kern="1200" baseline="0" dirty="0" smtClean="0">
                <a:solidFill>
                  <a:schemeClr val="tx1"/>
                </a:solidFill>
                <a:effectLst/>
              </a:rPr>
              <a:t>IP Address Assignment Rule</a:t>
            </a:r>
            <a:r>
              <a:rPr lang="en-US" b="0" kern="1200" baseline="0" dirty="0" smtClean="0">
                <a:solidFill>
                  <a:schemeClr val="tx1"/>
                </a:solidFill>
                <a:effectLst/>
              </a:rPr>
              <a:t> section allows you to a</a:t>
            </a:r>
            <a:r>
              <a:rPr lang="en-US" dirty="0" smtClean="0"/>
              <a:t>ssign, block or reserve the IP address to the host. It</a:t>
            </a:r>
            <a:r>
              <a:rPr lang="en-US" baseline="0" dirty="0" smtClean="0"/>
              <a:t> also allows you to select actions for unknown MAC addresses. </a:t>
            </a:r>
            <a:r>
              <a:rPr lang="en-CA" b="0" kern="1200" dirty="0" smtClean="0">
                <a:solidFill>
                  <a:schemeClr val="tx1"/>
                </a:solidFill>
                <a:effectLst/>
                <a:ea typeface="+mn-ea"/>
                <a:cs typeface="Arial" pitchFamily="34" charset="0"/>
              </a:rPr>
              <a:t>The default action </a:t>
            </a:r>
            <a:r>
              <a:rPr lang="en-CA" b="0" kern="1200" baseline="0" dirty="0" smtClean="0">
                <a:solidFill>
                  <a:schemeClr val="tx1"/>
                </a:solidFill>
                <a:effectLst/>
                <a:ea typeface="+mn-ea"/>
                <a:cs typeface="Arial" pitchFamily="34" charset="0"/>
              </a:rPr>
              <a:t>is </a:t>
            </a:r>
            <a:r>
              <a:rPr lang="en-CA" b="1" kern="1200" baseline="0" dirty="0" smtClean="0">
                <a:solidFill>
                  <a:schemeClr val="tx1"/>
                </a:solidFill>
                <a:effectLst/>
                <a:ea typeface="+mn-ea"/>
                <a:cs typeface="Arial" pitchFamily="34" charset="0"/>
              </a:rPr>
              <a:t>Assign IP</a:t>
            </a:r>
            <a:r>
              <a:rPr lang="en-CA" b="0" kern="1200" baseline="0" dirty="0" smtClean="0">
                <a:solidFill>
                  <a:schemeClr val="tx1"/>
                </a:solidFill>
                <a:effectLst/>
                <a:ea typeface="+mn-ea"/>
                <a:cs typeface="Arial" pitchFamily="34" charset="0"/>
              </a:rPr>
              <a:t>; however, you can change the default action type to </a:t>
            </a:r>
            <a:r>
              <a:rPr lang="en-CA" b="1" kern="1200" baseline="0" dirty="0" smtClean="0">
                <a:solidFill>
                  <a:schemeClr val="tx1"/>
                </a:solidFill>
                <a:effectLst/>
                <a:ea typeface="+mn-ea"/>
                <a:cs typeface="Arial" pitchFamily="34" charset="0"/>
              </a:rPr>
              <a:t>Assign IP </a:t>
            </a:r>
            <a:r>
              <a:rPr lang="en-CA" b="0" kern="1200" baseline="0" dirty="0" smtClean="0">
                <a:solidFill>
                  <a:schemeClr val="tx1"/>
                </a:solidFill>
                <a:effectLst/>
                <a:ea typeface="+mn-ea"/>
                <a:cs typeface="Arial" pitchFamily="34" charset="0"/>
              </a:rPr>
              <a:t>or </a:t>
            </a:r>
            <a:r>
              <a:rPr lang="en-CA" b="1" kern="1200" baseline="0" dirty="0" smtClean="0">
                <a:solidFill>
                  <a:schemeClr val="tx1"/>
                </a:solidFill>
                <a:effectLst/>
                <a:ea typeface="+mn-ea"/>
                <a:cs typeface="Arial" pitchFamily="34" charset="0"/>
              </a:rPr>
              <a:t>Block</a:t>
            </a:r>
            <a:r>
              <a:rPr lang="en-CA" b="0" kern="1200" baseline="0" dirty="0" smtClean="0">
                <a:solidFill>
                  <a:schemeClr val="tx1"/>
                </a:solidFill>
                <a:effectLst/>
                <a:ea typeface="+mn-ea"/>
                <a:cs typeface="Arial" pitchFamily="34" charset="0"/>
              </a:rPr>
              <a:t>.</a:t>
            </a:r>
            <a:endParaRPr lang="en-CA" b="0" kern="1200" dirty="0" smtClean="0">
              <a:solidFill>
                <a:schemeClr val="tx1"/>
              </a:solidFill>
              <a:effectLst/>
              <a:ea typeface="+mn-ea"/>
              <a:cs typeface="Arial" pitchFamily="34" charset="0"/>
            </a:endParaRPr>
          </a:p>
          <a:p>
            <a:pPr marL="0" marR="0" lvl="0" indent="0" algn="l" defTabSz="913704" rtl="0" eaLnBrk="1" fontAlgn="auto" latinLnBrk="0" hangingPunct="1">
              <a:lnSpc>
                <a:spcPct val="100000"/>
              </a:lnSpc>
              <a:spcBef>
                <a:spcPts val="0"/>
              </a:spcBef>
              <a:spcAft>
                <a:spcPts val="0"/>
              </a:spcAft>
              <a:buClrTx/>
              <a:buSzTx/>
              <a:buFontTx/>
              <a:buNone/>
              <a:tabLst/>
              <a:defRPr/>
            </a:pPr>
            <a:endParaRPr lang="en-US" dirty="0" smtClean="0"/>
          </a:p>
          <a:p>
            <a:pPr defTabSz="913704">
              <a:defRPr/>
            </a:pPr>
            <a:endParaRPr lang="en-US" b="0" kern="1200" baseline="0" dirty="0">
              <a:solidFill>
                <a:schemeClr val="tx1"/>
              </a:solidFill>
              <a:effectLst/>
            </a:endParaRPr>
          </a:p>
          <a:p>
            <a:pPr defTabSz="913704">
              <a:defRPr/>
            </a:pPr>
            <a:r>
              <a:rPr lang="en-US" b="0" kern="1200" baseline="0" dirty="0">
                <a:solidFill>
                  <a:schemeClr val="tx1"/>
                </a:solidFill>
                <a:effectLst/>
              </a:rPr>
              <a:t> </a:t>
            </a: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7879849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p:txBody>
          <a:bodyPr/>
          <a:lstStyle/>
          <a:p>
            <a:r>
              <a:rPr lang="en-US" b="0" kern="1200" dirty="0">
                <a:solidFill>
                  <a:schemeClr val="tx1"/>
                </a:solidFill>
                <a:effectLst/>
                <a:ea typeface="+mn-ea"/>
                <a:cs typeface="Arial" pitchFamily="34" charset="0"/>
              </a:rPr>
              <a:t>You</a:t>
            </a:r>
            <a:r>
              <a:rPr lang="en-US" b="0" kern="1200" baseline="0" dirty="0">
                <a:solidFill>
                  <a:schemeClr val="tx1"/>
                </a:solidFill>
                <a:effectLst/>
                <a:ea typeface="+mn-ea"/>
                <a:cs typeface="Arial" pitchFamily="34" charset="0"/>
              </a:rPr>
              <a:t> can </a:t>
            </a:r>
            <a:r>
              <a:rPr lang="en-US" b="0" kern="1200" dirty="0">
                <a:solidFill>
                  <a:schemeClr val="tx1"/>
                </a:solidFill>
                <a:effectLst/>
                <a:ea typeface="+mn-ea"/>
                <a:cs typeface="Arial" pitchFamily="34" charset="0"/>
              </a:rPr>
              <a:t>configure FortiGate to act as your local DNS server. You can enable and configure DNS separately on each interface.</a:t>
            </a: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A local DNS server can improve performance for your </a:t>
            </a:r>
            <a:r>
              <a:rPr lang="en-US" b="0" kern="1200" dirty="0" err="1">
                <a:solidFill>
                  <a:schemeClr val="tx1"/>
                </a:solidFill>
                <a:effectLst/>
                <a:ea typeface="+mn-ea"/>
                <a:cs typeface="Arial" pitchFamily="34" charset="0"/>
              </a:rPr>
              <a:t>FortiMail</a:t>
            </a:r>
            <a:r>
              <a:rPr lang="en-US" b="0" kern="1200" dirty="0">
                <a:solidFill>
                  <a:schemeClr val="tx1"/>
                </a:solidFill>
                <a:effectLst/>
                <a:ea typeface="+mn-ea"/>
                <a:cs typeface="Arial" pitchFamily="34" charset="0"/>
              </a:rPr>
              <a:t> </a:t>
            </a:r>
            <a:r>
              <a:rPr lang="en-US" b="0" kern="1200" dirty="0" smtClean="0">
                <a:solidFill>
                  <a:schemeClr val="tx1"/>
                </a:solidFill>
                <a:effectLst/>
                <a:ea typeface="+mn-ea"/>
                <a:cs typeface="Arial" pitchFamily="34" charset="0"/>
              </a:rPr>
              <a:t>device or </a:t>
            </a:r>
            <a:r>
              <a:rPr lang="en-US" b="0" kern="1200" dirty="0">
                <a:solidFill>
                  <a:schemeClr val="tx1"/>
                </a:solidFill>
                <a:effectLst/>
                <a:ea typeface="+mn-ea"/>
                <a:cs typeface="Arial" pitchFamily="34" charset="0"/>
              </a:rPr>
              <a:t>other devices that use DNS queries frequently. If your FortiGate </a:t>
            </a:r>
            <a:r>
              <a:rPr lang="en-US" b="0" kern="1200" dirty="0" smtClean="0">
                <a:solidFill>
                  <a:schemeClr val="tx1"/>
                </a:solidFill>
                <a:effectLst/>
                <a:ea typeface="+mn-ea"/>
                <a:cs typeface="Arial" pitchFamily="34" charset="0"/>
              </a:rPr>
              <a:t>device offers </a:t>
            </a:r>
            <a:r>
              <a:rPr lang="en-US" b="0" kern="1200" dirty="0">
                <a:solidFill>
                  <a:schemeClr val="tx1"/>
                </a:solidFill>
                <a:effectLst/>
                <a:ea typeface="+mn-ea"/>
                <a:cs typeface="Arial" pitchFamily="34" charset="0"/>
              </a:rPr>
              <a:t>DHCP to your local network, </a:t>
            </a:r>
            <a:r>
              <a:rPr lang="en-US" b="0" kern="1200" dirty="0" smtClean="0">
                <a:solidFill>
                  <a:schemeClr val="tx1"/>
                </a:solidFill>
                <a:effectLst/>
                <a:ea typeface="+mn-ea"/>
                <a:cs typeface="Arial" pitchFamily="34" charset="0"/>
              </a:rPr>
              <a:t>you can use DHCP to </a:t>
            </a:r>
            <a:r>
              <a:rPr lang="en-US" b="0" kern="1200" dirty="0">
                <a:solidFill>
                  <a:schemeClr val="tx1"/>
                </a:solidFill>
                <a:effectLst/>
                <a:ea typeface="+mn-ea"/>
                <a:cs typeface="Arial" pitchFamily="34" charset="0"/>
              </a:rPr>
              <a:t>configure those hosts to use FortiGate as both the gateway and DNS server.</a:t>
            </a:r>
          </a:p>
          <a:p>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FortiGate can answer DNS queries in one of three ways: </a:t>
            </a:r>
          </a:p>
          <a:p>
            <a:endParaRPr lang="en-US" b="0" kern="1200" dirty="0">
              <a:solidFill>
                <a:schemeClr val="tx1"/>
              </a:solidFill>
              <a:effectLst/>
              <a:ea typeface="+mn-ea"/>
              <a:cs typeface="Arial" pitchFamily="34" charset="0"/>
            </a:endParaRPr>
          </a:p>
          <a:p>
            <a:pPr marL="171323" indent="-171323">
              <a:buFont typeface="Arial" panose="020B0604020202020204" pitchFamily="34" charset="0"/>
              <a:buChar char="•"/>
            </a:pPr>
            <a:r>
              <a:rPr lang="en-CA" b="0" kern="1200" dirty="0">
                <a:solidFill>
                  <a:schemeClr val="tx1"/>
                </a:solidFill>
                <a:effectLst/>
                <a:ea typeface="+mn-ea"/>
                <a:cs typeface="Arial" pitchFamily="34" charset="0"/>
              </a:rPr>
              <a:t>Forward: </a:t>
            </a:r>
            <a:r>
              <a:rPr lang="en-CA" b="0" kern="1200" dirty="0" smtClean="0">
                <a:solidFill>
                  <a:schemeClr val="tx1"/>
                </a:solidFill>
                <a:effectLst/>
                <a:ea typeface="+mn-ea"/>
                <a:cs typeface="Arial" pitchFamily="34" charset="0"/>
              </a:rPr>
              <a:t>relays </a:t>
            </a:r>
            <a:r>
              <a:rPr lang="en-CA" b="0" kern="1200" dirty="0">
                <a:solidFill>
                  <a:schemeClr val="tx1"/>
                </a:solidFill>
                <a:effectLst/>
                <a:ea typeface="+mn-ea"/>
                <a:cs typeface="Arial" pitchFamily="34" charset="0"/>
              </a:rPr>
              <a:t>all queries to a separate DNS server (that you have configured in </a:t>
            </a:r>
            <a:r>
              <a:rPr lang="en-CA" b="1" kern="1200" dirty="0">
                <a:solidFill>
                  <a:schemeClr val="tx1"/>
                </a:solidFill>
                <a:effectLst/>
                <a:ea typeface="+mn-ea"/>
                <a:cs typeface="Arial" pitchFamily="34" charset="0"/>
              </a:rPr>
              <a:t>Network</a:t>
            </a:r>
            <a:r>
              <a:rPr lang="en-CA" b="0" kern="1200" dirty="0">
                <a:solidFill>
                  <a:schemeClr val="tx1"/>
                </a:solidFill>
                <a:effectLst/>
                <a:ea typeface="+mn-ea"/>
                <a:cs typeface="Arial" pitchFamily="34" charset="0"/>
              </a:rPr>
              <a:t> &gt; </a:t>
            </a:r>
            <a:r>
              <a:rPr lang="en-CA" b="1" kern="1200" dirty="0">
                <a:solidFill>
                  <a:schemeClr val="tx1"/>
                </a:solidFill>
                <a:effectLst/>
                <a:ea typeface="+mn-ea"/>
                <a:cs typeface="Arial" pitchFamily="34" charset="0"/>
              </a:rPr>
              <a:t>DNS</a:t>
            </a:r>
            <a:r>
              <a:rPr lang="en-CA" b="0" kern="1200" dirty="0">
                <a:solidFill>
                  <a:schemeClr val="tx1"/>
                </a:solidFill>
                <a:effectLst/>
                <a:ea typeface="+mn-ea"/>
                <a:cs typeface="Arial" pitchFamily="34" charset="0"/>
              </a:rPr>
              <a:t>); that is, it</a:t>
            </a:r>
            <a:r>
              <a:rPr lang="en-CA" b="0" kern="1200" baseline="0" dirty="0">
                <a:solidFill>
                  <a:schemeClr val="tx1"/>
                </a:solidFill>
                <a:effectLst/>
                <a:ea typeface="+mn-ea"/>
                <a:cs typeface="Arial" pitchFamily="34" charset="0"/>
              </a:rPr>
              <a:t> acts</a:t>
            </a:r>
            <a:r>
              <a:rPr lang="en-CA" b="0" kern="1200" dirty="0">
                <a:solidFill>
                  <a:schemeClr val="tx1"/>
                </a:solidFill>
                <a:effectLst/>
                <a:ea typeface="+mn-ea"/>
                <a:cs typeface="Arial" pitchFamily="34" charset="0"/>
              </a:rPr>
              <a:t> as a DNS relay instead of a DNS server.</a:t>
            </a:r>
          </a:p>
          <a:p>
            <a:pPr marL="171323" indent="-171323">
              <a:buFont typeface="Arial" panose="020B0604020202020204" pitchFamily="34" charset="0"/>
              <a:buChar char="•"/>
            </a:pPr>
            <a:r>
              <a:rPr lang="en-CA" b="0" kern="1200" dirty="0">
                <a:solidFill>
                  <a:schemeClr val="tx1"/>
                </a:solidFill>
                <a:effectLst/>
                <a:ea typeface="+mn-ea"/>
                <a:cs typeface="Arial" pitchFamily="34" charset="0"/>
              </a:rPr>
              <a:t>Non-Recursive: </a:t>
            </a:r>
            <a:r>
              <a:rPr lang="en-CA" b="0" kern="1200" dirty="0" smtClean="0">
                <a:solidFill>
                  <a:schemeClr val="tx1"/>
                </a:solidFill>
                <a:effectLst/>
                <a:ea typeface="+mn-ea"/>
                <a:cs typeface="Arial" pitchFamily="34" charset="0"/>
              </a:rPr>
              <a:t>replies </a:t>
            </a:r>
            <a:r>
              <a:rPr lang="en-CA" b="0" kern="1200" dirty="0">
                <a:solidFill>
                  <a:schemeClr val="tx1"/>
                </a:solidFill>
                <a:effectLst/>
                <a:ea typeface="+mn-ea"/>
                <a:cs typeface="Arial" pitchFamily="34" charset="0"/>
              </a:rPr>
              <a:t>to queries for items in </a:t>
            </a:r>
            <a:r>
              <a:rPr lang="en-CA" b="0" kern="1200" dirty="0" smtClean="0">
                <a:solidFill>
                  <a:schemeClr val="tx1"/>
                </a:solidFill>
                <a:effectLst/>
                <a:ea typeface="+mn-ea"/>
                <a:cs typeface="Arial" pitchFamily="34" charset="0"/>
              </a:rPr>
              <a:t>the FortiGate </a:t>
            </a:r>
            <a:r>
              <a:rPr lang="en-CA" b="0" kern="1200" dirty="0">
                <a:solidFill>
                  <a:schemeClr val="tx1"/>
                </a:solidFill>
                <a:effectLst/>
                <a:ea typeface="+mn-ea"/>
                <a:cs typeface="Arial" pitchFamily="34" charset="0"/>
              </a:rPr>
              <a:t>DNS databases</a:t>
            </a:r>
            <a:r>
              <a:rPr lang="en-CA" b="0" kern="1200" baseline="0" dirty="0">
                <a:solidFill>
                  <a:schemeClr val="tx1"/>
                </a:solidFill>
                <a:effectLst/>
                <a:ea typeface="+mn-ea"/>
                <a:cs typeface="Arial" pitchFamily="34" charset="0"/>
              </a:rPr>
              <a:t> and</a:t>
            </a:r>
            <a:r>
              <a:rPr lang="en-CA" b="0" kern="1200" dirty="0">
                <a:solidFill>
                  <a:schemeClr val="tx1"/>
                </a:solidFill>
                <a:effectLst/>
                <a:ea typeface="+mn-ea"/>
                <a:cs typeface="Arial" pitchFamily="34" charset="0"/>
              </a:rPr>
              <a:t> does not forward unresolvable queries.</a:t>
            </a:r>
          </a:p>
          <a:p>
            <a:pPr marL="171323" indent="-171323">
              <a:buFont typeface="Arial" panose="020B0604020202020204" pitchFamily="34" charset="0"/>
              <a:buChar char="•"/>
            </a:pPr>
            <a:r>
              <a:rPr lang="en-CA" b="0" kern="1200" dirty="0">
                <a:solidFill>
                  <a:schemeClr val="tx1"/>
                </a:solidFill>
                <a:effectLst/>
                <a:ea typeface="+mn-ea"/>
                <a:cs typeface="Arial" pitchFamily="34" charset="0"/>
              </a:rPr>
              <a:t>Recursive: </a:t>
            </a:r>
            <a:r>
              <a:rPr lang="en-CA" b="0" kern="1200" dirty="0" smtClean="0">
                <a:solidFill>
                  <a:schemeClr val="tx1"/>
                </a:solidFill>
                <a:effectLst/>
                <a:ea typeface="+mn-ea"/>
                <a:cs typeface="Arial" pitchFamily="34" charset="0"/>
              </a:rPr>
              <a:t>replies </a:t>
            </a:r>
            <a:r>
              <a:rPr lang="en-CA" b="0" kern="1200" dirty="0">
                <a:solidFill>
                  <a:schemeClr val="tx1"/>
                </a:solidFill>
                <a:effectLst/>
                <a:ea typeface="+mn-ea"/>
                <a:cs typeface="Arial" pitchFamily="34" charset="0"/>
              </a:rPr>
              <a:t>to queries for items in </a:t>
            </a:r>
            <a:r>
              <a:rPr lang="en-CA" b="0" kern="1200" dirty="0" smtClean="0">
                <a:solidFill>
                  <a:schemeClr val="tx1"/>
                </a:solidFill>
                <a:effectLst/>
                <a:ea typeface="+mn-ea"/>
                <a:cs typeface="Arial" pitchFamily="34" charset="0"/>
              </a:rPr>
              <a:t>the FortiGate </a:t>
            </a:r>
            <a:r>
              <a:rPr lang="en-CA" b="0" kern="1200" dirty="0">
                <a:solidFill>
                  <a:schemeClr val="tx1"/>
                </a:solidFill>
                <a:effectLst/>
                <a:ea typeface="+mn-ea"/>
                <a:cs typeface="Arial" pitchFamily="34" charset="0"/>
              </a:rPr>
              <a:t>DNS databases</a:t>
            </a:r>
            <a:r>
              <a:rPr lang="en-CA" b="0" kern="1200" baseline="0" dirty="0">
                <a:solidFill>
                  <a:schemeClr val="tx1"/>
                </a:solidFill>
                <a:effectLst/>
                <a:ea typeface="+mn-ea"/>
                <a:cs typeface="Arial" pitchFamily="34" charset="0"/>
              </a:rPr>
              <a:t> and </a:t>
            </a:r>
            <a:r>
              <a:rPr lang="en-CA" b="0" kern="1200" dirty="0">
                <a:solidFill>
                  <a:schemeClr val="tx1"/>
                </a:solidFill>
                <a:effectLst/>
                <a:ea typeface="+mn-ea"/>
                <a:cs typeface="Arial" pitchFamily="34" charset="0"/>
              </a:rPr>
              <a:t>forwards all other queries to a separate DNS server for resolution.</a:t>
            </a:r>
          </a:p>
          <a:p>
            <a:pPr marL="171323" indent="-171323">
              <a:buFont typeface="Arial" panose="020B0604020202020204" pitchFamily="34" charset="0"/>
              <a:buChar char="•"/>
            </a:pPr>
            <a:endParaRPr lang="en-US" b="0" kern="1200" dirty="0">
              <a:solidFill>
                <a:schemeClr val="tx1"/>
              </a:solidFill>
              <a:effectLst/>
              <a:ea typeface="+mn-ea"/>
              <a:cs typeface="Arial" pitchFamily="34" charset="0"/>
            </a:endParaRPr>
          </a:p>
          <a:p>
            <a:r>
              <a:rPr lang="en-US" b="0" kern="1200" dirty="0">
                <a:solidFill>
                  <a:schemeClr val="tx1"/>
                </a:solidFill>
                <a:effectLst/>
                <a:ea typeface="+mn-ea"/>
                <a:cs typeface="Arial" pitchFamily="34" charset="0"/>
              </a:rPr>
              <a:t>You can configure all modes on the GUI or CLI.</a:t>
            </a: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3568874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0" dirty="0"/>
          </a:p>
        </p:txBody>
      </p:sp>
      <p:sp>
        <p:nvSpPr>
          <p:cNvPr id="4" name="Header Placeholder 3"/>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6439868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704" rtl="0" eaLnBrk="1" fontAlgn="auto" latinLnBrk="0" hangingPunct="1">
              <a:lnSpc>
                <a:spcPct val="100000"/>
              </a:lnSpc>
              <a:spcBef>
                <a:spcPts val="0"/>
              </a:spcBef>
              <a:spcAft>
                <a:spcPts val="0"/>
              </a:spcAft>
              <a:buClrTx/>
              <a:buSzTx/>
              <a:buFontTx/>
              <a:buNone/>
              <a:tabLst/>
              <a:defRPr/>
            </a:pPr>
            <a:r>
              <a:rPr lang="en-CA" baseline="0" dirty="0"/>
              <a:t>Good job! You now have the knowledge needed to carry out some basic administrative tasks. </a:t>
            </a:r>
            <a:r>
              <a:rPr lang="en-CA" baseline="0" dirty="0" smtClean="0"/>
              <a:t>You also know how to enable DHCP and DNS services on FortiGate. </a:t>
            </a:r>
          </a:p>
          <a:p>
            <a:pPr marL="0" marR="0" lvl="0" indent="0" algn="l" defTabSz="913704" rtl="0" eaLnBrk="1" fontAlgn="auto" latinLnBrk="0" hangingPunct="1">
              <a:lnSpc>
                <a:spcPct val="100000"/>
              </a:lnSpc>
              <a:spcBef>
                <a:spcPts val="0"/>
              </a:spcBef>
              <a:spcAft>
                <a:spcPts val="0"/>
              </a:spcAft>
              <a:buClrTx/>
              <a:buSzTx/>
              <a:buFontTx/>
              <a:buNone/>
              <a:tabLst/>
              <a:defRPr/>
            </a:pPr>
            <a:endParaRPr lang="en-CA" baseline="0" dirty="0" smtClean="0"/>
          </a:p>
          <a:p>
            <a:pPr marL="0" marR="0" lvl="0" indent="0" algn="l" defTabSz="913704" rtl="0" eaLnBrk="1" fontAlgn="auto" latinLnBrk="0" hangingPunct="1">
              <a:lnSpc>
                <a:spcPct val="100000"/>
              </a:lnSpc>
              <a:spcBef>
                <a:spcPts val="0"/>
              </a:spcBef>
              <a:spcAft>
                <a:spcPts val="0"/>
              </a:spcAft>
              <a:buClrTx/>
              <a:buSzTx/>
              <a:buFontTx/>
              <a:buNone/>
              <a:tabLst/>
              <a:defRPr/>
            </a:pPr>
            <a:r>
              <a:rPr lang="en-CA" baseline="0" dirty="0" smtClean="0"/>
              <a:t>Now, you will learn about fundamental maintenance.</a:t>
            </a:r>
          </a:p>
          <a:p>
            <a:pPr defTabSz="913704">
              <a:defRPr/>
            </a:pPr>
            <a:endParaRPr lang="en-CA" baseline="0"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dirty="0"/>
              <a:t>After completing this section, you should be able to</a:t>
            </a:r>
            <a:r>
              <a:rPr lang="en-US" dirty="0"/>
              <a:t> achieve the objectives shown on this slide.</a:t>
            </a:r>
          </a:p>
          <a:p>
            <a:pPr defTabSz="913704">
              <a:defRPr/>
            </a:pPr>
            <a:endParaRPr lang="en-CA" dirty="0"/>
          </a:p>
          <a:p>
            <a:r>
              <a:rPr lang="en-CA" baseline="0" dirty="0"/>
              <a:t>By demonstrating competence in </a:t>
            </a:r>
            <a:r>
              <a:rPr lang="en-CA" baseline="0" dirty="0" smtClean="0"/>
              <a:t>the </a:t>
            </a:r>
            <a:r>
              <a:rPr lang="en-CA" baseline="0" dirty="0"/>
              <a:t>basic maintenance of FortiGate, you will be able to perform the vital activities of </a:t>
            </a:r>
            <a:r>
              <a:rPr lang="en-US" baseline="0" dirty="0" smtClean="0"/>
              <a:t>backing up and restoring configurations, </a:t>
            </a:r>
            <a:r>
              <a:rPr lang="en-CA" baseline="0" dirty="0" smtClean="0"/>
              <a:t>upgrading and downgrading firmware</a:t>
            </a:r>
            <a:r>
              <a:rPr lang="en-CA" baseline="0" dirty="0"/>
              <a:t>, and </a:t>
            </a:r>
            <a:r>
              <a:rPr lang="en-CA" baseline="0" dirty="0" smtClean="0"/>
              <a:t>ensuring </a:t>
            </a:r>
            <a:r>
              <a:rPr lang="en-CA" baseline="0" dirty="0"/>
              <a:t>that FortiGate remains reliably in service throughout its lifecycle.</a:t>
            </a:r>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40250911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r>
              <a:rPr lang="en-US" b="0" kern="1200" dirty="0">
                <a:solidFill>
                  <a:schemeClr val="tx1"/>
                </a:solidFill>
                <a:effectLst/>
              </a:rPr>
              <a:t>Now that FortiGate has basic network settings and administrative accounts, you</a:t>
            </a:r>
            <a:r>
              <a:rPr lang="en-US" b="0" kern="1200" baseline="0" dirty="0">
                <a:solidFill>
                  <a:schemeClr val="tx1"/>
                </a:solidFill>
                <a:effectLst/>
              </a:rPr>
              <a:t> will learn </a:t>
            </a:r>
            <a:r>
              <a:rPr lang="en-US" b="0" kern="1200" dirty="0">
                <a:solidFill>
                  <a:schemeClr val="tx1"/>
                </a:solidFill>
                <a:effectLst/>
              </a:rPr>
              <a:t>how to back up the configuration. In addition to selecting the destination of the backup file, you can choose to encrypt</a:t>
            </a:r>
            <a:r>
              <a:rPr lang="en-US" b="0" kern="1200" baseline="0" dirty="0">
                <a:solidFill>
                  <a:schemeClr val="tx1"/>
                </a:solidFill>
                <a:effectLst/>
              </a:rPr>
              <a:t> or not to encrypt the backup file. Even if you choose not to encrypt the file, which is the default, the passwords stored in the file are hashed, and, therefore, obfuscated. The passwords that are stored in the configuration file would include passwords for the administrative users and local users, and </a:t>
            </a:r>
            <a:r>
              <a:rPr lang="en-US" b="0" kern="1200" baseline="0" dirty="0" err="1">
                <a:solidFill>
                  <a:schemeClr val="tx1"/>
                </a:solidFill>
                <a:effectLst/>
              </a:rPr>
              <a:t>preshared</a:t>
            </a:r>
            <a:r>
              <a:rPr lang="en-US" b="0" kern="1200" dirty="0">
                <a:solidFill>
                  <a:schemeClr val="tx1"/>
                </a:solidFill>
                <a:effectLst/>
              </a:rPr>
              <a:t> keys for your </a:t>
            </a:r>
            <a:r>
              <a:rPr lang="en-US" b="0" kern="1200" dirty="0" err="1">
                <a:solidFill>
                  <a:schemeClr val="tx1"/>
                </a:solidFill>
                <a:effectLst/>
              </a:rPr>
              <a:t>IPSec</a:t>
            </a:r>
            <a:r>
              <a:rPr lang="en-US" b="0" kern="1200" dirty="0">
                <a:solidFill>
                  <a:schemeClr val="tx1"/>
                </a:solidFill>
                <a:effectLst/>
              </a:rPr>
              <a:t> VPNs.</a:t>
            </a:r>
            <a:r>
              <a:rPr lang="en-US" b="0" kern="1200" baseline="0" dirty="0">
                <a:solidFill>
                  <a:schemeClr val="tx1"/>
                </a:solidFill>
                <a:effectLst/>
              </a:rPr>
              <a:t> It may also include passwords for the FSSO and LDAP servers.</a:t>
            </a:r>
            <a:endParaRPr lang="en-US" b="0" kern="1200" dirty="0">
              <a:solidFill>
                <a:schemeClr val="tx1"/>
              </a:solidFill>
              <a:effectLst/>
            </a:endParaRPr>
          </a:p>
          <a:p>
            <a:endParaRPr lang="en-US" b="0" kern="1200" dirty="0">
              <a:solidFill>
                <a:schemeClr val="tx1"/>
              </a:solidFill>
              <a:effectLst/>
            </a:endParaRPr>
          </a:p>
          <a:p>
            <a:r>
              <a:rPr lang="en-US" b="0" kern="1200" dirty="0">
                <a:solidFill>
                  <a:schemeClr val="tx1"/>
                </a:solidFill>
                <a:effectLst/>
              </a:rPr>
              <a:t>The other option</a:t>
            </a:r>
            <a:r>
              <a:rPr lang="en-US" b="0" kern="1200" baseline="0" dirty="0">
                <a:solidFill>
                  <a:schemeClr val="tx1"/>
                </a:solidFill>
                <a:effectLst/>
              </a:rPr>
              <a:t> is to encrypt the configuration file with a password</a:t>
            </a:r>
            <a:r>
              <a:rPr lang="en-US" b="0" kern="1200" dirty="0">
                <a:solidFill>
                  <a:schemeClr val="tx1"/>
                </a:solidFill>
                <a:effectLst/>
              </a:rPr>
              <a:t>. Besides securing the privacy of your configuration, it also has some effects you may not expect. After encryption, the configuration file cannot be decrypted without the password </a:t>
            </a:r>
            <a:r>
              <a:rPr lang="en-US" b="0" i="0" kern="1200" dirty="0">
                <a:solidFill>
                  <a:schemeClr val="tx1"/>
                </a:solidFill>
                <a:effectLst/>
              </a:rPr>
              <a:t>and a FortiGate of the same model and firmware</a:t>
            </a:r>
            <a:r>
              <a:rPr lang="en-US" b="0" kern="1200" dirty="0">
                <a:solidFill>
                  <a:schemeClr val="tx1"/>
                </a:solidFill>
                <a:effectLst/>
              </a:rPr>
              <a:t>. This means that if you send an encrypted configuration file to Fortinet </a:t>
            </a:r>
            <a:r>
              <a:rPr lang="en-US" b="0" kern="1200" dirty="0" smtClean="0">
                <a:solidFill>
                  <a:schemeClr val="tx1"/>
                </a:solidFill>
                <a:effectLst/>
              </a:rPr>
              <a:t>technical</a:t>
            </a:r>
            <a:r>
              <a:rPr lang="en-US" b="0" kern="1200" baseline="0" dirty="0" smtClean="0">
                <a:solidFill>
                  <a:schemeClr val="tx1"/>
                </a:solidFill>
                <a:effectLst/>
              </a:rPr>
              <a:t> s</a:t>
            </a:r>
            <a:r>
              <a:rPr lang="en-US" b="0" kern="1200" dirty="0" smtClean="0">
                <a:solidFill>
                  <a:schemeClr val="tx1"/>
                </a:solidFill>
                <a:effectLst/>
              </a:rPr>
              <a:t>upport</a:t>
            </a:r>
            <a:r>
              <a:rPr lang="en-US" b="0" kern="1200" dirty="0">
                <a:solidFill>
                  <a:schemeClr val="tx1"/>
                </a:solidFill>
                <a:effectLst/>
              </a:rPr>
              <a:t>, even if you give them the password, they cannot load your configuration until they get access to the same model of FortiGate. This can cause unnecessary delays when resolving your ticket.</a:t>
            </a:r>
          </a:p>
          <a:p>
            <a:endParaRPr lang="en-US" b="0" kern="1200" dirty="0">
              <a:solidFill>
                <a:schemeClr val="tx1"/>
              </a:solidFill>
              <a:effectLst/>
            </a:endParaRPr>
          </a:p>
          <a:p>
            <a:pPr defTabSz="913731">
              <a:defRPr/>
            </a:pPr>
            <a:r>
              <a:rPr lang="en-CA" b="0" kern="1200" dirty="0">
                <a:solidFill>
                  <a:schemeClr val="tx1"/>
                </a:solidFill>
                <a:effectLst/>
                <a:ea typeface="+mn-ea"/>
                <a:cs typeface="Arial" pitchFamily="34" charset="0"/>
              </a:rPr>
              <a:t>If you enable virtual domains (VDOMs), subdividing the resources and configuration of your </a:t>
            </a:r>
            <a:r>
              <a:rPr lang="en-CA" b="0" kern="1200" dirty="0" smtClean="0">
                <a:solidFill>
                  <a:schemeClr val="tx1"/>
                </a:solidFill>
                <a:effectLst/>
                <a:ea typeface="+mn-ea"/>
                <a:cs typeface="Arial" pitchFamily="34" charset="0"/>
              </a:rPr>
              <a:t>FortiGate device, </a:t>
            </a:r>
            <a:r>
              <a:rPr lang="en-CA" b="0" kern="1200" dirty="0">
                <a:solidFill>
                  <a:schemeClr val="tx1"/>
                </a:solidFill>
                <a:effectLst/>
                <a:ea typeface="+mn-ea"/>
                <a:cs typeface="Arial" pitchFamily="34" charset="0"/>
              </a:rPr>
              <a:t>each VDOM administrator can back up and restore their own configurations. You don’t have to back up the entire FortiGate configuration, </a:t>
            </a:r>
            <a:r>
              <a:rPr lang="en-CA" b="0" kern="1200" dirty="0" smtClean="0">
                <a:solidFill>
                  <a:schemeClr val="tx1"/>
                </a:solidFill>
                <a:effectLst/>
                <a:ea typeface="+mn-ea"/>
                <a:cs typeface="Arial" pitchFamily="34" charset="0"/>
              </a:rPr>
              <a:t>however, </a:t>
            </a:r>
            <a:r>
              <a:rPr lang="en-CA" b="0" kern="1200" dirty="0">
                <a:solidFill>
                  <a:schemeClr val="tx1"/>
                </a:solidFill>
                <a:effectLst/>
                <a:ea typeface="+mn-ea"/>
                <a:cs typeface="Arial" pitchFamily="34" charset="0"/>
              </a:rPr>
              <a:t>it is still recommended.</a:t>
            </a:r>
          </a:p>
          <a:p>
            <a:pPr defTabSz="913731">
              <a:defRPr/>
            </a:pPr>
            <a:endParaRPr lang="en-US" b="0" kern="1200" dirty="0">
              <a:solidFill>
                <a:schemeClr val="tx1"/>
              </a:solidFill>
              <a:effectLst/>
              <a:ea typeface="+mn-ea"/>
              <a:cs typeface="Arial" pitchFamily="34" charset="0"/>
            </a:endParaRPr>
          </a:p>
          <a:p>
            <a:pPr defTabSz="913731">
              <a:defRPr/>
            </a:pPr>
            <a:r>
              <a:rPr lang="en-CA" b="0" kern="1200" dirty="0">
                <a:solidFill>
                  <a:schemeClr val="tx1"/>
                </a:solidFill>
                <a:effectLst/>
                <a:ea typeface="+mn-ea"/>
                <a:cs typeface="Arial" pitchFamily="34" charset="0"/>
              </a:rPr>
              <a:t>Backups are needed to help speed up the return to production in the event of an unforeseen disaster that damages FortiGate. Having to recreate hundreds of policies and objects from scratch takes a significant amount of time, while loading a configuration file on a new device takes much less.</a:t>
            </a:r>
          </a:p>
          <a:p>
            <a:pPr defTabSz="913731">
              <a:defRPr/>
            </a:pPr>
            <a:endParaRPr lang="en-US" b="0" kern="1200" dirty="0">
              <a:solidFill>
                <a:schemeClr val="tx1"/>
              </a:solidFill>
              <a:effectLst/>
              <a:ea typeface="+mn-ea"/>
              <a:cs typeface="Arial" pitchFamily="34" charset="0"/>
            </a:endParaRPr>
          </a:p>
          <a:p>
            <a:pPr defTabSz="913731">
              <a:defRPr/>
            </a:pPr>
            <a:r>
              <a:rPr lang="en-CA" dirty="0"/>
              <a:t>Restoring a configuration file is very similar to backing one up</a:t>
            </a:r>
            <a:r>
              <a:rPr lang="en-CA" baseline="0" dirty="0"/>
              <a:t> and </a:t>
            </a:r>
            <a:r>
              <a:rPr lang="en-CA" baseline="0" dirty="0" smtClean="0"/>
              <a:t>restarts FortiGate</a:t>
            </a:r>
            <a:r>
              <a:rPr lang="en-CA" baseline="0" dirty="0"/>
              <a:t>.</a:t>
            </a:r>
            <a:endParaRPr lang="en-CA" b="0" kern="1200" dirty="0">
              <a:solidFill>
                <a:schemeClr val="tx1"/>
              </a:solidFill>
              <a:effectLst/>
              <a:ea typeface="+mn-ea"/>
              <a:cs typeface="Arial" pitchFamily="34" charset="0"/>
            </a:endParaRP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805335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r>
              <a:rPr lang="en-US" b="0" kern="1200" dirty="0">
                <a:solidFill>
                  <a:schemeClr val="tx1"/>
                </a:solidFill>
                <a:effectLst/>
                <a:ea typeface="+mn-ea"/>
                <a:cs typeface="Arial" pitchFamily="34" charset="0"/>
              </a:rPr>
              <a:t>If you open the configuration</a:t>
            </a:r>
            <a:r>
              <a:rPr lang="en-US" b="0" kern="1200" baseline="0" dirty="0">
                <a:solidFill>
                  <a:schemeClr val="tx1"/>
                </a:solidFill>
                <a:effectLst/>
                <a:ea typeface="+mn-ea"/>
                <a:cs typeface="Arial" pitchFamily="34" charset="0"/>
              </a:rPr>
              <a:t> file in a text editor, you’ll see that both encrypted and unencrypted configuration files contain a </a:t>
            </a:r>
            <a:r>
              <a:rPr lang="en-US" b="0" kern="1200" baseline="0" dirty="0" err="1" smtClean="0">
                <a:solidFill>
                  <a:schemeClr val="tx1"/>
                </a:solidFill>
                <a:effectLst/>
                <a:ea typeface="+mn-ea"/>
                <a:cs typeface="Arial" pitchFamily="34" charset="0"/>
              </a:rPr>
              <a:t>cleartext</a:t>
            </a:r>
            <a:r>
              <a:rPr lang="en-US" b="0" kern="1200" baseline="0" dirty="0" smtClean="0">
                <a:solidFill>
                  <a:schemeClr val="tx1"/>
                </a:solidFill>
                <a:effectLst/>
                <a:ea typeface="+mn-ea"/>
                <a:cs typeface="Arial" pitchFamily="34" charset="0"/>
              </a:rPr>
              <a:t> </a:t>
            </a:r>
            <a:r>
              <a:rPr lang="en-US" b="0" kern="1200" baseline="0" dirty="0">
                <a:solidFill>
                  <a:schemeClr val="tx1"/>
                </a:solidFill>
                <a:effectLst/>
                <a:ea typeface="+mn-ea"/>
                <a:cs typeface="Arial" pitchFamily="34" charset="0"/>
              </a:rPr>
              <a:t>header that contains some basic information about the device. The example on this slide shows what information is included. To restore an encrypted configuration, you must upload it to </a:t>
            </a:r>
            <a:r>
              <a:rPr lang="en-US" b="0" i="0" kern="1200" dirty="0">
                <a:solidFill>
                  <a:schemeClr val="tx1"/>
                </a:solidFill>
                <a:effectLst/>
              </a:rPr>
              <a:t>a FortiGate </a:t>
            </a:r>
            <a:r>
              <a:rPr lang="en-US" b="0" i="0" kern="1200" dirty="0" smtClean="0">
                <a:solidFill>
                  <a:schemeClr val="tx1"/>
                </a:solidFill>
                <a:effectLst/>
              </a:rPr>
              <a:t>device</a:t>
            </a:r>
            <a:r>
              <a:rPr lang="en-US" b="0" i="0" kern="1200" baseline="0" dirty="0" smtClean="0">
                <a:solidFill>
                  <a:schemeClr val="tx1"/>
                </a:solidFill>
                <a:effectLst/>
              </a:rPr>
              <a:t> </a:t>
            </a:r>
            <a:r>
              <a:rPr lang="en-US" b="0" i="0" kern="1200" dirty="0" smtClean="0">
                <a:solidFill>
                  <a:schemeClr val="tx1"/>
                </a:solidFill>
                <a:effectLst/>
              </a:rPr>
              <a:t>of </a:t>
            </a:r>
            <a:r>
              <a:rPr lang="en-US" b="0" i="0" kern="1200" dirty="0">
                <a:solidFill>
                  <a:schemeClr val="tx1"/>
                </a:solidFill>
                <a:effectLst/>
              </a:rPr>
              <a:t>the same model and firmware</a:t>
            </a:r>
            <a:r>
              <a:rPr lang="en-US" b="0" kern="1200" baseline="0" dirty="0">
                <a:solidFill>
                  <a:schemeClr val="tx1"/>
                </a:solidFill>
                <a:effectLst/>
                <a:ea typeface="+mn-ea"/>
                <a:cs typeface="Arial" pitchFamily="34" charset="0"/>
              </a:rPr>
              <a:t>, then provide the password.</a:t>
            </a:r>
          </a:p>
          <a:p>
            <a:endParaRPr lang="en-US" b="0" kern="1200" baseline="0" dirty="0">
              <a:solidFill>
                <a:schemeClr val="tx1"/>
              </a:solidFill>
              <a:effectLst/>
              <a:ea typeface="+mn-ea"/>
              <a:cs typeface="Arial" pitchFamily="34" charset="0"/>
            </a:endParaRPr>
          </a:p>
          <a:p>
            <a:r>
              <a:rPr lang="en-CA" b="0" kern="1200" baseline="0" dirty="0">
                <a:solidFill>
                  <a:schemeClr val="tx1"/>
                </a:solidFill>
                <a:effectLst/>
                <a:ea typeface="+mn-ea"/>
                <a:cs typeface="Arial" pitchFamily="34" charset="0"/>
              </a:rPr>
              <a:t>To restore an unencrypted configuration file, you are required to match only the FortiGate model. If the firmware is different, FortiGate will attempt to upgrade the configuration. This is similar to how it uses upgrade scripts on the existing configuration when upgrading firmware. However, it is still recommended to match the firmware on FortiGate to the firmware listed in the configuration file.</a:t>
            </a:r>
            <a:endParaRPr lang="en-US" b="0" kern="1200" baseline="0" dirty="0">
              <a:solidFill>
                <a:schemeClr val="tx1"/>
              </a:solidFill>
              <a:effectLst/>
              <a:ea typeface="+mn-ea"/>
              <a:cs typeface="Arial" pitchFamily="34" charset="0"/>
            </a:endParaRPr>
          </a:p>
          <a:p>
            <a:endParaRPr lang="en-US" b="0" kern="1200" baseline="0" dirty="0">
              <a:solidFill>
                <a:schemeClr val="tx1"/>
              </a:solidFill>
              <a:effectLst/>
              <a:ea typeface="+mn-ea"/>
              <a:cs typeface="Arial" pitchFamily="34" charset="0"/>
            </a:endParaRPr>
          </a:p>
          <a:p>
            <a:r>
              <a:rPr lang="en-US" b="0" kern="1200" baseline="0" dirty="0">
                <a:solidFill>
                  <a:schemeClr val="tx1"/>
                </a:solidFill>
                <a:effectLst/>
                <a:ea typeface="+mn-ea"/>
                <a:cs typeface="Arial" pitchFamily="34" charset="0"/>
              </a:rPr>
              <a:t>Usually, the configuration </a:t>
            </a:r>
            <a:r>
              <a:rPr lang="en-US" b="0" kern="1200" baseline="0" dirty="0" smtClean="0">
                <a:solidFill>
                  <a:schemeClr val="tx1"/>
                </a:solidFill>
                <a:effectLst/>
                <a:ea typeface="+mn-ea"/>
                <a:cs typeface="Arial" pitchFamily="34" charset="0"/>
              </a:rPr>
              <a:t>file contains only non-default </a:t>
            </a:r>
            <a:r>
              <a:rPr lang="en-US" b="0" kern="1200" baseline="0" dirty="0">
                <a:solidFill>
                  <a:schemeClr val="tx1"/>
                </a:solidFill>
                <a:effectLst/>
                <a:ea typeface="+mn-ea"/>
                <a:cs typeface="Arial" pitchFamily="34" charset="0"/>
              </a:rPr>
              <a:t>settings, plus few default, yet crucial, settings. This minimizes the size of the backup, which could otherwise be several </a:t>
            </a:r>
            <a:r>
              <a:rPr lang="en-US" b="0" kern="1200" baseline="0" dirty="0" smtClean="0">
                <a:solidFill>
                  <a:schemeClr val="tx1"/>
                </a:solidFill>
                <a:effectLst/>
                <a:ea typeface="+mn-ea"/>
                <a:cs typeface="Arial" pitchFamily="34" charset="0"/>
              </a:rPr>
              <a:t>megabytes </a:t>
            </a:r>
            <a:r>
              <a:rPr lang="en-US" b="0" kern="1200" baseline="0" dirty="0">
                <a:solidFill>
                  <a:schemeClr val="tx1"/>
                </a:solidFill>
                <a:effectLst/>
                <a:ea typeface="+mn-ea"/>
                <a:cs typeface="Arial" pitchFamily="34" charset="0"/>
              </a:rPr>
              <a:t>in size.</a:t>
            </a:r>
          </a:p>
        </p:txBody>
      </p:sp>
      <p:sp>
        <p:nvSpPr>
          <p:cNvPr id="5" name="Slide Image Placeholder 4"/>
          <p:cNvSpPr>
            <a:spLocks noGrp="1" noRot="1" noChangeAspect="1"/>
          </p:cNvSpPr>
          <p:nvPr>
            <p:ph type="sldImg"/>
          </p:nvPr>
        </p:nvSpPr>
        <p:spPr/>
      </p:sp>
      <p:sp>
        <p:nvSpPr>
          <p:cNvPr id="3" name="Header Placeholder 2"/>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2572428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smtClean="0">
                <a:solidFill>
                  <a:schemeClr val="tx1"/>
                </a:solidFill>
                <a:effectLst/>
                <a:latin typeface="Arial" panose="020B0604020202020204" pitchFamily="34" charset="0"/>
                <a:ea typeface="+mn-ea"/>
                <a:cs typeface="Arial" panose="020B0604020202020204" pitchFamily="34" charset="0"/>
              </a:rPr>
              <a:t>YAML format becomes more and more popular often</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use to create configuration files. </a:t>
            </a:r>
            <a:r>
              <a:rPr lang="en-GB" dirty="0" err="1" smtClean="0"/>
              <a:t>FortiOS</a:t>
            </a:r>
            <a:r>
              <a:rPr lang="en-GB" dirty="0" smtClean="0"/>
              <a:t> now supports YAML format,</a:t>
            </a:r>
            <a:r>
              <a:rPr lang="en-GB" baseline="0" dirty="0" smtClean="0"/>
              <a:t> y</a:t>
            </a:r>
            <a:r>
              <a:rPr lang="en-GB" dirty="0" smtClean="0"/>
              <a:t>ou can take a backup as well as restore YAML</a:t>
            </a:r>
            <a:r>
              <a:rPr lang="en-GB" baseline="0" dirty="0" smtClean="0"/>
              <a:t> configuration file using CLI commands. You must provide server type: ftp or </a:t>
            </a:r>
            <a:r>
              <a:rPr lang="en-GB" baseline="0" dirty="0" err="1" smtClean="0"/>
              <a:t>tftp</a:t>
            </a:r>
            <a:r>
              <a:rPr lang="en-GB" baseline="0" dirty="0" smtClean="0"/>
              <a:t>, filename, server IP address, and user credential's to backup or restore configuration file in YAML format. </a:t>
            </a:r>
          </a:p>
          <a:p>
            <a:endParaRPr lang="en-GB" baseline="0" dirty="0" smtClean="0"/>
          </a:p>
          <a:p>
            <a:r>
              <a:rPr lang="en-GB" baseline="0" dirty="0" smtClean="0"/>
              <a:t>This slide shows the sample configuration to understand the difference between the default file format and YAML format. </a:t>
            </a:r>
            <a:endParaRPr lang="en-US" dirty="0"/>
          </a:p>
        </p:txBody>
      </p:sp>
      <p:sp>
        <p:nvSpPr>
          <p:cNvPr id="4" name="Header Placeholder 3"/>
          <p:cNvSpPr>
            <a:spLocks noGrp="1"/>
          </p:cNvSpPr>
          <p:nvPr>
            <p:ph type="hdr" sz="quarter" idx="10"/>
          </p:nvPr>
        </p:nvSpPr>
        <p:spPr/>
        <p:txBody>
          <a:bodyPr/>
          <a:lstStyle/>
          <a:p>
            <a:pPr algn="r"/>
            <a:r>
              <a:rPr lang="en-US" sz="1000" smtClean="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3869697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can view the current firmware version in multiple places on the FortiGate GUI. When you first log in to FortiGate, the landing page is the </a:t>
            </a:r>
            <a:r>
              <a:rPr lang="en-CA" b="0" dirty="0"/>
              <a:t>dashboard</a:t>
            </a:r>
            <a:r>
              <a:rPr lang="en-CA" dirty="0"/>
              <a:t>. You </a:t>
            </a:r>
            <a:r>
              <a:rPr lang="en-CA" dirty="0" smtClean="0"/>
              <a:t>can </a:t>
            </a:r>
            <a:r>
              <a:rPr lang="en-CA" dirty="0"/>
              <a:t>see the firmware version in the </a:t>
            </a:r>
            <a:r>
              <a:rPr lang="en-CA" b="1" dirty="0"/>
              <a:t>System</a:t>
            </a:r>
            <a:r>
              <a:rPr lang="en-CA" dirty="0"/>
              <a:t> widget. This information is also found at </a:t>
            </a:r>
            <a:r>
              <a:rPr lang="en-CA" b="1" dirty="0"/>
              <a:t>System</a:t>
            </a:r>
            <a:r>
              <a:rPr lang="en-CA" dirty="0"/>
              <a:t> &gt; </a:t>
            </a:r>
            <a:r>
              <a:rPr lang="en-CA" b="1" dirty="0" smtClean="0"/>
              <a:t>Fabric</a:t>
            </a:r>
            <a:r>
              <a:rPr lang="en-CA" b="1" baseline="0" dirty="0" smtClean="0"/>
              <a:t> Management</a:t>
            </a:r>
            <a:r>
              <a:rPr lang="en-CA" dirty="0" smtClean="0"/>
              <a:t>. </a:t>
            </a:r>
            <a:r>
              <a:rPr lang="en-CA" dirty="0"/>
              <a:t>And,</a:t>
            </a:r>
            <a:r>
              <a:rPr lang="en-CA" baseline="0" dirty="0"/>
              <a:t> of course, you can retrieve the information on the CLI using the command </a:t>
            </a:r>
            <a:r>
              <a:rPr lang="en-CA" dirty="0">
                <a:solidFill>
                  <a:srgbClr val="000000"/>
                </a:solidFill>
                <a:latin typeface="Courier New" panose="02070309020205020404" pitchFamily="49" charset="0"/>
                <a:cs typeface="Courier New" panose="02070309020205020404" pitchFamily="49" charset="0"/>
              </a:rPr>
              <a:t>get system status. </a:t>
            </a:r>
          </a:p>
          <a:p>
            <a:endParaRPr lang="en-CA" dirty="0">
              <a:solidFill>
                <a:srgbClr val="000000"/>
              </a:solidFill>
            </a:endParaRPr>
          </a:p>
          <a:p>
            <a:r>
              <a:rPr lang="en-CA" b="0" dirty="0">
                <a:latin typeface="Arial" panose="020B0604020202020204" pitchFamily="34" charset="0"/>
                <a:cs typeface="Arial" panose="020B0604020202020204" pitchFamily="34" charset="0"/>
              </a:rPr>
              <a:t>If a</a:t>
            </a:r>
            <a:r>
              <a:rPr lang="en-CA" b="0" baseline="0" dirty="0">
                <a:latin typeface="Arial" panose="020B0604020202020204" pitchFamily="34" charset="0"/>
                <a:cs typeface="Arial" panose="020B0604020202020204" pitchFamily="34" charset="0"/>
              </a:rPr>
              <a:t> new version of the firmware is available, you </a:t>
            </a:r>
            <a:r>
              <a:rPr lang="en-CA" b="0" baseline="0" dirty="0" smtClean="0">
                <a:latin typeface="Arial" panose="020B0604020202020204" pitchFamily="34" charset="0"/>
                <a:cs typeface="Arial" panose="020B0604020202020204" pitchFamily="34" charset="0"/>
              </a:rPr>
              <a:t>are </a:t>
            </a:r>
            <a:r>
              <a:rPr lang="en-CA" b="0" baseline="0" dirty="0">
                <a:latin typeface="Arial" panose="020B0604020202020204" pitchFamily="34" charset="0"/>
                <a:cs typeface="Arial" panose="020B0604020202020204" pitchFamily="34" charset="0"/>
              </a:rPr>
              <a:t>notified on the dashboard and on the </a:t>
            </a:r>
            <a:r>
              <a:rPr lang="en-CA" b="1" baseline="0" dirty="0" smtClean="0">
                <a:latin typeface="Arial" panose="020B0604020202020204" pitchFamily="34" charset="0"/>
                <a:cs typeface="Arial" panose="020B0604020202020204" pitchFamily="34" charset="0"/>
              </a:rPr>
              <a:t>Fabric Management</a:t>
            </a:r>
            <a:r>
              <a:rPr lang="en-CA" b="0" baseline="0" dirty="0" smtClean="0">
                <a:latin typeface="Arial" panose="020B0604020202020204" pitchFamily="34" charset="0"/>
                <a:cs typeface="Arial" panose="020B0604020202020204" pitchFamily="34" charset="0"/>
              </a:rPr>
              <a:t> </a:t>
            </a:r>
            <a:r>
              <a:rPr lang="en-CA" b="0" baseline="0" dirty="0">
                <a:latin typeface="Arial" panose="020B0604020202020204" pitchFamily="34" charset="0"/>
                <a:cs typeface="Arial" panose="020B0604020202020204" pitchFamily="34" charset="0"/>
              </a:rPr>
              <a:t>page. </a:t>
            </a:r>
            <a:r>
              <a:rPr lang="en-US" sz="1000" b="0" i="0" kern="1200" dirty="0" smtClean="0">
                <a:solidFill>
                  <a:schemeClr val="tx1"/>
                </a:solidFill>
                <a:effectLst/>
                <a:latin typeface="Arial" panose="020B0604020202020204" pitchFamily="34" charset="0"/>
                <a:ea typeface="+mn-ea"/>
                <a:cs typeface="Arial" panose="020B0604020202020204" pitchFamily="34" charset="0"/>
              </a:rPr>
              <a:t>The </a:t>
            </a:r>
            <a:r>
              <a:rPr lang="en-US" sz="1000" b="1" i="0" kern="1200" dirty="0" smtClean="0">
                <a:solidFill>
                  <a:schemeClr val="tx1"/>
                </a:solidFill>
                <a:effectLst/>
                <a:latin typeface="Arial" panose="020B0604020202020204" pitchFamily="34" charset="0"/>
                <a:ea typeface="+mn-ea"/>
                <a:cs typeface="Arial" panose="020B0604020202020204" pitchFamily="34" charset="0"/>
              </a:rPr>
              <a:t>Fabric Management</a:t>
            </a:r>
            <a:r>
              <a:rPr lang="en-US" sz="1000" b="0" i="0" kern="1200" dirty="0" smtClean="0">
                <a:solidFill>
                  <a:schemeClr val="tx1"/>
                </a:solidFill>
                <a:effectLst/>
                <a:latin typeface="Arial" panose="020B0604020202020204" pitchFamily="34" charset="0"/>
                <a:ea typeface="+mn-ea"/>
                <a:cs typeface="Arial" panose="020B0604020202020204" pitchFamily="34" charset="0"/>
              </a:rPr>
              <a:t> page allows administrators to manage the firmware running on each FortiGate,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FortiAP</a:t>
            </a:r>
            <a:r>
              <a:rPr lang="en-US" sz="1000" b="0" i="0" kern="1200" dirty="0" smtClean="0">
                <a:solidFill>
                  <a:schemeClr val="tx1"/>
                </a:solidFill>
                <a:effectLst/>
                <a:latin typeface="Arial" panose="020B0604020202020204" pitchFamily="34" charset="0"/>
                <a:ea typeface="+mn-ea"/>
                <a:cs typeface="Arial" panose="020B0604020202020204" pitchFamily="34" charset="0"/>
              </a:rPr>
              <a:t>, and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FortiSwitch</a:t>
            </a:r>
            <a:r>
              <a:rPr lang="en-US" sz="1000" b="0" i="0" kern="1200" dirty="0" smtClean="0">
                <a:solidFill>
                  <a:schemeClr val="tx1"/>
                </a:solidFill>
                <a:effectLst/>
                <a:latin typeface="Arial" panose="020B0604020202020204" pitchFamily="34" charset="0"/>
                <a:ea typeface="+mn-ea"/>
                <a:cs typeface="Arial" panose="020B0604020202020204" pitchFamily="34" charset="0"/>
              </a:rPr>
              <a:t> in the Security Fabric, and to authorize and register these Fabric devices.</a:t>
            </a:r>
          </a:p>
          <a:p>
            <a:endParaRPr lang="en-GB" sz="1000" b="0" i="0" kern="1200" baseline="0" dirty="0" smtClean="0">
              <a:solidFill>
                <a:schemeClr val="tx1"/>
              </a:solidFill>
              <a:effectLst/>
              <a:latin typeface="Arial" panose="020B0604020202020204" pitchFamily="34" charset="0"/>
              <a:ea typeface="+mn-ea"/>
              <a:cs typeface="Arial" panose="020B0604020202020204" pitchFamily="34" charset="0"/>
            </a:endParaRPr>
          </a:p>
          <a:p>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You can use </a:t>
            </a:r>
            <a:r>
              <a:rPr lang="en-GB" sz="1000" b="1" i="0" kern="1200" baseline="0" dirty="0" smtClean="0">
                <a:solidFill>
                  <a:schemeClr val="tx1"/>
                </a:solidFill>
                <a:effectLst/>
                <a:latin typeface="Arial" panose="020B0604020202020204" pitchFamily="34" charset="0"/>
                <a:ea typeface="+mn-ea"/>
                <a:cs typeface="Arial" panose="020B0604020202020204" pitchFamily="34" charset="0"/>
              </a:rPr>
              <a:t>Upgrade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option to upgrade firmware of the selected device. The </a:t>
            </a:r>
            <a:r>
              <a:rPr lang="en-GB" sz="1000" b="1" i="0" kern="1200" baseline="0" dirty="0" smtClean="0">
                <a:solidFill>
                  <a:schemeClr val="tx1"/>
                </a:solidFill>
                <a:effectLst/>
                <a:latin typeface="Arial" panose="020B0604020202020204" pitchFamily="34" charset="0"/>
                <a:ea typeface="+mn-ea"/>
                <a:cs typeface="Arial" panose="020B0604020202020204" pitchFamily="34" charset="0"/>
              </a:rPr>
              <a:t>Fabric Upgrade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option upgrades firmware for the root FortiGate as well as Fabric devices. </a:t>
            </a:r>
            <a:r>
              <a:rPr lang="en-US" sz="1000" b="0" i="0" kern="1200" dirty="0" smtClean="0">
                <a:solidFill>
                  <a:schemeClr val="tx1"/>
                </a:solidFill>
                <a:effectLst/>
                <a:latin typeface="Arial" panose="020B0604020202020204" pitchFamily="34" charset="0"/>
                <a:ea typeface="+mn-ea"/>
                <a:cs typeface="Arial" panose="020B0604020202020204" pitchFamily="34" charset="0"/>
              </a:rPr>
              <a:t>You can also use this option to upgrade firmware for a non-Security Fabric FortiGate with managed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FortiSwitch</a:t>
            </a:r>
            <a:r>
              <a:rPr lang="en-US" sz="1000" b="0" i="0" kern="1200" dirty="0" smtClean="0">
                <a:solidFill>
                  <a:schemeClr val="tx1"/>
                </a:solidFill>
                <a:effectLst/>
                <a:latin typeface="Arial" panose="020B0604020202020204" pitchFamily="34" charset="0"/>
                <a:ea typeface="+mn-ea"/>
                <a:cs typeface="Arial" panose="020B0604020202020204" pitchFamily="34" charset="0"/>
              </a:rPr>
              <a:t> and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FortiAP</a:t>
            </a:r>
            <a:r>
              <a:rPr lang="en-US" sz="1000" b="0" i="0" kern="1200" dirty="0" smtClean="0">
                <a:solidFill>
                  <a:schemeClr val="tx1"/>
                </a:solidFill>
                <a:effectLst/>
                <a:latin typeface="Arial" panose="020B0604020202020204" pitchFamily="34" charset="0"/>
                <a:ea typeface="+mn-ea"/>
                <a:cs typeface="Arial" panose="020B0604020202020204" pitchFamily="34" charset="0"/>
              </a:rPr>
              <a:t> devices.</a:t>
            </a:r>
          </a:p>
          <a:p>
            <a:r>
              <a:rPr lang="en-US" sz="1000" b="0" i="0" kern="1200" dirty="0" smtClean="0">
                <a:solidFill>
                  <a:schemeClr val="tx1"/>
                </a:solidFill>
                <a:effectLst/>
                <a:latin typeface="Arial" panose="020B0604020202020204" pitchFamily="34" charset="0"/>
                <a:ea typeface="+mn-ea"/>
                <a:cs typeface="Arial" panose="020B0604020202020204" pitchFamily="34" charset="0"/>
              </a:rPr>
              <a:t>The </a:t>
            </a:r>
            <a:r>
              <a:rPr lang="en-US" sz="1000" b="1" i="0" kern="1200" dirty="0" smtClean="0">
                <a:solidFill>
                  <a:schemeClr val="tx1"/>
                </a:solidFill>
                <a:effectLst/>
                <a:latin typeface="Arial" panose="020B0604020202020204" pitchFamily="34" charset="0"/>
                <a:ea typeface="+mn-ea"/>
                <a:cs typeface="Arial" panose="020B0604020202020204" pitchFamily="34" charset="0"/>
              </a:rPr>
              <a:t>Fabric Upgrade</a:t>
            </a:r>
            <a:r>
              <a:rPr lang="en-US" sz="1000" b="0" i="0" kern="1200" dirty="0" smtClean="0">
                <a:solidFill>
                  <a:schemeClr val="tx1"/>
                </a:solidFill>
                <a:effectLst/>
                <a:latin typeface="Arial" panose="020B0604020202020204" pitchFamily="34" charset="0"/>
                <a:ea typeface="+mn-ea"/>
                <a:cs typeface="Arial" panose="020B0604020202020204" pitchFamily="34" charset="0"/>
              </a:rPr>
              <a:t> option uses released firmware images from FortiGuard.</a:t>
            </a:r>
          </a:p>
          <a:p>
            <a:endParaRPr lang="en-GB" sz="1000" b="0" i="0" kern="1200" dirty="0" smtClean="0">
              <a:solidFill>
                <a:schemeClr val="tx1"/>
              </a:solidFill>
              <a:effectLst/>
              <a:latin typeface="Arial" panose="020B0604020202020204" pitchFamily="34" charset="0"/>
              <a:ea typeface="+mn-ea"/>
              <a:cs typeface="Arial" panose="020B0604020202020204" pitchFamily="34" charset="0"/>
            </a:endParaRPr>
          </a:p>
          <a:p>
            <a:r>
              <a:rPr lang="en-GB" sz="1000" b="0" i="0" kern="1200" dirty="0" smtClean="0">
                <a:solidFill>
                  <a:schemeClr val="tx1"/>
                </a:solidFill>
                <a:effectLst/>
                <a:latin typeface="Arial" panose="020B0604020202020204" pitchFamily="34" charset="0"/>
                <a:ea typeface="+mn-ea"/>
                <a:cs typeface="Arial" panose="020B0604020202020204" pitchFamily="34" charset="0"/>
              </a:rPr>
              <a:t>You</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can also use the </a:t>
            </a:r>
            <a:r>
              <a:rPr lang="en-GB" sz="1000" b="1" i="0" kern="1200" baseline="0" dirty="0" smtClean="0">
                <a:solidFill>
                  <a:schemeClr val="tx1"/>
                </a:solidFill>
                <a:effectLst/>
                <a:latin typeface="Arial" panose="020B0604020202020204" pitchFamily="34" charset="0"/>
                <a:ea typeface="+mn-ea"/>
                <a:cs typeface="Arial" panose="020B0604020202020204" pitchFamily="34" charset="0"/>
              </a:rPr>
              <a:t>Register</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option to register a selected device to </a:t>
            </a:r>
            <a:r>
              <a:rPr lang="en-GB" sz="1000" b="0" i="0" kern="1200" baseline="0" dirty="0" err="1" smtClean="0">
                <a:solidFill>
                  <a:schemeClr val="tx1"/>
                </a:solidFill>
                <a:effectLst/>
                <a:latin typeface="Arial" panose="020B0604020202020204" pitchFamily="34" charset="0"/>
                <a:ea typeface="+mn-ea"/>
                <a:cs typeface="Arial" panose="020B0604020202020204" pitchFamily="34" charset="0"/>
              </a:rPr>
              <a:t>FortiCare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and an </a:t>
            </a:r>
            <a:r>
              <a:rPr lang="en-GB" sz="1000" b="1" i="0" kern="1200" baseline="0" dirty="0" smtClean="0">
                <a:solidFill>
                  <a:schemeClr val="tx1"/>
                </a:solidFill>
                <a:effectLst/>
                <a:latin typeface="Arial" panose="020B0604020202020204" pitchFamily="34" charset="0"/>
                <a:ea typeface="+mn-ea"/>
                <a:cs typeface="Arial" panose="020B0604020202020204" pitchFamily="34" charset="0"/>
              </a:rPr>
              <a:t>Authorize</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option to authorize a selected device for use in security fabric.</a:t>
            </a:r>
            <a:endParaRPr lang="en-US" sz="1000" b="0" i="0" kern="1200" dirty="0" smtClean="0">
              <a:solidFill>
                <a:schemeClr val="tx1"/>
              </a:solidFill>
              <a:effectLst/>
              <a:latin typeface="Arial" panose="020B0604020202020204" pitchFamily="34" charset="0"/>
              <a:ea typeface="+mn-ea"/>
              <a:cs typeface="Arial" panose="020B0604020202020204" pitchFamily="34" charset="0"/>
            </a:endParaRPr>
          </a:p>
          <a:p>
            <a:endParaRPr lang="en-CA" b="0" baseline="0" dirty="0">
              <a:latin typeface="Arial" panose="020B0604020202020204" pitchFamily="34" charset="0"/>
              <a:cs typeface="Arial" panose="020B0604020202020204" pitchFamily="34" charset="0"/>
            </a:endParaRPr>
          </a:p>
          <a:p>
            <a:r>
              <a:rPr lang="en-CA" b="0" baseline="0" dirty="0" smtClean="0">
                <a:latin typeface="Arial" panose="020B0604020202020204" pitchFamily="34" charset="0"/>
                <a:cs typeface="Arial" panose="020B0604020202020204" pitchFamily="34" charset="0"/>
              </a:rPr>
              <a:t>Remember </a:t>
            </a:r>
            <a:r>
              <a:rPr lang="en-CA" b="0" baseline="0" dirty="0">
                <a:latin typeface="Arial" panose="020B0604020202020204" pitchFamily="34" charset="0"/>
                <a:cs typeface="Arial" panose="020B0604020202020204" pitchFamily="34" charset="0"/>
              </a:rPr>
              <a:t>to read the </a:t>
            </a:r>
            <a:r>
              <a:rPr lang="en-CA" b="0" i="1" baseline="0" dirty="0">
                <a:latin typeface="Arial" panose="020B0604020202020204" pitchFamily="34" charset="0"/>
                <a:cs typeface="Arial" panose="020B0604020202020204" pitchFamily="34" charset="0"/>
              </a:rPr>
              <a:t>Release Notes </a:t>
            </a:r>
            <a:r>
              <a:rPr lang="en-CA" b="0" baseline="0" dirty="0">
                <a:latin typeface="Arial" panose="020B0604020202020204" pitchFamily="34" charset="0"/>
                <a:cs typeface="Arial" panose="020B0604020202020204" pitchFamily="34" charset="0"/>
              </a:rPr>
              <a:t>to make sure that you understand the supported upgrade path. The </a:t>
            </a:r>
            <a:r>
              <a:rPr lang="en-CA" b="0" i="1" baseline="0" dirty="0">
                <a:latin typeface="Arial" panose="020B0604020202020204" pitchFamily="34" charset="0"/>
                <a:cs typeface="Arial" panose="020B0604020202020204" pitchFamily="34" charset="0"/>
              </a:rPr>
              <a:t>Release Notes </a:t>
            </a:r>
            <a:r>
              <a:rPr lang="en-CA" b="0" baseline="0" dirty="0">
                <a:latin typeface="Arial" panose="020B0604020202020204" pitchFamily="34" charset="0"/>
                <a:cs typeface="Arial" panose="020B0604020202020204" pitchFamily="34" charset="0"/>
              </a:rPr>
              <a:t>also provide pertinent information that may affect the upgrade.</a:t>
            </a:r>
            <a:endParaRPr lang="en-CA" b="0" dirty="0">
              <a:latin typeface="Arial" panose="020B0604020202020204" pitchFamily="34" charset="0"/>
              <a:cs typeface="Arial" panose="020B0604020202020204" pitchFamily="34" charset="0"/>
            </a:endParaRPr>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19054853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55392220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3704">
              <a:defRPr/>
            </a:pPr>
            <a:r>
              <a:rPr lang="en-CA" baseline="0" dirty="0"/>
              <a:t>Congratulations! You have completed this lesson.</a:t>
            </a:r>
          </a:p>
          <a:p>
            <a:pPr defTabSz="913704">
              <a:defRPr/>
            </a:pPr>
            <a:endParaRPr lang="en-CA" baseline="0" dirty="0"/>
          </a:p>
          <a:p>
            <a:pPr defTabSz="913704">
              <a:defRPr/>
            </a:pPr>
            <a:r>
              <a:rPr lang="en-CA" dirty="0"/>
              <a:t>Now, you will review the objectives that you covered in the lesson.</a:t>
            </a:r>
          </a:p>
          <a:p>
            <a:pPr defTabSz="913704">
              <a:defRPr/>
            </a:pPr>
            <a:endParaRPr lang="en-CA" baseline="0"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22070139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objectives that you covered in this lesson.</a:t>
            </a:r>
          </a:p>
          <a:p>
            <a:endParaRPr lang="en-US" dirty="0"/>
          </a:p>
          <a:p>
            <a:r>
              <a:rPr lang="en-US" dirty="0"/>
              <a:t>By mastering the objectives covered in this lesson, you learned how and where FortiGate fits into your network and how to perform basic FortiGate administration.</a:t>
            </a:r>
          </a:p>
          <a:p>
            <a:endParaRPr lang="en-CA" baseline="0" dirty="0"/>
          </a:p>
          <a:p>
            <a:pPr defTabSz="913704">
              <a:defRPr/>
            </a:pPr>
            <a:endParaRPr lang="en-CA" baseline="0" dirty="0"/>
          </a:p>
          <a:p>
            <a:endParaRPr lang="en-CA" dirty="0"/>
          </a:p>
        </p:txBody>
      </p:sp>
      <p:sp>
        <p:nvSpPr>
          <p:cNvPr id="5" name="Header Placeholder 4"/>
          <p:cNvSpPr>
            <a:spLocks noGrp="1"/>
          </p:cNvSpPr>
          <p:nvPr>
            <p:ph type="hdr" sz="quarter" idx="10"/>
          </p:nvPr>
        </p:nvSpPr>
        <p:spPr/>
        <p:txBody>
          <a:bodyPr/>
          <a:lstStyle/>
          <a:p>
            <a:pPr algn="r"/>
            <a:r>
              <a:rPr lang="en-US" sz="1000">
                <a:cs typeface="Arial" pitchFamily="34" charset="0"/>
              </a:rPr>
              <a:t>Introduction and Initial Configuration</a:t>
            </a:r>
            <a:endParaRPr lang="en-US" sz="1000" dirty="0">
              <a:cs typeface="Arial" pitchFamily="34" charset="0"/>
            </a:endParaRPr>
          </a:p>
        </p:txBody>
      </p:sp>
    </p:spTree>
    <p:extLst>
      <p:ext uri="{BB962C8B-B14F-4D97-AF65-F5344CB8AC3E}">
        <p14:creationId xmlns:p14="http://schemas.microsoft.com/office/powerpoint/2010/main" val="4395440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_Slide_NSE_1">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0"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1"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2"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3"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533531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_Slide_NSE_2">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3"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9"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9878645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_Slide_NSE_3">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4727152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_Slide_NSE_4">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5508662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_Slide_NSE_5">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40695278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_Slide_NSE_6">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41121812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Title_Slide_NSE_7">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1"/>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934870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Slide_NSE_8">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622014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le_Slide_Non_NSE">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9"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0"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3"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4"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spTree>
    <p:extLst>
      <p:ext uri="{BB962C8B-B14F-4D97-AF65-F5344CB8AC3E}">
        <p14:creationId xmlns:p14="http://schemas.microsoft.com/office/powerpoint/2010/main" val="41516599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Lesson_Overview">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Lesson Overview</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73600" y="1347536"/>
            <a:ext cx="11386800" cy="49680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96720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NSE7_Lesson_Objectives">
    <p:bg>
      <p:bgPr>
        <a:solidFill>
          <a:srgbClr val="F0F0F0"/>
        </a:solidFill>
        <a:effectLst/>
      </p:bgPr>
    </p:bg>
    <p:spTree>
      <p:nvGrpSpPr>
        <p:cNvPr id="1" name=""/>
        <p:cNvGrpSpPr/>
        <p:nvPr/>
      </p:nvGrpSpPr>
      <p:grpSpPr>
        <a:xfrm>
          <a:off x="0" y="0"/>
          <a:ext cx="0" cy="0"/>
          <a:chOff x="0" y="0"/>
          <a:chExt cx="0" cy="0"/>
        </a:xfrm>
      </p:grpSpPr>
      <p:sp>
        <p:nvSpPr>
          <p:cNvPr id="6" name="Content Placeholder 2"/>
          <p:cNvSpPr>
            <a:spLocks noGrp="1"/>
          </p:cNvSpPr>
          <p:nvPr>
            <p:ph idx="1" hasCustomPrompt="1"/>
          </p:nvPr>
        </p:nvSpPr>
        <p:spPr>
          <a:xfrm>
            <a:off x="266400" y="1355270"/>
            <a:ext cx="11387357" cy="4959129"/>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Objectives</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13602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ection_Title">
    <p:bg>
      <p:bgPr>
        <a:solidFill>
          <a:srgbClr val="F0F0F0"/>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72961" y="577804"/>
            <a:ext cx="9363600" cy="781602"/>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7" name="Picture 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0" name="Rectangle 9">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1" name="Picture 10">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12" name="Rectangle 11">
            <a:extLst>
              <a:ext uri="{FF2B5EF4-FFF2-40B4-BE49-F238E27FC236}">
                <a16:creationId xmlns:a16="http://schemas.microsoft.com/office/drawing/2014/main" id="{149CDAD4-8CD1-C94B-A9CC-8046006859AC}"/>
              </a:ext>
            </a:extLst>
          </p:cNvPr>
          <p:cNvSpPr/>
          <p:nvPr/>
        </p:nvSpPr>
        <p:spPr>
          <a:xfrm>
            <a:off x="0" y="19944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3" name="Picture 12">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14" name="Rectangle 13">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5" name="Rectangle 14">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6" name="Rectangle 15">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0"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9" name="Objectives list"/>
          <p:cNvSpPr>
            <a:spLocks noGrp="1"/>
          </p:cNvSpPr>
          <p:nvPr>
            <p:ph type="body" sz="quarter" idx="11" hasCustomPrompt="1"/>
          </p:nvPr>
        </p:nvSpPr>
        <p:spPr>
          <a:xfrm>
            <a:off x="272961" y="2624400"/>
            <a:ext cx="8319600" cy="3654000"/>
          </a:xfrm>
          <a:prstGeom prst="rect">
            <a:avLst/>
          </a:prstGeom>
        </p:spPr>
        <p:txBody>
          <a:bodyPr>
            <a:normAutofit/>
          </a:bodyPr>
          <a:lstStyle>
            <a:lvl1pPr>
              <a:defRPr sz="2200"/>
            </a:lvl1pPr>
          </a:lstStyle>
          <a:p>
            <a:pPr lvl="0"/>
            <a:r>
              <a:rPr lang="en-US" dirty="0" smtClean="0"/>
              <a:t>[Objective]</a:t>
            </a:r>
          </a:p>
          <a:p>
            <a:pPr lvl="0"/>
            <a:r>
              <a:rPr lang="en-US" dirty="0" smtClean="0"/>
              <a:t>[Objective]</a:t>
            </a:r>
          </a:p>
          <a:p>
            <a:pPr lvl="0"/>
            <a:r>
              <a:rPr lang="en-US" dirty="0" smtClean="0"/>
              <a:t>[Objective]</a:t>
            </a:r>
          </a:p>
        </p:txBody>
      </p:sp>
      <p:sp>
        <p:nvSpPr>
          <p:cNvPr id="6" name="Objectives title"/>
          <p:cNvSpPr txBox="1"/>
          <p:nvPr/>
        </p:nvSpPr>
        <p:spPr>
          <a:xfrm>
            <a:off x="273600" y="2005200"/>
            <a:ext cx="10803600" cy="523220"/>
          </a:xfrm>
          <a:prstGeom prst="rect">
            <a:avLst/>
          </a:prstGeom>
          <a:noFill/>
        </p:spPr>
        <p:txBody>
          <a:bodyPr wrap="square" rtlCol="0">
            <a:spAutoFit/>
          </a:bodyPr>
          <a:lstStyle/>
          <a:p>
            <a:r>
              <a:rPr lang="en-CA" sz="2800" b="1" dirty="0" smtClean="0"/>
              <a:t>Objectives</a:t>
            </a:r>
            <a:endParaRPr lang="en-CA" sz="2800" b="1" dirty="0"/>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600380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NSE7_Section_Title">
    <p:bg>
      <p:bgPr>
        <a:solidFill>
          <a:srgbClr val="F0F0F0"/>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8" name="Rectangle 17">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9" name="Picture 18">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20" name="Rectangle 19">
            <a:extLst>
              <a:ext uri="{FF2B5EF4-FFF2-40B4-BE49-F238E27FC236}">
                <a16:creationId xmlns:a16="http://schemas.microsoft.com/office/drawing/2014/main" id="{149CDAD4-8CD1-C94B-A9CC-8046006859AC}"/>
              </a:ext>
            </a:extLst>
          </p:cNvPr>
          <p:cNvSpPr/>
          <p:nvPr/>
        </p:nvSpPr>
        <p:spPr>
          <a:xfrm>
            <a:off x="-1" y="19939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21" name="Picture 20">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22" name="Rectangle 21">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3" name="Rectangle 22">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4" name="Rectangle 23">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itle 1"/>
          <p:cNvSpPr>
            <a:spLocks noGrp="1"/>
          </p:cNvSpPr>
          <p:nvPr>
            <p:ph type="title" hasCustomPrompt="1"/>
          </p:nvPr>
        </p:nvSpPr>
        <p:spPr>
          <a:xfrm>
            <a:off x="97200" y="2696400"/>
            <a:ext cx="8496000" cy="900000"/>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16880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6000" cy="748800"/>
          </a:xfrm>
          <a:prstGeom prst="rect">
            <a:avLst/>
          </a:prstGeom>
        </p:spPr>
        <p:txBody>
          <a:bodyPr>
            <a:normAutofit/>
          </a:bodyPr>
          <a:lstStyle>
            <a:lvl1pPr algn="l" defTabSz="914240" rtl="0" eaLnBrk="1" latinLnBrk="0" hangingPunct="1">
              <a:lnSpc>
                <a:spcPct val="94000"/>
              </a:lnSpc>
              <a:spcBef>
                <a:spcPct val="0"/>
              </a:spcBef>
              <a:buNone/>
              <a:defRPr lang="en-US" sz="3600" b="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Tree>
    <p:extLst>
      <p:ext uri="{BB962C8B-B14F-4D97-AF65-F5344CB8AC3E}">
        <p14:creationId xmlns:p14="http://schemas.microsoft.com/office/powerpoint/2010/main" val="366679265"/>
      </p:ext>
    </p:extLst>
  </p:cSld>
  <p:clrMapOvr>
    <a:masterClrMapping/>
  </p:clrMapOvr>
  <p:transition spd="slow">
    <p:wip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 hasCustomPrompt="1"/>
          </p:nvPr>
        </p:nvSpPr>
        <p:spPr>
          <a:xfrm>
            <a:off x="266399" y="972000"/>
            <a:ext cx="11375703"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Tree>
    <p:extLst>
      <p:ext uri="{BB962C8B-B14F-4D97-AF65-F5344CB8AC3E}">
        <p14:creationId xmlns:p14="http://schemas.microsoft.com/office/powerpoint/2010/main" val="948690600"/>
      </p:ext>
    </p:extLst>
  </p:cSld>
  <p:clrMapOvr>
    <a:masterClrMapping/>
  </p:clrMapOvr>
  <p:transition spd="slow">
    <p:wip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5" hasCustomPrompt="1"/>
          </p:nvPr>
        </p:nvSpPr>
        <p:spPr>
          <a:xfrm>
            <a:off x="2664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60732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544886449"/>
      </p:ext>
    </p:extLst>
  </p:cSld>
  <p:clrMapOvr>
    <a:masterClrMapping/>
  </p:clrMapOvr>
  <p:transition spd="slow">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wo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5" name="Content Placeholder 2"/>
          <p:cNvSpPr>
            <a:spLocks noGrp="1"/>
          </p:cNvSpPr>
          <p:nvPr>
            <p:ph idx="15" hasCustomPrompt="1"/>
          </p:nvPr>
        </p:nvSpPr>
        <p:spPr>
          <a:xfrm>
            <a:off x="6070863" y="975600"/>
            <a:ext cx="5565600" cy="4620768"/>
          </a:xfrm>
          <a:prstGeom prst="rect">
            <a:avLst/>
          </a:prstGeom>
        </p:spPr>
        <p:txBody>
          <a:bodyPr/>
          <a:lstStyle>
            <a:lvl1pPr>
              <a:buClr>
                <a:schemeClr val="accent6"/>
              </a:buClr>
              <a:defRPr sz="2200" baseline="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Content Placeholder 4"/>
          <p:cNvSpPr>
            <a:spLocks noGrp="1"/>
          </p:cNvSpPr>
          <p:nvPr>
            <p:ph sz="half" idx="13" hasCustomPrompt="1"/>
          </p:nvPr>
        </p:nvSpPr>
        <p:spPr>
          <a:xfrm>
            <a:off x="266399" y="975600"/>
            <a:ext cx="55656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2691168753"/>
      </p:ext>
    </p:extLst>
  </p:cSld>
  <p:clrMapOvr>
    <a:masterClrMapping/>
  </p:clrMapOvr>
  <p:transition spd="slow">
    <p:wip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wo Column 40x6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5326143"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760409199"/>
      </p:ext>
    </p:extLst>
  </p:cSld>
  <p:clrMapOvr>
    <a:masterClrMapping/>
  </p:clrMapOvr>
  <p:transition spd="slow">
    <p:wip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40x6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5320800" y="975600"/>
            <a:ext cx="63144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400" y="975600"/>
            <a:ext cx="47592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985993505"/>
      </p:ext>
    </p:extLst>
  </p:cSld>
  <p:clrMapOvr>
    <a:masterClrMapping/>
  </p:clrMapOvr>
  <p:transition spd="slow">
    <p:wip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wo Column 60x4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68940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3052317291"/>
      </p:ext>
    </p:extLst>
  </p:cSld>
  <p:clrMapOvr>
    <a:masterClrMapping/>
  </p:clrMapOvr>
  <p:transition spd="slow">
    <p:wip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wo Column 60x4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904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6900421" y="975598"/>
            <a:ext cx="4757342"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399" y="975600"/>
            <a:ext cx="63144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950337015"/>
      </p:ext>
    </p:extLst>
  </p:cSld>
  <p:clrMapOvr>
    <a:masterClrMapping/>
  </p:clrMapOvr>
  <p:transition spd="slow">
    <p:wip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2664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4216153"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10" name="Content Placeholder 2"/>
          <p:cNvSpPr>
            <a:spLocks noGrp="1"/>
          </p:cNvSpPr>
          <p:nvPr>
            <p:ph idx="18" hasCustomPrompt="1"/>
          </p:nvPr>
        </p:nvSpPr>
        <p:spPr>
          <a:xfrm>
            <a:off x="81648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1306362819"/>
      </p:ext>
    </p:extLst>
  </p:cSld>
  <p:clrMapOvr>
    <a:masterClrMapping/>
  </p:clrMapOvr>
  <p:transition spd="slow">
    <p:wip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hree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42120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81576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p>
        </p:txBody>
      </p:sp>
      <p:sp>
        <p:nvSpPr>
          <p:cNvPr id="10" name="Content Placeholder 2"/>
          <p:cNvSpPr>
            <a:spLocks noGrp="1"/>
          </p:cNvSpPr>
          <p:nvPr>
            <p:ph idx="18" hasCustomPrompt="1"/>
          </p:nvPr>
        </p:nvSpPr>
        <p:spPr>
          <a:xfrm>
            <a:off x="266400" y="5652000"/>
            <a:ext cx="113832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4"/>
          <p:cNvSpPr>
            <a:spLocks noGrp="1"/>
          </p:cNvSpPr>
          <p:nvPr>
            <p:ph sz="half" idx="13" hasCustomPrompt="1"/>
          </p:nvPr>
        </p:nvSpPr>
        <p:spPr>
          <a:xfrm>
            <a:off x="266400" y="975600"/>
            <a:ext cx="34920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1165546582"/>
      </p:ext>
    </p:extLst>
  </p:cSld>
  <p:clrMapOvr>
    <a:masterClrMapping/>
  </p:clrMapOvr>
  <p:transition spd="slow">
    <p:wip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Four Pictures with Captions">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66400" y="1812756"/>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Picture Placeholder 2"/>
          <p:cNvSpPr>
            <a:spLocks noGrp="1"/>
          </p:cNvSpPr>
          <p:nvPr>
            <p:ph type="pic" idx="13"/>
          </p:nvPr>
        </p:nvSpPr>
        <p:spPr>
          <a:xfrm>
            <a:off x="6199278"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hasCustomPrompt="1"/>
          </p:nvPr>
        </p:nvSpPr>
        <p:spPr>
          <a:xfrm>
            <a:off x="2664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9" name="Text Placeholder 3"/>
          <p:cNvSpPr>
            <a:spLocks noGrp="1"/>
          </p:cNvSpPr>
          <p:nvPr>
            <p:ph type="body" sz="half" idx="14" hasCustomPrompt="1"/>
          </p:nvPr>
        </p:nvSpPr>
        <p:spPr>
          <a:xfrm>
            <a:off x="32328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7" name="Picture Placeholder 2"/>
          <p:cNvSpPr>
            <a:spLocks noGrp="1"/>
          </p:cNvSpPr>
          <p:nvPr>
            <p:ph type="pic" idx="15"/>
          </p:nvPr>
        </p:nvSpPr>
        <p:spPr>
          <a:xfrm>
            <a:off x="3232839"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0" name="Picture Placeholder 2"/>
          <p:cNvSpPr>
            <a:spLocks noGrp="1"/>
          </p:cNvSpPr>
          <p:nvPr>
            <p:ph type="pic" idx="16"/>
          </p:nvPr>
        </p:nvSpPr>
        <p:spPr>
          <a:xfrm>
            <a:off x="9124216" y="1812755"/>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hasCustomPrompt="1"/>
          </p:nvPr>
        </p:nvSpPr>
        <p:spPr>
          <a:xfrm>
            <a:off x="61992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3" name="Text Placeholder 3"/>
          <p:cNvSpPr>
            <a:spLocks noGrp="1"/>
          </p:cNvSpPr>
          <p:nvPr>
            <p:ph type="body" sz="half" idx="18" hasCustomPrompt="1"/>
          </p:nvPr>
        </p:nvSpPr>
        <p:spPr>
          <a:xfrm>
            <a:off x="9124215"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689915281"/>
      </p:ext>
    </p:extLst>
  </p:cSld>
  <p:clrMapOvr>
    <a:masterClrMapping/>
  </p:clrMapOvr>
  <p:transition spd="slow">
    <p:wip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LI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baseline="0" dirty="0">
                <a:solidFill>
                  <a:schemeClr val="tx1"/>
                </a:solidFill>
                <a:latin typeface="+mj-lt"/>
                <a:ea typeface="+mj-ea"/>
                <a:cs typeface="+mj-cs"/>
              </a:defRPr>
            </a:lvl1pPr>
          </a:lstStyle>
          <a:p>
            <a:r>
              <a:rPr lang="en-US" dirty="0" smtClean="0"/>
              <a:t>CLI on White</a:t>
            </a:r>
            <a:endParaRPr lang="en-US" dirty="0"/>
          </a:p>
        </p:txBody>
      </p:sp>
      <p:sp>
        <p:nvSpPr>
          <p:cNvPr id="5" name="Content Placeholder 2"/>
          <p:cNvSpPr>
            <a:spLocks noGrp="1"/>
          </p:cNvSpPr>
          <p:nvPr>
            <p:ph idx="1" hasCustomPrompt="1"/>
          </p:nvPr>
        </p:nvSpPr>
        <p:spPr>
          <a:xfrm>
            <a:off x="266400" y="975600"/>
            <a:ext cx="11394000" cy="5338800"/>
          </a:xfrm>
          <a:prstGeom prst="rect">
            <a:avLst/>
          </a:prstGeom>
        </p:spPr>
        <p:txBody>
          <a:bodyPr/>
          <a:lstStyle>
            <a:lvl1pPr marL="0" indent="0">
              <a:buClr>
                <a:schemeClr val="accent6"/>
              </a:buClr>
              <a:buNone/>
              <a:defRPr sz="1800">
                <a:solidFill>
                  <a:schemeClr val="tx1"/>
                </a:solidFill>
                <a:latin typeface="Courier New" panose="02070309020205020404" pitchFamily="49" charset="0"/>
                <a:cs typeface="Courier New" panose="02070309020205020404" pitchFamily="49" charset="0"/>
              </a:defRPr>
            </a:lvl1pPr>
            <a:lvl2pPr>
              <a:buClr>
                <a:schemeClr val="accent6"/>
              </a:buClr>
              <a:defRPr sz="2400">
                <a:solidFill>
                  <a:schemeClr val="bg1"/>
                </a:solidFill>
                <a:latin typeface="Courier New" panose="02070309020205020404" pitchFamily="49" charset="0"/>
                <a:cs typeface="Courier New" panose="02070309020205020404" pitchFamily="49" charset="0"/>
              </a:defRPr>
            </a:lvl2pPr>
            <a:lvl3pPr>
              <a:buClr>
                <a:schemeClr val="accent6"/>
              </a:buClr>
              <a:defRPr sz="2000">
                <a:solidFill>
                  <a:schemeClr val="bg1"/>
                </a:solidFill>
                <a:latin typeface="Courier New" panose="02070309020205020404" pitchFamily="49" charset="0"/>
                <a:cs typeface="Courier New" panose="02070309020205020404" pitchFamily="49" charset="0"/>
              </a:defRPr>
            </a:lvl3pPr>
            <a:lvl4pPr>
              <a:buClr>
                <a:schemeClr val="accent6"/>
              </a:buClr>
              <a:defRPr sz="1800">
                <a:solidFill>
                  <a:schemeClr val="bg1"/>
                </a:solidFill>
                <a:latin typeface="Courier New" panose="02070309020205020404" pitchFamily="49" charset="0"/>
                <a:cs typeface="Courier New" panose="02070309020205020404" pitchFamily="49" charset="0"/>
              </a:defRPr>
            </a:lvl4pPr>
            <a:lvl5pPr>
              <a:buClr>
                <a:schemeClr val="accent6"/>
              </a:buClr>
              <a:defRPr sz="1600">
                <a:solidFill>
                  <a:schemeClr val="bg1"/>
                </a:solidFill>
                <a:latin typeface="Courier New" panose="02070309020205020404" pitchFamily="49" charset="0"/>
                <a:cs typeface="Courier New" panose="02070309020205020404" pitchFamily="49" charset="0"/>
              </a:defRPr>
            </a:lvl5pPr>
          </a:lstStyle>
          <a:p>
            <a:pPr lvl="0"/>
            <a:r>
              <a:rPr lang="en-US" dirty="0" smtClean="0"/>
              <a:t># Click to add CLI text</a:t>
            </a:r>
          </a:p>
        </p:txBody>
      </p:sp>
    </p:spTree>
    <p:extLst>
      <p:ext uri="{BB962C8B-B14F-4D97-AF65-F5344CB8AC3E}">
        <p14:creationId xmlns:p14="http://schemas.microsoft.com/office/powerpoint/2010/main" val="1757830823"/>
      </p:ext>
    </p:extLst>
  </p:cSld>
  <p:clrMapOvr>
    <a:masterClrMapping/>
  </p:clrMapOvr>
  <p:transition spd="slow">
    <p:wip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Knowledge_Check">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266400" y="972000"/>
            <a:ext cx="11394000" cy="5335200"/>
          </a:xfrm>
          <a:prstGeom prst="rect">
            <a:avLst/>
          </a:prstGeom>
          <a:noFill/>
        </p:spPr>
        <p:txBody>
          <a:bodyPr/>
          <a:lstStyle>
            <a:lvl1pPr marL="685800" indent="-457200">
              <a:buClr>
                <a:schemeClr val="accent6"/>
              </a:buClr>
              <a:buFont typeface="+mj-lt"/>
              <a:buAutoNum type="arabicPeriod"/>
              <a:defRPr sz="2200" baseline="0"/>
            </a:lvl1pPr>
            <a:lvl2pPr marL="457200" indent="0">
              <a:buClr>
                <a:schemeClr val="accent6"/>
              </a:buClr>
              <a:buNone/>
              <a:defRPr sz="1800"/>
            </a:lvl2pPr>
            <a:lvl3pPr>
              <a:buClr>
                <a:schemeClr val="accent6"/>
              </a:buClr>
              <a:defRPr sz="1600"/>
            </a:lvl3pPr>
            <a:lvl4pPr>
              <a:buClr>
                <a:schemeClr val="accent6"/>
              </a:buClr>
              <a:defRPr sz="1400"/>
            </a:lvl4pPr>
            <a:lvl5pPr>
              <a:buClr>
                <a:schemeClr val="accent6"/>
              </a:buClr>
              <a:defRPr sz="1200"/>
            </a:lvl5pPr>
          </a:lstStyle>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pPr marL="571500" lvl="0" indent="-342900">
              <a:buFont typeface="+mj-lt"/>
              <a:buAutoNum type="alphaUcPeriod"/>
            </a:pPr>
            <a:endParaRPr lang="en-CA" dirty="0"/>
          </a:p>
        </p:txBody>
      </p:sp>
      <p:sp>
        <p:nvSpPr>
          <p:cNvPr id="6" name="TextBox 5"/>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Knowledge Check</a:t>
            </a:r>
            <a:endParaRPr lang="en-CA" sz="3600" b="0" dirty="0">
              <a:solidFill>
                <a:schemeClr val="tx1"/>
              </a:solidFill>
              <a:latin typeface="+mj-lt"/>
            </a:endParaRPr>
          </a:p>
        </p:txBody>
      </p:sp>
    </p:spTree>
    <p:extLst>
      <p:ext uri="{BB962C8B-B14F-4D97-AF65-F5344CB8AC3E}">
        <p14:creationId xmlns:p14="http://schemas.microsoft.com/office/powerpoint/2010/main" val="2232773635"/>
      </p:ext>
    </p:extLst>
  </p:cSld>
  <p:clrMapOvr>
    <a:masterClrMapping/>
  </p:clrMapOvr>
  <p:transition spd="slow">
    <p:wip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Lesson_Progress">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36000" cy="748800"/>
          </a:xfrm>
          <a:prstGeom prst="rect">
            <a:avLst/>
          </a:prstGeom>
          <a:noFill/>
        </p:spPr>
        <p:txBody>
          <a:bodyPr wrap="square" rtlCol="0">
            <a:spAutoFit/>
          </a:bodyPr>
          <a:lstStyle/>
          <a:p>
            <a:r>
              <a:rPr lang="en-CA" sz="3600" b="0" dirty="0" smtClean="0">
                <a:solidFill>
                  <a:schemeClr val="tx1"/>
                </a:solidFill>
                <a:latin typeface="+mj-lt"/>
              </a:rPr>
              <a:t>Lesson Progress</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66400" y="1346400"/>
            <a:ext cx="11386800" cy="47088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64794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Review">
    <p:bg>
      <p:bgPr>
        <a:solidFill>
          <a:srgbClr val="F0F0F0"/>
        </a:solidFill>
        <a:effectLst/>
      </p:bgPr>
    </p:bg>
    <p:spTree>
      <p:nvGrpSpPr>
        <p:cNvPr id="1" name=""/>
        <p:cNvGrpSpPr/>
        <p:nvPr/>
      </p:nvGrpSpPr>
      <p:grpSpPr>
        <a:xfrm>
          <a:off x="0" y="0"/>
          <a:ext cx="0" cy="0"/>
          <a:chOff x="0" y="0"/>
          <a:chExt cx="0" cy="0"/>
        </a:xfrm>
      </p:grpSpPr>
      <p:sp>
        <p:nvSpPr>
          <p:cNvPr id="5" name="Text Placeholder 2"/>
          <p:cNvSpPr>
            <a:spLocks noGrp="1"/>
          </p:cNvSpPr>
          <p:nvPr>
            <p:ph type="body" idx="1" hasCustomPrompt="1"/>
          </p:nvPr>
        </p:nvSpPr>
        <p:spPr>
          <a:xfrm>
            <a:off x="266400" y="975600"/>
            <a:ext cx="11394000" cy="5338800"/>
          </a:xfrm>
          <a:prstGeom prst="rect">
            <a:avLst/>
          </a:prstGeom>
        </p:spPr>
        <p:txBody>
          <a:bodyPr anchor="t" anchorCtr="0"/>
          <a:lstStyle>
            <a:lvl1pPr marL="457200" indent="-457200" algn="l">
              <a:buClr>
                <a:srgbClr val="00B050"/>
              </a:buClr>
              <a:buFont typeface="Wingdings" panose="05000000000000000000" pitchFamily="2" charset="2"/>
              <a:buChar char="ü"/>
              <a:defRPr sz="2700" baseline="0">
                <a:solidFill>
                  <a:schemeClr val="tx1"/>
                </a:solidFill>
              </a:defRPr>
            </a:lvl1pPr>
            <a:lvl2pPr marL="457120" indent="0">
              <a:buNone/>
              <a:defRPr sz="1800">
                <a:solidFill>
                  <a:schemeClr val="tx1">
                    <a:tint val="75000"/>
                  </a:schemeClr>
                </a:solidFill>
              </a:defRPr>
            </a:lvl2pPr>
            <a:lvl3pPr marL="914240" indent="0">
              <a:buNone/>
              <a:defRPr sz="1600">
                <a:solidFill>
                  <a:schemeClr val="tx1">
                    <a:tint val="75000"/>
                  </a:schemeClr>
                </a:solidFill>
              </a:defRPr>
            </a:lvl3pPr>
            <a:lvl4pPr marL="1371360" indent="0">
              <a:buNone/>
              <a:defRPr sz="1400">
                <a:solidFill>
                  <a:schemeClr val="tx1">
                    <a:tint val="75000"/>
                  </a:schemeClr>
                </a:solidFill>
              </a:defRPr>
            </a:lvl4pPr>
            <a:lvl5pPr marL="1828480" indent="0">
              <a:buNone/>
              <a:defRPr sz="1400">
                <a:solidFill>
                  <a:schemeClr val="tx1">
                    <a:tint val="75000"/>
                  </a:schemeClr>
                </a:solidFill>
              </a:defRPr>
            </a:lvl5pPr>
            <a:lvl6pPr marL="2285600" indent="0">
              <a:buNone/>
              <a:defRPr sz="1400">
                <a:solidFill>
                  <a:schemeClr val="tx1">
                    <a:tint val="75000"/>
                  </a:schemeClr>
                </a:solidFill>
              </a:defRPr>
            </a:lvl6pPr>
            <a:lvl7pPr marL="2742720" indent="0">
              <a:buNone/>
              <a:defRPr sz="1400">
                <a:solidFill>
                  <a:schemeClr val="tx1">
                    <a:tint val="75000"/>
                  </a:schemeClr>
                </a:solidFill>
              </a:defRPr>
            </a:lvl7pPr>
            <a:lvl8pPr marL="3199840" indent="0">
              <a:buNone/>
              <a:defRPr sz="1400">
                <a:solidFill>
                  <a:schemeClr val="tx1">
                    <a:tint val="75000"/>
                  </a:schemeClr>
                </a:solidFill>
              </a:defRPr>
            </a:lvl8pPr>
            <a:lvl9pPr marL="3656960" indent="0">
              <a:buNone/>
              <a:defRPr sz="1400">
                <a:solidFill>
                  <a:schemeClr val="tx1">
                    <a:tint val="75000"/>
                  </a:schemeClr>
                </a:solidFill>
              </a:defRPr>
            </a:lvl9pPr>
          </a:lstStyle>
          <a:p>
            <a:pPr lvl="0"/>
            <a:r>
              <a:rPr lang="en-US" dirty="0" smtClean="0"/>
              <a:t>[text]</a:t>
            </a:r>
          </a:p>
        </p:txBody>
      </p:sp>
      <p:sp>
        <p:nvSpPr>
          <p:cNvPr id="6" name="TextBox 5"/>
          <p:cNvSpPr txBox="1"/>
          <p:nvPr/>
        </p:nvSpPr>
        <p:spPr>
          <a:xfrm>
            <a:off x="266400" y="273600"/>
            <a:ext cx="10836000" cy="646331"/>
          </a:xfrm>
          <a:prstGeom prst="rect">
            <a:avLst/>
          </a:prstGeom>
          <a:noFill/>
        </p:spPr>
        <p:txBody>
          <a:bodyPr wrap="square" rtlCol="0">
            <a:spAutoFit/>
          </a:bodyPr>
          <a:lstStyle/>
          <a:p>
            <a:r>
              <a:rPr lang="en-CA" sz="3600" b="0" dirty="0" smtClean="0">
                <a:solidFill>
                  <a:schemeClr val="tx1"/>
                </a:solidFill>
                <a:latin typeface="+mj-lt"/>
              </a:rPr>
              <a:t>Review</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37213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3719" y="0"/>
            <a:ext cx="975106" cy="225084"/>
          </a:xfrm>
          <a:prstGeom prst="rect">
            <a:avLst/>
          </a:prstGeom>
        </p:spPr>
      </p:pic>
      <p:pic>
        <p:nvPicPr>
          <p:cNvPr id="7" name="Picture 6">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2182" y="3128211"/>
            <a:ext cx="3624462" cy="414848"/>
          </a:xfrm>
          <a:prstGeom prst="rect">
            <a:avLst/>
          </a:prstGeom>
        </p:spPr>
      </p:pic>
      <p:pic>
        <p:nvPicPr>
          <p:cNvPr id="5" name="Picture 4">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6" name="Picture 5">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3303" y="3128212"/>
            <a:ext cx="3625407" cy="414848"/>
          </a:xfrm>
          <a:prstGeom prst="rect">
            <a:avLst/>
          </a:prstGeom>
        </p:spPr>
      </p:pic>
    </p:spTree>
    <p:extLst>
      <p:ext uri="{BB962C8B-B14F-4D97-AF65-F5344CB8AC3E}">
        <p14:creationId xmlns:p14="http://schemas.microsoft.com/office/powerpoint/2010/main" val="635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4104">
          <p15:clr>
            <a:srgbClr val="FBAE40"/>
          </p15:clr>
        </p15:guide>
        <p15:guide id="2" pos="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3719" y="0"/>
            <a:ext cx="975106" cy="225084"/>
          </a:xfrm>
          <a:prstGeom prst="rect">
            <a:avLst/>
          </a:prstGeom>
        </p:spPr>
      </p:pic>
      <p:sp>
        <p:nvSpPr>
          <p:cNvPr id="8"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10" name="TextBox 9">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11" name="Picture 10">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6640" y="1"/>
            <a:ext cx="975360" cy="225084"/>
          </a:xfrm>
          <a:prstGeom prst="rect">
            <a:avLst/>
          </a:prstGeom>
        </p:spPr>
      </p:pic>
      <p:sp>
        <p:nvSpPr>
          <p:cNvPr id="13" name="Text Placeholder 11"/>
          <p:cNvSpPr>
            <a:spLocks noGrp="1"/>
          </p:cNvSpPr>
          <p:nvPr>
            <p:ph type="body" idx="1"/>
          </p:nvPr>
        </p:nvSpPr>
        <p:spPr>
          <a:xfrm>
            <a:off x="266400" y="972000"/>
            <a:ext cx="11394000" cy="533520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pic>
        <p:nvPicPr>
          <p:cNvPr id="9" name="Picture 8"/>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632741870"/>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F0000"/>
        </a:buClr>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Clr>
          <a:srgbClr val="FF0000"/>
        </a:buClr>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Clr>
          <a:srgbClr val="FF0000"/>
        </a:buClr>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pos="216">
          <p15:clr>
            <a:srgbClr val="5ACBF0"/>
          </p15:clr>
        </p15:guide>
        <p15:guide id="4" pos="7464">
          <p15:clr>
            <a:srgbClr val="5ACBF0"/>
          </p15:clr>
        </p15:guide>
        <p15:guide id="37" pos="3840" userDrawn="1">
          <p15:clr>
            <a:srgbClr val="5ACBF0"/>
          </p15:clr>
        </p15:guide>
        <p15:guide id="38" orient="horz" pos="2160" userDrawn="1">
          <p15:clr>
            <a:srgbClr val="5ACBF0"/>
          </p15:clr>
        </p15:guide>
        <p15:guide id="39" pos="456" userDrawn="1">
          <p15:clr>
            <a:srgbClr val="5ACBF0"/>
          </p15:clr>
        </p15:guide>
        <p15:guide id="40" pos="7224" userDrawn="1">
          <p15:clr>
            <a:srgbClr val="5ACBF0"/>
          </p15:clr>
        </p15:guide>
        <p15:guide id="41" orient="horz" pos="840" userDrawn="1">
          <p15:clr>
            <a:srgbClr val="5ACBF0"/>
          </p15:clr>
        </p15:guide>
        <p15:guide id="42" orient="horz" pos="1864" userDrawn="1">
          <p15:clr>
            <a:srgbClr val="5ACBF0"/>
          </p15:clr>
        </p15:guide>
        <p15:guide id="43" orient="horz" pos="2886" userDrawn="1">
          <p15:clr>
            <a:srgbClr val="5ACBF0"/>
          </p15:clr>
        </p15:guide>
        <p15:guide id="44" orient="horz" pos="3893" userDrawn="1">
          <p15:clr>
            <a:srgbClr val="5ACBF0"/>
          </p15:clr>
        </p15:guide>
        <p15:guide id="45" pos="1498" userDrawn="1">
          <p15:clr>
            <a:srgbClr val="5ACBF0"/>
          </p15:clr>
        </p15:guide>
        <p15:guide id="46" pos="1600" userDrawn="1">
          <p15:clr>
            <a:srgbClr val="5ACBF0"/>
          </p15:clr>
        </p15:guide>
        <p15:guide id="47" pos="2644" userDrawn="1">
          <p15:clr>
            <a:srgbClr val="5ACBF0"/>
          </p15:clr>
        </p15:guide>
        <p15:guide id="48" pos="2747" userDrawn="1">
          <p15:clr>
            <a:srgbClr val="5ACBF0"/>
          </p15:clr>
        </p15:guide>
        <p15:guide id="49" pos="3792" userDrawn="1">
          <p15:clr>
            <a:srgbClr val="5ACBF0"/>
          </p15:clr>
        </p15:guide>
        <p15:guide id="50" pos="3888" userDrawn="1">
          <p15:clr>
            <a:srgbClr val="5ACBF0"/>
          </p15:clr>
        </p15:guide>
        <p15:guide id="51" pos="4934" userDrawn="1">
          <p15:clr>
            <a:srgbClr val="5ACBF0"/>
          </p15:clr>
        </p15:guide>
        <p15:guide id="52" pos="5034" userDrawn="1">
          <p15:clr>
            <a:srgbClr val="5ACBF0"/>
          </p15:clr>
        </p15:guide>
        <p15:guide id="53" pos="6081" userDrawn="1">
          <p15:clr>
            <a:srgbClr val="5ACBF0"/>
          </p15:clr>
        </p15:guide>
        <p15:guide id="54" pos="618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0.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2.xml"/><Relationship Id="rId1" Type="http://schemas.openxmlformats.org/officeDocument/2006/relationships/tags" Target="../tags/tag7.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6.xml"/><Relationship Id="rId1" Type="http://schemas.openxmlformats.org/officeDocument/2006/relationships/tags" Target="../tags/tag8.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8.xml"/><Relationship Id="rId7" Type="http://schemas.openxmlformats.org/officeDocument/2006/relationships/diagramColors" Target="../diagrams/colors2.xml"/><Relationship Id="rId2" Type="http://schemas.openxmlformats.org/officeDocument/2006/relationships/slideLayout" Target="../slideLayouts/slideLayout27.xml"/><Relationship Id="rId1" Type="http://schemas.openxmlformats.org/officeDocument/2006/relationships/tags" Target="../tags/tag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6.xml"/><Relationship Id="rId1" Type="http://schemas.openxmlformats.org/officeDocument/2006/relationships/tags" Target="../tags/tag14.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14.xml"/><Relationship Id="rId7" Type="http://schemas.openxmlformats.org/officeDocument/2006/relationships/diagramColors" Target="../diagrams/colors3.xml"/><Relationship Id="rId2" Type="http://schemas.openxmlformats.org/officeDocument/2006/relationships/slideLayout" Target="../slideLayouts/slideLayout27.xml"/><Relationship Id="rId1" Type="http://schemas.openxmlformats.org/officeDocument/2006/relationships/tags" Target="../tags/tag1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36.png"/><Relationship Id="rId2" Type="http://schemas.openxmlformats.org/officeDocument/2006/relationships/slideLayout" Target="../slideLayouts/slideLayout14.xml"/><Relationship Id="rId1" Type="http://schemas.openxmlformats.org/officeDocument/2006/relationships/tags" Target="../tags/tag1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18.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tags" Target="../tags/tag19.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5.xml"/><Relationship Id="rId1" Type="http://schemas.openxmlformats.org/officeDocument/2006/relationships/tags" Target="../tags/tag20.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39.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44.png"/><Relationship Id="rId2" Type="http://schemas.openxmlformats.org/officeDocument/2006/relationships/slideLayout" Target="../slideLayouts/slideLayout15.xml"/><Relationship Id="rId1" Type="http://schemas.openxmlformats.org/officeDocument/2006/relationships/tags" Target="../tags/tag22.xml"/><Relationship Id="rId6" Type="http://schemas.openxmlformats.org/officeDocument/2006/relationships/image" Target="../media/image43.png"/><Relationship Id="rId5" Type="http://schemas.openxmlformats.org/officeDocument/2006/relationships/image" Target="../media/image39.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6.xml"/><Relationship Id="rId1" Type="http://schemas.openxmlformats.org/officeDocument/2006/relationships/tags" Target="../tags/tag2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6.xml"/><Relationship Id="rId1" Type="http://schemas.openxmlformats.org/officeDocument/2006/relationships/tags" Target="../tags/tag25.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6.xml"/><Relationship Id="rId1" Type="http://schemas.openxmlformats.org/officeDocument/2006/relationships/tags" Target="../tags/tag26.xml"/><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8.xml"/><Relationship Id="rId1" Type="http://schemas.openxmlformats.org/officeDocument/2006/relationships/tags" Target="../tags/tag27.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5.xml"/><Relationship Id="rId1" Type="http://schemas.openxmlformats.org/officeDocument/2006/relationships/tags" Target="../tags/tag28.xml"/><Relationship Id="rId5" Type="http://schemas.openxmlformats.org/officeDocument/2006/relationships/image" Target="../media/image54.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5.xml"/><Relationship Id="rId1" Type="http://schemas.openxmlformats.org/officeDocument/2006/relationships/tags" Target="../tags/tag29.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8.xml"/><Relationship Id="rId1" Type="http://schemas.openxmlformats.org/officeDocument/2006/relationships/tags" Target="../tags/tag30.xml"/><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tags" Target="../tags/tag3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5.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6.xml"/><Relationship Id="rId1" Type="http://schemas.openxmlformats.org/officeDocument/2006/relationships/tags" Target="../tags/tag33.xml"/><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34.xml"/><Relationship Id="rId7" Type="http://schemas.openxmlformats.org/officeDocument/2006/relationships/diagramColors" Target="../diagrams/colors4.xml"/><Relationship Id="rId2" Type="http://schemas.openxmlformats.org/officeDocument/2006/relationships/slideLayout" Target="../slideLayouts/slideLayout27.xml"/><Relationship Id="rId1" Type="http://schemas.openxmlformats.org/officeDocument/2006/relationships/tags" Target="../tags/tag3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5.xml"/><Relationship Id="rId1" Type="http://schemas.openxmlformats.org/officeDocument/2006/relationships/tags" Target="../tags/tag3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5.xml"/><Relationship Id="rId1" Type="http://schemas.openxmlformats.org/officeDocument/2006/relationships/tags" Target="../tags/tag37.xml"/><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6.xml"/><Relationship Id="rId1" Type="http://schemas.openxmlformats.org/officeDocument/2006/relationships/tags" Target="../tags/tag38.xml"/><Relationship Id="rId5" Type="http://schemas.openxmlformats.org/officeDocument/2006/relationships/image" Target="../media/image67.png"/><Relationship Id="rId4" Type="http://schemas.openxmlformats.org/officeDocument/2006/relationships/image" Target="../media/image6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6.xml"/><Relationship Id="rId1" Type="http://schemas.openxmlformats.org/officeDocument/2006/relationships/tags" Target="../tags/tag39.xml"/><Relationship Id="rId5" Type="http://schemas.openxmlformats.org/officeDocument/2006/relationships/image" Target="../media/image25.png"/><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41.xml"/><Relationship Id="rId7" Type="http://schemas.openxmlformats.org/officeDocument/2006/relationships/diagramColors" Target="../diagrams/colors5.xml"/><Relationship Id="rId2" Type="http://schemas.openxmlformats.org/officeDocument/2006/relationships/slideLayout" Target="../slideLayouts/slideLayout27.xml"/><Relationship Id="rId1" Type="http://schemas.openxmlformats.org/officeDocument/2006/relationships/tags" Target="../tags/tag4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8.xml"/><Relationship Id="rId1"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97113" y="3726591"/>
            <a:ext cx="7596188" cy="830123"/>
          </a:xfrm>
        </p:spPr>
        <p:txBody>
          <a:bodyPr/>
          <a:lstStyle/>
          <a:p>
            <a:r>
              <a:rPr lang="en-CA" dirty="0"/>
              <a:t>Introduction and Initial Configuration</a:t>
            </a:r>
          </a:p>
        </p:txBody>
      </p:sp>
      <p:sp>
        <p:nvSpPr>
          <p:cNvPr id="4" name="Title 3"/>
          <p:cNvSpPr>
            <a:spLocks noGrp="1"/>
          </p:cNvSpPr>
          <p:nvPr>
            <p:ph type="ctrTitle"/>
          </p:nvPr>
        </p:nvSpPr>
        <p:spPr/>
        <p:txBody>
          <a:bodyPr/>
          <a:lstStyle/>
          <a:p>
            <a:r>
              <a:rPr lang="en-CA" dirty="0"/>
              <a:t>FortiGate Security</a:t>
            </a:r>
          </a:p>
        </p:txBody>
      </p:sp>
      <p:sp>
        <p:nvSpPr>
          <p:cNvPr id="6" name="Text Placeholder 5"/>
          <p:cNvSpPr>
            <a:spLocks noGrp="1"/>
          </p:cNvSpPr>
          <p:nvPr>
            <p:ph type="body" sz="quarter" idx="10"/>
          </p:nvPr>
        </p:nvSpPr>
        <p:spPr/>
        <p:txBody>
          <a:bodyPr>
            <a:normAutofit/>
          </a:bodyPr>
          <a:lstStyle/>
          <a:p>
            <a:r>
              <a:rPr lang="en-CA" dirty="0" err="1"/>
              <a:t>FortiOS</a:t>
            </a:r>
            <a:r>
              <a:rPr lang="en-CA" dirty="0"/>
              <a:t> </a:t>
            </a:r>
            <a:r>
              <a:rPr lang="en-CA" dirty="0" smtClean="0"/>
              <a:t>7.2</a:t>
            </a:r>
            <a:endParaRPr lang="en-CA" dirty="0"/>
          </a:p>
        </p:txBody>
      </p:sp>
    </p:spTree>
    <p:custDataLst>
      <p:tags r:id="rId1"/>
    </p:custDataLst>
    <p:extLst>
      <p:ext uri="{BB962C8B-B14F-4D97-AF65-F5344CB8AC3E}">
        <p14:creationId xmlns:p14="http://schemas.microsoft.com/office/powerpoint/2010/main" val="3794370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3947835759"/>
              </p:ext>
            </p:extLst>
          </p:nvPr>
        </p:nvGraphicFramePr>
        <p:xfrm>
          <a:off x="273050" y="1347788"/>
          <a:ext cx="11387138" cy="49672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82793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High-Level Features</a:t>
            </a:r>
          </a:p>
        </p:txBody>
      </p:sp>
      <p:sp>
        <p:nvSpPr>
          <p:cNvPr id="3" name="Text Placeholder 2"/>
          <p:cNvSpPr>
            <a:spLocks noGrp="1"/>
          </p:cNvSpPr>
          <p:nvPr>
            <p:ph type="body" sz="quarter" idx="11"/>
          </p:nvPr>
        </p:nvSpPr>
        <p:spPr/>
        <p:txBody>
          <a:bodyPr/>
          <a:lstStyle/>
          <a:p>
            <a:r>
              <a:rPr lang="en-CA" dirty="0"/>
              <a:t>Identify </a:t>
            </a:r>
            <a:r>
              <a:rPr lang="en-CA" dirty="0" smtClean="0"/>
              <a:t>the platform </a:t>
            </a:r>
            <a:r>
              <a:rPr lang="en-CA" dirty="0"/>
              <a:t>design features of FortiGate</a:t>
            </a:r>
          </a:p>
          <a:p>
            <a:r>
              <a:rPr lang="en-CA" dirty="0"/>
              <a:t>Identify features of FortiGate in virtualized networks and the cloud</a:t>
            </a:r>
          </a:p>
          <a:p>
            <a:r>
              <a:rPr lang="en-CA" dirty="0"/>
              <a:t>Understand </a:t>
            </a:r>
            <a:r>
              <a:rPr lang="en-CA" dirty="0" err="1"/>
              <a:t>FortiGate</a:t>
            </a:r>
            <a:r>
              <a:rPr lang="en-CA" dirty="0"/>
              <a:t> security processing units (SPU)</a:t>
            </a:r>
            <a:endParaRPr lang="en-CA" i="1" dirty="0"/>
          </a:p>
        </p:txBody>
      </p:sp>
    </p:spTree>
    <p:custDataLst>
      <p:tags r:id="rId1"/>
    </p:custDataLst>
    <p:extLst>
      <p:ext uri="{BB962C8B-B14F-4D97-AF65-F5344CB8AC3E}">
        <p14:creationId xmlns:p14="http://schemas.microsoft.com/office/powerpoint/2010/main" val="97147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Modern Context of Network Security</a:t>
            </a:r>
          </a:p>
        </p:txBody>
      </p:sp>
      <p:sp>
        <p:nvSpPr>
          <p:cNvPr id="3" name="Content Placeholder 2"/>
          <p:cNvSpPr>
            <a:spLocks noGrp="1"/>
          </p:cNvSpPr>
          <p:nvPr>
            <p:ph idx="1"/>
          </p:nvPr>
        </p:nvSpPr>
        <p:spPr/>
        <p:txBody>
          <a:bodyPr/>
          <a:lstStyle/>
          <a:p>
            <a:r>
              <a:rPr lang="en-CA" dirty="0"/>
              <a:t>Firewalls are more than gatekeepers on the network perimeter</a:t>
            </a:r>
          </a:p>
          <a:p>
            <a:r>
              <a:rPr lang="en-CA" dirty="0"/>
              <a:t>Today’s firewalls are designed in response to </a:t>
            </a:r>
            <a:r>
              <a:rPr lang="en-CA" dirty="0" smtClean="0"/>
              <a:t>multifaceted </a:t>
            </a:r>
            <a:r>
              <a:rPr lang="en-CA" dirty="0"/>
              <a:t>and </a:t>
            </a:r>
            <a:r>
              <a:rPr lang="en-CA" dirty="0" err="1" smtClean="0"/>
              <a:t>multidevice</a:t>
            </a:r>
            <a:r>
              <a:rPr lang="en-CA" dirty="0" smtClean="0"/>
              <a:t> </a:t>
            </a:r>
            <a:r>
              <a:rPr lang="en-CA" dirty="0"/>
              <a:t>environments with no identifiable perimeter:</a:t>
            </a:r>
          </a:p>
          <a:p>
            <a:pPr lvl="1"/>
            <a:r>
              <a:rPr lang="en-CA" dirty="0"/>
              <a:t>Mobile workforce</a:t>
            </a:r>
          </a:p>
          <a:p>
            <a:pPr lvl="1"/>
            <a:r>
              <a:rPr lang="en-CA" dirty="0"/>
              <a:t>Partners accessing your network services</a:t>
            </a:r>
          </a:p>
          <a:p>
            <a:pPr lvl="1"/>
            <a:r>
              <a:rPr lang="en-CA" dirty="0"/>
              <a:t>Public and private clouds</a:t>
            </a:r>
          </a:p>
          <a:p>
            <a:pPr lvl="1"/>
            <a:r>
              <a:rPr lang="en-CA" dirty="0"/>
              <a:t>Internet of things (IoT)</a:t>
            </a:r>
          </a:p>
          <a:p>
            <a:pPr lvl="1"/>
            <a:r>
              <a:rPr lang="en-CA" dirty="0"/>
              <a:t>Bring your own device (BYOD)</a:t>
            </a:r>
          </a:p>
          <a:p>
            <a:r>
              <a:rPr lang="en-CA" dirty="0"/>
              <a:t>Firewalls are expected to perform different functions within a network</a:t>
            </a:r>
          </a:p>
          <a:p>
            <a:pPr lvl="1"/>
            <a:r>
              <a:rPr lang="en-CA" dirty="0"/>
              <a:t>Different deployment modes:</a:t>
            </a:r>
          </a:p>
          <a:p>
            <a:pPr lvl="2"/>
            <a:r>
              <a:rPr lang="en-CA" dirty="0"/>
              <a:t>Distributed enterprise firewall</a:t>
            </a:r>
          </a:p>
          <a:p>
            <a:pPr lvl="2"/>
            <a:r>
              <a:rPr lang="en-CA" dirty="0"/>
              <a:t>Next-generation firewall</a:t>
            </a:r>
          </a:p>
          <a:p>
            <a:pPr lvl="2"/>
            <a:r>
              <a:rPr lang="en-CA" dirty="0"/>
              <a:t>Internal segmentation firewall</a:t>
            </a:r>
          </a:p>
          <a:p>
            <a:pPr lvl="2"/>
            <a:r>
              <a:rPr lang="en-CA" dirty="0"/>
              <a:t>Data center firewall</a:t>
            </a:r>
          </a:p>
          <a:p>
            <a:pPr lvl="1"/>
            <a:r>
              <a:rPr lang="en-CA" dirty="0"/>
              <a:t>DNS, DHCP, web filter, intrusion prevention system (IPS), and so on</a:t>
            </a:r>
          </a:p>
          <a:p>
            <a:endParaRPr lang="en-CA" dirty="0"/>
          </a:p>
        </p:txBody>
      </p:sp>
    </p:spTree>
    <p:custDataLst>
      <p:tags r:id="rId1"/>
    </p:custDataLst>
    <p:extLst>
      <p:ext uri="{BB962C8B-B14F-4D97-AF65-F5344CB8AC3E}">
        <p14:creationId xmlns:p14="http://schemas.microsoft.com/office/powerpoint/2010/main" val="164930222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1"/>
          <p:cNvSpPr/>
          <p:nvPr/>
        </p:nvSpPr>
        <p:spPr bwMode="auto">
          <a:xfrm>
            <a:off x="2407434" y="3695906"/>
            <a:ext cx="7277966" cy="1996745"/>
          </a:xfrm>
          <a:custGeom>
            <a:avLst/>
            <a:gdLst>
              <a:gd name="connsiteX0" fmla="*/ 0 w 5459896"/>
              <a:gd name="connsiteY0" fmla="*/ 92765 h 92765"/>
              <a:gd name="connsiteX1" fmla="*/ 5459896 w 5459896"/>
              <a:gd name="connsiteY1" fmla="*/ 0 h 92765"/>
              <a:gd name="connsiteX2" fmla="*/ 5459896 w 5459896"/>
              <a:gd name="connsiteY2" fmla="*/ 0 h 9276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77"/>
              <a:gd name="connsiteX1" fmla="*/ 2796209 w 5459896"/>
              <a:gd name="connsiteY1" fmla="*/ 1484243 h 1484277"/>
              <a:gd name="connsiteX2" fmla="*/ 5459896 w 5459896"/>
              <a:gd name="connsiteY2" fmla="*/ 0 h 1484277"/>
              <a:gd name="connsiteX3" fmla="*/ 5459896 w 5459896"/>
              <a:gd name="connsiteY3" fmla="*/ 0 h 1484277"/>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5459896"/>
              <a:gd name="connsiteY0" fmla="*/ 92765 h 1497559"/>
              <a:gd name="connsiteX1" fmla="*/ 3061252 w 5459896"/>
              <a:gd name="connsiteY1" fmla="*/ 1497495 h 1497559"/>
              <a:gd name="connsiteX2" fmla="*/ 5459896 w 5459896"/>
              <a:gd name="connsiteY2" fmla="*/ 0 h 1497559"/>
              <a:gd name="connsiteX3" fmla="*/ 5459896 w 5459896"/>
              <a:gd name="connsiteY3" fmla="*/ 0 h 1497559"/>
            </a:gdLst>
            <a:ahLst/>
            <a:cxnLst>
              <a:cxn ang="0">
                <a:pos x="connsiteX0" y="connsiteY0"/>
              </a:cxn>
              <a:cxn ang="0">
                <a:pos x="connsiteX1" y="connsiteY1"/>
              </a:cxn>
              <a:cxn ang="0">
                <a:pos x="connsiteX2" y="connsiteY2"/>
              </a:cxn>
              <a:cxn ang="0">
                <a:pos x="connsiteX3" y="connsiteY3"/>
              </a:cxn>
            </a:cxnLst>
            <a:rect l="l" t="t" r="r" b="b"/>
            <a:pathLst>
              <a:path w="5459896" h="1497559">
                <a:moveTo>
                  <a:pt x="0" y="92765"/>
                </a:moveTo>
                <a:cubicBezTo>
                  <a:pt x="30922" y="1281043"/>
                  <a:pt x="516833" y="1501913"/>
                  <a:pt x="3061252" y="1497495"/>
                </a:cubicBezTo>
                <a:cubicBezTo>
                  <a:pt x="5605671" y="1493077"/>
                  <a:pt x="5431183" y="1057965"/>
                  <a:pt x="5459896" y="0"/>
                </a:cubicBezTo>
                <a:lnTo>
                  <a:pt x="5459896" y="0"/>
                </a:lnTo>
              </a:path>
            </a:pathLst>
          </a:custGeom>
          <a:no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txBody>
          <a:bodyPr lIns="121899" tIns="60949" rIns="121899" bIns="60949" rtlCol="0" anchor="ctr"/>
          <a:lstStyle/>
          <a:p>
            <a:pPr algn="ctr"/>
            <a:endParaRPr lang="en-US"/>
          </a:p>
        </p:txBody>
      </p:sp>
      <p:sp>
        <p:nvSpPr>
          <p:cNvPr id="35" name="Freeform 34"/>
          <p:cNvSpPr/>
          <p:nvPr/>
        </p:nvSpPr>
        <p:spPr bwMode="auto">
          <a:xfrm>
            <a:off x="2407434" y="3042097"/>
            <a:ext cx="9188984" cy="2837323"/>
          </a:xfrm>
          <a:custGeom>
            <a:avLst/>
            <a:gdLst>
              <a:gd name="connsiteX0" fmla="*/ 0 w 5459896"/>
              <a:gd name="connsiteY0" fmla="*/ 92765 h 92765"/>
              <a:gd name="connsiteX1" fmla="*/ 5459896 w 5459896"/>
              <a:gd name="connsiteY1" fmla="*/ 0 h 92765"/>
              <a:gd name="connsiteX2" fmla="*/ 5459896 w 5459896"/>
              <a:gd name="connsiteY2" fmla="*/ 0 h 9276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6209916"/>
              <a:gd name="connsiteY0" fmla="*/ 873932 h 2265410"/>
              <a:gd name="connsiteX1" fmla="*/ 2796209 w 6209916"/>
              <a:gd name="connsiteY1" fmla="*/ 2265410 h 2265410"/>
              <a:gd name="connsiteX2" fmla="*/ 5459896 w 6209916"/>
              <a:gd name="connsiteY2" fmla="*/ 781167 h 2265410"/>
              <a:gd name="connsiteX3" fmla="*/ 6209916 w 6209916"/>
              <a:gd name="connsiteY3" fmla="*/ 0 h 2265410"/>
              <a:gd name="connsiteX0" fmla="*/ 0 w 6209916"/>
              <a:gd name="connsiteY0" fmla="*/ 873932 h 2265410"/>
              <a:gd name="connsiteX1" fmla="*/ 2796209 w 6209916"/>
              <a:gd name="connsiteY1" fmla="*/ 2265410 h 2265410"/>
              <a:gd name="connsiteX2" fmla="*/ 6209916 w 6209916"/>
              <a:gd name="connsiteY2" fmla="*/ 0 h 2265410"/>
              <a:gd name="connsiteX0" fmla="*/ 0 w 6210127"/>
              <a:gd name="connsiteY0" fmla="*/ 873932 h 2265410"/>
              <a:gd name="connsiteX1" fmla="*/ 2796209 w 6210127"/>
              <a:gd name="connsiteY1" fmla="*/ 2265410 h 2265410"/>
              <a:gd name="connsiteX2" fmla="*/ 6209916 w 6210127"/>
              <a:gd name="connsiteY2" fmla="*/ 0 h 2265410"/>
              <a:gd name="connsiteX0" fmla="*/ 0 w 6210378"/>
              <a:gd name="connsiteY0" fmla="*/ 873932 h 2265410"/>
              <a:gd name="connsiteX1" fmla="*/ 2796209 w 6210378"/>
              <a:gd name="connsiteY1" fmla="*/ 2265410 h 2265410"/>
              <a:gd name="connsiteX2" fmla="*/ 6209916 w 6210378"/>
              <a:gd name="connsiteY2" fmla="*/ 0 h 2265410"/>
              <a:gd name="connsiteX0" fmla="*/ 0 w 6428222"/>
              <a:gd name="connsiteY0" fmla="*/ 873932 h 2265410"/>
              <a:gd name="connsiteX1" fmla="*/ 2796209 w 6428222"/>
              <a:gd name="connsiteY1" fmla="*/ 2265410 h 2265410"/>
              <a:gd name="connsiteX2" fmla="*/ 6209916 w 6428222"/>
              <a:gd name="connsiteY2" fmla="*/ 0 h 2265410"/>
              <a:gd name="connsiteX0" fmla="*/ 0 w 6449799"/>
              <a:gd name="connsiteY0" fmla="*/ 873932 h 2265410"/>
              <a:gd name="connsiteX1" fmla="*/ 3190288 w 6449799"/>
              <a:gd name="connsiteY1" fmla="*/ 2265410 h 2265410"/>
              <a:gd name="connsiteX2" fmla="*/ 6209916 w 6449799"/>
              <a:gd name="connsiteY2" fmla="*/ 0 h 2265410"/>
              <a:gd name="connsiteX0" fmla="*/ 0 w 6528876"/>
              <a:gd name="connsiteY0" fmla="*/ 873932 h 2265937"/>
              <a:gd name="connsiteX1" fmla="*/ 3190288 w 6528876"/>
              <a:gd name="connsiteY1" fmla="*/ 2265410 h 2265937"/>
              <a:gd name="connsiteX2" fmla="*/ 6209916 w 6528876"/>
              <a:gd name="connsiteY2" fmla="*/ 0 h 2265937"/>
              <a:gd name="connsiteX0" fmla="*/ 0 w 6527597"/>
              <a:gd name="connsiteY0" fmla="*/ 873932 h 2209200"/>
              <a:gd name="connsiteX1" fmla="*/ 3177577 w 6527597"/>
              <a:gd name="connsiteY1" fmla="*/ 2208598 h 2209200"/>
              <a:gd name="connsiteX2" fmla="*/ 6209916 w 6527597"/>
              <a:gd name="connsiteY2" fmla="*/ 0 h 2209200"/>
              <a:gd name="connsiteX0" fmla="*/ 0 w 6449038"/>
              <a:gd name="connsiteY0" fmla="*/ 689292 h 2221599"/>
              <a:gd name="connsiteX1" fmla="*/ 3177577 w 6449038"/>
              <a:gd name="connsiteY1" fmla="*/ 2208598 h 2221599"/>
              <a:gd name="connsiteX2" fmla="*/ 6209916 w 6449038"/>
              <a:gd name="connsiteY2" fmla="*/ 0 h 2221599"/>
              <a:gd name="connsiteX0" fmla="*/ 0 w 6449038"/>
              <a:gd name="connsiteY0" fmla="*/ 689292 h 2235741"/>
              <a:gd name="connsiteX1" fmla="*/ 3177577 w 6449038"/>
              <a:gd name="connsiteY1" fmla="*/ 2208598 h 2235741"/>
              <a:gd name="connsiteX2" fmla="*/ 6209916 w 6449038"/>
              <a:gd name="connsiteY2" fmla="*/ 0 h 2235741"/>
              <a:gd name="connsiteX0" fmla="*/ 0 w 6449038"/>
              <a:gd name="connsiteY0" fmla="*/ 689292 h 2255872"/>
              <a:gd name="connsiteX1" fmla="*/ 3177577 w 6449038"/>
              <a:gd name="connsiteY1" fmla="*/ 2208598 h 2255872"/>
              <a:gd name="connsiteX2" fmla="*/ 6209916 w 6449038"/>
              <a:gd name="connsiteY2" fmla="*/ 0 h 2255872"/>
              <a:gd name="connsiteX0" fmla="*/ 0 w 6449038"/>
              <a:gd name="connsiteY0" fmla="*/ 689292 h 2239257"/>
              <a:gd name="connsiteX1" fmla="*/ 3177577 w 6449038"/>
              <a:gd name="connsiteY1" fmla="*/ 2208598 h 2239257"/>
              <a:gd name="connsiteX2" fmla="*/ 6209916 w 6449038"/>
              <a:gd name="connsiteY2" fmla="*/ 0 h 2239257"/>
              <a:gd name="connsiteX0" fmla="*/ 0 w 6449038"/>
              <a:gd name="connsiteY0" fmla="*/ 689292 h 2255872"/>
              <a:gd name="connsiteX1" fmla="*/ 3177577 w 6449038"/>
              <a:gd name="connsiteY1" fmla="*/ 2208598 h 2255872"/>
              <a:gd name="connsiteX2" fmla="*/ 6209916 w 6449038"/>
              <a:gd name="connsiteY2" fmla="*/ 0 h 2255872"/>
              <a:gd name="connsiteX0" fmla="*/ 0 w 6449038"/>
              <a:gd name="connsiteY0" fmla="*/ 689292 h 2268323"/>
              <a:gd name="connsiteX1" fmla="*/ 3177577 w 6449038"/>
              <a:gd name="connsiteY1" fmla="*/ 2222801 h 2268323"/>
              <a:gd name="connsiteX2" fmla="*/ 6209916 w 6449038"/>
              <a:gd name="connsiteY2" fmla="*/ 0 h 2268323"/>
              <a:gd name="connsiteX0" fmla="*/ 0 w 6461030"/>
              <a:gd name="connsiteY0" fmla="*/ 689292 h 2230708"/>
              <a:gd name="connsiteX1" fmla="*/ 3177577 w 6461030"/>
              <a:gd name="connsiteY1" fmla="*/ 2222801 h 2230708"/>
              <a:gd name="connsiteX2" fmla="*/ 6209916 w 6461030"/>
              <a:gd name="connsiteY2" fmla="*/ 0 h 2230708"/>
              <a:gd name="connsiteX0" fmla="*/ 0 w 6538509"/>
              <a:gd name="connsiteY0" fmla="*/ 689292 h 2226005"/>
              <a:gd name="connsiteX1" fmla="*/ 3177577 w 6538509"/>
              <a:gd name="connsiteY1" fmla="*/ 2222801 h 2226005"/>
              <a:gd name="connsiteX2" fmla="*/ 6209916 w 6538509"/>
              <a:gd name="connsiteY2" fmla="*/ 0 h 2226005"/>
              <a:gd name="connsiteX0" fmla="*/ 0 w 6376662"/>
              <a:gd name="connsiteY0" fmla="*/ 731902 h 2313772"/>
              <a:gd name="connsiteX1" fmla="*/ 3177577 w 6376662"/>
              <a:gd name="connsiteY1" fmla="*/ 2265411 h 2313772"/>
              <a:gd name="connsiteX2" fmla="*/ 6133643 w 6376662"/>
              <a:gd name="connsiteY2" fmla="*/ 0 h 2313772"/>
              <a:gd name="connsiteX0" fmla="*/ 0 w 6725192"/>
              <a:gd name="connsiteY0" fmla="*/ 731902 h 2313772"/>
              <a:gd name="connsiteX1" fmla="*/ 3177577 w 6725192"/>
              <a:gd name="connsiteY1" fmla="*/ 2265411 h 2313772"/>
              <a:gd name="connsiteX2" fmla="*/ 6133643 w 6725192"/>
              <a:gd name="connsiteY2" fmla="*/ 0 h 2313772"/>
              <a:gd name="connsiteX0" fmla="*/ 0 w 6722538"/>
              <a:gd name="connsiteY0" fmla="*/ 731902 h 2338843"/>
              <a:gd name="connsiteX1" fmla="*/ 3152153 w 6722538"/>
              <a:gd name="connsiteY1" fmla="*/ 2293817 h 2338843"/>
              <a:gd name="connsiteX2" fmla="*/ 6133643 w 6722538"/>
              <a:gd name="connsiteY2" fmla="*/ 0 h 2338843"/>
              <a:gd name="connsiteX0" fmla="*/ 0 w 6804420"/>
              <a:gd name="connsiteY0" fmla="*/ 731902 h 2296305"/>
              <a:gd name="connsiteX1" fmla="*/ 3152153 w 6804420"/>
              <a:gd name="connsiteY1" fmla="*/ 2293817 h 2296305"/>
              <a:gd name="connsiteX2" fmla="*/ 6133643 w 6804420"/>
              <a:gd name="connsiteY2" fmla="*/ 0 h 2296305"/>
              <a:gd name="connsiteX0" fmla="*/ 0 w 6699357"/>
              <a:gd name="connsiteY0" fmla="*/ 703496 h 2308586"/>
              <a:gd name="connsiteX1" fmla="*/ 3152153 w 6699357"/>
              <a:gd name="connsiteY1" fmla="*/ 2265411 h 2308586"/>
              <a:gd name="connsiteX2" fmla="*/ 6108218 w 6699357"/>
              <a:gd name="connsiteY2" fmla="*/ 0 h 2308586"/>
              <a:gd name="connsiteX0" fmla="*/ 0 w 6513737"/>
              <a:gd name="connsiteY0" fmla="*/ 703496 h 2308586"/>
              <a:gd name="connsiteX1" fmla="*/ 3152153 w 6513737"/>
              <a:gd name="connsiteY1" fmla="*/ 2265411 h 2308586"/>
              <a:gd name="connsiteX2" fmla="*/ 6108218 w 6513737"/>
              <a:gd name="connsiteY2" fmla="*/ 0 h 2308586"/>
              <a:gd name="connsiteX0" fmla="*/ 0 w 6517000"/>
              <a:gd name="connsiteY0" fmla="*/ 703496 h 2321254"/>
              <a:gd name="connsiteX1" fmla="*/ 3190290 w 6517000"/>
              <a:gd name="connsiteY1" fmla="*/ 2279614 h 2321254"/>
              <a:gd name="connsiteX2" fmla="*/ 6108218 w 6517000"/>
              <a:gd name="connsiteY2" fmla="*/ 0 h 2321254"/>
              <a:gd name="connsiteX0" fmla="*/ 0 w 6612655"/>
              <a:gd name="connsiteY0" fmla="*/ 703496 h 2280678"/>
              <a:gd name="connsiteX1" fmla="*/ 3190290 w 6612655"/>
              <a:gd name="connsiteY1" fmla="*/ 2279614 h 2280678"/>
              <a:gd name="connsiteX2" fmla="*/ 6108218 w 6612655"/>
              <a:gd name="connsiteY2" fmla="*/ 0 h 2280678"/>
            </a:gdLst>
            <a:ahLst/>
            <a:cxnLst>
              <a:cxn ang="0">
                <a:pos x="connsiteX0" y="connsiteY0"/>
              </a:cxn>
              <a:cxn ang="0">
                <a:pos x="connsiteX1" y="connsiteY1"/>
              </a:cxn>
              <a:cxn ang="0">
                <a:pos x="connsiteX2" y="connsiteY2"/>
              </a:cxn>
            </a:cxnLst>
            <a:rect l="l" t="t" r="r" b="b"/>
            <a:pathLst>
              <a:path w="6612655" h="2280678">
                <a:moveTo>
                  <a:pt x="0" y="703496"/>
                </a:moveTo>
                <a:cubicBezTo>
                  <a:pt x="43095" y="2375687"/>
                  <a:pt x="1180702" y="2254834"/>
                  <a:pt x="3190290" y="2279614"/>
                </a:cubicBezTo>
                <a:cubicBezTo>
                  <a:pt x="5199878" y="2304394"/>
                  <a:pt x="7697941" y="1906468"/>
                  <a:pt x="6108218" y="0"/>
                </a:cubicBezTo>
              </a:path>
            </a:pathLst>
          </a:custGeom>
          <a:no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txBody>
          <a:bodyPr lIns="121899" tIns="60949" rIns="121899" bIns="60949" rtlCol="0" anchor="ctr"/>
          <a:lstStyle/>
          <a:p>
            <a:pPr algn="ctr"/>
            <a:endParaRPr lang="en-US"/>
          </a:p>
        </p:txBody>
      </p:sp>
      <p:sp>
        <p:nvSpPr>
          <p:cNvPr id="16" name="Rectangle 6"/>
          <p:cNvSpPr>
            <a:spLocks noChangeArrowheads="1"/>
          </p:cNvSpPr>
          <p:nvPr/>
        </p:nvSpPr>
        <p:spPr bwMode="auto">
          <a:xfrm>
            <a:off x="942301" y="2786265"/>
            <a:ext cx="1819493" cy="642939"/>
          </a:xfrm>
          <a:prstGeom prst="rect">
            <a:avLst/>
          </a:prstGeom>
          <a:solidFill>
            <a:srgbClr val="92D050"/>
          </a:solid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rgbClr val="809C5A"/>
            </a:extrusionClr>
            <a:contourClr>
              <a:schemeClr val="tx2">
                <a:lumMod val="60000"/>
                <a:lumOff val="40000"/>
              </a:schemeClr>
            </a:contourClr>
          </a:sp3d>
        </p:spPr>
        <p:txBody>
          <a:bodyPr wrap="none" lIns="121899" tIns="60949" rIns="121899" bIns="60949" anchor="ctr">
            <a:flatTx/>
          </a:bodyPr>
          <a:lstStyle/>
          <a:p>
            <a:pPr algn="ctr"/>
            <a:r>
              <a:rPr lang="en-US" dirty="0">
                <a:solidFill>
                  <a:schemeClr val="bg1"/>
                </a:solidFill>
              </a:rPr>
              <a:t>FortiClient</a:t>
            </a:r>
          </a:p>
        </p:txBody>
      </p:sp>
      <p:sp>
        <p:nvSpPr>
          <p:cNvPr id="9218" name="Rectangle 2"/>
          <p:cNvSpPr>
            <a:spLocks noGrp="1" noChangeArrowheads="1"/>
          </p:cNvSpPr>
          <p:nvPr>
            <p:ph type="title"/>
          </p:nvPr>
        </p:nvSpPr>
        <p:spPr/>
        <p:txBody>
          <a:bodyPr>
            <a:normAutofit/>
          </a:bodyPr>
          <a:lstStyle/>
          <a:p>
            <a:r>
              <a:rPr lang="en-US" dirty="0">
                <a:latin typeface="+mn-lt"/>
              </a:rPr>
              <a:t>Platform Design</a:t>
            </a:r>
            <a:endParaRPr lang="en-US" dirty="0">
              <a:latin typeface="+mn-lt"/>
              <a:cs typeface="Arial" charset="0"/>
            </a:endParaRPr>
          </a:p>
        </p:txBody>
      </p:sp>
      <p:sp>
        <p:nvSpPr>
          <p:cNvPr id="1704964" name="Rectangle 4"/>
          <p:cNvSpPr>
            <a:spLocks noChangeArrowheads="1"/>
          </p:cNvSpPr>
          <p:nvPr/>
        </p:nvSpPr>
        <p:spPr bwMode="auto">
          <a:xfrm>
            <a:off x="3122592" y="4435746"/>
            <a:ext cx="5959510" cy="642939"/>
          </a:xfrm>
          <a:prstGeom prst="rect">
            <a:avLst/>
          </a:prstGeom>
          <a:solidFill>
            <a:srgbClr val="173D64"/>
          </a:solidFill>
          <a:ln w="9525">
            <a:solidFill>
              <a:schemeClr val="bg1">
                <a:lumMod val="95000"/>
              </a:schemeClr>
            </a:solidFill>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tx1">
                <a:lumMod val="75000"/>
                <a:lumOff val="25000"/>
              </a:schemeClr>
            </a:extrusionClr>
            <a:contourClr>
              <a:schemeClr val="tx2"/>
            </a:contourClr>
          </a:sp3d>
        </p:spPr>
        <p:txBody>
          <a:bodyPr wrap="none" lIns="121899" tIns="60949" rIns="121899" bIns="60949" anchor="ctr">
            <a:flatTx/>
          </a:bodyPr>
          <a:lstStyle/>
          <a:p>
            <a:pPr algn="ctr"/>
            <a:r>
              <a:rPr lang="en-US" dirty="0">
                <a:solidFill>
                  <a:schemeClr val="bg1"/>
                </a:solidFill>
              </a:rPr>
              <a:t>Security Processing Units (SPUs) </a:t>
            </a:r>
          </a:p>
        </p:txBody>
      </p:sp>
      <p:sp>
        <p:nvSpPr>
          <p:cNvPr id="5" name="Rectangle 6"/>
          <p:cNvSpPr>
            <a:spLocks noChangeArrowheads="1"/>
          </p:cNvSpPr>
          <p:nvPr/>
        </p:nvSpPr>
        <p:spPr bwMode="auto">
          <a:xfrm>
            <a:off x="3122592" y="3603895"/>
            <a:ext cx="5959510" cy="642939"/>
          </a:xfrm>
          <a:prstGeom prst="rect">
            <a:avLst/>
          </a:prstGeom>
          <a:solidFill>
            <a:srgbClr val="FF0000"/>
          </a:solidFill>
          <a:ln w="9525">
            <a:solidFill>
              <a:schemeClr val="bg1">
                <a:lumMod val="95000"/>
              </a:schemeClr>
            </a:solidFill>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6">
                <a:lumMod val="60000"/>
                <a:lumOff val="40000"/>
              </a:schemeClr>
            </a:extrusionClr>
            <a:contourClr>
              <a:schemeClr val="accent1"/>
            </a:contourClr>
          </a:sp3d>
        </p:spPr>
        <p:txBody>
          <a:bodyPr wrap="none" lIns="121899" tIns="60949" rIns="121899" bIns="60949" anchor="ctr">
            <a:flatTx/>
          </a:bodyPr>
          <a:lstStyle/>
          <a:p>
            <a:pPr algn="ctr"/>
            <a:r>
              <a:rPr lang="en-US" b="1" dirty="0">
                <a:solidFill>
                  <a:schemeClr val="bg1"/>
                </a:solidFill>
              </a:rPr>
              <a:t>FortiOS</a:t>
            </a:r>
          </a:p>
        </p:txBody>
      </p:sp>
      <p:grpSp>
        <p:nvGrpSpPr>
          <p:cNvPr id="15" name="Group 22"/>
          <p:cNvGrpSpPr>
            <a:grpSpLocks/>
          </p:cNvGrpSpPr>
          <p:nvPr/>
        </p:nvGrpSpPr>
        <p:grpSpPr bwMode="auto">
          <a:xfrm>
            <a:off x="3122592" y="2772046"/>
            <a:ext cx="5969033" cy="642939"/>
            <a:chOff x="932" y="1718"/>
            <a:chExt cx="3761" cy="405"/>
          </a:xfrm>
          <a:solidFill>
            <a:srgbClr val="00B0F0"/>
          </a:solidFill>
        </p:grpSpPr>
        <p:sp>
          <p:nvSpPr>
            <p:cNvPr id="9231" name="Rectangle 7"/>
            <p:cNvSpPr>
              <a:spLocks noChangeArrowheads="1"/>
            </p:cNvSpPr>
            <p:nvPr/>
          </p:nvSpPr>
          <p:spPr bwMode="auto">
            <a:xfrm>
              <a:off x="932" y="1718"/>
              <a:ext cx="576" cy="405"/>
            </a:xfrm>
            <a:prstGeom prst="rect">
              <a:avLst/>
            </a:prstGeom>
            <a:grp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2">
                  <a:lumMod val="40000"/>
                  <a:lumOff val="60000"/>
                </a:schemeClr>
              </a:extrusionClr>
              <a:contourClr>
                <a:schemeClr val="tx2">
                  <a:lumMod val="60000"/>
                  <a:lumOff val="40000"/>
                </a:schemeClr>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sz="1600" dirty="0">
                  <a:solidFill>
                    <a:schemeClr val="bg1"/>
                  </a:solidFill>
                </a:rPr>
                <a:t>Next gen.</a:t>
              </a:r>
            </a:p>
            <a:p>
              <a:pPr algn="ctr"/>
              <a:r>
                <a:rPr lang="en-US" sz="1600" dirty="0">
                  <a:solidFill>
                    <a:schemeClr val="bg1"/>
                  </a:solidFill>
                </a:rPr>
                <a:t>firewall</a:t>
              </a:r>
            </a:p>
          </p:txBody>
        </p:sp>
        <p:sp>
          <p:nvSpPr>
            <p:cNvPr id="9232" name="Rectangle 9"/>
            <p:cNvSpPr>
              <a:spLocks noChangeArrowheads="1"/>
            </p:cNvSpPr>
            <p:nvPr/>
          </p:nvSpPr>
          <p:spPr bwMode="auto">
            <a:xfrm>
              <a:off x="1728" y="1718"/>
              <a:ext cx="576" cy="405"/>
            </a:xfrm>
            <a:prstGeom prst="rect">
              <a:avLst/>
            </a:prstGeom>
            <a:grp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2">
                  <a:lumMod val="40000"/>
                  <a:lumOff val="60000"/>
                </a:schemeClr>
              </a:extrusionClr>
              <a:contourClr>
                <a:schemeClr val="tx2">
                  <a:lumMod val="60000"/>
                  <a:lumOff val="40000"/>
                </a:schemeClr>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sz="1400" dirty="0">
                  <a:solidFill>
                    <a:schemeClr val="bg1"/>
                  </a:solidFill>
                </a:rPr>
                <a:t>Antivirus</a:t>
              </a:r>
            </a:p>
          </p:txBody>
        </p:sp>
        <p:sp>
          <p:nvSpPr>
            <p:cNvPr id="9233" name="Rectangle 10"/>
            <p:cNvSpPr>
              <a:spLocks noChangeArrowheads="1"/>
            </p:cNvSpPr>
            <p:nvPr/>
          </p:nvSpPr>
          <p:spPr bwMode="auto">
            <a:xfrm>
              <a:off x="2524" y="1718"/>
              <a:ext cx="576" cy="405"/>
            </a:xfrm>
            <a:prstGeom prst="rect">
              <a:avLst/>
            </a:prstGeom>
            <a:grp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2">
                  <a:lumMod val="40000"/>
                  <a:lumOff val="60000"/>
                </a:schemeClr>
              </a:extrusionClr>
              <a:contourClr>
                <a:schemeClr val="tx2">
                  <a:lumMod val="60000"/>
                  <a:lumOff val="40000"/>
                </a:schemeClr>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sz="1600" dirty="0">
                  <a:solidFill>
                    <a:schemeClr val="bg1"/>
                  </a:solidFill>
                </a:rPr>
                <a:t>Web</a:t>
              </a:r>
            </a:p>
            <a:p>
              <a:pPr algn="ctr"/>
              <a:r>
                <a:rPr lang="en-US" sz="1600" dirty="0">
                  <a:solidFill>
                    <a:schemeClr val="bg1"/>
                  </a:solidFill>
                </a:rPr>
                <a:t>filter</a:t>
              </a:r>
            </a:p>
          </p:txBody>
        </p:sp>
        <p:sp>
          <p:nvSpPr>
            <p:cNvPr id="9234" name="Rectangle 11"/>
            <p:cNvSpPr>
              <a:spLocks noChangeArrowheads="1"/>
            </p:cNvSpPr>
            <p:nvPr/>
          </p:nvSpPr>
          <p:spPr bwMode="auto">
            <a:xfrm>
              <a:off x="3320" y="1718"/>
              <a:ext cx="576" cy="405"/>
            </a:xfrm>
            <a:prstGeom prst="rect">
              <a:avLst/>
            </a:prstGeom>
            <a:grp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2">
                  <a:lumMod val="40000"/>
                  <a:lumOff val="60000"/>
                </a:schemeClr>
              </a:extrusionClr>
              <a:contourClr>
                <a:schemeClr val="tx2">
                  <a:lumMod val="60000"/>
                  <a:lumOff val="40000"/>
                </a:schemeClr>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sz="1600" dirty="0">
                  <a:solidFill>
                    <a:schemeClr val="bg1"/>
                  </a:solidFill>
                </a:rPr>
                <a:t>IPS</a:t>
              </a:r>
            </a:p>
          </p:txBody>
        </p:sp>
        <p:sp>
          <p:nvSpPr>
            <p:cNvPr id="9235" name="Rectangle 12"/>
            <p:cNvSpPr>
              <a:spLocks noChangeArrowheads="1"/>
            </p:cNvSpPr>
            <p:nvPr/>
          </p:nvSpPr>
          <p:spPr bwMode="auto">
            <a:xfrm>
              <a:off x="4117" y="1718"/>
              <a:ext cx="576" cy="405"/>
            </a:xfrm>
            <a:prstGeom prst="rect">
              <a:avLst/>
            </a:prstGeom>
            <a:grp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2">
                  <a:lumMod val="40000"/>
                  <a:lumOff val="60000"/>
                </a:schemeClr>
              </a:extrusionClr>
              <a:contourClr>
                <a:schemeClr val="tx2">
                  <a:lumMod val="60000"/>
                  <a:lumOff val="40000"/>
                </a:schemeClr>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r>
                <a:rPr lang="en-US" dirty="0">
                  <a:solidFill>
                    <a:schemeClr val="bg1"/>
                  </a:solidFill>
                </a:rPr>
                <a:t>…</a:t>
              </a:r>
            </a:p>
          </p:txBody>
        </p:sp>
      </p:grpSp>
      <p:sp>
        <p:nvSpPr>
          <p:cNvPr id="22" name="Rectangle 8"/>
          <p:cNvSpPr>
            <a:spLocks noChangeArrowheads="1"/>
          </p:cNvSpPr>
          <p:nvPr/>
        </p:nvSpPr>
        <p:spPr bwMode="auto">
          <a:xfrm>
            <a:off x="3114657" y="1448071"/>
            <a:ext cx="5959510" cy="642939"/>
          </a:xfrm>
          <a:prstGeom prst="rect">
            <a:avLst/>
          </a:prstGeom>
          <a:solidFill>
            <a:srgbClr val="FFFF00"/>
          </a:solid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1">
                <a:lumMod val="20000"/>
                <a:lumOff val="80000"/>
              </a:schemeClr>
            </a:extrusionClr>
            <a:contourClr>
              <a:schemeClr val="tx2">
                <a:lumMod val="20000"/>
                <a:lumOff val="80000"/>
              </a:schemeClr>
            </a:contourClr>
          </a:sp3d>
        </p:spPr>
        <p:txBody>
          <a:bodyPr wrap="none" lIns="121899" tIns="60949" rIns="121899" bIns="60949" anchor="ctr">
            <a:flatTx/>
          </a:bodyPr>
          <a:lstStyle/>
          <a:p>
            <a:pPr algn="ctr"/>
            <a:r>
              <a:rPr lang="en-US" dirty="0">
                <a:solidFill>
                  <a:schemeClr val="bg1"/>
                </a:solidFill>
              </a:rPr>
              <a:t>FortiGuard Subscription Services</a:t>
            </a:r>
          </a:p>
          <a:p>
            <a:pPr algn="ctr"/>
            <a:r>
              <a:rPr lang="en-US" sz="1500" dirty="0">
                <a:solidFill>
                  <a:schemeClr val="bg1">
                    <a:lumMod val="85000"/>
                  </a:schemeClr>
                </a:solidFill>
              </a:rPr>
              <a:t>• Threat intelligence • Centralized management</a:t>
            </a:r>
            <a:endParaRPr lang="en-US" dirty="0">
              <a:solidFill>
                <a:schemeClr val="bg1"/>
              </a:solidFill>
            </a:endParaRPr>
          </a:p>
        </p:txBody>
      </p:sp>
      <p:sp>
        <p:nvSpPr>
          <p:cNvPr id="23" name="AutoShape 13"/>
          <p:cNvSpPr>
            <a:spLocks noChangeArrowheads="1"/>
          </p:cNvSpPr>
          <p:nvPr/>
        </p:nvSpPr>
        <p:spPr bwMode="auto">
          <a:xfrm>
            <a:off x="4735071" y="2218009"/>
            <a:ext cx="372966" cy="349251"/>
          </a:xfrm>
          <a:prstGeom prst="downArrow">
            <a:avLst>
              <a:gd name="adj1" fmla="val 50000"/>
              <a:gd name="adj2" fmla="val 25000"/>
            </a:avLst>
          </a:prstGeom>
          <a:solidFill>
            <a:srgbClr val="FF0000"/>
          </a:solidFill>
          <a:ln w="9525">
            <a:miter lim="800000"/>
            <a:headEnd/>
            <a:tailEnd/>
          </a:ln>
          <a:effectLst/>
          <a:scene3d>
            <a:camera prst="legacyObliqueTopRight"/>
            <a:lightRig rig="legacyFlat4" dir="b"/>
          </a:scene3d>
          <a:sp3d extrusionH="100000" prstMaterial="legacyMatte">
            <a:bevelT w="13500" h="13500" prst="angle"/>
            <a:bevelB w="13500" h="13500" prst="angle"/>
            <a:extrusionClr>
              <a:schemeClr val="tx2"/>
            </a:extrusionClr>
          </a:sp3d>
        </p:spPr>
        <p:txBody>
          <a:bodyPr wrap="none" lIns="121899" tIns="60949" rIns="121899" bIns="60949" anchor="ctr">
            <a:flatTx/>
          </a:bodyPr>
          <a:lstStyle/>
          <a:p>
            <a:endParaRPr lang="en-US" b="1" dirty="0"/>
          </a:p>
        </p:txBody>
      </p:sp>
      <p:sp>
        <p:nvSpPr>
          <p:cNvPr id="24" name="AutoShape 17"/>
          <p:cNvSpPr>
            <a:spLocks noChangeArrowheads="1"/>
          </p:cNvSpPr>
          <p:nvPr/>
        </p:nvSpPr>
        <p:spPr bwMode="auto">
          <a:xfrm>
            <a:off x="5987283" y="2218009"/>
            <a:ext cx="372966" cy="349251"/>
          </a:xfrm>
          <a:prstGeom prst="downArrow">
            <a:avLst>
              <a:gd name="adj1" fmla="val 50000"/>
              <a:gd name="adj2" fmla="val 25000"/>
            </a:avLst>
          </a:prstGeom>
          <a:solidFill>
            <a:srgbClr val="FF0000"/>
          </a:solidFill>
          <a:ln w="9525">
            <a:miter lim="800000"/>
            <a:headEnd/>
            <a:tailEnd/>
          </a:ln>
          <a:effectLst/>
          <a:scene3d>
            <a:camera prst="legacyObliqueTopRight"/>
            <a:lightRig rig="legacyFlat4" dir="b"/>
          </a:scene3d>
          <a:sp3d extrusionH="100000" prstMaterial="legacyMatte">
            <a:bevelT w="13500" h="13500" prst="angle"/>
            <a:bevelB w="13500" h="13500" prst="angle"/>
            <a:extrusionClr>
              <a:schemeClr val="tx2"/>
            </a:extrusionClr>
          </a:sp3d>
        </p:spPr>
        <p:txBody>
          <a:bodyPr wrap="none" lIns="121899" tIns="60949" rIns="121899" bIns="60949" anchor="ctr">
            <a:flatTx/>
          </a:bodyPr>
          <a:lstStyle/>
          <a:p>
            <a:endParaRPr lang="en-US" b="1" dirty="0"/>
          </a:p>
        </p:txBody>
      </p:sp>
      <p:sp>
        <p:nvSpPr>
          <p:cNvPr id="25" name="AutoShape 18"/>
          <p:cNvSpPr>
            <a:spLocks noChangeArrowheads="1"/>
          </p:cNvSpPr>
          <p:nvPr/>
        </p:nvSpPr>
        <p:spPr bwMode="auto">
          <a:xfrm>
            <a:off x="7261713" y="2218009"/>
            <a:ext cx="372966" cy="349251"/>
          </a:xfrm>
          <a:prstGeom prst="downArrow">
            <a:avLst>
              <a:gd name="adj1" fmla="val 50000"/>
              <a:gd name="adj2" fmla="val 25000"/>
            </a:avLst>
          </a:prstGeom>
          <a:solidFill>
            <a:srgbClr val="FF0000"/>
          </a:solidFill>
          <a:ln w="9525">
            <a:miter lim="800000"/>
            <a:headEnd/>
            <a:tailEnd/>
          </a:ln>
          <a:effectLst/>
          <a:scene3d>
            <a:camera prst="legacyObliqueTopRight"/>
            <a:lightRig rig="legacyFlat4" dir="b"/>
          </a:scene3d>
          <a:sp3d extrusionH="100000" prstMaterial="legacyMatte">
            <a:bevelT w="13500" h="13500" prst="angle"/>
            <a:bevelB w="13500" h="13500" prst="angle"/>
            <a:extrusionClr>
              <a:schemeClr val="tx2"/>
            </a:extrusionClr>
          </a:sp3d>
        </p:spPr>
        <p:txBody>
          <a:bodyPr wrap="none" lIns="121899" tIns="60949" rIns="121899" bIns="60949" anchor="ctr">
            <a:flatTx/>
          </a:bodyPr>
          <a:lstStyle/>
          <a:p>
            <a:endParaRPr lang="en-US" b="1" dirty="0"/>
          </a:p>
        </p:txBody>
      </p:sp>
      <p:sp>
        <p:nvSpPr>
          <p:cNvPr id="26" name="AutoShape 19"/>
          <p:cNvSpPr>
            <a:spLocks noChangeArrowheads="1"/>
          </p:cNvSpPr>
          <p:nvPr/>
        </p:nvSpPr>
        <p:spPr bwMode="auto">
          <a:xfrm>
            <a:off x="8502815" y="2218009"/>
            <a:ext cx="372966" cy="349251"/>
          </a:xfrm>
          <a:prstGeom prst="downArrow">
            <a:avLst>
              <a:gd name="adj1" fmla="val 50000"/>
              <a:gd name="adj2" fmla="val 25000"/>
            </a:avLst>
          </a:prstGeom>
          <a:solidFill>
            <a:srgbClr val="FF0000"/>
          </a:solidFill>
          <a:ln w="9525">
            <a:miter lim="800000"/>
            <a:headEnd/>
            <a:tailEnd/>
          </a:ln>
          <a:effectLst/>
          <a:scene3d>
            <a:camera prst="legacyObliqueTopRight"/>
            <a:lightRig rig="legacyFlat4" dir="b"/>
          </a:scene3d>
          <a:sp3d extrusionH="100000" prstMaterial="legacyMatte">
            <a:bevelT w="13500" h="13500" prst="angle"/>
            <a:bevelB w="13500" h="13500" prst="angle"/>
            <a:extrusionClr>
              <a:schemeClr val="tx2"/>
            </a:extrusionClr>
          </a:sp3d>
        </p:spPr>
        <p:txBody>
          <a:bodyPr wrap="none" lIns="121899" tIns="60949" rIns="121899" bIns="60949" anchor="ctr">
            <a:flatTx/>
          </a:bodyPr>
          <a:lstStyle/>
          <a:p>
            <a:endParaRPr lang="en-US" b="1" dirty="0"/>
          </a:p>
        </p:txBody>
      </p:sp>
      <p:sp>
        <p:nvSpPr>
          <p:cNvPr id="17" name="Rectangle 6"/>
          <p:cNvSpPr>
            <a:spLocks noChangeArrowheads="1"/>
          </p:cNvSpPr>
          <p:nvPr/>
        </p:nvSpPr>
        <p:spPr bwMode="auto">
          <a:xfrm>
            <a:off x="9514859" y="2732771"/>
            <a:ext cx="1265769" cy="642939"/>
          </a:xfrm>
          <a:prstGeom prst="rect">
            <a:avLst/>
          </a:prstGeom>
          <a:solidFill>
            <a:srgbClr val="0070C0"/>
          </a:solid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rgbClr val="4265B4"/>
            </a:extrusionClr>
            <a:contourClr>
              <a:schemeClr val="tx2">
                <a:lumMod val="60000"/>
                <a:lumOff val="40000"/>
              </a:schemeClr>
            </a:contourClr>
          </a:sp3d>
        </p:spPr>
        <p:txBody>
          <a:bodyPr wrap="none" lIns="121899" tIns="60949" rIns="121899" bIns="60949" anchor="ctr">
            <a:flatTx/>
          </a:bodyPr>
          <a:lstStyle/>
          <a:p>
            <a:pPr algn="ctr"/>
            <a:r>
              <a:rPr lang="en-US" dirty="0">
                <a:solidFill>
                  <a:schemeClr val="bg1"/>
                </a:solidFill>
              </a:rPr>
              <a:t>FortiWeb</a:t>
            </a:r>
          </a:p>
        </p:txBody>
      </p:sp>
      <p:sp>
        <p:nvSpPr>
          <p:cNvPr id="18" name="Rectangle 6"/>
          <p:cNvSpPr>
            <a:spLocks noChangeArrowheads="1"/>
          </p:cNvSpPr>
          <p:nvPr/>
        </p:nvSpPr>
        <p:spPr bwMode="auto">
          <a:xfrm>
            <a:off x="9686861" y="3375710"/>
            <a:ext cx="1265769" cy="642939"/>
          </a:xfrm>
          <a:prstGeom prst="rect">
            <a:avLst/>
          </a:prstGeom>
          <a:solidFill>
            <a:schemeClr val="accent4">
              <a:lumMod val="50000"/>
            </a:schemeClr>
          </a:solid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chemeClr val="accent4">
                <a:lumMod val="60000"/>
                <a:lumOff val="40000"/>
              </a:schemeClr>
            </a:extrusionClr>
            <a:contourClr>
              <a:schemeClr val="tx2">
                <a:lumMod val="60000"/>
                <a:lumOff val="40000"/>
              </a:schemeClr>
            </a:contourClr>
          </a:sp3d>
        </p:spPr>
        <p:txBody>
          <a:bodyPr wrap="none" lIns="121899" tIns="60949" rIns="121899" bIns="60949" anchor="ctr">
            <a:flatTx/>
          </a:bodyPr>
          <a:lstStyle/>
          <a:p>
            <a:pPr algn="ctr"/>
            <a:r>
              <a:rPr lang="en-US" dirty="0">
                <a:solidFill>
                  <a:schemeClr val="bg1"/>
                </a:solidFill>
              </a:rPr>
              <a:t>FortiMail</a:t>
            </a:r>
          </a:p>
        </p:txBody>
      </p:sp>
      <p:cxnSp>
        <p:nvCxnSpPr>
          <p:cNvPr id="3" name="Straight Arrow Connector 2"/>
          <p:cNvCxnSpPr/>
          <p:nvPr/>
        </p:nvCxnSpPr>
        <p:spPr bwMode="auto">
          <a:xfrm flipV="1">
            <a:off x="2761794" y="3107735"/>
            <a:ext cx="360798" cy="15876"/>
          </a:xfrm>
          <a:prstGeom prst="straightConnector1">
            <a:avLst/>
          </a:prstGeom>
          <a:solidFill>
            <a:schemeClr val="accent2">
              <a:alpha val="42000"/>
            </a:schemeClr>
          </a:solid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21" name="Straight Arrow Connector 20"/>
          <p:cNvCxnSpPr/>
          <p:nvPr/>
        </p:nvCxnSpPr>
        <p:spPr bwMode="auto">
          <a:xfrm flipV="1">
            <a:off x="9119107" y="3046303"/>
            <a:ext cx="360798" cy="15876"/>
          </a:xfrm>
          <a:prstGeom prst="straightConnector1">
            <a:avLst/>
          </a:prstGeom>
          <a:solidFill>
            <a:schemeClr val="accent2">
              <a:alpha val="42000"/>
            </a:schemeClr>
          </a:solid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cxnSp>
      <p:sp>
        <p:nvSpPr>
          <p:cNvPr id="27" name="Rectangle 6"/>
          <p:cNvSpPr>
            <a:spLocks noChangeArrowheads="1"/>
          </p:cNvSpPr>
          <p:nvPr/>
        </p:nvSpPr>
        <p:spPr bwMode="auto">
          <a:xfrm>
            <a:off x="581503" y="3429203"/>
            <a:ext cx="1819493" cy="642939"/>
          </a:xfrm>
          <a:prstGeom prst="rect">
            <a:avLst/>
          </a:prstGeom>
          <a:solidFill>
            <a:srgbClr val="7030A0"/>
          </a:solidFill>
          <a:ln w="9525">
            <a:miter lim="800000"/>
            <a:headEnd/>
            <a:tailEnd/>
          </a:ln>
          <a:effectLst/>
          <a:scene3d>
            <a:camera prst="legacyObliqueTopRight"/>
            <a:lightRig rig="legacyFlat3" dir="b"/>
          </a:scene3d>
          <a:sp3d extrusionH="430200" contourW="12700" prstMaterial="legacyMatte">
            <a:bevelT w="13500" h="13500" prst="angle"/>
            <a:bevelB w="13500" h="13500" prst="angle"/>
            <a:extrusionClr>
              <a:srgbClr val="8820D6"/>
            </a:extrusionClr>
            <a:contourClr>
              <a:srgbClr val="8820D6"/>
            </a:contourClr>
          </a:sp3d>
        </p:spPr>
        <p:txBody>
          <a:bodyPr wrap="none" lIns="121899" tIns="60949" rIns="121899" bIns="60949" anchor="ctr">
            <a:flatTx/>
          </a:bodyPr>
          <a:lstStyle/>
          <a:p>
            <a:pPr algn="ctr"/>
            <a:r>
              <a:rPr lang="en-US" dirty="0">
                <a:solidFill>
                  <a:schemeClr val="bg1"/>
                </a:solidFill>
              </a:rPr>
              <a:t>FortiSandbox</a:t>
            </a:r>
          </a:p>
        </p:txBody>
      </p:sp>
      <p:cxnSp>
        <p:nvCxnSpPr>
          <p:cNvPr id="28" name="Straight Arrow Connector 27"/>
          <p:cNvCxnSpPr>
            <a:endCxn id="18" idx="1"/>
          </p:cNvCxnSpPr>
          <p:nvPr/>
        </p:nvCxnSpPr>
        <p:spPr bwMode="auto">
          <a:xfrm>
            <a:off x="9162459" y="3247710"/>
            <a:ext cx="524403" cy="449469"/>
          </a:xfrm>
          <a:prstGeom prst="straightConnector1">
            <a:avLst/>
          </a:prstGeom>
          <a:solidFill>
            <a:schemeClr val="accent2">
              <a:alpha val="42000"/>
            </a:schemeClr>
          </a:solid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29" name="Straight Arrow Connector 28"/>
          <p:cNvCxnSpPr>
            <a:stCxn id="27" idx="3"/>
          </p:cNvCxnSpPr>
          <p:nvPr/>
        </p:nvCxnSpPr>
        <p:spPr bwMode="auto">
          <a:xfrm flipV="1">
            <a:off x="2400995" y="3231836"/>
            <a:ext cx="659159" cy="518837"/>
          </a:xfrm>
          <a:prstGeom prst="straightConnector1">
            <a:avLst/>
          </a:prstGeom>
          <a:solidFill>
            <a:schemeClr val="accent2">
              <a:alpha val="42000"/>
            </a:schemeClr>
          </a:solid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cxnSp>
      <p:sp>
        <p:nvSpPr>
          <p:cNvPr id="36" name="Freeform 35"/>
          <p:cNvSpPr/>
          <p:nvPr/>
        </p:nvSpPr>
        <p:spPr bwMode="auto">
          <a:xfrm rot="5400000">
            <a:off x="300506" y="3238096"/>
            <a:ext cx="846561" cy="477465"/>
          </a:xfrm>
          <a:custGeom>
            <a:avLst/>
            <a:gdLst>
              <a:gd name="connsiteX0" fmla="*/ 0 w 5459896"/>
              <a:gd name="connsiteY0" fmla="*/ 92765 h 92765"/>
              <a:gd name="connsiteX1" fmla="*/ 5459896 w 5459896"/>
              <a:gd name="connsiteY1" fmla="*/ 0 h 92765"/>
              <a:gd name="connsiteX2" fmla="*/ 5459896 w 5459896"/>
              <a:gd name="connsiteY2" fmla="*/ 0 h 9276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405"/>
              <a:gd name="connsiteX1" fmla="*/ 2796209 w 5459896"/>
              <a:gd name="connsiteY1" fmla="*/ 1484243 h 1484405"/>
              <a:gd name="connsiteX2" fmla="*/ 5459896 w 5459896"/>
              <a:gd name="connsiteY2" fmla="*/ 0 h 1484405"/>
              <a:gd name="connsiteX3" fmla="*/ 5459896 w 5459896"/>
              <a:gd name="connsiteY3" fmla="*/ 0 h 1484405"/>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43"/>
              <a:gd name="connsiteX1" fmla="*/ 2796209 w 5459896"/>
              <a:gd name="connsiteY1" fmla="*/ 1484243 h 1484243"/>
              <a:gd name="connsiteX2" fmla="*/ 5459896 w 5459896"/>
              <a:gd name="connsiteY2" fmla="*/ 0 h 1484243"/>
              <a:gd name="connsiteX3" fmla="*/ 5459896 w 5459896"/>
              <a:gd name="connsiteY3" fmla="*/ 0 h 1484243"/>
              <a:gd name="connsiteX0" fmla="*/ 0 w 5459896"/>
              <a:gd name="connsiteY0" fmla="*/ 92765 h 1484277"/>
              <a:gd name="connsiteX1" fmla="*/ 2796209 w 5459896"/>
              <a:gd name="connsiteY1" fmla="*/ 1484243 h 1484277"/>
              <a:gd name="connsiteX2" fmla="*/ 5459896 w 5459896"/>
              <a:gd name="connsiteY2" fmla="*/ 0 h 1484277"/>
              <a:gd name="connsiteX3" fmla="*/ 5459896 w 5459896"/>
              <a:gd name="connsiteY3" fmla="*/ 0 h 1484277"/>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5459896"/>
              <a:gd name="connsiteY0" fmla="*/ 92765 h 1497528"/>
              <a:gd name="connsiteX1" fmla="*/ 3061252 w 5459896"/>
              <a:gd name="connsiteY1" fmla="*/ 1497495 h 1497528"/>
              <a:gd name="connsiteX2" fmla="*/ 5459896 w 5459896"/>
              <a:gd name="connsiteY2" fmla="*/ 0 h 1497528"/>
              <a:gd name="connsiteX3" fmla="*/ 5459896 w 5459896"/>
              <a:gd name="connsiteY3" fmla="*/ 0 h 1497528"/>
              <a:gd name="connsiteX0" fmla="*/ 0 w 4763872"/>
              <a:gd name="connsiteY0" fmla="*/ 0 h 1778818"/>
              <a:gd name="connsiteX1" fmla="*/ 2365228 w 4763872"/>
              <a:gd name="connsiteY1" fmla="*/ 1775791 h 1778818"/>
              <a:gd name="connsiteX2" fmla="*/ 4763872 w 4763872"/>
              <a:gd name="connsiteY2" fmla="*/ 278296 h 1778818"/>
              <a:gd name="connsiteX3" fmla="*/ 4763872 w 4763872"/>
              <a:gd name="connsiteY3" fmla="*/ 278296 h 1778818"/>
              <a:gd name="connsiteX0" fmla="*/ 0 w 4763872"/>
              <a:gd name="connsiteY0" fmla="*/ 0 h 536078"/>
              <a:gd name="connsiteX1" fmla="*/ 2066941 w 4763872"/>
              <a:gd name="connsiteY1" fmla="*/ 357808 h 536078"/>
              <a:gd name="connsiteX2" fmla="*/ 4763872 w 4763872"/>
              <a:gd name="connsiteY2" fmla="*/ 278296 h 536078"/>
              <a:gd name="connsiteX3" fmla="*/ 4763872 w 4763872"/>
              <a:gd name="connsiteY3" fmla="*/ 278296 h 536078"/>
              <a:gd name="connsiteX0" fmla="*/ 0 w 4763872"/>
              <a:gd name="connsiteY0" fmla="*/ 0 h 553142"/>
              <a:gd name="connsiteX1" fmla="*/ 2066941 w 4763872"/>
              <a:gd name="connsiteY1" fmla="*/ 357808 h 553142"/>
              <a:gd name="connsiteX2" fmla="*/ 4763872 w 4763872"/>
              <a:gd name="connsiteY2" fmla="*/ 278296 h 553142"/>
              <a:gd name="connsiteX3" fmla="*/ 4763872 w 4763872"/>
              <a:gd name="connsiteY3" fmla="*/ 278296 h 553142"/>
              <a:gd name="connsiteX0" fmla="*/ 0 w 4763872"/>
              <a:gd name="connsiteY0" fmla="*/ 0 h 358192"/>
              <a:gd name="connsiteX1" fmla="*/ 2066941 w 4763872"/>
              <a:gd name="connsiteY1" fmla="*/ 357808 h 358192"/>
              <a:gd name="connsiteX2" fmla="*/ 4763872 w 4763872"/>
              <a:gd name="connsiteY2" fmla="*/ 278296 h 358192"/>
              <a:gd name="connsiteX3" fmla="*/ 4763872 w 4763872"/>
              <a:gd name="connsiteY3" fmla="*/ 278296 h 358192"/>
            </a:gdLst>
            <a:ahLst/>
            <a:cxnLst>
              <a:cxn ang="0">
                <a:pos x="connsiteX0" y="connsiteY0"/>
              </a:cxn>
              <a:cxn ang="0">
                <a:pos x="connsiteX1" y="connsiteY1"/>
              </a:cxn>
              <a:cxn ang="0">
                <a:pos x="connsiteX2" y="connsiteY2"/>
              </a:cxn>
              <a:cxn ang="0">
                <a:pos x="connsiteX3" y="connsiteY3"/>
              </a:cxn>
            </a:cxnLst>
            <a:rect l="l" t="t" r="r" b="b"/>
            <a:pathLst>
              <a:path w="4763872" h="358192">
                <a:moveTo>
                  <a:pt x="0" y="0"/>
                </a:moveTo>
                <a:cubicBezTo>
                  <a:pt x="17674" y="287130"/>
                  <a:pt x="1173510" y="364434"/>
                  <a:pt x="2066941" y="357808"/>
                </a:cubicBezTo>
                <a:cubicBezTo>
                  <a:pt x="2960372" y="351182"/>
                  <a:pt x="4314384" y="291548"/>
                  <a:pt x="4763872" y="278296"/>
                </a:cubicBezTo>
                <a:lnTo>
                  <a:pt x="4763872" y="278296"/>
                </a:lnTo>
              </a:path>
            </a:pathLst>
          </a:custGeom>
          <a:noFill/>
          <a:ln w="38100" cap="flat" cmpd="sng" algn="ctr">
            <a:solidFill>
              <a:srgbClr val="FF0000"/>
            </a:solidFill>
            <a:prstDash val="sysDot"/>
            <a:round/>
            <a:headEnd type="none" w="med" len="med"/>
            <a:tailEnd type="none" w="med" len="med"/>
          </a:ln>
          <a:effectLst>
            <a:outerShdw blurRad="50800" dist="38100" dir="2700000" algn="tl" rotWithShape="0">
              <a:prstClr val="black">
                <a:alpha val="40000"/>
              </a:prstClr>
            </a:outerShdw>
          </a:effectLst>
        </p:spPr>
        <p:txBody>
          <a:bodyPr lIns="121899" tIns="60949" rIns="121899" bIns="60949" rtlCol="0" anchor="ctr"/>
          <a:lstStyle/>
          <a:p>
            <a:pPr algn="ctr"/>
            <a:endParaRPr lang="en-US"/>
          </a:p>
        </p:txBody>
      </p:sp>
      <p:sp>
        <p:nvSpPr>
          <p:cNvPr id="13" name="TextBox 12"/>
          <p:cNvSpPr txBox="1"/>
          <p:nvPr/>
        </p:nvSpPr>
        <p:spPr>
          <a:xfrm>
            <a:off x="10463497" y="5518244"/>
            <a:ext cx="1156685" cy="353921"/>
          </a:xfrm>
          <a:prstGeom prst="rect">
            <a:avLst/>
          </a:prstGeom>
          <a:noFill/>
        </p:spPr>
        <p:txBody>
          <a:bodyPr wrap="none" lIns="121899" tIns="60949" rIns="121899" bIns="60949" rtlCol="0">
            <a:spAutoFit/>
          </a:bodyPr>
          <a:lstStyle/>
          <a:p>
            <a:r>
              <a:rPr lang="en-US" sz="1500" dirty="0">
                <a:solidFill>
                  <a:schemeClr val="tx2">
                    <a:lumMod val="20000"/>
                    <a:lumOff val="80000"/>
                  </a:schemeClr>
                </a:solidFill>
                <a:cs typeface="Arial"/>
              </a:rPr>
              <a:t>Integration</a:t>
            </a:r>
          </a:p>
        </p:txBody>
      </p:sp>
    </p:spTree>
    <p:custDataLst>
      <p:tags r:id="rId1"/>
    </p:custDataLst>
    <p:extLst>
      <p:ext uri="{BB962C8B-B14F-4D97-AF65-F5344CB8AC3E}">
        <p14:creationId xmlns:p14="http://schemas.microsoft.com/office/powerpoint/2010/main" val="1138125503"/>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Topology in the Cloud</a:t>
            </a:r>
          </a:p>
        </p:txBody>
      </p:sp>
      <p:sp>
        <p:nvSpPr>
          <p:cNvPr id="11" name="Content Placeholder 10"/>
          <p:cNvSpPr>
            <a:spLocks noGrp="1"/>
          </p:cNvSpPr>
          <p:nvPr>
            <p:ph idx="15"/>
          </p:nvPr>
        </p:nvSpPr>
        <p:spPr>
          <a:prstGeom prst="rect">
            <a:avLst/>
          </a:prstGeom>
        </p:spPr>
        <p:txBody>
          <a:bodyPr lIns="121899" tIns="60949" rIns="121899" bIns="60949">
            <a:normAutofit/>
          </a:bodyPr>
          <a:lstStyle/>
          <a:p>
            <a:pPr fontAlgn="auto"/>
            <a:r>
              <a:rPr lang="en-US" b="1" dirty="0"/>
              <a:t>Deploy FortiGate in  </a:t>
            </a:r>
            <a:r>
              <a:rPr lang="en-US" b="1" dirty="0">
                <a:solidFill>
                  <a:srgbClr val="C00000"/>
                </a:solidFill>
              </a:rPr>
              <a:t>virtualized </a:t>
            </a:r>
            <a:r>
              <a:rPr lang="en-US" b="1" dirty="0"/>
              <a:t>networks</a:t>
            </a:r>
            <a:endParaRPr lang="en-US" dirty="0"/>
          </a:p>
          <a:p>
            <a:pPr lvl="1" fontAlgn="auto"/>
            <a:r>
              <a:rPr lang="en-US" dirty="0">
                <a:solidFill>
                  <a:srgbClr val="C00000"/>
                </a:solidFill>
              </a:rPr>
              <a:t>FortiGate VM</a:t>
            </a:r>
            <a:r>
              <a:rPr lang="en-US" dirty="0">
                <a:solidFill>
                  <a:srgbClr val="FF0000"/>
                </a:solidFill>
              </a:rPr>
              <a:t> </a:t>
            </a:r>
            <a:r>
              <a:rPr lang="en-US" dirty="0"/>
              <a:t>– Same features as physical appliance </a:t>
            </a:r>
            <a:r>
              <a:rPr lang="en-US" i="1" dirty="0"/>
              <a:t>except</a:t>
            </a:r>
            <a:r>
              <a:rPr lang="en-US" dirty="0"/>
              <a:t> </a:t>
            </a:r>
            <a:r>
              <a:rPr lang="en-US" dirty="0" smtClean="0"/>
              <a:t>SPUs</a:t>
            </a:r>
          </a:p>
          <a:p>
            <a:r>
              <a:rPr lang="en-GB" dirty="0" smtClean="0"/>
              <a:t>VMs or physical appliances</a:t>
            </a:r>
          </a:p>
          <a:p>
            <a:pPr lvl="1"/>
            <a:r>
              <a:rPr lang="en-GB" dirty="0" smtClean="0"/>
              <a:t>Configuration is essentially the same</a:t>
            </a:r>
            <a:endParaRPr lang="en-US" dirty="0" smtClean="0"/>
          </a:p>
          <a:p>
            <a:pPr lvl="1" fontAlgn="auto"/>
            <a:endParaRPr lang="en-US" dirty="0"/>
          </a:p>
        </p:txBody>
      </p:sp>
      <p:graphicFrame>
        <p:nvGraphicFramePr>
          <p:cNvPr id="39" name="Content Placeholder 38"/>
          <p:cNvGraphicFramePr>
            <a:graphicFrameLocks noGrp="1"/>
          </p:cNvGraphicFramePr>
          <p:nvPr>
            <p:ph idx="17"/>
            <p:extLst>
              <p:ext uri="{D42A27DB-BD31-4B8C-83A1-F6EECF244321}">
                <p14:modId xmlns:p14="http://schemas.microsoft.com/office/powerpoint/2010/main" val="1309139006"/>
              </p:ext>
            </p:extLst>
          </p:nvPr>
        </p:nvGraphicFramePr>
        <p:xfrm>
          <a:off x="8193014" y="1499912"/>
          <a:ext cx="3493108" cy="3793006"/>
        </p:xfrm>
        <a:graphic>
          <a:graphicData uri="http://schemas.openxmlformats.org/drawingml/2006/table">
            <a:tbl>
              <a:tblPr firstRow="1" bandRow="1">
                <a:tableStyleId>{F5AB1C69-6EDB-4FF4-983F-18BD219EF322}</a:tableStyleId>
              </a:tblPr>
              <a:tblGrid>
                <a:gridCol w="1746554">
                  <a:extLst>
                    <a:ext uri="{9D8B030D-6E8A-4147-A177-3AD203B41FA5}">
                      <a16:colId xmlns:a16="http://schemas.microsoft.com/office/drawing/2014/main" val="20000"/>
                    </a:ext>
                  </a:extLst>
                </a:gridCol>
                <a:gridCol w="1746554">
                  <a:extLst>
                    <a:ext uri="{9D8B030D-6E8A-4147-A177-3AD203B41FA5}">
                      <a16:colId xmlns:a16="http://schemas.microsoft.com/office/drawing/2014/main" val="20001"/>
                    </a:ext>
                  </a:extLst>
                </a:gridCol>
              </a:tblGrid>
              <a:tr h="494453">
                <a:tc gridSpan="2">
                  <a:txBody>
                    <a:bodyPr/>
                    <a:lstStyle/>
                    <a:p>
                      <a:pPr marL="0" marR="0" lvl="0" indent="0" algn="l" defTabSz="1290638" rtl="0" eaLnBrk="1" fontAlgn="base" latinLnBrk="0" hangingPunct="1">
                        <a:lnSpc>
                          <a:spcPct val="100000"/>
                        </a:lnSpc>
                        <a:spcBef>
                          <a:spcPct val="20000"/>
                        </a:spcBef>
                        <a:spcAft>
                          <a:spcPct val="0"/>
                        </a:spcAft>
                        <a:buClrTx/>
                        <a:buSzTx/>
                        <a:buFontTx/>
                        <a:buNone/>
                        <a:tabLst/>
                        <a:defRPr/>
                      </a:pPr>
                      <a:r>
                        <a:rPr kumimoji="0" lang="en-US" sz="1600" u="none" strike="noStrike" cap="none" normalizeH="0" baseline="0" dirty="0">
                          <a:ln>
                            <a:noFill/>
                          </a:ln>
                          <a:effectLst/>
                        </a:rPr>
                        <a:t>FortiGate VM Specifications</a:t>
                      </a:r>
                      <a:endParaRPr kumimoji="0" lang="en-US" sz="1600" b="1" i="0" u="none" strike="noStrike" cap="none" normalizeH="0" baseline="0" dirty="0">
                        <a:ln>
                          <a:noFill/>
                        </a:ln>
                        <a:solidFill>
                          <a:schemeClr val="bg1"/>
                        </a:solidFill>
                        <a:effectLst/>
                        <a:latin typeface="+mn-lt"/>
                      </a:endParaRPr>
                    </a:p>
                  </a:txBody>
                  <a:tcPr marL="78570" marR="78570" marT="46275" marB="46275" horzOverflow="overflow"/>
                </a:tc>
                <a:tc hMerge="1">
                  <a:txBody>
                    <a:bodyPr/>
                    <a:lstStyle/>
                    <a:p>
                      <a:pPr marL="0" marR="0" lvl="0" indent="0" algn="l" defTabSz="1290638" rtl="0" eaLnBrk="1" fontAlgn="base" latinLnBrk="0" hangingPunct="1">
                        <a:lnSpc>
                          <a:spcPct val="100000"/>
                        </a:lnSpc>
                        <a:spcBef>
                          <a:spcPct val="20000"/>
                        </a:spcBef>
                        <a:spcAft>
                          <a:spcPct val="0"/>
                        </a:spcAft>
                        <a:buClrTx/>
                        <a:buSzTx/>
                        <a:buFontTx/>
                        <a:buNone/>
                        <a:tabLst/>
                        <a:defRPr/>
                      </a:pPr>
                      <a:endParaRPr kumimoji="0" lang="en-US" sz="1200" b="1" i="0" u="none" strike="noStrike" cap="none" normalizeH="0" baseline="0" dirty="0">
                        <a:ln>
                          <a:noFill/>
                        </a:ln>
                        <a:solidFill>
                          <a:schemeClr val="bg1"/>
                        </a:solidFill>
                        <a:effectLst/>
                        <a:latin typeface="+mn-lt"/>
                      </a:endParaRPr>
                    </a:p>
                  </a:txBody>
                  <a:tcPr marL="61703" marR="61703" marT="34706" marB="34706" horzOverflow="overflow"/>
                </a:tc>
                <a:extLst>
                  <a:ext uri="{0D108BD9-81ED-4DB2-BD59-A6C34878D82A}">
                    <a16:rowId xmlns:a16="http://schemas.microsoft.com/office/drawing/2014/main" val="10000"/>
                  </a:ext>
                </a:extLst>
              </a:tr>
              <a:tr h="498949">
                <a:tc>
                  <a:txBody>
                    <a:bodyPr/>
                    <a:lstStyle/>
                    <a:p>
                      <a:pPr marL="0" marR="0" lvl="0" indent="0" algn="l" defTabSz="1290638" rtl="0" eaLnBrk="1" fontAlgn="base" latinLnBrk="0" hangingPunct="1">
                        <a:lnSpc>
                          <a:spcPct val="100000"/>
                        </a:lnSpc>
                        <a:spcBef>
                          <a:spcPct val="20000"/>
                        </a:spcBef>
                        <a:spcAft>
                          <a:spcPct val="0"/>
                        </a:spcAft>
                        <a:buClrTx/>
                        <a:buSzTx/>
                        <a:buFontTx/>
                        <a:buNone/>
                        <a:tabLst/>
                        <a:defRPr/>
                      </a:pPr>
                      <a:r>
                        <a:rPr kumimoji="0" lang="en-US" sz="1300" u="none" strike="noStrike" cap="none" normalizeH="0" baseline="0" dirty="0">
                          <a:ln>
                            <a:noFill/>
                          </a:ln>
                          <a:effectLst/>
                        </a:rPr>
                        <a:t>Licenses</a:t>
                      </a:r>
                      <a:endParaRPr kumimoji="0" lang="en-US" sz="1300" b="0" i="0" u="none" strike="noStrike" cap="none" normalizeH="0" baseline="0" dirty="0">
                        <a:ln>
                          <a:noFill/>
                        </a:ln>
                        <a:solidFill>
                          <a:schemeClr val="tx1"/>
                        </a:solidFill>
                        <a:effectLst/>
                        <a:latin typeface="+mn-lt"/>
                      </a:endParaRPr>
                    </a:p>
                  </a:txBody>
                  <a:tcPr marL="78570" marR="78570" marT="46275" marB="46275" anchor="ctr"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1300" u="none" strike="noStrike" cap="none" normalizeH="0" baseline="0" dirty="0">
                          <a:ln>
                            <a:noFill/>
                          </a:ln>
                          <a:effectLst/>
                        </a:rPr>
                        <a:t>Max. 1 / 2 / 4 / 8 vCPU</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extLst>
                  <a:ext uri="{0D108BD9-81ED-4DB2-BD59-A6C34878D82A}">
                    <a16:rowId xmlns:a16="http://schemas.microsoft.com/office/drawing/2014/main" val="10001"/>
                  </a:ext>
                </a:extLst>
              </a:tr>
              <a:tr h="131174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kumimoji="0" lang="en-US" sz="1300" u="none" strike="noStrike" cap="none" normalizeH="0" baseline="0" dirty="0">
                          <a:ln>
                            <a:noFill/>
                          </a:ln>
                          <a:effectLst/>
                        </a:rPr>
                        <a:t>Hypervisor</a:t>
                      </a:r>
                      <a:endParaRPr lang="en-US" sz="1300" b="0" i="0" dirty="0">
                        <a:latin typeface="+mn-lt"/>
                      </a:endParaRPr>
                    </a:p>
                  </a:txBody>
                  <a:tcPr marL="78570" marR="78570" marT="46275" marB="46275" anchor="ctr" horzOverflow="overflow"/>
                </a:tc>
                <a:tc>
                  <a:txBody>
                    <a:bodyPr/>
                    <a:lstStyle/>
                    <a:p>
                      <a:pPr fontAlgn="auto"/>
                      <a:r>
                        <a:rPr lang="en-US" sz="1300" dirty="0"/>
                        <a:t>VMware, Hyper-V, KVM, Citrix Xen Server, </a:t>
                      </a:r>
                      <a:br>
                        <a:rPr lang="en-US" sz="1300" dirty="0"/>
                      </a:br>
                      <a:r>
                        <a:rPr lang="en-US" sz="1300" dirty="0"/>
                        <a:t>Open Source Xen, Azure, Amazon AWS BYOL &amp; on‑demand</a:t>
                      </a:r>
                    </a:p>
                  </a:txBody>
                  <a:tcPr marL="78570" marR="78570" marT="46275" marB="46275" anchor="ctr" horzOverflow="overflow"/>
                </a:tc>
                <a:extLst>
                  <a:ext uri="{0D108BD9-81ED-4DB2-BD59-A6C34878D82A}">
                    <a16:rowId xmlns:a16="http://schemas.microsoft.com/office/drawing/2014/main" val="10002"/>
                  </a:ext>
                </a:extLst>
              </a:tr>
              <a:tr h="494453">
                <a:tc>
                  <a:txBody>
                    <a:bodyPr/>
                    <a:lstStyle/>
                    <a:p>
                      <a:pPr marL="0" marR="0" lvl="0" indent="0" algn="l" defTabSz="1290638" rtl="0" eaLnBrk="1" fontAlgn="base" latinLnBrk="0" hangingPunct="1">
                        <a:lnSpc>
                          <a:spcPct val="100000"/>
                        </a:lnSpc>
                        <a:spcBef>
                          <a:spcPct val="20000"/>
                        </a:spcBef>
                        <a:spcAft>
                          <a:spcPct val="0"/>
                        </a:spcAft>
                        <a:buClrTx/>
                        <a:buSzTx/>
                        <a:buFontTx/>
                        <a:buNone/>
                        <a:tabLst/>
                        <a:defRPr/>
                      </a:pPr>
                      <a:r>
                        <a:rPr kumimoji="0" lang="en-US" sz="1300" u="none" strike="noStrike" cap="none" normalizeH="0" baseline="0" dirty="0">
                          <a:ln>
                            <a:noFill/>
                          </a:ln>
                          <a:effectLst/>
                        </a:rPr>
                        <a:t>Memory</a:t>
                      </a:r>
                      <a:endParaRPr kumimoji="0" lang="en-US" sz="1300" b="0" i="0" u="none" strike="noStrike" cap="none" normalizeH="0" baseline="0" dirty="0">
                        <a:ln>
                          <a:noFill/>
                        </a:ln>
                        <a:solidFill>
                          <a:schemeClr val="tx1"/>
                        </a:solidFill>
                        <a:effectLst/>
                        <a:latin typeface="+mn-lt"/>
                      </a:endParaRPr>
                    </a:p>
                  </a:txBody>
                  <a:tcPr marL="78570" marR="78570" marT="46275" marB="46275" anchor="ctr"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Max. 1/4/8/12 GB</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extLst>
                  <a:ext uri="{0D108BD9-81ED-4DB2-BD59-A6C34878D82A}">
                    <a16:rowId xmlns:a16="http://schemas.microsoft.com/office/drawing/2014/main" val="10003"/>
                  </a:ext>
                </a:extLst>
              </a:tr>
              <a:tr h="498949">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10/100/1000 Interfaces</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2-4 virtual NICs</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extLst>
                  <a:ext uri="{0D108BD9-81ED-4DB2-BD59-A6C34878D82A}">
                    <a16:rowId xmlns:a16="http://schemas.microsoft.com/office/drawing/2014/main" val="10004"/>
                  </a:ext>
                </a:extLst>
              </a:tr>
              <a:tr h="49445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Storage Capacity</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300" u="none" strike="noStrike" cap="none" normalizeH="0" baseline="0" dirty="0">
                          <a:ln>
                            <a:noFill/>
                          </a:ln>
                          <a:effectLst/>
                        </a:rPr>
                        <a:t>40+ GB</a:t>
                      </a:r>
                      <a:endParaRPr kumimoji="0" lang="en-US" sz="1300" b="0" i="0" u="none" strike="noStrike" cap="none" normalizeH="0" baseline="0" dirty="0">
                        <a:ln>
                          <a:noFill/>
                        </a:ln>
                        <a:solidFill>
                          <a:schemeClr val="tx1"/>
                        </a:solidFill>
                        <a:effectLst/>
                        <a:latin typeface="+mn-lt"/>
                        <a:ea typeface="ＭＳ Ｐゴシック" pitchFamily="34" charset="-128"/>
                      </a:endParaRPr>
                    </a:p>
                  </a:txBody>
                  <a:tcPr marL="78570" marR="78570" marT="46275" marB="46275" anchor="ctr" horzOverflow="overflow"/>
                </a:tc>
                <a:extLst>
                  <a:ext uri="{0D108BD9-81ED-4DB2-BD59-A6C34878D82A}">
                    <a16:rowId xmlns:a16="http://schemas.microsoft.com/office/drawing/2014/main" val="10005"/>
                  </a:ext>
                </a:extLst>
              </a:tr>
            </a:tbl>
          </a:graphicData>
        </a:graphic>
      </p:graphicFrame>
      <p:pic>
        <p:nvPicPr>
          <p:cNvPr id="1026" name="Picture 2" descr="C:\Users\szia\AppData\Local\Temp\SNAGHTML336309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8400" y="1587693"/>
            <a:ext cx="3905250" cy="3705225"/>
          </a:xfrm>
          <a:prstGeom prst="rect">
            <a:avLst/>
          </a:prstGeom>
          <a:noFill/>
          <a:extLst>
            <a:ext uri="{909E8E84-426E-40DD-AFC4-6F175D3DCCD1}">
              <a14:hiddenFill xmlns:a14="http://schemas.microsoft.com/office/drawing/2010/main">
                <a:solidFill>
                  <a:srgbClr val="FFFFFF"/>
                </a:solidFill>
              </a14:hiddenFill>
            </a:ext>
          </a:extLst>
        </p:spPr>
      </p:pic>
      <p:sp>
        <p:nvSpPr>
          <p:cNvPr id="12" name="Rounded Rectangular Callout 11"/>
          <p:cNvSpPr/>
          <p:nvPr/>
        </p:nvSpPr>
        <p:spPr bwMode="invGray">
          <a:xfrm>
            <a:off x="3928411" y="1730224"/>
            <a:ext cx="1364864" cy="815586"/>
          </a:xfrm>
          <a:prstGeom prst="wedgeRoundRectCallout">
            <a:avLst>
              <a:gd name="adj1" fmla="val 29057"/>
              <a:gd name="adj2" fmla="val 79585"/>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FortiGate </a:t>
            </a:r>
            <a:r>
              <a:rPr lang="en-CA" sz="1600" dirty="0" smtClean="0"/>
              <a:t>Physical </a:t>
            </a:r>
            <a:r>
              <a:rPr lang="en-CA" sz="1600" dirty="0"/>
              <a:t>deployment</a:t>
            </a:r>
          </a:p>
        </p:txBody>
      </p:sp>
      <p:sp>
        <p:nvSpPr>
          <p:cNvPr id="13" name="Rounded Rectangular Callout 12"/>
          <p:cNvSpPr/>
          <p:nvPr/>
        </p:nvSpPr>
        <p:spPr bwMode="invGray">
          <a:xfrm>
            <a:off x="6354412" y="1836267"/>
            <a:ext cx="1309238" cy="603499"/>
          </a:xfrm>
          <a:prstGeom prst="wedgeRoundRectCallout">
            <a:avLst>
              <a:gd name="adj1" fmla="val -20833"/>
              <a:gd name="adj2" fmla="val 97472"/>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FortiGate VMX or VM</a:t>
            </a:r>
          </a:p>
        </p:txBody>
      </p:sp>
    </p:spTree>
    <p:custDataLst>
      <p:tags r:id="rId1"/>
    </p:custDataLst>
    <p:extLst>
      <p:ext uri="{BB962C8B-B14F-4D97-AF65-F5344CB8AC3E}">
        <p14:creationId xmlns:p14="http://schemas.microsoft.com/office/powerpoint/2010/main" val="2221117236"/>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US" dirty="0"/>
              <a:t>Which </a:t>
            </a:r>
            <a:r>
              <a:rPr lang="en-CA" dirty="0"/>
              <a:t>is a more accurate description of a modern firewall?</a:t>
            </a:r>
          </a:p>
          <a:p>
            <a:pPr marL="838133" lvl="1" indent="-457200">
              <a:buAutoNum type="alphaUcPeriod"/>
            </a:pPr>
            <a:r>
              <a:rPr lang="en-CA" dirty="0"/>
              <a:t>A device that inspects network traffic at an entry point to the </a:t>
            </a:r>
            <a:r>
              <a:rPr lang="en-CA" dirty="0" smtClean="0"/>
              <a:t>internet </a:t>
            </a:r>
            <a:r>
              <a:rPr lang="en-CA" dirty="0"/>
              <a:t>and within a simple, </a:t>
            </a:r>
            <a:r>
              <a:rPr lang="en-CA" dirty="0" smtClean="0"/>
              <a:t>easily defined </a:t>
            </a:r>
            <a:r>
              <a:rPr lang="en-CA" dirty="0"/>
              <a:t>network perimeter</a:t>
            </a:r>
          </a:p>
          <a:p>
            <a:pPr marL="838133" lvl="1" indent="-457200">
              <a:buAutoNum type="alphaUcPeriod"/>
            </a:pPr>
            <a:r>
              <a:rPr lang="en-CA" dirty="0"/>
              <a:t>A multifunctional device that inspects network traffic from the perimeter or internally, within a network that has many different entry points</a:t>
            </a:r>
          </a:p>
          <a:p>
            <a:pPr marL="380933" lvl="1" indent="0">
              <a:buNone/>
            </a:pPr>
            <a:endParaRPr lang="en-CA" dirty="0"/>
          </a:p>
          <a:p>
            <a:pPr marL="457200" indent="-457200">
              <a:buFont typeface="+mj-lt"/>
              <a:buAutoNum type="arabicPeriod"/>
            </a:pPr>
            <a:r>
              <a:rPr lang="en-CA" dirty="0" smtClean="0"/>
              <a:t>Which solution specific </a:t>
            </a:r>
            <a:r>
              <a:rPr lang="en-CA" dirty="0"/>
              <a:t>to </a:t>
            </a:r>
            <a:r>
              <a:rPr lang="en-CA" dirty="0" smtClean="0"/>
              <a:t>Fortinet enhances </a:t>
            </a:r>
            <a:r>
              <a:rPr lang="en-CA" dirty="0"/>
              <a:t>performance and reduces latency for specific features and traffic?</a:t>
            </a:r>
          </a:p>
          <a:p>
            <a:pPr marL="838133" lvl="1" indent="-457200">
              <a:buFont typeface="+mj-lt"/>
              <a:buAutoNum type="alphaUcPeriod"/>
            </a:pPr>
            <a:r>
              <a:rPr lang="en-CA" dirty="0"/>
              <a:t>Acceleration hardware, called SPUs</a:t>
            </a:r>
          </a:p>
          <a:p>
            <a:pPr marL="838133" lvl="1" indent="-457200">
              <a:buFont typeface="+mj-lt"/>
              <a:buAutoNum type="alphaUcPeriod"/>
            </a:pPr>
            <a:r>
              <a:rPr lang="en-CA" dirty="0"/>
              <a:t>Increased RAM and CPU power</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411" y="1920298"/>
            <a:ext cx="277018" cy="296123"/>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042" y="3520445"/>
            <a:ext cx="268118" cy="286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784301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201435788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48B0B36B-4950-4756-B2C5-A866249B75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2032" y="1823286"/>
            <a:ext cx="566472" cy="605539"/>
          </a:xfrm>
          <a:prstGeom prst="rect">
            <a:avLst/>
          </a:prstGeom>
        </p:spPr>
      </p:pic>
    </p:spTree>
    <p:custDataLst>
      <p:tags r:id="rId1"/>
    </p:custDataLst>
    <p:extLst>
      <p:ext uri="{BB962C8B-B14F-4D97-AF65-F5344CB8AC3E}">
        <p14:creationId xmlns:p14="http://schemas.microsoft.com/office/powerpoint/2010/main" val="218168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Setup Decisions</a:t>
            </a:r>
          </a:p>
        </p:txBody>
      </p:sp>
      <p:sp>
        <p:nvSpPr>
          <p:cNvPr id="3" name="Text Placeholder 2"/>
          <p:cNvSpPr>
            <a:spLocks noGrp="1"/>
          </p:cNvSpPr>
          <p:nvPr>
            <p:ph type="body" sz="quarter" idx="11"/>
          </p:nvPr>
        </p:nvSpPr>
        <p:spPr/>
        <p:txBody>
          <a:bodyPr/>
          <a:lstStyle/>
          <a:p>
            <a:r>
              <a:rPr lang="en-CA" dirty="0"/>
              <a:t>Identify the factory </a:t>
            </a:r>
            <a:r>
              <a:rPr lang="en-CA" dirty="0" smtClean="0"/>
              <a:t>default settings</a:t>
            </a:r>
            <a:endParaRPr lang="en-CA" dirty="0"/>
          </a:p>
          <a:p>
            <a:r>
              <a:rPr lang="en-CA" dirty="0"/>
              <a:t>Understand </a:t>
            </a:r>
            <a:r>
              <a:rPr lang="en-CA" dirty="0" smtClean="0"/>
              <a:t>the FortiGate </a:t>
            </a:r>
            <a:r>
              <a:rPr lang="en-CA" dirty="0"/>
              <a:t>relationship with </a:t>
            </a:r>
            <a:r>
              <a:rPr lang="en-CA" dirty="0" smtClean="0"/>
              <a:t>FortiGuard and </a:t>
            </a:r>
            <a:r>
              <a:rPr lang="en-CA" dirty="0"/>
              <a:t>distinguish between live queries and package updates</a:t>
            </a:r>
          </a:p>
          <a:p>
            <a:pPr marL="0" indent="0">
              <a:buNone/>
            </a:pPr>
            <a:endParaRPr lang="en-CA" dirty="0"/>
          </a:p>
        </p:txBody>
      </p:sp>
    </p:spTree>
    <p:custDataLst>
      <p:tags r:id="rId1"/>
    </p:custDataLst>
    <p:extLst>
      <p:ext uri="{BB962C8B-B14F-4D97-AF65-F5344CB8AC3E}">
        <p14:creationId xmlns:p14="http://schemas.microsoft.com/office/powerpoint/2010/main" val="137525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Oval 3"/>
          <p:cNvSpPr>
            <a:spLocks noChangeArrowheads="1"/>
          </p:cNvSpPr>
          <p:nvPr/>
        </p:nvSpPr>
        <p:spPr bwMode="auto">
          <a:xfrm>
            <a:off x="4348617" y="4094163"/>
            <a:ext cx="2483792" cy="9144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13316" name="Oval 5"/>
          <p:cNvSpPr>
            <a:spLocks noChangeArrowheads="1"/>
          </p:cNvSpPr>
          <p:nvPr/>
        </p:nvSpPr>
        <p:spPr bwMode="auto">
          <a:xfrm>
            <a:off x="8567094" y="146051"/>
            <a:ext cx="944317" cy="550863"/>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7" name="Rectangle 3"/>
          <p:cNvSpPr txBox="1">
            <a:spLocks noChangeArrowheads="1"/>
          </p:cNvSpPr>
          <p:nvPr/>
        </p:nvSpPr>
        <p:spPr>
          <a:xfrm>
            <a:off x="1980684" y="1270801"/>
            <a:ext cx="7759267" cy="4313239"/>
          </a:xfrm>
          <a:prstGeom prst="rect">
            <a:avLst/>
          </a:prstGeom>
        </p:spPr>
        <p:txBody>
          <a:bodyPr lIns="121899" tIns="60949" rIns="121899" bIns="60949"/>
          <a:lstStyle>
            <a:lvl1pPr marL="173038" indent="-173038" algn="l" rtl="0" eaLnBrk="0" fontAlgn="base" hangingPunct="0">
              <a:spcBef>
                <a:spcPct val="20000"/>
              </a:spcBef>
              <a:spcAft>
                <a:spcPct val="0"/>
              </a:spcAft>
              <a:buClr>
                <a:srgbClr val="FF0000"/>
              </a:buClr>
              <a:buSzPct val="100000"/>
              <a:buFont typeface="Times" pitchFamily="18" charset="0"/>
              <a:buChar char="•"/>
              <a:defRPr sz="2400">
                <a:solidFill>
                  <a:schemeClr val="tx1"/>
                </a:solidFill>
                <a:latin typeface="+mn-lt"/>
                <a:ea typeface="+mn-ea"/>
                <a:cs typeface="+mn-cs"/>
              </a:defRPr>
            </a:lvl1pPr>
            <a:lvl2pPr marL="463550" indent="-176213" algn="l" rtl="0" eaLnBrk="0" fontAlgn="base" hangingPunct="0">
              <a:lnSpc>
                <a:spcPct val="110000"/>
              </a:lnSpc>
              <a:spcBef>
                <a:spcPct val="20000"/>
              </a:spcBef>
              <a:spcAft>
                <a:spcPct val="0"/>
              </a:spcAft>
              <a:buClr>
                <a:srgbClr val="FF0000"/>
              </a:buClr>
              <a:buFont typeface="Times" pitchFamily="18" charset="0"/>
              <a:buChar char="•"/>
              <a:defRPr sz="2000">
                <a:solidFill>
                  <a:schemeClr val="tx1"/>
                </a:solidFill>
                <a:latin typeface="+mn-lt"/>
              </a:defRPr>
            </a:lvl2pPr>
            <a:lvl3pPr marL="747713" indent="-169863" algn="l" rtl="0" eaLnBrk="0" fontAlgn="base" hangingPunct="0">
              <a:lnSpc>
                <a:spcPct val="110000"/>
              </a:lnSpc>
              <a:spcBef>
                <a:spcPct val="20000"/>
              </a:spcBef>
              <a:spcAft>
                <a:spcPct val="0"/>
              </a:spcAft>
              <a:buClr>
                <a:srgbClr val="FF0000"/>
              </a:buClr>
              <a:buFont typeface="Times" pitchFamily="18" charset="0"/>
              <a:buChar char="•"/>
              <a:defRPr>
                <a:solidFill>
                  <a:schemeClr val="tx1"/>
                </a:solidFill>
                <a:latin typeface="+mn-lt"/>
              </a:defRPr>
            </a:lvl3pPr>
            <a:lvl4pPr marL="1139825" indent="-228600" algn="l" rtl="0" eaLnBrk="0" fontAlgn="base" hangingPunct="0">
              <a:lnSpc>
                <a:spcPct val="110000"/>
              </a:lnSpc>
              <a:spcBef>
                <a:spcPct val="20000"/>
              </a:spcBef>
              <a:spcAft>
                <a:spcPct val="0"/>
              </a:spcAft>
              <a:buClr>
                <a:srgbClr val="FF0000"/>
              </a:buClr>
              <a:buFont typeface="Times" pitchFamily="18" charset="0"/>
              <a:buChar char="•"/>
              <a:defRPr sz="1600">
                <a:solidFill>
                  <a:schemeClr val="tx1"/>
                </a:solidFill>
                <a:latin typeface="+mn-lt"/>
              </a:defRPr>
            </a:lvl4pPr>
            <a:lvl5pPr marL="1492250" indent="-228600" algn="l" rtl="0" eaLnBrk="0" fontAlgn="base" hangingPunct="0">
              <a:lnSpc>
                <a:spcPct val="110000"/>
              </a:lnSpc>
              <a:spcBef>
                <a:spcPct val="20000"/>
              </a:spcBef>
              <a:spcAft>
                <a:spcPct val="0"/>
              </a:spcAft>
              <a:buClr>
                <a:srgbClr val="FF0000"/>
              </a:buClr>
              <a:buFont typeface="Times" pitchFamily="18" charset="0"/>
              <a:buChar char="•"/>
              <a:defRPr sz="1400">
                <a:solidFill>
                  <a:schemeClr val="tx1"/>
                </a:solidFill>
                <a:latin typeface="+mn-lt"/>
              </a:defRPr>
            </a:lvl5pPr>
            <a:lvl6pPr marL="1949450" indent="-228600" algn="l" rtl="0" fontAlgn="base">
              <a:lnSpc>
                <a:spcPct val="110000"/>
              </a:lnSpc>
              <a:spcBef>
                <a:spcPct val="20000"/>
              </a:spcBef>
              <a:spcAft>
                <a:spcPct val="0"/>
              </a:spcAft>
              <a:buClr>
                <a:srgbClr val="FF0000"/>
              </a:buClr>
              <a:buFont typeface="Times" pitchFamily="18" charset="0"/>
              <a:buChar char="•"/>
              <a:defRPr sz="1400">
                <a:solidFill>
                  <a:schemeClr val="tx1"/>
                </a:solidFill>
                <a:latin typeface="+mn-lt"/>
              </a:defRPr>
            </a:lvl6pPr>
            <a:lvl7pPr marL="2406650" indent="-228600" algn="l" rtl="0" fontAlgn="base">
              <a:lnSpc>
                <a:spcPct val="110000"/>
              </a:lnSpc>
              <a:spcBef>
                <a:spcPct val="20000"/>
              </a:spcBef>
              <a:spcAft>
                <a:spcPct val="0"/>
              </a:spcAft>
              <a:buClr>
                <a:srgbClr val="FF0000"/>
              </a:buClr>
              <a:buFont typeface="Times" pitchFamily="18" charset="0"/>
              <a:buChar char="•"/>
              <a:defRPr sz="1400">
                <a:solidFill>
                  <a:schemeClr val="tx1"/>
                </a:solidFill>
                <a:latin typeface="+mn-lt"/>
              </a:defRPr>
            </a:lvl7pPr>
            <a:lvl8pPr marL="2863850" indent="-228600" algn="l" rtl="0" fontAlgn="base">
              <a:lnSpc>
                <a:spcPct val="110000"/>
              </a:lnSpc>
              <a:spcBef>
                <a:spcPct val="20000"/>
              </a:spcBef>
              <a:spcAft>
                <a:spcPct val="0"/>
              </a:spcAft>
              <a:buClr>
                <a:srgbClr val="FF0000"/>
              </a:buClr>
              <a:buFont typeface="Times" pitchFamily="18" charset="0"/>
              <a:buChar char="•"/>
              <a:defRPr sz="1400">
                <a:solidFill>
                  <a:schemeClr val="tx1"/>
                </a:solidFill>
                <a:latin typeface="+mn-lt"/>
              </a:defRPr>
            </a:lvl8pPr>
            <a:lvl9pPr marL="3321050" indent="-228600" algn="l" rtl="0" fontAlgn="base">
              <a:lnSpc>
                <a:spcPct val="110000"/>
              </a:lnSpc>
              <a:spcBef>
                <a:spcPct val="20000"/>
              </a:spcBef>
              <a:spcAft>
                <a:spcPct val="0"/>
              </a:spcAft>
              <a:buClr>
                <a:srgbClr val="FF0000"/>
              </a:buClr>
              <a:buFont typeface="Times" pitchFamily="18" charset="0"/>
              <a:buChar char="•"/>
              <a:defRPr sz="1400">
                <a:solidFill>
                  <a:schemeClr val="tx1"/>
                </a:solidFill>
                <a:latin typeface="+mn-lt"/>
              </a:defRPr>
            </a:lvl9pPr>
          </a:lstStyle>
          <a:p>
            <a:pPr>
              <a:defRPr/>
            </a:pPr>
            <a:endParaRPr lang="en-US" dirty="0">
              <a:latin typeface="Arial Narrow" pitchFamily="34" charset="0"/>
              <a:cs typeface="Arial" pitchFamily="34" charset="0"/>
            </a:endParaRPr>
          </a:p>
        </p:txBody>
      </p:sp>
      <p:sp>
        <p:nvSpPr>
          <p:cNvPr id="2" name="Title 1"/>
          <p:cNvSpPr>
            <a:spLocks noGrp="1"/>
          </p:cNvSpPr>
          <p:nvPr>
            <p:ph type="title"/>
          </p:nvPr>
        </p:nvSpPr>
        <p:spPr/>
        <p:txBody>
          <a:bodyPr/>
          <a:lstStyle/>
          <a:p>
            <a:r>
              <a:rPr lang="en-US"/>
              <a:t>Factory Default Settings</a:t>
            </a:r>
            <a:endParaRPr lang="en-US" dirty="0"/>
          </a:p>
        </p:txBody>
      </p:sp>
      <p:sp>
        <p:nvSpPr>
          <p:cNvPr id="5" name="Content Placeholder 4"/>
          <p:cNvSpPr>
            <a:spLocks noGrp="1"/>
          </p:cNvSpPr>
          <p:nvPr>
            <p:ph idx="1"/>
          </p:nvPr>
        </p:nvSpPr>
        <p:spPr/>
        <p:txBody>
          <a:bodyPr/>
          <a:lstStyle/>
          <a:p>
            <a:pPr>
              <a:defRPr/>
            </a:pPr>
            <a:r>
              <a:rPr lang="en-US" dirty="0">
                <a:cs typeface="Arial" pitchFamily="34" charset="0"/>
              </a:rPr>
              <a:t>IP: </a:t>
            </a:r>
            <a:r>
              <a:rPr lang="en-US" sz="2000" dirty="0">
                <a:latin typeface="Courier New" panose="02070309020205020404" pitchFamily="49" charset="0"/>
                <a:cs typeface="Courier New" panose="02070309020205020404" pitchFamily="49" charset="0"/>
              </a:rPr>
              <a:t>192.168.1.99/24</a:t>
            </a:r>
          </a:p>
          <a:p>
            <a:pPr lvl="1">
              <a:defRPr/>
            </a:pPr>
            <a:r>
              <a:rPr lang="en-US" sz="1600" dirty="0">
                <a:cs typeface="Courier New" panose="02070309020205020404" pitchFamily="49" charset="0"/>
              </a:rPr>
              <a:t>MGMT interface on </a:t>
            </a:r>
            <a:r>
              <a:rPr lang="en-US" sz="1600" dirty="0" smtClean="0">
                <a:cs typeface="Courier New" panose="02070309020205020404" pitchFamily="49" charset="0"/>
              </a:rPr>
              <a:t>high-end </a:t>
            </a:r>
            <a:r>
              <a:rPr lang="en-US" sz="1600" dirty="0">
                <a:cs typeface="Courier New" panose="02070309020205020404" pitchFamily="49" charset="0"/>
              </a:rPr>
              <a:t>and </a:t>
            </a:r>
            <a:r>
              <a:rPr lang="en-US" sz="1600" dirty="0" smtClean="0">
                <a:cs typeface="Courier New" panose="02070309020205020404" pitchFamily="49" charset="0"/>
              </a:rPr>
              <a:t>mid-range </a:t>
            </a:r>
            <a:r>
              <a:rPr lang="en-US" sz="1600" dirty="0">
                <a:cs typeface="Courier New" panose="02070309020205020404" pitchFamily="49" charset="0"/>
              </a:rPr>
              <a:t>models</a:t>
            </a:r>
          </a:p>
          <a:p>
            <a:pPr lvl="1">
              <a:defRPr/>
            </a:pPr>
            <a:r>
              <a:rPr lang="en-US" sz="1600" dirty="0">
                <a:cs typeface="Arial" pitchFamily="34" charset="0"/>
              </a:rPr>
              <a:t>Port1 or internal interface on </a:t>
            </a:r>
            <a:r>
              <a:rPr lang="en-US" sz="1600" dirty="0" smtClean="0">
                <a:cs typeface="Arial" pitchFamily="34" charset="0"/>
              </a:rPr>
              <a:t>entry-level </a:t>
            </a:r>
            <a:r>
              <a:rPr lang="en-US" sz="1600" dirty="0">
                <a:cs typeface="Arial" pitchFamily="34" charset="0"/>
              </a:rPr>
              <a:t>models</a:t>
            </a:r>
            <a:endParaRPr lang="en-US" sz="1600" dirty="0">
              <a:latin typeface="Courier New" panose="02070309020205020404" pitchFamily="49" charset="0"/>
              <a:cs typeface="Courier New" panose="02070309020205020404" pitchFamily="49" charset="0"/>
            </a:endParaRPr>
          </a:p>
          <a:p>
            <a:pPr>
              <a:defRPr/>
            </a:pPr>
            <a:r>
              <a:rPr lang="en-US" dirty="0">
                <a:cs typeface="Courier New" pitchFamily="49" charset="0"/>
              </a:rPr>
              <a:t>PING, </a:t>
            </a:r>
            <a:r>
              <a:rPr lang="en-US" dirty="0" smtClean="0">
                <a:cs typeface="Courier New" pitchFamily="49" charset="0"/>
              </a:rPr>
              <a:t>HTTPS</a:t>
            </a:r>
            <a:r>
              <a:rPr lang="en-US" dirty="0">
                <a:cs typeface="Courier New" pitchFamily="49" charset="0"/>
              </a:rPr>
              <a:t>, and SSH protocol management enabled</a:t>
            </a:r>
          </a:p>
          <a:p>
            <a:pPr>
              <a:defRPr/>
            </a:pPr>
            <a:r>
              <a:rPr lang="en-US" dirty="0">
                <a:cs typeface="Arial" pitchFamily="34" charset="0"/>
              </a:rPr>
              <a:t>Built-in DHCP server is enabled on port1 or internal interface </a:t>
            </a:r>
          </a:p>
          <a:p>
            <a:pPr lvl="1">
              <a:defRPr/>
            </a:pPr>
            <a:r>
              <a:rPr lang="en-US" dirty="0">
                <a:cs typeface="Arial" pitchFamily="34" charset="0"/>
              </a:rPr>
              <a:t>Only on entry-level models that support DHCP server</a:t>
            </a:r>
          </a:p>
          <a:p>
            <a:pPr>
              <a:defRPr/>
            </a:pPr>
            <a:r>
              <a:rPr lang="en-US" dirty="0">
                <a:cs typeface="Arial" pitchFamily="34" charset="0"/>
              </a:rPr>
              <a:t>Default login: </a:t>
            </a:r>
          </a:p>
          <a:p>
            <a:pPr marL="290461" lvl="1" indent="0">
              <a:buNone/>
              <a:defRPr/>
            </a:pPr>
            <a:r>
              <a:rPr lang="en-US" sz="2400" dirty="0">
                <a:cs typeface="Arial" pitchFamily="34" charset="0"/>
              </a:rPr>
              <a:t>User: </a:t>
            </a:r>
            <a:r>
              <a:rPr lang="en-US" sz="2400" dirty="0">
                <a:latin typeface="Courier New" panose="02070309020205020404" pitchFamily="49" charset="0"/>
                <a:cs typeface="Courier New" panose="02070309020205020404" pitchFamily="49" charset="0"/>
              </a:rPr>
              <a:t>admin</a:t>
            </a:r>
          </a:p>
          <a:p>
            <a:pPr marL="290461" lvl="1" indent="0">
              <a:buNone/>
              <a:defRPr/>
            </a:pPr>
            <a:r>
              <a:rPr lang="en-US" sz="2400" dirty="0">
                <a:cs typeface="Arial" pitchFamily="34" charset="0"/>
              </a:rPr>
              <a:t>Password: </a:t>
            </a:r>
            <a:r>
              <a:rPr lang="en-US" sz="2400" dirty="0">
                <a:solidFill>
                  <a:schemeClr val="bg1">
                    <a:lumMod val="75000"/>
                  </a:schemeClr>
                </a:solidFill>
                <a:cs typeface="Arial" pitchFamily="34" charset="0"/>
              </a:rPr>
              <a:t>(blank)</a:t>
            </a:r>
          </a:p>
          <a:p>
            <a:pPr lvl="1">
              <a:defRPr/>
            </a:pPr>
            <a:r>
              <a:rPr lang="en-US" dirty="0">
                <a:cs typeface="Arial" pitchFamily="34" charset="0"/>
              </a:rPr>
              <a:t>Both are case sensitive</a:t>
            </a:r>
          </a:p>
          <a:p>
            <a:pPr lvl="1">
              <a:defRPr/>
            </a:pPr>
            <a:r>
              <a:rPr lang="en-US" dirty="0">
                <a:cs typeface="Arial" pitchFamily="34" charset="0"/>
              </a:rPr>
              <a:t>Modify the default (blank)</a:t>
            </a:r>
            <a:br>
              <a:rPr lang="en-US" dirty="0">
                <a:cs typeface="Arial" pitchFamily="34" charset="0"/>
              </a:rPr>
            </a:br>
            <a:r>
              <a:rPr lang="en-US" dirty="0">
                <a:cs typeface="Arial" pitchFamily="34" charset="0"/>
              </a:rPr>
              <a:t>password</a:t>
            </a:r>
          </a:p>
          <a:p>
            <a:pPr>
              <a:defRPr/>
            </a:pPr>
            <a:r>
              <a:rPr lang="en-US" dirty="0">
                <a:cs typeface="Arial" pitchFamily="34" charset="0"/>
              </a:rPr>
              <a:t>Can access FortiGate on the CLI</a:t>
            </a:r>
          </a:p>
          <a:p>
            <a:pPr lvl="1">
              <a:defRPr/>
            </a:pPr>
            <a:r>
              <a:rPr lang="en-US" dirty="0">
                <a:cs typeface="Arial" pitchFamily="34" charset="0"/>
              </a:rPr>
              <a:t>Console: without network</a:t>
            </a:r>
          </a:p>
          <a:p>
            <a:pPr lvl="1">
              <a:defRPr/>
            </a:pPr>
            <a:r>
              <a:rPr lang="en-US" dirty="0">
                <a:cs typeface="Arial" pitchFamily="34" charset="0"/>
              </a:rPr>
              <a:t>CLI </a:t>
            </a:r>
            <a:r>
              <a:rPr lang="en-US" dirty="0" smtClean="0">
                <a:cs typeface="Arial" pitchFamily="34" charset="0"/>
              </a:rPr>
              <a:t>console </a:t>
            </a:r>
            <a:r>
              <a:rPr lang="en-US" dirty="0">
                <a:cs typeface="Arial" pitchFamily="34" charset="0"/>
              </a:rPr>
              <a:t>widget and terminal emulator, such as </a:t>
            </a:r>
            <a:r>
              <a:rPr lang="en-US" dirty="0" err="1">
                <a:cs typeface="Arial" pitchFamily="34" charset="0"/>
              </a:rPr>
              <a:t>PuTTY</a:t>
            </a:r>
            <a:r>
              <a:rPr lang="en-US" dirty="0">
                <a:cs typeface="Arial" pitchFamily="34" charset="0"/>
              </a:rPr>
              <a:t> or </a:t>
            </a:r>
            <a:r>
              <a:rPr lang="en-US" dirty="0" err="1">
                <a:cs typeface="Arial" pitchFamily="34" charset="0"/>
              </a:rPr>
              <a:t>Tera</a:t>
            </a:r>
            <a:r>
              <a:rPr lang="en-US" dirty="0">
                <a:cs typeface="Arial" pitchFamily="34" charset="0"/>
              </a:rPr>
              <a:t> Term</a:t>
            </a:r>
            <a:endParaRPr lang="en-US" dirty="0"/>
          </a:p>
        </p:txBody>
      </p:sp>
      <p:pic>
        <p:nvPicPr>
          <p:cNvPr id="14"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9562898" y="3882300"/>
            <a:ext cx="1263820" cy="1701740"/>
          </a:xfrm>
          <a:prstGeom prst="rect">
            <a:avLst/>
          </a:prstGeom>
          <a:noFill/>
        </p:spPr>
      </p:pic>
      <p:sp>
        <p:nvSpPr>
          <p:cNvPr id="16" name="Freeform 15"/>
          <p:cNvSpPr/>
          <p:nvPr/>
        </p:nvSpPr>
        <p:spPr bwMode="auto">
          <a:xfrm rot="10545375">
            <a:off x="6762400" y="3444790"/>
            <a:ext cx="1822037" cy="1801233"/>
          </a:xfrm>
          <a:custGeom>
            <a:avLst/>
            <a:gdLst>
              <a:gd name="connsiteX0" fmla="*/ 78377 w 1424036"/>
              <a:gd name="connsiteY0" fmla="*/ 0 h 902149"/>
              <a:gd name="connsiteX1" fmla="*/ 1423851 w 1424036"/>
              <a:gd name="connsiteY1" fmla="*/ 822960 h 902149"/>
              <a:gd name="connsiteX2" fmla="*/ 0 w 1424036"/>
              <a:gd name="connsiteY2" fmla="*/ 822960 h 902149"/>
              <a:gd name="connsiteX0" fmla="*/ 0 w 1399820"/>
              <a:gd name="connsiteY0" fmla="*/ 0 h 1365156"/>
              <a:gd name="connsiteX1" fmla="*/ 1345474 w 1399820"/>
              <a:gd name="connsiteY1" fmla="*/ 822960 h 1365156"/>
              <a:gd name="connsiteX2" fmla="*/ 728359 w 1399820"/>
              <a:gd name="connsiteY2" fmla="*/ 1356933 h 1365156"/>
            </a:gdLst>
            <a:ahLst/>
            <a:cxnLst>
              <a:cxn ang="0">
                <a:pos x="connsiteX0" y="connsiteY0"/>
              </a:cxn>
              <a:cxn ang="0">
                <a:pos x="connsiteX1" y="connsiteY1"/>
              </a:cxn>
              <a:cxn ang="0">
                <a:pos x="connsiteX2" y="connsiteY2"/>
              </a:cxn>
            </a:cxnLst>
            <a:rect l="l" t="t" r="r" b="b"/>
            <a:pathLst>
              <a:path w="1399820" h="1365156">
                <a:moveTo>
                  <a:pt x="0" y="0"/>
                </a:moveTo>
                <a:cubicBezTo>
                  <a:pt x="679268" y="342900"/>
                  <a:pt x="1224081" y="596805"/>
                  <a:pt x="1345474" y="822960"/>
                </a:cubicBezTo>
                <a:cubicBezTo>
                  <a:pt x="1466867" y="1049115"/>
                  <a:pt x="1433753" y="1425513"/>
                  <a:pt x="728359" y="1356933"/>
                </a:cubicBezTo>
              </a:path>
            </a:pathLst>
          </a:custGeom>
          <a:noFill/>
          <a:ln w="38100"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lIns="121899" tIns="60949" rIns="121899" bIns="60949" rtlCol="0" anchor="ctr"/>
          <a:lstStyle/>
          <a:p>
            <a:pPr algn="ctr"/>
            <a:endParaRPr lang="en-US"/>
          </a:p>
        </p:txBody>
      </p:sp>
      <p:pic>
        <p:nvPicPr>
          <p:cNvPr id="17" name="Picture 16"/>
          <p:cNvPicPr>
            <a:picLocks noChangeAspect="1"/>
          </p:cNvPicPr>
          <p:nvPr/>
        </p:nvPicPr>
        <p:blipFill>
          <a:blip r:embed="rId5" cstate="print"/>
          <a:stretch>
            <a:fillRect/>
          </a:stretch>
        </p:blipFill>
        <p:spPr>
          <a:xfrm>
            <a:off x="8158947" y="4424133"/>
            <a:ext cx="1177403" cy="1257555"/>
          </a:xfrm>
          <a:prstGeom prst="rect">
            <a:avLst/>
          </a:prstGeom>
        </p:spPr>
      </p:pic>
      <p:pic>
        <p:nvPicPr>
          <p:cNvPr id="18" name="Picture 17"/>
          <p:cNvPicPr>
            <a:picLocks noChangeAspect="1"/>
          </p:cNvPicPr>
          <p:nvPr/>
        </p:nvPicPr>
        <p:blipFill>
          <a:blip r:embed="rId6"/>
          <a:stretch>
            <a:fillRect/>
          </a:stretch>
        </p:blipFill>
        <p:spPr>
          <a:xfrm>
            <a:off x="7235956" y="2805957"/>
            <a:ext cx="1331138" cy="927482"/>
          </a:xfrm>
          <a:prstGeom prst="rect">
            <a:avLst/>
          </a:prstGeom>
        </p:spPr>
      </p:pic>
    </p:spTree>
    <p:custDataLst>
      <p:tags r:id="rId1"/>
    </p:custDataLst>
    <p:extLst>
      <p:ext uri="{BB962C8B-B14F-4D97-AF65-F5344CB8AC3E}">
        <p14:creationId xmlns:p14="http://schemas.microsoft.com/office/powerpoint/2010/main" val="33521254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73520" y="2789888"/>
            <a:ext cx="2382718" cy="1036235"/>
          </a:xfrm>
          <a:prstGeom prst="rect">
            <a:avLst/>
          </a:prstGeom>
        </p:spPr>
      </p:pic>
      <p:sp>
        <p:nvSpPr>
          <p:cNvPr id="12291" name="Rectangle 2"/>
          <p:cNvSpPr>
            <a:spLocks noGrp="1" noChangeArrowheads="1"/>
          </p:cNvSpPr>
          <p:nvPr>
            <p:ph type="title"/>
          </p:nvPr>
        </p:nvSpPr>
        <p:spPr/>
        <p:txBody>
          <a:bodyPr>
            <a:normAutofit/>
          </a:bodyPr>
          <a:lstStyle/>
          <a:p>
            <a:r>
              <a:rPr lang="en-US" dirty="0"/>
              <a:t>FortiGuard Subscription Services</a:t>
            </a:r>
          </a:p>
        </p:txBody>
      </p:sp>
      <p:sp>
        <p:nvSpPr>
          <p:cNvPr id="3" name="Text Placeholder 2"/>
          <p:cNvSpPr>
            <a:spLocks noGrp="1"/>
          </p:cNvSpPr>
          <p:nvPr>
            <p:ph idx="1"/>
          </p:nvPr>
        </p:nvSpPr>
        <p:spPr/>
        <p:txBody>
          <a:bodyPr>
            <a:normAutofit/>
          </a:bodyPr>
          <a:lstStyle/>
          <a:p>
            <a:r>
              <a:rPr lang="en-US" dirty="0"/>
              <a:t>Internet connection and contract required</a:t>
            </a:r>
          </a:p>
          <a:p>
            <a:r>
              <a:rPr lang="en-US" dirty="0"/>
              <a:t>Provided by FortiGuard Distribution Network (FDN)</a:t>
            </a:r>
          </a:p>
          <a:p>
            <a:pPr lvl="1"/>
            <a:r>
              <a:rPr lang="en-US" dirty="0"/>
              <a:t>Major data centers </a:t>
            </a:r>
            <a:r>
              <a:rPr lang="en-US" dirty="0" smtClean="0"/>
              <a:t>in North </a:t>
            </a:r>
            <a:r>
              <a:rPr lang="en-US" dirty="0"/>
              <a:t>America, Asia, and Europe</a:t>
            </a:r>
          </a:p>
          <a:p>
            <a:pPr lvl="2"/>
            <a:r>
              <a:rPr lang="en-US" dirty="0"/>
              <a:t>Or, from FDN through your FortiManager</a:t>
            </a:r>
          </a:p>
          <a:p>
            <a:pPr lvl="1"/>
            <a:r>
              <a:rPr lang="en-US" dirty="0"/>
              <a:t>FortiGate prefers the data center in nearest time zone, </a:t>
            </a:r>
            <a:br>
              <a:rPr lang="en-US" dirty="0"/>
            </a:br>
            <a:r>
              <a:rPr lang="en-US" dirty="0"/>
              <a:t>but will adjust by server load</a:t>
            </a:r>
          </a:p>
          <a:p>
            <a:r>
              <a:rPr lang="en-US" dirty="0">
                <a:solidFill>
                  <a:schemeClr val="tx1"/>
                </a:solidFill>
              </a:rPr>
              <a:t>Package updates: FortiGuard antivirus and IPS</a:t>
            </a:r>
          </a:p>
          <a:p>
            <a:pPr lvl="1"/>
            <a:r>
              <a:rPr lang="en-US" dirty="0">
                <a:solidFill>
                  <a:schemeClr val="tx1"/>
                </a:solidFill>
                <a:latin typeface="Courier New" panose="02070309020205020404" pitchFamily="49" charset="0"/>
                <a:cs typeface="Courier New" panose="02070309020205020404" pitchFamily="49" charset="0"/>
              </a:rPr>
              <a:t>update.fortiguard.net</a:t>
            </a:r>
          </a:p>
          <a:p>
            <a:pPr lvl="1"/>
            <a:r>
              <a:rPr lang="en-US" dirty="0">
                <a:solidFill>
                  <a:schemeClr val="tx1"/>
                </a:solidFill>
              </a:rPr>
              <a:t>TCP port 443 (SSL)</a:t>
            </a:r>
          </a:p>
          <a:p>
            <a:r>
              <a:rPr lang="en-US" dirty="0">
                <a:solidFill>
                  <a:schemeClr val="tx1"/>
                </a:solidFill>
              </a:rPr>
              <a:t>Live queries</a:t>
            </a:r>
            <a:r>
              <a:rPr lang="en-US" dirty="0"/>
              <a:t>: FortiGuard web filtering, DNS filtering, and antispam</a:t>
            </a:r>
          </a:p>
          <a:p>
            <a:pPr lvl="1"/>
            <a:r>
              <a:rPr lang="en-US" dirty="0">
                <a:latin typeface="Courier New" panose="02070309020205020404" pitchFamily="49" charset="0"/>
                <a:cs typeface="Courier New" panose="02070309020205020404" pitchFamily="49" charset="0"/>
              </a:rPr>
              <a:t>service.fortiguard.net </a:t>
            </a:r>
            <a:r>
              <a:rPr lang="en-US" dirty="0">
                <a:cs typeface="Courier New" panose="02070309020205020404" pitchFamily="49" charset="0"/>
              </a:rPr>
              <a:t>for p</a:t>
            </a:r>
            <a:r>
              <a:rPr lang="en-US" dirty="0"/>
              <a:t>roprietary protocol on UDP port 53 or 8888</a:t>
            </a:r>
          </a:p>
          <a:p>
            <a:pPr lvl="1"/>
            <a:r>
              <a:rPr lang="en-US" dirty="0">
                <a:latin typeface="Courier New" panose="02070309020205020404" pitchFamily="49" charset="0"/>
                <a:cs typeface="Courier New" panose="02070309020205020404" pitchFamily="49" charset="0"/>
              </a:rPr>
              <a:t>securewf.fortiguard.net </a:t>
            </a:r>
            <a:r>
              <a:rPr lang="en-US" dirty="0">
                <a:cs typeface="Courier New" panose="02070309020205020404" pitchFamily="49" charset="0"/>
              </a:rPr>
              <a:t>for HTTPS over </a:t>
            </a:r>
            <a:r>
              <a:rPr lang="en-US" dirty="0"/>
              <a:t>port 443, 53 </a:t>
            </a:r>
            <a:r>
              <a:rPr lang="en-US" dirty="0" smtClean="0"/>
              <a:t>or, 8888</a:t>
            </a:r>
          </a:p>
          <a:p>
            <a:r>
              <a:rPr lang="en-GB" dirty="0" err="1" smtClean="0"/>
              <a:t>FortiOS</a:t>
            </a:r>
            <a:r>
              <a:rPr lang="en-GB" dirty="0" smtClean="0"/>
              <a:t> uses FortiGuard server for DNS request</a:t>
            </a:r>
          </a:p>
          <a:p>
            <a:pPr lvl="1"/>
            <a:r>
              <a:rPr lang="en-GB" dirty="0" smtClean="0"/>
              <a:t>By default, uses DNS over TLS (DoT) to secure </a:t>
            </a:r>
            <a:r>
              <a:rPr lang="en-GB" dirty="0" err="1" smtClean="0"/>
              <a:t>dns</a:t>
            </a:r>
            <a:r>
              <a:rPr lang="en-GB" dirty="0" smtClean="0"/>
              <a:t> traffic</a:t>
            </a:r>
            <a:endParaRPr lang="en-US" dirty="0"/>
          </a:p>
          <a:p>
            <a:pPr lvl="1"/>
            <a:endParaRPr lang="en-US" dirty="0"/>
          </a:p>
          <a:p>
            <a:endParaRPr lang="en-US" dirty="0"/>
          </a:p>
        </p:txBody>
      </p:sp>
      <p:pic>
        <p:nvPicPr>
          <p:cNvPr id="6" name="Picture 5"/>
          <p:cNvPicPr>
            <a:picLocks noChangeAspect="1"/>
          </p:cNvPicPr>
          <p:nvPr/>
        </p:nvPicPr>
        <p:blipFill>
          <a:blip r:embed="rId5"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9236447" y="1030143"/>
            <a:ext cx="2056864" cy="1714500"/>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35470" y="2874617"/>
            <a:ext cx="676099" cy="866775"/>
          </a:xfrm>
          <a:prstGeom prst="rect">
            <a:avLst/>
          </a:prstGeom>
        </p:spPr>
      </p:pic>
    </p:spTree>
    <p:custDataLst>
      <p:tags r:id="rId1"/>
    </p:custDataLst>
    <p:extLst>
      <p:ext uri="{BB962C8B-B14F-4D97-AF65-F5344CB8AC3E}">
        <p14:creationId xmlns:p14="http://schemas.microsoft.com/office/powerpoint/2010/main" val="273414950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normAutofit/>
          </a:bodyPr>
          <a:lstStyle/>
          <a:p>
            <a:r>
              <a:rPr lang="en-US" dirty="0"/>
              <a:t>FortiGuard Subscription Services (</a:t>
            </a:r>
            <a:r>
              <a:rPr lang="en-US" dirty="0" err="1"/>
              <a:t>Contd</a:t>
            </a:r>
            <a:r>
              <a:rPr lang="en-US" dirty="0"/>
              <a:t>)</a:t>
            </a:r>
          </a:p>
        </p:txBody>
      </p:sp>
      <p:sp>
        <p:nvSpPr>
          <p:cNvPr id="3" name="Text Placeholder 2"/>
          <p:cNvSpPr>
            <a:spLocks noGrp="1"/>
          </p:cNvSpPr>
          <p:nvPr>
            <p:ph idx="1"/>
          </p:nvPr>
        </p:nvSpPr>
        <p:spPr/>
        <p:txBody>
          <a:bodyPr>
            <a:normAutofit/>
          </a:bodyPr>
          <a:lstStyle/>
          <a:p>
            <a:r>
              <a:rPr lang="en-GB" dirty="0"/>
              <a:t>FortiGuard third party SSL certificate verification and OCSP stapling check</a:t>
            </a:r>
          </a:p>
          <a:p>
            <a:pPr lvl="1"/>
            <a:r>
              <a:rPr lang="en-GB" dirty="0"/>
              <a:t>Default FortiGuard access mode is </a:t>
            </a:r>
            <a:r>
              <a:rPr lang="en-GB" dirty="0" err="1"/>
              <a:t>anycast</a:t>
            </a:r>
            <a:endParaRPr lang="en-GB" dirty="0"/>
          </a:p>
          <a:p>
            <a:pPr lvl="1"/>
            <a:r>
              <a:rPr lang="en-GB" dirty="0"/>
              <a:t>Optimize the routing performance to the FortiGuard servers</a:t>
            </a:r>
          </a:p>
          <a:p>
            <a:pPr lvl="1"/>
            <a:r>
              <a:rPr lang="en-GB" dirty="0"/>
              <a:t>FortiGate gets a single IP address for the domain name of each FortiGuard service</a:t>
            </a:r>
          </a:p>
          <a:p>
            <a:pPr lvl="1"/>
            <a:r>
              <a:rPr lang="en-GB" dirty="0"/>
              <a:t>FortiGuard servers query </a:t>
            </a:r>
            <a:r>
              <a:rPr lang="en-GB" dirty="0" smtClean="0"/>
              <a:t>the CA OCSP </a:t>
            </a:r>
            <a:r>
              <a:rPr lang="en-GB" dirty="0"/>
              <a:t>responder every four hours</a:t>
            </a:r>
          </a:p>
          <a:p>
            <a:pPr lvl="1"/>
            <a:r>
              <a:rPr lang="en-GB" dirty="0"/>
              <a:t>Enforce a connection to use protocol HTTPS and port 443</a:t>
            </a:r>
            <a:endParaRPr lang="en-US" dirty="0"/>
          </a:p>
          <a:p>
            <a:endParaRPr lang="en-US" dirty="0"/>
          </a:p>
        </p:txBody>
      </p:sp>
      <p:graphicFrame>
        <p:nvGraphicFramePr>
          <p:cNvPr id="2" name="Table 1"/>
          <p:cNvGraphicFramePr>
            <a:graphicFrameLocks noGrp="1"/>
          </p:cNvGraphicFramePr>
          <p:nvPr>
            <p:extLst/>
          </p:nvPr>
        </p:nvGraphicFramePr>
        <p:xfrm>
          <a:off x="1029116" y="2955852"/>
          <a:ext cx="9133331" cy="3505200"/>
        </p:xfrm>
        <a:graphic>
          <a:graphicData uri="http://schemas.openxmlformats.org/drawingml/2006/table">
            <a:tbl>
              <a:tblPr firstRow="1" bandRow="1">
                <a:tableStyleId>{F5AB1C69-6EDB-4FF4-983F-18BD219EF322}</a:tableStyleId>
              </a:tblPr>
              <a:tblGrid>
                <a:gridCol w="4083503">
                  <a:extLst>
                    <a:ext uri="{9D8B030D-6E8A-4147-A177-3AD203B41FA5}">
                      <a16:colId xmlns:a16="http://schemas.microsoft.com/office/drawing/2014/main" val="273451810"/>
                    </a:ext>
                  </a:extLst>
                </a:gridCol>
                <a:gridCol w="5049828">
                  <a:extLst>
                    <a:ext uri="{9D8B030D-6E8A-4147-A177-3AD203B41FA5}">
                      <a16:colId xmlns:a16="http://schemas.microsoft.com/office/drawing/2014/main" val="510042807"/>
                    </a:ext>
                  </a:extLst>
                </a:gridCol>
              </a:tblGrid>
              <a:tr h="370840">
                <a:tc>
                  <a:txBody>
                    <a:bodyPr/>
                    <a:lstStyle/>
                    <a:p>
                      <a:r>
                        <a:rPr lang="en-US" sz="1800" kern="1200" dirty="0">
                          <a:effectLst/>
                        </a:rPr>
                        <a:t>Server</a:t>
                      </a:r>
                      <a:endParaRPr lang="en-US" dirty="0"/>
                    </a:p>
                  </a:txBody>
                  <a:tcPr/>
                </a:tc>
                <a:tc>
                  <a:txBody>
                    <a:bodyPr/>
                    <a:lstStyle/>
                    <a:p>
                      <a:r>
                        <a:rPr lang="en-GB" sz="1800" kern="1200" dirty="0">
                          <a:effectLst/>
                        </a:rPr>
                        <a:t>Domain name and IP address</a:t>
                      </a:r>
                      <a:endParaRPr lang="en-US" dirty="0"/>
                    </a:p>
                  </a:txBody>
                  <a:tcPr/>
                </a:tc>
                <a:extLst>
                  <a:ext uri="{0D108BD9-81ED-4DB2-BD59-A6C34878D82A}">
                    <a16:rowId xmlns:a16="http://schemas.microsoft.com/office/drawing/2014/main" val="3086039738"/>
                  </a:ext>
                </a:extLst>
              </a:tr>
              <a:tr h="370840">
                <a:tc>
                  <a:txBody>
                    <a:bodyPr/>
                    <a:lstStyle/>
                    <a:p>
                      <a:r>
                        <a:rPr lang="en-US" sz="1800" kern="1200" dirty="0">
                          <a:effectLst/>
                        </a:rPr>
                        <a:t>Object download</a:t>
                      </a:r>
                      <a:endParaRPr lang="en-US" dirty="0"/>
                    </a:p>
                  </a:txBody>
                  <a:tcPr/>
                </a:tc>
                <a:tc>
                  <a:txBody>
                    <a:bodyPr/>
                    <a:lstStyle/>
                    <a:p>
                      <a:r>
                        <a:rPr lang="en-US" sz="1800" kern="1200" dirty="0">
                          <a:effectLst/>
                        </a:rPr>
                        <a:t>globalupdate.fortinet.net - 173.243.140.6</a:t>
                      </a:r>
                      <a:endParaRPr lang="en-US" dirty="0"/>
                    </a:p>
                  </a:txBody>
                  <a:tcPr/>
                </a:tc>
                <a:extLst>
                  <a:ext uri="{0D108BD9-81ED-4DB2-BD59-A6C34878D82A}">
                    <a16:rowId xmlns:a16="http://schemas.microsoft.com/office/drawing/2014/main" val="3015520043"/>
                  </a:ext>
                </a:extLst>
              </a:tr>
              <a:tr h="370840">
                <a:tc>
                  <a:txBody>
                    <a:bodyPr/>
                    <a:lstStyle/>
                    <a:p>
                      <a:r>
                        <a:rPr lang="en-US" sz="1800" kern="1200" dirty="0">
                          <a:effectLst/>
                        </a:rPr>
                        <a:t>Querying service (</a:t>
                      </a:r>
                      <a:r>
                        <a:rPr lang="en-US" sz="1800" kern="1200" dirty="0" err="1" smtClean="0">
                          <a:effectLst/>
                        </a:rPr>
                        <a:t>webfiltering</a:t>
                      </a:r>
                      <a:r>
                        <a:rPr lang="en-US" sz="1800" kern="1200" dirty="0">
                          <a:effectLst/>
                        </a:rPr>
                        <a:t>, </a:t>
                      </a:r>
                      <a:r>
                        <a:rPr lang="en-US" sz="1800" kern="1200" dirty="0" smtClean="0">
                          <a:effectLst/>
                        </a:rPr>
                        <a:t>antispam</a:t>
                      </a:r>
                      <a:r>
                        <a:rPr lang="en-US" sz="1800" kern="1200" dirty="0">
                          <a:effectLst/>
                        </a:rPr>
                        <a:t>)</a:t>
                      </a:r>
                      <a:endParaRPr lang="en-US" dirty="0"/>
                    </a:p>
                  </a:txBody>
                  <a:tcPr/>
                </a:tc>
                <a:tc>
                  <a:txBody>
                    <a:bodyPr/>
                    <a:lstStyle/>
                    <a:p>
                      <a:r>
                        <a:rPr lang="en-US" sz="1800" kern="1200" dirty="0">
                          <a:effectLst/>
                        </a:rPr>
                        <a:t>globalguardservice.fortinet.net - 173.243.140.16</a:t>
                      </a:r>
                      <a:endParaRPr lang="en-US" dirty="0"/>
                    </a:p>
                  </a:txBody>
                  <a:tcPr/>
                </a:tc>
                <a:extLst>
                  <a:ext uri="{0D108BD9-81ED-4DB2-BD59-A6C34878D82A}">
                    <a16:rowId xmlns:a16="http://schemas.microsoft.com/office/drawing/2014/main" val="3536297856"/>
                  </a:ext>
                </a:extLst>
              </a:tr>
              <a:tr h="370840">
                <a:tc>
                  <a:txBody>
                    <a:bodyPr/>
                    <a:lstStyle/>
                    <a:p>
                      <a:r>
                        <a:rPr lang="en-US" sz="1800" kern="1200" dirty="0">
                          <a:effectLst/>
                        </a:rPr>
                        <a:t>FortiGate Cloud logging</a:t>
                      </a:r>
                      <a:endParaRPr lang="en-US" dirty="0"/>
                    </a:p>
                  </a:txBody>
                  <a:tcPr/>
                </a:tc>
                <a:tc>
                  <a:txBody>
                    <a:bodyPr/>
                    <a:lstStyle/>
                    <a:p>
                      <a:r>
                        <a:rPr lang="en-US" sz="1800" kern="1200" dirty="0">
                          <a:effectLst/>
                        </a:rPr>
                        <a:t>globallogctrl.fortinet.net - 173.243.132.25</a:t>
                      </a:r>
                      <a:endParaRPr lang="en-US" dirty="0"/>
                    </a:p>
                  </a:txBody>
                  <a:tcPr/>
                </a:tc>
                <a:extLst>
                  <a:ext uri="{0D108BD9-81ED-4DB2-BD59-A6C34878D82A}">
                    <a16:rowId xmlns:a16="http://schemas.microsoft.com/office/drawing/2014/main" val="2498104656"/>
                  </a:ext>
                </a:extLst>
              </a:tr>
              <a:tr h="370840">
                <a:tc>
                  <a:txBody>
                    <a:bodyPr/>
                    <a:lstStyle/>
                    <a:p>
                      <a:r>
                        <a:rPr lang="en-US" sz="1800" kern="1200" dirty="0">
                          <a:effectLst/>
                        </a:rPr>
                        <a:t>FortiGate Cloud management</a:t>
                      </a:r>
                      <a:endParaRPr lang="en-US" dirty="0"/>
                    </a:p>
                  </a:txBody>
                  <a:tcPr/>
                </a:tc>
                <a:tc>
                  <a:txBody>
                    <a:bodyPr/>
                    <a:lstStyle/>
                    <a:p>
                      <a:r>
                        <a:rPr lang="en-US" sz="1800" kern="1200" dirty="0">
                          <a:effectLst/>
                        </a:rPr>
                        <a:t>globalmgrctrl.fortinet.net - 173.243.132.26</a:t>
                      </a:r>
                      <a:endParaRPr lang="en-US" dirty="0"/>
                    </a:p>
                  </a:txBody>
                  <a:tcPr/>
                </a:tc>
                <a:extLst>
                  <a:ext uri="{0D108BD9-81ED-4DB2-BD59-A6C34878D82A}">
                    <a16:rowId xmlns:a16="http://schemas.microsoft.com/office/drawing/2014/main" val="2927812675"/>
                  </a:ext>
                </a:extLst>
              </a:tr>
              <a:tr h="370840">
                <a:tc>
                  <a:txBody>
                    <a:bodyPr/>
                    <a:lstStyle/>
                    <a:p>
                      <a:r>
                        <a:rPr lang="en-US" sz="1800" kern="1200" dirty="0">
                          <a:effectLst/>
                        </a:rPr>
                        <a:t>FortiGate Cloud messaging</a:t>
                      </a:r>
                      <a:endParaRPr lang="en-US" dirty="0"/>
                    </a:p>
                  </a:txBody>
                  <a:tcPr/>
                </a:tc>
                <a:tc>
                  <a:txBody>
                    <a:bodyPr/>
                    <a:lstStyle/>
                    <a:p>
                      <a:r>
                        <a:rPr lang="en-US" sz="1800" kern="1200" dirty="0">
                          <a:effectLst/>
                        </a:rPr>
                        <a:t>globalmsgctrl.fortinet.net - 173.243.132.27</a:t>
                      </a:r>
                      <a:endParaRPr lang="en-US" dirty="0"/>
                    </a:p>
                  </a:txBody>
                  <a:tcPr/>
                </a:tc>
                <a:extLst>
                  <a:ext uri="{0D108BD9-81ED-4DB2-BD59-A6C34878D82A}">
                    <a16:rowId xmlns:a16="http://schemas.microsoft.com/office/drawing/2014/main" val="3101622473"/>
                  </a:ext>
                </a:extLst>
              </a:tr>
              <a:tr h="370840">
                <a:tc>
                  <a:txBody>
                    <a:bodyPr/>
                    <a:lstStyle/>
                    <a:p>
                      <a:r>
                        <a:rPr lang="en-US" sz="1800" kern="1200" dirty="0">
                          <a:effectLst/>
                        </a:rPr>
                        <a:t>FortiGate Cloud sandbox</a:t>
                      </a:r>
                      <a:endParaRPr lang="en-US" dirty="0"/>
                    </a:p>
                  </a:txBody>
                  <a:tcPr/>
                </a:tc>
                <a:tc>
                  <a:txBody>
                    <a:bodyPr/>
                    <a:lstStyle/>
                    <a:p>
                      <a:r>
                        <a:rPr lang="en-US" sz="1800" kern="1200" dirty="0">
                          <a:effectLst/>
                        </a:rPr>
                        <a:t>globalaptctrl.fortinet.net - 184.94.112.22</a:t>
                      </a:r>
                      <a:endParaRPr lang="en-US" dirty="0"/>
                    </a:p>
                  </a:txBody>
                  <a:tcPr/>
                </a:tc>
                <a:extLst>
                  <a:ext uri="{0D108BD9-81ED-4DB2-BD59-A6C34878D82A}">
                    <a16:rowId xmlns:a16="http://schemas.microsoft.com/office/drawing/2014/main" val="2712530670"/>
                  </a:ext>
                </a:extLst>
              </a:tr>
              <a:tr h="370840">
                <a:tc>
                  <a:txBody>
                    <a:bodyPr/>
                    <a:lstStyle/>
                    <a:p>
                      <a:r>
                        <a:rPr lang="en-GB" sz="1800" kern="1200" dirty="0">
                          <a:effectLst/>
                        </a:rPr>
                        <a:t>The </a:t>
                      </a:r>
                      <a:r>
                        <a:rPr lang="en-GB" sz="1800" kern="1200" dirty="0" err="1">
                          <a:effectLst/>
                        </a:rPr>
                        <a:t>productapi</a:t>
                      </a:r>
                      <a:r>
                        <a:rPr lang="en-GB" sz="1800" kern="1200" dirty="0">
                          <a:effectLst/>
                        </a:rPr>
                        <a:t> used by OCVPN registration and GUI icon download</a:t>
                      </a:r>
                      <a:endParaRPr lang="en-US" dirty="0"/>
                    </a:p>
                  </a:txBody>
                  <a:tcPr/>
                </a:tc>
                <a:tc>
                  <a:txBody>
                    <a:bodyPr/>
                    <a:lstStyle/>
                    <a:p>
                      <a:r>
                        <a:rPr lang="en-US" sz="1800" kern="1200" dirty="0">
                          <a:effectLst/>
                        </a:rPr>
                        <a:t>globalproductapi.fortinet.net - 66.35.17.252</a:t>
                      </a:r>
                      <a:endParaRPr lang="en-US" dirty="0"/>
                    </a:p>
                  </a:txBody>
                  <a:tcPr/>
                </a:tc>
                <a:extLst>
                  <a:ext uri="{0D108BD9-81ED-4DB2-BD59-A6C34878D82A}">
                    <a16:rowId xmlns:a16="http://schemas.microsoft.com/office/drawing/2014/main" val="2504299664"/>
                  </a:ext>
                </a:extLst>
              </a:tr>
            </a:tbl>
          </a:graphicData>
        </a:graphic>
      </p:graphicFrame>
    </p:spTree>
    <p:custDataLst>
      <p:tags r:id="rId1"/>
    </p:custDataLst>
    <p:extLst>
      <p:ext uri="{BB962C8B-B14F-4D97-AF65-F5344CB8AC3E}">
        <p14:creationId xmlns:p14="http://schemas.microsoft.com/office/powerpoint/2010/main" val="342151224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CA" dirty="0"/>
              <a:t>Which protocol does </a:t>
            </a:r>
            <a:r>
              <a:rPr lang="en-CA" dirty="0" err="1"/>
              <a:t>FortiGate</a:t>
            </a:r>
            <a:r>
              <a:rPr lang="en-CA" dirty="0"/>
              <a:t> use to download antivirus and IPS packages?</a:t>
            </a:r>
          </a:p>
          <a:p>
            <a:pPr marL="838133" lvl="1" indent="-457200">
              <a:buFont typeface="+mj-lt"/>
              <a:buAutoNum type="alphaUcPeriod"/>
            </a:pPr>
            <a:r>
              <a:rPr lang="en-CA" dirty="0"/>
              <a:t>UDP</a:t>
            </a:r>
          </a:p>
          <a:p>
            <a:pPr marL="838133" lvl="1" indent="-457200">
              <a:buFont typeface="+mj-lt"/>
              <a:buAutoNum type="alphaUcPeriod"/>
            </a:pPr>
            <a:r>
              <a:rPr lang="en-CA" dirty="0"/>
              <a:t>TCP</a:t>
            </a:r>
          </a:p>
          <a:p>
            <a:pPr marL="0" indent="0">
              <a:buNone/>
            </a:pPr>
            <a:endParaRPr lang="en-CA" dirty="0"/>
          </a:p>
          <a:p>
            <a:pPr marL="457200" indent="-457200">
              <a:buFont typeface="+mj-lt"/>
              <a:buAutoNum type="arabicPeriod" startAt="2"/>
            </a:pPr>
            <a:r>
              <a:rPr lang="en-CA" dirty="0"/>
              <a:t>How does FortiGate check content for spam or malicious websites?</a:t>
            </a:r>
          </a:p>
          <a:p>
            <a:pPr marL="838133" lvl="1" indent="-457200">
              <a:buFont typeface="+mj-lt"/>
              <a:buAutoNum type="alphaUcPeriod"/>
            </a:pPr>
            <a:r>
              <a:rPr lang="en-CA" dirty="0"/>
              <a:t>Live queries to FortiGuard over UDP or HTTPS</a:t>
            </a:r>
          </a:p>
          <a:p>
            <a:pPr marL="838133" lvl="1" indent="-457200">
              <a:buFont typeface="+mj-lt"/>
              <a:buAutoNum type="alphaUcPeriod"/>
            </a:pPr>
            <a:r>
              <a:rPr lang="en-CA" dirty="0"/>
              <a:t>Local verification using a downloaded web filter database locally on FortiGate</a:t>
            </a:r>
          </a:p>
          <a:p>
            <a:pPr marL="380933" lvl="1" indent="0">
              <a:buNone/>
            </a:pPr>
            <a:endParaRPr lang="en-CA"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95" y="1672573"/>
            <a:ext cx="274929" cy="293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709" y="2811952"/>
            <a:ext cx="301142" cy="32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20750516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306145834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1812A41D-FCCA-4969-9AFD-7939432992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7045" y="1783241"/>
            <a:ext cx="527171" cy="563527"/>
          </a:xfrm>
          <a:prstGeom prst="rect">
            <a:avLst/>
          </a:prstGeom>
        </p:spPr>
      </p:pic>
      <p:pic>
        <p:nvPicPr>
          <p:cNvPr id="6" name="Picture 5">
            <a:extLst>
              <a:ext uri="{FF2B5EF4-FFF2-40B4-BE49-F238E27FC236}">
                <a16:creationId xmlns:a16="http://schemas.microsoft.com/office/drawing/2014/main" id="{4658CD9B-0B12-4BF9-AD3C-922BD7D251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1599" y="2917059"/>
            <a:ext cx="524020" cy="560159"/>
          </a:xfrm>
          <a:prstGeom prst="rect">
            <a:avLst/>
          </a:prstGeom>
        </p:spPr>
      </p:pic>
    </p:spTree>
    <p:custDataLst>
      <p:tags r:id="rId1"/>
    </p:custDataLst>
    <p:extLst>
      <p:ext uri="{BB962C8B-B14F-4D97-AF65-F5344CB8AC3E}">
        <p14:creationId xmlns:p14="http://schemas.microsoft.com/office/powerpoint/2010/main" val="3423522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Basic Administration</a:t>
            </a:r>
          </a:p>
        </p:txBody>
      </p:sp>
      <p:sp>
        <p:nvSpPr>
          <p:cNvPr id="3" name="Text Placeholder 2"/>
          <p:cNvSpPr>
            <a:spLocks noGrp="1"/>
          </p:cNvSpPr>
          <p:nvPr>
            <p:ph type="body" sz="quarter" idx="11"/>
          </p:nvPr>
        </p:nvSpPr>
        <p:spPr/>
        <p:txBody>
          <a:bodyPr>
            <a:normAutofit/>
          </a:bodyPr>
          <a:lstStyle/>
          <a:p>
            <a:r>
              <a:rPr lang="en-CA" dirty="0"/>
              <a:t>Manage administrator profiles</a:t>
            </a:r>
          </a:p>
          <a:p>
            <a:r>
              <a:rPr lang="en-CA" dirty="0"/>
              <a:t>Manage administrative users</a:t>
            </a:r>
          </a:p>
          <a:p>
            <a:r>
              <a:rPr lang="en-CA" dirty="0"/>
              <a:t>Define the configuration method for administrative </a:t>
            </a:r>
            <a:r>
              <a:rPr lang="en-CA" dirty="0" smtClean="0"/>
              <a:t>users</a:t>
            </a:r>
          </a:p>
          <a:p>
            <a:r>
              <a:rPr lang="en-CA" dirty="0"/>
              <a:t>Define and describe </a:t>
            </a:r>
            <a:r>
              <a:rPr lang="en-CA" dirty="0" smtClean="0"/>
              <a:t>VDOMs</a:t>
            </a:r>
            <a:endParaRPr lang="en-CA" dirty="0"/>
          </a:p>
          <a:p>
            <a:r>
              <a:rPr lang="en-CA" dirty="0"/>
              <a:t>Control administrative access to the FortiGate GUI and CLI</a:t>
            </a:r>
          </a:p>
          <a:p>
            <a:r>
              <a:rPr lang="en-CA" dirty="0"/>
              <a:t>Manage specific aspects of the network </a:t>
            </a:r>
            <a:r>
              <a:rPr lang="en-CA" dirty="0" smtClean="0"/>
              <a:t>interfaces</a:t>
            </a:r>
          </a:p>
          <a:p>
            <a:r>
              <a:rPr lang="en-US" dirty="0"/>
              <a:t>Describe VLANs and VLAN </a:t>
            </a:r>
            <a:r>
              <a:rPr lang="en-US" dirty="0" smtClean="0"/>
              <a:t>tagging</a:t>
            </a:r>
            <a:endParaRPr lang="en-CA" dirty="0" smtClean="0"/>
          </a:p>
          <a:p>
            <a:r>
              <a:rPr lang="en-CA" dirty="0"/>
              <a:t>Enable the DHCP </a:t>
            </a:r>
            <a:r>
              <a:rPr lang="en-CA" dirty="0" smtClean="0"/>
              <a:t>and DNS services </a:t>
            </a:r>
            <a:r>
              <a:rPr lang="en-CA" dirty="0"/>
              <a:t>on FortiGate</a:t>
            </a:r>
          </a:p>
          <a:p>
            <a:endParaRPr lang="en-CA" dirty="0"/>
          </a:p>
          <a:p>
            <a:endParaRPr lang="en-CA" dirty="0"/>
          </a:p>
        </p:txBody>
      </p:sp>
    </p:spTree>
    <p:custDataLst>
      <p:tags r:id="rId1"/>
    </p:custDataLst>
    <p:extLst>
      <p:ext uri="{BB962C8B-B14F-4D97-AF65-F5344CB8AC3E}">
        <p14:creationId xmlns:p14="http://schemas.microsoft.com/office/powerpoint/2010/main" val="2815843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11135" y="2831186"/>
            <a:ext cx="1653342" cy="1215021"/>
            <a:chOff x="3720013" y="3803919"/>
            <a:chExt cx="1139370" cy="749770"/>
          </a:xfrm>
        </p:grpSpPr>
        <p:pic>
          <p:nvPicPr>
            <p:cNvPr id="11" name="Picture 10"/>
            <p:cNvPicPr>
              <a:picLocks noChangeAspect="1"/>
            </p:cNvPicPr>
            <p:nvPr/>
          </p:nvPicPr>
          <p:blipFill>
            <a:blip r:embed="rId4" cstate="print"/>
            <a:stretch>
              <a:fillRect/>
            </a:stretch>
          </p:blipFill>
          <p:spPr>
            <a:xfrm>
              <a:off x="4274751" y="3820089"/>
              <a:ext cx="584632" cy="719907"/>
            </a:xfrm>
            <a:prstGeom prst="rect">
              <a:avLst/>
            </a:prstGeom>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3720013" y="3803919"/>
              <a:ext cx="564603" cy="749770"/>
            </a:xfrm>
            <a:prstGeom prst="rect">
              <a:avLst/>
            </a:prstGeom>
            <a:noFill/>
          </p:spPr>
        </p:pic>
      </p:grpSp>
      <p:sp>
        <p:nvSpPr>
          <p:cNvPr id="14338" name="Rectangle 2"/>
          <p:cNvSpPr>
            <a:spLocks noGrp="1" noChangeArrowheads="1"/>
          </p:cNvSpPr>
          <p:nvPr>
            <p:ph type="title"/>
          </p:nvPr>
        </p:nvSpPr>
        <p:spPr/>
        <p:txBody>
          <a:bodyPr>
            <a:normAutofit/>
          </a:bodyPr>
          <a:lstStyle/>
          <a:p>
            <a:pPr eaLnBrk="1" hangingPunct="1"/>
            <a:r>
              <a:rPr lang="en-US" dirty="0">
                <a:latin typeface="+mj-lt"/>
                <a:cs typeface="Arial" charset="0"/>
              </a:rPr>
              <a:t>Administration Methods</a:t>
            </a:r>
          </a:p>
        </p:txBody>
      </p:sp>
      <p:sp>
        <p:nvSpPr>
          <p:cNvPr id="14339" name="Rectangle 3"/>
          <p:cNvSpPr>
            <a:spLocks noGrp="1" noChangeArrowheads="1"/>
          </p:cNvSpPr>
          <p:nvPr>
            <p:ph idx="4294967295"/>
          </p:nvPr>
        </p:nvSpPr>
        <p:spPr>
          <a:xfrm>
            <a:off x="3832225" y="1449388"/>
            <a:ext cx="8356600" cy="4679950"/>
          </a:xfrm>
          <a:prstGeom prst="rect">
            <a:avLst/>
          </a:prstGeom>
        </p:spPr>
        <p:txBody>
          <a:bodyPr/>
          <a:lstStyle/>
          <a:p>
            <a:pPr eaLnBrk="1" hangingPunct="1"/>
            <a:endParaRPr lang="en-US" dirty="0"/>
          </a:p>
          <a:p>
            <a:pPr eaLnBrk="1" hangingPunct="1">
              <a:buFont typeface="Times" pitchFamily="18" charset="0"/>
              <a:buNone/>
            </a:pPr>
            <a:endParaRPr lang="en-US" dirty="0"/>
          </a:p>
        </p:txBody>
      </p:sp>
      <p:sp>
        <p:nvSpPr>
          <p:cNvPr id="226316" name="Text Box 12"/>
          <p:cNvSpPr txBox="1">
            <a:spLocks noChangeArrowheads="1"/>
          </p:cNvSpPr>
          <p:nvPr/>
        </p:nvSpPr>
        <p:spPr bwMode="auto">
          <a:xfrm>
            <a:off x="2672927" y="1772439"/>
            <a:ext cx="3000468" cy="615553"/>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800" dirty="0">
                <a:latin typeface="+mn-lt"/>
              </a:rPr>
              <a:t>CLI</a:t>
            </a:r>
          </a:p>
          <a:p>
            <a:pPr algn="l"/>
            <a:r>
              <a:rPr lang="en-US" sz="1400" b="0" dirty="0">
                <a:latin typeface="+mn-lt"/>
              </a:rPr>
              <a:t>Console, SSH, Telnet, GUI Widget</a:t>
            </a:r>
          </a:p>
        </p:txBody>
      </p:sp>
      <p:cxnSp>
        <p:nvCxnSpPr>
          <p:cNvPr id="6" name="Straight Arrow Connector 5"/>
          <p:cNvCxnSpPr/>
          <p:nvPr/>
        </p:nvCxnSpPr>
        <p:spPr>
          <a:xfrm flipV="1">
            <a:off x="1592132" y="2387992"/>
            <a:ext cx="971865" cy="581119"/>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1592132" y="4046207"/>
            <a:ext cx="613186" cy="454069"/>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pic>
        <p:nvPicPr>
          <p:cNvPr id="4" name="Picture 3"/>
          <p:cNvPicPr>
            <a:picLocks noChangeAspect="1"/>
          </p:cNvPicPr>
          <p:nvPr/>
        </p:nvPicPr>
        <p:blipFill>
          <a:blip r:embed="rId6"/>
          <a:stretch>
            <a:fillRect/>
          </a:stretch>
        </p:blipFill>
        <p:spPr>
          <a:xfrm>
            <a:off x="6229994" y="3771667"/>
            <a:ext cx="5728852" cy="2392101"/>
          </a:xfrm>
          <a:prstGeom prst="rect">
            <a:avLst/>
          </a:prstGeom>
          <a:ln w="3175">
            <a:solidFill>
              <a:schemeClr val="tx1"/>
            </a:solidFill>
          </a:ln>
        </p:spPr>
      </p:pic>
      <p:sp>
        <p:nvSpPr>
          <p:cNvPr id="14" name="Text Box 11"/>
          <p:cNvSpPr txBox="1">
            <a:spLocks noChangeArrowheads="1"/>
          </p:cNvSpPr>
          <p:nvPr/>
        </p:nvSpPr>
        <p:spPr bwMode="auto">
          <a:xfrm>
            <a:off x="2285101" y="4500276"/>
            <a:ext cx="3776119" cy="615553"/>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800" dirty="0">
                <a:latin typeface="+mn-lt"/>
              </a:rPr>
              <a:t>GUI</a:t>
            </a:r>
          </a:p>
          <a:p>
            <a:pPr algn="l"/>
            <a:r>
              <a:rPr lang="en-US" sz="1400" b="0" dirty="0">
                <a:latin typeface="+mn-lt"/>
              </a:rPr>
              <a:t>FortiExplorer, Web Browser (HTTP, HTTPS)</a:t>
            </a:r>
          </a:p>
        </p:txBody>
      </p:sp>
      <p:pic>
        <p:nvPicPr>
          <p:cNvPr id="7" name="Picture 6"/>
          <p:cNvPicPr>
            <a:picLocks noChangeAspect="1"/>
          </p:cNvPicPr>
          <p:nvPr/>
        </p:nvPicPr>
        <p:blipFill>
          <a:blip r:embed="rId7"/>
          <a:stretch>
            <a:fillRect/>
          </a:stretch>
        </p:blipFill>
        <p:spPr>
          <a:xfrm>
            <a:off x="6220505" y="541024"/>
            <a:ext cx="4369025" cy="2971953"/>
          </a:xfrm>
          <a:prstGeom prst="rect">
            <a:avLst/>
          </a:prstGeom>
          <a:ln w="3175">
            <a:solidFill>
              <a:schemeClr val="tx1"/>
            </a:solidFill>
          </a:ln>
        </p:spPr>
      </p:pic>
    </p:spTree>
    <p:custDataLst>
      <p:tags r:id="rId1"/>
    </p:custDataLst>
    <p:extLst>
      <p:ext uri="{BB962C8B-B14F-4D97-AF65-F5344CB8AC3E}">
        <p14:creationId xmlns:p14="http://schemas.microsoft.com/office/powerpoint/2010/main" val="3771181857"/>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US" dirty="0">
                <a:latin typeface="+mj-lt"/>
                <a:cs typeface="Arial" charset="0"/>
              </a:rPr>
              <a:t>Create an Administrative User	</a:t>
            </a:r>
          </a:p>
        </p:txBody>
      </p:sp>
      <p:sp>
        <p:nvSpPr>
          <p:cNvPr id="2" name="Content Placeholder 1"/>
          <p:cNvSpPr>
            <a:spLocks noGrp="1"/>
          </p:cNvSpPr>
          <p:nvPr>
            <p:ph idx="1"/>
          </p:nvPr>
        </p:nvSpPr>
        <p:spPr/>
        <p:txBody>
          <a:bodyPr/>
          <a:lstStyle/>
          <a:p>
            <a:pPr marL="0" indent="0">
              <a:buNone/>
            </a:pPr>
            <a:r>
              <a:rPr lang="en-CA" dirty="0"/>
              <a:t> </a:t>
            </a:r>
            <a:endParaRPr lang="en-CA" b="1" dirty="0"/>
          </a:p>
        </p:txBody>
      </p:sp>
      <p:sp>
        <p:nvSpPr>
          <p:cNvPr id="11" name="TextBox 10"/>
          <p:cNvSpPr txBox="1"/>
          <p:nvPr/>
        </p:nvSpPr>
        <p:spPr>
          <a:xfrm>
            <a:off x="697662" y="2165850"/>
            <a:ext cx="2965299" cy="369332"/>
          </a:xfrm>
          <a:prstGeom prst="rect">
            <a:avLst/>
          </a:prstGeom>
          <a:solidFill>
            <a:srgbClr val="00B0F0"/>
          </a:solidFill>
        </p:spPr>
        <p:txBody>
          <a:bodyPr wrap="square" rtlCol="0">
            <a:spAutoFit/>
          </a:bodyPr>
          <a:lstStyle/>
          <a:p>
            <a:pPr lvl="0">
              <a:spcBef>
                <a:spcPts val="900"/>
              </a:spcBef>
              <a:buClr>
                <a:srgbClr val="A12D2D"/>
              </a:buClr>
              <a:defRPr/>
            </a:pPr>
            <a:r>
              <a:rPr lang="en-US" b="1" dirty="0">
                <a:solidFill>
                  <a:srgbClr val="000000"/>
                </a:solidFill>
                <a:cs typeface="Arial" pitchFamily="34" charset="0"/>
              </a:rPr>
              <a:t>System </a:t>
            </a:r>
            <a:r>
              <a:rPr lang="en-US" dirty="0">
                <a:solidFill>
                  <a:srgbClr val="000000"/>
                </a:solidFill>
                <a:cs typeface="Arial" pitchFamily="34" charset="0"/>
              </a:rPr>
              <a:t>&gt;</a:t>
            </a:r>
            <a:r>
              <a:rPr lang="en-US" b="1" dirty="0">
                <a:solidFill>
                  <a:srgbClr val="000000"/>
                </a:solidFill>
                <a:cs typeface="Arial" pitchFamily="34" charset="0"/>
              </a:rPr>
              <a:t> Administrators</a:t>
            </a:r>
          </a:p>
        </p:txBody>
      </p:sp>
      <p:pic>
        <p:nvPicPr>
          <p:cNvPr id="3" name="Picture 2"/>
          <p:cNvPicPr>
            <a:picLocks noChangeAspect="1"/>
          </p:cNvPicPr>
          <p:nvPr/>
        </p:nvPicPr>
        <p:blipFill>
          <a:blip r:embed="rId4"/>
          <a:stretch>
            <a:fillRect/>
          </a:stretch>
        </p:blipFill>
        <p:spPr>
          <a:xfrm>
            <a:off x="697662" y="2605775"/>
            <a:ext cx="4358831" cy="2742831"/>
          </a:xfrm>
          <a:prstGeom prst="rect">
            <a:avLst/>
          </a:prstGeom>
          <a:ln w="3175">
            <a:solidFill>
              <a:schemeClr val="tx1"/>
            </a:solidFill>
          </a:ln>
        </p:spPr>
      </p:pic>
      <p:sp>
        <p:nvSpPr>
          <p:cNvPr id="16" name="Rectangle 15"/>
          <p:cNvSpPr/>
          <p:nvPr/>
        </p:nvSpPr>
        <p:spPr bwMode="invGray">
          <a:xfrm>
            <a:off x="2694072" y="2943977"/>
            <a:ext cx="1063736" cy="475628"/>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4" name="Picture 3"/>
          <p:cNvPicPr>
            <a:picLocks noChangeAspect="1"/>
          </p:cNvPicPr>
          <p:nvPr/>
        </p:nvPicPr>
        <p:blipFill>
          <a:blip r:embed="rId5"/>
          <a:stretch>
            <a:fillRect/>
          </a:stretch>
        </p:blipFill>
        <p:spPr>
          <a:xfrm>
            <a:off x="5832086" y="1288209"/>
            <a:ext cx="5745176" cy="4561445"/>
          </a:xfrm>
          <a:prstGeom prst="rect">
            <a:avLst/>
          </a:prstGeom>
          <a:ln w="3175">
            <a:solidFill>
              <a:schemeClr val="tx1"/>
            </a:solidFill>
          </a:ln>
        </p:spPr>
      </p:pic>
      <p:sp>
        <p:nvSpPr>
          <p:cNvPr id="18" name="Rectangle 17"/>
          <p:cNvSpPr/>
          <p:nvPr/>
        </p:nvSpPr>
        <p:spPr bwMode="invGray">
          <a:xfrm>
            <a:off x="5860893" y="2917681"/>
            <a:ext cx="4327116" cy="51445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cxnSp>
        <p:nvCxnSpPr>
          <p:cNvPr id="19" name="Straight Arrow Connector 18"/>
          <p:cNvCxnSpPr>
            <a:cxnSpLocks/>
          </p:cNvCxnSpPr>
          <p:nvPr/>
        </p:nvCxnSpPr>
        <p:spPr>
          <a:xfrm flipV="1">
            <a:off x="3757763" y="2292428"/>
            <a:ext cx="2938882" cy="698114"/>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510399798"/>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6"/>
          </p:nvPr>
        </p:nvSpPr>
        <p:spPr/>
        <p:txBody>
          <a:bodyPr/>
          <a:lstStyle/>
          <a:p>
            <a:r>
              <a:rPr lang="en-GB" dirty="0" smtClean="0"/>
              <a:t>Hierarchy</a:t>
            </a:r>
            <a:endParaRPr lang="en-US" dirty="0"/>
          </a:p>
        </p:txBody>
      </p:sp>
      <p:sp>
        <p:nvSpPr>
          <p:cNvPr id="5" name="Content Placeholder 4"/>
          <p:cNvSpPr>
            <a:spLocks noGrp="1"/>
          </p:cNvSpPr>
          <p:nvPr>
            <p:ph idx="15"/>
          </p:nvPr>
        </p:nvSpPr>
        <p:spPr/>
        <p:txBody>
          <a:bodyPr/>
          <a:lstStyle/>
          <a:p>
            <a:r>
              <a:rPr lang="en-GB" dirty="0" smtClean="0"/>
              <a:t>Permissions</a:t>
            </a:r>
            <a:endParaRPr lang="en-US" dirty="0"/>
          </a:p>
        </p:txBody>
      </p:sp>
      <p:sp>
        <p:nvSpPr>
          <p:cNvPr id="17410" name="Rectangle 2"/>
          <p:cNvSpPr>
            <a:spLocks noGrp="1" noChangeArrowheads="1"/>
          </p:cNvSpPr>
          <p:nvPr>
            <p:ph type="title"/>
          </p:nvPr>
        </p:nvSpPr>
        <p:spPr>
          <a:xfrm>
            <a:off x="266400" y="251828"/>
            <a:ext cx="10835325" cy="748800"/>
          </a:xfrm>
        </p:spPr>
        <p:txBody>
          <a:bodyPr>
            <a:normAutofit/>
          </a:bodyPr>
          <a:lstStyle/>
          <a:p>
            <a:pPr eaLnBrk="1" hangingPunct="1"/>
            <a:r>
              <a:rPr lang="en-US" dirty="0">
                <a:latin typeface="+mj-lt"/>
                <a:cs typeface="Arial" charset="0"/>
              </a:rPr>
              <a:t>Administrator </a:t>
            </a:r>
            <a:r>
              <a:rPr lang="en-US" dirty="0" smtClean="0">
                <a:latin typeface="+mj-lt"/>
                <a:cs typeface="Arial" charset="0"/>
              </a:rPr>
              <a:t>Profiles</a:t>
            </a:r>
            <a:endParaRPr lang="en-US" dirty="0">
              <a:latin typeface="+mj-lt"/>
              <a:cs typeface="Arial" charset="0"/>
            </a:endParaRPr>
          </a:p>
        </p:txBody>
      </p:sp>
      <p:pic>
        <p:nvPicPr>
          <p:cNvPr id="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3888002" y="4025713"/>
            <a:ext cx="970218" cy="1288744"/>
          </a:xfrm>
          <a:prstGeom prst="rect">
            <a:avLst/>
          </a:prstGeom>
          <a:noFill/>
        </p:spPr>
      </p:pic>
      <p:pic>
        <p:nvPicPr>
          <p:cNvPr id="23"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4316424" y="4178100"/>
            <a:ext cx="1106906" cy="1490455"/>
          </a:xfrm>
          <a:prstGeom prst="rect">
            <a:avLst/>
          </a:prstGeom>
          <a:noFill/>
        </p:spPr>
      </p:pic>
      <p:sp>
        <p:nvSpPr>
          <p:cNvPr id="6" name="TextBox 5"/>
          <p:cNvSpPr txBox="1"/>
          <p:nvPr/>
        </p:nvSpPr>
        <p:spPr>
          <a:xfrm>
            <a:off x="317422" y="1602942"/>
            <a:ext cx="2284343" cy="307777"/>
          </a:xfrm>
          <a:prstGeom prst="rect">
            <a:avLst/>
          </a:prstGeom>
          <a:solidFill>
            <a:srgbClr val="00B0F0"/>
          </a:solidFill>
        </p:spPr>
        <p:txBody>
          <a:bodyPr wrap="none" rtlCol="0">
            <a:spAutoFit/>
          </a:bodyPr>
          <a:lstStyle/>
          <a:p>
            <a:pPr lvl="0">
              <a:spcBef>
                <a:spcPts val="900"/>
              </a:spcBef>
              <a:buClr>
                <a:srgbClr val="A12D2D"/>
              </a:buClr>
              <a:defRPr/>
            </a:pPr>
            <a:r>
              <a:rPr lang="en-US" sz="1400" b="1" dirty="0">
                <a:solidFill>
                  <a:srgbClr val="000000"/>
                </a:solidFill>
                <a:cs typeface="Arial" pitchFamily="34" charset="0"/>
              </a:rPr>
              <a:t>System </a:t>
            </a:r>
            <a:r>
              <a:rPr lang="en-US" sz="1400" dirty="0">
                <a:solidFill>
                  <a:srgbClr val="000000"/>
                </a:solidFill>
                <a:cs typeface="Arial" pitchFamily="34" charset="0"/>
              </a:rPr>
              <a:t>&gt;</a:t>
            </a:r>
            <a:r>
              <a:rPr lang="en-US" sz="1400" b="1" dirty="0">
                <a:solidFill>
                  <a:srgbClr val="000000"/>
                </a:solidFill>
                <a:cs typeface="Arial" pitchFamily="34" charset="0"/>
              </a:rPr>
              <a:t> Admin Profiles</a:t>
            </a:r>
          </a:p>
        </p:txBody>
      </p:sp>
      <p:pic>
        <p:nvPicPr>
          <p:cNvPr id="10" name="Picture 9"/>
          <p:cNvPicPr>
            <a:picLocks noChangeAspect="1"/>
          </p:cNvPicPr>
          <p:nvPr/>
        </p:nvPicPr>
        <p:blipFill>
          <a:blip r:embed="rId6"/>
          <a:stretch>
            <a:fillRect/>
          </a:stretch>
        </p:blipFill>
        <p:spPr>
          <a:xfrm>
            <a:off x="317422" y="2002991"/>
            <a:ext cx="3511600" cy="3131967"/>
          </a:xfrm>
          <a:prstGeom prst="rect">
            <a:avLst/>
          </a:prstGeom>
          <a:ln w="3175">
            <a:solidFill>
              <a:schemeClr val="tx1"/>
            </a:solidFill>
          </a:ln>
        </p:spPr>
      </p:pic>
      <p:sp>
        <p:nvSpPr>
          <p:cNvPr id="11" name="Rectangle 10"/>
          <p:cNvSpPr/>
          <p:nvPr/>
        </p:nvSpPr>
        <p:spPr bwMode="invGray">
          <a:xfrm>
            <a:off x="1407885" y="4970370"/>
            <a:ext cx="1045029" cy="157407"/>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grpSp>
        <p:nvGrpSpPr>
          <p:cNvPr id="14" name="Group 13"/>
          <p:cNvGrpSpPr/>
          <p:nvPr/>
        </p:nvGrpSpPr>
        <p:grpSpPr>
          <a:xfrm>
            <a:off x="5360232" y="1522608"/>
            <a:ext cx="6343410" cy="3865012"/>
            <a:chOff x="2696489" y="1316588"/>
            <a:chExt cx="7397038" cy="4756409"/>
          </a:xfrm>
        </p:grpSpPr>
        <p:sp>
          <p:nvSpPr>
            <p:cNvPr id="15" name="Oval 14"/>
            <p:cNvSpPr/>
            <p:nvPr/>
          </p:nvSpPr>
          <p:spPr bwMode="hidden">
            <a:xfrm>
              <a:off x="2696489" y="1449238"/>
              <a:ext cx="7175310" cy="4623759"/>
            </a:xfrm>
            <a:prstGeom prst="ellips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endParaRPr lang="en-US" sz="2000">
                <a:solidFill>
                  <a:schemeClr val="accent2"/>
                </a:solidFill>
                <a:latin typeface="Arial" charset="0"/>
              </a:endParaRPr>
            </a:p>
          </p:txBody>
        </p:sp>
        <p:sp>
          <p:nvSpPr>
            <p:cNvPr id="16" name="Oval 15"/>
            <p:cNvSpPr/>
            <p:nvPr/>
          </p:nvSpPr>
          <p:spPr bwMode="auto">
            <a:xfrm>
              <a:off x="4456060" y="1690777"/>
              <a:ext cx="5415740" cy="4123427"/>
            </a:xfrm>
            <a:prstGeom prst="ellipse">
              <a:avLst/>
            </a:prstGeom>
            <a:solidFill>
              <a:schemeClr val="accent3">
                <a:lumMod val="7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endParaRPr lang="en-US" sz="2000">
                <a:solidFill>
                  <a:schemeClr val="accent2"/>
                </a:solidFill>
                <a:latin typeface="Arial" charset="0"/>
              </a:endParaRPr>
            </a:p>
          </p:txBody>
        </p:sp>
        <p:sp>
          <p:nvSpPr>
            <p:cNvPr id="17" name="Oval 16"/>
            <p:cNvSpPr/>
            <p:nvPr/>
          </p:nvSpPr>
          <p:spPr bwMode="auto">
            <a:xfrm>
              <a:off x="6871074" y="2191110"/>
              <a:ext cx="3000726" cy="3071004"/>
            </a:xfrm>
            <a:prstGeom prst="ellipse">
              <a:avLst/>
            </a:prstGeom>
            <a:solidFill>
              <a:srgbClr val="FF000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endParaRPr lang="en-US" sz="2000">
                <a:solidFill>
                  <a:schemeClr val="accent2"/>
                </a:solidFill>
                <a:latin typeface="Arial" charset="0"/>
              </a:endParaRPr>
            </a:p>
          </p:txBody>
        </p:sp>
        <p:sp>
          <p:nvSpPr>
            <p:cNvPr id="18" name="Text Box 15"/>
            <p:cNvSpPr txBox="1">
              <a:spLocks noChangeArrowheads="1"/>
            </p:cNvSpPr>
            <p:nvPr/>
          </p:nvSpPr>
          <p:spPr bwMode="gray">
            <a:xfrm>
              <a:off x="6665818" y="3255582"/>
              <a:ext cx="3427709" cy="45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b="0" dirty="0">
                  <a:solidFill>
                    <a:schemeClr val="bg1"/>
                  </a:solidFill>
                  <a:latin typeface="+mn-lt"/>
                </a:rPr>
                <a:t>Full access in virtual domain</a:t>
              </a:r>
            </a:p>
          </p:txBody>
        </p:sp>
        <p:sp>
          <p:nvSpPr>
            <p:cNvPr id="19" name="Text Box 17"/>
            <p:cNvSpPr txBox="1">
              <a:spLocks noChangeArrowheads="1"/>
            </p:cNvSpPr>
            <p:nvPr/>
          </p:nvSpPr>
          <p:spPr bwMode="gray">
            <a:xfrm>
              <a:off x="2708644" y="3053901"/>
              <a:ext cx="1946970" cy="416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400" b="0" dirty="0">
                  <a:solidFill>
                    <a:schemeClr val="bg1"/>
                  </a:solidFill>
                  <a:latin typeface="+mn-lt"/>
                </a:rPr>
                <a:t>Full global access</a:t>
              </a:r>
            </a:p>
          </p:txBody>
        </p:sp>
        <p:sp>
          <p:nvSpPr>
            <p:cNvPr id="20" name="Text Box 24"/>
            <p:cNvSpPr txBox="1">
              <a:spLocks noChangeArrowheads="1"/>
            </p:cNvSpPr>
            <p:nvPr/>
          </p:nvSpPr>
          <p:spPr bwMode="gray">
            <a:xfrm>
              <a:off x="2889982" y="2720178"/>
              <a:ext cx="1774998" cy="45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dirty="0">
                  <a:solidFill>
                    <a:schemeClr val="bg1"/>
                  </a:solidFill>
                  <a:latin typeface="+mn-lt"/>
                </a:rPr>
                <a:t>super_admin</a:t>
              </a:r>
            </a:p>
          </p:txBody>
        </p:sp>
        <p:sp>
          <p:nvSpPr>
            <p:cNvPr id="21" name="Text Box 28"/>
            <p:cNvSpPr txBox="1">
              <a:spLocks noChangeArrowheads="1"/>
            </p:cNvSpPr>
            <p:nvPr/>
          </p:nvSpPr>
          <p:spPr bwMode="gray">
            <a:xfrm>
              <a:off x="4685378" y="3053898"/>
              <a:ext cx="2282975" cy="416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400" b="0" dirty="0">
                  <a:solidFill>
                    <a:schemeClr val="bg1"/>
                  </a:solidFill>
                  <a:latin typeface="+mn-lt"/>
                </a:rPr>
                <a:t>Partial global access</a:t>
              </a:r>
            </a:p>
          </p:txBody>
        </p:sp>
        <p:sp>
          <p:nvSpPr>
            <p:cNvPr id="24" name="Text Box 31"/>
            <p:cNvSpPr txBox="1">
              <a:spLocks noChangeArrowheads="1"/>
            </p:cNvSpPr>
            <p:nvPr/>
          </p:nvSpPr>
          <p:spPr bwMode="gray">
            <a:xfrm>
              <a:off x="4730520" y="2720178"/>
              <a:ext cx="2218667" cy="492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dirty="0">
                  <a:solidFill>
                    <a:schemeClr val="bg1"/>
                  </a:solidFill>
                  <a:latin typeface="+mn-lt"/>
                </a:rPr>
                <a:t>custom_profil</a:t>
              </a:r>
              <a:r>
                <a:rPr lang="en-US" sz="1800" dirty="0">
                  <a:solidFill>
                    <a:schemeClr val="bg1"/>
                  </a:solidFill>
                  <a:latin typeface="+mn-lt"/>
                </a:rPr>
                <a:t>e1</a:t>
              </a:r>
            </a:p>
          </p:txBody>
        </p:sp>
        <p:sp>
          <p:nvSpPr>
            <p:cNvPr id="25" name="Text Box 32"/>
            <p:cNvSpPr txBox="1">
              <a:spLocks noChangeArrowheads="1"/>
            </p:cNvSpPr>
            <p:nvPr/>
          </p:nvSpPr>
          <p:spPr bwMode="gray">
            <a:xfrm>
              <a:off x="7572518" y="2720178"/>
              <a:ext cx="1589942" cy="45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dirty="0" err="1">
                  <a:solidFill>
                    <a:schemeClr val="bg1"/>
                  </a:solidFill>
                  <a:latin typeface="+mn-lt"/>
                </a:rPr>
                <a:t>prof_admin</a:t>
              </a:r>
              <a:endParaRPr lang="en-US" sz="1600" dirty="0">
                <a:solidFill>
                  <a:schemeClr val="bg1"/>
                </a:solidFill>
                <a:latin typeface="+mn-lt"/>
              </a:endParaRPr>
            </a:p>
          </p:txBody>
        </p:sp>
        <p:sp>
          <p:nvSpPr>
            <p:cNvPr id="26" name="Text Box 28"/>
            <p:cNvSpPr txBox="1">
              <a:spLocks noChangeArrowheads="1"/>
            </p:cNvSpPr>
            <p:nvPr/>
          </p:nvSpPr>
          <p:spPr bwMode="gray">
            <a:xfrm>
              <a:off x="6919239" y="3545447"/>
              <a:ext cx="2920866" cy="45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b="0" dirty="0">
                  <a:solidFill>
                    <a:schemeClr val="bg1"/>
                  </a:solidFill>
                  <a:latin typeface="+mn-lt"/>
                </a:rPr>
                <a:t>Partial access in </a:t>
              </a:r>
              <a:r>
                <a:rPr lang="en-US" sz="1600" b="0" dirty="0" err="1">
                  <a:solidFill>
                    <a:schemeClr val="bg1"/>
                  </a:solidFill>
                  <a:latin typeface="+mn-lt"/>
                </a:rPr>
                <a:t>VDOM</a:t>
              </a:r>
              <a:endParaRPr lang="en-US" sz="1600" b="0" dirty="0">
                <a:solidFill>
                  <a:schemeClr val="bg1"/>
                </a:solidFill>
                <a:latin typeface="+mn-lt"/>
              </a:endParaRPr>
            </a:p>
          </p:txBody>
        </p:sp>
        <p:sp>
          <p:nvSpPr>
            <p:cNvPr id="27" name="Text Box 31"/>
            <p:cNvSpPr txBox="1">
              <a:spLocks noChangeArrowheads="1"/>
            </p:cNvSpPr>
            <p:nvPr/>
          </p:nvSpPr>
          <p:spPr bwMode="gray">
            <a:xfrm>
              <a:off x="7172611" y="3805526"/>
              <a:ext cx="2466701" cy="454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sz="1600" dirty="0">
                  <a:solidFill>
                    <a:schemeClr val="bg1"/>
                  </a:solidFill>
                  <a:latin typeface="+mn-lt"/>
                </a:rPr>
                <a:t>custom_profile2</a:t>
              </a:r>
            </a:p>
          </p:txBody>
        </p:sp>
        <p:pic>
          <p:nvPicPr>
            <p:cNvPr id="28"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flipH="1">
              <a:off x="3682130" y="1316588"/>
              <a:ext cx="981287" cy="1303448"/>
            </a:xfrm>
            <a:prstGeom prst="rect">
              <a:avLst/>
            </a:prstGeom>
            <a:noFill/>
          </p:spPr>
        </p:pic>
        <p:grpSp>
          <p:nvGrpSpPr>
            <p:cNvPr id="29" name="Group 28"/>
            <p:cNvGrpSpPr/>
            <p:nvPr/>
          </p:nvGrpSpPr>
          <p:grpSpPr>
            <a:xfrm>
              <a:off x="5800134" y="1316590"/>
              <a:ext cx="3278865" cy="3999743"/>
              <a:chOff x="4351233" y="987442"/>
              <a:chExt cx="2459789" cy="2999807"/>
            </a:xfrm>
          </p:grpSpPr>
          <p:pic>
            <p:nvPicPr>
              <p:cNvPr id="30"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4351233" y="987442"/>
                <a:ext cx="726206" cy="977585"/>
              </a:xfrm>
              <a:prstGeom prst="rect">
                <a:avLst/>
              </a:prstGeom>
              <a:noFill/>
            </p:spPr>
          </p:pic>
          <p:pic>
            <p:nvPicPr>
              <p:cNvPr id="31"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flipH="1">
                <a:off x="6135756" y="3090524"/>
                <a:ext cx="675266" cy="896725"/>
              </a:xfrm>
              <a:prstGeom prst="rect">
                <a:avLst/>
              </a:prstGeom>
              <a:noFill/>
            </p:spPr>
          </p:pic>
          <p:pic>
            <p:nvPicPr>
              <p:cNvPr id="32"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6032850" y="1073989"/>
                <a:ext cx="650421" cy="875566"/>
              </a:xfrm>
              <a:prstGeom prst="rect">
                <a:avLst/>
              </a:prstGeom>
              <a:noFill/>
            </p:spPr>
          </p:pic>
        </p:grpSp>
      </p:grpSp>
    </p:spTree>
    <p:custDataLst>
      <p:tags r:id="rId1"/>
    </p:custDataLst>
    <p:extLst>
      <p:ext uri="{BB962C8B-B14F-4D97-AF65-F5344CB8AC3E}">
        <p14:creationId xmlns:p14="http://schemas.microsoft.com/office/powerpoint/2010/main" val="2169083089"/>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7164" y="1560513"/>
            <a:ext cx="8833976" cy="1698843"/>
          </a:xfrm>
          <a:prstGeom prst="rect">
            <a:avLst/>
          </a:prstGeom>
        </p:spPr>
      </p:pic>
      <p:sp>
        <p:nvSpPr>
          <p:cNvPr id="14338" name="Title 1"/>
          <p:cNvSpPr>
            <a:spLocks noGrp="1" noChangeArrowheads="1"/>
          </p:cNvSpPr>
          <p:nvPr>
            <p:ph type="title"/>
          </p:nvPr>
        </p:nvSpPr>
        <p:spPr/>
        <p:txBody>
          <a:bodyPr/>
          <a:lstStyle/>
          <a:p>
            <a:r>
              <a:rPr lang="en-US" dirty="0" smtClean="0"/>
              <a:t>VDOMs</a:t>
            </a:r>
          </a:p>
        </p:txBody>
      </p:sp>
      <p:sp>
        <p:nvSpPr>
          <p:cNvPr id="5" name="Content Placeholder 4"/>
          <p:cNvSpPr>
            <a:spLocks noGrp="1"/>
          </p:cNvSpPr>
          <p:nvPr>
            <p:ph idx="1"/>
          </p:nvPr>
        </p:nvSpPr>
        <p:spPr/>
        <p:txBody>
          <a:bodyPr/>
          <a:lstStyle/>
          <a:p>
            <a:endParaRPr lang="en-CA" dirty="0" smtClean="0"/>
          </a:p>
          <a:p>
            <a:endParaRPr lang="en-CA" dirty="0" smtClean="0"/>
          </a:p>
          <a:p>
            <a:endParaRPr lang="en-CA" dirty="0" smtClean="0"/>
          </a:p>
          <a:p>
            <a:endParaRPr lang="en-CA" dirty="0" smtClean="0"/>
          </a:p>
          <a:p>
            <a:endParaRPr lang="en-CA" dirty="0" smtClean="0"/>
          </a:p>
          <a:p>
            <a:endParaRPr lang="en-CA" dirty="0" smtClean="0"/>
          </a:p>
          <a:p>
            <a:endParaRPr lang="en-CA" dirty="0" smtClean="0"/>
          </a:p>
          <a:p>
            <a:r>
              <a:rPr lang="en-US" dirty="0" smtClean="0"/>
              <a:t>VDOMs split FortiGate into multiple virtual devices</a:t>
            </a:r>
          </a:p>
          <a:p>
            <a:pPr lvl="1"/>
            <a:r>
              <a:rPr lang="en-US" dirty="0" smtClean="0"/>
              <a:t>They employ independent security policies, routing tables, and so on</a:t>
            </a:r>
          </a:p>
          <a:p>
            <a:r>
              <a:rPr lang="en-US" dirty="0" smtClean="0"/>
              <a:t>Packets are confined to same VDOM</a:t>
            </a:r>
          </a:p>
          <a:p>
            <a:r>
              <a:rPr lang="en-US" dirty="0" smtClean="0"/>
              <a:t>By default, FortiGate supports up to 10 VDOMs</a:t>
            </a:r>
          </a:p>
          <a:p>
            <a:pPr lvl="1"/>
            <a:r>
              <a:rPr lang="en-US" dirty="0" smtClean="0"/>
              <a:t>High-end models allow for the purchase of additional VDOMs</a:t>
            </a:r>
            <a:endParaRPr lang="en-US" dirty="0"/>
          </a:p>
        </p:txBody>
      </p:sp>
      <p:sp>
        <p:nvSpPr>
          <p:cNvPr id="560145" name="Text Box 17"/>
          <p:cNvSpPr txBox="1">
            <a:spLocks noChangeArrowheads="1"/>
          </p:cNvSpPr>
          <p:nvPr/>
        </p:nvSpPr>
        <p:spPr bwMode="auto">
          <a:xfrm>
            <a:off x="2626796" y="3173247"/>
            <a:ext cx="2836632" cy="46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r>
              <a:rPr lang="en-US" sz="2200" dirty="0">
                <a:latin typeface="+mn-lt"/>
              </a:rPr>
              <a:t>One security domain</a:t>
            </a:r>
          </a:p>
        </p:txBody>
      </p:sp>
      <p:sp>
        <p:nvSpPr>
          <p:cNvPr id="560146" name="Text Box 18"/>
          <p:cNvSpPr txBox="1">
            <a:spLocks noChangeArrowheads="1"/>
          </p:cNvSpPr>
          <p:nvPr/>
        </p:nvSpPr>
        <p:spPr bwMode="auto">
          <a:xfrm>
            <a:off x="6004751" y="3173247"/>
            <a:ext cx="3416919" cy="46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r>
              <a:rPr lang="en-US" sz="2200" dirty="0">
                <a:latin typeface="+mn-lt"/>
              </a:rPr>
              <a:t>Multiple security domains</a:t>
            </a:r>
          </a:p>
        </p:txBody>
      </p:sp>
      <p:sp>
        <p:nvSpPr>
          <p:cNvPr id="560147" name="AutoShape 19"/>
          <p:cNvSpPr>
            <a:spLocks noChangeArrowheads="1"/>
          </p:cNvSpPr>
          <p:nvPr/>
        </p:nvSpPr>
        <p:spPr bwMode="auto">
          <a:xfrm rot="-5400000">
            <a:off x="5536861" y="3091056"/>
            <a:ext cx="312737" cy="615790"/>
          </a:xfrm>
          <a:prstGeom prst="downArrow">
            <a:avLst>
              <a:gd name="adj1" fmla="val 50000"/>
              <a:gd name="adj2" fmla="val 36929"/>
            </a:avLst>
          </a:prstGeom>
          <a:solidFill>
            <a:srgbClr val="FF0000"/>
          </a:solidFill>
          <a:ln w="12700">
            <a:solidFill>
              <a:srgbClr val="FF0000"/>
            </a:solidFill>
            <a:miter lim="800000"/>
            <a:headEnd/>
            <a:tailEnd/>
          </a:ln>
          <a:effectLst/>
          <a:extLst/>
        </p:spPr>
        <p:txBody>
          <a:bodyPr wrap="none" lIns="121899" tIns="60949" rIns="121899" bIns="60949" anchor="ctr"/>
          <a:lstStyle/>
          <a:p>
            <a:endParaRPr lang="en-US" dirty="0">
              <a:latin typeface="Arial Narrow" pitchFamily="34" charset="0"/>
            </a:endParaRPr>
          </a:p>
        </p:txBody>
      </p:sp>
      <p:sp>
        <p:nvSpPr>
          <p:cNvPr id="4" name="Rectangle 3"/>
          <p:cNvSpPr/>
          <p:nvPr/>
        </p:nvSpPr>
        <p:spPr bwMode="invGray">
          <a:xfrm>
            <a:off x="1806069" y="823702"/>
            <a:ext cx="8175812" cy="548643"/>
          </a:xfrm>
          <a:prstGeom prst="rect">
            <a:avLst/>
          </a:prstGeom>
          <a:ln>
            <a:headEnd/>
            <a:tailEnd/>
          </a:ln>
          <a:ex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smtClean="0"/>
              <a:t>Global System</a:t>
            </a:r>
            <a:endParaRPr lang="en-CA" dirty="0"/>
          </a:p>
        </p:txBody>
      </p:sp>
      <p:sp>
        <p:nvSpPr>
          <p:cNvPr id="560139" name="Rectangle 11"/>
          <p:cNvSpPr>
            <a:spLocks noChangeArrowheads="1"/>
          </p:cNvSpPr>
          <p:nvPr/>
        </p:nvSpPr>
        <p:spPr bwMode="auto">
          <a:xfrm>
            <a:off x="2734374" y="1395552"/>
            <a:ext cx="1460601" cy="782709"/>
          </a:xfrm>
          <a:prstGeom prst="rect">
            <a:avLst/>
          </a:prstGeom>
          <a:ln/>
          <a:extLst/>
        </p:spPr>
        <p:style>
          <a:lnRef idx="1">
            <a:schemeClr val="accent1"/>
          </a:lnRef>
          <a:fillRef idx="2">
            <a:schemeClr val="accent1"/>
          </a:fillRef>
          <a:effectRef idx="1">
            <a:schemeClr val="accent1"/>
          </a:effectRef>
          <a:fontRef idx="minor">
            <a:schemeClr val="dk1"/>
          </a:fontRef>
        </p:style>
        <p:txBody>
          <a:bodyPr wrap="none" lIns="121899" tIns="60949" rIns="121899" bIns="60949" anchor="ctr"/>
          <a:lstStyle/>
          <a:p>
            <a:pPr algn="ctr">
              <a:defRPr/>
            </a:pPr>
            <a:r>
              <a:rPr lang="en-US" sz="2200" dirty="0" smtClean="0"/>
              <a:t>VDOM 1</a:t>
            </a:r>
            <a:endParaRPr lang="en-US" sz="2200" dirty="0"/>
          </a:p>
        </p:txBody>
      </p:sp>
      <p:sp>
        <p:nvSpPr>
          <p:cNvPr id="560140" name="Rectangle 12"/>
          <p:cNvSpPr>
            <a:spLocks noChangeArrowheads="1"/>
          </p:cNvSpPr>
          <p:nvPr/>
        </p:nvSpPr>
        <p:spPr bwMode="auto">
          <a:xfrm>
            <a:off x="5163675" y="1395551"/>
            <a:ext cx="1460601" cy="782709"/>
          </a:xfrm>
          <a:prstGeom prst="rect">
            <a:avLst/>
          </a:prstGeom>
          <a:ln/>
          <a:extLst/>
        </p:spPr>
        <p:style>
          <a:lnRef idx="1">
            <a:schemeClr val="accent4"/>
          </a:lnRef>
          <a:fillRef idx="2">
            <a:schemeClr val="accent4"/>
          </a:fillRef>
          <a:effectRef idx="1">
            <a:schemeClr val="accent4"/>
          </a:effectRef>
          <a:fontRef idx="minor">
            <a:schemeClr val="dk1"/>
          </a:fontRef>
        </p:style>
        <p:txBody>
          <a:bodyPr wrap="none" lIns="121899" tIns="60949" rIns="121899" bIns="60949" anchor="ctr"/>
          <a:lstStyle/>
          <a:p>
            <a:pPr algn="ctr">
              <a:defRPr/>
            </a:pPr>
            <a:r>
              <a:rPr lang="en-US" sz="2200" dirty="0" smtClean="0"/>
              <a:t>VDOM 2</a:t>
            </a:r>
            <a:endParaRPr lang="en-US" sz="2200" dirty="0"/>
          </a:p>
        </p:txBody>
      </p:sp>
      <p:sp>
        <p:nvSpPr>
          <p:cNvPr id="560141" name="Rectangle 13"/>
          <p:cNvSpPr>
            <a:spLocks noChangeArrowheads="1"/>
          </p:cNvSpPr>
          <p:nvPr/>
        </p:nvSpPr>
        <p:spPr bwMode="auto">
          <a:xfrm>
            <a:off x="7592976" y="1374058"/>
            <a:ext cx="1460601" cy="782709"/>
          </a:xfrm>
          <a:prstGeom prst="rect">
            <a:avLst/>
          </a:prstGeom>
          <a:ln/>
          <a:extLst/>
        </p:spPr>
        <p:style>
          <a:lnRef idx="1">
            <a:schemeClr val="accent6"/>
          </a:lnRef>
          <a:fillRef idx="2">
            <a:schemeClr val="accent6"/>
          </a:fillRef>
          <a:effectRef idx="1">
            <a:schemeClr val="accent6"/>
          </a:effectRef>
          <a:fontRef idx="minor">
            <a:schemeClr val="dk1"/>
          </a:fontRef>
        </p:style>
        <p:txBody>
          <a:bodyPr wrap="none" lIns="121899" tIns="60949" rIns="121899" bIns="60949" anchor="ctr"/>
          <a:lstStyle/>
          <a:p>
            <a:pPr algn="ctr">
              <a:defRPr/>
            </a:pPr>
            <a:r>
              <a:rPr lang="en-US" sz="2200" dirty="0" smtClean="0"/>
              <a:t>VDOM 3</a:t>
            </a:r>
            <a:endParaRPr lang="en-US" sz="2200" dirty="0"/>
          </a:p>
        </p:txBody>
      </p:sp>
    </p:spTree>
    <p:custDataLst>
      <p:tags r:id="rId1"/>
    </p:custDataLst>
    <p:extLst>
      <p:ext uri="{BB962C8B-B14F-4D97-AF65-F5344CB8AC3E}">
        <p14:creationId xmlns:p14="http://schemas.microsoft.com/office/powerpoint/2010/main" val="24872226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60139"/>
                                        </p:tgtEl>
                                        <p:attrNameLst>
                                          <p:attrName>style.visibility</p:attrName>
                                        </p:attrNameLst>
                                      </p:cBhvr>
                                      <p:to>
                                        <p:strVal val="visible"/>
                                      </p:to>
                                    </p:set>
                                    <p:animEffect transition="in" filter="wipe(down)">
                                      <p:cBhvr>
                                        <p:cTn id="7" dur="500"/>
                                        <p:tgtEl>
                                          <p:spTgt spid="560139"/>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60145"/>
                                        </p:tgtEl>
                                        <p:attrNameLst>
                                          <p:attrName>style.visibility</p:attrName>
                                        </p:attrNameLst>
                                      </p:cBhvr>
                                      <p:to>
                                        <p:strVal val="visible"/>
                                      </p:to>
                                    </p:set>
                                    <p:animEffect transition="in" filter="fade">
                                      <p:cBhvr>
                                        <p:cTn id="11" dur="500"/>
                                        <p:tgtEl>
                                          <p:spTgt spid="560145"/>
                                        </p:tgtEl>
                                      </p:cBhvr>
                                    </p:animEffect>
                                  </p:childTnLst>
                                </p:cTn>
                              </p:par>
                            </p:childTnLst>
                          </p:cTn>
                        </p:par>
                        <p:par>
                          <p:cTn id="12" fill="hold">
                            <p:stCondLst>
                              <p:cond delay="1000"/>
                            </p:stCondLst>
                            <p:childTnLst>
                              <p:par>
                                <p:cTn id="13" presetID="29" presetClass="entr" presetSubtype="0" fill="hold" grpId="0" nodeType="afterEffect">
                                  <p:stCondLst>
                                    <p:cond delay="0"/>
                                  </p:stCondLst>
                                  <p:childTnLst>
                                    <p:set>
                                      <p:cBhvr>
                                        <p:cTn id="14" dur="1" fill="hold">
                                          <p:stCondLst>
                                            <p:cond delay="0"/>
                                          </p:stCondLst>
                                        </p:cTn>
                                        <p:tgtEl>
                                          <p:spTgt spid="560147"/>
                                        </p:tgtEl>
                                        <p:attrNameLst>
                                          <p:attrName>style.visibility</p:attrName>
                                        </p:attrNameLst>
                                      </p:cBhvr>
                                      <p:to>
                                        <p:strVal val="visible"/>
                                      </p:to>
                                    </p:set>
                                    <p:anim calcmode="lin" valueType="num">
                                      <p:cBhvr>
                                        <p:cTn id="15" dur="500" fill="hold"/>
                                        <p:tgtEl>
                                          <p:spTgt spid="560147"/>
                                        </p:tgtEl>
                                        <p:attrNameLst>
                                          <p:attrName>ppt_x</p:attrName>
                                        </p:attrNameLst>
                                      </p:cBhvr>
                                      <p:tavLst>
                                        <p:tav tm="0">
                                          <p:val>
                                            <p:strVal val="#ppt_x-.2"/>
                                          </p:val>
                                        </p:tav>
                                        <p:tav tm="100000">
                                          <p:val>
                                            <p:strVal val="#ppt_x"/>
                                          </p:val>
                                        </p:tav>
                                      </p:tavLst>
                                    </p:anim>
                                    <p:anim calcmode="lin" valueType="num">
                                      <p:cBhvr>
                                        <p:cTn id="16" dur="500" fill="hold"/>
                                        <p:tgtEl>
                                          <p:spTgt spid="560147"/>
                                        </p:tgtEl>
                                        <p:attrNameLst>
                                          <p:attrName>ppt_y</p:attrName>
                                        </p:attrNameLst>
                                      </p:cBhvr>
                                      <p:tavLst>
                                        <p:tav tm="0">
                                          <p:val>
                                            <p:strVal val="#ppt_y"/>
                                          </p:val>
                                        </p:tav>
                                        <p:tav tm="100000">
                                          <p:val>
                                            <p:strVal val="#ppt_y"/>
                                          </p:val>
                                        </p:tav>
                                      </p:tavLst>
                                    </p:anim>
                                    <p:animEffect transition="in" filter="wipe(right)" prLst="gradientSize: 0.1">
                                      <p:cBhvr>
                                        <p:cTn id="17" dur="500"/>
                                        <p:tgtEl>
                                          <p:spTgt spid="560147"/>
                                        </p:tgtEl>
                                      </p:cBhvr>
                                    </p:animEffect>
                                  </p:childTnLst>
                                </p:cTn>
                              </p:par>
                            </p:childTnLst>
                          </p:cTn>
                        </p:par>
                        <p:par>
                          <p:cTn id="18" fill="hold">
                            <p:stCondLst>
                              <p:cond delay="1500"/>
                            </p:stCondLst>
                            <p:childTnLst>
                              <p:par>
                                <p:cTn id="19" presetID="22" presetClass="entr" presetSubtype="4" fill="hold" grpId="0" nodeType="afterEffect">
                                  <p:stCondLst>
                                    <p:cond delay="0"/>
                                  </p:stCondLst>
                                  <p:childTnLst>
                                    <p:set>
                                      <p:cBhvr>
                                        <p:cTn id="20" dur="1" fill="hold">
                                          <p:stCondLst>
                                            <p:cond delay="0"/>
                                          </p:stCondLst>
                                        </p:cTn>
                                        <p:tgtEl>
                                          <p:spTgt spid="560140"/>
                                        </p:tgtEl>
                                        <p:attrNameLst>
                                          <p:attrName>style.visibility</p:attrName>
                                        </p:attrNameLst>
                                      </p:cBhvr>
                                      <p:to>
                                        <p:strVal val="visible"/>
                                      </p:to>
                                    </p:set>
                                    <p:animEffect transition="in" filter="wipe(down)">
                                      <p:cBhvr>
                                        <p:cTn id="21" dur="500"/>
                                        <p:tgtEl>
                                          <p:spTgt spid="560140"/>
                                        </p:tgtEl>
                                      </p:cBhvr>
                                    </p:animEffect>
                                  </p:childTnLst>
                                </p:cTn>
                              </p:par>
                            </p:childTnLst>
                          </p:cTn>
                        </p:par>
                        <p:par>
                          <p:cTn id="22" fill="hold" nodeType="afterGroup">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560141"/>
                                        </p:tgtEl>
                                        <p:attrNameLst>
                                          <p:attrName>style.visibility</p:attrName>
                                        </p:attrNameLst>
                                      </p:cBhvr>
                                      <p:to>
                                        <p:strVal val="visible"/>
                                      </p:to>
                                    </p:set>
                                    <p:animEffect transition="in" filter="wipe(down)">
                                      <p:cBhvr>
                                        <p:cTn id="25" dur="500"/>
                                        <p:tgtEl>
                                          <p:spTgt spid="560141"/>
                                        </p:tgtEl>
                                      </p:cBhvr>
                                    </p:animEffect>
                                  </p:childTnLst>
                                </p:cTn>
                              </p:par>
                            </p:childTnLst>
                          </p:cTn>
                        </p:par>
                        <p:par>
                          <p:cTn id="26" fill="hold" nodeType="afterGroup">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560146"/>
                                        </p:tgtEl>
                                        <p:attrNameLst>
                                          <p:attrName>style.visibility</p:attrName>
                                        </p:attrNameLst>
                                      </p:cBhvr>
                                      <p:to>
                                        <p:strVal val="visible"/>
                                      </p:to>
                                    </p:set>
                                    <p:animEffect transition="in" filter="fade">
                                      <p:cBhvr>
                                        <p:cTn id="29" dur="500"/>
                                        <p:tgtEl>
                                          <p:spTgt spid="560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45" grpId="0"/>
      <p:bldP spid="560146" grpId="0"/>
      <p:bldP spid="560147" grpId="0" animBg="1"/>
      <p:bldP spid="560139" grpId="0" animBg="1"/>
      <p:bldP spid="560140" grpId="0" animBg="1"/>
      <p:bldP spid="56014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7505" y="4398784"/>
            <a:ext cx="7601968" cy="1464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4" name="Title 1"/>
          <p:cNvSpPr>
            <a:spLocks noGrp="1" noChangeArrowheads="1"/>
          </p:cNvSpPr>
          <p:nvPr>
            <p:ph type="title"/>
          </p:nvPr>
        </p:nvSpPr>
        <p:spPr/>
        <p:txBody>
          <a:bodyPr>
            <a:normAutofit/>
          </a:bodyPr>
          <a:lstStyle/>
          <a:p>
            <a:pPr eaLnBrk="1" hangingPunct="1"/>
            <a:r>
              <a:rPr lang="en-US" smtClean="0">
                <a:cs typeface="Arial" charset="0"/>
              </a:rPr>
              <a:t>VDOM Administration </a:t>
            </a:r>
            <a:endParaRPr lang="en-US" dirty="0">
              <a:cs typeface="Arial" charset="0"/>
            </a:endParaRPr>
          </a:p>
        </p:txBody>
      </p:sp>
      <p:sp>
        <p:nvSpPr>
          <p:cNvPr id="3" name="Text Placeholder 2"/>
          <p:cNvSpPr>
            <a:spLocks noGrp="1"/>
          </p:cNvSpPr>
          <p:nvPr>
            <p:ph idx="1"/>
          </p:nvPr>
        </p:nvSpPr>
        <p:spPr/>
        <p:txBody>
          <a:bodyPr/>
          <a:lstStyle/>
          <a:p>
            <a:r>
              <a:rPr lang="en-US" dirty="0" smtClean="0">
                <a:cs typeface="Arial" charset="0"/>
              </a:rPr>
              <a:t>Only the account named </a:t>
            </a:r>
            <a:r>
              <a:rPr lang="en-US" b="1" dirty="0" smtClean="0">
                <a:cs typeface="Arial" charset="0"/>
              </a:rPr>
              <a:t>admin</a:t>
            </a:r>
            <a:r>
              <a:rPr lang="en-US" dirty="0" smtClean="0">
                <a:cs typeface="Arial" charset="0"/>
              </a:rPr>
              <a:t> or accounts with the </a:t>
            </a:r>
            <a:r>
              <a:rPr lang="en-US" b="1" dirty="0" err="1" smtClean="0">
                <a:cs typeface="Arial" charset="0"/>
              </a:rPr>
              <a:t>super_admin</a:t>
            </a:r>
            <a:r>
              <a:rPr lang="en-US" dirty="0" smtClean="0">
                <a:cs typeface="Arial" charset="0"/>
              </a:rPr>
              <a:t> profile can configure and back up all VDOMs</a:t>
            </a:r>
            <a:endParaRPr lang="en-CA" dirty="0"/>
          </a:p>
        </p:txBody>
      </p:sp>
      <p:sp>
        <p:nvSpPr>
          <p:cNvPr id="14" name="Rectangle 13"/>
          <p:cNvSpPr/>
          <p:nvPr/>
        </p:nvSpPr>
        <p:spPr bwMode="invGray">
          <a:xfrm>
            <a:off x="2732442" y="4452572"/>
            <a:ext cx="6917168" cy="548643"/>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a:t>Global System</a:t>
            </a:r>
          </a:p>
        </p:txBody>
      </p:sp>
      <p:sp>
        <p:nvSpPr>
          <p:cNvPr id="573457" name="Rectangle 17"/>
          <p:cNvSpPr>
            <a:spLocks noChangeArrowheads="1"/>
          </p:cNvSpPr>
          <p:nvPr/>
        </p:nvSpPr>
        <p:spPr bwMode="auto">
          <a:xfrm>
            <a:off x="3797679" y="3701643"/>
            <a:ext cx="1384255" cy="847323"/>
          </a:xfrm>
          <a:prstGeom prst="rect">
            <a:avLst/>
          </a:prstGeom>
          <a:ln/>
        </p:spPr>
        <p:style>
          <a:lnRef idx="1">
            <a:schemeClr val="accent1"/>
          </a:lnRef>
          <a:fillRef idx="2">
            <a:schemeClr val="accent1"/>
          </a:fillRef>
          <a:effectRef idx="1">
            <a:schemeClr val="accent1"/>
          </a:effectRef>
          <a:fontRef idx="minor">
            <a:schemeClr val="dk1"/>
          </a:fontRef>
        </p:style>
        <p:txBody>
          <a:bodyPr wrap="none" lIns="121899" tIns="60949" rIns="121899" bIns="60949" anchor="ctr"/>
          <a:lstStyle/>
          <a:p>
            <a:pPr algn="ctr">
              <a:defRPr/>
            </a:pPr>
            <a:r>
              <a:rPr lang="en-US" sz="2100" dirty="0" smtClean="0"/>
              <a:t>VDOM </a:t>
            </a:r>
            <a:r>
              <a:rPr lang="en-US" sz="2100" dirty="0"/>
              <a:t>A</a:t>
            </a:r>
          </a:p>
        </p:txBody>
      </p:sp>
      <p:sp>
        <p:nvSpPr>
          <p:cNvPr id="573458" name="Rectangle 18"/>
          <p:cNvSpPr>
            <a:spLocks noChangeArrowheads="1"/>
          </p:cNvSpPr>
          <p:nvPr/>
        </p:nvSpPr>
        <p:spPr bwMode="auto">
          <a:xfrm>
            <a:off x="5523145" y="3701643"/>
            <a:ext cx="1341617" cy="847323"/>
          </a:xfrm>
          <a:prstGeom prst="rect">
            <a:avLst/>
          </a:prstGeom>
          <a:ln/>
        </p:spPr>
        <p:style>
          <a:lnRef idx="1">
            <a:schemeClr val="accent4"/>
          </a:lnRef>
          <a:fillRef idx="2">
            <a:schemeClr val="accent4"/>
          </a:fillRef>
          <a:effectRef idx="1">
            <a:schemeClr val="accent4"/>
          </a:effectRef>
          <a:fontRef idx="minor">
            <a:schemeClr val="dk1"/>
          </a:fontRef>
        </p:style>
        <p:txBody>
          <a:bodyPr wrap="none" lIns="121899" tIns="60949" rIns="121899" bIns="60949" anchor="ctr"/>
          <a:lstStyle/>
          <a:p>
            <a:pPr algn="ctr">
              <a:defRPr/>
            </a:pPr>
            <a:r>
              <a:rPr lang="en-US" sz="2100" dirty="0" smtClean="0"/>
              <a:t>VDOM </a:t>
            </a:r>
            <a:r>
              <a:rPr lang="en-US" sz="2100" dirty="0"/>
              <a:t>B</a:t>
            </a:r>
          </a:p>
        </p:txBody>
      </p:sp>
      <p:sp>
        <p:nvSpPr>
          <p:cNvPr id="573459" name="Rectangle 19"/>
          <p:cNvSpPr>
            <a:spLocks noChangeArrowheads="1"/>
          </p:cNvSpPr>
          <p:nvPr/>
        </p:nvSpPr>
        <p:spPr bwMode="auto">
          <a:xfrm>
            <a:off x="7172309" y="3701643"/>
            <a:ext cx="1385519" cy="847323"/>
          </a:xfrm>
          <a:prstGeom prst="rect">
            <a:avLst/>
          </a:prstGeom>
          <a:ln/>
        </p:spPr>
        <p:style>
          <a:lnRef idx="1">
            <a:schemeClr val="accent6"/>
          </a:lnRef>
          <a:fillRef idx="2">
            <a:schemeClr val="accent6"/>
          </a:fillRef>
          <a:effectRef idx="1">
            <a:schemeClr val="accent6"/>
          </a:effectRef>
          <a:fontRef idx="minor">
            <a:schemeClr val="dk1"/>
          </a:fontRef>
        </p:style>
        <p:txBody>
          <a:bodyPr wrap="none" lIns="121899" tIns="60949" rIns="121899" bIns="60949" anchor="ctr"/>
          <a:lstStyle/>
          <a:p>
            <a:pPr algn="ctr">
              <a:defRPr/>
            </a:pPr>
            <a:r>
              <a:rPr lang="en-US" sz="2100" dirty="0" smtClean="0"/>
              <a:t>VDOM </a:t>
            </a:r>
            <a:r>
              <a:rPr lang="en-US" sz="2100" dirty="0"/>
              <a:t>C</a:t>
            </a:r>
          </a:p>
        </p:txBody>
      </p:sp>
      <p:sp>
        <p:nvSpPr>
          <p:cNvPr id="573468" name="AutoShape 28"/>
          <p:cNvSpPr>
            <a:spLocks noChangeArrowheads="1"/>
          </p:cNvSpPr>
          <p:nvPr/>
        </p:nvSpPr>
        <p:spPr bwMode="auto">
          <a:xfrm rot="3062753">
            <a:off x="4844062" y="2515712"/>
            <a:ext cx="274168" cy="1558082"/>
          </a:xfrm>
          <a:prstGeom prst="downArrow">
            <a:avLst>
              <a:gd name="adj1" fmla="val 50000"/>
              <a:gd name="adj2" fmla="val 72318"/>
            </a:avLst>
          </a:prstGeom>
          <a:solidFill>
            <a:srgbClr val="FF0000"/>
          </a:solidFill>
          <a:ln w="12700">
            <a:solidFill>
              <a:srgbClr val="FF0000"/>
            </a:solidFill>
            <a:miter lim="800000"/>
            <a:headEnd/>
            <a:tailEnd/>
          </a:ln>
          <a:effectLst/>
        </p:spPr>
        <p:txBody>
          <a:bodyPr wrap="none" lIns="121899" tIns="60949" rIns="121899" bIns="60949" anchor="ctr"/>
          <a:lstStyle/>
          <a:p>
            <a:endParaRPr lang="en-US" dirty="0"/>
          </a:p>
        </p:txBody>
      </p:sp>
      <p:sp>
        <p:nvSpPr>
          <p:cNvPr id="573469" name="AutoShape 29"/>
          <p:cNvSpPr>
            <a:spLocks noChangeArrowheads="1"/>
          </p:cNvSpPr>
          <p:nvPr/>
        </p:nvSpPr>
        <p:spPr bwMode="auto">
          <a:xfrm rot="-2727040">
            <a:off x="7245110" y="2509297"/>
            <a:ext cx="298771" cy="1510906"/>
          </a:xfrm>
          <a:prstGeom prst="downArrow">
            <a:avLst>
              <a:gd name="adj1" fmla="val 50000"/>
              <a:gd name="adj2" fmla="val 68391"/>
            </a:avLst>
          </a:prstGeom>
          <a:solidFill>
            <a:srgbClr val="FF0000"/>
          </a:solidFill>
          <a:ln w="12700">
            <a:solidFill>
              <a:srgbClr val="FF0000"/>
            </a:solidFill>
            <a:miter lim="800000"/>
            <a:headEnd/>
            <a:tailEnd/>
          </a:ln>
          <a:effectLst/>
        </p:spPr>
        <p:txBody>
          <a:bodyPr wrap="none" lIns="121899" tIns="60949" rIns="121899" bIns="60949" anchor="ctr"/>
          <a:lstStyle/>
          <a:p>
            <a:endParaRPr lang="en-US" dirty="0"/>
          </a:p>
        </p:txBody>
      </p:sp>
      <p:sp>
        <p:nvSpPr>
          <p:cNvPr id="573470" name="AutoShape 30"/>
          <p:cNvSpPr>
            <a:spLocks noChangeArrowheads="1"/>
          </p:cNvSpPr>
          <p:nvPr/>
        </p:nvSpPr>
        <p:spPr bwMode="auto">
          <a:xfrm>
            <a:off x="5978268" y="3137607"/>
            <a:ext cx="374633" cy="554867"/>
          </a:xfrm>
          <a:prstGeom prst="downArrow">
            <a:avLst>
              <a:gd name="adj1" fmla="val 50000"/>
              <a:gd name="adj2" fmla="val 44157"/>
            </a:avLst>
          </a:prstGeom>
          <a:solidFill>
            <a:srgbClr val="FF0000"/>
          </a:solidFill>
          <a:ln w="12700">
            <a:solidFill>
              <a:srgbClr val="FF0000"/>
            </a:solidFill>
            <a:miter lim="800000"/>
            <a:headEnd/>
            <a:tailEnd/>
          </a:ln>
          <a:effectLst/>
        </p:spPr>
        <p:txBody>
          <a:bodyPr wrap="none" lIns="121899" tIns="60949" rIns="121899" bIns="60949" anchor="ctr"/>
          <a:lstStyle/>
          <a:p>
            <a:endParaRPr lang="en-US" dirty="0"/>
          </a:p>
        </p:txBody>
      </p:sp>
      <p:sp>
        <p:nvSpPr>
          <p:cNvPr id="573471" name="Text Box 31"/>
          <p:cNvSpPr txBox="1">
            <a:spLocks noChangeArrowheads="1"/>
          </p:cNvSpPr>
          <p:nvPr/>
        </p:nvSpPr>
        <p:spPr bwMode="auto">
          <a:xfrm>
            <a:off x="4511503" y="1798828"/>
            <a:ext cx="3222956" cy="41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r>
              <a:rPr lang="en-US" sz="1900" i="1" dirty="0">
                <a:latin typeface="+mn-lt"/>
              </a:rPr>
              <a:t>super_admin</a:t>
            </a:r>
            <a:r>
              <a:rPr lang="en-US" sz="1900" dirty="0">
                <a:latin typeface="+mn-lt"/>
              </a:rPr>
              <a:t> access profile</a:t>
            </a:r>
          </a:p>
        </p:txBody>
      </p:sp>
      <p:pic>
        <p:nvPicPr>
          <p:cNvPr id="13"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5754316" y="2209197"/>
            <a:ext cx="631356" cy="838632"/>
          </a:xfrm>
          <a:prstGeom prst="rect">
            <a:avLst/>
          </a:prstGeom>
          <a:noFill/>
        </p:spPr>
      </p:pic>
    </p:spTree>
    <p:custDataLst>
      <p:tags r:id="rId1"/>
    </p:custDataLst>
    <p:extLst>
      <p:ext uri="{BB962C8B-B14F-4D97-AF65-F5344CB8AC3E}">
        <p14:creationId xmlns:p14="http://schemas.microsoft.com/office/powerpoint/2010/main" val="172691550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73471"/>
                                        </p:tgtEl>
                                        <p:attrNameLst>
                                          <p:attrName>style.visibility</p:attrName>
                                        </p:attrNameLst>
                                      </p:cBhvr>
                                      <p:to>
                                        <p:strVal val="visible"/>
                                      </p:to>
                                    </p:set>
                                    <p:animEffect transition="in" filter="fade">
                                      <p:cBhvr>
                                        <p:cTn id="7" dur="500"/>
                                        <p:tgtEl>
                                          <p:spTgt spid="573471"/>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73468"/>
                                        </p:tgtEl>
                                        <p:attrNameLst>
                                          <p:attrName>style.visibility</p:attrName>
                                        </p:attrNameLst>
                                      </p:cBhvr>
                                      <p:to>
                                        <p:strVal val="visible"/>
                                      </p:to>
                                    </p:set>
                                    <p:animEffect transition="in" filter="fade">
                                      <p:cBhvr>
                                        <p:cTn id="11" dur="500"/>
                                        <p:tgtEl>
                                          <p:spTgt spid="573468"/>
                                        </p:tgtEl>
                                      </p:cBhvr>
                                    </p:animEffect>
                                  </p:childTnLst>
                                </p:cTn>
                              </p:par>
                            </p:childTnLst>
                          </p:cTn>
                        </p:par>
                        <p:par>
                          <p:cTn id="12" fill="hold" nodeType="afterGroup">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73470"/>
                                        </p:tgtEl>
                                        <p:attrNameLst>
                                          <p:attrName>style.visibility</p:attrName>
                                        </p:attrNameLst>
                                      </p:cBhvr>
                                      <p:to>
                                        <p:strVal val="visible"/>
                                      </p:to>
                                    </p:set>
                                    <p:animEffect transition="in" filter="fade">
                                      <p:cBhvr>
                                        <p:cTn id="15" dur="500"/>
                                        <p:tgtEl>
                                          <p:spTgt spid="573470"/>
                                        </p:tgtEl>
                                      </p:cBhvr>
                                    </p:animEffect>
                                  </p:childTnLst>
                                </p:cTn>
                              </p:par>
                            </p:childTnLst>
                          </p:cTn>
                        </p:par>
                        <p:par>
                          <p:cTn id="16" fill="hold" nodeType="afterGroup">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573469"/>
                                        </p:tgtEl>
                                        <p:attrNameLst>
                                          <p:attrName>style.visibility</p:attrName>
                                        </p:attrNameLst>
                                      </p:cBhvr>
                                      <p:to>
                                        <p:strVal val="visible"/>
                                      </p:to>
                                    </p:set>
                                    <p:animEffect transition="in" filter="fade">
                                      <p:cBhvr>
                                        <p:cTn id="19" dur="500"/>
                                        <p:tgtEl>
                                          <p:spTgt spid="573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8" grpId="0" animBg="1"/>
      <p:bldP spid="573469" grpId="0" animBg="1"/>
      <p:bldP spid="573470" grpId="0" animBg="1"/>
      <p:bldP spid="57347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154" y="4441817"/>
            <a:ext cx="7655004" cy="1474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0" name="Title 1"/>
          <p:cNvSpPr>
            <a:spLocks noGrp="1" noChangeArrowheads="1"/>
          </p:cNvSpPr>
          <p:nvPr>
            <p:ph type="title"/>
          </p:nvPr>
        </p:nvSpPr>
        <p:spPr/>
        <p:txBody>
          <a:bodyPr>
            <a:normAutofit/>
          </a:bodyPr>
          <a:lstStyle/>
          <a:p>
            <a:pPr eaLnBrk="1" hangingPunct="1"/>
            <a:r>
              <a:rPr lang="en-US" dirty="0">
                <a:cs typeface="Arial" charset="0"/>
              </a:rPr>
              <a:t>Per-VDOM Administration</a:t>
            </a:r>
          </a:p>
        </p:txBody>
      </p:sp>
      <p:sp>
        <p:nvSpPr>
          <p:cNvPr id="2" name="Text Placeholder 1"/>
          <p:cNvSpPr>
            <a:spLocks noGrp="1"/>
          </p:cNvSpPr>
          <p:nvPr>
            <p:ph idx="1"/>
          </p:nvPr>
        </p:nvSpPr>
        <p:spPr/>
        <p:txBody>
          <a:bodyPr/>
          <a:lstStyle/>
          <a:p>
            <a:r>
              <a:rPr lang="en-US" dirty="0">
                <a:cs typeface="Arial" charset="0"/>
              </a:rPr>
              <a:t>Other administrators can access only their </a:t>
            </a:r>
            <a:r>
              <a:rPr lang="en-US" i="1" dirty="0">
                <a:cs typeface="Arial" charset="0"/>
              </a:rPr>
              <a:t>assigned </a:t>
            </a:r>
            <a:r>
              <a:rPr lang="en-US" dirty="0">
                <a:cs typeface="Arial" charset="0"/>
              </a:rPr>
              <a:t>VDOMs</a:t>
            </a:r>
          </a:p>
          <a:p>
            <a:pPr lvl="1"/>
            <a:r>
              <a:rPr lang="en-US" dirty="0">
                <a:cs typeface="Arial" charset="0"/>
              </a:rPr>
              <a:t>Cannot access the global settings</a:t>
            </a:r>
          </a:p>
          <a:p>
            <a:endParaRPr lang="en-CA" dirty="0"/>
          </a:p>
        </p:txBody>
      </p:sp>
      <p:sp>
        <p:nvSpPr>
          <p:cNvPr id="573465" name="AutoShape 25"/>
          <p:cNvSpPr>
            <a:spLocks noChangeArrowheads="1"/>
          </p:cNvSpPr>
          <p:nvPr/>
        </p:nvSpPr>
        <p:spPr bwMode="auto">
          <a:xfrm>
            <a:off x="4278148" y="3941247"/>
            <a:ext cx="423320" cy="438151"/>
          </a:xfrm>
          <a:prstGeom prst="downArrow">
            <a:avLst>
              <a:gd name="adj1" fmla="val 50000"/>
              <a:gd name="adj2" fmla="val 26437"/>
            </a:avLst>
          </a:prstGeom>
          <a:solidFill>
            <a:srgbClr val="FF0000"/>
          </a:solidFill>
          <a:ln>
            <a:noFill/>
          </a:ln>
          <a:effectLst/>
        </p:spPr>
        <p:txBody>
          <a:bodyPr wrap="none" lIns="121899" tIns="60949" rIns="121899" bIns="60949" anchor="ctr"/>
          <a:lstStyle/>
          <a:p>
            <a:endParaRPr lang="en-US" dirty="0"/>
          </a:p>
        </p:txBody>
      </p:sp>
      <p:sp>
        <p:nvSpPr>
          <p:cNvPr id="573467" name="AutoShape 27"/>
          <p:cNvSpPr>
            <a:spLocks noChangeArrowheads="1"/>
          </p:cNvSpPr>
          <p:nvPr/>
        </p:nvSpPr>
        <p:spPr bwMode="auto">
          <a:xfrm>
            <a:off x="5974917" y="3941247"/>
            <a:ext cx="382040" cy="438151"/>
          </a:xfrm>
          <a:prstGeom prst="downArrow">
            <a:avLst>
              <a:gd name="adj1" fmla="val 50000"/>
              <a:gd name="adj2" fmla="val 26437"/>
            </a:avLst>
          </a:prstGeom>
          <a:solidFill>
            <a:srgbClr val="FF0000"/>
          </a:solidFill>
          <a:ln>
            <a:noFill/>
          </a:ln>
          <a:effectLst/>
        </p:spPr>
        <p:txBody>
          <a:bodyPr wrap="none" lIns="121899" tIns="60949" rIns="121899" bIns="60949" anchor="ctr"/>
          <a:lstStyle/>
          <a:p>
            <a:endParaRPr lang="en-US" dirty="0"/>
          </a:p>
        </p:txBody>
      </p:sp>
      <p:sp>
        <p:nvSpPr>
          <p:cNvPr id="16" name="Rectangle 17"/>
          <p:cNvSpPr>
            <a:spLocks noChangeArrowheads="1"/>
          </p:cNvSpPr>
          <p:nvPr/>
        </p:nvSpPr>
        <p:spPr bwMode="auto">
          <a:xfrm>
            <a:off x="3797679" y="4379397"/>
            <a:ext cx="1384255" cy="847323"/>
          </a:xfrm>
          <a:prstGeom prst="rect">
            <a:avLst/>
          </a:prstGeom>
          <a:ln/>
        </p:spPr>
        <p:style>
          <a:lnRef idx="1">
            <a:schemeClr val="accent1"/>
          </a:lnRef>
          <a:fillRef idx="2">
            <a:schemeClr val="accent1"/>
          </a:fillRef>
          <a:effectRef idx="1">
            <a:schemeClr val="accent1"/>
          </a:effectRef>
          <a:fontRef idx="minor">
            <a:schemeClr val="dk1"/>
          </a:fontRef>
        </p:style>
        <p:txBody>
          <a:bodyPr wrap="none" lIns="121899" tIns="60949" rIns="121899" bIns="60949" anchor="ctr"/>
          <a:lstStyle/>
          <a:p>
            <a:pPr algn="ctr">
              <a:defRPr/>
            </a:pPr>
            <a:r>
              <a:rPr lang="en-US" sz="2100" dirty="0"/>
              <a:t>Domain A</a:t>
            </a:r>
          </a:p>
        </p:txBody>
      </p:sp>
      <p:sp>
        <p:nvSpPr>
          <p:cNvPr id="17" name="Rectangle 18"/>
          <p:cNvSpPr>
            <a:spLocks noChangeArrowheads="1"/>
          </p:cNvSpPr>
          <p:nvPr/>
        </p:nvSpPr>
        <p:spPr bwMode="auto">
          <a:xfrm>
            <a:off x="5523145" y="4379397"/>
            <a:ext cx="1341617" cy="847323"/>
          </a:xfrm>
          <a:prstGeom prst="rect">
            <a:avLst/>
          </a:prstGeom>
          <a:ln/>
        </p:spPr>
        <p:style>
          <a:lnRef idx="1">
            <a:schemeClr val="accent4"/>
          </a:lnRef>
          <a:fillRef idx="2">
            <a:schemeClr val="accent4"/>
          </a:fillRef>
          <a:effectRef idx="1">
            <a:schemeClr val="accent4"/>
          </a:effectRef>
          <a:fontRef idx="minor">
            <a:schemeClr val="dk1"/>
          </a:fontRef>
        </p:style>
        <p:txBody>
          <a:bodyPr wrap="none" lIns="121899" tIns="60949" rIns="121899" bIns="60949" anchor="ctr"/>
          <a:lstStyle/>
          <a:p>
            <a:pPr algn="ctr">
              <a:defRPr/>
            </a:pPr>
            <a:r>
              <a:rPr lang="en-US" sz="2100" dirty="0"/>
              <a:t>Domain B</a:t>
            </a:r>
          </a:p>
        </p:txBody>
      </p:sp>
      <p:sp>
        <p:nvSpPr>
          <p:cNvPr id="18" name="Rectangle 19"/>
          <p:cNvSpPr>
            <a:spLocks noChangeArrowheads="1"/>
          </p:cNvSpPr>
          <p:nvPr/>
        </p:nvSpPr>
        <p:spPr bwMode="auto">
          <a:xfrm>
            <a:off x="7172309" y="4379397"/>
            <a:ext cx="1385519" cy="847323"/>
          </a:xfrm>
          <a:prstGeom prst="rect">
            <a:avLst/>
          </a:prstGeom>
          <a:ln/>
        </p:spPr>
        <p:style>
          <a:lnRef idx="1">
            <a:schemeClr val="accent6"/>
          </a:lnRef>
          <a:fillRef idx="2">
            <a:schemeClr val="accent6"/>
          </a:fillRef>
          <a:effectRef idx="1">
            <a:schemeClr val="accent6"/>
          </a:effectRef>
          <a:fontRef idx="minor">
            <a:schemeClr val="dk1"/>
          </a:fontRef>
        </p:style>
        <p:txBody>
          <a:bodyPr wrap="none" lIns="121899" tIns="60949" rIns="121899" bIns="60949" anchor="ctr"/>
          <a:lstStyle/>
          <a:p>
            <a:pPr algn="ctr">
              <a:defRPr/>
            </a:pPr>
            <a:r>
              <a:rPr lang="en-US" sz="2100" dirty="0"/>
              <a:t>Domain C</a:t>
            </a:r>
          </a:p>
        </p:txBody>
      </p:sp>
      <p:sp>
        <p:nvSpPr>
          <p:cNvPr id="14" name="AutoShape 26"/>
          <p:cNvSpPr>
            <a:spLocks noChangeArrowheads="1"/>
          </p:cNvSpPr>
          <p:nvPr/>
        </p:nvSpPr>
        <p:spPr bwMode="auto">
          <a:xfrm>
            <a:off x="6970955" y="3579090"/>
            <a:ext cx="372920" cy="870597"/>
          </a:xfrm>
          <a:prstGeom prst="downArrow">
            <a:avLst>
              <a:gd name="adj1" fmla="val 42358"/>
              <a:gd name="adj2" fmla="val 41282"/>
            </a:avLst>
          </a:prstGeom>
          <a:solidFill>
            <a:srgbClr val="FF0000"/>
          </a:solidFill>
          <a:ln>
            <a:noFill/>
          </a:ln>
          <a:effectLst/>
          <a:scene3d>
            <a:camera prst="orthographicFront">
              <a:rot lat="0" lon="0" rev="18000000"/>
            </a:camera>
            <a:lightRig rig="threePt" dir="t"/>
          </a:scene3d>
        </p:spPr>
        <p:txBody>
          <a:bodyPr wrap="none" lIns="121899" tIns="60949" rIns="121899" bIns="60949" anchor="ctr"/>
          <a:lstStyle/>
          <a:p>
            <a:endParaRPr lang="en-US" dirty="0"/>
          </a:p>
        </p:txBody>
      </p:sp>
      <p:pic>
        <p:nvPicPr>
          <p:cNvPr id="19"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flipH="1">
            <a:off x="5849907" y="2925905"/>
            <a:ext cx="631356" cy="838632"/>
          </a:xfrm>
          <a:prstGeom prst="rect">
            <a:avLst/>
          </a:prstGeom>
          <a:noFill/>
        </p:spPr>
      </p:pic>
      <p:pic>
        <p:nvPicPr>
          <p:cNvPr id="20" name="Picture 2"/>
          <p:cNvPicPr>
            <a:picLocks noChangeAspect="1" noChangeArrowheads="1"/>
          </p:cNvPicPr>
          <p:nvPr/>
        </p:nvPicPr>
        <p:blipFill>
          <a:blip r:embed="rId6" cstate="print">
            <a:extLst>
              <a:ext uri="{28A0092B-C50C-407E-A947-70E740481C1C}">
                <a14:useLocalDpi xmlns:a14="http://schemas.microsoft.com/office/drawing/2010/main" val="0"/>
              </a:ext>
            </a:extLst>
          </a:blip>
          <a:stretch>
            <a:fillRect/>
          </a:stretch>
        </p:blipFill>
        <p:spPr bwMode="auto">
          <a:xfrm flipH="1">
            <a:off x="4244645" y="2925906"/>
            <a:ext cx="631300" cy="843053"/>
          </a:xfrm>
          <a:prstGeom prst="rect">
            <a:avLst/>
          </a:prstGeom>
          <a:noFill/>
        </p:spPr>
      </p:pic>
      <p:pic>
        <p:nvPicPr>
          <p:cNvPr id="21" name="Picture 2"/>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flipH="1">
            <a:off x="7472955" y="2925906"/>
            <a:ext cx="569556" cy="759605"/>
          </a:xfrm>
          <a:prstGeom prst="rect">
            <a:avLst/>
          </a:prstGeom>
          <a:noFill/>
        </p:spPr>
      </p:pic>
      <p:sp>
        <p:nvSpPr>
          <p:cNvPr id="15" name="AutoShape 27"/>
          <p:cNvSpPr>
            <a:spLocks noChangeArrowheads="1"/>
          </p:cNvSpPr>
          <p:nvPr/>
        </p:nvSpPr>
        <p:spPr bwMode="auto">
          <a:xfrm>
            <a:off x="7566713" y="3941247"/>
            <a:ext cx="382040" cy="438151"/>
          </a:xfrm>
          <a:prstGeom prst="downArrow">
            <a:avLst>
              <a:gd name="adj1" fmla="val 50000"/>
              <a:gd name="adj2" fmla="val 26437"/>
            </a:avLst>
          </a:prstGeom>
          <a:solidFill>
            <a:srgbClr val="FF0000"/>
          </a:solidFill>
          <a:ln>
            <a:noFill/>
          </a:ln>
          <a:effectLst/>
        </p:spPr>
        <p:txBody>
          <a:bodyPr wrap="none" lIns="121899" tIns="60949" rIns="121899" bIns="60949" anchor="ctr"/>
          <a:lstStyle/>
          <a:p>
            <a:endParaRPr lang="en-US" dirty="0"/>
          </a:p>
        </p:txBody>
      </p:sp>
    </p:spTree>
    <p:custDataLst>
      <p:tags r:id="rId1"/>
    </p:custDataLst>
    <p:extLst>
      <p:ext uri="{BB962C8B-B14F-4D97-AF65-F5344CB8AC3E}">
        <p14:creationId xmlns:p14="http://schemas.microsoft.com/office/powerpoint/2010/main" val="7205364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73465"/>
                                        </p:tgtEl>
                                        <p:attrNameLst>
                                          <p:attrName>style.visibility</p:attrName>
                                        </p:attrNameLst>
                                      </p:cBhvr>
                                      <p:to>
                                        <p:strVal val="visible"/>
                                      </p:to>
                                    </p:set>
                                    <p:animEffect transition="in" filter="fade">
                                      <p:cBhvr>
                                        <p:cTn id="7" dur="500"/>
                                        <p:tgtEl>
                                          <p:spTgt spid="573465"/>
                                        </p:tgtEl>
                                      </p:cBhvr>
                                    </p:animEffect>
                                  </p:childTnLst>
                                </p:cTn>
                              </p:par>
                            </p:childTnLst>
                          </p:cTn>
                        </p:par>
                        <p:par>
                          <p:cTn id="8" fill="hold" nodeType="afterGroup">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73467"/>
                                        </p:tgtEl>
                                        <p:attrNameLst>
                                          <p:attrName>style.visibility</p:attrName>
                                        </p:attrNameLst>
                                      </p:cBhvr>
                                      <p:to>
                                        <p:strVal val="visible"/>
                                      </p:to>
                                    </p:set>
                                    <p:animEffect transition="in" filter="fade">
                                      <p:cBhvr>
                                        <p:cTn id="11" dur="500"/>
                                        <p:tgtEl>
                                          <p:spTgt spid="57346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5" grpId="0" animBg="1"/>
      <p:bldP spid="573467"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Resetting a Lost Admin Password</a:t>
            </a:r>
          </a:p>
        </p:txBody>
      </p:sp>
      <p:sp>
        <p:nvSpPr>
          <p:cNvPr id="5" name="Text Placeholder 4"/>
          <p:cNvSpPr>
            <a:spLocks noGrp="1"/>
          </p:cNvSpPr>
          <p:nvPr>
            <p:ph idx="1"/>
          </p:nvPr>
        </p:nvSpPr>
        <p:spPr/>
        <p:txBody>
          <a:bodyPr>
            <a:normAutofit fontScale="92500" lnSpcReduction="10000"/>
          </a:bodyPr>
          <a:lstStyle/>
          <a:p>
            <a:pPr marL="3174" indent="0">
              <a:buNone/>
            </a:pPr>
            <a:r>
              <a:rPr lang="en-US" dirty="0">
                <a:cs typeface="Arial" charset="0"/>
              </a:rPr>
              <a:t>User:  </a:t>
            </a:r>
            <a:r>
              <a:rPr lang="en-US" dirty="0">
                <a:solidFill>
                  <a:schemeClr val="tx1"/>
                </a:solidFill>
                <a:latin typeface="Courier New" panose="02070309020205020404" pitchFamily="49" charset="0"/>
                <a:cs typeface="Courier New" panose="02070309020205020404" pitchFamily="49" charset="0"/>
              </a:rPr>
              <a:t>maintainer</a:t>
            </a:r>
          </a:p>
          <a:p>
            <a:pPr marL="3174" indent="0">
              <a:buNone/>
            </a:pPr>
            <a:r>
              <a:rPr lang="en-US" dirty="0">
                <a:cs typeface="Arial" charset="0"/>
              </a:rPr>
              <a:t>Password</a:t>
            </a:r>
            <a:r>
              <a:rPr lang="en-US" dirty="0">
                <a:solidFill>
                  <a:schemeClr val="tx1"/>
                </a:solidFill>
                <a:cs typeface="Arial" charset="0"/>
              </a:rPr>
              <a:t>:  </a:t>
            </a:r>
            <a:r>
              <a:rPr lang="en-US" dirty="0" err="1">
                <a:solidFill>
                  <a:schemeClr val="tx1"/>
                </a:solidFill>
                <a:latin typeface="Courier New" panose="02070309020205020404" pitchFamily="49" charset="0"/>
                <a:cs typeface="Courier New" panose="02070309020205020404" pitchFamily="49" charset="0"/>
              </a:rPr>
              <a:t>bcpb</a:t>
            </a:r>
            <a:r>
              <a:rPr lang="en-US" dirty="0">
                <a:solidFill>
                  <a:schemeClr val="tx1"/>
                </a:solidFill>
                <a:cs typeface="Arial" charset="0"/>
              </a:rPr>
              <a:t>&lt;serial-number&gt;</a:t>
            </a:r>
          </a:p>
          <a:p>
            <a:pPr marL="0" indent="-3174">
              <a:buNone/>
            </a:pPr>
            <a:r>
              <a:rPr lang="en-US" dirty="0">
                <a:cs typeface="Arial" charset="0"/>
              </a:rPr>
              <a:t>All letters in &lt;serial-number&gt; </a:t>
            </a:r>
            <a:r>
              <a:rPr lang="en-US" i="1" dirty="0">
                <a:cs typeface="Arial" charset="0"/>
              </a:rPr>
              <a:t>must</a:t>
            </a:r>
            <a:r>
              <a:rPr lang="en-US" dirty="0">
                <a:cs typeface="Arial" charset="0"/>
              </a:rPr>
              <a:t> be upper case, for example, </a:t>
            </a:r>
            <a:r>
              <a:rPr lang="en-US" dirty="0">
                <a:latin typeface="Courier New" panose="02070309020205020404" pitchFamily="49" charset="0"/>
                <a:cs typeface="Courier New" panose="02070309020205020404" pitchFamily="49" charset="0"/>
              </a:rPr>
              <a:t>FGT60</a:t>
            </a:r>
            <a:endParaRPr lang="en-US" dirty="0">
              <a:cs typeface="Arial" charset="0"/>
            </a:endParaRPr>
          </a:p>
          <a:p>
            <a:pPr marL="0" indent="-3174">
              <a:buNone/>
            </a:pPr>
            <a:endParaRPr lang="en-US" dirty="0">
              <a:cs typeface="Arial" charset="0"/>
            </a:endParaRPr>
          </a:p>
          <a:p>
            <a:r>
              <a:rPr lang="en-US" dirty="0">
                <a:cs typeface="Arial" charset="0"/>
              </a:rPr>
              <a:t>All </a:t>
            </a:r>
            <a:r>
              <a:rPr lang="en-US" dirty="0" err="1">
                <a:cs typeface="Arial" charset="0"/>
              </a:rPr>
              <a:t>FortiGate</a:t>
            </a:r>
            <a:r>
              <a:rPr lang="en-US" dirty="0">
                <a:cs typeface="Arial" charset="0"/>
              </a:rPr>
              <a:t> appliance models and some other Fortinet device types</a:t>
            </a:r>
          </a:p>
          <a:p>
            <a:r>
              <a:rPr lang="en-US" dirty="0">
                <a:cs typeface="Arial" charset="0"/>
              </a:rPr>
              <a:t>No maintainer procedure in VM, revert to snapshot or </a:t>
            </a:r>
            <a:r>
              <a:rPr lang="en-US" dirty="0" err="1">
                <a:cs typeface="Arial" charset="0"/>
              </a:rPr>
              <a:t>reprovision</a:t>
            </a:r>
            <a:r>
              <a:rPr lang="en-US" dirty="0">
                <a:cs typeface="Arial" charset="0"/>
              </a:rPr>
              <a:t> VM</a:t>
            </a:r>
          </a:p>
          <a:p>
            <a:r>
              <a:rPr lang="en-US" dirty="0">
                <a:cs typeface="Arial" charset="0"/>
              </a:rPr>
              <a:t>Only after hard</a:t>
            </a:r>
            <a:r>
              <a:rPr lang="en-US" b="1" dirty="0">
                <a:cs typeface="Arial" charset="0"/>
              </a:rPr>
              <a:t> </a:t>
            </a:r>
            <a:r>
              <a:rPr lang="en-US" dirty="0">
                <a:cs typeface="Arial" charset="0"/>
              </a:rPr>
              <a:t>power cycle</a:t>
            </a:r>
          </a:p>
          <a:p>
            <a:pPr lvl="1"/>
            <a:r>
              <a:rPr lang="en-US" dirty="0">
                <a:cs typeface="Arial" charset="0"/>
              </a:rPr>
              <a:t>Soft cycle (reboot) does not work for security </a:t>
            </a:r>
            <a:r>
              <a:rPr lang="en-US" dirty="0" smtClean="0">
                <a:cs typeface="Arial" charset="0"/>
              </a:rPr>
              <a:t>reasons</a:t>
            </a:r>
            <a:endParaRPr lang="en-US" dirty="0">
              <a:cs typeface="Arial" charset="0"/>
            </a:endParaRPr>
          </a:p>
          <a:p>
            <a:r>
              <a:rPr lang="en-US" dirty="0">
                <a:cs typeface="Arial" charset="0"/>
              </a:rPr>
              <a:t>Only during first 60 seconds </a:t>
            </a:r>
            <a:r>
              <a:rPr lang="en-US" i="1" dirty="0">
                <a:cs typeface="Arial" charset="0"/>
              </a:rPr>
              <a:t>after</a:t>
            </a:r>
            <a:r>
              <a:rPr lang="en-US" dirty="0">
                <a:cs typeface="Arial" charset="0"/>
              </a:rPr>
              <a:t> boot</a:t>
            </a:r>
            <a:r>
              <a:rPr lang="en-US" sz="1900" dirty="0">
                <a:cs typeface="Arial" charset="0"/>
              </a:rPr>
              <a:t> (varies by model)</a:t>
            </a:r>
          </a:p>
          <a:p>
            <a:pPr lvl="1"/>
            <a:r>
              <a:rPr lang="en-US" b="1" dirty="0">
                <a:cs typeface="Arial" charset="0"/>
              </a:rPr>
              <a:t>Tip</a:t>
            </a:r>
            <a:r>
              <a:rPr lang="en-US" dirty="0">
                <a:cs typeface="Arial" charset="0"/>
              </a:rPr>
              <a:t>: Copy serial number into the terminal buffer, then paste</a:t>
            </a:r>
          </a:p>
          <a:p>
            <a:r>
              <a:rPr lang="en-US" dirty="0">
                <a:cs typeface="Arial" charset="0"/>
              </a:rPr>
              <a:t>Only through hardware console port </a:t>
            </a:r>
          </a:p>
          <a:p>
            <a:pPr lvl="1"/>
            <a:r>
              <a:rPr lang="en-US" dirty="0">
                <a:cs typeface="Arial" charset="0"/>
              </a:rPr>
              <a:t>Requires physical access for security reasons</a:t>
            </a:r>
          </a:p>
          <a:p>
            <a:pPr lvl="1"/>
            <a:r>
              <a:rPr lang="en-US" dirty="0">
                <a:cs typeface="Arial" charset="0"/>
              </a:rPr>
              <a:t>If compliance/risk of physical access requires, you can disable maintainer</a:t>
            </a:r>
          </a:p>
          <a:p>
            <a:pPr marL="1371600" lvl="3" indent="0">
              <a:buNone/>
            </a:pPr>
            <a:r>
              <a:rPr lang="en-US" sz="1700" dirty="0" err="1">
                <a:latin typeface="Courier New" panose="02070309020205020404" pitchFamily="49" charset="0"/>
                <a:cs typeface="Courier New" panose="02070309020205020404" pitchFamily="49" charset="0"/>
              </a:rPr>
              <a:t>config</a:t>
            </a:r>
            <a:r>
              <a:rPr lang="en-US" sz="1700" dirty="0">
                <a:latin typeface="Courier New" panose="02070309020205020404" pitchFamily="49" charset="0"/>
                <a:cs typeface="Courier New" panose="02070309020205020404" pitchFamily="49" charset="0"/>
              </a:rPr>
              <a:t> sys global</a:t>
            </a:r>
          </a:p>
          <a:p>
            <a:pPr marL="1371600" lvl="3" indent="0">
              <a:buNone/>
            </a:pPr>
            <a:r>
              <a:rPr lang="en-US" sz="1700" dirty="0">
                <a:latin typeface="Courier New" panose="02070309020205020404" pitchFamily="49" charset="0"/>
                <a:cs typeface="Courier New" panose="02070309020205020404" pitchFamily="49" charset="0"/>
              </a:rPr>
              <a:t>  set admin-maintainer disable</a:t>
            </a:r>
          </a:p>
          <a:p>
            <a:pPr marL="1371600" lvl="3" indent="0">
              <a:buNone/>
            </a:pPr>
            <a:r>
              <a:rPr lang="en-US" sz="1700" dirty="0">
                <a:latin typeface="Courier New" panose="02070309020205020404" pitchFamily="49" charset="0"/>
                <a:cs typeface="Courier New" panose="02070309020205020404" pitchFamily="49" charset="0"/>
              </a:rPr>
              <a:t>end</a:t>
            </a:r>
            <a:endParaRPr lang="en-US" dirty="0">
              <a:latin typeface="Courier New" panose="02070309020205020404" pitchFamily="49" charset="0"/>
              <a:cs typeface="Courier New" panose="02070309020205020404" pitchFamily="49" charset="0"/>
            </a:endParaRPr>
          </a:p>
        </p:txBody>
      </p:sp>
    </p:spTree>
    <p:custDataLst>
      <p:tags r:id="rId1"/>
    </p:custDataLst>
    <p:extLst>
      <p:ext uri="{BB962C8B-B14F-4D97-AF65-F5344CB8AC3E}">
        <p14:creationId xmlns:p14="http://schemas.microsoft.com/office/powerpoint/2010/main" val="4285186695"/>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00" y="148340"/>
            <a:ext cx="10835325" cy="748800"/>
          </a:xfrm>
        </p:spPr>
        <p:txBody>
          <a:bodyPr/>
          <a:lstStyle/>
          <a:p>
            <a:r>
              <a:rPr lang="en-US" dirty="0">
                <a:cs typeface="Arial" charset="0"/>
              </a:rPr>
              <a:t>Administrative Access</a:t>
            </a:r>
            <a:r>
              <a:rPr lang="en-CA" dirty="0">
                <a:cs typeface="Arial" charset="0"/>
              </a:rPr>
              <a:t>―Trusted Sources</a:t>
            </a:r>
            <a:endParaRPr lang="en-CA" dirty="0"/>
          </a:p>
        </p:txBody>
      </p:sp>
      <p:sp>
        <p:nvSpPr>
          <p:cNvPr id="5" name="Content Placeholder 10"/>
          <p:cNvSpPr>
            <a:spLocks noGrp="1"/>
          </p:cNvSpPr>
          <p:nvPr>
            <p:ph idx="15"/>
          </p:nvPr>
        </p:nvSpPr>
        <p:spPr>
          <a:prstGeom prst="rect">
            <a:avLst/>
          </a:prstGeom>
        </p:spPr>
        <p:txBody>
          <a:bodyPr lIns="121899" tIns="60949" rIns="121899" bIns="60949"/>
          <a:lstStyle/>
          <a:p>
            <a:pPr marL="0" indent="0">
              <a:buNone/>
            </a:pPr>
            <a:endParaRPr lang="en-US" dirty="0"/>
          </a:p>
          <a:p>
            <a:endParaRPr lang="en-US" dirty="0"/>
          </a:p>
        </p:txBody>
      </p:sp>
      <p:pic>
        <p:nvPicPr>
          <p:cNvPr id="11" name="Content Placeholder 10"/>
          <p:cNvPicPr>
            <a:picLocks noGrp="1" noChangeAspect="1"/>
          </p:cNvPicPr>
          <p:nvPr>
            <p:ph idx="16"/>
          </p:nvPr>
        </p:nvPicPr>
        <p:blipFill>
          <a:blip r:embed="rId4"/>
          <a:stretch>
            <a:fillRect/>
          </a:stretch>
        </p:blipFill>
        <p:spPr>
          <a:xfrm>
            <a:off x="5606716" y="1412905"/>
            <a:ext cx="6322474" cy="1423538"/>
          </a:xfrm>
          <a:prstGeom prst="rect">
            <a:avLst/>
          </a:prstGeom>
          <a:ln w="3175">
            <a:solidFill>
              <a:schemeClr val="tx1"/>
            </a:solidFill>
          </a:ln>
        </p:spPr>
      </p:pic>
      <p:sp>
        <p:nvSpPr>
          <p:cNvPr id="7" name="Content Placeholder 10"/>
          <p:cNvSpPr txBox="1">
            <a:spLocks/>
          </p:cNvSpPr>
          <p:nvPr/>
        </p:nvSpPr>
        <p:spPr>
          <a:xfrm>
            <a:off x="207724" y="925489"/>
            <a:ext cx="5883385" cy="5181600"/>
          </a:xfrm>
          <a:prstGeom prst="rect">
            <a:avLst/>
          </a:prstGeom>
        </p:spPr>
        <p:txBody>
          <a:bodyPr vert="horz" lIns="121899" tIns="60949" rIns="121899" bIns="60949" rtlCol="0">
            <a:normAutofit/>
          </a:bodyPr>
          <a:lstStyle>
            <a:lvl1pPr marL="234910" indent="-234910" algn="l" defTabSz="914240" rtl="0" eaLnBrk="1" latinLnBrk="0" hangingPunct="1">
              <a:lnSpc>
                <a:spcPct val="100000"/>
              </a:lnSpc>
              <a:spcBef>
                <a:spcPts val="900"/>
              </a:spcBef>
              <a:buClr>
                <a:schemeClr val="accent6"/>
              </a:buClr>
              <a:buFont typeface="Arial" panose="020B0604020202020204" pitchFamily="34" charset="0"/>
              <a:buChar char="•"/>
              <a:defRPr lang="en-US" sz="2200" kern="1200" dirty="0">
                <a:solidFill>
                  <a:schemeClr val="tx1"/>
                </a:solidFill>
                <a:latin typeface="+mn-lt"/>
                <a:ea typeface="+mn-ea"/>
                <a:cs typeface="+mn-cs"/>
              </a:defRPr>
            </a:lvl1pPr>
            <a:lvl2pPr marL="615843" indent="-256073" algn="l" defTabSz="914240" rtl="0" eaLnBrk="1" latinLnBrk="0" hangingPunct="1">
              <a:lnSpc>
                <a:spcPct val="100000"/>
              </a:lnSpc>
              <a:spcBef>
                <a:spcPts val="400"/>
              </a:spcBef>
              <a:buClr>
                <a:schemeClr val="accent6"/>
              </a:buClr>
              <a:buFont typeface="Courier New" panose="02070309020205020404" pitchFamily="49" charset="0"/>
              <a:buChar char="o"/>
              <a:defRPr lang="en-US" sz="1800" kern="1200" dirty="0">
                <a:solidFill>
                  <a:schemeClr val="tx1"/>
                </a:solidFill>
                <a:latin typeface="+mn-lt"/>
                <a:ea typeface="+mn-ea"/>
                <a:cs typeface="+mn-cs"/>
              </a:defRPr>
            </a:lvl2pPr>
            <a:lvl3pPr marL="984078" indent="-241258" algn="l" defTabSz="914240" rtl="0" eaLnBrk="1" latinLnBrk="0" hangingPunct="1">
              <a:lnSpc>
                <a:spcPct val="100000"/>
              </a:lnSpc>
              <a:spcBef>
                <a:spcPts val="400"/>
              </a:spcBef>
              <a:buClr>
                <a:schemeClr val="accent6"/>
              </a:buClr>
              <a:buFont typeface="Arial" panose="020B0604020202020204" pitchFamily="34" charset="0"/>
              <a:buChar char="•"/>
              <a:defRPr lang="en-US" sz="1600" kern="1200" dirty="0">
                <a:solidFill>
                  <a:schemeClr val="tx1"/>
                </a:solidFill>
                <a:latin typeface="+mn-lt"/>
                <a:ea typeface="+mn-ea"/>
                <a:cs typeface="+mn-cs"/>
              </a:defRPr>
            </a:lvl3pPr>
            <a:lvl4pPr marL="814388" marR="0" indent="0" algn="l" defTabSz="685800" rtl="0" eaLnBrk="1" fontAlgn="base" latinLnBrk="0" hangingPunct="1">
              <a:lnSpc>
                <a:spcPct val="110000"/>
              </a:lnSpc>
              <a:spcBef>
                <a:spcPct val="20000"/>
              </a:spcBef>
              <a:spcAft>
                <a:spcPct val="0"/>
              </a:spcAft>
              <a:buClr>
                <a:srgbClr val="D81E05"/>
              </a:buClr>
              <a:buSzTx/>
              <a:buFont typeface="Lucida Grande"/>
              <a:buNone/>
              <a:tabLst/>
              <a:defRPr lang="en-US" sz="1400" kern="1200" dirty="0">
                <a:solidFill>
                  <a:schemeClr val="tx1"/>
                </a:solidFill>
                <a:latin typeface="Courier New" panose="02070309020205020404" pitchFamily="49" charset="0"/>
                <a:ea typeface="+mn-ea"/>
                <a:cs typeface="Courier New" panose="02070309020205020404" pitchFamily="49" charset="0"/>
              </a:defRPr>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lang="en-US" sz="1200" i="1" kern="1200" dirty="0">
                <a:solidFill>
                  <a:schemeClr val="bg1">
                    <a:lumMod val="50000"/>
                  </a:schemeClr>
                </a:solidFill>
                <a:latin typeface="+mn-lt"/>
                <a:ea typeface="+mn-ea"/>
                <a:cs typeface="+mn-cs"/>
              </a:defRPr>
            </a:lvl5pPr>
            <a:lvl6pPr marL="251416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28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40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2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endParaRPr lang="en-CA"/>
          </a:p>
          <a:p>
            <a:endParaRPr lang="en-CA"/>
          </a:p>
        </p:txBody>
      </p:sp>
      <p:sp>
        <p:nvSpPr>
          <p:cNvPr id="15" name="Rounded Rectangular Callout 14"/>
          <p:cNvSpPr/>
          <p:nvPr/>
        </p:nvSpPr>
        <p:spPr bwMode="invGray">
          <a:xfrm>
            <a:off x="1225861" y="5011509"/>
            <a:ext cx="5483283" cy="709700"/>
          </a:xfrm>
          <a:prstGeom prst="wedgeRoundRectCallout">
            <a:avLst>
              <a:gd name="adj1" fmla="val 66632"/>
              <a:gd name="adj2" fmla="val -186799"/>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If </a:t>
            </a:r>
            <a:r>
              <a:rPr lang="en-CA" sz="1600" b="1" dirty="0" smtClean="0"/>
              <a:t>admin</a:t>
            </a:r>
            <a:r>
              <a:rPr lang="en-CA" sz="1600" dirty="0" smtClean="0"/>
              <a:t> </a:t>
            </a:r>
            <a:r>
              <a:rPr lang="en-CA" sz="1600" dirty="0"/>
              <a:t>attempts to log in to the FortiGate GUI from any IP other than </a:t>
            </a:r>
            <a:r>
              <a:rPr lang="en-CA" sz="1600" dirty="0">
                <a:latin typeface="Courier New" panose="02070309020205020404" pitchFamily="49" charset="0"/>
                <a:cs typeface="Courier New" panose="02070309020205020404" pitchFamily="49" charset="0"/>
              </a:rPr>
              <a:t>10.0.1.10</a:t>
            </a:r>
            <a:r>
              <a:rPr lang="en-CA" sz="1600" dirty="0"/>
              <a:t>, they receive this message</a:t>
            </a:r>
          </a:p>
        </p:txBody>
      </p:sp>
      <p:sp>
        <p:nvSpPr>
          <p:cNvPr id="13" name="TextBox 12"/>
          <p:cNvSpPr txBox="1"/>
          <p:nvPr/>
        </p:nvSpPr>
        <p:spPr>
          <a:xfrm>
            <a:off x="881068" y="948349"/>
            <a:ext cx="2965299" cy="369332"/>
          </a:xfrm>
          <a:prstGeom prst="rect">
            <a:avLst/>
          </a:prstGeom>
          <a:solidFill>
            <a:srgbClr val="00B0F0"/>
          </a:solidFill>
        </p:spPr>
        <p:txBody>
          <a:bodyPr wrap="none" rtlCol="0">
            <a:spAutoFit/>
          </a:bodyPr>
          <a:lstStyle/>
          <a:p>
            <a:pPr lvl="0">
              <a:spcBef>
                <a:spcPts val="900"/>
              </a:spcBef>
              <a:buClr>
                <a:srgbClr val="A12D2D"/>
              </a:buClr>
              <a:defRPr/>
            </a:pPr>
            <a:r>
              <a:rPr lang="en-US" b="1" dirty="0">
                <a:solidFill>
                  <a:srgbClr val="000000"/>
                </a:solidFill>
                <a:cs typeface="Arial" pitchFamily="34" charset="0"/>
              </a:rPr>
              <a:t>System </a:t>
            </a:r>
            <a:r>
              <a:rPr lang="en-US" dirty="0">
                <a:solidFill>
                  <a:srgbClr val="000000"/>
                </a:solidFill>
                <a:cs typeface="Arial" pitchFamily="34" charset="0"/>
              </a:rPr>
              <a:t>&gt;</a:t>
            </a:r>
            <a:r>
              <a:rPr lang="en-US" b="1" dirty="0">
                <a:solidFill>
                  <a:srgbClr val="000000"/>
                </a:solidFill>
                <a:cs typeface="Arial" pitchFamily="34" charset="0"/>
              </a:rPr>
              <a:t> Administrators</a:t>
            </a:r>
          </a:p>
        </p:txBody>
      </p:sp>
      <p:pic>
        <p:nvPicPr>
          <p:cNvPr id="10" name="Picture 9"/>
          <p:cNvPicPr>
            <a:picLocks noChangeAspect="1"/>
          </p:cNvPicPr>
          <p:nvPr/>
        </p:nvPicPr>
        <p:blipFill>
          <a:blip r:embed="rId5"/>
          <a:stretch>
            <a:fillRect/>
          </a:stretch>
        </p:blipFill>
        <p:spPr>
          <a:xfrm>
            <a:off x="883728" y="1392844"/>
            <a:ext cx="4224339" cy="2051124"/>
          </a:xfrm>
          <a:prstGeom prst="rect">
            <a:avLst/>
          </a:prstGeom>
          <a:ln w="3175">
            <a:solidFill>
              <a:schemeClr val="tx1"/>
            </a:solidFill>
          </a:ln>
        </p:spPr>
      </p:pic>
      <p:cxnSp>
        <p:nvCxnSpPr>
          <p:cNvPr id="16" name="Straight Arrow Connector 15"/>
          <p:cNvCxnSpPr>
            <a:cxnSpLocks/>
          </p:cNvCxnSpPr>
          <p:nvPr/>
        </p:nvCxnSpPr>
        <p:spPr>
          <a:xfrm>
            <a:off x="3099312" y="2369040"/>
            <a:ext cx="2507404" cy="336410"/>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6"/>
          <a:stretch>
            <a:fillRect/>
          </a:stretch>
        </p:blipFill>
        <p:spPr>
          <a:xfrm>
            <a:off x="7668605" y="2961142"/>
            <a:ext cx="3964762" cy="3033213"/>
          </a:xfrm>
          <a:prstGeom prst="rect">
            <a:avLst/>
          </a:prstGeom>
          <a:ln w="3175">
            <a:solidFill>
              <a:schemeClr val="tx1"/>
            </a:solidFill>
          </a:ln>
        </p:spPr>
      </p:pic>
    </p:spTree>
    <p:custDataLst>
      <p:tags r:id="rId1"/>
    </p:custDataLst>
    <p:extLst>
      <p:ext uri="{BB962C8B-B14F-4D97-AF65-F5344CB8AC3E}">
        <p14:creationId xmlns:p14="http://schemas.microsoft.com/office/powerpoint/2010/main" val="3267762332"/>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00" y="225950"/>
            <a:ext cx="10835325" cy="748800"/>
          </a:xfrm>
        </p:spPr>
        <p:txBody>
          <a:bodyPr/>
          <a:lstStyle/>
          <a:p>
            <a:r>
              <a:rPr lang="en-US" dirty="0"/>
              <a:t>Administrative Access―Ports and Password</a:t>
            </a:r>
          </a:p>
        </p:txBody>
      </p:sp>
      <p:sp>
        <p:nvSpPr>
          <p:cNvPr id="3" name="Content Placeholder 2"/>
          <p:cNvSpPr>
            <a:spLocks noGrp="1"/>
          </p:cNvSpPr>
          <p:nvPr>
            <p:ph idx="15"/>
          </p:nvPr>
        </p:nvSpPr>
        <p:spPr/>
        <p:txBody>
          <a:bodyPr/>
          <a:lstStyle/>
          <a:p>
            <a:pPr lvl="0">
              <a:buClr>
                <a:srgbClr val="A12D2D"/>
              </a:buClr>
            </a:pPr>
            <a:r>
              <a:rPr lang="en-US" dirty="0">
                <a:solidFill>
                  <a:srgbClr val="000000"/>
                </a:solidFill>
              </a:rPr>
              <a:t>Port numbers are </a:t>
            </a:r>
            <a:r>
              <a:rPr lang="en-US" dirty="0" smtClean="0">
                <a:solidFill>
                  <a:srgbClr val="000000"/>
                </a:solidFill>
              </a:rPr>
              <a:t>customizable</a:t>
            </a:r>
            <a:endParaRPr lang="en-US" dirty="0">
              <a:solidFill>
                <a:srgbClr val="000000"/>
              </a:solidFill>
            </a:endParaRPr>
          </a:p>
          <a:p>
            <a:pPr lvl="0">
              <a:buClr>
                <a:srgbClr val="A12D2D"/>
              </a:buClr>
            </a:pPr>
            <a:r>
              <a:rPr lang="en-US" dirty="0">
                <a:solidFill>
                  <a:srgbClr val="000000"/>
                </a:solidFill>
              </a:rPr>
              <a:t>Using only secure access (SSH, HTTPS) is </a:t>
            </a:r>
            <a:r>
              <a:rPr lang="en-US" dirty="0" smtClean="0">
                <a:solidFill>
                  <a:srgbClr val="000000"/>
                </a:solidFill>
              </a:rPr>
              <a:t>recommended</a:t>
            </a:r>
            <a:endParaRPr lang="en-US" dirty="0">
              <a:solidFill>
                <a:srgbClr val="000000"/>
              </a:solidFill>
            </a:endParaRPr>
          </a:p>
          <a:p>
            <a:pPr lvl="0">
              <a:buClr>
                <a:srgbClr val="A12D2D"/>
              </a:buClr>
            </a:pPr>
            <a:r>
              <a:rPr lang="en-US" dirty="0">
                <a:solidFill>
                  <a:srgbClr val="000000"/>
                </a:solidFill>
              </a:rPr>
              <a:t>Default</a:t>
            </a:r>
            <a:r>
              <a:rPr lang="en-US" b="1" dirty="0">
                <a:solidFill>
                  <a:srgbClr val="000000"/>
                </a:solidFill>
              </a:rPr>
              <a:t> Idle timeout</a:t>
            </a:r>
            <a:r>
              <a:rPr lang="en-US" dirty="0">
                <a:solidFill>
                  <a:srgbClr val="000000"/>
                </a:solidFill>
              </a:rPr>
              <a:t> is </a:t>
            </a:r>
            <a:r>
              <a:rPr lang="en-US" dirty="0" smtClean="0">
                <a:solidFill>
                  <a:srgbClr val="000000"/>
                </a:solidFill>
              </a:rPr>
              <a:t>five minutes</a:t>
            </a:r>
            <a:endParaRPr lang="en-US" dirty="0">
              <a:solidFill>
                <a:srgbClr val="000000"/>
              </a:solidFill>
            </a:endParaRPr>
          </a:p>
          <a:p>
            <a:endParaRPr lang="en-US" dirty="0"/>
          </a:p>
        </p:txBody>
      </p:sp>
      <p:sp>
        <p:nvSpPr>
          <p:cNvPr id="8" name="TextBox 7"/>
          <p:cNvSpPr txBox="1"/>
          <p:nvPr/>
        </p:nvSpPr>
        <p:spPr>
          <a:xfrm>
            <a:off x="6186158" y="823996"/>
            <a:ext cx="2178802" cy="369332"/>
          </a:xfrm>
          <a:prstGeom prst="rect">
            <a:avLst/>
          </a:prstGeom>
          <a:solidFill>
            <a:srgbClr val="00B0F0"/>
          </a:solidFill>
        </p:spPr>
        <p:txBody>
          <a:bodyPr wrap="none" rtlCol="0">
            <a:spAutoFit/>
          </a:bodyPr>
          <a:lstStyle/>
          <a:p>
            <a:pPr>
              <a:buClr>
                <a:srgbClr val="A12D2D"/>
              </a:buClr>
            </a:pPr>
            <a:r>
              <a:rPr lang="en-US" b="1" dirty="0">
                <a:solidFill>
                  <a:srgbClr val="000000"/>
                </a:solidFill>
              </a:rPr>
              <a:t>System </a:t>
            </a:r>
            <a:r>
              <a:rPr lang="en-US" dirty="0">
                <a:solidFill>
                  <a:srgbClr val="000000"/>
                </a:solidFill>
              </a:rPr>
              <a:t>&gt;</a:t>
            </a:r>
            <a:r>
              <a:rPr lang="en-US" b="1" dirty="0">
                <a:solidFill>
                  <a:srgbClr val="000000"/>
                </a:solidFill>
              </a:rPr>
              <a:t> Settings</a:t>
            </a:r>
          </a:p>
        </p:txBody>
      </p:sp>
      <p:pic>
        <p:nvPicPr>
          <p:cNvPr id="4" name="Picture 3"/>
          <p:cNvPicPr>
            <a:picLocks noChangeAspect="1"/>
          </p:cNvPicPr>
          <p:nvPr/>
        </p:nvPicPr>
        <p:blipFill>
          <a:blip r:embed="rId3"/>
          <a:stretch>
            <a:fillRect/>
          </a:stretch>
        </p:blipFill>
        <p:spPr>
          <a:xfrm>
            <a:off x="6186158" y="1251384"/>
            <a:ext cx="5576890" cy="4786016"/>
          </a:xfrm>
          <a:prstGeom prst="rect">
            <a:avLst/>
          </a:prstGeom>
          <a:ln w="3175">
            <a:solidFill>
              <a:schemeClr val="tx1"/>
            </a:solidFill>
          </a:ln>
        </p:spPr>
      </p:pic>
      <p:sp>
        <p:nvSpPr>
          <p:cNvPr id="10" name="Rectangle 9"/>
          <p:cNvSpPr/>
          <p:nvPr/>
        </p:nvSpPr>
        <p:spPr bwMode="invGray">
          <a:xfrm>
            <a:off x="6195633" y="1250491"/>
            <a:ext cx="4922310" cy="164510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1" name="Rectangle 10"/>
          <p:cNvSpPr/>
          <p:nvPr/>
        </p:nvSpPr>
        <p:spPr bwMode="invGray">
          <a:xfrm>
            <a:off x="6195633" y="3116547"/>
            <a:ext cx="4225624" cy="27253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2" name="Rectangle 11"/>
          <p:cNvSpPr/>
          <p:nvPr/>
        </p:nvSpPr>
        <p:spPr bwMode="invGray">
          <a:xfrm>
            <a:off x="6195633" y="4298046"/>
            <a:ext cx="4922310" cy="1740247"/>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extLst>
      <p:ext uri="{BB962C8B-B14F-4D97-AF65-F5344CB8AC3E}">
        <p14:creationId xmlns:p14="http://schemas.microsoft.com/office/powerpoint/2010/main" val="2942121943"/>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Oval 3"/>
          <p:cNvSpPr>
            <a:spLocks noChangeArrowheads="1"/>
          </p:cNvSpPr>
          <p:nvPr/>
        </p:nvSpPr>
        <p:spPr bwMode="auto">
          <a:xfrm>
            <a:off x="4348617" y="4094163"/>
            <a:ext cx="2483792" cy="9144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26628" name="Oval 5"/>
          <p:cNvSpPr>
            <a:spLocks noChangeArrowheads="1"/>
          </p:cNvSpPr>
          <p:nvPr/>
        </p:nvSpPr>
        <p:spPr bwMode="auto">
          <a:xfrm>
            <a:off x="8567094" y="146051"/>
            <a:ext cx="944317" cy="550863"/>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2" name="Title 1"/>
          <p:cNvSpPr>
            <a:spLocks noGrp="1"/>
          </p:cNvSpPr>
          <p:nvPr>
            <p:ph type="title"/>
          </p:nvPr>
        </p:nvSpPr>
        <p:spPr>
          <a:xfrm>
            <a:off x="266400" y="210970"/>
            <a:ext cx="10835325" cy="748800"/>
          </a:xfrm>
        </p:spPr>
        <p:txBody>
          <a:bodyPr>
            <a:normAutofit/>
          </a:bodyPr>
          <a:lstStyle/>
          <a:p>
            <a:r>
              <a:rPr lang="en-US" dirty="0"/>
              <a:t>Administrative Access―Protocols</a:t>
            </a:r>
          </a:p>
        </p:txBody>
      </p:sp>
      <p:sp>
        <p:nvSpPr>
          <p:cNvPr id="5" name="Text Placeholder 4"/>
          <p:cNvSpPr>
            <a:spLocks noGrp="1"/>
          </p:cNvSpPr>
          <p:nvPr>
            <p:ph idx="15"/>
          </p:nvPr>
        </p:nvSpPr>
        <p:spPr>
          <a:prstGeom prst="rect">
            <a:avLst/>
          </a:prstGeom>
        </p:spPr>
        <p:txBody>
          <a:bodyPr lIns="121899" tIns="60949" rIns="121899" bIns="60949"/>
          <a:lstStyle/>
          <a:p>
            <a:pPr>
              <a:defRPr/>
            </a:pPr>
            <a:r>
              <a:rPr lang="en-US" dirty="0">
                <a:cs typeface="Arial" pitchFamily="34" charset="0"/>
              </a:rPr>
              <a:t>Enable acceptable management protocols on each interface independently:</a:t>
            </a:r>
          </a:p>
          <a:p>
            <a:pPr lvl="1">
              <a:defRPr/>
            </a:pPr>
            <a:r>
              <a:rPr lang="en-US" dirty="0">
                <a:cs typeface="Arial" pitchFamily="34" charset="0"/>
              </a:rPr>
              <a:t>Separate IPv4 and IPv6</a:t>
            </a:r>
          </a:p>
          <a:p>
            <a:pPr lvl="1">
              <a:defRPr/>
            </a:pPr>
            <a:r>
              <a:rPr lang="en-US" dirty="0">
                <a:cs typeface="Arial" pitchFamily="34" charset="0"/>
              </a:rPr>
              <a:t>IPv6 options hidden by default</a:t>
            </a:r>
          </a:p>
          <a:p>
            <a:pPr>
              <a:defRPr/>
            </a:pPr>
            <a:r>
              <a:rPr lang="en-US" dirty="0">
                <a:solidFill>
                  <a:schemeClr val="tx1"/>
                </a:solidFill>
                <a:cs typeface="Arial" pitchFamily="34" charset="0"/>
              </a:rPr>
              <a:t>Also protocols where FortiGate is the destination IP:</a:t>
            </a:r>
          </a:p>
          <a:p>
            <a:pPr lvl="1">
              <a:defRPr/>
            </a:pPr>
            <a:r>
              <a:rPr lang="en-US" sz="1600" dirty="0">
                <a:cs typeface="Arial" pitchFamily="34" charset="0"/>
              </a:rPr>
              <a:t>Security </a:t>
            </a:r>
            <a:r>
              <a:rPr lang="en-US" sz="1600" dirty="0" smtClean="0">
                <a:cs typeface="Arial" pitchFamily="34" charset="0"/>
              </a:rPr>
              <a:t>Fabric Connection:</a:t>
            </a:r>
            <a:endParaRPr lang="en-US" sz="1600" dirty="0">
              <a:cs typeface="Arial" pitchFamily="34" charset="0"/>
            </a:endParaRPr>
          </a:p>
          <a:p>
            <a:pPr lvl="2">
              <a:defRPr/>
            </a:pPr>
            <a:r>
              <a:rPr lang="en-US" sz="1400" dirty="0">
                <a:cs typeface="Arial" pitchFamily="34" charset="0"/>
              </a:rPr>
              <a:t>CAPWAP</a:t>
            </a:r>
          </a:p>
          <a:p>
            <a:pPr lvl="2">
              <a:defRPr/>
            </a:pPr>
            <a:r>
              <a:rPr lang="en-US" sz="1400" dirty="0" err="1" smtClean="0">
                <a:cs typeface="Arial" pitchFamily="34" charset="0"/>
              </a:rPr>
              <a:t>FortiTelemetry</a:t>
            </a:r>
            <a:r>
              <a:rPr lang="en-US" sz="1400" dirty="0" smtClean="0">
                <a:cs typeface="Arial" pitchFamily="34" charset="0"/>
              </a:rPr>
              <a:t> </a:t>
            </a:r>
            <a:endParaRPr lang="en-US" sz="1400" dirty="0">
              <a:cs typeface="Arial" pitchFamily="34" charset="0"/>
            </a:endParaRPr>
          </a:p>
          <a:p>
            <a:pPr lvl="1">
              <a:defRPr/>
            </a:pPr>
            <a:r>
              <a:rPr lang="en-US" sz="1600" dirty="0">
                <a:cs typeface="Arial" pitchFamily="34" charset="0"/>
              </a:rPr>
              <a:t>FMG-Access</a:t>
            </a:r>
          </a:p>
          <a:p>
            <a:pPr lvl="1">
              <a:defRPr/>
            </a:pPr>
            <a:r>
              <a:rPr lang="en-US" sz="1600" dirty="0">
                <a:cs typeface="Arial" pitchFamily="34" charset="0"/>
              </a:rPr>
              <a:t>FTM</a:t>
            </a:r>
          </a:p>
          <a:p>
            <a:pPr lvl="1">
              <a:defRPr/>
            </a:pPr>
            <a:r>
              <a:rPr lang="en-US" sz="1600" dirty="0">
                <a:cs typeface="Arial" pitchFamily="34" charset="0"/>
              </a:rPr>
              <a:t>RADIUS Accounting</a:t>
            </a:r>
          </a:p>
          <a:p>
            <a:pPr>
              <a:defRPr/>
            </a:pPr>
            <a:r>
              <a:rPr lang="en-US" sz="2000" dirty="0">
                <a:cs typeface="Arial" pitchFamily="34" charset="0"/>
              </a:rPr>
              <a:t>LLDP Support</a:t>
            </a:r>
          </a:p>
          <a:p>
            <a:pPr lvl="1">
              <a:defRPr/>
            </a:pPr>
            <a:r>
              <a:rPr lang="en-US" sz="1600" dirty="0">
                <a:cs typeface="Arial" pitchFamily="34" charset="0"/>
              </a:rPr>
              <a:t>Detecting an upstream Security Fabric </a:t>
            </a:r>
            <a:r>
              <a:rPr lang="en-US" sz="1600" dirty="0" err="1">
                <a:cs typeface="Arial" pitchFamily="34" charset="0"/>
              </a:rPr>
              <a:t>FortiGate</a:t>
            </a:r>
            <a:r>
              <a:rPr lang="en-US" sz="1600" dirty="0">
                <a:cs typeface="Arial" pitchFamily="34" charset="0"/>
              </a:rPr>
              <a:t> through LLDP</a:t>
            </a:r>
          </a:p>
          <a:p>
            <a:pPr marL="359770" lvl="1" indent="0">
              <a:buNone/>
              <a:defRPr/>
            </a:pPr>
            <a:endParaRPr lang="en-US" dirty="0">
              <a:cs typeface="Arial" pitchFamily="34" charset="0"/>
            </a:endParaRPr>
          </a:p>
          <a:p>
            <a:pPr lvl="1">
              <a:buFont typeface="Arial" panose="020B0604020202020204" pitchFamily="34" charset="0"/>
              <a:buChar char="•"/>
              <a:defRPr/>
            </a:pPr>
            <a:endParaRPr lang="en-US" dirty="0">
              <a:cs typeface="Arial" pitchFamily="34" charset="0"/>
            </a:endParaRPr>
          </a:p>
          <a:p>
            <a:pPr marL="359770" lvl="1" indent="0">
              <a:buNone/>
              <a:defRPr/>
            </a:pPr>
            <a:endParaRPr lang="en-US" dirty="0"/>
          </a:p>
        </p:txBody>
      </p:sp>
      <p:pic>
        <p:nvPicPr>
          <p:cNvPr id="6" name="Content Placeholder 5"/>
          <p:cNvPicPr>
            <a:picLocks noGrp="1" noChangeAspect="1"/>
          </p:cNvPicPr>
          <p:nvPr>
            <p:ph idx="16"/>
          </p:nvPr>
        </p:nvPicPr>
        <p:blipFill>
          <a:blip r:embed="rId4"/>
          <a:stretch>
            <a:fillRect/>
          </a:stretch>
        </p:blipFill>
        <p:spPr>
          <a:xfrm>
            <a:off x="5856914" y="1385163"/>
            <a:ext cx="6124750" cy="4503951"/>
          </a:xfrm>
          <a:prstGeom prst="rect">
            <a:avLst/>
          </a:prstGeom>
          <a:ln w="3175">
            <a:solidFill>
              <a:schemeClr val="tx1"/>
            </a:solidFill>
          </a:ln>
        </p:spPr>
      </p:pic>
      <p:sp>
        <p:nvSpPr>
          <p:cNvPr id="9" name="TextBox 8"/>
          <p:cNvSpPr txBox="1"/>
          <p:nvPr/>
        </p:nvSpPr>
        <p:spPr>
          <a:xfrm>
            <a:off x="5856914" y="961849"/>
            <a:ext cx="2512226" cy="369332"/>
          </a:xfrm>
          <a:prstGeom prst="rect">
            <a:avLst/>
          </a:prstGeom>
          <a:solidFill>
            <a:srgbClr val="00B0F0"/>
          </a:solidFill>
          <a:ln>
            <a:solidFill>
              <a:srgbClr val="00B0F0"/>
            </a:solidFill>
          </a:ln>
        </p:spPr>
        <p:txBody>
          <a:bodyPr wrap="none" rtlCol="0">
            <a:spAutoFit/>
          </a:bodyPr>
          <a:lstStyle/>
          <a:p>
            <a:pPr lvl="0">
              <a:spcBef>
                <a:spcPts val="900"/>
              </a:spcBef>
              <a:buClr>
                <a:srgbClr val="A12D2D"/>
              </a:buClr>
              <a:defRPr/>
            </a:pPr>
            <a:r>
              <a:rPr lang="en-US" b="1" dirty="0">
                <a:solidFill>
                  <a:srgbClr val="000000"/>
                </a:solidFill>
                <a:cs typeface="Arial" pitchFamily="34" charset="0"/>
              </a:rPr>
              <a:t>Network </a:t>
            </a:r>
            <a:r>
              <a:rPr lang="en-US" dirty="0">
                <a:solidFill>
                  <a:srgbClr val="000000"/>
                </a:solidFill>
                <a:cs typeface="Arial" pitchFamily="34" charset="0"/>
              </a:rPr>
              <a:t>&gt;</a:t>
            </a:r>
            <a:r>
              <a:rPr lang="en-US" b="1" dirty="0">
                <a:solidFill>
                  <a:srgbClr val="000000"/>
                </a:solidFill>
                <a:cs typeface="Arial" pitchFamily="34" charset="0"/>
              </a:rPr>
              <a:t> Interfaces </a:t>
            </a:r>
          </a:p>
        </p:txBody>
      </p:sp>
      <p:sp>
        <p:nvSpPr>
          <p:cNvPr id="11" name="Rectangle 10"/>
          <p:cNvSpPr/>
          <p:nvPr/>
        </p:nvSpPr>
        <p:spPr>
          <a:xfrm>
            <a:off x="5856914" y="4212921"/>
            <a:ext cx="5591875" cy="11321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164253292"/>
      </p:ext>
    </p:extLst>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a:t>Interface IPs  </a:t>
            </a:r>
            <a:endParaRPr lang="en-CA" dirty="0"/>
          </a:p>
        </p:txBody>
      </p:sp>
      <p:sp>
        <p:nvSpPr>
          <p:cNvPr id="7" name="Content Placeholder 6"/>
          <p:cNvSpPr>
            <a:spLocks noGrp="1"/>
          </p:cNvSpPr>
          <p:nvPr>
            <p:ph idx="15"/>
          </p:nvPr>
        </p:nvSpPr>
        <p:spPr/>
        <p:txBody>
          <a:bodyPr/>
          <a:lstStyle/>
          <a:p>
            <a:r>
              <a:rPr lang="en-US" dirty="0"/>
              <a:t>In NAT mode, you can't use </a:t>
            </a:r>
            <a:r>
              <a:rPr lang="en-US" dirty="0" smtClean="0"/>
              <a:t>interfaces until </a:t>
            </a:r>
            <a:r>
              <a:rPr lang="en-US" dirty="0"/>
              <a:t>they have an IP address:</a:t>
            </a:r>
          </a:p>
          <a:p>
            <a:pPr lvl="1"/>
            <a:r>
              <a:rPr lang="en-US" dirty="0"/>
              <a:t>Manually assigned</a:t>
            </a:r>
          </a:p>
          <a:p>
            <a:pPr lvl="1"/>
            <a:r>
              <a:rPr lang="en-US" dirty="0"/>
              <a:t>Automatic</a:t>
            </a:r>
          </a:p>
          <a:p>
            <a:pPr lvl="2"/>
            <a:r>
              <a:rPr lang="en-US" dirty="0"/>
              <a:t>DHCP</a:t>
            </a:r>
          </a:p>
          <a:p>
            <a:pPr lvl="2"/>
            <a:r>
              <a:rPr lang="en-US" dirty="0" err="1"/>
              <a:t>PPPoE</a:t>
            </a:r>
            <a:r>
              <a:rPr lang="en-US" dirty="0"/>
              <a:t> </a:t>
            </a:r>
            <a:br>
              <a:rPr lang="en-US" dirty="0"/>
            </a:br>
            <a:endParaRPr lang="en-US" dirty="0" smtClean="0"/>
          </a:p>
          <a:p>
            <a:endParaRPr lang="en-US" dirty="0"/>
          </a:p>
        </p:txBody>
      </p:sp>
      <p:sp>
        <p:nvSpPr>
          <p:cNvPr id="6" name="Content Placeholder 5"/>
          <p:cNvSpPr>
            <a:spLocks noGrp="1"/>
          </p:cNvSpPr>
          <p:nvPr>
            <p:ph idx="16"/>
          </p:nvPr>
        </p:nvSpPr>
        <p:spPr/>
        <p:txBody>
          <a:bodyPr/>
          <a:lstStyle/>
          <a:p>
            <a:endParaRPr lang="en-CA" dirty="0"/>
          </a:p>
          <a:p>
            <a:endParaRPr lang="en-US" dirty="0"/>
          </a:p>
          <a:p>
            <a:endParaRPr lang="en-US" dirty="0"/>
          </a:p>
          <a:p>
            <a:endParaRPr lang="en-US" dirty="0"/>
          </a:p>
        </p:txBody>
      </p:sp>
      <p:sp>
        <p:nvSpPr>
          <p:cNvPr id="15" name="TextBox 14"/>
          <p:cNvSpPr txBox="1"/>
          <p:nvPr/>
        </p:nvSpPr>
        <p:spPr>
          <a:xfrm>
            <a:off x="5954249" y="991164"/>
            <a:ext cx="2448106"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Network </a:t>
            </a:r>
            <a:r>
              <a:rPr lang="en-US" dirty="0">
                <a:solidFill>
                  <a:srgbClr val="000000"/>
                </a:solidFill>
                <a:cs typeface="Arial" pitchFamily="34" charset="0"/>
              </a:rPr>
              <a:t>&gt;</a:t>
            </a:r>
            <a:r>
              <a:rPr lang="en-US" b="1" dirty="0">
                <a:solidFill>
                  <a:srgbClr val="000000"/>
                </a:solidFill>
                <a:cs typeface="Arial" pitchFamily="34" charset="0"/>
              </a:rPr>
              <a:t> Interfaces</a:t>
            </a:r>
          </a:p>
        </p:txBody>
      </p:sp>
      <p:pic>
        <p:nvPicPr>
          <p:cNvPr id="3" name="Picture 2"/>
          <p:cNvPicPr>
            <a:picLocks noChangeAspect="1"/>
          </p:cNvPicPr>
          <p:nvPr/>
        </p:nvPicPr>
        <p:blipFill>
          <a:blip r:embed="rId4"/>
          <a:stretch>
            <a:fillRect/>
          </a:stretch>
        </p:blipFill>
        <p:spPr>
          <a:xfrm>
            <a:off x="5949450" y="1342714"/>
            <a:ext cx="3791145" cy="2279767"/>
          </a:xfrm>
          <a:prstGeom prst="rect">
            <a:avLst/>
          </a:prstGeom>
        </p:spPr>
      </p:pic>
      <p:sp>
        <p:nvSpPr>
          <p:cNvPr id="17" name="Rectangle 16"/>
          <p:cNvSpPr/>
          <p:nvPr/>
        </p:nvSpPr>
        <p:spPr>
          <a:xfrm>
            <a:off x="7191414" y="2947460"/>
            <a:ext cx="413295" cy="1714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2" name="Rectangle 21"/>
          <p:cNvSpPr/>
          <p:nvPr/>
        </p:nvSpPr>
        <p:spPr>
          <a:xfrm>
            <a:off x="6572502" y="1659410"/>
            <a:ext cx="490074" cy="1337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pic>
        <p:nvPicPr>
          <p:cNvPr id="8" name="Picture 7"/>
          <p:cNvPicPr>
            <a:picLocks noChangeAspect="1"/>
          </p:cNvPicPr>
          <p:nvPr/>
        </p:nvPicPr>
        <p:blipFill>
          <a:blip r:embed="rId5"/>
          <a:stretch>
            <a:fillRect/>
          </a:stretch>
        </p:blipFill>
        <p:spPr>
          <a:xfrm>
            <a:off x="5949450" y="3717426"/>
            <a:ext cx="3804053" cy="2320119"/>
          </a:xfrm>
          <a:prstGeom prst="rect">
            <a:avLst/>
          </a:prstGeom>
        </p:spPr>
      </p:pic>
      <p:sp>
        <p:nvSpPr>
          <p:cNvPr id="25" name="Rectangle 24"/>
          <p:cNvSpPr/>
          <p:nvPr/>
        </p:nvSpPr>
        <p:spPr>
          <a:xfrm>
            <a:off x="8109043" y="5218771"/>
            <a:ext cx="355441" cy="1449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614024100"/>
      </p:ext>
    </p:extLst>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6"/>
          </p:nvPr>
        </p:nvPicPr>
        <p:blipFill>
          <a:blip r:embed="rId4"/>
          <a:stretch>
            <a:fillRect/>
          </a:stretch>
        </p:blipFill>
        <p:spPr>
          <a:xfrm>
            <a:off x="7508257" y="1257507"/>
            <a:ext cx="4163798" cy="2690685"/>
          </a:xfrm>
          <a:prstGeom prst="rect">
            <a:avLst/>
          </a:prstGeom>
          <a:ln w="3175">
            <a:solidFill>
              <a:schemeClr val="tx1"/>
            </a:solidFill>
          </a:ln>
        </p:spPr>
      </p:pic>
      <p:sp>
        <p:nvSpPr>
          <p:cNvPr id="3" name="Content Placeholder 2"/>
          <p:cNvSpPr>
            <a:spLocks noGrp="1"/>
          </p:cNvSpPr>
          <p:nvPr>
            <p:ph idx="15"/>
          </p:nvPr>
        </p:nvSpPr>
        <p:spPr/>
        <p:txBody>
          <a:bodyPr/>
          <a:lstStyle/>
          <a:p>
            <a:r>
              <a:rPr lang="en-CA" dirty="0"/>
              <a:t>Role defines interface settings typically grouped together:</a:t>
            </a:r>
          </a:p>
          <a:p>
            <a:pPr lvl="1"/>
            <a:r>
              <a:rPr lang="en-CA" dirty="0" smtClean="0"/>
              <a:t>Prevents </a:t>
            </a:r>
            <a:r>
              <a:rPr lang="en-CA" dirty="0"/>
              <a:t>accidental misconfiguration</a:t>
            </a:r>
          </a:p>
          <a:p>
            <a:pPr lvl="1"/>
            <a:r>
              <a:rPr lang="en-CA" dirty="0"/>
              <a:t> Four types:</a:t>
            </a:r>
          </a:p>
          <a:p>
            <a:pPr lvl="2"/>
            <a:r>
              <a:rPr lang="en-CA" dirty="0"/>
              <a:t>WAN</a:t>
            </a:r>
          </a:p>
          <a:p>
            <a:pPr lvl="2"/>
            <a:r>
              <a:rPr lang="en-CA" dirty="0"/>
              <a:t>LAN</a:t>
            </a:r>
          </a:p>
          <a:p>
            <a:pPr lvl="2"/>
            <a:r>
              <a:rPr lang="en-CA" dirty="0"/>
              <a:t>DMZ</a:t>
            </a:r>
          </a:p>
          <a:p>
            <a:pPr lvl="2"/>
            <a:r>
              <a:rPr lang="en-CA" dirty="0"/>
              <a:t>Undefined</a:t>
            </a:r>
            <a:r>
              <a:rPr lang="en-CA" dirty="0">
                <a:solidFill>
                  <a:schemeClr val="bg1">
                    <a:lumMod val="75000"/>
                  </a:schemeClr>
                </a:solidFill>
              </a:rPr>
              <a:t> </a:t>
            </a:r>
            <a:r>
              <a:rPr lang="en-CA" dirty="0"/>
              <a:t>(show all settings)</a:t>
            </a:r>
          </a:p>
          <a:p>
            <a:pPr lvl="1"/>
            <a:r>
              <a:rPr lang="en-CA" dirty="0"/>
              <a:t>Not in list of policies</a:t>
            </a:r>
          </a:p>
          <a:p>
            <a:r>
              <a:rPr lang="en-CA" dirty="0"/>
              <a:t>Alias is a friendly descriptor for the interface:</a:t>
            </a:r>
          </a:p>
          <a:p>
            <a:pPr lvl="1"/>
            <a:r>
              <a:rPr lang="en-CA" dirty="0"/>
              <a:t>Used in list of policies to label </a:t>
            </a:r>
            <a:br>
              <a:rPr lang="en-CA" dirty="0"/>
            </a:br>
            <a:r>
              <a:rPr lang="en-CA" dirty="0"/>
              <a:t>interfaces by purpose</a:t>
            </a:r>
          </a:p>
        </p:txBody>
      </p:sp>
      <p:sp>
        <p:nvSpPr>
          <p:cNvPr id="2" name="Title 1"/>
          <p:cNvSpPr>
            <a:spLocks noGrp="1"/>
          </p:cNvSpPr>
          <p:nvPr>
            <p:ph type="title"/>
          </p:nvPr>
        </p:nvSpPr>
        <p:spPr/>
        <p:txBody>
          <a:bodyPr/>
          <a:lstStyle/>
          <a:p>
            <a:r>
              <a:rPr lang="en-CA" dirty="0"/>
              <a:t>Interface Role Compared to Alias</a:t>
            </a:r>
          </a:p>
        </p:txBody>
      </p:sp>
      <p:sp>
        <p:nvSpPr>
          <p:cNvPr id="15" name="TextBox 14"/>
          <p:cNvSpPr txBox="1"/>
          <p:nvPr/>
        </p:nvSpPr>
        <p:spPr>
          <a:xfrm>
            <a:off x="7496070" y="893302"/>
            <a:ext cx="2448106"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Network </a:t>
            </a:r>
            <a:r>
              <a:rPr lang="en-US" dirty="0">
                <a:solidFill>
                  <a:srgbClr val="000000"/>
                </a:solidFill>
                <a:cs typeface="Arial" pitchFamily="34" charset="0"/>
              </a:rPr>
              <a:t>&gt;</a:t>
            </a:r>
            <a:r>
              <a:rPr lang="en-US" b="1" dirty="0">
                <a:solidFill>
                  <a:srgbClr val="000000"/>
                </a:solidFill>
                <a:cs typeface="Arial" pitchFamily="34" charset="0"/>
              </a:rPr>
              <a:t> Interfaces</a:t>
            </a:r>
          </a:p>
        </p:txBody>
      </p:sp>
      <p:sp>
        <p:nvSpPr>
          <p:cNvPr id="16" name="TextBox 15"/>
          <p:cNvSpPr txBox="1"/>
          <p:nvPr/>
        </p:nvSpPr>
        <p:spPr>
          <a:xfrm>
            <a:off x="7316598" y="4329242"/>
            <a:ext cx="3871573"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Policy &amp; Objects </a:t>
            </a:r>
            <a:r>
              <a:rPr lang="en-US" dirty="0">
                <a:solidFill>
                  <a:srgbClr val="000000"/>
                </a:solidFill>
                <a:cs typeface="Arial" pitchFamily="34" charset="0"/>
              </a:rPr>
              <a:t>&gt;</a:t>
            </a:r>
            <a:r>
              <a:rPr lang="en-US" b="1" dirty="0">
                <a:solidFill>
                  <a:srgbClr val="000000"/>
                </a:solidFill>
                <a:cs typeface="Arial" pitchFamily="34" charset="0"/>
              </a:rPr>
              <a:t> </a:t>
            </a:r>
            <a:r>
              <a:rPr lang="en-US" b="1" dirty="0" smtClean="0">
                <a:solidFill>
                  <a:srgbClr val="000000"/>
                </a:solidFill>
                <a:cs typeface="Arial" pitchFamily="34" charset="0"/>
              </a:rPr>
              <a:t>Firewall </a:t>
            </a:r>
            <a:r>
              <a:rPr lang="en-US" b="1" dirty="0">
                <a:solidFill>
                  <a:srgbClr val="000000"/>
                </a:solidFill>
                <a:cs typeface="Arial" pitchFamily="34" charset="0"/>
              </a:rPr>
              <a:t>Policy</a:t>
            </a:r>
          </a:p>
        </p:txBody>
      </p:sp>
      <p:sp>
        <p:nvSpPr>
          <p:cNvPr id="14" name="Rectangle 13"/>
          <p:cNvSpPr/>
          <p:nvPr/>
        </p:nvSpPr>
        <p:spPr>
          <a:xfrm>
            <a:off x="8286749" y="1840107"/>
            <a:ext cx="2097327" cy="1910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0" name="Rounded Rectangular Callout 19"/>
          <p:cNvSpPr/>
          <p:nvPr/>
        </p:nvSpPr>
        <p:spPr bwMode="invGray">
          <a:xfrm>
            <a:off x="6713951" y="3569918"/>
            <a:ext cx="688932" cy="440904"/>
          </a:xfrm>
          <a:prstGeom prst="wedgeRoundRectCallout">
            <a:avLst>
              <a:gd name="adj1" fmla="val 173791"/>
              <a:gd name="adj2" fmla="val -221912"/>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Role</a:t>
            </a:r>
          </a:p>
        </p:txBody>
      </p:sp>
      <p:sp>
        <p:nvSpPr>
          <p:cNvPr id="21" name="Rounded Rectangular Callout 20"/>
          <p:cNvSpPr/>
          <p:nvPr/>
        </p:nvSpPr>
        <p:spPr bwMode="invGray">
          <a:xfrm>
            <a:off x="5611798" y="3640022"/>
            <a:ext cx="854669" cy="308170"/>
          </a:xfrm>
          <a:prstGeom prst="wedgeRoundRectCallout">
            <a:avLst>
              <a:gd name="adj1" fmla="val 252812"/>
              <a:gd name="adj2" fmla="val -582615"/>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8" name="Picture 7"/>
          <p:cNvPicPr>
            <a:picLocks noChangeAspect="1"/>
          </p:cNvPicPr>
          <p:nvPr/>
        </p:nvPicPr>
        <p:blipFill>
          <a:blip r:embed="rId5"/>
          <a:stretch>
            <a:fillRect/>
          </a:stretch>
        </p:blipFill>
        <p:spPr>
          <a:xfrm>
            <a:off x="7328010" y="4663409"/>
            <a:ext cx="4115011" cy="1428823"/>
          </a:xfrm>
          <a:prstGeom prst="rect">
            <a:avLst/>
          </a:prstGeom>
          <a:ln w="3175">
            <a:solidFill>
              <a:schemeClr val="tx1"/>
            </a:solidFill>
          </a:ln>
        </p:spPr>
      </p:pic>
      <p:sp>
        <p:nvSpPr>
          <p:cNvPr id="23" name="Rounded Rectangular Callout 22"/>
          <p:cNvSpPr/>
          <p:nvPr/>
        </p:nvSpPr>
        <p:spPr bwMode="invGray">
          <a:xfrm>
            <a:off x="5548004" y="3643700"/>
            <a:ext cx="982259" cy="308170"/>
          </a:xfrm>
          <a:prstGeom prst="wedgeRoundRectCallout">
            <a:avLst>
              <a:gd name="adj1" fmla="val 227689"/>
              <a:gd name="adj2" fmla="val 588982"/>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a:t>Alias</a:t>
            </a:r>
          </a:p>
        </p:txBody>
      </p:sp>
      <p:sp>
        <p:nvSpPr>
          <p:cNvPr id="24" name="Rectangle 23"/>
          <p:cNvSpPr/>
          <p:nvPr/>
        </p:nvSpPr>
        <p:spPr>
          <a:xfrm>
            <a:off x="8017597" y="5681352"/>
            <a:ext cx="1289241" cy="1933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141425483"/>
      </p:ext>
    </p:extLst>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7322" y="1017933"/>
            <a:ext cx="6605011" cy="1270195"/>
          </a:xfrm>
          <a:prstGeom prst="rect">
            <a:avLst/>
          </a:prstGeom>
        </p:spPr>
      </p:pic>
      <p:sp>
        <p:nvSpPr>
          <p:cNvPr id="5122" name="Title 1"/>
          <p:cNvSpPr>
            <a:spLocks noGrp="1" noChangeArrowheads="1"/>
          </p:cNvSpPr>
          <p:nvPr>
            <p:ph type="title"/>
          </p:nvPr>
        </p:nvSpPr>
        <p:spPr/>
        <p:txBody>
          <a:bodyPr>
            <a:normAutofit/>
          </a:bodyPr>
          <a:lstStyle/>
          <a:p>
            <a:pPr eaLnBrk="1" hangingPunct="1"/>
            <a:r>
              <a:rPr lang="en-US" dirty="0">
                <a:cs typeface="Arial" charset="0"/>
              </a:rPr>
              <a:t>VLANs</a:t>
            </a:r>
          </a:p>
        </p:txBody>
      </p:sp>
      <p:sp>
        <p:nvSpPr>
          <p:cNvPr id="3" name="Text Placeholder 2"/>
          <p:cNvSpPr>
            <a:spLocks noGrp="1"/>
          </p:cNvSpPr>
          <p:nvPr>
            <p:ph idx="1"/>
          </p:nvPr>
        </p:nvSpPr>
        <p:spPr/>
        <p:txBody>
          <a:bodyPr/>
          <a:lstStyle/>
          <a:p>
            <a:endParaRPr lang="en-US" sz="2400" dirty="0"/>
          </a:p>
          <a:p>
            <a:endParaRPr lang="en-US" sz="2400" dirty="0"/>
          </a:p>
          <a:p>
            <a:endParaRPr lang="en-US" sz="2400" dirty="0"/>
          </a:p>
          <a:p>
            <a:endParaRPr lang="en-US" sz="2400" dirty="0"/>
          </a:p>
          <a:p>
            <a:endParaRPr lang="en-US" sz="2400" dirty="0"/>
          </a:p>
          <a:p>
            <a:endParaRPr lang="en-US" sz="2400" dirty="0"/>
          </a:p>
          <a:p>
            <a:r>
              <a:rPr lang="en-US" i="1" dirty="0"/>
              <a:t>Logically</a:t>
            </a:r>
            <a:r>
              <a:rPr lang="en-US" dirty="0"/>
              <a:t> subdivide your physical </a:t>
            </a:r>
            <a:r>
              <a:rPr lang="en-US" dirty="0" smtClean="0"/>
              <a:t>Layer </a:t>
            </a:r>
            <a:r>
              <a:rPr lang="en-US" dirty="0"/>
              <a:t>2 network into smaller </a:t>
            </a:r>
            <a:r>
              <a:rPr lang="en-US" dirty="0" smtClean="0"/>
              <a:t>segments</a:t>
            </a:r>
            <a:endParaRPr lang="en-US" dirty="0"/>
          </a:p>
          <a:p>
            <a:pPr lvl="1"/>
            <a:r>
              <a:rPr lang="en-US" dirty="0"/>
              <a:t>Each segment </a:t>
            </a:r>
            <a:r>
              <a:rPr lang="en-US" dirty="0" smtClean="0"/>
              <a:t>forms a </a:t>
            </a:r>
            <a:r>
              <a:rPr lang="en-US" dirty="0"/>
              <a:t>separate broadcast </a:t>
            </a:r>
            <a:r>
              <a:rPr lang="en-US" dirty="0" smtClean="0"/>
              <a:t>domain</a:t>
            </a:r>
            <a:endParaRPr lang="en-US" dirty="0"/>
          </a:p>
          <a:p>
            <a:pPr lvl="1"/>
            <a:r>
              <a:rPr lang="en-US" dirty="0"/>
              <a:t>VLAN tags added to frames to identify their network </a:t>
            </a:r>
            <a:r>
              <a:rPr lang="en-US" dirty="0" smtClean="0"/>
              <a:t>segments</a:t>
            </a:r>
            <a:endParaRPr lang="en-US" dirty="0"/>
          </a:p>
          <a:p>
            <a:pPr lvl="1"/>
            <a:endParaRPr lang="en-US" dirty="0"/>
          </a:p>
          <a:p>
            <a:endParaRPr lang="en-CA" dirty="0"/>
          </a:p>
        </p:txBody>
      </p:sp>
      <p:sp>
        <p:nvSpPr>
          <p:cNvPr id="545805" name="Text Box 13"/>
          <p:cNvSpPr txBox="1">
            <a:spLocks noChangeArrowheads="1"/>
          </p:cNvSpPr>
          <p:nvPr/>
        </p:nvSpPr>
        <p:spPr bwMode="auto">
          <a:xfrm>
            <a:off x="1583618" y="2709874"/>
            <a:ext cx="1004399" cy="41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lgn="r"/>
            <a:r>
              <a:rPr lang="en-US" sz="1900" dirty="0">
                <a:latin typeface="+mn-lt"/>
              </a:rPr>
              <a:t>VLANs</a:t>
            </a:r>
          </a:p>
        </p:txBody>
      </p:sp>
      <p:sp>
        <p:nvSpPr>
          <p:cNvPr id="545822" name="Text Box 30"/>
          <p:cNvSpPr txBox="1">
            <a:spLocks noChangeArrowheads="1"/>
          </p:cNvSpPr>
          <p:nvPr/>
        </p:nvSpPr>
        <p:spPr bwMode="auto">
          <a:xfrm>
            <a:off x="996509" y="1459469"/>
            <a:ext cx="1689749" cy="70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899" tIns="60949" rIns="121899" bIns="60949">
            <a:spAutoFit/>
          </a:bodyPr>
          <a:lstStyle>
            <a:lvl1pPr>
              <a:defRPr sz="2400">
                <a:solidFill>
                  <a:schemeClr val="tx1"/>
                </a:solidFill>
                <a:latin typeface="Arial" charset="0"/>
                <a:ea typeface="MS PGothic" pitchFamily="34" charset="-128"/>
              </a:defRPr>
            </a:lvl1pPr>
            <a:lvl2pPr marL="742950" indent="-285750">
              <a:defRPr sz="2400">
                <a:solidFill>
                  <a:schemeClr val="tx1"/>
                </a:solidFill>
                <a:latin typeface="Arial" charset="0"/>
                <a:ea typeface="MS PGothic" pitchFamily="34" charset="-128"/>
              </a:defRPr>
            </a:lvl2pPr>
            <a:lvl3pPr marL="1143000" indent="-228600">
              <a:defRPr sz="2400">
                <a:solidFill>
                  <a:schemeClr val="tx1"/>
                </a:solidFill>
                <a:latin typeface="Arial" charset="0"/>
                <a:ea typeface="MS PGothic" pitchFamily="34" charset="-128"/>
              </a:defRPr>
            </a:lvl3pPr>
            <a:lvl4pPr marL="1600200" indent="-228600">
              <a:defRPr sz="2400">
                <a:solidFill>
                  <a:schemeClr val="tx1"/>
                </a:solidFill>
                <a:latin typeface="Arial" charset="0"/>
                <a:ea typeface="MS PGothic" pitchFamily="34" charset="-128"/>
              </a:defRPr>
            </a:lvl4pPr>
            <a:lvl5pPr marL="2057400" indent="-228600">
              <a:defRPr sz="2400">
                <a:solidFill>
                  <a:schemeClr val="tx1"/>
                </a:solidFill>
                <a:latin typeface="Arial" charset="0"/>
                <a:ea typeface="MS PGothic" pitchFamily="34" charset="-128"/>
              </a:defRPr>
            </a:lvl5pPr>
            <a:lvl6pPr marL="2514600" indent="-228600" eaLnBrk="0" fontAlgn="base" hangingPunct="0">
              <a:spcBef>
                <a:spcPct val="0"/>
              </a:spcBef>
              <a:spcAft>
                <a:spcPct val="0"/>
              </a:spcAft>
              <a:defRPr sz="2400">
                <a:solidFill>
                  <a:schemeClr val="tx1"/>
                </a:solidFill>
                <a:latin typeface="Arial" charset="0"/>
                <a:ea typeface="MS PGothic" pitchFamily="34" charset="-128"/>
              </a:defRPr>
            </a:lvl6pPr>
            <a:lvl7pPr marL="2971800" indent="-228600" eaLnBrk="0" fontAlgn="base" hangingPunct="0">
              <a:spcBef>
                <a:spcPct val="0"/>
              </a:spcBef>
              <a:spcAft>
                <a:spcPct val="0"/>
              </a:spcAft>
              <a:defRPr sz="2400">
                <a:solidFill>
                  <a:schemeClr val="tx1"/>
                </a:solidFill>
                <a:latin typeface="Arial" charset="0"/>
                <a:ea typeface="MS PGothic" pitchFamily="34" charset="-128"/>
              </a:defRPr>
            </a:lvl7pPr>
            <a:lvl8pPr marL="3429000" indent="-228600" eaLnBrk="0" fontAlgn="base" hangingPunct="0">
              <a:spcBef>
                <a:spcPct val="0"/>
              </a:spcBef>
              <a:spcAft>
                <a:spcPct val="0"/>
              </a:spcAft>
              <a:defRPr sz="2400">
                <a:solidFill>
                  <a:schemeClr val="tx1"/>
                </a:solidFill>
                <a:latin typeface="Arial" charset="0"/>
                <a:ea typeface="MS PGothic" pitchFamily="34" charset="-128"/>
              </a:defRPr>
            </a:lvl8pPr>
            <a:lvl9pPr marL="3886200" indent="-228600" eaLnBrk="0" fontAlgn="base" hangingPunct="0">
              <a:spcBef>
                <a:spcPct val="0"/>
              </a:spcBef>
              <a:spcAft>
                <a:spcPct val="0"/>
              </a:spcAft>
              <a:defRPr sz="2400">
                <a:solidFill>
                  <a:schemeClr val="tx1"/>
                </a:solidFill>
                <a:latin typeface="Arial" charset="0"/>
                <a:ea typeface="MS PGothic" pitchFamily="34" charset="-128"/>
              </a:defRPr>
            </a:lvl9pPr>
          </a:lstStyle>
          <a:p>
            <a:pPr algn="r"/>
            <a:r>
              <a:rPr lang="en-US" sz="1900" dirty="0">
                <a:latin typeface="+mn-lt"/>
              </a:rPr>
              <a:t>Physical interfaces</a:t>
            </a:r>
          </a:p>
        </p:txBody>
      </p:sp>
      <p:grpSp>
        <p:nvGrpSpPr>
          <p:cNvPr id="4" name="Group 3"/>
          <p:cNvGrpSpPr/>
          <p:nvPr/>
        </p:nvGrpSpPr>
        <p:grpSpPr>
          <a:xfrm>
            <a:off x="2819036" y="2398009"/>
            <a:ext cx="6110252" cy="1046345"/>
            <a:chOff x="1724843" y="2076974"/>
            <a:chExt cx="5682343" cy="1181860"/>
          </a:xfrm>
        </p:grpSpPr>
        <p:sp>
          <p:nvSpPr>
            <p:cNvPr id="2" name="Cloud Callout 1"/>
            <p:cNvSpPr/>
            <p:nvPr/>
          </p:nvSpPr>
          <p:spPr bwMode="auto">
            <a:xfrm>
              <a:off x="1724843" y="2076974"/>
              <a:ext cx="5682343" cy="1181860"/>
            </a:xfrm>
            <a:prstGeom prst="cloudCallout">
              <a:avLst>
                <a:gd name="adj1" fmla="val 1887"/>
                <a:gd name="adj2" fmla="val -94523"/>
              </a:avLst>
            </a:prstGeom>
            <a:gradFill flip="none" rotWithShape="1">
              <a:gsLst>
                <a:gs pos="0">
                  <a:srgbClr val="A5ACB0"/>
                </a:gs>
                <a:gs pos="100000">
                  <a:srgbClr val="FFFFFF"/>
                </a:gs>
              </a:gsLst>
              <a:lin ang="5400000" scaled="0"/>
              <a:tileRect/>
            </a:gradFill>
            <a:ln w="9525" cap="flat" cmpd="sng" algn="ctr">
              <a:solidFill>
                <a:schemeClr val="bg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lang="en-US" sz="2700" dirty="0">
                <a:solidFill>
                  <a:schemeClr val="accent2"/>
                </a:solidFill>
                <a:latin typeface="Arial" charset="0"/>
              </a:endParaRPr>
            </a:p>
          </p:txBody>
        </p:sp>
        <p:pic>
          <p:nvPicPr>
            <p:cNvPr id="545806" name="Picture 1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35226"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07" name="Picture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87676"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08" name="Picture 1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41713"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09" name="Picture 1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94163"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10"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1"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11" name="Picture 1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00651"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12" name="Picture 2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54688"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13" name="Picture 2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08726" y="2308335"/>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4" name="Picture 3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6338"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5" name="Picture 3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98788"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6" name="Picture 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52826"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7" name="Picture 3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5276"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8" name="Picture 3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59313"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29" name="Picture 3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11763"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30" name="Picture 3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65801"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5831" name="Picture 3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9838" y="2667904"/>
              <a:ext cx="409575" cy="264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Rectangle 5"/>
          <p:cNvSpPr/>
          <p:nvPr/>
        </p:nvSpPr>
        <p:spPr bwMode="invGray">
          <a:xfrm>
            <a:off x="5874162" y="1664605"/>
            <a:ext cx="214122" cy="245218"/>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custDataLst>
      <p:tags r:id="rId1"/>
    </p:custDataLst>
    <p:extLst>
      <p:ext uri="{BB962C8B-B14F-4D97-AF65-F5344CB8AC3E}">
        <p14:creationId xmlns:p14="http://schemas.microsoft.com/office/powerpoint/2010/main" val="28667370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545805"/>
                                        </p:tgtEl>
                                        <p:attrNameLst>
                                          <p:attrName>style.visibility</p:attrName>
                                        </p:attrNameLst>
                                      </p:cBhvr>
                                      <p:to>
                                        <p:strVal val="visible"/>
                                      </p:to>
                                    </p:set>
                                    <p:animEffect transition="in" filter="fade">
                                      <p:cBhvr>
                                        <p:cTn id="15" dur="500"/>
                                        <p:tgtEl>
                                          <p:spTgt spid="545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805" grpId="0"/>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4"/>
          <a:stretch>
            <a:fillRect/>
          </a:stretch>
        </p:blipFill>
        <p:spPr>
          <a:xfrm>
            <a:off x="5773490" y="1740058"/>
            <a:ext cx="5595550" cy="4548530"/>
          </a:xfrm>
          <a:prstGeom prst="rect">
            <a:avLst/>
          </a:prstGeom>
          <a:ln w="3175">
            <a:solidFill>
              <a:schemeClr val="tx1"/>
            </a:solidFill>
          </a:ln>
        </p:spPr>
      </p:pic>
      <p:pic>
        <p:nvPicPr>
          <p:cNvPr id="5" name="Picture 4"/>
          <p:cNvPicPr>
            <a:picLocks noChangeAspect="1"/>
          </p:cNvPicPr>
          <p:nvPr/>
        </p:nvPicPr>
        <p:blipFill>
          <a:blip r:embed="rId5"/>
          <a:stretch>
            <a:fillRect/>
          </a:stretch>
        </p:blipFill>
        <p:spPr>
          <a:xfrm>
            <a:off x="843559" y="2275223"/>
            <a:ext cx="3996076" cy="2522044"/>
          </a:xfrm>
          <a:prstGeom prst="rect">
            <a:avLst/>
          </a:prstGeom>
          <a:ln w="3175">
            <a:solidFill>
              <a:schemeClr val="tx1"/>
            </a:solidFill>
          </a:ln>
        </p:spPr>
      </p:pic>
      <p:sp>
        <p:nvSpPr>
          <p:cNvPr id="2" name="Title 1"/>
          <p:cNvSpPr>
            <a:spLocks noGrp="1"/>
          </p:cNvSpPr>
          <p:nvPr>
            <p:ph type="title"/>
          </p:nvPr>
        </p:nvSpPr>
        <p:spPr/>
        <p:txBody>
          <a:bodyPr>
            <a:normAutofit/>
          </a:bodyPr>
          <a:lstStyle/>
          <a:p>
            <a:r>
              <a:rPr lang="en-CA" dirty="0"/>
              <a:t>Creating VLANs</a:t>
            </a:r>
          </a:p>
        </p:txBody>
      </p:sp>
      <p:sp>
        <p:nvSpPr>
          <p:cNvPr id="3" name="Text Placeholder 2"/>
          <p:cNvSpPr>
            <a:spLocks noGrp="1"/>
          </p:cNvSpPr>
          <p:nvPr>
            <p:ph idx="1"/>
          </p:nvPr>
        </p:nvSpPr>
        <p:spPr/>
        <p:txBody>
          <a:bodyPr>
            <a:normAutofit/>
          </a:bodyPr>
          <a:lstStyle/>
          <a:p>
            <a:r>
              <a:rPr lang="en-US" dirty="0"/>
              <a:t>Frames sent or received by the physical interface segment are never tagged; they belong to the </a:t>
            </a:r>
            <a:r>
              <a:rPr lang="en-US" i="1" dirty="0"/>
              <a:t>native</a:t>
            </a:r>
            <a:r>
              <a:rPr lang="en-US" dirty="0"/>
              <a:t> </a:t>
            </a:r>
            <a:r>
              <a:rPr lang="en-US" dirty="0" smtClean="0"/>
              <a:t>VLAN</a:t>
            </a:r>
            <a:endParaRPr lang="en-CA" dirty="0"/>
          </a:p>
        </p:txBody>
      </p:sp>
      <p:sp>
        <p:nvSpPr>
          <p:cNvPr id="9" name="TextBox 8"/>
          <p:cNvSpPr txBox="1"/>
          <p:nvPr/>
        </p:nvSpPr>
        <p:spPr>
          <a:xfrm>
            <a:off x="843559" y="1890035"/>
            <a:ext cx="2199641" cy="338554"/>
          </a:xfrm>
          <a:prstGeom prst="rect">
            <a:avLst/>
          </a:prstGeom>
          <a:solidFill>
            <a:srgbClr val="00B0F0"/>
          </a:solidFill>
        </p:spPr>
        <p:txBody>
          <a:bodyPr wrap="none" rtlCol="0">
            <a:spAutoFit/>
          </a:bodyPr>
          <a:lstStyle/>
          <a:p>
            <a:r>
              <a:rPr lang="en-CA" sz="1600" b="1" dirty="0" smtClean="0"/>
              <a:t>Network </a:t>
            </a:r>
            <a:r>
              <a:rPr lang="en-CA" sz="1600" dirty="0" smtClean="0"/>
              <a:t>&gt;</a:t>
            </a:r>
            <a:r>
              <a:rPr lang="en-CA" sz="1600" b="1" dirty="0" smtClean="0"/>
              <a:t> Interfaces</a:t>
            </a:r>
            <a:endParaRPr lang="en-CA" sz="1600" b="1" dirty="0"/>
          </a:p>
        </p:txBody>
      </p:sp>
      <p:sp>
        <p:nvSpPr>
          <p:cNvPr id="7" name="Rectangle 6"/>
          <p:cNvSpPr/>
          <p:nvPr/>
        </p:nvSpPr>
        <p:spPr bwMode="invGray">
          <a:xfrm>
            <a:off x="916390" y="3559482"/>
            <a:ext cx="1085129" cy="242105"/>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8" name="Rectangle 7"/>
          <p:cNvSpPr/>
          <p:nvPr/>
        </p:nvSpPr>
        <p:spPr bwMode="invGray">
          <a:xfrm>
            <a:off x="5760720" y="2104867"/>
            <a:ext cx="3545839" cy="2174240"/>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cxnSp>
        <p:nvCxnSpPr>
          <p:cNvPr id="4" name="Straight Arrow Connector 3"/>
          <p:cNvCxnSpPr>
            <a:stCxn id="7" idx="3"/>
            <a:endCxn id="8" idx="1"/>
          </p:cNvCxnSpPr>
          <p:nvPr/>
        </p:nvCxnSpPr>
        <p:spPr bwMode="auto">
          <a:xfrm flipV="1">
            <a:off x="2001519" y="3191987"/>
            <a:ext cx="3759201" cy="488548"/>
          </a:xfrm>
          <a:prstGeom prst="straightConnector1">
            <a:avLst/>
          </a:prstGeom>
          <a:solidFill>
            <a:schemeClr val="accent2">
              <a:alpha val="42000"/>
            </a:schemeClr>
          </a:solidFill>
          <a:ln w="38100" cap="flat" cmpd="sng" algn="ctr">
            <a:solidFill>
              <a:srgbClr val="FF0000"/>
            </a:solidFill>
            <a:prstDash val="solid"/>
            <a:round/>
            <a:headEnd type="none" w="med" len="med"/>
            <a:tailEnd type="arrow" w="med" len="med"/>
          </a:ln>
          <a:effectLst/>
        </p:spPr>
      </p:cxnSp>
    </p:spTree>
    <p:custDataLst>
      <p:tags r:id="rId1"/>
    </p:custDataLst>
    <p:extLst>
      <p:ext uri="{BB962C8B-B14F-4D97-AF65-F5344CB8AC3E}">
        <p14:creationId xmlns:p14="http://schemas.microsoft.com/office/powerpoint/2010/main" val="18688722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Oval 3"/>
          <p:cNvSpPr>
            <a:spLocks noChangeArrowheads="1"/>
          </p:cNvSpPr>
          <p:nvPr/>
        </p:nvSpPr>
        <p:spPr bwMode="auto">
          <a:xfrm>
            <a:off x="4348617" y="4094163"/>
            <a:ext cx="2483792" cy="9144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27652" name="Oval 5"/>
          <p:cNvSpPr>
            <a:spLocks noChangeArrowheads="1"/>
          </p:cNvSpPr>
          <p:nvPr/>
        </p:nvSpPr>
        <p:spPr bwMode="auto">
          <a:xfrm>
            <a:off x="8567094" y="146051"/>
            <a:ext cx="944317" cy="550863"/>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pic>
        <p:nvPicPr>
          <p:cNvPr id="8" name="Content Placeholder 7"/>
          <p:cNvPicPr>
            <a:picLocks noGrp="1" noChangeAspect="1"/>
          </p:cNvPicPr>
          <p:nvPr>
            <p:ph idx="16"/>
          </p:nvPr>
        </p:nvPicPr>
        <p:blipFill>
          <a:blip r:embed="rId4"/>
          <a:stretch>
            <a:fillRect/>
          </a:stretch>
        </p:blipFill>
        <p:spPr>
          <a:xfrm>
            <a:off x="5684445" y="1065792"/>
            <a:ext cx="5417280" cy="4631407"/>
          </a:xfrm>
          <a:prstGeom prst="rect">
            <a:avLst/>
          </a:prstGeom>
          <a:ln w="3175">
            <a:solidFill>
              <a:schemeClr val="tx1"/>
            </a:solidFill>
          </a:ln>
        </p:spPr>
      </p:pic>
      <p:sp>
        <p:nvSpPr>
          <p:cNvPr id="6" name="Content Placeholder 5"/>
          <p:cNvSpPr>
            <a:spLocks noGrp="1"/>
          </p:cNvSpPr>
          <p:nvPr>
            <p:ph idx="15"/>
          </p:nvPr>
        </p:nvSpPr>
        <p:spPr/>
        <p:txBody>
          <a:bodyPr/>
          <a:lstStyle/>
          <a:p>
            <a:r>
              <a:rPr lang="en-US" dirty="0"/>
              <a:t>Must be at least one default gateway </a:t>
            </a:r>
          </a:p>
          <a:p>
            <a:r>
              <a:rPr lang="en-US" dirty="0"/>
              <a:t>If the interface is DHCP or </a:t>
            </a:r>
            <a:r>
              <a:rPr lang="en-US" dirty="0" err="1"/>
              <a:t>PPPoE</a:t>
            </a:r>
            <a:r>
              <a:rPr lang="en-US" dirty="0"/>
              <a:t>, the gateway can be added dynamically</a:t>
            </a:r>
          </a:p>
          <a:p>
            <a:endParaRPr lang="en-US" dirty="0"/>
          </a:p>
          <a:p>
            <a:endParaRPr lang="en-US" dirty="0"/>
          </a:p>
        </p:txBody>
      </p:sp>
      <p:sp>
        <p:nvSpPr>
          <p:cNvPr id="2" name="Title 1"/>
          <p:cNvSpPr>
            <a:spLocks noGrp="1"/>
          </p:cNvSpPr>
          <p:nvPr>
            <p:ph type="title"/>
          </p:nvPr>
        </p:nvSpPr>
        <p:spPr/>
        <p:txBody>
          <a:bodyPr/>
          <a:lstStyle/>
          <a:p>
            <a:r>
              <a:rPr lang="en-US"/>
              <a:t>Static Gateway</a:t>
            </a:r>
            <a:endParaRPr lang="en-US" dirty="0"/>
          </a:p>
        </p:txBody>
      </p:sp>
      <p:sp>
        <p:nvSpPr>
          <p:cNvPr id="14" name="TextBox 13"/>
          <p:cNvSpPr txBox="1"/>
          <p:nvPr/>
        </p:nvSpPr>
        <p:spPr>
          <a:xfrm>
            <a:off x="1056302" y="2901388"/>
            <a:ext cx="2832827"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Network </a:t>
            </a:r>
            <a:r>
              <a:rPr lang="en-US" dirty="0">
                <a:solidFill>
                  <a:srgbClr val="000000"/>
                </a:solidFill>
                <a:cs typeface="Arial" pitchFamily="34" charset="0"/>
              </a:rPr>
              <a:t>&gt;</a:t>
            </a:r>
            <a:r>
              <a:rPr lang="en-US" b="1" dirty="0">
                <a:solidFill>
                  <a:srgbClr val="000000"/>
                </a:solidFill>
                <a:cs typeface="Arial" pitchFamily="34" charset="0"/>
              </a:rPr>
              <a:t> Static Routes</a:t>
            </a:r>
          </a:p>
        </p:txBody>
      </p:sp>
      <p:pic>
        <p:nvPicPr>
          <p:cNvPr id="7" name="Picture 6"/>
          <p:cNvPicPr>
            <a:picLocks noChangeAspect="1"/>
          </p:cNvPicPr>
          <p:nvPr/>
        </p:nvPicPr>
        <p:blipFill>
          <a:blip r:embed="rId5"/>
          <a:stretch>
            <a:fillRect/>
          </a:stretch>
        </p:blipFill>
        <p:spPr>
          <a:xfrm>
            <a:off x="1047730" y="3260292"/>
            <a:ext cx="3098380" cy="2346032"/>
          </a:xfrm>
          <a:prstGeom prst="rect">
            <a:avLst/>
          </a:prstGeom>
          <a:ln w="3175">
            <a:solidFill>
              <a:schemeClr val="tx1"/>
            </a:solidFill>
          </a:ln>
        </p:spPr>
      </p:pic>
      <p:sp>
        <p:nvSpPr>
          <p:cNvPr id="17" name="Rectangle 16"/>
          <p:cNvSpPr/>
          <p:nvPr/>
        </p:nvSpPr>
        <p:spPr bwMode="invGray">
          <a:xfrm>
            <a:off x="3111152" y="3629418"/>
            <a:ext cx="956959" cy="23918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cxnSp>
        <p:nvCxnSpPr>
          <p:cNvPr id="18" name="Straight Arrow Connector 17"/>
          <p:cNvCxnSpPr>
            <a:cxnSpLocks/>
          </p:cNvCxnSpPr>
          <p:nvPr/>
        </p:nvCxnSpPr>
        <p:spPr>
          <a:xfrm flipV="1">
            <a:off x="4043059" y="2893702"/>
            <a:ext cx="1547454" cy="791298"/>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703569" y="3882994"/>
            <a:ext cx="4142957" cy="9716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Tree>
    <p:custDataLst>
      <p:tags r:id="rId1"/>
    </p:custDataLst>
    <p:extLst>
      <p:ext uri="{BB962C8B-B14F-4D97-AF65-F5344CB8AC3E}">
        <p14:creationId xmlns:p14="http://schemas.microsoft.com/office/powerpoint/2010/main" val="1001897440"/>
      </p:ext>
    </p:extLst>
  </p:cSld>
  <p:clrMapOvr>
    <a:masterClrMapping/>
  </p:clrMapOvr>
  <p:transition>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Oval 3"/>
          <p:cNvSpPr>
            <a:spLocks noChangeArrowheads="1"/>
          </p:cNvSpPr>
          <p:nvPr/>
        </p:nvSpPr>
        <p:spPr bwMode="auto">
          <a:xfrm>
            <a:off x="4334757" y="3860666"/>
            <a:ext cx="2483792" cy="9144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21899" tIns="60949" rIns="121899" bIns="60949"/>
          <a:lstStyle/>
          <a:p>
            <a:endParaRPr lang="en-CA" dirty="0"/>
          </a:p>
        </p:txBody>
      </p:sp>
      <p:sp>
        <p:nvSpPr>
          <p:cNvPr id="2" name="Title 1"/>
          <p:cNvSpPr>
            <a:spLocks noGrp="1"/>
          </p:cNvSpPr>
          <p:nvPr>
            <p:ph type="title"/>
          </p:nvPr>
        </p:nvSpPr>
        <p:spPr/>
        <p:txBody>
          <a:bodyPr>
            <a:normAutofit/>
          </a:bodyPr>
          <a:lstStyle/>
          <a:p>
            <a:r>
              <a:rPr lang="en-US" dirty="0"/>
              <a:t>FortiGate as a DHCP Server</a:t>
            </a:r>
          </a:p>
        </p:txBody>
      </p:sp>
      <p:sp>
        <p:nvSpPr>
          <p:cNvPr id="15" name="TextBox 14"/>
          <p:cNvSpPr txBox="1"/>
          <p:nvPr/>
        </p:nvSpPr>
        <p:spPr>
          <a:xfrm>
            <a:off x="744059" y="818147"/>
            <a:ext cx="2448106"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Network </a:t>
            </a:r>
            <a:r>
              <a:rPr lang="en-US" dirty="0">
                <a:solidFill>
                  <a:srgbClr val="000000"/>
                </a:solidFill>
                <a:cs typeface="Arial" pitchFamily="34" charset="0"/>
              </a:rPr>
              <a:t>&gt;</a:t>
            </a:r>
            <a:r>
              <a:rPr lang="en-US" b="1" dirty="0">
                <a:solidFill>
                  <a:srgbClr val="000000"/>
                </a:solidFill>
                <a:cs typeface="Arial" pitchFamily="34" charset="0"/>
              </a:rPr>
              <a:t> Interfaces</a:t>
            </a:r>
          </a:p>
        </p:txBody>
      </p:sp>
      <p:pic>
        <p:nvPicPr>
          <p:cNvPr id="3" name="Picture 2"/>
          <p:cNvPicPr>
            <a:picLocks noChangeAspect="1"/>
          </p:cNvPicPr>
          <p:nvPr/>
        </p:nvPicPr>
        <p:blipFill>
          <a:blip r:embed="rId4"/>
          <a:stretch>
            <a:fillRect/>
          </a:stretch>
        </p:blipFill>
        <p:spPr>
          <a:xfrm>
            <a:off x="656220" y="1144137"/>
            <a:ext cx="3761190" cy="4563922"/>
          </a:xfrm>
          <a:prstGeom prst="rect">
            <a:avLst/>
          </a:prstGeom>
          <a:ln w="3175">
            <a:solidFill>
              <a:schemeClr val="tx1"/>
            </a:solidFill>
          </a:ln>
        </p:spPr>
      </p:pic>
      <p:sp>
        <p:nvSpPr>
          <p:cNvPr id="17" name="Rectangle 16"/>
          <p:cNvSpPr/>
          <p:nvPr/>
        </p:nvSpPr>
        <p:spPr>
          <a:xfrm>
            <a:off x="669752" y="2006700"/>
            <a:ext cx="1977999" cy="16017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5" name="Rectangle 24"/>
          <p:cNvSpPr/>
          <p:nvPr/>
        </p:nvSpPr>
        <p:spPr>
          <a:xfrm>
            <a:off x="2218183" y="2595248"/>
            <a:ext cx="1461872" cy="1667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6" name="Rectangle 25"/>
          <p:cNvSpPr/>
          <p:nvPr/>
        </p:nvSpPr>
        <p:spPr>
          <a:xfrm>
            <a:off x="2205656" y="2460985"/>
            <a:ext cx="442095" cy="12782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7" name="Rectangle 26"/>
          <p:cNvSpPr/>
          <p:nvPr/>
        </p:nvSpPr>
        <p:spPr>
          <a:xfrm>
            <a:off x="646075" y="4340968"/>
            <a:ext cx="3758809" cy="13665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pic>
        <p:nvPicPr>
          <p:cNvPr id="4" name="Picture 3"/>
          <p:cNvPicPr>
            <a:picLocks noChangeAspect="1"/>
          </p:cNvPicPr>
          <p:nvPr/>
        </p:nvPicPr>
        <p:blipFill>
          <a:blip r:embed="rId5"/>
          <a:stretch>
            <a:fillRect/>
          </a:stretch>
        </p:blipFill>
        <p:spPr>
          <a:xfrm>
            <a:off x="4573485" y="1240732"/>
            <a:ext cx="3617310" cy="4257926"/>
          </a:xfrm>
          <a:prstGeom prst="rect">
            <a:avLst/>
          </a:prstGeom>
          <a:ln w="3175">
            <a:solidFill>
              <a:schemeClr val="tx1"/>
            </a:solidFill>
          </a:ln>
        </p:spPr>
      </p:pic>
      <p:cxnSp>
        <p:nvCxnSpPr>
          <p:cNvPr id="32" name="Straight Arrow Connector 31"/>
          <p:cNvCxnSpPr/>
          <p:nvPr/>
        </p:nvCxnSpPr>
        <p:spPr>
          <a:xfrm flipV="1">
            <a:off x="5260092" y="2420058"/>
            <a:ext cx="3121790" cy="1958802"/>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617217" y="4379724"/>
            <a:ext cx="903473" cy="157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34" name="Rectangle 33"/>
          <p:cNvSpPr/>
          <p:nvPr/>
        </p:nvSpPr>
        <p:spPr>
          <a:xfrm>
            <a:off x="4704775" y="4558834"/>
            <a:ext cx="504353" cy="1284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cxnSp>
        <p:nvCxnSpPr>
          <p:cNvPr id="35" name="Straight Arrow Connector 34"/>
          <p:cNvCxnSpPr/>
          <p:nvPr/>
        </p:nvCxnSpPr>
        <p:spPr>
          <a:xfrm flipV="1">
            <a:off x="3601177" y="4317866"/>
            <a:ext cx="1018906" cy="642433"/>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p:nvPicPr>
        <p:blipFill>
          <a:blip r:embed="rId6"/>
          <a:stretch>
            <a:fillRect/>
          </a:stretch>
        </p:blipFill>
        <p:spPr>
          <a:xfrm>
            <a:off x="8429612" y="1572331"/>
            <a:ext cx="3257171" cy="2745535"/>
          </a:xfrm>
          <a:prstGeom prst="rect">
            <a:avLst/>
          </a:prstGeom>
          <a:ln w="3175">
            <a:solidFill>
              <a:schemeClr val="tx1"/>
            </a:solidFill>
          </a:ln>
        </p:spPr>
      </p:pic>
      <p:sp>
        <p:nvSpPr>
          <p:cNvPr id="7" name="Rectangle 6"/>
          <p:cNvSpPr/>
          <p:nvPr/>
        </p:nvSpPr>
        <p:spPr>
          <a:xfrm>
            <a:off x="9093896" y="3206663"/>
            <a:ext cx="1427967" cy="2069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1972551472"/>
      </p:ext>
    </p:extLst>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US" dirty="0">
                <a:latin typeface="+mj-lt"/>
                <a:cs typeface="Arial" charset="0"/>
              </a:rPr>
              <a:t>FortiGate as a DNS Server</a:t>
            </a:r>
          </a:p>
        </p:txBody>
      </p:sp>
      <p:sp>
        <p:nvSpPr>
          <p:cNvPr id="54275" name="Rectangle 3"/>
          <p:cNvSpPr>
            <a:spLocks noGrp="1" noChangeArrowheads="1"/>
          </p:cNvSpPr>
          <p:nvPr>
            <p:ph idx="1"/>
          </p:nvPr>
        </p:nvSpPr>
        <p:spPr>
          <a:prstGeom prst="rect">
            <a:avLst/>
          </a:prstGeom>
        </p:spPr>
        <p:txBody>
          <a:bodyPr>
            <a:normAutofit/>
          </a:bodyPr>
          <a:lstStyle/>
          <a:p>
            <a:r>
              <a:rPr lang="en-US" dirty="0">
                <a:cs typeface="Arial" charset="0"/>
              </a:rPr>
              <a:t>Resolves DNS lookups from the internal network:</a:t>
            </a:r>
          </a:p>
          <a:p>
            <a:pPr lvl="1"/>
            <a:r>
              <a:rPr lang="en-US" dirty="0">
                <a:cs typeface="Arial" charset="0"/>
              </a:rPr>
              <a:t>Enabled per interface</a:t>
            </a:r>
          </a:p>
          <a:p>
            <a:pPr lvl="1"/>
            <a:r>
              <a:rPr lang="en-US" dirty="0">
                <a:solidFill>
                  <a:schemeClr val="tx1"/>
                </a:solidFill>
                <a:cs typeface="Arial" charset="0"/>
              </a:rPr>
              <a:t>Not appropriate for </a:t>
            </a:r>
            <a:r>
              <a:rPr lang="en-US" dirty="0" smtClean="0">
                <a:solidFill>
                  <a:schemeClr val="tx1"/>
                </a:solidFill>
                <a:cs typeface="Arial" charset="0"/>
              </a:rPr>
              <a:t>internet </a:t>
            </a:r>
            <a:r>
              <a:rPr lang="en-US" dirty="0">
                <a:solidFill>
                  <a:schemeClr val="tx1"/>
                </a:solidFill>
                <a:cs typeface="Arial" charset="0"/>
              </a:rPr>
              <a:t>service because of load, and therefore should not be public </a:t>
            </a:r>
            <a:r>
              <a:rPr lang="en-US" dirty="0" smtClean="0">
                <a:solidFill>
                  <a:schemeClr val="tx1"/>
                </a:solidFill>
                <a:cs typeface="Arial" charset="0"/>
              </a:rPr>
              <a:t>facing</a:t>
            </a:r>
            <a:endParaRPr lang="en-US" dirty="0">
              <a:solidFill>
                <a:schemeClr val="tx1"/>
              </a:solidFill>
              <a:cs typeface="Arial" charset="0"/>
            </a:endParaRPr>
          </a:p>
          <a:p>
            <a:r>
              <a:rPr lang="en-US" dirty="0">
                <a:cs typeface="Arial" charset="0"/>
              </a:rPr>
              <a:t>One DNS database can be shared by all </a:t>
            </a:r>
            <a:r>
              <a:rPr lang="en-US" dirty="0" err="1">
                <a:cs typeface="Arial" charset="0"/>
              </a:rPr>
              <a:t>FortiGate</a:t>
            </a:r>
            <a:r>
              <a:rPr lang="en-US" dirty="0">
                <a:cs typeface="Arial" charset="0"/>
              </a:rPr>
              <a:t> interfaces:</a:t>
            </a:r>
          </a:p>
          <a:p>
            <a:pPr lvl="1"/>
            <a:r>
              <a:rPr lang="en-US" dirty="0">
                <a:cs typeface="Arial" charset="0"/>
              </a:rPr>
              <a:t>Can be separate per VDOM</a:t>
            </a:r>
          </a:p>
          <a:p>
            <a:r>
              <a:rPr lang="en-US" dirty="0">
                <a:cs typeface="Arial" charset="0"/>
              </a:rPr>
              <a:t>Resolution methods:</a:t>
            </a:r>
          </a:p>
          <a:p>
            <a:pPr lvl="1"/>
            <a:r>
              <a:rPr lang="en-US" dirty="0">
                <a:cs typeface="Arial" charset="0"/>
              </a:rPr>
              <a:t>Forward: </a:t>
            </a:r>
            <a:r>
              <a:rPr lang="en-US" dirty="0" smtClean="0">
                <a:cs typeface="Arial" charset="0"/>
              </a:rPr>
              <a:t>relay </a:t>
            </a:r>
            <a:r>
              <a:rPr lang="en-US" dirty="0">
                <a:cs typeface="Arial" charset="0"/>
              </a:rPr>
              <a:t>requests to the next server (in DNS settings)</a:t>
            </a:r>
          </a:p>
          <a:p>
            <a:pPr lvl="1"/>
            <a:r>
              <a:rPr lang="en-US" dirty="0">
                <a:cs typeface="Arial" charset="0"/>
              </a:rPr>
              <a:t>Non-recursive: </a:t>
            </a:r>
            <a:r>
              <a:rPr lang="en-US" dirty="0" smtClean="0">
                <a:cs typeface="Arial" charset="0"/>
              </a:rPr>
              <a:t>u</a:t>
            </a:r>
            <a:r>
              <a:rPr lang="en-CA" dirty="0" smtClean="0">
                <a:cs typeface="Arial" charset="0"/>
              </a:rPr>
              <a:t>se </a:t>
            </a:r>
            <a:r>
              <a:rPr lang="en-CA" dirty="0">
                <a:cs typeface="Arial" charset="0"/>
              </a:rPr>
              <a:t>FortiGate DNS database only to try to resolve queries</a:t>
            </a:r>
            <a:endParaRPr lang="en-US" dirty="0">
              <a:cs typeface="Arial" charset="0"/>
            </a:endParaRPr>
          </a:p>
          <a:p>
            <a:pPr lvl="1"/>
            <a:r>
              <a:rPr lang="en-US" dirty="0">
                <a:cs typeface="Arial" charset="0"/>
              </a:rPr>
              <a:t>Recursive: </a:t>
            </a:r>
            <a:r>
              <a:rPr lang="en-US" dirty="0" smtClean="0">
                <a:cs typeface="Arial" charset="0"/>
              </a:rPr>
              <a:t>u</a:t>
            </a:r>
            <a:r>
              <a:rPr lang="en-CA" dirty="0" smtClean="0">
                <a:cs typeface="Arial" charset="0"/>
              </a:rPr>
              <a:t>se </a:t>
            </a:r>
            <a:r>
              <a:rPr lang="en-CA" dirty="0">
                <a:cs typeface="Arial" charset="0"/>
              </a:rPr>
              <a:t>FortiGate DNS database first; relay unresolvable queries to next server (in DNS settings)</a:t>
            </a:r>
          </a:p>
        </p:txBody>
      </p:sp>
    </p:spTree>
    <p:custDataLst>
      <p:tags r:id="rId1"/>
    </p:custDataLst>
    <p:extLst>
      <p:ext uri="{BB962C8B-B14F-4D97-AF65-F5344CB8AC3E}">
        <p14:creationId xmlns:p14="http://schemas.microsoft.com/office/powerpoint/2010/main" val="1977523535"/>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a:t>How do you restrict logins to FortiGate from only specific IP addresses?</a:t>
            </a:r>
          </a:p>
          <a:p>
            <a:pPr marL="838133" lvl="1" indent="-457200">
              <a:buFont typeface="+mj-lt"/>
              <a:buAutoNum type="alphaUcPeriod"/>
            </a:pPr>
            <a:r>
              <a:rPr lang="en-CA" dirty="0"/>
              <a:t>Change </a:t>
            </a:r>
            <a:r>
              <a:rPr lang="en-CA" dirty="0" smtClean="0"/>
              <a:t>the FortiGate </a:t>
            </a:r>
            <a:r>
              <a:rPr lang="en-CA" dirty="0"/>
              <a:t>management interface IP </a:t>
            </a:r>
            <a:r>
              <a:rPr lang="en-CA" dirty="0" smtClean="0"/>
              <a:t>address.</a:t>
            </a:r>
            <a:endParaRPr lang="en-CA" dirty="0"/>
          </a:p>
          <a:p>
            <a:pPr marL="838133" lvl="1" indent="-457200">
              <a:buFont typeface="+mj-lt"/>
              <a:buAutoNum type="alphaUcPeriod"/>
            </a:pPr>
            <a:r>
              <a:rPr lang="en-CA" dirty="0"/>
              <a:t>Configure </a:t>
            </a:r>
            <a:r>
              <a:rPr lang="en-CA" dirty="0" smtClean="0"/>
              <a:t>a trusted host.</a:t>
            </a:r>
            <a:endParaRPr lang="en-CA" dirty="0"/>
          </a:p>
          <a:p>
            <a:pPr marL="380933" lvl="1" indent="0">
              <a:buNone/>
            </a:pPr>
            <a:endParaRPr lang="en-CA" sz="2000" dirty="0"/>
          </a:p>
          <a:p>
            <a:pPr marL="457200" indent="-457200">
              <a:buFont typeface="+mj-lt"/>
              <a:buAutoNum type="arabicPeriod"/>
            </a:pPr>
            <a:r>
              <a:rPr lang="en-CA" dirty="0"/>
              <a:t>As a best security practice when configuring administrative access to FortiGate, which protocol should you disable?</a:t>
            </a:r>
          </a:p>
          <a:p>
            <a:pPr marL="838133" lvl="1" indent="-457200">
              <a:buFont typeface="+mj-lt"/>
              <a:buAutoNum type="alphaUcPeriod"/>
            </a:pPr>
            <a:r>
              <a:rPr lang="en-CA" dirty="0"/>
              <a:t>Telnet</a:t>
            </a:r>
          </a:p>
          <a:p>
            <a:pPr marL="838133" lvl="1" indent="-457200">
              <a:buFont typeface="+mj-lt"/>
              <a:buAutoNum type="alphaUcPeriod"/>
            </a:pPr>
            <a:r>
              <a:rPr lang="en-CA" dirty="0" smtClean="0"/>
              <a:t>SSH</a:t>
            </a:r>
          </a:p>
          <a:p>
            <a:pPr marL="457200">
              <a:buFont typeface="+mj-lt"/>
              <a:buAutoNum type="arabicPeriod" startAt="3"/>
            </a:pPr>
            <a:r>
              <a:rPr lang="en-CA" dirty="0" smtClean="0"/>
              <a:t>When </a:t>
            </a:r>
            <a:r>
              <a:rPr lang="en-CA" dirty="0"/>
              <a:t>configuring FortiGate as a DNS server, which resolution method </a:t>
            </a:r>
            <a:r>
              <a:rPr lang="en-CA" smtClean="0"/>
              <a:t>uses only </a:t>
            </a:r>
            <a:r>
              <a:rPr lang="en-CA" smtClean="0"/>
              <a:t>the </a:t>
            </a:r>
            <a:r>
              <a:rPr lang="en-CA" dirty="0"/>
              <a:t>FortiGate DNS database to try to resolve queries? </a:t>
            </a:r>
          </a:p>
          <a:p>
            <a:pPr marL="838133" lvl="1" indent="-457200">
              <a:buFont typeface="+mj-lt"/>
              <a:buAutoNum type="alphaUcPeriod"/>
            </a:pPr>
            <a:r>
              <a:rPr lang="en-US" dirty="0" smtClean="0">
                <a:cs typeface="Arial" charset="0"/>
              </a:rPr>
              <a:t>Non-recursive </a:t>
            </a:r>
            <a:endParaRPr lang="en-US" dirty="0">
              <a:cs typeface="Arial" charset="0"/>
            </a:endParaRPr>
          </a:p>
          <a:p>
            <a:pPr marL="838133" lvl="1" indent="-457200">
              <a:buFont typeface="+mj-lt"/>
              <a:buAutoNum type="alphaUcPeriod"/>
            </a:pPr>
            <a:r>
              <a:rPr lang="en-US" dirty="0" smtClean="0">
                <a:cs typeface="Arial" charset="0"/>
              </a:rPr>
              <a:t>Recursive</a:t>
            </a:r>
            <a:endParaRPr lang="en-CA"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007" y="3038927"/>
            <a:ext cx="267254" cy="285685"/>
          </a:xfrm>
          <a:prstGeom prst="rect">
            <a:avLst/>
          </a:prstGeom>
        </p:spPr>
      </p:pic>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755" y="1682727"/>
            <a:ext cx="267254" cy="28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87" y="4381505"/>
            <a:ext cx="267254" cy="285685"/>
          </a:xfrm>
          <a:prstGeom prst="rect">
            <a:avLst/>
          </a:prstGeom>
        </p:spPr>
      </p:pic>
    </p:spTree>
    <p:custDataLst>
      <p:tags r:id="rId1"/>
    </p:custDataLst>
    <p:extLst>
      <p:ext uri="{BB962C8B-B14F-4D97-AF65-F5344CB8AC3E}">
        <p14:creationId xmlns:p14="http://schemas.microsoft.com/office/powerpoint/2010/main" val="422439620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107725689"/>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a:extLst>
              <a:ext uri="{FF2B5EF4-FFF2-40B4-BE49-F238E27FC236}">
                <a16:creationId xmlns:a16="http://schemas.microsoft.com/office/drawing/2014/main" id="{F82846E5-BEA2-4CC8-BE49-F418421EF8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6909" y="1858408"/>
            <a:ext cx="495284" cy="529442"/>
          </a:xfrm>
          <a:prstGeom prst="rect">
            <a:avLst/>
          </a:prstGeom>
        </p:spPr>
      </p:pic>
      <p:pic>
        <p:nvPicPr>
          <p:cNvPr id="11" name="Picture 10">
            <a:extLst>
              <a:ext uri="{FF2B5EF4-FFF2-40B4-BE49-F238E27FC236}">
                <a16:creationId xmlns:a16="http://schemas.microsoft.com/office/drawing/2014/main" id="{4BA2951A-71A6-4381-9730-ADED0BDA366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64552" y="3958942"/>
            <a:ext cx="502499" cy="537154"/>
          </a:xfrm>
          <a:prstGeom prst="rect">
            <a:avLst/>
          </a:prstGeom>
        </p:spPr>
      </p:pic>
      <p:pic>
        <p:nvPicPr>
          <p:cNvPr id="6" name="Picture 5">
            <a:extLst>
              <a:ext uri="{FF2B5EF4-FFF2-40B4-BE49-F238E27FC236}">
                <a16:creationId xmlns:a16="http://schemas.microsoft.com/office/drawing/2014/main" id="{F82846E5-BEA2-4CC8-BE49-F418421EF86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64552" y="2916805"/>
            <a:ext cx="495284" cy="529442"/>
          </a:xfrm>
          <a:prstGeom prst="rect">
            <a:avLst/>
          </a:prstGeom>
        </p:spPr>
      </p:pic>
    </p:spTree>
    <p:custDataLst>
      <p:tags r:id="rId1"/>
    </p:custDataLst>
    <p:extLst>
      <p:ext uri="{BB962C8B-B14F-4D97-AF65-F5344CB8AC3E}">
        <p14:creationId xmlns:p14="http://schemas.microsoft.com/office/powerpoint/2010/main" val="126971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Fundamental Maintenance</a:t>
            </a:r>
          </a:p>
        </p:txBody>
      </p:sp>
      <p:sp>
        <p:nvSpPr>
          <p:cNvPr id="3" name="Text Placeholder 2"/>
          <p:cNvSpPr>
            <a:spLocks noGrp="1"/>
          </p:cNvSpPr>
          <p:nvPr>
            <p:ph type="body" sz="quarter" idx="11"/>
          </p:nvPr>
        </p:nvSpPr>
        <p:spPr/>
        <p:txBody>
          <a:bodyPr/>
          <a:lstStyle/>
          <a:p>
            <a:r>
              <a:rPr lang="en-CA" dirty="0"/>
              <a:t>Back up and restore system configuration files</a:t>
            </a:r>
          </a:p>
          <a:p>
            <a:r>
              <a:rPr lang="en-CA" dirty="0"/>
              <a:t>Understand the restore requirements </a:t>
            </a:r>
            <a:r>
              <a:rPr lang="en-CA"/>
              <a:t>for </a:t>
            </a:r>
            <a:r>
              <a:rPr lang="en-CA" smtClean="0"/>
              <a:t>plaintext </a:t>
            </a:r>
            <a:r>
              <a:rPr lang="en-CA" dirty="0"/>
              <a:t>and encrypted configuration files</a:t>
            </a:r>
          </a:p>
          <a:p>
            <a:r>
              <a:rPr lang="en-CA" dirty="0"/>
              <a:t>Identify the current firmware version</a:t>
            </a:r>
          </a:p>
          <a:p>
            <a:r>
              <a:rPr lang="en-CA" dirty="0"/>
              <a:t>Upgrade firmware</a:t>
            </a:r>
          </a:p>
          <a:p>
            <a:r>
              <a:rPr lang="en-CA" dirty="0"/>
              <a:t>Downgrade firmware</a:t>
            </a:r>
          </a:p>
          <a:p>
            <a:endParaRPr lang="en-CA" dirty="0"/>
          </a:p>
        </p:txBody>
      </p:sp>
    </p:spTree>
    <p:custDataLst>
      <p:tags r:id="rId1"/>
    </p:custDataLst>
    <p:extLst>
      <p:ext uri="{BB962C8B-B14F-4D97-AF65-F5344CB8AC3E}">
        <p14:creationId xmlns:p14="http://schemas.microsoft.com/office/powerpoint/2010/main" val="3296617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a:bodyPr>
          <a:lstStyle/>
          <a:p>
            <a:r>
              <a:rPr lang="en-US" dirty="0">
                <a:latin typeface="+mj-lt"/>
              </a:rPr>
              <a:t>Configuration File―Backup and Restore</a:t>
            </a:r>
          </a:p>
        </p:txBody>
      </p:sp>
      <p:sp>
        <p:nvSpPr>
          <p:cNvPr id="3" name="Content Placeholder 2"/>
          <p:cNvSpPr>
            <a:spLocks noGrp="1"/>
          </p:cNvSpPr>
          <p:nvPr>
            <p:ph idx="1"/>
          </p:nvPr>
        </p:nvSpPr>
        <p:spPr/>
        <p:txBody>
          <a:bodyPr>
            <a:normAutofit/>
          </a:bodyPr>
          <a:lstStyle/>
          <a:p>
            <a:pPr>
              <a:buFont typeface="Times" pitchFamily="18" charset="0"/>
              <a:buChar char="•"/>
            </a:pPr>
            <a:r>
              <a:rPr lang="en-US" dirty="0">
                <a:cs typeface="Arial" charset="0"/>
              </a:rPr>
              <a:t>Configuration can be saved to an external device</a:t>
            </a:r>
          </a:p>
          <a:p>
            <a:pPr lvl="1"/>
            <a:r>
              <a:rPr lang="en-US" dirty="0"/>
              <a:t>Optional encryption</a:t>
            </a:r>
          </a:p>
          <a:p>
            <a:pPr lvl="1"/>
            <a:r>
              <a:rPr lang="en-US" dirty="0"/>
              <a:t>Can back up automatically</a:t>
            </a:r>
          </a:p>
          <a:p>
            <a:pPr lvl="2"/>
            <a:r>
              <a:rPr lang="en-US" dirty="0"/>
              <a:t>Upon logout</a:t>
            </a:r>
          </a:p>
          <a:p>
            <a:pPr lvl="2"/>
            <a:r>
              <a:rPr lang="en-US" dirty="0"/>
              <a:t>Not available on all models</a:t>
            </a:r>
          </a:p>
          <a:p>
            <a:r>
              <a:rPr lang="en-US" dirty="0">
                <a:cs typeface="Arial" charset="0"/>
              </a:rPr>
              <a:t>To restore a previous configuration, upload file</a:t>
            </a:r>
          </a:p>
          <a:p>
            <a:pPr lvl="1"/>
            <a:r>
              <a:rPr lang="en-US" dirty="0">
                <a:solidFill>
                  <a:schemeClr val="tx1"/>
                </a:solidFill>
                <a:cs typeface="Arial" charset="0"/>
              </a:rPr>
              <a:t>Reboots FortiGate</a:t>
            </a:r>
            <a:endParaRPr lang="en-US" dirty="0">
              <a:solidFill>
                <a:schemeClr val="tx1"/>
              </a:solidFill>
            </a:endParaRPr>
          </a:p>
        </p:txBody>
      </p:sp>
      <p:pic>
        <p:nvPicPr>
          <p:cNvPr id="8" name="Picture 7"/>
          <p:cNvPicPr>
            <a:picLocks noChangeAspect="1"/>
          </p:cNvPicPr>
          <p:nvPr/>
        </p:nvPicPr>
        <p:blipFill>
          <a:blip r:embed="rId4"/>
          <a:stretch>
            <a:fillRect/>
          </a:stretch>
        </p:blipFill>
        <p:spPr>
          <a:xfrm>
            <a:off x="8230745" y="797101"/>
            <a:ext cx="3411357" cy="2698710"/>
          </a:xfrm>
          <a:prstGeom prst="rect">
            <a:avLst/>
          </a:prstGeom>
          <a:ln w="3175">
            <a:solidFill>
              <a:schemeClr val="tx1"/>
            </a:solidFill>
          </a:ln>
        </p:spPr>
      </p:pic>
      <p:sp>
        <p:nvSpPr>
          <p:cNvPr id="17" name="Rectangle 16"/>
          <p:cNvSpPr/>
          <p:nvPr/>
        </p:nvSpPr>
        <p:spPr bwMode="invGray">
          <a:xfrm>
            <a:off x="10518044" y="802969"/>
            <a:ext cx="1076710" cy="38557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8" name="Rectangle 17"/>
          <p:cNvSpPr/>
          <p:nvPr/>
        </p:nvSpPr>
        <p:spPr bwMode="invGray">
          <a:xfrm>
            <a:off x="9950705" y="2137707"/>
            <a:ext cx="1656575" cy="368416"/>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23" name="Rectangle 22"/>
          <p:cNvSpPr/>
          <p:nvPr/>
        </p:nvSpPr>
        <p:spPr>
          <a:xfrm>
            <a:off x="8331244" y="2175731"/>
            <a:ext cx="1518385" cy="26684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sp>
        <p:nvSpPr>
          <p:cNvPr id="24" name="Rectangle 23"/>
          <p:cNvSpPr/>
          <p:nvPr/>
        </p:nvSpPr>
        <p:spPr>
          <a:xfrm>
            <a:off x="8331243" y="2489610"/>
            <a:ext cx="1080843" cy="2308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a:p>
        </p:txBody>
      </p:sp>
      <p:cxnSp>
        <p:nvCxnSpPr>
          <p:cNvPr id="25" name="Straight Arrow Connector 24"/>
          <p:cNvCxnSpPr/>
          <p:nvPr/>
        </p:nvCxnSpPr>
        <p:spPr>
          <a:xfrm flipH="1">
            <a:off x="9452095" y="2442574"/>
            <a:ext cx="60489" cy="1233125"/>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24" idx="1"/>
          </p:cNvCxnSpPr>
          <p:nvPr/>
        </p:nvCxnSpPr>
        <p:spPr>
          <a:xfrm flipH="1">
            <a:off x="6029997" y="2605052"/>
            <a:ext cx="2301246" cy="1422746"/>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pic>
        <p:nvPicPr>
          <p:cNvPr id="14" name="Picture 13"/>
          <p:cNvPicPr>
            <a:picLocks noChangeAspect="1"/>
          </p:cNvPicPr>
          <p:nvPr/>
        </p:nvPicPr>
        <p:blipFill>
          <a:blip r:embed="rId5"/>
          <a:stretch>
            <a:fillRect/>
          </a:stretch>
        </p:blipFill>
        <p:spPr>
          <a:xfrm>
            <a:off x="6895241" y="3854392"/>
            <a:ext cx="4746861" cy="2050419"/>
          </a:xfrm>
          <a:prstGeom prst="rect">
            <a:avLst/>
          </a:prstGeom>
          <a:ln w="3175">
            <a:solidFill>
              <a:schemeClr val="tx1"/>
            </a:solidFill>
          </a:ln>
        </p:spPr>
      </p:pic>
      <p:sp>
        <p:nvSpPr>
          <p:cNvPr id="15" name="Rectangle 14"/>
          <p:cNvSpPr/>
          <p:nvPr/>
        </p:nvSpPr>
        <p:spPr>
          <a:xfrm>
            <a:off x="6901841" y="4495081"/>
            <a:ext cx="3770334" cy="7945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7" name="Rectangle 26"/>
          <p:cNvSpPr/>
          <p:nvPr/>
        </p:nvSpPr>
        <p:spPr bwMode="invGray">
          <a:xfrm>
            <a:off x="6905505" y="4131583"/>
            <a:ext cx="2607079" cy="363498"/>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16" name="Picture 15"/>
          <p:cNvPicPr>
            <a:picLocks noChangeAspect="1"/>
          </p:cNvPicPr>
          <p:nvPr/>
        </p:nvPicPr>
        <p:blipFill>
          <a:blip r:embed="rId6"/>
          <a:stretch>
            <a:fillRect/>
          </a:stretch>
        </p:blipFill>
        <p:spPr>
          <a:xfrm>
            <a:off x="1167161" y="3904497"/>
            <a:ext cx="4758153" cy="2037892"/>
          </a:xfrm>
          <a:prstGeom prst="rect">
            <a:avLst/>
          </a:prstGeom>
          <a:ln w="3175">
            <a:solidFill>
              <a:schemeClr val="tx1"/>
            </a:solidFill>
          </a:ln>
        </p:spPr>
      </p:pic>
    </p:spTree>
    <p:custDataLst>
      <p:tags r:id="rId1"/>
    </p:custDataLst>
    <p:extLst>
      <p:ext uri="{BB962C8B-B14F-4D97-AF65-F5344CB8AC3E}">
        <p14:creationId xmlns:p14="http://schemas.microsoft.com/office/powerpoint/2010/main" val="2295977407"/>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4"/>
          <a:stretch>
            <a:fillRect/>
          </a:stretch>
        </p:blipFill>
        <p:spPr>
          <a:xfrm>
            <a:off x="7631887" y="4222924"/>
            <a:ext cx="3323383" cy="683140"/>
          </a:xfrm>
          <a:prstGeom prst="rect">
            <a:avLst/>
          </a:prstGeom>
          <a:ln>
            <a:solidFill>
              <a:schemeClr val="tx1"/>
            </a:solidFill>
          </a:ln>
        </p:spPr>
      </p:pic>
      <p:sp>
        <p:nvSpPr>
          <p:cNvPr id="23554" name="Title 1"/>
          <p:cNvSpPr>
            <a:spLocks noGrp="1"/>
          </p:cNvSpPr>
          <p:nvPr>
            <p:ph type="title"/>
          </p:nvPr>
        </p:nvSpPr>
        <p:spPr/>
        <p:txBody>
          <a:bodyPr>
            <a:normAutofit/>
          </a:bodyPr>
          <a:lstStyle/>
          <a:p>
            <a:r>
              <a:rPr lang="en-US" dirty="0">
                <a:latin typeface="+mj-lt"/>
              </a:rPr>
              <a:t>Configuration File Format</a:t>
            </a:r>
          </a:p>
        </p:txBody>
      </p:sp>
      <p:sp>
        <p:nvSpPr>
          <p:cNvPr id="3" name="Text Placeholder 2"/>
          <p:cNvSpPr>
            <a:spLocks noGrp="1"/>
          </p:cNvSpPr>
          <p:nvPr>
            <p:ph idx="1"/>
          </p:nvPr>
        </p:nvSpPr>
        <p:spPr/>
        <p:txBody>
          <a:bodyPr>
            <a:normAutofit/>
          </a:bodyPr>
          <a:lstStyle/>
          <a:p>
            <a:pPr>
              <a:buFont typeface="Times" pitchFamily="18" charset="0"/>
              <a:buChar char="•"/>
            </a:pPr>
            <a:endParaRPr lang="en-US" dirty="0">
              <a:latin typeface="Arial Narrow" pitchFamily="34" charset="0"/>
              <a:cs typeface="Arial" charset="0"/>
            </a:endParaRPr>
          </a:p>
          <a:p>
            <a:pPr marL="0" indent="0">
              <a:buNone/>
            </a:pPr>
            <a:endParaRPr lang="en-US" dirty="0">
              <a:latin typeface="Arial Narrow" pitchFamily="34" charset="0"/>
              <a:cs typeface="Arial" charset="0"/>
            </a:endParaRPr>
          </a:p>
          <a:p>
            <a:pPr>
              <a:buFont typeface="Times" pitchFamily="18" charset="0"/>
              <a:buChar char="•"/>
            </a:pPr>
            <a:endParaRPr lang="en-US" dirty="0">
              <a:latin typeface="Arial Narrow" pitchFamily="34" charset="0"/>
              <a:cs typeface="Arial" charset="0"/>
            </a:endParaRPr>
          </a:p>
          <a:p>
            <a:pPr marL="0" indent="0">
              <a:buNone/>
            </a:pPr>
            <a:endParaRPr lang="en-US" dirty="0">
              <a:latin typeface="Arial Narrow" pitchFamily="34" charset="0"/>
              <a:cs typeface="Arial" charset="0"/>
            </a:endParaRPr>
          </a:p>
          <a:p>
            <a:pPr>
              <a:buFont typeface="Times" pitchFamily="18" charset="0"/>
              <a:buChar char="•"/>
            </a:pPr>
            <a:endParaRPr lang="en-US" dirty="0">
              <a:latin typeface="Arial Narrow" pitchFamily="34" charset="0"/>
              <a:cs typeface="Arial" charset="0"/>
            </a:endParaRPr>
          </a:p>
          <a:p>
            <a:pPr>
              <a:buFont typeface="Times" pitchFamily="18" charset="0"/>
              <a:buChar char="•"/>
            </a:pPr>
            <a:r>
              <a:rPr lang="en-US" dirty="0">
                <a:cs typeface="Arial" charset="0"/>
              </a:rPr>
              <a:t>Only non-default and important settings (smaller file size)</a:t>
            </a:r>
            <a:endParaRPr lang="en-US" dirty="0"/>
          </a:p>
          <a:p>
            <a:pPr>
              <a:buFont typeface="Times" pitchFamily="18" charset="0"/>
              <a:buChar char="•"/>
            </a:pPr>
            <a:r>
              <a:rPr lang="en-US" dirty="0">
                <a:solidFill>
                  <a:schemeClr val="tx1"/>
                </a:solidFill>
                <a:cs typeface="Arial" charset="0"/>
              </a:rPr>
              <a:t>Header shows device model and firmware</a:t>
            </a:r>
          </a:p>
          <a:p>
            <a:pPr lvl="1"/>
            <a:r>
              <a:rPr lang="en-US" dirty="0">
                <a:solidFill>
                  <a:schemeClr val="tx1"/>
                </a:solidFill>
                <a:cs typeface="Arial" charset="0"/>
              </a:rPr>
              <a:t>After the header, the encrypted file is not readable</a:t>
            </a:r>
            <a:endParaRPr lang="en-US" dirty="0">
              <a:cs typeface="Arial" charset="0"/>
            </a:endParaRPr>
          </a:p>
          <a:p>
            <a:r>
              <a:rPr lang="en-US" dirty="0">
                <a:cs typeface="Arial" charset="0"/>
              </a:rPr>
              <a:t>Restoring configuration</a:t>
            </a:r>
          </a:p>
          <a:p>
            <a:pPr lvl="1"/>
            <a:r>
              <a:rPr lang="en-US" dirty="0">
                <a:cs typeface="Arial" charset="0"/>
              </a:rPr>
              <a:t>Encrypted?</a:t>
            </a:r>
            <a:r>
              <a:rPr lang="en-US" b="1" dirty="0">
                <a:cs typeface="Arial" charset="0"/>
              </a:rPr>
              <a:t> </a:t>
            </a:r>
            <a:r>
              <a:rPr lang="en-US" dirty="0">
                <a:cs typeface="Arial" charset="0"/>
              </a:rPr>
              <a:t>Same device/model + build + password required</a:t>
            </a:r>
          </a:p>
          <a:p>
            <a:pPr lvl="1"/>
            <a:r>
              <a:rPr lang="en-US" dirty="0">
                <a:cs typeface="Arial" charset="0"/>
              </a:rPr>
              <a:t>Unencrypted? Same model required</a:t>
            </a:r>
          </a:p>
        </p:txBody>
      </p:sp>
      <p:sp>
        <p:nvSpPr>
          <p:cNvPr id="7" name="Text Box 17"/>
          <p:cNvSpPr txBox="1">
            <a:spLocks noChangeArrowheads="1"/>
          </p:cNvSpPr>
          <p:nvPr/>
        </p:nvSpPr>
        <p:spPr bwMode="auto">
          <a:xfrm>
            <a:off x="3693929" y="975600"/>
            <a:ext cx="1272101" cy="40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l"/>
            <a:r>
              <a:rPr lang="en-US" sz="1800" dirty="0">
                <a:solidFill>
                  <a:srgbClr val="FF0000"/>
                </a:solidFill>
                <a:latin typeface="+mn-lt"/>
              </a:rPr>
              <a:t>Plain text</a:t>
            </a:r>
          </a:p>
        </p:txBody>
      </p:sp>
      <p:sp>
        <p:nvSpPr>
          <p:cNvPr id="8" name="Text Box 17"/>
          <p:cNvSpPr txBox="1">
            <a:spLocks noChangeArrowheads="1"/>
          </p:cNvSpPr>
          <p:nvPr/>
        </p:nvSpPr>
        <p:spPr bwMode="auto">
          <a:xfrm>
            <a:off x="9391962" y="3175704"/>
            <a:ext cx="1374693" cy="40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algn="ctr"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algn="ctr"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algn="ctr"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algn="ctr" eaLnBrk="0" fontAlgn="base" hangingPunct="0">
              <a:spcBef>
                <a:spcPct val="0"/>
              </a:spcBef>
              <a:spcAft>
                <a:spcPct val="0"/>
              </a:spcAft>
              <a:defRPr sz="2400" b="1">
                <a:solidFill>
                  <a:schemeClr val="tx1"/>
                </a:solidFill>
                <a:latin typeface="Arial" charset="0"/>
                <a:ea typeface="MS PGothic" pitchFamily="34" charset="-128"/>
              </a:defRPr>
            </a:lvl9pPr>
          </a:lstStyle>
          <a:p>
            <a:pPr algn="l"/>
            <a:r>
              <a:rPr lang="en-US" sz="1800" dirty="0">
                <a:solidFill>
                  <a:srgbClr val="FF0000"/>
                </a:solidFill>
                <a:latin typeface="+mn-lt"/>
              </a:rPr>
              <a:t>Encrypted</a:t>
            </a:r>
          </a:p>
        </p:txBody>
      </p:sp>
      <p:sp>
        <p:nvSpPr>
          <p:cNvPr id="4" name="Rounded Rectangular Callout 3"/>
          <p:cNvSpPr/>
          <p:nvPr/>
        </p:nvSpPr>
        <p:spPr bwMode="invGray">
          <a:xfrm>
            <a:off x="6604354" y="2033702"/>
            <a:ext cx="1460923" cy="619563"/>
          </a:xfrm>
          <a:prstGeom prst="wedgeRoundRectCallout">
            <a:avLst>
              <a:gd name="adj1" fmla="val -101071"/>
              <a:gd name="adj2" fmla="val -119493"/>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a:p>
            <a:pPr algn="ctr"/>
            <a:r>
              <a:rPr lang="en-US" dirty="0"/>
              <a:t>Build number</a:t>
            </a:r>
          </a:p>
          <a:p>
            <a:pPr algn="ctr"/>
            <a:endParaRPr lang="en-CA" dirty="0"/>
          </a:p>
        </p:txBody>
      </p:sp>
      <p:sp>
        <p:nvSpPr>
          <p:cNvPr id="18" name="Rounded Rectangular Callout 17"/>
          <p:cNvSpPr/>
          <p:nvPr/>
        </p:nvSpPr>
        <p:spPr bwMode="invGray">
          <a:xfrm>
            <a:off x="3165265" y="2528959"/>
            <a:ext cx="2995779" cy="445690"/>
          </a:xfrm>
          <a:prstGeom prst="wedgeRoundRectCallout">
            <a:avLst>
              <a:gd name="adj1" fmla="val -5247"/>
              <a:gd name="adj2" fmla="val -247430"/>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0000"/>
              </a:solidFill>
            </a:endParaRPr>
          </a:p>
          <a:p>
            <a:pPr algn="ctr"/>
            <a:r>
              <a:rPr lang="en-US" dirty="0"/>
              <a:t>Firmware major version</a:t>
            </a:r>
          </a:p>
          <a:p>
            <a:pPr algn="ctr"/>
            <a:endParaRPr lang="en-CA" dirty="0"/>
          </a:p>
        </p:txBody>
      </p:sp>
      <p:sp>
        <p:nvSpPr>
          <p:cNvPr id="26" name="Rounded Rectangular Callout 25"/>
          <p:cNvSpPr/>
          <p:nvPr/>
        </p:nvSpPr>
        <p:spPr bwMode="invGray">
          <a:xfrm>
            <a:off x="743382" y="1120635"/>
            <a:ext cx="913028" cy="375369"/>
          </a:xfrm>
          <a:prstGeom prst="wedgeRoundRectCallout">
            <a:avLst>
              <a:gd name="adj1" fmla="val 253915"/>
              <a:gd name="adj2" fmla="val 32689"/>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a:t>Model </a:t>
            </a:r>
          </a:p>
        </p:txBody>
      </p:sp>
      <p:sp>
        <p:nvSpPr>
          <p:cNvPr id="17" name="Rounded Rectangular Callout 16"/>
          <p:cNvSpPr/>
          <p:nvPr/>
        </p:nvSpPr>
        <p:spPr bwMode="invGray">
          <a:xfrm>
            <a:off x="6977193" y="5341767"/>
            <a:ext cx="913028" cy="375369"/>
          </a:xfrm>
          <a:prstGeom prst="wedgeRoundRectCallout">
            <a:avLst>
              <a:gd name="adj1" fmla="val 165336"/>
              <a:gd name="adj2" fmla="val -399134"/>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a:t>Model</a:t>
            </a:r>
          </a:p>
        </p:txBody>
      </p:sp>
      <p:sp>
        <p:nvSpPr>
          <p:cNvPr id="28" name="Rounded Rectangular Callout 27"/>
          <p:cNvSpPr/>
          <p:nvPr/>
        </p:nvSpPr>
        <p:spPr bwMode="invGray">
          <a:xfrm>
            <a:off x="8386851" y="5221688"/>
            <a:ext cx="2995779" cy="445690"/>
          </a:xfrm>
          <a:prstGeom prst="wedgeRoundRectCallout">
            <a:avLst>
              <a:gd name="adj1" fmla="val -878"/>
              <a:gd name="adj2" fmla="val -303266"/>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FF0000"/>
              </a:solidFill>
            </a:endParaRPr>
          </a:p>
          <a:p>
            <a:pPr algn="ctr"/>
            <a:r>
              <a:rPr lang="en-US" dirty="0"/>
              <a:t>Firmware major version</a:t>
            </a:r>
          </a:p>
          <a:p>
            <a:pPr algn="ctr"/>
            <a:endParaRPr lang="en-CA" dirty="0"/>
          </a:p>
        </p:txBody>
      </p:sp>
      <p:sp>
        <p:nvSpPr>
          <p:cNvPr id="2" name="Rounded Rectangular Callout 1"/>
          <p:cNvSpPr/>
          <p:nvPr/>
        </p:nvSpPr>
        <p:spPr bwMode="invGray">
          <a:xfrm>
            <a:off x="10197644" y="2201010"/>
            <a:ext cx="1329128" cy="688490"/>
          </a:xfrm>
          <a:prstGeom prst="wedgeRoundRectCallout">
            <a:avLst>
              <a:gd name="adj1" fmla="val 4245"/>
              <a:gd name="adj2" fmla="val 219605"/>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dirty="0"/>
              <a:t>Build number</a:t>
            </a:r>
          </a:p>
        </p:txBody>
      </p:sp>
      <p:sp>
        <p:nvSpPr>
          <p:cNvPr id="9" name="TextBox 8"/>
          <p:cNvSpPr txBox="1"/>
          <p:nvPr/>
        </p:nvSpPr>
        <p:spPr>
          <a:xfrm>
            <a:off x="7480797" y="3864233"/>
            <a:ext cx="3730752" cy="369332"/>
          </a:xfrm>
          <a:prstGeom prst="rect">
            <a:avLst/>
          </a:prstGeom>
          <a:noFill/>
        </p:spPr>
        <p:txBody>
          <a:bodyPr wrap="square" rtlCol="0">
            <a:spAutoFit/>
          </a:bodyPr>
          <a:lstStyle/>
          <a:p>
            <a:r>
              <a:rPr lang="en-CA" dirty="0">
                <a:latin typeface="Courier New" panose="02070309020205020404" pitchFamily="49" charset="0"/>
                <a:cs typeface="Courier New" panose="02070309020205020404" pitchFamily="49" charset="0"/>
              </a:rPr>
              <a:t>#</a:t>
            </a:r>
            <a:r>
              <a:rPr lang="en-CA" dirty="0" smtClean="0">
                <a:latin typeface="Courier New" panose="02070309020205020404" pitchFamily="49" charset="0"/>
                <a:cs typeface="Courier New" panose="02070309020205020404" pitchFamily="49" charset="0"/>
              </a:rPr>
              <a:t>FGBK|3|FGVM64|7|02|1157|</a:t>
            </a:r>
            <a:endParaRPr lang="en-CA" dirty="0">
              <a:latin typeface="Courier New" panose="02070309020205020404" pitchFamily="49" charset="0"/>
              <a:cs typeface="Courier New" panose="02070309020205020404" pitchFamily="49" charset="0"/>
            </a:endParaRPr>
          </a:p>
        </p:txBody>
      </p:sp>
      <p:sp>
        <p:nvSpPr>
          <p:cNvPr id="10" name="Rectangle 9"/>
          <p:cNvSpPr/>
          <p:nvPr/>
        </p:nvSpPr>
        <p:spPr bwMode="invGray">
          <a:xfrm>
            <a:off x="8655323" y="3895259"/>
            <a:ext cx="865632" cy="316992"/>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9" name="Rectangle 18"/>
          <p:cNvSpPr/>
          <p:nvPr/>
        </p:nvSpPr>
        <p:spPr bwMode="invGray">
          <a:xfrm>
            <a:off x="9600236" y="3874906"/>
            <a:ext cx="569011" cy="316992"/>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23" name="Rectangle 22"/>
          <p:cNvSpPr/>
          <p:nvPr/>
        </p:nvSpPr>
        <p:spPr bwMode="invGray">
          <a:xfrm>
            <a:off x="10273012" y="3874906"/>
            <a:ext cx="682258" cy="316992"/>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27" name="TextBox 26"/>
          <p:cNvSpPr txBox="1"/>
          <p:nvPr/>
        </p:nvSpPr>
        <p:spPr>
          <a:xfrm>
            <a:off x="1562328" y="1373797"/>
            <a:ext cx="8857019" cy="954107"/>
          </a:xfrm>
          <a:prstGeom prst="rect">
            <a:avLst/>
          </a:prstGeom>
          <a:noFill/>
        </p:spPr>
        <p:txBody>
          <a:bodyPr wrap="square" rtlCol="0">
            <a:spAutoFit/>
          </a:bodyPr>
          <a:lstStyle/>
          <a:p>
            <a:r>
              <a:rPr lang="en-CA" sz="1400" dirty="0">
                <a:latin typeface="Courier New" panose="02070309020205020404" pitchFamily="49" charset="0"/>
                <a:cs typeface="Courier New" panose="02070309020205020404" pitchFamily="49" charset="0"/>
              </a:rPr>
              <a:t>#</a:t>
            </a:r>
            <a:r>
              <a:rPr lang="en-CA" sz="1400" dirty="0" err="1" smtClean="0">
                <a:latin typeface="Courier New" panose="02070309020205020404" pitchFamily="49" charset="0"/>
                <a:cs typeface="Courier New" panose="02070309020205020404" pitchFamily="49" charset="0"/>
              </a:rPr>
              <a:t>config</a:t>
            </a:r>
            <a:r>
              <a:rPr lang="en-CA" sz="1400" dirty="0" smtClean="0">
                <a:latin typeface="Courier New" panose="02070309020205020404" pitchFamily="49" charset="0"/>
                <a:cs typeface="Courier New" panose="02070309020205020404" pitchFamily="49" charset="0"/>
              </a:rPr>
              <a:t>-version=FGVM64-7.2.0-FW-build1157-220331:opmode=0:vdom=0:user=admin</a:t>
            </a:r>
            <a:endParaRPr lang="en-CA" sz="1400" dirty="0">
              <a:latin typeface="Courier New" panose="02070309020205020404" pitchFamily="49" charset="0"/>
              <a:cs typeface="Courier New" panose="02070309020205020404" pitchFamily="49" charset="0"/>
            </a:endParaRPr>
          </a:p>
          <a:p>
            <a:r>
              <a:rPr lang="en-CA" sz="1400" dirty="0">
                <a:latin typeface="Courier New" panose="02070309020205020404" pitchFamily="49" charset="0"/>
                <a:cs typeface="Courier New" panose="02070309020205020404" pitchFamily="49" charset="0"/>
              </a:rPr>
              <a:t>#</a:t>
            </a:r>
            <a:r>
              <a:rPr lang="en-CA" sz="1400" dirty="0" err="1">
                <a:latin typeface="Courier New" panose="02070309020205020404" pitchFamily="49" charset="0"/>
                <a:cs typeface="Courier New" panose="02070309020205020404" pitchFamily="49" charset="0"/>
              </a:rPr>
              <a:t>conf_file_ver</a:t>
            </a:r>
            <a:r>
              <a:rPr lang="en-CA" sz="1400" dirty="0">
                <a:latin typeface="Courier New" panose="02070309020205020404" pitchFamily="49" charset="0"/>
                <a:cs typeface="Courier New" panose="02070309020205020404" pitchFamily="49" charset="0"/>
              </a:rPr>
              <a:t>=204466213140978</a:t>
            </a:r>
          </a:p>
          <a:p>
            <a:r>
              <a:rPr lang="en-CA" sz="1400" dirty="0">
                <a:latin typeface="Courier New" panose="02070309020205020404" pitchFamily="49" charset="0"/>
                <a:cs typeface="Courier New" panose="02070309020205020404" pitchFamily="49" charset="0"/>
              </a:rPr>
              <a:t>#</a:t>
            </a:r>
            <a:r>
              <a:rPr lang="en-CA" sz="1400" dirty="0" err="1" smtClean="0">
                <a:latin typeface="Courier New" panose="02070309020205020404" pitchFamily="49" charset="0"/>
                <a:cs typeface="Courier New" panose="02070309020205020404" pitchFamily="49" charset="0"/>
              </a:rPr>
              <a:t>buildno</a:t>
            </a:r>
            <a:r>
              <a:rPr lang="en-CA" sz="1400" dirty="0" smtClean="0">
                <a:latin typeface="Courier New" panose="02070309020205020404" pitchFamily="49" charset="0"/>
                <a:cs typeface="Courier New" panose="02070309020205020404" pitchFamily="49" charset="0"/>
              </a:rPr>
              <a:t>=1157</a:t>
            </a:r>
            <a:endParaRPr lang="en-CA" sz="1400" dirty="0">
              <a:latin typeface="Courier New" panose="02070309020205020404" pitchFamily="49" charset="0"/>
              <a:cs typeface="Courier New" panose="02070309020205020404" pitchFamily="49" charset="0"/>
            </a:endParaRPr>
          </a:p>
          <a:p>
            <a:r>
              <a:rPr lang="en-CA" sz="1400" dirty="0">
                <a:latin typeface="Courier New" panose="02070309020205020404" pitchFamily="49" charset="0"/>
                <a:cs typeface="Courier New" panose="02070309020205020404" pitchFamily="49" charset="0"/>
              </a:rPr>
              <a:t>#</a:t>
            </a:r>
            <a:r>
              <a:rPr lang="en-CA" sz="1400" dirty="0" err="1">
                <a:latin typeface="Courier New" panose="02070309020205020404" pitchFamily="49" charset="0"/>
                <a:cs typeface="Courier New" panose="02070309020205020404" pitchFamily="49" charset="0"/>
              </a:rPr>
              <a:t>global_vdom</a:t>
            </a:r>
            <a:r>
              <a:rPr lang="en-CA" sz="1400" dirty="0">
                <a:latin typeface="Courier New" panose="02070309020205020404" pitchFamily="49" charset="0"/>
                <a:cs typeface="Courier New" panose="02070309020205020404" pitchFamily="49" charset="0"/>
              </a:rPr>
              <a:t>=1</a:t>
            </a:r>
          </a:p>
        </p:txBody>
      </p:sp>
      <p:sp>
        <p:nvSpPr>
          <p:cNvPr id="22" name="Rectangle 21"/>
          <p:cNvSpPr/>
          <p:nvPr/>
        </p:nvSpPr>
        <p:spPr bwMode="invGray">
          <a:xfrm>
            <a:off x="3340437" y="1398181"/>
            <a:ext cx="646176" cy="21383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24" name="Rectangle 23"/>
          <p:cNvSpPr/>
          <p:nvPr/>
        </p:nvSpPr>
        <p:spPr bwMode="invGray">
          <a:xfrm>
            <a:off x="4084149" y="1421009"/>
            <a:ext cx="548640" cy="179636"/>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25" name="Rectangle 24"/>
          <p:cNvSpPr/>
          <p:nvPr/>
        </p:nvSpPr>
        <p:spPr bwMode="invGray">
          <a:xfrm>
            <a:off x="5022933" y="1373797"/>
            <a:ext cx="1040575" cy="23821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custDataLst>
      <p:tags r:id="rId1"/>
    </p:custDataLst>
    <p:extLst>
      <p:ext uri="{BB962C8B-B14F-4D97-AF65-F5344CB8AC3E}">
        <p14:creationId xmlns:p14="http://schemas.microsoft.com/office/powerpoint/2010/main" val="40035624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26" grpId="0" animBg="1"/>
      <p:bldP spid="17" grpId="0" animBg="1"/>
      <p:bldP spid="28"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File </a:t>
            </a:r>
            <a:r>
              <a:rPr lang="en-US" dirty="0" smtClean="0"/>
              <a:t>Format (</a:t>
            </a:r>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r>
              <a:rPr lang="en-GB" dirty="0" smtClean="0"/>
              <a:t>Support YAML</a:t>
            </a:r>
          </a:p>
          <a:p>
            <a:r>
              <a:rPr lang="en-GB" dirty="0" smtClean="0"/>
              <a:t>Configuration can be </a:t>
            </a:r>
            <a:r>
              <a:rPr lang="en-GB" dirty="0" err="1" smtClean="0"/>
              <a:t>backedup</a:t>
            </a:r>
            <a:r>
              <a:rPr lang="en-GB" dirty="0" smtClean="0"/>
              <a:t> and restored by CLI only</a:t>
            </a:r>
          </a:p>
          <a:p>
            <a:pPr lvl="1"/>
            <a:r>
              <a:rPr lang="en-US" dirty="0">
                <a:latin typeface="Courier New" panose="02070309020205020404" pitchFamily="49" charset="0"/>
                <a:cs typeface="Courier New" panose="02070309020205020404" pitchFamily="49" charset="0"/>
              </a:rPr>
              <a:t># execute backup </a:t>
            </a:r>
            <a:r>
              <a:rPr lang="en-US" dirty="0" err="1">
                <a:latin typeface="Courier New" panose="02070309020205020404" pitchFamily="49" charset="0"/>
                <a:cs typeface="Courier New" panose="02070309020205020404" pitchFamily="49" charset="0"/>
              </a:rPr>
              <a:t>yaml-config</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{ftp </a:t>
            </a:r>
            <a:r>
              <a:rPr lang="en-US" dirty="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tftp</a:t>
            </a:r>
            <a:r>
              <a:rPr lang="en-US" dirty="0" smtClean="0">
                <a:latin typeface="Courier New" panose="02070309020205020404" pitchFamily="49" charset="0"/>
                <a:cs typeface="Courier New" panose="02070309020205020404" pitchFamily="49" charset="0"/>
              </a:rPr>
              <a:t>} &lt;filename&gt; </a:t>
            </a:r>
            <a:r>
              <a:rPr lang="en-US" dirty="0">
                <a:latin typeface="Courier New" panose="02070309020205020404" pitchFamily="49" charset="0"/>
                <a:cs typeface="Courier New" panose="02070309020205020404" pitchFamily="49" charset="0"/>
              </a:rPr>
              <a:t>server </a:t>
            </a:r>
            <a:r>
              <a:rPr lang="en-US" dirty="0" smtClean="0">
                <a:latin typeface="Courier New" panose="02070309020205020404" pitchFamily="49" charset="0"/>
                <a:cs typeface="Courier New" panose="02070309020205020404" pitchFamily="49" charset="0"/>
              </a:rPr>
              <a:t>[username] [password]</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 execute </a:t>
            </a:r>
            <a:r>
              <a:rPr lang="en-US" dirty="0" smtClean="0">
                <a:latin typeface="Courier New" panose="02070309020205020404" pitchFamily="49" charset="0"/>
                <a:cs typeface="Courier New" panose="02070309020205020404" pitchFamily="49" charset="0"/>
              </a:rPr>
              <a:t>restore </a:t>
            </a:r>
            <a:r>
              <a:rPr lang="en-US" dirty="0" err="1">
                <a:latin typeface="Courier New" panose="02070309020205020404" pitchFamily="49" charset="0"/>
                <a:cs typeface="Courier New" panose="02070309020205020404" pitchFamily="49" charset="0"/>
              </a:rPr>
              <a:t>yaml-config</a:t>
            </a:r>
            <a:r>
              <a:rPr lang="en-US" dirty="0">
                <a:latin typeface="Courier New" panose="02070309020205020404" pitchFamily="49" charset="0"/>
                <a:cs typeface="Courier New" panose="02070309020205020404" pitchFamily="49" charset="0"/>
              </a:rPr>
              <a:t> {ftp | </a:t>
            </a:r>
            <a:r>
              <a:rPr lang="en-US" dirty="0" err="1">
                <a:latin typeface="Courier New" panose="02070309020205020404" pitchFamily="49" charset="0"/>
                <a:cs typeface="Courier New" panose="02070309020205020404" pitchFamily="49" charset="0"/>
              </a:rPr>
              <a:t>tftp</a:t>
            </a:r>
            <a:r>
              <a:rPr lang="en-US" dirty="0">
                <a:latin typeface="Courier New" panose="02070309020205020404" pitchFamily="49" charset="0"/>
                <a:cs typeface="Courier New" panose="02070309020205020404" pitchFamily="49" charset="0"/>
              </a:rPr>
              <a:t>} &lt;filename&gt; server [username] [password]</a:t>
            </a:r>
          </a:p>
        </p:txBody>
      </p:sp>
      <p:sp>
        <p:nvSpPr>
          <p:cNvPr id="4" name="Rectangle 3"/>
          <p:cNvSpPr/>
          <p:nvPr/>
        </p:nvSpPr>
        <p:spPr>
          <a:xfrm>
            <a:off x="370114" y="2960914"/>
            <a:ext cx="6096000" cy="34181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5" name="Rectangle 4"/>
          <p:cNvSpPr/>
          <p:nvPr/>
        </p:nvSpPr>
        <p:spPr>
          <a:xfrm>
            <a:off x="6342420" y="2960914"/>
            <a:ext cx="5299682" cy="2862322"/>
          </a:xfrm>
          <a:prstGeom prst="rect">
            <a:avLst/>
          </a:prstGeom>
        </p:spPr>
        <p:txBody>
          <a:bodyPr wrap="square">
            <a:spAutoFit/>
          </a:bodyPr>
          <a:lstStyle/>
          <a:p>
            <a:r>
              <a:rPr lang="pt-BR" sz="1200" dirty="0" smtClean="0">
                <a:latin typeface="Courier New" panose="02070309020205020404" pitchFamily="49" charset="0"/>
                <a:cs typeface="Courier New" panose="02070309020205020404" pitchFamily="49" charset="0"/>
              </a:rPr>
              <a:t>config_system_global: </a:t>
            </a:r>
          </a:p>
          <a:p>
            <a:r>
              <a:rPr lang="pt-BR" sz="1200" dirty="0" smtClean="0">
                <a:latin typeface="Courier New" panose="02070309020205020404" pitchFamily="49" charset="0"/>
                <a:cs typeface="Courier New" panose="02070309020205020404" pitchFamily="49" charset="0"/>
              </a:rPr>
              <a:t>    admintimeout:480 </a:t>
            </a:r>
          </a:p>
          <a:p>
            <a:r>
              <a:rPr lang="pt-BR" sz="1200" dirty="0" smtClean="0">
                <a:latin typeface="Courier New" panose="02070309020205020404" pitchFamily="49" charset="0"/>
                <a:cs typeface="Courier New" panose="02070309020205020404" pitchFamily="49" charset="0"/>
              </a:rPr>
              <a:t>    alias:</a:t>
            </a:r>
            <a:r>
              <a:rPr lang="pt-BR" sz="1200" dirty="0" smtClean="0">
                <a:solidFill>
                  <a:srgbClr val="173D64"/>
                </a:solidFill>
                <a:latin typeface="Courier New" panose="02070309020205020404" pitchFamily="49" charset="0"/>
                <a:cs typeface="Courier New" panose="02070309020205020404" pitchFamily="49" charset="0"/>
              </a:rPr>
              <a:t>FortiGate-100F</a:t>
            </a:r>
          </a:p>
          <a:p>
            <a:r>
              <a:rPr lang="pt-BR" sz="1200" dirty="0" smtClean="0">
                <a:latin typeface="Courier New" panose="02070309020205020404" pitchFamily="49" charset="0"/>
                <a:cs typeface="Courier New" panose="02070309020205020404" pitchFamily="49" charset="0"/>
              </a:rPr>
              <a:t>config_system_settings: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default-voip-alg-mode: </a:t>
            </a:r>
            <a:r>
              <a:rPr lang="pt-BR" sz="1200" dirty="0" smtClean="0">
                <a:solidFill>
                  <a:srgbClr val="173D64"/>
                </a:solidFill>
                <a:latin typeface="Courier New" panose="02070309020205020404" pitchFamily="49" charset="0"/>
                <a:cs typeface="Courier New" panose="02070309020205020404" pitchFamily="49" charset="0"/>
              </a:rPr>
              <a:t>kernel-helper-based</a:t>
            </a:r>
            <a:r>
              <a:rPr lang="pt-BR" sz="1200" dirty="0" smtClean="0">
                <a:latin typeface="Courier New" panose="02070309020205020404" pitchFamily="49" charset="0"/>
                <a:cs typeface="Courier New" panose="02070309020205020404" pitchFamily="49" charset="0"/>
              </a:rPr>
              <a:t>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gui-dynamic-routing: </a:t>
            </a:r>
            <a:r>
              <a:rPr lang="pt-BR" sz="1200" dirty="0" smtClean="0">
                <a:solidFill>
                  <a:srgbClr val="173D64"/>
                </a:solidFill>
                <a:latin typeface="Courier New" panose="02070309020205020404" pitchFamily="49" charset="0"/>
                <a:cs typeface="Courier New" panose="02070309020205020404" pitchFamily="49" charset="0"/>
              </a:rPr>
              <a:t>enable</a:t>
            </a:r>
            <a:r>
              <a:rPr lang="pt-BR" sz="1200" dirty="0" smtClean="0">
                <a:latin typeface="Courier New" panose="02070309020205020404" pitchFamily="49" charset="0"/>
                <a:cs typeface="Courier New" panose="02070309020205020404" pitchFamily="49" charset="0"/>
              </a:rPr>
              <a:t> </a:t>
            </a:r>
          </a:p>
          <a:p>
            <a:r>
              <a:rPr lang="pt-BR" sz="1200" dirty="0" smtClean="0">
                <a:latin typeface="Courier New" panose="02070309020205020404" pitchFamily="49" charset="0"/>
                <a:cs typeface="Courier New" panose="02070309020205020404" pitchFamily="49" charset="0"/>
              </a:rPr>
              <a:t>config_system_interface: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 port1: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vdom: </a:t>
            </a:r>
            <a:r>
              <a:rPr lang="pt-BR" sz="1200" dirty="0" smtClean="0">
                <a:solidFill>
                  <a:srgbClr val="173D64"/>
                </a:solidFill>
                <a:latin typeface="Courier New" panose="02070309020205020404" pitchFamily="49" charset="0"/>
                <a:cs typeface="Courier New" panose="02070309020205020404" pitchFamily="49" charset="0"/>
              </a:rPr>
              <a:t>root</a:t>
            </a:r>
            <a:r>
              <a:rPr lang="pt-BR" sz="1200" dirty="0" smtClean="0">
                <a:latin typeface="Courier New" panose="02070309020205020404" pitchFamily="49" charset="0"/>
                <a:cs typeface="Courier New" panose="02070309020205020404" pitchFamily="49" charset="0"/>
              </a:rPr>
              <a:t>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ip: </a:t>
            </a:r>
            <a:r>
              <a:rPr lang="pt-BR" sz="1200" dirty="0" smtClean="0">
                <a:solidFill>
                  <a:srgbClr val="173D64"/>
                </a:solidFill>
                <a:latin typeface="Courier New" panose="02070309020205020404" pitchFamily="49" charset="0"/>
                <a:cs typeface="Courier New" panose="02070309020205020404" pitchFamily="49" charset="0"/>
              </a:rPr>
              <a:t>"204.126.10.3 255.255.254.0"</a:t>
            </a:r>
            <a:r>
              <a:rPr lang="pt-BR" sz="1200" dirty="0" smtClean="0">
                <a:latin typeface="Courier New" panose="02070309020205020404" pitchFamily="49" charset="0"/>
                <a:cs typeface="Courier New" panose="02070309020205020404" pitchFamily="49" charset="0"/>
              </a:rPr>
              <a:t>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allowaccess: </a:t>
            </a:r>
            <a:r>
              <a:rPr lang="pt-BR" sz="1200" dirty="0" smtClean="0">
                <a:solidFill>
                  <a:srgbClr val="173D64"/>
                </a:solidFill>
                <a:latin typeface="Courier New" panose="02070309020205020404" pitchFamily="49" charset="0"/>
                <a:cs typeface="Courier New" panose="02070309020205020404" pitchFamily="49" charset="0"/>
              </a:rPr>
              <a:t>ping</a:t>
            </a:r>
            <a:r>
              <a:rPr lang="pt-BR" sz="1200" dirty="0" smtClean="0">
                <a:latin typeface="Courier New" panose="02070309020205020404" pitchFamily="49" charset="0"/>
                <a:cs typeface="Courier New" panose="02070309020205020404" pitchFamily="49" charset="0"/>
              </a:rPr>
              <a:t>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secondaryip: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- 0: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ip: </a:t>
            </a:r>
            <a:r>
              <a:rPr lang="pt-BR" sz="1200" dirty="0" smtClean="0">
                <a:solidFill>
                  <a:srgbClr val="173D64"/>
                </a:solidFill>
                <a:latin typeface="Courier New" panose="02070309020205020404" pitchFamily="49" charset="0"/>
                <a:cs typeface="Courier New" panose="02070309020205020404" pitchFamily="49" charset="0"/>
              </a:rPr>
              <a:t>"204.126.10.2 255.255.255.0" </a:t>
            </a:r>
          </a:p>
          <a:p>
            <a:r>
              <a:rPr lang="pt-BR" sz="1200" dirty="0">
                <a:latin typeface="Courier New" panose="02070309020205020404" pitchFamily="49" charset="0"/>
                <a:cs typeface="Courier New" panose="02070309020205020404" pitchFamily="49" charset="0"/>
              </a:rPr>
              <a:t> </a:t>
            </a:r>
            <a:r>
              <a:rPr lang="pt-BR" sz="1200" dirty="0" smtClean="0">
                <a:latin typeface="Courier New" panose="02070309020205020404" pitchFamily="49" charset="0"/>
                <a:cs typeface="Courier New" panose="02070309020205020404" pitchFamily="49" charset="0"/>
              </a:rPr>
              <a:t>               allowaccess: </a:t>
            </a:r>
            <a:r>
              <a:rPr lang="pt-BR" sz="1200" dirty="0" smtClean="0">
                <a:solidFill>
                  <a:srgbClr val="173D64"/>
                </a:solidFill>
                <a:latin typeface="Courier New" panose="02070309020205020404" pitchFamily="49" charset="0"/>
                <a:cs typeface="Courier New" panose="02070309020205020404" pitchFamily="49" charset="0"/>
              </a:rPr>
              <a:t>ping</a:t>
            </a:r>
            <a:endParaRPr lang="en-US" sz="1200" dirty="0" smtClean="0">
              <a:solidFill>
                <a:srgbClr val="173D64"/>
              </a:solidFill>
              <a:latin typeface="Courier New" panose="02070309020205020404" pitchFamily="49" charset="0"/>
              <a:cs typeface="Courier New" panose="02070309020205020404" pitchFamily="49" charset="0"/>
            </a:endParaRPr>
          </a:p>
        </p:txBody>
      </p:sp>
      <p:sp>
        <p:nvSpPr>
          <p:cNvPr id="6" name="Rectangle 5"/>
          <p:cNvSpPr/>
          <p:nvPr/>
        </p:nvSpPr>
        <p:spPr>
          <a:xfrm>
            <a:off x="629404" y="3034997"/>
            <a:ext cx="5299682" cy="3600986"/>
          </a:xfrm>
          <a:prstGeom prst="rect">
            <a:avLst/>
          </a:prstGeom>
        </p:spPr>
        <p:txBody>
          <a:bodyPr wrap="square">
            <a:spAutoFit/>
          </a:bodyPr>
          <a:lstStyle/>
          <a:p>
            <a:r>
              <a:rPr lang="en-US" sz="1200" dirty="0" err="1" smtClean="0">
                <a:latin typeface="Courier New" panose="02070309020205020404" pitchFamily="49" charset="0"/>
                <a:cs typeface="Courier New" panose="02070309020205020404" pitchFamily="49" charset="0"/>
              </a:rPr>
              <a:t>config</a:t>
            </a:r>
            <a:r>
              <a:rPr lang="en-US" sz="1200" dirty="0" smtClean="0">
                <a:latin typeface="Courier New" panose="02070309020205020404" pitchFamily="49" charset="0"/>
                <a:cs typeface="Courier New" panose="02070309020205020404" pitchFamily="49" charset="0"/>
              </a:rPr>
              <a:t> </a:t>
            </a:r>
            <a:r>
              <a:rPr lang="en-US" sz="1200" dirty="0">
                <a:latin typeface="Courier New" panose="02070309020205020404" pitchFamily="49" charset="0"/>
                <a:cs typeface="Courier New" panose="02070309020205020404" pitchFamily="49" charset="0"/>
              </a:rPr>
              <a:t>system global </a:t>
            </a:r>
            <a:endParaRPr lang="en-US" sz="1200" dirty="0" smtClean="0">
              <a:latin typeface="Courier New" panose="02070309020205020404" pitchFamily="49" charset="0"/>
              <a:cs typeface="Courier New" panose="02070309020205020404" pitchFamily="49" charset="0"/>
            </a:endParaRPr>
          </a:p>
          <a:p>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admintimeout</a:t>
            </a:r>
            <a:r>
              <a:rPr lang="en-US" sz="1200" dirty="0">
                <a:latin typeface="Courier New" panose="02070309020205020404" pitchFamily="49" charset="0"/>
                <a:cs typeface="Courier New" panose="02070309020205020404" pitchFamily="49" charset="0"/>
              </a:rPr>
              <a:t> 480 </a:t>
            </a:r>
            <a:endParaRPr lang="en-US" sz="1200" dirty="0" smtClean="0">
              <a:latin typeface="Courier New" panose="02070309020205020404" pitchFamily="49" charset="0"/>
              <a:cs typeface="Courier New" panose="02070309020205020404" pitchFamily="49" charset="0"/>
            </a:endParaRPr>
          </a:p>
          <a:p>
            <a:r>
              <a:rPr lang="en-US" sz="1200" dirty="0" smtClean="0">
                <a:latin typeface="Courier New" panose="02070309020205020404" pitchFamily="49" charset="0"/>
                <a:cs typeface="Courier New" panose="02070309020205020404" pitchFamily="49" charset="0"/>
              </a:rPr>
              <a:t>  set </a:t>
            </a:r>
            <a:r>
              <a:rPr lang="en-US" sz="1200" dirty="0">
                <a:latin typeface="Courier New" panose="02070309020205020404" pitchFamily="49" charset="0"/>
                <a:cs typeface="Courier New" panose="02070309020205020404" pitchFamily="49" charset="0"/>
              </a:rPr>
              <a:t>alias "FortiGate-100F" </a:t>
            </a:r>
            <a:endParaRPr lang="en-US" sz="1200" dirty="0" smtClean="0">
              <a:latin typeface="Courier New" panose="02070309020205020404" pitchFamily="49" charset="0"/>
              <a:cs typeface="Courier New" panose="02070309020205020404" pitchFamily="49" charset="0"/>
            </a:endParaRPr>
          </a:p>
          <a:p>
            <a:r>
              <a:rPr lang="en-US" sz="1200" dirty="0" smtClean="0">
                <a:latin typeface="Courier New" panose="02070309020205020404" pitchFamily="49" charset="0"/>
                <a:cs typeface="Courier New" panose="02070309020205020404" pitchFamily="49" charset="0"/>
              </a:rPr>
              <a:t>end </a:t>
            </a:r>
          </a:p>
          <a:p>
            <a:r>
              <a:rPr lang="en-US" sz="1200" dirty="0" err="1" smtClean="0">
                <a:latin typeface="Courier New" panose="02070309020205020404" pitchFamily="49" charset="0"/>
                <a:cs typeface="Courier New" panose="02070309020205020404" pitchFamily="49" charset="0"/>
              </a:rPr>
              <a:t>config</a:t>
            </a:r>
            <a:r>
              <a:rPr lang="en-US" sz="1200" dirty="0" smtClean="0">
                <a:latin typeface="Courier New" panose="02070309020205020404" pitchFamily="49" charset="0"/>
                <a:cs typeface="Courier New" panose="02070309020205020404" pitchFamily="49" charset="0"/>
              </a:rPr>
              <a:t> </a:t>
            </a:r>
            <a:r>
              <a:rPr lang="en-US" sz="1200" dirty="0">
                <a:latin typeface="Courier New" panose="02070309020205020404" pitchFamily="49" charset="0"/>
                <a:cs typeface="Courier New" panose="02070309020205020404" pitchFamily="49" charset="0"/>
              </a:rPr>
              <a:t>system settings </a:t>
            </a:r>
            <a:endParaRPr lang="en-US" sz="1200" dirty="0" smtClean="0">
              <a:latin typeface="Courier New" panose="02070309020205020404" pitchFamily="49" charset="0"/>
              <a:cs typeface="Courier New" panose="02070309020205020404" pitchFamily="49" charset="0"/>
            </a:endParaRPr>
          </a:p>
          <a:p>
            <a:r>
              <a:rPr lang="en-US" sz="1200" dirty="0" smtClean="0">
                <a:latin typeface="Courier New" panose="02070309020205020404" pitchFamily="49" charset="0"/>
                <a:cs typeface="Courier New" panose="02070309020205020404" pitchFamily="49" charset="0"/>
              </a:rPr>
              <a:t>  set </a:t>
            </a:r>
            <a:r>
              <a:rPr lang="en-US" sz="1200" dirty="0">
                <a:latin typeface="Courier New" panose="02070309020205020404" pitchFamily="49" charset="0"/>
                <a:cs typeface="Courier New" panose="02070309020205020404" pitchFamily="49" charset="0"/>
              </a:rPr>
              <a:t>default-</a:t>
            </a:r>
            <a:r>
              <a:rPr lang="en-US" sz="1200" dirty="0" err="1">
                <a:latin typeface="Courier New" panose="02070309020205020404" pitchFamily="49" charset="0"/>
                <a:cs typeface="Courier New" panose="02070309020205020404" pitchFamily="49" charset="0"/>
              </a:rPr>
              <a:t>voip</a:t>
            </a:r>
            <a:r>
              <a:rPr lang="en-US" sz="1200" dirty="0">
                <a:latin typeface="Courier New" panose="02070309020205020404" pitchFamily="49" charset="0"/>
                <a:cs typeface="Courier New" panose="02070309020205020404" pitchFamily="49" charset="0"/>
              </a:rPr>
              <a:t>-</a:t>
            </a:r>
            <a:r>
              <a:rPr lang="en-US" sz="1200" dirty="0" err="1">
                <a:latin typeface="Courier New" panose="02070309020205020404" pitchFamily="49" charset="0"/>
                <a:cs typeface="Courier New" panose="02070309020205020404" pitchFamily="49" charset="0"/>
              </a:rPr>
              <a:t>alg</a:t>
            </a:r>
            <a:r>
              <a:rPr lang="en-US" sz="1200" dirty="0">
                <a:latin typeface="Courier New" panose="02070309020205020404" pitchFamily="49" charset="0"/>
                <a:cs typeface="Courier New" panose="02070309020205020404" pitchFamily="49" charset="0"/>
              </a:rPr>
              <a:t>-mode kernel-helper-based </a:t>
            </a:r>
          </a:p>
          <a:p>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gui</a:t>
            </a:r>
            <a:r>
              <a:rPr lang="en-US" sz="1200" dirty="0">
                <a:latin typeface="Courier New" panose="02070309020205020404" pitchFamily="49" charset="0"/>
                <a:cs typeface="Courier New" panose="02070309020205020404" pitchFamily="49" charset="0"/>
              </a:rPr>
              <a:t>-dynamic-routing enable </a:t>
            </a:r>
          </a:p>
          <a:p>
            <a:r>
              <a:rPr lang="en-US" sz="1200" dirty="0" smtClean="0">
                <a:latin typeface="Courier New" panose="02070309020205020404" pitchFamily="49" charset="0"/>
                <a:cs typeface="Courier New" panose="02070309020205020404" pitchFamily="49" charset="0"/>
              </a:rPr>
              <a:t>end </a:t>
            </a:r>
          </a:p>
          <a:p>
            <a:r>
              <a:rPr lang="en-US" sz="1200" dirty="0" err="1" smtClean="0">
                <a:latin typeface="Courier New" panose="02070309020205020404" pitchFamily="49" charset="0"/>
                <a:cs typeface="Courier New" panose="02070309020205020404" pitchFamily="49" charset="0"/>
              </a:rPr>
              <a:t>config</a:t>
            </a:r>
            <a:r>
              <a:rPr lang="en-US" sz="1200" dirty="0" smtClean="0">
                <a:latin typeface="Courier New" panose="02070309020205020404" pitchFamily="49" charset="0"/>
                <a:cs typeface="Courier New" panose="02070309020205020404" pitchFamily="49" charset="0"/>
              </a:rPr>
              <a:t> </a:t>
            </a:r>
            <a:r>
              <a:rPr lang="en-US" sz="1200" dirty="0">
                <a:latin typeface="Courier New" panose="02070309020205020404" pitchFamily="49" charset="0"/>
                <a:cs typeface="Courier New" panose="02070309020205020404" pitchFamily="49" charset="0"/>
              </a:rPr>
              <a:t>system interface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edit </a:t>
            </a:r>
            <a:r>
              <a:rPr lang="en-US" sz="1200" dirty="0">
                <a:latin typeface="Courier New" panose="02070309020205020404" pitchFamily="49" charset="0"/>
                <a:cs typeface="Courier New" panose="02070309020205020404" pitchFamily="49" charset="0"/>
              </a:rPr>
              <a:t>"port1"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vdom</a:t>
            </a:r>
            <a:r>
              <a:rPr lang="en-US" sz="1200" dirty="0">
                <a:latin typeface="Courier New" panose="02070309020205020404" pitchFamily="49" charset="0"/>
                <a:cs typeface="Courier New" panose="02070309020205020404" pitchFamily="49" charset="0"/>
              </a:rPr>
              <a:t> "root"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ip</a:t>
            </a:r>
            <a:r>
              <a:rPr lang="en-US" sz="1200" dirty="0">
                <a:latin typeface="Courier New" panose="02070309020205020404" pitchFamily="49" charset="0"/>
                <a:cs typeface="Courier New" panose="02070309020205020404" pitchFamily="49" charset="0"/>
              </a:rPr>
              <a:t> 204.126.10.3 255.255.254.0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allowaccess</a:t>
            </a:r>
            <a:r>
              <a:rPr lang="en-US" sz="1200" dirty="0">
                <a:latin typeface="Courier New" panose="02070309020205020404" pitchFamily="49" charset="0"/>
                <a:cs typeface="Courier New" panose="02070309020205020404" pitchFamily="49" charset="0"/>
              </a:rPr>
              <a:t> ping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config</a:t>
            </a:r>
            <a:r>
              <a:rPr lang="en-US" sz="1200" dirty="0" smtClean="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secondaryip</a:t>
            </a:r>
            <a:r>
              <a:rPr lang="en-US" sz="1200" dirty="0">
                <a:latin typeface="Courier New" panose="02070309020205020404" pitchFamily="49" charset="0"/>
                <a:cs typeface="Courier New" panose="02070309020205020404" pitchFamily="49" charset="0"/>
              </a:rPr>
              <a:t>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edit 1</a:t>
            </a: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ip</a:t>
            </a:r>
            <a:r>
              <a:rPr lang="en-US" sz="1200" dirty="0">
                <a:latin typeface="Courier New" panose="02070309020205020404" pitchFamily="49" charset="0"/>
                <a:cs typeface="Courier New" panose="02070309020205020404" pitchFamily="49" charset="0"/>
              </a:rPr>
              <a:t> 204.126.10.2 255.255.255.0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set </a:t>
            </a:r>
            <a:r>
              <a:rPr lang="en-US" sz="1200" dirty="0" err="1">
                <a:latin typeface="Courier New" panose="02070309020205020404" pitchFamily="49" charset="0"/>
                <a:cs typeface="Courier New" panose="02070309020205020404" pitchFamily="49" charset="0"/>
              </a:rPr>
              <a:t>allowaccess</a:t>
            </a:r>
            <a:r>
              <a:rPr lang="en-US" sz="1200" dirty="0">
                <a:latin typeface="Courier New" panose="02070309020205020404" pitchFamily="49" charset="0"/>
                <a:cs typeface="Courier New" panose="02070309020205020404" pitchFamily="49" charset="0"/>
              </a:rPr>
              <a:t> ping </a:t>
            </a:r>
            <a:endParaRPr lang="en-US" sz="1200" dirty="0" smtClean="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end</a:t>
            </a:r>
          </a:p>
          <a:p>
            <a:r>
              <a:rPr lang="en-US" sz="1200" dirty="0">
                <a:latin typeface="Courier New" panose="02070309020205020404" pitchFamily="49" charset="0"/>
                <a:cs typeface="Courier New" panose="02070309020205020404" pitchFamily="49" charset="0"/>
              </a:rPr>
              <a:t> </a:t>
            </a:r>
            <a:r>
              <a:rPr lang="en-US" sz="1200" dirty="0" smtClean="0">
                <a:latin typeface="Courier New" panose="02070309020205020404" pitchFamily="49" charset="0"/>
                <a:cs typeface="Courier New" panose="02070309020205020404" pitchFamily="49" charset="0"/>
              </a:rPr>
              <a:t>     end </a:t>
            </a:r>
          </a:p>
        </p:txBody>
      </p:sp>
      <p:sp>
        <p:nvSpPr>
          <p:cNvPr id="9" name="Rectangle 8"/>
          <p:cNvSpPr/>
          <p:nvPr/>
        </p:nvSpPr>
        <p:spPr>
          <a:xfrm>
            <a:off x="3418114" y="2960915"/>
            <a:ext cx="1567543" cy="29028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Default Format</a:t>
            </a:r>
            <a:endParaRPr lang="en-US" sz="1400" dirty="0" err="1" smtClean="0">
              <a:solidFill>
                <a:schemeClr val="tx1"/>
              </a:solidFill>
            </a:endParaRPr>
          </a:p>
        </p:txBody>
      </p:sp>
      <p:sp>
        <p:nvSpPr>
          <p:cNvPr id="10" name="Rectangle 9"/>
          <p:cNvSpPr/>
          <p:nvPr/>
        </p:nvSpPr>
        <p:spPr>
          <a:xfrm>
            <a:off x="9497455" y="2897772"/>
            <a:ext cx="1567543" cy="29028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YAML Format</a:t>
            </a:r>
            <a:endParaRPr lang="en-US" sz="1400" dirty="0" err="1" smtClean="0">
              <a:solidFill>
                <a:schemeClr val="tx1"/>
              </a:solidFill>
            </a:endParaRPr>
          </a:p>
        </p:txBody>
      </p:sp>
    </p:spTree>
    <p:extLst>
      <p:ext uri="{BB962C8B-B14F-4D97-AF65-F5344CB8AC3E}">
        <p14:creationId xmlns:p14="http://schemas.microsoft.com/office/powerpoint/2010/main" val="32575886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Upgrade Firmware</a:t>
            </a:r>
          </a:p>
        </p:txBody>
      </p:sp>
      <p:sp>
        <p:nvSpPr>
          <p:cNvPr id="4" name="Content Placeholder 3"/>
          <p:cNvSpPr>
            <a:spLocks noGrp="1"/>
          </p:cNvSpPr>
          <p:nvPr>
            <p:ph idx="15"/>
          </p:nvPr>
        </p:nvSpPr>
        <p:spPr/>
        <p:txBody>
          <a:bodyPr/>
          <a:lstStyle/>
          <a:p>
            <a:r>
              <a:rPr lang="en-CA" dirty="0"/>
              <a:t>You can view the current firmware version </a:t>
            </a:r>
            <a:r>
              <a:rPr lang="en-CA" dirty="0" smtClean="0"/>
              <a:t>on </a:t>
            </a:r>
            <a:r>
              <a:rPr lang="en-CA" dirty="0"/>
              <a:t>the dashboard or in </a:t>
            </a:r>
            <a:r>
              <a:rPr lang="en-CA" b="1" dirty="0"/>
              <a:t>System</a:t>
            </a:r>
            <a:r>
              <a:rPr lang="en-CA" dirty="0"/>
              <a:t> &gt; </a:t>
            </a:r>
            <a:r>
              <a:rPr lang="en-CA" b="1" dirty="0" smtClean="0"/>
              <a:t>Fabric Management</a:t>
            </a:r>
            <a:r>
              <a:rPr lang="en-CA" dirty="0" smtClean="0"/>
              <a:t> </a:t>
            </a:r>
            <a:r>
              <a:rPr lang="en-CA" dirty="0"/>
              <a:t>(or on the CLI: </a:t>
            </a:r>
            <a:r>
              <a:rPr lang="en-CA" dirty="0">
                <a:latin typeface="Courier New" panose="02070309020205020404" pitchFamily="49" charset="0"/>
                <a:cs typeface="Courier New" panose="02070309020205020404" pitchFamily="49" charset="0"/>
              </a:rPr>
              <a:t>get system status</a:t>
            </a:r>
            <a:r>
              <a:rPr lang="en-CA" dirty="0"/>
              <a:t>)</a:t>
            </a:r>
          </a:p>
          <a:p>
            <a:r>
              <a:rPr lang="en-CA" dirty="0"/>
              <a:t>If there is an updated firmware version, you </a:t>
            </a:r>
            <a:r>
              <a:rPr lang="en-CA" dirty="0" smtClean="0"/>
              <a:t>are </a:t>
            </a:r>
            <a:r>
              <a:rPr lang="en-CA" dirty="0"/>
              <a:t>notified</a:t>
            </a:r>
          </a:p>
          <a:p>
            <a:r>
              <a:rPr lang="en-CA" dirty="0"/>
              <a:t>Firmware can be updated by clicking </a:t>
            </a:r>
            <a:r>
              <a:rPr lang="en-CA" b="1" dirty="0" smtClean="0"/>
              <a:t>Upgrade </a:t>
            </a:r>
            <a:r>
              <a:rPr lang="en-CA" dirty="0" smtClean="0"/>
              <a:t>and then </a:t>
            </a:r>
            <a:r>
              <a:rPr lang="en-CA" dirty="0"/>
              <a:t>selecting the </a:t>
            </a:r>
            <a:r>
              <a:rPr lang="en-CA" b="1" dirty="0" smtClean="0"/>
              <a:t>All Upgrades</a:t>
            </a:r>
            <a:r>
              <a:rPr lang="en-CA" dirty="0" smtClean="0"/>
              <a:t> or </a:t>
            </a:r>
            <a:r>
              <a:rPr lang="en-CA" b="1" dirty="0" smtClean="0"/>
              <a:t>File Upload</a:t>
            </a:r>
            <a:r>
              <a:rPr lang="en-CA" dirty="0" smtClean="0"/>
              <a:t> option</a:t>
            </a:r>
            <a:endParaRPr lang="en-CA" dirty="0"/>
          </a:p>
          <a:p>
            <a:r>
              <a:rPr lang="en-CA" dirty="0"/>
              <a:t>Make sure you read the </a:t>
            </a:r>
            <a:r>
              <a:rPr lang="en-CA" i="1" dirty="0"/>
              <a:t>Release Notes </a:t>
            </a:r>
            <a:r>
              <a:rPr lang="en-CA" dirty="0"/>
              <a:t>to verify the upgrade path and other details</a:t>
            </a:r>
          </a:p>
          <a:p>
            <a:endParaRPr lang="en-US" dirty="0"/>
          </a:p>
          <a:p>
            <a:endParaRPr lang="en-US" dirty="0"/>
          </a:p>
        </p:txBody>
      </p:sp>
      <p:sp>
        <p:nvSpPr>
          <p:cNvPr id="34" name="TextBox 33"/>
          <p:cNvSpPr txBox="1"/>
          <p:nvPr/>
        </p:nvSpPr>
        <p:spPr>
          <a:xfrm>
            <a:off x="5818937" y="1013740"/>
            <a:ext cx="3499676" cy="276999"/>
          </a:xfrm>
          <a:prstGeom prst="rect">
            <a:avLst/>
          </a:prstGeom>
          <a:solidFill>
            <a:srgbClr val="00B0F0"/>
          </a:solidFill>
        </p:spPr>
        <p:txBody>
          <a:bodyPr wrap="none" tIns="0" bIns="0" rtlCol="0">
            <a:spAutoFit/>
          </a:bodyPr>
          <a:lstStyle/>
          <a:p>
            <a:pPr lvl="0">
              <a:spcBef>
                <a:spcPts val="900"/>
              </a:spcBef>
              <a:buClr>
                <a:srgbClr val="A12D2D"/>
              </a:buClr>
              <a:defRPr/>
            </a:pPr>
            <a:r>
              <a:rPr lang="en-US" b="1" dirty="0">
                <a:solidFill>
                  <a:srgbClr val="000000"/>
                </a:solidFill>
                <a:cs typeface="Arial" pitchFamily="34" charset="0"/>
              </a:rPr>
              <a:t>System </a:t>
            </a:r>
            <a:r>
              <a:rPr lang="en-US" dirty="0">
                <a:solidFill>
                  <a:srgbClr val="000000"/>
                </a:solidFill>
                <a:cs typeface="Arial" pitchFamily="34" charset="0"/>
              </a:rPr>
              <a:t>&gt;</a:t>
            </a:r>
            <a:r>
              <a:rPr lang="en-US" b="1" dirty="0">
                <a:solidFill>
                  <a:srgbClr val="000000"/>
                </a:solidFill>
                <a:cs typeface="Arial" pitchFamily="34" charset="0"/>
              </a:rPr>
              <a:t> </a:t>
            </a:r>
            <a:r>
              <a:rPr lang="en-US" b="1" dirty="0" smtClean="0">
                <a:solidFill>
                  <a:srgbClr val="000000"/>
                </a:solidFill>
                <a:cs typeface="Arial" pitchFamily="34" charset="0"/>
              </a:rPr>
              <a:t>Fabric Management</a:t>
            </a:r>
            <a:endParaRPr lang="en-US" b="1" dirty="0">
              <a:solidFill>
                <a:srgbClr val="000000"/>
              </a:solidFill>
              <a:cs typeface="Arial" pitchFamily="34" charset="0"/>
            </a:endParaRPr>
          </a:p>
        </p:txBody>
      </p:sp>
      <p:pic>
        <p:nvPicPr>
          <p:cNvPr id="6" name="Picture 5"/>
          <p:cNvPicPr>
            <a:picLocks noChangeAspect="1"/>
          </p:cNvPicPr>
          <p:nvPr/>
        </p:nvPicPr>
        <p:blipFill>
          <a:blip r:embed="rId4"/>
          <a:stretch>
            <a:fillRect/>
          </a:stretch>
        </p:blipFill>
        <p:spPr>
          <a:xfrm>
            <a:off x="5832000" y="1342560"/>
            <a:ext cx="4775890" cy="2695455"/>
          </a:xfrm>
          <a:prstGeom prst="rect">
            <a:avLst/>
          </a:prstGeom>
          <a:ln>
            <a:solidFill>
              <a:schemeClr val="tx1"/>
            </a:solidFill>
          </a:ln>
        </p:spPr>
      </p:pic>
      <p:sp>
        <p:nvSpPr>
          <p:cNvPr id="16" name="Rectangle 15"/>
          <p:cNvSpPr/>
          <p:nvPr/>
        </p:nvSpPr>
        <p:spPr bwMode="invGray">
          <a:xfrm>
            <a:off x="6975566" y="2744040"/>
            <a:ext cx="783771" cy="27432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8" name="Picture 7"/>
          <p:cNvPicPr>
            <a:picLocks noChangeAspect="1"/>
          </p:cNvPicPr>
          <p:nvPr/>
        </p:nvPicPr>
        <p:blipFill>
          <a:blip r:embed="rId5"/>
          <a:stretch>
            <a:fillRect/>
          </a:stretch>
        </p:blipFill>
        <p:spPr>
          <a:xfrm>
            <a:off x="5832000" y="4166234"/>
            <a:ext cx="4775890" cy="1956082"/>
          </a:xfrm>
          <a:prstGeom prst="rect">
            <a:avLst/>
          </a:prstGeom>
          <a:ln>
            <a:solidFill>
              <a:schemeClr val="tx1"/>
            </a:solidFill>
          </a:ln>
        </p:spPr>
      </p:pic>
      <p:sp>
        <p:nvSpPr>
          <p:cNvPr id="18" name="Rectangle 17"/>
          <p:cNvSpPr/>
          <p:nvPr/>
        </p:nvSpPr>
        <p:spPr bwMode="invGray">
          <a:xfrm>
            <a:off x="5832000" y="4948331"/>
            <a:ext cx="3573257" cy="49116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custDataLst>
      <p:tags r:id="rId1"/>
    </p:custDataLst>
    <p:extLst>
      <p:ext uri="{BB962C8B-B14F-4D97-AF65-F5344CB8AC3E}">
        <p14:creationId xmlns:p14="http://schemas.microsoft.com/office/powerpoint/2010/main" val="2270438612"/>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a:r>
              <a:rPr lang="en-CA" dirty="0"/>
              <a:t>When restoring an encrypted system configuration file, in addition to needing the FortiGate model and firmware version from the time the configuration file was produced, </a:t>
            </a:r>
            <a:r>
              <a:rPr lang="en-GB" dirty="0"/>
              <a:t>what must you also provide?</a:t>
            </a:r>
            <a:endParaRPr lang="en-CA" dirty="0"/>
          </a:p>
          <a:p>
            <a:pPr marL="838133" lvl="1" indent="-457200">
              <a:buFont typeface="+mj-lt"/>
              <a:buAutoNum type="alphaUcPeriod"/>
            </a:pPr>
            <a:r>
              <a:rPr lang="en-CA" dirty="0"/>
              <a:t>The password to decrypt the file</a:t>
            </a:r>
          </a:p>
          <a:p>
            <a:pPr marL="838133" lvl="1" indent="-457200">
              <a:buFont typeface="+mj-lt"/>
              <a:buAutoNum type="alphaUcPeriod"/>
            </a:pPr>
            <a:r>
              <a:rPr lang="en-CA" dirty="0"/>
              <a:t>The private decryption key to decrypt the file</a:t>
            </a:r>
          </a:p>
          <a:p>
            <a:pPr marL="0" indent="0">
              <a:buNone/>
            </a:pPr>
            <a:endParaRPr lang="en-CA" dirty="0"/>
          </a:p>
          <a:p>
            <a:pPr marL="457200" indent="-457200">
              <a:buFont typeface="+mj-lt"/>
              <a:buAutoNum type="arabicPeriod" startAt="2"/>
            </a:pPr>
            <a:r>
              <a:rPr lang="en-CA" dirty="0"/>
              <a:t>Which document should you consult to increase the chances of success before upgrading or downgrading firmware?</a:t>
            </a:r>
          </a:p>
          <a:p>
            <a:pPr marL="838133" lvl="1" indent="-457200">
              <a:buFont typeface="+mj-lt"/>
              <a:buAutoNum type="alphaUcPeriod"/>
            </a:pPr>
            <a:r>
              <a:rPr lang="en-CA" dirty="0"/>
              <a:t>Cookbook</a:t>
            </a:r>
          </a:p>
          <a:p>
            <a:pPr marL="838133" lvl="1" indent="-457200">
              <a:buFont typeface="+mj-lt"/>
              <a:buAutoNum type="alphaUcPeriod"/>
            </a:pPr>
            <a:r>
              <a:rPr lang="en-CA" dirty="0"/>
              <a:t>Release Notes</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192" y="4016249"/>
            <a:ext cx="315870" cy="337655"/>
          </a:xfrm>
          <a:prstGeom prst="rect">
            <a:avLst/>
          </a:prstGeom>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087" y="1960057"/>
            <a:ext cx="300467" cy="32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7048490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3132351216"/>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A4B01EEB-26A9-4341-A022-E0D035C30B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7053" y="1825573"/>
            <a:ext cx="508649" cy="543727"/>
          </a:xfrm>
          <a:prstGeom prst="rect">
            <a:avLst/>
          </a:prstGeom>
        </p:spPr>
      </p:pic>
      <p:pic>
        <p:nvPicPr>
          <p:cNvPr id="9" name="Picture 8">
            <a:extLst>
              <a:ext uri="{FF2B5EF4-FFF2-40B4-BE49-F238E27FC236}">
                <a16:creationId xmlns:a16="http://schemas.microsoft.com/office/drawing/2014/main" id="{13C8D07E-898B-4086-BCF8-A27E070196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1199" y="4016494"/>
            <a:ext cx="529597" cy="566121"/>
          </a:xfrm>
          <a:prstGeom prst="rect">
            <a:avLst/>
          </a:prstGeom>
        </p:spPr>
      </p:pic>
      <p:pic>
        <p:nvPicPr>
          <p:cNvPr id="17" name="Picture 16">
            <a:extLst>
              <a:ext uri="{FF2B5EF4-FFF2-40B4-BE49-F238E27FC236}">
                <a16:creationId xmlns:a16="http://schemas.microsoft.com/office/drawing/2014/main" id="{7DA44A9A-AB05-468F-8DDB-10B616AC6F8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6928" y="5136040"/>
            <a:ext cx="496523" cy="530766"/>
          </a:xfrm>
          <a:prstGeom prst="rect">
            <a:avLst/>
          </a:prstGeom>
        </p:spPr>
      </p:pic>
      <p:pic>
        <p:nvPicPr>
          <p:cNvPr id="10" name="Picture 9">
            <a:extLst>
              <a:ext uri="{FF2B5EF4-FFF2-40B4-BE49-F238E27FC236}">
                <a16:creationId xmlns:a16="http://schemas.microsoft.com/office/drawing/2014/main" id="{13C8D07E-898B-4086-BCF8-A27E070196B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9575" y="2906758"/>
            <a:ext cx="541221" cy="578546"/>
          </a:xfrm>
          <a:prstGeom prst="rect">
            <a:avLst/>
          </a:prstGeom>
        </p:spPr>
      </p:pic>
    </p:spTree>
    <p:custDataLst>
      <p:tags r:id="rId1"/>
    </p:custDataLst>
    <p:extLst>
      <p:ext uri="{BB962C8B-B14F-4D97-AF65-F5344CB8AC3E}">
        <p14:creationId xmlns:p14="http://schemas.microsoft.com/office/powerpoint/2010/main" val="494141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n-US" dirty="0">
                <a:cs typeface="Arial" charset="0"/>
              </a:rPr>
              <a:t>Identify key FortiGate features, services, and built-in servers</a:t>
            </a:r>
          </a:p>
          <a:p>
            <a:r>
              <a:rPr lang="en-US" dirty="0">
                <a:cs typeface="Arial" charset="0"/>
              </a:rPr>
              <a:t>Identify </a:t>
            </a:r>
            <a:r>
              <a:rPr lang="en-US" dirty="0" smtClean="0">
                <a:cs typeface="Arial" charset="0"/>
              </a:rPr>
              <a:t>the </a:t>
            </a:r>
            <a:r>
              <a:rPr lang="en-US" dirty="0">
                <a:cs typeface="Arial" charset="0"/>
              </a:rPr>
              <a:t>relationship between FortiGate and FortiGuard</a:t>
            </a:r>
          </a:p>
          <a:p>
            <a:r>
              <a:rPr lang="en-US" dirty="0">
                <a:cs typeface="Arial" charset="0"/>
              </a:rPr>
              <a:t>Identify the factory defaults, basic network settings, and console ports</a:t>
            </a:r>
          </a:p>
          <a:p>
            <a:r>
              <a:rPr lang="en-US" dirty="0">
                <a:cs typeface="Arial" charset="0"/>
              </a:rPr>
              <a:t>Execute basic administration, such as creating administrative users and </a:t>
            </a:r>
            <a:r>
              <a:rPr lang="en-US" dirty="0" smtClean="0">
                <a:cs typeface="Arial" charset="0"/>
              </a:rPr>
              <a:t>permissions</a:t>
            </a:r>
          </a:p>
          <a:p>
            <a:r>
              <a:rPr lang="en-CA" dirty="0"/>
              <a:t>Define and describe </a:t>
            </a:r>
            <a:r>
              <a:rPr lang="en-CA" dirty="0" smtClean="0"/>
              <a:t>VDOMs</a:t>
            </a:r>
            <a:endParaRPr lang="en-US" dirty="0">
              <a:cs typeface="Arial" charset="0"/>
            </a:endParaRPr>
          </a:p>
          <a:p>
            <a:r>
              <a:rPr lang="en-US" dirty="0">
                <a:cs typeface="Arial" charset="0"/>
              </a:rPr>
              <a:t>Execute backup and restore tasks and discuss the requirements for restoring an encrypted configuration file</a:t>
            </a:r>
          </a:p>
          <a:p>
            <a:r>
              <a:rPr lang="en-US" dirty="0">
                <a:cs typeface="Arial" charset="0"/>
              </a:rPr>
              <a:t>Initiate an upgrade </a:t>
            </a:r>
            <a:r>
              <a:rPr lang="en-US" dirty="0" smtClean="0">
                <a:cs typeface="Arial" charset="0"/>
              </a:rPr>
              <a:t>of </a:t>
            </a:r>
            <a:r>
              <a:rPr lang="en-US" dirty="0">
                <a:cs typeface="Arial" charset="0"/>
              </a:rPr>
              <a:t>the firmware</a:t>
            </a:r>
          </a:p>
        </p:txBody>
      </p:sp>
    </p:spTree>
    <p:custDataLst>
      <p:tags r:id="rId1"/>
    </p:custDataLst>
    <p:extLst>
      <p:ext uri="{BB962C8B-B14F-4D97-AF65-F5344CB8AC3E}">
        <p14:creationId xmlns:p14="http://schemas.microsoft.com/office/powerpoint/2010/main" val="1342980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SE_Certification_Program_Template-2021">
  <a:themeElements>
    <a:clrScheme name="Fortinet-2021">
      <a:dk1>
        <a:srgbClr val="000000"/>
      </a:dk1>
      <a:lt1>
        <a:srgbClr val="FFFFFF"/>
      </a:lt1>
      <a:dk2>
        <a:srgbClr val="B3B3B3"/>
      </a:dk2>
      <a:lt2>
        <a:srgbClr val="E6E6E6"/>
      </a:lt2>
      <a:accent1>
        <a:srgbClr val="48D597"/>
      </a:accent1>
      <a:accent2>
        <a:srgbClr val="2CCCD3"/>
      </a:accent2>
      <a:accent3>
        <a:srgbClr val="307FE2"/>
      </a:accent3>
      <a:accent4>
        <a:srgbClr val="9063CD"/>
      </a:accent4>
      <a:accent5>
        <a:srgbClr val="A2B2C8"/>
      </a:accent5>
      <a:accent6>
        <a:srgbClr val="DA28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solidFill>
            <a:schemeClr val="accent6"/>
          </a:solidFill>
        </a:ln>
      </a:spPr>
      <a:bodyPr rtlCol="0" anchor="ctr"/>
      <a:lstStyle>
        <a:defPPr algn="ctr">
          <a:lnSpc>
            <a:spcPct val="90000"/>
          </a:lnSpc>
          <a:spcBef>
            <a:spcPts val="300"/>
          </a:spcBef>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defTabSz="457189">
          <a:lnSpc>
            <a:spcPct val="90000"/>
          </a:lnSpc>
          <a:spcBef>
            <a:spcPts val="300"/>
          </a:spcBef>
          <a:defRPr sz="1400" dirty="0" smtClean="0">
            <a:solidFill>
              <a:srgbClr val="000000"/>
            </a:solidFill>
            <a:cs typeface="Arial" panose="020B0604020202020204" pitchFamily="34" charset="0"/>
          </a:defRPr>
        </a:defPPr>
      </a:lstStyle>
    </a:txDef>
  </a:objectDefaults>
  <a:extraClrSchemeLst/>
  <a:extLst>
    <a:ext uri="{05A4C25C-085E-4340-85A3-A5531E510DB2}">
      <thm15:themeFamily xmlns:thm15="http://schemas.microsoft.com/office/thememl/2012/main" name="Presentation5" id="{B400592B-8D21-4166-94CE-701FC4462A4C}" vid="{01281597-3EC3-4121-9707-A57978F4B0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NSE_Certification_Template_2022</Template>
  <TotalTime>17263</TotalTime>
  <Words>8349</Words>
  <Application>Microsoft Office PowerPoint</Application>
  <PresentationFormat>Custom</PresentationFormat>
  <Paragraphs>682</Paragraphs>
  <Slides>42</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MS PGothic</vt:lpstr>
      <vt:lpstr>MS PGothic</vt:lpstr>
      <vt:lpstr>Arial</vt:lpstr>
      <vt:lpstr>Arial Narrow</vt:lpstr>
      <vt:lpstr>Arial Unicode MS</vt:lpstr>
      <vt:lpstr>Calibri</vt:lpstr>
      <vt:lpstr>Courier New</vt:lpstr>
      <vt:lpstr>Inter</vt:lpstr>
      <vt:lpstr>Times</vt:lpstr>
      <vt:lpstr>Wingdings</vt:lpstr>
      <vt:lpstr>NSE_Certification_Program_Template-2021</vt:lpstr>
      <vt:lpstr>FortiGate Security</vt:lpstr>
      <vt:lpstr>PowerPoint Presentation</vt:lpstr>
      <vt:lpstr>High-Level Features</vt:lpstr>
      <vt:lpstr>The Modern Context of Network Security</vt:lpstr>
      <vt:lpstr>Platform Design</vt:lpstr>
      <vt:lpstr>Topology in the Cloud</vt:lpstr>
      <vt:lpstr>PowerPoint Presentation</vt:lpstr>
      <vt:lpstr>PowerPoint Presentation</vt:lpstr>
      <vt:lpstr>Setup Decisions</vt:lpstr>
      <vt:lpstr>Factory Default Settings</vt:lpstr>
      <vt:lpstr>FortiGuard Subscription Services</vt:lpstr>
      <vt:lpstr>FortiGuard Subscription Services (Contd)</vt:lpstr>
      <vt:lpstr>PowerPoint Presentation</vt:lpstr>
      <vt:lpstr>PowerPoint Presentation</vt:lpstr>
      <vt:lpstr>Basic Administration</vt:lpstr>
      <vt:lpstr>Administration Methods</vt:lpstr>
      <vt:lpstr>Create an Administrative User </vt:lpstr>
      <vt:lpstr>Administrator Profiles</vt:lpstr>
      <vt:lpstr>VDOMs</vt:lpstr>
      <vt:lpstr>VDOM Administration </vt:lpstr>
      <vt:lpstr>Per-VDOM Administration</vt:lpstr>
      <vt:lpstr>Resetting a Lost Admin Password</vt:lpstr>
      <vt:lpstr>Administrative Access―Trusted Sources</vt:lpstr>
      <vt:lpstr>Administrative Access―Ports and Password</vt:lpstr>
      <vt:lpstr>Administrative Access―Protocols</vt:lpstr>
      <vt:lpstr>Interface IPs  </vt:lpstr>
      <vt:lpstr>Interface Role Compared to Alias</vt:lpstr>
      <vt:lpstr>VLANs</vt:lpstr>
      <vt:lpstr>Creating VLANs</vt:lpstr>
      <vt:lpstr>Static Gateway</vt:lpstr>
      <vt:lpstr>FortiGate as a DHCP Server</vt:lpstr>
      <vt:lpstr>FortiGate as a DNS Server</vt:lpstr>
      <vt:lpstr>PowerPoint Presentation</vt:lpstr>
      <vt:lpstr>PowerPoint Presentation</vt:lpstr>
      <vt:lpstr>Fundamental Maintenance</vt:lpstr>
      <vt:lpstr>Configuration File―Backup and Restore</vt:lpstr>
      <vt:lpstr>Configuration File Format</vt:lpstr>
      <vt:lpstr>Configuration File Format (Contd)</vt:lpstr>
      <vt:lpstr>Upgrade Firmware</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2021-05-05T17:21:41Z</cp:lastPrinted>
</cp:coreProperties>
</file>

<file path=docProps/custom.xml><?xml version="1.0" encoding="utf-8"?>
<Properties xmlns="http://schemas.openxmlformats.org/officeDocument/2006/custom-properties" xmlns:vt="http://schemas.openxmlformats.org/officeDocument/2006/docPropsVTypes"/>
</file>