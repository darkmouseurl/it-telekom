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sldIdLst>
    <p:sldId id="256" r:id="rId5"/>
    <p:sldId id="257" r:id="rId6"/>
    <p:sldId id="258" r:id="rId7"/>
    <p:sldId id="259" r:id="rId8"/>
    <p:sldId id="262" r:id="rId9"/>
    <p:sldId id="260" r:id="rId1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ŠTÍPA" userId="8648c5ad-f998-46ce-b9a7-526b23d96798" providerId="ADAL" clId="{7A03BFCB-135F-487D-92AA-2EE98973A23B}"/>
    <pc:docChg chg="custSel modSld sldOrd">
      <pc:chgData name="Alex ŠTÍPA" userId="8648c5ad-f998-46ce-b9a7-526b23d96798" providerId="ADAL" clId="{7A03BFCB-135F-487D-92AA-2EE98973A23B}" dt="2023-02-06T08:50:47.558" v="41" actId="20577"/>
      <pc:docMkLst>
        <pc:docMk/>
      </pc:docMkLst>
      <pc:sldChg chg="modSp mod">
        <pc:chgData name="Alex ŠTÍPA" userId="8648c5ad-f998-46ce-b9a7-526b23d96798" providerId="ADAL" clId="{7A03BFCB-135F-487D-92AA-2EE98973A23B}" dt="2023-02-06T08:50:47.558" v="41" actId="20577"/>
        <pc:sldMkLst>
          <pc:docMk/>
          <pc:sldMk cId="1609568282" sldId="259"/>
        </pc:sldMkLst>
        <pc:spChg chg="mod">
          <ac:chgData name="Alex ŠTÍPA" userId="8648c5ad-f998-46ce-b9a7-526b23d96798" providerId="ADAL" clId="{7A03BFCB-135F-487D-92AA-2EE98973A23B}" dt="2023-02-06T08:50:47.558" v="41" actId="20577"/>
          <ac:spMkLst>
            <pc:docMk/>
            <pc:sldMk cId="1609568282" sldId="259"/>
            <ac:spMk id="3" creationId="{5ACD9B2F-0531-C4A1-F91B-C56D79ABD842}"/>
          </ac:spMkLst>
        </pc:spChg>
      </pc:sldChg>
      <pc:sldChg chg="modSp mod ord">
        <pc:chgData name="Alex ŠTÍPA" userId="8648c5ad-f998-46ce-b9a7-526b23d96798" providerId="ADAL" clId="{7A03BFCB-135F-487D-92AA-2EE98973A23B}" dt="2023-02-06T08:41:24.628" v="27" actId="1076"/>
        <pc:sldMkLst>
          <pc:docMk/>
          <pc:sldMk cId="973341600" sldId="262"/>
        </pc:sldMkLst>
        <pc:spChg chg="mod">
          <ac:chgData name="Alex ŠTÍPA" userId="8648c5ad-f998-46ce-b9a7-526b23d96798" providerId="ADAL" clId="{7A03BFCB-135F-487D-92AA-2EE98973A23B}" dt="2023-02-06T08:41:24.628" v="27" actId="1076"/>
          <ac:spMkLst>
            <pc:docMk/>
            <pc:sldMk cId="973341600" sldId="262"/>
            <ac:spMk id="2" creationId="{884E24FF-CFB6-4256-3D81-562FEB4538F1}"/>
          </ac:spMkLst>
        </pc:spChg>
        <pc:spChg chg="mod">
          <ac:chgData name="Alex ŠTÍPA" userId="8648c5ad-f998-46ce-b9a7-526b23d96798" providerId="ADAL" clId="{7A03BFCB-135F-487D-92AA-2EE98973A23B}" dt="2023-02-06T08:37:40.491" v="24" actId="20577"/>
          <ac:spMkLst>
            <pc:docMk/>
            <pc:sldMk cId="973341600" sldId="262"/>
            <ac:spMk id="3" creationId="{ED83B6BA-A037-F5B7-C89D-7C8A3C26DF9F}"/>
          </ac:spMkLst>
        </pc:spChg>
      </pc:sldChg>
    </pc:docChg>
  </pc:docChgLst>
  <pc:docChgLst>
    <pc:chgData name="Alex ŠTÍPA" userId="8648c5ad-f998-46ce-b9a7-526b23d96798" providerId="ADAL" clId="{5CA556AE-B461-A44C-80A3-30A2B9555BAB}"/>
    <pc:docChg chg="delSld">
      <pc:chgData name="Alex ŠTÍPA" userId="8648c5ad-f998-46ce-b9a7-526b23d96798" providerId="ADAL" clId="{5CA556AE-B461-A44C-80A3-30A2B9555BAB}" dt="2024-05-29T08:09:36.588" v="0" actId="2696"/>
      <pc:docMkLst>
        <pc:docMk/>
      </pc:docMkLst>
      <pc:sldChg chg="del">
        <pc:chgData name="Alex ŠTÍPA" userId="8648c5ad-f998-46ce-b9a7-526b23d96798" providerId="ADAL" clId="{5CA556AE-B461-A44C-80A3-30A2B9555BAB}" dt="2024-05-29T08:09:36.588" v="0" actId="2696"/>
        <pc:sldMkLst>
          <pc:docMk/>
          <pc:sldMk cId="1666119291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48002-315D-49B1-B10F-137139C4B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4896" y="1122363"/>
            <a:ext cx="7276733" cy="3381398"/>
          </a:xfrm>
        </p:spPr>
        <p:txBody>
          <a:bodyPr anchor="b">
            <a:normAutofit/>
          </a:bodyPr>
          <a:lstStyle>
            <a:lvl1pPr algn="l">
              <a:defRPr sz="4800" cap="none"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4535E0-4D9C-4DCA-8569-64503C5DC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894" y="4612942"/>
            <a:ext cx="7276733" cy="1181683"/>
          </a:xfrm>
        </p:spPr>
        <p:txBody>
          <a:bodyPr>
            <a:normAutofit/>
          </a:bodyPr>
          <a:lstStyle>
            <a:lvl1pPr marL="0" indent="0" algn="l">
              <a:buNone/>
              <a:defRPr sz="18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83B68-70CF-4A98-948C-6EA4BD68D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C2EF9-7F83-4AD3-B3F6-B9D4618D6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B751B-3464-41CD-B728-A72BB191E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544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BFD42-94A9-4345-AF38-7D562B50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4C458-A63B-4032-B4EC-732DAC18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855B5-7F2F-408B-800D-92CB34B99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03412-EA6B-43CA-8B3A-F502587CB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6E9EE-F895-4ECE-B4B2-586D65ED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7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8193F-AFAD-4A9A-B0EF-530DFB19D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876299"/>
            <a:ext cx="7876722" cy="371316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1BBE4-9FC1-4F89-B120-1C49D816F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46170"/>
            <a:ext cx="6781301" cy="104845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30A6B-E3FD-4920-8128-C263CA1D6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66B85-0649-47DB-AD69-458D8F600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25931-A293-42E9-BDF5-B2AE121D7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760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5262B-ECD6-47BB-A6F1-92A6033E9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B8779-51E9-44D1-9F7B-28F3C6D3C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8474" y="2080517"/>
            <a:ext cx="4970124" cy="39773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E8BFB-5295-4C5E-9CB1-E276E9D0E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99" y="2080517"/>
            <a:ext cx="4970124" cy="397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E22BF-1819-4301-B699-EF5A2F4D9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0A2DF-39DE-49C3-A213-3E8423C7A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5D3A8-238B-4A68-A9F9-672D2F060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05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7D468-D010-4225-B024-DCEF543BC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71955"/>
            <a:ext cx="10441236" cy="139835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D60A0-FCAB-425A-9ECD-94CDE4F4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926" y="1983242"/>
            <a:ext cx="5007110" cy="814387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2000" b="0" cap="all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F986B-07CB-4FB0-9419-2AAB318B8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063" y="2813959"/>
            <a:ext cx="5007110" cy="324394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A9D784-7968-4E8B-B704-E42EE8F187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9255" y="1983242"/>
            <a:ext cx="5031769" cy="814387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2000" b="0" cap="all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45754F-08D1-4593-988F-95F0ED1A0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9255" y="2813959"/>
            <a:ext cx="5031769" cy="324394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ED2E61-83B4-4C8F-BBFE-D95920342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80C136-A664-4013-8073-B0C6BDEF8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AE9547-8EE7-461B-9E99-484B11E91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722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2E667-0EFA-4EE6-8E4D-20805309A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759" y="895440"/>
            <a:ext cx="10138451" cy="1832349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EE4825-BB8C-4567-B407-B4452409D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38892-25DB-4A4E-9D43-6058C45C5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C3DDDA-48EF-4B42-9980-4762AF509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81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EFA7D9-6801-4DD0-8D7D-505212F46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6FA3EA-1519-4178-AC3A-231A5BAA7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23DBE-6FD6-4D60-8336-7843B4BD3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266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2D9AE-CA1A-4751-9B33-0AC09CE62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996948"/>
            <a:ext cx="3046410" cy="1479551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cap="all" spc="4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F9941-76E5-42B5-8464-C1A7010D9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0796" y="876300"/>
            <a:ext cx="5758235" cy="5181599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785D8-F112-415F-9AB4-5F2AC060D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666144"/>
            <a:ext cx="3046409" cy="31949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0A0B3-4E9C-4FAC-B1D1-2673F7B5A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A370A-33F5-48A6-962A-47C0F15D4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8AD606-A37D-4697-AA7A-EAE4F101A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4E0B5E-1030-4A34-AB09-05ACB45CE993}"/>
              </a:ext>
            </a:extLst>
          </p:cNvPr>
          <p:cNvCxnSpPr>
            <a:cxnSpLocks/>
          </p:cNvCxnSpPr>
          <p:nvPr/>
        </p:nvCxnSpPr>
        <p:spPr>
          <a:xfrm>
            <a:off x="4610100" y="898989"/>
            <a:ext cx="0" cy="51387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969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21D4C-0A93-40A6-9645-5EF7DE6C5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989314"/>
            <a:ext cx="3046409" cy="1487185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2F9455-852F-4604-87D4-801E8D5DB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4" y="876300"/>
            <a:ext cx="5943596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42061-B161-4973-9EE4-76D0B73FC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666143"/>
            <a:ext cx="3046409" cy="31949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CE2E0-050A-4BC2-91DF-7A00811D2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AB003-B443-4B96-9DD9-4284E7E1E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79DBA-16C0-4FFB-B367-B96169B4B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9F2BD78-1D6B-4742-9726-75646D91F4AC}"/>
              </a:ext>
            </a:extLst>
          </p:cNvPr>
          <p:cNvCxnSpPr>
            <a:cxnSpLocks/>
          </p:cNvCxnSpPr>
          <p:nvPr/>
        </p:nvCxnSpPr>
        <p:spPr>
          <a:xfrm>
            <a:off x="4610100" y="898989"/>
            <a:ext cx="0" cy="51387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3828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B5731-248B-49C2-93DE-8A3260C9F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D4D5C5-3D5A-4F3D-8A08-7053DACF1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E5372-3FC6-4227-B2DD-6CB24E651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1B1B1-B637-4E46-B64C-F082B54C2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567AD-4B78-41F6-B814-726D4BD4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58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674D5E-67E6-4C23-B80A-0C66B53315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76299"/>
            <a:ext cx="2628900" cy="5181601"/>
          </a:xfrm>
        </p:spPr>
        <p:txBody>
          <a:bodyPr vert="eaVert"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FEFF2A-08E8-447D-85C7-7D5A9C422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76299"/>
            <a:ext cx="7734300" cy="51816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0030D-E580-4B0C-B5A8-2C8A094D9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DCAEB-1B6E-492E-918E-47179AF48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E4A38-A745-436E-9E33-63B9F81C0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720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8CBCD-166B-4F97-A6DF-DAA3BF2B2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760" y="876302"/>
            <a:ext cx="10427840" cy="10860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4D6D9-636D-450B-839A-22AE0CED2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9758" y="2065984"/>
            <a:ext cx="10427841" cy="3903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6CAEC-1EE5-4B71-9646-5C378EEBE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2838" y="6356350"/>
            <a:ext cx="33613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326951E3-958F-4611-B170-D081BA0250F9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70EF8-70B2-4AFC-8388-691A146AA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58748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07DC7-D05C-4038-B51A-F00B7B9C99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0400" y="6356350"/>
            <a:ext cx="6176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i="1">
                <a:solidFill>
                  <a:schemeClr val="tx2"/>
                </a:solidFill>
              </a:defRPr>
            </a:lvl1pPr>
          </a:lstStyle>
          <a:p>
            <a:fld id="{57871EFB-7B9E-4E86-A89E-697E8EBB06F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AD4CCDA-06BF-4D2A-B44F-195AEC0B5B22}"/>
              </a:ext>
            </a:extLst>
          </p:cNvPr>
          <p:cNvCxnSpPr>
            <a:cxnSpLocks/>
          </p:cNvCxnSpPr>
          <p:nvPr/>
        </p:nvCxnSpPr>
        <p:spPr>
          <a:xfrm>
            <a:off x="952498" y="6252722"/>
            <a:ext cx="10325101" cy="0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9432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75" r:id="rId4"/>
    <p:sldLayoutId id="2147483676" r:id="rId5"/>
    <p:sldLayoutId id="2147483681" r:id="rId6"/>
    <p:sldLayoutId id="2147483677" r:id="rId7"/>
    <p:sldLayoutId id="2147483678" r:id="rId8"/>
    <p:sldLayoutId id="2147483679" r:id="rId9"/>
    <p:sldLayoutId id="2147483680" r:id="rId10"/>
    <p:sldLayoutId id="214748368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SzPct val="70000"/>
        <a:buFontTx/>
        <a:buNone/>
        <a:defRPr sz="1800" i="1" kern="1200">
          <a:solidFill>
            <a:schemeClr val="tx2"/>
          </a:solidFill>
          <a:latin typeface="+mn-lt"/>
          <a:ea typeface="+mn-ea"/>
          <a:cs typeface="+mn-cs"/>
        </a:defRPr>
      </a:lvl2pPr>
      <a:lvl3pPr marL="502920" indent="-22860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None/>
        <a:defRPr sz="1600" i="1" kern="1200">
          <a:solidFill>
            <a:schemeClr val="tx2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micro.cz/nvidia-a100-80gb-cowos-hbm2-pcie-w-o-cec-900-21001-0020-100?gclid=EAIaIQobChMIq6XDz66A_QIVU5BoCR0I7wj1EAQYASABEgK0b_D_BwE" TargetMode="External"/><Relationship Id="rId2" Type="http://schemas.openxmlformats.org/officeDocument/2006/relationships/hyperlink" Target="https://www.nvidia.com/en-us/data-center/a100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zBAxiQi2nPc" TargetMode="External"/><Relationship Id="rId4" Type="http://schemas.openxmlformats.org/officeDocument/2006/relationships/hyperlink" Target="https://mcomputers.cz/produkty-a-sluzby/nvidia/dgx-systemy/dgx-a10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51C0BCA8-B9D5-4F84-B063-ABE683EE0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Dostupnější GeForce GTX 1160 bez ray tracingu bude. Nvidia ale počká na  doprodání stávajících GTX 1060 – Živě.cz">
            <a:extLst>
              <a:ext uri="{FF2B5EF4-FFF2-40B4-BE49-F238E27FC236}">
                <a16:creationId xmlns:a16="http://schemas.microsoft.com/office/drawing/2014/main" id="{E3A541D6-69CE-F9AE-6029-E448BB0086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7" r="4824"/>
          <a:stretch/>
        </p:blipFill>
        <p:spPr bwMode="auto">
          <a:xfrm>
            <a:off x="20" y="10"/>
            <a:ext cx="12191979" cy="685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Rectangle 4104">
            <a:extLst>
              <a:ext uri="{FF2B5EF4-FFF2-40B4-BE49-F238E27FC236}">
                <a16:creationId xmlns:a16="http://schemas.microsoft.com/office/drawing/2014/main" id="{3E12DCC6-BC83-4B12-995C-FEA02449A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V="1">
            <a:off x="-144929" y="144931"/>
            <a:ext cx="6858000" cy="656814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49000">
                <a:srgbClr val="000000">
                  <a:alpha val="45000"/>
                </a:srgbClr>
              </a:gs>
              <a:gs pos="100000">
                <a:srgbClr val="000000">
                  <a:alpha val="64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5F6BD9F-7E8F-E62D-1496-5AC1953754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748" y="1161232"/>
            <a:ext cx="5291275" cy="2485479"/>
          </a:xfrm>
        </p:spPr>
        <p:txBody>
          <a:bodyPr anchor="b">
            <a:normAutofit/>
          </a:bodyPr>
          <a:lstStyle/>
          <a:p>
            <a:r>
              <a:rPr lang="cs-CZ">
                <a:solidFill>
                  <a:srgbClr val="FFFFFF"/>
                </a:solidFill>
              </a:rPr>
              <a:t>Nvidia A100</a:t>
            </a:r>
          </a:p>
        </p:txBody>
      </p:sp>
      <p:cxnSp>
        <p:nvCxnSpPr>
          <p:cNvPr id="4111" name="Straight Connector 4106">
            <a:extLst>
              <a:ext uri="{FF2B5EF4-FFF2-40B4-BE49-F238E27FC236}">
                <a16:creationId xmlns:a16="http://schemas.microsoft.com/office/drawing/2014/main" id="{7476E355-DC49-4AFB-88DE-62B854B9B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58134" y="3782313"/>
            <a:ext cx="0" cy="2054457"/>
          </a:xfrm>
          <a:prstGeom prst="line">
            <a:avLst/>
          </a:prstGeom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9197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BF02845A-8571-40C5-9F56-8F9B3F7C4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BD64EA6-EF41-2BC2-9968-1FF2B8376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593" y="895440"/>
            <a:ext cx="4569407" cy="1560083"/>
          </a:xfrm>
        </p:spPr>
        <p:txBody>
          <a:bodyPr>
            <a:normAutofit/>
          </a:bodyPr>
          <a:lstStyle/>
          <a:p>
            <a:r>
              <a:rPr lang="cs-CZ" dirty="0"/>
              <a:t>Základní informace</a:t>
            </a: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F30BB598-81B4-41BB-BC44-CD9C29AE2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52500" y="2871627"/>
            <a:ext cx="0" cy="3186701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CE0F0B4-AB40-8F35-80C1-7B2AA850E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032" y="2753546"/>
            <a:ext cx="4525967" cy="3805874"/>
          </a:xfrm>
        </p:spPr>
        <p:txBody>
          <a:bodyPr anchor="t"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cs-CZ" sz="1600" dirty="0"/>
              <a:t>Je to grafická karta, ale </a:t>
            </a:r>
            <a:r>
              <a:rPr lang="cs-CZ" sz="1600" dirty="0" err="1"/>
              <a:t>NEpoužívá</a:t>
            </a:r>
            <a:r>
              <a:rPr lang="cs-CZ" sz="1600" dirty="0"/>
              <a:t> se na zobrazování a hraní her</a:t>
            </a:r>
          </a:p>
          <a:p>
            <a:pPr>
              <a:lnSpc>
                <a:spcPct val="110000"/>
              </a:lnSpc>
            </a:pPr>
            <a:r>
              <a:rPr lang="cs-CZ" sz="1600" dirty="0"/>
              <a:t>Používá se na umělou inteligenci, výpočet dat</a:t>
            </a:r>
          </a:p>
          <a:p>
            <a:pPr>
              <a:lnSpc>
                <a:spcPct val="110000"/>
              </a:lnSpc>
            </a:pPr>
            <a:r>
              <a:rPr lang="cs-CZ" sz="1600" dirty="0"/>
              <a:t>Port má stejný jako dnešní grafické karty (PCIe 16x)</a:t>
            </a:r>
          </a:p>
          <a:p>
            <a:pPr>
              <a:lnSpc>
                <a:spcPct val="110000"/>
              </a:lnSpc>
            </a:pPr>
            <a:r>
              <a:rPr lang="cs-CZ" sz="1600" dirty="0"/>
              <a:t>Cena je okolo 400 000 Kč, 17 000 EUR</a:t>
            </a:r>
          </a:p>
          <a:p>
            <a:pPr>
              <a:lnSpc>
                <a:spcPct val="110000"/>
              </a:lnSpc>
            </a:pPr>
            <a:r>
              <a:rPr lang="cs-CZ" sz="1600" dirty="0"/>
              <a:t>Je to nejrychlejší karta která se vyrábí</a:t>
            </a:r>
          </a:p>
          <a:p>
            <a:pPr>
              <a:lnSpc>
                <a:spcPct val="110000"/>
              </a:lnSpc>
            </a:pPr>
            <a:r>
              <a:rPr lang="cs-CZ" sz="1600" dirty="0"/>
              <a:t>Dělá se ve dvou variantách (aktivní/pasivní chlazení)</a:t>
            </a:r>
          </a:p>
          <a:p>
            <a:pPr>
              <a:lnSpc>
                <a:spcPct val="110000"/>
              </a:lnSpc>
            </a:pPr>
            <a:r>
              <a:rPr lang="cs-CZ" sz="1600" dirty="0"/>
              <a:t>Pasivní chlazení se používá do racku/serveru</a:t>
            </a:r>
          </a:p>
          <a:p>
            <a:pPr>
              <a:lnSpc>
                <a:spcPct val="110000"/>
              </a:lnSpc>
            </a:pPr>
            <a:r>
              <a:rPr lang="cs-CZ" sz="1600" dirty="0"/>
              <a:t>Od společnosti </a:t>
            </a:r>
            <a:r>
              <a:rPr lang="cs-CZ" sz="1600" dirty="0" err="1"/>
              <a:t>Nvidia</a:t>
            </a:r>
            <a:endParaRPr lang="cs-CZ" sz="1600" dirty="0"/>
          </a:p>
        </p:txBody>
      </p:sp>
      <p:pic>
        <p:nvPicPr>
          <p:cNvPr id="1026" name="Picture 2" descr="NVIDIA A100 80GB CoWoS HBM2 PCIe 4.0-- Passive Cooling - 900-21001-0020-000  | smicro.cz">
            <a:extLst>
              <a:ext uri="{FF2B5EF4-FFF2-40B4-BE49-F238E27FC236}">
                <a16:creationId xmlns:a16="http://schemas.microsoft.com/office/drawing/2014/main" id="{3CFE2F0D-859B-4FB4-983A-DDF0A7222C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2" r="9321" b="-3"/>
          <a:stretch/>
        </p:blipFill>
        <p:spPr bwMode="auto">
          <a:xfrm>
            <a:off x="6096000" y="-16591"/>
            <a:ext cx="6107073" cy="6874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38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1E569E-5DCB-3222-31C9-2742E8E27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760" y="33256"/>
            <a:ext cx="10427840" cy="1086056"/>
          </a:xfrm>
        </p:spPr>
        <p:txBody>
          <a:bodyPr/>
          <a:lstStyle/>
          <a:p>
            <a:r>
              <a:rPr lang="cs-CZ" dirty="0"/>
              <a:t>Rozložení grafické karty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A084E7D1-5082-CC84-ED1A-C218412A0A38}"/>
              </a:ext>
            </a:extLst>
          </p:cNvPr>
          <p:cNvSpPr/>
          <p:nvPr/>
        </p:nvSpPr>
        <p:spPr>
          <a:xfrm>
            <a:off x="2153463" y="2063027"/>
            <a:ext cx="7382312" cy="40193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57E276B0-1D78-4E68-D517-3F20CBA6F8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62" b="94971" l="2838" r="98826">
                        <a14:foregroundMark x1="9491" y1="62476" x2="10959" y2="24952"/>
                        <a14:foregroundMark x1="5382" y1="78337" x2="4990" y2="62669"/>
                        <a14:foregroundMark x1="4892" y1="80658" x2="3425" y2="77369"/>
                        <a14:foregroundMark x1="5577" y1="81044" x2="10372" y2="79884"/>
                        <a14:foregroundMark x1="2935" y1="25145" x2="3131" y2="14700"/>
                        <a14:foregroundMark x1="4403" y1="13153" x2="6262" y2="10058"/>
                        <a14:foregroundMark x1="6164" y1="8897" x2="5871" y2="8704"/>
                        <a14:foregroundMark x1="13796" y1="7544" x2="12818" y2="6383"/>
                        <a14:foregroundMark x1="14481" y1="5803" x2="15558" y2="5803"/>
                        <a14:foregroundMark x1="30333" y1="6190" x2="31213" y2="6770"/>
                        <a14:foregroundMark x1="31507" y1="8317" x2="30822" y2="12379"/>
                        <a14:foregroundMark x1="30822" y1="12379" x2="33268" y2="11412"/>
                        <a14:foregroundMark x1="52935" y1="10832" x2="57339" y2="11219"/>
                        <a14:foregroundMark x1="59883" y1="11799" x2="63014" y2="11799"/>
                        <a14:foregroundMark x1="62916" y1="9091" x2="63894" y2="8897"/>
                        <a14:foregroundMark x1="54795" y1="9865" x2="54892" y2="7737"/>
                        <a14:foregroundMark x1="58415" y1="15667" x2="69374" y2="66151"/>
                        <a14:foregroundMark x1="76614" y1="32495" x2="73190" y2="49323"/>
                        <a14:foregroundMark x1="73190" y1="49323" x2="51663" y2="78530"/>
                        <a14:foregroundMark x1="51663" y1="78530" x2="32583" y2="82205"/>
                        <a14:foregroundMark x1="32583" y1="82205" x2="24560" y2="79691"/>
                        <a14:foregroundMark x1="23190" y1="82205" x2="32877" y2="92456"/>
                        <a14:foregroundMark x1="32877" y1="92456" x2="34051" y2="91876"/>
                        <a14:foregroundMark x1="26862" y1="94840" x2="52446" y2="91876"/>
                        <a14:foregroundMark x1="26148" y1="94923" x2="26348" y2="94900"/>
                        <a14:foregroundMark x1="24070" y1="95164" x2="25959" y2="94945"/>
                        <a14:foregroundMark x1="52446" y1="91876" x2="57828" y2="87234"/>
                        <a14:foregroundMark x1="57828" y1="87234" x2="63601" y2="76596"/>
                        <a14:foregroundMark x1="63601" y1="76596" x2="71331" y2="78337"/>
                        <a14:foregroundMark x1="71331" y1="78337" x2="76712" y2="77563"/>
                        <a14:foregroundMark x1="76712" y1="77563" x2="86301" y2="25725"/>
                        <a14:foregroundMark x1="86301" y1="25725" x2="71624" y2="9284"/>
                        <a14:foregroundMark x1="71624" y1="9284" x2="71526" y2="8124"/>
                        <a14:foregroundMark x1="6849" y1="83752" x2="11840" y2="83752"/>
                        <a14:foregroundMark x1="20787" y1="84881" x2="21037" y2="84913"/>
                        <a14:foregroundMark x1="11840" y1="83752" x2="20447" y2="84839"/>
                        <a14:foregroundMark x1="76614" y1="83559" x2="78865" y2="83559"/>
                        <a14:foregroundMark x1="49902" y1="84526" x2="55577" y2="82592"/>
                        <a14:foregroundMark x1="89335" y1="21857" x2="93738" y2="13153"/>
                        <a14:foregroundMark x1="94423" y1="13926" x2="95401" y2="14700"/>
                        <a14:foregroundMark x1="95597" y1="14700" x2="97847" y2="20503"/>
                        <a14:foregroundMark x1="98337" y1="20309" x2="98826" y2="16248"/>
                        <a14:foregroundMark x1="78865" y1="8704" x2="79843" y2="7544"/>
                        <a14:foregroundMark x1="55675" y1="19536" x2="55675" y2="16054"/>
                        <a14:foregroundMark x1="30528" y1="17988" x2="28865" y2="16828"/>
                        <a14:foregroundMark x1="59295" y1="94778" x2="59785" y2="94778"/>
                        <a14:backgroundMark x1="587" y1="46228" x2="489" y2="65184"/>
                        <a14:backgroundMark x1="196" y1="69246" x2="0" y2="75435"/>
                        <a14:backgroundMark x1="6262" y1="87814" x2="4012" y2="87427"/>
                        <a14:backgroundMark x1="2935" y1="86267" x2="3620" y2="87234"/>
                        <a14:backgroundMark x1="587" y1="82785" x2="587" y2="77756"/>
                        <a14:backgroundMark x1="1370" y1="69826" x2="1370" y2="69826"/>
                        <a14:backgroundMark x1="4305" y1="3095" x2="14286" y2="2901"/>
                        <a14:backgroundMark x1="14286" y1="2901" x2="24560" y2="2901"/>
                        <a14:backgroundMark x1="24560" y1="2901" x2="31018" y2="2321"/>
                        <a14:backgroundMark x1="47162" y1="2901" x2="95401" y2="3482"/>
                        <a14:backgroundMark x1="26027" y1="95358" x2="25930" y2="93617"/>
                        <a14:backgroundMark x1="26223" y1="92650" x2="25636" y2="92456"/>
                        <a14:backgroundMark x1="20059" y1="86460" x2="20548" y2="85880"/>
                      </a14:backgroundRemoval>
                    </a14:imgEffect>
                  </a14:imgLayer>
                </a14:imgProps>
              </a:ext>
            </a:extLst>
          </a:blip>
          <a:srcRect l="1683" t="5240"/>
          <a:stretch/>
        </p:blipFill>
        <p:spPr>
          <a:xfrm>
            <a:off x="2796898" y="2581377"/>
            <a:ext cx="6533564" cy="3185591"/>
          </a:xfrm>
          <a:prstGeom prst="rect">
            <a:avLst/>
          </a:prstGeom>
        </p:spPr>
      </p:pic>
      <p:cxnSp>
        <p:nvCxnSpPr>
          <p:cNvPr id="12" name="Přímá spojnice se šipkou 11">
            <a:extLst>
              <a:ext uri="{FF2B5EF4-FFF2-40B4-BE49-F238E27FC236}">
                <a16:creationId xmlns:a16="http://schemas.microsoft.com/office/drawing/2014/main" id="{7B6AC26F-4987-FFE1-72F6-2DF6A247C5C5}"/>
              </a:ext>
            </a:extLst>
          </p:cNvPr>
          <p:cNvCxnSpPr/>
          <p:nvPr/>
        </p:nvCxnSpPr>
        <p:spPr>
          <a:xfrm>
            <a:off x="5134062" y="1619075"/>
            <a:ext cx="293615" cy="202174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F3307250-4B89-485D-17D2-3B55329F2F58}"/>
              </a:ext>
            </a:extLst>
          </p:cNvPr>
          <p:cNvSpPr txBox="1"/>
          <p:nvPr/>
        </p:nvSpPr>
        <p:spPr>
          <a:xfrm>
            <a:off x="4429386" y="1206863"/>
            <a:ext cx="140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Grafický čip</a:t>
            </a:r>
          </a:p>
        </p:txBody>
      </p:sp>
      <p:cxnSp>
        <p:nvCxnSpPr>
          <p:cNvPr id="17" name="Přímá spojnice se šipkou 16">
            <a:extLst>
              <a:ext uri="{FF2B5EF4-FFF2-40B4-BE49-F238E27FC236}">
                <a16:creationId xmlns:a16="http://schemas.microsoft.com/office/drawing/2014/main" id="{0F73C6AA-5C21-E3B1-C133-689094AB36FB}"/>
              </a:ext>
            </a:extLst>
          </p:cNvPr>
          <p:cNvCxnSpPr/>
          <p:nvPr/>
        </p:nvCxnSpPr>
        <p:spPr>
          <a:xfrm flipH="1">
            <a:off x="6870583" y="1619075"/>
            <a:ext cx="780177" cy="16106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8D38516B-1841-C608-9D7C-2A6058EB46AB}"/>
              </a:ext>
            </a:extLst>
          </p:cNvPr>
          <p:cNvSpPr txBox="1"/>
          <p:nvPr/>
        </p:nvSpPr>
        <p:spPr>
          <a:xfrm>
            <a:off x="6702803" y="1236812"/>
            <a:ext cx="2451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Paměťové moduly</a:t>
            </a:r>
          </a:p>
        </p:txBody>
      </p:sp>
      <p:cxnSp>
        <p:nvCxnSpPr>
          <p:cNvPr id="22" name="Přímá spojnice se šipkou 21">
            <a:extLst>
              <a:ext uri="{FF2B5EF4-FFF2-40B4-BE49-F238E27FC236}">
                <a16:creationId xmlns:a16="http://schemas.microsoft.com/office/drawing/2014/main" id="{9ED4824D-9C36-7125-8A17-B2079C7EFFDF}"/>
              </a:ext>
            </a:extLst>
          </p:cNvPr>
          <p:cNvCxnSpPr/>
          <p:nvPr/>
        </p:nvCxnSpPr>
        <p:spPr>
          <a:xfrm flipH="1">
            <a:off x="9154293" y="2063027"/>
            <a:ext cx="1550059" cy="73889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FC8EF6A0-C5EF-E412-43D8-1B88F7A67FD1}"/>
              </a:ext>
            </a:extLst>
          </p:cNvPr>
          <p:cNvSpPr txBox="1"/>
          <p:nvPr/>
        </p:nvSpPr>
        <p:spPr>
          <a:xfrm>
            <a:off x="10546865" y="1628480"/>
            <a:ext cx="1548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zdroj</a:t>
            </a:r>
          </a:p>
        </p:txBody>
      </p:sp>
      <p:cxnSp>
        <p:nvCxnSpPr>
          <p:cNvPr id="25" name="Přímá spojnice se šipkou 24">
            <a:extLst>
              <a:ext uri="{FF2B5EF4-FFF2-40B4-BE49-F238E27FC236}">
                <a16:creationId xmlns:a16="http://schemas.microsoft.com/office/drawing/2014/main" id="{FF509BD6-5481-36BC-2161-09C19728F5EA}"/>
              </a:ext>
            </a:extLst>
          </p:cNvPr>
          <p:cNvCxnSpPr/>
          <p:nvPr/>
        </p:nvCxnSpPr>
        <p:spPr>
          <a:xfrm flipH="1">
            <a:off x="6325299" y="5503178"/>
            <a:ext cx="3707934" cy="9227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ovéPole 25">
            <a:extLst>
              <a:ext uri="{FF2B5EF4-FFF2-40B4-BE49-F238E27FC236}">
                <a16:creationId xmlns:a16="http://schemas.microsoft.com/office/drawing/2014/main" id="{3B7785CC-F6A2-231C-EC39-D5C9461255D5}"/>
              </a:ext>
            </a:extLst>
          </p:cNvPr>
          <p:cNvSpPr txBox="1"/>
          <p:nvPr/>
        </p:nvSpPr>
        <p:spPr>
          <a:xfrm>
            <a:off x="10038537" y="5058561"/>
            <a:ext cx="16473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Konektor pro připojení do základní desky (PCIe 16x 4.0)</a:t>
            </a:r>
          </a:p>
        </p:txBody>
      </p:sp>
      <p:sp>
        <p:nvSpPr>
          <p:cNvPr id="27" name="TextovéPole 26">
            <a:extLst>
              <a:ext uri="{FF2B5EF4-FFF2-40B4-BE49-F238E27FC236}">
                <a16:creationId xmlns:a16="http://schemas.microsoft.com/office/drawing/2014/main" id="{3A29A10E-BDA8-07F5-E8EB-CB498D2923DB}"/>
              </a:ext>
            </a:extLst>
          </p:cNvPr>
          <p:cNvSpPr txBox="1"/>
          <p:nvPr/>
        </p:nvSpPr>
        <p:spPr>
          <a:xfrm>
            <a:off x="375575" y="1813146"/>
            <a:ext cx="17449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Použil se stejný čip jako u CMP 107HX </a:t>
            </a:r>
            <a:r>
              <a:rPr lang="cs-CZ" dirty="0" err="1"/>
              <a:t>mining</a:t>
            </a:r>
            <a:r>
              <a:rPr lang="cs-CZ" dirty="0"/>
              <a:t> </a:t>
            </a:r>
            <a:r>
              <a:rPr lang="cs-CZ" dirty="0" err="1"/>
              <a:t>card</a:t>
            </a:r>
            <a:endParaRPr lang="cs-CZ" dirty="0"/>
          </a:p>
        </p:txBody>
      </p:sp>
      <p:sp>
        <p:nvSpPr>
          <p:cNvPr id="28" name="TextovéPole 27">
            <a:extLst>
              <a:ext uri="{FF2B5EF4-FFF2-40B4-BE49-F238E27FC236}">
                <a16:creationId xmlns:a16="http://schemas.microsoft.com/office/drawing/2014/main" id="{2B33B371-E8A1-2C5F-165D-40433E834521}"/>
              </a:ext>
            </a:extLst>
          </p:cNvPr>
          <p:cNvSpPr txBox="1"/>
          <p:nvPr/>
        </p:nvSpPr>
        <p:spPr>
          <a:xfrm>
            <a:off x="375575" y="3229761"/>
            <a:ext cx="15622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Grafická karta dokáže odebírat až 500W</a:t>
            </a:r>
          </a:p>
        </p:txBody>
      </p:sp>
      <p:sp>
        <p:nvSpPr>
          <p:cNvPr id="29" name="TextovéPole 28">
            <a:extLst>
              <a:ext uri="{FF2B5EF4-FFF2-40B4-BE49-F238E27FC236}">
                <a16:creationId xmlns:a16="http://schemas.microsoft.com/office/drawing/2014/main" id="{F3CE1376-F407-4323-1D07-CF746FAB59E2}"/>
              </a:ext>
            </a:extLst>
          </p:cNvPr>
          <p:cNvSpPr txBox="1"/>
          <p:nvPr/>
        </p:nvSpPr>
        <p:spPr>
          <a:xfrm>
            <a:off x="348189" y="4517281"/>
            <a:ext cx="1562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Má 80 GB RAM</a:t>
            </a:r>
          </a:p>
        </p:txBody>
      </p:sp>
      <p:sp>
        <p:nvSpPr>
          <p:cNvPr id="30" name="TextovéPole 29">
            <a:extLst>
              <a:ext uri="{FF2B5EF4-FFF2-40B4-BE49-F238E27FC236}">
                <a16:creationId xmlns:a16="http://schemas.microsoft.com/office/drawing/2014/main" id="{50DA0B2D-70D5-8FA7-94AA-0A2610EFC49F}"/>
              </a:ext>
            </a:extLst>
          </p:cNvPr>
          <p:cNvSpPr txBox="1"/>
          <p:nvPr/>
        </p:nvSpPr>
        <p:spPr>
          <a:xfrm>
            <a:off x="375575" y="5301842"/>
            <a:ext cx="1562256" cy="780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cs-CZ" dirty="0"/>
          </a:p>
        </p:txBody>
      </p:sp>
      <p:sp>
        <p:nvSpPr>
          <p:cNvPr id="31" name="TextovéPole 30">
            <a:extLst>
              <a:ext uri="{FF2B5EF4-FFF2-40B4-BE49-F238E27FC236}">
                <a16:creationId xmlns:a16="http://schemas.microsoft.com/office/drawing/2014/main" id="{643DAB35-7DD6-B8E7-D041-71F8B481A1DC}"/>
              </a:ext>
            </a:extLst>
          </p:cNvPr>
          <p:cNvSpPr txBox="1"/>
          <p:nvPr/>
        </p:nvSpPr>
        <p:spPr>
          <a:xfrm>
            <a:off x="436228" y="5301842"/>
            <a:ext cx="15622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Také používá nový typ Tensor GPU</a:t>
            </a:r>
          </a:p>
        </p:txBody>
      </p:sp>
    </p:spTree>
    <p:extLst>
      <p:ext uri="{BB962C8B-B14F-4D97-AF65-F5344CB8AC3E}">
        <p14:creationId xmlns:p14="http://schemas.microsoft.com/office/powerpoint/2010/main" val="2245671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4488A8C7-19AB-76D4-871C-0985CF1003FF}"/>
              </a:ext>
            </a:extLst>
          </p:cNvPr>
          <p:cNvSpPr/>
          <p:nvPr/>
        </p:nvSpPr>
        <p:spPr>
          <a:xfrm>
            <a:off x="6096000" y="1090568"/>
            <a:ext cx="5866701" cy="39032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4EF8CDE-5031-62B6-6FEC-364A9A139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Porovnání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ACD9B2F-0531-C4A1-F91B-C56D79ABD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758" y="2065984"/>
            <a:ext cx="5525875" cy="3903298"/>
          </a:xfrm>
        </p:spPr>
        <p:txBody>
          <a:bodyPr/>
          <a:lstStyle/>
          <a:p>
            <a:r>
              <a:rPr lang="cs-CZ" dirty="0"/>
              <a:t>Oproti 3090 je pomalejší při vykreslování obrazu v CUDA a </a:t>
            </a:r>
            <a:r>
              <a:rPr lang="cs-CZ" dirty="0" err="1"/>
              <a:t>Opticx</a:t>
            </a:r>
            <a:endParaRPr lang="cs-CZ" dirty="0"/>
          </a:p>
          <a:p>
            <a:r>
              <a:rPr lang="cs-CZ" dirty="0"/>
              <a:t>Na druhou stranu je efektivnější v </a:t>
            </a:r>
            <a:r>
              <a:rPr lang="cs-CZ" dirty="0" err="1"/>
              <a:t>mining</a:t>
            </a:r>
            <a:r>
              <a:rPr lang="cs-CZ" dirty="0"/>
              <a:t>, dokáže při menší spotřebě vytěžit více </a:t>
            </a:r>
          </a:p>
          <a:p>
            <a:r>
              <a:rPr lang="cs-CZ" dirty="0"/>
              <a:t>Také je rychlejší když používá technologii umělé inteligence (RESNET50) ale také spotřebovává víc energie</a:t>
            </a:r>
          </a:p>
          <a:p>
            <a:pPr marL="0" indent="0">
              <a:buNone/>
            </a:pPr>
            <a:r>
              <a:rPr lang="cs-CZ" dirty="0"/>
              <a:t>Závěr: 3090 je lepší pro konzumenty a náročné hráče, A100 je pro servery a AI </a:t>
            </a:r>
            <a:r>
              <a:rPr lang="cs-CZ" dirty="0" err="1"/>
              <a:t>deep</a:t>
            </a:r>
            <a:r>
              <a:rPr lang="cs-CZ" dirty="0"/>
              <a:t> learning</a:t>
            </a:r>
          </a:p>
        </p:txBody>
      </p:sp>
      <p:pic>
        <p:nvPicPr>
          <p:cNvPr id="3074" name="Picture 2" descr="MSI GeForce RTX 3090 GAMING X TRIO / 1395-1785MHz / 24GB GDDR6X / |  Mironet.cz">
            <a:extLst>
              <a:ext uri="{FF2B5EF4-FFF2-40B4-BE49-F238E27FC236}">
                <a16:creationId xmlns:a16="http://schemas.microsoft.com/office/drawing/2014/main" id="{DA0BC5A8-2EEF-A9B3-D2FA-73CD88C73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407" y="1638332"/>
            <a:ext cx="4333271" cy="243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D8A21CE7-966A-A17F-62ED-79C6EF6FC075}"/>
              </a:ext>
            </a:extLst>
          </p:cNvPr>
          <p:cNvSpPr txBox="1"/>
          <p:nvPr/>
        </p:nvSpPr>
        <p:spPr>
          <a:xfrm>
            <a:off x="7354548" y="4193044"/>
            <a:ext cx="3461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Porovnávací karta </a:t>
            </a:r>
          </a:p>
          <a:p>
            <a:pPr algn="ctr"/>
            <a:r>
              <a:rPr lang="cs-CZ" dirty="0" err="1">
                <a:solidFill>
                  <a:schemeClr val="bg1"/>
                </a:solidFill>
              </a:rPr>
              <a:t>Nvidia</a:t>
            </a:r>
            <a:r>
              <a:rPr lang="cs-CZ" dirty="0">
                <a:solidFill>
                  <a:schemeClr val="bg1"/>
                </a:solidFill>
              </a:rPr>
              <a:t> 3090</a:t>
            </a:r>
          </a:p>
        </p:txBody>
      </p:sp>
    </p:spTree>
    <p:extLst>
      <p:ext uri="{BB962C8B-B14F-4D97-AF65-F5344CB8AC3E}">
        <p14:creationId xmlns:p14="http://schemas.microsoft.com/office/powerpoint/2010/main" val="1609568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BF02845A-8571-40C5-9F56-8F9B3F7C4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84E24FF-CFB6-4256-3D81-562FEB453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297" y="523207"/>
            <a:ext cx="4569407" cy="1560083"/>
          </a:xfrm>
        </p:spPr>
        <p:txBody>
          <a:bodyPr>
            <a:normAutofit/>
          </a:bodyPr>
          <a:lstStyle/>
          <a:p>
            <a:r>
              <a:rPr lang="cs-CZ" dirty="0"/>
              <a:t>A100 </a:t>
            </a:r>
            <a:r>
              <a:rPr lang="cs-CZ" dirty="0" err="1"/>
              <a:t>ampere</a:t>
            </a:r>
            <a:endParaRPr lang="cs-CZ" dirty="0"/>
          </a:p>
        </p:txBody>
      </p:sp>
      <p:cxnSp>
        <p:nvCxnSpPr>
          <p:cNvPr id="5129" name="Straight Connector 5128">
            <a:extLst>
              <a:ext uri="{FF2B5EF4-FFF2-40B4-BE49-F238E27FC236}">
                <a16:creationId xmlns:a16="http://schemas.microsoft.com/office/drawing/2014/main" id="{F30BB598-81B4-41BB-BC44-CD9C29AE2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52500" y="2871627"/>
            <a:ext cx="0" cy="3186701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D83B6BA-A037-F5B7-C89D-7C8A3C26D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033" y="2753546"/>
            <a:ext cx="3746928" cy="3402555"/>
          </a:xfrm>
        </p:spPr>
        <p:txBody>
          <a:bodyPr anchor="t">
            <a:normAutofit lnSpcReduction="10000"/>
          </a:bodyPr>
          <a:lstStyle/>
          <a:p>
            <a:r>
              <a:rPr lang="cs-CZ" sz="1900" dirty="0" err="1"/>
              <a:t>Ampere</a:t>
            </a:r>
            <a:r>
              <a:rPr lang="cs-CZ" sz="1900" dirty="0"/>
              <a:t> byla předchůdce</a:t>
            </a:r>
          </a:p>
          <a:p>
            <a:r>
              <a:rPr lang="cs-CZ" sz="1900" dirty="0"/>
              <a:t>Měla pouze 40GB RAM</a:t>
            </a:r>
          </a:p>
          <a:p>
            <a:r>
              <a:rPr lang="cs-CZ" sz="1900" dirty="0"/>
              <a:t>Vyráběla se na 7mn architektuře</a:t>
            </a:r>
          </a:p>
          <a:p>
            <a:r>
              <a:rPr lang="cs-CZ" sz="1900" dirty="0" err="1"/>
              <a:t>Desing</a:t>
            </a:r>
            <a:r>
              <a:rPr lang="cs-CZ" sz="1900" dirty="0"/>
              <a:t> je stejný jako dnes</a:t>
            </a:r>
          </a:p>
          <a:p>
            <a:r>
              <a:rPr lang="cs-CZ" sz="1900" dirty="0"/>
              <a:t>S pasivním chlazení</a:t>
            </a:r>
          </a:p>
          <a:p>
            <a:r>
              <a:rPr lang="cs-CZ" sz="1900" dirty="0"/>
              <a:t>Při připojení pomocí PCIe může pouze odebírat 250W</a:t>
            </a:r>
          </a:p>
          <a:p>
            <a:r>
              <a:rPr lang="cs-CZ" sz="1900" dirty="0"/>
              <a:t>Obecně pomalejší</a:t>
            </a:r>
          </a:p>
          <a:p>
            <a:endParaRPr lang="cs-CZ" sz="1900" dirty="0"/>
          </a:p>
          <a:p>
            <a:endParaRPr lang="cs-CZ" sz="1900" dirty="0"/>
          </a:p>
          <a:p>
            <a:endParaRPr lang="cs-CZ" sz="1900" dirty="0"/>
          </a:p>
        </p:txBody>
      </p:sp>
      <p:pic>
        <p:nvPicPr>
          <p:cNvPr id="5122" name="Picture 2" descr="NVIDIA Ampere Architecture | NVIDIA">
            <a:extLst>
              <a:ext uri="{FF2B5EF4-FFF2-40B4-BE49-F238E27FC236}">
                <a16:creationId xmlns:a16="http://schemas.microsoft.com/office/drawing/2014/main" id="{BAF74A9A-89A7-B327-FA27-A31C8F1CFC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23" r="21638"/>
          <a:stretch/>
        </p:blipFill>
        <p:spPr bwMode="auto">
          <a:xfrm>
            <a:off x="6096000" y="-16591"/>
            <a:ext cx="6107073" cy="6874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3341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A9645B-6279-1278-3506-EE4C5F520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Zdroje: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AA7D306-3729-494F-6D35-86EC8064F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hlinkClick r:id="rId2"/>
              </a:rPr>
              <a:t>https://www.nvidia.com/en-us/data-center/a100/</a:t>
            </a:r>
            <a:endParaRPr lang="cs-CZ" dirty="0"/>
          </a:p>
          <a:p>
            <a:r>
              <a:rPr lang="cs-CZ" dirty="0">
                <a:hlinkClick r:id="rId3"/>
              </a:rPr>
              <a:t>https://smicro.cz/nvidia-a100-80gb-cowos-hbm2-pcie-w-o-cec-900-21001-0020-100?gclid=EAIaIQobChMIq6XDz66A_QIVU5BoCR0I7wj1EAQYASABEgK0b_D_BwE</a:t>
            </a:r>
            <a:endParaRPr lang="cs-CZ" dirty="0"/>
          </a:p>
          <a:p>
            <a:r>
              <a:rPr lang="cs-CZ" dirty="0">
                <a:hlinkClick r:id="rId4"/>
              </a:rPr>
              <a:t>https://mcomputers.cz/produkty-a-sluzby/nvidia/dgx-systemy/dgx-a100/</a:t>
            </a:r>
            <a:endParaRPr lang="cs-CZ" dirty="0"/>
          </a:p>
          <a:p>
            <a:r>
              <a:rPr lang="cs-CZ" dirty="0">
                <a:hlinkClick r:id="rId5"/>
              </a:rPr>
              <a:t>https://www.youtube.com/watch?v=zBAxiQi2nPc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27789334"/>
      </p:ext>
    </p:extLst>
  </p:cSld>
  <p:clrMapOvr>
    <a:masterClrMapping/>
  </p:clrMapOvr>
</p:sld>
</file>

<file path=ppt/theme/theme1.xml><?xml version="1.0" encoding="utf-8"?>
<a:theme xmlns:a="http://schemas.openxmlformats.org/drawingml/2006/main" name="VaultVTI">
  <a:themeElements>
    <a:clrScheme name="AnalogousFromRegularSeedLeftStep">
      <a:dk1>
        <a:srgbClr val="000000"/>
      </a:dk1>
      <a:lt1>
        <a:srgbClr val="FFFFFF"/>
      </a:lt1>
      <a:dk2>
        <a:srgbClr val="213B39"/>
      </a:dk2>
      <a:lt2>
        <a:srgbClr val="E8E7E2"/>
      </a:lt2>
      <a:accent1>
        <a:srgbClr val="4864C8"/>
      </a:accent1>
      <a:accent2>
        <a:srgbClr val="3687B6"/>
      </a:accent2>
      <a:accent3>
        <a:srgbClr val="41B4AE"/>
      </a:accent3>
      <a:accent4>
        <a:srgbClr val="36B67A"/>
      </a:accent4>
      <a:accent5>
        <a:srgbClr val="43B950"/>
      </a:accent5>
      <a:accent6>
        <a:srgbClr val="5DB636"/>
      </a:accent6>
      <a:hlink>
        <a:srgbClr val="998333"/>
      </a:hlink>
      <a:folHlink>
        <a:srgbClr val="7F7F7F"/>
      </a:folHlink>
    </a:clrScheme>
    <a:fontScheme name="Custom 5">
      <a:majorFont>
        <a:latin typeface="Georgia Pro Light"/>
        <a:ea typeface=""/>
        <a:cs typeface=""/>
      </a:majorFont>
      <a:minorFont>
        <a:latin typeface="Georgi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ultVTI" id="{144E1EB0-F9F9-4F8D-8264-A2820BA0C47A}" vid="{3A992A48-7697-4A22-A884-B4A11E6218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f220dc0-27a6-4f79-8ef7-91d1414d0c8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2C7855F7BF8D249ADE0E26EBB5E2E0D" ma:contentTypeVersion="11" ma:contentTypeDescription="Vytvoří nový dokument" ma:contentTypeScope="" ma:versionID="9bcb125dd744aa98778621e8ab9c573e">
  <xsd:schema xmlns:xsd="http://www.w3.org/2001/XMLSchema" xmlns:xs="http://www.w3.org/2001/XMLSchema" xmlns:p="http://schemas.microsoft.com/office/2006/metadata/properties" xmlns:ns3="5f220dc0-27a6-4f79-8ef7-91d1414d0c8a" xmlns:ns4="8716bbdc-2b9e-4b6c-9f5d-91220b825f80" targetNamespace="http://schemas.microsoft.com/office/2006/metadata/properties" ma:root="true" ma:fieldsID="c5baaa83790ae9688e7121ba1293085f" ns3:_="" ns4:_="">
    <xsd:import namespace="5f220dc0-27a6-4f79-8ef7-91d1414d0c8a"/>
    <xsd:import namespace="8716bbdc-2b9e-4b6c-9f5d-91220b825f8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220dc0-27a6-4f79-8ef7-91d1414d0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16bbdc-2b9e-4b6c-9f5d-91220b825f8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D787368-E7C3-42BD-827B-8664BA243CEB}">
  <ds:schemaRefs>
    <ds:schemaRef ds:uri="http://schemas.microsoft.com/office/2006/metadata/properties"/>
    <ds:schemaRef ds:uri="http://www.w3.org/2000/xmlns/"/>
    <ds:schemaRef ds:uri="5f220dc0-27a6-4f79-8ef7-91d1414d0c8a"/>
    <ds:schemaRef ds:uri="http://www.w3.org/2001/XMLSchema-instance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BCC6046-2AA0-47DA-B4A4-ACB30D1B7F96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f220dc0-27a6-4f79-8ef7-91d1414d0c8a"/>
    <ds:schemaRef ds:uri="8716bbdc-2b9e-4b6c-9f5d-91220b825f80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CEE2120-F3DD-4A5A-B425-6B86430DB51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277</Words>
  <Application>Microsoft Office PowerPoint</Application>
  <PresentationFormat>Širokoúhlá obrazovka</PresentationFormat>
  <Paragraphs>40</Paragraphs>
  <Slides>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9" baseType="lpstr">
      <vt:lpstr>Arial</vt:lpstr>
      <vt:lpstr>Georgia Pro Light</vt:lpstr>
      <vt:lpstr>VaultVTI</vt:lpstr>
      <vt:lpstr>Nvidia A100</vt:lpstr>
      <vt:lpstr>Základní informace</vt:lpstr>
      <vt:lpstr>Rozložení grafické karty</vt:lpstr>
      <vt:lpstr>Porovnání</vt:lpstr>
      <vt:lpstr>A100 ampere</vt:lpstr>
      <vt:lpstr>Zdroje: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