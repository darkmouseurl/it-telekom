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2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ADEC20-D15D-4B53-962C-D3676D60665D}" v="6" dt="2021-02-26T11:24:49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el Halouzka" userId="S::halouzka@teleinformatika.eu::a910ec61-1552-49b0-a90b-533e7c0fcf1a" providerId="AD" clId="Web-{D5ADEC20-D15D-4B53-962C-D3676D60665D}"/>
    <pc:docChg chg="modSld">
      <pc:chgData name="Pavel Halouzka" userId="S::halouzka@teleinformatika.eu::a910ec61-1552-49b0-a90b-533e7c0fcf1a" providerId="AD" clId="Web-{D5ADEC20-D15D-4B53-962C-D3676D60665D}" dt="2021-02-26T11:24:49.125" v="5" actId="1076"/>
      <pc:docMkLst>
        <pc:docMk/>
      </pc:docMkLst>
      <pc:sldChg chg="modSp">
        <pc:chgData name="Pavel Halouzka" userId="S::halouzka@teleinformatika.eu::a910ec61-1552-49b0-a90b-533e7c0fcf1a" providerId="AD" clId="Web-{D5ADEC20-D15D-4B53-962C-D3676D60665D}" dt="2021-02-26T11:24:49.125" v="5" actId="1076"/>
        <pc:sldMkLst>
          <pc:docMk/>
          <pc:sldMk cId="2366492262" sldId="262"/>
        </pc:sldMkLst>
        <pc:spChg chg="mod">
          <ac:chgData name="Pavel Halouzka" userId="S::halouzka@teleinformatika.eu::a910ec61-1552-49b0-a90b-533e7c0fcf1a" providerId="AD" clId="Web-{D5ADEC20-D15D-4B53-962C-D3676D60665D}" dt="2021-02-26T11:24:49.125" v="5" actId="1076"/>
          <ac:spMkLst>
            <pc:docMk/>
            <pc:sldMk cId="2366492262" sldId="262"/>
            <ac:spMk id="2" creationId="{00000000-0000-0000-0000-000000000000}"/>
          </ac:spMkLst>
        </pc:spChg>
        <pc:picChg chg="mod">
          <ac:chgData name="Pavel Halouzka" userId="S::halouzka@teleinformatika.eu::a910ec61-1552-49b0-a90b-533e7c0fcf1a" providerId="AD" clId="Web-{D5ADEC20-D15D-4B53-962C-D3676D60665D}" dt="2021-02-26T11:24:40.296" v="4" actId="1076"/>
          <ac:picMkLst>
            <pc:docMk/>
            <pc:sldMk cId="2366492262" sldId="262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483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02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123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174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994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895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202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335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137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98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808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91083-5BEF-4660-81FF-1E312883DD3D}" type="datetimeFigureOut">
              <a:rPr lang="cs-CZ" smtClean="0"/>
              <a:t>19.09.2022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88625-E1E7-4DB2-85A6-9F840115FA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949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Počítačové skříně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021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68828" y="523745"/>
            <a:ext cx="2119604" cy="1325563"/>
          </a:xfrm>
        </p:spPr>
        <p:txBody>
          <a:bodyPr/>
          <a:lstStyle/>
          <a:p>
            <a:r>
              <a:rPr lang="cs-CZ" b="1" dirty="0"/>
              <a:t>ÚVOD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90331" y="2152196"/>
            <a:ext cx="7550020" cy="435133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cs-CZ" dirty="0"/>
              <a:t>Počítačová skříň je jakousi základnou pro ostatní komponenty počítače a zároveň tyto komponenty chrání před vnějšími vlivy jako je například statická elektřina. </a:t>
            </a:r>
          </a:p>
          <a:p>
            <a:pPr algn="just"/>
            <a:r>
              <a:rPr lang="cs-CZ" dirty="0"/>
              <a:t>Kromě ochrany a umístění počítačových komponent, umožňuje design skříně také správné chlazení jednotlivých komponent. </a:t>
            </a:r>
          </a:p>
          <a:p>
            <a:pPr algn="just"/>
            <a:r>
              <a:rPr lang="cs-CZ" dirty="0"/>
              <a:t>Ve skříni je umístěn jeden, nebo více ventilátorů, které prohánějí vzduch skrz počítačovou skříň. Vzduch prochází kolem komponent, které se zahřívají a teplý vzduch poté opouští skříň. Tento proces pomáhá chránit jednotlivé komponenty před přehříváním. </a:t>
            </a:r>
          </a:p>
          <a:p>
            <a:pPr algn="just"/>
            <a:r>
              <a:rPr lang="cs-CZ" dirty="0"/>
              <a:t>Počítačové skříně se vyrábějí v různých velikostech a tvarech podle výrobních norem. 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928" y="175127"/>
            <a:ext cx="2434167" cy="1825625"/>
          </a:xfrm>
          <a:prstGeom prst="rect">
            <a:avLst/>
          </a:prstGeom>
        </p:spPr>
      </p:pic>
      <p:pic>
        <p:nvPicPr>
          <p:cNvPr id="1026" name="Picture 2" descr="Cougar Conquer, okno, černá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820" y="600662"/>
            <a:ext cx="2800179" cy="280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czc.cz/b2gu1njip2htl8stcq39e3gm27_7/obraze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949" y="3610947"/>
            <a:ext cx="3856782" cy="289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83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Typy počítačových skříní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5180045" cy="4351338"/>
          </a:xfrm>
        </p:spPr>
        <p:txBody>
          <a:bodyPr/>
          <a:lstStyle/>
          <a:p>
            <a:pPr algn="just"/>
            <a:r>
              <a:rPr lang="cs-CZ" b="1" dirty="0"/>
              <a:t>Desktop </a:t>
            </a:r>
            <a:r>
              <a:rPr lang="cs-CZ" dirty="0"/>
              <a:t>– počítačová skříň je umístěna </a:t>
            </a:r>
            <a:r>
              <a:rPr lang="pl-PL" dirty="0"/>
              <a:t>horizontálně na pracovním stole a na ní je </a:t>
            </a:r>
            <a:r>
              <a:rPr lang="cs-CZ" dirty="0"/>
              <a:t>umístěn monitor. </a:t>
            </a:r>
          </a:p>
          <a:p>
            <a:pPr algn="just"/>
            <a:r>
              <a:rPr lang="cs-CZ" b="1" dirty="0"/>
              <a:t>Tower </a:t>
            </a:r>
            <a:r>
              <a:rPr lang="cs-CZ" dirty="0"/>
              <a:t>– dnes je to nejběžnější uspořádání z důvodu vhodnějšího uspořádání a chlazení komponent. Počítač také nemusí zbytečně </a:t>
            </a:r>
            <a:r>
              <a:rPr lang="pl-PL" dirty="0"/>
              <a:t>zabírat místo na pracovním stole.</a:t>
            </a:r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533" y="936358"/>
            <a:ext cx="3678552" cy="1643598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347" y="2963955"/>
            <a:ext cx="2506310" cy="347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56861" y="94538"/>
            <a:ext cx="2464837" cy="1325563"/>
          </a:xfrm>
        </p:spPr>
        <p:txBody>
          <a:bodyPr/>
          <a:lstStyle/>
          <a:p>
            <a:r>
              <a:rPr lang="cs-CZ" b="1" dirty="0"/>
              <a:t>Desktop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1629" y="1555036"/>
            <a:ext cx="7484706" cy="506036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cs-CZ" dirty="0"/>
              <a:t>Počítačové skříně typu desktop patří k nejmenším počítačovým skříním. Klasický desktop může obsahovat 1 nebo 2 pozice 3,5“ a 2 nebo 3 pozice 5,25“ pro optické mechaniky. Vejde se do ní většina uživatelem požadovaných komponent. </a:t>
            </a:r>
          </a:p>
          <a:p>
            <a:pPr algn="just"/>
            <a:r>
              <a:rPr lang="cs-CZ" b="1" dirty="0" err="1"/>
              <a:t>Slim</a:t>
            </a:r>
            <a:r>
              <a:rPr lang="cs-CZ" b="1" dirty="0"/>
              <a:t>-line </a:t>
            </a:r>
            <a:endParaRPr lang="cs-CZ" dirty="0"/>
          </a:p>
          <a:p>
            <a:pPr algn="just"/>
            <a:r>
              <a:rPr lang="cs-CZ" dirty="0"/>
              <a:t>Někdy se můžeme setkat se zmenšenými verzemi </a:t>
            </a:r>
            <a:r>
              <a:rPr lang="cs-CZ" dirty="0" err="1"/>
              <a:t>slim</a:t>
            </a:r>
            <a:r>
              <a:rPr lang="cs-CZ" dirty="0"/>
              <a:t>-line , které jsou podstatně nižší. Obsahují 1 pozici 3,5“ a jednu pozici 5,25“, jeden pevný disk, základní desku, zdroj a všechny důležité komponenty. Díky své velikosti většinou není možno později provádět další rozšiřování počítačové sestavy. </a:t>
            </a:r>
          </a:p>
          <a:p>
            <a:pPr algn="just"/>
            <a:r>
              <a:rPr lang="cs-CZ" dirty="0"/>
              <a:t>Chlazení desktopů je problematické, nefunguje zde totiž komínový efekt obvyklý u skříní typu Tower a uchlazení výkonné sestavy může být problematické. </a:t>
            </a:r>
          </a:p>
          <a:p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060" y="830424"/>
            <a:ext cx="3297075" cy="1812990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060" y="2827174"/>
            <a:ext cx="3297075" cy="2476469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74" y="18920"/>
            <a:ext cx="1623008" cy="162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3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9620" y="0"/>
            <a:ext cx="2194249" cy="1325563"/>
          </a:xfrm>
        </p:spPr>
        <p:txBody>
          <a:bodyPr/>
          <a:lstStyle/>
          <a:p>
            <a:r>
              <a:rPr lang="cs-CZ" b="1" dirty="0"/>
              <a:t>Tower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71669" y="1427584"/>
            <a:ext cx="6178420" cy="543041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cs-CZ" b="1" dirty="0"/>
              <a:t>Big Tower </a:t>
            </a:r>
            <a:r>
              <a:rPr lang="cs-CZ" dirty="0"/>
              <a:t>– méně používaná, kvůli svým velkým rozměrům se mnohdy nevejde pod stůl. V této kategorii je celkem malý výběr. Bezproblémové chlazení. Dostatečné množství prostoru pro periferie i komponenty počítače. </a:t>
            </a:r>
          </a:p>
          <a:p>
            <a:pPr algn="just"/>
            <a:r>
              <a:rPr lang="cs-CZ" b="1" dirty="0" err="1"/>
              <a:t>Midi</a:t>
            </a:r>
            <a:r>
              <a:rPr lang="cs-CZ" b="1" dirty="0"/>
              <a:t> Tower </a:t>
            </a:r>
            <a:r>
              <a:rPr lang="cs-CZ" dirty="0"/>
              <a:t>– nejrozšířenější počítačová skříň, obsahuje dostatečné množství pozic 3,5“ a 5,25“ a dostatek místa pro komponenty a další rozšiřování sestavy. Díky výšce skříně vzniká komínový efekt a proto je možno bez problému uchladit </a:t>
            </a:r>
            <a:r>
              <a:rPr lang="cs-CZ"/>
              <a:t>i nejvýkonnější </a:t>
            </a:r>
            <a:r>
              <a:rPr lang="cs-CZ" dirty="0"/>
              <a:t>počítačové sestavy. </a:t>
            </a:r>
          </a:p>
          <a:p>
            <a:pPr algn="just"/>
            <a:r>
              <a:rPr lang="cs-CZ" b="1" dirty="0" err="1"/>
              <a:t>Middle</a:t>
            </a:r>
            <a:r>
              <a:rPr lang="cs-CZ" b="1" dirty="0"/>
              <a:t> </a:t>
            </a:r>
            <a:r>
              <a:rPr lang="cs-CZ" b="1" dirty="0" err="1"/>
              <a:t>tower</a:t>
            </a:r>
            <a:r>
              <a:rPr lang="cs-CZ" b="1" dirty="0"/>
              <a:t> </a:t>
            </a:r>
            <a:r>
              <a:rPr lang="cs-CZ" dirty="0"/>
              <a:t>– dostatečně velká skříň pro běžné účely. Skříň je o něco snížená. Použití v interiéru, kde není dostatek místa pro větší skříně. </a:t>
            </a:r>
          </a:p>
          <a:p>
            <a:pPr algn="just"/>
            <a:r>
              <a:rPr lang="cs-CZ" b="1" dirty="0"/>
              <a:t>Mini Tower </a:t>
            </a:r>
            <a:r>
              <a:rPr lang="cs-CZ" dirty="0"/>
              <a:t>– kvůli menším rozměrům a horšímu chlazení komponent se používá spíše pro jednoduché sestavy jako jsou kancelářské počítače. Nedostatek místa pro další rozšíření počítačové sestavy. 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685" y="3834882"/>
            <a:ext cx="1961858" cy="2853612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942" y="2375126"/>
            <a:ext cx="2238375" cy="2238375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170" y="163284"/>
            <a:ext cx="2268998" cy="333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6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Rozměry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b="1" dirty="0"/>
              <a:t>                                      Mini </a:t>
            </a:r>
            <a:r>
              <a:rPr lang="cs-CZ" dirty="0"/>
              <a:t>	</a:t>
            </a:r>
            <a:r>
              <a:rPr lang="cs-CZ" b="1" dirty="0" err="1"/>
              <a:t>Middle</a:t>
            </a:r>
            <a:r>
              <a:rPr lang="cs-CZ" b="1" dirty="0"/>
              <a:t> </a:t>
            </a:r>
            <a:r>
              <a:rPr lang="cs-CZ" dirty="0"/>
              <a:t>	</a:t>
            </a:r>
          </a:p>
          <a:p>
            <a:r>
              <a:rPr lang="cs-CZ" dirty="0"/>
              <a:t>Výška (cm) 	     32-36 	 35-40 	</a:t>
            </a:r>
          </a:p>
          <a:p>
            <a:r>
              <a:rPr lang="cs-CZ" dirty="0"/>
              <a:t>Pozic 5,25“ 	         2 	     3 	</a:t>
            </a:r>
          </a:p>
          <a:p>
            <a:r>
              <a:rPr lang="cs-CZ" dirty="0"/>
              <a:t>Pozic 3,5“ 	                  1-3 	   2-5 	</a:t>
            </a:r>
          </a:p>
          <a:p>
            <a:pPr marL="0" indent="0">
              <a:buNone/>
            </a:pPr>
            <a:r>
              <a:rPr lang="cs-CZ" b="1" dirty="0"/>
              <a:t>                                      </a:t>
            </a:r>
            <a:r>
              <a:rPr lang="cs-CZ" b="1" dirty="0" err="1"/>
              <a:t>Midi</a:t>
            </a:r>
            <a:r>
              <a:rPr lang="cs-CZ" b="1" dirty="0"/>
              <a:t> </a:t>
            </a:r>
            <a:r>
              <a:rPr lang="cs-CZ" dirty="0"/>
              <a:t>	   </a:t>
            </a:r>
            <a:r>
              <a:rPr lang="cs-CZ" b="1" dirty="0"/>
              <a:t>Big </a:t>
            </a:r>
            <a:r>
              <a:rPr lang="cs-CZ" dirty="0"/>
              <a:t>	</a:t>
            </a:r>
          </a:p>
          <a:p>
            <a:r>
              <a:rPr lang="cs-CZ" dirty="0"/>
              <a:t>Výška (cm) 	     42-45 	 60-70 	</a:t>
            </a:r>
          </a:p>
          <a:p>
            <a:r>
              <a:rPr lang="cs-CZ" dirty="0"/>
              <a:t>Pozic 5,25“ 	         4 	     6 	</a:t>
            </a:r>
          </a:p>
          <a:p>
            <a:r>
              <a:rPr lang="cs-CZ" dirty="0"/>
              <a:t>Pozic 3,5“ 	                   3-8 	    5-8 	</a:t>
            </a:r>
          </a:p>
          <a:p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184" y="365125"/>
            <a:ext cx="4096339" cy="601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7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46314" y="0"/>
            <a:ext cx="10515600" cy="1325563"/>
          </a:xfrm>
        </p:spPr>
        <p:txBody>
          <a:bodyPr/>
          <a:lstStyle/>
          <a:p>
            <a:r>
              <a:rPr lang="cs-CZ" b="1" dirty="0"/>
              <a:t>Typy počítačových skříní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71670" y="1325562"/>
            <a:ext cx="6579637" cy="515921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cs-CZ" b="1" dirty="0"/>
              <a:t>HTPC (</a:t>
            </a:r>
            <a:r>
              <a:rPr lang="cs-CZ" b="1" dirty="0" err="1"/>
              <a:t>Home</a:t>
            </a:r>
            <a:r>
              <a:rPr lang="cs-CZ" b="1" dirty="0"/>
              <a:t> </a:t>
            </a:r>
            <a:r>
              <a:rPr lang="cs-CZ" b="1" dirty="0" err="1"/>
              <a:t>Theater</a:t>
            </a:r>
            <a:r>
              <a:rPr lang="cs-CZ" b="1" dirty="0"/>
              <a:t> </a:t>
            </a:r>
            <a:r>
              <a:rPr lang="cs-CZ" b="1" dirty="0" err="1"/>
              <a:t>Personal</a:t>
            </a:r>
            <a:r>
              <a:rPr lang="cs-CZ" b="1" dirty="0"/>
              <a:t> </a:t>
            </a:r>
            <a:r>
              <a:rPr lang="cs-CZ" b="1" dirty="0" err="1"/>
              <a:t>Computer</a:t>
            </a:r>
            <a:r>
              <a:rPr lang="cs-CZ" b="1" dirty="0"/>
              <a:t>) – </a:t>
            </a:r>
            <a:r>
              <a:rPr lang="cs-CZ" dirty="0"/>
              <a:t>počítač pro domácí kino. HTPC je domácí systém umožňující přehrávání DVD/CD/HD-DVD/</a:t>
            </a:r>
            <a:r>
              <a:rPr lang="cs-CZ" dirty="0" err="1"/>
              <a:t>BlueRay</a:t>
            </a:r>
            <a:r>
              <a:rPr lang="cs-CZ" dirty="0"/>
              <a:t> disků, obsahuje také TV, DVB kartu (+rádio), mezi další funkce patří prohlížení webových stránek, fotografií a hraní her. </a:t>
            </a:r>
          </a:p>
          <a:p>
            <a:pPr algn="just"/>
            <a:r>
              <a:rPr lang="cs-CZ" dirty="0"/>
              <a:t>Počítačová skříň je podobná skříním typu Desktop, je vyrobená z kvalitních materiálů jako je např. leštěný hliník a je také upraven systém chlazení kvůli co nejmenší hlučnosti. </a:t>
            </a:r>
          </a:p>
          <a:p>
            <a:pPr algn="just"/>
            <a:r>
              <a:rPr lang="cs-CZ" dirty="0"/>
              <a:t>HTPC skříně obvykle na předním panelu obsahují různé ovládací prvky jako je dotykový displej. HTPC se dá ovládat pomocí klasického ovladače a navíc je k dispozici klávesnice a myš. 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356305"/>
            <a:ext cx="4171561" cy="1560164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939" y="2272774"/>
            <a:ext cx="3199882" cy="1919929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788" y="4209854"/>
            <a:ext cx="3033227" cy="227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3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Typy počítačových skříní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4306" y="2161527"/>
            <a:ext cx="4442927" cy="4351338"/>
          </a:xfrm>
        </p:spPr>
        <p:txBody>
          <a:bodyPr/>
          <a:lstStyle/>
          <a:p>
            <a:pPr algn="just"/>
            <a:r>
              <a:rPr lang="cs-CZ" b="1" dirty="0"/>
              <a:t>ITX – </a:t>
            </a:r>
            <a:r>
              <a:rPr lang="cs-CZ" dirty="0"/>
              <a:t>počítačové skříně určené pro miniaturní počítače a ITX základní desky. Používají se u sestav, kde nejsou kladeny vysoké nároky na počítačovou sestavu. 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331" y="365125"/>
            <a:ext cx="2415073" cy="2415073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310" y="1690688"/>
            <a:ext cx="2230016" cy="2230016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310" y="4207070"/>
            <a:ext cx="2230016" cy="2230016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331" y="3387011"/>
            <a:ext cx="2880827" cy="288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8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Typy počítačových skříní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82555" y="1825625"/>
            <a:ext cx="5645021" cy="4351338"/>
          </a:xfrm>
        </p:spPr>
        <p:txBody>
          <a:bodyPr/>
          <a:lstStyle/>
          <a:p>
            <a:pPr algn="just"/>
            <a:r>
              <a:rPr lang="cs-CZ" b="1" dirty="0" err="1"/>
              <a:t>Cube</a:t>
            </a:r>
            <a:r>
              <a:rPr lang="cs-CZ" b="1" dirty="0"/>
              <a:t> – </a:t>
            </a:r>
            <a:r>
              <a:rPr lang="cs-CZ" dirty="0"/>
              <a:t>je universální počítačová skříň. Může nahradit HTPC, nebo může obsahovat klasickou počítačovou sestavu. Chlazení je problematičtější než u Tower, ale pomocí </a:t>
            </a:r>
            <a:r>
              <a:rPr lang="cs-CZ" dirty="0" err="1"/>
              <a:t>wind</a:t>
            </a:r>
            <a:r>
              <a:rPr lang="cs-CZ" dirty="0"/>
              <a:t> tunelů lze uchladit i výkonnou počítačovou sestavu. </a:t>
            </a:r>
          </a:p>
          <a:p>
            <a:pPr algn="just"/>
            <a:r>
              <a:rPr lang="cs-CZ" dirty="0"/>
              <a:t>Místo v počítačové skříni typu </a:t>
            </a:r>
            <a:r>
              <a:rPr lang="cs-CZ" dirty="0" err="1"/>
              <a:t>Cube</a:t>
            </a:r>
            <a:r>
              <a:rPr lang="cs-CZ" dirty="0"/>
              <a:t> se liší výrobce od výrobce a záleží na konkrétním modelu. 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988" y="839754"/>
            <a:ext cx="3762303" cy="2608607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166" y="3922990"/>
            <a:ext cx="2466197" cy="2466197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453" y="4001294"/>
            <a:ext cx="2313474" cy="231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6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34347" y="75876"/>
            <a:ext cx="10515600" cy="1325563"/>
          </a:xfrm>
        </p:spPr>
        <p:txBody>
          <a:bodyPr/>
          <a:lstStyle/>
          <a:p>
            <a:r>
              <a:rPr lang="cs-CZ" b="1" dirty="0"/>
              <a:t>Typy počítačových skříní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34348" y="1401439"/>
            <a:ext cx="5926494" cy="4775524"/>
          </a:xfrm>
        </p:spPr>
        <p:txBody>
          <a:bodyPr>
            <a:normAutofit/>
          </a:bodyPr>
          <a:lstStyle/>
          <a:p>
            <a:pPr algn="just"/>
            <a:r>
              <a:rPr lang="cs-CZ" b="1" dirty="0" err="1"/>
              <a:t>Rack</a:t>
            </a:r>
            <a:r>
              <a:rPr lang="cs-CZ" b="1" dirty="0"/>
              <a:t> – </a:t>
            </a:r>
            <a:r>
              <a:rPr lang="cs-CZ" dirty="0"/>
              <a:t>je počítačová skříň používaná převážně pro servery. Tento standard vznikl s potřebou vměstnat co nejvíce zařízení (serverů, </a:t>
            </a:r>
            <a:r>
              <a:rPr lang="cs-CZ" dirty="0" err="1"/>
              <a:t>switchů</a:t>
            </a:r>
            <a:r>
              <a:rPr lang="cs-CZ" dirty="0"/>
              <a:t>, </a:t>
            </a:r>
            <a:r>
              <a:rPr lang="cs-CZ" dirty="0" err="1"/>
              <a:t>routerů</a:t>
            </a:r>
            <a:r>
              <a:rPr lang="cs-CZ" dirty="0"/>
              <a:t>, či zesilovačů a zvukových efektů) do jedné skříně a snadno je tak připojit do datové sítě a elektrické sítě. Rám racku je tvořen kolejnicemi po stranách a ve svislém směru je tvořen jednotkami (</a:t>
            </a:r>
            <a:r>
              <a:rPr lang="cs-CZ" dirty="0" err="1"/>
              <a:t>units</a:t>
            </a:r>
            <a:r>
              <a:rPr lang="cs-CZ" dirty="0"/>
              <a:t>). Výška racku odpovídá násobkům těchto jednotek. 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291" y="465753"/>
            <a:ext cx="2377362" cy="2890126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993" y="1910816"/>
            <a:ext cx="2413907" cy="1667338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879" y="3789201"/>
            <a:ext cx="2372114" cy="271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0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Typy počítačových skříní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82556" y="1825625"/>
            <a:ext cx="6092890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cs-CZ" b="1" dirty="0" err="1"/>
              <a:t>Barebone</a:t>
            </a:r>
            <a:r>
              <a:rPr lang="cs-CZ" b="1" dirty="0"/>
              <a:t> </a:t>
            </a:r>
            <a:r>
              <a:rPr lang="cs-CZ" dirty="0"/>
              <a:t>– předpřipravený set počítačových dílů, který se skládá z počítačové skříně, základní desky, zdroje napájení a chlazení. Někdy obsahuje i příslušenství jako optické mechaniky a čtečky paměťových karet. </a:t>
            </a:r>
          </a:p>
          <a:p>
            <a:pPr algn="just"/>
            <a:r>
              <a:rPr lang="cs-CZ" dirty="0"/>
              <a:t>Uživatel pak musí sestavu vybavit mikroprocesorem (CPU), operační pamětí (RAM), pevným diskem (HDD) a dalšími vstupními a výstupními periferiemi. Pokud tyto již nejsou součástí sestavy. </a:t>
            </a:r>
          </a:p>
          <a:p>
            <a:pPr algn="just"/>
            <a:r>
              <a:rPr lang="cs-CZ" dirty="0"/>
              <a:t>Tento systém je často levnější, než koupě počítačové sestavy nakonfigurované výrobcem. Další rozšiřování sestavy je nutné si předem prověřit. 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485" y="1175657"/>
            <a:ext cx="5148747" cy="514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0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9687" y="382375"/>
            <a:ext cx="3463212" cy="1325563"/>
          </a:xfrm>
        </p:spPr>
        <p:txBody>
          <a:bodyPr/>
          <a:lstStyle/>
          <a:p>
            <a:r>
              <a:rPr lang="cs-C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All-in-</a:t>
            </a:r>
            <a:r>
              <a:rPr lang="cs-CZ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522669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Jako All-in-</a:t>
            </a:r>
            <a:r>
              <a:rPr lang="cs-CZ" sz="3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cs-CZ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 označují počítače, které integrují své komponenty do jedné skříně – do monitoru. Typickým příkladem je počítač Apple </a:t>
            </a:r>
            <a:r>
              <a:rPr lang="cs-CZ" sz="3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iMac</a:t>
            </a:r>
            <a:r>
              <a:rPr lang="cs-CZ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Výhodou řešení </a:t>
            </a:r>
            <a:r>
              <a:rPr lang="cs-CZ" sz="3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cs-CZ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-in-</a:t>
            </a:r>
            <a:r>
              <a:rPr lang="cs-CZ" sz="3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cs-CZ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bývá atraktivní design, mezi nedostatky obvykle patří problematický upgrade.</a:t>
            </a: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898" y="355794"/>
            <a:ext cx="6119522" cy="2078994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443" y="2703646"/>
            <a:ext cx="4445543" cy="316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9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Výběr počítačové skříně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cs-CZ" dirty="0"/>
              <a:t>Existuje mnoho faktorů, které musíme brát v potaz při výběru počítačové skříně. </a:t>
            </a:r>
          </a:p>
          <a:p>
            <a:pPr algn="just"/>
            <a:r>
              <a:rPr lang="cs-CZ" b="1" dirty="0"/>
              <a:t>Model </a:t>
            </a:r>
            <a:r>
              <a:rPr lang="cs-CZ" dirty="0"/>
              <a:t>počítačové skříně. Dnes je nejpoužívanějším modelem </a:t>
            </a:r>
            <a:r>
              <a:rPr lang="cs-CZ" dirty="0" err="1"/>
              <a:t>tower</a:t>
            </a:r>
            <a:r>
              <a:rPr lang="cs-CZ" dirty="0"/>
              <a:t>. V kancelářích a různých institucích však může být požadován typ desktop. </a:t>
            </a:r>
          </a:p>
          <a:p>
            <a:pPr algn="just"/>
            <a:r>
              <a:rPr lang="cs-CZ" b="1" dirty="0"/>
              <a:t>Velikost základní desky</a:t>
            </a:r>
            <a:r>
              <a:rPr lang="cs-CZ" dirty="0"/>
              <a:t>. Stejně jako počítačové skříně i základní desky se vyrábějí v různých velikostech podle norem. Při výběru počítačové skříně bychom měli brát v potaz velikost základní desky, počet komponent umístěných ve skříni a jejich vzdálenost od sebe. Čím více komponent tím lepší systém chlazení budeme potřebovat. Záleží i jak jsou komponenty umístěny blízko sebe. </a:t>
            </a:r>
          </a:p>
          <a:p>
            <a:pPr algn="just"/>
            <a:r>
              <a:rPr lang="cs-CZ" b="1" dirty="0"/>
              <a:t>Počet externích a interních zařízení </a:t>
            </a:r>
            <a:r>
              <a:rPr lang="cs-CZ" dirty="0"/>
              <a:t>(optických mechanik, disketových mechanik, harddisků, apod.). Už od začátku bychom měli vědět kolik externích a interních zařízení budeme u počítače vyžadovat a podle toho volit skříň se správným počtem pozic pro tyto zařízení.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5691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Výběr počítačové skříně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cs-CZ" b="1" dirty="0"/>
              <a:t>Vzhled </a:t>
            </a:r>
            <a:r>
              <a:rPr lang="cs-CZ" dirty="0"/>
              <a:t>počítačové skříně pro mnoho lidí není důležitý a spokojí se s jakýmkoli továrním provedením. Najdou se však nadšenci, kterým na vzhledu záleží a pořizují si počítačové skříně nejrůznějších tvarů. Pro tyto nadšence se vyrábí skříně s mnoha designy. </a:t>
            </a:r>
          </a:p>
          <a:p>
            <a:pPr algn="just"/>
            <a:r>
              <a:rPr lang="cs-CZ" b="1" dirty="0"/>
              <a:t>Chlazení </a:t>
            </a:r>
            <a:r>
              <a:rPr lang="cs-CZ" dirty="0"/>
              <a:t>je důležitá součást počítačové skříně. Ventilátor je umístěn na napájecím zdroji, některé skříně však mají další přídavně ventilátory pro odvod teplého vzduchu ven ze skříně, nebo pro přívod chladného vzduchu dovnitř. </a:t>
            </a:r>
          </a:p>
          <a:p>
            <a:pPr algn="just"/>
            <a:r>
              <a:rPr lang="cs-CZ" b="1" dirty="0"/>
              <a:t>Status displej </a:t>
            </a:r>
            <a:r>
              <a:rPr lang="cs-CZ" dirty="0"/>
              <a:t>ukazuje co se děje uvnitř počítačové skříně. LED diody, které jsou umístěny na přední straně skříně nám říkají zda je počítač zapnut, pracuje harddisk a zda je počítač v režimu spánku, nebo hibernace. </a:t>
            </a:r>
          </a:p>
          <a:p>
            <a:r>
              <a:rPr lang="cs-CZ" b="1" dirty="0"/>
              <a:t>Dostupné místo </a:t>
            </a:r>
            <a:r>
              <a:rPr lang="cs-CZ" dirty="0"/>
              <a:t>pro počítač musíme brát také v potaz. Provedení desktop zabírá méně místa, kvůli umístění monitoru na skříni počítače. Může však omezovat komponenty z hlediska počtu a velikosti. Měli bychom vybírat počítačovou skříň, která souhlasí s rozměry základní desky a napájecího zdroje. </a:t>
            </a:r>
          </a:p>
          <a:p>
            <a:pPr algn="just"/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6470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Materiály pro počítačové skříně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cs-CZ" b="1" dirty="0"/>
              <a:t>Hliník – </a:t>
            </a:r>
            <a:r>
              <a:rPr lang="cs-CZ" dirty="0"/>
              <a:t>nejkvalitnější skříně jsou vyráběny z hliníku. Hliník je kvalitní vodič tepla, je lehký, měkký a tím i dobře tvarovatelný. V interiéru působí hliníková skříň luxusním dojmem. Nevýhodou hliníku je že je poměrně drahý a je nutné používat silnější cca. 1 - 2mm silný plech. Hliníkové skříně jsou náchylné na přenos vibrací. </a:t>
            </a:r>
          </a:p>
          <a:p>
            <a:pPr algn="just"/>
            <a:r>
              <a:rPr lang="cs-CZ" b="1" dirty="0"/>
              <a:t>Plech (ocel, slitiny hliníku, apod.) </a:t>
            </a:r>
            <a:endParaRPr lang="cs-CZ" dirty="0"/>
          </a:p>
          <a:p>
            <a:pPr lvl="1" algn="just"/>
            <a:r>
              <a:rPr lang="cs-CZ" b="1" dirty="0"/>
              <a:t>SECC – </a:t>
            </a:r>
            <a:r>
              <a:rPr lang="cs-CZ" dirty="0"/>
              <a:t>plech pokrytý zinkem elektrolytickým způsobem. </a:t>
            </a:r>
          </a:p>
          <a:p>
            <a:pPr lvl="1" algn="just"/>
            <a:r>
              <a:rPr lang="cs-CZ" b="1" dirty="0"/>
              <a:t>SGCC - </a:t>
            </a:r>
            <a:r>
              <a:rPr lang="cs-CZ" dirty="0"/>
              <a:t>poniklovaný plech ponořením do lázně roztaveného zinku s příměsemi hliníku. SGCC je o něco pevnější, 0,6 SECC odpovídá přibližně 0,8 SGCC. </a:t>
            </a:r>
          </a:p>
          <a:p>
            <a:pPr algn="just"/>
            <a:r>
              <a:rPr lang="cs-CZ" b="1" dirty="0"/>
              <a:t>Plast – </a:t>
            </a:r>
            <a:r>
              <a:rPr lang="cs-CZ" dirty="0"/>
              <a:t>nejčastěji se používá ABS (</a:t>
            </a:r>
            <a:r>
              <a:rPr lang="cs-CZ" dirty="0" err="1"/>
              <a:t>Acrylonitrile</a:t>
            </a:r>
            <a:r>
              <a:rPr lang="cs-CZ" dirty="0"/>
              <a:t> Butadiene Styrene)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143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Kvalita zpracování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cs-CZ" dirty="0"/>
              <a:t>Kvalita použitého materiálu a dílenského zpracování má vliv na tlumení vibrací a zvuku a celkovou pevnost skříně. Pro tlumení vibrací se používají gumové nožičky na spodní straně skříně. </a:t>
            </a:r>
          </a:p>
          <a:p>
            <a:pPr algn="just"/>
            <a:r>
              <a:rPr lang="cs-CZ" dirty="0"/>
              <a:t>Nemělo by docházet ke kroucení kostry a bočnic skříně. Proto se v konstrukci používají různé zpevňující přepážky a rohové výztuhy. Skříň by měla být co nejpevnější, aby komponenty dobře pasovaly na své místo. </a:t>
            </a:r>
          </a:p>
          <a:p>
            <a:pPr algn="just"/>
            <a:r>
              <a:rPr lang="cs-CZ" dirty="0"/>
              <a:t>Zaoblení hran skříně je ukazatel kvality počítačové skříně, levnější skříně mohou mít ostré hrany. Kvalitnější skříně mají hrany zahnuty tak, že tvoří jakési roury, které pomáhají zlepšit pevnost počítačové skříně. </a:t>
            </a:r>
          </a:p>
          <a:p>
            <a:pPr algn="just"/>
            <a:r>
              <a:rPr lang="cs-CZ" dirty="0"/>
              <a:t>Plechy by měli být dostatečně silné. Ocel od 0,6 do 1mm a hliník by měl být o něco </a:t>
            </a:r>
            <a:r>
              <a:rPr lang="cs-CZ"/>
              <a:t>silnější 1-2mm </a:t>
            </a:r>
            <a:r>
              <a:rPr lang="cs-CZ" dirty="0"/>
              <a:t>a více u dražších skříní.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0528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7481" y="75876"/>
            <a:ext cx="10515600" cy="1325563"/>
          </a:xfrm>
        </p:spPr>
        <p:txBody>
          <a:bodyPr/>
          <a:lstStyle/>
          <a:p>
            <a:r>
              <a:rPr lang="cs-CZ" b="1" dirty="0"/>
              <a:t>Popis skříně (uvnitř) </a:t>
            </a: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0523" y="1059257"/>
            <a:ext cx="5803639" cy="579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3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6232" y="141191"/>
            <a:ext cx="10515600" cy="1325563"/>
          </a:xfrm>
        </p:spPr>
        <p:txBody>
          <a:bodyPr/>
          <a:lstStyle/>
          <a:p>
            <a:r>
              <a:rPr lang="cs-CZ" b="1" dirty="0"/>
              <a:t>Popis skříně (zadní strana) </a:t>
            </a: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3546" y="1374479"/>
            <a:ext cx="4814168" cy="548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255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Popis skříně (přední strana)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790" y="1690688"/>
            <a:ext cx="230439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03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Chlazení skříně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793631"/>
            <a:ext cx="10515600" cy="438333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cs-CZ" dirty="0" smtClean="0"/>
              <a:t>Aktivní (ventilátor, vodník,..) a pasivní (Al chladiče, </a:t>
            </a:r>
            <a:r>
              <a:rPr lang="cs-CZ" smtClean="0"/>
              <a:t>proudění vzduchu)</a:t>
            </a:r>
            <a:endParaRPr lang="cs-CZ" dirty="0" smtClean="0"/>
          </a:p>
          <a:p>
            <a:pPr algn="just"/>
            <a:r>
              <a:rPr lang="cs-CZ" dirty="0" smtClean="0"/>
              <a:t>Komponenty </a:t>
            </a:r>
            <a:r>
              <a:rPr lang="cs-CZ" dirty="0"/>
              <a:t>v počítači, které vydávají ztrátové teplo (TDP) a jsou chlazené vzduchem jsou závislé na teplotě okolního vzduchu. Těmito komponentami jsou zejména procesor, </a:t>
            </a:r>
            <a:r>
              <a:rPr lang="cs-CZ" dirty="0" err="1"/>
              <a:t>chipset</a:t>
            </a:r>
            <a:r>
              <a:rPr lang="cs-CZ" dirty="0"/>
              <a:t>, grafická karta a pevné disky. </a:t>
            </a:r>
          </a:p>
          <a:p>
            <a:pPr algn="just"/>
            <a:r>
              <a:rPr lang="cs-CZ" dirty="0"/>
              <a:t>Tato závislost není bezprostřední, protože komponenty a okolní vzduch mají mezi sebou bariéru v podobě počítačové skříně, pasivního chladiče a </a:t>
            </a:r>
            <a:r>
              <a:rPr lang="cs-CZ" dirty="0" err="1"/>
              <a:t>teplovodné</a:t>
            </a:r>
            <a:r>
              <a:rPr lang="cs-CZ" dirty="0"/>
              <a:t> pasty. Vliv této bariéry je při konstrukci počítačové skříně nutné omezit na minimum. </a:t>
            </a:r>
          </a:p>
          <a:p>
            <a:pPr algn="just"/>
            <a:r>
              <a:rPr lang="cs-CZ" dirty="0"/>
              <a:t>Počítačová skříň umožňuje na jedné straně přívod chladného vzduchu a na straně druhé teplý vzduch odvádí ven. Počítačová skříň by měla být tedy konstruována tak, aby se v ní vzduch obměňoval co možná nejrychleji. Výrobci se snaží skříně navrhovat tak, aby aktivním chladičům (ventilátorům) pokud možno nestály v cestě žádné překážky.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9252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00877" y="231776"/>
            <a:ext cx="10515600" cy="1325563"/>
          </a:xfrm>
        </p:spPr>
        <p:txBody>
          <a:bodyPr/>
          <a:lstStyle/>
          <a:p>
            <a:r>
              <a:rPr lang="cs-CZ" b="1" dirty="0"/>
              <a:t>Chlazení skříně </a:t>
            </a:r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98" y="1557339"/>
            <a:ext cx="9670208" cy="514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2896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C769D3FE67154E81769CA49A6E1578" ma:contentTypeVersion="0" ma:contentTypeDescription="Vytvoří nový dokument" ma:contentTypeScope="" ma:versionID="3c7ae713f0a7ba01a532cf72482db45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71d6b51c5141eb32e0d04e037372b3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6CDE59-1E33-4864-8724-B8B7DE0DF7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436A7F-44B7-4FFD-80E0-D7B133DAA70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807E220-EA14-423C-AA5E-C12C41F321BA}"/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1601</Words>
  <Application>Microsoft Office PowerPoint</Application>
  <PresentationFormat>Širokoúhlá obrazovka</PresentationFormat>
  <Paragraphs>75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Motiv Office</vt:lpstr>
      <vt:lpstr>Počítačové skříně</vt:lpstr>
      <vt:lpstr>ÚVOD</vt:lpstr>
      <vt:lpstr>Typy počítačových skříní</vt:lpstr>
      <vt:lpstr>Desktop</vt:lpstr>
      <vt:lpstr>Tower</vt:lpstr>
      <vt:lpstr>Rozměry</vt:lpstr>
      <vt:lpstr>Typy počítačových skříní </vt:lpstr>
      <vt:lpstr>Typy počítačových skříní </vt:lpstr>
      <vt:lpstr>Typy počítačových skříní </vt:lpstr>
      <vt:lpstr>Typy počítačových skříní </vt:lpstr>
      <vt:lpstr>Typy počítačových skříní </vt:lpstr>
      <vt:lpstr>All-in-one</vt:lpstr>
      <vt:lpstr>Výběr počítačové skříně </vt:lpstr>
      <vt:lpstr>Výběr počítačové skříně </vt:lpstr>
      <vt:lpstr>Materiály pro počítačové skříně</vt:lpstr>
      <vt:lpstr>Kvalita zpracování </vt:lpstr>
      <vt:lpstr>Popis skříně (uvnitř) </vt:lpstr>
      <vt:lpstr>Popis skříně (zadní strana) </vt:lpstr>
      <vt:lpstr>Popis skříně (přední strana) </vt:lpstr>
      <vt:lpstr>Chlazení skříně </vt:lpstr>
      <vt:lpstr>Chlazení skříně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Počítačové skříně</dc:title>
  <dc:creator>Halouzka</dc:creator>
  <cp:lastModifiedBy>hokus@pokus.com</cp:lastModifiedBy>
  <cp:revision>16</cp:revision>
  <dcterms:created xsi:type="dcterms:W3CDTF">2018-09-27T12:00:10Z</dcterms:created>
  <dcterms:modified xsi:type="dcterms:W3CDTF">2022-09-19T09:45:01Z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0x010100ECC769D3FE67154E81769CA49A6E1578</vt:lpwstr>
  </property>
</Properties>
</file>