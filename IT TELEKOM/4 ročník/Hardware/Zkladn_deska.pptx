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19.jpg"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5" r:id="rId19"/>
    <p:sldId id="276" r:id="rId20"/>
    <p:sldId id="270" r:id="rId21"/>
    <p:sldId id="271" r:id="rId22"/>
    <p:sldId id="272" r:id="rId23"/>
    <p:sldId id="280" r:id="rId24"/>
    <p:sldId id="277" r:id="rId25"/>
    <p:sldId id="278" r:id="rId26"/>
    <p:sldId id="286" r:id="rId27"/>
    <p:sldId id="287" r:id="rId28"/>
    <p:sldId id="288" r:id="rId29"/>
    <p:sldId id="289" r:id="rId30"/>
    <p:sldId id="273" r:id="rId31"/>
    <p:sldId id="274" r:id="rId32"/>
    <p:sldId id="281" r:id="rId33"/>
    <p:sldId id="285" r:id="rId34"/>
    <p:sldId id="282" r:id="rId35"/>
    <p:sldId id="283" r:id="rId36"/>
    <p:sldId id="284" r:id="rId37"/>
    <p:sldId id="279" r:id="rId38"/>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778" y="7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a:t>Klepnutím lze upravit styl předlohy nadpisů.</a:t>
            </a:r>
          </a:p>
        </p:txBody>
      </p:sp>
      <p:sp>
        <p:nvSpPr>
          <p:cNvPr id="3" name="Podnadpis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Klepnutím lze upravit styl předlohy podnadpisů.</a:t>
            </a:r>
          </a:p>
        </p:txBody>
      </p:sp>
      <p:sp>
        <p:nvSpPr>
          <p:cNvPr id="4" name="Zástupný symbol pro datum 3"/>
          <p:cNvSpPr>
            <a:spLocks noGrp="1"/>
          </p:cNvSpPr>
          <p:nvPr>
            <p:ph type="dt" sz="half" idx="10"/>
          </p:nvPr>
        </p:nvSpPr>
        <p:spPr/>
        <p:txBody>
          <a:bodyPr/>
          <a:lstStyle/>
          <a:p>
            <a:fld id="{A799DA2F-AEA0-49EE-B281-1E3448519806}" type="datetimeFigureOut">
              <a:rPr lang="cs-CZ" smtClean="0"/>
              <a:t>19.10.2022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idx="1"/>
          </p:nvPr>
        </p:nvSpPr>
        <p:spPr/>
        <p:txBody>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A799DA2F-AEA0-49EE-B281-1E3448519806}" type="datetimeFigureOut">
              <a:rPr lang="cs-CZ" smtClean="0"/>
              <a:t>19.10.2022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Klepnutím lze upravit styl předlohy nadpisů.</a:t>
            </a:r>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Klepnutím lze upravit styly předlohy textu.</a:t>
            </a:r>
          </a:p>
        </p:txBody>
      </p:sp>
      <p:sp>
        <p:nvSpPr>
          <p:cNvPr id="4" name="Zástupný symbol pro datum 3"/>
          <p:cNvSpPr>
            <a:spLocks noGrp="1"/>
          </p:cNvSpPr>
          <p:nvPr>
            <p:ph type="dt" sz="half" idx="10"/>
          </p:nvPr>
        </p:nvSpPr>
        <p:spPr/>
        <p:txBody>
          <a:bodyPr/>
          <a:lstStyle/>
          <a:p>
            <a:fld id="{A799DA2F-AEA0-49EE-B281-1E3448519806}" type="datetimeFigureOut">
              <a:rPr lang="cs-CZ" smtClean="0"/>
              <a:t>19.10.2022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p:cNvSpPr>
            <a:spLocks noGrp="1"/>
          </p:cNvSpPr>
          <p:nvPr>
            <p:ph type="dt" sz="half" idx="10"/>
          </p:nvPr>
        </p:nvSpPr>
        <p:spPr/>
        <p:txBody>
          <a:bodyPr/>
          <a:lstStyle/>
          <a:p>
            <a:fld id="{A799DA2F-AEA0-49EE-B281-1E3448519806}" type="datetimeFigureOut">
              <a:rPr lang="cs-CZ" smtClean="0"/>
              <a:t>19.10.2022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cs-CZ"/>
              <a:t>Klepnutím lze upravit styl předlohy nadpisů.</a:t>
            </a:r>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p:cNvSpPr>
            <a:spLocks noGrp="1"/>
          </p:cNvSpPr>
          <p:nvPr>
            <p:ph type="dt" sz="half" idx="10"/>
          </p:nvPr>
        </p:nvSpPr>
        <p:spPr/>
        <p:txBody>
          <a:bodyPr/>
          <a:lstStyle/>
          <a:p>
            <a:fld id="{A799DA2F-AEA0-49EE-B281-1E3448519806}" type="datetimeFigureOut">
              <a:rPr lang="cs-CZ" smtClean="0"/>
              <a:t>19.10.2022</a:t>
            </a:fld>
            <a:endParaRPr lang="cs-CZ"/>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datum 2"/>
          <p:cNvSpPr>
            <a:spLocks noGrp="1"/>
          </p:cNvSpPr>
          <p:nvPr>
            <p:ph type="dt" sz="half" idx="10"/>
          </p:nvPr>
        </p:nvSpPr>
        <p:spPr/>
        <p:txBody>
          <a:bodyPr/>
          <a:lstStyle/>
          <a:p>
            <a:fld id="{A799DA2F-AEA0-49EE-B281-1E3448519806}" type="datetimeFigureOut">
              <a:rPr lang="cs-CZ" smtClean="0"/>
              <a:t>19.10.2022</a:t>
            </a:fld>
            <a:endParaRPr lang="cs-CZ"/>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A799DA2F-AEA0-49EE-B281-1E3448519806}" type="datetimeFigureOut">
              <a:rPr lang="cs-CZ" smtClean="0"/>
              <a:t>19.10.2022</a:t>
            </a:fld>
            <a:endParaRPr lang="cs-CZ"/>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a:t>Klepnutím lze upravit styl předlohy nadpisů.</a:t>
            </a:r>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5" name="Zástupný symbol pro datum 4"/>
          <p:cNvSpPr>
            <a:spLocks noGrp="1"/>
          </p:cNvSpPr>
          <p:nvPr>
            <p:ph type="dt" sz="half" idx="10"/>
          </p:nvPr>
        </p:nvSpPr>
        <p:spPr/>
        <p:txBody>
          <a:bodyPr/>
          <a:lstStyle/>
          <a:p>
            <a:fld id="{A799DA2F-AEA0-49EE-B281-1E3448519806}" type="datetimeFigureOut">
              <a:rPr lang="cs-CZ" smtClean="0"/>
              <a:t>19.10.2022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a:t>Klepnutím lze upravit styl předlohy nadpisů.</a:t>
            </a:r>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5" name="Zástupný symbol pro datum 4"/>
          <p:cNvSpPr>
            <a:spLocks noGrp="1"/>
          </p:cNvSpPr>
          <p:nvPr>
            <p:ph type="dt" sz="half" idx="10"/>
          </p:nvPr>
        </p:nvSpPr>
        <p:spPr/>
        <p:txBody>
          <a:bodyPr/>
          <a:lstStyle/>
          <a:p>
            <a:fld id="{A799DA2F-AEA0-49EE-B281-1E3448519806}" type="datetimeFigureOut">
              <a:rPr lang="cs-CZ" smtClean="0"/>
              <a:t>19.10.2022</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svislý text 2"/>
          <p:cNvSpPr>
            <a:spLocks noGrp="1"/>
          </p:cNvSpPr>
          <p:nvPr>
            <p:ph type="body" orient="vert" idx="1"/>
          </p:nvPr>
        </p:nvSpPr>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A799DA2F-AEA0-49EE-B281-1E3448519806}" type="datetimeFigureOut">
              <a:rPr lang="cs-CZ" smtClean="0"/>
              <a:t>19.10.2022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274638"/>
            <a:ext cx="2057400" cy="5851525"/>
          </a:xfrm>
        </p:spPr>
        <p:txBody>
          <a:bodyPr vert="eaVert"/>
          <a:lstStyle/>
          <a:p>
            <a:r>
              <a:rPr lang="cs-CZ"/>
              <a:t>Klepnutím lze upravit styl předlohy nadpisů.</a:t>
            </a:r>
          </a:p>
        </p:txBody>
      </p:sp>
      <p:sp>
        <p:nvSpPr>
          <p:cNvPr id="3" name="Zástupný symbol pro svislý text 2"/>
          <p:cNvSpPr>
            <a:spLocks noGrp="1"/>
          </p:cNvSpPr>
          <p:nvPr>
            <p:ph type="body" orient="vert" idx="1"/>
          </p:nvPr>
        </p:nvSpPr>
        <p:spPr>
          <a:xfrm>
            <a:off x="457200" y="274638"/>
            <a:ext cx="6019800" cy="5851525"/>
          </a:xfrm>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A799DA2F-AEA0-49EE-B281-1E3448519806}" type="datetimeFigureOut">
              <a:rPr lang="cs-CZ" smtClean="0"/>
              <a:t>19.10.2022</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FCA02C6E-5B88-43D3-9C05-29CC7832F847}" type="slidenum">
              <a:rPr lang="cs-CZ" smtClean="0"/>
              <a:t>‹#›</a:t>
            </a:fld>
            <a:endParaRPr lang="cs-CZ"/>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cs-CZ"/>
              <a:t>Klepnutím lze upravit styl předlohy nadpisů.</a:t>
            </a:r>
          </a:p>
        </p:txBody>
      </p:sp>
      <p:sp>
        <p:nvSpPr>
          <p:cNvPr id="3" name="Zástupný symbol pro tex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99DA2F-AEA0-49EE-B281-1E3448519806}" type="datetimeFigureOut">
              <a:rPr lang="cs-CZ" smtClean="0"/>
              <a:t>19.10.2022</a:t>
            </a:fld>
            <a:endParaRPr lang="cs-CZ"/>
          </a:p>
        </p:txBody>
      </p:sp>
      <p:sp>
        <p:nvSpPr>
          <p:cNvPr id="5" name="Zástupný symbol pro zápatí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A02C6E-5B88-43D3-9C05-29CC7832F847}" type="slidenum">
              <a:rPr lang="cs-CZ" smtClean="0"/>
              <a:t>‹#›</a:t>
            </a:fld>
            <a:endParaRPr lang="cs-CZ"/>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google.cz/url?sa=i&amp;rct=j&amp;q=&amp;esrc=s&amp;source=imgres&amp;cd=&amp;cad=rja&amp;uact=8&amp;ved=2ahUKEwi89faT9ozeAhVQ-qQKHc0KCxwQjRx6BAgBEAU&amp;url=https://www.svethardware.cz/zakladni-deska-msi-big-bang-marshall-vyfocena/31471&amp;psig=AOvVaw2JZ18ZhaFHed2V_W6BTIdg&amp;ust=1539846712587577" TargetMode="Externa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http://www.petrn.wz.cz/matherboard/vrstvy.jpg"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http://www.petrn.wz.cz/matherboard/vrstvy.jpg"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http://www.petrn.wz.cz/matherboard/jumper.gif" TargetMode="External"/><Relationship Id="rId2" Type="http://schemas.openxmlformats.org/officeDocument/2006/relationships/image" Target="../media/image12.gif"/><Relationship Id="rId1" Type="http://schemas.openxmlformats.org/officeDocument/2006/relationships/slideLayout" Target="../slideLayouts/slideLayout2.xml"/><Relationship Id="rId6" Type="http://schemas.openxmlformats.org/officeDocument/2006/relationships/image" Target="../media/image14.gif"/><Relationship Id="rId5" Type="http://schemas.openxmlformats.org/officeDocument/2006/relationships/image" Target="http://www.petrn.wz.cz/matherboard/jumpers.jpg" TargetMode="Externa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http://www.petrn.wz.cz/matherboard/jumpers.jpg" TargetMode="External"/><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image" Target="http://www.petrn.wz.cz/matherboard/dip.gif" TargetMode="External"/><Relationship Id="rId2" Type="http://schemas.openxmlformats.org/officeDocument/2006/relationships/image" Target="../media/image16.gif"/><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60648"/>
            <a:ext cx="7772400" cy="1470025"/>
          </a:xfrm>
        </p:spPr>
        <p:txBody>
          <a:bodyPr/>
          <a:lstStyle/>
          <a:p>
            <a:r>
              <a:rPr lang="cs-CZ" b="1" dirty="0"/>
              <a:t>Základní deska</a:t>
            </a:r>
            <a:endParaRPr lang="cs-CZ" dirty="0"/>
          </a:p>
        </p:txBody>
      </p:sp>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756693"/>
            <a:ext cx="7211043" cy="4264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b="1" dirty="0"/>
              <a:t>Základní deska</a:t>
            </a:r>
            <a:endParaRPr lang="cs-CZ" dirty="0"/>
          </a:p>
        </p:txBody>
      </p:sp>
      <p:sp>
        <p:nvSpPr>
          <p:cNvPr id="3" name="Zástupný symbol pro obsah 2"/>
          <p:cNvSpPr>
            <a:spLocks noGrp="1"/>
          </p:cNvSpPr>
          <p:nvPr>
            <p:ph idx="1"/>
          </p:nvPr>
        </p:nvSpPr>
        <p:spPr/>
        <p:txBody>
          <a:bodyPr/>
          <a:lstStyle/>
          <a:p>
            <a:pPr algn="just"/>
            <a:r>
              <a:rPr lang="cs-CZ" dirty="0"/>
              <a:t>Jde o součást počítače, která spojuje všechny ostatní díly do jednoho funkčního celku.</a:t>
            </a:r>
          </a:p>
          <a:p>
            <a:pPr algn="just"/>
            <a:r>
              <a:rPr lang="cs-CZ" dirty="0"/>
              <a:t>je plošný spoj osazený potřebnými obvody, které včetně procesoru tvoří samostatný počítač.</a:t>
            </a:r>
          </a:p>
          <a:p>
            <a:pPr algn="just"/>
            <a:endParaRPr lang="cs-CZ" dirty="0"/>
          </a:p>
        </p:txBody>
      </p:sp>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896" y="3717032"/>
            <a:ext cx="3623444" cy="28876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Primární funkce</a:t>
            </a:r>
          </a:p>
        </p:txBody>
      </p:sp>
      <p:sp>
        <p:nvSpPr>
          <p:cNvPr id="3" name="Zástupný symbol pro obsah 2"/>
          <p:cNvSpPr>
            <a:spLocks noGrp="1"/>
          </p:cNvSpPr>
          <p:nvPr>
            <p:ph idx="1"/>
          </p:nvPr>
        </p:nvSpPr>
        <p:spPr>
          <a:xfrm>
            <a:off x="107504" y="1340768"/>
            <a:ext cx="4680520" cy="5236046"/>
          </a:xfrm>
        </p:spPr>
        <p:txBody>
          <a:bodyPr>
            <a:normAutofit/>
          </a:bodyPr>
          <a:lstStyle/>
          <a:p>
            <a:r>
              <a:rPr lang="cs-CZ" dirty="0"/>
              <a:t>časování celého systému</a:t>
            </a:r>
          </a:p>
          <a:p>
            <a:r>
              <a:rPr lang="cs-CZ" dirty="0"/>
              <a:t>zajištění komunikace a řízení součinnosti jednotlivých částí systému</a:t>
            </a:r>
          </a:p>
          <a:p>
            <a:r>
              <a:rPr lang="cs-CZ" dirty="0"/>
              <a:t>uchování systémových dat uživatele a jejich zpracování</a:t>
            </a:r>
          </a:p>
        </p:txBody>
      </p:sp>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4048" y="1556792"/>
            <a:ext cx="3763305" cy="45159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79512" y="188640"/>
            <a:ext cx="2458616" cy="1143000"/>
          </a:xfrm>
        </p:spPr>
        <p:txBody>
          <a:bodyPr/>
          <a:lstStyle/>
          <a:p>
            <a:r>
              <a:rPr lang="cs-CZ" dirty="0"/>
              <a:t>Rozměry</a:t>
            </a:r>
          </a:p>
        </p:txBody>
      </p:sp>
      <p:sp>
        <p:nvSpPr>
          <p:cNvPr id="3" name="Zástupný symbol pro obsah 2"/>
          <p:cNvSpPr>
            <a:spLocks noGrp="1"/>
          </p:cNvSpPr>
          <p:nvPr>
            <p:ph idx="1"/>
          </p:nvPr>
        </p:nvSpPr>
        <p:spPr>
          <a:xfrm>
            <a:off x="251520" y="1124745"/>
            <a:ext cx="8064896" cy="3384375"/>
          </a:xfrm>
        </p:spPr>
        <p:txBody>
          <a:bodyPr>
            <a:normAutofit lnSpcReduction="10000"/>
          </a:bodyPr>
          <a:lstStyle/>
          <a:p>
            <a:pPr algn="just"/>
            <a:r>
              <a:rPr lang="cs-CZ" dirty="0"/>
              <a:t>Velká (Big), střední (ATX) a malá (</a:t>
            </a:r>
            <a:r>
              <a:rPr lang="cs-CZ" dirty="0" err="1"/>
              <a:t>mATX</a:t>
            </a:r>
            <a:r>
              <a:rPr lang="cs-CZ" dirty="0"/>
              <a:t>). Střední a malá se vejde do skříně mini </a:t>
            </a:r>
            <a:r>
              <a:rPr lang="cs-CZ" dirty="0" err="1"/>
              <a:t>tower</a:t>
            </a:r>
            <a:r>
              <a:rPr lang="cs-CZ" dirty="0"/>
              <a:t> a </a:t>
            </a:r>
            <a:r>
              <a:rPr lang="cs-CZ" dirty="0" err="1"/>
              <a:t>midi</a:t>
            </a:r>
            <a:r>
              <a:rPr lang="cs-CZ" dirty="0"/>
              <a:t> </a:t>
            </a:r>
            <a:r>
              <a:rPr lang="cs-CZ" dirty="0" err="1"/>
              <a:t>tower</a:t>
            </a:r>
            <a:r>
              <a:rPr lang="cs-CZ" dirty="0"/>
              <a:t>, velká pouze do big </a:t>
            </a:r>
            <a:r>
              <a:rPr lang="cs-CZ" dirty="0" err="1"/>
              <a:t>toweru</a:t>
            </a:r>
            <a:r>
              <a:rPr lang="cs-CZ" dirty="0"/>
              <a:t>. </a:t>
            </a:r>
          </a:p>
          <a:p>
            <a:pPr algn="just"/>
            <a:r>
              <a:rPr lang="cs-CZ" dirty="0"/>
              <a:t>Nutno podotknout, že s velkou základní deskou se dnes již nesetkáváme (pouze </a:t>
            </a:r>
            <a:r>
              <a:rPr lang="cs-CZ" dirty="0" err="1"/>
              <a:t>vyjímečně</a:t>
            </a:r>
            <a:r>
              <a:rPr lang="cs-CZ" dirty="0"/>
              <a:t>) a že i střední a malá základní deska se dá umístit do skříně typu </a:t>
            </a:r>
            <a:r>
              <a:rPr lang="cs-CZ" dirty="0" err="1"/>
              <a:t>tower</a:t>
            </a:r>
            <a:r>
              <a:rPr lang="cs-CZ" dirty="0"/>
              <a:t>. </a:t>
            </a:r>
          </a:p>
          <a:p>
            <a:endParaRPr lang="cs-CZ" dirty="0"/>
          </a:p>
        </p:txBody>
      </p:sp>
      <p:pic>
        <p:nvPicPr>
          <p:cNvPr id="1026" name="Picture 2" descr="Výsledek obrázku pro big zakladni desky pc">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4683804"/>
            <a:ext cx="2304256" cy="1850606"/>
          </a:xfrm>
          <a:prstGeom prst="rect">
            <a:avLst/>
          </a:prstGeom>
          <a:noFill/>
          <a:extLst>
            <a:ext uri="{909E8E84-426E-40DD-AFC4-6F175D3DCCD1}">
              <a14:hiddenFill xmlns:a14="http://schemas.microsoft.com/office/drawing/2010/main">
                <a:solidFill>
                  <a:srgbClr val="FFFFFF"/>
                </a:solidFill>
              </a14:hiddenFill>
            </a:ext>
          </a:extLst>
        </p:spPr>
      </p:pic>
      <p:pic>
        <p:nvPicPr>
          <p:cNvPr id="4" name="Obrázek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35896" y="4578683"/>
            <a:ext cx="2355323" cy="1955727"/>
          </a:xfrm>
          <a:prstGeom prst="rect">
            <a:avLst/>
          </a:prstGeom>
        </p:spPr>
      </p:pic>
      <p:pic>
        <p:nvPicPr>
          <p:cNvPr id="1028" name="Picture 4" descr="MSI Z370M MORTAR - Intel Z37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16216" y="4578683"/>
            <a:ext cx="1955727" cy="19557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67544" y="44624"/>
            <a:ext cx="3538736" cy="1143000"/>
          </a:xfrm>
        </p:spPr>
        <p:txBody>
          <a:bodyPr/>
          <a:lstStyle/>
          <a:p>
            <a:r>
              <a:rPr lang="cs-CZ" dirty="0"/>
              <a:t>Upevnění</a:t>
            </a:r>
          </a:p>
        </p:txBody>
      </p:sp>
      <p:sp>
        <p:nvSpPr>
          <p:cNvPr id="3" name="Zástupný symbol pro obsah 2"/>
          <p:cNvSpPr>
            <a:spLocks noGrp="1"/>
          </p:cNvSpPr>
          <p:nvPr>
            <p:ph idx="1"/>
          </p:nvPr>
        </p:nvSpPr>
        <p:spPr>
          <a:xfrm>
            <a:off x="0" y="1285860"/>
            <a:ext cx="6614342" cy="5572140"/>
          </a:xfrm>
        </p:spPr>
        <p:txBody>
          <a:bodyPr>
            <a:normAutofit fontScale="92500" lnSpcReduction="20000"/>
          </a:bodyPr>
          <a:lstStyle/>
          <a:p>
            <a:pPr algn="just"/>
            <a:r>
              <a:rPr lang="cs-CZ" dirty="0"/>
              <a:t>Každá základní deska má více úchytných děr, kterými se s pomocí umělohmotných kolíků s distančních sloupků upevňuje do skříně. </a:t>
            </a:r>
          </a:p>
          <a:p>
            <a:pPr algn="just"/>
            <a:r>
              <a:rPr lang="cs-CZ" dirty="0"/>
              <a:t>Častou poruchou, zejména při montáži nebo demontáži základní desky, bývá její vyzkratování v důsledku špatného připevnění k desce příslušející ke skříni počítače. </a:t>
            </a:r>
          </a:p>
          <a:p>
            <a:pPr algn="just"/>
            <a:r>
              <a:rPr lang="cs-CZ" dirty="0"/>
              <a:t>Je důležité proto neopomíjet distanční sloupky a umělohmotné podložky umístit pokud možno do všech otvorů k tomuto účelu uzpůsobených. </a:t>
            </a:r>
          </a:p>
        </p:txBody>
      </p:sp>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311" y="4880016"/>
            <a:ext cx="1947540" cy="1947540"/>
          </a:xfrm>
          <a:prstGeom prst="rect">
            <a:avLst/>
          </a:prstGeom>
        </p:spPr>
      </p:pic>
      <p:pic>
        <p:nvPicPr>
          <p:cNvPr id="5" name="Obráze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2759" y="3717032"/>
            <a:ext cx="1067061" cy="1067061"/>
          </a:xfrm>
          <a:prstGeom prst="rect">
            <a:avLst/>
          </a:prstGeom>
        </p:spPr>
      </p:pic>
      <p:pic>
        <p:nvPicPr>
          <p:cNvPr id="6" name="Obrázek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14342" y="536696"/>
            <a:ext cx="2425478" cy="1301856"/>
          </a:xfrm>
          <a:prstGeom prst="rect">
            <a:avLst/>
          </a:prstGeom>
        </p:spPr>
      </p:pic>
      <p:pic>
        <p:nvPicPr>
          <p:cNvPr id="7" name="Obrázek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88446" y="2244994"/>
            <a:ext cx="1142380" cy="14720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28596" y="0"/>
            <a:ext cx="6257940" cy="1011222"/>
          </a:xfrm>
        </p:spPr>
        <p:txBody>
          <a:bodyPr/>
          <a:lstStyle/>
          <a:p>
            <a:r>
              <a:rPr lang="cs-CZ" dirty="0"/>
              <a:t>Konstrukce</a:t>
            </a:r>
          </a:p>
        </p:txBody>
      </p:sp>
      <p:sp>
        <p:nvSpPr>
          <p:cNvPr id="3" name="Zástupný symbol pro obsah 2"/>
          <p:cNvSpPr>
            <a:spLocks noGrp="1"/>
          </p:cNvSpPr>
          <p:nvPr>
            <p:ph idx="1"/>
          </p:nvPr>
        </p:nvSpPr>
        <p:spPr>
          <a:xfrm>
            <a:off x="0" y="928670"/>
            <a:ext cx="6156176" cy="5929330"/>
          </a:xfrm>
        </p:spPr>
        <p:txBody>
          <a:bodyPr>
            <a:normAutofit/>
          </a:bodyPr>
          <a:lstStyle/>
          <a:p>
            <a:pPr algn="just"/>
            <a:r>
              <a:rPr lang="cs-CZ" dirty="0"/>
              <a:t>Na základní desce jsou snad nejpatrnější zlatavé tištěné spoje. Tyto spoje se zhotovují řadou fotochemických procesů. Původní desky tištěných spojů byly desky z nevodivého plastického materiálu (epoxidová pryskyřice) potaženého vrstvičkou mědi, na kterou se "tiskl" elektronický spoj. Jednotlivé elektronické součástky se pak na tento obvod pájely</a:t>
            </a:r>
          </a:p>
          <a:p>
            <a:endParaRPr lang="cs-CZ" dirty="0"/>
          </a:p>
        </p:txBody>
      </p:sp>
      <p:pic>
        <p:nvPicPr>
          <p:cNvPr id="1026" name="Picture 2" descr=" Vrstvy základní desky "/>
          <p:cNvPicPr>
            <a:picLocks noChangeAspect="1" noChangeArrowheads="1"/>
          </p:cNvPicPr>
          <p:nvPr/>
        </p:nvPicPr>
        <p:blipFill>
          <a:blip r:embed="rId2" r:link="rId3"/>
          <a:srcRect/>
          <a:stretch>
            <a:fillRect/>
          </a:stretch>
        </p:blipFill>
        <p:spPr bwMode="auto">
          <a:xfrm>
            <a:off x="6156176" y="2636912"/>
            <a:ext cx="2883370" cy="1858528"/>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80528" y="0"/>
            <a:ext cx="8229600" cy="1143000"/>
          </a:xfrm>
        </p:spPr>
        <p:txBody>
          <a:bodyPr/>
          <a:lstStyle/>
          <a:p>
            <a:r>
              <a:rPr lang="cs-CZ" dirty="0"/>
              <a:t>Konstrukce</a:t>
            </a:r>
          </a:p>
        </p:txBody>
      </p:sp>
      <p:sp>
        <p:nvSpPr>
          <p:cNvPr id="3" name="Zástupný symbol pro obsah 2"/>
          <p:cNvSpPr>
            <a:spLocks noGrp="1"/>
          </p:cNvSpPr>
          <p:nvPr>
            <p:ph idx="1"/>
          </p:nvPr>
        </p:nvSpPr>
        <p:spPr>
          <a:xfrm>
            <a:off x="0" y="980728"/>
            <a:ext cx="5724128" cy="5877272"/>
          </a:xfrm>
        </p:spPr>
        <p:txBody>
          <a:bodyPr>
            <a:normAutofit fontScale="85000" lnSpcReduction="20000"/>
          </a:bodyPr>
          <a:lstStyle/>
          <a:p>
            <a:pPr algn="just"/>
            <a:r>
              <a:rPr lang="cs-CZ" dirty="0"/>
              <a:t>Jestliže se však pozorně podíváte na základní desku zblízka, všimnete si, že některé konektory součástek zdánlivě nejsou k obvodu připojeny a dokonce ani neodpovídají polohám zapájených otvorů na spodní straně desky. Ve skutečnosti je však na desce několik vrstev mědi navzájem oddělených vrstvičkami nevodivé hmoty. Každá taková vrstva obsahuje samostatný spoj. Tyto vrstvy jsou navzájem propojeny skrz otvory vyplněnými kontakty - ucpávkami s vnitřním měděným povrchem. Kontakty pak spojují každou součástku se správným obvodem zabudovaným v desce.</a:t>
            </a:r>
          </a:p>
        </p:txBody>
      </p:sp>
      <p:pic>
        <p:nvPicPr>
          <p:cNvPr id="4" name="Picture 2" descr=" Vrstvy základní desky "/>
          <p:cNvPicPr>
            <a:picLocks noChangeAspect="1" noChangeArrowheads="1"/>
          </p:cNvPicPr>
          <p:nvPr/>
        </p:nvPicPr>
        <p:blipFill>
          <a:blip r:embed="rId2" r:link="rId3"/>
          <a:srcRect/>
          <a:stretch>
            <a:fillRect/>
          </a:stretch>
        </p:blipFill>
        <p:spPr bwMode="auto">
          <a:xfrm>
            <a:off x="5724128" y="2060848"/>
            <a:ext cx="3375161" cy="2175521"/>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Konstrukce</a:t>
            </a:r>
          </a:p>
        </p:txBody>
      </p:sp>
      <p:sp>
        <p:nvSpPr>
          <p:cNvPr id="3" name="Zástupný symbol pro obsah 2"/>
          <p:cNvSpPr>
            <a:spLocks noGrp="1"/>
          </p:cNvSpPr>
          <p:nvPr>
            <p:ph idx="1"/>
          </p:nvPr>
        </p:nvSpPr>
        <p:spPr/>
        <p:txBody>
          <a:bodyPr>
            <a:normAutofit lnSpcReduction="10000"/>
          </a:bodyPr>
          <a:lstStyle/>
          <a:p>
            <a:pPr algn="just"/>
            <a:r>
              <a:rPr lang="cs-CZ" dirty="0"/>
              <a:t>Tyto přídavné vrstvy umožňují konstruktérům desek snadněji vyřešit problémy s křížením spojů na desce. Na desce, která má pouze jednu kovovou vrstvu, musí být elektrický obvod navržen tak, aby se měděné vodiče nikde navzájem nekřížily. Zvyšováním počtu vrstev se tento problém zmenšuje a délka spojů mezi jednotlivými součástkami desky se může výrazně zkracovat. Omezování délky spojů je důležité pro jejich spolehlivost.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Konstrukce</a:t>
            </a:r>
          </a:p>
        </p:txBody>
      </p:sp>
      <p:sp>
        <p:nvSpPr>
          <p:cNvPr id="3" name="Zástupný symbol pro obsah 2"/>
          <p:cNvSpPr>
            <a:spLocks noGrp="1"/>
          </p:cNvSpPr>
          <p:nvPr>
            <p:ph idx="1"/>
          </p:nvPr>
        </p:nvSpPr>
        <p:spPr/>
        <p:txBody>
          <a:bodyPr>
            <a:normAutofit fontScale="92500" lnSpcReduction="10000"/>
          </a:bodyPr>
          <a:lstStyle/>
          <a:p>
            <a:pPr algn="just"/>
            <a:r>
              <a:rPr lang="cs-CZ" dirty="0"/>
              <a:t>Omezování délek spojů pomáhá též předcházet interferencím, které mohou způsobit ztrátu dat. Mnohé základní desky mají od čtyř vrstev spojů, do sedmi (mimořádně až 9). Zdánlivě nepoužité otvory na spodní straně základní desky jsou vlastně kontakty spojující různé vrstvy spojů desky. Nejsou to prázdná místa, kde by na desce chyběly některé součástky. Některé elektronické součástky se však na povrch základní desky jednoduše pájejí. </a:t>
            </a:r>
          </a:p>
          <a:p>
            <a:endParaRPr lang="cs-CZ"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95536" y="116632"/>
            <a:ext cx="4454252" cy="1143000"/>
          </a:xfrm>
        </p:spPr>
        <p:txBody>
          <a:bodyPr/>
          <a:lstStyle/>
          <a:p>
            <a:r>
              <a:rPr lang="cs-CZ" dirty="0"/>
              <a:t>Konstrukce</a:t>
            </a:r>
          </a:p>
        </p:txBody>
      </p:sp>
      <p:sp>
        <p:nvSpPr>
          <p:cNvPr id="3" name="Zástupný symbol pro obsah 2"/>
          <p:cNvSpPr>
            <a:spLocks noGrp="1"/>
          </p:cNvSpPr>
          <p:nvPr>
            <p:ph idx="1"/>
          </p:nvPr>
        </p:nvSpPr>
        <p:spPr>
          <a:xfrm>
            <a:off x="0" y="1571612"/>
            <a:ext cx="5940152" cy="5286387"/>
          </a:xfrm>
        </p:spPr>
        <p:txBody>
          <a:bodyPr>
            <a:normAutofit fontScale="92500"/>
          </a:bodyPr>
          <a:lstStyle/>
          <a:p>
            <a:pPr algn="just"/>
            <a:r>
              <a:rPr lang="cs-CZ" dirty="0"/>
              <a:t>Nepostradatelnou funkci mají i malé kolíčky, které se na základní desce vyskytují v hojném počtu. Odborně se jim říká můstkové přepínače čili </a:t>
            </a:r>
            <a:r>
              <a:rPr lang="cs-CZ" dirty="0" err="1"/>
              <a:t>Jumpery</a:t>
            </a:r>
            <a:r>
              <a:rPr lang="cs-CZ" dirty="0"/>
              <a:t>. </a:t>
            </a:r>
          </a:p>
          <a:p>
            <a:pPr algn="just"/>
            <a:r>
              <a:rPr lang="cs-CZ" dirty="0"/>
              <a:t>S pomocí těchto propojek je možné provádět různá nastavování parametrů hardwaru (od taktování procesoru, až po zprovoznění led diody na čelním panelu počítačové skříně).</a:t>
            </a:r>
          </a:p>
        </p:txBody>
      </p:sp>
      <p:pic>
        <p:nvPicPr>
          <p:cNvPr id="2050" name="Picture 2" descr=" Jumpery "/>
          <p:cNvPicPr>
            <a:picLocks noChangeAspect="1" noChangeArrowheads="1"/>
          </p:cNvPicPr>
          <p:nvPr/>
        </p:nvPicPr>
        <p:blipFill>
          <a:blip r:embed="rId2" r:link="rId3"/>
          <a:srcRect/>
          <a:stretch>
            <a:fillRect/>
          </a:stretch>
        </p:blipFill>
        <p:spPr bwMode="auto">
          <a:xfrm>
            <a:off x="6215074" y="2240781"/>
            <a:ext cx="2428892" cy="2216846"/>
          </a:xfrm>
          <a:prstGeom prst="rect">
            <a:avLst/>
          </a:prstGeom>
          <a:noFill/>
          <a:ln w="9525">
            <a:noFill/>
            <a:miter lim="800000"/>
            <a:headEnd/>
            <a:tailEnd/>
          </a:ln>
        </p:spPr>
      </p:pic>
      <p:pic>
        <p:nvPicPr>
          <p:cNvPr id="2051" name="Picture 3" descr=" Jumpery s popisem "/>
          <p:cNvPicPr>
            <a:picLocks noChangeAspect="1" noChangeArrowheads="1"/>
          </p:cNvPicPr>
          <p:nvPr/>
        </p:nvPicPr>
        <p:blipFill>
          <a:blip r:embed="rId4" r:link="rId5"/>
          <a:srcRect/>
          <a:stretch>
            <a:fillRect/>
          </a:stretch>
        </p:blipFill>
        <p:spPr bwMode="auto">
          <a:xfrm>
            <a:off x="5943620" y="4457627"/>
            <a:ext cx="2971800" cy="1974850"/>
          </a:xfrm>
          <a:prstGeom prst="rect">
            <a:avLst/>
          </a:prstGeom>
          <a:noFill/>
          <a:ln w="9525">
            <a:noFill/>
            <a:miter lim="800000"/>
            <a:headEnd/>
            <a:tailEnd/>
          </a:ln>
        </p:spPr>
      </p:pic>
      <p:pic>
        <p:nvPicPr>
          <p:cNvPr id="4" name="Obrázek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71776" y="-26725"/>
            <a:ext cx="2857500" cy="1905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3898776" cy="1143000"/>
          </a:xfrm>
        </p:spPr>
        <p:txBody>
          <a:bodyPr/>
          <a:lstStyle/>
          <a:p>
            <a:r>
              <a:rPr lang="cs-CZ" dirty="0"/>
              <a:t>Konstrukce</a:t>
            </a:r>
          </a:p>
        </p:txBody>
      </p:sp>
      <p:sp>
        <p:nvSpPr>
          <p:cNvPr id="3" name="Zástupný symbol pro obsah 2"/>
          <p:cNvSpPr>
            <a:spLocks noGrp="1"/>
          </p:cNvSpPr>
          <p:nvPr>
            <p:ph idx="1"/>
          </p:nvPr>
        </p:nvSpPr>
        <p:spPr>
          <a:xfrm>
            <a:off x="428596" y="1928802"/>
            <a:ext cx="4647460" cy="4525963"/>
          </a:xfrm>
        </p:spPr>
        <p:txBody>
          <a:bodyPr>
            <a:normAutofit/>
          </a:bodyPr>
          <a:lstStyle/>
          <a:p>
            <a:pPr marL="0" indent="0" algn="just">
              <a:buNone/>
            </a:pPr>
            <a:r>
              <a:rPr lang="cs-CZ" dirty="0"/>
              <a:t>Přesné nastavení propojek by mělo být vždy uvedeno v příslušném manuálu k dané základní desce. Je možné se dokonce setkat i s konkrétním popisem nastavení propojek přímo na daném zařízení </a:t>
            </a:r>
          </a:p>
        </p:txBody>
      </p:sp>
      <p:pic>
        <p:nvPicPr>
          <p:cNvPr id="4" name="Picture 3" descr=" Jumpery s popisem "/>
          <p:cNvPicPr>
            <a:picLocks noChangeAspect="1" noChangeArrowheads="1"/>
          </p:cNvPicPr>
          <p:nvPr/>
        </p:nvPicPr>
        <p:blipFill>
          <a:blip r:embed="rId2" r:link="rId3"/>
          <a:srcRect/>
          <a:stretch>
            <a:fillRect/>
          </a:stretch>
        </p:blipFill>
        <p:spPr bwMode="auto">
          <a:xfrm>
            <a:off x="5148064" y="274637"/>
            <a:ext cx="3744416" cy="2488277"/>
          </a:xfrm>
          <a:prstGeom prst="rect">
            <a:avLst/>
          </a:prstGeom>
          <a:noFill/>
          <a:ln w="9525">
            <a:noFill/>
            <a:miter lim="800000"/>
            <a:headEnd/>
            <a:tailEnd/>
          </a:ln>
        </p:spPr>
      </p:pic>
      <p:pic>
        <p:nvPicPr>
          <p:cNvPr id="5" name="Obrázek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8104" y="3429000"/>
            <a:ext cx="3203848" cy="24028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4114800" cy="1143000"/>
          </a:xfrm>
        </p:spPr>
        <p:txBody>
          <a:bodyPr/>
          <a:lstStyle/>
          <a:p>
            <a:r>
              <a:rPr lang="cs-CZ" dirty="0"/>
              <a:t>Konstrukce</a:t>
            </a:r>
          </a:p>
        </p:txBody>
      </p:sp>
      <p:sp>
        <p:nvSpPr>
          <p:cNvPr id="3" name="Zástupný symbol pro obsah 2"/>
          <p:cNvSpPr>
            <a:spLocks noGrp="1"/>
          </p:cNvSpPr>
          <p:nvPr>
            <p:ph idx="1"/>
          </p:nvPr>
        </p:nvSpPr>
        <p:spPr>
          <a:xfrm>
            <a:off x="457200" y="1600200"/>
            <a:ext cx="5122912" cy="5257800"/>
          </a:xfrm>
        </p:spPr>
        <p:txBody>
          <a:bodyPr>
            <a:normAutofit lnSpcReduction="10000"/>
          </a:bodyPr>
          <a:lstStyle/>
          <a:p>
            <a:pPr marL="0" indent="0" algn="just">
              <a:buNone/>
            </a:pPr>
            <a:r>
              <a:rPr lang="cs-CZ" dirty="0"/>
              <a:t>Předchůdcem můstkových propojek byly (a dnes se ještě občas dají někde nalézt) přepínače DIP (Dual-In-line </a:t>
            </a:r>
            <a:r>
              <a:rPr lang="cs-CZ" dirty="0" err="1"/>
              <a:t>Package</a:t>
            </a:r>
            <a:r>
              <a:rPr lang="cs-CZ" dirty="0"/>
              <a:t>). Ty se sdružovaly po několika do celých skupin a výsledkem pak byl přepínač se spoustou páčkových přepínačů. Ty pak měly pouze dvě polohy - zapnuto (on) a vypnuto (</a:t>
            </a:r>
            <a:r>
              <a:rPr lang="cs-CZ" dirty="0" err="1"/>
              <a:t>off</a:t>
            </a:r>
            <a:r>
              <a:rPr lang="cs-CZ" dirty="0"/>
              <a:t>).</a:t>
            </a:r>
          </a:p>
        </p:txBody>
      </p:sp>
      <p:pic>
        <p:nvPicPr>
          <p:cNvPr id="3074" name="Picture 2" descr=" DIPy "/>
          <p:cNvPicPr>
            <a:picLocks noChangeAspect="1" noChangeArrowheads="1"/>
          </p:cNvPicPr>
          <p:nvPr/>
        </p:nvPicPr>
        <p:blipFill>
          <a:blip r:embed="rId2" r:link="rId3"/>
          <a:srcRect/>
          <a:stretch>
            <a:fillRect/>
          </a:stretch>
        </p:blipFill>
        <p:spPr bwMode="auto">
          <a:xfrm>
            <a:off x="5819758" y="861982"/>
            <a:ext cx="2851362" cy="2143140"/>
          </a:xfrm>
          <a:prstGeom prst="rect">
            <a:avLst/>
          </a:prstGeom>
          <a:noFill/>
          <a:ln w="9525">
            <a:noFill/>
            <a:miter lim="800000"/>
            <a:headEnd/>
            <a:tailEnd/>
          </a:ln>
        </p:spPr>
      </p:pic>
      <p:pic>
        <p:nvPicPr>
          <p:cNvPr id="4" name="Obrázek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19758" y="4005064"/>
            <a:ext cx="2964104" cy="2239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107504" y="116632"/>
            <a:ext cx="3240360" cy="1143000"/>
          </a:xfrm>
        </p:spPr>
        <p:txBody>
          <a:bodyPr/>
          <a:lstStyle/>
          <a:p>
            <a:r>
              <a:rPr lang="cs-CZ" dirty="0"/>
              <a:t>Řízení ZD</a:t>
            </a:r>
          </a:p>
        </p:txBody>
      </p:sp>
      <p:sp>
        <p:nvSpPr>
          <p:cNvPr id="3" name="Zástupný symbol pro obsah 2"/>
          <p:cNvSpPr>
            <a:spLocks noGrp="1"/>
          </p:cNvSpPr>
          <p:nvPr>
            <p:ph idx="1"/>
          </p:nvPr>
        </p:nvSpPr>
        <p:spPr>
          <a:xfrm>
            <a:off x="107504" y="1052736"/>
            <a:ext cx="5544616" cy="5805264"/>
          </a:xfrm>
        </p:spPr>
        <p:txBody>
          <a:bodyPr>
            <a:normAutofit fontScale="92500" lnSpcReduction="10000"/>
          </a:bodyPr>
          <a:lstStyle/>
          <a:p>
            <a:pPr algn="just"/>
            <a:r>
              <a:rPr lang="cs-CZ" dirty="0"/>
              <a:t>Řízení má na starosti IO (skupina IO) nazvaných </a:t>
            </a:r>
            <a:r>
              <a:rPr lang="cs-CZ" dirty="0" err="1"/>
              <a:t>chipset</a:t>
            </a:r>
            <a:r>
              <a:rPr lang="cs-CZ" dirty="0"/>
              <a:t> (čipová sada)</a:t>
            </a:r>
          </a:p>
          <a:p>
            <a:pPr algn="just"/>
            <a:r>
              <a:rPr lang="cs-CZ" dirty="0"/>
              <a:t>Zabezpečuje většinu  funkcí ZD</a:t>
            </a:r>
          </a:p>
          <a:p>
            <a:pPr algn="just"/>
            <a:r>
              <a:rPr lang="cs-CZ" dirty="0"/>
              <a:t>Obsahuje instrukce, které řídí chod desky, přesun údajů po sběrnicích a spolupráci s ostatním HW.</a:t>
            </a:r>
          </a:p>
          <a:p>
            <a:pPr algn="just"/>
            <a:r>
              <a:rPr lang="cs-CZ" dirty="0" err="1"/>
              <a:t>Chipset</a:t>
            </a:r>
            <a:r>
              <a:rPr lang="cs-CZ" dirty="0"/>
              <a:t> určuje charakteristiky některých modulů, které mohou být do ZD vsazeny (paměti, CPU,..)</a:t>
            </a:r>
          </a:p>
        </p:txBody>
      </p:sp>
      <p:pic>
        <p:nvPicPr>
          <p:cNvPr id="4" name="Zástupný symbol pro obsah 3" descr="S a J mustek.png"/>
          <p:cNvPicPr>
            <a:picLocks noChangeAspect="1"/>
          </p:cNvPicPr>
          <p:nvPr/>
        </p:nvPicPr>
        <p:blipFill>
          <a:blip r:embed="rId2"/>
          <a:stretch>
            <a:fillRect/>
          </a:stretch>
        </p:blipFill>
        <p:spPr>
          <a:xfrm>
            <a:off x="5796137" y="1412776"/>
            <a:ext cx="3203582" cy="44644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Řízení ZD</a:t>
            </a:r>
          </a:p>
        </p:txBody>
      </p:sp>
      <p:sp>
        <p:nvSpPr>
          <p:cNvPr id="3" name="Zástupný symbol pro obsah 2"/>
          <p:cNvSpPr>
            <a:spLocks noGrp="1"/>
          </p:cNvSpPr>
          <p:nvPr>
            <p:ph idx="1"/>
          </p:nvPr>
        </p:nvSpPr>
        <p:spPr/>
        <p:txBody>
          <a:bodyPr/>
          <a:lstStyle/>
          <a:p>
            <a:r>
              <a:rPr lang="cs-CZ" sz="3600" dirty="0"/>
              <a:t>Součásti </a:t>
            </a:r>
            <a:r>
              <a:rPr lang="cs-CZ" sz="3600" dirty="0" err="1"/>
              <a:t>chipsetu</a:t>
            </a:r>
            <a:r>
              <a:rPr lang="cs-CZ" sz="3600" dirty="0"/>
              <a:t> mohou být i rozšiřující karty:</a:t>
            </a:r>
          </a:p>
          <a:p>
            <a:endParaRPr lang="cs-CZ" dirty="0"/>
          </a:p>
          <a:p>
            <a:r>
              <a:rPr lang="cs-CZ" dirty="0"/>
              <a:t>Integrované součásti:</a:t>
            </a:r>
          </a:p>
          <a:p>
            <a:pPr lvl="1"/>
            <a:r>
              <a:rPr lang="cs-CZ" sz="3200" dirty="0"/>
              <a:t>zvuková karta, </a:t>
            </a:r>
          </a:p>
          <a:p>
            <a:pPr lvl="1"/>
            <a:r>
              <a:rPr lang="cs-CZ" sz="3200" dirty="0"/>
              <a:t>grafická karta, </a:t>
            </a:r>
          </a:p>
          <a:p>
            <a:pPr lvl="1"/>
            <a:r>
              <a:rPr lang="cs-CZ" sz="3200" dirty="0"/>
              <a:t>síťová karta </a:t>
            </a:r>
          </a:p>
        </p:txBody>
      </p:sp>
      <p:pic>
        <p:nvPicPr>
          <p:cNvPr id="4" name="Zástupný symbol pro obsah 3" descr="S a J mustek.png"/>
          <p:cNvPicPr>
            <a:picLocks noChangeAspect="1"/>
          </p:cNvPicPr>
          <p:nvPr/>
        </p:nvPicPr>
        <p:blipFill>
          <a:blip r:embed="rId2"/>
          <a:stretch>
            <a:fillRect/>
          </a:stretch>
        </p:blipFill>
        <p:spPr>
          <a:xfrm>
            <a:off x="4932040" y="2708920"/>
            <a:ext cx="3168352" cy="34908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3250704" cy="1143000"/>
          </a:xfrm>
        </p:spPr>
        <p:txBody>
          <a:bodyPr/>
          <a:lstStyle/>
          <a:p>
            <a:r>
              <a:rPr lang="cs-CZ" dirty="0" err="1"/>
              <a:t>Chipset</a:t>
            </a:r>
            <a:endParaRPr lang="cs-CZ" dirty="0"/>
          </a:p>
        </p:txBody>
      </p:sp>
      <p:sp>
        <p:nvSpPr>
          <p:cNvPr id="3" name="Zástupný symbol pro obsah 2"/>
          <p:cNvSpPr>
            <a:spLocks noGrp="1"/>
          </p:cNvSpPr>
          <p:nvPr>
            <p:ph idx="1"/>
          </p:nvPr>
        </p:nvSpPr>
        <p:spPr>
          <a:xfrm>
            <a:off x="457200" y="1417638"/>
            <a:ext cx="5122912" cy="4708525"/>
          </a:xfrm>
        </p:spPr>
        <p:txBody>
          <a:bodyPr>
            <a:normAutofit fontScale="92500" lnSpcReduction="20000"/>
          </a:bodyPr>
          <a:lstStyle/>
          <a:p>
            <a:pPr algn="just"/>
            <a:r>
              <a:rPr lang="cs-CZ" dirty="0"/>
              <a:t>Severní můstek – (</a:t>
            </a:r>
            <a:r>
              <a:rPr lang="cs-CZ" dirty="0" err="1"/>
              <a:t>north</a:t>
            </a:r>
            <a:r>
              <a:rPr lang="cs-CZ" dirty="0"/>
              <a:t> </a:t>
            </a:r>
            <a:r>
              <a:rPr lang="cs-CZ" dirty="0" err="1"/>
              <a:t>bridge</a:t>
            </a:r>
            <a:r>
              <a:rPr lang="cs-CZ" dirty="0"/>
              <a:t>) – je blíže k procesoru, rychlé přesuny údajů mezi CPU, pamětí a grafickou kartou (FSB – frekvence systémové sběrnice)</a:t>
            </a:r>
          </a:p>
          <a:p>
            <a:pPr algn="just"/>
            <a:r>
              <a:rPr lang="cs-CZ" dirty="0"/>
              <a:t>Jižní můstek – (</a:t>
            </a:r>
            <a:r>
              <a:rPr lang="cs-CZ" dirty="0" err="1"/>
              <a:t>south</a:t>
            </a:r>
            <a:r>
              <a:rPr lang="cs-CZ" dirty="0"/>
              <a:t> </a:t>
            </a:r>
            <a:r>
              <a:rPr lang="cs-CZ" dirty="0" err="1"/>
              <a:t>bridge</a:t>
            </a:r>
            <a:r>
              <a:rPr lang="cs-CZ" dirty="0"/>
              <a:t>)  – stará se o připojení dalších periferních zařízení k základní desce (pomocí PCI, USB, apod..). </a:t>
            </a:r>
          </a:p>
          <a:p>
            <a:endParaRPr lang="cs-CZ" dirty="0"/>
          </a:p>
        </p:txBody>
      </p:sp>
      <p:pic>
        <p:nvPicPr>
          <p:cNvPr id="5" name="Zástupný symbol pro obsah 3" descr="S a J mustek.png"/>
          <p:cNvPicPr>
            <a:picLocks noChangeAspect="1"/>
          </p:cNvPicPr>
          <p:nvPr/>
        </p:nvPicPr>
        <p:blipFill>
          <a:blip r:embed="rId2"/>
          <a:stretch>
            <a:fillRect/>
          </a:stretch>
        </p:blipFill>
        <p:spPr>
          <a:xfrm>
            <a:off x="5652120" y="1556792"/>
            <a:ext cx="3168352" cy="34908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620688"/>
            <a:ext cx="6048672" cy="60486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Sběrnice</a:t>
            </a:r>
          </a:p>
        </p:txBody>
      </p:sp>
      <p:sp>
        <p:nvSpPr>
          <p:cNvPr id="3" name="Zástupný symbol pro obsah 2"/>
          <p:cNvSpPr>
            <a:spLocks noGrp="1"/>
          </p:cNvSpPr>
          <p:nvPr>
            <p:ph idx="1"/>
          </p:nvPr>
        </p:nvSpPr>
        <p:spPr>
          <a:xfrm>
            <a:off x="457200" y="1600200"/>
            <a:ext cx="4258816" cy="4525963"/>
          </a:xfrm>
        </p:spPr>
        <p:txBody>
          <a:bodyPr>
            <a:normAutofit fontScale="92500" lnSpcReduction="10000"/>
          </a:bodyPr>
          <a:lstStyle/>
          <a:p>
            <a:pPr algn="just"/>
            <a:r>
              <a:rPr lang="cs-CZ" dirty="0"/>
              <a:t>Zabezpečuje vzájemnou komunikaci a propojení komponent (bus)</a:t>
            </a:r>
          </a:p>
          <a:p>
            <a:pPr algn="just"/>
            <a:r>
              <a:rPr lang="cs-CZ" dirty="0"/>
              <a:t>Jde o svazek vodičů a elektrických obvodů</a:t>
            </a:r>
          </a:p>
          <a:p>
            <a:pPr algn="just"/>
            <a:r>
              <a:rPr lang="cs-CZ" dirty="0"/>
              <a:t>Skládá se ze tří typů </a:t>
            </a:r>
            <a:r>
              <a:rPr lang="cs-CZ" dirty="0" err="1"/>
              <a:t>sběrnic</a:t>
            </a:r>
            <a:r>
              <a:rPr lang="cs-CZ" dirty="0"/>
              <a:t>:</a:t>
            </a:r>
          </a:p>
          <a:p>
            <a:pPr lvl="1"/>
            <a:r>
              <a:rPr lang="cs-CZ" dirty="0"/>
              <a:t>adresová</a:t>
            </a:r>
          </a:p>
          <a:p>
            <a:pPr lvl="1"/>
            <a:r>
              <a:rPr lang="cs-CZ" dirty="0"/>
              <a:t>údajová (datová)</a:t>
            </a:r>
          </a:p>
          <a:p>
            <a:pPr lvl="1"/>
            <a:r>
              <a:rPr lang="cs-CZ" dirty="0"/>
              <a:t>řídící</a:t>
            </a:r>
          </a:p>
        </p:txBody>
      </p:sp>
      <p:pic>
        <p:nvPicPr>
          <p:cNvPr id="4" name="Obrázek 3"/>
          <p:cNvPicPr>
            <a:picLocks noChangeAspect="1"/>
          </p:cNvPicPr>
          <p:nvPr/>
        </p:nvPicPr>
        <p:blipFill>
          <a:blip r:embed="rId2"/>
          <a:stretch>
            <a:fillRect/>
          </a:stretch>
        </p:blipFill>
        <p:spPr>
          <a:xfrm>
            <a:off x="4860032" y="1502863"/>
            <a:ext cx="4204534" cy="372633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Sběrnice</a:t>
            </a:r>
          </a:p>
        </p:txBody>
      </p:sp>
      <p:sp>
        <p:nvSpPr>
          <p:cNvPr id="3" name="Zástupný symbol pro obsah 2"/>
          <p:cNvSpPr>
            <a:spLocks noGrp="1"/>
          </p:cNvSpPr>
          <p:nvPr>
            <p:ph idx="1"/>
          </p:nvPr>
        </p:nvSpPr>
        <p:spPr/>
        <p:txBody>
          <a:bodyPr/>
          <a:lstStyle/>
          <a:p>
            <a:pPr algn="just"/>
            <a:r>
              <a:rPr lang="cs-CZ" dirty="0"/>
              <a:t>Adresová – je jednosměrná a přenáší údaje obsahující informaci o adrese zařízení, které se zúčastňují komunikace případně o adrese paměti, ke které se přistupuje.</a:t>
            </a:r>
          </a:p>
          <a:p>
            <a:pPr algn="just"/>
            <a:r>
              <a:rPr lang="cs-CZ" dirty="0"/>
              <a:t>Údajová (datová) – je obousměrná a přenáší údaje mezi zařízeními</a:t>
            </a:r>
          </a:p>
          <a:p>
            <a:pPr algn="just"/>
            <a:r>
              <a:rPr lang="cs-CZ" dirty="0"/>
              <a:t>Řídící – přenáší příkazy procesoru, určené na řízení komunikace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Charakteristika sběrnice</a:t>
            </a:r>
          </a:p>
        </p:txBody>
      </p:sp>
      <p:sp>
        <p:nvSpPr>
          <p:cNvPr id="3" name="Zástupný symbol pro obsah 2"/>
          <p:cNvSpPr>
            <a:spLocks noGrp="1"/>
          </p:cNvSpPr>
          <p:nvPr>
            <p:ph idx="1"/>
          </p:nvPr>
        </p:nvSpPr>
        <p:spPr/>
        <p:txBody>
          <a:bodyPr/>
          <a:lstStyle/>
          <a:p>
            <a:r>
              <a:rPr lang="cs-CZ" dirty="0"/>
              <a:t>Šířka – udává počet bitů, které může sběrnice najednou přenést (paralelní kanál vodičů, kterými deska disponuje).</a:t>
            </a:r>
          </a:p>
          <a:p>
            <a:r>
              <a:rPr lang="cs-CZ" dirty="0"/>
              <a:t>Rychlost – udává se v násobcích Hz, udává počet přenosů sběrnice za jednu sekundu</a:t>
            </a:r>
          </a:p>
          <a:p>
            <a:r>
              <a:rPr lang="cs-CZ" dirty="0"/>
              <a:t>Přenosová kapacita – určuje množství údajů (dat), které je možno přenést za sekundu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Zástupný symbol pro obsah 3" descr="sbernice.png"/>
          <p:cNvPicPr>
            <a:picLocks noGrp="1" noChangeAspect="1"/>
          </p:cNvPicPr>
          <p:nvPr>
            <p:ph idx="1"/>
          </p:nvPr>
        </p:nvPicPr>
        <p:blipFill>
          <a:blip r:embed="rId2"/>
          <a:stretch>
            <a:fillRect/>
          </a:stretch>
        </p:blipFill>
        <p:spPr>
          <a:xfrm>
            <a:off x="500034" y="500042"/>
            <a:ext cx="8058493" cy="5572164"/>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Sběrnice</a:t>
            </a:r>
          </a:p>
        </p:txBody>
      </p:sp>
      <p:sp>
        <p:nvSpPr>
          <p:cNvPr id="3" name="Zástupný symbol pro obsah 2"/>
          <p:cNvSpPr>
            <a:spLocks noGrp="1"/>
          </p:cNvSpPr>
          <p:nvPr>
            <p:ph idx="1"/>
          </p:nvPr>
        </p:nvSpPr>
        <p:spPr>
          <a:xfrm>
            <a:off x="457200" y="1600200"/>
            <a:ext cx="8229600" cy="4829196"/>
          </a:xfrm>
        </p:spPr>
        <p:txBody>
          <a:bodyPr>
            <a:normAutofit fontScale="92500" lnSpcReduction="10000"/>
          </a:bodyPr>
          <a:lstStyle/>
          <a:p>
            <a:r>
              <a:rPr lang="cs-CZ" dirty="0"/>
              <a:t>ISA, VL Bus, EEISA, MCA</a:t>
            </a:r>
          </a:p>
          <a:p>
            <a:r>
              <a:rPr lang="cs-CZ" dirty="0"/>
              <a:t>PCI (</a:t>
            </a:r>
            <a:r>
              <a:rPr lang="cs-CZ" dirty="0" err="1"/>
              <a:t>Peripheral</a:t>
            </a:r>
            <a:r>
              <a:rPr lang="cs-CZ" dirty="0"/>
              <a:t> </a:t>
            </a:r>
            <a:r>
              <a:rPr lang="cs-CZ" dirty="0" err="1"/>
              <a:t>Component</a:t>
            </a:r>
            <a:r>
              <a:rPr lang="cs-CZ" dirty="0"/>
              <a:t>  </a:t>
            </a:r>
            <a:r>
              <a:rPr lang="cs-CZ" dirty="0" err="1"/>
              <a:t>Interconnect</a:t>
            </a:r>
            <a:r>
              <a:rPr lang="cs-CZ" dirty="0"/>
              <a:t>)</a:t>
            </a:r>
          </a:p>
          <a:p>
            <a:r>
              <a:rPr lang="cs-CZ" dirty="0"/>
              <a:t>AGP (</a:t>
            </a:r>
            <a:r>
              <a:rPr lang="cs-CZ" dirty="0" err="1"/>
              <a:t>Accelerated</a:t>
            </a:r>
            <a:r>
              <a:rPr lang="cs-CZ" dirty="0"/>
              <a:t> </a:t>
            </a:r>
            <a:r>
              <a:rPr lang="cs-CZ" dirty="0" err="1"/>
              <a:t>Graphics</a:t>
            </a:r>
            <a:r>
              <a:rPr lang="cs-CZ" dirty="0"/>
              <a:t> Port)</a:t>
            </a:r>
          </a:p>
          <a:p>
            <a:r>
              <a:rPr lang="cs-CZ" dirty="0" err="1"/>
              <a:t>PCIe</a:t>
            </a:r>
            <a:r>
              <a:rPr lang="cs-CZ" dirty="0"/>
              <a:t> (</a:t>
            </a:r>
            <a:r>
              <a:rPr lang="cs-CZ" dirty="0" err="1"/>
              <a:t>Peripheral</a:t>
            </a:r>
            <a:r>
              <a:rPr lang="cs-CZ" dirty="0"/>
              <a:t> </a:t>
            </a:r>
            <a:r>
              <a:rPr lang="cs-CZ" dirty="0" err="1"/>
              <a:t>Component</a:t>
            </a:r>
            <a:r>
              <a:rPr lang="cs-CZ" dirty="0"/>
              <a:t>  </a:t>
            </a:r>
            <a:r>
              <a:rPr lang="cs-CZ" dirty="0" err="1"/>
              <a:t>Interconnect</a:t>
            </a:r>
            <a:r>
              <a:rPr lang="cs-CZ" dirty="0"/>
              <a:t> Express)</a:t>
            </a:r>
          </a:p>
          <a:p>
            <a:r>
              <a:rPr lang="cs-CZ" dirty="0"/>
              <a:t>FSB (Front </a:t>
            </a:r>
            <a:r>
              <a:rPr lang="cs-CZ" dirty="0" err="1"/>
              <a:t>Side</a:t>
            </a:r>
            <a:r>
              <a:rPr lang="cs-CZ" dirty="0"/>
              <a:t> Bus)</a:t>
            </a:r>
          </a:p>
          <a:p>
            <a:r>
              <a:rPr lang="cs-CZ" dirty="0"/>
              <a:t>ATA (</a:t>
            </a:r>
            <a:r>
              <a:rPr lang="cs-CZ" dirty="0" err="1"/>
              <a:t>Advanced</a:t>
            </a:r>
            <a:r>
              <a:rPr lang="cs-CZ" dirty="0"/>
              <a:t> Technology </a:t>
            </a:r>
            <a:r>
              <a:rPr lang="cs-CZ" dirty="0" err="1"/>
              <a:t>Attachment</a:t>
            </a:r>
            <a:r>
              <a:rPr lang="cs-CZ" dirty="0"/>
              <a:t>)</a:t>
            </a:r>
          </a:p>
          <a:p>
            <a:r>
              <a:rPr lang="cs-CZ" dirty="0"/>
              <a:t>SATA  (Seriál </a:t>
            </a:r>
            <a:r>
              <a:rPr lang="cs-CZ" dirty="0" err="1"/>
              <a:t>Advanced</a:t>
            </a:r>
            <a:r>
              <a:rPr lang="cs-CZ" dirty="0"/>
              <a:t> Technology </a:t>
            </a:r>
            <a:r>
              <a:rPr lang="cs-CZ" dirty="0" err="1"/>
              <a:t>Attachment</a:t>
            </a:r>
            <a:r>
              <a:rPr lang="cs-CZ" dirty="0"/>
              <a:t>)</a:t>
            </a:r>
          </a:p>
          <a:p>
            <a:r>
              <a:rPr lang="cs-CZ" dirty="0"/>
              <a:t>SCSI (</a:t>
            </a:r>
            <a:r>
              <a:rPr lang="cs-CZ" dirty="0" err="1"/>
              <a:t>Small</a:t>
            </a:r>
            <a:r>
              <a:rPr lang="cs-CZ" dirty="0"/>
              <a:t> </a:t>
            </a:r>
            <a:r>
              <a:rPr lang="cs-CZ" dirty="0" err="1"/>
              <a:t>Computer</a:t>
            </a:r>
            <a:r>
              <a:rPr lang="cs-CZ" dirty="0"/>
              <a:t> Systém Interface)</a:t>
            </a:r>
          </a:p>
          <a:p>
            <a:endParaRPr lang="cs-CZ"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Vstupní a výstupní </a:t>
            </a:r>
            <a:r>
              <a:rPr lang="cs-CZ" dirty="0"/>
              <a:t>porty</a:t>
            </a:r>
          </a:p>
        </p:txBody>
      </p:sp>
      <p:sp>
        <p:nvSpPr>
          <p:cNvPr id="3" name="Zástupný symbol pro obsah 2"/>
          <p:cNvSpPr>
            <a:spLocks noGrp="1"/>
          </p:cNvSpPr>
          <p:nvPr>
            <p:ph idx="1"/>
          </p:nvPr>
        </p:nvSpPr>
        <p:spPr>
          <a:xfrm>
            <a:off x="107504" y="988563"/>
            <a:ext cx="2471726" cy="5168905"/>
          </a:xfrm>
        </p:spPr>
        <p:txBody>
          <a:bodyPr>
            <a:normAutofit fontScale="92500" lnSpcReduction="20000"/>
          </a:bodyPr>
          <a:lstStyle/>
          <a:p>
            <a:r>
              <a:rPr lang="cs-CZ" dirty="0"/>
              <a:t>PS2</a:t>
            </a:r>
          </a:p>
          <a:p>
            <a:r>
              <a:rPr lang="cs-CZ" dirty="0"/>
              <a:t>USB</a:t>
            </a:r>
          </a:p>
          <a:p>
            <a:r>
              <a:rPr lang="cs-CZ" dirty="0"/>
              <a:t>ILINK</a:t>
            </a:r>
          </a:p>
          <a:p>
            <a:r>
              <a:rPr lang="cs-CZ" dirty="0"/>
              <a:t>VGA</a:t>
            </a:r>
          </a:p>
          <a:p>
            <a:r>
              <a:rPr lang="cs-CZ" dirty="0"/>
              <a:t>DVI</a:t>
            </a:r>
          </a:p>
          <a:p>
            <a:r>
              <a:rPr lang="cs-CZ" dirty="0"/>
              <a:t>HDMI</a:t>
            </a:r>
          </a:p>
          <a:p>
            <a:r>
              <a:rPr lang="cs-CZ" dirty="0"/>
              <a:t>RJ 45</a:t>
            </a:r>
          </a:p>
          <a:p>
            <a:r>
              <a:rPr lang="cs-CZ" dirty="0"/>
              <a:t>LPT, COM</a:t>
            </a:r>
          </a:p>
          <a:p>
            <a:r>
              <a:rPr lang="cs-CZ" dirty="0"/>
              <a:t>Audio</a:t>
            </a:r>
          </a:p>
          <a:p>
            <a:r>
              <a:rPr lang="cs-CZ" dirty="0"/>
              <a:t>Game port</a:t>
            </a:r>
          </a:p>
          <a:p>
            <a:r>
              <a:rPr lang="cs-CZ" dirty="0"/>
              <a:t>……</a:t>
            </a:r>
          </a:p>
        </p:txBody>
      </p:sp>
      <p:pic>
        <p:nvPicPr>
          <p:cNvPr id="4" name="Obrázek 3" descr="porty.png"/>
          <p:cNvPicPr>
            <a:picLocks noChangeAspect="1"/>
          </p:cNvPicPr>
          <p:nvPr/>
        </p:nvPicPr>
        <p:blipFill>
          <a:blip r:embed="rId2"/>
          <a:stretch>
            <a:fillRect/>
          </a:stretch>
        </p:blipFill>
        <p:spPr>
          <a:xfrm>
            <a:off x="1475656" y="1452189"/>
            <a:ext cx="7541993" cy="1944216"/>
          </a:xfrm>
          <a:prstGeom prst="rect">
            <a:avLst/>
          </a:prstGeom>
        </p:spPr>
      </p:pic>
      <p:pic>
        <p:nvPicPr>
          <p:cNvPr id="5" name="Obráze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4066404"/>
            <a:ext cx="5592857" cy="14401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C Chips M216 - Clous">
            <a:extLst>
              <a:ext uri="{FF2B5EF4-FFF2-40B4-BE49-F238E27FC236}">
                <a16:creationId xmlns:a16="http://schemas.microsoft.com/office/drawing/2014/main" id="{83E81EE8-230A-57D6-D1AE-1043F98E5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608" y="-99392"/>
            <a:ext cx="10657184" cy="7272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453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Základní deska 386 (TI486) VLB EXP4349 | Aukro">
            <a:extLst>
              <a:ext uri="{FF2B5EF4-FFF2-40B4-BE49-F238E27FC236}">
                <a16:creationId xmlns:a16="http://schemas.microsoft.com/office/drawing/2014/main" id="{D8191B53-EAC3-3858-6AA5-A16F48B64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39827" cy="6861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254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TRO HW - Základní deska 486 UMC491 + CPU Intel 486DX2 66MHz + 8MB  - Počítače a hry">
            <a:extLst>
              <a:ext uri="{FF2B5EF4-FFF2-40B4-BE49-F238E27FC236}">
                <a16:creationId xmlns:a16="http://schemas.microsoft.com/office/drawing/2014/main" id="{9D0A8F34-723B-8098-367A-5A353F60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32"/>
            <a:ext cx="9144000" cy="6864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551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Základní deska Intel Pentium I - 100 MHz (USA) | Aukro">
            <a:extLst>
              <a:ext uri="{FF2B5EF4-FFF2-40B4-BE49-F238E27FC236}">
                <a16:creationId xmlns:a16="http://schemas.microsoft.com/office/drawing/2014/main" id="{2A6057C2-CB01-5222-5FD7-0B063AD72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44000" cy="6885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853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 Popis základní desky se SOCKET 370 "/>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endParaRPr lang="cs-CZ"/>
          </a:p>
        </p:txBody>
      </p:sp>
      <p:pic>
        <p:nvPicPr>
          <p:cNvPr id="4098" name="Picture 2" descr=" Popis základní desky se SLOT  "/>
          <p:cNvPicPr>
            <a:picLocks noChangeAspect="1" noChangeArrowheads="1"/>
          </p:cNvPicPr>
          <p:nvPr/>
        </p:nvPicPr>
        <p:blipFill>
          <a:blip r:embed="rId2"/>
          <a:srcRect/>
          <a:stretch>
            <a:fillRect/>
          </a:stretch>
        </p:blipFill>
        <p:spPr bwMode="auto">
          <a:xfrm>
            <a:off x="0" y="-1"/>
            <a:ext cx="9144000" cy="6867151"/>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10413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492" y="705190"/>
            <a:ext cx="7873016" cy="5447619"/>
          </a:xfrm>
          <a:prstGeom prst="rect">
            <a:avLst/>
          </a:prstGeom>
        </p:spPr>
      </p:pic>
    </p:spTree>
    <p:extLst>
      <p:ext uri="{BB962C8B-B14F-4D97-AF65-F5344CB8AC3E}">
        <p14:creationId xmlns:p14="http://schemas.microsoft.com/office/powerpoint/2010/main" val="2114730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Zástupný symbol pro obsah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 y="980728"/>
            <a:ext cx="8801315" cy="4874888"/>
          </a:xfrm>
        </p:spPr>
      </p:pic>
    </p:spTree>
    <p:extLst>
      <p:ext uri="{BB962C8B-B14F-4D97-AF65-F5344CB8AC3E}">
        <p14:creationId xmlns:p14="http://schemas.microsoft.com/office/powerpoint/2010/main" val="2121672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692696"/>
            <a:ext cx="8676689" cy="5544616"/>
          </a:xfrm>
          <a:prstGeom prst="rect">
            <a:avLst/>
          </a:prstGeom>
        </p:spPr>
      </p:pic>
    </p:spTree>
    <p:extLst>
      <p:ext uri="{BB962C8B-B14F-4D97-AF65-F5344CB8AC3E}">
        <p14:creationId xmlns:p14="http://schemas.microsoft.com/office/powerpoint/2010/main" val="4165847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87" y="332656"/>
            <a:ext cx="8952426" cy="6192688"/>
          </a:xfrm>
          <a:prstGeom prst="rect">
            <a:avLst/>
          </a:prstGeom>
        </p:spPr>
      </p:pic>
    </p:spTree>
    <p:extLst>
      <p:ext uri="{BB962C8B-B14F-4D97-AF65-F5344CB8AC3E}">
        <p14:creationId xmlns:p14="http://schemas.microsoft.com/office/powerpoint/2010/main" val="2071364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Zástupný symbol pro obsah 3" descr="ASROCK deska.jpg"/>
          <p:cNvPicPr>
            <a:picLocks noGrp="1" noChangeAspect="1"/>
          </p:cNvPicPr>
          <p:nvPr>
            <p:ph idx="1"/>
          </p:nvPr>
        </p:nvPicPr>
        <p:blipFill>
          <a:blip r:embed="rId2"/>
          <a:stretch>
            <a:fillRect/>
          </a:stretch>
        </p:blipFill>
        <p:spPr>
          <a:xfrm>
            <a:off x="571472" y="286696"/>
            <a:ext cx="8143931" cy="6474671"/>
          </a:xfrm>
        </p:spPr>
      </p:pic>
    </p:spTree>
  </p:cSld>
  <p:clrMapOvr>
    <a:masterClrMapping/>
  </p:clrMapOvr>
</p:sld>
</file>

<file path=ppt/theme/theme1.xml><?xml version="1.0" encoding="utf-8"?>
<a:theme xmlns:a="http://schemas.openxmlformats.org/drawingml/2006/main" name="Motiv sady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ECC769D3FE67154E81769CA49A6E1578" ma:contentTypeVersion="0" ma:contentTypeDescription="Vytvoří nový dokument" ma:contentTypeScope="" ma:versionID="3c7ae713f0a7ba01a532cf72482db45e">
  <xsd:schema xmlns:xsd="http://www.w3.org/2001/XMLSchema" xmlns:xs="http://www.w3.org/2001/XMLSchema" xmlns:p="http://schemas.microsoft.com/office/2006/metadata/properties" targetNamespace="http://schemas.microsoft.com/office/2006/metadata/properties" ma:root="true" ma:fieldsID="871d6b51c5141eb32e0d04e037372b3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F1C9D8-54B8-4548-96BD-0A2D7DEE32F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D95FA2E-FA1B-4C4F-80D0-C5956E92CAD9}">
  <ds:schemaRefs>
    <ds:schemaRef ds:uri="http://schemas.microsoft.com/sharepoint/v3/contenttype/forms"/>
  </ds:schemaRefs>
</ds:datastoreItem>
</file>

<file path=customXml/itemProps3.xml><?xml version="1.0" encoding="utf-8"?>
<ds:datastoreItem xmlns:ds="http://schemas.openxmlformats.org/officeDocument/2006/customXml" ds:itemID="{6947B6AF-3751-4EE0-8B55-8FCD7C4B17F7}"/>
</file>

<file path=docProps/app.xml><?xml version="1.0" encoding="utf-8"?>
<Properties xmlns="http://schemas.openxmlformats.org/officeDocument/2006/extended-properties" xmlns:vt="http://schemas.openxmlformats.org/officeDocument/2006/docPropsVTypes">
  <TotalTime>404</TotalTime>
  <Words>947</Words>
  <Application>Microsoft Office PowerPoint</Application>
  <PresentationFormat>Předvádění na obrazovce (4:3)</PresentationFormat>
  <Paragraphs>81</Paragraphs>
  <Slides>34</Slides>
  <Notes>0</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34</vt:i4>
      </vt:variant>
    </vt:vector>
  </HeadingPairs>
  <TitlesOfParts>
    <vt:vector size="37" baseType="lpstr">
      <vt:lpstr>Arial</vt:lpstr>
      <vt:lpstr>Calibri</vt:lpstr>
      <vt:lpstr>Motiv sady Office</vt:lpstr>
      <vt:lpstr>Základní deska</vt:lpstr>
      <vt:lpstr>Základní deska</vt:lpstr>
      <vt:lpstr>Primární funkce</vt:lpstr>
      <vt:lpstr>Rozměry</vt:lpstr>
      <vt:lpstr>Upevnění</vt:lpstr>
      <vt:lpstr>Konstrukce</vt:lpstr>
      <vt:lpstr>Konstrukce</vt:lpstr>
      <vt:lpstr>Konstrukce</vt:lpstr>
      <vt:lpstr>Konstrukce</vt:lpstr>
      <vt:lpstr>Konstrukce</vt:lpstr>
      <vt:lpstr>Konstrukce</vt:lpstr>
      <vt:lpstr>Konstrukce</vt:lpstr>
      <vt:lpstr>Řízení ZD</vt:lpstr>
      <vt:lpstr>Řízení ZD</vt:lpstr>
      <vt:lpstr>Chipset</vt:lpstr>
      <vt:lpstr>Prezentace aplikace PowerPoint</vt:lpstr>
      <vt:lpstr>Sběrnice</vt:lpstr>
      <vt:lpstr>Sběrnice</vt:lpstr>
      <vt:lpstr>Charakteristika sběrnice</vt:lpstr>
      <vt:lpstr>Prezentace aplikace PowerPoint</vt:lpstr>
      <vt:lpstr>Sběrnice</vt:lpstr>
      <vt:lpstr>Vstupní a výstupní porty</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Základní deska</dc:title>
  <dc:creator>P1</dc:creator>
  <cp:lastModifiedBy>Pavel Halouzka</cp:lastModifiedBy>
  <cp:revision>35</cp:revision>
  <dcterms:created xsi:type="dcterms:W3CDTF">2013-03-17T17:27:06Z</dcterms:created>
  <dcterms:modified xsi:type="dcterms:W3CDTF">2022-10-19T08:03:41Z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0x010100ECC769D3FE67154E81769CA49A6E1578</vt:lpwstr>
  </property>
</Properties>
</file>